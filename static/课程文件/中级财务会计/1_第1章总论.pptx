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3"/>
  </p:notesMasterIdLst>
  <p:handoutMasterIdLst>
    <p:handoutMasterId r:id="rId84"/>
  </p:handoutMasterIdLst>
  <p:sldIdLst>
    <p:sldId id="742" r:id="rId2"/>
    <p:sldId id="558" r:id="rId3"/>
    <p:sldId id="744" r:id="rId4"/>
    <p:sldId id="745" r:id="rId5"/>
    <p:sldId id="747" r:id="rId6"/>
    <p:sldId id="746" r:id="rId7"/>
    <p:sldId id="749" r:id="rId8"/>
    <p:sldId id="751" r:id="rId9"/>
    <p:sldId id="752" r:id="rId10"/>
    <p:sldId id="760" r:id="rId11"/>
    <p:sldId id="753" r:id="rId12"/>
    <p:sldId id="825" r:id="rId13"/>
    <p:sldId id="754" r:id="rId14"/>
    <p:sldId id="755" r:id="rId15"/>
    <p:sldId id="756" r:id="rId16"/>
    <p:sldId id="757" r:id="rId17"/>
    <p:sldId id="758" r:id="rId18"/>
    <p:sldId id="759" r:id="rId19"/>
    <p:sldId id="765" r:id="rId20"/>
    <p:sldId id="766" r:id="rId21"/>
    <p:sldId id="767" r:id="rId22"/>
    <p:sldId id="768" r:id="rId23"/>
    <p:sldId id="803" r:id="rId24"/>
    <p:sldId id="769" r:id="rId25"/>
    <p:sldId id="770" r:id="rId26"/>
    <p:sldId id="771" r:id="rId27"/>
    <p:sldId id="772" r:id="rId28"/>
    <p:sldId id="773" r:id="rId29"/>
    <p:sldId id="774" r:id="rId30"/>
    <p:sldId id="775" r:id="rId31"/>
    <p:sldId id="776" r:id="rId32"/>
    <p:sldId id="777" r:id="rId33"/>
    <p:sldId id="804" r:id="rId34"/>
    <p:sldId id="778" r:id="rId35"/>
    <p:sldId id="779" r:id="rId36"/>
    <p:sldId id="780" r:id="rId37"/>
    <p:sldId id="781" r:id="rId38"/>
    <p:sldId id="782" r:id="rId39"/>
    <p:sldId id="783" r:id="rId40"/>
    <p:sldId id="784" r:id="rId41"/>
    <p:sldId id="785" r:id="rId42"/>
    <p:sldId id="786" r:id="rId43"/>
    <p:sldId id="788" r:id="rId44"/>
    <p:sldId id="789" r:id="rId45"/>
    <p:sldId id="790" r:id="rId46"/>
    <p:sldId id="791" r:id="rId47"/>
    <p:sldId id="792" r:id="rId48"/>
    <p:sldId id="793" r:id="rId49"/>
    <p:sldId id="794" r:id="rId50"/>
    <p:sldId id="795" r:id="rId51"/>
    <p:sldId id="796" r:id="rId52"/>
    <p:sldId id="797" r:id="rId53"/>
    <p:sldId id="798" r:id="rId54"/>
    <p:sldId id="799" r:id="rId55"/>
    <p:sldId id="800" r:id="rId56"/>
    <p:sldId id="801" r:id="rId57"/>
    <p:sldId id="805" r:id="rId58"/>
    <p:sldId id="806" r:id="rId59"/>
    <p:sldId id="807" r:id="rId60"/>
    <p:sldId id="808" r:id="rId61"/>
    <p:sldId id="809" r:id="rId62"/>
    <p:sldId id="810" r:id="rId63"/>
    <p:sldId id="811" r:id="rId64"/>
    <p:sldId id="812" r:id="rId65"/>
    <p:sldId id="813" r:id="rId66"/>
    <p:sldId id="814" r:id="rId67"/>
    <p:sldId id="815" r:id="rId68"/>
    <p:sldId id="816" r:id="rId69"/>
    <p:sldId id="817" r:id="rId70"/>
    <p:sldId id="818" r:id="rId71"/>
    <p:sldId id="764" r:id="rId72"/>
    <p:sldId id="802" r:id="rId73"/>
    <p:sldId id="763" r:id="rId74"/>
    <p:sldId id="819" r:id="rId75"/>
    <p:sldId id="820" r:id="rId76"/>
    <p:sldId id="821" r:id="rId77"/>
    <p:sldId id="824" r:id="rId78"/>
    <p:sldId id="822" r:id="rId79"/>
    <p:sldId id="823" r:id="rId80"/>
    <p:sldId id="265" r:id="rId81"/>
    <p:sldId id="743" r:id="rId82"/>
  </p:sldIdLst>
  <p:sldSz cx="9144000" cy="6858000" type="screen4x3"/>
  <p:notesSz cx="6797675" cy="9926638"/>
  <p:defaultTextStyle>
    <a:defPPr>
      <a:defRPr lang="zh-CN"/>
    </a:defPPr>
    <a:lvl1pPr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66">
          <p15:clr>
            <a:srgbClr val="A4A3A4"/>
          </p15:clr>
        </p15:guide>
        <p15:guide id="2" pos="291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FF0000"/>
    <a:srgbClr val="66FF66"/>
    <a:srgbClr val="FFFF00"/>
    <a:srgbClr val="FF6600"/>
    <a:srgbClr val="CC00CC"/>
    <a:srgbClr val="FF33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1" autoAdjust="0"/>
    <p:restoredTop sz="94727" autoAdjust="0"/>
  </p:normalViewPr>
  <p:slideViewPr>
    <p:cSldViewPr>
      <p:cViewPr varScale="1">
        <p:scale>
          <a:sx n="83" d="100"/>
          <a:sy n="83" d="100"/>
        </p:scale>
        <p:origin x="1445" y="34"/>
      </p:cViewPr>
      <p:guideLst>
        <p:guide orient="horz" pos="2066"/>
        <p:guide pos="291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042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946"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1" sz="1200">
                <a:latin typeface="Times New Roman" panose="02020603050405020304" pitchFamily="18" charset="0"/>
              </a:defRPr>
            </a:lvl1pPr>
          </a:lstStyle>
          <a:p>
            <a:pPr>
              <a:defRPr/>
            </a:pPr>
            <a:endParaRPr lang="en-US" altLang="zh-CN"/>
          </a:p>
        </p:txBody>
      </p:sp>
      <p:sp>
        <p:nvSpPr>
          <p:cNvPr id="82947" name="Rectangle 3"/>
          <p:cNvSpPr>
            <a:spLocks noGrp="1" noChangeArrowheads="1"/>
          </p:cNvSpPr>
          <p:nvPr>
            <p:ph type="dt" sz="quarter" idx="1"/>
          </p:nvPr>
        </p:nvSpPr>
        <p:spPr bwMode="auto">
          <a:xfrm>
            <a:off x="3851275"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1" sz="1200">
                <a:latin typeface="Times New Roman" panose="02020603050405020304" pitchFamily="18" charset="0"/>
              </a:defRPr>
            </a:lvl1pPr>
          </a:lstStyle>
          <a:p>
            <a:pPr>
              <a:defRPr/>
            </a:pPr>
            <a:endParaRPr lang="en-US" altLang="zh-CN"/>
          </a:p>
        </p:txBody>
      </p:sp>
      <p:sp>
        <p:nvSpPr>
          <p:cNvPr id="82948" name="Rectangle 4"/>
          <p:cNvSpPr>
            <a:spLocks noGrp="1" noChangeArrowheads="1"/>
          </p:cNvSpPr>
          <p:nvPr>
            <p:ph type="ftr" sz="quarter" idx="2"/>
          </p:nvPr>
        </p:nvSpPr>
        <p:spPr bwMode="auto">
          <a:xfrm>
            <a:off x="0" y="9429750"/>
            <a:ext cx="2946400" cy="496888"/>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1" sz="1200">
                <a:latin typeface="Times New Roman" panose="02020603050405020304" pitchFamily="18" charset="0"/>
              </a:defRPr>
            </a:lvl1pPr>
          </a:lstStyle>
          <a:p>
            <a:pPr>
              <a:defRPr/>
            </a:pPr>
            <a:endParaRPr lang="en-US" altLang="zh-CN"/>
          </a:p>
        </p:txBody>
      </p:sp>
      <p:sp>
        <p:nvSpPr>
          <p:cNvPr id="82949" name="Rectangle 5"/>
          <p:cNvSpPr>
            <a:spLocks noGrp="1" noChangeArrowheads="1"/>
          </p:cNvSpPr>
          <p:nvPr>
            <p:ph type="sldNum" sz="quarter" idx="3"/>
          </p:nvPr>
        </p:nvSpPr>
        <p:spPr bwMode="auto">
          <a:xfrm>
            <a:off x="3851275" y="9429750"/>
            <a:ext cx="2946400" cy="496888"/>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1" sz="1200">
                <a:latin typeface="Times New Roman" panose="02020603050405020304" pitchFamily="18" charset="0"/>
              </a:defRPr>
            </a:lvl1pPr>
          </a:lstStyle>
          <a:p>
            <a:fld id="{FB27EE3E-14A8-4D34-A82A-DF2080991298}" type="slidenum">
              <a:rPr lang="en-US" altLang="zh-CN"/>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2850"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1" sz="1200">
                <a:latin typeface="Times New Roman" panose="02020603050405020304" pitchFamily="18" charset="0"/>
              </a:defRPr>
            </a:lvl1pPr>
          </a:lstStyle>
          <a:p>
            <a:pPr>
              <a:defRPr/>
            </a:pPr>
            <a:endParaRPr lang="en-US" altLang="zh-CN"/>
          </a:p>
        </p:txBody>
      </p:sp>
      <p:sp>
        <p:nvSpPr>
          <p:cNvPr id="462851" name="Rectangle 3"/>
          <p:cNvSpPr>
            <a:spLocks noGrp="1" noChangeArrowheads="1"/>
          </p:cNvSpPr>
          <p:nvPr>
            <p:ph type="dt" idx="1"/>
          </p:nvPr>
        </p:nvSpPr>
        <p:spPr bwMode="auto">
          <a:xfrm>
            <a:off x="3849688"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1" sz="1200">
                <a:latin typeface="Times New Roman" panose="02020603050405020304" pitchFamily="18"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462853" name="Rectangle 5"/>
          <p:cNvSpPr>
            <a:spLocks noGrp="1" noChangeArrowheads="1"/>
          </p:cNvSpPr>
          <p:nvPr>
            <p:ph type="body" sz="quarter" idx="3"/>
          </p:nvPr>
        </p:nvSpPr>
        <p:spPr bwMode="auto">
          <a:xfrm>
            <a:off x="679450" y="4714875"/>
            <a:ext cx="5438775" cy="44672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62854" name="Rectangle 6"/>
          <p:cNvSpPr>
            <a:spLocks noGrp="1" noChangeArrowheads="1"/>
          </p:cNvSpPr>
          <p:nvPr>
            <p:ph type="ftr" sz="quarter" idx="4"/>
          </p:nvPr>
        </p:nvSpPr>
        <p:spPr bwMode="auto">
          <a:xfrm>
            <a:off x="0" y="9428163"/>
            <a:ext cx="2946400" cy="496887"/>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1" sz="1200">
                <a:latin typeface="Times New Roman" panose="02020603050405020304" pitchFamily="18" charset="0"/>
              </a:defRPr>
            </a:lvl1pPr>
          </a:lstStyle>
          <a:p>
            <a:pPr>
              <a:defRPr/>
            </a:pPr>
            <a:endParaRPr lang="en-US" altLang="zh-CN"/>
          </a:p>
        </p:txBody>
      </p:sp>
      <p:sp>
        <p:nvSpPr>
          <p:cNvPr id="462855" name="Rectangle 7"/>
          <p:cNvSpPr>
            <a:spLocks noGrp="1" noChangeArrowheads="1"/>
          </p:cNvSpPr>
          <p:nvPr>
            <p:ph type="sldNum" sz="quarter" idx="5"/>
          </p:nvPr>
        </p:nvSpPr>
        <p:spPr bwMode="auto">
          <a:xfrm>
            <a:off x="3849688" y="9428163"/>
            <a:ext cx="2946400" cy="496887"/>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1" sz="1200">
                <a:latin typeface="Times New Roman" panose="02020603050405020304" pitchFamily="18" charset="0"/>
              </a:defRPr>
            </a:lvl1pPr>
          </a:lstStyle>
          <a:p>
            <a:fld id="{0987E587-648A-444E-BF24-AE5A419DDEA9}"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987E587-648A-444E-BF24-AE5A419DDEA9}" type="slidenum">
              <a:rPr lang="en-US" altLang="zh-CN" smtClean="0"/>
              <a:t>7</a:t>
            </a:fld>
            <a:endParaRPr lang="en-US" altLang="zh-CN"/>
          </a:p>
        </p:txBody>
      </p:sp>
    </p:spTree>
    <p:extLst>
      <p:ext uri="{BB962C8B-B14F-4D97-AF65-F5344CB8AC3E}">
        <p14:creationId xmlns:p14="http://schemas.microsoft.com/office/powerpoint/2010/main" val="4060774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987E587-648A-444E-BF24-AE5A419DDEA9}" type="slidenum">
              <a:rPr lang="en-US" altLang="zh-CN" smtClean="0"/>
              <a:t>29</a:t>
            </a:fld>
            <a:endParaRPr lang="en-US" altLang="zh-CN"/>
          </a:p>
        </p:txBody>
      </p:sp>
    </p:spTree>
    <p:extLst>
      <p:ext uri="{BB962C8B-B14F-4D97-AF65-F5344CB8AC3E}">
        <p14:creationId xmlns:p14="http://schemas.microsoft.com/office/powerpoint/2010/main" val="36612051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2438400"/>
            <a:ext cx="9009063" cy="1052513"/>
            <a:chOff x="0" y="1536"/>
            <a:chExt cx="5675" cy="663"/>
          </a:xfrm>
        </p:grpSpPr>
        <p:grpSp>
          <p:nvGrpSpPr>
            <p:cNvPr id="5" name="Group 3"/>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sz="100"/>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sz="100"/>
              </a:p>
            </p:txBody>
          </p:sp>
        </p:grpSp>
        <p:grpSp>
          <p:nvGrpSpPr>
            <p:cNvPr id="6" name="Group 6"/>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sz="100"/>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sz="100"/>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sz="100"/>
            </a:p>
          </p:txBody>
        </p:sp>
        <p:sp>
          <p:nvSpPr>
            <p:cNvPr id="8"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sz="100"/>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sz="100"/>
            </a:p>
          </p:txBody>
        </p:sp>
      </p:grpSp>
      <p:sp>
        <p:nvSpPr>
          <p:cNvPr id="289804" name="Rectangle 12"/>
          <p:cNvSpPr>
            <a:spLocks noGrp="1" noChangeArrowheads="1"/>
          </p:cNvSpPr>
          <p:nvPr>
            <p:ph type="ctrTitle"/>
          </p:nvPr>
        </p:nvSpPr>
        <p:spPr>
          <a:xfrm>
            <a:off x="990600" y="1676400"/>
            <a:ext cx="7772400" cy="1462088"/>
          </a:xfrm>
        </p:spPr>
        <p:txBody>
          <a:bodyPr/>
          <a:lstStyle>
            <a:lvl1pPr>
              <a:defRPr/>
            </a:lvl1pPr>
          </a:lstStyle>
          <a:p>
            <a:r>
              <a:rPr lang="zh-CN" altLang="en-US"/>
              <a:t>单击此处编辑母版标题样式</a:t>
            </a:r>
          </a:p>
        </p:txBody>
      </p:sp>
      <p:sp>
        <p:nvSpPr>
          <p:cNvPr id="28980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fld id="{F2A38385-79F1-4070-AD82-BB6D08C56F62}" type="slidenum">
              <a:rPr lang="en-US" altLang="zh-CN"/>
              <a:t>‹#›</a:t>
            </a:fld>
            <a:endParaRPr lang="en-US" altLang="zh-CN"/>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400"/>
            </a:lvl1pPr>
          </a:lstStyle>
          <a:p>
            <a:r>
              <a:rPr lang="zh-CN" altLang="en-US"/>
              <a:t>单击此处编辑母版标题样式</a:t>
            </a:r>
          </a:p>
        </p:txBody>
      </p:sp>
      <p:sp>
        <p:nvSpPr>
          <p:cNvPr id="3" name="内容占位符 2"/>
          <p:cNvSpPr>
            <a:spLocks noGrp="1"/>
          </p:cNvSpPr>
          <p:nvPr>
            <p:ph idx="1"/>
          </p:nvPr>
        </p:nvSpPr>
        <p:spPr/>
        <p:txBody>
          <a:bodyPr/>
          <a:lstStyle>
            <a:lvl1pPr>
              <a:defRPr sz="2600" b="0"/>
            </a:lvl1pPr>
            <a:lvl2pPr>
              <a:defRPr sz="2400" b="0">
                <a:latin typeface="楷体_GB2312" panose="02010609030101010101" pitchFamily="49" charset="-122"/>
                <a:ea typeface="楷体_GB2312" panose="02010609030101010101" pitchFamily="49" charset="-122"/>
              </a:defRPr>
            </a:lvl2pPr>
            <a:lvl3pPr>
              <a:defRPr sz="2000" b="0">
                <a:latin typeface="+mn-ea"/>
                <a:ea typeface="+mn-ea"/>
              </a:defRPr>
            </a:lvl3pPr>
            <a:lvl4pPr>
              <a:defRPr sz="1600" b="0">
                <a:latin typeface="仿宋_GB2312" panose="02010609030101010101" pitchFamily="49" charset="-122"/>
                <a:ea typeface="仿宋_GB2312" panose="02010609030101010101" pitchFamily="49" charset="-122"/>
              </a:defRPr>
            </a:lvl4pPr>
            <a:lvl5pPr>
              <a:defRPr b="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fld id="{048EDE34-9A29-47BC-9D16-4DCB49FCD5A3}" type="slidenum">
              <a:rPr lang="en-US" altLang="zh-CN"/>
              <a:t>‹#›</a:t>
            </a:fld>
            <a:endParaRPr lang="en-US" altLang="zh-CN"/>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fld id="{3C69FEE2-C40E-473C-8712-3E075329BABE}" type="slidenum">
              <a:rPr lang="en-US" altLang="zh-CN"/>
              <a:t>‹#›</a:t>
            </a:fld>
            <a:endParaRPr lang="en-US" altLang="zh-CN"/>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fld id="{89EAED15-FAC6-42CA-90D0-2A46DCA32C44}" type="slidenum">
              <a:rPr lang="en-US" altLang="zh-CN"/>
              <a:t>‹#›</a:t>
            </a:fld>
            <a:endParaRPr lang="en-US" altLang="zh-CN"/>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dt" sz="half" idx="10"/>
          </p:nvPr>
        </p:nvSpPr>
        <p:spPr/>
        <p:txBody>
          <a:bodyPr/>
          <a:lstStyle>
            <a:lvl1pPr>
              <a:defRPr/>
            </a:lvl1pPr>
          </a:lstStyle>
          <a:p>
            <a:pPr>
              <a:defRPr/>
            </a:pPr>
            <a:endParaRPr lang="en-US" altLang="zh-CN"/>
          </a:p>
        </p:txBody>
      </p:sp>
      <p:sp>
        <p:nvSpPr>
          <p:cNvPr id="8" name="Rectangle 12"/>
          <p:cNvSpPr>
            <a:spLocks noGrp="1" noChangeArrowheads="1"/>
          </p:cNvSpPr>
          <p:nvPr>
            <p:ph type="ftr" sz="quarter" idx="11"/>
          </p:nvPr>
        </p:nvSpPr>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p:txBody>
          <a:bodyPr/>
          <a:lstStyle>
            <a:lvl1pPr>
              <a:defRPr/>
            </a:lvl1pPr>
          </a:lstStyle>
          <a:p>
            <a:fld id="{605E224D-3EF8-4E6C-A49F-42DA1562F367}" type="slidenum">
              <a:rPr lang="en-US" altLang="zh-CN"/>
              <a:t>‹#›</a:t>
            </a:fld>
            <a:endParaRPr lang="en-US" altLang="zh-CN"/>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p:cNvSpPr>
            <a:spLocks noGrp="1" noChangeArrowheads="1"/>
          </p:cNvSpPr>
          <p:nvPr>
            <p:ph type="dt" sz="half" idx="10"/>
          </p:nvPr>
        </p:nvSpPr>
        <p:spPr/>
        <p:txBody>
          <a:bodyPr/>
          <a:lstStyle>
            <a:lvl1pPr>
              <a:defRPr/>
            </a:lvl1pPr>
          </a:lstStyle>
          <a:p>
            <a:pPr>
              <a:defRPr/>
            </a:pPr>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p:txBody>
          <a:bodyPr/>
          <a:lstStyle>
            <a:lvl1pPr>
              <a:defRPr/>
            </a:lvl1pPr>
          </a:lstStyle>
          <a:p>
            <a:fld id="{F40EAB64-B8ED-481E-9409-CA159986A864}" type="slidenum">
              <a:rPr lang="en-US" altLang="zh-CN"/>
              <a:t>‹#›</a:t>
            </a:fld>
            <a:endParaRPr lang="en-US" altLang="zh-CN"/>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p:txBody>
          <a:bodyPr/>
          <a:lstStyle>
            <a:lvl1pPr>
              <a:defRPr/>
            </a:lvl1pPr>
          </a:lstStyle>
          <a:p>
            <a:fld id="{E5F5DC1F-3A28-4D5D-8CB5-022999EE035A}" type="slidenum">
              <a:rPr lang="en-US" altLang="zh-CN"/>
              <a:t>‹#›</a:t>
            </a:fld>
            <a:endParaRPr lang="en-US" altLang="zh-CN"/>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fld id="{F945E6BA-2834-4201-B7BF-49A43504AA3F}" type="slidenum">
              <a:rPr lang="en-US" altLang="zh-CN"/>
              <a:t>‹#›</a:t>
            </a:fld>
            <a:endParaRPr lang="en-US" altLang="zh-CN"/>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fld id="{85F48BEB-9AA5-479D-968D-9CB89F64CE3A}" type="slidenum">
              <a:rPr lang="en-US" altLang="zh-CN"/>
              <a:t>‹#›</a:t>
            </a:fld>
            <a:endParaRPr lang="en-US" altLang="zh-CN"/>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fld id="{47AA717F-B81B-48F2-B135-6322A24D2915}" type="slidenum">
              <a:rPr lang="en-US" altLang="zh-CN"/>
              <a:t>‹#›</a:t>
            </a:fld>
            <a:endParaRPr lang="en-US" altLang="zh-CN"/>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214313"/>
            <a:ext cx="1951038" cy="5918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214313"/>
            <a:ext cx="5700712" cy="5918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fld id="{C0324653-3E7F-49CA-A3A3-0957CF768160}" type="slidenum">
              <a:rPr lang="en-US" altLang="zh-CN"/>
              <a:t>‹#›</a:t>
            </a:fld>
            <a:endParaRPr lang="en-US" altLang="zh-CN"/>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a:t>单击此处编辑母版标题样式</a:t>
            </a:r>
          </a:p>
        </p:txBody>
      </p:sp>
      <p:sp>
        <p:nvSpPr>
          <p:cNvPr id="3" name="表格占位符 2"/>
          <p:cNvSpPr>
            <a:spLocks noGrp="1"/>
          </p:cNvSpPr>
          <p:nvPr>
            <p:ph type="tbl" idx="1"/>
          </p:nvPr>
        </p:nvSpPr>
        <p:spPr>
          <a:xfrm>
            <a:off x="1182688" y="2017713"/>
            <a:ext cx="7772400" cy="4114800"/>
          </a:xfrm>
        </p:spPr>
        <p:txBody>
          <a:bodyPr/>
          <a:lstStyle/>
          <a:p>
            <a:pPr lvl="0"/>
            <a:endParaRPr lang="zh-CN" altLang="en-US" noProof="0"/>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B6196AC5-FAC5-49FC-82CE-5E0035DF16EA}" type="slidenum">
              <a:rPr lang="en-US" altLang="zh-CN"/>
              <a:t>‹#›</a:t>
            </a:fld>
            <a:endParaRPr lang="en-US" altLang="zh-CN"/>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9D9FA020-0644-4E30-9FA1-3BB2E488C7C2}" type="slidenum">
              <a:rPr lang="en-US" altLang="zh-CN"/>
              <a:t>‹#›</a:t>
            </a:fld>
            <a:endParaRPr lang="en-US" altLang="zh-CN"/>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1800"/>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1800"/>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1800"/>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1800"/>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1800"/>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1800"/>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1800"/>
          </a:p>
        </p:txBody>
      </p:sp>
      <p:sp>
        <p:nvSpPr>
          <p:cNvPr id="1033" name="Rectangle 9"/>
          <p:cNvSpPr>
            <a:spLocks noGrp="1" noChangeArrowheads="1"/>
          </p:cNvSpPr>
          <p:nvPr>
            <p:ph type="title"/>
          </p:nvPr>
        </p:nvSpPr>
        <p:spPr bwMode="auto">
          <a:xfrm>
            <a:off x="1150938" y="214313"/>
            <a:ext cx="7793037" cy="146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sp>
        <p:nvSpPr>
          <p:cNvPr id="1034" name="Rectangle 10"/>
          <p:cNvSpPr>
            <a:spLocks noGrp="1" noChangeArrowheads="1"/>
          </p:cNvSpPr>
          <p:nvPr>
            <p:ph type="body" idx="1"/>
          </p:nvPr>
        </p:nvSpPr>
        <p:spPr bwMode="auto">
          <a:xfrm>
            <a:off x="1182688" y="20177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88779" name="Rectangle 11"/>
          <p:cNvSpPr>
            <a:spLocks noGrp="1" noChangeArrowheads="1"/>
          </p:cNvSpPr>
          <p:nvPr>
            <p:ph type="dt" sz="half" idx="2"/>
          </p:nvPr>
        </p:nvSpPr>
        <p:spPr bwMode="auto">
          <a:xfrm>
            <a:off x="1162050" y="6243638"/>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050"/>
            </a:lvl1pPr>
          </a:lstStyle>
          <a:p>
            <a:pPr>
              <a:defRPr/>
            </a:pPr>
            <a:endParaRPr lang="en-US" altLang="zh-CN"/>
          </a:p>
        </p:txBody>
      </p:sp>
      <p:sp>
        <p:nvSpPr>
          <p:cNvPr id="288780" name="Rectangle 12"/>
          <p:cNvSpPr>
            <a:spLocks noGrp="1" noChangeArrowheads="1"/>
          </p:cNvSpPr>
          <p:nvPr>
            <p:ph type="ftr" sz="quarter" idx="3"/>
          </p:nvPr>
        </p:nvSpPr>
        <p:spPr bwMode="auto">
          <a:xfrm>
            <a:off x="3657600" y="6243638"/>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050"/>
            </a:lvl1pPr>
          </a:lstStyle>
          <a:p>
            <a:pPr>
              <a:defRPr/>
            </a:pPr>
            <a:endParaRPr lang="en-US" altLang="zh-CN"/>
          </a:p>
        </p:txBody>
      </p:sp>
      <p:sp>
        <p:nvSpPr>
          <p:cNvPr id="288781" name="Rectangle 13"/>
          <p:cNvSpPr>
            <a:spLocks noGrp="1" noChangeArrowheads="1"/>
          </p:cNvSpPr>
          <p:nvPr>
            <p:ph type="sldNum" sz="quarter" idx="4"/>
          </p:nvPr>
        </p:nvSpPr>
        <p:spPr bwMode="auto">
          <a:xfrm>
            <a:off x="7042150" y="6243638"/>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050"/>
            </a:lvl1pPr>
          </a:lstStyle>
          <a:p>
            <a:fld id="{1F083D9A-6E12-4CCE-B5E3-47C5C246FC32}"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33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2pPr>
      <a:lvl3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3pPr>
      <a:lvl4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4pPr>
      <a:lvl5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5pPr>
      <a:lvl6pPr marL="457200" algn="l" rtl="0" fontAlgn="base">
        <a:spcBef>
          <a:spcPct val="0"/>
        </a:spcBef>
        <a:spcAft>
          <a:spcPct val="0"/>
        </a:spcAft>
        <a:defRPr sz="4400" b="1">
          <a:solidFill>
            <a:schemeClr val="tx2"/>
          </a:solidFill>
          <a:latin typeface="Tahoma" panose="020B0604030504040204" pitchFamily="34" charset="0"/>
          <a:ea typeface="华文中宋" pitchFamily="2" charset="-122"/>
        </a:defRPr>
      </a:lvl6pPr>
      <a:lvl7pPr marL="914400" algn="l" rtl="0" fontAlgn="base">
        <a:spcBef>
          <a:spcPct val="0"/>
        </a:spcBef>
        <a:spcAft>
          <a:spcPct val="0"/>
        </a:spcAft>
        <a:defRPr sz="4400" b="1">
          <a:solidFill>
            <a:schemeClr val="tx2"/>
          </a:solidFill>
          <a:latin typeface="Tahoma" panose="020B0604030504040204" pitchFamily="34" charset="0"/>
          <a:ea typeface="华文中宋" pitchFamily="2" charset="-122"/>
        </a:defRPr>
      </a:lvl7pPr>
      <a:lvl8pPr marL="1371600" algn="l" rtl="0" fontAlgn="base">
        <a:spcBef>
          <a:spcPct val="0"/>
        </a:spcBef>
        <a:spcAft>
          <a:spcPct val="0"/>
        </a:spcAft>
        <a:defRPr sz="4400" b="1">
          <a:solidFill>
            <a:schemeClr val="tx2"/>
          </a:solidFill>
          <a:latin typeface="Tahoma" panose="020B0604030504040204" pitchFamily="34" charset="0"/>
          <a:ea typeface="华文中宋" pitchFamily="2" charset="-122"/>
        </a:defRPr>
      </a:lvl8pPr>
      <a:lvl9pPr marL="1828800" algn="l" rtl="0" fontAlgn="base">
        <a:spcBef>
          <a:spcPct val="0"/>
        </a:spcBef>
        <a:spcAft>
          <a:spcPct val="0"/>
        </a:spcAft>
        <a:defRPr sz="4400" b="1">
          <a:solidFill>
            <a:schemeClr val="tx2"/>
          </a:solidFill>
          <a:latin typeface="Tahoma" panose="020B0604030504040204" pitchFamily="34" charset="0"/>
          <a:ea typeface="华文中宋" pitchFamily="2" charset="-122"/>
        </a:defRPr>
      </a:lvl9pPr>
    </p:titleStyle>
    <p:bodyStyle>
      <a:lvl1pPr marL="257175" indent="-257175" algn="l" rtl="0" eaLnBrk="0" fontAlgn="base" hangingPunct="0">
        <a:spcBef>
          <a:spcPct val="15000"/>
        </a:spcBef>
        <a:spcAft>
          <a:spcPct val="0"/>
        </a:spcAft>
        <a:buClr>
          <a:schemeClr val="folHlink"/>
        </a:buClr>
        <a:buSzPct val="60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cs typeface="+mn-cs"/>
        </a:defRPr>
      </a:lvl1pPr>
      <a:lvl2pPr marL="557530" indent="-213995" algn="l" rtl="0" eaLnBrk="0" fontAlgn="base" hangingPunct="0">
        <a:spcBef>
          <a:spcPct val="15000"/>
        </a:spcBef>
        <a:spcAft>
          <a:spcPct val="0"/>
        </a:spcAft>
        <a:buClr>
          <a:schemeClr val="hlink"/>
        </a:buClr>
        <a:buSzPct val="55000"/>
        <a:buFont typeface="Wingdings" panose="05000000000000000000" pitchFamily="2" charset="2"/>
        <a:buChar char="n"/>
        <a:defRPr sz="2100" b="1">
          <a:solidFill>
            <a:schemeClr val="tx1"/>
          </a:solidFill>
          <a:latin typeface="楷体_GB2312" panose="02010609030101010101" pitchFamily="49" charset="-122"/>
          <a:ea typeface="楷体_GB2312" panose="02010609030101010101" pitchFamily="49" charset="-122"/>
        </a:defRPr>
      </a:lvl2pPr>
      <a:lvl3pPr marL="857250" indent="-171450" algn="l" rtl="0" eaLnBrk="0" fontAlgn="base" hangingPunct="0">
        <a:spcBef>
          <a:spcPct val="15000"/>
        </a:spcBef>
        <a:spcAft>
          <a:spcPct val="0"/>
        </a:spcAft>
        <a:buClr>
          <a:schemeClr val="folHlink"/>
        </a:buClr>
        <a:buSzPct val="50000"/>
        <a:buFont typeface="Wingdings" panose="05000000000000000000" pitchFamily="2" charset="2"/>
        <a:buChar char="n"/>
        <a:defRPr sz="1800" b="1">
          <a:solidFill>
            <a:schemeClr val="tx1"/>
          </a:solidFill>
          <a:latin typeface="楷体_GB2312" panose="02010609030101010101" pitchFamily="49" charset="-122"/>
          <a:ea typeface="楷体_GB2312" panose="02010609030101010101" pitchFamily="49" charset="-122"/>
        </a:defRPr>
      </a:lvl3pPr>
      <a:lvl4pPr marL="1200150" indent="-171450" algn="l" rtl="0" eaLnBrk="0" fontAlgn="base" hangingPunct="0">
        <a:spcBef>
          <a:spcPct val="15000"/>
        </a:spcBef>
        <a:spcAft>
          <a:spcPct val="0"/>
        </a:spcAft>
        <a:buClr>
          <a:schemeClr val="accent2"/>
        </a:buClr>
        <a:buSzPct val="55000"/>
        <a:buFont typeface="Wingdings" panose="05000000000000000000" pitchFamily="2" charset="2"/>
        <a:buChar char="n"/>
        <a:defRPr sz="1500" b="1">
          <a:solidFill>
            <a:schemeClr val="tx1"/>
          </a:solidFill>
          <a:latin typeface="黑体" panose="02010609060101010101" pitchFamily="49" charset="-122"/>
          <a:ea typeface="黑体" panose="02010609060101010101" pitchFamily="49" charset="-122"/>
        </a:defRPr>
      </a:lvl4pPr>
      <a:lvl5pPr marL="1543050" indent="-171450" algn="l" rtl="0" eaLnBrk="0" fontAlgn="base" hangingPunct="0">
        <a:spcBef>
          <a:spcPct val="15000"/>
        </a:spcBef>
        <a:spcAft>
          <a:spcPct val="0"/>
        </a:spcAft>
        <a:buClr>
          <a:schemeClr val="accent1"/>
        </a:buClr>
        <a:buSzPct val="50000"/>
        <a:buFont typeface="Wingdings" panose="05000000000000000000" pitchFamily="2" charset="2"/>
        <a:buChar char="n"/>
        <a:defRPr sz="1500" b="1">
          <a:solidFill>
            <a:schemeClr val="tx1"/>
          </a:solidFill>
          <a:latin typeface="黑体" panose="02010609060101010101" pitchFamily="49" charset="-122"/>
          <a:ea typeface="黑体" panose="02010609060101010101" pitchFamily="49" charset="-122"/>
        </a:defRPr>
      </a:lvl5pPr>
      <a:lvl6pPr marL="18859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6pPr>
      <a:lvl7pPr marL="22288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7pPr>
      <a:lvl8pPr marL="25717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8pPr>
      <a:lvl9pPr marL="29146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gn="ctr"/>
            <a:endParaRPr lang="zh-CN" altLang="en-US" dirty="0"/>
          </a:p>
        </p:txBody>
      </p:sp>
      <p:sp>
        <p:nvSpPr>
          <p:cNvPr id="20483" name="Rectangle 3"/>
          <p:cNvSpPr>
            <a:spLocks noGrp="1" noChangeArrowheads="1"/>
          </p:cNvSpPr>
          <p:nvPr>
            <p:ph idx="1"/>
          </p:nvPr>
        </p:nvSpPr>
        <p:spPr>
          <a:xfrm>
            <a:off x="1101725" y="1988840"/>
            <a:ext cx="7772400" cy="4114800"/>
          </a:xfrm>
        </p:spPr>
        <p:txBody>
          <a:bodyPr/>
          <a:lstStyle/>
          <a:p>
            <a:pPr eaLnBrk="1" hangingPunct="1"/>
            <a:endParaRPr lang="en-US" altLang="zh-CN" dirty="0"/>
          </a:p>
          <a:p>
            <a:pPr marL="0" indent="0" algn="ctr" eaLnBrk="1" hangingPunct="1">
              <a:buNone/>
            </a:pPr>
            <a:r>
              <a:rPr lang="zh-CN" altLang="en-US" sz="5400" dirty="0"/>
              <a:t>中级财务会计</a:t>
            </a:r>
            <a:endParaRPr lang="en-US" altLang="zh-CN" sz="5400" dirty="0"/>
          </a:p>
        </p:txBody>
      </p:sp>
      <p:pic>
        <p:nvPicPr>
          <p:cNvPr id="5" name="图片 4">
            <a:extLst>
              <a:ext uri="{FF2B5EF4-FFF2-40B4-BE49-F238E27FC236}">
                <a16:creationId xmlns:a16="http://schemas.microsoft.com/office/drawing/2014/main" id="{BC4189FB-8DD7-41BA-A67E-D38650E176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92080" y="3549648"/>
            <a:ext cx="2304256" cy="2986290"/>
          </a:xfrm>
          <a:prstGeom prst="rect">
            <a:avLst/>
          </a:prstGeom>
        </p:spPr>
      </p:pic>
      <p:sp>
        <p:nvSpPr>
          <p:cNvPr id="6" name="矩形 5">
            <a:extLst>
              <a:ext uri="{FF2B5EF4-FFF2-40B4-BE49-F238E27FC236}">
                <a16:creationId xmlns:a16="http://schemas.microsoft.com/office/drawing/2014/main" id="{69C973C8-1F2F-45A8-9EAC-F821CE1C338C}"/>
              </a:ext>
            </a:extLst>
          </p:cNvPr>
          <p:cNvSpPr/>
          <p:nvPr/>
        </p:nvSpPr>
        <p:spPr>
          <a:xfrm>
            <a:off x="2267745" y="4365104"/>
            <a:ext cx="3168352" cy="923330"/>
          </a:xfrm>
          <a:prstGeom prst="rect">
            <a:avLst/>
          </a:prstGeom>
        </p:spPr>
        <p:txBody>
          <a:bodyPr wrap="square">
            <a:spAutoFit/>
          </a:bodyPr>
          <a:lstStyle/>
          <a:p>
            <a:pPr eaLnBrk="1" hangingPunct="1"/>
            <a:r>
              <a:rPr lang="zh-CN" altLang="en-US" dirty="0"/>
              <a:t>配套教材</a:t>
            </a:r>
            <a:endParaRPr lang="en-US" altLang="zh-CN" dirty="0"/>
          </a:p>
          <a:p>
            <a:pPr eaLnBrk="1" hangingPunct="1"/>
            <a:r>
              <a:rPr lang="zh-CN" altLang="en-US" dirty="0"/>
              <a:t>纸质版：天猫、京东</a:t>
            </a:r>
            <a:endParaRPr lang="en-US" altLang="zh-CN" dirty="0"/>
          </a:p>
          <a:p>
            <a:pPr eaLnBrk="1" hangingPunct="1"/>
            <a:r>
              <a:rPr lang="zh-CN" altLang="en-US" dirty="0"/>
              <a:t>电子版及教辅：文泉学堂</a:t>
            </a:r>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zh-CN" altLang="en-US" dirty="0"/>
              <a:t>课程描述</a:t>
            </a:r>
            <a:endParaRPr lang="zh-CN" altLang="en-US" sz="4400" dirty="0"/>
          </a:p>
        </p:txBody>
      </p:sp>
      <p:sp>
        <p:nvSpPr>
          <p:cNvPr id="409603" name="Rectangle 3"/>
          <p:cNvSpPr>
            <a:spLocks noGrp="1" noChangeArrowheads="1"/>
          </p:cNvSpPr>
          <p:nvPr>
            <p:ph idx="1"/>
          </p:nvPr>
        </p:nvSpPr>
        <p:spPr/>
        <p:txBody>
          <a:bodyPr/>
          <a:lstStyle/>
          <a:p>
            <a:pPr marL="0" indent="0" eaLnBrk="1" hangingPunct="1">
              <a:lnSpc>
                <a:spcPct val="90000"/>
              </a:lnSpc>
              <a:buNone/>
            </a:pPr>
            <a:endParaRPr lang="zh-CN" altLang="en-US" b="1" dirty="0">
              <a:solidFill>
                <a:srgbClr val="3333FF"/>
              </a:solidFill>
            </a:endParaRPr>
          </a:p>
          <a:p>
            <a:pPr eaLnBrk="1" hangingPunct="1">
              <a:lnSpc>
                <a:spcPct val="110000"/>
              </a:lnSpc>
            </a:pPr>
            <a:r>
              <a:rPr lang="zh-CN" altLang="en-US" dirty="0"/>
              <a:t>课程目标是</a:t>
            </a:r>
          </a:p>
          <a:p>
            <a:pPr marL="0" indent="0" algn="l" eaLnBrk="1" hangingPunct="1">
              <a:lnSpc>
                <a:spcPct val="110000"/>
              </a:lnSpc>
              <a:buNone/>
            </a:pPr>
            <a:endParaRPr lang="zh-CN" altLang="en-US" b="1" dirty="0">
              <a:solidFill>
                <a:srgbClr val="3333FF"/>
              </a:solidFill>
            </a:endParaRPr>
          </a:p>
          <a:p>
            <a:pPr eaLnBrk="1" hangingPunct="1">
              <a:lnSpc>
                <a:spcPct val="110000"/>
              </a:lnSpc>
            </a:pPr>
            <a:r>
              <a:rPr lang="zh-CN" altLang="en-US" dirty="0"/>
              <a:t>培养学生理解、编制并能够运用财务会计报告进行决策的能力</a:t>
            </a:r>
          </a:p>
          <a:p>
            <a:pPr lvl="1" eaLnBrk="1" hangingPunct="1">
              <a:lnSpc>
                <a:spcPct val="110000"/>
              </a:lnSpc>
            </a:pPr>
            <a:r>
              <a:rPr lang="zh-CN" altLang="en-US" dirty="0"/>
              <a:t>理解财务报告</a:t>
            </a:r>
          </a:p>
          <a:p>
            <a:pPr lvl="1" eaLnBrk="1" hangingPunct="1">
              <a:lnSpc>
                <a:spcPct val="110000"/>
              </a:lnSpc>
            </a:pPr>
            <a:r>
              <a:rPr lang="zh-CN" altLang="en-US" dirty="0"/>
              <a:t>编制财务报告</a:t>
            </a:r>
          </a:p>
          <a:p>
            <a:pPr lvl="1" eaLnBrk="1" hangingPunct="1">
              <a:lnSpc>
                <a:spcPct val="110000"/>
              </a:lnSpc>
            </a:pPr>
            <a:r>
              <a:rPr lang="zh-CN" altLang="en-US" dirty="0"/>
              <a:t>分析财务报告并做出合理的经济决策</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zh-CN" altLang="en-US" dirty="0"/>
              <a:t>财务会计课程</a:t>
            </a:r>
          </a:p>
        </p:txBody>
      </p:sp>
      <p:sp>
        <p:nvSpPr>
          <p:cNvPr id="5" name="Rectangle 2">
            <a:extLst>
              <a:ext uri="{FF2B5EF4-FFF2-40B4-BE49-F238E27FC236}">
                <a16:creationId xmlns:a16="http://schemas.microsoft.com/office/drawing/2014/main" id="{D70B9464-D6E4-4E43-9953-9598FC951EEF}"/>
              </a:ext>
            </a:extLst>
          </p:cNvPr>
          <p:cNvSpPr>
            <a:spLocks noChangeArrowheads="1"/>
          </p:cNvSpPr>
          <p:nvPr/>
        </p:nvSpPr>
        <p:spPr bwMode="auto">
          <a:xfrm>
            <a:off x="876300" y="4432920"/>
            <a:ext cx="1895500" cy="762000"/>
          </a:xfrm>
          <a:prstGeom prst="rect">
            <a:avLst/>
          </a:prstGeom>
          <a:solidFill>
            <a:srgbClr val="FFFF00"/>
          </a:solidFill>
          <a:ln w="9525">
            <a:solidFill>
              <a:schemeClr val="tx1"/>
            </a:solidFill>
            <a:miter lim="800000"/>
            <a:headEnd/>
            <a:tailEnd/>
          </a:ln>
        </p:spPr>
        <p:txBody>
          <a:bodyPr wrap="none" anchor="ctr"/>
          <a:lstStyle>
            <a:lvl1pPr>
              <a:spcBef>
                <a:spcPct val="20000"/>
              </a:spcBef>
              <a:buSzPct val="100000"/>
              <a:buChar char="•"/>
              <a:defRPr sz="3200" b="1">
                <a:solidFill>
                  <a:schemeClr val="hlink"/>
                </a:solidFill>
                <a:latin typeface="Arial" panose="020B0604020202020204" pitchFamily="34" charset="0"/>
                <a:ea typeface="宋体" panose="02010600030101010101" pitchFamily="2" charset="-122"/>
              </a:defRPr>
            </a:lvl1pPr>
            <a:lvl2pPr marL="742950" indent="-285750">
              <a:spcBef>
                <a:spcPct val="20000"/>
              </a:spcBef>
              <a:buSzPct val="100000"/>
              <a:buChar char="–"/>
              <a:defRPr sz="2800" b="1">
                <a:solidFill>
                  <a:schemeClr val="tx2"/>
                </a:solidFill>
                <a:latin typeface="Arial" panose="020B0604020202020204" pitchFamily="34" charset="0"/>
                <a:ea typeface="宋体" panose="02010600030101010101" pitchFamily="2" charset="-122"/>
              </a:defRPr>
            </a:lvl2pPr>
            <a:lvl3pPr marL="1143000" indent="-228600">
              <a:spcBef>
                <a:spcPct val="20000"/>
              </a:spcBef>
              <a:buSzPct val="100000"/>
              <a:buChar char="•"/>
              <a:defRPr sz="2400" b="1">
                <a:solidFill>
                  <a:schemeClr val="folHlink"/>
                </a:solidFill>
                <a:latin typeface="Arial" panose="020B0604020202020204" pitchFamily="34" charset="0"/>
                <a:ea typeface="宋体" panose="02010600030101010101" pitchFamily="2" charset="-122"/>
              </a:defRPr>
            </a:lvl3pPr>
            <a:lvl4pPr marL="16002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kumimoji="1" lang="zh-CN" altLang="en-US" sz="2400" dirty="0">
                <a:solidFill>
                  <a:srgbClr val="0000FF"/>
                </a:solidFill>
                <a:latin typeface="Times New Roman" panose="02020603050405020304" pitchFamily="18" charset="0"/>
              </a:rPr>
              <a:t>会计学原理</a:t>
            </a:r>
          </a:p>
        </p:txBody>
      </p:sp>
      <p:sp>
        <p:nvSpPr>
          <p:cNvPr id="6" name="Rectangle 3">
            <a:extLst>
              <a:ext uri="{FF2B5EF4-FFF2-40B4-BE49-F238E27FC236}">
                <a16:creationId xmlns:a16="http://schemas.microsoft.com/office/drawing/2014/main" id="{A4CDC367-35A8-4B82-8CC9-EE1640B5082E}"/>
              </a:ext>
            </a:extLst>
          </p:cNvPr>
          <p:cNvSpPr>
            <a:spLocks noChangeArrowheads="1"/>
          </p:cNvSpPr>
          <p:nvPr/>
        </p:nvSpPr>
        <p:spPr bwMode="auto">
          <a:xfrm>
            <a:off x="3487316" y="3503973"/>
            <a:ext cx="1961505" cy="838200"/>
          </a:xfrm>
          <a:prstGeom prst="rect">
            <a:avLst/>
          </a:prstGeom>
          <a:solidFill>
            <a:schemeClr val="hlink"/>
          </a:solidFill>
          <a:ln w="9525">
            <a:solidFill>
              <a:schemeClr val="tx1"/>
            </a:solidFill>
            <a:miter lim="800000"/>
            <a:headEnd/>
            <a:tailEnd/>
          </a:ln>
        </p:spPr>
        <p:txBody>
          <a:bodyPr wrap="none" anchor="ctr"/>
          <a:lstStyle>
            <a:lvl1pPr>
              <a:spcBef>
                <a:spcPct val="20000"/>
              </a:spcBef>
              <a:buSzPct val="100000"/>
              <a:buChar char="•"/>
              <a:defRPr sz="3200" b="1">
                <a:solidFill>
                  <a:schemeClr val="hlink"/>
                </a:solidFill>
                <a:latin typeface="Arial" panose="020B0604020202020204" pitchFamily="34" charset="0"/>
                <a:ea typeface="宋体" panose="02010600030101010101" pitchFamily="2" charset="-122"/>
              </a:defRPr>
            </a:lvl1pPr>
            <a:lvl2pPr marL="742950" indent="-285750">
              <a:spcBef>
                <a:spcPct val="20000"/>
              </a:spcBef>
              <a:buSzPct val="100000"/>
              <a:buChar char="–"/>
              <a:defRPr sz="2800" b="1">
                <a:solidFill>
                  <a:schemeClr val="tx2"/>
                </a:solidFill>
                <a:latin typeface="Arial" panose="020B0604020202020204" pitchFamily="34" charset="0"/>
                <a:ea typeface="宋体" panose="02010600030101010101" pitchFamily="2" charset="-122"/>
              </a:defRPr>
            </a:lvl2pPr>
            <a:lvl3pPr marL="1143000" indent="-228600">
              <a:spcBef>
                <a:spcPct val="20000"/>
              </a:spcBef>
              <a:buSzPct val="100000"/>
              <a:buChar char="•"/>
              <a:defRPr sz="2400" b="1">
                <a:solidFill>
                  <a:schemeClr val="folHlink"/>
                </a:solidFill>
                <a:latin typeface="Arial" panose="020B0604020202020204" pitchFamily="34" charset="0"/>
                <a:ea typeface="宋体" panose="02010600030101010101" pitchFamily="2" charset="-122"/>
              </a:defRPr>
            </a:lvl3pPr>
            <a:lvl4pPr marL="16002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kumimoji="1" lang="zh-CN" altLang="en-US" sz="2400" dirty="0">
                <a:solidFill>
                  <a:srgbClr val="000080"/>
                </a:solidFill>
                <a:latin typeface="Times New Roman" panose="02020603050405020304" pitchFamily="18" charset="0"/>
              </a:rPr>
              <a:t>中级财务会计</a:t>
            </a:r>
          </a:p>
        </p:txBody>
      </p:sp>
      <p:sp>
        <p:nvSpPr>
          <p:cNvPr id="7" name="Rectangle 4">
            <a:extLst>
              <a:ext uri="{FF2B5EF4-FFF2-40B4-BE49-F238E27FC236}">
                <a16:creationId xmlns:a16="http://schemas.microsoft.com/office/drawing/2014/main" id="{4691DA52-7770-4D1A-995F-828C1FEBED1A}"/>
              </a:ext>
            </a:extLst>
          </p:cNvPr>
          <p:cNvSpPr>
            <a:spLocks noChangeArrowheads="1"/>
          </p:cNvSpPr>
          <p:nvPr/>
        </p:nvSpPr>
        <p:spPr bwMode="auto">
          <a:xfrm>
            <a:off x="6084168" y="2711760"/>
            <a:ext cx="1872208" cy="990600"/>
          </a:xfrm>
          <a:prstGeom prst="rect">
            <a:avLst/>
          </a:prstGeom>
          <a:solidFill>
            <a:schemeClr val="accent1"/>
          </a:solidFill>
          <a:ln w="9525">
            <a:solidFill>
              <a:srgbClr val="3333FF"/>
            </a:solidFill>
            <a:miter lim="800000"/>
            <a:headEnd/>
            <a:tailEnd/>
          </a:ln>
        </p:spPr>
        <p:txBody>
          <a:bodyPr wrap="none" anchor="ctr"/>
          <a:lstStyle>
            <a:lvl1pPr>
              <a:spcBef>
                <a:spcPct val="20000"/>
              </a:spcBef>
              <a:buSzPct val="100000"/>
              <a:buChar char="•"/>
              <a:defRPr sz="3200" b="1">
                <a:solidFill>
                  <a:schemeClr val="hlink"/>
                </a:solidFill>
                <a:latin typeface="Arial" panose="020B0604020202020204" pitchFamily="34" charset="0"/>
                <a:ea typeface="宋体" panose="02010600030101010101" pitchFamily="2" charset="-122"/>
              </a:defRPr>
            </a:lvl1pPr>
            <a:lvl2pPr marL="742950" indent="-285750">
              <a:spcBef>
                <a:spcPct val="20000"/>
              </a:spcBef>
              <a:buSzPct val="100000"/>
              <a:buChar char="–"/>
              <a:defRPr sz="2800" b="1">
                <a:solidFill>
                  <a:schemeClr val="tx2"/>
                </a:solidFill>
                <a:latin typeface="Arial" panose="020B0604020202020204" pitchFamily="34" charset="0"/>
                <a:ea typeface="宋体" panose="02010600030101010101" pitchFamily="2" charset="-122"/>
              </a:defRPr>
            </a:lvl2pPr>
            <a:lvl3pPr marL="1143000" indent="-228600">
              <a:spcBef>
                <a:spcPct val="20000"/>
              </a:spcBef>
              <a:buSzPct val="100000"/>
              <a:buChar char="•"/>
              <a:defRPr sz="2400" b="1">
                <a:solidFill>
                  <a:schemeClr val="folHlink"/>
                </a:solidFill>
                <a:latin typeface="Arial" panose="020B0604020202020204" pitchFamily="34" charset="0"/>
                <a:ea typeface="宋体" panose="02010600030101010101" pitchFamily="2" charset="-122"/>
              </a:defRPr>
            </a:lvl3pPr>
            <a:lvl4pPr marL="16002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kumimoji="1" lang="zh-CN" altLang="en-US" sz="2400" dirty="0">
                <a:solidFill>
                  <a:schemeClr val="tx1"/>
                </a:solidFill>
                <a:latin typeface="Times New Roman" panose="02020603050405020304" pitchFamily="18" charset="0"/>
              </a:rPr>
              <a:t>高级财务会计</a:t>
            </a:r>
          </a:p>
        </p:txBody>
      </p:sp>
      <p:sp>
        <p:nvSpPr>
          <p:cNvPr id="8" name="AutoShape 5">
            <a:extLst>
              <a:ext uri="{FF2B5EF4-FFF2-40B4-BE49-F238E27FC236}">
                <a16:creationId xmlns:a16="http://schemas.microsoft.com/office/drawing/2014/main" id="{8E9951E4-59C8-41FB-9B95-9DE34B13D9CF}"/>
              </a:ext>
            </a:extLst>
          </p:cNvPr>
          <p:cNvSpPr>
            <a:spLocks noChangeArrowheads="1"/>
          </p:cNvSpPr>
          <p:nvPr/>
        </p:nvSpPr>
        <p:spPr bwMode="auto">
          <a:xfrm>
            <a:off x="2915816" y="4737720"/>
            <a:ext cx="1143000" cy="457200"/>
          </a:xfrm>
          <a:prstGeom prst="curvedUpArrow">
            <a:avLst>
              <a:gd name="adj1" fmla="val 50000"/>
              <a:gd name="adj2" fmla="val 100000"/>
              <a:gd name="adj3" fmla="val 33333"/>
            </a:avLst>
          </a:prstGeom>
          <a:solidFill>
            <a:schemeClr val="accent1"/>
          </a:solidFill>
          <a:ln w="9525">
            <a:solidFill>
              <a:schemeClr val="tx1"/>
            </a:solidFill>
            <a:miter lim="800000"/>
            <a:headEnd/>
            <a:tailEnd/>
          </a:ln>
          <a:effectLst/>
        </p:spPr>
        <p:txBody>
          <a:bodyPr wrap="none" anchor="ct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9" name="AutoShape 6">
            <a:extLst>
              <a:ext uri="{FF2B5EF4-FFF2-40B4-BE49-F238E27FC236}">
                <a16:creationId xmlns:a16="http://schemas.microsoft.com/office/drawing/2014/main" id="{53AAF85F-7F46-4900-BE9D-5D3E9EA39BED}"/>
              </a:ext>
            </a:extLst>
          </p:cNvPr>
          <p:cNvSpPr>
            <a:spLocks noChangeArrowheads="1"/>
          </p:cNvSpPr>
          <p:nvPr/>
        </p:nvSpPr>
        <p:spPr bwMode="auto">
          <a:xfrm>
            <a:off x="5652120" y="3923073"/>
            <a:ext cx="1066800" cy="609600"/>
          </a:xfrm>
          <a:prstGeom prst="curvedUpArrow">
            <a:avLst>
              <a:gd name="adj1" fmla="val 35000"/>
              <a:gd name="adj2" fmla="val 70000"/>
              <a:gd name="adj3" fmla="val 33333"/>
            </a:avLst>
          </a:prstGeom>
          <a:solidFill>
            <a:srgbClr val="FF6600"/>
          </a:solidFill>
          <a:ln w="9525">
            <a:solidFill>
              <a:schemeClr val="tx1"/>
            </a:solidFill>
            <a:miter lim="800000"/>
            <a:headEnd/>
            <a:tailEnd/>
          </a:ln>
          <a:effectLst/>
        </p:spPr>
        <p:txBody>
          <a:bodyPr wrap="none" anchor="ctr"/>
          <a:lstStyle/>
          <a:p>
            <a:pPr algn="ctr">
              <a:defRPr/>
            </a:pPr>
            <a:endParaRPr lang="zh-CN" altLang="en-US">
              <a:effectLst>
                <a:outerShdw blurRad="38100" dist="38100" dir="2700000" algn="tl">
                  <a:srgbClr val="000000">
                    <a:alpha val="43137"/>
                  </a:srgbClr>
                </a:outerShdw>
              </a:effectLst>
              <a:latin typeface="Arial" charset="0"/>
            </a:endParaRPr>
          </a:p>
        </p:txBody>
      </p:sp>
    </p:spTree>
    <p:extLst>
      <p:ext uri="{BB962C8B-B14F-4D97-AF65-F5344CB8AC3E}">
        <p14:creationId xmlns:p14="http://schemas.microsoft.com/office/powerpoint/2010/main" val="1056492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0-#ppt_w/2"/>
                                          </p:val>
                                        </p:tav>
                                        <p:tav tm="100000">
                                          <p:val>
                                            <p:strVal val="#ppt_x"/>
                                          </p:val>
                                        </p:tav>
                                      </p:tavLst>
                                    </p:anim>
                                    <p:anim calcmode="lin" valueType="num">
                                      <p:cBhvr additive="base">
                                        <p:cTn id="13" dur="500" fill="hold"/>
                                        <p:tgtEl>
                                          <p:spTgt spid="8"/>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0-#ppt_w/2"/>
                                          </p:val>
                                        </p:tav>
                                        <p:tav tm="100000">
                                          <p:val>
                                            <p:strVal val="#ppt_x"/>
                                          </p:val>
                                        </p:tav>
                                      </p:tavLst>
                                    </p:anim>
                                    <p:anim calcmode="lin" valueType="num">
                                      <p:cBhvr additive="base">
                                        <p:cTn id="18" dur="500" fill="hold"/>
                                        <p:tgtEl>
                                          <p:spTgt spid="6"/>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fill="hold"/>
                                        <p:tgtEl>
                                          <p:spTgt spid="9"/>
                                        </p:tgtEl>
                                        <p:attrNameLst>
                                          <p:attrName>ppt_x</p:attrName>
                                        </p:attrNameLst>
                                      </p:cBhvr>
                                      <p:tavLst>
                                        <p:tav tm="0">
                                          <p:val>
                                            <p:strVal val="0-#ppt_w/2"/>
                                          </p:val>
                                        </p:tav>
                                        <p:tav tm="100000">
                                          <p:val>
                                            <p:strVal val="#ppt_x"/>
                                          </p:val>
                                        </p:tav>
                                      </p:tavLst>
                                    </p:anim>
                                    <p:anim calcmode="lin" valueType="num">
                                      <p:cBhvr additive="base">
                                        <p:cTn id="23" dur="500" fill="hold"/>
                                        <p:tgtEl>
                                          <p:spTgt spid="9"/>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0-#ppt_w/2"/>
                                          </p:val>
                                        </p:tav>
                                        <p:tav tm="100000">
                                          <p:val>
                                            <p:strVal val="#ppt_x"/>
                                          </p:val>
                                        </p:tav>
                                      </p:tavLst>
                                    </p:anim>
                                    <p:anim calcmode="lin" valueType="num">
                                      <p:cBhvr additive="base">
                                        <p:cTn id="2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animBg="1" autoUpdateAnimBg="0"/>
      <p:bldP spid="7" grpId="0" animBg="1" autoUpdateAnimBg="0"/>
      <p:bldP spid="8" grpId="0" animBg="1"/>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zh-CN" altLang="en-US" dirty="0"/>
              <a:t>会计学原理</a:t>
            </a:r>
          </a:p>
        </p:txBody>
      </p:sp>
      <p:grpSp>
        <p:nvGrpSpPr>
          <p:cNvPr id="10" name="Group 2">
            <a:extLst>
              <a:ext uri="{FF2B5EF4-FFF2-40B4-BE49-F238E27FC236}">
                <a16:creationId xmlns:a16="http://schemas.microsoft.com/office/drawing/2014/main" id="{6B8F42B3-1571-42C1-9F54-2B138FCEB690}"/>
              </a:ext>
            </a:extLst>
          </p:cNvPr>
          <p:cNvGrpSpPr>
            <a:grpSpLocks/>
          </p:cNvGrpSpPr>
          <p:nvPr/>
        </p:nvGrpSpPr>
        <p:grpSpPr bwMode="auto">
          <a:xfrm>
            <a:off x="791580" y="1916835"/>
            <a:ext cx="7560840" cy="3312362"/>
            <a:chOff x="1620" y="2382"/>
            <a:chExt cx="7020" cy="3296"/>
          </a:xfrm>
        </p:grpSpPr>
        <p:grpSp>
          <p:nvGrpSpPr>
            <p:cNvPr id="11" name="Group 3">
              <a:extLst>
                <a:ext uri="{FF2B5EF4-FFF2-40B4-BE49-F238E27FC236}">
                  <a16:creationId xmlns:a16="http://schemas.microsoft.com/office/drawing/2014/main" id="{2A9EB460-06C2-42E3-BD08-4BACA800B334}"/>
                </a:ext>
              </a:extLst>
            </p:cNvPr>
            <p:cNvGrpSpPr>
              <a:grpSpLocks/>
            </p:cNvGrpSpPr>
            <p:nvPr/>
          </p:nvGrpSpPr>
          <p:grpSpPr bwMode="auto">
            <a:xfrm>
              <a:off x="1620" y="3624"/>
              <a:ext cx="7020" cy="780"/>
              <a:chOff x="192" y="2064"/>
              <a:chExt cx="5280" cy="672"/>
            </a:xfrm>
          </p:grpSpPr>
          <p:sp>
            <p:nvSpPr>
              <p:cNvPr id="29" name="Oval 4">
                <a:extLst>
                  <a:ext uri="{FF2B5EF4-FFF2-40B4-BE49-F238E27FC236}">
                    <a16:creationId xmlns:a16="http://schemas.microsoft.com/office/drawing/2014/main" id="{97AB50F0-9123-4B2A-8FBE-C22F077BEF1E}"/>
                  </a:ext>
                </a:extLst>
              </p:cNvPr>
              <p:cNvSpPr>
                <a:spLocks noChangeArrowheads="1"/>
              </p:cNvSpPr>
              <p:nvPr/>
            </p:nvSpPr>
            <p:spPr bwMode="auto">
              <a:xfrm>
                <a:off x="192" y="2064"/>
                <a:ext cx="960" cy="672"/>
              </a:xfrm>
              <a:prstGeom prst="ellipse">
                <a:avLst/>
              </a:prstGeom>
              <a:noFill/>
              <a:ln w="12700">
                <a:solidFill>
                  <a:schemeClr val="tx1"/>
                </a:solidFill>
                <a:round/>
                <a:headEnd/>
                <a:tailEnd/>
              </a:ln>
            </p:spPr>
            <p:txBody>
              <a:bodyPr lIns="0" rIns="0" anchor="ctr"/>
              <a:lstStyle/>
              <a:p>
                <a:pPr algn="ctr">
                  <a:defRPr/>
                </a:pPr>
                <a:r>
                  <a:rPr lang="zh-CN" sz="2000" b="0" dirty="0">
                    <a:solidFill>
                      <a:schemeClr val="tx1"/>
                    </a:solidFill>
                    <a:latin typeface="黑体" pitchFamily="2" charset="-122"/>
                    <a:ea typeface="黑体" pitchFamily="2" charset="-122"/>
                  </a:rPr>
                  <a:t>经济业务</a:t>
                </a:r>
                <a:endParaRPr lang="zh-CN" sz="2000" dirty="0">
                  <a:solidFill>
                    <a:schemeClr val="tx1"/>
                  </a:solidFill>
                  <a:effectLst>
                    <a:outerShdw blurRad="38100" dist="38100" dir="2700000" algn="tl">
                      <a:srgbClr val="C0C0C0"/>
                    </a:outerShdw>
                  </a:effectLst>
                  <a:latin typeface="黑体" pitchFamily="2" charset="-122"/>
                  <a:ea typeface="黑体" pitchFamily="2" charset="-122"/>
                </a:endParaRPr>
              </a:p>
            </p:txBody>
          </p:sp>
          <p:sp>
            <p:nvSpPr>
              <p:cNvPr id="30" name="Line 5">
                <a:extLst>
                  <a:ext uri="{FF2B5EF4-FFF2-40B4-BE49-F238E27FC236}">
                    <a16:creationId xmlns:a16="http://schemas.microsoft.com/office/drawing/2014/main" id="{61D52CA5-465B-4E0A-B965-6AB5EBBAE41C}"/>
                  </a:ext>
                </a:extLst>
              </p:cNvPr>
              <p:cNvSpPr>
                <a:spLocks noChangeShapeType="1"/>
              </p:cNvSpPr>
              <p:nvPr/>
            </p:nvSpPr>
            <p:spPr bwMode="auto">
              <a:xfrm>
                <a:off x="1200" y="2400"/>
                <a:ext cx="288" cy="0"/>
              </a:xfrm>
              <a:prstGeom prst="line">
                <a:avLst/>
              </a:prstGeom>
              <a:noFill/>
              <a:ln w="12700">
                <a:solidFill>
                  <a:schemeClr val="tx1"/>
                </a:solidFill>
                <a:round/>
                <a:headEnd/>
                <a:tailEnd type="arrow" w="med" len="med"/>
              </a:ln>
            </p:spPr>
            <p:txBody>
              <a:bodyPr/>
              <a:lstStyle/>
              <a:p>
                <a:pPr algn="ctr">
                  <a:defRPr/>
                </a:pPr>
                <a:endParaRPr lang="zh-CN" altLang="en-US" sz="2000">
                  <a:solidFill>
                    <a:schemeClr val="tx1"/>
                  </a:solidFill>
                  <a:effectLst>
                    <a:outerShdw blurRad="38100" dist="38100" dir="2700000" algn="tl">
                      <a:srgbClr val="000000">
                        <a:alpha val="43137"/>
                      </a:srgbClr>
                    </a:outerShdw>
                  </a:effectLst>
                  <a:latin typeface="黑体" pitchFamily="2" charset="-122"/>
                  <a:ea typeface="黑体" pitchFamily="2" charset="-122"/>
                </a:endParaRPr>
              </a:p>
            </p:txBody>
          </p:sp>
          <p:sp>
            <p:nvSpPr>
              <p:cNvPr id="31" name="Rectangle 6">
                <a:extLst>
                  <a:ext uri="{FF2B5EF4-FFF2-40B4-BE49-F238E27FC236}">
                    <a16:creationId xmlns:a16="http://schemas.microsoft.com/office/drawing/2014/main" id="{54FBE992-865E-494F-BF1C-350EC126BDD4}"/>
                  </a:ext>
                </a:extLst>
              </p:cNvPr>
              <p:cNvSpPr>
                <a:spLocks noChangeArrowheads="1"/>
              </p:cNvSpPr>
              <p:nvPr/>
            </p:nvSpPr>
            <p:spPr bwMode="auto">
              <a:xfrm>
                <a:off x="1516" y="2064"/>
                <a:ext cx="980" cy="610"/>
              </a:xfrm>
              <a:prstGeom prst="rect">
                <a:avLst/>
              </a:prstGeom>
              <a:noFill/>
              <a:ln w="12700">
                <a:solidFill>
                  <a:schemeClr val="tx1"/>
                </a:solidFill>
                <a:miter lim="800000"/>
                <a:headEnd/>
                <a:tailEnd/>
              </a:ln>
            </p:spPr>
            <p:txBody>
              <a:bodyPr lIns="54000" rIns="54000"/>
              <a:lstStyle/>
              <a:p>
                <a:pPr algn="ctr">
                  <a:defRPr/>
                </a:pPr>
                <a:r>
                  <a:rPr lang="zh-CN" sz="2000" b="0" dirty="0">
                    <a:solidFill>
                      <a:schemeClr val="tx1"/>
                    </a:solidFill>
                    <a:latin typeface="黑体" pitchFamily="2" charset="-122"/>
                    <a:ea typeface="黑体" pitchFamily="2" charset="-122"/>
                  </a:rPr>
                  <a:t>填制和</a:t>
                </a:r>
              </a:p>
              <a:p>
                <a:pPr algn="ctr">
                  <a:defRPr/>
                </a:pPr>
                <a:r>
                  <a:rPr lang="zh-CN" sz="2000" b="0" dirty="0">
                    <a:solidFill>
                      <a:schemeClr val="tx1"/>
                    </a:solidFill>
                    <a:latin typeface="黑体" pitchFamily="2" charset="-122"/>
                    <a:ea typeface="黑体" pitchFamily="2" charset="-122"/>
                  </a:rPr>
                  <a:t>审核凭证</a:t>
                </a:r>
                <a:endParaRPr lang="zh-CN" sz="2000" dirty="0">
                  <a:solidFill>
                    <a:schemeClr val="tx1"/>
                  </a:solidFill>
                  <a:effectLst>
                    <a:outerShdw blurRad="38100" dist="38100" dir="2700000" algn="tl">
                      <a:srgbClr val="C0C0C0"/>
                    </a:outerShdw>
                  </a:effectLst>
                  <a:latin typeface="黑体" pitchFamily="2" charset="-122"/>
                  <a:ea typeface="黑体" pitchFamily="2" charset="-122"/>
                </a:endParaRPr>
              </a:p>
            </p:txBody>
          </p:sp>
          <p:sp>
            <p:nvSpPr>
              <p:cNvPr id="32" name="Rectangle 7">
                <a:extLst>
                  <a:ext uri="{FF2B5EF4-FFF2-40B4-BE49-F238E27FC236}">
                    <a16:creationId xmlns:a16="http://schemas.microsoft.com/office/drawing/2014/main" id="{12928F13-38FD-407A-A908-BAF25A76DD22}"/>
                  </a:ext>
                </a:extLst>
              </p:cNvPr>
              <p:cNvSpPr>
                <a:spLocks noChangeArrowheads="1"/>
              </p:cNvSpPr>
              <p:nvPr/>
            </p:nvSpPr>
            <p:spPr bwMode="auto">
              <a:xfrm>
                <a:off x="3118" y="2064"/>
                <a:ext cx="716" cy="610"/>
              </a:xfrm>
              <a:prstGeom prst="rect">
                <a:avLst/>
              </a:prstGeom>
              <a:noFill/>
              <a:ln w="12700">
                <a:solidFill>
                  <a:schemeClr val="tx1"/>
                </a:solidFill>
                <a:miter lim="800000"/>
                <a:headEnd/>
                <a:tailEnd/>
              </a:ln>
            </p:spPr>
            <p:txBody>
              <a:bodyPr lIns="54000" rIns="54000"/>
              <a:lstStyle/>
              <a:p>
                <a:pPr algn="ctr">
                  <a:defRPr/>
                </a:pPr>
                <a:r>
                  <a:rPr lang="zh-CN" sz="2000" b="0">
                    <a:solidFill>
                      <a:schemeClr val="tx1"/>
                    </a:solidFill>
                    <a:latin typeface="黑体" pitchFamily="2" charset="-122"/>
                    <a:ea typeface="黑体" pitchFamily="2" charset="-122"/>
                  </a:rPr>
                  <a:t>登记</a:t>
                </a:r>
              </a:p>
              <a:p>
                <a:pPr algn="ctr">
                  <a:defRPr/>
                </a:pPr>
                <a:r>
                  <a:rPr lang="zh-CN" sz="2000" b="0">
                    <a:solidFill>
                      <a:schemeClr val="tx1"/>
                    </a:solidFill>
                    <a:latin typeface="黑体" pitchFamily="2" charset="-122"/>
                    <a:ea typeface="黑体" pitchFamily="2" charset="-122"/>
                  </a:rPr>
                  <a:t>账簿</a:t>
                </a:r>
                <a:endParaRPr lang="zh-CN" sz="2000">
                  <a:solidFill>
                    <a:schemeClr val="tx1"/>
                  </a:solidFill>
                  <a:effectLst>
                    <a:outerShdw blurRad="38100" dist="38100" dir="2700000" algn="tl">
                      <a:srgbClr val="C0C0C0"/>
                    </a:outerShdw>
                  </a:effectLst>
                  <a:latin typeface="黑体" pitchFamily="2" charset="-122"/>
                  <a:ea typeface="黑体" pitchFamily="2" charset="-122"/>
                </a:endParaRPr>
              </a:p>
            </p:txBody>
          </p:sp>
          <p:sp>
            <p:nvSpPr>
              <p:cNvPr id="33" name="Line 8">
                <a:extLst>
                  <a:ext uri="{FF2B5EF4-FFF2-40B4-BE49-F238E27FC236}">
                    <a16:creationId xmlns:a16="http://schemas.microsoft.com/office/drawing/2014/main" id="{2A0CF67E-EE81-43C9-B517-DC88C357DE79}"/>
                  </a:ext>
                </a:extLst>
              </p:cNvPr>
              <p:cNvSpPr>
                <a:spLocks noChangeShapeType="1"/>
              </p:cNvSpPr>
              <p:nvPr/>
            </p:nvSpPr>
            <p:spPr bwMode="auto">
              <a:xfrm>
                <a:off x="2544" y="2400"/>
                <a:ext cx="530" cy="0"/>
              </a:xfrm>
              <a:prstGeom prst="line">
                <a:avLst/>
              </a:prstGeom>
              <a:noFill/>
              <a:ln w="12700">
                <a:solidFill>
                  <a:schemeClr val="tx1"/>
                </a:solidFill>
                <a:round/>
                <a:headEnd/>
                <a:tailEnd type="arrow" w="med" len="med"/>
              </a:ln>
            </p:spPr>
            <p:txBody>
              <a:bodyPr/>
              <a:lstStyle/>
              <a:p>
                <a:pPr algn="ctr">
                  <a:defRPr/>
                </a:pPr>
                <a:endParaRPr lang="zh-CN" altLang="en-US" sz="2000">
                  <a:solidFill>
                    <a:schemeClr val="tx1"/>
                  </a:solidFill>
                  <a:effectLst>
                    <a:outerShdw blurRad="38100" dist="38100" dir="2700000" algn="tl">
                      <a:srgbClr val="000000">
                        <a:alpha val="43137"/>
                      </a:srgbClr>
                    </a:outerShdw>
                  </a:effectLst>
                  <a:latin typeface="黑体" pitchFamily="2" charset="-122"/>
                  <a:ea typeface="黑体" pitchFamily="2" charset="-122"/>
                </a:endParaRPr>
              </a:p>
            </p:txBody>
          </p:sp>
          <p:sp>
            <p:nvSpPr>
              <p:cNvPr id="34" name="Line 9">
                <a:extLst>
                  <a:ext uri="{FF2B5EF4-FFF2-40B4-BE49-F238E27FC236}">
                    <a16:creationId xmlns:a16="http://schemas.microsoft.com/office/drawing/2014/main" id="{BD14DDE8-FFF9-467A-9469-5B8D68547550}"/>
                  </a:ext>
                </a:extLst>
              </p:cNvPr>
              <p:cNvSpPr>
                <a:spLocks noChangeShapeType="1"/>
              </p:cNvSpPr>
              <p:nvPr/>
            </p:nvSpPr>
            <p:spPr bwMode="auto">
              <a:xfrm>
                <a:off x="3906" y="2400"/>
                <a:ext cx="558" cy="0"/>
              </a:xfrm>
              <a:prstGeom prst="line">
                <a:avLst/>
              </a:prstGeom>
              <a:noFill/>
              <a:ln w="12700">
                <a:solidFill>
                  <a:schemeClr val="tx1"/>
                </a:solidFill>
                <a:round/>
                <a:headEnd/>
                <a:tailEnd type="arrow" w="med" len="med"/>
              </a:ln>
            </p:spPr>
            <p:txBody>
              <a:bodyPr/>
              <a:lstStyle/>
              <a:p>
                <a:pPr algn="ctr">
                  <a:defRPr/>
                </a:pPr>
                <a:endParaRPr lang="zh-CN" altLang="en-US" sz="2000">
                  <a:solidFill>
                    <a:schemeClr val="tx1"/>
                  </a:solidFill>
                  <a:effectLst>
                    <a:outerShdw blurRad="38100" dist="38100" dir="2700000" algn="tl">
                      <a:srgbClr val="000000">
                        <a:alpha val="43137"/>
                      </a:srgbClr>
                    </a:outerShdw>
                  </a:effectLst>
                  <a:latin typeface="黑体" pitchFamily="2" charset="-122"/>
                  <a:ea typeface="黑体" pitchFamily="2" charset="-122"/>
                </a:endParaRPr>
              </a:p>
            </p:txBody>
          </p:sp>
          <p:sp>
            <p:nvSpPr>
              <p:cNvPr id="35" name="Rectangle 10">
                <a:extLst>
                  <a:ext uri="{FF2B5EF4-FFF2-40B4-BE49-F238E27FC236}">
                    <a16:creationId xmlns:a16="http://schemas.microsoft.com/office/drawing/2014/main" id="{95204F3E-69E3-40DB-8D73-15587C8C3B6A}"/>
                  </a:ext>
                </a:extLst>
              </p:cNvPr>
              <p:cNvSpPr>
                <a:spLocks noChangeArrowheads="1"/>
              </p:cNvSpPr>
              <p:nvPr/>
            </p:nvSpPr>
            <p:spPr bwMode="auto">
              <a:xfrm>
                <a:off x="4492" y="2064"/>
                <a:ext cx="980" cy="610"/>
              </a:xfrm>
              <a:prstGeom prst="rect">
                <a:avLst/>
              </a:prstGeom>
              <a:noFill/>
              <a:ln w="12700">
                <a:solidFill>
                  <a:schemeClr val="tx1"/>
                </a:solidFill>
                <a:miter lim="800000"/>
                <a:headEnd/>
                <a:tailEnd/>
              </a:ln>
            </p:spPr>
            <p:txBody>
              <a:bodyPr lIns="54000" rIns="54000"/>
              <a:lstStyle/>
              <a:p>
                <a:pPr algn="ctr">
                  <a:defRPr/>
                </a:pPr>
                <a:r>
                  <a:rPr lang="zh-CN" sz="2000" b="0" dirty="0">
                    <a:solidFill>
                      <a:schemeClr val="tx1"/>
                    </a:solidFill>
                    <a:latin typeface="黑体" pitchFamily="2" charset="-122"/>
                    <a:ea typeface="黑体" pitchFamily="2" charset="-122"/>
                  </a:rPr>
                  <a:t>编制会计</a:t>
                </a:r>
              </a:p>
              <a:p>
                <a:pPr algn="ctr">
                  <a:defRPr/>
                </a:pPr>
                <a:r>
                  <a:rPr lang="zh-CN" sz="2000" b="0" dirty="0">
                    <a:solidFill>
                      <a:schemeClr val="tx1"/>
                    </a:solidFill>
                    <a:latin typeface="黑体" pitchFamily="2" charset="-122"/>
                    <a:ea typeface="黑体" pitchFamily="2" charset="-122"/>
                  </a:rPr>
                  <a:t>报表</a:t>
                </a:r>
                <a:endParaRPr lang="zh-CN" sz="2000" dirty="0">
                  <a:solidFill>
                    <a:schemeClr val="tx1"/>
                  </a:solidFill>
                  <a:effectLst>
                    <a:outerShdw blurRad="38100" dist="38100" dir="2700000" algn="tl">
                      <a:srgbClr val="C0C0C0"/>
                    </a:outerShdw>
                  </a:effectLst>
                  <a:latin typeface="黑体" pitchFamily="2" charset="-122"/>
                  <a:ea typeface="黑体" pitchFamily="2" charset="-122"/>
                </a:endParaRPr>
              </a:p>
            </p:txBody>
          </p:sp>
        </p:grpSp>
        <p:sp>
          <p:nvSpPr>
            <p:cNvPr id="12" name="Line 11">
              <a:extLst>
                <a:ext uri="{FF2B5EF4-FFF2-40B4-BE49-F238E27FC236}">
                  <a16:creationId xmlns:a16="http://schemas.microsoft.com/office/drawing/2014/main" id="{F97B4778-1F6F-457A-82DA-63F1EB09DBA4}"/>
                </a:ext>
              </a:extLst>
            </p:cNvPr>
            <p:cNvSpPr>
              <a:spLocks noChangeShapeType="1"/>
            </p:cNvSpPr>
            <p:nvPr/>
          </p:nvSpPr>
          <p:spPr bwMode="auto">
            <a:xfrm>
              <a:off x="3960" y="2626"/>
              <a:ext cx="0" cy="998"/>
            </a:xfrm>
            <a:prstGeom prst="line">
              <a:avLst/>
            </a:prstGeom>
            <a:noFill/>
            <a:ln w="12700">
              <a:solidFill>
                <a:schemeClr val="tx1"/>
              </a:solidFill>
              <a:prstDash val="dash"/>
              <a:round/>
              <a:headEnd/>
              <a:tailEnd type="arrow" w="med" len="med"/>
            </a:ln>
          </p:spPr>
          <p:txBody>
            <a:bodyPr/>
            <a:lstStyle/>
            <a:p>
              <a:pPr algn="ctr">
                <a:defRPr/>
              </a:pPr>
              <a:endParaRPr lang="zh-CN" altLang="en-US" sz="2000">
                <a:solidFill>
                  <a:schemeClr val="tx1"/>
                </a:solidFill>
                <a:effectLst>
                  <a:outerShdw blurRad="38100" dist="38100" dir="2700000" algn="tl">
                    <a:srgbClr val="000000">
                      <a:alpha val="43137"/>
                    </a:srgbClr>
                  </a:outerShdw>
                </a:effectLst>
                <a:latin typeface="黑体" pitchFamily="2" charset="-122"/>
                <a:ea typeface="黑体" pitchFamily="2" charset="-122"/>
              </a:endParaRPr>
            </a:p>
          </p:txBody>
        </p:sp>
        <p:sp>
          <p:nvSpPr>
            <p:cNvPr id="13" name="Line 12">
              <a:extLst>
                <a:ext uri="{FF2B5EF4-FFF2-40B4-BE49-F238E27FC236}">
                  <a16:creationId xmlns:a16="http://schemas.microsoft.com/office/drawing/2014/main" id="{D61E5E62-ED46-4B08-8BE3-0BC5BCD1E15D}"/>
                </a:ext>
              </a:extLst>
            </p:cNvPr>
            <p:cNvSpPr>
              <a:spLocks noChangeShapeType="1"/>
            </p:cNvSpPr>
            <p:nvPr/>
          </p:nvSpPr>
          <p:spPr bwMode="auto">
            <a:xfrm>
              <a:off x="3960" y="2627"/>
              <a:ext cx="400" cy="0"/>
            </a:xfrm>
            <a:prstGeom prst="line">
              <a:avLst/>
            </a:prstGeom>
            <a:noFill/>
            <a:ln w="12700">
              <a:solidFill>
                <a:schemeClr val="tx1"/>
              </a:solidFill>
              <a:prstDash val="dash"/>
              <a:round/>
              <a:headEnd/>
              <a:tailEnd/>
            </a:ln>
          </p:spPr>
          <p:txBody>
            <a:bodyPr/>
            <a:lstStyle/>
            <a:p>
              <a:pPr algn="ctr">
                <a:defRPr/>
              </a:pPr>
              <a:endParaRPr lang="zh-CN" altLang="en-US" sz="2000">
                <a:solidFill>
                  <a:schemeClr val="tx1"/>
                </a:solidFill>
                <a:effectLst>
                  <a:outerShdw blurRad="38100" dist="38100" dir="2700000" algn="tl">
                    <a:srgbClr val="000000">
                      <a:alpha val="43137"/>
                    </a:srgbClr>
                  </a:outerShdw>
                </a:effectLst>
                <a:latin typeface="黑体" pitchFamily="2" charset="-122"/>
                <a:ea typeface="黑体" pitchFamily="2" charset="-122"/>
              </a:endParaRPr>
            </a:p>
          </p:txBody>
        </p:sp>
        <p:sp>
          <p:nvSpPr>
            <p:cNvPr id="14" name="Rectangle 13">
              <a:extLst>
                <a:ext uri="{FF2B5EF4-FFF2-40B4-BE49-F238E27FC236}">
                  <a16:creationId xmlns:a16="http://schemas.microsoft.com/office/drawing/2014/main" id="{D63E151A-BACD-47CF-988F-96F749AB68E5}"/>
                </a:ext>
              </a:extLst>
            </p:cNvPr>
            <p:cNvSpPr>
              <a:spLocks noChangeArrowheads="1"/>
            </p:cNvSpPr>
            <p:nvPr/>
          </p:nvSpPr>
          <p:spPr bwMode="auto">
            <a:xfrm>
              <a:off x="4367" y="2382"/>
              <a:ext cx="1190" cy="432"/>
            </a:xfrm>
            <a:prstGeom prst="rect">
              <a:avLst/>
            </a:prstGeom>
            <a:noFill/>
            <a:ln w="12700">
              <a:solidFill>
                <a:schemeClr val="tx1"/>
              </a:solidFill>
              <a:miter lim="800000"/>
              <a:headEnd/>
              <a:tailEnd/>
            </a:ln>
          </p:spPr>
          <p:txBody>
            <a:bodyPr lIns="54000" rIns="54000"/>
            <a:lstStyle/>
            <a:p>
              <a:pPr algn="ctr">
                <a:defRPr/>
              </a:pPr>
              <a:r>
                <a:rPr lang="zh-CN" sz="2000" b="0" dirty="0">
                  <a:solidFill>
                    <a:schemeClr val="tx1"/>
                  </a:solidFill>
                  <a:latin typeface="黑体" pitchFamily="2" charset="-122"/>
                  <a:ea typeface="黑体" pitchFamily="2" charset="-122"/>
                </a:rPr>
                <a:t>设置账户</a:t>
              </a:r>
              <a:endParaRPr lang="zh-CN" sz="2000" dirty="0">
                <a:solidFill>
                  <a:schemeClr val="tx1"/>
                </a:solidFill>
                <a:effectLst>
                  <a:outerShdw blurRad="38100" dist="38100" dir="2700000" algn="tl">
                    <a:srgbClr val="C0C0C0"/>
                  </a:outerShdw>
                </a:effectLst>
                <a:latin typeface="黑体" pitchFamily="2" charset="-122"/>
                <a:ea typeface="黑体" pitchFamily="2" charset="-122"/>
              </a:endParaRPr>
            </a:p>
          </p:txBody>
        </p:sp>
        <p:sp>
          <p:nvSpPr>
            <p:cNvPr id="15" name="Line 14">
              <a:extLst>
                <a:ext uri="{FF2B5EF4-FFF2-40B4-BE49-F238E27FC236}">
                  <a16:creationId xmlns:a16="http://schemas.microsoft.com/office/drawing/2014/main" id="{2E06951B-A361-4F73-BCDD-A118E9105BE0}"/>
                </a:ext>
              </a:extLst>
            </p:cNvPr>
            <p:cNvSpPr>
              <a:spLocks noChangeShapeType="1"/>
            </p:cNvSpPr>
            <p:nvPr/>
          </p:nvSpPr>
          <p:spPr bwMode="auto">
            <a:xfrm>
              <a:off x="6001" y="2626"/>
              <a:ext cx="0" cy="998"/>
            </a:xfrm>
            <a:prstGeom prst="line">
              <a:avLst/>
            </a:prstGeom>
            <a:noFill/>
            <a:ln w="12700">
              <a:solidFill>
                <a:schemeClr val="tx1"/>
              </a:solidFill>
              <a:prstDash val="dash"/>
              <a:round/>
              <a:headEnd/>
              <a:tailEnd type="arrow" w="med" len="med"/>
            </a:ln>
          </p:spPr>
          <p:txBody>
            <a:bodyPr/>
            <a:lstStyle/>
            <a:p>
              <a:pPr algn="ctr">
                <a:defRPr/>
              </a:pPr>
              <a:endParaRPr lang="zh-CN" altLang="en-US" sz="2000">
                <a:solidFill>
                  <a:schemeClr val="tx1"/>
                </a:solidFill>
                <a:effectLst>
                  <a:outerShdw blurRad="38100" dist="38100" dir="2700000" algn="tl">
                    <a:srgbClr val="000000">
                      <a:alpha val="43137"/>
                    </a:srgbClr>
                  </a:outerShdw>
                </a:effectLst>
                <a:latin typeface="黑体" pitchFamily="2" charset="-122"/>
                <a:ea typeface="黑体" pitchFamily="2" charset="-122"/>
              </a:endParaRPr>
            </a:p>
          </p:txBody>
        </p:sp>
        <p:sp>
          <p:nvSpPr>
            <p:cNvPr id="16" name="Line 15">
              <a:extLst>
                <a:ext uri="{FF2B5EF4-FFF2-40B4-BE49-F238E27FC236}">
                  <a16:creationId xmlns:a16="http://schemas.microsoft.com/office/drawing/2014/main" id="{A41136E8-AAE6-4DD4-AD4C-166887595DF2}"/>
                </a:ext>
              </a:extLst>
            </p:cNvPr>
            <p:cNvSpPr>
              <a:spLocks noChangeShapeType="1"/>
            </p:cNvSpPr>
            <p:nvPr/>
          </p:nvSpPr>
          <p:spPr bwMode="auto">
            <a:xfrm>
              <a:off x="5598" y="2627"/>
              <a:ext cx="403" cy="0"/>
            </a:xfrm>
            <a:prstGeom prst="line">
              <a:avLst/>
            </a:prstGeom>
            <a:noFill/>
            <a:ln w="12700">
              <a:solidFill>
                <a:schemeClr val="tx1"/>
              </a:solidFill>
              <a:prstDash val="dash"/>
              <a:round/>
              <a:headEnd/>
              <a:tailEnd/>
            </a:ln>
          </p:spPr>
          <p:txBody>
            <a:bodyPr/>
            <a:lstStyle/>
            <a:p>
              <a:pPr algn="ctr">
                <a:defRPr/>
              </a:pPr>
              <a:endParaRPr lang="zh-CN" altLang="en-US" sz="2000">
                <a:solidFill>
                  <a:schemeClr val="tx1"/>
                </a:solidFill>
                <a:effectLst>
                  <a:outerShdw blurRad="38100" dist="38100" dir="2700000" algn="tl">
                    <a:srgbClr val="000000">
                      <a:alpha val="43137"/>
                    </a:srgbClr>
                  </a:outerShdw>
                </a:effectLst>
                <a:latin typeface="黑体" pitchFamily="2" charset="-122"/>
                <a:ea typeface="黑体" pitchFamily="2" charset="-122"/>
              </a:endParaRPr>
            </a:p>
          </p:txBody>
        </p:sp>
        <p:sp>
          <p:nvSpPr>
            <p:cNvPr id="17" name="Rectangle 16">
              <a:extLst>
                <a:ext uri="{FF2B5EF4-FFF2-40B4-BE49-F238E27FC236}">
                  <a16:creationId xmlns:a16="http://schemas.microsoft.com/office/drawing/2014/main" id="{D5009EFE-8FCF-46E3-881F-4E633C37E467}"/>
                </a:ext>
              </a:extLst>
            </p:cNvPr>
            <p:cNvSpPr>
              <a:spLocks noChangeArrowheads="1"/>
            </p:cNvSpPr>
            <p:nvPr/>
          </p:nvSpPr>
          <p:spPr bwMode="auto">
            <a:xfrm>
              <a:off x="4370" y="2886"/>
              <a:ext cx="1186" cy="432"/>
            </a:xfrm>
            <a:prstGeom prst="rect">
              <a:avLst/>
            </a:prstGeom>
            <a:noFill/>
            <a:ln w="12700">
              <a:solidFill>
                <a:schemeClr val="tx1"/>
              </a:solidFill>
              <a:miter lim="800000"/>
              <a:headEnd/>
              <a:tailEnd/>
            </a:ln>
          </p:spPr>
          <p:txBody>
            <a:bodyPr lIns="54000" rIns="54000"/>
            <a:lstStyle/>
            <a:p>
              <a:pPr algn="ctr">
                <a:defRPr/>
              </a:pPr>
              <a:r>
                <a:rPr lang="zh-CN" sz="2000" b="0">
                  <a:solidFill>
                    <a:schemeClr val="tx1"/>
                  </a:solidFill>
                  <a:latin typeface="黑体" pitchFamily="2" charset="-122"/>
                  <a:ea typeface="黑体" pitchFamily="2" charset="-122"/>
                </a:rPr>
                <a:t>复式记账</a:t>
              </a:r>
              <a:endParaRPr lang="zh-CN" sz="2000">
                <a:solidFill>
                  <a:schemeClr val="tx1"/>
                </a:solidFill>
                <a:effectLst>
                  <a:outerShdw blurRad="38100" dist="38100" dir="2700000" algn="tl">
                    <a:srgbClr val="C0C0C0"/>
                  </a:outerShdw>
                </a:effectLst>
                <a:latin typeface="黑体" pitchFamily="2" charset="-122"/>
                <a:ea typeface="黑体" pitchFamily="2" charset="-122"/>
              </a:endParaRPr>
            </a:p>
          </p:txBody>
        </p:sp>
        <p:sp>
          <p:nvSpPr>
            <p:cNvPr id="18" name="Line 17">
              <a:extLst>
                <a:ext uri="{FF2B5EF4-FFF2-40B4-BE49-F238E27FC236}">
                  <a16:creationId xmlns:a16="http://schemas.microsoft.com/office/drawing/2014/main" id="{705B7F25-EB36-4D81-86F2-2662F93B4FE7}"/>
                </a:ext>
              </a:extLst>
            </p:cNvPr>
            <p:cNvSpPr>
              <a:spLocks noChangeShapeType="1"/>
            </p:cNvSpPr>
            <p:nvPr/>
          </p:nvSpPr>
          <p:spPr bwMode="auto">
            <a:xfrm>
              <a:off x="4135" y="3073"/>
              <a:ext cx="233" cy="0"/>
            </a:xfrm>
            <a:prstGeom prst="line">
              <a:avLst/>
            </a:prstGeom>
            <a:noFill/>
            <a:ln w="12700">
              <a:solidFill>
                <a:schemeClr val="tx1"/>
              </a:solidFill>
              <a:prstDash val="dash"/>
              <a:round/>
              <a:headEnd/>
              <a:tailEnd/>
            </a:ln>
          </p:spPr>
          <p:txBody>
            <a:bodyPr/>
            <a:lstStyle/>
            <a:p>
              <a:pPr algn="ctr">
                <a:defRPr/>
              </a:pPr>
              <a:endParaRPr lang="zh-CN" altLang="en-US" sz="2000">
                <a:solidFill>
                  <a:schemeClr val="tx1"/>
                </a:solidFill>
                <a:effectLst>
                  <a:outerShdw blurRad="38100" dist="38100" dir="2700000" algn="tl">
                    <a:srgbClr val="000000">
                      <a:alpha val="43137"/>
                    </a:srgbClr>
                  </a:outerShdw>
                </a:effectLst>
                <a:latin typeface="黑体" pitchFamily="2" charset="-122"/>
                <a:ea typeface="黑体" pitchFamily="2" charset="-122"/>
              </a:endParaRPr>
            </a:p>
          </p:txBody>
        </p:sp>
        <p:sp>
          <p:nvSpPr>
            <p:cNvPr id="19" name="Line 18">
              <a:extLst>
                <a:ext uri="{FF2B5EF4-FFF2-40B4-BE49-F238E27FC236}">
                  <a16:creationId xmlns:a16="http://schemas.microsoft.com/office/drawing/2014/main" id="{3369F3B7-7BE1-42E3-958B-470DEBEA66AC}"/>
                </a:ext>
              </a:extLst>
            </p:cNvPr>
            <p:cNvSpPr>
              <a:spLocks noChangeShapeType="1"/>
            </p:cNvSpPr>
            <p:nvPr/>
          </p:nvSpPr>
          <p:spPr bwMode="auto">
            <a:xfrm>
              <a:off x="5592" y="3073"/>
              <a:ext cx="174" cy="0"/>
            </a:xfrm>
            <a:prstGeom prst="line">
              <a:avLst/>
            </a:prstGeom>
            <a:noFill/>
            <a:ln w="12700">
              <a:solidFill>
                <a:schemeClr val="tx1"/>
              </a:solidFill>
              <a:prstDash val="dash"/>
              <a:round/>
              <a:headEnd/>
              <a:tailEnd/>
            </a:ln>
          </p:spPr>
          <p:txBody>
            <a:bodyPr/>
            <a:lstStyle/>
            <a:p>
              <a:pPr algn="ctr">
                <a:defRPr/>
              </a:pPr>
              <a:endParaRPr lang="zh-CN" altLang="en-US" sz="2000">
                <a:solidFill>
                  <a:schemeClr val="tx1"/>
                </a:solidFill>
                <a:effectLst>
                  <a:outerShdw blurRad="38100" dist="38100" dir="2700000" algn="tl">
                    <a:srgbClr val="000000">
                      <a:alpha val="43137"/>
                    </a:srgbClr>
                  </a:outerShdw>
                </a:effectLst>
                <a:latin typeface="黑体" pitchFamily="2" charset="-122"/>
                <a:ea typeface="黑体" pitchFamily="2" charset="-122"/>
              </a:endParaRPr>
            </a:p>
          </p:txBody>
        </p:sp>
        <p:sp>
          <p:nvSpPr>
            <p:cNvPr id="20" name="Line 19">
              <a:extLst>
                <a:ext uri="{FF2B5EF4-FFF2-40B4-BE49-F238E27FC236}">
                  <a16:creationId xmlns:a16="http://schemas.microsoft.com/office/drawing/2014/main" id="{352F7061-8D55-4D4B-B18B-B042A9FB690A}"/>
                </a:ext>
              </a:extLst>
            </p:cNvPr>
            <p:cNvSpPr>
              <a:spLocks noChangeShapeType="1"/>
            </p:cNvSpPr>
            <p:nvPr/>
          </p:nvSpPr>
          <p:spPr bwMode="auto">
            <a:xfrm>
              <a:off x="4135" y="3073"/>
              <a:ext cx="0" cy="551"/>
            </a:xfrm>
            <a:prstGeom prst="line">
              <a:avLst/>
            </a:prstGeom>
            <a:noFill/>
            <a:ln w="12700">
              <a:solidFill>
                <a:schemeClr val="tx1"/>
              </a:solidFill>
              <a:prstDash val="dash"/>
              <a:round/>
              <a:headEnd/>
              <a:tailEnd type="arrow" w="med" len="med"/>
            </a:ln>
          </p:spPr>
          <p:txBody>
            <a:bodyPr/>
            <a:lstStyle/>
            <a:p>
              <a:pPr algn="ctr">
                <a:defRPr/>
              </a:pPr>
              <a:endParaRPr lang="zh-CN" altLang="en-US" sz="2000">
                <a:solidFill>
                  <a:schemeClr val="tx1"/>
                </a:solidFill>
                <a:effectLst>
                  <a:outerShdw blurRad="38100" dist="38100" dir="2700000" algn="tl">
                    <a:srgbClr val="000000">
                      <a:alpha val="43137"/>
                    </a:srgbClr>
                  </a:outerShdw>
                </a:effectLst>
                <a:latin typeface="黑体" pitchFamily="2" charset="-122"/>
                <a:ea typeface="黑体" pitchFamily="2" charset="-122"/>
              </a:endParaRPr>
            </a:p>
          </p:txBody>
        </p:sp>
        <p:sp>
          <p:nvSpPr>
            <p:cNvPr id="21" name="Line 20">
              <a:extLst>
                <a:ext uri="{FF2B5EF4-FFF2-40B4-BE49-F238E27FC236}">
                  <a16:creationId xmlns:a16="http://schemas.microsoft.com/office/drawing/2014/main" id="{19200A19-7CE4-4F57-9EEC-2D06A3FFF482}"/>
                </a:ext>
              </a:extLst>
            </p:cNvPr>
            <p:cNvSpPr>
              <a:spLocks noChangeShapeType="1"/>
            </p:cNvSpPr>
            <p:nvPr/>
          </p:nvSpPr>
          <p:spPr bwMode="auto">
            <a:xfrm>
              <a:off x="5767" y="3073"/>
              <a:ext cx="0" cy="551"/>
            </a:xfrm>
            <a:prstGeom prst="line">
              <a:avLst/>
            </a:prstGeom>
            <a:noFill/>
            <a:ln w="12700">
              <a:solidFill>
                <a:schemeClr val="tx1"/>
              </a:solidFill>
              <a:prstDash val="dash"/>
              <a:round/>
              <a:headEnd/>
              <a:tailEnd type="arrow" w="med" len="med"/>
            </a:ln>
          </p:spPr>
          <p:txBody>
            <a:bodyPr/>
            <a:lstStyle/>
            <a:p>
              <a:pPr algn="ctr">
                <a:defRPr/>
              </a:pPr>
              <a:endParaRPr lang="zh-CN" altLang="en-US" sz="2000">
                <a:solidFill>
                  <a:schemeClr val="tx1"/>
                </a:solidFill>
                <a:effectLst>
                  <a:outerShdw blurRad="38100" dist="38100" dir="2700000" algn="tl">
                    <a:srgbClr val="000000">
                      <a:alpha val="43137"/>
                    </a:srgbClr>
                  </a:outerShdw>
                </a:effectLst>
                <a:latin typeface="黑体" pitchFamily="2" charset="-122"/>
                <a:ea typeface="黑体" pitchFamily="2" charset="-122"/>
              </a:endParaRPr>
            </a:p>
          </p:txBody>
        </p:sp>
        <p:sp>
          <p:nvSpPr>
            <p:cNvPr id="22" name="Rectangle 21">
              <a:extLst>
                <a:ext uri="{FF2B5EF4-FFF2-40B4-BE49-F238E27FC236}">
                  <a16:creationId xmlns:a16="http://schemas.microsoft.com/office/drawing/2014/main" id="{1E936375-D2F0-4BCB-97AA-46FA76C82102}"/>
                </a:ext>
              </a:extLst>
            </p:cNvPr>
            <p:cNvSpPr>
              <a:spLocks noChangeArrowheads="1"/>
            </p:cNvSpPr>
            <p:nvPr/>
          </p:nvSpPr>
          <p:spPr bwMode="auto">
            <a:xfrm>
              <a:off x="4345" y="4575"/>
              <a:ext cx="1121" cy="448"/>
            </a:xfrm>
            <a:prstGeom prst="rect">
              <a:avLst/>
            </a:prstGeom>
            <a:noFill/>
            <a:ln w="12700">
              <a:solidFill>
                <a:schemeClr val="tx1"/>
              </a:solidFill>
              <a:miter lim="800000"/>
              <a:headEnd/>
              <a:tailEnd/>
            </a:ln>
          </p:spPr>
          <p:txBody>
            <a:bodyPr lIns="54000" rIns="54000"/>
            <a:lstStyle/>
            <a:p>
              <a:pPr algn="ctr">
                <a:defRPr/>
              </a:pPr>
              <a:r>
                <a:rPr lang="zh-CN" sz="2000" b="0">
                  <a:solidFill>
                    <a:schemeClr val="tx1"/>
                  </a:solidFill>
                  <a:latin typeface="黑体" pitchFamily="2" charset="-122"/>
                  <a:ea typeface="黑体" pitchFamily="2" charset="-122"/>
                </a:rPr>
                <a:t>成本核算</a:t>
              </a:r>
              <a:endParaRPr lang="zh-CN" sz="2000">
                <a:solidFill>
                  <a:schemeClr val="tx1"/>
                </a:solidFill>
                <a:effectLst>
                  <a:outerShdw blurRad="38100" dist="38100" dir="2700000" algn="tl">
                    <a:srgbClr val="C0C0C0"/>
                  </a:outerShdw>
                </a:effectLst>
                <a:latin typeface="黑体" pitchFamily="2" charset="-122"/>
                <a:ea typeface="黑体" pitchFamily="2" charset="-122"/>
              </a:endParaRPr>
            </a:p>
          </p:txBody>
        </p:sp>
        <p:sp>
          <p:nvSpPr>
            <p:cNvPr id="23" name="Line 22">
              <a:extLst>
                <a:ext uri="{FF2B5EF4-FFF2-40B4-BE49-F238E27FC236}">
                  <a16:creationId xmlns:a16="http://schemas.microsoft.com/office/drawing/2014/main" id="{4DEF946B-AC82-44E8-B112-8227954D2494}"/>
                </a:ext>
              </a:extLst>
            </p:cNvPr>
            <p:cNvSpPr>
              <a:spLocks noChangeShapeType="1"/>
            </p:cNvSpPr>
            <p:nvPr/>
          </p:nvSpPr>
          <p:spPr bwMode="auto">
            <a:xfrm>
              <a:off x="4035" y="4769"/>
              <a:ext cx="275" cy="0"/>
            </a:xfrm>
            <a:prstGeom prst="line">
              <a:avLst/>
            </a:prstGeom>
            <a:noFill/>
            <a:ln w="12700">
              <a:solidFill>
                <a:schemeClr val="tx1"/>
              </a:solidFill>
              <a:prstDash val="dash"/>
              <a:round/>
              <a:headEnd/>
              <a:tailEnd/>
            </a:ln>
          </p:spPr>
          <p:txBody>
            <a:bodyPr/>
            <a:lstStyle/>
            <a:p>
              <a:pPr algn="ctr">
                <a:defRPr/>
              </a:pPr>
              <a:endParaRPr lang="zh-CN" altLang="en-US" sz="2000">
                <a:solidFill>
                  <a:schemeClr val="tx1"/>
                </a:solidFill>
                <a:effectLst>
                  <a:outerShdw blurRad="38100" dist="38100" dir="2700000" algn="tl">
                    <a:srgbClr val="000000">
                      <a:alpha val="43137"/>
                    </a:srgbClr>
                  </a:outerShdw>
                </a:effectLst>
                <a:latin typeface="黑体" pitchFamily="2" charset="-122"/>
                <a:ea typeface="黑体" pitchFamily="2" charset="-122"/>
              </a:endParaRPr>
            </a:p>
          </p:txBody>
        </p:sp>
        <p:sp>
          <p:nvSpPr>
            <p:cNvPr id="24" name="Line 23">
              <a:extLst>
                <a:ext uri="{FF2B5EF4-FFF2-40B4-BE49-F238E27FC236}">
                  <a16:creationId xmlns:a16="http://schemas.microsoft.com/office/drawing/2014/main" id="{82FEC7CA-95BF-4980-8350-17D9A00E6AAF}"/>
                </a:ext>
              </a:extLst>
            </p:cNvPr>
            <p:cNvSpPr>
              <a:spLocks noChangeShapeType="1"/>
            </p:cNvSpPr>
            <p:nvPr/>
          </p:nvSpPr>
          <p:spPr bwMode="auto">
            <a:xfrm flipV="1">
              <a:off x="4035" y="4359"/>
              <a:ext cx="0" cy="359"/>
            </a:xfrm>
            <a:prstGeom prst="line">
              <a:avLst/>
            </a:prstGeom>
            <a:noFill/>
            <a:ln w="12700">
              <a:solidFill>
                <a:schemeClr val="tx1"/>
              </a:solidFill>
              <a:prstDash val="dash"/>
              <a:round/>
              <a:headEnd/>
              <a:tailEnd type="arrow" w="med" len="med"/>
            </a:ln>
          </p:spPr>
          <p:txBody>
            <a:bodyPr/>
            <a:lstStyle/>
            <a:p>
              <a:pPr algn="ctr">
                <a:defRPr/>
              </a:pPr>
              <a:endParaRPr lang="zh-CN" altLang="en-US" sz="2000">
                <a:solidFill>
                  <a:schemeClr val="tx1"/>
                </a:solidFill>
                <a:effectLst>
                  <a:outerShdw blurRad="38100" dist="38100" dir="2700000" algn="tl">
                    <a:srgbClr val="000000">
                      <a:alpha val="43137"/>
                    </a:srgbClr>
                  </a:outerShdw>
                </a:effectLst>
                <a:latin typeface="黑体" pitchFamily="2" charset="-122"/>
                <a:ea typeface="黑体" pitchFamily="2" charset="-122"/>
              </a:endParaRPr>
            </a:p>
          </p:txBody>
        </p:sp>
        <p:sp>
          <p:nvSpPr>
            <p:cNvPr id="25" name="Line 24">
              <a:extLst>
                <a:ext uri="{FF2B5EF4-FFF2-40B4-BE49-F238E27FC236}">
                  <a16:creationId xmlns:a16="http://schemas.microsoft.com/office/drawing/2014/main" id="{8E544F2B-154F-48C6-BA2E-10EA270ADAD6}"/>
                </a:ext>
              </a:extLst>
            </p:cNvPr>
            <p:cNvSpPr>
              <a:spLocks noChangeShapeType="1"/>
            </p:cNvSpPr>
            <p:nvPr/>
          </p:nvSpPr>
          <p:spPr bwMode="auto">
            <a:xfrm>
              <a:off x="5469" y="4769"/>
              <a:ext cx="275" cy="0"/>
            </a:xfrm>
            <a:prstGeom prst="line">
              <a:avLst/>
            </a:prstGeom>
            <a:noFill/>
            <a:ln w="12700">
              <a:solidFill>
                <a:schemeClr val="tx1"/>
              </a:solidFill>
              <a:prstDash val="dash"/>
              <a:round/>
              <a:headEnd/>
              <a:tailEnd/>
            </a:ln>
          </p:spPr>
          <p:txBody>
            <a:bodyPr/>
            <a:lstStyle/>
            <a:p>
              <a:pPr algn="ctr">
                <a:defRPr/>
              </a:pPr>
              <a:endParaRPr lang="zh-CN" altLang="en-US" sz="2000">
                <a:solidFill>
                  <a:schemeClr val="tx1"/>
                </a:solidFill>
                <a:effectLst>
                  <a:outerShdw blurRad="38100" dist="38100" dir="2700000" algn="tl">
                    <a:srgbClr val="000000">
                      <a:alpha val="43137"/>
                    </a:srgbClr>
                  </a:outerShdw>
                </a:effectLst>
                <a:latin typeface="黑体" pitchFamily="2" charset="-122"/>
                <a:ea typeface="黑体" pitchFamily="2" charset="-122"/>
              </a:endParaRPr>
            </a:p>
          </p:txBody>
        </p:sp>
        <p:sp>
          <p:nvSpPr>
            <p:cNvPr id="26" name="Line 25">
              <a:extLst>
                <a:ext uri="{FF2B5EF4-FFF2-40B4-BE49-F238E27FC236}">
                  <a16:creationId xmlns:a16="http://schemas.microsoft.com/office/drawing/2014/main" id="{3493FFCC-2830-4228-B615-E9B1E5EF392F}"/>
                </a:ext>
              </a:extLst>
            </p:cNvPr>
            <p:cNvSpPr>
              <a:spLocks noChangeShapeType="1"/>
            </p:cNvSpPr>
            <p:nvPr/>
          </p:nvSpPr>
          <p:spPr bwMode="auto">
            <a:xfrm flipV="1">
              <a:off x="5745" y="4359"/>
              <a:ext cx="0" cy="359"/>
            </a:xfrm>
            <a:prstGeom prst="line">
              <a:avLst/>
            </a:prstGeom>
            <a:noFill/>
            <a:ln w="12700">
              <a:solidFill>
                <a:schemeClr val="tx1"/>
              </a:solidFill>
              <a:prstDash val="dash"/>
              <a:round/>
              <a:headEnd/>
              <a:tailEnd type="arrow" w="med" len="med"/>
            </a:ln>
          </p:spPr>
          <p:txBody>
            <a:bodyPr/>
            <a:lstStyle/>
            <a:p>
              <a:pPr algn="ctr">
                <a:defRPr/>
              </a:pPr>
              <a:endParaRPr lang="zh-CN" altLang="en-US" sz="2000">
                <a:solidFill>
                  <a:schemeClr val="tx1"/>
                </a:solidFill>
                <a:effectLst>
                  <a:outerShdw blurRad="38100" dist="38100" dir="2700000" algn="tl">
                    <a:srgbClr val="000000">
                      <a:alpha val="43137"/>
                    </a:srgbClr>
                  </a:outerShdw>
                </a:effectLst>
                <a:latin typeface="黑体" pitchFamily="2" charset="-122"/>
                <a:ea typeface="黑体" pitchFamily="2" charset="-122"/>
              </a:endParaRPr>
            </a:p>
          </p:txBody>
        </p:sp>
        <p:sp>
          <p:nvSpPr>
            <p:cNvPr id="27" name="Line 26">
              <a:extLst>
                <a:ext uri="{FF2B5EF4-FFF2-40B4-BE49-F238E27FC236}">
                  <a16:creationId xmlns:a16="http://schemas.microsoft.com/office/drawing/2014/main" id="{EB787883-3FEC-493B-BA73-39AF51B507C3}"/>
                </a:ext>
              </a:extLst>
            </p:cNvPr>
            <p:cNvSpPr>
              <a:spLocks noChangeShapeType="1"/>
            </p:cNvSpPr>
            <p:nvPr/>
          </p:nvSpPr>
          <p:spPr bwMode="auto">
            <a:xfrm flipV="1">
              <a:off x="5966" y="4359"/>
              <a:ext cx="0" cy="875"/>
            </a:xfrm>
            <a:prstGeom prst="line">
              <a:avLst/>
            </a:prstGeom>
            <a:noFill/>
            <a:ln w="12700">
              <a:solidFill>
                <a:schemeClr val="tx1"/>
              </a:solidFill>
              <a:prstDash val="dash"/>
              <a:round/>
              <a:headEnd/>
              <a:tailEnd type="arrow" w="med" len="med"/>
            </a:ln>
          </p:spPr>
          <p:txBody>
            <a:bodyPr/>
            <a:lstStyle/>
            <a:p>
              <a:pPr algn="ctr">
                <a:defRPr/>
              </a:pPr>
              <a:endParaRPr lang="zh-CN" altLang="en-US" sz="2000">
                <a:solidFill>
                  <a:schemeClr val="tx1"/>
                </a:solidFill>
                <a:effectLst>
                  <a:outerShdw blurRad="38100" dist="38100" dir="2700000" algn="tl">
                    <a:srgbClr val="000000">
                      <a:alpha val="43137"/>
                    </a:srgbClr>
                  </a:outerShdw>
                </a:effectLst>
                <a:latin typeface="黑体" pitchFamily="2" charset="-122"/>
                <a:ea typeface="黑体" pitchFamily="2" charset="-122"/>
              </a:endParaRPr>
            </a:p>
          </p:txBody>
        </p:sp>
        <p:sp>
          <p:nvSpPr>
            <p:cNvPr id="28" name="Rectangle 27">
              <a:extLst>
                <a:ext uri="{FF2B5EF4-FFF2-40B4-BE49-F238E27FC236}">
                  <a16:creationId xmlns:a16="http://schemas.microsoft.com/office/drawing/2014/main" id="{0631770B-7780-4DB2-AE50-92C0AEA74F75}"/>
                </a:ext>
              </a:extLst>
            </p:cNvPr>
            <p:cNvSpPr>
              <a:spLocks noChangeArrowheads="1"/>
            </p:cNvSpPr>
            <p:nvPr/>
          </p:nvSpPr>
          <p:spPr bwMode="auto">
            <a:xfrm>
              <a:off x="5414" y="5230"/>
              <a:ext cx="1127" cy="448"/>
            </a:xfrm>
            <a:prstGeom prst="rect">
              <a:avLst/>
            </a:prstGeom>
            <a:noFill/>
            <a:ln w="12700">
              <a:solidFill>
                <a:schemeClr val="tx1"/>
              </a:solidFill>
              <a:miter lim="800000"/>
              <a:headEnd/>
              <a:tailEnd/>
            </a:ln>
          </p:spPr>
          <p:txBody>
            <a:bodyPr lIns="54000" rIns="54000"/>
            <a:lstStyle/>
            <a:p>
              <a:pPr algn="ctr">
                <a:defRPr/>
              </a:pPr>
              <a:r>
                <a:rPr lang="zh-CN" sz="2000" b="0" dirty="0">
                  <a:solidFill>
                    <a:schemeClr val="tx1"/>
                  </a:solidFill>
                  <a:latin typeface="黑体" pitchFamily="2" charset="-122"/>
                  <a:ea typeface="黑体" pitchFamily="2" charset="-122"/>
                </a:rPr>
                <a:t>财产清查</a:t>
              </a:r>
              <a:endParaRPr lang="zh-CN" sz="2000" dirty="0">
                <a:solidFill>
                  <a:schemeClr val="tx1"/>
                </a:solidFill>
                <a:effectLst>
                  <a:outerShdw blurRad="38100" dist="38100" dir="2700000" algn="tl">
                    <a:srgbClr val="C0C0C0"/>
                  </a:outerShdw>
                </a:effectLst>
                <a:latin typeface="黑体" pitchFamily="2" charset="-122"/>
                <a:ea typeface="黑体" pitchFamily="2" charset="-122"/>
              </a:endParaRPr>
            </a:p>
          </p:txBody>
        </p:sp>
      </p:grpSp>
      <p:sp>
        <p:nvSpPr>
          <p:cNvPr id="39" name="Line 3">
            <a:extLst>
              <a:ext uri="{FF2B5EF4-FFF2-40B4-BE49-F238E27FC236}">
                <a16:creationId xmlns:a16="http://schemas.microsoft.com/office/drawing/2014/main" id="{0D6D7D0D-A375-4C24-A986-FA2656756180}"/>
              </a:ext>
            </a:extLst>
          </p:cNvPr>
          <p:cNvSpPr>
            <a:spLocks noChangeShapeType="1"/>
          </p:cNvSpPr>
          <p:nvPr/>
        </p:nvSpPr>
        <p:spPr bwMode="auto">
          <a:xfrm>
            <a:off x="6107300" y="5949280"/>
            <a:ext cx="801687" cy="0"/>
          </a:xfrm>
          <a:prstGeom prst="line">
            <a:avLst/>
          </a:prstGeom>
          <a:noFill/>
          <a:ln w="38100" cap="sq">
            <a:solidFill>
              <a:schemeClr val="tx1"/>
            </a:solidFill>
            <a:miter lim="800000"/>
            <a:headEnd type="none" w="sm" len="sm"/>
            <a:tailEnd type="triangle" w="sm" len="sm"/>
          </a:ln>
          <a:effectLst/>
        </p:spPr>
        <p:txBody>
          <a:bodyPr wrap="none"/>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40" name="Text Box 4">
            <a:extLst>
              <a:ext uri="{FF2B5EF4-FFF2-40B4-BE49-F238E27FC236}">
                <a16:creationId xmlns:a16="http://schemas.microsoft.com/office/drawing/2014/main" id="{5BCAA8E9-0FA7-4F5A-8482-0BA8BC7DC5CA}"/>
              </a:ext>
            </a:extLst>
          </p:cNvPr>
          <p:cNvSpPr txBox="1">
            <a:spLocks noChangeArrowheads="1"/>
          </p:cNvSpPr>
          <p:nvPr/>
        </p:nvSpPr>
        <p:spPr bwMode="auto">
          <a:xfrm>
            <a:off x="7236296" y="5085184"/>
            <a:ext cx="152400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SzPct val="100000"/>
              <a:buChar char="•"/>
              <a:defRPr sz="3200" b="1">
                <a:solidFill>
                  <a:schemeClr val="hlink"/>
                </a:solidFill>
                <a:latin typeface="Arial" panose="020B0604020202020204" pitchFamily="34" charset="0"/>
                <a:ea typeface="宋体" panose="02010600030101010101" pitchFamily="2" charset="-122"/>
              </a:defRPr>
            </a:lvl1pPr>
            <a:lvl2pPr marL="742950" indent="-285750">
              <a:spcBef>
                <a:spcPct val="20000"/>
              </a:spcBef>
              <a:buSzPct val="100000"/>
              <a:buChar char="–"/>
              <a:defRPr sz="2800" b="1">
                <a:solidFill>
                  <a:schemeClr val="tx2"/>
                </a:solidFill>
                <a:latin typeface="Arial" panose="020B0604020202020204" pitchFamily="34" charset="0"/>
                <a:ea typeface="宋体" panose="02010600030101010101" pitchFamily="2" charset="-122"/>
              </a:defRPr>
            </a:lvl2pPr>
            <a:lvl3pPr marL="1143000" indent="-228600">
              <a:spcBef>
                <a:spcPct val="20000"/>
              </a:spcBef>
              <a:buSzPct val="100000"/>
              <a:buChar char="•"/>
              <a:defRPr sz="2400" b="1">
                <a:solidFill>
                  <a:schemeClr val="folHlink"/>
                </a:solidFill>
                <a:latin typeface="Arial" panose="020B0604020202020204" pitchFamily="34" charset="0"/>
                <a:ea typeface="宋体" panose="02010600030101010101" pitchFamily="2" charset="-122"/>
              </a:defRPr>
            </a:lvl3pPr>
            <a:lvl4pPr marL="16002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SzTx/>
              <a:buFontTx/>
              <a:buNone/>
            </a:pPr>
            <a:r>
              <a:rPr lang="zh-CN" altLang="en-US" sz="2400">
                <a:solidFill>
                  <a:schemeClr val="folHlink"/>
                </a:solidFill>
                <a:latin typeface="Times New Roman" panose="02020603050405020304" pitchFamily="18" charset="0"/>
              </a:rPr>
              <a:t>基本概念</a:t>
            </a:r>
          </a:p>
          <a:p>
            <a:pPr eaLnBrk="1" hangingPunct="1">
              <a:spcBef>
                <a:spcPct val="50000"/>
              </a:spcBef>
              <a:buSzTx/>
              <a:buFontTx/>
              <a:buNone/>
            </a:pPr>
            <a:r>
              <a:rPr lang="zh-CN" altLang="en-US" sz="2400">
                <a:solidFill>
                  <a:srgbClr val="FF6600"/>
                </a:solidFill>
                <a:latin typeface="Times New Roman" panose="02020603050405020304" pitchFamily="18" charset="0"/>
              </a:rPr>
              <a:t>基本原则</a:t>
            </a:r>
          </a:p>
          <a:p>
            <a:pPr eaLnBrk="1" hangingPunct="1">
              <a:spcBef>
                <a:spcPct val="50000"/>
              </a:spcBef>
              <a:buSzTx/>
              <a:buFontTx/>
              <a:buNone/>
            </a:pPr>
            <a:r>
              <a:rPr lang="zh-CN" altLang="en-US" sz="2400">
                <a:solidFill>
                  <a:schemeClr val="tx1"/>
                </a:solidFill>
                <a:latin typeface="Times New Roman" panose="02020603050405020304" pitchFamily="18" charset="0"/>
              </a:rPr>
              <a:t>基本方法</a:t>
            </a:r>
          </a:p>
        </p:txBody>
      </p:sp>
      <p:sp>
        <p:nvSpPr>
          <p:cNvPr id="41" name="AutoShape 5">
            <a:extLst>
              <a:ext uri="{FF2B5EF4-FFF2-40B4-BE49-F238E27FC236}">
                <a16:creationId xmlns:a16="http://schemas.microsoft.com/office/drawing/2014/main" id="{2316706E-9615-495A-AD40-E81FA92CF20D}"/>
              </a:ext>
            </a:extLst>
          </p:cNvPr>
          <p:cNvSpPr>
            <a:spLocks/>
          </p:cNvSpPr>
          <p:nvPr/>
        </p:nvSpPr>
        <p:spPr bwMode="auto">
          <a:xfrm>
            <a:off x="7145808" y="5280446"/>
            <a:ext cx="76200" cy="1295400"/>
          </a:xfrm>
          <a:prstGeom prst="leftBrace">
            <a:avLst>
              <a:gd name="adj1" fmla="val 141667"/>
              <a:gd name="adj2" fmla="val 50000"/>
            </a:avLst>
          </a:prstGeom>
          <a:noFill/>
          <a:ln w="38100" cap="sq">
            <a:solidFill>
              <a:schemeClr val="tx1"/>
            </a:solidFill>
            <a:miter lim="800000"/>
            <a:headEnd type="none" w="sm" len="sm"/>
            <a:tailEnd type="none" w="sm" len="sm"/>
          </a:ln>
          <a:effectLst/>
        </p:spPr>
        <p:txBody>
          <a:bodyPr wrap="none" anchor="ct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42" name="Text Box 9">
            <a:extLst>
              <a:ext uri="{FF2B5EF4-FFF2-40B4-BE49-F238E27FC236}">
                <a16:creationId xmlns:a16="http://schemas.microsoft.com/office/drawing/2014/main" id="{34077401-CFF8-4307-952A-644FEDE8CFFC}"/>
              </a:ext>
            </a:extLst>
          </p:cNvPr>
          <p:cNvSpPr txBox="1">
            <a:spLocks noChangeArrowheads="1"/>
          </p:cNvSpPr>
          <p:nvPr/>
        </p:nvSpPr>
        <p:spPr bwMode="auto">
          <a:xfrm>
            <a:off x="3750216" y="5663868"/>
            <a:ext cx="2321846" cy="59213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SzPct val="100000"/>
              <a:buChar char="•"/>
              <a:defRPr sz="3200" b="1">
                <a:solidFill>
                  <a:schemeClr val="hlink"/>
                </a:solidFill>
                <a:latin typeface="Arial" panose="020B0604020202020204" pitchFamily="34" charset="0"/>
                <a:ea typeface="宋体" panose="02010600030101010101" pitchFamily="2" charset="-122"/>
              </a:defRPr>
            </a:lvl1pPr>
            <a:lvl2pPr marL="742950" indent="-285750">
              <a:spcBef>
                <a:spcPct val="20000"/>
              </a:spcBef>
              <a:buSzPct val="100000"/>
              <a:buChar char="–"/>
              <a:defRPr sz="2800" b="1">
                <a:solidFill>
                  <a:schemeClr val="tx2"/>
                </a:solidFill>
                <a:latin typeface="Arial" panose="020B0604020202020204" pitchFamily="34" charset="0"/>
                <a:ea typeface="宋体" panose="02010600030101010101" pitchFamily="2" charset="-122"/>
              </a:defRPr>
            </a:lvl2pPr>
            <a:lvl3pPr marL="1143000" indent="-228600">
              <a:spcBef>
                <a:spcPct val="20000"/>
              </a:spcBef>
              <a:buSzPct val="100000"/>
              <a:buChar char="•"/>
              <a:defRPr sz="2400" b="1">
                <a:solidFill>
                  <a:schemeClr val="folHlink"/>
                </a:solidFill>
                <a:latin typeface="Arial" panose="020B0604020202020204" pitchFamily="34" charset="0"/>
                <a:ea typeface="宋体" panose="02010600030101010101" pitchFamily="2" charset="-122"/>
              </a:defRPr>
            </a:lvl3pPr>
            <a:lvl4pPr marL="16002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SzTx/>
              <a:buFontTx/>
              <a:buNone/>
            </a:pPr>
            <a:r>
              <a:rPr lang="zh-CN" altLang="en-US" dirty="0">
                <a:solidFill>
                  <a:srgbClr val="FF0000"/>
                </a:solidFill>
                <a:latin typeface="Times New Roman" panose="02020603050405020304" pitchFamily="18" charset="0"/>
              </a:rPr>
              <a:t>会计学原理</a:t>
            </a:r>
          </a:p>
        </p:txBody>
      </p:sp>
    </p:spTree>
    <p:extLst>
      <p:ext uri="{BB962C8B-B14F-4D97-AF65-F5344CB8AC3E}">
        <p14:creationId xmlns:p14="http://schemas.microsoft.com/office/powerpoint/2010/main" val="4044696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500" fill="hold"/>
                                        <p:tgtEl>
                                          <p:spTgt spid="42"/>
                                        </p:tgtEl>
                                        <p:attrNameLst>
                                          <p:attrName>ppt_x</p:attrName>
                                        </p:attrNameLst>
                                      </p:cBhvr>
                                      <p:tavLst>
                                        <p:tav tm="0">
                                          <p:val>
                                            <p:strVal val="0-#ppt_w/2"/>
                                          </p:val>
                                        </p:tav>
                                        <p:tav tm="100000">
                                          <p:val>
                                            <p:strVal val="#ppt_x"/>
                                          </p:val>
                                        </p:tav>
                                      </p:tavLst>
                                    </p:anim>
                                    <p:anim calcmode="lin" valueType="num">
                                      <p:cBhvr additive="base">
                                        <p:cTn id="8" dur="500" fill="hold"/>
                                        <p:tgtEl>
                                          <p:spTgt spid="4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39"/>
                                        </p:tgtEl>
                                        <p:attrNameLst>
                                          <p:attrName>style.visibility</p:attrName>
                                        </p:attrNameLst>
                                      </p:cBhvr>
                                      <p:to>
                                        <p:strVal val="visible"/>
                                      </p:to>
                                    </p:set>
                                    <p:anim calcmode="lin" valueType="num">
                                      <p:cBhvr additive="base">
                                        <p:cTn id="12" dur="500" fill="hold"/>
                                        <p:tgtEl>
                                          <p:spTgt spid="39"/>
                                        </p:tgtEl>
                                        <p:attrNameLst>
                                          <p:attrName>ppt_x</p:attrName>
                                        </p:attrNameLst>
                                      </p:cBhvr>
                                      <p:tavLst>
                                        <p:tav tm="0">
                                          <p:val>
                                            <p:strVal val="0-#ppt_w/2"/>
                                          </p:val>
                                        </p:tav>
                                        <p:tav tm="100000">
                                          <p:val>
                                            <p:strVal val="#ppt_x"/>
                                          </p:val>
                                        </p:tav>
                                      </p:tavLst>
                                    </p:anim>
                                    <p:anim calcmode="lin" valueType="num">
                                      <p:cBhvr additive="base">
                                        <p:cTn id="13" dur="500" fill="hold"/>
                                        <p:tgtEl>
                                          <p:spTgt spid="39"/>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 calcmode="lin" valueType="num">
                                      <p:cBhvr additive="base">
                                        <p:cTn id="16" dur="500" fill="hold"/>
                                        <p:tgtEl>
                                          <p:spTgt spid="41"/>
                                        </p:tgtEl>
                                        <p:attrNameLst>
                                          <p:attrName>ppt_x</p:attrName>
                                        </p:attrNameLst>
                                      </p:cBhvr>
                                      <p:tavLst>
                                        <p:tav tm="0">
                                          <p:val>
                                            <p:strVal val="0-#ppt_w/2"/>
                                          </p:val>
                                        </p:tav>
                                        <p:tav tm="100000">
                                          <p:val>
                                            <p:strVal val="#ppt_x"/>
                                          </p:val>
                                        </p:tav>
                                      </p:tavLst>
                                    </p:anim>
                                    <p:anim calcmode="lin" valueType="num">
                                      <p:cBhvr additive="base">
                                        <p:cTn id="17" dur="500" fill="hold"/>
                                        <p:tgtEl>
                                          <p:spTgt spid="41"/>
                                        </p:tgtEl>
                                        <p:attrNameLst>
                                          <p:attrName>ppt_y</p:attrName>
                                        </p:attrNameLst>
                                      </p:cBhvr>
                                      <p:tavLst>
                                        <p:tav tm="0">
                                          <p:val>
                                            <p:strVal val="#ppt_y"/>
                                          </p:val>
                                        </p:tav>
                                        <p:tav tm="100000">
                                          <p:val>
                                            <p:strVal val="#ppt_y"/>
                                          </p:val>
                                        </p:tav>
                                      </p:tavLst>
                                    </p:anim>
                                  </p:childTnLst>
                                </p:cTn>
                              </p:par>
                              <p:par>
                                <p:cTn id="18" presetID="2" presetClass="entr" presetSubtype="8" fill="hold" grpId="0" nodeType="withEffect">
                                  <p:stCondLst>
                                    <p:cond delay="0"/>
                                  </p:stCondLst>
                                  <p:childTnLst>
                                    <p:set>
                                      <p:cBhvr>
                                        <p:cTn id="19" dur="1" fill="hold">
                                          <p:stCondLst>
                                            <p:cond delay="0"/>
                                          </p:stCondLst>
                                        </p:cTn>
                                        <p:tgtEl>
                                          <p:spTgt spid="40"/>
                                        </p:tgtEl>
                                        <p:attrNameLst>
                                          <p:attrName>style.visibility</p:attrName>
                                        </p:attrNameLst>
                                      </p:cBhvr>
                                      <p:to>
                                        <p:strVal val="visible"/>
                                      </p:to>
                                    </p:set>
                                    <p:anim calcmode="lin" valueType="num">
                                      <p:cBhvr additive="base">
                                        <p:cTn id="20" dur="500" fill="hold"/>
                                        <p:tgtEl>
                                          <p:spTgt spid="40"/>
                                        </p:tgtEl>
                                        <p:attrNameLst>
                                          <p:attrName>ppt_x</p:attrName>
                                        </p:attrNameLst>
                                      </p:cBhvr>
                                      <p:tavLst>
                                        <p:tav tm="0">
                                          <p:val>
                                            <p:strVal val="0-#ppt_w/2"/>
                                          </p:val>
                                        </p:tav>
                                        <p:tav tm="100000">
                                          <p:val>
                                            <p:strVal val="#ppt_x"/>
                                          </p:val>
                                        </p:tav>
                                      </p:tavLst>
                                    </p:anim>
                                    <p:anim calcmode="lin" valueType="num">
                                      <p:cBhvr additive="base">
                                        <p:cTn id="21" dur="500" fill="hold"/>
                                        <p:tgtEl>
                                          <p:spTgt spid="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animBg="1"/>
      <p:bldP spid="42"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zh-CN" altLang="en-US" dirty="0"/>
              <a:t>中级财务会计</a:t>
            </a:r>
          </a:p>
        </p:txBody>
      </p:sp>
      <p:sp>
        <p:nvSpPr>
          <p:cNvPr id="38" name="Rectangle 2">
            <a:extLst>
              <a:ext uri="{FF2B5EF4-FFF2-40B4-BE49-F238E27FC236}">
                <a16:creationId xmlns:a16="http://schemas.microsoft.com/office/drawing/2014/main" id="{B249E03A-D265-414B-9B36-395F2BF1EE08}"/>
              </a:ext>
            </a:extLst>
          </p:cNvPr>
          <p:cNvSpPr txBox="1">
            <a:spLocks noChangeArrowheads="1"/>
          </p:cNvSpPr>
          <p:nvPr/>
        </p:nvSpPr>
        <p:spPr bwMode="auto">
          <a:xfrm>
            <a:off x="607328" y="2061858"/>
            <a:ext cx="5248275" cy="335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57175" indent="-257175" algn="l" rtl="0" eaLnBrk="0" fontAlgn="base" hangingPunct="0">
              <a:spcBef>
                <a:spcPct val="15000"/>
              </a:spcBef>
              <a:spcAft>
                <a:spcPct val="0"/>
              </a:spcAft>
              <a:buClr>
                <a:schemeClr val="folHlink"/>
              </a:buClr>
              <a:buSzPct val="60000"/>
              <a:buFont typeface="Wingdings" panose="05000000000000000000" pitchFamily="2" charset="2"/>
              <a:buChar char="n"/>
              <a:defRPr sz="2600" b="0">
                <a:solidFill>
                  <a:schemeClr val="tx1"/>
                </a:solidFill>
                <a:latin typeface="黑体" panose="02010609060101010101" pitchFamily="49" charset="-122"/>
                <a:ea typeface="黑体" panose="02010609060101010101" pitchFamily="49" charset="-122"/>
                <a:cs typeface="+mn-cs"/>
              </a:defRPr>
            </a:lvl1pPr>
            <a:lvl2pPr marL="557530" indent="-213995" algn="l" rtl="0" eaLnBrk="0" fontAlgn="base" hangingPunct="0">
              <a:spcBef>
                <a:spcPct val="15000"/>
              </a:spcBef>
              <a:spcAft>
                <a:spcPct val="0"/>
              </a:spcAft>
              <a:buClr>
                <a:schemeClr val="hlink"/>
              </a:buClr>
              <a:buSzPct val="55000"/>
              <a:buFont typeface="Wingdings" panose="05000000000000000000" pitchFamily="2" charset="2"/>
              <a:buChar char="n"/>
              <a:defRPr sz="2400" b="0">
                <a:solidFill>
                  <a:schemeClr val="tx1"/>
                </a:solidFill>
                <a:latin typeface="楷体_GB2312" panose="02010609030101010101" pitchFamily="49" charset="-122"/>
                <a:ea typeface="楷体_GB2312" panose="02010609030101010101" pitchFamily="49" charset="-122"/>
              </a:defRPr>
            </a:lvl2pPr>
            <a:lvl3pPr marL="857250" indent="-171450" algn="l" rtl="0" eaLnBrk="0" fontAlgn="base" hangingPunct="0">
              <a:spcBef>
                <a:spcPct val="15000"/>
              </a:spcBef>
              <a:spcAft>
                <a:spcPct val="0"/>
              </a:spcAft>
              <a:buClr>
                <a:schemeClr val="folHlink"/>
              </a:buClr>
              <a:buSzPct val="50000"/>
              <a:buFont typeface="Wingdings" panose="05000000000000000000" pitchFamily="2" charset="2"/>
              <a:buChar char="n"/>
              <a:defRPr sz="2000" b="0">
                <a:solidFill>
                  <a:schemeClr val="tx1"/>
                </a:solidFill>
                <a:latin typeface="+mn-ea"/>
                <a:ea typeface="+mn-ea"/>
              </a:defRPr>
            </a:lvl3pPr>
            <a:lvl4pPr marL="1200150" indent="-171450" algn="l" rtl="0" eaLnBrk="0" fontAlgn="base" hangingPunct="0">
              <a:spcBef>
                <a:spcPct val="15000"/>
              </a:spcBef>
              <a:spcAft>
                <a:spcPct val="0"/>
              </a:spcAft>
              <a:buClr>
                <a:schemeClr val="accent2"/>
              </a:buClr>
              <a:buSzPct val="55000"/>
              <a:buFont typeface="Wingdings" panose="05000000000000000000" pitchFamily="2" charset="2"/>
              <a:buChar char="n"/>
              <a:defRPr sz="1600" b="0">
                <a:solidFill>
                  <a:schemeClr val="tx1"/>
                </a:solidFill>
                <a:latin typeface="仿宋_GB2312" panose="02010609030101010101" pitchFamily="49" charset="-122"/>
                <a:ea typeface="仿宋_GB2312" panose="02010609030101010101" pitchFamily="49" charset="-122"/>
              </a:defRPr>
            </a:lvl4pPr>
            <a:lvl5pPr marL="1543050" indent="-171450" algn="l" rtl="0" eaLnBrk="0" fontAlgn="base" hangingPunct="0">
              <a:spcBef>
                <a:spcPct val="15000"/>
              </a:spcBef>
              <a:spcAft>
                <a:spcPct val="0"/>
              </a:spcAft>
              <a:buClr>
                <a:schemeClr val="accent1"/>
              </a:buClr>
              <a:buSzPct val="50000"/>
              <a:buFont typeface="Wingdings" panose="05000000000000000000" pitchFamily="2" charset="2"/>
              <a:buChar char="n"/>
              <a:defRPr sz="1500" b="0">
                <a:solidFill>
                  <a:schemeClr val="tx1"/>
                </a:solidFill>
                <a:latin typeface="黑体" panose="02010609060101010101" pitchFamily="49" charset="-122"/>
                <a:ea typeface="黑体" panose="02010609060101010101" pitchFamily="49" charset="-122"/>
              </a:defRPr>
            </a:lvl5pPr>
            <a:lvl6pPr marL="18859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6pPr>
            <a:lvl7pPr marL="22288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7pPr>
            <a:lvl8pPr marL="25717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8pPr>
            <a:lvl9pPr marL="29146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9pPr>
          </a:lstStyle>
          <a:p>
            <a:pPr>
              <a:buFontTx/>
              <a:buNone/>
              <a:defRPr/>
            </a:pPr>
            <a:r>
              <a:rPr lang="en-US" altLang="zh-CN" sz="3600" kern="0" dirty="0">
                <a:solidFill>
                  <a:schemeClr val="folHlink"/>
                </a:solidFill>
              </a:rPr>
              <a:t>     </a:t>
            </a:r>
            <a:r>
              <a:rPr lang="zh-CN" altLang="en-US" sz="3600" kern="0" dirty="0">
                <a:solidFill>
                  <a:schemeClr val="folHlink"/>
                </a:solidFill>
              </a:rPr>
              <a:t>中级财务会计</a:t>
            </a:r>
          </a:p>
        </p:txBody>
      </p:sp>
      <p:sp>
        <p:nvSpPr>
          <p:cNvPr id="43" name="AutoShape 3">
            <a:extLst>
              <a:ext uri="{FF2B5EF4-FFF2-40B4-BE49-F238E27FC236}">
                <a16:creationId xmlns:a16="http://schemas.microsoft.com/office/drawing/2014/main" id="{5C7E475B-52BB-4E39-A91E-068ABE29AB45}"/>
              </a:ext>
            </a:extLst>
          </p:cNvPr>
          <p:cNvSpPr>
            <a:spLocks noChangeArrowheads="1"/>
          </p:cNvSpPr>
          <p:nvPr/>
        </p:nvSpPr>
        <p:spPr bwMode="auto">
          <a:xfrm>
            <a:off x="2422664" y="2732629"/>
            <a:ext cx="304800" cy="685800"/>
          </a:xfrm>
          <a:prstGeom prst="downArrow">
            <a:avLst>
              <a:gd name="adj1" fmla="val 50000"/>
              <a:gd name="adj2" fmla="val 56250"/>
            </a:avLst>
          </a:prstGeom>
          <a:solidFill>
            <a:schemeClr val="accent1"/>
          </a:solidFill>
          <a:ln w="12700" cap="sq">
            <a:solidFill>
              <a:schemeClr val="tx1"/>
            </a:solidFill>
            <a:miter lim="800000"/>
            <a:headEnd type="none" w="sm" len="sm"/>
            <a:tailEnd type="none" w="sm" len="sm"/>
          </a:ln>
          <a:effectLst/>
        </p:spPr>
        <p:txBody>
          <a:bodyPr wrap="none" anchor="ct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44" name="Text Box 4">
            <a:extLst>
              <a:ext uri="{FF2B5EF4-FFF2-40B4-BE49-F238E27FC236}">
                <a16:creationId xmlns:a16="http://schemas.microsoft.com/office/drawing/2014/main" id="{34F7134F-47DD-40FE-A195-63F6AC92EEAB}"/>
              </a:ext>
            </a:extLst>
          </p:cNvPr>
          <p:cNvSpPr txBox="1">
            <a:spLocks noChangeArrowheads="1"/>
          </p:cNvSpPr>
          <p:nvPr/>
        </p:nvSpPr>
        <p:spPr bwMode="auto">
          <a:xfrm>
            <a:off x="1150938" y="3525579"/>
            <a:ext cx="4868128"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SzPct val="100000"/>
              <a:buChar char="•"/>
              <a:defRPr sz="3200" b="1">
                <a:solidFill>
                  <a:schemeClr val="hlink"/>
                </a:solidFill>
                <a:latin typeface="Arial" panose="020B0604020202020204" pitchFamily="34" charset="0"/>
                <a:ea typeface="宋体" panose="02010600030101010101" pitchFamily="2" charset="-122"/>
              </a:defRPr>
            </a:lvl1pPr>
            <a:lvl2pPr marL="742950" indent="-285750">
              <a:spcBef>
                <a:spcPct val="20000"/>
              </a:spcBef>
              <a:buSzPct val="100000"/>
              <a:buChar char="–"/>
              <a:defRPr sz="2800" b="1">
                <a:solidFill>
                  <a:schemeClr val="tx2"/>
                </a:solidFill>
                <a:latin typeface="Arial" panose="020B0604020202020204" pitchFamily="34" charset="0"/>
                <a:ea typeface="宋体" panose="02010600030101010101" pitchFamily="2" charset="-122"/>
              </a:defRPr>
            </a:lvl2pPr>
            <a:lvl3pPr marL="1143000" indent="-228600">
              <a:spcBef>
                <a:spcPct val="20000"/>
              </a:spcBef>
              <a:buSzPct val="100000"/>
              <a:buChar char="•"/>
              <a:defRPr sz="2400" b="1">
                <a:solidFill>
                  <a:schemeClr val="folHlink"/>
                </a:solidFill>
                <a:latin typeface="Arial" panose="020B0604020202020204" pitchFamily="34" charset="0"/>
                <a:ea typeface="宋体" panose="02010600030101010101" pitchFamily="2" charset="-122"/>
              </a:defRPr>
            </a:lvl3pPr>
            <a:lvl4pPr marL="16002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SzTx/>
              <a:buFontTx/>
              <a:buNone/>
            </a:pPr>
            <a:r>
              <a:rPr lang="zh-CN" altLang="en-US" sz="2600" dirty="0">
                <a:solidFill>
                  <a:schemeClr val="tx1"/>
                </a:solidFill>
                <a:latin typeface="黑体" panose="02010609060101010101" pitchFamily="49" charset="-122"/>
                <a:ea typeface="黑体" panose="02010609060101010101" pitchFamily="49" charset="-122"/>
              </a:rPr>
              <a:t>四个</a:t>
            </a:r>
            <a:r>
              <a:rPr lang="zh-CN" altLang="en-US" sz="2600" dirty="0">
                <a:solidFill>
                  <a:srgbClr val="FF0000"/>
                </a:solidFill>
                <a:latin typeface="黑体" panose="02010609060101010101" pitchFamily="49" charset="-122"/>
                <a:ea typeface="黑体" panose="02010609060101010101" pitchFamily="49" charset="-122"/>
              </a:rPr>
              <a:t>基本假设前提</a:t>
            </a:r>
            <a:r>
              <a:rPr lang="zh-CN" altLang="en-US" sz="2600" dirty="0">
                <a:solidFill>
                  <a:schemeClr val="tx1"/>
                </a:solidFill>
                <a:latin typeface="黑体" panose="02010609060101010101" pitchFamily="49" charset="-122"/>
                <a:ea typeface="黑体" panose="02010609060101010101" pitchFamily="49" charset="-122"/>
              </a:rPr>
              <a:t>下会计要素的</a:t>
            </a:r>
            <a:r>
              <a:rPr lang="zh-CN" altLang="en-US" sz="2600" i="1" dirty="0">
                <a:solidFill>
                  <a:schemeClr val="folHlink"/>
                </a:solidFill>
                <a:latin typeface="黑体" panose="02010609060101010101" pitchFamily="49" charset="-122"/>
                <a:ea typeface="黑体" panose="02010609060101010101" pitchFamily="49" charset="-122"/>
              </a:rPr>
              <a:t>确认</a:t>
            </a:r>
            <a:r>
              <a:rPr lang="zh-CN" altLang="en-US" sz="2600" i="1" dirty="0">
                <a:solidFill>
                  <a:srgbClr val="95E5EB"/>
                </a:solidFill>
                <a:latin typeface="黑体" panose="02010609060101010101" pitchFamily="49" charset="-122"/>
                <a:ea typeface="黑体" panose="02010609060101010101" pitchFamily="49" charset="-122"/>
              </a:rPr>
              <a:t>、</a:t>
            </a:r>
            <a:r>
              <a:rPr lang="zh-CN" altLang="en-US" sz="2600" i="1" dirty="0">
                <a:latin typeface="黑体" panose="02010609060101010101" pitchFamily="49" charset="-122"/>
                <a:ea typeface="黑体" panose="02010609060101010101" pitchFamily="49" charset="-122"/>
              </a:rPr>
              <a:t>计量、</a:t>
            </a:r>
            <a:r>
              <a:rPr lang="zh-CN" altLang="en-US" sz="2600" i="1" dirty="0">
                <a:solidFill>
                  <a:schemeClr val="folHlink"/>
                </a:solidFill>
                <a:latin typeface="黑体" panose="02010609060101010101" pitchFamily="49" charset="-122"/>
                <a:ea typeface="黑体" panose="02010609060101010101" pitchFamily="49" charset="-122"/>
              </a:rPr>
              <a:t>记录</a:t>
            </a:r>
            <a:r>
              <a:rPr lang="zh-CN" altLang="en-US" sz="2600" i="1" dirty="0">
                <a:solidFill>
                  <a:schemeClr val="tx1"/>
                </a:solidFill>
                <a:latin typeface="黑体" panose="02010609060101010101" pitchFamily="49" charset="-122"/>
                <a:ea typeface="黑体" panose="02010609060101010101" pitchFamily="49" charset="-122"/>
              </a:rPr>
              <a:t>和</a:t>
            </a:r>
            <a:r>
              <a:rPr lang="zh-CN" altLang="en-US" sz="2600" i="1" dirty="0">
                <a:latin typeface="黑体" panose="02010609060101010101" pitchFamily="49" charset="-122"/>
                <a:ea typeface="黑体" panose="02010609060101010101" pitchFamily="49" charset="-122"/>
              </a:rPr>
              <a:t>报告</a:t>
            </a:r>
          </a:p>
        </p:txBody>
      </p:sp>
      <p:sp>
        <p:nvSpPr>
          <p:cNvPr id="45" name="Text Box 5">
            <a:extLst>
              <a:ext uri="{FF2B5EF4-FFF2-40B4-BE49-F238E27FC236}">
                <a16:creationId xmlns:a16="http://schemas.microsoft.com/office/drawing/2014/main" id="{9CE8237E-1B34-46E9-AD6B-9677A766C9DF}"/>
              </a:ext>
            </a:extLst>
          </p:cNvPr>
          <p:cNvSpPr txBox="1">
            <a:spLocks noChangeArrowheads="1"/>
          </p:cNvSpPr>
          <p:nvPr/>
        </p:nvSpPr>
        <p:spPr bwMode="auto">
          <a:xfrm>
            <a:off x="1763688" y="2204543"/>
            <a:ext cx="2990858" cy="497750"/>
          </a:xfrm>
          <a:prstGeom prst="rect">
            <a:avLst/>
          </a:prstGeom>
          <a:noFill/>
          <a:ln w="9525">
            <a:solidFill>
              <a:srgbClr val="9900FF"/>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SzPct val="100000"/>
              <a:buChar char="•"/>
              <a:defRPr sz="3200" b="1">
                <a:solidFill>
                  <a:schemeClr val="hlink"/>
                </a:solidFill>
                <a:latin typeface="Arial" panose="020B0604020202020204" pitchFamily="34" charset="0"/>
                <a:ea typeface="宋体" panose="02010600030101010101" pitchFamily="2" charset="-122"/>
              </a:defRPr>
            </a:lvl1pPr>
            <a:lvl2pPr marL="742950" indent="-285750">
              <a:spcBef>
                <a:spcPct val="20000"/>
              </a:spcBef>
              <a:buSzPct val="100000"/>
              <a:buChar char="–"/>
              <a:defRPr sz="2800" b="1">
                <a:solidFill>
                  <a:schemeClr val="tx2"/>
                </a:solidFill>
                <a:latin typeface="Arial" panose="020B0604020202020204" pitchFamily="34" charset="0"/>
                <a:ea typeface="宋体" panose="02010600030101010101" pitchFamily="2" charset="-122"/>
              </a:defRPr>
            </a:lvl2pPr>
            <a:lvl3pPr marL="1143000" indent="-228600">
              <a:spcBef>
                <a:spcPct val="20000"/>
              </a:spcBef>
              <a:buSzPct val="100000"/>
              <a:buChar char="•"/>
              <a:defRPr sz="2400" b="1">
                <a:solidFill>
                  <a:schemeClr val="folHlink"/>
                </a:solidFill>
                <a:latin typeface="Arial" panose="020B0604020202020204" pitchFamily="34" charset="0"/>
                <a:ea typeface="宋体" panose="02010600030101010101" pitchFamily="2" charset="-122"/>
              </a:defRPr>
            </a:lvl3pPr>
            <a:lvl4pPr marL="16002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SzTx/>
              <a:buFontTx/>
              <a:buNone/>
            </a:pPr>
            <a:endParaRPr kumimoji="1" lang="zh-CN" altLang="zh-CN" sz="2400" dirty="0">
              <a:solidFill>
                <a:schemeClr val="tx1"/>
              </a:solidFill>
              <a:latin typeface="Times New Roman" panose="02020603050405020304" pitchFamily="18" charset="0"/>
            </a:endParaRPr>
          </a:p>
        </p:txBody>
      </p:sp>
      <p:sp>
        <p:nvSpPr>
          <p:cNvPr id="46" name="TextBox 5">
            <a:extLst>
              <a:ext uri="{FF2B5EF4-FFF2-40B4-BE49-F238E27FC236}">
                <a16:creationId xmlns:a16="http://schemas.microsoft.com/office/drawing/2014/main" id="{69F7C0CC-A03D-414C-8D84-0997ED72BC78}"/>
              </a:ext>
            </a:extLst>
          </p:cNvPr>
          <p:cNvSpPr txBox="1"/>
          <p:nvPr/>
        </p:nvSpPr>
        <p:spPr>
          <a:xfrm>
            <a:off x="819834" y="5417833"/>
            <a:ext cx="7716838" cy="492443"/>
          </a:xfrm>
          <a:prstGeom prst="rect">
            <a:avLst/>
          </a:prstGeom>
          <a:noFill/>
        </p:spPr>
        <p:txBody>
          <a:bodyPr>
            <a:spAutoFit/>
          </a:bodyPr>
          <a:lstStyle/>
          <a:p>
            <a:pPr algn="ctr">
              <a:defRPr/>
            </a:pPr>
            <a:r>
              <a:rPr lang="zh-CN" altLang="en-US" sz="2600" dirty="0">
                <a:latin typeface="黑体" panose="02010609060101010101" pitchFamily="49" charset="-122"/>
                <a:ea typeface="黑体" panose="02010609060101010101" pitchFamily="49" charset="-122"/>
              </a:rPr>
              <a:t>掌握</a:t>
            </a:r>
            <a:r>
              <a:rPr lang="zh-CN" altLang="en-US" sz="2600" u="sng" dirty="0">
                <a:latin typeface="黑体" panose="02010609060101010101" pitchFamily="49" charset="-122"/>
                <a:ea typeface="黑体" panose="02010609060101010101" pitchFamily="49" charset="-122"/>
              </a:rPr>
              <a:t>单一企业</a:t>
            </a:r>
            <a:r>
              <a:rPr lang="zh-CN" altLang="en-US" sz="2600" dirty="0">
                <a:latin typeface="黑体" panose="02010609060101010101" pitchFamily="49" charset="-122"/>
                <a:ea typeface="黑体" panose="02010609060101010101" pitchFamily="49" charset="-122"/>
              </a:rPr>
              <a:t>所有经济业务的会计处理与财务报告</a:t>
            </a:r>
          </a:p>
        </p:txBody>
      </p:sp>
    </p:spTree>
    <p:extLst>
      <p:ext uri="{BB962C8B-B14F-4D97-AF65-F5344CB8AC3E}">
        <p14:creationId xmlns:p14="http://schemas.microsoft.com/office/powerpoint/2010/main" val="148337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500" fill="hold"/>
                                        <p:tgtEl>
                                          <p:spTgt spid="43"/>
                                        </p:tgtEl>
                                        <p:attrNameLst>
                                          <p:attrName>ppt_x</p:attrName>
                                        </p:attrNameLst>
                                      </p:cBhvr>
                                      <p:tavLst>
                                        <p:tav tm="0">
                                          <p:val>
                                            <p:strVal val="0-#ppt_w/2"/>
                                          </p:val>
                                        </p:tav>
                                        <p:tav tm="100000">
                                          <p:val>
                                            <p:strVal val="#ppt_x"/>
                                          </p:val>
                                        </p:tav>
                                      </p:tavLst>
                                    </p:anim>
                                    <p:anim calcmode="lin" valueType="num">
                                      <p:cBhvr additive="base">
                                        <p:cTn id="8" dur="500" fill="hold"/>
                                        <p:tgtEl>
                                          <p:spTgt spid="4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additive="base">
                                        <p:cTn id="12" dur="500" fill="hold"/>
                                        <p:tgtEl>
                                          <p:spTgt spid="44"/>
                                        </p:tgtEl>
                                        <p:attrNameLst>
                                          <p:attrName>ppt_x</p:attrName>
                                        </p:attrNameLst>
                                      </p:cBhvr>
                                      <p:tavLst>
                                        <p:tav tm="0">
                                          <p:val>
                                            <p:strVal val="0-#ppt_w/2"/>
                                          </p:val>
                                        </p:tav>
                                        <p:tav tm="100000">
                                          <p:val>
                                            <p:strVal val="#ppt_x"/>
                                          </p:val>
                                        </p:tav>
                                      </p:tavLst>
                                    </p:anim>
                                    <p:anim calcmode="lin" valueType="num">
                                      <p:cBhvr additive="base">
                                        <p:cTn id="13" dur="500" fill="hold"/>
                                        <p:tgtEl>
                                          <p:spTgt spid="4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46"/>
                                        </p:tgtEl>
                                        <p:attrNameLst>
                                          <p:attrName>style.visibility</p:attrName>
                                        </p:attrNameLst>
                                      </p:cBhvr>
                                      <p:to>
                                        <p:strVal val="visible"/>
                                      </p:to>
                                    </p:set>
                                    <p:animEffect transition="in" filter="blinds(horizontal)">
                                      <p:cBhvr>
                                        <p:cTn id="18"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utoUpdateAnimBg="0"/>
      <p:bldP spid="4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zh-CN" altLang="en-US" dirty="0"/>
              <a:t>高级财务会计</a:t>
            </a:r>
          </a:p>
        </p:txBody>
      </p:sp>
      <p:sp>
        <p:nvSpPr>
          <p:cNvPr id="47" name="Rectangle 2">
            <a:extLst>
              <a:ext uri="{FF2B5EF4-FFF2-40B4-BE49-F238E27FC236}">
                <a16:creationId xmlns:a16="http://schemas.microsoft.com/office/drawing/2014/main" id="{60E3DD87-1E4D-4778-AC9E-7ECE2236571D}"/>
              </a:ext>
            </a:extLst>
          </p:cNvPr>
          <p:cNvSpPr txBox="1">
            <a:spLocks noChangeArrowheads="1"/>
          </p:cNvSpPr>
          <p:nvPr/>
        </p:nvSpPr>
        <p:spPr bwMode="auto">
          <a:xfrm>
            <a:off x="1150938" y="2035969"/>
            <a:ext cx="5900737" cy="434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57175" indent="-257175" algn="l" rtl="0" eaLnBrk="0" fontAlgn="base" hangingPunct="0">
              <a:spcBef>
                <a:spcPct val="15000"/>
              </a:spcBef>
              <a:spcAft>
                <a:spcPct val="0"/>
              </a:spcAft>
              <a:buClr>
                <a:schemeClr val="folHlink"/>
              </a:buClr>
              <a:buSzPct val="60000"/>
              <a:buFont typeface="Wingdings" panose="05000000000000000000" pitchFamily="2" charset="2"/>
              <a:buChar char="n"/>
              <a:defRPr sz="2600" b="0">
                <a:solidFill>
                  <a:schemeClr val="tx1"/>
                </a:solidFill>
                <a:latin typeface="黑体" panose="02010609060101010101" pitchFamily="49" charset="-122"/>
                <a:ea typeface="黑体" panose="02010609060101010101" pitchFamily="49" charset="-122"/>
                <a:cs typeface="+mn-cs"/>
              </a:defRPr>
            </a:lvl1pPr>
            <a:lvl2pPr marL="557530" indent="-213995" algn="l" rtl="0" eaLnBrk="0" fontAlgn="base" hangingPunct="0">
              <a:spcBef>
                <a:spcPct val="15000"/>
              </a:spcBef>
              <a:spcAft>
                <a:spcPct val="0"/>
              </a:spcAft>
              <a:buClr>
                <a:schemeClr val="hlink"/>
              </a:buClr>
              <a:buSzPct val="55000"/>
              <a:buFont typeface="Wingdings" panose="05000000000000000000" pitchFamily="2" charset="2"/>
              <a:buChar char="n"/>
              <a:defRPr sz="2400" b="0">
                <a:solidFill>
                  <a:schemeClr val="tx1"/>
                </a:solidFill>
                <a:latin typeface="楷体_GB2312" panose="02010609030101010101" pitchFamily="49" charset="-122"/>
                <a:ea typeface="楷体_GB2312" panose="02010609030101010101" pitchFamily="49" charset="-122"/>
              </a:defRPr>
            </a:lvl2pPr>
            <a:lvl3pPr marL="857250" indent="-171450" algn="l" rtl="0" eaLnBrk="0" fontAlgn="base" hangingPunct="0">
              <a:spcBef>
                <a:spcPct val="15000"/>
              </a:spcBef>
              <a:spcAft>
                <a:spcPct val="0"/>
              </a:spcAft>
              <a:buClr>
                <a:schemeClr val="folHlink"/>
              </a:buClr>
              <a:buSzPct val="50000"/>
              <a:buFont typeface="Wingdings" panose="05000000000000000000" pitchFamily="2" charset="2"/>
              <a:buChar char="n"/>
              <a:defRPr sz="2000" b="0">
                <a:solidFill>
                  <a:schemeClr val="tx1"/>
                </a:solidFill>
                <a:latin typeface="+mn-ea"/>
                <a:ea typeface="+mn-ea"/>
              </a:defRPr>
            </a:lvl3pPr>
            <a:lvl4pPr marL="1200150" indent="-171450" algn="l" rtl="0" eaLnBrk="0" fontAlgn="base" hangingPunct="0">
              <a:spcBef>
                <a:spcPct val="15000"/>
              </a:spcBef>
              <a:spcAft>
                <a:spcPct val="0"/>
              </a:spcAft>
              <a:buClr>
                <a:schemeClr val="accent2"/>
              </a:buClr>
              <a:buSzPct val="55000"/>
              <a:buFont typeface="Wingdings" panose="05000000000000000000" pitchFamily="2" charset="2"/>
              <a:buChar char="n"/>
              <a:defRPr sz="1600" b="0">
                <a:solidFill>
                  <a:schemeClr val="tx1"/>
                </a:solidFill>
                <a:latin typeface="仿宋_GB2312" panose="02010609030101010101" pitchFamily="49" charset="-122"/>
                <a:ea typeface="仿宋_GB2312" panose="02010609030101010101" pitchFamily="49" charset="-122"/>
              </a:defRPr>
            </a:lvl4pPr>
            <a:lvl5pPr marL="1543050" indent="-171450" algn="l" rtl="0" eaLnBrk="0" fontAlgn="base" hangingPunct="0">
              <a:spcBef>
                <a:spcPct val="15000"/>
              </a:spcBef>
              <a:spcAft>
                <a:spcPct val="0"/>
              </a:spcAft>
              <a:buClr>
                <a:schemeClr val="accent1"/>
              </a:buClr>
              <a:buSzPct val="50000"/>
              <a:buFont typeface="Wingdings" panose="05000000000000000000" pitchFamily="2" charset="2"/>
              <a:buChar char="n"/>
              <a:defRPr sz="1500" b="0">
                <a:solidFill>
                  <a:schemeClr val="tx1"/>
                </a:solidFill>
                <a:latin typeface="黑体" panose="02010609060101010101" pitchFamily="49" charset="-122"/>
                <a:ea typeface="黑体" panose="02010609060101010101" pitchFamily="49" charset="-122"/>
              </a:defRPr>
            </a:lvl5pPr>
            <a:lvl6pPr marL="18859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6pPr>
            <a:lvl7pPr marL="22288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7pPr>
            <a:lvl8pPr marL="25717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8pPr>
            <a:lvl9pPr marL="29146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9pPr>
          </a:lstStyle>
          <a:p>
            <a:pPr>
              <a:buFontTx/>
              <a:buNone/>
              <a:defRPr/>
            </a:pPr>
            <a:r>
              <a:rPr lang="en-US" altLang="zh-CN" sz="3600" kern="0" dirty="0">
                <a:solidFill>
                  <a:schemeClr val="folHlink"/>
                </a:solidFill>
              </a:rPr>
              <a:t>   </a:t>
            </a:r>
            <a:r>
              <a:rPr lang="zh-CN" altLang="en-US" sz="3600" kern="0" dirty="0">
                <a:solidFill>
                  <a:schemeClr val="folHlink"/>
                </a:solidFill>
              </a:rPr>
              <a:t>高级财务会计</a:t>
            </a:r>
          </a:p>
        </p:txBody>
      </p:sp>
      <p:sp>
        <p:nvSpPr>
          <p:cNvPr id="48" name="AutoShape 3">
            <a:extLst>
              <a:ext uri="{FF2B5EF4-FFF2-40B4-BE49-F238E27FC236}">
                <a16:creationId xmlns:a16="http://schemas.microsoft.com/office/drawing/2014/main" id="{B3502D64-59B4-4CB9-B0B1-C32A573250FF}"/>
              </a:ext>
            </a:extLst>
          </p:cNvPr>
          <p:cNvSpPr>
            <a:spLocks noChangeArrowheads="1"/>
          </p:cNvSpPr>
          <p:nvPr/>
        </p:nvSpPr>
        <p:spPr bwMode="auto">
          <a:xfrm>
            <a:off x="2339752" y="2692400"/>
            <a:ext cx="457200" cy="1281112"/>
          </a:xfrm>
          <a:prstGeom prst="downArrow">
            <a:avLst>
              <a:gd name="adj1" fmla="val 50000"/>
              <a:gd name="adj2" fmla="val 70052"/>
            </a:avLst>
          </a:prstGeom>
          <a:solidFill>
            <a:schemeClr val="accent1"/>
          </a:solidFill>
          <a:ln w="12700" cap="sq">
            <a:solidFill>
              <a:schemeClr val="tx1"/>
            </a:solidFill>
            <a:miter lim="800000"/>
            <a:headEnd type="none" w="sm" len="sm"/>
            <a:tailEnd type="none" w="sm" len="sm"/>
          </a:ln>
          <a:effectLst/>
        </p:spPr>
        <p:txBody>
          <a:bodyPr wrap="none" anchor="ct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49" name="Text Box 4">
            <a:extLst>
              <a:ext uri="{FF2B5EF4-FFF2-40B4-BE49-F238E27FC236}">
                <a16:creationId xmlns:a16="http://schemas.microsoft.com/office/drawing/2014/main" id="{31DDED91-9CD6-4A0D-9777-5A5E08AE71B5}"/>
              </a:ext>
            </a:extLst>
          </p:cNvPr>
          <p:cNvSpPr txBox="1">
            <a:spLocks noChangeArrowheads="1"/>
          </p:cNvSpPr>
          <p:nvPr/>
        </p:nvSpPr>
        <p:spPr bwMode="auto">
          <a:xfrm>
            <a:off x="1150938" y="4121676"/>
            <a:ext cx="5229638"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SzPct val="100000"/>
              <a:buChar char="•"/>
              <a:defRPr sz="3200" b="1">
                <a:solidFill>
                  <a:schemeClr val="hlink"/>
                </a:solidFill>
                <a:latin typeface="Arial" panose="020B0604020202020204" pitchFamily="34" charset="0"/>
                <a:ea typeface="宋体" panose="02010600030101010101" pitchFamily="2" charset="-122"/>
              </a:defRPr>
            </a:lvl1pPr>
            <a:lvl2pPr marL="742950" indent="-285750">
              <a:spcBef>
                <a:spcPct val="20000"/>
              </a:spcBef>
              <a:buSzPct val="100000"/>
              <a:buChar char="–"/>
              <a:defRPr sz="2800" b="1">
                <a:solidFill>
                  <a:schemeClr val="tx2"/>
                </a:solidFill>
                <a:latin typeface="Arial" panose="020B0604020202020204" pitchFamily="34" charset="0"/>
                <a:ea typeface="宋体" panose="02010600030101010101" pitchFamily="2" charset="-122"/>
              </a:defRPr>
            </a:lvl2pPr>
            <a:lvl3pPr marL="1143000" indent="-228600">
              <a:spcBef>
                <a:spcPct val="20000"/>
              </a:spcBef>
              <a:buSzPct val="100000"/>
              <a:buChar char="•"/>
              <a:defRPr sz="2400" b="1">
                <a:solidFill>
                  <a:schemeClr val="folHlink"/>
                </a:solidFill>
                <a:latin typeface="Arial" panose="020B0604020202020204" pitchFamily="34" charset="0"/>
                <a:ea typeface="宋体" panose="02010600030101010101" pitchFamily="2" charset="-122"/>
              </a:defRPr>
            </a:lvl3pPr>
            <a:lvl4pPr marL="16002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SzTx/>
              <a:buFontTx/>
              <a:buNone/>
            </a:pPr>
            <a:r>
              <a:rPr lang="zh-CN" altLang="en-US" sz="2600" dirty="0">
                <a:solidFill>
                  <a:srgbClr val="FF6600"/>
                </a:solidFill>
                <a:latin typeface="黑体" panose="02010609060101010101" pitchFamily="49" charset="-122"/>
                <a:ea typeface="黑体" panose="02010609060101010101" pitchFamily="49" charset="-122"/>
              </a:rPr>
              <a:t>突破四个假设的特殊事项及业务的</a:t>
            </a:r>
            <a:r>
              <a:rPr lang="zh-CN" altLang="en-US" sz="2600" i="1" dirty="0">
                <a:latin typeface="黑体" panose="02010609060101010101" pitchFamily="49" charset="-122"/>
                <a:ea typeface="黑体" panose="02010609060101010101" pitchFamily="49" charset="-122"/>
              </a:rPr>
              <a:t>确认、</a:t>
            </a:r>
            <a:r>
              <a:rPr lang="zh-CN" altLang="en-US" sz="2600" i="1" dirty="0">
                <a:solidFill>
                  <a:schemeClr val="folHlink"/>
                </a:solidFill>
                <a:latin typeface="黑体" panose="02010609060101010101" pitchFamily="49" charset="-122"/>
                <a:ea typeface="黑体" panose="02010609060101010101" pitchFamily="49" charset="-122"/>
              </a:rPr>
              <a:t>计量</a:t>
            </a:r>
            <a:r>
              <a:rPr lang="zh-CN" altLang="en-US" sz="2600" i="1" dirty="0">
                <a:solidFill>
                  <a:srgbClr val="5025DB"/>
                </a:solidFill>
                <a:latin typeface="黑体" panose="02010609060101010101" pitchFamily="49" charset="-122"/>
                <a:ea typeface="黑体" panose="02010609060101010101" pitchFamily="49" charset="-122"/>
              </a:rPr>
              <a:t>、</a:t>
            </a:r>
            <a:r>
              <a:rPr lang="zh-CN" altLang="en-US" sz="2600" i="1" dirty="0">
                <a:latin typeface="黑体" panose="02010609060101010101" pitchFamily="49" charset="-122"/>
                <a:ea typeface="黑体" panose="02010609060101010101" pitchFamily="49" charset="-122"/>
              </a:rPr>
              <a:t>记录</a:t>
            </a:r>
            <a:r>
              <a:rPr lang="zh-CN" altLang="en-US" sz="2600" i="1" dirty="0">
                <a:solidFill>
                  <a:schemeClr val="folHlink"/>
                </a:solidFill>
                <a:latin typeface="黑体" panose="02010609060101010101" pitchFamily="49" charset="-122"/>
                <a:ea typeface="黑体" panose="02010609060101010101" pitchFamily="49" charset="-122"/>
              </a:rPr>
              <a:t>和报告</a:t>
            </a:r>
          </a:p>
        </p:txBody>
      </p:sp>
      <p:sp>
        <p:nvSpPr>
          <p:cNvPr id="50" name="Text Box 7">
            <a:extLst>
              <a:ext uri="{FF2B5EF4-FFF2-40B4-BE49-F238E27FC236}">
                <a16:creationId xmlns:a16="http://schemas.microsoft.com/office/drawing/2014/main" id="{1DD38634-A929-4EA5-9E8D-41FB5774A80B}"/>
              </a:ext>
            </a:extLst>
          </p:cNvPr>
          <p:cNvSpPr txBox="1">
            <a:spLocks noChangeArrowheads="1"/>
          </p:cNvSpPr>
          <p:nvPr/>
        </p:nvSpPr>
        <p:spPr bwMode="auto">
          <a:xfrm>
            <a:off x="1815827" y="2132856"/>
            <a:ext cx="2900189" cy="479877"/>
          </a:xfrm>
          <a:prstGeom prst="rect">
            <a:avLst/>
          </a:prstGeom>
          <a:noFill/>
          <a:ln w="952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SzPct val="100000"/>
              <a:buChar char="•"/>
              <a:defRPr sz="3200" b="1">
                <a:solidFill>
                  <a:schemeClr val="hlink"/>
                </a:solidFill>
                <a:latin typeface="Arial" panose="020B0604020202020204" pitchFamily="34" charset="0"/>
                <a:ea typeface="宋体" panose="02010600030101010101" pitchFamily="2" charset="-122"/>
              </a:defRPr>
            </a:lvl1pPr>
            <a:lvl2pPr marL="742950" indent="-285750">
              <a:spcBef>
                <a:spcPct val="20000"/>
              </a:spcBef>
              <a:buSzPct val="100000"/>
              <a:buChar char="–"/>
              <a:defRPr sz="2800" b="1">
                <a:solidFill>
                  <a:schemeClr val="tx2"/>
                </a:solidFill>
                <a:latin typeface="Arial" panose="020B0604020202020204" pitchFamily="34" charset="0"/>
                <a:ea typeface="宋体" panose="02010600030101010101" pitchFamily="2" charset="-122"/>
              </a:defRPr>
            </a:lvl2pPr>
            <a:lvl3pPr marL="1143000" indent="-228600">
              <a:spcBef>
                <a:spcPct val="20000"/>
              </a:spcBef>
              <a:buSzPct val="100000"/>
              <a:buChar char="•"/>
              <a:defRPr sz="2400" b="1">
                <a:solidFill>
                  <a:schemeClr val="folHlink"/>
                </a:solidFill>
                <a:latin typeface="Arial" panose="020B0604020202020204" pitchFamily="34" charset="0"/>
                <a:ea typeface="宋体" panose="02010600030101010101" pitchFamily="2" charset="-122"/>
              </a:defRPr>
            </a:lvl3pPr>
            <a:lvl4pPr marL="16002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SzTx/>
              <a:buFontTx/>
              <a:buNone/>
            </a:pPr>
            <a:endParaRPr kumimoji="1" lang="zh-CN" altLang="zh-CN" sz="2400">
              <a:solidFill>
                <a:schemeClr val="tx1"/>
              </a:solidFill>
              <a:latin typeface="Times New Roman" panose="02020603050405020304" pitchFamily="18" charset="0"/>
            </a:endParaRPr>
          </a:p>
        </p:txBody>
      </p:sp>
      <p:sp>
        <p:nvSpPr>
          <p:cNvPr id="51" name="AutoShape 9">
            <a:extLst>
              <a:ext uri="{FF2B5EF4-FFF2-40B4-BE49-F238E27FC236}">
                <a16:creationId xmlns:a16="http://schemas.microsoft.com/office/drawing/2014/main" id="{0ACBD054-869F-4E70-B6E2-060A87F62B8B}"/>
              </a:ext>
            </a:extLst>
          </p:cNvPr>
          <p:cNvSpPr>
            <a:spLocks noChangeArrowheads="1"/>
          </p:cNvSpPr>
          <p:nvPr/>
        </p:nvSpPr>
        <p:spPr bwMode="auto">
          <a:xfrm>
            <a:off x="4969456" y="2014724"/>
            <a:ext cx="3816425" cy="1776312"/>
          </a:xfrm>
          <a:prstGeom prst="wedgeRoundRectCallout">
            <a:avLst>
              <a:gd name="adj1" fmla="val -43764"/>
              <a:gd name="adj2" fmla="val 65347"/>
              <a:gd name="adj3" fmla="val 16667"/>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Char char="•"/>
              <a:defRPr sz="3200" b="1">
                <a:solidFill>
                  <a:schemeClr val="hlink"/>
                </a:solidFill>
                <a:latin typeface="Arial" panose="020B0604020202020204" pitchFamily="34" charset="0"/>
                <a:ea typeface="宋体" panose="02010600030101010101" pitchFamily="2" charset="-122"/>
              </a:defRPr>
            </a:lvl1pPr>
            <a:lvl2pPr marL="742950" indent="-285750">
              <a:spcBef>
                <a:spcPct val="20000"/>
              </a:spcBef>
              <a:buSzPct val="100000"/>
              <a:buChar char="–"/>
              <a:defRPr sz="2800" b="1">
                <a:solidFill>
                  <a:schemeClr val="tx2"/>
                </a:solidFill>
                <a:latin typeface="Arial" panose="020B0604020202020204" pitchFamily="34" charset="0"/>
                <a:ea typeface="宋体" panose="02010600030101010101" pitchFamily="2" charset="-122"/>
              </a:defRPr>
            </a:lvl2pPr>
            <a:lvl3pPr marL="1143000" indent="-228600">
              <a:spcBef>
                <a:spcPct val="20000"/>
              </a:spcBef>
              <a:buSzPct val="100000"/>
              <a:buChar char="•"/>
              <a:defRPr sz="2400" b="1">
                <a:solidFill>
                  <a:schemeClr val="folHlink"/>
                </a:solidFill>
                <a:latin typeface="Arial" panose="020B0604020202020204" pitchFamily="34" charset="0"/>
                <a:ea typeface="宋体" panose="02010600030101010101" pitchFamily="2" charset="-122"/>
              </a:defRPr>
            </a:lvl3pPr>
            <a:lvl4pPr marL="16002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zh-CN" altLang="en-US" sz="2600" dirty="0">
                <a:solidFill>
                  <a:schemeClr val="tx1"/>
                </a:solidFill>
                <a:latin typeface="黑体" panose="02010609060101010101" pitchFamily="49" charset="-122"/>
                <a:ea typeface="黑体" panose="02010609060101010101" pitchFamily="49" charset="-122"/>
              </a:rPr>
              <a:t>企业合并            </a:t>
            </a:r>
            <a:endParaRPr lang="en-US" altLang="zh-CN" sz="2600" dirty="0">
              <a:solidFill>
                <a:schemeClr val="tx1"/>
              </a:solidFill>
              <a:latin typeface="黑体" panose="02010609060101010101" pitchFamily="49" charset="-122"/>
              <a:ea typeface="黑体" panose="02010609060101010101" pitchFamily="49" charset="-122"/>
            </a:endParaRPr>
          </a:p>
          <a:p>
            <a:pPr>
              <a:spcBef>
                <a:spcPct val="0"/>
              </a:spcBef>
              <a:buSzTx/>
              <a:buFontTx/>
              <a:buNone/>
            </a:pPr>
            <a:r>
              <a:rPr lang="zh-CN" altLang="en-US" sz="2600" dirty="0">
                <a:solidFill>
                  <a:schemeClr val="tx1"/>
                </a:solidFill>
                <a:latin typeface="黑体" panose="02010609060101010101" pitchFamily="49" charset="-122"/>
                <a:ea typeface="黑体" panose="02010609060101010101" pitchFamily="49" charset="-122"/>
              </a:rPr>
              <a:t>合并财务报表</a:t>
            </a:r>
            <a:endParaRPr lang="en-US" altLang="zh-CN" sz="2600" dirty="0">
              <a:solidFill>
                <a:schemeClr val="tx1"/>
              </a:solidFill>
              <a:latin typeface="黑体" panose="02010609060101010101" pitchFamily="49" charset="-122"/>
              <a:ea typeface="黑体" panose="02010609060101010101" pitchFamily="49" charset="-122"/>
            </a:endParaRPr>
          </a:p>
          <a:p>
            <a:pPr>
              <a:spcBef>
                <a:spcPct val="0"/>
              </a:spcBef>
              <a:buSzTx/>
              <a:buFontTx/>
              <a:buNone/>
            </a:pPr>
            <a:r>
              <a:rPr lang="zh-CN" altLang="en-US" sz="2600" dirty="0">
                <a:solidFill>
                  <a:schemeClr val="tx1"/>
                </a:solidFill>
                <a:latin typeface="黑体" panose="02010609060101010101" pitchFamily="49" charset="-122"/>
                <a:ea typeface="黑体" panose="02010609060101010101" pitchFamily="49" charset="-122"/>
              </a:rPr>
              <a:t>外币会计</a:t>
            </a:r>
            <a:endParaRPr lang="en-US" altLang="zh-CN" sz="2600" dirty="0">
              <a:solidFill>
                <a:schemeClr val="tx1"/>
              </a:solidFill>
              <a:latin typeface="黑体" panose="02010609060101010101" pitchFamily="49" charset="-122"/>
              <a:ea typeface="黑体" panose="02010609060101010101" pitchFamily="49" charset="-122"/>
            </a:endParaRPr>
          </a:p>
          <a:p>
            <a:pPr>
              <a:spcBef>
                <a:spcPct val="0"/>
              </a:spcBef>
              <a:buSzTx/>
              <a:buFontTx/>
              <a:buNone/>
            </a:pPr>
            <a:r>
              <a:rPr lang="zh-CN" altLang="en-US" sz="2600" dirty="0">
                <a:solidFill>
                  <a:schemeClr val="tx1"/>
                </a:solidFill>
                <a:latin typeface="黑体" panose="02010609060101010101" pitchFamily="49" charset="-122"/>
                <a:ea typeface="黑体" panose="02010609060101010101" pitchFamily="49" charset="-122"/>
              </a:rPr>
              <a:t>衍生工具会计，等等</a:t>
            </a:r>
          </a:p>
        </p:txBody>
      </p:sp>
      <p:sp>
        <p:nvSpPr>
          <p:cNvPr id="52" name="TextBox 6">
            <a:extLst>
              <a:ext uri="{FF2B5EF4-FFF2-40B4-BE49-F238E27FC236}">
                <a16:creationId xmlns:a16="http://schemas.microsoft.com/office/drawing/2014/main" id="{664A3876-C882-433E-AC45-DCC9C5BC8F71}"/>
              </a:ext>
            </a:extLst>
          </p:cNvPr>
          <p:cNvSpPr txBox="1"/>
          <p:nvPr/>
        </p:nvSpPr>
        <p:spPr>
          <a:xfrm>
            <a:off x="925417" y="5640288"/>
            <a:ext cx="7716838" cy="492443"/>
          </a:xfrm>
          <a:prstGeom prst="rect">
            <a:avLst/>
          </a:prstGeom>
          <a:noFill/>
        </p:spPr>
        <p:txBody>
          <a:bodyPr>
            <a:spAutoFit/>
          </a:bodyPr>
          <a:lstStyle/>
          <a:p>
            <a:pPr algn="ctr">
              <a:defRPr/>
            </a:pPr>
            <a:r>
              <a:rPr lang="zh-CN" altLang="en-US" sz="2600" dirty="0">
                <a:latin typeface="黑体" panose="02010609060101010101" pitchFamily="49" charset="-122"/>
                <a:ea typeface="黑体" panose="02010609060101010101" pitchFamily="49" charset="-122"/>
              </a:rPr>
              <a:t>掌握</a:t>
            </a:r>
            <a:r>
              <a:rPr lang="zh-CN" altLang="en-US" sz="2600" u="sng" dirty="0">
                <a:latin typeface="黑体" panose="02010609060101010101" pitchFamily="49" charset="-122"/>
                <a:ea typeface="黑体" panose="02010609060101010101" pitchFamily="49" charset="-122"/>
              </a:rPr>
              <a:t>企业集团</a:t>
            </a:r>
            <a:r>
              <a:rPr lang="zh-CN" altLang="en-US" sz="2600" dirty="0">
                <a:latin typeface="黑体" panose="02010609060101010101" pitchFamily="49" charset="-122"/>
                <a:ea typeface="黑体" panose="02010609060101010101" pitchFamily="49" charset="-122"/>
              </a:rPr>
              <a:t>所有经济业务的会计处理与财务报告</a:t>
            </a:r>
          </a:p>
        </p:txBody>
      </p:sp>
    </p:spTree>
    <p:extLst>
      <p:ext uri="{BB962C8B-B14F-4D97-AF65-F5344CB8AC3E}">
        <p14:creationId xmlns:p14="http://schemas.microsoft.com/office/powerpoint/2010/main" val="3879976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additive="base">
                                        <p:cTn id="7" dur="500" fill="hold"/>
                                        <p:tgtEl>
                                          <p:spTgt spid="50"/>
                                        </p:tgtEl>
                                        <p:attrNameLst>
                                          <p:attrName>ppt_x</p:attrName>
                                        </p:attrNameLst>
                                      </p:cBhvr>
                                      <p:tavLst>
                                        <p:tav tm="0">
                                          <p:val>
                                            <p:strVal val="0-#ppt_w/2"/>
                                          </p:val>
                                        </p:tav>
                                        <p:tav tm="100000">
                                          <p:val>
                                            <p:strVal val="#ppt_x"/>
                                          </p:val>
                                        </p:tav>
                                      </p:tavLst>
                                    </p:anim>
                                    <p:anim calcmode="lin" valueType="num">
                                      <p:cBhvr additive="base">
                                        <p:cTn id="8" dur="500" fill="hold"/>
                                        <p:tgtEl>
                                          <p:spTgt spid="5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8"/>
                                        </p:tgtEl>
                                        <p:attrNameLst>
                                          <p:attrName>style.visibility</p:attrName>
                                        </p:attrNameLst>
                                      </p:cBhvr>
                                      <p:to>
                                        <p:strVal val="visible"/>
                                      </p:to>
                                    </p:set>
                                    <p:anim calcmode="lin" valueType="num">
                                      <p:cBhvr additive="base">
                                        <p:cTn id="13" dur="500" fill="hold"/>
                                        <p:tgtEl>
                                          <p:spTgt spid="48"/>
                                        </p:tgtEl>
                                        <p:attrNameLst>
                                          <p:attrName>ppt_x</p:attrName>
                                        </p:attrNameLst>
                                      </p:cBhvr>
                                      <p:tavLst>
                                        <p:tav tm="0">
                                          <p:val>
                                            <p:strVal val="0-#ppt_w/2"/>
                                          </p:val>
                                        </p:tav>
                                        <p:tav tm="100000">
                                          <p:val>
                                            <p:strVal val="#ppt_x"/>
                                          </p:val>
                                        </p:tav>
                                      </p:tavLst>
                                    </p:anim>
                                    <p:anim calcmode="lin" valueType="num">
                                      <p:cBhvr additive="base">
                                        <p:cTn id="14" dur="500" fill="hold"/>
                                        <p:tgtEl>
                                          <p:spTgt spid="48"/>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 presetClass="entr" presetSubtype="8" fill="hold" grpId="0" nodeType="afterEffect">
                                  <p:stCondLst>
                                    <p:cond delay="0"/>
                                  </p:stCondLst>
                                  <p:childTnLst>
                                    <p:set>
                                      <p:cBhvr>
                                        <p:cTn id="17" dur="1" fill="hold">
                                          <p:stCondLst>
                                            <p:cond delay="0"/>
                                          </p:stCondLst>
                                        </p:cTn>
                                        <p:tgtEl>
                                          <p:spTgt spid="49"/>
                                        </p:tgtEl>
                                        <p:attrNameLst>
                                          <p:attrName>style.visibility</p:attrName>
                                        </p:attrNameLst>
                                      </p:cBhvr>
                                      <p:to>
                                        <p:strVal val="visible"/>
                                      </p:to>
                                    </p:set>
                                    <p:anim calcmode="lin" valueType="num">
                                      <p:cBhvr additive="base">
                                        <p:cTn id="18" dur="500" fill="hold"/>
                                        <p:tgtEl>
                                          <p:spTgt spid="49"/>
                                        </p:tgtEl>
                                        <p:attrNameLst>
                                          <p:attrName>ppt_x</p:attrName>
                                        </p:attrNameLst>
                                      </p:cBhvr>
                                      <p:tavLst>
                                        <p:tav tm="0">
                                          <p:val>
                                            <p:strVal val="0-#ppt_w/2"/>
                                          </p:val>
                                        </p:tav>
                                        <p:tav tm="100000">
                                          <p:val>
                                            <p:strVal val="#ppt_x"/>
                                          </p:val>
                                        </p:tav>
                                      </p:tavLst>
                                    </p:anim>
                                    <p:anim calcmode="lin" valueType="num">
                                      <p:cBhvr additive="base">
                                        <p:cTn id="19" dur="500" fill="hold"/>
                                        <p:tgtEl>
                                          <p:spTgt spid="49"/>
                                        </p:tgtEl>
                                        <p:attrNameLst>
                                          <p:attrName>ppt_y</p:attrName>
                                        </p:attrNameLst>
                                      </p:cBhvr>
                                      <p:tavLst>
                                        <p:tav tm="0">
                                          <p:val>
                                            <p:strVal val="#ppt_y"/>
                                          </p:val>
                                        </p:tav>
                                        <p:tav tm="100000">
                                          <p:val>
                                            <p:strVal val="#ppt_y"/>
                                          </p:val>
                                        </p:tav>
                                      </p:tavLst>
                                    </p:anim>
                                  </p:childTnLst>
                                </p:cTn>
                              </p:par>
                            </p:childTnLst>
                          </p:cTn>
                        </p:par>
                        <p:par>
                          <p:cTn id="20" fill="hold">
                            <p:stCondLst>
                              <p:cond delay="1000"/>
                            </p:stCondLst>
                            <p:childTnLst>
                              <p:par>
                                <p:cTn id="21" presetID="2" presetClass="entr" presetSubtype="2" fill="hold" grpId="0" nodeType="afterEffect">
                                  <p:stCondLst>
                                    <p:cond delay="0"/>
                                  </p:stCondLst>
                                  <p:childTnLst>
                                    <p:set>
                                      <p:cBhvr>
                                        <p:cTn id="22" dur="1" fill="hold">
                                          <p:stCondLst>
                                            <p:cond delay="0"/>
                                          </p:stCondLst>
                                        </p:cTn>
                                        <p:tgtEl>
                                          <p:spTgt spid="51"/>
                                        </p:tgtEl>
                                        <p:attrNameLst>
                                          <p:attrName>style.visibility</p:attrName>
                                        </p:attrNameLst>
                                      </p:cBhvr>
                                      <p:to>
                                        <p:strVal val="visible"/>
                                      </p:to>
                                    </p:set>
                                    <p:anim calcmode="lin" valueType="num">
                                      <p:cBhvr additive="base">
                                        <p:cTn id="23" dur="500" fill="hold"/>
                                        <p:tgtEl>
                                          <p:spTgt spid="51"/>
                                        </p:tgtEl>
                                        <p:attrNameLst>
                                          <p:attrName>ppt_x</p:attrName>
                                        </p:attrNameLst>
                                      </p:cBhvr>
                                      <p:tavLst>
                                        <p:tav tm="0">
                                          <p:val>
                                            <p:strVal val="1+#ppt_w/2"/>
                                          </p:val>
                                        </p:tav>
                                        <p:tav tm="100000">
                                          <p:val>
                                            <p:strVal val="#ppt_x"/>
                                          </p:val>
                                        </p:tav>
                                      </p:tavLst>
                                    </p:anim>
                                    <p:anim calcmode="lin" valueType="num">
                                      <p:cBhvr additive="base">
                                        <p:cTn id="24" dur="500" fill="hold"/>
                                        <p:tgtEl>
                                          <p:spTgt spid="51"/>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52"/>
                                        </p:tgtEl>
                                        <p:attrNameLst>
                                          <p:attrName>style.visibility</p:attrName>
                                        </p:attrNameLst>
                                      </p:cBhvr>
                                      <p:to>
                                        <p:strVal val="visible"/>
                                      </p:to>
                                    </p:set>
                                    <p:animEffect transition="in" filter="blinds(horizontal)">
                                      <p:cBhvr>
                                        <p:cTn id="29"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9" grpId="0" autoUpdateAnimBg="0"/>
      <p:bldP spid="50" grpId="0" animBg="1" autoUpdateAnimBg="0"/>
      <p:bldP spid="51" grpId="0" animBg="1"/>
      <p:bldP spid="5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课程资料</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教材：</a:t>
            </a:r>
          </a:p>
          <a:p>
            <a:pPr lvl="1"/>
            <a:r>
              <a:rPr lang="en-US" altLang="zh-CN" dirty="0"/>
              <a:t>《</a:t>
            </a:r>
            <a:r>
              <a:rPr lang="zh-CN" altLang="en-US" dirty="0"/>
              <a:t>中级财务会计</a:t>
            </a:r>
            <a:r>
              <a:rPr lang="en-US" altLang="zh-CN" dirty="0"/>
              <a:t>》</a:t>
            </a:r>
            <a:r>
              <a:rPr lang="zh-CN" altLang="en-US" dirty="0"/>
              <a:t>，毛新述主编，清华大学出版社，</a:t>
            </a:r>
            <a:r>
              <a:rPr lang="en-US" altLang="zh-CN" dirty="0"/>
              <a:t>2020</a:t>
            </a:r>
            <a:r>
              <a:rPr lang="zh-CN" altLang="en-US" dirty="0"/>
              <a:t>年</a:t>
            </a:r>
            <a:r>
              <a:rPr lang="en-US" altLang="zh-CN" dirty="0"/>
              <a:t>2</a:t>
            </a:r>
            <a:r>
              <a:rPr lang="zh-CN" altLang="en-US" dirty="0"/>
              <a:t>月出版</a:t>
            </a:r>
          </a:p>
          <a:p>
            <a:r>
              <a:rPr lang="zh-CN" altLang="en-US" dirty="0"/>
              <a:t>补充材料</a:t>
            </a:r>
          </a:p>
          <a:p>
            <a:pPr lvl="1"/>
            <a:r>
              <a:rPr lang="zh-CN" altLang="en-US" dirty="0"/>
              <a:t> 上市公司年报下载地址</a:t>
            </a:r>
            <a:r>
              <a:rPr lang="en-US" altLang="zh-CN" dirty="0"/>
              <a:t>: </a:t>
            </a:r>
          </a:p>
          <a:p>
            <a:pPr lvl="2"/>
            <a:r>
              <a:rPr lang="en-US" altLang="zh-CN" dirty="0">
                <a:latin typeface="Times New Roman" panose="02020603050405020304" pitchFamily="18" charset="0"/>
                <a:cs typeface="Times New Roman" panose="02020603050405020304" pitchFamily="18" charset="0"/>
              </a:rPr>
              <a:t>http://www.cninfo.com.cn/disclosure/shmb.html</a:t>
            </a:r>
          </a:p>
          <a:p>
            <a:pPr lvl="2"/>
            <a:r>
              <a:rPr lang="zh-CN" altLang="en-US" dirty="0"/>
              <a:t>比如说贵州茅台、五粮液，格力电器、美的集团最新年报</a:t>
            </a:r>
          </a:p>
        </p:txBody>
      </p:sp>
    </p:spTree>
    <p:extLst>
      <p:ext uri="{BB962C8B-B14F-4D97-AF65-F5344CB8AC3E}">
        <p14:creationId xmlns:p14="http://schemas.microsoft.com/office/powerpoint/2010/main" val="258062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学生行为规范</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82688" y="2017713"/>
            <a:ext cx="7421760" cy="4114800"/>
          </a:xfrm>
        </p:spPr>
        <p:txBody>
          <a:bodyPr/>
          <a:lstStyle/>
          <a:p>
            <a:r>
              <a:rPr lang="zh-CN" altLang="en-US" dirty="0"/>
              <a:t>在相互尊重的基础上，学生必须做到以下几点：</a:t>
            </a:r>
          </a:p>
          <a:p>
            <a:pPr lvl="1">
              <a:lnSpc>
                <a:spcPct val="150000"/>
              </a:lnSpc>
            </a:pPr>
            <a:r>
              <a:rPr lang="en-US" altLang="zh-CN" dirty="0"/>
              <a:t>1.</a:t>
            </a:r>
            <a:r>
              <a:rPr lang="zh-CN" altLang="en-US" dirty="0"/>
              <a:t>不缺席</a:t>
            </a:r>
            <a:r>
              <a:rPr lang="en-US" altLang="zh-CN" dirty="0"/>
              <a:t>: </a:t>
            </a:r>
            <a:r>
              <a:rPr lang="zh-CN" altLang="en-US" dirty="0"/>
              <a:t>所有学生应该出勤，并积极参与，这样才能受益</a:t>
            </a:r>
          </a:p>
          <a:p>
            <a:pPr lvl="1">
              <a:lnSpc>
                <a:spcPct val="150000"/>
              </a:lnSpc>
            </a:pPr>
            <a:r>
              <a:rPr lang="en-US" altLang="zh-CN" dirty="0"/>
              <a:t>2.</a:t>
            </a:r>
            <a:r>
              <a:rPr lang="zh-CN" altLang="en-US" dirty="0"/>
              <a:t>不迟到</a:t>
            </a:r>
          </a:p>
          <a:p>
            <a:pPr lvl="1">
              <a:lnSpc>
                <a:spcPct val="150000"/>
              </a:lnSpc>
            </a:pPr>
            <a:r>
              <a:rPr lang="en-US" altLang="zh-CN" dirty="0"/>
              <a:t>3.</a:t>
            </a:r>
            <a:r>
              <a:rPr lang="zh-CN" altLang="en-US" dirty="0"/>
              <a:t>干扰最小化，不使用手机</a:t>
            </a:r>
          </a:p>
          <a:p>
            <a:pPr lvl="1">
              <a:lnSpc>
                <a:spcPct val="150000"/>
              </a:lnSpc>
            </a:pPr>
            <a:r>
              <a:rPr lang="en-US" altLang="zh-CN" dirty="0"/>
              <a:t>4.</a:t>
            </a:r>
            <a:r>
              <a:rPr lang="zh-CN" altLang="en-US" dirty="0"/>
              <a:t>课前预习与课后复习</a:t>
            </a:r>
          </a:p>
          <a:p>
            <a:pPr lvl="1">
              <a:lnSpc>
                <a:spcPct val="150000"/>
              </a:lnSpc>
            </a:pPr>
            <a:r>
              <a:rPr lang="en-US" altLang="zh-CN" dirty="0"/>
              <a:t>5.</a:t>
            </a:r>
            <a:r>
              <a:rPr lang="zh-CN" altLang="en-US" dirty="0"/>
              <a:t>独立完成作业</a:t>
            </a:r>
          </a:p>
        </p:txBody>
      </p:sp>
    </p:spTree>
    <p:extLst>
      <p:ext uri="{BB962C8B-B14F-4D97-AF65-F5344CB8AC3E}">
        <p14:creationId xmlns:p14="http://schemas.microsoft.com/office/powerpoint/2010/main" val="535804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关于考试</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期末考试占</a:t>
            </a:r>
            <a:r>
              <a:rPr lang="en-US" altLang="zh-CN" dirty="0"/>
              <a:t>70%</a:t>
            </a:r>
          </a:p>
          <a:p>
            <a:r>
              <a:rPr lang="zh-CN" altLang="en-US" dirty="0"/>
              <a:t>平时成绩占</a:t>
            </a:r>
            <a:r>
              <a:rPr lang="en-US" altLang="zh-CN" dirty="0"/>
              <a:t>30%</a:t>
            </a:r>
          </a:p>
          <a:p>
            <a:pPr lvl="1"/>
            <a:r>
              <a:rPr lang="zh-CN" altLang="en-US" dirty="0"/>
              <a:t>作业                             </a:t>
            </a:r>
            <a:r>
              <a:rPr lang="en-US" altLang="zh-CN" dirty="0"/>
              <a:t>10</a:t>
            </a:r>
          </a:p>
          <a:p>
            <a:pPr lvl="1"/>
            <a:r>
              <a:rPr lang="zh-CN" altLang="en-US" dirty="0"/>
              <a:t>出勤与回答问题的积极程度         </a:t>
            </a:r>
            <a:r>
              <a:rPr lang="en-US" altLang="zh-CN" dirty="0"/>
              <a:t>10</a:t>
            </a:r>
          </a:p>
          <a:p>
            <a:pPr lvl="1"/>
            <a:r>
              <a:rPr lang="zh-CN" altLang="en-US" dirty="0"/>
              <a:t>期中考试                 </a:t>
            </a:r>
            <a:r>
              <a:rPr lang="en-US" altLang="zh-CN" dirty="0"/>
              <a:t>		</a:t>
            </a:r>
            <a:r>
              <a:rPr lang="zh-CN" altLang="en-US" dirty="0"/>
              <a:t> </a:t>
            </a:r>
            <a:r>
              <a:rPr lang="en-US" altLang="zh-CN" dirty="0"/>
              <a:t>10</a:t>
            </a:r>
          </a:p>
        </p:txBody>
      </p:sp>
    </p:spTree>
    <p:extLst>
      <p:ext uri="{BB962C8B-B14F-4D97-AF65-F5344CB8AC3E}">
        <p14:creationId xmlns:p14="http://schemas.microsoft.com/office/powerpoint/2010/main" val="3940576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a:xfrm>
            <a:off x="1818323" y="2028349"/>
            <a:ext cx="5829300" cy="3321368"/>
          </a:xfrm>
        </p:spPr>
        <p:txBody>
          <a:bodyPr/>
          <a:lstStyle/>
          <a:p>
            <a:pPr eaLnBrk="1" hangingPunct="1"/>
            <a:endParaRPr lang="en-US" altLang="zh-CN" dirty="0"/>
          </a:p>
          <a:p>
            <a:pPr eaLnBrk="1" hangingPunct="1"/>
            <a:endParaRPr lang="en-US" altLang="zh-CN" dirty="0"/>
          </a:p>
          <a:p>
            <a:pPr algn="ctr" eaLnBrk="1" hangingPunct="1"/>
            <a:r>
              <a:rPr lang="zh-CN" altLang="en-US" sz="3300" dirty="0">
                <a:latin typeface="黑体" panose="02010609060101010101" pitchFamily="2" charset="-122"/>
                <a:ea typeface="黑体" panose="02010609060101010101" pitchFamily="2" charset="-122"/>
                <a:cs typeface="黑体" panose="02010609060101010101" pitchFamily="2" charset="-122"/>
              </a:rPr>
              <a:t>第一章   总论</a:t>
            </a:r>
          </a:p>
        </p:txBody>
      </p:sp>
    </p:spTree>
    <p:extLst>
      <p:ext uri="{BB962C8B-B14F-4D97-AF65-F5344CB8AC3E}">
        <p14:creationId xmlns:p14="http://schemas.microsoft.com/office/powerpoint/2010/main" val="1379908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en-US" altLang="zh-CN" dirty="0"/>
              <a:t>1.1 </a:t>
            </a:r>
            <a:r>
              <a:rPr lang="zh-CN" altLang="en-US" dirty="0"/>
              <a:t>财务会计概述</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会计的产生与发展</a:t>
            </a:r>
          </a:p>
          <a:p>
            <a:pPr lvl="1"/>
            <a:r>
              <a:rPr lang="zh-CN" altLang="en-US" dirty="0"/>
              <a:t>会计与会计学科的历史源远流长，它的历史起点可以追溯到人类的史前时期。在中国、巴比伦、埃及、印度、希腊，以及在世界上其他古老的国度里，其会计的发展都经历了这样一个时代</a:t>
            </a:r>
            <a:r>
              <a:rPr lang="en-US" altLang="zh-CN" dirty="0"/>
              <a:t>——</a:t>
            </a:r>
            <a:r>
              <a:rPr lang="zh-CN" altLang="en-US" dirty="0"/>
              <a:t>人类社会的原始计量、记录时代。正因为人类的会计有着它闪闪发光的历史起点，因而，方造就了它光辉灿烂、万里鹏程的未来。</a:t>
            </a:r>
          </a:p>
          <a:p>
            <a:pPr lvl="1"/>
            <a:r>
              <a:rPr lang="en-US" altLang="zh-CN" dirty="0"/>
              <a:t>——</a:t>
            </a:r>
            <a:r>
              <a:rPr lang="zh-CN" altLang="en-US" dirty="0"/>
              <a:t>引自郭道扬：</a:t>
            </a:r>
            <a:r>
              <a:rPr lang="en-US" altLang="zh-CN" dirty="0"/>
              <a:t>《</a:t>
            </a:r>
            <a:r>
              <a:rPr lang="zh-CN" altLang="en-US" dirty="0"/>
              <a:t>会计史研究：历史 现时 未来</a:t>
            </a:r>
            <a:r>
              <a:rPr lang="en-US" altLang="zh-CN" dirty="0"/>
              <a:t>》</a:t>
            </a:r>
            <a:r>
              <a:rPr lang="zh-CN" altLang="en-US" dirty="0"/>
              <a:t>（第一卷）</a:t>
            </a:r>
          </a:p>
        </p:txBody>
      </p:sp>
    </p:spTree>
    <p:extLst>
      <p:ext uri="{BB962C8B-B14F-4D97-AF65-F5344CB8AC3E}">
        <p14:creationId xmlns:p14="http://schemas.microsoft.com/office/powerpoint/2010/main" val="297775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A79AF6-00AB-44C6-9969-AD4566FE368A}"/>
              </a:ext>
            </a:extLst>
          </p:cNvPr>
          <p:cNvSpPr>
            <a:spLocks noGrp="1"/>
          </p:cNvSpPr>
          <p:nvPr>
            <p:ph type="title"/>
          </p:nvPr>
        </p:nvSpPr>
        <p:spPr/>
        <p:txBody>
          <a:bodyPr/>
          <a:lstStyle/>
          <a:p>
            <a:r>
              <a:rPr lang="zh-CN" altLang="en-US" dirty="0"/>
              <a:t>会计的产生与发展</a:t>
            </a:r>
          </a:p>
        </p:txBody>
      </p:sp>
      <p:sp>
        <p:nvSpPr>
          <p:cNvPr id="3" name="内容占位符 2">
            <a:extLst>
              <a:ext uri="{FF2B5EF4-FFF2-40B4-BE49-F238E27FC236}">
                <a16:creationId xmlns:a16="http://schemas.microsoft.com/office/drawing/2014/main" id="{0C34C910-4BBF-4217-B24E-DB72D9352B80}"/>
              </a:ext>
            </a:extLst>
          </p:cNvPr>
          <p:cNvSpPr>
            <a:spLocks noGrp="1"/>
          </p:cNvSpPr>
          <p:nvPr>
            <p:ph idx="1"/>
          </p:nvPr>
        </p:nvSpPr>
        <p:spPr/>
        <p:txBody>
          <a:bodyPr/>
          <a:lstStyle/>
          <a:p>
            <a:pPr indent="266700" algn="l"/>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近代会计应社会生产的发展和经济管理的要求而产生，并随着社会经济、科学技术、社会文化与教育发展水平，以及社会政治制度发展而发展并不断完善。</a:t>
            </a:r>
            <a:r>
              <a:rPr lang="zh-CN" altLang="zh-CN" sz="1800" kern="100" dirty="0">
                <a:effectLst/>
                <a:latin typeface="Times New Roman" panose="02020603050405020304" pitchFamily="18" charset="0"/>
                <a:ea typeface="宋体" panose="02010600030101010101" pitchFamily="2" charset="-122"/>
              </a:rPr>
              <a:t>反过来，</a:t>
            </a:r>
            <a:r>
              <a:rPr lang="zh-CN" altLang="zh-CN" sz="1800" b="1" kern="100" dirty="0">
                <a:effectLst/>
              </a:rPr>
              <a:t>会计</a:t>
            </a:r>
            <a:r>
              <a:rPr lang="zh-CN" altLang="zh-CN" sz="1800" b="1" kern="0" dirty="0">
                <a:effectLst/>
                <a:cs typeface="AdobeHeitiStd-Regular"/>
              </a:rPr>
              <a:t>又深刻影响着经济、政治、社会、文化等的发展和变革。</a:t>
            </a:r>
            <a:r>
              <a:rPr lang="zh-CN" altLang="zh-CN" sz="1800" kern="0" dirty="0">
                <a:effectLst/>
                <a:latin typeface="Times New Roman" panose="02020603050405020304" pitchFamily="18" charset="0"/>
                <a:ea typeface="宋体" panose="02010600030101010101" pitchFamily="2" charset="-122"/>
                <a:cs typeface="AdobeHeitiStd-Regular"/>
              </a:rPr>
              <a:t>正如《会计史研究：历史·现时·未来》（第一卷，郭道扬著，</a:t>
            </a:r>
            <a:r>
              <a:rPr lang="en-US" altLang="zh-CN" sz="1800" kern="0" dirty="0">
                <a:effectLst/>
                <a:latin typeface="Times New Roman" panose="02020603050405020304" pitchFamily="18" charset="0"/>
                <a:ea typeface="宋体" panose="02010600030101010101" pitchFamily="2" charset="-122"/>
                <a:cs typeface="AdobeHeitiStd-Regular"/>
              </a:rPr>
              <a:t>2004</a:t>
            </a:r>
            <a:r>
              <a:rPr lang="zh-CN" altLang="zh-CN" sz="1800" kern="0" dirty="0">
                <a:effectLst/>
                <a:latin typeface="Times New Roman" panose="02020603050405020304" pitchFamily="18" charset="0"/>
                <a:ea typeface="宋体" panose="02010600030101010101" pitchFamily="2" charset="-122"/>
                <a:cs typeface="AdobeHeitiStd-Regular"/>
              </a:rPr>
              <a:t>）所述：</a:t>
            </a:r>
            <a:endParaRPr lang="zh-CN" altLang="zh-CN" sz="1800" kern="100" dirty="0">
              <a:effectLst/>
              <a:latin typeface="Times New Roman" panose="02020603050405020304" pitchFamily="18" charset="0"/>
              <a:ea typeface="宋体" panose="02010600030101010101" pitchFamily="2" charset="-122"/>
            </a:endParaRPr>
          </a:p>
          <a:p>
            <a:pPr indent="266700" algn="l"/>
            <a:r>
              <a:rPr lang="zh-CN" altLang="zh-CN" sz="1800" kern="100" dirty="0">
                <a:effectLst/>
                <a:latin typeface="Times New Roman" panose="02020603050405020304" pitchFamily="18" charset="0"/>
                <a:ea typeface="楷体_GB2312" panose="02010609030101010101" pitchFamily="49" charset="-122"/>
                <a:cs typeface="MingLiU" panose="02020509000000000000" pitchFamily="49" charset="-120"/>
              </a:rPr>
              <a:t>一部会计发展史表明，自有天下之</a:t>
            </a:r>
            <a:r>
              <a:rPr lang="zh-CN" altLang="zh-CN" sz="1800" b="1" kern="100" dirty="0">
                <a:effectLst/>
                <a:latin typeface="Times New Roman" panose="02020603050405020304" pitchFamily="18" charset="0"/>
                <a:ea typeface="楷体_GB2312" panose="02010609030101010101" pitchFamily="49" charset="-122"/>
                <a:cs typeface="MingLiU" panose="02020509000000000000" pitchFamily="49" charset="-120"/>
              </a:rPr>
              <a:t>经济</a:t>
            </a:r>
            <a:r>
              <a:rPr lang="zh-CN" altLang="zh-CN" sz="1800" kern="100" dirty="0">
                <a:effectLst/>
                <a:latin typeface="Times New Roman" panose="02020603050405020304" pitchFamily="18" charset="0"/>
                <a:ea typeface="楷体_GB2312" panose="02010609030101010101" pitchFamily="49" charset="-122"/>
                <a:cs typeface="MingLiU" panose="02020509000000000000" pitchFamily="49" charset="-120"/>
              </a:rPr>
              <a:t>，便必有天下之会计，经济世界有多大，会计世界也便会有多大。一部会计发展史还表明，自从有了</a:t>
            </a:r>
            <a:r>
              <a:rPr lang="zh-CN" altLang="zh-CN" sz="1800" b="1" kern="100" dirty="0">
                <a:effectLst/>
                <a:latin typeface="Times New Roman" panose="02020603050405020304" pitchFamily="18" charset="0"/>
                <a:ea typeface="楷体_GB2312" panose="02010609030101010101" pitchFamily="49" charset="-122"/>
                <a:cs typeface="MingLiU" panose="02020509000000000000" pitchFamily="49" charset="-120"/>
              </a:rPr>
              <a:t>国家</a:t>
            </a:r>
            <a:r>
              <a:rPr lang="zh-CN" altLang="zh-CN" sz="1800" kern="100" dirty="0">
                <a:effectLst/>
                <a:latin typeface="Times New Roman" panose="02020603050405020304" pitchFamily="18" charset="0"/>
                <a:ea typeface="楷体_GB2312" panose="02010609030101010101" pitchFamily="49" charset="-122"/>
                <a:cs typeface="MingLiU" panose="02020509000000000000" pitchFamily="49" charset="-120"/>
              </a:rPr>
              <a:t>，国家便离不开会计，会计工作牵系着国家之兴衰，政权之安危；自从有了</a:t>
            </a:r>
            <a:r>
              <a:rPr lang="zh-CN" altLang="zh-CN" sz="1800" b="1" kern="100" dirty="0">
                <a:effectLst/>
                <a:latin typeface="Times New Roman" panose="02020603050405020304" pitchFamily="18" charset="0"/>
                <a:ea typeface="楷体_GB2312" panose="02010609030101010101" pitchFamily="49" charset="-122"/>
                <a:cs typeface="MingLiU" panose="02020509000000000000" pitchFamily="49" charset="-120"/>
              </a:rPr>
              <a:t>企业</a:t>
            </a:r>
            <a:r>
              <a:rPr lang="zh-CN" altLang="zh-CN" sz="1800" kern="100" dirty="0">
                <a:effectLst/>
                <a:latin typeface="Times New Roman" panose="02020603050405020304" pitchFamily="18" charset="0"/>
                <a:ea typeface="楷体_GB2312" panose="02010609030101010101" pitchFamily="49" charset="-122"/>
                <a:cs typeface="MingLiU" panose="02020509000000000000" pitchFamily="49" charset="-120"/>
              </a:rPr>
              <a:t>，企业便离不开会计，会计事关企业经济之起落，经营之成败，乃至企业的发展速度与规模；自从一夫一妻制</a:t>
            </a:r>
            <a:r>
              <a:rPr lang="zh-CN" altLang="zh-CN" sz="1800" b="1" kern="100" dirty="0">
                <a:effectLst/>
                <a:latin typeface="Times New Roman" panose="02020603050405020304" pitchFamily="18" charset="0"/>
                <a:ea typeface="楷体_GB2312" panose="02010609030101010101" pitchFamily="49" charset="-122"/>
                <a:cs typeface="MingLiU" panose="02020509000000000000" pitchFamily="49" charset="-120"/>
              </a:rPr>
              <a:t>家庭</a:t>
            </a:r>
            <a:r>
              <a:rPr lang="zh-CN" altLang="zh-CN" sz="1800" kern="100" dirty="0">
                <a:effectLst/>
                <a:latin typeface="Times New Roman" panose="02020603050405020304" pitchFamily="18" charset="0"/>
                <a:ea typeface="楷体_GB2312" panose="02010609030101010101" pitchFamily="49" charset="-122"/>
                <a:cs typeface="MingLiU" panose="02020509000000000000" pitchFamily="49" charset="-120"/>
              </a:rPr>
              <a:t>的建立，家计便成为治家理财之重要组成部分。当今，随着世界经济一体化，世界是将成为一个保罗万象的巨大经济实体，为此，会计也必将成为全球性文化交融、汇流中的一个重要部分，它也必将走出国门，步入世界，并毫无疑问将成为对未来国际性信息化社会、信息化经济进行控制的支柱。</a:t>
            </a:r>
            <a:endParaRPr lang="zh-CN" altLang="zh-CN" sz="1800" kern="100" dirty="0">
              <a:effectLst/>
              <a:latin typeface="Times New Roman" panose="02020603050405020304" pitchFamily="18" charset="0"/>
              <a:ea typeface="宋体" panose="02010600030101010101" pitchFamily="2" charset="-122"/>
            </a:endParaRPr>
          </a:p>
          <a:p>
            <a:endParaRPr lang="zh-CN" altLang="en-US" dirty="0"/>
          </a:p>
        </p:txBody>
      </p:sp>
      <p:sp>
        <p:nvSpPr>
          <p:cNvPr id="5" name="文本框 4">
            <a:extLst>
              <a:ext uri="{FF2B5EF4-FFF2-40B4-BE49-F238E27FC236}">
                <a16:creationId xmlns:a16="http://schemas.microsoft.com/office/drawing/2014/main" id="{63031334-56AD-494C-B58D-F2501327A71C}"/>
              </a:ext>
            </a:extLst>
          </p:cNvPr>
          <p:cNvSpPr txBox="1"/>
          <p:nvPr/>
        </p:nvSpPr>
        <p:spPr>
          <a:xfrm>
            <a:off x="1115616" y="6134384"/>
            <a:ext cx="7632848" cy="369332"/>
          </a:xfrm>
          <a:prstGeom prst="rect">
            <a:avLst/>
          </a:prstGeom>
          <a:noFill/>
        </p:spPr>
        <p:txBody>
          <a:bodyPr wrap="square">
            <a:spAutoFit/>
          </a:bodyPr>
          <a:lstStyle/>
          <a:p>
            <a:pPr lvl="1"/>
            <a:r>
              <a:rPr lang="en-US" altLang="zh-CN" dirty="0"/>
              <a:t>——</a:t>
            </a:r>
            <a:r>
              <a:rPr lang="zh-CN" altLang="en-US" dirty="0"/>
              <a:t>引自郭道扬：</a:t>
            </a:r>
            <a:r>
              <a:rPr lang="en-US" altLang="zh-CN" dirty="0"/>
              <a:t>《</a:t>
            </a:r>
            <a:r>
              <a:rPr lang="zh-CN" altLang="en-US" dirty="0"/>
              <a:t>会计史研究：历史 现时 未来</a:t>
            </a:r>
            <a:r>
              <a:rPr lang="en-US" altLang="zh-CN" dirty="0"/>
              <a:t>》</a:t>
            </a:r>
            <a:r>
              <a:rPr lang="zh-CN" altLang="en-US" dirty="0"/>
              <a:t>（第一卷）</a:t>
            </a:r>
          </a:p>
        </p:txBody>
      </p:sp>
    </p:spTree>
    <p:extLst>
      <p:ext uri="{BB962C8B-B14F-4D97-AF65-F5344CB8AC3E}">
        <p14:creationId xmlns:p14="http://schemas.microsoft.com/office/powerpoint/2010/main" val="3537601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会计的产生与发展</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82688" y="2017712"/>
            <a:ext cx="7772400" cy="4435623"/>
          </a:xfrm>
        </p:spPr>
        <p:txBody>
          <a:bodyPr/>
          <a:lstStyle/>
          <a:p>
            <a:r>
              <a:rPr lang="zh-CN" altLang="en-US" dirty="0"/>
              <a:t>在进入文明社会以后不久的时日，便出现了两种会计，一是“官厅会计”，一是“民间会计”</a:t>
            </a:r>
          </a:p>
          <a:p>
            <a:endParaRPr lang="zh-CN" altLang="en-US" dirty="0"/>
          </a:p>
          <a:p>
            <a:r>
              <a:rPr lang="zh-CN" altLang="en-US" dirty="0"/>
              <a:t>随着奴隶制国家的建立，当把会计作为国家行为的时候，</a:t>
            </a:r>
            <a:r>
              <a:rPr lang="zh-CN" altLang="en-US" b="1" dirty="0">
                <a:solidFill>
                  <a:srgbClr val="FF0000"/>
                </a:solidFill>
              </a:rPr>
              <a:t>官厅会计</a:t>
            </a:r>
            <a:r>
              <a:rPr lang="zh-CN" altLang="en-US" dirty="0"/>
              <a:t>及官厅会计职能部门的产生便成为历史事实</a:t>
            </a:r>
          </a:p>
          <a:p>
            <a:endParaRPr lang="zh-CN" altLang="en-US" dirty="0"/>
          </a:p>
          <a:p>
            <a:r>
              <a:rPr lang="zh-CN" altLang="en-US" dirty="0"/>
              <a:t>当原始交换活动发生之后，家庭开始进入交换领域并与外面建立经济关系，庄园会计、手工业会计等</a:t>
            </a:r>
            <a:r>
              <a:rPr lang="zh-CN" altLang="en-US" b="1" dirty="0">
                <a:solidFill>
                  <a:srgbClr val="FF0000"/>
                </a:solidFill>
              </a:rPr>
              <a:t>民间会计</a:t>
            </a:r>
            <a:r>
              <a:rPr lang="zh-CN" altLang="en-US" dirty="0"/>
              <a:t>逐步发展</a:t>
            </a:r>
          </a:p>
        </p:txBody>
      </p:sp>
    </p:spTree>
    <p:extLst>
      <p:ext uri="{BB962C8B-B14F-4D97-AF65-F5344CB8AC3E}">
        <p14:creationId xmlns:p14="http://schemas.microsoft.com/office/powerpoint/2010/main" val="3945355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会计的产生与发展</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作为现代意义上的会计，一般认为始于</a:t>
            </a:r>
            <a:r>
              <a:rPr lang="en-US" altLang="zh-CN" dirty="0"/>
              <a:t>14</a:t>
            </a:r>
            <a:r>
              <a:rPr lang="zh-CN" altLang="en-US" dirty="0"/>
              <a:t>世纪。其标志是</a:t>
            </a:r>
            <a:r>
              <a:rPr lang="en-US" altLang="zh-CN" dirty="0"/>
              <a:t>1340</a:t>
            </a:r>
            <a:r>
              <a:rPr lang="zh-CN" altLang="en-US" dirty="0"/>
              <a:t>年左右形成的“热那亚会计体系”</a:t>
            </a:r>
          </a:p>
          <a:p>
            <a:endParaRPr lang="zh-CN" altLang="en-US" dirty="0"/>
          </a:p>
          <a:p>
            <a:r>
              <a:rPr lang="en-US" altLang="zh-CN" dirty="0"/>
              <a:t>1494</a:t>
            </a:r>
            <a:r>
              <a:rPr lang="zh-CN" altLang="en-US" dirty="0"/>
              <a:t>年，意大利数学家卢卡</a:t>
            </a:r>
            <a:r>
              <a:rPr lang="en-US" altLang="zh-CN" dirty="0"/>
              <a:t>·</a:t>
            </a:r>
            <a:r>
              <a:rPr lang="zh-CN" altLang="en-US" dirty="0"/>
              <a:t>帕乔利所著的</a:t>
            </a:r>
            <a:r>
              <a:rPr lang="en-US" altLang="zh-CN" dirty="0"/>
              <a:t>《</a:t>
            </a:r>
            <a:r>
              <a:rPr lang="zh-CN" altLang="en-US" dirty="0"/>
              <a:t>算术、几何与比例概要</a:t>
            </a:r>
            <a:r>
              <a:rPr lang="en-US" altLang="zh-CN" dirty="0"/>
              <a:t>》</a:t>
            </a:r>
            <a:r>
              <a:rPr lang="zh-CN" altLang="en-US" dirty="0"/>
              <a:t>，标志着近代会计的产生</a:t>
            </a:r>
          </a:p>
          <a:p>
            <a:endParaRPr lang="zh-CN" altLang="en-US" dirty="0"/>
          </a:p>
          <a:p>
            <a:r>
              <a:rPr lang="zh-CN" altLang="en-US" dirty="0"/>
              <a:t>经济越发展，会计越重要</a:t>
            </a:r>
          </a:p>
          <a:p>
            <a:pPr lvl="1"/>
            <a:r>
              <a:rPr lang="zh-CN" altLang="en-US" dirty="0"/>
              <a:t>经济的发展，特别是资本市场的形成和发展，促进了公认会计原则</a:t>
            </a:r>
            <a:r>
              <a:rPr lang="en-US" altLang="zh-CN" dirty="0"/>
              <a:t>/</a:t>
            </a:r>
            <a:r>
              <a:rPr lang="zh-CN" altLang="en-US" dirty="0"/>
              <a:t>概念框架</a:t>
            </a:r>
            <a:r>
              <a:rPr lang="en-US" altLang="zh-CN" dirty="0"/>
              <a:t>/</a:t>
            </a:r>
            <a:r>
              <a:rPr lang="zh-CN" altLang="en-US" b="1" dirty="0">
                <a:solidFill>
                  <a:srgbClr val="FF0000"/>
                </a:solidFill>
              </a:rPr>
              <a:t>会计准则</a:t>
            </a:r>
            <a:r>
              <a:rPr lang="zh-CN" altLang="en-US" dirty="0"/>
              <a:t>的产生</a:t>
            </a:r>
          </a:p>
        </p:txBody>
      </p:sp>
    </p:spTree>
    <p:extLst>
      <p:ext uri="{BB962C8B-B14F-4D97-AF65-F5344CB8AC3E}">
        <p14:creationId xmlns:p14="http://schemas.microsoft.com/office/powerpoint/2010/main" val="28452859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概念框架制定的背景</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82688" y="2017713"/>
            <a:ext cx="7493768" cy="4625974"/>
          </a:xfrm>
        </p:spPr>
        <p:txBody>
          <a:bodyPr/>
          <a:lstStyle/>
          <a:p>
            <a:r>
              <a:rPr lang="en-US" altLang="zh-CN" dirty="0"/>
              <a:t>1929-1933</a:t>
            </a:r>
            <a:r>
              <a:rPr lang="zh-CN" altLang="en-US" dirty="0"/>
              <a:t>年美国经济危机导致了公认会计原则（</a:t>
            </a:r>
            <a:r>
              <a:rPr lang="en-US" altLang="zh-CN" dirty="0"/>
              <a:t>GAAP</a:t>
            </a:r>
            <a:r>
              <a:rPr lang="zh-CN" altLang="en-US" dirty="0"/>
              <a:t>）的产生</a:t>
            </a:r>
          </a:p>
          <a:p>
            <a:r>
              <a:rPr lang="en-US" altLang="zh-CN" dirty="0"/>
              <a:t>20</a:t>
            </a:r>
            <a:r>
              <a:rPr lang="zh-CN" altLang="en-US" dirty="0"/>
              <a:t>世纪</a:t>
            </a:r>
            <a:r>
              <a:rPr lang="en-US" altLang="zh-CN" dirty="0"/>
              <a:t>70</a:t>
            </a:r>
            <a:r>
              <a:rPr lang="zh-CN" altLang="en-US" dirty="0"/>
              <a:t>年代以来，经济发展给会计带来的挑战</a:t>
            </a:r>
          </a:p>
          <a:p>
            <a:pPr lvl="1"/>
            <a:r>
              <a:rPr lang="zh-CN" altLang="en-US" dirty="0"/>
              <a:t>经济方面</a:t>
            </a:r>
          </a:p>
          <a:p>
            <a:pPr lvl="2"/>
            <a:r>
              <a:rPr lang="zh-CN" altLang="en-US" dirty="0"/>
              <a:t>企业组织规模不断扩大，大规模兼并频繁出现</a:t>
            </a:r>
          </a:p>
          <a:p>
            <a:pPr lvl="2"/>
            <a:r>
              <a:rPr lang="zh-CN" altLang="en-US" dirty="0"/>
              <a:t>金融创新日新月异</a:t>
            </a:r>
          </a:p>
          <a:p>
            <a:pPr lvl="2"/>
            <a:r>
              <a:rPr lang="zh-CN" altLang="en-US" dirty="0"/>
              <a:t>持续的通货膨胀</a:t>
            </a:r>
            <a:endParaRPr lang="en-US" altLang="zh-CN" dirty="0"/>
          </a:p>
          <a:p>
            <a:pPr lvl="1"/>
            <a:r>
              <a:rPr lang="zh-CN" altLang="en-US" dirty="0"/>
              <a:t>会计方面</a:t>
            </a:r>
          </a:p>
          <a:p>
            <a:pPr lvl="2"/>
            <a:r>
              <a:rPr lang="zh-CN" altLang="en-US" dirty="0"/>
              <a:t>企业合并会计</a:t>
            </a:r>
          </a:p>
          <a:p>
            <a:pPr lvl="2"/>
            <a:r>
              <a:rPr lang="zh-CN" altLang="en-US" dirty="0"/>
              <a:t>外币折算会计</a:t>
            </a:r>
          </a:p>
          <a:p>
            <a:pPr lvl="2"/>
            <a:r>
              <a:rPr lang="zh-CN" altLang="en-US" dirty="0"/>
              <a:t>金融工具会计</a:t>
            </a:r>
          </a:p>
          <a:p>
            <a:pPr lvl="2"/>
            <a:r>
              <a:rPr lang="zh-CN" altLang="en-US" dirty="0"/>
              <a:t>物价变动会计</a:t>
            </a:r>
          </a:p>
          <a:p>
            <a:pPr lvl="2"/>
            <a:endParaRPr lang="zh-CN" altLang="en-US" dirty="0"/>
          </a:p>
        </p:txBody>
      </p:sp>
    </p:spTree>
    <p:extLst>
      <p:ext uri="{BB962C8B-B14F-4D97-AF65-F5344CB8AC3E}">
        <p14:creationId xmlns:p14="http://schemas.microsoft.com/office/powerpoint/2010/main" val="24880791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财务会计理论本身面临的挑战和机遇</a:t>
            </a:r>
          </a:p>
          <a:p>
            <a:pPr lvl="1"/>
            <a:r>
              <a:rPr lang="zh-CN" altLang="en-US" dirty="0"/>
              <a:t>传统会计侧重于描述，缺乏首尾一致的概念框架，甚至相互抵触</a:t>
            </a:r>
          </a:p>
          <a:p>
            <a:pPr lvl="2"/>
            <a:r>
              <a:rPr lang="zh-CN" altLang="en-US" dirty="0"/>
              <a:t>对同一交易或事项存在多种处理方法</a:t>
            </a:r>
          </a:p>
          <a:p>
            <a:pPr lvl="2"/>
            <a:r>
              <a:rPr lang="zh-CN" altLang="en-US" dirty="0"/>
              <a:t>强调财务报告的形式而不是实质</a:t>
            </a:r>
          </a:p>
          <a:p>
            <a:pPr lvl="2"/>
            <a:r>
              <a:rPr lang="zh-CN" altLang="en-US" dirty="0"/>
              <a:t>对资产的可收回性过份乐观</a:t>
            </a:r>
          </a:p>
          <a:p>
            <a:pPr lvl="1"/>
            <a:r>
              <a:rPr lang="zh-CN" altLang="en-US" dirty="0"/>
              <a:t>机遇</a:t>
            </a:r>
          </a:p>
        </p:txBody>
      </p:sp>
    </p:spTree>
    <p:extLst>
      <p:ext uri="{BB962C8B-B14F-4D97-AF65-F5344CB8AC3E}">
        <p14:creationId xmlns:p14="http://schemas.microsoft.com/office/powerpoint/2010/main" val="7208288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概念框架的制定</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为了指导和评估准则的制定，许多国家和地区的准则制定机构，以及</a:t>
            </a:r>
            <a:r>
              <a:rPr lang="en-US" altLang="zh-CN" dirty="0"/>
              <a:t>IASB</a:t>
            </a:r>
            <a:r>
              <a:rPr lang="zh-CN" altLang="en-US" dirty="0"/>
              <a:t>开始制定概念框架，如，</a:t>
            </a:r>
          </a:p>
          <a:p>
            <a:r>
              <a:rPr lang="en-US" altLang="zh-CN" dirty="0"/>
              <a:t>FASB</a:t>
            </a:r>
            <a:r>
              <a:rPr lang="zh-CN" altLang="en-US" dirty="0"/>
              <a:t>：</a:t>
            </a:r>
            <a:r>
              <a:rPr lang="en-US" altLang="zh-CN" dirty="0"/>
              <a:t>《</a:t>
            </a:r>
            <a:r>
              <a:rPr lang="zh-CN" altLang="en-US" dirty="0"/>
              <a:t>财务会计概念公告</a:t>
            </a:r>
            <a:r>
              <a:rPr lang="en-US" altLang="zh-CN" dirty="0"/>
              <a:t>》</a:t>
            </a:r>
          </a:p>
          <a:p>
            <a:r>
              <a:rPr lang="en-US" altLang="zh-CN" dirty="0"/>
              <a:t>IASB</a:t>
            </a:r>
            <a:r>
              <a:rPr lang="zh-CN" altLang="en-US" dirty="0"/>
              <a:t>：</a:t>
            </a:r>
            <a:r>
              <a:rPr lang="en-US" altLang="zh-CN" dirty="0"/>
              <a:t>《</a:t>
            </a:r>
            <a:r>
              <a:rPr lang="zh-CN" altLang="en-US" dirty="0"/>
              <a:t>编报财务报表的框架</a:t>
            </a:r>
            <a:r>
              <a:rPr lang="en-US" altLang="zh-CN" dirty="0"/>
              <a:t>》</a:t>
            </a:r>
          </a:p>
          <a:p>
            <a:r>
              <a:rPr lang="en-US" altLang="zh-CN" dirty="0"/>
              <a:t>CASB</a:t>
            </a:r>
            <a:r>
              <a:rPr lang="zh-CN" altLang="en-US" dirty="0"/>
              <a:t>：</a:t>
            </a:r>
            <a:r>
              <a:rPr lang="en-US" altLang="zh-CN" dirty="0"/>
              <a:t>《</a:t>
            </a:r>
            <a:r>
              <a:rPr lang="zh-CN" altLang="en-US" dirty="0"/>
              <a:t>企业会计准则</a:t>
            </a:r>
            <a:r>
              <a:rPr lang="en-US" altLang="zh-CN" dirty="0"/>
              <a:t>——</a:t>
            </a:r>
            <a:r>
              <a:rPr lang="zh-CN" altLang="en-US" dirty="0"/>
              <a:t>基本准则</a:t>
            </a:r>
            <a:r>
              <a:rPr lang="en-US" altLang="zh-CN" dirty="0"/>
              <a:t>》</a:t>
            </a:r>
          </a:p>
          <a:p>
            <a:r>
              <a:rPr lang="en-US" altLang="zh-CN" dirty="0"/>
              <a:t>……</a:t>
            </a:r>
          </a:p>
        </p:txBody>
      </p:sp>
    </p:spTree>
    <p:extLst>
      <p:ext uri="{BB962C8B-B14F-4D97-AF65-F5344CB8AC3E}">
        <p14:creationId xmlns:p14="http://schemas.microsoft.com/office/powerpoint/2010/main" val="10761948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制定概念框架的意义</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en-US" altLang="zh-CN" dirty="0"/>
              <a:t>1</a:t>
            </a:r>
            <a:r>
              <a:rPr lang="zh-CN" altLang="en-US" dirty="0"/>
              <a:t>．帮助</a:t>
            </a:r>
            <a:r>
              <a:rPr lang="zh-CN" altLang="en-US" b="1" dirty="0">
                <a:solidFill>
                  <a:srgbClr val="FF0000"/>
                </a:solidFill>
              </a:rPr>
              <a:t>准则制定机构</a:t>
            </a:r>
          </a:p>
          <a:p>
            <a:pPr lvl="1"/>
            <a:r>
              <a:rPr lang="zh-CN" altLang="en-US" dirty="0"/>
              <a:t>制定新的准则和审议现有准则</a:t>
            </a:r>
          </a:p>
          <a:p>
            <a:pPr lvl="1"/>
            <a:r>
              <a:rPr lang="zh-CN" altLang="en-US" dirty="0"/>
              <a:t>减少或避免不同准则的冲突</a:t>
            </a:r>
          </a:p>
          <a:p>
            <a:pPr lvl="1"/>
            <a:r>
              <a:rPr lang="zh-CN" altLang="en-US" dirty="0"/>
              <a:t>减少准则中所允许选用的会计方法，促使相关概念得到一致的运用</a:t>
            </a:r>
          </a:p>
          <a:p>
            <a:r>
              <a:rPr lang="en-US" altLang="zh-CN" dirty="0"/>
              <a:t>2</a:t>
            </a:r>
            <a:r>
              <a:rPr lang="zh-CN" altLang="en-US" dirty="0"/>
              <a:t>．帮助财务报表的</a:t>
            </a:r>
            <a:r>
              <a:rPr lang="zh-CN" altLang="en-US" b="1" dirty="0">
                <a:solidFill>
                  <a:srgbClr val="FF0000"/>
                </a:solidFill>
              </a:rPr>
              <a:t>编制者和使用者</a:t>
            </a:r>
            <a:endParaRPr lang="en-US" altLang="zh-CN" b="1" dirty="0">
              <a:solidFill>
                <a:srgbClr val="FF0000"/>
              </a:solidFill>
            </a:endParaRPr>
          </a:p>
          <a:p>
            <a:r>
              <a:rPr lang="en-US" altLang="zh-CN" dirty="0"/>
              <a:t>3</a:t>
            </a:r>
            <a:r>
              <a:rPr lang="zh-CN" altLang="en-US" dirty="0"/>
              <a:t>．减少相关利益集团对准则制定的干预</a:t>
            </a:r>
          </a:p>
          <a:p>
            <a:pPr lvl="1"/>
            <a:r>
              <a:rPr lang="zh-CN" altLang="en-US" dirty="0"/>
              <a:t>会计原则委员会的解散</a:t>
            </a:r>
          </a:p>
          <a:p>
            <a:pPr lvl="1"/>
            <a:r>
              <a:rPr lang="zh-CN" altLang="en-US" dirty="0"/>
              <a:t>股票期权激励的争论</a:t>
            </a:r>
          </a:p>
          <a:p>
            <a:endParaRPr lang="zh-CN" altLang="en-US" dirty="0"/>
          </a:p>
        </p:txBody>
      </p:sp>
    </p:spTree>
    <p:extLst>
      <p:ext uri="{BB962C8B-B14F-4D97-AF65-F5344CB8AC3E}">
        <p14:creationId xmlns:p14="http://schemas.microsoft.com/office/powerpoint/2010/main" val="2276420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财务会计概念框架主要内容</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一、财务会计目标</a:t>
            </a:r>
          </a:p>
          <a:p>
            <a:r>
              <a:rPr lang="zh-CN" altLang="en-US" dirty="0"/>
              <a:t>二、会计信息质量要求</a:t>
            </a:r>
          </a:p>
          <a:p>
            <a:r>
              <a:rPr lang="zh-CN" altLang="en-US" dirty="0"/>
              <a:t>三、财务报表要素</a:t>
            </a:r>
          </a:p>
          <a:p>
            <a:r>
              <a:rPr lang="zh-CN" altLang="en-US" dirty="0"/>
              <a:t>四、财务报表要素的确认和计量</a:t>
            </a:r>
          </a:p>
          <a:p>
            <a:r>
              <a:rPr lang="zh-CN" altLang="en-US" dirty="0"/>
              <a:t>五、财务报告</a:t>
            </a:r>
          </a:p>
        </p:txBody>
      </p:sp>
    </p:spTree>
    <p:extLst>
      <p:ext uri="{BB962C8B-B14F-4D97-AF65-F5344CB8AC3E}">
        <p14:creationId xmlns:p14="http://schemas.microsoft.com/office/powerpoint/2010/main" val="3507325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财务会计的目标</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向财务报告的</a:t>
            </a:r>
            <a:r>
              <a:rPr lang="zh-CN" altLang="en-US" b="1" dirty="0">
                <a:solidFill>
                  <a:srgbClr val="FF0000"/>
                </a:solidFill>
              </a:rPr>
              <a:t>使用者</a:t>
            </a:r>
            <a:r>
              <a:rPr lang="zh-CN" altLang="en-US" dirty="0"/>
              <a:t>提供与企业财务状况、经营成果和现金流量的</a:t>
            </a:r>
            <a:r>
              <a:rPr lang="zh-CN" altLang="en-US" b="1" dirty="0">
                <a:solidFill>
                  <a:srgbClr val="FF0000"/>
                </a:solidFill>
              </a:rPr>
              <a:t>会计信息</a:t>
            </a:r>
            <a:r>
              <a:rPr lang="zh-CN" altLang="en-US" dirty="0"/>
              <a:t>，反映企业管理层受托责任的履行情况，有助于财务报告使用者做出经济决策</a:t>
            </a:r>
          </a:p>
        </p:txBody>
      </p:sp>
    </p:spTree>
    <p:extLst>
      <p:ext uri="{BB962C8B-B14F-4D97-AF65-F5344CB8AC3E}">
        <p14:creationId xmlns:p14="http://schemas.microsoft.com/office/powerpoint/2010/main" val="1950648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财务报告的使用者</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投资者</a:t>
            </a:r>
          </a:p>
          <a:p>
            <a:r>
              <a:rPr lang="zh-CN" altLang="en-US" dirty="0"/>
              <a:t>债权人</a:t>
            </a:r>
          </a:p>
          <a:p>
            <a:r>
              <a:rPr lang="zh-CN" altLang="en-US" dirty="0"/>
              <a:t>政府部门</a:t>
            </a:r>
          </a:p>
          <a:p>
            <a:r>
              <a:rPr lang="zh-CN" altLang="en-US" dirty="0"/>
              <a:t>企业管理当局</a:t>
            </a:r>
          </a:p>
          <a:p>
            <a:r>
              <a:rPr lang="zh-CN" altLang="en-US" dirty="0"/>
              <a:t>职工</a:t>
            </a:r>
          </a:p>
          <a:p>
            <a:r>
              <a:rPr lang="zh-CN" altLang="en-US" dirty="0"/>
              <a:t>企业的顾客</a:t>
            </a:r>
            <a:endParaRPr lang="en-US" altLang="zh-CN" dirty="0"/>
          </a:p>
        </p:txBody>
      </p:sp>
    </p:spTree>
    <p:extLst>
      <p:ext uri="{BB962C8B-B14F-4D97-AF65-F5344CB8AC3E}">
        <p14:creationId xmlns:p14="http://schemas.microsoft.com/office/powerpoint/2010/main" val="39256432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下列对财务报表目标的描述，正确的有（   ）。</a:t>
            </a:r>
          </a:p>
          <a:p>
            <a:pPr lvl="1"/>
            <a:r>
              <a:rPr lang="en-US" altLang="zh-CN" dirty="0"/>
              <a:t>A.</a:t>
            </a:r>
            <a:r>
              <a:rPr lang="zh-CN" altLang="en-US" dirty="0"/>
              <a:t>财务报表主要提供过去事项的财务影响</a:t>
            </a:r>
          </a:p>
          <a:p>
            <a:pPr lvl="1"/>
            <a:r>
              <a:rPr lang="en-US" altLang="zh-CN" dirty="0"/>
              <a:t>B.</a:t>
            </a:r>
            <a:r>
              <a:rPr lang="zh-CN" altLang="en-US" dirty="0"/>
              <a:t>财务报表不能提供使用者需要的全部信息</a:t>
            </a:r>
          </a:p>
          <a:p>
            <a:pPr lvl="1"/>
            <a:r>
              <a:rPr lang="en-US" altLang="zh-CN" dirty="0"/>
              <a:t>C.</a:t>
            </a:r>
            <a:r>
              <a:rPr lang="zh-CN" altLang="en-US" dirty="0"/>
              <a:t>财务报表不一定提供非财务信息</a:t>
            </a:r>
          </a:p>
          <a:p>
            <a:pPr lvl="1"/>
            <a:r>
              <a:rPr lang="en-US" altLang="zh-CN" dirty="0"/>
              <a:t>D.</a:t>
            </a:r>
            <a:r>
              <a:rPr lang="zh-CN" altLang="en-US" dirty="0"/>
              <a:t>财务报表可以反映管理层对经管资源的受托责任，评估受托责任的目的也是为了做出经济决策</a:t>
            </a:r>
          </a:p>
        </p:txBody>
      </p:sp>
    </p:spTree>
    <p:extLst>
      <p:ext uri="{BB962C8B-B14F-4D97-AF65-F5344CB8AC3E}">
        <p14:creationId xmlns:p14="http://schemas.microsoft.com/office/powerpoint/2010/main" val="37878795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a:xfrm>
            <a:off x="1818323" y="2028349"/>
            <a:ext cx="5829300" cy="3321368"/>
          </a:xfrm>
        </p:spPr>
        <p:txBody>
          <a:bodyPr/>
          <a:lstStyle/>
          <a:p>
            <a:pPr eaLnBrk="1" hangingPunct="1"/>
            <a:endParaRPr lang="en-US" altLang="zh-CN" dirty="0"/>
          </a:p>
          <a:p>
            <a:pPr eaLnBrk="1" hangingPunct="1"/>
            <a:endParaRPr lang="en-US" altLang="zh-CN" dirty="0"/>
          </a:p>
          <a:p>
            <a:pPr algn="ctr" eaLnBrk="1" hangingPunct="1"/>
            <a:r>
              <a:rPr lang="zh-CN" altLang="en-US" sz="3300" dirty="0">
                <a:latin typeface="黑体" panose="02010609060101010101" pitchFamily="2" charset="-122"/>
                <a:ea typeface="黑体" panose="02010609060101010101" pitchFamily="2" charset="-122"/>
                <a:cs typeface="黑体" panose="02010609060101010101" pitchFamily="2" charset="-122"/>
              </a:rPr>
              <a:t>二、会计基本假设</a:t>
            </a:r>
          </a:p>
        </p:txBody>
      </p:sp>
    </p:spTree>
    <p:extLst>
      <p:ext uri="{BB962C8B-B14F-4D97-AF65-F5344CB8AC3E}">
        <p14:creationId xmlns:p14="http://schemas.microsoft.com/office/powerpoint/2010/main" val="36587663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会计基本假设</a:t>
            </a:r>
          </a:p>
          <a:p>
            <a:pPr lvl="1"/>
            <a:r>
              <a:rPr lang="zh-CN" altLang="en-US" dirty="0"/>
              <a:t>会计主体</a:t>
            </a:r>
          </a:p>
          <a:p>
            <a:pPr lvl="1"/>
            <a:r>
              <a:rPr lang="zh-CN" altLang="en-US" dirty="0"/>
              <a:t>持续经营</a:t>
            </a:r>
          </a:p>
          <a:p>
            <a:pPr lvl="1"/>
            <a:r>
              <a:rPr lang="zh-CN" altLang="en-US" dirty="0"/>
              <a:t>会计分期</a:t>
            </a:r>
          </a:p>
          <a:p>
            <a:pPr lvl="1"/>
            <a:r>
              <a:rPr lang="zh-CN" altLang="en-US" dirty="0"/>
              <a:t>货币计量</a:t>
            </a:r>
          </a:p>
        </p:txBody>
      </p:sp>
    </p:spTree>
    <p:extLst>
      <p:ext uri="{BB962C8B-B14F-4D97-AF65-F5344CB8AC3E}">
        <p14:creationId xmlns:p14="http://schemas.microsoft.com/office/powerpoint/2010/main" val="32288302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会计主体（企业主体）</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82688" y="2017713"/>
            <a:ext cx="5765576" cy="547191"/>
          </a:xfrm>
        </p:spPr>
        <p:txBody>
          <a:bodyPr/>
          <a:lstStyle/>
          <a:p>
            <a:r>
              <a:rPr lang="zh-CN" altLang="en-US" dirty="0"/>
              <a:t>会计工作所服务的特定单位或组织 </a:t>
            </a:r>
          </a:p>
        </p:txBody>
      </p:sp>
      <p:grpSp>
        <p:nvGrpSpPr>
          <p:cNvPr id="4" name="Group 3">
            <a:extLst>
              <a:ext uri="{FF2B5EF4-FFF2-40B4-BE49-F238E27FC236}">
                <a16:creationId xmlns:a16="http://schemas.microsoft.com/office/drawing/2014/main" id="{694A8E97-4D2E-4822-9B5D-7596791BBA68}"/>
              </a:ext>
            </a:extLst>
          </p:cNvPr>
          <p:cNvGrpSpPr>
            <a:grpSpLocks/>
          </p:cNvGrpSpPr>
          <p:nvPr/>
        </p:nvGrpSpPr>
        <p:grpSpPr bwMode="auto">
          <a:xfrm>
            <a:off x="899592" y="2574573"/>
            <a:ext cx="4706937" cy="2613025"/>
            <a:chOff x="2700" y="12072"/>
            <a:chExt cx="4680" cy="3408"/>
          </a:xfrm>
        </p:grpSpPr>
        <p:sp>
          <p:nvSpPr>
            <p:cNvPr id="5" name="Text Box 4">
              <a:extLst>
                <a:ext uri="{FF2B5EF4-FFF2-40B4-BE49-F238E27FC236}">
                  <a16:creationId xmlns:a16="http://schemas.microsoft.com/office/drawing/2014/main" id="{5B4D1EBB-5D17-49D9-9B19-6D1ACDEBE38E}"/>
                </a:ext>
              </a:extLst>
            </p:cNvPr>
            <p:cNvSpPr txBox="1">
              <a:spLocks noChangeArrowheads="1"/>
            </p:cNvSpPr>
            <p:nvPr/>
          </p:nvSpPr>
          <p:spPr bwMode="auto">
            <a:xfrm>
              <a:off x="2700" y="12072"/>
              <a:ext cx="4680" cy="3408"/>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Char char="•"/>
                <a:defRPr sz="3200" b="1">
                  <a:solidFill>
                    <a:schemeClr val="hlink"/>
                  </a:solidFill>
                  <a:latin typeface="Arial" panose="020B0604020202020204" pitchFamily="34" charset="0"/>
                  <a:ea typeface="宋体" panose="02010600030101010101" pitchFamily="2" charset="-122"/>
                </a:defRPr>
              </a:lvl1pPr>
              <a:lvl2pPr marL="742950" indent="-285750">
                <a:spcBef>
                  <a:spcPct val="20000"/>
                </a:spcBef>
                <a:buSzPct val="100000"/>
                <a:buChar char="–"/>
                <a:defRPr sz="2800" b="1">
                  <a:solidFill>
                    <a:schemeClr val="tx2"/>
                  </a:solidFill>
                  <a:latin typeface="Arial" panose="020B0604020202020204" pitchFamily="34" charset="0"/>
                  <a:ea typeface="宋体" panose="02010600030101010101" pitchFamily="2" charset="-122"/>
                </a:defRPr>
              </a:lvl2pPr>
              <a:lvl3pPr marL="1143000" indent="-228600">
                <a:spcBef>
                  <a:spcPct val="20000"/>
                </a:spcBef>
                <a:buSzPct val="100000"/>
                <a:buChar char="•"/>
                <a:defRPr sz="2400" b="1">
                  <a:solidFill>
                    <a:schemeClr val="folHlink"/>
                  </a:solidFill>
                  <a:latin typeface="Arial" panose="020B0604020202020204" pitchFamily="34" charset="0"/>
                  <a:ea typeface="宋体" panose="02010600030101010101" pitchFamily="2" charset="-122"/>
                </a:defRPr>
              </a:lvl3pPr>
              <a:lvl4pPr marL="16002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SzTx/>
                <a:buFontTx/>
                <a:buNone/>
              </a:pPr>
              <a:endParaRPr lang="zh-CN" altLang="zh-CN" sz="1000" b="0">
                <a:solidFill>
                  <a:srgbClr val="000000"/>
                </a:solidFill>
                <a:latin typeface="Times New Roman" panose="02020603050405020304" pitchFamily="18" charset="0"/>
              </a:endParaRPr>
            </a:p>
          </p:txBody>
        </p:sp>
        <p:sp>
          <p:nvSpPr>
            <p:cNvPr id="6" name="AutoShape 5">
              <a:extLst>
                <a:ext uri="{FF2B5EF4-FFF2-40B4-BE49-F238E27FC236}">
                  <a16:creationId xmlns:a16="http://schemas.microsoft.com/office/drawing/2014/main" id="{55ABDB13-D5C4-4040-BA9F-1A461F0A77DB}"/>
                </a:ext>
              </a:extLst>
            </p:cNvPr>
            <p:cNvSpPr>
              <a:spLocks noChangeArrowheads="1"/>
            </p:cNvSpPr>
            <p:nvPr/>
          </p:nvSpPr>
          <p:spPr bwMode="auto">
            <a:xfrm>
              <a:off x="4500" y="12360"/>
              <a:ext cx="1440" cy="1404"/>
            </a:xfrm>
            <a:prstGeom prst="wedgeEllipseCallout">
              <a:avLst>
                <a:gd name="adj1" fmla="val 6736"/>
                <a:gd name="adj2" fmla="val 26426"/>
              </a:avLst>
            </a:prstGeom>
            <a:solidFill>
              <a:srgbClr val="00FF00"/>
            </a:solidFill>
            <a:ln w="9525">
              <a:solidFill>
                <a:srgbClr val="00FF00"/>
              </a:solidFill>
              <a:miter lim="800000"/>
              <a:headEnd/>
              <a:tailEnd/>
            </a:ln>
          </p:spPr>
          <p:txBody>
            <a:bodyPr/>
            <a:lstStyle>
              <a:lvl1pPr>
                <a:spcBef>
                  <a:spcPct val="20000"/>
                </a:spcBef>
                <a:buSzPct val="100000"/>
                <a:buChar char="•"/>
                <a:defRPr sz="3200" b="1">
                  <a:solidFill>
                    <a:schemeClr val="hlink"/>
                  </a:solidFill>
                  <a:latin typeface="Arial" panose="020B0604020202020204" pitchFamily="34" charset="0"/>
                  <a:ea typeface="宋体" panose="02010600030101010101" pitchFamily="2" charset="-122"/>
                </a:defRPr>
              </a:lvl1pPr>
              <a:lvl2pPr marL="742950" indent="-285750">
                <a:spcBef>
                  <a:spcPct val="20000"/>
                </a:spcBef>
                <a:buSzPct val="100000"/>
                <a:buChar char="–"/>
                <a:defRPr sz="2800" b="1">
                  <a:solidFill>
                    <a:schemeClr val="tx2"/>
                  </a:solidFill>
                  <a:latin typeface="Arial" panose="020B0604020202020204" pitchFamily="34" charset="0"/>
                  <a:ea typeface="宋体" panose="02010600030101010101" pitchFamily="2" charset="-122"/>
                </a:defRPr>
              </a:lvl2pPr>
              <a:lvl3pPr marL="1143000" indent="-228600">
                <a:spcBef>
                  <a:spcPct val="20000"/>
                </a:spcBef>
                <a:buSzPct val="100000"/>
                <a:buChar char="•"/>
                <a:defRPr sz="2400" b="1">
                  <a:solidFill>
                    <a:schemeClr val="folHlink"/>
                  </a:solidFill>
                  <a:latin typeface="Arial" panose="020B0604020202020204" pitchFamily="34" charset="0"/>
                  <a:ea typeface="宋体" panose="02010600030101010101" pitchFamily="2" charset="-122"/>
                </a:defRPr>
              </a:lvl3pPr>
              <a:lvl4pPr marL="16002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SzTx/>
                <a:buFontTx/>
                <a:buNone/>
              </a:pPr>
              <a:r>
                <a:rPr lang="en-US" altLang="zh-CN" sz="1600">
                  <a:solidFill>
                    <a:srgbClr val="0000FF"/>
                  </a:solidFill>
                  <a:latin typeface="Times New Roman" panose="02020603050405020304" pitchFamily="18" charset="0"/>
                </a:rPr>
                <a:t>A</a:t>
              </a:r>
            </a:p>
            <a:p>
              <a:pPr algn="ctr">
                <a:spcBef>
                  <a:spcPct val="0"/>
                </a:spcBef>
                <a:buSzTx/>
                <a:buFontTx/>
                <a:buNone/>
              </a:pPr>
              <a:r>
                <a:rPr lang="zh-CN" altLang="en-US" sz="1600">
                  <a:solidFill>
                    <a:srgbClr val="0000FF"/>
                  </a:solidFill>
                  <a:latin typeface="Times New Roman" panose="02020603050405020304" pitchFamily="18" charset="0"/>
                </a:rPr>
                <a:t>独资企业</a:t>
              </a:r>
            </a:p>
          </p:txBody>
        </p:sp>
        <p:sp>
          <p:nvSpPr>
            <p:cNvPr id="7" name="AutoShape 6">
              <a:extLst>
                <a:ext uri="{FF2B5EF4-FFF2-40B4-BE49-F238E27FC236}">
                  <a16:creationId xmlns:a16="http://schemas.microsoft.com/office/drawing/2014/main" id="{C6BB77FA-C3D5-4A70-8DC7-886FF81212BD}"/>
                </a:ext>
              </a:extLst>
            </p:cNvPr>
            <p:cNvSpPr>
              <a:spLocks noChangeArrowheads="1"/>
            </p:cNvSpPr>
            <p:nvPr/>
          </p:nvSpPr>
          <p:spPr bwMode="auto">
            <a:xfrm>
              <a:off x="4140" y="13920"/>
              <a:ext cx="1440" cy="1404"/>
            </a:xfrm>
            <a:prstGeom prst="wedgeEllipseCallout">
              <a:avLst>
                <a:gd name="adj1" fmla="val 26111"/>
                <a:gd name="adj2" fmla="val 6625"/>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Char char="•"/>
                <a:defRPr sz="3200" b="1">
                  <a:solidFill>
                    <a:schemeClr val="hlink"/>
                  </a:solidFill>
                  <a:latin typeface="Arial" panose="020B0604020202020204" pitchFamily="34" charset="0"/>
                  <a:ea typeface="宋体" panose="02010600030101010101" pitchFamily="2" charset="-122"/>
                </a:defRPr>
              </a:lvl1pPr>
              <a:lvl2pPr marL="742950" indent="-285750">
                <a:spcBef>
                  <a:spcPct val="20000"/>
                </a:spcBef>
                <a:buSzPct val="100000"/>
                <a:buChar char="–"/>
                <a:defRPr sz="2800" b="1">
                  <a:solidFill>
                    <a:schemeClr val="tx2"/>
                  </a:solidFill>
                  <a:latin typeface="Arial" panose="020B0604020202020204" pitchFamily="34" charset="0"/>
                  <a:ea typeface="宋体" panose="02010600030101010101" pitchFamily="2" charset="-122"/>
                </a:defRPr>
              </a:lvl2pPr>
              <a:lvl3pPr marL="1143000" indent="-228600">
                <a:spcBef>
                  <a:spcPct val="20000"/>
                </a:spcBef>
                <a:buSzPct val="100000"/>
                <a:buChar char="•"/>
                <a:defRPr sz="2400" b="1">
                  <a:solidFill>
                    <a:schemeClr val="folHlink"/>
                  </a:solidFill>
                  <a:latin typeface="Arial" panose="020B0604020202020204" pitchFamily="34" charset="0"/>
                  <a:ea typeface="宋体" panose="02010600030101010101" pitchFamily="2" charset="-122"/>
                </a:defRPr>
              </a:lvl3pPr>
              <a:lvl4pPr marL="16002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SzTx/>
                <a:buFontTx/>
                <a:buNone/>
              </a:pPr>
              <a:r>
                <a:rPr lang="en-US" altLang="zh-CN" sz="1600">
                  <a:solidFill>
                    <a:srgbClr val="0000FF"/>
                  </a:solidFill>
                  <a:latin typeface="Times New Roman" panose="02020603050405020304" pitchFamily="18" charset="0"/>
                </a:rPr>
                <a:t>B</a:t>
              </a:r>
            </a:p>
            <a:p>
              <a:pPr algn="ctr">
                <a:spcBef>
                  <a:spcPct val="0"/>
                </a:spcBef>
                <a:buSzTx/>
                <a:buFontTx/>
                <a:buNone/>
              </a:pPr>
              <a:r>
                <a:rPr lang="zh-CN" altLang="en-US" sz="1600">
                  <a:solidFill>
                    <a:srgbClr val="0000FF"/>
                  </a:solidFill>
                  <a:latin typeface="Times New Roman" panose="02020603050405020304" pitchFamily="18" charset="0"/>
                </a:rPr>
                <a:t>合伙企业</a:t>
              </a:r>
            </a:p>
          </p:txBody>
        </p:sp>
        <p:sp>
          <p:nvSpPr>
            <p:cNvPr id="8" name="AutoShape 7">
              <a:extLst>
                <a:ext uri="{FF2B5EF4-FFF2-40B4-BE49-F238E27FC236}">
                  <a16:creationId xmlns:a16="http://schemas.microsoft.com/office/drawing/2014/main" id="{281CA94B-F48C-445B-9F01-B337B8A27B2D}"/>
                </a:ext>
              </a:extLst>
            </p:cNvPr>
            <p:cNvSpPr>
              <a:spLocks noChangeArrowheads="1"/>
            </p:cNvSpPr>
            <p:nvPr/>
          </p:nvSpPr>
          <p:spPr bwMode="auto">
            <a:xfrm>
              <a:off x="2880" y="12672"/>
              <a:ext cx="1440" cy="1404"/>
            </a:xfrm>
            <a:prstGeom prst="wedgeEllipseCallout">
              <a:avLst>
                <a:gd name="adj1" fmla="val 28611"/>
                <a:gd name="adj2" fmla="val 17736"/>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Char char="•"/>
                <a:defRPr sz="3200" b="1">
                  <a:solidFill>
                    <a:schemeClr val="hlink"/>
                  </a:solidFill>
                  <a:latin typeface="Arial" panose="020B0604020202020204" pitchFamily="34" charset="0"/>
                  <a:ea typeface="宋体" panose="02010600030101010101" pitchFamily="2" charset="-122"/>
                </a:defRPr>
              </a:lvl1pPr>
              <a:lvl2pPr marL="742950" indent="-285750">
                <a:spcBef>
                  <a:spcPct val="20000"/>
                </a:spcBef>
                <a:buSzPct val="100000"/>
                <a:buChar char="–"/>
                <a:defRPr sz="2800" b="1">
                  <a:solidFill>
                    <a:schemeClr val="tx2"/>
                  </a:solidFill>
                  <a:latin typeface="Arial" panose="020B0604020202020204" pitchFamily="34" charset="0"/>
                  <a:ea typeface="宋体" panose="02010600030101010101" pitchFamily="2" charset="-122"/>
                </a:defRPr>
              </a:lvl2pPr>
              <a:lvl3pPr marL="1143000" indent="-228600">
                <a:spcBef>
                  <a:spcPct val="20000"/>
                </a:spcBef>
                <a:buSzPct val="100000"/>
                <a:buChar char="•"/>
                <a:defRPr sz="2400" b="1">
                  <a:solidFill>
                    <a:schemeClr val="folHlink"/>
                  </a:solidFill>
                  <a:latin typeface="Arial" panose="020B0604020202020204" pitchFamily="34" charset="0"/>
                  <a:ea typeface="宋体" panose="02010600030101010101" pitchFamily="2" charset="-122"/>
                </a:defRPr>
              </a:lvl3pPr>
              <a:lvl4pPr marL="16002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SzTx/>
                <a:buFontTx/>
                <a:buNone/>
              </a:pPr>
              <a:r>
                <a:rPr lang="zh-CN" altLang="en-US" sz="1600">
                  <a:solidFill>
                    <a:srgbClr val="000000"/>
                  </a:solidFill>
                  <a:latin typeface="Times New Roman" panose="02020603050405020304" pitchFamily="18" charset="0"/>
                </a:rPr>
                <a:t>会  计</a:t>
              </a:r>
            </a:p>
            <a:p>
              <a:pPr algn="ctr">
                <a:spcBef>
                  <a:spcPct val="0"/>
                </a:spcBef>
                <a:buSzTx/>
                <a:buFontTx/>
                <a:buNone/>
              </a:pPr>
              <a:r>
                <a:rPr lang="zh-CN" altLang="en-US" sz="1600">
                  <a:solidFill>
                    <a:srgbClr val="000000"/>
                  </a:solidFill>
                  <a:latin typeface="Times New Roman" panose="02020603050405020304" pitchFamily="18" charset="0"/>
                </a:rPr>
                <a:t>主  体</a:t>
              </a:r>
            </a:p>
          </p:txBody>
        </p:sp>
        <p:sp>
          <p:nvSpPr>
            <p:cNvPr id="9" name="Text Box 8">
              <a:extLst>
                <a:ext uri="{FF2B5EF4-FFF2-40B4-BE49-F238E27FC236}">
                  <a16:creationId xmlns:a16="http://schemas.microsoft.com/office/drawing/2014/main" id="{31D74A90-F1BF-4FE7-9453-01B06BD899E5}"/>
                </a:ext>
              </a:extLst>
            </p:cNvPr>
            <p:cNvSpPr txBox="1">
              <a:spLocks noChangeArrowheads="1"/>
            </p:cNvSpPr>
            <p:nvPr/>
          </p:nvSpPr>
          <p:spPr bwMode="auto">
            <a:xfrm>
              <a:off x="4779" y="12909"/>
              <a:ext cx="663" cy="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Char char="•"/>
                <a:defRPr sz="3200" b="1">
                  <a:solidFill>
                    <a:schemeClr val="hlink"/>
                  </a:solidFill>
                  <a:latin typeface="Arial" panose="020B0604020202020204" pitchFamily="34" charset="0"/>
                  <a:ea typeface="宋体" panose="02010600030101010101" pitchFamily="2" charset="-122"/>
                </a:defRPr>
              </a:lvl1pPr>
              <a:lvl2pPr marL="742950" indent="-285750">
                <a:spcBef>
                  <a:spcPct val="20000"/>
                </a:spcBef>
                <a:buSzPct val="100000"/>
                <a:buChar char="–"/>
                <a:defRPr sz="2800" b="1">
                  <a:solidFill>
                    <a:schemeClr val="tx2"/>
                  </a:solidFill>
                  <a:latin typeface="Arial" panose="020B0604020202020204" pitchFamily="34" charset="0"/>
                  <a:ea typeface="宋体" panose="02010600030101010101" pitchFamily="2" charset="-122"/>
                </a:defRPr>
              </a:lvl2pPr>
              <a:lvl3pPr marL="1143000" indent="-228600">
                <a:spcBef>
                  <a:spcPct val="20000"/>
                </a:spcBef>
                <a:buSzPct val="100000"/>
                <a:buChar char="•"/>
                <a:defRPr sz="2400" b="1">
                  <a:solidFill>
                    <a:schemeClr val="folHlink"/>
                  </a:solidFill>
                  <a:latin typeface="Arial" panose="020B0604020202020204" pitchFamily="34" charset="0"/>
                  <a:ea typeface="宋体" panose="02010600030101010101" pitchFamily="2" charset="-122"/>
                </a:defRPr>
              </a:lvl3pPr>
              <a:lvl4pPr marL="16002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SzTx/>
                <a:buFontTx/>
                <a:buNone/>
              </a:pPr>
              <a:endParaRPr lang="zh-CN" altLang="zh-CN" sz="1600" dirty="0">
                <a:solidFill>
                  <a:srgbClr val="0000FF"/>
                </a:solidFill>
                <a:latin typeface="宋体" panose="02010600030101010101" pitchFamily="2" charset="-122"/>
              </a:endParaRPr>
            </a:p>
          </p:txBody>
        </p:sp>
        <p:sp>
          <p:nvSpPr>
            <p:cNvPr id="10" name="Text Box 9">
              <a:extLst>
                <a:ext uri="{FF2B5EF4-FFF2-40B4-BE49-F238E27FC236}">
                  <a16:creationId xmlns:a16="http://schemas.microsoft.com/office/drawing/2014/main" id="{DC67DAD3-93C3-416D-BA91-EEB5A5F09FC3}"/>
                </a:ext>
              </a:extLst>
            </p:cNvPr>
            <p:cNvSpPr txBox="1">
              <a:spLocks noChangeArrowheads="1"/>
            </p:cNvSpPr>
            <p:nvPr/>
          </p:nvSpPr>
          <p:spPr bwMode="auto">
            <a:xfrm>
              <a:off x="3960" y="14700"/>
              <a:ext cx="663" cy="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Char char="•"/>
                <a:defRPr sz="3200" b="1">
                  <a:solidFill>
                    <a:schemeClr val="hlink"/>
                  </a:solidFill>
                  <a:latin typeface="Arial" panose="020B0604020202020204" pitchFamily="34" charset="0"/>
                  <a:ea typeface="宋体" panose="02010600030101010101" pitchFamily="2" charset="-122"/>
                </a:defRPr>
              </a:lvl1pPr>
              <a:lvl2pPr marL="742950" indent="-285750">
                <a:spcBef>
                  <a:spcPct val="20000"/>
                </a:spcBef>
                <a:buSzPct val="100000"/>
                <a:buChar char="–"/>
                <a:defRPr sz="2800" b="1">
                  <a:solidFill>
                    <a:schemeClr val="tx2"/>
                  </a:solidFill>
                  <a:latin typeface="Arial" panose="020B0604020202020204" pitchFamily="34" charset="0"/>
                  <a:ea typeface="宋体" panose="02010600030101010101" pitchFamily="2" charset="-122"/>
                </a:defRPr>
              </a:lvl2pPr>
              <a:lvl3pPr marL="1143000" indent="-228600">
                <a:spcBef>
                  <a:spcPct val="20000"/>
                </a:spcBef>
                <a:buSzPct val="100000"/>
                <a:buChar char="•"/>
                <a:defRPr sz="2400" b="1">
                  <a:solidFill>
                    <a:schemeClr val="folHlink"/>
                  </a:solidFill>
                  <a:latin typeface="Arial" panose="020B0604020202020204" pitchFamily="34" charset="0"/>
                  <a:ea typeface="宋体" panose="02010600030101010101" pitchFamily="2" charset="-122"/>
                </a:defRPr>
              </a:lvl3pPr>
              <a:lvl4pPr marL="16002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SzTx/>
                <a:buFontTx/>
                <a:buNone/>
              </a:pPr>
              <a:endParaRPr lang="zh-CN" altLang="zh-CN" sz="500">
                <a:solidFill>
                  <a:srgbClr val="0000FF"/>
                </a:solidFill>
                <a:latin typeface="Times New Roman" panose="02020603050405020304" pitchFamily="18" charset="0"/>
              </a:endParaRPr>
            </a:p>
          </p:txBody>
        </p:sp>
        <p:sp>
          <p:nvSpPr>
            <p:cNvPr id="11" name="AutoShape 10">
              <a:extLst>
                <a:ext uri="{FF2B5EF4-FFF2-40B4-BE49-F238E27FC236}">
                  <a16:creationId xmlns:a16="http://schemas.microsoft.com/office/drawing/2014/main" id="{E93D8B7B-63BF-4ADA-8778-6D8395DCABF7}"/>
                </a:ext>
              </a:extLst>
            </p:cNvPr>
            <p:cNvSpPr>
              <a:spLocks noChangeArrowheads="1"/>
            </p:cNvSpPr>
            <p:nvPr/>
          </p:nvSpPr>
          <p:spPr bwMode="auto">
            <a:xfrm>
              <a:off x="5760" y="13452"/>
              <a:ext cx="1440" cy="1404"/>
            </a:xfrm>
            <a:prstGeom prst="wedgeEllipseCallout">
              <a:avLst>
                <a:gd name="adj1" fmla="val 26111"/>
                <a:gd name="adj2" fmla="val 6625"/>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Char char="•"/>
                <a:defRPr sz="3200" b="1">
                  <a:solidFill>
                    <a:schemeClr val="hlink"/>
                  </a:solidFill>
                  <a:latin typeface="Arial" panose="020B0604020202020204" pitchFamily="34" charset="0"/>
                  <a:ea typeface="宋体" panose="02010600030101010101" pitchFamily="2" charset="-122"/>
                </a:defRPr>
              </a:lvl1pPr>
              <a:lvl2pPr marL="742950" indent="-285750">
                <a:spcBef>
                  <a:spcPct val="20000"/>
                </a:spcBef>
                <a:buSzPct val="100000"/>
                <a:buChar char="–"/>
                <a:defRPr sz="2800" b="1">
                  <a:solidFill>
                    <a:schemeClr val="tx2"/>
                  </a:solidFill>
                  <a:latin typeface="Arial" panose="020B0604020202020204" pitchFamily="34" charset="0"/>
                  <a:ea typeface="宋体" panose="02010600030101010101" pitchFamily="2" charset="-122"/>
                </a:defRPr>
              </a:lvl2pPr>
              <a:lvl3pPr marL="1143000" indent="-228600">
                <a:spcBef>
                  <a:spcPct val="20000"/>
                </a:spcBef>
                <a:buSzPct val="100000"/>
                <a:buChar char="•"/>
                <a:defRPr sz="2400" b="1">
                  <a:solidFill>
                    <a:schemeClr val="folHlink"/>
                  </a:solidFill>
                  <a:latin typeface="Arial" panose="020B0604020202020204" pitchFamily="34" charset="0"/>
                  <a:ea typeface="宋体" panose="02010600030101010101" pitchFamily="2" charset="-122"/>
                </a:defRPr>
              </a:lvl3pPr>
              <a:lvl4pPr marL="16002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SzTx/>
                <a:buFontTx/>
                <a:buNone/>
              </a:pPr>
              <a:r>
                <a:rPr lang="en-US" altLang="zh-CN" sz="1600">
                  <a:solidFill>
                    <a:srgbClr val="0000FF"/>
                  </a:solidFill>
                  <a:latin typeface="Times New Roman" panose="02020603050405020304" pitchFamily="18" charset="0"/>
                </a:rPr>
                <a:t>C</a:t>
              </a:r>
            </a:p>
            <a:p>
              <a:pPr algn="ctr">
                <a:spcBef>
                  <a:spcPct val="0"/>
                </a:spcBef>
                <a:buSzTx/>
                <a:buFontTx/>
                <a:buNone/>
              </a:pPr>
              <a:r>
                <a:rPr lang="zh-CN" altLang="en-US" sz="1600">
                  <a:solidFill>
                    <a:srgbClr val="0000FF"/>
                  </a:solidFill>
                  <a:latin typeface="Times New Roman" panose="02020603050405020304" pitchFamily="18" charset="0"/>
                </a:rPr>
                <a:t>公司</a:t>
              </a:r>
              <a:endParaRPr lang="zh-CN" altLang="en-US" sz="1600">
                <a:solidFill>
                  <a:srgbClr val="000000"/>
                </a:solidFill>
                <a:latin typeface="Times New Roman" panose="02020603050405020304" pitchFamily="18" charset="0"/>
              </a:endParaRPr>
            </a:p>
          </p:txBody>
        </p:sp>
      </p:grpSp>
      <p:sp>
        <p:nvSpPr>
          <p:cNvPr id="12" name="Oval 12">
            <a:extLst>
              <a:ext uri="{FF2B5EF4-FFF2-40B4-BE49-F238E27FC236}">
                <a16:creationId xmlns:a16="http://schemas.microsoft.com/office/drawing/2014/main" id="{F759D51B-5E5E-4343-81B6-2AD15233241E}"/>
              </a:ext>
            </a:extLst>
          </p:cNvPr>
          <p:cNvSpPr>
            <a:spLocks noChangeArrowheads="1"/>
          </p:cNvSpPr>
          <p:nvPr/>
        </p:nvSpPr>
        <p:spPr bwMode="auto">
          <a:xfrm>
            <a:off x="6948264" y="4751101"/>
            <a:ext cx="1995711" cy="1013447"/>
          </a:xfrm>
          <a:prstGeom prst="ellipse">
            <a:avLst/>
          </a:prstGeom>
          <a:solidFill>
            <a:srgbClr val="99CCF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SzPct val="100000"/>
              <a:buChar char="•"/>
              <a:defRPr sz="3200" b="1">
                <a:solidFill>
                  <a:schemeClr val="hlink"/>
                </a:solidFill>
                <a:latin typeface="Arial" panose="020B0604020202020204" pitchFamily="34" charset="0"/>
                <a:ea typeface="宋体" panose="02010600030101010101" pitchFamily="2" charset="-122"/>
              </a:defRPr>
            </a:lvl1pPr>
            <a:lvl2pPr marL="742950" indent="-285750">
              <a:spcBef>
                <a:spcPct val="20000"/>
              </a:spcBef>
              <a:buSzPct val="100000"/>
              <a:buChar char="–"/>
              <a:defRPr sz="2800" b="1">
                <a:solidFill>
                  <a:schemeClr val="tx2"/>
                </a:solidFill>
                <a:latin typeface="Arial" panose="020B0604020202020204" pitchFamily="34" charset="0"/>
                <a:ea typeface="宋体" panose="02010600030101010101" pitchFamily="2" charset="-122"/>
              </a:defRPr>
            </a:lvl2pPr>
            <a:lvl3pPr marL="1143000" indent="-228600">
              <a:spcBef>
                <a:spcPct val="20000"/>
              </a:spcBef>
              <a:buSzPct val="100000"/>
              <a:buChar char="•"/>
              <a:defRPr sz="2400" b="1">
                <a:solidFill>
                  <a:schemeClr val="folHlink"/>
                </a:solidFill>
                <a:latin typeface="Arial" panose="020B0604020202020204" pitchFamily="34" charset="0"/>
                <a:ea typeface="宋体" panose="02010600030101010101" pitchFamily="2" charset="-122"/>
              </a:defRPr>
            </a:lvl3pPr>
            <a:lvl4pPr marL="16002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SzTx/>
              <a:buFontTx/>
              <a:buNone/>
            </a:pPr>
            <a:r>
              <a:rPr lang="zh-CN" altLang="en-US" sz="1800" dirty="0">
                <a:solidFill>
                  <a:srgbClr val="800000"/>
                </a:solidFill>
                <a:latin typeface="宋体" panose="02010600030101010101" pitchFamily="2" charset="-122"/>
              </a:rPr>
              <a:t>与其他企业的</a:t>
            </a:r>
            <a:endParaRPr lang="en-US" altLang="zh-CN" sz="1800" dirty="0">
              <a:solidFill>
                <a:srgbClr val="800000"/>
              </a:solidFill>
              <a:latin typeface="宋体" panose="02010600030101010101" pitchFamily="2" charset="-122"/>
            </a:endParaRPr>
          </a:p>
          <a:p>
            <a:pPr algn="ctr">
              <a:spcBef>
                <a:spcPct val="0"/>
              </a:spcBef>
              <a:buSzTx/>
              <a:buFontTx/>
              <a:buNone/>
            </a:pPr>
            <a:r>
              <a:rPr lang="zh-CN" altLang="en-US" sz="1800" dirty="0">
                <a:solidFill>
                  <a:srgbClr val="800000"/>
                </a:solidFill>
                <a:latin typeface="宋体" panose="02010600030101010101" pitchFamily="2" charset="-122"/>
              </a:rPr>
              <a:t>活动分开</a:t>
            </a:r>
          </a:p>
        </p:txBody>
      </p:sp>
      <p:sp>
        <p:nvSpPr>
          <p:cNvPr id="13" name="Text Box 13">
            <a:extLst>
              <a:ext uri="{FF2B5EF4-FFF2-40B4-BE49-F238E27FC236}">
                <a16:creationId xmlns:a16="http://schemas.microsoft.com/office/drawing/2014/main" id="{F2A1F336-5830-4315-998F-E16E595850E2}"/>
              </a:ext>
            </a:extLst>
          </p:cNvPr>
          <p:cNvSpPr txBox="1">
            <a:spLocks noChangeArrowheads="1"/>
          </p:cNvSpPr>
          <p:nvPr/>
        </p:nvSpPr>
        <p:spPr bwMode="auto">
          <a:xfrm>
            <a:off x="701313" y="5353137"/>
            <a:ext cx="5562600" cy="892552"/>
          </a:xfrm>
          <a:prstGeom prst="rect">
            <a:avLst/>
          </a:prstGeom>
          <a:solidFill>
            <a:srgbClr val="316195"/>
          </a:solidFill>
          <a:ln w="9525">
            <a:solidFill>
              <a:schemeClr val="tx1"/>
            </a:solidFill>
            <a:miter lim="800000"/>
            <a:headEnd/>
            <a:tailEnd/>
          </a:ln>
          <a:effectLst>
            <a:outerShdw dist="107763" dir="2700000" algn="ctr" rotWithShape="0">
              <a:schemeClr val="tx2"/>
            </a:outerShdw>
          </a:effectLst>
        </p:spPr>
        <p:txBody>
          <a:bodyPr anchor="ctr">
            <a:spAutoFit/>
          </a:bodyPr>
          <a:lstStyle/>
          <a:p>
            <a:pPr algn="ctr">
              <a:spcBef>
                <a:spcPct val="50000"/>
              </a:spcBef>
              <a:defRPr/>
            </a:pPr>
            <a:r>
              <a:rPr lang="zh-CN" altLang="en-US" sz="2600" dirty="0">
                <a:latin typeface="黑体" panose="02010609060101010101" pitchFamily="49" charset="-122"/>
                <a:ea typeface="黑体" panose="02010609060101010101" pitchFamily="49" charset="-122"/>
              </a:rPr>
              <a:t>会计主体 将会计系统中的经济数据限定为与企业活动直接相关的数据</a:t>
            </a:r>
          </a:p>
        </p:txBody>
      </p:sp>
      <p:sp>
        <p:nvSpPr>
          <p:cNvPr id="14" name="Oval 12">
            <a:extLst>
              <a:ext uri="{FF2B5EF4-FFF2-40B4-BE49-F238E27FC236}">
                <a16:creationId xmlns:a16="http://schemas.microsoft.com/office/drawing/2014/main" id="{6B3B7DC9-9AC1-42D7-A316-E8E7AD7215C8}"/>
              </a:ext>
            </a:extLst>
          </p:cNvPr>
          <p:cNvSpPr>
            <a:spLocks noChangeArrowheads="1"/>
          </p:cNvSpPr>
          <p:nvPr/>
        </p:nvSpPr>
        <p:spPr bwMode="auto">
          <a:xfrm>
            <a:off x="7063068" y="5862088"/>
            <a:ext cx="1880907" cy="1013447"/>
          </a:xfrm>
          <a:prstGeom prst="ellipse">
            <a:avLst/>
          </a:prstGeom>
          <a:solidFill>
            <a:srgbClr val="99CCF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SzPct val="100000"/>
              <a:buChar char="•"/>
              <a:defRPr sz="3200" b="1">
                <a:solidFill>
                  <a:schemeClr val="hlink"/>
                </a:solidFill>
                <a:latin typeface="Arial" panose="020B0604020202020204" pitchFamily="34" charset="0"/>
                <a:ea typeface="宋体" panose="02010600030101010101" pitchFamily="2" charset="-122"/>
              </a:defRPr>
            </a:lvl1pPr>
            <a:lvl2pPr marL="742950" indent="-285750">
              <a:spcBef>
                <a:spcPct val="20000"/>
              </a:spcBef>
              <a:buSzPct val="100000"/>
              <a:buChar char="–"/>
              <a:defRPr sz="2800" b="1">
                <a:solidFill>
                  <a:schemeClr val="tx2"/>
                </a:solidFill>
                <a:latin typeface="Arial" panose="020B0604020202020204" pitchFamily="34" charset="0"/>
                <a:ea typeface="宋体" panose="02010600030101010101" pitchFamily="2" charset="-122"/>
              </a:defRPr>
            </a:lvl2pPr>
            <a:lvl3pPr marL="1143000" indent="-228600">
              <a:spcBef>
                <a:spcPct val="20000"/>
              </a:spcBef>
              <a:buSzPct val="100000"/>
              <a:buChar char="•"/>
              <a:defRPr sz="2400" b="1">
                <a:solidFill>
                  <a:schemeClr val="folHlink"/>
                </a:solidFill>
                <a:latin typeface="Arial" panose="020B0604020202020204" pitchFamily="34" charset="0"/>
                <a:ea typeface="宋体" panose="02010600030101010101" pitchFamily="2" charset="-122"/>
              </a:defRPr>
            </a:lvl3pPr>
            <a:lvl4pPr marL="16002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SzPct val="100000"/>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SzPct val="100000"/>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SzTx/>
              <a:buFontTx/>
              <a:buNone/>
            </a:pPr>
            <a:r>
              <a:rPr lang="zh-CN" altLang="en-US" sz="1800" dirty="0">
                <a:solidFill>
                  <a:srgbClr val="800000"/>
                </a:solidFill>
                <a:latin typeface="宋体" panose="02010600030101010101" pitchFamily="2" charset="-122"/>
              </a:rPr>
              <a:t>与利益相关者的</a:t>
            </a:r>
          </a:p>
          <a:p>
            <a:pPr algn="ctr">
              <a:spcBef>
                <a:spcPct val="0"/>
              </a:spcBef>
              <a:buSzTx/>
              <a:buFontTx/>
              <a:buNone/>
            </a:pPr>
            <a:r>
              <a:rPr lang="zh-CN" altLang="en-US" sz="1800" dirty="0">
                <a:solidFill>
                  <a:srgbClr val="800000"/>
                </a:solidFill>
                <a:latin typeface="宋体" panose="02010600030101010101" pitchFamily="2" charset="-122"/>
              </a:rPr>
              <a:t>活动与财产分开</a:t>
            </a:r>
          </a:p>
        </p:txBody>
      </p:sp>
      <p:sp>
        <p:nvSpPr>
          <p:cNvPr id="15" name="左大括号 14">
            <a:extLst>
              <a:ext uri="{FF2B5EF4-FFF2-40B4-BE49-F238E27FC236}">
                <a16:creationId xmlns:a16="http://schemas.microsoft.com/office/drawing/2014/main" id="{D6A0D113-74CD-4AB5-9C9F-2FBFB252746E}"/>
              </a:ext>
            </a:extLst>
          </p:cNvPr>
          <p:cNvSpPr/>
          <p:nvPr/>
        </p:nvSpPr>
        <p:spPr bwMode="auto">
          <a:xfrm>
            <a:off x="6623507" y="5353137"/>
            <a:ext cx="45719" cy="1013447"/>
          </a:xfrm>
          <a:prstGeom prst="leftBrace">
            <a:avLst/>
          </a:prstGeom>
          <a:solidFill>
            <a:schemeClr val="accent1"/>
          </a:solidFill>
          <a:ln w="12700" cap="flat" cmpd="sng" algn="ctr">
            <a:solidFill>
              <a:schemeClr val="tx1"/>
            </a:solidFill>
            <a:prstDash val="solid"/>
            <a:round/>
            <a:headEnd type="none" w="sm" len="sm"/>
            <a:tailEnd type="none" w="sm" len="sm"/>
          </a:ln>
          <a:effectLst/>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Tree>
    <p:extLst>
      <p:ext uri="{BB962C8B-B14F-4D97-AF65-F5344CB8AC3E}">
        <p14:creationId xmlns:p14="http://schemas.microsoft.com/office/powerpoint/2010/main" val="9175193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下列事项是否违背会计主体假设</a:t>
            </a:r>
            <a:endParaRPr lang="en-US" altLang="zh-CN" dirty="0"/>
          </a:p>
          <a:p>
            <a:endParaRPr lang="zh-CN" altLang="en-US" dirty="0"/>
          </a:p>
          <a:p>
            <a:pPr lvl="1"/>
            <a:r>
              <a:rPr lang="zh-CN" altLang="en-US" dirty="0"/>
              <a:t>以公司名义为创始家族提供担保？</a:t>
            </a:r>
          </a:p>
          <a:p>
            <a:pPr lvl="1"/>
            <a:r>
              <a:rPr lang="zh-CN" altLang="en-US" dirty="0"/>
              <a:t>运用公司的资金为公司主席支付公寓和厨师的费用？</a:t>
            </a:r>
          </a:p>
          <a:p>
            <a:pPr lvl="1"/>
            <a:r>
              <a:rPr lang="zh-CN" altLang="en-US" dirty="0"/>
              <a:t>用企业的车接送企业老总小孩上学？</a:t>
            </a:r>
          </a:p>
        </p:txBody>
      </p:sp>
    </p:spTree>
    <p:extLst>
      <p:ext uri="{BB962C8B-B14F-4D97-AF65-F5344CB8AC3E}">
        <p14:creationId xmlns:p14="http://schemas.microsoft.com/office/powerpoint/2010/main" val="42939894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会计主体与法律主体的区分</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82688" y="2017713"/>
            <a:ext cx="7277744" cy="4114800"/>
          </a:xfrm>
        </p:spPr>
        <p:txBody>
          <a:bodyPr/>
          <a:lstStyle/>
          <a:p>
            <a:r>
              <a:rPr lang="zh-CN" altLang="en-US" dirty="0"/>
              <a:t>一般来说，所有的主体都需要进行会计核算，因此，法律主体一定是会计主体。</a:t>
            </a:r>
          </a:p>
          <a:p>
            <a:endParaRPr lang="zh-CN" altLang="en-US" dirty="0"/>
          </a:p>
          <a:p>
            <a:r>
              <a:rPr lang="zh-CN" altLang="en-US" dirty="0"/>
              <a:t>会计主体不一定是法律主体，比如独资企业、合伙企业是会计主体，但不是法律主体。</a:t>
            </a:r>
          </a:p>
          <a:p>
            <a:endParaRPr lang="zh-CN" altLang="en-US" dirty="0"/>
          </a:p>
          <a:p>
            <a:r>
              <a:rPr lang="zh-CN" altLang="en-US" dirty="0"/>
              <a:t>企业集团是法律主体吗？是会计主体吗？</a:t>
            </a:r>
          </a:p>
        </p:txBody>
      </p:sp>
    </p:spTree>
    <p:extLst>
      <p:ext uri="{BB962C8B-B14F-4D97-AF65-F5344CB8AC3E}">
        <p14:creationId xmlns:p14="http://schemas.microsoft.com/office/powerpoint/2010/main" val="820525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持续经营</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82688" y="2017713"/>
            <a:ext cx="7772400" cy="1051247"/>
          </a:xfrm>
        </p:spPr>
        <p:txBody>
          <a:bodyPr/>
          <a:lstStyle/>
          <a:p>
            <a:r>
              <a:rPr lang="zh-CN" altLang="en-US" dirty="0"/>
              <a:t>指在可以预见的将来，企业会按当前的规模和状态继续经营下去、不会停业，也不会大规模削减业务</a:t>
            </a:r>
          </a:p>
        </p:txBody>
      </p:sp>
      <p:pic>
        <p:nvPicPr>
          <p:cNvPr id="4" name="Picture 3" descr="capt1-22">
            <a:extLst>
              <a:ext uri="{FF2B5EF4-FFF2-40B4-BE49-F238E27FC236}">
                <a16:creationId xmlns:a16="http://schemas.microsoft.com/office/drawing/2014/main" id="{B79C4E0C-79D1-43D3-B114-3A90515FC3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3284984"/>
            <a:ext cx="5724525" cy="241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714001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会计分期</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82688" y="2017713"/>
            <a:ext cx="7772400" cy="1123255"/>
          </a:xfrm>
        </p:spPr>
        <p:txBody>
          <a:bodyPr/>
          <a:lstStyle/>
          <a:p>
            <a:r>
              <a:rPr lang="zh-CN" altLang="en-US" dirty="0"/>
              <a:t>是指将一个企业持续不断的生产经营活动划分为一个连续的、长短相同的期间</a:t>
            </a:r>
          </a:p>
        </p:txBody>
      </p:sp>
      <p:pic>
        <p:nvPicPr>
          <p:cNvPr id="4" name="Picture 3" descr="capt1-24">
            <a:extLst>
              <a:ext uri="{FF2B5EF4-FFF2-40B4-BE49-F238E27FC236}">
                <a16:creationId xmlns:a16="http://schemas.microsoft.com/office/drawing/2014/main" id="{7232670D-CD75-4B57-A7F4-CDF1042561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1761" y="3140968"/>
            <a:ext cx="6477000" cy="217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内容占位符 2">
            <a:extLst>
              <a:ext uri="{FF2B5EF4-FFF2-40B4-BE49-F238E27FC236}">
                <a16:creationId xmlns:a16="http://schemas.microsoft.com/office/drawing/2014/main" id="{A4B2E1B3-28AA-4983-BEFC-9AB727574EC3}"/>
              </a:ext>
            </a:extLst>
          </p:cNvPr>
          <p:cNvSpPr txBox="1">
            <a:spLocks/>
          </p:cNvSpPr>
          <p:nvPr/>
        </p:nvSpPr>
        <p:spPr bwMode="auto">
          <a:xfrm>
            <a:off x="1150938" y="5547311"/>
            <a:ext cx="7772400" cy="1123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57175" indent="-257175" algn="l" rtl="0" eaLnBrk="0" fontAlgn="base" hangingPunct="0">
              <a:spcBef>
                <a:spcPct val="15000"/>
              </a:spcBef>
              <a:spcAft>
                <a:spcPct val="0"/>
              </a:spcAft>
              <a:buClr>
                <a:schemeClr val="folHlink"/>
              </a:buClr>
              <a:buSzPct val="60000"/>
              <a:buFont typeface="Wingdings" panose="05000000000000000000" pitchFamily="2" charset="2"/>
              <a:buChar char="n"/>
              <a:defRPr sz="2600" b="0">
                <a:solidFill>
                  <a:schemeClr val="tx1"/>
                </a:solidFill>
                <a:latin typeface="黑体" panose="02010609060101010101" pitchFamily="49" charset="-122"/>
                <a:ea typeface="黑体" panose="02010609060101010101" pitchFamily="49" charset="-122"/>
                <a:cs typeface="+mn-cs"/>
              </a:defRPr>
            </a:lvl1pPr>
            <a:lvl2pPr marL="557530" indent="-213995" algn="l" rtl="0" eaLnBrk="0" fontAlgn="base" hangingPunct="0">
              <a:spcBef>
                <a:spcPct val="15000"/>
              </a:spcBef>
              <a:spcAft>
                <a:spcPct val="0"/>
              </a:spcAft>
              <a:buClr>
                <a:schemeClr val="hlink"/>
              </a:buClr>
              <a:buSzPct val="55000"/>
              <a:buFont typeface="Wingdings" panose="05000000000000000000" pitchFamily="2" charset="2"/>
              <a:buChar char="n"/>
              <a:defRPr sz="2400" b="0">
                <a:solidFill>
                  <a:schemeClr val="tx1"/>
                </a:solidFill>
                <a:latin typeface="楷体_GB2312" panose="02010609030101010101" pitchFamily="49" charset="-122"/>
                <a:ea typeface="楷体_GB2312" panose="02010609030101010101" pitchFamily="49" charset="-122"/>
              </a:defRPr>
            </a:lvl2pPr>
            <a:lvl3pPr marL="857250" indent="-171450" algn="l" rtl="0" eaLnBrk="0" fontAlgn="base" hangingPunct="0">
              <a:spcBef>
                <a:spcPct val="15000"/>
              </a:spcBef>
              <a:spcAft>
                <a:spcPct val="0"/>
              </a:spcAft>
              <a:buClr>
                <a:schemeClr val="folHlink"/>
              </a:buClr>
              <a:buSzPct val="50000"/>
              <a:buFont typeface="Wingdings" panose="05000000000000000000" pitchFamily="2" charset="2"/>
              <a:buChar char="n"/>
              <a:defRPr sz="2000" b="0">
                <a:solidFill>
                  <a:schemeClr val="tx1"/>
                </a:solidFill>
                <a:latin typeface="+mn-ea"/>
                <a:ea typeface="+mn-ea"/>
              </a:defRPr>
            </a:lvl3pPr>
            <a:lvl4pPr marL="1200150" indent="-171450" algn="l" rtl="0" eaLnBrk="0" fontAlgn="base" hangingPunct="0">
              <a:spcBef>
                <a:spcPct val="15000"/>
              </a:spcBef>
              <a:spcAft>
                <a:spcPct val="0"/>
              </a:spcAft>
              <a:buClr>
                <a:schemeClr val="accent2"/>
              </a:buClr>
              <a:buSzPct val="55000"/>
              <a:buFont typeface="Wingdings" panose="05000000000000000000" pitchFamily="2" charset="2"/>
              <a:buChar char="n"/>
              <a:defRPr sz="1600" b="0">
                <a:solidFill>
                  <a:schemeClr val="tx1"/>
                </a:solidFill>
                <a:latin typeface="仿宋_GB2312" panose="02010609030101010101" pitchFamily="49" charset="-122"/>
                <a:ea typeface="仿宋_GB2312" panose="02010609030101010101" pitchFamily="49" charset="-122"/>
              </a:defRPr>
            </a:lvl4pPr>
            <a:lvl5pPr marL="1543050" indent="-171450" algn="l" rtl="0" eaLnBrk="0" fontAlgn="base" hangingPunct="0">
              <a:spcBef>
                <a:spcPct val="15000"/>
              </a:spcBef>
              <a:spcAft>
                <a:spcPct val="0"/>
              </a:spcAft>
              <a:buClr>
                <a:schemeClr val="accent1"/>
              </a:buClr>
              <a:buSzPct val="50000"/>
              <a:buFont typeface="Wingdings" panose="05000000000000000000" pitchFamily="2" charset="2"/>
              <a:buChar char="n"/>
              <a:defRPr sz="1500" b="0">
                <a:solidFill>
                  <a:schemeClr val="tx1"/>
                </a:solidFill>
                <a:latin typeface="黑体" panose="02010609060101010101" pitchFamily="49" charset="-122"/>
                <a:ea typeface="黑体" panose="02010609060101010101" pitchFamily="49" charset="-122"/>
              </a:defRPr>
            </a:lvl5pPr>
            <a:lvl6pPr marL="18859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6pPr>
            <a:lvl7pPr marL="22288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7pPr>
            <a:lvl8pPr marL="25717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8pPr>
            <a:lvl9pPr marL="29146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9pPr>
          </a:lstStyle>
          <a:p>
            <a:pPr lvl="1"/>
            <a:r>
              <a:rPr lang="zh-CN" altLang="en-US" kern="0" dirty="0"/>
              <a:t>会计期间分为年度、半年度、季度和月度</a:t>
            </a:r>
          </a:p>
        </p:txBody>
      </p:sp>
    </p:spTree>
    <p:extLst>
      <p:ext uri="{BB962C8B-B14F-4D97-AF65-F5344CB8AC3E}">
        <p14:creationId xmlns:p14="http://schemas.microsoft.com/office/powerpoint/2010/main" val="41253342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货币计量</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002160" y="2060848"/>
            <a:ext cx="8141840" cy="1843335"/>
          </a:xfrm>
        </p:spPr>
        <p:txBody>
          <a:bodyPr/>
          <a:lstStyle/>
          <a:p>
            <a:r>
              <a:rPr lang="zh-CN" altLang="en-US" dirty="0"/>
              <a:t>指以货币作为为主要计量单位（辅之以实物量、劳动量等计量单位）</a:t>
            </a:r>
          </a:p>
          <a:p>
            <a:pPr lvl="1"/>
            <a:r>
              <a:rPr lang="zh-CN" altLang="en-US" dirty="0"/>
              <a:t>货币是商品的一般等价物，是不同资产的相加成为可能</a:t>
            </a:r>
          </a:p>
        </p:txBody>
      </p:sp>
      <p:graphicFrame>
        <p:nvGraphicFramePr>
          <p:cNvPr id="4" name="Object 3">
            <a:extLst>
              <a:ext uri="{FF2B5EF4-FFF2-40B4-BE49-F238E27FC236}">
                <a16:creationId xmlns:a16="http://schemas.microsoft.com/office/drawing/2014/main" id="{BB928A5E-FE4C-4E6A-8FB1-0DF382A39842}"/>
              </a:ext>
            </a:extLst>
          </p:cNvPr>
          <p:cNvGraphicFramePr>
            <a:graphicFrameLocks noChangeAspect="1"/>
          </p:cNvGraphicFramePr>
          <p:nvPr>
            <p:extLst>
              <p:ext uri="{D42A27DB-BD31-4B8C-83A1-F6EECF244321}">
                <p14:modId xmlns:p14="http://schemas.microsoft.com/office/powerpoint/2010/main" val="567219273"/>
              </p:ext>
            </p:extLst>
          </p:nvPr>
        </p:nvGraphicFramePr>
        <p:xfrm>
          <a:off x="1331640" y="3573016"/>
          <a:ext cx="6324600" cy="2133600"/>
        </p:xfrm>
        <a:graphic>
          <a:graphicData uri="http://schemas.openxmlformats.org/presentationml/2006/ole">
            <mc:AlternateContent xmlns:mc="http://schemas.openxmlformats.org/markup-compatibility/2006">
              <mc:Choice xmlns:v="urn:schemas-microsoft-com:vml" Requires="v">
                <p:oleObj spid="_x0000_s1081" name="BMP 图象" r:id="rId3" imgW="5038095" imgH="1495634" progId="Paint.Picture">
                  <p:embed/>
                </p:oleObj>
              </mc:Choice>
              <mc:Fallback>
                <p:oleObj name="BMP 图象" r:id="rId3" imgW="5038095" imgH="1495634" progId="Paint.Picture">
                  <p:embed/>
                  <p:pic>
                    <p:nvPicPr>
                      <p:cNvPr id="39939" name="Object 3">
                        <a:extLst>
                          <a:ext uri="{FF2B5EF4-FFF2-40B4-BE49-F238E27FC236}">
                            <a16:creationId xmlns:a16="http://schemas.microsoft.com/office/drawing/2014/main" id="{BBDD7DBC-88A1-4647-8257-DB55C2F992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640" y="3573016"/>
                        <a:ext cx="63246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内容占位符 2">
            <a:extLst>
              <a:ext uri="{FF2B5EF4-FFF2-40B4-BE49-F238E27FC236}">
                <a16:creationId xmlns:a16="http://schemas.microsoft.com/office/drawing/2014/main" id="{763D6D0F-6706-48E3-9506-D6E70AE747A0}"/>
              </a:ext>
            </a:extLst>
          </p:cNvPr>
          <p:cNvSpPr txBox="1">
            <a:spLocks/>
          </p:cNvSpPr>
          <p:nvPr/>
        </p:nvSpPr>
        <p:spPr bwMode="auto">
          <a:xfrm>
            <a:off x="1002160" y="6035085"/>
            <a:ext cx="8141840" cy="822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57175" indent="-257175" algn="l" rtl="0" eaLnBrk="0" fontAlgn="base" hangingPunct="0">
              <a:spcBef>
                <a:spcPct val="15000"/>
              </a:spcBef>
              <a:spcAft>
                <a:spcPct val="0"/>
              </a:spcAft>
              <a:buClr>
                <a:schemeClr val="folHlink"/>
              </a:buClr>
              <a:buSzPct val="60000"/>
              <a:buFont typeface="Wingdings" panose="05000000000000000000" pitchFamily="2" charset="2"/>
              <a:buChar char="n"/>
              <a:defRPr sz="2600" b="0">
                <a:solidFill>
                  <a:schemeClr val="tx1"/>
                </a:solidFill>
                <a:latin typeface="黑体" panose="02010609060101010101" pitchFamily="49" charset="-122"/>
                <a:ea typeface="黑体" panose="02010609060101010101" pitchFamily="49" charset="-122"/>
                <a:cs typeface="+mn-cs"/>
              </a:defRPr>
            </a:lvl1pPr>
            <a:lvl2pPr marL="557530" indent="-213995" algn="l" rtl="0" eaLnBrk="0" fontAlgn="base" hangingPunct="0">
              <a:spcBef>
                <a:spcPct val="15000"/>
              </a:spcBef>
              <a:spcAft>
                <a:spcPct val="0"/>
              </a:spcAft>
              <a:buClr>
                <a:schemeClr val="hlink"/>
              </a:buClr>
              <a:buSzPct val="55000"/>
              <a:buFont typeface="Wingdings" panose="05000000000000000000" pitchFamily="2" charset="2"/>
              <a:buChar char="n"/>
              <a:defRPr sz="2400" b="0">
                <a:solidFill>
                  <a:schemeClr val="tx1"/>
                </a:solidFill>
                <a:latin typeface="楷体_GB2312" panose="02010609030101010101" pitchFamily="49" charset="-122"/>
                <a:ea typeface="楷体_GB2312" panose="02010609030101010101" pitchFamily="49" charset="-122"/>
              </a:defRPr>
            </a:lvl2pPr>
            <a:lvl3pPr marL="857250" indent="-171450" algn="l" rtl="0" eaLnBrk="0" fontAlgn="base" hangingPunct="0">
              <a:spcBef>
                <a:spcPct val="15000"/>
              </a:spcBef>
              <a:spcAft>
                <a:spcPct val="0"/>
              </a:spcAft>
              <a:buClr>
                <a:schemeClr val="folHlink"/>
              </a:buClr>
              <a:buSzPct val="50000"/>
              <a:buFont typeface="Wingdings" panose="05000000000000000000" pitchFamily="2" charset="2"/>
              <a:buChar char="n"/>
              <a:defRPr sz="2000" b="0">
                <a:solidFill>
                  <a:schemeClr val="tx1"/>
                </a:solidFill>
                <a:latin typeface="+mn-ea"/>
                <a:ea typeface="+mn-ea"/>
              </a:defRPr>
            </a:lvl3pPr>
            <a:lvl4pPr marL="1200150" indent="-171450" algn="l" rtl="0" eaLnBrk="0" fontAlgn="base" hangingPunct="0">
              <a:spcBef>
                <a:spcPct val="15000"/>
              </a:spcBef>
              <a:spcAft>
                <a:spcPct val="0"/>
              </a:spcAft>
              <a:buClr>
                <a:schemeClr val="accent2"/>
              </a:buClr>
              <a:buSzPct val="55000"/>
              <a:buFont typeface="Wingdings" panose="05000000000000000000" pitchFamily="2" charset="2"/>
              <a:buChar char="n"/>
              <a:defRPr sz="1600" b="0">
                <a:solidFill>
                  <a:schemeClr val="tx1"/>
                </a:solidFill>
                <a:latin typeface="仿宋_GB2312" panose="02010609030101010101" pitchFamily="49" charset="-122"/>
                <a:ea typeface="仿宋_GB2312" panose="02010609030101010101" pitchFamily="49" charset="-122"/>
              </a:defRPr>
            </a:lvl4pPr>
            <a:lvl5pPr marL="1543050" indent="-171450" algn="l" rtl="0" eaLnBrk="0" fontAlgn="base" hangingPunct="0">
              <a:spcBef>
                <a:spcPct val="15000"/>
              </a:spcBef>
              <a:spcAft>
                <a:spcPct val="0"/>
              </a:spcAft>
              <a:buClr>
                <a:schemeClr val="accent1"/>
              </a:buClr>
              <a:buSzPct val="50000"/>
              <a:buFont typeface="Wingdings" panose="05000000000000000000" pitchFamily="2" charset="2"/>
              <a:buChar char="n"/>
              <a:defRPr sz="1500" b="0">
                <a:solidFill>
                  <a:schemeClr val="tx1"/>
                </a:solidFill>
                <a:latin typeface="黑体" panose="02010609060101010101" pitchFamily="49" charset="-122"/>
                <a:ea typeface="黑体" panose="02010609060101010101" pitchFamily="49" charset="-122"/>
              </a:defRPr>
            </a:lvl5pPr>
            <a:lvl6pPr marL="18859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6pPr>
            <a:lvl7pPr marL="22288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7pPr>
            <a:lvl8pPr marL="25717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8pPr>
            <a:lvl9pPr marL="29146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9pPr>
          </a:lstStyle>
          <a:p>
            <a:r>
              <a:rPr lang="zh-CN" altLang="en-US" kern="0" dirty="0"/>
              <a:t>采用币值稳定的货币为前提</a:t>
            </a:r>
          </a:p>
        </p:txBody>
      </p:sp>
    </p:spTree>
    <p:extLst>
      <p:ext uri="{BB962C8B-B14F-4D97-AF65-F5344CB8AC3E}">
        <p14:creationId xmlns:p14="http://schemas.microsoft.com/office/powerpoint/2010/main" val="5691196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会计基础</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会计基础是指会计确认、计量和报告的基础</a:t>
            </a:r>
          </a:p>
          <a:p>
            <a:pPr lvl="1"/>
            <a:r>
              <a:rPr lang="zh-CN" altLang="en-US" dirty="0"/>
              <a:t>权责发生制</a:t>
            </a:r>
          </a:p>
          <a:p>
            <a:endParaRPr lang="zh-CN" altLang="en-US" dirty="0"/>
          </a:p>
          <a:p>
            <a:r>
              <a:rPr lang="zh-CN" altLang="en-US" dirty="0"/>
              <a:t>什么是权责发生制？与权责发生制相对应的制度是什么？</a:t>
            </a:r>
          </a:p>
          <a:p>
            <a:endParaRPr lang="zh-CN" altLang="en-US" dirty="0"/>
          </a:p>
          <a:p>
            <a:r>
              <a:rPr lang="zh-CN" altLang="en-US" dirty="0"/>
              <a:t>为什么要采用权责发生制，而不采用收付实现制？</a:t>
            </a:r>
          </a:p>
        </p:txBody>
      </p:sp>
    </p:spTree>
    <p:extLst>
      <p:ext uri="{BB962C8B-B14F-4D97-AF65-F5344CB8AC3E}">
        <p14:creationId xmlns:p14="http://schemas.microsoft.com/office/powerpoint/2010/main" val="14558838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权责发生制</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比如，</a:t>
            </a:r>
            <a:r>
              <a:rPr lang="en-US" altLang="zh-CN" dirty="0"/>
              <a:t>2×19</a:t>
            </a:r>
            <a:r>
              <a:rPr lang="zh-CN" altLang="en-US" dirty="0"/>
              <a:t>年</a:t>
            </a:r>
            <a:r>
              <a:rPr lang="en-US" altLang="zh-CN" dirty="0"/>
              <a:t>11</a:t>
            </a:r>
            <a:r>
              <a:rPr lang="zh-CN" altLang="en-US" dirty="0"/>
              <a:t>月</a:t>
            </a:r>
            <a:r>
              <a:rPr lang="en-US" altLang="zh-CN" dirty="0"/>
              <a:t>20</a:t>
            </a:r>
            <a:r>
              <a:rPr lang="zh-CN" altLang="en-US" dirty="0"/>
              <a:t>日销售一批商品，款项尚未收到，应当如何进行会计处理？</a:t>
            </a:r>
          </a:p>
          <a:p>
            <a:endParaRPr lang="zh-CN" altLang="en-US" dirty="0"/>
          </a:p>
          <a:p>
            <a:r>
              <a:rPr lang="zh-CN" altLang="en-US" dirty="0"/>
              <a:t>根据权责发生制，企业在</a:t>
            </a:r>
            <a:r>
              <a:rPr lang="en-US" altLang="zh-CN" dirty="0"/>
              <a:t>11</a:t>
            </a:r>
            <a:r>
              <a:rPr lang="zh-CN" altLang="en-US" dirty="0"/>
              <a:t>月</a:t>
            </a:r>
            <a:r>
              <a:rPr lang="en-US" altLang="zh-CN" dirty="0"/>
              <a:t>20</a:t>
            </a:r>
            <a:r>
              <a:rPr lang="zh-CN" altLang="en-US" dirty="0"/>
              <a:t>日确认收入，同时确认一笔应收账款</a:t>
            </a:r>
          </a:p>
          <a:p>
            <a:endParaRPr lang="zh-CN" altLang="en-US" dirty="0"/>
          </a:p>
          <a:p>
            <a:r>
              <a:rPr lang="zh-CN" altLang="en-US" dirty="0"/>
              <a:t>这种处理既可以提供</a:t>
            </a:r>
            <a:r>
              <a:rPr lang="zh-CN" altLang="en-US" b="1" dirty="0">
                <a:solidFill>
                  <a:srgbClr val="FF0000"/>
                </a:solidFill>
              </a:rPr>
              <a:t>过去交易</a:t>
            </a:r>
            <a:r>
              <a:rPr lang="zh-CN" altLang="en-US" dirty="0"/>
              <a:t>发生情况的信息，也可以为报表使用者提供企业</a:t>
            </a:r>
            <a:r>
              <a:rPr lang="zh-CN" altLang="en-US" b="1" dirty="0">
                <a:solidFill>
                  <a:srgbClr val="FF0000"/>
                </a:solidFill>
              </a:rPr>
              <a:t>未来获取现金流量</a:t>
            </a:r>
            <a:r>
              <a:rPr lang="zh-CN" altLang="en-US" dirty="0"/>
              <a:t>的信息</a:t>
            </a:r>
          </a:p>
        </p:txBody>
      </p:sp>
    </p:spTree>
    <p:extLst>
      <p:ext uri="{BB962C8B-B14F-4D97-AF65-F5344CB8AC3E}">
        <p14:creationId xmlns:p14="http://schemas.microsoft.com/office/powerpoint/2010/main" val="33884090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a:xfrm>
            <a:off x="1818323" y="2028349"/>
            <a:ext cx="5829300" cy="3321368"/>
          </a:xfrm>
        </p:spPr>
        <p:txBody>
          <a:bodyPr/>
          <a:lstStyle/>
          <a:p>
            <a:pPr eaLnBrk="1" hangingPunct="1"/>
            <a:endParaRPr lang="en-US" altLang="zh-CN" dirty="0"/>
          </a:p>
          <a:p>
            <a:pPr eaLnBrk="1" hangingPunct="1"/>
            <a:endParaRPr lang="en-US" altLang="zh-CN" dirty="0"/>
          </a:p>
          <a:p>
            <a:pPr algn="ctr" eaLnBrk="1" hangingPunct="1"/>
            <a:r>
              <a:rPr lang="zh-CN" altLang="en-US" sz="3300" dirty="0">
                <a:latin typeface="黑体" panose="02010609060101010101" pitchFamily="2" charset="-122"/>
                <a:ea typeface="黑体" panose="02010609060101010101" pitchFamily="2" charset="-122"/>
                <a:cs typeface="黑体" panose="02010609060101010101" pitchFamily="2" charset="-122"/>
              </a:rPr>
              <a:t>三、会计信息质量要求</a:t>
            </a:r>
          </a:p>
        </p:txBody>
      </p:sp>
    </p:spTree>
    <p:extLst>
      <p:ext uri="{BB962C8B-B14F-4D97-AF65-F5344CB8AC3E}">
        <p14:creationId xmlns:p14="http://schemas.microsoft.com/office/powerpoint/2010/main" val="42353601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会计信息质量要求</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会计信息要有用，就必要满足一定的质量标准</a:t>
            </a:r>
          </a:p>
          <a:p>
            <a:endParaRPr lang="zh-CN" altLang="en-US" dirty="0"/>
          </a:p>
          <a:p>
            <a:r>
              <a:rPr lang="zh-CN" altLang="en-US" dirty="0"/>
              <a:t>定义：</a:t>
            </a:r>
          </a:p>
          <a:p>
            <a:pPr lvl="1"/>
            <a:r>
              <a:rPr lang="zh-CN" altLang="en-US" dirty="0"/>
              <a:t>会计信息的质量要求是财务会计报告所提供信息应达到的基本标准和要求</a:t>
            </a:r>
          </a:p>
          <a:p>
            <a:r>
              <a:rPr lang="zh-CN" altLang="en-US" dirty="0"/>
              <a:t>内容：</a:t>
            </a:r>
          </a:p>
          <a:p>
            <a:pPr lvl="1"/>
            <a:r>
              <a:rPr lang="zh-CN" altLang="en-US" b="1" dirty="0">
                <a:solidFill>
                  <a:srgbClr val="FF0000"/>
                </a:solidFill>
              </a:rPr>
              <a:t>对于其包括的内容，人们在认识上还不统一</a:t>
            </a:r>
          </a:p>
          <a:p>
            <a:pPr lvl="1"/>
            <a:r>
              <a:rPr lang="zh-CN" altLang="en-US" dirty="0"/>
              <a:t>一般认为，主要包括可靠性、相关性、可理解性、可比性、实质重于形式、重要性、谨慎性和及时性</a:t>
            </a:r>
          </a:p>
        </p:txBody>
      </p:sp>
    </p:spTree>
    <p:extLst>
      <p:ext uri="{BB962C8B-B14F-4D97-AF65-F5344CB8AC3E}">
        <p14:creationId xmlns:p14="http://schemas.microsoft.com/office/powerpoint/2010/main" val="27334145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会计信息质量要求层次结构</a:t>
            </a:r>
          </a:p>
        </p:txBody>
      </p:sp>
      <p:pic>
        <p:nvPicPr>
          <p:cNvPr id="5" name="Picture 35">
            <a:extLst>
              <a:ext uri="{FF2B5EF4-FFF2-40B4-BE49-F238E27FC236}">
                <a16:creationId xmlns:a16="http://schemas.microsoft.com/office/drawing/2014/main" id="{4E5A8F39-0557-47D7-967F-33D45BFF7D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258" y="2420888"/>
            <a:ext cx="8569484" cy="3920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Tree>
    <p:extLst>
      <p:ext uri="{BB962C8B-B14F-4D97-AF65-F5344CB8AC3E}">
        <p14:creationId xmlns:p14="http://schemas.microsoft.com/office/powerpoint/2010/main" val="3750641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会计信息质量要求</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可靠性</a:t>
            </a:r>
          </a:p>
          <a:p>
            <a:pPr lvl="1"/>
            <a:r>
              <a:rPr lang="zh-CN" altLang="en-US" dirty="0"/>
              <a:t>可靠性要求企业应当以实际发生的交易或事项为依据进行确认、计量和报告，如实反映各项会计要素和其他相关信息</a:t>
            </a:r>
          </a:p>
          <a:p>
            <a:pPr lvl="2"/>
            <a:r>
              <a:rPr lang="zh-CN" altLang="en-US" dirty="0"/>
              <a:t>实际发生</a:t>
            </a:r>
          </a:p>
          <a:p>
            <a:pPr lvl="2"/>
            <a:r>
              <a:rPr lang="zh-CN" altLang="en-US" dirty="0"/>
              <a:t>如实反映</a:t>
            </a:r>
          </a:p>
          <a:p>
            <a:pPr lvl="2"/>
            <a:r>
              <a:rPr lang="zh-CN" altLang="en-US" dirty="0"/>
              <a:t>内容完整</a:t>
            </a:r>
          </a:p>
        </p:txBody>
      </p:sp>
    </p:spTree>
    <p:extLst>
      <p:ext uri="{BB962C8B-B14F-4D97-AF65-F5344CB8AC3E}">
        <p14:creationId xmlns:p14="http://schemas.microsoft.com/office/powerpoint/2010/main" val="1720190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会计信息质量要求</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相关性</a:t>
            </a:r>
          </a:p>
          <a:p>
            <a:pPr lvl="1"/>
            <a:r>
              <a:rPr lang="zh-CN" altLang="en-US" dirty="0"/>
              <a:t>相关性是指会计信息要同信息使用者的经济决策相关联</a:t>
            </a:r>
          </a:p>
          <a:p>
            <a:pPr lvl="1"/>
            <a:r>
              <a:rPr lang="zh-CN" altLang="en-US" dirty="0"/>
              <a:t>要求信息要有预测作用和确证作用</a:t>
            </a:r>
          </a:p>
          <a:p>
            <a:pPr lvl="2"/>
            <a:r>
              <a:rPr lang="zh-CN" altLang="en-US" dirty="0"/>
              <a:t>比如，</a:t>
            </a:r>
            <a:r>
              <a:rPr lang="en-US" altLang="zh-CN" dirty="0"/>
              <a:t>2×20</a:t>
            </a:r>
            <a:r>
              <a:rPr lang="zh-CN" altLang="en-US" dirty="0"/>
              <a:t>年</a:t>
            </a:r>
            <a:r>
              <a:rPr lang="en-US" altLang="zh-CN" dirty="0"/>
              <a:t>11</a:t>
            </a:r>
            <a:r>
              <a:rPr lang="zh-CN" altLang="en-US" dirty="0"/>
              <a:t>月</a:t>
            </a:r>
            <a:r>
              <a:rPr lang="en-US" altLang="zh-CN" dirty="0"/>
              <a:t>20</a:t>
            </a:r>
            <a:r>
              <a:rPr lang="zh-CN" altLang="en-US" dirty="0"/>
              <a:t>日销售一批商品，款项尚未收到，根据权责发生制，企业在</a:t>
            </a:r>
            <a:r>
              <a:rPr lang="en-US" altLang="zh-CN" dirty="0"/>
              <a:t>11</a:t>
            </a:r>
            <a:r>
              <a:rPr lang="zh-CN" altLang="en-US" dirty="0"/>
              <a:t>月</a:t>
            </a:r>
            <a:r>
              <a:rPr lang="en-US" altLang="zh-CN" dirty="0"/>
              <a:t>20</a:t>
            </a:r>
            <a:r>
              <a:rPr lang="zh-CN" altLang="en-US" dirty="0"/>
              <a:t>日确认收入，同时确认一笔应收账款</a:t>
            </a:r>
          </a:p>
          <a:p>
            <a:pPr lvl="3"/>
            <a:r>
              <a:rPr lang="zh-CN" altLang="en-US" dirty="0"/>
              <a:t>这种处理为报表使用者提供了企业未来获取现金流量的信息，因而具有预测作用</a:t>
            </a:r>
          </a:p>
          <a:p>
            <a:pPr lvl="3"/>
            <a:r>
              <a:rPr lang="en-US" altLang="zh-CN" dirty="0"/>
              <a:t>2×20</a:t>
            </a:r>
            <a:r>
              <a:rPr lang="zh-CN" altLang="en-US" dirty="0"/>
              <a:t>年</a:t>
            </a:r>
            <a:r>
              <a:rPr lang="en-US" altLang="zh-CN" dirty="0"/>
              <a:t>12</a:t>
            </a:r>
            <a:r>
              <a:rPr lang="zh-CN" altLang="en-US" dirty="0"/>
              <a:t>月</a:t>
            </a:r>
            <a:r>
              <a:rPr lang="en-US" altLang="zh-CN" dirty="0"/>
              <a:t>20</a:t>
            </a:r>
            <a:r>
              <a:rPr lang="zh-CN" altLang="en-US" dirty="0"/>
              <a:t>日收回应收账款，其会计处理为证实过去有关预测提供了决策有用的信息，因此具有确证作用</a:t>
            </a:r>
          </a:p>
          <a:p>
            <a:pPr lvl="1"/>
            <a:r>
              <a:rPr lang="zh-CN" altLang="en-US" dirty="0"/>
              <a:t>有预测作用不一定要采用预测形式</a:t>
            </a:r>
          </a:p>
        </p:txBody>
      </p:sp>
    </p:spTree>
    <p:extLst>
      <p:ext uri="{BB962C8B-B14F-4D97-AF65-F5344CB8AC3E}">
        <p14:creationId xmlns:p14="http://schemas.microsoft.com/office/powerpoint/2010/main" val="8347965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会计信息质量要求</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可理解性</a:t>
            </a:r>
          </a:p>
          <a:p>
            <a:pPr lvl="1"/>
            <a:r>
              <a:rPr lang="zh-CN" altLang="en-US" dirty="0"/>
              <a:t>可理解性是指会计记录必须清晰明了，便于理解和使用</a:t>
            </a:r>
          </a:p>
          <a:p>
            <a:pPr lvl="1"/>
            <a:r>
              <a:rPr lang="zh-CN" altLang="en-US" dirty="0"/>
              <a:t>只能为少数人所理解的信息，应不予提供</a:t>
            </a:r>
          </a:p>
          <a:p>
            <a:pPr lvl="1"/>
            <a:r>
              <a:rPr lang="zh-CN" altLang="en-US" dirty="0"/>
              <a:t>不能仅因为会计信息难以理解而排除在报表之外</a:t>
            </a:r>
          </a:p>
          <a:p>
            <a:pPr lvl="2"/>
            <a:r>
              <a:rPr lang="zh-CN" altLang="en-US" dirty="0"/>
              <a:t>愿意付出努力去研究这些信息</a:t>
            </a:r>
          </a:p>
          <a:p>
            <a:pPr lvl="2"/>
            <a:r>
              <a:rPr lang="zh-CN" altLang="en-US" dirty="0"/>
              <a:t>具有一定的会计专业知识</a:t>
            </a:r>
          </a:p>
        </p:txBody>
      </p:sp>
    </p:spTree>
    <p:extLst>
      <p:ext uri="{BB962C8B-B14F-4D97-AF65-F5344CB8AC3E}">
        <p14:creationId xmlns:p14="http://schemas.microsoft.com/office/powerpoint/2010/main" val="27962161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会计信息质量要求</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可比性（</a:t>
            </a:r>
            <a:r>
              <a:rPr lang="en-US" altLang="zh-CN" dirty="0"/>
              <a:t>1</a:t>
            </a:r>
            <a:r>
              <a:rPr lang="zh-CN" altLang="en-US" dirty="0"/>
              <a:t>）</a:t>
            </a:r>
          </a:p>
          <a:p>
            <a:pPr lvl="1"/>
            <a:r>
              <a:rPr lang="zh-CN" altLang="en-US" dirty="0"/>
              <a:t>定义：</a:t>
            </a:r>
          </a:p>
          <a:p>
            <a:pPr lvl="2"/>
            <a:r>
              <a:rPr lang="zh-CN" altLang="en-US" dirty="0"/>
              <a:t>可比性是指企业提供的会计信息应当相互可比。</a:t>
            </a:r>
          </a:p>
          <a:p>
            <a:pPr lvl="1"/>
            <a:r>
              <a:rPr lang="zh-CN" altLang="en-US" dirty="0"/>
              <a:t>可比性包括两个方面的内容：</a:t>
            </a:r>
          </a:p>
          <a:p>
            <a:pPr lvl="2"/>
            <a:r>
              <a:rPr lang="zh-CN" altLang="en-US" dirty="0"/>
              <a:t>同一企业不同时期发生的相同或相似的交易或事项，应当采用一致的会计政策，不得随意变更。确需变更的，应当在附注中说明</a:t>
            </a:r>
          </a:p>
          <a:p>
            <a:pPr lvl="2"/>
            <a:r>
              <a:rPr lang="zh-CN" altLang="en-US" dirty="0"/>
              <a:t>不同企业发生的相同或相似的交易或事项，应当采用规定的会计政策，确保会计信息口径一致，相互可比</a:t>
            </a:r>
          </a:p>
        </p:txBody>
      </p:sp>
    </p:spTree>
    <p:extLst>
      <p:ext uri="{BB962C8B-B14F-4D97-AF65-F5344CB8AC3E}">
        <p14:creationId xmlns:p14="http://schemas.microsoft.com/office/powerpoint/2010/main" val="2106442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会计信息质量要求</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可比性（</a:t>
            </a:r>
            <a:r>
              <a:rPr lang="en-US" altLang="zh-CN" dirty="0"/>
              <a:t>2</a:t>
            </a:r>
            <a:r>
              <a:rPr lang="zh-CN" altLang="en-US" dirty="0"/>
              <a:t>）</a:t>
            </a:r>
          </a:p>
          <a:p>
            <a:pPr lvl="1"/>
            <a:r>
              <a:rPr lang="zh-CN" altLang="en-US" dirty="0"/>
              <a:t>需要注意的是：</a:t>
            </a:r>
          </a:p>
          <a:p>
            <a:pPr lvl="2"/>
            <a:r>
              <a:rPr lang="zh-CN" altLang="en-US" dirty="0"/>
              <a:t>强调可比性并不要求企业采用的会计政策绝对不变</a:t>
            </a:r>
          </a:p>
          <a:p>
            <a:pPr lvl="3"/>
            <a:r>
              <a:rPr lang="zh-CN" altLang="en-US" dirty="0"/>
              <a:t>如果原来采用的会计程序和方法已不符合客观性与相关性的要求，企业就不宜继续采用</a:t>
            </a:r>
          </a:p>
          <a:p>
            <a:pPr lvl="3"/>
            <a:r>
              <a:rPr lang="zh-CN" altLang="en-US" dirty="0"/>
              <a:t>如果存在更为相关和可靠的会计处理程序与方法，企业就不宜保持其会计方法不变</a:t>
            </a:r>
          </a:p>
          <a:p>
            <a:pPr lvl="2"/>
            <a:r>
              <a:rPr lang="zh-CN" altLang="en-US" dirty="0"/>
              <a:t>企业在编制财务报告时，对于相同的经济业务，应当采用相同的会计程序和方法。</a:t>
            </a:r>
          </a:p>
          <a:p>
            <a:pPr lvl="3"/>
            <a:r>
              <a:rPr lang="zh-CN" altLang="en-US" dirty="0"/>
              <a:t>国家统一的会计制度要尽量减少企业选择会计政策的余地</a:t>
            </a:r>
          </a:p>
          <a:p>
            <a:pPr lvl="3"/>
            <a:r>
              <a:rPr lang="zh-CN" altLang="en-US" dirty="0"/>
              <a:t>企业要严格按照国家统一的会计制度的规定选择会计政策</a:t>
            </a:r>
          </a:p>
        </p:txBody>
      </p:sp>
    </p:spTree>
    <p:extLst>
      <p:ext uri="{BB962C8B-B14F-4D97-AF65-F5344CB8AC3E}">
        <p14:creationId xmlns:p14="http://schemas.microsoft.com/office/powerpoint/2010/main" val="42876258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会计信息质量要求</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实质重于形式</a:t>
            </a:r>
          </a:p>
          <a:p>
            <a:pPr lvl="1"/>
            <a:r>
              <a:rPr lang="zh-CN" altLang="en-US" dirty="0"/>
              <a:t>实质重于形式是指企业应当按照交易或事项的经济实质进行会计确认、计量和报告，而不应仅以交易或事项的法律形式为依据</a:t>
            </a:r>
          </a:p>
          <a:p>
            <a:pPr lvl="2"/>
            <a:r>
              <a:rPr lang="zh-CN" altLang="en-US" dirty="0"/>
              <a:t>融资租赁</a:t>
            </a:r>
          </a:p>
          <a:p>
            <a:pPr lvl="2"/>
            <a:r>
              <a:rPr lang="zh-CN" altLang="en-US" dirty="0"/>
              <a:t>售后回购</a:t>
            </a:r>
          </a:p>
        </p:txBody>
      </p:sp>
    </p:spTree>
    <p:extLst>
      <p:ext uri="{BB962C8B-B14F-4D97-AF65-F5344CB8AC3E}">
        <p14:creationId xmlns:p14="http://schemas.microsoft.com/office/powerpoint/2010/main" val="13494547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会计信息质量要求</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82688" y="2017712"/>
            <a:ext cx="7772400" cy="4507631"/>
          </a:xfrm>
        </p:spPr>
        <p:txBody>
          <a:bodyPr/>
          <a:lstStyle/>
          <a:p>
            <a:r>
              <a:rPr lang="zh-CN" altLang="en-US" dirty="0"/>
              <a:t>重要性</a:t>
            </a:r>
          </a:p>
          <a:p>
            <a:pPr lvl="1"/>
            <a:r>
              <a:rPr lang="zh-CN" altLang="en-US" dirty="0"/>
              <a:t>重要性是指企业提供的会计信息应当反映与企业财务状况、经营成果和现金流量等有关的所有重要交易或事项</a:t>
            </a:r>
          </a:p>
          <a:p>
            <a:pPr lvl="2"/>
            <a:r>
              <a:rPr lang="zh-CN" altLang="en-US" dirty="0"/>
              <a:t>凡是对会计信息使用者的决策有较大影响的交易或事项，应作为会计确认、计量和报告的重点</a:t>
            </a:r>
          </a:p>
          <a:p>
            <a:pPr lvl="2"/>
            <a:r>
              <a:rPr lang="zh-CN" altLang="en-US" dirty="0"/>
              <a:t>对不重要的经济业务则可以采用简化的处理程序和方法，也不必在会计报表上详细列示</a:t>
            </a:r>
          </a:p>
          <a:p>
            <a:pPr lvl="1"/>
            <a:r>
              <a:rPr lang="zh-CN" altLang="en-US" dirty="0"/>
              <a:t>性质和金额</a:t>
            </a:r>
          </a:p>
          <a:p>
            <a:pPr lvl="1"/>
            <a:r>
              <a:rPr lang="zh-CN" altLang="en-US" dirty="0"/>
              <a:t>强调会计信息的重要性质量要求，在很大程度上是出于对会计信息的效用与加工会计信息的成本这两方面的考虑（成本效益）</a:t>
            </a:r>
          </a:p>
        </p:txBody>
      </p:sp>
    </p:spTree>
    <p:extLst>
      <p:ext uri="{BB962C8B-B14F-4D97-AF65-F5344CB8AC3E}">
        <p14:creationId xmlns:p14="http://schemas.microsoft.com/office/powerpoint/2010/main" val="42628085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会计信息质量要求</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及时性</a:t>
            </a:r>
          </a:p>
          <a:p>
            <a:pPr lvl="1"/>
            <a:r>
              <a:rPr lang="zh-CN" altLang="en-US" dirty="0"/>
              <a:t>会计信息具有时效性，其价值会随着时间的流逝而逐渐降低。这就要求企业的会计确认、计量和报告必须满足及时性的要求。</a:t>
            </a:r>
          </a:p>
          <a:p>
            <a:pPr lvl="1"/>
            <a:r>
              <a:rPr lang="zh-CN" altLang="en-US" dirty="0"/>
              <a:t>及时性包括及时记录与及时报告两个方面：</a:t>
            </a:r>
          </a:p>
          <a:p>
            <a:pPr lvl="2"/>
            <a:r>
              <a:rPr lang="zh-CN" altLang="en-US" dirty="0"/>
              <a:t>及时记录就是要求对企业的经济业务及时地进行会计处理，本期的经济业务应当在本期内进行处理，不能延至下一个会计期间或提前至上一个会计期间。</a:t>
            </a:r>
          </a:p>
          <a:p>
            <a:pPr lvl="2"/>
            <a:r>
              <a:rPr lang="zh-CN" altLang="en-US" dirty="0"/>
              <a:t>及时报告是指要把会计资料及时地传送出去，将财务报告及时报出。</a:t>
            </a:r>
          </a:p>
        </p:txBody>
      </p:sp>
    </p:spTree>
    <p:extLst>
      <p:ext uri="{BB962C8B-B14F-4D97-AF65-F5344CB8AC3E}">
        <p14:creationId xmlns:p14="http://schemas.microsoft.com/office/powerpoint/2010/main" val="26752850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四、会计要素及其确认与计量</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82688" y="2017712"/>
            <a:ext cx="7772400" cy="4723655"/>
          </a:xfrm>
        </p:spPr>
        <p:txBody>
          <a:bodyPr/>
          <a:lstStyle/>
          <a:p>
            <a:pPr>
              <a:defRPr/>
            </a:pPr>
            <a:r>
              <a:rPr lang="zh-CN" altLang="en-US" dirty="0"/>
              <a:t>（一）会计要素</a:t>
            </a:r>
          </a:p>
          <a:p>
            <a:pPr lvl="1">
              <a:defRPr/>
            </a:pPr>
            <a:r>
              <a:rPr lang="zh-CN" altLang="en-US" dirty="0"/>
              <a:t>会计要素的分类：六要素</a:t>
            </a:r>
          </a:p>
          <a:p>
            <a:pPr lvl="1">
              <a:defRPr/>
            </a:pPr>
            <a:r>
              <a:rPr lang="zh-CN" altLang="en-US" dirty="0"/>
              <a:t>会计各要素的定义、分类</a:t>
            </a:r>
          </a:p>
          <a:p>
            <a:pPr>
              <a:defRPr/>
            </a:pPr>
            <a:r>
              <a:rPr lang="zh-CN" altLang="en-US" dirty="0"/>
              <a:t>（二）会计确认</a:t>
            </a:r>
          </a:p>
          <a:p>
            <a:pPr lvl="1">
              <a:defRPr/>
            </a:pPr>
            <a:r>
              <a:rPr lang="zh-CN" altLang="en-US" dirty="0"/>
              <a:t>是否应确认</a:t>
            </a:r>
          </a:p>
          <a:p>
            <a:pPr lvl="1">
              <a:defRPr/>
            </a:pPr>
            <a:r>
              <a:rPr lang="zh-CN" altLang="en-US" dirty="0"/>
              <a:t>何时确认</a:t>
            </a:r>
          </a:p>
          <a:p>
            <a:pPr lvl="1">
              <a:defRPr/>
            </a:pPr>
            <a:r>
              <a:rPr lang="zh-CN" altLang="en-US" dirty="0"/>
              <a:t>确认为何种要素</a:t>
            </a:r>
          </a:p>
          <a:p>
            <a:pPr>
              <a:defRPr/>
            </a:pPr>
            <a:r>
              <a:rPr lang="zh-CN" altLang="en-US" dirty="0"/>
              <a:t>（三）会计计量</a:t>
            </a:r>
          </a:p>
          <a:p>
            <a:pPr lvl="1">
              <a:defRPr/>
            </a:pPr>
            <a:r>
              <a:rPr lang="zh-CN" altLang="en-US" dirty="0"/>
              <a:t>确认的金额</a:t>
            </a:r>
          </a:p>
          <a:p>
            <a:pPr lvl="2">
              <a:defRPr/>
            </a:pPr>
            <a:r>
              <a:rPr lang="zh-CN" altLang="en-US" dirty="0"/>
              <a:t>计量单位</a:t>
            </a:r>
          </a:p>
          <a:p>
            <a:pPr lvl="2">
              <a:defRPr/>
            </a:pPr>
            <a:r>
              <a:rPr lang="zh-CN" altLang="en-US" dirty="0"/>
              <a:t>计量属性</a:t>
            </a:r>
          </a:p>
        </p:txBody>
      </p:sp>
    </p:spTree>
    <p:extLst>
      <p:ext uri="{BB962C8B-B14F-4D97-AF65-F5344CB8AC3E}">
        <p14:creationId xmlns:p14="http://schemas.microsoft.com/office/powerpoint/2010/main" val="32157598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会计要素</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pPr>
              <a:lnSpc>
                <a:spcPct val="90000"/>
              </a:lnSpc>
              <a:defRPr/>
            </a:pPr>
            <a:r>
              <a:rPr lang="zh-CN" altLang="en-US" dirty="0"/>
              <a:t>财务状况</a:t>
            </a:r>
          </a:p>
          <a:p>
            <a:pPr lvl="1">
              <a:lnSpc>
                <a:spcPct val="90000"/>
              </a:lnSpc>
              <a:defRPr/>
            </a:pPr>
            <a:r>
              <a:rPr lang="zh-CN" altLang="en-US" dirty="0"/>
              <a:t>资产</a:t>
            </a:r>
          </a:p>
          <a:p>
            <a:pPr lvl="1">
              <a:lnSpc>
                <a:spcPct val="90000"/>
              </a:lnSpc>
              <a:defRPr/>
            </a:pPr>
            <a:r>
              <a:rPr lang="zh-CN" altLang="en-US" dirty="0"/>
              <a:t>负债</a:t>
            </a:r>
          </a:p>
          <a:p>
            <a:pPr lvl="1">
              <a:lnSpc>
                <a:spcPct val="90000"/>
              </a:lnSpc>
              <a:defRPr/>
            </a:pPr>
            <a:r>
              <a:rPr lang="zh-CN" altLang="en-US" dirty="0"/>
              <a:t>所有者权益</a:t>
            </a:r>
          </a:p>
          <a:p>
            <a:pPr>
              <a:lnSpc>
                <a:spcPct val="90000"/>
              </a:lnSpc>
              <a:defRPr/>
            </a:pPr>
            <a:r>
              <a:rPr lang="zh-CN" altLang="en-US" dirty="0"/>
              <a:t>经营成果</a:t>
            </a:r>
          </a:p>
          <a:p>
            <a:pPr lvl="1">
              <a:lnSpc>
                <a:spcPct val="90000"/>
              </a:lnSpc>
              <a:defRPr/>
            </a:pPr>
            <a:r>
              <a:rPr lang="zh-CN" altLang="en-US" dirty="0"/>
              <a:t>收入</a:t>
            </a:r>
          </a:p>
          <a:p>
            <a:pPr lvl="1">
              <a:lnSpc>
                <a:spcPct val="90000"/>
              </a:lnSpc>
              <a:defRPr/>
            </a:pPr>
            <a:r>
              <a:rPr lang="zh-CN" altLang="en-US" dirty="0"/>
              <a:t>费用</a:t>
            </a:r>
          </a:p>
          <a:p>
            <a:pPr lvl="1">
              <a:lnSpc>
                <a:spcPct val="90000"/>
              </a:lnSpc>
              <a:defRPr/>
            </a:pPr>
            <a:r>
              <a:rPr lang="zh-CN" altLang="en-US" dirty="0"/>
              <a:t>利润</a:t>
            </a:r>
          </a:p>
        </p:txBody>
      </p:sp>
    </p:spTree>
    <p:extLst>
      <p:ext uri="{BB962C8B-B14F-4D97-AF65-F5344CB8AC3E}">
        <p14:creationId xmlns:p14="http://schemas.microsoft.com/office/powerpoint/2010/main" val="24847454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资产</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pPr>
              <a:defRPr/>
            </a:pPr>
            <a:r>
              <a:rPr lang="zh-CN" altLang="en-US" dirty="0"/>
              <a:t>资产：</a:t>
            </a:r>
          </a:p>
          <a:p>
            <a:pPr lvl="1">
              <a:defRPr/>
            </a:pPr>
            <a:r>
              <a:rPr lang="zh-CN" altLang="en-US" dirty="0"/>
              <a:t>过去的交易事项形成</a:t>
            </a:r>
          </a:p>
          <a:p>
            <a:pPr lvl="1">
              <a:defRPr/>
            </a:pPr>
            <a:r>
              <a:rPr lang="zh-CN" altLang="en-US" dirty="0"/>
              <a:t>由企业所有拥有或控制</a:t>
            </a:r>
          </a:p>
          <a:p>
            <a:pPr lvl="1">
              <a:defRPr/>
            </a:pPr>
            <a:r>
              <a:rPr lang="zh-CN" altLang="en-US" dirty="0"/>
              <a:t>导致未来经济利益流入</a:t>
            </a:r>
          </a:p>
          <a:p>
            <a:pPr lvl="1">
              <a:defRPr/>
            </a:pPr>
            <a:r>
              <a:rPr lang="zh-CN" altLang="en-US" dirty="0"/>
              <a:t>资源</a:t>
            </a:r>
          </a:p>
          <a:p>
            <a:pPr>
              <a:defRPr/>
            </a:pPr>
            <a:endParaRPr lang="en-US" altLang="zh-CN" dirty="0"/>
          </a:p>
          <a:p>
            <a:pPr>
              <a:defRPr/>
            </a:pPr>
            <a:r>
              <a:rPr lang="zh-CN" altLang="en-US" dirty="0"/>
              <a:t>资产的本质</a:t>
            </a:r>
            <a:endParaRPr lang="en-US" altLang="zh-CN" dirty="0"/>
          </a:p>
          <a:p>
            <a:pPr lvl="1">
              <a:defRPr/>
            </a:pPr>
            <a:r>
              <a:rPr lang="zh-CN" altLang="en-US" dirty="0"/>
              <a:t>从资产的功能来考察资产的实质</a:t>
            </a:r>
            <a:endParaRPr lang="en-US" altLang="zh-CN" dirty="0"/>
          </a:p>
        </p:txBody>
      </p:sp>
    </p:spTree>
    <p:extLst>
      <p:ext uri="{BB962C8B-B14F-4D97-AF65-F5344CB8AC3E}">
        <p14:creationId xmlns:p14="http://schemas.microsoft.com/office/powerpoint/2010/main" val="21314061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思考</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en-US" altLang="zh-CN" dirty="0"/>
              <a:t>1.</a:t>
            </a:r>
            <a:r>
              <a:rPr lang="zh-CN" altLang="en-US" dirty="0"/>
              <a:t>企业有购买某商品的意愿和计划，但购买行为尚未发生，企业是否应确认为一项资产？为什么？</a:t>
            </a:r>
          </a:p>
          <a:p>
            <a:r>
              <a:rPr lang="en-US" altLang="zh-CN" dirty="0"/>
              <a:t>2.</a:t>
            </a:r>
            <a:r>
              <a:rPr lang="zh-CN" altLang="en-US" dirty="0"/>
              <a:t>报废的机器设备是否是资产？为什么？</a:t>
            </a:r>
          </a:p>
          <a:p>
            <a:r>
              <a:rPr lang="en-US" altLang="zh-CN" dirty="0"/>
              <a:t>3.</a:t>
            </a:r>
            <a:r>
              <a:rPr lang="zh-CN" altLang="en-US" dirty="0"/>
              <a:t>能够有效利用的废水是否是资产？为什么？</a:t>
            </a:r>
          </a:p>
        </p:txBody>
      </p:sp>
    </p:spTree>
    <p:extLst>
      <p:ext uri="{BB962C8B-B14F-4D97-AF65-F5344CB8AC3E}">
        <p14:creationId xmlns:p14="http://schemas.microsoft.com/office/powerpoint/2010/main" val="32540104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思考题</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如果不仅仅是有购买意愿和计划，而且还签订了合同，是否应确认为资产？</a:t>
            </a:r>
          </a:p>
          <a:p>
            <a:r>
              <a:rPr lang="zh-CN" altLang="en-US" dirty="0"/>
              <a:t>比如，甲企业和乙供应商订了一份购买原材料的合同，合同尚未履行，甲企业是否应将原材料确认为资产？</a:t>
            </a:r>
          </a:p>
        </p:txBody>
      </p:sp>
    </p:spTree>
    <p:extLst>
      <p:ext uri="{BB962C8B-B14F-4D97-AF65-F5344CB8AC3E}">
        <p14:creationId xmlns:p14="http://schemas.microsoft.com/office/powerpoint/2010/main" val="33005691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负债</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pPr>
              <a:defRPr/>
            </a:pPr>
            <a:r>
              <a:rPr lang="zh-CN" altLang="en-US" dirty="0"/>
              <a:t>负债是指由于过去事项而由企业承担的现时义务，该义务的履行预期会导致含有经济利益的资源流出企业</a:t>
            </a:r>
          </a:p>
          <a:p>
            <a:pPr>
              <a:defRPr/>
            </a:pPr>
            <a:r>
              <a:rPr lang="zh-CN" altLang="en-US" dirty="0"/>
              <a:t>负债的基本特征是一项现时义务，现时义务可以通过下述方式产生：</a:t>
            </a:r>
          </a:p>
          <a:p>
            <a:pPr lvl="1">
              <a:defRPr/>
            </a:pPr>
            <a:r>
              <a:rPr lang="zh-CN" altLang="en-US" dirty="0"/>
              <a:t>约束力的合同或法定要求，如应付账款，应付贷款</a:t>
            </a:r>
          </a:p>
          <a:p>
            <a:pPr lvl="1">
              <a:defRPr/>
            </a:pPr>
            <a:r>
              <a:rPr lang="zh-CN" altLang="en-US" dirty="0"/>
              <a:t>正常的业务活动等，应付职工薪酬等</a:t>
            </a:r>
          </a:p>
        </p:txBody>
      </p:sp>
    </p:spTree>
    <p:extLst>
      <p:ext uri="{BB962C8B-B14F-4D97-AF65-F5344CB8AC3E}">
        <p14:creationId xmlns:p14="http://schemas.microsoft.com/office/powerpoint/2010/main" val="17380423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所有者权益</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所有者权益是指企业资产扣除负债后由所有者享有的剩余权益，所有者权益也称为净资产</a:t>
            </a:r>
          </a:p>
          <a:p>
            <a:r>
              <a:rPr lang="zh-CN" altLang="en-US" dirty="0"/>
              <a:t>所有者权益是一项剩余值，不能直接计量</a:t>
            </a:r>
          </a:p>
          <a:p>
            <a:pPr lvl="1"/>
            <a:r>
              <a:rPr lang="zh-CN" altLang="en-US" dirty="0"/>
              <a:t>实收资本或股本</a:t>
            </a:r>
          </a:p>
          <a:p>
            <a:pPr lvl="1"/>
            <a:r>
              <a:rPr lang="zh-CN" altLang="en-US" dirty="0"/>
              <a:t>资本公积</a:t>
            </a:r>
          </a:p>
          <a:p>
            <a:pPr lvl="1"/>
            <a:r>
              <a:rPr lang="zh-CN" altLang="en-US" dirty="0"/>
              <a:t>留存收益</a:t>
            </a:r>
          </a:p>
          <a:p>
            <a:pPr lvl="2"/>
            <a:r>
              <a:rPr lang="zh-CN" altLang="en-US" dirty="0"/>
              <a:t>盈余公积</a:t>
            </a:r>
          </a:p>
          <a:p>
            <a:pPr lvl="2"/>
            <a:r>
              <a:rPr lang="zh-CN" altLang="en-US" dirty="0"/>
              <a:t>未分配利润</a:t>
            </a:r>
          </a:p>
        </p:txBody>
      </p:sp>
    </p:spTree>
    <p:extLst>
      <p:ext uri="{BB962C8B-B14F-4D97-AF65-F5344CB8AC3E}">
        <p14:creationId xmlns:p14="http://schemas.microsoft.com/office/powerpoint/2010/main" val="184279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所有者权益注意事项</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pPr eaLnBrk="1" hangingPunct="1">
              <a:defRPr/>
            </a:pPr>
            <a:r>
              <a:rPr lang="zh-CN" altLang="en-US" dirty="0"/>
              <a:t>所有者权益不能直接计量</a:t>
            </a:r>
            <a:endParaRPr lang="en-US" altLang="zh-CN" dirty="0"/>
          </a:p>
          <a:p>
            <a:pPr lvl="1" eaLnBrk="1" hangingPunct="1">
              <a:defRPr/>
            </a:pPr>
            <a:r>
              <a:rPr lang="zh-CN" altLang="en-US" dirty="0"/>
              <a:t>公司发行</a:t>
            </a:r>
            <a:r>
              <a:rPr lang="en-US" altLang="zh-CN" dirty="0"/>
              <a:t>1</a:t>
            </a:r>
            <a:r>
              <a:rPr lang="zh-CN" altLang="en-US" dirty="0"/>
              <a:t>亿股，取得现金</a:t>
            </a:r>
            <a:r>
              <a:rPr lang="en-US" altLang="zh-CN" dirty="0"/>
              <a:t>10</a:t>
            </a:r>
            <a:r>
              <a:rPr lang="zh-CN" altLang="en-US" dirty="0"/>
              <a:t>亿元。股票发行后可上市交易，上市后首日，公司股票价格上涨为</a:t>
            </a:r>
            <a:r>
              <a:rPr lang="en-US" altLang="zh-CN" dirty="0"/>
              <a:t>25</a:t>
            </a:r>
            <a:r>
              <a:rPr lang="zh-CN" altLang="en-US" dirty="0"/>
              <a:t>元，公司应如何进行账务处理？</a:t>
            </a:r>
            <a:endParaRPr lang="en-US" altLang="zh-CN" dirty="0"/>
          </a:p>
          <a:p>
            <a:pPr eaLnBrk="1" hangingPunct="1">
              <a:defRPr/>
            </a:pPr>
            <a:r>
              <a:rPr lang="zh-CN" altLang="en-US" dirty="0"/>
              <a:t>所有者权益是一个整体抽象的概念</a:t>
            </a:r>
            <a:endParaRPr lang="en-US" altLang="zh-CN" dirty="0"/>
          </a:p>
          <a:p>
            <a:pPr lvl="1" eaLnBrk="1" hangingPunct="1">
              <a:defRPr/>
            </a:pPr>
            <a:r>
              <a:rPr lang="zh-CN" altLang="en-US" dirty="0"/>
              <a:t>例如，公司实收资本很低，持有的现金很高，为降低公司现金持有量，提高实收资本，能否将公司持有的现金直接转增实收资本？</a:t>
            </a:r>
          </a:p>
        </p:txBody>
      </p:sp>
    </p:spTree>
    <p:extLst>
      <p:ext uri="{BB962C8B-B14F-4D97-AF65-F5344CB8AC3E}">
        <p14:creationId xmlns:p14="http://schemas.microsoft.com/office/powerpoint/2010/main" val="21034180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收入</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82688" y="2017712"/>
            <a:ext cx="7772400" cy="4723655"/>
          </a:xfrm>
        </p:spPr>
        <p:txBody>
          <a:bodyPr/>
          <a:lstStyle/>
          <a:p>
            <a:pPr>
              <a:defRPr/>
            </a:pPr>
            <a:r>
              <a:rPr lang="zh-CN" altLang="en-US" dirty="0"/>
              <a:t>收入：企业在</a:t>
            </a:r>
            <a:r>
              <a:rPr lang="zh-CN" altLang="en-US" b="1" dirty="0">
                <a:solidFill>
                  <a:srgbClr val="FF0000"/>
                </a:solidFill>
              </a:rPr>
              <a:t>日常活动</a:t>
            </a:r>
            <a:r>
              <a:rPr lang="zh-CN" altLang="en-US" dirty="0"/>
              <a:t>中形成的会导致</a:t>
            </a:r>
            <a:r>
              <a:rPr lang="zh-CN" altLang="en-US" b="1" dirty="0">
                <a:solidFill>
                  <a:srgbClr val="FF0000"/>
                </a:solidFill>
              </a:rPr>
              <a:t>所有者权益</a:t>
            </a:r>
            <a:r>
              <a:rPr lang="zh-CN" altLang="en-US" dirty="0"/>
              <a:t>增加的、与所有者投入资本无关的经济利益的总流入</a:t>
            </a:r>
            <a:endParaRPr lang="en-US" altLang="zh-CN" dirty="0"/>
          </a:p>
          <a:p>
            <a:pPr>
              <a:defRPr/>
            </a:pPr>
            <a:r>
              <a:rPr lang="zh-CN" altLang="en-US" dirty="0"/>
              <a:t>什么是日常活动？</a:t>
            </a:r>
          </a:p>
          <a:p>
            <a:pPr lvl="1">
              <a:defRPr/>
            </a:pPr>
            <a:r>
              <a:rPr lang="zh-CN" altLang="en-US" dirty="0"/>
              <a:t>制造企业的产品销售收入</a:t>
            </a:r>
          </a:p>
          <a:p>
            <a:pPr lvl="1">
              <a:defRPr/>
            </a:pPr>
            <a:r>
              <a:rPr lang="zh-CN" altLang="en-US" dirty="0"/>
              <a:t>商业企业的商品销售收入</a:t>
            </a:r>
          </a:p>
          <a:p>
            <a:pPr lvl="1">
              <a:defRPr/>
            </a:pPr>
            <a:r>
              <a:rPr lang="zh-CN" altLang="en-US" dirty="0"/>
              <a:t>服务企业的服务收入</a:t>
            </a:r>
          </a:p>
          <a:p>
            <a:pPr lvl="1">
              <a:defRPr/>
            </a:pPr>
            <a:r>
              <a:rPr lang="zh-CN" altLang="en-US" dirty="0"/>
              <a:t>保险公司的保费收入</a:t>
            </a:r>
          </a:p>
          <a:p>
            <a:pPr lvl="1">
              <a:defRPr/>
            </a:pPr>
            <a:r>
              <a:rPr lang="zh-CN" altLang="en-US" dirty="0"/>
              <a:t>咨询公司的咨询收入</a:t>
            </a:r>
          </a:p>
          <a:p>
            <a:pPr lvl="1">
              <a:defRPr/>
            </a:pPr>
            <a:r>
              <a:rPr lang="zh-CN" altLang="en-US" dirty="0"/>
              <a:t>租赁公司的租赁收入</a:t>
            </a:r>
            <a:endParaRPr lang="en-US" altLang="zh-CN" dirty="0"/>
          </a:p>
          <a:p>
            <a:pPr>
              <a:defRPr/>
            </a:pPr>
            <a:r>
              <a:rPr lang="zh-CN" altLang="en-US" dirty="0"/>
              <a:t>收入表现为资产的增加或负债的减少</a:t>
            </a:r>
          </a:p>
        </p:txBody>
      </p:sp>
    </p:spTree>
    <p:extLst>
      <p:ext uri="{BB962C8B-B14F-4D97-AF65-F5344CB8AC3E}">
        <p14:creationId xmlns:p14="http://schemas.microsoft.com/office/powerpoint/2010/main" val="19250439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思考</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pPr>
              <a:defRPr/>
            </a:pPr>
            <a:r>
              <a:rPr lang="zh-CN" altLang="en-US" dirty="0"/>
              <a:t>根据收入的定义回答下述问题：</a:t>
            </a:r>
          </a:p>
          <a:p>
            <a:pPr>
              <a:defRPr/>
            </a:pPr>
            <a:r>
              <a:rPr lang="zh-CN" altLang="en-US" dirty="0"/>
              <a:t>向银行取得借款会导致经济利益的流入，应当确认为一项收入吗？为什么？</a:t>
            </a:r>
          </a:p>
          <a:p>
            <a:pPr>
              <a:defRPr/>
            </a:pPr>
            <a:endParaRPr lang="zh-CN" altLang="en-US" dirty="0"/>
          </a:p>
          <a:p>
            <a:pPr>
              <a:defRPr/>
            </a:pPr>
            <a:r>
              <a:rPr lang="zh-CN" altLang="en-US" dirty="0"/>
              <a:t>企业接收投资者的出资会导致经济利益的流入，应确认为一项收入吗？为什么？</a:t>
            </a:r>
          </a:p>
        </p:txBody>
      </p:sp>
    </p:spTree>
    <p:extLst>
      <p:ext uri="{BB962C8B-B14F-4D97-AF65-F5344CB8AC3E}">
        <p14:creationId xmlns:p14="http://schemas.microsoft.com/office/powerpoint/2010/main" val="14333616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费用</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费用是企业在</a:t>
            </a:r>
            <a:r>
              <a:rPr lang="zh-CN" altLang="en-US" b="1" dirty="0">
                <a:solidFill>
                  <a:srgbClr val="FF0000"/>
                </a:solidFill>
              </a:rPr>
              <a:t>日常活动</a:t>
            </a:r>
            <a:r>
              <a:rPr lang="zh-CN" altLang="en-US" dirty="0"/>
              <a:t>中发生的、会导致</a:t>
            </a:r>
            <a:r>
              <a:rPr lang="zh-CN" altLang="en-US" b="1" dirty="0">
                <a:solidFill>
                  <a:srgbClr val="FF0000"/>
                </a:solidFill>
              </a:rPr>
              <a:t>所有者权益减少</a:t>
            </a:r>
            <a:r>
              <a:rPr lang="zh-CN" altLang="en-US" dirty="0"/>
              <a:t>的、与向所有者分配利润无关的经济利益的总流出</a:t>
            </a:r>
          </a:p>
          <a:p>
            <a:pPr lvl="1"/>
            <a:r>
              <a:rPr lang="zh-CN" altLang="en-US" b="1" dirty="0">
                <a:solidFill>
                  <a:srgbClr val="FF0000"/>
                </a:solidFill>
              </a:rPr>
              <a:t>主营业务成本</a:t>
            </a:r>
          </a:p>
          <a:p>
            <a:pPr lvl="1"/>
            <a:r>
              <a:rPr lang="zh-CN" altLang="en-US" b="1" dirty="0">
                <a:solidFill>
                  <a:srgbClr val="FF0000"/>
                </a:solidFill>
              </a:rPr>
              <a:t>其他业务成本</a:t>
            </a:r>
          </a:p>
          <a:p>
            <a:pPr lvl="1"/>
            <a:r>
              <a:rPr lang="zh-CN" altLang="en-US" b="1" dirty="0">
                <a:solidFill>
                  <a:srgbClr val="FF0000"/>
                </a:solidFill>
              </a:rPr>
              <a:t>税金及附加</a:t>
            </a:r>
          </a:p>
          <a:p>
            <a:pPr lvl="1"/>
            <a:r>
              <a:rPr lang="zh-CN" altLang="en-US" b="1" dirty="0">
                <a:solidFill>
                  <a:srgbClr val="FF0000"/>
                </a:solidFill>
              </a:rPr>
              <a:t>销售费用</a:t>
            </a:r>
          </a:p>
          <a:p>
            <a:pPr lvl="1"/>
            <a:r>
              <a:rPr lang="zh-CN" altLang="en-US" b="1" dirty="0">
                <a:solidFill>
                  <a:srgbClr val="FF0000"/>
                </a:solidFill>
              </a:rPr>
              <a:t>管理费用</a:t>
            </a:r>
          </a:p>
          <a:p>
            <a:pPr lvl="1"/>
            <a:r>
              <a:rPr lang="zh-CN" altLang="en-US" b="1" dirty="0">
                <a:solidFill>
                  <a:srgbClr val="FF0000"/>
                </a:solidFill>
              </a:rPr>
              <a:t>财务费用</a:t>
            </a:r>
          </a:p>
          <a:p>
            <a:r>
              <a:rPr lang="zh-CN" altLang="en-US" dirty="0"/>
              <a:t>费用表现为资产的减少或负债的增加</a:t>
            </a:r>
          </a:p>
        </p:txBody>
      </p:sp>
    </p:spTree>
    <p:extLst>
      <p:ext uri="{BB962C8B-B14F-4D97-AF65-F5344CB8AC3E}">
        <p14:creationId xmlns:p14="http://schemas.microsoft.com/office/powerpoint/2010/main" val="5413027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思考</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pPr>
              <a:defRPr/>
            </a:pPr>
            <a:r>
              <a:rPr lang="zh-CN" altLang="en-US" dirty="0"/>
              <a:t>根据费用的定义思考下述问题：</a:t>
            </a:r>
          </a:p>
          <a:p>
            <a:pPr>
              <a:defRPr/>
            </a:pPr>
            <a:r>
              <a:rPr lang="zh-CN" altLang="en-US" dirty="0"/>
              <a:t>偿还债务会导致经济利益的流出，应当确认为一项费用吗？为什么？</a:t>
            </a:r>
          </a:p>
          <a:p>
            <a:pPr>
              <a:defRPr/>
            </a:pPr>
            <a:endParaRPr lang="zh-CN" altLang="en-US" dirty="0"/>
          </a:p>
          <a:p>
            <a:pPr>
              <a:defRPr/>
            </a:pPr>
            <a:r>
              <a:rPr lang="zh-CN" altLang="en-US" dirty="0"/>
              <a:t>企业分配利润会导致经济利益的流出，应确认为一项费用吗？为什么？</a:t>
            </a:r>
          </a:p>
        </p:txBody>
      </p:sp>
    </p:spTree>
    <p:extLst>
      <p:ext uri="{BB962C8B-B14F-4D97-AF65-F5344CB8AC3E}">
        <p14:creationId xmlns:p14="http://schemas.microsoft.com/office/powerpoint/2010/main" val="19731282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利润</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利润是企业一定会计期间的经营成果，即收入与费用配比、相抵后的差额（负数差额为亏损）</a:t>
            </a:r>
          </a:p>
          <a:p>
            <a:pPr lvl="1"/>
            <a:r>
              <a:rPr lang="zh-CN" altLang="en-US" dirty="0"/>
              <a:t>营业利润</a:t>
            </a:r>
          </a:p>
          <a:p>
            <a:pPr lvl="1"/>
            <a:r>
              <a:rPr lang="zh-CN" altLang="en-US" dirty="0"/>
              <a:t>利润总额</a:t>
            </a:r>
          </a:p>
          <a:p>
            <a:pPr lvl="1"/>
            <a:r>
              <a:rPr lang="zh-CN" altLang="en-US" dirty="0"/>
              <a:t>净利润</a:t>
            </a:r>
          </a:p>
        </p:txBody>
      </p:sp>
    </p:spTree>
    <p:extLst>
      <p:ext uri="{BB962C8B-B14F-4D97-AF65-F5344CB8AC3E}">
        <p14:creationId xmlns:p14="http://schemas.microsoft.com/office/powerpoint/2010/main" val="13898808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财务报表要素的确认</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967528" y="1916832"/>
            <a:ext cx="8159856" cy="5155703"/>
          </a:xfrm>
        </p:spPr>
        <p:txBody>
          <a:bodyPr/>
          <a:lstStyle/>
          <a:p>
            <a:pPr eaLnBrk="1" hangingPunct="1">
              <a:defRPr/>
            </a:pPr>
            <a:r>
              <a:rPr lang="zh-CN" altLang="en-US" sz="2800" dirty="0"/>
              <a:t>确认是指将符合确认标准的项目纳入资产负债表或收益表的过程</a:t>
            </a:r>
            <a:endParaRPr lang="en-US" altLang="zh-CN" sz="2800" dirty="0"/>
          </a:p>
          <a:p>
            <a:pPr eaLnBrk="1" hangingPunct="1">
              <a:defRPr/>
            </a:pPr>
            <a:r>
              <a:rPr lang="zh-CN" altLang="en-US" sz="2800" dirty="0"/>
              <a:t>下列关于财务报表要素确认，正确的有（    ）。</a:t>
            </a:r>
          </a:p>
          <a:p>
            <a:pPr lvl="1" eaLnBrk="1" hangingPunct="1">
              <a:defRPr/>
            </a:pPr>
            <a:r>
              <a:rPr lang="en-US" altLang="zh-CN" dirty="0"/>
              <a:t>A.</a:t>
            </a:r>
            <a:r>
              <a:rPr lang="zh-CN" altLang="en-US" dirty="0"/>
              <a:t>符合确认标准的，应当确认而不能采用披露方式纠正</a:t>
            </a:r>
          </a:p>
          <a:p>
            <a:pPr lvl="1" eaLnBrk="1" hangingPunct="1">
              <a:defRPr/>
            </a:pPr>
            <a:r>
              <a:rPr lang="en-US" altLang="zh-CN" dirty="0"/>
              <a:t>B.</a:t>
            </a:r>
            <a:r>
              <a:rPr lang="zh-CN" altLang="en-US" dirty="0"/>
              <a:t>不符合确认标准的，则不能确认，但仍可以在附注等材料中披露</a:t>
            </a:r>
          </a:p>
          <a:p>
            <a:pPr lvl="1" eaLnBrk="1" hangingPunct="1">
              <a:defRPr/>
            </a:pPr>
            <a:r>
              <a:rPr lang="en-US" altLang="zh-CN" dirty="0"/>
              <a:t>C.</a:t>
            </a:r>
            <a:r>
              <a:rPr lang="zh-CN" altLang="en-US" dirty="0"/>
              <a:t>在确认标准中采纳了可能性概念，强调很可能时就应当确认</a:t>
            </a:r>
          </a:p>
          <a:p>
            <a:pPr lvl="1" eaLnBrk="1" hangingPunct="1">
              <a:defRPr/>
            </a:pPr>
            <a:r>
              <a:rPr lang="en-US" altLang="zh-CN" dirty="0"/>
              <a:t>D.</a:t>
            </a:r>
            <a:r>
              <a:rPr lang="zh-CN" altLang="en-US" dirty="0"/>
              <a:t>在某个时点不符合确认标准的项目，由于随后的情况或事件，可能在较晚的日期符合确认的条件</a:t>
            </a:r>
          </a:p>
        </p:txBody>
      </p:sp>
    </p:spTree>
    <p:extLst>
      <p:ext uri="{BB962C8B-B14F-4D97-AF65-F5344CB8AC3E}">
        <p14:creationId xmlns:p14="http://schemas.microsoft.com/office/powerpoint/2010/main" val="8605623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资产的确认</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pPr>
              <a:defRPr/>
            </a:pPr>
            <a:r>
              <a:rPr lang="zh-CN" altLang="en-US" dirty="0"/>
              <a:t>资产的确认应满足两个条件：</a:t>
            </a:r>
          </a:p>
          <a:p>
            <a:pPr lvl="1">
              <a:defRPr/>
            </a:pPr>
            <a:r>
              <a:rPr lang="zh-CN" altLang="en-US" dirty="0"/>
              <a:t>与该资源有关的经济利益很可能流入企业</a:t>
            </a:r>
          </a:p>
          <a:p>
            <a:pPr lvl="1">
              <a:lnSpc>
                <a:spcPct val="120000"/>
              </a:lnSpc>
              <a:defRPr/>
            </a:pPr>
            <a:r>
              <a:rPr lang="zh-CN" altLang="en-US" dirty="0"/>
              <a:t>该资源的成本或者价值能够可靠地计量</a:t>
            </a:r>
          </a:p>
          <a:p>
            <a:pPr>
              <a:lnSpc>
                <a:spcPct val="120000"/>
              </a:lnSpc>
              <a:defRPr/>
            </a:pPr>
            <a:r>
              <a:rPr lang="zh-CN" altLang="en-US" sz="2800" dirty="0"/>
              <a:t>什么是成本？</a:t>
            </a:r>
          </a:p>
          <a:p>
            <a:pPr>
              <a:lnSpc>
                <a:spcPct val="120000"/>
              </a:lnSpc>
              <a:defRPr/>
            </a:pPr>
            <a:r>
              <a:rPr lang="zh-CN" altLang="en-US" sz="2800" dirty="0"/>
              <a:t>什么是价值？</a:t>
            </a:r>
          </a:p>
        </p:txBody>
      </p:sp>
    </p:spTree>
    <p:extLst>
      <p:ext uri="{BB962C8B-B14F-4D97-AF65-F5344CB8AC3E}">
        <p14:creationId xmlns:p14="http://schemas.microsoft.com/office/powerpoint/2010/main" val="30120328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资产的定义和确认</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23323" y="2060848"/>
            <a:ext cx="7925816" cy="4114800"/>
          </a:xfrm>
        </p:spPr>
        <p:txBody>
          <a:bodyPr/>
          <a:lstStyle/>
          <a:p>
            <a:pPr eaLnBrk="1" hangingPunct="1">
              <a:lnSpc>
                <a:spcPct val="90000"/>
              </a:lnSpc>
              <a:defRPr/>
            </a:pPr>
            <a:r>
              <a:rPr lang="en-US" altLang="zh-CN" dirty="0"/>
              <a:t>1</a:t>
            </a:r>
            <a:r>
              <a:rPr lang="zh-CN" altLang="en-US" dirty="0"/>
              <a:t>．资产的定义与在财务报表中确认为资产是分离的</a:t>
            </a:r>
            <a:endParaRPr lang="en-US" altLang="zh-CN" dirty="0"/>
          </a:p>
          <a:p>
            <a:pPr eaLnBrk="1" hangingPunct="1">
              <a:lnSpc>
                <a:spcPct val="90000"/>
              </a:lnSpc>
              <a:defRPr/>
            </a:pPr>
            <a:endParaRPr lang="zh-CN" altLang="en-US" dirty="0"/>
          </a:p>
          <a:p>
            <a:pPr eaLnBrk="1" hangingPunct="1">
              <a:lnSpc>
                <a:spcPct val="90000"/>
              </a:lnSpc>
              <a:defRPr/>
            </a:pPr>
            <a:r>
              <a:rPr lang="zh-CN" altLang="en-US" dirty="0"/>
              <a:t>在财务报表中确认资产，需要同时符合两个条件</a:t>
            </a:r>
          </a:p>
          <a:p>
            <a:pPr lvl="1" eaLnBrk="1" hangingPunct="1">
              <a:lnSpc>
                <a:spcPct val="90000"/>
              </a:lnSpc>
              <a:defRPr/>
            </a:pPr>
            <a:r>
              <a:rPr lang="zh-CN" altLang="en-US" dirty="0"/>
              <a:t>（</a:t>
            </a:r>
            <a:r>
              <a:rPr lang="en-US" altLang="zh-CN" dirty="0"/>
              <a:t>1</a:t>
            </a:r>
            <a:r>
              <a:rPr lang="zh-CN" altLang="en-US" dirty="0"/>
              <a:t>）符合定义</a:t>
            </a:r>
          </a:p>
          <a:p>
            <a:pPr lvl="1" eaLnBrk="1" hangingPunct="1">
              <a:lnSpc>
                <a:spcPct val="90000"/>
              </a:lnSpc>
              <a:defRPr/>
            </a:pPr>
            <a:r>
              <a:rPr lang="zh-CN" altLang="en-US" dirty="0"/>
              <a:t>（</a:t>
            </a:r>
            <a:r>
              <a:rPr lang="en-US" altLang="zh-CN" dirty="0"/>
              <a:t>2</a:t>
            </a:r>
            <a:r>
              <a:rPr lang="zh-CN" altLang="en-US" dirty="0"/>
              <a:t>）符合确认的标准</a:t>
            </a:r>
            <a:endParaRPr lang="en-US" altLang="zh-CN" dirty="0"/>
          </a:p>
          <a:p>
            <a:pPr eaLnBrk="1" hangingPunct="1">
              <a:lnSpc>
                <a:spcPct val="90000"/>
              </a:lnSpc>
              <a:defRPr/>
            </a:pPr>
            <a:endParaRPr lang="zh-CN" altLang="en-US" dirty="0"/>
          </a:p>
          <a:p>
            <a:pPr eaLnBrk="1" hangingPunct="1">
              <a:lnSpc>
                <a:spcPct val="90000"/>
              </a:lnSpc>
              <a:defRPr/>
            </a:pPr>
            <a:r>
              <a:rPr lang="zh-CN" altLang="en-US" dirty="0"/>
              <a:t>哪些项目符合资产定义，但不符合资产确认标准呢？</a:t>
            </a:r>
          </a:p>
          <a:p>
            <a:pPr marL="0" indent="0">
              <a:buNone/>
              <a:defRPr/>
            </a:pPr>
            <a:endParaRPr lang="zh-CN" altLang="en-US" dirty="0"/>
          </a:p>
        </p:txBody>
      </p:sp>
    </p:spTree>
    <p:extLst>
      <p:ext uri="{BB962C8B-B14F-4D97-AF65-F5344CB8AC3E}">
        <p14:creationId xmlns:p14="http://schemas.microsoft.com/office/powerpoint/2010/main" val="8968109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资产的定义和确认</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pPr>
              <a:defRPr/>
            </a:pPr>
            <a:r>
              <a:rPr lang="en-US" altLang="zh-CN" dirty="0"/>
              <a:t>2.</a:t>
            </a:r>
            <a:r>
              <a:rPr lang="zh-CN" altLang="en-US" dirty="0"/>
              <a:t>资产的本质是未来的经济利益，那么用成本还是用价值来确认，何者更能体现资产的本质呢？</a:t>
            </a:r>
          </a:p>
        </p:txBody>
      </p:sp>
    </p:spTree>
    <p:extLst>
      <p:ext uri="{BB962C8B-B14F-4D97-AF65-F5344CB8AC3E}">
        <p14:creationId xmlns:p14="http://schemas.microsoft.com/office/powerpoint/2010/main" val="20774666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资产的确认：示例</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pPr>
              <a:defRPr/>
            </a:pPr>
            <a:r>
              <a:rPr lang="en-US" altLang="zh-CN" dirty="0"/>
              <a:t>1.</a:t>
            </a:r>
            <a:r>
              <a:rPr lang="zh-CN" altLang="en-US" dirty="0"/>
              <a:t>某高科技企业，</a:t>
            </a:r>
            <a:r>
              <a:rPr lang="en-US" altLang="zh-CN" dirty="0"/>
              <a:t>2×20</a:t>
            </a:r>
            <a:r>
              <a:rPr lang="zh-CN" altLang="en-US" dirty="0"/>
              <a:t>年发生研究支出</a:t>
            </a:r>
            <a:r>
              <a:rPr lang="en-US" altLang="zh-CN" dirty="0"/>
              <a:t>5000</a:t>
            </a:r>
            <a:r>
              <a:rPr lang="zh-CN" altLang="en-US" dirty="0"/>
              <a:t>万，是否应确认为资产？</a:t>
            </a:r>
          </a:p>
          <a:p>
            <a:pPr lvl="1">
              <a:defRPr/>
            </a:pPr>
            <a:r>
              <a:rPr lang="zh-CN" altLang="en-US" dirty="0"/>
              <a:t>该支出是否能够可靠计量</a:t>
            </a:r>
          </a:p>
          <a:p>
            <a:pPr lvl="1">
              <a:defRPr/>
            </a:pPr>
            <a:r>
              <a:rPr lang="zh-CN" altLang="en-US" dirty="0"/>
              <a:t>与该资源相关的经济利益是否很可能流入企业</a:t>
            </a:r>
            <a:endParaRPr lang="en-US" altLang="zh-CN" dirty="0"/>
          </a:p>
          <a:p>
            <a:pPr lvl="1">
              <a:defRPr/>
            </a:pPr>
            <a:endParaRPr lang="en-US" altLang="zh-CN" dirty="0"/>
          </a:p>
          <a:p>
            <a:pPr>
              <a:defRPr/>
            </a:pPr>
            <a:r>
              <a:rPr lang="en-US" altLang="zh-CN" dirty="0"/>
              <a:t>2.</a:t>
            </a:r>
            <a:r>
              <a:rPr lang="zh-CN" altLang="en-US" dirty="0"/>
              <a:t>企业发生的广告费呢？</a:t>
            </a:r>
          </a:p>
          <a:p>
            <a:pPr>
              <a:defRPr/>
            </a:pPr>
            <a:endParaRPr lang="zh-CN" altLang="en-US" dirty="0"/>
          </a:p>
        </p:txBody>
      </p:sp>
    </p:spTree>
    <p:extLst>
      <p:ext uri="{BB962C8B-B14F-4D97-AF65-F5344CB8AC3E}">
        <p14:creationId xmlns:p14="http://schemas.microsoft.com/office/powerpoint/2010/main" val="42767895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负债的确认</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同样，同资产一样，并不是所有的负债应在资产负债表中确认</a:t>
            </a:r>
          </a:p>
          <a:p>
            <a:r>
              <a:rPr lang="zh-CN" altLang="en-US" dirty="0"/>
              <a:t>负债的确认应符合两个标准：</a:t>
            </a:r>
          </a:p>
          <a:p>
            <a:pPr lvl="1"/>
            <a:r>
              <a:rPr lang="zh-CN" altLang="en-US" dirty="0"/>
              <a:t>与该义务有关的经济利益很可能流出企业</a:t>
            </a:r>
          </a:p>
          <a:p>
            <a:pPr lvl="1"/>
            <a:r>
              <a:rPr lang="zh-CN" altLang="en-US" dirty="0"/>
              <a:t>未来流出的经济利益的金额能够可靠地计量</a:t>
            </a:r>
          </a:p>
          <a:p>
            <a:r>
              <a:rPr lang="zh-CN" altLang="en-US" dirty="0"/>
              <a:t>比如说一项正在审理过程中的可能赔款，是否应确认一项负债？</a:t>
            </a:r>
          </a:p>
        </p:txBody>
      </p:sp>
    </p:spTree>
    <p:extLst>
      <p:ext uri="{BB962C8B-B14F-4D97-AF65-F5344CB8AC3E}">
        <p14:creationId xmlns:p14="http://schemas.microsoft.com/office/powerpoint/2010/main" val="28809560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收入的确认</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pPr>
              <a:defRPr/>
            </a:pPr>
            <a:r>
              <a:rPr lang="zh-CN" altLang="zh-CN" dirty="0"/>
              <a:t>收入只有在经济利益很可能流入从而导致企业资产增加或者负债减少、且经济利益的流入额能够可靠计量时才能予以确认。</a:t>
            </a:r>
            <a:endParaRPr lang="en-US" altLang="zh-CN" dirty="0"/>
          </a:p>
          <a:p>
            <a:pPr lvl="1">
              <a:defRPr/>
            </a:pPr>
            <a:r>
              <a:rPr lang="zh-CN" altLang="en-US" dirty="0"/>
              <a:t>权责发生制</a:t>
            </a:r>
          </a:p>
          <a:p>
            <a:pPr lvl="2">
              <a:defRPr/>
            </a:pPr>
            <a:r>
              <a:rPr lang="zh-CN" altLang="en-US" dirty="0"/>
              <a:t>实现原则</a:t>
            </a:r>
          </a:p>
        </p:txBody>
      </p:sp>
    </p:spTree>
    <p:extLst>
      <p:ext uri="{BB962C8B-B14F-4D97-AF65-F5344CB8AC3E}">
        <p14:creationId xmlns:p14="http://schemas.microsoft.com/office/powerpoint/2010/main" val="42134287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费用的确认</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费用只有在经济利益很可能流出从而导致企业资产减少或者负债增加、且经济利益的流出额能够可靠计量时才能予以确认。</a:t>
            </a:r>
          </a:p>
          <a:p>
            <a:pPr lvl="1"/>
            <a:r>
              <a:rPr lang="zh-CN" altLang="en-US" dirty="0"/>
              <a:t>权责发生制</a:t>
            </a:r>
          </a:p>
          <a:p>
            <a:pPr lvl="2"/>
            <a:r>
              <a:rPr lang="zh-CN" altLang="en-US" dirty="0"/>
              <a:t>配比原则</a:t>
            </a:r>
          </a:p>
        </p:txBody>
      </p:sp>
    </p:spTree>
    <p:extLst>
      <p:ext uri="{BB962C8B-B14F-4D97-AF65-F5344CB8AC3E}">
        <p14:creationId xmlns:p14="http://schemas.microsoft.com/office/powerpoint/2010/main" val="29342961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会计计量</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会计计量：确认的金额</a:t>
            </a:r>
          </a:p>
          <a:p>
            <a:pPr lvl="1"/>
            <a:r>
              <a:rPr lang="zh-CN" altLang="en-US" dirty="0"/>
              <a:t>计量单位</a:t>
            </a:r>
          </a:p>
          <a:p>
            <a:pPr lvl="1"/>
            <a:r>
              <a:rPr lang="zh-CN" altLang="en-US" dirty="0"/>
              <a:t>计量属性</a:t>
            </a:r>
          </a:p>
          <a:p>
            <a:pPr lvl="2"/>
            <a:r>
              <a:rPr lang="zh-CN" altLang="en-US" dirty="0"/>
              <a:t>历史成本</a:t>
            </a:r>
          </a:p>
          <a:p>
            <a:pPr lvl="2"/>
            <a:r>
              <a:rPr lang="zh-CN" altLang="en-US" dirty="0"/>
              <a:t>重置成本</a:t>
            </a:r>
          </a:p>
          <a:p>
            <a:pPr lvl="2"/>
            <a:r>
              <a:rPr lang="zh-CN" altLang="en-US" dirty="0"/>
              <a:t>可变现净值</a:t>
            </a:r>
          </a:p>
          <a:p>
            <a:pPr lvl="2"/>
            <a:r>
              <a:rPr lang="zh-CN" altLang="en-US" dirty="0"/>
              <a:t>现值</a:t>
            </a:r>
          </a:p>
          <a:p>
            <a:pPr lvl="2"/>
            <a:r>
              <a:rPr lang="zh-CN" altLang="en-US" dirty="0"/>
              <a:t>公允价值</a:t>
            </a:r>
          </a:p>
          <a:p>
            <a:pPr lvl="3"/>
            <a:r>
              <a:rPr lang="zh-CN" altLang="en-US" dirty="0"/>
              <a:t>是指市场参与者在计量日发生的有序交易中，出售一项资产所能收到或者转移一项负债所需支付的价格。 </a:t>
            </a:r>
          </a:p>
        </p:txBody>
      </p:sp>
    </p:spTree>
    <p:extLst>
      <p:ext uri="{BB962C8B-B14F-4D97-AF65-F5344CB8AC3E}">
        <p14:creationId xmlns:p14="http://schemas.microsoft.com/office/powerpoint/2010/main" val="36122317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sz="4000" dirty="0"/>
              <a:t>财务报表要素定义、确认和计量</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pPr eaLnBrk="1" hangingPunct="1">
              <a:defRPr/>
            </a:pPr>
            <a:r>
              <a:rPr lang="zh-CN" altLang="en-US" sz="2800" dirty="0"/>
              <a:t>从经济利益的流入和流出角度来定义要素</a:t>
            </a:r>
          </a:p>
          <a:p>
            <a:pPr lvl="1" eaLnBrk="1" hangingPunct="1">
              <a:defRPr/>
            </a:pPr>
            <a:r>
              <a:rPr lang="zh-CN" altLang="en-US" dirty="0"/>
              <a:t>资产：未来的经济利益</a:t>
            </a:r>
          </a:p>
          <a:p>
            <a:pPr lvl="1" eaLnBrk="1" hangingPunct="1">
              <a:defRPr/>
            </a:pPr>
            <a:r>
              <a:rPr lang="zh-CN" altLang="en-US" dirty="0"/>
              <a:t>负债：导致未来经济利益流出的现时义务</a:t>
            </a:r>
          </a:p>
          <a:p>
            <a:pPr lvl="1" eaLnBrk="1" hangingPunct="1">
              <a:defRPr/>
            </a:pPr>
            <a:r>
              <a:rPr lang="zh-CN" altLang="en-US" dirty="0"/>
              <a:t>收入：资产的增加*（或负债的减少）</a:t>
            </a:r>
          </a:p>
          <a:p>
            <a:pPr lvl="1" eaLnBrk="1" hangingPunct="1">
              <a:defRPr/>
            </a:pPr>
            <a:r>
              <a:rPr lang="zh-CN" altLang="en-US" dirty="0"/>
              <a:t>费用：资产的减少**（或负债的增加）</a:t>
            </a:r>
          </a:p>
          <a:p>
            <a:pPr lvl="1" eaLnBrk="1" hangingPunct="1">
              <a:defRPr/>
            </a:pPr>
            <a:r>
              <a:rPr lang="zh-CN" altLang="en-US" dirty="0"/>
              <a:t>利得：资产的增加（非日常活动导致）</a:t>
            </a:r>
          </a:p>
          <a:p>
            <a:pPr lvl="1" eaLnBrk="1" hangingPunct="1">
              <a:defRPr/>
            </a:pPr>
            <a:r>
              <a:rPr lang="zh-CN" altLang="en-US" dirty="0"/>
              <a:t>损失：资产的减少（非日常活动导致）</a:t>
            </a:r>
          </a:p>
          <a:p>
            <a:pPr eaLnBrk="1" hangingPunct="1">
              <a:defRPr/>
            </a:pPr>
            <a:r>
              <a:rPr lang="zh-CN" altLang="en-US" sz="2400" dirty="0"/>
              <a:t>*增加：流入或增加（</a:t>
            </a:r>
            <a:r>
              <a:rPr lang="en-US" altLang="zh-CN" sz="2400" dirty="0">
                <a:latin typeface="Times New Roman" panose="02020603050405020304" pitchFamily="18" charset="0"/>
                <a:cs typeface="Times New Roman" panose="02020603050405020304" pitchFamily="18" charset="0"/>
              </a:rPr>
              <a:t>inflows or enhancements</a:t>
            </a:r>
            <a:r>
              <a:rPr lang="zh-CN" altLang="en-US" sz="2400" dirty="0"/>
              <a:t>）</a:t>
            </a:r>
          </a:p>
          <a:p>
            <a:pPr eaLnBrk="1" hangingPunct="1">
              <a:defRPr/>
            </a:pPr>
            <a:r>
              <a:rPr lang="zh-CN" altLang="en-US" sz="2400" dirty="0"/>
              <a:t>**减少：流出或消耗（</a:t>
            </a:r>
            <a:r>
              <a:rPr lang="en-US" altLang="zh-CN" sz="2400" dirty="0">
                <a:latin typeface="Times New Roman" panose="02020603050405020304" pitchFamily="18" charset="0"/>
                <a:cs typeface="Times New Roman" panose="02020603050405020304" pitchFamily="18" charset="0"/>
              </a:rPr>
              <a:t>outflows or depletions</a:t>
            </a:r>
            <a:r>
              <a:rPr lang="zh-CN" altLang="en-US" sz="2400" dirty="0"/>
              <a:t>）</a:t>
            </a:r>
          </a:p>
        </p:txBody>
      </p:sp>
    </p:spTree>
    <p:extLst>
      <p:ext uri="{BB962C8B-B14F-4D97-AF65-F5344CB8AC3E}">
        <p14:creationId xmlns:p14="http://schemas.microsoft.com/office/powerpoint/2010/main" val="35966174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资产负债观</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这种以资产和负债基础来定义财务报表要素的方法总体而言体现资产负债观的要求</a:t>
            </a:r>
          </a:p>
          <a:p>
            <a:endParaRPr lang="zh-CN" altLang="en-US" dirty="0"/>
          </a:p>
          <a:p>
            <a:r>
              <a:rPr lang="zh-CN" altLang="en-US" dirty="0"/>
              <a:t>什么是资产负债观？</a:t>
            </a:r>
          </a:p>
          <a:p>
            <a:pPr lvl="1"/>
            <a:r>
              <a:rPr lang="zh-CN" altLang="en-US" dirty="0"/>
              <a:t>资产负债观：指为一类交易制定准则时，首先试图规范有关资产和负债的计量，然后根据所定义的资产和负债的变化来定义收益</a:t>
            </a:r>
          </a:p>
          <a:p>
            <a:endParaRPr lang="zh-CN" altLang="en-US" dirty="0"/>
          </a:p>
          <a:p>
            <a:endParaRPr lang="zh-CN" altLang="en-US" dirty="0"/>
          </a:p>
        </p:txBody>
      </p:sp>
    </p:spTree>
    <p:extLst>
      <p:ext uri="{BB962C8B-B14F-4D97-AF65-F5344CB8AC3E}">
        <p14:creationId xmlns:p14="http://schemas.microsoft.com/office/powerpoint/2010/main" val="24488243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收入费用观</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与资产负债观相对的收入费用观</a:t>
            </a:r>
          </a:p>
          <a:p>
            <a:pPr lvl="1"/>
            <a:r>
              <a:rPr lang="zh-CN" altLang="en-US" dirty="0"/>
              <a:t>收入费用观要求准则制定者在准则制定时，</a:t>
            </a:r>
            <a:r>
              <a:rPr lang="zh-CN" altLang="en-US" b="1" dirty="0">
                <a:solidFill>
                  <a:srgbClr val="FF0000"/>
                </a:solidFill>
              </a:rPr>
              <a:t>首先考虑</a:t>
            </a:r>
            <a:r>
              <a:rPr lang="zh-CN" altLang="en-US" dirty="0"/>
              <a:t>与某类交易相关的收入和费用的</a:t>
            </a:r>
            <a:r>
              <a:rPr lang="zh-CN" altLang="en-US" b="1" dirty="0">
                <a:solidFill>
                  <a:srgbClr val="FF0000"/>
                </a:solidFill>
              </a:rPr>
              <a:t>直接</a:t>
            </a:r>
            <a:r>
              <a:rPr lang="zh-CN" altLang="en-US" dirty="0"/>
              <a:t>确认和计量</a:t>
            </a:r>
          </a:p>
          <a:p>
            <a:endParaRPr lang="zh-CN" altLang="en-US" dirty="0"/>
          </a:p>
          <a:p>
            <a:r>
              <a:rPr lang="zh-CN" altLang="en-US" dirty="0"/>
              <a:t>收益的计量主要通过配比原则来确定，资产负债表成了损益表的附表，其中包含了保持资产负债表平衡但并非资产负债的应计和递延项目</a:t>
            </a:r>
          </a:p>
        </p:txBody>
      </p:sp>
    </p:spTree>
    <p:extLst>
      <p:ext uri="{BB962C8B-B14F-4D97-AF65-F5344CB8AC3E}">
        <p14:creationId xmlns:p14="http://schemas.microsoft.com/office/powerpoint/2010/main" val="14568203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举例</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pPr eaLnBrk="1" hangingPunct="1">
              <a:defRPr/>
            </a:pPr>
            <a:r>
              <a:rPr lang="zh-CN" altLang="en-US" dirty="0"/>
              <a:t>企业购入一项固定资产，成本为</a:t>
            </a:r>
            <a:r>
              <a:rPr lang="en-US" altLang="zh-CN" dirty="0"/>
              <a:t>100</a:t>
            </a:r>
            <a:r>
              <a:rPr lang="zh-CN" altLang="en-US" dirty="0"/>
              <a:t>万元，预计使用年限</a:t>
            </a:r>
            <a:r>
              <a:rPr lang="en-US" altLang="zh-CN" dirty="0"/>
              <a:t>10</a:t>
            </a:r>
            <a:r>
              <a:rPr lang="zh-CN" altLang="en-US" dirty="0"/>
              <a:t>年，预计净残值为</a:t>
            </a:r>
            <a:r>
              <a:rPr lang="en-US" altLang="zh-CN" dirty="0"/>
              <a:t>0</a:t>
            </a:r>
            <a:r>
              <a:rPr lang="zh-CN" altLang="en-US" dirty="0"/>
              <a:t>，采用直线法折旧。</a:t>
            </a:r>
          </a:p>
          <a:p>
            <a:pPr eaLnBrk="1" hangingPunct="1">
              <a:defRPr/>
            </a:pPr>
            <a:r>
              <a:rPr lang="zh-CN" altLang="en-US" dirty="0"/>
              <a:t>收入费用观下：</a:t>
            </a:r>
          </a:p>
          <a:p>
            <a:pPr lvl="1" eaLnBrk="1" hangingPunct="1">
              <a:defRPr/>
            </a:pPr>
            <a:r>
              <a:rPr lang="zh-CN" altLang="en-US" dirty="0"/>
              <a:t>每年计提</a:t>
            </a:r>
            <a:r>
              <a:rPr lang="en-US" altLang="zh-CN" dirty="0"/>
              <a:t>10</a:t>
            </a:r>
            <a:r>
              <a:rPr lang="zh-CN" altLang="en-US" dirty="0"/>
              <a:t>万元折旧</a:t>
            </a:r>
          </a:p>
          <a:p>
            <a:pPr lvl="1" eaLnBrk="1" hangingPunct="1">
              <a:defRPr/>
            </a:pPr>
            <a:r>
              <a:rPr lang="zh-CN" altLang="en-US" dirty="0"/>
              <a:t>强调费用的分配（时间配比）</a:t>
            </a:r>
          </a:p>
          <a:p>
            <a:pPr lvl="1" eaLnBrk="1" hangingPunct="1">
              <a:defRPr/>
            </a:pPr>
            <a:r>
              <a:rPr lang="zh-CN" altLang="en-US" dirty="0"/>
              <a:t>不关注固定资产的期末计价（期初账面余额</a:t>
            </a:r>
            <a:r>
              <a:rPr lang="en-US" altLang="zh-CN" dirty="0"/>
              <a:t>-</a:t>
            </a:r>
            <a:r>
              <a:rPr lang="zh-CN" altLang="en-US" dirty="0"/>
              <a:t>折旧费用）</a:t>
            </a:r>
          </a:p>
        </p:txBody>
      </p:sp>
    </p:spTree>
    <p:extLst>
      <p:ext uri="{BB962C8B-B14F-4D97-AF65-F5344CB8AC3E}">
        <p14:creationId xmlns:p14="http://schemas.microsoft.com/office/powerpoint/2010/main" val="96986562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资产负债观下：</a:t>
            </a:r>
          </a:p>
          <a:p>
            <a:pPr lvl="1"/>
            <a:r>
              <a:rPr lang="zh-CN" altLang="en-US" dirty="0"/>
              <a:t>开始按每年按</a:t>
            </a:r>
            <a:r>
              <a:rPr lang="en-US" altLang="zh-CN" dirty="0"/>
              <a:t>10</a:t>
            </a:r>
            <a:r>
              <a:rPr lang="zh-CN" altLang="en-US" dirty="0"/>
              <a:t>万元计提折旧</a:t>
            </a:r>
          </a:p>
          <a:p>
            <a:pPr lvl="1"/>
            <a:r>
              <a:rPr lang="zh-CN" altLang="en-US" dirty="0"/>
              <a:t>强调资产的期末计价</a:t>
            </a:r>
          </a:p>
          <a:p>
            <a:pPr lvl="2"/>
            <a:r>
              <a:rPr lang="zh-CN" altLang="en-US" dirty="0"/>
              <a:t>期末、如有减值迹象，应进行减值</a:t>
            </a:r>
          </a:p>
          <a:p>
            <a:pPr lvl="2"/>
            <a:r>
              <a:rPr lang="zh-CN" altLang="en-US" dirty="0"/>
              <a:t>可以采用重估价模式（</a:t>
            </a:r>
            <a:r>
              <a:rPr lang="en-US" altLang="zh-CN" dirty="0"/>
              <a:t>IAS 16</a:t>
            </a:r>
            <a:r>
              <a:rPr lang="zh-CN" altLang="en-US" dirty="0"/>
              <a:t>）</a:t>
            </a:r>
          </a:p>
          <a:p>
            <a:endParaRPr lang="zh-CN" altLang="en-US" dirty="0"/>
          </a:p>
          <a:p>
            <a:r>
              <a:rPr lang="zh-CN" altLang="en-US" dirty="0"/>
              <a:t>思考：在资产负债观下，期末计价时何种计量属性是最相关的？</a:t>
            </a:r>
          </a:p>
        </p:txBody>
      </p:sp>
    </p:spTree>
    <p:extLst>
      <p:ext uri="{BB962C8B-B14F-4D97-AF65-F5344CB8AC3E}">
        <p14:creationId xmlns:p14="http://schemas.microsoft.com/office/powerpoint/2010/main" val="255596521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en-US" altLang="zh-CN" dirty="0"/>
              <a:t>1.2 </a:t>
            </a:r>
            <a:r>
              <a:rPr lang="zh-CN" altLang="en-US" dirty="0"/>
              <a:t>企业会计标准</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pPr eaLnBrk="1" hangingPunct="1">
              <a:defRPr/>
            </a:pPr>
            <a:r>
              <a:rPr lang="zh-CN" altLang="en-US" dirty="0"/>
              <a:t>会计准则体系</a:t>
            </a:r>
            <a:endParaRPr lang="en-US" altLang="zh-CN" dirty="0"/>
          </a:p>
          <a:p>
            <a:pPr lvl="1" eaLnBrk="1" hangingPunct="1">
              <a:defRPr/>
            </a:pPr>
            <a:r>
              <a:rPr lang="zh-CN" altLang="en-US" dirty="0"/>
              <a:t>企业会计准则：基本准则（部门规章）</a:t>
            </a:r>
          </a:p>
          <a:p>
            <a:pPr lvl="1" eaLnBrk="1" hangingPunct="1">
              <a:defRPr/>
            </a:pPr>
            <a:r>
              <a:rPr lang="zh-CN" altLang="en-US" dirty="0"/>
              <a:t>企业会计准则：具体准则（规范性文件）</a:t>
            </a:r>
          </a:p>
          <a:p>
            <a:pPr lvl="1" eaLnBrk="1" hangingPunct="1">
              <a:defRPr/>
            </a:pPr>
            <a:r>
              <a:rPr lang="zh-CN" altLang="en-US" dirty="0"/>
              <a:t>企业会计准则：应用指南（规范性文件）</a:t>
            </a:r>
          </a:p>
          <a:p>
            <a:pPr lvl="1" eaLnBrk="1" hangingPunct="1">
              <a:defRPr/>
            </a:pPr>
            <a:r>
              <a:rPr lang="zh-CN" altLang="en-US" dirty="0"/>
              <a:t>企业会计准则：解释公告（规范性文件）</a:t>
            </a:r>
          </a:p>
          <a:p>
            <a:pPr lvl="1" eaLnBrk="1" hangingPunct="1">
              <a:defRPr/>
            </a:pPr>
            <a:r>
              <a:rPr lang="zh-CN" altLang="en-US" dirty="0"/>
              <a:t>*企业会计准则讲解</a:t>
            </a:r>
          </a:p>
          <a:p>
            <a:pPr lvl="1" eaLnBrk="1" hangingPunct="1">
              <a:defRPr/>
            </a:pPr>
            <a:r>
              <a:rPr lang="zh-CN" altLang="en-US" dirty="0"/>
              <a:t>*注册会计师全国统一考试辅导教材：会计</a:t>
            </a:r>
          </a:p>
          <a:p>
            <a:pPr eaLnBrk="1" hangingPunct="1">
              <a:defRPr/>
            </a:pPr>
            <a:r>
              <a:rPr lang="zh-CN" altLang="en-US" dirty="0"/>
              <a:t>小企业会计准则</a:t>
            </a:r>
          </a:p>
          <a:p>
            <a:pPr eaLnBrk="1" hangingPunct="1">
              <a:defRPr/>
            </a:pPr>
            <a:r>
              <a:rPr lang="zh-CN" altLang="en-US" dirty="0"/>
              <a:t>企业会计制度</a:t>
            </a:r>
            <a:endParaRPr lang="en-US" altLang="zh-CN" dirty="0"/>
          </a:p>
        </p:txBody>
      </p:sp>
    </p:spTree>
    <p:extLst>
      <p:ext uri="{BB962C8B-B14F-4D97-AF65-F5344CB8AC3E}">
        <p14:creationId xmlns:p14="http://schemas.microsoft.com/office/powerpoint/2010/main" val="343688885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基本准则和具体准则的关系</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en-US" altLang="zh-CN" dirty="0"/>
              <a:t>1</a:t>
            </a:r>
            <a:r>
              <a:rPr lang="zh-CN" altLang="en-US" dirty="0"/>
              <a:t>．统驭具体准则的制定和完善</a:t>
            </a:r>
          </a:p>
          <a:p>
            <a:r>
              <a:rPr lang="en-US" altLang="zh-CN" dirty="0"/>
              <a:t>2</a:t>
            </a:r>
            <a:r>
              <a:rPr lang="zh-CN" altLang="en-US" dirty="0"/>
              <a:t>．为会计实务中出现的、具体准则尚未规范的新问题提供会计处理依据</a:t>
            </a:r>
          </a:p>
          <a:p>
            <a:pPr lvl="1" eaLnBrk="1" hangingPunct="1">
              <a:defRPr/>
            </a:pPr>
            <a:r>
              <a:rPr lang="zh-CN" altLang="en-US" dirty="0"/>
              <a:t>涵盖各类企业、各项交易</a:t>
            </a:r>
          </a:p>
        </p:txBody>
      </p:sp>
    </p:spTree>
    <p:extLst>
      <p:ext uri="{BB962C8B-B14F-4D97-AF65-F5344CB8AC3E}">
        <p14:creationId xmlns:p14="http://schemas.microsoft.com/office/powerpoint/2010/main" val="81901479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基本准则和具体准则的关系</a:t>
            </a:r>
          </a:p>
        </p:txBody>
      </p:sp>
      <p:grpSp>
        <p:nvGrpSpPr>
          <p:cNvPr id="6" name="Group 4">
            <a:extLst>
              <a:ext uri="{FF2B5EF4-FFF2-40B4-BE49-F238E27FC236}">
                <a16:creationId xmlns:a16="http://schemas.microsoft.com/office/drawing/2014/main" id="{5BCA8D32-D447-48CE-B84C-792D735B37BD}"/>
              </a:ext>
            </a:extLst>
          </p:cNvPr>
          <p:cNvGrpSpPr>
            <a:grpSpLocks/>
          </p:cNvGrpSpPr>
          <p:nvPr/>
        </p:nvGrpSpPr>
        <p:grpSpPr bwMode="auto">
          <a:xfrm>
            <a:off x="4572000" y="4509120"/>
            <a:ext cx="2667000" cy="2259013"/>
            <a:chOff x="2976" y="1985"/>
            <a:chExt cx="2519" cy="2149"/>
          </a:xfrm>
        </p:grpSpPr>
        <p:sp>
          <p:nvSpPr>
            <p:cNvPr id="7" name="Freeform 5">
              <a:extLst>
                <a:ext uri="{FF2B5EF4-FFF2-40B4-BE49-F238E27FC236}">
                  <a16:creationId xmlns:a16="http://schemas.microsoft.com/office/drawing/2014/main" id="{8372F036-1AC9-449A-94F6-B0120BAD0BB4}"/>
                </a:ext>
              </a:extLst>
            </p:cNvPr>
            <p:cNvSpPr>
              <a:spLocks/>
            </p:cNvSpPr>
            <p:nvPr/>
          </p:nvSpPr>
          <p:spPr bwMode="auto">
            <a:xfrm>
              <a:off x="2976" y="3056"/>
              <a:ext cx="2488" cy="1074"/>
            </a:xfrm>
            <a:custGeom>
              <a:avLst/>
              <a:gdLst>
                <a:gd name="T0" fmla="*/ 0 w 4975"/>
                <a:gd name="T1" fmla="*/ 1074 h 2147"/>
                <a:gd name="T2" fmla="*/ 2488 w 4975"/>
                <a:gd name="T3" fmla="*/ 1074 h 2147"/>
                <a:gd name="T4" fmla="*/ 2306 w 4975"/>
                <a:gd name="T5" fmla="*/ 910 h 2147"/>
                <a:gd name="T6" fmla="*/ 2073 w 4975"/>
                <a:gd name="T7" fmla="*/ 657 h 2147"/>
                <a:gd name="T8" fmla="*/ 1959 w 4975"/>
                <a:gd name="T9" fmla="*/ 209 h 2147"/>
                <a:gd name="T10" fmla="*/ 1782 w 4975"/>
                <a:gd name="T11" fmla="*/ 159 h 2147"/>
                <a:gd name="T12" fmla="*/ 1553 w 4975"/>
                <a:gd name="T13" fmla="*/ 0 h 2147"/>
                <a:gd name="T14" fmla="*/ 877 w 4975"/>
                <a:gd name="T15" fmla="*/ 16 h 2147"/>
                <a:gd name="T16" fmla="*/ 723 w 4975"/>
                <a:gd name="T17" fmla="*/ 166 h 2147"/>
                <a:gd name="T18" fmla="*/ 182 w 4975"/>
                <a:gd name="T19" fmla="*/ 372 h 2147"/>
                <a:gd name="T20" fmla="*/ 63 w 4975"/>
                <a:gd name="T21" fmla="*/ 818 h 2147"/>
                <a:gd name="T22" fmla="*/ 0 w 4975"/>
                <a:gd name="T23" fmla="*/ 1074 h 2147"/>
                <a:gd name="T24" fmla="*/ 0 w 4975"/>
                <a:gd name="T25" fmla="*/ 1074 h 21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975"/>
                <a:gd name="T40" fmla="*/ 0 h 2147"/>
                <a:gd name="T41" fmla="*/ 4975 w 4975"/>
                <a:gd name="T42" fmla="*/ 2147 h 21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975" h="2147">
                  <a:moveTo>
                    <a:pt x="0" y="2147"/>
                  </a:moveTo>
                  <a:lnTo>
                    <a:pt x="4975" y="2147"/>
                  </a:lnTo>
                  <a:lnTo>
                    <a:pt x="4612" y="1819"/>
                  </a:lnTo>
                  <a:lnTo>
                    <a:pt x="4146" y="1313"/>
                  </a:lnTo>
                  <a:lnTo>
                    <a:pt x="3918" y="418"/>
                  </a:lnTo>
                  <a:lnTo>
                    <a:pt x="3563" y="317"/>
                  </a:lnTo>
                  <a:lnTo>
                    <a:pt x="3105" y="0"/>
                  </a:lnTo>
                  <a:lnTo>
                    <a:pt x="1753" y="32"/>
                  </a:lnTo>
                  <a:lnTo>
                    <a:pt x="1445" y="332"/>
                  </a:lnTo>
                  <a:lnTo>
                    <a:pt x="363" y="743"/>
                  </a:lnTo>
                  <a:lnTo>
                    <a:pt x="125" y="1636"/>
                  </a:lnTo>
                  <a:lnTo>
                    <a:pt x="0" y="2147"/>
                  </a:lnTo>
                  <a:close/>
                </a:path>
              </a:pathLst>
            </a:custGeom>
            <a:solidFill>
              <a:srgbClr val="006699"/>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8" name="Freeform 6">
              <a:extLst>
                <a:ext uri="{FF2B5EF4-FFF2-40B4-BE49-F238E27FC236}">
                  <a16:creationId xmlns:a16="http://schemas.microsoft.com/office/drawing/2014/main" id="{AE49B0A0-B835-400B-A66D-78A3E64E74BA}"/>
                </a:ext>
              </a:extLst>
            </p:cNvPr>
            <p:cNvSpPr>
              <a:spLocks/>
            </p:cNvSpPr>
            <p:nvPr/>
          </p:nvSpPr>
          <p:spPr bwMode="auto">
            <a:xfrm>
              <a:off x="3870" y="2953"/>
              <a:ext cx="753" cy="1176"/>
            </a:xfrm>
            <a:custGeom>
              <a:avLst/>
              <a:gdLst>
                <a:gd name="T0" fmla="*/ 99 w 1508"/>
                <a:gd name="T1" fmla="*/ 0 h 2353"/>
                <a:gd name="T2" fmla="*/ 47 w 1508"/>
                <a:gd name="T3" fmla="*/ 39 h 2353"/>
                <a:gd name="T4" fmla="*/ 0 w 1508"/>
                <a:gd name="T5" fmla="*/ 114 h 2353"/>
                <a:gd name="T6" fmla="*/ 55 w 1508"/>
                <a:gd name="T7" fmla="*/ 293 h 2353"/>
                <a:gd name="T8" fmla="*/ 382 w 1508"/>
                <a:gd name="T9" fmla="*/ 886 h 2353"/>
                <a:gd name="T10" fmla="*/ 481 w 1508"/>
                <a:gd name="T11" fmla="*/ 1176 h 2353"/>
                <a:gd name="T12" fmla="*/ 718 w 1508"/>
                <a:gd name="T13" fmla="*/ 1176 h 2353"/>
                <a:gd name="T14" fmla="*/ 729 w 1508"/>
                <a:gd name="T15" fmla="*/ 948 h 2353"/>
                <a:gd name="T16" fmla="*/ 738 w 1508"/>
                <a:gd name="T17" fmla="*/ 803 h 2353"/>
                <a:gd name="T18" fmla="*/ 753 w 1508"/>
                <a:gd name="T19" fmla="*/ 185 h 2353"/>
                <a:gd name="T20" fmla="*/ 568 w 1508"/>
                <a:gd name="T21" fmla="*/ 55 h 2353"/>
                <a:gd name="T22" fmla="*/ 99 w 1508"/>
                <a:gd name="T23" fmla="*/ 0 h 2353"/>
                <a:gd name="T24" fmla="*/ 99 w 1508"/>
                <a:gd name="T25" fmla="*/ 0 h 235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08"/>
                <a:gd name="T40" fmla="*/ 0 h 2353"/>
                <a:gd name="T41" fmla="*/ 1508 w 1508"/>
                <a:gd name="T42" fmla="*/ 2353 h 235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08" h="2353">
                  <a:moveTo>
                    <a:pt x="198" y="0"/>
                  </a:moveTo>
                  <a:lnTo>
                    <a:pt x="95" y="78"/>
                  </a:lnTo>
                  <a:lnTo>
                    <a:pt x="0" y="228"/>
                  </a:lnTo>
                  <a:lnTo>
                    <a:pt x="110" y="586"/>
                  </a:lnTo>
                  <a:lnTo>
                    <a:pt x="766" y="1772"/>
                  </a:lnTo>
                  <a:lnTo>
                    <a:pt x="964" y="2353"/>
                  </a:lnTo>
                  <a:lnTo>
                    <a:pt x="1437" y="2353"/>
                  </a:lnTo>
                  <a:lnTo>
                    <a:pt x="1460" y="1897"/>
                  </a:lnTo>
                  <a:lnTo>
                    <a:pt x="1477" y="1606"/>
                  </a:lnTo>
                  <a:lnTo>
                    <a:pt x="1508" y="371"/>
                  </a:lnTo>
                  <a:lnTo>
                    <a:pt x="1137" y="111"/>
                  </a:lnTo>
                  <a:lnTo>
                    <a:pt x="198" y="0"/>
                  </a:lnTo>
                  <a:close/>
                </a:path>
              </a:pathLst>
            </a:custGeom>
            <a:solidFill>
              <a:srgbClr val="FFFCE5"/>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9" name="Freeform 7" descr="90%">
              <a:extLst>
                <a:ext uri="{FF2B5EF4-FFF2-40B4-BE49-F238E27FC236}">
                  <a16:creationId xmlns:a16="http://schemas.microsoft.com/office/drawing/2014/main" id="{C5F655DC-75A8-4C92-BEAC-44115A80C3C4}"/>
                </a:ext>
              </a:extLst>
            </p:cNvPr>
            <p:cNvSpPr>
              <a:spLocks/>
            </p:cNvSpPr>
            <p:nvPr/>
          </p:nvSpPr>
          <p:spPr bwMode="auto">
            <a:xfrm>
              <a:off x="4279" y="3415"/>
              <a:ext cx="312" cy="714"/>
            </a:xfrm>
            <a:custGeom>
              <a:avLst/>
              <a:gdLst>
                <a:gd name="T0" fmla="*/ 31 w 624"/>
                <a:gd name="T1" fmla="*/ 605 h 1427"/>
                <a:gd name="T2" fmla="*/ 72 w 624"/>
                <a:gd name="T3" fmla="*/ 222 h 1427"/>
                <a:gd name="T4" fmla="*/ 0 w 624"/>
                <a:gd name="T5" fmla="*/ 107 h 1427"/>
                <a:gd name="T6" fmla="*/ 44 w 624"/>
                <a:gd name="T7" fmla="*/ 0 h 1427"/>
                <a:gd name="T8" fmla="*/ 185 w 624"/>
                <a:gd name="T9" fmla="*/ 134 h 1427"/>
                <a:gd name="T10" fmla="*/ 312 w 624"/>
                <a:gd name="T11" fmla="*/ 601 h 1427"/>
                <a:gd name="T12" fmla="*/ 285 w 624"/>
                <a:gd name="T13" fmla="*/ 714 h 1427"/>
                <a:gd name="T14" fmla="*/ 83 w 624"/>
                <a:gd name="T15" fmla="*/ 714 h 1427"/>
                <a:gd name="T16" fmla="*/ 31 w 624"/>
                <a:gd name="T17" fmla="*/ 605 h 1427"/>
                <a:gd name="T18" fmla="*/ 31 w 624"/>
                <a:gd name="T19" fmla="*/ 605 h 14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24"/>
                <a:gd name="T31" fmla="*/ 0 h 1427"/>
                <a:gd name="T32" fmla="*/ 624 w 624"/>
                <a:gd name="T33" fmla="*/ 1427 h 142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24" h="1427">
                  <a:moveTo>
                    <a:pt x="63" y="1209"/>
                  </a:moveTo>
                  <a:lnTo>
                    <a:pt x="143" y="443"/>
                  </a:lnTo>
                  <a:lnTo>
                    <a:pt x="0" y="213"/>
                  </a:lnTo>
                  <a:lnTo>
                    <a:pt x="88" y="0"/>
                  </a:lnTo>
                  <a:lnTo>
                    <a:pt x="371" y="268"/>
                  </a:lnTo>
                  <a:lnTo>
                    <a:pt x="624" y="1201"/>
                  </a:lnTo>
                  <a:lnTo>
                    <a:pt x="569" y="1427"/>
                  </a:lnTo>
                  <a:lnTo>
                    <a:pt x="166" y="1427"/>
                  </a:lnTo>
                  <a:lnTo>
                    <a:pt x="63" y="1209"/>
                  </a:lnTo>
                  <a:close/>
                </a:path>
              </a:pathLst>
            </a:custGeom>
            <a:pattFill prst="pct90">
              <a:fgClr>
                <a:srgbClr val="FF3300"/>
              </a:fgClr>
              <a:bgClr>
                <a:srgbClr val="FFFFFF"/>
              </a:bgClr>
            </a:pattFill>
            <a:ln w="9525">
              <a:pattFill prst="pct90">
                <a:fgClr>
                  <a:srgbClr val="FF3300"/>
                </a:fgClr>
                <a:bgClr>
                  <a:srgbClr val="FFFFFF"/>
                </a:bgClr>
              </a:patt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10" name="Freeform 8">
              <a:extLst>
                <a:ext uri="{FF2B5EF4-FFF2-40B4-BE49-F238E27FC236}">
                  <a16:creationId xmlns:a16="http://schemas.microsoft.com/office/drawing/2014/main" id="{C8D9E525-3790-45A0-882C-02441F7F2EBB}"/>
                </a:ext>
              </a:extLst>
            </p:cNvPr>
            <p:cNvSpPr>
              <a:spLocks/>
            </p:cNvSpPr>
            <p:nvPr/>
          </p:nvSpPr>
          <p:spPr bwMode="auto">
            <a:xfrm>
              <a:off x="4619" y="3743"/>
              <a:ext cx="271" cy="263"/>
            </a:xfrm>
            <a:custGeom>
              <a:avLst/>
              <a:gdLst>
                <a:gd name="T0" fmla="*/ 0 w 546"/>
                <a:gd name="T1" fmla="*/ 79 h 522"/>
                <a:gd name="T2" fmla="*/ 0 w 546"/>
                <a:gd name="T3" fmla="*/ 139 h 522"/>
                <a:gd name="T4" fmla="*/ 115 w 546"/>
                <a:gd name="T5" fmla="*/ 262 h 522"/>
                <a:gd name="T6" fmla="*/ 197 w 546"/>
                <a:gd name="T7" fmla="*/ 206 h 522"/>
                <a:gd name="T8" fmla="*/ 272 w 546"/>
                <a:gd name="T9" fmla="*/ 35 h 522"/>
                <a:gd name="T10" fmla="*/ 173 w 546"/>
                <a:gd name="T11" fmla="*/ 0 h 522"/>
                <a:gd name="T12" fmla="*/ 0 w 546"/>
                <a:gd name="T13" fmla="*/ 79 h 522"/>
                <a:gd name="T14" fmla="*/ 0 w 546"/>
                <a:gd name="T15" fmla="*/ 79 h 522"/>
                <a:gd name="T16" fmla="*/ 0 60000 65536"/>
                <a:gd name="T17" fmla="*/ 0 60000 65536"/>
                <a:gd name="T18" fmla="*/ 0 60000 65536"/>
                <a:gd name="T19" fmla="*/ 0 60000 65536"/>
                <a:gd name="T20" fmla="*/ 0 60000 65536"/>
                <a:gd name="T21" fmla="*/ 0 60000 65536"/>
                <a:gd name="T22" fmla="*/ 0 60000 65536"/>
                <a:gd name="T23" fmla="*/ 0 60000 65536"/>
                <a:gd name="T24" fmla="*/ 0 w 546"/>
                <a:gd name="T25" fmla="*/ 0 h 522"/>
                <a:gd name="T26" fmla="*/ 546 w 546"/>
                <a:gd name="T27" fmla="*/ 522 h 5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46" h="522">
                  <a:moveTo>
                    <a:pt x="0" y="158"/>
                  </a:moveTo>
                  <a:lnTo>
                    <a:pt x="0" y="277"/>
                  </a:lnTo>
                  <a:lnTo>
                    <a:pt x="230" y="522"/>
                  </a:lnTo>
                  <a:lnTo>
                    <a:pt x="396" y="410"/>
                  </a:lnTo>
                  <a:lnTo>
                    <a:pt x="546" y="70"/>
                  </a:lnTo>
                  <a:lnTo>
                    <a:pt x="348" y="0"/>
                  </a:lnTo>
                  <a:lnTo>
                    <a:pt x="0" y="158"/>
                  </a:lnTo>
                  <a:close/>
                </a:path>
              </a:pathLst>
            </a:custGeom>
            <a:solidFill>
              <a:srgbClr val="FFFFFF"/>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11" name="Freeform 9">
              <a:extLst>
                <a:ext uri="{FF2B5EF4-FFF2-40B4-BE49-F238E27FC236}">
                  <a16:creationId xmlns:a16="http://schemas.microsoft.com/office/drawing/2014/main" id="{3F873F9A-D7CD-45AA-9685-2D6B60AFEE69}"/>
                </a:ext>
              </a:extLst>
            </p:cNvPr>
            <p:cNvSpPr>
              <a:spLocks/>
            </p:cNvSpPr>
            <p:nvPr/>
          </p:nvSpPr>
          <p:spPr bwMode="auto">
            <a:xfrm>
              <a:off x="4721" y="3779"/>
              <a:ext cx="166" cy="246"/>
            </a:xfrm>
            <a:custGeom>
              <a:avLst/>
              <a:gdLst>
                <a:gd name="T0" fmla="*/ 76 w 333"/>
                <a:gd name="T1" fmla="*/ 33 h 492"/>
                <a:gd name="T2" fmla="*/ 72 w 333"/>
                <a:gd name="T3" fmla="*/ 80 h 492"/>
                <a:gd name="T4" fmla="*/ 0 w 333"/>
                <a:gd name="T5" fmla="*/ 119 h 492"/>
                <a:gd name="T6" fmla="*/ 0 w 333"/>
                <a:gd name="T7" fmla="*/ 246 h 492"/>
                <a:gd name="T8" fmla="*/ 112 w 333"/>
                <a:gd name="T9" fmla="*/ 163 h 492"/>
                <a:gd name="T10" fmla="*/ 167 w 333"/>
                <a:gd name="T11" fmla="*/ 0 h 492"/>
                <a:gd name="T12" fmla="*/ 96 w 333"/>
                <a:gd name="T13" fmla="*/ 0 h 492"/>
                <a:gd name="T14" fmla="*/ 76 w 333"/>
                <a:gd name="T15" fmla="*/ 33 h 492"/>
                <a:gd name="T16" fmla="*/ 76 w 333"/>
                <a:gd name="T17" fmla="*/ 33 h 49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3"/>
                <a:gd name="T28" fmla="*/ 0 h 492"/>
                <a:gd name="T29" fmla="*/ 333 w 333"/>
                <a:gd name="T30" fmla="*/ 492 h 49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3" h="492">
                  <a:moveTo>
                    <a:pt x="151" y="65"/>
                  </a:moveTo>
                  <a:lnTo>
                    <a:pt x="143" y="160"/>
                  </a:lnTo>
                  <a:lnTo>
                    <a:pt x="0" y="238"/>
                  </a:lnTo>
                  <a:lnTo>
                    <a:pt x="0" y="492"/>
                  </a:lnTo>
                  <a:lnTo>
                    <a:pt x="223" y="325"/>
                  </a:lnTo>
                  <a:lnTo>
                    <a:pt x="333" y="0"/>
                  </a:lnTo>
                  <a:lnTo>
                    <a:pt x="191" y="0"/>
                  </a:lnTo>
                  <a:lnTo>
                    <a:pt x="151" y="65"/>
                  </a:lnTo>
                  <a:close/>
                </a:path>
              </a:pathLst>
            </a:custGeom>
            <a:solidFill>
              <a:srgbClr val="E5E5E5"/>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12" name="Freeform 10">
              <a:extLst>
                <a:ext uri="{FF2B5EF4-FFF2-40B4-BE49-F238E27FC236}">
                  <a16:creationId xmlns:a16="http://schemas.microsoft.com/office/drawing/2014/main" id="{5570466C-8061-48BA-BF08-26ADEC523DE0}"/>
                </a:ext>
              </a:extLst>
            </p:cNvPr>
            <p:cNvSpPr>
              <a:spLocks/>
            </p:cNvSpPr>
            <p:nvPr/>
          </p:nvSpPr>
          <p:spPr bwMode="auto">
            <a:xfrm>
              <a:off x="4777" y="3605"/>
              <a:ext cx="123" cy="186"/>
            </a:xfrm>
            <a:custGeom>
              <a:avLst/>
              <a:gdLst>
                <a:gd name="T0" fmla="*/ 90 w 243"/>
                <a:gd name="T1" fmla="*/ 5 h 373"/>
                <a:gd name="T2" fmla="*/ 39 w 243"/>
                <a:gd name="T3" fmla="*/ 0 h 373"/>
                <a:gd name="T4" fmla="*/ 0 w 243"/>
                <a:gd name="T5" fmla="*/ 47 h 373"/>
                <a:gd name="T6" fmla="*/ 11 w 243"/>
                <a:gd name="T7" fmla="*/ 170 h 373"/>
                <a:gd name="T8" fmla="*/ 110 w 243"/>
                <a:gd name="T9" fmla="*/ 186 h 373"/>
                <a:gd name="T10" fmla="*/ 122 w 243"/>
                <a:gd name="T11" fmla="*/ 107 h 373"/>
                <a:gd name="T12" fmla="*/ 90 w 243"/>
                <a:gd name="T13" fmla="*/ 5 h 373"/>
                <a:gd name="T14" fmla="*/ 90 w 243"/>
                <a:gd name="T15" fmla="*/ 5 h 373"/>
                <a:gd name="T16" fmla="*/ 0 60000 65536"/>
                <a:gd name="T17" fmla="*/ 0 60000 65536"/>
                <a:gd name="T18" fmla="*/ 0 60000 65536"/>
                <a:gd name="T19" fmla="*/ 0 60000 65536"/>
                <a:gd name="T20" fmla="*/ 0 60000 65536"/>
                <a:gd name="T21" fmla="*/ 0 60000 65536"/>
                <a:gd name="T22" fmla="*/ 0 60000 65536"/>
                <a:gd name="T23" fmla="*/ 0 60000 65536"/>
                <a:gd name="T24" fmla="*/ 0 w 243"/>
                <a:gd name="T25" fmla="*/ 0 h 373"/>
                <a:gd name="T26" fmla="*/ 243 w 243"/>
                <a:gd name="T27" fmla="*/ 373 h 37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3" h="373">
                  <a:moveTo>
                    <a:pt x="180" y="10"/>
                  </a:moveTo>
                  <a:lnTo>
                    <a:pt x="78" y="0"/>
                  </a:lnTo>
                  <a:lnTo>
                    <a:pt x="0" y="95"/>
                  </a:lnTo>
                  <a:lnTo>
                    <a:pt x="22" y="340"/>
                  </a:lnTo>
                  <a:lnTo>
                    <a:pt x="220" y="373"/>
                  </a:lnTo>
                  <a:lnTo>
                    <a:pt x="243" y="215"/>
                  </a:lnTo>
                  <a:lnTo>
                    <a:pt x="180" y="10"/>
                  </a:lnTo>
                  <a:close/>
                </a:path>
              </a:pathLst>
            </a:custGeom>
            <a:solidFill>
              <a:srgbClr val="FFFFFF"/>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13" name="Freeform 11">
              <a:extLst>
                <a:ext uri="{FF2B5EF4-FFF2-40B4-BE49-F238E27FC236}">
                  <a16:creationId xmlns:a16="http://schemas.microsoft.com/office/drawing/2014/main" id="{05B7F02F-FB2E-4217-96BA-94457076617B}"/>
                </a:ext>
              </a:extLst>
            </p:cNvPr>
            <p:cNvSpPr>
              <a:spLocks/>
            </p:cNvSpPr>
            <p:nvPr/>
          </p:nvSpPr>
          <p:spPr bwMode="auto">
            <a:xfrm>
              <a:off x="4748" y="3601"/>
              <a:ext cx="87" cy="195"/>
            </a:xfrm>
            <a:custGeom>
              <a:avLst/>
              <a:gdLst>
                <a:gd name="T0" fmla="*/ 59 w 174"/>
                <a:gd name="T1" fmla="*/ 0 h 387"/>
                <a:gd name="T2" fmla="*/ 32 w 174"/>
                <a:gd name="T3" fmla="*/ 20 h 387"/>
                <a:gd name="T4" fmla="*/ 12 w 174"/>
                <a:gd name="T5" fmla="*/ 44 h 387"/>
                <a:gd name="T6" fmla="*/ 0 w 174"/>
                <a:gd name="T7" fmla="*/ 155 h 387"/>
                <a:gd name="T8" fmla="*/ 63 w 174"/>
                <a:gd name="T9" fmla="*/ 194 h 387"/>
                <a:gd name="T10" fmla="*/ 80 w 174"/>
                <a:gd name="T11" fmla="*/ 170 h 387"/>
                <a:gd name="T12" fmla="*/ 55 w 174"/>
                <a:gd name="T13" fmla="*/ 135 h 387"/>
                <a:gd name="T14" fmla="*/ 51 w 174"/>
                <a:gd name="T15" fmla="*/ 71 h 387"/>
                <a:gd name="T16" fmla="*/ 87 w 174"/>
                <a:gd name="T17" fmla="*/ 0 h 387"/>
                <a:gd name="T18" fmla="*/ 59 w 174"/>
                <a:gd name="T19" fmla="*/ 0 h 387"/>
                <a:gd name="T20" fmla="*/ 59 w 174"/>
                <a:gd name="T21" fmla="*/ 0 h 38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
                <a:gd name="T34" fmla="*/ 0 h 387"/>
                <a:gd name="T35" fmla="*/ 174 w 174"/>
                <a:gd name="T36" fmla="*/ 387 h 38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 h="387">
                  <a:moveTo>
                    <a:pt x="119" y="0"/>
                  </a:moveTo>
                  <a:lnTo>
                    <a:pt x="64" y="40"/>
                  </a:lnTo>
                  <a:lnTo>
                    <a:pt x="24" y="87"/>
                  </a:lnTo>
                  <a:lnTo>
                    <a:pt x="0" y="309"/>
                  </a:lnTo>
                  <a:lnTo>
                    <a:pt x="127" y="387"/>
                  </a:lnTo>
                  <a:lnTo>
                    <a:pt x="159" y="340"/>
                  </a:lnTo>
                  <a:lnTo>
                    <a:pt x="110" y="270"/>
                  </a:lnTo>
                  <a:lnTo>
                    <a:pt x="102" y="142"/>
                  </a:lnTo>
                  <a:lnTo>
                    <a:pt x="174" y="0"/>
                  </a:lnTo>
                  <a:lnTo>
                    <a:pt x="119" y="0"/>
                  </a:lnTo>
                  <a:close/>
                </a:path>
              </a:pathLst>
            </a:custGeom>
            <a:solidFill>
              <a:srgbClr val="FFCC7F"/>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14" name="Freeform 12">
              <a:extLst>
                <a:ext uri="{FF2B5EF4-FFF2-40B4-BE49-F238E27FC236}">
                  <a16:creationId xmlns:a16="http://schemas.microsoft.com/office/drawing/2014/main" id="{E40E9416-60D7-418D-BD00-5097383CB27F}"/>
                </a:ext>
              </a:extLst>
            </p:cNvPr>
            <p:cNvSpPr>
              <a:spLocks/>
            </p:cNvSpPr>
            <p:nvPr/>
          </p:nvSpPr>
          <p:spPr bwMode="auto">
            <a:xfrm>
              <a:off x="4670" y="3750"/>
              <a:ext cx="129" cy="112"/>
            </a:xfrm>
            <a:custGeom>
              <a:avLst/>
              <a:gdLst>
                <a:gd name="T0" fmla="*/ 0 w 260"/>
                <a:gd name="T1" fmla="*/ 79 h 222"/>
                <a:gd name="T2" fmla="*/ 36 w 260"/>
                <a:gd name="T3" fmla="*/ 63 h 222"/>
                <a:gd name="T4" fmla="*/ 107 w 260"/>
                <a:gd name="T5" fmla="*/ 0 h 222"/>
                <a:gd name="T6" fmla="*/ 130 w 260"/>
                <a:gd name="T7" fmla="*/ 44 h 222"/>
                <a:gd name="T8" fmla="*/ 102 w 260"/>
                <a:gd name="T9" fmla="*/ 84 h 222"/>
                <a:gd name="T10" fmla="*/ 43 w 260"/>
                <a:gd name="T11" fmla="*/ 111 h 222"/>
                <a:gd name="T12" fmla="*/ 0 w 260"/>
                <a:gd name="T13" fmla="*/ 79 h 222"/>
                <a:gd name="T14" fmla="*/ 0 w 260"/>
                <a:gd name="T15" fmla="*/ 79 h 222"/>
                <a:gd name="T16" fmla="*/ 0 60000 65536"/>
                <a:gd name="T17" fmla="*/ 0 60000 65536"/>
                <a:gd name="T18" fmla="*/ 0 60000 65536"/>
                <a:gd name="T19" fmla="*/ 0 60000 65536"/>
                <a:gd name="T20" fmla="*/ 0 60000 65536"/>
                <a:gd name="T21" fmla="*/ 0 60000 65536"/>
                <a:gd name="T22" fmla="*/ 0 60000 65536"/>
                <a:gd name="T23" fmla="*/ 0 60000 65536"/>
                <a:gd name="T24" fmla="*/ 0 w 260"/>
                <a:gd name="T25" fmla="*/ 0 h 222"/>
                <a:gd name="T26" fmla="*/ 260 w 260"/>
                <a:gd name="T27" fmla="*/ 222 h 2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0" h="222">
                  <a:moveTo>
                    <a:pt x="0" y="158"/>
                  </a:moveTo>
                  <a:lnTo>
                    <a:pt x="72" y="127"/>
                  </a:lnTo>
                  <a:lnTo>
                    <a:pt x="215" y="0"/>
                  </a:lnTo>
                  <a:lnTo>
                    <a:pt x="260" y="87"/>
                  </a:lnTo>
                  <a:lnTo>
                    <a:pt x="205" y="167"/>
                  </a:lnTo>
                  <a:lnTo>
                    <a:pt x="87" y="222"/>
                  </a:lnTo>
                  <a:lnTo>
                    <a:pt x="0" y="158"/>
                  </a:lnTo>
                  <a:close/>
                </a:path>
              </a:pathLst>
            </a:custGeom>
            <a:solidFill>
              <a:srgbClr val="BA5726"/>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15" name="Freeform 13">
              <a:extLst>
                <a:ext uri="{FF2B5EF4-FFF2-40B4-BE49-F238E27FC236}">
                  <a16:creationId xmlns:a16="http://schemas.microsoft.com/office/drawing/2014/main" id="{35BC9DE9-CCB0-4CA1-B4E2-1AEC11F456D8}"/>
                </a:ext>
              </a:extLst>
            </p:cNvPr>
            <p:cNvSpPr>
              <a:spLocks/>
            </p:cNvSpPr>
            <p:nvPr/>
          </p:nvSpPr>
          <p:spPr bwMode="auto">
            <a:xfrm>
              <a:off x="3870" y="2003"/>
              <a:ext cx="942" cy="657"/>
            </a:xfrm>
            <a:custGeom>
              <a:avLst/>
              <a:gdLst>
                <a:gd name="T0" fmla="*/ 0 w 1888"/>
                <a:gd name="T1" fmla="*/ 459 h 1314"/>
                <a:gd name="T2" fmla="*/ 43 w 1888"/>
                <a:gd name="T3" fmla="*/ 384 h 1314"/>
                <a:gd name="T4" fmla="*/ 205 w 1888"/>
                <a:gd name="T5" fmla="*/ 111 h 1314"/>
                <a:gd name="T6" fmla="*/ 458 w 1888"/>
                <a:gd name="T7" fmla="*/ 0 h 1314"/>
                <a:gd name="T8" fmla="*/ 710 w 1888"/>
                <a:gd name="T9" fmla="*/ 44 h 1314"/>
                <a:gd name="T10" fmla="*/ 801 w 1888"/>
                <a:gd name="T11" fmla="*/ 91 h 1314"/>
                <a:gd name="T12" fmla="*/ 804 w 1888"/>
                <a:gd name="T13" fmla="*/ 194 h 1314"/>
                <a:gd name="T14" fmla="*/ 888 w 1888"/>
                <a:gd name="T15" fmla="*/ 241 h 1314"/>
                <a:gd name="T16" fmla="*/ 923 w 1888"/>
                <a:gd name="T17" fmla="*/ 325 h 1314"/>
                <a:gd name="T18" fmla="*/ 908 w 1888"/>
                <a:gd name="T19" fmla="*/ 467 h 1314"/>
                <a:gd name="T20" fmla="*/ 943 w 1888"/>
                <a:gd name="T21" fmla="*/ 610 h 1314"/>
                <a:gd name="T22" fmla="*/ 916 w 1888"/>
                <a:gd name="T23" fmla="*/ 657 h 1314"/>
                <a:gd name="T24" fmla="*/ 39 w 1888"/>
                <a:gd name="T25" fmla="*/ 558 h 1314"/>
                <a:gd name="T26" fmla="*/ 0 w 1888"/>
                <a:gd name="T27" fmla="*/ 459 h 1314"/>
                <a:gd name="T28" fmla="*/ 0 w 1888"/>
                <a:gd name="T29" fmla="*/ 459 h 131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888"/>
                <a:gd name="T46" fmla="*/ 0 h 1314"/>
                <a:gd name="T47" fmla="*/ 1888 w 1888"/>
                <a:gd name="T48" fmla="*/ 1314 h 131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888" h="1314">
                  <a:moveTo>
                    <a:pt x="0" y="918"/>
                  </a:moveTo>
                  <a:lnTo>
                    <a:pt x="86" y="768"/>
                  </a:lnTo>
                  <a:lnTo>
                    <a:pt x="411" y="223"/>
                  </a:lnTo>
                  <a:lnTo>
                    <a:pt x="916" y="0"/>
                  </a:lnTo>
                  <a:lnTo>
                    <a:pt x="1422" y="88"/>
                  </a:lnTo>
                  <a:lnTo>
                    <a:pt x="1603" y="183"/>
                  </a:lnTo>
                  <a:lnTo>
                    <a:pt x="1610" y="388"/>
                  </a:lnTo>
                  <a:lnTo>
                    <a:pt x="1778" y="483"/>
                  </a:lnTo>
                  <a:lnTo>
                    <a:pt x="1848" y="649"/>
                  </a:lnTo>
                  <a:lnTo>
                    <a:pt x="1818" y="934"/>
                  </a:lnTo>
                  <a:lnTo>
                    <a:pt x="1888" y="1219"/>
                  </a:lnTo>
                  <a:lnTo>
                    <a:pt x="1833" y="1314"/>
                  </a:lnTo>
                  <a:lnTo>
                    <a:pt x="78" y="1116"/>
                  </a:lnTo>
                  <a:lnTo>
                    <a:pt x="0" y="918"/>
                  </a:lnTo>
                  <a:close/>
                </a:path>
              </a:pathLst>
            </a:custGeom>
            <a:solidFill>
              <a:schemeClr val="tx1"/>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16" name="Freeform 14">
              <a:extLst>
                <a:ext uri="{FF2B5EF4-FFF2-40B4-BE49-F238E27FC236}">
                  <a16:creationId xmlns:a16="http://schemas.microsoft.com/office/drawing/2014/main" id="{586BCC41-A2A8-4DD8-A6F5-A87E225B5117}"/>
                </a:ext>
              </a:extLst>
            </p:cNvPr>
            <p:cNvSpPr>
              <a:spLocks/>
            </p:cNvSpPr>
            <p:nvPr/>
          </p:nvSpPr>
          <p:spPr bwMode="auto">
            <a:xfrm>
              <a:off x="3862" y="2209"/>
              <a:ext cx="945" cy="1616"/>
            </a:xfrm>
            <a:custGeom>
              <a:avLst/>
              <a:gdLst>
                <a:gd name="T0" fmla="*/ 773 w 1890"/>
                <a:gd name="T1" fmla="*/ 49 h 3233"/>
                <a:gd name="T2" fmla="*/ 709 w 1890"/>
                <a:gd name="T3" fmla="*/ 34 h 3233"/>
                <a:gd name="T4" fmla="*/ 644 w 1890"/>
                <a:gd name="T5" fmla="*/ 0 h 3233"/>
                <a:gd name="T6" fmla="*/ 455 w 1890"/>
                <a:gd name="T7" fmla="*/ 56 h 3233"/>
                <a:gd name="T8" fmla="*/ 367 w 1890"/>
                <a:gd name="T9" fmla="*/ 79 h 3233"/>
                <a:gd name="T10" fmla="*/ 264 w 1890"/>
                <a:gd name="T11" fmla="*/ 85 h 3233"/>
                <a:gd name="T12" fmla="*/ 343 w 1890"/>
                <a:gd name="T13" fmla="*/ 36 h 3233"/>
                <a:gd name="T14" fmla="*/ 204 w 1890"/>
                <a:gd name="T15" fmla="*/ 56 h 3233"/>
                <a:gd name="T16" fmla="*/ 166 w 1890"/>
                <a:gd name="T17" fmla="*/ 200 h 3233"/>
                <a:gd name="T18" fmla="*/ 89 w 1890"/>
                <a:gd name="T19" fmla="*/ 321 h 3233"/>
                <a:gd name="T20" fmla="*/ 29 w 1890"/>
                <a:gd name="T21" fmla="*/ 323 h 3233"/>
                <a:gd name="T22" fmla="*/ 0 w 1890"/>
                <a:gd name="T23" fmla="*/ 358 h 3233"/>
                <a:gd name="T24" fmla="*/ 7 w 1890"/>
                <a:gd name="T25" fmla="*/ 544 h 3233"/>
                <a:gd name="T26" fmla="*/ 60 w 1890"/>
                <a:gd name="T27" fmla="*/ 600 h 3233"/>
                <a:gd name="T28" fmla="*/ 103 w 1890"/>
                <a:gd name="T29" fmla="*/ 607 h 3233"/>
                <a:gd name="T30" fmla="*/ 113 w 1890"/>
                <a:gd name="T31" fmla="*/ 758 h 3233"/>
                <a:gd name="T32" fmla="*/ 117 w 1890"/>
                <a:gd name="T33" fmla="*/ 885 h 3233"/>
                <a:gd name="T34" fmla="*/ 189 w 1890"/>
                <a:gd name="T35" fmla="*/ 971 h 3233"/>
                <a:gd name="T36" fmla="*/ 210 w 1890"/>
                <a:gd name="T37" fmla="*/ 991 h 3233"/>
                <a:gd name="T38" fmla="*/ 453 w 1890"/>
                <a:gd name="T39" fmla="*/ 1116 h 3233"/>
                <a:gd name="T40" fmla="*/ 478 w 1890"/>
                <a:gd name="T41" fmla="*/ 1143 h 3233"/>
                <a:gd name="T42" fmla="*/ 341 w 1890"/>
                <a:gd name="T43" fmla="*/ 1107 h 3233"/>
                <a:gd name="T44" fmla="*/ 202 w 1890"/>
                <a:gd name="T45" fmla="*/ 1084 h 3233"/>
                <a:gd name="T46" fmla="*/ 178 w 1890"/>
                <a:gd name="T47" fmla="*/ 1136 h 3233"/>
                <a:gd name="T48" fmla="*/ 392 w 1890"/>
                <a:gd name="T49" fmla="*/ 1235 h 3233"/>
                <a:gd name="T50" fmla="*/ 531 w 1890"/>
                <a:gd name="T51" fmla="*/ 1301 h 3233"/>
                <a:gd name="T52" fmla="*/ 533 w 1890"/>
                <a:gd name="T53" fmla="*/ 1342 h 3233"/>
                <a:gd name="T54" fmla="*/ 424 w 1890"/>
                <a:gd name="T55" fmla="*/ 1322 h 3233"/>
                <a:gd name="T56" fmla="*/ 341 w 1890"/>
                <a:gd name="T57" fmla="*/ 1286 h 3233"/>
                <a:gd name="T58" fmla="*/ 317 w 1890"/>
                <a:gd name="T59" fmla="*/ 1298 h 3233"/>
                <a:gd name="T60" fmla="*/ 325 w 1890"/>
                <a:gd name="T61" fmla="*/ 1326 h 3233"/>
                <a:gd name="T62" fmla="*/ 453 w 1890"/>
                <a:gd name="T63" fmla="*/ 1427 h 3233"/>
                <a:gd name="T64" fmla="*/ 550 w 1890"/>
                <a:gd name="T65" fmla="*/ 1475 h 3233"/>
                <a:gd name="T66" fmla="*/ 683 w 1890"/>
                <a:gd name="T67" fmla="*/ 1589 h 3233"/>
                <a:gd name="T68" fmla="*/ 826 w 1890"/>
                <a:gd name="T69" fmla="*/ 1617 h 3233"/>
                <a:gd name="T70" fmla="*/ 909 w 1890"/>
                <a:gd name="T71" fmla="*/ 1550 h 3233"/>
                <a:gd name="T72" fmla="*/ 905 w 1890"/>
                <a:gd name="T73" fmla="*/ 1494 h 3233"/>
                <a:gd name="T74" fmla="*/ 909 w 1890"/>
                <a:gd name="T75" fmla="*/ 1439 h 3233"/>
                <a:gd name="T76" fmla="*/ 945 w 1890"/>
                <a:gd name="T77" fmla="*/ 1393 h 3233"/>
                <a:gd name="T78" fmla="*/ 900 w 1890"/>
                <a:gd name="T79" fmla="*/ 1326 h 3233"/>
                <a:gd name="T80" fmla="*/ 888 w 1890"/>
                <a:gd name="T81" fmla="*/ 1073 h 3233"/>
                <a:gd name="T82" fmla="*/ 808 w 1890"/>
                <a:gd name="T83" fmla="*/ 932 h 3233"/>
                <a:gd name="T84" fmla="*/ 794 w 1890"/>
                <a:gd name="T85" fmla="*/ 779 h 3233"/>
                <a:gd name="T86" fmla="*/ 772 w 1890"/>
                <a:gd name="T87" fmla="*/ 766 h 3233"/>
                <a:gd name="T88" fmla="*/ 719 w 1890"/>
                <a:gd name="T89" fmla="*/ 897 h 3233"/>
                <a:gd name="T90" fmla="*/ 749 w 1890"/>
                <a:gd name="T91" fmla="*/ 1017 h 3233"/>
                <a:gd name="T92" fmla="*/ 586 w 1890"/>
                <a:gd name="T93" fmla="*/ 964 h 3233"/>
                <a:gd name="T94" fmla="*/ 727 w 1890"/>
                <a:gd name="T95" fmla="*/ 859 h 3233"/>
                <a:gd name="T96" fmla="*/ 785 w 1890"/>
                <a:gd name="T97" fmla="*/ 697 h 3233"/>
                <a:gd name="T98" fmla="*/ 824 w 1890"/>
                <a:gd name="T99" fmla="*/ 711 h 3233"/>
                <a:gd name="T100" fmla="*/ 866 w 1890"/>
                <a:gd name="T101" fmla="*/ 673 h 3233"/>
                <a:gd name="T102" fmla="*/ 921 w 1890"/>
                <a:gd name="T103" fmla="*/ 491 h 3233"/>
                <a:gd name="T104" fmla="*/ 846 w 1890"/>
                <a:gd name="T105" fmla="*/ 325 h 3233"/>
                <a:gd name="T106" fmla="*/ 844 w 1890"/>
                <a:gd name="T107" fmla="*/ 117 h 3233"/>
                <a:gd name="T108" fmla="*/ 773 w 1890"/>
                <a:gd name="T109" fmla="*/ 49 h 3233"/>
                <a:gd name="T110" fmla="*/ 773 w 1890"/>
                <a:gd name="T111" fmla="*/ 49 h 32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890"/>
                <a:gd name="T169" fmla="*/ 0 h 3233"/>
                <a:gd name="T170" fmla="*/ 1890 w 1890"/>
                <a:gd name="T171" fmla="*/ 3233 h 3233"/>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890" h="3233">
                  <a:moveTo>
                    <a:pt x="1545" y="97"/>
                  </a:moveTo>
                  <a:lnTo>
                    <a:pt x="1418" y="68"/>
                  </a:lnTo>
                  <a:lnTo>
                    <a:pt x="1287" y="0"/>
                  </a:lnTo>
                  <a:lnTo>
                    <a:pt x="909" y="112"/>
                  </a:lnTo>
                  <a:lnTo>
                    <a:pt x="734" y="158"/>
                  </a:lnTo>
                  <a:lnTo>
                    <a:pt x="528" y="169"/>
                  </a:lnTo>
                  <a:lnTo>
                    <a:pt x="686" y="72"/>
                  </a:lnTo>
                  <a:lnTo>
                    <a:pt x="407" y="112"/>
                  </a:lnTo>
                  <a:lnTo>
                    <a:pt x="331" y="399"/>
                  </a:lnTo>
                  <a:lnTo>
                    <a:pt x="177" y="642"/>
                  </a:lnTo>
                  <a:lnTo>
                    <a:pt x="57" y="646"/>
                  </a:lnTo>
                  <a:lnTo>
                    <a:pt x="0" y="715"/>
                  </a:lnTo>
                  <a:lnTo>
                    <a:pt x="15" y="1087"/>
                  </a:lnTo>
                  <a:lnTo>
                    <a:pt x="120" y="1199"/>
                  </a:lnTo>
                  <a:lnTo>
                    <a:pt x="205" y="1213"/>
                  </a:lnTo>
                  <a:lnTo>
                    <a:pt x="226" y="1515"/>
                  </a:lnTo>
                  <a:lnTo>
                    <a:pt x="234" y="1770"/>
                  </a:lnTo>
                  <a:lnTo>
                    <a:pt x="378" y="1941"/>
                  </a:lnTo>
                  <a:lnTo>
                    <a:pt x="420" y="1981"/>
                  </a:lnTo>
                  <a:lnTo>
                    <a:pt x="905" y="2231"/>
                  </a:lnTo>
                  <a:lnTo>
                    <a:pt x="956" y="2285"/>
                  </a:lnTo>
                  <a:lnTo>
                    <a:pt x="682" y="2214"/>
                  </a:lnTo>
                  <a:lnTo>
                    <a:pt x="403" y="2167"/>
                  </a:lnTo>
                  <a:lnTo>
                    <a:pt x="355" y="2271"/>
                  </a:lnTo>
                  <a:lnTo>
                    <a:pt x="783" y="2469"/>
                  </a:lnTo>
                  <a:lnTo>
                    <a:pt x="1061" y="2602"/>
                  </a:lnTo>
                  <a:lnTo>
                    <a:pt x="1066" y="2684"/>
                  </a:lnTo>
                  <a:lnTo>
                    <a:pt x="848" y="2644"/>
                  </a:lnTo>
                  <a:lnTo>
                    <a:pt x="682" y="2572"/>
                  </a:lnTo>
                  <a:lnTo>
                    <a:pt x="633" y="2595"/>
                  </a:lnTo>
                  <a:lnTo>
                    <a:pt x="650" y="2652"/>
                  </a:lnTo>
                  <a:lnTo>
                    <a:pt x="905" y="2853"/>
                  </a:lnTo>
                  <a:lnTo>
                    <a:pt x="1099" y="2950"/>
                  </a:lnTo>
                  <a:lnTo>
                    <a:pt x="1365" y="3178"/>
                  </a:lnTo>
                  <a:lnTo>
                    <a:pt x="1652" y="3233"/>
                  </a:lnTo>
                  <a:lnTo>
                    <a:pt x="1817" y="3100"/>
                  </a:lnTo>
                  <a:lnTo>
                    <a:pt x="1810" y="2988"/>
                  </a:lnTo>
                  <a:lnTo>
                    <a:pt x="1817" y="2878"/>
                  </a:lnTo>
                  <a:lnTo>
                    <a:pt x="1890" y="2785"/>
                  </a:lnTo>
                  <a:lnTo>
                    <a:pt x="1800" y="2652"/>
                  </a:lnTo>
                  <a:lnTo>
                    <a:pt x="1775" y="2146"/>
                  </a:lnTo>
                  <a:lnTo>
                    <a:pt x="1616" y="1863"/>
                  </a:lnTo>
                  <a:lnTo>
                    <a:pt x="1587" y="1557"/>
                  </a:lnTo>
                  <a:lnTo>
                    <a:pt x="1544" y="1532"/>
                  </a:lnTo>
                  <a:lnTo>
                    <a:pt x="1437" y="1794"/>
                  </a:lnTo>
                  <a:lnTo>
                    <a:pt x="1498" y="2034"/>
                  </a:lnTo>
                  <a:lnTo>
                    <a:pt x="1171" y="1927"/>
                  </a:lnTo>
                  <a:lnTo>
                    <a:pt x="1454" y="1718"/>
                  </a:lnTo>
                  <a:lnTo>
                    <a:pt x="1570" y="1393"/>
                  </a:lnTo>
                  <a:lnTo>
                    <a:pt x="1648" y="1422"/>
                  </a:lnTo>
                  <a:lnTo>
                    <a:pt x="1732" y="1346"/>
                  </a:lnTo>
                  <a:lnTo>
                    <a:pt x="1842" y="981"/>
                  </a:lnTo>
                  <a:lnTo>
                    <a:pt x="1692" y="650"/>
                  </a:lnTo>
                  <a:lnTo>
                    <a:pt x="1688" y="234"/>
                  </a:lnTo>
                  <a:lnTo>
                    <a:pt x="1545" y="97"/>
                  </a:lnTo>
                  <a:close/>
                </a:path>
              </a:pathLst>
            </a:custGeom>
            <a:solidFill>
              <a:srgbClr val="FFC7B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17" name="Freeform 15">
              <a:extLst>
                <a:ext uri="{FF2B5EF4-FFF2-40B4-BE49-F238E27FC236}">
                  <a16:creationId xmlns:a16="http://schemas.microsoft.com/office/drawing/2014/main" id="{2BB30C9C-ED72-4421-BC94-B9203E43F0FD}"/>
                </a:ext>
              </a:extLst>
            </p:cNvPr>
            <p:cNvSpPr>
              <a:spLocks/>
            </p:cNvSpPr>
            <p:nvPr/>
          </p:nvSpPr>
          <p:spPr bwMode="auto">
            <a:xfrm>
              <a:off x="4469" y="2574"/>
              <a:ext cx="108" cy="65"/>
            </a:xfrm>
            <a:custGeom>
              <a:avLst/>
              <a:gdLst>
                <a:gd name="T0" fmla="*/ 0 w 218"/>
                <a:gd name="T1" fmla="*/ 31 h 129"/>
                <a:gd name="T2" fmla="*/ 29 w 218"/>
                <a:gd name="T3" fmla="*/ 54 h 129"/>
                <a:gd name="T4" fmla="*/ 88 w 218"/>
                <a:gd name="T5" fmla="*/ 65 h 129"/>
                <a:gd name="T6" fmla="*/ 110 w 218"/>
                <a:gd name="T7" fmla="*/ 54 h 129"/>
                <a:gd name="T8" fmla="*/ 11 w 218"/>
                <a:gd name="T9" fmla="*/ 0 h 129"/>
                <a:gd name="T10" fmla="*/ 0 w 218"/>
                <a:gd name="T11" fmla="*/ 31 h 129"/>
                <a:gd name="T12" fmla="*/ 0 w 218"/>
                <a:gd name="T13" fmla="*/ 31 h 129"/>
                <a:gd name="T14" fmla="*/ 0 60000 65536"/>
                <a:gd name="T15" fmla="*/ 0 60000 65536"/>
                <a:gd name="T16" fmla="*/ 0 60000 65536"/>
                <a:gd name="T17" fmla="*/ 0 60000 65536"/>
                <a:gd name="T18" fmla="*/ 0 60000 65536"/>
                <a:gd name="T19" fmla="*/ 0 60000 65536"/>
                <a:gd name="T20" fmla="*/ 0 60000 65536"/>
                <a:gd name="T21" fmla="*/ 0 w 218"/>
                <a:gd name="T22" fmla="*/ 0 h 129"/>
                <a:gd name="T23" fmla="*/ 218 w 218"/>
                <a:gd name="T24" fmla="*/ 129 h 1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8" h="129">
                  <a:moveTo>
                    <a:pt x="0" y="61"/>
                  </a:moveTo>
                  <a:lnTo>
                    <a:pt x="57" y="108"/>
                  </a:lnTo>
                  <a:lnTo>
                    <a:pt x="175" y="129"/>
                  </a:lnTo>
                  <a:lnTo>
                    <a:pt x="218" y="108"/>
                  </a:lnTo>
                  <a:lnTo>
                    <a:pt x="21" y="0"/>
                  </a:lnTo>
                  <a:lnTo>
                    <a:pt x="0" y="61"/>
                  </a:lnTo>
                  <a:close/>
                </a:path>
              </a:pathLst>
            </a:custGeom>
            <a:solidFill>
              <a:srgbClr val="FFFFFF"/>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18" name="Freeform 16">
              <a:extLst>
                <a:ext uri="{FF2B5EF4-FFF2-40B4-BE49-F238E27FC236}">
                  <a16:creationId xmlns:a16="http://schemas.microsoft.com/office/drawing/2014/main" id="{A13ED677-4CB6-468E-BF72-78EBA895EFC6}"/>
                </a:ext>
              </a:extLst>
            </p:cNvPr>
            <p:cNvSpPr>
              <a:spLocks/>
            </p:cNvSpPr>
            <p:nvPr/>
          </p:nvSpPr>
          <p:spPr bwMode="auto">
            <a:xfrm>
              <a:off x="4120" y="2548"/>
              <a:ext cx="127" cy="30"/>
            </a:xfrm>
            <a:custGeom>
              <a:avLst/>
              <a:gdLst>
                <a:gd name="T0" fmla="*/ 0 w 255"/>
                <a:gd name="T1" fmla="*/ 18 h 60"/>
                <a:gd name="T2" fmla="*/ 38 w 255"/>
                <a:gd name="T3" fmla="*/ 30 h 60"/>
                <a:gd name="T4" fmla="*/ 115 w 255"/>
                <a:gd name="T5" fmla="*/ 30 h 60"/>
                <a:gd name="T6" fmla="*/ 128 w 255"/>
                <a:gd name="T7" fmla="*/ 9 h 60"/>
                <a:gd name="T8" fmla="*/ 117 w 255"/>
                <a:gd name="T9" fmla="*/ 0 h 60"/>
                <a:gd name="T10" fmla="*/ 10 w 255"/>
                <a:gd name="T11" fmla="*/ 0 h 60"/>
                <a:gd name="T12" fmla="*/ 0 w 255"/>
                <a:gd name="T13" fmla="*/ 18 h 60"/>
                <a:gd name="T14" fmla="*/ 0 w 255"/>
                <a:gd name="T15" fmla="*/ 18 h 60"/>
                <a:gd name="T16" fmla="*/ 0 60000 65536"/>
                <a:gd name="T17" fmla="*/ 0 60000 65536"/>
                <a:gd name="T18" fmla="*/ 0 60000 65536"/>
                <a:gd name="T19" fmla="*/ 0 60000 65536"/>
                <a:gd name="T20" fmla="*/ 0 60000 65536"/>
                <a:gd name="T21" fmla="*/ 0 60000 65536"/>
                <a:gd name="T22" fmla="*/ 0 60000 65536"/>
                <a:gd name="T23" fmla="*/ 0 60000 65536"/>
                <a:gd name="T24" fmla="*/ 0 w 255"/>
                <a:gd name="T25" fmla="*/ 0 h 60"/>
                <a:gd name="T26" fmla="*/ 255 w 255"/>
                <a:gd name="T27" fmla="*/ 60 h 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5" h="60">
                  <a:moveTo>
                    <a:pt x="0" y="36"/>
                  </a:moveTo>
                  <a:lnTo>
                    <a:pt x="76" y="60"/>
                  </a:lnTo>
                  <a:lnTo>
                    <a:pt x="230" y="60"/>
                  </a:lnTo>
                  <a:lnTo>
                    <a:pt x="255" y="17"/>
                  </a:lnTo>
                  <a:lnTo>
                    <a:pt x="234" y="0"/>
                  </a:lnTo>
                  <a:lnTo>
                    <a:pt x="19" y="0"/>
                  </a:lnTo>
                  <a:lnTo>
                    <a:pt x="0" y="36"/>
                  </a:lnTo>
                  <a:close/>
                </a:path>
              </a:pathLst>
            </a:custGeom>
            <a:solidFill>
              <a:srgbClr val="FFFFFF"/>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19" name="Freeform 17">
              <a:extLst>
                <a:ext uri="{FF2B5EF4-FFF2-40B4-BE49-F238E27FC236}">
                  <a16:creationId xmlns:a16="http://schemas.microsoft.com/office/drawing/2014/main" id="{6736B233-D27B-40F5-B9FB-7785C4D62985}"/>
                </a:ext>
              </a:extLst>
            </p:cNvPr>
            <p:cNvSpPr>
              <a:spLocks/>
            </p:cNvSpPr>
            <p:nvPr/>
          </p:nvSpPr>
          <p:spPr bwMode="auto">
            <a:xfrm>
              <a:off x="4158" y="2548"/>
              <a:ext cx="51" cy="26"/>
            </a:xfrm>
            <a:custGeom>
              <a:avLst/>
              <a:gdLst>
                <a:gd name="T0" fmla="*/ 0 w 101"/>
                <a:gd name="T1" fmla="*/ 0 h 53"/>
                <a:gd name="T2" fmla="*/ 18 w 101"/>
                <a:gd name="T3" fmla="*/ 26 h 53"/>
                <a:gd name="T4" fmla="*/ 36 w 101"/>
                <a:gd name="T5" fmla="*/ 26 h 53"/>
                <a:gd name="T6" fmla="*/ 51 w 101"/>
                <a:gd name="T7" fmla="*/ 1 h 53"/>
                <a:gd name="T8" fmla="*/ 0 w 101"/>
                <a:gd name="T9" fmla="*/ 0 h 53"/>
                <a:gd name="T10" fmla="*/ 0 w 101"/>
                <a:gd name="T11" fmla="*/ 0 h 53"/>
                <a:gd name="T12" fmla="*/ 0 60000 65536"/>
                <a:gd name="T13" fmla="*/ 0 60000 65536"/>
                <a:gd name="T14" fmla="*/ 0 60000 65536"/>
                <a:gd name="T15" fmla="*/ 0 60000 65536"/>
                <a:gd name="T16" fmla="*/ 0 60000 65536"/>
                <a:gd name="T17" fmla="*/ 0 60000 65536"/>
                <a:gd name="T18" fmla="*/ 0 w 101"/>
                <a:gd name="T19" fmla="*/ 0 h 53"/>
                <a:gd name="T20" fmla="*/ 101 w 101"/>
                <a:gd name="T21" fmla="*/ 53 h 53"/>
              </a:gdLst>
              <a:ahLst/>
              <a:cxnLst>
                <a:cxn ang="T12">
                  <a:pos x="T0" y="T1"/>
                </a:cxn>
                <a:cxn ang="T13">
                  <a:pos x="T2" y="T3"/>
                </a:cxn>
                <a:cxn ang="T14">
                  <a:pos x="T4" y="T5"/>
                </a:cxn>
                <a:cxn ang="T15">
                  <a:pos x="T6" y="T7"/>
                </a:cxn>
                <a:cxn ang="T16">
                  <a:pos x="T8" y="T9"/>
                </a:cxn>
                <a:cxn ang="T17">
                  <a:pos x="T10" y="T11"/>
                </a:cxn>
              </a:cxnLst>
              <a:rect l="T18" t="T19" r="T20" b="T21"/>
              <a:pathLst>
                <a:path w="101" h="53">
                  <a:moveTo>
                    <a:pt x="0" y="0"/>
                  </a:moveTo>
                  <a:lnTo>
                    <a:pt x="36" y="53"/>
                  </a:lnTo>
                  <a:lnTo>
                    <a:pt x="72" y="53"/>
                  </a:lnTo>
                  <a:lnTo>
                    <a:pt x="101" y="3"/>
                  </a:lnTo>
                  <a:lnTo>
                    <a:pt x="0" y="0"/>
                  </a:lnTo>
                  <a:close/>
                </a:path>
              </a:pathLst>
            </a:custGeom>
            <a:solidFill>
              <a:srgbClr val="66C2C2"/>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20" name="Freeform 18">
              <a:extLst>
                <a:ext uri="{FF2B5EF4-FFF2-40B4-BE49-F238E27FC236}">
                  <a16:creationId xmlns:a16="http://schemas.microsoft.com/office/drawing/2014/main" id="{DB52B091-0545-4F97-B528-95BAB2E11127}"/>
                </a:ext>
              </a:extLst>
            </p:cNvPr>
            <p:cNvSpPr>
              <a:spLocks/>
            </p:cNvSpPr>
            <p:nvPr/>
          </p:nvSpPr>
          <p:spPr bwMode="auto">
            <a:xfrm>
              <a:off x="4520" y="2603"/>
              <a:ext cx="36" cy="32"/>
            </a:xfrm>
            <a:custGeom>
              <a:avLst/>
              <a:gdLst>
                <a:gd name="T0" fmla="*/ 0 w 75"/>
                <a:gd name="T1" fmla="*/ 0 h 66"/>
                <a:gd name="T2" fmla="*/ 0 w 75"/>
                <a:gd name="T3" fmla="*/ 26 h 66"/>
                <a:gd name="T4" fmla="*/ 21 w 75"/>
                <a:gd name="T5" fmla="*/ 33 h 66"/>
                <a:gd name="T6" fmla="*/ 37 w 75"/>
                <a:gd name="T7" fmla="*/ 14 h 66"/>
                <a:gd name="T8" fmla="*/ 0 w 75"/>
                <a:gd name="T9" fmla="*/ 0 h 66"/>
                <a:gd name="T10" fmla="*/ 0 w 75"/>
                <a:gd name="T11" fmla="*/ 0 h 66"/>
                <a:gd name="T12" fmla="*/ 0 60000 65536"/>
                <a:gd name="T13" fmla="*/ 0 60000 65536"/>
                <a:gd name="T14" fmla="*/ 0 60000 65536"/>
                <a:gd name="T15" fmla="*/ 0 60000 65536"/>
                <a:gd name="T16" fmla="*/ 0 60000 65536"/>
                <a:gd name="T17" fmla="*/ 0 60000 65536"/>
                <a:gd name="T18" fmla="*/ 0 w 75"/>
                <a:gd name="T19" fmla="*/ 0 h 66"/>
                <a:gd name="T20" fmla="*/ 75 w 75"/>
                <a:gd name="T21" fmla="*/ 66 h 66"/>
              </a:gdLst>
              <a:ahLst/>
              <a:cxnLst>
                <a:cxn ang="T12">
                  <a:pos x="T0" y="T1"/>
                </a:cxn>
                <a:cxn ang="T13">
                  <a:pos x="T2" y="T3"/>
                </a:cxn>
                <a:cxn ang="T14">
                  <a:pos x="T4" y="T5"/>
                </a:cxn>
                <a:cxn ang="T15">
                  <a:pos x="T6" y="T7"/>
                </a:cxn>
                <a:cxn ang="T16">
                  <a:pos x="T8" y="T9"/>
                </a:cxn>
                <a:cxn ang="T17">
                  <a:pos x="T10" y="T11"/>
                </a:cxn>
              </a:cxnLst>
              <a:rect l="T18" t="T19" r="T20" b="T21"/>
              <a:pathLst>
                <a:path w="75" h="66">
                  <a:moveTo>
                    <a:pt x="0" y="0"/>
                  </a:moveTo>
                  <a:lnTo>
                    <a:pt x="0" y="53"/>
                  </a:lnTo>
                  <a:lnTo>
                    <a:pt x="42" y="66"/>
                  </a:lnTo>
                  <a:lnTo>
                    <a:pt x="75" y="28"/>
                  </a:lnTo>
                  <a:lnTo>
                    <a:pt x="0" y="0"/>
                  </a:lnTo>
                  <a:close/>
                </a:path>
              </a:pathLst>
            </a:custGeom>
            <a:solidFill>
              <a:srgbClr val="66C2C2"/>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21" name="Freeform 19">
              <a:extLst>
                <a:ext uri="{FF2B5EF4-FFF2-40B4-BE49-F238E27FC236}">
                  <a16:creationId xmlns:a16="http://schemas.microsoft.com/office/drawing/2014/main" id="{AF26BB4D-F612-4862-8657-497C9B45D4B6}"/>
                </a:ext>
              </a:extLst>
            </p:cNvPr>
            <p:cNvSpPr>
              <a:spLocks/>
            </p:cNvSpPr>
            <p:nvPr/>
          </p:nvSpPr>
          <p:spPr bwMode="auto">
            <a:xfrm>
              <a:off x="4235" y="2760"/>
              <a:ext cx="234" cy="136"/>
            </a:xfrm>
            <a:custGeom>
              <a:avLst/>
              <a:gdLst>
                <a:gd name="T0" fmla="*/ 0 w 471"/>
                <a:gd name="T1" fmla="*/ 28 h 272"/>
                <a:gd name="T2" fmla="*/ 61 w 471"/>
                <a:gd name="T3" fmla="*/ 7 h 272"/>
                <a:gd name="T4" fmla="*/ 99 w 471"/>
                <a:gd name="T5" fmla="*/ 7 h 272"/>
                <a:gd name="T6" fmla="*/ 119 w 471"/>
                <a:gd name="T7" fmla="*/ 21 h 272"/>
                <a:gd name="T8" fmla="*/ 155 w 471"/>
                <a:gd name="T9" fmla="*/ 21 h 272"/>
                <a:gd name="T10" fmla="*/ 188 w 471"/>
                <a:gd name="T11" fmla="*/ 0 h 272"/>
                <a:gd name="T12" fmla="*/ 236 w 471"/>
                <a:gd name="T13" fmla="*/ 23 h 272"/>
                <a:gd name="T14" fmla="*/ 206 w 471"/>
                <a:gd name="T15" fmla="*/ 59 h 272"/>
                <a:gd name="T16" fmla="*/ 151 w 471"/>
                <a:gd name="T17" fmla="*/ 59 h 272"/>
                <a:gd name="T18" fmla="*/ 135 w 471"/>
                <a:gd name="T19" fmla="*/ 79 h 272"/>
                <a:gd name="T20" fmla="*/ 137 w 471"/>
                <a:gd name="T21" fmla="*/ 131 h 272"/>
                <a:gd name="T22" fmla="*/ 119 w 471"/>
                <a:gd name="T23" fmla="*/ 136 h 272"/>
                <a:gd name="T24" fmla="*/ 103 w 471"/>
                <a:gd name="T25" fmla="*/ 133 h 272"/>
                <a:gd name="T26" fmla="*/ 93 w 471"/>
                <a:gd name="T27" fmla="*/ 102 h 272"/>
                <a:gd name="T28" fmla="*/ 38 w 471"/>
                <a:gd name="T29" fmla="*/ 59 h 272"/>
                <a:gd name="T30" fmla="*/ 4 w 471"/>
                <a:gd name="T31" fmla="*/ 47 h 272"/>
                <a:gd name="T32" fmla="*/ 0 w 471"/>
                <a:gd name="T33" fmla="*/ 28 h 272"/>
                <a:gd name="T34" fmla="*/ 0 w 471"/>
                <a:gd name="T35" fmla="*/ 28 h 27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71"/>
                <a:gd name="T55" fmla="*/ 0 h 272"/>
                <a:gd name="T56" fmla="*/ 471 w 471"/>
                <a:gd name="T57" fmla="*/ 272 h 27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71" h="272">
                  <a:moveTo>
                    <a:pt x="0" y="57"/>
                  </a:moveTo>
                  <a:lnTo>
                    <a:pt x="122" y="14"/>
                  </a:lnTo>
                  <a:lnTo>
                    <a:pt x="198" y="14"/>
                  </a:lnTo>
                  <a:lnTo>
                    <a:pt x="238" y="42"/>
                  </a:lnTo>
                  <a:lnTo>
                    <a:pt x="310" y="42"/>
                  </a:lnTo>
                  <a:lnTo>
                    <a:pt x="375" y="0"/>
                  </a:lnTo>
                  <a:lnTo>
                    <a:pt x="471" y="46"/>
                  </a:lnTo>
                  <a:lnTo>
                    <a:pt x="411" y="118"/>
                  </a:lnTo>
                  <a:lnTo>
                    <a:pt x="302" y="118"/>
                  </a:lnTo>
                  <a:lnTo>
                    <a:pt x="270" y="158"/>
                  </a:lnTo>
                  <a:lnTo>
                    <a:pt x="274" y="261"/>
                  </a:lnTo>
                  <a:lnTo>
                    <a:pt x="238" y="272"/>
                  </a:lnTo>
                  <a:lnTo>
                    <a:pt x="205" y="265"/>
                  </a:lnTo>
                  <a:lnTo>
                    <a:pt x="186" y="204"/>
                  </a:lnTo>
                  <a:lnTo>
                    <a:pt x="76" y="118"/>
                  </a:lnTo>
                  <a:lnTo>
                    <a:pt x="8" y="94"/>
                  </a:lnTo>
                  <a:lnTo>
                    <a:pt x="0" y="57"/>
                  </a:lnTo>
                  <a:close/>
                </a:path>
              </a:pathLst>
            </a:custGeom>
            <a:solidFill>
              <a:srgbClr val="E89678"/>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22" name="Freeform 20">
              <a:extLst>
                <a:ext uri="{FF2B5EF4-FFF2-40B4-BE49-F238E27FC236}">
                  <a16:creationId xmlns:a16="http://schemas.microsoft.com/office/drawing/2014/main" id="{9F20398E-2E0B-4852-AF5D-4A8F19B2ADA8}"/>
                </a:ext>
              </a:extLst>
            </p:cNvPr>
            <p:cNvSpPr>
              <a:spLocks/>
            </p:cNvSpPr>
            <p:nvPr/>
          </p:nvSpPr>
          <p:spPr bwMode="auto">
            <a:xfrm>
              <a:off x="4221" y="2545"/>
              <a:ext cx="97" cy="202"/>
            </a:xfrm>
            <a:custGeom>
              <a:avLst/>
              <a:gdLst>
                <a:gd name="T0" fmla="*/ 0 w 194"/>
                <a:gd name="T1" fmla="*/ 40 h 405"/>
                <a:gd name="T2" fmla="*/ 0 w 194"/>
                <a:gd name="T3" fmla="*/ 77 h 405"/>
                <a:gd name="T4" fmla="*/ 30 w 194"/>
                <a:gd name="T5" fmla="*/ 77 h 405"/>
                <a:gd name="T6" fmla="*/ 56 w 194"/>
                <a:gd name="T7" fmla="*/ 64 h 405"/>
                <a:gd name="T8" fmla="*/ 41 w 194"/>
                <a:gd name="T9" fmla="*/ 202 h 405"/>
                <a:gd name="T10" fmla="*/ 79 w 194"/>
                <a:gd name="T11" fmla="*/ 172 h 405"/>
                <a:gd name="T12" fmla="*/ 97 w 194"/>
                <a:gd name="T13" fmla="*/ 123 h 405"/>
                <a:gd name="T14" fmla="*/ 97 w 194"/>
                <a:gd name="T15" fmla="*/ 64 h 405"/>
                <a:gd name="T16" fmla="*/ 63 w 194"/>
                <a:gd name="T17" fmla="*/ 0 h 405"/>
                <a:gd name="T18" fmla="*/ 30 w 194"/>
                <a:gd name="T19" fmla="*/ 10 h 405"/>
                <a:gd name="T20" fmla="*/ 35 w 194"/>
                <a:gd name="T21" fmla="*/ 36 h 405"/>
                <a:gd name="T22" fmla="*/ 0 w 194"/>
                <a:gd name="T23" fmla="*/ 40 h 405"/>
                <a:gd name="T24" fmla="*/ 0 w 194"/>
                <a:gd name="T25" fmla="*/ 40 h 40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4"/>
                <a:gd name="T40" fmla="*/ 0 h 405"/>
                <a:gd name="T41" fmla="*/ 194 w 194"/>
                <a:gd name="T42" fmla="*/ 405 h 40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4" h="405">
                  <a:moveTo>
                    <a:pt x="0" y="81"/>
                  </a:moveTo>
                  <a:lnTo>
                    <a:pt x="0" y="154"/>
                  </a:lnTo>
                  <a:lnTo>
                    <a:pt x="61" y="154"/>
                  </a:lnTo>
                  <a:lnTo>
                    <a:pt x="113" y="129"/>
                  </a:lnTo>
                  <a:lnTo>
                    <a:pt x="82" y="405"/>
                  </a:lnTo>
                  <a:lnTo>
                    <a:pt x="158" y="344"/>
                  </a:lnTo>
                  <a:lnTo>
                    <a:pt x="194" y="247"/>
                  </a:lnTo>
                  <a:lnTo>
                    <a:pt x="194" y="129"/>
                  </a:lnTo>
                  <a:lnTo>
                    <a:pt x="126" y="0"/>
                  </a:lnTo>
                  <a:lnTo>
                    <a:pt x="61" y="21"/>
                  </a:lnTo>
                  <a:lnTo>
                    <a:pt x="69" y="72"/>
                  </a:lnTo>
                  <a:lnTo>
                    <a:pt x="0" y="81"/>
                  </a:lnTo>
                  <a:close/>
                </a:path>
              </a:pathLst>
            </a:custGeom>
            <a:solidFill>
              <a:srgbClr val="E89678"/>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23" name="Freeform 21">
              <a:extLst>
                <a:ext uri="{FF2B5EF4-FFF2-40B4-BE49-F238E27FC236}">
                  <a16:creationId xmlns:a16="http://schemas.microsoft.com/office/drawing/2014/main" id="{F8D44982-9A6F-46CF-9022-7DD2574B28E9}"/>
                </a:ext>
              </a:extLst>
            </p:cNvPr>
            <p:cNvSpPr>
              <a:spLocks/>
            </p:cNvSpPr>
            <p:nvPr/>
          </p:nvSpPr>
          <p:spPr bwMode="auto">
            <a:xfrm>
              <a:off x="4453" y="2782"/>
              <a:ext cx="106" cy="154"/>
            </a:xfrm>
            <a:custGeom>
              <a:avLst/>
              <a:gdLst>
                <a:gd name="T0" fmla="*/ 0 w 211"/>
                <a:gd name="T1" fmla="*/ 30 h 306"/>
                <a:gd name="T2" fmla="*/ 106 w 211"/>
                <a:gd name="T3" fmla="*/ 153 h 306"/>
                <a:gd name="T4" fmla="*/ 70 w 211"/>
                <a:gd name="T5" fmla="*/ 40 h 306"/>
                <a:gd name="T6" fmla="*/ 17 w 211"/>
                <a:gd name="T7" fmla="*/ 0 h 306"/>
                <a:gd name="T8" fmla="*/ 0 w 211"/>
                <a:gd name="T9" fmla="*/ 30 h 306"/>
                <a:gd name="T10" fmla="*/ 0 w 211"/>
                <a:gd name="T11" fmla="*/ 30 h 306"/>
                <a:gd name="T12" fmla="*/ 0 60000 65536"/>
                <a:gd name="T13" fmla="*/ 0 60000 65536"/>
                <a:gd name="T14" fmla="*/ 0 60000 65536"/>
                <a:gd name="T15" fmla="*/ 0 60000 65536"/>
                <a:gd name="T16" fmla="*/ 0 60000 65536"/>
                <a:gd name="T17" fmla="*/ 0 60000 65536"/>
                <a:gd name="T18" fmla="*/ 0 w 211"/>
                <a:gd name="T19" fmla="*/ 0 h 306"/>
                <a:gd name="T20" fmla="*/ 211 w 211"/>
                <a:gd name="T21" fmla="*/ 306 h 306"/>
              </a:gdLst>
              <a:ahLst/>
              <a:cxnLst>
                <a:cxn ang="T12">
                  <a:pos x="T0" y="T1"/>
                </a:cxn>
                <a:cxn ang="T13">
                  <a:pos x="T2" y="T3"/>
                </a:cxn>
                <a:cxn ang="T14">
                  <a:pos x="T4" y="T5"/>
                </a:cxn>
                <a:cxn ang="T15">
                  <a:pos x="T6" y="T7"/>
                </a:cxn>
                <a:cxn ang="T16">
                  <a:pos x="T8" y="T9"/>
                </a:cxn>
                <a:cxn ang="T17">
                  <a:pos x="T10" y="T11"/>
                </a:cxn>
              </a:cxnLst>
              <a:rect l="T18" t="T19" r="T20" b="T21"/>
              <a:pathLst>
                <a:path w="211" h="306">
                  <a:moveTo>
                    <a:pt x="0" y="61"/>
                  </a:moveTo>
                  <a:lnTo>
                    <a:pt x="211" y="306"/>
                  </a:lnTo>
                  <a:lnTo>
                    <a:pt x="139" y="80"/>
                  </a:lnTo>
                  <a:lnTo>
                    <a:pt x="33" y="0"/>
                  </a:lnTo>
                  <a:lnTo>
                    <a:pt x="0" y="61"/>
                  </a:lnTo>
                  <a:close/>
                </a:path>
              </a:pathLst>
            </a:custGeom>
            <a:solidFill>
              <a:srgbClr val="E89678"/>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24" name="Freeform 22">
              <a:extLst>
                <a:ext uri="{FF2B5EF4-FFF2-40B4-BE49-F238E27FC236}">
                  <a16:creationId xmlns:a16="http://schemas.microsoft.com/office/drawing/2014/main" id="{748516A8-9A28-480C-87BF-5BB39B525885}"/>
                </a:ext>
              </a:extLst>
            </p:cNvPr>
            <p:cNvSpPr>
              <a:spLocks/>
            </p:cNvSpPr>
            <p:nvPr/>
          </p:nvSpPr>
          <p:spPr bwMode="auto">
            <a:xfrm>
              <a:off x="4177" y="2927"/>
              <a:ext cx="67" cy="71"/>
            </a:xfrm>
            <a:custGeom>
              <a:avLst/>
              <a:gdLst>
                <a:gd name="T0" fmla="*/ 30 w 137"/>
                <a:gd name="T1" fmla="*/ 0 h 144"/>
                <a:gd name="T2" fmla="*/ 0 w 137"/>
                <a:gd name="T3" fmla="*/ 38 h 144"/>
                <a:gd name="T4" fmla="*/ 0 w 137"/>
                <a:gd name="T5" fmla="*/ 72 h 144"/>
                <a:gd name="T6" fmla="*/ 68 w 137"/>
                <a:gd name="T7" fmla="*/ 9 h 144"/>
                <a:gd name="T8" fmla="*/ 30 w 137"/>
                <a:gd name="T9" fmla="*/ 0 h 144"/>
                <a:gd name="T10" fmla="*/ 30 w 137"/>
                <a:gd name="T11" fmla="*/ 0 h 144"/>
                <a:gd name="T12" fmla="*/ 0 60000 65536"/>
                <a:gd name="T13" fmla="*/ 0 60000 65536"/>
                <a:gd name="T14" fmla="*/ 0 60000 65536"/>
                <a:gd name="T15" fmla="*/ 0 60000 65536"/>
                <a:gd name="T16" fmla="*/ 0 60000 65536"/>
                <a:gd name="T17" fmla="*/ 0 60000 65536"/>
                <a:gd name="T18" fmla="*/ 0 w 137"/>
                <a:gd name="T19" fmla="*/ 0 h 144"/>
                <a:gd name="T20" fmla="*/ 137 w 137"/>
                <a:gd name="T21" fmla="*/ 144 h 144"/>
              </a:gdLst>
              <a:ahLst/>
              <a:cxnLst>
                <a:cxn ang="T12">
                  <a:pos x="T0" y="T1"/>
                </a:cxn>
                <a:cxn ang="T13">
                  <a:pos x="T2" y="T3"/>
                </a:cxn>
                <a:cxn ang="T14">
                  <a:pos x="T4" y="T5"/>
                </a:cxn>
                <a:cxn ang="T15">
                  <a:pos x="T6" y="T7"/>
                </a:cxn>
                <a:cxn ang="T16">
                  <a:pos x="T8" y="T9"/>
                </a:cxn>
                <a:cxn ang="T17">
                  <a:pos x="T10" y="T11"/>
                </a:cxn>
              </a:cxnLst>
              <a:rect l="T18" t="T19" r="T20" b="T21"/>
              <a:pathLst>
                <a:path w="137" h="144">
                  <a:moveTo>
                    <a:pt x="61" y="0"/>
                  </a:moveTo>
                  <a:lnTo>
                    <a:pt x="0" y="76"/>
                  </a:lnTo>
                  <a:lnTo>
                    <a:pt x="0" y="144"/>
                  </a:lnTo>
                  <a:lnTo>
                    <a:pt x="137" y="19"/>
                  </a:lnTo>
                  <a:lnTo>
                    <a:pt x="61" y="0"/>
                  </a:lnTo>
                  <a:close/>
                </a:path>
              </a:pathLst>
            </a:custGeom>
            <a:solidFill>
              <a:srgbClr val="E89678"/>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25" name="Freeform 23">
              <a:extLst>
                <a:ext uri="{FF2B5EF4-FFF2-40B4-BE49-F238E27FC236}">
                  <a16:creationId xmlns:a16="http://schemas.microsoft.com/office/drawing/2014/main" id="{7BC209C3-FB1A-435F-A012-0EEC8A6DEED2}"/>
                </a:ext>
              </a:extLst>
            </p:cNvPr>
            <p:cNvSpPr>
              <a:spLocks/>
            </p:cNvSpPr>
            <p:nvPr/>
          </p:nvSpPr>
          <p:spPr bwMode="auto">
            <a:xfrm>
              <a:off x="4268" y="2956"/>
              <a:ext cx="165" cy="48"/>
            </a:xfrm>
            <a:custGeom>
              <a:avLst/>
              <a:gdLst>
                <a:gd name="T0" fmla="*/ 21 w 330"/>
                <a:gd name="T1" fmla="*/ 0 h 97"/>
                <a:gd name="T2" fmla="*/ 0 w 330"/>
                <a:gd name="T3" fmla="*/ 38 h 97"/>
                <a:gd name="T4" fmla="*/ 67 w 330"/>
                <a:gd name="T5" fmla="*/ 49 h 97"/>
                <a:gd name="T6" fmla="*/ 165 w 330"/>
                <a:gd name="T7" fmla="*/ 29 h 97"/>
                <a:gd name="T8" fmla="*/ 133 w 330"/>
                <a:gd name="T9" fmla="*/ 14 h 97"/>
                <a:gd name="T10" fmla="*/ 54 w 330"/>
                <a:gd name="T11" fmla="*/ 24 h 97"/>
                <a:gd name="T12" fmla="*/ 21 w 330"/>
                <a:gd name="T13" fmla="*/ 0 h 97"/>
                <a:gd name="T14" fmla="*/ 21 w 330"/>
                <a:gd name="T15" fmla="*/ 0 h 97"/>
                <a:gd name="T16" fmla="*/ 0 60000 65536"/>
                <a:gd name="T17" fmla="*/ 0 60000 65536"/>
                <a:gd name="T18" fmla="*/ 0 60000 65536"/>
                <a:gd name="T19" fmla="*/ 0 60000 65536"/>
                <a:gd name="T20" fmla="*/ 0 60000 65536"/>
                <a:gd name="T21" fmla="*/ 0 60000 65536"/>
                <a:gd name="T22" fmla="*/ 0 60000 65536"/>
                <a:gd name="T23" fmla="*/ 0 60000 65536"/>
                <a:gd name="T24" fmla="*/ 0 w 330"/>
                <a:gd name="T25" fmla="*/ 0 h 97"/>
                <a:gd name="T26" fmla="*/ 330 w 330"/>
                <a:gd name="T27" fmla="*/ 97 h 9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0" h="97">
                  <a:moveTo>
                    <a:pt x="43" y="0"/>
                  </a:moveTo>
                  <a:lnTo>
                    <a:pt x="0" y="76"/>
                  </a:lnTo>
                  <a:lnTo>
                    <a:pt x="133" y="97"/>
                  </a:lnTo>
                  <a:lnTo>
                    <a:pt x="330" y="57"/>
                  </a:lnTo>
                  <a:lnTo>
                    <a:pt x="266" y="28"/>
                  </a:lnTo>
                  <a:lnTo>
                    <a:pt x="108" y="47"/>
                  </a:lnTo>
                  <a:lnTo>
                    <a:pt x="43" y="0"/>
                  </a:lnTo>
                  <a:close/>
                </a:path>
              </a:pathLst>
            </a:custGeom>
            <a:solidFill>
              <a:srgbClr val="E89678"/>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26" name="Freeform 24">
              <a:extLst>
                <a:ext uri="{FF2B5EF4-FFF2-40B4-BE49-F238E27FC236}">
                  <a16:creationId xmlns:a16="http://schemas.microsoft.com/office/drawing/2014/main" id="{D42B316A-5A56-4027-92C4-972010B0C520}"/>
                </a:ext>
              </a:extLst>
            </p:cNvPr>
            <p:cNvSpPr>
              <a:spLocks/>
            </p:cNvSpPr>
            <p:nvPr/>
          </p:nvSpPr>
          <p:spPr bwMode="auto">
            <a:xfrm>
              <a:off x="4089" y="2526"/>
              <a:ext cx="39" cy="44"/>
            </a:xfrm>
            <a:custGeom>
              <a:avLst/>
              <a:gdLst>
                <a:gd name="T0" fmla="*/ 40 w 80"/>
                <a:gd name="T1" fmla="*/ 20 h 87"/>
                <a:gd name="T2" fmla="*/ 14 w 80"/>
                <a:gd name="T3" fmla="*/ 0 h 87"/>
                <a:gd name="T4" fmla="*/ 0 w 80"/>
                <a:gd name="T5" fmla="*/ 16 h 87"/>
                <a:gd name="T6" fmla="*/ 11 w 80"/>
                <a:gd name="T7" fmla="*/ 44 h 87"/>
                <a:gd name="T8" fmla="*/ 40 w 80"/>
                <a:gd name="T9" fmla="*/ 20 h 87"/>
                <a:gd name="T10" fmla="*/ 40 w 80"/>
                <a:gd name="T11" fmla="*/ 20 h 87"/>
                <a:gd name="T12" fmla="*/ 0 60000 65536"/>
                <a:gd name="T13" fmla="*/ 0 60000 65536"/>
                <a:gd name="T14" fmla="*/ 0 60000 65536"/>
                <a:gd name="T15" fmla="*/ 0 60000 65536"/>
                <a:gd name="T16" fmla="*/ 0 60000 65536"/>
                <a:gd name="T17" fmla="*/ 0 60000 65536"/>
                <a:gd name="T18" fmla="*/ 0 w 80"/>
                <a:gd name="T19" fmla="*/ 0 h 87"/>
                <a:gd name="T20" fmla="*/ 80 w 80"/>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80" h="87">
                  <a:moveTo>
                    <a:pt x="80" y="40"/>
                  </a:moveTo>
                  <a:lnTo>
                    <a:pt x="29" y="0"/>
                  </a:lnTo>
                  <a:lnTo>
                    <a:pt x="0" y="32"/>
                  </a:lnTo>
                  <a:lnTo>
                    <a:pt x="23" y="87"/>
                  </a:lnTo>
                  <a:lnTo>
                    <a:pt x="80" y="40"/>
                  </a:lnTo>
                  <a:close/>
                </a:path>
              </a:pathLst>
            </a:custGeom>
            <a:solidFill>
              <a:srgbClr val="E89678"/>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27" name="Freeform 25">
              <a:extLst>
                <a:ext uri="{FF2B5EF4-FFF2-40B4-BE49-F238E27FC236}">
                  <a16:creationId xmlns:a16="http://schemas.microsoft.com/office/drawing/2014/main" id="{7ADA5324-A2C5-4D57-B1D6-36141809494F}"/>
                </a:ext>
              </a:extLst>
            </p:cNvPr>
            <p:cNvSpPr>
              <a:spLocks/>
            </p:cNvSpPr>
            <p:nvPr/>
          </p:nvSpPr>
          <p:spPr bwMode="auto">
            <a:xfrm>
              <a:off x="4480" y="2545"/>
              <a:ext cx="136" cy="94"/>
            </a:xfrm>
            <a:custGeom>
              <a:avLst/>
              <a:gdLst>
                <a:gd name="T0" fmla="*/ 43 w 273"/>
                <a:gd name="T1" fmla="*/ 18 h 186"/>
                <a:gd name="T2" fmla="*/ 91 w 273"/>
                <a:gd name="T3" fmla="*/ 0 h 186"/>
                <a:gd name="T4" fmla="*/ 113 w 273"/>
                <a:gd name="T5" fmla="*/ 18 h 186"/>
                <a:gd name="T6" fmla="*/ 63 w 273"/>
                <a:gd name="T7" fmla="*/ 36 h 186"/>
                <a:gd name="T8" fmla="*/ 137 w 273"/>
                <a:gd name="T9" fmla="*/ 93 h 186"/>
                <a:gd name="T10" fmla="*/ 0 w 273"/>
                <a:gd name="T11" fmla="*/ 34 h 186"/>
                <a:gd name="T12" fmla="*/ 43 w 273"/>
                <a:gd name="T13" fmla="*/ 18 h 186"/>
                <a:gd name="T14" fmla="*/ 43 w 273"/>
                <a:gd name="T15" fmla="*/ 18 h 186"/>
                <a:gd name="T16" fmla="*/ 0 60000 65536"/>
                <a:gd name="T17" fmla="*/ 0 60000 65536"/>
                <a:gd name="T18" fmla="*/ 0 60000 65536"/>
                <a:gd name="T19" fmla="*/ 0 60000 65536"/>
                <a:gd name="T20" fmla="*/ 0 60000 65536"/>
                <a:gd name="T21" fmla="*/ 0 60000 65536"/>
                <a:gd name="T22" fmla="*/ 0 60000 65536"/>
                <a:gd name="T23" fmla="*/ 0 60000 65536"/>
                <a:gd name="T24" fmla="*/ 0 w 273"/>
                <a:gd name="T25" fmla="*/ 0 h 186"/>
                <a:gd name="T26" fmla="*/ 273 w 273"/>
                <a:gd name="T27" fmla="*/ 186 h 1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73" h="186">
                  <a:moveTo>
                    <a:pt x="85" y="36"/>
                  </a:moveTo>
                  <a:lnTo>
                    <a:pt x="182" y="0"/>
                  </a:lnTo>
                  <a:lnTo>
                    <a:pt x="226" y="36"/>
                  </a:lnTo>
                  <a:lnTo>
                    <a:pt x="125" y="72"/>
                  </a:lnTo>
                  <a:lnTo>
                    <a:pt x="273" y="186"/>
                  </a:lnTo>
                  <a:lnTo>
                    <a:pt x="0" y="68"/>
                  </a:lnTo>
                  <a:lnTo>
                    <a:pt x="85" y="36"/>
                  </a:lnTo>
                  <a:close/>
                </a:path>
              </a:pathLst>
            </a:custGeom>
            <a:solidFill>
              <a:srgbClr val="E89678"/>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28" name="Freeform 26">
              <a:extLst>
                <a:ext uri="{FF2B5EF4-FFF2-40B4-BE49-F238E27FC236}">
                  <a16:creationId xmlns:a16="http://schemas.microsoft.com/office/drawing/2014/main" id="{0FAE5B87-748A-45D4-A3E9-34E85864CC6B}"/>
                </a:ext>
              </a:extLst>
            </p:cNvPr>
            <p:cNvSpPr>
              <a:spLocks/>
            </p:cNvSpPr>
            <p:nvPr/>
          </p:nvSpPr>
          <p:spPr bwMode="auto">
            <a:xfrm>
              <a:off x="4427" y="2597"/>
              <a:ext cx="75" cy="35"/>
            </a:xfrm>
            <a:custGeom>
              <a:avLst/>
              <a:gdLst>
                <a:gd name="T0" fmla="*/ 0 w 148"/>
                <a:gd name="T1" fmla="*/ 2 h 73"/>
                <a:gd name="T2" fmla="*/ 7 w 148"/>
                <a:gd name="T3" fmla="*/ 27 h 73"/>
                <a:gd name="T4" fmla="*/ 74 w 148"/>
                <a:gd name="T5" fmla="*/ 36 h 73"/>
                <a:gd name="T6" fmla="*/ 36 w 148"/>
                <a:gd name="T7" fmla="*/ 0 h 73"/>
                <a:gd name="T8" fmla="*/ 0 w 148"/>
                <a:gd name="T9" fmla="*/ 2 h 73"/>
                <a:gd name="T10" fmla="*/ 0 w 148"/>
                <a:gd name="T11" fmla="*/ 2 h 73"/>
                <a:gd name="T12" fmla="*/ 0 60000 65536"/>
                <a:gd name="T13" fmla="*/ 0 60000 65536"/>
                <a:gd name="T14" fmla="*/ 0 60000 65536"/>
                <a:gd name="T15" fmla="*/ 0 60000 65536"/>
                <a:gd name="T16" fmla="*/ 0 60000 65536"/>
                <a:gd name="T17" fmla="*/ 0 60000 65536"/>
                <a:gd name="T18" fmla="*/ 0 w 148"/>
                <a:gd name="T19" fmla="*/ 0 h 73"/>
                <a:gd name="T20" fmla="*/ 148 w 148"/>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148" h="73">
                  <a:moveTo>
                    <a:pt x="0" y="4"/>
                  </a:moveTo>
                  <a:lnTo>
                    <a:pt x="15" y="54"/>
                  </a:lnTo>
                  <a:lnTo>
                    <a:pt x="148" y="73"/>
                  </a:lnTo>
                  <a:lnTo>
                    <a:pt x="72" y="0"/>
                  </a:lnTo>
                  <a:lnTo>
                    <a:pt x="0" y="4"/>
                  </a:lnTo>
                  <a:close/>
                </a:path>
              </a:pathLst>
            </a:custGeom>
            <a:solidFill>
              <a:srgbClr val="E89678"/>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29" name="Freeform 27">
              <a:extLst>
                <a:ext uri="{FF2B5EF4-FFF2-40B4-BE49-F238E27FC236}">
                  <a16:creationId xmlns:a16="http://schemas.microsoft.com/office/drawing/2014/main" id="{081D233A-DA62-4911-B55B-AEE2E109A0C1}"/>
                </a:ext>
              </a:extLst>
            </p:cNvPr>
            <p:cNvSpPr>
              <a:spLocks/>
            </p:cNvSpPr>
            <p:nvPr/>
          </p:nvSpPr>
          <p:spPr bwMode="auto">
            <a:xfrm>
              <a:off x="3897" y="2598"/>
              <a:ext cx="57" cy="83"/>
            </a:xfrm>
            <a:custGeom>
              <a:avLst/>
              <a:gdLst>
                <a:gd name="T0" fmla="*/ 35 w 116"/>
                <a:gd name="T1" fmla="*/ 83 h 166"/>
                <a:gd name="T2" fmla="*/ 0 w 116"/>
                <a:gd name="T3" fmla="*/ 46 h 166"/>
                <a:gd name="T4" fmla="*/ 20 w 116"/>
                <a:gd name="T5" fmla="*/ 0 h 166"/>
                <a:gd name="T6" fmla="*/ 58 w 116"/>
                <a:gd name="T7" fmla="*/ 30 h 166"/>
                <a:gd name="T8" fmla="*/ 35 w 116"/>
                <a:gd name="T9" fmla="*/ 83 h 166"/>
                <a:gd name="T10" fmla="*/ 35 w 116"/>
                <a:gd name="T11" fmla="*/ 83 h 166"/>
                <a:gd name="T12" fmla="*/ 0 60000 65536"/>
                <a:gd name="T13" fmla="*/ 0 60000 65536"/>
                <a:gd name="T14" fmla="*/ 0 60000 65536"/>
                <a:gd name="T15" fmla="*/ 0 60000 65536"/>
                <a:gd name="T16" fmla="*/ 0 60000 65536"/>
                <a:gd name="T17" fmla="*/ 0 60000 65536"/>
                <a:gd name="T18" fmla="*/ 0 w 116"/>
                <a:gd name="T19" fmla="*/ 0 h 166"/>
                <a:gd name="T20" fmla="*/ 116 w 116"/>
                <a:gd name="T21" fmla="*/ 166 h 166"/>
              </a:gdLst>
              <a:ahLst/>
              <a:cxnLst>
                <a:cxn ang="T12">
                  <a:pos x="T0" y="T1"/>
                </a:cxn>
                <a:cxn ang="T13">
                  <a:pos x="T2" y="T3"/>
                </a:cxn>
                <a:cxn ang="T14">
                  <a:pos x="T4" y="T5"/>
                </a:cxn>
                <a:cxn ang="T15">
                  <a:pos x="T6" y="T7"/>
                </a:cxn>
                <a:cxn ang="T16">
                  <a:pos x="T8" y="T9"/>
                </a:cxn>
                <a:cxn ang="T17">
                  <a:pos x="T10" y="T11"/>
                </a:cxn>
              </a:cxnLst>
              <a:rect l="T18" t="T19" r="T20" b="T21"/>
              <a:pathLst>
                <a:path w="116" h="166">
                  <a:moveTo>
                    <a:pt x="69" y="166"/>
                  </a:moveTo>
                  <a:lnTo>
                    <a:pt x="0" y="93"/>
                  </a:lnTo>
                  <a:lnTo>
                    <a:pt x="40" y="0"/>
                  </a:lnTo>
                  <a:lnTo>
                    <a:pt x="116" y="61"/>
                  </a:lnTo>
                  <a:lnTo>
                    <a:pt x="69" y="166"/>
                  </a:lnTo>
                  <a:close/>
                </a:path>
              </a:pathLst>
            </a:custGeom>
            <a:solidFill>
              <a:srgbClr val="E89678"/>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30" name="Freeform 28">
              <a:extLst>
                <a:ext uri="{FF2B5EF4-FFF2-40B4-BE49-F238E27FC236}">
                  <a16:creationId xmlns:a16="http://schemas.microsoft.com/office/drawing/2014/main" id="{9E4C9984-E0D1-420B-8454-2EBE6A35F8B1}"/>
                </a:ext>
              </a:extLst>
            </p:cNvPr>
            <p:cNvSpPr>
              <a:spLocks/>
            </p:cNvSpPr>
            <p:nvPr/>
          </p:nvSpPr>
          <p:spPr bwMode="auto">
            <a:xfrm>
              <a:off x="4712" y="2662"/>
              <a:ext cx="69" cy="127"/>
            </a:xfrm>
            <a:custGeom>
              <a:avLst/>
              <a:gdLst>
                <a:gd name="T0" fmla="*/ 0 w 143"/>
                <a:gd name="T1" fmla="*/ 67 h 254"/>
                <a:gd name="T2" fmla="*/ 28 w 143"/>
                <a:gd name="T3" fmla="*/ 61 h 254"/>
                <a:gd name="T4" fmla="*/ 14 w 143"/>
                <a:gd name="T5" fmla="*/ 127 h 254"/>
                <a:gd name="T6" fmla="*/ 52 w 143"/>
                <a:gd name="T7" fmla="*/ 102 h 254"/>
                <a:gd name="T8" fmla="*/ 71 w 143"/>
                <a:gd name="T9" fmla="*/ 32 h 254"/>
                <a:gd name="T10" fmla="*/ 43 w 143"/>
                <a:gd name="T11" fmla="*/ 0 h 254"/>
                <a:gd name="T12" fmla="*/ 0 w 143"/>
                <a:gd name="T13" fmla="*/ 67 h 254"/>
                <a:gd name="T14" fmla="*/ 0 w 143"/>
                <a:gd name="T15" fmla="*/ 67 h 254"/>
                <a:gd name="T16" fmla="*/ 0 60000 65536"/>
                <a:gd name="T17" fmla="*/ 0 60000 65536"/>
                <a:gd name="T18" fmla="*/ 0 60000 65536"/>
                <a:gd name="T19" fmla="*/ 0 60000 65536"/>
                <a:gd name="T20" fmla="*/ 0 60000 65536"/>
                <a:gd name="T21" fmla="*/ 0 60000 65536"/>
                <a:gd name="T22" fmla="*/ 0 60000 65536"/>
                <a:gd name="T23" fmla="*/ 0 60000 65536"/>
                <a:gd name="T24" fmla="*/ 0 w 143"/>
                <a:gd name="T25" fmla="*/ 0 h 254"/>
                <a:gd name="T26" fmla="*/ 143 w 143"/>
                <a:gd name="T27" fmla="*/ 254 h 2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3" h="254">
                  <a:moveTo>
                    <a:pt x="0" y="133"/>
                  </a:moveTo>
                  <a:lnTo>
                    <a:pt x="57" y="121"/>
                  </a:lnTo>
                  <a:lnTo>
                    <a:pt x="29" y="254"/>
                  </a:lnTo>
                  <a:lnTo>
                    <a:pt x="105" y="203"/>
                  </a:lnTo>
                  <a:lnTo>
                    <a:pt x="143" y="64"/>
                  </a:lnTo>
                  <a:lnTo>
                    <a:pt x="86" y="0"/>
                  </a:lnTo>
                  <a:lnTo>
                    <a:pt x="0" y="133"/>
                  </a:lnTo>
                  <a:close/>
                </a:path>
              </a:pathLst>
            </a:custGeom>
            <a:solidFill>
              <a:srgbClr val="E89678"/>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31" name="Freeform 29">
              <a:extLst>
                <a:ext uri="{FF2B5EF4-FFF2-40B4-BE49-F238E27FC236}">
                  <a16:creationId xmlns:a16="http://schemas.microsoft.com/office/drawing/2014/main" id="{71C1FF5A-B1E7-4E0B-9438-2FA43B279BDE}"/>
                </a:ext>
              </a:extLst>
            </p:cNvPr>
            <p:cNvSpPr>
              <a:spLocks/>
            </p:cNvSpPr>
            <p:nvPr/>
          </p:nvSpPr>
          <p:spPr bwMode="auto">
            <a:xfrm>
              <a:off x="3979" y="2958"/>
              <a:ext cx="127" cy="184"/>
            </a:xfrm>
            <a:custGeom>
              <a:avLst/>
              <a:gdLst>
                <a:gd name="T0" fmla="*/ 0 w 254"/>
                <a:gd name="T1" fmla="*/ 79 h 367"/>
                <a:gd name="T2" fmla="*/ 103 w 254"/>
                <a:gd name="T3" fmla="*/ 184 h 367"/>
                <a:gd name="T4" fmla="*/ 127 w 254"/>
                <a:gd name="T5" fmla="*/ 170 h 367"/>
                <a:gd name="T6" fmla="*/ 2 w 254"/>
                <a:gd name="T7" fmla="*/ 0 h 367"/>
                <a:gd name="T8" fmla="*/ 0 w 254"/>
                <a:gd name="T9" fmla="*/ 79 h 367"/>
                <a:gd name="T10" fmla="*/ 0 w 254"/>
                <a:gd name="T11" fmla="*/ 79 h 367"/>
                <a:gd name="T12" fmla="*/ 0 60000 65536"/>
                <a:gd name="T13" fmla="*/ 0 60000 65536"/>
                <a:gd name="T14" fmla="*/ 0 60000 65536"/>
                <a:gd name="T15" fmla="*/ 0 60000 65536"/>
                <a:gd name="T16" fmla="*/ 0 60000 65536"/>
                <a:gd name="T17" fmla="*/ 0 60000 65536"/>
                <a:gd name="T18" fmla="*/ 0 w 254"/>
                <a:gd name="T19" fmla="*/ 0 h 367"/>
                <a:gd name="T20" fmla="*/ 254 w 254"/>
                <a:gd name="T21" fmla="*/ 367 h 367"/>
              </a:gdLst>
              <a:ahLst/>
              <a:cxnLst>
                <a:cxn ang="T12">
                  <a:pos x="T0" y="T1"/>
                </a:cxn>
                <a:cxn ang="T13">
                  <a:pos x="T2" y="T3"/>
                </a:cxn>
                <a:cxn ang="T14">
                  <a:pos x="T4" y="T5"/>
                </a:cxn>
                <a:cxn ang="T15">
                  <a:pos x="T6" y="T7"/>
                </a:cxn>
                <a:cxn ang="T16">
                  <a:pos x="T8" y="T9"/>
                </a:cxn>
                <a:cxn ang="T17">
                  <a:pos x="T10" y="T11"/>
                </a:cxn>
              </a:cxnLst>
              <a:rect l="T18" t="T19" r="T20" b="T21"/>
              <a:pathLst>
                <a:path w="254" h="367">
                  <a:moveTo>
                    <a:pt x="0" y="157"/>
                  </a:moveTo>
                  <a:lnTo>
                    <a:pt x="205" y="367"/>
                  </a:lnTo>
                  <a:lnTo>
                    <a:pt x="254" y="340"/>
                  </a:lnTo>
                  <a:lnTo>
                    <a:pt x="3" y="0"/>
                  </a:lnTo>
                  <a:lnTo>
                    <a:pt x="0" y="157"/>
                  </a:lnTo>
                  <a:close/>
                </a:path>
              </a:pathLst>
            </a:custGeom>
            <a:solidFill>
              <a:srgbClr val="E89678"/>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32" name="Freeform 30">
              <a:extLst>
                <a:ext uri="{FF2B5EF4-FFF2-40B4-BE49-F238E27FC236}">
                  <a16:creationId xmlns:a16="http://schemas.microsoft.com/office/drawing/2014/main" id="{90EDD6DE-B8F0-473D-896B-B86674DF84CB}"/>
                </a:ext>
              </a:extLst>
            </p:cNvPr>
            <p:cNvSpPr>
              <a:spLocks/>
            </p:cNvSpPr>
            <p:nvPr/>
          </p:nvSpPr>
          <p:spPr bwMode="auto">
            <a:xfrm>
              <a:off x="4063" y="3125"/>
              <a:ext cx="420" cy="264"/>
            </a:xfrm>
            <a:custGeom>
              <a:avLst/>
              <a:gdLst>
                <a:gd name="T0" fmla="*/ 246 w 838"/>
                <a:gd name="T1" fmla="*/ 144 h 531"/>
                <a:gd name="T2" fmla="*/ 354 w 838"/>
                <a:gd name="T3" fmla="*/ 265 h 531"/>
                <a:gd name="T4" fmla="*/ 211 w 838"/>
                <a:gd name="T5" fmla="*/ 172 h 531"/>
                <a:gd name="T6" fmla="*/ 0 w 838"/>
                <a:gd name="T7" fmla="*/ 67 h 531"/>
                <a:gd name="T8" fmla="*/ 0 w 838"/>
                <a:gd name="T9" fmla="*/ 37 h 531"/>
                <a:gd name="T10" fmla="*/ 66 w 838"/>
                <a:gd name="T11" fmla="*/ 0 h 531"/>
                <a:gd name="T12" fmla="*/ 103 w 838"/>
                <a:gd name="T13" fmla="*/ 39 h 531"/>
                <a:gd name="T14" fmla="*/ 277 w 838"/>
                <a:gd name="T15" fmla="*/ 123 h 531"/>
                <a:gd name="T16" fmla="*/ 420 w 838"/>
                <a:gd name="T17" fmla="*/ 181 h 531"/>
                <a:gd name="T18" fmla="*/ 390 w 838"/>
                <a:gd name="T19" fmla="*/ 185 h 531"/>
                <a:gd name="T20" fmla="*/ 246 w 838"/>
                <a:gd name="T21" fmla="*/ 144 h 531"/>
                <a:gd name="T22" fmla="*/ 246 w 838"/>
                <a:gd name="T23" fmla="*/ 144 h 5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38"/>
                <a:gd name="T37" fmla="*/ 0 h 531"/>
                <a:gd name="T38" fmla="*/ 838 w 838"/>
                <a:gd name="T39" fmla="*/ 531 h 5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38" h="531">
                  <a:moveTo>
                    <a:pt x="490" y="289"/>
                  </a:moveTo>
                  <a:lnTo>
                    <a:pt x="707" y="531"/>
                  </a:lnTo>
                  <a:lnTo>
                    <a:pt x="420" y="344"/>
                  </a:lnTo>
                  <a:lnTo>
                    <a:pt x="0" y="135"/>
                  </a:lnTo>
                  <a:lnTo>
                    <a:pt x="0" y="74"/>
                  </a:lnTo>
                  <a:lnTo>
                    <a:pt x="131" y="0"/>
                  </a:lnTo>
                  <a:lnTo>
                    <a:pt x="205" y="78"/>
                  </a:lnTo>
                  <a:lnTo>
                    <a:pt x="553" y="246"/>
                  </a:lnTo>
                  <a:lnTo>
                    <a:pt x="838" y="363"/>
                  </a:lnTo>
                  <a:lnTo>
                    <a:pt x="779" y="371"/>
                  </a:lnTo>
                  <a:lnTo>
                    <a:pt x="490" y="289"/>
                  </a:lnTo>
                  <a:close/>
                </a:path>
              </a:pathLst>
            </a:custGeom>
            <a:solidFill>
              <a:srgbClr val="E89678"/>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33" name="Freeform 31">
              <a:extLst>
                <a:ext uri="{FF2B5EF4-FFF2-40B4-BE49-F238E27FC236}">
                  <a16:creationId xmlns:a16="http://schemas.microsoft.com/office/drawing/2014/main" id="{FEA4C109-6BF4-458F-80B7-74A44B777F7E}"/>
                </a:ext>
              </a:extLst>
            </p:cNvPr>
            <p:cNvSpPr>
              <a:spLocks/>
            </p:cNvSpPr>
            <p:nvPr/>
          </p:nvSpPr>
          <p:spPr bwMode="auto">
            <a:xfrm>
              <a:off x="4041" y="3303"/>
              <a:ext cx="375" cy="219"/>
            </a:xfrm>
            <a:custGeom>
              <a:avLst/>
              <a:gdLst>
                <a:gd name="T0" fmla="*/ 23 w 749"/>
                <a:gd name="T1" fmla="*/ 0 h 439"/>
                <a:gd name="T2" fmla="*/ 31 w 749"/>
                <a:gd name="T3" fmla="*/ 31 h 439"/>
                <a:gd name="T4" fmla="*/ 220 w 749"/>
                <a:gd name="T5" fmla="*/ 111 h 439"/>
                <a:gd name="T6" fmla="*/ 374 w 749"/>
                <a:gd name="T7" fmla="*/ 164 h 439"/>
                <a:gd name="T8" fmla="*/ 372 w 749"/>
                <a:gd name="T9" fmla="*/ 220 h 439"/>
                <a:gd name="T10" fmla="*/ 339 w 749"/>
                <a:gd name="T11" fmla="*/ 203 h 439"/>
                <a:gd name="T12" fmla="*/ 151 w 749"/>
                <a:gd name="T13" fmla="*/ 105 h 439"/>
                <a:gd name="T14" fmla="*/ 0 w 749"/>
                <a:gd name="T15" fmla="*/ 40 h 439"/>
                <a:gd name="T16" fmla="*/ 2 w 749"/>
                <a:gd name="T17" fmla="*/ 11 h 439"/>
                <a:gd name="T18" fmla="*/ 23 w 749"/>
                <a:gd name="T19" fmla="*/ 0 h 439"/>
                <a:gd name="T20" fmla="*/ 23 w 749"/>
                <a:gd name="T21" fmla="*/ 0 h 43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49"/>
                <a:gd name="T34" fmla="*/ 0 h 439"/>
                <a:gd name="T35" fmla="*/ 749 w 749"/>
                <a:gd name="T36" fmla="*/ 439 h 43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49" h="439">
                  <a:moveTo>
                    <a:pt x="46" y="0"/>
                  </a:moveTo>
                  <a:lnTo>
                    <a:pt x="63" y="62"/>
                  </a:lnTo>
                  <a:lnTo>
                    <a:pt x="441" y="222"/>
                  </a:lnTo>
                  <a:lnTo>
                    <a:pt x="749" y="328"/>
                  </a:lnTo>
                  <a:lnTo>
                    <a:pt x="745" y="439"/>
                  </a:lnTo>
                  <a:lnTo>
                    <a:pt x="679" y="406"/>
                  </a:lnTo>
                  <a:lnTo>
                    <a:pt x="303" y="209"/>
                  </a:lnTo>
                  <a:lnTo>
                    <a:pt x="0" y="79"/>
                  </a:lnTo>
                  <a:lnTo>
                    <a:pt x="4" y="22"/>
                  </a:lnTo>
                  <a:lnTo>
                    <a:pt x="46" y="0"/>
                  </a:lnTo>
                  <a:close/>
                </a:path>
              </a:pathLst>
            </a:custGeom>
            <a:solidFill>
              <a:srgbClr val="E89678"/>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34" name="Freeform 32">
              <a:extLst>
                <a:ext uri="{FF2B5EF4-FFF2-40B4-BE49-F238E27FC236}">
                  <a16:creationId xmlns:a16="http://schemas.microsoft.com/office/drawing/2014/main" id="{3C61B0BB-07EC-4D40-BF9D-3ACEC3397C29}"/>
                </a:ext>
              </a:extLst>
            </p:cNvPr>
            <p:cNvSpPr>
              <a:spLocks/>
            </p:cNvSpPr>
            <p:nvPr/>
          </p:nvSpPr>
          <p:spPr bwMode="auto">
            <a:xfrm>
              <a:off x="4179" y="3518"/>
              <a:ext cx="537" cy="310"/>
            </a:xfrm>
            <a:custGeom>
              <a:avLst/>
              <a:gdLst>
                <a:gd name="T0" fmla="*/ 12 w 1074"/>
                <a:gd name="T1" fmla="*/ 0 h 620"/>
                <a:gd name="T2" fmla="*/ 147 w 1074"/>
                <a:gd name="T3" fmla="*/ 86 h 620"/>
                <a:gd name="T4" fmla="*/ 299 w 1074"/>
                <a:gd name="T5" fmla="*/ 152 h 620"/>
                <a:gd name="T6" fmla="*/ 393 w 1074"/>
                <a:gd name="T7" fmla="*/ 237 h 620"/>
                <a:gd name="T8" fmla="*/ 506 w 1074"/>
                <a:gd name="T9" fmla="*/ 288 h 620"/>
                <a:gd name="T10" fmla="*/ 538 w 1074"/>
                <a:gd name="T11" fmla="*/ 288 h 620"/>
                <a:gd name="T12" fmla="*/ 512 w 1074"/>
                <a:gd name="T13" fmla="*/ 310 h 620"/>
                <a:gd name="T14" fmla="*/ 352 w 1074"/>
                <a:gd name="T15" fmla="*/ 277 h 620"/>
                <a:gd name="T16" fmla="*/ 211 w 1074"/>
                <a:gd name="T17" fmla="*/ 149 h 620"/>
                <a:gd name="T18" fmla="*/ 127 w 1074"/>
                <a:gd name="T19" fmla="*/ 103 h 620"/>
                <a:gd name="T20" fmla="*/ 0 w 1074"/>
                <a:gd name="T21" fmla="*/ 6 h 620"/>
                <a:gd name="T22" fmla="*/ 12 w 1074"/>
                <a:gd name="T23" fmla="*/ 0 h 620"/>
                <a:gd name="T24" fmla="*/ 12 w 1074"/>
                <a:gd name="T25" fmla="*/ 0 h 6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74"/>
                <a:gd name="T40" fmla="*/ 0 h 620"/>
                <a:gd name="T41" fmla="*/ 1074 w 1074"/>
                <a:gd name="T42" fmla="*/ 620 h 6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74" h="620">
                  <a:moveTo>
                    <a:pt x="23" y="0"/>
                  </a:moveTo>
                  <a:lnTo>
                    <a:pt x="293" y="173"/>
                  </a:lnTo>
                  <a:lnTo>
                    <a:pt x="597" y="304"/>
                  </a:lnTo>
                  <a:lnTo>
                    <a:pt x="785" y="475"/>
                  </a:lnTo>
                  <a:lnTo>
                    <a:pt x="1011" y="576"/>
                  </a:lnTo>
                  <a:lnTo>
                    <a:pt x="1074" y="576"/>
                  </a:lnTo>
                  <a:lnTo>
                    <a:pt x="1023" y="620"/>
                  </a:lnTo>
                  <a:lnTo>
                    <a:pt x="703" y="553"/>
                  </a:lnTo>
                  <a:lnTo>
                    <a:pt x="422" y="297"/>
                  </a:lnTo>
                  <a:lnTo>
                    <a:pt x="253" y="206"/>
                  </a:lnTo>
                  <a:lnTo>
                    <a:pt x="0" y="12"/>
                  </a:lnTo>
                  <a:lnTo>
                    <a:pt x="23" y="0"/>
                  </a:lnTo>
                  <a:close/>
                </a:path>
              </a:pathLst>
            </a:custGeom>
            <a:solidFill>
              <a:srgbClr val="E89678"/>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35" name="Freeform 33">
              <a:extLst>
                <a:ext uri="{FF2B5EF4-FFF2-40B4-BE49-F238E27FC236}">
                  <a16:creationId xmlns:a16="http://schemas.microsoft.com/office/drawing/2014/main" id="{AEB183A0-6C82-4E1C-B119-4DCF83958BF5}"/>
                </a:ext>
              </a:extLst>
            </p:cNvPr>
            <p:cNvSpPr>
              <a:spLocks/>
            </p:cNvSpPr>
            <p:nvPr/>
          </p:nvSpPr>
          <p:spPr bwMode="auto">
            <a:xfrm>
              <a:off x="4277" y="2082"/>
              <a:ext cx="549" cy="849"/>
            </a:xfrm>
            <a:custGeom>
              <a:avLst/>
              <a:gdLst>
                <a:gd name="T0" fmla="*/ 365 w 1096"/>
                <a:gd name="T1" fmla="*/ 189 h 1696"/>
                <a:gd name="T2" fmla="*/ 419 w 1096"/>
                <a:gd name="T3" fmla="*/ 257 h 1696"/>
                <a:gd name="T4" fmla="*/ 419 w 1096"/>
                <a:gd name="T5" fmla="*/ 641 h 1696"/>
                <a:gd name="T6" fmla="*/ 384 w 1096"/>
                <a:gd name="T7" fmla="*/ 783 h 1696"/>
                <a:gd name="T8" fmla="*/ 416 w 1096"/>
                <a:gd name="T9" fmla="*/ 728 h 1696"/>
                <a:gd name="T10" fmla="*/ 445 w 1096"/>
                <a:gd name="T11" fmla="*/ 630 h 1696"/>
                <a:gd name="T12" fmla="*/ 487 w 1096"/>
                <a:gd name="T13" fmla="*/ 608 h 1696"/>
                <a:gd name="T14" fmla="*/ 494 w 1096"/>
                <a:gd name="T15" fmla="*/ 641 h 1696"/>
                <a:gd name="T16" fmla="*/ 442 w 1096"/>
                <a:gd name="T17" fmla="*/ 802 h 1696"/>
                <a:gd name="T18" fmla="*/ 406 w 1096"/>
                <a:gd name="T19" fmla="*/ 832 h 1696"/>
                <a:gd name="T20" fmla="*/ 374 w 1096"/>
                <a:gd name="T21" fmla="*/ 813 h 1696"/>
                <a:gd name="T22" fmla="*/ 361 w 1096"/>
                <a:gd name="T23" fmla="*/ 845 h 1696"/>
                <a:gd name="T24" fmla="*/ 406 w 1096"/>
                <a:gd name="T25" fmla="*/ 848 h 1696"/>
                <a:gd name="T26" fmla="*/ 452 w 1096"/>
                <a:gd name="T27" fmla="*/ 809 h 1696"/>
                <a:gd name="T28" fmla="*/ 510 w 1096"/>
                <a:gd name="T29" fmla="*/ 630 h 1696"/>
                <a:gd name="T30" fmla="*/ 549 w 1096"/>
                <a:gd name="T31" fmla="*/ 530 h 1696"/>
                <a:gd name="T32" fmla="*/ 520 w 1096"/>
                <a:gd name="T33" fmla="*/ 387 h 1696"/>
                <a:gd name="T34" fmla="*/ 520 w 1096"/>
                <a:gd name="T35" fmla="*/ 240 h 1696"/>
                <a:gd name="T36" fmla="*/ 491 w 1096"/>
                <a:gd name="T37" fmla="*/ 176 h 1696"/>
                <a:gd name="T38" fmla="*/ 491 w 1096"/>
                <a:gd name="T39" fmla="*/ 374 h 1696"/>
                <a:gd name="T40" fmla="*/ 523 w 1096"/>
                <a:gd name="T41" fmla="*/ 533 h 1696"/>
                <a:gd name="T42" fmla="*/ 439 w 1096"/>
                <a:gd name="T43" fmla="*/ 445 h 1696"/>
                <a:gd name="T44" fmla="*/ 478 w 1096"/>
                <a:gd name="T45" fmla="*/ 422 h 1696"/>
                <a:gd name="T46" fmla="*/ 439 w 1096"/>
                <a:gd name="T47" fmla="*/ 325 h 1696"/>
                <a:gd name="T48" fmla="*/ 439 w 1096"/>
                <a:gd name="T49" fmla="*/ 277 h 1696"/>
                <a:gd name="T50" fmla="*/ 475 w 1096"/>
                <a:gd name="T51" fmla="*/ 293 h 1696"/>
                <a:gd name="T52" fmla="*/ 413 w 1096"/>
                <a:gd name="T53" fmla="*/ 160 h 1696"/>
                <a:gd name="T54" fmla="*/ 471 w 1096"/>
                <a:gd name="T55" fmla="*/ 160 h 1696"/>
                <a:gd name="T56" fmla="*/ 425 w 1096"/>
                <a:gd name="T57" fmla="*/ 114 h 1696"/>
                <a:gd name="T58" fmla="*/ 393 w 1096"/>
                <a:gd name="T59" fmla="*/ 0 h 1696"/>
                <a:gd name="T60" fmla="*/ 358 w 1096"/>
                <a:gd name="T61" fmla="*/ 120 h 1696"/>
                <a:gd name="T62" fmla="*/ 319 w 1096"/>
                <a:gd name="T63" fmla="*/ 153 h 1696"/>
                <a:gd name="T64" fmla="*/ 277 w 1096"/>
                <a:gd name="T65" fmla="*/ 101 h 1696"/>
                <a:gd name="T66" fmla="*/ 214 w 1096"/>
                <a:gd name="T67" fmla="*/ 114 h 1696"/>
                <a:gd name="T68" fmla="*/ 133 w 1096"/>
                <a:gd name="T69" fmla="*/ 150 h 1696"/>
                <a:gd name="T70" fmla="*/ 0 w 1096"/>
                <a:gd name="T71" fmla="*/ 195 h 1696"/>
                <a:gd name="T72" fmla="*/ 143 w 1096"/>
                <a:gd name="T73" fmla="*/ 179 h 1696"/>
                <a:gd name="T74" fmla="*/ 254 w 1096"/>
                <a:gd name="T75" fmla="*/ 160 h 1696"/>
                <a:gd name="T76" fmla="*/ 365 w 1096"/>
                <a:gd name="T77" fmla="*/ 189 h 1696"/>
                <a:gd name="T78" fmla="*/ 365 w 1096"/>
                <a:gd name="T79" fmla="*/ 189 h 169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096"/>
                <a:gd name="T121" fmla="*/ 0 h 1696"/>
                <a:gd name="T122" fmla="*/ 1096 w 1096"/>
                <a:gd name="T123" fmla="*/ 1696 h 169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096" h="1696">
                  <a:moveTo>
                    <a:pt x="728" y="378"/>
                  </a:moveTo>
                  <a:lnTo>
                    <a:pt x="836" y="513"/>
                  </a:lnTo>
                  <a:lnTo>
                    <a:pt x="836" y="1281"/>
                  </a:lnTo>
                  <a:lnTo>
                    <a:pt x="766" y="1566"/>
                  </a:lnTo>
                  <a:lnTo>
                    <a:pt x="830" y="1456"/>
                  </a:lnTo>
                  <a:lnTo>
                    <a:pt x="889" y="1260"/>
                  </a:lnTo>
                  <a:lnTo>
                    <a:pt x="973" y="1215"/>
                  </a:lnTo>
                  <a:lnTo>
                    <a:pt x="986" y="1281"/>
                  </a:lnTo>
                  <a:lnTo>
                    <a:pt x="882" y="1604"/>
                  </a:lnTo>
                  <a:lnTo>
                    <a:pt x="811" y="1663"/>
                  </a:lnTo>
                  <a:lnTo>
                    <a:pt x="747" y="1625"/>
                  </a:lnTo>
                  <a:lnTo>
                    <a:pt x="720" y="1690"/>
                  </a:lnTo>
                  <a:lnTo>
                    <a:pt x="811" y="1696"/>
                  </a:lnTo>
                  <a:lnTo>
                    <a:pt x="903" y="1618"/>
                  </a:lnTo>
                  <a:lnTo>
                    <a:pt x="1019" y="1260"/>
                  </a:lnTo>
                  <a:lnTo>
                    <a:pt x="1096" y="1059"/>
                  </a:lnTo>
                  <a:lnTo>
                    <a:pt x="1038" y="774"/>
                  </a:lnTo>
                  <a:lnTo>
                    <a:pt x="1038" y="481"/>
                  </a:lnTo>
                  <a:lnTo>
                    <a:pt x="981" y="352"/>
                  </a:lnTo>
                  <a:lnTo>
                    <a:pt x="981" y="747"/>
                  </a:lnTo>
                  <a:lnTo>
                    <a:pt x="1045" y="1066"/>
                  </a:lnTo>
                  <a:lnTo>
                    <a:pt x="876" y="890"/>
                  </a:lnTo>
                  <a:lnTo>
                    <a:pt x="954" y="844"/>
                  </a:lnTo>
                  <a:lnTo>
                    <a:pt x="876" y="650"/>
                  </a:lnTo>
                  <a:lnTo>
                    <a:pt x="876" y="553"/>
                  </a:lnTo>
                  <a:lnTo>
                    <a:pt x="948" y="586"/>
                  </a:lnTo>
                  <a:lnTo>
                    <a:pt x="825" y="319"/>
                  </a:lnTo>
                  <a:lnTo>
                    <a:pt x="941" y="319"/>
                  </a:lnTo>
                  <a:lnTo>
                    <a:pt x="849" y="228"/>
                  </a:lnTo>
                  <a:lnTo>
                    <a:pt x="785" y="0"/>
                  </a:lnTo>
                  <a:lnTo>
                    <a:pt x="714" y="240"/>
                  </a:lnTo>
                  <a:lnTo>
                    <a:pt x="636" y="306"/>
                  </a:lnTo>
                  <a:lnTo>
                    <a:pt x="553" y="202"/>
                  </a:lnTo>
                  <a:lnTo>
                    <a:pt x="427" y="228"/>
                  </a:lnTo>
                  <a:lnTo>
                    <a:pt x="266" y="299"/>
                  </a:lnTo>
                  <a:lnTo>
                    <a:pt x="0" y="390"/>
                  </a:lnTo>
                  <a:lnTo>
                    <a:pt x="285" y="357"/>
                  </a:lnTo>
                  <a:lnTo>
                    <a:pt x="507" y="319"/>
                  </a:lnTo>
                  <a:lnTo>
                    <a:pt x="728" y="378"/>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36" name="Freeform 34">
              <a:extLst>
                <a:ext uri="{FF2B5EF4-FFF2-40B4-BE49-F238E27FC236}">
                  <a16:creationId xmlns:a16="http://schemas.microsoft.com/office/drawing/2014/main" id="{21A356FA-02EF-4F89-8D66-E2ECA2645258}"/>
                </a:ext>
              </a:extLst>
            </p:cNvPr>
            <p:cNvSpPr>
              <a:spLocks/>
            </p:cNvSpPr>
            <p:nvPr/>
          </p:nvSpPr>
          <p:spPr bwMode="auto">
            <a:xfrm>
              <a:off x="3864" y="1985"/>
              <a:ext cx="733" cy="743"/>
            </a:xfrm>
            <a:custGeom>
              <a:avLst/>
              <a:gdLst>
                <a:gd name="T0" fmla="*/ 130 w 1467"/>
                <a:gd name="T1" fmla="*/ 185 h 1487"/>
                <a:gd name="T2" fmla="*/ 169 w 1467"/>
                <a:gd name="T3" fmla="*/ 122 h 1487"/>
                <a:gd name="T4" fmla="*/ 321 w 1467"/>
                <a:gd name="T5" fmla="*/ 55 h 1487"/>
                <a:gd name="T6" fmla="*/ 448 w 1467"/>
                <a:gd name="T7" fmla="*/ 0 h 1487"/>
                <a:gd name="T8" fmla="*/ 734 w 1467"/>
                <a:gd name="T9" fmla="*/ 64 h 1487"/>
                <a:gd name="T10" fmla="*/ 461 w 1467"/>
                <a:gd name="T11" fmla="*/ 45 h 1487"/>
                <a:gd name="T12" fmla="*/ 530 w 1467"/>
                <a:gd name="T13" fmla="*/ 103 h 1487"/>
                <a:gd name="T14" fmla="*/ 387 w 1467"/>
                <a:gd name="T15" fmla="*/ 120 h 1487"/>
                <a:gd name="T16" fmla="*/ 266 w 1467"/>
                <a:gd name="T17" fmla="*/ 133 h 1487"/>
                <a:gd name="T18" fmla="*/ 360 w 1467"/>
                <a:gd name="T19" fmla="*/ 172 h 1487"/>
                <a:gd name="T20" fmla="*/ 260 w 1467"/>
                <a:gd name="T21" fmla="*/ 234 h 1487"/>
                <a:gd name="T22" fmla="*/ 458 w 1467"/>
                <a:gd name="T23" fmla="*/ 211 h 1487"/>
                <a:gd name="T24" fmla="*/ 328 w 1467"/>
                <a:gd name="T25" fmla="*/ 269 h 1487"/>
                <a:gd name="T26" fmla="*/ 208 w 1467"/>
                <a:gd name="T27" fmla="*/ 292 h 1487"/>
                <a:gd name="T28" fmla="*/ 179 w 1467"/>
                <a:gd name="T29" fmla="*/ 428 h 1487"/>
                <a:gd name="T30" fmla="*/ 127 w 1467"/>
                <a:gd name="T31" fmla="*/ 519 h 1487"/>
                <a:gd name="T32" fmla="*/ 101 w 1467"/>
                <a:gd name="T33" fmla="*/ 743 h 1487"/>
                <a:gd name="T34" fmla="*/ 71 w 1467"/>
                <a:gd name="T35" fmla="*/ 672 h 1487"/>
                <a:gd name="T36" fmla="*/ 71 w 1467"/>
                <a:gd name="T37" fmla="*/ 584 h 1487"/>
                <a:gd name="T38" fmla="*/ 16 w 1467"/>
                <a:gd name="T39" fmla="*/ 552 h 1487"/>
                <a:gd name="T40" fmla="*/ 0 w 1467"/>
                <a:gd name="T41" fmla="*/ 477 h 1487"/>
                <a:gd name="T42" fmla="*/ 89 w 1467"/>
                <a:gd name="T43" fmla="*/ 441 h 1487"/>
                <a:gd name="T44" fmla="*/ 49 w 1467"/>
                <a:gd name="T45" fmla="*/ 532 h 1487"/>
                <a:gd name="T46" fmla="*/ 101 w 1467"/>
                <a:gd name="T47" fmla="*/ 490 h 1487"/>
                <a:gd name="T48" fmla="*/ 160 w 1467"/>
                <a:gd name="T49" fmla="*/ 392 h 1487"/>
                <a:gd name="T50" fmla="*/ 188 w 1467"/>
                <a:gd name="T51" fmla="*/ 301 h 1487"/>
                <a:gd name="T52" fmla="*/ 124 w 1467"/>
                <a:gd name="T53" fmla="*/ 380 h 1487"/>
                <a:gd name="T54" fmla="*/ 39 w 1467"/>
                <a:gd name="T55" fmla="*/ 418 h 1487"/>
                <a:gd name="T56" fmla="*/ 75 w 1467"/>
                <a:gd name="T57" fmla="*/ 286 h 1487"/>
                <a:gd name="T58" fmla="*/ 130 w 1467"/>
                <a:gd name="T59" fmla="*/ 220 h 1487"/>
                <a:gd name="T60" fmla="*/ 130 w 1467"/>
                <a:gd name="T61" fmla="*/ 185 h 1487"/>
                <a:gd name="T62" fmla="*/ 130 w 1467"/>
                <a:gd name="T63" fmla="*/ 185 h 148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467"/>
                <a:gd name="T97" fmla="*/ 0 h 1487"/>
                <a:gd name="T98" fmla="*/ 1467 w 1467"/>
                <a:gd name="T99" fmla="*/ 1487 h 148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467" h="1487">
                  <a:moveTo>
                    <a:pt x="260" y="371"/>
                  </a:moveTo>
                  <a:lnTo>
                    <a:pt x="338" y="245"/>
                  </a:lnTo>
                  <a:lnTo>
                    <a:pt x="642" y="110"/>
                  </a:lnTo>
                  <a:lnTo>
                    <a:pt x="895" y="0"/>
                  </a:lnTo>
                  <a:lnTo>
                    <a:pt x="1467" y="129"/>
                  </a:lnTo>
                  <a:lnTo>
                    <a:pt x="922" y="90"/>
                  </a:lnTo>
                  <a:lnTo>
                    <a:pt x="1059" y="207"/>
                  </a:lnTo>
                  <a:lnTo>
                    <a:pt x="774" y="240"/>
                  </a:lnTo>
                  <a:lnTo>
                    <a:pt x="532" y="266"/>
                  </a:lnTo>
                  <a:lnTo>
                    <a:pt x="720" y="344"/>
                  </a:lnTo>
                  <a:lnTo>
                    <a:pt x="519" y="468"/>
                  </a:lnTo>
                  <a:lnTo>
                    <a:pt x="916" y="422"/>
                  </a:lnTo>
                  <a:lnTo>
                    <a:pt x="656" y="538"/>
                  </a:lnTo>
                  <a:lnTo>
                    <a:pt x="416" y="584"/>
                  </a:lnTo>
                  <a:lnTo>
                    <a:pt x="357" y="857"/>
                  </a:lnTo>
                  <a:lnTo>
                    <a:pt x="253" y="1038"/>
                  </a:lnTo>
                  <a:lnTo>
                    <a:pt x="201" y="1487"/>
                  </a:lnTo>
                  <a:lnTo>
                    <a:pt x="142" y="1344"/>
                  </a:lnTo>
                  <a:lnTo>
                    <a:pt x="142" y="1169"/>
                  </a:lnTo>
                  <a:lnTo>
                    <a:pt x="32" y="1105"/>
                  </a:lnTo>
                  <a:lnTo>
                    <a:pt x="0" y="954"/>
                  </a:lnTo>
                  <a:lnTo>
                    <a:pt x="177" y="882"/>
                  </a:lnTo>
                  <a:lnTo>
                    <a:pt x="97" y="1065"/>
                  </a:lnTo>
                  <a:lnTo>
                    <a:pt x="201" y="981"/>
                  </a:lnTo>
                  <a:lnTo>
                    <a:pt x="319" y="785"/>
                  </a:lnTo>
                  <a:lnTo>
                    <a:pt x="376" y="603"/>
                  </a:lnTo>
                  <a:lnTo>
                    <a:pt x="247" y="761"/>
                  </a:lnTo>
                  <a:lnTo>
                    <a:pt x="78" y="837"/>
                  </a:lnTo>
                  <a:lnTo>
                    <a:pt x="150" y="572"/>
                  </a:lnTo>
                  <a:lnTo>
                    <a:pt x="260" y="441"/>
                  </a:lnTo>
                  <a:lnTo>
                    <a:pt x="260" y="371"/>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37" name="Freeform 35">
              <a:extLst>
                <a:ext uri="{FF2B5EF4-FFF2-40B4-BE49-F238E27FC236}">
                  <a16:creationId xmlns:a16="http://schemas.microsoft.com/office/drawing/2014/main" id="{4E97939A-EDEE-48A7-B0B2-1812B1153415}"/>
                </a:ext>
              </a:extLst>
            </p:cNvPr>
            <p:cNvSpPr>
              <a:spLocks/>
            </p:cNvSpPr>
            <p:nvPr/>
          </p:nvSpPr>
          <p:spPr bwMode="auto">
            <a:xfrm>
              <a:off x="4391" y="2246"/>
              <a:ext cx="234" cy="79"/>
            </a:xfrm>
            <a:custGeom>
              <a:avLst/>
              <a:gdLst>
                <a:gd name="T0" fmla="*/ 182 w 465"/>
                <a:gd name="T1" fmla="*/ 0 h 156"/>
                <a:gd name="T2" fmla="*/ 129 w 465"/>
                <a:gd name="T3" fmla="*/ 10 h 156"/>
                <a:gd name="T4" fmla="*/ 55 w 465"/>
                <a:gd name="T5" fmla="*/ 55 h 156"/>
                <a:gd name="T6" fmla="*/ 0 w 465"/>
                <a:gd name="T7" fmla="*/ 78 h 156"/>
                <a:gd name="T8" fmla="*/ 78 w 465"/>
                <a:gd name="T9" fmla="*/ 75 h 156"/>
                <a:gd name="T10" fmla="*/ 152 w 465"/>
                <a:gd name="T11" fmla="*/ 49 h 156"/>
                <a:gd name="T12" fmla="*/ 233 w 465"/>
                <a:gd name="T13" fmla="*/ 3 h 156"/>
                <a:gd name="T14" fmla="*/ 182 w 465"/>
                <a:gd name="T15" fmla="*/ 0 h 156"/>
                <a:gd name="T16" fmla="*/ 182 w 465"/>
                <a:gd name="T17" fmla="*/ 0 h 1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5"/>
                <a:gd name="T28" fmla="*/ 0 h 156"/>
                <a:gd name="T29" fmla="*/ 465 w 465"/>
                <a:gd name="T30" fmla="*/ 156 h 1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5" h="156">
                  <a:moveTo>
                    <a:pt x="363" y="0"/>
                  </a:moveTo>
                  <a:lnTo>
                    <a:pt x="258" y="21"/>
                  </a:lnTo>
                  <a:lnTo>
                    <a:pt x="110" y="110"/>
                  </a:lnTo>
                  <a:lnTo>
                    <a:pt x="0" y="156"/>
                  </a:lnTo>
                  <a:lnTo>
                    <a:pt x="156" y="150"/>
                  </a:lnTo>
                  <a:lnTo>
                    <a:pt x="304" y="99"/>
                  </a:lnTo>
                  <a:lnTo>
                    <a:pt x="465" y="7"/>
                  </a:lnTo>
                  <a:lnTo>
                    <a:pt x="363" y="0"/>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38" name="Freeform 36">
              <a:extLst>
                <a:ext uri="{FF2B5EF4-FFF2-40B4-BE49-F238E27FC236}">
                  <a16:creationId xmlns:a16="http://schemas.microsoft.com/office/drawing/2014/main" id="{E3CA69A9-26F3-4D18-8018-7BFE6C742026}"/>
                </a:ext>
              </a:extLst>
            </p:cNvPr>
            <p:cNvSpPr>
              <a:spLocks/>
            </p:cNvSpPr>
            <p:nvPr/>
          </p:nvSpPr>
          <p:spPr bwMode="auto">
            <a:xfrm>
              <a:off x="4567" y="2251"/>
              <a:ext cx="100" cy="85"/>
            </a:xfrm>
            <a:custGeom>
              <a:avLst/>
              <a:gdLst>
                <a:gd name="T0" fmla="*/ 39 w 202"/>
                <a:gd name="T1" fmla="*/ 3 h 170"/>
                <a:gd name="T2" fmla="*/ 33 w 202"/>
                <a:gd name="T3" fmla="*/ 36 h 170"/>
                <a:gd name="T4" fmla="*/ 0 w 202"/>
                <a:gd name="T5" fmla="*/ 85 h 170"/>
                <a:gd name="T6" fmla="*/ 65 w 202"/>
                <a:gd name="T7" fmla="*/ 51 h 170"/>
                <a:gd name="T8" fmla="*/ 101 w 202"/>
                <a:gd name="T9" fmla="*/ 0 h 170"/>
                <a:gd name="T10" fmla="*/ 39 w 202"/>
                <a:gd name="T11" fmla="*/ 3 h 170"/>
                <a:gd name="T12" fmla="*/ 39 w 202"/>
                <a:gd name="T13" fmla="*/ 3 h 170"/>
                <a:gd name="T14" fmla="*/ 0 60000 65536"/>
                <a:gd name="T15" fmla="*/ 0 60000 65536"/>
                <a:gd name="T16" fmla="*/ 0 60000 65536"/>
                <a:gd name="T17" fmla="*/ 0 60000 65536"/>
                <a:gd name="T18" fmla="*/ 0 60000 65536"/>
                <a:gd name="T19" fmla="*/ 0 60000 65536"/>
                <a:gd name="T20" fmla="*/ 0 60000 65536"/>
                <a:gd name="T21" fmla="*/ 0 w 202"/>
                <a:gd name="T22" fmla="*/ 0 h 170"/>
                <a:gd name="T23" fmla="*/ 202 w 202"/>
                <a:gd name="T24" fmla="*/ 170 h 1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70">
                  <a:moveTo>
                    <a:pt x="78" y="6"/>
                  </a:moveTo>
                  <a:lnTo>
                    <a:pt x="65" y="71"/>
                  </a:lnTo>
                  <a:lnTo>
                    <a:pt x="0" y="170"/>
                  </a:lnTo>
                  <a:lnTo>
                    <a:pt x="130" y="103"/>
                  </a:lnTo>
                  <a:lnTo>
                    <a:pt x="202" y="0"/>
                  </a:lnTo>
                  <a:lnTo>
                    <a:pt x="78" y="6"/>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39" name="Freeform 37">
              <a:extLst>
                <a:ext uri="{FF2B5EF4-FFF2-40B4-BE49-F238E27FC236}">
                  <a16:creationId xmlns:a16="http://schemas.microsoft.com/office/drawing/2014/main" id="{85D176C5-F443-4000-A680-211B977D96BE}"/>
                </a:ext>
              </a:extLst>
            </p:cNvPr>
            <p:cNvSpPr>
              <a:spLocks/>
            </p:cNvSpPr>
            <p:nvPr/>
          </p:nvSpPr>
          <p:spPr bwMode="auto">
            <a:xfrm>
              <a:off x="3861" y="2556"/>
              <a:ext cx="312" cy="628"/>
            </a:xfrm>
            <a:custGeom>
              <a:avLst/>
              <a:gdLst>
                <a:gd name="T0" fmla="*/ 0 w 624"/>
                <a:gd name="T1" fmla="*/ 0 h 1254"/>
                <a:gd name="T2" fmla="*/ 3 w 624"/>
                <a:gd name="T3" fmla="*/ 202 h 1254"/>
                <a:gd name="T4" fmla="*/ 65 w 624"/>
                <a:gd name="T5" fmla="*/ 270 h 1254"/>
                <a:gd name="T6" fmla="*/ 101 w 624"/>
                <a:gd name="T7" fmla="*/ 277 h 1254"/>
                <a:gd name="T8" fmla="*/ 107 w 624"/>
                <a:gd name="T9" fmla="*/ 406 h 1254"/>
                <a:gd name="T10" fmla="*/ 84 w 624"/>
                <a:gd name="T11" fmla="*/ 459 h 1254"/>
                <a:gd name="T12" fmla="*/ 110 w 624"/>
                <a:gd name="T13" fmla="*/ 550 h 1254"/>
                <a:gd name="T14" fmla="*/ 197 w 624"/>
                <a:gd name="T15" fmla="*/ 628 h 1254"/>
                <a:gd name="T16" fmla="*/ 126 w 624"/>
                <a:gd name="T17" fmla="*/ 530 h 1254"/>
                <a:gd name="T18" fmla="*/ 126 w 624"/>
                <a:gd name="T19" fmla="*/ 436 h 1254"/>
                <a:gd name="T20" fmla="*/ 250 w 624"/>
                <a:gd name="T21" fmla="*/ 589 h 1254"/>
                <a:gd name="T22" fmla="*/ 312 w 624"/>
                <a:gd name="T23" fmla="*/ 569 h 1254"/>
                <a:gd name="T24" fmla="*/ 236 w 624"/>
                <a:gd name="T25" fmla="*/ 543 h 1254"/>
                <a:gd name="T26" fmla="*/ 133 w 624"/>
                <a:gd name="T27" fmla="*/ 384 h 1254"/>
                <a:gd name="T28" fmla="*/ 103 w 624"/>
                <a:gd name="T29" fmla="*/ 198 h 1254"/>
                <a:gd name="T30" fmla="*/ 94 w 624"/>
                <a:gd name="T31" fmla="*/ 238 h 1254"/>
                <a:gd name="T32" fmla="*/ 65 w 624"/>
                <a:gd name="T33" fmla="*/ 238 h 1254"/>
                <a:gd name="T34" fmla="*/ 23 w 624"/>
                <a:gd name="T35" fmla="*/ 188 h 1254"/>
                <a:gd name="T36" fmla="*/ 0 w 624"/>
                <a:gd name="T37" fmla="*/ 0 h 1254"/>
                <a:gd name="T38" fmla="*/ 0 w 624"/>
                <a:gd name="T39" fmla="*/ 0 h 125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24"/>
                <a:gd name="T61" fmla="*/ 0 h 1254"/>
                <a:gd name="T62" fmla="*/ 624 w 624"/>
                <a:gd name="T63" fmla="*/ 1254 h 125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24" h="1254">
                  <a:moveTo>
                    <a:pt x="0" y="0"/>
                  </a:moveTo>
                  <a:lnTo>
                    <a:pt x="6" y="403"/>
                  </a:lnTo>
                  <a:lnTo>
                    <a:pt x="129" y="539"/>
                  </a:lnTo>
                  <a:lnTo>
                    <a:pt x="202" y="553"/>
                  </a:lnTo>
                  <a:lnTo>
                    <a:pt x="215" y="811"/>
                  </a:lnTo>
                  <a:lnTo>
                    <a:pt x="169" y="916"/>
                  </a:lnTo>
                  <a:lnTo>
                    <a:pt x="221" y="1098"/>
                  </a:lnTo>
                  <a:lnTo>
                    <a:pt x="395" y="1254"/>
                  </a:lnTo>
                  <a:lnTo>
                    <a:pt x="253" y="1058"/>
                  </a:lnTo>
                  <a:lnTo>
                    <a:pt x="253" y="870"/>
                  </a:lnTo>
                  <a:lnTo>
                    <a:pt x="500" y="1176"/>
                  </a:lnTo>
                  <a:lnTo>
                    <a:pt x="624" y="1136"/>
                  </a:lnTo>
                  <a:lnTo>
                    <a:pt x="473" y="1085"/>
                  </a:lnTo>
                  <a:lnTo>
                    <a:pt x="266" y="766"/>
                  </a:lnTo>
                  <a:lnTo>
                    <a:pt x="207" y="395"/>
                  </a:lnTo>
                  <a:lnTo>
                    <a:pt x="188" y="475"/>
                  </a:lnTo>
                  <a:lnTo>
                    <a:pt x="129" y="475"/>
                  </a:lnTo>
                  <a:lnTo>
                    <a:pt x="46" y="376"/>
                  </a:lnTo>
                  <a:lnTo>
                    <a:pt x="0" y="0"/>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40" name="Freeform 38">
              <a:extLst>
                <a:ext uri="{FF2B5EF4-FFF2-40B4-BE49-F238E27FC236}">
                  <a16:creationId xmlns:a16="http://schemas.microsoft.com/office/drawing/2014/main" id="{CB123BD4-F310-46E6-81D1-4CE4CE0B406B}"/>
                </a:ext>
              </a:extLst>
            </p:cNvPr>
            <p:cNvSpPr>
              <a:spLocks/>
            </p:cNvSpPr>
            <p:nvPr/>
          </p:nvSpPr>
          <p:spPr bwMode="auto">
            <a:xfrm>
              <a:off x="3886" y="2572"/>
              <a:ext cx="61" cy="110"/>
            </a:xfrm>
            <a:custGeom>
              <a:avLst/>
              <a:gdLst>
                <a:gd name="T0" fmla="*/ 61 w 124"/>
                <a:gd name="T1" fmla="*/ 36 h 220"/>
                <a:gd name="T2" fmla="*/ 3 w 124"/>
                <a:gd name="T3" fmla="*/ 0 h 220"/>
                <a:gd name="T4" fmla="*/ 16 w 124"/>
                <a:gd name="T5" fmla="*/ 36 h 220"/>
                <a:gd name="T6" fmla="*/ 0 w 124"/>
                <a:gd name="T7" fmla="*/ 111 h 220"/>
                <a:gd name="T8" fmla="*/ 29 w 124"/>
                <a:gd name="T9" fmla="*/ 50 h 220"/>
                <a:gd name="T10" fmla="*/ 61 w 124"/>
                <a:gd name="T11" fmla="*/ 85 h 220"/>
                <a:gd name="T12" fmla="*/ 61 w 124"/>
                <a:gd name="T13" fmla="*/ 36 h 220"/>
                <a:gd name="T14" fmla="*/ 61 w 124"/>
                <a:gd name="T15" fmla="*/ 36 h 220"/>
                <a:gd name="T16" fmla="*/ 0 60000 65536"/>
                <a:gd name="T17" fmla="*/ 0 60000 65536"/>
                <a:gd name="T18" fmla="*/ 0 60000 65536"/>
                <a:gd name="T19" fmla="*/ 0 60000 65536"/>
                <a:gd name="T20" fmla="*/ 0 60000 65536"/>
                <a:gd name="T21" fmla="*/ 0 60000 65536"/>
                <a:gd name="T22" fmla="*/ 0 60000 65536"/>
                <a:gd name="T23" fmla="*/ 0 60000 65536"/>
                <a:gd name="T24" fmla="*/ 0 w 124"/>
                <a:gd name="T25" fmla="*/ 0 h 220"/>
                <a:gd name="T26" fmla="*/ 124 w 124"/>
                <a:gd name="T27" fmla="*/ 220 h 22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4" h="220">
                  <a:moveTo>
                    <a:pt x="124" y="72"/>
                  </a:moveTo>
                  <a:lnTo>
                    <a:pt x="6" y="0"/>
                  </a:lnTo>
                  <a:lnTo>
                    <a:pt x="33" y="72"/>
                  </a:lnTo>
                  <a:lnTo>
                    <a:pt x="0" y="220"/>
                  </a:lnTo>
                  <a:lnTo>
                    <a:pt x="59" y="99"/>
                  </a:lnTo>
                  <a:lnTo>
                    <a:pt x="124" y="169"/>
                  </a:lnTo>
                  <a:lnTo>
                    <a:pt x="124" y="72"/>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41" name="Freeform 39">
              <a:extLst>
                <a:ext uri="{FF2B5EF4-FFF2-40B4-BE49-F238E27FC236}">
                  <a16:creationId xmlns:a16="http://schemas.microsoft.com/office/drawing/2014/main" id="{36BD442C-6F0D-41A4-A272-69A2B49F3D5D}"/>
                </a:ext>
              </a:extLst>
            </p:cNvPr>
            <p:cNvSpPr>
              <a:spLocks/>
            </p:cNvSpPr>
            <p:nvPr/>
          </p:nvSpPr>
          <p:spPr bwMode="auto">
            <a:xfrm>
              <a:off x="3912" y="2648"/>
              <a:ext cx="36" cy="63"/>
            </a:xfrm>
            <a:custGeom>
              <a:avLst/>
              <a:gdLst>
                <a:gd name="T0" fmla="*/ 29 w 72"/>
                <a:gd name="T1" fmla="*/ 0 h 129"/>
                <a:gd name="T2" fmla="*/ 0 w 72"/>
                <a:gd name="T3" fmla="*/ 19 h 129"/>
                <a:gd name="T4" fmla="*/ 0 w 72"/>
                <a:gd name="T5" fmla="*/ 51 h 129"/>
                <a:gd name="T6" fmla="*/ 29 w 72"/>
                <a:gd name="T7" fmla="*/ 64 h 129"/>
                <a:gd name="T8" fmla="*/ 36 w 72"/>
                <a:gd name="T9" fmla="*/ 23 h 129"/>
                <a:gd name="T10" fmla="*/ 29 w 72"/>
                <a:gd name="T11" fmla="*/ 0 h 129"/>
                <a:gd name="T12" fmla="*/ 29 w 72"/>
                <a:gd name="T13" fmla="*/ 0 h 129"/>
                <a:gd name="T14" fmla="*/ 0 60000 65536"/>
                <a:gd name="T15" fmla="*/ 0 60000 65536"/>
                <a:gd name="T16" fmla="*/ 0 60000 65536"/>
                <a:gd name="T17" fmla="*/ 0 60000 65536"/>
                <a:gd name="T18" fmla="*/ 0 60000 65536"/>
                <a:gd name="T19" fmla="*/ 0 60000 65536"/>
                <a:gd name="T20" fmla="*/ 0 60000 65536"/>
                <a:gd name="T21" fmla="*/ 0 w 72"/>
                <a:gd name="T22" fmla="*/ 0 h 129"/>
                <a:gd name="T23" fmla="*/ 72 w 72"/>
                <a:gd name="T24" fmla="*/ 129 h 1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2" h="129">
                  <a:moveTo>
                    <a:pt x="59" y="0"/>
                  </a:moveTo>
                  <a:lnTo>
                    <a:pt x="0" y="38"/>
                  </a:lnTo>
                  <a:lnTo>
                    <a:pt x="0" y="103"/>
                  </a:lnTo>
                  <a:lnTo>
                    <a:pt x="59" y="129"/>
                  </a:lnTo>
                  <a:lnTo>
                    <a:pt x="72" y="46"/>
                  </a:lnTo>
                  <a:lnTo>
                    <a:pt x="59" y="0"/>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42" name="Freeform 40">
              <a:extLst>
                <a:ext uri="{FF2B5EF4-FFF2-40B4-BE49-F238E27FC236}">
                  <a16:creationId xmlns:a16="http://schemas.microsoft.com/office/drawing/2014/main" id="{9E5BE20F-177D-4208-91B7-E1153E0D318D}"/>
                </a:ext>
              </a:extLst>
            </p:cNvPr>
            <p:cNvSpPr>
              <a:spLocks/>
            </p:cNvSpPr>
            <p:nvPr/>
          </p:nvSpPr>
          <p:spPr bwMode="auto">
            <a:xfrm>
              <a:off x="4204" y="2511"/>
              <a:ext cx="129" cy="48"/>
            </a:xfrm>
            <a:custGeom>
              <a:avLst/>
              <a:gdLst>
                <a:gd name="T0" fmla="*/ 0 w 259"/>
                <a:gd name="T1" fmla="*/ 7 h 97"/>
                <a:gd name="T2" fmla="*/ 62 w 259"/>
                <a:gd name="T3" fmla="*/ 48 h 97"/>
                <a:gd name="T4" fmla="*/ 129 w 259"/>
                <a:gd name="T5" fmla="*/ 23 h 97"/>
                <a:gd name="T6" fmla="*/ 29 w 259"/>
                <a:gd name="T7" fmla="*/ 0 h 97"/>
                <a:gd name="T8" fmla="*/ 0 w 259"/>
                <a:gd name="T9" fmla="*/ 7 h 97"/>
                <a:gd name="T10" fmla="*/ 0 w 259"/>
                <a:gd name="T11" fmla="*/ 7 h 97"/>
                <a:gd name="T12" fmla="*/ 0 60000 65536"/>
                <a:gd name="T13" fmla="*/ 0 60000 65536"/>
                <a:gd name="T14" fmla="*/ 0 60000 65536"/>
                <a:gd name="T15" fmla="*/ 0 60000 65536"/>
                <a:gd name="T16" fmla="*/ 0 60000 65536"/>
                <a:gd name="T17" fmla="*/ 0 60000 65536"/>
                <a:gd name="T18" fmla="*/ 0 w 259"/>
                <a:gd name="T19" fmla="*/ 0 h 97"/>
                <a:gd name="T20" fmla="*/ 259 w 259"/>
                <a:gd name="T21" fmla="*/ 97 h 97"/>
              </a:gdLst>
              <a:ahLst/>
              <a:cxnLst>
                <a:cxn ang="T12">
                  <a:pos x="T0" y="T1"/>
                </a:cxn>
                <a:cxn ang="T13">
                  <a:pos x="T2" y="T3"/>
                </a:cxn>
                <a:cxn ang="T14">
                  <a:pos x="T4" y="T5"/>
                </a:cxn>
                <a:cxn ang="T15">
                  <a:pos x="T6" y="T7"/>
                </a:cxn>
                <a:cxn ang="T16">
                  <a:pos x="T8" y="T9"/>
                </a:cxn>
                <a:cxn ang="T17">
                  <a:pos x="T10" y="T11"/>
                </a:cxn>
              </a:cxnLst>
              <a:rect l="T18" t="T19" r="T20" b="T21"/>
              <a:pathLst>
                <a:path w="259" h="97">
                  <a:moveTo>
                    <a:pt x="0" y="14"/>
                  </a:moveTo>
                  <a:lnTo>
                    <a:pt x="124" y="97"/>
                  </a:lnTo>
                  <a:lnTo>
                    <a:pt x="259" y="46"/>
                  </a:lnTo>
                  <a:lnTo>
                    <a:pt x="59" y="0"/>
                  </a:lnTo>
                  <a:lnTo>
                    <a:pt x="0" y="14"/>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43" name="Freeform 41">
              <a:extLst>
                <a:ext uri="{FF2B5EF4-FFF2-40B4-BE49-F238E27FC236}">
                  <a16:creationId xmlns:a16="http://schemas.microsoft.com/office/drawing/2014/main" id="{6911B445-9BEB-4380-AE48-E84662350B70}"/>
                </a:ext>
              </a:extLst>
            </p:cNvPr>
            <p:cNvSpPr>
              <a:spLocks/>
            </p:cNvSpPr>
            <p:nvPr/>
          </p:nvSpPr>
          <p:spPr bwMode="auto">
            <a:xfrm>
              <a:off x="4564" y="2544"/>
              <a:ext cx="84" cy="79"/>
            </a:xfrm>
            <a:custGeom>
              <a:avLst/>
              <a:gdLst>
                <a:gd name="T0" fmla="*/ 0 w 167"/>
                <a:gd name="T1" fmla="*/ 0 h 156"/>
                <a:gd name="T2" fmla="*/ 84 w 167"/>
                <a:gd name="T3" fmla="*/ 78 h 156"/>
                <a:gd name="T4" fmla="*/ 71 w 167"/>
                <a:gd name="T5" fmla="*/ 19 h 156"/>
                <a:gd name="T6" fmla="*/ 0 w 167"/>
                <a:gd name="T7" fmla="*/ 0 h 156"/>
                <a:gd name="T8" fmla="*/ 0 w 167"/>
                <a:gd name="T9" fmla="*/ 0 h 156"/>
                <a:gd name="T10" fmla="*/ 0 60000 65536"/>
                <a:gd name="T11" fmla="*/ 0 60000 65536"/>
                <a:gd name="T12" fmla="*/ 0 60000 65536"/>
                <a:gd name="T13" fmla="*/ 0 60000 65536"/>
                <a:gd name="T14" fmla="*/ 0 60000 65536"/>
                <a:gd name="T15" fmla="*/ 0 w 167"/>
                <a:gd name="T16" fmla="*/ 0 h 156"/>
                <a:gd name="T17" fmla="*/ 167 w 167"/>
                <a:gd name="T18" fmla="*/ 156 h 156"/>
              </a:gdLst>
              <a:ahLst/>
              <a:cxnLst>
                <a:cxn ang="T10">
                  <a:pos x="T0" y="T1"/>
                </a:cxn>
                <a:cxn ang="T11">
                  <a:pos x="T2" y="T3"/>
                </a:cxn>
                <a:cxn ang="T12">
                  <a:pos x="T4" y="T5"/>
                </a:cxn>
                <a:cxn ang="T13">
                  <a:pos x="T6" y="T7"/>
                </a:cxn>
                <a:cxn ang="T14">
                  <a:pos x="T8" y="T9"/>
                </a:cxn>
              </a:cxnLst>
              <a:rect l="T15" t="T16" r="T17" b="T18"/>
              <a:pathLst>
                <a:path w="167" h="156">
                  <a:moveTo>
                    <a:pt x="0" y="0"/>
                  </a:moveTo>
                  <a:lnTo>
                    <a:pt x="167" y="156"/>
                  </a:lnTo>
                  <a:lnTo>
                    <a:pt x="142" y="38"/>
                  </a:lnTo>
                  <a:lnTo>
                    <a:pt x="0" y="0"/>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44" name="Freeform 42">
              <a:extLst>
                <a:ext uri="{FF2B5EF4-FFF2-40B4-BE49-F238E27FC236}">
                  <a16:creationId xmlns:a16="http://schemas.microsoft.com/office/drawing/2014/main" id="{94B05CFA-3536-489C-870B-1A369C3FF8BF}"/>
                </a:ext>
              </a:extLst>
            </p:cNvPr>
            <p:cNvSpPr>
              <a:spLocks/>
            </p:cNvSpPr>
            <p:nvPr/>
          </p:nvSpPr>
          <p:spPr bwMode="auto">
            <a:xfrm>
              <a:off x="4424" y="2559"/>
              <a:ext cx="201" cy="95"/>
            </a:xfrm>
            <a:custGeom>
              <a:avLst/>
              <a:gdLst>
                <a:gd name="T0" fmla="*/ 9 w 401"/>
                <a:gd name="T1" fmla="*/ 11 h 190"/>
                <a:gd name="T2" fmla="*/ 101 w 401"/>
                <a:gd name="T3" fmla="*/ 0 h 190"/>
                <a:gd name="T4" fmla="*/ 90 w 401"/>
                <a:gd name="T5" fmla="*/ 27 h 190"/>
                <a:gd name="T6" fmla="*/ 188 w 401"/>
                <a:gd name="T7" fmla="*/ 75 h 190"/>
                <a:gd name="T8" fmla="*/ 200 w 401"/>
                <a:gd name="T9" fmla="*/ 95 h 190"/>
                <a:gd name="T10" fmla="*/ 159 w 401"/>
                <a:gd name="T11" fmla="*/ 92 h 190"/>
                <a:gd name="T12" fmla="*/ 146 w 401"/>
                <a:gd name="T13" fmla="*/ 69 h 190"/>
                <a:gd name="T14" fmla="*/ 94 w 401"/>
                <a:gd name="T15" fmla="*/ 52 h 190"/>
                <a:gd name="T16" fmla="*/ 58 w 401"/>
                <a:gd name="T17" fmla="*/ 37 h 190"/>
                <a:gd name="T18" fmla="*/ 39 w 401"/>
                <a:gd name="T19" fmla="*/ 69 h 190"/>
                <a:gd name="T20" fmla="*/ 0 w 401"/>
                <a:gd name="T21" fmla="*/ 39 h 190"/>
                <a:gd name="T22" fmla="*/ 9 w 401"/>
                <a:gd name="T23" fmla="*/ 11 h 190"/>
                <a:gd name="T24" fmla="*/ 9 w 401"/>
                <a:gd name="T25" fmla="*/ 11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190"/>
                <a:gd name="T41" fmla="*/ 401 w 401"/>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190">
                  <a:moveTo>
                    <a:pt x="19" y="21"/>
                  </a:moveTo>
                  <a:lnTo>
                    <a:pt x="202" y="0"/>
                  </a:lnTo>
                  <a:lnTo>
                    <a:pt x="181" y="54"/>
                  </a:lnTo>
                  <a:lnTo>
                    <a:pt x="377" y="150"/>
                  </a:lnTo>
                  <a:lnTo>
                    <a:pt x="401" y="190"/>
                  </a:lnTo>
                  <a:lnTo>
                    <a:pt x="318" y="183"/>
                  </a:lnTo>
                  <a:lnTo>
                    <a:pt x="293" y="137"/>
                  </a:lnTo>
                  <a:lnTo>
                    <a:pt x="189" y="105"/>
                  </a:lnTo>
                  <a:lnTo>
                    <a:pt x="116" y="73"/>
                  </a:lnTo>
                  <a:lnTo>
                    <a:pt x="78" y="137"/>
                  </a:lnTo>
                  <a:lnTo>
                    <a:pt x="0" y="78"/>
                  </a:lnTo>
                  <a:lnTo>
                    <a:pt x="19" y="21"/>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45" name="Freeform 43">
              <a:extLst>
                <a:ext uri="{FF2B5EF4-FFF2-40B4-BE49-F238E27FC236}">
                  <a16:creationId xmlns:a16="http://schemas.microsoft.com/office/drawing/2014/main" id="{CD859256-4A15-4DAE-B99C-E58F4F04DB4C}"/>
                </a:ext>
              </a:extLst>
            </p:cNvPr>
            <p:cNvSpPr>
              <a:spLocks/>
            </p:cNvSpPr>
            <p:nvPr/>
          </p:nvSpPr>
          <p:spPr bwMode="auto">
            <a:xfrm>
              <a:off x="4507" y="2600"/>
              <a:ext cx="52" cy="41"/>
            </a:xfrm>
            <a:custGeom>
              <a:avLst/>
              <a:gdLst>
                <a:gd name="T0" fmla="*/ 0 w 104"/>
                <a:gd name="T1" fmla="*/ 0 h 80"/>
                <a:gd name="T2" fmla="*/ 0 w 104"/>
                <a:gd name="T3" fmla="*/ 30 h 80"/>
                <a:gd name="T4" fmla="*/ 31 w 104"/>
                <a:gd name="T5" fmla="*/ 40 h 80"/>
                <a:gd name="T6" fmla="*/ 53 w 104"/>
                <a:gd name="T7" fmla="*/ 19 h 80"/>
                <a:gd name="T8" fmla="*/ 45 w 104"/>
                <a:gd name="T9" fmla="*/ 10 h 80"/>
                <a:gd name="T10" fmla="*/ 34 w 104"/>
                <a:gd name="T11" fmla="*/ 28 h 80"/>
                <a:gd name="T12" fmla="*/ 23 w 104"/>
                <a:gd name="T13" fmla="*/ 26 h 80"/>
                <a:gd name="T14" fmla="*/ 25 w 104"/>
                <a:gd name="T15" fmla="*/ 7 h 80"/>
                <a:gd name="T16" fmla="*/ 0 w 104"/>
                <a:gd name="T17" fmla="*/ 0 h 80"/>
                <a:gd name="T18" fmla="*/ 0 w 104"/>
                <a:gd name="T19" fmla="*/ 0 h 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4"/>
                <a:gd name="T31" fmla="*/ 0 h 80"/>
                <a:gd name="T32" fmla="*/ 104 w 104"/>
                <a:gd name="T33" fmla="*/ 80 h 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4" h="80">
                  <a:moveTo>
                    <a:pt x="0" y="0"/>
                  </a:moveTo>
                  <a:lnTo>
                    <a:pt x="0" y="61"/>
                  </a:lnTo>
                  <a:lnTo>
                    <a:pt x="61" y="80"/>
                  </a:lnTo>
                  <a:lnTo>
                    <a:pt x="104" y="38"/>
                  </a:lnTo>
                  <a:lnTo>
                    <a:pt x="89" y="19"/>
                  </a:lnTo>
                  <a:lnTo>
                    <a:pt x="66" y="57"/>
                  </a:lnTo>
                  <a:lnTo>
                    <a:pt x="45" y="53"/>
                  </a:lnTo>
                  <a:lnTo>
                    <a:pt x="49" y="15"/>
                  </a:lnTo>
                  <a:lnTo>
                    <a:pt x="0" y="0"/>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46" name="Freeform 44">
              <a:extLst>
                <a:ext uri="{FF2B5EF4-FFF2-40B4-BE49-F238E27FC236}">
                  <a16:creationId xmlns:a16="http://schemas.microsoft.com/office/drawing/2014/main" id="{F3ACE15B-2D86-4EF8-BA71-8FD485DF65BE}"/>
                </a:ext>
              </a:extLst>
            </p:cNvPr>
            <p:cNvSpPr>
              <a:spLocks/>
            </p:cNvSpPr>
            <p:nvPr/>
          </p:nvSpPr>
          <p:spPr bwMode="auto">
            <a:xfrm>
              <a:off x="4099" y="2536"/>
              <a:ext cx="213" cy="60"/>
            </a:xfrm>
            <a:custGeom>
              <a:avLst/>
              <a:gdLst>
                <a:gd name="T0" fmla="*/ 148 w 428"/>
                <a:gd name="T1" fmla="*/ 6 h 119"/>
                <a:gd name="T2" fmla="*/ 27 w 428"/>
                <a:gd name="T3" fmla="*/ 8 h 119"/>
                <a:gd name="T4" fmla="*/ 0 w 428"/>
                <a:gd name="T5" fmla="*/ 31 h 119"/>
                <a:gd name="T6" fmla="*/ 24 w 428"/>
                <a:gd name="T7" fmla="*/ 52 h 119"/>
                <a:gd name="T8" fmla="*/ 35 w 428"/>
                <a:gd name="T9" fmla="*/ 17 h 119"/>
                <a:gd name="T10" fmla="*/ 140 w 428"/>
                <a:gd name="T11" fmla="*/ 17 h 119"/>
                <a:gd name="T12" fmla="*/ 153 w 428"/>
                <a:gd name="T13" fmla="*/ 41 h 119"/>
                <a:gd name="T14" fmla="*/ 115 w 428"/>
                <a:gd name="T15" fmla="*/ 54 h 119"/>
                <a:gd name="T16" fmla="*/ 163 w 428"/>
                <a:gd name="T17" fmla="*/ 54 h 119"/>
                <a:gd name="T18" fmla="*/ 163 w 428"/>
                <a:gd name="T19" fmla="*/ 31 h 119"/>
                <a:gd name="T20" fmla="*/ 189 w 428"/>
                <a:gd name="T21" fmla="*/ 31 h 119"/>
                <a:gd name="T22" fmla="*/ 213 w 428"/>
                <a:gd name="T23" fmla="*/ 60 h 119"/>
                <a:gd name="T24" fmla="*/ 190 w 428"/>
                <a:gd name="T25" fmla="*/ 0 h 119"/>
                <a:gd name="T26" fmla="*/ 148 w 428"/>
                <a:gd name="T27" fmla="*/ 6 h 119"/>
                <a:gd name="T28" fmla="*/ 148 w 428"/>
                <a:gd name="T29" fmla="*/ 6 h 1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28"/>
                <a:gd name="T46" fmla="*/ 0 h 119"/>
                <a:gd name="T47" fmla="*/ 428 w 428"/>
                <a:gd name="T48" fmla="*/ 119 h 1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28" h="119">
                  <a:moveTo>
                    <a:pt x="297" y="11"/>
                  </a:moveTo>
                  <a:lnTo>
                    <a:pt x="55" y="15"/>
                  </a:lnTo>
                  <a:lnTo>
                    <a:pt x="0" y="62"/>
                  </a:lnTo>
                  <a:lnTo>
                    <a:pt x="48" y="104"/>
                  </a:lnTo>
                  <a:lnTo>
                    <a:pt x="71" y="34"/>
                  </a:lnTo>
                  <a:lnTo>
                    <a:pt x="282" y="34"/>
                  </a:lnTo>
                  <a:lnTo>
                    <a:pt x="308" y="81"/>
                  </a:lnTo>
                  <a:lnTo>
                    <a:pt x="232" y="108"/>
                  </a:lnTo>
                  <a:lnTo>
                    <a:pt x="327" y="108"/>
                  </a:lnTo>
                  <a:lnTo>
                    <a:pt x="327" y="61"/>
                  </a:lnTo>
                  <a:lnTo>
                    <a:pt x="379" y="61"/>
                  </a:lnTo>
                  <a:lnTo>
                    <a:pt x="428" y="119"/>
                  </a:lnTo>
                  <a:lnTo>
                    <a:pt x="382" y="0"/>
                  </a:lnTo>
                  <a:lnTo>
                    <a:pt x="297" y="11"/>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47" name="Freeform 45">
              <a:extLst>
                <a:ext uri="{FF2B5EF4-FFF2-40B4-BE49-F238E27FC236}">
                  <a16:creationId xmlns:a16="http://schemas.microsoft.com/office/drawing/2014/main" id="{681D321A-F885-4A12-9212-DDF270A2D9CF}"/>
                </a:ext>
              </a:extLst>
            </p:cNvPr>
            <p:cNvSpPr>
              <a:spLocks/>
            </p:cNvSpPr>
            <p:nvPr/>
          </p:nvSpPr>
          <p:spPr bwMode="auto">
            <a:xfrm>
              <a:off x="4158" y="2548"/>
              <a:ext cx="58" cy="30"/>
            </a:xfrm>
            <a:custGeom>
              <a:avLst/>
              <a:gdLst>
                <a:gd name="T0" fmla="*/ 0 w 120"/>
                <a:gd name="T1" fmla="*/ 4 h 62"/>
                <a:gd name="T2" fmla="*/ 17 w 120"/>
                <a:gd name="T3" fmla="*/ 31 h 62"/>
                <a:gd name="T4" fmla="*/ 44 w 120"/>
                <a:gd name="T5" fmla="*/ 31 h 62"/>
                <a:gd name="T6" fmla="*/ 59 w 120"/>
                <a:gd name="T7" fmla="*/ 2 h 62"/>
                <a:gd name="T8" fmla="*/ 44 w 120"/>
                <a:gd name="T9" fmla="*/ 0 h 62"/>
                <a:gd name="T10" fmla="*/ 38 w 120"/>
                <a:gd name="T11" fmla="*/ 23 h 62"/>
                <a:gd name="T12" fmla="*/ 23 w 120"/>
                <a:gd name="T13" fmla="*/ 20 h 62"/>
                <a:gd name="T14" fmla="*/ 25 w 120"/>
                <a:gd name="T15" fmla="*/ 2 h 62"/>
                <a:gd name="T16" fmla="*/ 0 w 120"/>
                <a:gd name="T17" fmla="*/ 4 h 62"/>
                <a:gd name="T18" fmla="*/ 0 w 120"/>
                <a:gd name="T19" fmla="*/ 4 h 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
                <a:gd name="T31" fmla="*/ 0 h 62"/>
                <a:gd name="T32" fmla="*/ 120 w 120"/>
                <a:gd name="T33" fmla="*/ 62 h 6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 h="62">
                  <a:moveTo>
                    <a:pt x="0" y="7"/>
                  </a:moveTo>
                  <a:lnTo>
                    <a:pt x="34" y="62"/>
                  </a:lnTo>
                  <a:lnTo>
                    <a:pt x="90" y="62"/>
                  </a:lnTo>
                  <a:lnTo>
                    <a:pt x="120" y="3"/>
                  </a:lnTo>
                  <a:lnTo>
                    <a:pt x="90" y="0"/>
                  </a:lnTo>
                  <a:lnTo>
                    <a:pt x="78" y="45"/>
                  </a:lnTo>
                  <a:lnTo>
                    <a:pt x="46" y="39"/>
                  </a:lnTo>
                  <a:lnTo>
                    <a:pt x="50" y="3"/>
                  </a:lnTo>
                  <a:lnTo>
                    <a:pt x="0" y="7"/>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48" name="Freeform 46">
              <a:extLst>
                <a:ext uri="{FF2B5EF4-FFF2-40B4-BE49-F238E27FC236}">
                  <a16:creationId xmlns:a16="http://schemas.microsoft.com/office/drawing/2014/main" id="{EC1C7C02-6E5A-4523-BDE9-8FD758996B38}"/>
                </a:ext>
              </a:extLst>
            </p:cNvPr>
            <p:cNvSpPr>
              <a:spLocks/>
            </p:cNvSpPr>
            <p:nvPr/>
          </p:nvSpPr>
          <p:spPr bwMode="auto">
            <a:xfrm>
              <a:off x="4283" y="2646"/>
              <a:ext cx="39" cy="83"/>
            </a:xfrm>
            <a:custGeom>
              <a:avLst/>
              <a:gdLst>
                <a:gd name="T0" fmla="*/ 33 w 76"/>
                <a:gd name="T1" fmla="*/ 0 h 169"/>
                <a:gd name="T2" fmla="*/ 30 w 76"/>
                <a:gd name="T3" fmla="*/ 26 h 169"/>
                <a:gd name="T4" fmla="*/ 0 w 76"/>
                <a:gd name="T5" fmla="*/ 84 h 169"/>
                <a:gd name="T6" fmla="*/ 30 w 76"/>
                <a:gd name="T7" fmla="*/ 75 h 169"/>
                <a:gd name="T8" fmla="*/ 38 w 76"/>
                <a:gd name="T9" fmla="*/ 43 h 169"/>
                <a:gd name="T10" fmla="*/ 33 w 76"/>
                <a:gd name="T11" fmla="*/ 0 h 169"/>
                <a:gd name="T12" fmla="*/ 33 w 76"/>
                <a:gd name="T13" fmla="*/ 0 h 169"/>
                <a:gd name="T14" fmla="*/ 0 60000 65536"/>
                <a:gd name="T15" fmla="*/ 0 60000 65536"/>
                <a:gd name="T16" fmla="*/ 0 60000 65536"/>
                <a:gd name="T17" fmla="*/ 0 60000 65536"/>
                <a:gd name="T18" fmla="*/ 0 60000 65536"/>
                <a:gd name="T19" fmla="*/ 0 60000 65536"/>
                <a:gd name="T20" fmla="*/ 0 60000 65536"/>
                <a:gd name="T21" fmla="*/ 0 w 76"/>
                <a:gd name="T22" fmla="*/ 0 h 169"/>
                <a:gd name="T23" fmla="*/ 76 w 76"/>
                <a:gd name="T24" fmla="*/ 169 h 16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6" h="169">
                  <a:moveTo>
                    <a:pt x="65" y="0"/>
                  </a:moveTo>
                  <a:lnTo>
                    <a:pt x="61" y="52"/>
                  </a:lnTo>
                  <a:lnTo>
                    <a:pt x="0" y="169"/>
                  </a:lnTo>
                  <a:lnTo>
                    <a:pt x="61" y="150"/>
                  </a:lnTo>
                  <a:lnTo>
                    <a:pt x="76" y="86"/>
                  </a:lnTo>
                  <a:lnTo>
                    <a:pt x="65" y="0"/>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49" name="Freeform 47">
              <a:extLst>
                <a:ext uri="{FF2B5EF4-FFF2-40B4-BE49-F238E27FC236}">
                  <a16:creationId xmlns:a16="http://schemas.microsoft.com/office/drawing/2014/main" id="{5171D815-41F5-4F0B-8636-9E9198D7E969}"/>
                </a:ext>
              </a:extLst>
            </p:cNvPr>
            <p:cNvSpPr>
              <a:spLocks/>
            </p:cNvSpPr>
            <p:nvPr/>
          </p:nvSpPr>
          <p:spPr bwMode="auto">
            <a:xfrm>
              <a:off x="4216" y="2758"/>
              <a:ext cx="70" cy="56"/>
            </a:xfrm>
            <a:custGeom>
              <a:avLst/>
              <a:gdLst>
                <a:gd name="T0" fmla="*/ 12 w 139"/>
                <a:gd name="T1" fmla="*/ 0 h 112"/>
                <a:gd name="T2" fmla="*/ 34 w 139"/>
                <a:gd name="T3" fmla="*/ 46 h 112"/>
                <a:gd name="T4" fmla="*/ 70 w 139"/>
                <a:gd name="T5" fmla="*/ 53 h 112"/>
                <a:gd name="T6" fmla="*/ 21 w 139"/>
                <a:gd name="T7" fmla="*/ 56 h 112"/>
                <a:gd name="T8" fmla="*/ 0 w 139"/>
                <a:gd name="T9" fmla="*/ 34 h 112"/>
                <a:gd name="T10" fmla="*/ 12 w 139"/>
                <a:gd name="T11" fmla="*/ 0 h 112"/>
                <a:gd name="T12" fmla="*/ 12 w 139"/>
                <a:gd name="T13" fmla="*/ 0 h 112"/>
                <a:gd name="T14" fmla="*/ 0 60000 65536"/>
                <a:gd name="T15" fmla="*/ 0 60000 65536"/>
                <a:gd name="T16" fmla="*/ 0 60000 65536"/>
                <a:gd name="T17" fmla="*/ 0 60000 65536"/>
                <a:gd name="T18" fmla="*/ 0 60000 65536"/>
                <a:gd name="T19" fmla="*/ 0 60000 65536"/>
                <a:gd name="T20" fmla="*/ 0 60000 65536"/>
                <a:gd name="T21" fmla="*/ 0 w 139"/>
                <a:gd name="T22" fmla="*/ 0 h 112"/>
                <a:gd name="T23" fmla="*/ 139 w 139"/>
                <a:gd name="T24" fmla="*/ 112 h 1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9" h="112">
                  <a:moveTo>
                    <a:pt x="23" y="0"/>
                  </a:moveTo>
                  <a:lnTo>
                    <a:pt x="68" y="91"/>
                  </a:lnTo>
                  <a:lnTo>
                    <a:pt x="139" y="106"/>
                  </a:lnTo>
                  <a:lnTo>
                    <a:pt x="42" y="112"/>
                  </a:lnTo>
                  <a:lnTo>
                    <a:pt x="0" y="68"/>
                  </a:lnTo>
                  <a:lnTo>
                    <a:pt x="23" y="0"/>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50" name="Freeform 48">
              <a:extLst>
                <a:ext uri="{FF2B5EF4-FFF2-40B4-BE49-F238E27FC236}">
                  <a16:creationId xmlns:a16="http://schemas.microsoft.com/office/drawing/2014/main" id="{6E68E47D-7186-44C5-B7B7-D83D74E71F0E}"/>
                </a:ext>
              </a:extLst>
            </p:cNvPr>
            <p:cNvSpPr>
              <a:spLocks/>
            </p:cNvSpPr>
            <p:nvPr/>
          </p:nvSpPr>
          <p:spPr bwMode="auto">
            <a:xfrm>
              <a:off x="4267" y="2775"/>
              <a:ext cx="64" cy="23"/>
            </a:xfrm>
            <a:custGeom>
              <a:avLst/>
              <a:gdLst>
                <a:gd name="T0" fmla="*/ 0 w 127"/>
                <a:gd name="T1" fmla="*/ 13 h 45"/>
                <a:gd name="T2" fmla="*/ 21 w 127"/>
                <a:gd name="T3" fmla="*/ 23 h 45"/>
                <a:gd name="T4" fmla="*/ 44 w 127"/>
                <a:gd name="T5" fmla="*/ 13 h 45"/>
                <a:gd name="T6" fmla="*/ 62 w 127"/>
                <a:gd name="T7" fmla="*/ 19 h 45"/>
                <a:gd name="T8" fmla="*/ 64 w 127"/>
                <a:gd name="T9" fmla="*/ 6 h 45"/>
                <a:gd name="T10" fmla="*/ 34 w 127"/>
                <a:gd name="T11" fmla="*/ 0 h 45"/>
                <a:gd name="T12" fmla="*/ 0 w 127"/>
                <a:gd name="T13" fmla="*/ 13 h 45"/>
                <a:gd name="T14" fmla="*/ 0 w 127"/>
                <a:gd name="T15" fmla="*/ 13 h 45"/>
                <a:gd name="T16" fmla="*/ 0 60000 65536"/>
                <a:gd name="T17" fmla="*/ 0 60000 65536"/>
                <a:gd name="T18" fmla="*/ 0 60000 65536"/>
                <a:gd name="T19" fmla="*/ 0 60000 65536"/>
                <a:gd name="T20" fmla="*/ 0 60000 65536"/>
                <a:gd name="T21" fmla="*/ 0 60000 65536"/>
                <a:gd name="T22" fmla="*/ 0 60000 65536"/>
                <a:gd name="T23" fmla="*/ 0 60000 65536"/>
                <a:gd name="T24" fmla="*/ 0 w 127"/>
                <a:gd name="T25" fmla="*/ 0 h 45"/>
                <a:gd name="T26" fmla="*/ 127 w 127"/>
                <a:gd name="T27" fmla="*/ 45 h 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7" h="45">
                  <a:moveTo>
                    <a:pt x="0" y="26"/>
                  </a:moveTo>
                  <a:lnTo>
                    <a:pt x="42" y="45"/>
                  </a:lnTo>
                  <a:lnTo>
                    <a:pt x="87" y="26"/>
                  </a:lnTo>
                  <a:lnTo>
                    <a:pt x="123" y="38"/>
                  </a:lnTo>
                  <a:lnTo>
                    <a:pt x="127" y="11"/>
                  </a:lnTo>
                  <a:lnTo>
                    <a:pt x="68" y="0"/>
                  </a:lnTo>
                  <a:lnTo>
                    <a:pt x="0" y="26"/>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51" name="Freeform 49">
              <a:extLst>
                <a:ext uri="{FF2B5EF4-FFF2-40B4-BE49-F238E27FC236}">
                  <a16:creationId xmlns:a16="http://schemas.microsoft.com/office/drawing/2014/main" id="{77E53646-11EA-4F35-8EA5-63B39FE0D08F}"/>
                </a:ext>
              </a:extLst>
            </p:cNvPr>
            <p:cNvSpPr>
              <a:spLocks/>
            </p:cNvSpPr>
            <p:nvPr/>
          </p:nvSpPr>
          <p:spPr bwMode="auto">
            <a:xfrm>
              <a:off x="4327" y="2763"/>
              <a:ext cx="112" cy="51"/>
            </a:xfrm>
            <a:custGeom>
              <a:avLst/>
              <a:gdLst>
                <a:gd name="T0" fmla="*/ 0 w 227"/>
                <a:gd name="T1" fmla="*/ 45 h 105"/>
                <a:gd name="T2" fmla="*/ 48 w 227"/>
                <a:gd name="T3" fmla="*/ 43 h 105"/>
                <a:gd name="T4" fmla="*/ 92 w 227"/>
                <a:gd name="T5" fmla="*/ 0 h 105"/>
                <a:gd name="T6" fmla="*/ 92 w 227"/>
                <a:gd name="T7" fmla="*/ 30 h 105"/>
                <a:gd name="T8" fmla="*/ 113 w 227"/>
                <a:gd name="T9" fmla="*/ 40 h 105"/>
                <a:gd name="T10" fmla="*/ 78 w 227"/>
                <a:gd name="T11" fmla="*/ 50 h 105"/>
                <a:gd name="T12" fmla="*/ 70 w 227"/>
                <a:gd name="T13" fmla="*/ 42 h 105"/>
                <a:gd name="T14" fmla="*/ 44 w 227"/>
                <a:gd name="T15" fmla="*/ 52 h 105"/>
                <a:gd name="T16" fmla="*/ 10 w 227"/>
                <a:gd name="T17" fmla="*/ 52 h 105"/>
                <a:gd name="T18" fmla="*/ 0 w 227"/>
                <a:gd name="T19" fmla="*/ 45 h 105"/>
                <a:gd name="T20" fmla="*/ 0 w 227"/>
                <a:gd name="T21" fmla="*/ 45 h 10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7"/>
                <a:gd name="T34" fmla="*/ 0 h 105"/>
                <a:gd name="T35" fmla="*/ 227 w 227"/>
                <a:gd name="T36" fmla="*/ 105 h 10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7" h="105">
                  <a:moveTo>
                    <a:pt x="0" y="90"/>
                  </a:moveTo>
                  <a:lnTo>
                    <a:pt x="96" y="86"/>
                  </a:lnTo>
                  <a:lnTo>
                    <a:pt x="185" y="0"/>
                  </a:lnTo>
                  <a:lnTo>
                    <a:pt x="185" y="61"/>
                  </a:lnTo>
                  <a:lnTo>
                    <a:pt x="227" y="80"/>
                  </a:lnTo>
                  <a:lnTo>
                    <a:pt x="156" y="101"/>
                  </a:lnTo>
                  <a:lnTo>
                    <a:pt x="141" y="84"/>
                  </a:lnTo>
                  <a:lnTo>
                    <a:pt x="88" y="105"/>
                  </a:lnTo>
                  <a:lnTo>
                    <a:pt x="20" y="105"/>
                  </a:lnTo>
                  <a:lnTo>
                    <a:pt x="0" y="90"/>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52" name="Freeform 50">
              <a:extLst>
                <a:ext uri="{FF2B5EF4-FFF2-40B4-BE49-F238E27FC236}">
                  <a16:creationId xmlns:a16="http://schemas.microsoft.com/office/drawing/2014/main" id="{98A312F2-6D65-4BF1-9A20-856FB182F9C5}"/>
                </a:ext>
              </a:extLst>
            </p:cNvPr>
            <p:cNvSpPr>
              <a:spLocks/>
            </p:cNvSpPr>
            <p:nvPr/>
          </p:nvSpPr>
          <p:spPr bwMode="auto">
            <a:xfrm>
              <a:off x="4438" y="2751"/>
              <a:ext cx="120" cy="184"/>
            </a:xfrm>
            <a:custGeom>
              <a:avLst/>
              <a:gdLst>
                <a:gd name="T0" fmla="*/ 12 w 239"/>
                <a:gd name="T1" fmla="*/ 0 h 369"/>
                <a:gd name="T2" fmla="*/ 32 w 239"/>
                <a:gd name="T3" fmla="*/ 29 h 369"/>
                <a:gd name="T4" fmla="*/ 0 w 239"/>
                <a:gd name="T5" fmla="*/ 66 h 369"/>
                <a:gd name="T6" fmla="*/ 15 w 239"/>
                <a:gd name="T7" fmla="*/ 68 h 369"/>
                <a:gd name="T8" fmla="*/ 32 w 239"/>
                <a:gd name="T9" fmla="*/ 50 h 369"/>
                <a:gd name="T10" fmla="*/ 92 w 239"/>
                <a:gd name="T11" fmla="*/ 104 h 369"/>
                <a:gd name="T12" fmla="*/ 120 w 239"/>
                <a:gd name="T13" fmla="*/ 185 h 369"/>
                <a:gd name="T14" fmla="*/ 92 w 239"/>
                <a:gd name="T15" fmla="*/ 57 h 369"/>
                <a:gd name="T16" fmla="*/ 12 w 239"/>
                <a:gd name="T17" fmla="*/ 0 h 369"/>
                <a:gd name="T18" fmla="*/ 12 w 239"/>
                <a:gd name="T19" fmla="*/ 0 h 36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9"/>
                <a:gd name="T31" fmla="*/ 0 h 369"/>
                <a:gd name="T32" fmla="*/ 239 w 239"/>
                <a:gd name="T33" fmla="*/ 369 h 36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9" h="369">
                  <a:moveTo>
                    <a:pt x="23" y="0"/>
                  </a:moveTo>
                  <a:lnTo>
                    <a:pt x="63" y="57"/>
                  </a:lnTo>
                  <a:lnTo>
                    <a:pt x="0" y="132"/>
                  </a:lnTo>
                  <a:lnTo>
                    <a:pt x="30" y="135"/>
                  </a:lnTo>
                  <a:lnTo>
                    <a:pt x="63" y="99"/>
                  </a:lnTo>
                  <a:lnTo>
                    <a:pt x="184" y="208"/>
                  </a:lnTo>
                  <a:lnTo>
                    <a:pt x="239" y="369"/>
                  </a:lnTo>
                  <a:lnTo>
                    <a:pt x="184" y="113"/>
                  </a:lnTo>
                  <a:lnTo>
                    <a:pt x="23" y="0"/>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53" name="Freeform 51">
              <a:extLst>
                <a:ext uri="{FF2B5EF4-FFF2-40B4-BE49-F238E27FC236}">
                  <a16:creationId xmlns:a16="http://schemas.microsoft.com/office/drawing/2014/main" id="{2F23B267-37B3-4482-B639-02C8A0245717}"/>
                </a:ext>
              </a:extLst>
            </p:cNvPr>
            <p:cNvSpPr>
              <a:spLocks/>
            </p:cNvSpPr>
            <p:nvPr/>
          </p:nvSpPr>
          <p:spPr bwMode="auto">
            <a:xfrm>
              <a:off x="4207" y="2887"/>
              <a:ext cx="327" cy="68"/>
            </a:xfrm>
            <a:custGeom>
              <a:avLst/>
              <a:gdLst>
                <a:gd name="T0" fmla="*/ 303 w 654"/>
                <a:gd name="T1" fmla="*/ 11 h 137"/>
                <a:gd name="T2" fmla="*/ 244 w 654"/>
                <a:gd name="T3" fmla="*/ 11 h 137"/>
                <a:gd name="T4" fmla="*/ 198 w 654"/>
                <a:gd name="T5" fmla="*/ 0 h 137"/>
                <a:gd name="T6" fmla="*/ 145 w 654"/>
                <a:gd name="T7" fmla="*/ 25 h 137"/>
                <a:gd name="T8" fmla="*/ 77 w 654"/>
                <a:gd name="T9" fmla="*/ 26 h 137"/>
                <a:gd name="T10" fmla="*/ 30 w 654"/>
                <a:gd name="T11" fmla="*/ 45 h 137"/>
                <a:gd name="T12" fmla="*/ 0 w 654"/>
                <a:gd name="T13" fmla="*/ 38 h 137"/>
                <a:gd name="T14" fmla="*/ 0 w 654"/>
                <a:gd name="T15" fmla="*/ 68 h 137"/>
                <a:gd name="T16" fmla="*/ 47 w 654"/>
                <a:gd name="T17" fmla="*/ 49 h 137"/>
                <a:gd name="T18" fmla="*/ 98 w 654"/>
                <a:gd name="T19" fmla="*/ 38 h 137"/>
                <a:gd name="T20" fmla="*/ 154 w 654"/>
                <a:gd name="T21" fmla="*/ 38 h 137"/>
                <a:gd name="T22" fmla="*/ 210 w 654"/>
                <a:gd name="T23" fmla="*/ 17 h 137"/>
                <a:gd name="T24" fmla="*/ 304 w 654"/>
                <a:gd name="T25" fmla="*/ 44 h 137"/>
                <a:gd name="T26" fmla="*/ 327 w 654"/>
                <a:gd name="T27" fmla="*/ 66 h 137"/>
                <a:gd name="T28" fmla="*/ 327 w 654"/>
                <a:gd name="T29" fmla="*/ 28 h 137"/>
                <a:gd name="T30" fmla="*/ 303 w 654"/>
                <a:gd name="T31" fmla="*/ 11 h 137"/>
                <a:gd name="T32" fmla="*/ 303 w 654"/>
                <a:gd name="T33" fmla="*/ 11 h 13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54"/>
                <a:gd name="T52" fmla="*/ 0 h 137"/>
                <a:gd name="T53" fmla="*/ 654 w 654"/>
                <a:gd name="T54" fmla="*/ 137 h 13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54" h="137">
                  <a:moveTo>
                    <a:pt x="605" y="23"/>
                  </a:moveTo>
                  <a:lnTo>
                    <a:pt x="489" y="23"/>
                  </a:lnTo>
                  <a:lnTo>
                    <a:pt x="397" y="0"/>
                  </a:lnTo>
                  <a:lnTo>
                    <a:pt x="289" y="50"/>
                  </a:lnTo>
                  <a:lnTo>
                    <a:pt x="154" y="53"/>
                  </a:lnTo>
                  <a:lnTo>
                    <a:pt x="61" y="91"/>
                  </a:lnTo>
                  <a:lnTo>
                    <a:pt x="0" y="76"/>
                  </a:lnTo>
                  <a:lnTo>
                    <a:pt x="0" y="137"/>
                  </a:lnTo>
                  <a:lnTo>
                    <a:pt x="95" y="99"/>
                  </a:lnTo>
                  <a:lnTo>
                    <a:pt x="196" y="76"/>
                  </a:lnTo>
                  <a:lnTo>
                    <a:pt x="308" y="76"/>
                  </a:lnTo>
                  <a:lnTo>
                    <a:pt x="420" y="34"/>
                  </a:lnTo>
                  <a:lnTo>
                    <a:pt x="608" y="88"/>
                  </a:lnTo>
                  <a:lnTo>
                    <a:pt x="654" y="133"/>
                  </a:lnTo>
                  <a:lnTo>
                    <a:pt x="654" y="57"/>
                  </a:lnTo>
                  <a:lnTo>
                    <a:pt x="605" y="23"/>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54" name="Freeform 52">
              <a:extLst>
                <a:ext uri="{FF2B5EF4-FFF2-40B4-BE49-F238E27FC236}">
                  <a16:creationId xmlns:a16="http://schemas.microsoft.com/office/drawing/2014/main" id="{22B71D64-8B0D-420E-8545-557F8C2906B7}"/>
                </a:ext>
              </a:extLst>
            </p:cNvPr>
            <p:cNvSpPr>
              <a:spLocks/>
            </p:cNvSpPr>
            <p:nvPr/>
          </p:nvSpPr>
          <p:spPr bwMode="auto">
            <a:xfrm>
              <a:off x="4289" y="2944"/>
              <a:ext cx="180" cy="45"/>
            </a:xfrm>
            <a:custGeom>
              <a:avLst/>
              <a:gdLst>
                <a:gd name="T0" fmla="*/ 0 w 360"/>
                <a:gd name="T1" fmla="*/ 12 h 89"/>
                <a:gd name="T2" fmla="*/ 39 w 360"/>
                <a:gd name="T3" fmla="*/ 31 h 89"/>
                <a:gd name="T4" fmla="*/ 85 w 360"/>
                <a:gd name="T5" fmla="*/ 21 h 89"/>
                <a:gd name="T6" fmla="*/ 142 w 360"/>
                <a:gd name="T7" fmla="*/ 16 h 89"/>
                <a:gd name="T8" fmla="*/ 179 w 360"/>
                <a:gd name="T9" fmla="*/ 0 h 89"/>
                <a:gd name="T10" fmla="*/ 146 w 360"/>
                <a:gd name="T11" fmla="*/ 43 h 89"/>
                <a:gd name="T12" fmla="*/ 79 w 360"/>
                <a:gd name="T13" fmla="*/ 35 h 89"/>
                <a:gd name="T14" fmla="*/ 34 w 360"/>
                <a:gd name="T15" fmla="*/ 45 h 89"/>
                <a:gd name="T16" fmla="*/ 0 w 360"/>
                <a:gd name="T17" fmla="*/ 12 h 89"/>
                <a:gd name="T18" fmla="*/ 0 w 360"/>
                <a:gd name="T19" fmla="*/ 12 h 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0"/>
                <a:gd name="T31" fmla="*/ 0 h 89"/>
                <a:gd name="T32" fmla="*/ 360 w 360"/>
                <a:gd name="T33" fmla="*/ 89 h 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0" h="89">
                  <a:moveTo>
                    <a:pt x="0" y="23"/>
                  </a:moveTo>
                  <a:lnTo>
                    <a:pt x="78" y="61"/>
                  </a:lnTo>
                  <a:lnTo>
                    <a:pt x="170" y="42"/>
                  </a:lnTo>
                  <a:lnTo>
                    <a:pt x="286" y="32"/>
                  </a:lnTo>
                  <a:lnTo>
                    <a:pt x="360" y="0"/>
                  </a:lnTo>
                  <a:lnTo>
                    <a:pt x="293" y="86"/>
                  </a:lnTo>
                  <a:lnTo>
                    <a:pt x="158" y="70"/>
                  </a:lnTo>
                  <a:lnTo>
                    <a:pt x="69" y="89"/>
                  </a:lnTo>
                  <a:lnTo>
                    <a:pt x="0" y="23"/>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55" name="Freeform 53">
              <a:extLst>
                <a:ext uri="{FF2B5EF4-FFF2-40B4-BE49-F238E27FC236}">
                  <a16:creationId xmlns:a16="http://schemas.microsoft.com/office/drawing/2014/main" id="{9F00560C-378C-453D-A252-EED37B45C049}"/>
                </a:ext>
              </a:extLst>
            </p:cNvPr>
            <p:cNvSpPr>
              <a:spLocks/>
            </p:cNvSpPr>
            <p:nvPr/>
          </p:nvSpPr>
          <p:spPr bwMode="auto">
            <a:xfrm>
              <a:off x="4328" y="2831"/>
              <a:ext cx="27" cy="65"/>
            </a:xfrm>
            <a:custGeom>
              <a:avLst/>
              <a:gdLst>
                <a:gd name="T0" fmla="*/ 24 w 54"/>
                <a:gd name="T1" fmla="*/ 64 h 127"/>
                <a:gd name="T2" fmla="*/ 6 w 54"/>
                <a:gd name="T3" fmla="*/ 64 h 127"/>
                <a:gd name="T4" fmla="*/ 0 w 54"/>
                <a:gd name="T5" fmla="*/ 31 h 127"/>
                <a:gd name="T6" fmla="*/ 26 w 54"/>
                <a:gd name="T7" fmla="*/ 0 h 127"/>
                <a:gd name="T8" fmla="*/ 17 w 54"/>
                <a:gd name="T9" fmla="*/ 42 h 127"/>
                <a:gd name="T10" fmla="*/ 24 w 54"/>
                <a:gd name="T11" fmla="*/ 64 h 127"/>
                <a:gd name="T12" fmla="*/ 24 w 54"/>
                <a:gd name="T13" fmla="*/ 64 h 127"/>
                <a:gd name="T14" fmla="*/ 0 60000 65536"/>
                <a:gd name="T15" fmla="*/ 0 60000 65536"/>
                <a:gd name="T16" fmla="*/ 0 60000 65536"/>
                <a:gd name="T17" fmla="*/ 0 60000 65536"/>
                <a:gd name="T18" fmla="*/ 0 60000 65536"/>
                <a:gd name="T19" fmla="*/ 0 60000 65536"/>
                <a:gd name="T20" fmla="*/ 0 60000 65536"/>
                <a:gd name="T21" fmla="*/ 0 w 54"/>
                <a:gd name="T22" fmla="*/ 0 h 127"/>
                <a:gd name="T23" fmla="*/ 54 w 54"/>
                <a:gd name="T24" fmla="*/ 127 h 1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127">
                  <a:moveTo>
                    <a:pt x="50" y="127"/>
                  </a:moveTo>
                  <a:lnTo>
                    <a:pt x="12" y="127"/>
                  </a:lnTo>
                  <a:lnTo>
                    <a:pt x="0" y="61"/>
                  </a:lnTo>
                  <a:lnTo>
                    <a:pt x="54" y="0"/>
                  </a:lnTo>
                  <a:lnTo>
                    <a:pt x="35" y="84"/>
                  </a:lnTo>
                  <a:lnTo>
                    <a:pt x="50" y="127"/>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56" name="Freeform 54">
              <a:extLst>
                <a:ext uri="{FF2B5EF4-FFF2-40B4-BE49-F238E27FC236}">
                  <a16:creationId xmlns:a16="http://schemas.microsoft.com/office/drawing/2014/main" id="{B157457C-BCC5-439B-B565-27028B2C51EC}"/>
                </a:ext>
              </a:extLst>
            </p:cNvPr>
            <p:cNvSpPr>
              <a:spLocks/>
            </p:cNvSpPr>
            <p:nvPr/>
          </p:nvSpPr>
          <p:spPr bwMode="auto">
            <a:xfrm>
              <a:off x="4448" y="2878"/>
              <a:ext cx="207" cy="308"/>
            </a:xfrm>
            <a:custGeom>
              <a:avLst/>
              <a:gdLst>
                <a:gd name="T0" fmla="*/ 206 w 410"/>
                <a:gd name="T1" fmla="*/ 0 h 612"/>
                <a:gd name="T2" fmla="*/ 139 w 410"/>
                <a:gd name="T3" fmla="*/ 187 h 612"/>
                <a:gd name="T4" fmla="*/ 0 w 410"/>
                <a:gd name="T5" fmla="*/ 287 h 612"/>
                <a:gd name="T6" fmla="*/ 13 w 410"/>
                <a:gd name="T7" fmla="*/ 307 h 612"/>
                <a:gd name="T8" fmla="*/ 153 w 410"/>
                <a:gd name="T9" fmla="*/ 198 h 612"/>
                <a:gd name="T10" fmla="*/ 202 w 410"/>
                <a:gd name="T11" fmla="*/ 42 h 612"/>
                <a:gd name="T12" fmla="*/ 206 w 410"/>
                <a:gd name="T13" fmla="*/ 0 h 612"/>
                <a:gd name="T14" fmla="*/ 206 w 410"/>
                <a:gd name="T15" fmla="*/ 0 h 612"/>
                <a:gd name="T16" fmla="*/ 0 60000 65536"/>
                <a:gd name="T17" fmla="*/ 0 60000 65536"/>
                <a:gd name="T18" fmla="*/ 0 60000 65536"/>
                <a:gd name="T19" fmla="*/ 0 60000 65536"/>
                <a:gd name="T20" fmla="*/ 0 60000 65536"/>
                <a:gd name="T21" fmla="*/ 0 60000 65536"/>
                <a:gd name="T22" fmla="*/ 0 60000 65536"/>
                <a:gd name="T23" fmla="*/ 0 60000 65536"/>
                <a:gd name="T24" fmla="*/ 0 w 410"/>
                <a:gd name="T25" fmla="*/ 0 h 612"/>
                <a:gd name="T26" fmla="*/ 410 w 410"/>
                <a:gd name="T27" fmla="*/ 612 h 6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10" h="612">
                  <a:moveTo>
                    <a:pt x="410" y="0"/>
                  </a:moveTo>
                  <a:lnTo>
                    <a:pt x="277" y="373"/>
                  </a:lnTo>
                  <a:lnTo>
                    <a:pt x="0" y="572"/>
                  </a:lnTo>
                  <a:lnTo>
                    <a:pt x="26" y="612"/>
                  </a:lnTo>
                  <a:lnTo>
                    <a:pt x="304" y="395"/>
                  </a:lnTo>
                  <a:lnTo>
                    <a:pt x="403" y="84"/>
                  </a:lnTo>
                  <a:lnTo>
                    <a:pt x="410" y="0"/>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57" name="Freeform 55">
              <a:extLst>
                <a:ext uri="{FF2B5EF4-FFF2-40B4-BE49-F238E27FC236}">
                  <a16:creationId xmlns:a16="http://schemas.microsoft.com/office/drawing/2014/main" id="{6626C47B-E8F4-4A6B-BD7C-54AF9CDDA76C}"/>
                </a:ext>
              </a:extLst>
            </p:cNvPr>
            <p:cNvSpPr>
              <a:spLocks/>
            </p:cNvSpPr>
            <p:nvPr/>
          </p:nvSpPr>
          <p:spPr bwMode="auto">
            <a:xfrm>
              <a:off x="4117" y="3072"/>
              <a:ext cx="508" cy="240"/>
            </a:xfrm>
            <a:custGeom>
              <a:avLst/>
              <a:gdLst>
                <a:gd name="T0" fmla="*/ 479 w 1019"/>
                <a:gd name="T1" fmla="*/ 0 h 477"/>
                <a:gd name="T2" fmla="*/ 476 w 1019"/>
                <a:gd name="T3" fmla="*/ 45 h 477"/>
                <a:gd name="T4" fmla="*/ 508 w 1019"/>
                <a:gd name="T5" fmla="*/ 94 h 477"/>
                <a:gd name="T6" fmla="*/ 509 w 1019"/>
                <a:gd name="T7" fmla="*/ 161 h 477"/>
                <a:gd name="T8" fmla="*/ 133 w 1019"/>
                <a:gd name="T9" fmla="*/ 58 h 477"/>
                <a:gd name="T10" fmla="*/ 71 w 1019"/>
                <a:gd name="T11" fmla="*/ 55 h 477"/>
                <a:gd name="T12" fmla="*/ 41 w 1019"/>
                <a:gd name="T13" fmla="*/ 83 h 477"/>
                <a:gd name="T14" fmla="*/ 55 w 1019"/>
                <a:gd name="T15" fmla="*/ 119 h 477"/>
                <a:gd name="T16" fmla="*/ 349 w 1019"/>
                <a:gd name="T17" fmla="*/ 239 h 477"/>
                <a:gd name="T18" fmla="*/ 177 w 1019"/>
                <a:gd name="T19" fmla="*/ 191 h 477"/>
                <a:gd name="T20" fmla="*/ 16 w 1019"/>
                <a:gd name="T21" fmla="*/ 116 h 477"/>
                <a:gd name="T22" fmla="*/ 0 w 1019"/>
                <a:gd name="T23" fmla="*/ 61 h 477"/>
                <a:gd name="T24" fmla="*/ 58 w 1019"/>
                <a:gd name="T25" fmla="*/ 39 h 477"/>
                <a:gd name="T26" fmla="*/ 143 w 1019"/>
                <a:gd name="T27" fmla="*/ 45 h 477"/>
                <a:gd name="T28" fmla="*/ 485 w 1019"/>
                <a:gd name="T29" fmla="*/ 130 h 477"/>
                <a:gd name="T30" fmla="*/ 474 w 1019"/>
                <a:gd name="T31" fmla="*/ 81 h 477"/>
                <a:gd name="T32" fmla="*/ 432 w 1019"/>
                <a:gd name="T33" fmla="*/ 36 h 477"/>
                <a:gd name="T34" fmla="*/ 479 w 1019"/>
                <a:gd name="T35" fmla="*/ 0 h 477"/>
                <a:gd name="T36" fmla="*/ 479 w 1019"/>
                <a:gd name="T37" fmla="*/ 0 h 47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19"/>
                <a:gd name="T58" fmla="*/ 0 h 477"/>
                <a:gd name="T59" fmla="*/ 1019 w 1019"/>
                <a:gd name="T60" fmla="*/ 477 h 47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19" h="477">
                  <a:moveTo>
                    <a:pt x="959" y="0"/>
                  </a:moveTo>
                  <a:lnTo>
                    <a:pt x="953" y="89"/>
                  </a:lnTo>
                  <a:lnTo>
                    <a:pt x="1016" y="188"/>
                  </a:lnTo>
                  <a:lnTo>
                    <a:pt x="1019" y="321"/>
                  </a:lnTo>
                  <a:lnTo>
                    <a:pt x="267" y="116"/>
                  </a:lnTo>
                  <a:lnTo>
                    <a:pt x="143" y="110"/>
                  </a:lnTo>
                  <a:lnTo>
                    <a:pt x="82" y="165"/>
                  </a:lnTo>
                  <a:lnTo>
                    <a:pt x="111" y="237"/>
                  </a:lnTo>
                  <a:lnTo>
                    <a:pt x="698" y="477"/>
                  </a:lnTo>
                  <a:lnTo>
                    <a:pt x="354" y="382"/>
                  </a:lnTo>
                  <a:lnTo>
                    <a:pt x="33" y="232"/>
                  </a:lnTo>
                  <a:lnTo>
                    <a:pt x="0" y="121"/>
                  </a:lnTo>
                  <a:lnTo>
                    <a:pt x="116" y="78"/>
                  </a:lnTo>
                  <a:lnTo>
                    <a:pt x="287" y="89"/>
                  </a:lnTo>
                  <a:lnTo>
                    <a:pt x="970" y="260"/>
                  </a:lnTo>
                  <a:lnTo>
                    <a:pt x="949" y="161"/>
                  </a:lnTo>
                  <a:lnTo>
                    <a:pt x="865" y="72"/>
                  </a:lnTo>
                  <a:lnTo>
                    <a:pt x="959" y="0"/>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58" name="Freeform 56">
              <a:extLst>
                <a:ext uri="{FF2B5EF4-FFF2-40B4-BE49-F238E27FC236}">
                  <a16:creationId xmlns:a16="http://schemas.microsoft.com/office/drawing/2014/main" id="{057022B7-BA92-4393-A991-EC99D5780686}"/>
                </a:ext>
              </a:extLst>
            </p:cNvPr>
            <p:cNvSpPr>
              <a:spLocks/>
            </p:cNvSpPr>
            <p:nvPr/>
          </p:nvSpPr>
          <p:spPr bwMode="auto">
            <a:xfrm>
              <a:off x="4053" y="3118"/>
              <a:ext cx="376" cy="284"/>
            </a:xfrm>
            <a:custGeom>
              <a:avLst/>
              <a:gdLst>
                <a:gd name="T0" fmla="*/ 53 w 755"/>
                <a:gd name="T1" fmla="*/ 0 h 566"/>
                <a:gd name="T2" fmla="*/ 0 w 755"/>
                <a:gd name="T3" fmla="*/ 38 h 566"/>
                <a:gd name="T4" fmla="*/ 0 w 755"/>
                <a:gd name="T5" fmla="*/ 80 h 566"/>
                <a:gd name="T6" fmla="*/ 208 w 755"/>
                <a:gd name="T7" fmla="*/ 185 h 566"/>
                <a:gd name="T8" fmla="*/ 377 w 755"/>
                <a:gd name="T9" fmla="*/ 283 h 566"/>
                <a:gd name="T10" fmla="*/ 272 w 755"/>
                <a:gd name="T11" fmla="*/ 194 h 566"/>
                <a:gd name="T12" fmla="*/ 25 w 755"/>
                <a:gd name="T13" fmla="*/ 71 h 566"/>
                <a:gd name="T14" fmla="*/ 27 w 755"/>
                <a:gd name="T15" fmla="*/ 41 h 566"/>
                <a:gd name="T16" fmla="*/ 78 w 755"/>
                <a:gd name="T17" fmla="*/ 16 h 566"/>
                <a:gd name="T18" fmla="*/ 53 w 755"/>
                <a:gd name="T19" fmla="*/ 0 h 566"/>
                <a:gd name="T20" fmla="*/ 53 w 755"/>
                <a:gd name="T21" fmla="*/ 0 h 5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55"/>
                <a:gd name="T34" fmla="*/ 0 h 566"/>
                <a:gd name="T35" fmla="*/ 755 w 755"/>
                <a:gd name="T36" fmla="*/ 566 h 5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55" h="566">
                  <a:moveTo>
                    <a:pt x="107" y="0"/>
                  </a:moveTo>
                  <a:lnTo>
                    <a:pt x="0" y="76"/>
                  </a:lnTo>
                  <a:lnTo>
                    <a:pt x="0" y="160"/>
                  </a:lnTo>
                  <a:lnTo>
                    <a:pt x="416" y="371"/>
                  </a:lnTo>
                  <a:lnTo>
                    <a:pt x="755" y="566"/>
                  </a:lnTo>
                  <a:lnTo>
                    <a:pt x="544" y="388"/>
                  </a:lnTo>
                  <a:lnTo>
                    <a:pt x="51" y="143"/>
                  </a:lnTo>
                  <a:lnTo>
                    <a:pt x="55" y="82"/>
                  </a:lnTo>
                  <a:lnTo>
                    <a:pt x="156" y="32"/>
                  </a:lnTo>
                  <a:lnTo>
                    <a:pt x="107" y="0"/>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59" name="Freeform 57">
              <a:extLst>
                <a:ext uri="{FF2B5EF4-FFF2-40B4-BE49-F238E27FC236}">
                  <a16:creationId xmlns:a16="http://schemas.microsoft.com/office/drawing/2014/main" id="{48FEA1D7-B95B-4996-A673-86C39B35E15E}"/>
                </a:ext>
              </a:extLst>
            </p:cNvPr>
            <p:cNvSpPr>
              <a:spLocks/>
            </p:cNvSpPr>
            <p:nvPr/>
          </p:nvSpPr>
          <p:spPr bwMode="auto">
            <a:xfrm>
              <a:off x="4017" y="3287"/>
              <a:ext cx="421" cy="236"/>
            </a:xfrm>
            <a:custGeom>
              <a:avLst/>
              <a:gdLst>
                <a:gd name="T0" fmla="*/ 292 w 844"/>
                <a:gd name="T1" fmla="*/ 37 h 472"/>
                <a:gd name="T2" fmla="*/ 134 w 844"/>
                <a:gd name="T3" fmla="*/ 11 h 472"/>
                <a:gd name="T4" fmla="*/ 42 w 844"/>
                <a:gd name="T5" fmla="*/ 0 h 472"/>
                <a:gd name="T6" fmla="*/ 0 w 844"/>
                <a:gd name="T7" fmla="*/ 37 h 472"/>
                <a:gd name="T8" fmla="*/ 20 w 844"/>
                <a:gd name="T9" fmla="*/ 70 h 472"/>
                <a:gd name="T10" fmla="*/ 153 w 844"/>
                <a:gd name="T11" fmla="*/ 131 h 472"/>
                <a:gd name="T12" fmla="*/ 392 w 844"/>
                <a:gd name="T13" fmla="*/ 236 h 472"/>
                <a:gd name="T14" fmla="*/ 350 w 844"/>
                <a:gd name="T15" fmla="*/ 178 h 472"/>
                <a:gd name="T16" fmla="*/ 208 w 844"/>
                <a:gd name="T17" fmla="*/ 131 h 472"/>
                <a:gd name="T18" fmla="*/ 30 w 844"/>
                <a:gd name="T19" fmla="*/ 53 h 472"/>
                <a:gd name="T20" fmla="*/ 51 w 844"/>
                <a:gd name="T21" fmla="*/ 17 h 472"/>
                <a:gd name="T22" fmla="*/ 205 w 844"/>
                <a:gd name="T23" fmla="*/ 41 h 472"/>
                <a:gd name="T24" fmla="*/ 422 w 844"/>
                <a:gd name="T25" fmla="*/ 114 h 472"/>
                <a:gd name="T26" fmla="*/ 292 w 844"/>
                <a:gd name="T27" fmla="*/ 37 h 472"/>
                <a:gd name="T28" fmla="*/ 292 w 844"/>
                <a:gd name="T29" fmla="*/ 37 h 4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44"/>
                <a:gd name="T46" fmla="*/ 0 h 472"/>
                <a:gd name="T47" fmla="*/ 844 w 844"/>
                <a:gd name="T48" fmla="*/ 472 h 47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44" h="472">
                  <a:moveTo>
                    <a:pt x="583" y="73"/>
                  </a:moveTo>
                  <a:lnTo>
                    <a:pt x="268" y="21"/>
                  </a:lnTo>
                  <a:lnTo>
                    <a:pt x="83" y="0"/>
                  </a:lnTo>
                  <a:lnTo>
                    <a:pt x="0" y="73"/>
                  </a:lnTo>
                  <a:lnTo>
                    <a:pt x="40" y="139"/>
                  </a:lnTo>
                  <a:lnTo>
                    <a:pt x="306" y="261"/>
                  </a:lnTo>
                  <a:lnTo>
                    <a:pt x="783" y="472"/>
                  </a:lnTo>
                  <a:lnTo>
                    <a:pt x="699" y="356"/>
                  </a:lnTo>
                  <a:lnTo>
                    <a:pt x="416" y="261"/>
                  </a:lnTo>
                  <a:lnTo>
                    <a:pt x="61" y="105"/>
                  </a:lnTo>
                  <a:lnTo>
                    <a:pt x="101" y="33"/>
                  </a:lnTo>
                  <a:lnTo>
                    <a:pt x="410" y="82"/>
                  </a:lnTo>
                  <a:lnTo>
                    <a:pt x="844" y="228"/>
                  </a:lnTo>
                  <a:lnTo>
                    <a:pt x="583" y="73"/>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60" name="Freeform 58">
              <a:extLst>
                <a:ext uri="{FF2B5EF4-FFF2-40B4-BE49-F238E27FC236}">
                  <a16:creationId xmlns:a16="http://schemas.microsoft.com/office/drawing/2014/main" id="{FC2036B7-BADB-4846-BBD3-FFCB56D3F83E}"/>
                </a:ext>
              </a:extLst>
            </p:cNvPr>
            <p:cNvSpPr>
              <a:spLocks/>
            </p:cNvSpPr>
            <p:nvPr/>
          </p:nvSpPr>
          <p:spPr bwMode="auto">
            <a:xfrm>
              <a:off x="4170" y="3488"/>
              <a:ext cx="531" cy="355"/>
            </a:xfrm>
            <a:custGeom>
              <a:avLst/>
              <a:gdLst>
                <a:gd name="T0" fmla="*/ 218 w 1065"/>
                <a:gd name="T1" fmla="*/ 27 h 710"/>
                <a:gd name="T2" fmla="*/ 215 w 1065"/>
                <a:gd name="T3" fmla="*/ 57 h 710"/>
                <a:gd name="T4" fmla="*/ 133 w 1065"/>
                <a:gd name="T5" fmla="*/ 42 h 710"/>
                <a:gd name="T6" fmla="*/ 39 w 1065"/>
                <a:gd name="T7" fmla="*/ 0 h 710"/>
                <a:gd name="T8" fmla="*/ 0 w 1065"/>
                <a:gd name="T9" fmla="*/ 14 h 710"/>
                <a:gd name="T10" fmla="*/ 5 w 1065"/>
                <a:gd name="T11" fmla="*/ 47 h 710"/>
                <a:gd name="T12" fmla="*/ 121 w 1065"/>
                <a:gd name="T13" fmla="*/ 139 h 710"/>
                <a:gd name="T14" fmla="*/ 230 w 1065"/>
                <a:gd name="T15" fmla="*/ 200 h 710"/>
                <a:gd name="T16" fmla="*/ 355 w 1065"/>
                <a:gd name="T17" fmla="*/ 314 h 710"/>
                <a:gd name="T18" fmla="*/ 490 w 1065"/>
                <a:gd name="T19" fmla="*/ 355 h 710"/>
                <a:gd name="T20" fmla="*/ 532 w 1065"/>
                <a:gd name="T21" fmla="*/ 334 h 710"/>
                <a:gd name="T22" fmla="*/ 382 w 1065"/>
                <a:gd name="T23" fmla="*/ 302 h 710"/>
                <a:gd name="T24" fmla="*/ 263 w 1065"/>
                <a:gd name="T25" fmla="*/ 213 h 710"/>
                <a:gd name="T26" fmla="*/ 282 w 1065"/>
                <a:gd name="T27" fmla="*/ 189 h 710"/>
                <a:gd name="T28" fmla="*/ 147 w 1065"/>
                <a:gd name="T29" fmla="*/ 133 h 710"/>
                <a:gd name="T30" fmla="*/ 19 w 1065"/>
                <a:gd name="T31" fmla="*/ 36 h 710"/>
                <a:gd name="T32" fmla="*/ 33 w 1065"/>
                <a:gd name="T33" fmla="*/ 14 h 710"/>
                <a:gd name="T34" fmla="*/ 133 w 1065"/>
                <a:gd name="T35" fmla="*/ 63 h 710"/>
                <a:gd name="T36" fmla="*/ 230 w 1065"/>
                <a:gd name="T37" fmla="*/ 72 h 710"/>
                <a:gd name="T38" fmla="*/ 244 w 1065"/>
                <a:gd name="T39" fmla="*/ 36 h 710"/>
                <a:gd name="T40" fmla="*/ 218 w 1065"/>
                <a:gd name="T41" fmla="*/ 27 h 710"/>
                <a:gd name="T42" fmla="*/ 218 w 1065"/>
                <a:gd name="T43" fmla="*/ 27 h 71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5"/>
                <a:gd name="T67" fmla="*/ 0 h 710"/>
                <a:gd name="T68" fmla="*/ 1065 w 1065"/>
                <a:gd name="T69" fmla="*/ 710 h 71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5" h="710">
                  <a:moveTo>
                    <a:pt x="437" y="55"/>
                  </a:moveTo>
                  <a:lnTo>
                    <a:pt x="431" y="115"/>
                  </a:lnTo>
                  <a:lnTo>
                    <a:pt x="266" y="83"/>
                  </a:lnTo>
                  <a:lnTo>
                    <a:pt x="78" y="0"/>
                  </a:lnTo>
                  <a:lnTo>
                    <a:pt x="0" y="28"/>
                  </a:lnTo>
                  <a:lnTo>
                    <a:pt x="11" y="95"/>
                  </a:lnTo>
                  <a:lnTo>
                    <a:pt x="243" y="277"/>
                  </a:lnTo>
                  <a:lnTo>
                    <a:pt x="460" y="401"/>
                  </a:lnTo>
                  <a:lnTo>
                    <a:pt x="711" y="627"/>
                  </a:lnTo>
                  <a:lnTo>
                    <a:pt x="981" y="710"/>
                  </a:lnTo>
                  <a:lnTo>
                    <a:pt x="1065" y="667"/>
                  </a:lnTo>
                  <a:lnTo>
                    <a:pt x="764" y="604"/>
                  </a:lnTo>
                  <a:lnTo>
                    <a:pt x="527" y="427"/>
                  </a:lnTo>
                  <a:lnTo>
                    <a:pt x="565" y="378"/>
                  </a:lnTo>
                  <a:lnTo>
                    <a:pt x="295" y="266"/>
                  </a:lnTo>
                  <a:lnTo>
                    <a:pt x="38" y="72"/>
                  </a:lnTo>
                  <a:lnTo>
                    <a:pt x="66" y="28"/>
                  </a:lnTo>
                  <a:lnTo>
                    <a:pt x="266" y="127"/>
                  </a:lnTo>
                  <a:lnTo>
                    <a:pt x="460" y="144"/>
                  </a:lnTo>
                  <a:lnTo>
                    <a:pt x="488" y="72"/>
                  </a:lnTo>
                  <a:lnTo>
                    <a:pt x="437" y="55"/>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61" name="Freeform 59">
              <a:extLst>
                <a:ext uri="{FF2B5EF4-FFF2-40B4-BE49-F238E27FC236}">
                  <a16:creationId xmlns:a16="http://schemas.microsoft.com/office/drawing/2014/main" id="{0B334747-4D0D-459A-A606-449521837584}"/>
                </a:ext>
              </a:extLst>
            </p:cNvPr>
            <p:cNvSpPr>
              <a:spLocks/>
            </p:cNvSpPr>
            <p:nvPr/>
          </p:nvSpPr>
          <p:spPr bwMode="auto">
            <a:xfrm>
              <a:off x="4616" y="2976"/>
              <a:ext cx="307" cy="1077"/>
            </a:xfrm>
            <a:custGeom>
              <a:avLst/>
              <a:gdLst>
                <a:gd name="T0" fmla="*/ 19 w 615"/>
                <a:gd name="T1" fmla="*/ 0 h 2155"/>
                <a:gd name="T2" fmla="*/ 49 w 615"/>
                <a:gd name="T3" fmla="*/ 0 h 2155"/>
                <a:gd name="T4" fmla="*/ 61 w 615"/>
                <a:gd name="T5" fmla="*/ 150 h 2155"/>
                <a:gd name="T6" fmla="*/ 146 w 615"/>
                <a:gd name="T7" fmla="*/ 301 h 2155"/>
                <a:gd name="T8" fmla="*/ 155 w 615"/>
                <a:gd name="T9" fmla="*/ 556 h 2155"/>
                <a:gd name="T10" fmla="*/ 205 w 615"/>
                <a:gd name="T11" fmla="*/ 623 h 2155"/>
                <a:gd name="T12" fmla="*/ 258 w 615"/>
                <a:gd name="T13" fmla="*/ 611 h 2155"/>
                <a:gd name="T14" fmla="*/ 307 w 615"/>
                <a:gd name="T15" fmla="*/ 779 h 2155"/>
                <a:gd name="T16" fmla="*/ 219 w 615"/>
                <a:gd name="T17" fmla="*/ 1045 h 2155"/>
                <a:gd name="T18" fmla="*/ 35 w 615"/>
                <a:gd name="T19" fmla="*/ 1078 h 2155"/>
                <a:gd name="T20" fmla="*/ 0 w 615"/>
                <a:gd name="T21" fmla="*/ 889 h 2155"/>
                <a:gd name="T22" fmla="*/ 119 w 615"/>
                <a:gd name="T23" fmla="*/ 1014 h 2155"/>
                <a:gd name="T24" fmla="*/ 180 w 615"/>
                <a:gd name="T25" fmla="*/ 953 h 2155"/>
                <a:gd name="T26" fmla="*/ 113 w 615"/>
                <a:gd name="T27" fmla="*/ 931 h 2155"/>
                <a:gd name="T28" fmla="*/ 219 w 615"/>
                <a:gd name="T29" fmla="*/ 892 h 2155"/>
                <a:gd name="T30" fmla="*/ 240 w 615"/>
                <a:gd name="T31" fmla="*/ 812 h 2155"/>
                <a:gd name="T32" fmla="*/ 263 w 615"/>
                <a:gd name="T33" fmla="*/ 786 h 2155"/>
                <a:gd name="T34" fmla="*/ 266 w 615"/>
                <a:gd name="T35" fmla="*/ 717 h 2155"/>
                <a:gd name="T36" fmla="*/ 246 w 615"/>
                <a:gd name="T37" fmla="*/ 647 h 2155"/>
                <a:gd name="T38" fmla="*/ 197 w 615"/>
                <a:gd name="T39" fmla="*/ 639 h 2155"/>
                <a:gd name="T40" fmla="*/ 144 w 615"/>
                <a:gd name="T41" fmla="*/ 569 h 2155"/>
                <a:gd name="T42" fmla="*/ 127 w 615"/>
                <a:gd name="T43" fmla="*/ 322 h 2155"/>
                <a:gd name="T44" fmla="*/ 47 w 615"/>
                <a:gd name="T45" fmla="*/ 176 h 2155"/>
                <a:gd name="T46" fmla="*/ 39 w 615"/>
                <a:gd name="T47" fmla="*/ 20 h 2155"/>
                <a:gd name="T48" fmla="*/ 19 w 615"/>
                <a:gd name="T49" fmla="*/ 0 h 2155"/>
                <a:gd name="T50" fmla="*/ 19 w 615"/>
                <a:gd name="T51" fmla="*/ 0 h 215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15"/>
                <a:gd name="T79" fmla="*/ 0 h 2155"/>
                <a:gd name="T80" fmla="*/ 615 w 615"/>
                <a:gd name="T81" fmla="*/ 2155 h 215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15" h="2155">
                  <a:moveTo>
                    <a:pt x="38" y="0"/>
                  </a:moveTo>
                  <a:lnTo>
                    <a:pt x="99" y="0"/>
                  </a:lnTo>
                  <a:lnTo>
                    <a:pt x="122" y="300"/>
                  </a:lnTo>
                  <a:lnTo>
                    <a:pt x="293" y="601"/>
                  </a:lnTo>
                  <a:lnTo>
                    <a:pt x="310" y="1112"/>
                  </a:lnTo>
                  <a:lnTo>
                    <a:pt x="411" y="1245"/>
                  </a:lnTo>
                  <a:lnTo>
                    <a:pt x="516" y="1222"/>
                  </a:lnTo>
                  <a:lnTo>
                    <a:pt x="615" y="1557"/>
                  </a:lnTo>
                  <a:lnTo>
                    <a:pt x="438" y="2089"/>
                  </a:lnTo>
                  <a:lnTo>
                    <a:pt x="71" y="2155"/>
                  </a:lnTo>
                  <a:lnTo>
                    <a:pt x="0" y="1777"/>
                  </a:lnTo>
                  <a:lnTo>
                    <a:pt x="238" y="2028"/>
                  </a:lnTo>
                  <a:lnTo>
                    <a:pt x="360" y="1905"/>
                  </a:lnTo>
                  <a:lnTo>
                    <a:pt x="227" y="1861"/>
                  </a:lnTo>
                  <a:lnTo>
                    <a:pt x="438" y="1783"/>
                  </a:lnTo>
                  <a:lnTo>
                    <a:pt x="481" y="1623"/>
                  </a:lnTo>
                  <a:lnTo>
                    <a:pt x="527" y="1572"/>
                  </a:lnTo>
                  <a:lnTo>
                    <a:pt x="533" y="1433"/>
                  </a:lnTo>
                  <a:lnTo>
                    <a:pt x="493" y="1294"/>
                  </a:lnTo>
                  <a:lnTo>
                    <a:pt x="394" y="1277"/>
                  </a:lnTo>
                  <a:lnTo>
                    <a:pt x="288" y="1138"/>
                  </a:lnTo>
                  <a:lnTo>
                    <a:pt x="255" y="644"/>
                  </a:lnTo>
                  <a:lnTo>
                    <a:pt x="94" y="352"/>
                  </a:lnTo>
                  <a:lnTo>
                    <a:pt x="78" y="40"/>
                  </a:lnTo>
                  <a:lnTo>
                    <a:pt x="38" y="0"/>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62" name="Freeform 60">
              <a:extLst>
                <a:ext uri="{FF2B5EF4-FFF2-40B4-BE49-F238E27FC236}">
                  <a16:creationId xmlns:a16="http://schemas.microsoft.com/office/drawing/2014/main" id="{CCFF7C90-2118-48A1-97F6-0DC75FFB6166}"/>
                </a:ext>
              </a:extLst>
            </p:cNvPr>
            <p:cNvSpPr>
              <a:spLocks/>
            </p:cNvSpPr>
            <p:nvPr/>
          </p:nvSpPr>
          <p:spPr bwMode="auto">
            <a:xfrm>
              <a:off x="4624" y="3611"/>
              <a:ext cx="255" cy="258"/>
            </a:xfrm>
            <a:custGeom>
              <a:avLst/>
              <a:gdLst>
                <a:gd name="T0" fmla="*/ 174 w 509"/>
                <a:gd name="T1" fmla="*/ 0 h 516"/>
                <a:gd name="T2" fmla="*/ 138 w 509"/>
                <a:gd name="T3" fmla="*/ 35 h 516"/>
                <a:gd name="T4" fmla="*/ 138 w 509"/>
                <a:gd name="T5" fmla="*/ 139 h 516"/>
                <a:gd name="T6" fmla="*/ 71 w 509"/>
                <a:gd name="T7" fmla="*/ 205 h 516"/>
                <a:gd name="T8" fmla="*/ 0 w 509"/>
                <a:gd name="T9" fmla="*/ 216 h 516"/>
                <a:gd name="T10" fmla="*/ 35 w 509"/>
                <a:gd name="T11" fmla="*/ 258 h 516"/>
                <a:gd name="T12" fmla="*/ 97 w 509"/>
                <a:gd name="T13" fmla="*/ 252 h 516"/>
                <a:gd name="T14" fmla="*/ 71 w 509"/>
                <a:gd name="T15" fmla="*/ 219 h 516"/>
                <a:gd name="T16" fmla="*/ 107 w 509"/>
                <a:gd name="T17" fmla="*/ 200 h 516"/>
                <a:gd name="T18" fmla="*/ 155 w 509"/>
                <a:gd name="T19" fmla="*/ 161 h 516"/>
                <a:gd name="T20" fmla="*/ 168 w 509"/>
                <a:gd name="T21" fmla="*/ 188 h 516"/>
                <a:gd name="T22" fmla="*/ 144 w 509"/>
                <a:gd name="T23" fmla="*/ 227 h 516"/>
                <a:gd name="T24" fmla="*/ 197 w 509"/>
                <a:gd name="T25" fmla="*/ 188 h 516"/>
                <a:gd name="T26" fmla="*/ 230 w 509"/>
                <a:gd name="T27" fmla="*/ 188 h 516"/>
                <a:gd name="T28" fmla="*/ 255 w 509"/>
                <a:gd name="T29" fmla="*/ 166 h 516"/>
                <a:gd name="T30" fmla="*/ 213 w 509"/>
                <a:gd name="T31" fmla="*/ 161 h 516"/>
                <a:gd name="T32" fmla="*/ 177 w 509"/>
                <a:gd name="T33" fmla="*/ 119 h 516"/>
                <a:gd name="T34" fmla="*/ 185 w 509"/>
                <a:gd name="T35" fmla="*/ 155 h 516"/>
                <a:gd name="T36" fmla="*/ 168 w 509"/>
                <a:gd name="T37" fmla="*/ 163 h 516"/>
                <a:gd name="T38" fmla="*/ 144 w 509"/>
                <a:gd name="T39" fmla="*/ 100 h 516"/>
                <a:gd name="T40" fmla="*/ 149 w 509"/>
                <a:gd name="T41" fmla="*/ 41 h 516"/>
                <a:gd name="T42" fmla="*/ 174 w 509"/>
                <a:gd name="T43" fmla="*/ 0 h 516"/>
                <a:gd name="T44" fmla="*/ 174 w 509"/>
                <a:gd name="T45" fmla="*/ 0 h 51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09"/>
                <a:gd name="T70" fmla="*/ 0 h 516"/>
                <a:gd name="T71" fmla="*/ 509 w 509"/>
                <a:gd name="T72" fmla="*/ 516 h 51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09" h="516">
                  <a:moveTo>
                    <a:pt x="347" y="0"/>
                  </a:moveTo>
                  <a:lnTo>
                    <a:pt x="275" y="71"/>
                  </a:lnTo>
                  <a:lnTo>
                    <a:pt x="275" y="278"/>
                  </a:lnTo>
                  <a:lnTo>
                    <a:pt x="142" y="411"/>
                  </a:lnTo>
                  <a:lnTo>
                    <a:pt x="0" y="432"/>
                  </a:lnTo>
                  <a:lnTo>
                    <a:pt x="70" y="516"/>
                  </a:lnTo>
                  <a:lnTo>
                    <a:pt x="193" y="504"/>
                  </a:lnTo>
                  <a:lnTo>
                    <a:pt x="142" y="438"/>
                  </a:lnTo>
                  <a:lnTo>
                    <a:pt x="214" y="400"/>
                  </a:lnTo>
                  <a:lnTo>
                    <a:pt x="309" y="322"/>
                  </a:lnTo>
                  <a:lnTo>
                    <a:pt x="336" y="377"/>
                  </a:lnTo>
                  <a:lnTo>
                    <a:pt x="287" y="455"/>
                  </a:lnTo>
                  <a:lnTo>
                    <a:pt x="393" y="377"/>
                  </a:lnTo>
                  <a:lnTo>
                    <a:pt x="460" y="377"/>
                  </a:lnTo>
                  <a:lnTo>
                    <a:pt x="509" y="333"/>
                  </a:lnTo>
                  <a:lnTo>
                    <a:pt x="425" y="322"/>
                  </a:lnTo>
                  <a:lnTo>
                    <a:pt x="353" y="238"/>
                  </a:lnTo>
                  <a:lnTo>
                    <a:pt x="370" y="310"/>
                  </a:lnTo>
                  <a:lnTo>
                    <a:pt x="336" y="327"/>
                  </a:lnTo>
                  <a:lnTo>
                    <a:pt x="287" y="200"/>
                  </a:lnTo>
                  <a:lnTo>
                    <a:pt x="298" y="82"/>
                  </a:lnTo>
                  <a:lnTo>
                    <a:pt x="347" y="0"/>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63" name="Freeform 61">
              <a:extLst>
                <a:ext uri="{FF2B5EF4-FFF2-40B4-BE49-F238E27FC236}">
                  <a16:creationId xmlns:a16="http://schemas.microsoft.com/office/drawing/2014/main" id="{97593CDE-4C7C-4159-B753-0A77231B0668}"/>
                </a:ext>
              </a:extLst>
            </p:cNvPr>
            <p:cNvSpPr>
              <a:spLocks/>
            </p:cNvSpPr>
            <p:nvPr/>
          </p:nvSpPr>
          <p:spPr bwMode="auto">
            <a:xfrm>
              <a:off x="4801" y="3618"/>
              <a:ext cx="25" cy="86"/>
            </a:xfrm>
            <a:custGeom>
              <a:avLst/>
              <a:gdLst>
                <a:gd name="T0" fmla="*/ 25 w 50"/>
                <a:gd name="T1" fmla="*/ 0 h 173"/>
                <a:gd name="T2" fmla="*/ 0 w 50"/>
                <a:gd name="T3" fmla="*/ 36 h 173"/>
                <a:gd name="T4" fmla="*/ 0 w 50"/>
                <a:gd name="T5" fmla="*/ 86 h 173"/>
                <a:gd name="T6" fmla="*/ 25 w 50"/>
                <a:gd name="T7" fmla="*/ 0 h 173"/>
                <a:gd name="T8" fmla="*/ 25 w 50"/>
                <a:gd name="T9" fmla="*/ 0 h 173"/>
                <a:gd name="T10" fmla="*/ 0 60000 65536"/>
                <a:gd name="T11" fmla="*/ 0 60000 65536"/>
                <a:gd name="T12" fmla="*/ 0 60000 65536"/>
                <a:gd name="T13" fmla="*/ 0 60000 65536"/>
                <a:gd name="T14" fmla="*/ 0 60000 65536"/>
                <a:gd name="T15" fmla="*/ 0 w 50"/>
                <a:gd name="T16" fmla="*/ 0 h 173"/>
                <a:gd name="T17" fmla="*/ 50 w 50"/>
                <a:gd name="T18" fmla="*/ 173 h 173"/>
              </a:gdLst>
              <a:ahLst/>
              <a:cxnLst>
                <a:cxn ang="T10">
                  <a:pos x="T0" y="T1"/>
                </a:cxn>
                <a:cxn ang="T11">
                  <a:pos x="T2" y="T3"/>
                </a:cxn>
                <a:cxn ang="T12">
                  <a:pos x="T4" y="T5"/>
                </a:cxn>
                <a:cxn ang="T13">
                  <a:pos x="T6" y="T7"/>
                </a:cxn>
                <a:cxn ang="T14">
                  <a:pos x="T8" y="T9"/>
                </a:cxn>
              </a:cxnLst>
              <a:rect l="T15" t="T16" r="T17" b="T18"/>
              <a:pathLst>
                <a:path w="50" h="173">
                  <a:moveTo>
                    <a:pt x="50" y="0"/>
                  </a:moveTo>
                  <a:lnTo>
                    <a:pt x="0" y="72"/>
                  </a:lnTo>
                  <a:lnTo>
                    <a:pt x="0" y="173"/>
                  </a:lnTo>
                  <a:lnTo>
                    <a:pt x="50" y="0"/>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64" name="Freeform 62">
              <a:extLst>
                <a:ext uri="{FF2B5EF4-FFF2-40B4-BE49-F238E27FC236}">
                  <a16:creationId xmlns:a16="http://schemas.microsoft.com/office/drawing/2014/main" id="{E2A9B9F2-DE2D-4A22-B1D2-659F396271A6}"/>
                </a:ext>
              </a:extLst>
            </p:cNvPr>
            <p:cNvSpPr>
              <a:spLocks/>
            </p:cNvSpPr>
            <p:nvPr/>
          </p:nvSpPr>
          <p:spPr bwMode="auto">
            <a:xfrm>
              <a:off x="4673" y="3124"/>
              <a:ext cx="822" cy="1010"/>
            </a:xfrm>
            <a:custGeom>
              <a:avLst/>
              <a:gdLst>
                <a:gd name="T0" fmla="*/ 0 w 1643"/>
                <a:gd name="T1" fmla="*/ 0 h 2022"/>
                <a:gd name="T2" fmla="*/ 169 w 1643"/>
                <a:gd name="T3" fmla="*/ 100 h 2022"/>
                <a:gd name="T4" fmla="*/ 239 w 1643"/>
                <a:gd name="T5" fmla="*/ 89 h 2022"/>
                <a:gd name="T6" fmla="*/ 272 w 1643"/>
                <a:gd name="T7" fmla="*/ 120 h 2022"/>
                <a:gd name="T8" fmla="*/ 355 w 1643"/>
                <a:gd name="T9" fmla="*/ 414 h 2022"/>
                <a:gd name="T10" fmla="*/ 430 w 1643"/>
                <a:gd name="T11" fmla="*/ 600 h 2022"/>
                <a:gd name="T12" fmla="*/ 626 w 1643"/>
                <a:gd name="T13" fmla="*/ 836 h 2022"/>
                <a:gd name="T14" fmla="*/ 798 w 1643"/>
                <a:gd name="T15" fmla="*/ 969 h 2022"/>
                <a:gd name="T16" fmla="*/ 821 w 1643"/>
                <a:gd name="T17" fmla="*/ 1011 h 2022"/>
                <a:gd name="T18" fmla="*/ 738 w 1643"/>
                <a:gd name="T19" fmla="*/ 1011 h 2022"/>
                <a:gd name="T20" fmla="*/ 674 w 1643"/>
                <a:gd name="T21" fmla="*/ 933 h 2022"/>
                <a:gd name="T22" fmla="*/ 444 w 1643"/>
                <a:gd name="T23" fmla="*/ 703 h 2022"/>
                <a:gd name="T24" fmla="*/ 239 w 1643"/>
                <a:gd name="T25" fmla="*/ 481 h 2022"/>
                <a:gd name="T26" fmla="*/ 321 w 1643"/>
                <a:gd name="T27" fmla="*/ 517 h 2022"/>
                <a:gd name="T28" fmla="*/ 255 w 1643"/>
                <a:gd name="T29" fmla="*/ 175 h 2022"/>
                <a:gd name="T30" fmla="*/ 200 w 1643"/>
                <a:gd name="T31" fmla="*/ 153 h 2022"/>
                <a:gd name="T32" fmla="*/ 185 w 1643"/>
                <a:gd name="T33" fmla="*/ 225 h 2022"/>
                <a:gd name="T34" fmla="*/ 28 w 1643"/>
                <a:gd name="T35" fmla="*/ 65 h 2022"/>
                <a:gd name="T36" fmla="*/ 0 w 1643"/>
                <a:gd name="T37" fmla="*/ 0 h 2022"/>
                <a:gd name="T38" fmla="*/ 0 w 1643"/>
                <a:gd name="T39" fmla="*/ 0 h 202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43"/>
                <a:gd name="T61" fmla="*/ 0 h 2022"/>
                <a:gd name="T62" fmla="*/ 1643 w 1643"/>
                <a:gd name="T63" fmla="*/ 2022 h 202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43" h="2022">
                  <a:moveTo>
                    <a:pt x="0" y="0"/>
                  </a:moveTo>
                  <a:lnTo>
                    <a:pt x="339" y="199"/>
                  </a:lnTo>
                  <a:lnTo>
                    <a:pt x="478" y="178"/>
                  </a:lnTo>
                  <a:lnTo>
                    <a:pt x="544" y="239"/>
                  </a:lnTo>
                  <a:lnTo>
                    <a:pt x="710" y="828"/>
                  </a:lnTo>
                  <a:lnTo>
                    <a:pt x="860" y="1199"/>
                  </a:lnTo>
                  <a:lnTo>
                    <a:pt x="1253" y="1672"/>
                  </a:lnTo>
                  <a:lnTo>
                    <a:pt x="1597" y="1938"/>
                  </a:lnTo>
                  <a:lnTo>
                    <a:pt x="1643" y="2022"/>
                  </a:lnTo>
                  <a:lnTo>
                    <a:pt x="1476" y="2022"/>
                  </a:lnTo>
                  <a:lnTo>
                    <a:pt x="1348" y="1866"/>
                  </a:lnTo>
                  <a:lnTo>
                    <a:pt x="888" y="1406"/>
                  </a:lnTo>
                  <a:lnTo>
                    <a:pt x="478" y="961"/>
                  </a:lnTo>
                  <a:lnTo>
                    <a:pt x="643" y="1034"/>
                  </a:lnTo>
                  <a:lnTo>
                    <a:pt x="510" y="349"/>
                  </a:lnTo>
                  <a:lnTo>
                    <a:pt x="400" y="306"/>
                  </a:lnTo>
                  <a:lnTo>
                    <a:pt x="371" y="450"/>
                  </a:lnTo>
                  <a:lnTo>
                    <a:pt x="56" y="129"/>
                  </a:lnTo>
                  <a:lnTo>
                    <a:pt x="0" y="0"/>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65" name="Freeform 63">
              <a:extLst>
                <a:ext uri="{FF2B5EF4-FFF2-40B4-BE49-F238E27FC236}">
                  <a16:creationId xmlns:a16="http://schemas.microsoft.com/office/drawing/2014/main" id="{96062188-6B71-4F56-8EC9-5055FCBF1F86}"/>
                </a:ext>
              </a:extLst>
            </p:cNvPr>
            <p:cNvSpPr>
              <a:spLocks/>
            </p:cNvSpPr>
            <p:nvPr/>
          </p:nvSpPr>
          <p:spPr bwMode="auto">
            <a:xfrm>
              <a:off x="4549" y="3836"/>
              <a:ext cx="58" cy="290"/>
            </a:xfrm>
            <a:custGeom>
              <a:avLst/>
              <a:gdLst>
                <a:gd name="T0" fmla="*/ 53 w 116"/>
                <a:gd name="T1" fmla="*/ 0 h 584"/>
                <a:gd name="T2" fmla="*/ 0 w 116"/>
                <a:gd name="T3" fmla="*/ 291 h 584"/>
                <a:gd name="T4" fmla="*/ 58 w 116"/>
                <a:gd name="T5" fmla="*/ 288 h 584"/>
                <a:gd name="T6" fmla="*/ 53 w 116"/>
                <a:gd name="T7" fmla="*/ 0 h 584"/>
                <a:gd name="T8" fmla="*/ 53 w 116"/>
                <a:gd name="T9" fmla="*/ 0 h 584"/>
                <a:gd name="T10" fmla="*/ 0 60000 65536"/>
                <a:gd name="T11" fmla="*/ 0 60000 65536"/>
                <a:gd name="T12" fmla="*/ 0 60000 65536"/>
                <a:gd name="T13" fmla="*/ 0 60000 65536"/>
                <a:gd name="T14" fmla="*/ 0 60000 65536"/>
                <a:gd name="T15" fmla="*/ 0 w 116"/>
                <a:gd name="T16" fmla="*/ 0 h 584"/>
                <a:gd name="T17" fmla="*/ 116 w 116"/>
                <a:gd name="T18" fmla="*/ 584 h 584"/>
              </a:gdLst>
              <a:ahLst/>
              <a:cxnLst>
                <a:cxn ang="T10">
                  <a:pos x="T0" y="T1"/>
                </a:cxn>
                <a:cxn ang="T11">
                  <a:pos x="T2" y="T3"/>
                </a:cxn>
                <a:cxn ang="T12">
                  <a:pos x="T4" y="T5"/>
                </a:cxn>
                <a:cxn ang="T13">
                  <a:pos x="T6" y="T7"/>
                </a:cxn>
                <a:cxn ang="T14">
                  <a:pos x="T8" y="T9"/>
                </a:cxn>
              </a:cxnLst>
              <a:rect l="T15" t="T16" r="T17" b="T18"/>
              <a:pathLst>
                <a:path w="116" h="584">
                  <a:moveTo>
                    <a:pt x="105" y="0"/>
                  </a:moveTo>
                  <a:lnTo>
                    <a:pt x="0" y="584"/>
                  </a:lnTo>
                  <a:lnTo>
                    <a:pt x="116" y="578"/>
                  </a:lnTo>
                  <a:lnTo>
                    <a:pt x="105" y="0"/>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66" name="Freeform 64">
              <a:extLst>
                <a:ext uri="{FF2B5EF4-FFF2-40B4-BE49-F238E27FC236}">
                  <a16:creationId xmlns:a16="http://schemas.microsoft.com/office/drawing/2014/main" id="{F50ABD1D-C7E2-492C-A46B-BF02BA3F7732}"/>
                </a:ext>
              </a:extLst>
            </p:cNvPr>
            <p:cNvSpPr>
              <a:spLocks/>
            </p:cNvSpPr>
            <p:nvPr/>
          </p:nvSpPr>
          <p:spPr bwMode="auto">
            <a:xfrm>
              <a:off x="2977" y="2977"/>
              <a:ext cx="1408" cy="1152"/>
            </a:xfrm>
            <a:custGeom>
              <a:avLst/>
              <a:gdLst>
                <a:gd name="T0" fmla="*/ 953 w 2819"/>
                <a:gd name="T1" fmla="*/ 0 h 2303"/>
                <a:gd name="T2" fmla="*/ 758 w 2819"/>
                <a:gd name="T3" fmla="*/ 199 h 2303"/>
                <a:gd name="T4" fmla="*/ 296 w 2819"/>
                <a:gd name="T5" fmla="*/ 386 h 2303"/>
                <a:gd name="T6" fmla="*/ 174 w 2819"/>
                <a:gd name="T7" fmla="*/ 410 h 2303"/>
                <a:gd name="T8" fmla="*/ 33 w 2819"/>
                <a:gd name="T9" fmla="*/ 957 h 2303"/>
                <a:gd name="T10" fmla="*/ 0 w 2819"/>
                <a:gd name="T11" fmla="*/ 1152 h 2303"/>
                <a:gd name="T12" fmla="*/ 72 w 2819"/>
                <a:gd name="T13" fmla="*/ 1152 h 2303"/>
                <a:gd name="T14" fmla="*/ 110 w 2819"/>
                <a:gd name="T15" fmla="*/ 889 h 2303"/>
                <a:gd name="T16" fmla="*/ 190 w 2819"/>
                <a:gd name="T17" fmla="*/ 1152 h 2303"/>
                <a:gd name="T18" fmla="*/ 377 w 2819"/>
                <a:gd name="T19" fmla="*/ 1152 h 2303"/>
                <a:gd name="T20" fmla="*/ 174 w 2819"/>
                <a:gd name="T21" fmla="*/ 597 h 2303"/>
                <a:gd name="T22" fmla="*/ 206 w 2819"/>
                <a:gd name="T23" fmla="*/ 479 h 2303"/>
                <a:gd name="T24" fmla="*/ 401 w 2819"/>
                <a:gd name="T25" fmla="*/ 1084 h 2303"/>
                <a:gd name="T26" fmla="*/ 324 w 2819"/>
                <a:gd name="T27" fmla="*/ 458 h 2303"/>
                <a:gd name="T28" fmla="*/ 721 w 2819"/>
                <a:gd name="T29" fmla="*/ 317 h 2303"/>
                <a:gd name="T30" fmla="*/ 693 w 2819"/>
                <a:gd name="T31" fmla="*/ 442 h 2303"/>
                <a:gd name="T32" fmla="*/ 810 w 2819"/>
                <a:gd name="T33" fmla="*/ 186 h 2303"/>
                <a:gd name="T34" fmla="*/ 896 w 2819"/>
                <a:gd name="T35" fmla="*/ 146 h 2303"/>
                <a:gd name="T36" fmla="*/ 960 w 2819"/>
                <a:gd name="T37" fmla="*/ 329 h 2303"/>
                <a:gd name="T38" fmla="*/ 1268 w 2819"/>
                <a:gd name="T39" fmla="*/ 889 h 2303"/>
                <a:gd name="T40" fmla="*/ 1354 w 2819"/>
                <a:gd name="T41" fmla="*/ 1152 h 2303"/>
                <a:gd name="T42" fmla="*/ 1410 w 2819"/>
                <a:gd name="T43" fmla="*/ 1152 h 2303"/>
                <a:gd name="T44" fmla="*/ 1301 w 2819"/>
                <a:gd name="T45" fmla="*/ 852 h 2303"/>
                <a:gd name="T46" fmla="*/ 953 w 2819"/>
                <a:gd name="T47" fmla="*/ 240 h 2303"/>
                <a:gd name="T48" fmla="*/ 920 w 2819"/>
                <a:gd name="T49" fmla="*/ 77 h 2303"/>
                <a:gd name="T50" fmla="*/ 953 w 2819"/>
                <a:gd name="T51" fmla="*/ 0 h 2303"/>
                <a:gd name="T52" fmla="*/ 953 w 2819"/>
                <a:gd name="T53" fmla="*/ 0 h 230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819"/>
                <a:gd name="T82" fmla="*/ 0 h 2303"/>
                <a:gd name="T83" fmla="*/ 2819 w 2819"/>
                <a:gd name="T84" fmla="*/ 2303 h 230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819" h="2303">
                  <a:moveTo>
                    <a:pt x="1905" y="0"/>
                  </a:moveTo>
                  <a:lnTo>
                    <a:pt x="1515" y="397"/>
                  </a:lnTo>
                  <a:lnTo>
                    <a:pt x="591" y="771"/>
                  </a:lnTo>
                  <a:lnTo>
                    <a:pt x="348" y="819"/>
                  </a:lnTo>
                  <a:lnTo>
                    <a:pt x="65" y="1914"/>
                  </a:lnTo>
                  <a:lnTo>
                    <a:pt x="0" y="2303"/>
                  </a:lnTo>
                  <a:lnTo>
                    <a:pt x="144" y="2303"/>
                  </a:lnTo>
                  <a:lnTo>
                    <a:pt x="219" y="1777"/>
                  </a:lnTo>
                  <a:lnTo>
                    <a:pt x="380" y="2303"/>
                  </a:lnTo>
                  <a:lnTo>
                    <a:pt x="753" y="2303"/>
                  </a:lnTo>
                  <a:lnTo>
                    <a:pt x="348" y="1193"/>
                  </a:lnTo>
                  <a:lnTo>
                    <a:pt x="412" y="958"/>
                  </a:lnTo>
                  <a:lnTo>
                    <a:pt x="802" y="2167"/>
                  </a:lnTo>
                  <a:lnTo>
                    <a:pt x="648" y="916"/>
                  </a:lnTo>
                  <a:lnTo>
                    <a:pt x="1441" y="633"/>
                  </a:lnTo>
                  <a:lnTo>
                    <a:pt x="1386" y="884"/>
                  </a:lnTo>
                  <a:lnTo>
                    <a:pt x="1620" y="372"/>
                  </a:lnTo>
                  <a:lnTo>
                    <a:pt x="1791" y="292"/>
                  </a:lnTo>
                  <a:lnTo>
                    <a:pt x="1920" y="657"/>
                  </a:lnTo>
                  <a:lnTo>
                    <a:pt x="2536" y="1777"/>
                  </a:lnTo>
                  <a:lnTo>
                    <a:pt x="2707" y="2303"/>
                  </a:lnTo>
                  <a:lnTo>
                    <a:pt x="2819" y="2303"/>
                  </a:lnTo>
                  <a:lnTo>
                    <a:pt x="2601" y="1703"/>
                  </a:lnTo>
                  <a:lnTo>
                    <a:pt x="1905" y="479"/>
                  </a:lnTo>
                  <a:lnTo>
                    <a:pt x="1840" y="154"/>
                  </a:lnTo>
                  <a:lnTo>
                    <a:pt x="1905" y="0"/>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67" name="Freeform 65">
              <a:extLst>
                <a:ext uri="{FF2B5EF4-FFF2-40B4-BE49-F238E27FC236}">
                  <a16:creationId xmlns:a16="http://schemas.microsoft.com/office/drawing/2014/main" id="{F7C2F197-58C0-4A52-8638-BAD723FA64BA}"/>
                </a:ext>
              </a:extLst>
            </p:cNvPr>
            <p:cNvSpPr>
              <a:spLocks/>
            </p:cNvSpPr>
            <p:nvPr/>
          </p:nvSpPr>
          <p:spPr bwMode="auto">
            <a:xfrm>
              <a:off x="3645" y="3470"/>
              <a:ext cx="211" cy="51"/>
            </a:xfrm>
            <a:custGeom>
              <a:avLst/>
              <a:gdLst>
                <a:gd name="T0" fmla="*/ 28 w 422"/>
                <a:gd name="T1" fmla="*/ 0 h 105"/>
                <a:gd name="T2" fmla="*/ 211 w 422"/>
                <a:gd name="T3" fmla="*/ 24 h 105"/>
                <a:gd name="T4" fmla="*/ 0 w 422"/>
                <a:gd name="T5" fmla="*/ 52 h 105"/>
                <a:gd name="T6" fmla="*/ 28 w 422"/>
                <a:gd name="T7" fmla="*/ 0 h 105"/>
                <a:gd name="T8" fmla="*/ 28 w 422"/>
                <a:gd name="T9" fmla="*/ 0 h 105"/>
                <a:gd name="T10" fmla="*/ 0 60000 65536"/>
                <a:gd name="T11" fmla="*/ 0 60000 65536"/>
                <a:gd name="T12" fmla="*/ 0 60000 65536"/>
                <a:gd name="T13" fmla="*/ 0 60000 65536"/>
                <a:gd name="T14" fmla="*/ 0 60000 65536"/>
                <a:gd name="T15" fmla="*/ 0 w 422"/>
                <a:gd name="T16" fmla="*/ 0 h 105"/>
                <a:gd name="T17" fmla="*/ 422 w 422"/>
                <a:gd name="T18" fmla="*/ 105 h 105"/>
              </a:gdLst>
              <a:ahLst/>
              <a:cxnLst>
                <a:cxn ang="T10">
                  <a:pos x="T0" y="T1"/>
                </a:cxn>
                <a:cxn ang="T11">
                  <a:pos x="T2" y="T3"/>
                </a:cxn>
                <a:cxn ang="T12">
                  <a:pos x="T4" y="T5"/>
                </a:cxn>
                <a:cxn ang="T13">
                  <a:pos x="T6" y="T7"/>
                </a:cxn>
                <a:cxn ang="T14">
                  <a:pos x="T8" y="T9"/>
                </a:cxn>
              </a:cxnLst>
              <a:rect l="T15" t="T16" r="T17" b="T18"/>
              <a:pathLst>
                <a:path w="422" h="105">
                  <a:moveTo>
                    <a:pt x="57" y="0"/>
                  </a:moveTo>
                  <a:lnTo>
                    <a:pt x="422" y="48"/>
                  </a:lnTo>
                  <a:lnTo>
                    <a:pt x="0" y="105"/>
                  </a:lnTo>
                  <a:lnTo>
                    <a:pt x="57" y="0"/>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68" name="Freeform 66">
              <a:extLst>
                <a:ext uri="{FF2B5EF4-FFF2-40B4-BE49-F238E27FC236}">
                  <a16:creationId xmlns:a16="http://schemas.microsoft.com/office/drawing/2014/main" id="{F06D7B4E-9E03-4D64-9AC0-27583BBB0099}"/>
                </a:ext>
              </a:extLst>
            </p:cNvPr>
            <p:cNvSpPr>
              <a:spLocks/>
            </p:cNvSpPr>
            <p:nvPr/>
          </p:nvSpPr>
          <p:spPr bwMode="auto">
            <a:xfrm>
              <a:off x="3633" y="3624"/>
              <a:ext cx="406" cy="506"/>
            </a:xfrm>
            <a:custGeom>
              <a:avLst/>
              <a:gdLst>
                <a:gd name="T0" fmla="*/ 0 w 811"/>
                <a:gd name="T1" fmla="*/ 0 h 1013"/>
                <a:gd name="T2" fmla="*/ 385 w 811"/>
                <a:gd name="T3" fmla="*/ 454 h 1013"/>
                <a:gd name="T4" fmla="*/ 406 w 811"/>
                <a:gd name="T5" fmla="*/ 506 h 1013"/>
                <a:gd name="T6" fmla="*/ 337 w 811"/>
                <a:gd name="T7" fmla="*/ 506 h 1013"/>
                <a:gd name="T8" fmla="*/ 175 w 811"/>
                <a:gd name="T9" fmla="*/ 247 h 1013"/>
                <a:gd name="T10" fmla="*/ 0 w 811"/>
                <a:gd name="T11" fmla="*/ 0 h 1013"/>
                <a:gd name="T12" fmla="*/ 0 w 811"/>
                <a:gd name="T13" fmla="*/ 0 h 1013"/>
                <a:gd name="T14" fmla="*/ 0 60000 65536"/>
                <a:gd name="T15" fmla="*/ 0 60000 65536"/>
                <a:gd name="T16" fmla="*/ 0 60000 65536"/>
                <a:gd name="T17" fmla="*/ 0 60000 65536"/>
                <a:gd name="T18" fmla="*/ 0 60000 65536"/>
                <a:gd name="T19" fmla="*/ 0 60000 65536"/>
                <a:gd name="T20" fmla="*/ 0 60000 65536"/>
                <a:gd name="T21" fmla="*/ 0 w 811"/>
                <a:gd name="T22" fmla="*/ 0 h 1013"/>
                <a:gd name="T23" fmla="*/ 811 w 811"/>
                <a:gd name="T24" fmla="*/ 1013 h 10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1" h="1013">
                  <a:moveTo>
                    <a:pt x="0" y="0"/>
                  </a:moveTo>
                  <a:lnTo>
                    <a:pt x="770" y="909"/>
                  </a:lnTo>
                  <a:lnTo>
                    <a:pt x="811" y="1013"/>
                  </a:lnTo>
                  <a:lnTo>
                    <a:pt x="673" y="1013"/>
                  </a:lnTo>
                  <a:lnTo>
                    <a:pt x="349" y="495"/>
                  </a:lnTo>
                  <a:lnTo>
                    <a:pt x="0" y="0"/>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69" name="Freeform 67">
              <a:extLst>
                <a:ext uri="{FF2B5EF4-FFF2-40B4-BE49-F238E27FC236}">
                  <a16:creationId xmlns:a16="http://schemas.microsoft.com/office/drawing/2014/main" id="{82F81704-41C0-4CA0-BE62-E88A3B5D73CE}"/>
                </a:ext>
              </a:extLst>
            </p:cNvPr>
            <p:cNvSpPr>
              <a:spLocks/>
            </p:cNvSpPr>
            <p:nvPr/>
          </p:nvSpPr>
          <p:spPr bwMode="auto">
            <a:xfrm>
              <a:off x="4261" y="3463"/>
              <a:ext cx="64" cy="74"/>
            </a:xfrm>
            <a:custGeom>
              <a:avLst/>
              <a:gdLst>
                <a:gd name="T0" fmla="*/ 28 w 130"/>
                <a:gd name="T1" fmla="*/ 0 h 146"/>
                <a:gd name="T2" fmla="*/ 0 w 130"/>
                <a:gd name="T3" fmla="*/ 57 h 146"/>
                <a:gd name="T4" fmla="*/ 28 w 130"/>
                <a:gd name="T5" fmla="*/ 73 h 146"/>
                <a:gd name="T6" fmla="*/ 65 w 130"/>
                <a:gd name="T7" fmla="*/ 5 h 146"/>
                <a:gd name="T8" fmla="*/ 28 w 130"/>
                <a:gd name="T9" fmla="*/ 0 h 146"/>
                <a:gd name="T10" fmla="*/ 28 w 130"/>
                <a:gd name="T11" fmla="*/ 0 h 146"/>
                <a:gd name="T12" fmla="*/ 0 60000 65536"/>
                <a:gd name="T13" fmla="*/ 0 60000 65536"/>
                <a:gd name="T14" fmla="*/ 0 60000 65536"/>
                <a:gd name="T15" fmla="*/ 0 60000 65536"/>
                <a:gd name="T16" fmla="*/ 0 60000 65536"/>
                <a:gd name="T17" fmla="*/ 0 60000 65536"/>
                <a:gd name="T18" fmla="*/ 0 w 130"/>
                <a:gd name="T19" fmla="*/ 0 h 146"/>
                <a:gd name="T20" fmla="*/ 130 w 130"/>
                <a:gd name="T21" fmla="*/ 146 h 146"/>
              </a:gdLst>
              <a:ahLst/>
              <a:cxnLst>
                <a:cxn ang="T12">
                  <a:pos x="T0" y="T1"/>
                </a:cxn>
                <a:cxn ang="T13">
                  <a:pos x="T2" y="T3"/>
                </a:cxn>
                <a:cxn ang="T14">
                  <a:pos x="T4" y="T5"/>
                </a:cxn>
                <a:cxn ang="T15">
                  <a:pos x="T6" y="T7"/>
                </a:cxn>
                <a:cxn ang="T16">
                  <a:pos x="T8" y="T9"/>
                </a:cxn>
                <a:cxn ang="T17">
                  <a:pos x="T10" y="T11"/>
                </a:cxn>
              </a:cxnLst>
              <a:rect l="T18" t="T19" r="T20" b="T21"/>
              <a:pathLst>
                <a:path w="130" h="146">
                  <a:moveTo>
                    <a:pt x="57" y="0"/>
                  </a:moveTo>
                  <a:lnTo>
                    <a:pt x="0" y="114"/>
                  </a:lnTo>
                  <a:lnTo>
                    <a:pt x="57" y="146"/>
                  </a:lnTo>
                  <a:lnTo>
                    <a:pt x="130" y="9"/>
                  </a:lnTo>
                  <a:lnTo>
                    <a:pt x="57" y="0"/>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70" name="Freeform 68">
              <a:extLst>
                <a:ext uri="{FF2B5EF4-FFF2-40B4-BE49-F238E27FC236}">
                  <a16:creationId xmlns:a16="http://schemas.microsoft.com/office/drawing/2014/main" id="{D2D0A15A-437F-4E5C-8DB6-8DB6FE9A6568}"/>
                </a:ext>
              </a:extLst>
            </p:cNvPr>
            <p:cNvSpPr>
              <a:spLocks/>
            </p:cNvSpPr>
            <p:nvPr/>
          </p:nvSpPr>
          <p:spPr bwMode="auto">
            <a:xfrm>
              <a:off x="4298" y="3655"/>
              <a:ext cx="69" cy="426"/>
            </a:xfrm>
            <a:custGeom>
              <a:avLst/>
              <a:gdLst>
                <a:gd name="T0" fmla="*/ 40 w 137"/>
                <a:gd name="T1" fmla="*/ 0 h 852"/>
                <a:gd name="T2" fmla="*/ 0 w 137"/>
                <a:gd name="T3" fmla="*/ 317 h 852"/>
                <a:gd name="T4" fmla="*/ 49 w 137"/>
                <a:gd name="T5" fmla="*/ 426 h 852"/>
                <a:gd name="T6" fmla="*/ 69 w 137"/>
                <a:gd name="T7" fmla="*/ 0 h 852"/>
                <a:gd name="T8" fmla="*/ 40 w 137"/>
                <a:gd name="T9" fmla="*/ 0 h 852"/>
                <a:gd name="T10" fmla="*/ 40 w 137"/>
                <a:gd name="T11" fmla="*/ 0 h 852"/>
                <a:gd name="T12" fmla="*/ 0 60000 65536"/>
                <a:gd name="T13" fmla="*/ 0 60000 65536"/>
                <a:gd name="T14" fmla="*/ 0 60000 65536"/>
                <a:gd name="T15" fmla="*/ 0 60000 65536"/>
                <a:gd name="T16" fmla="*/ 0 60000 65536"/>
                <a:gd name="T17" fmla="*/ 0 60000 65536"/>
                <a:gd name="T18" fmla="*/ 0 w 137"/>
                <a:gd name="T19" fmla="*/ 0 h 852"/>
                <a:gd name="T20" fmla="*/ 137 w 137"/>
                <a:gd name="T21" fmla="*/ 852 h 852"/>
              </a:gdLst>
              <a:ahLst/>
              <a:cxnLst>
                <a:cxn ang="T12">
                  <a:pos x="T0" y="T1"/>
                </a:cxn>
                <a:cxn ang="T13">
                  <a:pos x="T2" y="T3"/>
                </a:cxn>
                <a:cxn ang="T14">
                  <a:pos x="T4" y="T5"/>
                </a:cxn>
                <a:cxn ang="T15">
                  <a:pos x="T6" y="T7"/>
                </a:cxn>
                <a:cxn ang="T16">
                  <a:pos x="T8" y="T9"/>
                </a:cxn>
                <a:cxn ang="T17">
                  <a:pos x="T10" y="T11"/>
                </a:cxn>
              </a:cxnLst>
              <a:rect l="T18" t="T19" r="T20" b="T21"/>
              <a:pathLst>
                <a:path w="137" h="852">
                  <a:moveTo>
                    <a:pt x="80" y="0"/>
                  </a:moveTo>
                  <a:lnTo>
                    <a:pt x="0" y="633"/>
                  </a:lnTo>
                  <a:lnTo>
                    <a:pt x="97" y="852"/>
                  </a:lnTo>
                  <a:lnTo>
                    <a:pt x="137" y="0"/>
                  </a:lnTo>
                  <a:lnTo>
                    <a:pt x="80" y="0"/>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71" name="Freeform 69">
              <a:extLst>
                <a:ext uri="{FF2B5EF4-FFF2-40B4-BE49-F238E27FC236}">
                  <a16:creationId xmlns:a16="http://schemas.microsoft.com/office/drawing/2014/main" id="{5EAD4339-CFD5-49A3-9FE8-8008990FCC0B}"/>
                </a:ext>
              </a:extLst>
            </p:cNvPr>
            <p:cNvSpPr>
              <a:spLocks/>
            </p:cNvSpPr>
            <p:nvPr/>
          </p:nvSpPr>
          <p:spPr bwMode="auto">
            <a:xfrm>
              <a:off x="4511" y="3784"/>
              <a:ext cx="81" cy="264"/>
            </a:xfrm>
            <a:custGeom>
              <a:avLst/>
              <a:gdLst>
                <a:gd name="T0" fmla="*/ 0 w 164"/>
                <a:gd name="T1" fmla="*/ 0 h 529"/>
                <a:gd name="T2" fmla="*/ 77 w 164"/>
                <a:gd name="T3" fmla="*/ 264 h 529"/>
                <a:gd name="T4" fmla="*/ 82 w 164"/>
                <a:gd name="T5" fmla="*/ 179 h 529"/>
                <a:gd name="T6" fmla="*/ 28 w 164"/>
                <a:gd name="T7" fmla="*/ 9 h 529"/>
                <a:gd name="T8" fmla="*/ 0 w 164"/>
                <a:gd name="T9" fmla="*/ 0 h 529"/>
                <a:gd name="T10" fmla="*/ 0 w 164"/>
                <a:gd name="T11" fmla="*/ 0 h 529"/>
                <a:gd name="T12" fmla="*/ 0 60000 65536"/>
                <a:gd name="T13" fmla="*/ 0 60000 65536"/>
                <a:gd name="T14" fmla="*/ 0 60000 65536"/>
                <a:gd name="T15" fmla="*/ 0 60000 65536"/>
                <a:gd name="T16" fmla="*/ 0 60000 65536"/>
                <a:gd name="T17" fmla="*/ 0 60000 65536"/>
                <a:gd name="T18" fmla="*/ 0 w 164"/>
                <a:gd name="T19" fmla="*/ 0 h 529"/>
                <a:gd name="T20" fmla="*/ 164 w 164"/>
                <a:gd name="T21" fmla="*/ 529 h 529"/>
              </a:gdLst>
              <a:ahLst/>
              <a:cxnLst>
                <a:cxn ang="T12">
                  <a:pos x="T0" y="T1"/>
                </a:cxn>
                <a:cxn ang="T13">
                  <a:pos x="T2" y="T3"/>
                </a:cxn>
                <a:cxn ang="T14">
                  <a:pos x="T4" y="T5"/>
                </a:cxn>
                <a:cxn ang="T15">
                  <a:pos x="T6" y="T7"/>
                </a:cxn>
                <a:cxn ang="T16">
                  <a:pos x="T8" y="T9"/>
                </a:cxn>
                <a:cxn ang="T17">
                  <a:pos x="T10" y="T11"/>
                </a:cxn>
              </a:cxnLst>
              <a:rect l="T18" t="T19" r="T20" b="T21"/>
              <a:pathLst>
                <a:path w="164" h="529">
                  <a:moveTo>
                    <a:pt x="0" y="0"/>
                  </a:moveTo>
                  <a:lnTo>
                    <a:pt x="154" y="529"/>
                  </a:lnTo>
                  <a:lnTo>
                    <a:pt x="164" y="358"/>
                  </a:lnTo>
                  <a:lnTo>
                    <a:pt x="57" y="18"/>
                  </a:lnTo>
                  <a:lnTo>
                    <a:pt x="0" y="0"/>
                  </a:lnTo>
                  <a:close/>
                </a:path>
              </a:pathLst>
            </a:custGeom>
            <a:solidFill>
              <a:srgbClr val="000000"/>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72" name="Freeform 70">
              <a:extLst>
                <a:ext uri="{FF2B5EF4-FFF2-40B4-BE49-F238E27FC236}">
                  <a16:creationId xmlns:a16="http://schemas.microsoft.com/office/drawing/2014/main" id="{C4479282-641B-454E-B10F-610CACD25EF7}"/>
                </a:ext>
              </a:extLst>
            </p:cNvPr>
            <p:cNvSpPr>
              <a:spLocks/>
            </p:cNvSpPr>
            <p:nvPr/>
          </p:nvSpPr>
          <p:spPr bwMode="auto">
            <a:xfrm>
              <a:off x="4252" y="2064"/>
              <a:ext cx="375" cy="189"/>
            </a:xfrm>
            <a:custGeom>
              <a:avLst/>
              <a:gdLst>
                <a:gd name="T0" fmla="*/ 375 w 751"/>
                <a:gd name="T1" fmla="*/ 31 h 378"/>
                <a:gd name="T2" fmla="*/ 296 w 751"/>
                <a:gd name="T3" fmla="*/ 0 h 378"/>
                <a:gd name="T4" fmla="*/ 308 w 751"/>
                <a:gd name="T5" fmla="*/ 43 h 378"/>
                <a:gd name="T6" fmla="*/ 181 w 751"/>
                <a:gd name="T7" fmla="*/ 31 h 378"/>
                <a:gd name="T8" fmla="*/ 229 w 751"/>
                <a:gd name="T9" fmla="*/ 63 h 378"/>
                <a:gd name="T10" fmla="*/ 0 w 751"/>
                <a:gd name="T11" fmla="*/ 122 h 378"/>
                <a:gd name="T12" fmla="*/ 185 w 751"/>
                <a:gd name="T13" fmla="*/ 102 h 378"/>
                <a:gd name="T14" fmla="*/ 15 w 751"/>
                <a:gd name="T15" fmla="*/ 189 h 378"/>
                <a:gd name="T16" fmla="*/ 312 w 751"/>
                <a:gd name="T17" fmla="*/ 99 h 378"/>
                <a:gd name="T18" fmla="*/ 299 w 751"/>
                <a:gd name="T19" fmla="*/ 72 h 378"/>
                <a:gd name="T20" fmla="*/ 351 w 751"/>
                <a:gd name="T21" fmla="*/ 75 h 378"/>
                <a:gd name="T22" fmla="*/ 375 w 751"/>
                <a:gd name="T23" fmla="*/ 31 h 378"/>
                <a:gd name="T24" fmla="*/ 375 w 751"/>
                <a:gd name="T25" fmla="*/ 31 h 3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1"/>
                <a:gd name="T40" fmla="*/ 0 h 378"/>
                <a:gd name="T41" fmla="*/ 751 w 751"/>
                <a:gd name="T42" fmla="*/ 378 h 3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1" h="378">
                  <a:moveTo>
                    <a:pt x="751" y="63"/>
                  </a:moveTo>
                  <a:lnTo>
                    <a:pt x="592" y="0"/>
                  </a:lnTo>
                  <a:lnTo>
                    <a:pt x="616" y="86"/>
                  </a:lnTo>
                  <a:lnTo>
                    <a:pt x="363" y="63"/>
                  </a:lnTo>
                  <a:lnTo>
                    <a:pt x="458" y="126"/>
                  </a:lnTo>
                  <a:lnTo>
                    <a:pt x="0" y="245"/>
                  </a:lnTo>
                  <a:lnTo>
                    <a:pt x="371" y="205"/>
                  </a:lnTo>
                  <a:lnTo>
                    <a:pt x="31" y="378"/>
                  </a:lnTo>
                  <a:lnTo>
                    <a:pt x="624" y="198"/>
                  </a:lnTo>
                  <a:lnTo>
                    <a:pt x="599" y="143"/>
                  </a:lnTo>
                  <a:lnTo>
                    <a:pt x="702" y="150"/>
                  </a:lnTo>
                  <a:lnTo>
                    <a:pt x="751" y="63"/>
                  </a:lnTo>
                  <a:close/>
                </a:path>
              </a:pathLst>
            </a:custGeom>
            <a:solidFill>
              <a:srgbClr val="FFAB66"/>
            </a:solidFill>
            <a:ln w="9525">
              <a:noFill/>
              <a:round/>
              <a:headEnd/>
              <a:tailEnd/>
            </a:ln>
          </p:spPr>
          <p:txBody>
            <a:bodyPr/>
            <a:lstStyle/>
            <a:p>
              <a:pPr algn="ctr">
                <a:defRPr/>
              </a:pPr>
              <a:endParaRPr lang="zh-CN" altLang="en-US">
                <a:effectLst>
                  <a:outerShdw blurRad="38100" dist="38100" dir="2700000" algn="tl">
                    <a:srgbClr val="000000">
                      <a:alpha val="43137"/>
                    </a:srgbClr>
                  </a:outerShdw>
                </a:effectLst>
                <a:latin typeface="Arial" charset="0"/>
              </a:endParaRPr>
            </a:p>
          </p:txBody>
        </p:sp>
      </p:grpSp>
      <p:sp>
        <p:nvSpPr>
          <p:cNvPr id="76" name="AutoShape 2">
            <a:extLst>
              <a:ext uri="{FF2B5EF4-FFF2-40B4-BE49-F238E27FC236}">
                <a16:creationId xmlns:a16="http://schemas.microsoft.com/office/drawing/2014/main" id="{A209F548-FDAF-4246-BAE9-69658740EBDA}"/>
              </a:ext>
            </a:extLst>
          </p:cNvPr>
          <p:cNvSpPr>
            <a:spLocks noChangeArrowheads="1"/>
          </p:cNvSpPr>
          <p:nvPr/>
        </p:nvSpPr>
        <p:spPr bwMode="auto">
          <a:xfrm>
            <a:off x="899592" y="2101479"/>
            <a:ext cx="7772400" cy="2136775"/>
          </a:xfrm>
          <a:prstGeom prst="wedgeRoundRectCallout">
            <a:avLst>
              <a:gd name="adj1" fmla="val -3125"/>
              <a:gd name="adj2" fmla="val 73032"/>
              <a:gd name="adj3" fmla="val 16667"/>
            </a:avLst>
          </a:prstGeom>
          <a:solidFill>
            <a:schemeClr val="bg1"/>
          </a:solidFill>
          <a:ln w="9525">
            <a:solidFill>
              <a:schemeClr val="tx1"/>
            </a:solidFill>
            <a:miter lim="800000"/>
            <a:headEnd/>
            <a:tailEnd/>
          </a:ln>
          <a:effectLst>
            <a:outerShdw dist="107763" dir="2700000" algn="ctr" rotWithShape="0">
              <a:schemeClr val="tx1"/>
            </a:outerShdw>
          </a:effectLst>
        </p:spPr>
        <p:txBody>
          <a:bodyPr anchor="ctr"/>
          <a:lstStyle/>
          <a:p>
            <a:pPr marL="457200" indent="-457200" algn="ctr">
              <a:spcBef>
                <a:spcPct val="20000"/>
              </a:spcBef>
              <a:buClr>
                <a:schemeClr val="tx2"/>
              </a:buClr>
              <a:buSzPct val="60000"/>
              <a:buFont typeface="Wingdings" panose="05000000000000000000" pitchFamily="2" charset="2"/>
              <a:buChar char="n"/>
              <a:defRPr/>
            </a:pPr>
            <a:r>
              <a:rPr lang="zh-CN" altLang="en-US" sz="2600" dirty="0">
                <a:latin typeface="黑体" panose="02010609060101010101" pitchFamily="49" charset="-122"/>
                <a:ea typeface="黑体" panose="02010609060101010101" pitchFamily="49" charset="-122"/>
              </a:rPr>
              <a:t>执行新准则时，如果对某事项，基本准则和具体准则规范之间存在矛盾，应如何处理？</a:t>
            </a:r>
          </a:p>
        </p:txBody>
      </p:sp>
    </p:spTree>
    <p:extLst>
      <p:ext uri="{BB962C8B-B14F-4D97-AF65-F5344CB8AC3E}">
        <p14:creationId xmlns:p14="http://schemas.microsoft.com/office/powerpoint/2010/main" val="190516639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en-US" altLang="zh-CN" dirty="0"/>
              <a:t>1.3 </a:t>
            </a:r>
            <a:r>
              <a:rPr lang="zh-CN" altLang="en-US" dirty="0"/>
              <a:t>会计职业道德</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pPr>
              <a:defRPr/>
            </a:pPr>
            <a:r>
              <a:rPr lang="zh-CN" altLang="en-US" dirty="0"/>
              <a:t>会计职业道德</a:t>
            </a:r>
          </a:p>
          <a:p>
            <a:pPr>
              <a:defRPr/>
            </a:pPr>
            <a:endParaRPr lang="zh-CN" altLang="en-US" dirty="0"/>
          </a:p>
          <a:p>
            <a:pPr>
              <a:defRPr/>
            </a:pPr>
            <a:r>
              <a:rPr lang="zh-CN" altLang="en-US" dirty="0"/>
              <a:t>作为信息的提供者，会计行业是一个需要高度诚信的行业</a:t>
            </a:r>
          </a:p>
          <a:p>
            <a:pPr lvl="1">
              <a:defRPr/>
            </a:pPr>
            <a:r>
              <a:rPr lang="zh-CN" altLang="en-US" dirty="0"/>
              <a:t>诚信为本</a:t>
            </a:r>
          </a:p>
          <a:p>
            <a:pPr lvl="1">
              <a:defRPr/>
            </a:pPr>
            <a:r>
              <a:rPr lang="zh-CN" altLang="en-US" dirty="0"/>
              <a:t>操守为重</a:t>
            </a:r>
          </a:p>
          <a:p>
            <a:pPr lvl="1">
              <a:defRPr/>
            </a:pPr>
            <a:r>
              <a:rPr lang="zh-CN" altLang="en-US" dirty="0"/>
              <a:t>坚持准则</a:t>
            </a:r>
          </a:p>
          <a:p>
            <a:pPr lvl="1">
              <a:defRPr/>
            </a:pPr>
            <a:r>
              <a:rPr lang="zh-CN" altLang="en-US" dirty="0"/>
              <a:t>不作假账 </a:t>
            </a:r>
          </a:p>
          <a:p>
            <a:pPr>
              <a:defRPr/>
            </a:pPr>
            <a:endParaRPr lang="en-US" altLang="zh-CN" dirty="0"/>
          </a:p>
        </p:txBody>
      </p:sp>
    </p:spTree>
    <p:extLst>
      <p:ext uri="{BB962C8B-B14F-4D97-AF65-F5344CB8AC3E}">
        <p14:creationId xmlns:p14="http://schemas.microsoft.com/office/powerpoint/2010/main" val="263901747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955429" y="1988840"/>
            <a:ext cx="7793036" cy="4114800"/>
          </a:xfrm>
        </p:spPr>
        <p:txBody>
          <a:bodyPr/>
          <a:lstStyle/>
          <a:p>
            <a:pPr>
              <a:defRPr/>
            </a:pPr>
            <a:r>
              <a:rPr lang="zh-CN" altLang="en-US" dirty="0"/>
              <a:t>一位著名的会计伦理领域内的评论家罗伯特</a:t>
            </a:r>
            <a:r>
              <a:rPr lang="en-US" altLang="zh-CN" dirty="0"/>
              <a:t>.</a:t>
            </a:r>
            <a:r>
              <a:rPr lang="zh-CN" altLang="en-US" dirty="0"/>
              <a:t>萨克（</a:t>
            </a:r>
            <a:r>
              <a:rPr lang="en-US" altLang="zh-CN" dirty="0"/>
              <a:t>Robert Sack</a:t>
            </a:r>
            <a:r>
              <a:rPr lang="zh-CN" altLang="en-US" dirty="0"/>
              <a:t>）注意到：</a:t>
            </a:r>
            <a:endParaRPr lang="en-US" altLang="zh-CN" dirty="0"/>
          </a:p>
          <a:p>
            <a:pPr>
              <a:defRPr/>
            </a:pPr>
            <a:r>
              <a:rPr lang="zh-CN" altLang="en-US" dirty="0"/>
              <a:t>基于我的经验，新毕业的学生倾向于理想主义</a:t>
            </a:r>
            <a:r>
              <a:rPr lang="en-US" altLang="zh-CN" dirty="0"/>
              <a:t>…</a:t>
            </a:r>
            <a:r>
              <a:rPr lang="zh-CN" altLang="en-US" dirty="0"/>
              <a:t>谢天谢地！当认为你已经做好了抵御的准备，并对自己说“我绝不屈服”时，这仍旧是非常危险的。压力并不会突然降临到我们身上，他们不断积聚，直到降临到我们身上，否则我们经常并不会意识到。</a:t>
            </a:r>
            <a:endParaRPr lang="en-US" altLang="zh-CN" dirty="0"/>
          </a:p>
          <a:p>
            <a:pPr>
              <a:defRPr/>
            </a:pPr>
            <a:r>
              <a:rPr lang="zh-CN" altLang="en-US" dirty="0"/>
              <a:t>当上司要求你做不应该的事时，是通融，还是照章办事？</a:t>
            </a:r>
          </a:p>
        </p:txBody>
      </p:sp>
    </p:spTree>
    <p:extLst>
      <p:ext uri="{BB962C8B-B14F-4D97-AF65-F5344CB8AC3E}">
        <p14:creationId xmlns:p14="http://schemas.microsoft.com/office/powerpoint/2010/main" val="13779892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相关案例分析</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62051" y="1916832"/>
            <a:ext cx="7772400" cy="4840287"/>
          </a:xfrm>
        </p:spPr>
        <p:txBody>
          <a:bodyPr/>
          <a:lstStyle/>
          <a:p>
            <a:r>
              <a:rPr lang="zh-CN" altLang="en-US" dirty="0"/>
              <a:t>阅读</a:t>
            </a:r>
            <a:r>
              <a:rPr lang="en-US" altLang="zh-CN" dirty="0"/>
              <a:t>P25</a:t>
            </a:r>
            <a:r>
              <a:rPr lang="zh-CN" altLang="en-US" dirty="0"/>
              <a:t>页相关案例，并网上查阅天能科技的相关资料，分析以下问题：</a:t>
            </a:r>
          </a:p>
          <a:p>
            <a:pPr lvl="1"/>
            <a:r>
              <a:rPr lang="en-US" altLang="zh-CN" dirty="0"/>
              <a:t>1. </a:t>
            </a:r>
            <a:r>
              <a:rPr lang="zh-CN" altLang="en-US" dirty="0"/>
              <a:t>天能科技的财务报告违背了哪些会计信息质量要求？</a:t>
            </a:r>
          </a:p>
          <a:p>
            <a:pPr lvl="1"/>
            <a:r>
              <a:rPr lang="en-US" altLang="zh-CN" dirty="0"/>
              <a:t>2</a:t>
            </a:r>
            <a:r>
              <a:rPr lang="zh-CN" altLang="en-US" dirty="0"/>
              <a:t>．天能科技财务造假行为主要有哪些？作为公司投资者，如何有效发现公司的财务造假行为以避免投资损失？ </a:t>
            </a:r>
          </a:p>
          <a:p>
            <a:pPr lvl="1"/>
            <a:r>
              <a:rPr lang="en-US" altLang="zh-CN" dirty="0"/>
              <a:t>3</a:t>
            </a:r>
            <a:r>
              <a:rPr lang="zh-CN" altLang="en-US" dirty="0"/>
              <a:t>．如果你作为一名会计主管，应如何在坚持会计职业道德和执行公司高层意志方面进行决策？</a:t>
            </a:r>
          </a:p>
          <a:p>
            <a:r>
              <a:rPr lang="zh-CN" altLang="en-US" dirty="0"/>
              <a:t>请进一步搜索银广夏、美国安然公司、美国世通公司财务舞弊案，比较分析总结公司财务造假的主要手段和方法？ </a:t>
            </a:r>
          </a:p>
          <a:p>
            <a:endParaRPr lang="zh-CN" altLang="en-US" dirty="0"/>
          </a:p>
        </p:txBody>
      </p:sp>
    </p:spTree>
    <p:extLst>
      <p:ext uri="{BB962C8B-B14F-4D97-AF65-F5344CB8AC3E}">
        <p14:creationId xmlns:p14="http://schemas.microsoft.com/office/powerpoint/2010/main" val="300671123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a:xfrm>
            <a:off x="1818323" y="2028349"/>
            <a:ext cx="5829300" cy="3321368"/>
          </a:xfrm>
        </p:spPr>
        <p:txBody>
          <a:bodyPr/>
          <a:lstStyle/>
          <a:p>
            <a:pPr eaLnBrk="1" hangingPunct="1"/>
            <a:endParaRPr lang="en-US" altLang="zh-CN" dirty="0"/>
          </a:p>
          <a:p>
            <a:pPr eaLnBrk="1" hangingPunct="1"/>
            <a:endParaRPr lang="en-US" altLang="zh-CN" dirty="0"/>
          </a:p>
          <a:p>
            <a:pPr algn="ctr" eaLnBrk="1" hangingPunct="1"/>
            <a:r>
              <a:rPr lang="zh-CN" altLang="en-US" sz="3300" dirty="0">
                <a:latin typeface="黑体" panose="02010609060101010101" pitchFamily="2" charset="-122"/>
                <a:ea typeface="黑体" panose="02010609060101010101" pitchFamily="2" charset="-122"/>
                <a:cs typeface="黑体" panose="02010609060101010101" pitchFamily="2" charset="-122"/>
              </a:rPr>
              <a:t>本书的逻辑主线及基本结构</a:t>
            </a:r>
          </a:p>
        </p:txBody>
      </p:sp>
    </p:spTree>
    <p:extLst>
      <p:ext uri="{BB962C8B-B14F-4D97-AF65-F5344CB8AC3E}">
        <p14:creationId xmlns:p14="http://schemas.microsoft.com/office/powerpoint/2010/main" val="25014713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（一） 逻辑主线</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基本会计假设</a:t>
            </a:r>
          </a:p>
          <a:p>
            <a:endParaRPr lang="zh-CN" altLang="en-US" dirty="0"/>
          </a:p>
          <a:p>
            <a:pPr marL="0" indent="0">
              <a:buNone/>
            </a:pPr>
            <a:endParaRPr lang="en-US" altLang="zh-CN" dirty="0"/>
          </a:p>
          <a:p>
            <a:r>
              <a:rPr lang="zh-CN" altLang="en-US" dirty="0"/>
              <a:t> 会计要素 </a:t>
            </a:r>
          </a:p>
          <a:p>
            <a:pPr marL="0" indent="0">
              <a:buNone/>
            </a:pPr>
            <a:r>
              <a:rPr lang="zh-CN" altLang="en-US" dirty="0"/>
              <a:t> </a:t>
            </a:r>
          </a:p>
        </p:txBody>
      </p:sp>
      <p:pic>
        <p:nvPicPr>
          <p:cNvPr id="4" name="Picture 18" descr="GEL Freestyle Arrow MS-red">
            <a:extLst>
              <a:ext uri="{FF2B5EF4-FFF2-40B4-BE49-F238E27FC236}">
                <a16:creationId xmlns:a16="http://schemas.microsoft.com/office/drawing/2014/main" id="{6DCF50A8-DF93-4100-8F07-5FA181273E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292558">
            <a:off x="2135390" y="2685210"/>
            <a:ext cx="423863"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9" descr="GEL Freestyle Arrow MS-red">
            <a:extLst>
              <a:ext uri="{FF2B5EF4-FFF2-40B4-BE49-F238E27FC236}">
                <a16:creationId xmlns:a16="http://schemas.microsoft.com/office/drawing/2014/main" id="{DD6D682F-3595-4396-B9A4-C22352973AB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7030328">
            <a:off x="2197795" y="3988647"/>
            <a:ext cx="455612" cy="65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3">
            <a:extLst>
              <a:ext uri="{FF2B5EF4-FFF2-40B4-BE49-F238E27FC236}">
                <a16:creationId xmlns:a16="http://schemas.microsoft.com/office/drawing/2014/main" id="{12A9B63D-E3D3-4A81-8016-592D75B69C40}"/>
              </a:ext>
            </a:extLst>
          </p:cNvPr>
          <p:cNvGrpSpPr>
            <a:grpSpLocks/>
          </p:cNvGrpSpPr>
          <p:nvPr/>
        </p:nvGrpSpPr>
        <p:grpSpPr bwMode="auto">
          <a:xfrm>
            <a:off x="1147000" y="4941168"/>
            <a:ext cx="1225550" cy="911225"/>
            <a:chOff x="624" y="3031"/>
            <a:chExt cx="772" cy="574"/>
          </a:xfrm>
        </p:grpSpPr>
        <p:sp>
          <p:nvSpPr>
            <p:cNvPr id="7" name="Freeform 4">
              <a:extLst>
                <a:ext uri="{FF2B5EF4-FFF2-40B4-BE49-F238E27FC236}">
                  <a16:creationId xmlns:a16="http://schemas.microsoft.com/office/drawing/2014/main" id="{19394DA8-649B-4A21-8BC2-B222F4089261}"/>
                </a:ext>
              </a:extLst>
            </p:cNvPr>
            <p:cNvSpPr>
              <a:spLocks/>
            </p:cNvSpPr>
            <p:nvPr/>
          </p:nvSpPr>
          <p:spPr bwMode="auto">
            <a:xfrm>
              <a:off x="624" y="3031"/>
              <a:ext cx="772" cy="574"/>
            </a:xfrm>
            <a:custGeom>
              <a:avLst/>
              <a:gdLst/>
              <a:ahLst/>
              <a:cxnLst>
                <a:cxn ang="0">
                  <a:pos x="573" y="376"/>
                </a:cxn>
                <a:cxn ang="0">
                  <a:pos x="573" y="0"/>
                </a:cxn>
                <a:cxn ang="0">
                  <a:pos x="0" y="0"/>
                </a:cxn>
                <a:cxn ang="0">
                  <a:pos x="0" y="574"/>
                </a:cxn>
                <a:cxn ang="0">
                  <a:pos x="772" y="574"/>
                </a:cxn>
              </a:cxnLst>
              <a:rect l="0" t="0" r="r" b="b"/>
              <a:pathLst>
                <a:path w="772" h="574">
                  <a:moveTo>
                    <a:pt x="573" y="376"/>
                  </a:moveTo>
                  <a:lnTo>
                    <a:pt x="573" y="0"/>
                  </a:lnTo>
                  <a:lnTo>
                    <a:pt x="0" y="0"/>
                  </a:lnTo>
                  <a:lnTo>
                    <a:pt x="0" y="574"/>
                  </a:lnTo>
                  <a:lnTo>
                    <a:pt x="772" y="574"/>
                  </a:lnTo>
                </a:path>
              </a:pathLst>
            </a:custGeom>
            <a:noFill/>
            <a:ln w="38100" cap="flat" cmpd="sng">
              <a:solidFill>
                <a:schemeClr val="folHlink"/>
              </a:solidFill>
              <a:prstDash val="solid"/>
              <a:round/>
              <a:headEnd type="none" w="med" len="med"/>
              <a:tailEnd type="triangle" w="med" len="lg"/>
            </a:ln>
            <a:effectLst/>
          </p:spPr>
          <p:txBody>
            <a:bodyPr wrap="none" lIns="0" tIns="0" rIns="0" bIns="0" anchor="ct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8" name="Text Box 5">
              <a:extLst>
                <a:ext uri="{FF2B5EF4-FFF2-40B4-BE49-F238E27FC236}">
                  <a16:creationId xmlns:a16="http://schemas.microsoft.com/office/drawing/2014/main" id="{5B2024E2-8133-4DB3-B473-66A2E22B8C16}"/>
                </a:ext>
              </a:extLst>
            </p:cNvPr>
            <p:cNvSpPr txBox="1">
              <a:spLocks noChangeArrowheads="1"/>
            </p:cNvSpPr>
            <p:nvPr/>
          </p:nvSpPr>
          <p:spPr bwMode="auto">
            <a:xfrm>
              <a:off x="649" y="3160"/>
              <a:ext cx="494" cy="231"/>
            </a:xfrm>
            <a:prstGeom prst="rect">
              <a:avLst/>
            </a:prstGeom>
            <a:noFill/>
            <a:ln w="12700">
              <a:noFill/>
              <a:miter lim="800000"/>
              <a:headEnd type="none" w="sm" len="sm"/>
              <a:tailEnd type="none" w="sm" len="sm"/>
            </a:ln>
            <a:effectLst/>
          </p:spPr>
          <p:txBody>
            <a:bodyPr>
              <a:spAutoFit/>
            </a:bodyPr>
            <a:lstStyle/>
            <a:p>
              <a:pPr algn="ctr">
                <a:spcBef>
                  <a:spcPct val="50000"/>
                </a:spcBef>
                <a:defRPr/>
              </a:pPr>
              <a:r>
                <a:rPr lang="zh-CN" altLang="en-US" sz="1800">
                  <a:solidFill>
                    <a:srgbClr val="FF0000"/>
                  </a:solidFill>
                  <a:effectLst>
                    <a:outerShdw blurRad="38100" dist="38100" dir="2700000" algn="tl">
                      <a:srgbClr val="000000"/>
                    </a:outerShdw>
                  </a:effectLst>
                  <a:latin typeface="Arial" charset="0"/>
                </a:rPr>
                <a:t>确认</a:t>
              </a:r>
            </a:p>
          </p:txBody>
        </p:sp>
      </p:grpSp>
      <p:grpSp>
        <p:nvGrpSpPr>
          <p:cNvPr id="9" name="Group 6">
            <a:extLst>
              <a:ext uri="{FF2B5EF4-FFF2-40B4-BE49-F238E27FC236}">
                <a16:creationId xmlns:a16="http://schemas.microsoft.com/office/drawing/2014/main" id="{56B97F0C-967E-4A7B-8001-F50873D4CA7F}"/>
              </a:ext>
            </a:extLst>
          </p:cNvPr>
          <p:cNvGrpSpPr>
            <a:grpSpLocks/>
          </p:cNvGrpSpPr>
          <p:nvPr/>
        </p:nvGrpSpPr>
        <p:grpSpPr bwMode="auto">
          <a:xfrm>
            <a:off x="2604325" y="4941168"/>
            <a:ext cx="1225550" cy="911225"/>
            <a:chOff x="1542" y="3031"/>
            <a:chExt cx="772" cy="574"/>
          </a:xfrm>
        </p:grpSpPr>
        <p:sp>
          <p:nvSpPr>
            <p:cNvPr id="10" name="Freeform 7">
              <a:extLst>
                <a:ext uri="{FF2B5EF4-FFF2-40B4-BE49-F238E27FC236}">
                  <a16:creationId xmlns:a16="http://schemas.microsoft.com/office/drawing/2014/main" id="{1EABF7BD-5744-4E78-BF64-C420E5350EC3}"/>
                </a:ext>
              </a:extLst>
            </p:cNvPr>
            <p:cNvSpPr>
              <a:spLocks/>
            </p:cNvSpPr>
            <p:nvPr/>
          </p:nvSpPr>
          <p:spPr bwMode="auto">
            <a:xfrm>
              <a:off x="1542" y="3031"/>
              <a:ext cx="772" cy="574"/>
            </a:xfrm>
            <a:custGeom>
              <a:avLst/>
              <a:gdLst/>
              <a:ahLst/>
              <a:cxnLst>
                <a:cxn ang="0">
                  <a:pos x="573" y="376"/>
                </a:cxn>
                <a:cxn ang="0">
                  <a:pos x="573" y="0"/>
                </a:cxn>
                <a:cxn ang="0">
                  <a:pos x="0" y="0"/>
                </a:cxn>
                <a:cxn ang="0">
                  <a:pos x="0" y="574"/>
                </a:cxn>
                <a:cxn ang="0">
                  <a:pos x="772" y="574"/>
                </a:cxn>
              </a:cxnLst>
              <a:rect l="0" t="0" r="r" b="b"/>
              <a:pathLst>
                <a:path w="772" h="574">
                  <a:moveTo>
                    <a:pt x="573" y="376"/>
                  </a:moveTo>
                  <a:lnTo>
                    <a:pt x="573" y="0"/>
                  </a:lnTo>
                  <a:lnTo>
                    <a:pt x="0" y="0"/>
                  </a:lnTo>
                  <a:lnTo>
                    <a:pt x="0" y="574"/>
                  </a:lnTo>
                  <a:lnTo>
                    <a:pt x="772" y="574"/>
                  </a:lnTo>
                </a:path>
              </a:pathLst>
            </a:custGeom>
            <a:noFill/>
            <a:ln w="38100" cap="flat" cmpd="sng">
              <a:solidFill>
                <a:schemeClr val="folHlink"/>
              </a:solidFill>
              <a:prstDash val="solid"/>
              <a:round/>
              <a:headEnd type="none" w="med" len="med"/>
              <a:tailEnd type="triangle" w="med" len="lg"/>
            </a:ln>
            <a:effectLst/>
          </p:spPr>
          <p:txBody>
            <a:bodyPr wrap="none" lIns="0" tIns="0" rIns="0" bIns="0" anchor="ct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11" name="Text Box 8">
              <a:extLst>
                <a:ext uri="{FF2B5EF4-FFF2-40B4-BE49-F238E27FC236}">
                  <a16:creationId xmlns:a16="http://schemas.microsoft.com/office/drawing/2014/main" id="{602ED3E7-F277-46AB-B3CB-26A7272675D2}"/>
                </a:ext>
              </a:extLst>
            </p:cNvPr>
            <p:cNvSpPr txBox="1">
              <a:spLocks noChangeArrowheads="1"/>
            </p:cNvSpPr>
            <p:nvPr/>
          </p:nvSpPr>
          <p:spPr bwMode="auto">
            <a:xfrm>
              <a:off x="1580" y="3160"/>
              <a:ext cx="494" cy="231"/>
            </a:xfrm>
            <a:prstGeom prst="rect">
              <a:avLst/>
            </a:prstGeom>
            <a:noFill/>
            <a:ln w="12700">
              <a:noFill/>
              <a:miter lim="800000"/>
              <a:headEnd type="none" w="sm" len="sm"/>
              <a:tailEnd type="none" w="sm" len="sm"/>
            </a:ln>
            <a:effectLst/>
          </p:spPr>
          <p:txBody>
            <a:bodyPr>
              <a:spAutoFit/>
            </a:bodyPr>
            <a:lstStyle/>
            <a:p>
              <a:pPr algn="ctr">
                <a:spcBef>
                  <a:spcPct val="50000"/>
                </a:spcBef>
                <a:defRPr/>
              </a:pPr>
              <a:r>
                <a:rPr lang="zh-CN" altLang="en-US" sz="1800">
                  <a:solidFill>
                    <a:srgbClr val="FF0000"/>
                  </a:solidFill>
                  <a:effectLst>
                    <a:outerShdw blurRad="38100" dist="38100" dir="2700000" algn="tl">
                      <a:srgbClr val="000000"/>
                    </a:outerShdw>
                  </a:effectLst>
                  <a:latin typeface="Arial" charset="0"/>
                </a:rPr>
                <a:t>计量</a:t>
              </a:r>
            </a:p>
          </p:txBody>
        </p:sp>
      </p:grpSp>
      <p:grpSp>
        <p:nvGrpSpPr>
          <p:cNvPr id="12" name="Group 9">
            <a:extLst>
              <a:ext uri="{FF2B5EF4-FFF2-40B4-BE49-F238E27FC236}">
                <a16:creationId xmlns:a16="http://schemas.microsoft.com/office/drawing/2014/main" id="{42260B7D-1AD2-4ED6-A682-3B998CE67ED1}"/>
              </a:ext>
            </a:extLst>
          </p:cNvPr>
          <p:cNvGrpSpPr>
            <a:grpSpLocks/>
          </p:cNvGrpSpPr>
          <p:nvPr/>
        </p:nvGrpSpPr>
        <p:grpSpPr bwMode="auto">
          <a:xfrm>
            <a:off x="4061650" y="4941168"/>
            <a:ext cx="1225550" cy="911225"/>
            <a:chOff x="2460" y="3031"/>
            <a:chExt cx="772" cy="574"/>
          </a:xfrm>
        </p:grpSpPr>
        <p:sp>
          <p:nvSpPr>
            <p:cNvPr id="13" name="Freeform 10">
              <a:extLst>
                <a:ext uri="{FF2B5EF4-FFF2-40B4-BE49-F238E27FC236}">
                  <a16:creationId xmlns:a16="http://schemas.microsoft.com/office/drawing/2014/main" id="{5D14E279-DD65-48A0-8796-5C986C4BC906}"/>
                </a:ext>
              </a:extLst>
            </p:cNvPr>
            <p:cNvSpPr>
              <a:spLocks/>
            </p:cNvSpPr>
            <p:nvPr/>
          </p:nvSpPr>
          <p:spPr bwMode="auto">
            <a:xfrm>
              <a:off x="2460" y="3031"/>
              <a:ext cx="772" cy="574"/>
            </a:xfrm>
            <a:custGeom>
              <a:avLst/>
              <a:gdLst/>
              <a:ahLst/>
              <a:cxnLst>
                <a:cxn ang="0">
                  <a:pos x="573" y="376"/>
                </a:cxn>
                <a:cxn ang="0">
                  <a:pos x="573" y="0"/>
                </a:cxn>
                <a:cxn ang="0">
                  <a:pos x="0" y="0"/>
                </a:cxn>
                <a:cxn ang="0">
                  <a:pos x="0" y="574"/>
                </a:cxn>
                <a:cxn ang="0">
                  <a:pos x="772" y="574"/>
                </a:cxn>
              </a:cxnLst>
              <a:rect l="0" t="0" r="r" b="b"/>
              <a:pathLst>
                <a:path w="772" h="574">
                  <a:moveTo>
                    <a:pt x="573" y="376"/>
                  </a:moveTo>
                  <a:lnTo>
                    <a:pt x="573" y="0"/>
                  </a:lnTo>
                  <a:lnTo>
                    <a:pt x="0" y="0"/>
                  </a:lnTo>
                  <a:lnTo>
                    <a:pt x="0" y="574"/>
                  </a:lnTo>
                  <a:lnTo>
                    <a:pt x="772" y="574"/>
                  </a:lnTo>
                </a:path>
              </a:pathLst>
            </a:custGeom>
            <a:noFill/>
            <a:ln w="38100" cap="flat" cmpd="sng">
              <a:solidFill>
                <a:schemeClr val="folHlink"/>
              </a:solidFill>
              <a:prstDash val="solid"/>
              <a:round/>
              <a:headEnd type="none" w="med" len="med"/>
              <a:tailEnd type="triangle" w="med" len="lg"/>
            </a:ln>
            <a:effectLst/>
          </p:spPr>
          <p:txBody>
            <a:bodyPr wrap="none" lIns="0" tIns="0" rIns="0" bIns="0" anchor="ct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14" name="Text Box 11">
              <a:extLst>
                <a:ext uri="{FF2B5EF4-FFF2-40B4-BE49-F238E27FC236}">
                  <a16:creationId xmlns:a16="http://schemas.microsoft.com/office/drawing/2014/main" id="{7F290735-FF6C-4E39-9618-30195E899EA8}"/>
                </a:ext>
              </a:extLst>
            </p:cNvPr>
            <p:cNvSpPr txBox="1">
              <a:spLocks noChangeArrowheads="1"/>
            </p:cNvSpPr>
            <p:nvPr/>
          </p:nvSpPr>
          <p:spPr bwMode="auto">
            <a:xfrm>
              <a:off x="2484" y="3168"/>
              <a:ext cx="494" cy="231"/>
            </a:xfrm>
            <a:prstGeom prst="rect">
              <a:avLst/>
            </a:prstGeom>
            <a:noFill/>
            <a:ln w="12700">
              <a:noFill/>
              <a:miter lim="800000"/>
              <a:headEnd type="none" w="sm" len="sm"/>
              <a:tailEnd type="none" w="sm" len="sm"/>
            </a:ln>
            <a:effectLst/>
          </p:spPr>
          <p:txBody>
            <a:bodyPr>
              <a:spAutoFit/>
            </a:bodyPr>
            <a:lstStyle/>
            <a:p>
              <a:pPr algn="ctr">
                <a:spcBef>
                  <a:spcPct val="50000"/>
                </a:spcBef>
                <a:defRPr/>
              </a:pPr>
              <a:r>
                <a:rPr lang="zh-CN" altLang="en-US" sz="1800">
                  <a:solidFill>
                    <a:srgbClr val="FF0000"/>
                  </a:solidFill>
                  <a:effectLst>
                    <a:outerShdw blurRad="38100" dist="38100" dir="2700000" algn="tl">
                      <a:srgbClr val="000000"/>
                    </a:outerShdw>
                  </a:effectLst>
                  <a:latin typeface="Arial" charset="0"/>
                </a:rPr>
                <a:t>记录</a:t>
              </a:r>
            </a:p>
          </p:txBody>
        </p:sp>
      </p:grpSp>
      <p:grpSp>
        <p:nvGrpSpPr>
          <p:cNvPr id="15" name="Group 12">
            <a:extLst>
              <a:ext uri="{FF2B5EF4-FFF2-40B4-BE49-F238E27FC236}">
                <a16:creationId xmlns:a16="http://schemas.microsoft.com/office/drawing/2014/main" id="{D1844839-B982-43D3-8100-8F21CB9ED3F4}"/>
              </a:ext>
            </a:extLst>
          </p:cNvPr>
          <p:cNvGrpSpPr>
            <a:grpSpLocks/>
          </p:cNvGrpSpPr>
          <p:nvPr/>
        </p:nvGrpSpPr>
        <p:grpSpPr bwMode="auto">
          <a:xfrm>
            <a:off x="5518975" y="4941168"/>
            <a:ext cx="1225550" cy="911225"/>
            <a:chOff x="3378" y="3031"/>
            <a:chExt cx="772" cy="574"/>
          </a:xfrm>
        </p:grpSpPr>
        <p:sp>
          <p:nvSpPr>
            <p:cNvPr id="16" name="Freeform 13">
              <a:extLst>
                <a:ext uri="{FF2B5EF4-FFF2-40B4-BE49-F238E27FC236}">
                  <a16:creationId xmlns:a16="http://schemas.microsoft.com/office/drawing/2014/main" id="{036C3366-E1B9-4680-96D9-050637602AF3}"/>
                </a:ext>
              </a:extLst>
            </p:cNvPr>
            <p:cNvSpPr>
              <a:spLocks/>
            </p:cNvSpPr>
            <p:nvPr/>
          </p:nvSpPr>
          <p:spPr bwMode="auto">
            <a:xfrm>
              <a:off x="3378" y="3031"/>
              <a:ext cx="772" cy="574"/>
            </a:xfrm>
            <a:custGeom>
              <a:avLst/>
              <a:gdLst/>
              <a:ahLst/>
              <a:cxnLst>
                <a:cxn ang="0">
                  <a:pos x="573" y="376"/>
                </a:cxn>
                <a:cxn ang="0">
                  <a:pos x="573" y="0"/>
                </a:cxn>
                <a:cxn ang="0">
                  <a:pos x="0" y="0"/>
                </a:cxn>
                <a:cxn ang="0">
                  <a:pos x="0" y="574"/>
                </a:cxn>
                <a:cxn ang="0">
                  <a:pos x="772" y="574"/>
                </a:cxn>
              </a:cxnLst>
              <a:rect l="0" t="0" r="r" b="b"/>
              <a:pathLst>
                <a:path w="772" h="574">
                  <a:moveTo>
                    <a:pt x="573" y="376"/>
                  </a:moveTo>
                  <a:lnTo>
                    <a:pt x="573" y="0"/>
                  </a:lnTo>
                  <a:lnTo>
                    <a:pt x="0" y="0"/>
                  </a:lnTo>
                  <a:lnTo>
                    <a:pt x="0" y="574"/>
                  </a:lnTo>
                  <a:lnTo>
                    <a:pt x="772" y="574"/>
                  </a:lnTo>
                </a:path>
              </a:pathLst>
            </a:custGeom>
            <a:noFill/>
            <a:ln w="38100" cap="flat" cmpd="sng">
              <a:solidFill>
                <a:schemeClr val="folHlink"/>
              </a:solidFill>
              <a:prstDash val="solid"/>
              <a:round/>
              <a:headEnd type="none" w="med" len="med"/>
              <a:tailEnd type="triangle" w="med" len="lg"/>
            </a:ln>
            <a:effectLst/>
          </p:spPr>
          <p:txBody>
            <a:bodyPr wrap="none" lIns="0" tIns="0" rIns="0" bIns="0" anchor="ct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17" name="Rectangle 14">
              <a:extLst>
                <a:ext uri="{FF2B5EF4-FFF2-40B4-BE49-F238E27FC236}">
                  <a16:creationId xmlns:a16="http://schemas.microsoft.com/office/drawing/2014/main" id="{AC0A948F-8762-4EF7-A8AD-F9C37B9FDD2C}"/>
                </a:ext>
              </a:extLst>
            </p:cNvPr>
            <p:cNvSpPr>
              <a:spLocks noChangeArrowheads="1"/>
            </p:cNvSpPr>
            <p:nvPr/>
          </p:nvSpPr>
          <p:spPr bwMode="auto">
            <a:xfrm>
              <a:off x="3462" y="3188"/>
              <a:ext cx="406" cy="231"/>
            </a:xfrm>
            <a:prstGeom prst="rect">
              <a:avLst/>
            </a:prstGeom>
            <a:noFill/>
            <a:ln w="12700">
              <a:noFill/>
              <a:miter lim="800000"/>
              <a:headEnd type="none" w="sm" len="sm"/>
              <a:tailEnd type="none" w="sm" len="sm"/>
            </a:ln>
            <a:effectLst/>
          </p:spPr>
          <p:txBody>
            <a:bodyPr wrap="none">
              <a:spAutoFit/>
            </a:bodyPr>
            <a:lstStyle/>
            <a:p>
              <a:pPr algn="ctr">
                <a:defRPr/>
              </a:pPr>
              <a:r>
                <a:rPr lang="zh-CN" altLang="en-US" sz="1800">
                  <a:solidFill>
                    <a:srgbClr val="FF0000"/>
                  </a:solidFill>
                  <a:effectLst>
                    <a:outerShdw blurRad="38100" dist="38100" dir="2700000" algn="tl">
                      <a:srgbClr val="000000"/>
                    </a:outerShdw>
                  </a:effectLst>
                  <a:latin typeface="Arial" charset="0"/>
                </a:rPr>
                <a:t>报告</a:t>
              </a:r>
            </a:p>
          </p:txBody>
        </p:sp>
      </p:grpSp>
      <p:grpSp>
        <p:nvGrpSpPr>
          <p:cNvPr id="18" name="Group 15">
            <a:extLst>
              <a:ext uri="{FF2B5EF4-FFF2-40B4-BE49-F238E27FC236}">
                <a16:creationId xmlns:a16="http://schemas.microsoft.com/office/drawing/2014/main" id="{07110C5A-98F2-42A4-9870-C39DFD98C420}"/>
              </a:ext>
            </a:extLst>
          </p:cNvPr>
          <p:cNvGrpSpPr>
            <a:grpSpLocks/>
          </p:cNvGrpSpPr>
          <p:nvPr/>
        </p:nvGrpSpPr>
        <p:grpSpPr bwMode="auto">
          <a:xfrm>
            <a:off x="6976300" y="4941168"/>
            <a:ext cx="1225550" cy="911225"/>
            <a:chOff x="4296" y="3031"/>
            <a:chExt cx="772" cy="574"/>
          </a:xfrm>
        </p:grpSpPr>
        <p:sp>
          <p:nvSpPr>
            <p:cNvPr id="19" name="Freeform 16">
              <a:extLst>
                <a:ext uri="{FF2B5EF4-FFF2-40B4-BE49-F238E27FC236}">
                  <a16:creationId xmlns:a16="http://schemas.microsoft.com/office/drawing/2014/main" id="{6D83EAC5-6911-4795-BDA1-F6102E9909EA}"/>
                </a:ext>
              </a:extLst>
            </p:cNvPr>
            <p:cNvSpPr>
              <a:spLocks/>
            </p:cNvSpPr>
            <p:nvPr/>
          </p:nvSpPr>
          <p:spPr bwMode="auto">
            <a:xfrm>
              <a:off x="4296" y="3031"/>
              <a:ext cx="772" cy="574"/>
            </a:xfrm>
            <a:custGeom>
              <a:avLst/>
              <a:gdLst/>
              <a:ahLst/>
              <a:cxnLst>
                <a:cxn ang="0">
                  <a:pos x="573" y="376"/>
                </a:cxn>
                <a:cxn ang="0">
                  <a:pos x="573" y="0"/>
                </a:cxn>
                <a:cxn ang="0">
                  <a:pos x="0" y="0"/>
                </a:cxn>
                <a:cxn ang="0">
                  <a:pos x="0" y="574"/>
                </a:cxn>
                <a:cxn ang="0">
                  <a:pos x="772" y="574"/>
                </a:cxn>
              </a:cxnLst>
              <a:rect l="0" t="0" r="r" b="b"/>
              <a:pathLst>
                <a:path w="772" h="574">
                  <a:moveTo>
                    <a:pt x="573" y="376"/>
                  </a:moveTo>
                  <a:lnTo>
                    <a:pt x="573" y="0"/>
                  </a:lnTo>
                  <a:lnTo>
                    <a:pt x="0" y="0"/>
                  </a:lnTo>
                  <a:lnTo>
                    <a:pt x="0" y="574"/>
                  </a:lnTo>
                  <a:lnTo>
                    <a:pt x="772" y="574"/>
                  </a:lnTo>
                </a:path>
              </a:pathLst>
            </a:custGeom>
            <a:noFill/>
            <a:ln w="38100" cap="flat" cmpd="sng">
              <a:solidFill>
                <a:schemeClr val="folHlink"/>
              </a:solidFill>
              <a:prstDash val="solid"/>
              <a:round/>
              <a:headEnd type="none" w="med" len="med"/>
              <a:tailEnd type="triangle" w="med" len="lg"/>
            </a:ln>
            <a:effectLst/>
          </p:spPr>
          <p:txBody>
            <a:bodyPr wrap="none" lIns="0" tIns="0" rIns="0" bIns="0" anchor="ctr"/>
            <a:lstStyle/>
            <a:p>
              <a:pPr algn="ctr">
                <a:defRPr/>
              </a:pPr>
              <a:endParaRPr lang="zh-CN" altLang="en-US">
                <a:effectLst>
                  <a:outerShdw blurRad="38100" dist="38100" dir="2700000" algn="tl">
                    <a:srgbClr val="000000">
                      <a:alpha val="43137"/>
                    </a:srgbClr>
                  </a:outerShdw>
                </a:effectLst>
                <a:latin typeface="Arial" charset="0"/>
              </a:endParaRPr>
            </a:p>
          </p:txBody>
        </p:sp>
        <p:sp>
          <p:nvSpPr>
            <p:cNvPr id="20" name="Text Box 17">
              <a:extLst>
                <a:ext uri="{FF2B5EF4-FFF2-40B4-BE49-F238E27FC236}">
                  <a16:creationId xmlns:a16="http://schemas.microsoft.com/office/drawing/2014/main" id="{449D87D3-B27B-4E0E-8271-B97D63E480AF}"/>
                </a:ext>
              </a:extLst>
            </p:cNvPr>
            <p:cNvSpPr txBox="1">
              <a:spLocks noChangeArrowheads="1"/>
            </p:cNvSpPr>
            <p:nvPr/>
          </p:nvSpPr>
          <p:spPr bwMode="auto">
            <a:xfrm>
              <a:off x="4298" y="3160"/>
              <a:ext cx="622" cy="231"/>
            </a:xfrm>
            <a:prstGeom prst="rect">
              <a:avLst/>
            </a:prstGeom>
            <a:noFill/>
            <a:ln w="12700">
              <a:noFill/>
              <a:miter lim="800000"/>
              <a:headEnd type="none" w="sm" len="sm"/>
              <a:tailEnd type="none" w="sm" len="sm"/>
            </a:ln>
            <a:effectLst/>
          </p:spPr>
          <p:txBody>
            <a:bodyPr>
              <a:spAutoFit/>
            </a:bodyPr>
            <a:lstStyle/>
            <a:p>
              <a:pPr algn="ctr">
                <a:spcBef>
                  <a:spcPct val="50000"/>
                </a:spcBef>
                <a:defRPr/>
              </a:pPr>
              <a:r>
                <a:rPr lang="zh-CN" altLang="en-US" sz="1800">
                  <a:solidFill>
                    <a:srgbClr val="00FF00"/>
                  </a:solidFill>
                  <a:effectLst>
                    <a:outerShdw blurRad="38100" dist="38100" dir="2700000" algn="tl">
                      <a:srgbClr val="000000"/>
                    </a:outerShdw>
                  </a:effectLst>
                  <a:latin typeface="Arial" charset="0"/>
                </a:rPr>
                <a:t>使用者</a:t>
              </a:r>
            </a:p>
          </p:txBody>
        </p:sp>
      </p:grpSp>
    </p:spTree>
    <p:extLst>
      <p:ext uri="{BB962C8B-B14F-4D97-AF65-F5344CB8AC3E}">
        <p14:creationId xmlns:p14="http://schemas.microsoft.com/office/powerpoint/2010/main" val="3375782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to="" calcmode="lin" valueType="num">
                                      <p:cBhvr>
                                        <p:cTn id="12" dur="1" fill="hold"/>
                                        <p:tgtEl>
                                          <p:spTgt spid="5"/>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to="" calcmode="lin" valueType="num">
                                      <p:cBhvr>
                                        <p:cTn id="17" dur="1" fill="hold"/>
                                        <p:tgtEl>
                                          <p:spTgt spid="6"/>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 to="" calcmode="lin" valueType="num">
                                      <p:cBhvr>
                                        <p:cTn id="22" dur="1" fill="hold"/>
                                        <p:tgtEl>
                                          <p:spTgt spid="9"/>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 to="" calcmode="lin" valueType="num">
                                      <p:cBhvr>
                                        <p:cTn id="27" dur="1" fill="hold"/>
                                        <p:tgtEl>
                                          <p:spTgt spid="12"/>
                                        </p:tgtEl>
                                        <p:attrNameLst>
                                          <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 to="" calcmode="lin" valueType="num">
                                      <p:cBhvr>
                                        <p:cTn id="32" dur="1" fill="hold"/>
                                        <p:tgtEl>
                                          <p:spTgt spid="15"/>
                                        </p:tgtEl>
                                        <p:attrNameLst>
                                          <p:attrName/>
                                        </p:attrNameLst>
                                      </p:cBhvr>
                                    </p:anim>
                                  </p:childTnLst>
                                </p:cTn>
                              </p:par>
                            </p:childTnLst>
                          </p:cTn>
                        </p:par>
                      </p:childTnLst>
                    </p:cTn>
                  </p:par>
                  <p:par>
                    <p:cTn id="33" fill="hold">
                      <p:stCondLst>
                        <p:cond delay="indefinite"/>
                      </p:stCondLst>
                      <p:childTnLst>
                        <p:par>
                          <p:cTn id="34" fill="hold">
                            <p:stCondLst>
                              <p:cond delay="0"/>
                            </p:stCondLst>
                            <p:childTnLst>
                              <p:par>
                                <p:cTn id="35" presetID="24"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 to="" calcmode="lin" valueType="num">
                                      <p:cBhvr>
                                        <p:cTn id="37" dur="1" fill="hold"/>
                                        <p:tgtEl>
                                          <p:spTgt spid="18"/>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（二）中级财务会计的结构 </a:t>
            </a:r>
          </a:p>
        </p:txBody>
      </p:sp>
      <p:grpSp>
        <p:nvGrpSpPr>
          <p:cNvPr id="5" name="Group 2">
            <a:extLst>
              <a:ext uri="{FF2B5EF4-FFF2-40B4-BE49-F238E27FC236}">
                <a16:creationId xmlns:a16="http://schemas.microsoft.com/office/drawing/2014/main" id="{C86A3EBF-6C8B-4879-9FD5-04901F034069}"/>
              </a:ext>
            </a:extLst>
          </p:cNvPr>
          <p:cNvGrpSpPr>
            <a:grpSpLocks/>
          </p:cNvGrpSpPr>
          <p:nvPr/>
        </p:nvGrpSpPr>
        <p:grpSpPr bwMode="auto">
          <a:xfrm>
            <a:off x="230360" y="2564904"/>
            <a:ext cx="4203700" cy="3340100"/>
            <a:chOff x="227" y="1069"/>
            <a:chExt cx="2771" cy="2937"/>
          </a:xfrm>
        </p:grpSpPr>
        <p:pic>
          <p:nvPicPr>
            <p:cNvPr id="6" name="Picture 3" descr="DAT328_lftPuzz">
              <a:extLst>
                <a:ext uri="{FF2B5EF4-FFF2-40B4-BE49-F238E27FC236}">
                  <a16:creationId xmlns:a16="http://schemas.microsoft.com/office/drawing/2014/main" id="{9B50AB54-15E3-4A1D-B587-43569C2533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 y="1069"/>
              <a:ext cx="2771" cy="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4">
              <a:extLst>
                <a:ext uri="{FF2B5EF4-FFF2-40B4-BE49-F238E27FC236}">
                  <a16:creationId xmlns:a16="http://schemas.microsoft.com/office/drawing/2014/main" id="{72B224E3-D91A-4507-824E-6B7A74A2A20F}"/>
                </a:ext>
              </a:extLst>
            </p:cNvPr>
            <p:cNvSpPr>
              <a:spLocks noChangeArrowheads="1"/>
            </p:cNvSpPr>
            <p:nvPr/>
          </p:nvSpPr>
          <p:spPr bwMode="auto">
            <a:xfrm>
              <a:off x="329" y="1271"/>
              <a:ext cx="2238" cy="2352"/>
            </a:xfrm>
            <a:prstGeom prst="rect">
              <a:avLst/>
            </a:prstGeom>
            <a:noFill/>
            <a:ln w="9525">
              <a:noFill/>
              <a:miter lim="800000"/>
              <a:headEnd/>
              <a:tailEnd/>
            </a:ln>
            <a:effectLst/>
          </p:spPr>
          <p:txBody>
            <a:bodyPr lIns="0" rIns="0"/>
            <a:lstStyle/>
            <a:p>
              <a:pPr marL="457200" indent="-457200">
                <a:lnSpc>
                  <a:spcPct val="150000"/>
                </a:lnSpc>
                <a:spcBef>
                  <a:spcPct val="20000"/>
                </a:spcBef>
                <a:buClr>
                  <a:schemeClr val="tx2"/>
                </a:buClr>
                <a:buSzPct val="60000"/>
                <a:buFont typeface="Wingdings" panose="05000000000000000000" pitchFamily="2" charset="2"/>
                <a:buChar char="n"/>
                <a:defRPr/>
              </a:pPr>
              <a:r>
                <a:rPr lang="zh-CN" altLang="en-US" sz="2800" b="1" dirty="0">
                  <a:latin typeface="Arial" charset="0"/>
                </a:rPr>
                <a:t>负债</a:t>
              </a:r>
            </a:p>
            <a:p>
              <a:pPr marL="457200" indent="-457200">
                <a:lnSpc>
                  <a:spcPct val="150000"/>
                </a:lnSpc>
                <a:spcBef>
                  <a:spcPct val="20000"/>
                </a:spcBef>
                <a:buClr>
                  <a:schemeClr val="tx2"/>
                </a:buClr>
                <a:buSzPct val="60000"/>
                <a:buFont typeface="Wingdings" panose="05000000000000000000" pitchFamily="2" charset="2"/>
                <a:buChar char="n"/>
                <a:defRPr/>
              </a:pPr>
              <a:r>
                <a:rPr lang="zh-CN" altLang="en-US" sz="2800" b="1" dirty="0">
                  <a:latin typeface="Arial" charset="0"/>
                </a:rPr>
                <a:t>所有者权益</a:t>
              </a:r>
            </a:p>
            <a:p>
              <a:pPr marL="457200" indent="-457200">
                <a:lnSpc>
                  <a:spcPct val="150000"/>
                </a:lnSpc>
                <a:spcBef>
                  <a:spcPct val="20000"/>
                </a:spcBef>
                <a:buClr>
                  <a:schemeClr val="tx2"/>
                </a:buClr>
                <a:buSzPct val="60000"/>
                <a:buFont typeface="Wingdings" panose="05000000000000000000" pitchFamily="2" charset="2"/>
                <a:buChar char="n"/>
                <a:defRPr/>
              </a:pPr>
              <a:r>
                <a:rPr lang="zh-CN" altLang="en-US" sz="2800" b="1" dirty="0">
                  <a:latin typeface="Arial" charset="0"/>
                </a:rPr>
                <a:t>收入、费用和利润</a:t>
              </a:r>
            </a:p>
            <a:p>
              <a:pPr marL="457200" indent="-457200">
                <a:lnSpc>
                  <a:spcPct val="150000"/>
                </a:lnSpc>
                <a:spcBef>
                  <a:spcPct val="20000"/>
                </a:spcBef>
                <a:buClr>
                  <a:schemeClr val="tx2"/>
                </a:buClr>
                <a:buSzPct val="60000"/>
                <a:buFont typeface="Wingdings" panose="05000000000000000000" pitchFamily="2" charset="2"/>
                <a:buChar char="n"/>
                <a:defRPr/>
              </a:pPr>
              <a:r>
                <a:rPr lang="zh-CN" altLang="en-US" sz="2800" b="1" dirty="0">
                  <a:latin typeface="Arial" charset="0"/>
                </a:rPr>
                <a:t>财务会计报告</a:t>
              </a:r>
            </a:p>
          </p:txBody>
        </p:sp>
      </p:grpSp>
      <p:grpSp>
        <p:nvGrpSpPr>
          <p:cNvPr id="8" name="Group 5">
            <a:extLst>
              <a:ext uri="{FF2B5EF4-FFF2-40B4-BE49-F238E27FC236}">
                <a16:creationId xmlns:a16="http://schemas.microsoft.com/office/drawing/2014/main" id="{FFA8246D-0DAA-441B-8FD3-A4746200B5DC}"/>
              </a:ext>
            </a:extLst>
          </p:cNvPr>
          <p:cNvGrpSpPr>
            <a:grpSpLocks/>
          </p:cNvGrpSpPr>
          <p:nvPr/>
        </p:nvGrpSpPr>
        <p:grpSpPr bwMode="auto">
          <a:xfrm>
            <a:off x="4212318" y="2555289"/>
            <a:ext cx="4931639" cy="3367087"/>
            <a:chOff x="2815" y="1098"/>
            <a:chExt cx="2933" cy="2937"/>
          </a:xfrm>
        </p:grpSpPr>
        <p:pic>
          <p:nvPicPr>
            <p:cNvPr id="9" name="Picture 6" descr="DAT328_rtPuzz">
              <a:extLst>
                <a:ext uri="{FF2B5EF4-FFF2-40B4-BE49-F238E27FC236}">
                  <a16:creationId xmlns:a16="http://schemas.microsoft.com/office/drawing/2014/main" id="{D62A1CC7-0D59-4C7D-9F7A-A8A33267E2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5" y="1098"/>
              <a:ext cx="2854" cy="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7">
              <a:extLst>
                <a:ext uri="{FF2B5EF4-FFF2-40B4-BE49-F238E27FC236}">
                  <a16:creationId xmlns:a16="http://schemas.microsoft.com/office/drawing/2014/main" id="{5D68A6EF-09BD-48C5-B210-9C31CADCC7AF}"/>
                </a:ext>
              </a:extLst>
            </p:cNvPr>
            <p:cNvSpPr>
              <a:spLocks noChangeArrowheads="1"/>
            </p:cNvSpPr>
            <p:nvPr/>
          </p:nvSpPr>
          <p:spPr bwMode="auto">
            <a:xfrm>
              <a:off x="3472" y="1273"/>
              <a:ext cx="2276" cy="2351"/>
            </a:xfrm>
            <a:prstGeom prst="rect">
              <a:avLst/>
            </a:prstGeom>
            <a:noFill/>
            <a:ln w="9525">
              <a:noFill/>
              <a:miter lim="800000"/>
              <a:headEnd/>
              <a:tailEnd/>
            </a:ln>
            <a:effectLst/>
          </p:spPr>
          <p:txBody>
            <a:bodyPr lIns="0" rIns="0"/>
            <a:lstStyle/>
            <a:p>
              <a:pPr marL="457200" indent="-457200">
                <a:spcBef>
                  <a:spcPct val="20000"/>
                </a:spcBef>
                <a:buClr>
                  <a:schemeClr val="tx2"/>
                </a:buClr>
                <a:buSzPct val="60000"/>
                <a:buFont typeface="Wingdings" panose="05000000000000000000" pitchFamily="2" charset="2"/>
                <a:buChar char="n"/>
                <a:defRPr/>
              </a:pPr>
              <a:r>
                <a:rPr lang="zh-CN" altLang="en-US" sz="2800" b="1" dirty="0">
                  <a:latin typeface="Arial" charset="0"/>
                </a:rPr>
                <a:t>货币资金</a:t>
              </a:r>
            </a:p>
            <a:p>
              <a:pPr marL="457200" indent="-457200">
                <a:spcBef>
                  <a:spcPct val="20000"/>
                </a:spcBef>
                <a:buClr>
                  <a:schemeClr val="tx2"/>
                </a:buClr>
                <a:buSzPct val="60000"/>
                <a:buFont typeface="Wingdings" panose="05000000000000000000" pitchFamily="2" charset="2"/>
                <a:buChar char="n"/>
                <a:defRPr/>
              </a:pPr>
              <a:r>
                <a:rPr lang="zh-CN" altLang="en-US" sz="2800" b="1" dirty="0">
                  <a:latin typeface="Arial" charset="0"/>
                </a:rPr>
                <a:t>应收款项</a:t>
              </a:r>
            </a:p>
            <a:p>
              <a:pPr marL="457200" indent="-457200">
                <a:spcBef>
                  <a:spcPct val="20000"/>
                </a:spcBef>
                <a:buClr>
                  <a:schemeClr val="tx2"/>
                </a:buClr>
                <a:buSzPct val="60000"/>
                <a:buFont typeface="Wingdings" panose="05000000000000000000" pitchFamily="2" charset="2"/>
                <a:buChar char="n"/>
                <a:defRPr/>
              </a:pPr>
              <a:r>
                <a:rPr lang="zh-CN" altLang="en-US" sz="2800" b="1" dirty="0">
                  <a:latin typeface="Arial" charset="0"/>
                </a:rPr>
                <a:t>存货</a:t>
              </a:r>
            </a:p>
            <a:p>
              <a:pPr marL="457200" indent="-457200">
                <a:spcBef>
                  <a:spcPct val="20000"/>
                </a:spcBef>
                <a:buClr>
                  <a:schemeClr val="tx2"/>
                </a:buClr>
                <a:buSzPct val="60000"/>
                <a:buFont typeface="Wingdings" panose="05000000000000000000" pitchFamily="2" charset="2"/>
                <a:buChar char="n"/>
                <a:defRPr/>
              </a:pPr>
              <a:r>
                <a:rPr lang="zh-CN" altLang="en-US" sz="2800" b="1" dirty="0">
                  <a:latin typeface="Arial" charset="0"/>
                </a:rPr>
                <a:t>对外投资</a:t>
              </a:r>
            </a:p>
            <a:p>
              <a:pPr marL="457200" indent="-457200">
                <a:spcBef>
                  <a:spcPct val="20000"/>
                </a:spcBef>
                <a:buClr>
                  <a:schemeClr val="tx2"/>
                </a:buClr>
                <a:buSzPct val="60000"/>
                <a:buFont typeface="Wingdings" panose="05000000000000000000" pitchFamily="2" charset="2"/>
                <a:buChar char="n"/>
                <a:defRPr/>
              </a:pPr>
              <a:r>
                <a:rPr lang="zh-CN" altLang="en-US" sz="2800" b="1" dirty="0">
                  <a:latin typeface="Arial" charset="0"/>
                </a:rPr>
                <a:t>固定资产</a:t>
              </a:r>
            </a:p>
            <a:p>
              <a:pPr marL="457200" indent="-457200">
                <a:spcBef>
                  <a:spcPct val="20000"/>
                </a:spcBef>
                <a:buClr>
                  <a:schemeClr val="tx2"/>
                </a:buClr>
                <a:buSzPct val="60000"/>
                <a:buFont typeface="Wingdings" panose="05000000000000000000" pitchFamily="2" charset="2"/>
                <a:buChar char="n"/>
                <a:defRPr/>
              </a:pPr>
              <a:r>
                <a:rPr lang="zh-CN" altLang="en-US" sz="2800" b="1" dirty="0">
                  <a:latin typeface="Arial" charset="0"/>
                </a:rPr>
                <a:t>无形资产和其他资产</a:t>
              </a:r>
            </a:p>
          </p:txBody>
        </p:sp>
      </p:grpSp>
    </p:spTree>
    <p:extLst>
      <p:ext uri="{BB962C8B-B14F-4D97-AF65-F5344CB8AC3E}">
        <p14:creationId xmlns:p14="http://schemas.microsoft.com/office/powerpoint/2010/main" val="3612688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to="" calcmode="lin" valueType="num">
                                      <p:cBhvr>
                                        <p:cTn id="7" dur="1" fill="hold"/>
                                        <p:tgtEl>
                                          <p:spTgt spid="5"/>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to="" calcmode="lin" valueType="num">
                                      <p:cBhvr>
                                        <p:cTn id="12" dur="1" fill="hold"/>
                                        <p:tgtEl>
                                          <p:spTgt spid="8"/>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预习要求</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预习第</a:t>
            </a:r>
            <a:r>
              <a:rPr lang="en-US" altLang="zh-CN" dirty="0"/>
              <a:t>2</a:t>
            </a:r>
            <a:r>
              <a:rPr lang="zh-CN" altLang="en-US" dirty="0"/>
              <a:t>章货币资金和第</a:t>
            </a:r>
            <a:r>
              <a:rPr lang="en-US" altLang="zh-CN" dirty="0"/>
              <a:t>3</a:t>
            </a:r>
            <a:r>
              <a:rPr lang="zh-CN" altLang="en-US" dirty="0"/>
              <a:t>章应收款项</a:t>
            </a:r>
            <a:endParaRPr lang="en-US" altLang="zh-CN" dirty="0"/>
          </a:p>
          <a:p>
            <a:endParaRPr lang="zh-CN" altLang="en-US" dirty="0"/>
          </a:p>
          <a:p>
            <a:r>
              <a:rPr lang="zh-CN" altLang="en-US" dirty="0"/>
              <a:t>什么是货币资金？货币资金主要包括哪些项目？</a:t>
            </a:r>
          </a:p>
          <a:p>
            <a:r>
              <a:rPr lang="zh-CN" altLang="en-US" dirty="0"/>
              <a:t>货币资金管理和控制的难点有哪些？</a:t>
            </a:r>
          </a:p>
          <a:p>
            <a:r>
              <a:rPr lang="zh-CN" altLang="en-US" dirty="0"/>
              <a:t>其他货币资金的结算方式主要有哪些？</a:t>
            </a:r>
          </a:p>
          <a:p>
            <a:r>
              <a:rPr lang="zh-CN" altLang="en-US" dirty="0"/>
              <a:t>什么是应收票据和应收账款？两者有何区别？商业交易活动中为什么会使用票据？</a:t>
            </a:r>
          </a:p>
          <a:p>
            <a:r>
              <a:rPr lang="zh-CN" altLang="en-US" dirty="0"/>
              <a:t>什么是坏账准备？为什么应对应收账款计提坏账准备？</a:t>
            </a:r>
          </a:p>
        </p:txBody>
      </p:sp>
    </p:spTree>
    <p:extLst>
      <p:ext uri="{BB962C8B-B14F-4D97-AF65-F5344CB8AC3E}">
        <p14:creationId xmlns:p14="http://schemas.microsoft.com/office/powerpoint/2010/main" val="330930684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WordArt 5"/>
          <p:cNvSpPr>
            <a:spLocks noChangeArrowheads="1" noChangeShapeType="1" noTextEdit="1"/>
          </p:cNvSpPr>
          <p:nvPr/>
        </p:nvSpPr>
        <p:spPr bwMode="auto">
          <a:xfrm>
            <a:off x="2917031" y="3029426"/>
            <a:ext cx="3459956" cy="1637824"/>
          </a:xfrm>
          <a:prstGeom prst="rect">
            <a:avLst/>
          </a:prstGeom>
        </p:spPr>
        <p:txBody>
          <a:bodyPr wrap="none" fromWordArt="1">
            <a:scene3d>
              <a:camera prst="orthographicFront"/>
              <a:lightRig rig="threePt" dir="t"/>
            </a:scene3d>
          </a:bodyPr>
          <a:lstStyle/>
          <a:p>
            <a:pPr algn="ctr"/>
            <a:r>
              <a:rPr lang="zh-CN" altLang="en-US" sz="4050" kern="10" dirty="0">
                <a:ln w="25400">
                  <a:gradFill>
                    <a:gsLst>
                      <a:gs pos="31000">
                        <a:srgbClr val="6D6E85"/>
                      </a:gs>
                      <a:gs pos="66000">
                        <a:srgbClr val="A2C6FF"/>
                      </a:gs>
                      <a:gs pos="45000">
                        <a:srgbClr val="97B8F2"/>
                      </a:gs>
                      <a:gs pos="11000">
                        <a:srgbClr val="ED7D31">
                          <a:lumMod val="20000"/>
                          <a:lumOff val="80000"/>
                        </a:srgbClr>
                      </a:gs>
                      <a:gs pos="100000">
                        <a:srgbClr val="7E6760"/>
                      </a:gs>
                      <a:gs pos="91000">
                        <a:schemeClr val="bg1">
                          <a:lumMod val="50000"/>
                        </a:schemeClr>
                      </a:gs>
                      <a:gs pos="56000">
                        <a:srgbClr val="455C85"/>
                      </a:gs>
                      <a:gs pos="81000">
                        <a:srgbClr val="F8D8CF"/>
                      </a:gs>
                    </a:gsLst>
                  </a:gradFill>
                </a:ln>
                <a:solidFill>
                  <a:schemeClr val="tx2"/>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rPr>
              <a:t>谢谢大家！</a:t>
            </a:r>
          </a:p>
        </p:txBody>
      </p:sp>
    </p:spTree>
  </p:cSld>
  <p:clrMapOvr>
    <a:masterClrMapping/>
  </p:clrMapOvr>
</p:sld>
</file>

<file path=ppt/theme/theme1.xml><?xml version="1.0" encoding="utf-8"?>
<a:theme xmlns:a="http://schemas.openxmlformats.org/drawingml/2006/main" name="1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华文中宋"/>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716</TotalTime>
  <Words>4573</Words>
  <Application>Microsoft Office PowerPoint</Application>
  <PresentationFormat>全屏显示(4:3)</PresentationFormat>
  <Paragraphs>509</Paragraphs>
  <Slides>81</Slides>
  <Notes>2</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81</vt:i4>
      </vt:variant>
    </vt:vector>
  </HeadingPairs>
  <TitlesOfParts>
    <vt:vector size="92" baseType="lpstr">
      <vt:lpstr>仿宋_GB2312</vt:lpstr>
      <vt:lpstr>黑体</vt:lpstr>
      <vt:lpstr>华文新魏</vt:lpstr>
      <vt:lpstr>楷体_GB2312</vt:lpstr>
      <vt:lpstr>宋体</vt:lpstr>
      <vt:lpstr>Arial</vt:lpstr>
      <vt:lpstr>Tahoma</vt:lpstr>
      <vt:lpstr>Times New Roman</vt:lpstr>
      <vt:lpstr>Wingdings</vt:lpstr>
      <vt:lpstr>1_Blends</vt:lpstr>
      <vt:lpstr>BMP 图象</vt:lpstr>
      <vt:lpstr>PowerPoint 演示文稿</vt:lpstr>
      <vt:lpstr>课程描述</vt:lpstr>
      <vt:lpstr>财务会计课程</vt:lpstr>
      <vt:lpstr>会计学原理</vt:lpstr>
      <vt:lpstr>中级财务会计</vt:lpstr>
      <vt:lpstr>高级财务会计</vt:lpstr>
      <vt:lpstr>课程资料</vt:lpstr>
      <vt:lpstr>学生行为规范</vt:lpstr>
      <vt:lpstr>关于考试</vt:lpstr>
      <vt:lpstr>PowerPoint 演示文稿</vt:lpstr>
      <vt:lpstr>1.1 财务会计概述</vt:lpstr>
      <vt:lpstr>会计的产生与发展</vt:lpstr>
      <vt:lpstr>会计的产生与发展</vt:lpstr>
      <vt:lpstr>会计的产生与发展</vt:lpstr>
      <vt:lpstr>概念框架制定的背景</vt:lpstr>
      <vt:lpstr>PowerPoint 演示文稿</vt:lpstr>
      <vt:lpstr>概念框架的制定</vt:lpstr>
      <vt:lpstr>制定概念框架的意义</vt:lpstr>
      <vt:lpstr>财务会计概念框架主要内容</vt:lpstr>
      <vt:lpstr>财务会计的目标</vt:lpstr>
      <vt:lpstr>财务报告的使用者</vt:lpstr>
      <vt:lpstr>PowerPoint 演示文稿</vt:lpstr>
      <vt:lpstr>PowerPoint 演示文稿</vt:lpstr>
      <vt:lpstr>PowerPoint 演示文稿</vt:lpstr>
      <vt:lpstr>会计主体（企业主体）</vt:lpstr>
      <vt:lpstr>PowerPoint 演示文稿</vt:lpstr>
      <vt:lpstr>会计主体与法律主体的区分</vt:lpstr>
      <vt:lpstr>持续经营</vt:lpstr>
      <vt:lpstr>会计分期</vt:lpstr>
      <vt:lpstr>货币计量</vt:lpstr>
      <vt:lpstr>会计基础</vt:lpstr>
      <vt:lpstr>权责发生制</vt:lpstr>
      <vt:lpstr>PowerPoint 演示文稿</vt:lpstr>
      <vt:lpstr>会计信息质量要求</vt:lpstr>
      <vt:lpstr>会计信息质量要求层次结构</vt:lpstr>
      <vt:lpstr>会计信息质量要求</vt:lpstr>
      <vt:lpstr>会计信息质量要求</vt:lpstr>
      <vt:lpstr>会计信息质量要求</vt:lpstr>
      <vt:lpstr>会计信息质量要求</vt:lpstr>
      <vt:lpstr>会计信息质量要求</vt:lpstr>
      <vt:lpstr>会计信息质量要求</vt:lpstr>
      <vt:lpstr>会计信息质量要求</vt:lpstr>
      <vt:lpstr>会计信息质量要求</vt:lpstr>
      <vt:lpstr>四、会计要素及其确认与计量</vt:lpstr>
      <vt:lpstr>会计要素</vt:lpstr>
      <vt:lpstr>资产</vt:lpstr>
      <vt:lpstr>思考</vt:lpstr>
      <vt:lpstr>思考题</vt:lpstr>
      <vt:lpstr>负债</vt:lpstr>
      <vt:lpstr>所有者权益</vt:lpstr>
      <vt:lpstr>所有者权益注意事项</vt:lpstr>
      <vt:lpstr>收入</vt:lpstr>
      <vt:lpstr>思考</vt:lpstr>
      <vt:lpstr>费用</vt:lpstr>
      <vt:lpstr>思考</vt:lpstr>
      <vt:lpstr>利润</vt:lpstr>
      <vt:lpstr>财务报表要素的确认</vt:lpstr>
      <vt:lpstr>资产的确认</vt:lpstr>
      <vt:lpstr>资产的定义和确认</vt:lpstr>
      <vt:lpstr>资产的定义和确认</vt:lpstr>
      <vt:lpstr>资产的确认：示例</vt:lpstr>
      <vt:lpstr>负债的确认</vt:lpstr>
      <vt:lpstr>收入的确认</vt:lpstr>
      <vt:lpstr>费用的确认</vt:lpstr>
      <vt:lpstr>会计计量</vt:lpstr>
      <vt:lpstr>财务报表要素定义、确认和计量</vt:lpstr>
      <vt:lpstr>资产负债观</vt:lpstr>
      <vt:lpstr>收入费用观</vt:lpstr>
      <vt:lpstr>举例</vt:lpstr>
      <vt:lpstr>PowerPoint 演示文稿</vt:lpstr>
      <vt:lpstr>1.2 企业会计标准</vt:lpstr>
      <vt:lpstr>基本准则和具体准则的关系</vt:lpstr>
      <vt:lpstr>基本准则和具体准则的关系</vt:lpstr>
      <vt:lpstr>1.3 会计职业道德</vt:lpstr>
      <vt:lpstr>PowerPoint 演示文稿</vt:lpstr>
      <vt:lpstr>相关案例分析</vt:lpstr>
      <vt:lpstr>PowerPoint 演示文稿</vt:lpstr>
      <vt:lpstr>（一） 逻辑主线</vt:lpstr>
      <vt:lpstr>（二）中级财务会计的结构 </vt:lpstr>
      <vt:lpstr>预习要求</vt:lpstr>
      <vt:lpstr>PowerPoint 演示文稿</vt:lpstr>
    </vt:vector>
  </TitlesOfParts>
  <Company>www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第五章     长期投资</dc:title>
  <dc:creator>www</dc:creator>
  <cp:lastModifiedBy>毛 新述</cp:lastModifiedBy>
  <cp:revision>932</cp:revision>
  <dcterms:created xsi:type="dcterms:W3CDTF">2002-08-15T07:47:00Z</dcterms:created>
  <dcterms:modified xsi:type="dcterms:W3CDTF">2020-09-22T15:12:14Z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2052-11.1.0.9513</vt:lpwstr>
  </property>
</Properties>
</file>