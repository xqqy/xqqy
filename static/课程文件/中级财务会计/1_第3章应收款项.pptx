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1"/>
  </p:notesMasterIdLst>
  <p:handoutMasterIdLst>
    <p:handoutMasterId r:id="rId62"/>
  </p:handoutMasterIdLst>
  <p:sldIdLst>
    <p:sldId id="264" r:id="rId2"/>
    <p:sldId id="681" r:id="rId3"/>
    <p:sldId id="265" r:id="rId4"/>
    <p:sldId id="550" r:id="rId5"/>
    <p:sldId id="551" r:id="rId6"/>
    <p:sldId id="552" r:id="rId7"/>
    <p:sldId id="553" r:id="rId8"/>
    <p:sldId id="554" r:id="rId9"/>
    <p:sldId id="555" r:id="rId10"/>
    <p:sldId id="557" r:id="rId11"/>
    <p:sldId id="558" r:id="rId12"/>
    <p:sldId id="559" r:id="rId13"/>
    <p:sldId id="560" r:id="rId14"/>
    <p:sldId id="561" r:id="rId15"/>
    <p:sldId id="562" r:id="rId16"/>
    <p:sldId id="563" r:id="rId17"/>
    <p:sldId id="565" r:id="rId18"/>
    <p:sldId id="636" r:id="rId19"/>
    <p:sldId id="600" r:id="rId20"/>
    <p:sldId id="601" r:id="rId21"/>
    <p:sldId id="602" r:id="rId22"/>
    <p:sldId id="603" r:id="rId23"/>
    <p:sldId id="604" r:id="rId24"/>
    <p:sldId id="605" r:id="rId25"/>
    <p:sldId id="606" r:id="rId26"/>
    <p:sldId id="607" r:id="rId27"/>
    <p:sldId id="608" r:id="rId28"/>
    <p:sldId id="609" r:id="rId29"/>
    <p:sldId id="610" r:id="rId30"/>
    <p:sldId id="611" r:id="rId31"/>
    <p:sldId id="613" r:id="rId32"/>
    <p:sldId id="614" r:id="rId33"/>
    <p:sldId id="616" r:id="rId34"/>
    <p:sldId id="617" r:id="rId35"/>
    <p:sldId id="618" r:id="rId36"/>
    <p:sldId id="619" r:id="rId37"/>
    <p:sldId id="620" r:id="rId38"/>
    <p:sldId id="621" r:id="rId39"/>
    <p:sldId id="622" r:id="rId40"/>
    <p:sldId id="626" r:id="rId41"/>
    <p:sldId id="623" r:id="rId42"/>
    <p:sldId id="624" r:id="rId43"/>
    <p:sldId id="625" r:id="rId44"/>
    <p:sldId id="627" r:id="rId45"/>
    <p:sldId id="628" r:id="rId46"/>
    <p:sldId id="629" r:id="rId47"/>
    <p:sldId id="630" r:id="rId48"/>
    <p:sldId id="631" r:id="rId49"/>
    <p:sldId id="632" r:id="rId50"/>
    <p:sldId id="633" r:id="rId51"/>
    <p:sldId id="634" r:id="rId52"/>
    <p:sldId id="635" r:id="rId53"/>
    <p:sldId id="637" r:id="rId54"/>
    <p:sldId id="641" r:id="rId55"/>
    <p:sldId id="638" r:id="rId56"/>
    <p:sldId id="639" r:id="rId57"/>
    <p:sldId id="640" r:id="rId58"/>
    <p:sldId id="642" r:id="rId59"/>
    <p:sldId id="266" r:id="rId6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94">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88" d="100"/>
          <a:sy n="88" d="100"/>
        </p:scale>
        <p:origin x="540" y="29"/>
      </p:cViewPr>
      <p:guideLst>
        <p:guide orient="horz" pos="2294"/>
        <p:guide pos="3840"/>
      </p:guideLst>
    </p:cSldViewPr>
  </p:slideViewPr>
  <p:notesTextViewPr>
    <p:cViewPr>
      <p:scale>
        <a:sx n="3" d="2"/>
        <a:sy n="3" d="2"/>
      </p:scale>
      <p:origin x="0" y="0"/>
    </p:cViewPr>
  </p:notesTextViewPr>
  <p:notesViewPr>
    <p:cSldViewPr snapToGrid="0">
      <p:cViewPr varScale="1">
        <p:scale>
          <a:sx n="66" d="100"/>
          <a:sy n="66" d="100"/>
        </p:scale>
        <p:origin x="3134" y="3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rPr>
              <a:t>2020-10-14</a:t>
            </a:fld>
            <a:endParaRPr lang="zh-CN" altLang="en-US">
              <a:latin typeface="微软雅黑" panose="020B0503020204020204" charset="-122"/>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rPr>
              <a:t>‹#›</a:t>
            </a:fld>
            <a:endParaRPr lang="zh-CN" altLang="en-US">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defRPr>
            </a:lvl1pPr>
          </a:lstStyle>
          <a:p>
            <a:fld id="{1AC49D05-6128-4D0D-A32A-06A5E73B386C}" type="datetimeFigureOut">
              <a:rPr lang="zh-CN" altLang="en-US" smtClean="0"/>
              <a:t>2020-10-14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defRPr>
            </a:lvl1pPr>
          </a:lstStyle>
          <a:p>
            <a:fld id="{5849F42C-2DAE-424C-A4B8-3140182C3E9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2438400"/>
            <a:ext cx="12012084" cy="1052513"/>
            <a:chOff x="0" y="1536"/>
            <a:chExt cx="5675" cy="663"/>
          </a:xfrm>
        </p:grpSpPr>
        <p:grpSp>
          <p:nvGrpSpPr>
            <p:cNvPr id="5" name="Group 3"/>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grpSp>
          <p:nvGrpSpPr>
            <p:cNvPr id="6" name="Group 6"/>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8" name="Rectangle 10"/>
            <p:cNvSpPr>
              <a:spLocks noChangeArrowheads="1"/>
            </p:cNvSpPr>
            <p:nvPr/>
          </p:nvSpPr>
          <p:spPr bwMode="auto">
            <a:xfrm>
              <a:off x="400" y="1536"/>
              <a:ext cx="20" cy="663"/>
            </a:xfrm>
            <a:prstGeom prst="rect">
              <a:avLst/>
            </a:prstGeom>
            <a:solidFill>
              <a:schemeClr val="bg2"/>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sp>
        <p:nvSpPr>
          <p:cNvPr id="289804" name="Rectangle 12"/>
          <p:cNvSpPr>
            <a:spLocks noGrp="1" noChangeArrowheads="1"/>
          </p:cNvSpPr>
          <p:nvPr>
            <p:ph type="ctrTitle"/>
          </p:nvPr>
        </p:nvSpPr>
        <p:spPr>
          <a:xfrm>
            <a:off x="1320800" y="1676400"/>
            <a:ext cx="10363200" cy="1462088"/>
          </a:xfrm>
        </p:spPr>
        <p:txBody>
          <a:bodyPr/>
          <a:lstStyle>
            <a:lvl1pPr>
              <a:defRPr/>
            </a:lvl1pPr>
          </a:lstStyle>
          <a:p>
            <a:r>
              <a:rPr lang="zh-CN" altLang="en-US"/>
              <a:t>单击此处编辑母版标题样式</a:t>
            </a:r>
          </a:p>
        </p:txBody>
      </p:sp>
      <p:sp>
        <p:nvSpPr>
          <p:cNvPr id="289805" name="Rectangle 13"/>
          <p:cNvSpPr>
            <a:spLocks noGrp="1" noChangeArrowheads="1"/>
          </p:cNvSpPr>
          <p:nvPr>
            <p:ph type="subTitle" idx="1"/>
          </p:nvPr>
        </p:nvSpPr>
        <p:spPr>
          <a:xfrm>
            <a:off x="1828800" y="3886200"/>
            <a:ext cx="8534400" cy="1752600"/>
          </a:xfrm>
        </p:spPr>
        <p:txBody>
          <a:bodyPr/>
          <a:lstStyle>
            <a:lvl1pPr marL="0" indent="0" algn="ctr">
              <a:buFont typeface="Wingdings" panose="05000000000000000000" pitchFamily="2" charset="2"/>
              <a:buNone/>
              <a:defRPr/>
            </a:lvl1pPr>
          </a:lstStyle>
          <a:p>
            <a:r>
              <a:rPr lang="zh-CN" altLang="en-US"/>
              <a:t>单击此处编辑母版副标题样式</a:t>
            </a:r>
          </a:p>
        </p:txBody>
      </p:sp>
      <p:sp>
        <p:nvSpPr>
          <p:cNvPr id="14" name="Rectangle 14"/>
          <p:cNvSpPr>
            <a:spLocks noGrp="1" noChangeArrowheads="1"/>
          </p:cNvSpPr>
          <p:nvPr>
            <p:ph type="dt" sz="half" idx="10"/>
          </p:nvPr>
        </p:nvSpPr>
        <p:spPr>
          <a:xfrm>
            <a:off x="1320800" y="6248400"/>
            <a:ext cx="2540000" cy="457200"/>
          </a:xfrm>
        </p:spPr>
        <p:txBody>
          <a:bodyPr/>
          <a:lstStyle>
            <a:lvl1pPr>
              <a:defRPr>
                <a:solidFill>
                  <a:schemeClr val="bg2"/>
                </a:solidFill>
              </a:defRPr>
            </a:lvl1pPr>
          </a:lstStyle>
          <a:p>
            <a:pPr>
              <a:defRPr/>
            </a:pPr>
            <a:endParaRPr lang="en-US" altLang="zh-CN"/>
          </a:p>
        </p:txBody>
      </p:sp>
      <p:sp>
        <p:nvSpPr>
          <p:cNvPr id="15" name="Rectangle 15"/>
          <p:cNvSpPr>
            <a:spLocks noGrp="1" noChangeArrowheads="1"/>
          </p:cNvSpPr>
          <p:nvPr>
            <p:ph type="ftr" sz="quarter" idx="11"/>
          </p:nvPr>
        </p:nvSpPr>
        <p:spPr>
          <a:xfrm>
            <a:off x="4572000" y="6248400"/>
            <a:ext cx="3860800" cy="457200"/>
          </a:xfrm>
        </p:spPr>
        <p:txBody>
          <a:bodyPr/>
          <a:lstStyle>
            <a:lvl1pPr>
              <a:defRPr>
                <a:solidFill>
                  <a:schemeClr val="bg2"/>
                </a:solidFill>
              </a:defRPr>
            </a:lvl1pPr>
          </a:lstStyle>
          <a:p>
            <a:pPr>
              <a:defRPr/>
            </a:pPr>
            <a:endParaRPr lang="en-US" altLang="zh-CN"/>
          </a:p>
        </p:txBody>
      </p:sp>
      <p:sp>
        <p:nvSpPr>
          <p:cNvPr id="16" name="Rectangle 16"/>
          <p:cNvSpPr>
            <a:spLocks noGrp="1" noChangeArrowheads="1"/>
          </p:cNvSpPr>
          <p:nvPr>
            <p:ph type="sldNum" sz="quarter" idx="12"/>
          </p:nvPr>
        </p:nvSpPr>
        <p:spPr>
          <a:xfrm>
            <a:off x="9144000" y="6248400"/>
            <a:ext cx="2540000" cy="457200"/>
          </a:xfrm>
        </p:spPr>
        <p:txBody>
          <a:bodyPr/>
          <a:lstStyle>
            <a:lvl1pPr>
              <a:defRPr>
                <a:solidFill>
                  <a:schemeClr val="bg2"/>
                </a:solidFill>
              </a:defRPr>
            </a:lvl1pPr>
          </a:lstStyle>
          <a:p>
            <a:pPr>
              <a:defRPr/>
            </a:pPr>
            <a:fld id="{9F92B998-A2DC-4F41-889D-C6CB4729C698}"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lvl2pPr>
              <a:defRPr>
                <a:latin typeface="楷体_GB2312" panose="02010609030101010101" pitchFamily="49" charset="-122"/>
                <a:ea typeface="楷体_GB2312" panose="02010609030101010101" pitchFamily="49" charset="-122"/>
              </a:defRPr>
            </a:lvl2pPr>
            <a:lvl3pPr>
              <a:defRPr>
                <a:latin typeface="+mn-ea"/>
                <a:ea typeface="+mn-ea"/>
              </a:defRPr>
            </a:lvl3pPr>
            <a:lvl4pPr>
              <a:defRPr>
                <a:latin typeface="仿宋_GB2312" panose="02010609030101010101" pitchFamily="49" charset="-122"/>
                <a:ea typeface="仿宋_GB2312" panose="02010609030101010101" pitchFamily="49" charset="-122"/>
              </a:defRPr>
            </a:lvl4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9809D457-C68E-4415-BCD6-0DACC2CA6E90}"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AC47AC02-CB5B-4DC0-A033-9D9DA82B6201}"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576917" y="2017713"/>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860117" y="2017713"/>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D89AE388-8C2C-462D-9593-091708BC042E}"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p:cNvSpPr>
            <a:spLocks noGrp="1" noChangeArrowheads="1"/>
          </p:cNvSpPr>
          <p:nvPr>
            <p:ph type="dt" sz="half" idx="10"/>
          </p:nvPr>
        </p:nvSpPr>
        <p:spPr/>
        <p:txBody>
          <a:bodyPr/>
          <a:lstStyle>
            <a:lvl1pPr>
              <a:defRPr/>
            </a:lvl1pPr>
          </a:lstStyle>
          <a:p>
            <a:pPr>
              <a:defRPr/>
            </a:pPr>
            <a:endParaRPr lang="en-US" altLang="zh-CN"/>
          </a:p>
        </p:txBody>
      </p:sp>
      <p:sp>
        <p:nvSpPr>
          <p:cNvPr id="8" name="Rectangle 12"/>
          <p:cNvSpPr>
            <a:spLocks noGrp="1" noChangeArrowheads="1"/>
          </p:cNvSpPr>
          <p:nvPr>
            <p:ph type="ftr" sz="quarter" idx="11"/>
          </p:nvPr>
        </p:nvSpPr>
        <p:spPr/>
        <p:txBody>
          <a:bodyPr/>
          <a:lstStyle>
            <a:lvl1pPr>
              <a:defRPr/>
            </a:lvl1pPr>
          </a:lstStyle>
          <a:p>
            <a:pPr>
              <a:defRPr/>
            </a:pPr>
            <a:endParaRPr lang="en-US" altLang="zh-CN"/>
          </a:p>
        </p:txBody>
      </p:sp>
      <p:sp>
        <p:nvSpPr>
          <p:cNvPr id="9" name="Rectangle 13"/>
          <p:cNvSpPr>
            <a:spLocks noGrp="1" noChangeArrowheads="1"/>
          </p:cNvSpPr>
          <p:nvPr>
            <p:ph type="sldNum" sz="quarter" idx="12"/>
          </p:nvPr>
        </p:nvSpPr>
        <p:spPr/>
        <p:txBody>
          <a:bodyPr/>
          <a:lstStyle>
            <a:lvl1pPr>
              <a:defRPr/>
            </a:lvl1pPr>
          </a:lstStyle>
          <a:p>
            <a:pPr>
              <a:defRPr/>
            </a:pPr>
            <a:fld id="{DA8D6EB4-AA2B-4808-8898-EAD9D1D1FD9F}"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1"/>
          <p:cNvSpPr>
            <a:spLocks noGrp="1" noChangeArrowheads="1"/>
          </p:cNvSpPr>
          <p:nvPr>
            <p:ph type="dt" sz="half" idx="10"/>
          </p:nvPr>
        </p:nvSpPr>
        <p:spPr/>
        <p:txBody>
          <a:bodyPr/>
          <a:lstStyle>
            <a:lvl1pPr>
              <a:defRPr/>
            </a:lvl1pPr>
          </a:lstStyle>
          <a:p>
            <a:pPr>
              <a:defRPr/>
            </a:pPr>
            <a:endParaRPr lang="en-US" altLang="zh-CN"/>
          </a:p>
        </p:txBody>
      </p:sp>
      <p:sp>
        <p:nvSpPr>
          <p:cNvPr id="4" name="Rectangle 12"/>
          <p:cNvSpPr>
            <a:spLocks noGrp="1" noChangeArrowheads="1"/>
          </p:cNvSpPr>
          <p:nvPr>
            <p:ph type="ftr" sz="quarter" idx="11"/>
          </p:nvPr>
        </p:nvSpPr>
        <p:spPr/>
        <p:txBody>
          <a:bodyPr/>
          <a:lstStyle>
            <a:lvl1pPr>
              <a:defRPr/>
            </a:lvl1pPr>
          </a:lstStyle>
          <a:p>
            <a:pPr>
              <a:defRPr/>
            </a:pPr>
            <a:endParaRPr lang="en-US" altLang="zh-CN"/>
          </a:p>
        </p:txBody>
      </p:sp>
      <p:sp>
        <p:nvSpPr>
          <p:cNvPr id="5" name="Rectangle 13"/>
          <p:cNvSpPr>
            <a:spLocks noGrp="1" noChangeArrowheads="1"/>
          </p:cNvSpPr>
          <p:nvPr>
            <p:ph type="sldNum" sz="quarter" idx="12"/>
          </p:nvPr>
        </p:nvSpPr>
        <p:spPr/>
        <p:txBody>
          <a:bodyPr/>
          <a:lstStyle>
            <a:lvl1pPr>
              <a:defRPr/>
            </a:lvl1pPr>
          </a:lstStyle>
          <a:p>
            <a:pPr>
              <a:defRPr/>
            </a:pPr>
            <a:fld id="{BFE6002F-4D45-4133-AA53-CC4A0BC03789}"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p:txBody>
          <a:bodyPr/>
          <a:lstStyle>
            <a:lvl1pPr>
              <a:defRPr/>
            </a:lvl1pPr>
          </a:lstStyle>
          <a:p>
            <a:pPr>
              <a:defRPr/>
            </a:pPr>
            <a:endParaRPr lang="en-US" altLang="zh-CN"/>
          </a:p>
        </p:txBody>
      </p:sp>
      <p:sp>
        <p:nvSpPr>
          <p:cNvPr id="3" name="Rectangle 12"/>
          <p:cNvSpPr>
            <a:spLocks noGrp="1" noChangeArrowheads="1"/>
          </p:cNvSpPr>
          <p:nvPr>
            <p:ph type="ftr" sz="quarter" idx="11"/>
          </p:nvPr>
        </p:nvSpPr>
        <p:spPr/>
        <p:txBody>
          <a:bodyPr/>
          <a:lstStyle>
            <a:lvl1pPr>
              <a:defRPr/>
            </a:lvl1pPr>
          </a:lstStyle>
          <a:p>
            <a:pPr>
              <a:defRPr/>
            </a:pPr>
            <a:endParaRPr lang="en-US" altLang="zh-CN"/>
          </a:p>
        </p:txBody>
      </p:sp>
      <p:sp>
        <p:nvSpPr>
          <p:cNvPr id="4" name="Rectangle 13"/>
          <p:cNvSpPr>
            <a:spLocks noGrp="1" noChangeArrowheads="1"/>
          </p:cNvSpPr>
          <p:nvPr>
            <p:ph type="sldNum" sz="quarter" idx="12"/>
          </p:nvPr>
        </p:nvSpPr>
        <p:spPr/>
        <p:txBody>
          <a:bodyPr/>
          <a:lstStyle>
            <a:lvl1pPr>
              <a:defRPr/>
            </a:lvl1pPr>
          </a:lstStyle>
          <a:p>
            <a:pPr>
              <a:defRPr/>
            </a:pPr>
            <a:fld id="{7D7E3319-0428-46F8-A5F7-DE06FFEB837A}"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DBA5D1A8-464E-4A2A-BD2C-ADAC0148C2AD}"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B3A884BF-60FC-45BC-A3D7-1770559A18D7}"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EE19E60E-BE9F-4B9E-A5B7-D2A6A2C395BF}"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338733" y="214313"/>
            <a:ext cx="2601384" cy="5918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534584" y="214313"/>
            <a:ext cx="7600949" cy="5918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50445634-673E-4219-8F58-72A0A76C1DDB}" type="slidenum">
              <a:rPr lang="en-US" altLang="zh-CN"/>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534584" y="214313"/>
            <a:ext cx="10390716" cy="1462087"/>
          </a:xfrm>
        </p:spPr>
        <p:txBody>
          <a:bodyPr/>
          <a:lstStyle/>
          <a:p>
            <a:r>
              <a:rPr lang="zh-CN" altLang="en-US"/>
              <a:t>单击此处编辑母版标题样式</a:t>
            </a:r>
          </a:p>
        </p:txBody>
      </p:sp>
      <p:sp>
        <p:nvSpPr>
          <p:cNvPr id="3" name="表格占位符 2"/>
          <p:cNvSpPr>
            <a:spLocks noGrp="1"/>
          </p:cNvSpPr>
          <p:nvPr>
            <p:ph type="tbl" idx="1"/>
          </p:nvPr>
        </p:nvSpPr>
        <p:spPr>
          <a:xfrm>
            <a:off x="1576917" y="2017713"/>
            <a:ext cx="10363200" cy="4114800"/>
          </a:xfrm>
        </p:spPr>
        <p:txBody>
          <a:bodyPr/>
          <a:lstStyle/>
          <a:p>
            <a:pPr lvl="0"/>
            <a:endParaRPr lang="zh-CN" altLang="en-US" noProof="0"/>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B6196AC5-FAC5-49FC-82CE-5E0035DF16EA}" type="slidenum">
              <a:rPr lang="en-US" altLang="zh-CN"/>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534584" y="214313"/>
            <a:ext cx="10390716" cy="1462087"/>
          </a:xfrm>
        </p:spPr>
        <p:txBody>
          <a:bodyPr/>
          <a:lstStyle/>
          <a:p>
            <a:r>
              <a:rPr lang="zh-CN" altLang="en-US"/>
              <a:t>单击此处编辑母版标题样式</a:t>
            </a:r>
          </a:p>
        </p:txBody>
      </p:sp>
      <p:sp>
        <p:nvSpPr>
          <p:cNvPr id="3" name="文本占位符 2"/>
          <p:cNvSpPr>
            <a:spLocks noGrp="1"/>
          </p:cNvSpPr>
          <p:nvPr>
            <p:ph type="body" sz="half" idx="1"/>
          </p:nvPr>
        </p:nvSpPr>
        <p:spPr>
          <a:xfrm>
            <a:off x="1576917" y="2017713"/>
            <a:ext cx="508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860117" y="2017713"/>
            <a:ext cx="508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9D9FA020-0644-4E30-9FA1-3BB2E488C7C2}"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556684" y="1098550"/>
            <a:ext cx="584200" cy="474663"/>
          </a:xfrm>
          <a:prstGeom prst="rect">
            <a:avLst/>
          </a:prstGeom>
          <a:solidFill>
            <a:schemeClr val="accent2"/>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2400"/>
          </a:p>
        </p:txBody>
      </p:sp>
      <p:sp>
        <p:nvSpPr>
          <p:cNvPr id="1027" name="Rectangle 3"/>
          <p:cNvSpPr>
            <a:spLocks noChangeArrowheads="1"/>
          </p:cNvSpPr>
          <p:nvPr/>
        </p:nvSpPr>
        <p:spPr bwMode="ltGray">
          <a:xfrm>
            <a:off x="1066800" y="1098550"/>
            <a:ext cx="438151" cy="474663"/>
          </a:xfrm>
          <a:prstGeom prst="rect">
            <a:avLst/>
          </a:prstGeom>
          <a:gradFill rotWithShape="0">
            <a:gsLst>
              <a:gs pos="0">
                <a:schemeClr val="accent2"/>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2400"/>
          </a:p>
        </p:txBody>
      </p:sp>
      <p:sp>
        <p:nvSpPr>
          <p:cNvPr id="1028" name="Rectangle 4"/>
          <p:cNvSpPr>
            <a:spLocks noChangeArrowheads="1"/>
          </p:cNvSpPr>
          <p:nvPr/>
        </p:nvSpPr>
        <p:spPr bwMode="ltGray">
          <a:xfrm>
            <a:off x="721784" y="1520825"/>
            <a:ext cx="563033" cy="474663"/>
          </a:xfrm>
          <a:prstGeom prst="rect">
            <a:avLst/>
          </a:prstGeom>
          <a:solidFill>
            <a:schemeClr val="folHlink"/>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2400"/>
          </a:p>
        </p:txBody>
      </p:sp>
      <p:sp>
        <p:nvSpPr>
          <p:cNvPr id="1029" name="Rectangle 5"/>
          <p:cNvSpPr>
            <a:spLocks noChangeArrowheads="1"/>
          </p:cNvSpPr>
          <p:nvPr/>
        </p:nvSpPr>
        <p:spPr bwMode="ltGray">
          <a:xfrm>
            <a:off x="1214967" y="1520825"/>
            <a:ext cx="491067" cy="474663"/>
          </a:xfrm>
          <a:prstGeom prst="rect">
            <a:avLst/>
          </a:prstGeom>
          <a:gradFill rotWithShape="0">
            <a:gsLst>
              <a:gs pos="0">
                <a:schemeClr val="folHlink"/>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2400"/>
          </a:p>
        </p:txBody>
      </p:sp>
      <p:sp>
        <p:nvSpPr>
          <p:cNvPr id="1030" name="Rectangle 6"/>
          <p:cNvSpPr>
            <a:spLocks noChangeArrowheads="1"/>
          </p:cNvSpPr>
          <p:nvPr/>
        </p:nvSpPr>
        <p:spPr bwMode="ltGray">
          <a:xfrm>
            <a:off x="169333" y="1447800"/>
            <a:ext cx="747184" cy="422275"/>
          </a:xfrm>
          <a:prstGeom prst="rect">
            <a:avLst/>
          </a:prstGeom>
          <a:gradFill rotWithShape="0">
            <a:gsLst>
              <a:gs pos="0">
                <a:schemeClr val="bg1"/>
              </a:gs>
              <a:gs pos="100000">
                <a:schemeClr val="hlink"/>
              </a:gs>
            </a:gsLst>
            <a:lin ang="1890000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2400"/>
          </a:p>
        </p:txBody>
      </p:sp>
      <p:sp>
        <p:nvSpPr>
          <p:cNvPr id="1031" name="Rectangle 7"/>
          <p:cNvSpPr>
            <a:spLocks noChangeArrowheads="1"/>
          </p:cNvSpPr>
          <p:nvPr/>
        </p:nvSpPr>
        <p:spPr bwMode="gray">
          <a:xfrm>
            <a:off x="1016000" y="990600"/>
            <a:ext cx="42333" cy="1052513"/>
          </a:xfrm>
          <a:prstGeom prst="rect">
            <a:avLst/>
          </a:prstGeom>
          <a:solidFill>
            <a:schemeClr val="bg2"/>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2400"/>
          </a:p>
        </p:txBody>
      </p:sp>
      <p:sp>
        <p:nvSpPr>
          <p:cNvPr id="1032" name="Rectangle 8"/>
          <p:cNvSpPr>
            <a:spLocks noChangeArrowheads="1"/>
          </p:cNvSpPr>
          <p:nvPr/>
        </p:nvSpPr>
        <p:spPr bwMode="gray">
          <a:xfrm>
            <a:off x="590551" y="1781175"/>
            <a:ext cx="10968567" cy="31750"/>
          </a:xfrm>
          <a:prstGeom prst="rect">
            <a:avLst/>
          </a:prstGeom>
          <a:gradFill rotWithShape="0">
            <a:gsLst>
              <a:gs pos="0">
                <a:schemeClr val="bg2"/>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2400"/>
          </a:p>
        </p:txBody>
      </p:sp>
      <p:sp>
        <p:nvSpPr>
          <p:cNvPr id="1033" name="Rectangle 9"/>
          <p:cNvSpPr>
            <a:spLocks noGrp="1" noChangeArrowheads="1"/>
          </p:cNvSpPr>
          <p:nvPr>
            <p:ph type="title"/>
          </p:nvPr>
        </p:nvSpPr>
        <p:spPr bwMode="auto">
          <a:xfrm>
            <a:off x="1534584" y="214313"/>
            <a:ext cx="10390716" cy="146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p>
        </p:txBody>
      </p:sp>
      <p:sp>
        <p:nvSpPr>
          <p:cNvPr id="1034" name="Rectangle 10"/>
          <p:cNvSpPr>
            <a:spLocks noGrp="1" noChangeArrowheads="1"/>
          </p:cNvSpPr>
          <p:nvPr>
            <p:ph type="body" idx="1"/>
          </p:nvPr>
        </p:nvSpPr>
        <p:spPr bwMode="auto">
          <a:xfrm>
            <a:off x="1576917" y="2017713"/>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88779" name="Rectangle 11"/>
          <p:cNvSpPr>
            <a:spLocks noGrp="1" noChangeArrowheads="1"/>
          </p:cNvSpPr>
          <p:nvPr>
            <p:ph type="dt" sz="half" idx="2"/>
          </p:nvPr>
        </p:nvSpPr>
        <p:spPr bwMode="auto">
          <a:xfrm>
            <a:off x="1549400" y="6243638"/>
            <a:ext cx="25400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400"/>
            </a:lvl1pPr>
          </a:lstStyle>
          <a:p>
            <a:pPr>
              <a:defRPr/>
            </a:pPr>
            <a:endParaRPr lang="en-US" altLang="zh-CN"/>
          </a:p>
        </p:txBody>
      </p:sp>
      <p:sp>
        <p:nvSpPr>
          <p:cNvPr id="288780" name="Rectangle 12"/>
          <p:cNvSpPr>
            <a:spLocks noGrp="1" noChangeArrowheads="1"/>
          </p:cNvSpPr>
          <p:nvPr>
            <p:ph type="ftr" sz="quarter" idx="3"/>
          </p:nvPr>
        </p:nvSpPr>
        <p:spPr bwMode="auto">
          <a:xfrm>
            <a:off x="4876800" y="6243638"/>
            <a:ext cx="38608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sz="1400"/>
            </a:lvl1pPr>
          </a:lstStyle>
          <a:p>
            <a:pPr>
              <a:defRPr/>
            </a:pPr>
            <a:endParaRPr lang="en-US" altLang="zh-CN"/>
          </a:p>
        </p:txBody>
      </p:sp>
      <p:sp>
        <p:nvSpPr>
          <p:cNvPr id="288781" name="Rectangle 13"/>
          <p:cNvSpPr>
            <a:spLocks noGrp="1" noChangeArrowheads="1"/>
          </p:cNvSpPr>
          <p:nvPr>
            <p:ph type="sldNum" sz="quarter" idx="4"/>
          </p:nvPr>
        </p:nvSpPr>
        <p:spPr bwMode="auto">
          <a:xfrm>
            <a:off x="9389533" y="6243638"/>
            <a:ext cx="2540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400"/>
            </a:lvl1pPr>
          </a:lstStyle>
          <a:p>
            <a:pPr>
              <a:defRPr/>
            </a:pPr>
            <a:fld id="{81FC81BC-D6D4-4452-8C53-E68B79F6DBA1}"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rtl="0" eaLnBrk="0" fontAlgn="base" hangingPunct="0">
        <a:spcBef>
          <a:spcPct val="0"/>
        </a:spcBef>
        <a:spcAft>
          <a:spcPct val="0"/>
        </a:spcAft>
        <a:defRPr sz="4400" b="1">
          <a:solidFill>
            <a:schemeClr val="tx2"/>
          </a:solidFill>
          <a:latin typeface="+mj-lt"/>
          <a:ea typeface="+mj-ea"/>
          <a:cs typeface="+mj-cs"/>
        </a:defRPr>
      </a:lvl1pPr>
      <a:lvl2pPr algn="l" rtl="0" eaLnBrk="0" fontAlgn="base" hangingPunct="0">
        <a:spcBef>
          <a:spcPct val="0"/>
        </a:spcBef>
        <a:spcAft>
          <a:spcPct val="0"/>
        </a:spcAft>
        <a:defRPr sz="4400" b="1">
          <a:solidFill>
            <a:schemeClr val="tx2"/>
          </a:solidFill>
          <a:latin typeface="Tahoma" panose="020B0604030504040204" pitchFamily="34" charset="0"/>
          <a:ea typeface="华文中宋" panose="02010600040101010101" pitchFamily="2" charset="-122"/>
        </a:defRPr>
      </a:lvl2pPr>
      <a:lvl3pPr algn="l" rtl="0" eaLnBrk="0" fontAlgn="base" hangingPunct="0">
        <a:spcBef>
          <a:spcPct val="0"/>
        </a:spcBef>
        <a:spcAft>
          <a:spcPct val="0"/>
        </a:spcAft>
        <a:defRPr sz="4400" b="1">
          <a:solidFill>
            <a:schemeClr val="tx2"/>
          </a:solidFill>
          <a:latin typeface="Tahoma" panose="020B0604030504040204" pitchFamily="34" charset="0"/>
          <a:ea typeface="华文中宋" panose="02010600040101010101" pitchFamily="2" charset="-122"/>
        </a:defRPr>
      </a:lvl3pPr>
      <a:lvl4pPr algn="l" rtl="0" eaLnBrk="0" fontAlgn="base" hangingPunct="0">
        <a:spcBef>
          <a:spcPct val="0"/>
        </a:spcBef>
        <a:spcAft>
          <a:spcPct val="0"/>
        </a:spcAft>
        <a:defRPr sz="4400" b="1">
          <a:solidFill>
            <a:schemeClr val="tx2"/>
          </a:solidFill>
          <a:latin typeface="Tahoma" panose="020B0604030504040204" pitchFamily="34" charset="0"/>
          <a:ea typeface="华文中宋" panose="02010600040101010101" pitchFamily="2" charset="-122"/>
        </a:defRPr>
      </a:lvl4pPr>
      <a:lvl5pPr algn="l" rtl="0" eaLnBrk="0" fontAlgn="base" hangingPunct="0">
        <a:spcBef>
          <a:spcPct val="0"/>
        </a:spcBef>
        <a:spcAft>
          <a:spcPct val="0"/>
        </a:spcAft>
        <a:defRPr sz="4400" b="1">
          <a:solidFill>
            <a:schemeClr val="tx2"/>
          </a:solidFill>
          <a:latin typeface="Tahoma" panose="020B0604030504040204" pitchFamily="34" charset="0"/>
          <a:ea typeface="华文中宋" panose="02010600040101010101" pitchFamily="2" charset="-122"/>
        </a:defRPr>
      </a:lvl5pPr>
      <a:lvl6pPr marL="457200" algn="l" rtl="0" fontAlgn="base">
        <a:spcBef>
          <a:spcPct val="0"/>
        </a:spcBef>
        <a:spcAft>
          <a:spcPct val="0"/>
        </a:spcAft>
        <a:defRPr sz="4400" b="1">
          <a:solidFill>
            <a:schemeClr val="tx2"/>
          </a:solidFill>
          <a:latin typeface="Tahoma" panose="020B0604030504040204" pitchFamily="34" charset="0"/>
          <a:ea typeface="华文中宋" panose="02010600040101010101" pitchFamily="2" charset="-122"/>
        </a:defRPr>
      </a:lvl6pPr>
      <a:lvl7pPr marL="914400" algn="l" rtl="0" fontAlgn="base">
        <a:spcBef>
          <a:spcPct val="0"/>
        </a:spcBef>
        <a:spcAft>
          <a:spcPct val="0"/>
        </a:spcAft>
        <a:defRPr sz="4400" b="1">
          <a:solidFill>
            <a:schemeClr val="tx2"/>
          </a:solidFill>
          <a:latin typeface="Tahoma" panose="020B0604030504040204" pitchFamily="34" charset="0"/>
          <a:ea typeface="华文中宋" panose="02010600040101010101" pitchFamily="2" charset="-122"/>
        </a:defRPr>
      </a:lvl7pPr>
      <a:lvl8pPr marL="1371600" algn="l" rtl="0" fontAlgn="base">
        <a:spcBef>
          <a:spcPct val="0"/>
        </a:spcBef>
        <a:spcAft>
          <a:spcPct val="0"/>
        </a:spcAft>
        <a:defRPr sz="4400" b="1">
          <a:solidFill>
            <a:schemeClr val="tx2"/>
          </a:solidFill>
          <a:latin typeface="Tahoma" panose="020B0604030504040204" pitchFamily="34" charset="0"/>
          <a:ea typeface="华文中宋" panose="02010600040101010101" pitchFamily="2" charset="-122"/>
        </a:defRPr>
      </a:lvl8pPr>
      <a:lvl9pPr marL="1828800" algn="l" rtl="0" fontAlgn="base">
        <a:spcBef>
          <a:spcPct val="0"/>
        </a:spcBef>
        <a:spcAft>
          <a:spcPct val="0"/>
        </a:spcAft>
        <a:defRPr sz="4400" b="1">
          <a:solidFill>
            <a:schemeClr val="tx2"/>
          </a:solidFill>
          <a:latin typeface="Tahoma" panose="020B0604030504040204" pitchFamily="34" charset="0"/>
          <a:ea typeface="华文中宋" panose="0201060004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a:solidFill>
            <a:schemeClr val="tx1"/>
          </a:solidFill>
          <a:latin typeface="楷体_GB2312" panose="02010609030101010101" pitchFamily="49" charset="-122"/>
          <a:ea typeface="楷体_GB2312" panose="02010609030101010101" pitchFamily="49"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a:solidFill>
            <a:schemeClr val="tx1"/>
          </a:solidFill>
          <a:latin typeface="楷体_GB2312" panose="02010609030101010101" pitchFamily="49" charset="-122"/>
          <a:ea typeface="楷体_GB2312" panose="02010609030101010101" pitchFamily="49"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a:solidFill>
            <a:schemeClr val="tx1"/>
          </a:solidFill>
          <a:latin typeface="黑体" panose="02010609060101010101" pitchFamily="49" charset="-122"/>
          <a:ea typeface="黑体" panose="02010609060101010101" pitchFamily="49"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黑体" panose="02010609060101010101" pitchFamily="49" charset="-122"/>
          <a:ea typeface="黑体" panose="02010609060101010101" pitchFamily="49"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GIF"/></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7.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body" idx="1"/>
          </p:nvPr>
        </p:nvSpPr>
        <p:spPr>
          <a:xfrm>
            <a:off x="2085975" y="1462405"/>
            <a:ext cx="7772400" cy="4428490"/>
          </a:xfrm>
        </p:spPr>
        <p:txBody>
          <a:bodyPr/>
          <a:lstStyle/>
          <a:p>
            <a:pPr eaLnBrk="1" hangingPunct="1"/>
            <a:endParaRPr lang="en-US" altLang="zh-CN" dirty="0"/>
          </a:p>
          <a:p>
            <a:pPr eaLnBrk="1" hangingPunct="1"/>
            <a:endParaRPr lang="en-US" altLang="zh-CN" dirty="0"/>
          </a:p>
          <a:p>
            <a:pPr marL="0" indent="0" algn="ctr" eaLnBrk="1" hangingPunct="1">
              <a:buNone/>
            </a:pPr>
            <a:r>
              <a:rPr lang="zh-CN" altLang="en-US" sz="4400" dirty="0">
                <a:latin typeface="黑体" panose="02010609060101010101" pitchFamily="49" charset="-122"/>
                <a:ea typeface="黑体" panose="02010609060101010101" pitchFamily="49" charset="-122"/>
                <a:cs typeface="黑体" panose="02010609060101010101" pitchFamily="49" charset="-122"/>
              </a:rPr>
              <a:t>第</a:t>
            </a:r>
            <a:r>
              <a:rPr lang="en-US" altLang="zh-CN" sz="4400" dirty="0">
                <a:latin typeface="黑体" panose="02010609060101010101" pitchFamily="49" charset="-122"/>
                <a:ea typeface="黑体" panose="02010609060101010101" pitchFamily="49" charset="-122"/>
                <a:cs typeface="黑体" panose="02010609060101010101" pitchFamily="49" charset="-122"/>
              </a:rPr>
              <a:t>3</a:t>
            </a:r>
            <a:r>
              <a:rPr lang="zh-CN" altLang="en-US" sz="4400" dirty="0">
                <a:latin typeface="黑体" panose="02010609060101010101" pitchFamily="49" charset="-122"/>
                <a:ea typeface="黑体" panose="02010609060101010101" pitchFamily="49" charset="-122"/>
                <a:cs typeface="黑体" panose="02010609060101010101" pitchFamily="49" charset="-122"/>
              </a:rPr>
              <a:t>章  </a:t>
            </a:r>
            <a:r>
              <a:rPr lang="zh-CN" altLang="en-US" sz="4400">
                <a:latin typeface="黑体" panose="02010609060101010101" pitchFamily="49" charset="-122"/>
                <a:ea typeface="黑体" panose="02010609060101010101" pitchFamily="49" charset="-122"/>
                <a:cs typeface="黑体" panose="02010609060101010101" pitchFamily="49" charset="-122"/>
              </a:rPr>
              <a:t>应收款项</a:t>
            </a:r>
            <a:endParaRPr lang="en-US" altLang="zh-CN" sz="4400" dirty="0">
              <a:cs typeface="黑体" panose="02010609060101010101" pitchFamily="49" charset="-122"/>
            </a:endParaRPr>
          </a:p>
        </p:txBody>
      </p:sp>
      <p:pic>
        <p:nvPicPr>
          <p:cNvPr id="4" name="图片 3">
            <a:extLst>
              <a:ext uri="{FF2B5EF4-FFF2-40B4-BE49-F238E27FC236}">
                <a16:creationId xmlns:a16="http://schemas.microsoft.com/office/drawing/2014/main" id="{18FC6937-5CF7-4355-9479-AD2A8CB607D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04643" y="3369082"/>
            <a:ext cx="2304256" cy="2986290"/>
          </a:xfrm>
          <a:prstGeom prst="rect">
            <a:avLst/>
          </a:prstGeom>
        </p:spPr>
      </p:pic>
      <p:sp>
        <p:nvSpPr>
          <p:cNvPr id="5" name="矩形 4">
            <a:extLst>
              <a:ext uri="{FF2B5EF4-FFF2-40B4-BE49-F238E27FC236}">
                <a16:creationId xmlns:a16="http://schemas.microsoft.com/office/drawing/2014/main" id="{6A1AA099-9C3E-4D19-9C5E-BA428FCEED47}"/>
              </a:ext>
            </a:extLst>
          </p:cNvPr>
          <p:cNvSpPr/>
          <p:nvPr/>
        </p:nvSpPr>
        <p:spPr>
          <a:xfrm>
            <a:off x="3627264" y="4547117"/>
            <a:ext cx="2992593" cy="923330"/>
          </a:xfrm>
          <a:prstGeom prst="rect">
            <a:avLst/>
          </a:prstGeom>
        </p:spPr>
        <p:txBody>
          <a:bodyPr wrap="square">
            <a:spAutoFit/>
          </a:bodyPr>
          <a:lstStyle/>
          <a:p>
            <a:pPr eaLnBrk="1" hangingPunct="1"/>
            <a:r>
              <a:rPr lang="zh-CN" altLang="en-US" dirty="0"/>
              <a:t>配套教材</a:t>
            </a:r>
            <a:endParaRPr lang="en-US" altLang="zh-CN" dirty="0"/>
          </a:p>
          <a:p>
            <a:pPr eaLnBrk="1" hangingPunct="1"/>
            <a:r>
              <a:rPr lang="zh-CN" altLang="en-US" dirty="0"/>
              <a:t>纸质版：天猫、京东</a:t>
            </a:r>
            <a:endParaRPr lang="en-US" altLang="zh-CN" dirty="0"/>
          </a:p>
          <a:p>
            <a:pPr eaLnBrk="1" hangingPunct="1"/>
            <a:r>
              <a:rPr lang="zh-CN" altLang="en-US" dirty="0"/>
              <a:t>电子版及教辅：文泉学堂</a:t>
            </a:r>
            <a:endParaRPr lang="en-US" altLang="zh-C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E5D801-2BC1-42A5-806C-EAD23D5E1441}"/>
              </a:ext>
            </a:extLst>
          </p:cNvPr>
          <p:cNvSpPr>
            <a:spLocks noGrp="1"/>
          </p:cNvSpPr>
          <p:nvPr>
            <p:ph type="title"/>
          </p:nvPr>
        </p:nvSpPr>
        <p:spPr/>
        <p:txBody>
          <a:bodyPr/>
          <a:lstStyle/>
          <a:p>
            <a:endParaRPr lang="zh-CN" altLang="en-US"/>
          </a:p>
        </p:txBody>
      </p:sp>
      <p:graphicFrame>
        <p:nvGraphicFramePr>
          <p:cNvPr id="4" name="内容占位符 3">
            <a:extLst>
              <a:ext uri="{FF2B5EF4-FFF2-40B4-BE49-F238E27FC236}">
                <a16:creationId xmlns:a16="http://schemas.microsoft.com/office/drawing/2014/main" id="{FB21D101-12CE-4EBC-BE21-C83F71B2C66D}"/>
              </a:ext>
            </a:extLst>
          </p:cNvPr>
          <p:cNvGraphicFramePr>
            <a:graphicFrameLocks noGrp="1"/>
          </p:cNvGraphicFramePr>
          <p:nvPr>
            <p:ph idx="1"/>
            <p:extLst>
              <p:ext uri="{D42A27DB-BD31-4B8C-83A1-F6EECF244321}">
                <p14:modId xmlns:p14="http://schemas.microsoft.com/office/powerpoint/2010/main" val="2297893126"/>
              </p:ext>
            </p:extLst>
          </p:nvPr>
        </p:nvGraphicFramePr>
        <p:xfrm>
          <a:off x="99674" y="86672"/>
          <a:ext cx="11825622" cy="3318510"/>
        </p:xfrm>
        <a:graphic>
          <a:graphicData uri="http://schemas.openxmlformats.org/drawingml/2006/table">
            <a:tbl>
              <a:tblPr>
                <a:tableStyleId>{5C22544A-7EE6-4342-B048-85BDC9FD1C3A}</a:tableStyleId>
              </a:tblPr>
              <a:tblGrid>
                <a:gridCol w="2908637">
                  <a:extLst>
                    <a:ext uri="{9D8B030D-6E8A-4147-A177-3AD203B41FA5}">
                      <a16:colId xmlns:a16="http://schemas.microsoft.com/office/drawing/2014/main" val="373422889"/>
                    </a:ext>
                  </a:extLst>
                </a:gridCol>
                <a:gridCol w="1783397">
                  <a:extLst>
                    <a:ext uri="{9D8B030D-6E8A-4147-A177-3AD203B41FA5}">
                      <a16:colId xmlns:a16="http://schemas.microsoft.com/office/drawing/2014/main" val="1453154167"/>
                    </a:ext>
                  </a:extLst>
                </a:gridCol>
                <a:gridCol w="1783397">
                  <a:extLst>
                    <a:ext uri="{9D8B030D-6E8A-4147-A177-3AD203B41FA5}">
                      <a16:colId xmlns:a16="http://schemas.microsoft.com/office/drawing/2014/main" val="545287196"/>
                    </a:ext>
                  </a:extLst>
                </a:gridCol>
                <a:gridCol w="1783397">
                  <a:extLst>
                    <a:ext uri="{9D8B030D-6E8A-4147-A177-3AD203B41FA5}">
                      <a16:colId xmlns:a16="http://schemas.microsoft.com/office/drawing/2014/main" val="3119972500"/>
                    </a:ext>
                  </a:extLst>
                </a:gridCol>
                <a:gridCol w="1783397">
                  <a:extLst>
                    <a:ext uri="{9D8B030D-6E8A-4147-A177-3AD203B41FA5}">
                      <a16:colId xmlns:a16="http://schemas.microsoft.com/office/drawing/2014/main" val="1462122190"/>
                    </a:ext>
                  </a:extLst>
                </a:gridCol>
                <a:gridCol w="1783397">
                  <a:extLst>
                    <a:ext uri="{9D8B030D-6E8A-4147-A177-3AD203B41FA5}">
                      <a16:colId xmlns:a16="http://schemas.microsoft.com/office/drawing/2014/main" val="4006055289"/>
                    </a:ext>
                  </a:extLst>
                </a:gridCol>
              </a:tblGrid>
              <a:tr h="213216">
                <a:tc>
                  <a:txBody>
                    <a:bodyPr/>
                    <a:lstStyle/>
                    <a:p>
                      <a:pPr algn="l" fontAlgn="ctr"/>
                      <a:r>
                        <a:rPr lang="zh-CN" altLang="en-US" sz="1400" b="1" u="none" strike="noStrike" dirty="0">
                          <a:effectLst/>
                        </a:rPr>
                        <a:t>贵州茅台</a:t>
                      </a:r>
                      <a:r>
                        <a:rPr lang="en-US" altLang="zh-CN" sz="1400" b="1" u="none" strike="noStrike" dirty="0">
                          <a:effectLst/>
                        </a:rPr>
                        <a:t>【</a:t>
                      </a:r>
                      <a:r>
                        <a:rPr lang="zh-CN" altLang="en-US" sz="1400" b="1" u="none" strike="noStrike" dirty="0">
                          <a:effectLst/>
                        </a:rPr>
                        <a:t>单位 </a:t>
                      </a:r>
                      <a:r>
                        <a:rPr lang="en-US" altLang="zh-CN" sz="1400" b="1" u="none" strike="noStrike" dirty="0">
                          <a:effectLst/>
                        </a:rPr>
                        <a:t>: </a:t>
                      </a:r>
                      <a:r>
                        <a:rPr lang="zh-CN" altLang="en-US" sz="1400" b="1" u="none" strike="noStrike" dirty="0">
                          <a:effectLst/>
                        </a:rPr>
                        <a:t>亿元 </a:t>
                      </a:r>
                      <a:r>
                        <a:rPr lang="en-US" altLang="zh-CN" sz="1400" b="1" u="none" strike="noStrike" dirty="0">
                          <a:effectLst/>
                        </a:rPr>
                        <a:t>, </a:t>
                      </a:r>
                      <a:r>
                        <a:rPr lang="en-US" sz="1400" b="1" u="none" strike="noStrike" dirty="0">
                          <a:effectLst/>
                        </a:rPr>
                        <a:t>CNY</a:t>
                      </a:r>
                      <a:r>
                        <a:rPr lang="en-US" altLang="zh-CN" sz="1400" b="1" u="none" strike="noStrike" dirty="0">
                          <a:effectLst/>
                        </a:rPr>
                        <a:t>】</a:t>
                      </a:r>
                      <a:endParaRPr lang="en-US" sz="1400" b="1"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ctr"/>
                      <a:r>
                        <a:rPr lang="en-US" altLang="zh-CN" sz="1400" u="none" strike="noStrike" dirty="0">
                          <a:effectLst/>
                        </a:rPr>
                        <a:t>2019-12-31</a:t>
                      </a:r>
                      <a:endParaRPr lang="en-US" altLang="zh-CN" sz="14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ctr"/>
                      <a:r>
                        <a:rPr lang="en-US" altLang="zh-CN" sz="1400" u="none" strike="noStrike">
                          <a:effectLst/>
                        </a:rPr>
                        <a:t>2018-12-31</a:t>
                      </a:r>
                      <a:endParaRPr lang="en-US" altLang="zh-CN"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ctr"/>
                      <a:r>
                        <a:rPr lang="en-US" altLang="zh-CN" sz="1400" u="none" strike="noStrike">
                          <a:effectLst/>
                        </a:rPr>
                        <a:t>2017-12-31</a:t>
                      </a:r>
                      <a:endParaRPr lang="en-US" altLang="zh-CN"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ctr"/>
                      <a:r>
                        <a:rPr lang="en-US" altLang="zh-CN" sz="1400" u="none" strike="noStrike">
                          <a:effectLst/>
                        </a:rPr>
                        <a:t>2016-12-31</a:t>
                      </a:r>
                      <a:endParaRPr lang="en-US" altLang="zh-CN"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ctr"/>
                      <a:r>
                        <a:rPr lang="en-US" altLang="zh-CN" sz="1400" u="none" strike="noStrike">
                          <a:effectLst/>
                        </a:rPr>
                        <a:t>2015-12-31</a:t>
                      </a:r>
                      <a:endParaRPr lang="en-US" altLang="zh-CN"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tc>
                <a:extLst>
                  <a:ext uri="{0D108BD9-81ED-4DB2-BD59-A6C34878D82A}">
                    <a16:rowId xmlns:a16="http://schemas.microsoft.com/office/drawing/2014/main" val="541072430"/>
                  </a:ext>
                </a:extLst>
              </a:tr>
              <a:tr h="213216">
                <a:tc>
                  <a:txBody>
                    <a:bodyPr/>
                    <a:lstStyle/>
                    <a:p>
                      <a:pPr algn="l" fontAlgn="ctr"/>
                      <a:r>
                        <a:rPr lang="zh-CN" altLang="en-US" sz="1400" u="none" strike="noStrike">
                          <a:effectLst/>
                        </a:rPr>
                        <a:t>报告期</a:t>
                      </a:r>
                      <a:endParaRPr lang="zh-CN" altLang="en-US"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ctr"/>
                      <a:r>
                        <a:rPr lang="zh-CN" altLang="en-US" sz="1400" u="none" strike="noStrike" dirty="0">
                          <a:effectLst/>
                        </a:rPr>
                        <a:t>年报</a:t>
                      </a:r>
                      <a:endParaRPr lang="zh-CN" altLang="en-US" sz="14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ctr"/>
                      <a:r>
                        <a:rPr lang="zh-CN" altLang="en-US" sz="1400" u="none" strike="noStrike" dirty="0">
                          <a:effectLst/>
                        </a:rPr>
                        <a:t>年报</a:t>
                      </a:r>
                      <a:endParaRPr lang="zh-CN" altLang="en-US" sz="14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ctr"/>
                      <a:r>
                        <a:rPr lang="zh-CN" altLang="en-US" sz="1400" u="none" strike="noStrike">
                          <a:effectLst/>
                        </a:rPr>
                        <a:t>年报</a:t>
                      </a:r>
                      <a:endParaRPr lang="zh-CN" altLang="en-US"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ctr"/>
                      <a:r>
                        <a:rPr lang="zh-CN" altLang="en-US" sz="1400" u="none" strike="noStrike">
                          <a:effectLst/>
                        </a:rPr>
                        <a:t>年报</a:t>
                      </a:r>
                      <a:endParaRPr lang="zh-CN" altLang="en-US"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ctr"/>
                      <a:r>
                        <a:rPr lang="zh-CN" altLang="en-US" sz="1400" u="none" strike="noStrike">
                          <a:effectLst/>
                        </a:rPr>
                        <a:t>年报</a:t>
                      </a:r>
                      <a:endParaRPr lang="zh-CN" altLang="en-US"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tc>
                <a:extLst>
                  <a:ext uri="{0D108BD9-81ED-4DB2-BD59-A6C34878D82A}">
                    <a16:rowId xmlns:a16="http://schemas.microsoft.com/office/drawing/2014/main" val="1358228512"/>
                  </a:ext>
                </a:extLst>
              </a:tr>
              <a:tr h="213216">
                <a:tc>
                  <a:txBody>
                    <a:bodyPr/>
                    <a:lstStyle/>
                    <a:p>
                      <a:pPr algn="l" fontAlgn="ctr"/>
                      <a:r>
                        <a:rPr lang="zh-CN" altLang="en-US" sz="1400" u="none" strike="noStrike">
                          <a:effectLst/>
                        </a:rPr>
                        <a:t>报表类型</a:t>
                      </a:r>
                      <a:endParaRPr lang="zh-CN" altLang="en-US"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ctr"/>
                      <a:r>
                        <a:rPr lang="zh-CN" altLang="en-US" sz="1400" u="none" strike="noStrike">
                          <a:effectLst/>
                        </a:rPr>
                        <a:t>合并报表</a:t>
                      </a:r>
                      <a:endParaRPr lang="zh-CN" altLang="en-US"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ctr"/>
                      <a:r>
                        <a:rPr lang="zh-CN" altLang="en-US" sz="1400" u="none" strike="noStrike" dirty="0">
                          <a:effectLst/>
                        </a:rPr>
                        <a:t>合并报表</a:t>
                      </a:r>
                      <a:endParaRPr lang="zh-CN" altLang="en-US" sz="14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ctr"/>
                      <a:r>
                        <a:rPr lang="zh-CN" altLang="en-US" sz="1400" u="none" strike="noStrike">
                          <a:effectLst/>
                        </a:rPr>
                        <a:t>合并报表</a:t>
                      </a:r>
                      <a:endParaRPr lang="zh-CN" altLang="en-US"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ctr"/>
                      <a:r>
                        <a:rPr lang="zh-CN" altLang="en-US" sz="1400" u="none" strike="noStrike">
                          <a:effectLst/>
                        </a:rPr>
                        <a:t>合并报表</a:t>
                      </a:r>
                      <a:endParaRPr lang="zh-CN" altLang="en-US"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ctr"/>
                      <a:r>
                        <a:rPr lang="zh-CN" altLang="en-US" sz="1400" u="none" strike="noStrike">
                          <a:effectLst/>
                        </a:rPr>
                        <a:t>合并报表</a:t>
                      </a:r>
                      <a:endParaRPr lang="zh-CN" altLang="en-US"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tc>
                <a:extLst>
                  <a:ext uri="{0D108BD9-81ED-4DB2-BD59-A6C34878D82A}">
                    <a16:rowId xmlns:a16="http://schemas.microsoft.com/office/drawing/2014/main" val="3031555635"/>
                  </a:ext>
                </a:extLst>
              </a:tr>
              <a:tr h="213216">
                <a:tc>
                  <a:txBody>
                    <a:bodyPr/>
                    <a:lstStyle/>
                    <a:p>
                      <a:pPr algn="l" fontAlgn="ctr"/>
                      <a:r>
                        <a:rPr lang="zh-CN" altLang="en-US" sz="1400" u="none" strike="noStrike">
                          <a:effectLst/>
                        </a:rPr>
                        <a:t>流动资产：</a:t>
                      </a:r>
                      <a:endParaRPr lang="zh-CN" altLang="en-US"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t"/>
                      <a:endParaRPr lang="zh-CN" altLang="en-US"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endParaRPr lang="zh-CN" altLang="en-US" sz="14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endParaRPr lang="zh-CN" altLang="en-US"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endParaRPr lang="zh-CN" altLang="en-US"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endParaRPr lang="zh-CN" altLang="en-US"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extLst>
                  <a:ext uri="{0D108BD9-81ED-4DB2-BD59-A6C34878D82A}">
                    <a16:rowId xmlns:a16="http://schemas.microsoft.com/office/drawing/2014/main" val="1305312429"/>
                  </a:ext>
                </a:extLst>
              </a:tr>
              <a:tr h="213216">
                <a:tc>
                  <a:txBody>
                    <a:bodyPr/>
                    <a:lstStyle/>
                    <a:p>
                      <a:pPr algn="l" fontAlgn="ctr"/>
                      <a:r>
                        <a:rPr lang="zh-CN" altLang="en-US" sz="1400" u="none" strike="noStrike">
                          <a:effectLst/>
                        </a:rPr>
                        <a:t>　　货币资金</a:t>
                      </a:r>
                      <a:endParaRPr lang="zh-CN" altLang="en-US"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t"/>
                      <a:r>
                        <a:rPr lang="en-US" altLang="zh-CN" sz="1400" u="none" strike="noStrike">
                          <a:effectLst/>
                        </a:rPr>
                        <a:t>132.52 </a:t>
                      </a:r>
                      <a:endParaRPr lang="en-US" altLang="zh-CN"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400" u="none" strike="noStrike">
                          <a:effectLst/>
                        </a:rPr>
                        <a:t>1 120.75 </a:t>
                      </a:r>
                      <a:endParaRPr lang="en-US" altLang="zh-CN"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400" u="none" strike="noStrike" dirty="0">
                          <a:effectLst/>
                        </a:rPr>
                        <a:t>878.69 </a:t>
                      </a:r>
                      <a:endParaRPr lang="en-US" altLang="zh-CN" sz="14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400" u="none" strike="noStrike">
                          <a:effectLst/>
                        </a:rPr>
                        <a:t>668.55 </a:t>
                      </a:r>
                      <a:endParaRPr lang="en-US" altLang="zh-CN"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400" u="none" strike="noStrike">
                          <a:effectLst/>
                        </a:rPr>
                        <a:t>368.01 </a:t>
                      </a:r>
                      <a:endParaRPr lang="en-US" altLang="zh-CN"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extLst>
                  <a:ext uri="{0D108BD9-81ED-4DB2-BD59-A6C34878D82A}">
                    <a16:rowId xmlns:a16="http://schemas.microsoft.com/office/drawing/2014/main" val="3791145497"/>
                  </a:ext>
                </a:extLst>
              </a:tr>
              <a:tr h="213216">
                <a:tc>
                  <a:txBody>
                    <a:bodyPr/>
                    <a:lstStyle/>
                    <a:p>
                      <a:pPr algn="l" fontAlgn="ctr"/>
                      <a:r>
                        <a:rPr lang="zh-CN" altLang="en-US" sz="1600" b="1" u="none" strike="noStrike" dirty="0">
                          <a:effectLst/>
                        </a:rPr>
                        <a:t>　　应收票据</a:t>
                      </a:r>
                      <a:endParaRPr lang="zh-CN" altLang="en-US" sz="1600" b="1"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t"/>
                      <a:r>
                        <a:rPr lang="en-US" altLang="zh-CN" sz="1600" b="1" u="none" strike="noStrike">
                          <a:effectLst/>
                        </a:rPr>
                        <a:t>14.63 </a:t>
                      </a:r>
                      <a:endParaRPr lang="en-US" altLang="zh-CN" sz="1600" b="1"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600" b="1" u="none" strike="noStrike" dirty="0">
                          <a:effectLst/>
                        </a:rPr>
                        <a:t>5.64 </a:t>
                      </a:r>
                      <a:endParaRPr lang="en-US" altLang="zh-CN" sz="1600" b="1"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600" b="1" u="none" strike="noStrike" dirty="0">
                          <a:effectLst/>
                        </a:rPr>
                        <a:t>12.22 </a:t>
                      </a:r>
                      <a:endParaRPr lang="en-US" altLang="zh-CN" sz="1600" b="1"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600" b="1" u="none" strike="noStrike">
                          <a:effectLst/>
                        </a:rPr>
                        <a:t>8.18 </a:t>
                      </a:r>
                      <a:endParaRPr lang="en-US" altLang="zh-CN" sz="1600" b="1"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600" b="1" u="none" strike="noStrike">
                          <a:effectLst/>
                        </a:rPr>
                        <a:t>85.79 </a:t>
                      </a:r>
                      <a:endParaRPr lang="en-US" altLang="zh-CN" sz="1600" b="1"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extLst>
                  <a:ext uri="{0D108BD9-81ED-4DB2-BD59-A6C34878D82A}">
                    <a16:rowId xmlns:a16="http://schemas.microsoft.com/office/drawing/2014/main" val="2482936502"/>
                  </a:ext>
                </a:extLst>
              </a:tr>
              <a:tr h="213216">
                <a:tc>
                  <a:txBody>
                    <a:bodyPr/>
                    <a:lstStyle/>
                    <a:p>
                      <a:pPr algn="l" fontAlgn="ctr"/>
                      <a:r>
                        <a:rPr lang="zh-CN" altLang="en-US" sz="1600" b="1" u="none" strike="noStrike" dirty="0">
                          <a:effectLst/>
                        </a:rPr>
                        <a:t>　　应收账款</a:t>
                      </a:r>
                      <a:endParaRPr lang="zh-CN" altLang="en-US" sz="1600" b="1"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t"/>
                      <a:endParaRPr lang="zh-CN" altLang="en-US" sz="1600" b="1"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endParaRPr lang="zh-CN" altLang="en-US" sz="1600" b="1"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endParaRPr lang="zh-CN" altLang="en-US" sz="1600" b="1"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endParaRPr lang="zh-CN" altLang="en-US" sz="1600" b="1"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600" b="1" u="none" strike="noStrike" dirty="0">
                          <a:effectLst/>
                        </a:rPr>
                        <a:t>0.00 </a:t>
                      </a:r>
                      <a:endParaRPr lang="en-US" altLang="zh-CN" sz="1600" b="1"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extLst>
                  <a:ext uri="{0D108BD9-81ED-4DB2-BD59-A6C34878D82A}">
                    <a16:rowId xmlns:a16="http://schemas.microsoft.com/office/drawing/2014/main" val="818087032"/>
                  </a:ext>
                </a:extLst>
              </a:tr>
              <a:tr h="213216">
                <a:tc>
                  <a:txBody>
                    <a:bodyPr/>
                    <a:lstStyle/>
                    <a:p>
                      <a:pPr algn="l" fontAlgn="ctr"/>
                      <a:r>
                        <a:rPr lang="zh-CN" altLang="en-US" sz="1400" u="none" strike="noStrike">
                          <a:effectLst/>
                        </a:rPr>
                        <a:t>　　预付款项</a:t>
                      </a:r>
                      <a:endParaRPr lang="zh-CN" altLang="en-US"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t"/>
                      <a:r>
                        <a:rPr lang="en-US" altLang="zh-CN" sz="1400" u="none" strike="noStrike" dirty="0">
                          <a:effectLst/>
                        </a:rPr>
                        <a:t>15.49 </a:t>
                      </a:r>
                      <a:endParaRPr lang="en-US" altLang="zh-CN" sz="14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400" u="none" strike="noStrike">
                          <a:effectLst/>
                        </a:rPr>
                        <a:t>11.82 </a:t>
                      </a:r>
                      <a:endParaRPr lang="en-US" altLang="zh-CN"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400" u="none" strike="noStrike">
                          <a:effectLst/>
                        </a:rPr>
                        <a:t>7.91 </a:t>
                      </a:r>
                      <a:endParaRPr lang="en-US" altLang="zh-CN"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400" u="none" strike="noStrike" dirty="0">
                          <a:effectLst/>
                        </a:rPr>
                        <a:t>10.46 </a:t>
                      </a:r>
                      <a:endParaRPr lang="en-US" altLang="zh-CN" sz="14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400" u="none" strike="noStrike" dirty="0">
                          <a:effectLst/>
                        </a:rPr>
                        <a:t>14.78 </a:t>
                      </a:r>
                      <a:endParaRPr lang="en-US" altLang="zh-CN" sz="14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extLst>
                  <a:ext uri="{0D108BD9-81ED-4DB2-BD59-A6C34878D82A}">
                    <a16:rowId xmlns:a16="http://schemas.microsoft.com/office/drawing/2014/main" val="3722636733"/>
                  </a:ext>
                </a:extLst>
              </a:tr>
              <a:tr h="213216">
                <a:tc>
                  <a:txBody>
                    <a:bodyPr/>
                    <a:lstStyle/>
                    <a:p>
                      <a:pPr algn="l" fontAlgn="ctr"/>
                      <a:r>
                        <a:rPr lang="zh-CN" altLang="en-US" sz="1400" u="none" strike="noStrike" dirty="0">
                          <a:effectLst/>
                        </a:rPr>
                        <a:t>　　其他应收款</a:t>
                      </a:r>
                      <a:r>
                        <a:rPr lang="en-US" altLang="zh-CN" sz="1400" u="none" strike="noStrike" dirty="0">
                          <a:effectLst/>
                        </a:rPr>
                        <a:t>(</a:t>
                      </a:r>
                      <a:r>
                        <a:rPr lang="zh-CN" altLang="en-US" sz="1400" u="none" strike="noStrike" dirty="0">
                          <a:effectLst/>
                        </a:rPr>
                        <a:t>合计</a:t>
                      </a:r>
                      <a:r>
                        <a:rPr lang="en-US" altLang="zh-CN" sz="1400" u="none" strike="noStrike" dirty="0">
                          <a:effectLst/>
                        </a:rPr>
                        <a:t>)</a:t>
                      </a:r>
                      <a:endParaRPr lang="en-US" altLang="zh-CN" sz="14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t"/>
                      <a:r>
                        <a:rPr lang="en-US" altLang="zh-CN" sz="1400" u="none" strike="noStrike">
                          <a:effectLst/>
                        </a:rPr>
                        <a:t>0.77 </a:t>
                      </a:r>
                      <a:endParaRPr lang="en-US" altLang="zh-CN"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400" u="none" strike="noStrike">
                          <a:effectLst/>
                        </a:rPr>
                        <a:t>3.94 </a:t>
                      </a:r>
                      <a:endParaRPr lang="en-US" altLang="zh-CN"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400" u="none" strike="noStrike">
                          <a:effectLst/>
                        </a:rPr>
                        <a:t>2.73 </a:t>
                      </a:r>
                      <a:endParaRPr lang="en-US" altLang="zh-CN"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400" u="none" strike="noStrike">
                          <a:effectLst/>
                        </a:rPr>
                        <a:t>2.18 </a:t>
                      </a:r>
                      <a:endParaRPr lang="en-US" altLang="zh-CN"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400" u="none" strike="noStrike" dirty="0">
                          <a:effectLst/>
                        </a:rPr>
                        <a:t>1.34 </a:t>
                      </a:r>
                      <a:endParaRPr lang="en-US" altLang="zh-CN" sz="14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extLst>
                  <a:ext uri="{0D108BD9-81ED-4DB2-BD59-A6C34878D82A}">
                    <a16:rowId xmlns:a16="http://schemas.microsoft.com/office/drawing/2014/main" val="354857252"/>
                  </a:ext>
                </a:extLst>
              </a:tr>
              <a:tr h="213216">
                <a:tc>
                  <a:txBody>
                    <a:bodyPr/>
                    <a:lstStyle/>
                    <a:p>
                      <a:pPr algn="l" fontAlgn="ctr"/>
                      <a:r>
                        <a:rPr lang="zh-CN" altLang="en-US" sz="1400" u="none" strike="noStrike">
                          <a:effectLst/>
                        </a:rPr>
                        <a:t>　　　　应收利息</a:t>
                      </a:r>
                      <a:endParaRPr lang="zh-CN" altLang="en-US"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t"/>
                      <a:endParaRPr lang="zh-CN" altLang="en-US"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400" u="none" strike="noStrike">
                          <a:effectLst/>
                        </a:rPr>
                        <a:t>3.44 </a:t>
                      </a:r>
                      <a:endParaRPr lang="en-US" altLang="zh-CN"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400" u="none" strike="noStrike">
                          <a:effectLst/>
                        </a:rPr>
                        <a:t>2.41 </a:t>
                      </a:r>
                      <a:endParaRPr lang="en-US" altLang="zh-CN"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400" u="none" strike="noStrike">
                          <a:effectLst/>
                        </a:rPr>
                        <a:t>1.41 </a:t>
                      </a:r>
                      <a:endParaRPr lang="en-US" altLang="zh-CN"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400" u="none" strike="noStrike" dirty="0">
                          <a:effectLst/>
                        </a:rPr>
                        <a:t>0.85 </a:t>
                      </a:r>
                      <a:endParaRPr lang="en-US" altLang="zh-CN" sz="14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extLst>
                  <a:ext uri="{0D108BD9-81ED-4DB2-BD59-A6C34878D82A}">
                    <a16:rowId xmlns:a16="http://schemas.microsoft.com/office/drawing/2014/main" val="2035140944"/>
                  </a:ext>
                </a:extLst>
              </a:tr>
              <a:tr h="213216">
                <a:tc>
                  <a:txBody>
                    <a:bodyPr/>
                    <a:lstStyle/>
                    <a:p>
                      <a:pPr algn="l" fontAlgn="ctr"/>
                      <a:r>
                        <a:rPr lang="zh-CN" altLang="en-US" sz="1400" u="none" strike="noStrike">
                          <a:effectLst/>
                        </a:rPr>
                        <a:t>　　　　其他应收款</a:t>
                      </a:r>
                      <a:endParaRPr lang="zh-CN" altLang="en-US"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t"/>
                      <a:r>
                        <a:rPr lang="en-US" altLang="zh-CN" sz="1400" u="none" strike="noStrike">
                          <a:effectLst/>
                        </a:rPr>
                        <a:t>0.77 </a:t>
                      </a:r>
                      <a:endParaRPr lang="en-US" altLang="zh-CN"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400" u="none" strike="noStrike">
                          <a:effectLst/>
                        </a:rPr>
                        <a:t>0.50 </a:t>
                      </a:r>
                      <a:endParaRPr lang="en-US" altLang="zh-CN"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400" u="none" strike="noStrike">
                          <a:effectLst/>
                        </a:rPr>
                        <a:t>0.31 </a:t>
                      </a:r>
                      <a:endParaRPr lang="en-US" altLang="zh-CN"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400" u="none" strike="noStrike">
                          <a:effectLst/>
                        </a:rPr>
                        <a:t>0.77 </a:t>
                      </a:r>
                      <a:endParaRPr lang="en-US" altLang="zh-CN"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400" u="none" strike="noStrike" dirty="0">
                          <a:effectLst/>
                        </a:rPr>
                        <a:t>0.48 </a:t>
                      </a:r>
                      <a:endParaRPr lang="en-US" altLang="zh-CN" sz="14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extLst>
                  <a:ext uri="{0D108BD9-81ED-4DB2-BD59-A6C34878D82A}">
                    <a16:rowId xmlns:a16="http://schemas.microsoft.com/office/drawing/2014/main" val="192866567"/>
                  </a:ext>
                </a:extLst>
              </a:tr>
              <a:tr h="213216">
                <a:tc>
                  <a:txBody>
                    <a:bodyPr/>
                    <a:lstStyle/>
                    <a:p>
                      <a:pPr algn="l" fontAlgn="ctr"/>
                      <a:r>
                        <a:rPr lang="zh-CN" altLang="en-US" sz="1400" u="none" strike="noStrike">
                          <a:effectLst/>
                        </a:rPr>
                        <a:t>　　存货</a:t>
                      </a:r>
                      <a:endParaRPr lang="zh-CN" altLang="en-US"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t"/>
                      <a:r>
                        <a:rPr lang="en-US" altLang="zh-CN" sz="1400" u="none" strike="noStrike">
                          <a:effectLst/>
                        </a:rPr>
                        <a:t>252.85 </a:t>
                      </a:r>
                      <a:endParaRPr lang="en-US" altLang="zh-CN"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400" u="none" strike="noStrike">
                          <a:effectLst/>
                        </a:rPr>
                        <a:t>235.07 </a:t>
                      </a:r>
                      <a:endParaRPr lang="en-US" altLang="zh-CN"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400" u="none" strike="noStrike">
                          <a:effectLst/>
                        </a:rPr>
                        <a:t>220.57 </a:t>
                      </a:r>
                      <a:endParaRPr lang="en-US" altLang="zh-CN"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400" u="none" strike="noStrike">
                          <a:effectLst/>
                        </a:rPr>
                        <a:t>206.22 </a:t>
                      </a:r>
                      <a:endParaRPr lang="en-US" altLang="zh-CN"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400" u="none" strike="noStrike" dirty="0">
                          <a:effectLst/>
                        </a:rPr>
                        <a:t>180.13 </a:t>
                      </a:r>
                      <a:endParaRPr lang="en-US" altLang="zh-CN" sz="14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extLst>
                  <a:ext uri="{0D108BD9-81ED-4DB2-BD59-A6C34878D82A}">
                    <a16:rowId xmlns:a16="http://schemas.microsoft.com/office/drawing/2014/main" val="2101894060"/>
                  </a:ext>
                </a:extLst>
              </a:tr>
              <a:tr h="213216">
                <a:tc>
                  <a:txBody>
                    <a:bodyPr/>
                    <a:lstStyle/>
                    <a:p>
                      <a:pPr algn="l" fontAlgn="ctr"/>
                      <a:r>
                        <a:rPr lang="zh-CN" altLang="en-US" sz="1400" u="none" strike="noStrike">
                          <a:effectLst/>
                        </a:rPr>
                        <a:t>　　其他流动资产</a:t>
                      </a:r>
                      <a:endParaRPr lang="zh-CN" altLang="en-US"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t"/>
                      <a:r>
                        <a:rPr lang="en-US" altLang="zh-CN" sz="1400" u="none" strike="noStrike">
                          <a:effectLst/>
                        </a:rPr>
                        <a:t>0.21 </a:t>
                      </a:r>
                      <a:endParaRPr lang="en-US" altLang="zh-CN"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400" u="none" strike="noStrike">
                          <a:effectLst/>
                        </a:rPr>
                        <a:t>1.40 </a:t>
                      </a:r>
                      <a:endParaRPr lang="en-US" altLang="zh-CN"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400" u="none" strike="noStrike">
                          <a:effectLst/>
                        </a:rPr>
                        <a:t>0.38 </a:t>
                      </a:r>
                      <a:endParaRPr lang="en-US" altLang="zh-CN"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400" u="none" strike="noStrike">
                          <a:effectLst/>
                        </a:rPr>
                        <a:t>2.31 </a:t>
                      </a:r>
                      <a:endParaRPr lang="en-US" altLang="zh-CN"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endParaRPr lang="zh-CN" altLang="en-US" sz="14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extLst>
                  <a:ext uri="{0D108BD9-81ED-4DB2-BD59-A6C34878D82A}">
                    <a16:rowId xmlns:a16="http://schemas.microsoft.com/office/drawing/2014/main" val="2774520302"/>
                  </a:ext>
                </a:extLst>
              </a:tr>
              <a:tr h="213216">
                <a:tc>
                  <a:txBody>
                    <a:bodyPr/>
                    <a:lstStyle/>
                    <a:p>
                      <a:pPr algn="l" fontAlgn="ctr"/>
                      <a:r>
                        <a:rPr lang="zh-CN" altLang="en-US" sz="1400" u="none" strike="noStrike">
                          <a:effectLst/>
                        </a:rPr>
                        <a:t>　　其他金融类流动资产</a:t>
                      </a:r>
                      <a:endParaRPr lang="zh-CN" altLang="en-US"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t"/>
                      <a:r>
                        <a:rPr lang="en-US" altLang="zh-CN" sz="1400" u="none" strike="noStrike" dirty="0">
                          <a:effectLst/>
                        </a:rPr>
                        <a:t>1 173.78 </a:t>
                      </a:r>
                      <a:endParaRPr lang="en-US" altLang="zh-CN" sz="14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endParaRPr lang="zh-CN" altLang="en-US"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endParaRPr lang="zh-CN" altLang="en-US"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400" u="none" strike="noStrike">
                          <a:effectLst/>
                        </a:rPr>
                        <a:t>3.90 </a:t>
                      </a:r>
                      <a:endParaRPr lang="en-US" altLang="zh-CN"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endParaRPr lang="zh-CN" altLang="en-US" sz="14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extLst>
                  <a:ext uri="{0D108BD9-81ED-4DB2-BD59-A6C34878D82A}">
                    <a16:rowId xmlns:a16="http://schemas.microsoft.com/office/drawing/2014/main" val="3040573419"/>
                  </a:ext>
                </a:extLst>
              </a:tr>
              <a:tr h="213216">
                <a:tc>
                  <a:txBody>
                    <a:bodyPr/>
                    <a:lstStyle/>
                    <a:p>
                      <a:pPr algn="l" fontAlgn="ctr"/>
                      <a:r>
                        <a:rPr lang="zh-CN" altLang="en-US" sz="1400" u="none" strike="noStrike">
                          <a:effectLst/>
                        </a:rPr>
                        <a:t>　　流动资产合计</a:t>
                      </a:r>
                      <a:endParaRPr lang="zh-CN" altLang="en-US"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t"/>
                      <a:r>
                        <a:rPr lang="en-US" altLang="zh-CN" sz="1400" u="none" strike="noStrike">
                          <a:effectLst/>
                        </a:rPr>
                        <a:t>1 590.24 </a:t>
                      </a:r>
                      <a:endParaRPr lang="en-US" altLang="zh-CN"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400" u="none" strike="noStrike">
                          <a:effectLst/>
                        </a:rPr>
                        <a:t>1 378.62 </a:t>
                      </a:r>
                      <a:endParaRPr lang="en-US" altLang="zh-CN"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400" u="none" strike="noStrike">
                          <a:effectLst/>
                        </a:rPr>
                        <a:t>1 122.49 </a:t>
                      </a:r>
                      <a:endParaRPr lang="en-US" altLang="zh-CN"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400" u="none" strike="noStrike">
                          <a:effectLst/>
                        </a:rPr>
                        <a:t>901.81 </a:t>
                      </a:r>
                      <a:endParaRPr lang="en-US" altLang="zh-CN" sz="14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400" u="none" strike="noStrike" dirty="0">
                          <a:effectLst/>
                        </a:rPr>
                        <a:t>650.05 </a:t>
                      </a:r>
                      <a:endParaRPr lang="en-US" altLang="zh-CN" sz="14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extLst>
                  <a:ext uri="{0D108BD9-81ED-4DB2-BD59-A6C34878D82A}">
                    <a16:rowId xmlns:a16="http://schemas.microsoft.com/office/drawing/2014/main" val="1732127664"/>
                  </a:ext>
                </a:extLst>
              </a:tr>
            </a:tbl>
          </a:graphicData>
        </a:graphic>
      </p:graphicFrame>
      <p:graphicFrame>
        <p:nvGraphicFramePr>
          <p:cNvPr id="6" name="表格 5">
            <a:extLst>
              <a:ext uri="{FF2B5EF4-FFF2-40B4-BE49-F238E27FC236}">
                <a16:creationId xmlns:a16="http://schemas.microsoft.com/office/drawing/2014/main" id="{90B0E9BA-9E3A-4810-AD16-B82692477BC1}"/>
              </a:ext>
            </a:extLst>
          </p:cNvPr>
          <p:cNvGraphicFramePr>
            <a:graphicFrameLocks noGrp="1"/>
          </p:cNvGraphicFramePr>
          <p:nvPr>
            <p:extLst>
              <p:ext uri="{D42A27DB-BD31-4B8C-83A1-F6EECF244321}">
                <p14:modId xmlns:p14="http://schemas.microsoft.com/office/powerpoint/2010/main" val="3398869529"/>
              </p:ext>
            </p:extLst>
          </p:nvPr>
        </p:nvGraphicFramePr>
        <p:xfrm>
          <a:off x="99674" y="3532822"/>
          <a:ext cx="11825624" cy="3467100"/>
        </p:xfrm>
        <a:graphic>
          <a:graphicData uri="http://schemas.openxmlformats.org/drawingml/2006/table">
            <a:tbl>
              <a:tblPr>
                <a:tableStyleId>{5C22544A-7EE6-4342-B048-85BDC9FD1C3A}</a:tableStyleId>
              </a:tblPr>
              <a:tblGrid>
                <a:gridCol w="2920880">
                  <a:extLst>
                    <a:ext uri="{9D8B030D-6E8A-4147-A177-3AD203B41FA5}">
                      <a16:colId xmlns:a16="http://schemas.microsoft.com/office/drawing/2014/main" val="2141635007"/>
                    </a:ext>
                  </a:extLst>
                </a:gridCol>
                <a:gridCol w="1789797">
                  <a:extLst>
                    <a:ext uri="{9D8B030D-6E8A-4147-A177-3AD203B41FA5}">
                      <a16:colId xmlns:a16="http://schemas.microsoft.com/office/drawing/2014/main" val="2966846948"/>
                    </a:ext>
                  </a:extLst>
                </a:gridCol>
                <a:gridCol w="1776796">
                  <a:extLst>
                    <a:ext uri="{9D8B030D-6E8A-4147-A177-3AD203B41FA5}">
                      <a16:colId xmlns:a16="http://schemas.microsoft.com/office/drawing/2014/main" val="3504039841"/>
                    </a:ext>
                  </a:extLst>
                </a:gridCol>
                <a:gridCol w="1772462">
                  <a:extLst>
                    <a:ext uri="{9D8B030D-6E8A-4147-A177-3AD203B41FA5}">
                      <a16:colId xmlns:a16="http://schemas.microsoft.com/office/drawing/2014/main" val="2369907380"/>
                    </a:ext>
                  </a:extLst>
                </a:gridCol>
                <a:gridCol w="1794131">
                  <a:extLst>
                    <a:ext uri="{9D8B030D-6E8A-4147-A177-3AD203B41FA5}">
                      <a16:colId xmlns:a16="http://schemas.microsoft.com/office/drawing/2014/main" val="3254123866"/>
                    </a:ext>
                  </a:extLst>
                </a:gridCol>
                <a:gridCol w="1771558">
                  <a:extLst>
                    <a:ext uri="{9D8B030D-6E8A-4147-A177-3AD203B41FA5}">
                      <a16:colId xmlns:a16="http://schemas.microsoft.com/office/drawing/2014/main" val="1336604479"/>
                    </a:ext>
                  </a:extLst>
                </a:gridCol>
              </a:tblGrid>
              <a:tr h="227452">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zh-CN" altLang="en-US" sz="1600" b="1" u="none" strike="noStrike" dirty="0">
                          <a:effectLst/>
                        </a:rPr>
                        <a:t>五粮液</a:t>
                      </a:r>
                      <a:r>
                        <a:rPr lang="en-US" altLang="zh-CN" sz="1600" b="1" u="none" strike="noStrike" dirty="0">
                          <a:effectLst/>
                        </a:rPr>
                        <a:t>【</a:t>
                      </a:r>
                      <a:r>
                        <a:rPr lang="zh-CN" altLang="en-US" sz="1600" b="1" u="none" strike="noStrike" dirty="0">
                          <a:effectLst/>
                        </a:rPr>
                        <a:t>单位 </a:t>
                      </a:r>
                      <a:r>
                        <a:rPr lang="en-US" altLang="zh-CN" sz="1600" b="1" u="none" strike="noStrike" dirty="0">
                          <a:effectLst/>
                        </a:rPr>
                        <a:t>: </a:t>
                      </a:r>
                      <a:r>
                        <a:rPr lang="zh-CN" altLang="en-US" sz="1600" b="1" u="none" strike="noStrike" dirty="0">
                          <a:effectLst/>
                        </a:rPr>
                        <a:t>亿元 </a:t>
                      </a:r>
                      <a:r>
                        <a:rPr lang="en-US" altLang="zh-CN" sz="1600" b="1" u="none" strike="noStrike" dirty="0">
                          <a:effectLst/>
                        </a:rPr>
                        <a:t>, CNY】</a:t>
                      </a:r>
                      <a:endParaRPr lang="zh-CN" altLang="en-US" sz="1600" b="1"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ctr"/>
                      <a:r>
                        <a:rPr lang="en-US" altLang="zh-CN" sz="1600" u="none" strike="noStrike" dirty="0">
                          <a:effectLst/>
                        </a:rPr>
                        <a:t>2019-12-31</a:t>
                      </a:r>
                      <a:endParaRPr lang="en-US" altLang="zh-CN" sz="16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ctr"/>
                      <a:r>
                        <a:rPr lang="en-US" altLang="zh-CN" sz="1600" u="none" strike="noStrike">
                          <a:effectLst/>
                        </a:rPr>
                        <a:t>2018-12-31</a:t>
                      </a:r>
                      <a:endParaRPr lang="en-US" altLang="zh-CN" sz="16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ctr"/>
                      <a:r>
                        <a:rPr lang="en-US" altLang="zh-CN" sz="1600" u="none" strike="noStrike">
                          <a:effectLst/>
                        </a:rPr>
                        <a:t>2017-12-31</a:t>
                      </a:r>
                      <a:endParaRPr lang="en-US" altLang="zh-CN" sz="16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ctr"/>
                      <a:r>
                        <a:rPr lang="en-US" altLang="zh-CN" sz="1600" u="none" strike="noStrike">
                          <a:effectLst/>
                        </a:rPr>
                        <a:t>2016-12-31</a:t>
                      </a:r>
                      <a:endParaRPr lang="en-US" altLang="zh-CN" sz="16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ctr"/>
                      <a:r>
                        <a:rPr lang="en-US" altLang="zh-CN" sz="1600" u="none" strike="noStrike">
                          <a:effectLst/>
                        </a:rPr>
                        <a:t>2015-12-31</a:t>
                      </a:r>
                      <a:endParaRPr lang="en-US" altLang="zh-CN" sz="16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tc>
                <a:extLst>
                  <a:ext uri="{0D108BD9-81ED-4DB2-BD59-A6C34878D82A}">
                    <a16:rowId xmlns:a16="http://schemas.microsoft.com/office/drawing/2014/main" val="1686727886"/>
                  </a:ext>
                </a:extLst>
              </a:tr>
              <a:tr h="227452">
                <a:tc>
                  <a:txBody>
                    <a:bodyPr/>
                    <a:lstStyle/>
                    <a:p>
                      <a:pPr algn="l" fontAlgn="ctr"/>
                      <a:r>
                        <a:rPr lang="zh-CN" altLang="en-US" sz="1600" u="none" strike="noStrike" dirty="0">
                          <a:effectLst/>
                        </a:rPr>
                        <a:t>报告期</a:t>
                      </a:r>
                      <a:endParaRPr lang="zh-CN" altLang="en-US" sz="16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ctr"/>
                      <a:r>
                        <a:rPr lang="zh-CN" altLang="en-US" sz="1600" u="none" strike="noStrike" dirty="0">
                          <a:effectLst/>
                        </a:rPr>
                        <a:t>年报</a:t>
                      </a:r>
                      <a:endParaRPr lang="zh-CN" altLang="en-US" sz="16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ctr"/>
                      <a:r>
                        <a:rPr lang="zh-CN" altLang="en-US" sz="1600" u="none" strike="noStrike">
                          <a:effectLst/>
                        </a:rPr>
                        <a:t>年报</a:t>
                      </a:r>
                      <a:endParaRPr lang="zh-CN" altLang="en-US" sz="16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ctr"/>
                      <a:r>
                        <a:rPr lang="zh-CN" altLang="en-US" sz="1600" u="none" strike="noStrike">
                          <a:effectLst/>
                        </a:rPr>
                        <a:t>年报</a:t>
                      </a:r>
                      <a:endParaRPr lang="zh-CN" altLang="en-US" sz="16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ctr"/>
                      <a:r>
                        <a:rPr lang="zh-CN" altLang="en-US" sz="1600" u="none" strike="noStrike">
                          <a:effectLst/>
                        </a:rPr>
                        <a:t>年报</a:t>
                      </a:r>
                      <a:endParaRPr lang="zh-CN" altLang="en-US" sz="16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ctr"/>
                      <a:r>
                        <a:rPr lang="zh-CN" altLang="en-US" sz="1600" u="none" strike="noStrike">
                          <a:effectLst/>
                        </a:rPr>
                        <a:t>年报</a:t>
                      </a:r>
                      <a:endParaRPr lang="zh-CN" altLang="en-US" sz="16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tc>
                <a:extLst>
                  <a:ext uri="{0D108BD9-81ED-4DB2-BD59-A6C34878D82A}">
                    <a16:rowId xmlns:a16="http://schemas.microsoft.com/office/drawing/2014/main" val="1834042284"/>
                  </a:ext>
                </a:extLst>
              </a:tr>
              <a:tr h="227452">
                <a:tc>
                  <a:txBody>
                    <a:bodyPr/>
                    <a:lstStyle/>
                    <a:p>
                      <a:pPr algn="l" fontAlgn="ctr"/>
                      <a:r>
                        <a:rPr lang="zh-CN" altLang="en-US" sz="1600" u="none" strike="noStrike" dirty="0">
                          <a:effectLst/>
                        </a:rPr>
                        <a:t>报表类型</a:t>
                      </a:r>
                      <a:endParaRPr lang="zh-CN" altLang="en-US" sz="16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ctr"/>
                      <a:r>
                        <a:rPr lang="zh-CN" altLang="en-US" sz="1600" u="none" strike="noStrike">
                          <a:effectLst/>
                        </a:rPr>
                        <a:t>合并报表</a:t>
                      </a:r>
                      <a:endParaRPr lang="zh-CN" altLang="en-US" sz="16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ctr"/>
                      <a:r>
                        <a:rPr lang="zh-CN" altLang="en-US" sz="1600" u="none" strike="noStrike" dirty="0">
                          <a:effectLst/>
                        </a:rPr>
                        <a:t>合并报表</a:t>
                      </a:r>
                      <a:endParaRPr lang="zh-CN" altLang="en-US" sz="16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ctr"/>
                      <a:r>
                        <a:rPr lang="zh-CN" altLang="en-US" sz="1600" u="none" strike="noStrike">
                          <a:effectLst/>
                        </a:rPr>
                        <a:t>合并报表</a:t>
                      </a:r>
                      <a:endParaRPr lang="zh-CN" altLang="en-US" sz="16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ctr"/>
                      <a:r>
                        <a:rPr lang="zh-CN" altLang="en-US" sz="1600" u="none" strike="noStrike">
                          <a:effectLst/>
                        </a:rPr>
                        <a:t>合并报表</a:t>
                      </a:r>
                      <a:endParaRPr lang="zh-CN" altLang="en-US" sz="16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ctr"/>
                      <a:r>
                        <a:rPr lang="zh-CN" altLang="en-US" sz="1600" u="none" strike="noStrike">
                          <a:effectLst/>
                        </a:rPr>
                        <a:t>合并报表</a:t>
                      </a:r>
                      <a:endParaRPr lang="zh-CN" altLang="en-US" sz="16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tc>
                <a:extLst>
                  <a:ext uri="{0D108BD9-81ED-4DB2-BD59-A6C34878D82A}">
                    <a16:rowId xmlns:a16="http://schemas.microsoft.com/office/drawing/2014/main" val="1428604943"/>
                  </a:ext>
                </a:extLst>
              </a:tr>
              <a:tr h="227452">
                <a:tc>
                  <a:txBody>
                    <a:bodyPr/>
                    <a:lstStyle/>
                    <a:p>
                      <a:pPr algn="l" fontAlgn="ctr"/>
                      <a:r>
                        <a:rPr lang="zh-CN" altLang="en-US" sz="1600" u="none" strike="noStrike" dirty="0">
                          <a:effectLst/>
                        </a:rPr>
                        <a:t>流动资产：</a:t>
                      </a:r>
                      <a:endParaRPr lang="zh-CN" altLang="en-US" sz="16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t"/>
                      <a:endParaRPr lang="zh-CN" altLang="en-US" sz="16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endParaRPr lang="zh-CN" altLang="en-US" sz="16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endParaRPr lang="zh-CN" altLang="en-US" sz="16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endParaRPr lang="zh-CN" altLang="en-US" sz="16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endParaRPr lang="zh-CN" altLang="en-US" sz="16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extLst>
                  <a:ext uri="{0D108BD9-81ED-4DB2-BD59-A6C34878D82A}">
                    <a16:rowId xmlns:a16="http://schemas.microsoft.com/office/drawing/2014/main" val="2604030799"/>
                  </a:ext>
                </a:extLst>
              </a:tr>
              <a:tr h="227452">
                <a:tc>
                  <a:txBody>
                    <a:bodyPr/>
                    <a:lstStyle/>
                    <a:p>
                      <a:pPr algn="l" fontAlgn="ctr"/>
                      <a:r>
                        <a:rPr lang="zh-CN" altLang="en-US" sz="1600" u="none" strike="noStrike" dirty="0">
                          <a:effectLst/>
                        </a:rPr>
                        <a:t>　　货币资金</a:t>
                      </a:r>
                      <a:endParaRPr lang="zh-CN" altLang="en-US" sz="16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t"/>
                      <a:r>
                        <a:rPr lang="en-US" altLang="zh-CN" sz="1600" u="none" strike="noStrike" dirty="0">
                          <a:effectLst/>
                        </a:rPr>
                        <a:t>632.39 </a:t>
                      </a:r>
                      <a:endParaRPr lang="en-US" altLang="zh-CN" sz="16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600" u="none" strike="noStrike" dirty="0">
                          <a:effectLst/>
                        </a:rPr>
                        <a:t>489.60 </a:t>
                      </a:r>
                      <a:endParaRPr lang="en-US" altLang="zh-CN" sz="16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600" u="none" strike="noStrike" dirty="0">
                          <a:effectLst/>
                        </a:rPr>
                        <a:t>405.92 </a:t>
                      </a:r>
                      <a:endParaRPr lang="en-US" altLang="zh-CN" sz="16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600" u="none" strike="noStrike">
                          <a:effectLst/>
                        </a:rPr>
                        <a:t>346.66 </a:t>
                      </a:r>
                      <a:endParaRPr lang="en-US" altLang="zh-CN" sz="16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600" u="none" strike="noStrike">
                          <a:effectLst/>
                        </a:rPr>
                        <a:t>263.74 </a:t>
                      </a:r>
                      <a:endParaRPr lang="en-US" altLang="zh-CN" sz="16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extLst>
                  <a:ext uri="{0D108BD9-81ED-4DB2-BD59-A6C34878D82A}">
                    <a16:rowId xmlns:a16="http://schemas.microsoft.com/office/drawing/2014/main" val="2994403873"/>
                  </a:ext>
                </a:extLst>
              </a:tr>
              <a:tr h="227452">
                <a:tc>
                  <a:txBody>
                    <a:bodyPr/>
                    <a:lstStyle/>
                    <a:p>
                      <a:pPr algn="l" fontAlgn="ctr"/>
                      <a:r>
                        <a:rPr lang="zh-CN" altLang="en-US" sz="1600" u="none" strike="noStrike" dirty="0">
                          <a:effectLst/>
                        </a:rPr>
                        <a:t>　　应收票据</a:t>
                      </a:r>
                      <a:endParaRPr lang="zh-CN" altLang="en-US" sz="16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t"/>
                      <a:r>
                        <a:rPr lang="en-US" altLang="zh-CN" sz="1600" b="1" u="none" strike="noStrike" dirty="0">
                          <a:effectLst/>
                        </a:rPr>
                        <a:t>146.43 </a:t>
                      </a:r>
                      <a:endParaRPr lang="en-US" altLang="zh-CN" sz="1600" b="1"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600" b="1" u="none" strike="noStrike" dirty="0">
                          <a:effectLst/>
                        </a:rPr>
                        <a:t>161.35 </a:t>
                      </a:r>
                      <a:endParaRPr lang="en-US" altLang="zh-CN" sz="1600" b="1"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600" b="1" u="none" strike="noStrike" dirty="0">
                          <a:effectLst/>
                        </a:rPr>
                        <a:t>111.88 </a:t>
                      </a:r>
                      <a:endParaRPr lang="en-US" altLang="zh-CN" sz="1600" b="1"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600" b="1" u="none" strike="noStrike" dirty="0">
                          <a:effectLst/>
                        </a:rPr>
                        <a:t>95.79 </a:t>
                      </a:r>
                      <a:endParaRPr lang="en-US" altLang="zh-CN" sz="1600" b="1"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600" b="1" u="none" strike="noStrike">
                          <a:effectLst/>
                        </a:rPr>
                        <a:t>86.65 </a:t>
                      </a:r>
                      <a:endParaRPr lang="en-US" altLang="zh-CN" sz="1600" b="1"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extLst>
                  <a:ext uri="{0D108BD9-81ED-4DB2-BD59-A6C34878D82A}">
                    <a16:rowId xmlns:a16="http://schemas.microsoft.com/office/drawing/2014/main" val="1141316531"/>
                  </a:ext>
                </a:extLst>
              </a:tr>
              <a:tr h="227452">
                <a:tc>
                  <a:txBody>
                    <a:bodyPr/>
                    <a:lstStyle/>
                    <a:p>
                      <a:pPr algn="l" fontAlgn="ctr"/>
                      <a:r>
                        <a:rPr lang="zh-CN" altLang="en-US" sz="1600" u="none" strike="noStrike">
                          <a:effectLst/>
                        </a:rPr>
                        <a:t>　　应收账款</a:t>
                      </a:r>
                      <a:endParaRPr lang="zh-CN" altLang="en-US" sz="16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t"/>
                      <a:r>
                        <a:rPr lang="en-US" altLang="zh-CN" sz="1600" b="1" u="none" strike="noStrike" dirty="0">
                          <a:effectLst/>
                        </a:rPr>
                        <a:t>1.34 </a:t>
                      </a:r>
                      <a:endParaRPr lang="en-US" altLang="zh-CN" sz="1600" b="1"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600" b="1" u="none" strike="noStrike">
                          <a:effectLst/>
                        </a:rPr>
                        <a:t>1.27 </a:t>
                      </a:r>
                      <a:endParaRPr lang="en-US" altLang="zh-CN" sz="1600" b="1"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600" b="1" u="none" strike="noStrike" dirty="0">
                          <a:effectLst/>
                        </a:rPr>
                        <a:t>1.10 </a:t>
                      </a:r>
                      <a:endParaRPr lang="en-US" altLang="zh-CN" sz="1600" b="1"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600" b="1" u="none" strike="noStrike" dirty="0">
                          <a:effectLst/>
                        </a:rPr>
                        <a:t>1.08 </a:t>
                      </a:r>
                      <a:endParaRPr lang="en-US" altLang="zh-CN" sz="1600" b="1"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600" b="1" u="none" strike="noStrike" dirty="0">
                          <a:effectLst/>
                        </a:rPr>
                        <a:t>1.07 </a:t>
                      </a:r>
                      <a:endParaRPr lang="en-US" altLang="zh-CN" sz="1600" b="1"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extLst>
                  <a:ext uri="{0D108BD9-81ED-4DB2-BD59-A6C34878D82A}">
                    <a16:rowId xmlns:a16="http://schemas.microsoft.com/office/drawing/2014/main" val="2122868820"/>
                  </a:ext>
                </a:extLst>
              </a:tr>
              <a:tr h="227452">
                <a:tc>
                  <a:txBody>
                    <a:bodyPr/>
                    <a:lstStyle/>
                    <a:p>
                      <a:pPr algn="l" fontAlgn="ctr"/>
                      <a:r>
                        <a:rPr lang="zh-CN" altLang="en-US" sz="1600" u="none" strike="noStrike">
                          <a:effectLst/>
                        </a:rPr>
                        <a:t>　　应收款项融资</a:t>
                      </a:r>
                      <a:endParaRPr lang="zh-CN" altLang="en-US" sz="16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t"/>
                      <a:r>
                        <a:rPr lang="en-US" altLang="zh-CN" sz="1600" u="none" strike="noStrike" dirty="0">
                          <a:effectLst/>
                        </a:rPr>
                        <a:t>34.50 </a:t>
                      </a:r>
                      <a:endParaRPr lang="en-US" altLang="zh-CN" sz="16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endParaRPr lang="zh-CN" altLang="en-US" sz="16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endParaRPr lang="zh-CN" altLang="en-US" sz="16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endParaRPr lang="zh-CN" altLang="en-US" sz="16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endParaRPr lang="zh-CN" altLang="en-US" sz="16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extLst>
                  <a:ext uri="{0D108BD9-81ED-4DB2-BD59-A6C34878D82A}">
                    <a16:rowId xmlns:a16="http://schemas.microsoft.com/office/drawing/2014/main" val="2711142511"/>
                  </a:ext>
                </a:extLst>
              </a:tr>
              <a:tr h="227452">
                <a:tc>
                  <a:txBody>
                    <a:bodyPr/>
                    <a:lstStyle/>
                    <a:p>
                      <a:pPr algn="l" fontAlgn="ctr"/>
                      <a:r>
                        <a:rPr lang="zh-CN" altLang="en-US" sz="1600" u="none" strike="noStrike">
                          <a:effectLst/>
                        </a:rPr>
                        <a:t>　　预付款项</a:t>
                      </a:r>
                      <a:endParaRPr lang="zh-CN" altLang="en-US" sz="16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t"/>
                      <a:r>
                        <a:rPr lang="en-US" altLang="zh-CN" sz="1600" u="none" strike="noStrike" dirty="0">
                          <a:effectLst/>
                        </a:rPr>
                        <a:t>2.32 </a:t>
                      </a:r>
                      <a:endParaRPr lang="en-US" altLang="zh-CN" sz="16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600" u="none" strike="noStrike">
                          <a:effectLst/>
                        </a:rPr>
                        <a:t>2.21 </a:t>
                      </a:r>
                      <a:endParaRPr lang="en-US" altLang="zh-CN" sz="16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600" u="none" strike="noStrike">
                          <a:effectLst/>
                        </a:rPr>
                        <a:t>1.98 </a:t>
                      </a:r>
                      <a:endParaRPr lang="en-US" altLang="zh-CN" sz="16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600" u="none" strike="noStrike" dirty="0">
                          <a:effectLst/>
                        </a:rPr>
                        <a:t>2.72 </a:t>
                      </a:r>
                      <a:endParaRPr lang="en-US" altLang="zh-CN" sz="16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600" u="none" strike="noStrike">
                          <a:effectLst/>
                        </a:rPr>
                        <a:t>3.32 </a:t>
                      </a:r>
                      <a:endParaRPr lang="en-US" altLang="zh-CN" sz="16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extLst>
                  <a:ext uri="{0D108BD9-81ED-4DB2-BD59-A6C34878D82A}">
                    <a16:rowId xmlns:a16="http://schemas.microsoft.com/office/drawing/2014/main" val="212799431"/>
                  </a:ext>
                </a:extLst>
              </a:tr>
              <a:tr h="227452">
                <a:tc>
                  <a:txBody>
                    <a:bodyPr/>
                    <a:lstStyle/>
                    <a:p>
                      <a:pPr algn="l" fontAlgn="ctr"/>
                      <a:r>
                        <a:rPr lang="zh-CN" altLang="en-US" sz="1600" u="none" strike="noStrike">
                          <a:effectLst/>
                        </a:rPr>
                        <a:t>　　其他应收款</a:t>
                      </a:r>
                      <a:r>
                        <a:rPr lang="en-US" altLang="zh-CN" sz="1600" u="none" strike="noStrike">
                          <a:effectLst/>
                        </a:rPr>
                        <a:t>(</a:t>
                      </a:r>
                      <a:r>
                        <a:rPr lang="zh-CN" altLang="en-US" sz="1600" u="none" strike="noStrike">
                          <a:effectLst/>
                        </a:rPr>
                        <a:t>合计</a:t>
                      </a:r>
                      <a:r>
                        <a:rPr lang="en-US" altLang="zh-CN" sz="1600" u="none" strike="noStrike">
                          <a:effectLst/>
                        </a:rPr>
                        <a:t>)</a:t>
                      </a:r>
                      <a:endParaRPr lang="en-US" altLang="zh-CN" sz="16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t"/>
                      <a:r>
                        <a:rPr lang="en-US" altLang="zh-CN" sz="1600" u="none" strike="noStrike" dirty="0">
                          <a:effectLst/>
                        </a:rPr>
                        <a:t>12.49 </a:t>
                      </a:r>
                      <a:endParaRPr lang="en-US" altLang="zh-CN" sz="16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600" u="none" strike="noStrike">
                          <a:effectLst/>
                        </a:rPr>
                        <a:t>8.72 </a:t>
                      </a:r>
                      <a:endParaRPr lang="en-US" altLang="zh-CN" sz="16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600" u="none" strike="noStrike">
                          <a:effectLst/>
                        </a:rPr>
                        <a:t>6.34 </a:t>
                      </a:r>
                      <a:endParaRPr lang="en-US" altLang="zh-CN" sz="16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600" u="none" strike="noStrike" dirty="0">
                          <a:effectLst/>
                        </a:rPr>
                        <a:t>6.23 </a:t>
                      </a:r>
                      <a:endParaRPr lang="en-US" altLang="zh-CN" sz="16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600" u="none" strike="noStrike">
                          <a:effectLst/>
                        </a:rPr>
                        <a:t>4.18 </a:t>
                      </a:r>
                      <a:endParaRPr lang="en-US" altLang="zh-CN" sz="16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extLst>
                  <a:ext uri="{0D108BD9-81ED-4DB2-BD59-A6C34878D82A}">
                    <a16:rowId xmlns:a16="http://schemas.microsoft.com/office/drawing/2014/main" val="1874516402"/>
                  </a:ext>
                </a:extLst>
              </a:tr>
              <a:tr h="227452">
                <a:tc>
                  <a:txBody>
                    <a:bodyPr/>
                    <a:lstStyle/>
                    <a:p>
                      <a:pPr algn="l" fontAlgn="ctr"/>
                      <a:r>
                        <a:rPr lang="zh-CN" altLang="en-US" sz="1600" u="none" strike="noStrike">
                          <a:effectLst/>
                        </a:rPr>
                        <a:t>　　　　应收利息</a:t>
                      </a:r>
                      <a:endParaRPr lang="zh-CN" altLang="en-US" sz="16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t"/>
                      <a:r>
                        <a:rPr lang="en-US" altLang="zh-CN" sz="1600" u="none" strike="noStrike" dirty="0">
                          <a:effectLst/>
                        </a:rPr>
                        <a:t>12.15 </a:t>
                      </a:r>
                      <a:endParaRPr lang="en-US" altLang="zh-CN" sz="16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600" u="none" strike="noStrike" dirty="0">
                          <a:effectLst/>
                        </a:rPr>
                        <a:t>8.41 </a:t>
                      </a:r>
                      <a:endParaRPr lang="en-US" altLang="zh-CN" sz="16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600" u="none" strike="noStrike">
                          <a:effectLst/>
                        </a:rPr>
                        <a:t>6.13 </a:t>
                      </a:r>
                      <a:endParaRPr lang="en-US" altLang="zh-CN" sz="16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600" u="none" strike="noStrike" dirty="0">
                          <a:effectLst/>
                        </a:rPr>
                        <a:t>6.04 </a:t>
                      </a:r>
                      <a:endParaRPr lang="en-US" altLang="zh-CN" sz="16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600" u="none" strike="noStrike">
                          <a:effectLst/>
                        </a:rPr>
                        <a:t>3.99 </a:t>
                      </a:r>
                      <a:endParaRPr lang="en-US" altLang="zh-CN" sz="16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extLst>
                  <a:ext uri="{0D108BD9-81ED-4DB2-BD59-A6C34878D82A}">
                    <a16:rowId xmlns:a16="http://schemas.microsoft.com/office/drawing/2014/main" val="1835494978"/>
                  </a:ext>
                </a:extLst>
              </a:tr>
              <a:tr h="227452">
                <a:tc>
                  <a:txBody>
                    <a:bodyPr/>
                    <a:lstStyle/>
                    <a:p>
                      <a:pPr algn="l" fontAlgn="ctr"/>
                      <a:r>
                        <a:rPr lang="zh-CN" altLang="en-US" sz="1600" u="none" strike="noStrike">
                          <a:effectLst/>
                        </a:rPr>
                        <a:t>　　　　其他应收款</a:t>
                      </a:r>
                      <a:endParaRPr lang="zh-CN" altLang="en-US" sz="16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t"/>
                      <a:r>
                        <a:rPr lang="en-US" altLang="zh-CN" sz="1600" u="none" strike="noStrike">
                          <a:effectLst/>
                        </a:rPr>
                        <a:t>0.33 </a:t>
                      </a:r>
                      <a:endParaRPr lang="en-US" altLang="zh-CN" sz="16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600" u="none" strike="noStrike" dirty="0">
                          <a:effectLst/>
                        </a:rPr>
                        <a:t>0.31 </a:t>
                      </a:r>
                      <a:endParaRPr lang="en-US" altLang="zh-CN" sz="16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600" u="none" strike="noStrike">
                          <a:effectLst/>
                        </a:rPr>
                        <a:t>0.21 </a:t>
                      </a:r>
                      <a:endParaRPr lang="en-US" altLang="zh-CN" sz="16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600" u="none" strike="noStrike" dirty="0">
                          <a:effectLst/>
                        </a:rPr>
                        <a:t>0.19 </a:t>
                      </a:r>
                      <a:endParaRPr lang="en-US" altLang="zh-CN" sz="16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600" u="none" strike="noStrike" dirty="0">
                          <a:effectLst/>
                        </a:rPr>
                        <a:t>0.19 </a:t>
                      </a:r>
                      <a:endParaRPr lang="en-US" altLang="zh-CN" sz="16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extLst>
                  <a:ext uri="{0D108BD9-81ED-4DB2-BD59-A6C34878D82A}">
                    <a16:rowId xmlns:a16="http://schemas.microsoft.com/office/drawing/2014/main" val="4073053429"/>
                  </a:ext>
                </a:extLst>
              </a:tr>
              <a:tr h="227452">
                <a:tc>
                  <a:txBody>
                    <a:bodyPr/>
                    <a:lstStyle/>
                    <a:p>
                      <a:pPr algn="l" fontAlgn="ctr"/>
                      <a:r>
                        <a:rPr lang="zh-CN" altLang="en-US" sz="1600" u="none" strike="noStrike">
                          <a:effectLst/>
                        </a:rPr>
                        <a:t>　　存货</a:t>
                      </a:r>
                      <a:endParaRPr lang="zh-CN" altLang="en-US" sz="16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t"/>
                      <a:r>
                        <a:rPr lang="en-US" altLang="zh-CN" sz="1600" u="none" strike="noStrike">
                          <a:effectLst/>
                        </a:rPr>
                        <a:t>136.80 </a:t>
                      </a:r>
                      <a:endParaRPr lang="en-US" altLang="zh-CN" sz="16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600" u="none" strike="noStrike" dirty="0">
                          <a:effectLst/>
                        </a:rPr>
                        <a:t>117.95 </a:t>
                      </a:r>
                      <a:endParaRPr lang="en-US" altLang="zh-CN" sz="16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600" u="none" strike="noStrike" dirty="0">
                          <a:effectLst/>
                        </a:rPr>
                        <a:t>105.58 </a:t>
                      </a:r>
                      <a:endParaRPr lang="en-US" altLang="zh-CN" sz="16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600" u="none" strike="noStrike" dirty="0">
                          <a:effectLst/>
                        </a:rPr>
                        <a:t>92.57 </a:t>
                      </a:r>
                      <a:endParaRPr lang="en-US" altLang="zh-CN" sz="16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600" u="none" strike="noStrike" dirty="0">
                          <a:effectLst/>
                        </a:rPr>
                        <a:t>87.01 </a:t>
                      </a:r>
                      <a:endParaRPr lang="en-US" altLang="zh-CN" sz="16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extLst>
                  <a:ext uri="{0D108BD9-81ED-4DB2-BD59-A6C34878D82A}">
                    <a16:rowId xmlns:a16="http://schemas.microsoft.com/office/drawing/2014/main" val="4162012452"/>
                  </a:ext>
                </a:extLst>
              </a:tr>
              <a:tr h="227452">
                <a:tc>
                  <a:txBody>
                    <a:bodyPr/>
                    <a:lstStyle/>
                    <a:p>
                      <a:pPr algn="l" fontAlgn="ctr"/>
                      <a:r>
                        <a:rPr lang="zh-CN" altLang="en-US" sz="1600" u="none" strike="noStrike">
                          <a:effectLst/>
                        </a:rPr>
                        <a:t>　　流动资产合计</a:t>
                      </a:r>
                      <a:endParaRPr lang="zh-CN" altLang="en-US" sz="16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nchor="ctr"/>
                </a:tc>
                <a:tc>
                  <a:txBody>
                    <a:bodyPr/>
                    <a:lstStyle/>
                    <a:p>
                      <a:pPr algn="ctr" fontAlgn="t"/>
                      <a:r>
                        <a:rPr lang="en-US" altLang="zh-CN" sz="1600" u="none" strike="noStrike">
                          <a:effectLst/>
                        </a:rPr>
                        <a:t>966.27 </a:t>
                      </a:r>
                      <a:endParaRPr lang="en-US" altLang="zh-CN" sz="16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600" u="none" strike="noStrike">
                          <a:effectLst/>
                        </a:rPr>
                        <a:t>781.10 </a:t>
                      </a:r>
                      <a:endParaRPr lang="en-US" altLang="zh-CN" sz="16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600" u="none" strike="noStrike">
                          <a:effectLst/>
                        </a:rPr>
                        <a:t>632.80 </a:t>
                      </a:r>
                      <a:endParaRPr lang="en-US" altLang="zh-CN" sz="1600" b="0" i="0" u="none" strike="noStrike">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600" u="none" strike="noStrike" dirty="0">
                          <a:effectLst/>
                        </a:rPr>
                        <a:t>545.05 </a:t>
                      </a:r>
                      <a:endParaRPr lang="en-US" altLang="zh-CN" sz="16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tc>
                  <a:txBody>
                    <a:bodyPr/>
                    <a:lstStyle/>
                    <a:p>
                      <a:pPr algn="ctr" fontAlgn="t"/>
                      <a:r>
                        <a:rPr lang="en-US" altLang="zh-CN" sz="1600" u="none" strike="noStrike" dirty="0">
                          <a:effectLst/>
                        </a:rPr>
                        <a:t>445.97 </a:t>
                      </a:r>
                      <a:endParaRPr lang="en-US" altLang="zh-CN" sz="1600" b="0" i="0" u="none" strike="noStrike" dirty="0">
                        <a:solidFill>
                          <a:srgbClr val="000000"/>
                        </a:solidFill>
                        <a:effectLst/>
                        <a:latin typeface="宋体" panose="02010600030101010101" pitchFamily="2" charset="-122"/>
                        <a:ea typeface="宋体" panose="02010600030101010101" pitchFamily="2" charset="-122"/>
                      </a:endParaRPr>
                    </a:p>
                  </a:txBody>
                  <a:tcPr marL="3810" marR="3810" marT="3810" marB="0"/>
                </a:tc>
                <a:extLst>
                  <a:ext uri="{0D108BD9-81ED-4DB2-BD59-A6C34878D82A}">
                    <a16:rowId xmlns:a16="http://schemas.microsoft.com/office/drawing/2014/main" val="296333446"/>
                  </a:ext>
                </a:extLst>
              </a:tr>
            </a:tbl>
          </a:graphicData>
        </a:graphic>
      </p:graphicFrame>
    </p:spTree>
    <p:extLst>
      <p:ext uri="{BB962C8B-B14F-4D97-AF65-F5344CB8AC3E}">
        <p14:creationId xmlns:p14="http://schemas.microsoft.com/office/powerpoint/2010/main" val="1527357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学习目标</a:t>
            </a:r>
            <a:endParaRPr lang="zh-CN" altLang="en-US" dirty="0"/>
          </a:p>
        </p:txBody>
      </p:sp>
      <p:sp>
        <p:nvSpPr>
          <p:cNvPr id="3" name="内容占位符 2"/>
          <p:cNvSpPr>
            <a:spLocks noGrp="1"/>
          </p:cNvSpPr>
          <p:nvPr>
            <p:ph idx="1"/>
          </p:nvPr>
        </p:nvSpPr>
        <p:spPr>
          <a:xfrm>
            <a:off x="716915" y="2835910"/>
            <a:ext cx="10758170" cy="3239770"/>
          </a:xfrm>
        </p:spPr>
        <p:txBody>
          <a:bodyPr/>
          <a:lstStyle/>
          <a:p>
            <a:r>
              <a:rPr lang="en-US" altLang="zh-CN" dirty="0">
                <a:sym typeface="+mn-ea"/>
              </a:rPr>
              <a:t>1.</a:t>
            </a:r>
            <a:r>
              <a:rPr lang="zh-CN" altLang="zh-CN" dirty="0">
                <a:sym typeface="+mn-ea"/>
              </a:rPr>
              <a:t>掌握应收票据的取得、到期、转让、贴现的会计处理。</a:t>
            </a:r>
            <a:endParaRPr lang="zh-CN" altLang="zh-CN" dirty="0"/>
          </a:p>
          <a:p>
            <a:r>
              <a:rPr lang="en-US" altLang="zh-CN" dirty="0">
                <a:sym typeface="+mn-ea"/>
              </a:rPr>
              <a:t>2.</a:t>
            </a:r>
            <a:r>
              <a:rPr lang="zh-CN" altLang="zh-CN" dirty="0">
                <a:sym typeface="+mn-ea"/>
              </a:rPr>
              <a:t>掌握应收账款的取得、收回和减值的会计处理。</a:t>
            </a:r>
            <a:endParaRPr lang="zh-CN" altLang="zh-CN" dirty="0"/>
          </a:p>
          <a:p>
            <a:r>
              <a:rPr lang="en-US" altLang="zh-CN" dirty="0">
                <a:sym typeface="+mn-ea"/>
              </a:rPr>
              <a:t>3.</a:t>
            </a:r>
            <a:r>
              <a:rPr lang="zh-CN" altLang="zh-CN" dirty="0">
                <a:sym typeface="+mn-ea"/>
              </a:rPr>
              <a:t>了解应收账款的保理和质押的概念及其会计核算。</a:t>
            </a:r>
            <a:endParaRPr lang="zh-CN" altLang="zh-CN" dirty="0"/>
          </a:p>
          <a:p>
            <a:r>
              <a:rPr lang="en-US" altLang="zh-CN" dirty="0">
                <a:sym typeface="+mn-ea"/>
              </a:rPr>
              <a:t>4.</a:t>
            </a:r>
            <a:r>
              <a:rPr lang="zh-CN" altLang="zh-CN" dirty="0">
                <a:sym typeface="+mn-ea"/>
              </a:rPr>
              <a:t>掌握预付账款和其他应收款的会计处理。</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学习目标</a:t>
            </a:r>
            <a:endParaRPr lang="zh-CN" altLang="en-US" dirty="0"/>
          </a:p>
        </p:txBody>
      </p:sp>
      <p:sp>
        <p:nvSpPr>
          <p:cNvPr id="3" name="内容占位符 2"/>
          <p:cNvSpPr>
            <a:spLocks noGrp="1"/>
          </p:cNvSpPr>
          <p:nvPr>
            <p:ph idx="1"/>
          </p:nvPr>
        </p:nvSpPr>
        <p:spPr>
          <a:xfrm>
            <a:off x="2593340" y="2209165"/>
            <a:ext cx="7005320" cy="4114800"/>
          </a:xfrm>
        </p:spPr>
        <p:txBody>
          <a:bodyPr/>
          <a:lstStyle/>
          <a:p>
            <a:pPr marL="0" indent="0" algn="ctr">
              <a:buNone/>
            </a:pPr>
            <a:r>
              <a:rPr lang="en-US" altLang="zh-CN" dirty="0">
                <a:latin typeface="Times New Roman" panose="02020603050405020304" pitchFamily="18" charset="0"/>
                <a:sym typeface="+mn-ea"/>
              </a:rPr>
              <a:t>3.1</a:t>
            </a:r>
            <a:r>
              <a:rPr lang="zh-CN" altLang="en-US" dirty="0">
                <a:latin typeface="Times New Roman" panose="02020603050405020304" pitchFamily="18" charset="0"/>
                <a:sym typeface="+mn-ea"/>
              </a:rPr>
              <a:t>    应收票据</a:t>
            </a:r>
            <a:endParaRPr lang="zh-CN" altLang="en-US" dirty="0">
              <a:latin typeface="Times New Roman" panose="02020603050405020304" pitchFamily="18" charset="0"/>
              <a:ea typeface="黑体" panose="02010609060101010101" pitchFamily="49" charset="-122"/>
            </a:endParaRPr>
          </a:p>
          <a:p>
            <a:pPr marL="457200" lvl="1" indent="0">
              <a:buNone/>
            </a:pPr>
            <a:r>
              <a:rPr lang="zh-CN" altLang="en-US" dirty="0"/>
              <a:t>一、应收票据概述</a:t>
            </a:r>
          </a:p>
          <a:p>
            <a:pPr marL="457200" lvl="1" indent="0">
              <a:buNone/>
            </a:pPr>
            <a:r>
              <a:rPr lang="zh-CN" altLang="en-US" dirty="0"/>
              <a:t>二、应收票据的取得</a:t>
            </a:r>
          </a:p>
          <a:p>
            <a:pPr marL="457200" lvl="1" indent="0">
              <a:buNone/>
            </a:pPr>
            <a:r>
              <a:rPr lang="zh-CN" altLang="en-US" dirty="0"/>
              <a:t>三、应收票据的持有利息</a:t>
            </a:r>
          </a:p>
          <a:p>
            <a:pPr marL="457200" lvl="1" indent="0">
              <a:buNone/>
            </a:pPr>
            <a:r>
              <a:rPr lang="zh-CN" altLang="en-US" dirty="0"/>
              <a:t>四、应收票据到期</a:t>
            </a:r>
          </a:p>
          <a:p>
            <a:pPr marL="457200" lvl="1" indent="0">
              <a:buNone/>
            </a:pPr>
            <a:r>
              <a:rPr lang="zh-CN" altLang="en-US" dirty="0"/>
              <a:t>五、应收票据转让</a:t>
            </a:r>
          </a:p>
          <a:p>
            <a:pPr marL="457200" lvl="1" indent="0">
              <a:buNone/>
            </a:pPr>
            <a:r>
              <a:rPr lang="zh-CN" altLang="en-US" dirty="0"/>
              <a:t>六、应收票据贴现</a:t>
            </a:r>
          </a:p>
          <a:p>
            <a:pPr lvl="1"/>
            <a:endParaRPr lang="zh-CN" altLang="en-US" dirty="0"/>
          </a:p>
          <a:p>
            <a:pPr lvl="1"/>
            <a:endParaRPr lang="zh-CN" altLang="en-US" dirty="0"/>
          </a:p>
          <a:p>
            <a:pPr lvl="1"/>
            <a:endParaRPr lang="en-US" altLang="zh-CN" dirty="0"/>
          </a:p>
          <a:p>
            <a:pPr lvl="2"/>
            <a:r>
              <a:rPr lang="zh-CN" altLang="en-US" dirty="0"/>
              <a:t>他们（华文新魏）</a:t>
            </a:r>
            <a:endParaRPr lang="en-US" altLang="zh-CN" dirty="0"/>
          </a:p>
          <a:p>
            <a:pPr lvl="3"/>
            <a:r>
              <a:rPr lang="zh-CN" altLang="en-US" dirty="0"/>
              <a:t>你好（仿宋</a:t>
            </a:r>
            <a:r>
              <a:rPr lang="en-US" altLang="zh-CN" dirty="0"/>
              <a:t>_GB3213</a:t>
            </a:r>
            <a:r>
              <a:rPr lang="zh-CN" altLang="en-US" dirty="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400" dirty="0">
                <a:latin typeface="黑体" panose="02010609060101010101" pitchFamily="49" charset="-122"/>
                <a:ea typeface="黑体" panose="02010609060101010101" pitchFamily="49" charset="-122"/>
                <a:sym typeface="+mn-ea"/>
              </a:rPr>
              <a:t>一、应收票据概述</a:t>
            </a:r>
            <a:endParaRPr lang="zh-CN" altLang="en-US" dirty="0"/>
          </a:p>
        </p:txBody>
      </p:sp>
      <p:sp>
        <p:nvSpPr>
          <p:cNvPr id="3" name="内容占位符 2"/>
          <p:cNvSpPr>
            <a:spLocks noGrp="1"/>
          </p:cNvSpPr>
          <p:nvPr>
            <p:ph idx="1"/>
          </p:nvPr>
        </p:nvSpPr>
        <p:spPr>
          <a:xfrm>
            <a:off x="1576705" y="2018030"/>
            <a:ext cx="10363200" cy="1885315"/>
          </a:xfrm>
        </p:spPr>
        <p:txBody>
          <a:bodyPr/>
          <a:lstStyle/>
          <a:p>
            <a:pPr marL="0" lvl="1" indent="0">
              <a:buNone/>
            </a:pPr>
            <a:r>
              <a:rPr lang="zh-CN" altLang="zh-CN" dirty="0">
                <a:sym typeface="+mn-ea"/>
              </a:rPr>
              <a:t>（一）含义：</a:t>
            </a:r>
            <a:endParaRPr lang="en-US" altLang="zh-CN" dirty="0"/>
          </a:p>
          <a:p>
            <a:pPr lvl="2"/>
            <a:r>
              <a:rPr lang="zh-CN" altLang="en-US" dirty="0">
                <a:cs typeface="+mn-ea"/>
                <a:sym typeface="+mn-ea"/>
              </a:rPr>
              <a:t>因赊销业务收到的商业汇票</a:t>
            </a:r>
          </a:p>
          <a:p>
            <a:pPr lvl="2"/>
            <a:r>
              <a:rPr lang="zh-CN" altLang="en-US" dirty="0">
                <a:cs typeface="+mn-ea"/>
                <a:sym typeface="+mn-ea"/>
              </a:rPr>
              <a:t>商业汇票的最长期限</a:t>
            </a:r>
          </a:p>
          <a:p>
            <a:pPr marL="0" lvl="1" indent="0">
              <a:buNone/>
            </a:pPr>
            <a:r>
              <a:rPr lang="zh-CN" altLang="zh-CN" dirty="0">
                <a:solidFill>
                  <a:schemeClr val="tx1"/>
                </a:solidFill>
                <a:latin typeface="楷体_GB2312" panose="02010609030101010101" pitchFamily="49" charset="-122"/>
                <a:ea typeface="楷体_GB2312" panose="02010609030101010101" pitchFamily="49" charset="-122"/>
                <a:cs typeface="+mn-ea"/>
                <a:sym typeface="+mn-ea"/>
              </a:rPr>
              <a:t>（二）分类：</a:t>
            </a:r>
            <a:endParaRPr kumimoji="0" lang="zh-CN" altLang="zh-CN" sz="2800" dirty="0">
              <a:latin typeface="楷体_GB2312" panose="02010609030101010101" pitchFamily="49" charset="-122"/>
              <a:ea typeface="楷体_GB2312" panose="02010609030101010101" pitchFamily="49" charset="-122"/>
              <a:cs typeface="+mn-ea"/>
            </a:endParaRPr>
          </a:p>
          <a:p>
            <a:pPr marL="1371600" lvl="3" indent="0">
              <a:buNone/>
            </a:pPr>
            <a:endParaRPr lang="zh-CN" altLang="en-US" dirty="0"/>
          </a:p>
        </p:txBody>
      </p:sp>
      <p:pic>
        <p:nvPicPr>
          <p:cNvPr id="15369" name="Picture 4" descr="DAT328_lftPuzz"/>
          <p:cNvPicPr>
            <a:picLocks noChangeAspect="1" noChangeArrowheads="1"/>
          </p:cNvPicPr>
          <p:nvPr/>
        </p:nvPicPr>
        <p:blipFill>
          <a:blip r:embed="rId2" cstate="print"/>
          <a:srcRect/>
          <a:stretch>
            <a:fillRect/>
          </a:stretch>
        </p:blipFill>
        <p:spPr bwMode="auto">
          <a:xfrm>
            <a:off x="4204335" y="3613785"/>
            <a:ext cx="3373120" cy="2670810"/>
          </a:xfrm>
          <a:prstGeom prst="rect">
            <a:avLst/>
          </a:prstGeom>
          <a:noFill/>
          <a:ln w="9525">
            <a:noFill/>
            <a:miter lim="800000"/>
            <a:headEnd/>
            <a:tailEnd/>
          </a:ln>
        </p:spPr>
      </p:pic>
      <p:pic>
        <p:nvPicPr>
          <p:cNvPr id="15367" name="Picture 7" descr="DAT328_rtPuzz"/>
          <p:cNvPicPr>
            <a:picLocks noChangeAspect="1" noChangeArrowheads="1"/>
          </p:cNvPicPr>
          <p:nvPr/>
        </p:nvPicPr>
        <p:blipFill>
          <a:blip r:embed="rId3" cstate="print"/>
          <a:srcRect/>
          <a:stretch>
            <a:fillRect/>
          </a:stretch>
        </p:blipFill>
        <p:spPr bwMode="auto">
          <a:xfrm>
            <a:off x="7431405" y="3613785"/>
            <a:ext cx="3027680" cy="2689860"/>
          </a:xfrm>
          <a:prstGeom prst="rect">
            <a:avLst/>
          </a:prstGeom>
          <a:noFill/>
          <a:ln w="9525">
            <a:noFill/>
            <a:miter lim="800000"/>
            <a:headEnd/>
            <a:tailEnd/>
          </a:ln>
        </p:spPr>
      </p:pic>
      <p:sp>
        <p:nvSpPr>
          <p:cNvPr id="6" name="Rectangle 5"/>
          <p:cNvSpPr>
            <a:spLocks noChangeArrowheads="1"/>
          </p:cNvSpPr>
          <p:nvPr/>
        </p:nvSpPr>
        <p:spPr bwMode="auto">
          <a:xfrm>
            <a:off x="4405630" y="3903345"/>
            <a:ext cx="2343150" cy="2091690"/>
          </a:xfrm>
          <a:prstGeom prst="rect">
            <a:avLst/>
          </a:prstGeom>
          <a:noFill/>
          <a:ln w="9525">
            <a:noFill/>
            <a:miter lim="800000"/>
          </a:ln>
        </p:spPr>
        <p:txBody>
          <a:bodyPr lIns="0" rIns="0"/>
          <a:lstStyle/>
          <a:p>
            <a:pPr marL="217805" indent="-217805">
              <a:spcBef>
                <a:spcPct val="20000"/>
              </a:spcBef>
              <a:buClr>
                <a:schemeClr val="hlink"/>
              </a:buClr>
              <a:buFont typeface="Wingdings" panose="05000000000000000000" pitchFamily="2" charset="2"/>
              <a:buNone/>
              <a:defRPr/>
            </a:pPr>
            <a:r>
              <a:rPr kumimoji="0" lang="zh-CN" altLang="en-US" sz="2400">
                <a:solidFill>
                  <a:schemeClr val="tx2"/>
                </a:solidFill>
                <a:effectLst>
                  <a:outerShdw blurRad="38100" dist="38100" dir="2700000" algn="tl">
                    <a:srgbClr val="000000"/>
                  </a:outerShdw>
                </a:effectLst>
                <a:latin typeface="宋体" panose="02010600030101010101" pitchFamily="2" charset="-122"/>
                <a:ea typeface="宋体" panose="02010600030101010101" pitchFamily="2" charset="-122"/>
              </a:rPr>
              <a:t>按承兑人不同</a:t>
            </a:r>
          </a:p>
          <a:p>
            <a:pPr marL="217805" indent="-217805">
              <a:spcBef>
                <a:spcPct val="20000"/>
              </a:spcBef>
              <a:buClr>
                <a:schemeClr val="hlink"/>
              </a:buClr>
              <a:buFont typeface="Wingdings" panose="05000000000000000000" pitchFamily="2" charset="2"/>
              <a:buNone/>
              <a:defRPr/>
            </a:pPr>
            <a:endParaRPr kumimoji="0" lang="zh-CN" altLang="en-US" sz="2400">
              <a:solidFill>
                <a:schemeClr val="tx2"/>
              </a:solidFill>
              <a:effectLst>
                <a:outerShdw blurRad="38100" dist="38100" dir="2700000" algn="tl">
                  <a:srgbClr val="000000"/>
                </a:outerShdw>
              </a:effectLst>
              <a:latin typeface="宋体" panose="02010600030101010101" pitchFamily="2" charset="-122"/>
              <a:ea typeface="宋体" panose="02010600030101010101" pitchFamily="2" charset="-122"/>
            </a:endParaRPr>
          </a:p>
          <a:p>
            <a:pPr marL="217805" indent="-217805">
              <a:spcBef>
                <a:spcPct val="20000"/>
              </a:spcBef>
              <a:buClr>
                <a:schemeClr val="hlink"/>
              </a:buClr>
              <a:buFont typeface="Wingdings" panose="05000000000000000000" pitchFamily="2" charset="2"/>
              <a:buBlip>
                <a:blip r:embed="rId4"/>
              </a:buBlip>
              <a:defRPr/>
            </a:pPr>
            <a:r>
              <a:rPr kumimoji="0" lang="zh-CN" altLang="en-US" sz="2400">
                <a:solidFill>
                  <a:schemeClr val="tx2"/>
                </a:solidFill>
                <a:effectLst>
                  <a:outerShdw blurRad="38100" dist="38100" dir="2700000" algn="tl">
                    <a:srgbClr val="000000"/>
                  </a:outerShdw>
                </a:effectLst>
                <a:latin typeface="宋体" panose="02010600030101010101" pitchFamily="2" charset="-122"/>
                <a:ea typeface="宋体" panose="02010600030101010101" pitchFamily="2" charset="-122"/>
              </a:rPr>
              <a:t> 银行承兑汇票</a:t>
            </a:r>
          </a:p>
          <a:p>
            <a:pPr marL="217805" indent="-217805">
              <a:spcBef>
                <a:spcPct val="20000"/>
              </a:spcBef>
              <a:buClr>
                <a:schemeClr val="hlink"/>
              </a:buClr>
              <a:buFont typeface="Wingdings" panose="05000000000000000000" pitchFamily="2" charset="2"/>
              <a:buBlip>
                <a:blip r:embed="rId4"/>
              </a:buBlip>
              <a:defRPr/>
            </a:pPr>
            <a:r>
              <a:rPr kumimoji="0" lang="zh-CN" altLang="en-US" sz="2400">
                <a:solidFill>
                  <a:schemeClr val="tx2"/>
                </a:solidFill>
                <a:effectLst>
                  <a:outerShdw blurRad="38100" dist="38100" dir="2700000" algn="tl">
                    <a:srgbClr val="000000"/>
                  </a:outerShdw>
                </a:effectLst>
                <a:latin typeface="宋体" panose="02010600030101010101" pitchFamily="2" charset="-122"/>
                <a:ea typeface="宋体" panose="02010600030101010101" pitchFamily="2" charset="-122"/>
              </a:rPr>
              <a:t> 商业承兑汇票</a:t>
            </a:r>
          </a:p>
        </p:txBody>
      </p:sp>
      <p:sp>
        <p:nvSpPr>
          <p:cNvPr id="8" name="Rectangle 8"/>
          <p:cNvSpPr>
            <a:spLocks noChangeArrowheads="1"/>
          </p:cNvSpPr>
          <p:nvPr/>
        </p:nvSpPr>
        <p:spPr bwMode="auto">
          <a:xfrm>
            <a:off x="8287614" y="3987897"/>
            <a:ext cx="2300633" cy="2162476"/>
          </a:xfrm>
          <a:prstGeom prst="rect">
            <a:avLst/>
          </a:prstGeom>
          <a:noFill/>
          <a:ln w="9525">
            <a:noFill/>
            <a:miter lim="800000"/>
          </a:ln>
          <a:effectLst/>
        </p:spPr>
        <p:txBody>
          <a:bodyPr lIns="0" rIns="0"/>
          <a:lstStyle/>
          <a:p>
            <a:pPr marL="231775" indent="-231775">
              <a:spcBef>
                <a:spcPct val="20000"/>
              </a:spcBef>
              <a:buClr>
                <a:schemeClr val="hlink"/>
              </a:buClr>
              <a:buFont typeface="Wingdings" panose="05000000000000000000" pitchFamily="2" charset="2"/>
              <a:buNone/>
              <a:defRPr/>
            </a:pPr>
            <a:r>
              <a:rPr kumimoji="0" lang="zh-CN" altLang="en-US" sz="2400">
                <a:solidFill>
                  <a:schemeClr val="tx2"/>
                </a:solidFill>
                <a:effectLst>
                  <a:outerShdw blurRad="38100" dist="38100" dir="2700000" algn="tl">
                    <a:srgbClr val="000000"/>
                  </a:outerShdw>
                </a:effectLst>
                <a:latin typeface="宋体" panose="02010600030101010101" pitchFamily="2" charset="-122"/>
                <a:ea typeface="宋体" panose="02010600030101010101" pitchFamily="2" charset="-122"/>
              </a:rPr>
              <a:t>按是否带息</a:t>
            </a:r>
          </a:p>
          <a:p>
            <a:pPr marL="231775" indent="-231775">
              <a:spcBef>
                <a:spcPct val="20000"/>
              </a:spcBef>
              <a:buClr>
                <a:schemeClr val="hlink"/>
              </a:buClr>
              <a:buFont typeface="Wingdings" panose="05000000000000000000" pitchFamily="2" charset="2"/>
              <a:buNone/>
              <a:defRPr/>
            </a:pPr>
            <a:endParaRPr kumimoji="0" lang="zh-CN" altLang="en-US" sz="2400">
              <a:solidFill>
                <a:schemeClr val="tx2"/>
              </a:solidFill>
              <a:effectLst>
                <a:outerShdw blurRad="38100" dist="38100" dir="2700000" algn="tl">
                  <a:srgbClr val="000000"/>
                </a:outerShdw>
              </a:effectLst>
              <a:latin typeface="宋体" panose="02010600030101010101" pitchFamily="2" charset="-122"/>
              <a:ea typeface="宋体" panose="02010600030101010101" pitchFamily="2" charset="-122"/>
            </a:endParaRPr>
          </a:p>
          <a:p>
            <a:pPr marL="231775" indent="-231775">
              <a:lnSpc>
                <a:spcPct val="80000"/>
              </a:lnSpc>
              <a:spcBef>
                <a:spcPct val="20000"/>
              </a:spcBef>
              <a:buClr>
                <a:schemeClr val="hlink"/>
              </a:buClr>
              <a:buFont typeface="Wingdings" panose="05000000000000000000" pitchFamily="2" charset="2"/>
              <a:buBlip>
                <a:blip r:embed="rId4"/>
              </a:buBlip>
              <a:defRPr/>
            </a:pPr>
            <a:r>
              <a:rPr kumimoji="0" lang="zh-CN" altLang="en-US" sz="2400">
                <a:solidFill>
                  <a:schemeClr val="tx2"/>
                </a:solidFill>
                <a:effectLst>
                  <a:outerShdw blurRad="38100" dist="38100" dir="2700000" algn="tl">
                    <a:srgbClr val="000000"/>
                  </a:outerShdw>
                </a:effectLst>
                <a:latin typeface="宋体" panose="02010600030101010101" pitchFamily="2" charset="-122"/>
                <a:ea typeface="宋体" panose="02010600030101010101" pitchFamily="2" charset="-122"/>
              </a:rPr>
              <a:t>  带息票据</a:t>
            </a:r>
          </a:p>
          <a:p>
            <a:pPr marL="231775" indent="-231775">
              <a:lnSpc>
                <a:spcPct val="80000"/>
              </a:lnSpc>
              <a:spcBef>
                <a:spcPct val="20000"/>
              </a:spcBef>
              <a:buClr>
                <a:schemeClr val="hlink"/>
              </a:buClr>
              <a:buFont typeface="Wingdings" panose="05000000000000000000" pitchFamily="2" charset="2"/>
              <a:buBlip>
                <a:blip r:embed="rId4"/>
              </a:buBlip>
              <a:defRPr/>
            </a:pPr>
            <a:r>
              <a:rPr kumimoji="0" lang="zh-CN" altLang="en-US" sz="2400">
                <a:solidFill>
                  <a:schemeClr val="tx2"/>
                </a:solidFill>
                <a:effectLst>
                  <a:outerShdw blurRad="38100" dist="38100" dir="2700000" algn="tl">
                    <a:srgbClr val="000000"/>
                  </a:outerShdw>
                </a:effectLst>
                <a:latin typeface="宋体" panose="02010600030101010101" pitchFamily="2" charset="-122"/>
                <a:ea typeface="宋体" panose="02010600030101010101" pitchFamily="2" charset="-122"/>
              </a:rPr>
              <a:t>  不带息票据</a:t>
            </a:r>
          </a:p>
          <a:p>
            <a:pPr marL="231775" indent="-231775">
              <a:lnSpc>
                <a:spcPct val="70000"/>
              </a:lnSpc>
              <a:spcBef>
                <a:spcPct val="20000"/>
              </a:spcBef>
              <a:buClr>
                <a:schemeClr val="hlink"/>
              </a:buClr>
              <a:buFont typeface="Wingdings" panose="05000000000000000000" pitchFamily="2" charset="2"/>
              <a:buBlip>
                <a:blip r:embed="rId5"/>
              </a:buBlip>
              <a:defRPr/>
            </a:pPr>
            <a:endParaRPr kumimoji="0" lang="en-US" altLang="zh-CN" sz="2400">
              <a:solidFill>
                <a:schemeClr val="tx2"/>
              </a:solidFill>
              <a:effectLst>
                <a:outerShdw blurRad="38100" dist="38100" dir="2700000" algn="tl">
                  <a:srgbClr val="000000"/>
                </a:outerShdw>
              </a:effectLst>
              <a:latin typeface="宋体" panose="02010600030101010101" pitchFamily="2" charset="-122"/>
              <a:ea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899795" y="1202690"/>
            <a:ext cx="10815320" cy="4678680"/>
          </a:xfrm>
        </p:spPr>
        <p:txBody>
          <a:bodyPr/>
          <a:lstStyle/>
          <a:p>
            <a:pPr marL="0" indent="0">
              <a:buNone/>
            </a:pPr>
            <a:r>
              <a:rPr lang="zh-CN" altLang="en-US" dirty="0">
                <a:sym typeface="+mn-ea"/>
              </a:rPr>
              <a:t>（三）应收票据到期日的确定</a:t>
            </a:r>
            <a:endParaRPr lang="en-US" altLang="zh-CN" dirty="0"/>
          </a:p>
          <a:p>
            <a:pPr lvl="1"/>
            <a:r>
              <a:rPr lang="zh-CN" altLang="zh-CN" dirty="0">
                <a:sym typeface="+mn-ea"/>
              </a:rPr>
              <a:t>票据的期限一般有按月表示和按日表示两种</a:t>
            </a:r>
          </a:p>
          <a:p>
            <a:pPr lvl="1"/>
            <a:r>
              <a:rPr lang="zh-CN" altLang="en-US" dirty="0">
                <a:latin typeface="华文细黑" panose="02010600040101010101" pitchFamily="2" charset="-122"/>
                <a:ea typeface="华文细黑" panose="02010600040101010101" pitchFamily="2" charset="-122"/>
                <a:sym typeface="+mn-ea"/>
              </a:rPr>
              <a:t>出票人根据期限确定票据的到期日</a:t>
            </a:r>
          </a:p>
          <a:p>
            <a:pPr lvl="1"/>
            <a:r>
              <a:rPr lang="zh-CN" altLang="zh-CN" dirty="0">
                <a:sym typeface="+mn-ea"/>
              </a:rPr>
              <a:t>票据期限按月表示时，票据的期限统一按到期月对日为整月计算，不考虑各月份实际天数。</a:t>
            </a:r>
            <a:r>
              <a:rPr lang="en-US" altLang="zh-CN" dirty="0">
                <a:sym typeface="+mn-ea"/>
              </a:rPr>
              <a:t> 1</a:t>
            </a:r>
            <a:r>
              <a:rPr lang="zh-CN" altLang="zh-CN" dirty="0">
                <a:sym typeface="+mn-ea"/>
              </a:rPr>
              <a:t>月</a:t>
            </a:r>
            <a:r>
              <a:rPr lang="en-US" altLang="zh-CN" dirty="0">
                <a:sym typeface="+mn-ea"/>
              </a:rPr>
              <a:t>31</a:t>
            </a:r>
            <a:r>
              <a:rPr lang="zh-CN" altLang="zh-CN" dirty="0">
                <a:sym typeface="+mn-ea"/>
              </a:rPr>
              <a:t>日签发承兑的期限为</a:t>
            </a:r>
            <a:r>
              <a:rPr lang="en-US" altLang="zh-CN" dirty="0">
                <a:sym typeface="+mn-ea"/>
              </a:rPr>
              <a:t>1</a:t>
            </a:r>
            <a:r>
              <a:rPr lang="zh-CN" altLang="zh-CN" dirty="0">
                <a:sym typeface="+mn-ea"/>
              </a:rPr>
              <a:t>个月、</a:t>
            </a:r>
            <a:r>
              <a:rPr lang="en-US" altLang="zh-CN" dirty="0">
                <a:sym typeface="+mn-ea"/>
              </a:rPr>
              <a:t>2</a:t>
            </a:r>
            <a:r>
              <a:rPr lang="zh-CN" altLang="zh-CN" dirty="0">
                <a:sym typeface="+mn-ea"/>
              </a:rPr>
              <a:t>个月、</a:t>
            </a:r>
            <a:r>
              <a:rPr lang="en-US" altLang="zh-CN" dirty="0">
                <a:sym typeface="+mn-ea"/>
              </a:rPr>
              <a:t>3</a:t>
            </a:r>
            <a:r>
              <a:rPr lang="zh-CN" altLang="zh-CN" dirty="0">
                <a:sym typeface="+mn-ea"/>
              </a:rPr>
              <a:t>个月和</a:t>
            </a:r>
            <a:r>
              <a:rPr lang="en-US" altLang="zh-CN" dirty="0">
                <a:sym typeface="+mn-ea"/>
              </a:rPr>
              <a:t>6</a:t>
            </a:r>
            <a:r>
              <a:rPr lang="zh-CN" altLang="zh-CN" dirty="0">
                <a:sym typeface="+mn-ea"/>
              </a:rPr>
              <a:t>个月的商业汇票，其到期日分别</a:t>
            </a:r>
            <a:r>
              <a:rPr lang="zh-CN" altLang="en-US" dirty="0">
                <a:sym typeface="+mn-ea"/>
              </a:rPr>
              <a:t>是？</a:t>
            </a:r>
          </a:p>
          <a:p>
            <a:pPr lvl="1"/>
            <a:r>
              <a:rPr lang="zh-CN" altLang="zh-CN" dirty="0">
                <a:sym typeface="+mn-ea"/>
              </a:rPr>
              <a:t>票据期限按日表示时，票据的期限统一按票据的实际天数计算，不考虑月数。在票据签发承兑日和票据到期日这两天中，只计算其中的一天。</a:t>
            </a:r>
            <a:r>
              <a:rPr lang="en-US" altLang="zh-CN" dirty="0">
                <a:sym typeface="+mn-ea"/>
              </a:rPr>
              <a:t>1</a:t>
            </a:r>
            <a:r>
              <a:rPr lang="zh-CN" altLang="zh-CN" dirty="0">
                <a:sym typeface="+mn-ea"/>
              </a:rPr>
              <a:t>月</a:t>
            </a:r>
            <a:r>
              <a:rPr lang="en-US" altLang="zh-CN" dirty="0">
                <a:sym typeface="+mn-ea"/>
              </a:rPr>
              <a:t>31</a:t>
            </a:r>
            <a:r>
              <a:rPr lang="zh-CN" altLang="zh-CN" dirty="0">
                <a:sym typeface="+mn-ea"/>
              </a:rPr>
              <a:t>日</a:t>
            </a:r>
            <a:r>
              <a:rPr lang="en-US" altLang="zh-CN" dirty="0">
                <a:sym typeface="+mn-ea"/>
              </a:rPr>
              <a:t>(</a:t>
            </a:r>
            <a:r>
              <a:rPr lang="zh-CN" altLang="zh-CN" dirty="0">
                <a:sym typeface="+mn-ea"/>
              </a:rPr>
              <a:t>当年</a:t>
            </a:r>
            <a:r>
              <a:rPr lang="en-US" altLang="zh-CN" dirty="0">
                <a:sym typeface="+mn-ea"/>
              </a:rPr>
              <a:t>2</a:t>
            </a:r>
            <a:r>
              <a:rPr lang="zh-CN" altLang="zh-CN" dirty="0">
                <a:sym typeface="+mn-ea"/>
              </a:rPr>
              <a:t>月份为</a:t>
            </a:r>
            <a:r>
              <a:rPr lang="en-US" altLang="zh-CN" dirty="0">
                <a:sym typeface="+mn-ea"/>
              </a:rPr>
              <a:t>28</a:t>
            </a:r>
            <a:r>
              <a:rPr lang="zh-CN" altLang="zh-CN" dirty="0">
                <a:sym typeface="+mn-ea"/>
              </a:rPr>
              <a:t>天</a:t>
            </a:r>
            <a:r>
              <a:rPr lang="en-US" altLang="zh-CN" dirty="0">
                <a:sym typeface="+mn-ea"/>
              </a:rPr>
              <a:t>)</a:t>
            </a:r>
            <a:r>
              <a:rPr lang="zh-CN" altLang="zh-CN" dirty="0">
                <a:sym typeface="+mn-ea"/>
              </a:rPr>
              <a:t>签发承兑的期限为</a:t>
            </a:r>
            <a:r>
              <a:rPr lang="en-US" altLang="zh-CN" dirty="0">
                <a:sym typeface="+mn-ea"/>
              </a:rPr>
              <a:t>30</a:t>
            </a:r>
            <a:r>
              <a:rPr lang="zh-CN" altLang="zh-CN" dirty="0">
                <a:sym typeface="+mn-ea"/>
              </a:rPr>
              <a:t>天、</a:t>
            </a:r>
            <a:r>
              <a:rPr lang="en-US" altLang="zh-CN" dirty="0">
                <a:sym typeface="+mn-ea"/>
              </a:rPr>
              <a:t>60</a:t>
            </a:r>
            <a:r>
              <a:rPr lang="zh-CN" altLang="zh-CN" dirty="0">
                <a:sym typeface="+mn-ea"/>
              </a:rPr>
              <a:t>天、</a:t>
            </a:r>
            <a:r>
              <a:rPr lang="en-US" altLang="zh-CN" dirty="0">
                <a:sym typeface="+mn-ea"/>
              </a:rPr>
              <a:t>90</a:t>
            </a:r>
            <a:r>
              <a:rPr lang="zh-CN" altLang="zh-CN" dirty="0">
                <a:sym typeface="+mn-ea"/>
              </a:rPr>
              <a:t>天和</a:t>
            </a:r>
            <a:r>
              <a:rPr lang="en-US" altLang="zh-CN" dirty="0">
                <a:sym typeface="+mn-ea"/>
              </a:rPr>
              <a:t>180</a:t>
            </a:r>
            <a:r>
              <a:rPr lang="zh-CN" altLang="zh-CN" dirty="0">
                <a:sym typeface="+mn-ea"/>
              </a:rPr>
              <a:t>天的商业汇票，其到期日分别</a:t>
            </a:r>
            <a:r>
              <a:rPr lang="zh-CN" altLang="en-US" dirty="0">
                <a:sym typeface="+mn-ea"/>
              </a:rPr>
              <a:t>是？</a:t>
            </a:r>
            <a:endParaRPr lang="en-US" altLang="zh-CN" dirty="0"/>
          </a:p>
          <a:p>
            <a:pPr marL="914400" lvl="2" indent="0">
              <a:buNone/>
            </a:pPr>
            <a:endParaRPr lang="zh-CN" altLang="en-US" dirty="0"/>
          </a:p>
        </p:txBody>
      </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400" dirty="0">
                <a:latin typeface="黑体" panose="02010609060101010101" pitchFamily="49" charset="-122"/>
                <a:ea typeface="黑体" panose="02010609060101010101" pitchFamily="49" charset="-122"/>
                <a:sym typeface="+mn-ea"/>
              </a:rPr>
              <a:t>二、应收票据的取得</a:t>
            </a:r>
            <a:endParaRPr lang="zh-CN" altLang="en-US" sz="4400"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a:xfrm>
            <a:off x="1576705" y="2018030"/>
            <a:ext cx="2757170" cy="1221740"/>
          </a:xfrm>
        </p:spPr>
        <p:txBody>
          <a:bodyPr/>
          <a:lstStyle/>
          <a:p>
            <a:r>
              <a:rPr lang="en-US" altLang="zh-CN" dirty="0">
                <a:sym typeface="+mn-ea"/>
              </a:rPr>
              <a:t>1.</a:t>
            </a:r>
            <a:r>
              <a:rPr lang="zh-CN" altLang="en-US" dirty="0">
                <a:sym typeface="+mn-ea"/>
              </a:rPr>
              <a:t>取得方式</a:t>
            </a:r>
          </a:p>
          <a:p>
            <a:r>
              <a:rPr lang="en-US" altLang="zh-CN" dirty="0">
                <a:sym typeface="+mn-ea"/>
              </a:rPr>
              <a:t>2.</a:t>
            </a:r>
            <a:r>
              <a:rPr lang="zh-CN" altLang="en-US" dirty="0">
                <a:sym typeface="+mn-ea"/>
              </a:rPr>
              <a:t>入账价值</a:t>
            </a:r>
            <a:endParaRPr lang="zh-CN" altLang="zh-CN" dirty="0"/>
          </a:p>
          <a:p>
            <a:pPr marL="0" indent="0">
              <a:buNone/>
            </a:pPr>
            <a:endParaRPr lang="zh-CN" altLang="en-US" dirty="0"/>
          </a:p>
        </p:txBody>
      </p:sp>
      <p:sp>
        <p:nvSpPr>
          <p:cNvPr id="404487" name="AutoShape 7"/>
          <p:cNvSpPr>
            <a:spLocks noChangeArrowheads="1"/>
          </p:cNvSpPr>
          <p:nvPr/>
        </p:nvSpPr>
        <p:spPr bwMode="auto">
          <a:xfrm>
            <a:off x="4840288" y="2843213"/>
            <a:ext cx="1768475" cy="1819275"/>
          </a:xfrm>
          <a:prstGeom prst="foldedCorner">
            <a:avLst>
              <a:gd name="adj" fmla="val 12500"/>
            </a:avLst>
          </a:prstGeom>
          <a:gradFill rotWithShape="1">
            <a:gsLst>
              <a:gs pos="0">
                <a:schemeClr val="hlink"/>
              </a:gs>
              <a:gs pos="100000">
                <a:schemeClr val="hlink">
                  <a:gamma/>
                  <a:tint val="60392"/>
                  <a:invGamma/>
                </a:schemeClr>
              </a:gs>
            </a:gsLst>
            <a:lin ang="5400000" scaled="1"/>
          </a:gradFill>
          <a:ln w="9525">
            <a:solidFill>
              <a:schemeClr val="hlink"/>
            </a:solidFill>
            <a:round/>
          </a:ln>
          <a:effectLst/>
        </p:spPr>
        <p:txBody>
          <a:bodyPr wrap="none" anchor="ctr"/>
          <a:lstStyle/>
          <a:p>
            <a:pPr algn="ctr" eaLnBrk="0" hangingPunct="0">
              <a:spcBef>
                <a:spcPct val="0"/>
              </a:spcBef>
              <a:defRPr/>
            </a:pPr>
            <a:r>
              <a:rPr lang="zh-CN" altLang="en-US" sz="3200">
                <a:solidFill>
                  <a:srgbClr val="000000"/>
                </a:solidFill>
                <a:effectLst>
                  <a:outerShdw blurRad="38100" dist="38100" dir="2700000" algn="tl">
                    <a:srgbClr val="FFFFFF"/>
                  </a:outerShdw>
                </a:effectLst>
                <a:ea typeface="宋体" panose="02010600030101010101" pitchFamily="2" charset="-122"/>
              </a:rPr>
              <a:t>现值法</a:t>
            </a:r>
          </a:p>
          <a:p>
            <a:pPr algn="ctr" eaLnBrk="0" hangingPunct="0">
              <a:spcBef>
                <a:spcPct val="0"/>
              </a:spcBef>
              <a:defRPr/>
            </a:pPr>
            <a:endParaRPr lang="zh-CN" altLang="en-US" sz="3200">
              <a:solidFill>
                <a:srgbClr val="000000"/>
              </a:solidFill>
              <a:effectLst>
                <a:outerShdw blurRad="38100" dist="38100" dir="2700000" algn="tl">
                  <a:srgbClr val="FFFFFF"/>
                </a:outerShdw>
              </a:effectLst>
              <a:ea typeface="宋体" panose="02010600030101010101" pitchFamily="2" charset="-122"/>
            </a:endParaRPr>
          </a:p>
          <a:p>
            <a:pPr algn="ctr" eaLnBrk="0" hangingPunct="0">
              <a:spcBef>
                <a:spcPct val="0"/>
              </a:spcBef>
              <a:defRPr/>
            </a:pPr>
            <a:r>
              <a:rPr lang="zh-CN" altLang="en-US" sz="3200">
                <a:solidFill>
                  <a:srgbClr val="000000"/>
                </a:solidFill>
                <a:effectLst>
                  <a:outerShdw blurRad="38100" dist="38100" dir="2700000" algn="tl">
                    <a:srgbClr val="FFFFFF"/>
                  </a:outerShdw>
                </a:effectLst>
                <a:ea typeface="宋体" panose="02010600030101010101" pitchFamily="2" charset="-122"/>
              </a:rPr>
              <a:t>面值法</a:t>
            </a:r>
          </a:p>
        </p:txBody>
      </p:sp>
      <p:sp>
        <p:nvSpPr>
          <p:cNvPr id="404491" name="AutoShape 11"/>
          <p:cNvSpPr>
            <a:spLocks noChangeArrowheads="1"/>
          </p:cNvSpPr>
          <p:nvPr/>
        </p:nvSpPr>
        <p:spPr bwMode="auto">
          <a:xfrm>
            <a:off x="8468360" y="2843530"/>
            <a:ext cx="1768475" cy="1819275"/>
          </a:xfrm>
          <a:prstGeom prst="foldedCorner">
            <a:avLst>
              <a:gd name="adj" fmla="val 12500"/>
            </a:avLst>
          </a:prstGeom>
          <a:gradFill rotWithShape="1">
            <a:gsLst>
              <a:gs pos="0">
                <a:schemeClr val="hlink"/>
              </a:gs>
              <a:gs pos="100000">
                <a:schemeClr val="hlink">
                  <a:gamma/>
                  <a:tint val="60392"/>
                  <a:invGamma/>
                </a:schemeClr>
              </a:gs>
            </a:gsLst>
            <a:lin ang="5400000" scaled="1"/>
          </a:gradFill>
          <a:ln w="9525">
            <a:solidFill>
              <a:schemeClr val="hlink"/>
            </a:solidFill>
            <a:round/>
          </a:ln>
          <a:effectLst/>
        </p:spPr>
        <p:txBody>
          <a:bodyPr wrap="none" anchor="ctr"/>
          <a:lstStyle/>
          <a:p>
            <a:pPr algn="ctr" eaLnBrk="0" hangingPunct="0">
              <a:spcBef>
                <a:spcPct val="0"/>
              </a:spcBef>
              <a:defRPr/>
            </a:pPr>
            <a:r>
              <a:rPr lang="zh-CN" altLang="en-US" sz="3200">
                <a:solidFill>
                  <a:srgbClr val="000000"/>
                </a:solidFill>
                <a:effectLst>
                  <a:outerShdw blurRad="38100" dist="38100" dir="2700000" algn="tl">
                    <a:srgbClr val="FFFFFF"/>
                  </a:outerShdw>
                </a:effectLst>
                <a:ea typeface="宋体" panose="02010600030101010101" pitchFamily="2" charset="-122"/>
              </a:rPr>
              <a:t>理论上</a:t>
            </a:r>
          </a:p>
          <a:p>
            <a:pPr algn="ctr" eaLnBrk="0" hangingPunct="0">
              <a:spcBef>
                <a:spcPct val="0"/>
              </a:spcBef>
              <a:defRPr/>
            </a:pPr>
            <a:endParaRPr lang="zh-CN" altLang="en-US" sz="3200">
              <a:solidFill>
                <a:srgbClr val="000000"/>
              </a:solidFill>
              <a:effectLst>
                <a:outerShdw blurRad="38100" dist="38100" dir="2700000" algn="tl">
                  <a:srgbClr val="FFFFFF"/>
                </a:outerShdw>
              </a:effectLst>
              <a:ea typeface="宋体" panose="02010600030101010101" pitchFamily="2" charset="-122"/>
            </a:endParaRPr>
          </a:p>
          <a:p>
            <a:pPr algn="ctr" eaLnBrk="0" hangingPunct="0">
              <a:spcBef>
                <a:spcPct val="0"/>
              </a:spcBef>
              <a:defRPr/>
            </a:pPr>
            <a:r>
              <a:rPr lang="zh-CN" altLang="en-US" sz="3200">
                <a:solidFill>
                  <a:srgbClr val="000000"/>
                </a:solidFill>
                <a:effectLst>
                  <a:outerShdw blurRad="38100" dist="38100" dir="2700000" algn="tl">
                    <a:srgbClr val="FFFFFF"/>
                  </a:outerShdw>
                </a:effectLst>
                <a:ea typeface="宋体" panose="02010600030101010101" pitchFamily="2" charset="-122"/>
              </a:rPr>
              <a:t>实务中</a:t>
            </a:r>
          </a:p>
        </p:txBody>
      </p:sp>
      <p:grpSp>
        <p:nvGrpSpPr>
          <p:cNvPr id="4" name="Group 8"/>
          <p:cNvGrpSpPr/>
          <p:nvPr/>
        </p:nvGrpSpPr>
        <p:grpSpPr bwMode="auto">
          <a:xfrm>
            <a:off x="6974523" y="3067685"/>
            <a:ext cx="1182687" cy="1370013"/>
            <a:chOff x="2317" y="1632"/>
            <a:chExt cx="745" cy="863"/>
          </a:xfrm>
        </p:grpSpPr>
        <p:sp>
          <p:nvSpPr>
            <p:cNvPr id="404489" name="AutoShape 9"/>
            <p:cNvSpPr>
              <a:spLocks noChangeArrowheads="1"/>
            </p:cNvSpPr>
            <p:nvPr/>
          </p:nvSpPr>
          <p:spPr bwMode="auto">
            <a:xfrm>
              <a:off x="2317" y="2255"/>
              <a:ext cx="745" cy="240"/>
            </a:xfrm>
            <a:prstGeom prst="rightArrow">
              <a:avLst>
                <a:gd name="adj1" fmla="val 43333"/>
                <a:gd name="adj2" fmla="val 69729"/>
              </a:avLst>
            </a:prstGeom>
            <a:gradFill rotWithShape="1">
              <a:gsLst>
                <a:gs pos="0">
                  <a:schemeClr val="hlink"/>
                </a:gs>
                <a:gs pos="100000">
                  <a:schemeClr val="hlink">
                    <a:gamma/>
                    <a:shade val="46275"/>
                    <a:invGamma/>
                  </a:schemeClr>
                </a:gs>
              </a:gsLst>
              <a:lin ang="2700000" scaled="1"/>
            </a:gradFill>
            <a:ln w="9525" algn="ctr">
              <a:solidFill>
                <a:schemeClr val="tx1"/>
              </a:solidFill>
              <a:miter lim="800000"/>
            </a:ln>
            <a:effectLst/>
          </p:spPr>
          <p:txBody>
            <a:bodyPr wrap="none" anchor="ctr"/>
            <a:lstStyle/>
            <a:p>
              <a:pPr>
                <a:defRPr/>
              </a:pPr>
              <a:endParaRPr lang="zh-CN" altLang="en-US">
                <a:effectLst>
                  <a:outerShdw blurRad="38100" dist="38100" dir="2700000" algn="tl">
                    <a:srgbClr val="000000">
                      <a:alpha val="43137"/>
                    </a:srgbClr>
                  </a:outerShdw>
                </a:effectLst>
                <a:ea typeface="宋体" panose="02010600030101010101" pitchFamily="2" charset="-122"/>
              </a:endParaRPr>
            </a:p>
          </p:txBody>
        </p:sp>
        <p:sp>
          <p:nvSpPr>
            <p:cNvPr id="404490" name="AutoShape 10"/>
            <p:cNvSpPr>
              <a:spLocks noChangeArrowheads="1"/>
            </p:cNvSpPr>
            <p:nvPr/>
          </p:nvSpPr>
          <p:spPr bwMode="auto">
            <a:xfrm>
              <a:off x="2317" y="1632"/>
              <a:ext cx="745" cy="240"/>
            </a:xfrm>
            <a:prstGeom prst="rightArrow">
              <a:avLst>
                <a:gd name="adj1" fmla="val 43333"/>
                <a:gd name="adj2" fmla="val 69729"/>
              </a:avLst>
            </a:prstGeom>
            <a:gradFill rotWithShape="1">
              <a:gsLst>
                <a:gs pos="0">
                  <a:schemeClr val="hlink"/>
                </a:gs>
                <a:gs pos="100000">
                  <a:schemeClr val="hlink">
                    <a:gamma/>
                    <a:shade val="46275"/>
                    <a:invGamma/>
                  </a:schemeClr>
                </a:gs>
              </a:gsLst>
              <a:lin ang="2700000" scaled="1"/>
            </a:gradFill>
            <a:ln w="9525" algn="ctr">
              <a:solidFill>
                <a:schemeClr val="tx1"/>
              </a:solidFill>
              <a:miter lim="800000"/>
            </a:ln>
            <a:effectLst/>
          </p:spPr>
          <p:txBody>
            <a:bodyPr wrap="none" anchor="ctr"/>
            <a:lstStyle/>
            <a:p>
              <a:pPr>
                <a:defRPr/>
              </a:pPr>
              <a:endParaRPr lang="zh-CN" altLang="en-US">
                <a:effectLst>
                  <a:outerShdw blurRad="38100" dist="38100" dir="2700000" algn="tl">
                    <a:srgbClr val="000000">
                      <a:alpha val="43137"/>
                    </a:srgbClr>
                  </a:outerShdw>
                </a:effectLst>
                <a:ea typeface="宋体" panose="02010600030101010101" pitchFamily="2" charset="-122"/>
              </a:endParaRPr>
            </a:p>
          </p:txBody>
        </p:sp>
      </p:grpSp>
      <p:grpSp>
        <p:nvGrpSpPr>
          <p:cNvPr id="5" name="Group 3"/>
          <p:cNvGrpSpPr/>
          <p:nvPr/>
        </p:nvGrpSpPr>
        <p:grpSpPr bwMode="auto">
          <a:xfrm>
            <a:off x="1896428" y="5167630"/>
            <a:ext cx="8399462" cy="1338263"/>
            <a:chOff x="469" y="2960"/>
            <a:chExt cx="5291" cy="843"/>
          </a:xfrm>
        </p:grpSpPr>
        <p:pic>
          <p:nvPicPr>
            <p:cNvPr id="17417" name="Picture 4"/>
            <p:cNvPicPr>
              <a:picLocks noChangeAspect="1" noChangeArrowheads="1"/>
            </p:cNvPicPr>
            <p:nvPr/>
          </p:nvPicPr>
          <p:blipFill>
            <a:blip r:embed="rId2" cstate="print"/>
            <a:srcRect/>
            <a:stretch>
              <a:fillRect/>
            </a:stretch>
          </p:blipFill>
          <p:spPr bwMode="auto">
            <a:xfrm>
              <a:off x="469" y="2960"/>
              <a:ext cx="5279" cy="742"/>
            </a:xfrm>
            <a:prstGeom prst="rect">
              <a:avLst/>
            </a:prstGeom>
            <a:noFill/>
            <a:ln w="9525">
              <a:noFill/>
              <a:miter lim="800000"/>
              <a:headEnd/>
              <a:tailEnd/>
            </a:ln>
          </p:spPr>
        </p:pic>
        <p:sp>
          <p:nvSpPr>
            <p:cNvPr id="404485" name="AutoShape 5"/>
            <p:cNvSpPr>
              <a:spLocks noChangeArrowheads="1"/>
            </p:cNvSpPr>
            <p:nvPr/>
          </p:nvSpPr>
          <p:spPr bwMode="auto">
            <a:xfrm>
              <a:off x="504" y="3088"/>
              <a:ext cx="4996" cy="563"/>
            </a:xfrm>
            <a:prstGeom prst="roundRect">
              <a:avLst>
                <a:gd name="adj" fmla="val 8333"/>
              </a:avLst>
            </a:prstGeom>
            <a:gradFill rotWithShape="1">
              <a:gsLst>
                <a:gs pos="0">
                  <a:schemeClr val="accent2"/>
                </a:gs>
                <a:gs pos="100000">
                  <a:schemeClr val="accent2">
                    <a:gamma/>
                    <a:tint val="43922"/>
                    <a:invGamma/>
                  </a:schemeClr>
                </a:gs>
              </a:gsLst>
              <a:lin ang="5400000" scaled="1"/>
            </a:gradFill>
            <a:ln w="9525" algn="ctr">
              <a:noFill/>
              <a:round/>
            </a:ln>
            <a:effectLst/>
          </p:spPr>
          <p:txBody>
            <a:bodyPr tIns="0" bIns="0" anchor="ctr"/>
            <a:lstStyle/>
            <a:p>
              <a:pPr marL="228600" indent="-228600">
                <a:spcBef>
                  <a:spcPct val="20000"/>
                </a:spcBef>
                <a:buClr>
                  <a:schemeClr val="hlink"/>
                </a:buClr>
                <a:buSzPct val="150000"/>
                <a:buFont typeface="Wingdings" panose="05000000000000000000" pitchFamily="2" charset="2"/>
                <a:buBlip>
                  <a:blip r:embed="rId3"/>
                </a:buBlip>
                <a:defRPr/>
              </a:pPr>
              <a:r>
                <a:rPr kumimoji="0" lang="zh-CN" altLang="en-US" sz="2800">
                  <a:solidFill>
                    <a:srgbClr val="FF0000"/>
                  </a:solidFill>
                  <a:ea typeface="宋体" panose="02010600030101010101" pitchFamily="2" charset="-122"/>
                </a:rPr>
                <a:t>含义、优缺点及适用范围</a:t>
              </a:r>
            </a:p>
          </p:txBody>
        </p:sp>
        <p:pic>
          <p:nvPicPr>
            <p:cNvPr id="17419" name="Picture 6" descr="lists"/>
            <p:cNvPicPr>
              <a:picLocks noChangeAspect="1" noChangeArrowheads="1"/>
            </p:cNvPicPr>
            <p:nvPr/>
          </p:nvPicPr>
          <p:blipFill>
            <a:blip r:embed="rId4" cstate="print"/>
            <a:srcRect b="45833"/>
            <a:stretch>
              <a:fillRect/>
            </a:stretch>
          </p:blipFill>
          <p:spPr bwMode="auto">
            <a:xfrm>
              <a:off x="5134" y="3299"/>
              <a:ext cx="626" cy="504"/>
            </a:xfrm>
            <a:prstGeom prst="rect">
              <a:avLst/>
            </a:prstGeom>
            <a:noFill/>
            <a:ln w="9525">
              <a:noFill/>
              <a:miter lim="800000"/>
              <a:headEnd/>
              <a:tailEnd/>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04487"/>
                                        </p:tgtEl>
                                        <p:attrNameLst>
                                          <p:attrName>style.visibility</p:attrName>
                                        </p:attrNameLst>
                                      </p:cBhvr>
                                      <p:to>
                                        <p:strVal val="visible"/>
                                      </p:to>
                                    </p:set>
                                    <p:anim calcmode="lin" valueType="num">
                                      <p:cBhvr additive="base">
                                        <p:cTn id="7" dur="500" fill="hold"/>
                                        <p:tgtEl>
                                          <p:spTgt spid="404487"/>
                                        </p:tgtEl>
                                        <p:attrNameLst>
                                          <p:attrName>ppt_x</p:attrName>
                                        </p:attrNameLst>
                                      </p:cBhvr>
                                      <p:tavLst>
                                        <p:tav tm="0">
                                          <p:val>
                                            <p:strVal val="#ppt_x"/>
                                          </p:val>
                                        </p:tav>
                                        <p:tav tm="100000">
                                          <p:val>
                                            <p:strVal val="#ppt_x"/>
                                          </p:val>
                                        </p:tav>
                                      </p:tavLst>
                                    </p:anim>
                                    <p:anim calcmode="lin" valueType="num">
                                      <p:cBhvr additive="base">
                                        <p:cTn id="8" dur="500" fill="hold"/>
                                        <p:tgtEl>
                                          <p:spTgt spid="40448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04491"/>
                                        </p:tgtEl>
                                        <p:attrNameLst>
                                          <p:attrName>style.visibility</p:attrName>
                                        </p:attrNameLst>
                                      </p:cBhvr>
                                      <p:to>
                                        <p:strVal val="visible"/>
                                      </p:to>
                                    </p:set>
                                    <p:animEffect transition="in" filter="blinds(horizontal)">
                                      <p:cBhvr>
                                        <p:cTn id="17" dur="500"/>
                                        <p:tgtEl>
                                          <p:spTgt spid="40449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487" grpId="0" bldLvl="0" animBg="1"/>
      <p:bldP spid="404491"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a:xfrm>
            <a:off x="914612" y="1947228"/>
            <a:ext cx="10363200" cy="4114800"/>
          </a:xfrm>
        </p:spPr>
        <p:txBody>
          <a:bodyPr/>
          <a:lstStyle/>
          <a:p>
            <a:pPr marL="457200" lvl="1" indent="0">
              <a:buNone/>
            </a:pPr>
            <a:r>
              <a:rPr lang="zh-CN" altLang="zh-CN" dirty="0">
                <a:sym typeface="+mn-ea"/>
              </a:rPr>
              <a:t>【例</a:t>
            </a:r>
            <a:r>
              <a:rPr lang="en-US" altLang="zh-CN" dirty="0">
                <a:sym typeface="+mn-ea"/>
              </a:rPr>
              <a:t>3-1</a:t>
            </a:r>
            <a:r>
              <a:rPr lang="zh-CN" altLang="zh-CN" dirty="0">
                <a:sym typeface="+mn-ea"/>
              </a:rPr>
              <a:t>】</a:t>
            </a:r>
            <a:r>
              <a:rPr lang="en-US" altLang="zh-CN" dirty="0">
                <a:sym typeface="+mn-ea"/>
              </a:rPr>
              <a:t>A</a:t>
            </a:r>
            <a:r>
              <a:rPr lang="zh-CN" altLang="zh-CN" dirty="0">
                <a:sym typeface="+mn-ea"/>
              </a:rPr>
              <a:t>公司</a:t>
            </a:r>
            <a:r>
              <a:rPr lang="en-US" altLang="zh-CN" dirty="0">
                <a:sym typeface="+mn-ea"/>
              </a:rPr>
              <a:t>2×19</a:t>
            </a:r>
            <a:r>
              <a:rPr lang="zh-CN" altLang="zh-CN" dirty="0">
                <a:sym typeface="+mn-ea"/>
              </a:rPr>
              <a:t>年有关应收票据的业务如下：</a:t>
            </a:r>
            <a:endParaRPr lang="zh-CN" altLang="zh-CN" dirty="0"/>
          </a:p>
          <a:p>
            <a:pPr lvl="1"/>
            <a:r>
              <a:rPr lang="zh-CN" altLang="zh-CN" dirty="0">
                <a:sym typeface="+mn-ea"/>
              </a:rPr>
              <a:t>（</a:t>
            </a:r>
            <a:r>
              <a:rPr lang="en-US" altLang="zh-CN" dirty="0">
                <a:sym typeface="+mn-ea"/>
              </a:rPr>
              <a:t>1</a:t>
            </a:r>
            <a:r>
              <a:rPr lang="zh-CN" altLang="zh-CN" dirty="0">
                <a:sym typeface="+mn-ea"/>
              </a:rPr>
              <a:t>）</a:t>
            </a:r>
            <a:r>
              <a:rPr lang="en-US" altLang="zh-CN" dirty="0">
                <a:sym typeface="+mn-ea"/>
              </a:rPr>
              <a:t>2×19</a:t>
            </a:r>
            <a:r>
              <a:rPr lang="zh-CN" altLang="zh-CN" dirty="0">
                <a:sym typeface="+mn-ea"/>
              </a:rPr>
              <a:t>年</a:t>
            </a:r>
            <a:r>
              <a:rPr lang="en-US" altLang="zh-CN" dirty="0">
                <a:sym typeface="+mn-ea"/>
              </a:rPr>
              <a:t>11</a:t>
            </a:r>
            <a:r>
              <a:rPr lang="zh-CN" altLang="zh-CN" dirty="0">
                <a:sym typeface="+mn-ea"/>
              </a:rPr>
              <a:t>月</a:t>
            </a:r>
            <a:r>
              <a:rPr lang="en-US" altLang="zh-CN" dirty="0">
                <a:sym typeface="+mn-ea"/>
              </a:rPr>
              <a:t>1</a:t>
            </a:r>
            <a:r>
              <a:rPr lang="zh-CN" altLang="zh-CN" dirty="0">
                <a:sym typeface="+mn-ea"/>
              </a:rPr>
              <a:t>日销售一批商品给</a:t>
            </a:r>
            <a:r>
              <a:rPr lang="en-US" altLang="zh-CN" dirty="0">
                <a:sym typeface="+mn-ea"/>
              </a:rPr>
              <a:t>B</a:t>
            </a:r>
            <a:r>
              <a:rPr lang="zh-CN" altLang="zh-CN" dirty="0">
                <a:sym typeface="+mn-ea"/>
              </a:rPr>
              <a:t>公司，售价</a:t>
            </a:r>
            <a:r>
              <a:rPr lang="en-US" altLang="zh-CN" dirty="0">
                <a:sym typeface="+mn-ea"/>
              </a:rPr>
              <a:t>1 000 000</a:t>
            </a:r>
            <a:r>
              <a:rPr lang="zh-CN" altLang="zh-CN" dirty="0">
                <a:sym typeface="+mn-ea"/>
              </a:rPr>
              <a:t>元，增值税率为</a:t>
            </a:r>
            <a:r>
              <a:rPr lang="en-US" altLang="zh-CN" dirty="0">
                <a:sym typeface="+mn-ea"/>
              </a:rPr>
              <a:t>13%</a:t>
            </a:r>
            <a:r>
              <a:rPr lang="zh-CN" altLang="zh-CN" dirty="0">
                <a:sym typeface="+mn-ea"/>
              </a:rPr>
              <a:t>，当天收到</a:t>
            </a:r>
            <a:r>
              <a:rPr lang="en-US" altLang="zh-CN" dirty="0">
                <a:sym typeface="+mn-ea"/>
              </a:rPr>
              <a:t>B</a:t>
            </a:r>
            <a:r>
              <a:rPr lang="zh-CN" altLang="zh-CN" dirty="0">
                <a:sym typeface="+mn-ea"/>
              </a:rPr>
              <a:t>公司开出的商业承兑汇票一张，票面金额</a:t>
            </a:r>
            <a:r>
              <a:rPr lang="en-US" altLang="zh-CN" dirty="0">
                <a:sym typeface="+mn-ea"/>
              </a:rPr>
              <a:t>1 130 000</a:t>
            </a:r>
            <a:r>
              <a:rPr lang="zh-CN" altLang="zh-CN" dirty="0">
                <a:sym typeface="+mn-ea"/>
              </a:rPr>
              <a:t>元，票面利率</a:t>
            </a:r>
            <a:r>
              <a:rPr lang="en-US" altLang="zh-CN" dirty="0">
                <a:sym typeface="+mn-ea"/>
              </a:rPr>
              <a:t>6%</a:t>
            </a:r>
            <a:r>
              <a:rPr lang="zh-CN" altLang="zh-CN" dirty="0">
                <a:sym typeface="+mn-ea"/>
              </a:rPr>
              <a:t>，期限</a:t>
            </a:r>
            <a:r>
              <a:rPr lang="en-US" altLang="zh-CN" dirty="0">
                <a:sym typeface="+mn-ea"/>
              </a:rPr>
              <a:t>3</a:t>
            </a:r>
            <a:r>
              <a:rPr lang="zh-CN" altLang="zh-CN" dirty="0">
                <a:sym typeface="+mn-ea"/>
              </a:rPr>
              <a:t>个月。</a:t>
            </a:r>
            <a:endParaRPr lang="en-US" altLang="zh-CN" dirty="0"/>
          </a:p>
          <a:p>
            <a:pPr lvl="1"/>
            <a:r>
              <a:rPr lang="zh-CN" altLang="zh-CN" dirty="0">
                <a:sym typeface="+mn-ea"/>
              </a:rPr>
              <a:t>（</a:t>
            </a:r>
            <a:r>
              <a:rPr lang="en-US" altLang="zh-CN" dirty="0">
                <a:sym typeface="+mn-ea"/>
              </a:rPr>
              <a:t>2</a:t>
            </a:r>
            <a:r>
              <a:rPr lang="zh-CN" altLang="zh-CN" dirty="0">
                <a:sym typeface="+mn-ea"/>
              </a:rPr>
              <a:t>）</a:t>
            </a:r>
            <a:r>
              <a:rPr lang="en-US" altLang="zh-CN" dirty="0">
                <a:sym typeface="+mn-ea"/>
              </a:rPr>
              <a:t>2×19</a:t>
            </a:r>
            <a:r>
              <a:rPr lang="zh-CN" altLang="zh-CN" dirty="0">
                <a:sym typeface="+mn-ea"/>
              </a:rPr>
              <a:t>年</a:t>
            </a:r>
            <a:r>
              <a:rPr lang="en-US" altLang="zh-CN" dirty="0">
                <a:sym typeface="+mn-ea"/>
              </a:rPr>
              <a:t>12</a:t>
            </a:r>
            <a:r>
              <a:rPr lang="zh-CN" altLang="zh-CN" dirty="0">
                <a:sym typeface="+mn-ea"/>
              </a:rPr>
              <a:t>月</a:t>
            </a:r>
            <a:r>
              <a:rPr lang="en-US" altLang="zh-CN" dirty="0">
                <a:sym typeface="+mn-ea"/>
              </a:rPr>
              <a:t>1</a:t>
            </a:r>
            <a:r>
              <a:rPr lang="zh-CN" altLang="zh-CN" dirty="0">
                <a:sym typeface="+mn-ea"/>
              </a:rPr>
              <a:t>日，经双方协商，同意将</a:t>
            </a:r>
            <a:r>
              <a:rPr lang="en-US" altLang="zh-CN" dirty="0">
                <a:sym typeface="+mn-ea"/>
              </a:rPr>
              <a:t>2×18</a:t>
            </a:r>
            <a:r>
              <a:rPr lang="zh-CN" altLang="zh-CN" dirty="0">
                <a:sym typeface="+mn-ea"/>
              </a:rPr>
              <a:t>年</a:t>
            </a:r>
            <a:r>
              <a:rPr lang="en-US" altLang="zh-CN" dirty="0">
                <a:sym typeface="+mn-ea"/>
              </a:rPr>
              <a:t>9</a:t>
            </a:r>
            <a:r>
              <a:rPr lang="zh-CN" altLang="zh-CN" dirty="0">
                <a:sym typeface="+mn-ea"/>
              </a:rPr>
              <a:t>月</a:t>
            </a:r>
            <a:r>
              <a:rPr lang="en-US" altLang="zh-CN" dirty="0">
                <a:sym typeface="+mn-ea"/>
              </a:rPr>
              <a:t>5</a:t>
            </a:r>
            <a:r>
              <a:rPr lang="zh-CN" altLang="zh-CN" dirty="0">
                <a:sym typeface="+mn-ea"/>
              </a:rPr>
              <a:t>日向</a:t>
            </a:r>
            <a:r>
              <a:rPr lang="en-US" altLang="zh-CN" dirty="0">
                <a:sym typeface="+mn-ea"/>
              </a:rPr>
              <a:t>C</a:t>
            </a:r>
            <a:r>
              <a:rPr lang="zh-CN" altLang="zh-CN" dirty="0">
                <a:sym typeface="+mn-ea"/>
              </a:rPr>
              <a:t>公司销售商品取得的应收账款</a:t>
            </a:r>
            <a:r>
              <a:rPr lang="en-US" altLang="zh-CN" dirty="0">
                <a:sym typeface="+mn-ea"/>
              </a:rPr>
              <a:t>565 000</a:t>
            </a:r>
            <a:r>
              <a:rPr lang="zh-CN" altLang="zh-CN" dirty="0">
                <a:sym typeface="+mn-ea"/>
              </a:rPr>
              <a:t>元（其中商品价款</a:t>
            </a:r>
            <a:r>
              <a:rPr lang="en-US" altLang="zh-CN" dirty="0">
                <a:sym typeface="+mn-ea"/>
              </a:rPr>
              <a:t>500 000</a:t>
            </a:r>
            <a:r>
              <a:rPr lang="zh-CN" altLang="zh-CN" dirty="0">
                <a:sym typeface="+mn-ea"/>
              </a:rPr>
              <a:t>元，增值税</a:t>
            </a:r>
            <a:r>
              <a:rPr lang="en-US" altLang="zh-CN" dirty="0">
                <a:sym typeface="+mn-ea"/>
              </a:rPr>
              <a:t>65 000</a:t>
            </a:r>
            <a:r>
              <a:rPr lang="zh-CN" altLang="zh-CN" dirty="0">
                <a:sym typeface="+mn-ea"/>
              </a:rPr>
              <a:t>元），改按商业汇票方式结算，并收到期限为</a:t>
            </a:r>
            <a:r>
              <a:rPr lang="en-US" altLang="zh-CN" dirty="0">
                <a:sym typeface="+mn-ea"/>
              </a:rPr>
              <a:t>6</a:t>
            </a:r>
            <a:r>
              <a:rPr lang="zh-CN" altLang="zh-CN" dirty="0">
                <a:sym typeface="+mn-ea"/>
              </a:rPr>
              <a:t>个月的不带息银行承兑汇票一张。</a:t>
            </a: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400" dirty="0">
                <a:latin typeface="黑体" panose="02010609060101010101" pitchFamily="49" charset="-122"/>
                <a:ea typeface="黑体" panose="02010609060101010101" pitchFamily="49" charset="-122"/>
                <a:sym typeface="+mn-ea"/>
              </a:rPr>
              <a:t>三、应收票据持有期间的利息</a:t>
            </a:r>
            <a:endParaRPr lang="zh-CN" altLang="en-US" dirty="0"/>
          </a:p>
        </p:txBody>
      </p:sp>
      <p:sp>
        <p:nvSpPr>
          <p:cNvPr id="3" name="内容占位符 2"/>
          <p:cNvSpPr>
            <a:spLocks noGrp="1"/>
          </p:cNvSpPr>
          <p:nvPr>
            <p:ph idx="1"/>
          </p:nvPr>
        </p:nvSpPr>
        <p:spPr>
          <a:xfrm>
            <a:off x="1012190" y="1877060"/>
            <a:ext cx="10363200" cy="2915920"/>
          </a:xfrm>
        </p:spPr>
        <p:txBody>
          <a:bodyPr/>
          <a:lstStyle/>
          <a:p>
            <a:pPr marL="0" indent="0">
              <a:buNone/>
            </a:pPr>
            <a:endParaRPr lang="en-US" altLang="zh-CN" dirty="0"/>
          </a:p>
          <a:p>
            <a:pPr lvl="1"/>
            <a:r>
              <a:rPr lang="zh-CN" altLang="zh-CN" dirty="0">
                <a:sym typeface="+mn-ea"/>
              </a:rPr>
              <a:t>带息票据到期之前，尽管利息尚未实际收到，但企业已经取得收取票据利息的权利。按照权责发生制的原则，企业应当在资产负债日将应收而未实际收到的利息作为应收债权，借记“应收票据”账户，贷记“财务费用”等账户。</a:t>
            </a:r>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200" dirty="0">
                <a:solidFill>
                  <a:schemeClr val="tx1"/>
                </a:solidFill>
                <a:latin typeface="黑体" panose="02010609060101010101" pitchFamily="49" charset="-122"/>
                <a:ea typeface="黑体" panose="02010609060101010101" pitchFamily="49" charset="-122"/>
                <a:cs typeface="+mn-cs"/>
                <a:sym typeface="+mn-ea"/>
              </a:rPr>
              <a:t>应收票据利息的计算</a:t>
            </a:r>
            <a:endParaRPr lang="zh-CN" altLang="en-US" dirty="0"/>
          </a:p>
        </p:txBody>
      </p:sp>
      <p:sp>
        <p:nvSpPr>
          <p:cNvPr id="3" name="内容占位符 2"/>
          <p:cNvSpPr>
            <a:spLocks noGrp="1"/>
          </p:cNvSpPr>
          <p:nvPr>
            <p:ph idx="1"/>
          </p:nvPr>
        </p:nvSpPr>
        <p:spPr>
          <a:xfrm>
            <a:off x="1534795" y="4309110"/>
            <a:ext cx="10363200" cy="1465580"/>
          </a:xfrm>
        </p:spPr>
        <p:txBody>
          <a:bodyPr/>
          <a:lstStyle/>
          <a:p>
            <a:pPr eaLnBrk="1" hangingPunct="1">
              <a:lnSpc>
                <a:spcPct val="170000"/>
              </a:lnSpc>
              <a:buFont typeface="Wingdings" panose="05000000000000000000" pitchFamily="2" charset="2"/>
              <a:buChar char="v"/>
            </a:pPr>
            <a:r>
              <a:rPr lang="zh-CN" altLang="en-US" sz="2800" dirty="0">
                <a:latin typeface="华文细黑" panose="02010600040101010101" pitchFamily="2" charset="-122"/>
                <a:ea typeface="华文细黑" panose="02010600040101010101" pitchFamily="2" charset="-122"/>
                <a:sym typeface="+mn-ea"/>
              </a:rPr>
              <a:t>   日：头算尾不算，尾算头不算（</a:t>
            </a:r>
            <a:r>
              <a:rPr lang="en-US" altLang="zh-CN" sz="2800" dirty="0">
                <a:latin typeface="华文细黑" panose="02010600040101010101" pitchFamily="2" charset="-122"/>
                <a:ea typeface="华文细黑" panose="02010600040101010101" pitchFamily="2" charset="-122"/>
                <a:sym typeface="+mn-ea"/>
              </a:rPr>
              <a:t>360</a:t>
            </a:r>
            <a:r>
              <a:rPr lang="zh-CN" altLang="en-US" sz="2800" dirty="0">
                <a:latin typeface="华文细黑" panose="02010600040101010101" pitchFamily="2" charset="-122"/>
                <a:ea typeface="华文细黑" panose="02010600040101010101" pitchFamily="2" charset="-122"/>
                <a:sym typeface="+mn-ea"/>
              </a:rPr>
              <a:t>）</a:t>
            </a:r>
            <a:endParaRPr lang="zh-CN" altLang="en-US" sz="2800" dirty="0">
              <a:latin typeface="华文细黑" panose="02010600040101010101" pitchFamily="2" charset="-122"/>
              <a:ea typeface="华文细黑" panose="02010600040101010101" pitchFamily="2" charset="-122"/>
            </a:endParaRPr>
          </a:p>
          <a:p>
            <a:pPr eaLnBrk="1" hangingPunct="1">
              <a:lnSpc>
                <a:spcPct val="70000"/>
              </a:lnSpc>
              <a:buFont typeface="Wingdings" panose="05000000000000000000" pitchFamily="2" charset="2"/>
              <a:buChar char="v"/>
            </a:pPr>
            <a:r>
              <a:rPr lang="zh-CN" altLang="en-US" sz="2800" dirty="0">
                <a:latin typeface="华文细黑" panose="02010600040101010101" pitchFamily="2" charset="-122"/>
                <a:ea typeface="华文细黑" panose="02010600040101010101" pitchFamily="2" charset="-122"/>
                <a:sym typeface="+mn-ea"/>
              </a:rPr>
              <a:t>   月：整月计算（</a:t>
            </a:r>
            <a:r>
              <a:rPr lang="en-US" altLang="zh-CN" sz="2800" dirty="0">
                <a:latin typeface="华文细黑" panose="02010600040101010101" pitchFamily="2" charset="-122"/>
                <a:ea typeface="华文细黑" panose="02010600040101010101" pitchFamily="2" charset="-122"/>
                <a:sym typeface="+mn-ea"/>
              </a:rPr>
              <a:t>12</a:t>
            </a:r>
            <a:r>
              <a:rPr lang="zh-CN" altLang="en-US" sz="2800" dirty="0">
                <a:latin typeface="华文细黑" panose="02010600040101010101" pitchFamily="2" charset="-122"/>
                <a:ea typeface="华文细黑" panose="02010600040101010101" pitchFamily="2" charset="-122"/>
                <a:sym typeface="+mn-ea"/>
              </a:rPr>
              <a:t>）</a:t>
            </a:r>
            <a:endParaRPr lang="zh-CN" altLang="en-US" dirty="0"/>
          </a:p>
        </p:txBody>
      </p:sp>
      <p:grpSp>
        <p:nvGrpSpPr>
          <p:cNvPr id="4" name="Group 2"/>
          <p:cNvGrpSpPr/>
          <p:nvPr/>
        </p:nvGrpSpPr>
        <p:grpSpPr bwMode="auto">
          <a:xfrm>
            <a:off x="2682240" y="2305050"/>
            <a:ext cx="6516688" cy="950913"/>
            <a:chOff x="986" y="1099"/>
            <a:chExt cx="4105" cy="599"/>
          </a:xfrm>
        </p:grpSpPr>
        <p:pic>
          <p:nvPicPr>
            <p:cNvPr id="19466" name="Picture 3" descr="40-green"/>
            <p:cNvPicPr>
              <a:picLocks noChangeAspect="1" noChangeArrowheads="1"/>
            </p:cNvPicPr>
            <p:nvPr/>
          </p:nvPicPr>
          <p:blipFill>
            <a:blip r:embed="rId2" cstate="print"/>
            <a:srcRect/>
            <a:stretch>
              <a:fillRect/>
            </a:stretch>
          </p:blipFill>
          <p:spPr bwMode="auto">
            <a:xfrm>
              <a:off x="986" y="1099"/>
              <a:ext cx="4105" cy="599"/>
            </a:xfrm>
            <a:prstGeom prst="rect">
              <a:avLst/>
            </a:prstGeom>
            <a:noFill/>
            <a:ln w="9525">
              <a:noFill/>
              <a:miter lim="800000"/>
              <a:headEnd/>
              <a:tailEnd/>
            </a:ln>
          </p:spPr>
        </p:pic>
        <p:sp>
          <p:nvSpPr>
            <p:cNvPr id="5" name="Text Box 4"/>
            <p:cNvSpPr txBox="1">
              <a:spLocks noChangeArrowheads="1"/>
            </p:cNvSpPr>
            <p:nvPr/>
          </p:nvSpPr>
          <p:spPr bwMode="auto">
            <a:xfrm>
              <a:off x="1250" y="1235"/>
              <a:ext cx="3578" cy="327"/>
            </a:xfrm>
            <a:prstGeom prst="rect">
              <a:avLst/>
            </a:prstGeom>
            <a:noFill/>
            <a:ln w="12700">
              <a:noFill/>
              <a:miter lim="800000"/>
            </a:ln>
          </p:spPr>
          <p:txBody>
            <a:bodyPr>
              <a:spAutoFit/>
            </a:bodyPr>
            <a:lstStyle/>
            <a:p>
              <a:r>
                <a:rPr kumimoji="0" lang="zh-CN" altLang="en-US" sz="28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宋体" panose="02010600030101010101" pitchFamily="2" charset="-122"/>
                </a:rPr>
                <a:t>利息</a:t>
              </a:r>
              <a:r>
                <a:rPr kumimoji="0" lang="en-US" altLang="zh-CN" sz="28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宋体" panose="02010600030101010101" pitchFamily="2" charset="-122"/>
                </a:rPr>
                <a:t>=</a:t>
              </a:r>
              <a:r>
                <a:rPr kumimoji="0" lang="zh-CN" altLang="en-US" sz="28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宋体" panose="02010600030101010101" pitchFamily="2" charset="-122"/>
                </a:rPr>
                <a:t>本金</a:t>
              </a:r>
              <a:r>
                <a:rPr kumimoji="0" lang="en-US" altLang="zh-CN" sz="28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宋体" panose="02010600030101010101" pitchFamily="2" charset="-122"/>
                </a:rPr>
                <a:t>×</a:t>
              </a:r>
              <a:r>
                <a:rPr kumimoji="0" lang="zh-CN" altLang="en-US" sz="28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宋体" panose="02010600030101010101" pitchFamily="2" charset="-122"/>
                </a:rPr>
                <a:t>利率</a:t>
              </a:r>
              <a:r>
                <a:rPr kumimoji="0" lang="en-US" altLang="zh-CN" sz="28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宋体" panose="02010600030101010101" pitchFamily="2" charset="-122"/>
                </a:rPr>
                <a:t>×</a:t>
              </a:r>
              <a:r>
                <a:rPr kumimoji="0" lang="zh-CN" altLang="en-US" sz="28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宋体" panose="02010600030101010101" pitchFamily="2" charset="-122"/>
                </a:rPr>
                <a:t>期间</a:t>
              </a:r>
            </a:p>
          </p:txBody>
        </p:sp>
      </p:grpSp>
      <p:sp>
        <p:nvSpPr>
          <p:cNvPr id="405514" name="Line 10"/>
          <p:cNvSpPr>
            <a:spLocks noChangeShapeType="1"/>
          </p:cNvSpPr>
          <p:nvPr/>
        </p:nvSpPr>
        <p:spPr bwMode="auto">
          <a:xfrm>
            <a:off x="6601778" y="3165793"/>
            <a:ext cx="0" cy="1143000"/>
          </a:xfrm>
          <a:prstGeom prst="line">
            <a:avLst/>
          </a:prstGeom>
          <a:noFill/>
          <a:ln w="38100">
            <a:solidFill>
              <a:srgbClr val="FF6600"/>
            </a:solidFill>
            <a:miter lim="800000"/>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a typeface="宋体" panose="02010600030101010101" pitchFamily="2" charset="-122"/>
            </a:endParaRPr>
          </a:p>
        </p:txBody>
      </p:sp>
      <p:sp>
        <p:nvSpPr>
          <p:cNvPr id="19467" name="Text Box 11"/>
          <p:cNvSpPr txBox="1">
            <a:spLocks noChangeArrowheads="1"/>
          </p:cNvSpPr>
          <p:nvPr/>
        </p:nvSpPr>
        <p:spPr bwMode="auto">
          <a:xfrm>
            <a:off x="7044055" y="3537585"/>
            <a:ext cx="1969135" cy="460375"/>
          </a:xfrm>
          <a:prstGeom prst="rect">
            <a:avLst/>
          </a:prstGeom>
          <a:noFill/>
          <a:ln w="9525">
            <a:noFill/>
            <a:miter lim="800000"/>
          </a:ln>
        </p:spPr>
        <p:txBody>
          <a:bodyPr wrap="square">
            <a:spAutoFit/>
            <a:scene3d>
              <a:camera prst="orthographicFront"/>
              <a:lightRig rig="soft" dir="t">
                <a:rot lat="0" lon="0" rev="15600000"/>
              </a:lightRig>
            </a:scene3d>
            <a:sp3d extrusionH="57150" prstMaterial="softEdge">
              <a:bevelT w="25400" h="38100"/>
            </a:sp3d>
          </a:bodyPr>
          <a:lstStyle/>
          <a:p>
            <a:r>
              <a:rPr kumimoji="0" lang="zh-CN" altLang="en-US" sz="2400" b="1" kern="0" dirty="0">
                <a:solidFill>
                  <a:srgbClr val="FF0000"/>
                </a:solidFill>
                <a:effectLst/>
                <a:latin typeface="+mn-ea"/>
                <a:cs typeface="+mn-ea"/>
              </a:rPr>
              <a:t>年</a:t>
            </a:r>
            <a:r>
              <a:rPr kumimoji="0" lang="zh-CN" altLang="en-US" sz="2400" b="1" kern="0" dirty="0">
                <a:solidFill>
                  <a:schemeClr val="accent4"/>
                </a:solidFill>
                <a:latin typeface="+mn-ea"/>
                <a:cs typeface="+mn-ea"/>
              </a:rPr>
              <a:t>、月和日</a:t>
            </a:r>
          </a:p>
        </p:txBody>
      </p:sp>
      <p:sp>
        <p:nvSpPr>
          <p:cNvPr id="405513" name="Line 9"/>
          <p:cNvSpPr>
            <a:spLocks noChangeShapeType="1"/>
          </p:cNvSpPr>
          <p:nvPr/>
        </p:nvSpPr>
        <p:spPr bwMode="auto">
          <a:xfrm>
            <a:off x="5442585" y="3238500"/>
            <a:ext cx="0" cy="381000"/>
          </a:xfrm>
          <a:prstGeom prst="line">
            <a:avLst/>
          </a:prstGeom>
          <a:noFill/>
          <a:ln w="38100">
            <a:solidFill>
              <a:srgbClr val="FF6600"/>
            </a:solidFill>
            <a:miter lim="800000"/>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a typeface="宋体" panose="02010600030101010101" pitchFamily="2" charset="-122"/>
            </a:endParaRPr>
          </a:p>
        </p:txBody>
      </p:sp>
      <p:sp>
        <p:nvSpPr>
          <p:cNvPr id="405512" name="Line 8"/>
          <p:cNvSpPr>
            <a:spLocks noChangeShapeType="1"/>
          </p:cNvSpPr>
          <p:nvPr/>
        </p:nvSpPr>
        <p:spPr bwMode="auto">
          <a:xfrm flipH="1">
            <a:off x="3464560" y="3260408"/>
            <a:ext cx="609600" cy="381000"/>
          </a:xfrm>
          <a:prstGeom prst="line">
            <a:avLst/>
          </a:prstGeom>
          <a:noFill/>
          <a:ln w="38100">
            <a:solidFill>
              <a:srgbClr val="FF6600"/>
            </a:solidFill>
            <a:miter lim="800000"/>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a typeface="宋体" panose="02010600030101010101" pitchFamily="2" charset="-122"/>
            </a:endParaRPr>
          </a:p>
        </p:txBody>
      </p:sp>
      <p:sp>
        <p:nvSpPr>
          <p:cNvPr id="7" name="文本框 6"/>
          <p:cNvSpPr txBox="1"/>
          <p:nvPr/>
        </p:nvSpPr>
        <p:spPr>
          <a:xfrm>
            <a:off x="4137025" y="3787140"/>
            <a:ext cx="2611755" cy="521970"/>
          </a:xfrm>
          <a:prstGeom prst="rect">
            <a:avLst/>
          </a:prstGeom>
          <a:noFill/>
        </p:spPr>
        <p:txBody>
          <a:bodyPr wrap="square" rtlCol="0">
            <a:spAutoFit/>
          </a:bodyPr>
          <a:lstStyle/>
          <a:p>
            <a:pPr lvl="0" algn="l">
              <a:buClrTx/>
              <a:buSzTx/>
              <a:buFontTx/>
            </a:pPr>
            <a:r>
              <a:rPr lang="zh-CN" altLang="en-US" sz="2800" b="1" kern="0" dirty="0">
                <a:latin typeface="华文细黑" panose="02010600040101010101" pitchFamily="2" charset="-122"/>
                <a:ea typeface="华文细黑" panose="02010600040101010101" pitchFamily="2" charset="-122"/>
                <a:sym typeface="+mn-ea"/>
              </a:rPr>
              <a:t>票面利率</a:t>
            </a:r>
          </a:p>
        </p:txBody>
      </p:sp>
      <p:sp>
        <p:nvSpPr>
          <p:cNvPr id="6" name="文本框 5"/>
          <p:cNvSpPr txBox="1"/>
          <p:nvPr/>
        </p:nvSpPr>
        <p:spPr>
          <a:xfrm>
            <a:off x="1256030" y="3787140"/>
            <a:ext cx="2818130" cy="521970"/>
          </a:xfrm>
          <a:prstGeom prst="rect">
            <a:avLst/>
          </a:prstGeom>
          <a:noFill/>
        </p:spPr>
        <p:txBody>
          <a:bodyPr wrap="square" rtlCol="0">
            <a:spAutoFit/>
          </a:bodyPr>
          <a:lstStyle/>
          <a:p>
            <a:r>
              <a:rPr lang="zh-CN" altLang="en-US" sz="2800" b="1" kern="0" dirty="0">
                <a:latin typeface="华文细黑" panose="02010600040101010101" pitchFamily="2" charset="-122"/>
                <a:ea typeface="华文细黑" panose="02010600040101010101" pitchFamily="2" charset="-122"/>
                <a:sym typeface="+mn-ea"/>
              </a:rPr>
              <a:t>应收票据的面值</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3" presetClass="entr" presetSubtype="10" fill="hold" nodeType="withEffect">
                                  <p:stCondLst>
                                    <p:cond delay="0"/>
                                  </p:stCondLst>
                                  <p:childTnLst>
                                    <p:set>
                                      <p:cBhvr>
                                        <p:cTn id="8" dur="1" fill="hold">
                                          <p:stCondLst>
                                            <p:cond delay="0"/>
                                          </p:stCondLst>
                                        </p:cTn>
                                        <p:tgtEl>
                                          <p:spTgt spid="405512"/>
                                        </p:tgtEl>
                                        <p:attrNameLst>
                                          <p:attrName>style.visibility</p:attrName>
                                        </p:attrNameLst>
                                      </p:cBhvr>
                                      <p:to>
                                        <p:strVal val="visible"/>
                                      </p:to>
                                    </p:set>
                                    <p:animEffect transition="in" filter="blinds(horizontal)">
                                      <p:cBhvr>
                                        <p:cTn id="9" dur="500"/>
                                        <p:tgtEl>
                                          <p:spTgt spid="405512"/>
                                        </p:tgtEl>
                                      </p:cBhvr>
                                    </p:animEffect>
                                  </p:childTnLst>
                                </p:cTn>
                              </p:par>
                              <p:par>
                                <p:cTn id="10" presetID="1"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405513"/>
                                        </p:tgtEl>
                                        <p:attrNameLst>
                                          <p:attrName>style.visibility</p:attrName>
                                        </p:attrNameLst>
                                      </p:cBhvr>
                                      <p:to>
                                        <p:strVal val="visible"/>
                                      </p:to>
                                    </p:set>
                                    <p:animEffect transition="in" filter="blinds(horizontal)">
                                      <p:cBhvr>
                                        <p:cTn id="16" dur="500"/>
                                        <p:tgtEl>
                                          <p:spTgt spid="405513"/>
                                        </p:tgtEl>
                                      </p:cBhvr>
                                    </p:animEffec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405514"/>
                                        </p:tgtEl>
                                        <p:attrNameLst>
                                          <p:attrName>style.visibility</p:attrName>
                                        </p:attrNameLst>
                                      </p:cBhvr>
                                      <p:to>
                                        <p:strVal val="visible"/>
                                      </p:to>
                                    </p:set>
                                    <p:animEffect transition="in" filter="blinds(horizontal)">
                                      <p:cBhvr>
                                        <p:cTn id="23" dur="500"/>
                                        <p:tgtEl>
                                          <p:spTgt spid="405514"/>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9467"/>
                                        </p:tgtEl>
                                        <p:attrNameLst>
                                          <p:attrName>style.visibility</p:attrName>
                                        </p:attrNameLst>
                                      </p:cBhvr>
                                      <p:to>
                                        <p:strVal val="visible"/>
                                      </p:to>
                                    </p:set>
                                    <p:animEffect transition="in" filter="blinds(horizontal)">
                                      <p:cBhvr>
                                        <p:cTn id="26" dur="500"/>
                                        <p:tgtEl>
                                          <p:spTgt spid="19467"/>
                                        </p:tgtEl>
                                      </p:cBhvr>
                                    </p:animEffect>
                                  </p:childTnLst>
                                </p:cTn>
                              </p:par>
                              <p:par>
                                <p:cTn id="27" presetID="1" presetClass="entr" presetSubtype="0" fill="hold" grpId="0" nodeType="with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9467" grpId="0"/>
      <p:bldP spid="7" grpId="0"/>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a:xfrm>
            <a:off x="914612" y="2004378"/>
            <a:ext cx="10363200" cy="4114800"/>
          </a:xfrm>
        </p:spPr>
        <p:txBody>
          <a:bodyPr/>
          <a:lstStyle/>
          <a:p>
            <a:pPr marL="457200" lvl="1" indent="0">
              <a:buNone/>
            </a:pPr>
            <a:r>
              <a:rPr lang="zh-CN" altLang="zh-CN" dirty="0">
                <a:sym typeface="+mn-ea"/>
              </a:rPr>
              <a:t>【例</a:t>
            </a:r>
            <a:r>
              <a:rPr lang="en-US" altLang="zh-CN" dirty="0">
                <a:sym typeface="+mn-ea"/>
              </a:rPr>
              <a:t>3-2</a:t>
            </a:r>
            <a:r>
              <a:rPr lang="zh-CN" altLang="zh-CN" dirty="0">
                <a:sym typeface="+mn-ea"/>
              </a:rPr>
              <a:t>】</a:t>
            </a:r>
            <a:r>
              <a:rPr lang="en-US" altLang="zh-CN" dirty="0">
                <a:sym typeface="+mn-ea"/>
              </a:rPr>
              <a:t>A</a:t>
            </a:r>
            <a:r>
              <a:rPr lang="zh-CN" altLang="zh-CN" dirty="0">
                <a:sym typeface="+mn-ea"/>
              </a:rPr>
              <a:t>公司</a:t>
            </a:r>
            <a:r>
              <a:rPr lang="en-US" altLang="zh-CN" dirty="0">
                <a:sym typeface="+mn-ea"/>
              </a:rPr>
              <a:t>2×18</a:t>
            </a:r>
            <a:r>
              <a:rPr lang="zh-CN" altLang="zh-CN" dirty="0">
                <a:sym typeface="+mn-ea"/>
              </a:rPr>
              <a:t>年有关应收票据的业务如下：</a:t>
            </a:r>
            <a:endParaRPr lang="zh-CN" altLang="zh-CN" dirty="0"/>
          </a:p>
          <a:p>
            <a:pPr lvl="1"/>
            <a:r>
              <a:rPr lang="zh-CN" altLang="zh-CN" dirty="0">
                <a:sym typeface="+mn-ea"/>
              </a:rPr>
              <a:t>（</a:t>
            </a:r>
            <a:r>
              <a:rPr lang="en-US" altLang="zh-CN" dirty="0">
                <a:sym typeface="+mn-ea"/>
              </a:rPr>
              <a:t>1</a:t>
            </a:r>
            <a:r>
              <a:rPr lang="zh-CN" altLang="zh-CN" dirty="0">
                <a:sym typeface="+mn-ea"/>
              </a:rPr>
              <a:t>）</a:t>
            </a:r>
            <a:r>
              <a:rPr lang="en-US" altLang="zh-CN" dirty="0">
                <a:sym typeface="+mn-ea"/>
              </a:rPr>
              <a:t>2×19</a:t>
            </a:r>
            <a:r>
              <a:rPr lang="zh-CN" altLang="zh-CN" dirty="0">
                <a:sym typeface="+mn-ea"/>
              </a:rPr>
              <a:t>年</a:t>
            </a:r>
            <a:r>
              <a:rPr lang="en-US" altLang="zh-CN" dirty="0">
                <a:sym typeface="+mn-ea"/>
              </a:rPr>
              <a:t>11</a:t>
            </a:r>
            <a:r>
              <a:rPr lang="zh-CN" altLang="zh-CN" dirty="0">
                <a:sym typeface="+mn-ea"/>
              </a:rPr>
              <a:t>月</a:t>
            </a:r>
            <a:r>
              <a:rPr lang="en-US" altLang="zh-CN" dirty="0">
                <a:sym typeface="+mn-ea"/>
              </a:rPr>
              <a:t>1</a:t>
            </a:r>
            <a:r>
              <a:rPr lang="zh-CN" altLang="zh-CN" dirty="0">
                <a:sym typeface="+mn-ea"/>
              </a:rPr>
              <a:t>日销售一批商品给</a:t>
            </a:r>
            <a:r>
              <a:rPr lang="en-US" altLang="zh-CN" dirty="0">
                <a:sym typeface="+mn-ea"/>
              </a:rPr>
              <a:t>B</a:t>
            </a:r>
            <a:r>
              <a:rPr lang="zh-CN" altLang="zh-CN" dirty="0">
                <a:sym typeface="+mn-ea"/>
              </a:rPr>
              <a:t>公司，售价</a:t>
            </a:r>
            <a:r>
              <a:rPr lang="en-US" altLang="zh-CN" dirty="0">
                <a:sym typeface="+mn-ea"/>
              </a:rPr>
              <a:t>1 000 000</a:t>
            </a:r>
            <a:r>
              <a:rPr lang="zh-CN" altLang="zh-CN" dirty="0">
                <a:sym typeface="+mn-ea"/>
              </a:rPr>
              <a:t>元，增值税率为</a:t>
            </a:r>
            <a:r>
              <a:rPr lang="en-US" altLang="zh-CN" dirty="0">
                <a:sym typeface="+mn-ea"/>
              </a:rPr>
              <a:t>13%</a:t>
            </a:r>
            <a:r>
              <a:rPr lang="zh-CN" altLang="zh-CN" dirty="0">
                <a:sym typeface="+mn-ea"/>
              </a:rPr>
              <a:t>，当天收到</a:t>
            </a:r>
            <a:r>
              <a:rPr lang="en-US" altLang="zh-CN" dirty="0">
                <a:sym typeface="+mn-ea"/>
              </a:rPr>
              <a:t>B</a:t>
            </a:r>
            <a:r>
              <a:rPr lang="zh-CN" altLang="zh-CN" dirty="0">
                <a:sym typeface="+mn-ea"/>
              </a:rPr>
              <a:t>公司开出的商业承兑汇票一张，票面金额</a:t>
            </a:r>
            <a:r>
              <a:rPr lang="en-US" altLang="zh-CN" dirty="0">
                <a:sym typeface="+mn-ea"/>
              </a:rPr>
              <a:t>1 130 000</a:t>
            </a:r>
            <a:r>
              <a:rPr lang="zh-CN" altLang="zh-CN" dirty="0">
                <a:sym typeface="+mn-ea"/>
              </a:rPr>
              <a:t>元，票面利率</a:t>
            </a:r>
            <a:r>
              <a:rPr lang="en-US" altLang="zh-CN" dirty="0">
                <a:sym typeface="+mn-ea"/>
              </a:rPr>
              <a:t>6%</a:t>
            </a:r>
            <a:r>
              <a:rPr lang="zh-CN" altLang="zh-CN" dirty="0">
                <a:sym typeface="+mn-ea"/>
              </a:rPr>
              <a:t>，期限</a:t>
            </a:r>
            <a:r>
              <a:rPr lang="en-US" altLang="zh-CN" dirty="0">
                <a:sym typeface="+mn-ea"/>
              </a:rPr>
              <a:t>3</a:t>
            </a:r>
            <a:r>
              <a:rPr lang="zh-CN" altLang="zh-CN" dirty="0">
                <a:sym typeface="+mn-ea"/>
              </a:rPr>
              <a:t>个月。</a:t>
            </a:r>
            <a:endParaRPr lang="en-US" altLang="zh-CN" dirty="0"/>
          </a:p>
          <a:p>
            <a:pPr lvl="1"/>
            <a:endParaRPr lang="en-US" altLang="zh-CN" dirty="0"/>
          </a:p>
          <a:p>
            <a:pPr lvl="1"/>
            <a:r>
              <a:rPr lang="zh-CN" altLang="zh-CN" dirty="0">
                <a:sym typeface="+mn-ea"/>
              </a:rPr>
              <a:t>假定</a:t>
            </a:r>
            <a:r>
              <a:rPr lang="en-US" altLang="zh-CN" dirty="0">
                <a:sym typeface="+mn-ea"/>
              </a:rPr>
              <a:t>A</a:t>
            </a:r>
            <a:r>
              <a:rPr lang="zh-CN" altLang="zh-CN" dirty="0">
                <a:sym typeface="+mn-ea"/>
              </a:rPr>
              <a:t>公司于年末计提应收票据的利息。</a:t>
            </a:r>
            <a:r>
              <a:rPr lang="en-US" altLang="zh-CN" dirty="0">
                <a:sym typeface="+mn-ea"/>
              </a:rPr>
              <a:t>2×18</a:t>
            </a:r>
            <a:r>
              <a:rPr lang="zh-CN" altLang="zh-CN" dirty="0">
                <a:sym typeface="+mn-ea"/>
              </a:rPr>
              <a:t>年</a:t>
            </a:r>
            <a:r>
              <a:rPr lang="en-US" altLang="zh-CN" dirty="0">
                <a:sym typeface="+mn-ea"/>
              </a:rPr>
              <a:t>12</a:t>
            </a:r>
            <a:r>
              <a:rPr lang="zh-CN" altLang="zh-CN" dirty="0">
                <a:sym typeface="+mn-ea"/>
              </a:rPr>
              <a:t>月</a:t>
            </a:r>
            <a:r>
              <a:rPr lang="en-US" altLang="zh-CN" dirty="0">
                <a:sym typeface="+mn-ea"/>
              </a:rPr>
              <a:t>31</a:t>
            </a:r>
            <a:r>
              <a:rPr lang="zh-CN" altLang="zh-CN" dirty="0">
                <a:sym typeface="+mn-ea"/>
              </a:rPr>
              <a:t>日</a:t>
            </a:r>
            <a:r>
              <a:rPr lang="en-US" altLang="zh-CN" dirty="0">
                <a:sym typeface="+mn-ea"/>
              </a:rPr>
              <a:t>A</a:t>
            </a:r>
            <a:r>
              <a:rPr lang="zh-CN" altLang="zh-CN" dirty="0">
                <a:sym typeface="+mn-ea"/>
              </a:rPr>
              <a:t>公司计提应收票据利息应如何进行会计处理？</a:t>
            </a: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400" dirty="0">
                <a:latin typeface="黑体" panose="02010609060101010101" pitchFamily="49" charset="-122"/>
                <a:ea typeface="黑体" panose="02010609060101010101" pitchFamily="49" charset="-122"/>
                <a:sym typeface="+mn-ea"/>
              </a:rPr>
              <a:t>四、应收票据到期</a:t>
            </a:r>
            <a:endParaRPr lang="zh-CN" altLang="en-US" dirty="0"/>
          </a:p>
        </p:txBody>
      </p:sp>
      <p:sp>
        <p:nvSpPr>
          <p:cNvPr id="3" name="内容占位符 2"/>
          <p:cNvSpPr>
            <a:spLocks noGrp="1"/>
          </p:cNvSpPr>
          <p:nvPr>
            <p:ph idx="1"/>
          </p:nvPr>
        </p:nvSpPr>
        <p:spPr>
          <a:xfrm>
            <a:off x="1055370" y="2057400"/>
            <a:ext cx="10363200" cy="2182495"/>
          </a:xfrm>
        </p:spPr>
        <p:txBody>
          <a:bodyPr/>
          <a:lstStyle/>
          <a:p>
            <a:pPr lvl="1"/>
            <a:r>
              <a:rPr lang="zh-CN" altLang="en-US" sz="2800" dirty="0">
                <a:latin typeface="楷体_GB2312" panose="02010609030101010101" pitchFamily="49" charset="-122"/>
                <a:ea typeface="楷体_GB2312" panose="02010609030101010101" pitchFamily="49" charset="-122"/>
                <a:cs typeface="+mn-ea"/>
                <a:sym typeface="+mn-ea"/>
              </a:rPr>
              <a:t>应收票据到期时，企业应当结清有关债权债务，转销应收票据。</a:t>
            </a:r>
          </a:p>
          <a:p>
            <a:pPr lvl="1"/>
            <a:r>
              <a:rPr lang="zh-CN" altLang="en-US" dirty="0">
                <a:cs typeface="+mn-ea"/>
                <a:sym typeface="+mn-ea"/>
              </a:rPr>
              <a:t>区分银行承兑汇票和商业承兑汇票</a:t>
            </a:r>
            <a:endParaRPr lang="zh-CN" altLang="en-US" dirty="0">
              <a:latin typeface="楷体_GB2312" panose="02010609030101010101" pitchFamily="49" charset="-122"/>
              <a:ea typeface="楷体_GB2312" panose="02010609030101010101" pitchFamily="49" charset="-122"/>
              <a:cs typeface="+mn-ea"/>
            </a:endParaRPr>
          </a:p>
          <a:p>
            <a:pPr lvl="1"/>
            <a:r>
              <a:rPr lang="zh-CN" altLang="en-US" dirty="0">
                <a:cs typeface="+mn-ea"/>
                <a:sym typeface="+mn-ea"/>
              </a:rPr>
              <a:t>区分不带息票据和带息票据</a:t>
            </a:r>
            <a:endParaRPr lang="zh-CN" altLang="en-US" dirty="0"/>
          </a:p>
        </p:txBody>
      </p:sp>
      <p:grpSp>
        <p:nvGrpSpPr>
          <p:cNvPr id="4" name="Group 2"/>
          <p:cNvGrpSpPr/>
          <p:nvPr/>
        </p:nvGrpSpPr>
        <p:grpSpPr bwMode="auto">
          <a:xfrm>
            <a:off x="2978150" y="4621530"/>
            <a:ext cx="6516688" cy="950913"/>
            <a:chOff x="986" y="1099"/>
            <a:chExt cx="4105" cy="599"/>
          </a:xfrm>
        </p:grpSpPr>
        <p:pic>
          <p:nvPicPr>
            <p:cNvPr id="5" name="Picture 3" descr="40-green"/>
            <p:cNvPicPr>
              <a:picLocks noChangeAspect="1" noChangeArrowheads="1"/>
            </p:cNvPicPr>
            <p:nvPr/>
          </p:nvPicPr>
          <p:blipFill>
            <a:blip r:embed="rId2" cstate="print"/>
            <a:srcRect/>
            <a:stretch>
              <a:fillRect/>
            </a:stretch>
          </p:blipFill>
          <p:spPr bwMode="auto">
            <a:xfrm>
              <a:off x="986" y="1099"/>
              <a:ext cx="4105" cy="599"/>
            </a:xfrm>
            <a:prstGeom prst="rect">
              <a:avLst/>
            </a:prstGeom>
            <a:noFill/>
            <a:ln w="9525">
              <a:noFill/>
              <a:miter lim="800000"/>
              <a:headEnd/>
              <a:tailEnd/>
            </a:ln>
          </p:spPr>
        </p:pic>
        <p:sp>
          <p:nvSpPr>
            <p:cNvPr id="6" name="Text Box 4"/>
            <p:cNvSpPr txBox="1">
              <a:spLocks noChangeArrowheads="1"/>
            </p:cNvSpPr>
            <p:nvPr/>
          </p:nvSpPr>
          <p:spPr bwMode="auto">
            <a:xfrm>
              <a:off x="1240" y="1199"/>
              <a:ext cx="3578" cy="327"/>
            </a:xfrm>
            <a:prstGeom prst="rect">
              <a:avLst/>
            </a:prstGeom>
            <a:noFill/>
            <a:ln w="12700">
              <a:noFill/>
              <a:miter lim="800000"/>
            </a:ln>
          </p:spPr>
          <p:txBody>
            <a:bodyPr>
              <a:spAutoFit/>
            </a:bodyPr>
            <a:lstStyle/>
            <a:p>
              <a:r>
                <a:rPr kumimoji="0" lang="zh-CN" altLang="en-US" sz="28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宋体" panose="02010600030101010101" pitchFamily="2" charset="-122"/>
                </a:rPr>
                <a:t>利息</a:t>
              </a:r>
              <a:r>
                <a:rPr kumimoji="0" lang="en-US" altLang="zh-CN" sz="28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宋体" panose="02010600030101010101" pitchFamily="2" charset="-122"/>
                </a:rPr>
                <a:t>=</a:t>
              </a:r>
              <a:r>
                <a:rPr kumimoji="0" lang="zh-CN" altLang="en-US" sz="28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宋体" panose="02010600030101010101" pitchFamily="2" charset="-122"/>
                </a:rPr>
                <a:t>本金</a:t>
              </a:r>
              <a:r>
                <a:rPr kumimoji="0" lang="en-US" altLang="zh-CN" sz="28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宋体" panose="02010600030101010101" pitchFamily="2" charset="-122"/>
                </a:rPr>
                <a:t>×</a:t>
              </a:r>
              <a:r>
                <a:rPr kumimoji="0" lang="zh-CN" altLang="en-US" sz="28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宋体" panose="02010600030101010101" pitchFamily="2" charset="-122"/>
                </a:rPr>
                <a:t>利率</a:t>
              </a:r>
              <a:r>
                <a:rPr kumimoji="0" lang="en-US" altLang="zh-CN" sz="28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宋体" panose="02010600030101010101" pitchFamily="2" charset="-122"/>
                </a:rPr>
                <a:t>×</a:t>
              </a:r>
              <a:r>
                <a:rPr kumimoji="0" lang="zh-CN" altLang="en-US" sz="28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宋体" panose="02010600030101010101" pitchFamily="2" charset="-122"/>
                </a:rPr>
                <a:t>期间</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a:xfrm>
            <a:off x="914612" y="1990408"/>
            <a:ext cx="10363200" cy="4114800"/>
          </a:xfrm>
        </p:spPr>
        <p:txBody>
          <a:bodyPr/>
          <a:lstStyle/>
          <a:p>
            <a:pPr marL="457200" lvl="1" indent="0">
              <a:buNone/>
            </a:pPr>
            <a:r>
              <a:rPr lang="zh-CN" altLang="zh-CN" dirty="0">
                <a:sym typeface="+mn-ea"/>
              </a:rPr>
              <a:t>【例</a:t>
            </a:r>
            <a:r>
              <a:rPr lang="en-US" altLang="zh-CN" dirty="0">
                <a:sym typeface="+mn-ea"/>
              </a:rPr>
              <a:t>3-3</a:t>
            </a:r>
            <a:r>
              <a:rPr lang="zh-CN" altLang="zh-CN" dirty="0">
                <a:sym typeface="+mn-ea"/>
              </a:rPr>
              <a:t>】</a:t>
            </a:r>
            <a:r>
              <a:rPr lang="en-US" altLang="zh-CN" dirty="0">
                <a:sym typeface="+mn-ea"/>
              </a:rPr>
              <a:t>A</a:t>
            </a:r>
            <a:r>
              <a:rPr lang="zh-CN" altLang="zh-CN" dirty="0">
                <a:sym typeface="+mn-ea"/>
              </a:rPr>
              <a:t>公司</a:t>
            </a:r>
            <a:r>
              <a:rPr lang="en-US" altLang="zh-CN" dirty="0">
                <a:sym typeface="+mn-ea"/>
              </a:rPr>
              <a:t>2×19</a:t>
            </a:r>
            <a:r>
              <a:rPr lang="zh-CN" altLang="zh-CN" dirty="0">
                <a:sym typeface="+mn-ea"/>
              </a:rPr>
              <a:t>年有关应收票据的业务如下：</a:t>
            </a:r>
            <a:endParaRPr lang="zh-CN" altLang="zh-CN" dirty="0"/>
          </a:p>
          <a:p>
            <a:pPr lvl="1"/>
            <a:r>
              <a:rPr lang="zh-CN" altLang="zh-CN" dirty="0">
                <a:sym typeface="+mn-ea"/>
              </a:rPr>
              <a:t>（</a:t>
            </a:r>
            <a:r>
              <a:rPr lang="en-US" altLang="zh-CN" dirty="0">
                <a:sym typeface="+mn-ea"/>
              </a:rPr>
              <a:t>1</a:t>
            </a:r>
            <a:r>
              <a:rPr lang="zh-CN" altLang="zh-CN" dirty="0">
                <a:sym typeface="+mn-ea"/>
              </a:rPr>
              <a:t>）</a:t>
            </a:r>
            <a:r>
              <a:rPr lang="en-US" altLang="zh-CN" dirty="0">
                <a:sym typeface="+mn-ea"/>
              </a:rPr>
              <a:t>2×19</a:t>
            </a:r>
            <a:r>
              <a:rPr lang="zh-CN" altLang="zh-CN" dirty="0">
                <a:sym typeface="+mn-ea"/>
              </a:rPr>
              <a:t>年</a:t>
            </a:r>
            <a:r>
              <a:rPr lang="en-US" altLang="zh-CN" dirty="0">
                <a:sym typeface="+mn-ea"/>
              </a:rPr>
              <a:t>11</a:t>
            </a:r>
            <a:r>
              <a:rPr lang="zh-CN" altLang="zh-CN" dirty="0">
                <a:sym typeface="+mn-ea"/>
              </a:rPr>
              <a:t>月</a:t>
            </a:r>
            <a:r>
              <a:rPr lang="en-US" altLang="zh-CN" dirty="0">
                <a:sym typeface="+mn-ea"/>
              </a:rPr>
              <a:t>1</a:t>
            </a:r>
            <a:r>
              <a:rPr lang="zh-CN" altLang="zh-CN" dirty="0">
                <a:sym typeface="+mn-ea"/>
              </a:rPr>
              <a:t>日销售一批商品给</a:t>
            </a:r>
            <a:r>
              <a:rPr lang="en-US" altLang="zh-CN" dirty="0">
                <a:sym typeface="+mn-ea"/>
              </a:rPr>
              <a:t>B</a:t>
            </a:r>
            <a:r>
              <a:rPr lang="zh-CN" altLang="zh-CN" dirty="0">
                <a:sym typeface="+mn-ea"/>
              </a:rPr>
              <a:t>公司，售价</a:t>
            </a:r>
            <a:r>
              <a:rPr lang="en-US" altLang="zh-CN" dirty="0">
                <a:sym typeface="+mn-ea"/>
              </a:rPr>
              <a:t>1 000 000</a:t>
            </a:r>
            <a:r>
              <a:rPr lang="zh-CN" altLang="zh-CN" dirty="0">
                <a:sym typeface="+mn-ea"/>
              </a:rPr>
              <a:t>元，增值税率为</a:t>
            </a:r>
            <a:r>
              <a:rPr lang="en-US" altLang="zh-CN" dirty="0">
                <a:sym typeface="+mn-ea"/>
              </a:rPr>
              <a:t>13%</a:t>
            </a:r>
            <a:r>
              <a:rPr lang="zh-CN" altLang="zh-CN" dirty="0">
                <a:sym typeface="+mn-ea"/>
              </a:rPr>
              <a:t>，当天收到</a:t>
            </a:r>
            <a:r>
              <a:rPr lang="en-US" altLang="zh-CN" dirty="0">
                <a:sym typeface="+mn-ea"/>
              </a:rPr>
              <a:t>B</a:t>
            </a:r>
            <a:r>
              <a:rPr lang="zh-CN" altLang="zh-CN" dirty="0">
                <a:sym typeface="+mn-ea"/>
              </a:rPr>
              <a:t>公司开出的商业承兑汇票一张，票面金额</a:t>
            </a:r>
            <a:r>
              <a:rPr lang="en-US" altLang="zh-CN" dirty="0">
                <a:sym typeface="+mn-ea"/>
              </a:rPr>
              <a:t>1 130 000</a:t>
            </a:r>
            <a:r>
              <a:rPr lang="zh-CN" altLang="zh-CN" dirty="0">
                <a:sym typeface="+mn-ea"/>
              </a:rPr>
              <a:t>元，票面利率</a:t>
            </a:r>
            <a:r>
              <a:rPr lang="en-US" altLang="zh-CN" dirty="0">
                <a:sym typeface="+mn-ea"/>
              </a:rPr>
              <a:t>6%</a:t>
            </a:r>
            <a:r>
              <a:rPr lang="zh-CN" altLang="zh-CN" dirty="0">
                <a:sym typeface="+mn-ea"/>
              </a:rPr>
              <a:t>，期限</a:t>
            </a:r>
            <a:r>
              <a:rPr lang="en-US" altLang="zh-CN" dirty="0">
                <a:sym typeface="+mn-ea"/>
              </a:rPr>
              <a:t>3</a:t>
            </a:r>
            <a:r>
              <a:rPr lang="zh-CN" altLang="zh-CN" dirty="0">
                <a:sym typeface="+mn-ea"/>
              </a:rPr>
              <a:t>个月。</a:t>
            </a:r>
            <a:endParaRPr lang="en-US" altLang="zh-CN" dirty="0"/>
          </a:p>
          <a:p>
            <a:pPr lvl="1"/>
            <a:endParaRPr lang="en-US" altLang="zh-CN" dirty="0"/>
          </a:p>
          <a:p>
            <a:pPr lvl="1"/>
            <a:r>
              <a:rPr lang="zh-CN" altLang="zh-CN" dirty="0">
                <a:sym typeface="+mn-ea"/>
              </a:rPr>
              <a:t>假定</a:t>
            </a:r>
            <a:r>
              <a:rPr lang="en-US" altLang="zh-CN" dirty="0">
                <a:sym typeface="+mn-ea"/>
              </a:rPr>
              <a:t>A</a:t>
            </a:r>
            <a:r>
              <a:rPr lang="zh-CN" altLang="zh-CN" dirty="0">
                <a:sym typeface="+mn-ea"/>
              </a:rPr>
              <a:t>公司于年末计提应收票据的利息。</a:t>
            </a:r>
            <a:r>
              <a:rPr lang="en-US" altLang="zh-CN" dirty="0">
                <a:sym typeface="+mn-ea"/>
              </a:rPr>
              <a:t>2×18</a:t>
            </a:r>
            <a:r>
              <a:rPr lang="zh-CN" altLang="zh-CN" dirty="0">
                <a:sym typeface="+mn-ea"/>
              </a:rPr>
              <a:t>年</a:t>
            </a:r>
            <a:r>
              <a:rPr lang="en-US" altLang="zh-CN" dirty="0">
                <a:sym typeface="+mn-ea"/>
              </a:rPr>
              <a:t>12</a:t>
            </a:r>
            <a:r>
              <a:rPr lang="zh-CN" altLang="zh-CN" dirty="0">
                <a:sym typeface="+mn-ea"/>
              </a:rPr>
              <a:t>月</a:t>
            </a:r>
            <a:r>
              <a:rPr lang="en-US" altLang="zh-CN" dirty="0">
                <a:sym typeface="+mn-ea"/>
              </a:rPr>
              <a:t>31</a:t>
            </a:r>
            <a:r>
              <a:rPr lang="zh-CN" altLang="zh-CN" dirty="0">
                <a:sym typeface="+mn-ea"/>
              </a:rPr>
              <a:t>日</a:t>
            </a:r>
            <a:r>
              <a:rPr lang="en-US" altLang="zh-CN" dirty="0">
                <a:sym typeface="+mn-ea"/>
              </a:rPr>
              <a:t>A</a:t>
            </a:r>
            <a:r>
              <a:rPr lang="zh-CN" altLang="zh-CN" dirty="0">
                <a:sym typeface="+mn-ea"/>
              </a:rPr>
              <a:t>公司计提应收票据利息应如何进行会计处理？</a:t>
            </a:r>
            <a:endParaRPr lang="en-US" altLang="zh-CN" dirty="0"/>
          </a:p>
          <a:p>
            <a:pPr lvl="1"/>
            <a:r>
              <a:rPr lang="zh-CN" altLang="zh-CN" dirty="0">
                <a:sym typeface="+mn-ea"/>
              </a:rPr>
              <a:t>该票据于</a:t>
            </a:r>
            <a:r>
              <a:rPr lang="en-US" altLang="zh-CN" dirty="0">
                <a:sym typeface="+mn-ea"/>
              </a:rPr>
              <a:t>2×19</a:t>
            </a:r>
            <a:r>
              <a:rPr lang="zh-CN" altLang="zh-CN" dirty="0">
                <a:sym typeface="+mn-ea"/>
              </a:rPr>
              <a:t>年</a:t>
            </a:r>
            <a:r>
              <a:rPr lang="en-US" altLang="zh-CN" dirty="0">
                <a:sym typeface="+mn-ea"/>
              </a:rPr>
              <a:t>2</a:t>
            </a:r>
            <a:r>
              <a:rPr lang="zh-CN" altLang="zh-CN" dirty="0">
                <a:sym typeface="+mn-ea"/>
              </a:rPr>
              <a:t>月</a:t>
            </a:r>
            <a:r>
              <a:rPr lang="en-US" altLang="zh-CN" dirty="0">
                <a:sym typeface="+mn-ea"/>
              </a:rPr>
              <a:t>1</a:t>
            </a:r>
            <a:r>
              <a:rPr lang="zh-CN" altLang="zh-CN" dirty="0">
                <a:sym typeface="+mn-ea"/>
              </a:rPr>
              <a:t>日到期，到期值为</a:t>
            </a:r>
            <a:r>
              <a:rPr lang="zh-CN" altLang="en-US" dirty="0">
                <a:sym typeface="+mn-ea"/>
              </a:rPr>
              <a:t>？</a:t>
            </a:r>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200" dirty="0">
                <a:solidFill>
                  <a:schemeClr val="tx1"/>
                </a:solidFill>
                <a:latin typeface="黑体" panose="02010609060101010101" pitchFamily="49" charset="-122"/>
                <a:ea typeface="黑体" panose="02010609060101010101" pitchFamily="49" charset="-122"/>
                <a:cs typeface="+mn-cs"/>
                <a:sym typeface="+mn-ea"/>
              </a:rPr>
              <a:t>带息票据的会计处理</a:t>
            </a:r>
            <a:endParaRPr lang="zh-CN" altLang="en-US" dirty="0"/>
          </a:p>
        </p:txBody>
      </p:sp>
      <p:sp>
        <p:nvSpPr>
          <p:cNvPr id="414733" name="Rectangle 13"/>
          <p:cNvSpPr>
            <a:spLocks noChangeArrowheads="1"/>
          </p:cNvSpPr>
          <p:nvPr/>
        </p:nvSpPr>
        <p:spPr bwMode="auto">
          <a:xfrm>
            <a:off x="4444365" y="1945958"/>
            <a:ext cx="6046788" cy="1014730"/>
          </a:xfrm>
          <a:prstGeom prst="rect">
            <a:avLst/>
          </a:prstGeom>
          <a:noFill/>
          <a:ln w="38100" algn="ctr">
            <a:noFill/>
            <a:miter lim="800000"/>
          </a:ln>
          <a:effectLst>
            <a:prstShdw prst="shdw17" dist="17961" dir="2700000">
              <a:schemeClr val="tx2">
                <a:gamma/>
                <a:shade val="60000"/>
                <a:invGamma/>
              </a:schemeClr>
            </a:prstShdw>
          </a:effectLst>
        </p:spPr>
        <p:txBody>
          <a:bodyPr>
            <a:spAutoFit/>
          </a:bodyPr>
          <a:lstStyle/>
          <a:p>
            <a:pPr>
              <a:spcBef>
                <a:spcPct val="0"/>
              </a:spcBef>
              <a:defRPr/>
            </a:pPr>
            <a:r>
              <a:rPr kumimoji="0" lang="zh-CN" altLang="en-US" sz="2000" b="1" kern="0" dirty="0">
                <a:latin typeface="仿宋_GB2312" panose="02010609030101010101" pitchFamily="49" charset="-122"/>
                <a:ea typeface="仿宋_GB2312" panose="02010609030101010101" pitchFamily="49" charset="-122"/>
                <a:cs typeface="+mn-ea"/>
              </a:rPr>
              <a:t>借：应收票据（票据面值）</a:t>
            </a:r>
          </a:p>
          <a:p>
            <a:pPr>
              <a:spcBef>
                <a:spcPct val="0"/>
              </a:spcBef>
              <a:defRPr/>
            </a:pPr>
            <a:r>
              <a:rPr kumimoji="0" lang="zh-CN" altLang="en-US" sz="2000" b="1" kern="0" dirty="0">
                <a:latin typeface="仿宋_GB2312" panose="02010609030101010101" pitchFamily="49" charset="-122"/>
                <a:ea typeface="仿宋_GB2312" panose="02010609030101010101" pitchFamily="49" charset="-122"/>
                <a:cs typeface="+mn-ea"/>
              </a:rPr>
              <a:t>　贷：主营业务收入（其他业务收入、应收账款）</a:t>
            </a:r>
          </a:p>
          <a:p>
            <a:pPr>
              <a:spcBef>
                <a:spcPct val="0"/>
              </a:spcBef>
              <a:defRPr/>
            </a:pPr>
            <a:r>
              <a:rPr kumimoji="0" lang="zh-CN" altLang="en-US" sz="2000" b="1" kern="0" dirty="0">
                <a:latin typeface="仿宋_GB2312" panose="02010609030101010101" pitchFamily="49" charset="-122"/>
                <a:ea typeface="仿宋_GB2312" panose="02010609030101010101" pitchFamily="49" charset="-122"/>
                <a:cs typeface="+mn-ea"/>
              </a:rPr>
              <a:t>　　　应交税费－应交增值税（销项税额）</a:t>
            </a:r>
            <a:r>
              <a:rPr kumimoji="0" lang="zh-CN" altLang="en-US" sz="2000" dirty="0">
                <a:solidFill>
                  <a:schemeClr val="tx2"/>
                </a:solidFill>
                <a:latin typeface="宋体" panose="02010600030101010101" pitchFamily="2" charset="-122"/>
              </a:rPr>
              <a:t>　　　</a:t>
            </a:r>
            <a:r>
              <a:rPr kumimoji="0" lang="zh-CN" altLang="en-US" dirty="0">
                <a:effectLst>
                  <a:outerShdw blurRad="38100" dist="38100" dir="2700000" algn="tl">
                    <a:srgbClr val="000000"/>
                  </a:outerShdw>
                </a:effectLst>
                <a:latin typeface="Times New Roman" panose="02020603050405020304" pitchFamily="18" charset="0"/>
              </a:rPr>
              <a:t>                  </a:t>
            </a:r>
          </a:p>
        </p:txBody>
      </p:sp>
      <p:sp>
        <p:nvSpPr>
          <p:cNvPr id="414734" name="Rectangle 14"/>
          <p:cNvSpPr>
            <a:spLocks noChangeArrowheads="1"/>
          </p:cNvSpPr>
          <p:nvPr/>
        </p:nvSpPr>
        <p:spPr bwMode="auto">
          <a:xfrm>
            <a:off x="4444365" y="3123883"/>
            <a:ext cx="4572000" cy="706755"/>
          </a:xfrm>
          <a:prstGeom prst="rect">
            <a:avLst/>
          </a:prstGeom>
          <a:noFill/>
          <a:ln w="38100" algn="ctr">
            <a:noFill/>
            <a:miter lim="800000"/>
          </a:ln>
          <a:effectLst>
            <a:prstShdw prst="shdw17" dist="17961" dir="2700000">
              <a:schemeClr val="tx2">
                <a:gamma/>
                <a:shade val="60000"/>
                <a:invGamma/>
              </a:schemeClr>
            </a:prstShdw>
          </a:effectLst>
        </p:spPr>
        <p:txBody>
          <a:bodyPr>
            <a:spAutoFit/>
          </a:bodyPr>
          <a:lstStyle/>
          <a:p>
            <a:pPr>
              <a:defRPr/>
            </a:pPr>
            <a:r>
              <a:rPr kumimoji="0" lang="zh-CN" altLang="en-US" sz="2000" b="1" kern="0" dirty="0">
                <a:latin typeface="仿宋_GB2312" panose="02010609030101010101" pitchFamily="49" charset="-122"/>
                <a:ea typeface="仿宋_GB2312" panose="02010609030101010101" pitchFamily="49" charset="-122"/>
                <a:cs typeface="+mn-ea"/>
              </a:rPr>
              <a:t>借：应收票据</a:t>
            </a:r>
          </a:p>
          <a:p>
            <a:pPr>
              <a:defRPr/>
            </a:pPr>
            <a:r>
              <a:rPr kumimoji="0" lang="zh-CN" altLang="en-US" sz="2000" b="1" kern="0" dirty="0">
                <a:latin typeface="仿宋_GB2312" panose="02010609030101010101" pitchFamily="49" charset="-122"/>
                <a:ea typeface="仿宋_GB2312" panose="02010609030101010101" pitchFamily="49" charset="-122"/>
                <a:cs typeface="+mn-ea"/>
              </a:rPr>
              <a:t>   贷：财务费用</a:t>
            </a:r>
          </a:p>
        </p:txBody>
      </p:sp>
      <p:sp>
        <p:nvSpPr>
          <p:cNvPr id="414735" name="Rectangle 15"/>
          <p:cNvSpPr>
            <a:spLocks noChangeArrowheads="1"/>
          </p:cNvSpPr>
          <p:nvPr/>
        </p:nvSpPr>
        <p:spPr bwMode="auto">
          <a:xfrm>
            <a:off x="4444365" y="4139883"/>
            <a:ext cx="6167438" cy="1168400"/>
          </a:xfrm>
          <a:prstGeom prst="rect">
            <a:avLst/>
          </a:prstGeom>
          <a:noFill/>
          <a:ln w="38100" algn="ctr">
            <a:noFill/>
            <a:miter lim="800000"/>
          </a:ln>
          <a:effectLst>
            <a:prstShdw prst="shdw17" dist="17961" dir="2700000">
              <a:schemeClr val="tx2">
                <a:gamma/>
                <a:shade val="60000"/>
                <a:invGamma/>
              </a:schemeClr>
            </a:prstShdw>
          </a:effectLst>
        </p:spPr>
        <p:txBody>
          <a:bodyPr wrap="square">
            <a:spAutoFit/>
          </a:bodyPr>
          <a:lstStyle/>
          <a:p>
            <a:pPr>
              <a:spcBef>
                <a:spcPts val="600"/>
              </a:spcBef>
              <a:defRPr/>
            </a:pPr>
            <a:r>
              <a:rPr kumimoji="0" lang="zh-CN" altLang="en-US" sz="2000" b="1" kern="0" dirty="0">
                <a:latin typeface="仿宋_GB2312" panose="02010609030101010101" pitchFamily="49" charset="-122"/>
                <a:ea typeface="仿宋_GB2312" panose="02010609030101010101" pitchFamily="49" charset="-122"/>
                <a:cs typeface="+mn-ea"/>
              </a:rPr>
              <a:t>借：银行存款</a:t>
            </a:r>
          </a:p>
          <a:p>
            <a:pPr>
              <a:spcBef>
                <a:spcPts val="600"/>
              </a:spcBef>
              <a:defRPr/>
            </a:pPr>
            <a:r>
              <a:rPr kumimoji="0" lang="zh-CN" altLang="en-US" sz="2000" b="1" kern="0" dirty="0">
                <a:latin typeface="仿宋_GB2312" panose="02010609030101010101" pitchFamily="49" charset="-122"/>
                <a:ea typeface="仿宋_GB2312" panose="02010609030101010101" pitchFamily="49" charset="-122"/>
                <a:cs typeface="+mn-ea"/>
              </a:rPr>
              <a:t>   贷：应收票据（面值＋利息）</a:t>
            </a:r>
          </a:p>
          <a:p>
            <a:pPr>
              <a:spcBef>
                <a:spcPts val="600"/>
              </a:spcBef>
              <a:defRPr/>
            </a:pPr>
            <a:r>
              <a:rPr kumimoji="0" lang="zh-CN" altLang="en-US" sz="2000" b="1" kern="0" dirty="0">
                <a:latin typeface="仿宋_GB2312" panose="02010609030101010101" pitchFamily="49" charset="-122"/>
                <a:ea typeface="仿宋_GB2312" panose="02010609030101010101" pitchFamily="49" charset="-122"/>
                <a:cs typeface="+mn-ea"/>
              </a:rPr>
              <a:t>　　　 财务费用（未计提利息）</a:t>
            </a:r>
          </a:p>
        </p:txBody>
      </p:sp>
      <p:sp>
        <p:nvSpPr>
          <p:cNvPr id="17" name="Rectangle 15"/>
          <p:cNvSpPr>
            <a:spLocks noChangeArrowheads="1"/>
          </p:cNvSpPr>
          <p:nvPr/>
        </p:nvSpPr>
        <p:spPr bwMode="auto">
          <a:xfrm>
            <a:off x="4444365" y="5440998"/>
            <a:ext cx="6167438" cy="1168400"/>
          </a:xfrm>
          <a:prstGeom prst="rect">
            <a:avLst/>
          </a:prstGeom>
          <a:noFill/>
          <a:ln w="38100" algn="ctr">
            <a:noFill/>
            <a:miter lim="800000"/>
          </a:ln>
          <a:effectLst>
            <a:prstShdw prst="shdw17" dist="17961" dir="2700000">
              <a:schemeClr val="tx2">
                <a:gamma/>
                <a:shade val="60000"/>
                <a:invGamma/>
              </a:schemeClr>
            </a:prstShdw>
          </a:effectLst>
        </p:spPr>
        <p:txBody>
          <a:bodyPr wrap="square">
            <a:spAutoFit/>
          </a:bodyPr>
          <a:lstStyle/>
          <a:p>
            <a:pPr>
              <a:spcBef>
                <a:spcPts val="600"/>
              </a:spcBef>
              <a:defRPr/>
            </a:pPr>
            <a:r>
              <a:rPr kumimoji="0" lang="zh-CN" altLang="en-US" sz="2000" b="1" kern="0" dirty="0">
                <a:latin typeface="仿宋_GB2312" panose="02010609030101010101" pitchFamily="49" charset="-122"/>
                <a:ea typeface="仿宋_GB2312" panose="02010609030101010101" pitchFamily="49" charset="-122"/>
                <a:cs typeface="+mn-ea"/>
              </a:rPr>
              <a:t>借：应收账款</a:t>
            </a:r>
          </a:p>
          <a:p>
            <a:pPr>
              <a:spcBef>
                <a:spcPts val="600"/>
              </a:spcBef>
              <a:defRPr/>
            </a:pPr>
            <a:r>
              <a:rPr kumimoji="0" lang="zh-CN" altLang="en-US" sz="2000" b="1" kern="0" dirty="0">
                <a:latin typeface="仿宋_GB2312" panose="02010609030101010101" pitchFamily="49" charset="-122"/>
                <a:ea typeface="仿宋_GB2312" panose="02010609030101010101" pitchFamily="49" charset="-122"/>
                <a:cs typeface="+mn-ea"/>
              </a:rPr>
              <a:t>   贷：应收票据（面值＋利息）</a:t>
            </a:r>
          </a:p>
          <a:p>
            <a:pPr>
              <a:spcBef>
                <a:spcPts val="600"/>
              </a:spcBef>
              <a:defRPr/>
            </a:pPr>
            <a:r>
              <a:rPr kumimoji="0" lang="zh-CN" altLang="en-US" sz="2000" b="1" kern="0" dirty="0">
                <a:latin typeface="仿宋_GB2312" panose="02010609030101010101" pitchFamily="49" charset="-122"/>
                <a:ea typeface="仿宋_GB2312" panose="02010609030101010101" pitchFamily="49" charset="-122"/>
                <a:cs typeface="+mn-ea"/>
              </a:rPr>
              <a:t>　　（未计提利息，实际收到时再入账）</a:t>
            </a:r>
          </a:p>
        </p:txBody>
      </p:sp>
      <p:sp>
        <p:nvSpPr>
          <p:cNvPr id="414724" name="Rectangle 4"/>
          <p:cNvSpPr>
            <a:spLocks noChangeArrowheads="1"/>
          </p:cNvSpPr>
          <p:nvPr/>
        </p:nvSpPr>
        <p:spPr bwMode="auto">
          <a:xfrm>
            <a:off x="2800985" y="1961515"/>
            <a:ext cx="1078230" cy="999490"/>
          </a:xfrm>
          <a:prstGeom prst="rect">
            <a:avLst/>
          </a:prstGeom>
        </p:spPr>
        <p:style>
          <a:lnRef idx="1">
            <a:schemeClr val="accent2"/>
          </a:lnRef>
          <a:fillRef idx="2">
            <a:schemeClr val="accent2"/>
          </a:fillRef>
          <a:effectRef idx="1">
            <a:schemeClr val="accent2"/>
          </a:effectRef>
          <a:fontRef idx="minor">
            <a:schemeClr val="dk1"/>
          </a:fontRef>
        </p:style>
        <p:txBody>
          <a:bodyPr lIns="0" tIns="0" rIns="0" bIns="0" anchor="ctr"/>
          <a:lstStyle/>
          <a:p>
            <a:pPr>
              <a:defRPr/>
            </a:pPr>
            <a:endParaRPr lang="zh-CN" altLang="en-US">
              <a:effectLst>
                <a:outerShdw blurRad="38100" dist="38100" dir="2700000" algn="tl">
                  <a:srgbClr val="000000">
                    <a:alpha val="43137"/>
                  </a:srgbClr>
                </a:outerShdw>
              </a:effectLst>
              <a:latin typeface="Times New Roman" panose="02020603050405020304" pitchFamily="18" charset="0"/>
            </a:endParaRPr>
          </a:p>
        </p:txBody>
      </p:sp>
      <p:sp>
        <p:nvSpPr>
          <p:cNvPr id="6" name="Rectangle 5"/>
          <p:cNvSpPr>
            <a:spLocks noChangeArrowheads="1"/>
          </p:cNvSpPr>
          <p:nvPr/>
        </p:nvSpPr>
        <p:spPr bwMode="auto">
          <a:xfrm>
            <a:off x="2786063" y="2269490"/>
            <a:ext cx="1049337" cy="368300"/>
          </a:xfrm>
          <a:prstGeom prst="rect">
            <a:avLst/>
          </a:prstGeom>
          <a:noFill/>
          <a:ln w="6350">
            <a:noFill/>
            <a:miter lim="800000"/>
          </a:ln>
        </p:spPr>
        <p:txBody>
          <a:bodyPr lIns="0" tIns="0" rIns="0" bIns="0" anchor="ctr">
            <a:spAutoFit/>
          </a:bodyPr>
          <a:lstStyle/>
          <a:p>
            <a:pPr algn="ctr" defTabSz="330200">
              <a:spcBef>
                <a:spcPct val="20000"/>
              </a:spcBef>
              <a:buClr>
                <a:srgbClr val="FF0000"/>
              </a:buClr>
              <a:buFontTx/>
              <a:buChar char="•"/>
              <a:tabLst>
                <a:tab pos="8521700" algn="r"/>
              </a:tabLst>
            </a:pPr>
            <a:r>
              <a:rPr kumimoji="0" lang="zh-CN" altLang="en-US" sz="2400">
                <a:solidFill>
                  <a:srgbClr val="FF0000"/>
                </a:solidFill>
                <a:latin typeface="宋体" panose="02010600030101010101" pitchFamily="2" charset="-122"/>
              </a:rPr>
              <a:t>收到</a:t>
            </a:r>
          </a:p>
        </p:txBody>
      </p:sp>
      <p:sp>
        <p:nvSpPr>
          <p:cNvPr id="10" name="Rectangle 4"/>
          <p:cNvSpPr>
            <a:spLocks noChangeArrowheads="1"/>
          </p:cNvSpPr>
          <p:nvPr/>
        </p:nvSpPr>
        <p:spPr bwMode="auto">
          <a:xfrm>
            <a:off x="2800985" y="3124200"/>
            <a:ext cx="1078230" cy="999490"/>
          </a:xfrm>
          <a:prstGeom prst="rect">
            <a:avLst/>
          </a:prstGeom>
        </p:spPr>
        <p:style>
          <a:lnRef idx="1">
            <a:schemeClr val="accent2"/>
          </a:lnRef>
          <a:fillRef idx="2">
            <a:schemeClr val="accent2"/>
          </a:fillRef>
          <a:effectRef idx="1">
            <a:schemeClr val="accent2"/>
          </a:effectRef>
          <a:fontRef idx="minor">
            <a:schemeClr val="dk1"/>
          </a:fontRef>
        </p:style>
        <p:txBody>
          <a:bodyPr lIns="0" tIns="0" rIns="0" bIns="0" anchor="ctr"/>
          <a:lstStyle/>
          <a:p>
            <a:pPr>
              <a:defRPr/>
            </a:pPr>
            <a:endParaRPr lang="zh-CN" altLang="en-US">
              <a:effectLst>
                <a:outerShdw blurRad="38100" dist="38100" dir="2700000" algn="tl">
                  <a:srgbClr val="000000">
                    <a:alpha val="43137"/>
                  </a:srgbClr>
                </a:outerShdw>
              </a:effectLst>
              <a:latin typeface="Times New Roman" panose="02020603050405020304" pitchFamily="18" charset="0"/>
            </a:endParaRPr>
          </a:p>
        </p:txBody>
      </p:sp>
      <p:sp>
        <p:nvSpPr>
          <p:cNvPr id="11" name="Rectangle 4"/>
          <p:cNvSpPr>
            <a:spLocks noChangeArrowheads="1"/>
          </p:cNvSpPr>
          <p:nvPr/>
        </p:nvSpPr>
        <p:spPr bwMode="auto">
          <a:xfrm>
            <a:off x="2800985" y="4224655"/>
            <a:ext cx="1078230" cy="999490"/>
          </a:xfrm>
          <a:prstGeom prst="rect">
            <a:avLst/>
          </a:prstGeom>
        </p:spPr>
        <p:style>
          <a:lnRef idx="1">
            <a:schemeClr val="accent2"/>
          </a:lnRef>
          <a:fillRef idx="2">
            <a:schemeClr val="accent2"/>
          </a:fillRef>
          <a:effectRef idx="1">
            <a:schemeClr val="accent2"/>
          </a:effectRef>
          <a:fontRef idx="minor">
            <a:schemeClr val="dk1"/>
          </a:fontRef>
        </p:style>
        <p:txBody>
          <a:bodyPr lIns="0" tIns="0" rIns="0" bIns="0" anchor="ctr"/>
          <a:lstStyle/>
          <a:p>
            <a:pPr>
              <a:defRPr/>
            </a:pPr>
            <a:endParaRPr lang="zh-CN" altLang="en-US">
              <a:effectLst>
                <a:outerShdw blurRad="38100" dist="38100" dir="2700000" algn="tl">
                  <a:srgbClr val="000000">
                    <a:alpha val="43137"/>
                  </a:srgbClr>
                </a:outerShdw>
              </a:effectLst>
              <a:latin typeface="Times New Roman" panose="02020603050405020304" pitchFamily="18" charset="0"/>
            </a:endParaRPr>
          </a:p>
        </p:txBody>
      </p:sp>
      <p:sp>
        <p:nvSpPr>
          <p:cNvPr id="12" name="Rectangle 4"/>
          <p:cNvSpPr>
            <a:spLocks noChangeArrowheads="1"/>
          </p:cNvSpPr>
          <p:nvPr/>
        </p:nvSpPr>
        <p:spPr bwMode="auto">
          <a:xfrm>
            <a:off x="2800985" y="5441315"/>
            <a:ext cx="1078230" cy="999490"/>
          </a:xfrm>
          <a:prstGeom prst="rect">
            <a:avLst/>
          </a:prstGeom>
        </p:spPr>
        <p:style>
          <a:lnRef idx="1">
            <a:schemeClr val="accent2"/>
          </a:lnRef>
          <a:fillRef idx="2">
            <a:schemeClr val="accent2"/>
          </a:fillRef>
          <a:effectRef idx="1">
            <a:schemeClr val="accent2"/>
          </a:effectRef>
          <a:fontRef idx="minor">
            <a:schemeClr val="dk1"/>
          </a:fontRef>
        </p:style>
        <p:txBody>
          <a:bodyPr lIns="0" tIns="0" rIns="0" bIns="0" anchor="ctr"/>
          <a:lstStyle/>
          <a:p>
            <a:pPr>
              <a:defRPr/>
            </a:pPr>
            <a:endParaRPr lang="zh-CN" altLang="en-US">
              <a:effectLst>
                <a:outerShdw blurRad="38100" dist="38100" dir="2700000" algn="tl">
                  <a:srgbClr val="000000">
                    <a:alpha val="43137"/>
                  </a:srgbClr>
                </a:outerShdw>
              </a:effectLst>
              <a:latin typeface="Times New Roman" panose="02020603050405020304" pitchFamily="18" charset="0"/>
            </a:endParaRPr>
          </a:p>
        </p:txBody>
      </p:sp>
      <p:sp>
        <p:nvSpPr>
          <p:cNvPr id="414728" name="Rectangle 8"/>
          <p:cNvSpPr>
            <a:spLocks noChangeArrowheads="1"/>
          </p:cNvSpPr>
          <p:nvPr/>
        </p:nvSpPr>
        <p:spPr bwMode="auto">
          <a:xfrm>
            <a:off x="2815273" y="3462655"/>
            <a:ext cx="1049337" cy="368300"/>
          </a:xfrm>
          <a:prstGeom prst="rect">
            <a:avLst/>
          </a:prstGeom>
          <a:noFill/>
          <a:ln w="6350" algn="ctr">
            <a:noFill/>
            <a:miter lim="800000"/>
          </a:ln>
        </p:spPr>
        <p:txBody>
          <a:bodyPr lIns="0" tIns="0" rIns="0" bIns="0" anchor="ctr">
            <a:spAutoFit/>
          </a:bodyPr>
          <a:lstStyle/>
          <a:p>
            <a:pPr algn="ctr" defTabSz="330200">
              <a:spcBef>
                <a:spcPct val="20000"/>
              </a:spcBef>
              <a:buClr>
                <a:srgbClr val="FF0000"/>
              </a:buClr>
              <a:buFontTx/>
              <a:buChar char="•"/>
              <a:tabLst>
                <a:tab pos="8521700" algn="r"/>
              </a:tabLst>
            </a:pPr>
            <a:r>
              <a:rPr kumimoji="0" lang="zh-CN" altLang="en-US" sz="2400">
                <a:solidFill>
                  <a:srgbClr val="FF0000"/>
                </a:solidFill>
                <a:latin typeface="宋体" panose="02010600030101010101" pitchFamily="2" charset="-122"/>
              </a:rPr>
              <a:t>计息</a:t>
            </a:r>
          </a:p>
        </p:txBody>
      </p:sp>
      <p:sp>
        <p:nvSpPr>
          <p:cNvPr id="414731" name="Rectangle 11"/>
          <p:cNvSpPr>
            <a:spLocks noChangeArrowheads="1"/>
          </p:cNvSpPr>
          <p:nvPr/>
        </p:nvSpPr>
        <p:spPr bwMode="auto">
          <a:xfrm>
            <a:off x="2786063" y="4540250"/>
            <a:ext cx="1049337" cy="368300"/>
          </a:xfrm>
          <a:prstGeom prst="rect">
            <a:avLst/>
          </a:prstGeom>
          <a:noFill/>
          <a:ln w="6350" algn="ctr">
            <a:noFill/>
            <a:miter lim="800000"/>
          </a:ln>
        </p:spPr>
        <p:txBody>
          <a:bodyPr lIns="0" tIns="0" rIns="0" bIns="0" anchor="ctr">
            <a:spAutoFit/>
          </a:bodyPr>
          <a:lstStyle/>
          <a:p>
            <a:pPr algn="ctr" defTabSz="330200">
              <a:spcBef>
                <a:spcPct val="20000"/>
              </a:spcBef>
              <a:buClr>
                <a:srgbClr val="FF0000"/>
              </a:buClr>
              <a:buFontTx/>
              <a:buChar char="•"/>
              <a:tabLst>
                <a:tab pos="8521700" algn="r"/>
              </a:tabLst>
            </a:pPr>
            <a:r>
              <a:rPr kumimoji="0" lang="zh-CN" altLang="en-US" sz="2400">
                <a:solidFill>
                  <a:srgbClr val="FF0000"/>
                </a:solidFill>
                <a:latin typeface="宋体" panose="02010600030101010101" pitchFamily="2" charset="-122"/>
              </a:rPr>
              <a:t>收回</a:t>
            </a:r>
          </a:p>
        </p:txBody>
      </p:sp>
      <p:sp>
        <p:nvSpPr>
          <p:cNvPr id="16" name="Rectangle 11"/>
          <p:cNvSpPr>
            <a:spLocks noChangeArrowheads="1"/>
          </p:cNvSpPr>
          <p:nvPr/>
        </p:nvSpPr>
        <p:spPr bwMode="auto">
          <a:xfrm>
            <a:off x="2800668" y="5570538"/>
            <a:ext cx="1049337" cy="739775"/>
          </a:xfrm>
          <a:prstGeom prst="rect">
            <a:avLst/>
          </a:prstGeom>
          <a:noFill/>
          <a:ln w="6350" algn="ctr">
            <a:noFill/>
            <a:miter lim="800000"/>
          </a:ln>
        </p:spPr>
        <p:txBody>
          <a:bodyPr lIns="0" tIns="0" rIns="0" bIns="0" anchor="ctr">
            <a:spAutoFit/>
          </a:bodyPr>
          <a:lstStyle/>
          <a:p>
            <a:pPr algn="ctr" defTabSz="330200">
              <a:spcBef>
                <a:spcPct val="20000"/>
              </a:spcBef>
              <a:buClr>
                <a:srgbClr val="FF0000"/>
              </a:buClr>
              <a:buFontTx/>
              <a:buChar char="•"/>
              <a:tabLst>
                <a:tab pos="8521700" algn="r"/>
              </a:tabLst>
            </a:pPr>
            <a:r>
              <a:rPr kumimoji="0" lang="zh-CN" altLang="en-US" sz="2400">
                <a:solidFill>
                  <a:srgbClr val="FF0000"/>
                </a:solidFill>
                <a:latin typeface="宋体" panose="02010600030101010101" pitchFamily="2" charset="-122"/>
              </a:rPr>
              <a:t>无力偿还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14724"/>
                                        </p:tgtEl>
                                        <p:attrNameLst>
                                          <p:attrName>style.visibility</p:attrName>
                                        </p:attrNameLst>
                                      </p:cBhvr>
                                      <p:to>
                                        <p:strVal val="visible"/>
                                      </p:to>
                                    </p:set>
                                    <p:animEffect transition="in" filter="blinds(horizontal)">
                                      <p:cBhvr>
                                        <p:cTn id="7" dur="500"/>
                                        <p:tgtEl>
                                          <p:spTgt spid="41472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childTnLst>
                          </p:cTn>
                        </p:par>
                        <p:par>
                          <p:cTn id="11" fill="hold">
                            <p:stCondLst>
                              <p:cond delay="500"/>
                            </p:stCondLst>
                            <p:childTnLst>
                              <p:par>
                                <p:cTn id="12" presetID="2" presetClass="entr" presetSubtype="4" fill="hold" grpId="0" nodeType="afterEffect">
                                  <p:stCondLst>
                                    <p:cond delay="0"/>
                                  </p:stCondLst>
                                  <p:childTnLst>
                                    <p:set>
                                      <p:cBhvr>
                                        <p:cTn id="13" dur="1" fill="hold">
                                          <p:stCondLst>
                                            <p:cond delay="0"/>
                                          </p:stCondLst>
                                        </p:cTn>
                                        <p:tgtEl>
                                          <p:spTgt spid="414733"/>
                                        </p:tgtEl>
                                        <p:attrNameLst>
                                          <p:attrName>style.visibility</p:attrName>
                                        </p:attrNameLst>
                                      </p:cBhvr>
                                      <p:to>
                                        <p:strVal val="visible"/>
                                      </p:to>
                                    </p:set>
                                    <p:anim calcmode="lin" valueType="num">
                                      <p:cBhvr additive="base">
                                        <p:cTn id="14" dur="500" fill="hold"/>
                                        <p:tgtEl>
                                          <p:spTgt spid="414733"/>
                                        </p:tgtEl>
                                        <p:attrNameLst>
                                          <p:attrName>ppt_x</p:attrName>
                                        </p:attrNameLst>
                                      </p:cBhvr>
                                      <p:tavLst>
                                        <p:tav tm="0">
                                          <p:val>
                                            <p:strVal val="#ppt_x"/>
                                          </p:val>
                                        </p:tav>
                                        <p:tav tm="100000">
                                          <p:val>
                                            <p:strVal val="#ppt_x"/>
                                          </p:val>
                                        </p:tav>
                                      </p:tavLst>
                                    </p:anim>
                                    <p:anim calcmode="lin" valueType="num">
                                      <p:cBhvr additive="base">
                                        <p:cTn id="15" dur="500" fill="hold"/>
                                        <p:tgtEl>
                                          <p:spTgt spid="414733"/>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par>
                                <p:cTn id="20" presetID="3" presetClass="entr" presetSubtype="10" fill="hold" grpId="0" nodeType="withEffect">
                                  <p:stCondLst>
                                    <p:cond delay="0"/>
                                  </p:stCondLst>
                                  <p:childTnLst>
                                    <p:set>
                                      <p:cBhvr>
                                        <p:cTn id="21" dur="1" fill="hold">
                                          <p:stCondLst>
                                            <p:cond delay="0"/>
                                          </p:stCondLst>
                                        </p:cTn>
                                        <p:tgtEl>
                                          <p:spTgt spid="414728"/>
                                        </p:tgtEl>
                                        <p:attrNameLst>
                                          <p:attrName>style.visibility</p:attrName>
                                        </p:attrNameLst>
                                      </p:cBhvr>
                                      <p:to>
                                        <p:strVal val="visible"/>
                                      </p:to>
                                    </p:set>
                                    <p:animEffect transition="in" filter="blinds(horizontal)">
                                      <p:cBhvr>
                                        <p:cTn id="22" dur="500"/>
                                        <p:tgtEl>
                                          <p:spTgt spid="414728"/>
                                        </p:tgtEl>
                                      </p:cBhvr>
                                    </p:animEffect>
                                  </p:childTnLst>
                                </p:cTn>
                              </p:par>
                            </p:childTnLst>
                          </p:cTn>
                        </p:par>
                        <p:par>
                          <p:cTn id="23" fill="hold">
                            <p:stCondLst>
                              <p:cond delay="0"/>
                            </p:stCondLst>
                            <p:childTnLst>
                              <p:par>
                                <p:cTn id="24" presetID="2" presetClass="entr" presetSubtype="4" fill="hold" grpId="0" nodeType="afterEffect">
                                  <p:stCondLst>
                                    <p:cond delay="0"/>
                                  </p:stCondLst>
                                  <p:childTnLst>
                                    <p:set>
                                      <p:cBhvr>
                                        <p:cTn id="25" dur="1" fill="hold">
                                          <p:stCondLst>
                                            <p:cond delay="0"/>
                                          </p:stCondLst>
                                        </p:cTn>
                                        <p:tgtEl>
                                          <p:spTgt spid="414734"/>
                                        </p:tgtEl>
                                        <p:attrNameLst>
                                          <p:attrName>style.visibility</p:attrName>
                                        </p:attrNameLst>
                                      </p:cBhvr>
                                      <p:to>
                                        <p:strVal val="visible"/>
                                      </p:to>
                                    </p:set>
                                    <p:anim calcmode="lin" valueType="num">
                                      <p:cBhvr additive="base">
                                        <p:cTn id="26" dur="500" fill="hold"/>
                                        <p:tgtEl>
                                          <p:spTgt spid="414734"/>
                                        </p:tgtEl>
                                        <p:attrNameLst>
                                          <p:attrName>ppt_x</p:attrName>
                                        </p:attrNameLst>
                                      </p:cBhvr>
                                      <p:tavLst>
                                        <p:tav tm="0">
                                          <p:val>
                                            <p:strVal val="#ppt_x"/>
                                          </p:val>
                                        </p:tav>
                                        <p:tav tm="100000">
                                          <p:val>
                                            <p:strVal val="#ppt_x"/>
                                          </p:val>
                                        </p:tav>
                                      </p:tavLst>
                                    </p:anim>
                                    <p:anim calcmode="lin" valueType="num">
                                      <p:cBhvr additive="base">
                                        <p:cTn id="27" dur="500" fill="hold"/>
                                        <p:tgtEl>
                                          <p:spTgt spid="414734"/>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childTnLst>
                                </p:cTn>
                              </p:par>
                              <p:par>
                                <p:cTn id="32" presetID="3" presetClass="entr" presetSubtype="10" fill="hold" grpId="0" nodeType="withEffect">
                                  <p:stCondLst>
                                    <p:cond delay="0"/>
                                  </p:stCondLst>
                                  <p:childTnLst>
                                    <p:set>
                                      <p:cBhvr>
                                        <p:cTn id="33" dur="1" fill="hold">
                                          <p:stCondLst>
                                            <p:cond delay="0"/>
                                          </p:stCondLst>
                                        </p:cTn>
                                        <p:tgtEl>
                                          <p:spTgt spid="414731"/>
                                        </p:tgtEl>
                                        <p:attrNameLst>
                                          <p:attrName>style.visibility</p:attrName>
                                        </p:attrNameLst>
                                      </p:cBhvr>
                                      <p:to>
                                        <p:strVal val="visible"/>
                                      </p:to>
                                    </p:set>
                                    <p:animEffect transition="in" filter="blinds(horizontal)">
                                      <p:cBhvr>
                                        <p:cTn id="34" dur="500"/>
                                        <p:tgtEl>
                                          <p:spTgt spid="414731"/>
                                        </p:tgtEl>
                                      </p:cBhvr>
                                    </p:animEffect>
                                  </p:childTnLst>
                                </p:cTn>
                              </p:par>
                            </p:childTnLst>
                          </p:cTn>
                        </p:par>
                        <p:par>
                          <p:cTn id="35" fill="hold">
                            <p:stCondLst>
                              <p:cond delay="0"/>
                            </p:stCondLst>
                            <p:childTnLst>
                              <p:par>
                                <p:cTn id="36" presetID="2" presetClass="entr" presetSubtype="4" fill="hold" grpId="0" nodeType="afterEffect">
                                  <p:stCondLst>
                                    <p:cond delay="0"/>
                                  </p:stCondLst>
                                  <p:childTnLst>
                                    <p:set>
                                      <p:cBhvr>
                                        <p:cTn id="37" dur="1" fill="hold">
                                          <p:stCondLst>
                                            <p:cond delay="0"/>
                                          </p:stCondLst>
                                        </p:cTn>
                                        <p:tgtEl>
                                          <p:spTgt spid="414735"/>
                                        </p:tgtEl>
                                        <p:attrNameLst>
                                          <p:attrName>style.visibility</p:attrName>
                                        </p:attrNameLst>
                                      </p:cBhvr>
                                      <p:to>
                                        <p:strVal val="visible"/>
                                      </p:to>
                                    </p:set>
                                    <p:anim calcmode="lin" valueType="num">
                                      <p:cBhvr additive="base">
                                        <p:cTn id="38" dur="500" fill="hold"/>
                                        <p:tgtEl>
                                          <p:spTgt spid="414735"/>
                                        </p:tgtEl>
                                        <p:attrNameLst>
                                          <p:attrName>ppt_x</p:attrName>
                                        </p:attrNameLst>
                                      </p:cBhvr>
                                      <p:tavLst>
                                        <p:tav tm="0">
                                          <p:val>
                                            <p:strVal val="#ppt_x"/>
                                          </p:val>
                                        </p:tav>
                                        <p:tav tm="100000">
                                          <p:val>
                                            <p:strVal val="#ppt_x"/>
                                          </p:val>
                                        </p:tav>
                                      </p:tavLst>
                                    </p:anim>
                                    <p:anim calcmode="lin" valueType="num">
                                      <p:cBhvr additive="base">
                                        <p:cTn id="39" dur="500" fill="hold"/>
                                        <p:tgtEl>
                                          <p:spTgt spid="414735"/>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2"/>
                                        </p:tgtEl>
                                        <p:attrNameLst>
                                          <p:attrName>style.visibility</p:attrName>
                                        </p:attrNameLst>
                                      </p:cBhvr>
                                      <p:to>
                                        <p:strVal val="visible"/>
                                      </p:to>
                                    </p:set>
                                  </p:childTnLst>
                                </p:cTn>
                              </p:par>
                              <p:par>
                                <p:cTn id="44" presetID="3" presetClass="entr" presetSubtype="1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blinds(horizontal)">
                                      <p:cBhvr>
                                        <p:cTn id="46" dur="500"/>
                                        <p:tgtEl>
                                          <p:spTgt spid="16"/>
                                        </p:tgtEl>
                                      </p:cBhvr>
                                    </p:animEffect>
                                  </p:childTnLst>
                                </p:cTn>
                              </p:par>
                            </p:childTnLst>
                          </p:cTn>
                        </p:par>
                        <p:par>
                          <p:cTn id="47" fill="hold">
                            <p:stCondLst>
                              <p:cond delay="0"/>
                            </p:stCondLst>
                            <p:childTnLst>
                              <p:par>
                                <p:cTn id="48" presetID="2" presetClass="entr" presetSubtype="4" fill="hold" grpId="0" nodeType="afterEffect">
                                  <p:stCondLst>
                                    <p:cond delay="0"/>
                                  </p:stCondLst>
                                  <p:childTnLst>
                                    <p:set>
                                      <p:cBhvr>
                                        <p:cTn id="49" dur="1" fill="hold">
                                          <p:stCondLst>
                                            <p:cond delay="0"/>
                                          </p:stCondLst>
                                        </p:cTn>
                                        <p:tgtEl>
                                          <p:spTgt spid="17"/>
                                        </p:tgtEl>
                                        <p:attrNameLst>
                                          <p:attrName>style.visibility</p:attrName>
                                        </p:attrNameLst>
                                      </p:cBhvr>
                                      <p:to>
                                        <p:strVal val="visible"/>
                                      </p:to>
                                    </p:set>
                                    <p:anim calcmode="lin" valueType="num">
                                      <p:cBhvr additive="base">
                                        <p:cTn id="50" dur="500" fill="hold"/>
                                        <p:tgtEl>
                                          <p:spTgt spid="17"/>
                                        </p:tgtEl>
                                        <p:attrNameLst>
                                          <p:attrName>ppt_x</p:attrName>
                                        </p:attrNameLst>
                                      </p:cBhvr>
                                      <p:tavLst>
                                        <p:tav tm="0">
                                          <p:val>
                                            <p:strVal val="#ppt_x"/>
                                          </p:val>
                                        </p:tav>
                                        <p:tav tm="100000">
                                          <p:val>
                                            <p:strVal val="#ppt_x"/>
                                          </p:val>
                                        </p:tav>
                                      </p:tavLst>
                                    </p:anim>
                                    <p:anim calcmode="lin" valueType="num">
                                      <p:cBhvr additive="base">
                                        <p:cTn id="51"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733" grpId="0" bldLvl="0" animBg="1"/>
      <p:bldP spid="414734" grpId="0" bldLvl="0" animBg="1"/>
      <p:bldP spid="414735" grpId="0" bldLvl="0" animBg="1"/>
      <p:bldP spid="17" grpId="0" bldLvl="0" animBg="1"/>
      <p:bldP spid="414724" grpId="0" bldLvl="0" animBg="1"/>
      <p:bldP spid="6" grpId="0"/>
      <p:bldP spid="10" grpId="0" bldLvl="0" animBg="1"/>
      <p:bldP spid="11" grpId="0" bldLvl="0" animBg="1"/>
      <p:bldP spid="12" grpId="0" bldLvl="0" animBg="1"/>
      <p:bldP spid="414728" grpId="0"/>
      <p:bldP spid="414731" grpId="0"/>
      <p:bldP spid="1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400" dirty="0">
                <a:latin typeface="黑体" panose="02010609060101010101" pitchFamily="49" charset="-122"/>
                <a:ea typeface="黑体" panose="02010609060101010101" pitchFamily="49" charset="-122"/>
                <a:sym typeface="+mn-ea"/>
              </a:rPr>
              <a:t>五、应收票据转让</a:t>
            </a:r>
            <a:endParaRPr lang="zh-CN" altLang="en-US" dirty="0"/>
          </a:p>
        </p:txBody>
      </p:sp>
      <p:sp>
        <p:nvSpPr>
          <p:cNvPr id="3" name="内容占位符 2"/>
          <p:cNvSpPr>
            <a:spLocks noGrp="1"/>
          </p:cNvSpPr>
          <p:nvPr>
            <p:ph idx="1"/>
          </p:nvPr>
        </p:nvSpPr>
        <p:spPr>
          <a:xfrm>
            <a:off x="914400" y="1976755"/>
            <a:ext cx="9615170" cy="4114800"/>
          </a:xfrm>
        </p:spPr>
        <p:txBody>
          <a:bodyPr/>
          <a:lstStyle/>
          <a:p>
            <a:pPr marL="0" indent="0">
              <a:buNone/>
            </a:pPr>
            <a:r>
              <a:rPr lang="zh-CN" altLang="zh-CN" dirty="0">
                <a:sym typeface="+mn-ea"/>
              </a:rPr>
              <a:t>（一）转让：企业与企业的业务</a:t>
            </a:r>
            <a:endParaRPr lang="en-US" altLang="zh-CN" dirty="0"/>
          </a:p>
          <a:p>
            <a:pPr lvl="1"/>
            <a:r>
              <a:rPr lang="zh-CN" altLang="en-US" dirty="0">
                <a:cs typeface="+mn-ea"/>
                <a:sym typeface="+mn-ea"/>
              </a:rPr>
              <a:t>应收票据转让是指持票人将未到期的商业汇票背书后转让给其他单位或个人的业务活动。</a:t>
            </a:r>
          </a:p>
          <a:p>
            <a:pPr lvl="1"/>
            <a:r>
              <a:rPr lang="zh-CN" altLang="en-US" dirty="0">
                <a:cs typeface="+mn-ea"/>
                <a:sym typeface="+mn-ea"/>
              </a:rPr>
              <a:t>按照《银行支付结算办法》规定，企业可以将持有的应收票据进行背书转让，用以购买所需物资或偿还债务。</a:t>
            </a:r>
            <a:endParaRPr lang="en-US" altLang="zh-CN" dirty="0">
              <a:solidFill>
                <a:schemeClr val="tx2"/>
              </a:solidFill>
              <a:latin typeface="华文楷体" panose="02010600040101010101" pitchFamily="2" charset="-122"/>
              <a:ea typeface="华文楷体" panose="02010600040101010101" pitchFamily="2" charset="-122"/>
            </a:endParaRPr>
          </a:p>
          <a:p>
            <a:pPr lvl="1"/>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30723" name="Picture 2" descr="C:\ykz01\中财课件\杨克智\jjfjy12-8.gif"/>
          <p:cNvPicPr>
            <a:picLocks noChangeAspect="1" noChangeArrowheads="1"/>
          </p:cNvPicPr>
          <p:nvPr>
            <p:custDataLst>
              <p:tags r:id="rId1"/>
            </p:custDataLst>
          </p:nvPr>
        </p:nvPicPr>
        <p:blipFill>
          <a:blip r:embed="rId3" cstate="print"/>
          <a:srcRect/>
          <a:stretch>
            <a:fillRect/>
          </a:stretch>
        </p:blipFill>
        <p:spPr bwMode="auto">
          <a:xfrm>
            <a:off x="1024890" y="120650"/>
            <a:ext cx="10142220" cy="3777615"/>
          </a:xfrm>
          <a:prstGeom prst="rect">
            <a:avLst/>
          </a:prstGeom>
          <a:noFill/>
          <a:ln w="9525">
            <a:noFill/>
            <a:miter lim="800000"/>
            <a:headEnd/>
            <a:tailEnd/>
          </a:ln>
        </p:spPr>
      </p:pic>
      <p:pic>
        <p:nvPicPr>
          <p:cNvPr id="30724" name="Picture 4" descr="C:\ykz01\中财课件\杨克智\u=971077434,400738770&amp;fm=23&amp;gp=0.png"/>
          <p:cNvPicPr>
            <a:picLocks noChangeAspect="1" noChangeArrowheads="1"/>
          </p:cNvPicPr>
          <p:nvPr/>
        </p:nvPicPr>
        <p:blipFill>
          <a:blip r:embed="rId4" cstate="print"/>
          <a:srcRect/>
          <a:stretch>
            <a:fillRect/>
          </a:stretch>
        </p:blipFill>
        <p:spPr bwMode="auto">
          <a:xfrm>
            <a:off x="1986280" y="3898265"/>
            <a:ext cx="7783830" cy="293497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sz="3200" dirty="0">
                <a:solidFill>
                  <a:schemeClr val="tx1"/>
                </a:solidFill>
                <a:latin typeface="黑体" panose="02010609060101010101" pitchFamily="49" charset="-122"/>
                <a:ea typeface="黑体" panose="02010609060101010101" pitchFamily="49" charset="-122"/>
                <a:cs typeface="+mn-cs"/>
                <a:sym typeface="+mn-ea"/>
              </a:rPr>
              <a:t>（二）转让的会计处理</a:t>
            </a:r>
            <a:endParaRPr lang="zh-CN" altLang="en-US" sz="2800" dirty="0">
              <a:solidFill>
                <a:schemeClr val="tx1"/>
              </a:solidFill>
              <a:latin typeface="楷体_GB2312" panose="02010609030101010101" pitchFamily="49" charset="-122"/>
              <a:ea typeface="楷体_GB2312" panose="02010609030101010101" pitchFamily="49" charset="-122"/>
              <a:cs typeface="+mn-ea"/>
            </a:endParaRPr>
          </a:p>
        </p:txBody>
      </p:sp>
      <p:pic>
        <p:nvPicPr>
          <p:cNvPr id="31746" name="Picture 3" descr="C:\ykz01\中财课件\杨克智\20110105104515376.png"/>
          <p:cNvPicPr>
            <a:picLocks noChangeAspect="1" noChangeArrowheads="1"/>
          </p:cNvPicPr>
          <p:nvPr/>
        </p:nvPicPr>
        <p:blipFill>
          <a:blip r:embed="rId2" cstate="print"/>
          <a:srcRect/>
          <a:stretch>
            <a:fillRect/>
          </a:stretch>
        </p:blipFill>
        <p:spPr bwMode="auto">
          <a:xfrm>
            <a:off x="1835785" y="1854200"/>
            <a:ext cx="8521065" cy="500380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a:xfrm>
            <a:off x="819150" y="1991360"/>
            <a:ext cx="10320655" cy="4114800"/>
          </a:xfrm>
        </p:spPr>
        <p:txBody>
          <a:bodyPr/>
          <a:lstStyle/>
          <a:p>
            <a:pPr marL="0" indent="0">
              <a:buNone/>
            </a:pPr>
            <a:r>
              <a:rPr lang="zh-CN" altLang="en-US" sz="2800" dirty="0">
                <a:latin typeface="楷体_GB2312" panose="02010609030101010101" pitchFamily="49" charset="-122"/>
                <a:ea typeface="楷体_GB2312" panose="02010609030101010101" pitchFamily="49" charset="-122"/>
                <a:cs typeface="+mn-ea"/>
                <a:sym typeface="+mn-ea"/>
              </a:rPr>
              <a:t>【例3-</a:t>
            </a:r>
            <a:r>
              <a:rPr lang="en-US" altLang="zh-CN" sz="2800" dirty="0">
                <a:latin typeface="楷体_GB2312" panose="02010609030101010101" pitchFamily="49" charset="-122"/>
                <a:ea typeface="楷体_GB2312" panose="02010609030101010101" pitchFamily="49" charset="-122"/>
                <a:cs typeface="+mn-ea"/>
                <a:sym typeface="+mn-ea"/>
              </a:rPr>
              <a:t>5</a:t>
            </a:r>
            <a:r>
              <a:rPr lang="zh-CN" altLang="en-US" sz="2800" dirty="0">
                <a:latin typeface="楷体_GB2312" panose="02010609030101010101" pitchFamily="49" charset="-122"/>
                <a:ea typeface="楷体_GB2312" panose="02010609030101010101" pitchFamily="49" charset="-122"/>
                <a:cs typeface="+mn-ea"/>
                <a:sym typeface="+mn-ea"/>
              </a:rPr>
              <a:t>】A公司2×1</a:t>
            </a:r>
            <a:r>
              <a:rPr lang="en-US" altLang="zh-CN" sz="2800" dirty="0">
                <a:latin typeface="楷体_GB2312" panose="02010609030101010101" pitchFamily="49" charset="-122"/>
                <a:ea typeface="楷体_GB2312" panose="02010609030101010101" pitchFamily="49" charset="-122"/>
                <a:cs typeface="+mn-ea"/>
                <a:sym typeface="+mn-ea"/>
              </a:rPr>
              <a:t>9</a:t>
            </a:r>
            <a:r>
              <a:rPr lang="zh-CN" altLang="en-US" sz="2800" dirty="0">
                <a:latin typeface="楷体_GB2312" panose="02010609030101010101" pitchFamily="49" charset="-122"/>
                <a:ea typeface="楷体_GB2312" panose="02010609030101010101" pitchFamily="49" charset="-122"/>
                <a:cs typeface="+mn-ea"/>
                <a:sym typeface="+mn-ea"/>
              </a:rPr>
              <a:t>年有关应收票据的业务如下：</a:t>
            </a:r>
          </a:p>
          <a:p>
            <a:pPr lvl="1"/>
            <a:r>
              <a:rPr lang="zh-CN" altLang="en-US" sz="2800" dirty="0">
                <a:latin typeface="楷体_GB2312" panose="02010609030101010101" pitchFamily="49" charset="-122"/>
                <a:ea typeface="楷体_GB2312" panose="02010609030101010101" pitchFamily="49" charset="-122"/>
                <a:cs typeface="+mn-ea"/>
                <a:sym typeface="+mn-ea"/>
              </a:rPr>
              <a:t>（1）2×1</a:t>
            </a:r>
            <a:r>
              <a:rPr lang="en-US" altLang="zh-CN" sz="2800" dirty="0">
                <a:latin typeface="楷体_GB2312" panose="02010609030101010101" pitchFamily="49" charset="-122"/>
                <a:ea typeface="楷体_GB2312" panose="02010609030101010101" pitchFamily="49" charset="-122"/>
                <a:cs typeface="+mn-ea"/>
                <a:sym typeface="+mn-ea"/>
              </a:rPr>
              <a:t>9</a:t>
            </a:r>
            <a:r>
              <a:rPr lang="zh-CN" altLang="en-US" sz="2800" dirty="0">
                <a:latin typeface="楷体_GB2312" panose="02010609030101010101" pitchFamily="49" charset="-122"/>
                <a:ea typeface="楷体_GB2312" panose="02010609030101010101" pitchFamily="49" charset="-122"/>
                <a:cs typeface="+mn-ea"/>
                <a:sym typeface="+mn-ea"/>
              </a:rPr>
              <a:t>年11月1日收到商业承兑汇票一张，票面金额   1 130 000元，票面利率6%，期限3个月。</a:t>
            </a:r>
          </a:p>
          <a:p>
            <a:pPr lvl="1"/>
            <a:r>
              <a:rPr lang="zh-CN" altLang="en-US" sz="2800" dirty="0">
                <a:latin typeface="楷体_GB2312" panose="02010609030101010101" pitchFamily="49" charset="-122"/>
                <a:ea typeface="楷体_GB2312" panose="02010609030101010101" pitchFamily="49" charset="-122"/>
                <a:cs typeface="+mn-ea"/>
                <a:sym typeface="+mn-ea"/>
              </a:rPr>
              <a:t>（2）2×1</a:t>
            </a:r>
            <a:r>
              <a:rPr lang="en-US" altLang="zh-CN" sz="2800" dirty="0">
                <a:latin typeface="楷体_GB2312" panose="02010609030101010101" pitchFamily="49" charset="-122"/>
                <a:ea typeface="楷体_GB2312" panose="02010609030101010101" pitchFamily="49" charset="-122"/>
                <a:cs typeface="+mn-ea"/>
                <a:sym typeface="+mn-ea"/>
              </a:rPr>
              <a:t>9</a:t>
            </a:r>
            <a:r>
              <a:rPr lang="zh-CN" altLang="en-US" sz="2800" dirty="0">
                <a:latin typeface="楷体_GB2312" panose="02010609030101010101" pitchFamily="49" charset="-122"/>
                <a:ea typeface="楷体_GB2312" panose="02010609030101010101" pitchFamily="49" charset="-122"/>
                <a:cs typeface="+mn-ea"/>
                <a:sym typeface="+mn-ea"/>
              </a:rPr>
              <a:t>年12月1日，收到银行承兑汇票一张565 000元。</a:t>
            </a:r>
          </a:p>
          <a:p>
            <a:pPr lvl="1"/>
            <a:r>
              <a:rPr lang="zh-CN" altLang="en-US" sz="2800" dirty="0">
                <a:latin typeface="楷体_GB2312" panose="02010609030101010101" pitchFamily="49" charset="-122"/>
                <a:ea typeface="楷体_GB2312" panose="02010609030101010101" pitchFamily="49" charset="-122"/>
                <a:cs typeface="+mn-ea"/>
                <a:sym typeface="+mn-ea"/>
              </a:rPr>
              <a:t>2×1</a:t>
            </a:r>
            <a:r>
              <a:rPr lang="en-US" altLang="zh-CN" sz="2800" dirty="0">
                <a:latin typeface="楷体_GB2312" panose="02010609030101010101" pitchFamily="49" charset="-122"/>
                <a:ea typeface="楷体_GB2312" panose="02010609030101010101" pitchFamily="49" charset="-122"/>
                <a:cs typeface="+mn-ea"/>
                <a:sym typeface="+mn-ea"/>
              </a:rPr>
              <a:t>9</a:t>
            </a:r>
            <a:r>
              <a:rPr lang="zh-CN" altLang="en-US" sz="2800" dirty="0">
                <a:latin typeface="楷体_GB2312" panose="02010609030101010101" pitchFamily="49" charset="-122"/>
                <a:ea typeface="楷体_GB2312" panose="02010609030101010101" pitchFamily="49" charset="-122"/>
                <a:cs typeface="+mn-ea"/>
                <a:sym typeface="+mn-ea"/>
              </a:rPr>
              <a:t>年12月1日A公司从甲公司采购材料一批，货款总计   2 260 000元（其中，材料价款2 000 000元，增值税260 000元），材料已验收入库。A公司将从B公司和C公司取得应收票据背书转让给甲公司用于支付货款，余款用银行存款支付。</a:t>
            </a:r>
            <a:endParaRPr lang="zh-CN" altLang="en-US" sz="2800" dirty="0">
              <a:latin typeface="楷体_GB2312" panose="02010609030101010101" pitchFamily="49" charset="-122"/>
              <a:ea typeface="楷体_GB2312" panose="02010609030101010101" pitchFamily="49" charset="-122"/>
              <a:cs typeface="+mn-ea"/>
            </a:endParaRPr>
          </a:p>
          <a:p>
            <a:pPr lvl="2"/>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a:xfrm>
            <a:off x="709930" y="2165985"/>
            <a:ext cx="10117455" cy="3760470"/>
          </a:xfrm>
        </p:spPr>
        <p:txBody>
          <a:bodyPr/>
          <a:lstStyle/>
          <a:p>
            <a:pPr marL="0" indent="0">
              <a:buNone/>
            </a:pPr>
            <a:r>
              <a:rPr lang="zh-CN" altLang="en-US" sz="2800" dirty="0">
                <a:latin typeface="楷体_GB2312" panose="02010609030101010101" pitchFamily="49" charset="-122"/>
                <a:ea typeface="楷体_GB2312" panose="02010609030101010101" pitchFamily="49" charset="-122"/>
                <a:cs typeface="+mn-ea"/>
                <a:sym typeface="+mn-ea"/>
              </a:rPr>
              <a:t>分析：</a:t>
            </a:r>
          </a:p>
          <a:p>
            <a:pPr marL="457200" lvl="1" indent="0">
              <a:buNone/>
            </a:pPr>
            <a:r>
              <a:rPr lang="en-US" altLang="zh-CN" sz="2800" dirty="0">
                <a:latin typeface="楷体_GB2312" panose="02010609030101010101" pitchFamily="49" charset="-122"/>
                <a:ea typeface="楷体_GB2312" panose="02010609030101010101" pitchFamily="49" charset="-122"/>
                <a:cs typeface="+mn-ea"/>
                <a:sym typeface="+mn-ea"/>
              </a:rPr>
              <a:t>	</a:t>
            </a:r>
            <a:r>
              <a:rPr lang="zh-CN" altLang="en-US" sz="2800" dirty="0">
                <a:latin typeface="楷体_GB2312" panose="02010609030101010101" pitchFamily="49" charset="-122"/>
                <a:ea typeface="楷体_GB2312" panose="02010609030101010101" pitchFamily="49" charset="-122"/>
                <a:cs typeface="+mn-ea"/>
                <a:sym typeface="+mn-ea"/>
              </a:rPr>
              <a:t>自B公司取得的应收票据为带息票据，可首先计提转让日前未计提的利息5 650元（1 130 000×6%×（1/12））。因此至转让日应收票据总额为1 135 650元（1 130 000+5 650）；自C公司取得的不带息票据的金额为565 000元，用应收票据支付的货款金额合计为1 700 650元。用银行存款支付的差额款为</a:t>
            </a:r>
            <a:r>
              <a:rPr lang="en-US" altLang="zh-CN" sz="2800" dirty="0">
                <a:latin typeface="楷体_GB2312" panose="02010609030101010101" pitchFamily="49" charset="-122"/>
                <a:ea typeface="楷体_GB2312" panose="02010609030101010101" pitchFamily="49" charset="-122"/>
                <a:cs typeface="+mn-ea"/>
                <a:sym typeface="+mn-ea"/>
              </a:rPr>
              <a:t>559 350</a:t>
            </a:r>
            <a:r>
              <a:rPr lang="zh-CN" altLang="en-US" sz="2800" dirty="0">
                <a:latin typeface="楷体_GB2312" panose="02010609030101010101" pitchFamily="49" charset="-122"/>
                <a:ea typeface="楷体_GB2312" panose="02010609030101010101" pitchFamily="49" charset="-122"/>
                <a:cs typeface="+mn-ea"/>
                <a:sym typeface="+mn-ea"/>
              </a:rPr>
              <a:t>元（2 260 000-1 700 650）。</a:t>
            </a:r>
            <a:endParaRPr lang="zh-CN" altLang="en-US" sz="2800" dirty="0">
              <a:latin typeface="楷体_GB2312" panose="02010609030101010101" pitchFamily="49" charset="-122"/>
              <a:ea typeface="楷体_GB2312" panose="02010609030101010101" pitchFamily="49" charset="-122"/>
              <a:cs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a:xfrm>
            <a:off x="914400" y="2002155"/>
            <a:ext cx="10727055" cy="4114800"/>
          </a:xfrm>
        </p:spPr>
        <p:txBody>
          <a:bodyPr/>
          <a:lstStyle/>
          <a:p>
            <a:pPr marL="914400" lvl="2" indent="0">
              <a:buNone/>
            </a:pPr>
            <a:r>
              <a:rPr lang="zh-CN" altLang="en-US" sz="2800" dirty="0">
                <a:latin typeface="楷体_GB2312" panose="02010609030101010101" pitchFamily="49" charset="-122"/>
                <a:ea typeface="楷体_GB2312" panose="02010609030101010101" pitchFamily="49" charset="-122"/>
                <a:cs typeface="+mn-ea"/>
                <a:sym typeface="+mn-ea"/>
              </a:rPr>
              <a:t>借：应收票据——B公司  5 650</a:t>
            </a:r>
            <a:endParaRPr lang="zh-CN" altLang="en-US" sz="2800" dirty="0">
              <a:latin typeface="楷体_GB2312" panose="02010609030101010101" pitchFamily="49" charset="-122"/>
              <a:ea typeface="楷体_GB2312" panose="02010609030101010101" pitchFamily="49" charset="-122"/>
              <a:cs typeface="+mn-ea"/>
            </a:endParaRPr>
          </a:p>
          <a:p>
            <a:pPr marL="914400" lvl="2" indent="0">
              <a:buNone/>
            </a:pPr>
            <a:r>
              <a:rPr lang="zh-CN" altLang="en-US" sz="2800" dirty="0">
                <a:latin typeface="楷体_GB2312" panose="02010609030101010101" pitchFamily="49" charset="-122"/>
                <a:ea typeface="楷体_GB2312" panose="02010609030101010101" pitchFamily="49" charset="-122"/>
                <a:cs typeface="+mn-ea"/>
                <a:sym typeface="+mn-ea"/>
              </a:rPr>
              <a:t>  贷：财务费用           5 650</a:t>
            </a:r>
            <a:endParaRPr lang="zh-CN" altLang="en-US" sz="2800" dirty="0">
              <a:latin typeface="楷体_GB2312" panose="02010609030101010101" pitchFamily="49" charset="-122"/>
              <a:ea typeface="楷体_GB2312" panose="02010609030101010101" pitchFamily="49" charset="-122"/>
              <a:cs typeface="+mn-ea"/>
            </a:endParaRPr>
          </a:p>
          <a:p>
            <a:pPr marL="914400" lvl="2" indent="0">
              <a:buNone/>
            </a:pPr>
            <a:r>
              <a:rPr lang="zh-CN" altLang="en-US" sz="2800" dirty="0">
                <a:latin typeface="楷体_GB2312" panose="02010609030101010101" pitchFamily="49" charset="-122"/>
                <a:ea typeface="楷体_GB2312" panose="02010609030101010101" pitchFamily="49" charset="-122"/>
                <a:cs typeface="+mn-ea"/>
                <a:sym typeface="+mn-ea"/>
              </a:rPr>
              <a:t>借：原材料                             2 000 000</a:t>
            </a:r>
            <a:endParaRPr lang="zh-CN" altLang="en-US" sz="2800" dirty="0">
              <a:latin typeface="楷体_GB2312" panose="02010609030101010101" pitchFamily="49" charset="-122"/>
              <a:ea typeface="楷体_GB2312" panose="02010609030101010101" pitchFamily="49" charset="-122"/>
              <a:cs typeface="+mn-ea"/>
            </a:endParaRPr>
          </a:p>
          <a:p>
            <a:pPr marL="914400" lvl="2" indent="0">
              <a:buNone/>
            </a:pPr>
            <a:r>
              <a:rPr lang="zh-CN" altLang="en-US" sz="2800" dirty="0">
                <a:latin typeface="楷体_GB2312" panose="02010609030101010101" pitchFamily="49" charset="-122"/>
                <a:ea typeface="楷体_GB2312" panose="02010609030101010101" pitchFamily="49" charset="-122"/>
                <a:cs typeface="+mn-ea"/>
                <a:sym typeface="+mn-ea"/>
              </a:rPr>
              <a:t>    应交税费——应交增值税（进项税额）  260 000</a:t>
            </a:r>
            <a:endParaRPr lang="zh-CN" altLang="en-US" sz="2800" dirty="0">
              <a:latin typeface="楷体_GB2312" panose="02010609030101010101" pitchFamily="49" charset="-122"/>
              <a:ea typeface="楷体_GB2312" panose="02010609030101010101" pitchFamily="49" charset="-122"/>
              <a:cs typeface="+mn-ea"/>
            </a:endParaRPr>
          </a:p>
          <a:p>
            <a:pPr marL="914400" lvl="2" indent="0">
              <a:buNone/>
            </a:pPr>
            <a:r>
              <a:rPr lang="zh-CN" altLang="en-US" sz="2800" dirty="0">
                <a:latin typeface="楷体_GB2312" panose="02010609030101010101" pitchFamily="49" charset="-122"/>
                <a:ea typeface="楷体_GB2312" panose="02010609030101010101" pitchFamily="49" charset="-122"/>
                <a:cs typeface="+mn-ea"/>
                <a:sym typeface="+mn-ea"/>
              </a:rPr>
              <a:t>  贷：应收票据</a:t>
            </a:r>
            <a:r>
              <a:rPr lang="en-US" altLang="zh-CN" sz="2800" dirty="0">
                <a:latin typeface="楷体_GB2312" panose="02010609030101010101" pitchFamily="49" charset="-122"/>
                <a:ea typeface="楷体_GB2312" panose="02010609030101010101" pitchFamily="49" charset="-122"/>
                <a:cs typeface="+mn-ea"/>
                <a:sym typeface="+mn-ea"/>
              </a:rPr>
              <a:t>——</a:t>
            </a:r>
            <a:r>
              <a:rPr lang="zh-CN" altLang="en-US" sz="2800" dirty="0">
                <a:latin typeface="楷体_GB2312" panose="02010609030101010101" pitchFamily="49" charset="-122"/>
                <a:ea typeface="楷体_GB2312" panose="02010609030101010101" pitchFamily="49" charset="-122"/>
                <a:cs typeface="+mn-ea"/>
                <a:sym typeface="+mn-ea"/>
              </a:rPr>
              <a:t>B公司                1 135 650</a:t>
            </a:r>
            <a:endParaRPr lang="zh-CN" altLang="en-US" sz="2800" dirty="0">
              <a:latin typeface="楷体_GB2312" panose="02010609030101010101" pitchFamily="49" charset="-122"/>
              <a:ea typeface="楷体_GB2312" panose="02010609030101010101" pitchFamily="49" charset="-122"/>
              <a:cs typeface="+mn-ea"/>
            </a:endParaRPr>
          </a:p>
          <a:p>
            <a:pPr marL="914400" lvl="2" indent="0">
              <a:buNone/>
            </a:pPr>
            <a:r>
              <a:rPr lang="zh-CN" altLang="en-US" sz="2800" dirty="0">
                <a:latin typeface="楷体_GB2312" panose="02010609030101010101" pitchFamily="49" charset="-122"/>
                <a:ea typeface="楷体_GB2312" panose="02010609030101010101" pitchFamily="49" charset="-122"/>
                <a:cs typeface="+mn-ea"/>
                <a:sym typeface="+mn-ea"/>
              </a:rPr>
              <a:t>              </a:t>
            </a:r>
            <a:r>
              <a:rPr lang="en-US" altLang="zh-CN" sz="2800" dirty="0">
                <a:latin typeface="楷体_GB2312" panose="02010609030101010101" pitchFamily="49" charset="-122"/>
                <a:ea typeface="楷体_GB2312" panose="02010609030101010101" pitchFamily="49" charset="-122"/>
                <a:cs typeface="+mn-ea"/>
                <a:sym typeface="+mn-ea"/>
              </a:rPr>
              <a:t>——</a:t>
            </a:r>
            <a:r>
              <a:rPr lang="zh-CN" altLang="en-US" sz="2800" dirty="0">
                <a:latin typeface="楷体_GB2312" panose="02010609030101010101" pitchFamily="49" charset="-122"/>
                <a:ea typeface="楷体_GB2312" panose="02010609030101010101" pitchFamily="49" charset="-122"/>
                <a:cs typeface="+mn-ea"/>
                <a:sym typeface="+mn-ea"/>
              </a:rPr>
              <a:t>C公司                  565 000</a:t>
            </a:r>
            <a:endParaRPr lang="zh-CN" altLang="en-US" sz="2800" dirty="0">
              <a:latin typeface="楷体_GB2312" panose="02010609030101010101" pitchFamily="49" charset="-122"/>
              <a:ea typeface="楷体_GB2312" panose="02010609030101010101" pitchFamily="49" charset="-122"/>
              <a:cs typeface="+mn-ea"/>
            </a:endParaRPr>
          </a:p>
          <a:p>
            <a:pPr marL="914400" lvl="2" indent="0">
              <a:buNone/>
            </a:pPr>
            <a:r>
              <a:rPr lang="zh-CN" altLang="en-US" sz="2800" dirty="0">
                <a:latin typeface="楷体_GB2312" panose="02010609030101010101" pitchFamily="49" charset="-122"/>
                <a:ea typeface="楷体_GB2312" panose="02010609030101010101" pitchFamily="49" charset="-122"/>
                <a:cs typeface="+mn-ea"/>
                <a:sym typeface="+mn-ea"/>
              </a:rPr>
              <a:t>      银行存款                             559 350</a:t>
            </a:r>
            <a:endParaRPr lang="zh-CN" altLang="en-US" sz="2800" dirty="0">
              <a:latin typeface="楷体_GB2312" panose="02010609030101010101" pitchFamily="49" charset="-122"/>
              <a:ea typeface="楷体_GB2312" panose="02010609030101010101" pitchFamily="49" charset="-122"/>
              <a:cs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sym typeface="+mn-ea"/>
              </a:rPr>
              <a:t>六、应收票据贴现</a:t>
            </a:r>
            <a:endParaRPr lang="zh-CN" altLang="en-US" dirty="0"/>
          </a:p>
        </p:txBody>
      </p:sp>
      <p:grpSp>
        <p:nvGrpSpPr>
          <p:cNvPr id="5" name="Group 10"/>
          <p:cNvGrpSpPr/>
          <p:nvPr/>
        </p:nvGrpSpPr>
        <p:grpSpPr bwMode="auto">
          <a:xfrm>
            <a:off x="1534478" y="2048828"/>
            <a:ext cx="2749550" cy="1030287"/>
            <a:chOff x="816" y="1263"/>
            <a:chExt cx="1284" cy="750"/>
          </a:xfrm>
        </p:grpSpPr>
        <p:pic>
          <p:nvPicPr>
            <p:cNvPr id="22535" name="Picture 11" descr="45-blue"/>
            <p:cNvPicPr>
              <a:picLocks noChangeAspect="1" noChangeArrowheads="1"/>
            </p:cNvPicPr>
            <p:nvPr/>
          </p:nvPicPr>
          <p:blipFill>
            <a:blip r:embed="rId2" cstate="print"/>
            <a:srcRect/>
            <a:stretch>
              <a:fillRect/>
            </a:stretch>
          </p:blipFill>
          <p:spPr bwMode="auto">
            <a:xfrm>
              <a:off x="816" y="1263"/>
              <a:ext cx="1284" cy="750"/>
            </a:xfrm>
            <a:prstGeom prst="rect">
              <a:avLst/>
            </a:prstGeom>
            <a:noFill/>
            <a:ln w="9525">
              <a:noFill/>
              <a:miter lim="800000"/>
              <a:headEnd/>
              <a:tailEnd/>
            </a:ln>
          </p:spPr>
        </p:pic>
        <p:sp>
          <p:nvSpPr>
            <p:cNvPr id="22536" name="Text Box 12"/>
            <p:cNvSpPr txBox="1">
              <a:spLocks noChangeArrowheads="1"/>
            </p:cNvSpPr>
            <p:nvPr/>
          </p:nvSpPr>
          <p:spPr bwMode="auto">
            <a:xfrm>
              <a:off x="1057" y="1498"/>
              <a:ext cx="801" cy="279"/>
            </a:xfrm>
            <a:prstGeom prst="rect">
              <a:avLst/>
            </a:prstGeom>
            <a:noFill/>
            <a:ln w="9525">
              <a:noFill/>
              <a:miter lim="800000"/>
            </a:ln>
          </p:spPr>
          <p:txBody>
            <a:bodyPr wrap="none" anchor="ctr">
              <a:spAutoFit/>
              <a:scene3d>
                <a:camera prst="orthographicFront"/>
                <a:lightRig rig="threePt" dir="t"/>
              </a:scene3d>
            </a:bodyPr>
            <a:lstStyle/>
            <a:p>
              <a:pPr algn="ctr">
                <a:lnSpc>
                  <a:spcPct val="80000"/>
                </a:lnSpc>
                <a:spcBef>
                  <a:spcPct val="20000"/>
                </a:spcBef>
                <a:buClr>
                  <a:schemeClr val="hlink"/>
                </a:buClr>
                <a:buFont typeface="Wingdings" panose="05000000000000000000" pitchFamily="2" charset="2"/>
                <a:buNone/>
              </a:pPr>
              <a:r>
                <a:rPr kumimoji="0" lang="zh-CN" altLang="en-US" sz="2400">
                  <a:ln w="10160">
                    <a:solidFill>
                      <a:schemeClr val="accent5"/>
                    </a:solidFill>
                    <a:prstDash val="solid"/>
                  </a:ln>
                  <a:solidFill>
                    <a:srgbClr val="FFFFFF"/>
                  </a:solidFill>
                  <a:effectLst>
                    <a:outerShdw blurRad="38100" dist="22860" dir="5400000" algn="tl" rotWithShape="0">
                      <a:srgbClr val="000000">
                        <a:alpha val="30000"/>
                      </a:srgbClr>
                    </a:outerShdw>
                  </a:effectLst>
                </a:rPr>
                <a:t>贴现的含义</a:t>
              </a:r>
            </a:p>
          </p:txBody>
        </p:sp>
      </p:grpSp>
      <p:grpSp>
        <p:nvGrpSpPr>
          <p:cNvPr id="6" name="Group 3"/>
          <p:cNvGrpSpPr/>
          <p:nvPr/>
        </p:nvGrpSpPr>
        <p:grpSpPr bwMode="auto">
          <a:xfrm>
            <a:off x="1534795" y="3241675"/>
            <a:ext cx="2794000" cy="1014413"/>
            <a:chOff x="816" y="1263"/>
            <a:chExt cx="1284" cy="750"/>
          </a:xfrm>
        </p:grpSpPr>
        <p:pic>
          <p:nvPicPr>
            <p:cNvPr id="22539" name="Picture 4" descr="45-blue"/>
            <p:cNvPicPr>
              <a:picLocks noChangeAspect="1" noChangeArrowheads="1"/>
            </p:cNvPicPr>
            <p:nvPr/>
          </p:nvPicPr>
          <p:blipFill>
            <a:blip r:embed="rId2" cstate="print"/>
            <a:srcRect/>
            <a:stretch>
              <a:fillRect/>
            </a:stretch>
          </p:blipFill>
          <p:spPr bwMode="auto">
            <a:xfrm>
              <a:off x="816" y="1263"/>
              <a:ext cx="1284" cy="750"/>
            </a:xfrm>
            <a:prstGeom prst="rect">
              <a:avLst/>
            </a:prstGeom>
            <a:noFill/>
            <a:ln w="9525">
              <a:noFill/>
              <a:miter lim="800000"/>
              <a:headEnd/>
              <a:tailEnd/>
            </a:ln>
          </p:spPr>
        </p:pic>
        <p:sp>
          <p:nvSpPr>
            <p:cNvPr id="22540" name="Text Box 5"/>
            <p:cNvSpPr txBox="1">
              <a:spLocks noChangeArrowheads="1"/>
            </p:cNvSpPr>
            <p:nvPr/>
          </p:nvSpPr>
          <p:spPr bwMode="auto">
            <a:xfrm>
              <a:off x="923" y="1468"/>
              <a:ext cx="1070" cy="338"/>
            </a:xfrm>
            <a:prstGeom prst="rect">
              <a:avLst/>
            </a:prstGeom>
            <a:noFill/>
            <a:ln w="9525">
              <a:noFill/>
              <a:miter lim="800000"/>
            </a:ln>
          </p:spPr>
          <p:txBody>
            <a:bodyPr wrap="none" anchor="ctr">
              <a:spAutoFit/>
              <a:scene3d>
                <a:camera prst="orthographicFront"/>
                <a:lightRig rig="threePt" dir="t"/>
              </a:scene3d>
            </a:bodyPr>
            <a:lstStyle/>
            <a:p>
              <a:pPr algn="ctr">
                <a:spcBef>
                  <a:spcPct val="20000"/>
                </a:spcBef>
                <a:buClr>
                  <a:schemeClr val="hlink"/>
                </a:buClr>
                <a:buFont typeface="Wingdings" panose="05000000000000000000" pitchFamily="2" charset="2"/>
                <a:buNone/>
              </a:pPr>
              <a:r>
                <a:rPr kumimoji="0" lang="zh-CN" altLang="en-US" sz="2400">
                  <a:ln w="10160">
                    <a:solidFill>
                      <a:schemeClr val="accent5"/>
                    </a:solidFill>
                    <a:prstDash val="solid"/>
                  </a:ln>
                  <a:solidFill>
                    <a:srgbClr val="FFFFFF"/>
                  </a:solidFill>
                  <a:effectLst>
                    <a:outerShdw blurRad="38100" dist="22860" dir="5400000" algn="tl" rotWithShape="0">
                      <a:srgbClr val="000000">
                        <a:alpha val="30000"/>
                      </a:srgbClr>
                    </a:outerShdw>
                  </a:effectLst>
                </a:rPr>
                <a:t>贴现的相关术语</a:t>
              </a:r>
            </a:p>
          </p:txBody>
        </p:sp>
      </p:grpSp>
      <p:pic>
        <p:nvPicPr>
          <p:cNvPr id="406537" name="Picture 9" descr="45-arrow"/>
          <p:cNvPicPr>
            <a:picLocks noChangeAspect="1" noChangeArrowheads="1"/>
          </p:cNvPicPr>
          <p:nvPr/>
        </p:nvPicPr>
        <p:blipFill>
          <a:blip r:embed="rId3" cstate="print"/>
          <a:srcRect/>
          <a:stretch>
            <a:fillRect/>
          </a:stretch>
        </p:blipFill>
        <p:spPr bwMode="auto">
          <a:xfrm>
            <a:off x="2698433" y="4161155"/>
            <a:ext cx="466725" cy="762000"/>
          </a:xfrm>
          <a:prstGeom prst="rect">
            <a:avLst/>
          </a:prstGeom>
          <a:noFill/>
          <a:ln w="9525">
            <a:noFill/>
            <a:miter lim="800000"/>
            <a:headEnd/>
            <a:tailEnd/>
          </a:ln>
        </p:spPr>
      </p:pic>
      <p:grpSp>
        <p:nvGrpSpPr>
          <p:cNvPr id="7" name="Group 6"/>
          <p:cNvGrpSpPr/>
          <p:nvPr/>
        </p:nvGrpSpPr>
        <p:grpSpPr bwMode="auto">
          <a:xfrm>
            <a:off x="1534795" y="4923155"/>
            <a:ext cx="7810486" cy="873125"/>
            <a:chOff x="2372" y="2225"/>
            <a:chExt cx="2936" cy="695"/>
          </a:xfrm>
        </p:grpSpPr>
        <p:pic>
          <p:nvPicPr>
            <p:cNvPr id="22537" name="Picture 7" descr="40-green"/>
            <p:cNvPicPr>
              <a:picLocks noChangeAspect="1" noChangeArrowheads="1"/>
            </p:cNvPicPr>
            <p:nvPr/>
          </p:nvPicPr>
          <p:blipFill>
            <a:blip r:embed="rId4" cstate="print"/>
            <a:srcRect/>
            <a:stretch>
              <a:fillRect/>
            </a:stretch>
          </p:blipFill>
          <p:spPr bwMode="auto">
            <a:xfrm>
              <a:off x="2372" y="2225"/>
              <a:ext cx="2936" cy="695"/>
            </a:xfrm>
            <a:prstGeom prst="rect">
              <a:avLst/>
            </a:prstGeom>
            <a:noFill/>
            <a:ln w="9525">
              <a:noFill/>
              <a:miter lim="800000"/>
              <a:headEnd/>
              <a:tailEnd/>
            </a:ln>
          </p:spPr>
        </p:pic>
        <p:sp>
          <p:nvSpPr>
            <p:cNvPr id="22538" name="Text Box 8"/>
            <p:cNvSpPr txBox="1">
              <a:spLocks noChangeArrowheads="1"/>
            </p:cNvSpPr>
            <p:nvPr/>
          </p:nvSpPr>
          <p:spPr bwMode="auto">
            <a:xfrm>
              <a:off x="2425" y="2389"/>
              <a:ext cx="2883" cy="366"/>
            </a:xfrm>
            <a:prstGeom prst="rect">
              <a:avLst/>
            </a:prstGeom>
            <a:noFill/>
            <a:ln w="12700">
              <a:noFill/>
              <a:miter lim="800000"/>
            </a:ln>
          </p:spPr>
          <p:txBody>
            <a:bodyPr wrap="square">
              <a:spAutoFit/>
            </a:bodyPr>
            <a:lstStyle/>
            <a:p>
              <a:r>
                <a:rPr kumimoji="0" lang="zh-CN" altLang="en-US" sz="2400">
                  <a:ln w="10160">
                    <a:solidFill>
                      <a:schemeClr val="accent5"/>
                    </a:solidFill>
                    <a:prstDash val="solid"/>
                  </a:ln>
                  <a:solidFill>
                    <a:srgbClr val="FFFFFF"/>
                  </a:solidFill>
                  <a:effectLst>
                    <a:outerShdw blurRad="38100" dist="22860" dir="5400000" algn="tl" rotWithShape="0">
                      <a:srgbClr val="000000">
                        <a:alpha val="30000"/>
                      </a:srgbClr>
                    </a:outerShdw>
                  </a:effectLst>
                </a:rPr>
                <a:t>贴现所得额（贴现净额） 、贴现期、贴现率、贴现息</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4"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to="" calcmode="lin" valueType="num">
                                      <p:cBhvr>
                                        <p:cTn id="7" dur="1" fill="hold"/>
                                        <p:tgtEl>
                                          <p:spTgt spid="7"/>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200" dirty="0">
                <a:solidFill>
                  <a:schemeClr val="tx1"/>
                </a:solidFill>
                <a:latin typeface="黑体" panose="02010609060101010101" pitchFamily="49" charset="-122"/>
                <a:ea typeface="黑体" panose="02010609060101010101" pitchFamily="49" charset="-122"/>
                <a:cs typeface="+mn-cs"/>
                <a:sym typeface="+mn-ea"/>
              </a:rPr>
              <a:t>(一)贴现所得额和贴现息的计算</a:t>
            </a:r>
            <a:endParaRPr lang="zh-CN" altLang="en-US" sz="3200" dirty="0"/>
          </a:p>
        </p:txBody>
      </p:sp>
      <p:grpSp>
        <p:nvGrpSpPr>
          <p:cNvPr id="5" name="Group 3"/>
          <p:cNvGrpSpPr/>
          <p:nvPr/>
        </p:nvGrpSpPr>
        <p:grpSpPr bwMode="auto">
          <a:xfrm>
            <a:off x="1231410" y="2022793"/>
            <a:ext cx="7874000" cy="992187"/>
            <a:chOff x="257" y="940"/>
            <a:chExt cx="5310" cy="654"/>
          </a:xfrm>
        </p:grpSpPr>
        <p:pic>
          <p:nvPicPr>
            <p:cNvPr id="23563" name="Picture 4" descr="12-blue"/>
            <p:cNvPicPr>
              <a:picLocks noChangeAspect="1" noChangeArrowheads="1"/>
            </p:cNvPicPr>
            <p:nvPr/>
          </p:nvPicPr>
          <p:blipFill>
            <a:blip r:embed="rId2" cstate="print"/>
            <a:srcRect/>
            <a:stretch>
              <a:fillRect/>
            </a:stretch>
          </p:blipFill>
          <p:spPr bwMode="auto">
            <a:xfrm>
              <a:off x="257" y="940"/>
              <a:ext cx="5310" cy="654"/>
            </a:xfrm>
            <a:prstGeom prst="rect">
              <a:avLst/>
            </a:prstGeom>
            <a:noFill/>
            <a:ln w="9525">
              <a:noFill/>
              <a:miter lim="800000"/>
              <a:headEnd/>
              <a:tailEnd/>
            </a:ln>
          </p:spPr>
        </p:pic>
        <p:sp>
          <p:nvSpPr>
            <p:cNvPr id="23564" name="AutoShape 5"/>
            <p:cNvSpPr>
              <a:spLocks noChangeArrowheads="1"/>
            </p:cNvSpPr>
            <p:nvPr/>
          </p:nvSpPr>
          <p:spPr bwMode="auto">
            <a:xfrm>
              <a:off x="257" y="1018"/>
              <a:ext cx="5278" cy="576"/>
            </a:xfrm>
            <a:prstGeom prst="bevel">
              <a:avLst>
                <a:gd name="adj" fmla="val 12500"/>
              </a:avLst>
            </a:prstGeom>
            <a:noFill/>
            <a:ln w="9525">
              <a:noFill/>
              <a:miter lim="800000"/>
            </a:ln>
          </p:spPr>
          <p:txBody>
            <a:bodyPr anchor="ctr"/>
            <a:lstStyle/>
            <a:p>
              <a:pPr>
                <a:lnSpc>
                  <a:spcPct val="90000"/>
                </a:lnSpc>
                <a:spcBef>
                  <a:spcPct val="20000"/>
                </a:spcBef>
                <a:buClr>
                  <a:schemeClr val="hlink"/>
                </a:buClr>
                <a:buFont typeface="Wingdings" panose="05000000000000000000" pitchFamily="2" charset="2"/>
                <a:buNone/>
              </a:pPr>
              <a:r>
                <a:rPr kumimoji="0" lang="zh-CN" altLang="en-US" sz="240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宋体" panose="02010600030101010101" pitchFamily="2" charset="-122"/>
                </a:rPr>
                <a:t>贴现所得额（净额）＝票据到期值 </a:t>
              </a:r>
              <a:r>
                <a:rPr kumimoji="0" lang="en-US" altLang="zh-CN" sz="240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宋体" panose="02010600030101010101" pitchFamily="2" charset="-122"/>
                </a:rPr>
                <a:t>- </a:t>
              </a:r>
              <a:r>
                <a:rPr kumimoji="0" lang="zh-CN" altLang="en-US" sz="240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宋体" panose="02010600030101010101" pitchFamily="2" charset="-122"/>
                </a:rPr>
                <a:t>贴现息</a:t>
              </a:r>
            </a:p>
          </p:txBody>
        </p:sp>
      </p:grpSp>
      <p:grpSp>
        <p:nvGrpSpPr>
          <p:cNvPr id="6" name="Group 6"/>
          <p:cNvGrpSpPr/>
          <p:nvPr/>
        </p:nvGrpSpPr>
        <p:grpSpPr bwMode="auto">
          <a:xfrm>
            <a:off x="1184275" y="3345815"/>
            <a:ext cx="7917815" cy="1033145"/>
            <a:chOff x="225" y="1627"/>
            <a:chExt cx="5310" cy="654"/>
          </a:xfrm>
        </p:grpSpPr>
        <p:pic>
          <p:nvPicPr>
            <p:cNvPr id="23561" name="Picture 7" descr="12-green"/>
            <p:cNvPicPr>
              <a:picLocks noChangeAspect="1" noChangeArrowheads="1"/>
            </p:cNvPicPr>
            <p:nvPr/>
          </p:nvPicPr>
          <p:blipFill>
            <a:blip r:embed="rId3" cstate="print"/>
            <a:srcRect/>
            <a:stretch>
              <a:fillRect/>
            </a:stretch>
          </p:blipFill>
          <p:spPr bwMode="auto">
            <a:xfrm>
              <a:off x="225" y="1627"/>
              <a:ext cx="5310" cy="654"/>
            </a:xfrm>
            <a:prstGeom prst="rect">
              <a:avLst/>
            </a:prstGeom>
            <a:noFill/>
            <a:ln w="9525">
              <a:noFill/>
              <a:miter lim="800000"/>
              <a:headEnd/>
              <a:tailEnd/>
            </a:ln>
          </p:spPr>
        </p:pic>
        <p:sp>
          <p:nvSpPr>
            <p:cNvPr id="23562" name="AutoShape 8"/>
            <p:cNvSpPr>
              <a:spLocks noChangeArrowheads="1"/>
            </p:cNvSpPr>
            <p:nvPr/>
          </p:nvSpPr>
          <p:spPr bwMode="auto">
            <a:xfrm>
              <a:off x="240" y="1666"/>
              <a:ext cx="5278" cy="576"/>
            </a:xfrm>
            <a:prstGeom prst="bevel">
              <a:avLst>
                <a:gd name="adj" fmla="val 12500"/>
              </a:avLst>
            </a:prstGeom>
            <a:noFill/>
            <a:ln w="9525">
              <a:noFill/>
              <a:miter lim="800000"/>
            </a:ln>
          </p:spPr>
          <p:txBody>
            <a:bodyPr anchor="ctr">
              <a:scene3d>
                <a:camera prst="orthographicFront"/>
                <a:lightRig rig="threePt" dir="t"/>
              </a:scene3d>
            </a:bodyPr>
            <a:lstStyle/>
            <a:p>
              <a:pPr>
                <a:lnSpc>
                  <a:spcPct val="90000"/>
                </a:lnSpc>
                <a:spcBef>
                  <a:spcPct val="20000"/>
                </a:spcBef>
                <a:buClr>
                  <a:schemeClr val="hlink"/>
                </a:buClr>
                <a:buFont typeface="Wingdings" panose="05000000000000000000" pitchFamily="2" charset="2"/>
                <a:buNone/>
              </a:pPr>
              <a:r>
                <a:rPr kumimoji="0" lang="zh-CN" altLang="en-US" sz="240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宋体" panose="02010600030101010101" pitchFamily="2" charset="-122"/>
                </a:rPr>
                <a:t>票据到期值＝应收票据面值</a:t>
              </a:r>
              <a:r>
                <a:rPr kumimoji="0" lang="en-US" altLang="zh-CN" sz="240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宋体" panose="02010600030101010101" pitchFamily="2" charset="-122"/>
                </a:rPr>
                <a:t>×</a:t>
              </a:r>
              <a:r>
                <a:rPr kumimoji="0" lang="zh-CN" altLang="en-US" sz="240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宋体" panose="02010600030101010101" pitchFamily="2" charset="-122"/>
                </a:rPr>
                <a:t>（</a:t>
              </a:r>
              <a:r>
                <a:rPr kumimoji="0" lang="en-US" altLang="zh-CN" sz="240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宋体" panose="02010600030101010101" pitchFamily="2" charset="-122"/>
                </a:rPr>
                <a:t>1+</a:t>
              </a:r>
              <a:r>
                <a:rPr kumimoji="0" lang="zh-CN" altLang="en-US" sz="240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宋体" panose="02010600030101010101" pitchFamily="2" charset="-122"/>
                </a:rPr>
                <a:t>票面利率</a:t>
              </a:r>
              <a:r>
                <a:rPr kumimoji="0" lang="en-US" altLang="zh-CN" sz="240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宋体" panose="02010600030101010101" pitchFamily="2" charset="-122"/>
                </a:rPr>
                <a:t>×</a:t>
              </a:r>
              <a:r>
                <a:rPr kumimoji="0" lang="zh-CN" altLang="en-US" sz="240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宋体" panose="02010600030101010101" pitchFamily="2" charset="-122"/>
                </a:rPr>
                <a:t>票据期）</a:t>
              </a:r>
            </a:p>
          </p:txBody>
        </p:sp>
      </p:grpSp>
      <p:grpSp>
        <p:nvGrpSpPr>
          <p:cNvPr id="7" name="Group 9"/>
          <p:cNvGrpSpPr/>
          <p:nvPr/>
        </p:nvGrpSpPr>
        <p:grpSpPr bwMode="auto">
          <a:xfrm>
            <a:off x="1184275" y="4723130"/>
            <a:ext cx="7921625" cy="1001395"/>
            <a:chOff x="225" y="3091"/>
            <a:chExt cx="5312" cy="654"/>
          </a:xfrm>
        </p:grpSpPr>
        <p:pic>
          <p:nvPicPr>
            <p:cNvPr id="23559" name="Picture 10" descr="12-yellow"/>
            <p:cNvPicPr>
              <a:picLocks noChangeAspect="1" noChangeArrowheads="1"/>
            </p:cNvPicPr>
            <p:nvPr/>
          </p:nvPicPr>
          <p:blipFill>
            <a:blip r:embed="rId4" cstate="print"/>
            <a:srcRect/>
            <a:stretch>
              <a:fillRect/>
            </a:stretch>
          </p:blipFill>
          <p:spPr bwMode="auto">
            <a:xfrm>
              <a:off x="225" y="3091"/>
              <a:ext cx="5310" cy="654"/>
            </a:xfrm>
            <a:prstGeom prst="rect">
              <a:avLst/>
            </a:prstGeom>
            <a:noFill/>
            <a:ln w="9525">
              <a:noFill/>
              <a:miter lim="800000"/>
              <a:headEnd/>
              <a:tailEnd/>
            </a:ln>
          </p:spPr>
        </p:pic>
        <p:sp>
          <p:nvSpPr>
            <p:cNvPr id="23560" name="AutoShape 11"/>
            <p:cNvSpPr>
              <a:spLocks noChangeArrowheads="1"/>
            </p:cNvSpPr>
            <p:nvPr/>
          </p:nvSpPr>
          <p:spPr bwMode="auto">
            <a:xfrm>
              <a:off x="259" y="3184"/>
              <a:ext cx="5278" cy="469"/>
            </a:xfrm>
            <a:prstGeom prst="bevel">
              <a:avLst>
                <a:gd name="adj" fmla="val 12500"/>
              </a:avLst>
            </a:prstGeom>
            <a:noFill/>
            <a:ln w="9525">
              <a:noFill/>
              <a:miter lim="800000"/>
            </a:ln>
          </p:spPr>
          <p:txBody>
            <a:bodyPr anchor="ctr">
              <a:scene3d>
                <a:camera prst="orthographicFront"/>
                <a:lightRig rig="threePt" dir="t"/>
              </a:scene3d>
            </a:bodyPr>
            <a:lstStyle/>
            <a:p>
              <a:pPr>
                <a:lnSpc>
                  <a:spcPct val="160000"/>
                </a:lnSpc>
                <a:spcBef>
                  <a:spcPct val="20000"/>
                </a:spcBef>
                <a:buClr>
                  <a:schemeClr val="hlink"/>
                </a:buClr>
                <a:buFont typeface="Wingdings" panose="05000000000000000000" pitchFamily="2" charset="2"/>
                <a:buNone/>
              </a:pPr>
              <a:r>
                <a:rPr kumimoji="0" lang="zh-CN" altLang="en-US" sz="240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宋体" panose="02010600030101010101" pitchFamily="2" charset="-122"/>
                </a:rPr>
                <a:t>贴现息＝票据到期值</a:t>
              </a:r>
              <a:r>
                <a:rPr kumimoji="0" lang="en-US" altLang="zh-CN" sz="240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宋体" panose="02010600030101010101" pitchFamily="2" charset="-122"/>
                </a:rPr>
                <a:t>×</a:t>
              </a:r>
              <a:r>
                <a:rPr kumimoji="0" lang="zh-CN" altLang="en-US" sz="240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宋体" panose="02010600030101010101" pitchFamily="2" charset="-122"/>
                </a:rPr>
                <a:t>贴现率</a:t>
              </a:r>
              <a:r>
                <a:rPr kumimoji="0" lang="en-US" altLang="zh-CN" sz="240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宋体" panose="02010600030101010101" pitchFamily="2" charset="-122"/>
                </a:rPr>
                <a:t>×</a:t>
              </a:r>
              <a:r>
                <a:rPr kumimoji="0" lang="zh-CN" altLang="en-US" sz="240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宋体" panose="02010600030101010101" pitchFamily="2" charset="-122"/>
                </a:rPr>
                <a:t>贴现期</a:t>
              </a:r>
              <a:r>
                <a:rPr kumimoji="0" lang="en-US" altLang="zh-CN" sz="240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宋体" panose="02010600030101010101" pitchFamily="2" charset="-122"/>
                </a:rPr>
                <a:t>(</a:t>
              </a:r>
              <a:r>
                <a:rPr kumimoji="0" lang="zh-CN" altLang="en-US" sz="240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宋体" panose="02010600030101010101" pitchFamily="2" charset="-122"/>
                </a:rPr>
                <a:t>贴现天数</a:t>
              </a:r>
              <a:r>
                <a:rPr kumimoji="0" lang="en-US" altLang="zh-CN" sz="240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宋体" panose="02010600030101010101" pitchFamily="2" charset="-122"/>
                </a:rPr>
                <a: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800" dirty="0">
                <a:solidFill>
                  <a:schemeClr val="tx1"/>
                </a:solidFill>
                <a:latin typeface="楷体_GB2312" panose="02010609030101010101" pitchFamily="49" charset="-122"/>
                <a:ea typeface="楷体_GB2312" panose="02010609030101010101" pitchFamily="49" charset="-122"/>
                <a:cs typeface="+mn-ea"/>
                <a:sym typeface="+mn-ea"/>
              </a:rPr>
              <a:t>贴现期</a:t>
            </a:r>
            <a:endParaRPr lang="zh-CN" altLang="en-US" sz="2800" dirty="0">
              <a:solidFill>
                <a:schemeClr val="tx1"/>
              </a:solidFill>
              <a:latin typeface="楷体_GB2312" panose="02010609030101010101" pitchFamily="49" charset="-122"/>
              <a:ea typeface="楷体_GB2312" panose="02010609030101010101" pitchFamily="49" charset="-122"/>
              <a:cs typeface="+mn-ea"/>
            </a:endParaRPr>
          </a:p>
        </p:txBody>
      </p:sp>
      <p:sp>
        <p:nvSpPr>
          <p:cNvPr id="3" name="内容占位符 2"/>
          <p:cNvSpPr>
            <a:spLocks noGrp="1"/>
          </p:cNvSpPr>
          <p:nvPr>
            <p:ph idx="1"/>
          </p:nvPr>
        </p:nvSpPr>
        <p:spPr>
          <a:xfrm>
            <a:off x="914400" y="1676400"/>
            <a:ext cx="10363200" cy="4196080"/>
          </a:xfrm>
        </p:spPr>
        <p:txBody>
          <a:bodyPr/>
          <a:lstStyle/>
          <a:p>
            <a:pPr marL="0" indent="0">
              <a:buNone/>
            </a:pPr>
            <a:endParaRPr lang="en-US" altLang="zh-CN" dirty="0"/>
          </a:p>
          <a:p>
            <a:pPr lvl="1"/>
            <a:r>
              <a:rPr lang="zh-CN" altLang="en-US" sz="2800" dirty="0">
                <a:latin typeface="楷体_GB2312" panose="02010609030101010101" pitchFamily="49" charset="-122"/>
                <a:ea typeface="楷体_GB2312" panose="02010609030101010101" pitchFamily="49" charset="-122"/>
                <a:cs typeface="+mn-ea"/>
                <a:sym typeface="+mn-ea"/>
              </a:rPr>
              <a:t>贴现期是指贴现日至票据到期日的实际天数。在贴现日和票据到期日这两天中，只计算其中的一天。</a:t>
            </a:r>
          </a:p>
          <a:p>
            <a:pPr lvl="1"/>
            <a:r>
              <a:rPr lang="zh-CN" altLang="en-US" sz="2800" dirty="0">
                <a:latin typeface="楷体_GB2312" panose="02010609030101010101" pitchFamily="49" charset="-122"/>
                <a:ea typeface="楷体_GB2312" panose="02010609030101010101" pitchFamily="49" charset="-122"/>
                <a:cs typeface="+mn-ea"/>
                <a:sym typeface="+mn-ea"/>
              </a:rPr>
              <a:t>如果2月10日将1月31日（当年2月份为28天）签发承兑的期限为30天、60天、90天、180天，到期日分别为3月2日、4月1日、5月1日和7月30日的商业汇票贴现，其贴现天数分别为多少天？</a:t>
            </a:r>
          </a:p>
          <a:p>
            <a:pPr lvl="1"/>
            <a:r>
              <a:rPr lang="zh-CN" altLang="en-US" sz="2800" dirty="0">
                <a:latin typeface="楷体_GB2312" panose="02010609030101010101" pitchFamily="49" charset="-122"/>
                <a:ea typeface="楷体_GB2312" panose="02010609030101010101" pitchFamily="49" charset="-122"/>
                <a:cs typeface="+mn-ea"/>
                <a:sym typeface="+mn-ea"/>
              </a:rPr>
              <a:t>无论商业汇票的到期日按日表示还是按月表示，贴现期一律按实际贴现天数计算。</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76705" y="1151890"/>
            <a:ext cx="11329035" cy="591820"/>
          </a:xfrm>
        </p:spPr>
        <p:txBody>
          <a:bodyPr/>
          <a:lstStyle/>
          <a:p>
            <a:r>
              <a:rPr lang="zh-CN" altLang="en-US" sz="2800" dirty="0">
                <a:solidFill>
                  <a:schemeClr val="tx1"/>
                </a:solidFill>
                <a:latin typeface="楷体_GB2312" panose="02010609030101010101" pitchFamily="49" charset="-122"/>
                <a:ea typeface="楷体_GB2312" panose="02010609030101010101" pitchFamily="49" charset="-122"/>
                <a:cs typeface="+mn-ea"/>
                <a:sym typeface="+mn-ea"/>
              </a:rPr>
              <a:t>票据到期利息、到期值、贴现天数、贴现息、贴现所得额计算</a:t>
            </a:r>
            <a:endParaRPr lang="zh-CN" altLang="en-US" sz="2800" dirty="0">
              <a:solidFill>
                <a:schemeClr val="tx1"/>
              </a:solidFill>
              <a:latin typeface="楷体_GB2312" panose="02010609030101010101" pitchFamily="49" charset="-122"/>
              <a:ea typeface="楷体_GB2312" panose="02010609030101010101" pitchFamily="49" charset="-122"/>
              <a:cs typeface="+mn-ea"/>
            </a:endParaRPr>
          </a:p>
        </p:txBody>
      </p:sp>
      <p:sp>
        <p:nvSpPr>
          <p:cNvPr id="3" name="内容占位符 2"/>
          <p:cNvSpPr>
            <a:spLocks noGrp="1"/>
          </p:cNvSpPr>
          <p:nvPr>
            <p:ph idx="1"/>
          </p:nvPr>
        </p:nvSpPr>
        <p:spPr>
          <a:xfrm>
            <a:off x="914400" y="2045335"/>
            <a:ext cx="10363200" cy="1842135"/>
          </a:xfrm>
        </p:spPr>
        <p:txBody>
          <a:bodyPr/>
          <a:lstStyle/>
          <a:p>
            <a:pPr lvl="1"/>
            <a:r>
              <a:rPr lang="zh-CN" altLang="en-US" sz="2800" dirty="0">
                <a:latin typeface="楷体_GB2312" panose="02010609030101010101" pitchFamily="49" charset="-122"/>
                <a:ea typeface="楷体_GB2312" panose="02010609030101010101" pitchFamily="49" charset="-122"/>
                <a:cs typeface="+mn-ea"/>
                <a:sym typeface="+mn-ea"/>
              </a:rPr>
              <a:t>甲企业于2月10日（当年2月份为28天）将签发承兑日1月31日、期限为90天、面值为50000元、利率为9.6%、到期日为5月1日的银行承兑汇票到银行申请贴现，银行规定的月贴现率为6‰</a:t>
            </a:r>
            <a:endParaRPr lang="zh-CN" altLang="en-US" sz="2800" dirty="0">
              <a:latin typeface="楷体_GB2312" panose="02010609030101010101" pitchFamily="49" charset="-122"/>
              <a:ea typeface="楷体_GB2312" panose="02010609030101010101" pitchFamily="49" charset="-122"/>
              <a:cs typeface="+mn-ea"/>
            </a:endParaRPr>
          </a:p>
        </p:txBody>
      </p:sp>
      <p:sp>
        <p:nvSpPr>
          <p:cNvPr id="64516" name="Rectangle 4"/>
          <p:cNvSpPr>
            <a:spLocks noChangeArrowheads="1"/>
          </p:cNvSpPr>
          <p:nvPr/>
        </p:nvSpPr>
        <p:spPr bwMode="auto">
          <a:xfrm>
            <a:off x="1992630" y="3887470"/>
            <a:ext cx="8207375" cy="2281238"/>
          </a:xfrm>
          <a:prstGeom prst="rect">
            <a:avLst/>
          </a:prstGeom>
          <a:noFill/>
          <a:ln w="9525">
            <a:solidFill>
              <a:schemeClr val="accent2"/>
            </a:solidFill>
            <a:miter lim="800000"/>
          </a:ln>
        </p:spPr>
        <p:txBody>
          <a:bodyPr/>
          <a:lstStyle/>
          <a:p>
            <a:pPr marL="342900" indent="-342900">
              <a:lnSpc>
                <a:spcPct val="85000"/>
              </a:lnSpc>
              <a:spcBef>
                <a:spcPct val="0"/>
              </a:spcBef>
            </a:pPr>
            <a:r>
              <a:rPr kumimoji="0" lang="zh-CN" altLang="en-US" sz="2800" b="1" kern="0" dirty="0">
                <a:latin typeface="楷体_GB2312" panose="02010609030101010101" pitchFamily="49" charset="-122"/>
                <a:ea typeface="楷体_GB2312" panose="02010609030101010101" pitchFamily="49" charset="-122"/>
                <a:cs typeface="+mn-ea"/>
              </a:rPr>
              <a:t>票据到期利息=50000×9.6%×90/360=1200（元）</a:t>
            </a:r>
          </a:p>
          <a:p>
            <a:pPr marL="342900" indent="-342900">
              <a:spcBef>
                <a:spcPct val="0"/>
              </a:spcBef>
            </a:pPr>
            <a:r>
              <a:rPr kumimoji="0" lang="zh-CN" altLang="en-US" sz="2800" b="1" kern="0" dirty="0">
                <a:latin typeface="楷体_GB2312" panose="02010609030101010101" pitchFamily="49" charset="-122"/>
                <a:ea typeface="楷体_GB2312" panose="02010609030101010101" pitchFamily="49" charset="-122"/>
                <a:cs typeface="+mn-ea"/>
              </a:rPr>
              <a:t>票据到期值=50 000+1200=51200（元）</a:t>
            </a:r>
          </a:p>
          <a:p>
            <a:pPr marL="342900" indent="-342900">
              <a:spcBef>
                <a:spcPct val="0"/>
              </a:spcBef>
            </a:pPr>
            <a:r>
              <a:rPr kumimoji="0" lang="zh-CN" altLang="en-US" sz="2800" b="1" kern="0" dirty="0">
                <a:latin typeface="楷体_GB2312" panose="02010609030101010101" pitchFamily="49" charset="-122"/>
                <a:ea typeface="楷体_GB2312" panose="02010609030101010101" pitchFamily="49" charset="-122"/>
                <a:cs typeface="+mn-ea"/>
              </a:rPr>
              <a:t>贴现天数=80天（18+31+30+1）</a:t>
            </a:r>
          </a:p>
          <a:p>
            <a:pPr marL="342900" indent="-342900">
              <a:spcBef>
                <a:spcPct val="0"/>
              </a:spcBef>
            </a:pPr>
            <a:r>
              <a:rPr kumimoji="0" lang="zh-CN" altLang="en-US" sz="2800" b="1" kern="0" dirty="0">
                <a:latin typeface="楷体_GB2312" panose="02010609030101010101" pitchFamily="49" charset="-122"/>
                <a:ea typeface="楷体_GB2312" panose="02010609030101010101" pitchFamily="49" charset="-122"/>
                <a:cs typeface="+mn-ea"/>
              </a:rPr>
              <a:t>贴现息=51200× 6‰ ×80/30=819.2（元）</a:t>
            </a:r>
          </a:p>
          <a:p>
            <a:pPr marL="342900" indent="-342900">
              <a:lnSpc>
                <a:spcPct val="95000"/>
              </a:lnSpc>
              <a:spcBef>
                <a:spcPct val="0"/>
              </a:spcBef>
            </a:pPr>
            <a:r>
              <a:rPr kumimoji="0" lang="zh-CN" altLang="en-US" sz="2800" b="1" kern="0" dirty="0">
                <a:latin typeface="楷体_GB2312" panose="02010609030101010101" pitchFamily="49" charset="-122"/>
                <a:ea typeface="楷体_GB2312" panose="02010609030101010101" pitchFamily="49" charset="-122"/>
                <a:cs typeface="+mn-ea"/>
              </a:rPr>
              <a:t>贴现所得额=51200-819.2=50 380.8（元） </a:t>
            </a:r>
            <a:r>
              <a:rPr kumimoji="0" lang="zh-CN" altLang="en-US" sz="3200">
                <a:solidFill>
                  <a:schemeClr val="tx2"/>
                </a:solidFill>
                <a:latin typeface="隶书" panose="02010509060101010101" pitchFamily="49" charset="-122"/>
                <a:ea typeface="隶书" panose="02010509060101010101" pitchFamily="49"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4516">
                                            <p:txEl>
                                              <p:pRg st="0" end="0"/>
                                            </p:txEl>
                                          </p:spTgt>
                                        </p:tgtEl>
                                        <p:attrNameLst>
                                          <p:attrName>style.visibility</p:attrName>
                                        </p:attrNameLst>
                                      </p:cBhvr>
                                      <p:to>
                                        <p:strVal val="visible"/>
                                      </p:to>
                                    </p:set>
                                    <p:anim calcmode="lin" valueType="num">
                                      <p:cBhvr additive="base">
                                        <p:cTn id="7" dur="500" fill="hold"/>
                                        <p:tgtEl>
                                          <p:spTgt spid="6451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451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4516">
                                            <p:txEl>
                                              <p:pRg st="1" end="1"/>
                                            </p:txEl>
                                          </p:spTgt>
                                        </p:tgtEl>
                                        <p:attrNameLst>
                                          <p:attrName>style.visibility</p:attrName>
                                        </p:attrNameLst>
                                      </p:cBhvr>
                                      <p:to>
                                        <p:strVal val="visible"/>
                                      </p:to>
                                    </p:set>
                                    <p:anim calcmode="lin" valueType="num">
                                      <p:cBhvr additive="base">
                                        <p:cTn id="13" dur="500" fill="hold"/>
                                        <p:tgtEl>
                                          <p:spTgt spid="6451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451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4516">
                                            <p:txEl>
                                              <p:pRg st="2" end="2"/>
                                            </p:txEl>
                                          </p:spTgt>
                                        </p:tgtEl>
                                        <p:attrNameLst>
                                          <p:attrName>style.visibility</p:attrName>
                                        </p:attrNameLst>
                                      </p:cBhvr>
                                      <p:to>
                                        <p:strVal val="visible"/>
                                      </p:to>
                                    </p:set>
                                    <p:anim calcmode="lin" valueType="num">
                                      <p:cBhvr additive="base">
                                        <p:cTn id="19" dur="500" fill="hold"/>
                                        <p:tgtEl>
                                          <p:spTgt spid="64516">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451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4516">
                                            <p:txEl>
                                              <p:pRg st="3" end="3"/>
                                            </p:txEl>
                                          </p:spTgt>
                                        </p:tgtEl>
                                        <p:attrNameLst>
                                          <p:attrName>style.visibility</p:attrName>
                                        </p:attrNameLst>
                                      </p:cBhvr>
                                      <p:to>
                                        <p:strVal val="visible"/>
                                      </p:to>
                                    </p:set>
                                    <p:anim calcmode="lin" valueType="num">
                                      <p:cBhvr additive="base">
                                        <p:cTn id="25" dur="500" fill="hold"/>
                                        <p:tgtEl>
                                          <p:spTgt spid="64516">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4516">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4516">
                                            <p:txEl>
                                              <p:pRg st="4" end="4"/>
                                            </p:txEl>
                                          </p:spTgt>
                                        </p:tgtEl>
                                        <p:attrNameLst>
                                          <p:attrName>style.visibility</p:attrName>
                                        </p:attrNameLst>
                                      </p:cBhvr>
                                      <p:to>
                                        <p:strVal val="visible"/>
                                      </p:to>
                                    </p:set>
                                    <p:anim calcmode="lin" valueType="num">
                                      <p:cBhvr additive="base">
                                        <p:cTn id="31" dur="500" fill="hold"/>
                                        <p:tgtEl>
                                          <p:spTgt spid="64516">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64516">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6" grpId="0" uiExpand="1"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200" dirty="0">
                <a:solidFill>
                  <a:schemeClr val="tx1"/>
                </a:solidFill>
                <a:latin typeface="黑体" panose="02010609060101010101" pitchFamily="49" charset="-122"/>
                <a:ea typeface="黑体" panose="02010609060101010101" pitchFamily="49" charset="-122"/>
                <a:cs typeface="+mn-cs"/>
                <a:sym typeface="+mn-ea"/>
              </a:rPr>
              <a:t>(</a:t>
            </a:r>
            <a:r>
              <a:rPr lang="zh-CN" altLang="en-US" sz="3200" dirty="0">
                <a:solidFill>
                  <a:schemeClr val="tx1"/>
                </a:solidFill>
                <a:latin typeface="黑体" panose="02010609060101010101" pitchFamily="49" charset="-122"/>
                <a:ea typeface="黑体" panose="02010609060101010101" pitchFamily="49" charset="-122"/>
                <a:cs typeface="+mn-cs"/>
                <a:sym typeface="+mn-ea"/>
              </a:rPr>
              <a:t>二）应收票据贴现的会计处理</a:t>
            </a:r>
            <a:endParaRPr lang="zh-CN" altLang="en-US" dirty="0"/>
          </a:p>
        </p:txBody>
      </p:sp>
      <p:sp>
        <p:nvSpPr>
          <p:cNvPr id="414724" name="Rectangle 4"/>
          <p:cNvSpPr>
            <a:spLocks noChangeArrowheads="1"/>
          </p:cNvSpPr>
          <p:nvPr/>
        </p:nvSpPr>
        <p:spPr bwMode="auto">
          <a:xfrm>
            <a:off x="2800985" y="1926590"/>
            <a:ext cx="1078230" cy="999490"/>
          </a:xfrm>
          <a:prstGeom prst="rect">
            <a:avLst/>
          </a:prstGeom>
        </p:spPr>
        <p:style>
          <a:lnRef idx="1">
            <a:schemeClr val="accent2"/>
          </a:lnRef>
          <a:fillRef idx="2">
            <a:schemeClr val="accent2"/>
          </a:fillRef>
          <a:effectRef idx="1">
            <a:schemeClr val="accent2"/>
          </a:effectRef>
          <a:fontRef idx="minor">
            <a:schemeClr val="dk1"/>
          </a:fontRef>
        </p:style>
        <p:txBody>
          <a:bodyPr lIns="0" tIns="0" rIns="0" bIns="0" anchor="ctr"/>
          <a:lstStyle/>
          <a:p>
            <a:pPr>
              <a:defRPr/>
            </a:pPr>
            <a:endParaRPr lang="en-US" altLang="zh-CN">
              <a:effectLst>
                <a:outerShdw blurRad="38100" dist="38100" dir="2700000" algn="tl">
                  <a:srgbClr val="000000">
                    <a:alpha val="43137"/>
                  </a:srgbClr>
                </a:outerShdw>
              </a:effectLst>
              <a:latin typeface="Times New Roman" panose="02020603050405020304" pitchFamily="18" charset="0"/>
            </a:endParaRPr>
          </a:p>
        </p:txBody>
      </p:sp>
      <p:sp>
        <p:nvSpPr>
          <p:cNvPr id="5" name="Rectangle 4"/>
          <p:cNvSpPr>
            <a:spLocks noChangeArrowheads="1"/>
          </p:cNvSpPr>
          <p:nvPr/>
        </p:nvSpPr>
        <p:spPr bwMode="auto">
          <a:xfrm>
            <a:off x="2800985" y="3176270"/>
            <a:ext cx="1078230" cy="999490"/>
          </a:xfrm>
          <a:prstGeom prst="rect">
            <a:avLst/>
          </a:prstGeom>
        </p:spPr>
        <p:style>
          <a:lnRef idx="1">
            <a:schemeClr val="accent2"/>
          </a:lnRef>
          <a:fillRef idx="2">
            <a:schemeClr val="accent2"/>
          </a:fillRef>
          <a:effectRef idx="1">
            <a:schemeClr val="accent2"/>
          </a:effectRef>
          <a:fontRef idx="minor">
            <a:schemeClr val="dk1"/>
          </a:fontRef>
        </p:style>
        <p:txBody>
          <a:bodyPr lIns="0" tIns="0" rIns="0" bIns="0" anchor="ctr"/>
          <a:lstStyle/>
          <a:p>
            <a:pPr>
              <a:defRPr/>
            </a:pPr>
            <a:endParaRPr lang="zh-CN" altLang="en-US">
              <a:effectLst>
                <a:outerShdw blurRad="38100" dist="38100" dir="2700000" algn="tl">
                  <a:srgbClr val="000000">
                    <a:alpha val="43137"/>
                  </a:srgbClr>
                </a:outerShdw>
              </a:effectLst>
              <a:latin typeface="Times New Roman" panose="02020603050405020304" pitchFamily="18" charset="0"/>
            </a:endParaRPr>
          </a:p>
        </p:txBody>
      </p:sp>
      <p:sp>
        <p:nvSpPr>
          <p:cNvPr id="6" name="Rectangle 4"/>
          <p:cNvSpPr>
            <a:spLocks noChangeArrowheads="1"/>
          </p:cNvSpPr>
          <p:nvPr/>
        </p:nvSpPr>
        <p:spPr bwMode="auto">
          <a:xfrm>
            <a:off x="2800985" y="4374515"/>
            <a:ext cx="1078230" cy="999490"/>
          </a:xfrm>
          <a:prstGeom prst="rect">
            <a:avLst/>
          </a:prstGeom>
        </p:spPr>
        <p:style>
          <a:lnRef idx="1">
            <a:schemeClr val="accent2"/>
          </a:lnRef>
          <a:fillRef idx="2">
            <a:schemeClr val="accent2"/>
          </a:fillRef>
          <a:effectRef idx="1">
            <a:schemeClr val="accent2"/>
          </a:effectRef>
          <a:fontRef idx="minor">
            <a:schemeClr val="dk1"/>
          </a:fontRef>
        </p:style>
        <p:txBody>
          <a:bodyPr lIns="0" tIns="0" rIns="0" bIns="0" anchor="ctr"/>
          <a:lstStyle/>
          <a:p>
            <a:pPr>
              <a:defRPr/>
            </a:pPr>
            <a:endParaRPr lang="zh-CN" altLang="en-US">
              <a:effectLst>
                <a:outerShdw blurRad="38100" dist="38100" dir="2700000" algn="tl">
                  <a:srgbClr val="000000">
                    <a:alpha val="43137"/>
                  </a:srgbClr>
                </a:outerShdw>
              </a:effectLst>
              <a:latin typeface="Times New Roman" panose="02020603050405020304" pitchFamily="18" charset="0"/>
            </a:endParaRPr>
          </a:p>
        </p:txBody>
      </p:sp>
      <p:sp>
        <p:nvSpPr>
          <p:cNvPr id="7" name="Rectangle 4"/>
          <p:cNvSpPr>
            <a:spLocks noChangeArrowheads="1"/>
          </p:cNvSpPr>
          <p:nvPr/>
        </p:nvSpPr>
        <p:spPr bwMode="auto">
          <a:xfrm>
            <a:off x="2800985" y="5560060"/>
            <a:ext cx="1078230" cy="999490"/>
          </a:xfrm>
          <a:prstGeom prst="rect">
            <a:avLst/>
          </a:prstGeom>
        </p:spPr>
        <p:style>
          <a:lnRef idx="1">
            <a:schemeClr val="accent2"/>
          </a:lnRef>
          <a:fillRef idx="2">
            <a:schemeClr val="accent2"/>
          </a:fillRef>
          <a:effectRef idx="1">
            <a:schemeClr val="accent2"/>
          </a:effectRef>
          <a:fontRef idx="minor">
            <a:schemeClr val="dk1"/>
          </a:fontRef>
        </p:style>
        <p:txBody>
          <a:bodyPr lIns="0" tIns="0" rIns="0" bIns="0" anchor="ctr"/>
          <a:lstStyle/>
          <a:p>
            <a:pPr>
              <a:defRPr/>
            </a:pPr>
            <a:endParaRPr lang="zh-CN" altLang="en-US">
              <a:effectLst>
                <a:outerShdw blurRad="38100" dist="38100" dir="2700000" algn="tl">
                  <a:srgbClr val="000000">
                    <a:alpha val="43137"/>
                  </a:srgbClr>
                </a:outerShdw>
              </a:effectLst>
              <a:latin typeface="Times New Roman" panose="02020603050405020304" pitchFamily="18" charset="0"/>
            </a:endParaRPr>
          </a:p>
        </p:txBody>
      </p:sp>
      <p:sp>
        <p:nvSpPr>
          <p:cNvPr id="411653" name="Rectangle 5"/>
          <p:cNvSpPr>
            <a:spLocks noChangeArrowheads="1"/>
          </p:cNvSpPr>
          <p:nvPr/>
        </p:nvSpPr>
        <p:spPr bwMode="auto">
          <a:xfrm>
            <a:off x="2829878" y="2241233"/>
            <a:ext cx="1049337" cy="369887"/>
          </a:xfrm>
          <a:prstGeom prst="rect">
            <a:avLst/>
          </a:prstGeom>
          <a:noFill/>
          <a:ln w="6350">
            <a:noFill/>
            <a:miter lim="800000"/>
          </a:ln>
          <a:effectLst/>
        </p:spPr>
        <p:txBody>
          <a:bodyPr lIns="0" tIns="0" rIns="0" bIns="0" anchor="ctr">
            <a:spAutoFit/>
          </a:bodyPr>
          <a:lstStyle/>
          <a:p>
            <a:pPr algn="ctr" defTabSz="330200">
              <a:spcBef>
                <a:spcPct val="20000"/>
              </a:spcBef>
              <a:buClr>
                <a:schemeClr val="hlink"/>
              </a:buClr>
              <a:tabLst>
                <a:tab pos="8521700" algn="r"/>
              </a:tabLst>
              <a:defRPr/>
            </a:pPr>
            <a:r>
              <a:rPr kumimoji="0" lang="zh-CN" altLang="en-US" sz="2400" dirty="0">
                <a:solidFill>
                  <a:srgbClr val="FF0000"/>
                </a:solidFill>
                <a:effectLst>
                  <a:outerShdw blurRad="38100" dist="38100" dir="2700000" algn="tl">
                    <a:srgbClr val="000000"/>
                  </a:outerShdw>
                </a:effectLst>
                <a:latin typeface="宋体" panose="02010600030101010101" pitchFamily="2" charset="-122"/>
                <a:ea typeface="宋体" panose="02010600030101010101" pitchFamily="2" charset="-122"/>
              </a:rPr>
              <a:t>取得</a:t>
            </a:r>
          </a:p>
        </p:txBody>
      </p:sp>
      <p:sp>
        <p:nvSpPr>
          <p:cNvPr id="411656" name="Rectangle 8"/>
          <p:cNvSpPr>
            <a:spLocks noChangeArrowheads="1"/>
          </p:cNvSpPr>
          <p:nvPr/>
        </p:nvSpPr>
        <p:spPr bwMode="auto">
          <a:xfrm>
            <a:off x="2829878" y="3492818"/>
            <a:ext cx="1049337" cy="365125"/>
          </a:xfrm>
          <a:prstGeom prst="rect">
            <a:avLst/>
          </a:prstGeom>
          <a:noFill/>
          <a:ln w="6350" algn="ctr">
            <a:noFill/>
            <a:miter lim="800000"/>
          </a:ln>
          <a:effectLst/>
        </p:spPr>
        <p:txBody>
          <a:bodyPr lIns="0" tIns="0" rIns="0" bIns="0" anchor="ctr">
            <a:spAutoFit/>
          </a:bodyPr>
          <a:lstStyle/>
          <a:p>
            <a:pPr algn="ctr" defTabSz="330200">
              <a:spcBef>
                <a:spcPct val="20000"/>
              </a:spcBef>
              <a:buClr>
                <a:schemeClr val="hlink"/>
              </a:buClr>
              <a:tabLst>
                <a:tab pos="8521700" algn="r"/>
              </a:tabLst>
              <a:defRPr/>
            </a:pPr>
            <a:r>
              <a:rPr kumimoji="0" lang="zh-CN" altLang="en-US" sz="2400">
                <a:solidFill>
                  <a:srgbClr val="FF0000"/>
                </a:solidFill>
                <a:effectLst>
                  <a:outerShdw blurRad="38100" dist="38100" dir="2700000" algn="tl">
                    <a:srgbClr val="000000"/>
                  </a:outerShdw>
                </a:effectLst>
                <a:latin typeface="宋体" panose="02010600030101010101" pitchFamily="2" charset="-122"/>
                <a:ea typeface="宋体" panose="02010600030101010101" pitchFamily="2" charset="-122"/>
              </a:rPr>
              <a:t>计息</a:t>
            </a:r>
          </a:p>
        </p:txBody>
      </p:sp>
      <p:sp>
        <p:nvSpPr>
          <p:cNvPr id="411659" name="Rectangle 11"/>
          <p:cNvSpPr>
            <a:spLocks noChangeArrowheads="1"/>
          </p:cNvSpPr>
          <p:nvPr/>
        </p:nvSpPr>
        <p:spPr bwMode="auto">
          <a:xfrm>
            <a:off x="2815273" y="4691698"/>
            <a:ext cx="1049337" cy="365125"/>
          </a:xfrm>
          <a:prstGeom prst="rect">
            <a:avLst/>
          </a:prstGeom>
          <a:noFill/>
          <a:ln w="6350" algn="ctr">
            <a:noFill/>
            <a:miter lim="800000"/>
          </a:ln>
          <a:effectLst/>
        </p:spPr>
        <p:txBody>
          <a:bodyPr lIns="0" tIns="0" rIns="0" bIns="0" anchor="ctr">
            <a:spAutoFit/>
          </a:bodyPr>
          <a:lstStyle/>
          <a:p>
            <a:pPr algn="ctr" defTabSz="330200">
              <a:spcBef>
                <a:spcPct val="20000"/>
              </a:spcBef>
              <a:buClr>
                <a:schemeClr val="hlink"/>
              </a:buClr>
              <a:tabLst>
                <a:tab pos="8521700" algn="r"/>
              </a:tabLst>
              <a:defRPr/>
            </a:pPr>
            <a:r>
              <a:rPr kumimoji="0" lang="zh-CN" altLang="en-US" sz="2400">
                <a:solidFill>
                  <a:srgbClr val="FF0000"/>
                </a:solidFill>
                <a:effectLst>
                  <a:outerShdw blurRad="38100" dist="38100" dir="2700000" algn="tl">
                    <a:srgbClr val="000000"/>
                  </a:outerShdw>
                </a:effectLst>
                <a:latin typeface="宋体" panose="02010600030101010101" pitchFamily="2" charset="-122"/>
                <a:ea typeface="宋体" panose="02010600030101010101" pitchFamily="2" charset="-122"/>
              </a:rPr>
              <a:t>贴现</a:t>
            </a:r>
          </a:p>
        </p:txBody>
      </p:sp>
      <p:sp>
        <p:nvSpPr>
          <p:cNvPr id="17" name="Rectangle 11"/>
          <p:cNvSpPr>
            <a:spLocks noChangeArrowheads="1"/>
          </p:cNvSpPr>
          <p:nvPr/>
        </p:nvSpPr>
        <p:spPr bwMode="auto">
          <a:xfrm>
            <a:off x="2800985" y="5875338"/>
            <a:ext cx="1049338" cy="368300"/>
          </a:xfrm>
          <a:prstGeom prst="rect">
            <a:avLst/>
          </a:prstGeom>
          <a:noFill/>
          <a:ln w="6350" algn="ctr">
            <a:noFill/>
            <a:miter lim="800000"/>
          </a:ln>
          <a:effectLst/>
        </p:spPr>
        <p:txBody>
          <a:bodyPr lIns="0" tIns="0" rIns="0" bIns="0" anchor="ctr">
            <a:spAutoFit/>
          </a:bodyPr>
          <a:lstStyle/>
          <a:p>
            <a:pPr algn="ctr" defTabSz="330200">
              <a:spcBef>
                <a:spcPct val="20000"/>
              </a:spcBef>
              <a:buClr>
                <a:schemeClr val="hlink"/>
              </a:buClr>
              <a:tabLst>
                <a:tab pos="8521700" algn="r"/>
              </a:tabLst>
              <a:defRPr/>
            </a:pPr>
            <a:r>
              <a:rPr kumimoji="0" lang="zh-CN" altLang="en-US" sz="2400" dirty="0">
                <a:solidFill>
                  <a:srgbClr val="FF0000"/>
                </a:solidFill>
                <a:effectLst>
                  <a:outerShdw blurRad="38100" dist="38100" dir="2700000" algn="tl">
                    <a:srgbClr val="000000"/>
                  </a:outerShdw>
                </a:effectLst>
                <a:latin typeface="宋体" panose="02010600030101010101" pitchFamily="2" charset="-122"/>
                <a:ea typeface="宋体" panose="02010600030101010101" pitchFamily="2" charset="-122"/>
              </a:rPr>
              <a:t>收回</a:t>
            </a:r>
          </a:p>
        </p:txBody>
      </p:sp>
      <p:sp>
        <p:nvSpPr>
          <p:cNvPr id="414733" name="Rectangle 13"/>
          <p:cNvSpPr>
            <a:spLocks noChangeArrowheads="1"/>
          </p:cNvSpPr>
          <p:nvPr/>
        </p:nvSpPr>
        <p:spPr bwMode="auto">
          <a:xfrm>
            <a:off x="4312920" y="1991678"/>
            <a:ext cx="6046788" cy="1014730"/>
          </a:xfrm>
          <a:prstGeom prst="rect">
            <a:avLst/>
          </a:prstGeom>
          <a:noFill/>
          <a:ln w="38100" algn="ctr">
            <a:noFill/>
            <a:miter lim="800000"/>
          </a:ln>
          <a:effectLst>
            <a:prstShdw prst="shdw17" dist="17961" dir="2700000">
              <a:schemeClr val="tx2">
                <a:gamma/>
                <a:shade val="60000"/>
                <a:invGamma/>
              </a:schemeClr>
            </a:prstShdw>
          </a:effectLst>
        </p:spPr>
        <p:txBody>
          <a:bodyPr>
            <a:spAutoFit/>
          </a:bodyPr>
          <a:lstStyle/>
          <a:p>
            <a:pPr>
              <a:spcBef>
                <a:spcPct val="0"/>
              </a:spcBef>
              <a:defRPr/>
            </a:pPr>
            <a:r>
              <a:rPr kumimoji="0" lang="zh-CN" altLang="en-US" sz="2000" b="1" kern="0" dirty="0">
                <a:latin typeface="仿宋_GB2312" panose="02010609030101010101" pitchFamily="49" charset="-122"/>
                <a:ea typeface="仿宋_GB2312" panose="02010609030101010101" pitchFamily="49" charset="-122"/>
                <a:cs typeface="+mn-ea"/>
              </a:rPr>
              <a:t>借：应收票据（票据面值）</a:t>
            </a:r>
          </a:p>
          <a:p>
            <a:pPr>
              <a:spcBef>
                <a:spcPct val="0"/>
              </a:spcBef>
              <a:defRPr/>
            </a:pPr>
            <a:r>
              <a:rPr kumimoji="0" lang="zh-CN" altLang="en-US" sz="2000" b="1" kern="0" dirty="0">
                <a:latin typeface="仿宋_GB2312" panose="02010609030101010101" pitchFamily="49" charset="-122"/>
                <a:ea typeface="仿宋_GB2312" panose="02010609030101010101" pitchFamily="49" charset="-122"/>
                <a:cs typeface="+mn-ea"/>
              </a:rPr>
              <a:t>　贷：主营业务收入（应收账款等）</a:t>
            </a:r>
          </a:p>
          <a:p>
            <a:pPr>
              <a:spcBef>
                <a:spcPct val="0"/>
              </a:spcBef>
              <a:defRPr/>
            </a:pPr>
            <a:r>
              <a:rPr kumimoji="0" lang="zh-CN" altLang="en-US" sz="2000" b="1" kern="0" dirty="0">
                <a:latin typeface="仿宋_GB2312" panose="02010609030101010101" pitchFamily="49" charset="-122"/>
                <a:ea typeface="仿宋_GB2312" panose="02010609030101010101" pitchFamily="49" charset="-122"/>
                <a:cs typeface="+mn-ea"/>
              </a:rPr>
              <a:t>　　　应交税费－应交增值税（销项税额）</a:t>
            </a:r>
            <a:r>
              <a:rPr kumimoji="0" lang="zh-CN" altLang="en-US" sz="2000" dirty="0">
                <a:solidFill>
                  <a:schemeClr val="tx2"/>
                </a:solidFill>
                <a:latin typeface="宋体" panose="02010600030101010101" pitchFamily="2" charset="-122"/>
              </a:rPr>
              <a:t>　　　</a:t>
            </a:r>
            <a:r>
              <a:rPr kumimoji="0" lang="zh-CN" altLang="en-US" dirty="0">
                <a:effectLst>
                  <a:outerShdw blurRad="38100" dist="38100" dir="2700000" algn="tl">
                    <a:srgbClr val="000000"/>
                  </a:outerShdw>
                </a:effectLst>
                <a:latin typeface="Times New Roman" panose="02020603050405020304" pitchFamily="18" charset="0"/>
              </a:rPr>
              <a:t>                  </a:t>
            </a:r>
          </a:p>
        </p:txBody>
      </p:sp>
      <p:sp>
        <p:nvSpPr>
          <p:cNvPr id="11" name="Rectangle 13"/>
          <p:cNvSpPr>
            <a:spLocks noChangeArrowheads="1"/>
          </p:cNvSpPr>
          <p:nvPr/>
        </p:nvSpPr>
        <p:spPr bwMode="auto">
          <a:xfrm>
            <a:off x="4312920" y="3322003"/>
            <a:ext cx="6046788" cy="706755"/>
          </a:xfrm>
          <a:prstGeom prst="rect">
            <a:avLst/>
          </a:prstGeom>
          <a:noFill/>
          <a:ln w="38100" algn="ctr">
            <a:noFill/>
            <a:miter lim="800000"/>
          </a:ln>
          <a:effectLst>
            <a:prstShdw prst="shdw17" dist="17961" dir="2700000">
              <a:schemeClr val="tx2">
                <a:gamma/>
                <a:shade val="60000"/>
                <a:invGamma/>
              </a:schemeClr>
            </a:prstShdw>
          </a:effectLst>
        </p:spPr>
        <p:txBody>
          <a:bodyPr>
            <a:spAutoFit/>
          </a:bodyPr>
          <a:lstStyle/>
          <a:p>
            <a:pPr>
              <a:spcBef>
                <a:spcPct val="0"/>
              </a:spcBef>
              <a:defRPr/>
            </a:pPr>
            <a:r>
              <a:rPr kumimoji="0" lang="zh-CN" altLang="en-US" sz="2000" b="1" kern="0" dirty="0">
                <a:latin typeface="仿宋_GB2312" panose="02010609030101010101" pitchFamily="49" charset="-122"/>
                <a:ea typeface="仿宋_GB2312" panose="02010609030101010101" pitchFamily="49" charset="-122"/>
                <a:cs typeface="+mn-ea"/>
              </a:rPr>
              <a:t>借：应收票据</a:t>
            </a:r>
          </a:p>
          <a:p>
            <a:pPr>
              <a:spcBef>
                <a:spcPct val="0"/>
              </a:spcBef>
              <a:defRPr/>
            </a:pPr>
            <a:r>
              <a:rPr kumimoji="0" lang="zh-CN" altLang="en-US" sz="2000" b="1" kern="0" dirty="0">
                <a:latin typeface="仿宋_GB2312" panose="02010609030101010101" pitchFamily="49" charset="-122"/>
                <a:ea typeface="仿宋_GB2312" panose="02010609030101010101" pitchFamily="49" charset="-122"/>
                <a:cs typeface="+mn-ea"/>
              </a:rPr>
              <a:t>　贷：财务费用</a:t>
            </a:r>
            <a:r>
              <a:rPr kumimoji="0" lang="zh-CN" altLang="en-US" sz="2000" dirty="0">
                <a:solidFill>
                  <a:schemeClr val="tx2"/>
                </a:solidFill>
                <a:latin typeface="宋体" panose="02010600030101010101" pitchFamily="2" charset="-122"/>
              </a:rPr>
              <a:t>　　　</a:t>
            </a:r>
            <a:r>
              <a:rPr kumimoji="0" lang="zh-CN" altLang="en-US" dirty="0">
                <a:effectLst>
                  <a:outerShdw blurRad="38100" dist="38100" dir="2700000" algn="tl">
                    <a:srgbClr val="000000"/>
                  </a:outerShdw>
                </a:effectLst>
                <a:latin typeface="Times New Roman" panose="02020603050405020304" pitchFamily="18" charset="0"/>
              </a:rPr>
              <a:t>                  </a:t>
            </a:r>
          </a:p>
        </p:txBody>
      </p:sp>
      <p:sp>
        <p:nvSpPr>
          <p:cNvPr id="12" name="Rectangle 13"/>
          <p:cNvSpPr>
            <a:spLocks noChangeArrowheads="1"/>
          </p:cNvSpPr>
          <p:nvPr/>
        </p:nvSpPr>
        <p:spPr bwMode="auto">
          <a:xfrm>
            <a:off x="4312920" y="5706428"/>
            <a:ext cx="6046788" cy="706755"/>
          </a:xfrm>
          <a:prstGeom prst="rect">
            <a:avLst/>
          </a:prstGeom>
          <a:noFill/>
          <a:ln w="38100" algn="ctr">
            <a:noFill/>
            <a:miter lim="800000"/>
          </a:ln>
          <a:effectLst>
            <a:prstShdw prst="shdw17" dist="17961" dir="2700000">
              <a:schemeClr val="tx2">
                <a:gamma/>
                <a:shade val="60000"/>
                <a:invGamma/>
              </a:schemeClr>
            </a:prstShdw>
          </a:effectLst>
        </p:spPr>
        <p:txBody>
          <a:bodyPr>
            <a:spAutoFit/>
          </a:bodyPr>
          <a:lstStyle/>
          <a:p>
            <a:pPr>
              <a:spcBef>
                <a:spcPct val="0"/>
              </a:spcBef>
              <a:defRPr/>
            </a:pPr>
            <a:r>
              <a:rPr kumimoji="0" lang="zh-CN" altLang="en-US" sz="2000" b="1" kern="0" dirty="0">
                <a:latin typeface="仿宋_GB2312" panose="02010609030101010101" pitchFamily="49" charset="-122"/>
                <a:ea typeface="仿宋_GB2312" panose="02010609030101010101" pitchFamily="49" charset="-122"/>
                <a:cs typeface="+mn-ea"/>
              </a:rPr>
              <a:t>借：银行存款</a:t>
            </a:r>
          </a:p>
          <a:p>
            <a:pPr>
              <a:spcBef>
                <a:spcPct val="0"/>
              </a:spcBef>
              <a:defRPr/>
            </a:pPr>
            <a:r>
              <a:rPr kumimoji="0" lang="zh-CN" altLang="en-US" sz="2000" b="1" kern="0" dirty="0">
                <a:latin typeface="仿宋_GB2312" panose="02010609030101010101" pitchFamily="49" charset="-122"/>
                <a:ea typeface="仿宋_GB2312" panose="02010609030101010101" pitchFamily="49" charset="-122"/>
                <a:cs typeface="+mn-ea"/>
              </a:rPr>
              <a:t>　贷：财务费用（应收利息）</a:t>
            </a:r>
            <a:r>
              <a:rPr kumimoji="0" lang="zh-CN" altLang="en-US" sz="2000" dirty="0">
                <a:solidFill>
                  <a:schemeClr val="tx2"/>
                </a:solidFill>
                <a:latin typeface="宋体" panose="02010600030101010101" pitchFamily="2" charset="-122"/>
              </a:rPr>
              <a:t>　　　</a:t>
            </a:r>
            <a:r>
              <a:rPr kumimoji="0" lang="zh-CN" altLang="en-US" dirty="0">
                <a:effectLst>
                  <a:outerShdw blurRad="38100" dist="38100" dir="2700000" algn="tl">
                    <a:srgbClr val="000000"/>
                  </a:outerShdw>
                </a:effectLst>
                <a:latin typeface="Times New Roman" panose="02020603050405020304" pitchFamily="18" charset="0"/>
              </a:rPr>
              <a:t>                  </a:t>
            </a:r>
          </a:p>
        </p:txBody>
      </p:sp>
      <p:sp>
        <p:nvSpPr>
          <p:cNvPr id="13" name="Rectangle 13"/>
          <p:cNvSpPr>
            <a:spLocks noChangeArrowheads="1"/>
          </p:cNvSpPr>
          <p:nvPr/>
        </p:nvSpPr>
        <p:spPr bwMode="auto">
          <a:xfrm>
            <a:off x="4312920" y="4374198"/>
            <a:ext cx="6046788" cy="1014730"/>
          </a:xfrm>
          <a:prstGeom prst="rect">
            <a:avLst/>
          </a:prstGeom>
          <a:noFill/>
          <a:ln w="38100" algn="ctr">
            <a:noFill/>
            <a:miter lim="800000"/>
          </a:ln>
          <a:effectLst>
            <a:prstShdw prst="shdw17" dist="17961" dir="2700000">
              <a:schemeClr val="tx2">
                <a:gamma/>
                <a:shade val="60000"/>
                <a:invGamma/>
              </a:schemeClr>
            </a:prstShdw>
          </a:effectLst>
        </p:spPr>
        <p:txBody>
          <a:bodyPr>
            <a:spAutoFit/>
          </a:bodyPr>
          <a:lstStyle/>
          <a:p>
            <a:pPr>
              <a:spcBef>
                <a:spcPct val="0"/>
              </a:spcBef>
              <a:defRPr/>
            </a:pPr>
            <a:r>
              <a:rPr kumimoji="0" lang="zh-CN" altLang="en-US" sz="2000" b="1" kern="0" dirty="0">
                <a:latin typeface="仿宋_GB2312" panose="02010609030101010101" pitchFamily="49" charset="-122"/>
                <a:ea typeface="仿宋_GB2312" panose="02010609030101010101" pitchFamily="49" charset="-122"/>
                <a:cs typeface="+mn-ea"/>
              </a:rPr>
              <a:t>借：银行存款（贴现所得额）</a:t>
            </a:r>
          </a:p>
          <a:p>
            <a:pPr>
              <a:spcBef>
                <a:spcPct val="0"/>
              </a:spcBef>
              <a:defRPr/>
            </a:pPr>
            <a:r>
              <a:rPr kumimoji="0" lang="zh-CN" altLang="en-US" sz="2000" b="1" kern="0" dirty="0">
                <a:latin typeface="仿宋_GB2312" panose="02010609030101010101" pitchFamily="49" charset="-122"/>
                <a:ea typeface="仿宋_GB2312" panose="02010609030101010101" pitchFamily="49" charset="-122"/>
                <a:cs typeface="+mn-ea"/>
              </a:rPr>
              <a:t>     （财务费用）</a:t>
            </a:r>
          </a:p>
          <a:p>
            <a:pPr>
              <a:spcBef>
                <a:spcPct val="0"/>
              </a:spcBef>
              <a:defRPr/>
            </a:pPr>
            <a:r>
              <a:rPr kumimoji="0" lang="zh-CN" altLang="en-US" sz="2000" b="1" kern="0" dirty="0">
                <a:latin typeface="仿宋_GB2312" panose="02010609030101010101" pitchFamily="49" charset="-122"/>
                <a:ea typeface="仿宋_GB2312" panose="02010609030101010101" pitchFamily="49" charset="-122"/>
                <a:cs typeface="+mn-ea"/>
              </a:rPr>
              <a:t>　贷：应收票据（或短期借款）</a:t>
            </a:r>
            <a:r>
              <a:rPr kumimoji="0" lang="zh-CN" altLang="en-US" sz="2000" dirty="0">
                <a:solidFill>
                  <a:schemeClr val="tx2"/>
                </a:solidFill>
                <a:latin typeface="宋体" panose="02010600030101010101" pitchFamily="2" charset="-122"/>
              </a:rPr>
              <a:t>　　　</a:t>
            </a:r>
            <a:r>
              <a:rPr kumimoji="0" lang="zh-CN" altLang="en-US" dirty="0">
                <a:effectLst>
                  <a:outerShdw blurRad="38100" dist="38100" dir="2700000" algn="tl">
                    <a:srgbClr val="000000"/>
                  </a:outerShdw>
                </a:effectLst>
                <a:latin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4724"/>
                                        </p:tgtEl>
                                        <p:attrNameLst>
                                          <p:attrName>style.visibility</p:attrName>
                                        </p:attrNameLst>
                                      </p:cBhvr>
                                      <p:to>
                                        <p:strVal val="visible"/>
                                      </p:to>
                                    </p:set>
                                  </p:childTnLst>
                                </p:cTn>
                              </p:par>
                            </p:childTnLst>
                          </p:cTn>
                        </p:par>
                        <p:par>
                          <p:cTn id="7" fill="hold">
                            <p:stCondLst>
                              <p:cond delay="0"/>
                            </p:stCondLst>
                            <p:childTnLst>
                              <p:par>
                                <p:cTn id="8" presetID="3" presetClass="entr" presetSubtype="10" fill="hold" grpId="0" nodeType="afterEffect">
                                  <p:stCondLst>
                                    <p:cond delay="0"/>
                                  </p:stCondLst>
                                  <p:childTnLst>
                                    <p:set>
                                      <p:cBhvr>
                                        <p:cTn id="9" dur="1" fill="hold">
                                          <p:stCondLst>
                                            <p:cond delay="0"/>
                                          </p:stCondLst>
                                        </p:cTn>
                                        <p:tgtEl>
                                          <p:spTgt spid="411653"/>
                                        </p:tgtEl>
                                        <p:attrNameLst>
                                          <p:attrName>style.visibility</p:attrName>
                                        </p:attrNameLst>
                                      </p:cBhvr>
                                      <p:to>
                                        <p:strVal val="visible"/>
                                      </p:to>
                                    </p:set>
                                    <p:animEffect transition="in" filter="blinds(horizontal)">
                                      <p:cBhvr>
                                        <p:cTn id="10" dur="500"/>
                                        <p:tgtEl>
                                          <p:spTgt spid="411653"/>
                                        </p:tgtEl>
                                      </p:cBhvr>
                                    </p:animEffect>
                                  </p:childTnLst>
                                </p:cTn>
                              </p:par>
                            </p:childTnLst>
                          </p:cTn>
                        </p:par>
                        <p:par>
                          <p:cTn id="11" fill="hold">
                            <p:stCondLst>
                              <p:cond delay="500"/>
                            </p:stCondLst>
                            <p:childTnLst>
                              <p:par>
                                <p:cTn id="12" presetID="3" presetClass="entr" presetSubtype="10" fill="hold" grpId="0" nodeType="afterEffect">
                                  <p:stCondLst>
                                    <p:cond delay="0"/>
                                  </p:stCondLst>
                                  <p:childTnLst>
                                    <p:set>
                                      <p:cBhvr>
                                        <p:cTn id="13" dur="1" fill="hold">
                                          <p:stCondLst>
                                            <p:cond delay="0"/>
                                          </p:stCondLst>
                                        </p:cTn>
                                        <p:tgtEl>
                                          <p:spTgt spid="414733"/>
                                        </p:tgtEl>
                                        <p:attrNameLst>
                                          <p:attrName>style.visibility</p:attrName>
                                        </p:attrNameLst>
                                      </p:cBhvr>
                                      <p:to>
                                        <p:strVal val="visible"/>
                                      </p:to>
                                    </p:set>
                                    <p:animEffect transition="in" filter="blinds(horizontal)">
                                      <p:cBhvr>
                                        <p:cTn id="14" dur="500"/>
                                        <p:tgtEl>
                                          <p:spTgt spid="414733"/>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par>
                          <p:cTn id="19" fill="hold">
                            <p:stCondLst>
                              <p:cond delay="0"/>
                            </p:stCondLst>
                            <p:childTnLst>
                              <p:par>
                                <p:cTn id="20" presetID="3" presetClass="entr" presetSubtype="10" fill="hold" grpId="0" nodeType="afterEffect">
                                  <p:stCondLst>
                                    <p:cond delay="0"/>
                                  </p:stCondLst>
                                  <p:childTnLst>
                                    <p:set>
                                      <p:cBhvr>
                                        <p:cTn id="21" dur="1" fill="hold">
                                          <p:stCondLst>
                                            <p:cond delay="0"/>
                                          </p:stCondLst>
                                        </p:cTn>
                                        <p:tgtEl>
                                          <p:spTgt spid="411656"/>
                                        </p:tgtEl>
                                        <p:attrNameLst>
                                          <p:attrName>style.visibility</p:attrName>
                                        </p:attrNameLst>
                                      </p:cBhvr>
                                      <p:to>
                                        <p:strVal val="visible"/>
                                      </p:to>
                                    </p:set>
                                    <p:animEffect transition="in" filter="blinds(horizontal)">
                                      <p:cBhvr>
                                        <p:cTn id="22" dur="500"/>
                                        <p:tgtEl>
                                          <p:spTgt spid="411656"/>
                                        </p:tgtEl>
                                      </p:cBhvr>
                                    </p:animEffect>
                                  </p:childTnLst>
                                </p:cTn>
                              </p:par>
                            </p:childTnLst>
                          </p:cTn>
                        </p:par>
                        <p:par>
                          <p:cTn id="23" fill="hold">
                            <p:stCondLst>
                              <p:cond delay="500"/>
                            </p:stCondLst>
                            <p:childTnLst>
                              <p:par>
                                <p:cTn id="24" presetID="3" presetClass="entr" presetSubtype="10"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blinds(horizontal)">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par>
                          <p:cTn id="31" fill="hold">
                            <p:stCondLst>
                              <p:cond delay="0"/>
                            </p:stCondLst>
                            <p:childTnLst>
                              <p:par>
                                <p:cTn id="32" presetID="3" presetClass="entr" presetSubtype="10" fill="hold" grpId="0" nodeType="afterEffect">
                                  <p:stCondLst>
                                    <p:cond delay="0"/>
                                  </p:stCondLst>
                                  <p:childTnLst>
                                    <p:set>
                                      <p:cBhvr>
                                        <p:cTn id="33" dur="1" fill="hold">
                                          <p:stCondLst>
                                            <p:cond delay="0"/>
                                          </p:stCondLst>
                                        </p:cTn>
                                        <p:tgtEl>
                                          <p:spTgt spid="411659"/>
                                        </p:tgtEl>
                                        <p:attrNameLst>
                                          <p:attrName>style.visibility</p:attrName>
                                        </p:attrNameLst>
                                      </p:cBhvr>
                                      <p:to>
                                        <p:strVal val="visible"/>
                                      </p:to>
                                    </p:set>
                                    <p:animEffect transition="in" filter="blinds(horizontal)">
                                      <p:cBhvr>
                                        <p:cTn id="34" dur="500"/>
                                        <p:tgtEl>
                                          <p:spTgt spid="411659"/>
                                        </p:tgtEl>
                                      </p:cBhvr>
                                    </p:animEffect>
                                  </p:childTnLst>
                                </p:cTn>
                              </p:par>
                            </p:childTnLst>
                          </p:cTn>
                        </p:par>
                        <p:par>
                          <p:cTn id="35" fill="hold">
                            <p:stCondLst>
                              <p:cond delay="500"/>
                            </p:stCondLst>
                            <p:childTnLst>
                              <p:par>
                                <p:cTn id="36" presetID="3" presetClass="entr" presetSubtype="10" fill="hold" grpId="0" nodeType="after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blinds(horizontal)">
                                      <p:cBhvr>
                                        <p:cTn id="38" dur="500"/>
                                        <p:tgtEl>
                                          <p:spTgt spid="13"/>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childTnLst>
                                </p:cTn>
                              </p:par>
                            </p:childTnLst>
                          </p:cTn>
                        </p:par>
                        <p:par>
                          <p:cTn id="43" fill="hold">
                            <p:stCondLst>
                              <p:cond delay="0"/>
                            </p:stCondLst>
                            <p:childTnLst>
                              <p:par>
                                <p:cTn id="44" presetID="3" presetClass="entr" presetSubtype="10" fill="hold" grpId="0" nodeType="after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blinds(horizontal)">
                                      <p:cBhvr>
                                        <p:cTn id="46" dur="500"/>
                                        <p:tgtEl>
                                          <p:spTgt spid="17"/>
                                        </p:tgtEl>
                                      </p:cBhvr>
                                    </p:animEffect>
                                  </p:childTnLst>
                                </p:cTn>
                              </p:par>
                            </p:childTnLst>
                          </p:cTn>
                        </p:par>
                        <p:par>
                          <p:cTn id="47" fill="hold">
                            <p:stCondLst>
                              <p:cond delay="500"/>
                            </p:stCondLst>
                            <p:childTnLst>
                              <p:par>
                                <p:cTn id="48" presetID="3" presetClass="entr" presetSubtype="10" fill="hold" grpId="0" nodeType="after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blinds(horizontal)">
                                      <p:cBhvr>
                                        <p:cTn id="5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724" grpId="0" bldLvl="0" animBg="1"/>
      <p:bldP spid="5" grpId="0" bldLvl="0" animBg="1"/>
      <p:bldP spid="6" grpId="0" bldLvl="0" animBg="1"/>
      <p:bldP spid="7" grpId="0" bldLvl="0" animBg="1"/>
      <p:bldP spid="411653" grpId="0" bldLvl="0" animBg="1"/>
      <p:bldP spid="411656" grpId="0" bldLvl="0" animBg="1"/>
      <p:bldP spid="411659" grpId="0" bldLvl="0" animBg="1"/>
      <p:bldP spid="17" grpId="0" bldLvl="0" animBg="1"/>
      <p:bldP spid="414733" grpId="0" bldLvl="0" animBg="1"/>
      <p:bldP spid="11" grpId="0" bldLvl="0" animBg="1"/>
      <p:bldP spid="12" grpId="0" bldLvl="0" animBg="1"/>
      <p:bldP spid="13"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a:xfrm>
            <a:off x="1985010" y="2569210"/>
            <a:ext cx="7152005" cy="864870"/>
          </a:xfrm>
        </p:spPr>
        <p:txBody>
          <a:bodyPr/>
          <a:lstStyle/>
          <a:p>
            <a:pPr marL="0" indent="0" algn="ctr">
              <a:buNone/>
            </a:pPr>
            <a:r>
              <a:rPr lang="zh-CN" altLang="en-US">
                <a:latin typeface="Times New Roman" panose="02020603050405020304" pitchFamily="18" charset="0"/>
                <a:sym typeface="+mn-ea"/>
              </a:rPr>
              <a:t>第二节   应收账款</a:t>
            </a:r>
            <a:endParaRPr lang="zh-CN" altLang="en-US" dirty="0"/>
          </a:p>
        </p:txBody>
      </p:sp>
      <p:sp>
        <p:nvSpPr>
          <p:cNvPr id="327684" name="AutoShape 4"/>
          <p:cNvSpPr>
            <a:spLocks noChangeArrowheads="1"/>
          </p:cNvSpPr>
          <p:nvPr/>
        </p:nvSpPr>
        <p:spPr bwMode="auto">
          <a:xfrm rot="5400000">
            <a:off x="2933541" y="2997677"/>
            <a:ext cx="1341437" cy="3238500"/>
          </a:xfrm>
          <a:prstGeom prst="homePlate">
            <a:avLst>
              <a:gd name="adj" fmla="val 25000"/>
            </a:avLst>
          </a:prstGeom>
          <a:gradFill rotWithShape="1">
            <a:gsLst>
              <a:gs pos="0">
                <a:srgbClr val="008080"/>
              </a:gs>
              <a:gs pos="100000">
                <a:srgbClr val="008080">
                  <a:gamma/>
                  <a:tint val="38039"/>
                  <a:invGamma/>
                </a:srgbClr>
              </a:gs>
            </a:gsLst>
            <a:lin ang="0" scaled="1"/>
          </a:gradFill>
          <a:ln w="9525" algn="ctr">
            <a:solidFill>
              <a:srgbClr val="339966"/>
            </a:solidFill>
            <a:miter lim="800000"/>
          </a:ln>
          <a:effectLst>
            <a:outerShdw dist="35921" dir="2700000" algn="ctr" rotWithShape="0">
              <a:schemeClr val="tx1"/>
            </a:outerShdw>
          </a:effectLst>
        </p:spPr>
        <p:txBody>
          <a:bodyPr rot="10800000" vert="eaVert" wrap="none" anchor="ctr">
            <a:scene3d>
              <a:camera prst="orthographicFront"/>
              <a:lightRig rig="soft" dir="t">
                <a:rot lat="0" lon="0" rev="15600000"/>
              </a:lightRig>
            </a:scene3d>
            <a:sp3d extrusionH="57150" prstMaterial="softEdge">
              <a:bevelT w="25400" h="38100"/>
            </a:sp3d>
          </a:bodyPr>
          <a:lstStyle/>
          <a:p>
            <a:pPr marL="233680" indent="-233680" algn="ctr" defTabSz="624205">
              <a:spcBef>
                <a:spcPct val="20000"/>
              </a:spcBef>
              <a:defRPr/>
            </a:pPr>
            <a:r>
              <a:rPr kumimoji="0" lang="zh-CN" altLang="en-US" sz="2000" dirty="0">
                <a:solidFill>
                  <a:schemeClr val="accent4"/>
                </a:solidFill>
                <a:effectLst/>
                <a:ea typeface="宋体" panose="02010600030101010101" pitchFamily="2" charset="-122"/>
              </a:rPr>
              <a:t>一、应收账款的概述、取得</a:t>
            </a:r>
            <a:endParaRPr kumimoji="0" lang="en-US" altLang="zh-CN" sz="2000" dirty="0">
              <a:solidFill>
                <a:schemeClr val="accent4"/>
              </a:solidFill>
              <a:effectLst/>
              <a:ea typeface="宋体" panose="02010600030101010101" pitchFamily="2" charset="-122"/>
            </a:endParaRPr>
          </a:p>
          <a:p>
            <a:pPr marL="233680" indent="-233680" algn="ctr" defTabSz="624205">
              <a:spcBef>
                <a:spcPct val="20000"/>
              </a:spcBef>
              <a:defRPr/>
            </a:pPr>
            <a:r>
              <a:rPr kumimoji="0" lang="zh-CN" altLang="en-US" sz="2000" dirty="0">
                <a:solidFill>
                  <a:schemeClr val="accent4"/>
                </a:solidFill>
                <a:effectLst/>
                <a:ea typeface="宋体" panose="02010600030101010101" pitchFamily="2" charset="-122"/>
              </a:rPr>
              <a:t>、收回、保理、质押</a:t>
            </a:r>
          </a:p>
        </p:txBody>
      </p:sp>
      <p:sp>
        <p:nvSpPr>
          <p:cNvPr id="327685" name="AutoShape 5"/>
          <p:cNvSpPr>
            <a:spLocks noChangeArrowheads="1"/>
          </p:cNvSpPr>
          <p:nvPr/>
        </p:nvSpPr>
        <p:spPr bwMode="auto">
          <a:xfrm rot="5400000">
            <a:off x="7291229" y="2997359"/>
            <a:ext cx="1341438" cy="3238500"/>
          </a:xfrm>
          <a:prstGeom prst="homePlate">
            <a:avLst>
              <a:gd name="adj" fmla="val 25000"/>
            </a:avLst>
          </a:prstGeom>
          <a:gradFill rotWithShape="1">
            <a:gsLst>
              <a:gs pos="0">
                <a:srgbClr val="008080"/>
              </a:gs>
              <a:gs pos="100000">
                <a:srgbClr val="008080">
                  <a:gamma/>
                  <a:tint val="38039"/>
                  <a:invGamma/>
                </a:srgbClr>
              </a:gs>
            </a:gsLst>
            <a:lin ang="0" scaled="1"/>
          </a:gradFill>
          <a:ln w="9525" algn="ctr">
            <a:solidFill>
              <a:srgbClr val="339966"/>
            </a:solidFill>
            <a:miter lim="800000"/>
          </a:ln>
          <a:effectLst>
            <a:outerShdw dist="35921" dir="2700000" algn="ctr" rotWithShape="0">
              <a:schemeClr val="tx1"/>
            </a:outerShdw>
          </a:effectLst>
        </p:spPr>
        <p:txBody>
          <a:bodyPr rot="10800000" vert="eaVert" wrap="none" anchor="ctr">
            <a:scene3d>
              <a:camera prst="orthographicFront"/>
              <a:lightRig rig="soft" dir="t">
                <a:rot lat="0" lon="0" rev="15600000"/>
              </a:lightRig>
            </a:scene3d>
            <a:sp3d extrusionH="57150" prstMaterial="softEdge">
              <a:bevelT w="25400" h="38100"/>
            </a:sp3d>
          </a:bodyPr>
          <a:lstStyle/>
          <a:p>
            <a:pPr marL="233680" indent="-233680" algn="ctr" defTabSz="624205">
              <a:spcBef>
                <a:spcPct val="20000"/>
              </a:spcBef>
              <a:defRPr/>
            </a:pPr>
            <a:r>
              <a:rPr kumimoji="0" lang="zh-CN" altLang="en-US" sz="2000" dirty="0">
                <a:solidFill>
                  <a:schemeClr val="accent4"/>
                </a:solidFill>
                <a:effectLst/>
                <a:ea typeface="宋体" panose="02010600030101010101" pitchFamily="2" charset="-122"/>
              </a:rPr>
              <a:t>二、应收账款的减值</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27684"/>
                                        </p:tgtEl>
                                        <p:attrNameLst>
                                          <p:attrName>style.visibility</p:attrName>
                                        </p:attrNameLst>
                                      </p:cBhvr>
                                      <p:to>
                                        <p:strVal val="visible"/>
                                      </p:to>
                                    </p:set>
                                    <p:animEffect transition="in" filter="randombar(horizontal)">
                                      <p:cBhvr>
                                        <p:cTn id="7" dur="500"/>
                                        <p:tgtEl>
                                          <p:spTgt spid="327684"/>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327685"/>
                                        </p:tgtEl>
                                        <p:attrNameLst>
                                          <p:attrName>style.visibility</p:attrName>
                                        </p:attrNameLst>
                                      </p:cBhvr>
                                      <p:to>
                                        <p:strVal val="visible"/>
                                      </p:to>
                                    </p:set>
                                    <p:animEffect transition="in" filter="randombar(horizontal)">
                                      <p:cBhvr>
                                        <p:cTn id="11" dur="500"/>
                                        <p:tgtEl>
                                          <p:spTgt spid="3276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684" grpId="0" bldLvl="0" animBg="1" autoUpdateAnimBg="0"/>
      <p:bldP spid="327685" grpId="0" bldLvl="0" animBg="1"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400" dirty="0">
                <a:latin typeface="黑体" panose="02010609060101010101" pitchFamily="49" charset="-122"/>
                <a:ea typeface="黑体" panose="02010609060101010101" pitchFamily="49" charset="-122"/>
                <a:sym typeface="+mn-ea"/>
              </a:rPr>
              <a:t>一、应收账款的概述</a:t>
            </a:r>
            <a:endParaRPr lang="zh-CN" altLang="en-US" dirty="0"/>
          </a:p>
        </p:txBody>
      </p:sp>
      <p:sp>
        <p:nvSpPr>
          <p:cNvPr id="3" name="内容占位符 2"/>
          <p:cNvSpPr>
            <a:spLocks noGrp="1"/>
          </p:cNvSpPr>
          <p:nvPr>
            <p:ph idx="1"/>
          </p:nvPr>
        </p:nvSpPr>
        <p:spPr>
          <a:xfrm>
            <a:off x="1383030" y="1990725"/>
            <a:ext cx="9425305" cy="4114800"/>
          </a:xfrm>
        </p:spPr>
        <p:txBody>
          <a:bodyPr/>
          <a:lstStyle/>
          <a:p>
            <a:pPr marL="0" indent="0">
              <a:buNone/>
            </a:pPr>
            <a:r>
              <a:rPr lang="zh-CN" altLang="en-US" dirty="0">
                <a:sym typeface="+mn-ea"/>
              </a:rPr>
              <a:t>（一）应收账款的确认</a:t>
            </a:r>
            <a:endParaRPr lang="zh-CN" altLang="en-US" dirty="0"/>
          </a:p>
          <a:p>
            <a:pPr eaLnBrk="1" hangingPunct="1">
              <a:lnSpc>
                <a:spcPct val="110000"/>
              </a:lnSpc>
              <a:buFont typeface="Wingdings" panose="05000000000000000000" pitchFamily="2" charset="2"/>
              <a:buBlip>
                <a:blip r:embed="rId2"/>
              </a:buBlip>
            </a:pPr>
            <a:r>
              <a:rPr lang="zh-CN" altLang="en-US" sz="2800" dirty="0">
                <a:latin typeface="楷体_GB2312" panose="02010609030101010101" pitchFamily="49" charset="-122"/>
                <a:ea typeface="楷体_GB2312" panose="02010609030101010101" pitchFamily="49" charset="-122"/>
                <a:cs typeface="+mn-ea"/>
                <a:sym typeface="+mn-ea"/>
              </a:rPr>
              <a:t>1、应收账款的含义：因赊销业务产生的债权</a:t>
            </a:r>
            <a:endParaRPr lang="zh-CN" altLang="en-US" sz="2800" dirty="0">
              <a:latin typeface="楷体_GB2312" panose="02010609030101010101" pitchFamily="49" charset="-122"/>
              <a:ea typeface="楷体_GB2312" panose="02010609030101010101" pitchFamily="49" charset="-122"/>
              <a:cs typeface="+mn-ea"/>
            </a:endParaRPr>
          </a:p>
          <a:p>
            <a:pPr eaLnBrk="1" hangingPunct="1">
              <a:lnSpc>
                <a:spcPct val="110000"/>
              </a:lnSpc>
              <a:buFont typeface="Wingdings" panose="05000000000000000000" pitchFamily="2" charset="2"/>
              <a:buBlip>
                <a:blip r:embed="rId2"/>
              </a:buBlip>
            </a:pPr>
            <a:r>
              <a:rPr lang="zh-CN" altLang="en-US" sz="2800" dirty="0">
                <a:latin typeface="楷体_GB2312" panose="02010609030101010101" pitchFamily="49" charset="-122"/>
                <a:ea typeface="楷体_GB2312" panose="02010609030101010101" pitchFamily="49" charset="-122"/>
                <a:cs typeface="+mn-ea"/>
                <a:sym typeface="+mn-ea"/>
              </a:rPr>
              <a:t>2、应收账款的确认条件</a:t>
            </a:r>
            <a:endParaRPr lang="zh-CN" altLang="en-US" sz="2800" dirty="0">
              <a:latin typeface="楷体_GB2312" panose="02010609030101010101" pitchFamily="49" charset="-122"/>
              <a:ea typeface="楷体_GB2312" panose="02010609030101010101" pitchFamily="49" charset="-122"/>
              <a:cs typeface="+mn-ea"/>
            </a:endParaRPr>
          </a:p>
          <a:p>
            <a:pPr eaLnBrk="1" hangingPunct="1">
              <a:lnSpc>
                <a:spcPct val="110000"/>
              </a:lnSpc>
              <a:buFont typeface="Wingdings" panose="05000000000000000000" pitchFamily="2" charset="2"/>
              <a:buBlip>
                <a:blip r:embed="rId2"/>
              </a:buBlip>
            </a:pPr>
            <a:r>
              <a:rPr lang="zh-CN" altLang="en-US" sz="2800" dirty="0">
                <a:latin typeface="楷体_GB2312" panose="02010609030101010101" pitchFamily="49" charset="-122"/>
                <a:ea typeface="楷体_GB2312" panose="02010609030101010101" pitchFamily="49" charset="-122"/>
                <a:cs typeface="+mn-ea"/>
                <a:sym typeface="+mn-ea"/>
              </a:rPr>
              <a:t>3、应收账款的确认依据：发票、购销合同、</a:t>
            </a:r>
            <a:r>
              <a:rPr lang="zh-CN" altLang="en-US" sz="2800" dirty="0">
                <a:sym typeface="+mn-ea"/>
              </a:rPr>
              <a:t>发货单、商品出库单等</a:t>
            </a:r>
            <a:endParaRPr lang="zh-CN" altLang="en-US" sz="2800" dirty="0">
              <a:latin typeface="楷体_GB2312" panose="02010609030101010101" pitchFamily="49" charset="-122"/>
              <a:ea typeface="楷体_GB2312" panose="02010609030101010101" pitchFamily="49" charset="-122"/>
              <a:cs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a:xfrm>
            <a:off x="914400" y="2004695"/>
            <a:ext cx="7941945" cy="808355"/>
          </a:xfrm>
        </p:spPr>
        <p:txBody>
          <a:bodyPr/>
          <a:lstStyle/>
          <a:p>
            <a:pPr marL="0" lvl="1" indent="0">
              <a:buNone/>
            </a:pPr>
            <a:r>
              <a:rPr lang="zh-CN" altLang="en-US" sz="3200" dirty="0">
                <a:latin typeface="黑体" panose="02010609060101010101" pitchFamily="49" charset="-122"/>
                <a:ea typeface="黑体" panose="02010609060101010101" pitchFamily="49" charset="-122"/>
                <a:cs typeface="+mn-cs"/>
                <a:sym typeface="+mn-ea"/>
              </a:rPr>
              <a:t>（二）应收账款的计量</a:t>
            </a:r>
            <a:endParaRPr lang="zh-CN" altLang="en-US" dirty="0"/>
          </a:p>
        </p:txBody>
      </p:sp>
      <p:grpSp>
        <p:nvGrpSpPr>
          <p:cNvPr id="4" name="Group 4"/>
          <p:cNvGrpSpPr/>
          <p:nvPr/>
        </p:nvGrpSpPr>
        <p:grpSpPr bwMode="auto">
          <a:xfrm>
            <a:off x="1859280" y="2598420"/>
            <a:ext cx="3455670" cy="951230"/>
            <a:chOff x="986" y="1099"/>
            <a:chExt cx="4105" cy="599"/>
          </a:xfrm>
        </p:grpSpPr>
        <p:pic>
          <p:nvPicPr>
            <p:cNvPr id="34827" name="Picture 5" descr="40-green"/>
            <p:cNvPicPr>
              <a:picLocks noChangeAspect="1" noChangeArrowheads="1"/>
            </p:cNvPicPr>
            <p:nvPr/>
          </p:nvPicPr>
          <p:blipFill>
            <a:blip r:embed="rId2" cstate="print"/>
            <a:srcRect/>
            <a:stretch>
              <a:fillRect/>
            </a:stretch>
          </p:blipFill>
          <p:spPr bwMode="auto">
            <a:xfrm>
              <a:off x="986" y="1099"/>
              <a:ext cx="4105" cy="599"/>
            </a:xfrm>
            <a:prstGeom prst="rect">
              <a:avLst/>
            </a:prstGeom>
            <a:noFill/>
            <a:ln w="9525">
              <a:noFill/>
              <a:miter lim="800000"/>
              <a:headEnd/>
              <a:tailEnd/>
            </a:ln>
          </p:spPr>
        </p:pic>
        <p:sp>
          <p:nvSpPr>
            <p:cNvPr id="34828" name="Text Box 6"/>
            <p:cNvSpPr txBox="1">
              <a:spLocks noChangeArrowheads="1"/>
            </p:cNvSpPr>
            <p:nvPr/>
          </p:nvSpPr>
          <p:spPr bwMode="auto">
            <a:xfrm>
              <a:off x="1912" y="1234"/>
              <a:ext cx="2252" cy="329"/>
            </a:xfrm>
            <a:prstGeom prst="rect">
              <a:avLst/>
            </a:prstGeom>
            <a:noFill/>
            <a:ln w="12700">
              <a:noFill/>
              <a:miter lim="800000"/>
            </a:ln>
          </p:spPr>
          <p:txBody>
            <a:bodyPr wrap="square">
              <a:spAutoFit/>
            </a:bodyPr>
            <a:lstStyle/>
            <a:p>
              <a:pPr eaLnBrk="0" hangingPunct="0">
                <a:spcBef>
                  <a:spcPct val="0"/>
                </a:spcBef>
              </a:pPr>
              <a:r>
                <a:rPr kumimoji="0" lang="zh-CN" altLang="en-US" sz="2800">
                  <a:ln w="10160">
                    <a:solidFill>
                      <a:schemeClr val="accent5"/>
                    </a:solidFill>
                    <a:prstDash val="solid"/>
                  </a:ln>
                  <a:solidFill>
                    <a:srgbClr val="FFFFFF"/>
                  </a:solidFill>
                  <a:effectLst>
                    <a:outerShdw blurRad="38100" dist="22860" dir="5400000" algn="tl" rotWithShape="0">
                      <a:srgbClr val="000000">
                        <a:alpha val="30000"/>
                      </a:srgbClr>
                    </a:outerShdw>
                  </a:effectLst>
                  <a:latin typeface="Arial" panose="020B0604020202020204" pitchFamily="34" charset="0"/>
                </a:rPr>
                <a:t>初始计量</a:t>
              </a:r>
            </a:p>
          </p:txBody>
        </p:sp>
      </p:grpSp>
      <p:sp>
        <p:nvSpPr>
          <p:cNvPr id="329735" name="Rectangle 7"/>
          <p:cNvSpPr>
            <a:spLocks noChangeArrowheads="1"/>
          </p:cNvSpPr>
          <p:nvPr/>
        </p:nvSpPr>
        <p:spPr bwMode="auto">
          <a:xfrm>
            <a:off x="1744345" y="3740785"/>
            <a:ext cx="7112000" cy="521970"/>
          </a:xfrm>
          <a:prstGeom prst="rect">
            <a:avLst/>
          </a:prstGeom>
          <a:noFill/>
          <a:ln w="38100" algn="ctr">
            <a:noFill/>
            <a:miter lim="800000"/>
          </a:ln>
          <a:effectLst>
            <a:prstShdw prst="shdw17" dist="17961" dir="2700000">
              <a:schemeClr val="tx2">
                <a:gamma/>
                <a:shade val="60000"/>
                <a:invGamma/>
              </a:schemeClr>
            </a:prstShdw>
          </a:effectLst>
        </p:spPr>
        <p:txBody>
          <a:bodyPr>
            <a:spAutoFit/>
          </a:bodyPr>
          <a:lstStyle/>
          <a:p>
            <a:pPr indent="0">
              <a:buFontTx/>
              <a:buNone/>
              <a:defRPr/>
            </a:pPr>
            <a:r>
              <a:rPr kumimoji="0" lang="zh-CN" altLang="en-US" sz="2800" b="1" kern="0" dirty="0">
                <a:latin typeface="楷体_GB2312" panose="02010609030101010101" pitchFamily="49" charset="-122"/>
                <a:ea typeface="楷体_GB2312" panose="02010609030101010101" pitchFamily="49" charset="-122"/>
                <a:cs typeface="+mn-ea"/>
              </a:rPr>
              <a:t>以交易发生日的实际发生额作为入账价值</a:t>
            </a:r>
            <a:r>
              <a:rPr kumimoji="0" lang="zh-CN" altLang="en-US" sz="2800" dirty="0">
                <a:solidFill>
                  <a:schemeClr val="tx2"/>
                </a:solidFill>
                <a:ea typeface="宋体" panose="02010600030101010101" pitchFamily="2" charset="-122"/>
              </a:rPr>
              <a:t>　</a:t>
            </a:r>
          </a:p>
        </p:txBody>
      </p:sp>
      <p:grpSp>
        <p:nvGrpSpPr>
          <p:cNvPr id="5" name="Group 4"/>
          <p:cNvGrpSpPr/>
          <p:nvPr/>
        </p:nvGrpSpPr>
        <p:grpSpPr bwMode="auto">
          <a:xfrm>
            <a:off x="1859280" y="4537710"/>
            <a:ext cx="3456305" cy="951230"/>
            <a:chOff x="986" y="1099"/>
            <a:chExt cx="4105" cy="599"/>
          </a:xfrm>
        </p:grpSpPr>
        <p:pic>
          <p:nvPicPr>
            <p:cNvPr id="34825" name="Picture 5" descr="40-green"/>
            <p:cNvPicPr>
              <a:picLocks noChangeAspect="1" noChangeArrowheads="1"/>
            </p:cNvPicPr>
            <p:nvPr/>
          </p:nvPicPr>
          <p:blipFill>
            <a:blip r:embed="rId2" cstate="print"/>
            <a:srcRect/>
            <a:stretch>
              <a:fillRect/>
            </a:stretch>
          </p:blipFill>
          <p:spPr bwMode="auto">
            <a:xfrm>
              <a:off x="986" y="1099"/>
              <a:ext cx="4105" cy="599"/>
            </a:xfrm>
            <a:prstGeom prst="rect">
              <a:avLst/>
            </a:prstGeom>
            <a:noFill/>
            <a:ln w="9525">
              <a:noFill/>
              <a:miter lim="800000"/>
              <a:headEnd/>
              <a:tailEnd/>
            </a:ln>
          </p:spPr>
        </p:pic>
        <p:sp>
          <p:nvSpPr>
            <p:cNvPr id="34826" name="Text Box 6"/>
            <p:cNvSpPr txBox="1">
              <a:spLocks noChangeArrowheads="1"/>
            </p:cNvSpPr>
            <p:nvPr/>
          </p:nvSpPr>
          <p:spPr bwMode="auto">
            <a:xfrm>
              <a:off x="1862" y="1234"/>
              <a:ext cx="2352" cy="329"/>
            </a:xfrm>
            <a:prstGeom prst="rect">
              <a:avLst/>
            </a:prstGeom>
            <a:noFill/>
            <a:ln w="12700">
              <a:noFill/>
              <a:miter lim="800000"/>
            </a:ln>
          </p:spPr>
          <p:txBody>
            <a:bodyPr wrap="square">
              <a:spAutoFit/>
              <a:scene3d>
                <a:camera prst="orthographicFront"/>
                <a:lightRig rig="threePt" dir="t"/>
              </a:scene3d>
            </a:bodyPr>
            <a:lstStyle/>
            <a:p>
              <a:pPr eaLnBrk="0" hangingPunct="0">
                <a:spcBef>
                  <a:spcPct val="0"/>
                </a:spcBef>
              </a:pPr>
              <a:r>
                <a:rPr kumimoji="0" lang="zh-CN" altLang="en-US" sz="2800">
                  <a:ln w="10160">
                    <a:solidFill>
                      <a:schemeClr val="accent5"/>
                    </a:solidFill>
                    <a:prstDash val="solid"/>
                  </a:ln>
                  <a:solidFill>
                    <a:srgbClr val="FFFFFF"/>
                  </a:solidFill>
                  <a:effectLst>
                    <a:outerShdw blurRad="38100" dist="22860" dir="5400000" algn="tl" rotWithShape="0">
                      <a:srgbClr val="000000">
                        <a:alpha val="30000"/>
                      </a:srgbClr>
                    </a:outerShdw>
                  </a:effectLst>
                  <a:latin typeface="Arial" panose="020B0604020202020204" pitchFamily="34" charset="0"/>
                </a:rPr>
                <a:t>后续计量</a:t>
              </a:r>
              <a:endParaRPr kumimoji="0" lang="zh-CN" altLang="en-US" sz="320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grpSp>
      <p:sp>
        <p:nvSpPr>
          <p:cNvPr id="13" name="Rectangle 7"/>
          <p:cNvSpPr>
            <a:spLocks noChangeArrowheads="1"/>
          </p:cNvSpPr>
          <p:nvPr/>
        </p:nvSpPr>
        <p:spPr bwMode="auto">
          <a:xfrm>
            <a:off x="1744345" y="5777230"/>
            <a:ext cx="7112000" cy="521970"/>
          </a:xfrm>
          <a:prstGeom prst="rect">
            <a:avLst/>
          </a:prstGeom>
          <a:noFill/>
          <a:ln w="38100" algn="ctr">
            <a:noFill/>
            <a:miter lim="800000"/>
          </a:ln>
          <a:effectLst>
            <a:prstShdw prst="shdw17" dist="17961" dir="2700000">
              <a:schemeClr val="tx2">
                <a:gamma/>
                <a:shade val="60000"/>
                <a:invGamma/>
              </a:schemeClr>
            </a:prstShdw>
          </a:effectLst>
        </p:spPr>
        <p:txBody>
          <a:bodyPr>
            <a:spAutoFit/>
          </a:bodyPr>
          <a:lstStyle/>
          <a:p>
            <a:pPr indent="0">
              <a:buFontTx/>
              <a:buNone/>
              <a:defRPr/>
            </a:pPr>
            <a:r>
              <a:rPr kumimoji="0" lang="zh-CN" altLang="en-US" sz="2800" b="1" kern="0" dirty="0">
                <a:latin typeface="楷体_GB2312" panose="02010609030101010101" pitchFamily="49" charset="-122"/>
                <a:ea typeface="楷体_GB2312" panose="02010609030101010101" pitchFamily="49" charset="-122"/>
                <a:cs typeface="+mn-ea"/>
              </a:rPr>
              <a:t>以可收回金额在财务报表中列报</a:t>
            </a:r>
            <a:r>
              <a:rPr kumimoji="0" lang="zh-CN" altLang="en-US" sz="2800" dirty="0">
                <a:solidFill>
                  <a:schemeClr val="tx2"/>
                </a:solidFill>
                <a:ea typeface="宋体" panose="02010600030101010101" pitchFamily="2" charset="-122"/>
              </a:rPr>
              <a:t>　</a:t>
            </a:r>
          </a:p>
        </p:txBody>
      </p:sp>
      <p:pic>
        <p:nvPicPr>
          <p:cNvPr id="329736" name="Picture 8" descr="20061119220728213"/>
          <p:cNvPicPr>
            <a:picLocks noChangeAspect="1" noChangeArrowheads="1"/>
          </p:cNvPicPr>
          <p:nvPr/>
        </p:nvPicPr>
        <p:blipFill>
          <a:blip r:embed="rId3" cstate="print"/>
          <a:srcRect/>
          <a:stretch>
            <a:fillRect/>
          </a:stretch>
        </p:blipFill>
        <p:spPr bwMode="auto">
          <a:xfrm>
            <a:off x="4398963" y="2695575"/>
            <a:ext cx="1219200" cy="1219200"/>
          </a:xfrm>
          <a:prstGeom prst="rect">
            <a:avLst/>
          </a:prstGeom>
          <a:noFill/>
          <a:ln w="9525">
            <a:noFill/>
            <a:miter lim="800000"/>
            <a:headEnd/>
            <a:tailEnd/>
          </a:ln>
        </p:spPr>
      </p:pic>
      <p:pic>
        <p:nvPicPr>
          <p:cNvPr id="6" name="Picture 8" descr="20061119220728213"/>
          <p:cNvPicPr>
            <a:picLocks noChangeAspect="1" noChangeArrowheads="1"/>
          </p:cNvPicPr>
          <p:nvPr/>
        </p:nvPicPr>
        <p:blipFill>
          <a:blip r:embed="rId3" cstate="print"/>
          <a:srcRect/>
          <a:stretch>
            <a:fillRect/>
          </a:stretch>
        </p:blipFill>
        <p:spPr bwMode="auto">
          <a:xfrm>
            <a:off x="4398963" y="4666615"/>
            <a:ext cx="1219200" cy="12192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329736"/>
                                        </p:tgtEl>
                                        <p:attrNameLst>
                                          <p:attrName>style.visibility</p:attrName>
                                        </p:attrNameLst>
                                      </p:cBhvr>
                                      <p:to>
                                        <p:strVal val="visible"/>
                                      </p:to>
                                    </p:set>
                                  </p:childTnLst>
                                </p:cTn>
                              </p:par>
                            </p:childTnLst>
                          </p:cTn>
                        </p:par>
                        <p:par>
                          <p:cTn id="10" fill="hold">
                            <p:stCondLst>
                              <p:cond delay="0"/>
                            </p:stCondLst>
                            <p:childTnLst>
                              <p:par>
                                <p:cTn id="11" presetID="4" presetClass="entr" presetSubtype="16" fill="hold" grpId="0" nodeType="afterEffect">
                                  <p:stCondLst>
                                    <p:cond delay="0"/>
                                  </p:stCondLst>
                                  <p:childTnLst>
                                    <p:set>
                                      <p:cBhvr>
                                        <p:cTn id="12" dur="1" fill="hold">
                                          <p:stCondLst>
                                            <p:cond delay="0"/>
                                          </p:stCondLst>
                                        </p:cTn>
                                        <p:tgtEl>
                                          <p:spTgt spid="329735"/>
                                        </p:tgtEl>
                                        <p:attrNameLst>
                                          <p:attrName>style.visibility</p:attrName>
                                        </p:attrNameLst>
                                      </p:cBhvr>
                                      <p:to>
                                        <p:strVal val="visible"/>
                                      </p:to>
                                    </p:set>
                                    <p:animEffect transition="in" filter="box(in)">
                                      <p:cBhvr>
                                        <p:cTn id="13" dur="500"/>
                                        <p:tgtEl>
                                          <p:spTgt spid="329735"/>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1+#ppt_h/2"/>
                                          </p:val>
                                        </p:tav>
                                        <p:tav tm="100000">
                                          <p:val>
                                            <p:strVal val="#ppt_y"/>
                                          </p:val>
                                        </p:tav>
                                      </p:tavLst>
                                    </p:anim>
                                  </p:childTnLst>
                                </p:cTn>
                              </p:par>
                            </p:childTnLst>
                          </p:cTn>
                        </p:par>
                        <p:par>
                          <p:cTn id="20" fill="hold">
                            <p:stCondLst>
                              <p:cond delay="500"/>
                            </p:stCondLst>
                            <p:childTnLst>
                              <p:par>
                                <p:cTn id="21" presetID="1" presetClass="entr" presetSubtype="0"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par>
                          <p:cTn id="23" fill="hold">
                            <p:stCondLst>
                              <p:cond delay="500"/>
                            </p:stCondLst>
                            <p:childTnLst>
                              <p:par>
                                <p:cTn id="24" presetID="4" presetClass="entr" presetSubtype="16" fill="hold" grpId="0" nodeType="after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box(in)">
                                      <p:cBhvr>
                                        <p:cTn id="2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9735" grpId="0" bldLvl="0" animBg="1"/>
      <p:bldP spid="13" grpId="0" bldLvl="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a:xfrm>
            <a:off x="914400" y="2032000"/>
            <a:ext cx="8146415" cy="821690"/>
          </a:xfrm>
        </p:spPr>
        <p:txBody>
          <a:bodyPr/>
          <a:lstStyle/>
          <a:p>
            <a:pPr marL="0" indent="0">
              <a:buNone/>
            </a:pPr>
            <a:r>
              <a:rPr lang="zh-CN" altLang="en-US">
                <a:sym typeface="+mn-ea"/>
              </a:rPr>
              <a:t>（三）影响应收账款计量的因素</a:t>
            </a:r>
            <a:endParaRPr lang="zh-CN" altLang="en-US" dirty="0"/>
          </a:p>
        </p:txBody>
      </p:sp>
      <p:grpSp>
        <p:nvGrpSpPr>
          <p:cNvPr id="4" name="Group 6"/>
          <p:cNvGrpSpPr/>
          <p:nvPr/>
        </p:nvGrpSpPr>
        <p:grpSpPr bwMode="auto">
          <a:xfrm>
            <a:off x="1534896" y="3086735"/>
            <a:ext cx="3961931" cy="969963"/>
            <a:chOff x="816" y="1263"/>
            <a:chExt cx="1284" cy="750"/>
          </a:xfrm>
        </p:grpSpPr>
        <p:pic>
          <p:nvPicPr>
            <p:cNvPr id="35847" name="Picture 7" descr="45-blue"/>
            <p:cNvPicPr>
              <a:picLocks noChangeAspect="1" noChangeArrowheads="1"/>
            </p:cNvPicPr>
            <p:nvPr/>
          </p:nvPicPr>
          <p:blipFill>
            <a:blip r:embed="rId2" cstate="print"/>
            <a:srcRect/>
            <a:stretch>
              <a:fillRect/>
            </a:stretch>
          </p:blipFill>
          <p:spPr bwMode="auto">
            <a:xfrm>
              <a:off x="816" y="1263"/>
              <a:ext cx="1284" cy="750"/>
            </a:xfrm>
            <a:prstGeom prst="rect">
              <a:avLst/>
            </a:prstGeom>
            <a:noFill/>
            <a:ln w="9525">
              <a:noFill/>
              <a:miter lim="800000"/>
              <a:headEnd/>
              <a:tailEnd/>
            </a:ln>
          </p:spPr>
        </p:pic>
        <p:sp>
          <p:nvSpPr>
            <p:cNvPr id="35848" name="Text Box 8"/>
            <p:cNvSpPr txBox="1">
              <a:spLocks noChangeArrowheads="1"/>
            </p:cNvSpPr>
            <p:nvPr/>
          </p:nvSpPr>
          <p:spPr bwMode="auto">
            <a:xfrm>
              <a:off x="980" y="1413"/>
              <a:ext cx="956" cy="451"/>
            </a:xfrm>
            <a:prstGeom prst="rect">
              <a:avLst/>
            </a:prstGeom>
            <a:noFill/>
            <a:ln w="9525">
              <a:noFill/>
              <a:miter lim="800000"/>
            </a:ln>
          </p:spPr>
          <p:txBody>
            <a:bodyPr wrap="square" anchor="ctr">
              <a:spAutoFit/>
            </a:bodyPr>
            <a:lstStyle/>
            <a:p>
              <a:pPr algn="l">
                <a:spcBef>
                  <a:spcPct val="20000"/>
                </a:spcBef>
                <a:buClr>
                  <a:schemeClr val="hlink"/>
                </a:buClr>
                <a:buFont typeface="Wingdings" panose="05000000000000000000" pitchFamily="2" charset="2"/>
                <a:buNone/>
              </a:pPr>
              <a:r>
                <a:rPr kumimoji="0" lang="en-US" altLang="zh-CN" sz="280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宋体" panose="02010600030101010101" pitchFamily="2" charset="-122"/>
                </a:rPr>
                <a:t>1</a:t>
              </a:r>
              <a:r>
                <a:rPr kumimoji="0" lang="zh-CN" altLang="en-US" sz="320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宋体" panose="02010600030101010101" pitchFamily="2" charset="-122"/>
                </a:rPr>
                <a:t>、商业折扣</a:t>
              </a:r>
            </a:p>
          </p:txBody>
        </p:sp>
      </p:grpSp>
      <p:sp>
        <p:nvSpPr>
          <p:cNvPr id="333832" name="Rectangle 8"/>
          <p:cNvSpPr>
            <a:spLocks noChangeArrowheads="1"/>
          </p:cNvSpPr>
          <p:nvPr/>
        </p:nvSpPr>
        <p:spPr bwMode="auto">
          <a:xfrm>
            <a:off x="6093143" y="3165475"/>
            <a:ext cx="5351462" cy="891540"/>
          </a:xfrm>
          <a:prstGeom prst="rect">
            <a:avLst/>
          </a:prstGeom>
          <a:noFill/>
          <a:ln w="38100" algn="ctr">
            <a:noFill/>
            <a:miter lim="800000"/>
          </a:ln>
          <a:effectLst>
            <a:prstShdw prst="shdw17" dist="17961" dir="2700000">
              <a:schemeClr val="tx2">
                <a:gamma/>
                <a:shade val="60000"/>
                <a:invGamma/>
              </a:schemeClr>
            </a:prstShdw>
          </a:effectLst>
        </p:spPr>
        <p:txBody>
          <a:bodyPr>
            <a:spAutoFit/>
          </a:bodyPr>
          <a:lstStyle/>
          <a:p>
            <a:pPr>
              <a:buFontTx/>
              <a:buBlip>
                <a:blip r:embed="rId3"/>
              </a:buBlip>
              <a:defRPr/>
            </a:pPr>
            <a:r>
              <a:rPr kumimoji="0" lang="en-US" altLang="zh-CN" sz="2800">
                <a:solidFill>
                  <a:schemeClr val="tx2"/>
                </a:solidFill>
                <a:latin typeface="宋体" panose="02010600030101010101" pitchFamily="2" charset="-122"/>
                <a:ea typeface="宋体" panose="02010600030101010101" pitchFamily="2" charset="-122"/>
              </a:rPr>
              <a:t> </a:t>
            </a:r>
            <a:r>
              <a:rPr kumimoji="0" lang="zh-CN" altLang="en-US" sz="2800" b="1" kern="0" dirty="0">
                <a:latin typeface="楷体_GB2312" panose="02010609030101010101" pitchFamily="49" charset="-122"/>
                <a:ea typeface="楷体_GB2312" panose="02010609030101010101" pitchFamily="49" charset="-122"/>
                <a:cs typeface="+mn-ea"/>
              </a:rPr>
              <a:t>含义</a:t>
            </a:r>
            <a:r>
              <a:rPr kumimoji="0" lang="zh-CN" altLang="en-US" sz="2800">
                <a:solidFill>
                  <a:schemeClr val="tx2"/>
                </a:solidFill>
                <a:latin typeface="宋体" panose="02010600030101010101" pitchFamily="2" charset="-122"/>
                <a:ea typeface="宋体" panose="02010600030101010101" pitchFamily="2" charset="-122"/>
              </a:rPr>
              <a:t>：</a:t>
            </a:r>
            <a:r>
              <a:rPr lang="zh-CN" altLang="en-US" sz="2800" b="1" kern="0" dirty="0">
                <a:latin typeface="楷体_GB2312" panose="02010609030101010101" pitchFamily="49" charset="-122"/>
                <a:ea typeface="楷体_GB2312" panose="02010609030101010101" pitchFamily="49" charset="-122"/>
                <a:cs typeface="+mn-ea"/>
                <a:sym typeface="+mn-ea"/>
              </a:rPr>
              <a:t>购买数量的折扣</a:t>
            </a:r>
            <a:endParaRPr kumimoji="0" lang="zh-CN" altLang="en-US" sz="2400">
              <a:solidFill>
                <a:schemeClr val="tx2"/>
              </a:solidFill>
              <a:latin typeface="宋体" panose="02010600030101010101" pitchFamily="2" charset="-122"/>
              <a:ea typeface="宋体" panose="02010600030101010101" pitchFamily="2" charset="-122"/>
            </a:endParaRPr>
          </a:p>
          <a:p>
            <a:pPr>
              <a:defRPr/>
            </a:pPr>
            <a:r>
              <a:rPr kumimoji="0" lang="zh-CN" altLang="en-US" sz="2400">
                <a:solidFill>
                  <a:schemeClr val="tx2"/>
                </a:solidFill>
                <a:latin typeface="宋体" panose="02010600030101010101" pitchFamily="2" charset="-122"/>
                <a:ea typeface="宋体" panose="02010600030101010101" pitchFamily="2" charset="-122"/>
              </a:rPr>
              <a:t>           </a:t>
            </a:r>
            <a:r>
              <a:rPr lang="zh-CN" altLang="en-US" sz="2800" b="1" kern="0" dirty="0">
                <a:latin typeface="楷体_GB2312" panose="02010609030101010101" pitchFamily="49" charset="-122"/>
                <a:ea typeface="楷体_GB2312" panose="02010609030101010101" pitchFamily="49" charset="-122"/>
                <a:cs typeface="+mn-ea"/>
                <a:sym typeface="+mn-ea"/>
              </a:rPr>
              <a:t>交易发生时产生</a:t>
            </a:r>
            <a:endParaRPr kumimoji="0" lang="zh-CN" altLang="en-US" sz="2400">
              <a:solidFill>
                <a:schemeClr val="tx2"/>
              </a:solidFill>
              <a:latin typeface="宋体" panose="02010600030101010101" pitchFamily="2" charset="-122"/>
              <a:ea typeface="宋体" panose="02010600030101010101" pitchFamily="2" charset="-122"/>
            </a:endParaRPr>
          </a:p>
        </p:txBody>
      </p:sp>
      <p:sp>
        <p:nvSpPr>
          <p:cNvPr id="5" name="Rectangle 8"/>
          <p:cNvSpPr>
            <a:spLocks noChangeArrowheads="1"/>
          </p:cNvSpPr>
          <p:nvPr/>
        </p:nvSpPr>
        <p:spPr bwMode="auto">
          <a:xfrm>
            <a:off x="1534795" y="4669155"/>
            <a:ext cx="9214485" cy="1383665"/>
          </a:xfrm>
          <a:prstGeom prst="rect">
            <a:avLst/>
          </a:prstGeom>
          <a:noFill/>
          <a:ln w="38100" algn="ctr">
            <a:noFill/>
            <a:miter lim="800000"/>
          </a:ln>
          <a:effectLst>
            <a:prstShdw prst="shdw17" dist="17961" dir="2700000">
              <a:schemeClr val="tx2">
                <a:gamma/>
                <a:shade val="60000"/>
                <a:invGamma/>
              </a:schemeClr>
            </a:prstShdw>
          </a:effectLst>
        </p:spPr>
        <p:txBody>
          <a:bodyPr wrap="square">
            <a:spAutoFit/>
          </a:bodyPr>
          <a:lstStyle/>
          <a:p>
            <a:pPr marL="0" lvl="1">
              <a:buFontTx/>
              <a:buBlip>
                <a:blip r:embed="rId3"/>
              </a:buBlip>
              <a:defRPr/>
            </a:pPr>
            <a:r>
              <a:rPr kumimoji="0" lang="en-US" altLang="zh-CN" sz="2800" dirty="0">
                <a:solidFill>
                  <a:schemeClr val="tx2"/>
                </a:solidFill>
                <a:latin typeface="宋体" panose="02010600030101010101" pitchFamily="2" charset="-122"/>
                <a:ea typeface="宋体" panose="02010600030101010101" pitchFamily="2" charset="-122"/>
              </a:rPr>
              <a:t> </a:t>
            </a:r>
            <a:r>
              <a:rPr lang="zh-CN" altLang="en-US" sz="2800" b="1" kern="0" dirty="0">
                <a:latin typeface="楷体_GB2312" panose="02010609030101010101" pitchFamily="49" charset="-122"/>
                <a:ea typeface="楷体_GB2312" panose="02010609030101010101" pitchFamily="49" charset="-122"/>
                <a:cs typeface="+mn-ea"/>
                <a:sym typeface="+mn-ea"/>
              </a:rPr>
              <a:t>表示方式</a:t>
            </a:r>
            <a:r>
              <a:rPr kumimoji="0" lang="zh-CN" altLang="en-US" sz="2800" b="1" kern="0" dirty="0">
                <a:latin typeface="楷体_GB2312" panose="02010609030101010101" pitchFamily="49" charset="-122"/>
                <a:ea typeface="楷体_GB2312" panose="02010609030101010101" pitchFamily="49" charset="-122"/>
                <a:cs typeface="+mn-ea"/>
              </a:rPr>
              <a:t>：</a:t>
            </a:r>
            <a:r>
              <a:rPr lang="zh-CN" altLang="en-US" sz="2800" b="1" kern="0" dirty="0">
                <a:latin typeface="楷体_GB2312" panose="02010609030101010101" pitchFamily="49" charset="-122"/>
                <a:ea typeface="楷体_GB2312" panose="02010609030101010101" pitchFamily="49" charset="-122"/>
                <a:cs typeface="+mn-ea"/>
                <a:sym typeface="+mn-ea"/>
              </a:rPr>
              <a:t>一般用售价的一定百分比来表示，如5%、50%；也可以用金额表示，如100元、200元；还可以用备份折扣表示，买100件可收到102件</a:t>
            </a:r>
            <a:endParaRPr kumimoji="0" lang="zh-CN" altLang="en-US" sz="2400" dirty="0">
              <a:solidFill>
                <a:schemeClr val="tx2"/>
              </a:solidFill>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to="" calcmode="lin" valueType="num">
                                      <p:cBhvr>
                                        <p:cTn id="7" dur="1" fill="hold"/>
                                        <p:tgtEl>
                                          <p:spTgt spid="4"/>
                                        </p:tgtEl>
                                      </p:cBhvr>
                                    </p:anim>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33832"/>
                                        </p:tgtEl>
                                        <p:attrNameLst>
                                          <p:attrName>style.visibility</p:attrName>
                                        </p:attrNameLst>
                                      </p:cBhvr>
                                      <p:to>
                                        <p:strVal val="visible"/>
                                      </p:to>
                                    </p:set>
                                    <p:animEffect transition="in" filter="blinds(horizontal)">
                                      <p:cBhvr>
                                        <p:cTn id="12" dur="500"/>
                                        <p:tgtEl>
                                          <p:spTgt spid="33383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3832" grpId="0" bldLvl="0" animBg="1"/>
      <p:bldP spid="5" grpId="0" bldLvl="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grpSp>
        <p:nvGrpSpPr>
          <p:cNvPr id="5" name="Group 4"/>
          <p:cNvGrpSpPr/>
          <p:nvPr/>
        </p:nvGrpSpPr>
        <p:grpSpPr bwMode="auto">
          <a:xfrm>
            <a:off x="1129030" y="2098040"/>
            <a:ext cx="8399463" cy="1493838"/>
            <a:chOff x="469" y="2960"/>
            <a:chExt cx="5291" cy="843"/>
          </a:xfrm>
        </p:grpSpPr>
        <p:grpSp>
          <p:nvGrpSpPr>
            <p:cNvPr id="36869" name="Group 5"/>
            <p:cNvGrpSpPr/>
            <p:nvPr/>
          </p:nvGrpSpPr>
          <p:grpSpPr bwMode="auto">
            <a:xfrm>
              <a:off x="469" y="2960"/>
              <a:ext cx="5291" cy="843"/>
              <a:chOff x="469" y="2960"/>
              <a:chExt cx="5291" cy="843"/>
            </a:xfrm>
          </p:grpSpPr>
          <p:pic>
            <p:nvPicPr>
              <p:cNvPr id="36871" name="Picture 6"/>
              <p:cNvPicPr>
                <a:picLocks noChangeAspect="1" noChangeArrowheads="1"/>
              </p:cNvPicPr>
              <p:nvPr/>
            </p:nvPicPr>
            <p:blipFill>
              <a:blip r:embed="rId2" cstate="print"/>
              <a:srcRect/>
              <a:stretch>
                <a:fillRect/>
              </a:stretch>
            </p:blipFill>
            <p:spPr bwMode="auto">
              <a:xfrm>
                <a:off x="469" y="2960"/>
                <a:ext cx="5279" cy="742"/>
              </a:xfrm>
              <a:prstGeom prst="rect">
                <a:avLst/>
              </a:prstGeom>
              <a:noFill/>
              <a:ln w="9525">
                <a:noFill/>
                <a:miter lim="800000"/>
                <a:headEnd/>
                <a:tailEnd/>
              </a:ln>
            </p:spPr>
          </p:pic>
          <p:sp>
            <p:nvSpPr>
              <p:cNvPr id="332807" name="AutoShape 7"/>
              <p:cNvSpPr>
                <a:spLocks noChangeArrowheads="1"/>
              </p:cNvSpPr>
              <p:nvPr/>
            </p:nvSpPr>
            <p:spPr bwMode="auto">
              <a:xfrm>
                <a:off x="504" y="3088"/>
                <a:ext cx="4996" cy="563"/>
              </a:xfrm>
              <a:prstGeom prst="roundRect">
                <a:avLst>
                  <a:gd name="adj" fmla="val 8333"/>
                </a:avLst>
              </a:prstGeom>
              <a:gradFill rotWithShape="1">
                <a:gsLst>
                  <a:gs pos="0">
                    <a:schemeClr val="accent2"/>
                  </a:gs>
                  <a:gs pos="100000">
                    <a:schemeClr val="accent2">
                      <a:gamma/>
                      <a:tint val="43922"/>
                      <a:invGamma/>
                    </a:schemeClr>
                  </a:gs>
                </a:gsLst>
                <a:lin ang="5400000" scaled="1"/>
              </a:gradFill>
              <a:ln w="9525" algn="ctr">
                <a:noFill/>
                <a:round/>
              </a:ln>
              <a:effectLst/>
            </p:spPr>
            <p:txBody>
              <a:bodyPr tIns="0" bIns="0" anchor="ctr"/>
              <a:lstStyle/>
              <a:p>
                <a:pPr marL="228600" indent="-228600">
                  <a:defRPr/>
                </a:pPr>
                <a:r>
                  <a:rPr kumimoji="0" lang="en-US" altLang="zh-CN" sz="2400">
                    <a:solidFill>
                      <a:schemeClr val="tx2"/>
                    </a:solidFill>
                    <a:ea typeface="宋体" panose="02010600030101010101" pitchFamily="2" charset="-122"/>
                  </a:rPr>
                  <a:t>        </a:t>
                </a:r>
                <a:r>
                  <a:rPr kumimoji="0" lang="zh-CN" altLang="en-US" sz="2400">
                    <a:solidFill>
                      <a:schemeClr val="tx1"/>
                    </a:solidFill>
                    <a:ea typeface="宋体" panose="02010600030101010101" pitchFamily="2" charset="-122"/>
                  </a:rPr>
                  <a:t>对应收账款计量的影响：应按发票价格中扣除商业</a:t>
                </a:r>
              </a:p>
              <a:p>
                <a:pPr marL="228600" indent="-228600">
                  <a:defRPr/>
                </a:pPr>
                <a:r>
                  <a:rPr kumimoji="0" lang="zh-CN" altLang="en-US" sz="2400">
                    <a:solidFill>
                      <a:schemeClr val="tx1"/>
                    </a:solidFill>
                    <a:ea typeface="宋体" panose="02010600030101010101" pitchFamily="2" charset="-122"/>
                  </a:rPr>
                  <a:t>       扣后的余额确认应收账款。</a:t>
                </a:r>
              </a:p>
            </p:txBody>
          </p:sp>
          <p:pic>
            <p:nvPicPr>
              <p:cNvPr id="36873" name="Picture 8" descr="lists"/>
              <p:cNvPicPr>
                <a:picLocks noChangeAspect="1" noChangeArrowheads="1"/>
              </p:cNvPicPr>
              <p:nvPr/>
            </p:nvPicPr>
            <p:blipFill>
              <a:blip r:embed="rId3" cstate="print"/>
              <a:srcRect b="45833"/>
              <a:stretch>
                <a:fillRect/>
              </a:stretch>
            </p:blipFill>
            <p:spPr bwMode="auto">
              <a:xfrm>
                <a:off x="5134" y="3299"/>
                <a:ext cx="626" cy="504"/>
              </a:xfrm>
              <a:prstGeom prst="rect">
                <a:avLst/>
              </a:prstGeom>
              <a:noFill/>
              <a:ln w="9525">
                <a:noFill/>
                <a:miter lim="800000"/>
                <a:headEnd/>
                <a:tailEnd/>
              </a:ln>
            </p:spPr>
          </p:pic>
        </p:grpSp>
        <p:sp>
          <p:nvSpPr>
            <p:cNvPr id="332809" name="AutoShape 9">
              <a:hlinkClick r:id="" action="ppaction://noaction" highlightClick="1"/>
            </p:cNvPr>
            <p:cNvSpPr>
              <a:spLocks noChangeArrowheads="1"/>
            </p:cNvSpPr>
            <p:nvPr/>
          </p:nvSpPr>
          <p:spPr bwMode="auto">
            <a:xfrm>
              <a:off x="567" y="3187"/>
              <a:ext cx="332" cy="369"/>
            </a:xfrm>
            <a:prstGeom prst="actionButtonInformation">
              <a:avLst/>
            </a:prstGeom>
            <a:solidFill>
              <a:schemeClr val="accent1"/>
            </a:solidFill>
            <a:ln w="12700">
              <a:noFill/>
              <a:miter lim="800000"/>
              <a:headEnd type="none" w="sm" len="sm"/>
              <a:tailEnd type="none" w="sm" len="sm"/>
            </a:ln>
            <a:effectLst/>
          </p:spPr>
          <p:txBody>
            <a:bodyPr wrap="none" anchor="ctr"/>
            <a:lstStyle/>
            <a:p>
              <a:pPr>
                <a:defRPr/>
              </a:pPr>
              <a:endParaRPr lang="zh-CN" altLang="en-US">
                <a:effectLst>
                  <a:outerShdw blurRad="38100" dist="38100" dir="2700000" algn="tl">
                    <a:srgbClr val="000000">
                      <a:alpha val="43137"/>
                    </a:srgbClr>
                  </a:outerShdw>
                </a:effectLst>
                <a:ea typeface="宋体" panose="02010600030101010101" pitchFamily="2" charset="-122"/>
              </a:endParaRPr>
            </a:p>
          </p:txBody>
        </p:sp>
      </p:grpSp>
      <p:sp>
        <p:nvSpPr>
          <p:cNvPr id="107527" name="Text Box 7"/>
          <p:cNvSpPr txBox="1">
            <a:spLocks noChangeArrowheads="1"/>
          </p:cNvSpPr>
          <p:nvPr/>
        </p:nvSpPr>
        <p:spPr bwMode="auto">
          <a:xfrm>
            <a:off x="1260475" y="4013200"/>
            <a:ext cx="8136890" cy="1814830"/>
          </a:xfrm>
          <a:prstGeom prst="rect">
            <a:avLst/>
          </a:prstGeom>
          <a:noFill/>
          <a:ln w="44450" algn="ctr">
            <a:solidFill>
              <a:schemeClr val="hlink"/>
            </a:solidFill>
            <a:miter lim="800000"/>
          </a:ln>
        </p:spPr>
        <p:txBody>
          <a:bodyPr wrap="square">
            <a:spAutoFit/>
          </a:bodyPr>
          <a:lstStyle/>
          <a:p>
            <a:pPr marL="457200" indent="0">
              <a:buFontTx/>
              <a:buNone/>
            </a:pPr>
            <a:r>
              <a:rPr kumimoji="0" lang="zh-CN" altLang="en-US" sz="2800" b="1" kern="0" dirty="0">
                <a:latin typeface="楷体_GB2312" panose="02010609030101010101" pitchFamily="49" charset="-122"/>
                <a:ea typeface="楷体_GB2312" panose="02010609030101010101" pitchFamily="49" charset="-122"/>
                <a:cs typeface="+mn-ea"/>
              </a:rPr>
              <a:t>某企业销售甲商品，商品价目单中列示的价格为每件100元，现销售200件，并给予购货方5%的商业折扣，则实际销售单价和销售价款应为多少？销项税额呢？</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to="" calcmode="lin" valueType="num">
                                      <p:cBhvr>
                                        <p:cTn id="7" dur="1" fill="hold"/>
                                        <p:tgtEl>
                                          <p:spTgt spid="5"/>
                                        </p:tgtEl>
                                      </p:cBhvr>
                                    </p:anim>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07527"/>
                                        </p:tgtEl>
                                        <p:attrNameLst>
                                          <p:attrName>style.visibility</p:attrName>
                                        </p:attrNameLst>
                                      </p:cBhvr>
                                      <p:to>
                                        <p:strVal val="visible"/>
                                      </p:to>
                                    </p:set>
                                    <p:animEffect transition="in" filter="box(in)">
                                      <p:cBhvr>
                                        <p:cTn id="12" dur="500"/>
                                        <p:tgtEl>
                                          <p:spTgt spid="1075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7"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33832" name="Rectangle 8"/>
          <p:cNvSpPr>
            <a:spLocks noChangeArrowheads="1"/>
          </p:cNvSpPr>
          <p:nvPr/>
        </p:nvSpPr>
        <p:spPr bwMode="auto">
          <a:xfrm>
            <a:off x="1835150" y="2129790"/>
            <a:ext cx="9471025" cy="3415030"/>
          </a:xfrm>
          <a:prstGeom prst="rect">
            <a:avLst/>
          </a:prstGeom>
          <a:noFill/>
          <a:ln w="38100" algn="ctr">
            <a:noFill/>
            <a:miter lim="800000"/>
          </a:ln>
          <a:effectLst>
            <a:prstShdw prst="shdw17" dist="17961" dir="2700000">
              <a:schemeClr val="tx2">
                <a:gamma/>
                <a:shade val="60000"/>
                <a:invGamma/>
              </a:schemeClr>
            </a:prstShdw>
          </a:effectLst>
        </p:spPr>
        <p:txBody>
          <a:bodyPr wrap="square">
            <a:spAutoFit/>
          </a:bodyPr>
          <a:lstStyle/>
          <a:p>
            <a:pPr>
              <a:defRPr/>
            </a:pPr>
            <a:r>
              <a:rPr kumimoji="0" lang="en-US" altLang="zh-CN" sz="2800" dirty="0">
                <a:solidFill>
                  <a:schemeClr val="tx2"/>
                </a:solidFill>
                <a:latin typeface="宋体" panose="02010600030101010101" pitchFamily="2" charset="-122"/>
                <a:ea typeface="宋体" panose="02010600030101010101" pitchFamily="2" charset="-122"/>
              </a:rPr>
              <a:t> </a:t>
            </a:r>
            <a:r>
              <a:rPr lang="zh-CN" altLang="en-US" sz="2400" b="1" kern="0" dirty="0">
                <a:solidFill>
                  <a:srgbClr val="FF0000"/>
                </a:solidFill>
                <a:latin typeface="+mn-ea"/>
                <a:cs typeface="+mn-ea"/>
                <a:sym typeface="+mn-ea"/>
              </a:rPr>
              <a:t>  </a:t>
            </a:r>
            <a:endParaRPr kumimoji="0" lang="zh-CN" altLang="en-US" sz="2400" b="1" kern="0" dirty="0">
              <a:solidFill>
                <a:srgbClr val="FF0000"/>
              </a:solidFill>
              <a:latin typeface="+mn-ea"/>
              <a:cs typeface="+mn-ea"/>
            </a:endParaRPr>
          </a:p>
          <a:p>
            <a:pPr>
              <a:buFontTx/>
              <a:buBlip>
                <a:blip r:embed="rId2"/>
              </a:buBlip>
              <a:defRPr/>
            </a:pPr>
            <a:r>
              <a:rPr lang="zh-CN" altLang="en-US" sz="2800" b="1" kern="0" dirty="0">
                <a:latin typeface="楷体_GB2312" panose="02010609030101010101" pitchFamily="49" charset="-122"/>
                <a:ea typeface="楷体_GB2312" panose="02010609030101010101" pitchFamily="49" charset="-122"/>
                <a:cs typeface="+mn-ea"/>
                <a:sym typeface="+mn-ea"/>
              </a:rPr>
              <a:t>会计处理方法：</a:t>
            </a:r>
            <a:endParaRPr lang="en-US" altLang="zh-CN" sz="2400" dirty="0">
              <a:solidFill>
                <a:schemeClr val="tx2"/>
              </a:solidFill>
              <a:latin typeface="宋体" panose="02010600030101010101" pitchFamily="2" charset="-122"/>
              <a:ea typeface="宋体" panose="02010600030101010101" pitchFamily="2" charset="-122"/>
              <a:sym typeface="+mn-ea"/>
            </a:endParaRPr>
          </a:p>
          <a:p>
            <a:pPr indent="0">
              <a:buFontTx/>
              <a:buNone/>
              <a:defRPr/>
            </a:pPr>
            <a:r>
              <a:rPr lang="en-US" altLang="zh-CN" sz="2400" b="1" kern="0" dirty="0">
                <a:solidFill>
                  <a:srgbClr val="FF0000"/>
                </a:solidFill>
                <a:latin typeface="+mn-ea"/>
                <a:cs typeface="+mn-ea"/>
                <a:sym typeface="+mn-ea"/>
              </a:rPr>
              <a:t>	</a:t>
            </a:r>
            <a:r>
              <a:rPr lang="zh-CN" altLang="en-US" sz="2800" b="1" kern="0" dirty="0">
                <a:latin typeface="楷体_GB2312" panose="02010609030101010101" pitchFamily="49" charset="-122"/>
                <a:ea typeface="楷体_GB2312" panose="02010609030101010101" pitchFamily="49" charset="-122"/>
                <a:cs typeface="+mn-ea"/>
                <a:sym typeface="+mn-ea"/>
              </a:rPr>
              <a:t>借：应收账款                        2147</a:t>
            </a:r>
            <a:r>
              <a:rPr lang="en-US" altLang="zh-CN" sz="2800" b="1" kern="0" dirty="0">
                <a:latin typeface="楷体_GB2312" panose="02010609030101010101" pitchFamily="49" charset="-122"/>
                <a:ea typeface="楷体_GB2312" panose="02010609030101010101" pitchFamily="49" charset="-122"/>
                <a:cs typeface="+mn-ea"/>
                <a:sym typeface="+mn-ea"/>
              </a:rPr>
              <a:t>0</a:t>
            </a:r>
            <a:endParaRPr lang="zh-CN" altLang="en-US" sz="2800" b="1" kern="0" dirty="0">
              <a:latin typeface="楷体_GB2312" panose="02010609030101010101" pitchFamily="49" charset="-122"/>
              <a:ea typeface="楷体_GB2312" panose="02010609030101010101" pitchFamily="49" charset="-122"/>
              <a:cs typeface="+mn-ea"/>
              <a:sym typeface="+mn-ea"/>
            </a:endParaRPr>
          </a:p>
          <a:p>
            <a:pPr>
              <a:defRPr/>
            </a:pPr>
            <a:r>
              <a:rPr lang="zh-CN" altLang="en-US" sz="2800" b="1" kern="0" dirty="0">
                <a:latin typeface="楷体_GB2312" panose="02010609030101010101" pitchFamily="49" charset="-122"/>
                <a:ea typeface="楷体_GB2312" panose="02010609030101010101" pitchFamily="49" charset="-122"/>
                <a:cs typeface="+mn-ea"/>
                <a:sym typeface="+mn-ea"/>
              </a:rPr>
              <a:t>	  贷：主营业务收入                  1900</a:t>
            </a:r>
            <a:r>
              <a:rPr lang="en-US" altLang="zh-CN" sz="2800" b="1" kern="0" dirty="0">
                <a:latin typeface="楷体_GB2312" panose="02010609030101010101" pitchFamily="49" charset="-122"/>
                <a:ea typeface="楷体_GB2312" panose="02010609030101010101" pitchFamily="49" charset="-122"/>
                <a:cs typeface="+mn-ea"/>
                <a:sym typeface="+mn-ea"/>
              </a:rPr>
              <a:t>0</a:t>
            </a:r>
            <a:endParaRPr kumimoji="0" lang="zh-CN" altLang="en-US" sz="2800" b="1" kern="0" dirty="0">
              <a:latin typeface="楷体_GB2312" panose="02010609030101010101" pitchFamily="49" charset="-122"/>
              <a:ea typeface="楷体_GB2312" panose="02010609030101010101" pitchFamily="49" charset="-122"/>
              <a:cs typeface="+mn-ea"/>
            </a:endParaRPr>
          </a:p>
          <a:p>
            <a:pPr>
              <a:defRPr/>
            </a:pPr>
            <a:r>
              <a:rPr lang="zh-CN" altLang="en-US" sz="2800" b="1" kern="0" dirty="0">
                <a:latin typeface="楷体_GB2312" panose="02010609030101010101" pitchFamily="49" charset="-122"/>
                <a:ea typeface="楷体_GB2312" panose="02010609030101010101" pitchFamily="49" charset="-122"/>
                <a:cs typeface="+mn-ea"/>
                <a:sym typeface="+mn-ea"/>
              </a:rPr>
              <a:t>           应交税费—应交增值税（销项税额）    247</a:t>
            </a:r>
            <a:r>
              <a:rPr lang="en-US" altLang="zh-CN" sz="2800" b="1" kern="0">
                <a:latin typeface="楷体_GB2312" panose="02010609030101010101" pitchFamily="49" charset="-122"/>
                <a:ea typeface="楷体_GB2312" panose="02010609030101010101" pitchFamily="49" charset="-122"/>
                <a:cs typeface="+mn-ea"/>
                <a:sym typeface="+mn-ea"/>
              </a:rPr>
              <a:t>0</a:t>
            </a:r>
            <a:endParaRPr kumimoji="0" lang="zh-CN" altLang="en-US" sz="2800" b="1" kern="0" dirty="0">
              <a:latin typeface="楷体_GB2312" panose="02010609030101010101" pitchFamily="49" charset="-122"/>
              <a:ea typeface="楷体_GB2312" panose="02010609030101010101" pitchFamily="49" charset="-122"/>
              <a:cs typeface="+mn-ea"/>
            </a:endParaRPr>
          </a:p>
          <a:p>
            <a:pPr>
              <a:defRPr/>
            </a:pPr>
            <a:endParaRPr lang="zh-CN" altLang="en-US" sz="2400" b="1" kern="0" dirty="0">
              <a:latin typeface="+mn-ea"/>
              <a:cs typeface="+mn-ea"/>
              <a:sym typeface="+mn-ea"/>
            </a:endParaRPr>
          </a:p>
          <a:p>
            <a:pPr algn="ctr">
              <a:defRPr/>
            </a:pPr>
            <a:r>
              <a:rPr lang="zh-CN" altLang="en-US" sz="2800" b="1" kern="0" dirty="0">
                <a:solidFill>
                  <a:srgbClr val="FF0000"/>
                </a:solidFill>
                <a:latin typeface="+mn-ea"/>
                <a:cs typeface="+mn-ea"/>
                <a:sym typeface="+mn-ea"/>
              </a:rPr>
              <a:t>实际销售单价=发票价格-商业折扣</a:t>
            </a:r>
            <a:endParaRPr lang="zh-CN" altLang="en-US" sz="2400" b="1" kern="0" dirty="0">
              <a:latin typeface="+mn-ea"/>
              <a:cs typeface="+mn-ea"/>
              <a:sym typeface="+mn-ea"/>
            </a:endParaRPr>
          </a:p>
          <a:p>
            <a:pPr>
              <a:buFontTx/>
              <a:buBlip>
                <a:blip r:embed="rId2"/>
              </a:buBlip>
              <a:defRPr/>
            </a:pPr>
            <a:endParaRPr kumimoji="0" lang="zh-CN" altLang="en-US" sz="2400" dirty="0">
              <a:solidFill>
                <a:schemeClr val="tx2"/>
              </a:solidFill>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33832"/>
                                        </p:tgtEl>
                                        <p:attrNameLst>
                                          <p:attrName>style.visibility</p:attrName>
                                        </p:attrNameLst>
                                      </p:cBhvr>
                                      <p:to>
                                        <p:strVal val="visible"/>
                                      </p:to>
                                    </p:set>
                                    <p:animEffect transition="in" filter="blinds(horizontal)">
                                      <p:cBhvr>
                                        <p:cTn id="7" dur="500"/>
                                        <p:tgtEl>
                                          <p:spTgt spid="3338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3832"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grpSp>
        <p:nvGrpSpPr>
          <p:cNvPr id="5" name="Group 5"/>
          <p:cNvGrpSpPr/>
          <p:nvPr/>
        </p:nvGrpSpPr>
        <p:grpSpPr bwMode="auto">
          <a:xfrm>
            <a:off x="1223183" y="2509203"/>
            <a:ext cx="5260975" cy="969962"/>
            <a:chOff x="666" y="1263"/>
            <a:chExt cx="1705" cy="750"/>
          </a:xfrm>
        </p:grpSpPr>
        <p:pic>
          <p:nvPicPr>
            <p:cNvPr id="38918" name="Picture 6" descr="45-blue"/>
            <p:cNvPicPr>
              <a:picLocks noChangeAspect="1" noChangeArrowheads="1"/>
            </p:cNvPicPr>
            <p:nvPr/>
          </p:nvPicPr>
          <p:blipFill>
            <a:blip r:embed="rId2" cstate="print"/>
            <a:srcRect/>
            <a:stretch>
              <a:fillRect/>
            </a:stretch>
          </p:blipFill>
          <p:spPr bwMode="auto">
            <a:xfrm>
              <a:off x="767" y="1263"/>
              <a:ext cx="1284" cy="750"/>
            </a:xfrm>
            <a:prstGeom prst="rect">
              <a:avLst/>
            </a:prstGeom>
            <a:noFill/>
            <a:ln w="9525">
              <a:noFill/>
              <a:miter lim="800000"/>
              <a:headEnd/>
              <a:tailEnd/>
            </a:ln>
          </p:spPr>
        </p:pic>
        <p:sp>
          <p:nvSpPr>
            <p:cNvPr id="38919" name="Text Box 7"/>
            <p:cNvSpPr txBox="1">
              <a:spLocks noChangeArrowheads="1"/>
            </p:cNvSpPr>
            <p:nvPr/>
          </p:nvSpPr>
          <p:spPr bwMode="auto">
            <a:xfrm>
              <a:off x="666" y="1414"/>
              <a:ext cx="1705" cy="448"/>
            </a:xfrm>
            <a:prstGeom prst="rect">
              <a:avLst/>
            </a:prstGeom>
            <a:noFill/>
            <a:ln w="9525">
              <a:noFill/>
              <a:miter lim="800000"/>
            </a:ln>
          </p:spPr>
          <p:txBody>
            <a:bodyPr anchor="ctr">
              <a:spAutoFit/>
            </a:bodyPr>
            <a:lstStyle/>
            <a:p>
              <a:pPr>
                <a:spcBef>
                  <a:spcPct val="20000"/>
                </a:spcBef>
                <a:buClr>
                  <a:schemeClr val="hlink"/>
                </a:buClr>
                <a:buFont typeface="Wingdings" panose="05000000000000000000" pitchFamily="2" charset="2"/>
                <a:buNone/>
              </a:pPr>
              <a:r>
                <a:rPr kumimoji="0" lang="en-US" altLang="zh-CN" sz="3200">
                  <a:solidFill>
                    <a:schemeClr val="tx2"/>
                  </a:solidFill>
                  <a:latin typeface="宋体" panose="02010600030101010101" pitchFamily="2" charset="-122"/>
                </a:rPr>
                <a:t>     </a:t>
              </a:r>
              <a:r>
                <a:rPr kumimoji="0" lang="en-US" altLang="zh-CN" sz="320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宋体" panose="02010600030101010101" pitchFamily="2" charset="-122"/>
                </a:rPr>
                <a:t>2</a:t>
              </a:r>
              <a:r>
                <a:rPr kumimoji="0" lang="zh-CN" altLang="en-US" sz="320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宋体" panose="02010600030101010101" pitchFamily="2" charset="-122"/>
                </a:rPr>
                <a:t>、现金折扣</a:t>
              </a:r>
            </a:p>
          </p:txBody>
        </p:sp>
      </p:grpSp>
      <p:sp>
        <p:nvSpPr>
          <p:cNvPr id="333832" name="Rectangle 8"/>
          <p:cNvSpPr>
            <a:spLocks noChangeArrowheads="1"/>
          </p:cNvSpPr>
          <p:nvPr/>
        </p:nvSpPr>
        <p:spPr bwMode="auto">
          <a:xfrm>
            <a:off x="5662295" y="2526030"/>
            <a:ext cx="5649595" cy="953135"/>
          </a:xfrm>
          <a:prstGeom prst="rect">
            <a:avLst/>
          </a:prstGeom>
          <a:noFill/>
          <a:ln w="38100" algn="ctr">
            <a:noFill/>
            <a:miter lim="800000"/>
          </a:ln>
          <a:effectLst>
            <a:prstShdw prst="shdw17" dist="17961" dir="2700000">
              <a:schemeClr val="tx2">
                <a:gamma/>
                <a:shade val="60000"/>
                <a:invGamma/>
              </a:schemeClr>
            </a:prstShdw>
          </a:effectLst>
        </p:spPr>
        <p:txBody>
          <a:bodyPr wrap="square">
            <a:spAutoFit/>
          </a:bodyPr>
          <a:lstStyle/>
          <a:p>
            <a:pPr>
              <a:buFontTx/>
              <a:buBlip>
                <a:blip r:embed="rId3"/>
              </a:buBlip>
              <a:defRPr/>
            </a:pPr>
            <a:r>
              <a:rPr kumimoji="0" lang="en-US" altLang="zh-CN" sz="2800">
                <a:solidFill>
                  <a:schemeClr val="tx2"/>
                </a:solidFill>
                <a:latin typeface="宋体" panose="02010600030101010101" pitchFamily="2" charset="-122"/>
                <a:ea typeface="宋体" panose="02010600030101010101" pitchFamily="2" charset="-122"/>
              </a:rPr>
              <a:t> </a:t>
            </a:r>
            <a:r>
              <a:rPr kumimoji="0" lang="zh-CN" altLang="en-US" sz="2800" b="1" kern="0" dirty="0">
                <a:latin typeface="楷体_GB2312" panose="02010609030101010101" pitchFamily="49" charset="-122"/>
                <a:ea typeface="楷体_GB2312" panose="02010609030101010101" pitchFamily="49" charset="-122"/>
                <a:cs typeface="+mn-ea"/>
              </a:rPr>
              <a:t>含义：及时付款的折扣</a:t>
            </a:r>
          </a:p>
          <a:p>
            <a:pPr>
              <a:defRPr/>
            </a:pPr>
            <a:r>
              <a:rPr kumimoji="0" lang="zh-CN" altLang="en-US" sz="2800" b="1" kern="0" dirty="0">
                <a:latin typeface="楷体_GB2312" panose="02010609030101010101" pitchFamily="49" charset="-122"/>
                <a:ea typeface="楷体_GB2312" panose="02010609030101010101" pitchFamily="49" charset="-122"/>
                <a:cs typeface="+mn-ea"/>
              </a:rPr>
              <a:t>         交易发生后付款时产生</a:t>
            </a:r>
            <a:endParaRPr kumimoji="0" lang="zh-CN" altLang="en-US" sz="2400">
              <a:solidFill>
                <a:schemeClr val="tx2"/>
              </a:solidFill>
              <a:latin typeface="宋体" panose="02010600030101010101" pitchFamily="2" charset="-122"/>
              <a:ea typeface="宋体" panose="02010600030101010101" pitchFamily="2" charset="-122"/>
            </a:endParaRPr>
          </a:p>
        </p:txBody>
      </p:sp>
      <p:sp>
        <p:nvSpPr>
          <p:cNvPr id="333833" name="Rectangle 9"/>
          <p:cNvSpPr>
            <a:spLocks noChangeArrowheads="1"/>
          </p:cNvSpPr>
          <p:nvPr/>
        </p:nvSpPr>
        <p:spPr bwMode="auto">
          <a:xfrm>
            <a:off x="1534795" y="4044633"/>
            <a:ext cx="5614035" cy="521970"/>
          </a:xfrm>
          <a:prstGeom prst="rect">
            <a:avLst/>
          </a:prstGeom>
          <a:noFill/>
          <a:ln w="38100" algn="ctr">
            <a:noFill/>
            <a:miter lim="800000"/>
          </a:ln>
          <a:effectLst>
            <a:prstShdw prst="shdw17" dist="17961" dir="2700000">
              <a:schemeClr val="tx2">
                <a:gamma/>
                <a:shade val="60000"/>
                <a:invGamma/>
              </a:schemeClr>
            </a:prstShdw>
          </a:effectLst>
        </p:spPr>
        <p:txBody>
          <a:bodyPr wrap="none">
            <a:spAutoFit/>
          </a:bodyPr>
          <a:lstStyle/>
          <a:p>
            <a:pPr>
              <a:buFontTx/>
              <a:buBlip>
                <a:blip r:embed="rId3"/>
              </a:buBlip>
              <a:defRPr/>
            </a:pPr>
            <a:r>
              <a:rPr kumimoji="0" lang="en-US" altLang="zh-CN" sz="2800">
                <a:solidFill>
                  <a:schemeClr val="tx2"/>
                </a:solidFill>
                <a:latin typeface="宋体" panose="02010600030101010101" pitchFamily="2" charset="-122"/>
                <a:ea typeface="宋体" panose="02010600030101010101" pitchFamily="2" charset="-122"/>
              </a:rPr>
              <a:t> </a:t>
            </a:r>
            <a:r>
              <a:rPr kumimoji="0" lang="zh-CN" altLang="en-US" sz="2800" b="1" kern="0" dirty="0">
                <a:latin typeface="楷体_GB2312" panose="02010609030101010101" pitchFamily="49" charset="-122"/>
                <a:ea typeface="楷体_GB2312" panose="02010609030101010101" pitchFamily="49" charset="-122"/>
                <a:cs typeface="+mn-ea"/>
              </a:rPr>
              <a:t>表示方式：“2/10，N/30”的含义</a:t>
            </a:r>
            <a:endParaRPr kumimoji="0" lang="zh-CN" altLang="en-US" sz="2400">
              <a:solidFill>
                <a:schemeClr val="tx2"/>
              </a:solidFill>
              <a:latin typeface="宋体" panose="02010600030101010101" pitchFamily="2" charset="-122"/>
              <a:ea typeface="宋体" panose="02010600030101010101" pitchFamily="2" charset="-122"/>
            </a:endParaRPr>
          </a:p>
        </p:txBody>
      </p:sp>
      <p:sp>
        <p:nvSpPr>
          <p:cNvPr id="8" name="Rectangle 9"/>
          <p:cNvSpPr>
            <a:spLocks noChangeArrowheads="1"/>
          </p:cNvSpPr>
          <p:nvPr/>
        </p:nvSpPr>
        <p:spPr bwMode="auto">
          <a:xfrm>
            <a:off x="1534795" y="5077778"/>
            <a:ext cx="6150610" cy="953135"/>
          </a:xfrm>
          <a:prstGeom prst="rect">
            <a:avLst/>
          </a:prstGeom>
          <a:noFill/>
          <a:ln w="38100" algn="ctr">
            <a:noFill/>
            <a:miter lim="800000"/>
          </a:ln>
          <a:effectLst>
            <a:prstShdw prst="shdw17" dist="17961" dir="2700000">
              <a:schemeClr val="tx2">
                <a:gamma/>
                <a:shade val="60000"/>
                <a:invGamma/>
              </a:schemeClr>
            </a:prstShdw>
          </a:effectLst>
        </p:spPr>
        <p:txBody>
          <a:bodyPr wrap="none">
            <a:spAutoFit/>
          </a:bodyPr>
          <a:lstStyle/>
          <a:p>
            <a:pPr algn="l">
              <a:buFontTx/>
              <a:buBlip>
                <a:blip r:embed="rId3"/>
              </a:buBlip>
              <a:defRPr/>
            </a:pPr>
            <a:r>
              <a:rPr kumimoji="0" lang="en-US" altLang="zh-CN" sz="2800">
                <a:solidFill>
                  <a:schemeClr val="tx2"/>
                </a:solidFill>
                <a:latin typeface="宋体" panose="02010600030101010101" pitchFamily="2" charset="-122"/>
                <a:ea typeface="宋体" panose="02010600030101010101" pitchFamily="2" charset="-122"/>
              </a:rPr>
              <a:t> </a:t>
            </a:r>
            <a:r>
              <a:rPr lang="zh-CN" altLang="en-US" sz="2800" b="1" kern="0" dirty="0">
                <a:latin typeface="楷体_GB2312" panose="02010609030101010101" pitchFamily="49" charset="-122"/>
                <a:ea typeface="楷体_GB2312" panose="02010609030101010101" pitchFamily="49" charset="-122"/>
                <a:cs typeface="+mn-ea"/>
                <a:sym typeface="+mn-ea"/>
              </a:rPr>
              <a:t>会计处理方法：总额法（总价法）</a:t>
            </a:r>
          </a:p>
          <a:p>
            <a:pPr indent="0" algn="l">
              <a:buFontTx/>
              <a:buNone/>
              <a:defRPr/>
            </a:pPr>
            <a:r>
              <a:rPr lang="en-US" altLang="zh-CN" sz="2800" b="1" kern="0" dirty="0">
                <a:latin typeface="楷体_GB2312" panose="02010609030101010101" pitchFamily="49" charset="-122"/>
                <a:ea typeface="楷体_GB2312" panose="02010609030101010101" pitchFamily="49" charset="-122"/>
                <a:cs typeface="+mn-ea"/>
                <a:sym typeface="+mn-ea"/>
              </a:rPr>
              <a:t>			  </a:t>
            </a:r>
            <a:r>
              <a:rPr lang="zh-CN" altLang="en-US" sz="2800" b="1" kern="0" dirty="0">
                <a:latin typeface="楷体_GB2312" panose="02010609030101010101" pitchFamily="49" charset="-122"/>
                <a:ea typeface="楷体_GB2312" panose="02010609030101010101" pitchFamily="49" charset="-122"/>
                <a:cs typeface="+mn-ea"/>
                <a:sym typeface="+mn-ea"/>
              </a:rPr>
              <a:t>净额法（净价法）</a:t>
            </a:r>
            <a:endParaRPr kumimoji="0" lang="zh-CN" altLang="en-US" sz="2400">
              <a:solidFill>
                <a:schemeClr val="tx2"/>
              </a:solidFill>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to="" calcmode="lin" valueType="num">
                                      <p:cBhvr>
                                        <p:cTn id="7" dur="1" fill="hold"/>
                                        <p:tgtEl>
                                          <p:spTgt spid="5"/>
                                        </p:tgtEl>
                                      </p:cBhvr>
                                    </p:anim>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33832"/>
                                        </p:tgtEl>
                                        <p:attrNameLst>
                                          <p:attrName>style.visibility</p:attrName>
                                        </p:attrNameLst>
                                      </p:cBhvr>
                                      <p:to>
                                        <p:strVal val="visible"/>
                                      </p:to>
                                    </p:set>
                                    <p:animEffect transition="in" filter="blinds(horizontal)">
                                      <p:cBhvr>
                                        <p:cTn id="12" dur="500"/>
                                        <p:tgtEl>
                                          <p:spTgt spid="33383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33833"/>
                                        </p:tgtEl>
                                        <p:attrNameLst>
                                          <p:attrName>style.visibility</p:attrName>
                                        </p:attrNameLst>
                                      </p:cBhvr>
                                      <p:to>
                                        <p:strVal val="visible"/>
                                      </p:to>
                                    </p:set>
                                    <p:animEffect transition="in" filter="blinds(horizontal)">
                                      <p:cBhvr>
                                        <p:cTn id="17" dur="500"/>
                                        <p:tgtEl>
                                          <p:spTgt spid="33383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3832" grpId="0" bldLvl="0" animBg="1"/>
      <p:bldP spid="333833" grpId="0" bldLvl="0" animBg="1"/>
      <p:bldP spid="8" grpId="0"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800" dirty="0">
                <a:solidFill>
                  <a:schemeClr val="tx1"/>
                </a:solidFill>
                <a:latin typeface="楷体_GB2312" panose="02010609030101010101" pitchFamily="49" charset="-122"/>
                <a:ea typeface="楷体_GB2312" panose="02010609030101010101" pitchFamily="49" charset="-122"/>
                <a:cs typeface="+mn-ea"/>
                <a:sym typeface="+mn-ea"/>
              </a:rPr>
              <a:t>总额法</a:t>
            </a:r>
            <a:endParaRPr lang="zh-CN" altLang="en-US" dirty="0"/>
          </a:p>
        </p:txBody>
      </p:sp>
      <p:grpSp>
        <p:nvGrpSpPr>
          <p:cNvPr id="5" name="Group 4"/>
          <p:cNvGrpSpPr/>
          <p:nvPr/>
        </p:nvGrpSpPr>
        <p:grpSpPr bwMode="auto">
          <a:xfrm>
            <a:off x="1542404" y="1995170"/>
            <a:ext cx="2959111" cy="685800"/>
            <a:chOff x="563" y="1514"/>
            <a:chExt cx="1489" cy="453"/>
          </a:xfrm>
        </p:grpSpPr>
        <p:pic>
          <p:nvPicPr>
            <p:cNvPr id="39949" name="Picture 5"/>
            <p:cNvPicPr preferRelativeResize="0">
              <a:picLocks noChangeArrowheads="1"/>
            </p:cNvPicPr>
            <p:nvPr/>
          </p:nvPicPr>
          <p:blipFill>
            <a:blip r:embed="rId2" cstate="print"/>
            <a:srcRect/>
            <a:stretch>
              <a:fillRect/>
            </a:stretch>
          </p:blipFill>
          <p:spPr bwMode="invGray">
            <a:xfrm>
              <a:off x="567" y="1514"/>
              <a:ext cx="1485" cy="453"/>
            </a:xfrm>
            <a:prstGeom prst="rect">
              <a:avLst/>
            </a:prstGeom>
            <a:noFill/>
            <a:ln w="9525">
              <a:noFill/>
              <a:miter lim="800000"/>
              <a:headEnd/>
              <a:tailEnd/>
            </a:ln>
          </p:spPr>
        </p:pic>
        <p:sp>
          <p:nvSpPr>
            <p:cNvPr id="39950" name="Rectangle 6"/>
            <p:cNvSpPr>
              <a:spLocks noChangeArrowheads="1"/>
            </p:cNvSpPr>
            <p:nvPr/>
          </p:nvSpPr>
          <p:spPr bwMode="auto">
            <a:xfrm>
              <a:off x="563" y="1545"/>
              <a:ext cx="1391" cy="390"/>
            </a:xfrm>
            <a:prstGeom prst="rect">
              <a:avLst/>
            </a:prstGeom>
            <a:noFill/>
            <a:ln w="9525">
              <a:noFill/>
              <a:miter lim="800000"/>
            </a:ln>
          </p:spPr>
          <p:txBody>
            <a:bodyPr lIns="91431" tIns="45716" rIns="91431" bIns="45716" anchor="ctr"/>
            <a:lstStyle/>
            <a:p>
              <a:pPr defTabSz="600075">
                <a:spcBef>
                  <a:spcPct val="0"/>
                </a:spcBef>
              </a:pPr>
              <a:r>
                <a:rPr kumimoji="0" lang="zh-CN" altLang="en-US" sz="2800">
                  <a:solidFill>
                    <a:schemeClr val="bg1"/>
                  </a:solidFill>
                  <a:latin typeface="宋体" panose="02010600030101010101" pitchFamily="2" charset="-122"/>
                </a:rPr>
                <a:t>销售：总额入账</a:t>
              </a:r>
            </a:p>
          </p:txBody>
        </p:sp>
      </p:grpSp>
      <p:grpSp>
        <p:nvGrpSpPr>
          <p:cNvPr id="6" name="Group 7"/>
          <p:cNvGrpSpPr/>
          <p:nvPr/>
        </p:nvGrpSpPr>
        <p:grpSpPr bwMode="auto">
          <a:xfrm>
            <a:off x="1534795" y="3625215"/>
            <a:ext cx="2957830" cy="720725"/>
            <a:chOff x="2130" y="1514"/>
            <a:chExt cx="1485" cy="454"/>
          </a:xfrm>
        </p:grpSpPr>
        <p:pic>
          <p:nvPicPr>
            <p:cNvPr id="39947" name="Picture 8"/>
            <p:cNvPicPr preferRelativeResize="0">
              <a:picLocks noChangeArrowheads="1"/>
            </p:cNvPicPr>
            <p:nvPr/>
          </p:nvPicPr>
          <p:blipFill>
            <a:blip r:embed="rId3" cstate="print"/>
            <a:srcRect/>
            <a:stretch>
              <a:fillRect/>
            </a:stretch>
          </p:blipFill>
          <p:spPr bwMode="invGray">
            <a:xfrm>
              <a:off x="2130" y="1514"/>
              <a:ext cx="1485" cy="454"/>
            </a:xfrm>
            <a:prstGeom prst="rect">
              <a:avLst/>
            </a:prstGeom>
            <a:solidFill>
              <a:srgbClr val="A50021"/>
            </a:solidFill>
            <a:ln w="9525">
              <a:noFill/>
              <a:miter lim="800000"/>
              <a:headEnd/>
              <a:tailEnd/>
            </a:ln>
          </p:spPr>
        </p:pic>
        <p:sp>
          <p:nvSpPr>
            <p:cNvPr id="39948" name="Rectangle 9"/>
            <p:cNvSpPr>
              <a:spLocks noChangeArrowheads="1"/>
            </p:cNvSpPr>
            <p:nvPr/>
          </p:nvSpPr>
          <p:spPr bwMode="auto">
            <a:xfrm>
              <a:off x="2130" y="1542"/>
              <a:ext cx="1458" cy="371"/>
            </a:xfrm>
            <a:prstGeom prst="rect">
              <a:avLst/>
            </a:prstGeom>
            <a:noFill/>
            <a:ln w="9525">
              <a:noFill/>
              <a:miter lim="800000"/>
            </a:ln>
          </p:spPr>
          <p:txBody>
            <a:bodyPr lIns="91431" tIns="45716" rIns="91431" bIns="45716" anchor="ctr"/>
            <a:lstStyle/>
            <a:p>
              <a:pPr defTabSz="600075">
                <a:spcBef>
                  <a:spcPct val="0"/>
                </a:spcBef>
              </a:pPr>
              <a:r>
                <a:rPr kumimoji="0" lang="zh-CN" altLang="en-US" sz="2800">
                  <a:solidFill>
                    <a:schemeClr val="bg1"/>
                  </a:solidFill>
                  <a:latin typeface="宋体" panose="02010600030101010101" pitchFamily="2" charset="-122"/>
                </a:rPr>
                <a:t>收回：折扣期内</a:t>
              </a:r>
            </a:p>
          </p:txBody>
        </p:sp>
      </p:grpSp>
      <p:grpSp>
        <p:nvGrpSpPr>
          <p:cNvPr id="7" name="Group 10"/>
          <p:cNvGrpSpPr/>
          <p:nvPr/>
        </p:nvGrpSpPr>
        <p:grpSpPr bwMode="auto">
          <a:xfrm>
            <a:off x="1542415" y="5247640"/>
            <a:ext cx="2950845" cy="720725"/>
            <a:chOff x="3703" y="1504"/>
            <a:chExt cx="1485" cy="454"/>
          </a:xfrm>
        </p:grpSpPr>
        <p:pic>
          <p:nvPicPr>
            <p:cNvPr id="39945" name="Picture 11"/>
            <p:cNvPicPr preferRelativeResize="0">
              <a:picLocks noChangeArrowheads="1"/>
            </p:cNvPicPr>
            <p:nvPr/>
          </p:nvPicPr>
          <p:blipFill>
            <a:blip r:embed="rId3" cstate="print"/>
            <a:srcRect/>
            <a:stretch>
              <a:fillRect/>
            </a:stretch>
          </p:blipFill>
          <p:spPr bwMode="invGray">
            <a:xfrm>
              <a:off x="3703" y="1504"/>
              <a:ext cx="1485" cy="454"/>
            </a:xfrm>
            <a:prstGeom prst="rect">
              <a:avLst/>
            </a:prstGeom>
            <a:noFill/>
            <a:ln w="9525">
              <a:noFill/>
              <a:miter lim="800000"/>
              <a:headEnd/>
              <a:tailEnd/>
            </a:ln>
          </p:spPr>
        </p:pic>
        <p:sp>
          <p:nvSpPr>
            <p:cNvPr id="39946" name="Rectangle 12"/>
            <p:cNvSpPr>
              <a:spLocks noChangeArrowheads="1"/>
            </p:cNvSpPr>
            <p:nvPr/>
          </p:nvSpPr>
          <p:spPr bwMode="auto">
            <a:xfrm>
              <a:off x="3703" y="1532"/>
              <a:ext cx="1454" cy="370"/>
            </a:xfrm>
            <a:prstGeom prst="rect">
              <a:avLst/>
            </a:prstGeom>
            <a:noFill/>
            <a:ln w="9525">
              <a:noFill/>
              <a:miter lim="800000"/>
            </a:ln>
          </p:spPr>
          <p:txBody>
            <a:bodyPr lIns="91431" tIns="45716" rIns="91431" bIns="45716" anchor="ctr"/>
            <a:lstStyle/>
            <a:p>
              <a:pPr defTabSz="600075">
                <a:spcBef>
                  <a:spcPct val="0"/>
                </a:spcBef>
              </a:pPr>
              <a:r>
                <a:rPr kumimoji="0" lang="zh-CN" altLang="en-US" sz="2800">
                  <a:solidFill>
                    <a:schemeClr val="bg1"/>
                  </a:solidFill>
                  <a:latin typeface="宋体" panose="02010600030101010101" pitchFamily="2" charset="-122"/>
                </a:rPr>
                <a:t>收回：折扣期外</a:t>
              </a:r>
            </a:p>
          </p:txBody>
        </p:sp>
      </p:grpSp>
      <p:sp>
        <p:nvSpPr>
          <p:cNvPr id="334861" name="Rectangle 13"/>
          <p:cNvSpPr>
            <a:spLocks noChangeArrowheads="1"/>
          </p:cNvSpPr>
          <p:nvPr/>
        </p:nvSpPr>
        <p:spPr bwMode="auto">
          <a:xfrm>
            <a:off x="4882833" y="2041843"/>
            <a:ext cx="5907087" cy="1198880"/>
          </a:xfrm>
          <a:prstGeom prst="rect">
            <a:avLst/>
          </a:prstGeom>
          <a:noFill/>
          <a:ln w="38100" algn="ctr">
            <a:noFill/>
            <a:miter lim="800000"/>
          </a:ln>
          <a:effectLst>
            <a:prstShdw prst="shdw17" dist="17961" dir="2700000">
              <a:schemeClr val="tx2">
                <a:gamma/>
                <a:shade val="60000"/>
                <a:invGamma/>
              </a:schemeClr>
            </a:prstShdw>
          </a:effectLst>
        </p:spPr>
        <p:txBody>
          <a:bodyPr>
            <a:spAutoFit/>
          </a:bodyPr>
          <a:lstStyle/>
          <a:p>
            <a:pPr>
              <a:defRPr/>
            </a:pPr>
            <a:r>
              <a:rPr kumimoji="0" lang="zh-CN" altLang="en-US" sz="2400" b="1" kern="0" dirty="0">
                <a:latin typeface="+mn-ea"/>
                <a:cs typeface="+mn-ea"/>
              </a:rPr>
              <a:t>借：应收账款（总额）</a:t>
            </a:r>
          </a:p>
          <a:p>
            <a:pPr>
              <a:defRPr/>
            </a:pPr>
            <a:r>
              <a:rPr kumimoji="0" lang="zh-CN" altLang="en-US" sz="2400" b="1" kern="0" dirty="0">
                <a:latin typeface="+mn-ea"/>
                <a:cs typeface="+mn-ea"/>
              </a:rPr>
              <a:t>  贷：主营业务收入</a:t>
            </a:r>
          </a:p>
          <a:p>
            <a:pPr>
              <a:defRPr/>
            </a:pPr>
            <a:r>
              <a:rPr kumimoji="0" lang="zh-CN" altLang="en-US" sz="2400" b="1" kern="0" dirty="0">
                <a:latin typeface="+mn-ea"/>
                <a:cs typeface="+mn-ea"/>
              </a:rPr>
              <a:t>           应交税费—应交增值税(销项税额)</a:t>
            </a:r>
            <a:endParaRPr kumimoji="0" lang="en-US" altLang="zh-CN" sz="2400">
              <a:solidFill>
                <a:schemeClr val="tx2"/>
              </a:solidFill>
              <a:latin typeface="华文细黑" panose="02010600040101010101" pitchFamily="2" charset="-122"/>
              <a:ea typeface="华文细黑" panose="02010600040101010101" pitchFamily="2" charset="-122"/>
            </a:endParaRPr>
          </a:p>
        </p:txBody>
      </p:sp>
      <p:sp>
        <p:nvSpPr>
          <p:cNvPr id="334862" name="Rectangle 14"/>
          <p:cNvSpPr>
            <a:spLocks noChangeArrowheads="1"/>
          </p:cNvSpPr>
          <p:nvPr/>
        </p:nvSpPr>
        <p:spPr bwMode="auto">
          <a:xfrm>
            <a:off x="4882833" y="3624898"/>
            <a:ext cx="5480050" cy="1198880"/>
          </a:xfrm>
          <a:prstGeom prst="rect">
            <a:avLst/>
          </a:prstGeom>
          <a:noFill/>
          <a:ln w="38100" algn="ctr">
            <a:noFill/>
            <a:miter lim="800000"/>
          </a:ln>
          <a:effectLst>
            <a:prstShdw prst="shdw17" dist="17961" dir="2700000">
              <a:schemeClr val="tx2">
                <a:gamma/>
                <a:shade val="60000"/>
                <a:invGamma/>
              </a:schemeClr>
            </a:prstShdw>
          </a:effectLst>
        </p:spPr>
        <p:txBody>
          <a:bodyPr>
            <a:spAutoFit/>
          </a:bodyPr>
          <a:lstStyle/>
          <a:p>
            <a:pPr>
              <a:defRPr/>
            </a:pPr>
            <a:r>
              <a:rPr kumimoji="0" lang="zh-CN" altLang="en-US" sz="2400" b="1" kern="0" dirty="0">
                <a:latin typeface="+mn-ea"/>
                <a:cs typeface="+mn-ea"/>
              </a:rPr>
              <a:t>借：银行存款（净额=总额-现金折扣）</a:t>
            </a:r>
          </a:p>
          <a:p>
            <a:pPr>
              <a:defRPr/>
            </a:pPr>
            <a:r>
              <a:rPr kumimoji="0" lang="zh-CN" altLang="en-US" sz="2400" b="1" kern="0" dirty="0">
                <a:latin typeface="+mn-ea"/>
                <a:cs typeface="+mn-ea"/>
              </a:rPr>
              <a:t>       财务费用（现金折扣）</a:t>
            </a:r>
          </a:p>
          <a:p>
            <a:pPr>
              <a:defRPr/>
            </a:pPr>
            <a:r>
              <a:rPr kumimoji="0" lang="zh-CN" altLang="en-US" sz="2400" b="1" kern="0" dirty="0">
                <a:latin typeface="+mn-ea"/>
                <a:cs typeface="+mn-ea"/>
              </a:rPr>
              <a:t>   贷：应收账款（总额）</a:t>
            </a:r>
            <a:endParaRPr kumimoji="0" lang="zh-CN" altLang="en-US" sz="2400">
              <a:solidFill>
                <a:schemeClr val="tx2"/>
              </a:solidFill>
              <a:latin typeface="华文细黑" panose="02010600040101010101" pitchFamily="2" charset="-122"/>
              <a:ea typeface="华文细黑" panose="02010600040101010101" pitchFamily="2" charset="-122"/>
            </a:endParaRPr>
          </a:p>
        </p:txBody>
      </p:sp>
      <p:sp>
        <p:nvSpPr>
          <p:cNvPr id="334851" name="Rectangle 3"/>
          <p:cNvSpPr>
            <a:spLocks noGrp="1" noChangeArrowheads="1"/>
          </p:cNvSpPr>
          <p:nvPr>
            <p:ph type="body" idx="1"/>
          </p:nvPr>
        </p:nvSpPr>
        <p:spPr>
          <a:xfrm>
            <a:off x="4882833" y="5247640"/>
            <a:ext cx="5048250" cy="1087438"/>
          </a:xfrm>
        </p:spPr>
        <p:txBody>
          <a:bodyPr/>
          <a:lstStyle/>
          <a:p>
            <a:pPr marL="0" indent="0" eaLnBrk="1" hangingPunct="1">
              <a:buNone/>
            </a:pPr>
            <a:r>
              <a:rPr lang="zh-CN" altLang="en-US" sz="2400" dirty="0">
                <a:latin typeface="+mn-ea"/>
                <a:ea typeface="+mn-ea"/>
                <a:cs typeface="+mn-ea"/>
              </a:rPr>
              <a:t>借：银行存款（总额）</a:t>
            </a:r>
          </a:p>
          <a:p>
            <a:pPr marL="0" indent="0" eaLnBrk="1" hangingPunct="1">
              <a:buNone/>
            </a:pPr>
            <a:r>
              <a:rPr lang="zh-CN" altLang="en-US" sz="2400" dirty="0">
                <a:latin typeface="+mn-ea"/>
                <a:ea typeface="+mn-ea"/>
                <a:cs typeface="+mn-ea"/>
              </a:rPr>
              <a:t>     贷：应收账款（总额）</a:t>
            </a:r>
            <a:endParaRPr lang="zh-CN" altLang="en-US" sz="2400">
              <a:latin typeface="华文细黑" panose="02010600040101010101" pitchFamily="2" charset="-122"/>
              <a:ea typeface="华文细黑"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par>
                          <p:cTn id="8" fill="hold">
                            <p:stCondLst>
                              <p:cond delay="500"/>
                            </p:stCondLst>
                            <p:childTnLst>
                              <p:par>
                                <p:cTn id="9" presetID="8" presetClass="entr" presetSubtype="16" fill="hold" grpId="0" nodeType="afterEffect">
                                  <p:stCondLst>
                                    <p:cond delay="0"/>
                                  </p:stCondLst>
                                  <p:childTnLst>
                                    <p:set>
                                      <p:cBhvr>
                                        <p:cTn id="10" dur="1" fill="hold">
                                          <p:stCondLst>
                                            <p:cond delay="0"/>
                                          </p:stCondLst>
                                        </p:cTn>
                                        <p:tgtEl>
                                          <p:spTgt spid="334861"/>
                                        </p:tgtEl>
                                        <p:attrNameLst>
                                          <p:attrName>style.visibility</p:attrName>
                                        </p:attrNameLst>
                                      </p:cBhvr>
                                      <p:to>
                                        <p:strVal val="visible"/>
                                      </p:to>
                                    </p:set>
                                    <p:animEffect transition="in" filter="diamond(in)">
                                      <p:cBhvr>
                                        <p:cTn id="11" dur="2000"/>
                                        <p:tgtEl>
                                          <p:spTgt spid="334861"/>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checkerboard(across)">
                                      <p:cBhvr>
                                        <p:cTn id="16" dur="500"/>
                                        <p:tgtEl>
                                          <p:spTgt spid="6"/>
                                        </p:tgtEl>
                                      </p:cBhvr>
                                    </p:animEffect>
                                  </p:childTnLst>
                                </p:cTn>
                              </p:par>
                            </p:childTnLst>
                          </p:cTn>
                        </p:par>
                        <p:par>
                          <p:cTn id="17" fill="hold">
                            <p:stCondLst>
                              <p:cond delay="500"/>
                            </p:stCondLst>
                            <p:childTnLst>
                              <p:par>
                                <p:cTn id="18" presetID="4" presetClass="entr" presetSubtype="16" fill="hold" grpId="0" nodeType="afterEffect">
                                  <p:stCondLst>
                                    <p:cond delay="0"/>
                                  </p:stCondLst>
                                  <p:childTnLst>
                                    <p:set>
                                      <p:cBhvr>
                                        <p:cTn id="19" dur="1" fill="hold">
                                          <p:stCondLst>
                                            <p:cond delay="0"/>
                                          </p:stCondLst>
                                        </p:cTn>
                                        <p:tgtEl>
                                          <p:spTgt spid="334862"/>
                                        </p:tgtEl>
                                        <p:attrNameLst>
                                          <p:attrName>style.visibility</p:attrName>
                                        </p:attrNameLst>
                                      </p:cBhvr>
                                      <p:to>
                                        <p:strVal val="visible"/>
                                      </p:to>
                                    </p:set>
                                    <p:animEffect transition="in" filter="box(in)">
                                      <p:cBhvr>
                                        <p:cTn id="20" dur="500"/>
                                        <p:tgtEl>
                                          <p:spTgt spid="334862"/>
                                        </p:tgtEl>
                                      </p:cBhvr>
                                    </p:animEffect>
                                  </p:childTnLst>
                                </p:cTn>
                              </p:par>
                            </p:childTnLst>
                          </p:cTn>
                        </p:par>
                      </p:childTnLst>
                    </p:cTn>
                  </p:par>
                  <p:par>
                    <p:cTn id="21" fill="hold">
                      <p:stCondLst>
                        <p:cond delay="indefinite"/>
                      </p:stCondLst>
                      <p:childTnLst>
                        <p:par>
                          <p:cTn id="22" fill="hold">
                            <p:stCondLst>
                              <p:cond delay="0"/>
                            </p:stCondLst>
                            <p:childTnLst>
                              <p:par>
                                <p:cTn id="23" presetID="5" presetClass="entr" presetSubtype="1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checkerboard(across)">
                                      <p:cBhvr>
                                        <p:cTn id="25" dur="500"/>
                                        <p:tgtEl>
                                          <p:spTgt spid="7"/>
                                        </p:tgtEl>
                                      </p:cBhvr>
                                    </p:animEffect>
                                  </p:childTnLst>
                                </p:cTn>
                              </p:par>
                            </p:childTnLst>
                          </p:cTn>
                        </p:par>
                        <p:par>
                          <p:cTn id="26" fill="hold">
                            <p:stCondLst>
                              <p:cond delay="500"/>
                            </p:stCondLst>
                            <p:childTnLst>
                              <p:par>
                                <p:cTn id="27" presetID="21" presetClass="entr" presetSubtype="4" fill="hold" nodeType="afterEffect">
                                  <p:stCondLst>
                                    <p:cond delay="0"/>
                                  </p:stCondLst>
                                  <p:childTnLst>
                                    <p:set>
                                      <p:cBhvr>
                                        <p:cTn id="28" dur="500" fill="hold">
                                          <p:stCondLst>
                                            <p:cond delay="0"/>
                                          </p:stCondLst>
                                        </p:cTn>
                                        <p:tgtEl>
                                          <p:spTgt spid="334851">
                                            <p:txEl>
                                              <p:pRg st="0" end="0"/>
                                            </p:txEl>
                                          </p:spTgt>
                                        </p:tgtEl>
                                        <p:attrNameLst>
                                          <p:attrName>style.visibility</p:attrName>
                                        </p:attrNameLst>
                                      </p:cBhvr>
                                      <p:to>
                                        <p:strVal val="visible"/>
                                      </p:to>
                                    </p:set>
                                    <p:animEffect transition="in" filter="wheel(4)">
                                      <p:cBhvr>
                                        <p:cTn id="29" dur="500"/>
                                        <p:tgtEl>
                                          <p:spTgt spid="334851">
                                            <p:txEl>
                                              <p:pRg st="0" end="0"/>
                                            </p:txEl>
                                          </p:spTgt>
                                        </p:tgtEl>
                                      </p:cBhvr>
                                    </p:animEffect>
                                  </p:childTnLst>
                                </p:cTn>
                              </p:par>
                            </p:childTnLst>
                          </p:cTn>
                        </p:par>
                        <p:par>
                          <p:cTn id="30" fill="hold">
                            <p:stCondLst>
                              <p:cond delay="1000"/>
                            </p:stCondLst>
                            <p:childTnLst>
                              <p:par>
                                <p:cTn id="31" presetID="21" presetClass="entr" presetSubtype="4" fill="hold" nodeType="afterEffect">
                                  <p:stCondLst>
                                    <p:cond delay="0"/>
                                  </p:stCondLst>
                                  <p:childTnLst>
                                    <p:set>
                                      <p:cBhvr>
                                        <p:cTn id="32" dur="500" fill="hold">
                                          <p:stCondLst>
                                            <p:cond delay="0"/>
                                          </p:stCondLst>
                                        </p:cTn>
                                        <p:tgtEl>
                                          <p:spTgt spid="334851">
                                            <p:txEl>
                                              <p:pRg st="1" end="1"/>
                                            </p:txEl>
                                          </p:spTgt>
                                        </p:tgtEl>
                                        <p:attrNameLst>
                                          <p:attrName>style.visibility</p:attrName>
                                        </p:attrNameLst>
                                      </p:cBhvr>
                                      <p:to>
                                        <p:strVal val="visible"/>
                                      </p:to>
                                    </p:set>
                                    <p:animEffect transition="in" filter="wheel(4)">
                                      <p:cBhvr>
                                        <p:cTn id="33" dur="500"/>
                                        <p:tgtEl>
                                          <p:spTgt spid="33485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4861" grpId="0" bldLvl="0" animBg="1"/>
      <p:bldP spid="334862" grpId="0" bldLvl="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800" dirty="0">
                <a:solidFill>
                  <a:schemeClr val="tx1"/>
                </a:solidFill>
                <a:latin typeface="楷体_GB2312" panose="02010609030101010101" pitchFamily="49" charset="-122"/>
                <a:ea typeface="楷体_GB2312" panose="02010609030101010101" pitchFamily="49" charset="-122"/>
                <a:cs typeface="+mn-ea"/>
                <a:sym typeface="+mn-ea"/>
              </a:rPr>
              <a:t>总额法举例</a:t>
            </a:r>
            <a:endParaRPr lang="zh-CN" altLang="en-US" dirty="0"/>
          </a:p>
        </p:txBody>
      </p:sp>
      <p:sp>
        <p:nvSpPr>
          <p:cNvPr id="3" name="内容占位符 2"/>
          <p:cNvSpPr>
            <a:spLocks noGrp="1"/>
          </p:cNvSpPr>
          <p:nvPr>
            <p:ph idx="1"/>
          </p:nvPr>
        </p:nvSpPr>
        <p:spPr>
          <a:xfrm>
            <a:off x="914612" y="2017713"/>
            <a:ext cx="10363200" cy="4114800"/>
          </a:xfrm>
        </p:spPr>
        <p:txBody>
          <a:bodyPr/>
          <a:lstStyle/>
          <a:p>
            <a:pPr marL="0" indent="0">
              <a:buFont typeface="Arial" panose="020B0604020202020204" pitchFamily="34" charset="0"/>
              <a:buNone/>
            </a:pPr>
            <a:r>
              <a:rPr lang="zh-CN" altLang="en-US" sz="2400" dirty="0">
                <a:latin typeface="+mn-ea"/>
                <a:ea typeface="+mn-ea"/>
                <a:cs typeface="+mn-ea"/>
                <a:sym typeface="+mn-ea"/>
              </a:rPr>
              <a:t>【示例】企业销售甲产品，扣除商业折扣后的货款总额为5 650元(其中产品价款5 000元，增值税650元)，规定的付款条件为：2/20，n/30</a:t>
            </a:r>
            <a:endParaRPr lang="zh-CN" altLang="en-US" sz="2400" dirty="0">
              <a:latin typeface="+mn-ea"/>
              <a:ea typeface="+mn-ea"/>
              <a:cs typeface="+mn-ea"/>
            </a:endParaRPr>
          </a:p>
          <a:p>
            <a:pPr marL="0" indent="0">
              <a:buFont typeface="Arial" panose="020B0604020202020204" pitchFamily="34" charset="0"/>
              <a:buNone/>
            </a:pPr>
            <a:r>
              <a:rPr lang="en-US" altLang="zh-CN" sz="2400" dirty="0">
                <a:latin typeface="+mn-ea"/>
                <a:ea typeface="+mn-ea"/>
                <a:cs typeface="+mn-ea"/>
                <a:sym typeface="+mn-ea"/>
              </a:rPr>
              <a:t>	</a:t>
            </a:r>
            <a:r>
              <a:rPr lang="zh-CN" altLang="en-US" sz="2400" dirty="0">
                <a:latin typeface="+mn-ea"/>
                <a:ea typeface="+mn-ea"/>
                <a:cs typeface="+mn-ea"/>
                <a:sym typeface="+mn-ea"/>
              </a:rPr>
              <a:t>借：应收账款       </a:t>
            </a:r>
            <a:r>
              <a:rPr lang="zh-CN" altLang="en-US" sz="2400">
                <a:latin typeface="+mn-ea"/>
                <a:ea typeface="+mn-ea"/>
                <a:cs typeface="+mn-ea"/>
                <a:sym typeface="+mn-ea"/>
              </a:rPr>
              <a:t>5 650</a:t>
            </a:r>
            <a:endParaRPr lang="zh-CN" altLang="en-US" sz="2400" dirty="0">
              <a:latin typeface="+mn-ea"/>
              <a:ea typeface="+mn-ea"/>
              <a:cs typeface="+mn-ea"/>
              <a:sym typeface="+mn-ea"/>
            </a:endParaRPr>
          </a:p>
          <a:p>
            <a:pPr marL="0" indent="0">
              <a:buFont typeface="Arial" panose="020B0604020202020204" pitchFamily="34" charset="0"/>
              <a:buNone/>
            </a:pPr>
            <a:r>
              <a:rPr lang="en-US" altLang="zh-CN" sz="2400" dirty="0">
                <a:latin typeface="+mn-ea"/>
                <a:ea typeface="+mn-ea"/>
                <a:cs typeface="+mn-ea"/>
                <a:sym typeface="+mn-ea"/>
              </a:rPr>
              <a:t>	    </a:t>
            </a:r>
            <a:r>
              <a:rPr lang="zh-CN" altLang="en-US" sz="2400" dirty="0">
                <a:latin typeface="+mn-ea"/>
                <a:ea typeface="+mn-ea"/>
                <a:cs typeface="+mn-ea"/>
                <a:sym typeface="+mn-ea"/>
              </a:rPr>
              <a:t>贷：主营业务收入                   5 000</a:t>
            </a:r>
            <a:endParaRPr lang="zh-CN" altLang="en-US" sz="2400" dirty="0">
              <a:latin typeface="+mn-ea"/>
              <a:ea typeface="+mn-ea"/>
              <a:cs typeface="+mn-ea"/>
            </a:endParaRPr>
          </a:p>
          <a:p>
            <a:pPr marL="0" indent="0">
              <a:buFont typeface="Arial" panose="020B0604020202020204" pitchFamily="34" charset="0"/>
              <a:buNone/>
            </a:pPr>
            <a:r>
              <a:rPr lang="zh-CN" altLang="en-US" sz="2400" dirty="0">
                <a:latin typeface="+mn-ea"/>
                <a:ea typeface="+mn-ea"/>
                <a:cs typeface="+mn-ea"/>
                <a:sym typeface="+mn-ea"/>
              </a:rPr>
              <a:t>             </a:t>
            </a:r>
            <a:r>
              <a:rPr lang="en-US" altLang="zh-CN" sz="2400" dirty="0">
                <a:latin typeface="+mn-ea"/>
                <a:ea typeface="+mn-ea"/>
                <a:cs typeface="+mn-ea"/>
                <a:sym typeface="+mn-ea"/>
              </a:rPr>
              <a:t>	</a:t>
            </a:r>
            <a:r>
              <a:rPr lang="zh-CN" altLang="en-US" sz="2400" dirty="0">
                <a:latin typeface="+mn-ea"/>
                <a:ea typeface="+mn-ea"/>
                <a:cs typeface="+mn-ea"/>
                <a:sym typeface="+mn-ea"/>
              </a:rPr>
              <a:t>应交税费-应交增值税（销项税额） 650</a:t>
            </a:r>
            <a:endParaRPr lang="zh-CN" altLang="en-US" sz="2400" dirty="0">
              <a:latin typeface="+mn-ea"/>
              <a:ea typeface="+mn-ea"/>
              <a:cs typeface="+mn-ea"/>
            </a:endParaRPr>
          </a:p>
          <a:p>
            <a:pPr marL="0" indent="0">
              <a:buFont typeface="Arial" panose="020B0604020202020204" pitchFamily="34" charset="0"/>
              <a:buNone/>
            </a:pPr>
            <a:r>
              <a:rPr lang="zh-CN" altLang="en-US" sz="2400" dirty="0">
                <a:latin typeface="+mn-ea"/>
                <a:ea typeface="+mn-ea"/>
                <a:cs typeface="+mn-ea"/>
                <a:sym typeface="+mn-ea"/>
              </a:rPr>
              <a:t>       购货方于20天内付款，给予购货方的折扣为113元，实际收到货款5 537元存入银行</a:t>
            </a:r>
            <a:endParaRPr lang="zh-CN" altLang="en-US" sz="2400" dirty="0">
              <a:latin typeface="+mn-ea"/>
              <a:ea typeface="+mn-ea"/>
              <a:cs typeface="+mn-ea"/>
            </a:endParaRPr>
          </a:p>
          <a:p>
            <a:pPr marL="0" indent="0">
              <a:buFont typeface="Arial" panose="020B0604020202020204" pitchFamily="34" charset="0"/>
              <a:buNone/>
            </a:pPr>
            <a:r>
              <a:rPr lang="en-US" altLang="zh-CN" sz="2400" dirty="0">
                <a:latin typeface="+mn-ea"/>
                <a:ea typeface="+mn-ea"/>
                <a:cs typeface="+mn-ea"/>
                <a:sym typeface="+mn-ea"/>
              </a:rPr>
              <a:t>	</a:t>
            </a:r>
            <a:r>
              <a:rPr lang="zh-CN" altLang="en-US" sz="2400" dirty="0">
                <a:latin typeface="+mn-ea"/>
                <a:ea typeface="+mn-ea"/>
                <a:cs typeface="+mn-ea"/>
                <a:sym typeface="+mn-ea"/>
              </a:rPr>
              <a:t>借：银行存款              5 537</a:t>
            </a:r>
          </a:p>
          <a:p>
            <a:pPr marL="0" indent="0">
              <a:buFont typeface="Arial" panose="020B0604020202020204" pitchFamily="34" charset="0"/>
              <a:buNone/>
            </a:pPr>
            <a:r>
              <a:rPr lang="en-US" altLang="zh-CN" sz="2400" dirty="0">
                <a:latin typeface="+mn-ea"/>
                <a:ea typeface="+mn-ea"/>
                <a:cs typeface="+mn-ea"/>
                <a:sym typeface="+mn-ea"/>
              </a:rPr>
              <a:t>	         </a:t>
            </a:r>
            <a:r>
              <a:rPr lang="zh-CN" altLang="en-US" sz="2400" dirty="0">
                <a:latin typeface="+mn-ea"/>
                <a:ea typeface="+mn-ea"/>
                <a:cs typeface="+mn-ea"/>
                <a:sym typeface="+mn-ea"/>
              </a:rPr>
              <a:t>财务费用                113</a:t>
            </a:r>
            <a:endParaRPr lang="zh-CN" altLang="en-US" sz="2400" dirty="0">
              <a:latin typeface="+mn-ea"/>
              <a:ea typeface="+mn-ea"/>
              <a:cs typeface="+mn-ea"/>
            </a:endParaRPr>
          </a:p>
          <a:p>
            <a:pPr marL="0" indent="0">
              <a:buFont typeface="Arial" panose="020B0604020202020204" pitchFamily="34" charset="0"/>
              <a:buNone/>
            </a:pPr>
            <a:r>
              <a:rPr lang="zh-CN" altLang="en-US" sz="2400" dirty="0">
                <a:latin typeface="+mn-ea"/>
                <a:ea typeface="+mn-ea"/>
                <a:cs typeface="+mn-ea"/>
                <a:sym typeface="+mn-ea"/>
              </a:rPr>
              <a:t>     </a:t>
            </a:r>
            <a:r>
              <a:rPr lang="en-US" altLang="zh-CN" sz="2400" dirty="0">
                <a:latin typeface="+mn-ea"/>
                <a:ea typeface="+mn-ea"/>
                <a:cs typeface="+mn-ea"/>
                <a:sym typeface="+mn-ea"/>
              </a:rPr>
              <a:t>	    </a:t>
            </a:r>
            <a:r>
              <a:rPr lang="zh-CN" altLang="en-US" sz="2400" dirty="0">
                <a:latin typeface="+mn-ea"/>
                <a:ea typeface="+mn-ea"/>
                <a:cs typeface="+mn-ea"/>
                <a:sym typeface="+mn-ea"/>
              </a:rPr>
              <a:t>贷：应收账款              5 650</a:t>
            </a:r>
            <a:endParaRPr lang="zh-CN" altLang="en-US" sz="2400" dirty="0">
              <a:latin typeface="+mn-ea"/>
              <a:ea typeface="+mn-ea"/>
              <a:cs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 </a:t>
            </a:r>
          </a:p>
        </p:txBody>
      </p:sp>
      <p:grpSp>
        <p:nvGrpSpPr>
          <p:cNvPr id="4" name="Group 5"/>
          <p:cNvGrpSpPr/>
          <p:nvPr/>
        </p:nvGrpSpPr>
        <p:grpSpPr bwMode="auto">
          <a:xfrm>
            <a:off x="1534795" y="2205355"/>
            <a:ext cx="4608830" cy="969645"/>
            <a:chOff x="604" y="1263"/>
            <a:chExt cx="1705" cy="750"/>
          </a:xfrm>
        </p:grpSpPr>
        <p:pic>
          <p:nvPicPr>
            <p:cNvPr id="44043" name="Picture 6" descr="45-blue"/>
            <p:cNvPicPr>
              <a:picLocks noChangeAspect="1" noChangeArrowheads="1"/>
            </p:cNvPicPr>
            <p:nvPr/>
          </p:nvPicPr>
          <p:blipFill>
            <a:blip r:embed="rId2" cstate="print"/>
            <a:srcRect/>
            <a:stretch>
              <a:fillRect/>
            </a:stretch>
          </p:blipFill>
          <p:spPr bwMode="auto">
            <a:xfrm>
              <a:off x="816" y="1263"/>
              <a:ext cx="1284" cy="750"/>
            </a:xfrm>
            <a:prstGeom prst="rect">
              <a:avLst/>
            </a:prstGeom>
            <a:noFill/>
            <a:ln w="9525">
              <a:noFill/>
              <a:miter lim="800000"/>
              <a:headEnd/>
              <a:tailEnd/>
            </a:ln>
          </p:spPr>
        </p:pic>
        <p:sp>
          <p:nvSpPr>
            <p:cNvPr id="44044" name="Text Box 7"/>
            <p:cNvSpPr txBox="1">
              <a:spLocks noChangeArrowheads="1"/>
            </p:cNvSpPr>
            <p:nvPr/>
          </p:nvSpPr>
          <p:spPr bwMode="auto">
            <a:xfrm>
              <a:off x="604" y="1412"/>
              <a:ext cx="1705" cy="451"/>
            </a:xfrm>
            <a:prstGeom prst="rect">
              <a:avLst/>
            </a:prstGeom>
            <a:noFill/>
            <a:ln w="9525">
              <a:noFill/>
              <a:miter lim="800000"/>
            </a:ln>
          </p:spPr>
          <p:txBody>
            <a:bodyPr anchor="ctr">
              <a:spAutoFit/>
            </a:bodyPr>
            <a:lstStyle/>
            <a:p>
              <a:pPr>
                <a:spcBef>
                  <a:spcPct val="20000"/>
                </a:spcBef>
                <a:buClr>
                  <a:schemeClr val="hlink"/>
                </a:buClr>
                <a:buFont typeface="Wingdings" panose="05000000000000000000" pitchFamily="2" charset="2"/>
                <a:buNone/>
              </a:pPr>
              <a:r>
                <a:rPr kumimoji="0" lang="en-US" altLang="zh-CN" sz="3200">
                  <a:solidFill>
                    <a:schemeClr val="tx2"/>
                  </a:solidFill>
                  <a:latin typeface="宋体" panose="02010600030101010101" pitchFamily="2" charset="-122"/>
                </a:rPr>
                <a:t>     </a:t>
              </a:r>
              <a:r>
                <a:rPr kumimoji="0" lang="en-US" altLang="zh-CN" sz="320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宋体" panose="02010600030101010101" pitchFamily="2" charset="-122"/>
                </a:rPr>
                <a:t>3</a:t>
              </a:r>
              <a:r>
                <a:rPr kumimoji="0" lang="zh-CN" altLang="en-US" sz="320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宋体" panose="02010600030101010101" pitchFamily="2" charset="-122"/>
                </a:rPr>
                <a:t>、销售折让</a:t>
              </a:r>
            </a:p>
          </p:txBody>
        </p:sp>
      </p:grpSp>
      <p:sp>
        <p:nvSpPr>
          <p:cNvPr id="333832" name="Rectangle 8"/>
          <p:cNvSpPr>
            <a:spLocks noChangeArrowheads="1"/>
          </p:cNvSpPr>
          <p:nvPr/>
        </p:nvSpPr>
        <p:spPr bwMode="auto">
          <a:xfrm>
            <a:off x="5675630" y="2303780"/>
            <a:ext cx="5649595" cy="953135"/>
          </a:xfrm>
          <a:prstGeom prst="rect">
            <a:avLst/>
          </a:prstGeom>
          <a:noFill/>
          <a:ln w="38100" algn="ctr">
            <a:noFill/>
            <a:miter lim="800000"/>
          </a:ln>
          <a:effectLst>
            <a:prstShdw prst="shdw17" dist="17961" dir="2700000">
              <a:schemeClr val="tx2">
                <a:gamma/>
                <a:shade val="60000"/>
                <a:invGamma/>
              </a:schemeClr>
            </a:prstShdw>
          </a:effectLst>
        </p:spPr>
        <p:txBody>
          <a:bodyPr wrap="square">
            <a:spAutoFit/>
          </a:bodyPr>
          <a:lstStyle/>
          <a:p>
            <a:pPr>
              <a:buFontTx/>
              <a:buBlip>
                <a:blip r:embed="rId3"/>
              </a:buBlip>
              <a:defRPr/>
            </a:pPr>
            <a:r>
              <a:rPr kumimoji="0" lang="en-US" altLang="zh-CN" sz="2800">
                <a:solidFill>
                  <a:schemeClr val="tx2"/>
                </a:solidFill>
                <a:latin typeface="宋体" panose="02010600030101010101" pitchFamily="2" charset="-122"/>
                <a:ea typeface="宋体" panose="02010600030101010101" pitchFamily="2" charset="-122"/>
              </a:rPr>
              <a:t> </a:t>
            </a:r>
            <a:r>
              <a:rPr kumimoji="0" lang="zh-CN" altLang="en-US" sz="2800" b="1" kern="0" dirty="0">
                <a:latin typeface="楷体_GB2312" panose="02010609030101010101" pitchFamily="49" charset="-122"/>
                <a:ea typeface="楷体_GB2312" panose="02010609030101010101" pitchFamily="49" charset="-122"/>
                <a:cs typeface="+mn-ea"/>
              </a:rPr>
              <a:t>含义：产品本身原因的折让</a:t>
            </a:r>
          </a:p>
          <a:p>
            <a:pPr indent="0">
              <a:buFontTx/>
              <a:buNone/>
              <a:defRPr/>
            </a:pPr>
            <a:r>
              <a:rPr kumimoji="0" lang="zh-CN" altLang="en-US" sz="2800" b="1" kern="0" dirty="0">
                <a:latin typeface="楷体_GB2312" panose="02010609030101010101" pitchFamily="49" charset="-122"/>
                <a:ea typeface="楷体_GB2312" panose="02010609030101010101" pitchFamily="49" charset="-122"/>
                <a:cs typeface="+mn-ea"/>
              </a:rPr>
              <a:t>         交易发生后产生</a:t>
            </a:r>
            <a:endParaRPr kumimoji="0" lang="zh-CN" altLang="en-US" sz="2800" b="1" kern="0" dirty="0">
              <a:solidFill>
                <a:schemeClr val="tx2"/>
              </a:solidFill>
              <a:latin typeface="楷体_GB2312" panose="02010609030101010101" pitchFamily="49" charset="-122"/>
              <a:ea typeface="楷体_GB2312" panose="02010609030101010101" pitchFamily="49" charset="-122"/>
              <a:cs typeface="+mn-ea"/>
            </a:endParaRPr>
          </a:p>
        </p:txBody>
      </p:sp>
      <p:sp>
        <p:nvSpPr>
          <p:cNvPr id="8" name="Rectangle 9"/>
          <p:cNvSpPr>
            <a:spLocks noChangeArrowheads="1"/>
          </p:cNvSpPr>
          <p:nvPr/>
        </p:nvSpPr>
        <p:spPr bwMode="auto">
          <a:xfrm>
            <a:off x="1590675" y="3525838"/>
            <a:ext cx="9010650" cy="3107690"/>
          </a:xfrm>
          <a:prstGeom prst="rect">
            <a:avLst/>
          </a:prstGeom>
          <a:noFill/>
          <a:ln w="38100" algn="ctr">
            <a:noFill/>
            <a:miter lim="800000"/>
          </a:ln>
          <a:effectLst>
            <a:prstShdw prst="shdw17" dist="17961" dir="2700000">
              <a:schemeClr val="tx2">
                <a:gamma/>
                <a:shade val="60000"/>
                <a:invGamma/>
              </a:schemeClr>
            </a:prstShdw>
          </a:effectLst>
        </p:spPr>
        <p:txBody>
          <a:bodyPr wrap="none">
            <a:spAutoFit/>
          </a:bodyPr>
          <a:lstStyle/>
          <a:p>
            <a:pPr algn="l">
              <a:buFontTx/>
              <a:buBlip>
                <a:blip r:embed="rId3"/>
              </a:buBlip>
              <a:defRPr/>
            </a:pPr>
            <a:r>
              <a:rPr kumimoji="0" lang="en-US" altLang="zh-CN" sz="2800">
                <a:solidFill>
                  <a:schemeClr val="tx2"/>
                </a:solidFill>
                <a:latin typeface="宋体" panose="02010600030101010101" pitchFamily="2" charset="-122"/>
                <a:ea typeface="宋体" panose="02010600030101010101" pitchFamily="2" charset="-122"/>
              </a:rPr>
              <a:t> </a:t>
            </a:r>
            <a:r>
              <a:rPr lang="zh-CN" altLang="en-US" sz="2800" b="1" kern="0" dirty="0">
                <a:latin typeface="楷体_GB2312" panose="02010609030101010101" pitchFamily="49" charset="-122"/>
                <a:ea typeface="楷体_GB2312" panose="02010609030101010101" pitchFamily="49" charset="-122"/>
                <a:cs typeface="+mn-ea"/>
                <a:sym typeface="+mn-ea"/>
              </a:rPr>
              <a:t>会计处理方法：按折让金额调整应收账款的入账价值</a:t>
            </a:r>
          </a:p>
          <a:p>
            <a:pPr algn="l">
              <a:defRPr/>
            </a:pPr>
            <a:r>
              <a:rPr lang="zh-CN" altLang="en-US" sz="2400" b="1" kern="0" dirty="0">
                <a:latin typeface="+mn-ea"/>
                <a:cs typeface="+mn-ea"/>
                <a:sym typeface="+mn-ea"/>
              </a:rPr>
              <a:t>1、销售</a:t>
            </a:r>
          </a:p>
          <a:p>
            <a:pPr algn="l">
              <a:defRPr/>
            </a:pPr>
            <a:r>
              <a:rPr lang="zh-CN" altLang="en-US" sz="2400" b="1" kern="0" dirty="0">
                <a:latin typeface="+mn-ea"/>
                <a:cs typeface="+mn-ea"/>
                <a:sym typeface="+mn-ea"/>
              </a:rPr>
              <a:t>借：应收账款（总额）</a:t>
            </a:r>
            <a:endParaRPr kumimoji="0" lang="zh-CN" altLang="en-US" sz="2400" b="1" kern="0" dirty="0">
              <a:latin typeface="+mn-ea"/>
              <a:cs typeface="+mn-ea"/>
            </a:endParaRPr>
          </a:p>
          <a:p>
            <a:pPr algn="l">
              <a:defRPr/>
            </a:pPr>
            <a:r>
              <a:rPr lang="zh-CN" altLang="en-US" sz="2400" b="1" kern="0" dirty="0">
                <a:latin typeface="+mn-ea"/>
                <a:cs typeface="+mn-ea"/>
                <a:sym typeface="+mn-ea"/>
              </a:rPr>
              <a:t>                     贷：主营业务收入</a:t>
            </a:r>
            <a:endParaRPr kumimoji="0" lang="zh-CN" altLang="en-US" sz="2400" b="1" kern="0" dirty="0">
              <a:latin typeface="+mn-ea"/>
              <a:cs typeface="+mn-ea"/>
            </a:endParaRPr>
          </a:p>
          <a:p>
            <a:pPr algn="l">
              <a:defRPr/>
            </a:pPr>
            <a:r>
              <a:rPr lang="zh-CN" altLang="en-US" sz="2400" b="1" kern="0" dirty="0">
                <a:latin typeface="+mn-ea"/>
                <a:cs typeface="+mn-ea"/>
                <a:sym typeface="+mn-ea"/>
              </a:rPr>
              <a:t>                            应交税费-应交增值税（销项税额）</a:t>
            </a:r>
          </a:p>
          <a:p>
            <a:pPr algn="l">
              <a:defRPr/>
            </a:pPr>
            <a:r>
              <a:rPr lang="zh-CN" altLang="en-US" sz="2400" b="1" kern="0" dirty="0">
                <a:latin typeface="+mn-ea"/>
                <a:cs typeface="+mn-ea"/>
                <a:sym typeface="+mn-ea"/>
              </a:rPr>
              <a:t>2、折让</a:t>
            </a:r>
          </a:p>
          <a:p>
            <a:pPr algn="l">
              <a:defRPr/>
            </a:pPr>
            <a:r>
              <a:rPr lang="zh-CN" altLang="en-US" sz="2400" b="1" kern="0" dirty="0">
                <a:latin typeface="+mn-ea"/>
                <a:cs typeface="+mn-ea"/>
                <a:sym typeface="+mn-ea"/>
              </a:rPr>
              <a:t>借：应收账款（折让）</a:t>
            </a:r>
            <a:endParaRPr kumimoji="0" lang="zh-CN" altLang="en-US" sz="2400" b="1" kern="0" dirty="0">
              <a:latin typeface="+mn-ea"/>
              <a:cs typeface="+mn-ea"/>
            </a:endParaRPr>
          </a:p>
          <a:p>
            <a:pPr algn="l">
              <a:defRPr/>
            </a:pPr>
            <a:r>
              <a:rPr lang="zh-CN" altLang="en-US" sz="2400" b="1" kern="0" dirty="0">
                <a:latin typeface="+mn-ea"/>
                <a:cs typeface="+mn-ea"/>
                <a:sym typeface="+mn-ea"/>
              </a:rPr>
              <a:t>                    贷：主营业务收入</a:t>
            </a:r>
            <a:endParaRPr kumimoji="0" lang="zh-CN" altLang="en-US" sz="2400">
              <a:solidFill>
                <a:schemeClr val="tx2"/>
              </a:solidFill>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to="" calcmode="lin" valueType="num">
                                      <p:cBhvr>
                                        <p:cTn id="7" dur="1" fill="hold"/>
                                        <p:tgtEl>
                                          <p:spTgt spid="4"/>
                                        </p:tgtEl>
                                      </p:cBhvr>
                                    </p:anim>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33832"/>
                                        </p:tgtEl>
                                        <p:attrNameLst>
                                          <p:attrName>style.visibility</p:attrName>
                                        </p:attrNameLst>
                                      </p:cBhvr>
                                      <p:to>
                                        <p:strVal val="visible"/>
                                      </p:to>
                                    </p:set>
                                    <p:animEffect transition="in" filter="blinds(horizontal)">
                                      <p:cBhvr>
                                        <p:cTn id="12" dur="500"/>
                                        <p:tgtEl>
                                          <p:spTgt spid="33383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3832" grpId="0" bldLvl="0" animBg="1"/>
      <p:bldP spid="8"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二、应收账款的取得与收回</a:t>
            </a:r>
            <a:endParaRPr lang="zh-CN" altLang="en-US" dirty="0"/>
          </a:p>
        </p:txBody>
      </p:sp>
      <p:sp>
        <p:nvSpPr>
          <p:cNvPr id="3" name="内容占位符 2"/>
          <p:cNvSpPr>
            <a:spLocks noGrp="1"/>
          </p:cNvSpPr>
          <p:nvPr>
            <p:ph idx="1"/>
          </p:nvPr>
        </p:nvSpPr>
        <p:spPr>
          <a:xfrm>
            <a:off x="1576705" y="2018030"/>
            <a:ext cx="2838450" cy="591185"/>
          </a:xfrm>
        </p:spPr>
        <p:txBody>
          <a:bodyPr/>
          <a:lstStyle/>
          <a:p>
            <a:pPr marL="0" indent="0">
              <a:buNone/>
            </a:pPr>
            <a:r>
              <a:rPr lang="zh-CN" altLang="en-US">
                <a:solidFill>
                  <a:schemeClr val="tx1"/>
                </a:solidFill>
                <a:latin typeface="宋体" panose="02010600030101010101" pitchFamily="2" charset="-122"/>
                <a:sym typeface="+mn-ea"/>
              </a:rPr>
              <a:t>账务处理</a:t>
            </a:r>
            <a:endParaRPr lang="zh-CN" altLang="en-US" dirty="0"/>
          </a:p>
        </p:txBody>
      </p:sp>
      <p:grpSp>
        <p:nvGrpSpPr>
          <p:cNvPr id="45061" name="Group 23"/>
          <p:cNvGrpSpPr/>
          <p:nvPr/>
        </p:nvGrpSpPr>
        <p:grpSpPr bwMode="auto">
          <a:xfrm>
            <a:off x="2288540" y="3170238"/>
            <a:ext cx="6858000" cy="2860675"/>
            <a:chOff x="664" y="1671"/>
            <a:chExt cx="4320" cy="1802"/>
          </a:xfrm>
        </p:grpSpPr>
        <p:grpSp>
          <p:nvGrpSpPr>
            <p:cNvPr id="45066" name="Group 17"/>
            <p:cNvGrpSpPr/>
            <p:nvPr/>
          </p:nvGrpSpPr>
          <p:grpSpPr bwMode="auto">
            <a:xfrm>
              <a:off x="664" y="1671"/>
              <a:ext cx="4320" cy="1802"/>
              <a:chOff x="3309" y="2768"/>
              <a:chExt cx="2254" cy="924"/>
            </a:xfrm>
          </p:grpSpPr>
          <p:sp>
            <p:nvSpPr>
              <p:cNvPr id="386058" name="Rectangle 10"/>
              <p:cNvSpPr>
                <a:spLocks noChangeArrowheads="1"/>
              </p:cNvSpPr>
              <p:nvPr/>
            </p:nvSpPr>
            <p:spPr bwMode="auto">
              <a:xfrm>
                <a:off x="4191" y="2985"/>
                <a:ext cx="490" cy="490"/>
              </a:xfrm>
              <a:prstGeom prst="rect">
                <a:avLst/>
              </a:prstGeom>
              <a:solidFill>
                <a:schemeClr val="hlink"/>
              </a:solidFill>
              <a:ln w="6350">
                <a:noFill/>
                <a:miter lim="800000"/>
              </a:ln>
              <a:effectLst/>
            </p:spPr>
            <p:txBody>
              <a:bodyPr wrap="none" lIns="0" tIns="0" rIns="0" bIns="0" anchor="ctr"/>
              <a:lstStyle/>
              <a:p>
                <a:pPr>
                  <a:defRPr/>
                </a:pPr>
                <a:endParaRPr lang="zh-CN" altLang="en-US">
                  <a:effectLst>
                    <a:outerShdw blurRad="38100" dist="38100" dir="2700000" algn="tl">
                      <a:srgbClr val="000000">
                        <a:alpha val="43137"/>
                      </a:srgbClr>
                    </a:outerShdw>
                  </a:effectLst>
                  <a:ea typeface="宋体" panose="02010600030101010101" pitchFamily="2" charset="-122"/>
                </a:endParaRPr>
              </a:p>
            </p:txBody>
          </p:sp>
          <p:sp>
            <p:nvSpPr>
              <p:cNvPr id="386059" name="Freeform 11"/>
              <p:cNvSpPr/>
              <p:nvPr/>
            </p:nvSpPr>
            <p:spPr bwMode="auto">
              <a:xfrm flipV="1">
                <a:off x="3309" y="2768"/>
                <a:ext cx="816" cy="924"/>
              </a:xfrm>
              <a:custGeom>
                <a:avLst/>
                <a:gdLst/>
                <a:ahLst/>
                <a:cxnLst>
                  <a:cxn ang="0">
                    <a:pos x="1285" y="0"/>
                  </a:cxn>
                  <a:cxn ang="0">
                    <a:pos x="1285" y="592"/>
                  </a:cxn>
                  <a:cxn ang="0">
                    <a:pos x="0" y="592"/>
                  </a:cxn>
                </a:cxnLst>
                <a:rect l="0" t="0" r="r" b="b"/>
                <a:pathLst>
                  <a:path w="1285" h="592">
                    <a:moveTo>
                      <a:pt x="1285" y="0"/>
                    </a:moveTo>
                    <a:lnTo>
                      <a:pt x="1285" y="592"/>
                    </a:lnTo>
                    <a:lnTo>
                      <a:pt x="0" y="592"/>
                    </a:lnTo>
                  </a:path>
                </a:pathLst>
              </a:custGeom>
              <a:noFill/>
              <a:ln w="22225" cap="flat" cmpd="sng">
                <a:solidFill>
                  <a:schemeClr val="hlink"/>
                </a:solidFill>
                <a:prstDash val="solid"/>
                <a:round/>
                <a:headEnd type="none" w="med" len="med"/>
                <a:tailEnd type="none" w="med" len="med"/>
              </a:ln>
              <a:effectLst/>
            </p:spPr>
            <p:txBody>
              <a:bodyPr wrap="none" lIns="0" tIns="0" rIns="0" bIns="0" anchor="ctr"/>
              <a:lstStyle/>
              <a:p>
                <a:pPr>
                  <a:defRPr/>
                </a:pPr>
                <a:endParaRPr lang="zh-CN" altLang="en-US">
                  <a:effectLst>
                    <a:outerShdw blurRad="38100" dist="38100" dir="2700000" algn="tl">
                      <a:srgbClr val="000000">
                        <a:alpha val="43137"/>
                      </a:srgbClr>
                    </a:outerShdw>
                  </a:effectLst>
                  <a:ea typeface="宋体" panose="02010600030101010101" pitchFamily="2" charset="-122"/>
                </a:endParaRPr>
              </a:p>
            </p:txBody>
          </p:sp>
          <p:sp>
            <p:nvSpPr>
              <p:cNvPr id="386060" name="Freeform 12"/>
              <p:cNvSpPr/>
              <p:nvPr/>
            </p:nvSpPr>
            <p:spPr bwMode="auto">
              <a:xfrm flipH="1" flipV="1">
                <a:off x="4747" y="2768"/>
                <a:ext cx="816" cy="924"/>
              </a:xfrm>
              <a:custGeom>
                <a:avLst/>
                <a:gdLst/>
                <a:ahLst/>
                <a:cxnLst>
                  <a:cxn ang="0">
                    <a:pos x="1285" y="0"/>
                  </a:cxn>
                  <a:cxn ang="0">
                    <a:pos x="1285" y="592"/>
                  </a:cxn>
                  <a:cxn ang="0">
                    <a:pos x="0" y="592"/>
                  </a:cxn>
                </a:cxnLst>
                <a:rect l="0" t="0" r="r" b="b"/>
                <a:pathLst>
                  <a:path w="1285" h="592">
                    <a:moveTo>
                      <a:pt x="1285" y="0"/>
                    </a:moveTo>
                    <a:lnTo>
                      <a:pt x="1285" y="592"/>
                    </a:lnTo>
                    <a:lnTo>
                      <a:pt x="0" y="592"/>
                    </a:lnTo>
                  </a:path>
                </a:pathLst>
              </a:custGeom>
              <a:noFill/>
              <a:ln w="22225" cap="flat" cmpd="sng">
                <a:solidFill>
                  <a:schemeClr val="hlink"/>
                </a:solidFill>
                <a:prstDash val="solid"/>
                <a:round/>
                <a:headEnd type="none" w="med" len="med"/>
                <a:tailEnd type="none" w="med" len="med"/>
              </a:ln>
              <a:effectLst/>
            </p:spPr>
            <p:txBody>
              <a:bodyPr wrap="none" lIns="0" tIns="0" rIns="0" bIns="0" anchor="ctr"/>
              <a:lstStyle/>
              <a:p>
                <a:pPr>
                  <a:defRPr/>
                </a:pPr>
                <a:endParaRPr lang="zh-CN" altLang="en-US">
                  <a:effectLst>
                    <a:outerShdw blurRad="38100" dist="38100" dir="2700000" algn="tl">
                      <a:srgbClr val="000000">
                        <a:alpha val="43137"/>
                      </a:srgbClr>
                    </a:outerShdw>
                  </a:effectLst>
                  <a:ea typeface="宋体" panose="02010600030101010101" pitchFamily="2" charset="-122"/>
                </a:endParaRPr>
              </a:p>
            </p:txBody>
          </p:sp>
          <p:sp>
            <p:nvSpPr>
              <p:cNvPr id="386061" name="Line 13"/>
              <p:cNvSpPr>
                <a:spLocks noChangeShapeType="1"/>
              </p:cNvSpPr>
              <p:nvPr/>
            </p:nvSpPr>
            <p:spPr bwMode="auto">
              <a:xfrm>
                <a:off x="4130" y="3230"/>
                <a:ext cx="146" cy="1"/>
              </a:xfrm>
              <a:prstGeom prst="line">
                <a:avLst/>
              </a:prstGeom>
              <a:noFill/>
              <a:ln w="25400">
                <a:solidFill>
                  <a:schemeClr val="hlink"/>
                </a:solidFill>
                <a:round/>
                <a:tailEnd type="triangle" w="med" len="med"/>
              </a:ln>
              <a:effectLst/>
            </p:spPr>
            <p:txBody>
              <a:bodyPr wrap="none" lIns="0" tIns="0" rIns="0" bIns="0" anchor="ctr"/>
              <a:lstStyle/>
              <a:p>
                <a:pPr>
                  <a:defRPr/>
                </a:pPr>
                <a:endParaRPr lang="zh-CN" altLang="en-US">
                  <a:effectLst>
                    <a:outerShdw blurRad="38100" dist="38100" dir="2700000" algn="tl">
                      <a:srgbClr val="000000">
                        <a:alpha val="43137"/>
                      </a:srgbClr>
                    </a:outerShdw>
                  </a:effectLst>
                  <a:ea typeface="宋体" panose="02010600030101010101" pitchFamily="2" charset="-122"/>
                </a:endParaRPr>
              </a:p>
            </p:txBody>
          </p:sp>
          <p:sp>
            <p:nvSpPr>
              <p:cNvPr id="386062" name="Line 14"/>
              <p:cNvSpPr>
                <a:spLocks noChangeShapeType="1"/>
              </p:cNvSpPr>
              <p:nvPr/>
            </p:nvSpPr>
            <p:spPr bwMode="auto">
              <a:xfrm flipH="1">
                <a:off x="4597" y="3230"/>
                <a:ext cx="145" cy="1"/>
              </a:xfrm>
              <a:prstGeom prst="line">
                <a:avLst/>
              </a:prstGeom>
              <a:noFill/>
              <a:ln w="25400">
                <a:solidFill>
                  <a:schemeClr val="hlink"/>
                </a:solidFill>
                <a:round/>
                <a:tailEnd type="triangle" w="med" len="med"/>
              </a:ln>
              <a:effectLst/>
            </p:spPr>
            <p:txBody>
              <a:bodyPr wrap="none" lIns="0" tIns="0" rIns="0" bIns="0" anchor="ctr"/>
              <a:lstStyle/>
              <a:p>
                <a:pPr>
                  <a:defRPr/>
                </a:pPr>
                <a:endParaRPr lang="zh-CN" altLang="en-US">
                  <a:effectLst>
                    <a:outerShdw blurRad="38100" dist="38100" dir="2700000" algn="tl">
                      <a:srgbClr val="000000">
                        <a:alpha val="43137"/>
                      </a:srgbClr>
                    </a:outerShdw>
                  </a:effectLst>
                  <a:ea typeface="宋体" panose="02010600030101010101" pitchFamily="2" charset="-122"/>
                </a:endParaRPr>
              </a:p>
            </p:txBody>
          </p:sp>
          <p:sp>
            <p:nvSpPr>
              <p:cNvPr id="386063" name="Line 15"/>
              <p:cNvSpPr>
                <a:spLocks noChangeShapeType="1"/>
              </p:cNvSpPr>
              <p:nvPr/>
            </p:nvSpPr>
            <p:spPr bwMode="auto">
              <a:xfrm>
                <a:off x="4195" y="3230"/>
                <a:ext cx="81" cy="1"/>
              </a:xfrm>
              <a:prstGeom prst="line">
                <a:avLst/>
              </a:prstGeom>
              <a:noFill/>
              <a:ln w="25400">
                <a:solidFill>
                  <a:schemeClr val="bg1"/>
                </a:solidFill>
                <a:round/>
                <a:tailEnd type="triangle" w="med" len="med"/>
              </a:ln>
              <a:effectLst/>
            </p:spPr>
            <p:txBody>
              <a:bodyPr wrap="none" lIns="0" tIns="0" rIns="0" bIns="0" anchor="ctr"/>
              <a:lstStyle/>
              <a:p>
                <a:pPr>
                  <a:defRPr/>
                </a:pPr>
                <a:endParaRPr lang="zh-CN" altLang="en-US">
                  <a:effectLst>
                    <a:outerShdw blurRad="38100" dist="38100" dir="2700000" algn="tl">
                      <a:srgbClr val="000000">
                        <a:alpha val="43137"/>
                      </a:srgbClr>
                    </a:outerShdw>
                  </a:effectLst>
                  <a:ea typeface="宋体" panose="02010600030101010101" pitchFamily="2" charset="-122"/>
                </a:endParaRPr>
              </a:p>
            </p:txBody>
          </p:sp>
          <p:sp>
            <p:nvSpPr>
              <p:cNvPr id="386064" name="Line 16"/>
              <p:cNvSpPr>
                <a:spLocks noChangeShapeType="1"/>
              </p:cNvSpPr>
              <p:nvPr/>
            </p:nvSpPr>
            <p:spPr bwMode="auto">
              <a:xfrm flipH="1">
                <a:off x="4597" y="3230"/>
                <a:ext cx="81" cy="1"/>
              </a:xfrm>
              <a:prstGeom prst="line">
                <a:avLst/>
              </a:prstGeom>
              <a:noFill/>
              <a:ln w="25400">
                <a:solidFill>
                  <a:schemeClr val="bg1"/>
                </a:solidFill>
                <a:round/>
                <a:tailEnd type="triangle" w="med" len="med"/>
              </a:ln>
              <a:effectLst/>
            </p:spPr>
            <p:txBody>
              <a:bodyPr wrap="none" lIns="0" tIns="0" rIns="0" bIns="0" anchor="ctr"/>
              <a:lstStyle/>
              <a:p>
                <a:pPr>
                  <a:defRPr/>
                </a:pPr>
                <a:endParaRPr lang="zh-CN" altLang="en-US">
                  <a:effectLst>
                    <a:outerShdw blurRad="38100" dist="38100" dir="2700000" algn="tl">
                      <a:srgbClr val="000000">
                        <a:alpha val="43137"/>
                      </a:srgbClr>
                    </a:outerShdw>
                  </a:effectLst>
                  <a:ea typeface="宋体" panose="02010600030101010101" pitchFamily="2" charset="-122"/>
                </a:endParaRPr>
              </a:p>
            </p:txBody>
          </p:sp>
        </p:grpSp>
        <p:sp>
          <p:nvSpPr>
            <p:cNvPr id="386067" name="Text Box 19"/>
            <p:cNvSpPr txBox="1">
              <a:spLocks noChangeArrowheads="1"/>
            </p:cNvSpPr>
            <p:nvPr/>
          </p:nvSpPr>
          <p:spPr bwMode="auto">
            <a:xfrm>
              <a:off x="2487" y="2295"/>
              <a:ext cx="713" cy="596"/>
            </a:xfrm>
            <a:prstGeom prst="rect">
              <a:avLst/>
            </a:prstGeom>
            <a:noFill/>
            <a:ln w="38100" algn="ctr">
              <a:noFill/>
              <a:miter lim="800000"/>
            </a:ln>
            <a:effectLst>
              <a:prstShdw prst="shdw17" dist="17961" dir="2700000">
                <a:schemeClr val="tx2">
                  <a:gamma/>
                  <a:shade val="60000"/>
                  <a:invGamma/>
                </a:schemeClr>
              </a:prstShdw>
            </a:effectLst>
          </p:spPr>
          <p:txBody>
            <a:bodyPr>
              <a:spAutoFit/>
              <a:scene3d>
                <a:camera prst="orthographicFront"/>
                <a:lightRig rig="threePt" dir="t"/>
              </a:scene3d>
            </a:bodyPr>
            <a:lstStyle/>
            <a:p>
              <a:pPr algn="ctr">
                <a:defRPr/>
              </a:pPr>
              <a:r>
                <a:rPr lang="zh-CN" altLang="en-US" sz="2800">
                  <a:ln w="10160">
                    <a:solidFill>
                      <a:schemeClr val="accent5"/>
                    </a:solidFill>
                    <a:prstDash val="solid"/>
                  </a:ln>
                  <a:solidFill>
                    <a:srgbClr val="FFFFFF"/>
                  </a:solidFill>
                  <a:effectLst>
                    <a:outerShdw blurRad="38100" dist="22860" dir="5400000" algn="tl" rotWithShape="0">
                      <a:srgbClr val="000000">
                        <a:alpha val="30000"/>
                      </a:srgbClr>
                    </a:outerShdw>
                  </a:effectLst>
                  <a:ea typeface="宋体" panose="02010600030101010101" pitchFamily="2" charset="-122"/>
                </a:rPr>
                <a:t>帐务处理</a:t>
              </a:r>
            </a:p>
          </p:txBody>
        </p:sp>
      </p:grpSp>
      <p:sp>
        <p:nvSpPr>
          <p:cNvPr id="386068" name="Text Box 20"/>
          <p:cNvSpPr txBox="1">
            <a:spLocks noChangeArrowheads="1"/>
          </p:cNvSpPr>
          <p:nvPr/>
        </p:nvSpPr>
        <p:spPr bwMode="auto">
          <a:xfrm>
            <a:off x="2890520" y="2651760"/>
            <a:ext cx="1277938" cy="519113"/>
          </a:xfrm>
          <a:prstGeom prst="rect">
            <a:avLst/>
          </a:prstGeom>
          <a:noFill/>
          <a:ln w="38100" algn="ctr">
            <a:noFill/>
            <a:miter lim="800000"/>
          </a:ln>
          <a:effectLst>
            <a:prstShdw prst="shdw17" dist="17961" dir="2700000">
              <a:schemeClr val="tx2">
                <a:gamma/>
                <a:shade val="60000"/>
                <a:invGamma/>
              </a:schemeClr>
            </a:prstShdw>
          </a:effectLst>
        </p:spPr>
        <p:txBody>
          <a:bodyPr>
            <a:spAutoFit/>
          </a:bodyPr>
          <a:lstStyle/>
          <a:p>
            <a:pPr>
              <a:defRPr/>
            </a:pPr>
            <a:r>
              <a:rPr lang="en-US" altLang="zh-CN" sz="2800">
                <a:solidFill>
                  <a:srgbClr val="FF0000"/>
                </a:solidFill>
                <a:effectLst>
                  <a:outerShdw blurRad="38100" dist="38100" dir="2700000" algn="tl">
                    <a:srgbClr val="000000"/>
                  </a:outerShdw>
                </a:effectLst>
                <a:ea typeface="宋体" panose="02010600030101010101" pitchFamily="2" charset="-122"/>
              </a:rPr>
              <a:t>1</a:t>
            </a:r>
            <a:r>
              <a:rPr lang="zh-CN" altLang="en-US" sz="2800">
                <a:solidFill>
                  <a:srgbClr val="FF0000"/>
                </a:solidFill>
                <a:effectLst>
                  <a:outerShdw blurRad="38100" dist="38100" dir="2700000" algn="tl">
                    <a:srgbClr val="000000"/>
                  </a:outerShdw>
                </a:effectLst>
                <a:ea typeface="宋体" panose="02010600030101010101" pitchFamily="2" charset="-122"/>
              </a:rPr>
              <a:t>发生</a:t>
            </a:r>
          </a:p>
        </p:txBody>
      </p:sp>
      <p:sp>
        <p:nvSpPr>
          <p:cNvPr id="386069" name="Text Box 21"/>
          <p:cNvSpPr txBox="1">
            <a:spLocks noChangeArrowheads="1"/>
          </p:cNvSpPr>
          <p:nvPr/>
        </p:nvSpPr>
        <p:spPr bwMode="auto">
          <a:xfrm>
            <a:off x="7266305" y="2651443"/>
            <a:ext cx="1277938" cy="519112"/>
          </a:xfrm>
          <a:prstGeom prst="rect">
            <a:avLst/>
          </a:prstGeom>
          <a:noFill/>
          <a:ln w="38100" algn="ctr">
            <a:noFill/>
            <a:miter lim="800000"/>
          </a:ln>
          <a:effectLst>
            <a:prstShdw prst="shdw17" dist="17961" dir="2700000">
              <a:schemeClr val="tx2">
                <a:gamma/>
                <a:shade val="60000"/>
                <a:invGamma/>
              </a:schemeClr>
            </a:prstShdw>
          </a:effectLst>
        </p:spPr>
        <p:txBody>
          <a:bodyPr>
            <a:spAutoFit/>
          </a:bodyPr>
          <a:lstStyle/>
          <a:p>
            <a:pPr>
              <a:defRPr/>
            </a:pPr>
            <a:r>
              <a:rPr lang="en-US" altLang="zh-CN" sz="2800">
                <a:solidFill>
                  <a:srgbClr val="FF0000"/>
                </a:solidFill>
                <a:effectLst>
                  <a:outerShdw blurRad="38100" dist="38100" dir="2700000" algn="tl">
                    <a:srgbClr val="000000"/>
                  </a:outerShdw>
                </a:effectLst>
                <a:ea typeface="宋体" panose="02010600030101010101" pitchFamily="2" charset="-122"/>
              </a:rPr>
              <a:t>2</a:t>
            </a:r>
            <a:r>
              <a:rPr lang="zh-CN" altLang="en-US" sz="2800">
                <a:solidFill>
                  <a:srgbClr val="FF0000"/>
                </a:solidFill>
                <a:effectLst>
                  <a:outerShdw blurRad="38100" dist="38100" dir="2700000" algn="tl">
                    <a:srgbClr val="000000"/>
                  </a:outerShdw>
                </a:effectLst>
                <a:ea typeface="宋体" panose="02010600030101010101" pitchFamily="2" charset="-122"/>
              </a:rPr>
              <a:t>收回</a:t>
            </a:r>
          </a:p>
        </p:txBody>
      </p:sp>
      <p:sp>
        <p:nvSpPr>
          <p:cNvPr id="386057" name="Rectangle 9"/>
          <p:cNvSpPr>
            <a:spLocks noChangeArrowheads="1"/>
          </p:cNvSpPr>
          <p:nvPr/>
        </p:nvSpPr>
        <p:spPr bwMode="auto">
          <a:xfrm>
            <a:off x="822960" y="3392170"/>
            <a:ext cx="3744595" cy="3136265"/>
          </a:xfrm>
          <a:prstGeom prst="rect">
            <a:avLst/>
          </a:prstGeom>
          <a:noFill/>
          <a:ln w="38100" algn="ctr">
            <a:noFill/>
            <a:miter lim="800000"/>
          </a:ln>
          <a:effectLst>
            <a:prstShdw prst="shdw17" dist="17961" dir="2700000">
              <a:schemeClr val="tx2">
                <a:gamma/>
                <a:shade val="60000"/>
                <a:invGamma/>
              </a:schemeClr>
            </a:prstShdw>
          </a:effectLst>
        </p:spPr>
        <p:txBody>
          <a:bodyPr wrap="square">
            <a:spAutoFit/>
          </a:bodyPr>
          <a:lstStyle/>
          <a:p>
            <a:pPr>
              <a:lnSpc>
                <a:spcPct val="90000"/>
              </a:lnSpc>
              <a:defRPr/>
            </a:pPr>
            <a:r>
              <a:rPr kumimoji="0" lang="zh-CN" altLang="en-US" sz="2000" b="1" kern="0" dirty="0">
                <a:latin typeface="仿宋_GB2312" panose="02010609030101010101" pitchFamily="49" charset="-122"/>
                <a:ea typeface="仿宋_GB2312" panose="02010609030101010101" pitchFamily="49" charset="-122"/>
                <a:cs typeface="+mn-ea"/>
              </a:rPr>
              <a:t>借：应收账款</a:t>
            </a:r>
          </a:p>
          <a:p>
            <a:pPr>
              <a:lnSpc>
                <a:spcPct val="90000"/>
              </a:lnSpc>
              <a:defRPr/>
            </a:pPr>
            <a:r>
              <a:rPr kumimoji="0" lang="zh-CN" altLang="en-US" sz="2000" b="1" kern="0" dirty="0">
                <a:latin typeface="仿宋_GB2312" panose="02010609030101010101" pitchFamily="49" charset="-122"/>
                <a:ea typeface="仿宋_GB2312" panose="02010609030101010101" pitchFamily="49" charset="-122"/>
                <a:cs typeface="+mn-ea"/>
              </a:rPr>
              <a:t>   （按应收的货款和税款金额）</a:t>
            </a:r>
          </a:p>
          <a:p>
            <a:pPr>
              <a:lnSpc>
                <a:spcPct val="90000"/>
              </a:lnSpc>
              <a:defRPr/>
            </a:pPr>
            <a:r>
              <a:rPr kumimoji="0" lang="zh-CN" altLang="en-US" sz="2000" b="1" kern="0" dirty="0">
                <a:latin typeface="仿宋_GB2312" panose="02010609030101010101" pitchFamily="49" charset="-122"/>
                <a:ea typeface="仿宋_GB2312" panose="02010609030101010101" pitchFamily="49" charset="-122"/>
                <a:cs typeface="+mn-ea"/>
              </a:rPr>
              <a:t>    贷：主营业务收入</a:t>
            </a:r>
          </a:p>
          <a:p>
            <a:pPr>
              <a:lnSpc>
                <a:spcPct val="90000"/>
              </a:lnSpc>
              <a:defRPr/>
            </a:pPr>
            <a:r>
              <a:rPr kumimoji="0" lang="zh-CN" altLang="en-US" sz="2000" b="1" kern="0" dirty="0">
                <a:latin typeface="仿宋_GB2312" panose="02010609030101010101" pitchFamily="49" charset="-122"/>
                <a:ea typeface="仿宋_GB2312" panose="02010609030101010101" pitchFamily="49" charset="-122"/>
                <a:cs typeface="+mn-ea"/>
              </a:rPr>
              <a:t>     （按实现的营业收入）</a:t>
            </a:r>
          </a:p>
          <a:p>
            <a:pPr>
              <a:lnSpc>
                <a:spcPct val="90000"/>
              </a:lnSpc>
              <a:defRPr/>
            </a:pPr>
            <a:r>
              <a:rPr kumimoji="0" lang="zh-CN" altLang="en-US" sz="2000" b="1" kern="0" dirty="0">
                <a:latin typeface="仿宋_GB2312" panose="02010609030101010101" pitchFamily="49" charset="-122"/>
                <a:ea typeface="仿宋_GB2312" panose="02010609030101010101" pitchFamily="49" charset="-122"/>
                <a:cs typeface="+mn-ea"/>
              </a:rPr>
              <a:t>           应交税费—应交增值税</a:t>
            </a:r>
            <a:r>
              <a:rPr lang="zh-CN" altLang="en-US" sz="2000" b="1" kern="0" dirty="0">
                <a:latin typeface="仿宋_GB2312" panose="02010609030101010101" pitchFamily="49" charset="-122"/>
                <a:ea typeface="仿宋_GB2312" panose="02010609030101010101" pitchFamily="49" charset="-122"/>
                <a:cs typeface="+mn-ea"/>
                <a:sym typeface="+mn-ea"/>
              </a:rPr>
              <a:t>（销项税额）</a:t>
            </a:r>
            <a:r>
              <a:rPr kumimoji="0" lang="zh-CN" altLang="en-US" sz="2000" b="1" kern="0" dirty="0">
                <a:latin typeface="仿宋_GB2312" panose="02010609030101010101" pitchFamily="49" charset="-122"/>
                <a:ea typeface="仿宋_GB2312" panose="02010609030101010101" pitchFamily="49" charset="-122"/>
                <a:cs typeface="+mn-ea"/>
              </a:rPr>
              <a:t>       </a:t>
            </a:r>
          </a:p>
          <a:p>
            <a:pPr>
              <a:lnSpc>
                <a:spcPct val="90000"/>
              </a:lnSpc>
              <a:defRPr/>
            </a:pPr>
            <a:r>
              <a:rPr kumimoji="0" lang="zh-CN" altLang="en-US" sz="2000" b="1" kern="0" dirty="0">
                <a:latin typeface="仿宋_GB2312" panose="02010609030101010101" pitchFamily="49" charset="-122"/>
                <a:ea typeface="仿宋_GB2312" panose="02010609030101010101" pitchFamily="49" charset="-122"/>
                <a:cs typeface="+mn-ea"/>
              </a:rPr>
              <a:t>   （按专用发票中注明的增值税）</a:t>
            </a:r>
          </a:p>
          <a:p>
            <a:pPr>
              <a:lnSpc>
                <a:spcPct val="90000"/>
              </a:lnSpc>
              <a:defRPr/>
            </a:pPr>
            <a:endParaRPr kumimoji="0" lang="zh-CN" altLang="en-US" sz="1600">
              <a:solidFill>
                <a:schemeClr val="tx2"/>
              </a:solidFill>
              <a:latin typeface="宋体" panose="02010600030101010101" pitchFamily="2" charset="-122"/>
              <a:ea typeface="宋体" panose="02010600030101010101" pitchFamily="2" charset="-122"/>
            </a:endParaRPr>
          </a:p>
          <a:p>
            <a:pPr>
              <a:lnSpc>
                <a:spcPct val="90000"/>
              </a:lnSpc>
              <a:defRPr/>
            </a:pPr>
            <a:endParaRPr kumimoji="0" lang="zh-CN" altLang="en-US" sz="1600">
              <a:solidFill>
                <a:schemeClr val="tx2"/>
              </a:solidFill>
              <a:latin typeface="宋体" panose="02010600030101010101" pitchFamily="2" charset="-122"/>
              <a:ea typeface="宋体" panose="02010600030101010101" pitchFamily="2" charset="-122"/>
            </a:endParaRPr>
          </a:p>
          <a:p>
            <a:pPr>
              <a:lnSpc>
                <a:spcPct val="90000"/>
              </a:lnSpc>
              <a:defRPr/>
            </a:pPr>
            <a:endParaRPr kumimoji="0" lang="zh-CN" altLang="en-US" sz="1600">
              <a:solidFill>
                <a:schemeClr val="tx2"/>
              </a:solidFill>
              <a:latin typeface="宋体" panose="02010600030101010101" pitchFamily="2" charset="-122"/>
              <a:ea typeface="宋体" panose="02010600030101010101" pitchFamily="2" charset="-122"/>
            </a:endParaRPr>
          </a:p>
          <a:p>
            <a:pPr>
              <a:lnSpc>
                <a:spcPct val="90000"/>
              </a:lnSpc>
              <a:defRPr/>
            </a:pPr>
            <a:endParaRPr kumimoji="0" lang="zh-CN" altLang="en-US" sz="1600">
              <a:solidFill>
                <a:schemeClr val="tx2"/>
              </a:solidFill>
              <a:latin typeface="宋体" panose="02010600030101010101" pitchFamily="2" charset="-122"/>
              <a:ea typeface="宋体" panose="02010600030101010101" pitchFamily="2" charset="-122"/>
            </a:endParaRPr>
          </a:p>
          <a:p>
            <a:pPr>
              <a:lnSpc>
                <a:spcPct val="90000"/>
              </a:lnSpc>
              <a:defRPr/>
            </a:pPr>
            <a:endParaRPr kumimoji="0" lang="zh-CN" altLang="en-US" sz="1600">
              <a:solidFill>
                <a:schemeClr val="tx2"/>
              </a:solidFill>
              <a:latin typeface="宋体" panose="02010600030101010101" pitchFamily="2" charset="-122"/>
              <a:ea typeface="宋体" panose="02010600030101010101" pitchFamily="2" charset="-122"/>
            </a:endParaRPr>
          </a:p>
        </p:txBody>
      </p:sp>
      <p:sp>
        <p:nvSpPr>
          <p:cNvPr id="386066" name="Rectangle 18"/>
          <p:cNvSpPr>
            <a:spLocks noChangeArrowheads="1"/>
          </p:cNvSpPr>
          <p:nvPr/>
        </p:nvSpPr>
        <p:spPr bwMode="auto">
          <a:xfrm>
            <a:off x="7011353" y="3550920"/>
            <a:ext cx="3138487" cy="1052513"/>
          </a:xfrm>
          <a:prstGeom prst="rect">
            <a:avLst/>
          </a:prstGeom>
          <a:noFill/>
          <a:ln w="9525">
            <a:noFill/>
            <a:miter lim="800000"/>
          </a:ln>
        </p:spPr>
        <p:txBody>
          <a:bodyPr/>
          <a:lstStyle/>
          <a:p>
            <a:pPr marL="342900" indent="-342900">
              <a:lnSpc>
                <a:spcPct val="110000"/>
              </a:lnSpc>
              <a:spcBef>
                <a:spcPct val="20000"/>
              </a:spcBef>
              <a:buClr>
                <a:schemeClr val="hlink"/>
              </a:buClr>
              <a:buFont typeface="Wingdings" panose="05000000000000000000" pitchFamily="2" charset="2"/>
              <a:buNone/>
            </a:pPr>
            <a:r>
              <a:rPr kumimoji="0" lang="zh-CN" altLang="en-US" sz="2000" b="1" kern="0" dirty="0">
                <a:latin typeface="仿宋_GB2312" panose="02010609030101010101" pitchFamily="49" charset="-122"/>
                <a:ea typeface="仿宋_GB2312" panose="02010609030101010101" pitchFamily="49" charset="-122"/>
                <a:cs typeface="+mn-ea"/>
              </a:rPr>
              <a:t>借：银行存款</a:t>
            </a:r>
          </a:p>
          <a:p>
            <a:pPr marL="342900" indent="-342900">
              <a:lnSpc>
                <a:spcPct val="110000"/>
              </a:lnSpc>
              <a:spcBef>
                <a:spcPct val="20000"/>
              </a:spcBef>
              <a:buClr>
                <a:schemeClr val="hlink"/>
              </a:buClr>
              <a:buFont typeface="Wingdings" panose="05000000000000000000" pitchFamily="2" charset="2"/>
              <a:buNone/>
            </a:pPr>
            <a:r>
              <a:rPr kumimoji="0" lang="zh-CN" altLang="en-US" sz="2000" b="1" kern="0" dirty="0">
                <a:latin typeface="仿宋_GB2312" panose="02010609030101010101" pitchFamily="49" charset="-122"/>
                <a:ea typeface="仿宋_GB2312" panose="02010609030101010101" pitchFamily="49" charset="-122"/>
                <a:cs typeface="+mn-ea"/>
              </a:rPr>
              <a:t>     贷：应收账款</a:t>
            </a:r>
            <a:endParaRPr kumimoji="0" lang="zh-CN" altLang="en-US" sz="2400">
              <a:solidFill>
                <a:schemeClr val="tx2"/>
              </a:solidFill>
              <a:latin typeface="宋体" panose="02010600030101010101" pitchFamily="2" charset="-122"/>
            </a:endParaRPr>
          </a:p>
        </p:txBody>
      </p:sp>
      <p:sp>
        <p:nvSpPr>
          <p:cNvPr id="386070" name="Rectangle 22"/>
          <p:cNvSpPr>
            <a:spLocks noChangeArrowheads="1"/>
          </p:cNvSpPr>
          <p:nvPr/>
        </p:nvSpPr>
        <p:spPr bwMode="auto">
          <a:xfrm>
            <a:off x="6864350" y="6132830"/>
            <a:ext cx="3840480" cy="395605"/>
          </a:xfrm>
          <a:prstGeom prst="rect">
            <a:avLst/>
          </a:prstGeom>
          <a:noFill/>
          <a:ln w="38100" algn="ctr">
            <a:noFill/>
            <a:miter lim="800000"/>
          </a:ln>
          <a:effectLst>
            <a:prstShdw prst="shdw17" dist="17961" dir="2700000">
              <a:schemeClr val="tx2">
                <a:gamma/>
                <a:shade val="60000"/>
                <a:invGamma/>
              </a:schemeClr>
            </a:prstShdw>
          </a:effectLst>
        </p:spPr>
        <p:txBody>
          <a:bodyPr wrap="none">
            <a:spAutoFit/>
          </a:bodyPr>
          <a:lstStyle/>
          <a:p>
            <a:pPr>
              <a:lnSpc>
                <a:spcPct val="110000"/>
              </a:lnSpc>
              <a:spcBef>
                <a:spcPct val="20000"/>
              </a:spcBef>
              <a:buClr>
                <a:schemeClr val="hlink"/>
              </a:buClr>
              <a:buFont typeface="Wingdings" panose="05000000000000000000" pitchFamily="2" charset="2"/>
              <a:buNone/>
              <a:defRPr/>
            </a:pPr>
            <a:r>
              <a:rPr kumimoji="0" lang="zh-CN" altLang="en-US" sz="2400" b="1" kern="0" dirty="0">
                <a:latin typeface="+mn-ea"/>
                <a:cs typeface="+mn-ea"/>
              </a:rPr>
              <a:t>(债务重组方式收回的应收账款见后)</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386068"/>
                                        </p:tgtEl>
                                        <p:attrNameLst>
                                          <p:attrName>style.visibility</p:attrName>
                                        </p:attrNameLst>
                                      </p:cBhvr>
                                      <p:to>
                                        <p:strVal val="visible"/>
                                      </p:to>
                                    </p:set>
                                    <p:anim to="" calcmode="lin" valueType="num">
                                      <p:cBhvr>
                                        <p:cTn id="7" dur="1" fill="hold"/>
                                        <p:tgtEl>
                                          <p:spTgt spid="386068"/>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386069"/>
                                        </p:tgtEl>
                                        <p:attrNameLst>
                                          <p:attrName>style.visibility</p:attrName>
                                        </p:attrNameLst>
                                      </p:cBhvr>
                                      <p:to>
                                        <p:strVal val="visible"/>
                                      </p:to>
                                    </p:set>
                                    <p:anim to="" calcmode="lin" valueType="num">
                                      <p:cBhvr>
                                        <p:cTn id="12" dur="1" fill="hold"/>
                                        <p:tgtEl>
                                          <p:spTgt spid="386069"/>
                                        </p:tgtEl>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386057"/>
                                        </p:tgtEl>
                                        <p:attrNameLst>
                                          <p:attrName>style.visibility</p:attrName>
                                        </p:attrNameLst>
                                      </p:cBhvr>
                                      <p:to>
                                        <p:strVal val="visible"/>
                                      </p:to>
                                    </p:set>
                                    <p:anim to="" calcmode="lin" valueType="num">
                                      <p:cBhvr>
                                        <p:cTn id="17" dur="1" fill="hold"/>
                                        <p:tgtEl>
                                          <p:spTgt spid="386057"/>
                                        </p:tgtEl>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386066"/>
                                        </p:tgtEl>
                                        <p:attrNameLst>
                                          <p:attrName>style.visibility</p:attrName>
                                        </p:attrNameLst>
                                      </p:cBhvr>
                                      <p:to>
                                        <p:strVal val="visible"/>
                                      </p:to>
                                    </p:set>
                                    <p:anim to="" calcmode="lin" valueType="num">
                                      <p:cBhvr>
                                        <p:cTn id="22" dur="1" fill="hold"/>
                                        <p:tgtEl>
                                          <p:spTgt spid="386066"/>
                                        </p:tgtEl>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386070"/>
                                        </p:tgtEl>
                                        <p:attrNameLst>
                                          <p:attrName>style.visibility</p:attrName>
                                        </p:attrNameLst>
                                      </p:cBhvr>
                                      <p:to>
                                        <p:strVal val="visible"/>
                                      </p:to>
                                    </p:set>
                                    <p:anim to="" calcmode="lin" valueType="num">
                                      <p:cBhvr>
                                        <p:cTn id="27" dur="1" fill="hold"/>
                                        <p:tgtEl>
                                          <p:spTgt spid="386070"/>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068" grpId="0" bldLvl="0" animBg="1"/>
      <p:bldP spid="386069" grpId="0" bldLvl="0" animBg="1"/>
      <p:bldP spid="386057" grpId="0" bldLvl="0" animBg="1"/>
      <p:bldP spid="386066" grpId="0"/>
      <p:bldP spid="386070"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楷体" pitchFamily="49" charset="-122"/>
                <a:ea typeface="楷体" pitchFamily="49" charset="-122"/>
                <a:sym typeface="+mn-ea"/>
              </a:rPr>
              <a:t>三、应收账款的保理</a:t>
            </a:r>
            <a:endParaRPr lang="zh-CN" altLang="en-US" dirty="0"/>
          </a:p>
        </p:txBody>
      </p:sp>
      <p:sp>
        <p:nvSpPr>
          <p:cNvPr id="3" name="内容占位符 2"/>
          <p:cNvSpPr>
            <a:spLocks noGrp="1"/>
          </p:cNvSpPr>
          <p:nvPr>
            <p:ph idx="1"/>
          </p:nvPr>
        </p:nvSpPr>
        <p:spPr>
          <a:xfrm>
            <a:off x="887095" y="2508250"/>
            <a:ext cx="9968865" cy="3448685"/>
          </a:xfrm>
        </p:spPr>
        <p:txBody>
          <a:bodyPr/>
          <a:lstStyle/>
          <a:p>
            <a:pPr lvl="1"/>
            <a:r>
              <a:rPr lang="zh-CN" altLang="en-US" dirty="0">
                <a:sym typeface="+mn-ea"/>
              </a:rPr>
              <a:t>以企业转让其应收账款为前提，集应收账款催收、管理、坏账担保及融资于一体的综合性金融服务</a:t>
            </a:r>
            <a:endParaRPr lang="en-US" altLang="zh-CN" dirty="0"/>
          </a:p>
          <a:p>
            <a:pPr lvl="1"/>
            <a:r>
              <a:rPr lang="zh-CN" altLang="en-US" dirty="0">
                <a:sym typeface="+mn-ea"/>
              </a:rPr>
              <a:t>主要是应收账款保理融资（应收账款转让）</a:t>
            </a:r>
            <a:endParaRPr lang="en-US" altLang="zh-CN" dirty="0"/>
          </a:p>
          <a:p>
            <a:pPr lvl="1"/>
            <a:r>
              <a:rPr lang="zh-CN" altLang="en-US" dirty="0">
                <a:sym typeface="+mn-ea"/>
              </a:rPr>
              <a:t>不具有追索权的应收账款转让</a:t>
            </a:r>
            <a:endParaRPr lang="en-US" altLang="zh-CN" dirty="0"/>
          </a:p>
          <a:p>
            <a:pPr lvl="1"/>
            <a:r>
              <a:rPr lang="zh-CN" altLang="en-US" dirty="0">
                <a:sym typeface="+mn-ea"/>
              </a:rPr>
              <a:t>具有追索权的应收账款转让</a:t>
            </a:r>
            <a:endParaRPr lang="en-US" altLang="zh-CN" dirty="0"/>
          </a:p>
          <a:p>
            <a:pPr marL="914400" lvl="2" indent="0">
              <a:buNone/>
            </a:pPr>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四、应收账款质押</a:t>
            </a:r>
            <a:endParaRPr lang="zh-CN" altLang="en-US" dirty="0"/>
          </a:p>
        </p:txBody>
      </p:sp>
      <p:sp>
        <p:nvSpPr>
          <p:cNvPr id="3" name="内容占位符 2"/>
          <p:cNvSpPr>
            <a:spLocks noGrp="1"/>
          </p:cNvSpPr>
          <p:nvPr>
            <p:ph idx="1"/>
          </p:nvPr>
        </p:nvSpPr>
        <p:spPr>
          <a:xfrm>
            <a:off x="914400" y="2085975"/>
            <a:ext cx="10132060" cy="4114800"/>
          </a:xfrm>
        </p:spPr>
        <p:txBody>
          <a:bodyPr/>
          <a:lstStyle/>
          <a:p>
            <a:pPr marL="0" indent="0">
              <a:buNone/>
            </a:pPr>
            <a:endParaRPr lang="en-US" altLang="zh-CN" dirty="0"/>
          </a:p>
          <a:p>
            <a:pPr lvl="1"/>
            <a:r>
              <a:rPr lang="zh-CN" altLang="en-US" dirty="0">
                <a:sym typeface="+mn-ea"/>
              </a:rPr>
              <a:t>也称应收账款出质，为担保债务的履行，企业将其合法拥有的应收账款出质给债权人，债务人不履行到期债务或者发生当事人约定的实现质权的情形，质权人有权就应收账款及其收益权优先受偿</a:t>
            </a:r>
            <a:endParaRPr lang="en-US" altLang="zh-CN" dirty="0"/>
          </a:p>
          <a:p>
            <a:pPr lvl="1"/>
            <a:endParaRPr lang="en-US" altLang="zh-CN" dirty="0"/>
          </a:p>
          <a:p>
            <a:pPr lvl="1"/>
            <a:r>
              <a:rPr lang="zh-CN" altLang="en-US" dirty="0">
                <a:sym typeface="+mn-ea"/>
              </a:rPr>
              <a:t>应收账款不符合终止确认条件，对质押进行表外披露</a:t>
            </a:r>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五、应收款项减值</a:t>
            </a:r>
            <a:endParaRPr lang="zh-CN" altLang="en-US" dirty="0"/>
          </a:p>
        </p:txBody>
      </p:sp>
      <p:sp>
        <p:nvSpPr>
          <p:cNvPr id="3" name="内容占位符 2"/>
          <p:cNvSpPr>
            <a:spLocks noGrp="1"/>
          </p:cNvSpPr>
          <p:nvPr>
            <p:ph idx="1"/>
          </p:nvPr>
        </p:nvSpPr>
        <p:spPr>
          <a:xfrm>
            <a:off x="914400" y="1936115"/>
            <a:ext cx="9968865" cy="4740275"/>
          </a:xfrm>
        </p:spPr>
        <p:txBody>
          <a:bodyPr/>
          <a:lstStyle/>
          <a:p>
            <a:pPr marL="0" indent="0" eaLnBrk="1" hangingPunct="1">
              <a:buFont typeface="Wingdings" panose="05000000000000000000" pitchFamily="2" charset="2"/>
              <a:buNone/>
            </a:pPr>
            <a:r>
              <a:rPr lang="zh-CN" altLang="en-US" sz="3200" dirty="0">
                <a:sym typeface="+mn-ea"/>
              </a:rPr>
              <a:t>1.应收账款减值概述</a:t>
            </a:r>
            <a:endParaRPr lang="zh-CN" altLang="en-US" sz="3200" dirty="0"/>
          </a:p>
          <a:p>
            <a:pPr eaLnBrk="1" hangingPunct="1">
              <a:buFont typeface="Wingdings" panose="05000000000000000000" pitchFamily="2" charset="2"/>
              <a:buChar char="v"/>
            </a:pPr>
            <a:r>
              <a:rPr lang="zh-CN" altLang="en-US" sz="2800" dirty="0">
                <a:latin typeface="楷体_GB2312" panose="02010609030101010101" pitchFamily="49" charset="-122"/>
                <a:ea typeface="楷体_GB2312" panose="02010609030101010101" pitchFamily="49" charset="-122"/>
                <a:cs typeface="+mn-ea"/>
                <a:sym typeface="+mn-ea"/>
              </a:rPr>
              <a:t>当有证据显示应收款项预期无法收回时，表明应收款项发生了减值</a:t>
            </a:r>
            <a:endParaRPr lang="zh-CN" altLang="en-US" sz="2800" dirty="0">
              <a:latin typeface="楷体_GB2312" panose="02010609030101010101" pitchFamily="49" charset="-122"/>
              <a:ea typeface="楷体_GB2312" panose="02010609030101010101" pitchFamily="49" charset="-122"/>
              <a:cs typeface="+mn-ea"/>
            </a:endParaRPr>
          </a:p>
          <a:p>
            <a:pPr eaLnBrk="1" hangingPunct="1">
              <a:buFont typeface="Wingdings" panose="05000000000000000000" pitchFamily="2" charset="2"/>
              <a:buChar char="v"/>
            </a:pPr>
            <a:r>
              <a:rPr lang="zh-CN" altLang="en-US" sz="2800" dirty="0">
                <a:latin typeface="楷体_GB2312" panose="02010609030101010101" pitchFamily="49" charset="-122"/>
                <a:ea typeface="楷体_GB2312" panose="02010609030101010101" pitchFamily="49" charset="-122"/>
                <a:cs typeface="+mn-ea"/>
                <a:sym typeface="+mn-ea"/>
              </a:rPr>
              <a:t>导致应收款项发生减值的客观证据包括：</a:t>
            </a:r>
            <a:endParaRPr lang="zh-CN" altLang="en-US" sz="2800" dirty="0">
              <a:latin typeface="楷体_GB2312" panose="02010609030101010101" pitchFamily="49" charset="-122"/>
              <a:ea typeface="楷体_GB2312" panose="02010609030101010101" pitchFamily="49" charset="-122"/>
              <a:cs typeface="+mn-ea"/>
            </a:endParaRPr>
          </a:p>
          <a:p>
            <a:pPr lvl="1" eaLnBrk="1" hangingPunct="1">
              <a:buFont typeface="Wingdings" panose="05000000000000000000" pitchFamily="2" charset="2"/>
              <a:buChar char="§"/>
            </a:pPr>
            <a:r>
              <a:rPr lang="zh-CN" altLang="en-US" sz="2800" dirty="0">
                <a:cs typeface="+mn-ea"/>
                <a:sym typeface="+mn-ea"/>
              </a:rPr>
              <a:t>债务人发生财务困难</a:t>
            </a:r>
            <a:endParaRPr lang="zh-CN" altLang="en-US" sz="2800" dirty="0">
              <a:cs typeface="+mn-ea"/>
            </a:endParaRPr>
          </a:p>
          <a:p>
            <a:pPr lvl="1" eaLnBrk="1" hangingPunct="1">
              <a:buFont typeface="Wingdings" panose="05000000000000000000" pitchFamily="2" charset="2"/>
              <a:buChar char="§"/>
            </a:pPr>
            <a:r>
              <a:rPr lang="zh-CN" altLang="en-US" sz="2800" dirty="0">
                <a:cs typeface="+mn-ea"/>
                <a:sym typeface="+mn-ea"/>
              </a:rPr>
              <a:t>债务人违反合同逾期不偿还</a:t>
            </a:r>
            <a:endParaRPr lang="zh-CN" altLang="en-US" sz="2800" dirty="0">
              <a:cs typeface="+mn-ea"/>
            </a:endParaRPr>
          </a:p>
          <a:p>
            <a:pPr lvl="1" eaLnBrk="1" hangingPunct="1">
              <a:buFont typeface="Wingdings" panose="05000000000000000000" pitchFamily="2" charset="2"/>
              <a:buChar char="§"/>
            </a:pPr>
            <a:r>
              <a:rPr lang="zh-CN" altLang="en-US" sz="2800" dirty="0">
                <a:cs typeface="+mn-ea"/>
                <a:sym typeface="+mn-ea"/>
              </a:rPr>
              <a:t>债务人很可能破产倒闭</a:t>
            </a:r>
            <a:endParaRPr lang="zh-CN" altLang="en-US" sz="2800" dirty="0">
              <a:cs typeface="+mn-ea"/>
            </a:endParaRPr>
          </a:p>
          <a:p>
            <a:pPr lvl="1" eaLnBrk="1" hangingPunct="1">
              <a:buFont typeface="Wingdings" panose="05000000000000000000" pitchFamily="2" charset="2"/>
              <a:buChar char="§"/>
            </a:pPr>
            <a:r>
              <a:rPr lang="zh-CN" altLang="en-US" sz="2800" dirty="0">
                <a:cs typeface="+mn-ea"/>
                <a:sym typeface="+mn-ea"/>
              </a:rPr>
              <a:t>其他事项</a:t>
            </a:r>
            <a:endParaRPr lang="zh-CN" altLang="en-US" sz="2800" dirty="0">
              <a:cs typeface="+mn-ea"/>
            </a:endParaRPr>
          </a:p>
          <a:p>
            <a:pPr eaLnBrk="1" hangingPunct="1">
              <a:buFont typeface="Wingdings" panose="05000000000000000000" pitchFamily="2" charset="2"/>
              <a:buChar char="v"/>
            </a:pPr>
            <a:r>
              <a:rPr lang="zh-CN" altLang="en-US" sz="2800" dirty="0">
                <a:latin typeface="楷体_GB2312" panose="02010609030101010101" pitchFamily="49" charset="-122"/>
                <a:ea typeface="楷体_GB2312" panose="02010609030101010101" pitchFamily="49" charset="-122"/>
                <a:cs typeface="+mn-ea"/>
                <a:sym typeface="+mn-ea"/>
              </a:rPr>
              <a:t>当应收款项发生减值时，应当计提坏账准备</a:t>
            </a:r>
            <a:endParaRPr lang="zh-CN" altLang="en-US" sz="2800" dirty="0">
              <a:latin typeface="楷体_GB2312" panose="02010609030101010101" pitchFamily="49" charset="-122"/>
              <a:ea typeface="楷体_GB2312" panose="02010609030101010101" pitchFamily="49" charset="-122"/>
              <a:cs typeface="+mn-ea"/>
            </a:endParaRPr>
          </a:p>
          <a:p>
            <a:pPr marL="914400" lvl="2" indent="0">
              <a:buNone/>
            </a:pPr>
            <a:endParaRPr lang="zh-CN" altLang="en-US" sz="2800" dirty="0">
              <a:latin typeface="楷体_GB2312" panose="02010609030101010101" pitchFamily="49" charset="-122"/>
              <a:ea typeface="楷体_GB2312" panose="02010609030101010101" pitchFamily="49" charset="-122"/>
              <a:cs typeface="+mn-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a:xfrm>
            <a:off x="1390650" y="1894840"/>
            <a:ext cx="9411335" cy="4114800"/>
          </a:xfrm>
        </p:spPr>
        <p:txBody>
          <a:bodyPr/>
          <a:lstStyle/>
          <a:p>
            <a:pPr marL="0" indent="0">
              <a:buNone/>
            </a:pPr>
            <a:r>
              <a:rPr lang="zh-CN" altLang="en-US" sz="2800" dirty="0">
                <a:latin typeface="楷体_GB2312" panose="02010609030101010101" pitchFamily="49" charset="-122"/>
                <a:ea typeface="楷体_GB2312" panose="02010609030101010101" pitchFamily="49" charset="-122"/>
                <a:cs typeface="+mn-ea"/>
                <a:sym typeface="+mn-ea"/>
              </a:rPr>
              <a:t>通常，符合下列情形之一，则表明实际发生了坏账。</a:t>
            </a:r>
            <a:endParaRPr lang="zh-CN" altLang="en-US" sz="2400" dirty="0">
              <a:latin typeface="+mn-ea"/>
              <a:ea typeface="+mn-ea"/>
              <a:cs typeface="+mn-ea"/>
            </a:endParaRPr>
          </a:p>
          <a:p>
            <a:pPr marL="0" indent="0">
              <a:buNone/>
            </a:pPr>
            <a:r>
              <a:rPr lang="zh-CN" altLang="en-US" sz="2400" dirty="0">
                <a:latin typeface="+mn-ea"/>
                <a:ea typeface="+mn-ea"/>
                <a:cs typeface="+mn-ea"/>
                <a:sym typeface="+mn-ea"/>
              </a:rPr>
              <a:t>（1） 债务人被依法宣告破产、撤销，其剩余财产确实不足清偿的应收账款；</a:t>
            </a:r>
            <a:endParaRPr lang="zh-CN" altLang="en-US" sz="2400" dirty="0">
              <a:latin typeface="+mn-ea"/>
              <a:ea typeface="+mn-ea"/>
              <a:cs typeface="+mn-ea"/>
            </a:endParaRPr>
          </a:p>
          <a:p>
            <a:pPr marL="0" indent="0">
              <a:buNone/>
            </a:pPr>
            <a:r>
              <a:rPr lang="zh-CN" altLang="en-US" sz="2400" dirty="0">
                <a:latin typeface="+mn-ea"/>
                <a:ea typeface="+mn-ea"/>
                <a:cs typeface="+mn-ea"/>
                <a:sym typeface="+mn-ea"/>
              </a:rPr>
              <a:t>（2） 债务人死亡或依法被宣告死亡、失踪，其财产或遗产确实不足清偿的应收账款；</a:t>
            </a:r>
            <a:endParaRPr lang="zh-CN" altLang="en-US" sz="2400" dirty="0">
              <a:latin typeface="+mn-ea"/>
              <a:ea typeface="+mn-ea"/>
              <a:cs typeface="+mn-ea"/>
            </a:endParaRPr>
          </a:p>
          <a:p>
            <a:pPr marL="0" indent="0">
              <a:buNone/>
            </a:pPr>
            <a:r>
              <a:rPr lang="zh-CN" altLang="en-US" sz="2400" dirty="0">
                <a:latin typeface="+mn-ea"/>
                <a:ea typeface="+mn-ea"/>
                <a:cs typeface="+mn-ea"/>
                <a:sym typeface="+mn-ea"/>
              </a:rPr>
              <a:t>（3） 债务人遭受重大自然灾害或意外事故，损失巨大，以其财产（包括保险赔款等）确实无法清偿的应收账款；</a:t>
            </a:r>
            <a:endParaRPr lang="zh-CN" altLang="en-US" sz="2400" dirty="0">
              <a:latin typeface="+mn-ea"/>
              <a:ea typeface="+mn-ea"/>
              <a:cs typeface="+mn-ea"/>
            </a:endParaRPr>
          </a:p>
          <a:p>
            <a:pPr marL="0" indent="0">
              <a:buNone/>
            </a:pPr>
            <a:r>
              <a:rPr lang="zh-CN" altLang="en-US" sz="2400" dirty="0">
                <a:latin typeface="+mn-ea"/>
                <a:ea typeface="+mn-ea"/>
                <a:cs typeface="+mn-ea"/>
                <a:sym typeface="+mn-ea"/>
              </a:rPr>
              <a:t>（4） 债务人逾期未履行偿债义务，经法院裁决，确实无法清偿的应收账款；</a:t>
            </a:r>
            <a:endParaRPr lang="zh-CN" altLang="en-US" sz="2400" dirty="0">
              <a:latin typeface="+mn-ea"/>
              <a:ea typeface="+mn-ea"/>
              <a:cs typeface="+mn-ea"/>
            </a:endParaRPr>
          </a:p>
          <a:p>
            <a:pPr marL="0" indent="0">
              <a:buNone/>
            </a:pPr>
            <a:r>
              <a:rPr lang="zh-CN" altLang="en-US" sz="2400" dirty="0">
                <a:latin typeface="+mn-ea"/>
                <a:ea typeface="+mn-ea"/>
                <a:cs typeface="+mn-ea"/>
                <a:sym typeface="+mn-ea"/>
              </a:rPr>
              <a:t>（5） 超过法定年限以上（通常为3年）仍未收回的应收账款；</a:t>
            </a:r>
            <a:endParaRPr lang="zh-CN" altLang="en-US" sz="2400" dirty="0">
              <a:latin typeface="+mn-ea"/>
              <a:ea typeface="+mn-ea"/>
              <a:cs typeface="+mn-ea"/>
            </a:endParaRPr>
          </a:p>
          <a:p>
            <a:pPr marL="0" indent="0">
              <a:buNone/>
            </a:pPr>
            <a:r>
              <a:rPr lang="zh-CN" altLang="en-US" sz="2400" dirty="0">
                <a:latin typeface="+mn-ea"/>
                <a:ea typeface="+mn-ea"/>
                <a:cs typeface="+mn-ea"/>
                <a:sym typeface="+mn-ea"/>
              </a:rPr>
              <a:t>（6） 法定机构批准金可核销的应收账款。</a:t>
            </a:r>
            <a:endParaRPr lang="zh-CN" altLang="en-US" sz="2400" dirty="0">
              <a:latin typeface="+mn-ea"/>
              <a:ea typeface="+mn-ea"/>
              <a:cs typeface="+mn-e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lstStyle/>
          <a:p>
            <a:pPr marL="0" indent="0">
              <a:buNone/>
            </a:pPr>
            <a:r>
              <a:rPr lang="en-US" altLang="zh-CN" dirty="0">
                <a:sym typeface="+mn-ea"/>
              </a:rPr>
              <a:t>2.</a:t>
            </a:r>
            <a:r>
              <a:rPr lang="zh-CN" altLang="en-US" dirty="0">
                <a:sym typeface="+mn-ea"/>
              </a:rPr>
              <a:t>应收账款减值的核算方法</a:t>
            </a:r>
            <a:endParaRPr lang="en-US" altLang="zh-CN" dirty="0"/>
          </a:p>
          <a:p>
            <a:pPr marL="457200" lvl="1" indent="0">
              <a:buNone/>
            </a:pPr>
            <a:r>
              <a:rPr lang="zh-CN" altLang="en-US" dirty="0">
                <a:sym typeface="+mn-ea"/>
              </a:rPr>
              <a:t>（</a:t>
            </a:r>
            <a:r>
              <a:rPr lang="en-US" altLang="zh-CN" dirty="0">
                <a:sym typeface="+mn-ea"/>
              </a:rPr>
              <a:t>1</a:t>
            </a:r>
            <a:r>
              <a:rPr lang="zh-CN" altLang="en-US" dirty="0">
                <a:sym typeface="+mn-ea"/>
              </a:rPr>
              <a:t>）直接转销法</a:t>
            </a:r>
            <a:endParaRPr lang="en-US" altLang="zh-CN" dirty="0"/>
          </a:p>
          <a:p>
            <a:pPr marL="914400" lvl="2" indent="0">
              <a:buNone/>
            </a:pPr>
            <a:r>
              <a:rPr lang="zh-CN" altLang="en-US" dirty="0">
                <a:sym typeface="+mn-ea"/>
              </a:rPr>
              <a:t>在应收账款被确认无法收回时，将实际损失计入当期损益</a:t>
            </a:r>
            <a:endParaRPr lang="en-US" altLang="zh-CN" dirty="0"/>
          </a:p>
          <a:p>
            <a:pPr>
              <a:buFont typeface="Arial" panose="020B0604020202020204" pitchFamily="34" charset="0"/>
              <a:buChar char="•"/>
            </a:pPr>
            <a:r>
              <a:rPr lang="zh-CN" altLang="en-US" sz="2800" dirty="0">
                <a:latin typeface="楷体_GB2312" panose="02010609030101010101" pitchFamily="49" charset="-122"/>
                <a:ea typeface="楷体_GB2312" panose="02010609030101010101" pitchFamily="49" charset="-122"/>
                <a:cs typeface="+mn-ea"/>
                <a:sym typeface="+mn-ea"/>
              </a:rPr>
              <a:t>会计处理</a:t>
            </a:r>
            <a:endParaRPr lang="zh-CN" altLang="en-US" sz="2800" dirty="0">
              <a:latin typeface="楷体_GB2312" panose="02010609030101010101" pitchFamily="49" charset="-122"/>
              <a:ea typeface="楷体_GB2312" panose="02010609030101010101" pitchFamily="49" charset="-122"/>
              <a:cs typeface="+mn-ea"/>
            </a:endParaRPr>
          </a:p>
          <a:p>
            <a:pPr>
              <a:buFont typeface="Arial" panose="020B0604020202020204" pitchFamily="34" charset="0"/>
              <a:buChar char="•"/>
            </a:pPr>
            <a:r>
              <a:rPr lang="zh-CN" altLang="en-US" sz="2800" dirty="0">
                <a:latin typeface="楷体_GB2312" panose="02010609030101010101" pitchFamily="49" charset="-122"/>
                <a:ea typeface="楷体_GB2312" panose="02010609030101010101" pitchFamily="49" charset="-122"/>
                <a:cs typeface="+mn-ea"/>
                <a:sym typeface="+mn-ea"/>
              </a:rPr>
              <a:t>优点</a:t>
            </a:r>
            <a:endParaRPr lang="zh-CN" altLang="en-US" sz="2800" dirty="0">
              <a:latin typeface="楷体_GB2312" panose="02010609030101010101" pitchFamily="49" charset="-122"/>
              <a:ea typeface="楷体_GB2312" panose="02010609030101010101" pitchFamily="49" charset="-122"/>
              <a:cs typeface="+mn-ea"/>
            </a:endParaRPr>
          </a:p>
          <a:p>
            <a:pPr>
              <a:buFont typeface="Arial" panose="020B0604020202020204" pitchFamily="34" charset="0"/>
              <a:buChar char="•"/>
            </a:pPr>
            <a:r>
              <a:rPr lang="zh-CN" altLang="en-US" sz="2800" dirty="0">
                <a:latin typeface="楷体_GB2312" panose="02010609030101010101" pitchFamily="49" charset="-122"/>
                <a:ea typeface="楷体_GB2312" panose="02010609030101010101" pitchFamily="49" charset="-122"/>
                <a:cs typeface="+mn-ea"/>
                <a:sym typeface="+mn-ea"/>
              </a:rPr>
              <a:t>缺点</a:t>
            </a:r>
            <a:endParaRPr lang="zh-CN" altLang="en-US" sz="2800" dirty="0">
              <a:latin typeface="楷体_GB2312" panose="02010609030101010101" pitchFamily="49" charset="-122"/>
              <a:ea typeface="楷体_GB2312" panose="02010609030101010101" pitchFamily="49" charset="-122"/>
              <a:cs typeface="+mn-ea"/>
            </a:endParaRPr>
          </a:p>
          <a:p>
            <a:pPr>
              <a:buFont typeface="Arial" panose="020B0604020202020204" pitchFamily="34" charset="0"/>
              <a:buChar char="•"/>
            </a:pPr>
            <a:r>
              <a:rPr lang="zh-CN" altLang="en-US" sz="2800" dirty="0">
                <a:latin typeface="楷体_GB2312" panose="02010609030101010101" pitchFamily="49" charset="-122"/>
                <a:ea typeface="楷体_GB2312" panose="02010609030101010101" pitchFamily="49" charset="-122"/>
                <a:cs typeface="+mn-ea"/>
                <a:sym typeface="+mn-ea"/>
              </a:rPr>
              <a:t>适用企业</a:t>
            </a:r>
            <a:endParaRPr lang="zh-CN" altLang="en-US" sz="2400" dirty="0">
              <a:latin typeface="+mn-ea"/>
              <a:ea typeface="+mn-ea"/>
              <a:cs typeface="+mn-ea"/>
            </a:endParaRPr>
          </a:p>
        </p:txBody>
      </p:sp>
      <p:sp>
        <p:nvSpPr>
          <p:cNvPr id="4" name="Rectangle 7"/>
          <p:cNvSpPr>
            <a:spLocks noChangeArrowheads="1"/>
          </p:cNvSpPr>
          <p:nvPr/>
        </p:nvSpPr>
        <p:spPr bwMode="auto">
          <a:xfrm>
            <a:off x="3836988" y="3644225"/>
            <a:ext cx="5842000" cy="861774"/>
          </a:xfrm>
          <a:prstGeom prst="rect">
            <a:avLst/>
          </a:prstGeom>
          <a:solidFill>
            <a:schemeClr val="accent2">
              <a:lumMod val="60000"/>
              <a:lumOff val="40000"/>
            </a:schemeClr>
          </a:solidFill>
          <a:ln w="12700" algn="ctr">
            <a:solidFill>
              <a:schemeClr val="accent2"/>
            </a:solidFill>
            <a:miter lim="800000"/>
          </a:ln>
          <a:effectLst/>
        </p:spPr>
        <p:txBody>
          <a:bodyPr anchor="ctr">
            <a:spAutoFit/>
          </a:bodyPr>
          <a:lstStyle/>
          <a:p>
            <a:pPr>
              <a:defRPr/>
            </a:pPr>
            <a:r>
              <a:rPr kumimoji="0" lang="en-US" altLang="zh-CN" sz="2000" dirty="0">
                <a:solidFill>
                  <a:srgbClr val="000000"/>
                </a:solidFill>
                <a:effectLst>
                  <a:outerShdw blurRad="38100" dist="38100" dir="2700000" algn="tl">
                    <a:srgbClr val="FFFFFF"/>
                  </a:outerShdw>
                </a:effectLst>
                <a:latin typeface="宋体" panose="02010600030101010101" pitchFamily="2" charset="-122"/>
                <a:ea typeface="宋体" panose="02010600030101010101" pitchFamily="2" charset="-122"/>
              </a:rPr>
              <a:t> </a:t>
            </a:r>
            <a:r>
              <a:rPr kumimoji="0" lang="zh-CN" altLang="en-US" sz="2000" dirty="0">
                <a:solidFill>
                  <a:srgbClr val="000000"/>
                </a:solidFill>
                <a:effectLst>
                  <a:outerShdw blurRad="38100" dist="38100" dir="2700000" algn="tl">
                    <a:srgbClr val="FFFFFF"/>
                  </a:outerShdw>
                </a:effectLst>
                <a:latin typeface="宋体" panose="02010600030101010101" pitchFamily="2" charset="-122"/>
                <a:ea typeface="宋体" panose="02010600030101010101" pitchFamily="2" charset="-122"/>
              </a:rPr>
              <a:t>发生减值：借：信用减值损失</a:t>
            </a:r>
          </a:p>
          <a:p>
            <a:pPr>
              <a:defRPr/>
            </a:pPr>
            <a:r>
              <a:rPr kumimoji="0" lang="zh-CN" altLang="en-US" sz="2000" dirty="0">
                <a:solidFill>
                  <a:srgbClr val="000000"/>
                </a:solidFill>
                <a:effectLst>
                  <a:outerShdw blurRad="38100" dist="38100" dir="2700000" algn="tl">
                    <a:srgbClr val="FFFFFF"/>
                  </a:outerShdw>
                </a:effectLst>
                <a:latin typeface="宋体" panose="02010600030101010101" pitchFamily="2" charset="-122"/>
                <a:ea typeface="宋体" panose="02010600030101010101" pitchFamily="2" charset="-122"/>
              </a:rPr>
              <a:t>              贷：应收账款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a:xfrm>
            <a:off x="1268095" y="2004060"/>
            <a:ext cx="9750425" cy="4114800"/>
          </a:xfrm>
        </p:spPr>
        <p:txBody>
          <a:bodyPr/>
          <a:lstStyle/>
          <a:p>
            <a:pPr marL="0" indent="0">
              <a:buNone/>
            </a:pPr>
            <a:r>
              <a:rPr lang="zh-CN" altLang="en-US" sz="2800" dirty="0">
                <a:latin typeface="楷体_GB2312" panose="02010609030101010101" pitchFamily="49" charset="-122"/>
                <a:ea typeface="楷体_GB2312" panose="02010609030101010101" pitchFamily="49" charset="-122"/>
                <a:cs typeface="+mn-ea"/>
                <a:sym typeface="+mn-ea"/>
              </a:rPr>
              <a:t>（2）备抵法</a:t>
            </a:r>
          </a:p>
          <a:p>
            <a:pPr marL="0" indent="0">
              <a:buNone/>
            </a:pPr>
            <a:r>
              <a:rPr lang="en-US" altLang="zh-CN" dirty="0">
                <a:sym typeface="+mn-ea"/>
              </a:rPr>
              <a:t>	</a:t>
            </a:r>
            <a:r>
              <a:rPr lang="zh-CN" altLang="en-US" sz="2400" dirty="0">
                <a:latin typeface="+mn-ea"/>
                <a:ea typeface="+mn-ea"/>
                <a:cs typeface="+mn-ea"/>
                <a:sym typeface="+mn-ea"/>
              </a:rPr>
              <a:t>备抵法是期末根据应收账款可能发生的坏账估计坏账损失，形成坏账准备，在实际发生坏账时再冲销坏账准备、转销应收账款的方法。</a:t>
            </a:r>
          </a:p>
          <a:p>
            <a:pPr>
              <a:buFont typeface="Arial" panose="020B0604020202020204" pitchFamily="34" charset="0"/>
              <a:buChar char="•"/>
            </a:pPr>
            <a:r>
              <a:rPr lang="zh-CN" altLang="en-US" sz="2800" dirty="0">
                <a:latin typeface="楷体_GB2312" panose="02010609030101010101" pitchFamily="49" charset="-122"/>
                <a:ea typeface="楷体_GB2312" panose="02010609030101010101" pitchFamily="49" charset="-122"/>
                <a:cs typeface="+mn-ea"/>
                <a:sym typeface="+mn-ea"/>
              </a:rPr>
              <a:t>优点</a:t>
            </a:r>
            <a:endParaRPr lang="zh-CN" altLang="en-US" sz="2800" dirty="0">
              <a:latin typeface="楷体_GB2312" panose="02010609030101010101" pitchFamily="49" charset="-122"/>
              <a:ea typeface="楷体_GB2312" panose="02010609030101010101" pitchFamily="49" charset="-122"/>
              <a:cs typeface="+mn-ea"/>
            </a:endParaRPr>
          </a:p>
          <a:p>
            <a:pPr>
              <a:buFont typeface="Arial" panose="020B0604020202020204" pitchFamily="34" charset="0"/>
              <a:buChar char="•"/>
            </a:pPr>
            <a:r>
              <a:rPr lang="zh-CN" altLang="en-US" sz="2800" dirty="0">
                <a:latin typeface="楷体_GB2312" panose="02010609030101010101" pitchFamily="49" charset="-122"/>
                <a:ea typeface="楷体_GB2312" panose="02010609030101010101" pitchFamily="49" charset="-122"/>
                <a:cs typeface="+mn-ea"/>
                <a:sym typeface="+mn-ea"/>
              </a:rPr>
              <a:t>缺点</a:t>
            </a:r>
            <a:endParaRPr lang="zh-CN" altLang="en-US" sz="2800" dirty="0">
              <a:latin typeface="楷体_GB2312" panose="02010609030101010101" pitchFamily="49" charset="-122"/>
              <a:ea typeface="楷体_GB2312" panose="02010609030101010101" pitchFamily="49" charset="-122"/>
              <a:cs typeface="+mn-ea"/>
            </a:endParaRPr>
          </a:p>
          <a:p>
            <a:pPr>
              <a:buFont typeface="Arial" panose="020B0604020202020204" pitchFamily="34" charset="0"/>
              <a:buChar char="•"/>
            </a:pPr>
            <a:r>
              <a:rPr lang="zh-CN" altLang="en-US" sz="2800" dirty="0">
                <a:latin typeface="楷体_GB2312" panose="02010609030101010101" pitchFamily="49" charset="-122"/>
                <a:ea typeface="楷体_GB2312" panose="02010609030101010101" pitchFamily="49" charset="-122"/>
                <a:cs typeface="+mn-ea"/>
                <a:sym typeface="+mn-ea"/>
              </a:rPr>
              <a:t>适用企业</a:t>
            </a:r>
            <a:endParaRPr lang="zh-CN" altLang="en-US" sz="2800" dirty="0">
              <a:latin typeface="楷体_GB2312" panose="02010609030101010101" pitchFamily="49" charset="-122"/>
              <a:ea typeface="楷体_GB2312" panose="02010609030101010101" pitchFamily="49" charset="-122"/>
              <a:cs typeface="+mn-e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34795" y="772160"/>
            <a:ext cx="10390505" cy="904240"/>
          </a:xfrm>
        </p:spPr>
        <p:txBody>
          <a:bodyPr/>
          <a:lstStyle/>
          <a:p>
            <a:r>
              <a:rPr lang="zh-CN" altLang="en-US" sz="2800" dirty="0">
                <a:solidFill>
                  <a:schemeClr val="tx1"/>
                </a:solidFill>
                <a:latin typeface="楷体_GB2312" panose="02010609030101010101" pitchFamily="49" charset="-122"/>
                <a:ea typeface="楷体_GB2312" panose="02010609030101010101" pitchFamily="49" charset="-122"/>
                <a:cs typeface="+mn-ea"/>
                <a:sym typeface="+mn-ea"/>
              </a:rPr>
              <a:t>备抵法的账务处理</a:t>
            </a:r>
            <a:endParaRPr lang="zh-CN" altLang="en-US" dirty="0"/>
          </a:p>
        </p:txBody>
      </p:sp>
      <p:sp>
        <p:nvSpPr>
          <p:cNvPr id="3" name="内容占位符 2"/>
          <p:cNvSpPr>
            <a:spLocks noGrp="1"/>
          </p:cNvSpPr>
          <p:nvPr>
            <p:ph idx="1"/>
          </p:nvPr>
        </p:nvSpPr>
        <p:spPr>
          <a:xfrm>
            <a:off x="1548765" y="1922780"/>
            <a:ext cx="10363200" cy="1679575"/>
          </a:xfrm>
        </p:spPr>
        <p:txBody>
          <a:bodyPr/>
          <a:lstStyle/>
          <a:p>
            <a:pPr marL="0" indent="0" eaLnBrk="1" hangingPunct="1">
              <a:buNone/>
            </a:pPr>
            <a:r>
              <a:rPr lang="zh-CN" altLang="en-US" sz="2400" dirty="0">
                <a:latin typeface="+mn-ea"/>
                <a:ea typeface="+mn-ea"/>
                <a:cs typeface="+mn-ea"/>
                <a:sym typeface="+mn-ea"/>
              </a:rPr>
              <a:t>期末计提准备：借：信用减值损失</a:t>
            </a:r>
            <a:endParaRPr lang="zh-CN" altLang="en-US" sz="2400" dirty="0">
              <a:latin typeface="+mn-ea"/>
              <a:ea typeface="+mn-ea"/>
              <a:cs typeface="+mn-ea"/>
            </a:endParaRPr>
          </a:p>
          <a:p>
            <a:pPr marL="0" indent="0" eaLnBrk="1" hangingPunct="1">
              <a:buNone/>
            </a:pPr>
            <a:r>
              <a:rPr lang="zh-CN" altLang="en-US" sz="2400" dirty="0">
                <a:latin typeface="+mn-ea"/>
                <a:ea typeface="+mn-ea"/>
                <a:cs typeface="+mn-ea"/>
                <a:sym typeface="+mn-ea"/>
              </a:rPr>
              <a:t>                                    贷：坏账准备</a:t>
            </a:r>
            <a:endParaRPr lang="zh-CN" altLang="en-US" sz="2400" dirty="0">
              <a:latin typeface="+mn-ea"/>
              <a:ea typeface="+mn-ea"/>
              <a:cs typeface="+mn-ea"/>
            </a:endParaRPr>
          </a:p>
          <a:p>
            <a:pPr marL="0" indent="0" eaLnBrk="1" hangingPunct="1">
              <a:buNone/>
            </a:pPr>
            <a:r>
              <a:rPr lang="zh-CN" altLang="en-US" sz="2400" dirty="0">
                <a:latin typeface="+mn-ea"/>
                <a:ea typeface="+mn-ea"/>
                <a:cs typeface="+mn-ea"/>
                <a:sym typeface="+mn-ea"/>
              </a:rPr>
              <a:t>发生坏账时：   借：坏账准备</a:t>
            </a:r>
            <a:endParaRPr lang="zh-CN" altLang="en-US" sz="2400" dirty="0">
              <a:latin typeface="+mn-ea"/>
              <a:ea typeface="+mn-ea"/>
              <a:cs typeface="+mn-ea"/>
            </a:endParaRPr>
          </a:p>
          <a:p>
            <a:pPr marL="0" indent="0" eaLnBrk="1" hangingPunct="1">
              <a:buNone/>
            </a:pPr>
            <a:r>
              <a:rPr lang="zh-CN" altLang="en-US" sz="2400" dirty="0">
                <a:latin typeface="+mn-ea"/>
                <a:ea typeface="+mn-ea"/>
                <a:cs typeface="+mn-ea"/>
                <a:sym typeface="+mn-ea"/>
              </a:rPr>
              <a:t>                                   贷：应收账款</a:t>
            </a:r>
            <a:endParaRPr lang="zh-CN" altLang="en-US" sz="2400" dirty="0">
              <a:latin typeface="+mn-ea"/>
              <a:ea typeface="+mn-ea"/>
              <a:cs typeface="+mn-ea"/>
            </a:endParaRPr>
          </a:p>
        </p:txBody>
      </p:sp>
      <p:sp>
        <p:nvSpPr>
          <p:cNvPr id="66564" name="Rectangle 4"/>
          <p:cNvSpPr>
            <a:spLocks noChangeArrowheads="1"/>
          </p:cNvSpPr>
          <p:nvPr/>
        </p:nvSpPr>
        <p:spPr bwMode="auto">
          <a:xfrm>
            <a:off x="1548765" y="3773805"/>
            <a:ext cx="6855460" cy="2232660"/>
          </a:xfrm>
          <a:prstGeom prst="rect">
            <a:avLst/>
          </a:prstGeom>
          <a:solidFill>
            <a:schemeClr val="accent2">
              <a:lumMod val="60000"/>
              <a:lumOff val="40000"/>
            </a:schemeClr>
          </a:solidFill>
          <a:ln w="38100" algn="ctr">
            <a:noFill/>
            <a:miter lim="800000"/>
          </a:ln>
          <a:effectLst>
            <a:prstShdw prst="shdw17" dist="17961" dir="2700000">
              <a:srgbClr val="009999"/>
            </a:prstShdw>
          </a:effectLst>
        </p:spPr>
        <p:txBody>
          <a:bodyPr wrap="square" anchor="ctr">
            <a:spAutoFit/>
          </a:bodyPr>
          <a:lstStyle/>
          <a:p>
            <a:pPr algn="l" fontAlgn="base">
              <a:lnSpc>
                <a:spcPct val="100000"/>
              </a:lnSpc>
              <a:spcBef>
                <a:spcPct val="20000"/>
              </a:spcBef>
              <a:buClr>
                <a:schemeClr val="folHlink"/>
              </a:buClr>
              <a:buSzPct val="60000"/>
              <a:buNone/>
            </a:pPr>
            <a:r>
              <a:rPr kumimoji="0" lang="zh-CN" altLang="en-US" sz="2400" b="1" kern="0" dirty="0">
                <a:latin typeface="+mn-ea"/>
                <a:cs typeface="+mn-ea"/>
              </a:rPr>
              <a:t>注意：对于已转销的坏账又收回时，应：</a:t>
            </a:r>
          </a:p>
          <a:p>
            <a:pPr algn="l" fontAlgn="base">
              <a:lnSpc>
                <a:spcPct val="100000"/>
              </a:lnSpc>
              <a:spcBef>
                <a:spcPct val="20000"/>
              </a:spcBef>
              <a:buClr>
                <a:schemeClr val="folHlink"/>
              </a:buClr>
              <a:buSzPct val="60000"/>
              <a:buNone/>
            </a:pPr>
            <a:r>
              <a:rPr kumimoji="0" lang="zh-CN" altLang="en-US" sz="2400" b="1" kern="0" dirty="0">
                <a:latin typeface="+mn-ea"/>
                <a:cs typeface="+mn-ea"/>
              </a:rPr>
              <a:t>借：应收账款</a:t>
            </a:r>
          </a:p>
          <a:p>
            <a:pPr algn="l" fontAlgn="base">
              <a:lnSpc>
                <a:spcPct val="100000"/>
              </a:lnSpc>
              <a:spcBef>
                <a:spcPct val="20000"/>
              </a:spcBef>
              <a:buClr>
                <a:schemeClr val="folHlink"/>
              </a:buClr>
              <a:buSzPct val="60000"/>
              <a:buNone/>
            </a:pPr>
            <a:r>
              <a:rPr kumimoji="0" lang="zh-CN" altLang="en-US" sz="2400" b="1" kern="0" dirty="0">
                <a:latin typeface="+mn-ea"/>
                <a:cs typeface="+mn-ea"/>
              </a:rPr>
              <a:t>   贷：坏账准备</a:t>
            </a:r>
          </a:p>
          <a:p>
            <a:pPr algn="l" fontAlgn="base">
              <a:lnSpc>
                <a:spcPct val="100000"/>
              </a:lnSpc>
              <a:spcBef>
                <a:spcPct val="20000"/>
              </a:spcBef>
              <a:buClr>
                <a:schemeClr val="folHlink"/>
              </a:buClr>
              <a:buSzPct val="60000"/>
              <a:buNone/>
            </a:pPr>
            <a:r>
              <a:rPr kumimoji="0" lang="zh-CN" altLang="en-US" sz="2400" b="1" kern="0" dirty="0">
                <a:latin typeface="+mn-ea"/>
                <a:cs typeface="+mn-ea"/>
              </a:rPr>
              <a:t>借：银行存款</a:t>
            </a:r>
          </a:p>
          <a:p>
            <a:pPr algn="l" fontAlgn="base">
              <a:lnSpc>
                <a:spcPct val="100000"/>
              </a:lnSpc>
              <a:spcBef>
                <a:spcPct val="20000"/>
              </a:spcBef>
              <a:buClr>
                <a:schemeClr val="folHlink"/>
              </a:buClr>
              <a:buSzPct val="60000"/>
              <a:buNone/>
            </a:pPr>
            <a:r>
              <a:rPr kumimoji="0" lang="zh-CN" altLang="en-US" sz="2400" b="1" kern="0" dirty="0">
                <a:latin typeface="+mn-ea"/>
                <a:cs typeface="+mn-ea"/>
              </a:rPr>
              <a:t>   贷：应收账款</a:t>
            </a:r>
            <a:endParaRPr lang="zh-CN" altLang="en-US" sz="2400" b="1" kern="0" dirty="0">
              <a:latin typeface="+mn-ea"/>
              <a:cs typeface="+mn-ea"/>
            </a:endParaRPr>
          </a:p>
        </p:txBody>
      </p:sp>
      <p:sp>
        <p:nvSpPr>
          <p:cNvPr id="5" name="矩形 4"/>
          <p:cNvSpPr/>
          <p:nvPr/>
        </p:nvSpPr>
        <p:spPr>
          <a:xfrm>
            <a:off x="1431290" y="6178729"/>
            <a:ext cx="8572500" cy="521970"/>
          </a:xfrm>
          <a:prstGeom prst="rect">
            <a:avLst/>
          </a:prstGeom>
        </p:spPr>
        <p:txBody>
          <a:bodyPr wrap="square">
            <a:spAutoFit/>
          </a:bodyPr>
          <a:lstStyle/>
          <a:p>
            <a:pPr>
              <a:buFont typeface="Arial" panose="020B0604020202020204" pitchFamily="34" charset="0"/>
              <a:buChar char="•"/>
            </a:pPr>
            <a:r>
              <a:rPr lang="zh-CN" altLang="en-US" sz="2800" b="1" kern="0" dirty="0">
                <a:solidFill>
                  <a:srgbClr val="FF0000"/>
                </a:solidFill>
                <a:latin typeface="楷体_GB2312" panose="02010609030101010101" pitchFamily="49" charset="-122"/>
                <a:ea typeface="楷体_GB2312" panose="02010609030101010101" pitchFamily="49" charset="-122"/>
                <a:cs typeface="+mn-ea"/>
              </a:rPr>
              <a:t>估计时主要有两种方法：余额百分比法、账龄分析法</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200" dirty="0">
                <a:solidFill>
                  <a:schemeClr val="tx1"/>
                </a:solidFill>
                <a:latin typeface="黑体" panose="02010609060101010101" pitchFamily="49" charset="-122"/>
                <a:ea typeface="黑体" panose="02010609060101010101" pitchFamily="49" charset="-122"/>
                <a:cs typeface="+mn-cs"/>
                <a:sym typeface="+mn-ea"/>
              </a:rPr>
              <a:t>余额百分比法</a:t>
            </a:r>
            <a:endParaRPr lang="zh-CN" altLang="en-US" dirty="0"/>
          </a:p>
        </p:txBody>
      </p:sp>
      <p:sp>
        <p:nvSpPr>
          <p:cNvPr id="3" name="内容占位符 2"/>
          <p:cNvSpPr>
            <a:spLocks noGrp="1"/>
          </p:cNvSpPr>
          <p:nvPr>
            <p:ph idx="1"/>
          </p:nvPr>
        </p:nvSpPr>
        <p:spPr>
          <a:xfrm>
            <a:off x="914612" y="2385378"/>
            <a:ext cx="10363200" cy="4114800"/>
          </a:xfrm>
        </p:spPr>
        <p:txBody>
          <a:bodyPr/>
          <a:lstStyle/>
          <a:p>
            <a:pPr eaLnBrk="1" hangingPunct="1">
              <a:buFont typeface="Wingdings" panose="05000000000000000000" pitchFamily="2" charset="2"/>
              <a:buChar char="v"/>
            </a:pPr>
            <a:r>
              <a:rPr lang="zh-CN" altLang="en-US" sz="2800" dirty="0">
                <a:latin typeface="楷体_GB2312" panose="02010609030101010101" pitchFamily="49" charset="-122"/>
                <a:ea typeface="楷体_GB2312" panose="02010609030101010101" pitchFamily="49" charset="-122"/>
                <a:cs typeface="+mn-ea"/>
                <a:sym typeface="+mn-ea"/>
              </a:rPr>
              <a:t>应收账款余额百分比法：是指按应收账款期末余额一定百分比计提坏账准备并估计坏账损失的方法</a:t>
            </a:r>
            <a:endParaRPr lang="zh-CN" altLang="en-US" sz="2800" dirty="0">
              <a:latin typeface="楷体_GB2312" panose="02010609030101010101" pitchFamily="49" charset="-122"/>
              <a:ea typeface="楷体_GB2312" panose="02010609030101010101" pitchFamily="49" charset="-122"/>
              <a:cs typeface="+mn-ea"/>
            </a:endParaRPr>
          </a:p>
          <a:p>
            <a:pPr eaLnBrk="1" hangingPunct="1">
              <a:buFont typeface="Wingdings" panose="05000000000000000000" pitchFamily="2" charset="2"/>
              <a:buChar char="v"/>
            </a:pPr>
            <a:r>
              <a:rPr lang="zh-CN" altLang="en-US" sz="2800" dirty="0">
                <a:latin typeface="楷体_GB2312" panose="02010609030101010101" pitchFamily="49" charset="-122"/>
                <a:ea typeface="楷体_GB2312" panose="02010609030101010101" pitchFamily="49" charset="-122"/>
                <a:cs typeface="+mn-ea"/>
                <a:sym typeface="+mn-ea"/>
              </a:rPr>
              <a:t>比如，P公司2×1</a:t>
            </a:r>
            <a:r>
              <a:rPr lang="en-US" altLang="zh-CN" sz="2800" dirty="0">
                <a:latin typeface="楷体_GB2312" panose="02010609030101010101" pitchFamily="49" charset="-122"/>
                <a:ea typeface="楷体_GB2312" panose="02010609030101010101" pitchFamily="49" charset="-122"/>
                <a:cs typeface="+mn-ea"/>
                <a:sym typeface="+mn-ea"/>
              </a:rPr>
              <a:t>9</a:t>
            </a:r>
            <a:r>
              <a:rPr lang="zh-CN" altLang="en-US" sz="2800" dirty="0">
                <a:latin typeface="楷体_GB2312" panose="02010609030101010101" pitchFamily="49" charset="-122"/>
                <a:ea typeface="楷体_GB2312" panose="02010609030101010101" pitchFamily="49" charset="-122"/>
                <a:cs typeface="+mn-ea"/>
                <a:sym typeface="+mn-ea"/>
              </a:rPr>
              <a:t>和2×</a:t>
            </a:r>
            <a:r>
              <a:rPr lang="en-US" altLang="zh-CN" sz="2800" dirty="0">
                <a:latin typeface="楷体_GB2312" panose="02010609030101010101" pitchFamily="49" charset="-122"/>
                <a:ea typeface="楷体_GB2312" panose="02010609030101010101" pitchFamily="49" charset="-122"/>
                <a:cs typeface="+mn-ea"/>
                <a:sym typeface="+mn-ea"/>
              </a:rPr>
              <a:t>20</a:t>
            </a:r>
            <a:r>
              <a:rPr lang="zh-CN" altLang="en-US" sz="2800" dirty="0">
                <a:latin typeface="楷体_GB2312" panose="02010609030101010101" pitchFamily="49" charset="-122"/>
                <a:ea typeface="楷体_GB2312" panose="02010609030101010101" pitchFamily="49" charset="-122"/>
                <a:cs typeface="+mn-ea"/>
                <a:sym typeface="+mn-ea"/>
              </a:rPr>
              <a:t>年末应收账款的余额分别为500 000和600 000元，根据规定可以按照应收账款余额的3%计提坏账准备，则2×1</a:t>
            </a:r>
            <a:r>
              <a:rPr lang="en-US" altLang="zh-CN" sz="2800" dirty="0">
                <a:latin typeface="楷体_GB2312" panose="02010609030101010101" pitchFamily="49" charset="-122"/>
                <a:ea typeface="楷体_GB2312" panose="02010609030101010101" pitchFamily="49" charset="-122"/>
                <a:cs typeface="+mn-ea"/>
                <a:sym typeface="+mn-ea"/>
              </a:rPr>
              <a:t>9</a:t>
            </a:r>
            <a:r>
              <a:rPr lang="zh-CN" altLang="en-US" sz="2800" dirty="0">
                <a:latin typeface="楷体_GB2312" panose="02010609030101010101" pitchFamily="49" charset="-122"/>
                <a:ea typeface="楷体_GB2312" panose="02010609030101010101" pitchFamily="49" charset="-122"/>
                <a:cs typeface="+mn-ea"/>
                <a:sym typeface="+mn-ea"/>
              </a:rPr>
              <a:t>和2×</a:t>
            </a:r>
            <a:r>
              <a:rPr lang="en-US" altLang="zh-CN" sz="2800" dirty="0">
                <a:latin typeface="楷体_GB2312" panose="02010609030101010101" pitchFamily="49" charset="-122"/>
                <a:ea typeface="楷体_GB2312" panose="02010609030101010101" pitchFamily="49" charset="-122"/>
                <a:cs typeface="+mn-ea"/>
                <a:sym typeface="+mn-ea"/>
              </a:rPr>
              <a:t>20</a:t>
            </a:r>
            <a:r>
              <a:rPr lang="zh-CN" altLang="en-US" sz="2800" dirty="0">
                <a:latin typeface="楷体_GB2312" panose="02010609030101010101" pitchFamily="49" charset="-122"/>
                <a:ea typeface="楷体_GB2312" panose="02010609030101010101" pitchFamily="49" charset="-122"/>
                <a:cs typeface="+mn-ea"/>
                <a:sym typeface="+mn-ea"/>
              </a:rPr>
              <a:t>年末坏账准备的应有余额分别为多少？</a:t>
            </a:r>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200" dirty="0">
                <a:solidFill>
                  <a:schemeClr val="tx1"/>
                </a:solidFill>
                <a:latin typeface="黑体" panose="02010609060101010101" pitchFamily="49" charset="-122"/>
                <a:ea typeface="黑体" panose="02010609060101010101" pitchFamily="49" charset="-122"/>
                <a:cs typeface="+mn-cs"/>
                <a:sym typeface="+mn-ea"/>
              </a:rPr>
              <a:t>采用余额百分比对坏账进行会计处理，要点如下：</a:t>
            </a:r>
            <a:endParaRPr lang="zh-CN" altLang="en-US" dirty="0"/>
          </a:p>
        </p:txBody>
      </p:sp>
      <p:sp>
        <p:nvSpPr>
          <p:cNvPr id="3" name="内容占位符 2"/>
          <p:cNvSpPr>
            <a:spLocks noGrp="1"/>
          </p:cNvSpPr>
          <p:nvPr>
            <p:ph idx="1"/>
          </p:nvPr>
        </p:nvSpPr>
        <p:spPr>
          <a:xfrm>
            <a:off x="1275080" y="2032000"/>
            <a:ext cx="9641840" cy="4114800"/>
          </a:xfrm>
        </p:spPr>
        <p:txBody>
          <a:bodyPr/>
          <a:lstStyle/>
          <a:p>
            <a:pPr marL="0" indent="0">
              <a:buNone/>
            </a:pPr>
            <a:r>
              <a:rPr lang="zh-CN" altLang="en-US" sz="2400" dirty="0">
                <a:latin typeface="+mn-ea"/>
                <a:ea typeface="+mn-ea"/>
                <a:cs typeface="+mn-ea"/>
                <a:sym typeface="+mn-ea"/>
              </a:rPr>
              <a:t>1、企业首次计提坏账准备时，按应收账款的余额和企业确定的坏账比例计算应提取的坏账准备，借记“信用减值损失”账户，贷记“坏账准备”账户。</a:t>
            </a:r>
            <a:endParaRPr lang="zh-CN" altLang="en-US" sz="2400" dirty="0">
              <a:latin typeface="+mn-ea"/>
              <a:ea typeface="+mn-ea"/>
              <a:cs typeface="+mn-ea"/>
            </a:endParaRPr>
          </a:p>
          <a:p>
            <a:pPr marL="0" indent="0">
              <a:buNone/>
            </a:pPr>
            <a:r>
              <a:rPr lang="zh-CN" altLang="en-US" sz="2400" dirty="0">
                <a:latin typeface="+mn-ea"/>
                <a:ea typeface="+mn-ea"/>
                <a:cs typeface="+mn-ea"/>
                <a:sym typeface="+mn-ea"/>
              </a:rPr>
              <a:t>2、发生坏账时，按实际发生的坏账金额，减少应收账款，同时冲销坏账准备。</a:t>
            </a:r>
            <a:endParaRPr lang="zh-CN" altLang="en-US" sz="2400" dirty="0">
              <a:latin typeface="+mn-ea"/>
              <a:ea typeface="+mn-ea"/>
              <a:cs typeface="+mn-ea"/>
            </a:endParaRPr>
          </a:p>
          <a:p>
            <a:pPr marL="0" indent="0">
              <a:buNone/>
            </a:pPr>
            <a:r>
              <a:rPr lang="zh-CN" altLang="en-US" sz="2400" dirty="0">
                <a:latin typeface="+mn-ea"/>
                <a:ea typeface="+mn-ea"/>
                <a:cs typeface="+mn-ea"/>
                <a:sym typeface="+mn-ea"/>
              </a:rPr>
              <a:t>3、已经发生的坏账又收回时，根据收回金额，先增加应收账款，转回已冲销的坏账准备；同时，借记“银行存款”等账户，贷记“应收账款”账户。</a:t>
            </a:r>
          </a:p>
          <a:p>
            <a:pPr marL="0" indent="0">
              <a:buNone/>
            </a:pPr>
            <a:r>
              <a:rPr lang="zh-CN" altLang="en-US" sz="2400" dirty="0">
                <a:latin typeface="+mn-ea"/>
                <a:ea typeface="+mn-ea"/>
                <a:cs typeface="+mn-ea"/>
                <a:sym typeface="+mn-ea"/>
              </a:rPr>
              <a:t>4、会计期末估计“坏账准备”的应有余额与期末计提坏账前“坏账准备”的已有余额有差异时，应将“坏账准备”的已有余额调整为应有余额。</a:t>
            </a:r>
            <a:endParaRPr lang="zh-CN" altLang="en-US" sz="2400" dirty="0">
              <a:latin typeface="+mn-ea"/>
              <a:ea typeface="+mn-ea"/>
              <a:cs typeface="+mn-e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a:xfrm>
            <a:off x="1200150" y="2181225"/>
            <a:ext cx="9792335" cy="4114800"/>
          </a:xfrm>
        </p:spPr>
        <p:txBody>
          <a:bodyPr/>
          <a:lstStyle/>
          <a:p>
            <a:pPr marL="0" indent="0">
              <a:buNone/>
            </a:pPr>
            <a:r>
              <a:rPr lang="en-US" altLang="zh-CN" sz="2800" dirty="0">
                <a:latin typeface="楷体_GB2312" panose="02010609030101010101" pitchFamily="49" charset="-122"/>
                <a:ea typeface="楷体_GB2312" panose="02010609030101010101" pitchFamily="49" charset="-122"/>
                <a:cs typeface="+mn-ea"/>
                <a:sym typeface="Wingdings 2" panose="05020102010507070707" charset="0"/>
              </a:rPr>
              <a:t></a:t>
            </a:r>
            <a:r>
              <a:rPr lang="zh-CN" altLang="en-US" sz="2800" dirty="0">
                <a:latin typeface="楷体_GB2312" panose="02010609030101010101" pitchFamily="49" charset="-122"/>
                <a:ea typeface="楷体_GB2312" panose="02010609030101010101" pitchFamily="49" charset="-122"/>
                <a:cs typeface="+mn-ea"/>
                <a:sym typeface="+mn-ea"/>
              </a:rPr>
              <a:t>期末“坏账准备”的应有余额</a:t>
            </a:r>
          </a:p>
          <a:p>
            <a:pPr marL="0" indent="0">
              <a:buNone/>
            </a:pPr>
            <a:r>
              <a:rPr lang="zh-CN" altLang="en-US" sz="2800" dirty="0">
                <a:latin typeface="楷体_GB2312" panose="02010609030101010101" pitchFamily="49" charset="-122"/>
                <a:ea typeface="楷体_GB2312" panose="02010609030101010101" pitchFamily="49" charset="-122"/>
                <a:cs typeface="+mn-ea"/>
                <a:sym typeface="+mn-ea"/>
              </a:rPr>
              <a:t>=期末应收账款账面余额×估计的坏账比例。</a:t>
            </a:r>
            <a:endParaRPr lang="zh-CN" altLang="en-US" sz="2800" dirty="0">
              <a:latin typeface="楷体_GB2312" panose="02010609030101010101" pitchFamily="49" charset="-122"/>
              <a:ea typeface="楷体_GB2312" panose="02010609030101010101" pitchFamily="49" charset="-122"/>
              <a:cs typeface="+mn-ea"/>
            </a:endParaRPr>
          </a:p>
          <a:p>
            <a:pPr marL="0" indent="0">
              <a:buNone/>
            </a:pPr>
            <a:r>
              <a:rPr lang="en-US" altLang="zh-CN" sz="2800" dirty="0">
                <a:latin typeface="楷体_GB2312" panose="02010609030101010101" pitchFamily="49" charset="-122"/>
                <a:ea typeface="楷体_GB2312" panose="02010609030101010101" pitchFamily="49" charset="-122"/>
                <a:cs typeface="+mn-ea"/>
                <a:sym typeface="Wingdings 2" panose="05020102010507070707" charset="0"/>
              </a:rPr>
              <a:t></a:t>
            </a:r>
            <a:r>
              <a:rPr lang="zh-CN" altLang="en-US" sz="2800" dirty="0">
                <a:latin typeface="楷体_GB2312" panose="02010609030101010101" pitchFamily="49" charset="-122"/>
                <a:ea typeface="楷体_GB2312" panose="02010609030101010101" pitchFamily="49" charset="-122"/>
                <a:cs typeface="+mn-ea"/>
                <a:sym typeface="+mn-ea"/>
              </a:rPr>
              <a:t>期末计提坏账前“坏账准备”的已有余额</a:t>
            </a:r>
            <a:endParaRPr lang="zh-CN" altLang="en-US" sz="2800" dirty="0">
              <a:latin typeface="楷体_GB2312" panose="02010609030101010101" pitchFamily="49" charset="-122"/>
              <a:ea typeface="楷体_GB2312" panose="02010609030101010101" pitchFamily="49" charset="-122"/>
              <a:cs typeface="+mn-ea"/>
            </a:endParaRPr>
          </a:p>
          <a:p>
            <a:pPr marL="0" indent="0">
              <a:buNone/>
            </a:pPr>
            <a:r>
              <a:rPr lang="zh-CN" altLang="en-US" sz="2800" dirty="0">
                <a:latin typeface="楷体_GB2312" panose="02010609030101010101" pitchFamily="49" charset="-122"/>
                <a:ea typeface="楷体_GB2312" panose="02010609030101010101" pitchFamily="49" charset="-122"/>
                <a:cs typeface="+mn-ea"/>
                <a:sym typeface="+mn-ea"/>
              </a:rPr>
              <a:t>=期初“坏账准备”账面余额+坏账准备的增加-坏账准备的减少。</a:t>
            </a:r>
            <a:endParaRPr lang="zh-CN" altLang="en-US" sz="2800" dirty="0">
              <a:latin typeface="楷体_GB2312" panose="02010609030101010101" pitchFamily="49" charset="-122"/>
              <a:ea typeface="楷体_GB2312" panose="02010609030101010101" pitchFamily="49" charset="-122"/>
              <a:cs typeface="+mn-ea"/>
            </a:endParaRPr>
          </a:p>
          <a:p>
            <a:pPr marL="0" indent="0">
              <a:buNone/>
            </a:pPr>
            <a:r>
              <a:rPr lang="zh-CN" altLang="en-US" sz="2800" dirty="0">
                <a:latin typeface="楷体_GB2312" panose="02010609030101010101" pitchFamily="49" charset="-122"/>
                <a:ea typeface="楷体_GB2312" panose="02010609030101010101" pitchFamily="49" charset="-122"/>
                <a:cs typeface="+mn-ea"/>
                <a:sym typeface="+mn-ea"/>
              </a:rPr>
              <a:t>=期初“坏账准备”账面余额+（当期已计提的坏账准备+当期收回已转销的坏账准备）-当期转销的坏账准备。</a:t>
            </a:r>
            <a:endParaRPr lang="zh-CN" altLang="en-US" sz="2800" dirty="0">
              <a:latin typeface="楷体_GB2312" panose="02010609030101010101" pitchFamily="49" charset="-122"/>
              <a:ea typeface="楷体_GB2312" panose="02010609030101010101" pitchFamily="49" charset="-122"/>
              <a:cs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200" dirty="0">
                <a:solidFill>
                  <a:schemeClr val="tx1"/>
                </a:solidFill>
                <a:latin typeface="黑体" panose="02010609060101010101" pitchFamily="49" charset="-122"/>
                <a:ea typeface="黑体" panose="02010609060101010101" pitchFamily="49" charset="-122"/>
                <a:cs typeface="+mn-cs"/>
                <a:sym typeface="+mn-ea"/>
              </a:rPr>
              <a:t>余额百分比法下当期应计提的坏账损失</a:t>
            </a:r>
            <a:endParaRPr lang="zh-CN" altLang="en-US" dirty="0"/>
          </a:p>
        </p:txBody>
      </p:sp>
      <p:sp>
        <p:nvSpPr>
          <p:cNvPr id="3" name="内容占位符 2"/>
          <p:cNvSpPr>
            <a:spLocks noGrp="1"/>
          </p:cNvSpPr>
          <p:nvPr>
            <p:ph idx="1"/>
          </p:nvPr>
        </p:nvSpPr>
        <p:spPr>
          <a:xfrm>
            <a:off x="914612" y="2071688"/>
            <a:ext cx="10363200" cy="4114800"/>
          </a:xfrm>
        </p:spPr>
        <p:txBody>
          <a:bodyPr/>
          <a:lstStyle/>
          <a:p>
            <a:pPr marL="0" indent="0" eaLnBrk="1" hangingPunct="1">
              <a:buFont typeface="Wingdings" panose="05000000000000000000" pitchFamily="2" charset="2"/>
              <a:buNone/>
            </a:pPr>
            <a:r>
              <a:rPr lang="zh-CN" altLang="en-US" sz="2800" dirty="0">
                <a:latin typeface="楷体_GB2312" panose="02010609030101010101" pitchFamily="49" charset="-122"/>
                <a:ea typeface="楷体_GB2312" panose="02010609030101010101" pitchFamily="49" charset="-122"/>
                <a:cs typeface="+mn-ea"/>
                <a:sym typeface="+mn-ea"/>
              </a:rPr>
              <a:t>比如，P公司2×</a:t>
            </a:r>
            <a:r>
              <a:rPr lang="en-US" altLang="zh-CN" sz="2800" dirty="0">
                <a:latin typeface="楷体_GB2312" panose="02010609030101010101" pitchFamily="49" charset="-122"/>
                <a:ea typeface="楷体_GB2312" panose="02010609030101010101" pitchFamily="49" charset="-122"/>
                <a:cs typeface="+mn-ea"/>
                <a:sym typeface="+mn-ea"/>
              </a:rPr>
              <a:t>20</a:t>
            </a:r>
            <a:r>
              <a:rPr lang="zh-CN" altLang="en-US" sz="2800" dirty="0">
                <a:latin typeface="楷体_GB2312" panose="02010609030101010101" pitchFamily="49" charset="-122"/>
                <a:ea typeface="楷体_GB2312" panose="02010609030101010101" pitchFamily="49" charset="-122"/>
                <a:cs typeface="+mn-ea"/>
                <a:sym typeface="+mn-ea"/>
              </a:rPr>
              <a:t>年末应收账款的余额为600 000元，根据规定可以按照应收账款余额的3%计提坏账准备，假定：</a:t>
            </a:r>
            <a:endParaRPr lang="zh-CN" altLang="en-US" sz="2800" dirty="0">
              <a:latin typeface="楷体_GB2312" panose="02010609030101010101" pitchFamily="49" charset="-122"/>
              <a:ea typeface="楷体_GB2312" panose="02010609030101010101" pitchFamily="49" charset="-122"/>
              <a:cs typeface="+mn-ea"/>
            </a:endParaRPr>
          </a:p>
          <a:p>
            <a:pPr eaLnBrk="1" hangingPunct="1">
              <a:buFont typeface="Wingdings" panose="05000000000000000000" pitchFamily="2" charset="2"/>
              <a:buChar char="v"/>
            </a:pPr>
            <a:r>
              <a:rPr lang="zh-CN" altLang="en-US" sz="2800" dirty="0">
                <a:latin typeface="楷体_GB2312" panose="02010609030101010101" pitchFamily="49" charset="-122"/>
                <a:ea typeface="楷体_GB2312" panose="02010609030101010101" pitchFamily="49" charset="-122"/>
                <a:cs typeface="+mn-ea"/>
                <a:sym typeface="+mn-ea"/>
              </a:rPr>
              <a:t>（1）P公司2×</a:t>
            </a:r>
            <a:r>
              <a:rPr lang="en-US" altLang="zh-CN" sz="2800" dirty="0">
                <a:latin typeface="楷体_GB2312" panose="02010609030101010101" pitchFamily="49" charset="-122"/>
                <a:ea typeface="楷体_GB2312" panose="02010609030101010101" pitchFamily="49" charset="-122"/>
                <a:cs typeface="+mn-ea"/>
                <a:sym typeface="+mn-ea"/>
              </a:rPr>
              <a:t>19</a:t>
            </a:r>
            <a:r>
              <a:rPr lang="zh-CN" altLang="en-US" sz="2800" dirty="0">
                <a:latin typeface="楷体_GB2312" panose="02010609030101010101" pitchFamily="49" charset="-122"/>
                <a:ea typeface="楷体_GB2312" panose="02010609030101010101" pitchFamily="49" charset="-122"/>
                <a:cs typeface="+mn-ea"/>
                <a:sym typeface="+mn-ea"/>
              </a:rPr>
              <a:t>年“坏账准备”账户的余额为0，则2×</a:t>
            </a:r>
            <a:r>
              <a:rPr lang="en-US" altLang="zh-CN" sz="2800" dirty="0">
                <a:latin typeface="楷体_GB2312" panose="02010609030101010101" pitchFamily="49" charset="-122"/>
                <a:ea typeface="楷体_GB2312" panose="02010609030101010101" pitchFamily="49" charset="-122"/>
                <a:cs typeface="+mn-ea"/>
                <a:sym typeface="+mn-ea"/>
              </a:rPr>
              <a:t>20</a:t>
            </a:r>
            <a:r>
              <a:rPr lang="zh-CN" altLang="en-US" sz="2800" dirty="0">
                <a:latin typeface="楷体_GB2312" panose="02010609030101010101" pitchFamily="49" charset="-122"/>
                <a:ea typeface="楷体_GB2312" panose="02010609030101010101" pitchFamily="49" charset="-122"/>
                <a:cs typeface="+mn-ea"/>
                <a:sym typeface="+mn-ea"/>
              </a:rPr>
              <a:t>年应计提的坏账损失应为多少？</a:t>
            </a:r>
            <a:endParaRPr lang="zh-CN" altLang="en-US" sz="2800" dirty="0">
              <a:latin typeface="楷体_GB2312" panose="02010609030101010101" pitchFamily="49" charset="-122"/>
              <a:ea typeface="楷体_GB2312" panose="02010609030101010101" pitchFamily="49" charset="-122"/>
              <a:cs typeface="+mn-ea"/>
            </a:endParaRPr>
          </a:p>
          <a:p>
            <a:pPr eaLnBrk="1" hangingPunct="1">
              <a:buFont typeface="Wingdings" panose="05000000000000000000" pitchFamily="2" charset="2"/>
              <a:buChar char="v"/>
            </a:pPr>
            <a:r>
              <a:rPr lang="zh-CN" altLang="en-US" sz="2800" dirty="0">
                <a:latin typeface="楷体_GB2312" panose="02010609030101010101" pitchFamily="49" charset="-122"/>
                <a:ea typeface="楷体_GB2312" panose="02010609030101010101" pitchFamily="49" charset="-122"/>
                <a:cs typeface="+mn-ea"/>
                <a:sym typeface="+mn-ea"/>
              </a:rPr>
              <a:t>（2）P公司2×</a:t>
            </a:r>
            <a:r>
              <a:rPr lang="en-US" altLang="zh-CN" sz="2800" dirty="0">
                <a:latin typeface="楷体_GB2312" panose="02010609030101010101" pitchFamily="49" charset="-122"/>
                <a:ea typeface="楷体_GB2312" panose="02010609030101010101" pitchFamily="49" charset="-122"/>
                <a:cs typeface="+mn-ea"/>
                <a:sym typeface="+mn-ea"/>
              </a:rPr>
              <a:t>19</a:t>
            </a:r>
            <a:r>
              <a:rPr lang="zh-CN" altLang="en-US" sz="2800" dirty="0">
                <a:latin typeface="楷体_GB2312" panose="02010609030101010101" pitchFamily="49" charset="-122"/>
                <a:ea typeface="楷体_GB2312" panose="02010609030101010101" pitchFamily="49" charset="-122"/>
                <a:cs typeface="+mn-ea"/>
                <a:sym typeface="+mn-ea"/>
              </a:rPr>
              <a:t>年“坏账准备”账户的余额为8 000，则2×</a:t>
            </a:r>
            <a:r>
              <a:rPr lang="en-US" altLang="zh-CN" sz="2800" dirty="0">
                <a:latin typeface="楷体_GB2312" panose="02010609030101010101" pitchFamily="49" charset="-122"/>
                <a:ea typeface="楷体_GB2312" panose="02010609030101010101" pitchFamily="49" charset="-122"/>
                <a:cs typeface="+mn-ea"/>
                <a:sym typeface="+mn-ea"/>
              </a:rPr>
              <a:t>20</a:t>
            </a:r>
            <a:r>
              <a:rPr lang="zh-CN" altLang="en-US" sz="2800" dirty="0">
                <a:latin typeface="楷体_GB2312" panose="02010609030101010101" pitchFamily="49" charset="-122"/>
                <a:ea typeface="楷体_GB2312" panose="02010609030101010101" pitchFamily="49" charset="-122"/>
                <a:cs typeface="+mn-ea"/>
                <a:sym typeface="+mn-ea"/>
              </a:rPr>
              <a:t>年应计提的坏账损失应为多少？</a:t>
            </a:r>
            <a:endParaRPr lang="zh-CN" altLang="en-US" sz="2800" dirty="0">
              <a:latin typeface="楷体_GB2312" panose="02010609030101010101" pitchFamily="49" charset="-122"/>
              <a:ea typeface="楷体_GB2312" panose="02010609030101010101" pitchFamily="49" charset="-122"/>
              <a:cs typeface="+mn-ea"/>
            </a:endParaRPr>
          </a:p>
          <a:p>
            <a:pPr eaLnBrk="1" hangingPunct="1">
              <a:buFont typeface="Wingdings" panose="05000000000000000000" pitchFamily="2" charset="2"/>
              <a:buChar char="v"/>
            </a:pPr>
            <a:r>
              <a:rPr lang="zh-CN" altLang="en-US" sz="2800" dirty="0">
                <a:latin typeface="楷体_GB2312" panose="02010609030101010101" pitchFamily="49" charset="-122"/>
                <a:ea typeface="楷体_GB2312" panose="02010609030101010101" pitchFamily="49" charset="-122"/>
                <a:cs typeface="+mn-ea"/>
                <a:sym typeface="+mn-ea"/>
              </a:rPr>
              <a:t>（3）P公司2×</a:t>
            </a:r>
            <a:r>
              <a:rPr lang="en-US" altLang="zh-CN" sz="2800" dirty="0">
                <a:latin typeface="楷体_GB2312" panose="02010609030101010101" pitchFamily="49" charset="-122"/>
                <a:ea typeface="楷体_GB2312" panose="02010609030101010101" pitchFamily="49" charset="-122"/>
                <a:cs typeface="+mn-ea"/>
                <a:sym typeface="+mn-ea"/>
              </a:rPr>
              <a:t>19</a:t>
            </a:r>
            <a:r>
              <a:rPr lang="zh-CN" altLang="en-US" sz="2800" dirty="0">
                <a:latin typeface="楷体_GB2312" panose="02010609030101010101" pitchFamily="49" charset="-122"/>
                <a:ea typeface="楷体_GB2312" panose="02010609030101010101" pitchFamily="49" charset="-122"/>
                <a:cs typeface="+mn-ea"/>
                <a:sym typeface="+mn-ea"/>
              </a:rPr>
              <a:t>年“坏账准备”账户的余额为20 000，则2×</a:t>
            </a:r>
            <a:r>
              <a:rPr lang="en-US" altLang="zh-CN" sz="2800" dirty="0">
                <a:latin typeface="楷体_GB2312" panose="02010609030101010101" pitchFamily="49" charset="-122"/>
                <a:ea typeface="楷体_GB2312" panose="02010609030101010101" pitchFamily="49" charset="-122"/>
                <a:cs typeface="+mn-ea"/>
                <a:sym typeface="+mn-ea"/>
              </a:rPr>
              <a:t>20</a:t>
            </a:r>
            <a:r>
              <a:rPr lang="zh-CN" altLang="en-US" sz="2800" dirty="0">
                <a:latin typeface="楷体_GB2312" panose="02010609030101010101" pitchFamily="49" charset="-122"/>
                <a:ea typeface="楷体_GB2312" panose="02010609030101010101" pitchFamily="49" charset="-122"/>
                <a:cs typeface="+mn-ea"/>
                <a:sym typeface="+mn-ea"/>
              </a:rPr>
              <a:t>年应计提的坏账损失应为多少？</a:t>
            </a:r>
            <a:endParaRPr lang="zh-CN" altLang="en-US" sz="2800" dirty="0">
              <a:latin typeface="楷体_GB2312" panose="02010609030101010101" pitchFamily="49" charset="-122"/>
              <a:ea typeface="楷体_GB2312" panose="02010609030101010101" pitchFamily="49" charset="-122"/>
              <a:cs typeface="+mn-ea"/>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200" dirty="0">
                <a:solidFill>
                  <a:schemeClr val="tx1"/>
                </a:solidFill>
                <a:latin typeface="黑体" panose="02010609060101010101" pitchFamily="49" charset="-122"/>
                <a:ea typeface="黑体" panose="02010609060101010101" pitchFamily="49" charset="-122"/>
                <a:cs typeface="+mn-cs"/>
                <a:sym typeface="+mn-ea"/>
              </a:rPr>
              <a:t>应收账款减值会计处理举例</a:t>
            </a:r>
            <a:endParaRPr lang="zh-CN" altLang="en-US" sz="3200" dirty="0">
              <a:solidFill>
                <a:schemeClr val="tx1"/>
              </a:solidFill>
              <a:latin typeface="黑体" panose="02010609060101010101" pitchFamily="49" charset="-122"/>
              <a:ea typeface="黑体" panose="02010609060101010101" pitchFamily="49" charset="-122"/>
              <a:cs typeface="+mn-cs"/>
            </a:endParaRPr>
          </a:p>
        </p:txBody>
      </p:sp>
      <p:sp>
        <p:nvSpPr>
          <p:cNvPr id="3" name="内容占位符 2"/>
          <p:cNvSpPr>
            <a:spLocks noGrp="1"/>
          </p:cNvSpPr>
          <p:nvPr>
            <p:ph idx="1"/>
          </p:nvPr>
        </p:nvSpPr>
        <p:spPr>
          <a:xfrm>
            <a:off x="914400" y="2888615"/>
            <a:ext cx="9900920" cy="2700655"/>
          </a:xfrm>
        </p:spPr>
        <p:txBody>
          <a:bodyPr/>
          <a:lstStyle/>
          <a:p>
            <a:pPr marL="0" indent="0">
              <a:buNone/>
            </a:pPr>
            <a:r>
              <a:rPr lang="zh-CN" altLang="en-US" sz="2800" dirty="0">
                <a:latin typeface="楷体_GB2312" panose="02010609030101010101" pitchFamily="49" charset="-122"/>
                <a:ea typeface="楷体_GB2312" panose="02010609030101010101" pitchFamily="49" charset="-122"/>
                <a:cs typeface="+mn-ea"/>
                <a:sym typeface="+mn-ea"/>
              </a:rPr>
              <a:t>【示例】P公司2×1</a:t>
            </a:r>
            <a:r>
              <a:rPr lang="en-US" altLang="zh-CN" sz="2800" dirty="0">
                <a:latin typeface="楷体_GB2312" panose="02010609030101010101" pitchFamily="49" charset="-122"/>
                <a:ea typeface="楷体_GB2312" panose="02010609030101010101" pitchFamily="49" charset="-122"/>
                <a:cs typeface="+mn-ea"/>
                <a:sym typeface="+mn-ea"/>
              </a:rPr>
              <a:t>9</a:t>
            </a:r>
            <a:r>
              <a:rPr lang="zh-CN" altLang="en-US" sz="2800" dirty="0">
                <a:latin typeface="楷体_GB2312" panose="02010609030101010101" pitchFamily="49" charset="-122"/>
                <a:ea typeface="楷体_GB2312" panose="02010609030101010101" pitchFamily="49" charset="-122"/>
                <a:cs typeface="+mn-ea"/>
                <a:sym typeface="+mn-ea"/>
              </a:rPr>
              <a:t>年“坏账准备”账户的余额为8 000。2×</a:t>
            </a:r>
            <a:r>
              <a:rPr lang="en-US" altLang="zh-CN" sz="2800" dirty="0">
                <a:latin typeface="楷体_GB2312" panose="02010609030101010101" pitchFamily="49" charset="-122"/>
                <a:ea typeface="楷体_GB2312" panose="02010609030101010101" pitchFamily="49" charset="-122"/>
                <a:cs typeface="+mn-ea"/>
                <a:sym typeface="+mn-ea"/>
              </a:rPr>
              <a:t>20</a:t>
            </a:r>
            <a:r>
              <a:rPr lang="zh-CN" altLang="en-US" sz="2800" dirty="0">
                <a:latin typeface="楷体_GB2312" panose="02010609030101010101" pitchFamily="49" charset="-122"/>
                <a:ea typeface="楷体_GB2312" panose="02010609030101010101" pitchFamily="49" charset="-122"/>
                <a:cs typeface="+mn-ea"/>
                <a:sym typeface="+mn-ea"/>
              </a:rPr>
              <a:t>年实际发生坏账损失2 000元。2×</a:t>
            </a:r>
            <a:r>
              <a:rPr lang="en-US" altLang="zh-CN" sz="2800" dirty="0">
                <a:latin typeface="楷体_GB2312" panose="02010609030101010101" pitchFamily="49" charset="-122"/>
                <a:ea typeface="楷体_GB2312" panose="02010609030101010101" pitchFamily="49" charset="-122"/>
                <a:cs typeface="+mn-ea"/>
                <a:sym typeface="+mn-ea"/>
              </a:rPr>
              <a:t>20</a:t>
            </a:r>
            <a:r>
              <a:rPr lang="zh-CN" altLang="en-US" sz="2800" dirty="0">
                <a:latin typeface="楷体_GB2312" panose="02010609030101010101" pitchFamily="49" charset="-122"/>
                <a:ea typeface="楷体_GB2312" panose="02010609030101010101" pitchFamily="49" charset="-122"/>
                <a:cs typeface="+mn-ea"/>
                <a:sym typeface="+mn-ea"/>
              </a:rPr>
              <a:t>年末应收账款的余额为600 000元，P公司按照应收账款余额的3%计提坏账准备，则2×</a:t>
            </a:r>
            <a:r>
              <a:rPr lang="en-US" altLang="zh-CN" sz="2800" dirty="0">
                <a:latin typeface="楷体_GB2312" panose="02010609030101010101" pitchFamily="49" charset="-122"/>
                <a:ea typeface="楷体_GB2312" panose="02010609030101010101" pitchFamily="49" charset="-122"/>
                <a:cs typeface="+mn-ea"/>
                <a:sym typeface="+mn-ea"/>
              </a:rPr>
              <a:t>20</a:t>
            </a:r>
            <a:r>
              <a:rPr lang="zh-CN" altLang="en-US" sz="2800" dirty="0">
                <a:latin typeface="楷体_GB2312" panose="02010609030101010101" pitchFamily="49" charset="-122"/>
                <a:ea typeface="楷体_GB2312" panose="02010609030101010101" pitchFamily="49" charset="-122"/>
                <a:cs typeface="+mn-ea"/>
                <a:sym typeface="+mn-ea"/>
              </a:rPr>
              <a:t>年应如何进行会计处理？</a:t>
            </a:r>
            <a:endParaRPr lang="zh-CN" altLang="en-US" sz="2800" dirty="0">
              <a:latin typeface="楷体_GB2312" panose="02010609030101010101" pitchFamily="49" charset="-122"/>
              <a:ea typeface="楷体_GB2312" panose="02010609030101010101" pitchFamily="49" charset="-122"/>
              <a:cs typeface="+mn-e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a:xfrm>
            <a:off x="914400" y="2004695"/>
            <a:ext cx="8881110" cy="4114800"/>
          </a:xfrm>
        </p:spPr>
        <p:txBody>
          <a:bodyPr/>
          <a:lstStyle/>
          <a:p>
            <a:pPr marL="0" indent="0" eaLnBrk="1" hangingPunct="1">
              <a:buNone/>
            </a:pPr>
            <a:r>
              <a:rPr lang="zh-CN" altLang="en-US" sz="2800" dirty="0">
                <a:latin typeface="楷体_GB2312" panose="02010609030101010101" pitchFamily="49" charset="-122"/>
                <a:ea typeface="楷体_GB2312" panose="02010609030101010101" pitchFamily="49" charset="-122"/>
                <a:cs typeface="+mn-ea"/>
                <a:sym typeface="+mn-ea"/>
              </a:rPr>
              <a:t>2×</a:t>
            </a:r>
            <a:r>
              <a:rPr lang="en-US" altLang="zh-CN" sz="2800" dirty="0">
                <a:latin typeface="楷体_GB2312" panose="02010609030101010101" pitchFamily="49" charset="-122"/>
                <a:ea typeface="楷体_GB2312" panose="02010609030101010101" pitchFamily="49" charset="-122"/>
                <a:cs typeface="+mn-ea"/>
                <a:sym typeface="+mn-ea"/>
              </a:rPr>
              <a:t>20</a:t>
            </a:r>
            <a:r>
              <a:rPr lang="zh-CN" altLang="en-US" sz="2800" dirty="0">
                <a:latin typeface="楷体_GB2312" panose="02010609030101010101" pitchFamily="49" charset="-122"/>
                <a:ea typeface="楷体_GB2312" panose="02010609030101010101" pitchFamily="49" charset="-122"/>
                <a:cs typeface="+mn-ea"/>
                <a:sym typeface="+mn-ea"/>
              </a:rPr>
              <a:t>年发生坏账时：借：坏账准备  2 000</a:t>
            </a:r>
            <a:endParaRPr lang="zh-CN" altLang="en-US" sz="2800" dirty="0">
              <a:latin typeface="楷体_GB2312" panose="02010609030101010101" pitchFamily="49" charset="-122"/>
              <a:ea typeface="楷体_GB2312" panose="02010609030101010101" pitchFamily="49" charset="-122"/>
              <a:cs typeface="+mn-ea"/>
            </a:endParaRPr>
          </a:p>
          <a:p>
            <a:pPr marL="0" indent="0" eaLnBrk="1" hangingPunct="1">
              <a:buNone/>
            </a:pPr>
            <a:r>
              <a:rPr lang="zh-CN" altLang="en-US" sz="2800" dirty="0">
                <a:latin typeface="楷体_GB2312" panose="02010609030101010101" pitchFamily="49" charset="-122"/>
                <a:ea typeface="楷体_GB2312" panose="02010609030101010101" pitchFamily="49" charset="-122"/>
                <a:cs typeface="+mn-ea"/>
                <a:sym typeface="+mn-ea"/>
              </a:rPr>
              <a:t>                      贷：应收账款  2000</a:t>
            </a:r>
            <a:endParaRPr lang="zh-CN" altLang="en-US" sz="2800" dirty="0">
              <a:latin typeface="楷体_GB2312" panose="02010609030101010101" pitchFamily="49" charset="-122"/>
              <a:ea typeface="楷体_GB2312" panose="02010609030101010101" pitchFamily="49" charset="-122"/>
              <a:cs typeface="+mn-ea"/>
            </a:endParaRPr>
          </a:p>
          <a:p>
            <a:pPr marL="0" indent="0" eaLnBrk="1" hangingPunct="1">
              <a:buNone/>
            </a:pPr>
            <a:r>
              <a:rPr lang="zh-CN" altLang="en-US" sz="2800" dirty="0">
                <a:latin typeface="楷体_GB2312" panose="02010609030101010101" pitchFamily="49" charset="-122"/>
                <a:ea typeface="楷体_GB2312" panose="02010609030101010101" pitchFamily="49" charset="-122"/>
                <a:cs typeface="+mn-ea"/>
                <a:sym typeface="+mn-ea"/>
              </a:rPr>
              <a:t>2×</a:t>
            </a:r>
            <a:r>
              <a:rPr lang="en-US" altLang="zh-CN" sz="2800" dirty="0">
                <a:latin typeface="楷体_GB2312" panose="02010609030101010101" pitchFamily="49" charset="-122"/>
                <a:ea typeface="楷体_GB2312" panose="02010609030101010101" pitchFamily="49" charset="-122"/>
                <a:cs typeface="+mn-ea"/>
                <a:sym typeface="+mn-ea"/>
              </a:rPr>
              <a:t>20</a:t>
            </a:r>
            <a:r>
              <a:rPr lang="zh-CN" altLang="en-US" sz="2800" dirty="0">
                <a:latin typeface="楷体_GB2312" panose="02010609030101010101" pitchFamily="49" charset="-122"/>
                <a:ea typeface="楷体_GB2312" panose="02010609030101010101" pitchFamily="49" charset="-122"/>
                <a:cs typeface="+mn-ea"/>
                <a:sym typeface="+mn-ea"/>
              </a:rPr>
              <a:t>年坏账准备的应有余额为600 000×3%=18 000元，坏账准备账户余额=8 000-2 000=6 000</a:t>
            </a:r>
            <a:endParaRPr lang="zh-CN" altLang="en-US" sz="2800" dirty="0">
              <a:latin typeface="楷体_GB2312" panose="02010609030101010101" pitchFamily="49" charset="-122"/>
              <a:ea typeface="楷体_GB2312" panose="02010609030101010101" pitchFamily="49" charset="-122"/>
              <a:cs typeface="+mn-ea"/>
            </a:endParaRPr>
          </a:p>
          <a:p>
            <a:pPr marL="0" indent="0" eaLnBrk="1" hangingPunct="1">
              <a:buNone/>
            </a:pPr>
            <a:r>
              <a:rPr lang="zh-CN" altLang="en-US" sz="2800" dirty="0">
                <a:latin typeface="楷体_GB2312" panose="02010609030101010101" pitchFamily="49" charset="-122"/>
                <a:ea typeface="楷体_GB2312" panose="02010609030101010101" pitchFamily="49" charset="-122"/>
                <a:cs typeface="+mn-ea"/>
                <a:sym typeface="+mn-ea"/>
              </a:rPr>
              <a:t>当年应计提的坏账损失=18 000-6 000=12 000</a:t>
            </a:r>
            <a:endParaRPr lang="zh-CN" altLang="en-US" sz="2800" dirty="0">
              <a:latin typeface="楷体_GB2312" panose="02010609030101010101" pitchFamily="49" charset="-122"/>
              <a:ea typeface="楷体_GB2312" panose="02010609030101010101" pitchFamily="49" charset="-122"/>
              <a:cs typeface="+mn-ea"/>
            </a:endParaRPr>
          </a:p>
          <a:p>
            <a:pPr marL="0" indent="0" eaLnBrk="1" hangingPunct="1">
              <a:buNone/>
            </a:pPr>
            <a:r>
              <a:rPr lang="zh-CN" altLang="en-US" sz="2800" dirty="0">
                <a:latin typeface="楷体_GB2312" panose="02010609030101010101" pitchFamily="49" charset="-122"/>
                <a:ea typeface="楷体_GB2312" panose="02010609030101010101" pitchFamily="49" charset="-122"/>
                <a:cs typeface="+mn-ea"/>
                <a:sym typeface="+mn-ea"/>
              </a:rPr>
              <a:t>计提坏账准备：借：信用减值损失  12 000</a:t>
            </a:r>
            <a:endParaRPr lang="zh-CN" altLang="en-US" sz="2800" dirty="0">
              <a:latin typeface="楷体_GB2312" panose="02010609030101010101" pitchFamily="49" charset="-122"/>
              <a:ea typeface="楷体_GB2312" panose="02010609030101010101" pitchFamily="49" charset="-122"/>
              <a:cs typeface="+mn-ea"/>
            </a:endParaRPr>
          </a:p>
          <a:p>
            <a:pPr marL="0" indent="0" algn="l" eaLnBrk="1" hangingPunct="1">
              <a:buNone/>
            </a:pPr>
            <a:r>
              <a:rPr lang="zh-CN" altLang="en-US" sz="2800" dirty="0">
                <a:latin typeface="楷体_GB2312" panose="02010609030101010101" pitchFamily="49" charset="-122"/>
                <a:ea typeface="楷体_GB2312" panose="02010609030101010101" pitchFamily="49" charset="-122"/>
                <a:cs typeface="+mn-ea"/>
                <a:sym typeface="+mn-ea"/>
              </a:rPr>
              <a:t>                  贷：坏账准备     12 000</a:t>
            </a:r>
            <a:endParaRPr lang="zh-CN" altLang="en-US" sz="2800" dirty="0">
              <a:latin typeface="楷体_GB2312" panose="02010609030101010101" pitchFamily="49" charset="-122"/>
              <a:ea typeface="楷体_GB2312" panose="02010609030101010101" pitchFamily="49" charset="-122"/>
              <a:cs typeface="+mn-ea"/>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200" dirty="0">
                <a:solidFill>
                  <a:schemeClr val="tx1"/>
                </a:solidFill>
                <a:latin typeface="黑体" panose="02010609060101010101" pitchFamily="49" charset="-122"/>
                <a:ea typeface="黑体" panose="02010609060101010101" pitchFamily="49" charset="-122"/>
                <a:cs typeface="+mn-cs"/>
                <a:sym typeface="+mn-ea"/>
              </a:rPr>
              <a:t>账龄分析法</a:t>
            </a:r>
            <a:endParaRPr lang="zh-CN" altLang="en-US" dirty="0"/>
          </a:p>
        </p:txBody>
      </p:sp>
      <p:sp>
        <p:nvSpPr>
          <p:cNvPr id="3" name="内容占位符 2"/>
          <p:cNvSpPr>
            <a:spLocks noGrp="1"/>
          </p:cNvSpPr>
          <p:nvPr>
            <p:ph idx="1"/>
          </p:nvPr>
        </p:nvSpPr>
        <p:spPr>
          <a:xfrm>
            <a:off x="914612" y="2058353"/>
            <a:ext cx="10363200" cy="4114800"/>
          </a:xfrm>
        </p:spPr>
        <p:txBody>
          <a:bodyPr/>
          <a:lstStyle/>
          <a:p>
            <a:pPr eaLnBrk="1" hangingPunct="1">
              <a:buFont typeface="Wingdings" panose="05000000000000000000" pitchFamily="2" charset="2"/>
              <a:buChar char="v"/>
            </a:pPr>
            <a:r>
              <a:rPr lang="zh-CN" altLang="en-US" sz="2800" dirty="0">
                <a:latin typeface="楷体_GB2312" panose="02010609030101010101" pitchFamily="49" charset="-122"/>
                <a:ea typeface="楷体_GB2312" panose="02010609030101010101" pitchFamily="49" charset="-122"/>
                <a:cs typeface="+mn-ea"/>
                <a:sym typeface="+mn-ea"/>
              </a:rPr>
              <a:t>账龄分析法是按照各应收账款账龄的长短、特性及收回的可能性概率为依据估计坏账损失的方法</a:t>
            </a:r>
            <a:endParaRPr lang="zh-CN" altLang="en-US" sz="2800" dirty="0">
              <a:latin typeface="楷体_GB2312" panose="02010609030101010101" pitchFamily="49" charset="-122"/>
              <a:ea typeface="楷体_GB2312" panose="02010609030101010101" pitchFamily="49" charset="-122"/>
              <a:cs typeface="+mn-ea"/>
            </a:endParaRPr>
          </a:p>
          <a:p>
            <a:pPr eaLnBrk="1" hangingPunct="1">
              <a:buFont typeface="Wingdings" panose="05000000000000000000" pitchFamily="2" charset="2"/>
              <a:buChar char="v"/>
            </a:pPr>
            <a:endParaRPr lang="zh-CN" altLang="en-US" sz="2800" dirty="0">
              <a:latin typeface="楷体_GB2312" panose="02010609030101010101" pitchFamily="49" charset="-122"/>
              <a:ea typeface="楷体_GB2312" panose="02010609030101010101" pitchFamily="49" charset="-122"/>
              <a:cs typeface="+mn-ea"/>
            </a:endParaRPr>
          </a:p>
          <a:p>
            <a:pPr eaLnBrk="1" hangingPunct="1">
              <a:buFont typeface="Wingdings" panose="05000000000000000000" pitchFamily="2" charset="2"/>
              <a:buChar char="v"/>
            </a:pPr>
            <a:r>
              <a:rPr lang="zh-CN" altLang="en-US" sz="2800" dirty="0">
                <a:latin typeface="楷体_GB2312" panose="02010609030101010101" pitchFamily="49" charset="-122"/>
                <a:ea typeface="楷体_GB2312" panose="02010609030101010101" pitchFamily="49" charset="-122"/>
                <a:cs typeface="+mn-ea"/>
                <a:sym typeface="+mn-ea"/>
              </a:rPr>
              <a:t>较应收账款余额百分比而言，账龄分析法考虑不同账龄和坏账损失的关系</a:t>
            </a:r>
            <a:endParaRPr lang="zh-CN" altLang="en-US" sz="2800" dirty="0">
              <a:latin typeface="楷体_GB2312" panose="02010609030101010101" pitchFamily="49" charset="-122"/>
              <a:ea typeface="楷体_GB2312" panose="02010609030101010101" pitchFamily="49" charset="-122"/>
              <a:cs typeface="+mn-ea"/>
            </a:endParaRPr>
          </a:p>
          <a:p>
            <a:pPr eaLnBrk="1" hangingPunct="1">
              <a:buFont typeface="Wingdings" panose="05000000000000000000" pitchFamily="2" charset="2"/>
              <a:buChar char="v"/>
            </a:pPr>
            <a:endParaRPr lang="zh-CN" altLang="en-US" sz="2800" dirty="0">
              <a:latin typeface="楷体_GB2312" panose="02010609030101010101" pitchFamily="49" charset="-122"/>
              <a:ea typeface="楷体_GB2312" panose="02010609030101010101" pitchFamily="49" charset="-122"/>
              <a:cs typeface="+mn-ea"/>
            </a:endParaRPr>
          </a:p>
          <a:p>
            <a:pPr eaLnBrk="1" hangingPunct="1">
              <a:buFont typeface="Wingdings" panose="05000000000000000000" pitchFamily="2" charset="2"/>
              <a:buChar char="v"/>
            </a:pPr>
            <a:r>
              <a:rPr lang="zh-CN" altLang="en-US" sz="2800" dirty="0">
                <a:latin typeface="楷体_GB2312" panose="02010609030101010101" pitchFamily="49" charset="-122"/>
                <a:ea typeface="楷体_GB2312" panose="02010609030101010101" pitchFamily="49" charset="-122"/>
                <a:cs typeface="+mn-ea"/>
                <a:sym typeface="+mn-ea"/>
              </a:rPr>
              <a:t>通常，应收款项的账龄越长，发生坏账的风险就越大</a:t>
            </a:r>
            <a:endParaRPr lang="zh-CN" altLang="en-US" sz="2800" dirty="0">
              <a:latin typeface="楷体_GB2312" panose="02010609030101010101" pitchFamily="49" charset="-122"/>
              <a:ea typeface="楷体_GB2312" panose="02010609030101010101" pitchFamily="49" charset="-122"/>
              <a:cs typeface="+mn-ea"/>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200" dirty="0">
                <a:solidFill>
                  <a:schemeClr val="tx1"/>
                </a:solidFill>
                <a:latin typeface="黑体" panose="02010609060101010101" pitchFamily="49" charset="-122"/>
                <a:ea typeface="黑体" panose="02010609060101010101" pitchFamily="49" charset="-122"/>
                <a:cs typeface="+mn-cs"/>
                <a:sym typeface="+mn-ea"/>
              </a:rPr>
              <a:t>西宁特钢(600117，2018)</a:t>
            </a:r>
            <a:endParaRPr lang="zh-CN" altLang="en-US" sz="3200" dirty="0">
              <a:solidFill>
                <a:schemeClr val="tx1"/>
              </a:solidFill>
              <a:latin typeface="黑体" panose="02010609060101010101" pitchFamily="49" charset="-122"/>
              <a:ea typeface="黑体" panose="02010609060101010101" pitchFamily="49" charset="-122"/>
              <a:cs typeface="+mn-cs"/>
            </a:endParaRPr>
          </a:p>
        </p:txBody>
      </p:sp>
      <p:sp>
        <p:nvSpPr>
          <p:cNvPr id="3" name="内容占位符 2"/>
          <p:cNvSpPr>
            <a:spLocks noGrp="1"/>
          </p:cNvSpPr>
          <p:nvPr>
            <p:ph idx="1"/>
          </p:nvPr>
        </p:nvSpPr>
        <p:spPr>
          <a:xfrm>
            <a:off x="1180465" y="2275840"/>
            <a:ext cx="9588500" cy="2306320"/>
          </a:xfrm>
        </p:spPr>
        <p:txBody>
          <a:bodyPr/>
          <a:lstStyle/>
          <a:p>
            <a:pPr marL="0" indent="0" eaLnBrk="1" hangingPunct="1">
              <a:buFont typeface="Wingdings" panose="05000000000000000000" pitchFamily="2" charset="2"/>
              <a:buNone/>
            </a:pPr>
            <a:r>
              <a:rPr lang="zh-CN" altLang="en-US" sz="2800" dirty="0">
                <a:latin typeface="楷体_GB2312" panose="02010609030101010101" pitchFamily="49" charset="-122"/>
                <a:ea typeface="楷体_GB2312" panose="02010609030101010101" pitchFamily="49" charset="-122"/>
                <a:cs typeface="+mn-ea"/>
                <a:sym typeface="+mn-ea"/>
              </a:rPr>
              <a:t>2018年报报表附注披露：</a:t>
            </a:r>
            <a:endParaRPr lang="zh-CN" altLang="en-US" sz="2800" dirty="0">
              <a:latin typeface="楷体_GB2312" panose="02010609030101010101" pitchFamily="49" charset="-122"/>
              <a:ea typeface="楷体_GB2312" panose="02010609030101010101" pitchFamily="49" charset="-122"/>
              <a:cs typeface="+mn-ea"/>
            </a:endParaRPr>
          </a:p>
          <a:p>
            <a:pPr eaLnBrk="1" hangingPunct="1">
              <a:buFont typeface="Wingdings" panose="05000000000000000000" pitchFamily="2" charset="2"/>
              <a:buChar char="v"/>
            </a:pPr>
            <a:r>
              <a:rPr lang="zh-CN" altLang="en-US" sz="2800" dirty="0">
                <a:latin typeface="楷体_GB2312" panose="02010609030101010101" pitchFamily="49" charset="-122"/>
                <a:ea typeface="楷体_GB2312" panose="02010609030101010101" pitchFamily="49" charset="-122"/>
                <a:cs typeface="+mn-ea"/>
                <a:sym typeface="+mn-ea"/>
              </a:rPr>
              <a:t>本公司对单项金额不重大以及金额重大但单项测试未发生减值的应收款项，按信用风险特征的相似性和相关性对金融资产进行分组。这些信用风险通常反映债务人按照该等资产的合同条款偿还所有到期金额的能力，并且与被检查资产的未来现金流量测算相关。</a:t>
            </a:r>
            <a:endParaRPr lang="zh-CN" altLang="en-US" sz="2800" dirty="0">
              <a:latin typeface="楷体_GB2312" panose="02010609030101010101" pitchFamily="49" charset="-122"/>
              <a:ea typeface="楷体_GB2312" panose="02010609030101010101" pitchFamily="49" charset="-122"/>
              <a:cs typeface="+mn-ea"/>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37945" y="1943100"/>
            <a:ext cx="9238615" cy="388366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1632" y="1946556"/>
            <a:ext cx="8728735" cy="4094144"/>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a:xfrm>
            <a:off x="2907665" y="2535555"/>
            <a:ext cx="6376670" cy="836295"/>
          </a:xfrm>
        </p:spPr>
        <p:txBody>
          <a:bodyPr/>
          <a:lstStyle/>
          <a:p>
            <a:pPr marL="0" indent="0">
              <a:buNone/>
            </a:pPr>
            <a:r>
              <a:rPr lang="zh-CN" altLang="en-US">
                <a:latin typeface="Times New Roman" panose="02020603050405020304" pitchFamily="18" charset="0"/>
                <a:sym typeface="+mn-ea"/>
              </a:rPr>
              <a:t>第三节   预付账款与其他应收款</a:t>
            </a:r>
            <a:endParaRPr lang="zh-CN" altLang="en-US" dirty="0"/>
          </a:p>
        </p:txBody>
      </p:sp>
      <p:sp>
        <p:nvSpPr>
          <p:cNvPr id="352261" name="AutoShape 5"/>
          <p:cNvSpPr>
            <a:spLocks noChangeArrowheads="1"/>
          </p:cNvSpPr>
          <p:nvPr/>
        </p:nvSpPr>
        <p:spPr bwMode="auto">
          <a:xfrm>
            <a:off x="3153410" y="4086543"/>
            <a:ext cx="2522538" cy="701675"/>
          </a:xfrm>
          <a:prstGeom prst="plus">
            <a:avLst>
              <a:gd name="adj" fmla="val 25000"/>
            </a:avLst>
          </a:prstGeom>
        </p:spPr>
        <p:style>
          <a:lnRef idx="1">
            <a:schemeClr val="accent2"/>
          </a:lnRef>
          <a:fillRef idx="2">
            <a:schemeClr val="accent2"/>
          </a:fillRef>
          <a:effectRef idx="1">
            <a:schemeClr val="accent2"/>
          </a:effectRef>
          <a:fontRef idx="minor">
            <a:schemeClr val="dk1"/>
          </a:fontRef>
        </p:style>
        <p:txBody>
          <a:bodyPr anchor="ctr">
            <a:spAutoFit/>
          </a:bodyPr>
          <a:lstStyle/>
          <a:p>
            <a:pPr algn="ctr"/>
            <a:r>
              <a:rPr kumimoji="0" lang="zh-CN" altLang="en-US" sz="2000">
                <a:solidFill>
                  <a:srgbClr val="000000"/>
                </a:solidFill>
              </a:rPr>
              <a:t>一、预付账款</a:t>
            </a:r>
          </a:p>
        </p:txBody>
      </p:sp>
      <p:sp>
        <p:nvSpPr>
          <p:cNvPr id="352262" name="AutoShape 6"/>
          <p:cNvSpPr>
            <a:spLocks noChangeArrowheads="1"/>
          </p:cNvSpPr>
          <p:nvPr/>
        </p:nvSpPr>
        <p:spPr bwMode="auto">
          <a:xfrm>
            <a:off x="6763385" y="4086860"/>
            <a:ext cx="2520950" cy="701675"/>
          </a:xfrm>
          <a:prstGeom prst="plus">
            <a:avLst>
              <a:gd name="adj" fmla="val 25000"/>
            </a:avLst>
          </a:prstGeom>
        </p:spPr>
        <p:style>
          <a:lnRef idx="1">
            <a:schemeClr val="accent2"/>
          </a:lnRef>
          <a:fillRef idx="2">
            <a:schemeClr val="accent2"/>
          </a:fillRef>
          <a:effectRef idx="1">
            <a:schemeClr val="accent2"/>
          </a:effectRef>
          <a:fontRef idx="minor">
            <a:schemeClr val="dk1"/>
          </a:fontRef>
        </p:style>
        <p:txBody>
          <a:bodyPr anchor="ctr">
            <a:spAutoFit/>
          </a:bodyPr>
          <a:lstStyle/>
          <a:p>
            <a:pPr algn="ctr"/>
            <a:r>
              <a:rPr kumimoji="0" lang="zh-CN" altLang="en-US" sz="2000">
                <a:solidFill>
                  <a:srgbClr val="000000"/>
                </a:solidFill>
              </a:rPr>
              <a:t>二、其他应收款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2261"/>
                                        </p:tgtEl>
                                        <p:attrNameLst>
                                          <p:attrName>style.visibility</p:attrName>
                                        </p:attrNameLst>
                                      </p:cBhvr>
                                      <p:to>
                                        <p:strVal val="visible"/>
                                      </p:to>
                                    </p:set>
                                    <p:animEffect transition="in" filter="blinds(horizontal)">
                                      <p:cBhvr>
                                        <p:cTn id="7" dur="500"/>
                                        <p:tgtEl>
                                          <p:spTgt spid="35226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52262"/>
                                        </p:tgtEl>
                                        <p:attrNameLst>
                                          <p:attrName>style.visibility</p:attrName>
                                        </p:attrNameLst>
                                      </p:cBhvr>
                                      <p:to>
                                        <p:strVal val="visible"/>
                                      </p:to>
                                    </p:set>
                                    <p:animEffect transition="in" filter="blinds(horizontal)">
                                      <p:cBhvr>
                                        <p:cTn id="12" dur="500"/>
                                        <p:tgtEl>
                                          <p:spTgt spid="3522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2261" grpId="0" bldLvl="0" animBg="1"/>
      <p:bldP spid="352262" grpId="0" bldLvl="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latin typeface="黑体" panose="02010609060101010101" pitchFamily="49" charset="-122"/>
                <a:ea typeface="黑体" panose="02010609060101010101" pitchFamily="49" charset="-122"/>
                <a:sym typeface="+mn-ea"/>
              </a:rPr>
              <a:t>一、预付账款</a:t>
            </a:r>
            <a:endParaRPr lang="zh-CN" altLang="en-US" dirty="0"/>
          </a:p>
        </p:txBody>
      </p:sp>
      <p:sp>
        <p:nvSpPr>
          <p:cNvPr id="3" name="内容占位符 2"/>
          <p:cNvSpPr>
            <a:spLocks noGrp="1"/>
          </p:cNvSpPr>
          <p:nvPr>
            <p:ph idx="1"/>
          </p:nvPr>
        </p:nvSpPr>
        <p:spPr>
          <a:xfrm>
            <a:off x="1576705" y="2018030"/>
            <a:ext cx="10363200" cy="2032635"/>
          </a:xfrm>
        </p:spPr>
        <p:txBody>
          <a:bodyPr/>
          <a:lstStyle/>
          <a:p>
            <a:pPr eaLnBrk="1" hangingPunct="1"/>
            <a:r>
              <a:rPr lang="zh-CN" altLang="en-US" sz="2800" dirty="0">
                <a:latin typeface="楷体_GB2312" panose="02010609030101010101" pitchFamily="49" charset="-122"/>
                <a:ea typeface="楷体_GB2312" panose="02010609030101010101" pitchFamily="49" charset="-122"/>
                <a:cs typeface="+mn-ea"/>
                <a:sym typeface="+mn-ea"/>
              </a:rPr>
              <a:t>（一）核算范围</a:t>
            </a:r>
            <a:endParaRPr lang="zh-CN" altLang="en-US" sz="2800" dirty="0">
              <a:latin typeface="楷体_GB2312" panose="02010609030101010101" pitchFamily="49" charset="-122"/>
              <a:ea typeface="楷体_GB2312" panose="02010609030101010101" pitchFamily="49" charset="-122"/>
              <a:cs typeface="+mn-ea"/>
            </a:endParaRPr>
          </a:p>
          <a:p>
            <a:pPr eaLnBrk="1" hangingPunct="1"/>
            <a:r>
              <a:rPr lang="zh-CN" altLang="en-US" sz="2800" dirty="0">
                <a:latin typeface="楷体_GB2312" panose="02010609030101010101" pitchFamily="49" charset="-122"/>
                <a:ea typeface="楷体_GB2312" panose="02010609030101010101" pitchFamily="49" charset="-122"/>
                <a:cs typeface="+mn-ea"/>
                <a:sym typeface="+mn-ea"/>
              </a:rPr>
              <a:t>      预付账款：购货债权—应收货</a:t>
            </a:r>
            <a:br>
              <a:rPr lang="zh-CN" altLang="en-US" sz="2800" dirty="0">
                <a:latin typeface="楷体_GB2312" panose="02010609030101010101" pitchFamily="49" charset="-122"/>
                <a:ea typeface="楷体_GB2312" panose="02010609030101010101" pitchFamily="49" charset="-122"/>
                <a:cs typeface="+mn-ea"/>
                <a:sym typeface="+mn-ea"/>
              </a:rPr>
            </a:br>
            <a:r>
              <a:rPr lang="zh-CN" altLang="en-US" sz="2800" dirty="0">
                <a:latin typeface="楷体_GB2312" panose="02010609030101010101" pitchFamily="49" charset="-122"/>
                <a:ea typeface="楷体_GB2312" panose="02010609030101010101" pitchFamily="49" charset="-122"/>
                <a:cs typeface="+mn-ea"/>
                <a:sym typeface="+mn-ea"/>
              </a:rPr>
              <a:t>      应收账款：销货债权—应收钱</a:t>
            </a:r>
            <a:endParaRPr lang="zh-CN" altLang="en-US" sz="2800" dirty="0">
              <a:latin typeface="楷体_GB2312" panose="02010609030101010101" pitchFamily="49" charset="-122"/>
              <a:ea typeface="楷体_GB2312" panose="02010609030101010101" pitchFamily="49" charset="-122"/>
              <a:cs typeface="+mn-ea"/>
            </a:endParaRPr>
          </a:p>
          <a:p>
            <a:pPr eaLnBrk="1" hangingPunct="1"/>
            <a:r>
              <a:rPr lang="zh-CN" altLang="en-US" sz="2800" dirty="0">
                <a:latin typeface="楷体_GB2312" panose="02010609030101010101" pitchFamily="49" charset="-122"/>
                <a:ea typeface="楷体_GB2312" panose="02010609030101010101" pitchFamily="49" charset="-122"/>
                <a:cs typeface="+mn-ea"/>
                <a:sym typeface="+mn-ea"/>
              </a:rPr>
              <a:t>（二）账户设置  预付账款（两性账户）</a:t>
            </a:r>
            <a:endParaRPr lang="zh-CN" altLang="en-US" dirty="0"/>
          </a:p>
        </p:txBody>
      </p:sp>
      <p:grpSp>
        <p:nvGrpSpPr>
          <p:cNvPr id="4" name="Group 21"/>
          <p:cNvGrpSpPr/>
          <p:nvPr/>
        </p:nvGrpSpPr>
        <p:grpSpPr bwMode="auto">
          <a:xfrm>
            <a:off x="3020060" y="4180205"/>
            <a:ext cx="5737225" cy="1828800"/>
            <a:chOff x="994" y="2736"/>
            <a:chExt cx="3614" cy="1152"/>
          </a:xfrm>
        </p:grpSpPr>
        <p:sp>
          <p:nvSpPr>
            <p:cNvPr id="353285" name="Line 5"/>
            <p:cNvSpPr>
              <a:spLocks noChangeShapeType="1"/>
            </p:cNvSpPr>
            <p:nvPr/>
          </p:nvSpPr>
          <p:spPr bwMode="auto">
            <a:xfrm>
              <a:off x="1056" y="2736"/>
              <a:ext cx="3552" cy="0"/>
            </a:xfrm>
            <a:prstGeom prst="line">
              <a:avLst/>
            </a:prstGeom>
            <a:noFill/>
            <a:ln w="28575">
              <a:solidFill>
                <a:srgbClr val="FF9900"/>
              </a:solidFill>
              <a:miter lim="800000"/>
            </a:ln>
            <a:effectLst/>
          </p:spPr>
          <p:txBody>
            <a:bodyPr wrap="none" anchor="ctr"/>
            <a:lstStyle/>
            <a:p>
              <a:pPr>
                <a:defRPr/>
              </a:pPr>
              <a:endParaRPr lang="zh-CN" altLang="en-US">
                <a:effectLst>
                  <a:outerShdw blurRad="38100" dist="38100" dir="2700000" algn="tl">
                    <a:srgbClr val="000000">
                      <a:alpha val="43137"/>
                    </a:srgbClr>
                  </a:outerShdw>
                </a:effectLst>
                <a:ea typeface="宋体" panose="02010600030101010101" pitchFamily="2" charset="-122"/>
              </a:endParaRPr>
            </a:p>
          </p:txBody>
        </p:sp>
        <p:sp>
          <p:nvSpPr>
            <p:cNvPr id="353286" name="Line 6"/>
            <p:cNvSpPr>
              <a:spLocks noChangeShapeType="1"/>
            </p:cNvSpPr>
            <p:nvPr/>
          </p:nvSpPr>
          <p:spPr bwMode="auto">
            <a:xfrm>
              <a:off x="2688" y="2736"/>
              <a:ext cx="0" cy="1152"/>
            </a:xfrm>
            <a:prstGeom prst="line">
              <a:avLst/>
            </a:prstGeom>
            <a:noFill/>
            <a:ln w="28575">
              <a:solidFill>
                <a:srgbClr val="FF9900"/>
              </a:solidFill>
              <a:miter lim="800000"/>
            </a:ln>
            <a:effectLst/>
          </p:spPr>
          <p:txBody>
            <a:bodyPr wrap="none" anchor="ctr"/>
            <a:lstStyle/>
            <a:p>
              <a:pPr>
                <a:defRPr/>
              </a:pPr>
              <a:endParaRPr lang="zh-CN" altLang="en-US">
                <a:effectLst>
                  <a:outerShdw blurRad="38100" dist="38100" dir="2700000" algn="tl">
                    <a:srgbClr val="000000">
                      <a:alpha val="43137"/>
                    </a:srgbClr>
                  </a:outerShdw>
                </a:effectLst>
                <a:ea typeface="宋体" panose="02010600030101010101" pitchFamily="2" charset="-122"/>
              </a:endParaRPr>
            </a:p>
          </p:txBody>
        </p:sp>
        <p:sp>
          <p:nvSpPr>
            <p:cNvPr id="49159" name="Text Box 7"/>
            <p:cNvSpPr txBox="1">
              <a:spLocks noChangeArrowheads="1"/>
            </p:cNvSpPr>
            <p:nvPr/>
          </p:nvSpPr>
          <p:spPr bwMode="auto">
            <a:xfrm>
              <a:off x="1493" y="2898"/>
              <a:ext cx="499" cy="290"/>
            </a:xfrm>
            <a:prstGeom prst="rect">
              <a:avLst/>
            </a:prstGeom>
            <a:noFill/>
            <a:ln w="9525">
              <a:noFill/>
              <a:miter lim="800000"/>
            </a:ln>
          </p:spPr>
          <p:txBody>
            <a:bodyPr wrap="none">
              <a:spAutoFit/>
            </a:bodyPr>
            <a:lstStyle/>
            <a:p>
              <a:r>
                <a:rPr kumimoji="0" lang="zh-CN" altLang="en-US" sz="2800" b="1" kern="0" dirty="0">
                  <a:latin typeface="楷体_GB2312" panose="02010609030101010101" pitchFamily="49" charset="-122"/>
                  <a:ea typeface="楷体_GB2312" panose="02010609030101010101" pitchFamily="49" charset="-122"/>
                  <a:cs typeface="+mn-ea"/>
                </a:rPr>
                <a:t>预付</a:t>
              </a:r>
              <a:endParaRPr kumimoji="0" lang="zh-CN" altLang="en-US" sz="2400">
                <a:solidFill>
                  <a:schemeClr val="tx2"/>
                </a:solidFill>
                <a:latin typeface="宋体" panose="02010600030101010101" pitchFamily="2" charset="-122"/>
              </a:endParaRPr>
            </a:p>
          </p:txBody>
        </p:sp>
        <p:sp>
          <p:nvSpPr>
            <p:cNvPr id="353288" name="Text Box 8"/>
            <p:cNvSpPr txBox="1">
              <a:spLocks noChangeArrowheads="1"/>
            </p:cNvSpPr>
            <p:nvPr/>
          </p:nvSpPr>
          <p:spPr bwMode="auto">
            <a:xfrm>
              <a:off x="3038" y="2898"/>
              <a:ext cx="1152" cy="329"/>
            </a:xfrm>
            <a:prstGeom prst="rect">
              <a:avLst/>
            </a:prstGeom>
            <a:noFill/>
            <a:ln w="9525">
              <a:noFill/>
              <a:miter lim="800000"/>
            </a:ln>
            <a:effectLst/>
          </p:spPr>
          <p:txBody>
            <a:bodyPr wrap="none">
              <a:spAutoFit/>
            </a:bodyPr>
            <a:lstStyle/>
            <a:p>
              <a:pPr>
                <a:defRPr/>
              </a:pPr>
              <a:r>
                <a:rPr lang="en-US" altLang="zh-CN">
                  <a:effectLst>
                    <a:outerShdw blurRad="38100" dist="38100" dir="2700000" algn="tl">
                      <a:srgbClr val="000000"/>
                    </a:outerShdw>
                  </a:effectLst>
                  <a:ea typeface="宋体" panose="02010600030101010101" pitchFamily="2" charset="-122"/>
                </a:rPr>
                <a:t> </a:t>
              </a:r>
              <a:r>
                <a:rPr kumimoji="0" lang="zh-CN" altLang="en-US" sz="2800" b="1" kern="0" dirty="0">
                  <a:latin typeface="楷体_GB2312" panose="02010609030101010101" pitchFamily="49" charset="-122"/>
                  <a:ea typeface="楷体_GB2312" panose="02010609030101010101" pitchFamily="49" charset="-122"/>
                  <a:cs typeface="+mn-ea"/>
                </a:rPr>
                <a:t>收货、转销</a:t>
              </a:r>
              <a:endParaRPr kumimoji="0" lang="zh-CN" altLang="en-US" sz="2400">
                <a:solidFill>
                  <a:schemeClr val="tx2"/>
                </a:solidFill>
                <a:latin typeface="宋体" panose="02010600030101010101" pitchFamily="2" charset="-122"/>
                <a:ea typeface="宋体" panose="02010600030101010101" pitchFamily="2" charset="-122"/>
              </a:endParaRPr>
            </a:p>
          </p:txBody>
        </p:sp>
        <p:sp>
          <p:nvSpPr>
            <p:cNvPr id="353289" name="Line 9"/>
            <p:cNvSpPr>
              <a:spLocks noChangeShapeType="1"/>
            </p:cNvSpPr>
            <p:nvPr/>
          </p:nvSpPr>
          <p:spPr bwMode="auto">
            <a:xfrm>
              <a:off x="1056" y="3360"/>
              <a:ext cx="3504" cy="0"/>
            </a:xfrm>
            <a:prstGeom prst="line">
              <a:avLst/>
            </a:prstGeom>
            <a:noFill/>
            <a:ln w="28575">
              <a:solidFill>
                <a:srgbClr val="FF9900"/>
              </a:solidFill>
              <a:miter lim="800000"/>
            </a:ln>
            <a:effectLst/>
          </p:spPr>
          <p:txBody>
            <a:bodyPr wrap="none" anchor="ctr"/>
            <a:lstStyle/>
            <a:p>
              <a:pPr>
                <a:defRPr/>
              </a:pPr>
              <a:endParaRPr lang="zh-CN" altLang="en-US">
                <a:effectLst>
                  <a:outerShdw blurRad="38100" dist="38100" dir="2700000" algn="tl">
                    <a:srgbClr val="000000">
                      <a:alpha val="43137"/>
                    </a:srgbClr>
                  </a:outerShdw>
                </a:effectLst>
                <a:ea typeface="宋体" panose="02010600030101010101" pitchFamily="2" charset="-122"/>
              </a:endParaRPr>
            </a:p>
          </p:txBody>
        </p:sp>
        <p:sp>
          <p:nvSpPr>
            <p:cNvPr id="49162" name="Text Box 12"/>
            <p:cNvSpPr txBox="1">
              <a:spLocks noChangeArrowheads="1"/>
            </p:cNvSpPr>
            <p:nvPr/>
          </p:nvSpPr>
          <p:spPr bwMode="auto">
            <a:xfrm>
              <a:off x="2889" y="3503"/>
              <a:ext cx="499" cy="290"/>
            </a:xfrm>
            <a:prstGeom prst="rect">
              <a:avLst/>
            </a:prstGeom>
            <a:noFill/>
            <a:ln w="9525">
              <a:noFill/>
              <a:miter lim="800000"/>
            </a:ln>
          </p:spPr>
          <p:txBody>
            <a:bodyPr wrap="none">
              <a:spAutoFit/>
            </a:bodyPr>
            <a:lstStyle/>
            <a:p>
              <a:r>
                <a:rPr kumimoji="0" lang="zh-CN" altLang="en-US" sz="2400" b="1" kern="0" dirty="0">
                  <a:latin typeface="+mn-ea"/>
                  <a:cs typeface="+mn-ea"/>
                </a:rPr>
                <a:t>应付</a:t>
              </a:r>
              <a:endParaRPr kumimoji="0" lang="zh-CN" altLang="en-US" sz="2400">
                <a:solidFill>
                  <a:schemeClr val="tx2"/>
                </a:solidFill>
                <a:latin typeface="宋体" panose="02010600030101010101" pitchFamily="2" charset="-122"/>
              </a:endParaRPr>
            </a:p>
          </p:txBody>
        </p:sp>
        <p:sp>
          <p:nvSpPr>
            <p:cNvPr id="49163" name="Text Box 13"/>
            <p:cNvSpPr txBox="1">
              <a:spLocks noChangeArrowheads="1"/>
            </p:cNvSpPr>
            <p:nvPr/>
          </p:nvSpPr>
          <p:spPr bwMode="auto">
            <a:xfrm>
              <a:off x="3936" y="3503"/>
              <a:ext cx="499" cy="290"/>
            </a:xfrm>
            <a:prstGeom prst="rect">
              <a:avLst/>
            </a:prstGeom>
            <a:noFill/>
            <a:ln w="9525">
              <a:noFill/>
              <a:miter lim="800000"/>
            </a:ln>
          </p:spPr>
          <p:txBody>
            <a:bodyPr wrap="none">
              <a:spAutoFit/>
            </a:bodyPr>
            <a:lstStyle/>
            <a:p>
              <a:r>
                <a:rPr kumimoji="0" lang="zh-CN" altLang="en-US" sz="2400" b="1" kern="0" dirty="0">
                  <a:latin typeface="+mn-ea"/>
                  <a:cs typeface="+mn-ea"/>
                </a:rPr>
                <a:t>债务</a:t>
              </a:r>
              <a:endParaRPr kumimoji="0" lang="zh-CN" altLang="en-US" sz="2400">
                <a:solidFill>
                  <a:schemeClr val="tx2"/>
                </a:solidFill>
                <a:latin typeface="宋体" panose="02010600030101010101" pitchFamily="2" charset="-122"/>
              </a:endParaRPr>
            </a:p>
          </p:txBody>
        </p:sp>
        <p:sp>
          <p:nvSpPr>
            <p:cNvPr id="353294" name="Line 14"/>
            <p:cNvSpPr>
              <a:spLocks noChangeShapeType="1"/>
            </p:cNvSpPr>
            <p:nvPr/>
          </p:nvSpPr>
          <p:spPr bwMode="auto">
            <a:xfrm flipH="1">
              <a:off x="1552" y="3648"/>
              <a:ext cx="384" cy="0"/>
            </a:xfrm>
            <a:prstGeom prst="line">
              <a:avLst/>
            </a:prstGeom>
            <a:noFill/>
            <a:ln w="28575">
              <a:solidFill>
                <a:schemeClr val="tx1"/>
              </a:solidFill>
              <a:miter lim="800000"/>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a typeface="宋体" panose="02010600030101010101" pitchFamily="2" charset="-122"/>
              </a:endParaRPr>
            </a:p>
          </p:txBody>
        </p:sp>
        <p:sp>
          <p:nvSpPr>
            <p:cNvPr id="353295" name="Line 15"/>
            <p:cNvSpPr>
              <a:spLocks noChangeShapeType="1"/>
            </p:cNvSpPr>
            <p:nvPr/>
          </p:nvSpPr>
          <p:spPr bwMode="auto">
            <a:xfrm>
              <a:off x="3456" y="3648"/>
              <a:ext cx="480" cy="0"/>
            </a:xfrm>
            <a:prstGeom prst="line">
              <a:avLst/>
            </a:prstGeom>
            <a:noFill/>
            <a:ln w="28575">
              <a:solidFill>
                <a:schemeClr val="tx1"/>
              </a:solidFill>
              <a:miter lim="800000"/>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a typeface="宋体" panose="02010600030101010101" pitchFamily="2" charset="-122"/>
              </a:endParaRPr>
            </a:p>
          </p:txBody>
        </p:sp>
        <p:sp>
          <p:nvSpPr>
            <p:cNvPr id="49166" name="Text Box 17"/>
            <p:cNvSpPr txBox="1">
              <a:spLocks noChangeArrowheads="1"/>
            </p:cNvSpPr>
            <p:nvPr/>
          </p:nvSpPr>
          <p:spPr bwMode="auto">
            <a:xfrm>
              <a:off x="1936" y="3503"/>
              <a:ext cx="499" cy="290"/>
            </a:xfrm>
            <a:prstGeom prst="rect">
              <a:avLst/>
            </a:prstGeom>
            <a:noFill/>
            <a:ln w="9525">
              <a:noFill/>
              <a:miter lim="800000"/>
            </a:ln>
          </p:spPr>
          <p:txBody>
            <a:bodyPr wrap="none">
              <a:spAutoFit/>
            </a:bodyPr>
            <a:lstStyle/>
            <a:p>
              <a:r>
                <a:rPr kumimoji="0" lang="zh-CN" altLang="en-US" sz="2400" b="1" kern="0" dirty="0">
                  <a:latin typeface="+mn-ea"/>
                  <a:cs typeface="+mn-ea"/>
                </a:rPr>
                <a:t>预付</a:t>
              </a:r>
              <a:endParaRPr kumimoji="0" lang="zh-CN" altLang="en-US" sz="2400">
                <a:solidFill>
                  <a:schemeClr val="tx2"/>
                </a:solidFill>
                <a:latin typeface="宋体" panose="02010600030101010101" pitchFamily="2" charset="-122"/>
              </a:endParaRPr>
            </a:p>
          </p:txBody>
        </p:sp>
        <p:sp>
          <p:nvSpPr>
            <p:cNvPr id="49167" name="Text Box 18"/>
            <p:cNvSpPr txBox="1">
              <a:spLocks noChangeArrowheads="1"/>
            </p:cNvSpPr>
            <p:nvPr/>
          </p:nvSpPr>
          <p:spPr bwMode="auto">
            <a:xfrm>
              <a:off x="994" y="3503"/>
              <a:ext cx="499" cy="290"/>
            </a:xfrm>
            <a:prstGeom prst="rect">
              <a:avLst/>
            </a:prstGeom>
            <a:noFill/>
            <a:ln w="9525">
              <a:noFill/>
              <a:miter lim="800000"/>
            </a:ln>
          </p:spPr>
          <p:txBody>
            <a:bodyPr wrap="none">
              <a:spAutoFit/>
            </a:bodyPr>
            <a:lstStyle/>
            <a:p>
              <a:r>
                <a:rPr kumimoji="0" lang="zh-CN" altLang="en-US" sz="2400" b="1" kern="0" dirty="0">
                  <a:latin typeface="+mn-ea"/>
                  <a:cs typeface="+mn-ea"/>
                </a:rPr>
                <a:t>债权</a:t>
              </a:r>
              <a:endParaRPr kumimoji="0" lang="zh-CN" altLang="en-US" sz="2400">
                <a:solidFill>
                  <a:schemeClr val="tx2"/>
                </a:solidFill>
                <a:latin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a:xfrm>
            <a:off x="1534795" y="2018030"/>
            <a:ext cx="5519420" cy="590550"/>
          </a:xfrm>
        </p:spPr>
        <p:txBody>
          <a:bodyPr/>
          <a:lstStyle/>
          <a:p>
            <a:pPr marL="0" indent="0">
              <a:buNone/>
            </a:pPr>
            <a:r>
              <a:rPr lang="zh-CN" altLang="en-US" sz="2800" dirty="0">
                <a:latin typeface="楷体_GB2312" panose="02010609030101010101" pitchFamily="49" charset="-122"/>
                <a:ea typeface="楷体_GB2312" panose="02010609030101010101" pitchFamily="49" charset="-122"/>
                <a:cs typeface="+mn-ea"/>
                <a:sym typeface="+mn-ea"/>
              </a:rPr>
              <a:t>（三）预付账款的会计处理</a:t>
            </a:r>
            <a:endParaRPr kumimoji="0" lang="zh-CN" altLang="en-US" sz="2800" dirty="0">
              <a:latin typeface="楷体_GB2312" panose="02010609030101010101" pitchFamily="49" charset="-122"/>
              <a:ea typeface="楷体_GB2312" panose="02010609030101010101" pitchFamily="49" charset="-122"/>
              <a:cs typeface="+mn-ea"/>
            </a:endParaRPr>
          </a:p>
          <a:p>
            <a:pPr marL="0" indent="0">
              <a:buNone/>
            </a:pPr>
            <a:endParaRPr lang="zh-CN" altLang="en-US" dirty="0"/>
          </a:p>
        </p:txBody>
      </p:sp>
      <p:sp>
        <p:nvSpPr>
          <p:cNvPr id="392199" name="Freeform 7"/>
          <p:cNvSpPr/>
          <p:nvPr/>
        </p:nvSpPr>
        <p:spPr bwMode="auto">
          <a:xfrm>
            <a:off x="2060575" y="2608580"/>
            <a:ext cx="7308850" cy="1001395"/>
          </a:xfrm>
          <a:custGeom>
            <a:avLst/>
            <a:gdLst/>
            <a:ahLst/>
            <a:cxnLst>
              <a:cxn ang="0">
                <a:pos x="0" y="0"/>
              </a:cxn>
              <a:cxn ang="0">
                <a:pos x="836" y="0"/>
              </a:cxn>
              <a:cxn ang="0">
                <a:pos x="835" y="644"/>
              </a:cxn>
              <a:cxn ang="0">
                <a:pos x="5367" y="644"/>
              </a:cxn>
            </a:cxnLst>
            <a:rect l="0" t="0" r="r" b="b"/>
            <a:pathLst>
              <a:path w="5367" h="644">
                <a:moveTo>
                  <a:pt x="0" y="0"/>
                </a:moveTo>
                <a:lnTo>
                  <a:pt x="836" y="0"/>
                </a:lnTo>
                <a:lnTo>
                  <a:pt x="835" y="644"/>
                </a:lnTo>
                <a:lnTo>
                  <a:pt x="5367" y="644"/>
                </a:lnTo>
              </a:path>
            </a:pathLst>
          </a:custGeom>
          <a:noFill/>
          <a:ln w="22225" cap="flat" cmpd="sng">
            <a:solidFill>
              <a:schemeClr val="hlink"/>
            </a:solidFill>
            <a:prstDash val="solid"/>
            <a:round/>
          </a:ln>
          <a:effectLst/>
        </p:spPr>
        <p:txBody>
          <a:bodyPr lIns="0" tIns="0" rIns="0" bIns="0" anchor="ctr">
            <a:spAutoFit/>
          </a:bodyPr>
          <a:lstStyle/>
          <a:p>
            <a:pPr>
              <a:defRPr/>
            </a:pPr>
            <a:endParaRPr lang="zh-CN" altLang="en-US">
              <a:effectLst>
                <a:outerShdw blurRad="38100" dist="38100" dir="2700000" algn="tl">
                  <a:srgbClr val="000000">
                    <a:alpha val="43137"/>
                  </a:srgbClr>
                </a:outerShdw>
              </a:effectLst>
              <a:ea typeface="宋体" panose="02010600030101010101" pitchFamily="2" charset="-122"/>
            </a:endParaRPr>
          </a:p>
        </p:txBody>
      </p:sp>
      <p:sp>
        <p:nvSpPr>
          <p:cNvPr id="392202" name="Freeform 10"/>
          <p:cNvSpPr/>
          <p:nvPr/>
        </p:nvSpPr>
        <p:spPr bwMode="auto">
          <a:xfrm>
            <a:off x="2060575" y="3911600"/>
            <a:ext cx="7308850" cy="1003300"/>
          </a:xfrm>
          <a:custGeom>
            <a:avLst/>
            <a:gdLst/>
            <a:ahLst/>
            <a:cxnLst>
              <a:cxn ang="0">
                <a:pos x="0" y="0"/>
              </a:cxn>
              <a:cxn ang="0">
                <a:pos x="836" y="0"/>
              </a:cxn>
              <a:cxn ang="0">
                <a:pos x="835" y="644"/>
              </a:cxn>
              <a:cxn ang="0">
                <a:pos x="5367" y="644"/>
              </a:cxn>
            </a:cxnLst>
            <a:rect l="0" t="0" r="r" b="b"/>
            <a:pathLst>
              <a:path w="5367" h="644">
                <a:moveTo>
                  <a:pt x="0" y="0"/>
                </a:moveTo>
                <a:lnTo>
                  <a:pt x="836" y="0"/>
                </a:lnTo>
                <a:lnTo>
                  <a:pt x="835" y="644"/>
                </a:lnTo>
                <a:lnTo>
                  <a:pt x="5367" y="644"/>
                </a:lnTo>
              </a:path>
            </a:pathLst>
          </a:custGeom>
          <a:noFill/>
          <a:ln w="22225" cap="flat" cmpd="sng">
            <a:solidFill>
              <a:schemeClr val="hlink"/>
            </a:solidFill>
            <a:prstDash val="solid"/>
            <a:round/>
          </a:ln>
          <a:effectLst/>
        </p:spPr>
        <p:txBody>
          <a:bodyPr lIns="0" tIns="0" rIns="0" bIns="0" anchor="ctr">
            <a:spAutoFit/>
          </a:bodyPr>
          <a:lstStyle/>
          <a:p>
            <a:pPr>
              <a:defRPr/>
            </a:pPr>
            <a:endParaRPr lang="zh-CN" altLang="en-US">
              <a:effectLst>
                <a:outerShdw blurRad="38100" dist="38100" dir="2700000" algn="tl">
                  <a:srgbClr val="000000">
                    <a:alpha val="43137"/>
                  </a:srgbClr>
                </a:outerShdw>
              </a:effectLst>
              <a:ea typeface="宋体" panose="02010600030101010101" pitchFamily="2" charset="-122"/>
            </a:endParaRPr>
          </a:p>
        </p:txBody>
      </p:sp>
      <p:sp>
        <p:nvSpPr>
          <p:cNvPr id="392205" name="Freeform 13"/>
          <p:cNvSpPr/>
          <p:nvPr/>
        </p:nvSpPr>
        <p:spPr bwMode="auto">
          <a:xfrm>
            <a:off x="2060575" y="5217160"/>
            <a:ext cx="7308850" cy="1002030"/>
          </a:xfrm>
          <a:custGeom>
            <a:avLst/>
            <a:gdLst/>
            <a:ahLst/>
            <a:cxnLst>
              <a:cxn ang="0">
                <a:pos x="0" y="0"/>
              </a:cxn>
              <a:cxn ang="0">
                <a:pos x="836" y="0"/>
              </a:cxn>
              <a:cxn ang="0">
                <a:pos x="835" y="644"/>
              </a:cxn>
              <a:cxn ang="0">
                <a:pos x="5367" y="644"/>
              </a:cxn>
            </a:cxnLst>
            <a:rect l="0" t="0" r="r" b="b"/>
            <a:pathLst>
              <a:path w="5367" h="644">
                <a:moveTo>
                  <a:pt x="0" y="0"/>
                </a:moveTo>
                <a:lnTo>
                  <a:pt x="836" y="0"/>
                </a:lnTo>
                <a:lnTo>
                  <a:pt x="835" y="644"/>
                </a:lnTo>
                <a:lnTo>
                  <a:pt x="5367" y="644"/>
                </a:lnTo>
              </a:path>
            </a:pathLst>
          </a:custGeom>
          <a:noFill/>
          <a:ln w="22225" cap="flat" cmpd="sng">
            <a:solidFill>
              <a:schemeClr val="hlink"/>
            </a:solidFill>
            <a:prstDash val="solid"/>
            <a:round/>
          </a:ln>
          <a:effectLst/>
        </p:spPr>
        <p:txBody>
          <a:bodyPr lIns="0" tIns="0" rIns="0" bIns="0" anchor="ctr">
            <a:spAutoFit/>
          </a:bodyPr>
          <a:lstStyle/>
          <a:p>
            <a:pPr>
              <a:defRPr/>
            </a:pPr>
            <a:endParaRPr lang="zh-CN" altLang="en-US">
              <a:effectLst>
                <a:outerShdw blurRad="38100" dist="38100" dir="2700000" algn="tl">
                  <a:srgbClr val="000000">
                    <a:alpha val="43137"/>
                  </a:srgbClr>
                </a:outerShdw>
              </a:effectLst>
              <a:ea typeface="宋体" panose="02010600030101010101" pitchFamily="2" charset="-122"/>
            </a:endParaRPr>
          </a:p>
        </p:txBody>
      </p:sp>
      <p:sp>
        <p:nvSpPr>
          <p:cNvPr id="392197" name="Rectangle 5"/>
          <p:cNvSpPr>
            <a:spLocks noChangeArrowheads="1"/>
          </p:cNvSpPr>
          <p:nvPr/>
        </p:nvSpPr>
        <p:spPr bwMode="auto">
          <a:xfrm>
            <a:off x="2060258" y="3034348"/>
            <a:ext cx="1014412" cy="365125"/>
          </a:xfrm>
          <a:prstGeom prst="rect">
            <a:avLst/>
          </a:prstGeom>
          <a:noFill/>
          <a:ln w="6350">
            <a:noFill/>
            <a:miter lim="800000"/>
          </a:ln>
          <a:effectLst/>
        </p:spPr>
        <p:txBody>
          <a:bodyPr lIns="0" tIns="0" rIns="0" bIns="0" anchor="ctr">
            <a:spAutoFit/>
          </a:bodyPr>
          <a:lstStyle/>
          <a:p>
            <a:pPr algn="ctr" defTabSz="330200">
              <a:spcBef>
                <a:spcPct val="20000"/>
              </a:spcBef>
              <a:buClr>
                <a:schemeClr val="hlink"/>
              </a:buClr>
              <a:tabLst>
                <a:tab pos="8521700" algn="r"/>
              </a:tabLst>
              <a:defRPr/>
            </a:pPr>
            <a:r>
              <a:rPr kumimoji="0" lang="zh-CN" altLang="en-US" sz="2400">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预付</a:t>
            </a:r>
          </a:p>
        </p:txBody>
      </p:sp>
      <p:sp>
        <p:nvSpPr>
          <p:cNvPr id="392200" name="Rectangle 8"/>
          <p:cNvSpPr>
            <a:spLocks noChangeArrowheads="1"/>
          </p:cNvSpPr>
          <p:nvPr/>
        </p:nvSpPr>
        <p:spPr bwMode="auto">
          <a:xfrm>
            <a:off x="2060575" y="4330700"/>
            <a:ext cx="1014413" cy="365125"/>
          </a:xfrm>
          <a:prstGeom prst="rect">
            <a:avLst/>
          </a:prstGeom>
          <a:noFill/>
          <a:ln w="6350" algn="ctr">
            <a:noFill/>
            <a:miter lim="800000"/>
          </a:ln>
          <a:effectLst/>
        </p:spPr>
        <p:txBody>
          <a:bodyPr lIns="0" tIns="0" rIns="0" bIns="0" anchor="ctr">
            <a:spAutoFit/>
          </a:bodyPr>
          <a:lstStyle/>
          <a:p>
            <a:pPr algn="ctr" defTabSz="330200">
              <a:spcBef>
                <a:spcPct val="20000"/>
              </a:spcBef>
              <a:buClr>
                <a:schemeClr val="hlink"/>
              </a:buClr>
              <a:tabLst>
                <a:tab pos="8521700" algn="r"/>
              </a:tabLst>
              <a:defRPr/>
            </a:pPr>
            <a:r>
              <a:rPr kumimoji="0" lang="zh-CN" altLang="en-US" sz="2400">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收货</a:t>
            </a:r>
          </a:p>
        </p:txBody>
      </p:sp>
      <p:sp>
        <p:nvSpPr>
          <p:cNvPr id="392203" name="Rectangle 11"/>
          <p:cNvSpPr>
            <a:spLocks noChangeArrowheads="1"/>
          </p:cNvSpPr>
          <p:nvPr/>
        </p:nvSpPr>
        <p:spPr bwMode="auto">
          <a:xfrm>
            <a:off x="2060575" y="5634038"/>
            <a:ext cx="1014413" cy="365125"/>
          </a:xfrm>
          <a:prstGeom prst="rect">
            <a:avLst/>
          </a:prstGeom>
          <a:noFill/>
          <a:ln w="6350" algn="ctr">
            <a:noFill/>
            <a:miter lim="800000"/>
          </a:ln>
          <a:effectLst/>
        </p:spPr>
        <p:txBody>
          <a:bodyPr lIns="0" tIns="0" rIns="0" bIns="0" anchor="ctr">
            <a:spAutoFit/>
          </a:bodyPr>
          <a:lstStyle/>
          <a:p>
            <a:pPr algn="ctr" defTabSz="330200">
              <a:spcBef>
                <a:spcPct val="20000"/>
              </a:spcBef>
              <a:buClr>
                <a:schemeClr val="hlink"/>
              </a:buClr>
              <a:tabLst>
                <a:tab pos="8521700" algn="r"/>
              </a:tabLst>
              <a:defRPr/>
            </a:pPr>
            <a:r>
              <a:rPr kumimoji="0" lang="zh-CN" altLang="en-US" sz="2400">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转销</a:t>
            </a:r>
          </a:p>
        </p:txBody>
      </p:sp>
      <p:sp>
        <p:nvSpPr>
          <p:cNvPr id="392208" name="Rectangle 16"/>
          <p:cNvSpPr>
            <a:spLocks noChangeArrowheads="1"/>
          </p:cNvSpPr>
          <p:nvPr/>
        </p:nvSpPr>
        <p:spPr bwMode="auto">
          <a:xfrm>
            <a:off x="3429000" y="2693988"/>
            <a:ext cx="4572000" cy="829945"/>
          </a:xfrm>
          <a:prstGeom prst="rect">
            <a:avLst/>
          </a:prstGeom>
          <a:noFill/>
          <a:ln w="38100" algn="ctr">
            <a:noFill/>
            <a:miter lim="800000"/>
          </a:ln>
          <a:effectLst>
            <a:prstShdw prst="shdw17" dist="17961" dir="2700000">
              <a:schemeClr val="tx2">
                <a:gamma/>
                <a:shade val="60000"/>
                <a:invGamma/>
              </a:schemeClr>
            </a:prstShdw>
          </a:effectLst>
        </p:spPr>
        <p:txBody>
          <a:bodyPr>
            <a:spAutoFit/>
          </a:bodyPr>
          <a:lstStyle/>
          <a:p>
            <a:pPr>
              <a:defRPr/>
            </a:pPr>
            <a:r>
              <a:rPr kumimoji="0" lang="zh-CN" altLang="en-US" sz="2400" b="1" kern="0" dirty="0">
                <a:latin typeface="+mn-ea"/>
                <a:cs typeface="+mn-ea"/>
              </a:rPr>
              <a:t>借：预付账款</a:t>
            </a:r>
          </a:p>
          <a:p>
            <a:pPr>
              <a:defRPr/>
            </a:pPr>
            <a:r>
              <a:rPr kumimoji="0" lang="zh-CN" altLang="en-US" sz="2400" b="1" kern="0" dirty="0">
                <a:latin typeface="+mn-ea"/>
                <a:cs typeface="+mn-ea"/>
              </a:rPr>
              <a:t>  贷：银行存款</a:t>
            </a:r>
            <a:endParaRPr kumimoji="0" lang="zh-CN" altLang="en-US" sz="2000">
              <a:solidFill>
                <a:schemeClr val="tx2"/>
              </a:solidFill>
              <a:latin typeface="宋体" panose="02010600030101010101" pitchFamily="2" charset="-122"/>
              <a:ea typeface="宋体" panose="02010600030101010101" pitchFamily="2" charset="-122"/>
            </a:endParaRPr>
          </a:p>
        </p:txBody>
      </p:sp>
      <p:sp>
        <p:nvSpPr>
          <p:cNvPr id="392209" name="Rectangle 17"/>
          <p:cNvSpPr>
            <a:spLocks noChangeArrowheads="1"/>
          </p:cNvSpPr>
          <p:nvPr/>
        </p:nvSpPr>
        <p:spPr bwMode="auto">
          <a:xfrm>
            <a:off x="3344863" y="3609975"/>
            <a:ext cx="5337175" cy="1168400"/>
          </a:xfrm>
          <a:prstGeom prst="rect">
            <a:avLst/>
          </a:prstGeom>
          <a:noFill/>
          <a:ln w="38100" algn="ctr">
            <a:noFill/>
            <a:miter lim="800000"/>
          </a:ln>
          <a:effectLst>
            <a:prstShdw prst="shdw17" dist="17961" dir="2700000">
              <a:schemeClr val="tx2">
                <a:gamma/>
                <a:shade val="60000"/>
                <a:invGamma/>
              </a:schemeClr>
            </a:prstShdw>
          </a:effectLst>
        </p:spPr>
        <p:txBody>
          <a:bodyPr>
            <a:spAutoFit/>
          </a:bodyPr>
          <a:lstStyle/>
          <a:p>
            <a:pPr>
              <a:spcBef>
                <a:spcPts val="600"/>
              </a:spcBef>
              <a:defRPr/>
            </a:pPr>
            <a:r>
              <a:rPr kumimoji="0" lang="zh-CN" altLang="en-US" sz="2400" b="1" kern="0" dirty="0">
                <a:latin typeface="+mn-ea"/>
                <a:cs typeface="+mn-ea"/>
              </a:rPr>
              <a:t>借：在途物资（原材料、库存商品）</a:t>
            </a:r>
          </a:p>
          <a:p>
            <a:pPr>
              <a:spcBef>
                <a:spcPts val="600"/>
              </a:spcBef>
              <a:defRPr/>
            </a:pPr>
            <a:r>
              <a:rPr kumimoji="0" lang="zh-CN" altLang="en-US" sz="2400" b="1" kern="0" dirty="0">
                <a:latin typeface="+mn-ea"/>
                <a:cs typeface="+mn-ea"/>
              </a:rPr>
              <a:t>    应交税费-应交增值税（进项税额）</a:t>
            </a:r>
          </a:p>
          <a:p>
            <a:pPr>
              <a:spcBef>
                <a:spcPts val="600"/>
              </a:spcBef>
              <a:defRPr/>
            </a:pPr>
            <a:r>
              <a:rPr kumimoji="0" lang="zh-CN" altLang="en-US" sz="2400" b="1" kern="0" dirty="0">
                <a:latin typeface="+mn-ea"/>
                <a:cs typeface="+mn-ea"/>
              </a:rPr>
              <a:t>  贷：预付账款</a:t>
            </a:r>
            <a:endParaRPr kumimoji="0" lang="zh-CN" altLang="en-US" sz="2000" dirty="0">
              <a:solidFill>
                <a:schemeClr val="tx2"/>
              </a:solidFill>
              <a:latin typeface="宋体" panose="02010600030101010101" pitchFamily="2" charset="-122"/>
              <a:ea typeface="宋体" panose="02010600030101010101" pitchFamily="2" charset="-122"/>
            </a:endParaRPr>
          </a:p>
        </p:txBody>
      </p:sp>
      <p:sp>
        <p:nvSpPr>
          <p:cNvPr id="392210" name="Rectangle 18"/>
          <p:cNvSpPr>
            <a:spLocks noChangeArrowheads="1"/>
          </p:cNvSpPr>
          <p:nvPr/>
        </p:nvSpPr>
        <p:spPr bwMode="auto">
          <a:xfrm>
            <a:off x="3429000" y="5364163"/>
            <a:ext cx="4572000" cy="706755"/>
          </a:xfrm>
          <a:prstGeom prst="rect">
            <a:avLst/>
          </a:prstGeom>
          <a:noFill/>
          <a:ln w="38100" algn="ctr">
            <a:noFill/>
            <a:miter lim="800000"/>
          </a:ln>
          <a:effectLst>
            <a:prstShdw prst="shdw17" dist="17961" dir="2700000">
              <a:schemeClr val="tx2">
                <a:gamma/>
                <a:shade val="60000"/>
                <a:invGamma/>
              </a:schemeClr>
            </a:prstShdw>
          </a:effectLst>
        </p:spPr>
        <p:txBody>
          <a:bodyPr>
            <a:spAutoFit/>
          </a:bodyPr>
          <a:lstStyle/>
          <a:p>
            <a:pPr>
              <a:defRPr/>
            </a:pPr>
            <a:r>
              <a:rPr kumimoji="0" lang="zh-CN" altLang="en-US" sz="2400" b="1" kern="0" dirty="0">
                <a:latin typeface="+mn-ea"/>
                <a:cs typeface="+mn-ea"/>
              </a:rPr>
              <a:t>借：其他应收款</a:t>
            </a:r>
          </a:p>
          <a:p>
            <a:pPr>
              <a:defRPr/>
            </a:pPr>
            <a:r>
              <a:rPr kumimoji="0" lang="zh-CN" altLang="en-US" sz="2400" b="1" kern="0" dirty="0">
                <a:latin typeface="+mn-ea"/>
                <a:cs typeface="+mn-ea"/>
              </a:rPr>
              <a:t>  贷：预付账款</a:t>
            </a:r>
            <a:endParaRPr kumimoji="0" lang="zh-CN" altLang="en-US" sz="2000">
              <a:solidFill>
                <a:schemeClr val="tx2"/>
              </a:solidFill>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219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219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9220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220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9220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9220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9220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9220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922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199" grpId="0" animBg="1"/>
      <p:bldP spid="392199" grpId="1" animBg="1"/>
      <p:bldP spid="392202" grpId="0" animBg="1"/>
      <p:bldP spid="392202" grpId="1" animBg="1"/>
      <p:bldP spid="392205" grpId="0" animBg="1"/>
      <p:bldP spid="392205" grpId="1" animBg="1"/>
      <p:bldP spid="392197" grpId="0" bldLvl="0" animBg="1"/>
      <p:bldP spid="392200" grpId="0" bldLvl="0" animBg="1"/>
      <p:bldP spid="392203" grpId="0" bldLvl="0" animBg="1"/>
      <p:bldP spid="392208" grpId="0" bldLvl="0" animBg="1"/>
      <p:bldP spid="392209" grpId="0" bldLvl="0" animBg="1"/>
      <p:bldP spid="392210" grpId="0" bldLvl="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latin typeface="黑体" panose="02010609060101010101" pitchFamily="49" charset="-122"/>
                <a:ea typeface="黑体" panose="02010609060101010101" pitchFamily="49" charset="-122"/>
                <a:sym typeface="+mn-ea"/>
              </a:rPr>
              <a:t>二、其他应收款</a:t>
            </a:r>
            <a:endParaRPr lang="zh-CN" altLang="en-US" dirty="0"/>
          </a:p>
        </p:txBody>
      </p:sp>
      <p:grpSp>
        <p:nvGrpSpPr>
          <p:cNvPr id="5" name="Group 16"/>
          <p:cNvGrpSpPr/>
          <p:nvPr/>
        </p:nvGrpSpPr>
        <p:grpSpPr bwMode="auto">
          <a:xfrm>
            <a:off x="1394778" y="2453323"/>
            <a:ext cx="6213475" cy="636587"/>
            <a:chOff x="853" y="1664"/>
            <a:chExt cx="3914" cy="401"/>
          </a:xfrm>
        </p:grpSpPr>
        <p:sp>
          <p:nvSpPr>
            <p:cNvPr id="355340" name="AutoShape 12"/>
            <p:cNvSpPr>
              <a:spLocks noChangeArrowheads="1"/>
            </p:cNvSpPr>
            <p:nvPr/>
          </p:nvSpPr>
          <p:spPr bwMode="auto">
            <a:xfrm>
              <a:off x="941" y="1664"/>
              <a:ext cx="3826" cy="401"/>
            </a:xfrm>
            <a:prstGeom prst="roundRect">
              <a:avLst>
                <a:gd name="adj" fmla="val 4167"/>
              </a:avLst>
            </a:prstGeom>
            <a:gradFill rotWithShape="1">
              <a:gsLst>
                <a:gs pos="0">
                  <a:schemeClr val="hlink">
                    <a:alpha val="80000"/>
                  </a:schemeClr>
                </a:gs>
                <a:gs pos="100000">
                  <a:schemeClr val="hlink">
                    <a:gamma/>
                    <a:tint val="43529"/>
                    <a:invGamma/>
                    <a:alpha val="50000"/>
                  </a:schemeClr>
                </a:gs>
              </a:gsLst>
              <a:lin ang="5400000" scaled="1"/>
            </a:gradFill>
            <a:ln w="9525" algn="ctr">
              <a:solidFill>
                <a:schemeClr val="hlink"/>
              </a:solidFill>
              <a:round/>
            </a:ln>
            <a:effectLst/>
          </p:spPr>
          <p:txBody>
            <a:bodyPr lIns="457200" anchor="ctr"/>
            <a:lstStyle/>
            <a:p>
              <a:pPr>
                <a:defRPr/>
              </a:pPr>
              <a:r>
                <a:rPr kumimoji="0" lang="zh-CN" altLang="en-US" sz="2800" b="1" kern="0" dirty="0">
                  <a:latin typeface="楷体_GB2312" panose="02010609030101010101" pitchFamily="49" charset="-122"/>
                  <a:ea typeface="楷体_GB2312" panose="02010609030101010101" pitchFamily="49" charset="-122"/>
                  <a:cs typeface="+mn-ea"/>
                </a:rPr>
                <a:t>（一）核算范围</a:t>
              </a:r>
            </a:p>
          </p:txBody>
        </p:sp>
        <p:sp>
          <p:nvSpPr>
            <p:cNvPr id="355343" name="AutoShape 15"/>
            <p:cNvSpPr>
              <a:spLocks noChangeArrowheads="1"/>
            </p:cNvSpPr>
            <p:nvPr/>
          </p:nvSpPr>
          <p:spPr bwMode="auto">
            <a:xfrm>
              <a:off x="853" y="1740"/>
              <a:ext cx="247" cy="248"/>
            </a:xfrm>
            <a:prstGeom prst="roundRect">
              <a:avLst>
                <a:gd name="adj" fmla="val 0"/>
              </a:avLst>
            </a:prstGeom>
            <a:gradFill rotWithShape="1">
              <a:gsLst>
                <a:gs pos="0">
                  <a:srgbClr val="6600FF">
                    <a:alpha val="80000"/>
                  </a:srgbClr>
                </a:gs>
                <a:gs pos="100000">
                  <a:schemeClr val="tx2"/>
                </a:gs>
              </a:gsLst>
              <a:lin ang="2700000" scaled="1"/>
            </a:gradFill>
            <a:ln w="9525" algn="ctr">
              <a:solidFill>
                <a:schemeClr val="tx1"/>
              </a:solidFill>
              <a:round/>
            </a:ln>
            <a:effectLst>
              <a:outerShdw dist="35921" dir="2700000" algn="ctr" rotWithShape="0">
                <a:schemeClr val="tx1">
                  <a:alpha val="50000"/>
                </a:schemeClr>
              </a:outerShdw>
            </a:effectLst>
          </p:spPr>
          <p:txBody>
            <a:bodyPr wrap="none" anchor="ctr"/>
            <a:lstStyle/>
            <a:p>
              <a:pPr algn="ctr" eaLnBrk="0" hangingPunct="0">
                <a:spcBef>
                  <a:spcPct val="0"/>
                </a:spcBef>
                <a:defRPr/>
              </a:pPr>
              <a:r>
                <a:rPr kumimoji="0" lang="en-US" altLang="zh-CN" sz="1800">
                  <a:solidFill>
                    <a:srgbClr val="FF9900"/>
                  </a:solidFill>
                  <a:effectLst>
                    <a:outerShdw blurRad="38100" dist="38100" dir="2700000" algn="tl">
                      <a:srgbClr val="000000"/>
                    </a:outerShdw>
                  </a:effectLst>
                  <a:latin typeface="宋体" panose="02010600030101010101" pitchFamily="2" charset="-122"/>
                  <a:ea typeface="宋体" panose="02010600030101010101" pitchFamily="2" charset="-122"/>
                </a:rPr>
                <a:t>1</a:t>
              </a:r>
            </a:p>
          </p:txBody>
        </p:sp>
      </p:grpSp>
      <p:sp>
        <p:nvSpPr>
          <p:cNvPr id="355333" name="Rectangle 5"/>
          <p:cNvSpPr>
            <a:spLocks noChangeArrowheads="1"/>
          </p:cNvSpPr>
          <p:nvPr/>
        </p:nvSpPr>
        <p:spPr bwMode="auto">
          <a:xfrm>
            <a:off x="1261745" y="3702685"/>
            <a:ext cx="8136890" cy="1383665"/>
          </a:xfrm>
          <a:prstGeom prst="rect">
            <a:avLst/>
          </a:prstGeom>
          <a:noFill/>
          <a:ln w="38100" algn="ctr">
            <a:noFill/>
            <a:miter lim="800000"/>
          </a:ln>
          <a:effectLst>
            <a:prstShdw prst="shdw17" dist="17961" dir="2700000">
              <a:schemeClr val="tx2">
                <a:gamma/>
                <a:shade val="60000"/>
                <a:invGamma/>
              </a:schemeClr>
            </a:prstShdw>
          </a:effectLst>
        </p:spPr>
        <p:txBody>
          <a:bodyPr wrap="square">
            <a:spAutoFit/>
          </a:bodyPr>
          <a:lstStyle/>
          <a:p>
            <a:pPr>
              <a:buFontTx/>
              <a:buBlip>
                <a:blip r:embed="rId2"/>
              </a:buBlip>
              <a:defRPr/>
            </a:pPr>
            <a:r>
              <a:rPr kumimoji="0" lang="en-US" altLang="zh-CN" sz="2400">
                <a:solidFill>
                  <a:schemeClr val="tx2"/>
                </a:solidFill>
                <a:latin typeface="宋体" panose="02010600030101010101" pitchFamily="2" charset="-122"/>
                <a:ea typeface="宋体" panose="02010600030101010101" pitchFamily="2" charset="-122"/>
              </a:rPr>
              <a:t> </a:t>
            </a:r>
            <a:r>
              <a:rPr kumimoji="0" lang="zh-CN" altLang="en-US" sz="2800" b="1" kern="0" dirty="0">
                <a:latin typeface="楷体_GB2312" panose="02010609030101010101" pitchFamily="49" charset="-122"/>
                <a:ea typeface="楷体_GB2312" panose="02010609030101010101" pitchFamily="49" charset="-122"/>
                <a:cs typeface="+mn-ea"/>
              </a:rPr>
              <a:t>非营业活动产生</a:t>
            </a:r>
          </a:p>
          <a:p>
            <a:pPr marL="571500" lvl="1" indent="0">
              <a:buFontTx/>
              <a:buNone/>
              <a:defRPr/>
            </a:pPr>
            <a:r>
              <a:rPr kumimoji="0" lang="zh-CN" altLang="en-US" sz="2800" b="1" kern="0" dirty="0">
                <a:latin typeface="楷体_GB2312" panose="02010609030101010101" pitchFamily="49" charset="-122"/>
                <a:ea typeface="楷体_GB2312" panose="02010609030101010101" pitchFamily="49" charset="-122"/>
                <a:cs typeface="+mn-ea"/>
              </a:rPr>
              <a:t>与企业正常生产经营活动无直接联系的活动</a:t>
            </a:r>
          </a:p>
          <a:p>
            <a:pPr>
              <a:buFontTx/>
              <a:buBlip>
                <a:blip r:embed="rId2"/>
              </a:buBlip>
              <a:defRPr/>
            </a:pPr>
            <a:r>
              <a:rPr kumimoji="0" lang="zh-CN" altLang="en-US" sz="2800" b="1" kern="0" dirty="0">
                <a:latin typeface="楷体_GB2312" panose="02010609030101010101" pitchFamily="49" charset="-122"/>
                <a:ea typeface="楷体_GB2312" panose="02010609030101010101" pitchFamily="49" charset="-122"/>
                <a:cs typeface="+mn-ea"/>
              </a:rPr>
              <a:t> 各种应收暂付款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53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33" grpId="0" bldLvl="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grpSp>
        <p:nvGrpSpPr>
          <p:cNvPr id="5" name="Group 10"/>
          <p:cNvGrpSpPr/>
          <p:nvPr/>
        </p:nvGrpSpPr>
        <p:grpSpPr bwMode="auto">
          <a:xfrm>
            <a:off x="1394778" y="1998028"/>
            <a:ext cx="6213475" cy="636587"/>
            <a:chOff x="853" y="1664"/>
            <a:chExt cx="3914" cy="401"/>
          </a:xfrm>
        </p:grpSpPr>
        <p:sp>
          <p:nvSpPr>
            <p:cNvPr id="431115" name="AutoShape 11"/>
            <p:cNvSpPr>
              <a:spLocks noChangeArrowheads="1"/>
            </p:cNvSpPr>
            <p:nvPr/>
          </p:nvSpPr>
          <p:spPr bwMode="auto">
            <a:xfrm>
              <a:off x="941" y="1664"/>
              <a:ext cx="3826" cy="401"/>
            </a:xfrm>
            <a:prstGeom prst="roundRect">
              <a:avLst>
                <a:gd name="adj" fmla="val 4167"/>
              </a:avLst>
            </a:prstGeom>
            <a:gradFill rotWithShape="1">
              <a:gsLst>
                <a:gs pos="0">
                  <a:schemeClr val="hlink">
                    <a:alpha val="80000"/>
                  </a:schemeClr>
                </a:gs>
                <a:gs pos="100000">
                  <a:schemeClr val="hlink">
                    <a:gamma/>
                    <a:tint val="43529"/>
                    <a:invGamma/>
                    <a:alpha val="50000"/>
                  </a:schemeClr>
                </a:gs>
              </a:gsLst>
              <a:lin ang="5400000" scaled="1"/>
            </a:gradFill>
            <a:ln w="9525" algn="ctr">
              <a:solidFill>
                <a:schemeClr val="hlink"/>
              </a:solidFill>
              <a:round/>
            </a:ln>
            <a:effectLst/>
          </p:spPr>
          <p:txBody>
            <a:bodyPr lIns="457200" anchor="ctr"/>
            <a:lstStyle/>
            <a:p>
              <a:pPr eaLnBrk="0" hangingPunct="0">
                <a:defRPr/>
              </a:pPr>
              <a:r>
                <a:rPr kumimoji="0" lang="zh-CN" altLang="en-US" sz="2800" b="1" kern="0" dirty="0">
                  <a:latin typeface="楷体_GB2312" panose="02010609030101010101" pitchFamily="49" charset="-122"/>
                  <a:ea typeface="楷体_GB2312" panose="02010609030101010101" pitchFamily="49" charset="-122"/>
                  <a:cs typeface="+mn-ea"/>
                </a:rPr>
                <a:t>（二）核算的内容</a:t>
              </a:r>
              <a:endParaRPr kumimoji="0" lang="zh-CN" altLang="en-US" sz="2800">
                <a:solidFill>
                  <a:schemeClr val="tx2"/>
                </a:solidFill>
                <a:ea typeface="宋体" panose="02010600030101010101" pitchFamily="2" charset="-122"/>
              </a:endParaRPr>
            </a:p>
          </p:txBody>
        </p:sp>
        <p:sp>
          <p:nvSpPr>
            <p:cNvPr id="431116" name="AutoShape 12"/>
            <p:cNvSpPr>
              <a:spLocks noChangeArrowheads="1"/>
            </p:cNvSpPr>
            <p:nvPr/>
          </p:nvSpPr>
          <p:spPr bwMode="auto">
            <a:xfrm>
              <a:off x="853" y="1740"/>
              <a:ext cx="247" cy="248"/>
            </a:xfrm>
            <a:prstGeom prst="roundRect">
              <a:avLst>
                <a:gd name="adj" fmla="val 0"/>
              </a:avLst>
            </a:prstGeom>
            <a:gradFill rotWithShape="1">
              <a:gsLst>
                <a:gs pos="0">
                  <a:srgbClr val="6600FF">
                    <a:alpha val="80000"/>
                  </a:srgbClr>
                </a:gs>
                <a:gs pos="100000">
                  <a:schemeClr val="tx2"/>
                </a:gs>
              </a:gsLst>
              <a:lin ang="2700000" scaled="1"/>
            </a:gradFill>
            <a:ln w="9525" algn="ctr">
              <a:solidFill>
                <a:schemeClr val="tx1"/>
              </a:solidFill>
              <a:round/>
            </a:ln>
            <a:effectLst>
              <a:outerShdw dist="35921" dir="2700000" algn="ctr" rotWithShape="0">
                <a:schemeClr val="tx1">
                  <a:alpha val="50000"/>
                </a:schemeClr>
              </a:outerShdw>
            </a:effectLst>
          </p:spPr>
          <p:txBody>
            <a:bodyPr wrap="none" anchor="ctr"/>
            <a:lstStyle/>
            <a:p>
              <a:pPr algn="ctr" eaLnBrk="0" hangingPunct="0">
                <a:spcBef>
                  <a:spcPct val="0"/>
                </a:spcBef>
                <a:defRPr/>
              </a:pPr>
              <a:r>
                <a:rPr kumimoji="0" lang="en-US" altLang="zh-CN" sz="1800">
                  <a:solidFill>
                    <a:srgbClr val="FF9900"/>
                  </a:solidFill>
                  <a:effectLst>
                    <a:outerShdw blurRad="38100" dist="38100" dir="2700000" algn="tl">
                      <a:srgbClr val="000000"/>
                    </a:outerShdw>
                  </a:effectLst>
                  <a:latin typeface="宋体" panose="02010600030101010101" pitchFamily="2" charset="-122"/>
                  <a:ea typeface="宋体" panose="02010600030101010101" pitchFamily="2" charset="-122"/>
                </a:rPr>
                <a:t>2</a:t>
              </a:r>
            </a:p>
          </p:txBody>
        </p:sp>
      </p:grpSp>
      <p:sp>
        <p:nvSpPr>
          <p:cNvPr id="6" name="文本框 5"/>
          <p:cNvSpPr txBox="1"/>
          <p:nvPr/>
        </p:nvSpPr>
        <p:spPr>
          <a:xfrm>
            <a:off x="1787525" y="2821305"/>
            <a:ext cx="5982335" cy="2306955"/>
          </a:xfrm>
          <a:prstGeom prst="rect">
            <a:avLst/>
          </a:prstGeom>
          <a:noFill/>
        </p:spPr>
        <p:txBody>
          <a:bodyPr wrap="square" rtlCol="0" anchor="t">
            <a:spAutoFit/>
          </a:bodyPr>
          <a:lstStyle/>
          <a:p>
            <a:pPr>
              <a:buFontTx/>
              <a:buBlip>
                <a:blip r:embed="rId2"/>
              </a:buBlip>
              <a:defRPr/>
            </a:pPr>
            <a:r>
              <a:rPr lang="zh-CN" altLang="en-US" sz="2400" b="1" kern="0" dirty="0">
                <a:latin typeface="+mn-ea"/>
                <a:cs typeface="+mn-ea"/>
                <a:sym typeface="+mn-ea"/>
              </a:rPr>
              <a:t>应收的各种赔款、罚款</a:t>
            </a:r>
            <a:endParaRPr kumimoji="0" lang="zh-CN" altLang="en-US" sz="2400" b="1" kern="0" dirty="0">
              <a:latin typeface="+mn-ea"/>
              <a:cs typeface="+mn-ea"/>
            </a:endParaRPr>
          </a:p>
          <a:p>
            <a:pPr>
              <a:buFontTx/>
              <a:buBlip>
                <a:blip r:embed="rId2"/>
              </a:buBlip>
              <a:defRPr/>
            </a:pPr>
            <a:r>
              <a:rPr lang="zh-CN" altLang="en-US" sz="2400" b="1" kern="0" dirty="0">
                <a:latin typeface="+mn-ea"/>
                <a:cs typeface="+mn-ea"/>
                <a:sym typeface="+mn-ea"/>
              </a:rPr>
              <a:t> 应收出租包装物的租金</a:t>
            </a:r>
            <a:endParaRPr kumimoji="0" lang="zh-CN" altLang="en-US" sz="2400" b="1" kern="0" dirty="0">
              <a:latin typeface="+mn-ea"/>
              <a:cs typeface="+mn-ea"/>
            </a:endParaRPr>
          </a:p>
          <a:p>
            <a:pPr>
              <a:buFontTx/>
              <a:buBlip>
                <a:blip r:embed="rId2"/>
              </a:buBlip>
              <a:defRPr/>
            </a:pPr>
            <a:r>
              <a:rPr lang="zh-CN" altLang="en-US" sz="2400" b="1" kern="0" dirty="0">
                <a:latin typeface="+mn-ea"/>
                <a:cs typeface="+mn-ea"/>
                <a:sym typeface="+mn-ea"/>
              </a:rPr>
              <a:t> 应向职工收取的各种垫付款项</a:t>
            </a:r>
            <a:endParaRPr kumimoji="0" lang="zh-CN" altLang="en-US" sz="2400" b="1" kern="0" dirty="0">
              <a:latin typeface="+mn-ea"/>
              <a:cs typeface="+mn-ea"/>
            </a:endParaRPr>
          </a:p>
          <a:p>
            <a:pPr>
              <a:buFontTx/>
              <a:buBlip>
                <a:blip r:embed="rId2"/>
              </a:buBlip>
              <a:defRPr/>
            </a:pPr>
            <a:r>
              <a:rPr lang="zh-CN" altLang="en-US" sz="2400" b="1" kern="0" dirty="0">
                <a:latin typeface="+mn-ea"/>
                <a:cs typeface="+mn-ea"/>
                <a:sym typeface="+mn-ea"/>
              </a:rPr>
              <a:t> 备用金</a:t>
            </a:r>
            <a:endParaRPr kumimoji="0" lang="zh-CN" altLang="en-US" sz="2400" b="1" kern="0" dirty="0">
              <a:latin typeface="+mn-ea"/>
              <a:cs typeface="+mn-ea"/>
            </a:endParaRPr>
          </a:p>
          <a:p>
            <a:pPr>
              <a:buFontTx/>
              <a:buBlip>
                <a:blip r:embed="rId2"/>
              </a:buBlip>
              <a:defRPr/>
            </a:pPr>
            <a:r>
              <a:rPr lang="zh-CN" altLang="en-US" sz="2400" b="1" kern="0" dirty="0">
                <a:latin typeface="+mn-ea"/>
                <a:cs typeface="+mn-ea"/>
                <a:sym typeface="+mn-ea"/>
              </a:rPr>
              <a:t> 存出的保证金，如租入包装物的押金</a:t>
            </a:r>
            <a:endParaRPr kumimoji="0" lang="zh-CN" altLang="en-US" sz="2400" b="1" kern="0" dirty="0">
              <a:latin typeface="+mn-ea"/>
              <a:cs typeface="+mn-ea"/>
            </a:endParaRPr>
          </a:p>
          <a:p>
            <a:pPr>
              <a:buFontTx/>
              <a:buBlip>
                <a:blip r:embed="rId2"/>
              </a:buBlip>
              <a:defRPr/>
            </a:pPr>
            <a:r>
              <a:rPr lang="zh-CN" altLang="en-US" sz="2400" b="1" kern="0" dirty="0">
                <a:latin typeface="+mn-ea"/>
                <a:cs typeface="+mn-ea"/>
                <a:sym typeface="+mn-ea"/>
              </a:rPr>
              <a:t> 其他应收、暂付款</a:t>
            </a:r>
            <a:endParaRPr lang="zh-CN" altLang="en-US" sz="2400" b="1" kern="0" dirty="0">
              <a:latin typeface="+mn-ea"/>
              <a:cs typeface="+mn-ea"/>
            </a:endParaRPr>
          </a:p>
        </p:txBody>
      </p:sp>
      <p:grpSp>
        <p:nvGrpSpPr>
          <p:cNvPr id="8" name="Group 7"/>
          <p:cNvGrpSpPr/>
          <p:nvPr/>
        </p:nvGrpSpPr>
        <p:grpSpPr bwMode="auto">
          <a:xfrm>
            <a:off x="1395095" y="5490528"/>
            <a:ext cx="6213475" cy="636587"/>
            <a:chOff x="853" y="2867"/>
            <a:chExt cx="3914" cy="401"/>
          </a:xfrm>
        </p:grpSpPr>
        <p:sp>
          <p:nvSpPr>
            <p:cNvPr id="9" name="AutoShape 8"/>
            <p:cNvSpPr>
              <a:spLocks noChangeArrowheads="1"/>
            </p:cNvSpPr>
            <p:nvPr/>
          </p:nvSpPr>
          <p:spPr bwMode="auto">
            <a:xfrm>
              <a:off x="941" y="2867"/>
              <a:ext cx="3826" cy="401"/>
            </a:xfrm>
            <a:prstGeom prst="roundRect">
              <a:avLst>
                <a:gd name="adj" fmla="val 4167"/>
              </a:avLst>
            </a:prstGeom>
            <a:gradFill rotWithShape="1">
              <a:gsLst>
                <a:gs pos="0">
                  <a:schemeClr val="hlink">
                    <a:alpha val="80000"/>
                  </a:schemeClr>
                </a:gs>
                <a:gs pos="100000">
                  <a:schemeClr val="hlink">
                    <a:gamma/>
                    <a:tint val="43529"/>
                    <a:invGamma/>
                    <a:alpha val="50000"/>
                  </a:schemeClr>
                </a:gs>
              </a:gsLst>
              <a:lin ang="5400000" scaled="1"/>
            </a:gradFill>
            <a:ln w="9525" algn="ctr">
              <a:solidFill>
                <a:schemeClr val="hlink"/>
              </a:solidFill>
              <a:round/>
            </a:ln>
            <a:effectLst/>
          </p:spPr>
          <p:txBody>
            <a:bodyPr lIns="457200" anchor="ctr"/>
            <a:lstStyle/>
            <a:p>
              <a:pPr>
                <a:lnSpc>
                  <a:spcPct val="180000"/>
                </a:lnSpc>
                <a:spcBef>
                  <a:spcPct val="20000"/>
                </a:spcBef>
                <a:buClr>
                  <a:schemeClr val="hlink"/>
                </a:buClr>
                <a:buFont typeface="Wingdings" panose="05000000000000000000" pitchFamily="2" charset="2"/>
                <a:buNone/>
                <a:defRPr/>
              </a:pPr>
              <a:r>
                <a:rPr kumimoji="0" lang="zh-CN" altLang="en-US" sz="2800" b="1" kern="0" dirty="0">
                  <a:latin typeface="楷体_GB2312" panose="02010609030101010101" pitchFamily="49" charset="-122"/>
                  <a:ea typeface="楷体_GB2312" panose="02010609030101010101" pitchFamily="49" charset="-122"/>
                  <a:cs typeface="+mn-ea"/>
                </a:rPr>
                <a:t>（三）账户设置—“其他应收款”</a:t>
              </a:r>
              <a:endParaRPr kumimoji="0" lang="zh-CN" altLang="en-US" sz="2800">
                <a:solidFill>
                  <a:schemeClr val="tx2"/>
                </a:solidFill>
                <a:ea typeface="宋体" panose="02010600030101010101" pitchFamily="2" charset="-122"/>
              </a:endParaRPr>
            </a:p>
          </p:txBody>
        </p:sp>
        <p:sp>
          <p:nvSpPr>
            <p:cNvPr id="10" name="AutoShape 9"/>
            <p:cNvSpPr>
              <a:spLocks noChangeArrowheads="1"/>
            </p:cNvSpPr>
            <p:nvPr/>
          </p:nvSpPr>
          <p:spPr bwMode="auto">
            <a:xfrm>
              <a:off x="853" y="2943"/>
              <a:ext cx="247" cy="248"/>
            </a:xfrm>
            <a:prstGeom prst="roundRect">
              <a:avLst>
                <a:gd name="adj" fmla="val 0"/>
              </a:avLst>
            </a:prstGeom>
            <a:gradFill rotWithShape="1">
              <a:gsLst>
                <a:gs pos="0">
                  <a:srgbClr val="6600FF">
                    <a:alpha val="80000"/>
                  </a:srgbClr>
                </a:gs>
                <a:gs pos="100000">
                  <a:schemeClr val="tx2"/>
                </a:gs>
              </a:gsLst>
              <a:lin ang="2700000" scaled="1"/>
            </a:gradFill>
            <a:ln w="9525" algn="ctr">
              <a:solidFill>
                <a:schemeClr val="tx1"/>
              </a:solidFill>
              <a:round/>
            </a:ln>
            <a:effectLst>
              <a:outerShdw dist="35921" dir="2700000" algn="ctr" rotWithShape="0">
                <a:schemeClr val="tx1">
                  <a:alpha val="50000"/>
                </a:schemeClr>
              </a:outerShdw>
            </a:effectLst>
          </p:spPr>
          <p:txBody>
            <a:bodyPr wrap="none" anchor="ctr"/>
            <a:lstStyle/>
            <a:p>
              <a:pPr algn="ctr" eaLnBrk="0" hangingPunct="0">
                <a:spcBef>
                  <a:spcPct val="0"/>
                </a:spcBef>
                <a:defRPr/>
              </a:pPr>
              <a:r>
                <a:rPr kumimoji="0" lang="en-US" altLang="zh-CN" sz="1800">
                  <a:solidFill>
                    <a:srgbClr val="FF9900"/>
                  </a:solidFill>
                  <a:effectLst>
                    <a:outerShdw blurRad="38100" dist="38100" dir="2700000" algn="tl">
                      <a:srgbClr val="000000"/>
                    </a:outerShdw>
                  </a:effectLst>
                  <a:latin typeface="宋体" panose="02010600030101010101" pitchFamily="2" charset="-122"/>
                  <a:ea typeface="宋体" panose="02010600030101010101" pitchFamily="2" charset="-122"/>
                </a:rPr>
                <a:t>3</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ox(in)">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WordArt 5"/>
          <p:cNvSpPr>
            <a:spLocks noChangeArrowheads="1" noChangeShapeType="1" noTextEdit="1"/>
          </p:cNvSpPr>
          <p:nvPr/>
        </p:nvSpPr>
        <p:spPr bwMode="auto">
          <a:xfrm>
            <a:off x="3875405" y="3059430"/>
            <a:ext cx="4613275" cy="2183765"/>
          </a:xfrm>
          <a:prstGeom prst="rect">
            <a:avLst/>
          </a:prstGeom>
        </p:spPr>
        <p:txBody>
          <a:bodyPr wrap="none" fromWordArt="1">
            <a:scene3d>
              <a:camera prst="orthographicFront"/>
              <a:lightRig rig="threePt" dir="t"/>
            </a:scene3d>
          </a:bodyPr>
          <a:lstStyle/>
          <a:p>
            <a:pPr algn="ctr"/>
            <a:r>
              <a:rPr lang="zh-CN" altLang="en-US" sz="5400" kern="10" dirty="0">
                <a:ln w="25400">
                  <a:gradFill>
                    <a:gsLst>
                      <a:gs pos="31000">
                        <a:srgbClr val="6D6E85"/>
                      </a:gs>
                      <a:gs pos="66000">
                        <a:srgbClr val="A2C6FF"/>
                      </a:gs>
                      <a:gs pos="45000">
                        <a:srgbClr val="97B8F2"/>
                      </a:gs>
                      <a:gs pos="11000">
                        <a:srgbClr val="ED7D31">
                          <a:lumMod val="20000"/>
                          <a:lumOff val="80000"/>
                        </a:srgbClr>
                      </a:gs>
                      <a:gs pos="100000">
                        <a:srgbClr val="7E6760"/>
                      </a:gs>
                      <a:gs pos="91000">
                        <a:schemeClr val="bg1">
                          <a:lumMod val="50000"/>
                        </a:schemeClr>
                      </a:gs>
                      <a:gs pos="56000">
                        <a:srgbClr val="455C85"/>
                      </a:gs>
                      <a:gs pos="81000">
                        <a:srgbClr val="F8D8CF"/>
                      </a:gs>
                    </a:gsLst>
                  </a:gradFill>
                </a:ln>
                <a:solidFill>
                  <a:schemeClr val="tx2"/>
                </a:solidFill>
                <a:effectLst>
                  <a:outerShdw blurRad="38100" dist="25400" dir="5400000" algn="ctr" rotWithShape="0">
                    <a:srgbClr val="6E747A">
                      <a:alpha val="43000"/>
                    </a:srgbClr>
                  </a:outerShdw>
                </a:effectLst>
                <a:latin typeface="黑体" panose="02010609060101010101" pitchFamily="49" charset="-122"/>
                <a:ea typeface="黑体" panose="02010609060101010101" pitchFamily="49" charset="-122"/>
              </a:rPr>
              <a:t>谢谢大家！</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EFSHAPE" val="702242324"/>
  <p:tag name="KSO_WM_UNIT_PLACING_PICTURE_USER_VIEWPORT" val="{&quot;height&quot;:5430,&quot;width&quot;:14400}"/>
</p:tagLst>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华文中宋"/>
        <a:cs typeface=""/>
      </a:majorFont>
      <a:minorFont>
        <a:latin typeface="Tahoma"/>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themeOverride>
</file>

<file path=docProps/app.xml><?xml version="1.0" encoding="utf-8"?>
<Properties xmlns="http://schemas.openxmlformats.org/officeDocument/2006/extended-properties" xmlns:vt="http://schemas.openxmlformats.org/officeDocument/2006/docPropsVTypes">
  <TotalTime>84</TotalTime>
  <Words>4276</Words>
  <Application>Microsoft Office PowerPoint</Application>
  <PresentationFormat>宽屏</PresentationFormat>
  <Paragraphs>511</Paragraphs>
  <Slides>59</Slides>
  <Notes>2</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59</vt:i4>
      </vt:variant>
    </vt:vector>
  </HeadingPairs>
  <TitlesOfParts>
    <vt:vector size="74" baseType="lpstr">
      <vt:lpstr>仿宋_GB2312</vt:lpstr>
      <vt:lpstr>黑体</vt:lpstr>
      <vt:lpstr>华文楷体</vt:lpstr>
      <vt:lpstr>华文细黑</vt:lpstr>
      <vt:lpstr>华文新魏</vt:lpstr>
      <vt:lpstr>楷体</vt:lpstr>
      <vt:lpstr>楷体_GB2312</vt:lpstr>
      <vt:lpstr>隶书</vt:lpstr>
      <vt:lpstr>宋体</vt:lpstr>
      <vt:lpstr>微软雅黑</vt:lpstr>
      <vt:lpstr>Arial</vt:lpstr>
      <vt:lpstr>Tahoma</vt:lpstr>
      <vt:lpstr>Times New Roman</vt:lpstr>
      <vt:lpstr>Wingdings</vt:lpstr>
      <vt:lpstr>Blends</vt:lpstr>
      <vt:lpstr>PowerPoint 演示文稿</vt:lpstr>
      <vt:lpstr>PowerPoint 演示文稿</vt:lpstr>
      <vt:lpstr>学习目标</vt:lpstr>
      <vt:lpstr>学习目标</vt:lpstr>
      <vt:lpstr>一、应收票据概述</vt:lpstr>
      <vt:lpstr>PowerPoint 演示文稿</vt:lpstr>
      <vt:lpstr>二、应收票据的取得</vt:lpstr>
      <vt:lpstr>PowerPoint 演示文稿</vt:lpstr>
      <vt:lpstr>三、应收票据持有期间的利息</vt:lpstr>
      <vt:lpstr>应收票据利息的计算</vt:lpstr>
      <vt:lpstr>PowerPoint 演示文稿</vt:lpstr>
      <vt:lpstr>四、应收票据到期</vt:lpstr>
      <vt:lpstr>PowerPoint 演示文稿</vt:lpstr>
      <vt:lpstr>带息票据的会计处理</vt:lpstr>
      <vt:lpstr>五、应收票据转让</vt:lpstr>
      <vt:lpstr>PowerPoint 演示文稿</vt:lpstr>
      <vt:lpstr>（二）转让的会计处理</vt:lpstr>
      <vt:lpstr>PowerPoint 演示文稿</vt:lpstr>
      <vt:lpstr>PowerPoint 演示文稿</vt:lpstr>
      <vt:lpstr>PowerPoint 演示文稿</vt:lpstr>
      <vt:lpstr>六、应收票据贴现</vt:lpstr>
      <vt:lpstr>(一)贴现所得额和贴现息的计算</vt:lpstr>
      <vt:lpstr>贴现期</vt:lpstr>
      <vt:lpstr>票据到期利息、到期值、贴现天数、贴现息、贴现所得额计算</vt:lpstr>
      <vt:lpstr>(二）应收票据贴现的会计处理</vt:lpstr>
      <vt:lpstr>PowerPoint 演示文稿</vt:lpstr>
      <vt:lpstr>一、应收账款的概述</vt:lpstr>
      <vt:lpstr>PowerPoint 演示文稿</vt:lpstr>
      <vt:lpstr>PowerPoint 演示文稿</vt:lpstr>
      <vt:lpstr>PowerPoint 演示文稿</vt:lpstr>
      <vt:lpstr>PowerPoint 演示文稿</vt:lpstr>
      <vt:lpstr>PowerPoint 演示文稿</vt:lpstr>
      <vt:lpstr>总额法</vt:lpstr>
      <vt:lpstr>总额法举例</vt:lpstr>
      <vt:lpstr> </vt:lpstr>
      <vt:lpstr>二、应收账款的取得与收回</vt:lpstr>
      <vt:lpstr>三、应收账款的保理</vt:lpstr>
      <vt:lpstr>四、应收账款质押</vt:lpstr>
      <vt:lpstr>五、应收款项减值</vt:lpstr>
      <vt:lpstr>PowerPoint 演示文稿</vt:lpstr>
      <vt:lpstr>PowerPoint 演示文稿</vt:lpstr>
      <vt:lpstr>PowerPoint 演示文稿</vt:lpstr>
      <vt:lpstr>备抵法的账务处理</vt:lpstr>
      <vt:lpstr>余额百分比法</vt:lpstr>
      <vt:lpstr>采用余额百分比对坏账进行会计处理，要点如下：</vt:lpstr>
      <vt:lpstr>PowerPoint 演示文稿</vt:lpstr>
      <vt:lpstr>余额百分比法下当期应计提的坏账损失</vt:lpstr>
      <vt:lpstr>应收账款减值会计处理举例</vt:lpstr>
      <vt:lpstr>PowerPoint 演示文稿</vt:lpstr>
      <vt:lpstr>账龄分析法</vt:lpstr>
      <vt:lpstr>西宁特钢(600117，2018)</vt:lpstr>
      <vt:lpstr>PowerPoint 演示文稿</vt:lpstr>
      <vt:lpstr>PowerPoint 演示文稿</vt:lpstr>
      <vt:lpstr>PowerPoint 演示文稿</vt:lpstr>
      <vt:lpstr>一、预付账款</vt:lpstr>
      <vt:lpstr>PowerPoint 演示文稿</vt:lpstr>
      <vt:lpstr>二、其他应收款</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毛 新述</cp:lastModifiedBy>
  <cp:revision>65</cp:revision>
  <dcterms:created xsi:type="dcterms:W3CDTF">2020-04-15T04:21:00Z</dcterms:created>
  <dcterms:modified xsi:type="dcterms:W3CDTF">2020-10-14T15:42:58Z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2052-11.1.0.9584</vt:lpwstr>
  </property>
</Properties>
</file>