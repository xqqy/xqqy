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3" r:id="rId2"/>
    <p:sldId id="282" r:id="rId3"/>
    <p:sldId id="261" r:id="rId4"/>
    <p:sldId id="262" r:id="rId5"/>
    <p:sldId id="329" r:id="rId6"/>
    <p:sldId id="283" r:id="rId7"/>
    <p:sldId id="285" r:id="rId8"/>
    <p:sldId id="286" r:id="rId9"/>
    <p:sldId id="288" r:id="rId10"/>
    <p:sldId id="280" r:id="rId11"/>
    <p:sldId id="265" r:id="rId12"/>
    <p:sldId id="266" r:id="rId13"/>
    <p:sldId id="267" r:id="rId14"/>
    <p:sldId id="295" r:id="rId15"/>
    <p:sldId id="294" r:id="rId16"/>
    <p:sldId id="291" r:id="rId17"/>
    <p:sldId id="296" r:id="rId18"/>
    <p:sldId id="289" r:id="rId19"/>
    <p:sldId id="302" r:id="rId20"/>
    <p:sldId id="275" r:id="rId21"/>
    <p:sldId id="290" r:id="rId22"/>
    <p:sldId id="297" r:id="rId23"/>
    <p:sldId id="298" r:id="rId24"/>
    <p:sldId id="271" r:id="rId25"/>
    <p:sldId id="272" r:id="rId26"/>
    <p:sldId id="300" r:id="rId27"/>
    <p:sldId id="351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FF"/>
    <a:srgbClr val="66FFFF"/>
    <a:srgbClr val="008000"/>
    <a:srgbClr val="00CC00"/>
    <a:srgbClr val="0000FF"/>
    <a:srgbClr val="FF3300"/>
    <a:srgbClr val="FFFF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42" y="34"/>
      </p:cViewPr>
      <p:guideLst>
        <p:guide orient="horz" pos="2142"/>
        <p:guide pos="283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9.xml"/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10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100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10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10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10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10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100"/>
            </a:p>
          </p:txBody>
        </p:sp>
      </p:grpSp>
      <p:sp>
        <p:nvSpPr>
          <p:cNvPr id="28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8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C77826-BA94-4F4C-A5BA-E8123F2251B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0"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仿宋_GB2312" panose="02010609030101010101" pitchFamily="49" charset="-122"/>
                <a:ea typeface="仿宋_GB2312" panose="0201060903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EEC0A-5FC2-468C-B439-BEC143BBD76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A626A3-817B-4B0D-8F44-FF960E5FDCF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333AB3-2C2F-49EA-A9BC-33DA8C0BE86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A5C998-E878-44B9-AE9A-8C6689FE07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C827D-B44D-457E-BF54-DD41EF87E1D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4C60A-4F45-458A-AD17-6DB39DB6F82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8B55E-183F-4A0D-B838-4744B5D9260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4A8AF-E72D-4565-BC63-60EE11508E1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F1E6D-DC82-45FA-85E6-04ACD36F58F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8F7FA-7A67-4540-AA88-49F2DE49176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96AC5-FAC5-49FC-82CE-5E0035DF16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BD0F1-4A6D-4E4D-B1DE-757085568DA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0EF7-887D-499A-B23E-A4C67658BE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18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887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05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87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05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87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50"/>
            </a:lvl1pPr>
          </a:lstStyle>
          <a:p>
            <a:fld id="{A81D0EF7-887D-499A-B23E-A4C67658BE4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pull dir="ru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华文中宋" panose="02010600040101010101" pitchFamily="2" charset="-122"/>
        </a:defRPr>
      </a:lvl9pPr>
    </p:titleStyle>
    <p:bodyStyle>
      <a:lvl1pPr marL="257175" indent="-257175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600" b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557530" indent="-213995" algn="l" rtl="0" eaLnBrk="0" fontAlgn="base" hangingPunct="0">
        <a:spcBef>
          <a:spcPct val="15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</a:defRPr>
      </a:lvl2pPr>
      <a:lvl3pPr marL="857250" indent="-17145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</a:defRPr>
      </a:lvl3pPr>
      <a:lvl4pPr marL="1200150" indent="-171450" algn="l" rtl="0" eaLnBrk="0" fontAlgn="base" hangingPunct="0">
        <a:spcBef>
          <a:spcPct val="15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8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1543050" indent="-171450" algn="l" rtl="0" eaLnBrk="0" fontAlgn="base" hangingPunct="0">
        <a:spcBef>
          <a:spcPct val="15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1885950" indent="-171450" algn="l" rtl="0" fontAlgn="base">
        <a:spcBef>
          <a:spcPct val="15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15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15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15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章 基础金融资产</a:t>
            </a:r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1835150" y="3215005"/>
            <a:ext cx="60071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预备知识：货币的时间价值</a:t>
            </a:r>
          </a:p>
        </p:txBody>
      </p:sp>
    </p:spTree>
  </p:cSld>
  <p:clrMapOvr>
    <a:masterClrMapping/>
  </p:clrMapOvr>
  <p:transition spd="slow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货币的时间价值</a:t>
            </a:r>
          </a:p>
        </p:txBody>
      </p:sp>
      <p:graphicFrame>
        <p:nvGraphicFramePr>
          <p:cNvPr id="129027" name="Object 3"/>
          <p:cNvGraphicFramePr/>
          <p:nvPr/>
        </p:nvGraphicFramePr>
        <p:xfrm>
          <a:off x="1128713" y="3276600"/>
          <a:ext cx="6686550" cy="330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Clip" r:id="rId3" imgW="5821680" imgH="2887980" progId="MS_ClipArt_Gallery.5">
                  <p:embed/>
                </p:oleObj>
              </mc:Choice>
              <mc:Fallback>
                <p:oleObj name="Clip" r:id="rId3" imgW="5821680" imgH="2887980" progId="MS_ClipArt_Gallery.5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3276600"/>
                        <a:ext cx="6686550" cy="330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8" name="AutoShape 4"/>
          <p:cNvSpPr>
            <a:spLocks noChangeArrowheads="1"/>
          </p:cNvSpPr>
          <p:nvPr/>
        </p:nvSpPr>
        <p:spPr bwMode="auto">
          <a:xfrm flipH="1">
            <a:off x="250825" y="1844675"/>
            <a:ext cx="3200400" cy="1385888"/>
          </a:xfrm>
          <a:prstGeom prst="wedgeRoundRectCallout">
            <a:avLst>
              <a:gd name="adj1" fmla="val -35319"/>
              <a:gd name="adj2" fmla="val 66667"/>
              <a:gd name="adj3" fmla="val 16667"/>
            </a:avLst>
          </a:prstGeom>
          <a:solidFill>
            <a:srgbClr val="FFFFFF"/>
          </a:solidFill>
          <a:ln w="12700">
            <a:solidFill>
              <a:schemeClr val="bg2"/>
            </a:solidFill>
            <a:miter lim="800000"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500">
                <a:solidFill>
                  <a:srgbClr val="FF3300"/>
                </a:solidFill>
              </a:rPr>
              <a:t>利息是为了在一段时间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500">
                <a:solidFill>
                  <a:srgbClr val="FF3300"/>
                </a:solidFill>
              </a:rPr>
              <a:t>内使用货币而必须支付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500">
                <a:solidFill>
                  <a:srgbClr val="FF3300"/>
                </a:solidFill>
              </a:rPr>
              <a:t>的“租金”</a:t>
            </a:r>
            <a:endParaRPr lang="en-US" altLang="zh-CN" sz="2500" b="0">
              <a:solidFill>
                <a:srgbClr val="FF3300"/>
              </a:solidFill>
            </a:endParaRPr>
          </a:p>
        </p:txBody>
      </p:sp>
      <p:sp>
        <p:nvSpPr>
          <p:cNvPr id="129029" name="AutoShape 5"/>
          <p:cNvSpPr>
            <a:spLocks noChangeArrowheads="1"/>
          </p:cNvSpPr>
          <p:nvPr/>
        </p:nvSpPr>
        <p:spPr bwMode="auto">
          <a:xfrm>
            <a:off x="4711065" y="1845310"/>
            <a:ext cx="3359785" cy="152209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EB9"/>
          </a:solidFill>
          <a:ln w="12700">
            <a:solidFill>
              <a:schemeClr val="bg2"/>
            </a:solidFill>
            <a:miter lim="800000"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FF00"/>
                </a:solidFill>
              </a:rPr>
              <a:t>是的</a:t>
            </a:r>
            <a:r>
              <a:rPr lang="en-US" altLang="zh-CN" sz="2400">
                <a:solidFill>
                  <a:srgbClr val="00FF00"/>
                </a:solidFill>
              </a:rPr>
              <a:t>!  </a:t>
            </a:r>
            <a:r>
              <a:rPr lang="zh-CN" altLang="en-US" sz="2400">
                <a:solidFill>
                  <a:srgbClr val="00FF00"/>
                </a:solidFill>
              </a:rPr>
              <a:t>今天的</a:t>
            </a:r>
            <a:r>
              <a:rPr lang="en-US" altLang="zh-CN" sz="2400">
                <a:solidFill>
                  <a:srgbClr val="00FF00"/>
                </a:solidFill>
              </a:rPr>
              <a:t>1</a:t>
            </a:r>
            <a:r>
              <a:rPr lang="zh-CN" altLang="en-US" sz="2400">
                <a:solidFill>
                  <a:srgbClr val="00FF00"/>
                </a:solidFill>
              </a:rPr>
              <a:t>元比一年后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FF00"/>
                </a:solidFill>
              </a:rPr>
              <a:t>的</a:t>
            </a:r>
            <a:r>
              <a:rPr lang="en-US" altLang="zh-CN" sz="2400">
                <a:solidFill>
                  <a:srgbClr val="00FF00"/>
                </a:solidFill>
              </a:rPr>
              <a:t>1</a:t>
            </a:r>
            <a:r>
              <a:rPr lang="zh-CN" altLang="en-US" sz="2400">
                <a:solidFill>
                  <a:srgbClr val="00FF00"/>
                </a:solidFill>
              </a:rPr>
              <a:t>元更有价值</a:t>
            </a:r>
            <a:endParaRPr lang="en-US" altLang="zh-CN" sz="240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animBg="1"/>
      <p:bldP spid="12902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468313" y="1989138"/>
            <a:ext cx="6335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684213" y="1989138"/>
            <a:ext cx="712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1151255" y="4645025"/>
            <a:ext cx="2727325" cy="458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buNone/>
            </a:pPr>
            <a:r>
              <a:rPr lang="zh-CN" altLang="en-US" sz="2000">
                <a:latin typeface="楷体_GB2312" panose="02010609030101010101" pitchFamily="49" charset="-122"/>
                <a:ea typeface="楷体_GB2312" panose="02010609030101010101" pitchFamily="49" charset="-122"/>
              </a:rPr>
              <a:t>单利       </a:t>
            </a:r>
            <a:r>
              <a:rPr lang="en-US" altLang="zh-CN" sz="2000" b="0">
                <a:ea typeface="楷体_GB2312" panose="02010609030101010101" pitchFamily="49" charset="-122"/>
              </a:rPr>
              <a:t>— —</a:t>
            </a:r>
            <a:endParaRPr lang="en-US" altLang="zh-CN" sz="2000" b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2169" name="Text Box 9"/>
          <p:cNvSpPr txBox="1">
            <a:spLocks noChangeArrowheads="1"/>
          </p:cNvSpPr>
          <p:nvPr/>
        </p:nvSpPr>
        <p:spPr bwMode="auto">
          <a:xfrm>
            <a:off x="539433" y="3797300"/>
            <a:ext cx="4967287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二、单利和复利</a:t>
            </a:r>
          </a:p>
        </p:txBody>
      </p:sp>
      <p:sp>
        <p:nvSpPr>
          <p:cNvPr id="92170" name="Text Box 10"/>
          <p:cNvSpPr txBox="1">
            <a:spLocks noChangeArrowheads="1"/>
          </p:cNvSpPr>
          <p:nvPr/>
        </p:nvSpPr>
        <p:spPr bwMode="auto">
          <a:xfrm>
            <a:off x="322580" y="1989455"/>
            <a:ext cx="845439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sz="260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600" b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一、现值（</a:t>
            </a:r>
            <a:r>
              <a:rPr lang="en-US" altLang="zh-CN" sz="2600" b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Present Value</a:t>
            </a:r>
            <a:r>
              <a:rPr lang="zh-CN" altLang="en-US" sz="2600" b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）和终值（</a:t>
            </a:r>
            <a:r>
              <a:rPr lang="en-US" altLang="zh-CN" sz="2600" b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Future Value</a:t>
            </a:r>
            <a:r>
              <a:rPr lang="zh-CN" altLang="en-US" sz="2600" b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sp>
        <p:nvSpPr>
          <p:cNvPr id="5127" name="Rectangle 1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 b="1">
                <a:latin typeface="华文中宋" panose="02010600040101010101" pitchFamily="2" charset="-122"/>
                <a:ea typeface="华文中宋" panose="02010600040101010101" pitchFamily="2" charset="-122"/>
              </a:rPr>
              <a:t>货币时间价值的计算</a:t>
            </a:r>
          </a:p>
        </p:txBody>
      </p:sp>
      <p:sp>
        <p:nvSpPr>
          <p:cNvPr id="5128" name="Text Box 12"/>
          <p:cNvSpPr txBox="1">
            <a:spLocks noChangeArrowheads="1"/>
          </p:cNvSpPr>
          <p:nvPr/>
        </p:nvSpPr>
        <p:spPr bwMode="auto">
          <a:xfrm>
            <a:off x="9051925" y="61642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827405" y="2537778"/>
            <a:ext cx="69119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  现值</a:t>
            </a: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PV</a:t>
            </a:r>
            <a:r>
              <a:rPr lang="en-US" altLang="zh-CN" sz="2000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货币现在时刻的价值。</a:t>
            </a:r>
          </a:p>
        </p:txBody>
      </p:sp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826770" y="3044825"/>
            <a:ext cx="811720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终值</a:t>
            </a: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FV</a:t>
            </a:r>
            <a:r>
              <a:rPr lang="en-US" altLang="zh-CN" sz="2000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货币经过一段时间后，包括本金和时间价值的未来值，                                      </a:t>
            </a:r>
          </a:p>
          <a:p>
            <a:pPr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                           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即本利和。</a:t>
            </a:r>
            <a:endParaRPr lang="zh-CN" altLang="en-US" sz="20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827088" y="5775960"/>
            <a:ext cx="3529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复利（“利滚利”）</a:t>
            </a:r>
            <a:r>
              <a:rPr lang="en-US" altLang="zh-CN" sz="2000" b="0">
                <a:ea typeface="楷体_GB2312" panose="02010609030101010101" pitchFamily="49" charset="-122"/>
                <a:sym typeface="+mn-ea"/>
              </a:rPr>
              <a:t>— —</a:t>
            </a:r>
            <a:endParaRPr lang="en-US" altLang="zh-CN" sz="2000" b="0">
              <a:latin typeface="Times New Roman" panose="02020603050405020304" pitchFamily="18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4356735" y="4521200"/>
            <a:ext cx="3671570" cy="706755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100000">
                <a:schemeClr val="bg1"/>
              </a:gs>
            </a:gsLst>
            <a:lin ang="5400000" scaled="1"/>
          </a:gradFill>
          <a:ln w="38100" cmpd="dbl">
            <a:solidFill>
              <a:srgbClr val="FF3300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 2" panose="05020102010507070707" pitchFamily="18" charset="2"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计息期内仅以最初的本金作为计息的基础，各期利息不计息</a:t>
            </a:r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4356100" y="5498148"/>
            <a:ext cx="3671888" cy="1014730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100000">
                <a:schemeClr val="bg1"/>
              </a:gs>
            </a:gsLst>
            <a:lin ang="5400000" scaled="1"/>
          </a:gradFill>
          <a:ln w="38100" cmpd="dbl">
            <a:solidFill>
              <a:srgbClr val="FF33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计息期内不仅本金计息，各期利息收入也转化为本金在以后各期计息。</a:t>
            </a:r>
          </a:p>
        </p:txBody>
      </p:sp>
      <p:sp>
        <p:nvSpPr>
          <p:cNvPr id="2" name="椭圆 1"/>
          <p:cNvSpPr/>
          <p:nvPr/>
        </p:nvSpPr>
        <p:spPr>
          <a:xfrm>
            <a:off x="975360" y="4749165"/>
            <a:ext cx="75565" cy="75565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 b="1">
                <a:latin typeface="华文中宋" panose="02010600040101010101" pitchFamily="2" charset="-122"/>
                <a:ea typeface="华文中宋" panose="02010600040101010101" pitchFamily="2" charset="-122"/>
              </a:rPr>
              <a:t>货币时间价值的计算</a:t>
            </a:r>
          </a:p>
        </p:txBody>
      </p:sp>
      <p:graphicFrame>
        <p:nvGraphicFramePr>
          <p:cNvPr id="6147" name="Object 10"/>
          <p:cNvGraphicFramePr>
            <a:graphicFrameLocks noGrp="1" noChangeAspect="1"/>
          </p:cNvGraphicFramePr>
          <p:nvPr>
            <p:ph sz="half" idx="1"/>
          </p:nvPr>
        </p:nvGraphicFramePr>
        <p:xfrm>
          <a:off x="2964657" y="3842544"/>
          <a:ext cx="2460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公式" r:id="rId3" imgW="114300" imgH="215900" progId="Equation.3">
                  <p:embed/>
                </p:oleObj>
              </mc:Choice>
              <mc:Fallback>
                <p:oleObj name="公式" r:id="rId3" imgW="114300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4657" y="3842544"/>
                        <a:ext cx="24606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747078" y="2246313"/>
            <a:ext cx="4681537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三、单利、复利终值与现值</a:t>
            </a:r>
            <a:endParaRPr lang="zh-CN" altLang="en-US" sz="2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1619250" y="2708275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3203" name="Text Box 19"/>
          <p:cNvSpPr txBox="1">
            <a:spLocks noChangeArrowheads="1"/>
          </p:cNvSpPr>
          <p:nvPr/>
        </p:nvSpPr>
        <p:spPr bwMode="auto">
          <a:xfrm>
            <a:off x="1150938" y="5297805"/>
            <a:ext cx="5473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式中：</a:t>
            </a:r>
            <a:r>
              <a:rPr lang="en-US" altLang="zh-CN" sz="2400">
                <a:latin typeface="Times New Roman" panose="02020603050405020304" pitchFamily="18" charset="0"/>
              </a:rPr>
              <a:t>i——</a:t>
            </a:r>
            <a:r>
              <a:rPr lang="zh-CN" altLang="en-US" sz="2400">
                <a:latin typeface="Times New Roman" panose="02020603050405020304" pitchFamily="18" charset="0"/>
              </a:rPr>
              <a:t>利率；</a:t>
            </a:r>
            <a:r>
              <a:rPr lang="en-US" altLang="zh-CN" sz="2400">
                <a:latin typeface="Times New Roman" panose="02020603050405020304" pitchFamily="18" charset="0"/>
              </a:rPr>
              <a:t>n——</a:t>
            </a:r>
            <a:r>
              <a:rPr lang="zh-CN" altLang="en-US" sz="2400">
                <a:latin typeface="Times New Roman" panose="02020603050405020304" pitchFamily="18" charset="0"/>
              </a:rPr>
              <a:t>计息期数</a:t>
            </a:r>
          </a:p>
        </p:txBody>
      </p:sp>
      <p:sp>
        <p:nvSpPr>
          <p:cNvPr id="93207" name="Text Box 23"/>
          <p:cNvSpPr txBox="1">
            <a:spLocks noChangeArrowheads="1"/>
          </p:cNvSpPr>
          <p:nvPr/>
        </p:nvSpPr>
        <p:spPr bwMode="auto">
          <a:xfrm>
            <a:off x="1151255" y="3165158"/>
            <a:ext cx="5472113" cy="170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单利终值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楷体_GB2312" panose="02010609030101010101" pitchFamily="49" charset="-122"/>
              </a:rPr>
              <a:t>          </a:t>
            </a: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FV</a:t>
            </a:r>
            <a:r>
              <a:rPr lang="en-US" altLang="zh-CN" sz="2600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</a:t>
            </a: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= PV</a:t>
            </a:r>
            <a:r>
              <a:rPr lang="en-US" altLang="zh-CN" sz="2600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+PV</a:t>
            </a:r>
            <a:r>
              <a:rPr lang="en-US" altLang="zh-CN" sz="2600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×i×n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  = PV</a:t>
            </a:r>
            <a:r>
              <a:rPr lang="en-US" altLang="zh-CN" sz="2600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6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(1+i·n)</a:t>
            </a:r>
          </a:p>
        </p:txBody>
      </p:sp>
    </p:spTree>
  </p:cSld>
  <p:clrMapOvr>
    <a:masterClrMapping/>
  </p:clrMapOvr>
  <p:transition spd="slow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货币时间价值的计算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968693" y="2391410"/>
            <a:ext cx="7559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kumimoji="1" lang="zh-CN" altLang="en-US" sz="2800">
                <a:latin typeface="楷体_GB2312" panose="02010609030101010101" pitchFamily="49" charset="-122"/>
                <a:ea typeface="楷体_GB2312" panose="02010609030101010101" pitchFamily="49" charset="-122"/>
              </a:rPr>
              <a:t>复利终值</a:t>
            </a:r>
            <a:r>
              <a:rPr kumimoji="1" lang="zh-CN" altLang="en-US" sz="2800">
                <a:latin typeface="Times New Roman" panose="02020603050405020304" pitchFamily="18" charset="0"/>
                <a:ea typeface="楷体_GB2312" panose="02010609030101010101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anose="02010609030101010101" pitchFamily="49" charset="-122"/>
              </a:rPr>
              <a:t>future/compound value)</a:t>
            </a:r>
            <a:endParaRPr lang="zh-CN" altLang="en-US" sz="280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2012950" y="3249295"/>
            <a:ext cx="3311525" cy="521970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</a:gradFill>
          <a:ln w="28575" cmpd="sng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FV</a:t>
            </a:r>
            <a:r>
              <a:rPr lang="en-US" altLang="zh-CN" sz="28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 = PV</a:t>
            </a:r>
            <a:r>
              <a:rPr lang="en-US" altLang="zh-CN" sz="28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×(1+i)</a:t>
            </a:r>
            <a:r>
              <a:rPr lang="en-US" altLang="zh-CN" sz="28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04" name="Text Box 20"/>
          <p:cNvSpPr txBox="1">
            <a:spLocks noChangeArrowheads="1"/>
          </p:cNvSpPr>
          <p:nvPr/>
        </p:nvSpPr>
        <p:spPr bwMode="auto">
          <a:xfrm>
            <a:off x="2012950" y="4496435"/>
            <a:ext cx="3313113" cy="460375"/>
          </a:xfrm>
          <a:prstGeom prst="rect">
            <a:avLst/>
          </a:prstGeom>
          <a:gradFill rotWithShape="1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</a:gradFill>
          <a:ln w="28575" cmpd="sng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FV</a:t>
            </a:r>
            <a:r>
              <a:rPr lang="en-US" altLang="zh-CN" sz="2400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 = PV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F/P</a:t>
            </a: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椭圆 6"/>
          <p:cNvSpPr/>
          <p:nvPr/>
        </p:nvSpPr>
        <p:spPr>
          <a:xfrm>
            <a:off x="4177665" y="3079115"/>
            <a:ext cx="935990" cy="864235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025900" y="4258310"/>
            <a:ext cx="1092835" cy="937260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5" name="Text Box 21"/>
          <p:cNvSpPr txBox="1">
            <a:spLocks noChangeArrowheads="1"/>
          </p:cNvSpPr>
          <p:nvPr/>
        </p:nvSpPr>
        <p:spPr bwMode="auto">
          <a:xfrm>
            <a:off x="6497003" y="3943350"/>
            <a:ext cx="2160587" cy="466725"/>
          </a:xfrm>
          <a:prstGeom prst="rect">
            <a:avLst/>
          </a:prstGeom>
          <a:solidFill>
            <a:srgbClr val="FFFFCC"/>
          </a:solidFill>
          <a:ln w="9525">
            <a:solidFill>
              <a:srgbClr val="FF33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复利终值系数</a:t>
            </a:r>
          </a:p>
        </p:txBody>
      </p:sp>
      <p:cxnSp>
        <p:nvCxnSpPr>
          <p:cNvPr id="9" name="直接箭头连接符 8"/>
          <p:cNvCxnSpPr>
            <a:stCxn id="7" idx="4"/>
            <a:endCxn id="8" idx="0"/>
          </p:cNvCxnSpPr>
          <p:nvPr/>
        </p:nvCxnSpPr>
        <p:spPr>
          <a:xfrm flipH="1">
            <a:off x="4572635" y="3943350"/>
            <a:ext cx="73025" cy="3149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arrow" w="med" len="med"/>
            <a:tailEnd type="arrow" w="med" len="med"/>
          </a:ln>
        </p:spPr>
      </p:cxnSp>
      <p:cxnSp>
        <p:nvCxnSpPr>
          <p:cNvPr id="10" name="直接箭头连接符 9"/>
          <p:cNvCxnSpPr>
            <a:endCxn id="93205" idx="1"/>
          </p:cNvCxnSpPr>
          <p:nvPr/>
        </p:nvCxnSpPr>
        <p:spPr>
          <a:xfrm>
            <a:off x="4613275" y="4107180"/>
            <a:ext cx="1884045" cy="698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</p:spTree>
  </p:cSld>
  <p:clrMapOvr>
    <a:masterClrMapping/>
  </p:clrMapOvr>
  <p:transition spd="slow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单利</a:t>
            </a:r>
          </a:p>
        </p:txBody>
      </p:sp>
      <p:sp>
        <p:nvSpPr>
          <p:cNvPr id="13005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01625" y="2047875"/>
            <a:ext cx="8540750" cy="4335145"/>
          </a:xfrm>
          <a:solidFill>
            <a:schemeClr val="bg1"/>
          </a:solidFill>
          <a:ln w="12700">
            <a:noFill/>
          </a:ln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sz="4000" dirty="0">
                <a:solidFill>
                  <a:srgbClr val="FF6600"/>
                </a:solidFill>
              </a:rPr>
              <a:t>利息  </a:t>
            </a:r>
            <a:r>
              <a:rPr lang="en-US" altLang="zh-CN" sz="4000" dirty="0">
                <a:solidFill>
                  <a:srgbClr val="FF6600"/>
                </a:solidFill>
              </a:rPr>
              <a:t>=  </a:t>
            </a:r>
            <a:r>
              <a:rPr lang="en-US" altLang="zh-CN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× </a:t>
            </a:r>
            <a:r>
              <a:rPr lang="en-US" altLang="zh-CN" sz="400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× n</a:t>
            </a:r>
            <a:b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/>
          </a:p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dirty="0"/>
              <a:t>假定你投资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1 000</a:t>
            </a:r>
            <a:r>
              <a:rPr lang="zh-CN" altLang="en-US" dirty="0"/>
              <a:t>元，投资期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/>
              <a:t>年，单利计息，利率为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6%</a:t>
            </a:r>
            <a:r>
              <a:rPr lang="zh-CN" altLang="en-US" dirty="0"/>
              <a:t>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/>
              <a:t>年的利息为多少？</a:t>
            </a:r>
            <a:endParaRPr lang="en-US" altLang="zh-CN" dirty="0"/>
          </a:p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dirty="0"/>
              <a:t>你将赚得</a:t>
            </a: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zh-CN" altLang="en-US" dirty="0"/>
              <a:t>元的利息</a:t>
            </a:r>
            <a:endParaRPr lang="en-US" altLang="zh-CN" dirty="0"/>
          </a:p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dirty="0">
                <a:solidFill>
                  <a:srgbClr val="FF6600"/>
                </a:solidFill>
              </a:rPr>
              <a:t>(</a:t>
            </a: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 × 6% × 3 = 180</a:t>
            </a:r>
            <a:r>
              <a:rPr lang="en-US" altLang="zh-CN" dirty="0">
                <a:solidFill>
                  <a:srgbClr val="FF6600"/>
                </a:solidFill>
              </a:rPr>
              <a:t>)</a:t>
            </a:r>
            <a:endParaRPr lang="en-US" altLang="zh-CN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2000" dirty="0"/>
              <a:t>(</a:t>
            </a:r>
            <a:r>
              <a:rPr lang="zh-CN" altLang="en-US" sz="2000" b="1" dirty="0"/>
              <a:t>或者说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/>
              <a:t>年中每年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CN" altLang="en-US" sz="2000" b="1" dirty="0"/>
              <a:t>元</a:t>
            </a:r>
            <a:r>
              <a:rPr lang="en-US" altLang="zh-CN" sz="2000" dirty="0"/>
              <a:t>)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idx="1"/>
          </p:nvPr>
        </p:nvSpPr>
        <p:spPr>
          <a:noFill/>
        </p:spPr>
        <p:txBody>
          <a:bodyPr lIns="90488" tIns="44450" rIns="90488" bIns="44450"/>
          <a:lstStyle/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/>
              <a:t>假定你向银行存款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1 000 </a:t>
            </a:r>
            <a:r>
              <a:rPr lang="zh-CN" altLang="en-US"/>
              <a:t>元，存款期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/>
              <a:t>年，复利计息，利率为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6%.</a:t>
            </a:r>
          </a:p>
        </p:txBody>
      </p:sp>
      <p:graphicFrame>
        <p:nvGraphicFramePr>
          <p:cNvPr id="8195" name="Object 3"/>
          <p:cNvGraphicFramePr/>
          <p:nvPr/>
        </p:nvGraphicFramePr>
        <p:xfrm>
          <a:off x="6042025" y="3048000"/>
          <a:ext cx="2917825" cy="305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Clip" r:id="rId3" imgW="3307715" imgH="3469005" progId="MS_ClipArt_Gallery.5">
                  <p:embed/>
                </p:oleObj>
              </mc:Choice>
              <mc:Fallback>
                <p:oleObj name="Clip" r:id="rId3" imgW="3307715" imgH="3469005" progId="MS_ClipArt_Gallery.5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3048000"/>
                        <a:ext cx="2917825" cy="305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/>
          <p:nvPr/>
        </p:nvGraphicFramePr>
        <p:xfrm>
          <a:off x="381000" y="4041775"/>
          <a:ext cx="250507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Clip" r:id="rId5" imgW="2285365" imgH="983615" progId="MS_ClipArt_Gallery.5">
                  <p:embed/>
                </p:oleObj>
              </mc:Choice>
              <mc:Fallback>
                <p:oleObj name="Clip" r:id="rId5" imgW="2285365" imgH="983615" progId="MS_ClipArt_Gallery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41775"/>
                        <a:ext cx="250507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3454400" y="4373563"/>
            <a:ext cx="2006600" cy="406400"/>
          </a:xfrm>
          <a:prstGeom prst="rightArrow">
            <a:avLst>
              <a:gd name="adj1" fmla="val 50000"/>
              <a:gd name="adj2" fmla="val 246898"/>
            </a:avLst>
          </a:prstGeom>
          <a:solidFill>
            <a:srgbClr val="618FFD"/>
          </a:solidFill>
          <a:ln w="508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979613" y="5157788"/>
            <a:ext cx="4470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那么，第三年末你存款账户上的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金额为多少</a:t>
            </a:r>
            <a:r>
              <a:rPr lang="en-US" altLang="zh-CN" sz="240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8199" name="Rectangle 7" descr="Large confetti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zh-CN" altLang="en-US"/>
              <a:t>复利</a:t>
            </a:r>
          </a:p>
        </p:txBody>
      </p:sp>
    </p:spTree>
  </p:cSld>
  <p:clrMapOvr>
    <a:masterClrMapping/>
  </p:clrMapOvr>
  <p:transition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/>
          <p:nvPr/>
        </p:nvGraphicFramePr>
        <p:xfrm>
          <a:off x="1151255" y="2010728"/>
          <a:ext cx="7062470" cy="454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工作表" r:id="rId3" imgW="2752725" imgH="1952625" progId="Excel.Sheet.8">
                  <p:embed/>
                </p:oleObj>
              </mc:Choice>
              <mc:Fallback>
                <p:oleObj name="工作表" r:id="rId3" imgW="2752725" imgH="1952625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b="5409"/>
                      <a:stretch>
                        <a:fillRect/>
                      </a:stretch>
                    </p:blipFill>
                    <p:spPr bwMode="auto">
                      <a:xfrm>
                        <a:off x="1151255" y="2010728"/>
                        <a:ext cx="7062470" cy="4544695"/>
                      </a:xfrm>
                      <a:prstGeom prst="rect">
                        <a:avLst/>
                      </a:prstGeom>
                      <a:noFill/>
                      <a:ln w="76200">
                        <a:solidFill>
                          <a:srgbClr val="3333CC">
                            <a:alpha val="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43684" dir="2700000" algn="ctr" rotWithShape="0">
                                <a:schemeClr val="folHlink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781800" y="34290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Times New Roman" panose="02020603050405020304" pitchFamily="18" charset="0"/>
              </a:rPr>
              <a:t>     </a:t>
            </a:r>
          </a:p>
        </p:txBody>
      </p:sp>
      <p:cxnSp>
        <p:nvCxnSpPr>
          <p:cNvPr id="133125" name="AutoShape 5"/>
          <p:cNvCxnSpPr>
            <a:cxnSpLocks noChangeShapeType="1"/>
          </p:cNvCxnSpPr>
          <p:nvPr/>
        </p:nvCxnSpPr>
        <p:spPr bwMode="auto">
          <a:xfrm rot="10800000" flipH="1" flipV="1">
            <a:off x="6629400" y="2667000"/>
            <a:ext cx="152400" cy="914400"/>
          </a:xfrm>
          <a:prstGeom prst="bentConnector3">
            <a:avLst>
              <a:gd name="adj1" fmla="val -150000"/>
            </a:avLst>
          </a:prstGeom>
          <a:noFill/>
          <a:ln w="381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26" name="AutoShape 6"/>
          <p:cNvCxnSpPr>
            <a:cxnSpLocks noChangeShapeType="1"/>
          </p:cNvCxnSpPr>
          <p:nvPr/>
        </p:nvCxnSpPr>
        <p:spPr bwMode="auto">
          <a:xfrm rot="10800000" flipH="1" flipV="1">
            <a:off x="6629400" y="4495800"/>
            <a:ext cx="152400" cy="914400"/>
          </a:xfrm>
          <a:prstGeom prst="bentConnector3">
            <a:avLst>
              <a:gd name="adj1" fmla="val -150000"/>
            </a:avLst>
          </a:prstGeom>
          <a:noFill/>
          <a:ln w="381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3" name="Rectangle 7" descr="Large confetti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zh-CN" altLang="en-US"/>
              <a:t>复利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 descr="Large confetti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zh-CN" altLang="en-US"/>
              <a:t>单一金额的终值</a:t>
            </a:r>
          </a:p>
        </p:txBody>
      </p:sp>
      <p:sp>
        <p:nvSpPr>
          <p:cNvPr id="10243" name="Rectangle 2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021715" y="2310765"/>
            <a:ext cx="6978015" cy="2559050"/>
          </a:xfr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lIns="90488" tIns="44450" rIns="90488" bIns="44450"/>
          <a:lstStyle/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800"/>
              <a:t>用更有效的方式表示 </a:t>
            </a:r>
            <a:r>
              <a:rPr lang="en-US" altLang="zh-CN" sz="2800"/>
              <a:t>. . . .</a:t>
            </a:r>
            <a:br>
              <a:rPr lang="en-US" altLang="zh-CN" sz="2800" i="1"/>
            </a:br>
            <a:endParaRPr lang="en-US" altLang="zh-CN" sz="2800" i="1"/>
          </a:p>
          <a:p>
            <a:pPr algn="l" eaLnBrk="1" hangingPunct="1">
              <a:buFont typeface="Wingdings 2" panose="05020102010507070707" pitchFamily="18" charset="2"/>
              <a:buNone/>
            </a:pP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1 000× (1+6%)×(1+6%) × (1+6%) = 1 191.02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800">
                <a:solidFill>
                  <a:srgbClr val="3333CC"/>
                </a:solidFill>
              </a:rPr>
              <a:t>或</a:t>
            </a: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>
                <a:solidFill>
                  <a:srgbClr val="FF6600"/>
                </a:solidFill>
              </a:rPr>
              <a:t>1 000×(1+6%)</a:t>
            </a:r>
            <a:r>
              <a:rPr lang="en-US" altLang="zh-CN" baseline="40000">
                <a:solidFill>
                  <a:srgbClr val="FF6600"/>
                </a:solidFill>
              </a:rPr>
              <a:t>3</a:t>
            </a:r>
            <a:r>
              <a:rPr lang="en-US" altLang="zh-CN">
                <a:solidFill>
                  <a:srgbClr val="FF6600"/>
                </a:solidFill>
              </a:rPr>
              <a:t> =1 191.02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43505" y="5311775"/>
            <a:ext cx="4098290" cy="706755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 w="28575" cmpd="dbl">
            <a:solidFill>
              <a:srgbClr val="FF330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0" i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PV</a:t>
            </a:r>
            <a:r>
              <a:rPr lang="en-US" altLang="zh-CN" sz="3600" b="0" baseline="-250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4000" b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·(1+</a:t>
            </a:r>
            <a:r>
              <a:rPr lang="en-US" altLang="zh-CN" sz="4000" b="0" i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4000" b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4000" b="0" i="1" baseline="300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  </a:t>
            </a:r>
            <a:r>
              <a:rPr lang="en-US" altLang="zh-CN" sz="4000" b="0" baseline="300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4000" b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4000" b="0" i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FV</a:t>
            </a:r>
            <a:r>
              <a:rPr lang="en-US" altLang="zh-CN" sz="4000" b="0" i="1" baseline="-2500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611188" y="1901190"/>
            <a:ext cx="6337300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三、复利现值（</a:t>
            </a:r>
            <a:r>
              <a:rPr kumimoji="1" lang="en-US" altLang="zh-CN" sz="2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Present value)</a:t>
            </a:r>
            <a:endParaRPr lang="zh-CN" altLang="en-US" sz="2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6612255" y="4300538"/>
            <a:ext cx="2160588" cy="466725"/>
          </a:xfrm>
          <a:prstGeom prst="rect">
            <a:avLst/>
          </a:prstGeom>
          <a:solidFill>
            <a:srgbClr val="FFFFCC"/>
          </a:solidFill>
          <a:ln w="9525">
            <a:solidFill>
              <a:srgbClr val="FF33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复利现值系数</a:t>
            </a:r>
          </a:p>
        </p:txBody>
      </p:sp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1657985" y="6218873"/>
            <a:ext cx="518477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变量：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/>
              <a:t>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07683" y="2898140"/>
            <a:ext cx="9001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楷体_GB2312" panose="02010609030101010101" pitchFamily="49" charset="-122"/>
              </a:rPr>
              <a:t>已知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1818640" y="2654935"/>
            <a:ext cx="3904615" cy="645160"/>
          </a:xfrm>
          <a:prstGeom prst="rect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 w="28575" cmpd="dbl">
            <a:solidFill>
              <a:srgbClr val="FF0000"/>
            </a:solidFill>
            <a:prstDash val="solid"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</a:rPr>
              <a:t>FV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</a:rPr>
              <a:t>  = </a:t>
            </a:r>
            <a:r>
              <a:rPr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</a:rPr>
              <a:t>PV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cs typeface="Arial" panose="020B0604020202020204" pitchFamily="34" charset="0"/>
              </a:rPr>
              <a:t>∙</a:t>
            </a:r>
            <a:r>
              <a: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</a:rPr>
              <a:t>(1+</a:t>
            </a:r>
            <a:r>
              <a:rPr lang="en-US" altLang="zh-CN" sz="3600" b="0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600" b="0" i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i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818640" y="3557905"/>
            <a:ext cx="3556000" cy="1007110"/>
            <a:chOff x="1077" y="5060"/>
            <a:chExt cx="5600" cy="1586"/>
          </a:xfr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</p:grpSpPr>
        <p:sp>
          <p:nvSpPr>
            <p:cNvPr id="5" name="矩形 4"/>
            <p:cNvSpPr/>
            <p:nvPr/>
          </p:nvSpPr>
          <p:spPr>
            <a:xfrm>
              <a:off x="1077" y="5060"/>
              <a:ext cx="5600" cy="1587"/>
            </a:xfrm>
            <a:prstGeom prst="rect">
              <a:avLst/>
            </a:prstGeom>
            <a:grpFill/>
            <a:ln w="28575" cap="flat" cmpd="dbl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600" b="0" i="1">
                  <a:sym typeface="+mn-ea"/>
                </a:rPr>
                <a:t>PV</a:t>
              </a:r>
              <a:r>
                <a:rPr lang="en-US" altLang="zh-CN" sz="3600" b="0" baseline="-25000">
                  <a:sym typeface="+mn-ea"/>
                </a:rPr>
                <a:t>0</a:t>
              </a:r>
              <a:r>
                <a:rPr lang="en-US" altLang="zh-CN" sz="3600" b="0">
                  <a:sym typeface="+mn-ea"/>
                </a:rPr>
                <a:t>= </a:t>
              </a:r>
              <a:r>
                <a:rPr lang="en-US" altLang="zh-CN" sz="3600" b="0" i="1">
                  <a:sym typeface="+mn-ea"/>
                </a:rPr>
                <a:t>FV</a:t>
              </a:r>
              <a:r>
                <a:rPr lang="en-US" altLang="zh-CN" sz="3600" b="0" i="1" baseline="-25000">
                  <a:sym typeface="+mn-ea"/>
                </a:rPr>
                <a:t>n</a:t>
              </a:r>
              <a:r>
                <a:rPr lang="en-US" altLang="zh-CN" sz="3600" b="0" i="1">
                  <a:sym typeface="+mn-ea"/>
                </a:rPr>
                <a:t> </a:t>
              </a:r>
              <a:r>
                <a:rPr lang="en-US" altLang="zh-CN" sz="3600" b="0">
                  <a:cs typeface="Arial" panose="020B0604020202020204" pitchFamily="34" charset="0"/>
                  <a:sym typeface="+mn-ea"/>
                </a:rPr>
                <a:t>∙</a:t>
              </a:r>
              <a:endParaRPr kumimoji="0" lang="zh-CN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" name="对象 5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4696" y="5128"/>
            <a:ext cx="1577" cy="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r:id="rId3" imgW="647700" imgH="596900" progId="Equation.KSEE3">
                    <p:embed/>
                  </p:oleObj>
                </mc:Choice>
                <mc:Fallback>
                  <p:oleObj r:id="rId3" imgW="647700" imgH="596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96" y="5128"/>
                          <a:ext cx="1577" cy="1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1825625" y="5142865"/>
            <a:ext cx="3909060" cy="87884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 w="28575" cap="flat" cmpd="dbl" algn="ctr">
            <a:solidFill>
              <a:srgbClr val="FF33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b="0" i="1">
                <a:sym typeface="+mn-ea"/>
              </a:rPr>
              <a:t>PV</a:t>
            </a:r>
            <a:r>
              <a:rPr lang="en-US" altLang="zh-CN" sz="3600" b="0" baseline="-25000">
                <a:sym typeface="+mn-ea"/>
              </a:rPr>
              <a:t>0</a:t>
            </a:r>
            <a:r>
              <a:rPr lang="en-US" altLang="zh-CN" sz="3600" b="0">
                <a:sym typeface="+mn-ea"/>
              </a:rPr>
              <a:t>= </a:t>
            </a:r>
            <a:r>
              <a:rPr lang="en-US" altLang="zh-CN" sz="3600" b="0" i="1">
                <a:sym typeface="+mn-ea"/>
              </a:rPr>
              <a:t>FV</a:t>
            </a:r>
            <a:r>
              <a:rPr lang="en-US" altLang="zh-CN" sz="3600" b="0" i="1" baseline="-25000">
                <a:sym typeface="+mn-ea"/>
              </a:rPr>
              <a:t>n</a:t>
            </a:r>
            <a:r>
              <a:rPr lang="en-US" altLang="zh-CN" sz="3600" b="0" i="1">
                <a:sym typeface="+mn-ea"/>
              </a:rPr>
              <a:t> </a:t>
            </a:r>
            <a:r>
              <a:rPr lang="en-US" altLang="zh-CN" sz="3600" b="0">
                <a:cs typeface="Arial" panose="020B0604020202020204" pitchFamily="34" charset="0"/>
                <a:sym typeface="+mn-ea"/>
              </a:rPr>
              <a:t>∙(</a:t>
            </a:r>
            <a:r>
              <a:rPr lang="en-US" altLang="zh-CN" sz="3600" b="0" i="1">
                <a:cs typeface="Arial" panose="020B0604020202020204" pitchFamily="34" charset="0"/>
                <a:sym typeface="+mn-ea"/>
              </a:rPr>
              <a:t>P/F,i,n</a:t>
            </a:r>
            <a:r>
              <a:rPr lang="en-US" altLang="zh-CN" sz="3600" b="0">
                <a:cs typeface="Arial" panose="020B0604020202020204" pitchFamily="34" charset="0"/>
                <a:sym typeface="+mn-ea"/>
              </a:rPr>
              <a:t>)</a:t>
            </a:r>
            <a:endParaRPr kumimoji="0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969385" y="3601085"/>
            <a:ext cx="1296035" cy="1036320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ash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996055" y="5080000"/>
            <a:ext cx="1727835" cy="941705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ash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699000" y="4598670"/>
            <a:ext cx="97790" cy="4813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arrow" w="med" len="med"/>
            <a:tailEnd type="arrow" w="med" len="med"/>
          </a:ln>
        </p:spPr>
      </p:cxnSp>
      <p:cxnSp>
        <p:nvCxnSpPr>
          <p:cNvPr id="19" name="直接箭头连接符 18"/>
          <p:cNvCxnSpPr/>
          <p:nvPr/>
        </p:nvCxnSpPr>
        <p:spPr>
          <a:xfrm flipV="1">
            <a:off x="4762500" y="4521835"/>
            <a:ext cx="1849755" cy="3041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20" name="文本框 19"/>
          <p:cNvSpPr txBox="1"/>
          <p:nvPr/>
        </p:nvSpPr>
        <p:spPr>
          <a:xfrm>
            <a:off x="1362075" y="1165225"/>
            <a:ext cx="340042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kern="0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货币时间价值的计算</a:t>
            </a:r>
            <a:endParaRPr lang="zh-CN" altLang="en-US" sz="4000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8" grpId="0" bldLvl="0" animBg="1"/>
      <p:bldP spid="126990" grpId="0" bldLvl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b="1"/>
              <a:t>货币时间价值的计算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4848" y="1968818"/>
            <a:ext cx="8135937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0">
                <a:latin typeface="黑体" panose="02010609060101010101" pitchFamily="49" charset="-122"/>
                <a:ea typeface="黑体" panose="02010609060101010101" pitchFamily="49" charset="-122"/>
              </a:rPr>
              <a:t>四、年金：等额、定期的系列支付</a:t>
            </a:r>
            <a:endParaRPr lang="en-US" altLang="zh-CN" sz="2600" b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1979613" y="2133600"/>
            <a:ext cx="54006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280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2" name="Group 38"/>
          <p:cNvGrpSpPr/>
          <p:nvPr/>
        </p:nvGrpSpPr>
        <p:grpSpPr bwMode="auto">
          <a:xfrm>
            <a:off x="1981200" y="3835400"/>
            <a:ext cx="4679950" cy="1465263"/>
            <a:chOff x="975" y="2416"/>
            <a:chExt cx="2948" cy="923"/>
          </a:xfrm>
        </p:grpSpPr>
        <p:sp>
          <p:nvSpPr>
            <p:cNvPr id="12295" name="Line 10"/>
            <p:cNvSpPr>
              <a:spLocks noChangeShapeType="1"/>
            </p:cNvSpPr>
            <p:nvPr/>
          </p:nvSpPr>
          <p:spPr bwMode="auto">
            <a:xfrm flipV="1">
              <a:off x="1066" y="300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296" name="Group 33"/>
            <p:cNvGrpSpPr/>
            <p:nvPr/>
          </p:nvGrpSpPr>
          <p:grpSpPr bwMode="auto">
            <a:xfrm>
              <a:off x="975" y="2416"/>
              <a:ext cx="2948" cy="923"/>
              <a:chOff x="975" y="2296"/>
              <a:chExt cx="2948" cy="923"/>
            </a:xfrm>
          </p:grpSpPr>
          <p:sp>
            <p:nvSpPr>
              <p:cNvPr id="12297" name="Text Box 8"/>
              <p:cNvSpPr txBox="1">
                <a:spLocks noChangeArrowheads="1"/>
              </p:cNvSpPr>
              <p:nvPr/>
            </p:nvSpPr>
            <p:spPr bwMode="auto">
              <a:xfrm>
                <a:off x="975" y="2931"/>
                <a:ext cx="285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anose="05020102010507070707" pitchFamily="18" charset="2"/>
                  <a:buChar char="¡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0      1      2      3      4      5  …   n</a:t>
                </a:r>
                <a:endParaRPr lang="zh-CN" altLang="en-US" sz="240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12298" name="Group 32"/>
              <p:cNvGrpSpPr/>
              <p:nvPr/>
            </p:nvGrpSpPr>
            <p:grpSpPr bwMode="auto">
              <a:xfrm>
                <a:off x="1066" y="2296"/>
                <a:ext cx="2857" cy="635"/>
                <a:chOff x="1066" y="2296"/>
                <a:chExt cx="2857" cy="635"/>
              </a:xfrm>
            </p:grpSpPr>
            <p:sp>
              <p:nvSpPr>
                <p:cNvPr id="12299" name="Line 6"/>
                <p:cNvSpPr>
                  <a:spLocks noChangeShapeType="1"/>
                </p:cNvSpPr>
                <p:nvPr/>
              </p:nvSpPr>
              <p:spPr bwMode="auto">
                <a:xfrm>
                  <a:off x="1066" y="2931"/>
                  <a:ext cx="285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0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474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1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837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2" name="Line 13"/>
                <p:cNvSpPr>
                  <a:spLocks noChangeShapeType="1"/>
                </p:cNvSpPr>
                <p:nvPr/>
              </p:nvSpPr>
              <p:spPr bwMode="auto">
                <a:xfrm>
                  <a:off x="1474" y="2614"/>
                  <a:ext cx="204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3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245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4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608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971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6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515" y="2614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200" y="2296"/>
                  <a:ext cx="1406" cy="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85000"/>
                    <a:buFont typeface="Wingdings 2" panose="05020102010507070707" pitchFamily="18" charset="2"/>
                    <a:buChar char="¡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A—</a:t>
                  </a:r>
                  <a:r>
                    <a:rPr lang="zh-CN" altLang="en-US" sz="2400"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普通年金</a:t>
                  </a:r>
                </a:p>
              </p:txBody>
            </p:sp>
          </p:grpSp>
        </p:grpSp>
      </p:grpSp>
      <p:sp>
        <p:nvSpPr>
          <p:cNvPr id="99359" name="Text Box 31"/>
          <p:cNvSpPr txBox="1">
            <a:spLocks noChangeArrowheads="1"/>
          </p:cNvSpPr>
          <p:nvPr/>
        </p:nvSpPr>
        <p:spPr bwMode="auto">
          <a:xfrm>
            <a:off x="1908175" y="2708275"/>
            <a:ext cx="5689600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◎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普通年金：于期末发生的年金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（后付年金）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build="p" autoUpdateAnimBg="0"/>
      <p:bldP spid="993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b="1"/>
              <a:t>货币时间价值的计算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863600" y="1896110"/>
            <a:ext cx="74168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1.</a:t>
            </a:r>
            <a:r>
              <a:rPr lang="zh-CN" altLang="en-US" sz="2000" kern="0" dirty="0">
                <a:latin typeface="+mn-ea"/>
                <a:ea typeface="+mn-ea"/>
                <a:cs typeface="+mn-ea"/>
              </a:rPr>
              <a:t>普通年金终值——零存整取本利和</a:t>
            </a:r>
          </a:p>
        </p:txBody>
      </p:sp>
      <p:sp>
        <p:nvSpPr>
          <p:cNvPr id="100365" name="Text Box 13"/>
          <p:cNvSpPr txBox="1">
            <a:spLocks noChangeArrowheads="1"/>
          </p:cNvSpPr>
          <p:nvPr/>
        </p:nvSpPr>
        <p:spPr bwMode="auto">
          <a:xfrm>
            <a:off x="4315460" y="3229610"/>
            <a:ext cx="3122295" cy="3987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年金终值系数</a:t>
            </a:r>
            <a:r>
              <a:rPr lang="en-US" altLang="zh-CN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—(F/A,i,n)</a:t>
            </a:r>
            <a:endParaRPr lang="en-US" altLang="zh-CN" sz="2000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34"/>
          <p:cNvGrpSpPr/>
          <p:nvPr/>
        </p:nvGrpSpPr>
        <p:grpSpPr bwMode="auto">
          <a:xfrm>
            <a:off x="971550" y="4252913"/>
            <a:ext cx="5184775" cy="1336675"/>
            <a:chOff x="612" y="2740"/>
            <a:chExt cx="3266" cy="842"/>
          </a:xfrm>
        </p:grpSpPr>
        <p:sp>
          <p:nvSpPr>
            <p:cNvPr id="13323" name="Text Box 16"/>
            <p:cNvSpPr txBox="1">
              <a:spLocks noChangeArrowheads="1"/>
            </p:cNvSpPr>
            <p:nvPr/>
          </p:nvSpPr>
          <p:spPr bwMode="auto">
            <a:xfrm>
              <a:off x="612" y="2740"/>
              <a:ext cx="32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</a:rPr>
                <a:t>0        1        2        3        4      </a:t>
              </a:r>
            </a:p>
          </p:txBody>
        </p:sp>
        <p:grpSp>
          <p:nvGrpSpPr>
            <p:cNvPr id="13324" name="Group 33"/>
            <p:cNvGrpSpPr/>
            <p:nvPr/>
          </p:nvGrpSpPr>
          <p:grpSpPr bwMode="auto">
            <a:xfrm>
              <a:off x="703" y="3022"/>
              <a:ext cx="3130" cy="560"/>
              <a:chOff x="703" y="3022"/>
              <a:chExt cx="3130" cy="560"/>
            </a:xfrm>
          </p:grpSpPr>
          <p:sp>
            <p:nvSpPr>
              <p:cNvPr id="13325" name="Line 15"/>
              <p:cNvSpPr>
                <a:spLocks noChangeShapeType="1"/>
              </p:cNvSpPr>
              <p:nvPr/>
            </p:nvSpPr>
            <p:spPr bwMode="auto">
              <a:xfrm>
                <a:off x="703" y="3067"/>
                <a:ext cx="31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6" name="Line 17"/>
              <p:cNvSpPr>
                <a:spLocks noChangeShapeType="1"/>
              </p:cNvSpPr>
              <p:nvPr/>
            </p:nvSpPr>
            <p:spPr bwMode="auto">
              <a:xfrm>
                <a:off x="703" y="3022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7" name="Line 18"/>
              <p:cNvSpPr>
                <a:spLocks noChangeShapeType="1"/>
              </p:cNvSpPr>
              <p:nvPr/>
            </p:nvSpPr>
            <p:spPr bwMode="auto">
              <a:xfrm>
                <a:off x="1292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Line 20"/>
              <p:cNvSpPr>
                <a:spLocks noChangeShapeType="1"/>
              </p:cNvSpPr>
              <p:nvPr/>
            </p:nvSpPr>
            <p:spPr bwMode="auto">
              <a:xfrm>
                <a:off x="1837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9" name="Line 21"/>
              <p:cNvSpPr>
                <a:spLocks noChangeShapeType="1"/>
              </p:cNvSpPr>
              <p:nvPr/>
            </p:nvSpPr>
            <p:spPr bwMode="auto">
              <a:xfrm>
                <a:off x="2426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0" name="Line 22"/>
              <p:cNvSpPr>
                <a:spLocks noChangeShapeType="1"/>
              </p:cNvSpPr>
              <p:nvPr/>
            </p:nvSpPr>
            <p:spPr bwMode="auto">
              <a:xfrm>
                <a:off x="2971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1" name="Text Box 23"/>
              <p:cNvSpPr txBox="1">
                <a:spLocks noChangeArrowheads="1"/>
              </p:cNvSpPr>
              <p:nvPr/>
            </p:nvSpPr>
            <p:spPr bwMode="auto">
              <a:xfrm>
                <a:off x="1701" y="3294"/>
                <a:ext cx="11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anose="05020102010507070707" pitchFamily="18" charset="2"/>
                  <a:buChar char="¡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A = 600</a:t>
                </a:r>
              </a:p>
            </p:txBody>
          </p:sp>
          <p:sp>
            <p:nvSpPr>
              <p:cNvPr id="13332" name="Line 25"/>
              <p:cNvSpPr>
                <a:spLocks noChangeShapeType="1"/>
              </p:cNvSpPr>
              <p:nvPr/>
            </p:nvSpPr>
            <p:spPr bwMode="auto">
              <a:xfrm>
                <a:off x="1292" y="3339"/>
                <a:ext cx="16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0378" name="Line 26"/>
          <p:cNvSpPr>
            <a:spLocks noChangeShapeType="1"/>
          </p:cNvSpPr>
          <p:nvPr/>
        </p:nvSpPr>
        <p:spPr bwMode="auto">
          <a:xfrm flipV="1">
            <a:off x="4716463" y="3789363"/>
            <a:ext cx="0" cy="5762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4859338" y="3716338"/>
            <a:ext cx="22336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FV</a:t>
            </a:r>
            <a:r>
              <a:rPr lang="en-US" altLang="zh-CN" sz="2400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(10%,4)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=?</a:t>
            </a:r>
          </a:p>
        </p:txBody>
      </p:sp>
      <p:sp>
        <p:nvSpPr>
          <p:cNvPr id="100381" name="Text Box 29"/>
          <p:cNvSpPr txBox="1">
            <a:spLocks noChangeArrowheads="1"/>
          </p:cNvSpPr>
          <p:nvPr/>
        </p:nvSpPr>
        <p:spPr bwMode="auto">
          <a:xfrm>
            <a:off x="395288" y="5661025"/>
            <a:ext cx="8424862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FV</a:t>
            </a:r>
            <a:r>
              <a:rPr lang="en-US" altLang="zh-CN" sz="2400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= 600(1+i)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3</a:t>
            </a:r>
            <a:endParaRPr lang="en-US" altLang="zh-CN" sz="240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      = 600(((1+10%)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-1)/10%)=600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×4.641 = 2784.6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（元）</a:t>
            </a:r>
            <a:endParaRPr lang="zh-CN" altLang="en-US" sz="24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00100" y="2348865"/>
            <a:ext cx="3136900" cy="915670"/>
            <a:chOff x="8703" y="3244"/>
            <a:chExt cx="4940" cy="1442"/>
          </a:xfr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</p:grpSpPr>
        <p:sp>
          <p:nvSpPr>
            <p:cNvPr id="3" name="矩形 2"/>
            <p:cNvSpPr/>
            <p:nvPr/>
          </p:nvSpPr>
          <p:spPr>
            <a:xfrm>
              <a:off x="8703" y="3244"/>
              <a:ext cx="4940" cy="1442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8793" y="3495"/>
            <a:ext cx="4760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r:id="rId3" imgW="3022600" imgH="596900" progId="Equation.KSEE3">
                    <p:embed/>
                  </p:oleObj>
                </mc:Choice>
                <mc:Fallback>
                  <p:oleObj r:id="rId3" imgW="3022600" imgH="596900" progId="Equation.KSEE3">
                    <p:embed/>
                    <p:pic>
                      <p:nvPicPr>
                        <p:cNvPr id="0" name="图片 204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93" y="3495"/>
                          <a:ext cx="4760" cy="9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椭圆 6"/>
          <p:cNvSpPr/>
          <p:nvPr/>
        </p:nvSpPr>
        <p:spPr>
          <a:xfrm>
            <a:off x="2971800" y="2348865"/>
            <a:ext cx="965200" cy="791845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箭头连接符 7"/>
          <p:cNvCxnSpPr>
            <a:endCxn id="100365" idx="1"/>
          </p:cNvCxnSpPr>
          <p:nvPr/>
        </p:nvCxnSpPr>
        <p:spPr>
          <a:xfrm>
            <a:off x="3995420" y="2853055"/>
            <a:ext cx="320040" cy="5759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arrow" w="med" len="med"/>
            <a:tailEnd type="arrow" w="med" len="med"/>
          </a:ln>
        </p:spPr>
      </p:cxn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5" grpId="0" bldLvl="0" animBg="1"/>
      <p:bldP spid="1003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b="1"/>
              <a:t>货币时间价值的计算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1150938" y="1807528"/>
            <a:ext cx="6119812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2. 普通年金现值——整存零取</a:t>
            </a:r>
          </a:p>
        </p:txBody>
      </p:sp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1925320" y="3510915"/>
            <a:ext cx="2851785" cy="521970"/>
          </a:xfrm>
          <a:prstGeom prst="rect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FF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0" i="1">
                <a:effectLst/>
              </a:rPr>
              <a:t>PV</a:t>
            </a:r>
            <a:r>
              <a:rPr lang="en-US" altLang="zh-CN" b="0" i="1" baseline="-25000">
                <a:effectLst/>
              </a:rPr>
              <a:t>0</a:t>
            </a:r>
            <a:r>
              <a:rPr lang="en-US" altLang="zh-CN" b="0" i="1">
                <a:effectLst/>
              </a:rPr>
              <a:t> = A×PVA</a:t>
            </a:r>
            <a:r>
              <a:rPr lang="en-US" altLang="zh-CN" b="0" i="1" baseline="-25000">
                <a:effectLst/>
              </a:rPr>
              <a:t>(i,n)</a:t>
            </a:r>
            <a:endParaRPr lang="en-US" altLang="zh-CN" b="0" i="1">
              <a:effectLst/>
            </a:endParaRPr>
          </a:p>
        </p:txBody>
      </p:sp>
      <p:sp>
        <p:nvSpPr>
          <p:cNvPr id="14356" name="Text Box 12"/>
          <p:cNvSpPr txBox="1">
            <a:spLocks noChangeArrowheads="1"/>
          </p:cNvSpPr>
          <p:nvPr/>
        </p:nvSpPr>
        <p:spPr bwMode="auto">
          <a:xfrm>
            <a:off x="6007735" y="3169285"/>
            <a:ext cx="2592705" cy="519430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100000">
                <a:srgbClr val="FFFFFF"/>
              </a:gs>
            </a:gsLst>
            <a:lin ang="5400000" scaled="0"/>
          </a:gradFill>
          <a:ln w="12700" cmpd="sng">
            <a:solidFill>
              <a:schemeClr val="accent2"/>
            </a:solidFill>
            <a:prstDash val="soli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楷体_GB2312" panose="02010609030101010101" pitchFamily="49" charset="-122"/>
              </a:rPr>
              <a:t>年金现值系数</a:t>
            </a:r>
          </a:p>
        </p:txBody>
      </p:sp>
      <p:grpSp>
        <p:nvGrpSpPr>
          <p:cNvPr id="3" name="Group 50"/>
          <p:cNvGrpSpPr/>
          <p:nvPr/>
        </p:nvGrpSpPr>
        <p:grpSpPr bwMode="auto">
          <a:xfrm>
            <a:off x="971550" y="4221163"/>
            <a:ext cx="5184775" cy="1336675"/>
            <a:chOff x="612" y="2740"/>
            <a:chExt cx="3266" cy="842"/>
          </a:xfrm>
        </p:grpSpPr>
        <p:sp>
          <p:nvSpPr>
            <p:cNvPr id="14346" name="Text Box 51"/>
            <p:cNvSpPr txBox="1">
              <a:spLocks noChangeArrowheads="1"/>
            </p:cNvSpPr>
            <p:nvPr/>
          </p:nvSpPr>
          <p:spPr bwMode="auto">
            <a:xfrm>
              <a:off x="612" y="2740"/>
              <a:ext cx="32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</a:rPr>
                <a:t>0        1        2        3        4      </a:t>
              </a:r>
            </a:p>
          </p:txBody>
        </p:sp>
        <p:grpSp>
          <p:nvGrpSpPr>
            <p:cNvPr id="14347" name="Group 52"/>
            <p:cNvGrpSpPr/>
            <p:nvPr/>
          </p:nvGrpSpPr>
          <p:grpSpPr bwMode="auto">
            <a:xfrm>
              <a:off x="703" y="3022"/>
              <a:ext cx="3130" cy="560"/>
              <a:chOff x="703" y="3022"/>
              <a:chExt cx="3130" cy="560"/>
            </a:xfrm>
          </p:grpSpPr>
          <p:sp>
            <p:nvSpPr>
              <p:cNvPr id="14348" name="Line 53"/>
              <p:cNvSpPr>
                <a:spLocks noChangeShapeType="1"/>
              </p:cNvSpPr>
              <p:nvPr/>
            </p:nvSpPr>
            <p:spPr bwMode="auto">
              <a:xfrm>
                <a:off x="703" y="3067"/>
                <a:ext cx="31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9" name="Line 54"/>
              <p:cNvSpPr>
                <a:spLocks noChangeShapeType="1"/>
              </p:cNvSpPr>
              <p:nvPr/>
            </p:nvSpPr>
            <p:spPr bwMode="auto">
              <a:xfrm>
                <a:off x="703" y="3022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0" name="Line 55"/>
              <p:cNvSpPr>
                <a:spLocks noChangeShapeType="1"/>
              </p:cNvSpPr>
              <p:nvPr/>
            </p:nvSpPr>
            <p:spPr bwMode="auto">
              <a:xfrm>
                <a:off x="1292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1" name="Line 56"/>
              <p:cNvSpPr>
                <a:spLocks noChangeShapeType="1"/>
              </p:cNvSpPr>
              <p:nvPr/>
            </p:nvSpPr>
            <p:spPr bwMode="auto">
              <a:xfrm>
                <a:off x="1837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2" name="Line 57"/>
              <p:cNvSpPr>
                <a:spLocks noChangeShapeType="1"/>
              </p:cNvSpPr>
              <p:nvPr/>
            </p:nvSpPr>
            <p:spPr bwMode="auto">
              <a:xfrm>
                <a:off x="2426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3" name="Line 58"/>
              <p:cNvSpPr>
                <a:spLocks noChangeShapeType="1"/>
              </p:cNvSpPr>
              <p:nvPr/>
            </p:nvSpPr>
            <p:spPr bwMode="auto">
              <a:xfrm>
                <a:off x="2971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4" name="Text Box 59"/>
              <p:cNvSpPr txBox="1">
                <a:spLocks noChangeArrowheads="1"/>
              </p:cNvSpPr>
              <p:nvPr/>
            </p:nvSpPr>
            <p:spPr bwMode="auto">
              <a:xfrm>
                <a:off x="1701" y="3294"/>
                <a:ext cx="11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anose="05020102010507070707" pitchFamily="18" charset="2"/>
                  <a:buChar char="¡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A = 600</a:t>
                </a:r>
              </a:p>
            </p:txBody>
          </p:sp>
          <p:sp>
            <p:nvSpPr>
              <p:cNvPr id="14355" name="Line 60"/>
              <p:cNvSpPr>
                <a:spLocks noChangeShapeType="1"/>
              </p:cNvSpPr>
              <p:nvPr/>
            </p:nvSpPr>
            <p:spPr bwMode="auto">
              <a:xfrm>
                <a:off x="1292" y="3339"/>
                <a:ext cx="16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1437" name="Line 61"/>
          <p:cNvSpPr>
            <a:spLocks noChangeShapeType="1"/>
          </p:cNvSpPr>
          <p:nvPr/>
        </p:nvSpPr>
        <p:spPr bwMode="auto">
          <a:xfrm rot="10800000" flipV="1">
            <a:off x="1116013" y="4868863"/>
            <a:ext cx="0" cy="5762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39" name="Text Box 63"/>
          <p:cNvSpPr txBox="1">
            <a:spLocks noChangeArrowheads="1"/>
          </p:cNvSpPr>
          <p:nvPr/>
        </p:nvSpPr>
        <p:spPr bwMode="auto">
          <a:xfrm>
            <a:off x="179388" y="5661025"/>
            <a:ext cx="8640762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PV</a:t>
            </a:r>
            <a:r>
              <a:rPr lang="en-US" altLang="zh-CN" sz="2400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= 600(1+i)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-1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-2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-3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+ 600(1+10%)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-4</a:t>
            </a:r>
            <a:endParaRPr lang="en-US" altLang="zh-CN" sz="240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      = 600((1-(1+10%)</a:t>
            </a:r>
            <a:r>
              <a:rPr lang="en-US" altLang="zh-CN" sz="2400" baseline="30000">
                <a:latin typeface="Times New Roman" panose="02020603050405020304" pitchFamily="18" charset="0"/>
                <a:ea typeface="楷体_GB2312" panose="02010609030101010101" pitchFamily="49" charset="-122"/>
              </a:rPr>
              <a:t>-4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)/10%)=600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×3.1699 = 1901.92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（元）</a:t>
            </a:r>
            <a:endParaRPr lang="zh-CN" altLang="en-US" sz="24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05635" y="2299335"/>
            <a:ext cx="3317240" cy="812165"/>
            <a:chOff x="7696" y="3100"/>
            <a:chExt cx="5224" cy="1279"/>
          </a:xfrm>
        </p:grpSpPr>
        <p:sp>
          <p:nvSpPr>
            <p:cNvPr id="4" name="矩形 3"/>
            <p:cNvSpPr/>
            <p:nvPr/>
          </p:nvSpPr>
          <p:spPr>
            <a:xfrm>
              <a:off x="7727" y="3102"/>
              <a:ext cx="5160" cy="127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696" y="3100"/>
            <a:ext cx="5224" cy="1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r:id="rId3" imgW="3124200" imgH="634365" progId="Equation.KSEE3">
                    <p:embed/>
                  </p:oleObj>
                </mc:Choice>
                <mc:Fallback>
                  <p:oleObj r:id="rId3" imgW="3124200" imgH="6343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96" y="3100"/>
                          <a:ext cx="5224" cy="11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椭圆 6"/>
          <p:cNvSpPr/>
          <p:nvPr/>
        </p:nvSpPr>
        <p:spPr>
          <a:xfrm>
            <a:off x="4150360" y="2177415"/>
            <a:ext cx="1051560" cy="934720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521075" y="3286760"/>
            <a:ext cx="1195705" cy="934720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438650" y="3112135"/>
            <a:ext cx="122555" cy="192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arrow" w="med" len="med"/>
            <a:tailEnd type="arrow" w="med" len="med"/>
          </a:ln>
        </p:spPr>
      </p:cxnSp>
      <p:cxnSp>
        <p:nvCxnSpPr>
          <p:cNvPr id="10" name="直接箭头连接符 9"/>
          <p:cNvCxnSpPr>
            <a:endCxn id="14356" idx="1"/>
          </p:cNvCxnSpPr>
          <p:nvPr/>
        </p:nvCxnSpPr>
        <p:spPr>
          <a:xfrm>
            <a:off x="4506595" y="3242945"/>
            <a:ext cx="1501140" cy="1860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Rot="1" noChangeArrowheads="1"/>
          </p:cNvSpPr>
          <p:nvPr/>
        </p:nvSpPr>
        <p:spPr bwMode="auto">
          <a:xfrm>
            <a:off x="323850" y="404813"/>
            <a:ext cx="85407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2411413" y="5084763"/>
            <a:ext cx="5256212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变量：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/>
              <a:t>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287270" y="2207260"/>
            <a:ext cx="4356100" cy="1165860"/>
            <a:chOff x="1465" y="3365"/>
            <a:chExt cx="6860" cy="1836"/>
          </a:xfrm>
        </p:grpSpPr>
        <p:sp>
          <p:nvSpPr>
            <p:cNvPr id="2" name="矩形 1"/>
            <p:cNvSpPr/>
            <p:nvPr/>
          </p:nvSpPr>
          <p:spPr>
            <a:xfrm>
              <a:off x="1465" y="3438"/>
              <a:ext cx="6860" cy="176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870" y="3365"/>
            <a:ext cx="6050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r:id="rId3" imgW="1727200" imgH="596900" progId="Equation.KSEE3">
                    <p:embed/>
                  </p:oleObj>
                </mc:Choice>
                <mc:Fallback>
                  <p:oleObj r:id="rId3" imgW="1727200" imgH="596900" progId="Equation.KSEE3">
                    <p:embed/>
                    <p:pic>
                      <p:nvPicPr>
                        <p:cNvPr id="0" name="图片 204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70" y="3365"/>
                          <a:ext cx="6050" cy="17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879090" y="3862070"/>
            <a:ext cx="3173730" cy="922020"/>
            <a:chOff x="8962" y="3874"/>
            <a:chExt cx="4998" cy="1452"/>
          </a:xfrm>
        </p:grpSpPr>
        <p:sp>
          <p:nvSpPr>
            <p:cNvPr id="6" name="矩形 5"/>
            <p:cNvSpPr/>
            <p:nvPr/>
          </p:nvSpPr>
          <p:spPr>
            <a:xfrm>
              <a:off x="8962" y="3874"/>
              <a:ext cx="4998" cy="1453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9003" y="4099"/>
            <a:ext cx="4915" cy="1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r:id="rId5" imgW="1676400" imgH="330200" progId="Equation.KSEE3">
                    <p:embed/>
                  </p:oleObj>
                </mc:Choice>
                <mc:Fallback>
                  <p:oleObj r:id="rId5" imgW="1676400" imgH="330200" progId="Equation.KSEE3">
                    <p:embed/>
                    <p:pic>
                      <p:nvPicPr>
                        <p:cNvPr id="0" name="图片 20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03" y="4099"/>
                          <a:ext cx="4915" cy="11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/>
          <p:cNvSpPr txBox="1"/>
          <p:nvPr/>
        </p:nvSpPr>
        <p:spPr>
          <a:xfrm>
            <a:off x="1336040" y="1149350"/>
            <a:ext cx="37579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kern="0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复利现值和终值的计算</a:t>
            </a:r>
            <a:endParaRPr lang="zh-CN" altLang="en-US" sz="4000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华文中宋" panose="02010600040101010101" pitchFamily="2" charset="-122"/>
              </a:rPr>
              <a:t>已知其中三个变量，求其他变量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现在存入银行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年后的终值是多少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？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年后可以获得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元，则现在应存入银行多少钱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？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现在存入银行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年后可以获得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元则存款利率为多少？</a:t>
            </a: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现在存入银行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，需要多长时间才能获得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元？</a:t>
            </a:r>
          </a:p>
        </p:txBody>
      </p:sp>
    </p:spTree>
  </p:cSld>
  <p:clrMapOvr>
    <a:masterClrMapping/>
  </p:clrMapOvr>
  <p:transition spd="slow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>
                <a:latin typeface="楷体_GB2312" panose="02010609030101010101" pitchFamily="49" charset="-122"/>
                <a:ea typeface="楷体_GB2312" panose="02010609030101010101" pitchFamily="49" charset="-122"/>
              </a:rPr>
              <a:t>年金现值和终值的计算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1979613" y="5646738"/>
            <a:ext cx="518477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变量：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endParaRPr lang="en-US" altLang="zh-CN" baseline="-2500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8265" name="Text Box 25"/>
          <p:cNvSpPr txBox="1">
            <a:spLocks noChangeArrowheads="1"/>
          </p:cNvSpPr>
          <p:nvPr/>
        </p:nvSpPr>
        <p:spPr bwMode="auto">
          <a:xfrm>
            <a:off x="1979295" y="3452495"/>
            <a:ext cx="518477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变量：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PV</a:t>
            </a:r>
            <a:r>
              <a:rPr lang="en-US" altLang="zh-CN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endParaRPr lang="en-US" altLang="zh-CN" baseline="-2500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47545" y="2380615"/>
            <a:ext cx="3891915" cy="880745"/>
            <a:chOff x="9308" y="3859"/>
            <a:chExt cx="4922" cy="1166"/>
          </a:xfrm>
        </p:grpSpPr>
        <p:sp>
          <p:nvSpPr>
            <p:cNvPr id="2" name="矩形 1"/>
            <p:cNvSpPr/>
            <p:nvPr/>
          </p:nvSpPr>
          <p:spPr>
            <a:xfrm>
              <a:off x="9308" y="3859"/>
              <a:ext cx="4923" cy="11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" name="对象 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9349" y="3943"/>
            <a:ext cx="4840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r:id="rId3" imgW="3073400" imgH="634365" progId="Equation.KSEE3">
                    <p:embed/>
                  </p:oleObj>
                </mc:Choice>
                <mc:Fallback>
                  <p:oleObj r:id="rId3" imgW="3073400" imgH="634365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349" y="3943"/>
                          <a:ext cx="4840" cy="9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947545" y="4354195"/>
            <a:ext cx="3892550" cy="980440"/>
            <a:chOff x="8107" y="2679"/>
            <a:chExt cx="4990" cy="1378"/>
          </a:xfrm>
        </p:grpSpPr>
        <p:sp>
          <p:nvSpPr>
            <p:cNvPr id="6" name="矩形 5"/>
            <p:cNvSpPr/>
            <p:nvPr/>
          </p:nvSpPr>
          <p:spPr>
            <a:xfrm>
              <a:off x="8107" y="2679"/>
              <a:ext cx="4990" cy="1379"/>
            </a:xfrm>
            <a:prstGeom prst="rect">
              <a:avLst/>
            </a:prstGeom>
            <a:gradFill>
              <a:gsLst>
                <a:gs pos="0">
                  <a:srgbClr val="FF99FF"/>
                </a:gs>
                <a:gs pos="100000">
                  <a:schemeClr val="bg1"/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8107" y="2908"/>
            <a:ext cx="4990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r:id="rId5" imgW="3060065" imgH="596900" progId="Equation.KSEE3">
                    <p:embed/>
                  </p:oleObj>
                </mc:Choice>
                <mc:Fallback>
                  <p:oleObj r:id="rId5" imgW="3060065" imgH="596900" progId="Equation.KSEE3">
                    <p:embed/>
                    <p:pic>
                      <p:nvPicPr>
                        <p:cNvPr id="0" name="图片 307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107" y="2908"/>
                          <a:ext cx="4990" cy="9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bldLvl="0" animBg="1"/>
      <p:bldP spid="13826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ea typeface="华文中宋" panose="02010600040101010101" pitchFamily="2" charset="-122"/>
              </a:rPr>
              <a:t>年金中已知其中三个变量，求其他变量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每年末存入银行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年后的终值是多少？</a:t>
            </a: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年后可以获得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元，则每年末应存入银行多少钱？</a:t>
            </a: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每年末存入银行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年后可以获得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元，则存款利率为多少？</a:t>
            </a: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每年末存入银行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元，利率为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，需要多长时间才能获得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205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元？</a:t>
            </a:r>
          </a:p>
        </p:txBody>
      </p:sp>
    </p:spTree>
  </p:cSld>
  <p:clrMapOvr>
    <a:masterClrMapping/>
  </p:clrMapOvr>
  <p:transition spd="slow"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计算现值和终值的关键因素</a:t>
            </a:r>
          </a:p>
          <a:p>
            <a:pPr lvl="1" eaLnBrk="1" hangingPunct="1"/>
            <a:r>
              <a:rPr lang="zh-CN" altLang="en-US" sz="2000" b="1" dirty="0">
                <a:cs typeface="+mn-ea"/>
              </a:rPr>
              <a:t>现金流量的</a:t>
            </a:r>
            <a:r>
              <a:rPr lang="zh-CN" altLang="en-US" sz="2000" b="1" dirty="0">
                <a:solidFill>
                  <a:srgbClr val="FF0000"/>
                </a:solidFill>
                <a:cs typeface="+mn-ea"/>
              </a:rPr>
              <a:t>金额</a:t>
            </a:r>
            <a:r>
              <a:rPr lang="zh-CN" altLang="en-US" sz="2000" b="1" dirty="0">
                <a:cs typeface="+mn-ea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cs typeface="+mn-ea"/>
              </a:rPr>
              <a:t>时点</a:t>
            </a:r>
            <a:endParaRPr lang="zh-CN" altLang="en-US" b="1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lvl="1" algn="l" eaLnBrk="1" hangingPunct="1"/>
            <a:r>
              <a:rPr lang="zh-CN" altLang="en-US" sz="2000" b="1" dirty="0">
                <a:cs typeface="+mn-ea"/>
              </a:rPr>
              <a:t>折现率</a:t>
            </a:r>
          </a:p>
          <a:p>
            <a:pPr lvl="1" eaLnBrk="1" hangingPunct="1"/>
            <a:endParaRPr lang="zh-CN" altLang="en-US">
              <a:ea typeface="黑体" panose="02010609060101010101" pitchFamily="49" charset="-122"/>
            </a:endParaRPr>
          </a:p>
          <a:p>
            <a:pPr lvl="1" eaLnBrk="1" hangingPunct="1"/>
            <a:endParaRPr lang="zh-CN" altLang="en-US">
              <a:ea typeface="黑体" panose="02010609060101010101" pitchFamily="49" charset="-122"/>
            </a:endParaRPr>
          </a:p>
          <a:p>
            <a:pPr lvl="1" eaLnBrk="1" hangingPunct="1"/>
            <a:endParaRPr lang="zh-CN" altLang="en-US">
              <a:ea typeface="黑体" panose="02010609060101010101" pitchFamily="49" charset="-122"/>
            </a:endParaRPr>
          </a:p>
          <a:p>
            <a:pPr lvl="1" algn="l" eaLnBrk="1" hangingPunct="1"/>
            <a:r>
              <a:rPr lang="zh-CN" altLang="en-US" sz="2000" b="1" dirty="0">
                <a:cs typeface="+mn-ea"/>
              </a:rPr>
              <a:t>时点和期数很重要</a:t>
            </a:r>
          </a:p>
          <a:p>
            <a:pPr lvl="1" algn="l" eaLnBrk="1" hangingPunct="1"/>
            <a:r>
              <a:rPr lang="zh-CN" altLang="en-US" sz="2000" b="1" dirty="0">
                <a:cs typeface="+mn-ea"/>
              </a:rPr>
              <a:t>借款100元，年利率10%，假定分别按年、半年、季度和月度付息，则1年后的复利终值为多少？</a:t>
            </a: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91920" y="3230880"/>
            <a:ext cx="5090795" cy="1124979"/>
            <a:chOff x="612" y="2740"/>
            <a:chExt cx="3266" cy="937"/>
          </a:xfrm>
        </p:grpSpPr>
        <p:sp>
          <p:nvSpPr>
            <p:cNvPr id="19461" name="Text Box 5"/>
            <p:cNvSpPr txBox="1">
              <a:spLocks noChangeArrowheads="1"/>
            </p:cNvSpPr>
            <p:nvPr/>
          </p:nvSpPr>
          <p:spPr bwMode="auto">
            <a:xfrm>
              <a:off x="612" y="2740"/>
              <a:ext cx="326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0          1         2          3         4</a:t>
              </a: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</a:p>
          </p:txBody>
        </p:sp>
        <p:grpSp>
          <p:nvGrpSpPr>
            <p:cNvPr id="19462" name="Group 6"/>
            <p:cNvGrpSpPr/>
            <p:nvPr/>
          </p:nvGrpSpPr>
          <p:grpSpPr bwMode="auto">
            <a:xfrm>
              <a:off x="703" y="3022"/>
              <a:ext cx="3130" cy="655"/>
              <a:chOff x="703" y="3022"/>
              <a:chExt cx="3130" cy="655"/>
            </a:xfrm>
          </p:grpSpPr>
          <p:sp>
            <p:nvSpPr>
              <p:cNvPr id="19463" name="Line 7"/>
              <p:cNvSpPr>
                <a:spLocks noChangeShapeType="1"/>
              </p:cNvSpPr>
              <p:nvPr/>
            </p:nvSpPr>
            <p:spPr bwMode="auto">
              <a:xfrm>
                <a:off x="703" y="3067"/>
                <a:ext cx="31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4" name="Line 8"/>
              <p:cNvSpPr>
                <a:spLocks noChangeShapeType="1"/>
              </p:cNvSpPr>
              <p:nvPr/>
            </p:nvSpPr>
            <p:spPr bwMode="auto">
              <a:xfrm>
                <a:off x="703" y="3022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5" name="Line 9"/>
              <p:cNvSpPr>
                <a:spLocks noChangeShapeType="1"/>
              </p:cNvSpPr>
              <p:nvPr/>
            </p:nvSpPr>
            <p:spPr bwMode="auto">
              <a:xfrm>
                <a:off x="1292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6" name="Line 10"/>
              <p:cNvSpPr>
                <a:spLocks noChangeShapeType="1"/>
              </p:cNvSpPr>
              <p:nvPr/>
            </p:nvSpPr>
            <p:spPr bwMode="auto">
              <a:xfrm>
                <a:off x="1837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7" name="Line 11"/>
              <p:cNvSpPr>
                <a:spLocks noChangeShapeType="1"/>
              </p:cNvSpPr>
              <p:nvPr/>
            </p:nvSpPr>
            <p:spPr bwMode="auto">
              <a:xfrm>
                <a:off x="2426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8" name="Line 12"/>
              <p:cNvSpPr>
                <a:spLocks noChangeShapeType="1"/>
              </p:cNvSpPr>
              <p:nvPr/>
            </p:nvSpPr>
            <p:spPr bwMode="auto">
              <a:xfrm>
                <a:off x="2971" y="3067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9" name="Text Box 13"/>
              <p:cNvSpPr txBox="1">
                <a:spLocks noChangeArrowheads="1"/>
              </p:cNvSpPr>
              <p:nvPr/>
            </p:nvSpPr>
            <p:spPr bwMode="auto">
              <a:xfrm>
                <a:off x="1701" y="3294"/>
                <a:ext cx="1179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anose="05020102010507070707" pitchFamily="18" charset="2"/>
                  <a:buChar char="¡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A = 600</a:t>
                </a:r>
              </a:p>
            </p:txBody>
          </p:sp>
          <p:sp>
            <p:nvSpPr>
              <p:cNvPr id="19470" name="Line 14"/>
              <p:cNvSpPr>
                <a:spLocks noChangeShapeType="1"/>
              </p:cNvSpPr>
              <p:nvPr/>
            </p:nvSpPr>
            <p:spPr bwMode="auto">
              <a:xfrm>
                <a:off x="1292" y="3339"/>
                <a:ext cx="16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现金流量的时点和支付期</a:t>
            </a:r>
          </a:p>
        </p:txBody>
      </p:sp>
      <p:sp>
        <p:nvSpPr>
          <p:cNvPr id="20483" name="Line 4"/>
          <p:cNvSpPr>
            <a:spLocks noChangeShapeType="1"/>
          </p:cNvSpPr>
          <p:nvPr/>
        </p:nvSpPr>
        <p:spPr bwMode="auto">
          <a:xfrm>
            <a:off x="1260475" y="2132013"/>
            <a:ext cx="403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900113" y="1700213"/>
            <a:ext cx="4249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 panose="02010609030101010101" pitchFamily="49" charset="-122"/>
              </a:rPr>
              <a:t>0                              1</a:t>
            </a:r>
          </a:p>
        </p:txBody>
      </p:sp>
      <p:sp>
        <p:nvSpPr>
          <p:cNvPr id="20485" name="Line 11"/>
          <p:cNvSpPr>
            <a:spLocks noChangeShapeType="1"/>
          </p:cNvSpPr>
          <p:nvPr/>
        </p:nvSpPr>
        <p:spPr bwMode="auto">
          <a:xfrm>
            <a:off x="3924300" y="2133600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Line 12"/>
          <p:cNvSpPr>
            <a:spLocks noChangeShapeType="1"/>
          </p:cNvSpPr>
          <p:nvPr/>
        </p:nvSpPr>
        <p:spPr bwMode="auto">
          <a:xfrm>
            <a:off x="1260475" y="3213100"/>
            <a:ext cx="403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Text Box 13"/>
          <p:cNvSpPr txBox="1">
            <a:spLocks noChangeArrowheads="1"/>
          </p:cNvSpPr>
          <p:nvPr/>
        </p:nvSpPr>
        <p:spPr bwMode="auto">
          <a:xfrm>
            <a:off x="900113" y="2781300"/>
            <a:ext cx="4249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 panose="02010609030101010101" pitchFamily="49" charset="-122"/>
              </a:rPr>
              <a:t>0              1              2</a:t>
            </a:r>
          </a:p>
        </p:txBody>
      </p:sp>
      <p:sp>
        <p:nvSpPr>
          <p:cNvPr id="20488" name="Line 14"/>
          <p:cNvSpPr>
            <a:spLocks noChangeShapeType="1"/>
          </p:cNvSpPr>
          <p:nvPr/>
        </p:nvSpPr>
        <p:spPr bwMode="auto">
          <a:xfrm>
            <a:off x="2484438" y="3213100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19"/>
          <p:cNvSpPr>
            <a:spLocks noChangeShapeType="1"/>
          </p:cNvSpPr>
          <p:nvPr/>
        </p:nvSpPr>
        <p:spPr bwMode="auto">
          <a:xfrm>
            <a:off x="3924300" y="3213100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Line 36"/>
          <p:cNvSpPr>
            <a:spLocks noChangeShapeType="1"/>
          </p:cNvSpPr>
          <p:nvPr/>
        </p:nvSpPr>
        <p:spPr bwMode="auto">
          <a:xfrm>
            <a:off x="1331913" y="4365625"/>
            <a:ext cx="403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Text Box 37"/>
          <p:cNvSpPr txBox="1">
            <a:spLocks noChangeArrowheads="1"/>
          </p:cNvSpPr>
          <p:nvPr/>
        </p:nvSpPr>
        <p:spPr bwMode="auto">
          <a:xfrm>
            <a:off x="971550" y="3933825"/>
            <a:ext cx="4249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 panose="02010609030101010101" pitchFamily="49" charset="-122"/>
              </a:rPr>
              <a:t>0      1      2      3      4</a:t>
            </a:r>
          </a:p>
        </p:txBody>
      </p:sp>
      <p:sp>
        <p:nvSpPr>
          <p:cNvPr id="20492" name="Line 38"/>
          <p:cNvSpPr>
            <a:spLocks noChangeShapeType="1"/>
          </p:cNvSpPr>
          <p:nvPr/>
        </p:nvSpPr>
        <p:spPr bwMode="auto">
          <a:xfrm>
            <a:off x="1908175" y="4365625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3" name="Line 39"/>
          <p:cNvSpPr>
            <a:spLocks noChangeShapeType="1"/>
          </p:cNvSpPr>
          <p:nvPr/>
        </p:nvSpPr>
        <p:spPr bwMode="auto">
          <a:xfrm>
            <a:off x="2555875" y="4365625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41"/>
          <p:cNvSpPr>
            <a:spLocks noChangeShapeType="1"/>
          </p:cNvSpPr>
          <p:nvPr/>
        </p:nvSpPr>
        <p:spPr bwMode="auto">
          <a:xfrm>
            <a:off x="3275013" y="4365625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42"/>
          <p:cNvSpPr>
            <a:spLocks noChangeShapeType="1"/>
          </p:cNvSpPr>
          <p:nvPr/>
        </p:nvSpPr>
        <p:spPr bwMode="auto">
          <a:xfrm>
            <a:off x="3995738" y="4365625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44"/>
          <p:cNvSpPr>
            <a:spLocks noChangeShapeType="1"/>
          </p:cNvSpPr>
          <p:nvPr/>
        </p:nvSpPr>
        <p:spPr bwMode="auto">
          <a:xfrm>
            <a:off x="217488" y="5589588"/>
            <a:ext cx="8602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Text Box 45"/>
          <p:cNvSpPr txBox="1">
            <a:spLocks noChangeArrowheads="1"/>
          </p:cNvSpPr>
          <p:nvPr/>
        </p:nvSpPr>
        <p:spPr bwMode="auto">
          <a:xfrm>
            <a:off x="0" y="5157788"/>
            <a:ext cx="8675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 panose="02010609030101010101" pitchFamily="49" charset="-122"/>
              </a:rPr>
              <a:t>0     1     2      3      4      5     6     7     8     9     10    11   12</a:t>
            </a:r>
          </a:p>
        </p:txBody>
      </p:sp>
      <p:sp>
        <p:nvSpPr>
          <p:cNvPr id="20498" name="Line 46"/>
          <p:cNvSpPr>
            <a:spLocks noChangeShapeType="1"/>
          </p:cNvSpPr>
          <p:nvPr/>
        </p:nvSpPr>
        <p:spPr bwMode="auto">
          <a:xfrm>
            <a:off x="793750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47"/>
          <p:cNvSpPr>
            <a:spLocks noChangeShapeType="1"/>
          </p:cNvSpPr>
          <p:nvPr/>
        </p:nvSpPr>
        <p:spPr bwMode="auto">
          <a:xfrm>
            <a:off x="1441450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Line 48"/>
          <p:cNvSpPr>
            <a:spLocks noChangeShapeType="1"/>
          </p:cNvSpPr>
          <p:nvPr/>
        </p:nvSpPr>
        <p:spPr bwMode="auto">
          <a:xfrm>
            <a:off x="793750" y="6021388"/>
            <a:ext cx="74501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Line 49"/>
          <p:cNvSpPr>
            <a:spLocks noChangeShapeType="1"/>
          </p:cNvSpPr>
          <p:nvPr/>
        </p:nvSpPr>
        <p:spPr bwMode="auto">
          <a:xfrm>
            <a:off x="2160588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2" name="Line 50"/>
          <p:cNvSpPr>
            <a:spLocks noChangeShapeType="1"/>
          </p:cNvSpPr>
          <p:nvPr/>
        </p:nvSpPr>
        <p:spPr bwMode="auto">
          <a:xfrm>
            <a:off x="2881313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3" name="Line 51"/>
          <p:cNvSpPr>
            <a:spLocks noChangeShapeType="1"/>
          </p:cNvSpPr>
          <p:nvPr/>
        </p:nvSpPr>
        <p:spPr bwMode="auto">
          <a:xfrm>
            <a:off x="3529013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4" name="Line 52"/>
          <p:cNvSpPr>
            <a:spLocks noChangeShapeType="1"/>
          </p:cNvSpPr>
          <p:nvPr/>
        </p:nvSpPr>
        <p:spPr bwMode="auto">
          <a:xfrm>
            <a:off x="4140200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5" name="Line 53"/>
          <p:cNvSpPr>
            <a:spLocks noChangeShapeType="1"/>
          </p:cNvSpPr>
          <p:nvPr/>
        </p:nvSpPr>
        <p:spPr bwMode="auto">
          <a:xfrm>
            <a:off x="4787900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6" name="Line 54"/>
          <p:cNvSpPr>
            <a:spLocks noChangeShapeType="1"/>
          </p:cNvSpPr>
          <p:nvPr/>
        </p:nvSpPr>
        <p:spPr bwMode="auto">
          <a:xfrm>
            <a:off x="5435600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7" name="Line 55"/>
          <p:cNvSpPr>
            <a:spLocks noChangeShapeType="1"/>
          </p:cNvSpPr>
          <p:nvPr/>
        </p:nvSpPr>
        <p:spPr bwMode="auto">
          <a:xfrm>
            <a:off x="6084888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8" name="Line 57"/>
          <p:cNvSpPr>
            <a:spLocks noChangeShapeType="1"/>
          </p:cNvSpPr>
          <p:nvPr/>
        </p:nvSpPr>
        <p:spPr bwMode="auto">
          <a:xfrm>
            <a:off x="8101013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9" name="Line 58"/>
          <p:cNvSpPr>
            <a:spLocks noChangeShapeType="1"/>
          </p:cNvSpPr>
          <p:nvPr/>
        </p:nvSpPr>
        <p:spPr bwMode="auto">
          <a:xfrm>
            <a:off x="7451725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0" name="Line 59"/>
          <p:cNvSpPr>
            <a:spLocks noChangeShapeType="1"/>
          </p:cNvSpPr>
          <p:nvPr/>
        </p:nvSpPr>
        <p:spPr bwMode="auto">
          <a:xfrm>
            <a:off x="6732588" y="5589588"/>
            <a:ext cx="0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1" name="Line 60"/>
          <p:cNvSpPr>
            <a:spLocks noChangeShapeType="1"/>
          </p:cNvSpPr>
          <p:nvPr/>
        </p:nvSpPr>
        <p:spPr bwMode="auto">
          <a:xfrm>
            <a:off x="1908175" y="4797425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2" name="Line 61"/>
          <p:cNvSpPr>
            <a:spLocks noChangeShapeType="1"/>
          </p:cNvSpPr>
          <p:nvPr/>
        </p:nvSpPr>
        <p:spPr bwMode="auto">
          <a:xfrm>
            <a:off x="2484438" y="3644900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3" name="Rectangle 62"/>
          <p:cNvSpPr>
            <a:spLocks noChangeArrowheads="1"/>
          </p:cNvSpPr>
          <p:nvPr/>
        </p:nvSpPr>
        <p:spPr bwMode="auto">
          <a:xfrm>
            <a:off x="5580063" y="1844675"/>
            <a:ext cx="2970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利率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10%</a:t>
            </a: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，  期数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zh-CN" altLang="en-US" sz="2800" b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0514" name="Rectangle 63"/>
          <p:cNvSpPr>
            <a:spLocks noChangeArrowheads="1"/>
          </p:cNvSpPr>
          <p:nvPr/>
        </p:nvSpPr>
        <p:spPr bwMode="auto">
          <a:xfrm>
            <a:off x="5508625" y="2852738"/>
            <a:ext cx="3068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利率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10%/2</a:t>
            </a: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，期数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endParaRPr lang="zh-CN" altLang="en-US" sz="2800" b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0515" name="Rectangle 64"/>
          <p:cNvSpPr>
            <a:spLocks noChangeArrowheads="1"/>
          </p:cNvSpPr>
          <p:nvPr/>
        </p:nvSpPr>
        <p:spPr bwMode="auto">
          <a:xfrm>
            <a:off x="5580063" y="3860800"/>
            <a:ext cx="3068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利率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10%/4</a:t>
            </a: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，期数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endParaRPr lang="zh-CN" altLang="en-US" sz="2800" b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0516" name="Rectangle 65"/>
          <p:cNvSpPr>
            <a:spLocks noChangeArrowheads="1"/>
          </p:cNvSpPr>
          <p:nvPr/>
        </p:nvSpPr>
        <p:spPr bwMode="auto">
          <a:xfrm>
            <a:off x="5508625" y="6092825"/>
            <a:ext cx="3424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利率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10%/12</a:t>
            </a:r>
            <a:r>
              <a:rPr lang="zh-CN" altLang="en-US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，期数</a:t>
            </a:r>
            <a:r>
              <a:rPr lang="en-US" altLang="zh-CN" sz="2800" b="0">
                <a:latin typeface="Times New Roman" panose="02020603050405020304" pitchFamily="18" charset="0"/>
                <a:ea typeface="楷体_GB2312" panose="02010609030101010101" pitchFamily="49" charset="-122"/>
              </a:rPr>
              <a:t>12</a:t>
            </a:r>
          </a:p>
        </p:txBody>
      </p:sp>
    </p:spTree>
  </p:cSld>
  <p:clrMapOvr>
    <a:masterClrMapping/>
  </p:clrMapOvr>
  <p:transition spd="slow"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/>
              <a:t>复利和折现的实际应用</a:t>
            </a:r>
          </a:p>
        </p:txBody>
      </p:sp>
      <p:sp>
        <p:nvSpPr>
          <p:cNvPr id="10957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171258" y="2742883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ea typeface="楷体_GB2312" panose="02010609030101010101" pitchFamily="49" charset="-122"/>
              </a:rPr>
              <a:t>价值：所得到的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ea typeface="楷体_GB2312" panose="02010609030101010101" pitchFamily="49" charset="-122"/>
              </a:rPr>
              <a:t>债券价值：投资债券我们所得到的即利息和本金（现金流量）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ea typeface="楷体_GB2312" panose="02010609030101010101" pitchFamily="49" charset="-122"/>
              </a:rPr>
              <a:t>从现在时点来看，债券的价值就是我们未来获得利息和本金的现值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anose="02010609030101010101" pitchFamily="49" charset="-122"/>
              </a:rPr>
              <a:t>债券的发行价值（从购买者的角度计算）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solidFill>
                  <a:srgbClr val="FF0000"/>
                </a:solidFill>
                <a:ea typeface="楷体_GB2312" panose="02010609030101010101" pitchFamily="49" charset="-122"/>
              </a:rPr>
              <a:t>同样可对股票进行类似的分析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042988" y="1916113"/>
            <a:ext cx="4967287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债券和股票等价值的计算：</a:t>
            </a:r>
          </a:p>
        </p:txBody>
      </p:sp>
      <p:pic>
        <p:nvPicPr>
          <p:cNvPr id="109574" name="Picture 6" descr="j0283188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836613"/>
            <a:ext cx="2017713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  <p:bldP spid="1095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>
                <a:latin typeface="楷体_GB2312" panose="02010609030101010101" pitchFamily="49" charset="-122"/>
                <a:ea typeface="楷体_GB2312" panose="02010609030101010101" pitchFamily="49" charset="-122"/>
              </a:rPr>
              <a:t>复利和折现的实际应用</a:t>
            </a:r>
          </a:p>
        </p:txBody>
      </p:sp>
      <p:sp>
        <p:nvSpPr>
          <p:cNvPr id="1372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219200" y="2571750"/>
            <a:ext cx="7747000" cy="3762375"/>
          </a:xfrm>
        </p:spPr>
        <p:txBody>
          <a:bodyPr/>
          <a:lstStyle/>
          <a:p>
            <a:pPr eaLnBrk="1" hangingPunct="1"/>
            <a:r>
              <a:rPr lang="zh-CN" altLang="en-US" sz="2400" b="1">
                <a:ea typeface="楷体_GB2312" panose="02010609030101010101" pitchFamily="49" charset="-122"/>
              </a:rPr>
              <a:t>到期一次还本付息</a:t>
            </a:r>
          </a:p>
          <a:p>
            <a:pPr eaLnBrk="1" hangingPunct="1"/>
            <a:r>
              <a:rPr lang="zh-CN" altLang="en-US" sz="2400" b="1">
                <a:ea typeface="楷体_GB2312" panose="02010609030101010101" pitchFamily="49" charset="-122"/>
              </a:rPr>
              <a:t>每年付息到期还本</a:t>
            </a:r>
          </a:p>
          <a:p>
            <a:pPr eaLnBrk="1" hangingPunct="1"/>
            <a:r>
              <a:rPr lang="zh-CN" altLang="en-US" sz="2400" b="1">
                <a:ea typeface="楷体_GB2312" panose="02010609030101010101" pitchFamily="49" charset="-122"/>
              </a:rPr>
              <a:t>每年偿还等额本金和贷款利息</a:t>
            </a:r>
          </a:p>
          <a:p>
            <a:pPr eaLnBrk="1" hangingPunct="1"/>
            <a:r>
              <a:rPr lang="zh-CN" altLang="en-US" sz="2400" b="1">
                <a:solidFill>
                  <a:srgbClr val="FF0000"/>
                </a:solidFill>
                <a:ea typeface="楷体_GB2312" panose="02010609030101010101" pitchFamily="49" charset="-122"/>
              </a:rPr>
              <a:t>每年偿还等额的利息加本金</a:t>
            </a: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565150" y="1931988"/>
            <a:ext cx="648017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企业发行债券</a:t>
            </a:r>
            <a:r>
              <a:rPr lang="en-US" altLang="zh-CN" sz="2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金融机构贷款还款方式：</a:t>
            </a:r>
          </a:p>
        </p:txBody>
      </p:sp>
      <p:pic>
        <p:nvPicPr>
          <p:cNvPr id="22533" name="Picture 5" descr="j0283188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1341438"/>
            <a:ext cx="201771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1116013" y="4941888"/>
            <a:ext cx="684053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不管这些方式怎么变化：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未来现金流量的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金额和时点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折现率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（要求的报酬率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/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市场利率）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  <p:bldP spid="137220" grpId="0"/>
      <p:bldP spid="1372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>
                <a:latin typeface="楷体_GB2312" panose="02010609030101010101" pitchFamily="49" charset="-122"/>
                <a:ea typeface="楷体_GB2312" panose="02010609030101010101" pitchFamily="49" charset="-122"/>
              </a:rPr>
              <a:t>复利和折现的实际应用</a:t>
            </a:r>
          </a:p>
        </p:txBody>
      </p:sp>
      <p:sp>
        <p:nvSpPr>
          <p:cNvPr id="2355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买入股票后，每年获得的现金流量为现金股利，对现金股利的折现就是股票的价值</a:t>
            </a:r>
          </a:p>
          <a:p>
            <a:pPr eaLnBrk="1" hangingPunct="1"/>
            <a:endParaRPr lang="zh-CN" altLang="en-US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购入固定资产、无形资产超过信用期后延期支付的，固定资产和无形资产的价值</a:t>
            </a:r>
            <a:r>
              <a:rPr lang="zh-CN" altLang="en-US">
                <a:solidFill>
                  <a:schemeClr val="tx2"/>
                </a:solidFill>
                <a:ea typeface="黑体" panose="02010609060101010101" pitchFamily="49" charset="-122"/>
              </a:rPr>
              <a:t>等于</a:t>
            </a:r>
            <a:r>
              <a:rPr lang="zh-CN" altLang="en-US">
                <a:ea typeface="黑体" panose="02010609060101010101" pitchFamily="49" charset="-122"/>
              </a:rPr>
              <a:t>未来现金流量的折现值</a:t>
            </a:r>
          </a:p>
          <a:p>
            <a:pPr eaLnBrk="1" hangingPunct="1"/>
            <a:endParaRPr lang="zh-CN" altLang="en-US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价值即未来现金流量的现值</a:t>
            </a:r>
          </a:p>
        </p:txBody>
      </p:sp>
    </p:spTree>
  </p:cSld>
  <p:clrMapOvr>
    <a:masterClrMapping/>
  </p:clrMapOvr>
  <p:transition spd="slow">
    <p:pull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固定资产价值的确定</a:t>
            </a:r>
          </a:p>
        </p:txBody>
      </p:sp>
      <p:sp>
        <p:nvSpPr>
          <p:cNvPr id="14745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×20</a:t>
            </a:r>
            <a:r>
              <a:rPr lang="zh-CN" altLang="en-US">
                <a:ea typeface="黑体" panose="02010609060101010101" pitchFamily="49" charset="-122"/>
              </a:rPr>
              <a:t>年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月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日购入一台机器，总价款为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2000</a:t>
            </a:r>
            <a:r>
              <a:rPr lang="zh-CN" altLang="en-US">
                <a:ea typeface="黑体" panose="02010609060101010101" pitchFamily="49" charset="-122"/>
              </a:rPr>
              <a:t>万元，当日，款项以银行存款支付，则固定资产的价值为多少？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2×20</a:t>
            </a:r>
            <a:r>
              <a:rPr lang="zh-CN" altLang="en-US">
                <a:ea typeface="黑体" panose="02010609060101010101" pitchFamily="49" charset="-122"/>
              </a:rPr>
              <a:t>年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月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日购入一台机器，总价款为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2000</a:t>
            </a:r>
            <a:r>
              <a:rPr lang="zh-CN" altLang="en-US">
                <a:ea typeface="黑体" panose="02010609060101010101" pitchFamily="49" charset="-122"/>
              </a:rPr>
              <a:t>万元，分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ea typeface="黑体" panose="02010609060101010101" pitchFamily="49" charset="-122"/>
              </a:rPr>
              <a:t>年支付，每年末支付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500</a:t>
            </a:r>
            <a:r>
              <a:rPr lang="zh-CN" altLang="en-US">
                <a:ea typeface="黑体" panose="02010609060101010101" pitchFamily="49" charset="-122"/>
              </a:rPr>
              <a:t>万元，则固定资产的价值为多少？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2×20</a:t>
            </a:r>
            <a:r>
              <a:rPr lang="zh-CN" altLang="en-US">
                <a:ea typeface="黑体" panose="02010609060101010101" pitchFamily="49" charset="-122"/>
              </a:rPr>
              <a:t>年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月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日购入一台机器，总价款为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2000</a:t>
            </a:r>
            <a:r>
              <a:rPr lang="zh-CN" altLang="en-US">
                <a:ea typeface="黑体" panose="02010609060101010101" pitchFamily="49" charset="-122"/>
              </a:rPr>
              <a:t>万元，购买时支付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500</a:t>
            </a:r>
            <a:r>
              <a:rPr lang="zh-CN" altLang="en-US">
                <a:ea typeface="黑体" panose="02010609060101010101" pitchFamily="49" charset="-122"/>
              </a:rPr>
              <a:t>万元，其余于每年末支付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500</a:t>
            </a:r>
            <a:r>
              <a:rPr lang="zh-CN" altLang="en-US">
                <a:ea typeface="黑体" panose="02010609060101010101" pitchFamily="49" charset="-122"/>
              </a:rPr>
              <a:t>万元，则固定资产的价值为多少？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/>
              <a:t>复利和折现的实际应用</a:t>
            </a:r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755650" y="1870075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555943" y="1801495"/>
            <a:ext cx="8280400" cy="142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[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]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某企业向银行贷款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5 000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万元，年利率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10%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， 以后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年每年末等额摊还。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问：每年应还本金和利息各多少？</a:t>
            </a:r>
          </a:p>
        </p:txBody>
      </p:sp>
      <p:sp>
        <p:nvSpPr>
          <p:cNvPr id="25610" name="Line 12"/>
          <p:cNvSpPr>
            <a:spLocks noChangeShapeType="1"/>
          </p:cNvSpPr>
          <p:nvPr/>
        </p:nvSpPr>
        <p:spPr bwMode="auto">
          <a:xfrm>
            <a:off x="2997835" y="4342765"/>
            <a:ext cx="2225675" cy="63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235835" y="3290570"/>
            <a:ext cx="3738245" cy="1457423"/>
            <a:chOff x="4033" y="5576"/>
            <a:chExt cx="6111" cy="2408"/>
          </a:xfrm>
        </p:grpSpPr>
        <p:sp>
          <p:nvSpPr>
            <p:cNvPr id="25605" name="Line 6"/>
            <p:cNvSpPr>
              <a:spLocks noChangeShapeType="1"/>
            </p:cNvSpPr>
            <p:nvPr/>
          </p:nvSpPr>
          <p:spPr bwMode="auto">
            <a:xfrm>
              <a:off x="4540" y="6752"/>
              <a:ext cx="560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033" y="5576"/>
              <a:ext cx="5652" cy="2408"/>
              <a:chOff x="2778" y="4645"/>
              <a:chExt cx="6692" cy="2986"/>
            </a:xfrm>
          </p:grpSpPr>
          <p:sp>
            <p:nvSpPr>
              <p:cNvPr id="25607" name="Line 8"/>
              <p:cNvSpPr>
                <a:spLocks noChangeShapeType="1"/>
              </p:cNvSpPr>
              <p:nvPr/>
            </p:nvSpPr>
            <p:spPr bwMode="auto">
              <a:xfrm flipV="1">
                <a:off x="3345" y="4760"/>
                <a:ext cx="0" cy="136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5" name="Text Box 17"/>
              <p:cNvSpPr txBox="1">
                <a:spLocks noChangeArrowheads="1"/>
              </p:cNvSpPr>
              <p:nvPr/>
            </p:nvSpPr>
            <p:spPr bwMode="auto">
              <a:xfrm>
                <a:off x="5385" y="6688"/>
                <a:ext cx="1700" cy="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anose="05020102010507070707" pitchFamily="18" charset="2"/>
                  <a:buChar char="¡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A=?</a:t>
                </a: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2778" y="4645"/>
                <a:ext cx="6692" cy="2155"/>
                <a:chOff x="2778" y="4645"/>
                <a:chExt cx="6692" cy="2155"/>
              </a:xfrm>
            </p:grpSpPr>
            <p:sp>
              <p:nvSpPr>
                <p:cNvPr id="2560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778" y="5440"/>
                  <a:ext cx="6692" cy="9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85000"/>
                    <a:buFont typeface="Wingdings 2" panose="05020102010507070707" pitchFamily="18" charset="2"/>
                    <a:buChar char="¡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0      1      2      3      4      5</a:t>
                  </a:r>
                </a:p>
              </p:txBody>
            </p:sp>
            <p:sp>
              <p:nvSpPr>
                <p:cNvPr id="25608" name="Line 9"/>
                <p:cNvSpPr>
                  <a:spLocks noChangeShapeType="1"/>
                </p:cNvSpPr>
                <p:nvPr/>
              </p:nvSpPr>
              <p:spPr bwMode="auto">
                <a:xfrm>
                  <a:off x="4253" y="6120"/>
                  <a:ext cx="0" cy="68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09" name="Line 10"/>
                <p:cNvSpPr>
                  <a:spLocks noChangeShapeType="1"/>
                </p:cNvSpPr>
                <p:nvPr/>
              </p:nvSpPr>
              <p:spPr bwMode="auto">
                <a:xfrm>
                  <a:off x="5273" y="6120"/>
                  <a:ext cx="0" cy="68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1" name="Line 13"/>
                <p:cNvSpPr>
                  <a:spLocks noChangeShapeType="1"/>
                </p:cNvSpPr>
                <p:nvPr/>
              </p:nvSpPr>
              <p:spPr bwMode="auto">
                <a:xfrm>
                  <a:off x="6405" y="6120"/>
                  <a:ext cx="0" cy="68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2" name="Line 14"/>
                <p:cNvSpPr>
                  <a:spLocks noChangeShapeType="1"/>
                </p:cNvSpPr>
                <p:nvPr/>
              </p:nvSpPr>
              <p:spPr bwMode="auto">
                <a:xfrm>
                  <a:off x="7540" y="6120"/>
                  <a:ext cx="0" cy="68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3" name="Line 15"/>
                <p:cNvSpPr>
                  <a:spLocks noChangeShapeType="1"/>
                </p:cNvSpPr>
                <p:nvPr/>
              </p:nvSpPr>
              <p:spPr bwMode="auto">
                <a:xfrm>
                  <a:off x="8560" y="6120"/>
                  <a:ext cx="0" cy="68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345" y="4645"/>
                  <a:ext cx="1475" cy="8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85000"/>
                    <a:buFont typeface="Wingdings 2" panose="05020102010507070707" pitchFamily="18" charset="2"/>
                    <a:buChar char="¡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90000"/>
                    <a:buFont typeface="Wingdings 2" panose="05020102010507070707" pitchFamily="18" charset="2"/>
                    <a:buChar char="¡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5000</a:t>
                  </a:r>
                </a:p>
              </p:txBody>
            </p:sp>
          </p:grpSp>
        </p:grpSp>
      </p:grpSp>
      <p:grpSp>
        <p:nvGrpSpPr>
          <p:cNvPr id="8" name="组合 7"/>
          <p:cNvGrpSpPr/>
          <p:nvPr/>
        </p:nvGrpSpPr>
        <p:grpSpPr>
          <a:xfrm>
            <a:off x="1619250" y="4907280"/>
            <a:ext cx="4679950" cy="459740"/>
            <a:chOff x="2550" y="7215"/>
            <a:chExt cx="7370" cy="724"/>
          </a:xfrm>
        </p:grpSpPr>
        <p:sp>
          <p:nvSpPr>
            <p:cNvPr id="105488" name="Text Box 16"/>
            <p:cNvSpPr txBox="1">
              <a:spLocks noChangeArrowheads="1"/>
            </p:cNvSpPr>
            <p:nvPr/>
          </p:nvSpPr>
          <p:spPr bwMode="auto">
            <a:xfrm>
              <a:off x="2550" y="7215"/>
              <a:ext cx="7370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由：</a:t>
              </a:r>
              <a:endPara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" name="对象 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677" y="7343"/>
            <a:ext cx="3766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r:id="rId3" imgW="1688465" imgH="316865" progId="Equation.KSEE3">
                    <p:embed/>
                  </p:oleObj>
                </mc:Choice>
                <mc:Fallback>
                  <p:oleObj r:id="rId3" imgW="1688465" imgH="316865" progId="Equation.KSEE3">
                    <p:embed/>
                    <p:pic>
                      <p:nvPicPr>
                        <p:cNvPr id="0" name="图片 4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77" y="7343"/>
                          <a:ext cx="3766" cy="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1619250" y="5517515"/>
            <a:ext cx="5256530" cy="1490345"/>
            <a:chOff x="2550" y="7939"/>
            <a:chExt cx="8278" cy="2347"/>
          </a:xfrm>
        </p:grpSpPr>
        <p:sp>
          <p:nvSpPr>
            <p:cNvPr id="105491" name="Text Box 19"/>
            <p:cNvSpPr txBox="1">
              <a:spLocks noChangeArrowheads="1"/>
            </p:cNvSpPr>
            <p:nvPr/>
          </p:nvSpPr>
          <p:spPr bwMode="auto">
            <a:xfrm>
              <a:off x="2550" y="8050"/>
              <a:ext cx="8278" cy="2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有：</a:t>
              </a:r>
              <a:endPara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    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    </a:t>
              </a:r>
              <a:endPara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4" name="对象 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677" y="7939"/>
            <a:ext cx="6102" cy="1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r:id="rId5" imgW="3302000" imgH="977900" progId="Equation.KSEE3">
                    <p:embed/>
                  </p:oleObj>
                </mc:Choice>
                <mc:Fallback>
                  <p:oleObj r:id="rId5" imgW="3302000" imgH="977900" progId="Equation.KSEE3">
                    <p:embed/>
                    <p:pic>
                      <p:nvPicPr>
                        <p:cNvPr id="0" name="图片 409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77" y="7939"/>
                          <a:ext cx="6102" cy="18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/>
              <a:t>复利和折现的实际应用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735263" y="6146483"/>
            <a:ext cx="4392612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表</a:t>
            </a:r>
            <a:r>
              <a:rPr lang="en-US" altLang="zh-CN" sz="200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楷体_GB2312" panose="02010609030101010101" pitchFamily="49" charset="-122"/>
              </a:rPr>
              <a:t>：贷款等额偿还计算表</a:t>
            </a:r>
            <a:endParaRPr lang="en-US" altLang="zh-CN" sz="20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1258888" y="1844675"/>
            <a:ext cx="741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258888" y="2420938"/>
            <a:ext cx="7345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2195513" y="1844675"/>
            <a:ext cx="0" cy="432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851275" y="1844675"/>
            <a:ext cx="0" cy="432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5292725" y="1844675"/>
            <a:ext cx="0" cy="432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6804025" y="1844675"/>
            <a:ext cx="0" cy="432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87450" y="1916430"/>
            <a:ext cx="7778750" cy="4258310"/>
            <a:chOff x="1870" y="3018"/>
            <a:chExt cx="12250" cy="6706"/>
          </a:xfrm>
        </p:grpSpPr>
        <p:sp>
          <p:nvSpPr>
            <p:cNvPr id="26634" name="Text Box 10"/>
            <p:cNvSpPr txBox="1">
              <a:spLocks noChangeArrowheads="1"/>
            </p:cNvSpPr>
            <p:nvPr/>
          </p:nvSpPr>
          <p:spPr bwMode="auto">
            <a:xfrm>
              <a:off x="2098" y="3018"/>
              <a:ext cx="12022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楷体_GB2312" panose="02010609030101010101" pitchFamily="49" charset="-122"/>
                </a:rPr>
                <a:t>年末   等额偿还额  支付利息   偿还本金    年末贷款余额 </a:t>
              </a:r>
            </a:p>
          </p:txBody>
        </p:sp>
        <p:sp>
          <p:nvSpPr>
            <p:cNvPr id="26635" name="Text Box 11"/>
            <p:cNvSpPr txBox="1">
              <a:spLocks noChangeArrowheads="1"/>
            </p:cNvSpPr>
            <p:nvPr/>
          </p:nvSpPr>
          <p:spPr bwMode="auto">
            <a:xfrm>
              <a:off x="2325" y="3813"/>
              <a:ext cx="11000" cy="5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0                                                            5 000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1          1 319         500           819         4 181 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2          1 319         418.1        900.9      3 280.1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3          1 319         328.01      990.99    2 289.11 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4          1 319         228.91    1 090.09   1 199.02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5          1 319         119.90    1 199.10        0  </a:t>
              </a:r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>
              <a:off x="1870" y="9710"/>
              <a:ext cx="11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09" name="Line 13"/>
          <p:cNvSpPr>
            <a:spLocks noChangeShapeType="1"/>
          </p:cNvSpPr>
          <p:nvPr/>
        </p:nvSpPr>
        <p:spPr bwMode="auto">
          <a:xfrm flipH="1">
            <a:off x="4787900" y="2708275"/>
            <a:ext cx="2160588" cy="64928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0" name="Line 14"/>
          <p:cNvSpPr>
            <a:spLocks noChangeShapeType="1"/>
          </p:cNvSpPr>
          <p:nvPr/>
        </p:nvSpPr>
        <p:spPr bwMode="auto">
          <a:xfrm flipH="1">
            <a:off x="4932363" y="3357563"/>
            <a:ext cx="1944687" cy="576262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2" name="Line 16"/>
          <p:cNvSpPr>
            <a:spLocks noChangeShapeType="1"/>
          </p:cNvSpPr>
          <p:nvPr/>
        </p:nvSpPr>
        <p:spPr bwMode="auto">
          <a:xfrm flipH="1">
            <a:off x="5076825" y="4005263"/>
            <a:ext cx="1871663" cy="576262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3" name="Line 17"/>
          <p:cNvSpPr>
            <a:spLocks noChangeShapeType="1"/>
          </p:cNvSpPr>
          <p:nvPr/>
        </p:nvSpPr>
        <p:spPr bwMode="auto">
          <a:xfrm flipH="1">
            <a:off x="5108575" y="4652963"/>
            <a:ext cx="1871663" cy="576262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4" name="Line 18"/>
          <p:cNvSpPr>
            <a:spLocks noChangeShapeType="1"/>
          </p:cNvSpPr>
          <p:nvPr/>
        </p:nvSpPr>
        <p:spPr bwMode="auto">
          <a:xfrm flipH="1">
            <a:off x="5219700" y="5300663"/>
            <a:ext cx="1728788" cy="576262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buClrTx/>
              <a:buSzTx/>
              <a:buFontTx/>
            </a:pPr>
            <a:r>
              <a:rPr lang="zh-CN" altLang="en-US" sz="4000" b="0"/>
              <a:t>复利和折现的实际应用</a:t>
            </a:r>
          </a:p>
        </p:txBody>
      </p:sp>
      <p:graphicFrame>
        <p:nvGraphicFramePr>
          <p:cNvPr id="150549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486410" y="5276850"/>
          <a:ext cx="374777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3" imgW="2044700" imgH="419100" progId="Equation.DSMT4">
                  <p:embed/>
                </p:oleObj>
              </mc:Choice>
              <mc:Fallback>
                <p:oleObj name="Equation" r:id="rId3" imgW="2044700" imgH="419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" y="5276850"/>
                        <a:ext cx="3747770" cy="9525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FF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 w="38100" cmpd="dbl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755650" y="1870075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663258" y="1972945"/>
            <a:ext cx="8280400" cy="1494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[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]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假定你购房时向银行贷款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50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万元，年利率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8%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， 以后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20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年每月末等额偿还。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  问：每月应还本金和利息各多少？（月供多少？）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39750" y="3637915"/>
            <a:ext cx="3781425" cy="1122045"/>
            <a:chOff x="4853" y="751"/>
            <a:chExt cx="8470" cy="3062"/>
          </a:xfrm>
        </p:grpSpPr>
        <p:sp>
          <p:nvSpPr>
            <p:cNvPr id="2" name="矩形 1"/>
            <p:cNvSpPr/>
            <p:nvPr/>
          </p:nvSpPr>
          <p:spPr>
            <a:xfrm>
              <a:off x="4932" y="751"/>
              <a:ext cx="8391" cy="3062"/>
            </a:xfrm>
            <a:prstGeom prst="rect">
              <a:avLst/>
            </a:prstGeom>
            <a:gradFill>
              <a:gsLst>
                <a:gs pos="0">
                  <a:srgbClr val="66FFFF"/>
                </a:gs>
                <a:gs pos="100000">
                  <a:schemeClr val="bg1"/>
                </a:gs>
              </a:gsLst>
              <a:lin ang="5400000" scaled="0"/>
            </a:gradFill>
            <a:ln w="28575" cap="flat" cmpd="dbl" algn="ctr">
              <a:solidFill>
                <a:srgbClr val="FF33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" name="对象 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4853" y="918"/>
            <a:ext cx="8470" cy="2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r:id="rId5" imgW="1854200" imgH="596900" progId="Equation.KSEE3">
                    <p:embed/>
                  </p:oleObj>
                </mc:Choice>
                <mc:Fallback>
                  <p:oleObj r:id="rId5" imgW="1854200" imgH="596900" progId="Equation.KSEE3">
                    <p:embed/>
                    <p:pic>
                      <p:nvPicPr>
                        <p:cNvPr id="0" name="图片 51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53" y="918"/>
                          <a:ext cx="8470" cy="27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45735" y="3641725"/>
          <a:ext cx="3248025" cy="268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r:id="rId7" imgW="2324100" imgH="1917065" progId="Equation.KSEE3">
                  <p:embed/>
                </p:oleObj>
              </mc:Choice>
              <mc:Fallback>
                <p:oleObj r:id="rId7" imgW="2324100" imgH="1917065" progId="Equation.KSEE3">
                  <p:embed/>
                  <p:pic>
                    <p:nvPicPr>
                      <p:cNvPr id="0" name="图片 5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45735" y="3641725"/>
                        <a:ext cx="3248025" cy="2680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5"/>
          <p:cNvSpPr>
            <a:spLocks noChangeArrowheads="1" noChangeShapeType="1" noTextEdit="1"/>
          </p:cNvSpPr>
          <p:nvPr/>
        </p:nvSpPr>
        <p:spPr bwMode="auto">
          <a:xfrm>
            <a:off x="2917031" y="3029426"/>
            <a:ext cx="3459956" cy="1637824"/>
          </a:xfrm>
          <a:prstGeom prst="rect">
            <a:avLst/>
          </a:prstGeom>
        </p:spPr>
        <p:txBody>
          <a:bodyPr wrap="none" fromWordArt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4050" kern="10" dirty="0">
                <a:ln w="25400">
                  <a:gradFill>
                    <a:gsLst>
                      <a:gs pos="31000">
                        <a:srgbClr val="6D6E85"/>
                      </a:gs>
                      <a:gs pos="66000">
                        <a:srgbClr val="A2C6FF"/>
                      </a:gs>
                      <a:gs pos="45000">
                        <a:srgbClr val="97B8F2"/>
                      </a:gs>
                      <a:gs pos="11000">
                        <a:srgbClr val="ED7D31">
                          <a:lumMod val="20000"/>
                          <a:lumOff val="80000"/>
                        </a:srgbClr>
                      </a:gs>
                      <a:gs pos="100000">
                        <a:srgbClr val="7E6760"/>
                      </a:gs>
                      <a:gs pos="91000">
                        <a:schemeClr val="bg1">
                          <a:lumMod val="50000"/>
                        </a:schemeClr>
                      </a:gs>
                      <a:gs pos="56000">
                        <a:srgbClr val="455C85"/>
                      </a:gs>
                      <a:gs pos="81000">
                        <a:srgbClr val="F8D8CF"/>
                      </a:gs>
                    </a:gsLst>
                  </a:gradFill>
                </a:ln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谢谢大家！</a:t>
            </a:r>
          </a:p>
        </p:txBody>
      </p:sp>
    </p:spTree>
  </p:cSld>
  <p:clrMapOvr>
    <a:masterClrMapping/>
  </p:clrMapOvr>
  <p:transition spd="slow">
    <p:pull dir="ru"/>
  </p:transition>
</p:sld>
</file>

<file path=ppt/theme/theme1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华文中宋"/>
        <a:cs typeface=""/>
      </a:majorFont>
      <a:minorFont>
        <a:latin typeface="Tahoma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CDESIGNJ</Template>
  <TotalTime>0</TotalTime>
  <Words>1464</Words>
  <Application>Microsoft Office PowerPoint</Application>
  <PresentationFormat>全屏显示(4:3)</PresentationFormat>
  <Paragraphs>161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Tahoma</vt:lpstr>
      <vt:lpstr>Times New Roman</vt:lpstr>
      <vt:lpstr>Wingdings</vt:lpstr>
      <vt:lpstr>Wingdings 2</vt:lpstr>
      <vt:lpstr>仿宋_GB2312</vt:lpstr>
      <vt:lpstr>黑体</vt:lpstr>
      <vt:lpstr>华文新魏</vt:lpstr>
      <vt:lpstr>华文中宋</vt:lpstr>
      <vt:lpstr>楷体_GB2312</vt:lpstr>
      <vt:lpstr>1_Blends</vt:lpstr>
      <vt:lpstr>Clip</vt:lpstr>
      <vt:lpstr>公式</vt:lpstr>
      <vt:lpstr>工作表</vt:lpstr>
      <vt:lpstr>Equation.KSEE3</vt:lpstr>
      <vt:lpstr>Equation</vt:lpstr>
      <vt:lpstr>第5章 基础金融资产</vt:lpstr>
      <vt:lpstr>货币的时间价值</vt:lpstr>
      <vt:lpstr>货币时间价值的计算</vt:lpstr>
      <vt:lpstr>货币时间价值的计算</vt:lpstr>
      <vt:lpstr>货币时间价值的计算</vt:lpstr>
      <vt:lpstr>单利</vt:lpstr>
      <vt:lpstr>复利</vt:lpstr>
      <vt:lpstr>复利</vt:lpstr>
      <vt:lpstr>单一金额的终值</vt:lpstr>
      <vt:lpstr>PowerPoint 演示文稿</vt:lpstr>
      <vt:lpstr>货币时间价值的计算</vt:lpstr>
      <vt:lpstr>货币时间价值的计算</vt:lpstr>
      <vt:lpstr>货币时间价值的计算</vt:lpstr>
      <vt:lpstr>PowerPoint 演示文稿</vt:lpstr>
      <vt:lpstr>已知其中三个变量，求其他变量</vt:lpstr>
      <vt:lpstr>年金现值和终值的计算</vt:lpstr>
      <vt:lpstr>年金中已知其中三个变量，求其他变量</vt:lpstr>
      <vt:lpstr>PowerPoint 演示文稿</vt:lpstr>
      <vt:lpstr>现金流量的时点和支付期</vt:lpstr>
      <vt:lpstr>复利和折现的实际应用</vt:lpstr>
      <vt:lpstr>复利和折现的实际应用</vt:lpstr>
      <vt:lpstr>复利和折现的实际应用</vt:lpstr>
      <vt:lpstr>固定资产价值的确定</vt:lpstr>
      <vt:lpstr>复利和折现的实际应用</vt:lpstr>
      <vt:lpstr>复利和折现的实际应用</vt:lpstr>
      <vt:lpstr>复利和折现的实际应用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毛 新述</cp:lastModifiedBy>
  <cp:revision>108</cp:revision>
  <dcterms:created xsi:type="dcterms:W3CDTF">2113-01-01T00:00:00Z</dcterms:created>
  <dcterms:modified xsi:type="dcterms:W3CDTF">2020-05-03T06:50:45Z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