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handoutMasterIdLst>
    <p:handoutMasterId r:id="rId46"/>
  </p:handoutMasterIdLst>
  <p:sldIdLst>
    <p:sldId id="264" r:id="rId2"/>
    <p:sldId id="265" r:id="rId3"/>
    <p:sldId id="548" r:id="rId4"/>
    <p:sldId id="549" r:id="rId5"/>
    <p:sldId id="550" r:id="rId6"/>
    <p:sldId id="555" r:id="rId7"/>
    <p:sldId id="557" r:id="rId8"/>
    <p:sldId id="556" r:id="rId9"/>
    <p:sldId id="558" r:id="rId10"/>
    <p:sldId id="551" r:id="rId11"/>
    <p:sldId id="552" r:id="rId12"/>
    <p:sldId id="553" r:id="rId13"/>
    <p:sldId id="554" r:id="rId14"/>
    <p:sldId id="559" r:id="rId15"/>
    <p:sldId id="560" r:id="rId16"/>
    <p:sldId id="561" r:id="rId17"/>
    <p:sldId id="562" r:id="rId18"/>
    <p:sldId id="564" r:id="rId19"/>
    <p:sldId id="565" r:id="rId20"/>
    <p:sldId id="563" r:id="rId21"/>
    <p:sldId id="566" r:id="rId22"/>
    <p:sldId id="568" r:id="rId23"/>
    <p:sldId id="569" r:id="rId24"/>
    <p:sldId id="567" r:id="rId25"/>
    <p:sldId id="570" r:id="rId26"/>
    <p:sldId id="571" r:id="rId27"/>
    <p:sldId id="574" r:id="rId28"/>
    <p:sldId id="575" r:id="rId29"/>
    <p:sldId id="576" r:id="rId30"/>
    <p:sldId id="577" r:id="rId31"/>
    <p:sldId id="578" r:id="rId32"/>
    <p:sldId id="579" r:id="rId33"/>
    <p:sldId id="580" r:id="rId34"/>
    <p:sldId id="581" r:id="rId35"/>
    <p:sldId id="582" r:id="rId36"/>
    <p:sldId id="583" r:id="rId37"/>
    <p:sldId id="584" r:id="rId38"/>
    <p:sldId id="585" r:id="rId39"/>
    <p:sldId id="586" r:id="rId40"/>
    <p:sldId id="587" r:id="rId41"/>
    <p:sldId id="589" r:id="rId42"/>
    <p:sldId id="590" r:id="rId43"/>
    <p:sldId id="266"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6">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88" d="100"/>
          <a:sy n="88" d="100"/>
        </p:scale>
        <p:origin x="540" y="29"/>
      </p:cViewPr>
      <p:guideLst>
        <p:guide orient="horz" pos="2196"/>
        <p:guide pos="3840"/>
      </p:guideLst>
    </p:cSldViewPr>
  </p:slideViewPr>
  <p:notesTextViewPr>
    <p:cViewPr>
      <p:scale>
        <a:sx n="3" d="2"/>
        <a:sy n="3" d="2"/>
      </p:scale>
      <p:origin x="0" y="0"/>
    </p:cViewPr>
  </p:notesTextViewPr>
  <p:notesViewPr>
    <p:cSldViewPr snapToGrid="0">
      <p:cViewPr varScale="1">
        <p:scale>
          <a:sx n="66" d="100"/>
          <a:sy n="66" d="100"/>
        </p:scale>
        <p:origin x="3134"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t>2020-5-3</a:t>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t>2020-5-3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12012084"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289804" name="Rectangle 12"/>
          <p:cNvSpPr>
            <a:spLocks noGrp="1" noChangeArrowheads="1"/>
          </p:cNvSpPr>
          <p:nvPr>
            <p:ph type="ctrTitle"/>
          </p:nvPr>
        </p:nvSpPr>
        <p:spPr>
          <a:xfrm>
            <a:off x="1320800" y="1676400"/>
            <a:ext cx="10363200" cy="1462088"/>
          </a:xfrm>
        </p:spPr>
        <p:txBody>
          <a:bodyPr/>
          <a:lstStyle>
            <a:lvl1pPr>
              <a:defRPr/>
            </a:lvl1pPr>
          </a:lstStyle>
          <a:p>
            <a:r>
              <a:rPr lang="zh-CN" altLang="en-US"/>
              <a:t>单击此处编辑母版标题样式</a:t>
            </a:r>
          </a:p>
        </p:txBody>
      </p:sp>
      <p:sp>
        <p:nvSpPr>
          <p:cNvPr id="289805" name="Rectangle 13"/>
          <p:cNvSpPr>
            <a:spLocks noGrp="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1320800" y="6248400"/>
            <a:ext cx="2540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4572000" y="6248400"/>
            <a:ext cx="38608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9144000" y="6248400"/>
            <a:ext cx="2540000" cy="457200"/>
          </a:xfrm>
        </p:spPr>
        <p:txBody>
          <a:bodyPr/>
          <a:lstStyle>
            <a:lvl1pPr>
              <a:defRPr>
                <a:solidFill>
                  <a:schemeClr val="bg2"/>
                </a:solidFill>
              </a:defRPr>
            </a:lvl1pPr>
          </a:lstStyle>
          <a:p>
            <a:pPr>
              <a:defRPr/>
            </a:pPr>
            <a:fld id="{9F92B998-A2DC-4F41-889D-C6CB4729C698}"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2pPr>
              <a:defRPr>
                <a:latin typeface="楷体_GB2312" panose="02010609030101010101" pitchFamily="49" charset="-122"/>
                <a:ea typeface="楷体_GB2312" panose="02010609030101010101" pitchFamily="49" charset="-122"/>
              </a:defRPr>
            </a:lvl2pPr>
            <a:lvl3pPr>
              <a:defRPr>
                <a:latin typeface="+mn-ea"/>
                <a:ea typeface="+mn-ea"/>
              </a:defRPr>
            </a:lvl3pPr>
            <a:lvl4pPr>
              <a:defRPr>
                <a:latin typeface="仿宋_GB2312" panose="02010609030101010101" pitchFamily="49" charset="-122"/>
                <a:ea typeface="仿宋_GB2312" panose="02010609030101010101" pitchFamily="49" charset="-122"/>
              </a:defRPr>
            </a:lvl4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9809D457-C68E-4415-BCD6-0DACC2CA6E90}"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AC47AC02-CB5B-4DC0-A033-9D9DA82B6201}"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5769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8601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D89AE388-8C2C-462D-9593-091708BC042E}"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DA8D6EB4-AA2B-4808-8898-EAD9D1D1FD9F}"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BFE6002F-4D45-4133-AA53-CC4A0BC03789}"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7D7E3319-0428-46F8-A5F7-DE06FFEB837A}"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DBA5D1A8-464E-4A2A-BD2C-ADAC0148C2AD}"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B3A884BF-60FC-45BC-A3D7-1770559A18D7}"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EE19E60E-BE9F-4B9E-A5B7-D2A6A2C395BF}"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38733" y="214313"/>
            <a:ext cx="2601384"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534584" y="214313"/>
            <a:ext cx="7600949"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50445634-673E-4219-8F58-72A0A76C1DDB}"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34584" y="214313"/>
            <a:ext cx="10390716" cy="1462087"/>
          </a:xfrm>
        </p:spPr>
        <p:txBody>
          <a:bodyPr/>
          <a:lstStyle/>
          <a:p>
            <a:r>
              <a:rPr lang="zh-CN" altLang="en-US"/>
              <a:t>单击此处编辑母版标题样式</a:t>
            </a:r>
          </a:p>
        </p:txBody>
      </p:sp>
      <p:sp>
        <p:nvSpPr>
          <p:cNvPr id="3" name="表格占位符 2"/>
          <p:cNvSpPr>
            <a:spLocks noGrp="1"/>
          </p:cNvSpPr>
          <p:nvPr>
            <p:ph type="tbl" idx="1"/>
          </p:nvPr>
        </p:nvSpPr>
        <p:spPr>
          <a:xfrm>
            <a:off x="1576917" y="2017713"/>
            <a:ext cx="10363200" cy="4114800"/>
          </a:xfrm>
        </p:spPr>
        <p:txBody>
          <a:bodyPr/>
          <a:lstStyle/>
          <a:p>
            <a:pPr lvl="0"/>
            <a:endParaRPr lang="zh-CN" altLang="en-US" noProof="0"/>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B6196AC5-FAC5-49FC-82CE-5E0035DF16EA}"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34584" y="214313"/>
            <a:ext cx="10390716"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576917" y="2017713"/>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860117" y="2017713"/>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9D9FA020-0644-4E30-9FA1-3BB2E488C7C2}"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556684" y="1098550"/>
            <a:ext cx="584200" cy="474663"/>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27" name="Rectangle 3"/>
          <p:cNvSpPr>
            <a:spLocks noChangeArrowheads="1"/>
          </p:cNvSpPr>
          <p:nvPr/>
        </p:nvSpPr>
        <p:spPr bwMode="ltGray">
          <a:xfrm>
            <a:off x="1066800" y="1098550"/>
            <a:ext cx="438151"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28" name="Rectangle 4"/>
          <p:cNvSpPr>
            <a:spLocks noChangeArrowheads="1"/>
          </p:cNvSpPr>
          <p:nvPr/>
        </p:nvSpPr>
        <p:spPr bwMode="ltGray">
          <a:xfrm>
            <a:off x="721784" y="1520825"/>
            <a:ext cx="563033" cy="474663"/>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29" name="Rectangle 5"/>
          <p:cNvSpPr>
            <a:spLocks noChangeArrowheads="1"/>
          </p:cNvSpPr>
          <p:nvPr/>
        </p:nvSpPr>
        <p:spPr bwMode="ltGray">
          <a:xfrm>
            <a:off x="1214967" y="1520825"/>
            <a:ext cx="491067"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0" name="Rectangle 6"/>
          <p:cNvSpPr>
            <a:spLocks noChangeArrowheads="1"/>
          </p:cNvSpPr>
          <p:nvPr/>
        </p:nvSpPr>
        <p:spPr bwMode="ltGray">
          <a:xfrm>
            <a:off x="169333" y="1447800"/>
            <a:ext cx="747184"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1" name="Rectangle 7"/>
          <p:cNvSpPr>
            <a:spLocks noChangeArrowheads="1"/>
          </p:cNvSpPr>
          <p:nvPr/>
        </p:nvSpPr>
        <p:spPr bwMode="gray">
          <a:xfrm>
            <a:off x="1016000" y="990600"/>
            <a:ext cx="42333" cy="105251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2" name="Rectangle 8"/>
          <p:cNvSpPr>
            <a:spLocks noChangeArrowheads="1"/>
          </p:cNvSpPr>
          <p:nvPr/>
        </p:nvSpPr>
        <p:spPr bwMode="gray">
          <a:xfrm>
            <a:off x="590551" y="1781175"/>
            <a:ext cx="10968567"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2400"/>
          </a:p>
        </p:txBody>
      </p:sp>
      <p:sp>
        <p:nvSpPr>
          <p:cNvPr id="1033" name="Rectangle 9"/>
          <p:cNvSpPr>
            <a:spLocks noGrp="1" noChangeArrowheads="1"/>
          </p:cNvSpPr>
          <p:nvPr>
            <p:ph type="title"/>
          </p:nvPr>
        </p:nvSpPr>
        <p:spPr bwMode="auto">
          <a:xfrm>
            <a:off x="1534584" y="214313"/>
            <a:ext cx="10390716"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34" name="Rectangle 10"/>
          <p:cNvSpPr>
            <a:spLocks noGrp="1" noChangeArrowheads="1"/>
          </p:cNvSpPr>
          <p:nvPr>
            <p:ph type="body" idx="1"/>
          </p:nvPr>
        </p:nvSpPr>
        <p:spPr bwMode="auto">
          <a:xfrm>
            <a:off x="1576917" y="20177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88779" name="Rectangle 11"/>
          <p:cNvSpPr>
            <a:spLocks noGrp="1" noChangeArrowheads="1"/>
          </p:cNvSpPr>
          <p:nvPr>
            <p:ph type="dt" sz="half" idx="2"/>
          </p:nvPr>
        </p:nvSpPr>
        <p:spPr bwMode="auto">
          <a:xfrm>
            <a:off x="1549400" y="6243638"/>
            <a:ext cx="2540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a:lvl1pPr>
          </a:lstStyle>
          <a:p>
            <a:pPr>
              <a:defRPr/>
            </a:pPr>
            <a:endParaRPr lang="en-US" altLang="zh-CN"/>
          </a:p>
        </p:txBody>
      </p:sp>
      <p:sp>
        <p:nvSpPr>
          <p:cNvPr id="288780" name="Rectangle 12"/>
          <p:cNvSpPr>
            <a:spLocks noGrp="1" noChangeArrowheads="1"/>
          </p:cNvSpPr>
          <p:nvPr>
            <p:ph type="ftr" sz="quarter" idx="3"/>
          </p:nvPr>
        </p:nvSpPr>
        <p:spPr bwMode="auto">
          <a:xfrm>
            <a:off x="4876800" y="6243638"/>
            <a:ext cx="38608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a:lvl1pPr>
          </a:lstStyle>
          <a:p>
            <a:pPr>
              <a:defRPr/>
            </a:pPr>
            <a:endParaRPr lang="en-US" altLang="zh-CN"/>
          </a:p>
        </p:txBody>
      </p:sp>
      <p:sp>
        <p:nvSpPr>
          <p:cNvPr id="288781" name="Rectangle 13"/>
          <p:cNvSpPr>
            <a:spLocks noGrp="1" noChangeArrowheads="1"/>
          </p:cNvSpPr>
          <p:nvPr>
            <p:ph type="sldNum" sz="quarter" idx="4"/>
          </p:nvPr>
        </p:nvSpPr>
        <p:spPr bwMode="auto">
          <a:xfrm>
            <a:off x="9389533" y="6243638"/>
            <a:ext cx="2540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a:lvl1pPr>
          </a:lstStyle>
          <a:p>
            <a:pPr>
              <a:defRPr/>
            </a:pPr>
            <a:fld id="{81FC81BC-D6D4-4452-8C53-E68B79F6DBA1}"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5pPr>
      <a:lvl6pPr marL="457200" algn="l" rtl="0" fontAlgn="base">
        <a:spcBef>
          <a:spcPct val="0"/>
        </a:spcBef>
        <a:spcAft>
          <a:spcPct val="0"/>
        </a:spcAft>
        <a:defRPr sz="4400" b="1">
          <a:solidFill>
            <a:schemeClr val="tx2"/>
          </a:solidFill>
          <a:latin typeface="Tahoma" panose="020B0604030504040204" pitchFamily="34" charset="0"/>
          <a:ea typeface="华文中宋" pitchFamily="2" charset="-122"/>
        </a:defRPr>
      </a:lvl6pPr>
      <a:lvl7pPr marL="914400" algn="l" rtl="0" fontAlgn="base">
        <a:spcBef>
          <a:spcPct val="0"/>
        </a:spcBef>
        <a:spcAft>
          <a:spcPct val="0"/>
        </a:spcAft>
        <a:defRPr sz="4400" b="1">
          <a:solidFill>
            <a:schemeClr val="tx2"/>
          </a:solidFill>
          <a:latin typeface="Tahoma" panose="020B0604030504040204" pitchFamily="34" charset="0"/>
          <a:ea typeface="华文中宋" pitchFamily="2" charset="-122"/>
        </a:defRPr>
      </a:lvl7pPr>
      <a:lvl8pPr marL="1371600" algn="l" rtl="0" fontAlgn="base">
        <a:spcBef>
          <a:spcPct val="0"/>
        </a:spcBef>
        <a:spcAft>
          <a:spcPct val="0"/>
        </a:spcAft>
        <a:defRPr sz="4400" b="1">
          <a:solidFill>
            <a:schemeClr val="tx2"/>
          </a:solidFill>
          <a:latin typeface="Tahoma" panose="020B0604030504040204" pitchFamily="34" charset="0"/>
          <a:ea typeface="华文中宋" pitchFamily="2" charset="-122"/>
        </a:defRPr>
      </a:lvl8pPr>
      <a:lvl9pPr marL="1828800" algn="l" rtl="0" fontAlgn="base">
        <a:spcBef>
          <a:spcPct val="0"/>
        </a:spcBef>
        <a:spcAft>
          <a:spcPct val="0"/>
        </a:spcAft>
        <a:defRPr sz="4400" b="1">
          <a:solidFill>
            <a:schemeClr val="tx2"/>
          </a:solidFill>
          <a:latin typeface="Tahoma" panose="020B0604030504040204" pitchFamily="34" charset="0"/>
          <a:ea typeface="华文中宋"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a:solidFill>
            <a:schemeClr val="tx1"/>
          </a:solidFill>
          <a:latin typeface="楷体_GB2312" panose="02010609030101010101" pitchFamily="49" charset="-122"/>
          <a:ea typeface="楷体_GB2312" panose="02010609030101010101" pitchFamily="49"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a:solidFill>
            <a:schemeClr val="tx1"/>
          </a:solidFill>
          <a:latin typeface="楷体_GB2312" panose="02010609030101010101" pitchFamily="49" charset="-122"/>
          <a:ea typeface="楷体_GB2312" panose="02010609030101010101" pitchFamily="49"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a:solidFill>
            <a:schemeClr val="tx1"/>
          </a:solidFill>
          <a:latin typeface="黑体" panose="02010609060101010101" pitchFamily="49" charset="-122"/>
          <a:ea typeface="黑体" panose="02010609060101010101" pitchFamily="49"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黑体" panose="02010609060101010101" pitchFamily="49" charset="-122"/>
          <a:ea typeface="黑体" panose="02010609060101010101" pitchFamily="49"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2209800" y="1154102"/>
            <a:ext cx="7772400" cy="4428490"/>
          </a:xfrm>
        </p:spPr>
        <p:txBody>
          <a:bodyPr/>
          <a:lstStyle/>
          <a:p>
            <a:pPr eaLnBrk="1" hangingPunct="1"/>
            <a:endParaRPr lang="en-US" altLang="zh-CN" dirty="0"/>
          </a:p>
          <a:p>
            <a:pPr eaLnBrk="1" hangingPunct="1"/>
            <a:endParaRPr lang="en-US" altLang="zh-CN" dirty="0"/>
          </a:p>
          <a:p>
            <a:pPr marL="0" indent="0" algn="ctr" eaLnBrk="1" hangingPunct="1">
              <a:buNone/>
            </a:pPr>
            <a:r>
              <a:rPr lang="zh-CN" altLang="en-US" sz="4400" dirty="0">
                <a:latin typeface="黑体" panose="02010609060101010101" pitchFamily="2" charset="-122"/>
                <a:ea typeface="黑体" panose="02010609060101010101" pitchFamily="2" charset="-122"/>
                <a:cs typeface="黑体" panose="02010609060101010101" pitchFamily="2" charset="-122"/>
              </a:rPr>
              <a:t>第</a:t>
            </a:r>
            <a:r>
              <a:rPr lang="en-US" altLang="zh-CN" sz="4400" dirty="0">
                <a:latin typeface="黑体" panose="02010609060101010101" pitchFamily="2" charset="-122"/>
                <a:ea typeface="黑体" panose="02010609060101010101" pitchFamily="2" charset="-122"/>
                <a:cs typeface="黑体" panose="02010609060101010101" pitchFamily="2" charset="-122"/>
              </a:rPr>
              <a:t>9</a:t>
            </a:r>
            <a:r>
              <a:rPr lang="zh-CN" altLang="en-US" sz="4400" dirty="0">
                <a:latin typeface="黑体" panose="02010609060101010101" pitchFamily="2" charset="-122"/>
                <a:ea typeface="黑体" panose="02010609060101010101" pitchFamily="2" charset="-122"/>
                <a:cs typeface="黑体" panose="02010609060101010101" pitchFamily="2" charset="-122"/>
              </a:rPr>
              <a:t>章  投资性房地产</a:t>
            </a:r>
          </a:p>
        </p:txBody>
      </p:sp>
      <p:pic>
        <p:nvPicPr>
          <p:cNvPr id="4" name="图片 3">
            <a:extLst>
              <a:ext uri="{FF2B5EF4-FFF2-40B4-BE49-F238E27FC236}">
                <a16:creationId xmlns:a16="http://schemas.microsoft.com/office/drawing/2014/main" id="{A59FA2B6-3F81-41E9-B96D-8EC5E0FB4C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5817" y="3422026"/>
            <a:ext cx="2304256" cy="2986290"/>
          </a:xfrm>
          <a:prstGeom prst="rect">
            <a:avLst/>
          </a:prstGeom>
        </p:spPr>
      </p:pic>
      <p:sp>
        <p:nvSpPr>
          <p:cNvPr id="5" name="矩形 4">
            <a:extLst>
              <a:ext uri="{FF2B5EF4-FFF2-40B4-BE49-F238E27FC236}">
                <a16:creationId xmlns:a16="http://schemas.microsoft.com/office/drawing/2014/main" id="{EB240E27-9F5F-4185-A721-D2011C9A86F1}"/>
              </a:ext>
            </a:extLst>
          </p:cNvPr>
          <p:cNvSpPr/>
          <p:nvPr/>
        </p:nvSpPr>
        <p:spPr>
          <a:xfrm>
            <a:off x="3306571" y="4274094"/>
            <a:ext cx="2992593" cy="923330"/>
          </a:xfrm>
          <a:prstGeom prst="rect">
            <a:avLst/>
          </a:prstGeom>
        </p:spPr>
        <p:txBody>
          <a:bodyPr wrap="square">
            <a:spAutoFit/>
          </a:bodyPr>
          <a:lstStyle/>
          <a:p>
            <a:pPr eaLnBrk="1" hangingPunct="1"/>
            <a:r>
              <a:rPr lang="zh-CN" altLang="en-US" dirty="0"/>
              <a:t>配套教材</a:t>
            </a:r>
            <a:endParaRPr lang="en-US" altLang="zh-CN" dirty="0"/>
          </a:p>
          <a:p>
            <a:pPr eaLnBrk="1" hangingPunct="1"/>
            <a:r>
              <a:rPr lang="zh-CN" altLang="en-US" dirty="0"/>
              <a:t>纸质版：天猫、京东、当当</a:t>
            </a:r>
            <a:endParaRPr lang="en-US" altLang="zh-CN" dirty="0"/>
          </a:p>
          <a:p>
            <a:pPr eaLnBrk="1" hangingPunct="1"/>
            <a:r>
              <a:rPr lang="zh-CN" altLang="en-US" dirty="0"/>
              <a:t>电子版及教辅：文泉学堂</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latin typeface="黑体" panose="02010609060101010101" pitchFamily="49" charset="-122"/>
                <a:ea typeface="黑体" panose="02010609060101010101" pitchFamily="49" charset="-122"/>
              </a:rPr>
              <a:t>四川长虹</a:t>
            </a:r>
            <a:r>
              <a:rPr lang="en-US" altLang="zh-CN" sz="3200" dirty="0">
                <a:latin typeface="黑体" panose="02010609060101010101" pitchFamily="49" charset="-122"/>
                <a:ea typeface="黑体" panose="02010609060101010101" pitchFamily="49" charset="-122"/>
              </a:rPr>
              <a:t>2×19</a:t>
            </a:r>
            <a:r>
              <a:rPr lang="zh-CN" altLang="en-US" sz="3200" dirty="0">
                <a:latin typeface="黑体" panose="02010609060101010101" pitchFamily="49" charset="-122"/>
                <a:ea typeface="黑体" panose="02010609060101010101" pitchFamily="49" charset="-122"/>
              </a:rPr>
              <a:t>年年报</a:t>
            </a:r>
            <a:r>
              <a:rPr lang="en-US" altLang="zh-CN" sz="3200" dirty="0">
                <a:latin typeface="黑体" panose="02010609060101010101" pitchFamily="49" charset="-122"/>
                <a:ea typeface="黑体" panose="02010609060101010101" pitchFamily="49" charset="-122"/>
              </a:rPr>
              <a:t>——</a:t>
            </a:r>
            <a:r>
              <a:rPr lang="zh-CN" altLang="en-US" sz="3200" dirty="0">
                <a:latin typeface="黑体" panose="02010609060101010101" pitchFamily="49" charset="-122"/>
                <a:ea typeface="黑体" panose="02010609060101010101" pitchFamily="49" charset="-122"/>
              </a:rPr>
              <a:t>资产负债表</a:t>
            </a:r>
          </a:p>
        </p:txBody>
      </p:sp>
      <p:pic>
        <p:nvPicPr>
          <p:cNvPr id="4" name="图片 3">
            <a:extLst>
              <a:ext uri="{FF2B5EF4-FFF2-40B4-BE49-F238E27FC236}">
                <a16:creationId xmlns:a16="http://schemas.microsoft.com/office/drawing/2014/main" id="{A3F5C49E-DC03-40BA-B142-A1FA5218D6B2}"/>
              </a:ext>
            </a:extLst>
          </p:cNvPr>
          <p:cNvPicPr>
            <a:picLocks noChangeAspect="1"/>
          </p:cNvPicPr>
          <p:nvPr/>
        </p:nvPicPr>
        <p:blipFill rotWithShape="1">
          <a:blip r:embed="rId2">
            <a:extLst>
              <a:ext uri="{28A0092B-C50C-407E-A947-70E740481C1C}">
                <a14:useLocalDpi xmlns:a14="http://schemas.microsoft.com/office/drawing/2010/main" val="0"/>
              </a:ext>
            </a:extLst>
          </a:blip>
          <a:srcRect t="7185"/>
          <a:stretch/>
        </p:blipFill>
        <p:spPr>
          <a:xfrm>
            <a:off x="1413862" y="1967113"/>
            <a:ext cx="8460121" cy="1135164"/>
          </a:xfrm>
          <a:prstGeom prst="rect">
            <a:avLst/>
          </a:prstGeom>
        </p:spPr>
      </p:pic>
      <p:pic>
        <p:nvPicPr>
          <p:cNvPr id="5" name="图片 4">
            <a:extLst>
              <a:ext uri="{FF2B5EF4-FFF2-40B4-BE49-F238E27FC236}">
                <a16:creationId xmlns:a16="http://schemas.microsoft.com/office/drawing/2014/main" id="{FB9DB0AA-D9F1-480B-8D96-ECE1FF63B3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353" y="2971800"/>
            <a:ext cx="9608373" cy="3671887"/>
          </a:xfrm>
          <a:prstGeom prst="rect">
            <a:avLst/>
          </a:prstGeom>
        </p:spPr>
      </p:pic>
      <p:sp>
        <p:nvSpPr>
          <p:cNvPr id="9" name="矩形 8">
            <a:extLst>
              <a:ext uri="{FF2B5EF4-FFF2-40B4-BE49-F238E27FC236}">
                <a16:creationId xmlns:a16="http://schemas.microsoft.com/office/drawing/2014/main" id="{1ECEE368-E51D-423C-9F06-56B8EAF1B98C}"/>
              </a:ext>
            </a:extLst>
          </p:cNvPr>
          <p:cNvSpPr/>
          <p:nvPr/>
        </p:nvSpPr>
        <p:spPr bwMode="auto">
          <a:xfrm>
            <a:off x="1851804" y="4002657"/>
            <a:ext cx="7775275" cy="184030"/>
          </a:xfrm>
          <a:prstGeom prst="rect">
            <a:avLst/>
          </a:prstGeom>
          <a:noFill/>
          <a:ln w="28575" cap="flat" cmpd="sng" algn="ctr">
            <a:solidFill>
              <a:srgbClr val="FF0000"/>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309306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latin typeface="黑体" panose="02010609060101010101" pitchFamily="49" charset="-122"/>
                <a:ea typeface="黑体" panose="02010609060101010101" pitchFamily="49" charset="-122"/>
              </a:rPr>
              <a:t>四川长虹</a:t>
            </a:r>
            <a:r>
              <a:rPr lang="en-US" altLang="zh-CN" sz="3200" dirty="0">
                <a:latin typeface="黑体" panose="02010609060101010101" pitchFamily="49" charset="-122"/>
                <a:ea typeface="黑体" panose="02010609060101010101" pitchFamily="49" charset="-122"/>
              </a:rPr>
              <a:t>2×19</a:t>
            </a:r>
            <a:r>
              <a:rPr lang="zh-CN" altLang="en-US" sz="3200" dirty="0">
                <a:latin typeface="黑体" panose="02010609060101010101" pitchFamily="49" charset="-122"/>
                <a:ea typeface="黑体" panose="02010609060101010101" pitchFamily="49" charset="-122"/>
              </a:rPr>
              <a:t>年年报</a:t>
            </a:r>
            <a:r>
              <a:rPr lang="en-US" altLang="zh-CN" sz="3200" dirty="0">
                <a:latin typeface="黑体" panose="02010609060101010101" pitchFamily="49" charset="-122"/>
                <a:ea typeface="黑体" panose="02010609060101010101" pitchFamily="49" charset="-122"/>
              </a:rPr>
              <a:t>——</a:t>
            </a:r>
            <a:r>
              <a:rPr lang="zh-CN" altLang="en-US" sz="3200" dirty="0">
                <a:latin typeface="黑体" panose="02010609060101010101" pitchFamily="49" charset="-122"/>
                <a:ea typeface="黑体" panose="02010609060101010101" pitchFamily="49" charset="-122"/>
              </a:rPr>
              <a:t>财务报表附注</a:t>
            </a:r>
          </a:p>
        </p:txBody>
      </p:sp>
      <p:pic>
        <p:nvPicPr>
          <p:cNvPr id="4" name="内容占位符 6">
            <a:extLst>
              <a:ext uri="{FF2B5EF4-FFF2-40B4-BE49-F238E27FC236}">
                <a16:creationId xmlns:a16="http://schemas.microsoft.com/office/drawing/2014/main" id="{0FA0AF88-570D-4849-917C-E86716BBB2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26567" y="1812985"/>
            <a:ext cx="8143335" cy="5049443"/>
          </a:xfrm>
        </p:spPr>
      </p:pic>
    </p:spTree>
    <p:extLst>
      <p:ext uri="{BB962C8B-B14F-4D97-AF65-F5344CB8AC3E}">
        <p14:creationId xmlns:p14="http://schemas.microsoft.com/office/powerpoint/2010/main" val="1947875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学习提要与目标</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solidFill>
                  <a:srgbClr val="000000"/>
                </a:solidFill>
              </a:rPr>
              <a:t>理解投资性房地产的定义及特征</a:t>
            </a:r>
          </a:p>
          <a:p>
            <a:r>
              <a:rPr lang="zh-CN" altLang="en-US" dirty="0">
                <a:solidFill>
                  <a:srgbClr val="000000"/>
                </a:solidFill>
              </a:rPr>
              <a:t>掌握投资性房地产的初始计量</a:t>
            </a:r>
          </a:p>
          <a:p>
            <a:r>
              <a:rPr lang="zh-CN" altLang="en-US" dirty="0">
                <a:solidFill>
                  <a:srgbClr val="000000"/>
                </a:solidFill>
              </a:rPr>
              <a:t>掌握投资性房地产的后续计量与处置的会计处理 </a:t>
            </a:r>
          </a:p>
          <a:p>
            <a:r>
              <a:rPr lang="zh-CN" altLang="en-US" dirty="0">
                <a:solidFill>
                  <a:srgbClr val="000000"/>
                </a:solidFill>
              </a:rPr>
              <a:t>掌握投资性房地产的转换的会计处理</a:t>
            </a:r>
          </a:p>
        </p:txBody>
      </p:sp>
    </p:spTree>
    <p:extLst>
      <p:ext uri="{BB962C8B-B14F-4D97-AF65-F5344CB8AC3E}">
        <p14:creationId xmlns:p14="http://schemas.microsoft.com/office/powerpoint/2010/main" val="194814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一、投资性房地产概述</a:t>
            </a:r>
          </a:p>
        </p:txBody>
      </p:sp>
      <p:sp>
        <p:nvSpPr>
          <p:cNvPr id="5" name="Rectangle 3">
            <a:extLst>
              <a:ext uri="{FF2B5EF4-FFF2-40B4-BE49-F238E27FC236}">
                <a16:creationId xmlns:a16="http://schemas.microsoft.com/office/drawing/2014/main" id="{CF16440A-4216-465A-B70A-6542F86EB26B}"/>
              </a:ext>
            </a:extLst>
          </p:cNvPr>
          <p:cNvSpPr>
            <a:spLocks noGrp="1" noRot="1" noChangeArrowheads="1"/>
          </p:cNvSpPr>
          <p:nvPr>
            <p:ph idx="1"/>
          </p:nvPr>
        </p:nvSpPr>
        <p:spPr>
          <a:xfrm>
            <a:off x="1576388" y="2017713"/>
            <a:ext cx="10363200" cy="4114800"/>
          </a:xfrm>
        </p:spPr>
        <p:txBody>
          <a:bodyPr/>
          <a:lstStyle/>
          <a:p>
            <a:pPr marL="0" indent="0">
              <a:lnSpc>
                <a:spcPct val="90000"/>
              </a:lnSpc>
              <a:buNone/>
            </a:pPr>
            <a:r>
              <a:rPr lang="zh-CN" altLang="en-US" b="1" dirty="0">
                <a:solidFill>
                  <a:srgbClr val="000000"/>
                </a:solidFill>
              </a:rPr>
              <a:t>（一）投资性房地产的性质</a:t>
            </a:r>
            <a:endParaRPr lang="en-US" altLang="zh-CN" b="1" dirty="0">
              <a:solidFill>
                <a:srgbClr val="FF0000"/>
              </a:solidFill>
            </a:endParaRPr>
          </a:p>
          <a:p>
            <a:pPr>
              <a:lnSpc>
                <a:spcPct val="90000"/>
              </a:lnSpc>
            </a:pPr>
            <a:r>
              <a:rPr lang="zh-CN" altLang="en-US" sz="2800" b="1" dirty="0">
                <a:solidFill>
                  <a:srgbClr val="FF0000"/>
                </a:solidFill>
                <a:latin typeface="楷体_GB2312" pitchFamily="49" charset="-122"/>
                <a:ea typeface="楷体_GB2312" pitchFamily="49" charset="-122"/>
              </a:rPr>
              <a:t>房地产</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房产和地产及其权属的总称。</a:t>
            </a:r>
          </a:p>
          <a:p>
            <a:pPr>
              <a:lnSpc>
                <a:spcPct val="90000"/>
              </a:lnSpc>
            </a:pPr>
            <a:r>
              <a:rPr lang="zh-CN" altLang="en-US" sz="2800" b="1" dirty="0">
                <a:solidFill>
                  <a:srgbClr val="000000"/>
                </a:solidFill>
                <a:latin typeface="楷体_GB2312" pitchFamily="49" charset="-122"/>
                <a:ea typeface="楷体_GB2312" pitchFamily="49" charset="-122"/>
              </a:rPr>
              <a:t>在我国，</a:t>
            </a:r>
            <a:r>
              <a:rPr lang="zh-CN" altLang="en-US" sz="2800" b="1" dirty="0">
                <a:solidFill>
                  <a:srgbClr val="FF0000"/>
                </a:solidFill>
                <a:latin typeface="楷体_GB2312" pitchFamily="49" charset="-122"/>
                <a:ea typeface="楷体_GB2312" pitchFamily="49" charset="-122"/>
              </a:rPr>
              <a:t>房产</a:t>
            </a:r>
            <a:r>
              <a:rPr lang="zh-CN" altLang="en-US" sz="2800" b="1" dirty="0">
                <a:solidFill>
                  <a:srgbClr val="000000"/>
                </a:solidFill>
                <a:latin typeface="楷体_GB2312" pitchFamily="49" charset="-122"/>
                <a:ea typeface="楷体_GB2312" pitchFamily="49" charset="-122"/>
              </a:rPr>
              <a:t>指土地上的房屋等建筑物及构筑物；</a:t>
            </a:r>
            <a:r>
              <a:rPr lang="zh-CN" altLang="en-US" sz="2800" b="1" dirty="0">
                <a:solidFill>
                  <a:srgbClr val="FF0000"/>
                </a:solidFill>
                <a:latin typeface="楷体_GB2312" pitchFamily="49" charset="-122"/>
                <a:ea typeface="楷体_GB2312" pitchFamily="49" charset="-122"/>
              </a:rPr>
              <a:t>地产</a:t>
            </a:r>
            <a:r>
              <a:rPr lang="zh-CN" altLang="en-US" sz="2800" b="1" dirty="0">
                <a:solidFill>
                  <a:srgbClr val="000000"/>
                </a:solidFill>
                <a:latin typeface="楷体_GB2312" pitchFamily="49" charset="-122"/>
                <a:ea typeface="楷体_GB2312" pitchFamily="49" charset="-122"/>
              </a:rPr>
              <a:t>是指</a:t>
            </a:r>
            <a:r>
              <a:rPr lang="zh-CN" altLang="en-US" sz="2800" b="1" dirty="0">
                <a:solidFill>
                  <a:srgbClr val="FF0000"/>
                </a:solidFill>
                <a:latin typeface="楷体_GB2312" pitchFamily="49" charset="-122"/>
                <a:ea typeface="楷体_GB2312" pitchFamily="49" charset="-122"/>
              </a:rPr>
              <a:t>土地，通常指</a:t>
            </a:r>
            <a:r>
              <a:rPr lang="zh-CN" altLang="en-US" sz="2800" b="1" dirty="0">
                <a:solidFill>
                  <a:srgbClr val="000000"/>
                </a:solidFill>
                <a:latin typeface="楷体_GB2312" pitchFamily="49" charset="-122"/>
                <a:ea typeface="楷体_GB2312" pitchFamily="49" charset="-122"/>
              </a:rPr>
              <a:t>土地使用权。</a:t>
            </a:r>
            <a:endParaRPr lang="en-US" altLang="zh-CN" sz="2800" b="1" dirty="0">
              <a:solidFill>
                <a:srgbClr val="000000"/>
              </a:solidFill>
              <a:latin typeface="楷体_GB2312" pitchFamily="49" charset="-122"/>
              <a:ea typeface="楷体_GB2312" pitchFamily="49" charset="-122"/>
            </a:endParaRPr>
          </a:p>
          <a:p>
            <a:pPr>
              <a:lnSpc>
                <a:spcPct val="90000"/>
              </a:lnSpc>
            </a:pPr>
            <a:r>
              <a:rPr lang="zh-CN" altLang="en-US" sz="2800" b="1" dirty="0">
                <a:solidFill>
                  <a:srgbClr val="FF0000"/>
                </a:solidFill>
                <a:latin typeface="楷体_GB2312" pitchFamily="49" charset="-122"/>
                <a:ea typeface="楷体_GB2312" pitchFamily="49" charset="-122"/>
              </a:rPr>
              <a:t>投资性房地产</a:t>
            </a:r>
            <a:r>
              <a:rPr lang="en-US" altLang="zh-CN" sz="2800" b="1" dirty="0">
                <a:solidFill>
                  <a:srgbClr val="000000"/>
                </a:solidFill>
                <a:latin typeface="楷体_GB2312" pitchFamily="49" charset="-122"/>
                <a:ea typeface="楷体_GB2312" pitchFamily="49" charset="-122"/>
              </a:rPr>
              <a:t>:</a:t>
            </a:r>
            <a:r>
              <a:rPr lang="zh-CN" altLang="en-US" sz="2800" b="1" dirty="0">
                <a:solidFill>
                  <a:srgbClr val="000000"/>
                </a:solidFill>
                <a:latin typeface="楷体_GB2312" pitchFamily="49" charset="-122"/>
                <a:ea typeface="楷体_GB2312" pitchFamily="49" charset="-122"/>
              </a:rPr>
              <a:t>指为赚取租金或资本增值，或两者兼有而持有的房地产。</a:t>
            </a:r>
            <a:endParaRPr lang="en-US" altLang="zh-CN" sz="2800" b="1" dirty="0">
              <a:solidFill>
                <a:srgbClr val="000000"/>
              </a:solidFill>
              <a:latin typeface="楷体_GB2312" pitchFamily="49" charset="-122"/>
              <a:ea typeface="楷体_GB2312" pitchFamily="49" charset="-122"/>
            </a:endParaRPr>
          </a:p>
          <a:p>
            <a:pPr>
              <a:lnSpc>
                <a:spcPct val="90000"/>
              </a:lnSpc>
            </a:pPr>
            <a:r>
              <a:rPr lang="zh-CN" altLang="en-US" sz="2800" b="1" dirty="0">
                <a:solidFill>
                  <a:srgbClr val="000000"/>
                </a:solidFill>
                <a:latin typeface="楷体_GB2312" pitchFamily="49" charset="-122"/>
                <a:ea typeface="楷体_GB2312" pitchFamily="49" charset="-122"/>
              </a:rPr>
              <a:t>投资性房地产在</a:t>
            </a:r>
            <a:r>
              <a:rPr lang="zh-CN" altLang="en-US" sz="2800" b="1" dirty="0">
                <a:solidFill>
                  <a:srgbClr val="FF0000"/>
                </a:solidFill>
                <a:latin typeface="楷体_GB2312" pitchFamily="49" charset="-122"/>
                <a:ea typeface="楷体_GB2312" pitchFamily="49" charset="-122"/>
              </a:rPr>
              <a:t>用途、状态、目的</a:t>
            </a:r>
            <a:r>
              <a:rPr lang="zh-CN" altLang="en-US" sz="2800" b="1" dirty="0">
                <a:solidFill>
                  <a:srgbClr val="000000"/>
                </a:solidFill>
                <a:latin typeface="楷体_GB2312" pitchFamily="49" charset="-122"/>
                <a:ea typeface="楷体_GB2312" pitchFamily="49" charset="-122"/>
              </a:rPr>
              <a:t>等方面区别于作为生产经营场所的房地产和用于销售的房地产</a:t>
            </a:r>
            <a:endParaRPr lang="en-US" altLang="zh-CN" sz="2800" b="1" dirty="0">
              <a:solidFill>
                <a:srgbClr val="000000"/>
              </a:solidFill>
              <a:latin typeface="楷体_GB2312" pitchFamily="49" charset="-122"/>
              <a:ea typeface="楷体_GB2312" pitchFamily="49" charset="-122"/>
            </a:endParaRPr>
          </a:p>
          <a:p>
            <a:pPr>
              <a:lnSpc>
                <a:spcPct val="90000"/>
              </a:lnSpc>
            </a:pPr>
            <a:endParaRPr lang="zh-CN" altLang="en-US" sz="2800" b="1"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663659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EDE80229-F7F5-466F-9B48-A74AC3062717}"/>
              </a:ext>
            </a:extLst>
          </p:cNvPr>
          <p:cNvSpPr>
            <a:spLocks noGrp="1" noRot="1" noChangeArrowheads="1"/>
          </p:cNvSpPr>
          <p:nvPr>
            <p:ph idx="1"/>
          </p:nvPr>
        </p:nvSpPr>
        <p:spPr>
          <a:xfrm>
            <a:off x="1576388" y="2017713"/>
            <a:ext cx="10363200" cy="4721184"/>
          </a:xfrm>
        </p:spPr>
        <p:txBody>
          <a:bodyPr>
            <a:normAutofit fontScale="62500" lnSpcReduction="20000"/>
          </a:bodyPr>
          <a:lstStyle/>
          <a:p>
            <a:r>
              <a:rPr lang="zh-CN" altLang="en-US" sz="4500" b="1" dirty="0">
                <a:solidFill>
                  <a:srgbClr val="000000"/>
                </a:solidFill>
                <a:latin typeface="楷体_GB2312" pitchFamily="49" charset="-122"/>
                <a:ea typeface="楷体_GB2312" pitchFamily="49" charset="-122"/>
              </a:rPr>
              <a:t>投资性房地产的范围包括：</a:t>
            </a:r>
          </a:p>
          <a:p>
            <a:pPr lvl="1">
              <a:spcBef>
                <a:spcPct val="30000"/>
              </a:spcBef>
            </a:pPr>
            <a:r>
              <a:rPr lang="zh-CN" altLang="en-US" sz="3800" b="1" dirty="0">
                <a:solidFill>
                  <a:srgbClr val="FF0000"/>
                </a:solidFill>
                <a:latin typeface="+mn-ea"/>
                <a:ea typeface="+mn-ea"/>
              </a:rPr>
              <a:t>已出租的土地使用权</a:t>
            </a:r>
            <a:endParaRPr lang="zh-CN" altLang="en-US" sz="3800" dirty="0">
              <a:latin typeface="+mn-ea"/>
              <a:ea typeface="+mn-ea"/>
            </a:endParaRPr>
          </a:p>
          <a:p>
            <a:pPr lvl="1">
              <a:spcBef>
                <a:spcPct val="30000"/>
              </a:spcBef>
            </a:pPr>
            <a:r>
              <a:rPr lang="zh-CN" altLang="en-US" sz="3800" b="1" dirty="0">
                <a:solidFill>
                  <a:srgbClr val="FF0000"/>
                </a:solidFill>
                <a:latin typeface="+mn-ea"/>
                <a:ea typeface="+mn-ea"/>
              </a:rPr>
              <a:t>持有并准备增值后转让的土地使用权</a:t>
            </a:r>
            <a:endParaRPr lang="en-US" altLang="zh-CN" sz="3800" b="1" dirty="0">
              <a:solidFill>
                <a:srgbClr val="FF0000"/>
              </a:solidFill>
              <a:latin typeface="+mn-ea"/>
              <a:ea typeface="+mn-ea"/>
            </a:endParaRPr>
          </a:p>
          <a:p>
            <a:pPr lvl="2">
              <a:spcBef>
                <a:spcPct val="30000"/>
              </a:spcBef>
            </a:pPr>
            <a:r>
              <a:rPr lang="zh-CN" altLang="en-US" sz="3200" b="1" dirty="0">
                <a:latin typeface="华文中宋" pitchFamily="2" charset="-122"/>
                <a:ea typeface="仿宋_GB2312" panose="02010609030101010101"/>
              </a:rPr>
              <a:t>闲置土地不属于投资性房地产</a:t>
            </a:r>
          </a:p>
          <a:p>
            <a:pPr lvl="1">
              <a:spcBef>
                <a:spcPct val="30000"/>
              </a:spcBef>
            </a:pPr>
            <a:r>
              <a:rPr lang="zh-CN" altLang="en-US" sz="3800" b="1" dirty="0">
                <a:solidFill>
                  <a:srgbClr val="FF0000"/>
                </a:solidFill>
                <a:latin typeface="+mn-ea"/>
                <a:ea typeface="+mn-ea"/>
              </a:rPr>
              <a:t>企业拥有并已出租的建筑物</a:t>
            </a:r>
            <a:endParaRPr lang="en-US" altLang="zh-CN" sz="3800" b="1" dirty="0">
              <a:solidFill>
                <a:srgbClr val="FF0000"/>
              </a:solidFill>
              <a:latin typeface="+mn-ea"/>
              <a:ea typeface="+mn-ea"/>
            </a:endParaRPr>
          </a:p>
          <a:p>
            <a:pPr lvl="2">
              <a:spcBef>
                <a:spcPct val="30000"/>
              </a:spcBef>
            </a:pPr>
            <a:r>
              <a:rPr lang="zh-CN" altLang="en-US" sz="3200" b="1" dirty="0">
                <a:latin typeface="华文中宋" pitchFamily="2" charset="-122"/>
                <a:ea typeface="仿宋_GB2312" panose="02010609030101010101"/>
              </a:rPr>
              <a:t>企业拥有产权的建筑物</a:t>
            </a:r>
            <a:endParaRPr lang="en-US" altLang="zh-CN" sz="3200" b="1" dirty="0">
              <a:latin typeface="华文中宋" pitchFamily="2" charset="-122"/>
              <a:ea typeface="仿宋_GB2312" panose="02010609030101010101"/>
            </a:endParaRPr>
          </a:p>
          <a:p>
            <a:pPr lvl="2">
              <a:spcBef>
                <a:spcPct val="30000"/>
              </a:spcBef>
            </a:pPr>
            <a:r>
              <a:rPr lang="zh-CN" altLang="en-US" sz="3200" b="1" dirty="0">
                <a:latin typeface="华文中宋" pitchFamily="2" charset="-122"/>
                <a:ea typeface="仿宋_GB2312" panose="02010609030101010101"/>
              </a:rPr>
              <a:t>已经与其他方签订了经营租赁协议</a:t>
            </a:r>
            <a:endParaRPr lang="en-US" altLang="zh-CN" sz="3200" b="1" dirty="0">
              <a:latin typeface="华文中宋" pitchFamily="2" charset="-122"/>
              <a:ea typeface="仿宋_GB2312" panose="02010609030101010101"/>
            </a:endParaRPr>
          </a:p>
          <a:p>
            <a:pPr lvl="2">
              <a:spcBef>
                <a:spcPct val="30000"/>
              </a:spcBef>
            </a:pPr>
            <a:r>
              <a:rPr lang="zh-CN" altLang="en-US" sz="3200" b="1" dirty="0">
                <a:latin typeface="华文中宋" pitchFamily="2" charset="-122"/>
                <a:ea typeface="仿宋_GB2312" panose="02010609030101010101"/>
              </a:rPr>
              <a:t>包括提供的辅助服务</a:t>
            </a:r>
            <a:endParaRPr lang="zh-CN" altLang="en-US" sz="3200" b="1" dirty="0">
              <a:latin typeface="楷体_GB2312" pitchFamily="49" charset="-122"/>
              <a:ea typeface="仿宋_GB2312" panose="02010609030101010101"/>
            </a:endParaRPr>
          </a:p>
          <a:p>
            <a:endParaRPr lang="zh-CN" altLang="en-US" b="1" dirty="0">
              <a:solidFill>
                <a:schemeClr val="accent2"/>
              </a:solidFill>
              <a:latin typeface="楷体_GB2312" pitchFamily="49" charset="-122"/>
              <a:ea typeface="楷体_GB2312" pitchFamily="49" charset="-122"/>
            </a:endParaRPr>
          </a:p>
          <a:p>
            <a:r>
              <a:rPr lang="zh-CN" altLang="en-US" sz="4500" b="1" dirty="0">
                <a:solidFill>
                  <a:srgbClr val="336600"/>
                </a:solidFill>
                <a:latin typeface="楷体_GB2312" pitchFamily="49" charset="-122"/>
                <a:ea typeface="楷体_GB2312" pitchFamily="49" charset="-122"/>
              </a:rPr>
              <a:t>不属于投资性房地产的房地产</a:t>
            </a:r>
            <a:r>
              <a:rPr lang="zh-CN" altLang="en-US" sz="4500" b="1" dirty="0">
                <a:solidFill>
                  <a:srgbClr val="000000"/>
                </a:solidFill>
                <a:latin typeface="楷体_GB2312" pitchFamily="49" charset="-122"/>
                <a:ea typeface="楷体_GB2312" pitchFamily="49" charset="-122"/>
              </a:rPr>
              <a:t>：</a:t>
            </a:r>
          </a:p>
          <a:p>
            <a:pPr lvl="1">
              <a:spcBef>
                <a:spcPct val="30000"/>
              </a:spcBef>
            </a:pPr>
            <a:r>
              <a:rPr lang="zh-CN" altLang="en-US" sz="3800" b="1" dirty="0">
                <a:solidFill>
                  <a:srgbClr val="FF0000"/>
                </a:solidFill>
                <a:latin typeface="+mn-ea"/>
                <a:ea typeface="+mn-ea"/>
              </a:rPr>
              <a:t>自用房地产，即为生产商品、提供劳务或者经营管理而持有的房地产</a:t>
            </a:r>
            <a:endParaRPr lang="zh-CN" altLang="en-US" sz="3800" dirty="0">
              <a:solidFill>
                <a:srgbClr val="FF0000"/>
              </a:solidFill>
              <a:latin typeface="+mn-ea"/>
              <a:ea typeface="+mn-ea"/>
            </a:endParaRPr>
          </a:p>
          <a:p>
            <a:pPr lvl="1">
              <a:spcBef>
                <a:spcPct val="30000"/>
              </a:spcBef>
            </a:pPr>
            <a:r>
              <a:rPr lang="zh-CN" altLang="en-US" sz="3800" b="1" dirty="0">
                <a:solidFill>
                  <a:srgbClr val="FF0000"/>
                </a:solidFill>
                <a:latin typeface="+mn-ea"/>
                <a:ea typeface="+mn-ea"/>
              </a:rPr>
              <a:t>作为存货的房地产</a:t>
            </a:r>
          </a:p>
        </p:txBody>
      </p:sp>
      <p:sp>
        <p:nvSpPr>
          <p:cNvPr id="7" name="Rectangle 2">
            <a:extLst>
              <a:ext uri="{FF2B5EF4-FFF2-40B4-BE49-F238E27FC236}">
                <a16:creationId xmlns:a16="http://schemas.microsoft.com/office/drawing/2014/main" id="{B9B59B7C-8D7C-4C69-9471-F2554709F242}"/>
              </a:ext>
            </a:extLst>
          </p:cNvPr>
          <p:cNvSpPr>
            <a:spLocks noGrp="1" noRot="1" noChangeArrowheads="1"/>
          </p:cNvSpPr>
          <p:nvPr>
            <p:ph type="title"/>
          </p:nvPr>
        </p:nvSpPr>
        <p:spPr>
          <a:xfrm>
            <a:off x="1576388" y="1028379"/>
            <a:ext cx="8540750" cy="609600"/>
          </a:xfrm>
        </p:spPr>
        <p:txBody>
          <a:bodyPr/>
          <a:lstStyle/>
          <a:p>
            <a:r>
              <a:rPr lang="zh-CN" altLang="en-US" sz="3200" dirty="0">
                <a:solidFill>
                  <a:srgbClr val="000000"/>
                </a:solidFill>
                <a:latin typeface="黑体" panose="02010609060101010101" pitchFamily="49" charset="-122"/>
                <a:ea typeface="黑体" panose="02010609060101010101" pitchFamily="49" charset="-122"/>
              </a:rPr>
              <a:t>（二）</a:t>
            </a:r>
            <a:r>
              <a:rPr lang="zh-CN" altLang="en-US" sz="3200" b="1" dirty="0">
                <a:solidFill>
                  <a:srgbClr val="000000"/>
                </a:solidFill>
                <a:latin typeface="黑体" panose="02010609060101010101" pitchFamily="49" charset="-122"/>
                <a:ea typeface="黑体" panose="02010609060101010101" pitchFamily="49" charset="-122"/>
              </a:rPr>
              <a:t>投资性房地产的范围</a:t>
            </a:r>
          </a:p>
        </p:txBody>
      </p:sp>
    </p:spTree>
    <p:extLst>
      <p:ext uri="{BB962C8B-B14F-4D97-AF65-F5344CB8AC3E}">
        <p14:creationId xmlns:p14="http://schemas.microsoft.com/office/powerpoint/2010/main" val="2396725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二、投资性房地产的取得和初始计量</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449239" y="1917821"/>
            <a:ext cx="10742761" cy="4782657"/>
          </a:xfrm>
        </p:spPr>
        <p:txBody>
          <a:bodyPr/>
          <a:lstStyle/>
          <a:p>
            <a:r>
              <a:rPr lang="zh-CN" altLang="en-US" dirty="0"/>
              <a:t>取得来源</a:t>
            </a:r>
            <a:endParaRPr lang="en-US" altLang="zh-CN" dirty="0"/>
          </a:p>
          <a:p>
            <a:pPr lvl="1"/>
            <a:r>
              <a:rPr lang="zh-CN" altLang="en-US" dirty="0"/>
              <a:t>外购</a:t>
            </a:r>
          </a:p>
          <a:p>
            <a:pPr lvl="1"/>
            <a:r>
              <a:rPr lang="zh-CN" altLang="en-US" dirty="0"/>
              <a:t>自行建造或开发</a:t>
            </a:r>
          </a:p>
          <a:p>
            <a:pPr lvl="1"/>
            <a:r>
              <a:rPr lang="zh-CN" altLang="en-US" dirty="0"/>
              <a:t>非投资性房地产转入</a:t>
            </a:r>
          </a:p>
          <a:p>
            <a:r>
              <a:rPr lang="zh-CN" altLang="en-US" dirty="0"/>
              <a:t>取得投资性房地产的确认条件：投资性房地产只有在符合定义的前提下，同时满足下列条件的，才能予以确认：</a:t>
            </a:r>
            <a:endParaRPr lang="en-US" altLang="zh-CN" dirty="0"/>
          </a:p>
          <a:p>
            <a:pPr lvl="1"/>
            <a:r>
              <a:rPr lang="zh-CN" altLang="en-US" dirty="0"/>
              <a:t>（</a:t>
            </a:r>
            <a:r>
              <a:rPr lang="en-US" altLang="zh-CN" dirty="0"/>
              <a:t>1</a:t>
            </a:r>
            <a:r>
              <a:rPr lang="zh-CN" altLang="en-US" dirty="0"/>
              <a:t>）与该投资性房地产有关的经济利益很可能流入企业；</a:t>
            </a:r>
          </a:p>
          <a:p>
            <a:pPr lvl="1"/>
            <a:r>
              <a:rPr lang="zh-CN" altLang="en-US" dirty="0"/>
              <a:t>（</a:t>
            </a:r>
            <a:r>
              <a:rPr lang="en-US" altLang="zh-CN" dirty="0"/>
              <a:t>2</a:t>
            </a:r>
            <a:r>
              <a:rPr lang="zh-CN" altLang="en-US" dirty="0"/>
              <a:t>）该投资性房地产的成本能够可靠计量。</a:t>
            </a:r>
          </a:p>
          <a:p>
            <a:r>
              <a:rPr lang="zh-CN" altLang="en-US" dirty="0"/>
              <a:t>确认时点？</a:t>
            </a:r>
          </a:p>
        </p:txBody>
      </p:sp>
    </p:spTree>
    <p:extLst>
      <p:ext uri="{BB962C8B-B14F-4D97-AF65-F5344CB8AC3E}">
        <p14:creationId xmlns:p14="http://schemas.microsoft.com/office/powerpoint/2010/main" val="1132462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二、投资性房地产的取得和初始计量</a:t>
            </a:r>
          </a:p>
        </p:txBody>
      </p:sp>
      <p:sp>
        <p:nvSpPr>
          <p:cNvPr id="5" name="Rectangle 3">
            <a:extLst>
              <a:ext uri="{FF2B5EF4-FFF2-40B4-BE49-F238E27FC236}">
                <a16:creationId xmlns:a16="http://schemas.microsoft.com/office/drawing/2014/main" id="{68D50CE0-703A-42AD-AC5B-5E74F94C2CB1}"/>
              </a:ext>
            </a:extLst>
          </p:cNvPr>
          <p:cNvSpPr>
            <a:spLocks noGrp="1" noRot="1" noChangeArrowheads="1"/>
          </p:cNvSpPr>
          <p:nvPr>
            <p:ph idx="1"/>
          </p:nvPr>
        </p:nvSpPr>
        <p:spPr>
          <a:xfrm>
            <a:off x="1576388" y="2017713"/>
            <a:ext cx="10363200" cy="4774973"/>
          </a:xfrm>
        </p:spPr>
        <p:txBody>
          <a:bodyPr/>
          <a:lstStyle/>
          <a:p>
            <a:r>
              <a:rPr lang="zh-CN" altLang="en-US" b="1" dirty="0">
                <a:solidFill>
                  <a:schemeClr val="tx2"/>
                </a:solidFill>
              </a:rPr>
              <a:t>确认时点基本原则：</a:t>
            </a:r>
          </a:p>
          <a:p>
            <a:pPr>
              <a:buFont typeface="Wingdings" pitchFamily="2" charset="2"/>
              <a:buNone/>
            </a:pPr>
            <a:r>
              <a:rPr lang="zh-CN" altLang="en-US" sz="2400" b="1" dirty="0">
                <a:solidFill>
                  <a:srgbClr val="000000"/>
                </a:solidFill>
                <a:latin typeface="楷体_GB2312" pitchFamily="49" charset="-122"/>
                <a:ea typeface="楷体_GB2312" pitchFamily="49" charset="-122"/>
              </a:rPr>
              <a:t>  </a:t>
            </a:r>
            <a:r>
              <a:rPr lang="zh-CN" altLang="en-US" sz="2800" b="1" dirty="0">
                <a:solidFill>
                  <a:srgbClr val="000000"/>
                </a:solidFill>
                <a:latin typeface="楷体_GB2312" pitchFamily="49" charset="-122"/>
                <a:ea typeface="楷体_GB2312" pitchFamily="49" charset="-122"/>
              </a:rPr>
              <a:t>（</a:t>
            </a:r>
            <a:r>
              <a:rPr lang="en-US" altLang="zh-CN" sz="2800" b="1" dirty="0">
                <a:solidFill>
                  <a:srgbClr val="000000"/>
                </a:solidFill>
                <a:latin typeface="楷体_GB2312" pitchFamily="49" charset="-122"/>
                <a:ea typeface="楷体_GB2312" pitchFamily="49" charset="-122"/>
              </a:rPr>
              <a:t>1</a:t>
            </a:r>
            <a:r>
              <a:rPr lang="zh-CN" altLang="en-US" sz="2800" b="1" dirty="0">
                <a:solidFill>
                  <a:srgbClr val="000000"/>
                </a:solidFill>
                <a:latin typeface="楷体_GB2312" pitchFamily="49" charset="-122"/>
                <a:ea typeface="楷体_GB2312" pitchFamily="49" charset="-122"/>
              </a:rPr>
              <a:t>）</a:t>
            </a:r>
            <a:r>
              <a:rPr lang="zh-CN" altLang="en-US" sz="2800" b="1" dirty="0">
                <a:solidFill>
                  <a:srgbClr val="FF0000"/>
                </a:solidFill>
                <a:latin typeface="楷体_GB2312" pitchFamily="49" charset="-122"/>
                <a:ea typeface="楷体_GB2312" pitchFamily="49" charset="-122"/>
              </a:rPr>
              <a:t>对已出租的土地使用权、已出租的建筑物</a:t>
            </a:r>
            <a:r>
              <a:rPr lang="zh-CN" altLang="en-US" sz="2800" b="1" dirty="0">
                <a:solidFill>
                  <a:srgbClr val="000000"/>
                </a:solidFill>
                <a:latin typeface="楷体_GB2312" pitchFamily="49" charset="-122"/>
                <a:ea typeface="楷体_GB2312" pitchFamily="49" charset="-122"/>
              </a:rPr>
              <a:t>，其作为投资性房地产的确认</a:t>
            </a:r>
            <a:r>
              <a:rPr lang="zh-CN" altLang="en-US" sz="2800" b="1" dirty="0">
                <a:solidFill>
                  <a:srgbClr val="FF0066"/>
                </a:solidFill>
                <a:latin typeface="楷体_GB2312" pitchFamily="49" charset="-122"/>
                <a:ea typeface="楷体_GB2312" pitchFamily="49" charset="-122"/>
              </a:rPr>
              <a:t>时点</a:t>
            </a:r>
            <a:r>
              <a:rPr lang="zh-CN" altLang="en-US" sz="2800" b="1" dirty="0">
                <a:solidFill>
                  <a:srgbClr val="000000"/>
                </a:solidFill>
                <a:latin typeface="楷体_GB2312" pitchFamily="49" charset="-122"/>
                <a:ea typeface="楷体_GB2312" pitchFamily="49" charset="-122"/>
              </a:rPr>
              <a:t>为</a:t>
            </a:r>
            <a:r>
              <a:rPr lang="zh-CN" altLang="en-US" sz="2800" b="1" dirty="0">
                <a:solidFill>
                  <a:srgbClr val="FF0000"/>
                </a:solidFill>
                <a:latin typeface="楷体_GB2312" pitchFamily="49" charset="-122"/>
                <a:ea typeface="楷体_GB2312" pitchFamily="49" charset="-122"/>
              </a:rPr>
              <a:t>租赁期开始日</a:t>
            </a:r>
            <a:r>
              <a:rPr lang="zh-CN" altLang="en-US" sz="2800" b="1" dirty="0">
                <a:solidFill>
                  <a:srgbClr val="000000"/>
                </a:solidFill>
                <a:latin typeface="楷体_GB2312" pitchFamily="49" charset="-122"/>
                <a:ea typeface="楷体_GB2312" pitchFamily="49" charset="-122"/>
              </a:rPr>
              <a:t>，即土地使用权、建筑物进入出租状态、开始赚取租金的日期。</a:t>
            </a:r>
          </a:p>
          <a:p>
            <a:pPr>
              <a:buFont typeface="Wingdings" pitchFamily="2" charset="2"/>
              <a:buNone/>
            </a:pPr>
            <a:r>
              <a:rPr lang="zh-CN" altLang="en-US" sz="2800" b="1" dirty="0">
                <a:solidFill>
                  <a:srgbClr val="000000"/>
                </a:solidFill>
                <a:latin typeface="楷体_GB2312" pitchFamily="49" charset="-122"/>
                <a:ea typeface="楷体_GB2312" pitchFamily="49" charset="-122"/>
              </a:rPr>
              <a:t>  （</a:t>
            </a:r>
            <a:r>
              <a:rPr lang="en-US" altLang="zh-CN" sz="2800" b="1" dirty="0">
                <a:solidFill>
                  <a:srgbClr val="000000"/>
                </a:solidFill>
                <a:latin typeface="楷体_GB2312" pitchFamily="49" charset="-122"/>
                <a:ea typeface="楷体_GB2312" pitchFamily="49" charset="-122"/>
              </a:rPr>
              <a:t>2</a:t>
            </a:r>
            <a:r>
              <a:rPr lang="zh-CN" altLang="en-US" sz="2800" b="1" dirty="0">
                <a:solidFill>
                  <a:srgbClr val="000000"/>
                </a:solidFill>
                <a:latin typeface="楷体_GB2312" pitchFamily="49" charset="-122"/>
                <a:ea typeface="楷体_GB2312" pitchFamily="49" charset="-122"/>
              </a:rPr>
              <a:t>）</a:t>
            </a:r>
            <a:r>
              <a:rPr lang="zh-CN" altLang="en-US" sz="2800" b="1" dirty="0">
                <a:solidFill>
                  <a:srgbClr val="FF0000"/>
                </a:solidFill>
                <a:latin typeface="楷体_GB2312" pitchFamily="49" charset="-122"/>
                <a:ea typeface="楷体_GB2312" pitchFamily="49" charset="-122"/>
              </a:rPr>
              <a:t>对于持有并准备增值后转让的土地使用权</a:t>
            </a:r>
            <a:r>
              <a:rPr lang="zh-CN" altLang="en-US" sz="2800" b="1" dirty="0">
                <a:solidFill>
                  <a:srgbClr val="000000"/>
                </a:solidFill>
                <a:latin typeface="楷体_GB2312" pitchFamily="49" charset="-122"/>
                <a:ea typeface="楷体_GB2312" pitchFamily="49" charset="-122"/>
              </a:rPr>
              <a:t>，其作为投资性房地产的确认</a:t>
            </a:r>
            <a:r>
              <a:rPr lang="zh-CN" altLang="en-US" sz="2800" dirty="0">
                <a:solidFill>
                  <a:srgbClr val="FF0066"/>
                </a:solidFill>
                <a:ea typeface="楷体_GB2312" pitchFamily="49" charset="-122"/>
              </a:rPr>
              <a:t>时点</a:t>
            </a:r>
            <a:r>
              <a:rPr lang="zh-CN" altLang="en-US" sz="2800" b="1" dirty="0">
                <a:solidFill>
                  <a:srgbClr val="000000"/>
                </a:solidFill>
                <a:latin typeface="楷体_GB2312" pitchFamily="49" charset="-122"/>
                <a:ea typeface="楷体_GB2312" pitchFamily="49" charset="-122"/>
              </a:rPr>
              <a:t>为企业</a:t>
            </a:r>
            <a:r>
              <a:rPr lang="zh-CN" altLang="en-US" sz="2800" b="1" dirty="0">
                <a:solidFill>
                  <a:srgbClr val="FF0000"/>
                </a:solidFill>
                <a:latin typeface="楷体_GB2312" pitchFamily="49" charset="-122"/>
                <a:ea typeface="楷体_GB2312" pitchFamily="49" charset="-122"/>
              </a:rPr>
              <a:t>将自用土地使用权停止自用，准备增值后转让的日期</a:t>
            </a:r>
            <a:r>
              <a:rPr lang="zh-CN" altLang="en-US" sz="2800" b="1" dirty="0">
                <a:solidFill>
                  <a:srgbClr val="000000"/>
                </a:solidFill>
                <a:latin typeface="楷体_GB2312" pitchFamily="49" charset="-122"/>
                <a:ea typeface="楷体_GB2312" pitchFamily="49" charset="-122"/>
              </a:rPr>
              <a:t>。</a:t>
            </a:r>
            <a:endParaRPr lang="en-US" altLang="zh-CN" sz="2800" b="1" dirty="0">
              <a:solidFill>
                <a:srgbClr val="000000"/>
              </a:solidFill>
              <a:latin typeface="楷体_GB2312" pitchFamily="49" charset="-122"/>
              <a:ea typeface="楷体_GB2312" pitchFamily="49" charset="-122"/>
            </a:endParaRPr>
          </a:p>
          <a:p>
            <a:pPr>
              <a:buFont typeface="Wingdings" pitchFamily="2" charset="2"/>
              <a:buNone/>
            </a:pPr>
            <a:endParaRPr lang="en-US" altLang="zh-CN" sz="2400" b="1" dirty="0">
              <a:solidFill>
                <a:srgbClr val="000000"/>
              </a:solidFill>
              <a:latin typeface="楷体_GB2312" pitchFamily="49" charset="-122"/>
              <a:ea typeface="楷体_GB2312" pitchFamily="49" charset="-122"/>
            </a:endParaRPr>
          </a:p>
          <a:p>
            <a:r>
              <a:rPr lang="zh-CN" altLang="en-US" b="1" dirty="0">
                <a:solidFill>
                  <a:schemeClr val="tx2"/>
                </a:solidFill>
              </a:rPr>
              <a:t>确认账户：投资性房地产</a:t>
            </a:r>
          </a:p>
          <a:p>
            <a:pPr>
              <a:buFont typeface="Wingdings" pitchFamily="2" charset="2"/>
              <a:buNone/>
            </a:pPr>
            <a:endParaRPr lang="zh-CN" altLang="en-US" sz="2400" b="1"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2752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716AEB55-0FB7-4E05-9E08-BEF0A2382859}"/>
              </a:ext>
            </a:extLst>
          </p:cNvPr>
          <p:cNvSpPr>
            <a:spLocks noGrp="1" noRot="1" noChangeArrowheads="1"/>
          </p:cNvSpPr>
          <p:nvPr>
            <p:ph type="title"/>
          </p:nvPr>
        </p:nvSpPr>
        <p:spPr>
          <a:xfrm>
            <a:off x="1576917" y="1032222"/>
            <a:ext cx="8540750" cy="685800"/>
          </a:xfrm>
        </p:spPr>
        <p:txBody>
          <a:bodyPr>
            <a:normAutofit/>
          </a:bodyPr>
          <a:lstStyle/>
          <a:p>
            <a:r>
              <a:rPr lang="zh-CN" altLang="en-US" sz="3200" b="1" dirty="0">
                <a:solidFill>
                  <a:srgbClr val="000000"/>
                </a:solidFill>
                <a:latin typeface="黑体" panose="02010609060101010101" pitchFamily="49" charset="-122"/>
                <a:ea typeface="黑体" panose="02010609060101010101" pitchFamily="49" charset="-122"/>
              </a:rPr>
              <a:t>（一）</a:t>
            </a:r>
            <a:r>
              <a:rPr lang="en-US" altLang="zh-CN" sz="3200" b="1" dirty="0">
                <a:solidFill>
                  <a:srgbClr val="000000"/>
                </a:solidFill>
                <a:latin typeface="黑体" panose="02010609060101010101" pitchFamily="49" charset="-122"/>
                <a:ea typeface="黑体" panose="02010609060101010101" pitchFamily="49" charset="-122"/>
              </a:rPr>
              <a:t> </a:t>
            </a:r>
            <a:r>
              <a:rPr lang="zh-CN" altLang="en-US" sz="3200" b="1" dirty="0">
                <a:solidFill>
                  <a:srgbClr val="000000"/>
                </a:solidFill>
                <a:latin typeface="黑体" panose="02010609060101010101" pitchFamily="49" charset="-122"/>
                <a:ea typeface="黑体" panose="02010609060101010101" pitchFamily="49" charset="-122"/>
              </a:rPr>
              <a:t>外购投资性房地产</a:t>
            </a:r>
          </a:p>
        </p:txBody>
      </p:sp>
      <p:sp>
        <p:nvSpPr>
          <p:cNvPr id="7" name="Rectangle 3">
            <a:extLst>
              <a:ext uri="{FF2B5EF4-FFF2-40B4-BE49-F238E27FC236}">
                <a16:creationId xmlns:a16="http://schemas.microsoft.com/office/drawing/2014/main" id="{D271E8BD-BF05-4A48-A695-606F256FB526}"/>
              </a:ext>
            </a:extLst>
          </p:cNvPr>
          <p:cNvSpPr>
            <a:spLocks noGrp="1" noRot="1" noChangeArrowheads="1"/>
          </p:cNvSpPr>
          <p:nvPr>
            <p:ph idx="1"/>
          </p:nvPr>
        </p:nvSpPr>
        <p:spPr>
          <a:xfrm>
            <a:off x="1055549" y="1929554"/>
            <a:ext cx="11136451" cy="2126151"/>
          </a:xfrm>
        </p:spPr>
        <p:txBody>
          <a:bodyPr/>
          <a:lstStyle/>
          <a:p>
            <a:r>
              <a:rPr lang="zh-CN" altLang="en-US" sz="2800" b="1" dirty="0">
                <a:solidFill>
                  <a:srgbClr val="000000"/>
                </a:solidFill>
                <a:latin typeface="黑体" pitchFamily="2" charset="-122"/>
                <a:ea typeface="楷体_GB2312" panose="02010609030101010101"/>
              </a:rPr>
              <a:t>原则：成本计量</a:t>
            </a:r>
            <a:endParaRPr lang="en-US" altLang="zh-CN" sz="2800" b="1" dirty="0">
              <a:solidFill>
                <a:srgbClr val="000000"/>
              </a:solidFill>
              <a:latin typeface="黑体" pitchFamily="2" charset="-122"/>
              <a:ea typeface="楷体_GB2312" panose="02010609030101010101"/>
            </a:endParaRPr>
          </a:p>
          <a:p>
            <a:r>
              <a:rPr lang="zh-CN" altLang="en-US" sz="2800" b="1" dirty="0">
                <a:solidFill>
                  <a:srgbClr val="000000"/>
                </a:solidFill>
                <a:ea typeface="楷体_GB2312" panose="02010609030101010101"/>
              </a:rPr>
              <a:t>只有在</a:t>
            </a:r>
            <a:r>
              <a:rPr lang="zh-CN" altLang="en-US" sz="2800" b="1" dirty="0">
                <a:solidFill>
                  <a:srgbClr val="FF0000"/>
                </a:solidFill>
                <a:ea typeface="楷体_GB2312" panose="02010609030101010101"/>
              </a:rPr>
              <a:t>购入的同时开始出租</a:t>
            </a:r>
            <a:r>
              <a:rPr lang="zh-CN" altLang="en-US" sz="2800" b="1" dirty="0">
                <a:solidFill>
                  <a:srgbClr val="000000"/>
                </a:solidFill>
                <a:ea typeface="楷体_GB2312" panose="02010609030101010101"/>
              </a:rPr>
              <a:t>，才能作为投资性房地产加以确认；其</a:t>
            </a:r>
            <a:r>
              <a:rPr lang="zh-CN" altLang="en-US" sz="2800" b="1" dirty="0">
                <a:solidFill>
                  <a:srgbClr val="FF0000"/>
                </a:solidFill>
                <a:ea typeface="楷体_GB2312" panose="02010609030101010101"/>
              </a:rPr>
              <a:t>成本包括</a:t>
            </a:r>
            <a:r>
              <a:rPr lang="zh-CN" altLang="en-US" sz="2800" b="1" dirty="0">
                <a:solidFill>
                  <a:srgbClr val="000000"/>
                </a:solidFill>
                <a:ea typeface="楷体_GB2312" panose="02010609030101010101"/>
              </a:rPr>
              <a:t>购买</a:t>
            </a:r>
            <a:r>
              <a:rPr lang="zh-CN" altLang="en-US" sz="2800" b="1" dirty="0">
                <a:solidFill>
                  <a:srgbClr val="336600"/>
                </a:solidFill>
                <a:ea typeface="楷体_GB2312" panose="02010609030101010101"/>
              </a:rPr>
              <a:t>价款、相关税费和可直接归属于该资产的其他支出</a:t>
            </a:r>
            <a:r>
              <a:rPr lang="zh-CN" altLang="en-US" sz="2800" b="1" dirty="0">
                <a:solidFill>
                  <a:srgbClr val="000000"/>
                </a:solidFill>
                <a:ea typeface="楷体_GB2312" panose="02010609030101010101"/>
              </a:rPr>
              <a:t>。</a:t>
            </a:r>
            <a:endParaRPr lang="en-US" altLang="zh-CN" sz="2800" b="1" dirty="0">
              <a:solidFill>
                <a:srgbClr val="000000"/>
              </a:solidFill>
              <a:ea typeface="楷体_GB2312" panose="02010609030101010101"/>
            </a:endParaRPr>
          </a:p>
          <a:p>
            <a:r>
              <a:rPr lang="zh-CN" altLang="en-US" sz="2800" b="1" dirty="0">
                <a:solidFill>
                  <a:srgbClr val="000000"/>
                </a:solidFill>
                <a:ea typeface="楷体_GB2312" panose="02010609030101010101"/>
              </a:rPr>
              <a:t>可以抵扣的增值税计入“应交税费</a:t>
            </a:r>
            <a:r>
              <a:rPr lang="en-US" altLang="zh-CN" sz="2800" b="1" dirty="0">
                <a:solidFill>
                  <a:srgbClr val="000000"/>
                </a:solidFill>
                <a:ea typeface="楷体_GB2312" panose="02010609030101010101"/>
              </a:rPr>
              <a:t>——</a:t>
            </a:r>
            <a:r>
              <a:rPr lang="zh-CN" altLang="en-US" sz="2800" b="1" dirty="0">
                <a:solidFill>
                  <a:srgbClr val="000000"/>
                </a:solidFill>
                <a:ea typeface="楷体_GB2312" panose="02010609030101010101"/>
              </a:rPr>
              <a:t>应交增值税（进项税额）”</a:t>
            </a:r>
            <a:endParaRPr lang="en-US" altLang="zh-CN" sz="2800" b="1" dirty="0">
              <a:solidFill>
                <a:srgbClr val="000000"/>
              </a:solidFill>
              <a:ea typeface="楷体_GB2312" panose="02010609030101010101"/>
            </a:endParaRPr>
          </a:p>
          <a:p>
            <a:pPr marL="0" indent="0">
              <a:buNone/>
            </a:pPr>
            <a:endParaRPr lang="en-US" altLang="zh-CN" sz="2400" b="1" dirty="0">
              <a:solidFill>
                <a:srgbClr val="000000"/>
              </a:solidFill>
              <a:ea typeface="楷体_GB2312" pitchFamily="49" charset="-122"/>
            </a:endParaRPr>
          </a:p>
        </p:txBody>
      </p:sp>
      <p:graphicFrame>
        <p:nvGraphicFramePr>
          <p:cNvPr id="5" name="Group 20">
            <a:extLst>
              <a:ext uri="{FF2B5EF4-FFF2-40B4-BE49-F238E27FC236}">
                <a16:creationId xmlns:a16="http://schemas.microsoft.com/office/drawing/2014/main" id="{559F493B-C152-44FB-84C8-D1A9C42A8D39}"/>
              </a:ext>
            </a:extLst>
          </p:cNvPr>
          <p:cNvGraphicFramePr>
            <a:graphicFrameLocks/>
          </p:cNvGraphicFramePr>
          <p:nvPr>
            <p:extLst>
              <p:ext uri="{D42A27DB-BD31-4B8C-83A1-F6EECF244321}">
                <p14:modId xmlns:p14="http://schemas.microsoft.com/office/powerpoint/2010/main" val="398213192"/>
              </p:ext>
            </p:extLst>
          </p:nvPr>
        </p:nvGraphicFramePr>
        <p:xfrm>
          <a:off x="1899996" y="4118373"/>
          <a:ext cx="8392008" cy="2126151"/>
        </p:xfrm>
        <a:graphic>
          <a:graphicData uri="http://schemas.openxmlformats.org/drawingml/2006/table">
            <a:tbl>
              <a:tblPr/>
              <a:tblGrid>
                <a:gridCol w="8392008">
                  <a:extLst>
                    <a:ext uri="{9D8B030D-6E8A-4147-A177-3AD203B41FA5}">
                      <a16:colId xmlns:a16="http://schemas.microsoft.com/office/drawing/2014/main" val="20000"/>
                    </a:ext>
                  </a:extLst>
                </a:gridCol>
              </a:tblGrid>
              <a:tr h="542386">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defRPr/>
                      </a:pPr>
                      <a:r>
                        <a:rPr lang="zh-CN" altLang="en-US" sz="2400" b="1" dirty="0">
                          <a:solidFill>
                            <a:srgbClr val="000000"/>
                          </a:solidFill>
                          <a:ea typeface="楷体_GB2312" pitchFamily="49" charset="-122"/>
                        </a:rPr>
                        <a:t>账务处理</a:t>
                      </a:r>
                      <a:r>
                        <a:rPr lang="en-US" altLang="zh-CN" sz="2400" b="1" dirty="0">
                          <a:solidFill>
                            <a:srgbClr val="000000"/>
                          </a:solidFill>
                          <a:ea typeface="楷体_GB2312" pitchFamily="49" charset="-122"/>
                        </a:rPr>
                        <a:t>:</a:t>
                      </a:r>
                      <a:endParaRPr kumimoji="0" lang="zh-CN" altLang="en-US" sz="2400" b="1" i="0" u="none" strike="noStrike" cap="none" normalizeH="0" baseline="0" dirty="0">
                        <a:ln>
                          <a:noFill/>
                        </a:ln>
                        <a:solidFill>
                          <a:srgbClr val="000000"/>
                        </a:solidFill>
                        <a:effectLst/>
                        <a:latin typeface="楷体_GB2312" pitchFamily="49" charset="-122"/>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68A36"/>
                    </a:solidFill>
                  </a:tcPr>
                </a:tc>
                <a:extLst>
                  <a:ext uri="{0D108BD9-81ED-4DB2-BD59-A6C34878D82A}">
                    <a16:rowId xmlns:a16="http://schemas.microsoft.com/office/drawing/2014/main" val="10000"/>
                  </a:ext>
                </a:extLst>
              </a:tr>
              <a:tr h="158376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400" b="1" i="0" u="none" strike="noStrike" cap="none" normalizeH="0" baseline="0" dirty="0">
                          <a:ln>
                            <a:noFill/>
                          </a:ln>
                          <a:solidFill>
                            <a:srgbClr val="000000"/>
                          </a:solidFill>
                          <a:effectLst/>
                          <a:latin typeface="楷体_GB2312" pitchFamily="49" charset="-122"/>
                          <a:ea typeface="楷体_GB2312" pitchFamily="49" charset="-122"/>
                        </a:rPr>
                        <a:t>借：投资性房地产</a:t>
                      </a:r>
                      <a:endParaRPr kumimoji="0" lang="en-US" altLang="zh-CN" sz="2400" b="1" i="0" u="none" strike="noStrike" cap="none" normalizeH="0" baseline="0" dirty="0">
                        <a:ln>
                          <a:noFill/>
                        </a:ln>
                        <a:solidFill>
                          <a:srgbClr val="000000"/>
                        </a:solidFill>
                        <a:effectLst/>
                        <a:latin typeface="楷体_GB2312" pitchFamily="49" charset="-122"/>
                        <a:ea typeface="楷体_GB2312" pitchFamily="49" charset="-122"/>
                      </a:endParaRP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400" b="1" i="0" u="none" strike="noStrike" cap="none" normalizeH="0" baseline="0" dirty="0">
                          <a:ln>
                            <a:noFill/>
                          </a:ln>
                          <a:solidFill>
                            <a:srgbClr val="000000"/>
                          </a:solidFill>
                          <a:effectLst/>
                          <a:latin typeface="楷体_GB2312" pitchFamily="49" charset="-122"/>
                          <a:ea typeface="楷体_GB2312" pitchFamily="49" charset="-122"/>
                        </a:rPr>
                        <a:t>    </a:t>
                      </a:r>
                      <a:r>
                        <a:rPr kumimoji="0" lang="zh-CN" altLang="en-US" sz="2400" b="1" i="0" u="none" strike="noStrike" cap="none" normalizeH="0" baseline="0" dirty="0">
                          <a:ln>
                            <a:noFill/>
                          </a:ln>
                          <a:solidFill>
                            <a:srgbClr val="000000"/>
                          </a:solidFill>
                          <a:effectLst/>
                          <a:latin typeface="楷体_GB2312" pitchFamily="49" charset="-122"/>
                          <a:ea typeface="楷体_GB2312" pitchFamily="49" charset="-122"/>
                        </a:rPr>
                        <a:t>应交税费</a:t>
                      </a:r>
                      <a:r>
                        <a:rPr kumimoji="0" lang="en-US" altLang="zh-CN" sz="2400" b="1" i="0" u="none" strike="noStrike" cap="none" normalizeH="0" baseline="0" dirty="0">
                          <a:ln>
                            <a:noFill/>
                          </a:ln>
                          <a:solidFill>
                            <a:srgbClr val="000000"/>
                          </a:solidFill>
                          <a:effectLst/>
                          <a:latin typeface="楷体_GB2312" pitchFamily="49" charset="-122"/>
                          <a:ea typeface="楷体_GB2312" pitchFamily="49" charset="-122"/>
                        </a:rPr>
                        <a:t>——</a:t>
                      </a:r>
                      <a:r>
                        <a:rPr kumimoji="0" lang="zh-CN" altLang="en-US" sz="2400" b="1" i="0" u="none" strike="noStrike" cap="none" normalizeH="0" baseline="0" dirty="0">
                          <a:ln>
                            <a:noFill/>
                          </a:ln>
                          <a:solidFill>
                            <a:srgbClr val="000000"/>
                          </a:solidFill>
                          <a:effectLst/>
                          <a:latin typeface="楷体_GB2312" pitchFamily="49" charset="-122"/>
                          <a:ea typeface="楷体_GB2312" pitchFamily="49" charset="-122"/>
                        </a:rPr>
                        <a:t>应交增值税（进项税额）</a:t>
                      </a: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400" b="1" i="0" u="none" strike="noStrike" cap="none" normalizeH="0" baseline="0" dirty="0">
                          <a:ln>
                            <a:noFill/>
                          </a:ln>
                          <a:solidFill>
                            <a:srgbClr val="000000"/>
                          </a:solidFill>
                          <a:effectLst/>
                          <a:latin typeface="楷体_GB2312" pitchFamily="49" charset="-122"/>
                          <a:ea typeface="楷体_GB2312" pitchFamily="49" charset="-122"/>
                        </a:rPr>
                        <a:t>    贷：银行存款等</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68A36"/>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5695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C581780B-7B62-4B40-BC0F-FE54E6816295}"/>
              </a:ext>
            </a:extLst>
          </p:cNvPr>
          <p:cNvSpPr>
            <a:spLocks noGrp="1" noRot="1" noChangeArrowheads="1"/>
          </p:cNvSpPr>
          <p:nvPr>
            <p:ph type="title"/>
          </p:nvPr>
        </p:nvSpPr>
        <p:spPr>
          <a:xfrm>
            <a:off x="1576917" y="1099603"/>
            <a:ext cx="8540750" cy="609600"/>
          </a:xfrm>
        </p:spPr>
        <p:txBody>
          <a:bodyPr/>
          <a:lstStyle/>
          <a:p>
            <a:r>
              <a:rPr lang="zh-CN" altLang="en-US" sz="3200" b="1" dirty="0">
                <a:solidFill>
                  <a:srgbClr val="000000"/>
                </a:solidFill>
                <a:latin typeface="黑体" panose="02010609060101010101" pitchFamily="49" charset="-122"/>
                <a:ea typeface="黑体" panose="02010609060101010101" pitchFamily="49" charset="-122"/>
              </a:rPr>
              <a:t>（一）外购投资性房地产的确认和初始计量</a:t>
            </a:r>
          </a:p>
        </p:txBody>
      </p:sp>
      <p:sp>
        <p:nvSpPr>
          <p:cNvPr id="8" name="Rectangle 3">
            <a:extLst>
              <a:ext uri="{FF2B5EF4-FFF2-40B4-BE49-F238E27FC236}">
                <a16:creationId xmlns:a16="http://schemas.microsoft.com/office/drawing/2014/main" id="{218946DA-2D54-41FD-AE69-A9ABEAE7B2CB}"/>
              </a:ext>
            </a:extLst>
          </p:cNvPr>
          <p:cNvSpPr>
            <a:spLocks noGrp="1" noRot="1" noChangeArrowheads="1"/>
          </p:cNvSpPr>
          <p:nvPr>
            <p:ph idx="1"/>
          </p:nvPr>
        </p:nvSpPr>
        <p:spPr>
          <a:xfrm>
            <a:off x="1576388" y="2017713"/>
            <a:ext cx="10363200" cy="4705816"/>
          </a:xfrm>
        </p:spPr>
        <p:txBody>
          <a:bodyPr/>
          <a:lstStyle/>
          <a:p>
            <a:pPr>
              <a:lnSpc>
                <a:spcPct val="90000"/>
              </a:lnSpc>
            </a:pPr>
            <a:r>
              <a:rPr lang="zh-CN" altLang="en-US" sz="2400" b="1" dirty="0">
                <a:solidFill>
                  <a:srgbClr val="FF0000"/>
                </a:solidFill>
                <a:latin typeface="楷体_GB2312" pitchFamily="49" charset="-122"/>
                <a:ea typeface="楷体_GB2312" pitchFamily="49" charset="-122"/>
              </a:rPr>
              <a:t>例：</a:t>
            </a:r>
            <a:r>
              <a:rPr lang="en-US" altLang="zh-CN" sz="2400" b="1" dirty="0">
                <a:solidFill>
                  <a:srgbClr val="000000"/>
                </a:solidFill>
                <a:latin typeface="楷体_GB2312" pitchFamily="49" charset="-122"/>
                <a:ea typeface="楷体_GB2312" pitchFamily="49" charset="-122"/>
              </a:rPr>
              <a:t>2×19</a:t>
            </a:r>
            <a:r>
              <a:rPr lang="zh-CN" altLang="en-US" sz="2400" b="1" dirty="0">
                <a:solidFill>
                  <a:srgbClr val="000000"/>
                </a:solidFill>
                <a:latin typeface="楷体_GB2312" pitchFamily="49" charset="-122"/>
                <a:ea typeface="楷体_GB2312" pitchFamily="49" charset="-122"/>
              </a:rPr>
              <a:t>年</a:t>
            </a:r>
            <a:r>
              <a:rPr lang="en-US" altLang="zh-CN" sz="2400" b="1" dirty="0">
                <a:solidFill>
                  <a:srgbClr val="000000"/>
                </a:solidFill>
                <a:latin typeface="楷体_GB2312" pitchFamily="49" charset="-122"/>
                <a:ea typeface="楷体_GB2312" pitchFamily="49" charset="-122"/>
              </a:rPr>
              <a:t>5</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10</a:t>
            </a:r>
            <a:r>
              <a:rPr lang="zh-CN" altLang="en-US" sz="2400" b="1" dirty="0">
                <a:solidFill>
                  <a:srgbClr val="000000"/>
                </a:solidFill>
                <a:latin typeface="楷体_GB2312" pitchFamily="49" charset="-122"/>
                <a:ea typeface="楷体_GB2312" pitchFamily="49" charset="-122"/>
              </a:rPr>
              <a:t>日，</a:t>
            </a:r>
            <a:r>
              <a:rPr lang="en-US" altLang="zh-CN" sz="2400" b="1" dirty="0">
                <a:solidFill>
                  <a:srgbClr val="000000"/>
                </a:solidFill>
                <a:latin typeface="楷体_GB2312" pitchFamily="49" charset="-122"/>
                <a:ea typeface="楷体_GB2312" pitchFamily="49" charset="-122"/>
              </a:rPr>
              <a:t>A</a:t>
            </a:r>
            <a:r>
              <a:rPr lang="zh-CN" altLang="en-US" sz="2400" b="1" dirty="0">
                <a:solidFill>
                  <a:srgbClr val="000000"/>
                </a:solidFill>
                <a:latin typeface="楷体_GB2312" pitchFamily="49" charset="-122"/>
                <a:ea typeface="楷体_GB2312" pitchFamily="49" charset="-122"/>
              </a:rPr>
              <a:t>公司计划购入一栋写字楼用于对外出租。</a:t>
            </a:r>
            <a:r>
              <a:rPr lang="en-US" altLang="zh-CN" sz="2400" b="1" dirty="0">
                <a:solidFill>
                  <a:srgbClr val="000000"/>
                </a:solidFill>
                <a:latin typeface="楷体_GB2312" pitchFamily="49" charset="-122"/>
                <a:ea typeface="楷体_GB2312" pitchFamily="49" charset="-122"/>
              </a:rPr>
              <a:t>5</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20</a:t>
            </a:r>
            <a:r>
              <a:rPr lang="zh-CN" altLang="en-US" sz="2400" b="1" dirty="0">
                <a:solidFill>
                  <a:srgbClr val="000000"/>
                </a:solidFill>
                <a:latin typeface="楷体_GB2312" pitchFamily="49" charset="-122"/>
                <a:ea typeface="楷体_GB2312" pitchFamily="49" charset="-122"/>
              </a:rPr>
              <a:t>日，</a:t>
            </a:r>
            <a:r>
              <a:rPr lang="en-US" altLang="zh-CN" sz="2400" b="1" dirty="0">
                <a:solidFill>
                  <a:srgbClr val="000000"/>
                </a:solidFill>
                <a:latin typeface="楷体_GB2312" pitchFamily="49" charset="-122"/>
                <a:ea typeface="楷体_GB2312" pitchFamily="49" charset="-122"/>
              </a:rPr>
              <a:t>A</a:t>
            </a:r>
            <a:r>
              <a:rPr lang="zh-CN" altLang="en-US" sz="2400" b="1" dirty="0">
                <a:solidFill>
                  <a:srgbClr val="000000"/>
                </a:solidFill>
                <a:latin typeface="楷体_GB2312" pitchFamily="49" charset="-122"/>
                <a:ea typeface="楷体_GB2312" pitchFamily="49" charset="-122"/>
              </a:rPr>
              <a:t>公司与</a:t>
            </a:r>
            <a:r>
              <a:rPr lang="en-US" altLang="zh-CN" sz="2400" b="1" dirty="0">
                <a:solidFill>
                  <a:srgbClr val="000000"/>
                </a:solidFill>
                <a:latin typeface="楷体_GB2312" pitchFamily="49" charset="-122"/>
                <a:ea typeface="楷体_GB2312" pitchFamily="49" charset="-122"/>
              </a:rPr>
              <a:t>B</a:t>
            </a:r>
            <a:r>
              <a:rPr lang="zh-CN" altLang="en-US" sz="2400" b="1" dirty="0">
                <a:solidFill>
                  <a:srgbClr val="000000"/>
                </a:solidFill>
                <a:latin typeface="楷体_GB2312" pitchFamily="49" charset="-122"/>
                <a:ea typeface="楷体_GB2312" pitchFamily="49" charset="-122"/>
              </a:rPr>
              <a:t>公司签订了经营租赁合同，约定自写字楼</a:t>
            </a:r>
            <a:r>
              <a:rPr lang="zh-CN" altLang="en-US" sz="2400" b="1" dirty="0">
                <a:latin typeface="楷体_GB2312" pitchFamily="49" charset="-122"/>
                <a:ea typeface="楷体_GB2312" pitchFamily="49" charset="-122"/>
              </a:rPr>
              <a:t>购买之日起就出租给</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公司使用</a:t>
            </a:r>
            <a:r>
              <a:rPr lang="zh-CN" altLang="en-US" sz="2400" b="1" dirty="0">
                <a:solidFill>
                  <a:srgbClr val="000000"/>
                </a:solidFill>
                <a:latin typeface="楷体_GB2312" pitchFamily="49" charset="-122"/>
                <a:ea typeface="楷体_GB2312" pitchFamily="49" charset="-122"/>
              </a:rPr>
              <a:t>，为期</a:t>
            </a:r>
            <a:r>
              <a:rPr lang="en-US" altLang="zh-CN" sz="2400" b="1" dirty="0">
                <a:solidFill>
                  <a:srgbClr val="000000"/>
                </a:solidFill>
                <a:latin typeface="楷体_GB2312" pitchFamily="49" charset="-122"/>
                <a:ea typeface="楷体_GB2312" pitchFamily="49" charset="-122"/>
              </a:rPr>
              <a:t>3</a:t>
            </a:r>
            <a:r>
              <a:rPr lang="zh-CN" altLang="en-US" sz="2400" b="1" dirty="0">
                <a:solidFill>
                  <a:srgbClr val="000000"/>
                </a:solidFill>
                <a:latin typeface="楷体_GB2312" pitchFamily="49" charset="-122"/>
                <a:ea typeface="楷体_GB2312" pitchFamily="49" charset="-122"/>
              </a:rPr>
              <a:t>年。</a:t>
            </a:r>
            <a:r>
              <a:rPr lang="en-US" altLang="zh-CN" sz="2400" b="1" dirty="0">
                <a:solidFill>
                  <a:srgbClr val="000000"/>
                </a:solidFill>
                <a:latin typeface="楷体_GB2312" pitchFamily="49" charset="-122"/>
                <a:ea typeface="楷体_GB2312" pitchFamily="49" charset="-122"/>
              </a:rPr>
              <a:t>6</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1</a:t>
            </a:r>
            <a:r>
              <a:rPr lang="zh-CN" altLang="en-US" sz="2400" b="1" dirty="0">
                <a:solidFill>
                  <a:srgbClr val="000000"/>
                </a:solidFill>
                <a:latin typeface="楷体_GB2312" pitchFamily="49" charset="-122"/>
                <a:ea typeface="楷体_GB2312" pitchFamily="49" charset="-122"/>
              </a:rPr>
              <a:t>日，</a:t>
            </a:r>
            <a:r>
              <a:rPr lang="en-US" altLang="zh-CN" sz="2400" b="1" dirty="0">
                <a:solidFill>
                  <a:srgbClr val="000000"/>
                </a:solidFill>
                <a:latin typeface="楷体_GB2312" pitchFamily="49" charset="-122"/>
                <a:ea typeface="楷体_GB2312" pitchFamily="49" charset="-122"/>
              </a:rPr>
              <a:t>A</a:t>
            </a:r>
            <a:r>
              <a:rPr lang="zh-CN" altLang="en-US" sz="2400" b="1" dirty="0">
                <a:solidFill>
                  <a:srgbClr val="000000"/>
                </a:solidFill>
                <a:latin typeface="楷体_GB2312" pitchFamily="49" charset="-122"/>
                <a:ea typeface="楷体_GB2312" pitchFamily="49" charset="-122"/>
              </a:rPr>
              <a:t>公司购入写字楼，其实际成本为</a:t>
            </a:r>
            <a:r>
              <a:rPr lang="en-US" altLang="zh-CN" sz="2400" b="1" dirty="0">
                <a:solidFill>
                  <a:srgbClr val="000000"/>
                </a:solidFill>
                <a:latin typeface="楷体_GB2312" pitchFamily="49" charset="-122"/>
                <a:ea typeface="楷体_GB2312" pitchFamily="49" charset="-122"/>
              </a:rPr>
              <a:t>500</a:t>
            </a:r>
            <a:r>
              <a:rPr lang="zh-CN" altLang="en-US" sz="2400" b="1" dirty="0">
                <a:solidFill>
                  <a:srgbClr val="000000"/>
                </a:solidFill>
                <a:latin typeface="楷体_GB2312" pitchFamily="49" charset="-122"/>
                <a:ea typeface="楷体_GB2312" pitchFamily="49" charset="-122"/>
              </a:rPr>
              <a:t>万元，增值税</a:t>
            </a:r>
            <a:r>
              <a:rPr lang="en-US" altLang="zh-CN" sz="2400" b="1" dirty="0">
                <a:solidFill>
                  <a:srgbClr val="000000"/>
                </a:solidFill>
                <a:latin typeface="楷体_GB2312" pitchFamily="49" charset="-122"/>
                <a:ea typeface="楷体_GB2312" pitchFamily="49" charset="-122"/>
              </a:rPr>
              <a:t>45</a:t>
            </a:r>
            <a:r>
              <a:rPr lang="zh-CN" altLang="en-US" sz="2400" b="1" dirty="0">
                <a:solidFill>
                  <a:srgbClr val="000000"/>
                </a:solidFill>
                <a:latin typeface="楷体_GB2312" pitchFamily="49" charset="-122"/>
                <a:ea typeface="楷体_GB2312" pitchFamily="49" charset="-122"/>
              </a:rPr>
              <a:t>万元，全部用银行存款支付。假定不考虑其他因素。</a:t>
            </a:r>
          </a:p>
          <a:p>
            <a:pPr>
              <a:lnSpc>
                <a:spcPct val="90000"/>
              </a:lnSpc>
            </a:pPr>
            <a:r>
              <a:rPr lang="en-US" altLang="zh-CN" sz="2400" b="1" dirty="0">
                <a:solidFill>
                  <a:srgbClr val="000000"/>
                </a:solidFill>
                <a:latin typeface="楷体_GB2312" pitchFamily="49" charset="-122"/>
                <a:ea typeface="楷体_GB2312" pitchFamily="49" charset="-122"/>
              </a:rPr>
              <a:t>A</a:t>
            </a:r>
            <a:r>
              <a:rPr lang="zh-CN" altLang="en-US" sz="2400" b="1" dirty="0">
                <a:solidFill>
                  <a:srgbClr val="000000"/>
                </a:solidFill>
                <a:latin typeface="楷体_GB2312" pitchFamily="49" charset="-122"/>
                <a:ea typeface="楷体_GB2312" pitchFamily="49" charset="-122"/>
              </a:rPr>
              <a:t>公司应于</a:t>
            </a:r>
            <a:r>
              <a:rPr lang="en-US" altLang="zh-CN" sz="2400" b="1" dirty="0">
                <a:solidFill>
                  <a:srgbClr val="000000"/>
                </a:solidFill>
                <a:latin typeface="楷体_GB2312" pitchFamily="49" charset="-122"/>
                <a:ea typeface="楷体_GB2312" pitchFamily="49" charset="-122"/>
              </a:rPr>
              <a:t>6</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1</a:t>
            </a:r>
            <a:r>
              <a:rPr lang="zh-CN" altLang="en-US" sz="2400" b="1" dirty="0">
                <a:solidFill>
                  <a:srgbClr val="000000"/>
                </a:solidFill>
                <a:latin typeface="楷体_GB2312" pitchFamily="49" charset="-122"/>
                <a:ea typeface="楷体_GB2312" pitchFamily="49" charset="-122"/>
              </a:rPr>
              <a:t>日编制如下会计分录：</a:t>
            </a:r>
          </a:p>
          <a:p>
            <a:pPr>
              <a:lnSpc>
                <a:spcPct val="90000"/>
              </a:lnSpc>
              <a:buFont typeface="Wingdings" pitchFamily="2" charset="2"/>
              <a:buNone/>
            </a:pPr>
            <a:r>
              <a:rPr lang="zh-CN" altLang="en-US" sz="2400" b="1" dirty="0">
                <a:solidFill>
                  <a:srgbClr val="000000"/>
                </a:solidFill>
                <a:latin typeface="楷体_GB2312" pitchFamily="49" charset="-122"/>
                <a:ea typeface="楷体_GB2312" pitchFamily="49" charset="-122"/>
              </a:rPr>
              <a:t>   借：投资性房地产                     </a:t>
            </a:r>
            <a:r>
              <a:rPr lang="en-US" altLang="zh-CN" sz="2400" b="1" dirty="0">
                <a:solidFill>
                  <a:srgbClr val="000000"/>
                </a:solidFill>
                <a:latin typeface="楷体_GB2312" pitchFamily="49" charset="-122"/>
                <a:ea typeface="楷体_GB2312" pitchFamily="49" charset="-122"/>
              </a:rPr>
              <a:t>5 000 000</a:t>
            </a:r>
          </a:p>
          <a:p>
            <a:pPr>
              <a:lnSpc>
                <a:spcPct val="90000"/>
              </a:lnSpc>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应交税费</a:t>
            </a:r>
            <a:r>
              <a:rPr lang="en-US" altLang="zh-CN" sz="2400" b="1" dirty="0">
                <a:solidFill>
                  <a:srgbClr val="000000"/>
                </a:solidFill>
                <a:latin typeface="楷体_GB2312" pitchFamily="49" charset="-122"/>
                <a:ea typeface="楷体_GB2312" pitchFamily="49" charset="-122"/>
              </a:rPr>
              <a:t>——</a:t>
            </a:r>
            <a:r>
              <a:rPr lang="zh-CN" altLang="en-US" sz="2400" b="1" dirty="0">
                <a:solidFill>
                  <a:srgbClr val="000000"/>
                </a:solidFill>
                <a:latin typeface="楷体_GB2312" pitchFamily="49" charset="-122"/>
                <a:ea typeface="楷体_GB2312" pitchFamily="49" charset="-122"/>
              </a:rPr>
              <a:t>应交增值税（进项税额） </a:t>
            </a:r>
            <a:r>
              <a:rPr lang="en-US" altLang="zh-CN" sz="2400" b="1" dirty="0">
                <a:solidFill>
                  <a:srgbClr val="000000"/>
                </a:solidFill>
                <a:latin typeface="楷体_GB2312" pitchFamily="49" charset="-122"/>
                <a:ea typeface="楷体_GB2312" pitchFamily="49" charset="-122"/>
              </a:rPr>
              <a:t>450 000</a:t>
            </a:r>
          </a:p>
          <a:p>
            <a:pPr>
              <a:lnSpc>
                <a:spcPct val="90000"/>
              </a:lnSpc>
              <a:buFont typeface="Wingdings" pitchFamily="2" charset="2"/>
              <a:buNone/>
            </a:pPr>
            <a:r>
              <a:rPr lang="zh-CN" altLang="en-US" sz="2400" b="1" dirty="0">
                <a:solidFill>
                  <a:srgbClr val="000000"/>
                </a:solidFill>
                <a:latin typeface="楷体_GB2312" pitchFamily="49" charset="-122"/>
                <a:ea typeface="楷体_GB2312" pitchFamily="49" charset="-122"/>
              </a:rPr>
              <a:t>       贷：银行存款                           </a:t>
            </a:r>
            <a:r>
              <a:rPr lang="en-US" altLang="zh-CN" sz="2400" b="1" dirty="0">
                <a:solidFill>
                  <a:srgbClr val="000000"/>
                </a:solidFill>
                <a:latin typeface="楷体_GB2312" pitchFamily="49" charset="-122"/>
                <a:ea typeface="楷体_GB2312" pitchFamily="49" charset="-122"/>
              </a:rPr>
              <a:t>5 450 000</a:t>
            </a:r>
          </a:p>
          <a:p>
            <a:pPr>
              <a:lnSpc>
                <a:spcPct val="90000"/>
              </a:lnSpc>
            </a:pPr>
            <a:endParaRPr lang="en-US" altLang="zh-CN" sz="2400" b="1" dirty="0">
              <a:solidFill>
                <a:srgbClr val="000000"/>
              </a:solidFill>
              <a:latin typeface="楷体_GB2312" pitchFamily="49" charset="-122"/>
              <a:ea typeface="楷体_GB2312" pitchFamily="49" charset="-122"/>
            </a:endParaRPr>
          </a:p>
          <a:p>
            <a:pPr>
              <a:lnSpc>
                <a:spcPct val="90000"/>
              </a:lnSpc>
            </a:pPr>
            <a:r>
              <a:rPr lang="zh-CN" altLang="en-US" sz="2400" b="1" dirty="0">
                <a:solidFill>
                  <a:srgbClr val="CC0066"/>
                </a:solidFill>
                <a:effectLst>
                  <a:outerShdw blurRad="38100" dist="38100" dir="2700000" algn="tl">
                    <a:srgbClr val="C0C0C0"/>
                  </a:outerShdw>
                </a:effectLst>
                <a:latin typeface="楷体_GB2312" pitchFamily="49" charset="-122"/>
                <a:ea typeface="楷体_GB2312" pitchFamily="49" charset="-122"/>
              </a:rPr>
              <a:t>问题</a:t>
            </a:r>
          </a:p>
          <a:p>
            <a:pPr>
              <a:lnSpc>
                <a:spcPct val="90000"/>
              </a:lnSpc>
              <a:buFont typeface="Wingdings" pitchFamily="2" charset="2"/>
              <a:buNone/>
            </a:pPr>
            <a:r>
              <a:rPr lang="zh-CN" altLang="en-US" sz="2400" b="1" dirty="0">
                <a:solidFill>
                  <a:srgbClr val="CC0066"/>
                </a:solidFill>
                <a:effectLst>
                  <a:outerShdw blurRad="38100" dist="38100" dir="2700000" algn="tl">
                    <a:srgbClr val="C0C0C0"/>
                  </a:outerShdw>
                </a:effectLst>
                <a:latin typeface="楷体_GB2312" pitchFamily="49" charset="-122"/>
                <a:ea typeface="楷体_GB2312" pitchFamily="49" charset="-122"/>
              </a:rPr>
              <a:t>（</a:t>
            </a:r>
            <a:r>
              <a:rPr lang="en-US" altLang="zh-CN" sz="2400" b="1" dirty="0">
                <a:solidFill>
                  <a:srgbClr val="CC0066"/>
                </a:solidFill>
                <a:effectLst>
                  <a:outerShdw blurRad="38100" dist="38100" dir="2700000" algn="tl">
                    <a:srgbClr val="C0C0C0"/>
                  </a:outerShdw>
                </a:effectLst>
                <a:latin typeface="楷体_GB2312" pitchFamily="49" charset="-122"/>
                <a:ea typeface="楷体_GB2312" pitchFamily="49" charset="-122"/>
              </a:rPr>
              <a:t>1</a:t>
            </a:r>
            <a:r>
              <a:rPr lang="zh-CN" altLang="en-US" sz="2400" b="1" dirty="0">
                <a:solidFill>
                  <a:srgbClr val="CC0066"/>
                </a:solidFill>
                <a:effectLst>
                  <a:outerShdw blurRad="38100" dist="38100" dir="2700000" algn="tl">
                    <a:srgbClr val="C0C0C0"/>
                  </a:outerShdw>
                </a:effectLst>
                <a:latin typeface="楷体_GB2312" pitchFamily="49" charset="-122"/>
                <a:ea typeface="楷体_GB2312" pitchFamily="49" charset="-122"/>
              </a:rPr>
              <a:t>）如果</a:t>
            </a:r>
            <a:r>
              <a:rPr lang="en-US" altLang="zh-CN" sz="2400" b="1" dirty="0">
                <a:solidFill>
                  <a:srgbClr val="CC0066"/>
                </a:solidFill>
                <a:effectLst>
                  <a:outerShdw blurRad="38100" dist="38100" dir="2700000" algn="tl">
                    <a:srgbClr val="C0C0C0"/>
                  </a:outerShdw>
                </a:effectLst>
                <a:latin typeface="楷体_GB2312" pitchFamily="49" charset="-122"/>
                <a:ea typeface="楷体_GB2312" pitchFamily="49" charset="-122"/>
              </a:rPr>
              <a:t>A</a:t>
            </a:r>
            <a:r>
              <a:rPr lang="zh-CN" altLang="en-US" sz="2400" b="1" dirty="0">
                <a:solidFill>
                  <a:srgbClr val="CC0066"/>
                </a:solidFill>
                <a:effectLst>
                  <a:outerShdw blurRad="38100" dist="38100" dir="2700000" algn="tl">
                    <a:srgbClr val="C0C0C0"/>
                  </a:outerShdw>
                </a:effectLst>
                <a:latin typeface="楷体_GB2312" pitchFamily="49" charset="-122"/>
                <a:ea typeface="楷体_GB2312" pitchFamily="49" charset="-122"/>
              </a:rPr>
              <a:t>公司与</a:t>
            </a:r>
            <a:r>
              <a:rPr lang="en-US" altLang="zh-CN" sz="2400" b="1" dirty="0">
                <a:solidFill>
                  <a:srgbClr val="CC0066"/>
                </a:solidFill>
                <a:effectLst>
                  <a:outerShdw blurRad="38100" dist="38100" dir="2700000" algn="tl">
                    <a:srgbClr val="C0C0C0"/>
                  </a:outerShdw>
                </a:effectLst>
                <a:latin typeface="楷体_GB2312" pitchFamily="49" charset="-122"/>
                <a:ea typeface="楷体_GB2312" pitchFamily="49" charset="-122"/>
              </a:rPr>
              <a:t>B</a:t>
            </a:r>
            <a:r>
              <a:rPr lang="zh-CN" altLang="en-US" sz="2400" b="1" dirty="0">
                <a:solidFill>
                  <a:srgbClr val="CC0066"/>
                </a:solidFill>
                <a:effectLst>
                  <a:outerShdw blurRad="38100" dist="38100" dir="2700000" algn="tl">
                    <a:srgbClr val="C0C0C0"/>
                  </a:outerShdw>
                </a:effectLst>
                <a:latin typeface="楷体_GB2312" pitchFamily="49" charset="-122"/>
                <a:ea typeface="楷体_GB2312" pitchFamily="49" charset="-122"/>
              </a:rPr>
              <a:t>公司约定自</a:t>
            </a:r>
            <a:r>
              <a:rPr lang="en-US" altLang="zh-CN" sz="2400" b="1" dirty="0">
                <a:solidFill>
                  <a:srgbClr val="CC0066"/>
                </a:solidFill>
                <a:effectLst>
                  <a:outerShdw blurRad="38100" dist="38100" dir="2700000" algn="tl">
                    <a:srgbClr val="C0C0C0"/>
                  </a:outerShdw>
                </a:effectLst>
                <a:latin typeface="楷体_GB2312" pitchFamily="49" charset="-122"/>
                <a:ea typeface="楷体_GB2312" pitchFamily="49" charset="-122"/>
              </a:rPr>
              <a:t>2×20</a:t>
            </a:r>
            <a:r>
              <a:rPr lang="zh-CN" altLang="en-US" sz="2400" b="1" dirty="0">
                <a:solidFill>
                  <a:srgbClr val="CC0066"/>
                </a:solidFill>
                <a:effectLst>
                  <a:outerShdw blurRad="38100" dist="38100" dir="2700000" algn="tl">
                    <a:srgbClr val="C0C0C0"/>
                  </a:outerShdw>
                </a:effectLst>
                <a:latin typeface="楷体_GB2312" pitchFamily="49" charset="-122"/>
                <a:ea typeface="楷体_GB2312" pitchFamily="49" charset="-122"/>
              </a:rPr>
              <a:t>年</a:t>
            </a:r>
            <a:r>
              <a:rPr lang="en-US" altLang="zh-CN" sz="2400" b="1" dirty="0">
                <a:solidFill>
                  <a:srgbClr val="CC0066"/>
                </a:solidFill>
                <a:effectLst>
                  <a:outerShdw blurRad="38100" dist="38100" dir="2700000" algn="tl">
                    <a:srgbClr val="C0C0C0"/>
                  </a:outerShdw>
                </a:effectLst>
                <a:latin typeface="楷体_GB2312" pitchFamily="49" charset="-122"/>
                <a:ea typeface="楷体_GB2312" pitchFamily="49" charset="-122"/>
              </a:rPr>
              <a:t>1</a:t>
            </a:r>
            <a:r>
              <a:rPr lang="zh-CN" altLang="en-US" sz="2400" b="1" dirty="0">
                <a:solidFill>
                  <a:srgbClr val="CC0066"/>
                </a:solidFill>
                <a:effectLst>
                  <a:outerShdw blurRad="38100" dist="38100" dir="2700000" algn="tl">
                    <a:srgbClr val="C0C0C0"/>
                  </a:outerShdw>
                </a:effectLst>
                <a:latin typeface="楷体_GB2312" pitchFamily="49" charset="-122"/>
                <a:ea typeface="楷体_GB2312" pitchFamily="49" charset="-122"/>
              </a:rPr>
              <a:t>月</a:t>
            </a:r>
            <a:r>
              <a:rPr lang="en-US" altLang="zh-CN" sz="2400" b="1" dirty="0">
                <a:solidFill>
                  <a:srgbClr val="CC0066"/>
                </a:solidFill>
                <a:effectLst>
                  <a:outerShdw blurRad="38100" dist="38100" dir="2700000" algn="tl">
                    <a:srgbClr val="C0C0C0"/>
                  </a:outerShdw>
                </a:effectLst>
                <a:latin typeface="楷体_GB2312" pitchFamily="49" charset="-122"/>
                <a:ea typeface="楷体_GB2312" pitchFamily="49" charset="-122"/>
              </a:rPr>
              <a:t>1</a:t>
            </a:r>
            <a:r>
              <a:rPr lang="zh-CN" altLang="en-US" sz="2400" b="1" dirty="0">
                <a:solidFill>
                  <a:srgbClr val="CC0066"/>
                </a:solidFill>
                <a:effectLst>
                  <a:outerShdw blurRad="38100" dist="38100" dir="2700000" algn="tl">
                    <a:srgbClr val="C0C0C0"/>
                  </a:outerShdw>
                </a:effectLst>
                <a:latin typeface="楷体_GB2312" pitchFamily="49" charset="-122"/>
                <a:ea typeface="楷体_GB2312" pitchFamily="49" charset="-122"/>
              </a:rPr>
              <a:t>日起将写字楼租赁给</a:t>
            </a:r>
            <a:r>
              <a:rPr lang="en-US" altLang="zh-CN" sz="2400" b="1" dirty="0">
                <a:solidFill>
                  <a:srgbClr val="CC0066"/>
                </a:solidFill>
                <a:effectLst>
                  <a:outerShdw blurRad="38100" dist="38100" dir="2700000" algn="tl">
                    <a:srgbClr val="C0C0C0"/>
                  </a:outerShdw>
                </a:effectLst>
                <a:latin typeface="楷体_GB2312" pitchFamily="49" charset="-122"/>
                <a:ea typeface="楷体_GB2312" pitchFamily="49" charset="-122"/>
              </a:rPr>
              <a:t>B</a:t>
            </a:r>
            <a:r>
              <a:rPr lang="zh-CN" altLang="en-US" sz="2400" b="1" dirty="0">
                <a:solidFill>
                  <a:srgbClr val="CC0066"/>
                </a:solidFill>
                <a:effectLst>
                  <a:outerShdw blurRad="38100" dist="38100" dir="2700000" algn="tl">
                    <a:srgbClr val="C0C0C0"/>
                  </a:outerShdw>
                </a:effectLst>
                <a:latin typeface="楷体_GB2312" pitchFamily="49" charset="-122"/>
                <a:ea typeface="楷体_GB2312" pitchFamily="49" charset="-122"/>
              </a:rPr>
              <a:t>公司使用，那么</a:t>
            </a:r>
            <a:r>
              <a:rPr lang="en-US" altLang="zh-CN" sz="2400" b="1" dirty="0">
                <a:solidFill>
                  <a:srgbClr val="CC0066"/>
                </a:solidFill>
                <a:effectLst>
                  <a:outerShdw blurRad="38100" dist="38100" dir="2700000" algn="tl">
                    <a:srgbClr val="C0C0C0"/>
                  </a:outerShdw>
                </a:effectLst>
                <a:latin typeface="楷体_GB2312" pitchFamily="49" charset="-122"/>
                <a:ea typeface="楷体_GB2312" pitchFamily="49" charset="-122"/>
              </a:rPr>
              <a:t>A</a:t>
            </a:r>
            <a:r>
              <a:rPr lang="zh-CN" altLang="en-US" sz="2400" b="1" dirty="0">
                <a:solidFill>
                  <a:srgbClr val="CC0066"/>
                </a:solidFill>
                <a:effectLst>
                  <a:outerShdw blurRad="38100" dist="38100" dir="2700000" algn="tl">
                    <a:srgbClr val="C0C0C0"/>
                  </a:outerShdw>
                </a:effectLst>
                <a:latin typeface="楷体_GB2312" pitchFamily="49" charset="-122"/>
                <a:ea typeface="楷体_GB2312" pitchFamily="49" charset="-122"/>
              </a:rPr>
              <a:t>公司在购入该房地产时该如何处理？</a:t>
            </a:r>
          </a:p>
        </p:txBody>
      </p:sp>
    </p:spTree>
    <p:extLst>
      <p:ext uri="{BB962C8B-B14F-4D97-AF65-F5344CB8AC3E}">
        <p14:creationId xmlns:p14="http://schemas.microsoft.com/office/powerpoint/2010/main" val="3576153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blinds(horizontal)">
                                      <p:cBhvr>
                                        <p:cTn id="7" dur="500"/>
                                        <p:tgtEl>
                                          <p:spTgt spid="8">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animEffect transition="in" filter="blinds(horizontal)">
                                      <p:cBhvr>
                                        <p:cTn id="10" dur="500"/>
                                        <p:tgtEl>
                                          <p:spTgt spid="8">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Effect transition="in" filter="blinds(horizontal)">
                                      <p:cBhvr>
                                        <p:cTn id="13" dur="500"/>
                                        <p:tgtEl>
                                          <p:spTgt spid="8">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8">
                                            <p:txEl>
                                              <p:pRg st="4" end="4"/>
                                            </p:txEl>
                                          </p:spTgt>
                                        </p:tgtEl>
                                        <p:attrNameLst>
                                          <p:attrName>style.visibility</p:attrName>
                                        </p:attrNameLst>
                                      </p:cBhvr>
                                      <p:to>
                                        <p:strVal val="visible"/>
                                      </p:to>
                                    </p:set>
                                    <p:animEffect transition="in" filter="blinds(horizontal)">
                                      <p:cBhvr>
                                        <p:cTn id="16" dur="500"/>
                                        <p:tgtEl>
                                          <p:spTgt spid="8">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8">
                                            <p:txEl>
                                              <p:pRg st="6" end="6"/>
                                            </p:txEl>
                                          </p:spTgt>
                                        </p:tgtEl>
                                        <p:attrNameLst>
                                          <p:attrName>style.visibility</p:attrName>
                                        </p:attrNameLst>
                                      </p:cBhvr>
                                      <p:to>
                                        <p:strVal val="visible"/>
                                      </p:to>
                                    </p:set>
                                    <p:animEffect transition="in" filter="blinds(horizontal)">
                                      <p:cBhvr>
                                        <p:cTn id="21" dur="500"/>
                                        <p:tgtEl>
                                          <p:spTgt spid="8">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8">
                                            <p:txEl>
                                              <p:pRg st="7" end="7"/>
                                            </p:txEl>
                                          </p:spTgt>
                                        </p:tgtEl>
                                        <p:attrNameLst>
                                          <p:attrName>style.visibility</p:attrName>
                                        </p:attrNameLst>
                                      </p:cBhvr>
                                      <p:to>
                                        <p:strVal val="visible"/>
                                      </p:to>
                                    </p:set>
                                    <p:animEffect transition="in" filter="blinds(horizontal)">
                                      <p:cBhvr>
                                        <p:cTn id="24"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95FE3BD-9EA0-4B4F-B9BD-CF74CCA28CA8}"/>
              </a:ext>
            </a:extLst>
          </p:cNvPr>
          <p:cNvSpPr>
            <a:spLocks noGrp="1" noRot="1" noChangeArrowheads="1"/>
          </p:cNvSpPr>
          <p:nvPr>
            <p:ph type="title"/>
          </p:nvPr>
        </p:nvSpPr>
        <p:spPr>
          <a:xfrm>
            <a:off x="1672558" y="725487"/>
            <a:ext cx="8540750" cy="914400"/>
          </a:xfrm>
        </p:spPr>
        <p:txBody>
          <a:bodyPr>
            <a:normAutofit/>
          </a:bodyPr>
          <a:lstStyle/>
          <a:p>
            <a:r>
              <a:rPr lang="zh-CN" altLang="en-US" sz="3200" b="1" dirty="0">
                <a:solidFill>
                  <a:srgbClr val="000000"/>
                </a:solidFill>
                <a:latin typeface="黑体" panose="02010609060101010101" pitchFamily="49" charset="-122"/>
                <a:ea typeface="黑体" panose="02010609060101010101" pitchFamily="49" charset="-122"/>
              </a:rPr>
              <a:t>（二）自行建造投资性房地产</a:t>
            </a:r>
          </a:p>
        </p:txBody>
      </p:sp>
      <p:sp>
        <p:nvSpPr>
          <p:cNvPr id="6" name="Rectangle 3">
            <a:extLst>
              <a:ext uri="{FF2B5EF4-FFF2-40B4-BE49-F238E27FC236}">
                <a16:creationId xmlns:a16="http://schemas.microsoft.com/office/drawing/2014/main" id="{5F279AC1-DE5F-4861-B974-2F840C0C9576}"/>
              </a:ext>
            </a:extLst>
          </p:cNvPr>
          <p:cNvSpPr>
            <a:spLocks noGrp="1" noRot="1" noChangeArrowheads="1"/>
          </p:cNvSpPr>
          <p:nvPr>
            <p:ph idx="1"/>
          </p:nvPr>
        </p:nvSpPr>
        <p:spPr>
          <a:xfrm>
            <a:off x="1576388" y="2017713"/>
            <a:ext cx="10363200" cy="4114800"/>
          </a:xfrm>
        </p:spPr>
        <p:txBody>
          <a:bodyPr>
            <a:normAutofit fontScale="92500" lnSpcReduction="20000"/>
          </a:bodyPr>
          <a:lstStyle/>
          <a:p>
            <a:pPr>
              <a:lnSpc>
                <a:spcPct val="110000"/>
              </a:lnSpc>
            </a:pPr>
            <a:r>
              <a:rPr lang="zh-CN" altLang="en-US" sz="2800" b="1" dirty="0">
                <a:solidFill>
                  <a:schemeClr val="tx2"/>
                </a:solidFill>
                <a:ea typeface="楷体_GB2312" pitchFamily="49" charset="-122"/>
              </a:rPr>
              <a:t>确认条件</a:t>
            </a:r>
            <a:r>
              <a:rPr lang="zh-CN" altLang="en-US" sz="2800" b="1" dirty="0">
                <a:solidFill>
                  <a:srgbClr val="000000"/>
                </a:solidFill>
                <a:ea typeface="楷体_GB2312" pitchFamily="49" charset="-122"/>
              </a:rPr>
              <a:t>：企业</a:t>
            </a:r>
            <a:r>
              <a:rPr lang="zh-CN" altLang="en-US" sz="2800" b="1" dirty="0">
                <a:solidFill>
                  <a:srgbClr val="FF0000"/>
                </a:solidFill>
                <a:ea typeface="楷体_GB2312" pitchFamily="49" charset="-122"/>
              </a:rPr>
              <a:t>只有</a:t>
            </a:r>
            <a:r>
              <a:rPr lang="zh-CN" altLang="en-US" sz="2800" b="1" dirty="0">
                <a:solidFill>
                  <a:srgbClr val="000000"/>
                </a:solidFill>
                <a:ea typeface="楷体_GB2312" pitchFamily="49" charset="-122"/>
              </a:rPr>
              <a:t>在自行建造或开发活动</a:t>
            </a:r>
            <a:r>
              <a:rPr lang="zh-CN" altLang="en-US" sz="2800" b="1" dirty="0">
                <a:solidFill>
                  <a:srgbClr val="CC0066"/>
                </a:solidFill>
                <a:ea typeface="楷体_GB2312" pitchFamily="49" charset="-122"/>
              </a:rPr>
              <a:t>完成的同时开始出租</a:t>
            </a:r>
            <a:r>
              <a:rPr lang="zh-CN" altLang="en-US" sz="2800" b="1" dirty="0">
                <a:solidFill>
                  <a:srgbClr val="000000"/>
                </a:solidFill>
                <a:ea typeface="楷体_GB2312" pitchFamily="49" charset="-122"/>
              </a:rPr>
              <a:t>，才能将自行建造或开发完成的房地产确认为投资性房地产。</a:t>
            </a:r>
          </a:p>
          <a:p>
            <a:pPr>
              <a:lnSpc>
                <a:spcPct val="110000"/>
              </a:lnSpc>
            </a:pPr>
            <a:endParaRPr lang="zh-CN" altLang="en-US" sz="2800" b="1" dirty="0">
              <a:solidFill>
                <a:srgbClr val="000000"/>
              </a:solidFill>
              <a:ea typeface="楷体_GB2312" pitchFamily="49" charset="-122"/>
            </a:endParaRPr>
          </a:p>
          <a:p>
            <a:pPr>
              <a:lnSpc>
                <a:spcPct val="110000"/>
              </a:lnSpc>
            </a:pPr>
            <a:r>
              <a:rPr lang="zh-CN" altLang="en-US" sz="2800" b="1" dirty="0">
                <a:solidFill>
                  <a:schemeClr val="tx2"/>
                </a:solidFill>
                <a:ea typeface="楷体_GB2312" pitchFamily="49" charset="-122"/>
              </a:rPr>
              <a:t>成本：</a:t>
            </a:r>
            <a:r>
              <a:rPr lang="zh-CN" altLang="en-US" sz="2800" b="1" dirty="0">
                <a:solidFill>
                  <a:srgbClr val="000000"/>
                </a:solidFill>
                <a:ea typeface="楷体_GB2312" pitchFamily="49" charset="-122"/>
              </a:rPr>
              <a:t>由</a:t>
            </a:r>
            <a:r>
              <a:rPr lang="zh-CN" altLang="en-US" sz="2800" b="1" dirty="0">
                <a:solidFill>
                  <a:srgbClr val="FF0000"/>
                </a:solidFill>
                <a:ea typeface="楷体_GB2312" pitchFamily="49" charset="-122"/>
              </a:rPr>
              <a:t>建造该项资产达到预定可使用状态前所发生的必要支出</a:t>
            </a:r>
            <a:r>
              <a:rPr lang="zh-CN" altLang="en-US" sz="2800" b="1" dirty="0">
                <a:solidFill>
                  <a:srgbClr val="000000"/>
                </a:solidFill>
                <a:ea typeface="楷体_GB2312" pitchFamily="49" charset="-122"/>
              </a:rPr>
              <a:t>构成。</a:t>
            </a:r>
            <a:r>
              <a:rPr lang="zh-CN" altLang="en-US" sz="2800" b="1" dirty="0">
                <a:solidFill>
                  <a:srgbClr val="FF0000"/>
                </a:solidFill>
                <a:ea typeface="楷体_GB2312" pitchFamily="49" charset="-122"/>
              </a:rPr>
              <a:t>包括</a:t>
            </a:r>
            <a:r>
              <a:rPr lang="zh-CN" altLang="en-US" sz="2800" b="1" dirty="0">
                <a:solidFill>
                  <a:srgbClr val="000000"/>
                </a:solidFill>
                <a:ea typeface="楷体_GB2312" pitchFamily="49" charset="-122"/>
              </a:rPr>
              <a:t>：</a:t>
            </a:r>
            <a:r>
              <a:rPr lang="zh-CN" altLang="en-US" sz="2800" b="1" dirty="0">
                <a:solidFill>
                  <a:srgbClr val="336600"/>
                </a:solidFill>
                <a:ea typeface="楷体_GB2312" pitchFamily="49" charset="-122"/>
              </a:rPr>
              <a:t>土地开发费、建筑成本、安装成本、应予资本化的借款费用、支付的其他费用和分摊的间接费用等</a:t>
            </a:r>
            <a:r>
              <a:rPr lang="zh-CN" altLang="en-US" sz="2800" b="1" dirty="0">
                <a:solidFill>
                  <a:srgbClr val="000000"/>
                </a:solidFill>
                <a:ea typeface="楷体_GB2312" pitchFamily="49" charset="-122"/>
              </a:rPr>
              <a:t>。建造过程中发生的非正常损失，直接计入当期损益，不计入建造成本。</a:t>
            </a:r>
            <a:endParaRPr lang="en-US" altLang="zh-CN" sz="2800" b="1" dirty="0">
              <a:solidFill>
                <a:srgbClr val="000000"/>
              </a:solidFill>
              <a:ea typeface="楷体_GB2312" pitchFamily="49" charset="-122"/>
            </a:endParaRPr>
          </a:p>
          <a:p>
            <a:pPr>
              <a:lnSpc>
                <a:spcPct val="110000"/>
              </a:lnSpc>
            </a:pPr>
            <a:endParaRPr lang="en-US" altLang="zh-CN" sz="2800" dirty="0"/>
          </a:p>
          <a:p>
            <a:pPr>
              <a:lnSpc>
                <a:spcPct val="110000"/>
              </a:lnSpc>
            </a:pPr>
            <a:r>
              <a:rPr lang="zh-CN" altLang="en-US" sz="2800" dirty="0"/>
              <a:t>通过“在建工程”、“无形资产”、“开发成本”等账户先归集，然后转入“投资性房地产”</a:t>
            </a:r>
          </a:p>
          <a:p>
            <a:pPr>
              <a:lnSpc>
                <a:spcPct val="110000"/>
              </a:lnSpc>
            </a:pPr>
            <a:endParaRPr lang="en-US" altLang="zh-CN" sz="2800" b="1" dirty="0">
              <a:solidFill>
                <a:srgbClr val="000000"/>
              </a:solidFill>
              <a:ea typeface="楷体_GB2312" pitchFamily="49" charset="-122"/>
            </a:endParaRPr>
          </a:p>
          <a:p>
            <a:pPr>
              <a:lnSpc>
                <a:spcPct val="110000"/>
              </a:lnSpc>
            </a:pPr>
            <a:endParaRPr lang="zh-CN" altLang="en-US" sz="2800" b="1" dirty="0">
              <a:solidFill>
                <a:srgbClr val="000000"/>
              </a:solidFill>
              <a:ea typeface="楷体_GB2312" pitchFamily="49" charset="-122"/>
            </a:endParaRPr>
          </a:p>
        </p:txBody>
      </p:sp>
    </p:spTree>
    <p:extLst>
      <p:ext uri="{BB962C8B-B14F-4D97-AF65-F5344CB8AC3E}">
        <p14:creationId xmlns:p14="http://schemas.microsoft.com/office/powerpoint/2010/main" val="1992013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F86E6AA6-4922-47A2-B7B3-FFE826123102}"/>
              </a:ext>
            </a:extLst>
          </p:cNvPr>
          <p:cNvSpPr>
            <a:spLocks noGrp="1" noRot="1" noChangeArrowheads="1"/>
          </p:cNvSpPr>
          <p:nvPr>
            <p:ph type="title"/>
          </p:nvPr>
        </p:nvSpPr>
        <p:spPr>
          <a:xfrm>
            <a:off x="1576917" y="1071923"/>
            <a:ext cx="8540750" cy="609600"/>
          </a:xfrm>
        </p:spPr>
        <p:txBody>
          <a:bodyPr>
            <a:normAutofit/>
          </a:bodyPr>
          <a:lstStyle/>
          <a:p>
            <a:r>
              <a:rPr lang="zh-CN" altLang="en-US" sz="3200" b="1" dirty="0">
                <a:solidFill>
                  <a:srgbClr val="000000"/>
                </a:solidFill>
                <a:latin typeface="黑体" panose="02010609060101010101" pitchFamily="49" charset="-122"/>
                <a:ea typeface="黑体" panose="02010609060101010101" pitchFamily="49" charset="-122"/>
              </a:rPr>
              <a:t>（二）自行建造投资性房地产</a:t>
            </a:r>
          </a:p>
        </p:txBody>
      </p:sp>
      <p:sp>
        <p:nvSpPr>
          <p:cNvPr id="6" name="Rectangle 3">
            <a:extLst>
              <a:ext uri="{FF2B5EF4-FFF2-40B4-BE49-F238E27FC236}">
                <a16:creationId xmlns:a16="http://schemas.microsoft.com/office/drawing/2014/main" id="{B92EAF15-574E-40D8-A965-F5952F59D695}"/>
              </a:ext>
            </a:extLst>
          </p:cNvPr>
          <p:cNvSpPr>
            <a:spLocks noGrp="1" noRot="1" noChangeArrowheads="1"/>
          </p:cNvSpPr>
          <p:nvPr>
            <p:ph idx="1"/>
          </p:nvPr>
        </p:nvSpPr>
        <p:spPr>
          <a:xfrm>
            <a:off x="1576388" y="2017713"/>
            <a:ext cx="10363200" cy="4736553"/>
          </a:xfrm>
        </p:spPr>
        <p:txBody>
          <a:bodyPr/>
          <a:lstStyle/>
          <a:p>
            <a:pPr>
              <a:lnSpc>
                <a:spcPct val="80000"/>
              </a:lnSpc>
            </a:pPr>
            <a:r>
              <a:rPr lang="zh-CN" altLang="en-US" sz="2400" b="1" dirty="0">
                <a:solidFill>
                  <a:srgbClr val="FF0000"/>
                </a:solidFill>
                <a:latin typeface="楷体_GB2312" pitchFamily="49" charset="-122"/>
                <a:ea typeface="楷体_GB2312" pitchFamily="49" charset="-122"/>
              </a:rPr>
              <a:t>例：</a:t>
            </a:r>
            <a:r>
              <a:rPr lang="en-US" altLang="zh-CN" sz="2400" b="1" dirty="0">
                <a:solidFill>
                  <a:srgbClr val="000000"/>
                </a:solidFill>
                <a:latin typeface="楷体_GB2312" pitchFamily="49" charset="-122"/>
                <a:ea typeface="楷体_GB2312" pitchFamily="49" charset="-122"/>
              </a:rPr>
              <a:t>X</a:t>
            </a:r>
            <a:r>
              <a:rPr lang="zh-CN" altLang="en-US" sz="2400" b="1" dirty="0">
                <a:solidFill>
                  <a:srgbClr val="000000"/>
                </a:solidFill>
                <a:latin typeface="楷体_GB2312" pitchFamily="49" charset="-122"/>
                <a:ea typeface="楷体_GB2312" pitchFamily="49" charset="-122"/>
              </a:rPr>
              <a:t>公司</a:t>
            </a:r>
            <a:r>
              <a:rPr lang="en-US" altLang="zh-CN" sz="2400" b="1" dirty="0">
                <a:solidFill>
                  <a:srgbClr val="000000"/>
                </a:solidFill>
                <a:latin typeface="楷体_GB2312" pitchFamily="49" charset="-122"/>
                <a:ea typeface="楷体_GB2312" pitchFamily="49" charset="-122"/>
              </a:rPr>
              <a:t>2×19</a:t>
            </a:r>
            <a:r>
              <a:rPr lang="zh-CN" altLang="en-US" sz="2400" b="1" dirty="0">
                <a:solidFill>
                  <a:srgbClr val="000000"/>
                </a:solidFill>
                <a:latin typeface="楷体_GB2312" pitchFamily="49" charset="-122"/>
                <a:ea typeface="楷体_GB2312" pitchFamily="49" charset="-122"/>
              </a:rPr>
              <a:t>年</a:t>
            </a:r>
            <a:r>
              <a:rPr lang="en-US" altLang="zh-CN" sz="2400" b="1" dirty="0">
                <a:solidFill>
                  <a:srgbClr val="000000"/>
                </a:solidFill>
                <a:latin typeface="楷体_GB2312" pitchFamily="49" charset="-122"/>
                <a:ea typeface="楷体_GB2312" pitchFamily="49" charset="-122"/>
              </a:rPr>
              <a:t>2</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1</a:t>
            </a:r>
            <a:r>
              <a:rPr lang="zh-CN" altLang="en-US" sz="2400" b="1" dirty="0">
                <a:solidFill>
                  <a:srgbClr val="000000"/>
                </a:solidFill>
                <a:latin typeface="楷体_GB2312" pitchFamily="49" charset="-122"/>
                <a:ea typeface="楷体_GB2312" pitchFamily="49" charset="-122"/>
              </a:rPr>
              <a:t>日购入一块土地使用权，并在这块土地上开始采用出包方式建造两栋写字楼。</a:t>
            </a:r>
            <a:r>
              <a:rPr lang="en-US" altLang="zh-CN" sz="2400" b="1" dirty="0">
                <a:solidFill>
                  <a:srgbClr val="000000"/>
                </a:solidFill>
                <a:latin typeface="楷体_GB2312" pitchFamily="49" charset="-122"/>
                <a:ea typeface="楷体_GB2312" pitchFamily="49" charset="-122"/>
              </a:rPr>
              <a:t>2×20</a:t>
            </a:r>
            <a:r>
              <a:rPr lang="zh-CN" altLang="en-US" sz="2400" b="1" dirty="0">
                <a:solidFill>
                  <a:srgbClr val="000000"/>
                </a:solidFill>
                <a:latin typeface="楷体_GB2312" pitchFamily="49" charset="-122"/>
                <a:ea typeface="楷体_GB2312" pitchFamily="49" charset="-122"/>
              </a:rPr>
              <a:t>年</a:t>
            </a:r>
            <a:r>
              <a:rPr lang="en-US" altLang="zh-CN" sz="2400" b="1" dirty="0">
                <a:solidFill>
                  <a:srgbClr val="000000"/>
                </a:solidFill>
                <a:latin typeface="楷体_GB2312" pitchFamily="49" charset="-122"/>
                <a:ea typeface="楷体_GB2312" pitchFamily="49" charset="-122"/>
              </a:rPr>
              <a:t>5</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X</a:t>
            </a:r>
            <a:r>
              <a:rPr lang="zh-CN" altLang="en-US" sz="2400" b="1" dirty="0">
                <a:solidFill>
                  <a:srgbClr val="000000"/>
                </a:solidFill>
                <a:latin typeface="楷体_GB2312" pitchFamily="49" charset="-122"/>
                <a:ea typeface="楷体_GB2312" pitchFamily="49" charset="-122"/>
              </a:rPr>
              <a:t>公司预计写字楼即将完工，与</a:t>
            </a:r>
            <a:r>
              <a:rPr lang="en-US" altLang="zh-CN" sz="2400" b="1" dirty="0">
                <a:solidFill>
                  <a:srgbClr val="000000"/>
                </a:solidFill>
                <a:latin typeface="楷体_GB2312" pitchFamily="49" charset="-122"/>
                <a:ea typeface="楷体_GB2312" pitchFamily="49" charset="-122"/>
              </a:rPr>
              <a:t>Y</a:t>
            </a:r>
            <a:r>
              <a:rPr lang="zh-CN" altLang="en-US" sz="2400" b="1" dirty="0">
                <a:solidFill>
                  <a:srgbClr val="000000"/>
                </a:solidFill>
                <a:latin typeface="楷体_GB2312" pitchFamily="49" charset="-122"/>
                <a:ea typeface="楷体_GB2312" pitchFamily="49" charset="-122"/>
              </a:rPr>
              <a:t>公司签订了经营租赁合同，将其中一栋写字楼出租给</a:t>
            </a:r>
            <a:r>
              <a:rPr lang="en-US" altLang="zh-CN" sz="2400" b="1" dirty="0">
                <a:solidFill>
                  <a:srgbClr val="000000"/>
                </a:solidFill>
                <a:latin typeface="楷体_GB2312" pitchFamily="49" charset="-122"/>
                <a:ea typeface="楷体_GB2312" pitchFamily="49" charset="-122"/>
              </a:rPr>
              <a:t>Y</a:t>
            </a:r>
            <a:r>
              <a:rPr lang="zh-CN" altLang="en-US" sz="2400" b="1" dirty="0">
                <a:solidFill>
                  <a:srgbClr val="000000"/>
                </a:solidFill>
                <a:latin typeface="楷体_GB2312" pitchFamily="49" charset="-122"/>
                <a:ea typeface="楷体_GB2312" pitchFamily="49" charset="-122"/>
              </a:rPr>
              <a:t>公司使用，一栋自用。合同规定，该写字楼于完工时开始起租。</a:t>
            </a:r>
            <a:r>
              <a:rPr lang="en-US" altLang="zh-CN" sz="2400" b="1" dirty="0">
                <a:solidFill>
                  <a:srgbClr val="000000"/>
                </a:solidFill>
                <a:latin typeface="楷体_GB2312" pitchFamily="49" charset="-122"/>
                <a:ea typeface="楷体_GB2312" pitchFamily="49" charset="-122"/>
              </a:rPr>
              <a:t>2×20</a:t>
            </a:r>
            <a:r>
              <a:rPr lang="zh-CN" altLang="en-US" sz="2400" b="1" dirty="0">
                <a:solidFill>
                  <a:srgbClr val="000000"/>
                </a:solidFill>
                <a:latin typeface="楷体_GB2312" pitchFamily="49" charset="-122"/>
                <a:ea typeface="楷体_GB2312" pitchFamily="49" charset="-122"/>
              </a:rPr>
              <a:t>年</a:t>
            </a:r>
            <a:r>
              <a:rPr lang="en-US" altLang="zh-CN" sz="2400" b="1" dirty="0">
                <a:solidFill>
                  <a:srgbClr val="000000"/>
                </a:solidFill>
                <a:latin typeface="楷体_GB2312" pitchFamily="49" charset="-122"/>
                <a:ea typeface="楷体_GB2312" pitchFamily="49" charset="-122"/>
              </a:rPr>
              <a:t>8</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1</a:t>
            </a:r>
            <a:r>
              <a:rPr lang="zh-CN" altLang="en-US" sz="2400" b="1" dirty="0">
                <a:solidFill>
                  <a:srgbClr val="000000"/>
                </a:solidFill>
                <a:latin typeface="楷体_GB2312" pitchFamily="49" charset="-122"/>
                <a:ea typeface="楷体_GB2312" pitchFamily="49" charset="-122"/>
              </a:rPr>
              <a:t>日，两栋写字楼同时完工。该块土地使用权的成本为</a:t>
            </a:r>
            <a:r>
              <a:rPr lang="en-US" altLang="zh-CN" sz="2400" b="1" dirty="0">
                <a:solidFill>
                  <a:srgbClr val="000000"/>
                </a:solidFill>
                <a:latin typeface="楷体_GB2312" pitchFamily="49" charset="-122"/>
                <a:ea typeface="楷体_GB2312" pitchFamily="49" charset="-122"/>
              </a:rPr>
              <a:t>500</a:t>
            </a:r>
            <a:r>
              <a:rPr lang="zh-CN" altLang="en-US" sz="2400" b="1" dirty="0">
                <a:solidFill>
                  <a:srgbClr val="000000"/>
                </a:solidFill>
                <a:latin typeface="楷体_GB2312" pitchFamily="49" charset="-122"/>
                <a:ea typeface="楷体_GB2312" pitchFamily="49" charset="-122"/>
              </a:rPr>
              <a:t>万元，出租的写字楼应分摊的土地使用权为</a:t>
            </a:r>
            <a:r>
              <a:rPr lang="en-US" altLang="zh-CN" sz="2400" b="1" dirty="0">
                <a:solidFill>
                  <a:srgbClr val="000000"/>
                </a:solidFill>
                <a:latin typeface="楷体_GB2312" pitchFamily="49" charset="-122"/>
                <a:ea typeface="楷体_GB2312" pitchFamily="49" charset="-122"/>
              </a:rPr>
              <a:t>200</a:t>
            </a:r>
            <a:r>
              <a:rPr lang="zh-CN" altLang="en-US" sz="2400" b="1" dirty="0">
                <a:solidFill>
                  <a:srgbClr val="000000"/>
                </a:solidFill>
                <a:latin typeface="楷体_GB2312" pitchFamily="49" charset="-122"/>
                <a:ea typeface="楷体_GB2312" pitchFamily="49" charset="-122"/>
              </a:rPr>
              <a:t>万元，出租写字楼的工程造价为</a:t>
            </a:r>
            <a:r>
              <a:rPr lang="en-US" altLang="zh-CN" sz="2400" b="1" dirty="0">
                <a:solidFill>
                  <a:srgbClr val="000000"/>
                </a:solidFill>
                <a:latin typeface="楷体_GB2312" pitchFamily="49" charset="-122"/>
                <a:ea typeface="楷体_GB2312" pitchFamily="49" charset="-122"/>
              </a:rPr>
              <a:t>600</a:t>
            </a:r>
            <a:r>
              <a:rPr lang="zh-CN" altLang="en-US" sz="2400" b="1" dirty="0">
                <a:solidFill>
                  <a:srgbClr val="000000"/>
                </a:solidFill>
                <a:latin typeface="楷体_GB2312" pitchFamily="49" charset="-122"/>
                <a:ea typeface="楷体_GB2312" pitchFamily="49" charset="-122"/>
              </a:rPr>
              <a:t>万元，另一栋写字楼的造价为</a:t>
            </a:r>
            <a:r>
              <a:rPr lang="en-US" altLang="zh-CN" sz="2400" b="1" dirty="0">
                <a:solidFill>
                  <a:srgbClr val="000000"/>
                </a:solidFill>
                <a:latin typeface="楷体_GB2312" pitchFamily="49" charset="-122"/>
                <a:ea typeface="楷体_GB2312" pitchFamily="49" charset="-122"/>
              </a:rPr>
              <a:t>800</a:t>
            </a:r>
            <a:r>
              <a:rPr lang="zh-CN" altLang="en-US" sz="2400" b="1" dirty="0">
                <a:solidFill>
                  <a:srgbClr val="000000"/>
                </a:solidFill>
                <a:latin typeface="楷体_GB2312" pitchFamily="49" charset="-122"/>
                <a:ea typeface="楷体_GB2312" pitchFamily="49" charset="-122"/>
              </a:rPr>
              <a:t>万元。</a:t>
            </a:r>
            <a:endParaRPr lang="en-US" altLang="zh-CN" sz="2400" b="1" dirty="0">
              <a:solidFill>
                <a:srgbClr val="000000"/>
              </a:solidFill>
              <a:latin typeface="楷体_GB2312" pitchFamily="49" charset="-122"/>
              <a:ea typeface="楷体_GB2312" pitchFamily="49" charset="-122"/>
            </a:endParaRPr>
          </a:p>
          <a:p>
            <a:pPr>
              <a:lnSpc>
                <a:spcPct val="80000"/>
              </a:lnSpc>
            </a:pPr>
            <a:endParaRPr lang="zh-CN" altLang="en-US" sz="2400" b="1" dirty="0">
              <a:solidFill>
                <a:srgbClr val="000000"/>
              </a:solidFill>
              <a:latin typeface="楷体_GB2312" pitchFamily="49" charset="-122"/>
              <a:ea typeface="楷体_GB2312" pitchFamily="49" charset="-122"/>
            </a:endParaRPr>
          </a:p>
          <a:p>
            <a:pPr>
              <a:lnSpc>
                <a:spcPct val="80000"/>
              </a:lnSpc>
            </a:pPr>
            <a:r>
              <a:rPr lang="en-US" altLang="zh-CN" sz="2400" b="1" dirty="0">
                <a:solidFill>
                  <a:srgbClr val="000000"/>
                </a:solidFill>
                <a:latin typeface="楷体_GB2312" pitchFamily="49" charset="-122"/>
                <a:ea typeface="楷体_GB2312" pitchFamily="49" charset="-122"/>
              </a:rPr>
              <a:t>X</a:t>
            </a:r>
            <a:r>
              <a:rPr lang="zh-CN" altLang="en-US" sz="2400" b="1" dirty="0">
                <a:solidFill>
                  <a:srgbClr val="000000"/>
                </a:solidFill>
                <a:latin typeface="楷体_GB2312" pitchFamily="49" charset="-122"/>
                <a:ea typeface="楷体_GB2312" pitchFamily="49" charset="-122"/>
              </a:rPr>
              <a:t>公司在</a:t>
            </a:r>
            <a:r>
              <a:rPr lang="en-US" altLang="zh-CN" sz="2400" b="1" dirty="0">
                <a:solidFill>
                  <a:srgbClr val="000000"/>
                </a:solidFill>
                <a:latin typeface="楷体_GB2312" pitchFamily="49" charset="-122"/>
                <a:ea typeface="楷体_GB2312" pitchFamily="49" charset="-122"/>
              </a:rPr>
              <a:t>2×20</a:t>
            </a:r>
            <a:r>
              <a:rPr lang="zh-CN" altLang="en-US" sz="2400" b="1" dirty="0">
                <a:solidFill>
                  <a:srgbClr val="000000"/>
                </a:solidFill>
                <a:latin typeface="楷体_GB2312" pitchFamily="49" charset="-122"/>
                <a:ea typeface="楷体_GB2312" pitchFamily="49" charset="-122"/>
              </a:rPr>
              <a:t>年</a:t>
            </a:r>
            <a:r>
              <a:rPr lang="en-US" altLang="zh-CN" sz="2400" b="1" dirty="0">
                <a:solidFill>
                  <a:srgbClr val="000000"/>
                </a:solidFill>
                <a:latin typeface="楷体_GB2312" pitchFamily="49" charset="-122"/>
                <a:ea typeface="楷体_GB2312" pitchFamily="49" charset="-122"/>
              </a:rPr>
              <a:t>8</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1</a:t>
            </a:r>
            <a:r>
              <a:rPr lang="zh-CN" altLang="en-US" sz="2400" b="1" dirty="0">
                <a:solidFill>
                  <a:srgbClr val="000000"/>
                </a:solidFill>
                <a:latin typeface="楷体_GB2312" pitchFamily="49" charset="-122"/>
                <a:ea typeface="楷体_GB2312" pitchFamily="49" charset="-122"/>
              </a:rPr>
              <a:t>日应进行的账务处理为：</a:t>
            </a:r>
          </a:p>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  借：投资性房地产</a:t>
            </a:r>
            <a:r>
              <a:rPr lang="en-US" altLang="zh-CN" sz="2400" b="1" dirty="0">
                <a:solidFill>
                  <a:srgbClr val="000000"/>
                </a:solidFill>
                <a:latin typeface="Arial"/>
                <a:ea typeface="楷体_GB2312" pitchFamily="49" charset="-122"/>
              </a:rPr>
              <a:t>——</a:t>
            </a:r>
            <a:r>
              <a:rPr lang="zh-CN" altLang="en-US" sz="2400" b="1" dirty="0">
                <a:solidFill>
                  <a:srgbClr val="000000"/>
                </a:solidFill>
                <a:latin typeface="楷体_GB2312" pitchFamily="49" charset="-122"/>
                <a:ea typeface="楷体_GB2312" pitchFamily="49" charset="-122"/>
              </a:rPr>
              <a:t>写字楼         </a:t>
            </a:r>
            <a:r>
              <a:rPr lang="en-US" altLang="zh-CN" sz="2400" b="1" dirty="0">
                <a:solidFill>
                  <a:srgbClr val="000000"/>
                </a:solidFill>
                <a:latin typeface="楷体_GB2312" pitchFamily="49" charset="-122"/>
                <a:ea typeface="楷体_GB2312" pitchFamily="49" charset="-122"/>
              </a:rPr>
              <a:t>6000000</a:t>
            </a:r>
          </a:p>
          <a:p>
            <a:pPr>
              <a:lnSpc>
                <a:spcPct val="80000"/>
              </a:lnSpc>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固定资产                       </a:t>
            </a:r>
            <a:r>
              <a:rPr lang="en-US" altLang="zh-CN" sz="2400" b="1" dirty="0">
                <a:solidFill>
                  <a:srgbClr val="000000"/>
                </a:solidFill>
                <a:latin typeface="楷体_GB2312" pitchFamily="49" charset="-122"/>
                <a:ea typeface="楷体_GB2312" pitchFamily="49" charset="-122"/>
              </a:rPr>
              <a:t>8000000</a:t>
            </a:r>
          </a:p>
          <a:p>
            <a:pPr>
              <a:lnSpc>
                <a:spcPct val="80000"/>
              </a:lnSpc>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贷</a:t>
            </a:r>
            <a:r>
              <a:rPr lang="en-US" altLang="zh-CN" sz="2400" b="1" dirty="0">
                <a:solidFill>
                  <a:srgbClr val="000000"/>
                </a:solidFill>
                <a:latin typeface="楷体_GB2312" pitchFamily="49" charset="-122"/>
                <a:ea typeface="楷体_GB2312" pitchFamily="49" charset="-122"/>
              </a:rPr>
              <a:t>:</a:t>
            </a:r>
            <a:r>
              <a:rPr lang="zh-CN" altLang="en-US" sz="2400" b="1" dirty="0">
                <a:solidFill>
                  <a:srgbClr val="000000"/>
                </a:solidFill>
                <a:latin typeface="楷体_GB2312" pitchFamily="49" charset="-122"/>
                <a:ea typeface="楷体_GB2312" pitchFamily="49" charset="-122"/>
              </a:rPr>
              <a:t>在建工程                          </a:t>
            </a:r>
            <a:r>
              <a:rPr lang="en-US" altLang="zh-CN" sz="2400" b="1" dirty="0">
                <a:solidFill>
                  <a:srgbClr val="000000"/>
                </a:solidFill>
                <a:latin typeface="楷体_GB2312" pitchFamily="49" charset="-122"/>
                <a:ea typeface="楷体_GB2312" pitchFamily="49" charset="-122"/>
              </a:rPr>
              <a:t>14000000</a:t>
            </a:r>
          </a:p>
          <a:p>
            <a:pPr>
              <a:lnSpc>
                <a:spcPct val="80000"/>
              </a:lnSpc>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借：投资性房地产</a:t>
            </a:r>
            <a:r>
              <a:rPr lang="en-US" altLang="zh-CN" sz="2400" b="1" dirty="0">
                <a:solidFill>
                  <a:srgbClr val="000000"/>
                </a:solidFill>
                <a:latin typeface="Arial"/>
                <a:ea typeface="楷体_GB2312" pitchFamily="49" charset="-122"/>
              </a:rPr>
              <a:t>——</a:t>
            </a:r>
            <a:r>
              <a:rPr lang="zh-CN" altLang="en-US" sz="2400" b="1" dirty="0">
                <a:solidFill>
                  <a:srgbClr val="000000"/>
                </a:solidFill>
                <a:latin typeface="楷体_GB2312" pitchFamily="49" charset="-122"/>
                <a:ea typeface="楷体_GB2312" pitchFamily="49" charset="-122"/>
              </a:rPr>
              <a:t>土地使用权     </a:t>
            </a:r>
            <a:r>
              <a:rPr lang="en-US" altLang="zh-CN" sz="2400" b="1" dirty="0">
                <a:solidFill>
                  <a:srgbClr val="000000"/>
                </a:solidFill>
                <a:latin typeface="楷体_GB2312" pitchFamily="49" charset="-122"/>
                <a:ea typeface="楷体_GB2312" pitchFamily="49" charset="-122"/>
              </a:rPr>
              <a:t>2000000</a:t>
            </a:r>
          </a:p>
          <a:p>
            <a:pPr>
              <a:lnSpc>
                <a:spcPct val="80000"/>
              </a:lnSpc>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贷：无形资产</a:t>
            </a:r>
            <a:r>
              <a:rPr lang="en-US" altLang="zh-CN" sz="2400" b="1" dirty="0">
                <a:solidFill>
                  <a:srgbClr val="000000"/>
                </a:solidFill>
                <a:latin typeface="Arial"/>
                <a:ea typeface="楷体_GB2312" pitchFamily="49" charset="-122"/>
              </a:rPr>
              <a:t>——</a:t>
            </a:r>
            <a:r>
              <a:rPr lang="zh-CN" altLang="en-US" sz="2400" b="1" dirty="0">
                <a:solidFill>
                  <a:srgbClr val="000000"/>
                </a:solidFill>
                <a:latin typeface="楷体_GB2312" pitchFamily="49" charset="-122"/>
                <a:ea typeface="楷体_GB2312" pitchFamily="49" charset="-122"/>
              </a:rPr>
              <a:t>土地使用权           </a:t>
            </a:r>
            <a:r>
              <a:rPr lang="en-US" altLang="zh-CN" sz="2400" b="1" dirty="0">
                <a:solidFill>
                  <a:srgbClr val="000000"/>
                </a:solidFill>
                <a:latin typeface="楷体_GB2312" pitchFamily="49" charset="-122"/>
                <a:ea typeface="楷体_GB2312" pitchFamily="49" charset="-122"/>
              </a:rPr>
              <a:t>2000000</a:t>
            </a:r>
          </a:p>
        </p:txBody>
      </p:sp>
    </p:spTree>
    <p:extLst>
      <p:ext uri="{BB962C8B-B14F-4D97-AF65-F5344CB8AC3E}">
        <p14:creationId xmlns:p14="http://schemas.microsoft.com/office/powerpoint/2010/main" val="1239718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blinds(horizontal)">
                                      <p:cBhvr>
                                        <p:cTn id="7" dur="500"/>
                                        <p:tgtEl>
                                          <p:spTgt spid="6">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3" end="3"/>
                                            </p:txEl>
                                          </p:spTgt>
                                        </p:tgtEl>
                                        <p:attrNameLst>
                                          <p:attrName>style.visibility</p:attrName>
                                        </p:attrNameLst>
                                      </p:cBhvr>
                                      <p:to>
                                        <p:strVal val="visible"/>
                                      </p:to>
                                    </p:set>
                                    <p:animEffect transition="in" filter="blinds(horizontal)">
                                      <p:cBhvr>
                                        <p:cTn id="10" dur="500"/>
                                        <p:tgtEl>
                                          <p:spTgt spid="6">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animEffect transition="in" filter="blinds(horizontal)">
                                      <p:cBhvr>
                                        <p:cTn id="13" dur="500"/>
                                        <p:tgtEl>
                                          <p:spTgt spid="6">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
                                            <p:txEl>
                                              <p:pRg st="5" end="5"/>
                                            </p:txEl>
                                          </p:spTgt>
                                        </p:tgtEl>
                                        <p:attrNameLst>
                                          <p:attrName>style.visibility</p:attrName>
                                        </p:attrNameLst>
                                      </p:cBhvr>
                                      <p:to>
                                        <p:strVal val="visible"/>
                                      </p:to>
                                    </p:set>
                                    <p:animEffect transition="in" filter="blinds(horizontal)">
                                      <p:cBhvr>
                                        <p:cTn id="16" dur="500"/>
                                        <p:tgtEl>
                                          <p:spTgt spid="6">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Effect transition="in" filter="blinds(horizontal)">
                                      <p:cBhvr>
                                        <p:cTn id="19" dur="500"/>
                                        <p:tgtEl>
                                          <p:spTgt spid="6">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6">
                                            <p:txEl>
                                              <p:pRg st="7" end="7"/>
                                            </p:txEl>
                                          </p:spTgt>
                                        </p:tgtEl>
                                        <p:attrNameLst>
                                          <p:attrName>style.visibility</p:attrName>
                                        </p:attrNameLst>
                                      </p:cBhvr>
                                      <p:to>
                                        <p:strVal val="visible"/>
                                      </p:to>
                                    </p:set>
                                    <p:animEffect transition="in" filter="blinds(horizontal)">
                                      <p:cBhvr>
                                        <p:cTn id="2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B97B9D6-42F0-41D7-A5F8-D9DC4E57D21B}"/>
              </a:ext>
            </a:extLst>
          </p:cNvPr>
          <p:cNvSpPr>
            <a:spLocks noGrp="1" noRot="1" noChangeArrowheads="1"/>
          </p:cNvSpPr>
          <p:nvPr>
            <p:ph type="title"/>
          </p:nvPr>
        </p:nvSpPr>
        <p:spPr>
          <a:xfrm>
            <a:off x="1672558" y="576303"/>
            <a:ext cx="9380022" cy="1143000"/>
          </a:xfrm>
        </p:spPr>
        <p:txBody>
          <a:bodyPr>
            <a:normAutofit fontScale="90000"/>
          </a:bodyPr>
          <a:lstStyle/>
          <a:p>
            <a:r>
              <a:rPr lang="zh-CN" altLang="en-US" sz="3600" b="1" dirty="0">
                <a:solidFill>
                  <a:srgbClr val="000000"/>
                </a:solidFill>
                <a:latin typeface="黑体" panose="02010609060101010101" pitchFamily="49" charset="-122"/>
                <a:ea typeface="黑体" panose="02010609060101010101" pitchFamily="49" charset="-122"/>
              </a:rPr>
              <a:t>（三）非投资性房地产转换为投资性房地产的确认和初始计量</a:t>
            </a:r>
          </a:p>
        </p:txBody>
      </p:sp>
      <p:sp>
        <p:nvSpPr>
          <p:cNvPr id="7" name="Rectangle 3">
            <a:extLst>
              <a:ext uri="{FF2B5EF4-FFF2-40B4-BE49-F238E27FC236}">
                <a16:creationId xmlns:a16="http://schemas.microsoft.com/office/drawing/2014/main" id="{351621B2-5050-4FDA-A588-F8070BBCF35F}"/>
              </a:ext>
            </a:extLst>
          </p:cNvPr>
          <p:cNvSpPr>
            <a:spLocks noGrp="1" noRot="1" noChangeArrowheads="1"/>
          </p:cNvSpPr>
          <p:nvPr>
            <p:ph idx="1"/>
          </p:nvPr>
        </p:nvSpPr>
        <p:spPr>
          <a:xfrm>
            <a:off x="1576388" y="2017713"/>
            <a:ext cx="10363200" cy="4114800"/>
          </a:xfrm>
        </p:spPr>
        <p:txBody>
          <a:bodyPr/>
          <a:lstStyle/>
          <a:p>
            <a:r>
              <a:rPr lang="zh-CN" altLang="en-US" sz="2800" b="1" dirty="0">
                <a:solidFill>
                  <a:schemeClr val="tx2"/>
                </a:solidFill>
                <a:ea typeface="楷体_GB2312" panose="02010609030101010101"/>
              </a:rPr>
              <a:t>非投资性房地产转换为投资性房地产</a:t>
            </a:r>
            <a:r>
              <a:rPr lang="zh-CN" altLang="en-US" sz="2800" b="1" dirty="0">
                <a:solidFill>
                  <a:srgbClr val="000000"/>
                </a:solidFill>
                <a:ea typeface="楷体_GB2312" pitchFamily="49" charset="-122"/>
              </a:rPr>
              <a:t>，</a:t>
            </a:r>
            <a:r>
              <a:rPr lang="zh-CN" altLang="en-US" sz="2800" b="1" dirty="0">
                <a:solidFill>
                  <a:srgbClr val="FF0000"/>
                </a:solidFill>
                <a:ea typeface="楷体_GB2312" pitchFamily="49" charset="-122"/>
              </a:rPr>
              <a:t>实质</a:t>
            </a:r>
            <a:r>
              <a:rPr lang="zh-CN" altLang="en-US" sz="2800" b="1" dirty="0">
                <a:solidFill>
                  <a:srgbClr val="000000"/>
                </a:solidFill>
                <a:ea typeface="楷体_GB2312" pitchFamily="49" charset="-122"/>
              </a:rPr>
              <a:t>上是因房地产用途发生改变而对房地产进行的</a:t>
            </a:r>
            <a:r>
              <a:rPr lang="zh-CN" altLang="en-US" sz="2800" b="1" dirty="0">
                <a:solidFill>
                  <a:srgbClr val="FF0000"/>
                </a:solidFill>
                <a:ea typeface="楷体_GB2312" pitchFamily="49" charset="-122"/>
              </a:rPr>
              <a:t>重分类</a:t>
            </a:r>
            <a:r>
              <a:rPr lang="zh-CN" altLang="en-US" sz="2800" b="1" dirty="0">
                <a:solidFill>
                  <a:srgbClr val="000000"/>
                </a:solidFill>
                <a:ea typeface="楷体_GB2312" pitchFamily="49" charset="-122"/>
              </a:rPr>
              <a:t>。</a:t>
            </a:r>
          </a:p>
          <a:p>
            <a:endParaRPr lang="en-US" altLang="zh-CN" sz="2800" b="1" dirty="0">
              <a:ea typeface="华文中宋" pitchFamily="2" charset="-122"/>
            </a:endParaRPr>
          </a:p>
          <a:p>
            <a:r>
              <a:rPr lang="zh-CN" altLang="en-US" sz="2800" b="1" dirty="0">
                <a:ea typeface="楷体_GB2312" panose="02010609030101010101"/>
              </a:rPr>
              <a:t>具体见四、投资性房地产的转换</a:t>
            </a:r>
            <a:endParaRPr lang="en-US" altLang="zh-CN" sz="2800" b="1" dirty="0">
              <a:ea typeface="楷体_GB2312" panose="02010609030101010101"/>
            </a:endParaRPr>
          </a:p>
        </p:txBody>
      </p:sp>
    </p:spTree>
    <p:extLst>
      <p:ext uri="{BB962C8B-B14F-4D97-AF65-F5344CB8AC3E}">
        <p14:creationId xmlns:p14="http://schemas.microsoft.com/office/powerpoint/2010/main" val="2596201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三、投资性房地产的后续计量 </a:t>
            </a:r>
          </a:p>
        </p:txBody>
      </p:sp>
      <p:sp>
        <p:nvSpPr>
          <p:cNvPr id="8" name="Rectangle 3">
            <a:extLst>
              <a:ext uri="{FF2B5EF4-FFF2-40B4-BE49-F238E27FC236}">
                <a16:creationId xmlns:a16="http://schemas.microsoft.com/office/drawing/2014/main" id="{C83627F3-9C25-49AF-B489-BDFBE3AD0B3B}"/>
              </a:ext>
            </a:extLst>
          </p:cNvPr>
          <p:cNvSpPr>
            <a:spLocks noGrp="1" noRot="1" noChangeArrowheads="1"/>
          </p:cNvSpPr>
          <p:nvPr>
            <p:ph idx="1"/>
          </p:nvPr>
        </p:nvSpPr>
        <p:spPr>
          <a:xfrm>
            <a:off x="914400" y="2109766"/>
            <a:ext cx="10733460" cy="4114800"/>
          </a:xfrm>
        </p:spPr>
        <p:txBody>
          <a:bodyPr/>
          <a:lstStyle/>
          <a:p>
            <a:pPr>
              <a:lnSpc>
                <a:spcPct val="125000"/>
              </a:lnSpc>
              <a:buFont typeface="Wingdings" pitchFamily="2" charset="2"/>
              <a:buNone/>
            </a:pPr>
            <a:r>
              <a:rPr lang="zh-CN" altLang="en-US" b="1" dirty="0">
                <a:solidFill>
                  <a:srgbClr val="000000"/>
                </a:solidFill>
              </a:rPr>
              <a:t>（一）采用</a:t>
            </a:r>
            <a:r>
              <a:rPr lang="zh-CN" altLang="en-US" b="1" dirty="0"/>
              <a:t>成本模式</a:t>
            </a:r>
            <a:r>
              <a:rPr lang="zh-CN" altLang="en-US" b="1" dirty="0">
                <a:solidFill>
                  <a:srgbClr val="000000"/>
                </a:solidFill>
              </a:rPr>
              <a:t>计量的投资性房地产的后续计量</a:t>
            </a:r>
            <a:r>
              <a:rPr lang="zh-CN" altLang="en-US" dirty="0">
                <a:solidFill>
                  <a:srgbClr val="000000"/>
                </a:solidFill>
              </a:rPr>
              <a:t> </a:t>
            </a:r>
          </a:p>
          <a:p>
            <a:pPr>
              <a:lnSpc>
                <a:spcPct val="125000"/>
              </a:lnSpc>
              <a:buFont typeface="Wingdings" pitchFamily="2" charset="2"/>
              <a:buNone/>
            </a:pPr>
            <a:r>
              <a:rPr lang="zh-CN" altLang="en-US" b="1" dirty="0">
                <a:solidFill>
                  <a:srgbClr val="000000"/>
                </a:solidFill>
              </a:rPr>
              <a:t>（二）采用</a:t>
            </a:r>
            <a:r>
              <a:rPr lang="zh-CN" altLang="en-US" b="1" dirty="0"/>
              <a:t>公允价值模式</a:t>
            </a:r>
            <a:r>
              <a:rPr lang="zh-CN" altLang="en-US" b="1" dirty="0">
                <a:solidFill>
                  <a:srgbClr val="000000"/>
                </a:solidFill>
              </a:rPr>
              <a:t>计量的投资性房地产的后续计量</a:t>
            </a:r>
            <a:r>
              <a:rPr lang="zh-CN" altLang="en-US" dirty="0">
                <a:solidFill>
                  <a:srgbClr val="000000"/>
                </a:solidFill>
              </a:rPr>
              <a:t> </a:t>
            </a:r>
          </a:p>
          <a:p>
            <a:pPr>
              <a:lnSpc>
                <a:spcPct val="125000"/>
              </a:lnSpc>
              <a:buFont typeface="Wingdings" pitchFamily="2" charset="2"/>
              <a:buNone/>
            </a:pPr>
            <a:endParaRPr lang="en-US" altLang="zh-CN"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566245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66C3248D-E3F0-4822-AAC4-F178C8877386}"/>
              </a:ext>
            </a:extLst>
          </p:cNvPr>
          <p:cNvSpPr>
            <a:spLocks noGrp="1" noRot="1" noChangeArrowheads="1"/>
          </p:cNvSpPr>
          <p:nvPr>
            <p:ph type="title"/>
          </p:nvPr>
        </p:nvSpPr>
        <p:spPr>
          <a:xfrm>
            <a:off x="1692435" y="993801"/>
            <a:ext cx="9875646" cy="685800"/>
          </a:xfrm>
        </p:spPr>
        <p:txBody>
          <a:bodyPr/>
          <a:lstStyle/>
          <a:p>
            <a:r>
              <a:rPr lang="zh-CN" altLang="en-US" sz="3200" b="1" dirty="0">
                <a:solidFill>
                  <a:srgbClr val="000000"/>
                </a:solidFill>
                <a:latin typeface="黑体" panose="02010609060101010101" pitchFamily="49" charset="-122"/>
                <a:ea typeface="黑体" panose="02010609060101010101" pitchFamily="49" charset="-122"/>
              </a:rPr>
              <a:t>（一）采用</a:t>
            </a:r>
            <a:r>
              <a:rPr lang="zh-CN" altLang="en-US" sz="3200" b="1" dirty="0">
                <a:solidFill>
                  <a:srgbClr val="FF0000"/>
                </a:solidFill>
                <a:latin typeface="黑体" panose="02010609060101010101" pitchFamily="49" charset="-122"/>
                <a:ea typeface="黑体" panose="02010609060101010101" pitchFamily="49" charset="-122"/>
              </a:rPr>
              <a:t>成本模式计量</a:t>
            </a:r>
            <a:r>
              <a:rPr lang="zh-CN" altLang="en-US" sz="3200" b="1" dirty="0">
                <a:solidFill>
                  <a:srgbClr val="000000"/>
                </a:solidFill>
                <a:latin typeface="黑体" panose="02010609060101010101" pitchFamily="49" charset="-122"/>
                <a:ea typeface="黑体" panose="02010609060101010101" pitchFamily="49" charset="-122"/>
              </a:rPr>
              <a:t>的投资性房地产的后续计量</a:t>
            </a:r>
            <a:endParaRPr lang="zh-CN" altLang="en-US" sz="3200" dirty="0">
              <a:solidFill>
                <a:srgbClr val="000000"/>
              </a:solidFill>
              <a:latin typeface="黑体" panose="02010609060101010101" pitchFamily="49" charset="-122"/>
              <a:ea typeface="黑体" panose="02010609060101010101" pitchFamily="49" charset="-122"/>
            </a:endParaRPr>
          </a:p>
        </p:txBody>
      </p:sp>
      <p:sp>
        <p:nvSpPr>
          <p:cNvPr id="6" name="Rectangle 3">
            <a:extLst>
              <a:ext uri="{FF2B5EF4-FFF2-40B4-BE49-F238E27FC236}">
                <a16:creationId xmlns:a16="http://schemas.microsoft.com/office/drawing/2014/main" id="{01B76BFB-FDCA-478E-AF49-6B0EC2AD6AE5}"/>
              </a:ext>
            </a:extLst>
          </p:cNvPr>
          <p:cNvSpPr>
            <a:spLocks noGrp="1" noRot="1" noChangeArrowheads="1"/>
          </p:cNvSpPr>
          <p:nvPr>
            <p:ph idx="1"/>
          </p:nvPr>
        </p:nvSpPr>
        <p:spPr>
          <a:xfrm>
            <a:off x="1576388" y="2017713"/>
            <a:ext cx="10363200" cy="4840287"/>
          </a:xfrm>
        </p:spPr>
        <p:txBody>
          <a:bodyPr/>
          <a:lstStyle/>
          <a:p>
            <a:pPr>
              <a:lnSpc>
                <a:spcPct val="80000"/>
              </a:lnSpc>
            </a:pPr>
            <a:r>
              <a:rPr lang="zh-CN" altLang="en-US" sz="2200" b="1" dirty="0">
                <a:solidFill>
                  <a:srgbClr val="000000"/>
                </a:solidFill>
                <a:latin typeface="楷体_GB2312" pitchFamily="49" charset="-122"/>
                <a:ea typeface="楷体_GB2312" pitchFamily="49" charset="-122"/>
              </a:rPr>
              <a:t>核算要点：</a:t>
            </a:r>
          </a:p>
          <a:p>
            <a:pPr>
              <a:lnSpc>
                <a:spcPct val="80000"/>
              </a:lnSpc>
            </a:pPr>
            <a:r>
              <a:rPr lang="zh-CN" altLang="en-US" sz="2200" b="1" dirty="0">
                <a:solidFill>
                  <a:srgbClr val="000000"/>
                </a:solidFill>
                <a:latin typeface="楷体_GB2312" pitchFamily="49" charset="-122"/>
                <a:ea typeface="楷体_GB2312" pitchFamily="49" charset="-122"/>
              </a:rPr>
              <a:t>（</a:t>
            </a:r>
            <a:r>
              <a:rPr lang="en-US" altLang="zh-CN" sz="2200" b="1" dirty="0">
                <a:solidFill>
                  <a:srgbClr val="000000"/>
                </a:solidFill>
                <a:latin typeface="楷体_GB2312" pitchFamily="49" charset="-122"/>
                <a:ea typeface="楷体_GB2312" pitchFamily="49" charset="-122"/>
              </a:rPr>
              <a:t>1</a:t>
            </a:r>
            <a:r>
              <a:rPr lang="zh-CN" altLang="en-US" sz="2200" b="1" dirty="0">
                <a:solidFill>
                  <a:srgbClr val="000000"/>
                </a:solidFill>
                <a:latin typeface="楷体_GB2312" pitchFamily="49" charset="-122"/>
                <a:ea typeface="楷体_GB2312" pitchFamily="49" charset="-122"/>
              </a:rPr>
              <a:t>）</a:t>
            </a:r>
            <a:r>
              <a:rPr lang="zh-CN" altLang="en-US" sz="2200" b="1" dirty="0">
                <a:solidFill>
                  <a:srgbClr val="FF0000"/>
                </a:solidFill>
                <a:latin typeface="楷体_GB2312" pitchFamily="49" charset="-122"/>
                <a:ea typeface="楷体_GB2312" pitchFamily="49" charset="-122"/>
              </a:rPr>
              <a:t>按期（月）计提折旧或摊销</a:t>
            </a:r>
            <a:r>
              <a:rPr lang="zh-CN" altLang="en-US" sz="2200" b="1" dirty="0">
                <a:solidFill>
                  <a:srgbClr val="000000"/>
                </a:solidFill>
                <a:latin typeface="楷体_GB2312" pitchFamily="49" charset="-122"/>
                <a:ea typeface="楷体_GB2312" pitchFamily="49" charset="-122"/>
              </a:rPr>
              <a:t>。</a:t>
            </a:r>
          </a:p>
          <a:p>
            <a:pPr>
              <a:lnSpc>
                <a:spcPct val="80000"/>
              </a:lnSpc>
              <a:buFont typeface="Wingdings" pitchFamily="2" charset="2"/>
              <a:buNone/>
            </a:pPr>
            <a:r>
              <a:rPr lang="zh-CN" altLang="en-US" sz="2200" b="1" dirty="0">
                <a:solidFill>
                  <a:srgbClr val="000000"/>
                </a:solidFill>
                <a:latin typeface="楷体_GB2312" pitchFamily="49" charset="-122"/>
                <a:ea typeface="楷体_GB2312" pitchFamily="49" charset="-122"/>
              </a:rPr>
              <a:t>     借：其他业务成本</a:t>
            </a:r>
          </a:p>
          <a:p>
            <a:pPr>
              <a:lnSpc>
                <a:spcPct val="80000"/>
              </a:lnSpc>
              <a:buFont typeface="Wingdings" pitchFamily="2" charset="2"/>
              <a:buNone/>
            </a:pPr>
            <a:r>
              <a:rPr lang="zh-CN" altLang="en-US" sz="2200" b="1" dirty="0">
                <a:solidFill>
                  <a:srgbClr val="000000"/>
                </a:solidFill>
                <a:latin typeface="楷体_GB2312" pitchFamily="49" charset="-122"/>
                <a:ea typeface="楷体_GB2312" pitchFamily="49" charset="-122"/>
              </a:rPr>
              <a:t>        贷：投资性房地产累计折旧（或累计摊销）</a:t>
            </a:r>
          </a:p>
          <a:p>
            <a:pPr>
              <a:lnSpc>
                <a:spcPct val="80000"/>
              </a:lnSpc>
            </a:pPr>
            <a:r>
              <a:rPr lang="zh-CN" altLang="en-US" sz="2200" b="1" dirty="0">
                <a:solidFill>
                  <a:srgbClr val="000000"/>
                </a:solidFill>
                <a:latin typeface="楷体_GB2312" pitchFamily="49" charset="-122"/>
                <a:ea typeface="楷体_GB2312" pitchFamily="49" charset="-122"/>
              </a:rPr>
              <a:t>（</a:t>
            </a:r>
            <a:r>
              <a:rPr lang="en-US" altLang="zh-CN" sz="2200" b="1" dirty="0">
                <a:solidFill>
                  <a:srgbClr val="000000"/>
                </a:solidFill>
                <a:latin typeface="楷体_GB2312" pitchFamily="49" charset="-122"/>
                <a:ea typeface="楷体_GB2312" pitchFamily="49" charset="-122"/>
              </a:rPr>
              <a:t>2</a:t>
            </a:r>
            <a:r>
              <a:rPr lang="zh-CN" altLang="en-US" sz="2200" b="1" dirty="0">
                <a:solidFill>
                  <a:srgbClr val="000000"/>
                </a:solidFill>
                <a:latin typeface="楷体_GB2312" pitchFamily="49" charset="-122"/>
                <a:ea typeface="楷体_GB2312" pitchFamily="49" charset="-122"/>
              </a:rPr>
              <a:t>）</a:t>
            </a:r>
            <a:r>
              <a:rPr lang="zh-CN" altLang="en-US" sz="2200" b="1" dirty="0">
                <a:solidFill>
                  <a:srgbClr val="FF0000"/>
                </a:solidFill>
                <a:latin typeface="楷体_GB2312" pitchFamily="49" charset="-122"/>
                <a:ea typeface="楷体_GB2312" pitchFamily="49" charset="-122"/>
              </a:rPr>
              <a:t>按租赁协议或合同约定收取租金</a:t>
            </a:r>
            <a:endParaRPr lang="zh-CN" altLang="en-US" sz="2200" b="1" dirty="0">
              <a:solidFill>
                <a:srgbClr val="000000"/>
              </a:solidFill>
              <a:latin typeface="楷体_GB2312" pitchFamily="49" charset="-122"/>
              <a:ea typeface="楷体_GB2312" pitchFamily="49" charset="-122"/>
            </a:endParaRPr>
          </a:p>
          <a:p>
            <a:pPr>
              <a:lnSpc>
                <a:spcPct val="80000"/>
              </a:lnSpc>
              <a:buFont typeface="Wingdings" pitchFamily="2" charset="2"/>
              <a:buNone/>
            </a:pPr>
            <a:r>
              <a:rPr lang="zh-CN" altLang="en-US" sz="2200" b="1" dirty="0">
                <a:solidFill>
                  <a:srgbClr val="000000"/>
                </a:solidFill>
                <a:latin typeface="楷体_GB2312" pitchFamily="49" charset="-122"/>
                <a:ea typeface="楷体_GB2312" pitchFamily="49" charset="-122"/>
              </a:rPr>
              <a:t>     借：银行存款</a:t>
            </a:r>
          </a:p>
          <a:p>
            <a:pPr>
              <a:lnSpc>
                <a:spcPct val="80000"/>
              </a:lnSpc>
              <a:buFont typeface="Wingdings" pitchFamily="2" charset="2"/>
              <a:buNone/>
            </a:pPr>
            <a:r>
              <a:rPr lang="zh-CN" altLang="en-US" sz="2200" b="1" dirty="0">
                <a:solidFill>
                  <a:srgbClr val="000000"/>
                </a:solidFill>
                <a:latin typeface="楷体_GB2312" pitchFamily="49" charset="-122"/>
                <a:ea typeface="楷体_GB2312" pitchFamily="49" charset="-122"/>
              </a:rPr>
              <a:t>         贷：其他业务收入等</a:t>
            </a:r>
          </a:p>
          <a:p>
            <a:pPr>
              <a:lnSpc>
                <a:spcPct val="80000"/>
              </a:lnSpc>
            </a:pPr>
            <a:r>
              <a:rPr lang="zh-CN" altLang="en-US" sz="2200" b="1" dirty="0">
                <a:solidFill>
                  <a:srgbClr val="000000"/>
                </a:solidFill>
                <a:latin typeface="楷体_GB2312" pitchFamily="49" charset="-122"/>
                <a:ea typeface="楷体_GB2312" pitchFamily="49" charset="-122"/>
              </a:rPr>
              <a:t>（</a:t>
            </a:r>
            <a:r>
              <a:rPr lang="en-US" altLang="zh-CN" sz="2200" b="1" dirty="0">
                <a:solidFill>
                  <a:srgbClr val="000000"/>
                </a:solidFill>
                <a:latin typeface="楷体_GB2312" pitchFamily="49" charset="-122"/>
                <a:ea typeface="楷体_GB2312" pitchFamily="49" charset="-122"/>
              </a:rPr>
              <a:t>3</a:t>
            </a:r>
            <a:r>
              <a:rPr lang="zh-CN" altLang="en-US" sz="2200" b="1" dirty="0">
                <a:solidFill>
                  <a:srgbClr val="000000"/>
                </a:solidFill>
                <a:latin typeface="楷体_GB2312" pitchFamily="49" charset="-122"/>
                <a:ea typeface="楷体_GB2312" pitchFamily="49" charset="-122"/>
              </a:rPr>
              <a:t>）</a:t>
            </a:r>
            <a:r>
              <a:rPr lang="zh-CN" altLang="en-US" sz="2200" b="1" dirty="0">
                <a:solidFill>
                  <a:srgbClr val="FF0000"/>
                </a:solidFill>
                <a:latin typeface="楷体_GB2312" pitchFamily="49" charset="-122"/>
                <a:ea typeface="楷体_GB2312" pitchFamily="49" charset="-122"/>
              </a:rPr>
              <a:t>资产负债表日，应对存在减值迹象的投资性房地产进行减值测试</a:t>
            </a:r>
            <a:r>
              <a:rPr lang="zh-CN" altLang="en-US" sz="2200" b="1" dirty="0">
                <a:solidFill>
                  <a:srgbClr val="000000"/>
                </a:solidFill>
                <a:latin typeface="楷体_GB2312" pitchFamily="49" charset="-122"/>
                <a:ea typeface="楷体_GB2312" pitchFamily="49" charset="-122"/>
              </a:rPr>
              <a:t>，</a:t>
            </a:r>
            <a:r>
              <a:rPr lang="zh-CN" altLang="en-US" sz="2200" b="1" dirty="0">
                <a:solidFill>
                  <a:srgbClr val="FF0000"/>
                </a:solidFill>
                <a:latin typeface="楷体_GB2312" pitchFamily="49" charset="-122"/>
                <a:ea typeface="楷体_GB2312" pitchFamily="49" charset="-122"/>
              </a:rPr>
              <a:t>应计算其可回收金额，可回收金额低于其账面价值的差额，应确认为资产减值损失，同时计提资产减值准备</a:t>
            </a:r>
            <a:r>
              <a:rPr lang="zh-CN" altLang="en-US" sz="2200" b="1" dirty="0">
                <a:solidFill>
                  <a:srgbClr val="000000"/>
                </a:solidFill>
                <a:latin typeface="楷体_GB2312" pitchFamily="49" charset="-122"/>
                <a:ea typeface="楷体_GB2312" pitchFamily="49" charset="-122"/>
              </a:rPr>
              <a:t>。</a:t>
            </a:r>
          </a:p>
          <a:p>
            <a:pPr>
              <a:lnSpc>
                <a:spcPct val="80000"/>
              </a:lnSpc>
              <a:buFont typeface="Wingdings" pitchFamily="2" charset="2"/>
              <a:buNone/>
            </a:pPr>
            <a:r>
              <a:rPr lang="zh-CN" altLang="en-US" sz="2200" b="1" dirty="0">
                <a:solidFill>
                  <a:srgbClr val="000000"/>
                </a:solidFill>
                <a:latin typeface="楷体_GB2312" pitchFamily="49" charset="-122"/>
                <a:ea typeface="楷体_GB2312" pitchFamily="49" charset="-122"/>
              </a:rPr>
              <a:t>     借：资产减值损失</a:t>
            </a:r>
          </a:p>
          <a:p>
            <a:pPr>
              <a:lnSpc>
                <a:spcPct val="80000"/>
              </a:lnSpc>
              <a:buFont typeface="Wingdings" pitchFamily="2" charset="2"/>
              <a:buNone/>
            </a:pPr>
            <a:r>
              <a:rPr lang="zh-CN" altLang="en-US" sz="2200" b="1" dirty="0">
                <a:solidFill>
                  <a:srgbClr val="000000"/>
                </a:solidFill>
                <a:latin typeface="楷体_GB2312" pitchFamily="49" charset="-122"/>
                <a:ea typeface="楷体_GB2312" pitchFamily="49" charset="-122"/>
              </a:rPr>
              <a:t>         贷：投资性房地产减值准备</a:t>
            </a:r>
          </a:p>
          <a:p>
            <a:pPr>
              <a:lnSpc>
                <a:spcPct val="80000"/>
              </a:lnSpc>
              <a:buFont typeface="Wingdings" pitchFamily="2" charset="2"/>
              <a:buNone/>
            </a:pPr>
            <a:r>
              <a:rPr lang="zh-CN" altLang="en-US" sz="2200" b="1" dirty="0">
                <a:solidFill>
                  <a:srgbClr val="000000"/>
                </a:solidFill>
                <a:latin typeface="楷体_GB2312" pitchFamily="49" charset="-122"/>
                <a:ea typeface="楷体_GB2312" pitchFamily="49" charset="-122"/>
              </a:rPr>
              <a:t>  </a:t>
            </a:r>
          </a:p>
          <a:p>
            <a:pPr>
              <a:lnSpc>
                <a:spcPct val="80000"/>
              </a:lnSpc>
              <a:buFont typeface="Wingdings" pitchFamily="2" charset="2"/>
              <a:buNone/>
            </a:pPr>
            <a:r>
              <a:rPr lang="zh-CN" altLang="en-US" sz="2200" b="1" dirty="0">
                <a:solidFill>
                  <a:srgbClr val="000000"/>
                </a:solidFill>
                <a:latin typeface="楷体_GB2312" pitchFamily="49" charset="-122"/>
                <a:ea typeface="楷体_GB2312" pitchFamily="49" charset="-122"/>
              </a:rPr>
              <a:t> </a:t>
            </a:r>
            <a:r>
              <a:rPr lang="zh-CN" altLang="en-US" sz="2200" b="1" dirty="0">
                <a:solidFill>
                  <a:srgbClr val="000099"/>
                </a:solidFill>
                <a:latin typeface="楷体_GB2312" pitchFamily="49" charset="-122"/>
                <a:ea typeface="楷体_GB2312" pitchFamily="49" charset="-122"/>
              </a:rPr>
              <a:t>注意：已计提减值准备的投资性房地产，其减值损失在以后的会计期间不得转回。</a:t>
            </a:r>
            <a:r>
              <a:rPr lang="zh-CN" altLang="en-US" sz="2200" b="1" dirty="0">
                <a:latin typeface="楷体_GB2312" pitchFamily="49" charset="-122"/>
                <a:ea typeface="楷体_GB2312" pitchFamily="49" charset="-122"/>
              </a:rPr>
              <a:t> </a:t>
            </a:r>
          </a:p>
        </p:txBody>
      </p:sp>
    </p:spTree>
    <p:extLst>
      <p:ext uri="{BB962C8B-B14F-4D97-AF65-F5344CB8AC3E}">
        <p14:creationId xmlns:p14="http://schemas.microsoft.com/office/powerpoint/2010/main" val="3190874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（一）采用成本模式计量的投资性房地产的后续计量</a:t>
            </a:r>
            <a:endParaRPr lang="zh-CN" altLang="en-US" sz="3200" dirty="0">
              <a:latin typeface="黑体" panose="02010609060101010101" pitchFamily="49" charset="-122"/>
              <a:ea typeface="黑体" panose="02010609060101010101" pitchFamily="49" charset="-122"/>
            </a:endParaRPr>
          </a:p>
        </p:txBody>
      </p:sp>
      <p:sp>
        <p:nvSpPr>
          <p:cNvPr id="5" name="Rectangle 3">
            <a:extLst>
              <a:ext uri="{FF2B5EF4-FFF2-40B4-BE49-F238E27FC236}">
                <a16:creationId xmlns:a16="http://schemas.microsoft.com/office/drawing/2014/main" id="{873A4FD5-470D-465F-A1DC-9E9BBC943DBA}"/>
              </a:ext>
            </a:extLst>
          </p:cNvPr>
          <p:cNvSpPr>
            <a:spLocks noGrp="1" noRot="1" noChangeArrowheads="1"/>
          </p:cNvSpPr>
          <p:nvPr>
            <p:ph idx="1"/>
          </p:nvPr>
        </p:nvSpPr>
        <p:spPr>
          <a:xfrm>
            <a:off x="1576388" y="2017713"/>
            <a:ext cx="10363200" cy="4114800"/>
          </a:xfrm>
        </p:spPr>
        <p:txBody>
          <a:bodyPr/>
          <a:lstStyle/>
          <a:p>
            <a:r>
              <a:rPr lang="en-US" altLang="zh-CN" sz="2800" b="1" dirty="0">
                <a:solidFill>
                  <a:schemeClr val="tx2"/>
                </a:solidFill>
                <a:latin typeface="楷体_GB2312" pitchFamily="49" charset="-122"/>
                <a:ea typeface="楷体_GB2312" pitchFamily="49" charset="-122"/>
              </a:rPr>
              <a:t>【</a:t>
            </a:r>
            <a:r>
              <a:rPr lang="zh-CN" altLang="en-US" sz="2800" b="1" dirty="0">
                <a:solidFill>
                  <a:schemeClr val="tx2"/>
                </a:solidFill>
                <a:latin typeface="楷体_GB2312" pitchFamily="49" charset="-122"/>
                <a:ea typeface="楷体_GB2312" pitchFamily="49" charset="-122"/>
              </a:rPr>
              <a:t>例</a:t>
            </a:r>
            <a:r>
              <a:rPr lang="en-US" altLang="zh-CN" sz="2800" b="1" dirty="0">
                <a:solidFill>
                  <a:schemeClr val="tx2"/>
                </a:solidFill>
                <a:latin typeface="楷体_GB2312" pitchFamily="49" charset="-122"/>
                <a:ea typeface="楷体_GB2312" pitchFamily="49" charset="-122"/>
              </a:rPr>
              <a:t>9-2】</a:t>
            </a:r>
            <a:r>
              <a:rPr lang="zh-CN" altLang="en-US" sz="2800" b="1" dirty="0">
                <a:solidFill>
                  <a:srgbClr val="000000"/>
                </a:solidFill>
                <a:latin typeface="楷体_GB2312" pitchFamily="49" charset="-122"/>
                <a:ea typeface="楷体_GB2312" pitchFamily="49" charset="-122"/>
              </a:rPr>
              <a:t>甲公司的一栋新办公楼自</a:t>
            </a:r>
            <a:r>
              <a:rPr lang="en-US" altLang="zh-CN" sz="2800" b="1" dirty="0">
                <a:solidFill>
                  <a:srgbClr val="CC0066"/>
                </a:solidFill>
                <a:latin typeface="楷体_GB2312" pitchFamily="49" charset="-122"/>
                <a:ea typeface="楷体_GB2312" pitchFamily="49" charset="-122"/>
              </a:rPr>
              <a:t>2×19</a:t>
            </a:r>
            <a:r>
              <a:rPr lang="zh-CN" altLang="en-US" sz="2800" b="1" dirty="0">
                <a:solidFill>
                  <a:srgbClr val="CC0066"/>
                </a:solidFill>
                <a:latin typeface="楷体_GB2312" pitchFamily="49" charset="-122"/>
                <a:ea typeface="楷体_GB2312" pitchFamily="49" charset="-122"/>
              </a:rPr>
              <a:t>年</a:t>
            </a:r>
            <a:r>
              <a:rPr lang="en-US" altLang="zh-CN" sz="2800" b="1" dirty="0">
                <a:solidFill>
                  <a:srgbClr val="CC0066"/>
                </a:solidFill>
                <a:latin typeface="楷体_GB2312" pitchFamily="49" charset="-122"/>
                <a:ea typeface="楷体_GB2312" pitchFamily="49" charset="-122"/>
              </a:rPr>
              <a:t>1</a:t>
            </a:r>
            <a:r>
              <a:rPr lang="zh-CN" altLang="en-US" sz="2800" b="1" dirty="0">
                <a:solidFill>
                  <a:srgbClr val="CC0066"/>
                </a:solidFill>
                <a:latin typeface="楷体_GB2312" pitchFamily="49" charset="-122"/>
                <a:ea typeface="楷体_GB2312" pitchFamily="49" charset="-122"/>
              </a:rPr>
              <a:t>月</a:t>
            </a:r>
            <a:r>
              <a:rPr lang="en-US" altLang="zh-CN" sz="2800" b="1" dirty="0">
                <a:solidFill>
                  <a:srgbClr val="CC0066"/>
                </a:solidFill>
                <a:latin typeface="楷体_GB2312" pitchFamily="49" charset="-122"/>
                <a:ea typeface="楷体_GB2312" pitchFamily="49" charset="-122"/>
              </a:rPr>
              <a:t>1</a:t>
            </a:r>
            <a:r>
              <a:rPr lang="zh-CN" altLang="en-US" sz="2800" b="1" dirty="0">
                <a:solidFill>
                  <a:srgbClr val="CC0066"/>
                </a:solidFill>
                <a:latin typeface="楷体_GB2312" pitchFamily="49" charset="-122"/>
                <a:ea typeface="楷体_GB2312" pitchFamily="49" charset="-122"/>
              </a:rPr>
              <a:t>日</a:t>
            </a:r>
            <a:r>
              <a:rPr lang="zh-CN" altLang="en-US" sz="2800" b="1" dirty="0">
                <a:solidFill>
                  <a:srgbClr val="000000"/>
                </a:solidFill>
                <a:latin typeface="楷体_GB2312" pitchFamily="49" charset="-122"/>
                <a:ea typeface="楷体_GB2312" pitchFamily="49" charset="-122"/>
              </a:rPr>
              <a:t>出租给乙公司使用，已确认为投资性房地产，并采用</a:t>
            </a:r>
            <a:r>
              <a:rPr lang="zh-CN" altLang="en-US" sz="2800" b="1" dirty="0">
                <a:solidFill>
                  <a:srgbClr val="CC0066"/>
                </a:solidFill>
                <a:latin typeface="楷体_GB2312" pitchFamily="49" charset="-122"/>
                <a:ea typeface="楷体_GB2312" pitchFamily="49" charset="-122"/>
              </a:rPr>
              <a:t>成本模式</a:t>
            </a:r>
            <a:r>
              <a:rPr lang="zh-CN" altLang="en-US" sz="2800" b="1" dirty="0">
                <a:solidFill>
                  <a:srgbClr val="000000"/>
                </a:solidFill>
                <a:latin typeface="楷体_GB2312" pitchFamily="49" charset="-122"/>
                <a:ea typeface="楷体_GB2312" pitchFamily="49" charset="-122"/>
              </a:rPr>
              <a:t>进行后续计量。该办公楼的建造成本为</a:t>
            </a:r>
            <a:r>
              <a:rPr lang="en-US" altLang="zh-CN" sz="2800" b="1" dirty="0">
                <a:solidFill>
                  <a:srgbClr val="000000"/>
                </a:solidFill>
                <a:latin typeface="楷体_GB2312" pitchFamily="49" charset="-122"/>
                <a:ea typeface="楷体_GB2312" pitchFamily="49" charset="-122"/>
              </a:rPr>
              <a:t>500</a:t>
            </a:r>
            <a:r>
              <a:rPr lang="zh-CN" altLang="en-US" sz="2800" b="1" dirty="0">
                <a:solidFill>
                  <a:srgbClr val="000000"/>
                </a:solidFill>
                <a:latin typeface="楷体_GB2312" pitchFamily="49" charset="-122"/>
                <a:ea typeface="楷体_GB2312" pitchFamily="49" charset="-122"/>
              </a:rPr>
              <a:t>万元，预计使用寿命为</a:t>
            </a:r>
            <a:r>
              <a:rPr lang="en-US" altLang="zh-CN" sz="2800" b="1" dirty="0">
                <a:solidFill>
                  <a:srgbClr val="000000"/>
                </a:solidFill>
                <a:latin typeface="楷体_GB2312" pitchFamily="49" charset="-122"/>
                <a:ea typeface="楷体_GB2312" pitchFamily="49" charset="-122"/>
              </a:rPr>
              <a:t>50</a:t>
            </a:r>
            <a:r>
              <a:rPr lang="zh-CN" altLang="en-US" sz="2800" b="1" dirty="0">
                <a:solidFill>
                  <a:srgbClr val="000000"/>
                </a:solidFill>
                <a:latin typeface="楷体_GB2312" pitchFamily="49" charset="-122"/>
                <a:ea typeface="楷体_GB2312" pitchFamily="49" charset="-122"/>
              </a:rPr>
              <a:t>年，预计净残值为</a:t>
            </a:r>
            <a:r>
              <a:rPr lang="en-US" altLang="zh-CN" sz="2800" b="1" dirty="0">
                <a:solidFill>
                  <a:srgbClr val="000000"/>
                </a:solidFill>
                <a:latin typeface="楷体_GB2312" pitchFamily="49" charset="-122"/>
                <a:ea typeface="楷体_GB2312" pitchFamily="49" charset="-122"/>
              </a:rPr>
              <a:t>20</a:t>
            </a:r>
            <a:r>
              <a:rPr lang="zh-CN" altLang="en-US" sz="2800" b="1" dirty="0">
                <a:solidFill>
                  <a:srgbClr val="000000"/>
                </a:solidFill>
                <a:latin typeface="楷体_GB2312" pitchFamily="49" charset="-122"/>
                <a:ea typeface="楷体_GB2312" pitchFamily="49" charset="-122"/>
              </a:rPr>
              <a:t>万元，采用年限平均法计提折旧。该办公楼占用土地的土地使用权成本为</a:t>
            </a:r>
            <a:r>
              <a:rPr lang="en-US" altLang="zh-CN" sz="2800" b="1" dirty="0">
                <a:solidFill>
                  <a:srgbClr val="000000"/>
                </a:solidFill>
                <a:latin typeface="楷体_GB2312" pitchFamily="49" charset="-122"/>
                <a:ea typeface="楷体_GB2312" pitchFamily="49" charset="-122"/>
              </a:rPr>
              <a:t>240</a:t>
            </a:r>
            <a:r>
              <a:rPr lang="zh-CN" altLang="en-US" sz="2800" b="1" dirty="0">
                <a:solidFill>
                  <a:srgbClr val="000000"/>
                </a:solidFill>
                <a:latin typeface="楷体_GB2312" pitchFamily="49" charset="-122"/>
                <a:ea typeface="楷体_GB2312" pitchFamily="49" charset="-122"/>
              </a:rPr>
              <a:t>万元，其摊销年限为</a:t>
            </a:r>
            <a:r>
              <a:rPr lang="en-US" altLang="zh-CN" sz="2800" b="1" dirty="0">
                <a:solidFill>
                  <a:srgbClr val="000000"/>
                </a:solidFill>
                <a:latin typeface="楷体_GB2312" pitchFamily="49" charset="-122"/>
                <a:ea typeface="楷体_GB2312" pitchFamily="49" charset="-122"/>
              </a:rPr>
              <a:t>40</a:t>
            </a:r>
            <a:r>
              <a:rPr lang="zh-CN" altLang="en-US" sz="2800" b="1" dirty="0">
                <a:solidFill>
                  <a:srgbClr val="000000"/>
                </a:solidFill>
                <a:latin typeface="楷体_GB2312" pitchFamily="49" charset="-122"/>
                <a:ea typeface="楷体_GB2312" pitchFamily="49" charset="-122"/>
              </a:rPr>
              <a:t>年。双方约定，乙公司</a:t>
            </a:r>
            <a:r>
              <a:rPr lang="zh-CN" altLang="en-US" sz="2800" b="1" dirty="0">
                <a:solidFill>
                  <a:srgbClr val="CC0066"/>
                </a:solidFill>
                <a:latin typeface="楷体_GB2312" pitchFamily="49" charset="-122"/>
                <a:ea typeface="楷体_GB2312" pitchFamily="49" charset="-122"/>
              </a:rPr>
              <a:t>每年年初</a:t>
            </a:r>
            <a:r>
              <a:rPr lang="zh-CN" altLang="en-US" sz="2800" b="1" dirty="0">
                <a:solidFill>
                  <a:srgbClr val="000000"/>
                </a:solidFill>
                <a:latin typeface="楷体_GB2312" pitchFamily="49" charset="-122"/>
                <a:ea typeface="楷体_GB2312" pitchFamily="49" charset="-122"/>
              </a:rPr>
              <a:t>应向甲公司支付租金</a:t>
            </a:r>
            <a:r>
              <a:rPr lang="en-US" altLang="zh-CN" sz="2800" b="1" dirty="0">
                <a:solidFill>
                  <a:srgbClr val="000000"/>
                </a:solidFill>
                <a:latin typeface="楷体_GB2312" pitchFamily="49" charset="-122"/>
                <a:ea typeface="楷体_GB2312" pitchFamily="49" charset="-122"/>
              </a:rPr>
              <a:t>30</a:t>
            </a:r>
            <a:r>
              <a:rPr lang="zh-CN" altLang="en-US" sz="2800" b="1" dirty="0">
                <a:solidFill>
                  <a:srgbClr val="000000"/>
                </a:solidFill>
                <a:latin typeface="楷体_GB2312" pitchFamily="49" charset="-122"/>
                <a:ea typeface="楷体_GB2312" pitchFamily="49" charset="-122"/>
              </a:rPr>
              <a:t>万元。</a:t>
            </a:r>
            <a:r>
              <a:rPr lang="en-US" altLang="zh-CN" sz="2800" b="1" dirty="0">
                <a:solidFill>
                  <a:srgbClr val="000000"/>
                </a:solidFill>
                <a:latin typeface="楷体_GB2312" pitchFamily="49" charset="-122"/>
                <a:ea typeface="楷体_GB2312" pitchFamily="49" charset="-122"/>
              </a:rPr>
              <a:t>2×19</a:t>
            </a:r>
            <a:r>
              <a:rPr lang="zh-CN" altLang="en-US" sz="2800" b="1" dirty="0">
                <a:solidFill>
                  <a:srgbClr val="000000"/>
                </a:solidFill>
                <a:latin typeface="楷体_GB2312" pitchFamily="49" charset="-122"/>
                <a:ea typeface="楷体_GB2312" pitchFamily="49" charset="-122"/>
              </a:rPr>
              <a:t>年</a:t>
            </a:r>
            <a:r>
              <a:rPr lang="en-US" altLang="zh-CN" sz="2800" b="1" dirty="0">
                <a:solidFill>
                  <a:srgbClr val="000000"/>
                </a:solidFill>
                <a:latin typeface="楷体_GB2312" pitchFamily="49" charset="-122"/>
                <a:ea typeface="楷体_GB2312" pitchFamily="49" charset="-122"/>
              </a:rPr>
              <a:t>12</a:t>
            </a:r>
            <a:r>
              <a:rPr lang="zh-CN" altLang="en-US" sz="2800" b="1" dirty="0">
                <a:solidFill>
                  <a:srgbClr val="000000"/>
                </a:solidFill>
                <a:latin typeface="楷体_GB2312" pitchFamily="49" charset="-122"/>
                <a:ea typeface="楷体_GB2312" pitchFamily="49" charset="-122"/>
              </a:rPr>
              <a:t>月</a:t>
            </a:r>
            <a:r>
              <a:rPr lang="en-US" altLang="zh-CN" sz="2800" b="1" dirty="0">
                <a:solidFill>
                  <a:srgbClr val="000000"/>
                </a:solidFill>
                <a:latin typeface="楷体_GB2312" pitchFamily="49" charset="-122"/>
                <a:ea typeface="楷体_GB2312" pitchFamily="49" charset="-122"/>
              </a:rPr>
              <a:t>31</a:t>
            </a:r>
            <a:r>
              <a:rPr lang="zh-CN" altLang="en-US" sz="2800" b="1" dirty="0">
                <a:solidFill>
                  <a:srgbClr val="000000"/>
                </a:solidFill>
                <a:latin typeface="楷体_GB2312" pitchFamily="49" charset="-122"/>
                <a:ea typeface="楷体_GB2312" pitchFamily="49" charset="-122"/>
              </a:rPr>
              <a:t>日，该办公楼发生减值迹象，经测试其可回收金额为</a:t>
            </a:r>
            <a:r>
              <a:rPr lang="en-US" altLang="zh-CN" sz="2800" b="1" dirty="0">
                <a:solidFill>
                  <a:srgbClr val="000000"/>
                </a:solidFill>
                <a:latin typeface="楷体_GB2312" pitchFamily="49" charset="-122"/>
                <a:ea typeface="楷体_GB2312" pitchFamily="49" charset="-122"/>
              </a:rPr>
              <a:t>480</a:t>
            </a:r>
            <a:r>
              <a:rPr lang="zh-CN" altLang="en-US" sz="2800" b="1" dirty="0">
                <a:solidFill>
                  <a:srgbClr val="000000"/>
                </a:solidFill>
                <a:latin typeface="楷体_GB2312" pitchFamily="49" charset="-122"/>
                <a:ea typeface="楷体_GB2312" pitchFamily="49" charset="-122"/>
              </a:rPr>
              <a:t>万元。</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2335797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C3E333B5-5EA9-473E-9775-B877E0FEE482}"/>
              </a:ext>
            </a:extLst>
          </p:cNvPr>
          <p:cNvSpPr>
            <a:spLocks noGrp="1" noRot="1" noChangeArrowheads="1"/>
          </p:cNvSpPr>
          <p:nvPr>
            <p:ph idx="1"/>
          </p:nvPr>
        </p:nvSpPr>
        <p:spPr>
          <a:xfrm>
            <a:off x="1315130" y="811319"/>
            <a:ext cx="10363200" cy="4114800"/>
          </a:xfrm>
        </p:spPr>
        <p:txBody>
          <a:bodyPr/>
          <a:lstStyle/>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1</a:t>
            </a: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2×19</a:t>
            </a:r>
            <a:r>
              <a:rPr lang="zh-CN" altLang="en-US" sz="2400" b="1" dirty="0">
                <a:solidFill>
                  <a:srgbClr val="000000"/>
                </a:solidFill>
                <a:latin typeface="楷体_GB2312" pitchFamily="49" charset="-122"/>
                <a:ea typeface="楷体_GB2312" pitchFamily="49" charset="-122"/>
              </a:rPr>
              <a:t>年年初收取租金</a:t>
            </a:r>
          </a:p>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 借：银行存款                      </a:t>
            </a:r>
            <a:r>
              <a:rPr lang="en-US" altLang="zh-CN" sz="2400" b="1" dirty="0">
                <a:solidFill>
                  <a:srgbClr val="000000"/>
                </a:solidFill>
                <a:latin typeface="楷体_GB2312" pitchFamily="49" charset="-122"/>
                <a:ea typeface="楷体_GB2312" pitchFamily="49" charset="-122"/>
              </a:rPr>
              <a:t>300000</a:t>
            </a:r>
          </a:p>
          <a:p>
            <a:pPr>
              <a:lnSpc>
                <a:spcPct val="80000"/>
              </a:lnSpc>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贷：其他业务收入                     </a:t>
            </a:r>
            <a:r>
              <a:rPr lang="en-US" altLang="zh-CN" sz="2400" b="1" dirty="0">
                <a:solidFill>
                  <a:srgbClr val="000000"/>
                </a:solidFill>
                <a:latin typeface="楷体_GB2312" pitchFamily="49" charset="-122"/>
                <a:ea typeface="楷体_GB2312" pitchFamily="49" charset="-122"/>
              </a:rPr>
              <a:t>300000</a:t>
            </a:r>
          </a:p>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2</a:t>
            </a: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2×19</a:t>
            </a:r>
            <a:r>
              <a:rPr lang="zh-CN" altLang="en-US" sz="2400" b="1" dirty="0">
                <a:solidFill>
                  <a:srgbClr val="000000"/>
                </a:solidFill>
                <a:latin typeface="楷体_GB2312" pitchFamily="49" charset="-122"/>
                <a:ea typeface="楷体_GB2312" pitchFamily="49" charset="-122"/>
              </a:rPr>
              <a:t>年每月计提折旧和摊销</a:t>
            </a:r>
          </a:p>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 月折旧额</a:t>
            </a:r>
            <a:r>
              <a:rPr lang="en-US" altLang="zh-CN" sz="2400" b="1" dirty="0">
                <a:solidFill>
                  <a:srgbClr val="000000"/>
                </a:solidFill>
                <a:latin typeface="楷体_GB2312" pitchFamily="49" charset="-122"/>
                <a:ea typeface="楷体_GB2312" pitchFamily="49" charset="-122"/>
              </a:rPr>
              <a:t>=</a:t>
            </a: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5000000</a:t>
            </a: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200000</a:t>
            </a: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÷50÷12=8000</a:t>
            </a:r>
            <a:r>
              <a:rPr lang="zh-CN" altLang="en-US" sz="2400" b="1" dirty="0">
                <a:solidFill>
                  <a:srgbClr val="000000"/>
                </a:solidFill>
                <a:latin typeface="楷体_GB2312" pitchFamily="49" charset="-122"/>
                <a:ea typeface="楷体_GB2312" pitchFamily="49" charset="-122"/>
              </a:rPr>
              <a:t>（元）</a:t>
            </a:r>
          </a:p>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 月摊销额</a:t>
            </a:r>
            <a:r>
              <a:rPr lang="en-US" altLang="zh-CN" sz="2400" b="1" dirty="0">
                <a:solidFill>
                  <a:srgbClr val="000000"/>
                </a:solidFill>
                <a:latin typeface="楷体_GB2312" pitchFamily="49" charset="-122"/>
                <a:ea typeface="楷体_GB2312" pitchFamily="49" charset="-122"/>
              </a:rPr>
              <a:t>=2400000÷40÷12=5000</a:t>
            </a:r>
            <a:r>
              <a:rPr lang="zh-CN" altLang="en-US" sz="2400" b="1" dirty="0">
                <a:solidFill>
                  <a:srgbClr val="000000"/>
                </a:solidFill>
                <a:latin typeface="楷体_GB2312" pitchFamily="49" charset="-122"/>
                <a:ea typeface="楷体_GB2312" pitchFamily="49" charset="-122"/>
              </a:rPr>
              <a:t>（元）</a:t>
            </a:r>
          </a:p>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 借：</a:t>
            </a:r>
            <a:r>
              <a:rPr lang="zh-CN" altLang="en-US" sz="2400" b="1" dirty="0">
                <a:solidFill>
                  <a:srgbClr val="CC0066"/>
                </a:solidFill>
                <a:latin typeface="楷体_GB2312" pitchFamily="49" charset="-122"/>
                <a:ea typeface="楷体_GB2312" pitchFamily="49" charset="-122"/>
              </a:rPr>
              <a:t>其他业务成本</a:t>
            </a:r>
            <a:r>
              <a:rPr lang="zh-CN" altLang="en-US" sz="2400" b="1" dirty="0">
                <a:solidFill>
                  <a:srgbClr val="000000"/>
                </a:solidFill>
                <a:latin typeface="楷体_GB2312" pitchFamily="49" charset="-122"/>
                <a:ea typeface="楷体_GB2312" pitchFamily="49" charset="-122"/>
              </a:rPr>
              <a:t>                  </a:t>
            </a:r>
            <a:r>
              <a:rPr lang="en-US" altLang="zh-CN" sz="2400" b="1" dirty="0">
                <a:solidFill>
                  <a:srgbClr val="000000"/>
                </a:solidFill>
                <a:latin typeface="楷体_GB2312" pitchFamily="49" charset="-122"/>
                <a:ea typeface="楷体_GB2312" pitchFamily="49" charset="-122"/>
              </a:rPr>
              <a:t>13000</a:t>
            </a:r>
          </a:p>
          <a:p>
            <a:pPr>
              <a:lnSpc>
                <a:spcPct val="80000"/>
              </a:lnSpc>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贷：投资性房地产累计折旧              </a:t>
            </a:r>
            <a:r>
              <a:rPr lang="en-US" altLang="zh-CN" sz="2400" b="1" dirty="0">
                <a:solidFill>
                  <a:srgbClr val="000000"/>
                </a:solidFill>
                <a:latin typeface="楷体_GB2312" pitchFamily="49" charset="-122"/>
                <a:ea typeface="楷体_GB2312" pitchFamily="49" charset="-122"/>
              </a:rPr>
              <a:t>8000</a:t>
            </a:r>
          </a:p>
          <a:p>
            <a:pPr>
              <a:lnSpc>
                <a:spcPct val="80000"/>
              </a:lnSpc>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投资性房地产累计摊销              </a:t>
            </a:r>
            <a:r>
              <a:rPr lang="en-US" altLang="zh-CN" sz="2400" b="1" dirty="0">
                <a:solidFill>
                  <a:srgbClr val="000000"/>
                </a:solidFill>
                <a:latin typeface="楷体_GB2312" pitchFamily="49" charset="-122"/>
                <a:ea typeface="楷体_GB2312" pitchFamily="49" charset="-122"/>
              </a:rPr>
              <a:t>5000</a:t>
            </a:r>
          </a:p>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3</a:t>
            </a: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2×19</a:t>
            </a:r>
            <a:r>
              <a:rPr lang="zh-CN" altLang="en-US" sz="2400" b="1" dirty="0">
                <a:solidFill>
                  <a:srgbClr val="000000"/>
                </a:solidFill>
                <a:latin typeface="楷体_GB2312" pitchFamily="49" charset="-122"/>
                <a:ea typeface="楷体_GB2312" pitchFamily="49" charset="-122"/>
              </a:rPr>
              <a:t>年</a:t>
            </a:r>
            <a:r>
              <a:rPr lang="en-US" altLang="zh-CN" sz="2400" b="1" dirty="0">
                <a:solidFill>
                  <a:srgbClr val="000000"/>
                </a:solidFill>
                <a:latin typeface="楷体_GB2312" pitchFamily="49" charset="-122"/>
                <a:ea typeface="楷体_GB2312" pitchFamily="49" charset="-122"/>
              </a:rPr>
              <a:t>12</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31</a:t>
            </a:r>
            <a:r>
              <a:rPr lang="zh-CN" altLang="en-US" sz="2400" b="1" dirty="0">
                <a:solidFill>
                  <a:srgbClr val="000000"/>
                </a:solidFill>
                <a:latin typeface="楷体_GB2312" pitchFamily="49" charset="-122"/>
                <a:ea typeface="楷体_GB2312" pitchFamily="49" charset="-122"/>
              </a:rPr>
              <a:t>日确认资产减值损失</a:t>
            </a:r>
          </a:p>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 计提减值准备前办公楼的账面价值</a:t>
            </a:r>
          </a:p>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    </a:t>
            </a:r>
            <a:r>
              <a:rPr lang="en-US" altLang="zh-CN" sz="2400" b="1" dirty="0">
                <a:solidFill>
                  <a:srgbClr val="000000"/>
                </a:solidFill>
                <a:latin typeface="楷体_GB2312" pitchFamily="49" charset="-122"/>
                <a:ea typeface="楷体_GB2312" pitchFamily="49" charset="-122"/>
              </a:rPr>
              <a:t>=5000000</a:t>
            </a:r>
            <a:r>
              <a:rPr lang="zh-CN" altLang="en-US" sz="2400" b="1" dirty="0">
                <a:solidFill>
                  <a:srgbClr val="000000"/>
                </a:solidFill>
                <a:latin typeface="楷体_GB2312" pitchFamily="49" charset="-122"/>
                <a:ea typeface="楷体_GB2312" pitchFamily="49" charset="-122"/>
              </a:rPr>
              <a:t>－</a:t>
            </a:r>
            <a:r>
              <a:rPr lang="en-US" altLang="zh-CN" sz="2400" b="1" dirty="0">
                <a:solidFill>
                  <a:srgbClr val="CC0066"/>
                </a:solidFill>
                <a:latin typeface="楷体_GB2312" pitchFamily="49" charset="-122"/>
                <a:ea typeface="楷体_GB2312" pitchFamily="49" charset="-122"/>
              </a:rPr>
              <a:t>8000×12</a:t>
            </a:r>
            <a:r>
              <a:rPr lang="en-US" altLang="zh-CN" sz="2400" b="1" dirty="0">
                <a:solidFill>
                  <a:srgbClr val="000000"/>
                </a:solidFill>
                <a:latin typeface="楷体_GB2312" pitchFamily="49" charset="-122"/>
                <a:ea typeface="楷体_GB2312" pitchFamily="49" charset="-122"/>
              </a:rPr>
              <a:t>=4904000</a:t>
            </a:r>
            <a:r>
              <a:rPr lang="zh-CN" altLang="en-US" sz="2400" b="1" dirty="0">
                <a:solidFill>
                  <a:srgbClr val="000000"/>
                </a:solidFill>
                <a:latin typeface="楷体_GB2312" pitchFamily="49" charset="-122"/>
                <a:ea typeface="楷体_GB2312" pitchFamily="49" charset="-122"/>
              </a:rPr>
              <a:t>（元）</a:t>
            </a:r>
          </a:p>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 </a:t>
            </a:r>
            <a:r>
              <a:rPr lang="zh-CN" altLang="en-US" sz="2400" b="1" dirty="0">
                <a:solidFill>
                  <a:srgbClr val="CC0066"/>
                </a:solidFill>
                <a:latin typeface="楷体_GB2312" pitchFamily="49" charset="-122"/>
                <a:ea typeface="楷体_GB2312" pitchFamily="49" charset="-122"/>
              </a:rPr>
              <a:t>应计提的资产减值准备</a:t>
            </a:r>
            <a:r>
              <a:rPr lang="en-US" altLang="zh-CN" sz="2400" b="1" dirty="0">
                <a:solidFill>
                  <a:srgbClr val="CC0066"/>
                </a:solidFill>
                <a:latin typeface="楷体_GB2312" pitchFamily="49" charset="-122"/>
                <a:ea typeface="楷体_GB2312" pitchFamily="49" charset="-122"/>
              </a:rPr>
              <a:t>=4904000</a:t>
            </a:r>
            <a:r>
              <a:rPr lang="zh-CN" altLang="en-US" sz="2400" b="1" dirty="0">
                <a:solidFill>
                  <a:srgbClr val="CC0066"/>
                </a:solidFill>
                <a:latin typeface="楷体_GB2312" pitchFamily="49" charset="-122"/>
                <a:ea typeface="楷体_GB2312" pitchFamily="49" charset="-122"/>
              </a:rPr>
              <a:t>－</a:t>
            </a:r>
            <a:r>
              <a:rPr lang="en-US" altLang="zh-CN" sz="2400" b="1" dirty="0">
                <a:solidFill>
                  <a:srgbClr val="CC0066"/>
                </a:solidFill>
                <a:latin typeface="楷体_GB2312" pitchFamily="49" charset="-122"/>
                <a:ea typeface="楷体_GB2312" pitchFamily="49" charset="-122"/>
              </a:rPr>
              <a:t>4800000=104000</a:t>
            </a:r>
            <a:r>
              <a:rPr lang="zh-CN" altLang="en-US" sz="2400" b="1" dirty="0">
                <a:solidFill>
                  <a:srgbClr val="CC0066"/>
                </a:solidFill>
                <a:latin typeface="楷体_GB2312" pitchFamily="49" charset="-122"/>
                <a:ea typeface="楷体_GB2312" pitchFamily="49" charset="-122"/>
              </a:rPr>
              <a:t>（元）</a:t>
            </a:r>
          </a:p>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 借：资产减值损失                 </a:t>
            </a:r>
            <a:r>
              <a:rPr lang="en-US" altLang="zh-CN" sz="2400" b="1" dirty="0">
                <a:solidFill>
                  <a:srgbClr val="000000"/>
                </a:solidFill>
                <a:latin typeface="楷体_GB2312" pitchFamily="49" charset="-122"/>
                <a:ea typeface="楷体_GB2312" pitchFamily="49" charset="-122"/>
              </a:rPr>
              <a:t>104000</a:t>
            </a:r>
          </a:p>
          <a:p>
            <a:pPr>
              <a:lnSpc>
                <a:spcPct val="80000"/>
              </a:lnSpc>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贷：投资性房地产减值准备             </a:t>
            </a:r>
            <a:r>
              <a:rPr lang="en-US" altLang="zh-CN" sz="2400" b="1" dirty="0">
                <a:solidFill>
                  <a:srgbClr val="000000"/>
                </a:solidFill>
                <a:latin typeface="楷体_GB2312" pitchFamily="49" charset="-122"/>
                <a:ea typeface="楷体_GB2312" pitchFamily="49" charset="-122"/>
              </a:rPr>
              <a:t>104000</a:t>
            </a:r>
          </a:p>
        </p:txBody>
      </p:sp>
    </p:spTree>
    <p:extLst>
      <p:ext uri="{BB962C8B-B14F-4D97-AF65-F5344CB8AC3E}">
        <p14:creationId xmlns:p14="http://schemas.microsoft.com/office/powerpoint/2010/main" val="2643825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blinds(horizontal)">
                                      <p:cBhvr>
                                        <p:cTn id="10" dur="5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blinds(horizontal)">
                                      <p:cBhvr>
                                        <p:cTn id="15" dur="500"/>
                                        <p:tgtEl>
                                          <p:spTgt spid="5">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
                                            <p:txEl>
                                              <p:pRg st="5" end="5"/>
                                            </p:txEl>
                                          </p:spTgt>
                                        </p:tgtEl>
                                        <p:attrNameLst>
                                          <p:attrName>style.visibility</p:attrName>
                                        </p:attrNameLst>
                                      </p:cBhvr>
                                      <p:to>
                                        <p:strVal val="visible"/>
                                      </p:to>
                                    </p:set>
                                    <p:animEffect transition="in" filter="blinds(horizontal)">
                                      <p:cBhvr>
                                        <p:cTn id="18" dur="500"/>
                                        <p:tgtEl>
                                          <p:spTgt spid="5">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animEffect transition="in" filter="blinds(horizontal)">
                                      <p:cBhvr>
                                        <p:cTn id="21" dur="500"/>
                                        <p:tgtEl>
                                          <p:spTgt spid="5">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
                                            <p:txEl>
                                              <p:pRg st="7" end="7"/>
                                            </p:txEl>
                                          </p:spTgt>
                                        </p:tgtEl>
                                        <p:attrNameLst>
                                          <p:attrName>style.visibility</p:attrName>
                                        </p:attrNameLst>
                                      </p:cBhvr>
                                      <p:to>
                                        <p:strVal val="visible"/>
                                      </p:to>
                                    </p:set>
                                    <p:animEffect transition="in" filter="blinds(horizontal)">
                                      <p:cBhvr>
                                        <p:cTn id="24" dur="500"/>
                                        <p:tgtEl>
                                          <p:spTgt spid="5">
                                            <p:txEl>
                                              <p:pRg st="7" end="7"/>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blinds(horizontal)">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xEl>
                                              <p:pRg st="10" end="10"/>
                                            </p:txEl>
                                          </p:spTgt>
                                        </p:tgtEl>
                                        <p:attrNameLst>
                                          <p:attrName>style.visibility</p:attrName>
                                        </p:attrNameLst>
                                      </p:cBhvr>
                                      <p:to>
                                        <p:strVal val="visible"/>
                                      </p:to>
                                    </p:set>
                                    <p:animEffect transition="in" filter="blinds(horizontal)">
                                      <p:cBhvr>
                                        <p:cTn id="32" dur="500"/>
                                        <p:tgtEl>
                                          <p:spTgt spid="5">
                                            <p:txEl>
                                              <p:pRg st="10" end="10"/>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5">
                                            <p:txEl>
                                              <p:pRg st="11" end="11"/>
                                            </p:txEl>
                                          </p:spTgt>
                                        </p:tgtEl>
                                        <p:attrNameLst>
                                          <p:attrName>style.visibility</p:attrName>
                                        </p:attrNameLst>
                                      </p:cBhvr>
                                      <p:to>
                                        <p:strVal val="visible"/>
                                      </p:to>
                                    </p:set>
                                    <p:animEffect transition="in" filter="blinds(horizontal)">
                                      <p:cBhvr>
                                        <p:cTn id="35" dur="500"/>
                                        <p:tgtEl>
                                          <p:spTgt spid="5">
                                            <p:txEl>
                                              <p:pRg st="11" end="11"/>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5">
                                            <p:txEl>
                                              <p:pRg st="12" end="12"/>
                                            </p:txEl>
                                          </p:spTgt>
                                        </p:tgtEl>
                                        <p:attrNameLst>
                                          <p:attrName>style.visibility</p:attrName>
                                        </p:attrNameLst>
                                      </p:cBhvr>
                                      <p:to>
                                        <p:strVal val="visible"/>
                                      </p:to>
                                    </p:set>
                                    <p:animEffect transition="in" filter="blinds(horizontal)">
                                      <p:cBhvr>
                                        <p:cTn id="38" dur="500"/>
                                        <p:tgtEl>
                                          <p:spTgt spid="5">
                                            <p:txEl>
                                              <p:pRg st="12" end="12"/>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5">
                                            <p:txEl>
                                              <p:pRg st="13" end="13"/>
                                            </p:txEl>
                                          </p:spTgt>
                                        </p:tgtEl>
                                        <p:attrNameLst>
                                          <p:attrName>style.visibility</p:attrName>
                                        </p:attrNameLst>
                                      </p:cBhvr>
                                      <p:to>
                                        <p:strVal val="visible"/>
                                      </p:to>
                                    </p:set>
                                    <p:animEffect transition="in" filter="blinds(horizontal)">
                                      <p:cBhvr>
                                        <p:cTn id="41" dur="500"/>
                                        <p:tgtEl>
                                          <p:spTgt spid="5">
                                            <p:txEl>
                                              <p:pRg st="13" end="13"/>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5">
                                            <p:txEl>
                                              <p:pRg st="14" end="14"/>
                                            </p:txEl>
                                          </p:spTgt>
                                        </p:tgtEl>
                                        <p:attrNameLst>
                                          <p:attrName>style.visibility</p:attrName>
                                        </p:attrNameLst>
                                      </p:cBhvr>
                                      <p:to>
                                        <p:strVal val="visible"/>
                                      </p:to>
                                    </p:set>
                                    <p:animEffect transition="in" filter="blinds(horizontal)">
                                      <p:cBhvr>
                                        <p:cTn id="44" dur="500"/>
                                        <p:tgtEl>
                                          <p:spTgt spid="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kern="1200" dirty="0">
                <a:solidFill>
                  <a:srgbClr val="000000"/>
                </a:solidFill>
                <a:effectLst>
                  <a:outerShdw blurRad="31750" dist="25400" dir="5400000" algn="tl" rotWithShape="0">
                    <a:srgbClr val="000000">
                      <a:alpha val="25000"/>
                    </a:srgbClr>
                  </a:outerShdw>
                </a:effectLst>
                <a:latin typeface="黑体" panose="02010609060101010101" pitchFamily="49" charset="-122"/>
                <a:ea typeface="黑体" panose="02010609060101010101" pitchFamily="49" charset="-122"/>
              </a:rPr>
              <a:t>（二）采用公允价值模式计量的投资性房地产的后续计量</a:t>
            </a:r>
            <a:endParaRPr lang="zh-CN" altLang="en-US" sz="3200" dirty="0">
              <a:latin typeface="黑体" panose="02010609060101010101" pitchFamily="49" charset="-122"/>
              <a:ea typeface="黑体" panose="02010609060101010101" pitchFamily="49" charset="-122"/>
            </a:endParaRPr>
          </a:p>
        </p:txBody>
      </p:sp>
      <p:sp>
        <p:nvSpPr>
          <p:cNvPr id="5" name="Rectangle 3">
            <a:extLst>
              <a:ext uri="{FF2B5EF4-FFF2-40B4-BE49-F238E27FC236}">
                <a16:creationId xmlns:a16="http://schemas.microsoft.com/office/drawing/2014/main" id="{1702F440-5D67-4471-AC6F-D6285DB15C7B}"/>
              </a:ext>
            </a:extLst>
          </p:cNvPr>
          <p:cNvSpPr>
            <a:spLocks noGrp="1" noRot="1" noChangeArrowheads="1"/>
          </p:cNvSpPr>
          <p:nvPr>
            <p:ph idx="1"/>
          </p:nvPr>
        </p:nvSpPr>
        <p:spPr>
          <a:xfrm>
            <a:off x="1576388" y="2017713"/>
            <a:ext cx="10363200" cy="4114800"/>
          </a:xfrm>
        </p:spPr>
        <p:txBody>
          <a:bodyPr/>
          <a:lstStyle/>
          <a:p>
            <a:pPr>
              <a:lnSpc>
                <a:spcPct val="110000"/>
              </a:lnSpc>
            </a:pPr>
            <a:r>
              <a:rPr lang="zh-CN" altLang="en-US" sz="2800" b="1" dirty="0">
                <a:solidFill>
                  <a:srgbClr val="000000"/>
                </a:solidFill>
                <a:ea typeface="楷体_GB2312" pitchFamily="49" charset="-122"/>
              </a:rPr>
              <a:t>当企业有</a:t>
            </a:r>
            <a:r>
              <a:rPr lang="zh-CN" altLang="en-US" sz="2800" b="1" dirty="0">
                <a:solidFill>
                  <a:srgbClr val="FF0000"/>
                </a:solidFill>
                <a:ea typeface="楷体_GB2312" pitchFamily="49" charset="-122"/>
              </a:rPr>
              <a:t>确凿证据</a:t>
            </a:r>
            <a:r>
              <a:rPr lang="zh-CN" altLang="en-US" sz="2800" b="1" dirty="0">
                <a:solidFill>
                  <a:srgbClr val="000000"/>
                </a:solidFill>
                <a:ea typeface="楷体_GB2312" pitchFamily="49" charset="-122"/>
              </a:rPr>
              <a:t>表明其投资性房地产的</a:t>
            </a:r>
            <a:r>
              <a:rPr lang="zh-CN" altLang="en-US" sz="2800" b="1" dirty="0">
                <a:solidFill>
                  <a:srgbClr val="FF0000"/>
                </a:solidFill>
                <a:ea typeface="楷体_GB2312" pitchFamily="49" charset="-122"/>
              </a:rPr>
              <a:t>公允价值能够持续可靠取得</a:t>
            </a:r>
            <a:r>
              <a:rPr lang="zh-CN" altLang="en-US" sz="2800" b="1" dirty="0">
                <a:solidFill>
                  <a:srgbClr val="000000"/>
                </a:solidFill>
                <a:ea typeface="楷体_GB2312" pitchFamily="49" charset="-122"/>
              </a:rPr>
              <a:t>时，可以对投资性房地产采用公允价值模式进行后续计量。</a:t>
            </a:r>
          </a:p>
          <a:p>
            <a:pPr>
              <a:lnSpc>
                <a:spcPct val="110000"/>
              </a:lnSpc>
            </a:pPr>
            <a:endParaRPr lang="zh-CN" altLang="en-US" sz="2800" b="1" dirty="0">
              <a:solidFill>
                <a:srgbClr val="000000"/>
              </a:solidFill>
              <a:ea typeface="楷体_GB2312" pitchFamily="49" charset="-122"/>
            </a:endParaRPr>
          </a:p>
          <a:p>
            <a:pPr>
              <a:lnSpc>
                <a:spcPct val="110000"/>
              </a:lnSpc>
            </a:pPr>
            <a:r>
              <a:rPr lang="zh-CN" altLang="en-US" sz="2800" b="1" dirty="0">
                <a:solidFill>
                  <a:srgbClr val="000000"/>
                </a:solidFill>
                <a:ea typeface="楷体_GB2312" pitchFamily="49" charset="-122"/>
              </a:rPr>
              <a:t>其</a:t>
            </a:r>
            <a:r>
              <a:rPr lang="zh-CN" altLang="en-US" sz="2800" b="1" dirty="0">
                <a:solidFill>
                  <a:srgbClr val="FF0000"/>
                </a:solidFill>
                <a:ea typeface="楷体_GB2312" pitchFamily="49" charset="-122"/>
              </a:rPr>
              <a:t>核算要点</a:t>
            </a:r>
            <a:r>
              <a:rPr lang="zh-CN" altLang="en-US" sz="2800" b="1" dirty="0">
                <a:solidFill>
                  <a:srgbClr val="000000"/>
                </a:solidFill>
                <a:ea typeface="楷体_GB2312" pitchFamily="49" charset="-122"/>
              </a:rPr>
              <a:t>是：企业应以资产负债表日投资性房地产的公允价值为基础调整其账面价值，同时将公允价值与原账面价值之间的差额计入当期损益（“公允价值变动损益”科目），</a:t>
            </a:r>
            <a:r>
              <a:rPr lang="zh-CN" altLang="en-US" sz="2800" b="1" dirty="0">
                <a:solidFill>
                  <a:srgbClr val="CC0066"/>
                </a:solidFill>
                <a:ea typeface="楷体_GB2312" pitchFamily="49" charset="-122"/>
              </a:rPr>
              <a:t>而不对投资性房地产计提折旧或进行摊销。</a:t>
            </a:r>
          </a:p>
        </p:txBody>
      </p:sp>
    </p:spTree>
    <p:extLst>
      <p:ext uri="{BB962C8B-B14F-4D97-AF65-F5344CB8AC3E}">
        <p14:creationId xmlns:p14="http://schemas.microsoft.com/office/powerpoint/2010/main" val="4081568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（二）采用公允价值模式计量的投资性房地产的后续计量</a:t>
            </a:r>
            <a:endParaRPr lang="zh-CN" altLang="en-US" sz="3200"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576917" y="2017712"/>
            <a:ext cx="10363200" cy="4840287"/>
          </a:xfrm>
        </p:spPr>
        <p:txBody>
          <a:bodyPr/>
          <a:lstStyle/>
          <a:p>
            <a:pPr>
              <a:lnSpc>
                <a:spcPct val="90000"/>
              </a:lnSpc>
            </a:pPr>
            <a:r>
              <a:rPr lang="zh-CN" altLang="en-US" sz="2400" dirty="0">
                <a:solidFill>
                  <a:schemeClr val="tx2"/>
                </a:solidFill>
                <a:latin typeface="楷体_GB2312" pitchFamily="49" charset="-122"/>
                <a:ea typeface="楷体_GB2312" pitchFamily="49" charset="-122"/>
              </a:rPr>
              <a:t>例：</a:t>
            </a:r>
            <a:r>
              <a:rPr lang="zh-CN" altLang="en-US" sz="2400" dirty="0">
                <a:solidFill>
                  <a:srgbClr val="CC0066"/>
                </a:solidFill>
                <a:latin typeface="楷体_GB2312" pitchFamily="49" charset="-122"/>
                <a:ea typeface="楷体_GB2312" pitchFamily="49" charset="-122"/>
              </a:rPr>
              <a:t>续上例</a:t>
            </a:r>
            <a:r>
              <a:rPr lang="zh-CN" altLang="en-US" sz="2400" dirty="0">
                <a:solidFill>
                  <a:srgbClr val="000000"/>
                </a:solidFill>
                <a:latin typeface="楷体_GB2312" pitchFamily="49" charset="-122"/>
                <a:ea typeface="楷体_GB2312" pitchFamily="49" charset="-122"/>
              </a:rPr>
              <a:t>，假设甲公司对办公楼和土地使用权采用公允价值模式进行后续计量，</a:t>
            </a:r>
            <a:r>
              <a:rPr lang="en-US" altLang="zh-CN" sz="2400" dirty="0">
                <a:solidFill>
                  <a:srgbClr val="000000"/>
                </a:solidFill>
                <a:latin typeface="楷体_GB2312" pitchFamily="49" charset="-122"/>
                <a:ea typeface="楷体_GB2312" pitchFamily="49" charset="-122"/>
              </a:rPr>
              <a:t>2×19</a:t>
            </a:r>
            <a:r>
              <a:rPr lang="zh-CN" altLang="en-US" sz="2400" dirty="0">
                <a:solidFill>
                  <a:srgbClr val="000000"/>
                </a:solidFill>
                <a:latin typeface="楷体_GB2312" pitchFamily="49" charset="-122"/>
                <a:ea typeface="楷体_GB2312" pitchFamily="49" charset="-122"/>
              </a:rPr>
              <a:t>年</a:t>
            </a:r>
            <a:r>
              <a:rPr lang="en-US" altLang="zh-CN" sz="2400" dirty="0">
                <a:solidFill>
                  <a:srgbClr val="000000"/>
                </a:solidFill>
                <a:latin typeface="楷体_GB2312" pitchFamily="49" charset="-122"/>
                <a:ea typeface="楷体_GB2312" pitchFamily="49" charset="-122"/>
              </a:rPr>
              <a:t>12</a:t>
            </a:r>
            <a:r>
              <a:rPr lang="zh-CN" altLang="en-US" sz="2400" dirty="0">
                <a:solidFill>
                  <a:srgbClr val="000000"/>
                </a:solidFill>
                <a:latin typeface="楷体_GB2312" pitchFamily="49" charset="-122"/>
                <a:ea typeface="楷体_GB2312" pitchFamily="49" charset="-122"/>
              </a:rPr>
              <a:t>月</a:t>
            </a:r>
            <a:r>
              <a:rPr lang="en-US" altLang="zh-CN" sz="2400" dirty="0">
                <a:solidFill>
                  <a:srgbClr val="000000"/>
                </a:solidFill>
                <a:latin typeface="楷体_GB2312" pitchFamily="49" charset="-122"/>
                <a:ea typeface="楷体_GB2312" pitchFamily="49" charset="-122"/>
              </a:rPr>
              <a:t>31</a:t>
            </a:r>
            <a:r>
              <a:rPr lang="zh-CN" altLang="en-US" sz="2400" dirty="0">
                <a:solidFill>
                  <a:srgbClr val="000000"/>
                </a:solidFill>
                <a:latin typeface="楷体_GB2312" pitchFamily="49" charset="-122"/>
                <a:ea typeface="楷体_GB2312" pitchFamily="49" charset="-122"/>
              </a:rPr>
              <a:t>日办公楼的公允价值为</a:t>
            </a:r>
            <a:r>
              <a:rPr lang="en-US" altLang="zh-CN" sz="2400" dirty="0">
                <a:solidFill>
                  <a:srgbClr val="000000"/>
                </a:solidFill>
                <a:latin typeface="楷体_GB2312" pitchFamily="49" charset="-122"/>
                <a:ea typeface="楷体_GB2312" pitchFamily="49" charset="-122"/>
              </a:rPr>
              <a:t>540</a:t>
            </a:r>
            <a:r>
              <a:rPr lang="zh-CN" altLang="en-US" sz="2400" dirty="0">
                <a:solidFill>
                  <a:srgbClr val="000000"/>
                </a:solidFill>
                <a:latin typeface="楷体_GB2312" pitchFamily="49" charset="-122"/>
                <a:ea typeface="楷体_GB2312" pitchFamily="49" charset="-122"/>
              </a:rPr>
              <a:t>万元（成本</a:t>
            </a:r>
            <a:r>
              <a:rPr lang="en-US" altLang="zh-CN" sz="2400" dirty="0">
                <a:solidFill>
                  <a:srgbClr val="000000"/>
                </a:solidFill>
                <a:latin typeface="楷体_GB2312" pitchFamily="49" charset="-122"/>
                <a:ea typeface="楷体_GB2312" pitchFamily="49" charset="-122"/>
              </a:rPr>
              <a:t>500</a:t>
            </a:r>
            <a:r>
              <a:rPr lang="zh-CN" altLang="en-US" sz="2400" dirty="0">
                <a:solidFill>
                  <a:srgbClr val="000000"/>
                </a:solidFill>
                <a:latin typeface="楷体_GB2312" pitchFamily="49" charset="-122"/>
                <a:ea typeface="楷体_GB2312" pitchFamily="49" charset="-122"/>
              </a:rPr>
              <a:t>万元），土地使用权的公允价值为</a:t>
            </a:r>
            <a:r>
              <a:rPr lang="en-US" altLang="zh-CN" sz="2400" dirty="0">
                <a:solidFill>
                  <a:srgbClr val="000000"/>
                </a:solidFill>
                <a:latin typeface="楷体_GB2312" pitchFamily="49" charset="-122"/>
                <a:ea typeface="楷体_GB2312" pitchFamily="49" charset="-122"/>
              </a:rPr>
              <a:t>300</a:t>
            </a:r>
            <a:r>
              <a:rPr lang="zh-CN" altLang="en-US" sz="2400" dirty="0">
                <a:solidFill>
                  <a:srgbClr val="000000"/>
                </a:solidFill>
                <a:latin typeface="楷体_GB2312" pitchFamily="49" charset="-122"/>
                <a:ea typeface="楷体_GB2312" pitchFamily="49" charset="-122"/>
              </a:rPr>
              <a:t>万元（成本</a:t>
            </a:r>
            <a:r>
              <a:rPr lang="en-US" altLang="zh-CN" sz="2400" dirty="0">
                <a:solidFill>
                  <a:srgbClr val="000000"/>
                </a:solidFill>
                <a:latin typeface="楷体_GB2312" pitchFamily="49" charset="-122"/>
                <a:ea typeface="楷体_GB2312" pitchFamily="49" charset="-122"/>
              </a:rPr>
              <a:t>240</a:t>
            </a:r>
            <a:r>
              <a:rPr lang="zh-CN" altLang="en-US" sz="2400" dirty="0">
                <a:solidFill>
                  <a:srgbClr val="000000"/>
                </a:solidFill>
                <a:latin typeface="楷体_GB2312" pitchFamily="49" charset="-122"/>
                <a:ea typeface="楷体_GB2312" pitchFamily="49" charset="-122"/>
              </a:rPr>
              <a:t>万元）。</a:t>
            </a:r>
          </a:p>
          <a:p>
            <a:pPr>
              <a:lnSpc>
                <a:spcPct val="90000"/>
              </a:lnSpc>
            </a:pPr>
            <a:r>
              <a:rPr lang="zh-CN" altLang="en-US" sz="2400" dirty="0">
                <a:solidFill>
                  <a:srgbClr val="000000"/>
                </a:solidFill>
                <a:latin typeface="楷体_GB2312" pitchFamily="49" charset="-122"/>
                <a:ea typeface="楷体_GB2312" pitchFamily="49" charset="-122"/>
              </a:rPr>
              <a:t>甲公司应进行的账务处理如下：</a:t>
            </a:r>
          </a:p>
          <a:p>
            <a:pPr>
              <a:lnSpc>
                <a:spcPct val="90000"/>
              </a:lnSpc>
              <a:buNone/>
            </a:pPr>
            <a:r>
              <a:rPr lang="zh-CN" altLang="en-US" sz="2400" dirty="0">
                <a:solidFill>
                  <a:srgbClr val="000000"/>
                </a:solidFill>
                <a:latin typeface="楷体_GB2312" pitchFamily="49" charset="-122"/>
                <a:ea typeface="楷体_GB2312" pitchFamily="49" charset="-122"/>
              </a:rPr>
              <a:t>（</a:t>
            </a:r>
            <a:r>
              <a:rPr lang="en-US" altLang="zh-CN" sz="2400" dirty="0">
                <a:solidFill>
                  <a:srgbClr val="000000"/>
                </a:solidFill>
                <a:latin typeface="楷体_GB2312" pitchFamily="49" charset="-122"/>
                <a:ea typeface="楷体_GB2312" pitchFamily="49" charset="-122"/>
              </a:rPr>
              <a:t>1</a:t>
            </a:r>
            <a:r>
              <a:rPr lang="zh-CN" altLang="en-US" sz="2400" dirty="0">
                <a:solidFill>
                  <a:srgbClr val="000000"/>
                </a:solidFill>
                <a:latin typeface="楷体_GB2312" pitchFamily="49" charset="-122"/>
                <a:ea typeface="楷体_GB2312" pitchFamily="49" charset="-122"/>
              </a:rPr>
              <a:t>）</a:t>
            </a:r>
            <a:r>
              <a:rPr lang="en-US" altLang="zh-CN" sz="2400" dirty="0">
                <a:solidFill>
                  <a:srgbClr val="000000"/>
                </a:solidFill>
                <a:latin typeface="楷体_GB2312" pitchFamily="49" charset="-122"/>
                <a:ea typeface="楷体_GB2312" pitchFamily="49" charset="-122"/>
              </a:rPr>
              <a:t>2×19</a:t>
            </a:r>
            <a:r>
              <a:rPr lang="zh-CN" altLang="en-US" sz="2400" dirty="0">
                <a:solidFill>
                  <a:srgbClr val="000000"/>
                </a:solidFill>
                <a:latin typeface="楷体_GB2312" pitchFamily="49" charset="-122"/>
                <a:ea typeface="楷体_GB2312" pitchFamily="49" charset="-122"/>
              </a:rPr>
              <a:t>年年初收取租金</a:t>
            </a:r>
          </a:p>
          <a:p>
            <a:pPr>
              <a:lnSpc>
                <a:spcPct val="90000"/>
              </a:lnSpc>
              <a:buNone/>
            </a:pPr>
            <a:r>
              <a:rPr lang="zh-CN" altLang="en-US" sz="2400" dirty="0">
                <a:solidFill>
                  <a:srgbClr val="000000"/>
                </a:solidFill>
                <a:latin typeface="楷体_GB2312" pitchFamily="49" charset="-122"/>
                <a:ea typeface="楷体_GB2312" pitchFamily="49" charset="-122"/>
              </a:rPr>
              <a:t>  借：银行存款                        </a:t>
            </a:r>
            <a:r>
              <a:rPr lang="en-US" altLang="zh-CN" sz="2400" dirty="0">
                <a:solidFill>
                  <a:srgbClr val="000000"/>
                </a:solidFill>
                <a:latin typeface="楷体_GB2312" pitchFamily="49" charset="-122"/>
                <a:ea typeface="楷体_GB2312" pitchFamily="49" charset="-122"/>
              </a:rPr>
              <a:t>300000</a:t>
            </a:r>
          </a:p>
          <a:p>
            <a:pPr>
              <a:lnSpc>
                <a:spcPct val="90000"/>
              </a:lnSpc>
              <a:buNone/>
            </a:pPr>
            <a:r>
              <a:rPr lang="en-US" altLang="zh-CN" sz="2400" dirty="0">
                <a:solidFill>
                  <a:srgbClr val="000000"/>
                </a:solidFill>
                <a:latin typeface="楷体_GB2312" pitchFamily="49" charset="-122"/>
                <a:ea typeface="楷体_GB2312" pitchFamily="49" charset="-122"/>
              </a:rPr>
              <a:t>      </a:t>
            </a:r>
            <a:r>
              <a:rPr lang="zh-CN" altLang="en-US" sz="2400" dirty="0">
                <a:solidFill>
                  <a:srgbClr val="000000"/>
                </a:solidFill>
                <a:latin typeface="楷体_GB2312" pitchFamily="49" charset="-122"/>
                <a:ea typeface="楷体_GB2312" pitchFamily="49" charset="-122"/>
              </a:rPr>
              <a:t>贷：其他业务收入                      </a:t>
            </a:r>
            <a:r>
              <a:rPr lang="en-US" altLang="zh-CN" sz="2400" dirty="0">
                <a:solidFill>
                  <a:srgbClr val="000000"/>
                </a:solidFill>
                <a:latin typeface="楷体_GB2312" pitchFamily="49" charset="-122"/>
                <a:ea typeface="楷体_GB2312" pitchFamily="49" charset="-122"/>
              </a:rPr>
              <a:t>300000</a:t>
            </a:r>
          </a:p>
          <a:p>
            <a:pPr>
              <a:lnSpc>
                <a:spcPct val="90000"/>
              </a:lnSpc>
              <a:buNone/>
            </a:pPr>
            <a:r>
              <a:rPr lang="zh-CN" altLang="en-US" sz="2400" dirty="0">
                <a:solidFill>
                  <a:srgbClr val="000000"/>
                </a:solidFill>
                <a:latin typeface="楷体_GB2312" pitchFamily="49" charset="-122"/>
                <a:ea typeface="楷体_GB2312" pitchFamily="49" charset="-122"/>
              </a:rPr>
              <a:t>（</a:t>
            </a:r>
            <a:r>
              <a:rPr lang="en-US" altLang="zh-CN" sz="2400" dirty="0">
                <a:solidFill>
                  <a:srgbClr val="000000"/>
                </a:solidFill>
                <a:latin typeface="楷体_GB2312" pitchFamily="49" charset="-122"/>
                <a:ea typeface="楷体_GB2312" pitchFamily="49" charset="-122"/>
              </a:rPr>
              <a:t>2</a:t>
            </a:r>
            <a:r>
              <a:rPr lang="zh-CN" altLang="en-US" sz="2400" dirty="0">
                <a:solidFill>
                  <a:srgbClr val="000000"/>
                </a:solidFill>
                <a:latin typeface="楷体_GB2312" pitchFamily="49" charset="-122"/>
                <a:ea typeface="楷体_GB2312" pitchFamily="49" charset="-122"/>
              </a:rPr>
              <a:t>）</a:t>
            </a:r>
            <a:r>
              <a:rPr lang="en-US" altLang="zh-CN" sz="2400" dirty="0">
                <a:solidFill>
                  <a:srgbClr val="000000"/>
                </a:solidFill>
                <a:latin typeface="楷体_GB2312" pitchFamily="49" charset="-122"/>
                <a:ea typeface="楷体_GB2312" pitchFamily="49" charset="-122"/>
              </a:rPr>
              <a:t>2×19</a:t>
            </a:r>
            <a:r>
              <a:rPr lang="zh-CN" altLang="en-US" sz="2400" dirty="0">
                <a:solidFill>
                  <a:srgbClr val="000000"/>
                </a:solidFill>
                <a:latin typeface="楷体_GB2312" pitchFamily="49" charset="-122"/>
                <a:ea typeface="楷体_GB2312" pitchFamily="49" charset="-122"/>
              </a:rPr>
              <a:t>年</a:t>
            </a:r>
            <a:r>
              <a:rPr lang="en-US" altLang="zh-CN" sz="2400" dirty="0">
                <a:solidFill>
                  <a:srgbClr val="000000"/>
                </a:solidFill>
                <a:latin typeface="楷体_GB2312" pitchFamily="49" charset="-122"/>
                <a:ea typeface="楷体_GB2312" pitchFamily="49" charset="-122"/>
              </a:rPr>
              <a:t>12</a:t>
            </a:r>
            <a:r>
              <a:rPr lang="zh-CN" altLang="en-US" sz="2400" dirty="0">
                <a:solidFill>
                  <a:srgbClr val="000000"/>
                </a:solidFill>
                <a:latin typeface="楷体_GB2312" pitchFamily="49" charset="-122"/>
                <a:ea typeface="楷体_GB2312" pitchFamily="49" charset="-122"/>
              </a:rPr>
              <a:t>月</a:t>
            </a:r>
            <a:r>
              <a:rPr lang="en-US" altLang="zh-CN" sz="2400" dirty="0">
                <a:solidFill>
                  <a:srgbClr val="000000"/>
                </a:solidFill>
                <a:latin typeface="楷体_GB2312" pitchFamily="49" charset="-122"/>
                <a:ea typeface="楷体_GB2312" pitchFamily="49" charset="-122"/>
              </a:rPr>
              <a:t>31</a:t>
            </a:r>
            <a:r>
              <a:rPr lang="zh-CN" altLang="en-US" sz="2400" dirty="0">
                <a:solidFill>
                  <a:srgbClr val="000000"/>
                </a:solidFill>
                <a:latin typeface="楷体_GB2312" pitchFamily="49" charset="-122"/>
                <a:ea typeface="楷体_GB2312" pitchFamily="49" charset="-122"/>
              </a:rPr>
              <a:t>日，确认公允价值的变动</a:t>
            </a:r>
          </a:p>
          <a:p>
            <a:pPr>
              <a:lnSpc>
                <a:spcPct val="90000"/>
              </a:lnSpc>
              <a:buNone/>
            </a:pPr>
            <a:r>
              <a:rPr lang="zh-CN" altLang="en-US" sz="2400" dirty="0">
                <a:solidFill>
                  <a:srgbClr val="000000"/>
                </a:solidFill>
                <a:latin typeface="楷体_GB2312" pitchFamily="49" charset="-122"/>
                <a:ea typeface="楷体_GB2312" pitchFamily="49" charset="-122"/>
              </a:rPr>
              <a:t>  借：投资性房地产</a:t>
            </a:r>
            <a:r>
              <a:rPr lang="en-US" altLang="zh-CN" sz="2400" dirty="0">
                <a:solidFill>
                  <a:srgbClr val="000000"/>
                </a:solidFill>
                <a:latin typeface="Arial"/>
                <a:ea typeface="楷体_GB2312" pitchFamily="49" charset="-122"/>
              </a:rPr>
              <a:t>——</a:t>
            </a:r>
            <a:r>
              <a:rPr lang="zh-CN" altLang="en-US" sz="2400" dirty="0">
                <a:solidFill>
                  <a:srgbClr val="000000"/>
                </a:solidFill>
                <a:latin typeface="楷体_GB2312" pitchFamily="49" charset="-122"/>
                <a:ea typeface="楷体_GB2312" pitchFamily="49" charset="-122"/>
              </a:rPr>
              <a:t>公允价值变动</a:t>
            </a:r>
            <a:r>
              <a:rPr lang="en-US" altLang="zh-CN" sz="2400" dirty="0">
                <a:solidFill>
                  <a:srgbClr val="000000"/>
                </a:solidFill>
                <a:latin typeface="楷体_GB2312" pitchFamily="49" charset="-122"/>
                <a:ea typeface="楷体_GB2312" pitchFamily="49" charset="-122"/>
              </a:rPr>
              <a:t>(</a:t>
            </a:r>
            <a:r>
              <a:rPr lang="zh-CN" altLang="en-US" sz="2400" dirty="0">
                <a:solidFill>
                  <a:srgbClr val="000000"/>
                </a:solidFill>
                <a:latin typeface="楷体_GB2312" pitchFamily="49" charset="-122"/>
                <a:ea typeface="楷体_GB2312" pitchFamily="49" charset="-122"/>
              </a:rPr>
              <a:t>办公楼</a:t>
            </a:r>
            <a:r>
              <a:rPr lang="en-US" altLang="zh-CN" sz="2400" dirty="0">
                <a:solidFill>
                  <a:srgbClr val="000000"/>
                </a:solidFill>
                <a:latin typeface="楷体_GB2312" pitchFamily="49" charset="-122"/>
                <a:ea typeface="楷体_GB2312" pitchFamily="49" charset="-122"/>
              </a:rPr>
              <a:t>)    400000</a:t>
            </a:r>
          </a:p>
          <a:p>
            <a:pPr>
              <a:lnSpc>
                <a:spcPct val="90000"/>
              </a:lnSpc>
              <a:buNone/>
            </a:pPr>
            <a:r>
              <a:rPr lang="en-US" altLang="zh-CN" sz="2400" dirty="0">
                <a:solidFill>
                  <a:srgbClr val="000000"/>
                </a:solidFill>
                <a:latin typeface="楷体_GB2312" pitchFamily="49" charset="-122"/>
                <a:ea typeface="楷体_GB2312" pitchFamily="49" charset="-122"/>
              </a:rPr>
              <a:t>                  </a:t>
            </a:r>
            <a:r>
              <a:rPr lang="en-US" altLang="zh-CN" sz="2400" dirty="0">
                <a:solidFill>
                  <a:srgbClr val="000000"/>
                </a:solidFill>
                <a:latin typeface="Arial"/>
                <a:ea typeface="楷体_GB2312" pitchFamily="49" charset="-122"/>
              </a:rPr>
              <a:t>——</a:t>
            </a:r>
            <a:r>
              <a:rPr lang="zh-CN" altLang="en-US" sz="2400" dirty="0">
                <a:solidFill>
                  <a:srgbClr val="000000"/>
                </a:solidFill>
                <a:latin typeface="楷体_GB2312" pitchFamily="49" charset="-122"/>
                <a:ea typeface="楷体_GB2312" pitchFamily="49" charset="-122"/>
              </a:rPr>
              <a:t>公允价值变动</a:t>
            </a:r>
            <a:r>
              <a:rPr lang="en-US" altLang="zh-CN" sz="2400" dirty="0">
                <a:solidFill>
                  <a:srgbClr val="000000"/>
                </a:solidFill>
                <a:latin typeface="楷体_GB2312" pitchFamily="49" charset="-122"/>
                <a:ea typeface="楷体_GB2312" pitchFamily="49" charset="-122"/>
              </a:rPr>
              <a:t>(</a:t>
            </a:r>
            <a:r>
              <a:rPr lang="zh-CN" altLang="en-US" sz="2400" dirty="0">
                <a:solidFill>
                  <a:srgbClr val="000000"/>
                </a:solidFill>
                <a:latin typeface="楷体_GB2312" pitchFamily="49" charset="-122"/>
                <a:ea typeface="楷体_GB2312" pitchFamily="49" charset="-122"/>
              </a:rPr>
              <a:t>土地使用权</a:t>
            </a:r>
            <a:r>
              <a:rPr lang="en-US" altLang="zh-CN" sz="2400" dirty="0">
                <a:solidFill>
                  <a:srgbClr val="000000"/>
                </a:solidFill>
                <a:latin typeface="楷体_GB2312" pitchFamily="49" charset="-122"/>
                <a:ea typeface="楷体_GB2312" pitchFamily="49" charset="-122"/>
              </a:rPr>
              <a:t>) 600000</a:t>
            </a:r>
          </a:p>
          <a:p>
            <a:pPr>
              <a:lnSpc>
                <a:spcPct val="90000"/>
              </a:lnSpc>
              <a:buNone/>
            </a:pPr>
            <a:r>
              <a:rPr lang="en-US" altLang="zh-CN" sz="2400" dirty="0">
                <a:solidFill>
                  <a:srgbClr val="000000"/>
                </a:solidFill>
                <a:latin typeface="楷体_GB2312" pitchFamily="49" charset="-122"/>
                <a:ea typeface="楷体_GB2312" pitchFamily="49" charset="-122"/>
              </a:rPr>
              <a:t>      </a:t>
            </a:r>
            <a:r>
              <a:rPr lang="zh-CN" altLang="en-US" sz="2400" dirty="0">
                <a:solidFill>
                  <a:srgbClr val="000000"/>
                </a:solidFill>
                <a:latin typeface="楷体_GB2312" pitchFamily="49" charset="-122"/>
                <a:ea typeface="楷体_GB2312" pitchFamily="49" charset="-122"/>
              </a:rPr>
              <a:t>贷：公允价值变动损益                 </a:t>
            </a:r>
            <a:r>
              <a:rPr lang="en-US" altLang="zh-CN" sz="2400" dirty="0">
                <a:solidFill>
                  <a:srgbClr val="000000"/>
                </a:solidFill>
                <a:latin typeface="楷体_GB2312" pitchFamily="49" charset="-122"/>
                <a:ea typeface="楷体_GB2312" pitchFamily="49" charset="-122"/>
              </a:rPr>
              <a:t>1000000  </a:t>
            </a:r>
          </a:p>
        </p:txBody>
      </p:sp>
    </p:spTree>
    <p:extLst>
      <p:ext uri="{BB962C8B-B14F-4D97-AF65-F5344CB8AC3E}">
        <p14:creationId xmlns:p14="http://schemas.microsoft.com/office/powerpoint/2010/main" val="3371353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chemeClr val="tx1"/>
                </a:solidFill>
                <a:latin typeface="黑体" panose="02010609060101010101" pitchFamily="49" charset="-122"/>
                <a:ea typeface="黑体" panose="02010609060101010101" pitchFamily="49" charset="-122"/>
              </a:rPr>
              <a:t>（三）投资性房地产后续计量模式的变更</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lvl="1"/>
            <a:r>
              <a:rPr lang="zh-CN" altLang="en-US" dirty="0"/>
              <a:t>一经确定，不得随意变更</a:t>
            </a:r>
          </a:p>
          <a:p>
            <a:pPr lvl="1"/>
            <a:r>
              <a:rPr lang="zh-CN" altLang="en-US" dirty="0"/>
              <a:t>满足条件，可以从成本模式变更为公允价值模式</a:t>
            </a:r>
          </a:p>
          <a:p>
            <a:pPr lvl="1"/>
            <a:r>
              <a:rPr lang="zh-CN" altLang="en-US" dirty="0"/>
              <a:t>不得从公允价值模式转为成本模式</a:t>
            </a:r>
          </a:p>
        </p:txBody>
      </p:sp>
    </p:spTree>
    <p:extLst>
      <p:ext uri="{BB962C8B-B14F-4D97-AF65-F5344CB8AC3E}">
        <p14:creationId xmlns:p14="http://schemas.microsoft.com/office/powerpoint/2010/main" val="2052035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（四）与投资性房地产有关的后续</a:t>
            </a:r>
            <a:r>
              <a:rPr lang="zh-CN" altLang="en-US" sz="3200" dirty="0">
                <a:solidFill>
                  <a:srgbClr val="CC0066"/>
                </a:solidFill>
                <a:latin typeface="黑体" panose="02010609060101010101" pitchFamily="49" charset="-122"/>
                <a:ea typeface="黑体" panose="02010609060101010101" pitchFamily="49" charset="-122"/>
              </a:rPr>
              <a:t>支出</a:t>
            </a:r>
            <a:endParaRPr lang="zh-CN" altLang="en-US" sz="3200" dirty="0">
              <a:latin typeface="黑体" panose="02010609060101010101" pitchFamily="49" charset="-122"/>
              <a:ea typeface="黑体" panose="02010609060101010101" pitchFamily="49" charset="-122"/>
            </a:endParaRPr>
          </a:p>
        </p:txBody>
      </p:sp>
      <p:sp>
        <p:nvSpPr>
          <p:cNvPr id="5" name="Rectangle 3">
            <a:extLst>
              <a:ext uri="{FF2B5EF4-FFF2-40B4-BE49-F238E27FC236}">
                <a16:creationId xmlns:a16="http://schemas.microsoft.com/office/drawing/2014/main" id="{F2F58837-17B2-4335-B8E6-F7329782AAE2}"/>
              </a:ext>
            </a:extLst>
          </p:cNvPr>
          <p:cNvSpPr>
            <a:spLocks noGrp="1" noRot="1" noChangeArrowheads="1"/>
          </p:cNvSpPr>
          <p:nvPr>
            <p:ph idx="1"/>
          </p:nvPr>
        </p:nvSpPr>
        <p:spPr>
          <a:xfrm>
            <a:off x="1576388" y="2017713"/>
            <a:ext cx="10363200" cy="4114800"/>
          </a:xfrm>
        </p:spPr>
        <p:txBody>
          <a:bodyPr/>
          <a:lstStyle/>
          <a:p>
            <a:r>
              <a:rPr lang="zh-CN" altLang="en-US" sz="2800" b="1" dirty="0">
                <a:solidFill>
                  <a:srgbClr val="000000"/>
                </a:solidFill>
                <a:ea typeface="楷体_GB2312" pitchFamily="49" charset="-122"/>
              </a:rPr>
              <a:t>处理原则：</a:t>
            </a:r>
          </a:p>
          <a:p>
            <a:pPr lvl="1">
              <a:spcBef>
                <a:spcPct val="30000"/>
              </a:spcBef>
            </a:pPr>
            <a:r>
              <a:rPr lang="zh-CN" altLang="en-US" b="1" dirty="0">
                <a:solidFill>
                  <a:srgbClr val="FF0000"/>
                </a:solidFill>
                <a:ea typeface="楷体_GB2312" pitchFamily="49" charset="-122"/>
              </a:rPr>
              <a:t>满足投资性房地产确认条件的，应当作为资本化的后续支出，计入投资性房地产成本。</a:t>
            </a:r>
            <a:endParaRPr lang="zh-CN" altLang="en-US" dirty="0"/>
          </a:p>
          <a:p>
            <a:pPr lvl="1">
              <a:spcBef>
                <a:spcPct val="30000"/>
              </a:spcBef>
            </a:pPr>
            <a:r>
              <a:rPr lang="zh-CN" altLang="en-US" b="1" dirty="0">
                <a:solidFill>
                  <a:srgbClr val="FF0000"/>
                </a:solidFill>
                <a:ea typeface="楷体_GB2312" pitchFamily="49" charset="-122"/>
              </a:rPr>
              <a:t>不满足投资性房地产确认条件的，应当在发生时计入当期损益。</a:t>
            </a:r>
          </a:p>
        </p:txBody>
      </p:sp>
    </p:spTree>
    <p:extLst>
      <p:ext uri="{BB962C8B-B14F-4D97-AF65-F5344CB8AC3E}">
        <p14:creationId xmlns:p14="http://schemas.microsoft.com/office/powerpoint/2010/main" val="1947678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（四）与投资性房地产有关的后续</a:t>
            </a:r>
            <a:r>
              <a:rPr lang="zh-CN" altLang="en-US" sz="3200" dirty="0">
                <a:solidFill>
                  <a:srgbClr val="CC0066"/>
                </a:solidFill>
                <a:latin typeface="黑体" panose="02010609060101010101" pitchFamily="49" charset="-122"/>
                <a:ea typeface="黑体" panose="02010609060101010101" pitchFamily="49" charset="-122"/>
              </a:rPr>
              <a:t>支出</a:t>
            </a:r>
            <a:endParaRPr lang="zh-CN" altLang="en-US" sz="3200" dirty="0">
              <a:latin typeface="黑体" panose="02010609060101010101" pitchFamily="49" charset="-122"/>
              <a:ea typeface="黑体" panose="02010609060101010101" pitchFamily="49" charset="-122"/>
            </a:endParaRPr>
          </a:p>
        </p:txBody>
      </p:sp>
      <p:sp>
        <p:nvSpPr>
          <p:cNvPr id="5" name="Rectangle 3">
            <a:extLst>
              <a:ext uri="{FF2B5EF4-FFF2-40B4-BE49-F238E27FC236}">
                <a16:creationId xmlns:a16="http://schemas.microsoft.com/office/drawing/2014/main" id="{4D2A0B85-C6AB-44A0-854B-4C81C17D5198}"/>
              </a:ext>
            </a:extLst>
          </p:cNvPr>
          <p:cNvSpPr>
            <a:spLocks noGrp="1" noRot="1" noChangeArrowheads="1"/>
          </p:cNvSpPr>
          <p:nvPr>
            <p:ph idx="1"/>
          </p:nvPr>
        </p:nvSpPr>
        <p:spPr>
          <a:xfrm>
            <a:off x="1576388" y="2017713"/>
            <a:ext cx="10363200" cy="4625974"/>
          </a:xfrm>
        </p:spPr>
        <p:txBody>
          <a:bodyPr/>
          <a:lstStyle/>
          <a:p>
            <a:pPr>
              <a:buNone/>
            </a:pPr>
            <a:r>
              <a:rPr lang="en-US" altLang="zh-CN" sz="2800" dirty="0">
                <a:solidFill>
                  <a:srgbClr val="FF0000"/>
                </a:solidFill>
                <a:ea typeface="楷体_GB2312" panose="02010609030101010101"/>
              </a:rPr>
              <a:t>1.</a:t>
            </a:r>
            <a:r>
              <a:rPr lang="zh-CN" altLang="en-US" sz="2800" b="1" dirty="0">
                <a:solidFill>
                  <a:srgbClr val="FF0000"/>
                </a:solidFill>
                <a:ea typeface="楷体_GB2312" panose="02010609030101010101"/>
              </a:rPr>
              <a:t>资本化后续支出的会计处理</a:t>
            </a:r>
            <a:endParaRPr lang="zh-CN" altLang="en-US" sz="2800" b="1" dirty="0">
              <a:solidFill>
                <a:srgbClr val="000000"/>
              </a:solidFill>
              <a:ea typeface="楷体_GB2312" panose="02010609030101010101"/>
            </a:endParaRPr>
          </a:p>
          <a:p>
            <a:r>
              <a:rPr lang="zh-CN" altLang="en-US" sz="2400" b="1" dirty="0">
                <a:solidFill>
                  <a:srgbClr val="000000"/>
                </a:solidFill>
                <a:ea typeface="楷体_GB2312" pitchFamily="49" charset="-122"/>
              </a:rPr>
              <a:t>投资性房地产转入</a:t>
            </a:r>
            <a:r>
              <a:rPr lang="zh-CN" altLang="en-US" sz="2400" b="1" dirty="0">
                <a:solidFill>
                  <a:srgbClr val="CC0066"/>
                </a:solidFill>
                <a:ea typeface="楷体_GB2312" pitchFamily="49" charset="-122"/>
              </a:rPr>
              <a:t>改建</a:t>
            </a:r>
            <a:r>
              <a:rPr lang="zh-CN" altLang="en-US" sz="2400" b="1" dirty="0">
                <a:solidFill>
                  <a:srgbClr val="000000"/>
                </a:solidFill>
                <a:ea typeface="楷体_GB2312" pitchFamily="49" charset="-122"/>
              </a:rPr>
              <a:t>、</a:t>
            </a:r>
            <a:r>
              <a:rPr lang="zh-CN" altLang="en-US" sz="2400" b="1" dirty="0">
                <a:solidFill>
                  <a:srgbClr val="CC0066"/>
                </a:solidFill>
                <a:ea typeface="楷体_GB2312" pitchFamily="49" charset="-122"/>
              </a:rPr>
              <a:t>扩建</a:t>
            </a:r>
            <a:r>
              <a:rPr lang="zh-CN" altLang="en-US" sz="2400" b="1" dirty="0">
                <a:solidFill>
                  <a:srgbClr val="000000"/>
                </a:solidFill>
                <a:ea typeface="楷体_GB2312" pitchFamily="49" charset="-122"/>
              </a:rPr>
              <a:t>、</a:t>
            </a:r>
            <a:r>
              <a:rPr lang="zh-CN" altLang="en-US" sz="2400" b="1" dirty="0">
                <a:solidFill>
                  <a:srgbClr val="CC0066"/>
                </a:solidFill>
                <a:ea typeface="楷体_GB2312" pitchFamily="49" charset="-122"/>
              </a:rPr>
              <a:t>改良</a:t>
            </a:r>
            <a:r>
              <a:rPr lang="zh-CN" altLang="en-US" sz="2400" b="1" dirty="0">
                <a:solidFill>
                  <a:srgbClr val="000000"/>
                </a:solidFill>
                <a:ea typeface="楷体_GB2312" pitchFamily="49" charset="-122"/>
              </a:rPr>
              <a:t>或</a:t>
            </a:r>
            <a:r>
              <a:rPr lang="zh-CN" altLang="en-US" sz="2400" b="1" dirty="0">
                <a:solidFill>
                  <a:srgbClr val="CC0066"/>
                </a:solidFill>
                <a:ea typeface="楷体_GB2312" pitchFamily="49" charset="-122"/>
              </a:rPr>
              <a:t>装修</a:t>
            </a:r>
            <a:r>
              <a:rPr lang="zh-CN" altLang="en-US" sz="2400" b="1" dirty="0">
                <a:solidFill>
                  <a:srgbClr val="000000"/>
                </a:solidFill>
                <a:ea typeface="楷体_GB2312" pitchFamily="49" charset="-122"/>
              </a:rPr>
              <a:t>时，</a:t>
            </a:r>
          </a:p>
          <a:p>
            <a:pPr>
              <a:buFont typeface="Wingdings" pitchFamily="2" charset="2"/>
              <a:buNone/>
            </a:pPr>
            <a:r>
              <a:rPr lang="zh-CN" altLang="en-US" sz="2400" b="1" dirty="0">
                <a:solidFill>
                  <a:srgbClr val="000000"/>
                </a:solidFill>
                <a:ea typeface="楷体_GB2312" pitchFamily="49" charset="-122"/>
              </a:rPr>
              <a:t>     借：投资性房地产</a:t>
            </a:r>
            <a:r>
              <a:rPr lang="en-US" altLang="zh-CN" sz="2400" b="1" dirty="0">
                <a:solidFill>
                  <a:srgbClr val="000000"/>
                </a:solidFill>
                <a:ea typeface="楷体_GB2312" pitchFamily="49" charset="-122"/>
              </a:rPr>
              <a:t>——</a:t>
            </a:r>
            <a:r>
              <a:rPr lang="zh-CN" altLang="en-US" sz="2400" b="1" dirty="0">
                <a:solidFill>
                  <a:srgbClr val="000000"/>
                </a:solidFill>
                <a:ea typeface="楷体_GB2312" pitchFamily="49" charset="-122"/>
              </a:rPr>
              <a:t>在建</a:t>
            </a:r>
          </a:p>
          <a:p>
            <a:pPr>
              <a:buFont typeface="Wingdings" pitchFamily="2" charset="2"/>
              <a:buNone/>
            </a:pPr>
            <a:r>
              <a:rPr lang="zh-CN" altLang="en-US" sz="2400" b="1" dirty="0">
                <a:solidFill>
                  <a:srgbClr val="000000"/>
                </a:solidFill>
                <a:ea typeface="楷体_GB2312" pitchFamily="49" charset="-122"/>
              </a:rPr>
              <a:t>            贷：投资性房地产     </a:t>
            </a:r>
            <a:r>
              <a:rPr lang="zh-CN" altLang="en-US" sz="2400" b="1" dirty="0">
                <a:solidFill>
                  <a:srgbClr val="FF0000"/>
                </a:solidFill>
                <a:ea typeface="楷体_GB2312" pitchFamily="49" charset="-122"/>
              </a:rPr>
              <a:t>（账面价值）</a:t>
            </a:r>
          </a:p>
          <a:p>
            <a:r>
              <a:rPr lang="zh-CN" altLang="en-US" sz="2400" b="1" dirty="0">
                <a:solidFill>
                  <a:srgbClr val="000000"/>
                </a:solidFill>
                <a:ea typeface="楷体_GB2312" pitchFamily="49" charset="-122"/>
              </a:rPr>
              <a:t>发生后续支出时</a:t>
            </a:r>
          </a:p>
          <a:p>
            <a:pPr>
              <a:buFont typeface="Wingdings" pitchFamily="2" charset="2"/>
              <a:buNone/>
            </a:pPr>
            <a:r>
              <a:rPr lang="zh-CN" altLang="en-US" sz="2400" b="1" dirty="0">
                <a:solidFill>
                  <a:srgbClr val="000000"/>
                </a:solidFill>
                <a:ea typeface="楷体_GB2312" pitchFamily="49" charset="-122"/>
              </a:rPr>
              <a:t>      借：投资性房地产</a:t>
            </a:r>
            <a:r>
              <a:rPr lang="en-US" altLang="zh-CN" sz="2400" b="1" dirty="0">
                <a:solidFill>
                  <a:srgbClr val="000000"/>
                </a:solidFill>
                <a:ea typeface="楷体_GB2312" pitchFamily="49" charset="-122"/>
              </a:rPr>
              <a:t>——</a:t>
            </a:r>
            <a:r>
              <a:rPr lang="zh-CN" altLang="en-US" sz="2400" b="1" dirty="0">
                <a:solidFill>
                  <a:srgbClr val="000000"/>
                </a:solidFill>
                <a:ea typeface="楷体_GB2312" pitchFamily="49" charset="-122"/>
              </a:rPr>
              <a:t>在建</a:t>
            </a:r>
          </a:p>
          <a:p>
            <a:pPr>
              <a:buFont typeface="Wingdings" pitchFamily="2" charset="2"/>
              <a:buNone/>
            </a:pPr>
            <a:r>
              <a:rPr lang="zh-CN" altLang="en-US" sz="2400" b="1" dirty="0">
                <a:solidFill>
                  <a:srgbClr val="000000"/>
                </a:solidFill>
                <a:ea typeface="楷体_GB2312" pitchFamily="49" charset="-122"/>
              </a:rPr>
              <a:t>             贷：银行存款等</a:t>
            </a:r>
          </a:p>
          <a:p>
            <a:r>
              <a:rPr lang="zh-CN" altLang="en-US" sz="2400" b="1" dirty="0">
                <a:solidFill>
                  <a:srgbClr val="000000"/>
                </a:solidFill>
                <a:ea typeface="楷体_GB2312" pitchFamily="49" charset="-122"/>
              </a:rPr>
              <a:t>工程完工时，继续用于投资性房地产的</a:t>
            </a:r>
          </a:p>
          <a:p>
            <a:pPr>
              <a:buFont typeface="Wingdings" pitchFamily="2" charset="2"/>
              <a:buNone/>
            </a:pPr>
            <a:r>
              <a:rPr lang="zh-CN" altLang="en-US" sz="2400" b="1" dirty="0">
                <a:solidFill>
                  <a:srgbClr val="000000"/>
                </a:solidFill>
                <a:ea typeface="楷体_GB2312" pitchFamily="49" charset="-122"/>
              </a:rPr>
              <a:t>       借：投资性房地产</a:t>
            </a:r>
          </a:p>
          <a:p>
            <a:pPr>
              <a:buFont typeface="Wingdings" pitchFamily="2" charset="2"/>
              <a:buNone/>
            </a:pPr>
            <a:r>
              <a:rPr lang="zh-CN" altLang="en-US" sz="2400" b="1" dirty="0">
                <a:solidFill>
                  <a:srgbClr val="000000"/>
                </a:solidFill>
                <a:ea typeface="楷体_GB2312" pitchFamily="49" charset="-122"/>
              </a:rPr>
              <a:t>             贷：投资性房地产</a:t>
            </a:r>
            <a:r>
              <a:rPr lang="en-US" altLang="zh-CN" sz="2400" b="1" dirty="0">
                <a:solidFill>
                  <a:srgbClr val="000000"/>
                </a:solidFill>
                <a:ea typeface="楷体_GB2312" pitchFamily="49" charset="-122"/>
              </a:rPr>
              <a:t>——</a:t>
            </a:r>
            <a:r>
              <a:rPr lang="zh-CN" altLang="en-US" sz="2400" b="1" dirty="0">
                <a:solidFill>
                  <a:srgbClr val="000000"/>
                </a:solidFill>
                <a:ea typeface="楷体_GB2312" pitchFamily="49" charset="-122"/>
              </a:rPr>
              <a:t>在建</a:t>
            </a:r>
          </a:p>
          <a:p>
            <a:endParaRPr lang="en-US" altLang="zh-CN" sz="2400" b="1" dirty="0">
              <a:solidFill>
                <a:srgbClr val="000000"/>
              </a:solidFill>
              <a:ea typeface="楷体_GB2312" pitchFamily="49" charset="-122"/>
            </a:endParaRPr>
          </a:p>
        </p:txBody>
      </p:sp>
    </p:spTree>
    <p:extLst>
      <p:ext uri="{BB962C8B-B14F-4D97-AF65-F5344CB8AC3E}">
        <p14:creationId xmlns:p14="http://schemas.microsoft.com/office/powerpoint/2010/main" val="2518992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（四）与投资性房地产有关的后续</a:t>
            </a:r>
            <a:r>
              <a:rPr lang="zh-CN" altLang="en-US" sz="3200" dirty="0">
                <a:solidFill>
                  <a:srgbClr val="CC0066"/>
                </a:solidFill>
                <a:latin typeface="黑体" panose="02010609060101010101" pitchFamily="49" charset="-122"/>
                <a:ea typeface="黑体" panose="02010609060101010101" pitchFamily="49" charset="-122"/>
              </a:rPr>
              <a:t>支出</a:t>
            </a:r>
            <a:endParaRPr lang="zh-CN" altLang="en-US" sz="3200"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marL="457200" lvl="1" indent="0">
              <a:buNone/>
            </a:pPr>
            <a:r>
              <a:rPr lang="en-US" altLang="zh-CN" dirty="0">
                <a:solidFill>
                  <a:srgbClr val="FF0000"/>
                </a:solidFill>
              </a:rPr>
              <a:t>2.</a:t>
            </a:r>
            <a:r>
              <a:rPr lang="zh-CN" altLang="en-US" dirty="0">
                <a:solidFill>
                  <a:srgbClr val="FF0000"/>
                </a:solidFill>
              </a:rPr>
              <a:t>费用化后续支出的会计处理</a:t>
            </a:r>
            <a:endParaRPr lang="en-US" altLang="zh-CN" dirty="0">
              <a:solidFill>
                <a:srgbClr val="FF0000"/>
              </a:solidFill>
            </a:endParaRPr>
          </a:p>
          <a:p>
            <a:pPr marL="457200" lvl="1" indent="0">
              <a:buNone/>
            </a:pPr>
            <a:endParaRPr lang="zh-CN" altLang="en-US" dirty="0">
              <a:solidFill>
                <a:srgbClr val="FF0000"/>
              </a:solidFill>
            </a:endParaRPr>
          </a:p>
          <a:p>
            <a:pPr lvl="1"/>
            <a:r>
              <a:rPr lang="zh-CN" altLang="en-US" sz="2400" dirty="0"/>
              <a:t>企业应在支出发生时，根据支出的数额，编制如下会计分录：</a:t>
            </a:r>
          </a:p>
          <a:p>
            <a:pPr marL="457200" lvl="1" indent="0">
              <a:buNone/>
            </a:pPr>
            <a:r>
              <a:rPr lang="zh-CN" altLang="en-US" sz="2400" dirty="0"/>
              <a:t>     借：其他业务支出</a:t>
            </a:r>
          </a:p>
          <a:p>
            <a:pPr marL="457200" lvl="1" indent="0">
              <a:buNone/>
            </a:pPr>
            <a:r>
              <a:rPr lang="zh-CN" altLang="en-US" sz="2400" dirty="0"/>
              <a:t>        贷：银行存款等</a:t>
            </a:r>
          </a:p>
          <a:p>
            <a:pPr marL="457200" lvl="1" indent="0">
              <a:buNone/>
            </a:pPr>
            <a:endParaRPr lang="zh-CN" altLang="en-US" dirty="0"/>
          </a:p>
        </p:txBody>
      </p:sp>
    </p:spTree>
    <p:extLst>
      <p:ext uri="{BB962C8B-B14F-4D97-AF65-F5344CB8AC3E}">
        <p14:creationId xmlns:p14="http://schemas.microsoft.com/office/powerpoint/2010/main" val="2025644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四、投资性房地产的转换</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（一）投资性房地产的转换形式与转换日 </a:t>
            </a:r>
          </a:p>
          <a:p>
            <a:r>
              <a:rPr lang="zh-CN" altLang="en-US" dirty="0"/>
              <a:t>（二）投资性房地产转换为自用房地产 </a:t>
            </a:r>
          </a:p>
          <a:p>
            <a:r>
              <a:rPr lang="zh-CN" altLang="en-US" dirty="0"/>
              <a:t>（三）非投资性房地产转换为投资性房地产</a:t>
            </a:r>
          </a:p>
        </p:txBody>
      </p:sp>
    </p:spTree>
    <p:extLst>
      <p:ext uri="{BB962C8B-B14F-4D97-AF65-F5344CB8AC3E}">
        <p14:creationId xmlns:p14="http://schemas.microsoft.com/office/powerpoint/2010/main" val="118363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（一）投资性房地产的转换形式与转换日</a:t>
            </a:r>
            <a:endParaRPr lang="zh-CN" altLang="en-US" sz="3200" dirty="0">
              <a:latin typeface="黑体" panose="02010609060101010101" pitchFamily="49" charset="-122"/>
              <a:ea typeface="黑体" panose="02010609060101010101" pitchFamily="49" charset="-122"/>
            </a:endParaRPr>
          </a:p>
        </p:txBody>
      </p:sp>
      <p:graphicFrame>
        <p:nvGraphicFramePr>
          <p:cNvPr id="6" name="表格 5">
            <a:extLst>
              <a:ext uri="{FF2B5EF4-FFF2-40B4-BE49-F238E27FC236}">
                <a16:creationId xmlns:a16="http://schemas.microsoft.com/office/drawing/2014/main" id="{7135BD98-5623-4D1C-9216-436138A5EE2C}"/>
              </a:ext>
            </a:extLst>
          </p:cNvPr>
          <p:cNvGraphicFramePr>
            <a:graphicFrameLocks noGrp="1"/>
          </p:cNvGraphicFramePr>
          <p:nvPr>
            <p:extLst>
              <p:ext uri="{D42A27DB-BD31-4B8C-83A1-F6EECF244321}">
                <p14:modId xmlns:p14="http://schemas.microsoft.com/office/powerpoint/2010/main" val="1168336463"/>
              </p:ext>
            </p:extLst>
          </p:nvPr>
        </p:nvGraphicFramePr>
        <p:xfrm>
          <a:off x="1725066" y="1902438"/>
          <a:ext cx="8458200" cy="4800596"/>
        </p:xfrm>
        <a:graphic>
          <a:graphicData uri="http://schemas.openxmlformats.org/drawingml/2006/table">
            <a:tbl>
              <a:tblPr/>
              <a:tblGrid>
                <a:gridCol w="4229100">
                  <a:extLst>
                    <a:ext uri="{9D8B030D-6E8A-4147-A177-3AD203B41FA5}">
                      <a16:colId xmlns:a16="http://schemas.microsoft.com/office/drawing/2014/main" val="1641790268"/>
                    </a:ext>
                  </a:extLst>
                </a:gridCol>
                <a:gridCol w="4229100">
                  <a:extLst>
                    <a:ext uri="{9D8B030D-6E8A-4147-A177-3AD203B41FA5}">
                      <a16:colId xmlns:a16="http://schemas.microsoft.com/office/drawing/2014/main" val="3324041328"/>
                    </a:ext>
                  </a:extLst>
                </a:gridCol>
              </a:tblGrid>
              <a:tr h="340554">
                <a:tc gridSpan="2">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l" fontAlgn="ctr"/>
                      <a:r>
                        <a:rPr lang="zh-CN" altLang="en-US" sz="1800" b="1" u="none" strike="noStrike" dirty="0">
                          <a:solidFill>
                            <a:srgbClr val="FF0000"/>
                          </a:solidFill>
                          <a:effectLst/>
                          <a:latin typeface="+mn-ea"/>
                          <a:ea typeface="楷体_GB2312"/>
                        </a:rPr>
                        <a:t>（一）投资性房地产转换为非投资性房地产</a:t>
                      </a:r>
                      <a:endParaRPr lang="zh-CN" altLang="en-US" sz="1800" b="1" i="0" u="none" strike="noStrike" dirty="0">
                        <a:solidFill>
                          <a:srgbClr val="FF0000"/>
                        </a:solidFill>
                        <a:effectLst/>
                        <a:latin typeface="+mn-ea"/>
                        <a:ea typeface="楷体_GB2312"/>
                      </a:endParaRPr>
                    </a:p>
                  </a:txBody>
                  <a:tcPr marL="3810" marR="3810" marT="381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hMerge="1">
                  <a:txBody>
                    <a:bodyPr/>
                    <a:lstStyle/>
                    <a:p>
                      <a:endParaRPr lang="zh-CN" altLang="en-US"/>
                    </a:p>
                  </a:txBody>
                  <a:tcPr/>
                </a:tc>
                <a:extLst>
                  <a:ext uri="{0D108BD9-81ED-4DB2-BD59-A6C34878D82A}">
                    <a16:rowId xmlns:a16="http://schemas.microsoft.com/office/drawing/2014/main" val="4097423267"/>
                  </a:ext>
                </a:extLst>
              </a:tr>
              <a:tr h="340554">
                <a:tc rowSpan="2">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just" fontAlgn="t"/>
                      <a:r>
                        <a:rPr lang="en-US" altLang="zh-CN" sz="1800" u="none" strike="noStrike" dirty="0">
                          <a:effectLst/>
                          <a:latin typeface="+mn-ea"/>
                          <a:ea typeface="楷体_GB2312"/>
                        </a:rPr>
                        <a:t>1.</a:t>
                      </a:r>
                      <a:r>
                        <a:rPr lang="zh-CN" altLang="en-US" sz="1800" u="none" strike="noStrike" dirty="0">
                          <a:effectLst/>
                          <a:latin typeface="+mn-ea"/>
                          <a:ea typeface="楷体_GB2312"/>
                        </a:rPr>
                        <a:t>投资性房地产开始自用</a:t>
                      </a:r>
                      <a:endParaRPr lang="zh-CN" altLang="en-US" sz="1800" b="0" i="0" u="none" strike="noStrike" dirty="0">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l" fontAlgn="b"/>
                      <a:r>
                        <a:rPr lang="zh-CN" altLang="en-US" sz="1800" u="none" strike="noStrike" dirty="0">
                          <a:effectLst/>
                          <a:latin typeface="+mn-ea"/>
                          <a:ea typeface="楷体_GB2312"/>
                        </a:rPr>
                        <a:t>投资性房地产转固定资产等；</a:t>
                      </a:r>
                      <a:endParaRPr lang="zh-CN" altLang="en-US" sz="1800" b="0" i="0" u="none" strike="noStrike" dirty="0">
                        <a:effectLst/>
                        <a:latin typeface="+mn-ea"/>
                        <a:ea typeface="楷体_GB2312"/>
                      </a:endParaRPr>
                    </a:p>
                  </a:txBody>
                  <a:tcPr marL="3810" marR="3810" marT="3810"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3159215739"/>
                  </a:ext>
                </a:extLst>
              </a:tr>
              <a:tr h="676442">
                <a:tc vMerge="1">
                  <a:txBody>
                    <a:bodyPr/>
                    <a:lstStyle/>
                    <a:p>
                      <a:endParaRPr lang="zh-CN" altLang="en-US"/>
                    </a:p>
                  </a:txBody>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l" fontAlgn="t"/>
                      <a:r>
                        <a:rPr lang="zh-CN" altLang="en-US" sz="1800" u="none" strike="noStrike" dirty="0">
                          <a:effectLst/>
                          <a:latin typeface="+mn-ea"/>
                          <a:ea typeface="楷体_GB2312"/>
                        </a:rPr>
                        <a:t>转换日：房地产达到自用状态，企业开始使用于生产经营或管理的日期</a:t>
                      </a:r>
                      <a:endParaRPr lang="zh-CN" altLang="en-US" sz="1800" b="1" i="0" u="none" strike="noStrike" dirty="0">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4178420463"/>
                  </a:ext>
                </a:extLst>
              </a:tr>
              <a:tr h="340554">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just" fontAlgn="t"/>
                      <a:r>
                        <a:rPr lang="en-US" altLang="zh-CN" sz="1800" u="none" strike="noStrike">
                          <a:effectLst/>
                          <a:latin typeface="+mn-ea"/>
                          <a:ea typeface="楷体_GB2312"/>
                        </a:rPr>
                        <a:t>2.</a:t>
                      </a:r>
                      <a:r>
                        <a:rPr lang="zh-CN" altLang="en-US" sz="1800" u="none" strike="noStrike">
                          <a:effectLst/>
                          <a:latin typeface="+mn-ea"/>
                          <a:ea typeface="楷体_GB2312"/>
                        </a:rPr>
                        <a:t>投资性房地产用于对于出售</a:t>
                      </a:r>
                      <a:endParaRPr lang="zh-CN" altLang="en-US" sz="1800" b="0" i="0" u="none" strike="noStrike">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l" fontAlgn="t"/>
                      <a:r>
                        <a:rPr lang="zh-CN" altLang="en-US" sz="1800" u="none" strike="noStrike">
                          <a:effectLst/>
                          <a:latin typeface="+mn-ea"/>
                          <a:ea typeface="楷体_GB2312"/>
                        </a:rPr>
                        <a:t>投资性房地产转存货</a:t>
                      </a:r>
                      <a:endParaRPr lang="zh-CN" altLang="en-US" sz="1800" b="0" i="0" u="none" strike="noStrike">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3853621342"/>
                  </a:ext>
                </a:extLst>
              </a:tr>
              <a:tr h="305800">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just" fontAlgn="t"/>
                      <a:r>
                        <a:rPr lang="zh-CN" altLang="en-US" sz="1800" u="none" strike="noStrike">
                          <a:effectLst/>
                          <a:latin typeface="+mn-ea"/>
                          <a:ea typeface="楷体_GB2312"/>
                        </a:rPr>
                        <a:t>　</a:t>
                      </a:r>
                      <a:endParaRPr lang="zh-CN" altLang="en-US" sz="1800" b="0" i="0" u="none" strike="noStrike">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l" fontAlgn="t"/>
                      <a:r>
                        <a:rPr lang="zh-CN" altLang="en-US" sz="1800" u="none" strike="noStrike">
                          <a:effectLst/>
                          <a:latin typeface="+mn-ea"/>
                          <a:ea typeface="楷体_GB2312"/>
                        </a:rPr>
                        <a:t>转换日：决定用于用于对外出售的日期</a:t>
                      </a:r>
                      <a:endParaRPr lang="zh-CN" altLang="en-US" sz="1800" b="0" i="0" u="none" strike="noStrike">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216170424"/>
                  </a:ext>
                </a:extLst>
              </a:tr>
              <a:tr h="417480">
                <a:tc gridSpan="2">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just" fontAlgn="t"/>
                      <a:r>
                        <a:rPr lang="zh-CN" altLang="en-US" sz="1800" b="1" u="none" strike="noStrike" dirty="0">
                          <a:solidFill>
                            <a:srgbClr val="FF0000"/>
                          </a:solidFill>
                          <a:effectLst/>
                          <a:latin typeface="+mn-ea"/>
                          <a:ea typeface="楷体_GB2312"/>
                        </a:rPr>
                        <a:t>（二）非投资性房地产转换为投资性房地产</a:t>
                      </a:r>
                      <a:endParaRPr lang="zh-CN" altLang="en-US" sz="1800" b="0" i="0" u="none" strike="noStrike" dirty="0">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hMerge="1">
                  <a:txBody>
                    <a:bodyPr/>
                    <a:lstStyle/>
                    <a:p>
                      <a:pPr algn="l" fontAlgn="t"/>
                      <a:endParaRPr lang="zh-CN" altLang="en-US" sz="1800" b="0" i="0" u="none" strike="noStrike" dirty="0">
                        <a:effectLst/>
                        <a:latin typeface="+mn-ea"/>
                        <a:ea typeface="+mn-ea"/>
                      </a:endParaRPr>
                    </a:p>
                  </a:txBody>
                  <a:tcPr marL="3810" marR="3810" marT="3810" marB="0"/>
                </a:tc>
                <a:extLst>
                  <a:ext uri="{0D108BD9-81ED-4DB2-BD59-A6C34878D82A}">
                    <a16:rowId xmlns:a16="http://schemas.microsoft.com/office/drawing/2014/main" val="773191986"/>
                  </a:ext>
                </a:extLst>
              </a:tr>
              <a:tr h="340554">
                <a:tc rowSpan="2">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just" fontAlgn="t"/>
                      <a:r>
                        <a:rPr lang="en-US" altLang="zh-CN" sz="1800" u="none" strike="noStrike">
                          <a:effectLst/>
                          <a:latin typeface="+mn-ea"/>
                          <a:ea typeface="楷体_GB2312"/>
                        </a:rPr>
                        <a:t>3.</a:t>
                      </a:r>
                      <a:r>
                        <a:rPr lang="zh-CN" altLang="en-US" sz="1800" u="none" strike="noStrike">
                          <a:effectLst/>
                          <a:latin typeface="+mn-ea"/>
                          <a:ea typeface="楷体_GB2312"/>
                        </a:rPr>
                        <a:t>作为存货的房地产改为经营出租</a:t>
                      </a:r>
                      <a:endParaRPr lang="zh-CN" altLang="en-US" sz="1800" b="1" i="0" u="none" strike="noStrike">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l" fontAlgn="t"/>
                      <a:r>
                        <a:rPr lang="zh-CN" altLang="en-US" sz="1800" u="none" strike="noStrike">
                          <a:effectLst/>
                          <a:latin typeface="+mn-ea"/>
                          <a:ea typeface="楷体_GB2312"/>
                        </a:rPr>
                        <a:t>开发产品转投资性房地产</a:t>
                      </a:r>
                      <a:endParaRPr lang="zh-CN" altLang="en-US" sz="1800" b="0" i="0" u="none" strike="noStrike">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72246721"/>
                  </a:ext>
                </a:extLst>
              </a:tr>
              <a:tr h="340554">
                <a:tc vMerge="1">
                  <a:txBody>
                    <a:bodyPr/>
                    <a:lstStyle/>
                    <a:p>
                      <a:endParaRPr lang="zh-CN" altLang="en-US"/>
                    </a:p>
                  </a:txBody>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l" fontAlgn="t"/>
                      <a:r>
                        <a:rPr lang="zh-CN" altLang="en-US" sz="1800" u="none" strike="noStrike" dirty="0">
                          <a:effectLst/>
                          <a:latin typeface="+mn-ea"/>
                          <a:ea typeface="楷体_GB2312"/>
                        </a:rPr>
                        <a:t>转换日：为房地产的租赁期开始日</a:t>
                      </a:r>
                      <a:endParaRPr lang="zh-CN" altLang="en-US" sz="1800" b="0" i="0" u="none" strike="noStrike" dirty="0">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4252980548"/>
                  </a:ext>
                </a:extLst>
              </a:tr>
              <a:tr h="340554">
                <a:tc rowSpan="2">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just" fontAlgn="t"/>
                      <a:r>
                        <a:rPr lang="en-US" altLang="zh-CN" sz="1800" u="none" strike="noStrike">
                          <a:effectLst/>
                          <a:latin typeface="+mn-ea"/>
                          <a:ea typeface="楷体_GB2312"/>
                        </a:rPr>
                        <a:t>4.</a:t>
                      </a:r>
                      <a:r>
                        <a:rPr lang="zh-CN" altLang="en-US" sz="1800" u="none" strike="noStrike">
                          <a:effectLst/>
                          <a:latin typeface="+mn-ea"/>
                          <a:ea typeface="楷体_GB2312"/>
                        </a:rPr>
                        <a:t>自用建筑物或土地使用权停止自用改为出租</a:t>
                      </a:r>
                      <a:endParaRPr lang="zh-CN" altLang="en-US" sz="1800" b="1" i="0" u="none" strike="noStrike">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l" fontAlgn="t"/>
                      <a:r>
                        <a:rPr lang="zh-CN" altLang="en-US" sz="1800" u="none" strike="noStrike">
                          <a:effectLst/>
                          <a:latin typeface="+mn-ea"/>
                          <a:ea typeface="楷体_GB2312"/>
                        </a:rPr>
                        <a:t>固定资产或无形资产转投资性房地产</a:t>
                      </a:r>
                      <a:endParaRPr lang="zh-CN" altLang="en-US" sz="1800" b="0" i="0" u="none" strike="noStrike">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2607222084"/>
                  </a:ext>
                </a:extLst>
              </a:tr>
              <a:tr h="340554">
                <a:tc vMerge="1">
                  <a:txBody>
                    <a:bodyPr/>
                    <a:lstStyle/>
                    <a:p>
                      <a:endParaRPr lang="zh-CN" altLang="en-US"/>
                    </a:p>
                  </a:txBody>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l" fontAlgn="t"/>
                      <a:r>
                        <a:rPr lang="zh-CN" altLang="en-US" sz="1800" u="none" strike="noStrike">
                          <a:effectLst/>
                          <a:latin typeface="+mn-ea"/>
                          <a:ea typeface="楷体_GB2312"/>
                        </a:rPr>
                        <a:t>转换日租赁期开始日</a:t>
                      </a:r>
                      <a:endParaRPr lang="zh-CN" altLang="en-US" sz="1800" b="0" i="0" u="none" strike="noStrike">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2370607619"/>
                  </a:ext>
                </a:extLst>
              </a:tr>
              <a:tr h="340554">
                <a:tc rowSpan="2">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just" fontAlgn="t"/>
                      <a:r>
                        <a:rPr lang="en-US" altLang="zh-CN" sz="1800" u="none" strike="noStrike">
                          <a:effectLst/>
                          <a:latin typeface="+mn-ea"/>
                          <a:ea typeface="楷体_GB2312"/>
                        </a:rPr>
                        <a:t>5.</a:t>
                      </a:r>
                      <a:r>
                        <a:rPr lang="zh-CN" altLang="en-US" sz="1800" u="none" strike="noStrike">
                          <a:effectLst/>
                          <a:latin typeface="+mn-ea"/>
                          <a:ea typeface="楷体_GB2312"/>
                        </a:rPr>
                        <a:t>自用土地使用权停止自用改用于资本增值</a:t>
                      </a:r>
                      <a:endParaRPr lang="zh-CN" altLang="en-US" sz="1800" b="1" i="0" u="none" strike="noStrike">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l" fontAlgn="t"/>
                      <a:r>
                        <a:rPr lang="zh-CN" altLang="en-US" sz="1800" u="none" strike="noStrike">
                          <a:effectLst/>
                          <a:latin typeface="+mn-ea"/>
                          <a:ea typeface="楷体_GB2312"/>
                        </a:rPr>
                        <a:t>无形资产转投资性房地产</a:t>
                      </a:r>
                      <a:endParaRPr lang="zh-CN" altLang="en-US" sz="1800" b="0" i="0" u="none" strike="noStrike">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1254842199"/>
                  </a:ext>
                </a:extLst>
              </a:tr>
              <a:tr h="676442">
                <a:tc vMerge="1">
                  <a:txBody>
                    <a:bodyPr/>
                    <a:lstStyle/>
                    <a:p>
                      <a:endParaRPr lang="zh-CN" altLang="en-US"/>
                    </a:p>
                  </a:txBody>
                  <a:tcPr/>
                </a:tc>
                <a:tc>
                  <a:txBody>
                    <a:bodyPr/>
                    <a:lstStyle>
                      <a:lvl1pPr marL="0" algn="l" defTabSz="914400" rtl="0" eaLnBrk="1" latinLnBrk="0" hangingPunct="1">
                        <a:defRPr sz="1800" kern="1200">
                          <a:solidFill>
                            <a:schemeClr val="dk1"/>
                          </a:solidFill>
                          <a:latin typeface="Lucida Sans Unicode"/>
                        </a:defRPr>
                      </a:lvl1pPr>
                      <a:lvl2pPr marL="457200" algn="l" defTabSz="914400" rtl="0" eaLnBrk="1" latinLnBrk="0" hangingPunct="1">
                        <a:defRPr sz="1800" kern="1200">
                          <a:solidFill>
                            <a:schemeClr val="dk1"/>
                          </a:solidFill>
                          <a:latin typeface="Lucida Sans Unicode"/>
                        </a:defRPr>
                      </a:lvl2pPr>
                      <a:lvl3pPr marL="914400" algn="l" defTabSz="914400" rtl="0" eaLnBrk="1" latinLnBrk="0" hangingPunct="1">
                        <a:defRPr sz="1800" kern="1200">
                          <a:solidFill>
                            <a:schemeClr val="dk1"/>
                          </a:solidFill>
                          <a:latin typeface="Lucida Sans Unicode"/>
                        </a:defRPr>
                      </a:lvl3pPr>
                      <a:lvl4pPr marL="1371600" algn="l" defTabSz="914400" rtl="0" eaLnBrk="1" latinLnBrk="0" hangingPunct="1">
                        <a:defRPr sz="1800" kern="1200">
                          <a:solidFill>
                            <a:schemeClr val="dk1"/>
                          </a:solidFill>
                          <a:latin typeface="Lucida Sans Unicode"/>
                        </a:defRPr>
                      </a:lvl4pPr>
                      <a:lvl5pPr marL="1828800" algn="l" defTabSz="914400" rtl="0" eaLnBrk="1" latinLnBrk="0" hangingPunct="1">
                        <a:defRPr sz="1800" kern="1200">
                          <a:solidFill>
                            <a:schemeClr val="dk1"/>
                          </a:solidFill>
                          <a:latin typeface="Lucida Sans Unicode"/>
                        </a:defRPr>
                      </a:lvl5pPr>
                      <a:lvl6pPr marL="2286000" algn="l" defTabSz="914400" rtl="0" eaLnBrk="1" latinLnBrk="0" hangingPunct="1">
                        <a:defRPr sz="1800" kern="1200">
                          <a:solidFill>
                            <a:schemeClr val="dk1"/>
                          </a:solidFill>
                          <a:latin typeface="Lucida Sans Unicode"/>
                        </a:defRPr>
                      </a:lvl6pPr>
                      <a:lvl7pPr marL="2743200" algn="l" defTabSz="914400" rtl="0" eaLnBrk="1" latinLnBrk="0" hangingPunct="1">
                        <a:defRPr sz="1800" kern="1200">
                          <a:solidFill>
                            <a:schemeClr val="dk1"/>
                          </a:solidFill>
                          <a:latin typeface="Lucida Sans Unicode"/>
                        </a:defRPr>
                      </a:lvl7pPr>
                      <a:lvl8pPr marL="3200400" algn="l" defTabSz="914400" rtl="0" eaLnBrk="1" latinLnBrk="0" hangingPunct="1">
                        <a:defRPr sz="1800" kern="1200">
                          <a:solidFill>
                            <a:schemeClr val="dk1"/>
                          </a:solidFill>
                          <a:latin typeface="Lucida Sans Unicode"/>
                        </a:defRPr>
                      </a:lvl8pPr>
                      <a:lvl9pPr marL="3657600" algn="l" defTabSz="914400" rtl="0" eaLnBrk="1" latinLnBrk="0" hangingPunct="1">
                        <a:defRPr sz="1800" kern="1200">
                          <a:solidFill>
                            <a:schemeClr val="dk1"/>
                          </a:solidFill>
                          <a:latin typeface="Lucida Sans Unicode"/>
                        </a:defRPr>
                      </a:lvl9pPr>
                    </a:lstStyle>
                    <a:p>
                      <a:pPr algn="l" fontAlgn="t"/>
                      <a:r>
                        <a:rPr lang="zh-CN" altLang="en-US" sz="1800" u="none" strike="noStrike" dirty="0">
                          <a:effectLst/>
                          <a:latin typeface="+mn-ea"/>
                          <a:ea typeface="楷体_GB2312"/>
                        </a:rPr>
                        <a:t>转换日：自用土地使用权停止自用后确定用于资本增值的日期</a:t>
                      </a:r>
                      <a:endParaRPr lang="zh-CN" altLang="en-US" sz="1800" b="0" i="0" u="none" strike="noStrike" dirty="0">
                        <a:effectLst/>
                        <a:latin typeface="+mn-ea"/>
                        <a:ea typeface="楷体_GB2312"/>
                      </a:endParaRPr>
                    </a:p>
                  </a:txBody>
                  <a:tcPr marL="3810" marR="3810" marT="381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202791366"/>
                  </a:ext>
                </a:extLst>
              </a:tr>
            </a:tbl>
          </a:graphicData>
        </a:graphic>
      </p:graphicFrame>
    </p:spTree>
    <p:extLst>
      <p:ext uri="{BB962C8B-B14F-4D97-AF65-F5344CB8AC3E}">
        <p14:creationId xmlns:p14="http://schemas.microsoft.com/office/powerpoint/2010/main" val="10880248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（二）投资性房地产转换为非投资性房地产</a:t>
            </a:r>
            <a:endParaRPr lang="zh-CN" altLang="en-US" sz="3200" dirty="0">
              <a:latin typeface="黑体" panose="02010609060101010101" pitchFamily="49" charset="-122"/>
              <a:ea typeface="黑体" panose="02010609060101010101" pitchFamily="49" charset="-122"/>
            </a:endParaRPr>
          </a:p>
        </p:txBody>
      </p:sp>
      <p:sp>
        <p:nvSpPr>
          <p:cNvPr id="5" name="Rectangle 3">
            <a:extLst>
              <a:ext uri="{FF2B5EF4-FFF2-40B4-BE49-F238E27FC236}">
                <a16:creationId xmlns:a16="http://schemas.microsoft.com/office/drawing/2014/main" id="{2C6226C5-9382-4CD6-9F45-982A618D9A21}"/>
              </a:ext>
            </a:extLst>
          </p:cNvPr>
          <p:cNvSpPr>
            <a:spLocks noGrp="1" noRot="1" noChangeArrowheads="1"/>
          </p:cNvSpPr>
          <p:nvPr>
            <p:ph idx="1"/>
          </p:nvPr>
        </p:nvSpPr>
        <p:spPr>
          <a:xfrm>
            <a:off x="914400" y="1974755"/>
            <a:ext cx="10770282" cy="4114800"/>
          </a:xfrm>
        </p:spPr>
        <p:txBody>
          <a:bodyPr/>
          <a:lstStyle/>
          <a:p>
            <a:pPr>
              <a:lnSpc>
                <a:spcPct val="80000"/>
              </a:lnSpc>
              <a:buFont typeface="Wingdings" pitchFamily="2" charset="2"/>
              <a:buNone/>
            </a:pPr>
            <a:r>
              <a:rPr lang="en-US" altLang="zh-CN" sz="2800" dirty="0">
                <a:solidFill>
                  <a:schemeClr val="tx2"/>
                </a:solidFill>
                <a:latin typeface="楷体_GB2312" pitchFamily="49" charset="-122"/>
                <a:ea typeface="楷体_GB2312" pitchFamily="49" charset="-122"/>
              </a:rPr>
              <a:t>1.</a:t>
            </a:r>
            <a:r>
              <a:rPr lang="zh-CN" altLang="en-US" sz="2800" b="1" dirty="0">
                <a:solidFill>
                  <a:schemeClr val="tx2"/>
                </a:solidFill>
                <a:latin typeface="楷体_GB2312" pitchFamily="49" charset="-122"/>
                <a:ea typeface="楷体_GB2312" pitchFamily="49" charset="-122"/>
              </a:rPr>
              <a:t>采用成本模式进行后续计量的投资性房地产转换为自用房地产</a:t>
            </a:r>
            <a:endParaRPr lang="en-US" altLang="zh-CN" sz="2800" b="1" dirty="0">
              <a:solidFill>
                <a:schemeClr val="tx2"/>
              </a:solidFill>
              <a:latin typeface="楷体_GB2312" pitchFamily="49" charset="-122"/>
              <a:ea typeface="楷体_GB2312" pitchFamily="49" charset="-122"/>
            </a:endParaRPr>
          </a:p>
          <a:p>
            <a:pPr>
              <a:lnSpc>
                <a:spcPct val="80000"/>
              </a:lnSpc>
              <a:buFont typeface="Wingdings" pitchFamily="2" charset="2"/>
              <a:buNone/>
            </a:pPr>
            <a:endParaRPr lang="zh-CN" altLang="en-US" sz="2800" b="1" dirty="0">
              <a:solidFill>
                <a:schemeClr val="tx2"/>
              </a:solidFill>
              <a:latin typeface="楷体_GB2312" pitchFamily="49" charset="-122"/>
              <a:ea typeface="楷体_GB2312" pitchFamily="49" charset="-122"/>
            </a:endParaRPr>
          </a:p>
          <a:p>
            <a:pPr>
              <a:lnSpc>
                <a:spcPct val="80000"/>
              </a:lnSpc>
            </a:pPr>
            <a:r>
              <a:rPr lang="zh-CN" altLang="en-US" sz="2400" b="1" dirty="0">
                <a:solidFill>
                  <a:srgbClr val="000000"/>
                </a:solidFill>
                <a:latin typeface="楷体_GB2312" pitchFamily="49" charset="-122"/>
                <a:ea typeface="楷体_GB2312" pitchFamily="49" charset="-122"/>
              </a:rPr>
              <a:t>企业应当以转换日投资性房地产的</a:t>
            </a:r>
            <a:r>
              <a:rPr lang="zh-CN" altLang="en-US" sz="2400" b="1" dirty="0">
                <a:solidFill>
                  <a:srgbClr val="CC0066"/>
                </a:solidFill>
                <a:latin typeface="楷体_GB2312" pitchFamily="49" charset="-122"/>
                <a:ea typeface="楷体_GB2312" pitchFamily="49" charset="-122"/>
              </a:rPr>
              <a:t>账面余额（原值）</a:t>
            </a:r>
            <a:r>
              <a:rPr lang="zh-CN" altLang="en-US" sz="2400" b="1" dirty="0">
                <a:solidFill>
                  <a:srgbClr val="000000"/>
                </a:solidFill>
                <a:latin typeface="楷体_GB2312" pitchFamily="49" charset="-122"/>
                <a:ea typeface="楷体_GB2312" pitchFamily="49" charset="-122"/>
              </a:rPr>
              <a:t>作为自用房地产的入账价值，并将投资性房地产的累计折旧、累计摊销、减值准备转为累计折旧、累计摊销、固定或无形资产减值准备。</a:t>
            </a:r>
          </a:p>
          <a:p>
            <a:pPr>
              <a:lnSpc>
                <a:spcPct val="80000"/>
              </a:lnSpc>
              <a:buFont typeface="Wingdings" pitchFamily="2" charset="2"/>
              <a:buNone/>
            </a:pPr>
            <a:r>
              <a:rPr lang="zh-CN" altLang="en-US" sz="2400" b="1" dirty="0">
                <a:solidFill>
                  <a:srgbClr val="000000"/>
                </a:solidFill>
                <a:latin typeface="楷体_GB2312" pitchFamily="49" charset="-122"/>
                <a:ea typeface="楷体_GB2312" pitchFamily="49" charset="-122"/>
              </a:rPr>
              <a:t>  </a:t>
            </a:r>
            <a:r>
              <a:rPr lang="zh-CN" altLang="en-US" sz="2400" b="1" dirty="0">
                <a:solidFill>
                  <a:srgbClr val="FF0000"/>
                </a:solidFill>
                <a:latin typeface="楷体_GB2312" pitchFamily="49" charset="-122"/>
                <a:ea typeface="楷体_GB2312" pitchFamily="49" charset="-122"/>
              </a:rPr>
              <a:t>借：固定资产（或无形资产）</a:t>
            </a:r>
          </a:p>
          <a:p>
            <a:pPr>
              <a:lnSpc>
                <a:spcPct val="80000"/>
              </a:lnSpc>
              <a:buFont typeface="Wingdings" pitchFamily="2" charset="2"/>
              <a:buNone/>
            </a:pPr>
            <a:r>
              <a:rPr lang="zh-CN" altLang="en-US" sz="2400" b="1" dirty="0">
                <a:solidFill>
                  <a:srgbClr val="FF0000"/>
                </a:solidFill>
                <a:latin typeface="楷体_GB2312" pitchFamily="49" charset="-122"/>
                <a:ea typeface="楷体_GB2312" pitchFamily="49" charset="-122"/>
              </a:rPr>
              <a:t>        </a:t>
            </a:r>
            <a:r>
              <a:rPr lang="zh-CN" altLang="en-US" sz="2400" b="1" dirty="0">
                <a:solidFill>
                  <a:schemeClr val="tx2"/>
                </a:solidFill>
                <a:latin typeface="楷体_GB2312" pitchFamily="49" charset="-122"/>
                <a:ea typeface="楷体_GB2312" pitchFamily="49" charset="-122"/>
              </a:rPr>
              <a:t>投资性房地产累计折旧（或投资性房地产累计摊销）</a:t>
            </a:r>
          </a:p>
          <a:p>
            <a:pPr>
              <a:lnSpc>
                <a:spcPct val="80000"/>
              </a:lnSpc>
              <a:buFont typeface="Wingdings" pitchFamily="2" charset="2"/>
              <a:buNone/>
            </a:pPr>
            <a:r>
              <a:rPr lang="zh-CN" altLang="en-US" sz="2400" b="1" dirty="0">
                <a:solidFill>
                  <a:schemeClr val="tx2"/>
                </a:solidFill>
                <a:latin typeface="楷体_GB2312" pitchFamily="49" charset="-122"/>
                <a:ea typeface="楷体_GB2312" pitchFamily="49" charset="-122"/>
              </a:rPr>
              <a:t>        投资性房地产减值准备</a:t>
            </a:r>
          </a:p>
          <a:p>
            <a:pPr>
              <a:lnSpc>
                <a:spcPct val="80000"/>
              </a:lnSpc>
              <a:buFont typeface="Wingdings" pitchFamily="2" charset="2"/>
              <a:buNone/>
            </a:pPr>
            <a:r>
              <a:rPr lang="zh-CN" altLang="en-US" sz="2400" b="1" dirty="0">
                <a:solidFill>
                  <a:schemeClr val="tx2"/>
                </a:solidFill>
                <a:latin typeface="楷体_GB2312" pitchFamily="49" charset="-122"/>
                <a:ea typeface="楷体_GB2312" pitchFamily="49" charset="-122"/>
              </a:rPr>
              <a:t>    贷：投资性房地产</a:t>
            </a:r>
          </a:p>
          <a:p>
            <a:pPr>
              <a:lnSpc>
                <a:spcPct val="80000"/>
              </a:lnSpc>
              <a:buFont typeface="Wingdings" pitchFamily="2" charset="2"/>
              <a:buNone/>
            </a:pPr>
            <a:r>
              <a:rPr lang="zh-CN" altLang="en-US" sz="2400" b="1" dirty="0">
                <a:solidFill>
                  <a:srgbClr val="FF0000"/>
                </a:solidFill>
                <a:latin typeface="楷体_GB2312" pitchFamily="49" charset="-122"/>
                <a:ea typeface="楷体_GB2312" pitchFamily="49" charset="-122"/>
              </a:rPr>
              <a:t>          累计折旧（或累计摊销）</a:t>
            </a:r>
          </a:p>
          <a:p>
            <a:pPr>
              <a:lnSpc>
                <a:spcPct val="80000"/>
              </a:lnSpc>
              <a:buFont typeface="Wingdings" pitchFamily="2" charset="2"/>
              <a:buNone/>
            </a:pPr>
            <a:r>
              <a:rPr lang="zh-CN" altLang="en-US" sz="2400" b="1" dirty="0">
                <a:solidFill>
                  <a:srgbClr val="FF0000"/>
                </a:solidFill>
                <a:latin typeface="楷体_GB2312" pitchFamily="49" charset="-122"/>
                <a:ea typeface="楷体_GB2312" pitchFamily="49" charset="-122"/>
              </a:rPr>
              <a:t>          固定资产减值准备（或无形资产减值准备）</a:t>
            </a:r>
          </a:p>
        </p:txBody>
      </p:sp>
    </p:spTree>
    <p:extLst>
      <p:ext uri="{BB962C8B-B14F-4D97-AF65-F5344CB8AC3E}">
        <p14:creationId xmlns:p14="http://schemas.microsoft.com/office/powerpoint/2010/main" val="710096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（二）投资性房地产转换为自用房地产</a:t>
            </a:r>
            <a:endParaRPr lang="zh-CN" altLang="en-US" sz="3200" dirty="0">
              <a:latin typeface="黑体" panose="02010609060101010101" pitchFamily="49" charset="-122"/>
              <a:ea typeface="黑体" panose="02010609060101010101" pitchFamily="49" charset="-122"/>
            </a:endParaRPr>
          </a:p>
        </p:txBody>
      </p:sp>
      <p:sp>
        <p:nvSpPr>
          <p:cNvPr id="5" name="Rectangle 3">
            <a:extLst>
              <a:ext uri="{FF2B5EF4-FFF2-40B4-BE49-F238E27FC236}">
                <a16:creationId xmlns:a16="http://schemas.microsoft.com/office/drawing/2014/main" id="{905488C6-E38E-41E1-836D-877EFDA0A6A3}"/>
              </a:ext>
            </a:extLst>
          </p:cNvPr>
          <p:cNvSpPr>
            <a:spLocks noGrp="1" noRot="1" noChangeArrowheads="1"/>
          </p:cNvSpPr>
          <p:nvPr>
            <p:ph idx="1"/>
          </p:nvPr>
        </p:nvSpPr>
        <p:spPr>
          <a:xfrm>
            <a:off x="1576388" y="2017713"/>
            <a:ext cx="10363200" cy="4114800"/>
          </a:xfrm>
        </p:spPr>
        <p:txBody>
          <a:bodyPr/>
          <a:lstStyle/>
          <a:p>
            <a:pPr>
              <a:lnSpc>
                <a:spcPct val="80000"/>
              </a:lnSpc>
            </a:pPr>
            <a:r>
              <a:rPr lang="zh-CN" altLang="en-US" sz="2800" b="1" dirty="0">
                <a:solidFill>
                  <a:schemeClr val="tx2"/>
                </a:solidFill>
                <a:latin typeface="楷体_GB2312" pitchFamily="49" charset="-122"/>
                <a:ea typeface="楷体_GB2312" pitchFamily="49" charset="-122"/>
              </a:rPr>
              <a:t>例：</a:t>
            </a:r>
            <a:r>
              <a:rPr lang="zh-CN" altLang="en-US" sz="2800" b="1" dirty="0">
                <a:solidFill>
                  <a:srgbClr val="000000"/>
                </a:solidFill>
                <a:latin typeface="楷体_GB2312" pitchFamily="49" charset="-122"/>
                <a:ea typeface="楷体_GB2312" pitchFamily="49" charset="-122"/>
              </a:rPr>
              <a:t>甲公司的一栋新办公楼自</a:t>
            </a:r>
            <a:r>
              <a:rPr lang="en-US" altLang="zh-CN" sz="2800" b="1" dirty="0">
                <a:solidFill>
                  <a:srgbClr val="CC0066"/>
                </a:solidFill>
                <a:latin typeface="楷体_GB2312" pitchFamily="49" charset="-122"/>
                <a:ea typeface="楷体_GB2312" pitchFamily="49" charset="-122"/>
              </a:rPr>
              <a:t>2×19</a:t>
            </a:r>
            <a:r>
              <a:rPr lang="zh-CN" altLang="en-US" sz="2800" b="1" dirty="0">
                <a:solidFill>
                  <a:srgbClr val="CC0066"/>
                </a:solidFill>
                <a:latin typeface="楷体_GB2312" pitchFamily="49" charset="-122"/>
                <a:ea typeface="楷体_GB2312" pitchFamily="49" charset="-122"/>
              </a:rPr>
              <a:t>年</a:t>
            </a:r>
            <a:r>
              <a:rPr lang="en-US" altLang="zh-CN" sz="2800" b="1" dirty="0">
                <a:solidFill>
                  <a:srgbClr val="CC0066"/>
                </a:solidFill>
                <a:latin typeface="楷体_GB2312" pitchFamily="49" charset="-122"/>
                <a:ea typeface="楷体_GB2312" pitchFamily="49" charset="-122"/>
              </a:rPr>
              <a:t>1</a:t>
            </a:r>
            <a:r>
              <a:rPr lang="zh-CN" altLang="en-US" sz="2800" b="1" dirty="0">
                <a:solidFill>
                  <a:srgbClr val="CC0066"/>
                </a:solidFill>
                <a:latin typeface="楷体_GB2312" pitchFamily="49" charset="-122"/>
                <a:ea typeface="楷体_GB2312" pitchFamily="49" charset="-122"/>
              </a:rPr>
              <a:t>月</a:t>
            </a:r>
            <a:r>
              <a:rPr lang="en-US" altLang="zh-CN" sz="2800" b="1" dirty="0">
                <a:solidFill>
                  <a:srgbClr val="CC0066"/>
                </a:solidFill>
                <a:latin typeface="楷体_GB2312" pitchFamily="49" charset="-122"/>
                <a:ea typeface="楷体_GB2312" pitchFamily="49" charset="-122"/>
              </a:rPr>
              <a:t>1</a:t>
            </a:r>
            <a:r>
              <a:rPr lang="zh-CN" altLang="en-US" sz="2800" b="1" dirty="0">
                <a:solidFill>
                  <a:srgbClr val="CC0066"/>
                </a:solidFill>
                <a:latin typeface="楷体_GB2312" pitchFamily="49" charset="-122"/>
                <a:ea typeface="楷体_GB2312" pitchFamily="49" charset="-122"/>
              </a:rPr>
              <a:t>日</a:t>
            </a:r>
            <a:r>
              <a:rPr lang="zh-CN" altLang="en-US" sz="2800" b="1" dirty="0">
                <a:solidFill>
                  <a:srgbClr val="000000"/>
                </a:solidFill>
                <a:latin typeface="楷体_GB2312" pitchFamily="49" charset="-122"/>
                <a:ea typeface="楷体_GB2312" pitchFamily="49" charset="-122"/>
              </a:rPr>
              <a:t>出租给乙公司使用，已确认为投资性房地产，并采用</a:t>
            </a:r>
            <a:r>
              <a:rPr lang="zh-CN" altLang="en-US" sz="2800" b="1" dirty="0">
                <a:solidFill>
                  <a:srgbClr val="CC0066"/>
                </a:solidFill>
                <a:latin typeface="楷体_GB2312" pitchFamily="49" charset="-122"/>
                <a:ea typeface="楷体_GB2312" pitchFamily="49" charset="-122"/>
              </a:rPr>
              <a:t>成本模式</a:t>
            </a:r>
            <a:r>
              <a:rPr lang="zh-CN" altLang="en-US" sz="2800" b="1" dirty="0">
                <a:solidFill>
                  <a:srgbClr val="000000"/>
                </a:solidFill>
                <a:latin typeface="楷体_GB2312" pitchFamily="49" charset="-122"/>
                <a:ea typeface="楷体_GB2312" pitchFamily="49" charset="-122"/>
              </a:rPr>
              <a:t>进行后续计量。该办公楼的初始成本为</a:t>
            </a:r>
            <a:r>
              <a:rPr lang="en-US" altLang="zh-CN" sz="2800" b="1" dirty="0">
                <a:solidFill>
                  <a:srgbClr val="000000"/>
                </a:solidFill>
                <a:latin typeface="楷体_GB2312" pitchFamily="49" charset="-122"/>
                <a:ea typeface="楷体_GB2312" pitchFamily="49" charset="-122"/>
              </a:rPr>
              <a:t>500</a:t>
            </a:r>
            <a:r>
              <a:rPr lang="zh-CN" altLang="en-US" sz="2800" b="1" dirty="0">
                <a:solidFill>
                  <a:srgbClr val="000000"/>
                </a:solidFill>
                <a:latin typeface="楷体_GB2312" pitchFamily="49" charset="-122"/>
                <a:ea typeface="楷体_GB2312" pitchFamily="49" charset="-122"/>
              </a:rPr>
              <a:t>万元，预计使用寿命为</a:t>
            </a:r>
            <a:r>
              <a:rPr lang="en-US" altLang="zh-CN" sz="2800" b="1" dirty="0">
                <a:solidFill>
                  <a:srgbClr val="000000"/>
                </a:solidFill>
                <a:latin typeface="楷体_GB2312" pitchFamily="49" charset="-122"/>
                <a:ea typeface="楷体_GB2312" pitchFamily="49" charset="-122"/>
              </a:rPr>
              <a:t>50</a:t>
            </a:r>
            <a:r>
              <a:rPr lang="zh-CN" altLang="en-US" sz="2800" b="1" dirty="0">
                <a:solidFill>
                  <a:srgbClr val="000000"/>
                </a:solidFill>
                <a:latin typeface="楷体_GB2312" pitchFamily="49" charset="-122"/>
                <a:ea typeface="楷体_GB2312" pitchFamily="49" charset="-122"/>
              </a:rPr>
              <a:t>年，预计净残值为</a:t>
            </a:r>
            <a:r>
              <a:rPr lang="en-US" altLang="zh-CN" sz="2800" b="1" dirty="0">
                <a:solidFill>
                  <a:srgbClr val="000000"/>
                </a:solidFill>
                <a:latin typeface="楷体_GB2312" pitchFamily="49" charset="-122"/>
                <a:ea typeface="楷体_GB2312" pitchFamily="49" charset="-122"/>
              </a:rPr>
              <a:t>20</a:t>
            </a:r>
            <a:r>
              <a:rPr lang="zh-CN" altLang="en-US" sz="2800" b="1" dirty="0">
                <a:solidFill>
                  <a:srgbClr val="000000"/>
                </a:solidFill>
                <a:latin typeface="楷体_GB2312" pitchFamily="49" charset="-122"/>
                <a:ea typeface="楷体_GB2312" pitchFamily="49" charset="-122"/>
              </a:rPr>
              <a:t>万元，采用年限平均法计提折旧。该办公楼占用土地的土地使用权成本为</a:t>
            </a:r>
            <a:r>
              <a:rPr lang="en-US" altLang="zh-CN" sz="2800" b="1" dirty="0">
                <a:solidFill>
                  <a:srgbClr val="000000"/>
                </a:solidFill>
                <a:latin typeface="楷体_GB2312" pitchFamily="49" charset="-122"/>
                <a:ea typeface="楷体_GB2312" pitchFamily="49" charset="-122"/>
              </a:rPr>
              <a:t>240</a:t>
            </a:r>
            <a:r>
              <a:rPr lang="zh-CN" altLang="en-US" sz="2800" b="1" dirty="0">
                <a:solidFill>
                  <a:srgbClr val="000000"/>
                </a:solidFill>
                <a:latin typeface="楷体_GB2312" pitchFamily="49" charset="-122"/>
                <a:ea typeface="楷体_GB2312" pitchFamily="49" charset="-122"/>
              </a:rPr>
              <a:t>万元，其摊销年限为</a:t>
            </a:r>
            <a:r>
              <a:rPr lang="en-US" altLang="zh-CN" sz="2800" b="1" dirty="0">
                <a:solidFill>
                  <a:srgbClr val="000000"/>
                </a:solidFill>
                <a:latin typeface="楷体_GB2312" pitchFamily="49" charset="-122"/>
                <a:ea typeface="楷体_GB2312" pitchFamily="49" charset="-122"/>
              </a:rPr>
              <a:t>40</a:t>
            </a:r>
            <a:r>
              <a:rPr lang="zh-CN" altLang="en-US" sz="2800" b="1" dirty="0">
                <a:solidFill>
                  <a:srgbClr val="000000"/>
                </a:solidFill>
                <a:latin typeface="楷体_GB2312" pitchFamily="49" charset="-122"/>
                <a:ea typeface="楷体_GB2312" pitchFamily="49" charset="-122"/>
              </a:rPr>
              <a:t>年。双方约定，乙公司</a:t>
            </a:r>
            <a:r>
              <a:rPr lang="zh-CN" altLang="en-US" sz="2800" b="1" dirty="0">
                <a:solidFill>
                  <a:srgbClr val="CC0066"/>
                </a:solidFill>
                <a:latin typeface="楷体_GB2312" pitchFamily="49" charset="-122"/>
                <a:ea typeface="楷体_GB2312" pitchFamily="49" charset="-122"/>
              </a:rPr>
              <a:t>每年年初</a:t>
            </a:r>
            <a:r>
              <a:rPr lang="zh-CN" altLang="en-US" sz="2800" b="1" dirty="0">
                <a:solidFill>
                  <a:srgbClr val="000000"/>
                </a:solidFill>
                <a:latin typeface="楷体_GB2312" pitchFamily="49" charset="-122"/>
                <a:ea typeface="楷体_GB2312" pitchFamily="49" charset="-122"/>
              </a:rPr>
              <a:t>应向甲公司支付租金</a:t>
            </a:r>
            <a:r>
              <a:rPr lang="en-US" altLang="zh-CN" sz="2800" b="1" dirty="0">
                <a:solidFill>
                  <a:srgbClr val="000000"/>
                </a:solidFill>
                <a:latin typeface="楷体_GB2312" pitchFamily="49" charset="-122"/>
                <a:ea typeface="楷体_GB2312" pitchFamily="49" charset="-122"/>
              </a:rPr>
              <a:t>30</a:t>
            </a:r>
            <a:r>
              <a:rPr lang="zh-CN" altLang="en-US" sz="2800" b="1" dirty="0">
                <a:solidFill>
                  <a:srgbClr val="000000"/>
                </a:solidFill>
                <a:latin typeface="楷体_GB2312" pitchFamily="49" charset="-122"/>
                <a:ea typeface="楷体_GB2312" pitchFamily="49" charset="-122"/>
              </a:rPr>
              <a:t>万元。</a:t>
            </a:r>
            <a:r>
              <a:rPr lang="en-US" altLang="zh-CN" sz="2800" b="1" dirty="0">
                <a:solidFill>
                  <a:srgbClr val="000000"/>
                </a:solidFill>
                <a:latin typeface="楷体_GB2312" pitchFamily="49" charset="-122"/>
                <a:ea typeface="楷体_GB2312" pitchFamily="49" charset="-122"/>
              </a:rPr>
              <a:t>2×19</a:t>
            </a:r>
            <a:r>
              <a:rPr lang="zh-CN" altLang="en-US" sz="2800" b="1" dirty="0">
                <a:solidFill>
                  <a:srgbClr val="000000"/>
                </a:solidFill>
                <a:latin typeface="楷体_GB2312" pitchFamily="49" charset="-122"/>
                <a:ea typeface="楷体_GB2312" pitchFamily="49" charset="-122"/>
              </a:rPr>
              <a:t>年</a:t>
            </a:r>
            <a:r>
              <a:rPr lang="en-US" altLang="zh-CN" sz="2800" b="1" dirty="0">
                <a:solidFill>
                  <a:srgbClr val="000000"/>
                </a:solidFill>
                <a:latin typeface="楷体_GB2312" pitchFamily="49" charset="-122"/>
                <a:ea typeface="楷体_GB2312" pitchFamily="49" charset="-122"/>
              </a:rPr>
              <a:t>12</a:t>
            </a:r>
            <a:r>
              <a:rPr lang="zh-CN" altLang="en-US" sz="2800" b="1" dirty="0">
                <a:solidFill>
                  <a:srgbClr val="000000"/>
                </a:solidFill>
                <a:latin typeface="楷体_GB2312" pitchFamily="49" charset="-122"/>
                <a:ea typeface="楷体_GB2312" pitchFamily="49" charset="-122"/>
              </a:rPr>
              <a:t>月</a:t>
            </a:r>
            <a:r>
              <a:rPr lang="en-US" altLang="zh-CN" sz="2800" b="1" dirty="0">
                <a:solidFill>
                  <a:srgbClr val="000000"/>
                </a:solidFill>
                <a:latin typeface="楷体_GB2312" pitchFamily="49" charset="-122"/>
                <a:ea typeface="楷体_GB2312" pitchFamily="49" charset="-122"/>
              </a:rPr>
              <a:t>31</a:t>
            </a:r>
            <a:r>
              <a:rPr lang="zh-CN" altLang="en-US" sz="2800" b="1" dirty="0">
                <a:solidFill>
                  <a:srgbClr val="000000"/>
                </a:solidFill>
                <a:latin typeface="楷体_GB2312" pitchFamily="49" charset="-122"/>
                <a:ea typeface="楷体_GB2312" pitchFamily="49" charset="-122"/>
              </a:rPr>
              <a:t>日，该办公楼发生减值迹象，经测试其可回收金额为</a:t>
            </a:r>
            <a:r>
              <a:rPr lang="en-US" altLang="zh-CN" sz="2800" b="1" dirty="0">
                <a:solidFill>
                  <a:srgbClr val="000000"/>
                </a:solidFill>
                <a:latin typeface="楷体_GB2312" pitchFamily="49" charset="-122"/>
                <a:ea typeface="楷体_GB2312" pitchFamily="49" charset="-122"/>
              </a:rPr>
              <a:t>480</a:t>
            </a:r>
            <a:r>
              <a:rPr lang="zh-CN" altLang="en-US" sz="2800" b="1" dirty="0">
                <a:solidFill>
                  <a:srgbClr val="000000"/>
                </a:solidFill>
                <a:latin typeface="楷体_GB2312" pitchFamily="49" charset="-122"/>
                <a:ea typeface="楷体_GB2312" pitchFamily="49" charset="-122"/>
              </a:rPr>
              <a:t>万元。</a:t>
            </a:r>
            <a:r>
              <a:rPr lang="zh-CN" altLang="en-US" sz="2800" dirty="0">
                <a:solidFill>
                  <a:srgbClr val="000000"/>
                </a:solidFill>
                <a:latin typeface="楷体_GB2312" pitchFamily="49" charset="-122"/>
                <a:ea typeface="楷体_GB2312" pitchFamily="49" charset="-122"/>
              </a:rPr>
              <a:t> </a:t>
            </a:r>
          </a:p>
          <a:p>
            <a:pPr>
              <a:lnSpc>
                <a:spcPct val="80000"/>
              </a:lnSpc>
            </a:pPr>
            <a:r>
              <a:rPr lang="zh-CN" altLang="en-US" sz="2800" b="1" dirty="0">
                <a:solidFill>
                  <a:srgbClr val="000000"/>
                </a:solidFill>
                <a:latin typeface="楷体_GB2312" pitchFamily="49" charset="-122"/>
                <a:ea typeface="楷体_GB2312" pitchFamily="49" charset="-122"/>
              </a:rPr>
              <a:t>假定</a:t>
            </a:r>
            <a:r>
              <a:rPr lang="en-US" altLang="zh-CN" sz="2800" b="1" dirty="0">
                <a:solidFill>
                  <a:srgbClr val="000000"/>
                </a:solidFill>
                <a:latin typeface="楷体_GB2312" pitchFamily="49" charset="-122"/>
                <a:ea typeface="楷体_GB2312" pitchFamily="49" charset="-122"/>
              </a:rPr>
              <a:t>2×20</a:t>
            </a:r>
            <a:r>
              <a:rPr lang="zh-CN" altLang="en-US" sz="2800" b="1" dirty="0">
                <a:solidFill>
                  <a:srgbClr val="000000"/>
                </a:solidFill>
                <a:latin typeface="楷体_GB2312" pitchFamily="49" charset="-122"/>
                <a:ea typeface="楷体_GB2312" pitchFamily="49" charset="-122"/>
              </a:rPr>
              <a:t>年</a:t>
            </a:r>
            <a:r>
              <a:rPr lang="en-US" altLang="zh-CN" sz="2800" b="1" dirty="0">
                <a:solidFill>
                  <a:srgbClr val="000000"/>
                </a:solidFill>
                <a:latin typeface="楷体_GB2312" pitchFamily="49" charset="-122"/>
                <a:ea typeface="楷体_GB2312" pitchFamily="49" charset="-122"/>
              </a:rPr>
              <a:t>1</a:t>
            </a:r>
            <a:r>
              <a:rPr lang="zh-CN" altLang="en-US" sz="2800" b="1" dirty="0">
                <a:solidFill>
                  <a:srgbClr val="000000"/>
                </a:solidFill>
                <a:latin typeface="楷体_GB2312" pitchFamily="49" charset="-122"/>
                <a:ea typeface="楷体_GB2312" pitchFamily="49" charset="-122"/>
              </a:rPr>
              <a:t>月</a:t>
            </a:r>
            <a:r>
              <a:rPr lang="en-US" altLang="zh-CN" sz="2800" b="1" dirty="0">
                <a:solidFill>
                  <a:srgbClr val="000000"/>
                </a:solidFill>
                <a:latin typeface="楷体_GB2312" pitchFamily="49" charset="-122"/>
                <a:ea typeface="楷体_GB2312" pitchFamily="49" charset="-122"/>
              </a:rPr>
              <a:t>1</a:t>
            </a:r>
            <a:r>
              <a:rPr lang="zh-CN" altLang="en-US" sz="2800" b="1" dirty="0">
                <a:solidFill>
                  <a:srgbClr val="000000"/>
                </a:solidFill>
                <a:latin typeface="楷体_GB2312" pitchFamily="49" charset="-122"/>
                <a:ea typeface="楷体_GB2312" pitchFamily="49" charset="-122"/>
              </a:rPr>
              <a:t>日，甲公司与乙公司协商，终止了办公楼的租赁协议，将办公楼转为自用。预计剩余使用年限均不变。</a:t>
            </a:r>
          </a:p>
          <a:p>
            <a:pPr>
              <a:lnSpc>
                <a:spcPct val="80000"/>
              </a:lnSpc>
              <a:buFont typeface="Wingdings" pitchFamily="2" charset="2"/>
              <a:buNone/>
            </a:pPr>
            <a:r>
              <a:rPr lang="zh-CN" altLang="en-US" sz="2800" b="1" dirty="0">
                <a:solidFill>
                  <a:srgbClr val="000000"/>
                </a:solidFill>
                <a:latin typeface="楷体_GB2312" pitchFamily="49" charset="-122"/>
                <a:ea typeface="楷体_GB2312" pitchFamily="49" charset="-122"/>
              </a:rPr>
              <a:t> </a:t>
            </a:r>
          </a:p>
          <a:p>
            <a:pPr>
              <a:lnSpc>
                <a:spcPct val="80000"/>
              </a:lnSpc>
              <a:buFont typeface="Wingdings" pitchFamily="2" charset="2"/>
              <a:buNone/>
            </a:pPr>
            <a:r>
              <a:rPr lang="zh-CN" altLang="en-US" sz="2800" b="1" dirty="0">
                <a:solidFill>
                  <a:srgbClr val="000000"/>
                </a:solidFill>
                <a:latin typeface="楷体_GB2312" pitchFamily="49" charset="-122"/>
                <a:ea typeface="楷体_GB2312" pitchFamily="49" charset="-122"/>
              </a:rPr>
              <a:t>  </a:t>
            </a:r>
            <a:endParaRPr lang="zh-CN" altLang="en-US" sz="2800" b="1" dirty="0">
              <a:solidFill>
                <a:srgbClr val="FF0000"/>
              </a:solidFill>
              <a:latin typeface="楷体_GB2312" pitchFamily="49" charset="-122"/>
              <a:ea typeface="楷体_GB2312" pitchFamily="49" charset="-122"/>
            </a:endParaRPr>
          </a:p>
        </p:txBody>
      </p:sp>
    </p:spTree>
    <p:extLst>
      <p:ext uri="{BB962C8B-B14F-4D97-AF65-F5344CB8AC3E}">
        <p14:creationId xmlns:p14="http://schemas.microsoft.com/office/powerpoint/2010/main" val="350080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（二）投资性房地产转换为自用房地产</a:t>
            </a:r>
            <a:endParaRPr lang="zh-CN" altLang="en-US" sz="3200"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562100" y="1803400"/>
            <a:ext cx="10363200" cy="4840287"/>
          </a:xfrm>
        </p:spPr>
        <p:txBody>
          <a:bodyPr/>
          <a:lstStyle/>
          <a:p>
            <a:pPr marL="0" indent="0">
              <a:buNone/>
            </a:pPr>
            <a:r>
              <a:rPr lang="zh-CN" altLang="en-US" sz="2400" dirty="0">
                <a:solidFill>
                  <a:srgbClr val="000000"/>
                </a:solidFill>
                <a:latin typeface="楷体_GB2312" pitchFamily="49" charset="-122"/>
                <a:ea typeface="楷体_GB2312" panose="02010609030101010101"/>
              </a:rPr>
              <a:t>甲公司的账务处理为：</a:t>
            </a:r>
          </a:p>
          <a:p>
            <a:pPr>
              <a:lnSpc>
                <a:spcPct val="90000"/>
              </a:lnSpc>
              <a:buNone/>
            </a:pPr>
            <a:r>
              <a:rPr lang="zh-CN" altLang="en-US" sz="2400" dirty="0">
                <a:solidFill>
                  <a:srgbClr val="000000"/>
                </a:solidFill>
                <a:latin typeface="楷体_GB2312" pitchFamily="49" charset="-122"/>
                <a:ea typeface="楷体_GB2312" panose="02010609030101010101"/>
              </a:rPr>
              <a:t>  </a:t>
            </a:r>
            <a:r>
              <a:rPr lang="zh-CN" altLang="en-US" sz="2400" dirty="0">
                <a:solidFill>
                  <a:srgbClr val="FF0000"/>
                </a:solidFill>
                <a:latin typeface="楷体_GB2312" pitchFamily="49" charset="-122"/>
                <a:ea typeface="楷体_GB2312" panose="02010609030101010101"/>
              </a:rPr>
              <a:t>借：固定资产                   </a:t>
            </a:r>
            <a:r>
              <a:rPr lang="en-US" altLang="zh-CN" sz="2400" dirty="0">
                <a:solidFill>
                  <a:srgbClr val="FF0000"/>
                </a:solidFill>
                <a:latin typeface="楷体_GB2312" pitchFamily="49" charset="-122"/>
                <a:ea typeface="楷体_GB2312" panose="02010609030101010101"/>
              </a:rPr>
              <a:t>5000000</a:t>
            </a:r>
          </a:p>
          <a:p>
            <a:pPr>
              <a:lnSpc>
                <a:spcPct val="90000"/>
              </a:lnSpc>
              <a:buNone/>
            </a:pPr>
            <a:r>
              <a:rPr lang="en-US" altLang="zh-CN" sz="2400" dirty="0">
                <a:solidFill>
                  <a:srgbClr val="FF0000"/>
                </a:solidFill>
                <a:latin typeface="楷体_GB2312" pitchFamily="49" charset="-122"/>
                <a:ea typeface="楷体_GB2312" panose="02010609030101010101"/>
              </a:rPr>
              <a:t>        </a:t>
            </a:r>
            <a:r>
              <a:rPr lang="zh-CN" altLang="en-US" sz="2400" dirty="0">
                <a:solidFill>
                  <a:srgbClr val="FF0000"/>
                </a:solidFill>
                <a:latin typeface="楷体_GB2312" pitchFamily="49" charset="-122"/>
                <a:ea typeface="楷体_GB2312" panose="02010609030101010101"/>
              </a:rPr>
              <a:t>无形资产                   </a:t>
            </a:r>
            <a:r>
              <a:rPr lang="en-US" altLang="zh-CN" sz="2400" dirty="0">
                <a:solidFill>
                  <a:srgbClr val="FF0000"/>
                </a:solidFill>
                <a:latin typeface="楷体_GB2312" pitchFamily="49" charset="-122"/>
                <a:ea typeface="楷体_GB2312" panose="02010609030101010101"/>
              </a:rPr>
              <a:t>2400000</a:t>
            </a:r>
          </a:p>
          <a:p>
            <a:pPr>
              <a:lnSpc>
                <a:spcPct val="90000"/>
              </a:lnSpc>
              <a:buNone/>
            </a:pPr>
            <a:r>
              <a:rPr lang="en-US" altLang="zh-CN" sz="2400" dirty="0">
                <a:solidFill>
                  <a:srgbClr val="FF0000"/>
                </a:solidFill>
                <a:latin typeface="楷体_GB2312" pitchFamily="49" charset="-122"/>
                <a:ea typeface="楷体_GB2312" panose="02010609030101010101"/>
              </a:rPr>
              <a:t>        </a:t>
            </a:r>
            <a:r>
              <a:rPr lang="zh-CN" altLang="en-US" sz="2400" dirty="0">
                <a:solidFill>
                  <a:schemeClr val="tx2"/>
                </a:solidFill>
                <a:latin typeface="楷体_GB2312" pitchFamily="49" charset="-122"/>
                <a:ea typeface="楷体_GB2312" panose="02010609030101010101"/>
              </a:rPr>
              <a:t>投资性房地产累计折旧       </a:t>
            </a:r>
            <a:r>
              <a:rPr lang="en-US" altLang="zh-CN" sz="2400" dirty="0">
                <a:solidFill>
                  <a:schemeClr val="tx2"/>
                </a:solidFill>
                <a:latin typeface="楷体_GB2312" pitchFamily="49" charset="-122"/>
                <a:ea typeface="楷体_GB2312" panose="02010609030101010101"/>
              </a:rPr>
              <a:t>96000</a:t>
            </a:r>
          </a:p>
          <a:p>
            <a:pPr>
              <a:lnSpc>
                <a:spcPct val="90000"/>
              </a:lnSpc>
              <a:buNone/>
            </a:pPr>
            <a:r>
              <a:rPr lang="en-US" altLang="zh-CN" sz="2400" dirty="0">
                <a:solidFill>
                  <a:schemeClr val="tx2"/>
                </a:solidFill>
                <a:latin typeface="楷体_GB2312" pitchFamily="49" charset="-122"/>
                <a:ea typeface="楷体_GB2312" panose="02010609030101010101"/>
              </a:rPr>
              <a:t>        </a:t>
            </a:r>
            <a:r>
              <a:rPr lang="zh-CN" altLang="en-US" sz="2400" dirty="0">
                <a:solidFill>
                  <a:schemeClr val="tx2"/>
                </a:solidFill>
                <a:latin typeface="楷体_GB2312" pitchFamily="49" charset="-122"/>
                <a:ea typeface="楷体_GB2312" panose="02010609030101010101"/>
              </a:rPr>
              <a:t>投资性房地产累计摊销       </a:t>
            </a:r>
            <a:r>
              <a:rPr lang="en-US" altLang="zh-CN" sz="2400" dirty="0">
                <a:solidFill>
                  <a:schemeClr val="tx2"/>
                </a:solidFill>
                <a:latin typeface="楷体_GB2312" pitchFamily="49" charset="-122"/>
                <a:ea typeface="楷体_GB2312" panose="02010609030101010101"/>
              </a:rPr>
              <a:t>60000</a:t>
            </a:r>
          </a:p>
          <a:p>
            <a:pPr>
              <a:lnSpc>
                <a:spcPct val="90000"/>
              </a:lnSpc>
              <a:buNone/>
            </a:pPr>
            <a:r>
              <a:rPr lang="en-US" altLang="zh-CN" sz="2400" dirty="0">
                <a:solidFill>
                  <a:schemeClr val="tx2"/>
                </a:solidFill>
                <a:latin typeface="楷体_GB2312" pitchFamily="49" charset="-122"/>
                <a:ea typeface="楷体_GB2312" panose="02010609030101010101"/>
              </a:rPr>
              <a:t>        </a:t>
            </a:r>
            <a:r>
              <a:rPr lang="zh-CN" altLang="en-US" sz="2400" dirty="0">
                <a:solidFill>
                  <a:schemeClr val="tx2"/>
                </a:solidFill>
                <a:latin typeface="楷体_GB2312" pitchFamily="49" charset="-122"/>
                <a:ea typeface="楷体_GB2312" panose="02010609030101010101"/>
              </a:rPr>
              <a:t>投资性房地产减值准备       </a:t>
            </a:r>
            <a:r>
              <a:rPr lang="en-US" altLang="zh-CN" sz="2400" dirty="0">
                <a:solidFill>
                  <a:schemeClr val="tx2"/>
                </a:solidFill>
                <a:latin typeface="楷体_GB2312" pitchFamily="49" charset="-122"/>
                <a:ea typeface="楷体_GB2312" panose="02010609030101010101"/>
              </a:rPr>
              <a:t>104000</a:t>
            </a:r>
          </a:p>
          <a:p>
            <a:pPr>
              <a:lnSpc>
                <a:spcPct val="90000"/>
              </a:lnSpc>
              <a:buNone/>
            </a:pPr>
            <a:r>
              <a:rPr lang="en-US" altLang="zh-CN" sz="2400" dirty="0">
                <a:solidFill>
                  <a:schemeClr val="tx2"/>
                </a:solidFill>
                <a:latin typeface="楷体_GB2312" pitchFamily="49" charset="-122"/>
                <a:ea typeface="楷体_GB2312" panose="02010609030101010101"/>
              </a:rPr>
              <a:t>     </a:t>
            </a:r>
            <a:r>
              <a:rPr lang="zh-CN" altLang="en-US" sz="2400" dirty="0">
                <a:solidFill>
                  <a:schemeClr val="tx2"/>
                </a:solidFill>
                <a:latin typeface="楷体_GB2312" pitchFamily="49" charset="-122"/>
                <a:ea typeface="楷体_GB2312" panose="02010609030101010101"/>
              </a:rPr>
              <a:t>贷：投资性房地产</a:t>
            </a:r>
            <a:r>
              <a:rPr lang="en-US" altLang="zh-CN" sz="2400" dirty="0">
                <a:solidFill>
                  <a:schemeClr val="tx2"/>
                </a:solidFill>
                <a:latin typeface="Arial"/>
                <a:ea typeface="楷体_GB2312" panose="02010609030101010101"/>
              </a:rPr>
              <a:t>——</a:t>
            </a:r>
            <a:r>
              <a:rPr lang="zh-CN" altLang="en-US" sz="2400" dirty="0">
                <a:solidFill>
                  <a:schemeClr val="tx2"/>
                </a:solidFill>
                <a:latin typeface="楷体_GB2312" pitchFamily="49" charset="-122"/>
                <a:ea typeface="楷体_GB2312" panose="02010609030101010101"/>
              </a:rPr>
              <a:t>办公楼        </a:t>
            </a:r>
            <a:r>
              <a:rPr lang="en-US" altLang="zh-CN" sz="2400" dirty="0">
                <a:solidFill>
                  <a:schemeClr val="tx2"/>
                </a:solidFill>
                <a:latin typeface="楷体_GB2312" pitchFamily="49" charset="-122"/>
                <a:ea typeface="楷体_GB2312" panose="02010609030101010101"/>
              </a:rPr>
              <a:t>5000000</a:t>
            </a:r>
          </a:p>
          <a:p>
            <a:pPr>
              <a:lnSpc>
                <a:spcPct val="90000"/>
              </a:lnSpc>
              <a:buNone/>
            </a:pPr>
            <a:r>
              <a:rPr lang="en-US" altLang="zh-CN" sz="2400" dirty="0">
                <a:solidFill>
                  <a:schemeClr val="tx2"/>
                </a:solidFill>
                <a:latin typeface="楷体_GB2312" pitchFamily="49" charset="-122"/>
                <a:ea typeface="楷体_GB2312" panose="02010609030101010101"/>
              </a:rPr>
              <a:t>                               </a:t>
            </a:r>
            <a:r>
              <a:rPr lang="en-US" altLang="zh-CN" sz="2400" dirty="0">
                <a:solidFill>
                  <a:schemeClr val="tx2"/>
                </a:solidFill>
                <a:latin typeface="Arial"/>
                <a:ea typeface="楷体_GB2312" panose="02010609030101010101"/>
              </a:rPr>
              <a:t>——</a:t>
            </a:r>
            <a:r>
              <a:rPr lang="zh-CN" altLang="en-US" sz="2400" dirty="0">
                <a:solidFill>
                  <a:schemeClr val="tx2"/>
                </a:solidFill>
                <a:latin typeface="楷体_GB2312" pitchFamily="49" charset="-122"/>
                <a:ea typeface="楷体_GB2312" panose="02010609030101010101"/>
              </a:rPr>
              <a:t>土地使用权    </a:t>
            </a:r>
            <a:r>
              <a:rPr lang="en-US" altLang="zh-CN" sz="2400" dirty="0">
                <a:solidFill>
                  <a:schemeClr val="tx2"/>
                </a:solidFill>
                <a:latin typeface="楷体_GB2312" pitchFamily="49" charset="-122"/>
                <a:ea typeface="楷体_GB2312" panose="02010609030101010101"/>
              </a:rPr>
              <a:t>2400000</a:t>
            </a:r>
          </a:p>
          <a:p>
            <a:pPr>
              <a:lnSpc>
                <a:spcPct val="90000"/>
              </a:lnSpc>
              <a:buNone/>
            </a:pPr>
            <a:r>
              <a:rPr lang="en-US" altLang="zh-CN" sz="2400" dirty="0">
                <a:solidFill>
                  <a:srgbClr val="FF0000"/>
                </a:solidFill>
                <a:latin typeface="楷体_GB2312" pitchFamily="49" charset="-122"/>
                <a:ea typeface="楷体_GB2312" panose="02010609030101010101"/>
              </a:rPr>
              <a:t>           </a:t>
            </a:r>
            <a:r>
              <a:rPr lang="zh-CN" altLang="en-US" sz="2400" dirty="0">
                <a:solidFill>
                  <a:srgbClr val="FF0000"/>
                </a:solidFill>
                <a:latin typeface="楷体_GB2312" pitchFamily="49" charset="-122"/>
                <a:ea typeface="楷体_GB2312" panose="02010609030101010101"/>
              </a:rPr>
              <a:t>累计折旧                        </a:t>
            </a:r>
            <a:r>
              <a:rPr lang="en-US" altLang="zh-CN" sz="2400" dirty="0">
                <a:solidFill>
                  <a:srgbClr val="FF0000"/>
                </a:solidFill>
                <a:latin typeface="楷体_GB2312" pitchFamily="49" charset="-122"/>
                <a:ea typeface="楷体_GB2312" panose="02010609030101010101"/>
              </a:rPr>
              <a:t>96000</a:t>
            </a:r>
          </a:p>
          <a:p>
            <a:pPr>
              <a:lnSpc>
                <a:spcPct val="90000"/>
              </a:lnSpc>
              <a:buNone/>
            </a:pPr>
            <a:r>
              <a:rPr lang="en-US" altLang="zh-CN" sz="2400" dirty="0">
                <a:solidFill>
                  <a:srgbClr val="FF0000"/>
                </a:solidFill>
                <a:latin typeface="楷体_GB2312" pitchFamily="49" charset="-122"/>
                <a:ea typeface="楷体_GB2312" panose="02010609030101010101"/>
              </a:rPr>
              <a:t>           </a:t>
            </a:r>
            <a:r>
              <a:rPr lang="zh-CN" altLang="en-US" sz="2400" dirty="0">
                <a:solidFill>
                  <a:srgbClr val="FF0000"/>
                </a:solidFill>
                <a:latin typeface="楷体_GB2312" pitchFamily="49" charset="-122"/>
                <a:ea typeface="楷体_GB2312" panose="02010609030101010101"/>
              </a:rPr>
              <a:t>累计摊销                        </a:t>
            </a:r>
            <a:r>
              <a:rPr lang="en-US" altLang="zh-CN" sz="2400" dirty="0">
                <a:solidFill>
                  <a:srgbClr val="FF0000"/>
                </a:solidFill>
                <a:latin typeface="楷体_GB2312" pitchFamily="49" charset="-122"/>
                <a:ea typeface="楷体_GB2312" panose="02010609030101010101"/>
              </a:rPr>
              <a:t>60000</a:t>
            </a:r>
          </a:p>
          <a:p>
            <a:pPr>
              <a:lnSpc>
                <a:spcPct val="90000"/>
              </a:lnSpc>
              <a:buNone/>
            </a:pPr>
            <a:r>
              <a:rPr lang="en-US" altLang="zh-CN" sz="2400" dirty="0">
                <a:solidFill>
                  <a:srgbClr val="FF0000"/>
                </a:solidFill>
                <a:latin typeface="楷体_GB2312" pitchFamily="49" charset="-122"/>
                <a:ea typeface="楷体_GB2312" panose="02010609030101010101"/>
              </a:rPr>
              <a:t>           </a:t>
            </a:r>
            <a:r>
              <a:rPr lang="zh-CN" altLang="en-US" sz="2400" dirty="0">
                <a:solidFill>
                  <a:srgbClr val="FF0000"/>
                </a:solidFill>
                <a:latin typeface="楷体_GB2312" pitchFamily="49" charset="-122"/>
                <a:ea typeface="楷体_GB2312" panose="02010609030101010101"/>
              </a:rPr>
              <a:t>固定资产减值准备               </a:t>
            </a:r>
            <a:r>
              <a:rPr lang="en-US" altLang="zh-CN" sz="2400" dirty="0">
                <a:solidFill>
                  <a:srgbClr val="FF0000"/>
                </a:solidFill>
                <a:latin typeface="楷体_GB2312" pitchFamily="49" charset="-122"/>
                <a:ea typeface="楷体_GB2312" panose="02010609030101010101"/>
              </a:rPr>
              <a:t>104000</a:t>
            </a:r>
          </a:p>
          <a:p>
            <a:pPr>
              <a:lnSpc>
                <a:spcPct val="90000"/>
              </a:lnSpc>
              <a:buNone/>
            </a:pPr>
            <a:r>
              <a:rPr lang="en-US" altLang="zh-CN" sz="2400" dirty="0">
                <a:solidFill>
                  <a:srgbClr val="FF0000"/>
                </a:solidFill>
                <a:latin typeface="楷体_GB2312" pitchFamily="49" charset="-122"/>
                <a:ea typeface="楷体_GB2312" panose="02010609030101010101"/>
              </a:rPr>
              <a:t>2×20</a:t>
            </a:r>
            <a:r>
              <a:rPr lang="zh-CN" altLang="en-US" sz="2400" dirty="0">
                <a:solidFill>
                  <a:srgbClr val="FF0000"/>
                </a:solidFill>
                <a:latin typeface="楷体_GB2312" pitchFamily="49" charset="-122"/>
                <a:ea typeface="楷体_GB2312" panose="02010609030101010101"/>
              </a:rPr>
              <a:t>年应计提的折旧和摊销金额分别是多少？？</a:t>
            </a:r>
            <a:endParaRPr lang="en-US" altLang="zh-CN" sz="2400" dirty="0">
              <a:solidFill>
                <a:srgbClr val="FF0000"/>
              </a:solidFill>
              <a:latin typeface="楷体_GB2312" pitchFamily="49" charset="-122"/>
              <a:ea typeface="楷体_GB2312" panose="02010609030101010101"/>
            </a:endParaRPr>
          </a:p>
          <a:p>
            <a:pPr marL="457200" lvl="1" indent="0">
              <a:buNone/>
            </a:pPr>
            <a:endParaRPr lang="zh-CN" altLang="en-US" dirty="0"/>
          </a:p>
        </p:txBody>
      </p:sp>
    </p:spTree>
    <p:extLst>
      <p:ext uri="{BB962C8B-B14F-4D97-AF65-F5344CB8AC3E}">
        <p14:creationId xmlns:p14="http://schemas.microsoft.com/office/powerpoint/2010/main" val="22079342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（二）投资性房地产转换为非投资性房地产</a:t>
            </a:r>
            <a:endParaRPr lang="zh-CN" altLang="en-US" sz="3200" dirty="0">
              <a:latin typeface="黑体" panose="02010609060101010101" pitchFamily="49" charset="-122"/>
              <a:ea typeface="黑体" panose="02010609060101010101" pitchFamily="49" charset="-122"/>
            </a:endParaRPr>
          </a:p>
        </p:txBody>
      </p:sp>
      <p:sp>
        <p:nvSpPr>
          <p:cNvPr id="5" name="Rectangle 3">
            <a:extLst>
              <a:ext uri="{FF2B5EF4-FFF2-40B4-BE49-F238E27FC236}">
                <a16:creationId xmlns:a16="http://schemas.microsoft.com/office/drawing/2014/main" id="{0D376DED-4D2C-4416-AD9E-6115E766DFA8}"/>
              </a:ext>
            </a:extLst>
          </p:cNvPr>
          <p:cNvSpPr>
            <a:spLocks noGrp="1" noRot="1" noChangeArrowheads="1"/>
          </p:cNvSpPr>
          <p:nvPr>
            <p:ph idx="1"/>
          </p:nvPr>
        </p:nvSpPr>
        <p:spPr>
          <a:xfrm>
            <a:off x="1576388" y="2017713"/>
            <a:ext cx="10363200" cy="4114800"/>
          </a:xfrm>
        </p:spPr>
        <p:txBody>
          <a:bodyPr/>
          <a:lstStyle/>
          <a:p>
            <a:pPr marL="0" indent="0">
              <a:buNone/>
            </a:pPr>
            <a:r>
              <a:rPr lang="en-US" altLang="zh-CN" sz="2800" dirty="0">
                <a:solidFill>
                  <a:schemeClr val="tx2"/>
                </a:solidFill>
                <a:latin typeface="楷体_GB2312" pitchFamily="49" charset="-122"/>
                <a:ea typeface="楷体_GB2312" pitchFamily="49" charset="-122"/>
              </a:rPr>
              <a:t>2.</a:t>
            </a:r>
            <a:r>
              <a:rPr lang="zh-CN" altLang="en-US" sz="2800" b="1" dirty="0">
                <a:solidFill>
                  <a:schemeClr val="tx2"/>
                </a:solidFill>
                <a:latin typeface="楷体_GB2312" pitchFamily="49" charset="-122"/>
                <a:ea typeface="楷体_GB2312" pitchFamily="49" charset="-122"/>
              </a:rPr>
              <a:t>采用公允价值模式进行后续计量的投资性房地产转换为自用房地产</a:t>
            </a:r>
          </a:p>
          <a:p>
            <a:r>
              <a:rPr lang="zh-CN" altLang="en-US" sz="2800" b="1" dirty="0">
                <a:solidFill>
                  <a:srgbClr val="000000"/>
                </a:solidFill>
                <a:latin typeface="楷体_GB2312" pitchFamily="49" charset="-122"/>
                <a:ea typeface="楷体_GB2312" pitchFamily="49" charset="-122"/>
              </a:rPr>
              <a:t>企业应当以投资性房地产在转换日的</a:t>
            </a:r>
            <a:r>
              <a:rPr lang="zh-CN" altLang="en-US" sz="2800" b="1" dirty="0">
                <a:solidFill>
                  <a:srgbClr val="CC0066"/>
                </a:solidFill>
                <a:latin typeface="楷体_GB2312" pitchFamily="49" charset="-122"/>
                <a:ea typeface="楷体_GB2312" pitchFamily="49" charset="-122"/>
              </a:rPr>
              <a:t>公允价值</a:t>
            </a:r>
            <a:r>
              <a:rPr lang="zh-CN" altLang="en-US" sz="2800" b="1" dirty="0">
                <a:solidFill>
                  <a:srgbClr val="000000"/>
                </a:solidFill>
                <a:latin typeface="楷体_GB2312" pitchFamily="49" charset="-122"/>
                <a:ea typeface="楷体_GB2312" pitchFamily="49" charset="-122"/>
              </a:rPr>
              <a:t>作为自用房地产的账面价值，公允价值与原账面价值的差额计入当期损益。</a:t>
            </a:r>
          </a:p>
          <a:p>
            <a:pPr>
              <a:buFont typeface="Wingdings" pitchFamily="2" charset="2"/>
              <a:buNone/>
            </a:pPr>
            <a:r>
              <a:rPr lang="zh-CN" altLang="en-US" sz="2800" b="1" dirty="0">
                <a:solidFill>
                  <a:srgbClr val="000000"/>
                </a:solidFill>
                <a:latin typeface="楷体_GB2312" pitchFamily="49" charset="-122"/>
                <a:ea typeface="楷体_GB2312" pitchFamily="49" charset="-122"/>
              </a:rPr>
              <a:t>   借：固定资产（或无形资产）</a:t>
            </a:r>
          </a:p>
          <a:p>
            <a:pPr>
              <a:buFont typeface="Wingdings" pitchFamily="2" charset="2"/>
              <a:buNone/>
            </a:pPr>
            <a:r>
              <a:rPr lang="zh-CN" altLang="en-US" sz="2800" b="1" dirty="0">
                <a:solidFill>
                  <a:srgbClr val="000000"/>
                </a:solidFill>
                <a:latin typeface="楷体_GB2312" pitchFamily="49" charset="-122"/>
                <a:ea typeface="楷体_GB2312" pitchFamily="49" charset="-122"/>
              </a:rPr>
              <a:t>       </a:t>
            </a:r>
            <a:r>
              <a:rPr lang="zh-CN" altLang="en-US" sz="2800" b="1" dirty="0">
                <a:solidFill>
                  <a:srgbClr val="FF0000"/>
                </a:solidFill>
                <a:latin typeface="楷体_GB2312" pitchFamily="49" charset="-122"/>
                <a:ea typeface="楷体_GB2312" pitchFamily="49" charset="-122"/>
              </a:rPr>
              <a:t>贷：投资性房地产</a:t>
            </a:r>
            <a:r>
              <a:rPr lang="en-US" altLang="zh-CN" sz="2800" b="1" dirty="0">
                <a:solidFill>
                  <a:srgbClr val="FF0000"/>
                </a:solidFill>
                <a:latin typeface="Arial"/>
                <a:ea typeface="楷体_GB2312" pitchFamily="49" charset="-122"/>
              </a:rPr>
              <a:t>——</a:t>
            </a:r>
            <a:r>
              <a:rPr lang="zh-CN" altLang="en-US" sz="2800" b="1" dirty="0">
                <a:solidFill>
                  <a:srgbClr val="FF0000"/>
                </a:solidFill>
                <a:latin typeface="楷体_GB2312" pitchFamily="49" charset="-122"/>
                <a:ea typeface="楷体_GB2312" pitchFamily="49" charset="-122"/>
              </a:rPr>
              <a:t>成本</a:t>
            </a:r>
          </a:p>
          <a:p>
            <a:pPr>
              <a:buFont typeface="Wingdings" pitchFamily="2" charset="2"/>
              <a:buNone/>
            </a:pPr>
            <a:r>
              <a:rPr lang="zh-CN" altLang="en-US" sz="2800" b="1" dirty="0">
                <a:solidFill>
                  <a:srgbClr val="FF0000"/>
                </a:solidFill>
                <a:latin typeface="楷体_GB2312" pitchFamily="49" charset="-122"/>
                <a:ea typeface="楷体_GB2312" pitchFamily="49" charset="-122"/>
              </a:rPr>
              <a:t>       贷或借：投资性房地产</a:t>
            </a:r>
            <a:r>
              <a:rPr lang="en-US" altLang="zh-CN" sz="2800" b="1" dirty="0">
                <a:solidFill>
                  <a:srgbClr val="FF0000"/>
                </a:solidFill>
                <a:latin typeface="Arial"/>
                <a:ea typeface="楷体_GB2312" pitchFamily="49" charset="-122"/>
              </a:rPr>
              <a:t>——</a:t>
            </a:r>
            <a:r>
              <a:rPr lang="zh-CN" altLang="en-US" sz="2800" b="1" dirty="0">
                <a:solidFill>
                  <a:srgbClr val="FF0000"/>
                </a:solidFill>
                <a:latin typeface="楷体_GB2312" pitchFamily="49" charset="-122"/>
                <a:ea typeface="楷体_GB2312" pitchFamily="49" charset="-122"/>
              </a:rPr>
              <a:t>公允价值变动</a:t>
            </a:r>
            <a:r>
              <a:rPr lang="zh-CN" altLang="en-US" sz="2800" b="1" dirty="0">
                <a:solidFill>
                  <a:srgbClr val="000000"/>
                </a:solidFill>
                <a:latin typeface="楷体_GB2312" pitchFamily="49" charset="-122"/>
                <a:ea typeface="楷体_GB2312" pitchFamily="49" charset="-122"/>
              </a:rPr>
              <a:t> </a:t>
            </a:r>
          </a:p>
          <a:p>
            <a:pPr>
              <a:buFont typeface="Wingdings" pitchFamily="2" charset="2"/>
              <a:buNone/>
            </a:pPr>
            <a:r>
              <a:rPr lang="zh-CN" altLang="en-US" sz="2800" b="1" dirty="0">
                <a:solidFill>
                  <a:srgbClr val="000000"/>
                </a:solidFill>
                <a:latin typeface="楷体_GB2312" pitchFamily="49" charset="-122"/>
                <a:ea typeface="楷体_GB2312" pitchFamily="49" charset="-122"/>
              </a:rPr>
              <a:t>       贷或借：公允价值变动损益</a:t>
            </a:r>
            <a:r>
              <a:rPr lang="zh-CN" altLang="en-US" sz="3600" dirty="0"/>
              <a:t> </a:t>
            </a:r>
          </a:p>
        </p:txBody>
      </p:sp>
    </p:spTree>
    <p:extLst>
      <p:ext uri="{BB962C8B-B14F-4D97-AF65-F5344CB8AC3E}">
        <p14:creationId xmlns:p14="http://schemas.microsoft.com/office/powerpoint/2010/main" val="239064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（二）投资性房地产转换为非投资性房地产</a:t>
            </a:r>
            <a:endParaRPr lang="zh-CN" altLang="en-US" sz="3200"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lnSpc>
                <a:spcPct val="110000"/>
              </a:lnSpc>
            </a:pPr>
            <a:r>
              <a:rPr lang="zh-CN" altLang="en-US" sz="2400" dirty="0">
                <a:solidFill>
                  <a:schemeClr val="tx2"/>
                </a:solidFill>
                <a:latin typeface="楷体_GB2312" pitchFamily="49" charset="-122"/>
                <a:ea typeface="楷体_GB2312" pitchFamily="49" charset="-122"/>
              </a:rPr>
              <a:t>例：</a:t>
            </a:r>
            <a:r>
              <a:rPr lang="en-US" altLang="zh-CN" sz="2400" dirty="0">
                <a:solidFill>
                  <a:srgbClr val="000000"/>
                </a:solidFill>
                <a:latin typeface="楷体_GB2312" pitchFamily="49" charset="-122"/>
                <a:ea typeface="楷体_GB2312" pitchFamily="49" charset="-122"/>
              </a:rPr>
              <a:t>2×19</a:t>
            </a:r>
            <a:r>
              <a:rPr lang="zh-CN" altLang="en-US" sz="2400" dirty="0">
                <a:solidFill>
                  <a:srgbClr val="000000"/>
                </a:solidFill>
                <a:latin typeface="楷体_GB2312" pitchFamily="49" charset="-122"/>
                <a:ea typeface="楷体_GB2312" pitchFamily="49" charset="-122"/>
              </a:rPr>
              <a:t>年</a:t>
            </a:r>
            <a:r>
              <a:rPr lang="en-US" altLang="zh-CN" sz="2400" dirty="0">
                <a:solidFill>
                  <a:srgbClr val="000000"/>
                </a:solidFill>
                <a:latin typeface="楷体_GB2312" pitchFamily="49" charset="-122"/>
                <a:ea typeface="楷体_GB2312" pitchFamily="49" charset="-122"/>
              </a:rPr>
              <a:t>8</a:t>
            </a:r>
            <a:r>
              <a:rPr lang="zh-CN" altLang="en-US" sz="2400" dirty="0">
                <a:solidFill>
                  <a:srgbClr val="000000"/>
                </a:solidFill>
                <a:latin typeface="楷体_GB2312" pitchFamily="49" charset="-122"/>
                <a:ea typeface="楷体_GB2312" pitchFamily="49" charset="-122"/>
              </a:rPr>
              <a:t>月</a:t>
            </a:r>
            <a:r>
              <a:rPr lang="en-US" altLang="zh-CN" sz="2400" dirty="0">
                <a:solidFill>
                  <a:srgbClr val="000000"/>
                </a:solidFill>
                <a:latin typeface="楷体_GB2312" pitchFamily="49" charset="-122"/>
                <a:ea typeface="楷体_GB2312" pitchFamily="49" charset="-122"/>
              </a:rPr>
              <a:t>10</a:t>
            </a:r>
            <a:r>
              <a:rPr lang="zh-CN" altLang="en-US" sz="2400" dirty="0">
                <a:solidFill>
                  <a:srgbClr val="000000"/>
                </a:solidFill>
                <a:latin typeface="楷体_GB2312" pitchFamily="49" charset="-122"/>
                <a:ea typeface="楷体_GB2312" pitchFamily="49" charset="-122"/>
              </a:rPr>
              <a:t>日，某企业将出租期满的办公楼收回，开始用于本企业的行政管理。</a:t>
            </a:r>
            <a:r>
              <a:rPr lang="en-US" altLang="zh-CN" sz="2400" dirty="0">
                <a:solidFill>
                  <a:srgbClr val="000000"/>
                </a:solidFill>
                <a:latin typeface="楷体_GB2312" pitchFamily="49" charset="-122"/>
                <a:ea typeface="楷体_GB2312" pitchFamily="49" charset="-122"/>
              </a:rPr>
              <a:t>8</a:t>
            </a:r>
            <a:r>
              <a:rPr lang="zh-CN" altLang="en-US" sz="2400" dirty="0">
                <a:solidFill>
                  <a:srgbClr val="000000"/>
                </a:solidFill>
                <a:latin typeface="楷体_GB2312" pitchFamily="49" charset="-122"/>
                <a:ea typeface="楷体_GB2312" pitchFamily="49" charset="-122"/>
              </a:rPr>
              <a:t>月</a:t>
            </a:r>
            <a:r>
              <a:rPr lang="en-US" altLang="zh-CN" sz="2400" dirty="0">
                <a:solidFill>
                  <a:srgbClr val="000000"/>
                </a:solidFill>
                <a:latin typeface="楷体_GB2312" pitchFamily="49" charset="-122"/>
                <a:ea typeface="楷体_GB2312" pitchFamily="49" charset="-122"/>
              </a:rPr>
              <a:t>10</a:t>
            </a:r>
            <a:r>
              <a:rPr lang="zh-CN" altLang="en-US" sz="2400" dirty="0">
                <a:solidFill>
                  <a:srgbClr val="000000"/>
                </a:solidFill>
                <a:latin typeface="楷体_GB2312" pitchFamily="49" charset="-122"/>
                <a:ea typeface="楷体_GB2312" pitchFamily="49" charset="-122"/>
              </a:rPr>
              <a:t>日，出租办公楼的公允价值为</a:t>
            </a:r>
            <a:r>
              <a:rPr lang="en-US" altLang="zh-CN" sz="2400" dirty="0">
                <a:solidFill>
                  <a:srgbClr val="000000"/>
                </a:solidFill>
                <a:latin typeface="楷体_GB2312" pitchFamily="49" charset="-122"/>
                <a:ea typeface="楷体_GB2312" pitchFamily="49" charset="-122"/>
              </a:rPr>
              <a:t>300</a:t>
            </a:r>
            <a:r>
              <a:rPr lang="zh-CN" altLang="en-US" sz="2400" dirty="0">
                <a:solidFill>
                  <a:srgbClr val="000000"/>
                </a:solidFill>
                <a:latin typeface="楷体_GB2312" pitchFamily="49" charset="-122"/>
                <a:ea typeface="楷体_GB2312" pitchFamily="49" charset="-122"/>
              </a:rPr>
              <a:t>万元。该房地产在转换前采用公允价值模式进行后续计量，转换前的账面价值为</a:t>
            </a:r>
            <a:r>
              <a:rPr lang="en-US" altLang="zh-CN" sz="2400" dirty="0">
                <a:solidFill>
                  <a:srgbClr val="000000"/>
                </a:solidFill>
                <a:latin typeface="楷体_GB2312" pitchFamily="49" charset="-122"/>
                <a:ea typeface="楷体_GB2312" pitchFamily="49" charset="-122"/>
              </a:rPr>
              <a:t>280</a:t>
            </a:r>
            <a:r>
              <a:rPr lang="zh-CN" altLang="en-US" sz="2400" dirty="0">
                <a:solidFill>
                  <a:srgbClr val="000000"/>
                </a:solidFill>
                <a:latin typeface="楷体_GB2312" pitchFamily="49" charset="-122"/>
                <a:ea typeface="楷体_GB2312" pitchFamily="49" charset="-122"/>
              </a:rPr>
              <a:t>万元，其中成本为</a:t>
            </a:r>
            <a:r>
              <a:rPr lang="en-US" altLang="zh-CN" sz="2400" dirty="0">
                <a:solidFill>
                  <a:srgbClr val="000000"/>
                </a:solidFill>
                <a:latin typeface="楷体_GB2312" pitchFamily="49" charset="-122"/>
                <a:ea typeface="楷体_GB2312" pitchFamily="49" charset="-122"/>
              </a:rPr>
              <a:t>250</a:t>
            </a:r>
            <a:r>
              <a:rPr lang="zh-CN" altLang="en-US" sz="2400" dirty="0">
                <a:solidFill>
                  <a:srgbClr val="000000"/>
                </a:solidFill>
                <a:latin typeface="楷体_GB2312" pitchFamily="49" charset="-122"/>
                <a:ea typeface="楷体_GB2312" pitchFamily="49" charset="-122"/>
              </a:rPr>
              <a:t>万元，公允价值变动为增值</a:t>
            </a:r>
            <a:r>
              <a:rPr lang="en-US" altLang="zh-CN" sz="2400" dirty="0">
                <a:solidFill>
                  <a:srgbClr val="000000"/>
                </a:solidFill>
                <a:latin typeface="楷体_GB2312" pitchFamily="49" charset="-122"/>
                <a:ea typeface="楷体_GB2312" pitchFamily="49" charset="-122"/>
              </a:rPr>
              <a:t>30</a:t>
            </a:r>
            <a:r>
              <a:rPr lang="zh-CN" altLang="en-US" sz="2400" dirty="0">
                <a:solidFill>
                  <a:srgbClr val="000000"/>
                </a:solidFill>
                <a:latin typeface="楷体_GB2312" pitchFamily="49" charset="-122"/>
                <a:ea typeface="楷体_GB2312" pitchFamily="49" charset="-122"/>
              </a:rPr>
              <a:t>万元。</a:t>
            </a:r>
          </a:p>
          <a:p>
            <a:pPr>
              <a:lnSpc>
                <a:spcPct val="110000"/>
              </a:lnSpc>
            </a:pPr>
            <a:r>
              <a:rPr lang="zh-CN" altLang="en-US" sz="2400" dirty="0">
                <a:solidFill>
                  <a:srgbClr val="000000"/>
                </a:solidFill>
                <a:latin typeface="楷体_GB2312" pitchFamily="49" charset="-122"/>
                <a:ea typeface="楷体_GB2312" pitchFamily="49" charset="-122"/>
              </a:rPr>
              <a:t>该企业的账务处理如下：</a:t>
            </a:r>
          </a:p>
          <a:p>
            <a:pPr>
              <a:lnSpc>
                <a:spcPct val="110000"/>
              </a:lnSpc>
              <a:buNone/>
            </a:pPr>
            <a:r>
              <a:rPr lang="zh-CN" altLang="en-US" sz="2400" dirty="0">
                <a:solidFill>
                  <a:srgbClr val="000000"/>
                </a:solidFill>
                <a:latin typeface="楷体_GB2312" pitchFamily="49" charset="-122"/>
                <a:ea typeface="楷体_GB2312" pitchFamily="49" charset="-122"/>
              </a:rPr>
              <a:t>   借：固定资产                                      </a:t>
            </a:r>
            <a:r>
              <a:rPr lang="en-US" altLang="zh-CN" sz="2400" dirty="0">
                <a:solidFill>
                  <a:srgbClr val="000000"/>
                </a:solidFill>
                <a:latin typeface="楷体_GB2312" pitchFamily="49" charset="-122"/>
                <a:ea typeface="楷体_GB2312" pitchFamily="49" charset="-122"/>
              </a:rPr>
              <a:t>3000000</a:t>
            </a:r>
          </a:p>
          <a:p>
            <a:pPr>
              <a:lnSpc>
                <a:spcPct val="110000"/>
              </a:lnSpc>
              <a:buNone/>
            </a:pPr>
            <a:r>
              <a:rPr lang="en-US" altLang="zh-CN" sz="2400" dirty="0">
                <a:solidFill>
                  <a:srgbClr val="000000"/>
                </a:solidFill>
                <a:latin typeface="楷体_GB2312" pitchFamily="49" charset="-122"/>
                <a:ea typeface="楷体_GB2312" pitchFamily="49" charset="-122"/>
              </a:rPr>
              <a:t>       </a:t>
            </a:r>
            <a:r>
              <a:rPr lang="zh-CN" altLang="en-US" sz="2400" dirty="0">
                <a:solidFill>
                  <a:srgbClr val="CC0066"/>
                </a:solidFill>
                <a:latin typeface="楷体_GB2312" pitchFamily="49" charset="-122"/>
                <a:ea typeface="楷体_GB2312" pitchFamily="49" charset="-122"/>
              </a:rPr>
              <a:t>贷：投资性房地产</a:t>
            </a:r>
            <a:r>
              <a:rPr lang="en-US" altLang="zh-CN" sz="2400" dirty="0">
                <a:solidFill>
                  <a:srgbClr val="CC0066"/>
                </a:solidFill>
                <a:latin typeface="Arial"/>
                <a:ea typeface="楷体_GB2312" pitchFamily="49" charset="-122"/>
              </a:rPr>
              <a:t>——</a:t>
            </a:r>
            <a:r>
              <a:rPr lang="zh-CN" altLang="en-US" sz="2400" dirty="0">
                <a:solidFill>
                  <a:srgbClr val="CC0066"/>
                </a:solidFill>
                <a:latin typeface="楷体_GB2312" pitchFamily="49" charset="-122"/>
                <a:ea typeface="楷体_GB2312" pitchFamily="49" charset="-122"/>
              </a:rPr>
              <a:t>成本                      </a:t>
            </a:r>
            <a:r>
              <a:rPr lang="en-US" altLang="zh-CN" sz="2400" dirty="0">
                <a:solidFill>
                  <a:srgbClr val="CC0066"/>
                </a:solidFill>
                <a:latin typeface="楷体_GB2312" pitchFamily="49" charset="-122"/>
                <a:ea typeface="楷体_GB2312" pitchFamily="49" charset="-122"/>
              </a:rPr>
              <a:t>2500000</a:t>
            </a:r>
          </a:p>
          <a:p>
            <a:pPr>
              <a:lnSpc>
                <a:spcPct val="110000"/>
              </a:lnSpc>
              <a:buNone/>
            </a:pPr>
            <a:r>
              <a:rPr lang="en-US" altLang="zh-CN" sz="2400" dirty="0">
                <a:solidFill>
                  <a:srgbClr val="CC0066"/>
                </a:solidFill>
                <a:latin typeface="楷体_GB2312" pitchFamily="49" charset="-122"/>
                <a:ea typeface="楷体_GB2312" pitchFamily="49" charset="-122"/>
              </a:rPr>
              <a:t>                                  </a:t>
            </a:r>
            <a:r>
              <a:rPr lang="en-US" altLang="zh-CN" sz="2400" dirty="0">
                <a:solidFill>
                  <a:srgbClr val="CC0066"/>
                </a:solidFill>
                <a:latin typeface="Arial"/>
                <a:ea typeface="楷体_GB2312" pitchFamily="49" charset="-122"/>
              </a:rPr>
              <a:t>——</a:t>
            </a:r>
            <a:r>
              <a:rPr lang="zh-CN" altLang="en-US" sz="2400" dirty="0">
                <a:solidFill>
                  <a:srgbClr val="CC0066"/>
                </a:solidFill>
                <a:latin typeface="楷体_GB2312" pitchFamily="49" charset="-122"/>
                <a:ea typeface="楷体_GB2312" pitchFamily="49" charset="-122"/>
              </a:rPr>
              <a:t>公允价值变动           </a:t>
            </a:r>
            <a:r>
              <a:rPr lang="en-US" altLang="zh-CN" sz="2400" dirty="0">
                <a:solidFill>
                  <a:srgbClr val="CC0066"/>
                </a:solidFill>
                <a:latin typeface="楷体_GB2312" pitchFamily="49" charset="-122"/>
                <a:ea typeface="楷体_GB2312" pitchFamily="49" charset="-122"/>
              </a:rPr>
              <a:t>300000</a:t>
            </a:r>
          </a:p>
          <a:p>
            <a:pPr>
              <a:lnSpc>
                <a:spcPct val="110000"/>
              </a:lnSpc>
              <a:buNone/>
            </a:pPr>
            <a:r>
              <a:rPr lang="en-US" altLang="zh-CN" sz="2400" dirty="0">
                <a:solidFill>
                  <a:srgbClr val="000000"/>
                </a:solidFill>
                <a:latin typeface="楷体_GB2312" pitchFamily="49" charset="-122"/>
                <a:ea typeface="楷体_GB2312" pitchFamily="49" charset="-122"/>
              </a:rPr>
              <a:t>             </a:t>
            </a:r>
            <a:r>
              <a:rPr lang="zh-CN" altLang="en-US" sz="2400" dirty="0">
                <a:solidFill>
                  <a:srgbClr val="000000"/>
                </a:solidFill>
                <a:latin typeface="楷体_GB2312" pitchFamily="49" charset="-122"/>
                <a:ea typeface="楷体_GB2312" pitchFamily="49" charset="-122"/>
              </a:rPr>
              <a:t>公允价值变动损益                                </a:t>
            </a:r>
            <a:r>
              <a:rPr lang="en-US" altLang="zh-CN" sz="2400" dirty="0">
                <a:solidFill>
                  <a:srgbClr val="000000"/>
                </a:solidFill>
                <a:latin typeface="楷体_GB2312" pitchFamily="49" charset="-122"/>
                <a:ea typeface="楷体_GB2312" pitchFamily="49" charset="-122"/>
              </a:rPr>
              <a:t>200000</a:t>
            </a:r>
            <a:endParaRPr lang="zh-CN" altLang="en-US" dirty="0"/>
          </a:p>
        </p:txBody>
      </p:sp>
    </p:spTree>
    <p:extLst>
      <p:ext uri="{BB962C8B-B14F-4D97-AF65-F5344CB8AC3E}">
        <p14:creationId xmlns:p14="http://schemas.microsoft.com/office/powerpoint/2010/main" val="3654814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（三）非投资性房地产转换为投资性房地产</a:t>
            </a:r>
            <a:endParaRPr lang="zh-CN" altLang="en-US" sz="3200"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marL="0" indent="0">
              <a:buNone/>
            </a:pPr>
            <a:r>
              <a:rPr lang="en-US" altLang="zh-CN" sz="2800" dirty="0">
                <a:solidFill>
                  <a:schemeClr val="tx2"/>
                </a:solidFill>
                <a:latin typeface="楷体_GB2312" pitchFamily="49" charset="-122"/>
                <a:ea typeface="楷体_GB2312" panose="02010609030101010101"/>
              </a:rPr>
              <a:t>1.</a:t>
            </a:r>
            <a:r>
              <a:rPr lang="zh-CN" altLang="en-US" sz="2800" dirty="0">
                <a:solidFill>
                  <a:schemeClr val="tx2"/>
                </a:solidFill>
                <a:latin typeface="楷体_GB2312" pitchFamily="49" charset="-122"/>
                <a:ea typeface="楷体_GB2312" panose="02010609030101010101"/>
              </a:rPr>
              <a:t>非投资性房地产转换为采用成本模式进行后续计量的投资性房地产</a:t>
            </a:r>
            <a:endParaRPr lang="en-US" altLang="zh-CN" sz="2800" dirty="0">
              <a:solidFill>
                <a:schemeClr val="tx2"/>
              </a:solidFill>
              <a:latin typeface="楷体_GB2312" pitchFamily="49" charset="-122"/>
              <a:ea typeface="楷体_GB2312" panose="02010609030101010101"/>
            </a:endParaRPr>
          </a:p>
          <a:p>
            <a:pPr marL="0" indent="0">
              <a:buNone/>
            </a:pPr>
            <a:endParaRPr lang="zh-CN" altLang="en-US" sz="2800" dirty="0">
              <a:solidFill>
                <a:srgbClr val="000000"/>
              </a:solidFill>
              <a:latin typeface="楷体_GB2312" pitchFamily="49" charset="-122"/>
              <a:ea typeface="楷体_GB2312" panose="02010609030101010101"/>
            </a:endParaRPr>
          </a:p>
          <a:p>
            <a:r>
              <a:rPr lang="zh-CN" altLang="en-US" sz="2400" dirty="0">
                <a:solidFill>
                  <a:srgbClr val="FF0000"/>
                </a:solidFill>
                <a:latin typeface="楷体_GB2312" pitchFamily="49" charset="-122"/>
                <a:ea typeface="楷体_GB2312" panose="02010609030101010101"/>
              </a:rPr>
              <a:t>（</a:t>
            </a:r>
            <a:r>
              <a:rPr lang="en-US" altLang="zh-CN" sz="2400" dirty="0">
                <a:solidFill>
                  <a:srgbClr val="FF0000"/>
                </a:solidFill>
                <a:latin typeface="楷体_GB2312" pitchFamily="49" charset="-122"/>
                <a:ea typeface="楷体_GB2312" panose="02010609030101010101"/>
              </a:rPr>
              <a:t>1</a:t>
            </a:r>
            <a:r>
              <a:rPr lang="zh-CN" altLang="en-US" sz="2400" dirty="0">
                <a:solidFill>
                  <a:srgbClr val="FF0000"/>
                </a:solidFill>
                <a:latin typeface="楷体_GB2312" pitchFamily="49" charset="-122"/>
                <a:ea typeface="楷体_GB2312" panose="02010609030101010101"/>
              </a:rPr>
              <a:t>）作为存货的房地产转换为采用成本模式计量的投资性房地产的，应当将转换前存货的</a:t>
            </a:r>
            <a:r>
              <a:rPr lang="zh-CN" altLang="en-US" sz="2400" dirty="0">
                <a:solidFill>
                  <a:srgbClr val="000099"/>
                </a:solidFill>
                <a:latin typeface="楷体_GB2312" pitchFamily="49" charset="-122"/>
                <a:ea typeface="楷体_GB2312" panose="02010609030101010101"/>
              </a:rPr>
              <a:t>账面价值</a:t>
            </a:r>
            <a:r>
              <a:rPr lang="zh-CN" altLang="en-US" sz="2400" dirty="0">
                <a:solidFill>
                  <a:srgbClr val="FF0000"/>
                </a:solidFill>
                <a:latin typeface="楷体_GB2312" pitchFamily="49" charset="-122"/>
                <a:ea typeface="楷体_GB2312" panose="02010609030101010101"/>
              </a:rPr>
              <a:t>作为转换后投资性房地产的入账价值</a:t>
            </a:r>
          </a:p>
          <a:p>
            <a:pPr>
              <a:buNone/>
            </a:pPr>
            <a:r>
              <a:rPr lang="zh-CN" altLang="en-US" sz="2400" dirty="0">
                <a:solidFill>
                  <a:srgbClr val="000000"/>
                </a:solidFill>
                <a:latin typeface="楷体_GB2312" pitchFamily="49" charset="-122"/>
                <a:ea typeface="楷体_GB2312" panose="02010609030101010101"/>
              </a:rPr>
              <a:t>借：投资性房地产（该存货在转换日的</a:t>
            </a:r>
            <a:r>
              <a:rPr lang="zh-CN" altLang="en-US" sz="2400" dirty="0">
                <a:solidFill>
                  <a:srgbClr val="CC0066"/>
                </a:solidFill>
                <a:latin typeface="楷体_GB2312" pitchFamily="49" charset="-122"/>
                <a:ea typeface="楷体_GB2312" panose="02010609030101010101"/>
              </a:rPr>
              <a:t>账面价值</a:t>
            </a:r>
            <a:r>
              <a:rPr lang="zh-CN" altLang="en-US" sz="2400" dirty="0">
                <a:solidFill>
                  <a:srgbClr val="000000"/>
                </a:solidFill>
                <a:latin typeface="楷体_GB2312" pitchFamily="49" charset="-122"/>
                <a:ea typeface="楷体_GB2312" panose="02010609030101010101"/>
              </a:rPr>
              <a:t>）</a:t>
            </a:r>
          </a:p>
          <a:p>
            <a:pPr>
              <a:buNone/>
            </a:pPr>
            <a:r>
              <a:rPr lang="zh-CN" altLang="en-US" sz="2400" dirty="0">
                <a:solidFill>
                  <a:srgbClr val="000000"/>
                </a:solidFill>
                <a:latin typeface="楷体_GB2312" pitchFamily="49" charset="-122"/>
                <a:ea typeface="楷体_GB2312" panose="02010609030101010101"/>
              </a:rPr>
              <a:t>    </a:t>
            </a:r>
            <a:r>
              <a:rPr lang="zh-CN" altLang="en-US" sz="2400" dirty="0">
                <a:solidFill>
                  <a:schemeClr val="tx2"/>
                </a:solidFill>
                <a:latin typeface="楷体_GB2312" pitchFamily="49" charset="-122"/>
                <a:ea typeface="楷体_GB2312" panose="02010609030101010101"/>
              </a:rPr>
              <a:t>存货跌价准备  （原已计提跌价准备的累计金额）</a:t>
            </a:r>
          </a:p>
          <a:p>
            <a:pPr>
              <a:buNone/>
            </a:pPr>
            <a:r>
              <a:rPr lang="zh-CN" altLang="en-US" sz="2400" dirty="0">
                <a:solidFill>
                  <a:schemeClr val="tx2"/>
                </a:solidFill>
                <a:latin typeface="楷体_GB2312" pitchFamily="49" charset="-122"/>
                <a:ea typeface="楷体_GB2312" panose="02010609030101010101"/>
              </a:rPr>
              <a:t>   贷：开发产品   （该存货的</a:t>
            </a:r>
            <a:r>
              <a:rPr lang="zh-CN" altLang="en-US" sz="2400" dirty="0">
                <a:solidFill>
                  <a:srgbClr val="CC0066"/>
                </a:solidFill>
                <a:latin typeface="楷体_GB2312" pitchFamily="49" charset="-122"/>
                <a:ea typeface="楷体_GB2312" panose="02010609030101010101"/>
              </a:rPr>
              <a:t>账面余额</a:t>
            </a:r>
            <a:r>
              <a:rPr lang="zh-CN" altLang="en-US" sz="2400" dirty="0">
                <a:solidFill>
                  <a:schemeClr val="tx2"/>
                </a:solidFill>
                <a:latin typeface="楷体_GB2312" pitchFamily="49" charset="-122"/>
                <a:ea typeface="楷体_GB2312" panose="02010609030101010101"/>
              </a:rPr>
              <a:t>）</a:t>
            </a:r>
          </a:p>
        </p:txBody>
      </p:sp>
    </p:spTree>
    <p:extLst>
      <p:ext uri="{BB962C8B-B14F-4D97-AF65-F5344CB8AC3E}">
        <p14:creationId xmlns:p14="http://schemas.microsoft.com/office/powerpoint/2010/main" val="34353547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（三）非投资性房地产转换为投资性房地产</a:t>
            </a:r>
            <a:endParaRPr lang="zh-CN" altLang="en-US" sz="3200"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562100" y="1910136"/>
            <a:ext cx="10363200" cy="4947864"/>
          </a:xfrm>
        </p:spPr>
        <p:txBody>
          <a:bodyPr/>
          <a:lstStyle/>
          <a:p>
            <a:pPr>
              <a:lnSpc>
                <a:spcPct val="80000"/>
              </a:lnSpc>
            </a:pPr>
            <a:r>
              <a:rPr lang="zh-CN" altLang="en-US" sz="2400" dirty="0">
                <a:solidFill>
                  <a:srgbClr val="FF0000"/>
                </a:solidFill>
                <a:latin typeface="楷体_GB2312" pitchFamily="49" charset="-122"/>
                <a:ea typeface="楷体_GB2312" pitchFamily="49" charset="-122"/>
              </a:rPr>
              <a:t>（</a:t>
            </a:r>
            <a:r>
              <a:rPr lang="en-US" altLang="zh-CN" sz="2400" dirty="0">
                <a:solidFill>
                  <a:srgbClr val="FF0000"/>
                </a:solidFill>
                <a:latin typeface="楷体_GB2312" pitchFamily="49" charset="-122"/>
                <a:ea typeface="楷体_GB2312" pitchFamily="49" charset="-122"/>
              </a:rPr>
              <a:t>2</a:t>
            </a:r>
            <a:r>
              <a:rPr lang="zh-CN" altLang="en-US" sz="2400" dirty="0">
                <a:solidFill>
                  <a:srgbClr val="FF0000"/>
                </a:solidFill>
                <a:latin typeface="楷体_GB2312" pitchFamily="49" charset="-122"/>
                <a:ea typeface="楷体_GB2312" pitchFamily="49" charset="-122"/>
              </a:rPr>
              <a:t>）自用建筑物或土地使用权转换为以成本模式计量的投资性房地产</a:t>
            </a:r>
            <a:r>
              <a:rPr lang="zh-CN" altLang="en-US" sz="2400" dirty="0">
                <a:solidFill>
                  <a:srgbClr val="000000"/>
                </a:solidFill>
                <a:latin typeface="楷体_GB2312" pitchFamily="49" charset="-122"/>
                <a:ea typeface="楷体_GB2312" pitchFamily="49" charset="-122"/>
              </a:rPr>
              <a:t>：</a:t>
            </a:r>
          </a:p>
          <a:p>
            <a:pPr marL="0" indent="0">
              <a:lnSpc>
                <a:spcPct val="80000"/>
              </a:lnSpc>
              <a:buNone/>
            </a:pPr>
            <a:r>
              <a:rPr lang="zh-CN" altLang="en-US" sz="2400" dirty="0">
                <a:solidFill>
                  <a:srgbClr val="000000"/>
                </a:solidFill>
                <a:latin typeface="楷体_GB2312" pitchFamily="49" charset="-122"/>
                <a:ea typeface="楷体_GB2312" pitchFamily="49" charset="-122"/>
              </a:rPr>
              <a:t>企业应当以转换日自用固定或无形资产的</a:t>
            </a:r>
            <a:r>
              <a:rPr lang="zh-CN" altLang="en-US" sz="2400" dirty="0">
                <a:solidFill>
                  <a:srgbClr val="CC0066"/>
                </a:solidFill>
                <a:latin typeface="楷体_GB2312" pitchFamily="49" charset="-122"/>
                <a:ea typeface="楷体_GB2312" pitchFamily="49" charset="-122"/>
              </a:rPr>
              <a:t>账面余额（原值）</a:t>
            </a:r>
            <a:r>
              <a:rPr lang="zh-CN" altLang="en-US" sz="2400" dirty="0">
                <a:solidFill>
                  <a:srgbClr val="000000"/>
                </a:solidFill>
                <a:latin typeface="楷体_GB2312" pitchFamily="49" charset="-122"/>
                <a:ea typeface="楷体_GB2312" pitchFamily="49" charset="-122"/>
              </a:rPr>
              <a:t>作为投资性房地产的入账价值，并将累计折旧、累计摊销、固定或无形资产减值准备转为投资性房地产累计折旧、累计摊销、减值准备。</a:t>
            </a:r>
          </a:p>
          <a:p>
            <a:pPr>
              <a:lnSpc>
                <a:spcPct val="80000"/>
              </a:lnSpc>
              <a:buNone/>
            </a:pPr>
            <a:endParaRPr lang="zh-CN" altLang="en-US" sz="2400" dirty="0">
              <a:solidFill>
                <a:srgbClr val="000000"/>
              </a:solidFill>
              <a:latin typeface="楷体_GB2312" pitchFamily="49" charset="-122"/>
              <a:ea typeface="楷体_GB2312" pitchFamily="49" charset="-122"/>
            </a:endParaRPr>
          </a:p>
          <a:p>
            <a:pPr>
              <a:lnSpc>
                <a:spcPct val="80000"/>
              </a:lnSpc>
              <a:buNone/>
            </a:pPr>
            <a:r>
              <a:rPr lang="zh-CN" altLang="en-US" sz="2400" dirty="0">
                <a:solidFill>
                  <a:srgbClr val="000000"/>
                </a:solidFill>
                <a:latin typeface="楷体_GB2312" pitchFamily="49" charset="-122"/>
                <a:ea typeface="楷体_GB2312" pitchFamily="49" charset="-122"/>
              </a:rPr>
              <a:t>借：投资性房地产（该项建筑物或土地使用权在转换日的原价）   </a:t>
            </a:r>
          </a:p>
          <a:p>
            <a:pPr>
              <a:lnSpc>
                <a:spcPct val="80000"/>
              </a:lnSpc>
              <a:buNone/>
            </a:pPr>
            <a:r>
              <a:rPr lang="zh-CN" altLang="en-US" sz="2400" dirty="0">
                <a:solidFill>
                  <a:srgbClr val="FF0066"/>
                </a:solidFill>
                <a:latin typeface="楷体_GB2312" pitchFamily="49" charset="-122"/>
                <a:ea typeface="楷体_GB2312" pitchFamily="49" charset="-122"/>
              </a:rPr>
              <a:t>    累计折旧或累计摊销        （已计提的折旧或摊销）</a:t>
            </a:r>
          </a:p>
          <a:p>
            <a:pPr>
              <a:lnSpc>
                <a:spcPct val="80000"/>
              </a:lnSpc>
              <a:buNone/>
            </a:pPr>
            <a:r>
              <a:rPr lang="zh-CN" altLang="en-US" sz="2400" dirty="0">
                <a:solidFill>
                  <a:srgbClr val="FF0066"/>
                </a:solidFill>
                <a:latin typeface="楷体_GB2312" pitchFamily="49" charset="-122"/>
                <a:ea typeface="楷体_GB2312" pitchFamily="49" charset="-122"/>
              </a:rPr>
              <a:t>    固定资产减值准备或无形资产减值准备</a:t>
            </a:r>
          </a:p>
          <a:p>
            <a:pPr>
              <a:lnSpc>
                <a:spcPct val="80000"/>
              </a:lnSpc>
              <a:buNone/>
            </a:pPr>
            <a:r>
              <a:rPr lang="zh-CN" altLang="en-US" sz="2400" dirty="0">
                <a:solidFill>
                  <a:srgbClr val="FF0066"/>
                </a:solidFill>
                <a:latin typeface="楷体_GB2312" pitchFamily="49" charset="-122"/>
                <a:ea typeface="楷体_GB2312" pitchFamily="49" charset="-122"/>
              </a:rPr>
              <a:t>                             （已计提减值准备的金额）</a:t>
            </a:r>
          </a:p>
          <a:p>
            <a:pPr>
              <a:lnSpc>
                <a:spcPct val="80000"/>
              </a:lnSpc>
              <a:buNone/>
            </a:pPr>
            <a:r>
              <a:rPr lang="zh-CN" altLang="en-US" sz="2400" dirty="0">
                <a:solidFill>
                  <a:srgbClr val="FF0066"/>
                </a:solidFill>
                <a:latin typeface="楷体_GB2312" pitchFamily="49" charset="-122"/>
                <a:ea typeface="楷体_GB2312" pitchFamily="49" charset="-122"/>
              </a:rPr>
              <a:t>   贷： 固定资产或无形资产</a:t>
            </a:r>
          </a:p>
          <a:p>
            <a:pPr>
              <a:lnSpc>
                <a:spcPct val="80000"/>
              </a:lnSpc>
              <a:buNone/>
            </a:pPr>
            <a:r>
              <a:rPr lang="zh-CN" altLang="en-US" sz="2400" dirty="0">
                <a:solidFill>
                  <a:srgbClr val="FF0066"/>
                </a:solidFill>
                <a:latin typeface="楷体_GB2312" pitchFamily="49" charset="-122"/>
                <a:ea typeface="楷体_GB2312" pitchFamily="49" charset="-122"/>
              </a:rPr>
              <a:t>                （该项建筑物或土地使用权在转换日的原价） </a:t>
            </a:r>
          </a:p>
          <a:p>
            <a:pPr>
              <a:lnSpc>
                <a:spcPct val="80000"/>
              </a:lnSpc>
              <a:buNone/>
            </a:pPr>
            <a:r>
              <a:rPr lang="zh-CN" altLang="en-US" sz="2400" dirty="0">
                <a:solidFill>
                  <a:srgbClr val="000000"/>
                </a:solidFill>
                <a:latin typeface="楷体_GB2312" pitchFamily="49" charset="-122"/>
                <a:ea typeface="楷体_GB2312" pitchFamily="49" charset="-122"/>
              </a:rPr>
              <a:t>        投资性房地产累计折旧或投资性房地产累计摊销</a:t>
            </a:r>
          </a:p>
          <a:p>
            <a:pPr>
              <a:lnSpc>
                <a:spcPct val="80000"/>
              </a:lnSpc>
              <a:buNone/>
            </a:pPr>
            <a:r>
              <a:rPr lang="zh-CN" altLang="en-US" sz="2400" dirty="0">
                <a:solidFill>
                  <a:srgbClr val="000000"/>
                </a:solidFill>
                <a:latin typeface="楷体_GB2312" pitchFamily="49" charset="-122"/>
                <a:ea typeface="楷体_GB2312" pitchFamily="49" charset="-122"/>
              </a:rPr>
              <a:t>                             （已计提的折旧或摊销）</a:t>
            </a:r>
          </a:p>
          <a:p>
            <a:pPr>
              <a:lnSpc>
                <a:spcPct val="80000"/>
              </a:lnSpc>
              <a:buNone/>
            </a:pPr>
            <a:r>
              <a:rPr lang="zh-CN" altLang="en-US" sz="2400" dirty="0">
                <a:solidFill>
                  <a:srgbClr val="000000"/>
                </a:solidFill>
                <a:latin typeface="楷体_GB2312" pitchFamily="49" charset="-122"/>
                <a:ea typeface="楷体_GB2312" pitchFamily="49" charset="-122"/>
              </a:rPr>
              <a:t>        投资性房地产减值准备    （已计提减值准备的金额）</a:t>
            </a:r>
          </a:p>
        </p:txBody>
      </p:sp>
    </p:spTree>
    <p:extLst>
      <p:ext uri="{BB962C8B-B14F-4D97-AF65-F5344CB8AC3E}">
        <p14:creationId xmlns:p14="http://schemas.microsoft.com/office/powerpoint/2010/main" val="2464756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（三）非投资性房地产转换为投资性房地产</a:t>
            </a:r>
            <a:endParaRPr lang="zh-CN" altLang="en-US" sz="3200"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sz="2400" dirty="0">
                <a:solidFill>
                  <a:schemeClr val="tx2"/>
                </a:solidFill>
                <a:latin typeface="楷体_GB2312" pitchFamily="49" charset="-122"/>
                <a:ea typeface="楷体_GB2312" pitchFamily="49" charset="-122"/>
              </a:rPr>
              <a:t>例：</a:t>
            </a:r>
            <a:r>
              <a:rPr lang="zh-CN" altLang="en-US" sz="2400" dirty="0">
                <a:solidFill>
                  <a:srgbClr val="000000"/>
                </a:solidFill>
                <a:latin typeface="楷体_GB2312" pitchFamily="49" charset="-122"/>
                <a:ea typeface="楷体_GB2312" pitchFamily="49" charset="-122"/>
              </a:rPr>
              <a:t>某企业拥有两栋办公楼，用于企业总部办公。因企业业务缩减，企业将一栋办公楼腾出对外出租。</a:t>
            </a:r>
            <a:r>
              <a:rPr lang="en-US" altLang="zh-CN" sz="2400" dirty="0">
                <a:solidFill>
                  <a:srgbClr val="000000"/>
                </a:solidFill>
                <a:latin typeface="楷体_GB2312" pitchFamily="49" charset="-122"/>
                <a:ea typeface="楷体_GB2312" pitchFamily="49" charset="-122"/>
              </a:rPr>
              <a:t>2×19</a:t>
            </a:r>
            <a:r>
              <a:rPr lang="zh-CN" altLang="en-US" sz="2400" dirty="0">
                <a:solidFill>
                  <a:srgbClr val="000000"/>
                </a:solidFill>
                <a:latin typeface="楷体_GB2312" pitchFamily="49" charset="-122"/>
                <a:ea typeface="楷体_GB2312" pitchFamily="49" charset="-122"/>
              </a:rPr>
              <a:t>年</a:t>
            </a:r>
            <a:r>
              <a:rPr lang="en-US" altLang="zh-CN" sz="2400" dirty="0">
                <a:solidFill>
                  <a:srgbClr val="000000"/>
                </a:solidFill>
                <a:latin typeface="楷体_GB2312" pitchFamily="49" charset="-122"/>
                <a:ea typeface="楷体_GB2312" pitchFamily="49" charset="-122"/>
              </a:rPr>
              <a:t>6</a:t>
            </a:r>
            <a:r>
              <a:rPr lang="zh-CN" altLang="en-US" sz="2400" dirty="0">
                <a:solidFill>
                  <a:srgbClr val="000000"/>
                </a:solidFill>
                <a:latin typeface="楷体_GB2312" pitchFamily="49" charset="-122"/>
                <a:ea typeface="楷体_GB2312" pitchFamily="49" charset="-122"/>
              </a:rPr>
              <a:t>月</a:t>
            </a:r>
            <a:r>
              <a:rPr lang="en-US" altLang="zh-CN" sz="2400" dirty="0">
                <a:solidFill>
                  <a:srgbClr val="000000"/>
                </a:solidFill>
                <a:latin typeface="楷体_GB2312" pitchFamily="49" charset="-122"/>
                <a:ea typeface="楷体_GB2312" pitchFamily="49" charset="-122"/>
              </a:rPr>
              <a:t>15</a:t>
            </a:r>
            <a:r>
              <a:rPr lang="zh-CN" altLang="en-US" sz="2400" dirty="0">
                <a:solidFill>
                  <a:srgbClr val="000000"/>
                </a:solidFill>
                <a:latin typeface="楷体_GB2312" pitchFamily="49" charset="-122"/>
                <a:ea typeface="楷体_GB2312" pitchFamily="49" charset="-122"/>
              </a:rPr>
              <a:t>日，该企业与</a:t>
            </a:r>
            <a:r>
              <a:rPr lang="en-US" altLang="zh-CN" sz="2400" dirty="0">
                <a:solidFill>
                  <a:srgbClr val="000000"/>
                </a:solidFill>
                <a:latin typeface="楷体_GB2312" pitchFamily="49" charset="-122"/>
                <a:ea typeface="楷体_GB2312" pitchFamily="49" charset="-122"/>
              </a:rPr>
              <a:t>Z</a:t>
            </a:r>
            <a:r>
              <a:rPr lang="zh-CN" altLang="en-US" sz="2400" dirty="0">
                <a:solidFill>
                  <a:srgbClr val="000000"/>
                </a:solidFill>
                <a:latin typeface="楷体_GB2312" pitchFamily="49" charset="-122"/>
                <a:ea typeface="楷体_GB2312" pitchFamily="49" charset="-122"/>
              </a:rPr>
              <a:t>公司签订了房屋租赁协议，租赁期开始日为</a:t>
            </a:r>
            <a:r>
              <a:rPr lang="en-US" altLang="zh-CN" sz="2400" dirty="0">
                <a:solidFill>
                  <a:srgbClr val="000000"/>
                </a:solidFill>
                <a:latin typeface="楷体_GB2312" pitchFamily="49" charset="-122"/>
                <a:ea typeface="楷体_GB2312" pitchFamily="49" charset="-122"/>
              </a:rPr>
              <a:t>2×19</a:t>
            </a:r>
            <a:r>
              <a:rPr lang="zh-CN" altLang="en-US" sz="2400" dirty="0">
                <a:solidFill>
                  <a:srgbClr val="000000"/>
                </a:solidFill>
                <a:latin typeface="楷体_GB2312" pitchFamily="49" charset="-122"/>
                <a:ea typeface="楷体_GB2312" pitchFamily="49" charset="-122"/>
              </a:rPr>
              <a:t>年</a:t>
            </a:r>
            <a:r>
              <a:rPr lang="en-US" altLang="zh-CN" sz="2400" dirty="0">
                <a:solidFill>
                  <a:srgbClr val="000000"/>
                </a:solidFill>
                <a:latin typeface="楷体_GB2312" pitchFamily="49" charset="-122"/>
                <a:ea typeface="楷体_GB2312" pitchFamily="49" charset="-122"/>
              </a:rPr>
              <a:t>7</a:t>
            </a:r>
            <a:r>
              <a:rPr lang="zh-CN" altLang="en-US" sz="2400" dirty="0">
                <a:solidFill>
                  <a:srgbClr val="000000"/>
                </a:solidFill>
                <a:latin typeface="楷体_GB2312" pitchFamily="49" charset="-122"/>
                <a:ea typeface="楷体_GB2312" pitchFamily="49" charset="-122"/>
              </a:rPr>
              <a:t>月</a:t>
            </a:r>
            <a:r>
              <a:rPr lang="en-US" altLang="zh-CN" sz="2400" dirty="0">
                <a:solidFill>
                  <a:srgbClr val="000000"/>
                </a:solidFill>
                <a:latin typeface="楷体_GB2312" pitchFamily="49" charset="-122"/>
                <a:ea typeface="楷体_GB2312" pitchFamily="49" charset="-122"/>
              </a:rPr>
              <a:t>1</a:t>
            </a:r>
            <a:r>
              <a:rPr lang="zh-CN" altLang="en-US" sz="2400" dirty="0">
                <a:solidFill>
                  <a:srgbClr val="000000"/>
                </a:solidFill>
                <a:latin typeface="楷体_GB2312" pitchFamily="49" charset="-122"/>
                <a:ea typeface="楷体_GB2312" pitchFamily="49" charset="-122"/>
              </a:rPr>
              <a:t>日，为期</a:t>
            </a:r>
            <a:r>
              <a:rPr lang="en-US" altLang="zh-CN" sz="2400" dirty="0">
                <a:solidFill>
                  <a:srgbClr val="000000"/>
                </a:solidFill>
                <a:latin typeface="楷体_GB2312" pitchFamily="49" charset="-122"/>
                <a:ea typeface="楷体_GB2312" pitchFamily="49" charset="-122"/>
              </a:rPr>
              <a:t>3</a:t>
            </a:r>
            <a:r>
              <a:rPr lang="zh-CN" altLang="en-US" sz="2400" dirty="0">
                <a:solidFill>
                  <a:srgbClr val="000000"/>
                </a:solidFill>
                <a:latin typeface="楷体_GB2312" pitchFamily="49" charset="-122"/>
                <a:ea typeface="楷体_GB2312" pitchFamily="49" charset="-122"/>
              </a:rPr>
              <a:t>年。</a:t>
            </a:r>
            <a:r>
              <a:rPr lang="en-US" altLang="zh-CN" sz="2400" dirty="0">
                <a:solidFill>
                  <a:srgbClr val="000000"/>
                </a:solidFill>
                <a:latin typeface="楷体_GB2312" pitchFamily="49" charset="-122"/>
                <a:ea typeface="楷体_GB2312" pitchFamily="49" charset="-122"/>
              </a:rPr>
              <a:t>2×19</a:t>
            </a:r>
            <a:r>
              <a:rPr lang="zh-CN" altLang="en-US" sz="2400" dirty="0">
                <a:solidFill>
                  <a:srgbClr val="000000"/>
                </a:solidFill>
                <a:latin typeface="楷体_GB2312" pitchFamily="49" charset="-122"/>
                <a:ea typeface="楷体_GB2312" pitchFamily="49" charset="-122"/>
              </a:rPr>
              <a:t>年</a:t>
            </a:r>
            <a:r>
              <a:rPr lang="en-US" altLang="zh-CN" sz="2400" dirty="0">
                <a:solidFill>
                  <a:srgbClr val="000000"/>
                </a:solidFill>
                <a:latin typeface="楷体_GB2312" pitchFamily="49" charset="-122"/>
                <a:ea typeface="楷体_GB2312" pitchFamily="49" charset="-122"/>
              </a:rPr>
              <a:t>7</a:t>
            </a:r>
            <a:r>
              <a:rPr lang="zh-CN" altLang="en-US" sz="2400" dirty="0">
                <a:solidFill>
                  <a:srgbClr val="000000"/>
                </a:solidFill>
                <a:latin typeface="楷体_GB2312" pitchFamily="49" charset="-122"/>
                <a:ea typeface="楷体_GB2312" pitchFamily="49" charset="-122"/>
              </a:rPr>
              <a:t>月</a:t>
            </a:r>
            <a:r>
              <a:rPr lang="en-US" altLang="zh-CN" sz="2400" dirty="0">
                <a:solidFill>
                  <a:srgbClr val="000000"/>
                </a:solidFill>
                <a:latin typeface="楷体_GB2312" pitchFamily="49" charset="-122"/>
                <a:ea typeface="楷体_GB2312" pitchFamily="49" charset="-122"/>
              </a:rPr>
              <a:t>1</a:t>
            </a:r>
            <a:r>
              <a:rPr lang="zh-CN" altLang="en-US" sz="2400" dirty="0">
                <a:solidFill>
                  <a:srgbClr val="000000"/>
                </a:solidFill>
                <a:latin typeface="楷体_GB2312" pitchFamily="49" charset="-122"/>
                <a:ea typeface="楷体_GB2312" pitchFamily="49" charset="-122"/>
              </a:rPr>
              <a:t>日，出租办公楼的账面余额为</a:t>
            </a:r>
            <a:r>
              <a:rPr lang="en-US" altLang="zh-CN" sz="2400" dirty="0">
                <a:solidFill>
                  <a:srgbClr val="000000"/>
                </a:solidFill>
                <a:latin typeface="楷体_GB2312" pitchFamily="49" charset="-122"/>
                <a:ea typeface="楷体_GB2312" pitchFamily="49" charset="-122"/>
              </a:rPr>
              <a:t>400</a:t>
            </a:r>
            <a:r>
              <a:rPr lang="zh-CN" altLang="en-US" sz="2400" dirty="0">
                <a:solidFill>
                  <a:srgbClr val="000000"/>
                </a:solidFill>
                <a:latin typeface="楷体_GB2312" pitchFamily="49" charset="-122"/>
                <a:ea typeface="楷体_GB2312" pitchFamily="49" charset="-122"/>
              </a:rPr>
              <a:t>万元，累计已提折旧</a:t>
            </a:r>
            <a:r>
              <a:rPr lang="en-US" altLang="zh-CN" sz="2400" dirty="0">
                <a:solidFill>
                  <a:srgbClr val="000000"/>
                </a:solidFill>
                <a:latin typeface="楷体_GB2312" pitchFamily="49" charset="-122"/>
                <a:ea typeface="楷体_GB2312" pitchFamily="49" charset="-122"/>
              </a:rPr>
              <a:t>100</a:t>
            </a:r>
            <a:r>
              <a:rPr lang="zh-CN" altLang="en-US" sz="2400" dirty="0">
                <a:solidFill>
                  <a:srgbClr val="000000"/>
                </a:solidFill>
                <a:latin typeface="楷体_GB2312" pitchFamily="49" charset="-122"/>
                <a:ea typeface="楷体_GB2312" pitchFamily="49" charset="-122"/>
              </a:rPr>
              <a:t>万元。假设该企业按成本模式对投资性房地产进行后续计量。</a:t>
            </a:r>
          </a:p>
          <a:p>
            <a:r>
              <a:rPr lang="zh-CN" altLang="en-US" sz="2400" dirty="0">
                <a:solidFill>
                  <a:srgbClr val="000000"/>
                </a:solidFill>
                <a:latin typeface="楷体_GB2312" pitchFamily="49" charset="-122"/>
                <a:ea typeface="楷体_GB2312" pitchFamily="49" charset="-122"/>
              </a:rPr>
              <a:t>该企业的账务处理为：</a:t>
            </a:r>
          </a:p>
          <a:p>
            <a:pPr>
              <a:buNone/>
            </a:pPr>
            <a:r>
              <a:rPr lang="zh-CN" altLang="en-US" sz="2400" dirty="0">
                <a:solidFill>
                  <a:srgbClr val="000000"/>
                </a:solidFill>
                <a:latin typeface="楷体_GB2312" pitchFamily="49" charset="-122"/>
                <a:ea typeface="楷体_GB2312" pitchFamily="49" charset="-122"/>
              </a:rPr>
              <a:t>  借：投资性房地产                     </a:t>
            </a:r>
            <a:r>
              <a:rPr lang="en-US" altLang="zh-CN" sz="2400" dirty="0">
                <a:solidFill>
                  <a:srgbClr val="000000"/>
                </a:solidFill>
                <a:latin typeface="楷体_GB2312" pitchFamily="49" charset="-122"/>
                <a:ea typeface="楷体_GB2312" pitchFamily="49" charset="-122"/>
              </a:rPr>
              <a:t>4000000</a:t>
            </a:r>
          </a:p>
          <a:p>
            <a:pPr>
              <a:buNone/>
            </a:pPr>
            <a:r>
              <a:rPr lang="en-US" altLang="zh-CN" sz="2400" dirty="0">
                <a:solidFill>
                  <a:srgbClr val="000000"/>
                </a:solidFill>
                <a:latin typeface="楷体_GB2312" pitchFamily="49" charset="-122"/>
                <a:ea typeface="楷体_GB2312" pitchFamily="49" charset="-122"/>
              </a:rPr>
              <a:t>         </a:t>
            </a:r>
            <a:r>
              <a:rPr lang="zh-CN" altLang="en-US" sz="2400" dirty="0">
                <a:solidFill>
                  <a:srgbClr val="FF0066"/>
                </a:solidFill>
                <a:latin typeface="楷体_GB2312" pitchFamily="49" charset="-122"/>
                <a:ea typeface="楷体_GB2312" pitchFamily="49" charset="-122"/>
              </a:rPr>
              <a:t>累计折旧                            </a:t>
            </a:r>
            <a:r>
              <a:rPr lang="en-US" altLang="zh-CN" sz="2400" dirty="0">
                <a:solidFill>
                  <a:srgbClr val="FF0066"/>
                </a:solidFill>
                <a:latin typeface="楷体_GB2312" pitchFamily="49" charset="-122"/>
                <a:ea typeface="楷体_GB2312" pitchFamily="49" charset="-122"/>
              </a:rPr>
              <a:t>1000000</a:t>
            </a:r>
          </a:p>
          <a:p>
            <a:pPr>
              <a:buNone/>
            </a:pPr>
            <a:r>
              <a:rPr lang="en-US" altLang="zh-CN" sz="2400" dirty="0">
                <a:solidFill>
                  <a:srgbClr val="FF0066"/>
                </a:solidFill>
                <a:latin typeface="楷体_GB2312" pitchFamily="49" charset="-122"/>
                <a:ea typeface="楷体_GB2312" pitchFamily="49" charset="-122"/>
              </a:rPr>
              <a:t>     </a:t>
            </a:r>
            <a:r>
              <a:rPr lang="zh-CN" altLang="en-US" sz="2400" dirty="0">
                <a:solidFill>
                  <a:srgbClr val="FF0066"/>
                </a:solidFill>
                <a:latin typeface="楷体_GB2312" pitchFamily="49" charset="-122"/>
                <a:ea typeface="楷体_GB2312" pitchFamily="49" charset="-122"/>
              </a:rPr>
              <a:t>贷：固定资产                                       </a:t>
            </a:r>
            <a:r>
              <a:rPr lang="en-US" altLang="zh-CN" sz="2400" dirty="0">
                <a:solidFill>
                  <a:srgbClr val="FF0066"/>
                </a:solidFill>
                <a:latin typeface="楷体_GB2312" pitchFamily="49" charset="-122"/>
                <a:ea typeface="楷体_GB2312" pitchFamily="49" charset="-122"/>
              </a:rPr>
              <a:t>4000000</a:t>
            </a:r>
          </a:p>
          <a:p>
            <a:pPr>
              <a:buNone/>
            </a:pPr>
            <a:r>
              <a:rPr lang="en-US" altLang="zh-CN" sz="2400" dirty="0">
                <a:solidFill>
                  <a:srgbClr val="000000"/>
                </a:solidFill>
                <a:latin typeface="楷体_GB2312" pitchFamily="49" charset="-122"/>
                <a:ea typeface="楷体_GB2312" pitchFamily="49" charset="-122"/>
              </a:rPr>
              <a:t>            </a:t>
            </a:r>
            <a:r>
              <a:rPr lang="zh-CN" altLang="en-US" sz="2400" dirty="0">
                <a:solidFill>
                  <a:srgbClr val="000000"/>
                </a:solidFill>
                <a:latin typeface="楷体_GB2312" pitchFamily="49" charset="-122"/>
                <a:ea typeface="楷体_GB2312" pitchFamily="49" charset="-122"/>
              </a:rPr>
              <a:t>投资性房地产累计折旧（摊销）     </a:t>
            </a:r>
            <a:r>
              <a:rPr lang="en-US" altLang="zh-CN" sz="2400" dirty="0">
                <a:solidFill>
                  <a:srgbClr val="000000"/>
                </a:solidFill>
                <a:latin typeface="楷体_GB2312" pitchFamily="49" charset="-122"/>
                <a:ea typeface="楷体_GB2312" pitchFamily="49" charset="-122"/>
              </a:rPr>
              <a:t>1000000</a:t>
            </a:r>
          </a:p>
        </p:txBody>
      </p:sp>
    </p:spTree>
    <p:extLst>
      <p:ext uri="{BB962C8B-B14F-4D97-AF65-F5344CB8AC3E}">
        <p14:creationId xmlns:p14="http://schemas.microsoft.com/office/powerpoint/2010/main" val="33374632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（三）非投资性房地产转换为投资性房地产</a:t>
            </a:r>
            <a:endParaRPr lang="zh-CN" altLang="en-US" sz="3200"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576917" y="2017712"/>
            <a:ext cx="10363200" cy="4413823"/>
          </a:xfrm>
        </p:spPr>
        <p:txBody>
          <a:bodyPr/>
          <a:lstStyle/>
          <a:p>
            <a:pPr>
              <a:lnSpc>
                <a:spcPct val="90000"/>
              </a:lnSpc>
              <a:buNone/>
            </a:pPr>
            <a:r>
              <a:rPr lang="en-US" altLang="zh-CN" sz="2800" dirty="0">
                <a:solidFill>
                  <a:schemeClr val="tx2"/>
                </a:solidFill>
                <a:latin typeface="楷体_GB2312" pitchFamily="49" charset="-122"/>
                <a:ea typeface="楷体_GB2312" pitchFamily="49" charset="-122"/>
              </a:rPr>
              <a:t>2.</a:t>
            </a:r>
            <a:r>
              <a:rPr lang="zh-CN" altLang="en-US" sz="2800" dirty="0">
                <a:solidFill>
                  <a:schemeClr val="tx2"/>
                </a:solidFill>
                <a:latin typeface="楷体_GB2312" pitchFamily="49" charset="-122"/>
                <a:ea typeface="楷体_GB2312" pitchFamily="49" charset="-122"/>
              </a:rPr>
              <a:t>非投资性房地产转换为采用公允价值模式进行后续计量的投资性房地产</a:t>
            </a:r>
          </a:p>
          <a:p>
            <a:pPr>
              <a:lnSpc>
                <a:spcPct val="90000"/>
              </a:lnSpc>
            </a:pPr>
            <a:r>
              <a:rPr lang="zh-CN" altLang="en-US" sz="2400" dirty="0">
                <a:solidFill>
                  <a:srgbClr val="FF0000"/>
                </a:solidFill>
                <a:latin typeface="楷体_GB2312" pitchFamily="49" charset="-122"/>
                <a:ea typeface="楷体_GB2312" pitchFamily="49" charset="-122"/>
              </a:rPr>
              <a:t>处理原则：按照转换日的公允价值计价，公允价值小于原账面价值的，其差额计入当期损益；公允价值大于原账面价值的，其差额计入其他综合收益。</a:t>
            </a:r>
          </a:p>
          <a:p>
            <a:pPr>
              <a:lnSpc>
                <a:spcPct val="90000"/>
              </a:lnSpc>
            </a:pPr>
            <a:r>
              <a:rPr lang="en-US" altLang="zh-CN" sz="2400" dirty="0">
                <a:solidFill>
                  <a:srgbClr val="FF0000"/>
                </a:solidFill>
                <a:latin typeface="楷体_GB2312" pitchFamily="49" charset="-122"/>
                <a:ea typeface="楷体_GB2312" pitchFamily="49" charset="-122"/>
              </a:rPr>
              <a:t>(1)</a:t>
            </a:r>
            <a:r>
              <a:rPr lang="zh-CN" altLang="en-US" sz="2400" dirty="0">
                <a:solidFill>
                  <a:srgbClr val="FF0000"/>
                </a:solidFill>
                <a:latin typeface="楷体_GB2312" pitchFamily="49" charset="-122"/>
                <a:ea typeface="楷体_GB2312" pitchFamily="49" charset="-122"/>
              </a:rPr>
              <a:t>将作为</a:t>
            </a:r>
            <a:r>
              <a:rPr lang="zh-CN" altLang="en-US" sz="2400" dirty="0">
                <a:solidFill>
                  <a:srgbClr val="000099"/>
                </a:solidFill>
                <a:latin typeface="楷体_GB2312" pitchFamily="49" charset="-122"/>
                <a:ea typeface="楷体_GB2312" pitchFamily="49" charset="-122"/>
              </a:rPr>
              <a:t>存货</a:t>
            </a:r>
            <a:r>
              <a:rPr lang="zh-CN" altLang="en-US" sz="2400" dirty="0">
                <a:solidFill>
                  <a:srgbClr val="FF0000"/>
                </a:solidFill>
                <a:latin typeface="楷体_GB2312" pitchFamily="49" charset="-122"/>
                <a:ea typeface="楷体_GB2312" pitchFamily="49" charset="-122"/>
              </a:rPr>
              <a:t>的房地产转换为采用公允价值模式计量的投资性房地产</a:t>
            </a:r>
            <a:endParaRPr lang="zh-CN" altLang="en-US" sz="2400" dirty="0">
              <a:solidFill>
                <a:srgbClr val="000000"/>
              </a:solidFill>
              <a:latin typeface="楷体_GB2312" pitchFamily="49" charset="-122"/>
              <a:ea typeface="楷体_GB2312" pitchFamily="49" charset="-122"/>
            </a:endParaRPr>
          </a:p>
          <a:p>
            <a:pPr>
              <a:lnSpc>
                <a:spcPct val="90000"/>
              </a:lnSpc>
              <a:buNone/>
            </a:pPr>
            <a:r>
              <a:rPr lang="zh-CN" altLang="en-US" sz="2400" dirty="0">
                <a:solidFill>
                  <a:srgbClr val="000000"/>
                </a:solidFill>
                <a:latin typeface="楷体_GB2312" pitchFamily="49" charset="-122"/>
                <a:ea typeface="楷体_GB2312" pitchFamily="49" charset="-122"/>
              </a:rPr>
              <a:t>     借：投资性房地产     （该存货在转换日的公允价值）</a:t>
            </a:r>
          </a:p>
          <a:p>
            <a:pPr>
              <a:lnSpc>
                <a:spcPct val="90000"/>
              </a:lnSpc>
              <a:buNone/>
            </a:pPr>
            <a:r>
              <a:rPr lang="zh-CN" altLang="en-US" sz="2400" dirty="0">
                <a:solidFill>
                  <a:srgbClr val="000000"/>
                </a:solidFill>
                <a:latin typeface="楷体_GB2312" pitchFamily="49" charset="-122"/>
                <a:ea typeface="楷体_GB2312" pitchFamily="49" charset="-122"/>
              </a:rPr>
              <a:t>            存货跌价准备     （已计提跌价准备的金额）</a:t>
            </a:r>
          </a:p>
          <a:p>
            <a:pPr>
              <a:lnSpc>
                <a:spcPct val="90000"/>
              </a:lnSpc>
              <a:buNone/>
            </a:pPr>
            <a:r>
              <a:rPr lang="zh-CN" altLang="en-US" sz="2400" dirty="0">
                <a:solidFill>
                  <a:srgbClr val="000000"/>
                </a:solidFill>
                <a:latin typeface="楷体_GB2312" pitchFamily="49" charset="-122"/>
                <a:ea typeface="楷体_GB2312" pitchFamily="49" charset="-122"/>
              </a:rPr>
              <a:t>            </a:t>
            </a:r>
            <a:r>
              <a:rPr lang="zh-CN" altLang="en-US" sz="2400" dirty="0">
                <a:solidFill>
                  <a:srgbClr val="FF0066"/>
                </a:solidFill>
                <a:latin typeface="楷体_GB2312" pitchFamily="49" charset="-122"/>
                <a:ea typeface="楷体_GB2312" pitchFamily="49" charset="-122"/>
              </a:rPr>
              <a:t>公允价值变动损益 （账面价值</a:t>
            </a:r>
            <a:r>
              <a:rPr lang="en-US" altLang="zh-CN" sz="2400" dirty="0">
                <a:solidFill>
                  <a:srgbClr val="FF0066"/>
                </a:solidFill>
                <a:latin typeface="楷体_GB2312" pitchFamily="49" charset="-122"/>
                <a:ea typeface="楷体_GB2312" pitchFamily="49" charset="-122"/>
              </a:rPr>
              <a:t>-</a:t>
            </a:r>
            <a:r>
              <a:rPr lang="zh-CN" altLang="en-US" sz="2400" dirty="0">
                <a:solidFill>
                  <a:srgbClr val="FF0066"/>
                </a:solidFill>
                <a:latin typeface="楷体_GB2312" pitchFamily="49" charset="-122"/>
                <a:ea typeface="楷体_GB2312" pitchFamily="49" charset="-122"/>
              </a:rPr>
              <a:t>转换日公允价值）</a:t>
            </a:r>
          </a:p>
          <a:p>
            <a:pPr>
              <a:lnSpc>
                <a:spcPct val="90000"/>
              </a:lnSpc>
              <a:buNone/>
            </a:pPr>
            <a:r>
              <a:rPr lang="zh-CN" altLang="en-US" sz="2400" dirty="0">
                <a:solidFill>
                  <a:srgbClr val="000000"/>
                </a:solidFill>
                <a:latin typeface="楷体_GB2312" pitchFamily="49" charset="-122"/>
                <a:ea typeface="楷体_GB2312" pitchFamily="49" charset="-122"/>
              </a:rPr>
              <a:t>        贷：开发产品      （账面余额）</a:t>
            </a:r>
          </a:p>
          <a:p>
            <a:pPr>
              <a:lnSpc>
                <a:spcPct val="90000"/>
              </a:lnSpc>
              <a:buNone/>
            </a:pPr>
            <a:r>
              <a:rPr lang="zh-CN" altLang="en-US" sz="2400" dirty="0">
                <a:solidFill>
                  <a:srgbClr val="000000"/>
                </a:solidFill>
                <a:latin typeface="楷体_GB2312" pitchFamily="49" charset="-122"/>
                <a:ea typeface="楷体_GB2312" pitchFamily="49" charset="-122"/>
              </a:rPr>
              <a:t>        </a:t>
            </a:r>
            <a:r>
              <a:rPr lang="zh-CN" altLang="en-US" sz="2400" dirty="0">
                <a:solidFill>
                  <a:srgbClr val="CC0066"/>
                </a:solidFill>
                <a:latin typeface="楷体_GB2312" pitchFamily="49" charset="-122"/>
                <a:ea typeface="楷体_GB2312" pitchFamily="49" charset="-122"/>
              </a:rPr>
              <a:t>或：其他综合收益  （转换日公允价值</a:t>
            </a:r>
            <a:r>
              <a:rPr lang="en-US" altLang="zh-CN" sz="2400" dirty="0">
                <a:solidFill>
                  <a:srgbClr val="CC0066"/>
                </a:solidFill>
                <a:latin typeface="楷体_GB2312" pitchFamily="49" charset="-122"/>
                <a:ea typeface="楷体_GB2312" pitchFamily="49" charset="-122"/>
              </a:rPr>
              <a:t>-</a:t>
            </a:r>
            <a:r>
              <a:rPr lang="zh-CN" altLang="en-US" sz="2400" dirty="0">
                <a:solidFill>
                  <a:srgbClr val="CC0066"/>
                </a:solidFill>
                <a:latin typeface="楷体_GB2312" pitchFamily="49" charset="-122"/>
                <a:ea typeface="楷体_GB2312" pitchFamily="49" charset="-122"/>
              </a:rPr>
              <a:t>账面价值）</a:t>
            </a:r>
          </a:p>
        </p:txBody>
      </p:sp>
    </p:spTree>
    <p:extLst>
      <p:ext uri="{BB962C8B-B14F-4D97-AF65-F5344CB8AC3E}">
        <p14:creationId xmlns:p14="http://schemas.microsoft.com/office/powerpoint/2010/main" val="21135274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（三）非投资性房地产转换为投资性房地产</a:t>
            </a:r>
            <a:endParaRPr lang="zh-CN" altLang="en-US" sz="3200"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lnSpc>
                <a:spcPct val="80000"/>
              </a:lnSpc>
            </a:pPr>
            <a:endParaRPr lang="en-US" altLang="zh-CN" sz="2400" dirty="0">
              <a:solidFill>
                <a:srgbClr val="FF0000"/>
              </a:solidFill>
              <a:latin typeface="楷体_GB2312" pitchFamily="49" charset="-122"/>
              <a:ea typeface="楷体_GB2312" pitchFamily="49" charset="-122"/>
            </a:endParaRPr>
          </a:p>
          <a:p>
            <a:pPr>
              <a:lnSpc>
                <a:spcPct val="80000"/>
              </a:lnSpc>
            </a:pPr>
            <a:r>
              <a:rPr lang="en-US" altLang="zh-CN" sz="2400" dirty="0">
                <a:solidFill>
                  <a:srgbClr val="FF0000"/>
                </a:solidFill>
                <a:latin typeface="楷体_GB2312" pitchFamily="49" charset="-122"/>
                <a:ea typeface="楷体_GB2312" pitchFamily="49" charset="-122"/>
              </a:rPr>
              <a:t>(2)</a:t>
            </a:r>
            <a:r>
              <a:rPr lang="zh-CN" altLang="en-US" sz="2400" dirty="0">
                <a:solidFill>
                  <a:srgbClr val="FF0000"/>
                </a:solidFill>
                <a:latin typeface="楷体_GB2312" pitchFamily="49" charset="-122"/>
                <a:ea typeface="楷体_GB2312" pitchFamily="49" charset="-122"/>
              </a:rPr>
              <a:t>将</a:t>
            </a:r>
            <a:r>
              <a:rPr lang="zh-CN" altLang="en-US" sz="2400" dirty="0">
                <a:solidFill>
                  <a:srgbClr val="000099"/>
                </a:solidFill>
                <a:latin typeface="楷体_GB2312" pitchFamily="49" charset="-122"/>
                <a:ea typeface="楷体_GB2312" pitchFamily="49" charset="-122"/>
              </a:rPr>
              <a:t>自用土地使用权或建筑物</a:t>
            </a:r>
            <a:r>
              <a:rPr lang="zh-CN" altLang="en-US" sz="2400" dirty="0">
                <a:solidFill>
                  <a:srgbClr val="FF0000"/>
                </a:solidFill>
                <a:latin typeface="楷体_GB2312" pitchFamily="49" charset="-122"/>
                <a:ea typeface="楷体_GB2312" pitchFamily="49" charset="-122"/>
              </a:rPr>
              <a:t>转换为以公允价值模式计量的投资性房地产</a:t>
            </a:r>
            <a:r>
              <a:rPr lang="zh-CN" altLang="en-US" sz="2400" dirty="0">
                <a:solidFill>
                  <a:srgbClr val="000000"/>
                </a:solidFill>
                <a:latin typeface="楷体_GB2312" pitchFamily="49" charset="-122"/>
                <a:ea typeface="楷体_GB2312" pitchFamily="49" charset="-122"/>
              </a:rPr>
              <a:t>：</a:t>
            </a:r>
          </a:p>
          <a:p>
            <a:pPr>
              <a:lnSpc>
                <a:spcPct val="80000"/>
              </a:lnSpc>
              <a:buNone/>
            </a:pPr>
            <a:r>
              <a:rPr lang="zh-CN" altLang="en-US" sz="2400" dirty="0">
                <a:solidFill>
                  <a:srgbClr val="000000"/>
                </a:solidFill>
                <a:latin typeface="楷体_GB2312" pitchFamily="49" charset="-122"/>
                <a:ea typeface="楷体_GB2312" pitchFamily="49" charset="-122"/>
              </a:rPr>
              <a:t>    </a:t>
            </a:r>
          </a:p>
          <a:p>
            <a:pPr>
              <a:lnSpc>
                <a:spcPct val="80000"/>
              </a:lnSpc>
              <a:buNone/>
            </a:pPr>
            <a:r>
              <a:rPr lang="zh-CN" altLang="en-US" sz="2400" dirty="0">
                <a:solidFill>
                  <a:srgbClr val="000000"/>
                </a:solidFill>
                <a:latin typeface="楷体_GB2312" pitchFamily="49" charset="-122"/>
                <a:ea typeface="楷体_GB2312" pitchFamily="49" charset="-122"/>
              </a:rPr>
              <a:t> 借：投资性房地产       （该存货在转换日的公允价值）</a:t>
            </a:r>
          </a:p>
          <a:p>
            <a:pPr>
              <a:lnSpc>
                <a:spcPct val="80000"/>
              </a:lnSpc>
              <a:buNone/>
            </a:pPr>
            <a:r>
              <a:rPr lang="zh-CN" altLang="en-US" sz="2400" dirty="0">
                <a:solidFill>
                  <a:srgbClr val="000000"/>
                </a:solidFill>
                <a:latin typeface="楷体_GB2312" pitchFamily="49" charset="-122"/>
                <a:ea typeface="楷体_GB2312" pitchFamily="49" charset="-122"/>
              </a:rPr>
              <a:t>        累计折旧或累计摊销 （已计提的累计折旧或累计摊销）</a:t>
            </a:r>
          </a:p>
          <a:p>
            <a:pPr>
              <a:lnSpc>
                <a:spcPct val="80000"/>
              </a:lnSpc>
              <a:buNone/>
            </a:pPr>
            <a:r>
              <a:rPr lang="zh-CN" altLang="en-US" sz="2400" dirty="0">
                <a:solidFill>
                  <a:srgbClr val="000000"/>
                </a:solidFill>
                <a:latin typeface="楷体_GB2312" pitchFamily="49" charset="-122"/>
                <a:ea typeface="楷体_GB2312" pitchFamily="49" charset="-122"/>
              </a:rPr>
              <a:t>        固定资产减值准备或无形资产减值准备</a:t>
            </a:r>
          </a:p>
          <a:p>
            <a:pPr>
              <a:lnSpc>
                <a:spcPct val="80000"/>
              </a:lnSpc>
              <a:buNone/>
            </a:pPr>
            <a:r>
              <a:rPr lang="zh-CN" altLang="en-US" sz="2400" dirty="0">
                <a:solidFill>
                  <a:srgbClr val="000000"/>
                </a:solidFill>
                <a:latin typeface="楷体_GB2312" pitchFamily="49" charset="-122"/>
                <a:ea typeface="楷体_GB2312" pitchFamily="49" charset="-122"/>
              </a:rPr>
              <a:t>                        （已计提减值准备的金额）</a:t>
            </a:r>
          </a:p>
          <a:p>
            <a:pPr>
              <a:lnSpc>
                <a:spcPct val="80000"/>
              </a:lnSpc>
              <a:buNone/>
            </a:pPr>
            <a:r>
              <a:rPr lang="zh-CN" altLang="en-US" sz="2400" dirty="0">
                <a:solidFill>
                  <a:srgbClr val="000000"/>
                </a:solidFill>
                <a:latin typeface="楷体_GB2312" pitchFamily="49" charset="-122"/>
                <a:ea typeface="楷体_GB2312" pitchFamily="49" charset="-122"/>
              </a:rPr>
              <a:t>        </a:t>
            </a:r>
            <a:r>
              <a:rPr lang="zh-CN" altLang="en-US" sz="2400" dirty="0">
                <a:solidFill>
                  <a:srgbClr val="FF0066"/>
                </a:solidFill>
                <a:latin typeface="楷体_GB2312" pitchFamily="49" charset="-122"/>
                <a:ea typeface="楷体_GB2312" pitchFamily="49" charset="-122"/>
              </a:rPr>
              <a:t>公允价值变动损益   （账面价值</a:t>
            </a:r>
            <a:r>
              <a:rPr lang="en-US" altLang="zh-CN" sz="2400" dirty="0">
                <a:solidFill>
                  <a:srgbClr val="FF0066"/>
                </a:solidFill>
                <a:latin typeface="楷体_GB2312" pitchFamily="49" charset="-122"/>
                <a:ea typeface="楷体_GB2312" pitchFamily="49" charset="-122"/>
              </a:rPr>
              <a:t>-</a:t>
            </a:r>
            <a:r>
              <a:rPr lang="zh-CN" altLang="en-US" sz="2400" dirty="0">
                <a:solidFill>
                  <a:srgbClr val="FF0066"/>
                </a:solidFill>
                <a:latin typeface="楷体_GB2312" pitchFamily="49" charset="-122"/>
                <a:ea typeface="楷体_GB2312" pitchFamily="49" charset="-122"/>
              </a:rPr>
              <a:t>转换日公允价值）</a:t>
            </a:r>
          </a:p>
          <a:p>
            <a:pPr>
              <a:lnSpc>
                <a:spcPct val="80000"/>
              </a:lnSpc>
              <a:buNone/>
            </a:pPr>
            <a:r>
              <a:rPr lang="zh-CN" altLang="en-US" sz="2400" dirty="0">
                <a:solidFill>
                  <a:srgbClr val="000000"/>
                </a:solidFill>
                <a:latin typeface="楷体_GB2312" pitchFamily="49" charset="-122"/>
                <a:ea typeface="楷体_GB2312" pitchFamily="49" charset="-122"/>
              </a:rPr>
              <a:t>     贷： 固定资产或无形资产        （账面余额）</a:t>
            </a:r>
          </a:p>
          <a:p>
            <a:pPr>
              <a:lnSpc>
                <a:spcPct val="80000"/>
              </a:lnSpc>
              <a:buNone/>
            </a:pPr>
            <a:r>
              <a:rPr lang="zh-CN" altLang="en-US" sz="2400" dirty="0">
                <a:solidFill>
                  <a:srgbClr val="000000"/>
                </a:solidFill>
                <a:latin typeface="楷体_GB2312" pitchFamily="49" charset="-122"/>
                <a:ea typeface="楷体_GB2312" pitchFamily="49" charset="-122"/>
              </a:rPr>
              <a:t>            </a:t>
            </a:r>
            <a:r>
              <a:rPr lang="zh-CN" altLang="en-US" sz="2400" dirty="0">
                <a:solidFill>
                  <a:srgbClr val="FF0000"/>
                </a:solidFill>
                <a:latin typeface="楷体_GB2312" pitchFamily="49" charset="-122"/>
                <a:ea typeface="楷体_GB2312" pitchFamily="49" charset="-122"/>
              </a:rPr>
              <a:t>其他综合收益</a:t>
            </a:r>
            <a:r>
              <a:rPr lang="zh-CN" altLang="en-US" sz="2400" dirty="0">
                <a:solidFill>
                  <a:schemeClr val="accent2"/>
                </a:solidFill>
                <a:latin typeface="楷体_GB2312" pitchFamily="49" charset="-122"/>
                <a:ea typeface="楷体_GB2312" pitchFamily="49" charset="-122"/>
              </a:rPr>
              <a:t>  </a:t>
            </a:r>
            <a:r>
              <a:rPr lang="zh-CN" altLang="en-US" sz="2400" dirty="0">
                <a:solidFill>
                  <a:srgbClr val="FF0066"/>
                </a:solidFill>
                <a:latin typeface="楷体_GB2312" pitchFamily="49" charset="-122"/>
                <a:ea typeface="楷体_GB2312" pitchFamily="49" charset="-122"/>
              </a:rPr>
              <a:t>（转换日公允价值</a:t>
            </a:r>
            <a:r>
              <a:rPr lang="en-US" altLang="zh-CN" sz="2400" dirty="0">
                <a:solidFill>
                  <a:srgbClr val="FF0066"/>
                </a:solidFill>
                <a:latin typeface="楷体_GB2312" pitchFamily="49" charset="-122"/>
                <a:ea typeface="楷体_GB2312" pitchFamily="49" charset="-122"/>
              </a:rPr>
              <a:t>-</a:t>
            </a:r>
            <a:r>
              <a:rPr lang="zh-CN" altLang="en-US" sz="2400" dirty="0">
                <a:solidFill>
                  <a:srgbClr val="FF0066"/>
                </a:solidFill>
                <a:latin typeface="楷体_GB2312" pitchFamily="49" charset="-122"/>
                <a:ea typeface="楷体_GB2312" pitchFamily="49" charset="-122"/>
              </a:rPr>
              <a:t>账面价值）</a:t>
            </a:r>
          </a:p>
          <a:p>
            <a:pPr marL="457200" lvl="1" indent="0">
              <a:buNone/>
            </a:pPr>
            <a:endParaRPr lang="zh-CN" altLang="en-US" dirty="0"/>
          </a:p>
        </p:txBody>
      </p:sp>
    </p:spTree>
    <p:extLst>
      <p:ext uri="{BB962C8B-B14F-4D97-AF65-F5344CB8AC3E}">
        <p14:creationId xmlns:p14="http://schemas.microsoft.com/office/powerpoint/2010/main" val="25101036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3200" dirty="0">
                <a:solidFill>
                  <a:srgbClr val="000000"/>
                </a:solidFill>
                <a:latin typeface="黑体" panose="02010609060101010101" pitchFamily="49" charset="-122"/>
                <a:ea typeface="黑体" panose="02010609060101010101" pitchFamily="49" charset="-122"/>
              </a:rPr>
              <a:t>（三）非投资性房地产转换为投资性房地产</a:t>
            </a:r>
            <a:endParaRPr lang="zh-CN" altLang="en-US" sz="3200" dirty="0">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576917" y="2017712"/>
            <a:ext cx="10363200" cy="4840287"/>
          </a:xfrm>
        </p:spPr>
        <p:txBody>
          <a:bodyPr/>
          <a:lstStyle/>
          <a:p>
            <a:pPr>
              <a:lnSpc>
                <a:spcPct val="110000"/>
              </a:lnSpc>
            </a:pPr>
            <a:r>
              <a:rPr lang="zh-CN" altLang="en-US" sz="2400" dirty="0">
                <a:solidFill>
                  <a:schemeClr val="tx2"/>
                </a:solidFill>
                <a:latin typeface="楷体_GB2312" pitchFamily="49" charset="-122"/>
                <a:ea typeface="楷体_GB2312" pitchFamily="49" charset="-122"/>
              </a:rPr>
              <a:t>例：</a:t>
            </a:r>
            <a:r>
              <a:rPr lang="zh-CN" altLang="en-US" sz="2400" dirty="0">
                <a:solidFill>
                  <a:srgbClr val="000000"/>
                </a:solidFill>
                <a:latin typeface="楷体_GB2312" pitchFamily="49" charset="-122"/>
                <a:ea typeface="楷体_GB2312" pitchFamily="49" charset="-122"/>
              </a:rPr>
              <a:t>续上例，假定该企业采用公允价值模式对投资性房地产进行后续计量。转换日该办公楼的公允价值为</a:t>
            </a:r>
            <a:r>
              <a:rPr lang="en-US" altLang="zh-CN" sz="2400" dirty="0">
                <a:solidFill>
                  <a:srgbClr val="000000"/>
                </a:solidFill>
                <a:latin typeface="楷体_GB2312" pitchFamily="49" charset="-122"/>
                <a:ea typeface="楷体_GB2312" pitchFamily="49" charset="-122"/>
              </a:rPr>
              <a:t>360</a:t>
            </a:r>
            <a:r>
              <a:rPr lang="zh-CN" altLang="en-US" sz="2400" dirty="0">
                <a:solidFill>
                  <a:srgbClr val="000000"/>
                </a:solidFill>
                <a:latin typeface="楷体_GB2312" pitchFamily="49" charset="-122"/>
                <a:ea typeface="楷体_GB2312" pitchFamily="49" charset="-122"/>
              </a:rPr>
              <a:t>万元。</a:t>
            </a:r>
          </a:p>
          <a:p>
            <a:pPr>
              <a:lnSpc>
                <a:spcPct val="110000"/>
              </a:lnSpc>
            </a:pPr>
            <a:r>
              <a:rPr lang="zh-CN" altLang="en-US" sz="2400" dirty="0">
                <a:solidFill>
                  <a:srgbClr val="000000"/>
                </a:solidFill>
                <a:latin typeface="楷体_GB2312" pitchFamily="49" charset="-122"/>
                <a:ea typeface="楷体_GB2312" pitchFamily="49" charset="-122"/>
              </a:rPr>
              <a:t>该企业的账务处理为：</a:t>
            </a:r>
          </a:p>
          <a:p>
            <a:pPr>
              <a:lnSpc>
                <a:spcPct val="110000"/>
              </a:lnSpc>
              <a:buNone/>
            </a:pPr>
            <a:r>
              <a:rPr lang="zh-CN" altLang="en-US" sz="2400" dirty="0">
                <a:solidFill>
                  <a:srgbClr val="000000"/>
                </a:solidFill>
                <a:latin typeface="楷体_GB2312" pitchFamily="49" charset="-122"/>
                <a:ea typeface="楷体_GB2312" pitchFamily="49" charset="-122"/>
              </a:rPr>
              <a:t>  借：投资性房地产</a:t>
            </a:r>
            <a:r>
              <a:rPr lang="en-US" altLang="zh-CN" sz="2400" dirty="0">
                <a:solidFill>
                  <a:srgbClr val="000000"/>
                </a:solidFill>
                <a:latin typeface="Arial"/>
                <a:ea typeface="楷体_GB2312" pitchFamily="49" charset="-122"/>
              </a:rPr>
              <a:t>——</a:t>
            </a:r>
            <a:r>
              <a:rPr lang="zh-CN" altLang="en-US" sz="2400" dirty="0">
                <a:solidFill>
                  <a:srgbClr val="000000"/>
                </a:solidFill>
                <a:latin typeface="楷体_GB2312" pitchFamily="49" charset="-122"/>
                <a:ea typeface="楷体_GB2312" pitchFamily="49" charset="-122"/>
              </a:rPr>
              <a:t>成本         </a:t>
            </a:r>
            <a:r>
              <a:rPr lang="en-US" altLang="zh-CN" sz="2400" dirty="0">
                <a:solidFill>
                  <a:srgbClr val="000000"/>
                </a:solidFill>
                <a:latin typeface="楷体_GB2312" pitchFamily="49" charset="-122"/>
                <a:ea typeface="楷体_GB2312" pitchFamily="49" charset="-122"/>
              </a:rPr>
              <a:t>3 600 000</a:t>
            </a:r>
          </a:p>
          <a:p>
            <a:pPr>
              <a:lnSpc>
                <a:spcPct val="110000"/>
              </a:lnSpc>
              <a:buNone/>
            </a:pPr>
            <a:r>
              <a:rPr lang="en-US" altLang="zh-CN" sz="2400" dirty="0">
                <a:solidFill>
                  <a:srgbClr val="000000"/>
                </a:solidFill>
                <a:latin typeface="楷体_GB2312" pitchFamily="49" charset="-122"/>
                <a:ea typeface="楷体_GB2312" pitchFamily="49" charset="-122"/>
              </a:rPr>
              <a:t>        </a:t>
            </a:r>
            <a:r>
              <a:rPr lang="zh-CN" altLang="en-US" sz="2400" dirty="0">
                <a:solidFill>
                  <a:srgbClr val="000000"/>
                </a:solidFill>
                <a:latin typeface="楷体_GB2312" pitchFamily="49" charset="-122"/>
                <a:ea typeface="楷体_GB2312" pitchFamily="49" charset="-122"/>
              </a:rPr>
              <a:t>累计折旧                              </a:t>
            </a:r>
            <a:r>
              <a:rPr lang="en-US" altLang="zh-CN" sz="2400" dirty="0">
                <a:solidFill>
                  <a:srgbClr val="000000"/>
                </a:solidFill>
                <a:latin typeface="楷体_GB2312" pitchFamily="49" charset="-122"/>
                <a:ea typeface="楷体_GB2312" pitchFamily="49" charset="-122"/>
              </a:rPr>
              <a:t>1 000 000</a:t>
            </a:r>
          </a:p>
          <a:p>
            <a:pPr>
              <a:lnSpc>
                <a:spcPct val="110000"/>
              </a:lnSpc>
              <a:buNone/>
            </a:pPr>
            <a:r>
              <a:rPr lang="en-US" altLang="zh-CN" sz="2400" dirty="0">
                <a:solidFill>
                  <a:srgbClr val="000000"/>
                </a:solidFill>
                <a:latin typeface="楷体_GB2312" pitchFamily="49" charset="-122"/>
                <a:ea typeface="楷体_GB2312" pitchFamily="49" charset="-122"/>
              </a:rPr>
              <a:t>     </a:t>
            </a:r>
            <a:r>
              <a:rPr lang="zh-CN" altLang="en-US" sz="2400" dirty="0">
                <a:solidFill>
                  <a:srgbClr val="000000"/>
                </a:solidFill>
                <a:latin typeface="楷体_GB2312" pitchFamily="49" charset="-122"/>
                <a:ea typeface="楷体_GB2312" pitchFamily="49" charset="-122"/>
              </a:rPr>
              <a:t>贷：固定资产                        </a:t>
            </a:r>
            <a:r>
              <a:rPr lang="en-US" altLang="zh-CN" sz="2400" dirty="0">
                <a:solidFill>
                  <a:srgbClr val="000000"/>
                </a:solidFill>
                <a:latin typeface="楷体_GB2312" pitchFamily="49" charset="-122"/>
                <a:ea typeface="楷体_GB2312" pitchFamily="49" charset="-122"/>
              </a:rPr>
              <a:t>4 000 000</a:t>
            </a:r>
          </a:p>
          <a:p>
            <a:pPr>
              <a:lnSpc>
                <a:spcPct val="110000"/>
              </a:lnSpc>
              <a:buNone/>
            </a:pPr>
            <a:r>
              <a:rPr lang="en-US" altLang="zh-CN" sz="2400" dirty="0">
                <a:solidFill>
                  <a:srgbClr val="000000"/>
                </a:solidFill>
                <a:latin typeface="楷体_GB2312" pitchFamily="49" charset="-122"/>
                <a:ea typeface="楷体_GB2312" pitchFamily="49" charset="-122"/>
              </a:rPr>
              <a:t>           </a:t>
            </a:r>
            <a:r>
              <a:rPr lang="zh-CN" altLang="en-US" sz="2400" dirty="0">
                <a:solidFill>
                  <a:srgbClr val="000000"/>
                </a:solidFill>
                <a:latin typeface="楷体_GB2312" pitchFamily="49" charset="-122"/>
                <a:ea typeface="楷体_GB2312" pitchFamily="49" charset="-122"/>
              </a:rPr>
              <a:t>其他综合收益                     </a:t>
            </a:r>
            <a:r>
              <a:rPr lang="en-US" altLang="zh-CN" sz="2400" dirty="0">
                <a:solidFill>
                  <a:srgbClr val="000000"/>
                </a:solidFill>
                <a:latin typeface="楷体_GB2312" pitchFamily="49" charset="-122"/>
                <a:ea typeface="楷体_GB2312" pitchFamily="49" charset="-122"/>
              </a:rPr>
              <a:t>600 000</a:t>
            </a:r>
          </a:p>
          <a:p>
            <a:pPr>
              <a:lnSpc>
                <a:spcPct val="110000"/>
              </a:lnSpc>
            </a:pPr>
            <a:endParaRPr lang="en-US" altLang="zh-CN" sz="2400" dirty="0">
              <a:solidFill>
                <a:srgbClr val="000000"/>
              </a:solidFill>
              <a:latin typeface="楷体_GB2312" pitchFamily="49" charset="-122"/>
              <a:ea typeface="楷体_GB2312" pitchFamily="49" charset="-122"/>
            </a:endParaRPr>
          </a:p>
          <a:p>
            <a:pPr>
              <a:lnSpc>
                <a:spcPct val="110000"/>
              </a:lnSpc>
            </a:pPr>
            <a:r>
              <a:rPr lang="zh-CN" altLang="en-US" sz="2400" dirty="0">
                <a:solidFill>
                  <a:srgbClr val="FF0000"/>
                </a:solidFill>
                <a:latin typeface="楷体_GB2312" pitchFamily="49" charset="-122"/>
                <a:ea typeface="楷体_GB2312" pitchFamily="49" charset="-122"/>
              </a:rPr>
              <a:t>问题：如上例中办公楼的公允价值为</a:t>
            </a:r>
            <a:r>
              <a:rPr lang="en-US" altLang="zh-CN" sz="2400" dirty="0">
                <a:solidFill>
                  <a:srgbClr val="FF0000"/>
                </a:solidFill>
                <a:latin typeface="楷体_GB2312" pitchFamily="49" charset="-122"/>
                <a:ea typeface="楷体_GB2312" pitchFamily="49" charset="-122"/>
              </a:rPr>
              <a:t>280</a:t>
            </a:r>
            <a:r>
              <a:rPr lang="zh-CN" altLang="en-US" sz="2400" dirty="0">
                <a:solidFill>
                  <a:srgbClr val="FF0000"/>
                </a:solidFill>
                <a:latin typeface="楷体_GB2312" pitchFamily="49" charset="-122"/>
                <a:ea typeface="楷体_GB2312" pitchFamily="49" charset="-122"/>
              </a:rPr>
              <a:t>万元，那么该如何进行账务处理？</a:t>
            </a:r>
          </a:p>
        </p:txBody>
      </p:sp>
    </p:spTree>
    <p:extLst>
      <p:ext uri="{BB962C8B-B14F-4D97-AF65-F5344CB8AC3E}">
        <p14:creationId xmlns:p14="http://schemas.microsoft.com/office/powerpoint/2010/main" val="19290570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五、投资性房地产的处置</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solidFill>
                  <a:srgbClr val="000000"/>
                </a:solidFill>
              </a:rPr>
              <a:t>投资性房地产的处置是指房地产的</a:t>
            </a:r>
            <a:r>
              <a:rPr lang="zh-CN" altLang="en-US" dirty="0">
                <a:solidFill>
                  <a:srgbClr val="FF0000"/>
                </a:solidFill>
              </a:rPr>
              <a:t>出售</a:t>
            </a:r>
            <a:r>
              <a:rPr lang="zh-CN" altLang="en-US" dirty="0">
                <a:solidFill>
                  <a:srgbClr val="000000"/>
                </a:solidFill>
              </a:rPr>
              <a:t>、</a:t>
            </a:r>
            <a:r>
              <a:rPr lang="zh-CN" altLang="en-US" dirty="0">
                <a:solidFill>
                  <a:srgbClr val="FF0000"/>
                </a:solidFill>
              </a:rPr>
              <a:t>转让</a:t>
            </a:r>
            <a:r>
              <a:rPr lang="zh-CN" altLang="en-US" dirty="0">
                <a:solidFill>
                  <a:srgbClr val="000000"/>
                </a:solidFill>
              </a:rPr>
              <a:t>、</a:t>
            </a:r>
            <a:r>
              <a:rPr lang="zh-CN" altLang="en-US" dirty="0">
                <a:solidFill>
                  <a:srgbClr val="FF0000"/>
                </a:solidFill>
              </a:rPr>
              <a:t>报废</a:t>
            </a:r>
            <a:r>
              <a:rPr lang="zh-CN" altLang="en-US" dirty="0">
                <a:solidFill>
                  <a:srgbClr val="000000"/>
                </a:solidFill>
              </a:rPr>
              <a:t>或者</a:t>
            </a:r>
            <a:r>
              <a:rPr lang="zh-CN" altLang="en-US" dirty="0">
                <a:solidFill>
                  <a:srgbClr val="FF0000"/>
                </a:solidFill>
              </a:rPr>
              <a:t>毁损</a:t>
            </a:r>
            <a:r>
              <a:rPr lang="zh-CN" altLang="en-US" dirty="0">
                <a:solidFill>
                  <a:srgbClr val="000000"/>
                </a:solidFill>
              </a:rPr>
              <a:t>等。</a:t>
            </a:r>
          </a:p>
          <a:p>
            <a:endParaRPr lang="zh-CN" altLang="en-US" dirty="0">
              <a:solidFill>
                <a:srgbClr val="000000"/>
              </a:solidFill>
            </a:endParaRPr>
          </a:p>
          <a:p>
            <a:r>
              <a:rPr lang="zh-CN" altLang="en-US" dirty="0">
                <a:solidFill>
                  <a:srgbClr val="000000"/>
                </a:solidFill>
              </a:rPr>
              <a:t>投资性房地产处置时，</a:t>
            </a:r>
            <a:r>
              <a:rPr lang="zh-CN" altLang="en-US" dirty="0">
                <a:solidFill>
                  <a:srgbClr val="FF0000"/>
                </a:solidFill>
              </a:rPr>
              <a:t>应将处置收入扣除其账面价值和相关税费后的金额计入当期损益</a:t>
            </a:r>
            <a:r>
              <a:rPr lang="zh-CN" altLang="en-US" dirty="0">
                <a:solidFill>
                  <a:srgbClr val="000000"/>
                </a:solidFill>
              </a:rPr>
              <a:t>。</a:t>
            </a:r>
          </a:p>
          <a:p>
            <a:pPr marL="457200" lvl="1" indent="0">
              <a:buNone/>
            </a:pPr>
            <a:endParaRPr lang="zh-CN" altLang="en-US" dirty="0"/>
          </a:p>
        </p:txBody>
      </p:sp>
    </p:spTree>
    <p:extLst>
      <p:ext uri="{BB962C8B-B14F-4D97-AF65-F5344CB8AC3E}">
        <p14:creationId xmlns:p14="http://schemas.microsoft.com/office/powerpoint/2010/main" val="13276634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五、投资性房地产的处置</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marL="0" indent="0">
              <a:lnSpc>
                <a:spcPct val="120000"/>
              </a:lnSpc>
              <a:buNone/>
            </a:pPr>
            <a:r>
              <a:rPr lang="zh-CN" altLang="en-US" dirty="0">
                <a:solidFill>
                  <a:srgbClr val="FF0000"/>
                </a:solidFill>
              </a:rPr>
              <a:t>采用成本模式计量的投资性房地产处置时</a:t>
            </a:r>
          </a:p>
          <a:p>
            <a:pPr>
              <a:lnSpc>
                <a:spcPct val="120000"/>
              </a:lnSpc>
            </a:pPr>
            <a:r>
              <a:rPr lang="zh-CN" altLang="en-US" sz="2400" dirty="0">
                <a:solidFill>
                  <a:srgbClr val="000000"/>
                </a:solidFill>
                <a:latin typeface="楷体_GB2312" pitchFamily="49" charset="-122"/>
                <a:ea typeface="楷体_GB2312" pitchFamily="49" charset="-122"/>
              </a:rPr>
              <a:t>借：银行存款等（实际收到的价款）</a:t>
            </a:r>
          </a:p>
          <a:p>
            <a:pPr>
              <a:lnSpc>
                <a:spcPct val="120000"/>
              </a:lnSpc>
              <a:buNone/>
            </a:pPr>
            <a:r>
              <a:rPr lang="zh-CN" altLang="en-US" sz="2400" dirty="0">
                <a:solidFill>
                  <a:srgbClr val="000000"/>
                </a:solidFill>
                <a:latin typeface="楷体_GB2312" pitchFamily="49" charset="-122"/>
                <a:ea typeface="楷体_GB2312" pitchFamily="49" charset="-122"/>
              </a:rPr>
              <a:t>       贷：其他业务收入</a:t>
            </a:r>
          </a:p>
          <a:p>
            <a:pPr>
              <a:lnSpc>
                <a:spcPct val="120000"/>
              </a:lnSpc>
            </a:pPr>
            <a:r>
              <a:rPr lang="zh-CN" altLang="en-US" sz="2400" dirty="0">
                <a:solidFill>
                  <a:srgbClr val="000000"/>
                </a:solidFill>
                <a:latin typeface="楷体_GB2312" pitchFamily="49" charset="-122"/>
                <a:ea typeface="楷体_GB2312" pitchFamily="49" charset="-122"/>
              </a:rPr>
              <a:t>借：其他业务成本（投资性房地产的账面价值）</a:t>
            </a:r>
          </a:p>
          <a:p>
            <a:pPr>
              <a:lnSpc>
                <a:spcPct val="120000"/>
              </a:lnSpc>
              <a:buNone/>
            </a:pPr>
            <a:r>
              <a:rPr lang="zh-CN" altLang="en-US" sz="2400" dirty="0">
                <a:solidFill>
                  <a:srgbClr val="000000"/>
                </a:solidFill>
                <a:latin typeface="楷体_GB2312" pitchFamily="49" charset="-122"/>
                <a:ea typeface="楷体_GB2312" pitchFamily="49" charset="-122"/>
              </a:rPr>
              <a:t>          </a:t>
            </a:r>
            <a:r>
              <a:rPr lang="zh-CN" altLang="en-US" sz="2400" dirty="0">
                <a:solidFill>
                  <a:srgbClr val="FF0066"/>
                </a:solidFill>
                <a:latin typeface="楷体_GB2312" pitchFamily="49" charset="-122"/>
                <a:ea typeface="楷体_GB2312" pitchFamily="49" charset="-122"/>
              </a:rPr>
              <a:t>投资性房地产累计折旧（摊销）（已计提折旧或摊销）</a:t>
            </a:r>
          </a:p>
          <a:p>
            <a:pPr>
              <a:lnSpc>
                <a:spcPct val="120000"/>
              </a:lnSpc>
              <a:buNone/>
            </a:pPr>
            <a:r>
              <a:rPr lang="zh-CN" altLang="en-US" sz="2400" dirty="0">
                <a:solidFill>
                  <a:srgbClr val="FF0066"/>
                </a:solidFill>
                <a:latin typeface="楷体_GB2312" pitchFamily="49" charset="-122"/>
                <a:ea typeface="楷体_GB2312" pitchFamily="49" charset="-122"/>
              </a:rPr>
              <a:t>          投资性房地产减值准备（已计提的减值准备）</a:t>
            </a:r>
          </a:p>
          <a:p>
            <a:pPr>
              <a:lnSpc>
                <a:spcPct val="120000"/>
              </a:lnSpc>
              <a:buNone/>
            </a:pPr>
            <a:r>
              <a:rPr lang="zh-CN" altLang="en-US" sz="2400" dirty="0">
                <a:solidFill>
                  <a:srgbClr val="FF0066"/>
                </a:solidFill>
                <a:latin typeface="楷体_GB2312" pitchFamily="49" charset="-122"/>
                <a:ea typeface="楷体_GB2312" pitchFamily="49" charset="-122"/>
              </a:rPr>
              <a:t>       贷：投资性房地产（投资性房地产的账面余额）</a:t>
            </a:r>
          </a:p>
          <a:p>
            <a:pPr marL="0" indent="0">
              <a:buNone/>
            </a:pPr>
            <a:endParaRPr lang="zh-CN" altLang="en-US" dirty="0"/>
          </a:p>
        </p:txBody>
      </p:sp>
    </p:spTree>
    <p:extLst>
      <p:ext uri="{BB962C8B-B14F-4D97-AF65-F5344CB8AC3E}">
        <p14:creationId xmlns:p14="http://schemas.microsoft.com/office/powerpoint/2010/main" val="31302854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五、投资性房地产的处置</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576917" y="2017713"/>
            <a:ext cx="10363200" cy="4781986"/>
          </a:xfrm>
        </p:spPr>
        <p:txBody>
          <a:bodyPr/>
          <a:lstStyle/>
          <a:p>
            <a:pPr marL="0" indent="0">
              <a:lnSpc>
                <a:spcPct val="90000"/>
              </a:lnSpc>
              <a:buNone/>
            </a:pPr>
            <a:r>
              <a:rPr lang="zh-CN" altLang="en-US" dirty="0">
                <a:solidFill>
                  <a:srgbClr val="FF0000"/>
                </a:solidFill>
              </a:rPr>
              <a:t>采用公允价值模式计量的投资性房地产处置时</a:t>
            </a:r>
          </a:p>
          <a:p>
            <a:pPr>
              <a:lnSpc>
                <a:spcPct val="120000"/>
              </a:lnSpc>
            </a:pPr>
            <a:r>
              <a:rPr lang="zh-CN" altLang="en-US" sz="2400" dirty="0">
                <a:solidFill>
                  <a:srgbClr val="000000"/>
                </a:solidFill>
                <a:latin typeface="楷体_GB2312" pitchFamily="49" charset="-122"/>
                <a:ea typeface="楷体_GB2312" pitchFamily="49" charset="-122"/>
              </a:rPr>
              <a:t>借：银行存款等（实际收到的价款）</a:t>
            </a:r>
          </a:p>
          <a:p>
            <a:pPr>
              <a:lnSpc>
                <a:spcPct val="120000"/>
              </a:lnSpc>
              <a:buNone/>
            </a:pPr>
            <a:r>
              <a:rPr lang="zh-CN" altLang="en-US" sz="2400" dirty="0">
                <a:solidFill>
                  <a:srgbClr val="000000"/>
                </a:solidFill>
                <a:latin typeface="楷体_GB2312" pitchFamily="49" charset="-122"/>
                <a:ea typeface="楷体_GB2312" pitchFamily="49" charset="-122"/>
              </a:rPr>
              <a:t>      贷：其他业务收入</a:t>
            </a:r>
          </a:p>
          <a:p>
            <a:pPr>
              <a:lnSpc>
                <a:spcPct val="120000"/>
              </a:lnSpc>
            </a:pPr>
            <a:r>
              <a:rPr lang="zh-CN" altLang="en-US" sz="2400" dirty="0">
                <a:solidFill>
                  <a:srgbClr val="000000"/>
                </a:solidFill>
                <a:latin typeface="楷体_GB2312" pitchFamily="49" charset="-122"/>
                <a:ea typeface="楷体_GB2312" pitchFamily="49" charset="-122"/>
              </a:rPr>
              <a:t>借：其他业务成本（投资性房地产的账面余额）</a:t>
            </a:r>
          </a:p>
          <a:p>
            <a:pPr>
              <a:lnSpc>
                <a:spcPct val="120000"/>
              </a:lnSpc>
              <a:buNone/>
            </a:pPr>
            <a:r>
              <a:rPr lang="zh-CN" altLang="en-US" sz="2400" dirty="0">
                <a:solidFill>
                  <a:srgbClr val="000000"/>
                </a:solidFill>
                <a:latin typeface="楷体_GB2312" pitchFamily="49" charset="-122"/>
                <a:ea typeface="楷体_GB2312" pitchFamily="49" charset="-122"/>
              </a:rPr>
              <a:t>   </a:t>
            </a:r>
            <a:r>
              <a:rPr lang="zh-CN" altLang="en-US" sz="2400" dirty="0">
                <a:solidFill>
                  <a:srgbClr val="FF0066"/>
                </a:solidFill>
                <a:latin typeface="楷体_GB2312" pitchFamily="49" charset="-122"/>
                <a:ea typeface="楷体_GB2312" pitchFamily="49" charset="-122"/>
              </a:rPr>
              <a:t>借或贷：投资性房地产</a:t>
            </a:r>
            <a:r>
              <a:rPr lang="en-US" altLang="zh-CN" sz="2400" dirty="0">
                <a:solidFill>
                  <a:srgbClr val="FF0066"/>
                </a:solidFill>
                <a:latin typeface="Arial"/>
                <a:ea typeface="楷体_GB2312" pitchFamily="49" charset="-122"/>
              </a:rPr>
              <a:t>——</a:t>
            </a:r>
            <a:r>
              <a:rPr lang="zh-CN" altLang="en-US" sz="2400" dirty="0">
                <a:solidFill>
                  <a:srgbClr val="FF0066"/>
                </a:solidFill>
                <a:latin typeface="楷体_GB2312" pitchFamily="49" charset="-122"/>
                <a:ea typeface="楷体_GB2312" pitchFamily="49" charset="-122"/>
              </a:rPr>
              <a:t>公允价值变动（累计公允价值变动）</a:t>
            </a:r>
          </a:p>
          <a:p>
            <a:pPr>
              <a:lnSpc>
                <a:spcPct val="120000"/>
              </a:lnSpc>
              <a:buNone/>
            </a:pPr>
            <a:r>
              <a:rPr lang="zh-CN" altLang="en-US" sz="2400" dirty="0">
                <a:solidFill>
                  <a:srgbClr val="FF0066"/>
                </a:solidFill>
                <a:latin typeface="楷体_GB2312" pitchFamily="49" charset="-122"/>
                <a:ea typeface="楷体_GB2312" pitchFamily="49" charset="-122"/>
              </a:rPr>
              <a:t>       贷：投资性房地产</a:t>
            </a:r>
            <a:r>
              <a:rPr lang="en-US" altLang="zh-CN" sz="2400" dirty="0">
                <a:solidFill>
                  <a:srgbClr val="FF0066"/>
                </a:solidFill>
                <a:latin typeface="Arial"/>
                <a:ea typeface="楷体_GB2312" pitchFamily="49" charset="-122"/>
              </a:rPr>
              <a:t>——</a:t>
            </a:r>
            <a:r>
              <a:rPr lang="zh-CN" altLang="en-US" sz="2400" dirty="0">
                <a:solidFill>
                  <a:srgbClr val="FF0066"/>
                </a:solidFill>
                <a:latin typeface="楷体_GB2312" pitchFamily="49" charset="-122"/>
                <a:ea typeface="楷体_GB2312" pitchFamily="49" charset="-122"/>
              </a:rPr>
              <a:t>成本（投资性房地产的成本）</a:t>
            </a:r>
          </a:p>
          <a:p>
            <a:pPr>
              <a:lnSpc>
                <a:spcPct val="90000"/>
              </a:lnSpc>
            </a:pPr>
            <a:r>
              <a:rPr lang="zh-CN" altLang="en-US" sz="2400" dirty="0">
                <a:solidFill>
                  <a:srgbClr val="000000"/>
                </a:solidFill>
                <a:latin typeface="楷体_GB2312" pitchFamily="49" charset="-122"/>
                <a:ea typeface="楷体_GB2312" pitchFamily="49" charset="-122"/>
              </a:rPr>
              <a:t>借或贷：公允价值变动损益（累计公允价值变动）</a:t>
            </a:r>
          </a:p>
          <a:p>
            <a:pPr>
              <a:lnSpc>
                <a:spcPct val="90000"/>
              </a:lnSpc>
              <a:buNone/>
            </a:pPr>
            <a:r>
              <a:rPr lang="zh-CN" altLang="en-US" sz="2400" dirty="0">
                <a:solidFill>
                  <a:srgbClr val="000000"/>
                </a:solidFill>
                <a:latin typeface="楷体_GB2312" pitchFamily="49" charset="-122"/>
                <a:ea typeface="楷体_GB2312" pitchFamily="49" charset="-122"/>
              </a:rPr>
              <a:t>     贷或借：其他业务成本</a:t>
            </a:r>
          </a:p>
          <a:p>
            <a:pPr>
              <a:lnSpc>
                <a:spcPct val="90000"/>
              </a:lnSpc>
            </a:pPr>
            <a:r>
              <a:rPr lang="zh-CN" altLang="en-US" sz="2400" dirty="0">
                <a:solidFill>
                  <a:srgbClr val="000000"/>
                </a:solidFill>
                <a:latin typeface="楷体_GB2312" pitchFamily="49" charset="-122"/>
                <a:ea typeface="楷体_GB2312" pitchFamily="49" charset="-122"/>
              </a:rPr>
              <a:t>借：其他综合收益</a:t>
            </a:r>
          </a:p>
          <a:p>
            <a:pPr>
              <a:lnSpc>
                <a:spcPct val="90000"/>
              </a:lnSpc>
              <a:buNone/>
            </a:pPr>
            <a:r>
              <a:rPr lang="zh-CN" altLang="en-US" sz="2400" dirty="0">
                <a:solidFill>
                  <a:srgbClr val="000000"/>
                </a:solidFill>
                <a:latin typeface="楷体_GB2312" pitchFamily="49" charset="-122"/>
                <a:ea typeface="楷体_GB2312" pitchFamily="49" charset="-122"/>
              </a:rPr>
              <a:t>       贷：其他业务成本</a:t>
            </a:r>
          </a:p>
        </p:txBody>
      </p:sp>
    </p:spTree>
    <p:extLst>
      <p:ext uri="{BB962C8B-B14F-4D97-AF65-F5344CB8AC3E}">
        <p14:creationId xmlns:p14="http://schemas.microsoft.com/office/powerpoint/2010/main" val="13431011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五、投资性房地产的处置</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914400" y="2232025"/>
            <a:ext cx="10363200" cy="4625975"/>
          </a:xfrm>
        </p:spPr>
        <p:txBody>
          <a:bodyPr/>
          <a:lstStyle/>
          <a:p>
            <a:pPr lvl="1"/>
            <a:r>
              <a:rPr lang="zh-CN" altLang="en-US" sz="2400" dirty="0">
                <a:solidFill>
                  <a:schemeClr val="tx2"/>
                </a:solidFill>
              </a:rPr>
              <a:t>例：</a:t>
            </a:r>
            <a:r>
              <a:rPr lang="en-US" altLang="zh-CN" sz="2400" dirty="0">
                <a:solidFill>
                  <a:srgbClr val="000000"/>
                </a:solidFill>
              </a:rPr>
              <a:t>A</a:t>
            </a:r>
            <a:r>
              <a:rPr lang="zh-CN" altLang="en-US" sz="2400" dirty="0">
                <a:solidFill>
                  <a:srgbClr val="000000"/>
                </a:solidFill>
              </a:rPr>
              <a:t>公司为一家房地产开发企业，</a:t>
            </a:r>
            <a:r>
              <a:rPr lang="en-US" altLang="zh-CN" sz="2400" dirty="0">
                <a:solidFill>
                  <a:srgbClr val="000000"/>
                </a:solidFill>
              </a:rPr>
              <a:t> 2×18</a:t>
            </a:r>
            <a:r>
              <a:rPr lang="zh-CN" altLang="en-US" sz="2400" dirty="0">
                <a:solidFill>
                  <a:srgbClr val="000000"/>
                </a:solidFill>
              </a:rPr>
              <a:t>年</a:t>
            </a:r>
            <a:r>
              <a:rPr lang="en-US" altLang="zh-CN" sz="2400" dirty="0">
                <a:solidFill>
                  <a:srgbClr val="000000"/>
                </a:solidFill>
              </a:rPr>
              <a:t>2</a:t>
            </a:r>
            <a:r>
              <a:rPr lang="zh-CN" altLang="en-US" sz="2400" dirty="0">
                <a:solidFill>
                  <a:srgbClr val="000000"/>
                </a:solidFill>
              </a:rPr>
              <a:t>月</a:t>
            </a:r>
            <a:r>
              <a:rPr lang="en-US" altLang="zh-CN" sz="2400" dirty="0">
                <a:solidFill>
                  <a:srgbClr val="000000"/>
                </a:solidFill>
              </a:rPr>
              <a:t>20</a:t>
            </a:r>
            <a:r>
              <a:rPr lang="zh-CN" altLang="en-US" sz="2400" dirty="0">
                <a:solidFill>
                  <a:srgbClr val="000000"/>
                </a:solidFill>
              </a:rPr>
              <a:t>日，</a:t>
            </a:r>
            <a:r>
              <a:rPr lang="en-US" altLang="zh-CN" sz="2400" dirty="0">
                <a:solidFill>
                  <a:srgbClr val="000000"/>
                </a:solidFill>
              </a:rPr>
              <a:t>A</a:t>
            </a:r>
            <a:r>
              <a:rPr lang="zh-CN" altLang="en-US" sz="2400" dirty="0">
                <a:solidFill>
                  <a:srgbClr val="000000"/>
                </a:solidFill>
              </a:rPr>
              <a:t>公司与</a:t>
            </a:r>
            <a:r>
              <a:rPr lang="en-US" altLang="zh-CN" sz="2400" dirty="0">
                <a:solidFill>
                  <a:srgbClr val="000000"/>
                </a:solidFill>
              </a:rPr>
              <a:t>B</a:t>
            </a:r>
            <a:r>
              <a:rPr lang="zh-CN" altLang="en-US" sz="2400" dirty="0">
                <a:solidFill>
                  <a:srgbClr val="000000"/>
                </a:solidFill>
              </a:rPr>
              <a:t>公司签订了一项租赁协议，将</a:t>
            </a:r>
            <a:r>
              <a:rPr lang="en-US" altLang="zh-CN" sz="2400" dirty="0">
                <a:solidFill>
                  <a:srgbClr val="000000"/>
                </a:solidFill>
              </a:rPr>
              <a:t>A</a:t>
            </a:r>
            <a:r>
              <a:rPr lang="zh-CN" altLang="en-US" sz="2400" dirty="0">
                <a:solidFill>
                  <a:srgbClr val="000000"/>
                </a:solidFill>
              </a:rPr>
              <a:t>公司开发的一栋写字楼于同日出租给</a:t>
            </a:r>
            <a:r>
              <a:rPr lang="en-US" altLang="zh-CN" sz="2400" dirty="0">
                <a:solidFill>
                  <a:srgbClr val="000000"/>
                </a:solidFill>
              </a:rPr>
              <a:t>B</a:t>
            </a:r>
            <a:r>
              <a:rPr lang="zh-CN" altLang="en-US" sz="2400" dirty="0">
                <a:solidFill>
                  <a:srgbClr val="000000"/>
                </a:solidFill>
              </a:rPr>
              <a:t>公司使用，租赁期为</a:t>
            </a:r>
            <a:r>
              <a:rPr lang="en-US" altLang="zh-CN" sz="2400" dirty="0">
                <a:solidFill>
                  <a:srgbClr val="000000"/>
                </a:solidFill>
              </a:rPr>
              <a:t>2</a:t>
            </a:r>
            <a:r>
              <a:rPr lang="zh-CN" altLang="en-US" sz="2400" dirty="0">
                <a:solidFill>
                  <a:srgbClr val="000000"/>
                </a:solidFill>
              </a:rPr>
              <a:t>年。</a:t>
            </a:r>
            <a:r>
              <a:rPr lang="en-US" altLang="zh-CN" sz="2400" dirty="0">
                <a:solidFill>
                  <a:srgbClr val="000000"/>
                </a:solidFill>
              </a:rPr>
              <a:t>A</a:t>
            </a:r>
            <a:r>
              <a:rPr lang="zh-CN" altLang="en-US" sz="2400" dirty="0">
                <a:solidFill>
                  <a:srgbClr val="000000"/>
                </a:solidFill>
              </a:rPr>
              <a:t>公司采用公允价值模式对投资性房地产进行后续计量。租赁期开始日出租写字楼的公允价值为</a:t>
            </a:r>
            <a:r>
              <a:rPr lang="en-US" altLang="zh-CN" sz="2400" dirty="0">
                <a:solidFill>
                  <a:srgbClr val="000000"/>
                </a:solidFill>
              </a:rPr>
              <a:t>300</a:t>
            </a:r>
            <a:r>
              <a:rPr lang="zh-CN" altLang="en-US" sz="2400" dirty="0">
                <a:solidFill>
                  <a:srgbClr val="000000"/>
                </a:solidFill>
              </a:rPr>
              <a:t>万元，其账面成本为</a:t>
            </a:r>
            <a:r>
              <a:rPr lang="en-US" altLang="zh-CN" sz="2400" dirty="0">
                <a:solidFill>
                  <a:srgbClr val="000000"/>
                </a:solidFill>
              </a:rPr>
              <a:t>270</a:t>
            </a:r>
            <a:r>
              <a:rPr lang="zh-CN" altLang="en-US" sz="2400" dirty="0">
                <a:solidFill>
                  <a:srgbClr val="000000"/>
                </a:solidFill>
              </a:rPr>
              <a:t>万元。</a:t>
            </a:r>
            <a:r>
              <a:rPr lang="en-US" altLang="zh-CN" sz="2400" dirty="0">
                <a:solidFill>
                  <a:srgbClr val="000000"/>
                </a:solidFill>
              </a:rPr>
              <a:t> 2×18</a:t>
            </a:r>
            <a:r>
              <a:rPr lang="zh-CN" altLang="en-US" sz="2400" dirty="0">
                <a:solidFill>
                  <a:srgbClr val="000000"/>
                </a:solidFill>
              </a:rPr>
              <a:t>年</a:t>
            </a:r>
            <a:r>
              <a:rPr lang="en-US" altLang="zh-CN" sz="2400" dirty="0">
                <a:solidFill>
                  <a:srgbClr val="000000"/>
                </a:solidFill>
              </a:rPr>
              <a:t>12</a:t>
            </a:r>
            <a:r>
              <a:rPr lang="zh-CN" altLang="en-US" sz="2400" dirty="0">
                <a:solidFill>
                  <a:srgbClr val="000000"/>
                </a:solidFill>
              </a:rPr>
              <a:t>月</a:t>
            </a:r>
            <a:r>
              <a:rPr lang="en-US" altLang="zh-CN" sz="2400" dirty="0">
                <a:solidFill>
                  <a:srgbClr val="000000"/>
                </a:solidFill>
              </a:rPr>
              <a:t>31</a:t>
            </a:r>
            <a:r>
              <a:rPr lang="zh-CN" altLang="en-US" sz="2400" dirty="0">
                <a:solidFill>
                  <a:srgbClr val="000000"/>
                </a:solidFill>
              </a:rPr>
              <a:t>日，出租写字楼的公允价值为</a:t>
            </a:r>
            <a:r>
              <a:rPr lang="en-US" altLang="zh-CN" sz="2400" dirty="0">
                <a:solidFill>
                  <a:srgbClr val="000000"/>
                </a:solidFill>
              </a:rPr>
              <a:t>320</a:t>
            </a:r>
            <a:r>
              <a:rPr lang="zh-CN" altLang="en-US" sz="2400" dirty="0">
                <a:solidFill>
                  <a:srgbClr val="000000"/>
                </a:solidFill>
              </a:rPr>
              <a:t>万元，</a:t>
            </a:r>
            <a:r>
              <a:rPr lang="en-US" altLang="zh-CN" sz="2400" dirty="0">
                <a:solidFill>
                  <a:srgbClr val="000000"/>
                </a:solidFill>
              </a:rPr>
              <a:t>2×19</a:t>
            </a:r>
            <a:r>
              <a:rPr lang="zh-CN" altLang="en-US" sz="2400" dirty="0">
                <a:solidFill>
                  <a:srgbClr val="000000"/>
                </a:solidFill>
              </a:rPr>
              <a:t>年</a:t>
            </a:r>
            <a:r>
              <a:rPr lang="en-US" altLang="zh-CN" sz="2400" dirty="0">
                <a:solidFill>
                  <a:srgbClr val="000000"/>
                </a:solidFill>
              </a:rPr>
              <a:t>12</a:t>
            </a:r>
            <a:r>
              <a:rPr lang="zh-CN" altLang="en-US" sz="2400" dirty="0">
                <a:solidFill>
                  <a:srgbClr val="000000"/>
                </a:solidFill>
              </a:rPr>
              <a:t>月</a:t>
            </a:r>
            <a:r>
              <a:rPr lang="en-US" altLang="zh-CN" sz="2400" dirty="0">
                <a:solidFill>
                  <a:srgbClr val="000000"/>
                </a:solidFill>
              </a:rPr>
              <a:t>31</a:t>
            </a:r>
            <a:r>
              <a:rPr lang="zh-CN" altLang="en-US" sz="2400" dirty="0">
                <a:solidFill>
                  <a:srgbClr val="000000"/>
                </a:solidFill>
              </a:rPr>
              <a:t>日，其公允价值为</a:t>
            </a:r>
            <a:r>
              <a:rPr lang="en-US" altLang="zh-CN" sz="2400" dirty="0">
                <a:solidFill>
                  <a:srgbClr val="000000"/>
                </a:solidFill>
              </a:rPr>
              <a:t>360</a:t>
            </a:r>
            <a:r>
              <a:rPr lang="zh-CN" altLang="en-US" sz="2400" dirty="0">
                <a:solidFill>
                  <a:srgbClr val="000000"/>
                </a:solidFill>
              </a:rPr>
              <a:t>万元。</a:t>
            </a:r>
            <a:r>
              <a:rPr lang="en-US" altLang="zh-CN" sz="2400" dirty="0">
                <a:solidFill>
                  <a:srgbClr val="000000"/>
                </a:solidFill>
              </a:rPr>
              <a:t> 2×20</a:t>
            </a:r>
            <a:r>
              <a:rPr lang="zh-CN" altLang="en-US" sz="2400" dirty="0">
                <a:solidFill>
                  <a:srgbClr val="000000"/>
                </a:solidFill>
              </a:rPr>
              <a:t>年</a:t>
            </a:r>
            <a:r>
              <a:rPr lang="en-US" altLang="zh-CN" sz="2400" dirty="0">
                <a:solidFill>
                  <a:srgbClr val="000000"/>
                </a:solidFill>
              </a:rPr>
              <a:t>2</a:t>
            </a:r>
            <a:r>
              <a:rPr lang="zh-CN" altLang="en-US" sz="2400" dirty="0">
                <a:solidFill>
                  <a:srgbClr val="000000"/>
                </a:solidFill>
              </a:rPr>
              <a:t>月</a:t>
            </a:r>
            <a:r>
              <a:rPr lang="en-US" altLang="zh-CN" sz="2400" dirty="0">
                <a:solidFill>
                  <a:srgbClr val="000000"/>
                </a:solidFill>
              </a:rPr>
              <a:t>20</a:t>
            </a:r>
            <a:r>
              <a:rPr lang="zh-CN" altLang="en-US" sz="2400" dirty="0">
                <a:solidFill>
                  <a:srgbClr val="000000"/>
                </a:solidFill>
              </a:rPr>
              <a:t>日租赁期满，</a:t>
            </a:r>
            <a:r>
              <a:rPr lang="en-US" altLang="zh-CN" sz="2400" dirty="0">
                <a:solidFill>
                  <a:srgbClr val="000000"/>
                </a:solidFill>
              </a:rPr>
              <a:t>A</a:t>
            </a:r>
            <a:r>
              <a:rPr lang="zh-CN" altLang="en-US" sz="2400" dirty="0">
                <a:solidFill>
                  <a:srgbClr val="000000"/>
                </a:solidFill>
              </a:rPr>
              <a:t>公司将出租的写字楼出售给了</a:t>
            </a:r>
            <a:r>
              <a:rPr lang="en-US" altLang="zh-CN" sz="2400" dirty="0">
                <a:solidFill>
                  <a:srgbClr val="000000"/>
                </a:solidFill>
              </a:rPr>
              <a:t>B</a:t>
            </a:r>
            <a:r>
              <a:rPr lang="zh-CN" altLang="en-US" sz="2400" dirty="0">
                <a:solidFill>
                  <a:srgbClr val="000000"/>
                </a:solidFill>
              </a:rPr>
              <a:t>公司，双方协议作价</a:t>
            </a:r>
            <a:r>
              <a:rPr lang="en-US" altLang="zh-CN" sz="2400" dirty="0">
                <a:solidFill>
                  <a:srgbClr val="000000"/>
                </a:solidFill>
              </a:rPr>
              <a:t>360</a:t>
            </a:r>
            <a:r>
              <a:rPr lang="zh-CN" altLang="en-US" sz="2400" dirty="0">
                <a:solidFill>
                  <a:srgbClr val="000000"/>
                </a:solidFill>
              </a:rPr>
              <a:t>万元，款项已收存银行。 </a:t>
            </a:r>
          </a:p>
        </p:txBody>
      </p:sp>
    </p:spTree>
    <p:extLst>
      <p:ext uri="{BB962C8B-B14F-4D97-AF65-F5344CB8AC3E}">
        <p14:creationId xmlns:p14="http://schemas.microsoft.com/office/powerpoint/2010/main" val="274964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DC44AC84-704C-447D-859B-2E9F67885FBA}"/>
              </a:ext>
            </a:extLst>
          </p:cNvPr>
          <p:cNvSpPr>
            <a:spLocks noGrp="1" noRot="1" noChangeArrowheads="1"/>
          </p:cNvSpPr>
          <p:nvPr>
            <p:ph idx="1"/>
          </p:nvPr>
        </p:nvSpPr>
        <p:spPr>
          <a:xfrm>
            <a:off x="1576388" y="2017713"/>
            <a:ext cx="10363200" cy="4114800"/>
          </a:xfrm>
        </p:spPr>
        <p:txBody>
          <a:bodyPr/>
          <a:lstStyle/>
          <a:p>
            <a:pPr>
              <a:buFont typeface="Wingdings" pitchFamily="2" charset="2"/>
              <a:buNone/>
            </a:pP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1</a:t>
            </a: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2×18</a:t>
            </a:r>
            <a:r>
              <a:rPr lang="zh-CN" altLang="en-US" sz="2400" b="1" dirty="0">
                <a:solidFill>
                  <a:srgbClr val="000000"/>
                </a:solidFill>
                <a:latin typeface="楷体_GB2312" pitchFamily="49" charset="-122"/>
                <a:ea typeface="楷体_GB2312" pitchFamily="49" charset="-122"/>
              </a:rPr>
              <a:t>年</a:t>
            </a:r>
            <a:r>
              <a:rPr lang="en-US" altLang="zh-CN" sz="2400" b="1" dirty="0">
                <a:solidFill>
                  <a:srgbClr val="000000"/>
                </a:solidFill>
                <a:latin typeface="楷体_GB2312" pitchFamily="49" charset="-122"/>
                <a:ea typeface="楷体_GB2312" pitchFamily="49" charset="-122"/>
              </a:rPr>
              <a:t>2</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20</a:t>
            </a:r>
            <a:r>
              <a:rPr lang="zh-CN" altLang="en-US" sz="2400" b="1" dirty="0">
                <a:solidFill>
                  <a:srgbClr val="000000"/>
                </a:solidFill>
                <a:latin typeface="楷体_GB2312" pitchFamily="49" charset="-122"/>
                <a:ea typeface="楷体_GB2312" pitchFamily="49" charset="-122"/>
              </a:rPr>
              <a:t>日，存货转为投资性房地产</a:t>
            </a:r>
          </a:p>
          <a:p>
            <a:pPr>
              <a:buFont typeface="Wingdings" pitchFamily="2" charset="2"/>
              <a:buNone/>
            </a:pPr>
            <a:r>
              <a:rPr lang="zh-CN" altLang="en-US" sz="2400" b="1" dirty="0">
                <a:solidFill>
                  <a:srgbClr val="000000"/>
                </a:solidFill>
                <a:latin typeface="楷体_GB2312" pitchFamily="49" charset="-122"/>
                <a:ea typeface="楷体_GB2312" pitchFamily="49" charset="-122"/>
              </a:rPr>
              <a:t>  借：投资性房地产</a:t>
            </a:r>
            <a:r>
              <a:rPr lang="en-US" altLang="zh-CN" sz="2400" b="1" dirty="0">
                <a:solidFill>
                  <a:srgbClr val="000000"/>
                </a:solidFill>
                <a:latin typeface="Arial"/>
                <a:ea typeface="楷体_GB2312" pitchFamily="49" charset="-122"/>
              </a:rPr>
              <a:t>——</a:t>
            </a:r>
            <a:r>
              <a:rPr lang="zh-CN" altLang="en-US" sz="2400" b="1" dirty="0">
                <a:solidFill>
                  <a:srgbClr val="000000"/>
                </a:solidFill>
                <a:latin typeface="楷体_GB2312" pitchFamily="49" charset="-122"/>
                <a:ea typeface="楷体_GB2312" pitchFamily="49" charset="-122"/>
              </a:rPr>
              <a:t>成本        </a:t>
            </a:r>
            <a:r>
              <a:rPr lang="en-US" altLang="zh-CN" sz="2400" b="1" dirty="0">
                <a:solidFill>
                  <a:srgbClr val="000000"/>
                </a:solidFill>
                <a:latin typeface="楷体_GB2312" pitchFamily="49" charset="-122"/>
                <a:ea typeface="楷体_GB2312" pitchFamily="49" charset="-122"/>
              </a:rPr>
              <a:t>3000000</a:t>
            </a:r>
          </a:p>
          <a:p>
            <a:pPr>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贷：开发产品                        </a:t>
            </a:r>
            <a:r>
              <a:rPr lang="en-US" altLang="zh-CN" sz="2400" b="1" dirty="0">
                <a:solidFill>
                  <a:srgbClr val="000000"/>
                </a:solidFill>
                <a:latin typeface="楷体_GB2312" pitchFamily="49" charset="-122"/>
                <a:ea typeface="楷体_GB2312" pitchFamily="49" charset="-122"/>
              </a:rPr>
              <a:t>2700000</a:t>
            </a:r>
          </a:p>
          <a:p>
            <a:pPr>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其他综合收益                     </a:t>
            </a:r>
            <a:r>
              <a:rPr lang="en-US" altLang="zh-CN" sz="2400" b="1" dirty="0">
                <a:solidFill>
                  <a:srgbClr val="000000"/>
                </a:solidFill>
                <a:latin typeface="楷体_GB2312" pitchFamily="49" charset="-122"/>
                <a:ea typeface="楷体_GB2312" pitchFamily="49" charset="-122"/>
              </a:rPr>
              <a:t>300000</a:t>
            </a:r>
          </a:p>
          <a:p>
            <a:pPr>
              <a:buFont typeface="Wingdings" pitchFamily="2" charset="2"/>
              <a:buNone/>
            </a:pP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2</a:t>
            </a: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2×18</a:t>
            </a:r>
            <a:r>
              <a:rPr lang="zh-CN" altLang="en-US" sz="2400" b="1" dirty="0">
                <a:solidFill>
                  <a:srgbClr val="000000"/>
                </a:solidFill>
                <a:latin typeface="楷体_GB2312" pitchFamily="49" charset="-122"/>
                <a:ea typeface="楷体_GB2312" pitchFamily="49" charset="-122"/>
              </a:rPr>
              <a:t>年</a:t>
            </a:r>
            <a:r>
              <a:rPr lang="en-US" altLang="zh-CN" sz="2400" b="1" dirty="0">
                <a:solidFill>
                  <a:srgbClr val="000000"/>
                </a:solidFill>
                <a:latin typeface="楷体_GB2312" pitchFamily="49" charset="-122"/>
                <a:ea typeface="楷体_GB2312" pitchFamily="49" charset="-122"/>
              </a:rPr>
              <a:t>12</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31</a:t>
            </a:r>
            <a:r>
              <a:rPr lang="zh-CN" altLang="en-US" sz="2400" b="1" dirty="0">
                <a:solidFill>
                  <a:srgbClr val="000000"/>
                </a:solidFill>
                <a:latin typeface="楷体_GB2312" pitchFamily="49" charset="-122"/>
                <a:ea typeface="楷体_GB2312" pitchFamily="49" charset="-122"/>
              </a:rPr>
              <a:t>日，确认公允价值的变动</a:t>
            </a:r>
          </a:p>
          <a:p>
            <a:pPr>
              <a:buFont typeface="Wingdings" pitchFamily="2" charset="2"/>
              <a:buNone/>
            </a:pPr>
            <a:r>
              <a:rPr lang="zh-CN" altLang="en-US" sz="2400" b="1" dirty="0">
                <a:solidFill>
                  <a:srgbClr val="000000"/>
                </a:solidFill>
                <a:latin typeface="楷体_GB2312" pitchFamily="49" charset="-122"/>
                <a:ea typeface="楷体_GB2312" pitchFamily="49" charset="-122"/>
              </a:rPr>
              <a:t>  借：投资性房地产</a:t>
            </a:r>
            <a:r>
              <a:rPr lang="en-US" altLang="zh-CN" sz="2400" b="1" dirty="0">
                <a:solidFill>
                  <a:srgbClr val="000000"/>
                </a:solidFill>
                <a:latin typeface="Arial"/>
                <a:ea typeface="楷体_GB2312" pitchFamily="49" charset="-122"/>
              </a:rPr>
              <a:t>——</a:t>
            </a:r>
            <a:r>
              <a:rPr lang="zh-CN" altLang="en-US" sz="2400" b="1" dirty="0">
                <a:solidFill>
                  <a:srgbClr val="000000"/>
                </a:solidFill>
                <a:latin typeface="楷体_GB2312" pitchFamily="49" charset="-122"/>
                <a:ea typeface="楷体_GB2312" pitchFamily="49" charset="-122"/>
              </a:rPr>
              <a:t>公允价值变动 </a:t>
            </a:r>
            <a:r>
              <a:rPr lang="en-US" altLang="zh-CN" sz="2400" b="1" dirty="0">
                <a:solidFill>
                  <a:srgbClr val="000000"/>
                </a:solidFill>
                <a:latin typeface="楷体_GB2312" pitchFamily="49" charset="-122"/>
                <a:ea typeface="楷体_GB2312" pitchFamily="49" charset="-122"/>
              </a:rPr>
              <a:t>200000</a:t>
            </a:r>
          </a:p>
          <a:p>
            <a:pPr>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贷：公允价值变动损益                    </a:t>
            </a:r>
            <a:r>
              <a:rPr lang="en-US" altLang="zh-CN" sz="2400" b="1" dirty="0">
                <a:solidFill>
                  <a:srgbClr val="000000"/>
                </a:solidFill>
                <a:latin typeface="楷体_GB2312" pitchFamily="49" charset="-122"/>
                <a:ea typeface="楷体_GB2312" pitchFamily="49" charset="-122"/>
              </a:rPr>
              <a:t>200000</a:t>
            </a:r>
          </a:p>
          <a:p>
            <a:pPr>
              <a:buFont typeface="Wingdings" pitchFamily="2" charset="2"/>
              <a:buNone/>
            </a:pP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3</a:t>
            </a: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2×19</a:t>
            </a:r>
            <a:r>
              <a:rPr lang="zh-CN" altLang="en-US" sz="2400" b="1" dirty="0">
                <a:solidFill>
                  <a:srgbClr val="000000"/>
                </a:solidFill>
                <a:latin typeface="楷体_GB2312" pitchFamily="49" charset="-122"/>
                <a:ea typeface="楷体_GB2312" pitchFamily="49" charset="-122"/>
              </a:rPr>
              <a:t>年</a:t>
            </a:r>
            <a:r>
              <a:rPr lang="en-US" altLang="zh-CN" sz="2400" b="1" dirty="0">
                <a:solidFill>
                  <a:srgbClr val="000000"/>
                </a:solidFill>
                <a:latin typeface="楷体_GB2312" pitchFamily="49" charset="-122"/>
                <a:ea typeface="楷体_GB2312" pitchFamily="49" charset="-122"/>
              </a:rPr>
              <a:t>12</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31</a:t>
            </a:r>
            <a:r>
              <a:rPr lang="zh-CN" altLang="en-US" sz="2400" b="1" dirty="0">
                <a:solidFill>
                  <a:srgbClr val="000000"/>
                </a:solidFill>
                <a:latin typeface="楷体_GB2312" pitchFamily="49" charset="-122"/>
                <a:ea typeface="楷体_GB2312" pitchFamily="49" charset="-122"/>
              </a:rPr>
              <a:t>日，确认公允价值变动</a:t>
            </a:r>
          </a:p>
          <a:p>
            <a:pPr>
              <a:buFont typeface="Wingdings" pitchFamily="2" charset="2"/>
              <a:buNone/>
            </a:pPr>
            <a:r>
              <a:rPr lang="zh-CN" altLang="en-US" sz="2400" b="1" dirty="0">
                <a:solidFill>
                  <a:srgbClr val="000000"/>
                </a:solidFill>
                <a:latin typeface="楷体_GB2312" pitchFamily="49" charset="-122"/>
                <a:ea typeface="楷体_GB2312" pitchFamily="49" charset="-122"/>
              </a:rPr>
              <a:t>  借：投资性房地产</a:t>
            </a:r>
            <a:r>
              <a:rPr lang="en-US" altLang="zh-CN" sz="2400" b="1" dirty="0">
                <a:solidFill>
                  <a:srgbClr val="000000"/>
                </a:solidFill>
                <a:latin typeface="Arial"/>
                <a:ea typeface="楷体_GB2312" pitchFamily="49" charset="-122"/>
              </a:rPr>
              <a:t>——</a:t>
            </a:r>
            <a:r>
              <a:rPr lang="zh-CN" altLang="en-US" sz="2400" b="1" dirty="0">
                <a:solidFill>
                  <a:srgbClr val="000000"/>
                </a:solidFill>
                <a:latin typeface="楷体_GB2312" pitchFamily="49" charset="-122"/>
                <a:ea typeface="楷体_GB2312" pitchFamily="49" charset="-122"/>
              </a:rPr>
              <a:t>公允价值变动 </a:t>
            </a:r>
            <a:r>
              <a:rPr lang="en-US" altLang="zh-CN" sz="2400" b="1" dirty="0">
                <a:solidFill>
                  <a:srgbClr val="000000"/>
                </a:solidFill>
                <a:latin typeface="楷体_GB2312" pitchFamily="49" charset="-122"/>
                <a:ea typeface="楷体_GB2312" pitchFamily="49" charset="-122"/>
              </a:rPr>
              <a:t>400000</a:t>
            </a:r>
          </a:p>
          <a:p>
            <a:pPr>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贷：公允价值变动损益              </a:t>
            </a:r>
            <a:r>
              <a:rPr lang="en-US" altLang="zh-CN" sz="2400" b="1" dirty="0">
                <a:solidFill>
                  <a:srgbClr val="000000"/>
                </a:solidFill>
                <a:latin typeface="楷体_GB2312" pitchFamily="49" charset="-122"/>
                <a:ea typeface="楷体_GB2312" pitchFamily="49" charset="-122"/>
              </a:rPr>
              <a:t>400000</a:t>
            </a:r>
          </a:p>
        </p:txBody>
      </p:sp>
    </p:spTree>
    <p:extLst>
      <p:ext uri="{BB962C8B-B14F-4D97-AF65-F5344CB8AC3E}">
        <p14:creationId xmlns:p14="http://schemas.microsoft.com/office/powerpoint/2010/main" val="852835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blinds(horizontal)">
                                      <p:cBhvr>
                                        <p:cTn id="10" dur="500"/>
                                        <p:tgtEl>
                                          <p:spTgt spid="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blinds(horizontal)">
                                      <p:cBhvr>
                                        <p:cTn id="13" dur="500"/>
                                        <p:tgtEl>
                                          <p:spTgt spid="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xEl>
                                              <p:pRg st="5" end="5"/>
                                            </p:txEl>
                                          </p:spTgt>
                                        </p:tgtEl>
                                        <p:attrNameLst>
                                          <p:attrName>style.visibility</p:attrName>
                                        </p:attrNameLst>
                                      </p:cBhvr>
                                      <p:to>
                                        <p:strVal val="visible"/>
                                      </p:to>
                                    </p:set>
                                    <p:animEffect transition="in" filter="blinds(horizontal)">
                                      <p:cBhvr>
                                        <p:cTn id="18" dur="500"/>
                                        <p:tgtEl>
                                          <p:spTgt spid="5">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animEffect transition="in" filter="blinds(horizontal)">
                                      <p:cBhvr>
                                        <p:cTn id="21" dur="500"/>
                                        <p:tgtEl>
                                          <p:spTgt spid="5">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
                                            <p:txEl>
                                              <p:pRg st="8" end="8"/>
                                            </p:txEl>
                                          </p:spTgt>
                                        </p:tgtEl>
                                        <p:attrNameLst>
                                          <p:attrName>style.visibility</p:attrName>
                                        </p:attrNameLst>
                                      </p:cBhvr>
                                      <p:to>
                                        <p:strVal val="visible"/>
                                      </p:to>
                                    </p:set>
                                    <p:animEffect transition="in" filter="blinds(horizontal)">
                                      <p:cBhvr>
                                        <p:cTn id="26" dur="500"/>
                                        <p:tgtEl>
                                          <p:spTgt spid="5">
                                            <p:txEl>
                                              <p:pRg st="8" end="8"/>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animEffect transition="in" filter="blinds(horizontal)">
                                      <p:cBhvr>
                                        <p:cTn id="29"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F2B0534A-CC2C-45BB-98F6-2B4C349D4040}"/>
              </a:ext>
            </a:extLst>
          </p:cNvPr>
          <p:cNvSpPr>
            <a:spLocks noGrp="1" noRot="1" noChangeArrowheads="1"/>
          </p:cNvSpPr>
          <p:nvPr>
            <p:ph idx="1"/>
          </p:nvPr>
        </p:nvSpPr>
        <p:spPr>
          <a:xfrm>
            <a:off x="1576388" y="2017713"/>
            <a:ext cx="10363200" cy="4559820"/>
          </a:xfrm>
        </p:spPr>
        <p:txBody>
          <a:bodyPr/>
          <a:lstStyle/>
          <a:p>
            <a:pPr>
              <a:buFont typeface="Wingdings" pitchFamily="2" charset="2"/>
              <a:buNone/>
            </a:pP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4</a:t>
            </a:r>
            <a:r>
              <a:rPr lang="zh-CN" altLang="en-US" sz="2400" b="1" dirty="0">
                <a:solidFill>
                  <a:srgbClr val="000000"/>
                </a:solidFill>
                <a:latin typeface="楷体_GB2312" pitchFamily="49" charset="-122"/>
                <a:ea typeface="楷体_GB2312" pitchFamily="49" charset="-122"/>
              </a:rPr>
              <a:t>）</a:t>
            </a:r>
            <a:r>
              <a:rPr lang="en-US" altLang="zh-CN" sz="2400" b="1" dirty="0">
                <a:solidFill>
                  <a:srgbClr val="000000"/>
                </a:solidFill>
                <a:latin typeface="楷体_GB2312" pitchFamily="49" charset="-122"/>
                <a:ea typeface="楷体_GB2312" pitchFamily="49" charset="-122"/>
              </a:rPr>
              <a:t>2×20</a:t>
            </a:r>
            <a:r>
              <a:rPr lang="zh-CN" altLang="en-US" sz="2400" b="1" dirty="0">
                <a:solidFill>
                  <a:srgbClr val="000000"/>
                </a:solidFill>
                <a:latin typeface="楷体_GB2312" pitchFamily="49" charset="-122"/>
                <a:ea typeface="楷体_GB2312" pitchFamily="49" charset="-122"/>
              </a:rPr>
              <a:t>年</a:t>
            </a:r>
            <a:r>
              <a:rPr lang="en-US" altLang="zh-CN" sz="2400" b="1" dirty="0">
                <a:solidFill>
                  <a:srgbClr val="000000"/>
                </a:solidFill>
                <a:latin typeface="楷体_GB2312" pitchFamily="49" charset="-122"/>
                <a:ea typeface="楷体_GB2312" pitchFamily="49" charset="-122"/>
              </a:rPr>
              <a:t>2</a:t>
            </a:r>
            <a:r>
              <a:rPr lang="zh-CN" altLang="en-US" sz="2400" b="1" dirty="0">
                <a:solidFill>
                  <a:srgbClr val="000000"/>
                </a:solidFill>
                <a:latin typeface="楷体_GB2312" pitchFamily="49" charset="-122"/>
                <a:ea typeface="楷体_GB2312" pitchFamily="49" charset="-122"/>
              </a:rPr>
              <a:t>月</a:t>
            </a:r>
            <a:r>
              <a:rPr lang="en-US" altLang="zh-CN" sz="2400" b="1" dirty="0">
                <a:solidFill>
                  <a:srgbClr val="000000"/>
                </a:solidFill>
                <a:latin typeface="楷体_GB2312" pitchFamily="49" charset="-122"/>
                <a:ea typeface="楷体_GB2312" pitchFamily="49" charset="-122"/>
              </a:rPr>
              <a:t>20</a:t>
            </a:r>
            <a:r>
              <a:rPr lang="zh-CN" altLang="en-US" sz="2400" b="1" dirty="0">
                <a:solidFill>
                  <a:srgbClr val="000000"/>
                </a:solidFill>
                <a:latin typeface="楷体_GB2312" pitchFamily="49" charset="-122"/>
                <a:ea typeface="楷体_GB2312" pitchFamily="49" charset="-122"/>
              </a:rPr>
              <a:t>日，出售投资性房地产</a:t>
            </a:r>
          </a:p>
          <a:p>
            <a:pPr>
              <a:buFont typeface="Wingdings" pitchFamily="2" charset="2"/>
              <a:buNone/>
            </a:pPr>
            <a:r>
              <a:rPr lang="zh-CN" altLang="en-US" sz="2400" b="1" dirty="0">
                <a:solidFill>
                  <a:srgbClr val="000000"/>
                </a:solidFill>
                <a:latin typeface="楷体_GB2312" pitchFamily="49" charset="-122"/>
                <a:ea typeface="楷体_GB2312" pitchFamily="49" charset="-122"/>
              </a:rPr>
              <a:t>  借：银行存款                    </a:t>
            </a:r>
            <a:r>
              <a:rPr lang="en-US" altLang="zh-CN" sz="2400" b="1" dirty="0">
                <a:solidFill>
                  <a:srgbClr val="000000"/>
                </a:solidFill>
                <a:latin typeface="楷体_GB2312" pitchFamily="49" charset="-122"/>
                <a:ea typeface="楷体_GB2312" pitchFamily="49" charset="-122"/>
              </a:rPr>
              <a:t>3600000</a:t>
            </a:r>
          </a:p>
          <a:p>
            <a:pPr>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贷：其他业务收入                   </a:t>
            </a:r>
            <a:r>
              <a:rPr lang="en-US" altLang="zh-CN" sz="2400" b="1" dirty="0">
                <a:solidFill>
                  <a:srgbClr val="000000"/>
                </a:solidFill>
                <a:latin typeface="楷体_GB2312" pitchFamily="49" charset="-122"/>
                <a:ea typeface="楷体_GB2312" pitchFamily="49" charset="-122"/>
              </a:rPr>
              <a:t>3600000</a:t>
            </a:r>
          </a:p>
          <a:p>
            <a:pPr>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借：其他业务成本                </a:t>
            </a:r>
            <a:r>
              <a:rPr lang="en-US" altLang="zh-CN" sz="2400" b="1" dirty="0">
                <a:solidFill>
                  <a:srgbClr val="000000"/>
                </a:solidFill>
                <a:latin typeface="楷体_GB2312" pitchFamily="49" charset="-122"/>
                <a:ea typeface="楷体_GB2312" pitchFamily="49" charset="-122"/>
              </a:rPr>
              <a:t>3600000</a:t>
            </a:r>
          </a:p>
          <a:p>
            <a:pPr>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贷：投资性房地产</a:t>
            </a:r>
            <a:r>
              <a:rPr lang="en-US" altLang="zh-CN" sz="2400" b="1" dirty="0">
                <a:solidFill>
                  <a:srgbClr val="000000"/>
                </a:solidFill>
                <a:latin typeface="Arial"/>
                <a:ea typeface="楷体_GB2312" pitchFamily="49" charset="-122"/>
              </a:rPr>
              <a:t>——</a:t>
            </a:r>
            <a:r>
              <a:rPr lang="zh-CN" altLang="en-US" sz="2400" b="1" dirty="0">
                <a:solidFill>
                  <a:srgbClr val="000000"/>
                </a:solidFill>
                <a:latin typeface="楷体_GB2312" pitchFamily="49" charset="-122"/>
                <a:ea typeface="楷体_GB2312" pitchFamily="49" charset="-122"/>
              </a:rPr>
              <a:t>成本           </a:t>
            </a:r>
            <a:r>
              <a:rPr lang="en-US" altLang="zh-CN" sz="2400" b="1" dirty="0">
                <a:solidFill>
                  <a:srgbClr val="000000"/>
                </a:solidFill>
                <a:latin typeface="楷体_GB2312" pitchFamily="49" charset="-122"/>
                <a:ea typeface="楷体_GB2312" pitchFamily="49" charset="-122"/>
              </a:rPr>
              <a:t>3000000</a:t>
            </a:r>
          </a:p>
          <a:p>
            <a:pPr>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en-US" altLang="zh-CN" sz="2400" b="1" dirty="0">
                <a:solidFill>
                  <a:srgbClr val="000000"/>
                </a:solidFill>
                <a:latin typeface="Arial"/>
                <a:ea typeface="楷体_GB2312" pitchFamily="49" charset="-122"/>
              </a:rPr>
              <a:t>——</a:t>
            </a:r>
            <a:r>
              <a:rPr lang="zh-CN" altLang="en-US" sz="2400" b="1" dirty="0">
                <a:solidFill>
                  <a:srgbClr val="000000"/>
                </a:solidFill>
                <a:latin typeface="楷体_GB2312" pitchFamily="49" charset="-122"/>
                <a:ea typeface="楷体_GB2312" pitchFamily="49" charset="-122"/>
              </a:rPr>
              <a:t>公允价值变动    </a:t>
            </a:r>
            <a:r>
              <a:rPr lang="en-US" altLang="zh-CN" sz="2400" b="1" dirty="0">
                <a:solidFill>
                  <a:srgbClr val="000000"/>
                </a:solidFill>
                <a:latin typeface="楷体_GB2312" pitchFamily="49" charset="-122"/>
                <a:ea typeface="楷体_GB2312" pitchFamily="49" charset="-122"/>
              </a:rPr>
              <a:t>600000</a:t>
            </a:r>
          </a:p>
          <a:p>
            <a:pPr>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借：公允价值变动损益        </a:t>
            </a:r>
            <a:r>
              <a:rPr lang="en-US" altLang="zh-CN" sz="2400" b="1" dirty="0">
                <a:solidFill>
                  <a:srgbClr val="000000"/>
                </a:solidFill>
                <a:latin typeface="楷体_GB2312" pitchFamily="49" charset="-122"/>
                <a:ea typeface="楷体_GB2312" pitchFamily="49" charset="-122"/>
              </a:rPr>
              <a:t>600000</a:t>
            </a:r>
          </a:p>
          <a:p>
            <a:pPr>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贷：其他业务成本                    </a:t>
            </a:r>
            <a:r>
              <a:rPr lang="en-US" altLang="zh-CN" sz="2400" b="1" dirty="0">
                <a:solidFill>
                  <a:srgbClr val="000000"/>
                </a:solidFill>
                <a:latin typeface="楷体_GB2312" pitchFamily="49" charset="-122"/>
                <a:ea typeface="楷体_GB2312" pitchFamily="49" charset="-122"/>
              </a:rPr>
              <a:t>600000</a:t>
            </a:r>
          </a:p>
          <a:p>
            <a:pPr>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借：其他综合收益    </a:t>
            </a:r>
            <a:r>
              <a:rPr lang="en-US" altLang="zh-CN" sz="2400" b="1" dirty="0">
                <a:solidFill>
                  <a:srgbClr val="000000"/>
                </a:solidFill>
                <a:latin typeface="楷体_GB2312" pitchFamily="49" charset="-122"/>
                <a:ea typeface="楷体_GB2312" pitchFamily="49" charset="-122"/>
              </a:rPr>
              <a:t>300000</a:t>
            </a:r>
          </a:p>
          <a:p>
            <a:pPr>
              <a:buFont typeface="Wingdings" pitchFamily="2" charset="2"/>
              <a:buNone/>
            </a:pPr>
            <a:r>
              <a:rPr lang="en-US" altLang="zh-CN" sz="2400" b="1" dirty="0">
                <a:solidFill>
                  <a:srgbClr val="000000"/>
                </a:solidFill>
                <a:latin typeface="楷体_GB2312" pitchFamily="49" charset="-122"/>
                <a:ea typeface="楷体_GB2312" pitchFamily="49" charset="-122"/>
              </a:rPr>
              <a:t>      </a:t>
            </a:r>
            <a:r>
              <a:rPr lang="zh-CN" altLang="en-US" sz="2400" b="1" dirty="0">
                <a:solidFill>
                  <a:srgbClr val="000000"/>
                </a:solidFill>
                <a:latin typeface="楷体_GB2312" pitchFamily="49" charset="-122"/>
                <a:ea typeface="楷体_GB2312" pitchFamily="49" charset="-122"/>
              </a:rPr>
              <a:t>贷：其他业务成本                    </a:t>
            </a:r>
            <a:r>
              <a:rPr lang="en-US" altLang="zh-CN" sz="2400" b="1" dirty="0">
                <a:solidFill>
                  <a:srgbClr val="000000"/>
                </a:solidFill>
                <a:latin typeface="楷体_GB2312" pitchFamily="49" charset="-122"/>
                <a:ea typeface="楷体_GB2312" pitchFamily="49" charset="-122"/>
              </a:rPr>
              <a:t>300000</a:t>
            </a:r>
          </a:p>
        </p:txBody>
      </p:sp>
    </p:spTree>
    <p:extLst>
      <p:ext uri="{BB962C8B-B14F-4D97-AF65-F5344CB8AC3E}">
        <p14:creationId xmlns:p14="http://schemas.microsoft.com/office/powerpoint/2010/main" val="2427905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linds(horizontal)">
                                      <p:cBhvr>
                                        <p:cTn id="7" dur="500"/>
                                        <p:tgtEl>
                                          <p:spTgt spid="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blinds(horizontal)">
                                      <p:cBhvr>
                                        <p:cTn id="10" dur="500"/>
                                        <p:tgtEl>
                                          <p:spTgt spid="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blinds(horizontal)">
                                      <p:cBhvr>
                                        <p:cTn id="15" dur="500"/>
                                        <p:tgtEl>
                                          <p:spTgt spid="7">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blinds(horizontal)">
                                      <p:cBhvr>
                                        <p:cTn id="18" dur="500"/>
                                        <p:tgtEl>
                                          <p:spTgt spid="7">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blinds(horizontal)">
                                      <p:cBhvr>
                                        <p:cTn id="21" dur="500"/>
                                        <p:tgtEl>
                                          <p:spTgt spid="7">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7">
                                            <p:txEl>
                                              <p:pRg st="6" end="6"/>
                                            </p:txEl>
                                          </p:spTgt>
                                        </p:tgtEl>
                                        <p:attrNameLst>
                                          <p:attrName>style.visibility</p:attrName>
                                        </p:attrNameLst>
                                      </p:cBhvr>
                                      <p:to>
                                        <p:strVal val="visible"/>
                                      </p:to>
                                    </p:set>
                                    <p:animEffect transition="in" filter="blinds(horizontal)">
                                      <p:cBhvr>
                                        <p:cTn id="26" dur="500"/>
                                        <p:tgtEl>
                                          <p:spTgt spid="7">
                                            <p:txEl>
                                              <p:pRg st="6" end="6"/>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7">
                                            <p:txEl>
                                              <p:pRg st="7" end="7"/>
                                            </p:txEl>
                                          </p:spTgt>
                                        </p:tgtEl>
                                        <p:attrNameLst>
                                          <p:attrName>style.visibility</p:attrName>
                                        </p:attrNameLst>
                                      </p:cBhvr>
                                      <p:to>
                                        <p:strVal val="visible"/>
                                      </p:to>
                                    </p:set>
                                    <p:animEffect transition="in" filter="blinds(horizontal)">
                                      <p:cBhvr>
                                        <p:cTn id="29" dur="500"/>
                                        <p:tgtEl>
                                          <p:spTgt spid="7">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7">
                                            <p:txEl>
                                              <p:pRg st="8" end="8"/>
                                            </p:txEl>
                                          </p:spTgt>
                                        </p:tgtEl>
                                        <p:attrNameLst>
                                          <p:attrName>style.visibility</p:attrName>
                                        </p:attrNameLst>
                                      </p:cBhvr>
                                      <p:to>
                                        <p:strVal val="visible"/>
                                      </p:to>
                                    </p:set>
                                    <p:animEffect transition="in" filter="blinds(horizontal)">
                                      <p:cBhvr>
                                        <p:cTn id="34" dur="500"/>
                                        <p:tgtEl>
                                          <p:spTgt spid="7">
                                            <p:txEl>
                                              <p:pRg st="8" end="8"/>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7">
                                            <p:txEl>
                                              <p:pRg st="9" end="9"/>
                                            </p:txEl>
                                          </p:spTgt>
                                        </p:tgtEl>
                                        <p:attrNameLst>
                                          <p:attrName>style.visibility</p:attrName>
                                        </p:attrNameLst>
                                      </p:cBhvr>
                                      <p:to>
                                        <p:strVal val="visible"/>
                                      </p:to>
                                    </p:set>
                                    <p:animEffect transition="in" filter="blinds(horizontal)">
                                      <p:cBhvr>
                                        <p:cTn id="37"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354B1-6824-4315-A9A7-29109DC3BA2C}"/>
              </a:ext>
            </a:extLst>
          </p:cNvPr>
          <p:cNvSpPr>
            <a:spLocks noGrp="1"/>
          </p:cNvSpPr>
          <p:nvPr>
            <p:ph type="title"/>
          </p:nvPr>
        </p:nvSpPr>
        <p:spPr/>
        <p:txBody>
          <a:bodyPr/>
          <a:lstStyle/>
          <a:p>
            <a:endParaRPr lang="zh-CN" altLang="en-US"/>
          </a:p>
        </p:txBody>
      </p:sp>
      <p:sp>
        <p:nvSpPr>
          <p:cNvPr id="4" name="WordArt 5">
            <a:extLst>
              <a:ext uri="{FF2B5EF4-FFF2-40B4-BE49-F238E27FC236}">
                <a16:creationId xmlns:a16="http://schemas.microsoft.com/office/drawing/2014/main" id="{9551CCB5-FD62-4020-BEAB-1EAC01525DFC}"/>
              </a:ext>
            </a:extLst>
          </p:cNvPr>
          <p:cNvSpPr>
            <a:spLocks noChangeArrowheads="1" noChangeShapeType="1" noTextEdit="1"/>
          </p:cNvSpPr>
          <p:nvPr/>
        </p:nvSpPr>
        <p:spPr bwMode="auto">
          <a:xfrm>
            <a:off x="3889375" y="2896235"/>
            <a:ext cx="4613275" cy="2183765"/>
          </a:xfrm>
          <a:prstGeom prst="rect">
            <a:avLst/>
          </a:prstGeom>
        </p:spPr>
        <p:txBody>
          <a:bodyPr wrap="none" fromWordArt="1">
            <a:scene3d>
              <a:camera prst="orthographicFront"/>
              <a:lightRig rig="threePt" dir="t"/>
            </a:scene3d>
          </a:bodyPr>
          <a:lstStyle/>
          <a:p>
            <a:pPr algn="ctr"/>
            <a:r>
              <a:rPr lang="zh-CN" altLang="en-US" sz="5400" kern="10" dirty="0">
                <a:ln w="25400">
                  <a:gradFill>
                    <a:gsLst>
                      <a:gs pos="31000">
                        <a:srgbClr val="6D6E85"/>
                      </a:gs>
                      <a:gs pos="66000">
                        <a:srgbClr val="A2C6FF"/>
                      </a:gs>
                      <a:gs pos="45000">
                        <a:srgbClr val="97B8F2"/>
                      </a:gs>
                      <a:gs pos="11000">
                        <a:srgbClr val="ED7D31">
                          <a:lumMod val="20000"/>
                          <a:lumOff val="80000"/>
                        </a:srgbClr>
                      </a:gs>
                      <a:gs pos="100000">
                        <a:srgbClr val="7E6760"/>
                      </a:gs>
                      <a:gs pos="91000">
                        <a:schemeClr val="bg1">
                          <a:lumMod val="50000"/>
                        </a:schemeClr>
                      </a:gs>
                      <a:gs pos="56000">
                        <a:srgbClr val="455C85"/>
                      </a:gs>
                      <a:gs pos="81000">
                        <a:srgbClr val="F8D8CF"/>
                      </a:gs>
                    </a:gsLst>
                  </a:gradFill>
                </a:ln>
                <a:solidFill>
                  <a:schemeClr val="tx2"/>
                </a:solidFill>
                <a:effectLst>
                  <a:outerShdw blurRad="38100" dist="25400" dir="5400000" algn="ctr" rotWithShape="0">
                    <a:srgbClr val="6E747A">
                      <a:alpha val="43000"/>
                    </a:srgbClr>
                  </a:outerShdw>
                </a:effectLst>
                <a:latin typeface="黑体" panose="02010609060101010101" pitchFamily="2" charset="-122"/>
                <a:ea typeface="黑体" panose="02010609060101010101" pitchFamily="2" charset="-122"/>
              </a:rPr>
              <a:t>谢谢大家！</a:t>
            </a:r>
          </a:p>
        </p:txBody>
      </p:sp>
    </p:spTree>
    <p:extLst>
      <p:ext uri="{BB962C8B-B14F-4D97-AF65-F5344CB8AC3E}">
        <p14:creationId xmlns:p14="http://schemas.microsoft.com/office/powerpoint/2010/main" val="3669170656"/>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华文中宋"/>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4327</Words>
  <Application>Microsoft Office PowerPoint</Application>
  <PresentationFormat>宽屏</PresentationFormat>
  <Paragraphs>322</Paragraphs>
  <Slides>43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43</vt:i4>
      </vt:variant>
    </vt:vector>
  </HeadingPairs>
  <TitlesOfParts>
    <vt:vector size="53" baseType="lpstr">
      <vt:lpstr>Arial</vt:lpstr>
      <vt:lpstr>Tahoma</vt:lpstr>
      <vt:lpstr>Wingdings</vt:lpstr>
      <vt:lpstr>仿宋_GB2312</vt:lpstr>
      <vt:lpstr>黑体</vt:lpstr>
      <vt:lpstr>华文新魏</vt:lpstr>
      <vt:lpstr>华文中宋</vt:lpstr>
      <vt:lpstr>楷体_GB2312</vt:lpstr>
      <vt:lpstr>微软雅黑</vt:lpstr>
      <vt:lpstr>Blends</vt:lpstr>
      <vt:lpstr>PowerPoint 演示文稿</vt:lpstr>
      <vt:lpstr>四川长虹2×19年年报——资产负债表</vt:lpstr>
      <vt:lpstr>四川长虹2×19年年报——财务报表附注</vt:lpstr>
      <vt:lpstr>学习提要与目标</vt:lpstr>
      <vt:lpstr>一、投资性房地产概述</vt:lpstr>
      <vt:lpstr>（二）投资性房地产的范围</vt:lpstr>
      <vt:lpstr>二、投资性房地产的取得和初始计量</vt:lpstr>
      <vt:lpstr>二、投资性房地产的取得和初始计量</vt:lpstr>
      <vt:lpstr>（一） 外购投资性房地产</vt:lpstr>
      <vt:lpstr>（一）外购投资性房地产的确认和初始计量</vt:lpstr>
      <vt:lpstr>（二）自行建造投资性房地产</vt:lpstr>
      <vt:lpstr>（二）自行建造投资性房地产</vt:lpstr>
      <vt:lpstr>（三）非投资性房地产转换为投资性房地产的确认和初始计量</vt:lpstr>
      <vt:lpstr>三、投资性房地产的后续计量 </vt:lpstr>
      <vt:lpstr>（一）采用成本模式计量的投资性房地产的后续计量</vt:lpstr>
      <vt:lpstr>（一）采用成本模式计量的投资性房地产的后续计量</vt:lpstr>
      <vt:lpstr>PowerPoint 演示文稿</vt:lpstr>
      <vt:lpstr>（二）采用公允价值模式计量的投资性房地产的后续计量</vt:lpstr>
      <vt:lpstr>（二）采用公允价值模式计量的投资性房地产的后续计量</vt:lpstr>
      <vt:lpstr>（三）投资性房地产后续计量模式的变更</vt:lpstr>
      <vt:lpstr>（四）与投资性房地产有关的后续支出</vt:lpstr>
      <vt:lpstr>（四）与投资性房地产有关的后续支出</vt:lpstr>
      <vt:lpstr>（四）与投资性房地产有关的后续支出</vt:lpstr>
      <vt:lpstr>四、投资性房地产的转换</vt:lpstr>
      <vt:lpstr>（一）投资性房地产的转换形式与转换日</vt:lpstr>
      <vt:lpstr>（二）投资性房地产转换为非投资性房地产</vt:lpstr>
      <vt:lpstr>（二）投资性房地产转换为自用房地产</vt:lpstr>
      <vt:lpstr>（二）投资性房地产转换为自用房地产</vt:lpstr>
      <vt:lpstr>（二）投资性房地产转换为非投资性房地产</vt:lpstr>
      <vt:lpstr>（二）投资性房地产转换为非投资性房地产</vt:lpstr>
      <vt:lpstr>（三）非投资性房地产转换为投资性房地产</vt:lpstr>
      <vt:lpstr>（三）非投资性房地产转换为投资性房地产</vt:lpstr>
      <vt:lpstr>（三）非投资性房地产转换为投资性房地产</vt:lpstr>
      <vt:lpstr>（三）非投资性房地产转换为投资性房地产</vt:lpstr>
      <vt:lpstr>（三）非投资性房地产转换为投资性房地产</vt:lpstr>
      <vt:lpstr>（三）非投资性房地产转换为投资性房地产</vt:lpstr>
      <vt:lpstr>五、投资性房地产的处置</vt:lpstr>
      <vt:lpstr>五、投资性房地产的处置</vt:lpstr>
      <vt:lpstr>五、投资性房地产的处置</vt:lpstr>
      <vt:lpstr>五、投资性房地产的处置</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李晴</dc:creator>
  <cp:lastModifiedBy>毛 新述</cp:lastModifiedBy>
  <cp:revision>41</cp:revision>
  <dcterms:created xsi:type="dcterms:W3CDTF">2020-04-15T04:21:00Z</dcterms:created>
  <dcterms:modified xsi:type="dcterms:W3CDTF">2020-05-03T06:52:59Z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