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0" r:id="rId3"/>
    <p:sldId id="304" r:id="rId5"/>
    <p:sldId id="301" r:id="rId6"/>
    <p:sldId id="306" r:id="rId7"/>
    <p:sldId id="361" r:id="rId8"/>
    <p:sldId id="366" r:id="rId9"/>
    <p:sldId id="310" r:id="rId10"/>
    <p:sldId id="490" r:id="rId11"/>
    <p:sldId id="312" r:id="rId12"/>
    <p:sldId id="491" r:id="rId13"/>
    <p:sldId id="363" r:id="rId14"/>
    <p:sldId id="373" r:id="rId15"/>
    <p:sldId id="368" r:id="rId16"/>
    <p:sldId id="457" r:id="rId17"/>
    <p:sldId id="374" r:id="rId18"/>
    <p:sldId id="364" r:id="rId19"/>
    <p:sldId id="343" r:id="rId20"/>
    <p:sldId id="344" r:id="rId21"/>
    <p:sldId id="346" r:id="rId22"/>
    <p:sldId id="307" r:id="rId23"/>
    <p:sldId id="348" r:id="rId24"/>
    <p:sldId id="350" r:id="rId25"/>
    <p:sldId id="349" r:id="rId26"/>
    <p:sldId id="365" r:id="rId27"/>
    <p:sldId id="376" r:id="rId28"/>
    <p:sldId id="347" r:id="rId29"/>
    <p:sldId id="492" r:id="rId30"/>
    <p:sldId id="308" r:id="rId31"/>
    <p:sldId id="351" r:id="rId32"/>
    <p:sldId id="355" r:id="rId33"/>
    <p:sldId id="354" r:id="rId34"/>
    <p:sldId id="411" r:id="rId35"/>
    <p:sldId id="530" r:id="rId36"/>
    <p:sldId id="353" r:id="rId37"/>
    <p:sldId id="352" r:id="rId38"/>
    <p:sldId id="375" r:id="rId39"/>
    <p:sldId id="396" r:id="rId40"/>
    <p:sldId id="397" r:id="rId41"/>
    <p:sldId id="404" r:id="rId42"/>
    <p:sldId id="398" r:id="rId43"/>
    <p:sldId id="399" r:id="rId44"/>
    <p:sldId id="400" r:id="rId45"/>
    <p:sldId id="401" r:id="rId46"/>
    <p:sldId id="311" r:id="rId47"/>
    <p:sldId id="424" r:id="rId48"/>
    <p:sldId id="303" r:id="rId49"/>
  </p:sldIdLst>
  <p:sldSz cx="12192000" cy="6858000"/>
  <p:notesSz cx="6858000" cy="9144000"/>
  <p:custDataLst>
    <p:tags r:id="rId53"/>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70C1"/>
    <a:srgbClr val="57CAF4"/>
    <a:srgbClr val="D7D8D8"/>
    <a:srgbClr val="E0E2E3"/>
    <a:srgbClr val="C8CA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043"/>
    <p:restoredTop sz="94414"/>
  </p:normalViewPr>
  <p:slideViewPr>
    <p:cSldViewPr snapToGrid="0" showGuides="1">
      <p:cViewPr varScale="1">
        <p:scale>
          <a:sx n="63" d="100"/>
          <a:sy n="63" d="100"/>
        </p:scale>
        <p:origin x="-619" y="-72"/>
      </p:cViewPr>
      <p:guideLst>
        <p:guide orient="horz" pos="2159"/>
        <p:guide pos="3810"/>
      </p:guideLst>
    </p:cSldViewPr>
  </p:slideViewPr>
  <p:notesTextViewPr>
    <p:cViewPr>
      <p:scale>
        <a:sx n="1" d="1"/>
        <a:sy n="1" d="1"/>
      </p:scale>
      <p:origin x="0" y="0"/>
    </p:cViewPr>
  </p:notesTextViewPr>
  <p:sorterViewPr showFormatting="0">
    <p:cViewPr>
      <p:scale>
        <a:sx n="31" d="100"/>
        <a:sy n="31"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gs" Target="tags/tag1.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FD9162C-70E8-4619-8A2E-A9AD4B15844C}" type="doc">
      <dgm:prSet loTypeId="urn:microsoft.com/office/officeart/2005/8/layout/hProcess11#1" loCatId="process" qsTypeId="urn:microsoft.com/office/officeart/2005/8/quickstyle/simple1#3" qsCatId="simple" csTypeId="urn:microsoft.com/office/officeart/2005/8/colors/accent1_1#1" csCatId="accent1" phldr="1"/>
      <dgm:spPr/>
    </dgm:pt>
    <dgm:pt modelId="{D6963620-3137-456E-8204-11D6DFCF5F39}">
      <dgm:prSet phldrT="[文本]" phldr="0" custT="1"/>
      <dgm:spPr/>
      <dgm:t>
        <a:bodyPr vert="horz" wrap="square"/>
        <a:lstStyle/>
        <a:p>
          <a:pPr>
            <a:lnSpc>
              <a:spcPct val="100000"/>
            </a:lnSpc>
            <a:spcBef>
              <a:spcPct val="0"/>
            </a:spcBef>
            <a:spcAft>
              <a:spcPct val="35000"/>
            </a:spcAft>
          </a:pPr>
          <a:r>
            <a:rPr lang="zh-CN" sz="2000" b="1" dirty="0">
              <a:solidFill>
                <a:srgbClr val="1570C1"/>
              </a:solidFill>
              <a:effectLst/>
              <a:uFillTx/>
              <a:latin typeface="微软雅黑" panose="020B0503020204020204" pitchFamily="34" charset="-122"/>
              <a:ea typeface="微软雅黑" panose="020B0503020204020204" pitchFamily="34" charset="-122"/>
              <a:cs typeface="+mn-cs"/>
            </a:rPr>
            <a:t>我们想从事什么业务？</a:t>
          </a:r>
        </a:p>
      </dgm:t>
    </dgm:pt>
    <dgm:pt modelId="{443F34F5-FB8D-4D33-8AD2-9239F8597CB5}" cxnId="{41192D94-29E2-4821-A1FC-C14B32BFDB09}" type="parTrans">
      <dgm:prSet/>
      <dgm:spPr/>
      <dgm:t>
        <a:bodyPr/>
        <a:lstStyle/>
        <a:p>
          <a:endParaRPr lang="zh-CN" altLang="en-US"/>
        </a:p>
      </dgm:t>
    </dgm:pt>
    <dgm:pt modelId="{E4E941A7-8BAE-4CE9-9146-ECEB6E5BFB74}" cxnId="{41192D94-29E2-4821-A1FC-C14B32BFDB09}" type="sibTrans">
      <dgm:prSet/>
      <dgm:spPr/>
      <dgm:t>
        <a:bodyPr/>
        <a:lstStyle/>
        <a:p>
          <a:endParaRPr lang="zh-CN" altLang="en-US"/>
        </a:p>
      </dgm:t>
    </dgm:pt>
    <dgm:pt modelId="{AFDA263F-E5C1-4E0E-8E37-8A96E843A4D4}">
      <dgm:prSet phldrT="[文本]" phldr="0" custT="1"/>
      <dgm:spPr/>
      <dgm:t>
        <a:bodyPr vert="horz" wrap="square"/>
        <a:lstStyle/>
        <a:p>
          <a:pPr>
            <a:lnSpc>
              <a:spcPct val="100000"/>
            </a:lnSpc>
            <a:spcBef>
              <a:spcPct val="0"/>
            </a:spcBef>
            <a:spcAft>
              <a:spcPct val="35000"/>
            </a:spcAft>
          </a:pPr>
          <a:r>
            <a:rPr lang="zh-CN" sz="2000" b="1" dirty="0">
              <a:solidFill>
                <a:srgbClr val="1570C1"/>
              </a:solidFill>
              <a:effectLst/>
              <a:uFillTx/>
              <a:latin typeface="微软雅黑" panose="020B0503020204020204" pitchFamily="34" charset="-122"/>
              <a:ea typeface="微软雅黑" panose="020B0503020204020204" pitchFamily="34" charset="-122"/>
              <a:cs typeface="+mn-cs"/>
            </a:rPr>
            <a:t>去往何处？</a:t>
          </a:r>
        </a:p>
      </dgm:t>
    </dgm:pt>
    <dgm:pt modelId="{FFB599D4-C7FB-410F-96F7-C9DC184DD8CA}" cxnId="{FE6DB360-E892-4A6B-A441-021251433C70}" type="parTrans">
      <dgm:prSet/>
      <dgm:spPr/>
      <dgm:t>
        <a:bodyPr/>
        <a:lstStyle/>
        <a:p>
          <a:endParaRPr lang="zh-CN" altLang="en-US"/>
        </a:p>
      </dgm:t>
    </dgm:pt>
    <dgm:pt modelId="{47A8AFB9-1226-4671-9878-655ED5BDDC81}" cxnId="{FE6DB360-E892-4A6B-A441-021251433C70}" type="sibTrans">
      <dgm:prSet/>
      <dgm:spPr/>
      <dgm:t>
        <a:bodyPr/>
        <a:lstStyle/>
        <a:p>
          <a:endParaRPr lang="zh-CN" altLang="en-US"/>
        </a:p>
      </dgm:t>
    </dgm:pt>
    <dgm:pt modelId="{0EFBAF75-817F-43FF-8F28-FCA7A018C910}">
      <dgm:prSet phldrT="[文本]" phldr="0" custT="1"/>
      <dgm:spPr/>
      <dgm:t>
        <a:bodyPr vert="horz" wrap="square"/>
        <a:lstStyle/>
        <a:p>
          <a:pPr>
            <a:lnSpc>
              <a:spcPct val="100000"/>
            </a:lnSpc>
            <a:spcBef>
              <a:spcPct val="0"/>
            </a:spcBef>
            <a:spcAft>
              <a:spcPct val="35000"/>
            </a:spcAft>
          </a:pPr>
          <a:r>
            <a:rPr lang="zh-CN" altLang="en-US" sz="2000" b="1" dirty="0">
              <a:solidFill>
                <a:srgbClr val="1570C1"/>
              </a:solidFill>
              <a:effectLst/>
              <a:uFillTx/>
              <a:latin typeface="微软雅黑" panose="020B0503020204020204" pitchFamily="34" charset="-122"/>
              <a:ea typeface="微软雅黑" panose="020B0503020204020204" pitchFamily="34" charset="-122"/>
              <a:cs typeface="+mn-cs"/>
            </a:rPr>
            <a:t>我们在尽力创造一个什么样的公司？</a:t>
          </a:r>
        </a:p>
      </dgm:t>
    </dgm:pt>
    <dgm:pt modelId="{E3B52999-8FBE-4954-B981-1B2C291437AA}" cxnId="{42DCB7C6-9185-4888-8F68-C7893B852B39}" type="parTrans">
      <dgm:prSet/>
      <dgm:spPr/>
      <dgm:t>
        <a:bodyPr/>
        <a:lstStyle/>
        <a:p>
          <a:endParaRPr lang="zh-CN" altLang="en-US"/>
        </a:p>
      </dgm:t>
    </dgm:pt>
    <dgm:pt modelId="{58684A29-F451-4D66-905C-875D289D1649}" cxnId="{42DCB7C6-9185-4888-8F68-C7893B852B39}" type="sibTrans">
      <dgm:prSet/>
      <dgm:spPr/>
      <dgm:t>
        <a:bodyPr/>
        <a:lstStyle/>
        <a:p>
          <a:endParaRPr lang="zh-CN" altLang="en-US"/>
        </a:p>
      </dgm:t>
    </dgm:pt>
    <dgm:pt modelId="{63C12D6D-B202-4119-A8D4-3BE74DDD0403}" type="pres">
      <dgm:prSet presAssocID="{FFD9162C-70E8-4619-8A2E-A9AD4B15844C}" presName="Name0" presStyleCnt="0">
        <dgm:presLayoutVars>
          <dgm:dir/>
          <dgm:resizeHandles val="exact"/>
        </dgm:presLayoutVars>
      </dgm:prSet>
      <dgm:spPr/>
    </dgm:pt>
    <dgm:pt modelId="{CE7BFD10-A619-4172-951D-F8CCFEDC7C18}" type="pres">
      <dgm:prSet presAssocID="{FFD9162C-70E8-4619-8A2E-A9AD4B15844C}" presName="arrow" presStyleLbl="bgShp" presStyleIdx="0" presStyleCnt="1"/>
      <dgm:spPr>
        <a:xfrm>
          <a:off x="0" y="1219199"/>
          <a:ext cx="7776864" cy="1625600"/>
        </a:xfrm>
        <a:prstGeom prst="notchedRightArrow">
          <a:avLst/>
        </a:prstGeom>
        <a:solidFill>
          <a:srgbClr val="0070C0">
            <a:alpha val="51000"/>
          </a:srgbClr>
        </a:solidFill>
        <a:ln>
          <a:noFill/>
        </a:ln>
        <a:effectLst/>
      </dgm:spPr>
    </dgm:pt>
    <dgm:pt modelId="{4B146598-8248-40F8-89A6-74C5414C49F9}" type="pres">
      <dgm:prSet presAssocID="{FFD9162C-70E8-4619-8A2E-A9AD4B15844C}" presName="points" presStyleCnt="0"/>
      <dgm:spPr/>
    </dgm:pt>
    <dgm:pt modelId="{78F0B81E-3EA9-456D-B685-64C3E470C288}" type="pres">
      <dgm:prSet presAssocID="{D6963620-3137-456E-8204-11D6DFCF5F39}" presName="compositeA" presStyleCnt="0"/>
      <dgm:spPr/>
    </dgm:pt>
    <dgm:pt modelId="{6B83EB3D-DD9D-43F6-99E5-D502A36A62EB}" type="pres">
      <dgm:prSet presAssocID="{D6963620-3137-456E-8204-11D6DFCF5F39}" presName="textA" presStyleLbl="revTx" presStyleIdx="0" presStyleCnt="3">
        <dgm:presLayoutVars>
          <dgm:bulletEnabled val="1"/>
        </dgm:presLayoutVars>
      </dgm:prSet>
      <dgm:spPr/>
      <dgm:t>
        <a:bodyPr/>
        <a:lstStyle/>
        <a:p>
          <a:endParaRPr lang="zh-CN" altLang="en-US"/>
        </a:p>
      </dgm:t>
    </dgm:pt>
    <dgm:pt modelId="{3A748C17-0099-4459-86CD-1C2BA6980C1E}" type="pres">
      <dgm:prSet presAssocID="{D6963620-3137-456E-8204-11D6DFCF5F39}" presName="circleA" presStyleLbl="node1" presStyleIdx="0" presStyleCnt="3"/>
      <dgm:spPr/>
    </dgm:pt>
    <dgm:pt modelId="{1C33C708-D858-4296-AE8E-4A040C1A0903}" type="pres">
      <dgm:prSet presAssocID="{D6963620-3137-456E-8204-11D6DFCF5F39}" presName="spaceA" presStyleCnt="0"/>
      <dgm:spPr/>
    </dgm:pt>
    <dgm:pt modelId="{A617D830-DE6C-486C-8FDE-BE2E910F88FD}" type="pres">
      <dgm:prSet presAssocID="{E4E941A7-8BAE-4CE9-9146-ECEB6E5BFB74}" presName="space" presStyleCnt="0"/>
      <dgm:spPr/>
    </dgm:pt>
    <dgm:pt modelId="{DFB40159-C3A5-430E-BA08-43A8B39C726C}" type="pres">
      <dgm:prSet presAssocID="{AFDA263F-E5C1-4E0E-8E37-8A96E843A4D4}" presName="compositeB" presStyleCnt="0"/>
      <dgm:spPr/>
    </dgm:pt>
    <dgm:pt modelId="{A5B67A2F-FFD2-4F03-A5EE-9411954B7310}" type="pres">
      <dgm:prSet presAssocID="{AFDA263F-E5C1-4E0E-8E37-8A96E843A4D4}" presName="textB" presStyleLbl="revTx" presStyleIdx="1" presStyleCnt="3">
        <dgm:presLayoutVars>
          <dgm:bulletEnabled val="1"/>
        </dgm:presLayoutVars>
      </dgm:prSet>
      <dgm:spPr/>
      <dgm:t>
        <a:bodyPr/>
        <a:lstStyle/>
        <a:p>
          <a:endParaRPr lang="zh-CN" altLang="en-US"/>
        </a:p>
      </dgm:t>
    </dgm:pt>
    <dgm:pt modelId="{892A3AD5-4FE6-4CDC-BFE7-5888B1E7C217}" type="pres">
      <dgm:prSet presAssocID="{AFDA263F-E5C1-4E0E-8E37-8A96E843A4D4}" presName="circleB" presStyleLbl="node1" presStyleIdx="1" presStyleCnt="3"/>
      <dgm:spPr/>
    </dgm:pt>
    <dgm:pt modelId="{A6335314-F5D1-41B0-9ED4-D214C54067CC}" type="pres">
      <dgm:prSet presAssocID="{AFDA263F-E5C1-4E0E-8E37-8A96E843A4D4}" presName="spaceB" presStyleCnt="0"/>
      <dgm:spPr/>
    </dgm:pt>
    <dgm:pt modelId="{5534F564-95C4-4777-B5C1-C4AECD928461}" type="pres">
      <dgm:prSet presAssocID="{47A8AFB9-1226-4671-9878-655ED5BDDC81}" presName="space" presStyleCnt="0"/>
      <dgm:spPr/>
    </dgm:pt>
    <dgm:pt modelId="{64BD780B-41CF-4FFA-8B31-36A4BA90C243}" type="pres">
      <dgm:prSet presAssocID="{0EFBAF75-817F-43FF-8F28-FCA7A018C910}" presName="compositeA" presStyleCnt="0"/>
      <dgm:spPr/>
    </dgm:pt>
    <dgm:pt modelId="{B3A2E61F-FB8B-4512-BDD0-61E7FF34F93F}" type="pres">
      <dgm:prSet presAssocID="{0EFBAF75-817F-43FF-8F28-FCA7A018C910}" presName="textA" presStyleLbl="revTx" presStyleIdx="2" presStyleCnt="3">
        <dgm:presLayoutVars>
          <dgm:bulletEnabled val="1"/>
        </dgm:presLayoutVars>
      </dgm:prSet>
      <dgm:spPr/>
      <dgm:t>
        <a:bodyPr/>
        <a:lstStyle/>
        <a:p>
          <a:endParaRPr lang="zh-CN" altLang="en-US"/>
        </a:p>
      </dgm:t>
    </dgm:pt>
    <dgm:pt modelId="{B410CD31-2792-4081-93C8-04156DF82230}" type="pres">
      <dgm:prSet presAssocID="{0EFBAF75-817F-43FF-8F28-FCA7A018C910}" presName="circleA" presStyleLbl="node1" presStyleIdx="2" presStyleCnt="3"/>
      <dgm:spPr/>
    </dgm:pt>
    <dgm:pt modelId="{C622897D-5E54-452A-9A6D-F2CA0FBCBC16}" type="pres">
      <dgm:prSet presAssocID="{0EFBAF75-817F-43FF-8F28-FCA7A018C910}" presName="spaceA" presStyleCnt="0"/>
      <dgm:spPr/>
    </dgm:pt>
  </dgm:ptLst>
  <dgm:cxnLst>
    <dgm:cxn modelId="{397A4746-D566-4981-8F64-EA800354FB55}" type="presOf" srcId="{AFDA263F-E5C1-4E0E-8E37-8A96E843A4D4}" destId="{A5B67A2F-FFD2-4F03-A5EE-9411954B7310}" srcOrd="0" destOrd="0" presId="urn:microsoft.com/office/officeart/2005/8/layout/hProcess11#1"/>
    <dgm:cxn modelId="{42DCB7C6-9185-4888-8F68-C7893B852B39}" srcId="{FFD9162C-70E8-4619-8A2E-A9AD4B15844C}" destId="{0EFBAF75-817F-43FF-8F28-FCA7A018C910}" srcOrd="2" destOrd="0" parTransId="{E3B52999-8FBE-4954-B981-1B2C291437AA}" sibTransId="{58684A29-F451-4D66-905C-875D289D1649}"/>
    <dgm:cxn modelId="{41192D94-29E2-4821-A1FC-C14B32BFDB09}" srcId="{FFD9162C-70E8-4619-8A2E-A9AD4B15844C}" destId="{D6963620-3137-456E-8204-11D6DFCF5F39}" srcOrd="0" destOrd="0" parTransId="{443F34F5-FB8D-4D33-8AD2-9239F8597CB5}" sibTransId="{E4E941A7-8BAE-4CE9-9146-ECEB6E5BFB74}"/>
    <dgm:cxn modelId="{314808BC-5D89-44B3-82F2-1604D376F021}" type="presOf" srcId="{D6963620-3137-456E-8204-11D6DFCF5F39}" destId="{6B83EB3D-DD9D-43F6-99E5-D502A36A62EB}" srcOrd="0" destOrd="0" presId="urn:microsoft.com/office/officeart/2005/8/layout/hProcess11#1"/>
    <dgm:cxn modelId="{0193005B-B972-4007-9331-3B1D4D84BE86}" type="presOf" srcId="{0EFBAF75-817F-43FF-8F28-FCA7A018C910}" destId="{B3A2E61F-FB8B-4512-BDD0-61E7FF34F93F}" srcOrd="0" destOrd="0" presId="urn:microsoft.com/office/officeart/2005/8/layout/hProcess11#1"/>
    <dgm:cxn modelId="{FE6DB360-E892-4A6B-A441-021251433C70}" srcId="{FFD9162C-70E8-4619-8A2E-A9AD4B15844C}" destId="{AFDA263F-E5C1-4E0E-8E37-8A96E843A4D4}" srcOrd="1" destOrd="0" parTransId="{FFB599D4-C7FB-410F-96F7-C9DC184DD8CA}" sibTransId="{47A8AFB9-1226-4671-9878-655ED5BDDC81}"/>
    <dgm:cxn modelId="{35E03186-9418-435B-AE16-437A48AB6C7A}" type="presOf" srcId="{FFD9162C-70E8-4619-8A2E-A9AD4B15844C}" destId="{63C12D6D-B202-4119-A8D4-3BE74DDD0403}" srcOrd="0" destOrd="0" presId="urn:microsoft.com/office/officeart/2005/8/layout/hProcess11#1"/>
    <dgm:cxn modelId="{0FDF6DBF-B1EB-4658-8FBB-B7FFF4FCFE8F}" type="presParOf" srcId="{63C12D6D-B202-4119-A8D4-3BE74DDD0403}" destId="{CE7BFD10-A619-4172-951D-F8CCFEDC7C18}" srcOrd="0" destOrd="0" presId="urn:microsoft.com/office/officeart/2005/8/layout/hProcess11#1"/>
    <dgm:cxn modelId="{989A5AC7-480C-4F52-8B69-8DCFECD1D760}" type="presParOf" srcId="{63C12D6D-B202-4119-A8D4-3BE74DDD0403}" destId="{4B146598-8248-40F8-89A6-74C5414C49F9}" srcOrd="1" destOrd="0" presId="urn:microsoft.com/office/officeart/2005/8/layout/hProcess11#1"/>
    <dgm:cxn modelId="{0C2C70CC-1441-4477-A0F5-A1A6CBCF2EAA}" type="presParOf" srcId="{4B146598-8248-40F8-89A6-74C5414C49F9}" destId="{78F0B81E-3EA9-456D-B685-64C3E470C288}" srcOrd="0" destOrd="0" presId="urn:microsoft.com/office/officeart/2005/8/layout/hProcess11#1"/>
    <dgm:cxn modelId="{F0297C92-EAA6-4A66-9FE0-E48AE064C10A}" type="presParOf" srcId="{78F0B81E-3EA9-456D-B685-64C3E470C288}" destId="{6B83EB3D-DD9D-43F6-99E5-D502A36A62EB}" srcOrd="0" destOrd="0" presId="urn:microsoft.com/office/officeart/2005/8/layout/hProcess11#1"/>
    <dgm:cxn modelId="{13B39839-8FCE-4D12-A283-4251400DC715}" type="presParOf" srcId="{78F0B81E-3EA9-456D-B685-64C3E470C288}" destId="{3A748C17-0099-4459-86CD-1C2BA6980C1E}" srcOrd="1" destOrd="0" presId="urn:microsoft.com/office/officeart/2005/8/layout/hProcess11#1"/>
    <dgm:cxn modelId="{7F8878BD-B3D3-4997-9FEC-68C4AC32B5B5}" type="presParOf" srcId="{78F0B81E-3EA9-456D-B685-64C3E470C288}" destId="{1C33C708-D858-4296-AE8E-4A040C1A0903}" srcOrd="2" destOrd="0" presId="urn:microsoft.com/office/officeart/2005/8/layout/hProcess11#1"/>
    <dgm:cxn modelId="{25924A2D-B09F-41DF-9B0F-938CEA9BCC3E}" type="presParOf" srcId="{4B146598-8248-40F8-89A6-74C5414C49F9}" destId="{A617D830-DE6C-486C-8FDE-BE2E910F88FD}" srcOrd="1" destOrd="0" presId="urn:microsoft.com/office/officeart/2005/8/layout/hProcess11#1"/>
    <dgm:cxn modelId="{3EB2E68F-7899-4176-84EF-F2C4110519CD}" type="presParOf" srcId="{4B146598-8248-40F8-89A6-74C5414C49F9}" destId="{DFB40159-C3A5-430E-BA08-43A8B39C726C}" srcOrd="2" destOrd="0" presId="urn:microsoft.com/office/officeart/2005/8/layout/hProcess11#1"/>
    <dgm:cxn modelId="{E0C364A9-F775-4DD4-9795-EF8FFD4BB999}" type="presParOf" srcId="{DFB40159-C3A5-430E-BA08-43A8B39C726C}" destId="{A5B67A2F-FFD2-4F03-A5EE-9411954B7310}" srcOrd="0" destOrd="0" presId="urn:microsoft.com/office/officeart/2005/8/layout/hProcess11#1"/>
    <dgm:cxn modelId="{41B870BC-B359-498F-AA64-7F63A4569768}" type="presParOf" srcId="{DFB40159-C3A5-430E-BA08-43A8B39C726C}" destId="{892A3AD5-4FE6-4CDC-BFE7-5888B1E7C217}" srcOrd="1" destOrd="0" presId="urn:microsoft.com/office/officeart/2005/8/layout/hProcess11#1"/>
    <dgm:cxn modelId="{BB021E14-7FF0-41B5-80D8-8FF8F8381D27}" type="presParOf" srcId="{DFB40159-C3A5-430E-BA08-43A8B39C726C}" destId="{A6335314-F5D1-41B0-9ED4-D214C54067CC}" srcOrd="2" destOrd="0" presId="urn:microsoft.com/office/officeart/2005/8/layout/hProcess11#1"/>
    <dgm:cxn modelId="{A3D5FCBE-9C9D-4085-BFE8-3DCCA4912CAE}" type="presParOf" srcId="{4B146598-8248-40F8-89A6-74C5414C49F9}" destId="{5534F564-95C4-4777-B5C1-C4AECD928461}" srcOrd="3" destOrd="0" presId="urn:microsoft.com/office/officeart/2005/8/layout/hProcess11#1"/>
    <dgm:cxn modelId="{A0FD0FB7-BCCD-4DEC-BD84-3EE63DB77935}" type="presParOf" srcId="{4B146598-8248-40F8-89A6-74C5414C49F9}" destId="{64BD780B-41CF-4FFA-8B31-36A4BA90C243}" srcOrd="4" destOrd="0" presId="urn:microsoft.com/office/officeart/2005/8/layout/hProcess11#1"/>
    <dgm:cxn modelId="{2083B42B-EF05-41C2-B2C7-E460DDC0E615}" type="presParOf" srcId="{64BD780B-41CF-4FFA-8B31-36A4BA90C243}" destId="{B3A2E61F-FB8B-4512-BDD0-61E7FF34F93F}" srcOrd="0" destOrd="0" presId="urn:microsoft.com/office/officeart/2005/8/layout/hProcess11#1"/>
    <dgm:cxn modelId="{4D584CBD-40E5-47D5-A09A-BA75CBFEFA9C}" type="presParOf" srcId="{64BD780B-41CF-4FFA-8B31-36A4BA90C243}" destId="{B410CD31-2792-4081-93C8-04156DF82230}" srcOrd="1" destOrd="0" presId="urn:microsoft.com/office/officeart/2005/8/layout/hProcess11#1"/>
    <dgm:cxn modelId="{8F19864E-D4F9-4F08-B14C-CE5A84E094F8}" type="presParOf" srcId="{64BD780B-41CF-4FFA-8B31-36A4BA90C243}" destId="{C622897D-5E54-452A-9A6D-F2CA0FBCBC16}" srcOrd="2" destOrd="0" presId="urn:microsoft.com/office/officeart/2005/8/layout/hProcess11#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FD10-A619-4172-951D-F8CCFEDC7C18}">
      <dsp:nvSpPr>
        <dsp:cNvPr id="0" name=""/>
        <dsp:cNvSpPr/>
      </dsp:nvSpPr>
      <dsp:spPr>
        <a:xfrm>
          <a:off x="0" y="1219199"/>
          <a:ext cx="5589904" cy="1625600"/>
        </a:xfrm>
        <a:prstGeom prst="notchedRightArrow">
          <a:avLst/>
        </a:prstGeom>
        <a:solidFill>
          <a:srgbClr val="0070C0">
            <a:alpha val="51000"/>
          </a:srgbClr>
        </a:solidFill>
        <a:ln>
          <a:noFill/>
        </a:ln>
        <a:effectLst/>
      </dsp:spPr>
      <dsp:style>
        <a:lnRef idx="0">
          <a:scrgbClr r="0" g="0" b="0"/>
        </a:lnRef>
        <a:fillRef idx="1">
          <a:scrgbClr r="0" g="0" b="0"/>
        </a:fillRef>
        <a:effectRef idx="0">
          <a:scrgbClr r="0" g="0" b="0"/>
        </a:effectRef>
        <a:fontRef idx="minor"/>
      </dsp:style>
    </dsp:sp>
    <dsp:sp modelId="{6B83EB3D-DD9D-43F6-99E5-D502A36A62EB}">
      <dsp:nvSpPr>
        <dsp:cNvPr id="0" name=""/>
        <dsp:cNvSpPr/>
      </dsp:nvSpPr>
      <dsp:spPr>
        <a:xfrm>
          <a:off x="2456" y="0"/>
          <a:ext cx="1621290" cy="162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lvl="0" algn="ctr" defTabSz="889000">
            <a:lnSpc>
              <a:spcPct val="100000"/>
            </a:lnSpc>
            <a:spcBef>
              <a:spcPct val="0"/>
            </a:spcBef>
            <a:spcAft>
              <a:spcPct val="35000"/>
            </a:spcAft>
          </a:pPr>
          <a:r>
            <a:rPr lang="zh-CN" sz="2000" b="1" kern="1200" dirty="0">
              <a:solidFill>
                <a:srgbClr val="1570C1"/>
              </a:solidFill>
              <a:effectLst/>
              <a:uFillTx/>
              <a:latin typeface="微软雅黑" panose="020B0503020204020204" pitchFamily="34" charset="-122"/>
              <a:ea typeface="微软雅黑" panose="020B0503020204020204" pitchFamily="34" charset="-122"/>
              <a:cs typeface="+mn-cs"/>
            </a:rPr>
            <a:t>我们想从事什么业务？</a:t>
          </a:r>
        </a:p>
      </dsp:txBody>
      <dsp:txXfrm>
        <a:off x="2456" y="0"/>
        <a:ext cx="1621290" cy="1625600"/>
      </dsp:txXfrm>
    </dsp:sp>
    <dsp:sp modelId="{3A748C17-0099-4459-86CD-1C2BA6980C1E}">
      <dsp:nvSpPr>
        <dsp:cNvPr id="0" name=""/>
        <dsp:cNvSpPr/>
      </dsp:nvSpPr>
      <dsp:spPr>
        <a:xfrm>
          <a:off x="609901" y="1828800"/>
          <a:ext cx="406400" cy="40640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B67A2F-FFD2-4F03-A5EE-9411954B7310}">
      <dsp:nvSpPr>
        <dsp:cNvPr id="0" name=""/>
        <dsp:cNvSpPr/>
      </dsp:nvSpPr>
      <dsp:spPr>
        <a:xfrm>
          <a:off x="1704811" y="2438399"/>
          <a:ext cx="1621290" cy="162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lvl="0" algn="ctr" defTabSz="889000">
            <a:lnSpc>
              <a:spcPct val="100000"/>
            </a:lnSpc>
            <a:spcBef>
              <a:spcPct val="0"/>
            </a:spcBef>
            <a:spcAft>
              <a:spcPct val="35000"/>
            </a:spcAft>
          </a:pPr>
          <a:r>
            <a:rPr lang="zh-CN" sz="2000" b="1" kern="1200" dirty="0">
              <a:solidFill>
                <a:srgbClr val="1570C1"/>
              </a:solidFill>
              <a:effectLst/>
              <a:uFillTx/>
              <a:latin typeface="微软雅黑" panose="020B0503020204020204" pitchFamily="34" charset="-122"/>
              <a:ea typeface="微软雅黑" panose="020B0503020204020204" pitchFamily="34" charset="-122"/>
              <a:cs typeface="+mn-cs"/>
            </a:rPr>
            <a:t>去往何处？</a:t>
          </a:r>
        </a:p>
      </dsp:txBody>
      <dsp:txXfrm>
        <a:off x="1704811" y="2438399"/>
        <a:ext cx="1621290" cy="1625600"/>
      </dsp:txXfrm>
    </dsp:sp>
    <dsp:sp modelId="{892A3AD5-4FE6-4CDC-BFE7-5888B1E7C217}">
      <dsp:nvSpPr>
        <dsp:cNvPr id="0" name=""/>
        <dsp:cNvSpPr/>
      </dsp:nvSpPr>
      <dsp:spPr>
        <a:xfrm>
          <a:off x="2312257" y="1828800"/>
          <a:ext cx="406400" cy="40640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A2E61F-FB8B-4512-BDD0-61E7FF34F93F}">
      <dsp:nvSpPr>
        <dsp:cNvPr id="0" name=""/>
        <dsp:cNvSpPr/>
      </dsp:nvSpPr>
      <dsp:spPr>
        <a:xfrm>
          <a:off x="3407167" y="0"/>
          <a:ext cx="1621290" cy="162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lvl="0" algn="ctr" defTabSz="889000">
            <a:lnSpc>
              <a:spcPct val="100000"/>
            </a:lnSpc>
            <a:spcBef>
              <a:spcPct val="0"/>
            </a:spcBef>
            <a:spcAft>
              <a:spcPct val="35000"/>
            </a:spcAft>
          </a:pPr>
          <a:r>
            <a:rPr lang="zh-CN" altLang="en-US" sz="2000" b="1" kern="1200" dirty="0">
              <a:solidFill>
                <a:srgbClr val="1570C1"/>
              </a:solidFill>
              <a:effectLst/>
              <a:uFillTx/>
              <a:latin typeface="微软雅黑" panose="020B0503020204020204" pitchFamily="34" charset="-122"/>
              <a:ea typeface="微软雅黑" panose="020B0503020204020204" pitchFamily="34" charset="-122"/>
              <a:cs typeface="+mn-cs"/>
            </a:rPr>
            <a:t>我们在尽力创造一个什么样的公司？</a:t>
          </a:r>
        </a:p>
      </dsp:txBody>
      <dsp:txXfrm>
        <a:off x="3407167" y="0"/>
        <a:ext cx="1621290" cy="1625600"/>
      </dsp:txXfrm>
    </dsp:sp>
    <dsp:sp modelId="{B410CD31-2792-4081-93C8-04156DF82230}">
      <dsp:nvSpPr>
        <dsp:cNvPr id="0" name=""/>
        <dsp:cNvSpPr/>
      </dsp:nvSpPr>
      <dsp:spPr>
        <a:xfrm>
          <a:off x="4014612" y="1828800"/>
          <a:ext cx="406400" cy="40640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1">
  <dgm:title val=""/>
  <dgm:desc val=""/>
  <dgm:catLst>
    <dgm:cat type="process" pri="8000"/>
    <dgm:cat type="convert" pri="14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type="notchedRightArrow" r:blip="" rot="180">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HorzCh" val="ctr"/>
                  <dgm:param type="txAnchorVertCh" val="b"/>
                  <dgm:param type="txAnchorVert" val="b"/>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HorzCh" val="ctr"/>
                  <dgm:param type="txAnchorVertCh" val="t"/>
                  <dgm:param type="txAnchorVert" val="t"/>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0" hangingPunct="0">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26E1C6C8-5AD9-4B83-9D90-500ED34E5680}" type="datetimeFigureOut">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fontAlgn="base">
              <a:buNone/>
            </a:pPr>
            <a:fld id="{9A0DB2DC-4C9A-4742-B13C-FB6460FD3503}" type="slidenum">
              <a:rPr lang="zh-CN" altLang="en-US" sz="1200" strike="noStrike" noProof="1" dirty="0">
                <a:latin typeface="Calibri" panose="020F0502020204030204" pitchFamily="34"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幻灯片图像占位符 1"/>
          <p:cNvSpPr>
            <a:spLocks noGrp="1" noRot="1" noChangeAspect="1" noTextEdit="1"/>
          </p:cNvSpPr>
          <p:nvPr>
            <p:ph type="sldImg"/>
          </p:nvPr>
        </p:nvSpPr>
        <p:spPr>
          <a:ln>
            <a:solidFill>
              <a:srgbClr val="000000"/>
            </a:solidFill>
            <a:miter/>
          </a:ln>
        </p:spPr>
      </p:sp>
      <p:sp>
        <p:nvSpPr>
          <p:cNvPr id="16386"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1638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幻灯片图像占位符 1"/>
          <p:cNvSpPr>
            <a:spLocks noGrp="1" noRot="1" noChangeAspect="1" noTextEdit="1"/>
          </p:cNvSpPr>
          <p:nvPr>
            <p:ph type="sldImg"/>
          </p:nvPr>
        </p:nvSpPr>
        <p:spPr>
          <a:ln>
            <a:solidFill>
              <a:srgbClr val="000000"/>
            </a:solidFill>
            <a:miter/>
          </a:ln>
        </p:spPr>
      </p:sp>
      <p:sp>
        <p:nvSpPr>
          <p:cNvPr id="19458" name="备注占位符 2"/>
          <p:cNvSpPr>
            <a:spLocks noGrp="1"/>
          </p:cNvSpPr>
          <p:nvPr>
            <p:ph type="body"/>
          </p:nvPr>
        </p:nvSpPr>
        <p:spPr>
          <a:noFill/>
          <a:ln>
            <a:noFill/>
          </a:ln>
        </p:spPr>
        <p:txBody>
          <a:bodyPr wrap="square" lIns="91440" tIns="45720" rIns="91440" bIns="45720" anchor="t" anchorCtr="0"/>
          <a:p>
            <a:pPr lvl="0" eaLnBrk="1" hangingPunct="1"/>
            <a:r>
              <a:rPr lang="zh-CN" altLang="en-US" dirty="0"/>
              <a:t>字号可根据</a:t>
            </a:r>
            <a:endParaRPr lang="zh-CN" altLang="en-US" dirty="0"/>
          </a:p>
        </p:txBody>
      </p:sp>
      <p:sp>
        <p:nvSpPr>
          <p:cNvPr id="194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幻灯片图像占位符 1"/>
          <p:cNvSpPr>
            <a:spLocks noGrp="1" noRot="1" noChangeAspect="1" noTextEdit="1"/>
          </p:cNvSpPr>
          <p:nvPr>
            <p:ph type="sldImg"/>
          </p:nvPr>
        </p:nvSpPr>
        <p:spPr>
          <a:ln>
            <a:solidFill>
              <a:srgbClr val="000000"/>
            </a:solidFill>
            <a:miter/>
          </a:ln>
        </p:spPr>
      </p:sp>
      <p:sp>
        <p:nvSpPr>
          <p:cNvPr id="21506" name="备注占位符 2"/>
          <p:cNvSpPr>
            <a:spLocks noGrp="1"/>
          </p:cNvSpPr>
          <p:nvPr>
            <p:ph type="body"/>
          </p:nvPr>
        </p:nvSpPr>
        <p:spPr>
          <a:noFill/>
          <a:ln>
            <a:noFill/>
          </a:ln>
        </p:spPr>
        <p:txBody>
          <a:bodyPr wrap="square" lIns="91440" tIns="45720" rIns="91440" bIns="45720" anchor="t" anchorCtr="0"/>
          <a:p>
            <a:pPr lvl="0" eaLnBrk="1" hangingPunct="1"/>
            <a:endParaRPr lang="zh-CN" altLang="en-US" dirty="0"/>
          </a:p>
        </p:txBody>
      </p:sp>
      <p:sp>
        <p:nvSpPr>
          <p:cNvPr id="215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幻灯片图像占位符 1"/>
          <p:cNvSpPr>
            <a:spLocks noGrp="1" noRot="1" noChangeAspect="1" noTextEdit="1"/>
          </p:cNvSpPr>
          <p:nvPr>
            <p:ph type="sldImg"/>
          </p:nvPr>
        </p:nvSpPr>
        <p:spPr>
          <a:ln>
            <a:solidFill>
              <a:srgbClr val="000000"/>
            </a:solidFill>
            <a:miter/>
          </a:ln>
        </p:spPr>
      </p:sp>
      <p:sp>
        <p:nvSpPr>
          <p:cNvPr id="2560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256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276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幻灯片图像占位符 1"/>
          <p:cNvSpPr>
            <a:spLocks noGrp="1" noRot="1" noChangeAspect="1" noTextEdit="1"/>
          </p:cNvSpPr>
          <p:nvPr>
            <p:ph type="sldImg"/>
          </p:nvPr>
        </p:nvSpPr>
        <p:spPr>
          <a:ln>
            <a:solidFill>
              <a:srgbClr val="000000"/>
            </a:solidFill>
            <a:miter/>
          </a:ln>
        </p:spPr>
      </p:sp>
      <p:sp>
        <p:nvSpPr>
          <p:cNvPr id="3789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378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幻灯片图像占位符 1"/>
          <p:cNvSpPr>
            <a:spLocks noGrp="1" noRot="1" noChangeAspect="1" noTextEdit="1"/>
          </p:cNvSpPr>
          <p:nvPr>
            <p:ph type="sldImg"/>
          </p:nvPr>
        </p:nvSpPr>
        <p:spPr>
          <a:ln>
            <a:solidFill>
              <a:srgbClr val="000000"/>
            </a:solidFill>
            <a:miter/>
          </a:ln>
        </p:spPr>
      </p:sp>
      <p:sp>
        <p:nvSpPr>
          <p:cNvPr id="3993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3993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幻灯片图像占位符 1"/>
          <p:cNvSpPr>
            <a:spLocks noGrp="1" noRot="1" noChangeAspect="1" noTextEdit="1"/>
          </p:cNvSpPr>
          <p:nvPr>
            <p:ph type="sldImg"/>
          </p:nvPr>
        </p:nvSpPr>
        <p:spPr>
          <a:ln>
            <a:solidFill>
              <a:srgbClr val="000000"/>
            </a:solidFill>
            <a:miter/>
          </a:ln>
        </p:spPr>
      </p:sp>
      <p:sp>
        <p:nvSpPr>
          <p:cNvPr id="4198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198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幻灯片图像占位符 1"/>
          <p:cNvSpPr>
            <a:spLocks noGrp="1" noRot="1" noChangeAspect="1" noTextEdit="1"/>
          </p:cNvSpPr>
          <p:nvPr>
            <p:ph type="sldImg"/>
          </p:nvPr>
        </p:nvSpPr>
        <p:spPr>
          <a:ln>
            <a:solidFill>
              <a:srgbClr val="000000"/>
            </a:solidFill>
            <a:miter/>
          </a:ln>
        </p:spPr>
      </p:sp>
      <p:sp>
        <p:nvSpPr>
          <p:cNvPr id="4505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50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幻灯片图像占位符 1"/>
          <p:cNvSpPr>
            <a:spLocks noGrp="1" noRot="1" noChangeAspect="1" noTextEdit="1"/>
          </p:cNvSpPr>
          <p:nvPr>
            <p:ph type="sldImg"/>
          </p:nvPr>
        </p:nvSpPr>
        <p:spPr>
          <a:ln>
            <a:solidFill>
              <a:srgbClr val="000000"/>
            </a:solidFill>
            <a:miter/>
          </a:ln>
        </p:spPr>
      </p:sp>
      <p:sp>
        <p:nvSpPr>
          <p:cNvPr id="4710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71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幻灯片图像占位符 1"/>
          <p:cNvSpPr>
            <a:spLocks noGrp="1" noRot="1" noChangeAspect="1" noTextEdit="1"/>
          </p:cNvSpPr>
          <p:nvPr>
            <p:ph type="sldImg"/>
          </p:nvPr>
        </p:nvSpPr>
        <p:spPr>
          <a:ln>
            <a:solidFill>
              <a:srgbClr val="000000"/>
            </a:solidFill>
            <a:miter/>
          </a:ln>
        </p:spPr>
      </p:sp>
      <p:sp>
        <p:nvSpPr>
          <p:cNvPr id="4915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91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幻灯片图像占位符 1"/>
          <p:cNvSpPr>
            <a:spLocks noGrp="1" noRot="1" noChangeAspect="1" noTextEdit="1"/>
          </p:cNvSpPr>
          <p:nvPr>
            <p:ph type="sldImg"/>
          </p:nvPr>
        </p:nvSpPr>
        <p:spPr>
          <a:ln>
            <a:solidFill>
              <a:srgbClr val="000000"/>
            </a:solidFill>
            <a:miter/>
          </a:ln>
        </p:spPr>
      </p:sp>
      <p:sp>
        <p:nvSpPr>
          <p:cNvPr id="5325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32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幻灯片图像占位符 1"/>
          <p:cNvSpPr>
            <a:spLocks noGrp="1" noRot="1" noChangeAspect="1" noTextEdit="1"/>
          </p:cNvSpPr>
          <p:nvPr>
            <p:ph type="sldImg"/>
          </p:nvPr>
        </p:nvSpPr>
        <p:spPr>
          <a:ln>
            <a:solidFill>
              <a:srgbClr val="000000"/>
            </a:solidFill>
            <a:miter/>
          </a:ln>
        </p:spPr>
      </p:sp>
      <p:sp>
        <p:nvSpPr>
          <p:cNvPr id="5632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632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幻灯片图像占位符 1"/>
          <p:cNvSpPr>
            <a:spLocks noGrp="1" noRot="1" noChangeAspect="1" noTextEdit="1"/>
          </p:cNvSpPr>
          <p:nvPr>
            <p:ph type="sldImg"/>
          </p:nvPr>
        </p:nvSpPr>
        <p:spPr>
          <a:ln>
            <a:solidFill>
              <a:srgbClr val="000000"/>
            </a:solidFill>
            <a:miter/>
          </a:ln>
        </p:spPr>
      </p:sp>
      <p:sp>
        <p:nvSpPr>
          <p:cNvPr id="5837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837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幻灯片图像占位符 1"/>
          <p:cNvSpPr>
            <a:spLocks noGrp="1" noRot="1" noChangeAspect="1" noTextEdit="1"/>
          </p:cNvSpPr>
          <p:nvPr>
            <p:ph type="sldImg"/>
          </p:nvPr>
        </p:nvSpPr>
        <p:spPr>
          <a:ln>
            <a:solidFill>
              <a:srgbClr val="000000"/>
            </a:solidFill>
            <a:miter/>
          </a:ln>
        </p:spPr>
      </p:sp>
      <p:sp>
        <p:nvSpPr>
          <p:cNvPr id="6041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041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幻灯片图像占位符 1"/>
          <p:cNvSpPr>
            <a:spLocks noGrp="1" noRot="1" noChangeAspect="1" noTextEdit="1"/>
          </p:cNvSpPr>
          <p:nvPr>
            <p:ph type="sldImg"/>
          </p:nvPr>
        </p:nvSpPr>
        <p:spPr>
          <a:ln>
            <a:solidFill>
              <a:srgbClr val="000000"/>
            </a:solidFill>
            <a:miter/>
          </a:ln>
        </p:spPr>
      </p:sp>
      <p:sp>
        <p:nvSpPr>
          <p:cNvPr id="6349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34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幻灯片图像占位符 1"/>
          <p:cNvSpPr>
            <a:spLocks noGrp="1" noRot="1" noChangeAspect="1" noTextEdit="1"/>
          </p:cNvSpPr>
          <p:nvPr>
            <p:ph type="sldImg"/>
          </p:nvPr>
        </p:nvSpPr>
        <p:spPr>
          <a:ln>
            <a:solidFill>
              <a:srgbClr val="000000"/>
            </a:solidFill>
            <a:miter/>
          </a:ln>
        </p:spPr>
      </p:sp>
      <p:sp>
        <p:nvSpPr>
          <p:cNvPr id="6553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553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幻灯片图像占位符 1"/>
          <p:cNvSpPr>
            <a:spLocks noGrp="1" noRot="1" noChangeAspect="1" noTextEdit="1"/>
          </p:cNvSpPr>
          <p:nvPr>
            <p:ph type="sldImg"/>
          </p:nvPr>
        </p:nvSpPr>
        <p:spPr>
          <a:ln>
            <a:solidFill>
              <a:srgbClr val="000000"/>
            </a:solidFill>
            <a:miter/>
          </a:ln>
        </p:spPr>
      </p:sp>
      <p:sp>
        <p:nvSpPr>
          <p:cNvPr id="6963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963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幻灯片图像占位符 1"/>
          <p:cNvSpPr>
            <a:spLocks noGrp="1" noRot="1" noChangeAspect="1" noTextEdit="1"/>
          </p:cNvSpPr>
          <p:nvPr>
            <p:ph type="sldImg"/>
          </p:nvPr>
        </p:nvSpPr>
        <p:spPr>
          <a:ln>
            <a:solidFill>
              <a:srgbClr val="000000"/>
            </a:solidFill>
            <a:miter/>
          </a:ln>
        </p:spPr>
      </p:sp>
      <p:sp>
        <p:nvSpPr>
          <p:cNvPr id="7270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27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幻灯片图像占位符 1"/>
          <p:cNvSpPr>
            <a:spLocks noGrp="1" noRot="1" noChangeAspect="1" noTextEdit="1"/>
          </p:cNvSpPr>
          <p:nvPr>
            <p:ph type="sldImg"/>
          </p:nvPr>
        </p:nvSpPr>
        <p:spPr>
          <a:ln>
            <a:solidFill>
              <a:srgbClr val="000000"/>
            </a:solidFill>
            <a:miter/>
          </a:ln>
        </p:spPr>
      </p:sp>
      <p:sp>
        <p:nvSpPr>
          <p:cNvPr id="7475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47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幻灯片图像占位符 1"/>
          <p:cNvSpPr>
            <a:spLocks noGrp="1" noRot="1" noChangeAspect="1" noTextEdit="1"/>
          </p:cNvSpPr>
          <p:nvPr>
            <p:ph type="sldImg"/>
          </p:nvPr>
        </p:nvSpPr>
        <p:spPr>
          <a:ln>
            <a:solidFill>
              <a:srgbClr val="000000"/>
            </a:solidFill>
            <a:miter/>
          </a:ln>
        </p:spPr>
      </p:sp>
      <p:sp>
        <p:nvSpPr>
          <p:cNvPr id="7680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68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幻灯片图像占位符 1"/>
          <p:cNvSpPr>
            <a:spLocks noGrp="1" noRot="1" noChangeAspect="1" noTextEdit="1"/>
          </p:cNvSpPr>
          <p:nvPr>
            <p:ph type="sldImg"/>
          </p:nvPr>
        </p:nvSpPr>
        <p:spPr>
          <a:ln>
            <a:solidFill>
              <a:srgbClr val="000000"/>
            </a:solidFill>
            <a:miter/>
          </a:ln>
        </p:spPr>
      </p:sp>
      <p:sp>
        <p:nvSpPr>
          <p:cNvPr id="7885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88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800" dirty="0">
                <a:latin typeface="Calibri" panose="020F0502020204030204" pitchFamily="34" charset="0"/>
                <a:ea typeface="宋体" panose="02010600030101010101" pitchFamily="2" charset="-122"/>
              </a:rPr>
            </a:fld>
            <a:endParaRPr lang="zh-CN" altLang="en-US" sz="1800" dirty="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2051" name="图片 2"/>
          <p:cNvPicPr>
            <a:picLocks noChangeAspect="1"/>
          </p:cNvPicPr>
          <p:nvPr userDrawn="1"/>
        </p:nvPicPr>
        <p:blipFill>
          <a:blip r:embed="rId2"/>
          <a:srcRect r="6975"/>
          <a:stretch>
            <a:fillRect/>
          </a:stretch>
        </p:blipFill>
        <p:spPr>
          <a:xfrm>
            <a:off x="5224463" y="0"/>
            <a:ext cx="6967537" cy="6858000"/>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838200" y="1825625"/>
            <a:ext cx="10515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AA382617-2B92-48AB-8B4C-99C2681A8ECF}"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D6D2032-CA53-4215-AC56-46F372F6A171}"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8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2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FCF0125-C57E-40AA-BEC2-3DE299112899}"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7787"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38BFB21-FCCE-4DE8-A1C7-0C8BF8E759A4}"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p:cNvSpPr>
            <a:spLocks noGrp="1"/>
          </p:cNvSpPr>
          <p:nvPr>
            <p:ph type="ftr" sz="quarter" idx="1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9B1925F-2198-44E8-953A-93ACE60A72E2}"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3" name="日期占位符 1"/>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3B0DB73-12CE-4E2C-815A-F22E66F68306}"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2"/>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7E1C3D7-45A6-4AE3-9F25-E00511D1213D}"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4D2464B-F161-4DEC-BEB8-675C3D1C0B6B}"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D7FFDC4-3B6B-4FB8-900A-977B3300E853}"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F9D412C-1A31-4754-904D-603A11D29EB6}"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buNone/>
            </a:pPr>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1867" y="776288"/>
            <a:ext cx="10947400" cy="935037"/>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527051" y="1855788"/>
            <a:ext cx="10972800" cy="4310062"/>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a:xfrm>
            <a:off x="609600" y="6245225"/>
            <a:ext cx="2844800" cy="476250"/>
          </a:xfrm>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p:spPr>
        <p:txBody>
          <a:bodyPr/>
          <a:p>
            <a:pPr marL="0" marR="0" lvl="0" indent="0" algn="r" defTabSz="914400" rtl="0" eaLnBrk="1" fontAlgn="base" latinLnBrk="0" hangingPunct="1">
              <a:lnSpc>
                <a:spcPct val="100000"/>
              </a:lnSpc>
              <a:spcBef>
                <a:spcPct val="0"/>
              </a:spcBef>
              <a:spcAft>
                <a:spcPct val="0"/>
              </a:spcAft>
              <a:buClrTx/>
              <a:buSzTx/>
              <a:buFontTx/>
              <a:buNone/>
              <a:defRPr/>
            </a:pPr>
            <a:fld id="{4D29C2A7-2C1E-495D-A15A-512C21F0C1D1}" type="slidenum">
              <a:rPr kumimoji="0" lang="zh-CN"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图片 6"/>
          <p:cNvPicPr>
            <a:picLocks noChangeAspect="1"/>
          </p:cNvPicPr>
          <p:nvPr userDrawn="1"/>
        </p:nvPicPr>
        <p:blipFill>
          <a:blip r:embed="rId13"/>
          <a:stretch>
            <a:fillRect/>
          </a:stretch>
        </p:blipFill>
        <p:spPr>
          <a:xfrm>
            <a:off x="1588" y="0"/>
            <a:ext cx="12188825" cy="6858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276225" y="2162175"/>
            <a:ext cx="5686425" cy="1016000"/>
          </a:xfrm>
          <a:prstGeom prst="rect">
            <a:avLst/>
          </a:prstGeom>
          <a:noFill/>
          <a:ln w="9525">
            <a:noFill/>
          </a:ln>
        </p:spPr>
        <p:txBody>
          <a:bodyPr anchor="t" anchorCtr="0">
            <a:spAutoFit/>
          </a:bodyPr>
          <a:p>
            <a:pPr algn="ctr"/>
            <a:r>
              <a:rPr lang="zh-CN" altLang="en-US" sz="6000" dirty="0">
                <a:solidFill>
                  <a:srgbClr val="1570C1"/>
                </a:solidFill>
                <a:latin typeface="微软雅黑" panose="020B0503020204020204" pitchFamily="34" charset="-122"/>
                <a:ea typeface="微软雅黑" panose="020B0503020204020204" pitchFamily="34" charset="-122"/>
              </a:rPr>
              <a:t>第</a:t>
            </a:r>
            <a:r>
              <a:rPr lang="en-US" altLang="zh-CN" sz="6000" dirty="0">
                <a:solidFill>
                  <a:srgbClr val="1570C1"/>
                </a:solidFill>
                <a:latin typeface="微软雅黑" panose="020B0503020204020204" pitchFamily="34" charset="-122"/>
                <a:ea typeface="微软雅黑" panose="020B0503020204020204" pitchFamily="34" charset="-122"/>
              </a:rPr>
              <a:t>2</a:t>
            </a:r>
            <a:r>
              <a:rPr lang="zh-CN" altLang="en-US" sz="6000" dirty="0">
                <a:solidFill>
                  <a:srgbClr val="1570C1"/>
                </a:solidFill>
                <a:latin typeface="微软雅黑" panose="020B0503020204020204" pitchFamily="34" charset="-122"/>
                <a:ea typeface="微软雅黑" panose="020B0503020204020204" pitchFamily="34" charset="-122"/>
              </a:rPr>
              <a:t>章</a:t>
            </a:r>
            <a:endParaRPr lang="en-US" altLang="zh-CN" sz="6000" dirty="0">
              <a:solidFill>
                <a:srgbClr val="1570C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76225" y="3686175"/>
            <a:ext cx="5686425" cy="646113"/>
          </a:xfrm>
          <a:prstGeom prst="rect">
            <a:avLst/>
          </a:prstGeom>
          <a:noFill/>
          <a:ln w="9525">
            <a:noFill/>
          </a:ln>
        </p:spPr>
        <p:txBody>
          <a:bodyPr anchor="t" anchorCtr="0">
            <a:spAutoFit/>
          </a:bodyPr>
          <a:p>
            <a:pPr algn="ctr"/>
            <a:r>
              <a:rPr lang="zh-CN" altLang="en-US" sz="3600" dirty="0">
                <a:solidFill>
                  <a:srgbClr val="1570C1"/>
                </a:solidFill>
                <a:latin typeface="微软雅黑" panose="020B0503020204020204" pitchFamily="34" charset="-122"/>
                <a:ea typeface="微软雅黑" panose="020B0503020204020204" pitchFamily="34" charset="-122"/>
              </a:rPr>
              <a:t>企业使命、目标与社会责任</a:t>
            </a:r>
            <a:endParaRPr lang="zh-CN" altLang="en-US" sz="3600" dirty="0">
              <a:solidFill>
                <a:srgbClr val="1570C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713413" y="2630488"/>
            <a:ext cx="6954837" cy="830262"/>
          </a:xfrm>
          <a:prstGeom prst="rect">
            <a:avLst/>
          </a:prstGeom>
          <a:noFill/>
          <a:ln w="9525">
            <a:noFill/>
          </a:ln>
        </p:spPr>
        <p:txBody>
          <a:bodyPr wrap="square" anchor="t" anchorCtr="0">
            <a:spAutoFit/>
          </a:bodyPr>
          <a:p>
            <a:pPr algn="ctr"/>
            <a:r>
              <a:rPr lang="zh-CN" altLang="en-US" sz="4800">
                <a:solidFill>
                  <a:srgbClr val="FFFFFF"/>
                </a:solidFill>
                <a:latin typeface="微软雅黑" panose="020B0503020204020204" pitchFamily="34" charset="-122"/>
                <a:ea typeface="微软雅黑" panose="020B0503020204020204" pitchFamily="34" charset="-122"/>
              </a:rPr>
              <a:t>战略管理</a:t>
            </a:r>
            <a:endParaRPr lang="zh-CN" altLang="en-US" sz="480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413" name="文本框 2"/>
          <p:cNvSpPr txBox="1"/>
          <p:nvPr/>
        </p:nvSpPr>
        <p:spPr>
          <a:xfrm>
            <a:off x="292100" y="400050"/>
            <a:ext cx="677863" cy="971550"/>
          </a:xfrm>
          <a:prstGeom prst="rect">
            <a:avLst/>
          </a:prstGeom>
          <a:noFill/>
          <a:ln w="9525">
            <a:noFill/>
          </a:ln>
        </p:spPr>
        <p:txBody>
          <a:bodyPr vert="eaVert" anchor="t" anchorCtr="0">
            <a:spAutoFit/>
          </a:bodyPr>
          <a:p>
            <a:pPr algn="dist"/>
            <a:r>
              <a:rPr lang="zh-CN" altLang="en-US" sz="3200" b="1" dirty="0">
                <a:solidFill>
                  <a:schemeClr val="bg1"/>
                </a:solidFill>
                <a:latin typeface="微软雅黑" panose="020B0503020204020204" pitchFamily="34" charset="-122"/>
                <a:ea typeface="微软雅黑" panose="020B0503020204020204" pitchFamily="34" charset="-122"/>
              </a:rPr>
              <a:t>目录</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10"/>
          <p:cNvSpPr txBox="1"/>
          <p:nvPr/>
        </p:nvSpPr>
        <p:spPr>
          <a:xfrm>
            <a:off x="3236913" y="1482725"/>
            <a:ext cx="5278437" cy="4030663"/>
          </a:xfrm>
          <a:prstGeom prst="rect">
            <a:avLst/>
          </a:prstGeom>
          <a:noFill/>
          <a:ln w="9525">
            <a:noFill/>
          </a:ln>
        </p:spPr>
        <p:txBody>
          <a:bodyPr anchor="t" anchorCtr="0">
            <a:spAutoFit/>
          </a:bodyPr>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1</a:t>
            </a:r>
            <a:r>
              <a:rPr lang="zh-CN" altLang="en-US" sz="3200" dirty="0">
                <a:solidFill>
                  <a:srgbClr val="1570C1"/>
                </a:solidFill>
                <a:latin typeface="微软雅黑" panose="020B0503020204020204" pitchFamily="34" charset="-122"/>
                <a:ea typeface="微软雅黑" panose="020B0503020204020204" pitchFamily="34" charset="-122"/>
              </a:rPr>
              <a:t>节</a:t>
            </a:r>
            <a:r>
              <a:rPr lang="en-US" altLang="zh-CN" sz="3200" dirty="0">
                <a:solidFill>
                  <a:srgbClr val="1570C1"/>
                </a:solidFill>
                <a:latin typeface="微软雅黑" panose="020B0503020204020204" pitchFamily="34" charset="-122"/>
                <a:ea typeface="微软雅黑" panose="020B0503020204020204" pitchFamily="34" charset="-122"/>
              </a:rPr>
              <a:t>  </a:t>
            </a:r>
            <a:r>
              <a:rPr lang="zh-CN" altLang="en-US" sz="3200" dirty="0">
                <a:solidFill>
                  <a:srgbClr val="1570C1"/>
                </a:solidFill>
                <a:latin typeface="微软雅黑" panose="020B0503020204020204" pitchFamily="34" charset="-122"/>
                <a:ea typeface="微软雅黑" panose="020B0503020204020204" pitchFamily="34" charset="-122"/>
              </a:rPr>
              <a:t>企业使命与愿景</a:t>
            </a:r>
            <a:endParaRPr lang="en-US" altLang="zh-CN"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2</a:t>
            </a:r>
            <a:r>
              <a:rPr lang="zh-CN" altLang="en-US" sz="3200" dirty="0">
                <a:solidFill>
                  <a:srgbClr val="1570C1"/>
                </a:solidFill>
                <a:latin typeface="微软雅黑" panose="020B0503020204020204" pitchFamily="34" charset="-122"/>
                <a:ea typeface="微软雅黑" panose="020B0503020204020204" pitchFamily="34" charset="-122"/>
              </a:rPr>
              <a:t>节  企业战略目标</a:t>
            </a:r>
            <a:endParaRPr lang="en-US" altLang="zh-CN"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3</a:t>
            </a:r>
            <a:r>
              <a:rPr lang="zh-CN" altLang="en-US" sz="3200" dirty="0">
                <a:solidFill>
                  <a:srgbClr val="1570C1"/>
                </a:solidFill>
                <a:latin typeface="微软雅黑" panose="020B0503020204020204" pitchFamily="34" charset="-122"/>
                <a:ea typeface="微软雅黑" panose="020B0503020204020204" pitchFamily="34" charset="-122"/>
              </a:rPr>
              <a:t>节  战略与企业社会责任</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4</a:t>
            </a:r>
            <a:r>
              <a:rPr lang="zh-CN" altLang="en-US" sz="3200" dirty="0">
                <a:solidFill>
                  <a:srgbClr val="1570C1"/>
                </a:solidFill>
                <a:latin typeface="微软雅黑" panose="020B0503020204020204" pitchFamily="34" charset="-122"/>
                <a:ea typeface="微软雅黑" panose="020B0503020204020204" pitchFamily="34" charset="-122"/>
              </a:rPr>
              <a:t>节  企业战略管理者</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8437" name="文本框 2"/>
          <p:cNvSpPr txBox="1"/>
          <p:nvPr/>
        </p:nvSpPr>
        <p:spPr>
          <a:xfrm>
            <a:off x="292100" y="244475"/>
            <a:ext cx="677863" cy="1884363"/>
          </a:xfrm>
          <a:prstGeom prst="rect">
            <a:avLst/>
          </a:prstGeom>
          <a:noFill/>
          <a:ln w="9525">
            <a:noFill/>
          </a:ln>
        </p:spPr>
        <p:txBody>
          <a:bodyPr vert="eaVert" anchor="t" anchorCtr="0">
            <a:spAutoFit/>
          </a:bodyPr>
          <a:p>
            <a:pPr algn="dist"/>
            <a:r>
              <a:rPr lang="zh-CN" altLang="en-US" sz="3200" b="1" dirty="0">
                <a:solidFill>
                  <a:schemeClr val="bg1"/>
                </a:solidFill>
                <a:latin typeface="微软雅黑" panose="020B0503020204020204" pitchFamily="34" charset="-122"/>
                <a:ea typeface="微软雅黑" panose="020B0503020204020204" pitchFamily="34" charset="-122"/>
              </a:rPr>
              <a:t>学习目标</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7416" name="文本框 10"/>
          <p:cNvSpPr txBox="1"/>
          <p:nvPr/>
        </p:nvSpPr>
        <p:spPr>
          <a:xfrm>
            <a:off x="1131888" y="1444625"/>
            <a:ext cx="9636125" cy="4522788"/>
          </a:xfrm>
          <a:prstGeom prst="rect">
            <a:avLst/>
          </a:prstGeom>
          <a:noFill/>
          <a:ln w="9525">
            <a:noFill/>
          </a:ln>
        </p:spPr>
        <p:txBody>
          <a:bodyPr wrap="square" anchor="t" anchorCtr="0">
            <a:spAutoFit/>
          </a:bodyPr>
          <a:p>
            <a:pPr marL="457200" indent="-457200">
              <a:lnSpc>
                <a:spcPct val="150000"/>
              </a:lnSpc>
              <a:buFont typeface="Wingdings" panose="05000000000000000000" pitchFamily="2" charset="2"/>
              <a:buChar char="Ø"/>
            </a:pPr>
            <a:r>
              <a:rPr lang="en-US" altLang="zh-CN" sz="2400" dirty="0">
                <a:solidFill>
                  <a:srgbClr val="1570C1"/>
                </a:solidFill>
                <a:latin typeface="微软雅黑" panose="020B0503020204020204" pitchFamily="34" charset="-122"/>
                <a:ea typeface="微软雅黑" panose="020B0503020204020204" pitchFamily="34" charset="-122"/>
              </a:rPr>
              <a:t>1. </a:t>
            </a:r>
            <a:r>
              <a:rPr lang="zh-CN" altLang="en-US" sz="2400" dirty="0">
                <a:solidFill>
                  <a:srgbClr val="1570C1"/>
                </a:solidFill>
                <a:latin typeface="微软雅黑" panose="020B0503020204020204" pitchFamily="34" charset="-122"/>
                <a:ea typeface="微软雅黑" panose="020B0503020204020204" pitchFamily="34" charset="-122"/>
              </a:rPr>
              <a:t>明确企业使命、愿景和战略目标的含义以及三者间的关系</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en-US" altLang="zh-CN" sz="2400" dirty="0">
                <a:solidFill>
                  <a:srgbClr val="1570C1"/>
                </a:solidFill>
                <a:latin typeface="微软雅黑" panose="020B0503020204020204" pitchFamily="34" charset="-122"/>
                <a:ea typeface="微软雅黑" panose="020B0503020204020204" pitchFamily="34" charset="-122"/>
              </a:rPr>
              <a:t>2. </a:t>
            </a:r>
            <a:r>
              <a:rPr lang="zh-CN" altLang="en-US" sz="2400" dirty="0">
                <a:solidFill>
                  <a:srgbClr val="1570C1"/>
                </a:solidFill>
                <a:latin typeface="微软雅黑" panose="020B0503020204020204" pitchFamily="34" charset="-122"/>
                <a:ea typeface="微软雅黑" panose="020B0503020204020204" pitchFamily="34" charset="-122"/>
              </a:rPr>
              <a:t>理解企业使命和愿景的意义,熟悉企业使命和愿景陈述制定的方法和注意事项</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en-US" altLang="zh-CN" sz="2400" dirty="0">
                <a:solidFill>
                  <a:srgbClr val="1570C1"/>
                </a:solidFill>
                <a:latin typeface="微软雅黑" panose="020B0503020204020204" pitchFamily="34" charset="-122"/>
                <a:ea typeface="微软雅黑" panose="020B0503020204020204" pitchFamily="34" charset="-122"/>
              </a:rPr>
              <a:t>3. </a:t>
            </a:r>
            <a:r>
              <a:rPr lang="zh-CN" altLang="en-US" sz="2400" dirty="0">
                <a:solidFill>
                  <a:srgbClr val="1570C1"/>
                </a:solidFill>
                <a:latin typeface="微软雅黑" panose="020B0503020204020204" pitchFamily="34" charset="-122"/>
                <a:ea typeface="微软雅黑" panose="020B0503020204020204" pitchFamily="34" charset="-122"/>
              </a:rPr>
              <a:t>认识战略目标的作用，熟悉企业战略目标体系</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en-US" altLang="zh-CN" sz="2400" dirty="0">
                <a:solidFill>
                  <a:srgbClr val="1570C1"/>
                </a:solidFill>
                <a:latin typeface="微软雅黑" panose="020B0503020204020204" pitchFamily="34" charset="-122"/>
                <a:ea typeface="微软雅黑" panose="020B0503020204020204" pitchFamily="34" charset="-122"/>
              </a:rPr>
              <a:t>4. </a:t>
            </a:r>
            <a:r>
              <a:rPr lang="zh-CN" altLang="en-US" sz="2400" dirty="0">
                <a:solidFill>
                  <a:srgbClr val="1570C1"/>
                </a:solidFill>
                <a:latin typeface="微软雅黑" panose="020B0503020204020204" pitchFamily="34" charset="-122"/>
                <a:ea typeface="微软雅黑" panose="020B0503020204020204" pitchFamily="34" charset="-122"/>
              </a:rPr>
              <a:t>建立战略管理与企业社会责任的链接，了解企业社会责任战略的内涵，明确战略行动中企业应承担的社会与伦理道德责任</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r>
              <a:rPr lang="en-US" altLang="zh-CN" sz="2400" dirty="0">
                <a:solidFill>
                  <a:srgbClr val="1570C1"/>
                </a:solidFill>
                <a:latin typeface="微软雅黑" panose="020B0503020204020204" pitchFamily="34" charset="-122"/>
                <a:ea typeface="微软雅黑" panose="020B0503020204020204" pitchFamily="34" charset="-122"/>
              </a:rPr>
              <a:t>5. </a:t>
            </a:r>
            <a:r>
              <a:rPr lang="zh-CN" altLang="en-US" sz="2400" dirty="0">
                <a:solidFill>
                  <a:srgbClr val="1570C1"/>
                </a:solidFill>
                <a:latin typeface="微软雅黑" panose="020B0503020204020204" pitchFamily="34" charset="-122"/>
                <a:ea typeface="微软雅黑" panose="020B0503020204020204" pitchFamily="34" charset="-122"/>
              </a:rPr>
              <a:t>了解企业的利益相关者有哪些，明确对不同的利益相关者的社会责任</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wipe(left)">
                                      <p:cBhvr>
                                        <p:cTn id="7"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14900"/>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88963"/>
            <a:ext cx="1495425"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1</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44900"/>
            <a:ext cx="6699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企业使命与愿景 </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8" name="矩形 16"/>
          <p:cNvSpPr>
            <a:spLocks noChangeArrowheads="1"/>
          </p:cNvSpPr>
          <p:nvPr/>
        </p:nvSpPr>
        <p:spPr bwMode="auto">
          <a:xfrm>
            <a:off x="2886075" y="4914900"/>
            <a:ext cx="4879975"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1.1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企业使命和愿景的概念</a:t>
            </a:r>
            <a:endPar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1.2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企业使命与愿景的特点</a:t>
            </a:r>
            <a:endPar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1.3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企业使命与愿景的作用</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1.4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企业使命与愿景的内容</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1.5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企业使命与愿景的注意事项</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图示 8"/>
          <p:cNvGraphicFramePr/>
          <p:nvPr/>
        </p:nvGraphicFramePr>
        <p:xfrm>
          <a:off x="1148071" y="1396999"/>
          <a:ext cx="5589912"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2530"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1.1  </a:t>
            </a:r>
            <a:r>
              <a:rPr lang="zh-CN" altLang="en-US" sz="3200" dirty="0">
                <a:solidFill>
                  <a:srgbClr val="1570C1"/>
                </a:solidFill>
                <a:latin typeface="微软雅黑" panose="020B0503020204020204" pitchFamily="34" charset="-122"/>
                <a:ea typeface="微软雅黑" panose="020B0503020204020204" pitchFamily="34" charset="-122"/>
              </a:rPr>
              <a:t>企业使命与愿景的概念</a:t>
            </a:r>
            <a:endParaRPr lang="en-US" altLang="zh-CN" sz="3200" dirty="0">
              <a:solidFill>
                <a:srgbClr val="1570C1"/>
              </a:solidFill>
              <a:latin typeface="微软雅黑" panose="020B0503020204020204" pitchFamily="34" charset="-122"/>
              <a:ea typeface="微软雅黑" panose="020B0503020204020204" pitchFamily="34" charset="-122"/>
            </a:endParaRPr>
          </a:p>
        </p:txBody>
      </p:sp>
      <p:grpSp>
        <p:nvGrpSpPr>
          <p:cNvPr id="2253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2253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cxnSp>
        <p:nvCxnSpPr>
          <p:cNvPr id="14" name="直接连接符 13"/>
          <p:cNvCxnSpPr/>
          <p:nvPr/>
        </p:nvCxnSpPr>
        <p:spPr>
          <a:xfrm>
            <a:off x="7026275" y="1339850"/>
            <a:ext cx="0" cy="4176713"/>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324725" y="3013075"/>
            <a:ext cx="4449763" cy="2816225"/>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just" defTabSz="914400" rtl="0" eaLnBrk="1" fontAlgn="auto" latinLnBrk="0" hangingPunct="1">
              <a:lnSpc>
                <a:spcPct val="150000"/>
              </a:lnSpc>
              <a:spcBef>
                <a:spcPts val="0"/>
              </a:spcBef>
              <a:spcAft>
                <a:spcPts val="0"/>
              </a:spcAft>
              <a:buClrTx/>
              <a:buSzTx/>
              <a:buFontTx/>
              <a:buNone/>
              <a:defRPr/>
            </a:pPr>
            <a:endParaRPr kumimoji="0" lang="zh-CN" altLang="en-US" sz="2400" b="0" i="0" u="none" strike="noStrike" kern="120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企业的使命和愿景回答了上述问题。它们表明管理者对组织的志向和雄心,显示管理层对上述问题高屋建瓴的看法。</a:t>
            </a:r>
            <a:endParaRPr kumimoji="0" lang="zh-CN" altLang="en-US" sz="2400" b="0" i="0" u="none" strike="noStrike" kern="120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auto" latinLnBrk="0" hangingPunct="1">
              <a:lnSpc>
                <a:spcPct val="15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2355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23559" name="文本框 17"/>
          <p:cNvSpPr txBox="1"/>
          <p:nvPr/>
        </p:nvSpPr>
        <p:spPr>
          <a:xfrm>
            <a:off x="425450" y="425450"/>
            <a:ext cx="5410200" cy="584200"/>
          </a:xfrm>
          <a:prstGeom prst="rect">
            <a:avLst/>
          </a:prstGeom>
          <a:noFill/>
          <a:ln w="9525">
            <a:noFill/>
          </a:ln>
        </p:spPr>
        <p:txBody>
          <a:bodyPr anchor="t" anchorCtr="0">
            <a:spAutoFit/>
          </a:bodyPr>
          <a:p>
            <a:r>
              <a:rPr lang="zh-CN" altLang="zh-CN" sz="3200" dirty="0">
                <a:solidFill>
                  <a:srgbClr val="1570C1"/>
                </a:solidFill>
                <a:latin typeface="微软雅黑" panose="020B0503020204020204" pitchFamily="34" charset="-122"/>
                <a:ea typeface="微软雅黑" panose="020B0503020204020204" pitchFamily="34" charset="-122"/>
              </a:rPr>
              <a:t>以微软公司为例</a:t>
            </a:r>
            <a:endParaRPr lang="zh-CN" altLang="zh-CN" sz="3200" dirty="0">
              <a:solidFill>
                <a:srgbClr val="1570C1"/>
              </a:solidFill>
              <a:latin typeface="微软雅黑" panose="020B0503020204020204" pitchFamily="34" charset="-122"/>
              <a:ea typeface="微软雅黑" panose="020B0503020204020204" pitchFamily="34" charset="-122"/>
            </a:endParaRPr>
          </a:p>
        </p:txBody>
      </p:sp>
      <p:grpSp>
        <p:nvGrpSpPr>
          <p:cNvPr id="23560" name="组合 25"/>
          <p:cNvGrpSpPr/>
          <p:nvPr/>
        </p:nvGrpSpPr>
        <p:grpSpPr>
          <a:xfrm>
            <a:off x="1652588" y="1009650"/>
            <a:ext cx="9437687" cy="5027613"/>
            <a:chOff x="2202" y="1439"/>
            <a:chExt cx="10844" cy="6396"/>
          </a:xfrm>
        </p:grpSpPr>
        <p:grpSp>
          <p:nvGrpSpPr>
            <p:cNvPr id="23561" name="组合 11"/>
            <p:cNvGrpSpPr/>
            <p:nvPr/>
          </p:nvGrpSpPr>
          <p:grpSpPr>
            <a:xfrm>
              <a:off x="9933" y="1439"/>
              <a:ext cx="2083" cy="2416"/>
              <a:chOff x="6308320" y="914400"/>
              <a:chExt cx="1322497" cy="1534457"/>
            </a:xfrm>
          </p:grpSpPr>
          <p:grpSp>
            <p:nvGrpSpPr>
              <p:cNvPr id="23562" name="组合 7"/>
              <p:cNvGrpSpPr/>
              <p:nvPr/>
            </p:nvGrpSpPr>
            <p:grpSpPr>
              <a:xfrm rot="-5400000">
                <a:off x="6202323" y="1020363"/>
                <a:ext cx="1534457" cy="1322497"/>
                <a:chOff x="2447765" y="1124744"/>
                <a:chExt cx="2232249" cy="1924353"/>
              </a:xfrm>
            </p:grpSpPr>
            <p:sp>
              <p:nvSpPr>
                <p:cNvPr id="10" name="六边形 9"/>
                <p:cNvSpPr>
                  <a:spLocks noChangeArrowheads="1"/>
                </p:cNvSpPr>
                <p:nvPr/>
              </p:nvSpPr>
              <p:spPr bwMode="auto">
                <a:xfrm>
                  <a:off x="2448306" y="1124249"/>
                  <a:ext cx="2231707" cy="1924342"/>
                </a:xfrm>
                <a:prstGeom prst="hexagon">
                  <a:avLst>
                    <a:gd name="adj" fmla="val 28044"/>
                    <a:gd name="vf" fmla="val 115470"/>
                  </a:avLst>
                </a:prstGeom>
                <a:solidFill>
                  <a:srgbClr val="1570C1"/>
                </a:solidFill>
                <a:ln>
                  <a:noFill/>
                </a:ln>
                <a:effectLst/>
                <a:extLst>
                  <a:ext uri="{91240B29-F687-4F45-9708-019B960494DF}">
                    <a14:hiddenLine xmlns:a14="http://schemas.microsoft.com/office/drawing/2010/main" w="25400">
                      <a:solidFill>
                        <a:srgbClr val="000000"/>
                      </a:solidFill>
                      <a:miter lim="800000"/>
                      <a:headEnd/>
                      <a:tailEnd/>
                    </a14:hiddenLine>
                  </a:ext>
                </a:extLst>
              </p:spPr>
              <p:txBody>
                <a:bodyPr vert="eaVert"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 name="椭圆​​ 40"/>
                <p:cNvSpPr>
                  <a:spLocks noChangeArrowheads="1"/>
                </p:cNvSpPr>
                <p:nvPr/>
              </p:nvSpPr>
              <p:spPr bwMode="auto">
                <a:xfrm>
                  <a:off x="2698346" y="1220296"/>
                  <a:ext cx="1731626" cy="1732245"/>
                </a:xfrm>
                <a:prstGeom prst="ellipse">
                  <a:avLst/>
                </a:prstGeom>
                <a:solidFill>
                  <a:srgbClr val="1570C1"/>
                </a:solidFill>
                <a:ln w="38100" algn="ctr">
                  <a:solidFill>
                    <a:schemeClr val="bg1"/>
                  </a:solidFill>
                  <a:round/>
                </a:ln>
                <a:effectLst/>
              </p:spPr>
              <p:txBody>
                <a:bodyPr vert="eaVert"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sp>
            <p:nvSpPr>
              <p:cNvPr id="23565" name="TextBox 8"/>
              <p:cNvSpPr txBox="1"/>
              <p:nvPr/>
            </p:nvSpPr>
            <p:spPr>
              <a:xfrm>
                <a:off x="6453394" y="1730849"/>
                <a:ext cx="1107996" cy="322136"/>
              </a:xfrm>
              <a:prstGeom prst="rect">
                <a:avLst/>
              </a:prstGeom>
              <a:noFill/>
              <a:ln w="9525">
                <a:noFill/>
              </a:ln>
            </p:spPr>
            <p:txBody>
              <a:bodyPr anchor="t" anchorCtr="0">
                <a:spAutoFit/>
              </a:bodyPr>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企业使命</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nvGrpSpPr>
              <p:cNvPr id="7" name="Group 30"/>
              <p:cNvGrpSpPr/>
              <p:nvPr/>
            </p:nvGrpSpPr>
            <p:grpSpPr bwMode="auto">
              <a:xfrm>
                <a:off x="6769206" y="1216269"/>
                <a:ext cx="400722" cy="367616"/>
                <a:chOff x="3422" y="1347"/>
                <a:chExt cx="330" cy="313"/>
              </a:xfrm>
              <a:solidFill>
                <a:schemeClr val="bg1"/>
              </a:solidFill>
            </p:grpSpPr>
            <p:sp>
              <p:nvSpPr>
                <p:cNvPr id="3" name="AutoShape 31"/>
                <p:cNvSpPr>
                  <a:spLocks noChangeArrowheads="1"/>
                </p:cNvSpPr>
                <p:nvPr/>
              </p:nvSpPr>
              <p:spPr bwMode="gray">
                <a:xfrm>
                  <a:off x="3422" y="1411"/>
                  <a:ext cx="330" cy="249"/>
                </a:xfrm>
                <a:prstGeom prst="roundRect">
                  <a:avLst>
                    <a:gd name="adj" fmla="val 16667"/>
                  </a:avLst>
                </a:prstGeom>
                <a:grpFill/>
                <a:ln w="25400" algn="ctr">
                  <a:no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9" name="AutoShape 32"/>
                <p:cNvSpPr>
                  <a:spLocks noChangeArrowheads="1"/>
                </p:cNvSpPr>
                <p:nvPr/>
              </p:nvSpPr>
              <p:spPr bwMode="gray">
                <a:xfrm>
                  <a:off x="3522" y="1347"/>
                  <a:ext cx="122" cy="1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646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grpFill/>
                <a:ln w="25400" algn="ctr">
                  <a:no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grpSp>
        </p:grpSp>
        <p:grpSp>
          <p:nvGrpSpPr>
            <p:cNvPr id="23567" name="组合 45"/>
            <p:cNvGrpSpPr/>
            <p:nvPr/>
          </p:nvGrpSpPr>
          <p:grpSpPr>
            <a:xfrm>
              <a:off x="3263" y="3545"/>
              <a:ext cx="7701" cy="359"/>
              <a:chOff x="2072079" y="2251151"/>
              <a:chExt cx="4890364" cy="228143"/>
            </a:xfrm>
          </p:grpSpPr>
          <p:cxnSp>
            <p:nvCxnSpPr>
              <p:cNvPr id="13" name="直接连接符​​ 10"/>
              <p:cNvCxnSpPr/>
              <p:nvPr/>
            </p:nvCxnSpPr>
            <p:spPr bwMode="auto">
              <a:xfrm>
                <a:off x="3565729" y="2463183"/>
                <a:ext cx="3397245" cy="16685"/>
              </a:xfrm>
              <a:prstGeom prst="line">
                <a:avLst/>
              </a:prstGeom>
              <a:ln w="57150">
                <a:solidFill>
                  <a:srgbClr val="57CAF4"/>
                </a:solidFill>
              </a:ln>
            </p:spPr>
            <p:style>
              <a:lnRef idx="1">
                <a:schemeClr val="accent1"/>
              </a:lnRef>
              <a:fillRef idx="0">
                <a:schemeClr val="accent1"/>
              </a:fillRef>
              <a:effectRef idx="0">
                <a:schemeClr val="accent1"/>
              </a:effectRef>
              <a:fontRef idx="minor">
                <a:schemeClr val="tx1"/>
              </a:fontRef>
            </p:style>
          </p:cxnSp>
          <p:sp>
            <p:nvSpPr>
              <p:cNvPr id="6" name="矩形​​ 13"/>
              <p:cNvSpPr/>
              <p:nvPr/>
            </p:nvSpPr>
            <p:spPr bwMode="auto">
              <a:xfrm>
                <a:off x="2071543" y="2251417"/>
                <a:ext cx="1794181" cy="216900"/>
              </a:xfrm>
              <a:prstGeom prst="rect">
                <a:avLst/>
              </a:prstGeom>
              <a:solidFill>
                <a:srgbClr val="57CAF4"/>
              </a:solidFill>
              <a:ln w="57150">
                <a:solidFill>
                  <a:srgbClr val="57CAF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grpSp>
          <p:nvGrpSpPr>
            <p:cNvPr id="23570" name="组合 42"/>
            <p:cNvGrpSpPr/>
            <p:nvPr/>
          </p:nvGrpSpPr>
          <p:grpSpPr>
            <a:xfrm>
              <a:off x="10963" y="3275"/>
              <a:ext cx="2083" cy="2416"/>
              <a:chOff x="6962441" y="2080229"/>
              <a:chExt cx="1322719" cy="1534457"/>
            </a:xfrm>
          </p:grpSpPr>
          <p:grpSp>
            <p:nvGrpSpPr>
              <p:cNvPr id="23571" name="组合 11"/>
              <p:cNvGrpSpPr/>
              <p:nvPr/>
            </p:nvGrpSpPr>
            <p:grpSpPr>
              <a:xfrm rot="-5400000">
                <a:off x="6856555" y="2186081"/>
                <a:ext cx="1534457" cy="1322719"/>
                <a:chOff x="2447764" y="1124448"/>
                <a:chExt cx="2232248" cy="1924647"/>
              </a:xfrm>
            </p:grpSpPr>
            <p:sp>
              <p:nvSpPr>
                <p:cNvPr id="24" name="六边形 23"/>
                <p:cNvSpPr/>
                <p:nvPr/>
              </p:nvSpPr>
              <p:spPr>
                <a:xfrm>
                  <a:off x="2448493" y="1124460"/>
                  <a:ext cx="2231706" cy="1924636"/>
                </a:xfrm>
                <a:prstGeom prst="hexagon">
                  <a:avLst>
                    <a:gd name="adj" fmla="val 28044"/>
                    <a:gd name="vf" fmla="val 115470"/>
                  </a:avLst>
                </a:prstGeom>
                <a:solidFill>
                  <a:srgbClr val="57CA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 name="椭圆​​ 38"/>
                <p:cNvSpPr/>
                <p:nvPr/>
              </p:nvSpPr>
              <p:spPr>
                <a:xfrm>
                  <a:off x="2696667" y="1220523"/>
                  <a:ext cx="1735357" cy="1732510"/>
                </a:xfrm>
                <a:prstGeom prst="ellipse">
                  <a:avLst/>
                </a:prstGeom>
                <a:solidFill>
                  <a:srgbClr val="57CAF4"/>
                </a:solid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sp>
            <p:nvSpPr>
              <p:cNvPr id="23574" name="TextBox 12"/>
              <p:cNvSpPr txBox="1"/>
              <p:nvPr/>
            </p:nvSpPr>
            <p:spPr>
              <a:xfrm>
                <a:off x="7081749" y="2894121"/>
                <a:ext cx="1107996" cy="322136"/>
              </a:xfrm>
              <a:prstGeom prst="rect">
                <a:avLst/>
              </a:prstGeom>
              <a:noFill/>
              <a:ln w="9525">
                <a:noFill/>
              </a:ln>
            </p:spPr>
            <p:txBody>
              <a:bodyPr anchor="t" anchorCtr="0">
                <a:spAutoFit/>
              </a:bodyPr>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企业愿景</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nvGrpSpPr>
              <p:cNvPr id="23575" name="组合 17"/>
              <p:cNvGrpSpPr/>
              <p:nvPr/>
            </p:nvGrpSpPr>
            <p:grpSpPr>
              <a:xfrm>
                <a:off x="7429961" y="2424344"/>
                <a:ext cx="409439" cy="399690"/>
                <a:chOff x="7429961" y="2424344"/>
                <a:chExt cx="409439" cy="399690"/>
              </a:xfrm>
            </p:grpSpPr>
            <p:sp>
              <p:nvSpPr>
                <p:cNvPr id="23576" name="Oval 15"/>
                <p:cNvSpPr/>
                <p:nvPr/>
              </p:nvSpPr>
              <p:spPr>
                <a:xfrm>
                  <a:off x="7429961" y="2424344"/>
                  <a:ext cx="409439" cy="396971"/>
                </a:xfrm>
                <a:prstGeom prst="ellipse">
                  <a:avLst/>
                </a:prstGeom>
                <a:noFill/>
                <a:ln w="25400" cap="flat" cmpd="sng">
                  <a:solidFill>
                    <a:srgbClr val="FFFFFF">
                      <a:alpha val="78038"/>
                    </a:srgbClr>
                  </a:solidFill>
                  <a:prstDash val="solid"/>
                  <a:round/>
                  <a:headEnd type="none" w="med" len="med"/>
                  <a:tailEnd type="none" w="med" len="med"/>
                </a:ln>
              </p:spPr>
              <p:txBody>
                <a:bodyPr wrap="none" anchor="ctr" anchorCtr="0"/>
                <a:p>
                  <a:pPr eaLnBrk="0" hangingPunct="0"/>
                  <a:endParaRPr lang="zh-CN" altLang="zh-CN" dirty="0">
                    <a:latin typeface="Calibri" panose="020F0502020204030204" pitchFamily="34" charset="0"/>
                    <a:ea typeface="宋体" panose="02010600030101010101" pitchFamily="2" charset="-122"/>
                  </a:endParaRPr>
                </a:p>
              </p:txBody>
            </p:sp>
            <p:sp>
              <p:nvSpPr>
                <p:cNvPr id="23577" name="Line 16"/>
                <p:cNvSpPr/>
                <p:nvPr/>
              </p:nvSpPr>
              <p:spPr>
                <a:xfrm>
                  <a:off x="7636083" y="2424344"/>
                  <a:ext cx="0" cy="394252"/>
                </a:xfrm>
                <a:prstGeom prst="line">
                  <a:avLst/>
                </a:prstGeom>
                <a:ln w="25400" cap="flat" cmpd="sng">
                  <a:solidFill>
                    <a:srgbClr val="FFFFFF">
                      <a:alpha val="78038"/>
                    </a:srgbClr>
                  </a:solidFill>
                  <a:prstDash val="solid"/>
                  <a:round/>
                  <a:headEnd type="none" w="med" len="med"/>
                  <a:tailEnd type="none" w="med" len="med"/>
                </a:ln>
              </p:spPr>
            </p:sp>
            <p:sp>
              <p:nvSpPr>
                <p:cNvPr id="23578" name="Line 17"/>
                <p:cNvSpPr/>
                <p:nvPr/>
              </p:nvSpPr>
              <p:spPr>
                <a:xfrm>
                  <a:off x="7429961" y="2621470"/>
                  <a:ext cx="409439" cy="0"/>
                </a:xfrm>
                <a:prstGeom prst="line">
                  <a:avLst/>
                </a:prstGeom>
                <a:ln w="25400" cap="flat" cmpd="sng">
                  <a:solidFill>
                    <a:srgbClr val="FFFFFF">
                      <a:alpha val="78038"/>
                    </a:srgbClr>
                  </a:solidFill>
                  <a:prstDash val="solid"/>
                  <a:round/>
                  <a:headEnd type="none" w="med" len="med"/>
                  <a:tailEnd type="none" w="med" len="med"/>
                </a:ln>
              </p:spPr>
            </p:sp>
            <p:sp>
              <p:nvSpPr>
                <p:cNvPr id="23579" name="Freeform 18"/>
                <p:cNvSpPr/>
                <p:nvPr/>
              </p:nvSpPr>
              <p:spPr>
                <a:xfrm>
                  <a:off x="7663659" y="2427063"/>
                  <a:ext cx="85066" cy="391533"/>
                </a:xfrm>
                <a:custGeom>
                  <a:avLst/>
                  <a:gdLst/>
                  <a:ahLst/>
                  <a:cxnLst>
                    <a:cxn ang="0">
                      <a:pos x="0" y="0"/>
                    </a:cxn>
                    <a:cxn ang="0">
                      <a:pos x="39759474" y="89330248"/>
                    </a:cxn>
                    <a:cxn ang="0">
                      <a:pos x="1310577" y="177428345"/>
                    </a:cxn>
                  </a:cxnLst>
                  <a:pathLst>
                    <a:path w="182" h="864">
                      <a:moveTo>
                        <a:pt x="0" y="0"/>
                      </a:moveTo>
                      <a:cubicBezTo>
                        <a:pt x="59" y="89"/>
                        <a:pt x="182" y="177"/>
                        <a:pt x="182" y="435"/>
                      </a:cubicBezTo>
                      <a:cubicBezTo>
                        <a:pt x="182" y="693"/>
                        <a:pt x="70" y="800"/>
                        <a:pt x="6" y="864"/>
                      </a:cubicBezTo>
                    </a:path>
                  </a:pathLst>
                </a:custGeom>
                <a:noFill/>
                <a:ln w="25400" cap="flat" cmpd="sng">
                  <a:solidFill>
                    <a:srgbClr val="FFFFFF">
                      <a:alpha val="78038"/>
                    </a:srgbClr>
                  </a:solidFill>
                  <a:prstDash val="solid"/>
                  <a:round/>
                  <a:headEnd type="none" w="med" len="med"/>
                  <a:tailEnd type="none" w="med" len="med"/>
                </a:ln>
              </p:spPr>
              <p:txBody>
                <a:bodyPr/>
                <a:p>
                  <a:endParaRPr lang="zh-CN" altLang="en-US"/>
                </a:p>
              </p:txBody>
            </p:sp>
            <p:sp>
              <p:nvSpPr>
                <p:cNvPr id="23580" name="Freeform 19"/>
                <p:cNvSpPr/>
                <p:nvPr/>
              </p:nvSpPr>
              <p:spPr>
                <a:xfrm>
                  <a:off x="7524842" y="2429782"/>
                  <a:ext cx="92077" cy="394252"/>
                </a:xfrm>
                <a:custGeom>
                  <a:avLst/>
                  <a:gdLst/>
                  <a:ahLst/>
                  <a:cxnLst>
                    <a:cxn ang="0">
                      <a:pos x="36482590" y="0"/>
                    </a:cxn>
                    <a:cxn ang="0">
                      <a:pos x="0" y="89535536"/>
                    </a:cxn>
                    <a:cxn ang="0">
                      <a:pos x="43036416" y="178660505"/>
                    </a:cxn>
                  </a:cxnLst>
                  <a:pathLst>
                    <a:path w="197" h="870">
                      <a:moveTo>
                        <a:pt x="167" y="0"/>
                      </a:moveTo>
                      <a:cubicBezTo>
                        <a:pt x="117" y="64"/>
                        <a:pt x="0" y="178"/>
                        <a:pt x="0" y="436"/>
                      </a:cubicBezTo>
                      <a:cubicBezTo>
                        <a:pt x="0" y="694"/>
                        <a:pt x="124" y="769"/>
                        <a:pt x="197" y="870"/>
                      </a:cubicBezTo>
                    </a:path>
                  </a:pathLst>
                </a:custGeom>
                <a:noFill/>
                <a:ln w="25400" cap="flat" cmpd="sng">
                  <a:solidFill>
                    <a:srgbClr val="FFFFFF">
                      <a:alpha val="78038"/>
                    </a:srgbClr>
                  </a:solidFill>
                  <a:prstDash val="solid"/>
                  <a:round/>
                  <a:headEnd type="none" w="med" len="med"/>
                  <a:tailEnd type="none" w="med" len="med"/>
                </a:ln>
              </p:spPr>
              <p:txBody>
                <a:bodyPr/>
                <a:p>
                  <a:endParaRPr lang="zh-CN" altLang="en-US"/>
                </a:p>
              </p:txBody>
            </p:sp>
            <p:sp>
              <p:nvSpPr>
                <p:cNvPr id="23581" name="Freeform 20"/>
                <p:cNvSpPr/>
                <p:nvPr/>
              </p:nvSpPr>
              <p:spPr>
                <a:xfrm rot="5400000">
                  <a:off x="7603224" y="2583725"/>
                  <a:ext cx="51661" cy="305210"/>
                </a:xfrm>
                <a:custGeom>
                  <a:avLst/>
                  <a:gdLst/>
                  <a:ahLst/>
                  <a:cxnLst>
                    <a:cxn ang="0">
                      <a:pos x="11484476" y="0"/>
                    </a:cxn>
                    <a:cxn ang="0">
                      <a:pos x="0" y="53659426"/>
                    </a:cxn>
                    <a:cxn ang="0">
                      <a:pos x="13547507" y="107072579"/>
                    </a:cxn>
                  </a:cxnLst>
                  <a:pathLst>
                    <a:path w="197" h="870">
                      <a:moveTo>
                        <a:pt x="167" y="0"/>
                      </a:moveTo>
                      <a:cubicBezTo>
                        <a:pt x="117" y="64"/>
                        <a:pt x="0" y="178"/>
                        <a:pt x="0" y="436"/>
                      </a:cubicBezTo>
                      <a:cubicBezTo>
                        <a:pt x="0" y="694"/>
                        <a:pt x="124" y="769"/>
                        <a:pt x="197" y="870"/>
                      </a:cubicBezTo>
                    </a:path>
                  </a:pathLst>
                </a:custGeom>
                <a:noFill/>
                <a:ln w="25400" cap="flat" cmpd="sng">
                  <a:solidFill>
                    <a:srgbClr val="FFFFFF">
                      <a:alpha val="78038"/>
                    </a:srgbClr>
                  </a:solidFill>
                  <a:prstDash val="solid"/>
                  <a:round/>
                  <a:headEnd type="none" w="med" len="med"/>
                  <a:tailEnd type="none" w="med" len="med"/>
                </a:ln>
              </p:spPr>
              <p:txBody>
                <a:bodyPr/>
                <a:p>
                  <a:endParaRPr lang="zh-CN" altLang="en-US"/>
                </a:p>
              </p:txBody>
            </p:sp>
            <p:sp>
              <p:nvSpPr>
                <p:cNvPr id="23582" name="Freeform 21"/>
                <p:cNvSpPr/>
                <p:nvPr/>
              </p:nvSpPr>
              <p:spPr>
                <a:xfrm rot="-5400000" flipV="1">
                  <a:off x="7606962" y="2355783"/>
                  <a:ext cx="51661" cy="305210"/>
                </a:xfrm>
                <a:custGeom>
                  <a:avLst/>
                  <a:gdLst/>
                  <a:ahLst/>
                  <a:cxnLst>
                    <a:cxn ang="0">
                      <a:pos x="11484476" y="0"/>
                    </a:cxn>
                    <a:cxn ang="0">
                      <a:pos x="0" y="53659426"/>
                    </a:cxn>
                    <a:cxn ang="0">
                      <a:pos x="13547507" y="107072579"/>
                    </a:cxn>
                  </a:cxnLst>
                  <a:pathLst>
                    <a:path w="197" h="870">
                      <a:moveTo>
                        <a:pt x="167" y="0"/>
                      </a:moveTo>
                      <a:cubicBezTo>
                        <a:pt x="117" y="64"/>
                        <a:pt x="0" y="178"/>
                        <a:pt x="0" y="436"/>
                      </a:cubicBezTo>
                      <a:cubicBezTo>
                        <a:pt x="0" y="694"/>
                        <a:pt x="124" y="769"/>
                        <a:pt x="197" y="870"/>
                      </a:cubicBezTo>
                    </a:path>
                  </a:pathLst>
                </a:custGeom>
                <a:noFill/>
                <a:ln w="25400" cap="flat" cmpd="sng">
                  <a:solidFill>
                    <a:srgbClr val="FFFFFF">
                      <a:alpha val="78038"/>
                    </a:srgbClr>
                  </a:solidFill>
                  <a:prstDash val="solid"/>
                  <a:round/>
                  <a:headEnd type="none" w="med" len="med"/>
                  <a:tailEnd type="none" w="med" len="med"/>
                </a:ln>
              </p:spPr>
              <p:txBody>
                <a:bodyPr/>
                <a:p>
                  <a:endParaRPr lang="zh-CN" altLang="en-US"/>
                </a:p>
              </p:txBody>
            </p:sp>
          </p:grpSp>
        </p:grpSp>
        <p:grpSp>
          <p:nvGrpSpPr>
            <p:cNvPr id="23583" name="组合 46"/>
            <p:cNvGrpSpPr/>
            <p:nvPr/>
          </p:nvGrpSpPr>
          <p:grpSpPr>
            <a:xfrm>
              <a:off x="2239" y="5399"/>
              <a:ext cx="7701" cy="341"/>
              <a:chOff x="1421561" y="3428284"/>
              <a:chExt cx="4890363" cy="216839"/>
            </a:xfrm>
          </p:grpSpPr>
          <p:cxnSp>
            <p:nvCxnSpPr>
              <p:cNvPr id="29" name="直接连接符​​ 14"/>
              <p:cNvCxnSpPr/>
              <p:nvPr/>
            </p:nvCxnSpPr>
            <p:spPr bwMode="auto">
              <a:xfrm flipV="1">
                <a:off x="2463954" y="3639146"/>
                <a:ext cx="3847816" cy="2568"/>
              </a:xfrm>
              <a:prstGeom prst="line">
                <a:avLst/>
              </a:prstGeom>
              <a:ln w="57150">
                <a:solidFill>
                  <a:srgbClr val="1570C1"/>
                </a:solidFill>
              </a:ln>
            </p:spPr>
            <p:style>
              <a:lnRef idx="1">
                <a:schemeClr val="accent1"/>
              </a:lnRef>
              <a:fillRef idx="0">
                <a:schemeClr val="accent1"/>
              </a:fillRef>
              <a:effectRef idx="0">
                <a:schemeClr val="accent1"/>
              </a:effectRef>
              <a:fontRef idx="minor">
                <a:schemeClr val="tx1"/>
              </a:fontRef>
            </p:style>
          </p:cxnSp>
          <p:sp>
            <p:nvSpPr>
              <p:cNvPr id="30" name="矩形​​ 17"/>
              <p:cNvSpPr/>
              <p:nvPr/>
            </p:nvSpPr>
            <p:spPr bwMode="auto">
              <a:xfrm>
                <a:off x="1421500" y="3428532"/>
                <a:ext cx="1793022" cy="217035"/>
              </a:xfrm>
              <a:prstGeom prst="rect">
                <a:avLst/>
              </a:prstGeom>
              <a:solidFill>
                <a:srgbClr val="1570C1"/>
              </a:solidFill>
              <a:ln w="57150">
                <a:solidFill>
                  <a:srgbClr val="1570C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grpSp>
          <p:nvGrpSpPr>
            <p:cNvPr id="23586" name="组合 43"/>
            <p:cNvGrpSpPr/>
            <p:nvPr/>
          </p:nvGrpSpPr>
          <p:grpSpPr>
            <a:xfrm>
              <a:off x="9940" y="5108"/>
              <a:ext cx="2083" cy="2416"/>
              <a:chOff x="6311924" y="3243509"/>
              <a:chExt cx="1322719" cy="1534457"/>
            </a:xfrm>
          </p:grpSpPr>
          <p:grpSp>
            <p:nvGrpSpPr>
              <p:cNvPr id="23587" name="组合 15"/>
              <p:cNvGrpSpPr/>
              <p:nvPr/>
            </p:nvGrpSpPr>
            <p:grpSpPr>
              <a:xfrm rot="-5400000">
                <a:off x="6206037" y="3349360"/>
                <a:ext cx="1534457" cy="1322719"/>
                <a:chOff x="2447765" y="1124448"/>
                <a:chExt cx="2232248" cy="1924647"/>
              </a:xfrm>
            </p:grpSpPr>
            <p:sp>
              <p:nvSpPr>
                <p:cNvPr id="38" name="六边形 37"/>
                <p:cNvSpPr/>
                <p:nvPr/>
              </p:nvSpPr>
              <p:spPr>
                <a:xfrm>
                  <a:off x="2447777" y="1124228"/>
                  <a:ext cx="2231706" cy="1924636"/>
                </a:xfrm>
                <a:prstGeom prst="hexagon">
                  <a:avLst>
                    <a:gd name="adj" fmla="val 28044"/>
                    <a:gd name="vf" fmla="val 115470"/>
                  </a:avLst>
                </a:prstGeom>
                <a:solidFill>
                  <a:srgbClr val="1570C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39" name="椭圆​​ 36"/>
                <p:cNvSpPr/>
                <p:nvPr/>
              </p:nvSpPr>
              <p:spPr>
                <a:xfrm>
                  <a:off x="2695951" y="1220289"/>
                  <a:ext cx="1735357" cy="1732510"/>
                </a:xfrm>
                <a:prstGeom prst="ellipse">
                  <a:avLst/>
                </a:prstGeom>
                <a:solidFill>
                  <a:srgbClr val="1570C1"/>
                </a:solid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grpSp>
            <p:nvGrpSpPr>
              <p:cNvPr id="23590" name="Group 22"/>
              <p:cNvGrpSpPr/>
              <p:nvPr/>
            </p:nvGrpSpPr>
            <p:grpSpPr>
              <a:xfrm>
                <a:off x="6801870" y="3629309"/>
                <a:ext cx="355926" cy="300767"/>
                <a:chOff x="2640" y="3304"/>
                <a:chExt cx="294" cy="256"/>
              </a:xfrm>
            </p:grpSpPr>
            <p:sp>
              <p:nvSpPr>
                <p:cNvPr id="23591" name="AutoShape 23"/>
                <p:cNvSpPr/>
                <p:nvPr/>
              </p:nvSpPr>
              <p:spPr>
                <a:xfrm>
                  <a:off x="2700" y="3304"/>
                  <a:ext cx="176" cy="176"/>
                </a:xfrm>
                <a:prstGeom prst="roundRect">
                  <a:avLst>
                    <a:gd name="adj" fmla="val 6250"/>
                  </a:avLst>
                </a:prstGeom>
                <a:solidFill>
                  <a:srgbClr val="FFFFFF"/>
                </a:solidFill>
                <a:ln w="25400" cap="flat" cmpd="sng">
                  <a:solidFill>
                    <a:srgbClr val="FFFFFF"/>
                  </a:solidFill>
                  <a:prstDash val="solid"/>
                  <a:round/>
                  <a:headEnd type="none" w="med" len="med"/>
                  <a:tailEnd type="none" w="med" len="med"/>
                </a:ln>
              </p:spPr>
              <p:txBody>
                <a:bodyPr wrap="none" anchor="ctr" anchorCtr="0"/>
                <a:p>
                  <a:pPr eaLnBrk="0" hangingPunct="0"/>
                  <a:endParaRPr lang="zh-CN" altLang="zh-CN" dirty="0">
                    <a:latin typeface="Calibri" panose="020F0502020204030204" pitchFamily="34" charset="0"/>
                    <a:ea typeface="宋体" panose="02010600030101010101" pitchFamily="2" charset="-122"/>
                  </a:endParaRPr>
                </a:p>
              </p:txBody>
            </p:sp>
            <p:sp>
              <p:nvSpPr>
                <p:cNvPr id="23592" name="AutoShape 24"/>
                <p:cNvSpPr/>
                <p:nvPr/>
              </p:nvSpPr>
              <p:spPr>
                <a:xfrm>
                  <a:off x="2640" y="3482"/>
                  <a:ext cx="294" cy="78"/>
                </a:xfrm>
                <a:prstGeom prst="roundRect">
                  <a:avLst>
                    <a:gd name="adj" fmla="val 16667"/>
                  </a:avLst>
                </a:prstGeom>
                <a:solidFill>
                  <a:srgbClr val="FFFFFF"/>
                </a:solidFill>
                <a:ln w="25400" cap="flat" cmpd="sng">
                  <a:solidFill>
                    <a:srgbClr val="FFFFFF"/>
                  </a:solidFill>
                  <a:prstDash val="solid"/>
                  <a:round/>
                  <a:headEnd type="none" w="med" len="med"/>
                  <a:tailEnd type="none" w="med" len="med"/>
                </a:ln>
              </p:spPr>
              <p:txBody>
                <a:bodyPr wrap="none" anchor="ctr" anchorCtr="0"/>
                <a:p>
                  <a:pPr eaLnBrk="0" hangingPunct="0"/>
                  <a:endParaRPr lang="zh-CN" altLang="zh-CN" dirty="0">
                    <a:latin typeface="Calibri" panose="020F0502020204030204" pitchFamily="34" charset="0"/>
                    <a:ea typeface="宋体" panose="02010600030101010101" pitchFamily="2" charset="-122"/>
                  </a:endParaRPr>
                </a:p>
              </p:txBody>
            </p:sp>
            <p:sp>
              <p:nvSpPr>
                <p:cNvPr id="23593" name="Line 25"/>
                <p:cNvSpPr/>
                <p:nvPr/>
              </p:nvSpPr>
              <p:spPr>
                <a:xfrm flipH="1">
                  <a:off x="2847" y="3517"/>
                  <a:ext cx="45" cy="0"/>
                </a:xfrm>
                <a:prstGeom prst="line">
                  <a:avLst/>
                </a:prstGeom>
                <a:ln w="25400" cap="flat" cmpd="sng">
                  <a:solidFill>
                    <a:srgbClr val="FFFFFF"/>
                  </a:solidFill>
                  <a:prstDash val="solid"/>
                  <a:round/>
                  <a:headEnd type="none" w="med" len="med"/>
                  <a:tailEnd type="none" w="med" len="med"/>
                </a:ln>
              </p:spPr>
            </p:sp>
            <p:sp>
              <p:nvSpPr>
                <p:cNvPr id="23594" name="Line 26"/>
                <p:cNvSpPr/>
                <p:nvPr/>
              </p:nvSpPr>
              <p:spPr>
                <a:xfrm flipH="1">
                  <a:off x="2759" y="3359"/>
                  <a:ext cx="73" cy="0"/>
                </a:xfrm>
                <a:prstGeom prst="line">
                  <a:avLst/>
                </a:prstGeom>
                <a:ln w="25400" cap="flat" cmpd="sng">
                  <a:solidFill>
                    <a:srgbClr val="FFFFFF"/>
                  </a:solidFill>
                  <a:prstDash val="solid"/>
                  <a:round/>
                  <a:headEnd type="none" w="med" len="med"/>
                  <a:tailEnd type="none" w="med" len="med"/>
                </a:ln>
              </p:spPr>
            </p:sp>
            <p:sp>
              <p:nvSpPr>
                <p:cNvPr id="23595" name="Line 27"/>
                <p:cNvSpPr/>
                <p:nvPr/>
              </p:nvSpPr>
              <p:spPr>
                <a:xfrm flipH="1">
                  <a:off x="2787" y="3385"/>
                  <a:ext cx="45" cy="0"/>
                </a:xfrm>
                <a:prstGeom prst="line">
                  <a:avLst/>
                </a:prstGeom>
                <a:ln w="25400" cap="flat" cmpd="sng">
                  <a:solidFill>
                    <a:srgbClr val="FFFFFF"/>
                  </a:solidFill>
                  <a:prstDash val="solid"/>
                  <a:round/>
                  <a:headEnd type="none" w="med" len="med"/>
                  <a:tailEnd type="none" w="med" len="med"/>
                </a:ln>
              </p:spPr>
            </p:sp>
            <p:sp>
              <p:nvSpPr>
                <p:cNvPr id="23596" name="Line 28"/>
                <p:cNvSpPr/>
                <p:nvPr/>
              </p:nvSpPr>
              <p:spPr>
                <a:xfrm flipH="1">
                  <a:off x="2800" y="3434"/>
                  <a:ext cx="32" cy="0"/>
                </a:xfrm>
                <a:prstGeom prst="line">
                  <a:avLst/>
                </a:prstGeom>
                <a:ln w="25400" cap="flat" cmpd="sng">
                  <a:solidFill>
                    <a:srgbClr val="FFFFFF"/>
                  </a:solidFill>
                  <a:prstDash val="solid"/>
                  <a:round/>
                  <a:headEnd type="none" w="med" len="med"/>
                  <a:tailEnd type="none" w="med" len="med"/>
                </a:ln>
              </p:spPr>
            </p:sp>
          </p:grpSp>
        </p:grpSp>
        <p:sp>
          <p:nvSpPr>
            <p:cNvPr id="23597" name="TextBox 39"/>
            <p:cNvSpPr txBox="1"/>
            <p:nvPr/>
          </p:nvSpPr>
          <p:spPr>
            <a:xfrm>
              <a:off x="2202" y="2219"/>
              <a:ext cx="6244" cy="1056"/>
            </a:xfrm>
            <a:prstGeom prst="rect">
              <a:avLst/>
            </a:prstGeom>
            <a:noFill/>
            <a:ln w="9525">
              <a:noFill/>
            </a:ln>
          </p:spPr>
          <p:txBody>
            <a:bodyPr anchor="t" anchorCtr="0">
              <a:spAutoFit/>
            </a:bodyPr>
            <a:p>
              <a:pPr algn="just" eaLnBrk="0" hangingPunct="0"/>
              <a:r>
                <a:rPr lang="en-US" altLang="zh-CN" sz="2400" dirty="0">
                  <a:solidFill>
                    <a:srgbClr val="595959"/>
                  </a:solidFill>
                  <a:latin typeface="微软雅黑" panose="020B0503020204020204" pitchFamily="34" charset="-122"/>
                  <a:ea typeface="微软雅黑" panose="020B0503020204020204" pitchFamily="34" charset="-122"/>
                </a:rPr>
                <a:t>   </a:t>
              </a:r>
              <a:r>
                <a:rPr lang="zh-CN" altLang="en-US" sz="2400" dirty="0">
                  <a:solidFill>
                    <a:srgbClr val="595959"/>
                  </a:solidFill>
                  <a:latin typeface="微软雅黑" panose="020B0503020204020204" pitchFamily="34" charset="-122"/>
                  <a:ea typeface="微软雅黑" panose="020B0503020204020204" pitchFamily="34" charset="-122"/>
                </a:rPr>
                <a:t>“致力于提供使工作、学习、生活更加方便、丰富的个人电脑软件”</a:t>
              </a:r>
              <a:endParaRPr lang="zh-CN" altLang="en-US" sz="2400" dirty="0">
                <a:solidFill>
                  <a:srgbClr val="595959"/>
                </a:solidFill>
                <a:latin typeface="微软雅黑" panose="020B0503020204020204" pitchFamily="34" charset="-122"/>
                <a:ea typeface="微软雅黑" panose="020B0503020204020204" pitchFamily="34" charset="-122"/>
              </a:endParaRPr>
            </a:p>
          </p:txBody>
        </p:sp>
        <p:sp>
          <p:nvSpPr>
            <p:cNvPr id="23598" name="TextBox 40"/>
            <p:cNvSpPr txBox="1"/>
            <p:nvPr/>
          </p:nvSpPr>
          <p:spPr>
            <a:xfrm>
              <a:off x="3224" y="4021"/>
              <a:ext cx="6541" cy="1056"/>
            </a:xfrm>
            <a:prstGeom prst="rect">
              <a:avLst/>
            </a:prstGeom>
            <a:noFill/>
            <a:ln w="9525">
              <a:noFill/>
            </a:ln>
          </p:spPr>
          <p:txBody>
            <a:bodyPr wrap="square" anchor="t" anchorCtr="0">
              <a:spAutoFit/>
            </a:bodyPr>
            <a:p>
              <a:pPr algn="just" eaLnBrk="0" hangingPunct="0"/>
              <a:r>
                <a:rPr lang="en-US" altLang="zh-CN" sz="2400" dirty="0">
                  <a:solidFill>
                    <a:srgbClr val="595959"/>
                  </a:solidFill>
                  <a:latin typeface="微软雅黑" panose="020B0503020204020204" pitchFamily="34" charset="-122"/>
                  <a:ea typeface="微软雅黑" panose="020B0503020204020204" pitchFamily="34" charset="-122"/>
                </a:rPr>
                <a:t>    </a:t>
              </a:r>
              <a:r>
                <a:rPr lang="zh-CN" altLang="en-US" sz="2400" dirty="0">
                  <a:solidFill>
                    <a:srgbClr val="595959"/>
                  </a:solidFill>
                  <a:latin typeface="微软雅黑" panose="020B0503020204020204" pitchFamily="34" charset="-122"/>
                  <a:ea typeface="微软雅黑" panose="020B0503020204020204" pitchFamily="34" charset="-122"/>
                </a:rPr>
                <a:t>“计算机进入家庭，放在每一张桌子上，使用微软的软件”</a:t>
              </a:r>
              <a:endParaRPr lang="zh-CN" altLang="en-US" sz="2400" dirty="0">
                <a:solidFill>
                  <a:srgbClr val="595959"/>
                </a:solidFill>
                <a:latin typeface="微软雅黑" panose="020B0503020204020204" pitchFamily="34" charset="-122"/>
                <a:ea typeface="微软雅黑" panose="020B0503020204020204" pitchFamily="34" charset="-122"/>
              </a:endParaRPr>
            </a:p>
          </p:txBody>
        </p:sp>
        <p:sp>
          <p:nvSpPr>
            <p:cNvPr id="23599" name="TextBox 41"/>
            <p:cNvSpPr txBox="1"/>
            <p:nvPr/>
          </p:nvSpPr>
          <p:spPr>
            <a:xfrm>
              <a:off x="2203" y="5840"/>
              <a:ext cx="7119" cy="1995"/>
            </a:xfrm>
            <a:prstGeom prst="rect">
              <a:avLst/>
            </a:prstGeom>
            <a:noFill/>
            <a:ln w="9525">
              <a:noFill/>
            </a:ln>
          </p:spPr>
          <p:txBody>
            <a:bodyPr anchor="t" anchorCtr="0">
              <a:spAutoFit/>
            </a:bodyPr>
            <a:p>
              <a:pPr indent="457200" algn="just" eaLnBrk="0" hangingPunct="0"/>
              <a:r>
                <a:rPr lang="en-US" altLang="zh-CN" sz="2400" dirty="0">
                  <a:solidFill>
                    <a:srgbClr val="595959"/>
                  </a:solidFill>
                  <a:latin typeface="微软雅黑" panose="020B0503020204020204" pitchFamily="34" charset="-122"/>
                  <a:ea typeface="微软雅黑" panose="020B0503020204020204" pitchFamily="34" charset="-122"/>
                </a:rPr>
                <a:t>  </a:t>
              </a:r>
              <a:r>
                <a:rPr lang="zh-CN" altLang="en-US" sz="2400" dirty="0">
                  <a:solidFill>
                    <a:srgbClr val="595959"/>
                  </a:solidFill>
                  <a:latin typeface="微软雅黑" panose="020B0503020204020204" pitchFamily="34" charset="-122"/>
                  <a:ea typeface="微软雅黑" panose="020B0503020204020204" pitchFamily="34" charset="-122"/>
                </a:rPr>
                <a:t>规划完美、表达清晰的使命和愿景是组织长远发展的灯塔,有助于将企业的各种努力导向要追寻的前进方向,进而建立强大的组织认同感</a:t>
              </a:r>
              <a:endParaRPr lang="en-US" altLang="zh-CN" sz="2400" dirty="0">
                <a:solidFill>
                  <a:srgbClr val="595959"/>
                </a:solidFill>
                <a:latin typeface="微软雅黑" panose="020B0503020204020204" pitchFamily="34" charset="-122"/>
                <a:ea typeface="微软雅黑" panose="020B0503020204020204" pitchFamily="34" charset="-122"/>
              </a:endParaRPr>
            </a:p>
          </p:txBody>
        </p:sp>
        <p:grpSp>
          <p:nvGrpSpPr>
            <p:cNvPr id="23600" name="组合 48"/>
            <p:cNvGrpSpPr/>
            <p:nvPr/>
          </p:nvGrpSpPr>
          <p:grpSpPr>
            <a:xfrm>
              <a:off x="2223" y="1731"/>
              <a:ext cx="7708" cy="341"/>
              <a:chOff x="1411357" y="1099175"/>
              <a:chExt cx="4894547" cy="216839"/>
            </a:xfrm>
          </p:grpSpPr>
          <p:cxnSp>
            <p:nvCxnSpPr>
              <p:cNvPr id="50" name="直接连接符​​ 6"/>
              <p:cNvCxnSpPr/>
              <p:nvPr/>
            </p:nvCxnSpPr>
            <p:spPr bwMode="auto">
              <a:xfrm flipV="1">
                <a:off x="2459221" y="1309038"/>
                <a:ext cx="3846452" cy="2568"/>
              </a:xfrm>
              <a:prstGeom prst="line">
                <a:avLst/>
              </a:prstGeom>
              <a:ln w="57150">
                <a:solidFill>
                  <a:srgbClr val="1570C1"/>
                </a:solidFill>
              </a:ln>
            </p:spPr>
            <p:style>
              <a:lnRef idx="1">
                <a:schemeClr val="accent1"/>
              </a:lnRef>
              <a:fillRef idx="0">
                <a:schemeClr val="accent1"/>
              </a:fillRef>
              <a:effectRef idx="0">
                <a:schemeClr val="accent1"/>
              </a:effectRef>
              <a:fontRef idx="minor">
                <a:schemeClr val="tx1"/>
              </a:fontRef>
            </p:style>
          </p:cxnSp>
          <p:sp>
            <p:nvSpPr>
              <p:cNvPr id="51" name="矩形​​ 9"/>
              <p:cNvSpPr/>
              <p:nvPr/>
            </p:nvSpPr>
            <p:spPr bwMode="auto">
              <a:xfrm>
                <a:off x="1411031" y="1099709"/>
                <a:ext cx="1792926" cy="215751"/>
              </a:xfrm>
              <a:prstGeom prst="rect">
                <a:avLst/>
              </a:prstGeom>
              <a:solidFill>
                <a:srgbClr val="1570C1"/>
              </a:solidFill>
              <a:ln w="57150">
                <a:solidFill>
                  <a:srgbClr val="1570C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1">
                  <a:ln>
                    <a:noFill/>
                  </a:ln>
                  <a:solidFill>
                    <a:schemeClr val="bg1"/>
                  </a:solidFill>
                  <a:effectLst/>
                  <a:uLnTx/>
                  <a:uFillTx/>
                  <a:latin typeface="方正兰亭中粗黑_GBK" pitchFamily="2" charset="-122"/>
                  <a:ea typeface="方正兰亭中粗黑_GBK" pitchFamily="2" charset="-122"/>
                  <a:cs typeface="+mn-cs"/>
                </a:endParaRPr>
              </a:p>
            </p:txBody>
          </p:sp>
        </p:grpSp>
      </p:grpSp>
      <p:sp>
        <p:nvSpPr>
          <p:cNvPr id="52" name="左箭头 51"/>
          <p:cNvSpPr/>
          <p:nvPr/>
        </p:nvSpPr>
        <p:spPr>
          <a:xfrm>
            <a:off x="8947150" y="4905375"/>
            <a:ext cx="920750" cy="419100"/>
          </a:xfrm>
          <a:prstGeom prst="lef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4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457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2458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24583" name="文本框 17"/>
          <p:cNvSpPr txBox="1"/>
          <p:nvPr/>
        </p:nvSpPr>
        <p:spPr>
          <a:xfrm>
            <a:off x="435610" y="373380"/>
            <a:ext cx="5410200" cy="460375"/>
          </a:xfrm>
          <a:prstGeom prst="rect">
            <a:avLst/>
          </a:prstGeom>
          <a:noFill/>
          <a:ln w="9525">
            <a:noFill/>
          </a:ln>
        </p:spPr>
        <p:txBody>
          <a:bodyPr anchor="t" anchorCtr="0">
            <a:spAutoFit/>
          </a:bodyPr>
          <a:p>
            <a:r>
              <a:rPr lang="en-US" altLang="zh-CN" sz="2400" dirty="0">
                <a:solidFill>
                  <a:srgbClr val="1570C1"/>
                </a:solidFill>
                <a:latin typeface="微软雅黑" panose="020B0503020204020204" pitchFamily="34" charset="-122"/>
                <a:ea typeface="微软雅黑" panose="020B0503020204020204" pitchFamily="34" charset="-122"/>
              </a:rPr>
              <a:t>1.1.1  </a:t>
            </a:r>
            <a:r>
              <a:rPr lang="zh-CN" altLang="en-US" sz="2400" dirty="0">
                <a:solidFill>
                  <a:srgbClr val="1570C1"/>
                </a:solidFill>
                <a:latin typeface="微软雅黑" panose="020B0503020204020204" pitchFamily="34" charset="-122"/>
                <a:ea typeface="微软雅黑" panose="020B0503020204020204" pitchFamily="34" charset="-122"/>
              </a:rPr>
              <a:t>企业使命（</a:t>
            </a:r>
            <a:r>
              <a:rPr lang="en-US" altLang="zh-CN" sz="2400" dirty="0">
                <a:solidFill>
                  <a:srgbClr val="1570C1"/>
                </a:solidFill>
                <a:latin typeface="微软雅黑" panose="020B0503020204020204" pitchFamily="34" charset="-122"/>
                <a:ea typeface="微软雅黑" panose="020B0503020204020204" pitchFamily="34" charset="-122"/>
              </a:rPr>
              <a:t>Mission)</a:t>
            </a:r>
            <a:endParaRPr lang="en-US" altLang="zh-CN" sz="2400" dirty="0">
              <a:solidFill>
                <a:srgbClr val="1570C1"/>
              </a:solidFill>
              <a:latin typeface="微软雅黑" panose="020B0503020204020204" pitchFamily="34" charset="-122"/>
              <a:ea typeface="微软雅黑" panose="020B0503020204020204" pitchFamily="34" charset="-122"/>
            </a:endParaRPr>
          </a:p>
        </p:txBody>
      </p:sp>
      <p:sp>
        <p:nvSpPr>
          <p:cNvPr id="10" name="矩形 9"/>
          <p:cNvSpPr/>
          <p:nvPr/>
        </p:nvSpPr>
        <p:spPr>
          <a:xfrm>
            <a:off x="1077913" y="3762375"/>
            <a:ext cx="3240088" cy="501650"/>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市场需求</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1" name="矩形 10"/>
          <p:cNvSpPr/>
          <p:nvPr/>
        </p:nvSpPr>
        <p:spPr>
          <a:xfrm>
            <a:off x="1077913" y="4264025"/>
            <a:ext cx="3240088" cy="1658938"/>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导致顾客与你或你的竞</a:t>
            </a:r>
            <a:endParaRPr kumimoji="0" lang="en-US" altLang="zh-CN"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争对手进行交易的基本</a:t>
            </a:r>
            <a:endParaRPr kumimoji="0" lang="en-US" altLang="zh-CN"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需求</a:t>
            </a:r>
            <a:endParaRPr kumimoji="0" lang="en-US" altLang="zh-CN"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矩形 11"/>
          <p:cNvSpPr/>
          <p:nvPr/>
        </p:nvSpPr>
        <p:spPr>
          <a:xfrm>
            <a:off x="4429125" y="3762375"/>
            <a:ext cx="3240088" cy="501650"/>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企业</a:t>
            </a: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价值</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4429125" y="4264025"/>
            <a:ext cx="3240088" cy="1658938"/>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我们向客户提供的除了</a:t>
            </a:r>
            <a:endParaRPr kumimoji="0" lang="en-US" altLang="zh-CN"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我们生产或销售的东西</a:t>
            </a:r>
            <a:endParaRPr kumimoji="0" lang="en-US" altLang="zh-CN"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以外更深层次的价值</a:t>
            </a:r>
            <a:endParaRPr kumimoji="0" lang="en-US" altLang="zh-CN"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7781925" y="3762375"/>
            <a:ext cx="3240088" cy="501650"/>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竞争优势</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5" name="矩形 14"/>
          <p:cNvSpPr/>
          <p:nvPr/>
        </p:nvSpPr>
        <p:spPr>
          <a:xfrm>
            <a:off x="7781925" y="4264025"/>
            <a:ext cx="3240088" cy="1658938"/>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把我们从市场中独立出</a:t>
            </a:r>
            <a:endParaRPr kumimoji="0" lang="en-US" altLang="zh-CN"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来的因素</a:t>
            </a:r>
            <a:endParaRPr kumimoji="0" lang="en-US" altLang="zh-CN"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矩形 2"/>
          <p:cNvSpPr/>
          <p:nvPr/>
        </p:nvSpPr>
        <p:spPr>
          <a:xfrm>
            <a:off x="1076325" y="1350963"/>
            <a:ext cx="9944100" cy="2306955"/>
          </a:xfrm>
          <a:prstGeom prst="rect">
            <a:avLst/>
          </a:prstGeom>
          <a:solidFill>
            <a:srgbClr val="1570C1"/>
          </a:solidFill>
          <a:ln w="9525">
            <a:noFill/>
          </a:ln>
        </p:spPr>
        <p:txBody>
          <a:bodyPr anchor="t" anchorCtr="0">
            <a:spAutoFit/>
          </a:bodyPr>
          <a:p>
            <a:pPr algn="just" eaLnBrk="0" hangingPunct="0"/>
            <a:r>
              <a:rPr lang="en-US" altLang="zh-CN" sz="240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企业使命（宗旨）阐述了企业的任务是什么、这些任务因何而存在，以及企业所能做出的独特贡献，揭示了企业长远发展的前景，为企业战略目标的确定与战略方案的制定提供依据。它是对企业行为、产品和所服务市场的简捷的事实性描述。（反映企业价值观和形象，揭示本企业与其它企业在方向上的差异，界定企业主要产品和服务范围以及企业试图满足的顾客基本需求）</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anim calcmode="lin" valueType="num">
                                      <p:cBhvr>
                                        <p:cTn id="25" dur="500" fill="hold"/>
                                        <p:tgtEl>
                                          <p:spTgt spid="12"/>
                                        </p:tgtEl>
                                        <p:attrNameLst>
                                          <p:attrName>ppt_x</p:attrName>
                                        </p:attrNameLst>
                                      </p:cBhvr>
                                      <p:tavLst>
                                        <p:tav tm="0">
                                          <p:val>
                                            <p:strVal val="#ppt_x"/>
                                          </p:val>
                                        </p:tav>
                                        <p:tav tm="100000">
                                          <p:val>
                                            <p:strVal val="#ppt_x"/>
                                          </p:val>
                                        </p:tav>
                                      </p:tavLst>
                                    </p:anim>
                                    <p:anim calcmode="lin" valueType="num">
                                      <p:cBhvr>
                                        <p:cTn id="26" dur="500" fill="hold"/>
                                        <p:tgtEl>
                                          <p:spTgt spid="12"/>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anim calcmode="lin" valueType="num">
                                      <p:cBhvr>
                                        <p:cTn id="30" dur="500" fill="hold"/>
                                        <p:tgtEl>
                                          <p:spTgt spid="13"/>
                                        </p:tgtEl>
                                        <p:attrNameLst>
                                          <p:attrName>ppt_x</p:attrName>
                                        </p:attrNameLst>
                                      </p:cBhvr>
                                      <p:tavLst>
                                        <p:tav tm="0">
                                          <p:val>
                                            <p:strVal val="#ppt_x"/>
                                          </p:val>
                                        </p:tav>
                                        <p:tav tm="100000">
                                          <p:val>
                                            <p:strVal val="#ppt_x"/>
                                          </p:val>
                                        </p:tav>
                                      </p:tavLst>
                                    </p:anim>
                                    <p:anim calcmode="lin" valueType="num">
                                      <p:cBhvr>
                                        <p:cTn id="31"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a:xfrm>
            <a:off x="1732280" y="481965"/>
            <a:ext cx="8148955" cy="995045"/>
          </a:xfrm>
        </p:spPr>
        <p:txBody>
          <a:bodyPr vert="horz" wrap="square" lIns="94600" tIns="47300" rIns="94600" bIns="47300" anchor="ctr" anchorCtr="0"/>
          <a:p>
            <a:pPr algn="ctr" defTabSz="914400" eaLnBrk="1" hangingPunct="1">
              <a:lnSpc>
                <a:spcPct val="100000"/>
              </a:lnSpc>
              <a:buClrTx/>
              <a:buSzTx/>
              <a:buFontTx/>
            </a:pPr>
            <a:r>
              <a:rPr lang="zh-CN" altLang="zh-CN" sz="3600" dirty="0">
                <a:solidFill>
                  <a:srgbClr val="1570C1"/>
                </a:solidFill>
                <a:latin typeface="微软雅黑" panose="020B0503020204020204" pitchFamily="34" charset="-122"/>
                <a:ea typeface="微软雅黑" panose="020B0503020204020204" pitchFamily="34" charset="-122"/>
                <a:cs typeface="+mn-cs"/>
              </a:rPr>
              <a:t> 国内外知名企业使命表述实例</a:t>
            </a:r>
            <a:endParaRPr lang="zh-CN" altLang="zh-CN" sz="3600" dirty="0">
              <a:solidFill>
                <a:srgbClr val="1570C1"/>
              </a:solidFill>
              <a:latin typeface="微软雅黑" panose="020B0503020204020204" pitchFamily="34" charset="-122"/>
              <a:ea typeface="微软雅黑" panose="020B0503020204020204" pitchFamily="34" charset="-122"/>
              <a:cs typeface="+mn-cs"/>
            </a:endParaRPr>
          </a:p>
        </p:txBody>
      </p:sp>
      <p:sp>
        <p:nvSpPr>
          <p:cNvPr id="11267" name="内容占位符 2"/>
          <p:cNvSpPr>
            <a:spLocks noGrp="1"/>
          </p:cNvSpPr>
          <p:nvPr>
            <p:ph sz="half" idx="1"/>
          </p:nvPr>
        </p:nvSpPr>
        <p:spPr>
          <a:xfrm>
            <a:off x="1672590" y="1380490"/>
            <a:ext cx="4283075" cy="5123815"/>
          </a:xfrm>
        </p:spPr>
        <p:txBody>
          <a:bodyPr vert="horz" wrap="square" lIns="94600" tIns="47300" rIns="94600" bIns="47300" numCol="1" anchor="t" anchorCtr="0" compatLnSpc="1"/>
          <a:lstStyle/>
          <a:p>
            <a:pPr marL="0" marR="0" lvl="0" indent="0" algn="ctr" defTabSz="1043305"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altLang="zh-CN" sz="2175" b="1" i="0" u="none" strike="noStrike" kern="1200" cap="none" spc="0" normalizeH="0" baseline="0" noProof="0" dirty="0" smtClean="0">
              <a:ln>
                <a:noFill/>
              </a:ln>
              <a:solidFill>
                <a:schemeClr val="tx1"/>
              </a:solidFill>
              <a:effectLst/>
              <a:uLnTx/>
              <a:uFillTx/>
              <a:latin typeface="+mn-lt"/>
              <a:ea typeface="+mn-ea"/>
              <a:cs typeface="+mn-cs"/>
            </a:endParaRPr>
          </a:p>
          <a:p>
            <a:pPr marL="390525" marR="0" lvl="0" indent="-390525" algn="l" defTabSz="1043305"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zh-CN" b="1" i="0" u="none" strike="noStrike" kern="1200" cap="none" spc="0" normalizeH="0" baseline="0" noProof="0" dirty="0" smtClean="0">
                <a:ln>
                  <a:noFill/>
                </a:ln>
                <a:solidFill>
                  <a:srgbClr val="0070C0"/>
                </a:solidFill>
                <a:effectLst/>
                <a:uLnTx/>
                <a:uFillTx/>
                <a:latin typeface="楷体" panose="02010609060101010101" pitchFamily="49" charset="-122"/>
                <a:ea typeface="楷体" panose="02010609060101010101" pitchFamily="49" charset="-122"/>
                <a:cs typeface="+mn-cs"/>
              </a:rPr>
              <a:t>麦</a:t>
            </a:r>
            <a:r>
              <a:rPr kumimoji="0" lang="zh-CN" altLang="zh-CN" b="1" i="0" u="none" strike="noStrike" kern="1200" cap="none" spc="0" normalizeH="0" baseline="0" noProof="0" dirty="0">
                <a:ln>
                  <a:noFill/>
                </a:ln>
                <a:solidFill>
                  <a:srgbClr val="0070C0"/>
                </a:solidFill>
                <a:effectLst/>
                <a:uLnTx/>
                <a:uFillTx/>
                <a:latin typeface="楷体" panose="02010609060101010101" pitchFamily="49" charset="-122"/>
                <a:ea typeface="楷体" panose="02010609060101010101" pitchFamily="49" charset="-122"/>
                <a:cs typeface="+mn-cs"/>
              </a:rPr>
              <a:t>肯锡公司</a:t>
            </a:r>
            <a:r>
              <a:rPr kumimoji="0" lang="zh-CN" altLang="zh-CN"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：创造有价值的改变</a:t>
            </a:r>
            <a:endParaRPr kumimoji="0" lang="zh-CN" altLang="zh-CN"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a:p>
            <a:pPr marL="390525" marR="0" lvl="0" indent="-390525" algn="l" defTabSz="1043305"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zh-CN" b="1" i="0" u="none" strike="noStrike" kern="1200" cap="none" spc="0" normalizeH="0" baseline="0" noProof="0" dirty="0" smtClean="0">
                <a:ln>
                  <a:noFill/>
                </a:ln>
                <a:solidFill>
                  <a:srgbClr val="0070C0"/>
                </a:solidFill>
                <a:effectLst/>
                <a:uLnTx/>
                <a:uFillTx/>
                <a:latin typeface="楷体" panose="02010609060101010101" pitchFamily="49" charset="-122"/>
                <a:ea typeface="楷体" panose="02010609060101010101" pitchFamily="49" charset="-122"/>
                <a:cs typeface="+mn-cs"/>
              </a:rPr>
              <a:t>玫</a:t>
            </a:r>
            <a:r>
              <a:rPr kumimoji="0" lang="zh-CN" altLang="zh-CN" b="1" i="0" u="none" strike="noStrike" kern="1200" cap="none" spc="0" normalizeH="0" baseline="0" noProof="0" dirty="0">
                <a:ln>
                  <a:noFill/>
                </a:ln>
                <a:solidFill>
                  <a:srgbClr val="0070C0"/>
                </a:solidFill>
                <a:effectLst/>
                <a:uLnTx/>
                <a:uFillTx/>
                <a:latin typeface="楷体" panose="02010609060101010101" pitchFamily="49" charset="-122"/>
                <a:ea typeface="楷体" panose="02010609060101010101" pitchFamily="49" charset="-122"/>
                <a:cs typeface="+mn-cs"/>
              </a:rPr>
              <a:t>琳凯化妆品公司</a:t>
            </a:r>
            <a:r>
              <a:rPr kumimoji="0" lang="zh-CN" altLang="zh-CN"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：丰富女性人生</a:t>
            </a:r>
            <a:endParaRPr kumimoji="0" lang="zh-CN" altLang="zh-CN"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a:p>
            <a:pPr marL="390525" marR="0" lvl="0" indent="-390525" algn="l" defTabSz="1043305"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zh-CN" b="1" i="0" u="none" strike="noStrike" kern="1200" cap="none" spc="0" normalizeH="0" baseline="0" noProof="0" dirty="0" smtClean="0">
                <a:ln>
                  <a:noFill/>
                </a:ln>
                <a:solidFill>
                  <a:srgbClr val="0070C0"/>
                </a:solidFill>
                <a:effectLst/>
                <a:uLnTx/>
                <a:uFillTx/>
                <a:latin typeface="楷体" panose="02010609060101010101" pitchFamily="49" charset="-122"/>
                <a:ea typeface="楷体" panose="02010609060101010101" pitchFamily="49" charset="-122"/>
                <a:cs typeface="+mn-cs"/>
              </a:rPr>
              <a:t>沃</a:t>
            </a:r>
            <a:r>
              <a:rPr kumimoji="0" lang="zh-CN" altLang="zh-CN" b="1" i="0" u="none" strike="noStrike" kern="1200" cap="none" spc="0" normalizeH="0" baseline="0" noProof="0" dirty="0">
                <a:ln>
                  <a:noFill/>
                </a:ln>
                <a:solidFill>
                  <a:srgbClr val="0070C0"/>
                </a:solidFill>
                <a:effectLst/>
                <a:uLnTx/>
                <a:uFillTx/>
                <a:latin typeface="楷体" panose="02010609060101010101" pitchFamily="49" charset="-122"/>
                <a:ea typeface="楷体" panose="02010609060101010101" pitchFamily="49" charset="-122"/>
                <a:cs typeface="+mn-cs"/>
              </a:rPr>
              <a:t>尔玛公司</a:t>
            </a:r>
            <a:r>
              <a:rPr kumimoji="0" lang="zh-CN" altLang="zh-CN"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：为顾客省钱，从而让他们生活得更好</a:t>
            </a:r>
            <a:endParaRPr kumimoji="0" lang="zh-CN" altLang="zh-CN"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a:p>
            <a:pPr marL="390525" marR="0" lvl="0" indent="-390525" algn="l" defTabSz="1043305"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zh-CN" b="1" i="0" u="none" strike="noStrike" kern="1200" cap="none" spc="0" normalizeH="0" baseline="0" noProof="0" dirty="0" smtClean="0">
                <a:ln>
                  <a:noFill/>
                </a:ln>
                <a:solidFill>
                  <a:srgbClr val="0070C0"/>
                </a:solidFill>
                <a:effectLst/>
                <a:uLnTx/>
                <a:uFillTx/>
                <a:latin typeface="楷体" panose="02010609060101010101" pitchFamily="49" charset="-122"/>
                <a:ea typeface="楷体" panose="02010609060101010101" pitchFamily="49" charset="-122"/>
                <a:cs typeface="+mn-cs"/>
              </a:rPr>
              <a:t>宝</a:t>
            </a:r>
            <a:r>
              <a:rPr kumimoji="0" lang="zh-CN" altLang="zh-CN" b="1" i="0" u="none" strike="noStrike" kern="1200" cap="none" spc="0" normalizeH="0" baseline="0" noProof="0" dirty="0">
                <a:ln>
                  <a:noFill/>
                </a:ln>
                <a:solidFill>
                  <a:srgbClr val="0070C0"/>
                </a:solidFill>
                <a:effectLst/>
                <a:uLnTx/>
                <a:uFillTx/>
                <a:latin typeface="楷体" panose="02010609060101010101" pitchFamily="49" charset="-122"/>
                <a:ea typeface="楷体" panose="02010609060101010101" pitchFamily="49" charset="-122"/>
                <a:cs typeface="+mn-cs"/>
              </a:rPr>
              <a:t>洁公司</a:t>
            </a:r>
            <a:r>
              <a:rPr kumimoji="0" lang="zh-CN" altLang="zh-CN"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：在现在和未来的世世代代确保每个人有更高的生活质量</a:t>
            </a:r>
            <a:endParaRPr kumimoji="0" lang="zh-CN" altLang="zh-CN"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a:p>
            <a:pPr marL="0" marR="0" lvl="0" indent="0" algn="just" defTabSz="1043305"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b="1" i="0" u="none" strike="noStrike" kern="1200" cap="none" spc="0" normalizeH="0" baseline="0" noProof="0" dirty="0" smtClean="0">
                <a:ln>
                  <a:noFill/>
                </a:ln>
                <a:solidFill>
                  <a:schemeClr val="tx1"/>
                </a:solidFill>
                <a:effectLst/>
                <a:uLnTx/>
                <a:uFillTx/>
                <a:latin typeface="楷体" panose="02010609060101010101" pitchFamily="49" charset="-122"/>
                <a:ea typeface="楷体" panose="02010609060101010101" pitchFamily="49" charset="-122"/>
                <a:cs typeface="+mn-cs"/>
              </a:rPr>
              <a:t>    </a:t>
            </a:r>
            <a:endParaRPr kumimoji="0" lang="zh-CN" altLang="en-US"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364" name="内容占位符 3"/>
          <p:cNvSpPr>
            <a:spLocks noGrp="1"/>
          </p:cNvSpPr>
          <p:nvPr>
            <p:ph sz="half" idx="2"/>
          </p:nvPr>
        </p:nvSpPr>
        <p:spPr>
          <a:xfrm>
            <a:off x="6156960" y="1842770"/>
            <a:ext cx="4461510" cy="4199890"/>
          </a:xfrm>
        </p:spPr>
        <p:txBody>
          <a:bodyPr vert="horz" wrap="square" lIns="94600" tIns="47300" rIns="94600" bIns="47300" anchor="t" anchorCtr="0"/>
          <a:p>
            <a:pPr algn="just" defTabSz="1043305">
              <a:buClrTx/>
              <a:buSzTx/>
            </a:pPr>
            <a:r>
              <a:rPr lang="zh-CN" altLang="zh-CN" b="1" kern="1200" dirty="0">
                <a:solidFill>
                  <a:srgbClr val="0070C0"/>
                </a:solidFill>
                <a:latin typeface="楷体" panose="02010609060101010101" pitchFamily="49" charset="-122"/>
                <a:ea typeface="楷体" panose="02010609060101010101" pitchFamily="49" charset="-122"/>
                <a:cs typeface="+mn-cs"/>
              </a:rPr>
              <a:t>阿里巴巴集团</a:t>
            </a:r>
            <a:r>
              <a:rPr lang="zh-CN" altLang="zh-CN" kern="1200" dirty="0">
                <a:latin typeface="楷体" panose="02010609060101010101" pitchFamily="49" charset="-122"/>
                <a:ea typeface="楷体" panose="02010609060101010101" pitchFamily="49" charset="-122"/>
                <a:cs typeface="+mn-cs"/>
              </a:rPr>
              <a:t>：让天下没有难做的生意</a:t>
            </a:r>
            <a:endParaRPr lang="zh-CN" altLang="zh-CN" kern="1200" dirty="0">
              <a:latin typeface="楷体" panose="02010609060101010101" pitchFamily="49" charset="-122"/>
              <a:ea typeface="楷体" panose="02010609060101010101" pitchFamily="49" charset="-122"/>
              <a:cs typeface="+mn-cs"/>
            </a:endParaRPr>
          </a:p>
          <a:p>
            <a:pPr algn="just" defTabSz="1043305">
              <a:buClrTx/>
              <a:buSzTx/>
            </a:pPr>
            <a:r>
              <a:rPr lang="zh-CN" altLang="zh-CN" b="1" kern="1200" dirty="0">
                <a:solidFill>
                  <a:srgbClr val="0070C0"/>
                </a:solidFill>
                <a:latin typeface="楷体" panose="02010609060101010101" pitchFamily="49" charset="-122"/>
                <a:ea typeface="楷体" panose="02010609060101010101" pitchFamily="49" charset="-122"/>
                <a:cs typeface="+mn-cs"/>
              </a:rPr>
              <a:t>蚂蚁金服集团</a:t>
            </a:r>
            <a:r>
              <a:rPr lang="zh-CN" altLang="zh-CN" kern="1200" dirty="0">
                <a:latin typeface="楷体" panose="02010609060101010101" pitchFamily="49" charset="-122"/>
                <a:ea typeface="楷体" panose="02010609060101010101" pitchFamily="49" charset="-122"/>
                <a:cs typeface="+mn-cs"/>
              </a:rPr>
              <a:t>：为世界带来更多平等的机会</a:t>
            </a:r>
            <a:endParaRPr lang="zh-CN" altLang="zh-CN" kern="1200" dirty="0">
              <a:latin typeface="楷体" panose="02010609060101010101" pitchFamily="49" charset="-122"/>
              <a:ea typeface="楷体" panose="02010609060101010101" pitchFamily="49" charset="-122"/>
              <a:cs typeface="+mn-cs"/>
            </a:endParaRPr>
          </a:p>
          <a:p>
            <a:pPr algn="just" defTabSz="1043305">
              <a:buClrTx/>
              <a:buSzTx/>
            </a:pPr>
            <a:r>
              <a:rPr lang="zh-CN" altLang="zh-CN" b="1" kern="1200" dirty="0">
                <a:solidFill>
                  <a:srgbClr val="0070C0"/>
                </a:solidFill>
                <a:latin typeface="楷体" panose="02010609060101010101" pitchFamily="49" charset="-122"/>
                <a:ea typeface="楷体" panose="02010609060101010101" pitchFamily="49" charset="-122"/>
                <a:cs typeface="+mn-cs"/>
              </a:rPr>
              <a:t>腾讯公司</a:t>
            </a:r>
            <a:r>
              <a:rPr lang="zh-CN" altLang="zh-CN" kern="1200" dirty="0">
                <a:latin typeface="楷体" panose="02010609060101010101" pitchFamily="49" charset="-122"/>
                <a:ea typeface="楷体" panose="02010609060101010101" pitchFamily="49" charset="-122"/>
                <a:cs typeface="+mn-cs"/>
              </a:rPr>
              <a:t>：通过互联网服务提升人类生活品质</a:t>
            </a:r>
            <a:endParaRPr lang="zh-CN" altLang="zh-CN" kern="1200" dirty="0">
              <a:latin typeface="楷体" panose="02010609060101010101" pitchFamily="49" charset="-122"/>
              <a:ea typeface="楷体" panose="02010609060101010101" pitchFamily="49" charset="-122"/>
              <a:cs typeface="+mn-cs"/>
            </a:endParaRPr>
          </a:p>
          <a:p>
            <a:pPr algn="just" defTabSz="1043305">
              <a:buClrTx/>
              <a:buSzTx/>
            </a:pPr>
            <a:r>
              <a:rPr lang="zh-CN" altLang="zh-CN" b="1" kern="1200" dirty="0">
                <a:solidFill>
                  <a:srgbClr val="0070C0"/>
                </a:solidFill>
                <a:latin typeface="楷体" panose="02010609060101010101" pitchFamily="49" charset="-122"/>
                <a:ea typeface="楷体" panose="02010609060101010101" pitchFamily="49" charset="-122"/>
                <a:cs typeface="+mn-cs"/>
              </a:rPr>
              <a:t>宝武集团</a:t>
            </a:r>
            <a:r>
              <a:rPr lang="zh-CN" altLang="zh-CN" kern="1200" dirty="0">
                <a:latin typeface="楷体" panose="02010609060101010101" pitchFamily="49" charset="-122"/>
                <a:ea typeface="楷体" panose="02010609060101010101" pitchFamily="49" charset="-122"/>
                <a:cs typeface="+mn-cs"/>
              </a:rPr>
              <a:t>：驱动钢铁生态圈绿色智慧转型发展，促进企业各利益相关方共同成长</a:t>
            </a:r>
            <a:endParaRPr lang="zh-CN" altLang="zh-CN" kern="1200" dirty="0">
              <a:latin typeface="楷体" panose="02010609060101010101" pitchFamily="49" charset="-122"/>
              <a:ea typeface="楷体" panose="02010609060101010101" pitchFamily="49" charset="-122"/>
              <a:cs typeface="+mn-cs"/>
            </a:endParaRPr>
          </a:p>
          <a:p>
            <a:pPr defTabSz="1043305">
              <a:buClrTx/>
              <a:buSzTx/>
            </a:pPr>
            <a:endParaRPr lang="zh-CN" altLang="zh-CN" kern="1200" dirty="0">
              <a:latin typeface="楷体" panose="02010609060101010101" pitchFamily="49" charset="-122"/>
              <a:ea typeface="楷体" panose="02010609060101010101" pitchFamily="49"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2662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26631" name="文本框 17"/>
          <p:cNvSpPr txBox="1"/>
          <p:nvPr/>
        </p:nvSpPr>
        <p:spPr>
          <a:xfrm>
            <a:off x="425450" y="425450"/>
            <a:ext cx="5410200" cy="460375"/>
          </a:xfrm>
          <a:prstGeom prst="rect">
            <a:avLst/>
          </a:prstGeom>
          <a:noFill/>
          <a:ln w="9525">
            <a:noFill/>
          </a:ln>
        </p:spPr>
        <p:txBody>
          <a:bodyPr anchor="t" anchorCtr="0">
            <a:spAutoFit/>
          </a:bodyPr>
          <a:p>
            <a:r>
              <a:rPr lang="en-US" altLang="zh-CN" sz="2400" dirty="0">
                <a:solidFill>
                  <a:srgbClr val="1570C1"/>
                </a:solidFill>
                <a:latin typeface="微软雅黑" panose="020B0503020204020204" pitchFamily="34" charset="-122"/>
                <a:ea typeface="微软雅黑" panose="020B0503020204020204" pitchFamily="34" charset="-122"/>
              </a:rPr>
              <a:t>1.1.2  </a:t>
            </a:r>
            <a:r>
              <a:rPr lang="zh-CN" altLang="en-US" sz="2400" dirty="0">
                <a:solidFill>
                  <a:srgbClr val="1570C1"/>
                </a:solidFill>
                <a:latin typeface="微软雅黑" panose="020B0503020204020204" pitchFamily="34" charset="-122"/>
                <a:ea typeface="微软雅黑" panose="020B0503020204020204" pitchFamily="34" charset="-122"/>
              </a:rPr>
              <a:t>企业愿景（</a:t>
            </a:r>
            <a:r>
              <a:rPr lang="en-US" altLang="zh-CN" sz="2400" dirty="0">
                <a:solidFill>
                  <a:srgbClr val="1570C1"/>
                </a:solidFill>
                <a:latin typeface="微软雅黑" panose="020B0503020204020204" pitchFamily="34" charset="-122"/>
                <a:ea typeface="微软雅黑" panose="020B0503020204020204" pitchFamily="34" charset="-122"/>
              </a:rPr>
              <a:t>Vision)</a:t>
            </a:r>
            <a:endParaRPr lang="en-US" altLang="zh-CN" sz="24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1077913" y="4043363"/>
            <a:ext cx="9944100" cy="1198562"/>
          </a:xfrm>
          <a:prstGeom prst="rect">
            <a:avLst/>
          </a:prstGeom>
          <a:solidFill>
            <a:srgbClr val="1570C1"/>
          </a:solidFill>
          <a:ln w="9525">
            <a:noFill/>
          </a:ln>
        </p:spPr>
        <p:txBody>
          <a:bodyPr anchor="t" anchorCtr="0">
            <a:spAutoFit/>
          </a:bodyPr>
          <a:p>
            <a:pPr algn="just" eaLnBrk="0" hangingPunct="0"/>
            <a:r>
              <a:rPr lang="en-US" altLang="zh-CN" sz="240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企业愿景是在汇集全体员工的共同心愿基础上，对企业未来的美好远景和蓝图的展望。它能激发出强大的力量，使每个员工都渴望能够归属于一项重要的任务和事业，它是企业战略的重要组成部分。</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8" name="矩形 17"/>
          <p:cNvSpPr/>
          <p:nvPr/>
        </p:nvSpPr>
        <p:spPr>
          <a:xfrm>
            <a:off x="1028700" y="1931988"/>
            <a:ext cx="9944100" cy="1568450"/>
          </a:xfrm>
          <a:prstGeom prst="rect">
            <a:avLst/>
          </a:prstGeom>
          <a:solidFill>
            <a:srgbClr val="57CAF4"/>
          </a:solidFill>
          <a:ln w="9525">
            <a:noFill/>
          </a:ln>
        </p:spPr>
        <p:txBody>
          <a:bodyPr anchor="t" anchorCtr="0">
            <a:spAutoFit/>
          </a:bodyPr>
          <a:p>
            <a:pPr algn="just" eaLnBrk="0" hangingPunct="0"/>
            <a:r>
              <a:rPr lang="en-US" altLang="zh-CN" sz="2400" dirty="0">
                <a:solidFill>
                  <a:srgbClr val="1570C1"/>
                </a:solidFill>
                <a:latin typeface="微软雅黑" panose="020B0503020204020204" pitchFamily="34" charset="-122"/>
                <a:ea typeface="微软雅黑" panose="020B0503020204020204" pitchFamily="34" charset="-122"/>
              </a:rPr>
              <a:t>       </a:t>
            </a:r>
            <a:r>
              <a:rPr lang="zh-CN" altLang="en-US" sz="2400" dirty="0">
                <a:solidFill>
                  <a:srgbClr val="1570C1"/>
                </a:solidFill>
                <a:latin typeface="微软雅黑" panose="020B0503020204020204" pitchFamily="34" charset="-122"/>
                <a:ea typeface="微软雅黑" panose="020B0503020204020204" pitchFamily="34" charset="-122"/>
              </a:rPr>
              <a:t>愿景（</a:t>
            </a:r>
            <a:r>
              <a:rPr lang="en-US" altLang="zh-CN" sz="2400" dirty="0">
                <a:solidFill>
                  <a:srgbClr val="1570C1"/>
                </a:solidFill>
                <a:latin typeface="微软雅黑" panose="020B0503020204020204" pitchFamily="34" charset="-122"/>
                <a:ea typeface="微软雅黑" panose="020B0503020204020204" pitchFamily="34" charset="-122"/>
              </a:rPr>
              <a:t>BHAG</a:t>
            </a:r>
            <a:r>
              <a:rPr lang="zh-CN" altLang="en-US" sz="2400" dirty="0">
                <a:solidFill>
                  <a:srgbClr val="1570C1"/>
                </a:solidFill>
                <a:latin typeface="微软雅黑" panose="020B0503020204020204" pitchFamily="34" charset="-122"/>
                <a:ea typeface="微软雅黑" panose="020B0503020204020204" pitchFamily="34" charset="-122"/>
              </a:rPr>
              <a:t>，</a:t>
            </a:r>
            <a:r>
              <a:rPr lang="en-US" altLang="zh-CN" sz="2400" dirty="0">
                <a:solidFill>
                  <a:srgbClr val="1570C1"/>
                </a:solidFill>
                <a:latin typeface="微软雅黑" panose="020B0503020204020204" pitchFamily="34" charset="-122"/>
                <a:ea typeface="微软雅黑" panose="020B0503020204020204" pitchFamily="34" charset="-122"/>
              </a:rPr>
              <a:t>Big</a:t>
            </a:r>
            <a:r>
              <a:rPr lang="zh-CN" altLang="en-US" sz="2400" dirty="0">
                <a:solidFill>
                  <a:srgbClr val="1570C1"/>
                </a:solidFill>
                <a:latin typeface="微软雅黑" panose="020B0503020204020204" pitchFamily="34" charset="-122"/>
                <a:ea typeface="微软雅黑" panose="020B0503020204020204" pitchFamily="34" charset="-122"/>
              </a:rPr>
              <a:t>、</a:t>
            </a:r>
            <a:r>
              <a:rPr lang="en-US" altLang="zh-CN" sz="2400" dirty="0">
                <a:solidFill>
                  <a:srgbClr val="1570C1"/>
                </a:solidFill>
                <a:latin typeface="微软雅黑" panose="020B0503020204020204" pitchFamily="34" charset="-122"/>
                <a:ea typeface="微软雅黑" panose="020B0503020204020204" pitchFamily="34" charset="-122"/>
              </a:rPr>
              <a:t>Hairy</a:t>
            </a:r>
            <a:r>
              <a:rPr lang="zh-CN" altLang="en-US" sz="2400" dirty="0">
                <a:solidFill>
                  <a:srgbClr val="1570C1"/>
                </a:solidFill>
                <a:latin typeface="微软雅黑" panose="020B0503020204020204" pitchFamily="34" charset="-122"/>
                <a:ea typeface="微软雅黑" panose="020B0503020204020204" pitchFamily="34" charset="-122"/>
              </a:rPr>
              <a:t>、</a:t>
            </a:r>
            <a:r>
              <a:rPr lang="en-US" altLang="zh-CN" sz="2400" dirty="0">
                <a:solidFill>
                  <a:srgbClr val="1570C1"/>
                </a:solidFill>
                <a:latin typeface="微软雅黑" panose="020B0503020204020204" pitchFamily="34" charset="-122"/>
                <a:ea typeface="微软雅黑" panose="020B0503020204020204" pitchFamily="34" charset="-122"/>
              </a:rPr>
              <a:t>Audacious Goal,</a:t>
            </a:r>
            <a:r>
              <a:rPr lang="zh-CN" altLang="en-US" sz="2400" dirty="0">
                <a:solidFill>
                  <a:srgbClr val="1570C1"/>
                </a:solidFill>
                <a:latin typeface="微软雅黑" panose="020B0503020204020204" pitchFamily="34" charset="-122"/>
                <a:ea typeface="微软雅黑" panose="020B0503020204020204" pitchFamily="34" charset="-122"/>
              </a:rPr>
              <a:t>宏伟、艰难、大胆的目标</a:t>
            </a:r>
            <a:r>
              <a:rPr lang="en-US" altLang="zh-CN" sz="2400" dirty="0">
                <a:solidFill>
                  <a:srgbClr val="1570C1"/>
                </a:solidFill>
                <a:latin typeface="微软雅黑" panose="020B0503020204020204" pitchFamily="34" charset="-122"/>
                <a:ea typeface="微软雅黑" panose="020B0503020204020204" pitchFamily="34" charset="-122"/>
              </a:rPr>
              <a:t>)</a:t>
            </a:r>
            <a:r>
              <a:rPr lang="zh-CN" altLang="en-US" sz="2400" dirty="0">
                <a:solidFill>
                  <a:srgbClr val="1570C1"/>
                </a:solidFill>
                <a:latin typeface="微软雅黑" panose="020B0503020204020204" pitchFamily="34" charset="-122"/>
                <a:ea typeface="微软雅黑" panose="020B0503020204020204" pitchFamily="34" charset="-122"/>
              </a:rPr>
              <a:t>以清晰的图象和隐喻的方式来表达一种特定的目标。企业的共同愿景给企业员工方向。真正的愿景必须激发想象、直觉、情感和本能。（企业的未来蓝图、期待、展望）</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64" presetClass="path" presetSubtype="0" accel="50000" decel="50000" fill="hold" grpId="0" nodeType="clickEffect">
                                  <p:stCondLst>
                                    <p:cond delay="0"/>
                                  </p:stCondLst>
                                  <p:childTnLst>
                                    <p:animMotion origin="layout" path="M -3.95833E-6 -0.02778 L -3.95833E-6 -0.12523 " pathEditMode="relative" rAng="0" ptsTypes="AA">
                                      <p:cBhvr>
                                        <p:cTn id="11" dur="1000" fill="hold"/>
                                        <p:tgtEl>
                                          <p:spTgt spid="18"/>
                                        </p:tgtEl>
                                        <p:attrNameLst>
                                          <p:attrName>ppt_x</p:attrName>
                                          <p:attrName>ppt_y</p:attrName>
                                        </p:attrNameLst>
                                      </p:cBhvr>
                                      <p:rCtr x="0" y="-4900"/>
                                    </p:animMotion>
                                  </p:childTnLst>
                                </p:cTn>
                              </p:par>
                              <p:par>
                                <p:cTn id="12" presetID="47"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8" grpId="0" bldLvl="0" animBg="1"/>
      <p:bldP spid="18" grpId="1"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a:xfrm>
            <a:off x="738505" y="-199390"/>
            <a:ext cx="10515600" cy="1325563"/>
          </a:xfrm>
        </p:spPr>
        <p:txBody>
          <a:bodyPr vert="horz" wrap="square" lIns="94600" tIns="47300" rIns="94600" bIns="47300" anchor="ctr" anchorCtr="0"/>
          <a:p>
            <a:pPr algn="ctr" defTabSz="914400" eaLnBrk="1" hangingPunct="1">
              <a:lnSpc>
                <a:spcPct val="100000"/>
              </a:lnSpc>
              <a:buClrTx/>
              <a:buSzTx/>
              <a:buFontTx/>
            </a:pPr>
            <a:r>
              <a:rPr lang="zh-CN" altLang="zh-CN" sz="3600" dirty="0">
                <a:solidFill>
                  <a:srgbClr val="1570C1"/>
                </a:solidFill>
                <a:latin typeface="微软雅黑" panose="020B0503020204020204" pitchFamily="34" charset="-122"/>
                <a:ea typeface="微软雅黑" panose="020B0503020204020204" pitchFamily="34" charset="-122"/>
                <a:cs typeface="+mn-cs"/>
              </a:rPr>
              <a:t>国内外知名企业愿景表述的实例</a:t>
            </a:r>
            <a:endParaRPr lang="zh-CN" altLang="zh-CN" sz="3600" dirty="0">
              <a:solidFill>
                <a:srgbClr val="1570C1"/>
              </a:solidFill>
              <a:latin typeface="微软雅黑" panose="020B0503020204020204" pitchFamily="34" charset="-122"/>
              <a:ea typeface="微软雅黑" panose="020B0503020204020204" pitchFamily="34" charset="-122"/>
              <a:cs typeface="+mn-cs"/>
            </a:endParaRPr>
          </a:p>
        </p:txBody>
      </p:sp>
      <p:sp>
        <p:nvSpPr>
          <p:cNvPr id="20483" name="内容占位符 1"/>
          <p:cNvSpPr>
            <a:spLocks noGrp="1"/>
          </p:cNvSpPr>
          <p:nvPr>
            <p:ph sz="half" idx="1"/>
          </p:nvPr>
        </p:nvSpPr>
        <p:spPr>
          <a:xfrm>
            <a:off x="1612265" y="876935"/>
            <a:ext cx="4283075" cy="5812790"/>
          </a:xfrm>
        </p:spPr>
        <p:txBody>
          <a:bodyPr vert="horz" wrap="square" lIns="94600" tIns="47300" rIns="94600" bIns="47300" anchor="t" anchorCtr="0"/>
          <a:p>
            <a:pPr defTabSz="1043305">
              <a:buClrTx/>
              <a:buSzTx/>
            </a:pPr>
            <a:r>
              <a:rPr lang="zh-CN" altLang="zh-CN" sz="2400" b="1" kern="1200" dirty="0">
                <a:solidFill>
                  <a:srgbClr val="0070C0"/>
                </a:solidFill>
                <a:latin typeface="+mn-lt"/>
                <a:ea typeface="+mn-ea"/>
                <a:cs typeface="+mn-cs"/>
              </a:rPr>
              <a:t>惠普公司</a:t>
            </a:r>
            <a:r>
              <a:rPr lang="zh-CN" altLang="zh-CN" sz="2400" kern="1200" dirty="0">
                <a:latin typeface="+mn-lt"/>
                <a:ea typeface="+mn-ea"/>
                <a:cs typeface="+mn-cs"/>
              </a:rPr>
              <a:t>：创造出能让所有人随时随地享受更优质生活的技术，惠及全世界每个人、每个组织、每个社区</a:t>
            </a:r>
            <a:endParaRPr lang="zh-CN" altLang="zh-CN" sz="2400" kern="1200" dirty="0">
              <a:latin typeface="+mn-lt"/>
              <a:ea typeface="+mn-ea"/>
              <a:cs typeface="+mn-cs"/>
            </a:endParaRPr>
          </a:p>
          <a:p>
            <a:pPr defTabSz="1043305">
              <a:buClrTx/>
              <a:buSzTx/>
            </a:pPr>
            <a:r>
              <a:rPr lang="zh-CN" altLang="zh-CN" sz="2400" b="1" kern="1200" dirty="0">
                <a:solidFill>
                  <a:srgbClr val="0070C0"/>
                </a:solidFill>
                <a:latin typeface="+mn-lt"/>
                <a:ea typeface="+mn-ea"/>
                <a:cs typeface="+mn-cs"/>
              </a:rPr>
              <a:t>埃森哲咨询公司</a:t>
            </a:r>
            <a:r>
              <a:rPr lang="zh-CN" altLang="zh-CN" sz="2400" kern="1200" dirty="0">
                <a:latin typeface="+mn-lt"/>
                <a:ea typeface="+mn-ea"/>
                <a:cs typeface="+mn-cs"/>
              </a:rPr>
              <a:t>：帮助世界领先的机构解决最为复杂的业务问题，助其实现转型；制定并实施创新型业务解决方案，以改善这个世界的生活与工作方式</a:t>
            </a:r>
            <a:endParaRPr lang="zh-CN" altLang="zh-CN" sz="2400" kern="1200" dirty="0">
              <a:latin typeface="+mn-lt"/>
              <a:ea typeface="+mn-ea"/>
              <a:cs typeface="+mn-cs"/>
            </a:endParaRPr>
          </a:p>
          <a:p>
            <a:pPr defTabSz="1043305">
              <a:buClrTx/>
              <a:buSzTx/>
            </a:pPr>
            <a:r>
              <a:rPr lang="zh-CN" altLang="zh-CN" sz="2400" b="1" kern="1200" dirty="0">
                <a:solidFill>
                  <a:srgbClr val="0070C0"/>
                </a:solidFill>
                <a:latin typeface="+mn-lt"/>
                <a:ea typeface="+mn-ea"/>
                <a:cs typeface="+mn-cs"/>
              </a:rPr>
              <a:t>雀巢公司</a:t>
            </a:r>
            <a:r>
              <a:rPr lang="zh-CN" altLang="zh-CN" sz="2400" kern="1200" dirty="0">
                <a:latin typeface="+mn-lt"/>
                <a:ea typeface="+mn-ea"/>
                <a:cs typeface="+mn-cs"/>
              </a:rPr>
              <a:t>：到</a:t>
            </a:r>
            <a:r>
              <a:rPr lang="en-US" altLang="zh-CN" sz="2400" kern="1200" dirty="0">
                <a:latin typeface="+mn-lt"/>
                <a:ea typeface="+mn-ea"/>
                <a:cs typeface="+mn-cs"/>
              </a:rPr>
              <a:t>2030</a:t>
            </a:r>
            <a:r>
              <a:rPr lang="zh-CN" altLang="zh-CN" sz="2400" kern="1200" dirty="0">
                <a:latin typeface="+mn-lt"/>
                <a:ea typeface="+mn-ea"/>
                <a:cs typeface="+mn-cs"/>
              </a:rPr>
              <a:t>年，帮助</a:t>
            </a:r>
            <a:r>
              <a:rPr lang="en-US" altLang="zh-CN" sz="2400" kern="1200" dirty="0">
                <a:latin typeface="+mn-lt"/>
                <a:ea typeface="+mn-ea"/>
                <a:cs typeface="+mn-cs"/>
              </a:rPr>
              <a:t>5000</a:t>
            </a:r>
            <a:r>
              <a:rPr lang="zh-CN" altLang="zh-CN" sz="2400" kern="1200" dirty="0">
                <a:latin typeface="+mn-lt"/>
                <a:ea typeface="+mn-ea"/>
                <a:cs typeface="+mn-cs"/>
              </a:rPr>
              <a:t>万儿童拥有更健康的生活，在与雀巢商业活动直接相关的社区中帮助</a:t>
            </a:r>
            <a:r>
              <a:rPr lang="en-US" altLang="zh-CN" sz="2400" kern="1200" dirty="0">
                <a:latin typeface="+mn-lt"/>
                <a:ea typeface="+mn-ea"/>
                <a:cs typeface="+mn-cs"/>
              </a:rPr>
              <a:t>3000</a:t>
            </a:r>
            <a:r>
              <a:rPr lang="zh-CN" altLang="zh-CN" sz="2400" kern="1200" dirty="0">
                <a:latin typeface="+mn-lt"/>
                <a:ea typeface="+mn-ea"/>
                <a:cs typeface="+mn-cs"/>
              </a:rPr>
              <a:t>万人改善生活，努力实现经营活动对环境零影响，推动实现联合国可持续发展目标</a:t>
            </a:r>
            <a:endParaRPr lang="zh-CN" altLang="zh-CN" sz="2400" kern="1200" dirty="0">
              <a:latin typeface="+mn-lt"/>
              <a:ea typeface="+mn-ea"/>
              <a:cs typeface="+mn-cs"/>
            </a:endParaRPr>
          </a:p>
          <a:p>
            <a:pPr defTabSz="1043305">
              <a:buClrTx/>
              <a:buSzTx/>
            </a:pPr>
            <a:endParaRPr lang="zh-CN" altLang="en-US" sz="2400" kern="1200" dirty="0">
              <a:latin typeface="+mn-lt"/>
              <a:ea typeface="+mn-ea"/>
              <a:cs typeface="+mn-cs"/>
            </a:endParaRPr>
          </a:p>
        </p:txBody>
      </p:sp>
      <p:sp>
        <p:nvSpPr>
          <p:cNvPr id="20484" name="内容占位符 2"/>
          <p:cNvSpPr>
            <a:spLocks noGrp="1"/>
          </p:cNvSpPr>
          <p:nvPr>
            <p:ph sz="half" idx="2"/>
          </p:nvPr>
        </p:nvSpPr>
        <p:spPr>
          <a:xfrm>
            <a:off x="6176645" y="1246505"/>
            <a:ext cx="4283075" cy="4744720"/>
          </a:xfrm>
        </p:spPr>
        <p:txBody>
          <a:bodyPr vert="horz" wrap="square" lIns="94600" tIns="47300" rIns="94600" bIns="47300" anchor="t" anchorCtr="0"/>
          <a:p>
            <a:pPr defTabSz="1043305">
              <a:buClrTx/>
              <a:buSzTx/>
            </a:pPr>
            <a:r>
              <a:rPr lang="zh-CN" altLang="zh-CN" sz="2400" b="1" kern="1200" dirty="0">
                <a:solidFill>
                  <a:srgbClr val="0070C0"/>
                </a:solidFill>
                <a:latin typeface="+mn-lt"/>
                <a:ea typeface="+mn-ea"/>
                <a:cs typeface="+mn-cs"/>
              </a:rPr>
              <a:t>京东集团</a:t>
            </a:r>
            <a:r>
              <a:rPr lang="zh-CN" altLang="zh-CN" sz="2400" kern="1200" dirty="0">
                <a:latin typeface="+mn-lt"/>
                <a:ea typeface="+mn-ea"/>
                <a:cs typeface="+mn-cs"/>
              </a:rPr>
              <a:t>：成为全球最值得信赖的企业</a:t>
            </a:r>
            <a:endParaRPr lang="en-US" altLang="zh-CN" sz="2400" kern="1200" dirty="0">
              <a:latin typeface="+mn-lt"/>
              <a:ea typeface="+mn-ea"/>
              <a:cs typeface="+mn-cs"/>
            </a:endParaRPr>
          </a:p>
          <a:p>
            <a:pPr defTabSz="1043305">
              <a:buClrTx/>
              <a:buSzTx/>
            </a:pPr>
            <a:endParaRPr lang="zh-CN" altLang="zh-CN" sz="2400" kern="1200" dirty="0">
              <a:latin typeface="+mn-lt"/>
              <a:ea typeface="+mn-ea"/>
              <a:cs typeface="+mn-cs"/>
            </a:endParaRPr>
          </a:p>
          <a:p>
            <a:pPr defTabSz="1043305">
              <a:buClrTx/>
              <a:buSzTx/>
            </a:pPr>
            <a:r>
              <a:rPr lang="zh-CN" altLang="zh-CN" sz="2400" b="1" kern="1200" dirty="0">
                <a:solidFill>
                  <a:srgbClr val="0070C0"/>
                </a:solidFill>
                <a:latin typeface="+mn-lt"/>
                <a:ea typeface="+mn-ea"/>
                <a:cs typeface="+mn-cs"/>
              </a:rPr>
              <a:t>小米公司</a:t>
            </a:r>
            <a:r>
              <a:rPr lang="zh-CN" altLang="zh-CN" sz="2400" kern="1200" dirty="0">
                <a:latin typeface="+mn-lt"/>
                <a:ea typeface="+mn-ea"/>
                <a:cs typeface="+mn-cs"/>
              </a:rPr>
              <a:t>：和用户交朋友，做用户心中最酷的公司</a:t>
            </a:r>
            <a:endParaRPr lang="en-US" altLang="zh-CN" sz="2400" kern="1200" dirty="0">
              <a:latin typeface="+mn-lt"/>
              <a:ea typeface="+mn-ea"/>
              <a:cs typeface="+mn-cs"/>
            </a:endParaRPr>
          </a:p>
          <a:p>
            <a:pPr defTabSz="1043305">
              <a:buClrTx/>
              <a:buSzTx/>
            </a:pPr>
            <a:endParaRPr lang="zh-CN" altLang="zh-CN" sz="2400" kern="1200" dirty="0">
              <a:latin typeface="+mn-lt"/>
              <a:ea typeface="+mn-ea"/>
              <a:cs typeface="+mn-cs"/>
            </a:endParaRPr>
          </a:p>
          <a:p>
            <a:pPr defTabSz="1043305">
              <a:buClrTx/>
              <a:buSzTx/>
            </a:pPr>
            <a:r>
              <a:rPr lang="zh-CN" altLang="zh-CN" sz="2400" b="1" kern="1200" dirty="0">
                <a:solidFill>
                  <a:srgbClr val="0070C0"/>
                </a:solidFill>
                <a:latin typeface="+mn-lt"/>
                <a:ea typeface="+mn-ea"/>
                <a:cs typeface="+mn-cs"/>
              </a:rPr>
              <a:t>百度公司</a:t>
            </a:r>
            <a:r>
              <a:rPr lang="zh-CN" altLang="zh-CN" sz="2400" b="1" kern="1200" dirty="0">
                <a:latin typeface="+mn-lt"/>
                <a:ea typeface="+mn-ea"/>
                <a:cs typeface="+mn-cs"/>
              </a:rPr>
              <a:t>：</a:t>
            </a:r>
            <a:r>
              <a:rPr lang="zh-CN" altLang="zh-CN" sz="2400" kern="1200" dirty="0">
                <a:latin typeface="+mn-lt"/>
                <a:ea typeface="+mn-ea"/>
                <a:cs typeface="+mn-cs"/>
              </a:rPr>
              <a:t>成为最懂用户，并能帮助人们成长的全球顶级高科技公司</a:t>
            </a:r>
            <a:endParaRPr lang="en-US" altLang="zh-CN" sz="2400" kern="1200" dirty="0">
              <a:latin typeface="+mn-lt"/>
              <a:ea typeface="+mn-ea"/>
              <a:cs typeface="+mn-cs"/>
            </a:endParaRPr>
          </a:p>
          <a:p>
            <a:pPr defTabSz="1043305">
              <a:buClrTx/>
              <a:buSzTx/>
            </a:pPr>
            <a:endParaRPr lang="zh-CN" altLang="zh-CN" sz="2400" kern="1200" dirty="0">
              <a:latin typeface="+mn-lt"/>
              <a:ea typeface="+mn-ea"/>
              <a:cs typeface="+mn-cs"/>
            </a:endParaRPr>
          </a:p>
          <a:p>
            <a:pPr defTabSz="1043305">
              <a:buClrTx/>
              <a:buSzTx/>
            </a:pPr>
            <a:r>
              <a:rPr lang="zh-CN" altLang="zh-CN" sz="2400" b="1" kern="1200" dirty="0">
                <a:solidFill>
                  <a:srgbClr val="0070C0"/>
                </a:solidFill>
                <a:latin typeface="+mn-lt"/>
                <a:ea typeface="+mn-ea"/>
                <a:cs typeface="+mn-cs"/>
              </a:rPr>
              <a:t>方太集团</a:t>
            </a:r>
            <a:r>
              <a:rPr lang="zh-CN" altLang="zh-CN" sz="2400" kern="1200" dirty="0">
                <a:latin typeface="+mn-lt"/>
                <a:ea typeface="+mn-ea"/>
                <a:cs typeface="+mn-cs"/>
              </a:rPr>
              <a:t>：成为一家伟大的公司</a:t>
            </a:r>
            <a:endParaRPr lang="zh-CN" altLang="zh-CN" sz="2400" kern="1200" dirty="0">
              <a:latin typeface="+mn-lt"/>
              <a:ea typeface="+mn-ea"/>
              <a:cs typeface="+mn-cs"/>
            </a:endParaRPr>
          </a:p>
          <a:p>
            <a:pPr defTabSz="1043305">
              <a:buClrTx/>
              <a:buSzTx/>
            </a:pPr>
            <a:endParaRPr lang="zh-CN" altLang="en-US" sz="2400" kern="1200" dirty="0">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文本框 17"/>
          <p:cNvSpPr txBox="1"/>
          <p:nvPr/>
        </p:nvSpPr>
        <p:spPr>
          <a:xfrm>
            <a:off x="425450" y="425450"/>
            <a:ext cx="10347325" cy="892175"/>
          </a:xfrm>
          <a:prstGeom prst="rect">
            <a:avLst/>
          </a:prstGeom>
          <a:noFill/>
          <a:ln w="9525">
            <a:noFill/>
          </a:ln>
        </p:spPr>
        <p:txBody>
          <a:bodyPr anchor="t" anchorCtr="0">
            <a:spAutoFit/>
          </a:bodyPr>
          <a:p>
            <a:r>
              <a:rPr lang="en-US" altLang="zh-CN" sz="2400" dirty="0">
                <a:solidFill>
                  <a:srgbClr val="1570C1"/>
                </a:solidFill>
                <a:latin typeface="微软雅黑" panose="020B0503020204020204" pitchFamily="34" charset="-122"/>
                <a:ea typeface="微软雅黑" panose="020B0503020204020204" pitchFamily="34" charset="-122"/>
              </a:rPr>
              <a:t>1.1.3  </a:t>
            </a:r>
            <a:r>
              <a:rPr lang="zh-CN" altLang="en-US" sz="2400" dirty="0">
                <a:solidFill>
                  <a:srgbClr val="1570C1"/>
                </a:solidFill>
                <a:latin typeface="微软雅黑" panose="020B0503020204020204" pitchFamily="34" charset="-122"/>
                <a:ea typeface="微软雅黑" panose="020B0503020204020204" pitchFamily="34" charset="-122"/>
              </a:rPr>
              <a:t>企业使命与愿景的区别与联系</a:t>
            </a:r>
            <a:endParaRPr lang="zh-CN" altLang="en-US" sz="2400" dirty="0">
              <a:solidFill>
                <a:srgbClr val="1570C1"/>
              </a:solidFill>
              <a:latin typeface="微软雅黑" panose="020B0503020204020204" pitchFamily="34" charset="-122"/>
              <a:ea typeface="微软雅黑" panose="020B0503020204020204" pitchFamily="34" charset="-122"/>
            </a:endParaRPr>
          </a:p>
          <a:p>
            <a:pPr algn="r"/>
            <a:r>
              <a:rPr lang="en-US" altLang="zh-CN" sz="2800" dirty="0">
                <a:solidFill>
                  <a:srgbClr val="1570C1"/>
                </a:solidFill>
                <a:latin typeface="微软雅黑" panose="020B0503020204020204" pitchFamily="34" charset="-122"/>
                <a:ea typeface="微软雅黑" panose="020B0503020204020204" pitchFamily="34" charset="-122"/>
              </a:rPr>
              <a:t>——</a:t>
            </a:r>
            <a:r>
              <a:rPr lang="zh-CN" altLang="en-US" sz="2800" dirty="0">
                <a:solidFill>
                  <a:srgbClr val="1570C1"/>
                </a:solidFill>
                <a:latin typeface="微软雅黑" panose="020B0503020204020204" pitchFamily="34" charset="-122"/>
                <a:ea typeface="微软雅黑" panose="020B0503020204020204" pitchFamily="34" charset="-122"/>
              </a:rPr>
              <a:t>区别</a:t>
            </a:r>
            <a:endParaRPr lang="zh-CN" altLang="en-US" sz="2800" dirty="0">
              <a:solidFill>
                <a:srgbClr val="1570C1"/>
              </a:solidFill>
              <a:latin typeface="微软雅黑" panose="020B0503020204020204" pitchFamily="34" charset="-122"/>
              <a:ea typeface="微软雅黑" panose="020B0503020204020204" pitchFamily="34" charset="-122"/>
            </a:endParaRPr>
          </a:p>
        </p:txBody>
      </p:sp>
      <p:grpSp>
        <p:nvGrpSpPr>
          <p:cNvPr id="28674"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28677"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28680" name="组合 2"/>
          <p:cNvGrpSpPr/>
          <p:nvPr/>
        </p:nvGrpSpPr>
        <p:grpSpPr>
          <a:xfrm>
            <a:off x="1768475" y="1314450"/>
            <a:ext cx="8656638" cy="4935538"/>
            <a:chOff x="3593" y="2745"/>
            <a:chExt cx="12947" cy="7504"/>
          </a:xfrm>
        </p:grpSpPr>
        <p:sp>
          <p:nvSpPr>
            <p:cNvPr id="42" name="燕尾形 41"/>
            <p:cNvSpPr/>
            <p:nvPr/>
          </p:nvSpPr>
          <p:spPr>
            <a:xfrm>
              <a:off x="3593" y="5579"/>
              <a:ext cx="6534" cy="792"/>
            </a:xfrm>
            <a:prstGeom prst="chevron">
              <a:avLst>
                <a:gd name="adj" fmla="val 38088"/>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400" b="0" i="0" u="none" strike="noStrike" kern="1200" cap="none" spc="0" normalizeH="0" baseline="0" noProof="1">
                <a:ln>
                  <a:noFill/>
                </a:ln>
                <a:solidFill>
                  <a:schemeClr val="lt1"/>
                </a:solidFill>
                <a:effectLst/>
                <a:uLnTx/>
                <a:uFillTx/>
                <a:latin typeface="+mn-lt"/>
                <a:ea typeface="+mn-ea"/>
                <a:cs typeface="+mn-cs"/>
              </a:endParaRPr>
            </a:p>
          </p:txBody>
        </p:sp>
        <p:cxnSp>
          <p:nvCxnSpPr>
            <p:cNvPr id="43" name="直接箭头​​连接符 11"/>
            <p:cNvCxnSpPr/>
            <p:nvPr/>
          </p:nvCxnSpPr>
          <p:spPr>
            <a:xfrm>
              <a:off x="9695" y="6370"/>
              <a:ext cx="0" cy="3879"/>
            </a:xfrm>
            <a:prstGeom prst="straightConnector1">
              <a:avLst/>
            </a:prstGeom>
            <a:ln w="25400">
              <a:solidFill>
                <a:srgbClr val="57CAF4">
                  <a:alpha val="61000"/>
                </a:srgb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12"/>
            <p:cNvCxnSpPr/>
            <p:nvPr/>
          </p:nvCxnSpPr>
          <p:spPr>
            <a:xfrm flipV="1">
              <a:off x="3612" y="2745"/>
              <a:ext cx="0" cy="2834"/>
            </a:xfrm>
            <a:prstGeom prst="straightConnector1">
              <a:avLst/>
            </a:prstGeom>
            <a:ln w="25400">
              <a:solidFill>
                <a:srgbClr val="1570C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45" name="燕尾形 44"/>
            <p:cNvSpPr/>
            <p:nvPr/>
          </p:nvSpPr>
          <p:spPr>
            <a:xfrm>
              <a:off x="9676" y="5579"/>
              <a:ext cx="6534" cy="792"/>
            </a:xfrm>
            <a:prstGeom prst="chevron">
              <a:avLst>
                <a:gd name="adj" fmla="val 38088"/>
              </a:avLst>
            </a:prstGeom>
            <a:solidFill>
              <a:srgbClr val="57CA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400" b="0" i="0" u="none" strike="noStrike" kern="1200" cap="none" spc="0" normalizeH="0" baseline="0" noProof="1">
                <a:ln>
                  <a:noFill/>
                </a:ln>
                <a:solidFill>
                  <a:schemeClr val="lt1"/>
                </a:solidFill>
                <a:effectLst/>
                <a:uLnTx/>
                <a:uFillTx/>
                <a:latin typeface="+mn-lt"/>
                <a:ea typeface="+mn-ea"/>
                <a:cs typeface="+mn-cs"/>
              </a:endParaRPr>
            </a:p>
          </p:txBody>
        </p:sp>
        <p:sp>
          <p:nvSpPr>
            <p:cNvPr id="46" name="TextBox 3"/>
            <p:cNvSpPr txBox="1"/>
            <p:nvPr/>
          </p:nvSpPr>
          <p:spPr>
            <a:xfrm>
              <a:off x="5680" y="5675"/>
              <a:ext cx="3628" cy="606"/>
            </a:xfrm>
            <a:prstGeom prst="rect">
              <a:avLst/>
            </a:prstGeom>
            <a:noFill/>
          </p:spPr>
          <p:txBody>
            <a:bodyPr>
              <a:spAutoFit/>
            </a:bodyPr>
            <a:lstStyle/>
            <a:p>
              <a:pPr marR="0" defTabSz="914400" eaLnBrk="0" fontAlgn="auto" hangingPunct="0">
                <a:spcBef>
                  <a:spcPts val="0"/>
                </a:spcBef>
                <a:spcAft>
                  <a:spcPts val="0"/>
                </a:spcAft>
                <a:buClrTx/>
                <a:buSzTx/>
                <a:buFontTx/>
                <a:defRPr/>
              </a:pPr>
              <a:r>
                <a:rPr kumimoji="0" lang="zh-CN" altLang="zh-CN" sz="2000" b="1"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企业使命</a:t>
              </a:r>
              <a:endParaRPr kumimoji="0" lang="zh-CN" altLang="en-US" sz="2000" b="1"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endParaRPr>
            </a:p>
          </p:txBody>
        </p:sp>
        <p:sp>
          <p:nvSpPr>
            <p:cNvPr id="47" name="TextBox 12"/>
            <p:cNvSpPr txBox="1"/>
            <p:nvPr/>
          </p:nvSpPr>
          <p:spPr>
            <a:xfrm>
              <a:off x="11635" y="5682"/>
              <a:ext cx="3630" cy="606"/>
            </a:xfrm>
            <a:prstGeom prst="rect">
              <a:avLst/>
            </a:prstGeom>
            <a:noFill/>
          </p:spPr>
          <p:txBody>
            <a:bodyPr>
              <a:spAutoFit/>
            </a:bodyPr>
            <a:lstStyle/>
            <a:p>
              <a:pPr marR="0" defTabSz="914400" eaLnBrk="0" fontAlgn="auto" hangingPunct="0">
                <a:spcBef>
                  <a:spcPts val="0"/>
                </a:spcBef>
                <a:spcAft>
                  <a:spcPts val="0"/>
                </a:spcAft>
                <a:buClrTx/>
                <a:buSzTx/>
                <a:buFontTx/>
                <a:defRPr/>
              </a:pPr>
              <a:r>
                <a:rPr kumimoji="0" lang="zh-CN" altLang="en-US" sz="2000" b="1"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企业愿景</a:t>
              </a:r>
              <a:endParaRPr kumimoji="0" lang="zh-CN" altLang="en-US" sz="2000" b="1"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endParaRPr>
            </a:p>
          </p:txBody>
        </p:sp>
        <p:sp>
          <p:nvSpPr>
            <p:cNvPr id="28687" name="TextBox 4"/>
            <p:cNvSpPr txBox="1"/>
            <p:nvPr/>
          </p:nvSpPr>
          <p:spPr>
            <a:xfrm>
              <a:off x="3789" y="2745"/>
              <a:ext cx="7410" cy="2834"/>
            </a:xfrm>
            <a:prstGeom prst="rect">
              <a:avLst/>
            </a:prstGeom>
            <a:noFill/>
            <a:ln w="9525">
              <a:noFill/>
            </a:ln>
          </p:spPr>
          <p:txBody>
            <a:bodyPr anchor="t" anchorCtr="0">
              <a:spAutoFit/>
            </a:bodyPr>
            <a:p>
              <a:pPr marL="285750" indent="-285750" eaLnBrk="0" hangingPunct="0">
                <a:lnSpc>
                  <a:spcPct val="12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回答</a:t>
              </a:r>
              <a:r>
                <a:rPr lang="en-US" altLang="zh-CN" sz="2400" dirty="0">
                  <a:solidFill>
                    <a:srgbClr val="1570C1"/>
                  </a:solidFill>
                  <a:latin typeface="微软雅黑" panose="020B0503020204020204" pitchFamily="34" charset="-122"/>
                  <a:ea typeface="微软雅黑" panose="020B0503020204020204" pitchFamily="34" charset="-122"/>
                </a:rPr>
                <a:t>“</a:t>
              </a:r>
              <a:r>
                <a:rPr lang="zh-CN" altLang="en-US" sz="2400" dirty="0">
                  <a:solidFill>
                    <a:srgbClr val="1570C1"/>
                  </a:solidFill>
                  <a:latin typeface="微软雅黑" panose="020B0503020204020204" pitchFamily="34" charset="-122"/>
                  <a:ea typeface="微软雅黑" panose="020B0503020204020204" pitchFamily="34" charset="-122"/>
                </a:rPr>
                <a:t>我们是什么</a:t>
              </a:r>
              <a:r>
                <a:rPr lang="en-US" altLang="zh-CN" sz="2400" dirty="0">
                  <a:solidFill>
                    <a:srgbClr val="1570C1"/>
                  </a:solidFill>
                  <a:latin typeface="微软雅黑" panose="020B0503020204020204" pitchFamily="34" charset="-122"/>
                  <a:ea typeface="微软雅黑" panose="020B0503020204020204" pitchFamily="34" charset="-122"/>
                </a:rPr>
                <a:t>”</a:t>
              </a:r>
              <a:endParaRPr lang="en-US" altLang="zh-CN" sz="2400" dirty="0">
                <a:solidFill>
                  <a:srgbClr val="1570C1"/>
                </a:solidFill>
                <a:latin typeface="微软雅黑" panose="020B0503020204020204" pitchFamily="34" charset="-122"/>
                <a:ea typeface="微软雅黑" panose="020B0503020204020204" pitchFamily="34" charset="-122"/>
              </a:endParaRPr>
            </a:p>
            <a:p>
              <a:pPr marL="285750" indent="-285750" eaLnBrk="0" hangingPunct="0">
                <a:lnSpc>
                  <a:spcPct val="120000"/>
                </a:lnSpc>
                <a:buFont typeface="Wingdings" panose="05000000000000000000" pitchFamily="2" charset="2"/>
                <a:buChar char="Ø"/>
              </a:pPr>
              <a:r>
                <a:rPr lang="en-US" altLang="zh-CN" sz="2400" dirty="0">
                  <a:solidFill>
                    <a:srgbClr val="1570C1"/>
                  </a:solidFill>
                  <a:latin typeface="微软雅黑" panose="020B0503020204020204" pitchFamily="34" charset="-122"/>
                  <a:ea typeface="微软雅黑" panose="020B0503020204020204" pitchFamily="34" charset="-122"/>
                </a:rPr>
                <a:t>企业的根本性质和存在的理由</a:t>
              </a:r>
              <a:endParaRPr lang="en-US" altLang="zh-CN" sz="2400" dirty="0">
                <a:solidFill>
                  <a:srgbClr val="1570C1"/>
                </a:solidFill>
                <a:latin typeface="微软雅黑" panose="020B0503020204020204" pitchFamily="34" charset="-122"/>
                <a:ea typeface="微软雅黑" panose="020B0503020204020204" pitchFamily="34" charset="-122"/>
              </a:endParaRPr>
            </a:p>
            <a:p>
              <a:pPr marL="285750" indent="-285750" eaLnBrk="0" hangingPunct="0">
                <a:lnSpc>
                  <a:spcPct val="12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长期的、抽象的</a:t>
              </a:r>
              <a:endParaRPr lang="zh-CN" altLang="en-US" sz="2400" dirty="0">
                <a:solidFill>
                  <a:srgbClr val="1570C1"/>
                </a:solidFill>
                <a:latin typeface="微软雅黑" panose="020B0503020204020204" pitchFamily="34" charset="-122"/>
                <a:ea typeface="微软雅黑" panose="020B0503020204020204" pitchFamily="34" charset="-122"/>
              </a:endParaRPr>
            </a:p>
            <a:p>
              <a:pPr marL="285750" indent="-285750" eaLnBrk="0" hangingPunct="0">
                <a:lnSpc>
                  <a:spcPct val="12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决定企业愿景</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28688" name="TextBox 2"/>
            <p:cNvSpPr txBox="1"/>
            <p:nvPr/>
          </p:nvSpPr>
          <p:spPr>
            <a:xfrm>
              <a:off x="9874" y="6556"/>
              <a:ext cx="6666" cy="3506"/>
            </a:xfrm>
            <a:prstGeom prst="rect">
              <a:avLst/>
            </a:prstGeom>
            <a:noFill/>
            <a:ln w="9525">
              <a:noFill/>
            </a:ln>
          </p:spPr>
          <p:txBody>
            <a:bodyPr anchor="t" anchorCtr="0">
              <a:spAutoFit/>
            </a:bodyPr>
            <a:p>
              <a:pPr marL="285750" indent="-285750" eaLnBrk="0" hangingPunct="0">
                <a:lnSpc>
                  <a:spcPct val="12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回答</a:t>
              </a:r>
              <a:r>
                <a:rPr lang="en-US" altLang="zh-CN" sz="2400" dirty="0">
                  <a:solidFill>
                    <a:srgbClr val="1570C1"/>
                  </a:solidFill>
                  <a:latin typeface="微软雅黑" panose="020B0503020204020204" pitchFamily="34" charset="-122"/>
                  <a:ea typeface="微软雅黑" panose="020B0503020204020204" pitchFamily="34" charset="-122"/>
                </a:rPr>
                <a:t>“</a:t>
              </a:r>
              <a:r>
                <a:rPr lang="zh-CN" altLang="en-US" sz="2400" dirty="0">
                  <a:solidFill>
                    <a:srgbClr val="1570C1"/>
                  </a:solidFill>
                  <a:latin typeface="微软雅黑" panose="020B0503020204020204" pitchFamily="34" charset="-122"/>
                  <a:ea typeface="微软雅黑" panose="020B0503020204020204" pitchFamily="34" charset="-122"/>
                </a:rPr>
                <a:t>我们应该成为什么</a:t>
              </a:r>
              <a:r>
                <a:rPr lang="en-US" altLang="zh-CN" sz="2400" dirty="0">
                  <a:solidFill>
                    <a:srgbClr val="1570C1"/>
                  </a:solidFill>
                  <a:latin typeface="微软雅黑" panose="020B0503020204020204" pitchFamily="34" charset="-122"/>
                  <a:ea typeface="微软雅黑" panose="020B0503020204020204" pitchFamily="34" charset="-122"/>
                </a:rPr>
                <a:t>”</a:t>
              </a:r>
              <a:endParaRPr lang="en-US" altLang="zh-CN" sz="2400" dirty="0">
                <a:solidFill>
                  <a:srgbClr val="1570C1"/>
                </a:solidFill>
                <a:latin typeface="微软雅黑" panose="020B0503020204020204" pitchFamily="34" charset="-122"/>
                <a:ea typeface="微软雅黑" panose="020B0503020204020204" pitchFamily="34" charset="-122"/>
              </a:endParaRPr>
            </a:p>
            <a:p>
              <a:pPr marL="285750" indent="-285750" eaLnBrk="0" hangingPunct="0">
                <a:lnSpc>
                  <a:spcPct val="120000"/>
                </a:lnSpc>
                <a:buFont typeface="Wingdings" panose="05000000000000000000" pitchFamily="2" charset="2"/>
                <a:buChar char="Ø"/>
              </a:pPr>
              <a:r>
                <a:rPr lang="en-US" altLang="zh-CN" sz="2400" dirty="0">
                  <a:solidFill>
                    <a:srgbClr val="1570C1"/>
                  </a:solidFill>
                  <a:latin typeface="微软雅黑" panose="020B0503020204020204" pitchFamily="34" charset="-122"/>
                  <a:ea typeface="微软雅黑" panose="020B0503020204020204" pitchFamily="34" charset="-122"/>
                </a:rPr>
                <a:t>企业应当朝什么方向努力才能实现企业的使命</a:t>
              </a:r>
              <a:endParaRPr lang="en-US" altLang="zh-CN" sz="2400" dirty="0">
                <a:solidFill>
                  <a:srgbClr val="1570C1"/>
                </a:solidFill>
                <a:latin typeface="微软雅黑" panose="020B0503020204020204" pitchFamily="34" charset="-122"/>
                <a:ea typeface="微软雅黑" panose="020B0503020204020204" pitchFamily="34" charset="-122"/>
              </a:endParaRPr>
            </a:p>
            <a:p>
              <a:pPr marL="285750" indent="-285750" eaLnBrk="0" hangingPunct="0">
                <a:lnSpc>
                  <a:spcPct val="12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与战略期限一致、相对具体</a:t>
              </a:r>
              <a:endParaRPr lang="zh-CN" altLang="en-US" sz="2400" dirty="0">
                <a:solidFill>
                  <a:srgbClr val="1570C1"/>
                </a:solidFill>
                <a:latin typeface="微软雅黑" panose="020B0503020204020204" pitchFamily="34" charset="-122"/>
                <a:ea typeface="微软雅黑" panose="020B0503020204020204" pitchFamily="34" charset="-122"/>
              </a:endParaRPr>
            </a:p>
            <a:p>
              <a:pPr marL="285750" indent="-285750" eaLnBrk="0" hangingPunct="0">
                <a:lnSpc>
                  <a:spcPct val="12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决定企业战略</a:t>
              </a:r>
              <a:endParaRPr lang="zh-CN" altLang="en-US" sz="2400" dirty="0">
                <a:solidFill>
                  <a:srgbClr val="1570C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文本框 17"/>
          <p:cNvSpPr txBox="1"/>
          <p:nvPr/>
        </p:nvSpPr>
        <p:spPr>
          <a:xfrm>
            <a:off x="425450" y="425450"/>
            <a:ext cx="10385425" cy="892175"/>
          </a:xfrm>
          <a:prstGeom prst="rect">
            <a:avLst/>
          </a:prstGeom>
          <a:noFill/>
          <a:ln w="9525">
            <a:noFill/>
          </a:ln>
        </p:spPr>
        <p:txBody>
          <a:bodyPr anchor="t" anchorCtr="0">
            <a:spAutoFit/>
          </a:bodyPr>
          <a:p>
            <a:r>
              <a:rPr lang="en-US" altLang="zh-CN" sz="2400" dirty="0">
                <a:solidFill>
                  <a:srgbClr val="1570C1"/>
                </a:solidFill>
                <a:latin typeface="微软雅黑" panose="020B0503020204020204" pitchFamily="34" charset="-122"/>
                <a:ea typeface="微软雅黑" panose="020B0503020204020204" pitchFamily="34" charset="-122"/>
              </a:rPr>
              <a:t>1.1.3  </a:t>
            </a:r>
            <a:r>
              <a:rPr lang="zh-CN" altLang="en-US" sz="2400" dirty="0">
                <a:solidFill>
                  <a:srgbClr val="1570C1"/>
                </a:solidFill>
                <a:latin typeface="微软雅黑" panose="020B0503020204020204" pitchFamily="34" charset="-122"/>
                <a:ea typeface="微软雅黑" panose="020B0503020204020204" pitchFamily="34" charset="-122"/>
              </a:rPr>
              <a:t>企业使命与愿景的区别与联系</a:t>
            </a:r>
            <a:endParaRPr lang="zh-CN" altLang="en-US" sz="2400" dirty="0">
              <a:solidFill>
                <a:srgbClr val="1570C1"/>
              </a:solidFill>
              <a:latin typeface="微软雅黑" panose="020B0503020204020204" pitchFamily="34" charset="-122"/>
              <a:ea typeface="微软雅黑" panose="020B0503020204020204" pitchFamily="34" charset="-122"/>
            </a:endParaRPr>
          </a:p>
          <a:p>
            <a:pPr algn="r"/>
            <a:r>
              <a:rPr lang="en-US" altLang="zh-CN" sz="2800" dirty="0">
                <a:solidFill>
                  <a:srgbClr val="1570C1"/>
                </a:solidFill>
                <a:latin typeface="微软雅黑" panose="020B0503020204020204" pitchFamily="34" charset="-122"/>
                <a:ea typeface="微软雅黑" panose="020B0503020204020204" pitchFamily="34" charset="-122"/>
              </a:rPr>
              <a:t>——</a:t>
            </a:r>
            <a:r>
              <a:rPr lang="zh-CN" altLang="en-US" sz="2800" dirty="0">
                <a:solidFill>
                  <a:srgbClr val="1570C1"/>
                </a:solidFill>
                <a:latin typeface="微软雅黑" panose="020B0503020204020204" pitchFamily="34" charset="-122"/>
                <a:ea typeface="微软雅黑" panose="020B0503020204020204" pitchFamily="34" charset="-122"/>
              </a:rPr>
              <a:t>联系</a:t>
            </a:r>
            <a:endParaRPr lang="zh-CN" altLang="en-US" sz="2800" dirty="0">
              <a:solidFill>
                <a:srgbClr val="1570C1"/>
              </a:solidFill>
              <a:latin typeface="微软雅黑" panose="020B0503020204020204" pitchFamily="34" charset="-122"/>
              <a:ea typeface="微软雅黑" panose="020B0503020204020204" pitchFamily="34" charset="-122"/>
            </a:endParaRPr>
          </a:p>
        </p:txBody>
      </p:sp>
      <p:grpSp>
        <p:nvGrpSpPr>
          <p:cNvPr id="29698"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29701"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29704" name="组合 2"/>
          <p:cNvGrpSpPr/>
          <p:nvPr/>
        </p:nvGrpSpPr>
        <p:grpSpPr>
          <a:xfrm>
            <a:off x="1598613" y="1663700"/>
            <a:ext cx="8994775" cy="4344988"/>
            <a:chOff x="3593" y="3667"/>
            <a:chExt cx="13804" cy="6495"/>
          </a:xfrm>
        </p:grpSpPr>
        <p:sp>
          <p:nvSpPr>
            <p:cNvPr id="42" name="燕尾形 41"/>
            <p:cNvSpPr/>
            <p:nvPr/>
          </p:nvSpPr>
          <p:spPr>
            <a:xfrm>
              <a:off x="3593" y="5577"/>
              <a:ext cx="6534" cy="793"/>
            </a:xfrm>
            <a:prstGeom prst="chevron">
              <a:avLst>
                <a:gd name="adj" fmla="val 38088"/>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400" b="0" i="0" u="none" strike="noStrike" kern="1200" cap="none" spc="0" normalizeH="0" baseline="0" noProof="1">
                <a:ln>
                  <a:noFill/>
                </a:ln>
                <a:solidFill>
                  <a:schemeClr val="lt1"/>
                </a:solidFill>
                <a:effectLst/>
                <a:uLnTx/>
                <a:uFillTx/>
                <a:latin typeface="+mn-lt"/>
                <a:ea typeface="+mn-ea"/>
                <a:cs typeface="+mn-cs"/>
              </a:endParaRPr>
            </a:p>
          </p:txBody>
        </p:sp>
        <p:cxnSp>
          <p:nvCxnSpPr>
            <p:cNvPr id="43" name="直接箭头​​连接符 11"/>
            <p:cNvCxnSpPr/>
            <p:nvPr/>
          </p:nvCxnSpPr>
          <p:spPr>
            <a:xfrm>
              <a:off x="9696" y="6370"/>
              <a:ext cx="0" cy="3306"/>
            </a:xfrm>
            <a:prstGeom prst="straightConnector1">
              <a:avLst/>
            </a:prstGeom>
            <a:ln w="25400">
              <a:solidFill>
                <a:srgbClr val="57CAF4">
                  <a:alpha val="61000"/>
                </a:srgb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12"/>
            <p:cNvCxnSpPr/>
            <p:nvPr/>
          </p:nvCxnSpPr>
          <p:spPr>
            <a:xfrm flipH="1" flipV="1">
              <a:off x="3605" y="3667"/>
              <a:ext cx="7" cy="1910"/>
            </a:xfrm>
            <a:prstGeom prst="straightConnector1">
              <a:avLst/>
            </a:prstGeom>
            <a:ln w="25400">
              <a:solidFill>
                <a:srgbClr val="1570C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45" name="燕尾形 44"/>
            <p:cNvSpPr/>
            <p:nvPr/>
          </p:nvSpPr>
          <p:spPr>
            <a:xfrm>
              <a:off x="9674" y="5577"/>
              <a:ext cx="6537" cy="793"/>
            </a:xfrm>
            <a:prstGeom prst="chevron">
              <a:avLst>
                <a:gd name="adj" fmla="val 38088"/>
              </a:avLst>
            </a:prstGeom>
            <a:solidFill>
              <a:srgbClr val="57CA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400" b="0" i="0" u="none" strike="noStrike" kern="1200" cap="none" spc="0" normalizeH="0" baseline="0" noProof="1">
                <a:ln>
                  <a:noFill/>
                </a:ln>
                <a:solidFill>
                  <a:schemeClr val="lt1"/>
                </a:solidFill>
                <a:effectLst/>
                <a:uLnTx/>
                <a:uFillTx/>
                <a:latin typeface="+mn-lt"/>
                <a:ea typeface="+mn-ea"/>
                <a:cs typeface="+mn-cs"/>
              </a:endParaRPr>
            </a:p>
          </p:txBody>
        </p:sp>
        <p:sp>
          <p:nvSpPr>
            <p:cNvPr id="46" name="TextBox 3"/>
            <p:cNvSpPr txBox="1"/>
            <p:nvPr/>
          </p:nvSpPr>
          <p:spPr>
            <a:xfrm>
              <a:off x="5479" y="5651"/>
              <a:ext cx="3630" cy="596"/>
            </a:xfrm>
            <a:prstGeom prst="rect">
              <a:avLst/>
            </a:prstGeom>
            <a:noFill/>
          </p:spPr>
          <p:txBody>
            <a:bodyPr>
              <a:spAutoFit/>
            </a:bodyPr>
            <a:lstStyle/>
            <a:p>
              <a:pPr marR="0" defTabSz="914400" eaLnBrk="0" fontAlgn="auto" hangingPunct="0">
                <a:spcBef>
                  <a:spcPts val="0"/>
                </a:spcBef>
                <a:spcAft>
                  <a:spcPts val="0"/>
                </a:spcAft>
                <a:buClrTx/>
                <a:buSzTx/>
                <a:buFontTx/>
                <a:defRPr/>
              </a:pPr>
              <a:r>
                <a:rPr kumimoji="0" lang="zh-CN" altLang="zh-CN" sz="2000" b="1"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企业使命</a:t>
              </a:r>
              <a:endParaRPr kumimoji="0" lang="zh-CN" altLang="en-US" sz="2000" b="1"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endParaRPr>
            </a:p>
          </p:txBody>
        </p:sp>
        <p:sp>
          <p:nvSpPr>
            <p:cNvPr id="47" name="TextBox 12"/>
            <p:cNvSpPr txBox="1"/>
            <p:nvPr/>
          </p:nvSpPr>
          <p:spPr>
            <a:xfrm>
              <a:off x="11691" y="5660"/>
              <a:ext cx="3630" cy="596"/>
            </a:xfrm>
            <a:prstGeom prst="rect">
              <a:avLst/>
            </a:prstGeom>
            <a:noFill/>
          </p:spPr>
          <p:txBody>
            <a:bodyPr>
              <a:spAutoFit/>
            </a:bodyPr>
            <a:lstStyle/>
            <a:p>
              <a:pPr marR="0" defTabSz="914400" eaLnBrk="0" fontAlgn="auto" hangingPunct="0">
                <a:spcBef>
                  <a:spcPts val="0"/>
                </a:spcBef>
                <a:spcAft>
                  <a:spcPts val="0"/>
                </a:spcAft>
                <a:buClrTx/>
                <a:buSzTx/>
                <a:buFontTx/>
                <a:defRPr/>
              </a:pPr>
              <a:r>
                <a:rPr kumimoji="0" lang="zh-CN" altLang="en-US" sz="2000" b="1"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企业愿景</a:t>
              </a:r>
              <a:endParaRPr kumimoji="0" lang="zh-CN" altLang="en-US" sz="2000" b="1"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endParaRPr>
            </a:p>
          </p:txBody>
        </p:sp>
        <p:sp>
          <p:nvSpPr>
            <p:cNvPr id="29711" name="TextBox 4"/>
            <p:cNvSpPr txBox="1"/>
            <p:nvPr/>
          </p:nvSpPr>
          <p:spPr>
            <a:xfrm>
              <a:off x="3776" y="4002"/>
              <a:ext cx="10887" cy="1241"/>
            </a:xfrm>
            <a:prstGeom prst="rect">
              <a:avLst/>
            </a:prstGeom>
            <a:noFill/>
            <a:ln w="9525">
              <a:noFill/>
            </a:ln>
          </p:spPr>
          <p:txBody>
            <a:bodyPr anchor="t" anchorCtr="0">
              <a:spAutoFit/>
            </a:bodyPr>
            <a:p>
              <a:pPr eaLnBrk="0" hangingPunct="0">
                <a:lnSpc>
                  <a:spcPct val="120000"/>
                </a:lnSpc>
                <a:buFont typeface="Wingdings" panose="05000000000000000000" pitchFamily="2" charset="2"/>
              </a:pPr>
              <a:r>
                <a:rPr lang="zh-CN" altLang="en-US" sz="2000" dirty="0">
                  <a:solidFill>
                    <a:srgbClr val="1570C1"/>
                  </a:solidFill>
                  <a:latin typeface="微软雅黑" panose="020B0503020204020204" pitchFamily="34" charset="-122"/>
                  <a:ea typeface="微软雅黑" panose="020B0503020204020204" pitchFamily="34" charset="-122"/>
                  <a:sym typeface="宋体" panose="02010600030101010101" pitchFamily="2" charset="-122"/>
                </a:rPr>
                <a:t>任何成功的企业,都有其明确的使命和愿景;正确确定企业的使命和愿景,是企业走向成功的必要条件。</a:t>
              </a:r>
              <a:endParaRPr lang="zh-CN" altLang="en-US" sz="2000" dirty="0">
                <a:solidFill>
                  <a:srgbClr val="1570C1"/>
                </a:solidFill>
                <a:latin typeface="微软雅黑" panose="020B0503020204020204" pitchFamily="34" charset="-122"/>
                <a:ea typeface="微软雅黑" panose="020B0503020204020204" pitchFamily="34" charset="-122"/>
              </a:endParaRPr>
            </a:p>
          </p:txBody>
        </p:sp>
        <p:sp>
          <p:nvSpPr>
            <p:cNvPr id="29712" name="TextBox 2"/>
            <p:cNvSpPr txBox="1"/>
            <p:nvPr/>
          </p:nvSpPr>
          <p:spPr>
            <a:xfrm>
              <a:off x="9947" y="6714"/>
              <a:ext cx="7450" cy="3448"/>
            </a:xfrm>
            <a:prstGeom prst="rect">
              <a:avLst/>
            </a:prstGeom>
            <a:noFill/>
            <a:ln w="9525">
              <a:noFill/>
            </a:ln>
          </p:spPr>
          <p:txBody>
            <a:bodyPr anchor="t" anchorCtr="0">
              <a:spAutoFit/>
            </a:bodyPr>
            <a:p>
              <a:pPr indent="508000" algn="just" eaLnBrk="0" hangingPunct="0">
                <a:lnSpc>
                  <a:spcPct val="120000"/>
                </a:lnSpc>
                <a:buSzTx/>
                <a:buFont typeface="Wingdings" panose="05000000000000000000" charset="0"/>
              </a:pPr>
              <a:r>
                <a:rPr lang="zh-CN" altLang="en-US" sz="2000">
                  <a:solidFill>
                    <a:srgbClr val="1570C1"/>
                  </a:solidFill>
                  <a:latin typeface="微软雅黑" panose="020B0503020204020204" pitchFamily="34" charset="-122"/>
                  <a:ea typeface="微软雅黑" panose="020B0503020204020204" pitchFamily="34" charset="-122"/>
                  <a:sym typeface="宋体" panose="02010600030101010101" pitchFamily="2" charset="-122"/>
                </a:rPr>
                <a:t>企业愿景是以企业使命为基础的,同时又是企业战略的纲领性文件。在企业实际操作中,确定企业使命时往往会一起确定企业愿景;而在确定企业愿景时,又不可避免会首先阐明企业使命。</a:t>
              </a:r>
              <a:endParaRPr lang="zh-CN" altLang="en-US" sz="2000">
                <a:solidFill>
                  <a:srgbClr val="1570C1"/>
                </a:solidFill>
                <a:latin typeface="微软雅黑" panose="020B0503020204020204" pitchFamily="34" charset="-122"/>
                <a:ea typeface="微软雅黑" panose="020B0503020204020204" pitchFamily="34" charset="-122"/>
              </a:endParaRPr>
            </a:p>
            <a:p>
              <a:pPr indent="508000" algn="just" eaLnBrk="0" hangingPunct="0">
                <a:lnSpc>
                  <a:spcPct val="120000"/>
                </a:lnSpc>
                <a:buSzTx/>
                <a:buFont typeface="Wingdings" panose="05000000000000000000" charset="0"/>
              </a:pPr>
              <a:endParaRPr lang="zh-CN" altLang="en-US" sz="2000">
                <a:solidFill>
                  <a:srgbClr val="1570C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072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3072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30727" name="内容占位符 3"/>
          <p:cNvSpPr>
            <a:spLocks noGrp="1"/>
          </p:cNvSpPr>
          <p:nvPr>
            <p:ph idx="1"/>
          </p:nvPr>
        </p:nvSpPr>
        <p:spPr>
          <a:xfrm>
            <a:off x="838200" y="1146175"/>
            <a:ext cx="10515600" cy="5030788"/>
          </a:xfrm>
          <a:noFill/>
          <a:ln>
            <a:noFill/>
          </a:ln>
        </p:spPr>
        <p:txBody>
          <a:bodyPr anchor="t" anchorCtr="0"/>
          <a:p>
            <a:endParaRPr lang="zh-CN" altLang="en-US" dirty="0"/>
          </a:p>
        </p:txBody>
      </p:sp>
      <p:grpSp>
        <p:nvGrpSpPr>
          <p:cNvPr id="30728" name="组合 4"/>
          <p:cNvGrpSpPr/>
          <p:nvPr/>
        </p:nvGrpSpPr>
        <p:grpSpPr>
          <a:xfrm>
            <a:off x="1006475" y="1628775"/>
            <a:ext cx="10937875" cy="3600450"/>
            <a:chOff x="2661" y="3100"/>
            <a:chExt cx="16204" cy="5670"/>
          </a:xfrm>
        </p:grpSpPr>
        <p:sp>
          <p:nvSpPr>
            <p:cNvPr id="30729" name="Freeform 874"/>
            <p:cNvSpPr>
              <a:spLocks noChangeAspect="1"/>
            </p:cNvSpPr>
            <p:nvPr/>
          </p:nvSpPr>
          <p:spPr>
            <a:xfrm>
              <a:off x="8413" y="3100"/>
              <a:ext cx="3353" cy="2835"/>
            </a:xfrm>
            <a:custGeom>
              <a:avLst/>
              <a:gdLst/>
              <a:ahLst/>
              <a:cxnLst>
                <a:cxn ang="0">
                  <a:pos x="21651" y="10650"/>
                </a:cxn>
                <a:cxn ang="0">
                  <a:pos x="21651" y="0"/>
                </a:cxn>
                <a:cxn ang="0">
                  <a:pos x="0" y="17987"/>
                </a:cxn>
                <a:cxn ang="0">
                  <a:pos x="21651" y="36319"/>
                </a:cxn>
                <a:cxn ang="0">
                  <a:pos x="21651" y="26051"/>
                </a:cxn>
                <a:cxn ang="0">
                  <a:pos x="21651" y="54306"/>
                </a:cxn>
                <a:cxn ang="0">
                  <a:pos x="21651" y="10650"/>
                </a:cxn>
              </a:cxnLst>
              <a:pathLst>
                <a:path w="175" h="148">
                  <a:moveTo>
                    <a:pt x="59" y="29"/>
                  </a:moveTo>
                  <a:cubicBezTo>
                    <a:pt x="59" y="0"/>
                    <a:pt x="59" y="0"/>
                    <a:pt x="59" y="0"/>
                  </a:cubicBezTo>
                  <a:cubicBezTo>
                    <a:pt x="0" y="49"/>
                    <a:pt x="0" y="49"/>
                    <a:pt x="0" y="49"/>
                  </a:cubicBezTo>
                  <a:cubicBezTo>
                    <a:pt x="59" y="99"/>
                    <a:pt x="59" y="99"/>
                    <a:pt x="59" y="99"/>
                  </a:cubicBezTo>
                  <a:cubicBezTo>
                    <a:pt x="59" y="71"/>
                    <a:pt x="59" y="71"/>
                    <a:pt x="59" y="71"/>
                  </a:cubicBezTo>
                  <a:cubicBezTo>
                    <a:pt x="118" y="79"/>
                    <a:pt x="92" y="114"/>
                    <a:pt x="59" y="148"/>
                  </a:cubicBezTo>
                  <a:cubicBezTo>
                    <a:pt x="175" y="72"/>
                    <a:pt x="106" y="37"/>
                    <a:pt x="59" y="29"/>
                  </a:cubicBezTo>
                  <a:close/>
                </a:path>
              </a:pathLst>
            </a:custGeom>
            <a:solidFill>
              <a:srgbClr val="1570C1"/>
            </a:solidFill>
            <a:ln w="9525">
              <a:noFill/>
            </a:ln>
          </p:spPr>
          <p:txBody>
            <a:bodyPr/>
            <a:p>
              <a:endParaRPr lang="zh-CN" altLang="en-US"/>
            </a:p>
          </p:txBody>
        </p:sp>
        <p:sp>
          <p:nvSpPr>
            <p:cNvPr id="30730" name="Freeform 874"/>
            <p:cNvSpPr>
              <a:spLocks noChangeAspect="1"/>
            </p:cNvSpPr>
            <p:nvPr/>
          </p:nvSpPr>
          <p:spPr>
            <a:xfrm flipH="1" flipV="1">
              <a:off x="7327" y="5935"/>
              <a:ext cx="3353" cy="2835"/>
            </a:xfrm>
            <a:custGeom>
              <a:avLst/>
              <a:gdLst/>
              <a:ahLst/>
              <a:cxnLst>
                <a:cxn ang="0">
                  <a:pos x="21651" y="10650"/>
                </a:cxn>
                <a:cxn ang="0">
                  <a:pos x="21651" y="0"/>
                </a:cxn>
                <a:cxn ang="0">
                  <a:pos x="0" y="17987"/>
                </a:cxn>
                <a:cxn ang="0">
                  <a:pos x="21651" y="36319"/>
                </a:cxn>
                <a:cxn ang="0">
                  <a:pos x="21651" y="26051"/>
                </a:cxn>
                <a:cxn ang="0">
                  <a:pos x="21651" y="54306"/>
                </a:cxn>
                <a:cxn ang="0">
                  <a:pos x="21651" y="10650"/>
                </a:cxn>
              </a:cxnLst>
              <a:pathLst>
                <a:path w="175" h="148">
                  <a:moveTo>
                    <a:pt x="59" y="29"/>
                  </a:moveTo>
                  <a:cubicBezTo>
                    <a:pt x="59" y="0"/>
                    <a:pt x="59" y="0"/>
                    <a:pt x="59" y="0"/>
                  </a:cubicBezTo>
                  <a:cubicBezTo>
                    <a:pt x="0" y="49"/>
                    <a:pt x="0" y="49"/>
                    <a:pt x="0" y="49"/>
                  </a:cubicBezTo>
                  <a:cubicBezTo>
                    <a:pt x="59" y="99"/>
                    <a:pt x="59" y="99"/>
                    <a:pt x="59" y="99"/>
                  </a:cubicBezTo>
                  <a:cubicBezTo>
                    <a:pt x="59" y="71"/>
                    <a:pt x="59" y="71"/>
                    <a:pt x="59" y="71"/>
                  </a:cubicBezTo>
                  <a:cubicBezTo>
                    <a:pt x="118" y="79"/>
                    <a:pt x="92" y="114"/>
                    <a:pt x="59" y="148"/>
                  </a:cubicBezTo>
                  <a:cubicBezTo>
                    <a:pt x="175" y="72"/>
                    <a:pt x="106" y="37"/>
                    <a:pt x="59" y="29"/>
                  </a:cubicBezTo>
                  <a:close/>
                </a:path>
              </a:pathLst>
            </a:custGeom>
            <a:solidFill>
              <a:srgbClr val="57CAF4"/>
            </a:solidFill>
            <a:ln w="9525">
              <a:noFill/>
            </a:ln>
          </p:spPr>
          <p:txBody>
            <a:bodyPr/>
            <a:p>
              <a:endParaRPr lang="zh-CN" altLang="en-US"/>
            </a:p>
          </p:txBody>
        </p:sp>
        <p:sp>
          <p:nvSpPr>
            <p:cNvPr id="30731" name="TextBox 17"/>
            <p:cNvSpPr txBox="1"/>
            <p:nvPr/>
          </p:nvSpPr>
          <p:spPr>
            <a:xfrm>
              <a:off x="12821" y="7562"/>
              <a:ext cx="4484" cy="868"/>
            </a:xfrm>
            <a:prstGeom prst="rect">
              <a:avLst/>
            </a:prstGeom>
            <a:solidFill>
              <a:srgbClr val="57CAF4"/>
            </a:solidFill>
            <a:ln w="9525">
              <a:noFill/>
            </a:ln>
          </p:spPr>
          <p:txBody>
            <a:bodyPr lIns="121917" tIns="60958" rIns="121917" bIns="60958" anchor="t" anchorCtr="0">
              <a:spAutoFit/>
            </a:bodyPr>
            <a:p>
              <a:pPr algn="ctr" eaLnBrk="0" hangingPunct="0"/>
              <a:r>
                <a:rPr lang="zh-CN" altLang="en-US" sz="2800" b="1" dirty="0">
                  <a:solidFill>
                    <a:schemeClr val="bg1"/>
                  </a:solidFill>
                  <a:latin typeface="微软雅黑" panose="020B0503020204020204" pitchFamily="34" charset="-122"/>
                  <a:ea typeface="微软雅黑" panose="020B0503020204020204" pitchFamily="34" charset="-122"/>
                </a:rPr>
                <a:t>生动的未来前景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0732" name="矩形 9"/>
            <p:cNvSpPr/>
            <p:nvPr/>
          </p:nvSpPr>
          <p:spPr>
            <a:xfrm>
              <a:off x="12821" y="5308"/>
              <a:ext cx="6044" cy="1887"/>
            </a:xfrm>
            <a:prstGeom prst="rect">
              <a:avLst/>
            </a:prstGeom>
            <a:noFill/>
            <a:ln w="9525">
              <a:noFill/>
            </a:ln>
          </p:spPr>
          <p:txBody>
            <a:bodyPr anchor="t" anchorCtr="0">
              <a:spAutoFit/>
            </a:bodyPr>
            <a:p>
              <a:pPr marL="285750" indent="-285750" eaLnBrk="0" hangingPunct="0">
                <a:lnSpc>
                  <a:spcPct val="150000"/>
                </a:lnSpc>
                <a:buFont typeface="Wingdings" panose="05000000000000000000" pitchFamily="2" charset="2"/>
                <a:buChar char="Ø"/>
              </a:pPr>
              <a:r>
                <a:rPr lang="en-US" altLang="en-US" sz="2400" dirty="0">
                  <a:solidFill>
                    <a:srgbClr val="1570C1"/>
                  </a:solidFill>
                  <a:latin typeface="微软雅黑" panose="020B0503020204020204" pitchFamily="34" charset="-122"/>
                  <a:ea typeface="微软雅黑" panose="020B0503020204020204" pitchFamily="34" charset="-122"/>
                </a:rPr>
                <a:t>大胆可持续的发展目标</a:t>
              </a:r>
              <a:endParaRPr lang="en-US" altLang="en-US" sz="2400" dirty="0">
                <a:solidFill>
                  <a:srgbClr val="1570C1"/>
                </a:solidFill>
                <a:latin typeface="微软雅黑" panose="020B0503020204020204" pitchFamily="34" charset="-122"/>
                <a:ea typeface="微软雅黑" panose="020B0503020204020204" pitchFamily="34" charset="-122"/>
              </a:endParaRPr>
            </a:p>
            <a:p>
              <a:pPr marL="285750" indent="-285750" eaLnBrk="0" hangingPunct="0">
                <a:lnSpc>
                  <a:spcPct val="150000"/>
                </a:lnSpc>
                <a:buFont typeface="Wingdings" panose="05000000000000000000" pitchFamily="2" charset="2"/>
                <a:buChar char="Ø"/>
              </a:pPr>
              <a:r>
                <a:rPr lang="en-US" altLang="en-US" sz="2400" dirty="0">
                  <a:solidFill>
                    <a:srgbClr val="1570C1"/>
                  </a:solidFill>
                  <a:latin typeface="微软雅黑" panose="020B0503020204020204" pitchFamily="34" charset="-122"/>
                  <a:ea typeface="微软雅黑" panose="020B0503020204020204" pitchFamily="34" charset="-122"/>
                </a:rPr>
                <a:t>用生动明确的语言表达</a:t>
              </a:r>
              <a:endParaRPr lang="en-US" altLang="en-US" sz="2400" dirty="0">
                <a:solidFill>
                  <a:srgbClr val="1570C1"/>
                </a:solidFill>
                <a:latin typeface="微软雅黑" panose="020B0503020204020204" pitchFamily="34" charset="-122"/>
                <a:ea typeface="微软雅黑" panose="020B0503020204020204" pitchFamily="34" charset="-122"/>
              </a:endParaRPr>
            </a:p>
          </p:txBody>
        </p:sp>
        <p:sp>
          <p:nvSpPr>
            <p:cNvPr id="30733" name="TextBox 17"/>
            <p:cNvSpPr txBox="1"/>
            <p:nvPr/>
          </p:nvSpPr>
          <p:spPr>
            <a:xfrm>
              <a:off x="2661" y="3424"/>
              <a:ext cx="3705" cy="868"/>
            </a:xfrm>
            <a:prstGeom prst="rect">
              <a:avLst/>
            </a:prstGeom>
            <a:solidFill>
              <a:srgbClr val="1570C1"/>
            </a:solidFill>
            <a:ln w="9525">
              <a:noFill/>
            </a:ln>
          </p:spPr>
          <p:txBody>
            <a:bodyPr lIns="121917" tIns="60958" rIns="121917" bIns="60958" anchor="t" anchorCtr="0">
              <a:spAutoFit/>
            </a:bodyPr>
            <a:p>
              <a:pPr algn="ctr" eaLnBrk="0" hangingPunct="0"/>
              <a:r>
                <a:rPr lang="zh-CN" altLang="en-US" sz="2800" b="1" dirty="0">
                  <a:solidFill>
                    <a:schemeClr val="bg1"/>
                  </a:solidFill>
                  <a:latin typeface="微软雅黑" panose="020B0503020204020204" pitchFamily="34" charset="-122"/>
                  <a:ea typeface="微软雅黑" panose="020B0503020204020204" pitchFamily="34" charset="-122"/>
                </a:rPr>
                <a:t>核心经营理念</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sp>
          <p:nvSpPr>
            <p:cNvPr id="30734" name="矩形 11"/>
            <p:cNvSpPr/>
            <p:nvPr/>
          </p:nvSpPr>
          <p:spPr>
            <a:xfrm>
              <a:off x="2661" y="4423"/>
              <a:ext cx="6315" cy="1887"/>
            </a:xfrm>
            <a:prstGeom prst="rect">
              <a:avLst/>
            </a:prstGeom>
            <a:noFill/>
            <a:ln w="9525">
              <a:noFill/>
            </a:ln>
          </p:spPr>
          <p:txBody>
            <a:bodyPr anchor="t" anchorCtr="0">
              <a:spAutoFit/>
            </a:bodyPr>
            <a:p>
              <a:pPr marL="285750" indent="-285750" eaLnBrk="0" hangingPunct="0">
                <a:lnSpc>
                  <a:spcPct val="150000"/>
                </a:lnSpc>
                <a:buFont typeface="Wingdings" panose="05000000000000000000" pitchFamily="2" charset="2"/>
                <a:buChar char="Ø"/>
              </a:pPr>
              <a:r>
                <a:rPr lang="en-US" altLang="en-US" sz="2400" dirty="0">
                  <a:solidFill>
                    <a:srgbClr val="1570C1"/>
                  </a:solidFill>
                  <a:latin typeface="微软雅黑" panose="020B0503020204020204" pitchFamily="34" charset="-122"/>
                  <a:ea typeface="微软雅黑" panose="020B0503020204020204" pitchFamily="34" charset="-122"/>
                </a:rPr>
                <a:t>核心价值观</a:t>
              </a:r>
              <a:endParaRPr lang="en-US" altLang="en-US" sz="2400" dirty="0">
                <a:solidFill>
                  <a:srgbClr val="1570C1"/>
                </a:solidFill>
                <a:latin typeface="微软雅黑" panose="020B0503020204020204" pitchFamily="34" charset="-122"/>
                <a:ea typeface="微软雅黑" panose="020B0503020204020204" pitchFamily="34" charset="-122"/>
              </a:endParaRPr>
            </a:p>
            <a:p>
              <a:pPr marL="285750" indent="-285750" eaLnBrk="0" hangingPunct="0">
                <a:lnSpc>
                  <a:spcPct val="150000"/>
                </a:lnSpc>
                <a:buFont typeface="Wingdings" panose="05000000000000000000" pitchFamily="2" charset="2"/>
                <a:buChar char="Ø"/>
              </a:pPr>
              <a:r>
                <a:rPr lang="en-US" altLang="en-US" sz="2400" dirty="0">
                  <a:solidFill>
                    <a:srgbClr val="1570C1"/>
                  </a:solidFill>
                  <a:latin typeface="微软雅黑" panose="020B0503020204020204" pitchFamily="34" charset="-122"/>
                  <a:ea typeface="微软雅黑" panose="020B0503020204020204" pitchFamily="34" charset="-122"/>
                </a:rPr>
                <a:t>核心目的</a:t>
              </a:r>
              <a:endParaRPr lang="en-US" altLang="en-US" sz="2400" dirty="0">
                <a:solidFill>
                  <a:srgbClr val="1570C1"/>
                </a:solidFill>
                <a:latin typeface="微软雅黑" panose="020B0503020204020204" pitchFamily="34" charset="-122"/>
                <a:ea typeface="微软雅黑" panose="020B0503020204020204" pitchFamily="34" charset="-122"/>
              </a:endParaRPr>
            </a:p>
          </p:txBody>
        </p:sp>
        <p:sp>
          <p:nvSpPr>
            <p:cNvPr id="30735" name="Freeform 886"/>
            <p:cNvSpPr/>
            <p:nvPr/>
          </p:nvSpPr>
          <p:spPr>
            <a:xfrm rot="10800000">
              <a:off x="10924" y="7432"/>
              <a:ext cx="698" cy="998"/>
            </a:xfrm>
            <a:custGeom>
              <a:avLst/>
              <a:gdLst/>
              <a:ahLst/>
              <a:cxnLst>
                <a:cxn ang="0">
                  <a:pos x="4129" y="2268"/>
                </a:cxn>
                <a:cxn ang="0">
                  <a:pos x="3815" y="1778"/>
                </a:cxn>
                <a:cxn ang="0">
                  <a:pos x="3815" y="1778"/>
                </a:cxn>
                <a:cxn ang="0">
                  <a:pos x="4058" y="1358"/>
                </a:cxn>
                <a:cxn ang="0">
                  <a:pos x="3744" y="909"/>
                </a:cxn>
                <a:cxn ang="0">
                  <a:pos x="3531" y="909"/>
                </a:cxn>
                <a:cxn ang="0">
                  <a:pos x="3744" y="455"/>
                </a:cxn>
                <a:cxn ang="0">
                  <a:pos x="3466" y="0"/>
                </a:cxn>
                <a:cxn ang="0">
                  <a:pos x="1295" y="0"/>
                </a:cxn>
                <a:cxn ang="0">
                  <a:pos x="0" y="1287"/>
                </a:cxn>
                <a:cxn ang="0">
                  <a:pos x="0" y="2651"/>
                </a:cxn>
                <a:cxn ang="0">
                  <a:pos x="698" y="3732"/>
                </a:cxn>
                <a:cxn ang="0">
                  <a:pos x="1887" y="5232"/>
                </a:cxn>
                <a:cxn ang="0">
                  <a:pos x="1887" y="5787"/>
                </a:cxn>
                <a:cxn ang="0">
                  <a:pos x="2869" y="4984"/>
                </a:cxn>
                <a:cxn ang="0">
                  <a:pos x="2727" y="3732"/>
                </a:cxn>
                <a:cxn ang="0">
                  <a:pos x="3502" y="3732"/>
                </a:cxn>
                <a:cxn ang="0">
                  <a:pos x="3851" y="3207"/>
                </a:cxn>
                <a:cxn ang="0">
                  <a:pos x="3602" y="2722"/>
                </a:cxn>
                <a:cxn ang="0">
                  <a:pos x="3815" y="2722"/>
                </a:cxn>
                <a:cxn ang="0">
                  <a:pos x="4129" y="2268"/>
                </a:cxn>
              </a:cxnLst>
              <a:pathLst>
                <a:path w="118" h="169">
                  <a:moveTo>
                    <a:pt x="118" y="65"/>
                  </a:moveTo>
                  <a:cubicBezTo>
                    <a:pt x="118" y="57"/>
                    <a:pt x="117" y="51"/>
                    <a:pt x="109" y="51"/>
                  </a:cubicBezTo>
                  <a:cubicBezTo>
                    <a:pt x="109" y="51"/>
                    <a:pt x="109" y="51"/>
                    <a:pt x="109" y="51"/>
                  </a:cubicBezTo>
                  <a:cubicBezTo>
                    <a:pt x="115" y="51"/>
                    <a:pt x="116" y="45"/>
                    <a:pt x="116" y="39"/>
                  </a:cubicBezTo>
                  <a:cubicBezTo>
                    <a:pt x="116" y="32"/>
                    <a:pt x="115" y="26"/>
                    <a:pt x="107" y="26"/>
                  </a:cubicBezTo>
                  <a:cubicBezTo>
                    <a:pt x="101" y="26"/>
                    <a:pt x="101" y="26"/>
                    <a:pt x="101" y="26"/>
                  </a:cubicBezTo>
                  <a:cubicBezTo>
                    <a:pt x="106" y="24"/>
                    <a:pt x="107" y="19"/>
                    <a:pt x="107" y="13"/>
                  </a:cubicBezTo>
                  <a:cubicBezTo>
                    <a:pt x="107" y="6"/>
                    <a:pt x="106" y="0"/>
                    <a:pt x="99" y="0"/>
                  </a:cubicBezTo>
                  <a:cubicBezTo>
                    <a:pt x="37" y="0"/>
                    <a:pt x="37" y="0"/>
                    <a:pt x="37" y="0"/>
                  </a:cubicBezTo>
                  <a:cubicBezTo>
                    <a:pt x="16" y="0"/>
                    <a:pt x="0" y="16"/>
                    <a:pt x="0" y="37"/>
                  </a:cubicBezTo>
                  <a:cubicBezTo>
                    <a:pt x="0" y="37"/>
                    <a:pt x="0" y="76"/>
                    <a:pt x="0" y="76"/>
                  </a:cubicBezTo>
                  <a:cubicBezTo>
                    <a:pt x="0" y="91"/>
                    <a:pt x="8" y="102"/>
                    <a:pt x="20" y="107"/>
                  </a:cubicBezTo>
                  <a:cubicBezTo>
                    <a:pt x="30" y="113"/>
                    <a:pt x="50" y="129"/>
                    <a:pt x="54" y="150"/>
                  </a:cubicBezTo>
                  <a:cubicBezTo>
                    <a:pt x="54" y="158"/>
                    <a:pt x="54" y="166"/>
                    <a:pt x="54" y="166"/>
                  </a:cubicBezTo>
                  <a:cubicBezTo>
                    <a:pt x="54" y="166"/>
                    <a:pt x="82" y="169"/>
                    <a:pt x="82" y="143"/>
                  </a:cubicBezTo>
                  <a:cubicBezTo>
                    <a:pt x="82" y="113"/>
                    <a:pt x="62" y="108"/>
                    <a:pt x="78" y="107"/>
                  </a:cubicBezTo>
                  <a:cubicBezTo>
                    <a:pt x="100" y="107"/>
                    <a:pt x="100" y="107"/>
                    <a:pt x="100" y="107"/>
                  </a:cubicBezTo>
                  <a:cubicBezTo>
                    <a:pt x="108" y="107"/>
                    <a:pt x="110" y="100"/>
                    <a:pt x="110" y="92"/>
                  </a:cubicBezTo>
                  <a:cubicBezTo>
                    <a:pt x="110" y="85"/>
                    <a:pt x="109" y="80"/>
                    <a:pt x="103" y="78"/>
                  </a:cubicBezTo>
                  <a:cubicBezTo>
                    <a:pt x="109" y="78"/>
                    <a:pt x="109" y="78"/>
                    <a:pt x="109" y="78"/>
                  </a:cubicBezTo>
                  <a:cubicBezTo>
                    <a:pt x="117" y="78"/>
                    <a:pt x="118" y="72"/>
                    <a:pt x="118" y="65"/>
                  </a:cubicBezTo>
                  <a:close/>
                </a:path>
              </a:pathLst>
            </a:custGeom>
            <a:solidFill>
              <a:srgbClr val="57CAF4"/>
            </a:solidFill>
            <a:ln w="9525">
              <a:noFill/>
            </a:ln>
          </p:spPr>
          <p:txBody>
            <a:bodyPr/>
            <a:p>
              <a:endParaRPr lang="zh-CN" altLang="en-US"/>
            </a:p>
          </p:txBody>
        </p:sp>
        <p:sp>
          <p:nvSpPr>
            <p:cNvPr id="30736" name="Freeform 886"/>
            <p:cNvSpPr/>
            <p:nvPr/>
          </p:nvSpPr>
          <p:spPr>
            <a:xfrm flipH="1" flipV="1">
              <a:off x="7593" y="3424"/>
              <a:ext cx="698" cy="998"/>
            </a:xfrm>
            <a:custGeom>
              <a:avLst/>
              <a:gdLst/>
              <a:ahLst/>
              <a:cxnLst>
                <a:cxn ang="0">
                  <a:pos x="4129" y="2268"/>
                </a:cxn>
                <a:cxn ang="0">
                  <a:pos x="3815" y="1778"/>
                </a:cxn>
                <a:cxn ang="0">
                  <a:pos x="3815" y="1778"/>
                </a:cxn>
                <a:cxn ang="0">
                  <a:pos x="4058" y="1358"/>
                </a:cxn>
                <a:cxn ang="0">
                  <a:pos x="3744" y="909"/>
                </a:cxn>
                <a:cxn ang="0">
                  <a:pos x="3531" y="909"/>
                </a:cxn>
                <a:cxn ang="0">
                  <a:pos x="3744" y="455"/>
                </a:cxn>
                <a:cxn ang="0">
                  <a:pos x="3466" y="0"/>
                </a:cxn>
                <a:cxn ang="0">
                  <a:pos x="1295" y="0"/>
                </a:cxn>
                <a:cxn ang="0">
                  <a:pos x="0" y="1287"/>
                </a:cxn>
                <a:cxn ang="0">
                  <a:pos x="0" y="2651"/>
                </a:cxn>
                <a:cxn ang="0">
                  <a:pos x="698" y="3732"/>
                </a:cxn>
                <a:cxn ang="0">
                  <a:pos x="1887" y="5232"/>
                </a:cxn>
                <a:cxn ang="0">
                  <a:pos x="1887" y="5787"/>
                </a:cxn>
                <a:cxn ang="0">
                  <a:pos x="2869" y="4984"/>
                </a:cxn>
                <a:cxn ang="0">
                  <a:pos x="2727" y="3732"/>
                </a:cxn>
                <a:cxn ang="0">
                  <a:pos x="3502" y="3732"/>
                </a:cxn>
                <a:cxn ang="0">
                  <a:pos x="3851" y="3207"/>
                </a:cxn>
                <a:cxn ang="0">
                  <a:pos x="3602" y="2722"/>
                </a:cxn>
                <a:cxn ang="0">
                  <a:pos x="3815" y="2722"/>
                </a:cxn>
                <a:cxn ang="0">
                  <a:pos x="4129" y="2268"/>
                </a:cxn>
              </a:cxnLst>
              <a:pathLst>
                <a:path w="118" h="169">
                  <a:moveTo>
                    <a:pt x="118" y="65"/>
                  </a:moveTo>
                  <a:cubicBezTo>
                    <a:pt x="118" y="57"/>
                    <a:pt x="117" y="51"/>
                    <a:pt x="109" y="51"/>
                  </a:cubicBezTo>
                  <a:cubicBezTo>
                    <a:pt x="109" y="51"/>
                    <a:pt x="109" y="51"/>
                    <a:pt x="109" y="51"/>
                  </a:cubicBezTo>
                  <a:cubicBezTo>
                    <a:pt x="115" y="51"/>
                    <a:pt x="116" y="45"/>
                    <a:pt x="116" y="39"/>
                  </a:cubicBezTo>
                  <a:cubicBezTo>
                    <a:pt x="116" y="32"/>
                    <a:pt x="115" y="26"/>
                    <a:pt x="107" y="26"/>
                  </a:cubicBezTo>
                  <a:cubicBezTo>
                    <a:pt x="101" y="26"/>
                    <a:pt x="101" y="26"/>
                    <a:pt x="101" y="26"/>
                  </a:cubicBezTo>
                  <a:cubicBezTo>
                    <a:pt x="106" y="24"/>
                    <a:pt x="107" y="19"/>
                    <a:pt x="107" y="13"/>
                  </a:cubicBezTo>
                  <a:cubicBezTo>
                    <a:pt x="107" y="6"/>
                    <a:pt x="106" y="0"/>
                    <a:pt x="99" y="0"/>
                  </a:cubicBezTo>
                  <a:cubicBezTo>
                    <a:pt x="37" y="0"/>
                    <a:pt x="37" y="0"/>
                    <a:pt x="37" y="0"/>
                  </a:cubicBezTo>
                  <a:cubicBezTo>
                    <a:pt x="16" y="0"/>
                    <a:pt x="0" y="16"/>
                    <a:pt x="0" y="37"/>
                  </a:cubicBezTo>
                  <a:cubicBezTo>
                    <a:pt x="0" y="37"/>
                    <a:pt x="0" y="76"/>
                    <a:pt x="0" y="76"/>
                  </a:cubicBezTo>
                  <a:cubicBezTo>
                    <a:pt x="0" y="91"/>
                    <a:pt x="8" y="102"/>
                    <a:pt x="20" y="107"/>
                  </a:cubicBezTo>
                  <a:cubicBezTo>
                    <a:pt x="30" y="113"/>
                    <a:pt x="50" y="129"/>
                    <a:pt x="54" y="150"/>
                  </a:cubicBezTo>
                  <a:cubicBezTo>
                    <a:pt x="54" y="158"/>
                    <a:pt x="54" y="166"/>
                    <a:pt x="54" y="166"/>
                  </a:cubicBezTo>
                  <a:cubicBezTo>
                    <a:pt x="54" y="166"/>
                    <a:pt x="82" y="169"/>
                    <a:pt x="82" y="143"/>
                  </a:cubicBezTo>
                  <a:cubicBezTo>
                    <a:pt x="82" y="113"/>
                    <a:pt x="62" y="108"/>
                    <a:pt x="78" y="107"/>
                  </a:cubicBezTo>
                  <a:cubicBezTo>
                    <a:pt x="100" y="107"/>
                    <a:pt x="100" y="107"/>
                    <a:pt x="100" y="107"/>
                  </a:cubicBezTo>
                  <a:cubicBezTo>
                    <a:pt x="108" y="107"/>
                    <a:pt x="110" y="100"/>
                    <a:pt x="110" y="92"/>
                  </a:cubicBezTo>
                  <a:cubicBezTo>
                    <a:pt x="110" y="85"/>
                    <a:pt x="109" y="80"/>
                    <a:pt x="103" y="78"/>
                  </a:cubicBezTo>
                  <a:cubicBezTo>
                    <a:pt x="109" y="78"/>
                    <a:pt x="109" y="78"/>
                    <a:pt x="109" y="78"/>
                  </a:cubicBezTo>
                  <a:cubicBezTo>
                    <a:pt x="117" y="78"/>
                    <a:pt x="118" y="72"/>
                    <a:pt x="118" y="65"/>
                  </a:cubicBezTo>
                  <a:close/>
                </a:path>
              </a:pathLst>
            </a:custGeom>
            <a:solidFill>
              <a:srgbClr val="1570C1"/>
            </a:solidFill>
            <a:ln w="9525">
              <a:noFill/>
            </a:ln>
          </p:spPr>
          <p:txBody>
            <a:bodyPr/>
            <a:p>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title"/>
          </p:nvPr>
        </p:nvSpPr>
        <p:spPr>
          <a:noFill/>
          <a:ln>
            <a:noFill/>
          </a:ln>
        </p:spPr>
        <p:txBody>
          <a:bodyPr anchor="t" anchorCtr="0"/>
          <a:p>
            <a:r>
              <a:rPr lang="en-US" altLang="zh-CN" dirty="0">
                <a:solidFill>
                  <a:srgbClr val="1570C1"/>
                </a:solidFill>
                <a:latin typeface="微软雅黑" panose="020B0503020204020204" pitchFamily="34" charset="-122"/>
                <a:ea typeface="微软雅黑" panose="020B0503020204020204" pitchFamily="34" charset="-122"/>
              </a:rPr>
              <a:t> </a:t>
            </a:r>
            <a:r>
              <a:rPr lang="zh-CN" altLang="en-US" dirty="0">
                <a:solidFill>
                  <a:srgbClr val="1570C1"/>
                </a:solidFill>
                <a:latin typeface="微软雅黑" panose="020B0503020204020204" pitchFamily="34" charset="-122"/>
                <a:ea typeface="微软雅黑" panose="020B0503020204020204" pitchFamily="34" charset="-122"/>
              </a:rPr>
              <a:t>企业价值观</a:t>
            </a:r>
            <a:br>
              <a:rPr lang="en-US" altLang="zh-CN" dirty="0">
                <a:solidFill>
                  <a:srgbClr val="1570C1"/>
                </a:solidFill>
                <a:latin typeface="微软雅黑" panose="020B0503020204020204" pitchFamily="34" charset="-122"/>
                <a:ea typeface="微软雅黑" panose="020B0503020204020204" pitchFamily="34" charset="-122"/>
              </a:rPr>
            </a:br>
            <a:endParaRPr lang="en-US" altLang="zh-CN"/>
          </a:p>
        </p:txBody>
      </p:sp>
      <p:sp>
        <p:nvSpPr>
          <p:cNvPr id="31746" name="内容占位符 2"/>
          <p:cNvSpPr>
            <a:spLocks noGrp="1"/>
          </p:cNvSpPr>
          <p:nvPr>
            <p:ph idx="1"/>
          </p:nvPr>
        </p:nvSpPr>
        <p:spPr>
          <a:xfrm>
            <a:off x="838200" y="1795463"/>
            <a:ext cx="10515600" cy="4351337"/>
          </a:xfrm>
          <a:noFill/>
          <a:ln>
            <a:noFill/>
          </a:ln>
        </p:spPr>
        <p:txBody>
          <a:bodyPr anchor="t" anchorCtr="0"/>
          <a:p>
            <a:pPr algn="just"/>
            <a:r>
              <a:rPr lang="zh-CN" altLang="en-US" sz="3200"/>
              <a:t>企业价值观是指企业全体员工共同拥有的奋斗目标和行为规范，是企业文化的核心，包括企业在实践中提出的信念（</a:t>
            </a:r>
            <a:r>
              <a:rPr lang="en-US" altLang="zh-CN" sz="3200"/>
              <a:t>Belief</a:t>
            </a:r>
            <a:r>
              <a:rPr lang="zh-CN" altLang="en-US" sz="3200"/>
              <a:t>）、信条（</a:t>
            </a:r>
            <a:r>
              <a:rPr lang="en-US" altLang="zh-CN" sz="3200"/>
              <a:t>Credo</a:t>
            </a:r>
            <a:r>
              <a:rPr lang="zh-CN" altLang="en-US" sz="3200"/>
              <a:t>）和精神（</a:t>
            </a:r>
            <a:r>
              <a:rPr lang="en-US" altLang="zh-CN" sz="3200"/>
              <a:t>Spirit</a:t>
            </a:r>
            <a:r>
              <a:rPr lang="zh-CN" altLang="en-US" sz="3200"/>
              <a:t>）等内容。</a:t>
            </a:r>
            <a:endParaRPr lang="zh-CN" altLang="en-US" sz="3200"/>
          </a:p>
          <a:p>
            <a:pPr algn="just"/>
            <a:r>
              <a:rPr lang="zh-CN" altLang="en-US" sz="3200"/>
              <a:t>顶新集团：用心做到最好，努力就会得到承认</a:t>
            </a:r>
            <a:endParaRPr lang="zh-CN" altLang="en-US" sz="3200"/>
          </a:p>
          <a:p>
            <a:pPr algn="just"/>
            <a:r>
              <a:rPr lang="zh-CN" altLang="en-US" sz="3200"/>
              <a:t>诺基亚：科技以人为本</a:t>
            </a:r>
            <a:endParaRPr lang="zh-CN" altLang="en-US" sz="3200"/>
          </a:p>
          <a:p>
            <a:pPr algn="just"/>
            <a:r>
              <a:rPr lang="zh-CN" altLang="en-US" sz="3200"/>
              <a:t>企业家范旭东提出的企业</a:t>
            </a:r>
            <a:r>
              <a:rPr lang="en-US" altLang="zh-CN" sz="3200"/>
              <a:t>“</a:t>
            </a:r>
            <a:r>
              <a:rPr lang="zh-CN" altLang="en-US" sz="3200"/>
              <a:t>四大信条</a:t>
            </a:r>
            <a:r>
              <a:rPr lang="en-US" altLang="zh-CN" sz="3200"/>
              <a:t>”</a:t>
            </a:r>
            <a:r>
              <a:rPr lang="zh-CN" altLang="en-US" sz="3200"/>
              <a:t>：原则上绝对相信科学、事业上积极发展实业、行动上宁愿牺牲个人而顾全集体、精神上以能服务社会为最大光荣</a:t>
            </a:r>
            <a:endParaRPr lang="zh-CN" altLang="en-US" sz="3200"/>
          </a:p>
          <a:p>
            <a:pPr algn="just"/>
            <a:endParaRPr lang="zh-CN" altLang="en-US" sz="3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xfrm>
            <a:off x="323850" y="471488"/>
            <a:ext cx="11612563" cy="830262"/>
          </a:xfrm>
          <a:noFill/>
          <a:ln>
            <a:noFill/>
          </a:ln>
        </p:spPr>
        <p:txBody>
          <a:bodyPr anchor="t" anchorCtr="0"/>
          <a:p>
            <a:r>
              <a:rPr lang="zh-CN" altLang="en-US" sz="3600" dirty="0"/>
              <a:t>讨论：哪种类型的愿景让你觉得更加值得企业追求？</a:t>
            </a:r>
            <a:endParaRPr lang="zh-CN" altLang="en-US" sz="3600" dirty="0"/>
          </a:p>
        </p:txBody>
      </p:sp>
      <p:sp>
        <p:nvSpPr>
          <p:cNvPr id="32770" name="内容占位符 2"/>
          <p:cNvSpPr>
            <a:spLocks noGrp="1"/>
          </p:cNvSpPr>
          <p:nvPr>
            <p:ph idx="1"/>
          </p:nvPr>
        </p:nvSpPr>
        <p:spPr>
          <a:xfrm>
            <a:off x="850900" y="1058863"/>
            <a:ext cx="10515600" cy="5075237"/>
          </a:xfrm>
          <a:noFill/>
          <a:ln>
            <a:noFill/>
          </a:ln>
        </p:spPr>
        <p:txBody>
          <a:bodyPr anchor="t" anchorCtr="0"/>
          <a:p>
            <a:pPr>
              <a:lnSpc>
                <a:spcPct val="200000"/>
              </a:lnSpc>
            </a:pPr>
            <a:r>
              <a:rPr lang="zh-CN" altLang="en-US" dirty="0"/>
              <a:t>公司成就 </a:t>
            </a:r>
            <a:r>
              <a:rPr lang="en-US" altLang="zh-CN" dirty="0"/>
              <a:t>VS </a:t>
            </a:r>
            <a:r>
              <a:rPr lang="zh-CN" altLang="en-US" dirty="0"/>
              <a:t>社会价值</a:t>
            </a:r>
            <a:endParaRPr lang="en-US" altLang="zh-CN" dirty="0"/>
          </a:p>
          <a:p>
            <a:pPr lvl="1">
              <a:lnSpc>
                <a:spcPct val="200000"/>
              </a:lnSpc>
            </a:pPr>
            <a:r>
              <a:rPr lang="zh-CN" altLang="en-US" dirty="0"/>
              <a:t>成为世界上最伟大的公司</a:t>
            </a:r>
            <a:endParaRPr lang="en-US" altLang="zh-CN" dirty="0"/>
          </a:p>
          <a:p>
            <a:pPr lvl="1">
              <a:lnSpc>
                <a:spcPct val="200000"/>
              </a:lnSpc>
            </a:pPr>
            <a:r>
              <a:rPr lang="zh-CN" altLang="en-US" dirty="0"/>
              <a:t>为全人类的健康而努力</a:t>
            </a:r>
            <a:endParaRPr lang="en-US" altLang="zh-CN" dirty="0"/>
          </a:p>
          <a:p>
            <a:pPr>
              <a:lnSpc>
                <a:spcPct val="200000"/>
              </a:lnSpc>
            </a:pPr>
            <a:r>
              <a:rPr lang="zh-CN" altLang="en-US" dirty="0">
                <a:sym typeface="+mn-ea"/>
              </a:rPr>
              <a:t>具体</a:t>
            </a:r>
            <a:r>
              <a:rPr lang="zh-CN" altLang="en-US" dirty="0"/>
              <a:t> </a:t>
            </a:r>
            <a:r>
              <a:rPr lang="en-US" altLang="zh-CN" dirty="0"/>
              <a:t>VS </a:t>
            </a:r>
            <a:r>
              <a:rPr lang="zh-CN" altLang="en-US" dirty="0">
                <a:sym typeface="+mn-ea"/>
              </a:rPr>
              <a:t>抽象</a:t>
            </a:r>
            <a:endParaRPr lang="en-US" altLang="zh-CN" dirty="0"/>
          </a:p>
          <a:p>
            <a:pPr lvl="1">
              <a:lnSpc>
                <a:spcPct val="200000"/>
              </a:lnSpc>
            </a:pPr>
            <a:r>
              <a:rPr lang="zh-CN" altLang="en-US" dirty="0"/>
              <a:t>计算机进入家庭。放在每一张桌子上，使用微软的软件。</a:t>
            </a:r>
            <a:endParaRPr lang="en-US" altLang="zh-CN" dirty="0"/>
          </a:p>
          <a:p>
            <a:pPr lvl="1">
              <a:lnSpc>
                <a:spcPct val="200000"/>
              </a:lnSpc>
            </a:pPr>
            <a:r>
              <a:rPr lang="zh-CN" altLang="en-US" dirty="0"/>
              <a:t>微软科技改变世界</a:t>
            </a:r>
            <a:endParaRPr lang="en-US" altLang="zh-CN" dirty="0"/>
          </a:p>
        </p:txBody>
      </p:sp>
      <p:pic>
        <p:nvPicPr>
          <p:cNvPr id="32771" name="Picture 2"/>
          <p:cNvPicPr>
            <a:picLocks noChangeAspect="1"/>
          </p:cNvPicPr>
          <p:nvPr/>
        </p:nvPicPr>
        <p:blipFill>
          <a:blip r:embed="rId1"/>
          <a:stretch>
            <a:fillRect/>
          </a:stretch>
        </p:blipFill>
        <p:spPr>
          <a:xfrm>
            <a:off x="11180763" y="0"/>
            <a:ext cx="1011237" cy="1011238"/>
          </a:xfrm>
          <a:prstGeom prst="rect">
            <a:avLst/>
          </a:prstGeom>
          <a:noFill/>
          <a:ln w="9525">
            <a:noFill/>
          </a:ln>
        </p:spPr>
      </p:pic>
      <p:pic>
        <p:nvPicPr>
          <p:cNvPr id="32772" name="Picture 3"/>
          <p:cNvPicPr>
            <a:picLocks noChangeAspect="1"/>
          </p:cNvPicPr>
          <p:nvPr/>
        </p:nvPicPr>
        <p:blipFill>
          <a:blip r:embed="rId2"/>
          <a:stretch>
            <a:fillRect/>
          </a:stretch>
        </p:blipFill>
        <p:spPr>
          <a:xfrm>
            <a:off x="0" y="5827713"/>
            <a:ext cx="1030288" cy="1030287"/>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584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3584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35847" name="文本框 17"/>
          <p:cNvSpPr txBox="1"/>
          <p:nvPr/>
        </p:nvSpPr>
        <p:spPr>
          <a:xfrm>
            <a:off x="425450" y="425450"/>
            <a:ext cx="6734175"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1.2  </a:t>
            </a:r>
            <a:r>
              <a:rPr lang="zh-CN" altLang="en-US" sz="3200" dirty="0">
                <a:solidFill>
                  <a:srgbClr val="1570C1"/>
                </a:solidFill>
                <a:latin typeface="微软雅黑" panose="020B0503020204020204" pitchFamily="34" charset="-122"/>
                <a:ea typeface="微软雅黑" panose="020B0503020204020204" pitchFamily="34" charset="-122"/>
              </a:rPr>
              <a:t>企业使命与愿景的特点</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35848" name="组合 2"/>
          <p:cNvGrpSpPr/>
          <p:nvPr/>
        </p:nvGrpSpPr>
        <p:grpSpPr>
          <a:xfrm>
            <a:off x="2659063" y="1865313"/>
            <a:ext cx="7593012" cy="3778250"/>
            <a:chOff x="4188" y="2938"/>
            <a:chExt cx="11958" cy="5950"/>
          </a:xfrm>
        </p:grpSpPr>
        <p:grpSp>
          <p:nvGrpSpPr>
            <p:cNvPr id="35849" name="组合 3"/>
            <p:cNvGrpSpPr/>
            <p:nvPr/>
          </p:nvGrpSpPr>
          <p:grpSpPr>
            <a:xfrm>
              <a:off x="4188" y="2938"/>
              <a:ext cx="11959" cy="1657"/>
              <a:chOff x="2757271" y="2061784"/>
              <a:chExt cx="7031152" cy="1053562"/>
            </a:xfrm>
          </p:grpSpPr>
          <p:sp>
            <p:nvSpPr>
              <p:cNvPr id="19" name="矩形 18"/>
              <p:cNvSpPr/>
              <p:nvPr/>
            </p:nvSpPr>
            <p:spPr>
              <a:xfrm>
                <a:off x="2757271" y="2061784"/>
                <a:ext cx="1265589" cy="1053879"/>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（一）</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4022860" y="2061784"/>
                <a:ext cx="5764975" cy="1053879"/>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以未来和顾客需求为导向</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5852" name="组合 4"/>
            <p:cNvGrpSpPr/>
            <p:nvPr/>
          </p:nvGrpSpPr>
          <p:grpSpPr>
            <a:xfrm>
              <a:off x="4188" y="5083"/>
              <a:ext cx="11959" cy="1657"/>
              <a:chOff x="2757271" y="3424006"/>
              <a:chExt cx="7933347" cy="1053562"/>
            </a:xfrm>
          </p:grpSpPr>
          <p:sp>
            <p:nvSpPr>
              <p:cNvPr id="21" name="矩形 20"/>
              <p:cNvSpPr/>
              <p:nvPr/>
            </p:nvSpPr>
            <p:spPr>
              <a:xfrm>
                <a:off x="2757271" y="3424006"/>
                <a:ext cx="1427982" cy="1053879"/>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（二）</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p:nvSpPr>
            <p:spPr>
              <a:xfrm>
                <a:off x="4183595" y="3424006"/>
                <a:ext cx="6506359" cy="1053879"/>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在不同组织往往有不同表述,不具有一般性</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5855" name="组合 5"/>
            <p:cNvGrpSpPr/>
            <p:nvPr/>
          </p:nvGrpSpPr>
          <p:grpSpPr>
            <a:xfrm>
              <a:off x="4188" y="7228"/>
              <a:ext cx="11959" cy="1660"/>
              <a:chOff x="2757271" y="4786228"/>
              <a:chExt cx="7031151" cy="1053562"/>
            </a:xfrm>
          </p:grpSpPr>
          <p:sp>
            <p:nvSpPr>
              <p:cNvPr id="23" name="矩形 22"/>
              <p:cNvSpPr/>
              <p:nvPr/>
            </p:nvSpPr>
            <p:spPr>
              <a:xfrm>
                <a:off x="2757271" y="4786228"/>
                <a:ext cx="1265589"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（三）</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p:nvSpPr>
            <p:spPr>
              <a:xfrm>
                <a:off x="4022860" y="4786228"/>
                <a:ext cx="5764974"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企业使命和愿景不应当仅是赚取利润</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686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3686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36871" name="文本框 17"/>
          <p:cNvSpPr txBox="1"/>
          <p:nvPr/>
        </p:nvSpPr>
        <p:spPr>
          <a:xfrm>
            <a:off x="425450" y="425450"/>
            <a:ext cx="6608763"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1.3  </a:t>
            </a:r>
            <a:r>
              <a:rPr lang="zh-CN" altLang="en-US" sz="3200" dirty="0">
                <a:solidFill>
                  <a:srgbClr val="1570C1"/>
                </a:solidFill>
                <a:latin typeface="微软雅黑" panose="020B0503020204020204" pitchFamily="34" charset="-122"/>
                <a:ea typeface="微软雅黑" panose="020B0503020204020204" pitchFamily="34" charset="-122"/>
              </a:rPr>
              <a:t>企业使命与愿景的作用</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36872" name="组合 2"/>
          <p:cNvGrpSpPr/>
          <p:nvPr/>
        </p:nvGrpSpPr>
        <p:grpSpPr>
          <a:xfrm>
            <a:off x="2659063" y="1865313"/>
            <a:ext cx="7593012" cy="3778250"/>
            <a:chOff x="4188" y="2938"/>
            <a:chExt cx="11958" cy="5950"/>
          </a:xfrm>
        </p:grpSpPr>
        <p:grpSp>
          <p:nvGrpSpPr>
            <p:cNvPr id="36873" name="组合 3"/>
            <p:cNvGrpSpPr/>
            <p:nvPr/>
          </p:nvGrpSpPr>
          <p:grpSpPr>
            <a:xfrm>
              <a:off x="4188" y="2938"/>
              <a:ext cx="11958" cy="1657"/>
              <a:chOff x="2757271" y="2061784"/>
              <a:chExt cx="7031152" cy="1053562"/>
            </a:xfrm>
          </p:grpSpPr>
          <p:sp>
            <p:nvSpPr>
              <p:cNvPr id="19" name="矩形 18"/>
              <p:cNvSpPr/>
              <p:nvPr/>
            </p:nvSpPr>
            <p:spPr>
              <a:xfrm>
                <a:off x="2757271" y="2061784"/>
                <a:ext cx="1265695" cy="1053879"/>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（一）</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4022966" y="2061784"/>
                <a:ext cx="5765457" cy="1053879"/>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明确企业的发展方向和目标</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6876" name="组合 4"/>
            <p:cNvGrpSpPr/>
            <p:nvPr/>
          </p:nvGrpSpPr>
          <p:grpSpPr>
            <a:xfrm>
              <a:off x="4187" y="5083"/>
              <a:ext cx="11959" cy="1657"/>
              <a:chOff x="2757271" y="3424006"/>
              <a:chExt cx="7933347" cy="1053562"/>
            </a:xfrm>
          </p:grpSpPr>
          <p:sp>
            <p:nvSpPr>
              <p:cNvPr id="21" name="矩形 20"/>
              <p:cNvSpPr/>
              <p:nvPr/>
            </p:nvSpPr>
            <p:spPr>
              <a:xfrm>
                <a:off x="2757934" y="3424006"/>
                <a:ext cx="1427982" cy="1053879"/>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（二）</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p:nvSpPr>
            <p:spPr>
              <a:xfrm>
                <a:off x="4184259" y="3424006"/>
                <a:ext cx="6506359" cy="1053879"/>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使命和愿景的确立是企业战略制定的前提</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6879" name="组合 5"/>
            <p:cNvGrpSpPr/>
            <p:nvPr/>
          </p:nvGrpSpPr>
          <p:grpSpPr>
            <a:xfrm>
              <a:off x="4188" y="7228"/>
              <a:ext cx="11958" cy="1660"/>
              <a:chOff x="2757271" y="4786228"/>
              <a:chExt cx="7031151" cy="1053562"/>
            </a:xfrm>
          </p:grpSpPr>
          <p:sp>
            <p:nvSpPr>
              <p:cNvPr id="23" name="矩形 22"/>
              <p:cNvSpPr/>
              <p:nvPr/>
            </p:nvSpPr>
            <p:spPr>
              <a:xfrm>
                <a:off x="2757271" y="4786228"/>
                <a:ext cx="126569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（三）</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p:nvSpPr>
            <p:spPr>
              <a:xfrm>
                <a:off x="4022966" y="4786228"/>
                <a:ext cx="5765456"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使命和愿景是企业战略的行动基础</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891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3891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38919"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1.4  </a:t>
            </a:r>
            <a:r>
              <a:rPr lang="zh-CN" altLang="en-US" sz="3200" dirty="0">
                <a:solidFill>
                  <a:srgbClr val="1570C1"/>
                </a:solidFill>
                <a:latin typeface="微软雅黑" panose="020B0503020204020204" pitchFamily="34" charset="-122"/>
                <a:ea typeface="微软雅黑" panose="020B0503020204020204" pitchFamily="34" charset="-122"/>
              </a:rPr>
              <a:t>企业使命与愿景的内容</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2492375" y="1487488"/>
            <a:ext cx="6805613" cy="503237"/>
            <a:chOff x="2757271" y="2061784"/>
            <a:chExt cx="8674863" cy="1053562"/>
          </a:xfrm>
        </p:grpSpPr>
        <p:sp>
          <p:nvSpPr>
            <p:cNvPr id="12" name="矩形 11"/>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（一）</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从顾客需求的角度</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2" name="组合 21"/>
          <p:cNvGrpSpPr/>
          <p:nvPr/>
        </p:nvGrpSpPr>
        <p:grpSpPr>
          <a:xfrm>
            <a:off x="2492375" y="2168525"/>
            <a:ext cx="6805613" cy="503238"/>
            <a:chOff x="2757271" y="2061784"/>
            <a:chExt cx="8674863" cy="1053562"/>
          </a:xfrm>
        </p:grpSpPr>
        <p:sp>
          <p:nvSpPr>
            <p:cNvPr id="23" name="矩形 22"/>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（二）</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从产品或服务的角度</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5" name="组合 24"/>
          <p:cNvGrpSpPr/>
          <p:nvPr/>
        </p:nvGrpSpPr>
        <p:grpSpPr>
          <a:xfrm>
            <a:off x="2492375" y="4894263"/>
            <a:ext cx="6805613" cy="503237"/>
            <a:chOff x="2757271" y="2061784"/>
            <a:chExt cx="8674863" cy="1053562"/>
          </a:xfrm>
        </p:grpSpPr>
        <p:sp>
          <p:nvSpPr>
            <p:cNvPr id="26" name="矩形 25"/>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（六）</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7" name="矩形 26"/>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从关心员工的角度</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8" name="组合 27"/>
          <p:cNvGrpSpPr/>
          <p:nvPr/>
        </p:nvGrpSpPr>
        <p:grpSpPr>
          <a:xfrm>
            <a:off x="2492375" y="2851150"/>
            <a:ext cx="6805613" cy="503238"/>
            <a:chOff x="2757271" y="2061784"/>
            <a:chExt cx="8674863" cy="1053562"/>
          </a:xfrm>
        </p:grpSpPr>
        <p:sp>
          <p:nvSpPr>
            <p:cNvPr id="29" name="矩形 28"/>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（三）</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0" name="矩形 29"/>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从技术的角度</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1" name="组合 30"/>
          <p:cNvGrpSpPr/>
          <p:nvPr/>
        </p:nvGrpSpPr>
        <p:grpSpPr>
          <a:xfrm>
            <a:off x="2492375" y="3532188"/>
            <a:ext cx="6805613" cy="503237"/>
            <a:chOff x="2757271" y="2061784"/>
            <a:chExt cx="8674863" cy="1053562"/>
          </a:xfrm>
        </p:grpSpPr>
        <p:sp>
          <p:nvSpPr>
            <p:cNvPr id="32" name="矩形 31"/>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（四）</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3" name="矩形 32"/>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从市场目标的角度</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4" name="组合 33"/>
          <p:cNvGrpSpPr/>
          <p:nvPr/>
        </p:nvGrpSpPr>
        <p:grpSpPr>
          <a:xfrm>
            <a:off x="2492375" y="4213225"/>
            <a:ext cx="6805613" cy="503238"/>
            <a:chOff x="2757271" y="2061784"/>
            <a:chExt cx="8674863" cy="1053562"/>
          </a:xfrm>
        </p:grpSpPr>
        <p:sp>
          <p:nvSpPr>
            <p:cNvPr id="35" name="矩形 34"/>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（五）</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6" name="矩形 35"/>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从企业的价值观及基本信念的角度</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7" name="组合 36"/>
          <p:cNvGrpSpPr/>
          <p:nvPr/>
        </p:nvGrpSpPr>
        <p:grpSpPr>
          <a:xfrm>
            <a:off x="2492375" y="5575300"/>
            <a:ext cx="6805613" cy="503238"/>
            <a:chOff x="2757271" y="2061784"/>
            <a:chExt cx="8674863" cy="1053562"/>
          </a:xfrm>
        </p:grpSpPr>
        <p:sp>
          <p:nvSpPr>
            <p:cNvPr id="38" name="矩形 37"/>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（七）</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9" name="矩形 38"/>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从企业的公众形象及社会责任的角度</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2"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500"/>
                                        <p:tgtEl>
                                          <p:spTgt spid="22"/>
                                        </p:tgtEl>
                                      </p:cBhvr>
                                    </p:animEffect>
                                  </p:childTnLst>
                                </p:cTn>
                              </p:par>
                              <p:par>
                                <p:cTn id="11" presetID="22" presetClass="entr" presetSubtype="8"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par>
                                <p:cTn id="14" presetID="22" presetClass="entr" presetSubtype="2"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right)">
                                      <p:cBhvr>
                                        <p:cTn id="16" dur="500"/>
                                        <p:tgtEl>
                                          <p:spTgt spid="31"/>
                                        </p:tgtEl>
                                      </p:cBhvr>
                                    </p:animEffect>
                                  </p:childTnLst>
                                </p:cTn>
                              </p:par>
                              <p:par>
                                <p:cTn id="17" presetID="22" presetClass="entr" presetSubtype="8"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par>
                                <p:cTn id="20" presetID="22" presetClass="entr" presetSubtype="2"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right)">
                                      <p:cBhvr>
                                        <p:cTn id="22" dur="500"/>
                                        <p:tgtEl>
                                          <p:spTgt spid="25"/>
                                        </p:tgtEl>
                                      </p:cBhvr>
                                    </p:animEffect>
                                  </p:childTnLst>
                                </p:cTn>
                              </p:par>
                              <p:par>
                                <p:cTn id="23" presetID="22" presetClass="entr" presetSubtype="8"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left)">
                                      <p:cBhvr>
                                        <p:cTn id="2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096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4096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40967"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1.5  </a:t>
            </a:r>
            <a:r>
              <a:rPr lang="zh-CN" altLang="en-US" sz="3200" dirty="0">
                <a:solidFill>
                  <a:srgbClr val="1570C1"/>
                </a:solidFill>
                <a:latin typeface="微软雅黑" panose="020B0503020204020204" pitchFamily="34" charset="-122"/>
                <a:ea typeface="微软雅黑" panose="020B0503020204020204" pitchFamily="34" charset="-122"/>
              </a:rPr>
              <a:t>企业使命与愿景的注意事项</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1773238" y="2044700"/>
            <a:ext cx="2071687" cy="3328988"/>
            <a:chOff x="1772528" y="2045493"/>
            <a:chExt cx="2072399" cy="3328683"/>
          </a:xfrm>
        </p:grpSpPr>
        <p:sp>
          <p:nvSpPr>
            <p:cNvPr id="10" name="矩形 9"/>
            <p:cNvSpPr/>
            <p:nvPr/>
          </p:nvSpPr>
          <p:spPr>
            <a:xfrm>
              <a:off x="1772528" y="2045493"/>
              <a:ext cx="219184" cy="3328366"/>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1" name="矩形 10"/>
            <p:cNvSpPr/>
            <p:nvPr/>
          </p:nvSpPr>
          <p:spPr>
            <a:xfrm>
              <a:off x="1991712" y="2045493"/>
              <a:ext cx="1853215" cy="3328683"/>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应清晰包括“什么”、“谁”和“采取什么样的方式”三方面内容</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 name="组合 3"/>
          <p:cNvGrpSpPr/>
          <p:nvPr/>
        </p:nvGrpSpPr>
        <p:grpSpPr>
          <a:xfrm>
            <a:off x="4851400" y="2044700"/>
            <a:ext cx="2362200" cy="3328988"/>
            <a:chOff x="4851008" y="2045493"/>
            <a:chExt cx="2363373" cy="3328366"/>
          </a:xfrm>
        </p:grpSpPr>
        <p:sp>
          <p:nvSpPr>
            <p:cNvPr id="18" name="矩形 17"/>
            <p:cNvSpPr/>
            <p:nvPr/>
          </p:nvSpPr>
          <p:spPr>
            <a:xfrm>
              <a:off x="4851008" y="2045493"/>
              <a:ext cx="219184" cy="3328366"/>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a:xfrm>
              <a:off x="5070192" y="2045493"/>
              <a:ext cx="2144189" cy="3328366"/>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企业使命和愿景的界定必须具体、明确</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5" name="组合 4"/>
          <p:cNvGrpSpPr/>
          <p:nvPr/>
        </p:nvGrpSpPr>
        <p:grpSpPr>
          <a:xfrm>
            <a:off x="7948613" y="2044700"/>
            <a:ext cx="2362200" cy="3328988"/>
            <a:chOff x="7948207" y="2045493"/>
            <a:chExt cx="2363373" cy="3328366"/>
          </a:xfrm>
        </p:grpSpPr>
        <p:sp>
          <p:nvSpPr>
            <p:cNvPr id="22" name="矩形 21"/>
            <p:cNvSpPr/>
            <p:nvPr/>
          </p:nvSpPr>
          <p:spPr>
            <a:xfrm>
              <a:off x="7948207" y="2045493"/>
              <a:ext cx="219184" cy="3328366"/>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3" name="矩形 22"/>
            <p:cNvSpPr/>
            <p:nvPr/>
          </p:nvSpPr>
          <p:spPr>
            <a:xfrm>
              <a:off x="8167391" y="2045493"/>
              <a:ext cx="2144189" cy="3328366"/>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企业使命和战略愿景要具有鼓动性</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14900"/>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88963"/>
            <a:ext cx="1495425"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2</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44900"/>
            <a:ext cx="58467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企业战略目标 </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74963" y="4914900"/>
            <a:ext cx="4879975"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2.1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企业战略目标的概念及作用</a:t>
            </a:r>
            <a:endPar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2.2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企业战略目标的基本要求</a:t>
            </a:r>
            <a:endPar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2.3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企业战略目标的内容</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2.4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企业战略目标体系的核心结构</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2.5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企业战略目标的制定过程</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403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4403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44039" name="文本框 17"/>
          <p:cNvSpPr txBox="1"/>
          <p:nvPr/>
        </p:nvSpPr>
        <p:spPr>
          <a:xfrm>
            <a:off x="425450" y="425450"/>
            <a:ext cx="769143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2.1  </a:t>
            </a:r>
            <a:r>
              <a:rPr lang="zh-CN" altLang="en-US" sz="3200" dirty="0">
                <a:solidFill>
                  <a:srgbClr val="1570C1"/>
                </a:solidFill>
                <a:latin typeface="微软雅黑" panose="020B0503020204020204" pitchFamily="34" charset="-122"/>
                <a:ea typeface="微软雅黑" panose="020B0503020204020204" pitchFamily="34" charset="-122"/>
              </a:rPr>
              <a:t>企业战略目标的概念及作用</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1" name="Shape 539"/>
          <p:cNvSpPr/>
          <p:nvPr/>
        </p:nvSpPr>
        <p:spPr>
          <a:xfrm>
            <a:off x="2420938" y="1601788"/>
            <a:ext cx="7651750" cy="1274762"/>
          </a:xfrm>
          <a:custGeom>
            <a:avLst/>
            <a:gdLst>
              <a:gd name="txL" fmla="*/ 0 w 21600"/>
              <a:gd name="txT" fmla="*/ 0 h 21600"/>
              <a:gd name="txR" fmla="*/ 21600 w 21600"/>
              <a:gd name="txB" fmla="*/ 21600 h 21600"/>
            </a:gdLst>
            <a:ahLst/>
            <a:cxnLst>
              <a:cxn ang="0">
                <a:pos x="2147483647" y="2147483647"/>
              </a:cxn>
              <a:cxn ang="5898240">
                <a:pos x="2147483647" y="2147483647"/>
              </a:cxn>
              <a:cxn ang="11796480">
                <a:pos x="2147483647" y="2147483647"/>
              </a:cxn>
              <a:cxn ang="17694720">
                <a:pos x="2147483647" y="2147483647"/>
              </a:cxn>
            </a:cxnLst>
            <a:rect l="txL" t="txT" r="txR" b="txB"/>
            <a:pathLst>
              <a:path w="21600" h="21600">
                <a:moveTo>
                  <a:pt x="47" y="0"/>
                </a:moveTo>
                <a:lnTo>
                  <a:pt x="3117" y="10867"/>
                </a:lnTo>
                <a:lnTo>
                  <a:pt x="0" y="21600"/>
                </a:lnTo>
                <a:lnTo>
                  <a:pt x="18545" y="21600"/>
                </a:lnTo>
                <a:lnTo>
                  <a:pt x="21600" y="10963"/>
                </a:lnTo>
                <a:lnTo>
                  <a:pt x="18671" y="18"/>
                </a:lnTo>
                <a:lnTo>
                  <a:pt x="47" y="0"/>
                </a:lnTo>
                <a:close/>
              </a:path>
            </a:pathLst>
          </a:custGeom>
          <a:solidFill>
            <a:srgbClr val="1570C1"/>
          </a:solidFill>
          <a:ln w="12700">
            <a:noFill/>
          </a:ln>
        </p:spPr>
        <p:txBody>
          <a:bodyPr lIns="0" tIns="0" rIns="0" bIns="0" anchor="ctr" anchorCtr="0"/>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企业制定战略方案的基本依据和出发点</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3" name="Shape 544"/>
          <p:cNvSpPr/>
          <p:nvPr/>
        </p:nvSpPr>
        <p:spPr>
          <a:xfrm>
            <a:off x="2420938" y="3165475"/>
            <a:ext cx="7656512" cy="1276350"/>
          </a:xfrm>
          <a:custGeom>
            <a:avLst/>
            <a:gdLst>
              <a:gd name="txL" fmla="*/ 0 w 21600"/>
              <a:gd name="txT" fmla="*/ 0 h 21600"/>
              <a:gd name="txR" fmla="*/ 21600 w 21600"/>
              <a:gd name="txB" fmla="*/ 21600 h 21600"/>
            </a:gdLst>
            <a:ahLst/>
            <a:cxnLst>
              <a:cxn ang="0">
                <a:pos x="2147483647" y="2147483647"/>
              </a:cxn>
              <a:cxn ang="5898240">
                <a:pos x="2147483647" y="2147483647"/>
              </a:cxn>
              <a:cxn ang="11796480">
                <a:pos x="2147483647" y="2147483647"/>
              </a:cxn>
              <a:cxn ang="17694720">
                <a:pos x="2147483647" y="2147483647"/>
              </a:cxn>
            </a:cxnLst>
            <a:rect l="txL" t="txT" r="txR" b="txB"/>
            <a:pathLst>
              <a:path w="21600" h="21600">
                <a:moveTo>
                  <a:pt x="47" y="0"/>
                </a:moveTo>
                <a:lnTo>
                  <a:pt x="3117" y="10867"/>
                </a:lnTo>
                <a:lnTo>
                  <a:pt x="0" y="21600"/>
                </a:lnTo>
                <a:lnTo>
                  <a:pt x="18545" y="21600"/>
                </a:lnTo>
                <a:lnTo>
                  <a:pt x="21600" y="10963"/>
                </a:lnTo>
                <a:lnTo>
                  <a:pt x="18671" y="18"/>
                </a:lnTo>
                <a:lnTo>
                  <a:pt x="47" y="0"/>
                </a:lnTo>
                <a:close/>
              </a:path>
            </a:pathLst>
          </a:custGeom>
          <a:solidFill>
            <a:srgbClr val="00B0F0"/>
          </a:solidFill>
          <a:ln w="12700">
            <a:noFill/>
          </a:ln>
        </p:spPr>
        <p:txBody>
          <a:bodyPr lIns="0" tIns="0" rIns="0" bIns="0" anchor="ctr" anchorCtr="0"/>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企业战略实施的指导原则</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5" name="Shape 549"/>
          <p:cNvSpPr/>
          <p:nvPr/>
        </p:nvSpPr>
        <p:spPr>
          <a:xfrm>
            <a:off x="2420938" y="4732338"/>
            <a:ext cx="7651750" cy="1276350"/>
          </a:xfrm>
          <a:custGeom>
            <a:avLst/>
            <a:gdLst>
              <a:gd name="txL" fmla="*/ 0 w 21600"/>
              <a:gd name="txT" fmla="*/ 0 h 21600"/>
              <a:gd name="txR" fmla="*/ 21600 w 21600"/>
              <a:gd name="txB" fmla="*/ 21600 h 21600"/>
            </a:gdLst>
            <a:ahLst/>
            <a:cxnLst>
              <a:cxn ang="0">
                <a:pos x="2147483647" y="2147483647"/>
              </a:cxn>
              <a:cxn ang="5898240">
                <a:pos x="2147483647" y="2147483647"/>
              </a:cxn>
              <a:cxn ang="11796480">
                <a:pos x="2147483647" y="2147483647"/>
              </a:cxn>
              <a:cxn ang="17694720">
                <a:pos x="2147483647" y="2147483647"/>
              </a:cxn>
            </a:cxnLst>
            <a:rect l="txL" t="txT" r="txR" b="txB"/>
            <a:pathLst>
              <a:path w="21600" h="21600">
                <a:moveTo>
                  <a:pt x="47" y="0"/>
                </a:moveTo>
                <a:lnTo>
                  <a:pt x="3117" y="10867"/>
                </a:lnTo>
                <a:lnTo>
                  <a:pt x="0" y="21600"/>
                </a:lnTo>
                <a:lnTo>
                  <a:pt x="18545" y="21600"/>
                </a:lnTo>
                <a:lnTo>
                  <a:pt x="21600" y="10963"/>
                </a:lnTo>
                <a:lnTo>
                  <a:pt x="18671" y="18"/>
                </a:lnTo>
                <a:lnTo>
                  <a:pt x="47" y="0"/>
                </a:lnTo>
                <a:close/>
              </a:path>
            </a:pathLst>
          </a:custGeom>
          <a:solidFill>
            <a:srgbClr val="1570C1"/>
          </a:solidFill>
          <a:ln w="12700">
            <a:noFill/>
          </a:ln>
        </p:spPr>
        <p:txBody>
          <a:bodyPr lIns="0" tIns="0" rIns="0" bIns="0" anchor="ctr" anchorCtr="0"/>
          <a:p>
            <a:pPr algn="ctr" eaLnBrk="0" hangingPunct="0"/>
            <a:r>
              <a:rPr lang="zh-CN" altLang="en-US" sz="2400" dirty="0">
                <a:solidFill>
                  <a:schemeClr val="bg1"/>
                </a:solidFill>
                <a:latin typeface="微软雅黑" panose="020B0503020204020204" pitchFamily="34" charset="-122"/>
                <a:ea typeface="微软雅黑" panose="020B0503020204020204" pitchFamily="34" charset="-122"/>
              </a:rPr>
              <a:t>企业战略控制的评价标准</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52730" y="1572260"/>
            <a:ext cx="2139950" cy="4523105"/>
          </a:xfrm>
          <a:prstGeom prst="rect">
            <a:avLst/>
          </a:prstGeom>
          <a:noFill/>
        </p:spPr>
        <p:txBody>
          <a:bodyPr wrap="square" rtlCol="0">
            <a:spAutoFit/>
          </a:bodyPr>
          <a:p>
            <a:pPr algn="ctr"/>
            <a:r>
              <a:rPr lang="zh-CN" altLang="en-US" sz="3200" b="1">
                <a:solidFill>
                  <a:srgbClr val="FF0000"/>
                </a:solidFill>
              </a:rPr>
              <a:t>战略目标</a:t>
            </a:r>
            <a:r>
              <a:rPr lang="zh-CN" altLang="en-US" sz="3200" b="1"/>
              <a:t>是指与能够增强和巩固企业总体市场地位和竞争优势的成果相关的目标</a:t>
            </a:r>
            <a:endParaRPr lang="zh-CN" altLang="en-US" sz="3200" b="1"/>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0-#ppt_w/2"/>
                                          </p:val>
                                        </p:tav>
                                        <p:tav tm="100000">
                                          <p:val>
                                            <p:strVal val="#ppt_x"/>
                                          </p:val>
                                        </p:tav>
                                      </p:tavLst>
                                    </p:anim>
                                    <p:anim calcmode="lin" valueType="num">
                                      <p:cBhvr additive="base">
                                        <p:cTn id="13" dur="500" fill="hold"/>
                                        <p:tgtEl>
                                          <p:spTgt spid="2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0-#ppt_w/2"/>
                                          </p:val>
                                        </p:tav>
                                        <p:tav tm="100000">
                                          <p:val>
                                            <p:strVal val="#ppt_x"/>
                                          </p:val>
                                        </p:tav>
                                      </p:tavLst>
                                    </p:anim>
                                    <p:anim calcmode="lin" valueType="num">
                                      <p:cBhvr additive="base">
                                        <p:cTn id="18"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608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4608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46087"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企业战略目标的基本要求</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028700" y="1635125"/>
            <a:ext cx="3111500" cy="2098675"/>
            <a:chOff x="1854200" y="1438275"/>
            <a:chExt cx="3232150" cy="2179638"/>
          </a:xfrm>
        </p:grpSpPr>
        <p:sp>
          <p:nvSpPr>
            <p:cNvPr id="11" name="Freeform 10"/>
            <p:cNvSpPr/>
            <p:nvPr/>
          </p:nvSpPr>
          <p:spPr bwMode="auto">
            <a:xfrm>
              <a:off x="1933355" y="1438275"/>
              <a:ext cx="3152995" cy="2179638"/>
            </a:xfrm>
            <a:custGeom>
              <a:avLst/>
              <a:gdLst>
                <a:gd name="T0" fmla="*/ 1192 w 1192"/>
                <a:gd name="T1" fmla="*/ 148 h 1156"/>
                <a:gd name="T2" fmla="*/ 74 w 1192"/>
                <a:gd name="T3" fmla="*/ 0 h 1156"/>
                <a:gd name="T4" fmla="*/ 0 w 1192"/>
                <a:gd name="T5" fmla="*/ 788 h 1156"/>
                <a:gd name="T6" fmla="*/ 710 w 1192"/>
                <a:gd name="T7" fmla="*/ 854 h 1156"/>
                <a:gd name="T8" fmla="*/ 898 w 1192"/>
                <a:gd name="T9" fmla="*/ 1156 h 1156"/>
                <a:gd name="T10" fmla="*/ 881 w 1192"/>
                <a:gd name="T11" fmla="*/ 866 h 1156"/>
                <a:gd name="T12" fmla="*/ 1093 w 1192"/>
                <a:gd name="T13" fmla="*/ 873 h 1156"/>
                <a:gd name="T14" fmla="*/ 1192 w 1192"/>
                <a:gd name="T15" fmla="*/ 148 h 1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2" h="1156">
                  <a:moveTo>
                    <a:pt x="1192" y="148"/>
                  </a:moveTo>
                  <a:lnTo>
                    <a:pt x="74" y="0"/>
                  </a:lnTo>
                  <a:lnTo>
                    <a:pt x="0" y="788"/>
                  </a:lnTo>
                  <a:lnTo>
                    <a:pt x="710" y="854"/>
                  </a:lnTo>
                  <a:lnTo>
                    <a:pt x="898" y="1156"/>
                  </a:lnTo>
                  <a:lnTo>
                    <a:pt x="881" y="866"/>
                  </a:lnTo>
                  <a:lnTo>
                    <a:pt x="1093" y="873"/>
                  </a:lnTo>
                  <a:lnTo>
                    <a:pt x="1192" y="148"/>
                  </a:lnTo>
                  <a:close/>
                </a:path>
              </a:pathLst>
            </a:custGeom>
            <a:solidFill>
              <a:srgbClr val="00B0F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2" name="Freeform 11"/>
            <p:cNvSpPr/>
            <p:nvPr/>
          </p:nvSpPr>
          <p:spPr bwMode="auto">
            <a:xfrm>
              <a:off x="1854200" y="1599852"/>
              <a:ext cx="2969951" cy="2018061"/>
            </a:xfrm>
            <a:custGeom>
              <a:avLst/>
              <a:gdLst>
                <a:gd name="T0" fmla="*/ 1123 w 1123"/>
                <a:gd name="T1" fmla="*/ 0 h 1070"/>
                <a:gd name="T2" fmla="*/ 0 w 1123"/>
                <a:gd name="T3" fmla="*/ 0 h 1070"/>
                <a:gd name="T4" fmla="*/ 0 w 1123"/>
                <a:gd name="T5" fmla="*/ 787 h 1070"/>
                <a:gd name="T6" fmla="*/ 712 w 1123"/>
                <a:gd name="T7" fmla="*/ 787 h 1070"/>
                <a:gd name="T8" fmla="*/ 928 w 1123"/>
                <a:gd name="T9" fmla="*/ 1070 h 1070"/>
                <a:gd name="T10" fmla="*/ 928 w 1123"/>
                <a:gd name="T11" fmla="*/ 787 h 1070"/>
                <a:gd name="T12" fmla="*/ 1123 w 1123"/>
                <a:gd name="T13" fmla="*/ 787 h 1070"/>
                <a:gd name="T14" fmla="*/ 1123 w 1123"/>
                <a:gd name="T15" fmla="*/ 0 h 10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3" h="1070">
                  <a:moveTo>
                    <a:pt x="1123" y="0"/>
                  </a:moveTo>
                  <a:lnTo>
                    <a:pt x="0" y="0"/>
                  </a:lnTo>
                  <a:lnTo>
                    <a:pt x="0" y="787"/>
                  </a:lnTo>
                  <a:lnTo>
                    <a:pt x="712" y="787"/>
                  </a:lnTo>
                  <a:lnTo>
                    <a:pt x="928" y="1070"/>
                  </a:lnTo>
                  <a:lnTo>
                    <a:pt x="928" y="787"/>
                  </a:lnTo>
                  <a:lnTo>
                    <a:pt x="1123" y="787"/>
                  </a:lnTo>
                  <a:lnTo>
                    <a:pt x="1123"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46091" name="TextBox 57"/>
            <p:cNvSpPr txBox="1"/>
            <p:nvPr/>
          </p:nvSpPr>
          <p:spPr>
            <a:xfrm>
              <a:off x="1948197" y="1969170"/>
              <a:ext cx="2673119" cy="926593"/>
            </a:xfrm>
            <a:prstGeom prst="rect">
              <a:avLst/>
            </a:prstGeom>
            <a:noFill/>
            <a:ln w="9525">
              <a:noFill/>
            </a:ln>
          </p:spPr>
          <p:txBody>
            <a:bodyPr anchor="t" anchorCtr="0">
              <a:spAutoFit/>
            </a:bodyPr>
            <a:p>
              <a:pPr algn="ctr">
                <a:lnSpc>
                  <a:spcPct val="130000"/>
                </a:lnSpc>
              </a:pPr>
              <a:r>
                <a:rPr lang="zh-CN" altLang="en-US" sz="2000" dirty="0">
                  <a:solidFill>
                    <a:schemeClr val="bg1"/>
                  </a:solidFill>
                  <a:latin typeface="微软雅黑" panose="020B0503020204020204" pitchFamily="34" charset="-122"/>
                  <a:ea typeface="微软雅黑" panose="020B0503020204020204" pitchFamily="34" charset="-122"/>
                </a:rPr>
                <a:t>挑战性：延伸企业的能力</a:t>
              </a:r>
              <a:endParaRPr lang="en-US" altLang="zh-CN" sz="2000" dirty="0">
                <a:solidFill>
                  <a:schemeClr val="bg1"/>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4581525" y="1635125"/>
            <a:ext cx="3111500" cy="2098675"/>
            <a:chOff x="1854200" y="1438275"/>
            <a:chExt cx="3232150" cy="2179638"/>
          </a:xfrm>
        </p:grpSpPr>
        <p:sp>
          <p:nvSpPr>
            <p:cNvPr id="15" name="Freeform 10"/>
            <p:cNvSpPr/>
            <p:nvPr/>
          </p:nvSpPr>
          <p:spPr bwMode="auto">
            <a:xfrm>
              <a:off x="1933355" y="1438275"/>
              <a:ext cx="3152995" cy="2179638"/>
            </a:xfrm>
            <a:custGeom>
              <a:avLst/>
              <a:gdLst>
                <a:gd name="T0" fmla="*/ 1192 w 1192"/>
                <a:gd name="T1" fmla="*/ 148 h 1156"/>
                <a:gd name="T2" fmla="*/ 74 w 1192"/>
                <a:gd name="T3" fmla="*/ 0 h 1156"/>
                <a:gd name="T4" fmla="*/ 0 w 1192"/>
                <a:gd name="T5" fmla="*/ 788 h 1156"/>
                <a:gd name="T6" fmla="*/ 710 w 1192"/>
                <a:gd name="T7" fmla="*/ 854 h 1156"/>
                <a:gd name="T8" fmla="*/ 898 w 1192"/>
                <a:gd name="T9" fmla="*/ 1156 h 1156"/>
                <a:gd name="T10" fmla="*/ 881 w 1192"/>
                <a:gd name="T11" fmla="*/ 866 h 1156"/>
                <a:gd name="T12" fmla="*/ 1093 w 1192"/>
                <a:gd name="T13" fmla="*/ 873 h 1156"/>
                <a:gd name="T14" fmla="*/ 1192 w 1192"/>
                <a:gd name="T15" fmla="*/ 148 h 1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2" h="1156">
                  <a:moveTo>
                    <a:pt x="1192" y="148"/>
                  </a:moveTo>
                  <a:lnTo>
                    <a:pt x="74" y="0"/>
                  </a:lnTo>
                  <a:lnTo>
                    <a:pt x="0" y="788"/>
                  </a:lnTo>
                  <a:lnTo>
                    <a:pt x="710" y="854"/>
                  </a:lnTo>
                  <a:lnTo>
                    <a:pt x="898" y="1156"/>
                  </a:lnTo>
                  <a:lnTo>
                    <a:pt x="881" y="866"/>
                  </a:lnTo>
                  <a:lnTo>
                    <a:pt x="1093" y="873"/>
                  </a:lnTo>
                  <a:lnTo>
                    <a:pt x="1192" y="148"/>
                  </a:lnTo>
                  <a:close/>
                </a:path>
              </a:pathLst>
            </a:custGeom>
            <a:solidFill>
              <a:srgbClr val="00B0F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8" name="Freeform 11"/>
            <p:cNvSpPr/>
            <p:nvPr/>
          </p:nvSpPr>
          <p:spPr bwMode="auto">
            <a:xfrm>
              <a:off x="1854200" y="1599852"/>
              <a:ext cx="2969951" cy="2018061"/>
            </a:xfrm>
            <a:custGeom>
              <a:avLst/>
              <a:gdLst>
                <a:gd name="T0" fmla="*/ 1123 w 1123"/>
                <a:gd name="T1" fmla="*/ 0 h 1070"/>
                <a:gd name="T2" fmla="*/ 0 w 1123"/>
                <a:gd name="T3" fmla="*/ 0 h 1070"/>
                <a:gd name="T4" fmla="*/ 0 w 1123"/>
                <a:gd name="T5" fmla="*/ 787 h 1070"/>
                <a:gd name="T6" fmla="*/ 712 w 1123"/>
                <a:gd name="T7" fmla="*/ 787 h 1070"/>
                <a:gd name="T8" fmla="*/ 928 w 1123"/>
                <a:gd name="T9" fmla="*/ 1070 h 1070"/>
                <a:gd name="T10" fmla="*/ 928 w 1123"/>
                <a:gd name="T11" fmla="*/ 787 h 1070"/>
                <a:gd name="T12" fmla="*/ 1123 w 1123"/>
                <a:gd name="T13" fmla="*/ 787 h 1070"/>
                <a:gd name="T14" fmla="*/ 1123 w 1123"/>
                <a:gd name="T15" fmla="*/ 0 h 10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3" h="1070">
                  <a:moveTo>
                    <a:pt x="1123" y="0"/>
                  </a:moveTo>
                  <a:lnTo>
                    <a:pt x="0" y="0"/>
                  </a:lnTo>
                  <a:lnTo>
                    <a:pt x="0" y="787"/>
                  </a:lnTo>
                  <a:lnTo>
                    <a:pt x="712" y="787"/>
                  </a:lnTo>
                  <a:lnTo>
                    <a:pt x="928" y="1070"/>
                  </a:lnTo>
                  <a:lnTo>
                    <a:pt x="928" y="787"/>
                  </a:lnTo>
                  <a:lnTo>
                    <a:pt x="1123" y="787"/>
                  </a:lnTo>
                  <a:lnTo>
                    <a:pt x="1123"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46095" name="TextBox 57"/>
            <p:cNvSpPr txBox="1"/>
            <p:nvPr/>
          </p:nvSpPr>
          <p:spPr>
            <a:xfrm>
              <a:off x="1948197" y="1969170"/>
              <a:ext cx="2673119" cy="926593"/>
            </a:xfrm>
            <a:prstGeom prst="rect">
              <a:avLst/>
            </a:prstGeom>
            <a:noFill/>
            <a:ln w="9525">
              <a:noFill/>
            </a:ln>
          </p:spPr>
          <p:txBody>
            <a:bodyPr anchor="t" anchorCtr="0">
              <a:spAutoFit/>
            </a:bodyPr>
            <a:p>
              <a:pPr algn="ctr">
                <a:lnSpc>
                  <a:spcPct val="130000"/>
                </a:lnSpc>
              </a:pPr>
              <a:r>
                <a:rPr lang="zh-CN" altLang="en-US" sz="2000" dirty="0">
                  <a:solidFill>
                    <a:schemeClr val="bg1"/>
                  </a:solidFill>
                  <a:latin typeface="微软雅黑" panose="020B0503020204020204" pitchFamily="34" charset="-122"/>
                  <a:ea typeface="微软雅黑" panose="020B0503020204020204" pitchFamily="34" charset="-122"/>
                </a:rPr>
                <a:t>可检测性：长期目标与短期目标相结合</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8210550" y="1635125"/>
            <a:ext cx="3111500" cy="2098675"/>
            <a:chOff x="1854200" y="1438275"/>
            <a:chExt cx="3232150" cy="2179638"/>
          </a:xfrm>
        </p:grpSpPr>
        <p:sp>
          <p:nvSpPr>
            <p:cNvPr id="21" name="Freeform 10"/>
            <p:cNvSpPr/>
            <p:nvPr/>
          </p:nvSpPr>
          <p:spPr bwMode="auto">
            <a:xfrm>
              <a:off x="1933355" y="1438275"/>
              <a:ext cx="3152995" cy="2179638"/>
            </a:xfrm>
            <a:custGeom>
              <a:avLst/>
              <a:gdLst>
                <a:gd name="T0" fmla="*/ 1192 w 1192"/>
                <a:gd name="T1" fmla="*/ 148 h 1156"/>
                <a:gd name="T2" fmla="*/ 74 w 1192"/>
                <a:gd name="T3" fmla="*/ 0 h 1156"/>
                <a:gd name="T4" fmla="*/ 0 w 1192"/>
                <a:gd name="T5" fmla="*/ 788 h 1156"/>
                <a:gd name="T6" fmla="*/ 710 w 1192"/>
                <a:gd name="T7" fmla="*/ 854 h 1156"/>
                <a:gd name="T8" fmla="*/ 898 w 1192"/>
                <a:gd name="T9" fmla="*/ 1156 h 1156"/>
                <a:gd name="T10" fmla="*/ 881 w 1192"/>
                <a:gd name="T11" fmla="*/ 866 h 1156"/>
                <a:gd name="T12" fmla="*/ 1093 w 1192"/>
                <a:gd name="T13" fmla="*/ 873 h 1156"/>
                <a:gd name="T14" fmla="*/ 1192 w 1192"/>
                <a:gd name="T15" fmla="*/ 148 h 1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2" h="1156">
                  <a:moveTo>
                    <a:pt x="1192" y="148"/>
                  </a:moveTo>
                  <a:lnTo>
                    <a:pt x="74" y="0"/>
                  </a:lnTo>
                  <a:lnTo>
                    <a:pt x="0" y="788"/>
                  </a:lnTo>
                  <a:lnTo>
                    <a:pt x="710" y="854"/>
                  </a:lnTo>
                  <a:lnTo>
                    <a:pt x="898" y="1156"/>
                  </a:lnTo>
                  <a:lnTo>
                    <a:pt x="881" y="866"/>
                  </a:lnTo>
                  <a:lnTo>
                    <a:pt x="1093" y="873"/>
                  </a:lnTo>
                  <a:lnTo>
                    <a:pt x="1192" y="148"/>
                  </a:lnTo>
                  <a:close/>
                </a:path>
              </a:pathLst>
            </a:custGeom>
            <a:solidFill>
              <a:srgbClr val="00B0F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2" name="Freeform 11"/>
            <p:cNvSpPr/>
            <p:nvPr/>
          </p:nvSpPr>
          <p:spPr bwMode="auto">
            <a:xfrm>
              <a:off x="1854200" y="1599852"/>
              <a:ext cx="2969951" cy="2018061"/>
            </a:xfrm>
            <a:custGeom>
              <a:avLst/>
              <a:gdLst>
                <a:gd name="T0" fmla="*/ 1123 w 1123"/>
                <a:gd name="T1" fmla="*/ 0 h 1070"/>
                <a:gd name="T2" fmla="*/ 0 w 1123"/>
                <a:gd name="T3" fmla="*/ 0 h 1070"/>
                <a:gd name="T4" fmla="*/ 0 w 1123"/>
                <a:gd name="T5" fmla="*/ 787 h 1070"/>
                <a:gd name="T6" fmla="*/ 712 w 1123"/>
                <a:gd name="T7" fmla="*/ 787 h 1070"/>
                <a:gd name="T8" fmla="*/ 928 w 1123"/>
                <a:gd name="T9" fmla="*/ 1070 h 1070"/>
                <a:gd name="T10" fmla="*/ 928 w 1123"/>
                <a:gd name="T11" fmla="*/ 787 h 1070"/>
                <a:gd name="T12" fmla="*/ 1123 w 1123"/>
                <a:gd name="T13" fmla="*/ 787 h 1070"/>
                <a:gd name="T14" fmla="*/ 1123 w 1123"/>
                <a:gd name="T15" fmla="*/ 0 h 10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3" h="1070">
                  <a:moveTo>
                    <a:pt x="1123" y="0"/>
                  </a:moveTo>
                  <a:lnTo>
                    <a:pt x="0" y="0"/>
                  </a:lnTo>
                  <a:lnTo>
                    <a:pt x="0" y="787"/>
                  </a:lnTo>
                  <a:lnTo>
                    <a:pt x="712" y="787"/>
                  </a:lnTo>
                  <a:lnTo>
                    <a:pt x="928" y="1070"/>
                  </a:lnTo>
                  <a:lnTo>
                    <a:pt x="928" y="787"/>
                  </a:lnTo>
                  <a:lnTo>
                    <a:pt x="1123" y="787"/>
                  </a:lnTo>
                  <a:lnTo>
                    <a:pt x="1123"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46099" name="TextBox 57"/>
            <p:cNvSpPr txBox="1"/>
            <p:nvPr/>
          </p:nvSpPr>
          <p:spPr>
            <a:xfrm>
              <a:off x="1948197" y="1969170"/>
              <a:ext cx="2673119" cy="925934"/>
            </a:xfrm>
            <a:prstGeom prst="rect">
              <a:avLst/>
            </a:prstGeom>
            <a:noFill/>
            <a:ln w="9525">
              <a:noFill/>
            </a:ln>
          </p:spPr>
          <p:txBody>
            <a:bodyPr anchor="t" anchorCtr="0">
              <a:spAutoFit/>
            </a:bodyPr>
            <a:p>
              <a:pPr algn="ctr">
                <a:lnSpc>
                  <a:spcPct val="130000"/>
                </a:lnSpc>
              </a:pPr>
              <a:r>
                <a:rPr lang="zh-CN" altLang="en-US" sz="2000" dirty="0">
                  <a:solidFill>
                    <a:schemeClr val="bg1"/>
                  </a:solidFill>
                  <a:latin typeface="微软雅黑" panose="020B0503020204020204" pitchFamily="34" charset="-122"/>
                  <a:ea typeface="微软雅黑" panose="020B0503020204020204" pitchFamily="34" charset="-122"/>
                </a:rPr>
                <a:t>系统性：自上而下在各层次制定目标</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24" name="组合 23"/>
          <p:cNvGrpSpPr/>
          <p:nvPr/>
        </p:nvGrpSpPr>
        <p:grpSpPr>
          <a:xfrm>
            <a:off x="3025438" y="3947277"/>
            <a:ext cx="3111695" cy="2098408"/>
            <a:chOff x="1854200" y="1438275"/>
            <a:chExt cx="3232150" cy="2179638"/>
          </a:xfrm>
          <a:solidFill>
            <a:srgbClr val="1570C1"/>
          </a:solidFill>
        </p:grpSpPr>
        <p:sp>
          <p:nvSpPr>
            <p:cNvPr id="25" name="Freeform 10"/>
            <p:cNvSpPr/>
            <p:nvPr/>
          </p:nvSpPr>
          <p:spPr bwMode="auto">
            <a:xfrm>
              <a:off x="1933575" y="1438275"/>
              <a:ext cx="3152775" cy="2179638"/>
            </a:xfrm>
            <a:custGeom>
              <a:avLst/>
              <a:gdLst>
                <a:gd name="T0" fmla="*/ 1192 w 1192"/>
                <a:gd name="T1" fmla="*/ 148 h 1156"/>
                <a:gd name="T2" fmla="*/ 74 w 1192"/>
                <a:gd name="T3" fmla="*/ 0 h 1156"/>
                <a:gd name="T4" fmla="*/ 0 w 1192"/>
                <a:gd name="T5" fmla="*/ 788 h 1156"/>
                <a:gd name="T6" fmla="*/ 710 w 1192"/>
                <a:gd name="T7" fmla="*/ 854 h 1156"/>
                <a:gd name="T8" fmla="*/ 898 w 1192"/>
                <a:gd name="T9" fmla="*/ 1156 h 1156"/>
                <a:gd name="T10" fmla="*/ 881 w 1192"/>
                <a:gd name="T11" fmla="*/ 866 h 1156"/>
                <a:gd name="T12" fmla="*/ 1093 w 1192"/>
                <a:gd name="T13" fmla="*/ 873 h 1156"/>
                <a:gd name="T14" fmla="*/ 1192 w 1192"/>
                <a:gd name="T15" fmla="*/ 148 h 1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2" h="1156">
                  <a:moveTo>
                    <a:pt x="1192" y="148"/>
                  </a:moveTo>
                  <a:lnTo>
                    <a:pt x="74" y="0"/>
                  </a:lnTo>
                  <a:lnTo>
                    <a:pt x="0" y="788"/>
                  </a:lnTo>
                  <a:lnTo>
                    <a:pt x="710" y="854"/>
                  </a:lnTo>
                  <a:lnTo>
                    <a:pt x="898" y="1156"/>
                  </a:lnTo>
                  <a:lnTo>
                    <a:pt x="881" y="866"/>
                  </a:lnTo>
                  <a:lnTo>
                    <a:pt x="1093" y="873"/>
                  </a:lnTo>
                  <a:lnTo>
                    <a:pt x="1192" y="148"/>
                  </a:lnTo>
                  <a:close/>
                </a:path>
              </a:pathLst>
            </a:custGeom>
            <a:solidFill>
              <a:srgbClr val="1570C1">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6" name="Freeform 11"/>
            <p:cNvSpPr/>
            <p:nvPr/>
          </p:nvSpPr>
          <p:spPr bwMode="auto">
            <a:xfrm>
              <a:off x="1854200" y="1600200"/>
              <a:ext cx="2970213" cy="2017713"/>
            </a:xfrm>
            <a:custGeom>
              <a:avLst/>
              <a:gdLst>
                <a:gd name="T0" fmla="*/ 1123 w 1123"/>
                <a:gd name="T1" fmla="*/ 0 h 1070"/>
                <a:gd name="T2" fmla="*/ 0 w 1123"/>
                <a:gd name="T3" fmla="*/ 0 h 1070"/>
                <a:gd name="T4" fmla="*/ 0 w 1123"/>
                <a:gd name="T5" fmla="*/ 787 h 1070"/>
                <a:gd name="T6" fmla="*/ 712 w 1123"/>
                <a:gd name="T7" fmla="*/ 787 h 1070"/>
                <a:gd name="T8" fmla="*/ 928 w 1123"/>
                <a:gd name="T9" fmla="*/ 1070 h 1070"/>
                <a:gd name="T10" fmla="*/ 928 w 1123"/>
                <a:gd name="T11" fmla="*/ 787 h 1070"/>
                <a:gd name="T12" fmla="*/ 1123 w 1123"/>
                <a:gd name="T13" fmla="*/ 787 h 1070"/>
                <a:gd name="T14" fmla="*/ 1123 w 1123"/>
                <a:gd name="T15" fmla="*/ 0 h 10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3" h="1070">
                  <a:moveTo>
                    <a:pt x="1123" y="0"/>
                  </a:moveTo>
                  <a:lnTo>
                    <a:pt x="0" y="0"/>
                  </a:lnTo>
                  <a:lnTo>
                    <a:pt x="0" y="787"/>
                  </a:lnTo>
                  <a:lnTo>
                    <a:pt x="712" y="787"/>
                  </a:lnTo>
                  <a:lnTo>
                    <a:pt x="928" y="1070"/>
                  </a:lnTo>
                  <a:lnTo>
                    <a:pt x="928" y="787"/>
                  </a:lnTo>
                  <a:lnTo>
                    <a:pt x="1123" y="787"/>
                  </a:lnTo>
                  <a:lnTo>
                    <a:pt x="112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7" name="TextBox 57"/>
            <p:cNvSpPr txBox="1"/>
            <p:nvPr/>
          </p:nvSpPr>
          <p:spPr bwMode="auto">
            <a:xfrm>
              <a:off x="1947863" y="1968500"/>
              <a:ext cx="2673350" cy="927103"/>
            </a:xfrm>
            <a:prstGeom prst="rect">
              <a:avLst/>
            </a:prstGeom>
            <a:grpFill/>
          </p:spPr>
          <p:txBody>
            <a:bodyPr>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可接受性：明确而易于理解</a:t>
              </a:r>
              <a:endPar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8" name="组合 27"/>
          <p:cNvGrpSpPr/>
          <p:nvPr/>
        </p:nvGrpSpPr>
        <p:grpSpPr>
          <a:xfrm>
            <a:off x="6578028" y="3947277"/>
            <a:ext cx="3111695" cy="2098408"/>
            <a:chOff x="1854200" y="1438275"/>
            <a:chExt cx="3232150" cy="2179638"/>
          </a:xfrm>
          <a:solidFill>
            <a:srgbClr val="1570C1"/>
          </a:solidFill>
        </p:grpSpPr>
        <p:sp>
          <p:nvSpPr>
            <p:cNvPr id="29" name="Freeform 10"/>
            <p:cNvSpPr/>
            <p:nvPr/>
          </p:nvSpPr>
          <p:spPr bwMode="auto">
            <a:xfrm>
              <a:off x="1933575" y="1438275"/>
              <a:ext cx="3152775" cy="2179638"/>
            </a:xfrm>
            <a:custGeom>
              <a:avLst/>
              <a:gdLst>
                <a:gd name="T0" fmla="*/ 1192 w 1192"/>
                <a:gd name="T1" fmla="*/ 148 h 1156"/>
                <a:gd name="T2" fmla="*/ 74 w 1192"/>
                <a:gd name="T3" fmla="*/ 0 h 1156"/>
                <a:gd name="T4" fmla="*/ 0 w 1192"/>
                <a:gd name="T5" fmla="*/ 788 h 1156"/>
                <a:gd name="T6" fmla="*/ 710 w 1192"/>
                <a:gd name="T7" fmla="*/ 854 h 1156"/>
                <a:gd name="T8" fmla="*/ 898 w 1192"/>
                <a:gd name="T9" fmla="*/ 1156 h 1156"/>
                <a:gd name="T10" fmla="*/ 881 w 1192"/>
                <a:gd name="T11" fmla="*/ 866 h 1156"/>
                <a:gd name="T12" fmla="*/ 1093 w 1192"/>
                <a:gd name="T13" fmla="*/ 873 h 1156"/>
                <a:gd name="T14" fmla="*/ 1192 w 1192"/>
                <a:gd name="T15" fmla="*/ 148 h 1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2" h="1156">
                  <a:moveTo>
                    <a:pt x="1192" y="148"/>
                  </a:moveTo>
                  <a:lnTo>
                    <a:pt x="74" y="0"/>
                  </a:lnTo>
                  <a:lnTo>
                    <a:pt x="0" y="788"/>
                  </a:lnTo>
                  <a:lnTo>
                    <a:pt x="710" y="854"/>
                  </a:lnTo>
                  <a:lnTo>
                    <a:pt x="898" y="1156"/>
                  </a:lnTo>
                  <a:lnTo>
                    <a:pt x="881" y="866"/>
                  </a:lnTo>
                  <a:lnTo>
                    <a:pt x="1093" y="873"/>
                  </a:lnTo>
                  <a:lnTo>
                    <a:pt x="1192" y="148"/>
                  </a:lnTo>
                  <a:close/>
                </a:path>
              </a:pathLst>
            </a:custGeom>
            <a:solidFill>
              <a:srgbClr val="1570C1">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0" name="Freeform 11"/>
            <p:cNvSpPr/>
            <p:nvPr/>
          </p:nvSpPr>
          <p:spPr bwMode="auto">
            <a:xfrm>
              <a:off x="1854200" y="1600200"/>
              <a:ext cx="2970213" cy="2017713"/>
            </a:xfrm>
            <a:custGeom>
              <a:avLst/>
              <a:gdLst>
                <a:gd name="T0" fmla="*/ 1123 w 1123"/>
                <a:gd name="T1" fmla="*/ 0 h 1070"/>
                <a:gd name="T2" fmla="*/ 0 w 1123"/>
                <a:gd name="T3" fmla="*/ 0 h 1070"/>
                <a:gd name="T4" fmla="*/ 0 w 1123"/>
                <a:gd name="T5" fmla="*/ 787 h 1070"/>
                <a:gd name="T6" fmla="*/ 712 w 1123"/>
                <a:gd name="T7" fmla="*/ 787 h 1070"/>
                <a:gd name="T8" fmla="*/ 928 w 1123"/>
                <a:gd name="T9" fmla="*/ 1070 h 1070"/>
                <a:gd name="T10" fmla="*/ 928 w 1123"/>
                <a:gd name="T11" fmla="*/ 787 h 1070"/>
                <a:gd name="T12" fmla="*/ 1123 w 1123"/>
                <a:gd name="T13" fmla="*/ 787 h 1070"/>
                <a:gd name="T14" fmla="*/ 1123 w 1123"/>
                <a:gd name="T15" fmla="*/ 0 h 10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3" h="1070">
                  <a:moveTo>
                    <a:pt x="1123" y="0"/>
                  </a:moveTo>
                  <a:lnTo>
                    <a:pt x="0" y="0"/>
                  </a:lnTo>
                  <a:lnTo>
                    <a:pt x="0" y="787"/>
                  </a:lnTo>
                  <a:lnTo>
                    <a:pt x="712" y="787"/>
                  </a:lnTo>
                  <a:lnTo>
                    <a:pt x="928" y="1070"/>
                  </a:lnTo>
                  <a:lnTo>
                    <a:pt x="928" y="787"/>
                  </a:lnTo>
                  <a:lnTo>
                    <a:pt x="1123" y="787"/>
                  </a:lnTo>
                  <a:lnTo>
                    <a:pt x="112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1" name="TextBox 57"/>
            <p:cNvSpPr txBox="1"/>
            <p:nvPr/>
          </p:nvSpPr>
          <p:spPr bwMode="auto">
            <a:xfrm>
              <a:off x="1947863" y="1968500"/>
              <a:ext cx="2673350" cy="471010"/>
            </a:xfrm>
            <a:prstGeom prst="rect">
              <a:avLst/>
            </a:prstGeom>
            <a:grpFill/>
          </p:spPr>
          <p:txBody>
            <a:bodyPr>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相对稳定性及动态性</a:t>
              </a:r>
              <a:endParaRPr kumimoji="0" lang="zh-CN"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000000"/>
                                          </p:val>
                                        </p:tav>
                                        <p:tav tm="100000">
                                          <p:val>
                                            <p:strVal val="#ppt_w"/>
                                          </p:val>
                                        </p:tav>
                                      </p:tavLst>
                                    </p:anim>
                                    <p:anim calcmode="lin" valueType="num">
                                      <p:cBhvr>
                                        <p:cTn id="8" dur="500" fill="hold"/>
                                        <p:tgtEl>
                                          <p:spTgt spid="10"/>
                                        </p:tgtEl>
                                        <p:attrNameLst>
                                          <p:attrName>ppt_h</p:attrName>
                                        </p:attrNameLst>
                                      </p:cBhvr>
                                      <p:tavLst>
                                        <p:tav tm="0">
                                          <p:val>
                                            <p:fltVal val="0.000000"/>
                                          </p:val>
                                        </p:tav>
                                        <p:tav tm="100000">
                                          <p:val>
                                            <p:strVal val="#ppt_h"/>
                                          </p:val>
                                        </p:tav>
                                      </p:tavLst>
                                    </p:anim>
                                    <p:animEffect transition="in" filter="fade">
                                      <p:cBhvr>
                                        <p:cTn id="9" dur="500"/>
                                        <p:tgtEl>
                                          <p:spTgt spid="10"/>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ppt_w</p:attrName>
                                        </p:attrNameLst>
                                      </p:cBhvr>
                                      <p:tavLst>
                                        <p:tav tm="0">
                                          <p:val>
                                            <p:fltVal val="0.000000"/>
                                          </p:val>
                                        </p:tav>
                                        <p:tav tm="100000">
                                          <p:val>
                                            <p:strVal val="#ppt_w"/>
                                          </p:val>
                                        </p:tav>
                                      </p:tavLst>
                                    </p:anim>
                                    <p:anim calcmode="lin" valueType="num">
                                      <p:cBhvr>
                                        <p:cTn id="14" dur="500" fill="hold"/>
                                        <p:tgtEl>
                                          <p:spTgt spid="14"/>
                                        </p:tgtEl>
                                        <p:attrNameLst>
                                          <p:attrName>ppt_h</p:attrName>
                                        </p:attrNameLst>
                                      </p:cBhvr>
                                      <p:tavLst>
                                        <p:tav tm="0">
                                          <p:val>
                                            <p:fltVal val="0.000000"/>
                                          </p:val>
                                        </p:tav>
                                        <p:tav tm="100000">
                                          <p:val>
                                            <p:strVal val="#ppt_h"/>
                                          </p:val>
                                        </p:tav>
                                      </p:tavLst>
                                    </p:anim>
                                    <p:animEffect transition="in" filter="fade">
                                      <p:cBhvr>
                                        <p:cTn id="15" dur="500"/>
                                        <p:tgtEl>
                                          <p:spTgt spid="14"/>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000000"/>
                                          </p:val>
                                        </p:tav>
                                        <p:tav tm="100000">
                                          <p:val>
                                            <p:strVal val="#ppt_w"/>
                                          </p:val>
                                        </p:tav>
                                      </p:tavLst>
                                    </p:anim>
                                    <p:anim calcmode="lin" valueType="num">
                                      <p:cBhvr>
                                        <p:cTn id="20" dur="500" fill="hold"/>
                                        <p:tgtEl>
                                          <p:spTgt spid="20"/>
                                        </p:tgtEl>
                                        <p:attrNameLst>
                                          <p:attrName>ppt_h</p:attrName>
                                        </p:attrNameLst>
                                      </p:cBhvr>
                                      <p:tavLst>
                                        <p:tav tm="0">
                                          <p:val>
                                            <p:fltVal val="0.000000"/>
                                          </p:val>
                                        </p:tav>
                                        <p:tav tm="100000">
                                          <p:val>
                                            <p:strVal val="#ppt_h"/>
                                          </p:val>
                                        </p:tav>
                                      </p:tavLst>
                                    </p:anim>
                                    <p:animEffect transition="in" filter="fade">
                                      <p:cBhvr>
                                        <p:cTn id="21" dur="500"/>
                                        <p:tgtEl>
                                          <p:spTgt spid="20"/>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p:cTn id="25" dur="500" fill="hold"/>
                                        <p:tgtEl>
                                          <p:spTgt spid="24"/>
                                        </p:tgtEl>
                                        <p:attrNameLst>
                                          <p:attrName>ppt_w</p:attrName>
                                        </p:attrNameLst>
                                      </p:cBhvr>
                                      <p:tavLst>
                                        <p:tav tm="0">
                                          <p:val>
                                            <p:fltVal val="0.000000"/>
                                          </p:val>
                                        </p:tav>
                                        <p:tav tm="100000">
                                          <p:val>
                                            <p:strVal val="#ppt_w"/>
                                          </p:val>
                                        </p:tav>
                                      </p:tavLst>
                                    </p:anim>
                                    <p:anim calcmode="lin" valueType="num">
                                      <p:cBhvr>
                                        <p:cTn id="26" dur="500" fill="hold"/>
                                        <p:tgtEl>
                                          <p:spTgt spid="24"/>
                                        </p:tgtEl>
                                        <p:attrNameLst>
                                          <p:attrName>ppt_h</p:attrName>
                                        </p:attrNameLst>
                                      </p:cBhvr>
                                      <p:tavLst>
                                        <p:tav tm="0">
                                          <p:val>
                                            <p:fltVal val="0.000000"/>
                                          </p:val>
                                        </p:tav>
                                        <p:tav tm="100000">
                                          <p:val>
                                            <p:strVal val="#ppt_h"/>
                                          </p:val>
                                        </p:tav>
                                      </p:tavLst>
                                    </p:anim>
                                    <p:animEffect transition="in" filter="fade">
                                      <p:cBhvr>
                                        <p:cTn id="27" dur="500"/>
                                        <p:tgtEl>
                                          <p:spTgt spid="24"/>
                                        </p:tgtEl>
                                      </p:cBhvr>
                                    </p:animEffect>
                                  </p:childTnLst>
                                </p:cTn>
                              </p:par>
                            </p:childTnLst>
                          </p:cTn>
                        </p:par>
                        <p:par>
                          <p:cTn id="28" fill="hold">
                            <p:stCondLst>
                              <p:cond delay="2000"/>
                            </p:stCondLst>
                            <p:childTnLst>
                              <p:par>
                                <p:cTn id="29" presetID="53" presetClass="entr" presetSubtype="16" fill="hold" nodeType="after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p:cTn id="31" dur="500" fill="hold"/>
                                        <p:tgtEl>
                                          <p:spTgt spid="28"/>
                                        </p:tgtEl>
                                        <p:attrNameLst>
                                          <p:attrName>ppt_w</p:attrName>
                                        </p:attrNameLst>
                                      </p:cBhvr>
                                      <p:tavLst>
                                        <p:tav tm="0">
                                          <p:val>
                                            <p:fltVal val="0.000000"/>
                                          </p:val>
                                        </p:tav>
                                        <p:tav tm="100000">
                                          <p:val>
                                            <p:strVal val="#ppt_w"/>
                                          </p:val>
                                        </p:tav>
                                      </p:tavLst>
                                    </p:anim>
                                    <p:anim calcmode="lin" valueType="num">
                                      <p:cBhvr>
                                        <p:cTn id="32" dur="500" fill="hold"/>
                                        <p:tgtEl>
                                          <p:spTgt spid="28"/>
                                        </p:tgtEl>
                                        <p:attrNameLst>
                                          <p:attrName>ppt_h</p:attrName>
                                        </p:attrNameLst>
                                      </p:cBhvr>
                                      <p:tavLst>
                                        <p:tav tm="0">
                                          <p:val>
                                            <p:fltVal val="0.000000"/>
                                          </p:val>
                                        </p:tav>
                                        <p:tav tm="100000">
                                          <p:val>
                                            <p:strVal val="#ppt_h"/>
                                          </p:val>
                                        </p:tav>
                                      </p:tavLst>
                                    </p:anim>
                                    <p:animEffect transition="in" filter="fade">
                                      <p:cBhvr>
                                        <p:cTn id="3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Oval 50"/>
          <p:cNvSpPr/>
          <p:nvPr/>
        </p:nvSpPr>
        <p:spPr bwMode="auto">
          <a:xfrm>
            <a:off x="10417175" y="2687638"/>
            <a:ext cx="1530350" cy="1531938"/>
          </a:xfrm>
          <a:prstGeom prst="ellipse">
            <a:avLst/>
          </a:prstGeom>
          <a:solidFill>
            <a:srgbClr val="1570C1">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企业</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社会</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责任</a:t>
            </a:r>
            <a:endParaRPr kumimoji="0" 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2" name="Oval 49"/>
          <p:cNvSpPr/>
          <p:nvPr/>
        </p:nvSpPr>
        <p:spPr bwMode="auto">
          <a:xfrm>
            <a:off x="9285288" y="2687638"/>
            <a:ext cx="1530350" cy="1531938"/>
          </a:xfrm>
          <a:prstGeom prst="ellipse">
            <a:avLst/>
          </a:prstGeom>
          <a:solidFill>
            <a:srgbClr val="00B0F0">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员工</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福利</a:t>
            </a:r>
            <a:endParaRPr kumimoji="0" 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Oval 50"/>
          <p:cNvSpPr/>
          <p:nvPr/>
        </p:nvSpPr>
        <p:spPr bwMode="auto">
          <a:xfrm>
            <a:off x="8153400" y="2687638"/>
            <a:ext cx="1530350" cy="1531938"/>
          </a:xfrm>
          <a:prstGeom prst="ellipse">
            <a:avLst/>
          </a:prstGeom>
          <a:solidFill>
            <a:srgbClr val="1570C1">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人力</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资源</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开发</a:t>
            </a:r>
            <a:endParaRPr kumimoji="0" 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8" name="Oval 49"/>
          <p:cNvSpPr/>
          <p:nvPr/>
        </p:nvSpPr>
        <p:spPr bwMode="auto">
          <a:xfrm>
            <a:off x="7021513" y="2687638"/>
            <a:ext cx="1530350" cy="1531938"/>
          </a:xfrm>
          <a:prstGeom prst="ellipse">
            <a:avLst/>
          </a:prstGeom>
          <a:solidFill>
            <a:srgbClr val="00B0F0">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企业</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研发</a:t>
            </a:r>
            <a:endParaRPr kumimoji="0" 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Oval 47"/>
          <p:cNvSpPr/>
          <p:nvPr/>
        </p:nvSpPr>
        <p:spPr bwMode="auto">
          <a:xfrm>
            <a:off x="5889625" y="2687638"/>
            <a:ext cx="1530350" cy="1531938"/>
          </a:xfrm>
          <a:prstGeom prst="ellipse">
            <a:avLst/>
          </a:prstGeom>
          <a:solidFill>
            <a:srgbClr val="1570C1">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企业建设发展</a:t>
            </a:r>
            <a:endParaRPr kumimoji="0" 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Oval 2"/>
          <p:cNvSpPr/>
          <p:nvPr/>
        </p:nvSpPr>
        <p:spPr bwMode="auto">
          <a:xfrm>
            <a:off x="4757738" y="2687638"/>
            <a:ext cx="1530350" cy="1531938"/>
          </a:xfrm>
          <a:prstGeom prst="ellipse">
            <a:avLst/>
          </a:prstGeom>
          <a:solidFill>
            <a:srgbClr val="00B0F0">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财务</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状况</a:t>
            </a:r>
            <a:endPar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4813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4813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48141"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2.3  </a:t>
            </a:r>
            <a:r>
              <a:rPr lang="zh-CN" altLang="en-US" sz="3200" dirty="0">
                <a:solidFill>
                  <a:srgbClr val="1570C1"/>
                </a:solidFill>
                <a:latin typeface="微软雅黑" panose="020B0503020204020204" pitchFamily="34" charset="-122"/>
                <a:ea typeface="微软雅黑" panose="020B0503020204020204" pitchFamily="34" charset="-122"/>
              </a:rPr>
              <a:t>企业战略目标的内容</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4" name="Oval 50"/>
          <p:cNvSpPr/>
          <p:nvPr/>
        </p:nvSpPr>
        <p:spPr bwMode="auto">
          <a:xfrm>
            <a:off x="3625850" y="2687638"/>
            <a:ext cx="1530350" cy="1531938"/>
          </a:xfrm>
          <a:prstGeom prst="ellipse">
            <a:avLst/>
          </a:prstGeom>
          <a:solidFill>
            <a:srgbClr val="1570C1">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产品</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结构</a:t>
            </a:r>
            <a:endPar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Oval 49"/>
          <p:cNvSpPr/>
          <p:nvPr/>
        </p:nvSpPr>
        <p:spPr bwMode="auto">
          <a:xfrm>
            <a:off x="2493963" y="2687638"/>
            <a:ext cx="1530350" cy="1531938"/>
          </a:xfrm>
          <a:prstGeom prst="ellipse">
            <a:avLst/>
          </a:prstGeom>
          <a:solidFill>
            <a:srgbClr val="00B0F0">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市场竞争地位</a:t>
            </a:r>
            <a:endPar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Oval 47"/>
          <p:cNvSpPr/>
          <p:nvPr/>
        </p:nvSpPr>
        <p:spPr bwMode="auto">
          <a:xfrm>
            <a:off x="1362075" y="2687638"/>
            <a:ext cx="1531938" cy="1531938"/>
          </a:xfrm>
          <a:prstGeom prst="ellipse">
            <a:avLst/>
          </a:prstGeom>
          <a:solidFill>
            <a:srgbClr val="1570C1">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生产</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效率</a:t>
            </a:r>
            <a:endPar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Oval 2"/>
          <p:cNvSpPr/>
          <p:nvPr/>
        </p:nvSpPr>
        <p:spPr bwMode="auto">
          <a:xfrm>
            <a:off x="230188" y="2687638"/>
            <a:ext cx="1531938" cy="1531938"/>
          </a:xfrm>
          <a:prstGeom prst="ellipse">
            <a:avLst/>
          </a:prstGeom>
          <a:solidFill>
            <a:srgbClr val="00B0F0">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盈利</a:t>
            </a:r>
            <a:endParaRPr kumimoji="0" lang="en-US" altLang="zh-CN"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能力</a:t>
            </a:r>
            <a:endParaRPr kumimoji="0" lang="zh-CN" altLang="en-US" sz="2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500"/>
                                        <p:tgtEl>
                                          <p:spTgt spid="19"/>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500"/>
                                        <p:tgtEl>
                                          <p:spTgt spid="30"/>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left)">
                                      <p:cBhvr>
                                        <p:cTn id="31" dur="500"/>
                                        <p:tgtEl>
                                          <p:spTgt spid="28"/>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500"/>
                                        <p:tgtEl>
                                          <p:spTgt spid="27"/>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wipe(left)">
                                      <p:cBhvr>
                                        <p:cTn id="39" dur="500"/>
                                        <p:tgtEl>
                                          <p:spTgt spid="32"/>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left)">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27" grpId="0" animBg="1"/>
      <p:bldP spid="28" grpId="0" animBg="1"/>
      <p:bldP spid="29" grpId="0" animBg="1"/>
      <p:bldP spid="30" grpId="0" animBg="1"/>
      <p:bldP spid="14" grpId="0" animBg="1"/>
      <p:bldP spid="19" grpId="0" animBg="1"/>
      <p:bldP spid="22" grpId="0" animBg="1"/>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框 17"/>
          <p:cNvSpPr txBox="1"/>
          <p:nvPr/>
        </p:nvSpPr>
        <p:spPr>
          <a:xfrm>
            <a:off x="425450" y="425450"/>
            <a:ext cx="645953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2.4  </a:t>
            </a:r>
            <a:r>
              <a:rPr lang="zh-CN" altLang="en-US" sz="3200" dirty="0">
                <a:solidFill>
                  <a:srgbClr val="1570C1"/>
                </a:solidFill>
                <a:latin typeface="微软雅黑" panose="020B0503020204020204" pitchFamily="34" charset="-122"/>
                <a:ea typeface="微软雅黑" panose="020B0503020204020204" pitchFamily="34" charset="-122"/>
              </a:rPr>
              <a:t>企业战略目标体系的核心结构</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50178"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50181"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50184" name="组合 25"/>
          <p:cNvGrpSpPr/>
          <p:nvPr/>
        </p:nvGrpSpPr>
        <p:grpSpPr>
          <a:xfrm>
            <a:off x="857250" y="1577975"/>
            <a:ext cx="10477500" cy="4430713"/>
            <a:chOff x="539" y="2054"/>
            <a:chExt cx="13320" cy="5157"/>
          </a:xfrm>
        </p:grpSpPr>
        <p:sp>
          <p:nvSpPr>
            <p:cNvPr id="3" name="Diamond 23"/>
            <p:cNvSpPr/>
            <p:nvPr/>
          </p:nvSpPr>
          <p:spPr>
            <a:xfrm>
              <a:off x="5013" y="2688"/>
              <a:ext cx="4222" cy="2892"/>
            </a:xfrm>
            <a:prstGeom prst="diamond">
              <a:avLst/>
            </a:prstGeom>
            <a:solidFill>
              <a:schemeClr val="bg1">
                <a:lumMod val="50000"/>
              </a:schemeClr>
            </a:solidFill>
            <a:ln w="9525" cap="flat" cmpd="sng" algn="ctr">
              <a:no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ysClr val="window" lastClr="FFFFFF"/>
                </a:solidFill>
                <a:effectLst/>
                <a:uLnTx/>
                <a:uFillTx/>
                <a:latin typeface="+mn-lt"/>
                <a:ea typeface="+mn-ea"/>
                <a:cs typeface="+mn-cs"/>
              </a:endParaRPr>
            </a:p>
          </p:txBody>
        </p:sp>
        <p:sp>
          <p:nvSpPr>
            <p:cNvPr id="50186" name="Rectangle 20"/>
            <p:cNvSpPr/>
            <p:nvPr/>
          </p:nvSpPr>
          <p:spPr>
            <a:xfrm>
              <a:off x="2629" y="2054"/>
              <a:ext cx="1999" cy="464"/>
            </a:xfrm>
            <a:prstGeom prst="rect">
              <a:avLst/>
            </a:prstGeom>
            <a:solidFill>
              <a:srgbClr val="57CAF4"/>
            </a:solidFill>
            <a:ln w="12700">
              <a:noFill/>
            </a:ln>
          </p:spPr>
          <p:txBody>
            <a:bodyPr anchor="t" anchorCtr="0">
              <a:spAutoFit/>
            </a:bodyPr>
            <a:p>
              <a:pPr algn="ctr" eaLnBrk="0" hangingPunct="0"/>
              <a:r>
                <a:rPr lang="zh-CN" altLang="zh-CN" sz="2000" b="1" dirty="0">
                  <a:solidFill>
                    <a:schemeClr val="bg1"/>
                  </a:solidFill>
                  <a:latin typeface="微软雅黑" panose="020B0503020204020204" pitchFamily="34" charset="-122"/>
                  <a:ea typeface="微软雅黑" panose="020B0503020204020204" pitchFamily="34" charset="-122"/>
                </a:rPr>
                <a:t>社会目标</a:t>
              </a:r>
              <a:endParaRPr lang="zh-CN" altLang="zh-CN" sz="2000" b="1" dirty="0">
                <a:solidFill>
                  <a:schemeClr val="bg1"/>
                </a:solidFill>
                <a:latin typeface="微软雅黑" panose="020B0503020204020204" pitchFamily="34" charset="-122"/>
                <a:ea typeface="微软雅黑" panose="020B0503020204020204" pitchFamily="34" charset="-122"/>
              </a:endParaRPr>
            </a:p>
          </p:txBody>
        </p:sp>
        <p:sp>
          <p:nvSpPr>
            <p:cNvPr id="50187" name="Rectangle 21"/>
            <p:cNvSpPr/>
            <p:nvPr/>
          </p:nvSpPr>
          <p:spPr>
            <a:xfrm>
              <a:off x="9649" y="5116"/>
              <a:ext cx="1970" cy="464"/>
            </a:xfrm>
            <a:prstGeom prst="rect">
              <a:avLst/>
            </a:prstGeom>
            <a:solidFill>
              <a:srgbClr val="57CAF4"/>
            </a:solidFill>
            <a:ln w="12700">
              <a:noFill/>
            </a:ln>
          </p:spPr>
          <p:txBody>
            <a:bodyPr anchor="t" anchorCtr="0">
              <a:spAutoFit/>
            </a:bodyPr>
            <a:p>
              <a:pPr algn="ctr" eaLnBrk="0" hangingPunct="0"/>
              <a:r>
                <a:rPr lang="zh-CN" altLang="zh-CN" sz="2000" b="1" dirty="0">
                  <a:solidFill>
                    <a:schemeClr val="bg1"/>
                  </a:solidFill>
                  <a:latin typeface="微软雅黑" panose="020B0503020204020204" pitchFamily="34" charset="-122"/>
                  <a:ea typeface="微软雅黑" panose="020B0503020204020204" pitchFamily="34" charset="-122"/>
                </a:rPr>
                <a:t>创新目标</a:t>
              </a:r>
              <a:endParaRPr lang="zh-CN" altLang="zh-CN" sz="2000" b="1" dirty="0">
                <a:solidFill>
                  <a:schemeClr val="bg1"/>
                </a:solidFill>
                <a:latin typeface="微软雅黑" panose="020B0503020204020204" pitchFamily="34" charset="-122"/>
                <a:ea typeface="微软雅黑" panose="020B0503020204020204" pitchFamily="34" charset="-122"/>
              </a:endParaRPr>
            </a:p>
          </p:txBody>
        </p:sp>
        <p:sp>
          <p:nvSpPr>
            <p:cNvPr id="50188" name="Rectangle 22"/>
            <p:cNvSpPr/>
            <p:nvPr/>
          </p:nvSpPr>
          <p:spPr>
            <a:xfrm>
              <a:off x="9648" y="2054"/>
              <a:ext cx="2655" cy="464"/>
            </a:xfrm>
            <a:prstGeom prst="rect">
              <a:avLst/>
            </a:prstGeom>
            <a:solidFill>
              <a:srgbClr val="1570C1"/>
            </a:solidFill>
            <a:ln w="12700">
              <a:noFill/>
            </a:ln>
          </p:spPr>
          <p:txBody>
            <a:bodyPr anchor="t" anchorCtr="0">
              <a:spAutoFit/>
            </a:bodyPr>
            <a:p>
              <a:pPr algn="ctr"/>
              <a:r>
                <a:rPr lang="zh-CN" altLang="zh-CN" sz="2000" b="1" dirty="0">
                  <a:solidFill>
                    <a:schemeClr val="bg1"/>
                  </a:solidFill>
                  <a:latin typeface="微软雅黑" panose="020B0503020204020204" pitchFamily="34" charset="-122"/>
                  <a:ea typeface="微软雅黑" panose="020B0503020204020204" pitchFamily="34" charset="-122"/>
                </a:rPr>
                <a:t>产品与市场目标</a:t>
              </a:r>
              <a:endParaRPr lang="zh-CN" altLang="zh-CN" sz="2000" b="1" dirty="0">
                <a:solidFill>
                  <a:schemeClr val="bg1"/>
                </a:solidFill>
                <a:latin typeface="微软雅黑" panose="020B0503020204020204" pitchFamily="34" charset="-122"/>
                <a:ea typeface="微软雅黑" panose="020B0503020204020204" pitchFamily="34" charset="-122"/>
              </a:endParaRPr>
            </a:p>
          </p:txBody>
        </p:sp>
        <p:sp>
          <p:nvSpPr>
            <p:cNvPr id="50189" name="Rectangle 25"/>
            <p:cNvSpPr/>
            <p:nvPr/>
          </p:nvSpPr>
          <p:spPr>
            <a:xfrm>
              <a:off x="2701" y="5116"/>
              <a:ext cx="1927" cy="464"/>
            </a:xfrm>
            <a:prstGeom prst="rect">
              <a:avLst/>
            </a:prstGeom>
            <a:solidFill>
              <a:srgbClr val="1570C1"/>
            </a:solidFill>
            <a:ln w="12700">
              <a:noFill/>
            </a:ln>
          </p:spPr>
          <p:txBody>
            <a:bodyPr anchor="t" anchorCtr="0">
              <a:spAutoFit/>
            </a:bodyPr>
            <a:p>
              <a:pPr algn="ctr" eaLnBrk="0" hangingPunct="0"/>
              <a:r>
                <a:rPr lang="zh-CN" altLang="zh-CN" sz="2000" b="1" dirty="0">
                  <a:solidFill>
                    <a:schemeClr val="bg1"/>
                  </a:solidFill>
                  <a:latin typeface="微软雅黑" panose="020B0503020204020204" pitchFamily="34" charset="-122"/>
                  <a:ea typeface="微软雅黑" panose="020B0503020204020204" pitchFamily="34" charset="-122"/>
                </a:rPr>
                <a:t>盈利目标</a:t>
              </a:r>
              <a:endParaRPr lang="zh-CN" altLang="zh-CN" sz="2000" b="1" dirty="0">
                <a:solidFill>
                  <a:schemeClr val="bg1"/>
                </a:solidFill>
                <a:latin typeface="微软雅黑" panose="020B0503020204020204" pitchFamily="34" charset="-122"/>
                <a:ea typeface="微软雅黑" panose="020B0503020204020204" pitchFamily="34" charset="-122"/>
              </a:endParaRPr>
            </a:p>
          </p:txBody>
        </p:sp>
        <p:grpSp>
          <p:nvGrpSpPr>
            <p:cNvPr id="50190" name="组合 27"/>
            <p:cNvGrpSpPr/>
            <p:nvPr/>
          </p:nvGrpSpPr>
          <p:grpSpPr>
            <a:xfrm>
              <a:off x="4064" y="3129"/>
              <a:ext cx="2934" cy="2010"/>
              <a:chOff x="2580585" y="1986725"/>
              <a:chExt cx="1863338" cy="1276294"/>
            </a:xfrm>
          </p:grpSpPr>
          <p:sp>
            <p:nvSpPr>
              <p:cNvPr id="50191" name="Diamond 5"/>
              <p:cNvSpPr/>
              <p:nvPr/>
            </p:nvSpPr>
            <p:spPr>
              <a:xfrm>
                <a:off x="2580585" y="1986725"/>
                <a:ext cx="1863338" cy="1276294"/>
              </a:xfrm>
              <a:prstGeom prst="diamond">
                <a:avLst/>
              </a:prstGeom>
              <a:solidFill>
                <a:srgbClr val="57CAF4"/>
              </a:solidFill>
              <a:ln w="9525">
                <a:noFill/>
              </a:ln>
            </p:spPr>
            <p:txBody>
              <a:bodyPr anchor="ctr" anchorCtr="0"/>
              <a:p>
                <a:pPr algn="ctr" eaLnBrk="0" hangingPunct="0"/>
                <a:endParaRPr lang="en-US" altLang="zh-CN" dirty="0">
                  <a:solidFill>
                    <a:srgbClr val="FFFFFF"/>
                  </a:solidFill>
                  <a:latin typeface="Calibri" panose="020F0502020204030204" pitchFamily="34" charset="0"/>
                  <a:ea typeface="宋体" panose="02010600030101010101" pitchFamily="2" charset="-122"/>
                </a:endParaRPr>
              </a:p>
            </p:txBody>
          </p:sp>
          <p:sp>
            <p:nvSpPr>
              <p:cNvPr id="50192" name="TextBox 17"/>
              <p:cNvSpPr txBox="1"/>
              <p:nvPr/>
            </p:nvSpPr>
            <p:spPr>
              <a:xfrm>
                <a:off x="2961636" y="2454727"/>
                <a:ext cx="1048525" cy="294756"/>
              </a:xfrm>
              <a:prstGeom prst="rect">
                <a:avLst/>
              </a:prstGeom>
              <a:noFill/>
              <a:ln w="9525">
                <a:noFill/>
              </a:ln>
            </p:spPr>
            <p:txBody>
              <a:bodyPr anchor="t" anchorCtr="0">
                <a:spAutoFit/>
              </a:bodyPr>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社会目标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50193" name="TextBox 18"/>
            <p:cNvSpPr txBox="1"/>
            <p:nvPr/>
          </p:nvSpPr>
          <p:spPr>
            <a:xfrm>
              <a:off x="790" y="2647"/>
              <a:ext cx="4088" cy="823"/>
            </a:xfrm>
            <a:prstGeom prst="rect">
              <a:avLst/>
            </a:prstGeom>
            <a:noFill/>
            <a:ln w="9525">
              <a:noFill/>
            </a:ln>
          </p:spPr>
          <p:txBody>
            <a:bodyPr anchor="t" anchorCtr="0">
              <a:spAutoFit/>
            </a:bodyPr>
            <a:p>
              <a:pPr algn="just" eaLnBrk="0" hangingPunct="0"/>
              <a:r>
                <a:rPr lang="zh-CN" altLang="en-US" sz="2000" dirty="0">
                  <a:solidFill>
                    <a:srgbClr val="0070C0"/>
                  </a:solidFill>
                  <a:latin typeface="微软雅黑" panose="020B0503020204020204" pitchFamily="34" charset="-122"/>
                  <a:ea typeface="微软雅黑" panose="020B0503020204020204" pitchFamily="34" charset="-122"/>
                </a:rPr>
                <a:t>企业的社会目标反映企业对社会的贡献程度</a:t>
              </a:r>
              <a:endParaRPr lang="zh-CN" altLang="en-US" sz="2000" dirty="0">
                <a:solidFill>
                  <a:srgbClr val="0070C0"/>
                </a:solidFill>
                <a:latin typeface="微软雅黑" panose="020B0503020204020204" pitchFamily="34" charset="-122"/>
                <a:ea typeface="微软雅黑" panose="020B0503020204020204" pitchFamily="34" charset="-122"/>
              </a:endParaRPr>
            </a:p>
          </p:txBody>
        </p:sp>
        <p:grpSp>
          <p:nvGrpSpPr>
            <p:cNvPr id="50194" name="组合 29"/>
            <p:cNvGrpSpPr/>
            <p:nvPr/>
          </p:nvGrpSpPr>
          <p:grpSpPr>
            <a:xfrm>
              <a:off x="5670" y="2054"/>
              <a:ext cx="2934" cy="2010"/>
              <a:chOff x="3600600" y="1304568"/>
              <a:chExt cx="1863338" cy="1276294"/>
            </a:xfrm>
          </p:grpSpPr>
          <p:sp>
            <p:nvSpPr>
              <p:cNvPr id="50195" name="Diamond 2"/>
              <p:cNvSpPr/>
              <p:nvPr/>
            </p:nvSpPr>
            <p:spPr>
              <a:xfrm>
                <a:off x="3600600" y="1304568"/>
                <a:ext cx="1863338" cy="1276294"/>
              </a:xfrm>
              <a:prstGeom prst="diamond">
                <a:avLst/>
              </a:prstGeom>
              <a:solidFill>
                <a:srgbClr val="1570C1"/>
              </a:solidFill>
              <a:ln w="9525" cap="flat" cmpd="sng">
                <a:solidFill>
                  <a:srgbClr val="1570C1"/>
                </a:solidFill>
                <a:prstDash val="solid"/>
                <a:round/>
                <a:headEnd type="none" w="med" len="med"/>
                <a:tailEnd type="none" w="med" len="med"/>
              </a:ln>
            </p:spPr>
            <p:txBody>
              <a:bodyPr anchor="ctr" anchorCtr="0"/>
              <a:p>
                <a:pPr algn="ctr" eaLnBrk="0" hangingPunct="0"/>
                <a:endParaRPr lang="en-US" altLang="zh-CN" dirty="0">
                  <a:solidFill>
                    <a:srgbClr val="FFFFFF"/>
                  </a:solidFill>
                  <a:latin typeface="Calibri" panose="020F0502020204030204" pitchFamily="34" charset="0"/>
                  <a:ea typeface="宋体" panose="02010600030101010101" pitchFamily="2" charset="-122"/>
                </a:endParaRPr>
              </a:p>
            </p:txBody>
          </p:sp>
          <p:sp>
            <p:nvSpPr>
              <p:cNvPr id="50196" name="TextBox 19"/>
              <p:cNvSpPr txBox="1"/>
              <p:nvPr/>
            </p:nvSpPr>
            <p:spPr>
              <a:xfrm>
                <a:off x="4020997" y="1681302"/>
                <a:ext cx="1037093" cy="522394"/>
              </a:xfrm>
              <a:prstGeom prst="rect">
                <a:avLst/>
              </a:prstGeom>
              <a:noFill/>
              <a:ln w="9525">
                <a:noFill/>
              </a:ln>
            </p:spPr>
            <p:txBody>
              <a:bodyPr anchor="t" anchorCtr="0">
                <a:spAutoFit/>
              </a:bodyPr>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产品与市场目标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50197" name="组合 28"/>
            <p:cNvGrpSpPr/>
            <p:nvPr/>
          </p:nvGrpSpPr>
          <p:grpSpPr>
            <a:xfrm>
              <a:off x="7263" y="3120"/>
              <a:ext cx="2934" cy="2010"/>
              <a:chOff x="4612145" y="1981224"/>
              <a:chExt cx="1863338" cy="1276294"/>
            </a:xfrm>
          </p:grpSpPr>
          <p:sp>
            <p:nvSpPr>
              <p:cNvPr id="50198" name="Diamond 6"/>
              <p:cNvSpPr/>
              <p:nvPr/>
            </p:nvSpPr>
            <p:spPr>
              <a:xfrm>
                <a:off x="4612145" y="1981224"/>
                <a:ext cx="1863338" cy="1276294"/>
              </a:xfrm>
              <a:prstGeom prst="diamond">
                <a:avLst/>
              </a:prstGeom>
              <a:solidFill>
                <a:srgbClr val="57CAF4"/>
              </a:solidFill>
              <a:ln w="9525">
                <a:noFill/>
              </a:ln>
            </p:spPr>
            <p:txBody>
              <a:bodyPr anchor="ctr" anchorCtr="0"/>
              <a:p>
                <a:pPr algn="ctr" eaLnBrk="0" hangingPunct="0"/>
                <a:endParaRPr lang="en-US" altLang="zh-CN" dirty="0">
                  <a:solidFill>
                    <a:srgbClr val="FFFFFF"/>
                  </a:solidFill>
                  <a:latin typeface="Calibri" panose="020F0502020204030204" pitchFamily="34" charset="0"/>
                  <a:ea typeface="宋体" panose="02010600030101010101" pitchFamily="2" charset="-122"/>
                </a:endParaRPr>
              </a:p>
            </p:txBody>
          </p:sp>
          <p:sp>
            <p:nvSpPr>
              <p:cNvPr id="50199" name="TextBox 20"/>
              <p:cNvSpPr txBox="1"/>
              <p:nvPr/>
            </p:nvSpPr>
            <p:spPr>
              <a:xfrm>
                <a:off x="5057741" y="2454611"/>
                <a:ext cx="1068847" cy="294756"/>
              </a:xfrm>
              <a:prstGeom prst="rect">
                <a:avLst/>
              </a:prstGeom>
              <a:noFill/>
              <a:ln w="9525">
                <a:noFill/>
              </a:ln>
            </p:spPr>
            <p:txBody>
              <a:bodyPr anchor="t" anchorCtr="0">
                <a:spAutoFit/>
              </a:bodyPr>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创新目标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50200" name="组合 30"/>
            <p:cNvGrpSpPr/>
            <p:nvPr/>
          </p:nvGrpSpPr>
          <p:grpSpPr>
            <a:xfrm>
              <a:off x="5658" y="4212"/>
              <a:ext cx="2934" cy="2010"/>
              <a:chOff x="3592569" y="2674383"/>
              <a:chExt cx="1863338" cy="1276294"/>
            </a:xfrm>
          </p:grpSpPr>
          <p:sp>
            <p:nvSpPr>
              <p:cNvPr id="50201" name="Diamond 7"/>
              <p:cNvSpPr/>
              <p:nvPr/>
            </p:nvSpPr>
            <p:spPr>
              <a:xfrm>
                <a:off x="3592003" y="2674473"/>
                <a:ext cx="1863615" cy="1276500"/>
              </a:xfrm>
              <a:prstGeom prst="diamond">
                <a:avLst/>
              </a:prstGeom>
              <a:solidFill>
                <a:srgbClr val="1570C1"/>
              </a:solidFill>
              <a:ln w="9525">
                <a:noFill/>
              </a:ln>
            </p:spPr>
            <p:txBody>
              <a:bodyPr anchor="ctr" anchorCtr="0"/>
              <a:p>
                <a:pPr algn="ctr"/>
                <a:endParaRPr lang="en-US" altLang="zh-CN" dirty="0">
                  <a:solidFill>
                    <a:srgbClr val="FFFFFF"/>
                  </a:solidFill>
                  <a:latin typeface="Calibri" panose="020F0502020204030204" pitchFamily="34" charset="0"/>
                  <a:ea typeface="宋体" panose="02010600030101010101" pitchFamily="2" charset="-122"/>
                </a:endParaRPr>
              </a:p>
            </p:txBody>
          </p:sp>
          <p:sp>
            <p:nvSpPr>
              <p:cNvPr id="50202" name="TextBox 21"/>
              <p:cNvSpPr txBox="1"/>
              <p:nvPr/>
            </p:nvSpPr>
            <p:spPr>
              <a:xfrm>
                <a:off x="4035997" y="3149425"/>
                <a:ext cx="1006609" cy="294756"/>
              </a:xfrm>
              <a:prstGeom prst="rect">
                <a:avLst/>
              </a:prstGeom>
              <a:noFill/>
              <a:ln w="9525">
                <a:noFill/>
              </a:ln>
            </p:spPr>
            <p:txBody>
              <a:bodyPr anchor="t" anchorCtr="0">
                <a:spAutoFit/>
              </a:bodyPr>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盈利目标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50203" name="TextBox 22"/>
            <p:cNvSpPr txBox="1"/>
            <p:nvPr/>
          </p:nvSpPr>
          <p:spPr>
            <a:xfrm>
              <a:off x="9648" y="2647"/>
              <a:ext cx="4209" cy="823"/>
            </a:xfrm>
            <a:prstGeom prst="rect">
              <a:avLst/>
            </a:prstGeom>
            <a:noFill/>
            <a:ln w="9525">
              <a:noFill/>
            </a:ln>
          </p:spPr>
          <p:txBody>
            <a:bodyPr anchor="t" anchorCtr="0">
              <a:spAutoFit/>
            </a:bodyPr>
            <a:p>
              <a:pPr algn="just" eaLnBrk="0" hangingPunct="0"/>
              <a:r>
                <a:rPr lang="zh-CN" altLang="en-US" sz="2000" dirty="0">
                  <a:solidFill>
                    <a:srgbClr val="1570C1"/>
                  </a:solidFill>
                  <a:latin typeface="微软雅黑" panose="020B0503020204020204" pitchFamily="34" charset="-122"/>
                  <a:ea typeface="微软雅黑" panose="020B0503020204020204" pitchFamily="34" charset="-122"/>
                </a:rPr>
                <a:t>企业在市场上的相对地位，反映了企业的竞争地位</a:t>
              </a:r>
              <a:endParaRPr lang="zh-CN" altLang="en-US" sz="2000" dirty="0">
                <a:solidFill>
                  <a:srgbClr val="1570C1"/>
                </a:solidFill>
                <a:latin typeface="微软雅黑" panose="020B0503020204020204" pitchFamily="34" charset="-122"/>
                <a:ea typeface="微软雅黑" panose="020B0503020204020204" pitchFamily="34" charset="-122"/>
              </a:endParaRPr>
            </a:p>
          </p:txBody>
        </p:sp>
        <p:sp>
          <p:nvSpPr>
            <p:cNvPr id="50204" name="TextBox 23"/>
            <p:cNvSpPr txBox="1"/>
            <p:nvPr/>
          </p:nvSpPr>
          <p:spPr>
            <a:xfrm>
              <a:off x="9130" y="5672"/>
              <a:ext cx="4729" cy="1181"/>
            </a:xfrm>
            <a:prstGeom prst="rect">
              <a:avLst/>
            </a:prstGeom>
            <a:noFill/>
            <a:ln w="9525">
              <a:noFill/>
            </a:ln>
          </p:spPr>
          <p:txBody>
            <a:bodyPr anchor="t" anchorCtr="0">
              <a:spAutoFit/>
            </a:bodyPr>
            <a:p>
              <a:pPr algn="just" eaLnBrk="0" hangingPunct="0"/>
              <a:r>
                <a:rPr lang="zh-CN" altLang="en-US" sz="2000" dirty="0">
                  <a:solidFill>
                    <a:srgbClr val="0070C0"/>
                  </a:solidFill>
                  <a:latin typeface="微软雅黑" panose="020B0503020204020204" pitchFamily="34" charset="-122"/>
                  <a:ea typeface="微软雅黑" panose="020B0503020204020204" pitchFamily="34" charset="-122"/>
                </a:rPr>
                <a:t>将创新作为企业的战略目标之一,能使企业获得生存发展的机遇，激发企业活力</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50205" name="TextBox 24"/>
            <p:cNvSpPr txBox="1"/>
            <p:nvPr/>
          </p:nvSpPr>
          <p:spPr>
            <a:xfrm>
              <a:off x="539" y="5672"/>
              <a:ext cx="4590" cy="1539"/>
            </a:xfrm>
            <a:prstGeom prst="rect">
              <a:avLst/>
            </a:prstGeom>
            <a:noFill/>
            <a:ln w="9525">
              <a:noFill/>
            </a:ln>
          </p:spPr>
          <p:txBody>
            <a:bodyPr anchor="t" anchorCtr="0">
              <a:spAutoFit/>
            </a:bodyPr>
            <a:p>
              <a:pPr algn="just" eaLnBrk="0" hangingPunct="0"/>
              <a:r>
                <a:rPr lang="zh-CN" altLang="en-US" sz="2000" dirty="0">
                  <a:solidFill>
                    <a:srgbClr val="1570C1"/>
                  </a:solidFill>
                  <a:latin typeface="微软雅黑" panose="020B0503020204020204" pitchFamily="34" charset="-122"/>
                  <a:ea typeface="微软雅黑" panose="020B0503020204020204" pitchFamily="34" charset="-122"/>
                </a:rPr>
                <a:t>企业赚取利润，既是对企业经营成果的检验,又是企业的风险报酬,也是整个企业乃至整个社会发展的资金来源</a:t>
              </a:r>
              <a:endParaRPr lang="zh-CN" altLang="en-US" sz="2000" dirty="0">
                <a:solidFill>
                  <a:srgbClr val="1570C1"/>
                </a:solidFill>
                <a:latin typeface="微软雅黑" panose="020B0503020204020204" pitchFamily="34" charset="-122"/>
                <a:ea typeface="微软雅黑" panose="020B0503020204020204" pitchFamily="34" charset="-122"/>
              </a:endParaRPr>
            </a:p>
          </p:txBody>
        </p:sp>
        <p:grpSp>
          <p:nvGrpSpPr>
            <p:cNvPr id="50206" name="组合 35"/>
            <p:cNvGrpSpPr/>
            <p:nvPr/>
          </p:nvGrpSpPr>
          <p:grpSpPr>
            <a:xfrm>
              <a:off x="5415" y="2973"/>
              <a:ext cx="3457" cy="2313"/>
              <a:chOff x="3438781" y="1887702"/>
              <a:chExt cx="2195007" cy="1468838"/>
            </a:xfrm>
          </p:grpSpPr>
          <p:grpSp>
            <p:nvGrpSpPr>
              <p:cNvPr id="50207" name="组合 26"/>
              <p:cNvGrpSpPr/>
              <p:nvPr/>
            </p:nvGrpSpPr>
            <p:grpSpPr>
              <a:xfrm>
                <a:off x="3438781" y="1887702"/>
                <a:ext cx="2195007" cy="1468838"/>
                <a:chOff x="3438781" y="1887702"/>
                <a:chExt cx="2195007" cy="1468838"/>
              </a:xfrm>
            </p:grpSpPr>
            <p:cxnSp>
              <p:nvCxnSpPr>
                <p:cNvPr id="50208" name="Straight Arrow Connector 13"/>
                <p:cNvCxnSpPr/>
                <p:nvPr/>
              </p:nvCxnSpPr>
              <p:spPr>
                <a:xfrm flipV="1">
                  <a:off x="5248699" y="3097981"/>
                  <a:ext cx="385089" cy="258559"/>
                </a:xfrm>
                <a:prstGeom prst="straightConnector1">
                  <a:avLst/>
                </a:prstGeom>
                <a:ln w="12700" cap="flat" cmpd="sng">
                  <a:solidFill>
                    <a:schemeClr val="bg1"/>
                  </a:solidFill>
                  <a:prstDash val="solid"/>
                  <a:round/>
                  <a:headEnd type="triangle" w="med" len="med"/>
                  <a:tailEnd type="triangle" w="med" len="med"/>
                </a:ln>
              </p:spPr>
            </p:cxnSp>
            <p:cxnSp>
              <p:nvCxnSpPr>
                <p:cNvPr id="50209" name="Straight Arrow Connector 24"/>
                <p:cNvCxnSpPr/>
                <p:nvPr/>
              </p:nvCxnSpPr>
              <p:spPr>
                <a:xfrm flipV="1">
                  <a:off x="3438781" y="1887702"/>
                  <a:ext cx="385089" cy="258559"/>
                </a:xfrm>
                <a:prstGeom prst="straightConnector1">
                  <a:avLst/>
                </a:prstGeom>
                <a:ln w="12700" cap="flat" cmpd="sng">
                  <a:solidFill>
                    <a:schemeClr val="bg1"/>
                  </a:solidFill>
                  <a:prstDash val="solid"/>
                  <a:round/>
                  <a:headEnd type="triangle" w="med" len="med"/>
                  <a:tailEnd type="triangle" w="med" len="med"/>
                </a:ln>
              </p:spPr>
            </p:cxnSp>
            <p:cxnSp>
              <p:nvCxnSpPr>
                <p:cNvPr id="50210" name="Straight Arrow Connector 30"/>
                <p:cNvCxnSpPr/>
                <p:nvPr/>
              </p:nvCxnSpPr>
              <p:spPr>
                <a:xfrm>
                  <a:off x="3449784" y="3081477"/>
                  <a:ext cx="385089" cy="258559"/>
                </a:xfrm>
                <a:prstGeom prst="straightConnector1">
                  <a:avLst/>
                </a:prstGeom>
                <a:ln w="12700" cap="flat" cmpd="sng">
                  <a:solidFill>
                    <a:schemeClr val="bg1"/>
                  </a:solidFill>
                  <a:prstDash val="solid"/>
                  <a:round/>
                  <a:headEnd type="triangle" w="med" len="med"/>
                  <a:tailEnd type="triangle" w="med" len="med"/>
                </a:ln>
              </p:spPr>
            </p:cxnSp>
            <p:cxnSp>
              <p:nvCxnSpPr>
                <p:cNvPr id="50211" name="Straight Arrow Connector 31"/>
                <p:cNvCxnSpPr/>
                <p:nvPr/>
              </p:nvCxnSpPr>
              <p:spPr>
                <a:xfrm>
                  <a:off x="5226693" y="1893203"/>
                  <a:ext cx="385089" cy="258559"/>
                </a:xfrm>
                <a:prstGeom prst="straightConnector1">
                  <a:avLst/>
                </a:prstGeom>
                <a:ln w="12700" cap="flat" cmpd="sng">
                  <a:solidFill>
                    <a:schemeClr val="bg1"/>
                  </a:solidFill>
                  <a:prstDash val="solid"/>
                  <a:round/>
                  <a:headEnd type="triangle" w="med" len="med"/>
                  <a:tailEnd type="triangle" w="med" len="med"/>
                </a:ln>
              </p:spPr>
            </p:cxnSp>
          </p:grpSp>
          <p:grpSp>
            <p:nvGrpSpPr>
              <p:cNvPr id="50212" name="Group 18"/>
              <p:cNvGrpSpPr/>
              <p:nvPr/>
            </p:nvGrpSpPr>
            <p:grpSpPr>
              <a:xfrm>
                <a:off x="4247468" y="2316297"/>
                <a:ext cx="572132" cy="572012"/>
                <a:chOff x="4143375" y="3200400"/>
                <a:chExt cx="762000" cy="762000"/>
              </a:xfrm>
            </p:grpSpPr>
            <p:cxnSp>
              <p:nvCxnSpPr>
                <p:cNvPr id="50213" name="Straight Arrow Connector 16"/>
                <p:cNvCxnSpPr/>
                <p:nvPr/>
              </p:nvCxnSpPr>
              <p:spPr>
                <a:xfrm>
                  <a:off x="4143375" y="3590925"/>
                  <a:ext cx="762000" cy="1588"/>
                </a:xfrm>
                <a:prstGeom prst="straightConnector1">
                  <a:avLst/>
                </a:prstGeom>
                <a:ln w="12700" cap="flat" cmpd="sng">
                  <a:solidFill>
                    <a:schemeClr val="bg1"/>
                  </a:solidFill>
                  <a:prstDash val="solid"/>
                  <a:round/>
                  <a:headEnd type="triangle" w="med" len="med"/>
                  <a:tailEnd type="triangle" w="med" len="med"/>
                </a:ln>
              </p:spPr>
            </p:cxnSp>
            <p:cxnSp>
              <p:nvCxnSpPr>
                <p:cNvPr id="50214" name="Straight Arrow Connector 17"/>
                <p:cNvCxnSpPr/>
                <p:nvPr/>
              </p:nvCxnSpPr>
              <p:spPr>
                <a:xfrm rot="-5400000">
                  <a:off x="4143375" y="3580606"/>
                  <a:ext cx="762000" cy="1588"/>
                </a:xfrm>
                <a:prstGeom prst="straightConnector1">
                  <a:avLst/>
                </a:prstGeom>
                <a:ln w="12700" cap="flat" cmpd="sng">
                  <a:solidFill>
                    <a:schemeClr val="bg1"/>
                  </a:solidFill>
                  <a:prstDash val="solid"/>
                  <a:round/>
                  <a:headEnd type="triangle" w="med" len="med"/>
                  <a:tailEnd type="triangle" w="med" len="med"/>
                </a:ln>
              </p:spPr>
            </p:cxnSp>
          </p:gr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标题 2"/>
          <p:cNvSpPr>
            <a:spLocks noGrp="1"/>
          </p:cNvSpPr>
          <p:nvPr>
            <p:ph type="title"/>
          </p:nvPr>
        </p:nvSpPr>
        <p:spPr>
          <a:xfrm>
            <a:off x="500063" y="173038"/>
            <a:ext cx="10515600" cy="838200"/>
          </a:xfrm>
          <a:noFill/>
          <a:ln>
            <a:noFill/>
          </a:ln>
        </p:spPr>
        <p:txBody>
          <a:bodyPr anchor="t" anchorCtr="0"/>
          <a:p>
            <a:r>
              <a:rPr lang="zh-CN" altLang="en-US" dirty="0"/>
              <a:t>示例：宝洁的战略目标体系</a:t>
            </a:r>
            <a:endParaRPr lang="zh-CN" altLang="en-US" dirty="0"/>
          </a:p>
        </p:txBody>
      </p:sp>
      <p:sp>
        <p:nvSpPr>
          <p:cNvPr id="51202" name="内容占位符 3"/>
          <p:cNvSpPr>
            <a:spLocks noGrp="1"/>
          </p:cNvSpPr>
          <p:nvPr>
            <p:ph idx="1"/>
          </p:nvPr>
        </p:nvSpPr>
        <p:spPr>
          <a:xfrm>
            <a:off x="500063" y="874713"/>
            <a:ext cx="11485562" cy="5983287"/>
          </a:xfrm>
          <a:noFill/>
          <a:ln>
            <a:noFill/>
          </a:ln>
        </p:spPr>
        <p:txBody>
          <a:bodyPr anchor="t" anchorCtr="0"/>
          <a:p>
            <a:pPr lvl="1">
              <a:lnSpc>
                <a:spcPct val="100000"/>
              </a:lnSpc>
            </a:pPr>
            <a:r>
              <a:rPr lang="zh-CN" altLang="en-US" sz="2800" dirty="0">
                <a:solidFill>
                  <a:srgbClr val="0070C0"/>
                </a:solidFill>
                <a:latin typeface="Times New Roman" panose="02020603050405020304" pitchFamily="18" charset="0"/>
              </a:rPr>
              <a:t>目标描述</a:t>
            </a:r>
            <a:endParaRPr lang="zh-CN" altLang="en-US" sz="2800" dirty="0">
              <a:solidFill>
                <a:srgbClr val="0070C0"/>
              </a:solidFill>
              <a:latin typeface="Times New Roman" panose="02020603050405020304" pitchFamily="18" charset="0"/>
            </a:endParaRPr>
          </a:p>
          <a:p>
            <a:pPr lvl="2">
              <a:lnSpc>
                <a:spcPct val="100000"/>
              </a:lnSpc>
              <a:buSzTx/>
            </a:pPr>
            <a:r>
              <a:rPr lang="zh-CN" altLang="en-US" sz="2400" dirty="0">
                <a:latin typeface="Times New Roman" panose="02020603050405020304" pitchFamily="18" charset="0"/>
              </a:rPr>
              <a:t>在宝洁，我们着眼于显著的改善，以产生最有意义的影响。我们的承诺源于公司的宗旨、价值和原则、可持续发展根植于此，在系统的、着眼于长远的努力方式中发扬光大。我们力求使我们的行动产生重要的影响。</a:t>
            </a:r>
            <a:endParaRPr lang="zh-CN" altLang="en-US" sz="2400" dirty="0">
              <a:latin typeface="Times New Roman" panose="02020603050405020304" pitchFamily="18" charset="0"/>
            </a:endParaRPr>
          </a:p>
          <a:p>
            <a:pPr lvl="1">
              <a:lnSpc>
                <a:spcPct val="100000"/>
              </a:lnSpc>
            </a:pPr>
            <a:r>
              <a:rPr lang="zh-CN" altLang="en-US" sz="2800" dirty="0">
                <a:solidFill>
                  <a:srgbClr val="0070C0"/>
                </a:solidFill>
                <a:latin typeface="Times New Roman" panose="02020603050405020304" pitchFamily="18" charset="0"/>
              </a:rPr>
              <a:t>运营目标</a:t>
            </a:r>
            <a:endParaRPr lang="en-US" altLang="zh-CN" sz="2800" dirty="0">
              <a:solidFill>
                <a:srgbClr val="0070C0"/>
              </a:solidFill>
              <a:latin typeface="Times New Roman" panose="02020603050405020304" pitchFamily="18" charset="0"/>
            </a:endParaRPr>
          </a:p>
          <a:p>
            <a:pPr lvl="2">
              <a:lnSpc>
                <a:spcPct val="100000"/>
              </a:lnSpc>
            </a:pPr>
            <a:r>
              <a:rPr lang="zh-CN" altLang="en-US" sz="2400" dirty="0">
                <a:latin typeface="Times New Roman" panose="02020603050405020304" pitchFamily="18" charset="0"/>
              </a:rPr>
              <a:t>与</a:t>
            </a:r>
            <a:r>
              <a:rPr lang="en-US" altLang="zh-CN" sz="2400" dirty="0">
                <a:latin typeface="Times New Roman" panose="02020603050405020304" pitchFamily="18" charset="0"/>
              </a:rPr>
              <a:t>2002</a:t>
            </a:r>
            <a:r>
              <a:rPr lang="zh-CN" altLang="en-US" sz="2400" dirty="0">
                <a:latin typeface="Times New Roman" panose="02020603050405020304" pitchFamily="18" charset="0"/>
              </a:rPr>
              <a:t>年相比，将工厂的二氧化碳排放量、能源使用、用水量和废弃物进一步减少</a:t>
            </a:r>
            <a:r>
              <a:rPr lang="en-US" altLang="zh-CN" sz="2400" dirty="0">
                <a:latin typeface="Times New Roman" panose="02020603050405020304" pitchFamily="18" charset="0"/>
              </a:rPr>
              <a:t>20%</a:t>
            </a:r>
            <a:r>
              <a:rPr lang="zh-CN" altLang="en-US" sz="2400" dirty="0">
                <a:latin typeface="Times New Roman" panose="02020603050405020304" pitchFamily="18" charset="0"/>
              </a:rPr>
              <a:t>（每生产单位），实现十年至少减少</a:t>
            </a:r>
            <a:r>
              <a:rPr lang="en-US" altLang="zh-CN" sz="2400" dirty="0">
                <a:latin typeface="Times New Roman" panose="02020603050405020304" pitchFamily="18" charset="0"/>
              </a:rPr>
              <a:t>50%</a:t>
            </a:r>
            <a:r>
              <a:rPr lang="zh-CN" altLang="en-US" sz="2400" dirty="0">
                <a:latin typeface="Times New Roman" panose="02020603050405020304" pitchFamily="18" charset="0"/>
              </a:rPr>
              <a:t>的目标。</a:t>
            </a:r>
            <a:endParaRPr lang="en-US" altLang="zh-CN" sz="2400" dirty="0">
              <a:latin typeface="Times New Roman" panose="02020603050405020304" pitchFamily="18" charset="0"/>
            </a:endParaRPr>
          </a:p>
          <a:p>
            <a:pPr lvl="1">
              <a:lnSpc>
                <a:spcPct val="100000"/>
              </a:lnSpc>
            </a:pPr>
            <a:r>
              <a:rPr lang="zh-CN" altLang="en-US" sz="2800" dirty="0">
                <a:solidFill>
                  <a:srgbClr val="0070C0"/>
                </a:solidFill>
                <a:latin typeface="Times New Roman" panose="02020603050405020304" pitchFamily="18" charset="0"/>
              </a:rPr>
              <a:t>产品目标</a:t>
            </a:r>
            <a:endParaRPr lang="en-US" altLang="zh-CN" sz="2800" dirty="0">
              <a:solidFill>
                <a:srgbClr val="0070C0"/>
              </a:solidFill>
              <a:latin typeface="Times New Roman" panose="02020603050405020304" pitchFamily="18" charset="0"/>
            </a:endParaRPr>
          </a:p>
          <a:p>
            <a:pPr lvl="2">
              <a:lnSpc>
                <a:spcPct val="100000"/>
              </a:lnSpc>
            </a:pPr>
            <a:r>
              <a:rPr lang="zh-CN" altLang="en-US" sz="2400" dirty="0">
                <a:latin typeface="Times New Roman" panose="02020603050405020304" pitchFamily="18" charset="0"/>
              </a:rPr>
              <a:t>开发并销售“可持续创新产品”，累计销售额至少达到</a:t>
            </a:r>
            <a:r>
              <a:rPr lang="en-US" altLang="zh-CN" sz="2400" dirty="0">
                <a:latin typeface="Times New Roman" panose="02020603050405020304" pitchFamily="18" charset="0"/>
              </a:rPr>
              <a:t>500</a:t>
            </a:r>
            <a:r>
              <a:rPr lang="zh-CN" altLang="en-US" sz="2400" dirty="0">
                <a:latin typeface="Times New Roman" panose="02020603050405020304" pitchFamily="18" charset="0"/>
              </a:rPr>
              <a:t>亿美元。可持续创新产品可以显著减少对环境的影响</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a:lnSpc>
                <a:spcPct val="100000"/>
              </a:lnSpc>
            </a:pPr>
            <a:r>
              <a:rPr lang="zh-CN" altLang="en-US" sz="2800" dirty="0">
                <a:solidFill>
                  <a:srgbClr val="0070C0"/>
                </a:solidFill>
                <a:latin typeface="Times New Roman" panose="02020603050405020304" pitchFamily="18" charset="0"/>
              </a:rPr>
              <a:t>社会责任目标</a:t>
            </a:r>
            <a:endParaRPr lang="en-US" altLang="zh-CN" sz="2800" dirty="0">
              <a:solidFill>
                <a:srgbClr val="0070C0"/>
              </a:solidFill>
              <a:latin typeface="Times New Roman" panose="02020603050405020304" pitchFamily="18" charset="0"/>
            </a:endParaRPr>
          </a:p>
          <a:p>
            <a:pPr lvl="2">
              <a:lnSpc>
                <a:spcPct val="100000"/>
              </a:lnSpc>
            </a:pPr>
            <a:r>
              <a:rPr lang="zh-CN" altLang="en-US" sz="2400" dirty="0">
                <a:latin typeface="Times New Roman" panose="02020603050405020304" pitchFamily="18" charset="0"/>
              </a:rPr>
              <a:t>将</a:t>
            </a:r>
            <a:r>
              <a:rPr lang="en-US" altLang="zh-CN" sz="2400" dirty="0">
                <a:latin typeface="Times New Roman" panose="02020603050405020304" pitchFamily="18" charset="0"/>
              </a:rPr>
              <a:t>3</a:t>
            </a:r>
            <a:r>
              <a:rPr lang="zh-CN" altLang="en-US" sz="2400" dirty="0">
                <a:latin typeface="Times New Roman" panose="02020603050405020304" pitchFamily="18" charset="0"/>
              </a:rPr>
              <a:t>亿儿童纳入“生活、学习和成长”活动。通过“儿童饮安全饮用水”项目提供</a:t>
            </a:r>
            <a:r>
              <a:rPr lang="en-US" altLang="zh-CN" sz="2400" dirty="0">
                <a:latin typeface="Times New Roman" panose="02020603050405020304" pitchFamily="18" charset="0"/>
              </a:rPr>
              <a:t>40</a:t>
            </a:r>
            <a:r>
              <a:rPr lang="zh-CN" altLang="en-US" sz="2400" dirty="0">
                <a:latin typeface="Times New Roman" panose="02020603050405020304" pitchFamily="18" charset="0"/>
              </a:rPr>
              <a:t>亿升干净的饮用水，使受益人群避免累计</a:t>
            </a:r>
            <a:r>
              <a:rPr lang="en-US" altLang="zh-CN" sz="2400" dirty="0">
                <a:latin typeface="Times New Roman" panose="02020603050405020304" pitchFamily="18" charset="0"/>
              </a:rPr>
              <a:t>1.6</a:t>
            </a:r>
            <a:r>
              <a:rPr lang="zh-CN" altLang="en-US" sz="2400" dirty="0">
                <a:latin typeface="Times New Roman" panose="02020603050405020304" pitchFamily="18" charset="0"/>
              </a:rPr>
              <a:t>亿天次的及比昂困扰、挽救</a:t>
            </a:r>
            <a:r>
              <a:rPr lang="en-US" altLang="zh-CN" sz="2400" dirty="0">
                <a:latin typeface="Times New Roman" panose="02020603050405020304" pitchFamily="18" charset="0"/>
              </a:rPr>
              <a:t>2</a:t>
            </a:r>
            <a:r>
              <a:rPr lang="zh-CN" altLang="en-US" sz="2400" dirty="0">
                <a:latin typeface="Times New Roman" panose="02020603050405020304" pitchFamily="18" charset="0"/>
              </a:rPr>
              <a:t>万个生命。</a:t>
            </a:r>
            <a:endParaRPr lang="en-US" altLang="zh-CN"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222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5222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52231"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2.5  </a:t>
            </a:r>
            <a:r>
              <a:rPr lang="zh-CN" altLang="en-US" sz="3200" dirty="0">
                <a:solidFill>
                  <a:srgbClr val="1570C1"/>
                </a:solidFill>
                <a:latin typeface="微软雅黑" panose="020B0503020204020204" pitchFamily="34" charset="-122"/>
                <a:ea typeface="微软雅黑" panose="020B0503020204020204" pitchFamily="34" charset="-122"/>
              </a:rPr>
              <a:t>企业战略目标的制定过程</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063625" y="1796482"/>
            <a:ext cx="2174873" cy="2858296"/>
            <a:chOff x="3908425" y="969169"/>
            <a:chExt cx="2174875" cy="2858294"/>
          </a:xfrm>
          <a:solidFill>
            <a:srgbClr val="1570C1"/>
          </a:solidFill>
        </p:grpSpPr>
        <p:sp>
          <p:nvSpPr>
            <p:cNvPr id="21" name="Freeform 6"/>
            <p:cNvSpPr>
              <a:spLocks noEditPoints="1"/>
            </p:cNvSpPr>
            <p:nvPr/>
          </p:nvSpPr>
          <p:spPr bwMode="auto">
            <a:xfrm>
              <a:off x="3968750" y="1439863"/>
              <a:ext cx="2114550" cy="2387600"/>
            </a:xfrm>
            <a:custGeom>
              <a:avLst/>
              <a:gdLst>
                <a:gd name="T0" fmla="*/ 292 w 563"/>
                <a:gd name="T1" fmla="*/ 0 h 635"/>
                <a:gd name="T2" fmla="*/ 286 w 563"/>
                <a:gd name="T3" fmla="*/ 130 h 635"/>
                <a:gd name="T4" fmla="*/ 329 w 563"/>
                <a:gd name="T5" fmla="*/ 5 h 635"/>
                <a:gd name="T6" fmla="*/ 315 w 563"/>
                <a:gd name="T7" fmla="*/ 119 h 635"/>
                <a:gd name="T8" fmla="*/ 373 w 563"/>
                <a:gd name="T9" fmla="*/ 30 h 635"/>
                <a:gd name="T10" fmla="*/ 432 w 563"/>
                <a:gd name="T11" fmla="*/ 155 h 635"/>
                <a:gd name="T12" fmla="*/ 561 w 563"/>
                <a:gd name="T13" fmla="*/ 178 h 635"/>
                <a:gd name="T14" fmla="*/ 397 w 563"/>
                <a:gd name="T15" fmla="*/ 203 h 635"/>
                <a:gd name="T16" fmla="*/ 382 w 563"/>
                <a:gd name="T17" fmla="*/ 161 h 635"/>
                <a:gd name="T18" fmla="*/ 364 w 563"/>
                <a:gd name="T19" fmla="*/ 136 h 635"/>
                <a:gd name="T20" fmla="*/ 373 w 563"/>
                <a:gd name="T21" fmla="*/ 275 h 635"/>
                <a:gd name="T22" fmla="*/ 447 w 563"/>
                <a:gd name="T23" fmla="*/ 403 h 635"/>
                <a:gd name="T24" fmla="*/ 324 w 563"/>
                <a:gd name="T25" fmla="*/ 509 h 635"/>
                <a:gd name="T26" fmla="*/ 291 w 563"/>
                <a:gd name="T27" fmla="*/ 631 h 635"/>
                <a:gd name="T28" fmla="*/ 250 w 563"/>
                <a:gd name="T29" fmla="*/ 629 h 635"/>
                <a:gd name="T30" fmla="*/ 238 w 563"/>
                <a:gd name="T31" fmla="*/ 579 h 635"/>
                <a:gd name="T32" fmla="*/ 260 w 563"/>
                <a:gd name="T33" fmla="*/ 418 h 635"/>
                <a:gd name="T34" fmla="*/ 224 w 563"/>
                <a:gd name="T35" fmla="*/ 250 h 635"/>
                <a:gd name="T36" fmla="*/ 140 w 563"/>
                <a:gd name="T37" fmla="*/ 93 h 635"/>
                <a:gd name="T38" fmla="*/ 128 w 563"/>
                <a:gd name="T39" fmla="*/ 213 h 635"/>
                <a:gd name="T40" fmla="*/ 162 w 563"/>
                <a:gd name="T41" fmla="*/ 245 h 635"/>
                <a:gd name="T42" fmla="*/ 115 w 563"/>
                <a:gd name="T43" fmla="*/ 289 h 635"/>
                <a:gd name="T44" fmla="*/ 74 w 563"/>
                <a:gd name="T45" fmla="*/ 280 h 635"/>
                <a:gd name="T46" fmla="*/ 70 w 563"/>
                <a:gd name="T47" fmla="*/ 276 h 635"/>
                <a:gd name="T48" fmla="*/ 0 w 563"/>
                <a:gd name="T49" fmla="*/ 250 h 635"/>
                <a:gd name="T50" fmla="*/ 58 w 563"/>
                <a:gd name="T51" fmla="*/ 221 h 635"/>
                <a:gd name="T52" fmla="*/ 72 w 563"/>
                <a:gd name="T53" fmla="*/ 200 h 635"/>
                <a:gd name="T54" fmla="*/ 255 w 563"/>
                <a:gd name="T55" fmla="*/ 6 h 635"/>
                <a:gd name="T56" fmla="*/ 117 w 563"/>
                <a:gd name="T57" fmla="*/ 234 h 635"/>
                <a:gd name="T58" fmla="*/ 69 w 563"/>
                <a:gd name="T59" fmla="*/ 211 h 635"/>
                <a:gd name="T60" fmla="*/ 299 w 563"/>
                <a:gd name="T61" fmla="*/ 291 h 635"/>
                <a:gd name="T62" fmla="*/ 368 w 563"/>
                <a:gd name="T63" fmla="*/ 395 h 635"/>
                <a:gd name="T64" fmla="*/ 315 w 563"/>
                <a:gd name="T65" fmla="*/ 309 h 635"/>
                <a:gd name="T66" fmla="*/ 299 w 563"/>
                <a:gd name="T67" fmla="*/ 291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3" h="635">
                  <a:moveTo>
                    <a:pt x="255" y="6"/>
                  </a:moveTo>
                  <a:cubicBezTo>
                    <a:pt x="267" y="3"/>
                    <a:pt x="279" y="1"/>
                    <a:pt x="292" y="0"/>
                  </a:cubicBezTo>
                  <a:cubicBezTo>
                    <a:pt x="287" y="15"/>
                    <a:pt x="285" y="31"/>
                    <a:pt x="283" y="46"/>
                  </a:cubicBezTo>
                  <a:cubicBezTo>
                    <a:pt x="282" y="74"/>
                    <a:pt x="279" y="102"/>
                    <a:pt x="286" y="130"/>
                  </a:cubicBezTo>
                  <a:cubicBezTo>
                    <a:pt x="288" y="87"/>
                    <a:pt x="307" y="46"/>
                    <a:pt x="303" y="3"/>
                  </a:cubicBezTo>
                  <a:cubicBezTo>
                    <a:pt x="312" y="3"/>
                    <a:pt x="320" y="4"/>
                    <a:pt x="329" y="5"/>
                  </a:cubicBezTo>
                  <a:cubicBezTo>
                    <a:pt x="326" y="17"/>
                    <a:pt x="320" y="29"/>
                    <a:pt x="319" y="42"/>
                  </a:cubicBezTo>
                  <a:cubicBezTo>
                    <a:pt x="317" y="68"/>
                    <a:pt x="315" y="93"/>
                    <a:pt x="315" y="119"/>
                  </a:cubicBezTo>
                  <a:cubicBezTo>
                    <a:pt x="328" y="83"/>
                    <a:pt x="342" y="46"/>
                    <a:pt x="345" y="8"/>
                  </a:cubicBezTo>
                  <a:cubicBezTo>
                    <a:pt x="355" y="14"/>
                    <a:pt x="370" y="16"/>
                    <a:pt x="373" y="30"/>
                  </a:cubicBezTo>
                  <a:cubicBezTo>
                    <a:pt x="378" y="50"/>
                    <a:pt x="390" y="68"/>
                    <a:pt x="398" y="87"/>
                  </a:cubicBezTo>
                  <a:cubicBezTo>
                    <a:pt x="410" y="109"/>
                    <a:pt x="419" y="133"/>
                    <a:pt x="432" y="155"/>
                  </a:cubicBezTo>
                  <a:cubicBezTo>
                    <a:pt x="465" y="152"/>
                    <a:pt x="498" y="153"/>
                    <a:pt x="530" y="153"/>
                  </a:cubicBezTo>
                  <a:cubicBezTo>
                    <a:pt x="544" y="152"/>
                    <a:pt x="561" y="163"/>
                    <a:pt x="561" y="178"/>
                  </a:cubicBezTo>
                  <a:cubicBezTo>
                    <a:pt x="563" y="191"/>
                    <a:pt x="550" y="201"/>
                    <a:pt x="538" y="201"/>
                  </a:cubicBezTo>
                  <a:cubicBezTo>
                    <a:pt x="491" y="203"/>
                    <a:pt x="444" y="202"/>
                    <a:pt x="397" y="203"/>
                  </a:cubicBezTo>
                  <a:cubicBezTo>
                    <a:pt x="390" y="189"/>
                    <a:pt x="383" y="176"/>
                    <a:pt x="376" y="162"/>
                  </a:cubicBezTo>
                  <a:cubicBezTo>
                    <a:pt x="382" y="161"/>
                    <a:pt x="382" y="161"/>
                    <a:pt x="382" y="161"/>
                  </a:cubicBezTo>
                  <a:cubicBezTo>
                    <a:pt x="380" y="161"/>
                    <a:pt x="377" y="161"/>
                    <a:pt x="375" y="161"/>
                  </a:cubicBezTo>
                  <a:cubicBezTo>
                    <a:pt x="371" y="153"/>
                    <a:pt x="368" y="144"/>
                    <a:pt x="364" y="136"/>
                  </a:cubicBezTo>
                  <a:cubicBezTo>
                    <a:pt x="360" y="162"/>
                    <a:pt x="360" y="188"/>
                    <a:pt x="360" y="214"/>
                  </a:cubicBezTo>
                  <a:cubicBezTo>
                    <a:pt x="361" y="235"/>
                    <a:pt x="361" y="257"/>
                    <a:pt x="373" y="275"/>
                  </a:cubicBezTo>
                  <a:cubicBezTo>
                    <a:pt x="395" y="310"/>
                    <a:pt x="423" y="343"/>
                    <a:pt x="443" y="381"/>
                  </a:cubicBezTo>
                  <a:cubicBezTo>
                    <a:pt x="446" y="388"/>
                    <a:pt x="451" y="396"/>
                    <a:pt x="447" y="403"/>
                  </a:cubicBezTo>
                  <a:cubicBezTo>
                    <a:pt x="441" y="420"/>
                    <a:pt x="427" y="432"/>
                    <a:pt x="414" y="445"/>
                  </a:cubicBezTo>
                  <a:cubicBezTo>
                    <a:pt x="386" y="469"/>
                    <a:pt x="359" y="496"/>
                    <a:pt x="324" y="509"/>
                  </a:cubicBezTo>
                  <a:cubicBezTo>
                    <a:pt x="315" y="544"/>
                    <a:pt x="310" y="580"/>
                    <a:pt x="300" y="614"/>
                  </a:cubicBezTo>
                  <a:cubicBezTo>
                    <a:pt x="299" y="621"/>
                    <a:pt x="295" y="626"/>
                    <a:pt x="291" y="631"/>
                  </a:cubicBezTo>
                  <a:cubicBezTo>
                    <a:pt x="290" y="632"/>
                    <a:pt x="286" y="634"/>
                    <a:pt x="285" y="635"/>
                  </a:cubicBezTo>
                  <a:cubicBezTo>
                    <a:pt x="273" y="635"/>
                    <a:pt x="261" y="632"/>
                    <a:pt x="250" y="629"/>
                  </a:cubicBezTo>
                  <a:cubicBezTo>
                    <a:pt x="246" y="625"/>
                    <a:pt x="242" y="622"/>
                    <a:pt x="238" y="618"/>
                  </a:cubicBezTo>
                  <a:cubicBezTo>
                    <a:pt x="230" y="606"/>
                    <a:pt x="234" y="591"/>
                    <a:pt x="238" y="579"/>
                  </a:cubicBezTo>
                  <a:cubicBezTo>
                    <a:pt x="249" y="543"/>
                    <a:pt x="258" y="508"/>
                    <a:pt x="265" y="472"/>
                  </a:cubicBezTo>
                  <a:cubicBezTo>
                    <a:pt x="269" y="454"/>
                    <a:pt x="264" y="435"/>
                    <a:pt x="260" y="418"/>
                  </a:cubicBezTo>
                  <a:cubicBezTo>
                    <a:pt x="251" y="383"/>
                    <a:pt x="242" y="349"/>
                    <a:pt x="233" y="315"/>
                  </a:cubicBezTo>
                  <a:cubicBezTo>
                    <a:pt x="229" y="294"/>
                    <a:pt x="222" y="272"/>
                    <a:pt x="224" y="250"/>
                  </a:cubicBezTo>
                  <a:cubicBezTo>
                    <a:pt x="228" y="189"/>
                    <a:pt x="235" y="128"/>
                    <a:pt x="243" y="67"/>
                  </a:cubicBezTo>
                  <a:cubicBezTo>
                    <a:pt x="208" y="75"/>
                    <a:pt x="174" y="84"/>
                    <a:pt x="140" y="93"/>
                  </a:cubicBezTo>
                  <a:cubicBezTo>
                    <a:pt x="131" y="132"/>
                    <a:pt x="129" y="174"/>
                    <a:pt x="114" y="212"/>
                  </a:cubicBezTo>
                  <a:cubicBezTo>
                    <a:pt x="118" y="212"/>
                    <a:pt x="125" y="213"/>
                    <a:pt x="128" y="213"/>
                  </a:cubicBezTo>
                  <a:cubicBezTo>
                    <a:pt x="127" y="221"/>
                    <a:pt x="125" y="228"/>
                    <a:pt x="123" y="236"/>
                  </a:cubicBezTo>
                  <a:cubicBezTo>
                    <a:pt x="136" y="239"/>
                    <a:pt x="149" y="242"/>
                    <a:pt x="162" y="245"/>
                  </a:cubicBezTo>
                  <a:cubicBezTo>
                    <a:pt x="160" y="260"/>
                    <a:pt x="156" y="274"/>
                    <a:pt x="153" y="289"/>
                  </a:cubicBezTo>
                  <a:cubicBezTo>
                    <a:pt x="140" y="289"/>
                    <a:pt x="128" y="289"/>
                    <a:pt x="115" y="289"/>
                  </a:cubicBezTo>
                  <a:cubicBezTo>
                    <a:pt x="101" y="288"/>
                    <a:pt x="88" y="288"/>
                    <a:pt x="75" y="288"/>
                  </a:cubicBezTo>
                  <a:cubicBezTo>
                    <a:pt x="74" y="280"/>
                    <a:pt x="74" y="280"/>
                    <a:pt x="74" y="280"/>
                  </a:cubicBezTo>
                  <a:cubicBezTo>
                    <a:pt x="81" y="282"/>
                    <a:pt x="81" y="282"/>
                    <a:pt x="81" y="282"/>
                  </a:cubicBezTo>
                  <a:cubicBezTo>
                    <a:pt x="77" y="280"/>
                    <a:pt x="74" y="278"/>
                    <a:pt x="70" y="276"/>
                  </a:cubicBezTo>
                  <a:cubicBezTo>
                    <a:pt x="66" y="278"/>
                    <a:pt x="62" y="279"/>
                    <a:pt x="58" y="280"/>
                  </a:cubicBezTo>
                  <a:cubicBezTo>
                    <a:pt x="38" y="272"/>
                    <a:pt x="20" y="258"/>
                    <a:pt x="0" y="250"/>
                  </a:cubicBezTo>
                  <a:cubicBezTo>
                    <a:pt x="2" y="237"/>
                    <a:pt x="6" y="224"/>
                    <a:pt x="8" y="211"/>
                  </a:cubicBezTo>
                  <a:cubicBezTo>
                    <a:pt x="25" y="212"/>
                    <a:pt x="41" y="217"/>
                    <a:pt x="58" y="221"/>
                  </a:cubicBezTo>
                  <a:cubicBezTo>
                    <a:pt x="59" y="214"/>
                    <a:pt x="60" y="207"/>
                    <a:pt x="62" y="200"/>
                  </a:cubicBezTo>
                  <a:cubicBezTo>
                    <a:pt x="64" y="200"/>
                    <a:pt x="70" y="200"/>
                    <a:pt x="72" y="200"/>
                  </a:cubicBezTo>
                  <a:cubicBezTo>
                    <a:pt x="78" y="150"/>
                    <a:pt x="91" y="102"/>
                    <a:pt x="97" y="52"/>
                  </a:cubicBezTo>
                  <a:cubicBezTo>
                    <a:pt x="150" y="36"/>
                    <a:pt x="202" y="22"/>
                    <a:pt x="255" y="6"/>
                  </a:cubicBezTo>
                  <a:close/>
                  <a:moveTo>
                    <a:pt x="67" y="223"/>
                  </a:moveTo>
                  <a:cubicBezTo>
                    <a:pt x="84" y="226"/>
                    <a:pt x="100" y="232"/>
                    <a:pt x="117" y="234"/>
                  </a:cubicBezTo>
                  <a:cubicBezTo>
                    <a:pt x="117" y="231"/>
                    <a:pt x="117" y="225"/>
                    <a:pt x="116" y="222"/>
                  </a:cubicBezTo>
                  <a:cubicBezTo>
                    <a:pt x="101" y="219"/>
                    <a:pt x="85" y="216"/>
                    <a:pt x="69" y="211"/>
                  </a:cubicBezTo>
                  <a:cubicBezTo>
                    <a:pt x="68" y="215"/>
                    <a:pt x="68" y="219"/>
                    <a:pt x="67" y="223"/>
                  </a:cubicBezTo>
                  <a:close/>
                  <a:moveTo>
                    <a:pt x="299" y="291"/>
                  </a:moveTo>
                  <a:cubicBezTo>
                    <a:pt x="310" y="337"/>
                    <a:pt x="322" y="383"/>
                    <a:pt x="330" y="429"/>
                  </a:cubicBezTo>
                  <a:cubicBezTo>
                    <a:pt x="344" y="420"/>
                    <a:pt x="358" y="410"/>
                    <a:pt x="368" y="395"/>
                  </a:cubicBezTo>
                  <a:cubicBezTo>
                    <a:pt x="362" y="381"/>
                    <a:pt x="355" y="367"/>
                    <a:pt x="347" y="354"/>
                  </a:cubicBezTo>
                  <a:cubicBezTo>
                    <a:pt x="337" y="339"/>
                    <a:pt x="326" y="324"/>
                    <a:pt x="315" y="309"/>
                  </a:cubicBezTo>
                  <a:cubicBezTo>
                    <a:pt x="311" y="303"/>
                    <a:pt x="307" y="297"/>
                    <a:pt x="303" y="291"/>
                  </a:cubicBezTo>
                  <a:cubicBezTo>
                    <a:pt x="302" y="291"/>
                    <a:pt x="300" y="291"/>
                    <a:pt x="299" y="2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4" name="Freeform 7"/>
            <p:cNvSpPr/>
            <p:nvPr/>
          </p:nvSpPr>
          <p:spPr bwMode="auto">
            <a:xfrm>
              <a:off x="3908425" y="2387600"/>
              <a:ext cx="630238" cy="409575"/>
            </a:xfrm>
            <a:custGeom>
              <a:avLst/>
              <a:gdLst>
                <a:gd name="T0" fmla="*/ 14 w 168"/>
                <a:gd name="T1" fmla="*/ 0 h 109"/>
                <a:gd name="T2" fmla="*/ 77 w 168"/>
                <a:gd name="T3" fmla="*/ 33 h 109"/>
                <a:gd name="T4" fmla="*/ 76 w 168"/>
                <a:gd name="T5" fmla="*/ 49 h 109"/>
                <a:gd name="T6" fmla="*/ 90 w 168"/>
                <a:gd name="T7" fmla="*/ 39 h 109"/>
                <a:gd name="T8" fmla="*/ 137 w 168"/>
                <a:gd name="T9" fmla="*/ 39 h 109"/>
                <a:gd name="T10" fmla="*/ 168 w 168"/>
                <a:gd name="T11" fmla="*/ 39 h 109"/>
                <a:gd name="T12" fmla="*/ 152 w 168"/>
                <a:gd name="T13" fmla="*/ 109 h 109"/>
                <a:gd name="T14" fmla="*/ 102 w 168"/>
                <a:gd name="T15" fmla="*/ 98 h 109"/>
                <a:gd name="T16" fmla="*/ 1 w 168"/>
                <a:gd name="T17" fmla="*/ 74 h 109"/>
                <a:gd name="T18" fmla="*/ 14 w 168"/>
                <a:gd name="T19"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 h="109">
                  <a:moveTo>
                    <a:pt x="14" y="0"/>
                  </a:moveTo>
                  <a:cubicBezTo>
                    <a:pt x="36" y="10"/>
                    <a:pt x="55" y="23"/>
                    <a:pt x="77" y="33"/>
                  </a:cubicBezTo>
                  <a:cubicBezTo>
                    <a:pt x="77" y="37"/>
                    <a:pt x="76" y="45"/>
                    <a:pt x="76" y="49"/>
                  </a:cubicBezTo>
                  <a:cubicBezTo>
                    <a:pt x="81" y="46"/>
                    <a:pt x="85" y="42"/>
                    <a:pt x="90" y="39"/>
                  </a:cubicBezTo>
                  <a:cubicBezTo>
                    <a:pt x="106" y="39"/>
                    <a:pt x="122" y="39"/>
                    <a:pt x="137" y="39"/>
                  </a:cubicBezTo>
                  <a:cubicBezTo>
                    <a:pt x="148" y="39"/>
                    <a:pt x="158" y="39"/>
                    <a:pt x="168" y="39"/>
                  </a:cubicBezTo>
                  <a:cubicBezTo>
                    <a:pt x="163" y="63"/>
                    <a:pt x="159" y="86"/>
                    <a:pt x="152" y="109"/>
                  </a:cubicBezTo>
                  <a:cubicBezTo>
                    <a:pt x="135" y="105"/>
                    <a:pt x="119" y="102"/>
                    <a:pt x="102" y="98"/>
                  </a:cubicBezTo>
                  <a:cubicBezTo>
                    <a:pt x="69" y="89"/>
                    <a:pt x="34" y="83"/>
                    <a:pt x="1" y="74"/>
                  </a:cubicBezTo>
                  <a:cubicBezTo>
                    <a:pt x="0" y="49"/>
                    <a:pt x="11" y="25"/>
                    <a:pt x="1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5" name="Line 9"/>
            <p:cNvSpPr>
              <a:spLocks noChangeShapeType="1"/>
            </p:cNvSpPr>
            <p:nvPr/>
          </p:nvSpPr>
          <p:spPr bwMode="auto">
            <a:xfrm>
              <a:off x="5586413" y="1933575"/>
              <a:ext cx="0" cy="0"/>
            </a:xfrm>
            <a:prstGeom prst="lin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6" name="Line 10"/>
            <p:cNvSpPr>
              <a:spLocks noChangeShapeType="1"/>
            </p:cNvSpPr>
            <p:nvPr/>
          </p:nvSpPr>
          <p:spPr bwMode="auto">
            <a:xfrm>
              <a:off x="5586413" y="1933575"/>
              <a:ext cx="0" cy="0"/>
            </a:xfrm>
            <a:prstGeom prst="lin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7" name="椭圆 26"/>
            <p:cNvSpPr/>
            <p:nvPr/>
          </p:nvSpPr>
          <p:spPr>
            <a:xfrm>
              <a:off x="4960144" y="969169"/>
              <a:ext cx="442912" cy="44291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6" name="组合 5"/>
          <p:cNvGrpSpPr/>
          <p:nvPr/>
        </p:nvGrpSpPr>
        <p:grpSpPr>
          <a:xfrm>
            <a:off x="0" y="4654550"/>
            <a:ext cx="5661025" cy="1195388"/>
            <a:chOff x="0" y="4654550"/>
            <a:chExt cx="5661025" cy="1195388"/>
          </a:xfrm>
        </p:grpSpPr>
        <p:sp>
          <p:nvSpPr>
            <p:cNvPr id="28" name="矩形 27"/>
            <p:cNvSpPr/>
            <p:nvPr/>
          </p:nvSpPr>
          <p:spPr>
            <a:xfrm>
              <a:off x="0" y="4654550"/>
              <a:ext cx="5661025" cy="119538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1" name="矩形 30"/>
            <p:cNvSpPr/>
            <p:nvPr/>
          </p:nvSpPr>
          <p:spPr>
            <a:xfrm>
              <a:off x="0" y="4741863"/>
              <a:ext cx="5661025" cy="1052512"/>
            </a:xfrm>
            <a:prstGeom prst="rect">
              <a:avLst/>
            </a:prstGeom>
          </p:spPr>
          <p:txBody>
            <a:bodyPr>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O1</a:t>
              </a:r>
              <a:endPar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调查研究</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7" name="组合 6"/>
          <p:cNvGrpSpPr/>
          <p:nvPr/>
        </p:nvGrpSpPr>
        <p:grpSpPr>
          <a:xfrm>
            <a:off x="2613025" y="3624263"/>
            <a:ext cx="5659438" cy="1071562"/>
            <a:chOff x="2613025" y="3624263"/>
            <a:chExt cx="5659438" cy="1071597"/>
          </a:xfrm>
        </p:grpSpPr>
        <p:sp>
          <p:nvSpPr>
            <p:cNvPr id="29" name="矩形 28"/>
            <p:cNvSpPr/>
            <p:nvPr/>
          </p:nvSpPr>
          <p:spPr>
            <a:xfrm>
              <a:off x="3033713" y="3624263"/>
              <a:ext cx="4818062" cy="1031909"/>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2" name="矩形 31"/>
            <p:cNvSpPr/>
            <p:nvPr/>
          </p:nvSpPr>
          <p:spPr>
            <a:xfrm>
              <a:off x="2613025" y="3643314"/>
              <a:ext cx="5659438" cy="1052546"/>
            </a:xfrm>
            <a:prstGeom prst="rect">
              <a:avLst/>
            </a:prstGeom>
          </p:spPr>
          <p:txBody>
            <a:bodyPr>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O2</a:t>
              </a:r>
              <a:endPar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拟定目标</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9" name="组合 8"/>
          <p:cNvGrpSpPr/>
          <p:nvPr/>
        </p:nvGrpSpPr>
        <p:grpSpPr>
          <a:xfrm>
            <a:off x="4195763" y="2593975"/>
            <a:ext cx="5661025" cy="1030288"/>
            <a:chOff x="4195763" y="2593975"/>
            <a:chExt cx="5661025" cy="1030288"/>
          </a:xfrm>
        </p:grpSpPr>
        <p:sp>
          <p:nvSpPr>
            <p:cNvPr id="30" name="矩形 29"/>
            <p:cNvSpPr/>
            <p:nvPr/>
          </p:nvSpPr>
          <p:spPr>
            <a:xfrm>
              <a:off x="4616450" y="2593975"/>
              <a:ext cx="4819650" cy="103028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3" name="矩形 32"/>
            <p:cNvSpPr/>
            <p:nvPr/>
          </p:nvSpPr>
          <p:spPr>
            <a:xfrm>
              <a:off x="4195763" y="2598738"/>
              <a:ext cx="5661025" cy="1006475"/>
            </a:xfrm>
            <a:prstGeom prst="rect">
              <a:avLst/>
            </a:prstGeom>
          </p:spPr>
          <p:txBody>
            <a:bodyPr>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O3</a:t>
              </a:r>
              <a:endPar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评价论证</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2" name="组合 11"/>
          <p:cNvGrpSpPr/>
          <p:nvPr/>
        </p:nvGrpSpPr>
        <p:grpSpPr>
          <a:xfrm>
            <a:off x="5632450" y="1562100"/>
            <a:ext cx="5659438" cy="1031875"/>
            <a:chOff x="5632450" y="1562100"/>
            <a:chExt cx="5659438" cy="1031875"/>
          </a:xfrm>
        </p:grpSpPr>
        <p:sp>
          <p:nvSpPr>
            <p:cNvPr id="34" name="矩形 33"/>
            <p:cNvSpPr/>
            <p:nvPr/>
          </p:nvSpPr>
          <p:spPr>
            <a:xfrm>
              <a:off x="6053138" y="1562100"/>
              <a:ext cx="4818062" cy="1031875"/>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5" name="矩形 34"/>
            <p:cNvSpPr/>
            <p:nvPr/>
          </p:nvSpPr>
          <p:spPr>
            <a:xfrm>
              <a:off x="5632450" y="1581150"/>
              <a:ext cx="5659438" cy="1006475"/>
            </a:xfrm>
            <a:prstGeom prst="rect">
              <a:avLst/>
            </a:prstGeom>
          </p:spPr>
          <p:txBody>
            <a:bodyPr>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STEP O4</a:t>
              </a:r>
              <a:endParaRPr kumimoji="0" lang="en-US" altLang="zh-CN"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目标决断</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52245" name="文本框 2"/>
          <p:cNvSpPr txBox="1"/>
          <p:nvPr/>
        </p:nvSpPr>
        <p:spPr>
          <a:xfrm>
            <a:off x="7156450" y="5302250"/>
            <a:ext cx="4845050" cy="706438"/>
          </a:xfrm>
          <a:prstGeom prst="rect">
            <a:avLst/>
          </a:prstGeom>
          <a:noFill/>
          <a:ln w="9525">
            <a:noFill/>
          </a:ln>
        </p:spPr>
        <p:txBody>
          <a:bodyPr anchor="t" anchorCtr="0">
            <a:spAutoFit/>
          </a:bodyPr>
          <a:p>
            <a:pPr marL="285750" indent="-285750" eaLnBrk="0" hangingPunct="0">
              <a:buFont typeface="Wingdings" panose="05000000000000000000" pitchFamily="2" charset="2"/>
              <a:buChar char="Ø"/>
            </a:pPr>
            <a:r>
              <a:rPr lang="zh-CN" altLang="en-US" sz="2000" dirty="0">
                <a:solidFill>
                  <a:srgbClr val="1570C1"/>
                </a:solidFill>
                <a:latin typeface="微软雅黑" panose="020B0503020204020204" pitchFamily="34" charset="-122"/>
                <a:ea typeface="微软雅黑" panose="020B0503020204020204" pitchFamily="34" charset="-122"/>
              </a:rPr>
              <a:t>实际上为了获得完善的战略目标，上述过程往往需要进行多次迭代</a:t>
            </a:r>
            <a:endParaRPr lang="zh-CN" altLang="en-US" sz="2000" dirty="0">
              <a:solidFill>
                <a:srgbClr val="1570C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5453063" y="6186488"/>
            <a:ext cx="6548438" cy="0"/>
          </a:xfrm>
          <a:prstGeom prst="line">
            <a:avLst/>
          </a:prstGeom>
          <a:ln>
            <a:solidFill>
              <a:srgbClr val="57CAF4"/>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85265" y="732790"/>
            <a:ext cx="9112250" cy="52050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14900"/>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36575"/>
            <a:ext cx="1495425"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3</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44900"/>
            <a:ext cx="85629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战略与企业社会责任 </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4914900"/>
            <a:ext cx="4879975"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3.1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企业社会责任的结构与内容</a:t>
            </a:r>
            <a:endPar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3.2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企业履践社会责任的意义</a:t>
            </a:r>
            <a:endPar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3.3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企业社会责任战略的对象</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3.4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战略性企业社会责任的特征</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3.5  </a:t>
            </a: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企业社会责任战略的形式</a:t>
            </a: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529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5530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55303"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3.1  </a:t>
            </a:r>
            <a:r>
              <a:rPr lang="zh-CN" altLang="en-US" sz="3200" dirty="0">
                <a:solidFill>
                  <a:srgbClr val="1570C1"/>
                </a:solidFill>
                <a:latin typeface="微软雅黑" panose="020B0503020204020204" pitchFamily="34" charset="-122"/>
                <a:ea typeface="微软雅黑" panose="020B0503020204020204" pitchFamily="34" charset="-122"/>
              </a:rPr>
              <a:t>企业社会责任的结构与内容</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3455988" y="1255713"/>
            <a:ext cx="5232400" cy="5246708"/>
            <a:chOff x="3981449" y="1264006"/>
            <a:chExt cx="4248805" cy="4260294"/>
          </a:xfrm>
        </p:grpSpPr>
        <p:grpSp>
          <p:nvGrpSpPr>
            <p:cNvPr id="55305" name="画布 454"/>
            <p:cNvGrpSpPr/>
            <p:nvPr/>
          </p:nvGrpSpPr>
          <p:grpSpPr>
            <a:xfrm>
              <a:off x="3981449" y="1264006"/>
              <a:ext cx="4248805" cy="3583198"/>
              <a:chOff x="1143000" y="99001"/>
              <a:chExt cx="2992575" cy="2476514"/>
            </a:xfrm>
          </p:grpSpPr>
          <p:sp>
            <p:nvSpPr>
              <p:cNvPr id="55306" name="自选图形 38"/>
              <p:cNvSpPr/>
              <p:nvPr/>
            </p:nvSpPr>
            <p:spPr>
              <a:xfrm>
                <a:off x="1143000" y="99001"/>
                <a:ext cx="2971800" cy="2476514"/>
              </a:xfrm>
              <a:prstGeom prst="triangle">
                <a:avLst>
                  <a:gd name="adj" fmla="val 50000"/>
                </a:avLst>
              </a:prstGeom>
              <a:solidFill>
                <a:srgbClr val="1570C1"/>
              </a:solidFill>
              <a:ln w="9525" cap="flat" cmpd="sng">
                <a:solidFill>
                  <a:srgbClr val="000000"/>
                </a:solidFill>
                <a:prstDash val="solid"/>
                <a:miter/>
                <a:headEnd type="none" w="med" len="med"/>
                <a:tailEnd type="none" w="med" len="med"/>
              </a:ln>
            </p:spPr>
            <p:txBody>
              <a:bodyPr anchor="t" anchorCtr="0"/>
              <a:p>
                <a:pPr eaLnBrk="0" hangingPunct="0"/>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55307" name="直线 39"/>
              <p:cNvCxnSpPr/>
              <p:nvPr/>
            </p:nvCxnSpPr>
            <p:spPr>
              <a:xfrm>
                <a:off x="1733500" y="1584909"/>
                <a:ext cx="1792600" cy="600"/>
              </a:xfrm>
              <a:prstGeom prst="line">
                <a:avLst/>
              </a:prstGeom>
              <a:ln w="9525" cap="flat" cmpd="sng">
                <a:solidFill>
                  <a:srgbClr val="000000"/>
                </a:solidFill>
                <a:prstDash val="solid"/>
                <a:round/>
                <a:headEnd type="none" w="med" len="med"/>
                <a:tailEnd type="none" w="med" len="med"/>
              </a:ln>
            </p:spPr>
          </p:cxnSp>
          <p:cxnSp>
            <p:nvCxnSpPr>
              <p:cNvPr id="55308" name="直线 40"/>
              <p:cNvCxnSpPr/>
              <p:nvPr/>
            </p:nvCxnSpPr>
            <p:spPr>
              <a:xfrm>
                <a:off x="1438200" y="2080212"/>
                <a:ext cx="2357800" cy="600"/>
              </a:xfrm>
              <a:prstGeom prst="line">
                <a:avLst/>
              </a:prstGeom>
              <a:ln w="9525" cap="flat" cmpd="sng">
                <a:solidFill>
                  <a:srgbClr val="000000"/>
                </a:solidFill>
                <a:prstDash val="solid"/>
                <a:round/>
                <a:headEnd type="none" w="med" len="med"/>
                <a:tailEnd type="none" w="med" len="med"/>
              </a:ln>
            </p:spPr>
          </p:cxnSp>
          <p:cxnSp>
            <p:nvCxnSpPr>
              <p:cNvPr id="55309" name="直线 41"/>
              <p:cNvCxnSpPr/>
              <p:nvPr/>
            </p:nvCxnSpPr>
            <p:spPr>
              <a:xfrm>
                <a:off x="2057400" y="1089606"/>
                <a:ext cx="1143000" cy="600"/>
              </a:xfrm>
              <a:prstGeom prst="line">
                <a:avLst/>
              </a:prstGeom>
              <a:ln w="9525" cap="flat" cmpd="sng">
                <a:solidFill>
                  <a:srgbClr val="000000"/>
                </a:solidFill>
                <a:prstDash val="solid"/>
                <a:round/>
                <a:headEnd type="none" w="med" len="med"/>
                <a:tailEnd type="none" w="med" len="med"/>
              </a:ln>
            </p:spPr>
          </p:cxnSp>
          <p:sp>
            <p:nvSpPr>
              <p:cNvPr id="55310" name="文本框 42"/>
              <p:cNvSpPr txBox="1"/>
              <p:nvPr/>
            </p:nvSpPr>
            <p:spPr>
              <a:xfrm>
                <a:off x="1839188" y="2240470"/>
                <a:ext cx="1600200" cy="323802"/>
              </a:xfrm>
              <a:prstGeom prst="rect">
                <a:avLst/>
              </a:prstGeom>
              <a:noFill/>
              <a:ln w="9525">
                <a:noFill/>
              </a:ln>
            </p:spPr>
            <p:txBody>
              <a:bodyPr anchor="t" anchorCtr="0"/>
              <a:p>
                <a:pPr algn="ctr" eaLnBrk="0" hangingPunct="0"/>
                <a:r>
                  <a:rPr lang="zh-CN" altLang="en-US" b="1" dirty="0">
                    <a:solidFill>
                      <a:schemeClr val="bg1"/>
                    </a:solidFill>
                    <a:latin typeface="微软雅黑" panose="020B0503020204020204" pitchFamily="34" charset="-122"/>
                    <a:ea typeface="微软雅黑" panose="020B0503020204020204" pitchFamily="34" charset="-122"/>
                  </a:rPr>
                  <a:t>经济责任，必须履行</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5311" name="文本框 43"/>
              <p:cNvSpPr txBox="1"/>
              <p:nvPr/>
            </p:nvSpPr>
            <p:spPr>
              <a:xfrm>
                <a:off x="1828800" y="1743134"/>
                <a:ext cx="1600200" cy="236691"/>
              </a:xfrm>
              <a:prstGeom prst="rect">
                <a:avLst/>
              </a:prstGeom>
              <a:noFill/>
              <a:ln w="9525">
                <a:noFill/>
              </a:ln>
            </p:spPr>
            <p:txBody>
              <a:bodyPr anchor="t" anchorCtr="0"/>
              <a:p>
                <a:pPr algn="ctr" eaLnBrk="0" hangingPunct="0"/>
                <a:r>
                  <a:rPr lang="zh-CN" altLang="en-US" b="1" dirty="0">
                    <a:solidFill>
                      <a:schemeClr val="bg1"/>
                    </a:solidFill>
                    <a:latin typeface="微软雅黑" panose="020B0503020204020204" pitchFamily="34" charset="-122"/>
                    <a:ea typeface="微软雅黑" panose="020B0503020204020204" pitchFamily="34" charset="-122"/>
                  </a:rPr>
                  <a:t>法律责任，不得不履行</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5312" name="文本框 44"/>
              <p:cNvSpPr txBox="1"/>
              <p:nvPr/>
            </p:nvSpPr>
            <p:spPr>
              <a:xfrm>
                <a:off x="1828800" y="1150764"/>
                <a:ext cx="1600200" cy="374530"/>
              </a:xfrm>
              <a:prstGeom prst="rect">
                <a:avLst/>
              </a:prstGeom>
              <a:solidFill>
                <a:srgbClr val="FFFFFF">
                  <a:alpha val="0"/>
                </a:srgbClr>
              </a:solidFill>
              <a:ln w="9525">
                <a:noFill/>
              </a:ln>
            </p:spPr>
            <p:txBody>
              <a:bodyPr anchor="t" anchorCtr="0"/>
              <a:p>
                <a:pPr algn="ctr" eaLnBrk="0" hangingPunct="0"/>
                <a:r>
                  <a:rPr lang="zh-CN" altLang="en-US" b="1" dirty="0">
                    <a:solidFill>
                      <a:schemeClr val="bg1"/>
                    </a:solidFill>
                    <a:latin typeface="微软雅黑" panose="020B0503020204020204" pitchFamily="34" charset="-122"/>
                    <a:ea typeface="微软雅黑" panose="020B0503020204020204" pitchFamily="34" charset="-122"/>
                  </a:rPr>
                  <a:t>道德责任</a:t>
                </a:r>
                <a:endParaRPr lang="zh-CN" altLang="en-US" b="1"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b="1" dirty="0">
                    <a:solidFill>
                      <a:schemeClr val="bg1"/>
                    </a:solidFill>
                    <a:latin typeface="微软雅黑" panose="020B0503020204020204" pitchFamily="34" charset="-122"/>
                    <a:ea typeface="微软雅黑" panose="020B0503020204020204" pitchFamily="34" charset="-122"/>
                  </a:rPr>
                  <a:t>应当履行</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5313" name="文本框 45"/>
              <p:cNvSpPr txBox="1"/>
              <p:nvPr/>
            </p:nvSpPr>
            <p:spPr>
              <a:xfrm>
                <a:off x="2257400" y="614689"/>
                <a:ext cx="733400" cy="472503"/>
              </a:xfrm>
              <a:prstGeom prst="rect">
                <a:avLst/>
              </a:prstGeom>
              <a:solidFill>
                <a:srgbClr val="FFFFFF">
                  <a:alpha val="0"/>
                </a:srgbClr>
              </a:solidFill>
              <a:ln w="9525">
                <a:noFill/>
              </a:ln>
            </p:spPr>
            <p:txBody>
              <a:bodyPr anchor="t" anchorCtr="0"/>
              <a:p>
                <a:pPr algn="ctr" eaLnBrk="0" hangingPunct="0"/>
                <a:r>
                  <a:rPr lang="zh-CN" altLang="en-US" b="1" dirty="0">
                    <a:solidFill>
                      <a:schemeClr val="bg1"/>
                    </a:solidFill>
                    <a:latin typeface="微软雅黑" panose="020B0503020204020204" pitchFamily="34" charset="-122"/>
                    <a:ea typeface="微软雅黑" panose="020B0503020204020204" pitchFamily="34" charset="-122"/>
                  </a:rPr>
                  <a:t>自愿责任可以履行</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55314" name="直线 46"/>
              <p:cNvCxnSpPr/>
              <p:nvPr/>
            </p:nvCxnSpPr>
            <p:spPr>
              <a:xfrm>
                <a:off x="3543300" y="1584909"/>
                <a:ext cx="457200" cy="600"/>
              </a:xfrm>
              <a:prstGeom prst="line">
                <a:avLst/>
              </a:prstGeom>
              <a:ln w="9525" cap="flat" cmpd="sng">
                <a:solidFill>
                  <a:srgbClr val="000000"/>
                </a:solidFill>
                <a:prstDash val="dash"/>
                <a:round/>
                <a:headEnd type="none" w="med" len="med"/>
                <a:tailEnd type="none" w="med" len="med"/>
              </a:ln>
            </p:spPr>
          </p:cxnSp>
          <p:cxnSp>
            <p:nvCxnSpPr>
              <p:cNvPr id="55315" name="直线 47"/>
              <p:cNvCxnSpPr/>
              <p:nvPr/>
            </p:nvCxnSpPr>
            <p:spPr>
              <a:xfrm>
                <a:off x="2628900" y="99001"/>
                <a:ext cx="1371600" cy="600"/>
              </a:xfrm>
              <a:prstGeom prst="line">
                <a:avLst/>
              </a:prstGeom>
              <a:ln w="9525" cap="flat" cmpd="sng">
                <a:solidFill>
                  <a:srgbClr val="000000"/>
                </a:solidFill>
                <a:prstDash val="dash"/>
                <a:round/>
                <a:headEnd type="none" w="med" len="med"/>
                <a:tailEnd type="none" w="med" len="med"/>
              </a:ln>
            </p:spPr>
          </p:cxnSp>
          <p:sp>
            <p:nvSpPr>
              <p:cNvPr id="55316" name="文本框 48"/>
              <p:cNvSpPr txBox="1"/>
              <p:nvPr/>
            </p:nvSpPr>
            <p:spPr>
              <a:xfrm>
                <a:off x="3868875" y="594902"/>
                <a:ext cx="266700" cy="565203"/>
              </a:xfrm>
              <a:prstGeom prst="rect">
                <a:avLst/>
              </a:prstGeom>
              <a:solidFill>
                <a:srgbClr val="00B0F0"/>
              </a:solidFill>
              <a:ln w="9525">
                <a:noFill/>
              </a:ln>
            </p:spPr>
            <p:txBody>
              <a:bodyPr vert="eaVert" anchor="t" anchorCtr="0"/>
              <a:p>
                <a:pPr algn="just" eaLnBrk="0" hangingPunct="0"/>
                <a:r>
                  <a:rPr lang="zh-CN" altLang="en-US" b="1" dirty="0">
                    <a:solidFill>
                      <a:schemeClr val="bg1"/>
                    </a:solidFill>
                    <a:latin typeface="微软雅黑" panose="020B0503020204020204" pitchFamily="34" charset="-122"/>
                    <a:ea typeface="微软雅黑" panose="020B0503020204020204" pitchFamily="34" charset="-122"/>
                  </a:rPr>
                  <a:t>社会责任</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55317" name="直线 49"/>
              <p:cNvCxnSpPr/>
              <p:nvPr/>
            </p:nvCxnSpPr>
            <p:spPr>
              <a:xfrm>
                <a:off x="4000500" y="1188707"/>
                <a:ext cx="600" cy="396202"/>
              </a:xfrm>
              <a:prstGeom prst="line">
                <a:avLst/>
              </a:prstGeom>
              <a:ln w="9525" cap="flat" cmpd="sng">
                <a:solidFill>
                  <a:srgbClr val="000000"/>
                </a:solidFill>
                <a:prstDash val="dash"/>
                <a:round/>
                <a:headEnd type="none" w="med" len="med"/>
                <a:tailEnd type="none" w="med" len="med"/>
              </a:ln>
            </p:spPr>
          </p:cxnSp>
          <p:cxnSp>
            <p:nvCxnSpPr>
              <p:cNvPr id="55318" name="直线 50"/>
              <p:cNvCxnSpPr/>
              <p:nvPr/>
            </p:nvCxnSpPr>
            <p:spPr>
              <a:xfrm>
                <a:off x="4000500" y="99001"/>
                <a:ext cx="600" cy="396302"/>
              </a:xfrm>
              <a:prstGeom prst="line">
                <a:avLst/>
              </a:prstGeom>
              <a:ln w="9525" cap="flat" cmpd="sng">
                <a:solidFill>
                  <a:srgbClr val="000000"/>
                </a:solidFill>
                <a:prstDash val="dash"/>
                <a:round/>
                <a:headEnd type="none" w="med" len="med"/>
                <a:tailEnd type="none" w="med" len="med"/>
              </a:ln>
            </p:spPr>
          </p:cxnSp>
        </p:grpSp>
        <p:sp>
          <p:nvSpPr>
            <p:cNvPr id="55319" name="矩形 3"/>
            <p:cNvSpPr/>
            <p:nvPr/>
          </p:nvSpPr>
          <p:spPr>
            <a:xfrm>
              <a:off x="4469956" y="4950419"/>
              <a:ext cx="3242292" cy="573881"/>
            </a:xfrm>
            <a:prstGeom prst="rect">
              <a:avLst/>
            </a:prstGeom>
            <a:noFill/>
            <a:ln w="9525">
              <a:noFill/>
            </a:ln>
          </p:spPr>
          <p:txBody>
            <a:bodyPr wrap="none" anchor="t" anchorCtr="0">
              <a:spAutoFit/>
            </a:bodyPr>
            <a:p>
              <a:pPr algn="ctr" eaLnBrk="0" hangingPunct="0"/>
              <a:r>
                <a:rPr lang="zh-CN" altLang="en-US" sz="2000" b="1" dirty="0">
                  <a:solidFill>
                    <a:srgbClr val="1570C1"/>
                  </a:solidFill>
                  <a:latin typeface="微软雅黑" panose="020B0503020204020204" pitchFamily="34" charset="-122"/>
                  <a:ea typeface="微软雅黑" panose="020B0503020204020204" pitchFamily="34" charset="-122"/>
                </a:rPr>
                <a:t>图</a:t>
              </a:r>
              <a:r>
                <a:rPr lang="en-US" altLang="zh-CN" sz="2000" b="1" dirty="0">
                  <a:solidFill>
                    <a:srgbClr val="1570C1"/>
                  </a:solidFill>
                  <a:latin typeface="微软雅黑" panose="020B0503020204020204" pitchFamily="34" charset="-122"/>
                  <a:ea typeface="微软雅黑" panose="020B0503020204020204" pitchFamily="34" charset="-122"/>
                </a:rPr>
                <a:t>1 </a:t>
              </a:r>
              <a:r>
                <a:rPr lang="zh-CN" altLang="en-US" sz="2000" b="1" dirty="0">
                  <a:solidFill>
                    <a:srgbClr val="1570C1"/>
                  </a:solidFill>
                  <a:latin typeface="微软雅黑" panose="020B0503020204020204" pitchFamily="34" charset="-122"/>
                  <a:ea typeface="微软雅黑" panose="020B0503020204020204" pitchFamily="34" charset="-122"/>
                </a:rPr>
                <a:t>企业应承担的四种责任</a:t>
              </a:r>
              <a:endParaRPr lang="zh-CN" altLang="en-US" sz="2000" b="1" dirty="0">
                <a:solidFill>
                  <a:srgbClr val="1570C1"/>
                </a:solidFill>
                <a:latin typeface="微软雅黑" panose="020B0503020204020204" pitchFamily="34" charset="-122"/>
                <a:ea typeface="微软雅黑" panose="020B0503020204020204" pitchFamily="34" charset="-122"/>
              </a:endParaRPr>
            </a:p>
            <a:p>
              <a:pPr algn="ctr" eaLnBrk="0" hangingPunct="0"/>
              <a:r>
                <a:rPr lang="zh-CN" altLang="en-US" sz="2000" b="1" dirty="0">
                  <a:solidFill>
                    <a:srgbClr val="1570C1"/>
                  </a:solidFill>
                  <a:latin typeface="微软雅黑" panose="020B0503020204020204" pitchFamily="34" charset="-122"/>
                  <a:ea typeface="微软雅黑" panose="020B0503020204020204" pitchFamily="34" charset="-122"/>
                </a:rPr>
                <a:t>（卡罗尔的企业社会责任金字塔）</a:t>
              </a:r>
              <a:endParaRPr lang="zh-CN" altLang="en-US" sz="2000" b="1" dirty="0">
                <a:solidFill>
                  <a:srgbClr val="1570C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734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5734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57351"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3.2  </a:t>
            </a:r>
            <a:r>
              <a:rPr lang="zh-CN" altLang="en-US" sz="3200" dirty="0">
                <a:solidFill>
                  <a:srgbClr val="1570C1"/>
                </a:solidFill>
                <a:latin typeface="微软雅黑" panose="020B0503020204020204" pitchFamily="34" charset="-122"/>
                <a:ea typeface="微软雅黑" panose="020B0503020204020204" pitchFamily="34" charset="-122"/>
              </a:rPr>
              <a:t>企业履践社会责任的意义</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2492375" y="1487488"/>
            <a:ext cx="6805613" cy="503237"/>
            <a:chOff x="2757271" y="2061784"/>
            <a:chExt cx="8674863" cy="1053562"/>
          </a:xfrm>
        </p:grpSpPr>
        <p:sp>
          <p:nvSpPr>
            <p:cNvPr id="12" name="矩形 11"/>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（一）</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长期利润极大化</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4" name="组合 13"/>
          <p:cNvGrpSpPr/>
          <p:nvPr/>
        </p:nvGrpSpPr>
        <p:grpSpPr>
          <a:xfrm>
            <a:off x="2492375" y="2168525"/>
            <a:ext cx="6805613" cy="503238"/>
            <a:chOff x="2757271" y="2061784"/>
            <a:chExt cx="8674863" cy="1053562"/>
          </a:xfrm>
        </p:grpSpPr>
        <p:sp>
          <p:nvSpPr>
            <p:cNvPr id="15" name="矩形 14"/>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（二）</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企业良好的公共形象</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9" name="组合 18"/>
          <p:cNvGrpSpPr/>
          <p:nvPr/>
        </p:nvGrpSpPr>
        <p:grpSpPr>
          <a:xfrm>
            <a:off x="2492375" y="4894263"/>
            <a:ext cx="6805613" cy="503237"/>
            <a:chOff x="2757271" y="2061784"/>
            <a:chExt cx="8674863" cy="1053562"/>
          </a:xfrm>
        </p:grpSpPr>
        <p:sp>
          <p:nvSpPr>
            <p:cNvPr id="20" name="矩形 19"/>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（六）</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1" name="矩形 20"/>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将社会问题变成利润来源</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2" name="组合 21"/>
          <p:cNvGrpSpPr/>
          <p:nvPr/>
        </p:nvGrpSpPr>
        <p:grpSpPr>
          <a:xfrm>
            <a:off x="2492375" y="2851150"/>
            <a:ext cx="6805613" cy="503238"/>
            <a:chOff x="2757271" y="2061784"/>
            <a:chExt cx="8674863" cy="1053562"/>
          </a:xfrm>
        </p:grpSpPr>
        <p:sp>
          <p:nvSpPr>
            <p:cNvPr id="23" name="矩形 22"/>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（三）</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企业持续生存与成长能力</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5" name="组合 24"/>
          <p:cNvGrpSpPr/>
          <p:nvPr/>
        </p:nvGrpSpPr>
        <p:grpSpPr>
          <a:xfrm>
            <a:off x="2492375" y="3532188"/>
            <a:ext cx="6805613" cy="503237"/>
            <a:chOff x="2757271" y="2061784"/>
            <a:chExt cx="8674863" cy="1053562"/>
          </a:xfrm>
        </p:grpSpPr>
        <p:sp>
          <p:nvSpPr>
            <p:cNvPr id="26" name="矩形 25"/>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（四）</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7" name="矩形 26"/>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避免政府的介入管制</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8" name="组合 27"/>
          <p:cNvGrpSpPr/>
          <p:nvPr/>
        </p:nvGrpSpPr>
        <p:grpSpPr>
          <a:xfrm>
            <a:off x="2492375" y="4213225"/>
            <a:ext cx="6805613" cy="503238"/>
            <a:chOff x="2757271" y="2061784"/>
            <a:chExt cx="8674863" cy="1053562"/>
          </a:xfrm>
        </p:grpSpPr>
        <p:sp>
          <p:nvSpPr>
            <p:cNvPr id="29" name="矩形 28"/>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（五）</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0" name="矩形 29"/>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为股东创造打开权利的新机会</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1" name="组合 30"/>
          <p:cNvGrpSpPr/>
          <p:nvPr/>
        </p:nvGrpSpPr>
        <p:grpSpPr>
          <a:xfrm>
            <a:off x="2492375" y="5575300"/>
            <a:ext cx="6805613" cy="503238"/>
            <a:chOff x="2757271" y="2061784"/>
            <a:chExt cx="8674863" cy="1053562"/>
          </a:xfrm>
        </p:grpSpPr>
        <p:sp>
          <p:nvSpPr>
            <p:cNvPr id="32" name="矩形 31"/>
            <p:cNvSpPr/>
            <p:nvPr/>
          </p:nvSpPr>
          <p:spPr>
            <a:xfrm>
              <a:off x="2757271" y="2061784"/>
              <a:ext cx="1264705" cy="105356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rPr>
                <a:t>（七）</a:t>
              </a:r>
              <a:endParaRPr kumimoji="0" lang="zh-CN" altLang="en-US" sz="2800" b="0" i="0" u="none" strike="noStrike" kern="1200" cap="none" spc="0" normalizeH="0" baseline="0" noProof="0" dirty="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33" name="矩形 32"/>
            <p:cNvSpPr/>
            <p:nvPr/>
          </p:nvSpPr>
          <p:spPr>
            <a:xfrm>
              <a:off x="4021976" y="2061784"/>
              <a:ext cx="7410158" cy="1053562"/>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预防胜于治疗</a:t>
              </a:r>
              <a:endParaRPr kumimoji="0" lang="zh-CN" altLang="en-US" sz="2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2"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righ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par>
                                <p:cTn id="14" presetID="22" presetClass="entr" presetSubtype="2"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right)">
                                      <p:cBhvr>
                                        <p:cTn id="16" dur="500"/>
                                        <p:tgtEl>
                                          <p:spTgt spid="25"/>
                                        </p:tgtEl>
                                      </p:cBhvr>
                                    </p:animEffect>
                                  </p:childTnLst>
                                </p:cTn>
                              </p:par>
                              <p:par>
                                <p:cTn id="17" presetID="2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par>
                                <p:cTn id="20" presetID="22" presetClass="entr" presetSubtype="2"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right)">
                                      <p:cBhvr>
                                        <p:cTn id="22" dur="500"/>
                                        <p:tgtEl>
                                          <p:spTgt spid="19"/>
                                        </p:tgtEl>
                                      </p:cBhvr>
                                    </p:animEffect>
                                  </p:childTnLst>
                                </p:cTn>
                              </p:par>
                              <p:par>
                                <p:cTn id="23" presetID="22" presetClass="entr" presetSubtype="8"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left)">
                                      <p:cBhvr>
                                        <p:cTn id="2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939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5939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59399"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3.3  </a:t>
            </a:r>
            <a:r>
              <a:rPr lang="zh-CN" altLang="en-US" sz="3200" dirty="0">
                <a:solidFill>
                  <a:srgbClr val="1570C1"/>
                </a:solidFill>
                <a:latin typeface="微软雅黑" panose="020B0503020204020204" pitchFamily="34" charset="-122"/>
                <a:ea typeface="微软雅黑" panose="020B0503020204020204" pitchFamily="34" charset="-122"/>
              </a:rPr>
              <a:t>企业社会责任战略的对象</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56" name="Oval 2"/>
          <p:cNvSpPr/>
          <p:nvPr/>
        </p:nvSpPr>
        <p:spPr bwMode="auto">
          <a:xfrm>
            <a:off x="3165475" y="2127250"/>
            <a:ext cx="2511425" cy="2513013"/>
          </a:xfrm>
          <a:prstGeom prst="ellipse">
            <a:avLst/>
          </a:prstGeom>
          <a:solidFill>
            <a:srgbClr val="00B0F0">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所有者和股东</a:t>
            </a:r>
            <a:endParaRPr kumimoji="0" lang="zh-CN" alt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3" name="Oval 47"/>
          <p:cNvSpPr/>
          <p:nvPr/>
        </p:nvSpPr>
        <p:spPr bwMode="auto">
          <a:xfrm>
            <a:off x="4795838" y="1006475"/>
            <a:ext cx="2513013" cy="2513013"/>
          </a:xfrm>
          <a:prstGeom prst="ellipse">
            <a:avLst/>
          </a:prstGeom>
          <a:solidFill>
            <a:srgbClr val="1570C1">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员工</a:t>
            </a:r>
            <a:endParaRPr kumimoji="0" lang="zh-CN" alt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0" name="Oval 49"/>
          <p:cNvSpPr/>
          <p:nvPr/>
        </p:nvSpPr>
        <p:spPr bwMode="auto">
          <a:xfrm>
            <a:off x="6559550" y="2127250"/>
            <a:ext cx="2511425" cy="2513013"/>
          </a:xfrm>
          <a:prstGeom prst="ellipse">
            <a:avLst/>
          </a:prstGeom>
          <a:solidFill>
            <a:srgbClr val="00B0F0">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顾客</a:t>
            </a:r>
            <a:endParaRPr kumimoji="0" lang="zh-CN" alt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7" name="Oval 50"/>
          <p:cNvSpPr/>
          <p:nvPr/>
        </p:nvSpPr>
        <p:spPr bwMode="auto">
          <a:xfrm>
            <a:off x="5940425" y="4014788"/>
            <a:ext cx="2511425" cy="2511425"/>
          </a:xfrm>
          <a:prstGeom prst="ellipse">
            <a:avLst/>
          </a:prstGeom>
          <a:solidFill>
            <a:srgbClr val="1570C1">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供应商</a:t>
            </a:r>
            <a:endParaRPr kumimoji="0" lang="zh-CN" alt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4" name="Oval 55"/>
          <p:cNvSpPr/>
          <p:nvPr/>
        </p:nvSpPr>
        <p:spPr bwMode="auto">
          <a:xfrm>
            <a:off x="3784600" y="3962400"/>
            <a:ext cx="2513013" cy="2513013"/>
          </a:xfrm>
          <a:prstGeom prst="ellipse">
            <a:avLst/>
          </a:prstGeom>
          <a:solidFill>
            <a:srgbClr val="1570C1">
              <a:alpha val="85000"/>
            </a:srgbClr>
          </a:solidFill>
          <a:ln w="25400" cap="flat" cmpd="sng" algn="ctr">
            <a:noFill/>
            <a:prstDash val="solid"/>
          </a:ln>
          <a:effec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社区、政府和环保组织</a:t>
            </a:r>
            <a:endParaRPr kumimoji="0" 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heel(1)">
                                      <p:cBhvr>
                                        <p:cTn id="7" dur="750"/>
                                        <p:tgtEl>
                                          <p:spTgt spid="56"/>
                                        </p:tgtEl>
                                      </p:cBhvr>
                                    </p:animEffect>
                                  </p:childTnLst>
                                </p:cTn>
                              </p:par>
                            </p:childTnLst>
                          </p:cTn>
                        </p:par>
                        <p:par>
                          <p:cTn id="8" fill="hold">
                            <p:stCondLst>
                              <p:cond delay="1000"/>
                            </p:stCondLst>
                            <p:childTnLst>
                              <p:par>
                                <p:cTn id="9" presetID="21" presetClass="entr" presetSubtype="1" fill="hold" grpId="0"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heel(1)">
                                      <p:cBhvr>
                                        <p:cTn id="11" dur="750"/>
                                        <p:tgtEl>
                                          <p:spTgt spid="53"/>
                                        </p:tgtEl>
                                      </p:cBhvr>
                                    </p:animEffect>
                                  </p:childTnLst>
                                </p:cTn>
                              </p:par>
                            </p:childTnLst>
                          </p:cTn>
                        </p:par>
                        <p:par>
                          <p:cTn id="12" fill="hold">
                            <p:stCondLst>
                              <p:cond delay="2000"/>
                            </p:stCondLst>
                            <p:childTnLst>
                              <p:par>
                                <p:cTn id="13" presetID="21" presetClass="entr" presetSubtype="1" fill="hold" grpId="0"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heel(1)">
                                      <p:cBhvr>
                                        <p:cTn id="15" dur="750"/>
                                        <p:tgtEl>
                                          <p:spTgt spid="50"/>
                                        </p:tgtEl>
                                      </p:cBhvr>
                                    </p:animEffect>
                                  </p:childTnLst>
                                </p:cTn>
                              </p:par>
                            </p:childTnLst>
                          </p:cTn>
                        </p:par>
                        <p:par>
                          <p:cTn id="16" fill="hold">
                            <p:stCondLst>
                              <p:cond delay="3000"/>
                            </p:stCondLst>
                            <p:childTnLst>
                              <p:par>
                                <p:cTn id="17" presetID="21" presetClass="entr" presetSubtype="1"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heel(1)">
                                      <p:cBhvr>
                                        <p:cTn id="19" dur="750"/>
                                        <p:tgtEl>
                                          <p:spTgt spid="47"/>
                                        </p:tgtEl>
                                      </p:cBhvr>
                                    </p:animEffect>
                                  </p:childTnLst>
                                </p:cTn>
                              </p:par>
                            </p:childTnLst>
                          </p:cTn>
                        </p:par>
                        <p:par>
                          <p:cTn id="20" fill="hold">
                            <p:stCondLst>
                              <p:cond delay="4000"/>
                            </p:stCondLst>
                            <p:childTnLst>
                              <p:par>
                                <p:cTn id="21" presetID="21" presetClass="entr" presetSubtype="1" fill="hold" grpId="0"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heel(1)">
                                      <p:cBhvr>
                                        <p:cTn id="23" dur="7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3" grpId="0" animBg="1"/>
      <p:bldP spid="50" grpId="0" animBg="1"/>
      <p:bldP spid="47" grpId="0" animBg="1"/>
      <p:bldP spid="4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41" name="图片 1"/>
          <p:cNvPicPr>
            <a:picLocks noChangeAspect="1"/>
          </p:cNvPicPr>
          <p:nvPr/>
        </p:nvPicPr>
        <p:blipFill>
          <a:blip r:embed="rId1"/>
          <a:stretch>
            <a:fillRect/>
          </a:stretch>
        </p:blipFill>
        <p:spPr>
          <a:xfrm>
            <a:off x="1555750" y="225425"/>
            <a:ext cx="9588500" cy="640715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949450" y="300355"/>
            <a:ext cx="8293100" cy="612838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246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6246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62471"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3.4  </a:t>
            </a:r>
            <a:r>
              <a:rPr lang="zh-CN" altLang="en-US" sz="3200" dirty="0">
                <a:solidFill>
                  <a:srgbClr val="1570C1"/>
                </a:solidFill>
                <a:latin typeface="微软雅黑" panose="020B0503020204020204" pitchFamily="34" charset="-122"/>
                <a:ea typeface="微软雅黑" panose="020B0503020204020204" pitchFamily="34" charset="-122"/>
              </a:rPr>
              <a:t>战略性企业社会责任的特征</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6642100" y="2379663"/>
            <a:ext cx="1657350" cy="1657350"/>
            <a:chOff x="6641754" y="2380455"/>
            <a:chExt cx="1657350" cy="1657350"/>
          </a:xfrm>
        </p:grpSpPr>
        <p:sp>
          <p:nvSpPr>
            <p:cNvPr id="12" name="泪滴形 11"/>
            <p:cNvSpPr/>
            <p:nvPr/>
          </p:nvSpPr>
          <p:spPr>
            <a:xfrm rot="8100000">
              <a:off x="6641754" y="2380455"/>
              <a:ext cx="1657350" cy="1657350"/>
            </a:xfrm>
            <a:prstGeom prst="teardrop">
              <a:avLst/>
            </a:prstGeom>
            <a:solidFill>
              <a:srgbClr val="1570C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2474" name="矩形 2"/>
            <p:cNvSpPr/>
            <p:nvPr/>
          </p:nvSpPr>
          <p:spPr>
            <a:xfrm>
              <a:off x="6839486" y="2732074"/>
              <a:ext cx="1261885" cy="954107"/>
            </a:xfrm>
            <a:prstGeom prst="rect">
              <a:avLst/>
            </a:prstGeom>
            <a:noFill/>
            <a:ln w="9525">
              <a:noFill/>
            </a:ln>
          </p:spPr>
          <p:txBody>
            <a:bodyPr wrap="none" anchor="t" anchorCtr="0">
              <a:spAutoFit/>
            </a:bodyPr>
            <a:p>
              <a:pPr algn="ctr" eaLnBrk="0" hangingPunct="0"/>
              <a:r>
                <a:rPr lang="zh-CN" altLang="en-US" sz="2800" dirty="0">
                  <a:solidFill>
                    <a:schemeClr val="bg1"/>
                  </a:solidFill>
                  <a:latin typeface="微软雅黑" panose="020B0503020204020204" pitchFamily="34" charset="-122"/>
                  <a:ea typeface="微软雅黑" panose="020B0503020204020204" pitchFamily="34" charset="-122"/>
                </a:rPr>
                <a:t>超前</a:t>
              </a:r>
              <a:endParaRPr lang="en-US" altLang="zh-CN" sz="2800"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800" dirty="0">
                  <a:solidFill>
                    <a:schemeClr val="bg1"/>
                  </a:solidFill>
                  <a:latin typeface="微软雅黑" panose="020B0503020204020204" pitchFamily="34" charset="-122"/>
                  <a:ea typeface="微软雅黑" panose="020B0503020204020204" pitchFamily="34" charset="-122"/>
                </a:rPr>
                <a:t>反应性</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211263" y="2379663"/>
            <a:ext cx="1657350" cy="1657350"/>
            <a:chOff x="1210916" y="2380455"/>
            <a:chExt cx="1657350" cy="1657350"/>
          </a:xfrm>
        </p:grpSpPr>
        <p:sp>
          <p:nvSpPr>
            <p:cNvPr id="10" name="泪滴形 9"/>
            <p:cNvSpPr/>
            <p:nvPr/>
          </p:nvSpPr>
          <p:spPr>
            <a:xfrm rot="8100000">
              <a:off x="1210916" y="2380455"/>
              <a:ext cx="1657350" cy="1657350"/>
            </a:xfrm>
            <a:prstGeom prst="teardrop">
              <a:avLst/>
            </a:prstGeom>
            <a:solidFill>
              <a:srgbClr val="1570C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2477" name="矩形 20"/>
            <p:cNvSpPr/>
            <p:nvPr/>
          </p:nvSpPr>
          <p:spPr>
            <a:xfrm>
              <a:off x="1408649" y="2947518"/>
              <a:ext cx="1261884" cy="523220"/>
            </a:xfrm>
            <a:prstGeom prst="rect">
              <a:avLst/>
            </a:prstGeom>
            <a:noFill/>
            <a:ln w="9525">
              <a:noFill/>
            </a:ln>
          </p:spPr>
          <p:txBody>
            <a:bodyPr wrap="none" anchor="t" anchorCtr="0">
              <a:spAutoFit/>
            </a:bodyPr>
            <a:p>
              <a:pPr algn="ctr" eaLnBrk="0" hangingPunct="0"/>
              <a:r>
                <a:rPr lang="zh-CN" altLang="en-US" sz="2800" dirty="0">
                  <a:solidFill>
                    <a:schemeClr val="bg1"/>
                  </a:solidFill>
                  <a:latin typeface="微软雅黑" panose="020B0503020204020204" pitchFamily="34" charset="-122"/>
                  <a:ea typeface="微软雅黑" panose="020B0503020204020204" pitchFamily="34" charset="-122"/>
                </a:rPr>
                <a:t>向心性</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3927475" y="2379663"/>
            <a:ext cx="1657350" cy="1657350"/>
            <a:chOff x="3927129" y="2380455"/>
            <a:chExt cx="1657350" cy="1657350"/>
          </a:xfrm>
        </p:grpSpPr>
        <p:sp>
          <p:nvSpPr>
            <p:cNvPr id="11" name="泪滴形 10"/>
            <p:cNvSpPr/>
            <p:nvPr/>
          </p:nvSpPr>
          <p:spPr>
            <a:xfrm rot="8100000">
              <a:off x="3927129" y="2380455"/>
              <a:ext cx="1657350" cy="1657350"/>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480" name="矩形 23"/>
            <p:cNvSpPr/>
            <p:nvPr/>
          </p:nvSpPr>
          <p:spPr>
            <a:xfrm>
              <a:off x="4135189" y="2947518"/>
              <a:ext cx="1261885" cy="523220"/>
            </a:xfrm>
            <a:prstGeom prst="rect">
              <a:avLst/>
            </a:prstGeom>
            <a:noFill/>
            <a:ln w="9525">
              <a:noFill/>
            </a:ln>
          </p:spPr>
          <p:txBody>
            <a:bodyPr wrap="none" anchor="t" anchorCtr="0">
              <a:spAutoFit/>
            </a:bodyPr>
            <a:p>
              <a:pPr algn="ctr" eaLnBrk="0" hangingPunct="0"/>
              <a:r>
                <a:rPr lang="zh-CN" altLang="en-US" sz="2800" dirty="0">
                  <a:solidFill>
                    <a:schemeClr val="bg1"/>
                  </a:solidFill>
                  <a:latin typeface="微软雅黑" panose="020B0503020204020204" pitchFamily="34" charset="-122"/>
                  <a:ea typeface="微软雅黑" panose="020B0503020204020204" pitchFamily="34" charset="-122"/>
                </a:rPr>
                <a:t>专属性</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9358313" y="2379663"/>
            <a:ext cx="1657350" cy="1657350"/>
            <a:chOff x="9357966" y="2380455"/>
            <a:chExt cx="1657350" cy="1657350"/>
          </a:xfrm>
        </p:grpSpPr>
        <p:sp>
          <p:nvSpPr>
            <p:cNvPr id="13" name="泪滴形 12"/>
            <p:cNvSpPr/>
            <p:nvPr/>
          </p:nvSpPr>
          <p:spPr>
            <a:xfrm rot="8100000">
              <a:off x="9357966" y="2380455"/>
              <a:ext cx="1657350" cy="1657350"/>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483" name="矩形 24"/>
            <p:cNvSpPr/>
            <p:nvPr/>
          </p:nvSpPr>
          <p:spPr>
            <a:xfrm>
              <a:off x="9555698" y="2947518"/>
              <a:ext cx="1261885" cy="523220"/>
            </a:xfrm>
            <a:prstGeom prst="rect">
              <a:avLst/>
            </a:prstGeom>
            <a:noFill/>
            <a:ln w="9525">
              <a:noFill/>
            </a:ln>
          </p:spPr>
          <p:txBody>
            <a:bodyPr wrap="none" anchor="t" anchorCtr="0">
              <a:spAutoFit/>
            </a:bodyPr>
            <a:p>
              <a:pPr algn="ctr" eaLnBrk="0" hangingPunct="0"/>
              <a:r>
                <a:rPr lang="zh-CN" altLang="en-US" sz="2800" dirty="0">
                  <a:solidFill>
                    <a:schemeClr val="bg1"/>
                  </a:solidFill>
                  <a:latin typeface="微软雅黑" panose="020B0503020204020204" pitchFamily="34" charset="-122"/>
                  <a:ea typeface="微软雅黑" panose="020B0503020204020204" pitchFamily="34" charset="-122"/>
                </a:rPr>
                <a:t>可见性</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3784600" y="3829050"/>
            <a:ext cx="2190750" cy="2179638"/>
            <a:chOff x="3783882" y="3828331"/>
            <a:chExt cx="2190983" cy="2180356"/>
          </a:xfrm>
        </p:grpSpPr>
        <p:sp>
          <p:nvSpPr>
            <p:cNvPr id="14" name="Freeform 8"/>
            <p:cNvSpPr/>
            <p:nvPr/>
          </p:nvSpPr>
          <p:spPr bwMode="auto">
            <a:xfrm>
              <a:off x="3783882" y="3828331"/>
              <a:ext cx="2190983" cy="2180356"/>
            </a:xfrm>
            <a:custGeom>
              <a:avLst/>
              <a:gdLst>
                <a:gd name="T0" fmla="*/ 0 w 87"/>
                <a:gd name="T1" fmla="*/ 87 h 87"/>
                <a:gd name="T2" fmla="*/ 0 w 87"/>
                <a:gd name="T3" fmla="*/ 23 h 87"/>
                <a:gd name="T4" fmla="*/ 23 w 87"/>
                <a:gd name="T5" fmla="*/ 0 h 87"/>
                <a:gd name="T6" fmla="*/ 87 w 87"/>
                <a:gd name="T7" fmla="*/ 0 h 87"/>
                <a:gd name="T8" fmla="*/ 87 w 87"/>
                <a:gd name="T9" fmla="*/ 64 h 87"/>
                <a:gd name="T10" fmla="*/ 64 w 87"/>
                <a:gd name="T11" fmla="*/ 87 h 87"/>
                <a:gd name="T12" fmla="*/ 0 w 87"/>
                <a:gd name="T13" fmla="*/ 87 h 87"/>
              </a:gdLst>
              <a:ahLst/>
              <a:cxnLst>
                <a:cxn ang="0">
                  <a:pos x="T0" y="T1"/>
                </a:cxn>
                <a:cxn ang="0">
                  <a:pos x="T2" y="T3"/>
                </a:cxn>
                <a:cxn ang="0">
                  <a:pos x="T4" y="T5"/>
                </a:cxn>
                <a:cxn ang="0">
                  <a:pos x="T6" y="T7"/>
                </a:cxn>
                <a:cxn ang="0">
                  <a:pos x="T8" y="T9"/>
                </a:cxn>
                <a:cxn ang="0">
                  <a:pos x="T10" y="T11"/>
                </a:cxn>
                <a:cxn ang="0">
                  <a:pos x="T12" y="T13"/>
                </a:cxn>
              </a:cxnLst>
              <a:rect l="0" t="0" r="r" b="b"/>
              <a:pathLst>
                <a:path w="87" h="87">
                  <a:moveTo>
                    <a:pt x="0" y="87"/>
                  </a:moveTo>
                  <a:cubicBezTo>
                    <a:pt x="0" y="23"/>
                    <a:pt x="0" y="23"/>
                    <a:pt x="0" y="23"/>
                  </a:cubicBezTo>
                  <a:cubicBezTo>
                    <a:pt x="0" y="10"/>
                    <a:pt x="10" y="0"/>
                    <a:pt x="23" y="0"/>
                  </a:cubicBezTo>
                  <a:cubicBezTo>
                    <a:pt x="87" y="0"/>
                    <a:pt x="87" y="0"/>
                    <a:pt x="87" y="0"/>
                  </a:cubicBezTo>
                  <a:cubicBezTo>
                    <a:pt x="87" y="64"/>
                    <a:pt x="87" y="64"/>
                    <a:pt x="87" y="64"/>
                  </a:cubicBezTo>
                  <a:cubicBezTo>
                    <a:pt x="87" y="76"/>
                    <a:pt x="77" y="87"/>
                    <a:pt x="64" y="87"/>
                  </a:cubicBezTo>
                  <a:lnTo>
                    <a:pt x="0" y="87"/>
                  </a:lnTo>
                  <a:close/>
                </a:path>
              </a:pathLst>
            </a:cu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515" name="矩形 53"/>
            <p:cNvSpPr/>
            <p:nvPr/>
          </p:nvSpPr>
          <p:spPr>
            <a:xfrm>
              <a:off x="4017597" y="4852159"/>
              <a:ext cx="1723549" cy="461665"/>
            </a:xfrm>
            <a:prstGeom prst="rect">
              <a:avLst/>
            </a:prstGeom>
            <a:noFill/>
            <a:ln w="9525">
              <a:noFill/>
            </a:ln>
          </p:spPr>
          <p:txBody>
            <a:bodyPr wrap="none" anchor="t" anchorCtr="0">
              <a:spAutoFit/>
            </a:bodyPr>
            <a:p>
              <a:pPr eaLnBrk="0" hangingPunct="0"/>
              <a:r>
                <a:rPr lang="zh-CN" altLang="en-US" sz="2400" dirty="0">
                  <a:solidFill>
                    <a:schemeClr val="bg1"/>
                  </a:solidFill>
                  <a:latin typeface="微软雅黑" panose="020B0503020204020204" pitchFamily="34" charset="-122"/>
                  <a:ea typeface="微软雅黑" panose="020B0503020204020204" pitchFamily="34" charset="-122"/>
                </a:rPr>
                <a:t>预见型战略</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6069013" y="1563688"/>
            <a:ext cx="2160587" cy="2160587"/>
            <a:chOff x="6068369" y="1562970"/>
            <a:chExt cx="2161230" cy="2161231"/>
          </a:xfrm>
        </p:grpSpPr>
        <p:sp>
          <p:nvSpPr>
            <p:cNvPr id="11" name="Freeform 5"/>
            <p:cNvSpPr/>
            <p:nvPr/>
          </p:nvSpPr>
          <p:spPr bwMode="auto">
            <a:xfrm>
              <a:off x="6068369" y="1562970"/>
              <a:ext cx="2161230" cy="2161231"/>
            </a:xfrm>
            <a:custGeom>
              <a:avLst/>
              <a:gdLst>
                <a:gd name="T0" fmla="*/ 0 w 86"/>
                <a:gd name="T1" fmla="*/ 86 h 86"/>
                <a:gd name="T2" fmla="*/ 0 w 86"/>
                <a:gd name="T3" fmla="*/ 22 h 86"/>
                <a:gd name="T4" fmla="*/ 23 w 86"/>
                <a:gd name="T5" fmla="*/ 0 h 86"/>
                <a:gd name="T6" fmla="*/ 86 w 86"/>
                <a:gd name="T7" fmla="*/ 0 h 86"/>
                <a:gd name="T8" fmla="*/ 86 w 86"/>
                <a:gd name="T9" fmla="*/ 63 h 86"/>
                <a:gd name="T10" fmla="*/ 64 w 86"/>
                <a:gd name="T11" fmla="*/ 86 h 86"/>
                <a:gd name="T12" fmla="*/ 0 w 86"/>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6" h="86">
                  <a:moveTo>
                    <a:pt x="0" y="86"/>
                  </a:moveTo>
                  <a:cubicBezTo>
                    <a:pt x="0" y="22"/>
                    <a:pt x="0" y="22"/>
                    <a:pt x="0" y="22"/>
                  </a:cubicBezTo>
                  <a:cubicBezTo>
                    <a:pt x="0" y="10"/>
                    <a:pt x="10" y="0"/>
                    <a:pt x="23" y="0"/>
                  </a:cubicBezTo>
                  <a:cubicBezTo>
                    <a:pt x="86" y="0"/>
                    <a:pt x="86" y="0"/>
                    <a:pt x="86" y="0"/>
                  </a:cubicBezTo>
                  <a:cubicBezTo>
                    <a:pt x="86" y="63"/>
                    <a:pt x="86" y="63"/>
                    <a:pt x="86" y="63"/>
                  </a:cubicBezTo>
                  <a:cubicBezTo>
                    <a:pt x="86" y="76"/>
                    <a:pt x="76" y="86"/>
                    <a:pt x="64" y="86"/>
                  </a:cubicBezTo>
                  <a:lnTo>
                    <a:pt x="0" y="86"/>
                  </a:lnTo>
                  <a:close/>
                </a:path>
              </a:pathLst>
            </a:cu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518" name="矩形 51"/>
            <p:cNvSpPr/>
            <p:nvPr/>
          </p:nvSpPr>
          <p:spPr>
            <a:xfrm>
              <a:off x="6295599" y="2244352"/>
              <a:ext cx="1707388" cy="460512"/>
            </a:xfrm>
            <a:prstGeom prst="rect">
              <a:avLst/>
            </a:prstGeom>
            <a:noFill/>
            <a:ln w="9525">
              <a:noFill/>
            </a:ln>
          </p:spPr>
          <p:txBody>
            <a:bodyPr wrap="none" anchor="t" anchorCtr="0">
              <a:spAutoFit/>
            </a:bodyPr>
            <a:p>
              <a:pPr eaLnBrk="0" hangingPunct="0"/>
              <a:r>
                <a:rPr lang="zh-CN" altLang="en-US" sz="2400" dirty="0">
                  <a:solidFill>
                    <a:schemeClr val="bg1"/>
                  </a:solidFill>
                  <a:latin typeface="微软雅黑" panose="020B0503020204020204" pitchFamily="34" charset="-122"/>
                  <a:ea typeface="微软雅黑" panose="020B0503020204020204" pitchFamily="34" charset="-122"/>
                </a:rPr>
                <a:t>抵御型战略</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6069013" y="3829050"/>
            <a:ext cx="2160587" cy="2179638"/>
            <a:chOff x="6068369" y="3828331"/>
            <a:chExt cx="2161230" cy="2180356"/>
          </a:xfrm>
        </p:grpSpPr>
        <p:sp>
          <p:nvSpPr>
            <p:cNvPr id="13" name="Freeform 7"/>
            <p:cNvSpPr/>
            <p:nvPr/>
          </p:nvSpPr>
          <p:spPr bwMode="auto">
            <a:xfrm>
              <a:off x="6068369" y="3828331"/>
              <a:ext cx="2161230" cy="2180356"/>
            </a:xfrm>
            <a:custGeom>
              <a:avLst/>
              <a:gdLst>
                <a:gd name="T0" fmla="*/ 86 w 86"/>
                <a:gd name="T1" fmla="*/ 87 h 87"/>
                <a:gd name="T2" fmla="*/ 23 w 86"/>
                <a:gd name="T3" fmla="*/ 87 h 87"/>
                <a:gd name="T4" fmla="*/ 0 w 86"/>
                <a:gd name="T5" fmla="*/ 64 h 87"/>
                <a:gd name="T6" fmla="*/ 0 w 86"/>
                <a:gd name="T7" fmla="*/ 0 h 87"/>
                <a:gd name="T8" fmla="*/ 64 w 86"/>
                <a:gd name="T9" fmla="*/ 0 h 87"/>
                <a:gd name="T10" fmla="*/ 86 w 86"/>
                <a:gd name="T11" fmla="*/ 23 h 87"/>
                <a:gd name="T12" fmla="*/ 86 w 86"/>
                <a:gd name="T13" fmla="*/ 87 h 87"/>
              </a:gdLst>
              <a:ahLst/>
              <a:cxnLst>
                <a:cxn ang="0">
                  <a:pos x="T0" y="T1"/>
                </a:cxn>
                <a:cxn ang="0">
                  <a:pos x="T2" y="T3"/>
                </a:cxn>
                <a:cxn ang="0">
                  <a:pos x="T4" y="T5"/>
                </a:cxn>
                <a:cxn ang="0">
                  <a:pos x="T6" y="T7"/>
                </a:cxn>
                <a:cxn ang="0">
                  <a:pos x="T8" y="T9"/>
                </a:cxn>
                <a:cxn ang="0">
                  <a:pos x="T10" y="T11"/>
                </a:cxn>
                <a:cxn ang="0">
                  <a:pos x="T12" y="T13"/>
                </a:cxn>
              </a:cxnLst>
              <a:rect l="0" t="0" r="r" b="b"/>
              <a:pathLst>
                <a:path w="86" h="87">
                  <a:moveTo>
                    <a:pt x="86" y="87"/>
                  </a:moveTo>
                  <a:cubicBezTo>
                    <a:pt x="23" y="87"/>
                    <a:pt x="23" y="87"/>
                    <a:pt x="23" y="87"/>
                  </a:cubicBezTo>
                  <a:cubicBezTo>
                    <a:pt x="10" y="87"/>
                    <a:pt x="0" y="76"/>
                    <a:pt x="0" y="64"/>
                  </a:cubicBezTo>
                  <a:cubicBezTo>
                    <a:pt x="0" y="0"/>
                    <a:pt x="0" y="0"/>
                    <a:pt x="0" y="0"/>
                  </a:cubicBezTo>
                  <a:cubicBezTo>
                    <a:pt x="64" y="0"/>
                    <a:pt x="64" y="0"/>
                    <a:pt x="64" y="0"/>
                  </a:cubicBezTo>
                  <a:cubicBezTo>
                    <a:pt x="76" y="0"/>
                    <a:pt x="86" y="10"/>
                    <a:pt x="86" y="23"/>
                  </a:cubicBezTo>
                  <a:lnTo>
                    <a:pt x="86" y="87"/>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521" name="矩形 52"/>
            <p:cNvSpPr/>
            <p:nvPr/>
          </p:nvSpPr>
          <p:spPr>
            <a:xfrm>
              <a:off x="6295229" y="4853313"/>
              <a:ext cx="1707388" cy="460527"/>
            </a:xfrm>
            <a:prstGeom prst="rect">
              <a:avLst/>
            </a:prstGeom>
            <a:noFill/>
            <a:ln w="9525">
              <a:noFill/>
            </a:ln>
          </p:spPr>
          <p:txBody>
            <a:bodyPr wrap="none" anchor="t" anchorCtr="0">
              <a:spAutoFit/>
            </a:bodyPr>
            <a:p>
              <a:pPr eaLnBrk="0" hangingPunct="0"/>
              <a:r>
                <a:rPr lang="zh-CN" altLang="en-US" sz="2400" dirty="0">
                  <a:solidFill>
                    <a:schemeClr val="bg1"/>
                  </a:solidFill>
                  <a:latin typeface="微软雅黑" panose="020B0503020204020204" pitchFamily="34" charset="-122"/>
                  <a:ea typeface="微软雅黑" panose="020B0503020204020204" pitchFamily="34" charset="-122"/>
                </a:rPr>
                <a:t>适应型战略</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3784600" y="1563688"/>
            <a:ext cx="2190750" cy="2160587"/>
            <a:chOff x="3783882" y="1562970"/>
            <a:chExt cx="2190983" cy="2161231"/>
          </a:xfrm>
        </p:grpSpPr>
        <p:sp>
          <p:nvSpPr>
            <p:cNvPr id="12" name="Freeform 6"/>
            <p:cNvSpPr/>
            <p:nvPr/>
          </p:nvSpPr>
          <p:spPr bwMode="auto">
            <a:xfrm>
              <a:off x="3783882" y="1562970"/>
              <a:ext cx="2190983" cy="2161231"/>
            </a:xfrm>
            <a:custGeom>
              <a:avLst/>
              <a:gdLst>
                <a:gd name="T0" fmla="*/ 87 w 87"/>
                <a:gd name="T1" fmla="*/ 86 h 86"/>
                <a:gd name="T2" fmla="*/ 23 w 87"/>
                <a:gd name="T3" fmla="*/ 86 h 86"/>
                <a:gd name="T4" fmla="*/ 0 w 87"/>
                <a:gd name="T5" fmla="*/ 63 h 86"/>
                <a:gd name="T6" fmla="*/ 0 w 87"/>
                <a:gd name="T7" fmla="*/ 0 h 86"/>
                <a:gd name="T8" fmla="*/ 64 w 87"/>
                <a:gd name="T9" fmla="*/ 0 h 86"/>
                <a:gd name="T10" fmla="*/ 87 w 87"/>
                <a:gd name="T11" fmla="*/ 22 h 86"/>
                <a:gd name="T12" fmla="*/ 87 w 87"/>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7" h="86">
                  <a:moveTo>
                    <a:pt x="87" y="86"/>
                  </a:moveTo>
                  <a:cubicBezTo>
                    <a:pt x="23" y="86"/>
                    <a:pt x="23" y="86"/>
                    <a:pt x="23" y="86"/>
                  </a:cubicBezTo>
                  <a:cubicBezTo>
                    <a:pt x="10" y="86"/>
                    <a:pt x="0" y="76"/>
                    <a:pt x="0" y="63"/>
                  </a:cubicBezTo>
                  <a:cubicBezTo>
                    <a:pt x="0" y="0"/>
                    <a:pt x="0" y="0"/>
                    <a:pt x="0" y="0"/>
                  </a:cubicBezTo>
                  <a:cubicBezTo>
                    <a:pt x="64" y="0"/>
                    <a:pt x="64" y="0"/>
                    <a:pt x="64" y="0"/>
                  </a:cubicBezTo>
                  <a:cubicBezTo>
                    <a:pt x="77" y="0"/>
                    <a:pt x="87" y="10"/>
                    <a:pt x="87" y="22"/>
                  </a:cubicBezTo>
                  <a:lnTo>
                    <a:pt x="87" y="86"/>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524" name="矩形 4"/>
            <p:cNvSpPr/>
            <p:nvPr/>
          </p:nvSpPr>
          <p:spPr>
            <a:xfrm>
              <a:off x="3873236" y="2244353"/>
              <a:ext cx="2011894" cy="460512"/>
            </a:xfrm>
            <a:prstGeom prst="rect">
              <a:avLst/>
            </a:prstGeom>
            <a:noFill/>
            <a:ln w="9525">
              <a:noFill/>
            </a:ln>
          </p:spPr>
          <p:txBody>
            <a:bodyPr wrap="none" anchor="t" anchorCtr="0">
              <a:spAutoFit/>
            </a:bodyPr>
            <a:p>
              <a:pPr eaLnBrk="0" hangingPunct="0"/>
              <a:r>
                <a:rPr lang="zh-CN" altLang="en-US" sz="2400" dirty="0">
                  <a:solidFill>
                    <a:schemeClr val="bg1"/>
                  </a:solidFill>
                  <a:latin typeface="微软雅黑" panose="020B0503020204020204" pitchFamily="34" charset="-122"/>
                  <a:ea typeface="微软雅黑" panose="020B0503020204020204" pitchFamily="34" charset="-122"/>
                </a:rPr>
                <a:t>消极反应战略</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6452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6452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64531" name="文本框 17"/>
          <p:cNvSpPr txBox="1"/>
          <p:nvPr/>
        </p:nvSpPr>
        <p:spPr>
          <a:xfrm>
            <a:off x="425450" y="425450"/>
            <a:ext cx="6059488"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3.5  </a:t>
            </a:r>
            <a:r>
              <a:rPr lang="zh-CN" altLang="en-US" sz="3200" dirty="0">
                <a:solidFill>
                  <a:srgbClr val="1570C1"/>
                </a:solidFill>
                <a:latin typeface="微软雅黑" panose="020B0503020204020204" pitchFamily="34" charset="-122"/>
                <a:ea typeface="微软雅黑" panose="020B0503020204020204" pitchFamily="34" charset="-122"/>
              </a:rPr>
              <a:t>企业社会责任战略的形式</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5" name="Oval 9"/>
          <p:cNvSpPr>
            <a:spLocks noChangeArrowheads="1"/>
          </p:cNvSpPr>
          <p:nvPr/>
        </p:nvSpPr>
        <p:spPr bwMode="auto">
          <a:xfrm>
            <a:off x="5046663" y="2825750"/>
            <a:ext cx="1928813" cy="1909763"/>
          </a:xfrm>
          <a:prstGeom prst="ellips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Impact" panose="020B0806030902050204" pitchFamily="34" charset="0"/>
              <a:ea typeface="+mn-ea"/>
              <a:cs typeface="+mn-cs"/>
            </a:endParaRPr>
          </a:p>
        </p:txBody>
      </p:sp>
      <p:sp>
        <p:nvSpPr>
          <p:cNvPr id="64533" name="矩形 37"/>
          <p:cNvSpPr/>
          <p:nvPr/>
        </p:nvSpPr>
        <p:spPr>
          <a:xfrm>
            <a:off x="5362575" y="3048000"/>
            <a:ext cx="625475" cy="619125"/>
          </a:xfrm>
          <a:prstGeom prst="rect">
            <a:avLst/>
          </a:prstGeom>
          <a:noFill/>
          <a:ln w="9525">
            <a:noFill/>
          </a:ln>
        </p:spPr>
        <p:txBody>
          <a:bodyPr wrap="none" anchor="t" anchorCtr="0">
            <a:spAutoFit/>
          </a:bodyPr>
          <a:p>
            <a:r>
              <a:rPr lang="en-US" altLang="zh-CN" sz="2400" dirty="0">
                <a:solidFill>
                  <a:schemeClr val="bg1"/>
                </a:solidFill>
                <a:latin typeface="Impact" panose="020B0806030902050204" pitchFamily="34" charset="0"/>
                <a:ea typeface="Malgun Gothic" panose="020B0503020000020004" pitchFamily="34" charset="-127"/>
              </a:rPr>
              <a:t>01</a:t>
            </a:r>
            <a:endParaRPr lang="zh-CN" altLang="en-US" sz="2400" dirty="0">
              <a:solidFill>
                <a:schemeClr val="bg1"/>
              </a:solidFill>
              <a:latin typeface="Impact" panose="020B0806030902050204" pitchFamily="34" charset="0"/>
              <a:ea typeface="Malgun Gothic" panose="020B0503020000020004" pitchFamily="34" charset="-127"/>
            </a:endParaRPr>
          </a:p>
        </p:txBody>
      </p:sp>
      <p:sp>
        <p:nvSpPr>
          <p:cNvPr id="64534" name="矩形 38"/>
          <p:cNvSpPr/>
          <p:nvPr/>
        </p:nvSpPr>
        <p:spPr>
          <a:xfrm>
            <a:off x="6089650" y="3048000"/>
            <a:ext cx="673100" cy="619125"/>
          </a:xfrm>
          <a:prstGeom prst="rect">
            <a:avLst/>
          </a:prstGeom>
          <a:noFill/>
          <a:ln w="9525">
            <a:noFill/>
          </a:ln>
        </p:spPr>
        <p:txBody>
          <a:bodyPr wrap="none" anchor="t" anchorCtr="0">
            <a:spAutoFit/>
          </a:bodyPr>
          <a:p>
            <a:r>
              <a:rPr lang="en-US" altLang="zh-CN" sz="2400" dirty="0">
                <a:solidFill>
                  <a:schemeClr val="bg1"/>
                </a:solidFill>
                <a:latin typeface="Impact" panose="020B0806030902050204" pitchFamily="34" charset="0"/>
                <a:ea typeface="Malgun Gothic" panose="020B0503020000020004" pitchFamily="34" charset="-127"/>
              </a:rPr>
              <a:t>02</a:t>
            </a:r>
            <a:endParaRPr lang="zh-CN" altLang="en-US" sz="2400" dirty="0">
              <a:solidFill>
                <a:schemeClr val="bg1"/>
              </a:solidFill>
              <a:latin typeface="Impact" panose="020B0806030902050204" pitchFamily="34" charset="0"/>
              <a:ea typeface="Malgun Gothic" panose="020B0503020000020004" pitchFamily="34" charset="-127"/>
            </a:endParaRPr>
          </a:p>
        </p:txBody>
      </p:sp>
      <p:sp>
        <p:nvSpPr>
          <p:cNvPr id="64535" name="矩形 39"/>
          <p:cNvSpPr/>
          <p:nvPr/>
        </p:nvSpPr>
        <p:spPr>
          <a:xfrm>
            <a:off x="5335588" y="3867150"/>
            <a:ext cx="673100" cy="617538"/>
          </a:xfrm>
          <a:prstGeom prst="rect">
            <a:avLst/>
          </a:prstGeom>
          <a:noFill/>
          <a:ln w="9525">
            <a:noFill/>
          </a:ln>
        </p:spPr>
        <p:txBody>
          <a:bodyPr wrap="none" anchor="t" anchorCtr="0">
            <a:spAutoFit/>
          </a:bodyPr>
          <a:p>
            <a:r>
              <a:rPr lang="en-US" altLang="zh-CN" sz="2400" dirty="0">
                <a:solidFill>
                  <a:schemeClr val="bg1"/>
                </a:solidFill>
                <a:latin typeface="Impact" panose="020B0806030902050204" pitchFamily="34" charset="0"/>
                <a:ea typeface="Malgun Gothic" panose="020B0503020000020004" pitchFamily="34" charset="-127"/>
              </a:rPr>
              <a:t>04</a:t>
            </a:r>
            <a:endParaRPr lang="zh-CN" altLang="en-US" sz="2400" dirty="0">
              <a:solidFill>
                <a:schemeClr val="bg1"/>
              </a:solidFill>
              <a:latin typeface="Impact" panose="020B0806030902050204" pitchFamily="34" charset="0"/>
              <a:ea typeface="Malgun Gothic" panose="020B0503020000020004" pitchFamily="34" charset="-127"/>
            </a:endParaRPr>
          </a:p>
        </p:txBody>
      </p:sp>
      <p:sp>
        <p:nvSpPr>
          <p:cNvPr id="64536" name="矩形 40"/>
          <p:cNvSpPr/>
          <p:nvPr/>
        </p:nvSpPr>
        <p:spPr>
          <a:xfrm>
            <a:off x="6038850" y="3854450"/>
            <a:ext cx="688975" cy="617538"/>
          </a:xfrm>
          <a:prstGeom prst="rect">
            <a:avLst/>
          </a:prstGeom>
          <a:noFill/>
          <a:ln w="9525">
            <a:noFill/>
          </a:ln>
        </p:spPr>
        <p:txBody>
          <a:bodyPr wrap="none" anchor="t" anchorCtr="0">
            <a:spAutoFit/>
          </a:bodyPr>
          <a:p>
            <a:r>
              <a:rPr lang="en-US" altLang="zh-CN" sz="2400" dirty="0">
                <a:solidFill>
                  <a:schemeClr val="bg1"/>
                </a:solidFill>
                <a:latin typeface="Impact" panose="020B0806030902050204" pitchFamily="34" charset="0"/>
                <a:ea typeface="Malgun Gothic" panose="020B0503020000020004" pitchFamily="34" charset="-127"/>
              </a:rPr>
              <a:t>03</a:t>
            </a:r>
            <a:endParaRPr lang="zh-CN" altLang="en-US" sz="2400" dirty="0">
              <a:solidFill>
                <a:schemeClr val="bg1"/>
              </a:solidFill>
              <a:latin typeface="Impact" panose="020B0806030902050204" pitchFamily="34" charset="0"/>
              <a:ea typeface="Malgun Gothic" panose="020B0503020000020004" pitchFamily="34" charset="-127"/>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1"/>
          <p:cNvSpPr>
            <a:spLocks noGrp="1"/>
          </p:cNvSpPr>
          <p:nvPr>
            <p:ph type="title"/>
          </p:nvPr>
        </p:nvSpPr>
        <p:spPr>
          <a:xfrm>
            <a:off x="854075" y="312738"/>
            <a:ext cx="10515600" cy="765175"/>
          </a:xfrm>
          <a:noFill/>
          <a:ln>
            <a:noFill/>
          </a:ln>
        </p:spPr>
        <p:txBody>
          <a:bodyPr anchor="t" anchorCtr="0"/>
          <a:p>
            <a:r>
              <a:rPr lang="zh-CN" altLang="en-US" sz="3600" dirty="0"/>
              <a:t>讨论：企业社会责任会降低公司的财务绩效吗？</a:t>
            </a:r>
            <a:endParaRPr lang="zh-CN" altLang="en-US" sz="3600" dirty="0"/>
          </a:p>
        </p:txBody>
      </p:sp>
      <p:sp>
        <p:nvSpPr>
          <p:cNvPr id="66562" name="内容占位符 2"/>
          <p:cNvSpPr>
            <a:spLocks noGrp="1"/>
          </p:cNvSpPr>
          <p:nvPr>
            <p:ph sz="half" idx="1"/>
          </p:nvPr>
        </p:nvSpPr>
        <p:spPr>
          <a:noFill/>
          <a:ln>
            <a:noFill/>
          </a:ln>
        </p:spPr>
        <p:txBody>
          <a:bodyPr anchor="t" anchorCtr="0"/>
          <a:p>
            <a:pPr>
              <a:buClrTx/>
              <a:buSzTx/>
              <a:buFont typeface="Arial" panose="020B0604020202020204" pitchFamily="34" charset="0"/>
            </a:pPr>
            <a:r>
              <a:rPr lang="en-US" altLang="zh-CN" dirty="0"/>
              <a:t>1. </a:t>
            </a:r>
            <a:r>
              <a:rPr lang="zh-CN" altLang="en-US" dirty="0"/>
              <a:t>增加财务绩效的理由</a:t>
            </a:r>
            <a:endParaRPr lang="en-US" altLang="zh-CN" dirty="0"/>
          </a:p>
        </p:txBody>
      </p:sp>
      <p:sp>
        <p:nvSpPr>
          <p:cNvPr id="66563" name="内容占位符 3"/>
          <p:cNvSpPr>
            <a:spLocks noGrp="1"/>
          </p:cNvSpPr>
          <p:nvPr>
            <p:ph sz="half" idx="2"/>
          </p:nvPr>
        </p:nvSpPr>
        <p:spPr>
          <a:noFill/>
          <a:ln>
            <a:noFill/>
          </a:ln>
        </p:spPr>
        <p:txBody>
          <a:bodyPr anchor="t" anchorCtr="0"/>
          <a:p>
            <a:pPr>
              <a:buClrTx/>
              <a:buSzTx/>
              <a:buFont typeface="Arial" panose="020B0604020202020204" pitchFamily="34" charset="0"/>
            </a:pPr>
            <a:r>
              <a:rPr lang="en-US" altLang="zh-CN" dirty="0"/>
              <a:t>2. </a:t>
            </a:r>
            <a:r>
              <a:rPr lang="zh-CN" altLang="en-US" dirty="0"/>
              <a:t>降低财务绩效的理由</a:t>
            </a:r>
            <a:endParaRPr lang="zh-CN" altLang="en-US" dirty="0"/>
          </a:p>
        </p:txBody>
      </p:sp>
      <p:grpSp>
        <p:nvGrpSpPr>
          <p:cNvPr id="66564" name="组合 3"/>
          <p:cNvGrpSpPr/>
          <p:nvPr/>
        </p:nvGrpSpPr>
        <p:grpSpPr>
          <a:xfrm flipH="1">
            <a:off x="11182350" y="0"/>
            <a:ext cx="1009650" cy="1009650"/>
            <a:chOff x="0" y="0"/>
            <a:chExt cx="3600450" cy="3600450"/>
          </a:xfrm>
        </p:grpSpPr>
        <p:sp>
          <p:nvSpPr>
            <p:cNvPr id="6" name="直角三角形 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66567" name="组合 14"/>
          <p:cNvGrpSpPr/>
          <p:nvPr/>
        </p:nvGrpSpPr>
        <p:grpSpPr>
          <a:xfrm flipV="1">
            <a:off x="0" y="5829300"/>
            <a:ext cx="1028700" cy="1028700"/>
            <a:chOff x="0" y="0"/>
            <a:chExt cx="3600450" cy="3600450"/>
          </a:xfrm>
        </p:grpSpPr>
        <p:sp>
          <p:nvSpPr>
            <p:cNvPr id="9" name="直角三角形 8"/>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0" name="直角三角形 9"/>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1587" y="4914900"/>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36575"/>
            <a:ext cx="1495425" cy="538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4</a:t>
            </a:r>
            <a:endPar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44900"/>
            <a:ext cx="8562975"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企业战略管理者</a:t>
            </a: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 </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74963" y="4989513"/>
            <a:ext cx="4879975" cy="218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4.1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企业战略管理者相关概念</a:t>
            </a:r>
            <a:endPar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4.2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企业战略管理者面临的挑战</a:t>
            </a:r>
            <a:endPar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4.3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企业战略管理者的角色和构成</a:t>
            </a: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4.4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企业战略的领导者</a:t>
            </a: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endParaRPr kumimoji="0" 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860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2"/>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6861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68615" name="文本框 17"/>
          <p:cNvSpPr txBox="1"/>
          <p:nvPr/>
        </p:nvSpPr>
        <p:spPr>
          <a:xfrm>
            <a:off x="404813" y="425450"/>
            <a:ext cx="6080125" cy="584200"/>
          </a:xfrm>
          <a:prstGeom prst="rect">
            <a:avLst/>
          </a:prstGeom>
          <a:noFill/>
          <a:ln w="9525">
            <a:noFill/>
          </a:ln>
        </p:spPr>
        <p:txBody>
          <a:bodyPr wrap="square"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4.1  </a:t>
            </a:r>
            <a:r>
              <a:rPr lang="zh-CN" altLang="en-US" sz="3200" dirty="0">
                <a:solidFill>
                  <a:srgbClr val="1570C1"/>
                </a:solidFill>
                <a:latin typeface="微软雅黑" panose="020B0503020204020204" pitchFamily="34" charset="-122"/>
                <a:ea typeface="微软雅黑" panose="020B0503020204020204" pitchFamily="34" charset="-122"/>
              </a:rPr>
              <a:t>企业战略管理者相关概念</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nvSpPr>
        <p:spPr>
          <a:xfrm>
            <a:off x="476250" y="1514475"/>
            <a:ext cx="11239500" cy="431482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800" b="1" i="0" kern="1200" cap="all" baseline="0">
                <a:solidFill>
                  <a:schemeClr val="tx1"/>
                </a:solidFill>
                <a:effectLst/>
                <a:latin typeface="Kaiti SC Black" pitchFamily="2" charset="-122"/>
                <a:ea typeface="Kaiti SC Black" pitchFamily="2" charset="-122"/>
                <a:cs typeface="+mn-cs"/>
              </a:defRPr>
            </a:lvl1pPr>
            <a:lvl2pPr marL="685800" indent="-228600" algn="l" defTabSz="914400" rtl="0" eaLnBrk="1" latinLnBrk="0" hangingPunct="1">
              <a:lnSpc>
                <a:spcPct val="120000"/>
              </a:lnSpc>
              <a:spcBef>
                <a:spcPts val="500"/>
              </a:spcBef>
              <a:buClr>
                <a:schemeClr val="tx1"/>
              </a:buClr>
              <a:buFont typeface="Wingdings" panose="05000000000000000000" pitchFamily="2" charset="2"/>
              <a:buChar char="Ø"/>
              <a:defRPr sz="2400" b="1" i="0" kern="1200" cap="all" baseline="0">
                <a:solidFill>
                  <a:schemeClr val="tx1"/>
                </a:solidFill>
                <a:effectLst/>
                <a:latin typeface="Kaiti SC Black" pitchFamily="2" charset="-122"/>
                <a:ea typeface="Kaiti SC Black" pitchFamily="2" charset="-122"/>
                <a:cs typeface="+mn-cs"/>
              </a:defRPr>
            </a:lvl2pPr>
            <a:lvl3pPr marL="1143000" indent="-228600" algn="l" defTabSz="914400" rtl="0" eaLnBrk="1" latinLnBrk="0" hangingPunct="1">
              <a:lnSpc>
                <a:spcPct val="120000"/>
              </a:lnSpc>
              <a:spcBef>
                <a:spcPts val="500"/>
              </a:spcBef>
              <a:buClr>
                <a:schemeClr val="tx1"/>
              </a:buClr>
              <a:buFont typeface="Wingdings" panose="05000000000000000000" pitchFamily="2" charset="2"/>
              <a:buChar char="ü"/>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fontAlgn="base"/>
            <a:r>
              <a:rPr kumimoji="1" lang="zh-CN" altLang="en-US" strike="noStrike" noProof="1" dirty="0">
                <a:solidFill>
                  <a:srgbClr val="FF0000"/>
                </a:solidFill>
                <a:latin typeface="Kaiti SC Black" pitchFamily="2" charset="-122"/>
                <a:ea typeface="Kaiti SC Black" pitchFamily="2" charset="-122"/>
                <a:cs typeface="+mn-cs"/>
              </a:rPr>
              <a:t>企业战略管理者</a:t>
            </a:r>
            <a:r>
              <a:rPr kumimoji="1" lang="zh-CN" altLang="en-US" strike="noStrike" noProof="1" dirty="0">
                <a:latin typeface="Kaiti SC Black" pitchFamily="2" charset="-122"/>
                <a:ea typeface="Kaiti SC Black" pitchFamily="2" charset="-122"/>
                <a:cs typeface="+mn-cs"/>
              </a:rPr>
              <a:t>是企业战略制定的主体，是企业战略实施的主体；</a:t>
            </a:r>
            <a:endParaRPr kumimoji="1" lang="en-US" altLang="zh-CN" strike="noStrike" noProof="1" dirty="0"/>
          </a:p>
          <a:p>
            <a:pPr fontAlgn="base"/>
            <a:r>
              <a:rPr kumimoji="1" lang="zh-CN" altLang="en-US" strike="noStrike" noProof="1" dirty="0">
                <a:solidFill>
                  <a:srgbClr val="FF0000"/>
                </a:solidFill>
                <a:latin typeface="Kaiti SC Black" pitchFamily="2" charset="-122"/>
                <a:ea typeface="Kaiti SC Black" pitchFamily="2" charset="-122"/>
                <a:cs typeface="+mn-cs"/>
              </a:rPr>
              <a:t>企业战略管理者</a:t>
            </a:r>
            <a:r>
              <a:rPr kumimoji="1" lang="zh-CN" altLang="en-US" strike="noStrike" noProof="1" dirty="0">
                <a:latin typeface="Kaiti SC Black" pitchFamily="2" charset="-122"/>
                <a:ea typeface="Kaiti SC Black" pitchFamily="2" charset="-122"/>
                <a:cs typeface="+mn-cs"/>
              </a:rPr>
              <a:t>主要是符合企业章程规定、企业正式安排或者协议邀请的全部或者部分参与企业战略制定、实施、评价和控制过程，对企业战略管理发挥重要作用的利益相关者、高层管理者以及外部咨询人员等</a:t>
            </a:r>
            <a:r>
              <a:rPr kumimoji="1" lang="zh-CN" altLang="en-US" strike="noStrike" noProof="1" dirty="0">
                <a:latin typeface="Kaiti SC Black" pitchFamily="2" charset="-122"/>
                <a:ea typeface="Kaiti SC Black" pitchFamily="2" charset="-122"/>
                <a:cs typeface="+mn-cs"/>
              </a:rPr>
              <a:t>。</a:t>
            </a:r>
            <a:endParaRPr kumimoji="1" lang="zh-CN" altLang="en-US" strike="noStrike" noProof="1" dirty="0"/>
          </a:p>
          <a:p>
            <a:pPr fontAlgn="base"/>
            <a:r>
              <a:rPr kumimoji="1" lang="zh-CN" altLang="en-US" strike="noStrike" noProof="1" dirty="0">
                <a:solidFill>
                  <a:srgbClr val="FF0000"/>
                </a:solidFill>
                <a:latin typeface="Kaiti SC Black" pitchFamily="2" charset="-122"/>
                <a:ea typeface="Kaiti SC Black" pitchFamily="2" charset="-122"/>
                <a:cs typeface="+mn-cs"/>
              </a:rPr>
              <a:t>企业性质、治理结构、公司章程、管理者个性特征和管理风格</a:t>
            </a:r>
            <a:r>
              <a:rPr kumimoji="1" lang="zh-CN" altLang="en-US" strike="noStrike" noProof="1" dirty="0">
                <a:latin typeface="Kaiti SC Black" pitchFamily="2" charset="-122"/>
                <a:ea typeface="Kaiti SC Black" pitchFamily="2" charset="-122"/>
                <a:cs typeface="+mn-cs"/>
              </a:rPr>
              <a:t>的广泛差异使得企业战略管理者也呈现出明显</a:t>
            </a:r>
            <a:r>
              <a:rPr kumimoji="1" lang="zh-CN" altLang="en-US" strike="noStrike" noProof="1" dirty="0">
                <a:latin typeface="Kaiti SC Black" pitchFamily="2" charset="-122"/>
                <a:ea typeface="Kaiti SC Black" pitchFamily="2" charset="-122"/>
                <a:cs typeface="+mn-cs"/>
              </a:rPr>
              <a:t>的异质性表现。</a:t>
            </a:r>
            <a:r>
              <a:rPr kumimoji="1" lang="zh-CN" altLang="en-US" strike="noStrike" cap="none" noProof="1" dirty="0">
                <a:latin typeface="Times New Roman" panose="02020603050405020304" pitchFamily="18" charset="0"/>
                <a:ea typeface="Kaiti SC Black" pitchFamily="2" charset="-122"/>
                <a:cs typeface="Times New Roman" panose="02020603050405020304" pitchFamily="18" charset="0"/>
              </a:rPr>
              <a:t>   </a:t>
            </a:r>
            <a:endParaRPr kumimoji="1" lang="en-US" altLang="zh-CN" strike="noStrike" cap="none" noProof="1" dirty="0">
              <a:latin typeface="Times New Roman" panose="02020603050405020304" pitchFamily="18" charset="0"/>
              <a:cs typeface="Times New Roman" panose="02020603050405020304" pitchFamily="18" charset="0"/>
            </a:endParaRPr>
          </a:p>
          <a:p>
            <a:pPr algn="just" fontAlgn="base"/>
            <a:endParaRPr kumimoji="1" lang="en-US" altLang="zh-CN" strike="noStrike" cap="none" noProof="1" dirty="0">
              <a:latin typeface="Times New Roman" panose="02020603050405020304" pitchFamily="18" charset="0"/>
              <a:cs typeface="Times New Roman" panose="02020603050405020304" pitchFamily="18" charset="0"/>
            </a:endParaRPr>
          </a:p>
          <a:p>
            <a:pPr fontAlgn="base"/>
            <a:endParaRPr kumimoji="1" lang="zh-CN" altLang="en-US" strike="noStrike" noProof="1" dirty="0"/>
          </a:p>
        </p:txBody>
      </p:sp>
    </p:spTree>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6627" name="Group 3"/>
          <p:cNvGraphicFramePr>
            <a:graphicFrameLocks noGrp="1"/>
          </p:cNvGraphicFramePr>
          <p:nvPr>
            <p:ph idx="4294967295"/>
          </p:nvPr>
        </p:nvGraphicFramePr>
        <p:xfrm>
          <a:off x="1709738" y="1111250"/>
          <a:ext cx="8470900" cy="5302250"/>
        </p:xfrm>
        <a:graphic>
          <a:graphicData uri="http://schemas.openxmlformats.org/drawingml/2006/table">
            <a:tbl>
              <a:tblPr/>
              <a:tblGrid>
                <a:gridCol w="1526540"/>
                <a:gridCol w="2289175"/>
                <a:gridCol w="4655185"/>
              </a:tblGrid>
              <a:tr h="396240">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a:ln>
                            <a:noFill/>
                          </a:ln>
                          <a:solidFill>
                            <a:schemeClr val="tx1"/>
                          </a:solidFill>
                          <a:effectLst/>
                          <a:latin typeface="黑体" panose="02010609060101010101" charset="-122"/>
                          <a:ea typeface="黑体" panose="02010609060101010101" charset="-122"/>
                        </a:rPr>
                        <a:t>管理者</a:t>
                      </a:r>
                      <a:r>
                        <a:rPr kumimoji="0" lang="zh-CN" altLang="zh-CN" sz="2000" b="0" i="0" u="none" strike="noStrike" cap="none" normalizeH="0" baseline="0" dirty="0">
                          <a:ln>
                            <a:noFill/>
                          </a:ln>
                          <a:solidFill>
                            <a:schemeClr val="tx1"/>
                          </a:solidFill>
                          <a:effectLst/>
                          <a:latin typeface="黑体" panose="02010609060101010101" charset="-122"/>
                          <a:ea typeface="黑体" panose="02010609060101010101" charset="-122"/>
                        </a:rPr>
                        <a:t>层次</a:t>
                      </a:r>
                      <a:endParaRPr kumimoji="0" lang="zh-CN" altLang="zh-CN" sz="2000" b="0" i="0" u="none" strike="noStrike" cap="none" normalizeH="0" baseline="0" dirty="0">
                        <a:ln>
                          <a:noFill/>
                        </a:ln>
                        <a:solidFill>
                          <a:schemeClr val="tx1"/>
                        </a:solidFill>
                        <a:effectLst/>
                        <a:latin typeface="黑体" panose="02010609060101010101" charset="-122"/>
                        <a:ea typeface="黑体" panose="02010609060101010101" charset="-122"/>
                      </a:endParaRPr>
                    </a:p>
                  </a:txBody>
                  <a:tcPr marL="91441" marR="91441"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zh-CN" sz="2000" b="0" i="0" u="none" strike="noStrike" cap="none" normalizeH="0" baseline="0" dirty="0">
                          <a:ln>
                            <a:noFill/>
                          </a:ln>
                          <a:solidFill>
                            <a:schemeClr val="tx1"/>
                          </a:solidFill>
                          <a:effectLst/>
                          <a:latin typeface="黑体" panose="02010609060101010101" charset="-122"/>
                          <a:ea typeface="黑体" panose="02010609060101010101" charset="-122"/>
                        </a:rPr>
                        <a:t>战略管理工作重点</a:t>
                      </a:r>
                      <a:endParaRPr kumimoji="0" lang="zh-CN" altLang="zh-CN" sz="2000" b="0" i="0" u="none" strike="noStrike" cap="none" normalizeH="0" baseline="0" dirty="0">
                        <a:ln>
                          <a:noFill/>
                        </a:ln>
                        <a:solidFill>
                          <a:schemeClr val="tx1"/>
                        </a:solidFill>
                        <a:effectLst/>
                        <a:latin typeface="黑体" panose="02010609060101010101" charset="-122"/>
                        <a:ea typeface="黑体" panose="02010609060101010101" charset="-122"/>
                      </a:endParaRPr>
                    </a:p>
                  </a:txBody>
                  <a:tcPr marL="91441" marR="91441"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zh-CN" sz="2000" b="0" i="0" u="none" strike="noStrike" cap="none" normalizeH="0" baseline="0" dirty="0">
                          <a:ln>
                            <a:noFill/>
                          </a:ln>
                          <a:solidFill>
                            <a:schemeClr val="tx1"/>
                          </a:solidFill>
                          <a:effectLst/>
                          <a:latin typeface="黑体" panose="02010609060101010101" charset="-122"/>
                          <a:ea typeface="黑体" panose="02010609060101010101" charset="-122"/>
                        </a:rPr>
                        <a:t>战略决策过程中的主要任务</a:t>
                      </a:r>
                      <a:endParaRPr kumimoji="0" lang="zh-CN" altLang="zh-CN" sz="2000" b="0" i="0" u="none" strike="noStrike" cap="none" normalizeH="0" baseline="0" dirty="0">
                        <a:ln>
                          <a:noFill/>
                        </a:ln>
                        <a:solidFill>
                          <a:schemeClr val="tx1"/>
                        </a:solidFill>
                        <a:effectLst/>
                        <a:latin typeface="黑体" panose="02010609060101010101" charset="-122"/>
                        <a:ea typeface="黑体" panose="02010609060101010101" charset="-122"/>
                      </a:endParaRPr>
                    </a:p>
                  </a:txBody>
                  <a:tcPr marL="91441" marR="91441"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42160">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algn="ctr" eaLnBrk="1" hangingPunct="1">
                        <a:lnSpc>
                          <a:spcPct val="100000"/>
                        </a:lnSpc>
                        <a:buFontTx/>
                        <a:buNone/>
                      </a:pPr>
                      <a:endParaRPr lang="en-US" altLang="zh-CN" sz="2000" dirty="0">
                        <a:ea typeface="楷体_GB2312" pitchFamily="1" charset="-122"/>
                      </a:endParaRPr>
                    </a:p>
                    <a:p>
                      <a:pPr algn="ctr" eaLnBrk="1" hangingPunct="1">
                        <a:lnSpc>
                          <a:spcPct val="100000"/>
                        </a:lnSpc>
                        <a:buFontTx/>
                        <a:buNone/>
                      </a:pPr>
                      <a:r>
                        <a:rPr lang="zh-CN" altLang="en-US" sz="2000" dirty="0">
                          <a:ea typeface="楷体_GB2312" pitchFamily="1" charset="-122"/>
                        </a:rPr>
                        <a:t>高层管理者</a:t>
                      </a:r>
                      <a:endParaRPr lang="zh-CN" altLang="zh-CN" sz="2000" dirty="0">
                        <a:ea typeface="楷体_GB2312" pitchFamily="1" charset="-122"/>
                      </a:endParaRPr>
                    </a:p>
                  </a:txBody>
                  <a:tcPr marL="91441" marR="91441"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0" i="0" u="none" strike="noStrike" cap="none" normalizeH="0" baseline="0" dirty="0">
                        <a:ln>
                          <a:noFill/>
                        </a:ln>
                        <a:solidFill>
                          <a:schemeClr val="tx1"/>
                        </a:solidFill>
                        <a:effectLst/>
                        <a:latin typeface="Arial Rounded MT Bold" panose="020F0704030504030204" pitchFamily="34" charset="0"/>
                        <a:ea typeface="华文仿宋" panose="020106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a:ln>
                            <a:noFill/>
                          </a:ln>
                          <a:solidFill>
                            <a:schemeClr val="tx1"/>
                          </a:solidFill>
                          <a:effectLst/>
                          <a:latin typeface="Arial Rounded MT Bold" panose="020F0704030504030204" pitchFamily="34" charset="0"/>
                          <a:ea typeface="华文仿宋" panose="02010600040101010101" pitchFamily="2" charset="-122"/>
                        </a:rPr>
                        <a:t>指定企业主要发展方向、主要目标、主要战略，也是主要的战略实施者</a:t>
                      </a:r>
                      <a:endParaRPr kumimoji="0" lang="zh-CN" altLang="en-US" sz="2000" b="0" i="0" u="none" strike="noStrike" cap="none" normalizeH="0" baseline="0" dirty="0">
                        <a:ln>
                          <a:noFill/>
                        </a:ln>
                        <a:solidFill>
                          <a:schemeClr val="tx1"/>
                        </a:solidFill>
                        <a:effectLst/>
                        <a:latin typeface="Arial Rounded MT Bold" panose="020F0704030504030204" pitchFamily="34" charset="0"/>
                        <a:ea typeface="华文仿宋" panose="02010600040101010101" pitchFamily="2" charset="-122"/>
                      </a:endParaRPr>
                    </a:p>
                  </a:txBody>
                  <a:tcPr marL="91441" marR="91441"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265430">
                        <a:spcBef>
                          <a:spcPct val="20000"/>
                        </a:spcBef>
                        <a:defRPr sz="2800">
                          <a:solidFill>
                            <a:schemeClr val="tx1"/>
                          </a:solidFill>
                          <a:latin typeface="Arial Rounded MT Bold" panose="020F0704030504030204" pitchFamily="34" charset="0"/>
                          <a:ea typeface="黑体" panose="02010609060101010101" charset="-122"/>
                        </a:defRPr>
                      </a:lvl1pPr>
                      <a:lvl2pPr marL="471805" algn="l" defTabSz="265430">
                        <a:spcBef>
                          <a:spcPct val="20000"/>
                        </a:spcBef>
                        <a:defRPr sz="2400">
                          <a:solidFill>
                            <a:schemeClr val="tx1"/>
                          </a:solidFill>
                          <a:latin typeface="Arial Rounded MT Bold" panose="020F0704030504030204" pitchFamily="34" charset="0"/>
                          <a:ea typeface="黑体" panose="02010609060101010101" charset="-122"/>
                        </a:defRPr>
                      </a:lvl2pPr>
                      <a:lvl3pPr marL="909955" algn="l" defTabSz="265430">
                        <a:spcBef>
                          <a:spcPct val="20000"/>
                        </a:spcBef>
                        <a:defRPr sz="2000">
                          <a:solidFill>
                            <a:schemeClr val="tx1"/>
                          </a:solidFill>
                          <a:latin typeface="Arial Rounded MT Bold" panose="020F0704030504030204" pitchFamily="34" charset="0"/>
                          <a:ea typeface="黑体" panose="02010609060101010101" charset="-122"/>
                        </a:defRPr>
                      </a:lvl3pPr>
                      <a:lvl4pPr marL="1306830" algn="l" defTabSz="265430">
                        <a:spcBef>
                          <a:spcPct val="20000"/>
                        </a:spcBef>
                        <a:defRPr>
                          <a:solidFill>
                            <a:schemeClr val="tx1"/>
                          </a:solidFill>
                          <a:latin typeface="Arial Rounded MT Bold" panose="020F0704030504030204" pitchFamily="34" charset="0"/>
                          <a:ea typeface="黑体" panose="02010609060101010101" charset="-122"/>
                        </a:defRPr>
                      </a:lvl4pPr>
                      <a:lvl5pPr marL="1695450" algn="l" defTabSz="265430">
                        <a:spcBef>
                          <a:spcPct val="20000"/>
                        </a:spcBef>
                        <a:defRPr>
                          <a:solidFill>
                            <a:schemeClr val="tx1"/>
                          </a:solidFill>
                          <a:latin typeface="Arial Rounded MT Bold" panose="020F0704030504030204" pitchFamily="34" charset="0"/>
                          <a:ea typeface="黑体" panose="02010609060101010101" charset="-122"/>
                        </a:defRPr>
                      </a:lvl5pPr>
                      <a:lvl6pPr marL="21526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26543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a:t>
                      </a:r>
                      <a:r>
                        <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首席执行官领导企业的战略规划制定和执行工作</a:t>
                      </a:r>
                      <a:endPar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p>
                      <a:pPr marL="0" marR="0" lvl="0" indent="0" algn="ctr" defTabSz="26543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a:t>
                      </a:r>
                      <a:r>
                        <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各部门副总裁在其所负责部门有战略制定与实施的责任</a:t>
                      </a:r>
                      <a:endPar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p>
                      <a:pPr marL="0" marR="0" lvl="0" indent="0" algn="ctr" defTabSz="26543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3.</a:t>
                      </a:r>
                      <a:r>
                        <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各部门同首席执行官紧密合作，寻求一致，有效协调战略各个方面</a:t>
                      </a:r>
                      <a:endParaRPr kumimoji="0" lang="zh-CN"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marL="91441" marR="91441"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7590">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algn="ctr" defTabSz="914400" rtl="0" eaLnBrk="1" latinLnBrk="0" hangingPunct="1">
                        <a:lnSpc>
                          <a:spcPct val="100000"/>
                        </a:lnSpc>
                        <a:spcBef>
                          <a:spcPct val="20000"/>
                        </a:spcBef>
                        <a:buFontTx/>
                        <a:buNone/>
                      </a:pPr>
                      <a:r>
                        <a:rPr lang="zh-CN" altLang="en-US" sz="2000" kern="1200" dirty="0">
                          <a:solidFill>
                            <a:schemeClr val="tx1"/>
                          </a:solidFill>
                          <a:latin typeface="+mn-lt"/>
                          <a:ea typeface="楷体_GB2312" pitchFamily="1" charset="-122"/>
                          <a:cs typeface="+mn-cs"/>
                        </a:rPr>
                        <a:t>企业董事会</a:t>
                      </a:r>
                      <a:endParaRPr lang="zh-CN" altLang="en-US" sz="2000" kern="1200" dirty="0">
                        <a:solidFill>
                          <a:schemeClr val="tx1"/>
                        </a:solidFill>
                        <a:latin typeface="+mn-lt"/>
                        <a:ea typeface="楷体_GB2312" pitchFamily="1" charset="-122"/>
                        <a:cs typeface="+mn-cs"/>
                      </a:endParaRPr>
                    </a:p>
                  </a:txBody>
                  <a:tcPr marL="91441" marR="91441"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a:ln>
                            <a:noFill/>
                          </a:ln>
                          <a:solidFill>
                            <a:schemeClr val="tx1"/>
                          </a:solidFill>
                          <a:effectLst/>
                          <a:latin typeface="Arial Rounded MT Bold" panose="020F0704030504030204" pitchFamily="34" charset="0"/>
                          <a:ea typeface="华文仿宋" panose="02010600040101010101" pitchFamily="2" charset="-122"/>
                        </a:rPr>
                        <a:t>对管理者进行监督，评价并最终批准战略规划</a:t>
                      </a:r>
                      <a:endParaRPr kumimoji="0" lang="zh-CN" altLang="en-US" sz="2000" b="0" i="0" u="none" strike="noStrike" cap="none" normalizeH="0" baseline="0" dirty="0">
                        <a:ln>
                          <a:noFill/>
                        </a:ln>
                        <a:solidFill>
                          <a:schemeClr val="tx1"/>
                        </a:solidFill>
                        <a:effectLst/>
                        <a:latin typeface="Arial Rounded MT Bold" panose="020F0704030504030204" pitchFamily="34" charset="0"/>
                        <a:ea typeface="华文仿宋" panose="02010600040101010101" pitchFamily="2" charset="-122"/>
                      </a:endParaRPr>
                    </a:p>
                  </a:txBody>
                  <a:tcPr marL="91441" marR="91441"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265430">
                        <a:spcBef>
                          <a:spcPct val="20000"/>
                        </a:spcBef>
                        <a:defRPr sz="2800">
                          <a:solidFill>
                            <a:schemeClr val="tx1"/>
                          </a:solidFill>
                          <a:latin typeface="Arial Rounded MT Bold" panose="020F0704030504030204" pitchFamily="34" charset="0"/>
                          <a:ea typeface="黑体" panose="02010609060101010101" charset="-122"/>
                        </a:defRPr>
                      </a:lvl1pPr>
                      <a:lvl2pPr marL="471805" algn="l" defTabSz="265430">
                        <a:spcBef>
                          <a:spcPct val="20000"/>
                        </a:spcBef>
                        <a:defRPr sz="2400">
                          <a:solidFill>
                            <a:schemeClr val="tx1"/>
                          </a:solidFill>
                          <a:latin typeface="Arial Rounded MT Bold" panose="020F0704030504030204" pitchFamily="34" charset="0"/>
                          <a:ea typeface="黑体" panose="02010609060101010101" charset="-122"/>
                        </a:defRPr>
                      </a:lvl2pPr>
                      <a:lvl3pPr marL="909955" algn="l" defTabSz="265430">
                        <a:spcBef>
                          <a:spcPct val="20000"/>
                        </a:spcBef>
                        <a:defRPr sz="2000">
                          <a:solidFill>
                            <a:schemeClr val="tx1"/>
                          </a:solidFill>
                          <a:latin typeface="Arial Rounded MT Bold" panose="020F0704030504030204" pitchFamily="34" charset="0"/>
                          <a:ea typeface="黑体" panose="02010609060101010101" charset="-122"/>
                        </a:defRPr>
                      </a:lvl3pPr>
                      <a:lvl4pPr marL="1306830" algn="l" defTabSz="265430">
                        <a:spcBef>
                          <a:spcPct val="20000"/>
                        </a:spcBef>
                        <a:defRPr>
                          <a:solidFill>
                            <a:schemeClr val="tx1"/>
                          </a:solidFill>
                          <a:latin typeface="Arial Rounded MT Bold" panose="020F0704030504030204" pitchFamily="34" charset="0"/>
                          <a:ea typeface="黑体" panose="02010609060101010101" charset="-122"/>
                        </a:defRPr>
                      </a:lvl4pPr>
                      <a:lvl5pPr marL="1695450" algn="l" defTabSz="265430">
                        <a:spcBef>
                          <a:spcPct val="20000"/>
                        </a:spcBef>
                        <a:defRPr>
                          <a:solidFill>
                            <a:schemeClr val="tx1"/>
                          </a:solidFill>
                          <a:latin typeface="Arial Rounded MT Bold" panose="020F0704030504030204" pitchFamily="34" charset="0"/>
                          <a:ea typeface="黑体" panose="02010609060101010101" charset="-122"/>
                        </a:defRPr>
                      </a:lvl5pPr>
                      <a:lvl6pPr marL="21526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26543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a:t>
                      </a:r>
                      <a:r>
                        <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审查企业长期发展方向和战略合理性</a:t>
                      </a:r>
                      <a:endPar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p>
                      <a:pPr marL="0" marR="0" lvl="0" indent="0" algn="ctr" defTabSz="26543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a:t>
                      </a:r>
                      <a:r>
                        <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评价现任首席执行官以及其继任者领导能力</a:t>
                      </a:r>
                      <a:endParaRPr kumimoji="0" lang="zh-CN"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marL="91441" marR="91441"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97685">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algn="ctr" eaLnBrk="1" hangingPunct="1">
                        <a:lnSpc>
                          <a:spcPct val="100000"/>
                        </a:lnSpc>
                        <a:buFontTx/>
                        <a:buNone/>
                      </a:pPr>
                      <a:endParaRPr lang="en-US" altLang="zh-CN" sz="2000" dirty="0">
                        <a:ea typeface="楷体_GB2312" pitchFamily="1" charset="-122"/>
                      </a:endParaRPr>
                    </a:p>
                    <a:p>
                      <a:pPr marL="0" algn="ctr" defTabSz="914400" rtl="0" eaLnBrk="1" latinLnBrk="0" hangingPunct="1">
                        <a:lnSpc>
                          <a:spcPct val="100000"/>
                        </a:lnSpc>
                        <a:spcBef>
                          <a:spcPct val="20000"/>
                        </a:spcBef>
                        <a:buFontTx/>
                        <a:buNone/>
                      </a:pPr>
                      <a:r>
                        <a:rPr lang="zh-CN" altLang="zh-CN" sz="2000" kern="1200">
                          <a:solidFill>
                            <a:schemeClr val="tx1"/>
                          </a:solidFill>
                          <a:latin typeface="+mn-lt"/>
                          <a:ea typeface="楷体_GB2312" pitchFamily="1" charset="-122"/>
                          <a:cs typeface="+mn-cs"/>
                        </a:rPr>
                        <a:t>专职</a:t>
                      </a:r>
                      <a:r>
                        <a:rPr lang="zh-CN" altLang="en-US" sz="2000" kern="1200">
                          <a:solidFill>
                            <a:schemeClr val="tx1"/>
                          </a:solidFill>
                          <a:latin typeface="+mn-lt"/>
                          <a:ea typeface="楷体_GB2312" pitchFamily="1" charset="-122"/>
                          <a:cs typeface="+mn-cs"/>
                        </a:rPr>
                        <a:t>战略规</a:t>
                      </a:r>
                      <a:r>
                        <a:rPr lang="zh-CN" altLang="zh-CN" sz="2000" kern="1200">
                          <a:solidFill>
                            <a:schemeClr val="tx1"/>
                          </a:solidFill>
                          <a:latin typeface="+mn-lt"/>
                          <a:ea typeface="楷体_GB2312" pitchFamily="1" charset="-122"/>
                          <a:cs typeface="+mn-cs"/>
                        </a:rPr>
                        <a:t>划人员</a:t>
                      </a:r>
                      <a:endParaRPr lang="zh-CN" altLang="zh-CN" sz="2000" kern="1200" dirty="0">
                        <a:solidFill>
                          <a:schemeClr val="tx1"/>
                        </a:solidFill>
                        <a:latin typeface="+mn-lt"/>
                        <a:ea typeface="楷体_GB2312" pitchFamily="1" charset="-122"/>
                        <a:cs typeface="+mn-cs"/>
                      </a:endParaRPr>
                    </a:p>
                  </a:txBody>
                  <a:tcPr marL="91441" marR="91441"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Rounded MT Bold" panose="020F0704030504030204" pitchFamily="34" charset="0"/>
                          <a:ea typeface="黑体" panose="02010609060101010101" charset="-122"/>
                        </a:defRPr>
                      </a:lvl1pPr>
                      <a:lvl2pPr marL="471805" algn="l">
                        <a:spcBef>
                          <a:spcPct val="20000"/>
                        </a:spcBef>
                        <a:defRPr sz="2400">
                          <a:solidFill>
                            <a:schemeClr val="tx1"/>
                          </a:solidFill>
                          <a:latin typeface="Arial Rounded MT Bold" panose="020F0704030504030204" pitchFamily="34" charset="0"/>
                          <a:ea typeface="黑体" panose="02010609060101010101" charset="-122"/>
                        </a:defRPr>
                      </a:lvl2pPr>
                      <a:lvl3pPr marL="909955" algn="l">
                        <a:spcBef>
                          <a:spcPct val="20000"/>
                        </a:spcBef>
                        <a:defRPr sz="2000">
                          <a:solidFill>
                            <a:schemeClr val="tx1"/>
                          </a:solidFill>
                          <a:latin typeface="Arial Rounded MT Bold" panose="020F0704030504030204" pitchFamily="34" charset="0"/>
                          <a:ea typeface="黑体" panose="02010609060101010101" charset="-122"/>
                        </a:defRPr>
                      </a:lvl3pPr>
                      <a:lvl4pPr marL="1306830" algn="l">
                        <a:spcBef>
                          <a:spcPct val="20000"/>
                        </a:spcBef>
                        <a:defRPr>
                          <a:solidFill>
                            <a:schemeClr val="tx1"/>
                          </a:solidFill>
                          <a:latin typeface="Arial Rounded MT Bold" panose="020F0704030504030204" pitchFamily="34" charset="0"/>
                          <a:ea typeface="黑体" panose="02010609060101010101" charset="-122"/>
                        </a:defRPr>
                      </a:lvl4pPr>
                      <a:lvl5pPr marL="1695450" algn="l">
                        <a:spcBef>
                          <a:spcPct val="20000"/>
                        </a:spcBef>
                        <a:defRPr>
                          <a:solidFill>
                            <a:schemeClr val="tx1"/>
                          </a:solidFill>
                          <a:latin typeface="Arial Rounded MT Bold" panose="020F0704030504030204" pitchFamily="34" charset="0"/>
                          <a:ea typeface="黑体" panose="02010609060101010101" charset="-122"/>
                        </a:defRPr>
                      </a:lvl5pPr>
                      <a:lvl6pPr marL="21526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0" i="0" u="none" strike="noStrike" cap="none" normalizeH="0" baseline="0" dirty="0">
                        <a:ln>
                          <a:noFill/>
                        </a:ln>
                        <a:solidFill>
                          <a:schemeClr val="tx1"/>
                        </a:solidFill>
                        <a:effectLst/>
                        <a:latin typeface="Arial Rounded MT Bold" panose="020F0704030504030204" pitchFamily="34" charset="0"/>
                        <a:ea typeface="华文仿宋" panose="020106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a:ln>
                            <a:noFill/>
                          </a:ln>
                          <a:solidFill>
                            <a:schemeClr val="tx1"/>
                          </a:solidFill>
                          <a:effectLst/>
                          <a:latin typeface="Arial Rounded MT Bold" panose="020F0704030504030204" pitchFamily="34" charset="0"/>
                          <a:ea typeface="华文仿宋" panose="02010600040101010101" pitchFamily="2" charset="-122"/>
                        </a:rPr>
                        <a:t>主要负责收集分析各种数据，提出和评价各种可执行的战略选择</a:t>
                      </a:r>
                      <a:endParaRPr kumimoji="0" lang="zh-CN" altLang="en-US" sz="2000" b="0" i="0" u="none" strike="noStrike" cap="none" normalizeH="0" baseline="0" dirty="0">
                        <a:ln>
                          <a:noFill/>
                        </a:ln>
                        <a:solidFill>
                          <a:schemeClr val="tx1"/>
                        </a:solidFill>
                        <a:effectLst/>
                        <a:latin typeface="Arial Rounded MT Bold" panose="020F0704030504030204" pitchFamily="34" charset="0"/>
                        <a:ea typeface="华文仿宋" panose="02010600040101010101" pitchFamily="2" charset="-122"/>
                      </a:endParaRPr>
                    </a:p>
                  </a:txBody>
                  <a:tcPr marL="91441" marR="91441"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265430">
                        <a:spcBef>
                          <a:spcPct val="20000"/>
                        </a:spcBef>
                        <a:defRPr sz="2800">
                          <a:solidFill>
                            <a:schemeClr val="tx1"/>
                          </a:solidFill>
                          <a:latin typeface="Arial Rounded MT Bold" panose="020F0704030504030204" pitchFamily="34" charset="0"/>
                          <a:ea typeface="黑体" panose="02010609060101010101" charset="-122"/>
                        </a:defRPr>
                      </a:lvl1pPr>
                      <a:lvl2pPr marL="471805" algn="l" defTabSz="265430">
                        <a:spcBef>
                          <a:spcPct val="20000"/>
                        </a:spcBef>
                        <a:defRPr sz="2400">
                          <a:solidFill>
                            <a:schemeClr val="tx1"/>
                          </a:solidFill>
                          <a:latin typeface="Arial Rounded MT Bold" panose="020F0704030504030204" pitchFamily="34" charset="0"/>
                          <a:ea typeface="黑体" panose="02010609060101010101" charset="-122"/>
                        </a:defRPr>
                      </a:lvl2pPr>
                      <a:lvl3pPr marL="909955" algn="l" defTabSz="265430">
                        <a:spcBef>
                          <a:spcPct val="20000"/>
                        </a:spcBef>
                        <a:defRPr sz="2000">
                          <a:solidFill>
                            <a:schemeClr val="tx1"/>
                          </a:solidFill>
                          <a:latin typeface="Arial Rounded MT Bold" panose="020F0704030504030204" pitchFamily="34" charset="0"/>
                          <a:ea typeface="黑体" panose="02010609060101010101" charset="-122"/>
                        </a:defRPr>
                      </a:lvl3pPr>
                      <a:lvl4pPr marL="1306830" algn="l" defTabSz="265430">
                        <a:spcBef>
                          <a:spcPct val="20000"/>
                        </a:spcBef>
                        <a:defRPr>
                          <a:solidFill>
                            <a:schemeClr val="tx1"/>
                          </a:solidFill>
                          <a:latin typeface="Arial Rounded MT Bold" panose="020F0704030504030204" pitchFamily="34" charset="0"/>
                          <a:ea typeface="黑体" panose="02010609060101010101" charset="-122"/>
                        </a:defRPr>
                      </a:lvl4pPr>
                      <a:lvl5pPr marL="1695450" algn="l" defTabSz="265430">
                        <a:spcBef>
                          <a:spcPct val="20000"/>
                        </a:spcBef>
                        <a:defRPr>
                          <a:solidFill>
                            <a:schemeClr val="tx1"/>
                          </a:solidFill>
                          <a:latin typeface="Arial Rounded MT Bold" panose="020F0704030504030204" pitchFamily="34" charset="0"/>
                          <a:ea typeface="黑体" panose="02010609060101010101" charset="-122"/>
                        </a:defRPr>
                      </a:lvl5pPr>
                      <a:lvl6pPr marL="21526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6pPr>
                      <a:lvl7pPr marL="26098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7pPr>
                      <a:lvl8pPr marL="30670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8pPr>
                      <a:lvl9pPr marL="3524250" defTabSz="265430" fontAlgn="base">
                        <a:spcBef>
                          <a:spcPct val="20000"/>
                        </a:spcBef>
                        <a:spcAft>
                          <a:spcPct val="0"/>
                        </a:spcAft>
                        <a:defRPr>
                          <a:solidFill>
                            <a:schemeClr val="tx1"/>
                          </a:solidFill>
                          <a:latin typeface="Arial Rounded MT Bold" panose="020F0704030504030204" pitchFamily="34" charset="0"/>
                          <a:ea typeface="黑体" panose="02010609060101010101" charset="-122"/>
                        </a:defRPr>
                      </a:lvl9pPr>
                    </a:lstStyle>
                    <a:p>
                      <a:pPr marL="0" marR="0" lvl="0" indent="0" algn="ctr" defTabSz="26543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a:t>
                      </a:r>
                      <a:r>
                        <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审查事业部规划，协调各事业部门规划，帮助高层管理者设计企业的战略管理系统</a:t>
                      </a:r>
                      <a:endParaRPr kumimoji="0" lang="en-US"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p>
                      <a:pPr marL="0" marR="0" lvl="0" indent="0" algn="ctr" defTabSz="26543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a:t>
                      </a:r>
                      <a:r>
                        <a:rPr kumimoji="0" lang="zh-CN" altLang="en-US"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准备企业规划手册，为事业部提供环境分析结果，为战略规划活动给予指导</a:t>
                      </a:r>
                      <a:endParaRPr kumimoji="0" lang="zh-CN" altLang="zh-CN" sz="20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marL="91441" marR="91441"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0679" name="文本框 17"/>
          <p:cNvSpPr txBox="1"/>
          <p:nvPr/>
        </p:nvSpPr>
        <p:spPr>
          <a:xfrm>
            <a:off x="404813" y="425450"/>
            <a:ext cx="6080125" cy="584200"/>
          </a:xfrm>
          <a:prstGeom prst="rect">
            <a:avLst/>
          </a:prstGeom>
          <a:noFill/>
          <a:ln w="9525">
            <a:noFill/>
          </a:ln>
        </p:spPr>
        <p:txBody>
          <a:bodyPr wrap="square"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4.1  </a:t>
            </a:r>
            <a:r>
              <a:rPr lang="zh-CN" altLang="en-US" sz="3200" dirty="0">
                <a:solidFill>
                  <a:srgbClr val="1570C1"/>
                </a:solidFill>
                <a:latin typeface="微软雅黑" panose="020B0503020204020204" pitchFamily="34" charset="-122"/>
                <a:ea typeface="微软雅黑" panose="020B0503020204020204" pitchFamily="34" charset="-122"/>
              </a:rPr>
              <a:t>企业战略管理者相关概念</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000" fill="hold">
                                          <p:stCondLst>
                                            <p:cond delay="0"/>
                                          </p:stCondLst>
                                        </p:cTn>
                                        <p:tgtEl>
                                          <p:spTgt spid="26627"/>
                                        </p:tgtEl>
                                        <p:attrNameLst>
                                          <p:attrName>style.visibility</p:attrName>
                                        </p:attrNameLst>
                                      </p:cBhvr>
                                      <p:to>
                                        <p:strVal val="visible"/>
                                      </p:to>
                                    </p:set>
                                    <p:animEffect transition="in" filter="randombar(horizontal)">
                                      <p:cBhvr>
                                        <p:cTn id="7" dur="10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68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2"/>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7168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71687" name="文本框 17"/>
          <p:cNvSpPr txBox="1"/>
          <p:nvPr/>
        </p:nvSpPr>
        <p:spPr>
          <a:xfrm>
            <a:off x="404813" y="425450"/>
            <a:ext cx="6080125" cy="584200"/>
          </a:xfrm>
          <a:prstGeom prst="rect">
            <a:avLst/>
          </a:prstGeom>
          <a:noFill/>
          <a:ln w="9525">
            <a:noFill/>
          </a:ln>
        </p:spPr>
        <p:txBody>
          <a:bodyPr wrap="square"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4.2  </a:t>
            </a:r>
            <a:r>
              <a:rPr lang="zh-CN" altLang="en-US" sz="3200" dirty="0">
                <a:solidFill>
                  <a:srgbClr val="1570C1"/>
                </a:solidFill>
                <a:latin typeface="微软雅黑" panose="020B0503020204020204" pitchFamily="34" charset="-122"/>
                <a:ea typeface="微软雅黑" panose="020B0503020204020204" pitchFamily="34" charset="-122"/>
              </a:rPr>
              <a:t>企业战略管理者面临的挑战</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nvSpPr>
        <p:spPr>
          <a:xfrm>
            <a:off x="476250" y="1514475"/>
            <a:ext cx="11239500" cy="431482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800" b="1" i="0" kern="1200" cap="all" baseline="0">
                <a:solidFill>
                  <a:schemeClr val="tx1"/>
                </a:solidFill>
                <a:effectLst/>
                <a:latin typeface="Kaiti SC Black" pitchFamily="2" charset="-122"/>
                <a:ea typeface="Kaiti SC Black" pitchFamily="2" charset="-122"/>
                <a:cs typeface="+mn-cs"/>
              </a:defRPr>
            </a:lvl1pPr>
            <a:lvl2pPr marL="685800" indent="-228600" algn="l" defTabSz="914400" rtl="0" eaLnBrk="1" latinLnBrk="0" hangingPunct="1">
              <a:lnSpc>
                <a:spcPct val="120000"/>
              </a:lnSpc>
              <a:spcBef>
                <a:spcPts val="500"/>
              </a:spcBef>
              <a:buClr>
                <a:schemeClr val="tx1"/>
              </a:buClr>
              <a:buFont typeface="Wingdings" panose="05000000000000000000" pitchFamily="2" charset="2"/>
              <a:buChar char="Ø"/>
              <a:defRPr sz="2400" b="1" i="0" kern="1200" cap="all" baseline="0">
                <a:solidFill>
                  <a:schemeClr val="tx1"/>
                </a:solidFill>
                <a:effectLst/>
                <a:latin typeface="Kaiti SC Black" pitchFamily="2" charset="-122"/>
                <a:ea typeface="Kaiti SC Black" pitchFamily="2" charset="-122"/>
                <a:cs typeface="+mn-cs"/>
              </a:defRPr>
            </a:lvl2pPr>
            <a:lvl3pPr marL="1143000" indent="-228600" algn="l" defTabSz="914400" rtl="0" eaLnBrk="1" latinLnBrk="0" hangingPunct="1">
              <a:lnSpc>
                <a:spcPct val="120000"/>
              </a:lnSpc>
              <a:spcBef>
                <a:spcPts val="500"/>
              </a:spcBef>
              <a:buClr>
                <a:schemeClr val="tx1"/>
              </a:buClr>
              <a:buFont typeface="Wingdings" panose="05000000000000000000" pitchFamily="2" charset="2"/>
              <a:buChar char="ü"/>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fontAlgn="base"/>
            <a:r>
              <a:rPr kumimoji="1" lang="zh-CN" altLang="en-US" strike="noStrike" cap="none" noProof="1" dirty="0">
                <a:latin typeface="Times New Roman" panose="02020603050405020304" pitchFamily="18" charset="0"/>
                <a:ea typeface="Kaiti SC Black" pitchFamily="2" charset="-122"/>
                <a:cs typeface="Times New Roman" panose="02020603050405020304" pitchFamily="18" charset="0"/>
              </a:rPr>
              <a:t>  </a:t>
            </a:r>
            <a:r>
              <a:rPr kumimoji="1" lang="zh-CN" altLang="en-US" sz="2800" strike="noStrike" noProof="1" dirty="0">
                <a:solidFill>
                  <a:srgbClr val="FF0000"/>
                </a:solidFill>
                <a:latin typeface="Kaiti SC Black" pitchFamily="2" charset="-122"/>
                <a:ea typeface="Kaiti SC Black" pitchFamily="2" charset="-122"/>
                <a:cs typeface="+mn-cs"/>
                <a:sym typeface="+mn-ea"/>
              </a:rPr>
              <a:t>环境复杂化</a:t>
            </a:r>
            <a:r>
              <a:rPr kumimoji="1" lang="zh-CN" altLang="en-US" sz="2800" strike="noStrike" noProof="1" dirty="0">
                <a:latin typeface="Kaiti SC Black" pitchFamily="2" charset="-122"/>
                <a:ea typeface="Kaiti SC Black" pitchFamily="2" charset="-122"/>
                <a:cs typeface="+mn-cs"/>
                <a:sym typeface="+mn-ea"/>
              </a:rPr>
              <a:t>对企业战略管理者的挑战</a:t>
            </a:r>
            <a:endParaRPr kumimoji="1" lang="en-US" altLang="zh-CN" sz="2800" strike="noStrike" noProof="1" dirty="0"/>
          </a:p>
          <a:p>
            <a:pPr lvl="1" algn="just" fontAlgn="base"/>
            <a:r>
              <a:rPr kumimoji="1" lang="zh-CN" altLang="en-GB" sz="2800" strike="noStrike" cap="none" noProof="1" dirty="0">
                <a:latin typeface="Times New Roman" panose="02020603050405020304" pitchFamily="18" charset="0"/>
                <a:ea typeface="Kaiti SC Black" pitchFamily="2" charset="-122"/>
                <a:cs typeface="Times New Roman" panose="02020603050405020304" pitchFamily="18" charset="0"/>
                <a:sym typeface="+mn-ea"/>
              </a:rPr>
              <a:t>企业</a:t>
            </a:r>
            <a:r>
              <a:rPr kumimoji="1" lang="zh-CN" altLang="en-US" sz="2800" strike="noStrike" cap="none" noProof="1" dirty="0">
                <a:latin typeface="Times New Roman" panose="02020603050405020304" pitchFamily="18" charset="0"/>
                <a:ea typeface="Kaiti SC Black" pitchFamily="2" charset="-122"/>
                <a:cs typeface="Times New Roman" panose="02020603050405020304" pitchFamily="18" charset="0"/>
                <a:sym typeface="+mn-ea"/>
              </a:rPr>
              <a:t>利益相关者的权利结构发生改变，如股东权利相对下降，股东以外的其他利益</a:t>
            </a:r>
            <a:r>
              <a:rPr kumimoji="1" lang="zh-CN" altLang="en-US" sz="2800" strike="noStrike" cap="none" noProof="1" dirty="0">
                <a:latin typeface="Times New Roman" panose="02020603050405020304" pitchFamily="18" charset="0"/>
                <a:ea typeface="Kaiti SC Black" pitchFamily="2" charset="-122"/>
                <a:cs typeface="Times New Roman" panose="02020603050405020304" pitchFamily="18" charset="0"/>
                <a:sym typeface="+mn-ea"/>
              </a:rPr>
              <a:t>相关者的权利上升；</a:t>
            </a:r>
            <a:endParaRPr kumimoji="1" lang="en-US" altLang="zh-CN" sz="2800" strike="noStrike" cap="none" noProof="1" dirty="0">
              <a:latin typeface="Times New Roman" panose="02020603050405020304" pitchFamily="18" charset="0"/>
              <a:cs typeface="Times New Roman" panose="02020603050405020304" pitchFamily="18" charset="0"/>
            </a:endParaRPr>
          </a:p>
          <a:p>
            <a:pPr lvl="1" algn="just" fontAlgn="base"/>
            <a:r>
              <a:rPr kumimoji="1" lang="zh-CN" altLang="en-US" sz="2800" strike="noStrike" cap="none" noProof="1" dirty="0">
                <a:latin typeface="Times New Roman" panose="02020603050405020304" pitchFamily="18" charset="0"/>
                <a:ea typeface="Kaiti SC Black" pitchFamily="2" charset="-122"/>
                <a:cs typeface="Times New Roman" panose="02020603050405020304" pitchFamily="18" charset="0"/>
                <a:sym typeface="+mn-ea"/>
              </a:rPr>
              <a:t>企业利益相关者的要求从经济要求扩展</a:t>
            </a:r>
            <a:r>
              <a:rPr kumimoji="1" lang="zh-CN" altLang="en-US" sz="2800" strike="noStrike" cap="none" noProof="1" dirty="0">
                <a:latin typeface="Times New Roman" panose="02020603050405020304" pitchFamily="18" charset="0"/>
                <a:ea typeface="Kaiti SC Black" pitchFamily="2" charset="-122"/>
                <a:cs typeface="Times New Roman" panose="02020603050405020304" pitchFamily="18" charset="0"/>
                <a:sym typeface="+mn-ea"/>
              </a:rPr>
              <a:t>到社会要求；</a:t>
            </a:r>
            <a:endParaRPr kumimoji="1" lang="en-US" altLang="zh-CN" sz="2800" b="0" strike="noStrike" cap="none" noProof="1" dirty="0">
              <a:latin typeface="Times New Roman" panose="02020603050405020304" pitchFamily="18" charset="0"/>
              <a:cs typeface="Times New Roman" panose="02020603050405020304" pitchFamily="18" charset="0"/>
            </a:endParaRPr>
          </a:p>
          <a:p>
            <a:pPr lvl="1" algn="just" fontAlgn="base"/>
            <a:r>
              <a:rPr kumimoji="1" lang="zh-CN" altLang="en-US" sz="2800" strike="noStrike" cap="none" noProof="1" dirty="0">
                <a:latin typeface="Times New Roman" panose="02020603050405020304" pitchFamily="18" charset="0"/>
                <a:ea typeface="Kaiti SC Black" pitchFamily="2" charset="-122"/>
                <a:cs typeface="Times New Roman" panose="02020603050405020304" pitchFamily="18" charset="0"/>
                <a:sym typeface="+mn-ea"/>
              </a:rPr>
              <a:t>企业战略领导者在制定战略导向时面临着重视政府还是重视市场的“两难选择”。</a:t>
            </a:r>
            <a:r>
              <a:rPr kumimoji="1" lang="zh-CN" altLang="en-US" strike="noStrike" cap="none" noProof="1" dirty="0">
                <a:latin typeface="Times New Roman" panose="02020603050405020304" pitchFamily="18" charset="0"/>
                <a:ea typeface="Kaiti SC Black" pitchFamily="2" charset="-122"/>
                <a:cs typeface="Times New Roman" panose="02020603050405020304" pitchFamily="18" charset="0"/>
              </a:rPr>
              <a:t> </a:t>
            </a:r>
            <a:endParaRPr kumimoji="1" lang="en-US" altLang="zh-CN" strike="noStrike" cap="none" noProof="1" dirty="0">
              <a:latin typeface="Times New Roman" panose="02020603050405020304" pitchFamily="18" charset="0"/>
              <a:cs typeface="Times New Roman" panose="02020603050405020304" pitchFamily="18" charset="0"/>
            </a:endParaRPr>
          </a:p>
          <a:p>
            <a:pPr algn="just" fontAlgn="base"/>
            <a:endParaRPr kumimoji="1" lang="en-US" altLang="zh-CN" strike="noStrike" cap="none" noProof="1" dirty="0">
              <a:latin typeface="Times New Roman" panose="02020603050405020304" pitchFamily="18" charset="0"/>
              <a:cs typeface="Times New Roman" panose="02020603050405020304" pitchFamily="18" charset="0"/>
            </a:endParaRPr>
          </a:p>
          <a:p>
            <a:pPr fontAlgn="base"/>
            <a:endParaRPr kumimoji="1" lang="zh-CN" altLang="en-US" strike="noStrike" noProof="1" dirty="0"/>
          </a:p>
        </p:txBody>
      </p:sp>
    </p:spTree>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372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2"/>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7373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73735" name="文本框 17"/>
          <p:cNvSpPr txBox="1"/>
          <p:nvPr/>
        </p:nvSpPr>
        <p:spPr>
          <a:xfrm>
            <a:off x="404813" y="425450"/>
            <a:ext cx="6080125" cy="584200"/>
          </a:xfrm>
          <a:prstGeom prst="rect">
            <a:avLst/>
          </a:prstGeom>
          <a:noFill/>
          <a:ln w="9525">
            <a:noFill/>
          </a:ln>
        </p:spPr>
        <p:txBody>
          <a:bodyPr wrap="square"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4.2  </a:t>
            </a:r>
            <a:r>
              <a:rPr lang="zh-CN" altLang="en-US" sz="3200" dirty="0">
                <a:solidFill>
                  <a:srgbClr val="1570C1"/>
                </a:solidFill>
                <a:latin typeface="微软雅黑" panose="020B0503020204020204" pitchFamily="34" charset="-122"/>
                <a:ea typeface="微软雅黑" panose="020B0503020204020204" pitchFamily="34" charset="-122"/>
              </a:rPr>
              <a:t>企业战略管理者面临的挑战</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nvSpPr>
        <p:spPr>
          <a:xfrm>
            <a:off x="476250" y="1514475"/>
            <a:ext cx="11239500" cy="4314825"/>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800" b="1" i="0" kern="1200" cap="all" baseline="0">
                <a:solidFill>
                  <a:schemeClr val="tx1"/>
                </a:solidFill>
                <a:effectLst/>
                <a:latin typeface="Kaiti SC Black" pitchFamily="2" charset="-122"/>
                <a:ea typeface="Kaiti SC Black" pitchFamily="2" charset="-122"/>
                <a:cs typeface="+mn-cs"/>
              </a:defRPr>
            </a:lvl1pPr>
            <a:lvl2pPr marL="685800" indent="-228600" algn="l" defTabSz="914400" rtl="0" eaLnBrk="1" latinLnBrk="0" hangingPunct="1">
              <a:lnSpc>
                <a:spcPct val="120000"/>
              </a:lnSpc>
              <a:spcBef>
                <a:spcPts val="500"/>
              </a:spcBef>
              <a:buClr>
                <a:schemeClr val="tx1"/>
              </a:buClr>
              <a:buFont typeface="Wingdings" panose="05000000000000000000" pitchFamily="2" charset="2"/>
              <a:buChar char="Ø"/>
              <a:defRPr sz="2400" b="1" i="0" kern="1200" cap="all" baseline="0">
                <a:solidFill>
                  <a:schemeClr val="tx1"/>
                </a:solidFill>
                <a:effectLst/>
                <a:latin typeface="Kaiti SC Black" pitchFamily="2" charset="-122"/>
                <a:ea typeface="Kaiti SC Black" pitchFamily="2" charset="-122"/>
                <a:cs typeface="+mn-cs"/>
              </a:defRPr>
            </a:lvl2pPr>
            <a:lvl3pPr marL="1143000" indent="-228600" algn="l" defTabSz="914400" rtl="0" eaLnBrk="1" latinLnBrk="0" hangingPunct="1">
              <a:lnSpc>
                <a:spcPct val="120000"/>
              </a:lnSpc>
              <a:spcBef>
                <a:spcPts val="500"/>
              </a:spcBef>
              <a:buClr>
                <a:schemeClr val="tx1"/>
              </a:buClr>
              <a:buFont typeface="Wingdings" panose="05000000000000000000" pitchFamily="2" charset="2"/>
              <a:buChar char="ü"/>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fontAlgn="base"/>
            <a:r>
              <a:rPr kumimoji="1" lang="zh-CN" altLang="en-US" sz="2800" strike="noStrike" noProof="1" dirty="0">
                <a:solidFill>
                  <a:srgbClr val="FF0000"/>
                </a:solidFill>
                <a:latin typeface="Kaiti SC Black" pitchFamily="2" charset="-122"/>
                <a:ea typeface="Kaiti SC Black" pitchFamily="2" charset="-122"/>
                <a:cs typeface="+mn-cs"/>
                <a:sym typeface="+mn-ea"/>
              </a:rPr>
              <a:t>环境动态化</a:t>
            </a:r>
            <a:r>
              <a:rPr kumimoji="1" lang="zh-CN" altLang="en-US" sz="2800" strike="noStrike" noProof="1" dirty="0">
                <a:solidFill>
                  <a:schemeClr val="tx1"/>
                </a:solidFill>
                <a:latin typeface="Kaiti SC Black" pitchFamily="2" charset="-122"/>
                <a:ea typeface="Kaiti SC Black" pitchFamily="2" charset="-122"/>
                <a:cs typeface="+mn-cs"/>
                <a:sym typeface="+mn-ea"/>
              </a:rPr>
              <a:t>对企业战略管理者的挑战</a:t>
            </a:r>
            <a:endParaRPr kumimoji="1" lang="zh-CN" altLang="en-US" strike="noStrike" cap="none" noProof="1" dirty="0">
              <a:latin typeface="Times New Roman" panose="02020603050405020304" pitchFamily="18" charset="0"/>
              <a:cs typeface="Times New Roman" panose="02020603050405020304" pitchFamily="18" charset="0"/>
            </a:endParaRPr>
          </a:p>
          <a:p>
            <a:pPr fontAlgn="base"/>
            <a:r>
              <a:rPr kumimoji="1" lang="zh-CN" altLang="en-US" strike="noStrike" cap="none" noProof="1" dirty="0">
                <a:latin typeface="Times New Roman" panose="02020603050405020304" pitchFamily="18" charset="0"/>
                <a:ea typeface="Kaiti SC Black" pitchFamily="2" charset="-122"/>
                <a:cs typeface="Times New Roman" panose="02020603050405020304" pitchFamily="18" charset="0"/>
              </a:rPr>
              <a:t>企业战略决策从事前、主动和理性决策转变为</a:t>
            </a:r>
            <a:r>
              <a:rPr kumimoji="1" lang="zh-CN" altLang="en-US" strike="noStrike" cap="none" noProof="1" dirty="0">
                <a:solidFill>
                  <a:srgbClr val="FF0000"/>
                </a:solidFill>
                <a:latin typeface="Times New Roman" panose="02020603050405020304" pitchFamily="18" charset="0"/>
                <a:ea typeface="Kaiti SC Black" pitchFamily="2" charset="-122"/>
                <a:cs typeface="Times New Roman" panose="02020603050405020304" pitchFamily="18" charset="0"/>
              </a:rPr>
              <a:t>事前与事中、主动与被动、理性与非理性决策</a:t>
            </a:r>
            <a:r>
              <a:rPr kumimoji="1" lang="zh-CN" altLang="en-US" strike="noStrike" cap="none" noProof="1" dirty="0">
                <a:latin typeface="Times New Roman" panose="02020603050405020304" pitchFamily="18" charset="0"/>
                <a:ea typeface="Kaiti SC Black" pitchFamily="2" charset="-122"/>
                <a:cs typeface="Times New Roman" panose="02020603050405020304" pitchFamily="18" charset="0"/>
              </a:rPr>
              <a:t>的结合，在企业战略制定与实施阶段形成动态的战略调整；</a:t>
            </a:r>
            <a:endParaRPr kumimoji="1" lang="zh-CN" altLang="en-US" strike="noStrike" cap="none" noProof="1" dirty="0">
              <a:latin typeface="Times New Roman" panose="02020603050405020304" pitchFamily="18" charset="0"/>
              <a:cs typeface="Times New Roman" panose="02020603050405020304" pitchFamily="18" charset="0"/>
            </a:endParaRPr>
          </a:p>
          <a:p>
            <a:pPr fontAlgn="base"/>
            <a:r>
              <a:rPr kumimoji="1" lang="zh-CN" altLang="en-US" strike="noStrike" cap="none" noProof="1" dirty="0">
                <a:latin typeface="Times New Roman" panose="02020603050405020304" pitchFamily="18" charset="0"/>
                <a:ea typeface="Kaiti SC Black" pitchFamily="2" charset="-122"/>
                <a:cs typeface="Times New Roman" panose="02020603050405020304" pitchFamily="18" charset="0"/>
              </a:rPr>
              <a:t>企业战略实施从严格执行计划的过程转变为</a:t>
            </a:r>
            <a:r>
              <a:rPr kumimoji="1" lang="zh-CN" altLang="en-US" strike="noStrike" cap="none" noProof="1" dirty="0">
                <a:solidFill>
                  <a:srgbClr val="FF0000"/>
                </a:solidFill>
                <a:latin typeface="Times New Roman" panose="02020603050405020304" pitchFamily="18" charset="0"/>
                <a:ea typeface="Kaiti SC Black" pitchFamily="2" charset="-122"/>
                <a:cs typeface="Times New Roman" panose="02020603050405020304" pitchFamily="18" charset="0"/>
              </a:rPr>
              <a:t>创造性实现愿景或战略定位</a:t>
            </a:r>
            <a:r>
              <a:rPr kumimoji="1" lang="zh-CN" altLang="en-US" strike="noStrike" cap="none" noProof="1" dirty="0">
                <a:latin typeface="Times New Roman" panose="02020603050405020304" pitchFamily="18" charset="0"/>
                <a:ea typeface="Kaiti SC Black" pitchFamily="2" charset="-122"/>
                <a:cs typeface="Times New Roman" panose="02020603050405020304" pitchFamily="18" charset="0"/>
              </a:rPr>
              <a:t>的过程，这在根本上推动企业战略管理主体开始从战略计划的管理者向战略行动的领导者的转变。</a:t>
            </a:r>
            <a:endParaRPr kumimoji="1" lang="en-US" altLang="zh-CN" strike="noStrike" cap="none" noProof="1" dirty="0">
              <a:latin typeface="Times New Roman" panose="02020603050405020304" pitchFamily="18" charset="0"/>
              <a:cs typeface="Times New Roman" panose="02020603050405020304" pitchFamily="18" charset="0"/>
            </a:endParaRPr>
          </a:p>
          <a:p>
            <a:pPr algn="just" fontAlgn="base"/>
            <a:endParaRPr kumimoji="1" lang="en-US" altLang="zh-CN" strike="noStrike" cap="none" noProof="1" dirty="0">
              <a:latin typeface="Times New Roman" panose="02020603050405020304" pitchFamily="18" charset="0"/>
              <a:cs typeface="Times New Roman" panose="02020603050405020304" pitchFamily="18" charset="0"/>
            </a:endParaRPr>
          </a:p>
          <a:p>
            <a:pPr fontAlgn="base"/>
            <a:endParaRPr kumimoji="1" lang="zh-CN" altLang="en-US" strike="noStrike" noProof="1" dirty="0"/>
          </a:p>
        </p:txBody>
      </p:sp>
    </p:spTree>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577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2"/>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7578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75783" name="文本框 17"/>
          <p:cNvSpPr txBox="1"/>
          <p:nvPr/>
        </p:nvSpPr>
        <p:spPr>
          <a:xfrm>
            <a:off x="404813" y="425450"/>
            <a:ext cx="6618287" cy="584200"/>
          </a:xfrm>
          <a:prstGeom prst="rect">
            <a:avLst/>
          </a:prstGeom>
          <a:noFill/>
          <a:ln w="9525">
            <a:noFill/>
          </a:ln>
        </p:spPr>
        <p:txBody>
          <a:bodyPr wrap="square"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4.3  </a:t>
            </a:r>
            <a:r>
              <a:rPr lang="zh-CN" altLang="en-US" sz="3200" dirty="0">
                <a:solidFill>
                  <a:srgbClr val="1570C1"/>
                </a:solidFill>
                <a:latin typeface="微软雅黑" panose="020B0503020204020204" pitchFamily="34" charset="-122"/>
                <a:ea typeface="微软雅黑" panose="020B0503020204020204" pitchFamily="34" charset="-122"/>
              </a:rPr>
              <a:t>企业战略管理者的角色和构成</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nvSpPr>
        <p:spPr>
          <a:xfrm>
            <a:off x="476250" y="1514475"/>
            <a:ext cx="11239500" cy="4314825"/>
          </a:xfrm>
          <a:prstGeom prst="rect">
            <a:avLst/>
          </a:prstGeom>
          <a:ln>
            <a:noFill/>
          </a:ln>
        </p:spPr>
        <p:txBody>
          <a:bodyPr vert="horz" lIns="91440" tIns="45720" rIns="91440" bIns="45720" rtlCol="0">
            <a:normAutofit lnSpcReduction="2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800" b="1" i="0" kern="1200" cap="all" baseline="0">
                <a:solidFill>
                  <a:schemeClr val="tx1"/>
                </a:solidFill>
                <a:effectLst/>
                <a:latin typeface="Kaiti SC Black" pitchFamily="2" charset="-122"/>
                <a:ea typeface="Kaiti SC Black" pitchFamily="2" charset="-122"/>
                <a:cs typeface="+mn-cs"/>
              </a:defRPr>
            </a:lvl1pPr>
            <a:lvl2pPr marL="685800" indent="-228600" algn="l" defTabSz="914400" rtl="0" eaLnBrk="1" latinLnBrk="0" hangingPunct="1">
              <a:lnSpc>
                <a:spcPct val="120000"/>
              </a:lnSpc>
              <a:spcBef>
                <a:spcPts val="500"/>
              </a:spcBef>
              <a:buClr>
                <a:schemeClr val="tx1"/>
              </a:buClr>
              <a:buFont typeface="Wingdings" panose="05000000000000000000" pitchFamily="2" charset="2"/>
              <a:buChar char="Ø"/>
              <a:defRPr sz="2400" b="1" i="0" kern="1200" cap="all" baseline="0">
                <a:solidFill>
                  <a:schemeClr val="tx1"/>
                </a:solidFill>
                <a:effectLst/>
                <a:latin typeface="Kaiti SC Black" pitchFamily="2" charset="-122"/>
                <a:ea typeface="Kaiti SC Black" pitchFamily="2" charset="-122"/>
                <a:cs typeface="+mn-cs"/>
              </a:defRPr>
            </a:lvl2pPr>
            <a:lvl3pPr marL="1143000" indent="-228600" algn="l" defTabSz="914400" rtl="0" eaLnBrk="1" latinLnBrk="0" hangingPunct="1">
              <a:lnSpc>
                <a:spcPct val="120000"/>
              </a:lnSpc>
              <a:spcBef>
                <a:spcPts val="500"/>
              </a:spcBef>
              <a:buClr>
                <a:schemeClr val="tx1"/>
              </a:buClr>
              <a:buFont typeface="Wingdings" panose="05000000000000000000" pitchFamily="2" charset="2"/>
              <a:buChar char="ü"/>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fontAlgn="base"/>
            <a:r>
              <a:rPr kumimoji="1" lang="zh-CN" altLang="en-US" strike="noStrike" cap="none" noProof="1" dirty="0">
                <a:solidFill>
                  <a:schemeClr val="tx1"/>
                </a:solidFill>
                <a:latin typeface="Times New Roman" panose="02020603050405020304" pitchFamily="18" charset="0"/>
                <a:ea typeface="Kaiti SC Black" pitchFamily="2" charset="-122"/>
                <a:cs typeface="Times New Roman" panose="02020603050405020304" pitchFamily="18" charset="0"/>
              </a:rPr>
              <a:t> </a:t>
            </a:r>
            <a:r>
              <a:rPr kumimoji="1" lang="zh-CN" altLang="en-US" sz="2800" strike="noStrike" noProof="1" dirty="0">
                <a:solidFill>
                  <a:schemeClr val="tx1"/>
                </a:solidFill>
                <a:latin typeface="Kaiti SC Black" pitchFamily="2" charset="-122"/>
                <a:ea typeface="Kaiti SC Black" pitchFamily="2" charset="-122"/>
                <a:cs typeface="+mn-cs"/>
                <a:sym typeface="+mn-ea"/>
              </a:rPr>
              <a:t>为了有效应对环境动态化和复杂化给企业战略管理带来的各种挑战，企业战略管理者的</a:t>
            </a:r>
            <a:r>
              <a:rPr kumimoji="1" lang="zh-CN" altLang="en-US" sz="2800" strike="noStrike" noProof="1" dirty="0">
                <a:solidFill>
                  <a:schemeClr val="tx1"/>
                </a:solidFill>
                <a:latin typeface="Kaiti SC Black" pitchFamily="2" charset="-122"/>
                <a:ea typeface="Kaiti SC Black" pitchFamily="2" charset="-122"/>
                <a:cs typeface="+mn-cs"/>
                <a:sym typeface="+mn-ea"/>
              </a:rPr>
              <a:t>角色和构成必须进行相应调整，从而为企业有效实施企业战略管理发挥正确作用。</a:t>
            </a:r>
            <a:endParaRPr kumimoji="1" lang="zh-CN" altLang="en-US" sz="2800" strike="noStrike" noProof="1" dirty="0">
              <a:solidFill>
                <a:schemeClr val="tx1"/>
              </a:solidFill>
              <a:sym typeface="+mn-ea"/>
            </a:endParaRPr>
          </a:p>
          <a:p>
            <a:pPr fontAlgn="base"/>
            <a:r>
              <a:rPr kumimoji="1" lang="zh-CN" altLang="en-US" sz="2800" strike="noStrike" noProof="1" dirty="0">
                <a:solidFill>
                  <a:schemeClr val="tx1"/>
                </a:solidFill>
                <a:latin typeface="Kaiti SC Black" pitchFamily="2" charset="-122"/>
                <a:ea typeface="Kaiti SC Black" pitchFamily="2" charset="-122"/>
                <a:cs typeface="+mn-cs"/>
                <a:sym typeface="+mn-ea"/>
              </a:rPr>
              <a:t>在动态化和复杂化情境下，有效实施战略管理的关键要素有：</a:t>
            </a:r>
            <a:r>
              <a:rPr kumimoji="1" lang="zh-CN" altLang="en-US" sz="2800" strike="noStrike" noProof="1" dirty="0">
                <a:solidFill>
                  <a:srgbClr val="FF0000"/>
                </a:solidFill>
                <a:latin typeface="Kaiti SC Black" pitchFamily="2" charset="-122"/>
                <a:ea typeface="Kaiti SC Black" pitchFamily="2" charset="-122"/>
                <a:cs typeface="+mn-cs"/>
                <a:sym typeface="+mn-ea"/>
              </a:rPr>
              <a:t>承诺坚定、决策科学、富于创新、行动迅速</a:t>
            </a:r>
            <a:r>
              <a:rPr kumimoji="1" lang="zh-CN" altLang="en-US" sz="2800" strike="noStrike" noProof="1" dirty="0">
                <a:solidFill>
                  <a:schemeClr val="tx1"/>
                </a:solidFill>
                <a:latin typeface="Kaiti SC Black" pitchFamily="2" charset="-122"/>
                <a:ea typeface="Kaiti SC Black" pitchFamily="2" charset="-122"/>
                <a:cs typeface="+mn-cs"/>
                <a:sym typeface="+mn-ea"/>
              </a:rPr>
              <a:t>。</a:t>
            </a:r>
            <a:endParaRPr kumimoji="1" lang="zh-CN" altLang="en-US" sz="2800" strike="noStrike" noProof="1" dirty="0">
              <a:solidFill>
                <a:schemeClr val="tx1"/>
              </a:solidFill>
              <a:sym typeface="+mn-ea"/>
            </a:endParaRPr>
          </a:p>
          <a:p>
            <a:pPr fontAlgn="base"/>
            <a:r>
              <a:rPr kumimoji="1" lang="zh-CN" altLang="en-US" sz="2800" strike="noStrike" noProof="1" dirty="0">
                <a:solidFill>
                  <a:schemeClr val="tx1"/>
                </a:solidFill>
                <a:latin typeface="Kaiti SC Black" pitchFamily="2" charset="-122"/>
                <a:ea typeface="Kaiti SC Black" pitchFamily="2" charset="-122"/>
                <a:cs typeface="+mn-cs"/>
                <a:sym typeface="+mn-ea"/>
              </a:rPr>
              <a:t>一般来说，企业战略管理者包括企业董事会、高层管理者、中层管理者、非正式组织领导以及企业聘请的咨询顾问或者咨询</a:t>
            </a:r>
            <a:r>
              <a:rPr kumimoji="1" lang="zh-CN" altLang="en-US" sz="2800" strike="noStrike" noProof="1" dirty="0">
                <a:solidFill>
                  <a:schemeClr val="tx1"/>
                </a:solidFill>
                <a:latin typeface="Kaiti SC Black" pitchFamily="2" charset="-122"/>
                <a:ea typeface="Kaiti SC Black" pitchFamily="2" charset="-122"/>
                <a:cs typeface="+mn-cs"/>
                <a:sym typeface="+mn-ea"/>
              </a:rPr>
              <a:t>顾问公司，这些团体及其成员代表不同的利益诉求，以不同方式在企业战略管理中发挥作用。</a:t>
            </a:r>
            <a:endParaRPr kumimoji="1" lang="zh-CN" altLang="en-US" sz="2800" strike="noStrike" noProof="1" dirty="0">
              <a:solidFill>
                <a:schemeClr val="tx1"/>
              </a:solidFill>
              <a:sym typeface="+mn-ea"/>
            </a:endParaRPr>
          </a:p>
        </p:txBody>
      </p:sp>
    </p:spTree>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782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2"/>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nvGrpSpPr>
          <p:cNvPr id="7782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77831" name="文本框 17"/>
          <p:cNvSpPr txBox="1"/>
          <p:nvPr/>
        </p:nvSpPr>
        <p:spPr>
          <a:xfrm>
            <a:off x="404813" y="425450"/>
            <a:ext cx="6618287" cy="584200"/>
          </a:xfrm>
          <a:prstGeom prst="rect">
            <a:avLst/>
          </a:prstGeom>
          <a:noFill/>
          <a:ln w="9525">
            <a:noFill/>
          </a:ln>
        </p:spPr>
        <p:txBody>
          <a:bodyPr wrap="square"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4.4  </a:t>
            </a:r>
            <a:r>
              <a:rPr lang="zh-CN" altLang="en-US" sz="3200" dirty="0">
                <a:solidFill>
                  <a:srgbClr val="1570C1"/>
                </a:solidFill>
                <a:latin typeface="微软雅黑" panose="020B0503020204020204" pitchFamily="34" charset="-122"/>
                <a:ea typeface="微软雅黑" panose="020B0503020204020204" pitchFamily="34" charset="-122"/>
              </a:rPr>
              <a:t>企业战略的领导者</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nvSpPr>
        <p:spPr>
          <a:xfrm>
            <a:off x="476250" y="1111250"/>
            <a:ext cx="11239500" cy="5584825"/>
          </a:xfrm>
          <a:prstGeom prst="rect">
            <a:avLst/>
          </a:prstGeom>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800" b="1" i="0" kern="1200" cap="all" baseline="0">
                <a:solidFill>
                  <a:schemeClr val="tx1"/>
                </a:solidFill>
                <a:effectLst/>
                <a:latin typeface="Kaiti SC Black" pitchFamily="2" charset="-122"/>
                <a:ea typeface="Kaiti SC Black" pitchFamily="2" charset="-122"/>
                <a:cs typeface="+mn-cs"/>
              </a:defRPr>
            </a:lvl1pPr>
            <a:lvl2pPr marL="685800" indent="-228600" algn="l" defTabSz="914400" rtl="0" eaLnBrk="1" latinLnBrk="0" hangingPunct="1">
              <a:lnSpc>
                <a:spcPct val="120000"/>
              </a:lnSpc>
              <a:spcBef>
                <a:spcPts val="500"/>
              </a:spcBef>
              <a:buClr>
                <a:schemeClr val="tx1"/>
              </a:buClr>
              <a:buFont typeface="Wingdings" panose="05000000000000000000" pitchFamily="2" charset="2"/>
              <a:buChar char="Ø"/>
              <a:defRPr sz="2400" b="1" i="0" kern="1200" cap="all" baseline="0">
                <a:solidFill>
                  <a:schemeClr val="tx1"/>
                </a:solidFill>
                <a:effectLst/>
                <a:latin typeface="Kaiti SC Black" pitchFamily="2" charset="-122"/>
                <a:ea typeface="Kaiti SC Black" pitchFamily="2" charset="-122"/>
                <a:cs typeface="+mn-cs"/>
              </a:defRPr>
            </a:lvl2pPr>
            <a:lvl3pPr marL="1143000" indent="-228600" algn="l" defTabSz="914400" rtl="0" eaLnBrk="1" latinLnBrk="0" hangingPunct="1">
              <a:lnSpc>
                <a:spcPct val="120000"/>
              </a:lnSpc>
              <a:spcBef>
                <a:spcPts val="500"/>
              </a:spcBef>
              <a:buClr>
                <a:schemeClr val="tx1"/>
              </a:buClr>
              <a:buFont typeface="Wingdings" panose="05000000000000000000" pitchFamily="2" charset="2"/>
              <a:buChar char="ü"/>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lgn="just" fontAlgn="base"/>
            <a:r>
              <a:rPr kumimoji="1" lang="zh-CN" altLang="en-US" sz="2400" strike="noStrike" noProof="1" dirty="0">
                <a:solidFill>
                  <a:schemeClr val="tx1"/>
                </a:solidFill>
                <a:latin typeface="Kaiti SC Black" pitchFamily="2" charset="-122"/>
                <a:ea typeface="Kaiti SC Black" pitchFamily="2" charset="-122"/>
                <a:cs typeface="+mn-cs"/>
                <a:sym typeface="+mn-ea"/>
              </a:rPr>
              <a:t>企业</a:t>
            </a:r>
            <a:r>
              <a:rPr kumimoji="1" lang="zh-CN" altLang="en-US" sz="2400" strike="noStrike" noProof="1" dirty="0">
                <a:latin typeface="Kaiti SC Black" pitchFamily="2" charset="-122"/>
                <a:ea typeface="Kaiti SC Black" pitchFamily="2" charset="-122"/>
                <a:cs typeface="+mn-cs"/>
                <a:sym typeface="+mn-ea"/>
              </a:rPr>
              <a:t>战略</a:t>
            </a:r>
            <a:r>
              <a:rPr kumimoji="1" lang="zh-CN" altLang="en-US" sz="2400" strike="noStrike" noProof="1" dirty="0">
                <a:solidFill>
                  <a:schemeClr val="tx1"/>
                </a:solidFill>
                <a:latin typeface="Kaiti SC Black" pitchFamily="2" charset="-122"/>
                <a:ea typeface="Kaiti SC Black" pitchFamily="2" charset="-122"/>
                <a:cs typeface="+mn-cs"/>
                <a:sym typeface="+mn-ea"/>
              </a:rPr>
              <a:t>的领导者首先是战略管理者，通常可能是企业控股股东、董事长或者企业总经理，甚至同时拥有上述三个身份。其</a:t>
            </a:r>
            <a:r>
              <a:rPr kumimoji="1" lang="zh-CN" altLang="en-US" sz="2400" strike="noStrike" noProof="1" dirty="0">
                <a:solidFill>
                  <a:schemeClr val="tx1"/>
                </a:solidFill>
                <a:latin typeface="Kaiti SC Black" pitchFamily="2" charset="-122"/>
                <a:ea typeface="Kaiti SC Black" pitchFamily="2" charset="-122"/>
                <a:cs typeface="+mn-cs"/>
                <a:sym typeface="+mn-ea"/>
              </a:rPr>
              <a:t>对其他企业战略管理者的影响力并不完全来自所有拥有的控股股东的位置或职权，而是来自于其所拥有的</a:t>
            </a:r>
            <a:r>
              <a:rPr kumimoji="1" lang="zh-CN" altLang="en-US" sz="2400" strike="noStrike" noProof="1" dirty="0">
                <a:solidFill>
                  <a:srgbClr val="FF0000"/>
                </a:solidFill>
                <a:latin typeface="Kaiti SC Black" pitchFamily="2" charset="-122"/>
                <a:ea typeface="Kaiti SC Black" pitchFamily="2" charset="-122"/>
                <a:cs typeface="+mn-cs"/>
                <a:sym typeface="+mn-ea"/>
              </a:rPr>
              <a:t>价值观和能力（超前意识、权变意识、长远意识、创新意识、全局意识、人本意识）</a:t>
            </a:r>
            <a:r>
              <a:rPr kumimoji="1" lang="zh-CN" altLang="en-US" sz="2400" strike="noStrike" noProof="1" dirty="0">
                <a:solidFill>
                  <a:schemeClr val="tx1"/>
                </a:solidFill>
                <a:latin typeface="Kaiti SC Black" pitchFamily="2" charset="-122"/>
                <a:ea typeface="Kaiti SC Black" pitchFamily="2" charset="-122"/>
                <a:cs typeface="+mn-cs"/>
                <a:sym typeface="+mn-ea"/>
              </a:rPr>
              <a:t>。</a:t>
            </a:r>
            <a:endParaRPr kumimoji="1" lang="zh-CN" altLang="en-US" sz="2400" strike="noStrike" noProof="1" dirty="0">
              <a:solidFill>
                <a:schemeClr val="tx1"/>
              </a:solidFill>
              <a:sym typeface="+mn-ea"/>
            </a:endParaRPr>
          </a:p>
          <a:p>
            <a:pPr algn="just" fontAlgn="base"/>
            <a:r>
              <a:rPr kumimoji="1" lang="zh-CN" altLang="en-US" sz="2400" strike="noStrike" noProof="1" dirty="0">
                <a:solidFill>
                  <a:schemeClr val="tx1"/>
                </a:solidFill>
                <a:latin typeface="Kaiti SC Black" pitchFamily="2" charset="-122"/>
                <a:ea typeface="Kaiti SC Black" pitchFamily="2" charset="-122"/>
                <a:cs typeface="+mn-cs"/>
                <a:sym typeface="+mn-ea"/>
              </a:rPr>
              <a:t>企业</a:t>
            </a:r>
            <a:r>
              <a:rPr kumimoji="1" lang="zh-CN" altLang="en-US" sz="2400" strike="noStrike" noProof="1" dirty="0">
                <a:latin typeface="Kaiti SC Black" pitchFamily="2" charset="-122"/>
                <a:ea typeface="Kaiti SC Black" pitchFamily="2" charset="-122"/>
                <a:cs typeface="+mn-cs"/>
                <a:sym typeface="+mn-ea"/>
              </a:rPr>
              <a:t>战略</a:t>
            </a:r>
            <a:r>
              <a:rPr kumimoji="1" lang="zh-CN" altLang="en-US" sz="2400" strike="noStrike" noProof="1" dirty="0">
                <a:solidFill>
                  <a:schemeClr val="tx1"/>
                </a:solidFill>
                <a:latin typeface="Kaiti SC Black" pitchFamily="2" charset="-122"/>
                <a:ea typeface="Kaiti SC Black" pitchFamily="2" charset="-122"/>
                <a:cs typeface="+mn-cs"/>
                <a:sym typeface="+mn-ea"/>
              </a:rPr>
              <a:t>的领导者因为具备特定素质而成为企业的战略家，能够运用特定</a:t>
            </a:r>
            <a:r>
              <a:rPr kumimoji="1" lang="zh-CN" altLang="en-US" sz="2400" strike="noStrike" noProof="1" dirty="0">
                <a:solidFill>
                  <a:schemeClr val="tx1"/>
                </a:solidFill>
                <a:latin typeface="Kaiti SC Black" pitchFamily="2" charset="-122"/>
                <a:ea typeface="Kaiti SC Black" pitchFamily="2" charset="-122"/>
                <a:cs typeface="+mn-cs"/>
                <a:sym typeface="+mn-ea"/>
              </a:rPr>
              <a:t>方式和态度看待和应对处理各种利益冲突：长期与短期冲突、整体与局部冲突、理想与现实冲突，最终在不可为处做出一番伟大事业。</a:t>
            </a:r>
            <a:endParaRPr kumimoji="1" lang="zh-CN" altLang="en-US" sz="2400" strike="noStrike" noProof="1" dirty="0">
              <a:solidFill>
                <a:schemeClr val="tx1"/>
              </a:solidFill>
              <a:sym typeface="+mn-ea"/>
            </a:endParaRPr>
          </a:p>
          <a:p>
            <a:pPr algn="just" fontAlgn="base"/>
            <a:r>
              <a:rPr kumimoji="1" lang="zh-CN" altLang="en-US" sz="2400" strike="noStrike" noProof="1" dirty="0">
                <a:solidFill>
                  <a:schemeClr val="tx1"/>
                </a:solidFill>
                <a:latin typeface="Kaiti SC Black" pitchFamily="2" charset="-122"/>
                <a:ea typeface="Kaiti SC Black" pitchFamily="2" charset="-122"/>
                <a:cs typeface="+mn-cs"/>
                <a:sym typeface="+mn-ea"/>
              </a:rPr>
              <a:t>与企业战略管理者相比，企业</a:t>
            </a:r>
            <a:r>
              <a:rPr kumimoji="1" lang="zh-CN" altLang="en-US" sz="2400" strike="noStrike" noProof="1" dirty="0">
                <a:latin typeface="Kaiti SC Black" pitchFamily="2" charset="-122"/>
                <a:ea typeface="Kaiti SC Black" pitchFamily="2" charset="-122"/>
                <a:cs typeface="+mn-cs"/>
                <a:sym typeface="+mn-ea"/>
              </a:rPr>
              <a:t>战略</a:t>
            </a:r>
            <a:r>
              <a:rPr kumimoji="1" lang="zh-CN" altLang="en-US" sz="2400" strike="noStrike" noProof="1" dirty="0">
                <a:solidFill>
                  <a:schemeClr val="tx1"/>
                </a:solidFill>
                <a:latin typeface="Kaiti SC Black" pitchFamily="2" charset="-122"/>
                <a:ea typeface="Kaiti SC Black" pitchFamily="2" charset="-122"/>
                <a:cs typeface="+mn-cs"/>
                <a:sym typeface="+mn-ea"/>
              </a:rPr>
              <a:t>的领导者还具有一些特殊能力，使其能在战略制定过程中克服治理机制缺陷以及理性决策不足，加快决策速度，化解企业利益集团矛盾，克服内部资源和能力局限，</a:t>
            </a:r>
            <a:r>
              <a:rPr kumimoji="1" lang="zh-CN" altLang="en-US" sz="2400" strike="noStrike" noProof="1" dirty="0">
                <a:latin typeface="Kaiti SC Black" pitchFamily="2" charset="-122"/>
                <a:ea typeface="Kaiti SC Black" pitchFamily="2" charset="-122"/>
                <a:cs typeface="+mn-cs"/>
                <a:sym typeface="+mn-ea"/>
              </a:rPr>
              <a:t>激励下属、</a:t>
            </a:r>
            <a:r>
              <a:rPr kumimoji="1" lang="zh-CN" altLang="en-US" sz="2400" strike="noStrike" noProof="1" dirty="0">
                <a:solidFill>
                  <a:schemeClr val="tx1"/>
                </a:solidFill>
                <a:latin typeface="Kaiti SC Black" pitchFamily="2" charset="-122"/>
                <a:ea typeface="Kaiti SC Black" pitchFamily="2" charset="-122"/>
                <a:cs typeface="+mn-cs"/>
                <a:sym typeface="+mn-ea"/>
              </a:rPr>
              <a:t>形成共识，调动企业员工的积极性和创造性。</a:t>
            </a:r>
            <a:endParaRPr kumimoji="1" lang="zh-CN" altLang="en-US" sz="2400" strike="noStrike" noProof="1" dirty="0">
              <a:solidFill>
                <a:schemeClr val="tx1"/>
              </a:solidFill>
              <a:sym typeface="+mn-ea"/>
            </a:endParaRPr>
          </a:p>
        </p:txBody>
      </p:sp>
    </p:spTree>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79877" name="文本框 2"/>
          <p:cNvSpPr txBox="1"/>
          <p:nvPr/>
        </p:nvSpPr>
        <p:spPr>
          <a:xfrm>
            <a:off x="300038" y="95250"/>
            <a:ext cx="615950" cy="2103438"/>
          </a:xfrm>
          <a:prstGeom prst="rect">
            <a:avLst/>
          </a:prstGeom>
          <a:noFill/>
          <a:ln w="9525">
            <a:noFill/>
          </a:ln>
        </p:spPr>
        <p:txBody>
          <a:bodyPr vert="eaVert" anchor="t" anchorCtr="0">
            <a:spAutoFit/>
          </a:bodyPr>
          <a:p>
            <a:pPr algn="dist"/>
            <a:r>
              <a:rPr lang="zh-CN" altLang="en-US" sz="2800" b="1" dirty="0">
                <a:solidFill>
                  <a:schemeClr val="bg1"/>
                </a:solidFill>
                <a:latin typeface="微软雅黑" panose="020B0503020204020204" pitchFamily="34" charset="-122"/>
                <a:ea typeface="微软雅黑" panose="020B0503020204020204" pitchFamily="34" charset="-122"/>
              </a:rPr>
              <a:t>复习与思考</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3255" name="文本框 10"/>
          <p:cNvSpPr txBox="1"/>
          <p:nvPr/>
        </p:nvSpPr>
        <p:spPr>
          <a:xfrm>
            <a:off x="1485900" y="1800225"/>
            <a:ext cx="10891838" cy="3968750"/>
          </a:xfrm>
          <a:prstGeom prst="rect">
            <a:avLst/>
          </a:prstGeom>
          <a:noFill/>
          <a:ln w="9525">
            <a:noFill/>
          </a:ln>
        </p:spPr>
        <p:txBody>
          <a:bodyPr anchor="t" anchorCtr="0">
            <a:spAutoFit/>
          </a:bodyPr>
          <a:p>
            <a:pPr marL="457200" indent="-457200">
              <a:lnSpc>
                <a:spcPct val="150000"/>
              </a:lnSpc>
              <a:buFont typeface="Calibri Light" panose="020F0302020204030204" pitchFamily="34" charset="0"/>
              <a:buAutoNum type="arabicPeriod"/>
            </a:pPr>
            <a:r>
              <a:rPr lang="zh-CN" altLang="en-US" sz="2800" dirty="0">
                <a:solidFill>
                  <a:srgbClr val="1570C1"/>
                </a:solidFill>
                <a:latin typeface="微软雅黑" panose="020B0503020204020204" pitchFamily="34" charset="-122"/>
                <a:ea typeface="微软雅黑" panose="020B0503020204020204" pitchFamily="34" charset="-122"/>
              </a:rPr>
              <a:t>怎样理解企业使命、愿景与战略目标间的关系？</a:t>
            </a:r>
            <a:endParaRPr lang="zh-CN" altLang="en-US" sz="28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Calibri Light" panose="020F0302020204030204" pitchFamily="34" charset="0"/>
              <a:buAutoNum type="arabicPeriod"/>
            </a:pPr>
            <a:r>
              <a:rPr lang="zh-CN" altLang="en-US" sz="2800" dirty="0">
                <a:solidFill>
                  <a:srgbClr val="1570C1"/>
                </a:solidFill>
                <a:latin typeface="微软雅黑" panose="020B0503020204020204" pitchFamily="34" charset="-122"/>
                <a:ea typeface="微软雅黑" panose="020B0503020204020204" pitchFamily="34" charset="-122"/>
              </a:rPr>
              <a:t>试比较企业使命的产品技术导向和顾客需求导向，谈谈你的看法。</a:t>
            </a:r>
            <a:endParaRPr lang="zh-CN" altLang="en-US" sz="28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Calibri Light" panose="020F0302020204030204" pitchFamily="34" charset="0"/>
              <a:buAutoNum type="arabicPeriod"/>
            </a:pPr>
            <a:r>
              <a:rPr lang="zh-CN" altLang="en-US" sz="2800" dirty="0">
                <a:solidFill>
                  <a:srgbClr val="1570C1"/>
                </a:solidFill>
                <a:latin typeface="微软雅黑" panose="020B0503020204020204" pitchFamily="34" charset="-122"/>
                <a:ea typeface="微软雅黑" panose="020B0503020204020204" pitchFamily="34" charset="-122"/>
              </a:rPr>
              <a:t>试述企业战略目标的重要性，企业战略目标包括哪些内容？</a:t>
            </a:r>
            <a:endParaRPr lang="zh-CN" altLang="en-US" sz="28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Calibri Light" panose="020F0302020204030204" pitchFamily="34" charset="0"/>
              <a:buAutoNum type="arabicPeriod"/>
            </a:pPr>
            <a:r>
              <a:rPr lang="zh-CN" altLang="en-US" sz="2800" dirty="0">
                <a:solidFill>
                  <a:srgbClr val="1570C1"/>
                </a:solidFill>
                <a:latin typeface="微软雅黑" panose="020B0503020204020204" pitchFamily="34" charset="-122"/>
                <a:ea typeface="微软雅黑" panose="020B0503020204020204" pitchFamily="34" charset="-122"/>
              </a:rPr>
              <a:t>开发企业使命与愿景时应注意哪些问题？</a:t>
            </a:r>
            <a:endParaRPr lang="zh-CN" altLang="en-US" sz="28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Calibri Light" panose="020F0302020204030204" pitchFamily="34" charset="0"/>
              <a:buAutoNum type="arabicPeriod"/>
            </a:pPr>
            <a:r>
              <a:rPr lang="zh-CN" altLang="en-US" sz="2800" dirty="0">
                <a:solidFill>
                  <a:srgbClr val="1570C1"/>
                </a:solidFill>
                <a:latin typeface="微软雅黑" panose="020B0503020204020204" pitchFamily="34" charset="-122"/>
                <a:ea typeface="微软雅黑" panose="020B0503020204020204" pitchFamily="34" charset="-122"/>
              </a:rPr>
              <a:t>战略性企业社会责任有哪些特征？</a:t>
            </a:r>
            <a:endParaRPr lang="zh-CN" altLang="en-US" sz="2800" dirty="0">
              <a:solidFill>
                <a:srgbClr val="1570C1"/>
              </a:solidFill>
              <a:latin typeface="微软雅黑" panose="020B0503020204020204" pitchFamily="34" charset="-122"/>
              <a:ea typeface="微软雅黑" panose="020B0503020204020204" pitchFamily="34" charset="-122"/>
            </a:endParaRPr>
          </a:p>
          <a:p>
            <a:pPr marL="457200" indent="-457200">
              <a:lnSpc>
                <a:spcPct val="150000"/>
              </a:lnSpc>
              <a:buFont typeface="Calibri Light" panose="020F0302020204030204" pitchFamily="34" charset="0"/>
              <a:buAutoNum type="arabicPeriod"/>
            </a:pPr>
            <a:r>
              <a:rPr lang="zh-CN" altLang="en-US" sz="2800" dirty="0">
                <a:solidFill>
                  <a:srgbClr val="1570C1"/>
                </a:solidFill>
                <a:latin typeface="微软雅黑" panose="020B0503020204020204" pitchFamily="34" charset="-122"/>
                <a:ea typeface="微软雅黑" panose="020B0503020204020204" pitchFamily="34" charset="-122"/>
              </a:rPr>
              <a:t>试述企业社会责任战略的四种形式。</a:t>
            </a:r>
            <a:endParaRPr lang="zh-CN" altLang="en-US" sz="28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255"/>
                                        </p:tgtEl>
                                        <p:attrNameLst>
                                          <p:attrName>style.visibility</p:attrName>
                                        </p:attrNameLst>
                                      </p:cBhvr>
                                      <p:to>
                                        <p:strVal val="visible"/>
                                      </p:to>
                                    </p:set>
                                    <p:animEffect transition="in" filter="fade">
                                      <p:cBhvr>
                                        <p:cTn id="7" dur="500"/>
                                        <p:tgtEl>
                                          <p:spTgt spid="53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直角三角形 3"/>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solidFill>
                <a:prstClr val="white"/>
              </a:solidFill>
              <a:latin typeface="微软雅黑" panose="020B0503020204020204" pitchFamily="34" charset="-122"/>
              <a:ea typeface="微软雅黑" panose="020B0503020204020204" pitchFamily="34" charset="-122"/>
            </a:endParaRPr>
          </a:p>
        </p:txBody>
      </p:sp>
      <p:sp>
        <p:nvSpPr>
          <p:cNvPr id="80898" name="文本框 2"/>
          <p:cNvSpPr txBox="1"/>
          <p:nvPr/>
        </p:nvSpPr>
        <p:spPr>
          <a:xfrm>
            <a:off x="314325" y="306388"/>
            <a:ext cx="674688" cy="1360487"/>
          </a:xfrm>
          <a:prstGeom prst="rect">
            <a:avLst/>
          </a:prstGeom>
          <a:noFill/>
          <a:ln w="9525">
            <a:noFill/>
          </a:ln>
        </p:spPr>
        <p:txBody>
          <a:bodyPr vert="eaVert" wrap="square" anchor="t" anchorCtr="0">
            <a:spAutoFit/>
          </a:bodyPr>
          <a:p>
            <a:pPr algn="dist"/>
            <a:r>
              <a:rPr lang="zh-CN" altLang="en-US" sz="3200" b="1">
                <a:solidFill>
                  <a:srgbClr val="FFFFFF"/>
                </a:solidFill>
                <a:latin typeface="微软雅黑" panose="020B0503020204020204" pitchFamily="34" charset="-122"/>
                <a:ea typeface="微软雅黑" panose="020B0503020204020204" pitchFamily="34" charset="-122"/>
              </a:rPr>
              <a:t>小测验</a:t>
            </a:r>
            <a:endParaRPr lang="zh-CN" altLang="en-US" sz="3200" b="1">
              <a:solidFill>
                <a:srgbClr val="FFFFFF"/>
              </a:solidFill>
              <a:latin typeface="微软雅黑" panose="020B0503020204020204" pitchFamily="34" charset="-122"/>
              <a:ea typeface="微软雅黑" panose="020B0503020204020204" pitchFamily="34" charset="-122"/>
            </a:endParaRPr>
          </a:p>
        </p:txBody>
      </p:sp>
      <p:sp>
        <p:nvSpPr>
          <p:cNvPr id="80899" name="文本框 4"/>
          <p:cNvSpPr txBox="1"/>
          <p:nvPr/>
        </p:nvSpPr>
        <p:spPr>
          <a:xfrm>
            <a:off x="1298575" y="1165225"/>
            <a:ext cx="10834688" cy="5692775"/>
          </a:xfrm>
          <a:prstGeom prst="rect">
            <a:avLst/>
          </a:prstGeom>
          <a:noFill/>
          <a:ln w="9525">
            <a:noFill/>
          </a:ln>
        </p:spPr>
        <p:txBody>
          <a:bodyPr wrap="square" anchor="t" anchorCtr="0">
            <a:spAutoFit/>
          </a:bodyPr>
          <a:p>
            <a:pPr algn="just"/>
            <a:r>
              <a:rPr lang="zh-CN" altLang="en-US" sz="2800">
                <a:latin typeface="Calibri" panose="020F0502020204030204" pitchFamily="34" charset="0"/>
                <a:ea typeface="宋体" panose="02010600030101010101" pitchFamily="2" charset="-122"/>
              </a:rPr>
              <a:t>（</a:t>
            </a:r>
            <a:r>
              <a:rPr lang="en-US" altLang="zh-CN" sz="2800">
                <a:latin typeface="Calibri" panose="020F0502020204030204" pitchFamily="34" charset="0"/>
                <a:ea typeface="宋体" panose="02010600030101010101" pitchFamily="2" charset="-122"/>
              </a:rPr>
              <a:t>1</a:t>
            </a:r>
            <a:r>
              <a:rPr lang="zh-CN" altLang="en-US" sz="2800">
                <a:latin typeface="Calibri" panose="020F0502020204030204" pitchFamily="34" charset="0"/>
                <a:ea typeface="宋体" panose="02010600030101010101" pitchFamily="2" charset="-122"/>
              </a:rPr>
              <a:t>）“人人享用新鲜科技，用新鲜科技造福全人类，这是宏基责无旁贷的使命，也是永无止境的追求。”这是从哪个角度对企业使命进行表述？（  ）</a:t>
            </a:r>
            <a:endParaRPr lang="zh-CN" altLang="en-US" sz="2800">
              <a:latin typeface="Calibri" panose="020F0502020204030204" pitchFamily="34" charset="0"/>
              <a:ea typeface="宋体" panose="02010600030101010101" pitchFamily="2" charset="-122"/>
            </a:endParaRPr>
          </a:p>
          <a:p>
            <a:pPr algn="just"/>
            <a:r>
              <a:rPr lang="zh-CN" altLang="en-US" sz="2800">
                <a:latin typeface="Calibri" panose="020F0502020204030204" pitchFamily="34" charset="0"/>
                <a:ea typeface="宋体" panose="02010600030101010101" pitchFamily="2" charset="-122"/>
              </a:rPr>
              <a:t>A</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从产品或服务的角度；B</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从技术的角度；</a:t>
            </a:r>
            <a:endParaRPr lang="zh-CN" altLang="en-US" sz="2800">
              <a:latin typeface="Calibri" panose="020F0502020204030204" pitchFamily="34" charset="0"/>
              <a:ea typeface="宋体" panose="02010600030101010101" pitchFamily="2" charset="-122"/>
            </a:endParaRPr>
          </a:p>
          <a:p>
            <a:pPr algn="just"/>
            <a:r>
              <a:rPr lang="zh-CN" altLang="en-US" sz="2800">
                <a:latin typeface="Calibri" panose="020F0502020204030204" pitchFamily="34" charset="0"/>
                <a:ea typeface="宋体" panose="02010600030101010101" pitchFamily="2" charset="-122"/>
              </a:rPr>
              <a:t>C</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从市场目标的角度；    D</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从对员工关心的角度</a:t>
            </a:r>
            <a:endParaRPr lang="zh-CN" altLang="en-US" sz="2800">
              <a:latin typeface="Calibri" panose="020F0502020204030204" pitchFamily="34" charset="0"/>
              <a:ea typeface="宋体" panose="02010600030101010101" pitchFamily="2" charset="-122"/>
            </a:endParaRPr>
          </a:p>
          <a:p>
            <a:pPr algn="just"/>
            <a:endParaRPr lang="zh-CN" altLang="en-US" sz="2800">
              <a:latin typeface="Calibri" panose="020F0502020204030204" pitchFamily="34" charset="0"/>
              <a:ea typeface="宋体" panose="02010600030101010101" pitchFamily="2" charset="-122"/>
            </a:endParaRPr>
          </a:p>
          <a:p>
            <a:pPr algn="just"/>
            <a:r>
              <a:rPr lang="zh-CN" altLang="en-US" sz="2800">
                <a:latin typeface="Calibri" panose="020F0502020204030204" pitchFamily="34" charset="0"/>
                <a:ea typeface="宋体" panose="02010600030101010101" pitchFamily="2" charset="-122"/>
              </a:rPr>
              <a:t>（</a:t>
            </a:r>
            <a:r>
              <a:rPr lang="en-US" altLang="zh-CN" sz="2800">
                <a:latin typeface="Calibri" panose="020F0502020204030204" pitchFamily="34" charset="0"/>
                <a:ea typeface="宋体" panose="02010600030101010101" pitchFamily="2" charset="-122"/>
              </a:rPr>
              <a:t>2</a:t>
            </a:r>
            <a:r>
              <a:rPr lang="zh-CN" altLang="en-US" sz="2800">
                <a:latin typeface="Calibri" panose="020F0502020204030204" pitchFamily="34" charset="0"/>
                <a:ea typeface="宋体" panose="02010600030101010101" pitchFamily="2" charset="-122"/>
              </a:rPr>
              <a:t>）在企业使命与战略的关系中，不包含下列哪项（ ）</a:t>
            </a:r>
            <a:endParaRPr lang="zh-CN" altLang="en-US" sz="2800">
              <a:latin typeface="Calibri" panose="020F0502020204030204" pitchFamily="34" charset="0"/>
              <a:ea typeface="宋体" panose="02010600030101010101" pitchFamily="2" charset="-122"/>
            </a:endParaRPr>
          </a:p>
          <a:p>
            <a:pPr algn="just"/>
            <a:r>
              <a:rPr lang="zh-CN" altLang="en-US" sz="2800">
                <a:latin typeface="Calibri" panose="020F0502020204030204" pitchFamily="34" charset="0"/>
                <a:ea typeface="宋体" panose="02010600030101010101" pitchFamily="2" charset="-122"/>
              </a:rPr>
              <a:t>A</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企业使命为企业发展指明方向； B</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企业使命是企业战略制定的前提；C</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企业战略推动企业使命的重定； D</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企业使命是企业战略的行动基础</a:t>
            </a:r>
            <a:endParaRPr lang="zh-CN" altLang="en-US" sz="2800">
              <a:latin typeface="Calibri" panose="020F0502020204030204" pitchFamily="34" charset="0"/>
              <a:ea typeface="宋体" panose="02010600030101010101" pitchFamily="2" charset="-122"/>
            </a:endParaRPr>
          </a:p>
          <a:p>
            <a:pPr algn="just"/>
            <a:endParaRPr lang="zh-CN" altLang="en-US" sz="2800">
              <a:latin typeface="Calibri" panose="020F0502020204030204" pitchFamily="34" charset="0"/>
              <a:ea typeface="宋体" panose="02010600030101010101" pitchFamily="2" charset="-122"/>
            </a:endParaRPr>
          </a:p>
          <a:p>
            <a:pPr algn="just"/>
            <a:r>
              <a:rPr lang="zh-CN" altLang="en-US" sz="2800">
                <a:latin typeface="Calibri" panose="020F0502020204030204" pitchFamily="34" charset="0"/>
                <a:ea typeface="宋体" panose="02010600030101010101" pitchFamily="2" charset="-122"/>
              </a:rPr>
              <a:t>（</a:t>
            </a:r>
            <a:r>
              <a:rPr lang="en-US" altLang="zh-CN" sz="2800">
                <a:latin typeface="Calibri" panose="020F0502020204030204" pitchFamily="34" charset="0"/>
                <a:ea typeface="宋体" panose="02010600030101010101" pitchFamily="2" charset="-122"/>
              </a:rPr>
              <a:t>3</a:t>
            </a:r>
            <a:r>
              <a:rPr lang="zh-CN" altLang="en-US" sz="2800">
                <a:latin typeface="Calibri" panose="020F0502020204030204" pitchFamily="34" charset="0"/>
                <a:ea typeface="宋体" panose="02010600030101010101" pitchFamily="2" charset="-122"/>
              </a:rPr>
              <a:t>）一个企业在制定战略目标时最重要的决策是（ ）</a:t>
            </a:r>
            <a:endParaRPr lang="zh-CN" altLang="en-US" sz="2800">
              <a:latin typeface="Calibri" panose="020F0502020204030204" pitchFamily="34" charset="0"/>
              <a:ea typeface="宋体" panose="02010600030101010101" pitchFamily="2" charset="-122"/>
            </a:endParaRPr>
          </a:p>
          <a:p>
            <a:pPr algn="just"/>
            <a:r>
              <a:rPr lang="zh-CN" altLang="en-US" sz="2800">
                <a:latin typeface="Calibri" panose="020F0502020204030204" pitchFamily="34" charset="0"/>
                <a:ea typeface="宋体" panose="02010600030101010101" pitchFamily="2" charset="-122"/>
              </a:rPr>
              <a:t>A</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企业的特殊能力获取；B</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企业在市场上的相对地位；</a:t>
            </a:r>
            <a:endParaRPr lang="zh-CN" altLang="en-US" sz="2800">
              <a:latin typeface="Calibri" panose="020F0502020204030204" pitchFamily="34" charset="0"/>
              <a:ea typeface="宋体" panose="02010600030101010101" pitchFamily="2" charset="-122"/>
            </a:endParaRPr>
          </a:p>
          <a:p>
            <a:pPr algn="just"/>
            <a:r>
              <a:rPr lang="zh-CN" altLang="en-US" sz="2800">
                <a:latin typeface="Calibri" panose="020F0502020204030204" pitchFamily="34" charset="0"/>
                <a:ea typeface="宋体" panose="02010600030101010101" pitchFamily="2" charset="-122"/>
              </a:rPr>
              <a:t>C</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企业资源的掌控；         D</a:t>
            </a:r>
            <a:r>
              <a:rPr lang="en-US" altLang="zh-CN" sz="2800">
                <a:latin typeface="Calibri" panose="020F0502020204030204" pitchFamily="34" charset="0"/>
                <a:ea typeface="宋体" panose="02010600030101010101" pitchFamily="2" charset="-122"/>
              </a:rPr>
              <a:t>.</a:t>
            </a:r>
            <a:r>
              <a:rPr lang="zh-CN" altLang="en-US" sz="2800">
                <a:latin typeface="Calibri" panose="020F0502020204030204" pitchFamily="34" charset="0"/>
                <a:ea typeface="宋体" panose="02010600030101010101" pitchFamily="2" charset="-122"/>
              </a:rPr>
              <a:t>企业的经营业绩</a:t>
            </a:r>
            <a:endParaRPr lang="zh-CN" altLang="en-US" sz="2800">
              <a:latin typeface="Calibri" panose="020F0502020204030204" pitchFamily="34"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nvSpPr>
        <p:spPr>
          <a:xfrm>
            <a:off x="276225" y="2162175"/>
            <a:ext cx="5686425" cy="1016000"/>
          </a:xfrm>
          <a:prstGeom prst="rect">
            <a:avLst/>
          </a:prstGeom>
          <a:noFill/>
          <a:ln w="9525">
            <a:noFill/>
          </a:ln>
        </p:spPr>
        <p:txBody>
          <a:bodyPr anchor="t" anchorCtr="0">
            <a:spAutoFit/>
          </a:bodyPr>
          <a:p>
            <a:pPr algn="ctr"/>
            <a:r>
              <a:rPr lang="zh-CN" altLang="en-US" sz="6000" dirty="0">
                <a:solidFill>
                  <a:srgbClr val="1570C1"/>
                </a:solidFill>
                <a:latin typeface="微软雅黑" panose="020B0503020204020204" pitchFamily="34" charset="-122"/>
                <a:ea typeface="微软雅黑" panose="020B0503020204020204" pitchFamily="34" charset="-122"/>
              </a:rPr>
              <a:t>本章完</a:t>
            </a:r>
            <a:endParaRPr lang="en-US" altLang="zh-CN" sz="6000" dirty="0">
              <a:solidFill>
                <a:srgbClr val="1570C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773863" y="2503488"/>
            <a:ext cx="4786312" cy="1014412"/>
          </a:xfrm>
          <a:prstGeom prst="rect">
            <a:avLst/>
          </a:prstGeom>
          <a:noFill/>
          <a:ln w="9525">
            <a:noFill/>
          </a:ln>
        </p:spPr>
        <p:txBody>
          <a:bodyPr anchor="t" anchorCtr="0">
            <a:spAutoFit/>
          </a:bodyPr>
          <a:p>
            <a:pPr algn="ctr"/>
            <a:r>
              <a:rPr lang="zh-CN" altLang="en-US" sz="6000" dirty="0">
                <a:solidFill>
                  <a:schemeClr val="bg1"/>
                </a:solidFill>
                <a:latin typeface="微软雅黑" panose="020B0503020204020204" pitchFamily="34" charset="-122"/>
                <a:ea typeface="微软雅黑" panose="020B0503020204020204" pitchFamily="34" charset="-122"/>
              </a:rPr>
              <a:t>战略管理</a:t>
            </a:r>
            <a:endParaRPr lang="zh-CN" altLang="en-US" sz="6000" dirty="0">
              <a:solidFill>
                <a:schemeClr val="bg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276225" y="3686175"/>
            <a:ext cx="5686425" cy="646113"/>
          </a:xfrm>
          <a:prstGeom prst="rect">
            <a:avLst/>
          </a:prstGeom>
          <a:noFill/>
          <a:ln w="9525">
            <a:noFill/>
          </a:ln>
        </p:spPr>
        <p:txBody>
          <a:bodyPr anchor="t" anchorCtr="0">
            <a:spAutoFit/>
          </a:bodyPr>
          <a:p>
            <a:pPr algn="ctr"/>
            <a:r>
              <a:rPr lang="zh-CN" altLang="en-US" sz="3600" dirty="0">
                <a:solidFill>
                  <a:srgbClr val="1570C1"/>
                </a:solidFill>
                <a:latin typeface="微软雅黑" panose="020B0503020204020204" pitchFamily="34" charset="-122"/>
                <a:ea typeface="微软雅黑" panose="020B0503020204020204" pitchFamily="34" charset="-122"/>
              </a:rPr>
              <a:t>谢谢观赏</a:t>
            </a:r>
            <a:endParaRPr lang="zh-CN" altLang="en-US" sz="60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tags/tag1.xml><?xml version="1.0" encoding="utf-8"?>
<p:tagLst xmlns:p="http://schemas.openxmlformats.org/presentationml/2006/main">
  <p:tag name="ISPRING_RESOURCE_PATHS_HASH_2" val="2b758c575d3afaa4a23037e74bea4a653611b5f"/>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3455FA"/>
        </a:solidFill>
        <a:ln>
          <a:noFill/>
        </a:ln>
      </a:spPr>
      <a:bodyPr anchor="ctr"/>
      <a:lstStyle>
        <a:defPPr algn="ctr" fontAlgn="auto">
          <a:spcBef>
            <a:spcPts val="0"/>
          </a:spcBef>
          <a:spcAft>
            <a:spcPts val="0"/>
          </a:spcAft>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5836</Words>
  <Application>WPS 演示</Application>
  <PresentationFormat>自定义</PresentationFormat>
  <Paragraphs>552</Paragraphs>
  <Slides>46</Slides>
  <Notes>17</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46</vt:i4>
      </vt:variant>
    </vt:vector>
  </HeadingPairs>
  <TitlesOfParts>
    <vt:vector size="67" baseType="lpstr">
      <vt:lpstr>Arial</vt:lpstr>
      <vt:lpstr>宋体</vt:lpstr>
      <vt:lpstr>Wingdings</vt:lpstr>
      <vt:lpstr>Calibri</vt:lpstr>
      <vt:lpstr>Calibri Light</vt:lpstr>
      <vt:lpstr>微软雅黑</vt:lpstr>
      <vt:lpstr>Arial</vt:lpstr>
      <vt:lpstr>方正兰亭中粗黑_GBK</vt:lpstr>
      <vt:lpstr>楷体</vt:lpstr>
      <vt:lpstr>Arial Unicode MS</vt:lpstr>
      <vt:lpstr>Wingdings</vt:lpstr>
      <vt:lpstr>Times New Roman</vt:lpstr>
      <vt:lpstr>Impact</vt:lpstr>
      <vt:lpstr>Malgun Gothic</vt:lpstr>
      <vt:lpstr>Kaiti SC Black</vt:lpstr>
      <vt:lpstr>Arial Rounded MT Bold</vt:lpstr>
      <vt:lpstr>黑体</vt:lpstr>
      <vt:lpstr>楷体_GB2312</vt:lpstr>
      <vt:lpstr>新宋体</vt:lpstr>
      <vt:lpstr>华文仿宋</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国内外知名企业使命表述实例</vt:lpstr>
      <vt:lpstr>PowerPoint 演示文稿</vt:lpstr>
      <vt:lpstr>国内外知名企业愿景表述的实例</vt:lpstr>
      <vt:lpstr>PowerPoint 演示文稿</vt:lpstr>
      <vt:lpstr>PowerPoint 演示文稿</vt:lpstr>
      <vt:lpstr>PowerPoint 演示文稿</vt:lpstr>
      <vt:lpstr> 企业价值观 </vt:lpstr>
      <vt:lpstr>讨论：哪种类型的愿景让你觉得更加值得企业追求？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示例：宝洁的战略目标体系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讨论：企业社会责任会降低公司的财务绩效吗？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杨淼</cp:lastModifiedBy>
  <cp:revision>61</cp:revision>
  <dcterms:created xsi:type="dcterms:W3CDTF">2015-06-07T14:37:00Z</dcterms:created>
  <dcterms:modified xsi:type="dcterms:W3CDTF">2021-03-22T11:26:26Z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2052-11.1.0.10356</vt:lpwstr>
  </property>
  <property fmtid="{D5CDD505-2E9C-101B-9397-08002B2CF9AE}" pid="3" name="ICV">
    <vt:lpwstr>A1E4030554214D6B8619D14D82D2D105</vt:lpwstr>
  </property>
</Properties>
</file>