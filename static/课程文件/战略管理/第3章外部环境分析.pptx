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3"/>
    <p:sldId id="344" r:id="rId5"/>
    <p:sldId id="365" r:id="rId6"/>
    <p:sldId id="620" r:id="rId7"/>
    <p:sldId id="480" r:id="rId8"/>
    <p:sldId id="367" r:id="rId9"/>
    <p:sldId id="346" r:id="rId10"/>
    <p:sldId id="371" r:id="rId11"/>
    <p:sldId id="374" r:id="rId12"/>
    <p:sldId id="402" r:id="rId13"/>
    <p:sldId id="403" r:id="rId14"/>
    <p:sldId id="404" r:id="rId15"/>
    <p:sldId id="441" r:id="rId16"/>
    <p:sldId id="479" r:id="rId17"/>
    <p:sldId id="548" r:id="rId18"/>
    <p:sldId id="352" r:id="rId19"/>
    <p:sldId id="406" r:id="rId20"/>
    <p:sldId id="372" r:id="rId21"/>
    <p:sldId id="405" r:id="rId22"/>
    <p:sldId id="407" r:id="rId23"/>
    <p:sldId id="621" r:id="rId24"/>
    <p:sldId id="622" r:id="rId25"/>
    <p:sldId id="623" r:id="rId26"/>
    <p:sldId id="624" r:id="rId27"/>
    <p:sldId id="357" r:id="rId28"/>
    <p:sldId id="380" r:id="rId29"/>
    <p:sldId id="410" r:id="rId30"/>
    <p:sldId id="615" r:id="rId31"/>
    <p:sldId id="412" r:id="rId32"/>
    <p:sldId id="616" r:id="rId33"/>
    <p:sldId id="411" r:id="rId34"/>
    <p:sldId id="617" r:id="rId35"/>
    <p:sldId id="413" r:id="rId36"/>
    <p:sldId id="618" r:id="rId37"/>
    <p:sldId id="414" r:id="rId38"/>
    <p:sldId id="619" r:id="rId39"/>
    <p:sldId id="415" r:id="rId40"/>
    <p:sldId id="334" r:id="rId41"/>
    <p:sldId id="418" r:id="rId42"/>
    <p:sldId id="416" r:id="rId43"/>
    <p:sldId id="417" r:id="rId44"/>
    <p:sldId id="419" r:id="rId45"/>
    <p:sldId id="589" r:id="rId46"/>
    <p:sldId id="408" r:id="rId47"/>
    <p:sldId id="421" r:id="rId48"/>
    <p:sldId id="422" r:id="rId49"/>
    <p:sldId id="424" r:id="rId50"/>
    <p:sldId id="423" r:id="rId51"/>
    <p:sldId id="409" r:id="rId52"/>
    <p:sldId id="375" r:id="rId53"/>
    <p:sldId id="425" r:id="rId54"/>
    <p:sldId id="427" r:id="rId55"/>
    <p:sldId id="426" r:id="rId56"/>
    <p:sldId id="428" r:id="rId57"/>
    <p:sldId id="429" r:id="rId58"/>
    <p:sldId id="430" r:id="rId59"/>
    <p:sldId id="431" r:id="rId60"/>
    <p:sldId id="432" r:id="rId61"/>
    <p:sldId id="433" r:id="rId62"/>
    <p:sldId id="434" r:id="rId63"/>
    <p:sldId id="442" r:id="rId64"/>
    <p:sldId id="611" r:id="rId65"/>
    <p:sldId id="612" r:id="rId66"/>
    <p:sldId id="587" r:id="rId67"/>
    <p:sldId id="364" r:id="rId68"/>
  </p:sldIdLst>
  <p:sldSz cx="12192000" cy="6858000"/>
  <p:notesSz cx="6858000" cy="9144000"/>
  <p:custDataLst>
    <p:tags r:id="rId72"/>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CAF4"/>
    <a:srgbClr val="1570C1"/>
    <a:srgbClr val="D7D8D8"/>
    <a:srgbClr val="E0E2E3"/>
    <a:srgbClr val="C8CA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205"/>
    <p:restoredTop sz="94414"/>
  </p:normalViewPr>
  <p:slideViewPr>
    <p:cSldViewPr snapToGrid="0" showGuides="1">
      <p:cViewPr varScale="1">
        <p:scale>
          <a:sx n="68" d="100"/>
          <a:sy n="68" d="100"/>
        </p:scale>
        <p:origin x="-476" y="-60"/>
      </p:cViewPr>
      <p:guideLst>
        <p:guide orient="horz" pos="2160"/>
        <p:guide pos="3840"/>
      </p:guideLst>
    </p:cSldViewPr>
  </p:slideViewPr>
  <p:notesTextViewPr>
    <p:cViewPr>
      <p:scale>
        <a:sx n="1" d="1"/>
        <a:sy n="1" d="1"/>
      </p:scale>
      <p:origin x="0" y="0"/>
    </p:cViewPr>
  </p:notesTextViewPr>
  <p:sorterViewPr showFormatting="0">
    <p:cViewPr>
      <p:scale>
        <a:sx n="31" d="100"/>
        <a:sy n="3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2" Type="http://schemas.openxmlformats.org/officeDocument/2006/relationships/tags" Target="tags/tag1.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4.xml"/><Relationship Id="rId69" Type="http://schemas.openxmlformats.org/officeDocument/2006/relationships/presProps" Target="presProps.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EC44F55C-7CB6-4516-9B30-D1AE67AA0FE2}" type="datetimeFigureOut">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fontAlgn="base"/>
            <a:fld id="{9A0DB2DC-4C9A-4742-B13C-FB6460FD3503}" type="slidenum">
              <a:rPr lang="zh-CN" altLang="en-US" sz="1200" strike="noStrike" noProof="1" dirty="0">
                <a:latin typeface="Calibri" panose="020F0502020204030204" pitchFamily="34" charset="0"/>
                <a:ea typeface="宋体" panose="02010600030101010101" pitchFamily="2" charset="-122"/>
                <a:cs typeface="+mn-cs"/>
              </a:rPr>
            </a:fld>
            <a:endParaRPr lang="zh-CN" altLang="en-US" sz="1200" strike="noStrike" noProof="1"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幻灯片图像占位符 1"/>
          <p:cNvSpPr>
            <a:spLocks noGrp="1" noRot="1" noChangeAspect="1" noTextEdit="1"/>
          </p:cNvSpPr>
          <p:nvPr>
            <p:ph type="sldImg"/>
          </p:nvPr>
        </p:nvSpPr>
        <p:spPr>
          <a:ln>
            <a:solidFill>
              <a:srgbClr val="000000"/>
            </a:solidFill>
            <a:miter/>
          </a:ln>
        </p:spPr>
      </p:sp>
      <p:sp>
        <p:nvSpPr>
          <p:cNvPr id="15362" name="备注占位符 2"/>
          <p:cNvSpPr>
            <a:spLocks noGrp="1"/>
          </p:cNvSpPr>
          <p:nvPr>
            <p:ph type="body"/>
          </p:nvPr>
        </p:nvSpPr>
        <p:spPr>
          <a:noFill/>
          <a:ln>
            <a:noFill/>
          </a:ln>
        </p:spPr>
        <p:txBody>
          <a:bodyPr wrap="square" lIns="91440" tIns="45720" rIns="91440" bIns="45720" anchor="t" anchorCtr="0"/>
          <a:p>
            <a:pPr lvl="0" eaLnBrk="1" hangingPunct="1">
              <a:spcBef>
                <a:spcPct val="0"/>
              </a:spcBef>
            </a:pPr>
            <a:endParaRPr lang="zh-CN" altLang="en-US" dirty="0"/>
          </a:p>
        </p:txBody>
      </p:sp>
      <p:sp>
        <p:nvSpPr>
          <p:cNvPr id="153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幻灯片图像占位符 1"/>
          <p:cNvSpPr>
            <a:spLocks noGrp="1" noRot="1" noChangeAspect="1" noTextEdit="1"/>
          </p:cNvSpPr>
          <p:nvPr>
            <p:ph type="sldImg"/>
          </p:nvPr>
        </p:nvSpPr>
        <p:spPr>
          <a:ln>
            <a:solidFill>
              <a:srgbClr val="000000"/>
            </a:solidFill>
            <a:miter/>
          </a:ln>
        </p:spPr>
      </p:sp>
      <p:sp>
        <p:nvSpPr>
          <p:cNvPr id="17410" name="备注占位符 2"/>
          <p:cNvSpPr>
            <a:spLocks noGrp="1"/>
          </p:cNvSpPr>
          <p:nvPr>
            <p:ph type="body"/>
          </p:nvPr>
        </p:nvSpPr>
        <p:spPr>
          <a:noFill/>
          <a:ln>
            <a:noFill/>
          </a:ln>
        </p:spPr>
        <p:txBody>
          <a:bodyPr wrap="square" lIns="91440" tIns="45720" rIns="91440" bIns="45720" anchor="t" anchorCtr="0"/>
          <a:p>
            <a:pPr lvl="0" eaLnBrk="1" hangingPunct="1"/>
            <a:r>
              <a:rPr lang="zh-CN" altLang="en-US" dirty="0"/>
              <a:t>字号可根据</a:t>
            </a:r>
            <a:endParaRPr lang="zh-CN" altLang="en-US" dirty="0"/>
          </a:p>
        </p:txBody>
      </p:sp>
      <p:sp>
        <p:nvSpPr>
          <p:cNvPr id="174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幻灯片图像占位符 1"/>
          <p:cNvSpPr>
            <a:spLocks noGrp="1" noRot="1" noChangeAspect="1" noTextEdit="1"/>
          </p:cNvSpPr>
          <p:nvPr>
            <p:ph type="sldImg"/>
          </p:nvPr>
        </p:nvSpPr>
        <p:spPr>
          <a:ln>
            <a:solidFill>
              <a:srgbClr val="000000"/>
            </a:solidFill>
            <a:miter/>
          </a:ln>
        </p:spPr>
      </p:sp>
      <p:sp>
        <p:nvSpPr>
          <p:cNvPr id="22530" name="备注占位符 2"/>
          <p:cNvSpPr>
            <a:spLocks noGrp="1"/>
          </p:cNvSpPr>
          <p:nvPr>
            <p:ph type="body"/>
          </p:nvPr>
        </p:nvSpPr>
        <p:spPr>
          <a:noFill/>
          <a:ln>
            <a:noFill/>
          </a:ln>
        </p:spPr>
        <p:txBody>
          <a:bodyPr wrap="square" lIns="91440" tIns="45720" rIns="91440" bIns="45720" anchor="t" anchorCtr="0"/>
          <a:p>
            <a:pPr lvl="0" eaLnBrk="1" hangingPunct="1"/>
            <a:endParaRPr lang="zh-CN" altLang="en-US" dirty="0"/>
          </a:p>
        </p:txBody>
      </p:sp>
      <p:sp>
        <p:nvSpPr>
          <p:cNvPr id="225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幻灯片图像占位符 1"/>
          <p:cNvSpPr>
            <a:spLocks noGrp="1" noRot="1" noChangeAspect="1" noTextEdit="1"/>
          </p:cNvSpPr>
          <p:nvPr>
            <p:ph type="sldImg"/>
          </p:nvPr>
        </p:nvSpPr>
        <p:spPr>
          <a:ln>
            <a:solidFill>
              <a:srgbClr val="000000"/>
            </a:solidFill>
            <a:miter/>
          </a:ln>
        </p:spPr>
      </p:sp>
      <p:sp>
        <p:nvSpPr>
          <p:cNvPr id="2457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457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幻灯片图像占位符 1"/>
          <p:cNvSpPr>
            <a:spLocks noGrp="1" noRot="1" noChangeAspect="1" noTextEdit="1"/>
          </p:cNvSpPr>
          <p:nvPr>
            <p:ph type="sldImg"/>
          </p:nvPr>
        </p:nvSpPr>
        <p:spPr>
          <a:ln>
            <a:solidFill>
              <a:srgbClr val="000000"/>
            </a:solidFill>
            <a:miter/>
          </a:ln>
        </p:spPr>
      </p:sp>
      <p:sp>
        <p:nvSpPr>
          <p:cNvPr id="2662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66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幻灯片图像占位符 1"/>
          <p:cNvSpPr>
            <a:spLocks noGrp="1" noRot="1" noChangeAspect="1" noTextEdit="1"/>
          </p:cNvSpPr>
          <p:nvPr>
            <p:ph type="sldImg"/>
          </p:nvPr>
        </p:nvSpPr>
        <p:spPr>
          <a:ln>
            <a:solidFill>
              <a:srgbClr val="000000"/>
            </a:solidFill>
            <a:miter/>
          </a:ln>
        </p:spPr>
      </p:sp>
      <p:sp>
        <p:nvSpPr>
          <p:cNvPr id="2867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2867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幻灯片图像占位符 1"/>
          <p:cNvSpPr>
            <a:spLocks noGrp="1" noRot="1" noChangeAspect="1" noTextEdit="1"/>
          </p:cNvSpPr>
          <p:nvPr>
            <p:ph type="sldImg"/>
          </p:nvPr>
        </p:nvSpPr>
        <p:spPr>
          <a:ln>
            <a:solidFill>
              <a:srgbClr val="000000"/>
            </a:solidFill>
            <a:miter/>
          </a:ln>
        </p:spPr>
      </p:sp>
      <p:sp>
        <p:nvSpPr>
          <p:cNvPr id="3072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07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幻灯片图像占位符 1"/>
          <p:cNvSpPr>
            <a:spLocks noGrp="1" noRot="1" noChangeAspect="1" noTextEdit="1"/>
          </p:cNvSpPr>
          <p:nvPr>
            <p:ph type="sldImg"/>
          </p:nvPr>
        </p:nvSpPr>
        <p:spPr>
          <a:ln>
            <a:solidFill>
              <a:srgbClr val="000000"/>
            </a:solidFill>
            <a:miter/>
          </a:ln>
        </p:spPr>
      </p:sp>
      <p:sp>
        <p:nvSpPr>
          <p:cNvPr id="3277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27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幻灯片图像占位符 1"/>
          <p:cNvSpPr>
            <a:spLocks noGrp="1" noRot="1" noChangeAspect="1" noTextEdit="1"/>
          </p:cNvSpPr>
          <p:nvPr>
            <p:ph type="sldImg"/>
          </p:nvPr>
        </p:nvSpPr>
        <p:spPr>
          <a:ln>
            <a:solidFill>
              <a:srgbClr val="000000"/>
            </a:solidFill>
            <a:miter/>
          </a:ln>
        </p:spPr>
      </p:sp>
      <p:sp>
        <p:nvSpPr>
          <p:cNvPr id="3891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3891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幻灯片图像占位符 1"/>
          <p:cNvSpPr>
            <a:spLocks noGrp="1" noRot="1" noChangeAspect="1" noTextEdit="1"/>
          </p:cNvSpPr>
          <p:nvPr>
            <p:ph type="sldImg"/>
          </p:nvPr>
        </p:nvSpPr>
        <p:spPr>
          <a:ln>
            <a:solidFill>
              <a:srgbClr val="000000"/>
            </a:solidFill>
            <a:miter/>
          </a:ln>
        </p:spPr>
      </p:sp>
      <p:sp>
        <p:nvSpPr>
          <p:cNvPr id="4096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09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30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幻灯片图像占位符 1"/>
          <p:cNvSpPr>
            <a:spLocks noGrp="1" noRot="1" noChangeAspect="1" noTextEdit="1"/>
          </p:cNvSpPr>
          <p:nvPr>
            <p:ph type="sldImg"/>
          </p:nvPr>
        </p:nvSpPr>
        <p:spPr>
          <a:ln>
            <a:solidFill>
              <a:srgbClr val="000000"/>
            </a:solidFill>
            <a:miter/>
          </a:ln>
        </p:spPr>
      </p:sp>
      <p:sp>
        <p:nvSpPr>
          <p:cNvPr id="4505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50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幻灯片图像占位符 1"/>
          <p:cNvSpPr>
            <a:spLocks noGrp="1" noRot="1" noChangeAspect="1" noTextEdit="1"/>
          </p:cNvSpPr>
          <p:nvPr>
            <p:ph type="sldImg"/>
          </p:nvPr>
        </p:nvSpPr>
        <p:spPr>
          <a:ln>
            <a:solidFill>
              <a:srgbClr val="000000"/>
            </a:solidFill>
            <a:miter/>
          </a:ln>
        </p:spPr>
      </p:sp>
      <p:sp>
        <p:nvSpPr>
          <p:cNvPr id="4813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481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幻灯片图像占位符 1"/>
          <p:cNvSpPr>
            <a:spLocks noGrp="1" noRot="1" noChangeAspect="1" noTextEdit="1"/>
          </p:cNvSpPr>
          <p:nvPr>
            <p:ph type="sldImg"/>
          </p:nvPr>
        </p:nvSpPr>
        <p:spPr>
          <a:ln>
            <a:solidFill>
              <a:srgbClr val="000000"/>
            </a:solidFill>
            <a:miter/>
          </a:ln>
        </p:spPr>
      </p:sp>
      <p:sp>
        <p:nvSpPr>
          <p:cNvPr id="5017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017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幻灯片图像占位符 1"/>
          <p:cNvSpPr>
            <a:spLocks noGrp="1" noRot="1" noChangeAspect="1" noTextEdit="1"/>
          </p:cNvSpPr>
          <p:nvPr>
            <p:ph type="sldImg"/>
          </p:nvPr>
        </p:nvSpPr>
        <p:spPr>
          <a:ln>
            <a:solidFill>
              <a:srgbClr val="000000"/>
            </a:solidFill>
            <a:miter/>
          </a:ln>
        </p:spPr>
      </p:sp>
      <p:sp>
        <p:nvSpPr>
          <p:cNvPr id="5222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22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幻灯片图像占位符 1"/>
          <p:cNvSpPr>
            <a:spLocks noGrp="1" noRot="1" noChangeAspect="1" noTextEdit="1"/>
          </p:cNvSpPr>
          <p:nvPr>
            <p:ph type="sldImg"/>
          </p:nvPr>
        </p:nvSpPr>
        <p:spPr>
          <a:ln>
            <a:solidFill>
              <a:srgbClr val="000000"/>
            </a:solidFill>
            <a:miter/>
          </a:ln>
        </p:spPr>
      </p:sp>
      <p:sp>
        <p:nvSpPr>
          <p:cNvPr id="5427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427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幻灯片图像占位符 1"/>
          <p:cNvSpPr>
            <a:spLocks noGrp="1" noRot="1" noChangeAspect="1" noTextEdit="1"/>
          </p:cNvSpPr>
          <p:nvPr>
            <p:ph type="sldImg"/>
          </p:nvPr>
        </p:nvSpPr>
        <p:spPr>
          <a:ln>
            <a:solidFill>
              <a:srgbClr val="000000"/>
            </a:solidFill>
            <a:miter/>
          </a:ln>
        </p:spPr>
      </p:sp>
      <p:sp>
        <p:nvSpPr>
          <p:cNvPr id="5632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63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幻灯片图像占位符 1"/>
          <p:cNvSpPr>
            <a:spLocks noGrp="1" noRot="1" noChangeAspect="1" noTextEdit="1"/>
          </p:cNvSpPr>
          <p:nvPr>
            <p:ph type="sldImg"/>
          </p:nvPr>
        </p:nvSpPr>
        <p:spPr>
          <a:ln>
            <a:solidFill>
              <a:srgbClr val="000000"/>
            </a:solidFill>
            <a:miter/>
          </a:ln>
        </p:spPr>
      </p:sp>
      <p:sp>
        <p:nvSpPr>
          <p:cNvPr id="5837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583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幻灯片图像占位符 1"/>
          <p:cNvSpPr>
            <a:spLocks noGrp="1" noRot="1" noChangeAspect="1" noTextEdit="1"/>
          </p:cNvSpPr>
          <p:nvPr>
            <p:ph type="sldImg"/>
          </p:nvPr>
        </p:nvSpPr>
        <p:spPr>
          <a:ln>
            <a:solidFill>
              <a:srgbClr val="000000"/>
            </a:solidFill>
            <a:miter/>
          </a:ln>
        </p:spPr>
      </p:sp>
      <p:sp>
        <p:nvSpPr>
          <p:cNvPr id="6041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041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幻灯片图像占位符 1"/>
          <p:cNvSpPr>
            <a:spLocks noGrp="1" noRot="1" noChangeAspect="1" noTextEdit="1"/>
          </p:cNvSpPr>
          <p:nvPr>
            <p:ph type="sldImg"/>
          </p:nvPr>
        </p:nvSpPr>
        <p:spPr>
          <a:ln>
            <a:solidFill>
              <a:srgbClr val="000000"/>
            </a:solidFill>
            <a:miter/>
          </a:ln>
        </p:spPr>
      </p:sp>
      <p:sp>
        <p:nvSpPr>
          <p:cNvPr id="6349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34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幻灯片图像占位符 1"/>
          <p:cNvSpPr>
            <a:spLocks noGrp="1" noRot="1" noChangeAspect="1" noTextEdit="1"/>
          </p:cNvSpPr>
          <p:nvPr>
            <p:ph type="sldImg"/>
          </p:nvPr>
        </p:nvSpPr>
        <p:spPr>
          <a:ln>
            <a:solidFill>
              <a:srgbClr val="000000"/>
            </a:solidFill>
            <a:miter/>
          </a:ln>
        </p:spPr>
      </p:sp>
      <p:sp>
        <p:nvSpPr>
          <p:cNvPr id="6553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55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幻灯片图像占位符 1"/>
          <p:cNvSpPr>
            <a:spLocks noGrp="1" noRot="1" noChangeAspect="1" noTextEdit="1"/>
          </p:cNvSpPr>
          <p:nvPr>
            <p:ph type="sldImg"/>
          </p:nvPr>
        </p:nvSpPr>
        <p:spPr>
          <a:ln>
            <a:solidFill>
              <a:srgbClr val="000000"/>
            </a:solidFill>
            <a:miter/>
          </a:ln>
        </p:spPr>
      </p:sp>
      <p:sp>
        <p:nvSpPr>
          <p:cNvPr id="6758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75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幻灯片图像占位符 1"/>
          <p:cNvSpPr>
            <a:spLocks noGrp="1" noRot="1" noChangeAspect="1" noTextEdit="1"/>
          </p:cNvSpPr>
          <p:nvPr>
            <p:ph type="sldImg"/>
          </p:nvPr>
        </p:nvSpPr>
        <p:spPr>
          <a:ln>
            <a:solidFill>
              <a:srgbClr val="000000"/>
            </a:solidFill>
            <a:miter/>
          </a:ln>
        </p:spPr>
      </p:sp>
      <p:sp>
        <p:nvSpPr>
          <p:cNvPr id="6963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6963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幻灯片图像占位符 1"/>
          <p:cNvSpPr>
            <a:spLocks noGrp="1" noRot="1" noChangeAspect="1" noTextEdit="1"/>
          </p:cNvSpPr>
          <p:nvPr>
            <p:ph type="sldImg"/>
          </p:nvPr>
        </p:nvSpPr>
        <p:spPr>
          <a:ln>
            <a:solidFill>
              <a:srgbClr val="000000"/>
            </a:solidFill>
            <a:miter/>
          </a:ln>
        </p:spPr>
      </p:sp>
      <p:sp>
        <p:nvSpPr>
          <p:cNvPr id="7270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27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幻灯片图像占位符 1"/>
          <p:cNvSpPr>
            <a:spLocks noGrp="1" noRot="1" noChangeAspect="1" noTextEdit="1"/>
          </p:cNvSpPr>
          <p:nvPr>
            <p:ph type="sldImg"/>
          </p:nvPr>
        </p:nvSpPr>
        <p:spPr>
          <a:ln>
            <a:solidFill>
              <a:srgbClr val="000000"/>
            </a:solidFill>
            <a:miter/>
          </a:ln>
        </p:spPr>
      </p:sp>
      <p:sp>
        <p:nvSpPr>
          <p:cNvPr id="7475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47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幻灯片图像占位符 1"/>
          <p:cNvSpPr>
            <a:spLocks noGrp="1" noRot="1" noChangeAspect="1" noTextEdit="1"/>
          </p:cNvSpPr>
          <p:nvPr>
            <p:ph type="sldImg"/>
          </p:nvPr>
        </p:nvSpPr>
        <p:spPr>
          <a:ln>
            <a:solidFill>
              <a:srgbClr val="000000"/>
            </a:solidFill>
            <a:miter/>
          </a:ln>
        </p:spPr>
      </p:sp>
      <p:sp>
        <p:nvSpPr>
          <p:cNvPr id="7680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68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幻灯片图像占位符 1"/>
          <p:cNvSpPr>
            <a:spLocks noGrp="1" noRot="1" noChangeAspect="1" noTextEdit="1"/>
          </p:cNvSpPr>
          <p:nvPr>
            <p:ph type="sldImg"/>
          </p:nvPr>
        </p:nvSpPr>
        <p:spPr>
          <a:ln>
            <a:solidFill>
              <a:srgbClr val="000000"/>
            </a:solidFill>
            <a:miter/>
          </a:ln>
        </p:spPr>
      </p:sp>
      <p:sp>
        <p:nvSpPr>
          <p:cNvPr id="7885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788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幻灯片图像占位符 1"/>
          <p:cNvSpPr>
            <a:spLocks noGrp="1" noRot="1" noChangeAspect="1" noTextEdit="1"/>
          </p:cNvSpPr>
          <p:nvPr>
            <p:ph type="sldImg"/>
          </p:nvPr>
        </p:nvSpPr>
        <p:spPr>
          <a:ln>
            <a:solidFill>
              <a:srgbClr val="000000"/>
            </a:solidFill>
            <a:miter/>
          </a:ln>
        </p:spPr>
      </p:sp>
      <p:sp>
        <p:nvSpPr>
          <p:cNvPr id="8192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19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幻灯片图像占位符 1"/>
          <p:cNvSpPr>
            <a:spLocks noGrp="1" noRot="1" noChangeAspect="1" noTextEdit="1"/>
          </p:cNvSpPr>
          <p:nvPr>
            <p:ph type="sldImg"/>
          </p:nvPr>
        </p:nvSpPr>
        <p:spPr>
          <a:ln>
            <a:solidFill>
              <a:srgbClr val="000000"/>
            </a:solidFill>
            <a:miter/>
          </a:ln>
        </p:spPr>
      </p:sp>
      <p:sp>
        <p:nvSpPr>
          <p:cNvPr id="8397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39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幻灯片图像占位符 1"/>
          <p:cNvSpPr>
            <a:spLocks noGrp="1" noRot="1" noChangeAspect="1" noTextEdit="1"/>
          </p:cNvSpPr>
          <p:nvPr>
            <p:ph type="sldImg"/>
          </p:nvPr>
        </p:nvSpPr>
        <p:spPr>
          <a:ln>
            <a:solidFill>
              <a:srgbClr val="000000"/>
            </a:solidFill>
            <a:miter/>
          </a:ln>
        </p:spPr>
      </p:sp>
      <p:sp>
        <p:nvSpPr>
          <p:cNvPr id="8601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601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幻灯片图像占位符 1"/>
          <p:cNvSpPr>
            <a:spLocks noGrp="1" noRot="1" noChangeAspect="1" noTextEdit="1"/>
          </p:cNvSpPr>
          <p:nvPr>
            <p:ph type="sldImg"/>
          </p:nvPr>
        </p:nvSpPr>
        <p:spPr>
          <a:ln>
            <a:solidFill>
              <a:srgbClr val="000000"/>
            </a:solidFill>
            <a:miter/>
          </a:ln>
        </p:spPr>
      </p:sp>
      <p:sp>
        <p:nvSpPr>
          <p:cNvPr id="8806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8806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幻灯片图像占位符 1"/>
          <p:cNvSpPr>
            <a:spLocks noGrp="1" noRot="1" noChangeAspect="1" noTextEdit="1"/>
          </p:cNvSpPr>
          <p:nvPr>
            <p:ph type="sldImg"/>
          </p:nvPr>
        </p:nvSpPr>
        <p:spPr>
          <a:ln>
            <a:solidFill>
              <a:srgbClr val="000000"/>
            </a:solidFill>
            <a:miter/>
          </a:ln>
        </p:spPr>
      </p:sp>
      <p:sp>
        <p:nvSpPr>
          <p:cNvPr id="90114"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011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幻灯片图像占位符 1"/>
          <p:cNvSpPr>
            <a:spLocks noGrp="1" noRot="1" noChangeAspect="1" noTextEdit="1"/>
          </p:cNvSpPr>
          <p:nvPr>
            <p:ph type="sldImg"/>
          </p:nvPr>
        </p:nvSpPr>
        <p:spPr>
          <a:ln>
            <a:solidFill>
              <a:srgbClr val="000000"/>
            </a:solidFill>
            <a:miter/>
          </a:ln>
        </p:spPr>
      </p:sp>
      <p:sp>
        <p:nvSpPr>
          <p:cNvPr id="92162"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21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幻灯片图像占位符 1"/>
          <p:cNvSpPr>
            <a:spLocks noGrp="1" noRot="1" noChangeAspect="1" noTextEdit="1"/>
          </p:cNvSpPr>
          <p:nvPr>
            <p:ph type="sldImg"/>
          </p:nvPr>
        </p:nvSpPr>
        <p:spPr>
          <a:ln>
            <a:solidFill>
              <a:srgbClr val="000000"/>
            </a:solidFill>
            <a:miter/>
          </a:ln>
        </p:spPr>
      </p:sp>
      <p:sp>
        <p:nvSpPr>
          <p:cNvPr id="94210"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42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幻灯片图像占位符 1"/>
          <p:cNvSpPr>
            <a:spLocks noGrp="1" noRot="1" noChangeAspect="1" noTextEdit="1"/>
          </p:cNvSpPr>
          <p:nvPr>
            <p:ph type="sldImg"/>
          </p:nvPr>
        </p:nvSpPr>
        <p:spPr>
          <a:ln>
            <a:solidFill>
              <a:srgbClr val="000000"/>
            </a:solidFill>
            <a:miter/>
          </a:ln>
        </p:spPr>
      </p:sp>
      <p:sp>
        <p:nvSpPr>
          <p:cNvPr id="9625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62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幻灯片图像占位符 1"/>
          <p:cNvSpPr>
            <a:spLocks noGrp="1" noRot="1" noChangeAspect="1" noTextEdit="1"/>
          </p:cNvSpPr>
          <p:nvPr>
            <p:ph type="sldImg"/>
          </p:nvPr>
        </p:nvSpPr>
        <p:spPr>
          <a:ln>
            <a:solidFill>
              <a:srgbClr val="000000"/>
            </a:solidFill>
            <a:miter/>
          </a:ln>
        </p:spPr>
      </p:sp>
      <p:sp>
        <p:nvSpPr>
          <p:cNvPr id="9830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983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幻灯片图像占位符 1"/>
          <p:cNvSpPr>
            <a:spLocks noGrp="1" noRot="1" noChangeAspect="1" noTextEdit="1"/>
          </p:cNvSpPr>
          <p:nvPr>
            <p:ph type="sldImg"/>
          </p:nvPr>
        </p:nvSpPr>
        <p:spPr>
          <a:ln>
            <a:solidFill>
              <a:srgbClr val="000000"/>
            </a:solidFill>
            <a:miter/>
          </a:ln>
        </p:spPr>
      </p:sp>
      <p:sp>
        <p:nvSpPr>
          <p:cNvPr id="101378"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137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幻灯片图像占位符 1"/>
          <p:cNvSpPr>
            <a:spLocks noGrp="1" noRot="1" noChangeAspect="1" noTextEdit="1"/>
          </p:cNvSpPr>
          <p:nvPr>
            <p:ph type="sldImg"/>
          </p:nvPr>
        </p:nvSpPr>
        <p:spPr>
          <a:ln>
            <a:solidFill>
              <a:srgbClr val="000000"/>
            </a:solidFill>
            <a:miter/>
          </a:ln>
        </p:spPr>
      </p:sp>
      <p:sp>
        <p:nvSpPr>
          <p:cNvPr id="103426" name="备注占位符 2"/>
          <p:cNvSpPr>
            <a:spLocks noGrp="1"/>
          </p:cNvSpPr>
          <p:nvPr>
            <p:ph type="body"/>
          </p:nvPr>
        </p:nvSpPr>
        <p:spPr>
          <a:noFill/>
          <a:ln>
            <a:noFill/>
          </a:ln>
        </p:spPr>
        <p:txBody>
          <a:bodyPr wrap="square" lIns="91440" tIns="45720" rIns="91440" bIns="45720" anchor="t" anchorCtr="0"/>
          <a:p>
            <a:pPr lvl="0"/>
            <a:endParaRPr lang="zh-CN" altLang="en-US" dirty="0"/>
          </a:p>
        </p:txBody>
      </p:sp>
      <p:sp>
        <p:nvSpPr>
          <p:cNvPr id="1034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rgbClr val="000000"/>
                </a:solidFill>
                <a:latin typeface="Calibri" panose="020F0502020204030204" pitchFamily="34" charset="0"/>
                <a:ea typeface="宋体" panose="02010600030101010101" pitchFamily="2" charset="-122"/>
              </a:rPr>
            </a:fld>
            <a:endParaRPr lang="zh-CN" altLang="en-US" sz="1200" dirty="0">
              <a:solidFill>
                <a:srgbClr val="000000"/>
              </a:solidFill>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2051" name="图片 2"/>
          <p:cNvPicPr>
            <a:picLocks noChangeAspect="1"/>
          </p:cNvPicPr>
          <p:nvPr userDrawn="1"/>
        </p:nvPicPr>
        <p:blipFill>
          <a:blip r:embed="rId2"/>
          <a:srcRect r="6975"/>
          <a:stretch>
            <a:fillRect/>
          </a:stretch>
        </p:blipFill>
        <p:spPr>
          <a:xfrm>
            <a:off x="5224463" y="0"/>
            <a:ext cx="6967537" cy="6858000"/>
          </a:xfrm>
          <a:prstGeom prst="rect">
            <a:avLst/>
          </a:prstGeom>
          <a:noFill/>
          <a:ln w="952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838200" y="1825625"/>
            <a:ext cx="10515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821B6C4C-AA9D-4994-96ED-E8F34F7C125A}"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587EB20-2DE5-47E4-ABF4-C3C7896374EA}"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838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172200" y="1825625"/>
            <a:ext cx="5181600" cy="435133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411A3C54-A4B3-4C7B-BE9B-923AA45755BE}"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39788" y="2505075"/>
            <a:ext cx="5157787"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9467C084-3C87-4225-B65F-42E618C37FCF}"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p:cNvSpPr>
            <a:spLocks noGrp="1"/>
          </p:cNvSpPr>
          <p:nvPr>
            <p:ph type="ftr" sz="quarter" idx="1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p:cNvSpPr>
            <a:spLocks noGrp="1"/>
          </p:cNvSpPr>
          <p:nvPr>
            <p:ph type="sldNum" sz="quarter" idx="1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A08C56E-0B1E-40B1-8AE8-73C2C98D640B}"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3" name="日期占位符 1"/>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CB81F88A-5909-4B04-A5FB-E7C2ECD3D58A}"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2"/>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C6CC7894-8F01-4C95-B33B-330FC3C96276}"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A1C51217-1087-4D7E-A312-73DCC573581C}"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B6C56626-2FD8-446D-8F58-A0545305D56D}"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2"/>
          </p:nvPr>
        </p:nvSpPr>
        <p:spPr>
          <a:xfrm>
            <a:off x="838200" y="6356350"/>
            <a:ext cx="27432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C2229879-C250-4CA9-B7C3-C7D7ECD5EDC1}" type="datetimeFigureOut">
              <a:rPr kumimoji="0" lang="zh-CN" altLang="en-US" sz="1800" b="0" i="0" u="none" strike="noStrike" kern="1200" cap="none" spc="0" normalizeH="0" baseline="0" noProof="0">
                <a:ln>
                  <a:noFill/>
                </a:ln>
                <a:solidFill>
                  <a:schemeClr val="tx1"/>
                </a:solidFill>
                <a:effectLst/>
                <a:uLnTx/>
                <a:uFillTx/>
                <a:latin typeface="+mn-lt"/>
                <a:ea typeface="+mn-ea"/>
                <a:cs typeface="+mn-cs"/>
              </a:rPr>
            </a:fld>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t" anchorCtr="0" compatLnSpc="1"/>
          <a:p>
            <a:pPr lvl="0" eaLnBrk="1" fontAlgn="base" hangingPunct="1"/>
            <a:fld id="{9A0DB2DC-4C9A-4742-B13C-FB6460FD3503}" type="slidenum">
              <a:rPr lang="zh-CN" altLang="en-US" strike="noStrike" noProof="1" dirty="0">
                <a:latin typeface="Calibri" panose="020F0502020204030204" pitchFamily="34" charset="0"/>
                <a:ea typeface="宋体" panose="02010600030101010101" pitchFamily="2" charset="-122"/>
                <a:cs typeface="+mn-cs"/>
              </a:rPr>
            </a:fld>
            <a:endParaRPr lang="zh-CN" altLang="en-US" strike="noStrike" noProof="1"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图片 6"/>
          <p:cNvPicPr>
            <a:picLocks noChangeAspect="1"/>
          </p:cNvPicPr>
          <p:nvPr userDrawn="1"/>
        </p:nvPicPr>
        <p:blipFill>
          <a:blip r:embed="rId12"/>
          <a:stretch>
            <a:fillRect/>
          </a:stretch>
        </p:blipFill>
        <p:spPr>
          <a:xfrm>
            <a:off x="1588" y="0"/>
            <a:ext cx="12188825" cy="68580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第</a:t>
            </a:r>
            <a:r>
              <a:rPr lang="en-US" altLang="zh-CN" sz="6000" dirty="0">
                <a:solidFill>
                  <a:srgbClr val="1570C1"/>
                </a:solidFill>
                <a:latin typeface="微软雅黑" panose="020B0503020204020204" pitchFamily="34" charset="-122"/>
                <a:ea typeface="微软雅黑" panose="020B0503020204020204" pitchFamily="34" charset="-122"/>
              </a:rPr>
              <a:t>3</a:t>
            </a:r>
            <a:r>
              <a:rPr lang="zh-CN" altLang="en-US" sz="6000" dirty="0">
                <a:solidFill>
                  <a:srgbClr val="1570C1"/>
                </a:solidFill>
                <a:latin typeface="微软雅黑" panose="020B0503020204020204" pitchFamily="34" charset="-122"/>
                <a:ea typeface="微软雅黑" panose="020B0503020204020204" pitchFamily="34" charset="-122"/>
              </a:rPr>
              <a:t>章</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76225" y="3686175"/>
            <a:ext cx="5686425" cy="646113"/>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外部环境分析</a:t>
            </a:r>
            <a:endParaRPr lang="zh-CN" altLang="en-US" sz="3600" dirty="0">
              <a:solidFill>
                <a:srgbClr val="1570C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5689600" y="2619375"/>
            <a:ext cx="6956425" cy="830263"/>
          </a:xfrm>
          <a:prstGeom prst="rect">
            <a:avLst/>
          </a:prstGeom>
          <a:noFill/>
          <a:ln w="9525">
            <a:noFill/>
          </a:ln>
        </p:spPr>
        <p:txBody>
          <a:bodyPr wrap="square" anchor="t" anchorCtr="0">
            <a:spAutoFit/>
          </a:bodyPr>
          <a:p>
            <a:pPr algn="ctr"/>
            <a:r>
              <a:rPr lang="zh-CN" altLang="en-US" sz="4800">
                <a:solidFill>
                  <a:srgbClr val="FFFFFF"/>
                </a:solidFill>
                <a:latin typeface="微软雅黑" panose="020B0503020204020204" pitchFamily="34" charset="-122"/>
                <a:ea typeface="微软雅黑" panose="020B0503020204020204" pitchFamily="34" charset="-122"/>
              </a:rPr>
              <a:t>战略管理</a:t>
            </a:r>
            <a:endParaRPr lang="zh-CN" altLang="en-US" sz="480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389" name="文本框 2"/>
          <p:cNvSpPr txBox="1"/>
          <p:nvPr/>
        </p:nvSpPr>
        <p:spPr>
          <a:xfrm>
            <a:off x="292100" y="244475"/>
            <a:ext cx="677863" cy="1884363"/>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学习目标</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sp>
        <p:nvSpPr>
          <p:cNvPr id="17416" name="文本框 10"/>
          <p:cNvSpPr txBox="1"/>
          <p:nvPr/>
        </p:nvSpPr>
        <p:spPr>
          <a:xfrm>
            <a:off x="2071688" y="1800225"/>
            <a:ext cx="8724900" cy="3414713"/>
          </a:xfrm>
          <a:prstGeom prst="rect">
            <a:avLst/>
          </a:prstGeom>
          <a:noFill/>
          <a:ln w="9525">
            <a:noFill/>
          </a:ln>
        </p:spPr>
        <p:txBody>
          <a:bodyPr anchor="t" anchorCtr="0">
            <a:spAutoFit/>
          </a:bodyPr>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企业外部环境分析的战略意义</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定义与描述企业外部环境的层次、构成要素及其相关关系</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理解企业宏观环境、行业及竞争环境对企业战略制定的影响</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熟悉企业外部环境的分析步骤与分析方法</a:t>
            </a:r>
            <a:endParaRPr lang="zh-CN" altLang="en-US" sz="2400" dirty="0">
              <a:solidFill>
                <a:srgbClr val="1570C1"/>
              </a:solidFill>
              <a:latin typeface="微软雅黑" panose="020B0503020204020204" pitchFamily="34" charset="-122"/>
              <a:ea typeface="微软雅黑" panose="020B0503020204020204" pitchFamily="34" charset="-122"/>
            </a:endParaRPr>
          </a:p>
          <a:p>
            <a:pPr marL="457200" indent="-457200" algn="just">
              <a:lnSpc>
                <a:spcPct val="150000"/>
              </a:lnSpc>
              <a:buFont typeface="Wingdings" panose="05000000000000000000" pitchFamily="2" charset="2"/>
              <a:buChar char="Ø"/>
            </a:pPr>
            <a:r>
              <a:rPr lang="zh-CN" altLang="en-US" sz="2400" dirty="0">
                <a:solidFill>
                  <a:srgbClr val="1570C1"/>
                </a:solidFill>
                <a:latin typeface="微软雅黑" panose="020B0503020204020204" pitchFamily="34" charset="-122"/>
                <a:ea typeface="微软雅黑" panose="020B0503020204020204" pitchFamily="34" charset="-122"/>
              </a:rPr>
              <a:t>熟练运用</a:t>
            </a:r>
            <a:r>
              <a:rPr lang="en-US" altLang="zh-CN" sz="2400" dirty="0">
                <a:solidFill>
                  <a:srgbClr val="1570C1"/>
                </a:solidFill>
                <a:latin typeface="微软雅黑" panose="020B0503020204020204" pitchFamily="34" charset="-122"/>
                <a:ea typeface="微软雅黑" panose="020B0503020204020204" pitchFamily="34" charset="-122"/>
              </a:rPr>
              <a:t>PEST</a:t>
            </a:r>
            <a:r>
              <a:rPr lang="zh-CN" altLang="en-US" sz="2400" dirty="0">
                <a:solidFill>
                  <a:srgbClr val="1570C1"/>
                </a:solidFill>
                <a:latin typeface="微软雅黑" panose="020B0503020204020204" pitchFamily="34" charset="-122"/>
                <a:ea typeface="微软雅黑" panose="020B0503020204020204" pitchFamily="34" charset="-122"/>
              </a:rPr>
              <a:t>模型、五种力量模型、战略群组图、外部因素评价矩阵等分析工具</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416"/>
                                        </p:tgtEl>
                                        <p:attrNameLst>
                                          <p:attrName>style.visibility</p:attrName>
                                        </p:attrNameLst>
                                      </p:cBhvr>
                                      <p:to>
                                        <p:strVal val="visible"/>
                                      </p:to>
                                    </p:set>
                                    <p:animEffect transition="in" filter="wipe(left)">
                                      <p:cBhvr>
                                        <p:cTn id="7"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437" name="文本框 2"/>
          <p:cNvSpPr txBox="1"/>
          <p:nvPr/>
        </p:nvSpPr>
        <p:spPr>
          <a:xfrm>
            <a:off x="292100" y="244475"/>
            <a:ext cx="677863" cy="1884363"/>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外部环境</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pic>
        <p:nvPicPr>
          <p:cNvPr id="19490" name="图片 2346"/>
          <p:cNvPicPr>
            <a:picLocks noChangeAspect="1"/>
          </p:cNvPicPr>
          <p:nvPr/>
        </p:nvPicPr>
        <p:blipFill>
          <a:blip r:embed="rId1"/>
          <a:stretch>
            <a:fillRect/>
          </a:stretch>
        </p:blipFill>
        <p:spPr>
          <a:xfrm>
            <a:off x="2670175" y="966788"/>
            <a:ext cx="6927850" cy="4789487"/>
          </a:xfrm>
          <a:prstGeom prst="rect">
            <a:avLst/>
          </a:prstGeom>
          <a:noFill/>
          <a:ln w="9525">
            <a:noFill/>
          </a:ln>
        </p:spPr>
      </p:pic>
      <p:sp>
        <p:nvSpPr>
          <p:cNvPr id="4" name="矩形 3"/>
          <p:cNvSpPr/>
          <p:nvPr/>
        </p:nvSpPr>
        <p:spPr>
          <a:xfrm>
            <a:off x="3649663" y="5845175"/>
            <a:ext cx="4413250" cy="460375"/>
          </a:xfrm>
          <a:prstGeom prst="rect">
            <a:avLst/>
          </a:prstGeom>
          <a:noFill/>
          <a:ln w="9525">
            <a:noFill/>
          </a:ln>
        </p:spPr>
        <p:txBody>
          <a:bodyPr wrap="none" anchor="t" anchorCtr="0">
            <a:spAutoFit/>
          </a:bodyPr>
          <a:p>
            <a:pPr eaLnBrk="0" hangingPunct="0"/>
            <a:r>
              <a:rPr lang="zh-CN" altLang="en-US" sz="2400" dirty="0">
                <a:solidFill>
                  <a:srgbClr val="1570C1"/>
                </a:solidFill>
                <a:latin typeface="微软雅黑" panose="020B0503020204020204" pitchFamily="34" charset="-122"/>
                <a:ea typeface="微软雅黑" panose="020B0503020204020204" pitchFamily="34" charset="-122"/>
              </a:rPr>
              <a:t>图</a:t>
            </a:r>
            <a:r>
              <a:rPr lang="en-US" altLang="zh-CN" sz="2400" dirty="0">
                <a:solidFill>
                  <a:srgbClr val="1570C1"/>
                </a:solidFill>
                <a:latin typeface="微软雅黑" panose="020B0503020204020204" pitchFamily="34" charset="-122"/>
                <a:ea typeface="微软雅黑" panose="020B0503020204020204" pitchFamily="34" charset="-122"/>
              </a:rPr>
              <a:t>1 </a:t>
            </a:r>
            <a:r>
              <a:rPr lang="zh-CN" altLang="en-US" sz="2400" dirty="0">
                <a:solidFill>
                  <a:srgbClr val="1570C1"/>
                </a:solidFill>
                <a:latin typeface="微软雅黑" panose="020B0503020204020204" pitchFamily="34" charset="-122"/>
                <a:ea typeface="微软雅黑" panose="020B0503020204020204" pitchFamily="34" charset="-122"/>
              </a:rPr>
              <a:t>外部环境的层次与构成要素</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90"/>
                                        </p:tgtEl>
                                        <p:attrNameLst>
                                          <p:attrName>style.visibility</p:attrName>
                                        </p:attrNameLst>
                                      </p:cBhvr>
                                      <p:to>
                                        <p:strVal val="visible"/>
                                      </p:to>
                                    </p:set>
                                    <p:animEffect transition="in" filter="fade">
                                      <p:cBhvr>
                                        <p:cTn id="7" dur="500"/>
                                        <p:tgtEl>
                                          <p:spTgt spid="1949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48995" y="370840"/>
            <a:ext cx="10444480" cy="57873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457" name="图片 1"/>
          <p:cNvPicPr>
            <a:picLocks noChangeAspect="1"/>
          </p:cNvPicPr>
          <p:nvPr/>
        </p:nvPicPr>
        <p:blipFill>
          <a:blip r:embed="rId1"/>
          <a:stretch>
            <a:fillRect/>
          </a:stretch>
        </p:blipFill>
        <p:spPr>
          <a:xfrm>
            <a:off x="969963" y="1320800"/>
            <a:ext cx="10252075" cy="432435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直角三角形 9"/>
          <p:cNvSpPr/>
          <p:nvPr/>
        </p:nvSpPr>
        <p:spPr>
          <a:xfrm rot="5400000" flipH="1" flipV="1">
            <a:off x="8591550" y="325755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直角三角形 6"/>
          <p:cNvSpPr/>
          <p:nvPr/>
        </p:nvSpPr>
        <p:spPr>
          <a:xfrm rot="5400000" flipH="1" flipV="1">
            <a:off x="9220200" y="388620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485" name="文本框 2"/>
          <p:cNvSpPr txBox="1"/>
          <p:nvPr/>
        </p:nvSpPr>
        <p:spPr>
          <a:xfrm>
            <a:off x="292100" y="400050"/>
            <a:ext cx="677863" cy="971550"/>
          </a:xfrm>
          <a:prstGeom prst="rect">
            <a:avLst/>
          </a:prstGeom>
          <a:noFill/>
          <a:ln w="9525">
            <a:noFill/>
          </a:ln>
        </p:spPr>
        <p:txBody>
          <a:bodyPr vert="eaVert" anchor="t" anchorCtr="0">
            <a:spAutoFit/>
          </a:bodyPr>
          <a:p>
            <a:pPr algn="dist"/>
            <a:r>
              <a:rPr lang="zh-CN" altLang="en-US" sz="3200" b="1" dirty="0">
                <a:solidFill>
                  <a:srgbClr val="FFFFFF"/>
                </a:solidFill>
                <a:latin typeface="微软雅黑" panose="020B0503020204020204" pitchFamily="34" charset="-122"/>
                <a:ea typeface="微软雅黑" panose="020B0503020204020204" pitchFamily="34" charset="-122"/>
              </a:rPr>
              <a:t>目录</a:t>
            </a:r>
            <a:endParaRPr lang="zh-CN" altLang="en-US" sz="3200" b="1" dirty="0">
              <a:solidFill>
                <a:srgbClr val="FFFFFF"/>
              </a:solidFill>
              <a:latin typeface="微软雅黑" panose="020B0503020204020204" pitchFamily="34" charset="-122"/>
              <a:ea typeface="微软雅黑" panose="020B0503020204020204" pitchFamily="34" charset="-122"/>
            </a:endParaRPr>
          </a:p>
        </p:txBody>
      </p:sp>
      <p:sp>
        <p:nvSpPr>
          <p:cNvPr id="12" name="文本框 10"/>
          <p:cNvSpPr txBox="1"/>
          <p:nvPr/>
        </p:nvSpPr>
        <p:spPr>
          <a:xfrm>
            <a:off x="3600450" y="468313"/>
            <a:ext cx="5981700" cy="6000750"/>
          </a:xfrm>
          <a:prstGeom prst="rect">
            <a:avLst/>
          </a:prstGeom>
          <a:noFill/>
          <a:ln w="9525">
            <a:noFill/>
          </a:ln>
        </p:spPr>
        <p:txBody>
          <a:bodyPr anchor="t" anchorCtr="0">
            <a:spAutoFit/>
          </a:bodyPr>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1</a:t>
            </a:r>
            <a:r>
              <a:rPr lang="zh-CN" altLang="en-US" sz="3200" dirty="0">
                <a:solidFill>
                  <a:srgbClr val="1570C1"/>
                </a:solidFill>
                <a:latin typeface="微软雅黑" panose="020B0503020204020204" pitchFamily="34" charset="-122"/>
                <a:ea typeface="微软雅黑" panose="020B0503020204020204" pitchFamily="34" charset="-122"/>
              </a:rPr>
              <a:t>节  宏观环境（</a:t>
            </a:r>
            <a:r>
              <a:rPr lang="en-US" altLang="zh-CN" sz="3200" dirty="0">
                <a:solidFill>
                  <a:srgbClr val="1570C1"/>
                </a:solidFill>
                <a:latin typeface="微软雅黑" panose="020B0503020204020204" pitchFamily="34" charset="-122"/>
                <a:ea typeface="微软雅黑" panose="020B0503020204020204" pitchFamily="34" charset="-122"/>
              </a:rPr>
              <a:t>PEST</a:t>
            </a:r>
            <a:r>
              <a:rPr lang="zh-CN" altLang="en-US" sz="3200" dirty="0">
                <a:solidFill>
                  <a:srgbClr val="1570C1"/>
                </a:solidFill>
                <a:latin typeface="微软雅黑" panose="020B0503020204020204" pitchFamily="34" charset="-122"/>
                <a:ea typeface="微软雅黑" panose="020B0503020204020204" pitchFamily="34" charset="-122"/>
              </a:rPr>
              <a:t>模型）</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2</a:t>
            </a:r>
            <a:r>
              <a:rPr lang="zh-CN" altLang="en-US" sz="3200" dirty="0">
                <a:solidFill>
                  <a:srgbClr val="1570C1"/>
                </a:solidFill>
                <a:latin typeface="微软雅黑" panose="020B0503020204020204" pitchFamily="34" charset="-122"/>
                <a:ea typeface="微软雅黑" panose="020B0503020204020204" pitchFamily="34" charset="-122"/>
              </a:rPr>
              <a:t>节  行业经济特性及生命周期</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3</a:t>
            </a:r>
            <a:r>
              <a:rPr lang="zh-CN" altLang="en-US" sz="3200" dirty="0">
                <a:solidFill>
                  <a:srgbClr val="1570C1"/>
                </a:solidFill>
                <a:latin typeface="微软雅黑" panose="020B0503020204020204" pitchFamily="34" charset="-122"/>
                <a:ea typeface="微软雅黑" panose="020B0503020204020204" pitchFamily="34" charset="-122"/>
              </a:rPr>
              <a:t>节  </a:t>
            </a:r>
            <a:r>
              <a:rPr lang="zh-CN" altLang="en-US" sz="3200" dirty="0">
                <a:solidFill>
                  <a:srgbClr val="1570C1"/>
                </a:solidFill>
                <a:latin typeface="微软雅黑" panose="020B0503020204020204" pitchFamily="34" charset="-122"/>
                <a:ea typeface="微软雅黑" panose="020B0503020204020204" pitchFamily="34" charset="-122"/>
              </a:rPr>
              <a:t>企业竞争结构</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4</a:t>
            </a:r>
            <a:r>
              <a:rPr lang="zh-CN" altLang="en-US" sz="3200" dirty="0">
                <a:solidFill>
                  <a:srgbClr val="1570C1"/>
                </a:solidFill>
                <a:latin typeface="微软雅黑" panose="020B0503020204020204" pitchFamily="34" charset="-122"/>
                <a:ea typeface="微软雅黑" panose="020B0503020204020204" pitchFamily="34" charset="-122"/>
              </a:rPr>
              <a:t>节  战略群组</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5</a:t>
            </a:r>
            <a:r>
              <a:rPr lang="zh-CN" altLang="en-US" sz="3200" dirty="0">
                <a:solidFill>
                  <a:srgbClr val="1570C1"/>
                </a:solidFill>
                <a:latin typeface="微软雅黑" panose="020B0503020204020204" pitchFamily="34" charset="-122"/>
                <a:ea typeface="微软雅黑" panose="020B0503020204020204" pitchFamily="34" charset="-122"/>
              </a:rPr>
              <a:t>节  竞争对手</a:t>
            </a:r>
            <a:endParaRPr lang="zh-CN" altLang="en-US" sz="3200" dirty="0">
              <a:solidFill>
                <a:srgbClr val="1570C1"/>
              </a:solidFill>
              <a:latin typeface="微软雅黑" panose="020B0503020204020204" pitchFamily="34" charset="-122"/>
              <a:ea typeface="微软雅黑" panose="020B0503020204020204" pitchFamily="34" charset="-122"/>
            </a:endParaRPr>
          </a:p>
          <a:p>
            <a:pPr>
              <a:lnSpc>
                <a:spcPct val="200000"/>
              </a:lnSpc>
            </a:pPr>
            <a:r>
              <a:rPr lang="zh-CN" altLang="en-US" sz="3200" dirty="0">
                <a:solidFill>
                  <a:srgbClr val="1570C1"/>
                </a:solidFill>
                <a:latin typeface="微软雅黑" panose="020B0503020204020204" pitchFamily="34" charset="-122"/>
                <a:ea typeface="微软雅黑" panose="020B0503020204020204" pitchFamily="34" charset="-122"/>
              </a:rPr>
              <a:t>第</a:t>
            </a:r>
            <a:r>
              <a:rPr lang="en-US" altLang="zh-CN" sz="3200" dirty="0">
                <a:solidFill>
                  <a:srgbClr val="1570C1"/>
                </a:solidFill>
                <a:latin typeface="微软雅黑" panose="020B0503020204020204" pitchFamily="34" charset="-122"/>
                <a:ea typeface="微软雅黑" panose="020B0503020204020204" pitchFamily="34" charset="-122"/>
              </a:rPr>
              <a:t>6</a:t>
            </a:r>
            <a:r>
              <a:rPr lang="zh-CN" altLang="en-US" sz="3200" dirty="0">
                <a:solidFill>
                  <a:srgbClr val="1570C1"/>
                </a:solidFill>
                <a:latin typeface="微软雅黑" panose="020B0503020204020204" pitchFamily="34" charset="-122"/>
                <a:ea typeface="微软雅黑" panose="020B0503020204020204" pitchFamily="34" charset="-122"/>
              </a:rPr>
              <a:t>节  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1</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4900"/>
            <a:ext cx="9431338" cy="120015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宏观</a:t>
            </a:r>
            <a:r>
              <a:rPr kumimoji="0" lang="zh-CN" altLang="en-US"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环境</a:t>
            </a:r>
            <a:r>
              <a:rPr kumimoji="0" lang="en-US" altLang="zh-CN"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a:t>
            </a:r>
            <a:r>
              <a:rPr kumimoji="0" lang="en-US" altLang="zh-CN"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PEST</a:t>
            </a:r>
            <a:r>
              <a:rPr kumimoji="0" lang="zh-CN" altLang="en-US"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模型</a:t>
            </a:r>
            <a:r>
              <a:rPr kumimoji="0" lang="en-US" altLang="zh-CN"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8" name="矩形 16"/>
          <p:cNvSpPr>
            <a:spLocks noChangeArrowheads="1"/>
          </p:cNvSpPr>
          <p:nvPr/>
        </p:nvSpPr>
        <p:spPr bwMode="auto">
          <a:xfrm>
            <a:off x="2886075" y="5024438"/>
            <a:ext cx="4879975" cy="1752600"/>
          </a:xfrm>
          <a:prstGeom prst="rect">
            <a:avLst/>
          </a:prstGeom>
          <a:noFill/>
          <a:ln>
            <a:noFill/>
          </a:ln>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1.1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政治</a:t>
            </a: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法律因素</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1.2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经济因素</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1.3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社会文化因素</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1.4  </a:t>
            </a:r>
            <a:r>
              <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技术因素</a:t>
            </a:r>
            <a:endParaRPr kumimoji="0" lang="zh-CN" altLang="en-US" sz="2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355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355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3559"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宏观环境（</a:t>
            </a:r>
            <a:r>
              <a:rPr lang="en-US" altLang="zh-CN" sz="3200" dirty="0">
                <a:solidFill>
                  <a:srgbClr val="1570C1"/>
                </a:solidFill>
                <a:latin typeface="微软雅黑" panose="020B0503020204020204" pitchFamily="34" charset="-122"/>
                <a:ea typeface="微软雅黑" panose="020B0503020204020204" pitchFamily="34" charset="-122"/>
              </a:rPr>
              <a:t>PEST</a:t>
            </a:r>
            <a:r>
              <a:rPr lang="zh-CN" altLang="en-US" sz="3200" dirty="0">
                <a:solidFill>
                  <a:srgbClr val="1570C1"/>
                </a:solidFill>
                <a:latin typeface="微软雅黑" panose="020B0503020204020204" pitchFamily="34" charset="-122"/>
                <a:ea typeface="微软雅黑" panose="020B0503020204020204" pitchFamily="34" charset="-122"/>
              </a:rPr>
              <a:t>模型）</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8" name="矩形 17"/>
          <p:cNvSpPr/>
          <p:nvPr/>
        </p:nvSpPr>
        <p:spPr>
          <a:xfrm>
            <a:off x="603250" y="1860550"/>
            <a:ext cx="10968038" cy="3538220"/>
          </a:xfrm>
          <a:prstGeom prst="rect">
            <a:avLst/>
          </a:prstGeom>
          <a:solidFill>
            <a:srgbClr val="1570C1"/>
          </a:solidFill>
          <a:ln w="9525">
            <a:noFill/>
          </a:ln>
        </p:spPr>
        <p:txBody>
          <a:bodyPr anchor="t" anchorCtr="0">
            <a:spAutoFit/>
          </a:bodyPr>
          <a:p>
            <a:pPr algn="just" eaLnBrk="0" hangingPunct="0"/>
            <a:r>
              <a:rPr lang="en-US" altLang="zh-CN" sz="2800" dirty="0">
                <a:solidFill>
                  <a:srgbClr val="FFFFFF"/>
                </a:solidFill>
                <a:latin typeface="微软雅黑" panose="020B0503020204020204" pitchFamily="34" charset="-122"/>
                <a:ea typeface="微软雅黑" panose="020B0503020204020204" pitchFamily="34" charset="-122"/>
              </a:rPr>
              <a:t>      </a:t>
            </a:r>
            <a:r>
              <a:rPr lang="zh-CN" altLang="en-US" sz="2800" dirty="0">
                <a:solidFill>
                  <a:srgbClr val="FFFFFF"/>
                </a:solidFill>
                <a:latin typeface="微软雅黑" panose="020B0503020204020204" pitchFamily="34" charset="-122"/>
                <a:ea typeface="微软雅黑" panose="020B0503020204020204" pitchFamily="34" charset="-122"/>
              </a:rPr>
              <a:t>宏观环境是指在社会中影响各个行业的共同因素，一般包括</a:t>
            </a:r>
            <a:r>
              <a:rPr lang="zh-CN" altLang="en-US" sz="2800" dirty="0">
                <a:solidFill>
                  <a:srgbClr val="FF0000"/>
                </a:solidFill>
                <a:latin typeface="微软雅黑" panose="020B0503020204020204" pitchFamily="34" charset="-122"/>
                <a:ea typeface="微软雅黑" panose="020B0503020204020204" pitchFamily="34" charset="-122"/>
              </a:rPr>
              <a:t>政治环境（</a:t>
            </a:r>
            <a:r>
              <a:rPr lang="en-US" altLang="zh-CN" sz="2800" dirty="0">
                <a:solidFill>
                  <a:srgbClr val="FF0000"/>
                </a:solidFill>
                <a:latin typeface="微软雅黑" panose="020B0503020204020204" pitchFamily="34" charset="-122"/>
                <a:ea typeface="微软雅黑" panose="020B0503020204020204" pitchFamily="34" charset="-122"/>
              </a:rPr>
              <a:t>P</a:t>
            </a:r>
            <a:r>
              <a:rPr lang="zh-CN" altLang="en-US" sz="2800" dirty="0">
                <a:solidFill>
                  <a:srgbClr val="FF0000"/>
                </a:solidFill>
                <a:latin typeface="微软雅黑" panose="020B0503020204020204" pitchFamily="34" charset="-122"/>
                <a:ea typeface="微软雅黑" panose="020B0503020204020204" pitchFamily="34" charset="-122"/>
              </a:rPr>
              <a:t>）、经济环境（</a:t>
            </a:r>
            <a:r>
              <a:rPr lang="en-US" altLang="zh-CN" sz="2800" dirty="0">
                <a:solidFill>
                  <a:srgbClr val="FF0000"/>
                </a:solidFill>
                <a:latin typeface="微软雅黑" panose="020B0503020204020204" pitchFamily="34" charset="-122"/>
                <a:ea typeface="微软雅黑" panose="020B0503020204020204" pitchFamily="34" charset="-122"/>
              </a:rPr>
              <a:t>E</a:t>
            </a:r>
            <a:r>
              <a:rPr lang="zh-CN" altLang="en-US" sz="2800" dirty="0">
                <a:solidFill>
                  <a:srgbClr val="FF0000"/>
                </a:solidFill>
                <a:latin typeface="微软雅黑" panose="020B0503020204020204" pitchFamily="34" charset="-122"/>
                <a:ea typeface="微软雅黑" panose="020B0503020204020204" pitchFamily="34" charset="-122"/>
              </a:rPr>
              <a:t>）、社会文化环境（</a:t>
            </a:r>
            <a:r>
              <a:rPr lang="en-US" altLang="zh-CN" sz="2800" dirty="0">
                <a:solidFill>
                  <a:srgbClr val="FF0000"/>
                </a:solidFill>
                <a:latin typeface="微软雅黑" panose="020B0503020204020204" pitchFamily="34" charset="-122"/>
                <a:ea typeface="微软雅黑" panose="020B0503020204020204" pitchFamily="34" charset="-122"/>
              </a:rPr>
              <a:t>S</a:t>
            </a:r>
            <a:r>
              <a:rPr lang="zh-CN" altLang="en-US" sz="2800" dirty="0">
                <a:solidFill>
                  <a:srgbClr val="FF0000"/>
                </a:solidFill>
                <a:latin typeface="微软雅黑" panose="020B0503020204020204" pitchFamily="34" charset="-122"/>
                <a:ea typeface="微软雅黑" panose="020B0503020204020204" pitchFamily="34" charset="-122"/>
              </a:rPr>
              <a:t>）、技术环境（</a:t>
            </a:r>
            <a:r>
              <a:rPr lang="en-US" altLang="zh-CN" sz="2800" dirty="0">
                <a:solidFill>
                  <a:srgbClr val="FF0000"/>
                </a:solidFill>
                <a:latin typeface="微软雅黑" panose="020B0503020204020204" pitchFamily="34" charset="-122"/>
                <a:ea typeface="微软雅黑" panose="020B0503020204020204" pitchFamily="34" charset="-122"/>
              </a:rPr>
              <a:t>T</a:t>
            </a:r>
            <a:r>
              <a:rPr lang="zh-CN" altLang="en-US" sz="2800" dirty="0">
                <a:solidFill>
                  <a:srgbClr val="FF0000"/>
                </a:solidFill>
                <a:latin typeface="微软雅黑" panose="020B0503020204020204" pitchFamily="34" charset="-122"/>
                <a:ea typeface="微软雅黑" panose="020B0503020204020204" pitchFamily="34" charset="-122"/>
              </a:rPr>
              <a:t>）和自然环境（</a:t>
            </a:r>
            <a:r>
              <a:rPr lang="en-US" altLang="zh-CN" sz="2800" dirty="0">
                <a:solidFill>
                  <a:srgbClr val="FF0000"/>
                </a:solidFill>
                <a:latin typeface="微软雅黑" panose="020B0503020204020204" pitchFamily="34" charset="-122"/>
                <a:ea typeface="微软雅黑" panose="020B0503020204020204" pitchFamily="34" charset="-122"/>
              </a:rPr>
              <a:t>E</a:t>
            </a:r>
            <a:r>
              <a:rPr lang="zh-CN" altLang="en-US" sz="2800" dirty="0">
                <a:solidFill>
                  <a:srgbClr val="FF0000"/>
                </a:solidFill>
                <a:latin typeface="微软雅黑" panose="020B0503020204020204" pitchFamily="34" charset="-122"/>
                <a:ea typeface="微软雅黑" panose="020B0503020204020204" pitchFamily="34" charset="-122"/>
              </a:rPr>
              <a:t>）和法律环境（</a:t>
            </a:r>
            <a:r>
              <a:rPr lang="en-US" altLang="zh-CN" sz="2800" dirty="0">
                <a:solidFill>
                  <a:srgbClr val="FF0000"/>
                </a:solidFill>
                <a:latin typeface="微软雅黑" panose="020B0503020204020204" pitchFamily="34" charset="-122"/>
                <a:ea typeface="微软雅黑" panose="020B0503020204020204" pitchFamily="34" charset="-122"/>
              </a:rPr>
              <a:t>L</a:t>
            </a:r>
            <a:r>
              <a:rPr lang="zh-CN" altLang="en-US" sz="2800" dirty="0">
                <a:solidFill>
                  <a:srgbClr val="FF0000"/>
                </a:solidFill>
                <a:latin typeface="微软雅黑" panose="020B0503020204020204" pitchFamily="34" charset="-122"/>
                <a:ea typeface="微软雅黑" panose="020B0503020204020204" pitchFamily="34" charset="-122"/>
              </a:rPr>
              <a:t>）</a:t>
            </a:r>
            <a:r>
              <a:rPr lang="zh-CN" altLang="en-US" sz="2800" dirty="0">
                <a:solidFill>
                  <a:srgbClr val="FFFFFF"/>
                </a:solidFill>
                <a:latin typeface="微软雅黑" panose="020B0503020204020204" pitchFamily="34" charset="-122"/>
                <a:ea typeface="微软雅黑" panose="020B0503020204020204" pitchFamily="34" charset="-122"/>
              </a:rPr>
              <a:t>等。</a:t>
            </a:r>
            <a:endParaRPr lang="en-US" altLang="zh-CN" sz="2800" dirty="0">
              <a:solidFill>
                <a:srgbClr val="FFFFFF"/>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rgbClr val="FFFFFF"/>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rgbClr val="FFFFFF"/>
                </a:solidFill>
                <a:latin typeface="微软雅黑" panose="020B0503020204020204" pitchFamily="34" charset="-122"/>
                <a:ea typeface="微软雅黑" panose="020B0503020204020204" pitchFamily="34" charset="-122"/>
              </a:rPr>
              <a:t>      由于自然环境中除人口因素外，其它诸如地理、气候、资源等因素变化较小，而人口因素又可并入社会经济环境中予以考虑，法律环境因素可以并入政治环境中</a:t>
            </a:r>
            <a:r>
              <a:rPr lang="zh-CN" altLang="en-US" sz="2800" dirty="0">
                <a:solidFill>
                  <a:srgbClr val="FFFFFF"/>
                </a:solidFill>
                <a:latin typeface="微软雅黑" panose="020B0503020204020204" pitchFamily="34" charset="-122"/>
                <a:ea typeface="微软雅黑" panose="020B0503020204020204" pitchFamily="34" charset="-122"/>
              </a:rPr>
              <a:t>考虑，所以应着重分析前四种变动可能较大的环境因素对于企业经营战略的影响，这就是</a:t>
            </a:r>
            <a:r>
              <a:rPr lang="en-US" altLang="zh-CN" sz="2800" dirty="0">
                <a:solidFill>
                  <a:srgbClr val="FF0000"/>
                </a:solidFill>
                <a:latin typeface="微软雅黑" panose="020B0503020204020204" pitchFamily="34" charset="-122"/>
                <a:ea typeface="微软雅黑" panose="020B0503020204020204" pitchFamily="34" charset="-122"/>
              </a:rPr>
              <a:t>PEST</a:t>
            </a:r>
            <a:r>
              <a:rPr lang="zh-CN" altLang="en-US" sz="2800" dirty="0">
                <a:solidFill>
                  <a:srgbClr val="FF0000"/>
                </a:solidFill>
                <a:latin typeface="微软雅黑" panose="020B0503020204020204" pitchFamily="34" charset="-122"/>
                <a:ea typeface="微软雅黑" panose="020B0503020204020204" pitchFamily="34" charset="-122"/>
              </a:rPr>
              <a:t>分析</a:t>
            </a:r>
            <a:r>
              <a:rPr lang="zh-CN" altLang="en-US" sz="2800" dirty="0">
                <a:solidFill>
                  <a:srgbClr val="FFFFFF"/>
                </a:solidFill>
                <a:latin typeface="微软雅黑" panose="020B0503020204020204" pitchFamily="34" charset="-122"/>
                <a:ea typeface="微软雅黑" panose="020B0503020204020204" pitchFamily="34" charset="-122"/>
              </a:rPr>
              <a:t>。</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560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560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560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1.1  </a:t>
            </a:r>
            <a:r>
              <a:rPr lang="zh-CN" altLang="en-US" sz="3200" dirty="0">
                <a:solidFill>
                  <a:srgbClr val="1570C1"/>
                </a:solidFill>
                <a:latin typeface="微软雅黑" panose="020B0503020204020204" pitchFamily="34" charset="-122"/>
                <a:ea typeface="微软雅黑" panose="020B0503020204020204" pitchFamily="34" charset="-122"/>
              </a:rPr>
              <a:t>政治</a:t>
            </a:r>
            <a:r>
              <a:rPr lang="en-US" altLang="zh-CN" sz="3200" dirty="0">
                <a:solidFill>
                  <a:srgbClr val="1570C1"/>
                </a:solidFill>
                <a:latin typeface="微软雅黑" panose="020B0503020204020204" pitchFamily="34" charset="-122"/>
                <a:ea typeface="微软雅黑" panose="020B0503020204020204" pitchFamily="34" charset="-122"/>
              </a:rPr>
              <a:t>/</a:t>
            </a:r>
            <a:r>
              <a:rPr lang="zh-CN" altLang="en-US" sz="3200" dirty="0">
                <a:solidFill>
                  <a:srgbClr val="1570C1"/>
                </a:solidFill>
                <a:latin typeface="微软雅黑" panose="020B0503020204020204" pitchFamily="34" charset="-122"/>
                <a:ea typeface="微软雅黑" panose="020B0503020204020204" pitchFamily="34" charset="-122"/>
              </a:rPr>
              <a:t>法律因素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a:spLocks noChangeArrowheads="1"/>
          </p:cNvSpPr>
          <p:nvPr/>
        </p:nvSpPr>
        <p:spPr bwMode="auto">
          <a:xfrm>
            <a:off x="274638" y="1219200"/>
            <a:ext cx="11672888" cy="4831080"/>
          </a:xfrm>
          <a:prstGeom prst="rect">
            <a:avLst/>
          </a:prstGeom>
          <a:solidFill>
            <a:srgbClr val="57CAF4"/>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对企业经营活动产生影响的政治力量，包括一个国家或地区的政治制度、政治体制、政治形势、方针政策等（直接性、难以预测性、不可逆</a:t>
            </a: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转性）</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国际政治环境：</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错综复杂的中美关系、中欧关系、中日关系对越来越多的中国企业产生重大影响；</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政治体制：</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政治体制是指国家的基本制度及国家为有效运行而设立的一系列制度，包括国家的政治和行政管理体制、政府部门结构及运行制度、公民行使政治权利的制度、选举制度等；</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政策：</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最低工资限度、社会福利、劳动保护、进出口限制等；</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法律法规：</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反垄断法、税法、消费者权益保护法、劳动者保护法、知识产权保护法、环境保护法</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等；</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764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765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765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1.2  </a:t>
            </a:r>
            <a:r>
              <a:rPr lang="zh-CN" altLang="en-US" sz="3200" dirty="0">
                <a:solidFill>
                  <a:srgbClr val="1570C1"/>
                </a:solidFill>
                <a:latin typeface="微软雅黑" panose="020B0503020204020204" pitchFamily="34" charset="-122"/>
                <a:ea typeface="微软雅黑" panose="020B0503020204020204" pitchFamily="34" charset="-122"/>
              </a:rPr>
              <a:t>经济因素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a:spLocks noChangeArrowheads="1"/>
          </p:cNvSpPr>
          <p:nvPr/>
        </p:nvSpPr>
        <p:spPr bwMode="auto">
          <a:xfrm>
            <a:off x="395288" y="1644650"/>
            <a:ext cx="11382375" cy="3968750"/>
          </a:xfrm>
          <a:prstGeom prst="rect">
            <a:avLst/>
          </a:prstGeom>
          <a:solidFill>
            <a:srgbClr val="57CAF4"/>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企业所处的或者可能会参与其中的经济体的经济结构、经济体制、</a:t>
            </a: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经济形势、经济条件、经济特征和经济联系等</a:t>
            </a: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经济周期：</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萧条、停滞、复苏还是增长？</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利率：</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单位货币在单位时间内的利息水平，由国家的中央银行控制。</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汇率：</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汇率是一种货币兑换另一种货币的比率，决定了兑换一单位外币所需本币的数量。</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人均收入：</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人均收入是与消费品购买力呈正相关的经济指标。</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价格：</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反映和调节供求状况的信号与杠杆。</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69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2970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2970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1.3  </a:t>
            </a:r>
            <a:r>
              <a:rPr lang="zh-CN" altLang="en-US" sz="3200" dirty="0">
                <a:solidFill>
                  <a:srgbClr val="1570C1"/>
                </a:solidFill>
                <a:latin typeface="微软雅黑" panose="020B0503020204020204" pitchFamily="34" charset="-122"/>
                <a:ea typeface="微软雅黑" panose="020B0503020204020204" pitchFamily="34" charset="-122"/>
              </a:rPr>
              <a:t>社会文化因素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a:spLocks noChangeArrowheads="1"/>
          </p:cNvSpPr>
          <p:nvPr/>
        </p:nvSpPr>
        <p:spPr bwMode="auto">
          <a:xfrm>
            <a:off x="1838325" y="1131888"/>
            <a:ext cx="8515350" cy="5262563"/>
          </a:xfrm>
          <a:prstGeom prst="rect">
            <a:avLst/>
          </a:prstGeom>
          <a:solidFill>
            <a:srgbClr val="57CAF4"/>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与社会态度、文化传统、风俗习惯、宗教信仰</a:t>
            </a: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和价值取向相关的因素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人口统计因素：</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人口数量、年龄性别</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结构与地理分布等</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生活方式的变化（例如对劳动生活质量的看法）</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对待工作和休闲的态度（例如就业方式的选择）</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消费者利益保护（例如消费方式的选择）</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教育程度</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74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174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175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1.4  </a:t>
            </a:r>
            <a:r>
              <a:rPr lang="zh-CN" altLang="en-US" sz="3200" dirty="0">
                <a:solidFill>
                  <a:srgbClr val="1570C1"/>
                </a:solidFill>
                <a:latin typeface="微软雅黑" panose="020B0503020204020204" pitchFamily="34" charset="-122"/>
                <a:ea typeface="微软雅黑" panose="020B0503020204020204" pitchFamily="34" charset="-122"/>
              </a:rPr>
              <a:t>技术因素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29702" name="矩形 2"/>
          <p:cNvSpPr>
            <a:spLocks noChangeArrowheads="1"/>
          </p:cNvSpPr>
          <p:nvPr/>
        </p:nvSpPr>
        <p:spPr bwMode="auto">
          <a:xfrm>
            <a:off x="1843088" y="1644650"/>
            <a:ext cx="8515350" cy="3970338"/>
          </a:xfrm>
          <a:prstGeom prst="rect">
            <a:avLst/>
          </a:prstGeom>
          <a:solidFill>
            <a:srgbClr val="57CAF4"/>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所有能创造新知识、并将知识转化为新产出、新产品、新过程和新材料的制度与行为</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新技术发明</a:t>
            </a:r>
            <a:r>
              <a:rPr kumimoji="0" lang="en-US" altLang="zh-CN"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a:t>
            </a: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发展</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科技成果转化速度</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技术淘汰的速度</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产品生命周期</a:t>
            </a:r>
            <a:endParaRPr kumimoji="0" lang="zh-CN" altLang="en-US" sz="2800" b="1"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fade">
                                      <p:cBhvr>
                                        <p:cTn id="7" dur="500"/>
                                        <p:tgtEl>
                                          <p:spTgt spid="29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文本占位符 10241"/>
          <p:cNvSpPr>
            <a:spLocks noGrp="1"/>
          </p:cNvSpPr>
          <p:nvPr>
            <p:ph idx="1"/>
          </p:nvPr>
        </p:nvSpPr>
        <p:spPr>
          <a:xfrm>
            <a:off x="2214563" y="466725"/>
            <a:ext cx="8229600" cy="593725"/>
          </a:xfrm>
          <a:noFill/>
          <a:ln>
            <a:noFill/>
          </a:ln>
        </p:spPr>
        <p:txBody>
          <a:bodyPr vert="horz" wrap="square" lIns="91440" tIns="45720" rIns="91440" bIns="45720" anchor="t" anchorCtr="0"/>
          <a:p>
            <a:pPr algn="ctr" eaLnBrk="1" hangingPunct="1">
              <a:buNone/>
            </a:pPr>
            <a:r>
              <a:rPr lang="zh-CN" altLang="en-US" b="1" dirty="0"/>
              <a:t>企业宏观环境分析的目的</a:t>
            </a:r>
            <a:r>
              <a:rPr lang="zh-CN" altLang="en-US" dirty="0"/>
              <a:t> </a:t>
            </a:r>
            <a:endParaRPr lang="zh-CN" altLang="en-US" dirty="0"/>
          </a:p>
        </p:txBody>
      </p:sp>
      <p:sp>
        <p:nvSpPr>
          <p:cNvPr id="17411" name="文本框 1"/>
          <p:cNvSpPr txBox="1"/>
          <p:nvPr/>
        </p:nvSpPr>
        <p:spPr>
          <a:xfrm>
            <a:off x="2301875" y="1347788"/>
            <a:ext cx="7588250" cy="4029075"/>
          </a:xfrm>
          <a:prstGeom prst="rect">
            <a:avLst/>
          </a:prstGeom>
          <a:noFill/>
          <a:ln w="9525">
            <a:noFill/>
          </a:ln>
        </p:spPr>
        <p:txBody>
          <a:bodyPr anchor="t" anchorCtr="0">
            <a:spAutoFit/>
          </a:bodyPr>
          <a:p>
            <a:pPr indent="-342900">
              <a:lnSpc>
                <a:spcPct val="130000"/>
              </a:lnSpc>
              <a:spcBef>
                <a:spcPct val="20000"/>
              </a:spcBef>
              <a:buChar char="•"/>
            </a:pPr>
            <a:r>
              <a:rPr lang="zh-CN" altLang="en-US" sz="3200" dirty="0">
                <a:latin typeface="隶书" panose="02010509060101010101" pitchFamily="49" charset="-122"/>
                <a:ea typeface="隶书" panose="02010509060101010101" pitchFamily="49" charset="-122"/>
              </a:rPr>
              <a:t>通过分析，考察预测与某一行业和企业有重大关系的宏观环境因素将发生怎样的变化</a:t>
            </a:r>
            <a:endParaRPr lang="zh-CN" altLang="en-US" sz="3200" dirty="0">
              <a:latin typeface="隶书" panose="02010509060101010101" pitchFamily="49" charset="-122"/>
              <a:ea typeface="隶书" panose="02010509060101010101" pitchFamily="49" charset="-122"/>
            </a:endParaRPr>
          </a:p>
          <a:p>
            <a:pPr indent="-342900">
              <a:lnSpc>
                <a:spcPct val="130000"/>
              </a:lnSpc>
              <a:spcBef>
                <a:spcPct val="20000"/>
              </a:spcBef>
              <a:buChar char="•"/>
            </a:pPr>
            <a:r>
              <a:rPr lang="zh-CN" altLang="en-US" sz="3200" dirty="0">
                <a:latin typeface="隶书" panose="02010509060101010101" pitchFamily="49" charset="-122"/>
                <a:ea typeface="隶书" panose="02010509060101010101" pitchFamily="49" charset="-122"/>
              </a:rPr>
              <a:t>评价这些变化将会给行业及企业带来什么影响，以便为企业制定战略奠定基础和提供依据</a:t>
            </a:r>
            <a:endParaRPr lang="zh-CN" altLang="en-US" sz="3200" dirty="0">
              <a:latin typeface="隶书" panose="02010509060101010101" pitchFamily="49" charset="-122"/>
              <a:ea typeface="隶书" panose="02010509060101010101" pitchFamily="49" charset="-122"/>
            </a:endParaRPr>
          </a:p>
        </p:txBody>
      </p:sp>
      <p:grpSp>
        <p:nvGrpSpPr>
          <p:cNvPr id="33795" name="Group 4"/>
          <p:cNvGrpSpPr/>
          <p:nvPr/>
        </p:nvGrpSpPr>
        <p:grpSpPr>
          <a:xfrm>
            <a:off x="8039100" y="5172075"/>
            <a:ext cx="1568450" cy="1677988"/>
            <a:chOff x="4017" y="1678"/>
            <a:chExt cx="1609" cy="1714"/>
          </a:xfrm>
        </p:grpSpPr>
        <p:sp>
          <p:nvSpPr>
            <p:cNvPr id="33796" name="Freeform 5"/>
            <p:cNvSpPr/>
            <p:nvPr/>
          </p:nvSpPr>
          <p:spPr>
            <a:xfrm>
              <a:off x="4023" y="1690"/>
              <a:ext cx="1511" cy="891"/>
            </a:xfrm>
            <a:custGeom>
              <a:avLst/>
              <a:gdLst/>
              <a:ahLst/>
              <a:cxnLst>
                <a:cxn ang="0">
                  <a:pos x="28" y="0"/>
                </a:cxn>
                <a:cxn ang="0">
                  <a:pos x="169" y="7"/>
                </a:cxn>
                <a:cxn ang="0">
                  <a:pos x="296" y="8"/>
                </a:cxn>
                <a:cxn ang="0">
                  <a:pos x="449" y="17"/>
                </a:cxn>
                <a:cxn ang="0">
                  <a:pos x="675" y="24"/>
                </a:cxn>
                <a:cxn ang="0">
                  <a:pos x="911" y="25"/>
                </a:cxn>
                <a:cxn ang="0">
                  <a:pos x="1072" y="24"/>
                </a:cxn>
                <a:cxn ang="0">
                  <a:pos x="1240" y="19"/>
                </a:cxn>
                <a:cxn ang="0">
                  <a:pos x="1382" y="17"/>
                </a:cxn>
                <a:cxn ang="0">
                  <a:pos x="1468" y="14"/>
                </a:cxn>
                <a:cxn ang="0">
                  <a:pos x="1481" y="57"/>
                </a:cxn>
                <a:cxn ang="0">
                  <a:pos x="1456" y="187"/>
                </a:cxn>
                <a:cxn ang="0">
                  <a:pos x="1455" y="277"/>
                </a:cxn>
                <a:cxn ang="0">
                  <a:pos x="1459" y="411"/>
                </a:cxn>
                <a:cxn ang="0">
                  <a:pos x="1469" y="540"/>
                </a:cxn>
                <a:cxn ang="0">
                  <a:pos x="1490" y="663"/>
                </a:cxn>
                <a:cxn ang="0">
                  <a:pos x="1510" y="776"/>
                </a:cxn>
                <a:cxn ang="0">
                  <a:pos x="1511" y="867"/>
                </a:cxn>
                <a:cxn ang="0">
                  <a:pos x="1505" y="891"/>
                </a:cxn>
                <a:cxn ang="0">
                  <a:pos x="1452" y="874"/>
                </a:cxn>
                <a:cxn ang="0">
                  <a:pos x="1257" y="872"/>
                </a:cxn>
                <a:cxn ang="0">
                  <a:pos x="1049" y="867"/>
                </a:cxn>
                <a:cxn ang="0">
                  <a:pos x="903" y="863"/>
                </a:cxn>
                <a:cxn ang="0">
                  <a:pos x="686" y="863"/>
                </a:cxn>
                <a:cxn ang="0">
                  <a:pos x="449" y="861"/>
                </a:cxn>
                <a:cxn ang="0">
                  <a:pos x="230" y="860"/>
                </a:cxn>
                <a:cxn ang="0">
                  <a:pos x="41" y="863"/>
                </a:cxn>
                <a:cxn ang="0">
                  <a:pos x="38" y="717"/>
                </a:cxn>
                <a:cxn ang="0">
                  <a:pos x="19" y="544"/>
                </a:cxn>
                <a:cxn ang="0">
                  <a:pos x="13" y="365"/>
                </a:cxn>
                <a:cxn ang="0">
                  <a:pos x="0" y="220"/>
                </a:cxn>
                <a:cxn ang="0">
                  <a:pos x="3" y="97"/>
                </a:cxn>
                <a:cxn ang="0">
                  <a:pos x="3" y="28"/>
                </a:cxn>
                <a:cxn ang="0">
                  <a:pos x="28" y="0"/>
                </a:cxn>
              </a:cxnLst>
              <a:pathLst>
                <a:path w="2408" h="1508">
                  <a:moveTo>
                    <a:pt x="44" y="0"/>
                  </a:moveTo>
                  <a:lnTo>
                    <a:pt x="270" y="12"/>
                  </a:lnTo>
                  <a:lnTo>
                    <a:pt x="471" y="14"/>
                  </a:lnTo>
                  <a:lnTo>
                    <a:pt x="715" y="28"/>
                  </a:lnTo>
                  <a:lnTo>
                    <a:pt x="1075" y="40"/>
                  </a:lnTo>
                  <a:lnTo>
                    <a:pt x="1452" y="43"/>
                  </a:lnTo>
                  <a:lnTo>
                    <a:pt x="1709" y="40"/>
                  </a:lnTo>
                  <a:lnTo>
                    <a:pt x="1976" y="33"/>
                  </a:lnTo>
                  <a:lnTo>
                    <a:pt x="2202" y="28"/>
                  </a:lnTo>
                  <a:lnTo>
                    <a:pt x="2340" y="24"/>
                  </a:lnTo>
                  <a:lnTo>
                    <a:pt x="2360" y="96"/>
                  </a:lnTo>
                  <a:lnTo>
                    <a:pt x="2321" y="316"/>
                  </a:lnTo>
                  <a:lnTo>
                    <a:pt x="2319" y="469"/>
                  </a:lnTo>
                  <a:lnTo>
                    <a:pt x="2325" y="696"/>
                  </a:lnTo>
                  <a:lnTo>
                    <a:pt x="2341" y="914"/>
                  </a:lnTo>
                  <a:lnTo>
                    <a:pt x="2374" y="1122"/>
                  </a:lnTo>
                  <a:lnTo>
                    <a:pt x="2406" y="1314"/>
                  </a:lnTo>
                  <a:lnTo>
                    <a:pt x="2408" y="1467"/>
                  </a:lnTo>
                  <a:lnTo>
                    <a:pt x="2398" y="1508"/>
                  </a:lnTo>
                  <a:lnTo>
                    <a:pt x="2314" y="1480"/>
                  </a:lnTo>
                  <a:lnTo>
                    <a:pt x="2003" y="1476"/>
                  </a:lnTo>
                  <a:lnTo>
                    <a:pt x="1671" y="1467"/>
                  </a:lnTo>
                  <a:lnTo>
                    <a:pt x="1439" y="1460"/>
                  </a:lnTo>
                  <a:lnTo>
                    <a:pt x="1094" y="1460"/>
                  </a:lnTo>
                  <a:lnTo>
                    <a:pt x="715" y="1457"/>
                  </a:lnTo>
                  <a:lnTo>
                    <a:pt x="366" y="1455"/>
                  </a:lnTo>
                  <a:lnTo>
                    <a:pt x="65" y="1460"/>
                  </a:lnTo>
                  <a:lnTo>
                    <a:pt x="61" y="1213"/>
                  </a:lnTo>
                  <a:lnTo>
                    <a:pt x="31" y="921"/>
                  </a:lnTo>
                  <a:lnTo>
                    <a:pt x="20" y="617"/>
                  </a:lnTo>
                  <a:lnTo>
                    <a:pt x="0" y="373"/>
                  </a:lnTo>
                  <a:lnTo>
                    <a:pt x="4" y="165"/>
                  </a:lnTo>
                  <a:lnTo>
                    <a:pt x="4" y="47"/>
                  </a:lnTo>
                  <a:lnTo>
                    <a:pt x="44" y="0"/>
                  </a:lnTo>
                  <a:close/>
                </a:path>
              </a:pathLst>
            </a:custGeom>
            <a:solidFill>
              <a:srgbClr val="FFFFFF"/>
            </a:solidFill>
            <a:ln w="9525">
              <a:noFill/>
            </a:ln>
          </p:spPr>
          <p:txBody>
            <a:bodyPr/>
            <a:p>
              <a:endParaRPr lang="zh-CN" altLang="en-US"/>
            </a:p>
          </p:txBody>
        </p:sp>
        <p:sp>
          <p:nvSpPr>
            <p:cNvPr id="33797" name="Freeform 6"/>
            <p:cNvSpPr/>
            <p:nvPr/>
          </p:nvSpPr>
          <p:spPr>
            <a:xfrm>
              <a:off x="5169" y="2043"/>
              <a:ext cx="275" cy="209"/>
            </a:xfrm>
            <a:custGeom>
              <a:avLst/>
              <a:gdLst/>
              <a:ahLst/>
              <a:cxnLst>
                <a:cxn ang="0">
                  <a:pos x="167" y="0"/>
                </a:cxn>
                <a:cxn ang="0">
                  <a:pos x="275" y="209"/>
                </a:cxn>
                <a:cxn ang="0">
                  <a:pos x="16" y="209"/>
                </a:cxn>
                <a:cxn ang="0">
                  <a:pos x="0" y="193"/>
                </a:cxn>
                <a:cxn ang="0">
                  <a:pos x="69" y="108"/>
                </a:cxn>
                <a:cxn ang="0">
                  <a:pos x="167" y="0"/>
                </a:cxn>
              </a:cxnLst>
              <a:pathLst>
                <a:path w="437" h="355">
                  <a:moveTo>
                    <a:pt x="265" y="0"/>
                  </a:moveTo>
                  <a:lnTo>
                    <a:pt x="437" y="355"/>
                  </a:lnTo>
                  <a:lnTo>
                    <a:pt x="26" y="355"/>
                  </a:lnTo>
                  <a:lnTo>
                    <a:pt x="0" y="328"/>
                  </a:lnTo>
                  <a:lnTo>
                    <a:pt x="110" y="184"/>
                  </a:lnTo>
                  <a:lnTo>
                    <a:pt x="265" y="0"/>
                  </a:lnTo>
                  <a:close/>
                </a:path>
              </a:pathLst>
            </a:custGeom>
            <a:solidFill>
              <a:srgbClr val="F1EBDA"/>
            </a:solidFill>
            <a:ln w="9525">
              <a:noFill/>
            </a:ln>
          </p:spPr>
          <p:txBody>
            <a:bodyPr/>
            <a:p>
              <a:endParaRPr lang="zh-CN" altLang="en-US"/>
            </a:p>
          </p:txBody>
        </p:sp>
        <p:sp>
          <p:nvSpPr>
            <p:cNvPr id="33798" name="Freeform 7"/>
            <p:cNvSpPr/>
            <p:nvPr/>
          </p:nvSpPr>
          <p:spPr>
            <a:xfrm>
              <a:off x="4494" y="1774"/>
              <a:ext cx="770" cy="119"/>
            </a:xfrm>
            <a:custGeom>
              <a:avLst/>
              <a:gdLst/>
              <a:ahLst/>
              <a:cxnLst>
                <a:cxn ang="0">
                  <a:pos x="4" y="0"/>
                </a:cxn>
                <a:cxn ang="0">
                  <a:pos x="0" y="108"/>
                </a:cxn>
                <a:cxn ang="0">
                  <a:pos x="397" y="115"/>
                </a:cxn>
                <a:cxn ang="0">
                  <a:pos x="770" y="119"/>
                </a:cxn>
                <a:cxn ang="0">
                  <a:pos x="764" y="8"/>
                </a:cxn>
                <a:cxn ang="0">
                  <a:pos x="517" y="5"/>
                </a:cxn>
                <a:cxn ang="0">
                  <a:pos x="251" y="1"/>
                </a:cxn>
                <a:cxn ang="0">
                  <a:pos x="4" y="0"/>
                </a:cxn>
              </a:cxnLst>
              <a:pathLst>
                <a:path w="1225" h="201">
                  <a:moveTo>
                    <a:pt x="7" y="0"/>
                  </a:moveTo>
                  <a:lnTo>
                    <a:pt x="0" y="183"/>
                  </a:lnTo>
                  <a:lnTo>
                    <a:pt x="632" y="194"/>
                  </a:lnTo>
                  <a:lnTo>
                    <a:pt x="1225" y="201"/>
                  </a:lnTo>
                  <a:lnTo>
                    <a:pt x="1216" y="14"/>
                  </a:lnTo>
                  <a:lnTo>
                    <a:pt x="823" y="9"/>
                  </a:lnTo>
                  <a:lnTo>
                    <a:pt x="399" y="2"/>
                  </a:lnTo>
                  <a:lnTo>
                    <a:pt x="7" y="0"/>
                  </a:lnTo>
                  <a:close/>
                </a:path>
              </a:pathLst>
            </a:custGeom>
            <a:solidFill>
              <a:srgbClr val="F1EBDA"/>
            </a:solidFill>
            <a:ln w="9525">
              <a:noFill/>
            </a:ln>
          </p:spPr>
          <p:txBody>
            <a:bodyPr/>
            <a:p>
              <a:endParaRPr lang="zh-CN" altLang="en-US"/>
            </a:p>
          </p:txBody>
        </p:sp>
        <p:sp>
          <p:nvSpPr>
            <p:cNvPr id="33799" name="Freeform 8"/>
            <p:cNvSpPr/>
            <p:nvPr/>
          </p:nvSpPr>
          <p:spPr>
            <a:xfrm>
              <a:off x="4096" y="2033"/>
              <a:ext cx="618" cy="150"/>
            </a:xfrm>
            <a:custGeom>
              <a:avLst/>
              <a:gdLst/>
              <a:ahLst/>
              <a:cxnLst>
                <a:cxn ang="0">
                  <a:pos x="17" y="0"/>
                </a:cxn>
                <a:cxn ang="0">
                  <a:pos x="4" y="40"/>
                </a:cxn>
                <a:cxn ang="0">
                  <a:pos x="0" y="107"/>
                </a:cxn>
                <a:cxn ang="0">
                  <a:pos x="4" y="145"/>
                </a:cxn>
                <a:cxn ang="0">
                  <a:pos x="403" y="146"/>
                </a:cxn>
                <a:cxn ang="0">
                  <a:pos x="607" y="150"/>
                </a:cxn>
                <a:cxn ang="0">
                  <a:pos x="618" y="43"/>
                </a:cxn>
                <a:cxn ang="0">
                  <a:pos x="618" y="1"/>
                </a:cxn>
                <a:cxn ang="0">
                  <a:pos x="304" y="4"/>
                </a:cxn>
                <a:cxn ang="0">
                  <a:pos x="17" y="0"/>
                </a:cxn>
              </a:cxnLst>
              <a:pathLst>
                <a:path w="983" h="253">
                  <a:moveTo>
                    <a:pt x="27" y="0"/>
                  </a:moveTo>
                  <a:lnTo>
                    <a:pt x="7" y="68"/>
                  </a:lnTo>
                  <a:lnTo>
                    <a:pt x="0" y="180"/>
                  </a:lnTo>
                  <a:lnTo>
                    <a:pt x="7" y="244"/>
                  </a:lnTo>
                  <a:lnTo>
                    <a:pt x="641" y="246"/>
                  </a:lnTo>
                  <a:lnTo>
                    <a:pt x="965" y="253"/>
                  </a:lnTo>
                  <a:lnTo>
                    <a:pt x="983" y="73"/>
                  </a:lnTo>
                  <a:lnTo>
                    <a:pt x="983" y="2"/>
                  </a:lnTo>
                  <a:lnTo>
                    <a:pt x="483" y="7"/>
                  </a:lnTo>
                  <a:lnTo>
                    <a:pt x="27" y="0"/>
                  </a:lnTo>
                  <a:close/>
                </a:path>
              </a:pathLst>
            </a:custGeom>
            <a:solidFill>
              <a:srgbClr val="F1EBDA"/>
            </a:solidFill>
            <a:ln w="9525">
              <a:noFill/>
            </a:ln>
          </p:spPr>
          <p:txBody>
            <a:bodyPr/>
            <a:p>
              <a:endParaRPr lang="zh-CN" altLang="en-US"/>
            </a:p>
          </p:txBody>
        </p:sp>
        <p:sp>
          <p:nvSpPr>
            <p:cNvPr id="33800" name="Freeform 9"/>
            <p:cNvSpPr/>
            <p:nvPr/>
          </p:nvSpPr>
          <p:spPr>
            <a:xfrm>
              <a:off x="5276" y="3053"/>
              <a:ext cx="309" cy="164"/>
            </a:xfrm>
            <a:custGeom>
              <a:avLst/>
              <a:gdLst/>
              <a:ahLst/>
              <a:cxnLst>
                <a:cxn ang="0">
                  <a:pos x="184" y="0"/>
                </a:cxn>
                <a:cxn ang="0">
                  <a:pos x="253" y="83"/>
                </a:cxn>
                <a:cxn ang="0">
                  <a:pos x="309" y="139"/>
                </a:cxn>
                <a:cxn ang="0">
                  <a:pos x="301" y="154"/>
                </a:cxn>
                <a:cxn ang="0">
                  <a:pos x="73" y="164"/>
                </a:cxn>
                <a:cxn ang="0">
                  <a:pos x="7" y="158"/>
                </a:cxn>
                <a:cxn ang="0">
                  <a:pos x="0" y="149"/>
                </a:cxn>
                <a:cxn ang="0">
                  <a:pos x="7" y="129"/>
                </a:cxn>
                <a:cxn ang="0">
                  <a:pos x="145" y="30"/>
                </a:cxn>
                <a:cxn ang="0">
                  <a:pos x="184" y="0"/>
                </a:cxn>
              </a:cxnLst>
              <a:pathLst>
                <a:path w="491" h="279">
                  <a:moveTo>
                    <a:pt x="292" y="0"/>
                  </a:moveTo>
                  <a:lnTo>
                    <a:pt x="402" y="141"/>
                  </a:lnTo>
                  <a:lnTo>
                    <a:pt x="491" y="236"/>
                  </a:lnTo>
                  <a:lnTo>
                    <a:pt x="478" y="262"/>
                  </a:lnTo>
                  <a:lnTo>
                    <a:pt x="116" y="279"/>
                  </a:lnTo>
                  <a:lnTo>
                    <a:pt x="11" y="269"/>
                  </a:lnTo>
                  <a:lnTo>
                    <a:pt x="0" y="253"/>
                  </a:lnTo>
                  <a:lnTo>
                    <a:pt x="11" y="220"/>
                  </a:lnTo>
                  <a:lnTo>
                    <a:pt x="231" y="51"/>
                  </a:lnTo>
                  <a:lnTo>
                    <a:pt x="292" y="0"/>
                  </a:lnTo>
                  <a:close/>
                </a:path>
              </a:pathLst>
            </a:custGeom>
            <a:solidFill>
              <a:srgbClr val="F1EBDA"/>
            </a:solidFill>
            <a:ln w="9525">
              <a:noFill/>
            </a:ln>
          </p:spPr>
          <p:txBody>
            <a:bodyPr/>
            <a:p>
              <a:endParaRPr lang="zh-CN" altLang="en-US"/>
            </a:p>
          </p:txBody>
        </p:sp>
        <p:sp>
          <p:nvSpPr>
            <p:cNvPr id="33801" name="Freeform 10"/>
            <p:cNvSpPr/>
            <p:nvPr/>
          </p:nvSpPr>
          <p:spPr>
            <a:xfrm>
              <a:off x="4204" y="2841"/>
              <a:ext cx="1412" cy="544"/>
            </a:xfrm>
            <a:custGeom>
              <a:avLst/>
              <a:gdLst/>
              <a:ahLst/>
              <a:cxnLst>
                <a:cxn ang="0">
                  <a:pos x="492" y="125"/>
                </a:cxn>
                <a:cxn ang="0">
                  <a:pos x="229" y="17"/>
                </a:cxn>
                <a:cxn ang="0">
                  <a:pos x="115" y="8"/>
                </a:cxn>
                <a:cxn ang="0">
                  <a:pos x="15" y="46"/>
                </a:cxn>
                <a:cxn ang="0">
                  <a:pos x="15" y="90"/>
                </a:cxn>
                <a:cxn ang="0">
                  <a:pos x="250" y="170"/>
                </a:cxn>
                <a:cxn ang="0">
                  <a:pos x="104" y="203"/>
                </a:cxn>
                <a:cxn ang="0">
                  <a:pos x="262" y="267"/>
                </a:cxn>
                <a:cxn ang="0">
                  <a:pos x="296" y="188"/>
                </a:cxn>
                <a:cxn ang="0">
                  <a:pos x="416" y="353"/>
                </a:cxn>
                <a:cxn ang="0">
                  <a:pos x="225" y="357"/>
                </a:cxn>
                <a:cxn ang="0">
                  <a:pos x="182" y="437"/>
                </a:cxn>
                <a:cxn ang="0">
                  <a:pos x="237" y="451"/>
                </a:cxn>
                <a:cxn ang="0">
                  <a:pos x="547" y="432"/>
                </a:cxn>
                <a:cxn ang="0">
                  <a:pos x="775" y="428"/>
                </a:cxn>
                <a:cxn ang="0">
                  <a:pos x="878" y="410"/>
                </a:cxn>
                <a:cxn ang="0">
                  <a:pos x="1018" y="498"/>
                </a:cxn>
                <a:cxn ang="0">
                  <a:pos x="1167" y="522"/>
                </a:cxn>
                <a:cxn ang="0">
                  <a:pos x="1183" y="477"/>
                </a:cxn>
                <a:cxn ang="0">
                  <a:pos x="1005" y="373"/>
                </a:cxn>
                <a:cxn ang="0">
                  <a:pos x="812" y="283"/>
                </a:cxn>
                <a:cxn ang="0">
                  <a:pos x="957" y="237"/>
                </a:cxn>
                <a:cxn ang="0">
                  <a:pos x="1129" y="185"/>
                </a:cxn>
                <a:cxn ang="0">
                  <a:pos x="1296" y="132"/>
                </a:cxn>
                <a:cxn ang="0">
                  <a:pos x="1399" y="122"/>
                </a:cxn>
                <a:cxn ang="0">
                  <a:pos x="1409" y="79"/>
                </a:cxn>
                <a:cxn ang="0">
                  <a:pos x="1362" y="41"/>
                </a:cxn>
                <a:cxn ang="0">
                  <a:pos x="1302" y="43"/>
                </a:cxn>
                <a:cxn ang="0">
                  <a:pos x="1221" y="72"/>
                </a:cxn>
                <a:cxn ang="0">
                  <a:pos x="1067" y="122"/>
                </a:cxn>
                <a:cxn ang="0">
                  <a:pos x="897" y="182"/>
                </a:cxn>
                <a:cxn ang="0">
                  <a:pos x="785" y="199"/>
                </a:cxn>
                <a:cxn ang="0">
                  <a:pos x="641" y="219"/>
                </a:cxn>
              </a:cxnLst>
              <a:pathLst>
                <a:path w="2249" h="920">
                  <a:moveTo>
                    <a:pt x="1021" y="370"/>
                  </a:moveTo>
                  <a:lnTo>
                    <a:pt x="783" y="211"/>
                  </a:lnTo>
                  <a:lnTo>
                    <a:pt x="536" y="109"/>
                  </a:lnTo>
                  <a:lnTo>
                    <a:pt x="365" y="28"/>
                  </a:lnTo>
                  <a:lnTo>
                    <a:pt x="237" y="0"/>
                  </a:lnTo>
                  <a:lnTo>
                    <a:pt x="183" y="13"/>
                  </a:lnTo>
                  <a:lnTo>
                    <a:pt x="73" y="70"/>
                  </a:lnTo>
                  <a:lnTo>
                    <a:pt x="24" y="77"/>
                  </a:lnTo>
                  <a:lnTo>
                    <a:pt x="0" y="103"/>
                  </a:lnTo>
                  <a:lnTo>
                    <a:pt x="24" y="152"/>
                  </a:lnTo>
                  <a:lnTo>
                    <a:pt x="185" y="218"/>
                  </a:lnTo>
                  <a:lnTo>
                    <a:pt x="398" y="288"/>
                  </a:lnTo>
                  <a:lnTo>
                    <a:pt x="218" y="323"/>
                  </a:lnTo>
                  <a:lnTo>
                    <a:pt x="165" y="344"/>
                  </a:lnTo>
                  <a:lnTo>
                    <a:pt x="191" y="363"/>
                  </a:lnTo>
                  <a:lnTo>
                    <a:pt x="417" y="452"/>
                  </a:lnTo>
                  <a:lnTo>
                    <a:pt x="426" y="451"/>
                  </a:lnTo>
                  <a:lnTo>
                    <a:pt x="472" y="318"/>
                  </a:lnTo>
                  <a:lnTo>
                    <a:pt x="656" y="396"/>
                  </a:lnTo>
                  <a:lnTo>
                    <a:pt x="663" y="597"/>
                  </a:lnTo>
                  <a:lnTo>
                    <a:pt x="518" y="602"/>
                  </a:lnTo>
                  <a:lnTo>
                    <a:pt x="358" y="604"/>
                  </a:lnTo>
                  <a:lnTo>
                    <a:pt x="332" y="616"/>
                  </a:lnTo>
                  <a:lnTo>
                    <a:pt x="290" y="739"/>
                  </a:lnTo>
                  <a:lnTo>
                    <a:pt x="299" y="768"/>
                  </a:lnTo>
                  <a:lnTo>
                    <a:pt x="378" y="763"/>
                  </a:lnTo>
                  <a:lnTo>
                    <a:pt x="591" y="744"/>
                  </a:lnTo>
                  <a:lnTo>
                    <a:pt x="871" y="730"/>
                  </a:lnTo>
                  <a:lnTo>
                    <a:pt x="1108" y="723"/>
                  </a:lnTo>
                  <a:lnTo>
                    <a:pt x="1235" y="723"/>
                  </a:lnTo>
                  <a:lnTo>
                    <a:pt x="1387" y="739"/>
                  </a:lnTo>
                  <a:lnTo>
                    <a:pt x="1398" y="693"/>
                  </a:lnTo>
                  <a:lnTo>
                    <a:pt x="1518" y="763"/>
                  </a:lnTo>
                  <a:lnTo>
                    <a:pt x="1621" y="843"/>
                  </a:lnTo>
                  <a:lnTo>
                    <a:pt x="1751" y="920"/>
                  </a:lnTo>
                  <a:lnTo>
                    <a:pt x="1859" y="882"/>
                  </a:lnTo>
                  <a:lnTo>
                    <a:pt x="1896" y="843"/>
                  </a:lnTo>
                  <a:lnTo>
                    <a:pt x="1885" y="807"/>
                  </a:lnTo>
                  <a:lnTo>
                    <a:pt x="1744" y="726"/>
                  </a:lnTo>
                  <a:lnTo>
                    <a:pt x="1600" y="630"/>
                  </a:lnTo>
                  <a:lnTo>
                    <a:pt x="1446" y="536"/>
                  </a:lnTo>
                  <a:lnTo>
                    <a:pt x="1293" y="478"/>
                  </a:lnTo>
                  <a:lnTo>
                    <a:pt x="1341" y="447"/>
                  </a:lnTo>
                  <a:lnTo>
                    <a:pt x="1525" y="400"/>
                  </a:lnTo>
                  <a:lnTo>
                    <a:pt x="1687" y="337"/>
                  </a:lnTo>
                  <a:lnTo>
                    <a:pt x="1799" y="313"/>
                  </a:lnTo>
                  <a:lnTo>
                    <a:pt x="1926" y="267"/>
                  </a:lnTo>
                  <a:lnTo>
                    <a:pt x="2065" y="224"/>
                  </a:lnTo>
                  <a:lnTo>
                    <a:pt x="2163" y="203"/>
                  </a:lnTo>
                  <a:lnTo>
                    <a:pt x="2229" y="206"/>
                  </a:lnTo>
                  <a:lnTo>
                    <a:pt x="2249" y="178"/>
                  </a:lnTo>
                  <a:lnTo>
                    <a:pt x="2245" y="133"/>
                  </a:lnTo>
                  <a:lnTo>
                    <a:pt x="2242" y="117"/>
                  </a:lnTo>
                  <a:lnTo>
                    <a:pt x="2170" y="70"/>
                  </a:lnTo>
                  <a:lnTo>
                    <a:pt x="2117" y="67"/>
                  </a:lnTo>
                  <a:lnTo>
                    <a:pt x="2073" y="72"/>
                  </a:lnTo>
                  <a:lnTo>
                    <a:pt x="2016" y="103"/>
                  </a:lnTo>
                  <a:lnTo>
                    <a:pt x="1944" y="122"/>
                  </a:lnTo>
                  <a:lnTo>
                    <a:pt x="1823" y="164"/>
                  </a:lnTo>
                  <a:lnTo>
                    <a:pt x="1700" y="206"/>
                  </a:lnTo>
                  <a:lnTo>
                    <a:pt x="1573" y="250"/>
                  </a:lnTo>
                  <a:lnTo>
                    <a:pt x="1428" y="307"/>
                  </a:lnTo>
                  <a:lnTo>
                    <a:pt x="1338" y="320"/>
                  </a:lnTo>
                  <a:lnTo>
                    <a:pt x="1251" y="337"/>
                  </a:lnTo>
                  <a:lnTo>
                    <a:pt x="1128" y="356"/>
                  </a:lnTo>
                  <a:lnTo>
                    <a:pt x="1021" y="370"/>
                  </a:lnTo>
                  <a:close/>
                </a:path>
              </a:pathLst>
            </a:custGeom>
            <a:solidFill>
              <a:srgbClr val="F1EBDA"/>
            </a:solidFill>
            <a:ln w="9525">
              <a:noFill/>
            </a:ln>
          </p:spPr>
          <p:txBody>
            <a:bodyPr/>
            <a:p>
              <a:endParaRPr lang="zh-CN" altLang="en-US"/>
            </a:p>
          </p:txBody>
        </p:sp>
        <p:grpSp>
          <p:nvGrpSpPr>
            <p:cNvPr id="33802" name="Group 11"/>
            <p:cNvGrpSpPr/>
            <p:nvPr/>
          </p:nvGrpSpPr>
          <p:grpSpPr>
            <a:xfrm>
              <a:off x="4197" y="2834"/>
              <a:ext cx="1429" cy="558"/>
              <a:chOff x="4552" y="3568"/>
              <a:chExt cx="1138" cy="472"/>
            </a:xfrm>
          </p:grpSpPr>
          <p:sp>
            <p:nvSpPr>
              <p:cNvPr id="33803" name="Freeform 12"/>
              <p:cNvSpPr/>
              <p:nvPr/>
            </p:nvSpPr>
            <p:spPr>
              <a:xfrm>
                <a:off x="5040" y="3596"/>
                <a:ext cx="650" cy="245"/>
              </a:xfrm>
              <a:custGeom>
                <a:avLst/>
                <a:gdLst/>
                <a:ahLst/>
                <a:cxnLst>
                  <a:cxn ang="0">
                    <a:pos x="462" y="42"/>
                  </a:cxn>
                  <a:cxn ang="0">
                    <a:pos x="550" y="6"/>
                  </a:cxn>
                  <a:cxn ang="0">
                    <a:pos x="609" y="12"/>
                  </a:cxn>
                  <a:cxn ang="0">
                    <a:pos x="589" y="16"/>
                  </a:cxn>
                  <a:cxn ang="0">
                    <a:pos x="543" y="28"/>
                  </a:cxn>
                  <a:cxn ang="0">
                    <a:pos x="456" y="53"/>
                  </a:cxn>
                  <a:cxn ang="0">
                    <a:pos x="345" y="93"/>
                  </a:cxn>
                  <a:cxn ang="0">
                    <a:pos x="228" y="138"/>
                  </a:cxn>
                  <a:cxn ang="0">
                    <a:pos x="79" y="159"/>
                  </a:cxn>
                  <a:cxn ang="0">
                    <a:pos x="17" y="174"/>
                  </a:cxn>
                  <a:cxn ang="0">
                    <a:pos x="85" y="215"/>
                  </a:cxn>
                  <a:cxn ang="0">
                    <a:pos x="155" y="215"/>
                  </a:cxn>
                  <a:cxn ang="0">
                    <a:pos x="243" y="180"/>
                  </a:cxn>
                  <a:cxn ang="0">
                    <a:pos x="363" y="138"/>
                  </a:cxn>
                  <a:cxn ang="0">
                    <a:pos x="479" y="107"/>
                  </a:cxn>
                  <a:cxn ang="0">
                    <a:pos x="582" y="77"/>
                  </a:cxn>
                  <a:cxn ang="0">
                    <a:pos x="636" y="65"/>
                  </a:cxn>
                  <a:cxn ang="0">
                    <a:pos x="633" y="38"/>
                  </a:cxn>
                  <a:cxn ang="0">
                    <a:pos x="646" y="45"/>
                  </a:cxn>
                  <a:cxn ang="0">
                    <a:pos x="633" y="84"/>
                  </a:cxn>
                  <a:cxn ang="0">
                    <a:pos x="535" y="102"/>
                  </a:cxn>
                  <a:cxn ang="0">
                    <a:pos x="443" y="129"/>
                  </a:cxn>
                  <a:cxn ang="0">
                    <a:pos x="366" y="151"/>
                  </a:cxn>
                  <a:cxn ang="0">
                    <a:pos x="295" y="176"/>
                  </a:cxn>
                  <a:cxn ang="0">
                    <a:pos x="215" y="200"/>
                  </a:cxn>
                  <a:cxn ang="0">
                    <a:pos x="162" y="226"/>
                  </a:cxn>
                  <a:cxn ang="0">
                    <a:pos x="108" y="245"/>
                  </a:cxn>
                  <a:cxn ang="0">
                    <a:pos x="89" y="232"/>
                  </a:cxn>
                  <a:cxn ang="0">
                    <a:pos x="16" y="196"/>
                  </a:cxn>
                  <a:cxn ang="0">
                    <a:pos x="10" y="170"/>
                  </a:cxn>
                  <a:cxn ang="0">
                    <a:pos x="71" y="151"/>
                  </a:cxn>
                  <a:cxn ang="0">
                    <a:pos x="179" y="136"/>
                  </a:cxn>
                  <a:cxn ang="0">
                    <a:pos x="273" y="109"/>
                  </a:cxn>
                  <a:cxn ang="0">
                    <a:pos x="383" y="67"/>
                  </a:cxn>
                </a:cxnLst>
                <a:pathLst>
                  <a:path w="1300" h="488">
                    <a:moveTo>
                      <a:pt x="765" y="134"/>
                    </a:moveTo>
                    <a:lnTo>
                      <a:pt x="923" y="83"/>
                    </a:lnTo>
                    <a:lnTo>
                      <a:pt x="1013" y="63"/>
                    </a:lnTo>
                    <a:lnTo>
                      <a:pt x="1099" y="12"/>
                    </a:lnTo>
                    <a:lnTo>
                      <a:pt x="1166" y="0"/>
                    </a:lnTo>
                    <a:lnTo>
                      <a:pt x="1217" y="24"/>
                    </a:lnTo>
                    <a:lnTo>
                      <a:pt x="1224" y="38"/>
                    </a:lnTo>
                    <a:lnTo>
                      <a:pt x="1177" y="31"/>
                    </a:lnTo>
                    <a:lnTo>
                      <a:pt x="1127" y="29"/>
                    </a:lnTo>
                    <a:lnTo>
                      <a:pt x="1085" y="56"/>
                    </a:lnTo>
                    <a:lnTo>
                      <a:pt x="1006" y="83"/>
                    </a:lnTo>
                    <a:lnTo>
                      <a:pt x="912" y="106"/>
                    </a:lnTo>
                    <a:lnTo>
                      <a:pt x="785" y="153"/>
                    </a:lnTo>
                    <a:lnTo>
                      <a:pt x="690" y="186"/>
                    </a:lnTo>
                    <a:lnTo>
                      <a:pt x="543" y="242"/>
                    </a:lnTo>
                    <a:lnTo>
                      <a:pt x="456" y="274"/>
                    </a:lnTo>
                    <a:lnTo>
                      <a:pt x="331" y="293"/>
                    </a:lnTo>
                    <a:lnTo>
                      <a:pt x="157" y="316"/>
                    </a:lnTo>
                    <a:lnTo>
                      <a:pt x="72" y="331"/>
                    </a:lnTo>
                    <a:lnTo>
                      <a:pt x="34" y="347"/>
                    </a:lnTo>
                    <a:lnTo>
                      <a:pt x="65" y="378"/>
                    </a:lnTo>
                    <a:lnTo>
                      <a:pt x="170" y="429"/>
                    </a:lnTo>
                    <a:lnTo>
                      <a:pt x="225" y="462"/>
                    </a:lnTo>
                    <a:lnTo>
                      <a:pt x="309" y="429"/>
                    </a:lnTo>
                    <a:lnTo>
                      <a:pt x="379" y="391"/>
                    </a:lnTo>
                    <a:lnTo>
                      <a:pt x="486" y="359"/>
                    </a:lnTo>
                    <a:lnTo>
                      <a:pt x="605" y="326"/>
                    </a:lnTo>
                    <a:lnTo>
                      <a:pt x="726" y="275"/>
                    </a:lnTo>
                    <a:lnTo>
                      <a:pt x="831" y="254"/>
                    </a:lnTo>
                    <a:lnTo>
                      <a:pt x="958" y="213"/>
                    </a:lnTo>
                    <a:lnTo>
                      <a:pt x="1037" y="186"/>
                    </a:lnTo>
                    <a:lnTo>
                      <a:pt x="1164" y="153"/>
                    </a:lnTo>
                    <a:lnTo>
                      <a:pt x="1245" y="146"/>
                    </a:lnTo>
                    <a:lnTo>
                      <a:pt x="1272" y="129"/>
                    </a:lnTo>
                    <a:lnTo>
                      <a:pt x="1272" y="115"/>
                    </a:lnTo>
                    <a:lnTo>
                      <a:pt x="1265" y="75"/>
                    </a:lnTo>
                    <a:lnTo>
                      <a:pt x="1259" y="56"/>
                    </a:lnTo>
                    <a:lnTo>
                      <a:pt x="1292" y="90"/>
                    </a:lnTo>
                    <a:lnTo>
                      <a:pt x="1300" y="139"/>
                    </a:lnTo>
                    <a:lnTo>
                      <a:pt x="1265" y="167"/>
                    </a:lnTo>
                    <a:lnTo>
                      <a:pt x="1186" y="172"/>
                    </a:lnTo>
                    <a:lnTo>
                      <a:pt x="1070" y="204"/>
                    </a:lnTo>
                    <a:lnTo>
                      <a:pt x="960" y="232"/>
                    </a:lnTo>
                    <a:lnTo>
                      <a:pt x="886" y="256"/>
                    </a:lnTo>
                    <a:lnTo>
                      <a:pt x="833" y="281"/>
                    </a:lnTo>
                    <a:lnTo>
                      <a:pt x="732" y="300"/>
                    </a:lnTo>
                    <a:lnTo>
                      <a:pt x="669" y="321"/>
                    </a:lnTo>
                    <a:lnTo>
                      <a:pt x="590" y="350"/>
                    </a:lnTo>
                    <a:lnTo>
                      <a:pt x="511" y="373"/>
                    </a:lnTo>
                    <a:lnTo>
                      <a:pt x="430" y="398"/>
                    </a:lnTo>
                    <a:lnTo>
                      <a:pt x="383" y="412"/>
                    </a:lnTo>
                    <a:lnTo>
                      <a:pt x="324" y="450"/>
                    </a:lnTo>
                    <a:lnTo>
                      <a:pt x="258" y="469"/>
                    </a:lnTo>
                    <a:lnTo>
                      <a:pt x="215" y="488"/>
                    </a:lnTo>
                    <a:lnTo>
                      <a:pt x="203" y="487"/>
                    </a:lnTo>
                    <a:lnTo>
                      <a:pt x="177" y="462"/>
                    </a:lnTo>
                    <a:lnTo>
                      <a:pt x="109" y="422"/>
                    </a:lnTo>
                    <a:lnTo>
                      <a:pt x="32" y="391"/>
                    </a:lnTo>
                    <a:lnTo>
                      <a:pt x="0" y="350"/>
                    </a:lnTo>
                    <a:lnTo>
                      <a:pt x="19" y="338"/>
                    </a:lnTo>
                    <a:lnTo>
                      <a:pt x="52" y="319"/>
                    </a:lnTo>
                    <a:lnTo>
                      <a:pt x="142" y="300"/>
                    </a:lnTo>
                    <a:lnTo>
                      <a:pt x="258" y="288"/>
                    </a:lnTo>
                    <a:lnTo>
                      <a:pt x="357" y="270"/>
                    </a:lnTo>
                    <a:lnTo>
                      <a:pt x="451" y="251"/>
                    </a:lnTo>
                    <a:lnTo>
                      <a:pt x="546" y="218"/>
                    </a:lnTo>
                    <a:lnTo>
                      <a:pt x="664" y="178"/>
                    </a:lnTo>
                    <a:lnTo>
                      <a:pt x="765" y="134"/>
                    </a:lnTo>
                    <a:close/>
                  </a:path>
                </a:pathLst>
              </a:custGeom>
              <a:solidFill>
                <a:srgbClr val="000000"/>
              </a:solidFill>
              <a:ln w="9525">
                <a:noFill/>
              </a:ln>
            </p:spPr>
            <p:txBody>
              <a:bodyPr/>
              <a:p>
                <a:endParaRPr lang="zh-CN" altLang="en-US"/>
              </a:p>
            </p:txBody>
          </p:sp>
          <p:sp>
            <p:nvSpPr>
              <p:cNvPr id="33804" name="Freeform 13"/>
              <p:cNvSpPr/>
              <p:nvPr/>
            </p:nvSpPr>
            <p:spPr>
              <a:xfrm>
                <a:off x="4552" y="3568"/>
                <a:ext cx="576" cy="313"/>
              </a:xfrm>
              <a:custGeom>
                <a:avLst/>
                <a:gdLst/>
                <a:ahLst/>
                <a:cxnLst>
                  <a:cxn ang="0">
                    <a:pos x="528" y="189"/>
                  </a:cxn>
                  <a:cxn ang="0">
                    <a:pos x="464" y="146"/>
                  </a:cxn>
                  <a:cxn ang="0">
                    <a:pos x="400" y="108"/>
                  </a:cxn>
                  <a:cxn ang="0">
                    <a:pos x="321" y="73"/>
                  </a:cxn>
                  <a:cxn ang="0">
                    <a:pos x="253" y="41"/>
                  </a:cxn>
                  <a:cxn ang="0">
                    <a:pos x="192" y="15"/>
                  </a:cxn>
                  <a:cxn ang="0">
                    <a:pos x="141" y="0"/>
                  </a:cxn>
                  <a:cxn ang="0">
                    <a:pos x="100" y="5"/>
                  </a:cxn>
                  <a:cxn ang="0">
                    <a:pos x="52" y="34"/>
                  </a:cxn>
                  <a:cxn ang="0">
                    <a:pos x="16" y="40"/>
                  </a:cxn>
                  <a:cxn ang="0">
                    <a:pos x="0" y="57"/>
                  </a:cxn>
                  <a:cxn ang="0">
                    <a:pos x="12" y="87"/>
                  </a:cxn>
                  <a:cxn ang="0">
                    <a:pos x="116" y="127"/>
                  </a:cxn>
                  <a:cxn ang="0">
                    <a:pos x="233" y="166"/>
                  </a:cxn>
                  <a:cxn ang="0">
                    <a:pos x="319" y="200"/>
                  </a:cxn>
                  <a:cxn ang="0">
                    <a:pos x="390" y="241"/>
                  </a:cxn>
                  <a:cxn ang="0">
                    <a:pos x="472" y="299"/>
                  </a:cxn>
                  <a:cxn ang="0">
                    <a:pos x="493" y="313"/>
                  </a:cxn>
                  <a:cxn ang="0">
                    <a:pos x="517" y="306"/>
                  </a:cxn>
                  <a:cxn ang="0">
                    <a:pos x="576" y="249"/>
                  </a:cxn>
                  <a:cxn ang="0">
                    <a:pos x="562" y="241"/>
                  </a:cxn>
                  <a:cxn ang="0">
                    <a:pos x="514" y="293"/>
                  </a:cxn>
                  <a:cxn ang="0">
                    <a:pos x="493" y="299"/>
                  </a:cxn>
                  <a:cxn ang="0">
                    <a:pos x="448" y="267"/>
                  </a:cxn>
                  <a:cxn ang="0">
                    <a:pos x="384" y="226"/>
                  </a:cxn>
                  <a:cxn ang="0">
                    <a:pos x="330" y="195"/>
                  </a:cxn>
                  <a:cxn ang="0">
                    <a:pos x="290" y="177"/>
                  </a:cxn>
                  <a:cxn ang="0">
                    <a:pos x="226" y="152"/>
                  </a:cxn>
                  <a:cxn ang="0">
                    <a:pos x="150" y="128"/>
                  </a:cxn>
                  <a:cxn ang="0">
                    <a:pos x="86" y="104"/>
                  </a:cxn>
                  <a:cxn ang="0">
                    <a:pos x="41" y="85"/>
                  </a:cxn>
                  <a:cxn ang="0">
                    <a:pos x="20" y="70"/>
                  </a:cxn>
                  <a:cxn ang="0">
                    <a:pos x="14" y="58"/>
                  </a:cxn>
                  <a:cxn ang="0">
                    <a:pos x="26" y="48"/>
                  </a:cxn>
                  <a:cxn ang="0">
                    <a:pos x="52" y="45"/>
                  </a:cxn>
                  <a:cxn ang="0">
                    <a:pos x="69" y="38"/>
                  </a:cxn>
                  <a:cxn ang="0">
                    <a:pos x="112" y="16"/>
                  </a:cxn>
                  <a:cxn ang="0">
                    <a:pos x="127" y="12"/>
                  </a:cxn>
                  <a:cxn ang="0">
                    <a:pos x="149" y="16"/>
                  </a:cxn>
                  <a:cxn ang="0">
                    <a:pos x="189" y="25"/>
                  </a:cxn>
                  <a:cxn ang="0">
                    <a:pos x="254" y="54"/>
                  </a:cxn>
                  <a:cxn ang="0">
                    <a:pos x="333" y="89"/>
                  </a:cxn>
                  <a:cxn ang="0">
                    <a:pos x="406" y="121"/>
                  </a:cxn>
                  <a:cxn ang="0">
                    <a:pos x="464" y="160"/>
                  </a:cxn>
                  <a:cxn ang="0">
                    <a:pos x="517" y="197"/>
                  </a:cxn>
                  <a:cxn ang="0">
                    <a:pos x="528" y="189"/>
                  </a:cxn>
                </a:cxnLst>
                <a:pathLst>
                  <a:path w="1152" h="625">
                    <a:moveTo>
                      <a:pt x="1056" y="377"/>
                    </a:moveTo>
                    <a:lnTo>
                      <a:pt x="928" y="291"/>
                    </a:lnTo>
                    <a:lnTo>
                      <a:pt x="799" y="216"/>
                    </a:lnTo>
                    <a:lnTo>
                      <a:pt x="641" y="145"/>
                    </a:lnTo>
                    <a:lnTo>
                      <a:pt x="505" y="82"/>
                    </a:lnTo>
                    <a:lnTo>
                      <a:pt x="384" y="30"/>
                    </a:lnTo>
                    <a:lnTo>
                      <a:pt x="281" y="0"/>
                    </a:lnTo>
                    <a:lnTo>
                      <a:pt x="200" y="10"/>
                    </a:lnTo>
                    <a:lnTo>
                      <a:pt x="104" y="68"/>
                    </a:lnTo>
                    <a:lnTo>
                      <a:pt x="31" y="80"/>
                    </a:lnTo>
                    <a:lnTo>
                      <a:pt x="0" y="113"/>
                    </a:lnTo>
                    <a:lnTo>
                      <a:pt x="24" y="173"/>
                    </a:lnTo>
                    <a:lnTo>
                      <a:pt x="231" y="253"/>
                    </a:lnTo>
                    <a:lnTo>
                      <a:pt x="466" y="331"/>
                    </a:lnTo>
                    <a:lnTo>
                      <a:pt x="637" y="399"/>
                    </a:lnTo>
                    <a:lnTo>
                      <a:pt x="779" y="482"/>
                    </a:lnTo>
                    <a:lnTo>
                      <a:pt x="944" y="598"/>
                    </a:lnTo>
                    <a:lnTo>
                      <a:pt x="986" y="625"/>
                    </a:lnTo>
                    <a:lnTo>
                      <a:pt x="1034" y="612"/>
                    </a:lnTo>
                    <a:lnTo>
                      <a:pt x="1152" y="497"/>
                    </a:lnTo>
                    <a:lnTo>
                      <a:pt x="1124" y="482"/>
                    </a:lnTo>
                    <a:lnTo>
                      <a:pt x="1027" y="586"/>
                    </a:lnTo>
                    <a:lnTo>
                      <a:pt x="985" y="598"/>
                    </a:lnTo>
                    <a:lnTo>
                      <a:pt x="895" y="534"/>
                    </a:lnTo>
                    <a:lnTo>
                      <a:pt x="768" y="452"/>
                    </a:lnTo>
                    <a:lnTo>
                      <a:pt x="659" y="389"/>
                    </a:lnTo>
                    <a:lnTo>
                      <a:pt x="580" y="354"/>
                    </a:lnTo>
                    <a:lnTo>
                      <a:pt x="452" y="304"/>
                    </a:lnTo>
                    <a:lnTo>
                      <a:pt x="299" y="255"/>
                    </a:lnTo>
                    <a:lnTo>
                      <a:pt x="172" y="208"/>
                    </a:lnTo>
                    <a:lnTo>
                      <a:pt x="81" y="169"/>
                    </a:lnTo>
                    <a:lnTo>
                      <a:pt x="40" y="139"/>
                    </a:lnTo>
                    <a:lnTo>
                      <a:pt x="27" y="115"/>
                    </a:lnTo>
                    <a:lnTo>
                      <a:pt x="51" y="96"/>
                    </a:lnTo>
                    <a:lnTo>
                      <a:pt x="104" y="89"/>
                    </a:lnTo>
                    <a:lnTo>
                      <a:pt x="137" y="75"/>
                    </a:lnTo>
                    <a:lnTo>
                      <a:pt x="224" y="31"/>
                    </a:lnTo>
                    <a:lnTo>
                      <a:pt x="253" y="23"/>
                    </a:lnTo>
                    <a:lnTo>
                      <a:pt x="297" y="31"/>
                    </a:lnTo>
                    <a:lnTo>
                      <a:pt x="378" y="49"/>
                    </a:lnTo>
                    <a:lnTo>
                      <a:pt x="507" y="108"/>
                    </a:lnTo>
                    <a:lnTo>
                      <a:pt x="665" y="178"/>
                    </a:lnTo>
                    <a:lnTo>
                      <a:pt x="812" y="242"/>
                    </a:lnTo>
                    <a:lnTo>
                      <a:pt x="928" y="319"/>
                    </a:lnTo>
                    <a:lnTo>
                      <a:pt x="1034" y="393"/>
                    </a:lnTo>
                    <a:lnTo>
                      <a:pt x="1056" y="377"/>
                    </a:lnTo>
                    <a:close/>
                  </a:path>
                </a:pathLst>
              </a:custGeom>
              <a:solidFill>
                <a:srgbClr val="000000"/>
              </a:solidFill>
              <a:ln w="9525">
                <a:noFill/>
              </a:ln>
            </p:spPr>
            <p:txBody>
              <a:bodyPr/>
              <a:p>
                <a:endParaRPr lang="zh-CN" altLang="en-US"/>
              </a:p>
            </p:txBody>
          </p:sp>
          <p:sp>
            <p:nvSpPr>
              <p:cNvPr id="33805" name="Freeform 14"/>
              <p:cNvSpPr/>
              <p:nvPr/>
            </p:nvSpPr>
            <p:spPr>
              <a:xfrm>
                <a:off x="4628" y="3715"/>
                <a:ext cx="178" cy="92"/>
              </a:xfrm>
              <a:custGeom>
                <a:avLst/>
                <a:gdLst/>
                <a:ahLst/>
                <a:cxnLst>
                  <a:cxn ang="0">
                    <a:pos x="129" y="0"/>
                  </a:cxn>
                  <a:cxn ang="0">
                    <a:pos x="17" y="17"/>
                  </a:cxn>
                  <a:cxn ang="0">
                    <a:pos x="0" y="31"/>
                  </a:cxn>
                  <a:cxn ang="0">
                    <a:pos x="19" y="43"/>
                  </a:cxn>
                  <a:cxn ang="0">
                    <a:pos x="141" y="92"/>
                  </a:cxn>
                  <a:cxn ang="0">
                    <a:pos x="154" y="88"/>
                  </a:cxn>
                  <a:cxn ang="0">
                    <a:pos x="178" y="20"/>
                  </a:cxn>
                  <a:cxn ang="0">
                    <a:pos x="165" y="14"/>
                  </a:cxn>
                  <a:cxn ang="0">
                    <a:pos x="141" y="84"/>
                  </a:cxn>
                  <a:cxn ang="0">
                    <a:pos x="27" y="33"/>
                  </a:cxn>
                  <a:cxn ang="0">
                    <a:pos x="37" y="30"/>
                  </a:cxn>
                  <a:cxn ang="0">
                    <a:pos x="141" y="11"/>
                  </a:cxn>
                  <a:cxn ang="0">
                    <a:pos x="129" y="0"/>
                  </a:cxn>
                </a:cxnLst>
                <a:pathLst>
                  <a:path w="357" h="183">
                    <a:moveTo>
                      <a:pt x="259" y="0"/>
                    </a:moveTo>
                    <a:lnTo>
                      <a:pt x="35" y="33"/>
                    </a:lnTo>
                    <a:lnTo>
                      <a:pt x="0" y="61"/>
                    </a:lnTo>
                    <a:lnTo>
                      <a:pt x="39" y="86"/>
                    </a:lnTo>
                    <a:lnTo>
                      <a:pt x="282" y="183"/>
                    </a:lnTo>
                    <a:lnTo>
                      <a:pt x="309" y="175"/>
                    </a:lnTo>
                    <a:lnTo>
                      <a:pt x="357" y="40"/>
                    </a:lnTo>
                    <a:lnTo>
                      <a:pt x="331" y="28"/>
                    </a:lnTo>
                    <a:lnTo>
                      <a:pt x="283" y="168"/>
                    </a:lnTo>
                    <a:lnTo>
                      <a:pt x="54" y="66"/>
                    </a:lnTo>
                    <a:lnTo>
                      <a:pt x="74" y="59"/>
                    </a:lnTo>
                    <a:lnTo>
                      <a:pt x="282" y="21"/>
                    </a:lnTo>
                    <a:lnTo>
                      <a:pt x="259" y="0"/>
                    </a:lnTo>
                    <a:close/>
                  </a:path>
                </a:pathLst>
              </a:custGeom>
              <a:solidFill>
                <a:srgbClr val="000000"/>
              </a:solidFill>
              <a:ln w="9525">
                <a:noFill/>
              </a:ln>
            </p:spPr>
            <p:txBody>
              <a:bodyPr/>
              <a:p>
                <a:endParaRPr lang="zh-CN" altLang="en-US"/>
              </a:p>
            </p:txBody>
          </p:sp>
          <p:sp>
            <p:nvSpPr>
              <p:cNvPr id="33806" name="Freeform 15"/>
              <p:cNvSpPr/>
              <p:nvPr/>
            </p:nvSpPr>
            <p:spPr>
              <a:xfrm>
                <a:off x="4878" y="3766"/>
                <a:ext cx="23" cy="105"/>
              </a:xfrm>
              <a:custGeom>
                <a:avLst/>
                <a:gdLst/>
                <a:ahLst/>
                <a:cxnLst>
                  <a:cxn ang="0">
                    <a:pos x="0" y="0"/>
                  </a:cxn>
                  <a:cxn ang="0">
                    <a:pos x="4" y="105"/>
                  </a:cxn>
                  <a:cxn ang="0">
                    <a:pos x="23" y="105"/>
                  </a:cxn>
                  <a:cxn ang="0">
                    <a:pos x="15" y="7"/>
                  </a:cxn>
                  <a:cxn ang="0">
                    <a:pos x="0" y="0"/>
                  </a:cxn>
                </a:cxnLst>
                <a:pathLst>
                  <a:path w="48" h="209">
                    <a:moveTo>
                      <a:pt x="0" y="0"/>
                    </a:moveTo>
                    <a:lnTo>
                      <a:pt x="9" y="209"/>
                    </a:lnTo>
                    <a:lnTo>
                      <a:pt x="48" y="209"/>
                    </a:lnTo>
                    <a:lnTo>
                      <a:pt x="31" y="14"/>
                    </a:lnTo>
                    <a:lnTo>
                      <a:pt x="0" y="0"/>
                    </a:lnTo>
                    <a:close/>
                  </a:path>
                </a:pathLst>
              </a:custGeom>
              <a:solidFill>
                <a:srgbClr val="000000"/>
              </a:solidFill>
              <a:ln w="9525">
                <a:noFill/>
              </a:ln>
            </p:spPr>
            <p:txBody>
              <a:bodyPr/>
              <a:p>
                <a:endParaRPr lang="zh-CN" altLang="en-US"/>
              </a:p>
            </p:txBody>
          </p:sp>
          <p:sp>
            <p:nvSpPr>
              <p:cNvPr id="33807" name="Freeform 16"/>
              <p:cNvSpPr/>
              <p:nvPr/>
            </p:nvSpPr>
            <p:spPr>
              <a:xfrm>
                <a:off x="4694" y="3853"/>
                <a:ext cx="570" cy="108"/>
              </a:xfrm>
              <a:custGeom>
                <a:avLst/>
                <a:gdLst/>
                <a:ahLst/>
                <a:cxnLst>
                  <a:cxn ang="0">
                    <a:pos x="326" y="0"/>
                  </a:cxn>
                  <a:cxn ang="0">
                    <a:pos x="223" y="9"/>
                  </a:cxn>
                  <a:cxn ang="0">
                    <a:pos x="151" y="12"/>
                  </a:cxn>
                  <a:cxn ang="0">
                    <a:pos x="43" y="13"/>
                  </a:cxn>
                  <a:cxn ang="0">
                    <a:pos x="26" y="22"/>
                  </a:cxn>
                  <a:cxn ang="0">
                    <a:pos x="0" y="92"/>
                  </a:cxn>
                  <a:cxn ang="0">
                    <a:pos x="4" y="106"/>
                  </a:cxn>
                  <a:cxn ang="0">
                    <a:pos x="23" y="108"/>
                  </a:cxn>
                  <a:cxn ang="0">
                    <a:pos x="181" y="95"/>
                  </a:cxn>
                  <a:cxn ang="0">
                    <a:pos x="330" y="87"/>
                  </a:cxn>
                  <a:cxn ang="0">
                    <a:pos x="429" y="83"/>
                  </a:cxn>
                  <a:cxn ang="0">
                    <a:pos x="521" y="89"/>
                  </a:cxn>
                  <a:cxn ang="0">
                    <a:pos x="566" y="95"/>
                  </a:cxn>
                  <a:cxn ang="0">
                    <a:pos x="570" y="73"/>
                  </a:cxn>
                  <a:cxn ang="0">
                    <a:pos x="554" y="73"/>
                  </a:cxn>
                  <a:cxn ang="0">
                    <a:pos x="553" y="85"/>
                  </a:cxn>
                  <a:cxn ang="0">
                    <a:pos x="459" y="76"/>
                  </a:cxn>
                  <a:cxn ang="0">
                    <a:pos x="368" y="76"/>
                  </a:cxn>
                  <a:cxn ang="0">
                    <a:pos x="287" y="79"/>
                  </a:cxn>
                  <a:cxn ang="0">
                    <a:pos x="200" y="85"/>
                  </a:cxn>
                  <a:cxn ang="0">
                    <a:pos x="106" y="92"/>
                  </a:cxn>
                  <a:cxn ang="0">
                    <a:pos x="42" y="95"/>
                  </a:cxn>
                  <a:cxn ang="0">
                    <a:pos x="19" y="100"/>
                  </a:cxn>
                  <a:cxn ang="0">
                    <a:pos x="12" y="88"/>
                  </a:cxn>
                  <a:cxn ang="0">
                    <a:pos x="22" y="53"/>
                  </a:cxn>
                  <a:cxn ang="0">
                    <a:pos x="37" y="26"/>
                  </a:cxn>
                  <a:cxn ang="0">
                    <a:pos x="52" y="20"/>
                  </a:cxn>
                  <a:cxn ang="0">
                    <a:pos x="124" y="22"/>
                  </a:cxn>
                  <a:cxn ang="0">
                    <a:pos x="206" y="22"/>
                  </a:cxn>
                  <a:cxn ang="0">
                    <a:pos x="280" y="16"/>
                  </a:cxn>
                  <a:cxn ang="0">
                    <a:pos x="336" y="13"/>
                  </a:cxn>
                  <a:cxn ang="0">
                    <a:pos x="326" y="0"/>
                  </a:cxn>
                </a:cxnLst>
                <a:pathLst>
                  <a:path w="1139" h="216">
                    <a:moveTo>
                      <a:pt x="652" y="0"/>
                    </a:moveTo>
                    <a:lnTo>
                      <a:pt x="446" y="17"/>
                    </a:lnTo>
                    <a:lnTo>
                      <a:pt x="301" y="24"/>
                    </a:lnTo>
                    <a:lnTo>
                      <a:pt x="86" y="26"/>
                    </a:lnTo>
                    <a:lnTo>
                      <a:pt x="51" y="43"/>
                    </a:lnTo>
                    <a:lnTo>
                      <a:pt x="0" y="183"/>
                    </a:lnTo>
                    <a:lnTo>
                      <a:pt x="7" y="211"/>
                    </a:lnTo>
                    <a:lnTo>
                      <a:pt x="46" y="216"/>
                    </a:lnTo>
                    <a:lnTo>
                      <a:pt x="362" y="190"/>
                    </a:lnTo>
                    <a:lnTo>
                      <a:pt x="659" y="173"/>
                    </a:lnTo>
                    <a:lnTo>
                      <a:pt x="858" y="166"/>
                    </a:lnTo>
                    <a:lnTo>
                      <a:pt x="1042" y="178"/>
                    </a:lnTo>
                    <a:lnTo>
                      <a:pt x="1132" y="190"/>
                    </a:lnTo>
                    <a:lnTo>
                      <a:pt x="1139" y="146"/>
                    </a:lnTo>
                    <a:lnTo>
                      <a:pt x="1108" y="146"/>
                    </a:lnTo>
                    <a:lnTo>
                      <a:pt x="1106" y="169"/>
                    </a:lnTo>
                    <a:lnTo>
                      <a:pt x="918" y="152"/>
                    </a:lnTo>
                    <a:lnTo>
                      <a:pt x="735" y="152"/>
                    </a:lnTo>
                    <a:lnTo>
                      <a:pt x="573" y="157"/>
                    </a:lnTo>
                    <a:lnTo>
                      <a:pt x="400" y="169"/>
                    </a:lnTo>
                    <a:lnTo>
                      <a:pt x="211" y="183"/>
                    </a:lnTo>
                    <a:lnTo>
                      <a:pt x="84" y="190"/>
                    </a:lnTo>
                    <a:lnTo>
                      <a:pt x="38" y="199"/>
                    </a:lnTo>
                    <a:lnTo>
                      <a:pt x="24" y="176"/>
                    </a:lnTo>
                    <a:lnTo>
                      <a:pt x="44" y="106"/>
                    </a:lnTo>
                    <a:lnTo>
                      <a:pt x="73" y="52"/>
                    </a:lnTo>
                    <a:lnTo>
                      <a:pt x="104" y="40"/>
                    </a:lnTo>
                    <a:lnTo>
                      <a:pt x="248" y="43"/>
                    </a:lnTo>
                    <a:lnTo>
                      <a:pt x="411" y="43"/>
                    </a:lnTo>
                    <a:lnTo>
                      <a:pt x="560" y="31"/>
                    </a:lnTo>
                    <a:lnTo>
                      <a:pt x="672" y="26"/>
                    </a:lnTo>
                    <a:lnTo>
                      <a:pt x="652" y="0"/>
                    </a:lnTo>
                    <a:close/>
                  </a:path>
                </a:pathLst>
              </a:custGeom>
              <a:solidFill>
                <a:srgbClr val="000000"/>
              </a:solidFill>
              <a:ln w="9525">
                <a:noFill/>
              </a:ln>
            </p:spPr>
            <p:txBody>
              <a:bodyPr/>
              <a:p>
                <a:endParaRPr lang="zh-CN" altLang="en-US"/>
              </a:p>
            </p:txBody>
          </p:sp>
          <p:sp>
            <p:nvSpPr>
              <p:cNvPr id="33808" name="Freeform 17"/>
              <p:cNvSpPr/>
              <p:nvPr/>
            </p:nvSpPr>
            <p:spPr>
              <a:xfrm>
                <a:off x="5076" y="3804"/>
                <a:ext cx="437" cy="236"/>
              </a:xfrm>
              <a:custGeom>
                <a:avLst/>
                <a:gdLst/>
                <a:ahLst/>
                <a:cxnLst>
                  <a:cxn ang="0">
                    <a:pos x="15" y="41"/>
                  </a:cxn>
                  <a:cxn ang="0">
                    <a:pos x="119" y="83"/>
                  </a:cxn>
                  <a:cxn ang="0">
                    <a:pos x="184" y="112"/>
                  </a:cxn>
                  <a:cxn ang="0">
                    <a:pos x="238" y="143"/>
                  </a:cxn>
                  <a:cxn ang="0">
                    <a:pos x="300" y="188"/>
                  </a:cxn>
                  <a:cxn ang="0">
                    <a:pos x="350" y="218"/>
                  </a:cxn>
                  <a:cxn ang="0">
                    <a:pos x="368" y="222"/>
                  </a:cxn>
                  <a:cxn ang="0">
                    <a:pos x="418" y="193"/>
                  </a:cxn>
                  <a:cxn ang="0">
                    <a:pos x="418" y="175"/>
                  </a:cxn>
                  <a:cxn ang="0">
                    <a:pos x="384" y="154"/>
                  </a:cxn>
                  <a:cxn ang="0">
                    <a:pos x="300" y="103"/>
                  </a:cxn>
                  <a:cxn ang="0">
                    <a:pos x="228" y="57"/>
                  </a:cxn>
                  <a:cxn ang="0">
                    <a:pos x="161" y="22"/>
                  </a:cxn>
                  <a:cxn ang="0">
                    <a:pos x="120" y="15"/>
                  </a:cxn>
                  <a:cxn ang="0">
                    <a:pos x="136" y="0"/>
                  </a:cxn>
                  <a:cxn ang="0">
                    <a:pos x="173" y="15"/>
                  </a:cxn>
                  <a:cxn ang="0">
                    <a:pos x="218" y="39"/>
                  </a:cxn>
                  <a:cxn ang="0">
                    <a:pos x="280" y="77"/>
                  </a:cxn>
                  <a:cxn ang="0">
                    <a:pos x="332" y="112"/>
                  </a:cxn>
                  <a:cxn ang="0">
                    <a:pos x="390" y="149"/>
                  </a:cxn>
                  <a:cxn ang="0">
                    <a:pos x="431" y="170"/>
                  </a:cxn>
                  <a:cxn ang="0">
                    <a:pos x="437" y="190"/>
                  </a:cxn>
                  <a:cxn ang="0">
                    <a:pos x="423" y="207"/>
                  </a:cxn>
                  <a:cxn ang="0">
                    <a:pos x="361" y="236"/>
                  </a:cxn>
                  <a:cxn ang="0">
                    <a:pos x="347" y="232"/>
                  </a:cxn>
                  <a:cxn ang="0">
                    <a:pos x="313" y="210"/>
                  </a:cxn>
                  <a:cxn ang="0">
                    <a:pos x="253" y="165"/>
                  </a:cxn>
                  <a:cxn ang="0">
                    <a:pos x="209" y="138"/>
                  </a:cxn>
                  <a:cxn ang="0">
                    <a:pos x="171" y="120"/>
                  </a:cxn>
                  <a:cxn ang="0">
                    <a:pos x="117" y="96"/>
                  </a:cxn>
                  <a:cxn ang="0">
                    <a:pos x="69" y="74"/>
                  </a:cxn>
                  <a:cxn ang="0">
                    <a:pos x="0" y="48"/>
                  </a:cxn>
                  <a:cxn ang="0">
                    <a:pos x="15" y="41"/>
                  </a:cxn>
                </a:cxnLst>
                <a:pathLst>
                  <a:path w="875" h="471">
                    <a:moveTo>
                      <a:pt x="31" y="82"/>
                    </a:moveTo>
                    <a:lnTo>
                      <a:pt x="239" y="166"/>
                    </a:lnTo>
                    <a:lnTo>
                      <a:pt x="368" y="223"/>
                    </a:lnTo>
                    <a:lnTo>
                      <a:pt x="476" y="285"/>
                    </a:lnTo>
                    <a:lnTo>
                      <a:pt x="601" y="375"/>
                    </a:lnTo>
                    <a:lnTo>
                      <a:pt x="700" y="436"/>
                    </a:lnTo>
                    <a:lnTo>
                      <a:pt x="737" y="443"/>
                    </a:lnTo>
                    <a:lnTo>
                      <a:pt x="836" y="386"/>
                    </a:lnTo>
                    <a:lnTo>
                      <a:pt x="836" y="349"/>
                    </a:lnTo>
                    <a:lnTo>
                      <a:pt x="768" y="307"/>
                    </a:lnTo>
                    <a:lnTo>
                      <a:pt x="601" y="206"/>
                    </a:lnTo>
                    <a:lnTo>
                      <a:pt x="456" y="113"/>
                    </a:lnTo>
                    <a:lnTo>
                      <a:pt x="322" y="44"/>
                    </a:lnTo>
                    <a:lnTo>
                      <a:pt x="241" y="30"/>
                    </a:lnTo>
                    <a:lnTo>
                      <a:pt x="272" y="0"/>
                    </a:lnTo>
                    <a:lnTo>
                      <a:pt x="346" y="30"/>
                    </a:lnTo>
                    <a:lnTo>
                      <a:pt x="436" y="77"/>
                    </a:lnTo>
                    <a:lnTo>
                      <a:pt x="561" y="154"/>
                    </a:lnTo>
                    <a:lnTo>
                      <a:pt x="664" y="223"/>
                    </a:lnTo>
                    <a:lnTo>
                      <a:pt x="781" y="297"/>
                    </a:lnTo>
                    <a:lnTo>
                      <a:pt x="862" y="340"/>
                    </a:lnTo>
                    <a:lnTo>
                      <a:pt x="875" y="379"/>
                    </a:lnTo>
                    <a:lnTo>
                      <a:pt x="847" y="414"/>
                    </a:lnTo>
                    <a:lnTo>
                      <a:pt x="722" y="471"/>
                    </a:lnTo>
                    <a:lnTo>
                      <a:pt x="695" y="464"/>
                    </a:lnTo>
                    <a:lnTo>
                      <a:pt x="627" y="419"/>
                    </a:lnTo>
                    <a:lnTo>
                      <a:pt x="507" y="330"/>
                    </a:lnTo>
                    <a:lnTo>
                      <a:pt x="419" y="276"/>
                    </a:lnTo>
                    <a:lnTo>
                      <a:pt x="342" y="239"/>
                    </a:lnTo>
                    <a:lnTo>
                      <a:pt x="235" y="192"/>
                    </a:lnTo>
                    <a:lnTo>
                      <a:pt x="138" y="147"/>
                    </a:lnTo>
                    <a:lnTo>
                      <a:pt x="0" y="96"/>
                    </a:lnTo>
                    <a:lnTo>
                      <a:pt x="31" y="82"/>
                    </a:lnTo>
                    <a:close/>
                  </a:path>
                </a:pathLst>
              </a:custGeom>
              <a:solidFill>
                <a:srgbClr val="000000"/>
              </a:solidFill>
              <a:ln w="9525">
                <a:noFill/>
              </a:ln>
            </p:spPr>
            <p:txBody>
              <a:bodyPr/>
              <a:p>
                <a:endParaRPr lang="zh-CN" altLang="en-US"/>
              </a:p>
            </p:txBody>
          </p:sp>
          <p:sp>
            <p:nvSpPr>
              <p:cNvPr id="33809" name="Freeform 18"/>
              <p:cNvSpPr/>
              <p:nvPr/>
            </p:nvSpPr>
            <p:spPr>
              <a:xfrm>
                <a:off x="5405" y="3748"/>
                <a:ext cx="257" cy="148"/>
              </a:xfrm>
              <a:custGeom>
                <a:avLst/>
                <a:gdLst/>
                <a:ahLst/>
                <a:cxnLst>
                  <a:cxn ang="0">
                    <a:pos x="14" y="148"/>
                  </a:cxn>
                  <a:cxn ang="0">
                    <a:pos x="0" y="136"/>
                  </a:cxn>
                  <a:cxn ang="0">
                    <a:pos x="5" y="115"/>
                  </a:cxn>
                  <a:cxn ang="0">
                    <a:pos x="59" y="69"/>
                  </a:cxn>
                  <a:cxn ang="0">
                    <a:pos x="138" y="1"/>
                  </a:cxn>
                  <a:cxn ang="0">
                    <a:pos x="153" y="0"/>
                  </a:cxn>
                  <a:cxn ang="0">
                    <a:pos x="155" y="12"/>
                  </a:cxn>
                  <a:cxn ang="0">
                    <a:pos x="125" y="36"/>
                  </a:cxn>
                  <a:cxn ang="0">
                    <a:pos x="51" y="89"/>
                  </a:cxn>
                  <a:cxn ang="0">
                    <a:pos x="19" y="116"/>
                  </a:cxn>
                  <a:cxn ang="0">
                    <a:pos x="17" y="131"/>
                  </a:cxn>
                  <a:cxn ang="0">
                    <a:pos x="34" y="138"/>
                  </a:cxn>
                  <a:cxn ang="0">
                    <a:pos x="234" y="128"/>
                  </a:cxn>
                  <a:cxn ang="0">
                    <a:pos x="237" y="118"/>
                  </a:cxn>
                  <a:cxn ang="0">
                    <a:pos x="195" y="70"/>
                  </a:cxn>
                  <a:cxn ang="0">
                    <a:pos x="163" y="27"/>
                  </a:cxn>
                  <a:cxn ang="0">
                    <a:pos x="163" y="20"/>
                  </a:cxn>
                  <a:cxn ang="0">
                    <a:pos x="176" y="31"/>
                  </a:cxn>
                  <a:cxn ang="0">
                    <a:pos x="257" y="118"/>
                  </a:cxn>
                  <a:cxn ang="0">
                    <a:pos x="255" y="141"/>
                  </a:cxn>
                  <a:cxn ang="0">
                    <a:pos x="227" y="144"/>
                  </a:cxn>
                  <a:cxn ang="0">
                    <a:pos x="53" y="148"/>
                  </a:cxn>
                  <a:cxn ang="0">
                    <a:pos x="14" y="148"/>
                  </a:cxn>
                </a:cxnLst>
                <a:pathLst>
                  <a:path w="515" h="295">
                    <a:moveTo>
                      <a:pt x="28" y="295"/>
                    </a:moveTo>
                    <a:lnTo>
                      <a:pt x="0" y="271"/>
                    </a:lnTo>
                    <a:lnTo>
                      <a:pt x="11" y="229"/>
                    </a:lnTo>
                    <a:lnTo>
                      <a:pt x="119" y="138"/>
                    </a:lnTo>
                    <a:lnTo>
                      <a:pt x="276" y="2"/>
                    </a:lnTo>
                    <a:lnTo>
                      <a:pt x="307" y="0"/>
                    </a:lnTo>
                    <a:lnTo>
                      <a:pt x="311" y="23"/>
                    </a:lnTo>
                    <a:lnTo>
                      <a:pt x="250" y="72"/>
                    </a:lnTo>
                    <a:lnTo>
                      <a:pt x="103" y="177"/>
                    </a:lnTo>
                    <a:lnTo>
                      <a:pt x="39" y="232"/>
                    </a:lnTo>
                    <a:lnTo>
                      <a:pt x="35" y="262"/>
                    </a:lnTo>
                    <a:lnTo>
                      <a:pt x="68" y="276"/>
                    </a:lnTo>
                    <a:lnTo>
                      <a:pt x="469" y="255"/>
                    </a:lnTo>
                    <a:lnTo>
                      <a:pt x="474" y="236"/>
                    </a:lnTo>
                    <a:lnTo>
                      <a:pt x="391" y="140"/>
                    </a:lnTo>
                    <a:lnTo>
                      <a:pt x="327" y="53"/>
                    </a:lnTo>
                    <a:lnTo>
                      <a:pt x="327" y="40"/>
                    </a:lnTo>
                    <a:lnTo>
                      <a:pt x="353" y="61"/>
                    </a:lnTo>
                    <a:lnTo>
                      <a:pt x="515" y="236"/>
                    </a:lnTo>
                    <a:lnTo>
                      <a:pt x="511" y="281"/>
                    </a:lnTo>
                    <a:lnTo>
                      <a:pt x="454" y="288"/>
                    </a:lnTo>
                    <a:lnTo>
                      <a:pt x="107" y="295"/>
                    </a:lnTo>
                    <a:lnTo>
                      <a:pt x="28" y="295"/>
                    </a:lnTo>
                    <a:close/>
                  </a:path>
                </a:pathLst>
              </a:custGeom>
              <a:solidFill>
                <a:srgbClr val="000000"/>
              </a:solidFill>
              <a:ln w="9525">
                <a:noFill/>
              </a:ln>
            </p:spPr>
            <p:txBody>
              <a:bodyPr/>
              <a:p>
                <a:endParaRPr lang="zh-CN" altLang="en-US"/>
              </a:p>
            </p:txBody>
          </p:sp>
        </p:grpSp>
        <p:grpSp>
          <p:nvGrpSpPr>
            <p:cNvPr id="33810" name="Group 19"/>
            <p:cNvGrpSpPr/>
            <p:nvPr/>
          </p:nvGrpSpPr>
          <p:grpSpPr>
            <a:xfrm>
              <a:off x="5163" y="2030"/>
              <a:ext cx="291" cy="230"/>
              <a:chOff x="5321" y="2888"/>
              <a:chExt cx="232" cy="194"/>
            </a:xfrm>
          </p:grpSpPr>
          <p:sp>
            <p:nvSpPr>
              <p:cNvPr id="33811" name="Freeform 20"/>
              <p:cNvSpPr/>
              <p:nvPr/>
            </p:nvSpPr>
            <p:spPr>
              <a:xfrm>
                <a:off x="5442" y="2891"/>
                <a:ext cx="111" cy="185"/>
              </a:xfrm>
              <a:custGeom>
                <a:avLst/>
                <a:gdLst/>
                <a:ahLst/>
                <a:cxnLst>
                  <a:cxn ang="0">
                    <a:pos x="0" y="5"/>
                  </a:cxn>
                  <a:cxn ang="0">
                    <a:pos x="91" y="182"/>
                  </a:cxn>
                  <a:cxn ang="0">
                    <a:pos x="111" y="185"/>
                  </a:cxn>
                  <a:cxn ang="0">
                    <a:pos x="14" y="0"/>
                  </a:cxn>
                  <a:cxn ang="0">
                    <a:pos x="0" y="5"/>
                  </a:cxn>
                </a:cxnLst>
                <a:pathLst>
                  <a:path w="222" h="370">
                    <a:moveTo>
                      <a:pt x="0" y="10"/>
                    </a:moveTo>
                    <a:lnTo>
                      <a:pt x="181" y="363"/>
                    </a:lnTo>
                    <a:lnTo>
                      <a:pt x="222" y="370"/>
                    </a:lnTo>
                    <a:lnTo>
                      <a:pt x="27" y="0"/>
                    </a:lnTo>
                    <a:lnTo>
                      <a:pt x="0" y="10"/>
                    </a:lnTo>
                    <a:close/>
                  </a:path>
                </a:pathLst>
              </a:custGeom>
              <a:solidFill>
                <a:srgbClr val="000000"/>
              </a:solidFill>
              <a:ln w="9525">
                <a:noFill/>
              </a:ln>
            </p:spPr>
            <p:txBody>
              <a:bodyPr/>
              <a:p>
                <a:endParaRPr lang="zh-CN" altLang="en-US"/>
              </a:p>
            </p:txBody>
          </p:sp>
          <p:sp>
            <p:nvSpPr>
              <p:cNvPr id="33812" name="Freeform 21"/>
              <p:cNvSpPr/>
              <p:nvPr/>
            </p:nvSpPr>
            <p:spPr>
              <a:xfrm>
                <a:off x="5321" y="2888"/>
                <a:ext cx="232" cy="194"/>
              </a:xfrm>
              <a:custGeom>
                <a:avLst/>
                <a:gdLst/>
                <a:ahLst/>
                <a:cxnLst>
                  <a:cxn ang="0">
                    <a:pos x="133" y="0"/>
                  </a:cxn>
                  <a:cxn ang="0">
                    <a:pos x="0" y="168"/>
                  </a:cxn>
                  <a:cxn ang="0">
                    <a:pos x="1" y="184"/>
                  </a:cxn>
                  <a:cxn ang="0">
                    <a:pos x="18" y="192"/>
                  </a:cxn>
                  <a:cxn ang="0">
                    <a:pos x="232" y="194"/>
                  </a:cxn>
                  <a:cxn ang="0">
                    <a:pos x="228" y="182"/>
                  </a:cxn>
                  <a:cxn ang="0">
                    <a:pos x="21" y="181"/>
                  </a:cxn>
                  <a:cxn ang="0">
                    <a:pos x="15" y="172"/>
                  </a:cxn>
                  <a:cxn ang="0">
                    <a:pos x="62" y="107"/>
                  </a:cxn>
                  <a:cxn ang="0">
                    <a:pos x="136" y="23"/>
                  </a:cxn>
                  <a:cxn ang="0">
                    <a:pos x="133" y="0"/>
                  </a:cxn>
                </a:cxnLst>
                <a:pathLst>
                  <a:path w="463" h="387">
                    <a:moveTo>
                      <a:pt x="266" y="0"/>
                    </a:moveTo>
                    <a:lnTo>
                      <a:pt x="0" y="335"/>
                    </a:lnTo>
                    <a:lnTo>
                      <a:pt x="2" y="368"/>
                    </a:lnTo>
                    <a:lnTo>
                      <a:pt x="35" y="384"/>
                    </a:lnTo>
                    <a:lnTo>
                      <a:pt x="463" y="387"/>
                    </a:lnTo>
                    <a:lnTo>
                      <a:pt x="456" y="363"/>
                    </a:lnTo>
                    <a:lnTo>
                      <a:pt x="42" y="361"/>
                    </a:lnTo>
                    <a:lnTo>
                      <a:pt x="29" y="343"/>
                    </a:lnTo>
                    <a:lnTo>
                      <a:pt x="123" y="214"/>
                    </a:lnTo>
                    <a:lnTo>
                      <a:pt x="272" y="45"/>
                    </a:lnTo>
                    <a:lnTo>
                      <a:pt x="266" y="0"/>
                    </a:lnTo>
                    <a:close/>
                  </a:path>
                </a:pathLst>
              </a:custGeom>
              <a:solidFill>
                <a:srgbClr val="000000"/>
              </a:solidFill>
              <a:ln w="9525">
                <a:noFill/>
              </a:ln>
            </p:spPr>
            <p:txBody>
              <a:bodyPr/>
              <a:p>
                <a:endParaRPr lang="zh-CN" altLang="en-US"/>
              </a:p>
            </p:txBody>
          </p:sp>
        </p:grpSp>
        <p:grpSp>
          <p:nvGrpSpPr>
            <p:cNvPr id="33813" name="Group 22"/>
            <p:cNvGrpSpPr/>
            <p:nvPr/>
          </p:nvGrpSpPr>
          <p:grpSpPr>
            <a:xfrm>
              <a:off x="4094" y="2023"/>
              <a:ext cx="631" cy="163"/>
              <a:chOff x="4470" y="2882"/>
              <a:chExt cx="503" cy="138"/>
            </a:xfrm>
          </p:grpSpPr>
          <p:sp>
            <p:nvSpPr>
              <p:cNvPr id="33814" name="Freeform 23"/>
              <p:cNvSpPr/>
              <p:nvPr/>
            </p:nvSpPr>
            <p:spPr>
              <a:xfrm>
                <a:off x="4470" y="2888"/>
                <a:ext cx="503" cy="132"/>
              </a:xfrm>
              <a:custGeom>
                <a:avLst/>
                <a:gdLst/>
                <a:ahLst/>
                <a:cxnLst>
                  <a:cxn ang="0">
                    <a:pos x="478" y="92"/>
                  </a:cxn>
                  <a:cxn ang="0">
                    <a:pos x="484" y="48"/>
                  </a:cxn>
                  <a:cxn ang="0">
                    <a:pos x="487" y="2"/>
                  </a:cxn>
                  <a:cxn ang="0">
                    <a:pos x="503" y="0"/>
                  </a:cxn>
                  <a:cxn ang="0">
                    <a:pos x="491" y="121"/>
                  </a:cxn>
                  <a:cxn ang="0">
                    <a:pos x="468" y="132"/>
                  </a:cxn>
                  <a:cxn ang="0">
                    <a:pos x="0" y="129"/>
                  </a:cxn>
                  <a:cxn ang="0">
                    <a:pos x="2" y="112"/>
                  </a:cxn>
                  <a:cxn ang="0">
                    <a:pos x="460" y="121"/>
                  </a:cxn>
                  <a:cxn ang="0">
                    <a:pos x="480" y="106"/>
                  </a:cxn>
                  <a:cxn ang="0">
                    <a:pos x="478" y="92"/>
                  </a:cxn>
                </a:cxnLst>
                <a:pathLst>
                  <a:path w="1007" h="265">
                    <a:moveTo>
                      <a:pt x="956" y="185"/>
                    </a:moveTo>
                    <a:lnTo>
                      <a:pt x="969" y="97"/>
                    </a:lnTo>
                    <a:lnTo>
                      <a:pt x="974" y="5"/>
                    </a:lnTo>
                    <a:lnTo>
                      <a:pt x="1007" y="0"/>
                    </a:lnTo>
                    <a:lnTo>
                      <a:pt x="983" y="242"/>
                    </a:lnTo>
                    <a:lnTo>
                      <a:pt x="936" y="265"/>
                    </a:lnTo>
                    <a:lnTo>
                      <a:pt x="0" y="258"/>
                    </a:lnTo>
                    <a:lnTo>
                      <a:pt x="4" y="225"/>
                    </a:lnTo>
                    <a:lnTo>
                      <a:pt x="921" y="242"/>
                    </a:lnTo>
                    <a:lnTo>
                      <a:pt x="961" y="213"/>
                    </a:lnTo>
                    <a:lnTo>
                      <a:pt x="956" y="185"/>
                    </a:lnTo>
                    <a:close/>
                  </a:path>
                </a:pathLst>
              </a:custGeom>
              <a:solidFill>
                <a:srgbClr val="000000"/>
              </a:solidFill>
              <a:ln w="9525">
                <a:noFill/>
              </a:ln>
            </p:spPr>
            <p:txBody>
              <a:bodyPr/>
              <a:p>
                <a:endParaRPr lang="zh-CN" altLang="en-US"/>
              </a:p>
            </p:txBody>
          </p:sp>
          <p:sp>
            <p:nvSpPr>
              <p:cNvPr id="33815" name="Freeform 24"/>
              <p:cNvSpPr/>
              <p:nvPr/>
            </p:nvSpPr>
            <p:spPr>
              <a:xfrm>
                <a:off x="4470" y="2882"/>
                <a:ext cx="503" cy="137"/>
              </a:xfrm>
              <a:custGeom>
                <a:avLst/>
                <a:gdLst/>
                <a:ahLst/>
                <a:cxnLst>
                  <a:cxn ang="0">
                    <a:pos x="14" y="125"/>
                  </a:cxn>
                  <a:cxn ang="0">
                    <a:pos x="10" y="65"/>
                  </a:cxn>
                  <a:cxn ang="0">
                    <a:pos x="20" y="14"/>
                  </a:cxn>
                  <a:cxn ang="0">
                    <a:pos x="493" y="21"/>
                  </a:cxn>
                  <a:cxn ang="0">
                    <a:pos x="503" y="7"/>
                  </a:cxn>
                  <a:cxn ang="0">
                    <a:pos x="393" y="6"/>
                  </a:cxn>
                  <a:cxn ang="0">
                    <a:pos x="213" y="6"/>
                  </a:cxn>
                  <a:cxn ang="0">
                    <a:pos x="10" y="0"/>
                  </a:cxn>
                  <a:cxn ang="0">
                    <a:pos x="0" y="34"/>
                  </a:cxn>
                  <a:cxn ang="0">
                    <a:pos x="0" y="82"/>
                  </a:cxn>
                  <a:cxn ang="0">
                    <a:pos x="0" y="137"/>
                  </a:cxn>
                  <a:cxn ang="0">
                    <a:pos x="14" y="125"/>
                  </a:cxn>
                </a:cxnLst>
                <a:pathLst>
                  <a:path w="1007" h="274">
                    <a:moveTo>
                      <a:pt x="28" y="250"/>
                    </a:moveTo>
                    <a:lnTo>
                      <a:pt x="20" y="130"/>
                    </a:lnTo>
                    <a:lnTo>
                      <a:pt x="41" y="27"/>
                    </a:lnTo>
                    <a:lnTo>
                      <a:pt x="987" y="41"/>
                    </a:lnTo>
                    <a:lnTo>
                      <a:pt x="1007" y="14"/>
                    </a:lnTo>
                    <a:lnTo>
                      <a:pt x="787" y="11"/>
                    </a:lnTo>
                    <a:lnTo>
                      <a:pt x="427" y="11"/>
                    </a:lnTo>
                    <a:lnTo>
                      <a:pt x="20" y="0"/>
                    </a:lnTo>
                    <a:lnTo>
                      <a:pt x="0" y="67"/>
                    </a:lnTo>
                    <a:lnTo>
                      <a:pt x="0" y="164"/>
                    </a:lnTo>
                    <a:lnTo>
                      <a:pt x="0" y="274"/>
                    </a:lnTo>
                    <a:lnTo>
                      <a:pt x="28" y="250"/>
                    </a:lnTo>
                    <a:close/>
                  </a:path>
                </a:pathLst>
              </a:custGeom>
              <a:solidFill>
                <a:srgbClr val="000000"/>
              </a:solidFill>
              <a:ln w="9525">
                <a:noFill/>
              </a:ln>
            </p:spPr>
            <p:txBody>
              <a:bodyPr/>
              <a:p>
                <a:endParaRPr lang="zh-CN" altLang="en-US"/>
              </a:p>
            </p:txBody>
          </p:sp>
        </p:grpSp>
        <p:grpSp>
          <p:nvGrpSpPr>
            <p:cNvPr id="33816" name="Group 25"/>
            <p:cNvGrpSpPr/>
            <p:nvPr/>
          </p:nvGrpSpPr>
          <p:grpSpPr>
            <a:xfrm>
              <a:off x="4487" y="1765"/>
              <a:ext cx="786" cy="133"/>
              <a:chOff x="4783" y="2664"/>
              <a:chExt cx="626" cy="112"/>
            </a:xfrm>
          </p:grpSpPr>
          <p:sp>
            <p:nvSpPr>
              <p:cNvPr id="33817" name="Freeform 26"/>
              <p:cNvSpPr/>
              <p:nvPr/>
            </p:nvSpPr>
            <p:spPr>
              <a:xfrm>
                <a:off x="4783" y="2664"/>
                <a:ext cx="623" cy="103"/>
              </a:xfrm>
              <a:custGeom>
                <a:avLst/>
                <a:gdLst/>
                <a:ahLst/>
                <a:cxnLst>
                  <a:cxn ang="0">
                    <a:pos x="0" y="103"/>
                  </a:cxn>
                  <a:cxn ang="0">
                    <a:pos x="6" y="0"/>
                  </a:cxn>
                  <a:cxn ang="0">
                    <a:pos x="623" y="10"/>
                  </a:cxn>
                  <a:cxn ang="0">
                    <a:pos x="617" y="23"/>
                  </a:cxn>
                  <a:cxn ang="0">
                    <a:pos x="20" y="16"/>
                  </a:cxn>
                  <a:cxn ang="0">
                    <a:pos x="12" y="102"/>
                  </a:cxn>
                  <a:cxn ang="0">
                    <a:pos x="0" y="103"/>
                  </a:cxn>
                </a:cxnLst>
                <a:pathLst>
                  <a:path w="1246" h="208">
                    <a:moveTo>
                      <a:pt x="0" y="208"/>
                    </a:moveTo>
                    <a:lnTo>
                      <a:pt x="11" y="0"/>
                    </a:lnTo>
                    <a:lnTo>
                      <a:pt x="1246" y="21"/>
                    </a:lnTo>
                    <a:lnTo>
                      <a:pt x="1233" y="47"/>
                    </a:lnTo>
                    <a:lnTo>
                      <a:pt x="39" y="32"/>
                    </a:lnTo>
                    <a:lnTo>
                      <a:pt x="24" y="206"/>
                    </a:lnTo>
                    <a:lnTo>
                      <a:pt x="0" y="208"/>
                    </a:lnTo>
                    <a:close/>
                  </a:path>
                </a:pathLst>
              </a:custGeom>
              <a:solidFill>
                <a:srgbClr val="000000"/>
              </a:solidFill>
              <a:ln w="9525">
                <a:noFill/>
              </a:ln>
            </p:spPr>
            <p:txBody>
              <a:bodyPr/>
              <a:p>
                <a:endParaRPr lang="zh-CN" altLang="en-US"/>
              </a:p>
            </p:txBody>
          </p:sp>
          <p:sp>
            <p:nvSpPr>
              <p:cNvPr id="33818" name="Freeform 27"/>
              <p:cNvSpPr/>
              <p:nvPr/>
            </p:nvSpPr>
            <p:spPr>
              <a:xfrm>
                <a:off x="4785" y="2676"/>
                <a:ext cx="624" cy="100"/>
              </a:xfrm>
              <a:custGeom>
                <a:avLst/>
                <a:gdLst/>
                <a:ahLst/>
                <a:cxnLst>
                  <a:cxn ang="0">
                    <a:pos x="0" y="93"/>
                  </a:cxn>
                  <a:cxn ang="0">
                    <a:pos x="624" y="100"/>
                  </a:cxn>
                  <a:cxn ang="0">
                    <a:pos x="620" y="0"/>
                  </a:cxn>
                  <a:cxn ang="0">
                    <a:pos x="605" y="9"/>
                  </a:cxn>
                  <a:cxn ang="0">
                    <a:pos x="612" y="89"/>
                  </a:cxn>
                  <a:cxn ang="0">
                    <a:pos x="1" y="80"/>
                  </a:cxn>
                  <a:cxn ang="0">
                    <a:pos x="0" y="93"/>
                  </a:cxn>
                </a:cxnLst>
                <a:pathLst>
                  <a:path w="1247" h="200">
                    <a:moveTo>
                      <a:pt x="0" y="186"/>
                    </a:moveTo>
                    <a:lnTo>
                      <a:pt x="1247" y="200"/>
                    </a:lnTo>
                    <a:lnTo>
                      <a:pt x="1240" y="0"/>
                    </a:lnTo>
                    <a:lnTo>
                      <a:pt x="1209" y="17"/>
                    </a:lnTo>
                    <a:lnTo>
                      <a:pt x="1223" y="178"/>
                    </a:lnTo>
                    <a:lnTo>
                      <a:pt x="1" y="160"/>
                    </a:lnTo>
                    <a:lnTo>
                      <a:pt x="0" y="186"/>
                    </a:lnTo>
                    <a:close/>
                  </a:path>
                </a:pathLst>
              </a:custGeom>
              <a:solidFill>
                <a:srgbClr val="000000"/>
              </a:solidFill>
              <a:ln w="9525">
                <a:noFill/>
              </a:ln>
            </p:spPr>
            <p:txBody>
              <a:bodyPr/>
              <a:p>
                <a:endParaRPr lang="zh-CN" altLang="en-US"/>
              </a:p>
            </p:txBody>
          </p:sp>
        </p:grpSp>
        <p:grpSp>
          <p:nvGrpSpPr>
            <p:cNvPr id="33819" name="Group 28"/>
            <p:cNvGrpSpPr/>
            <p:nvPr/>
          </p:nvGrpSpPr>
          <p:grpSpPr>
            <a:xfrm>
              <a:off x="4017" y="1678"/>
              <a:ext cx="1526" cy="907"/>
              <a:chOff x="4409" y="2590"/>
              <a:chExt cx="1215" cy="767"/>
            </a:xfrm>
          </p:grpSpPr>
          <p:sp>
            <p:nvSpPr>
              <p:cNvPr id="33820" name="Freeform 29"/>
              <p:cNvSpPr/>
              <p:nvPr/>
            </p:nvSpPr>
            <p:spPr>
              <a:xfrm>
                <a:off x="4409" y="2590"/>
                <a:ext cx="1186" cy="746"/>
              </a:xfrm>
              <a:custGeom>
                <a:avLst/>
                <a:gdLst/>
                <a:ahLst/>
                <a:cxnLst>
                  <a:cxn ang="0">
                    <a:pos x="1174" y="27"/>
                  </a:cxn>
                  <a:cxn ang="0">
                    <a:pos x="1003" y="34"/>
                  </a:cxn>
                  <a:cxn ang="0">
                    <a:pos x="788" y="38"/>
                  </a:cxn>
                  <a:cxn ang="0">
                    <a:pos x="552" y="36"/>
                  </a:cxn>
                  <a:cxn ang="0">
                    <a:pos x="310" y="27"/>
                  </a:cxn>
                  <a:cxn ang="0">
                    <a:pos x="157" y="19"/>
                  </a:cxn>
                  <a:cxn ang="0">
                    <a:pos x="33" y="21"/>
                  </a:cxn>
                  <a:cxn ang="0">
                    <a:pos x="16" y="34"/>
                  </a:cxn>
                  <a:cxn ang="0">
                    <a:pos x="13" y="73"/>
                  </a:cxn>
                  <a:cxn ang="0">
                    <a:pos x="13" y="204"/>
                  </a:cxn>
                  <a:cxn ang="0">
                    <a:pos x="27" y="346"/>
                  </a:cxn>
                  <a:cxn ang="0">
                    <a:pos x="29" y="469"/>
                  </a:cxn>
                  <a:cxn ang="0">
                    <a:pos x="43" y="586"/>
                  </a:cxn>
                  <a:cxn ang="0">
                    <a:pos x="49" y="704"/>
                  </a:cxn>
                  <a:cxn ang="0">
                    <a:pos x="55" y="731"/>
                  </a:cxn>
                  <a:cxn ang="0">
                    <a:pos x="58" y="746"/>
                  </a:cxn>
                  <a:cxn ang="0">
                    <a:pos x="24" y="744"/>
                  </a:cxn>
                  <a:cxn ang="0">
                    <a:pos x="27" y="716"/>
                  </a:cxn>
                  <a:cxn ang="0">
                    <a:pos x="29" y="647"/>
                  </a:cxn>
                  <a:cxn ang="0">
                    <a:pos x="20" y="536"/>
                  </a:cxn>
                  <a:cxn ang="0">
                    <a:pos x="11" y="410"/>
                  </a:cxn>
                  <a:cxn ang="0">
                    <a:pos x="5" y="303"/>
                  </a:cxn>
                  <a:cxn ang="0">
                    <a:pos x="2" y="187"/>
                  </a:cxn>
                  <a:cxn ang="0">
                    <a:pos x="0" y="72"/>
                  </a:cxn>
                  <a:cxn ang="0">
                    <a:pos x="5" y="21"/>
                  </a:cxn>
                  <a:cxn ang="0">
                    <a:pos x="11" y="2"/>
                  </a:cxn>
                  <a:cxn ang="0">
                    <a:pos x="38" y="0"/>
                  </a:cxn>
                  <a:cxn ang="0">
                    <a:pos x="113" y="10"/>
                  </a:cxn>
                  <a:cxn ang="0">
                    <a:pos x="215" y="9"/>
                  </a:cxn>
                  <a:cxn ang="0">
                    <a:pos x="361" y="17"/>
                  </a:cxn>
                  <a:cxn ang="0">
                    <a:pos x="531" y="23"/>
                  </a:cxn>
                  <a:cxn ang="0">
                    <a:pos x="766" y="27"/>
                  </a:cxn>
                  <a:cxn ang="0">
                    <a:pos x="923" y="23"/>
                  </a:cxn>
                  <a:cxn ang="0">
                    <a:pos x="1094" y="19"/>
                  </a:cxn>
                  <a:cxn ang="0">
                    <a:pos x="1186" y="12"/>
                  </a:cxn>
                  <a:cxn ang="0">
                    <a:pos x="1174" y="27"/>
                  </a:cxn>
                </a:cxnLst>
                <a:pathLst>
                  <a:path w="2372" h="1492">
                    <a:moveTo>
                      <a:pt x="2347" y="54"/>
                    </a:moveTo>
                    <a:lnTo>
                      <a:pt x="2005" y="68"/>
                    </a:lnTo>
                    <a:lnTo>
                      <a:pt x="1575" y="75"/>
                    </a:lnTo>
                    <a:lnTo>
                      <a:pt x="1103" y="71"/>
                    </a:lnTo>
                    <a:lnTo>
                      <a:pt x="619" y="54"/>
                    </a:lnTo>
                    <a:lnTo>
                      <a:pt x="314" y="38"/>
                    </a:lnTo>
                    <a:lnTo>
                      <a:pt x="66" y="41"/>
                    </a:lnTo>
                    <a:lnTo>
                      <a:pt x="31" y="68"/>
                    </a:lnTo>
                    <a:lnTo>
                      <a:pt x="26" y="146"/>
                    </a:lnTo>
                    <a:lnTo>
                      <a:pt x="26" y="408"/>
                    </a:lnTo>
                    <a:lnTo>
                      <a:pt x="53" y="692"/>
                    </a:lnTo>
                    <a:lnTo>
                      <a:pt x="57" y="937"/>
                    </a:lnTo>
                    <a:lnTo>
                      <a:pt x="85" y="1172"/>
                    </a:lnTo>
                    <a:lnTo>
                      <a:pt x="97" y="1408"/>
                    </a:lnTo>
                    <a:lnTo>
                      <a:pt x="110" y="1462"/>
                    </a:lnTo>
                    <a:lnTo>
                      <a:pt x="116" y="1492"/>
                    </a:lnTo>
                    <a:lnTo>
                      <a:pt x="48" y="1488"/>
                    </a:lnTo>
                    <a:lnTo>
                      <a:pt x="53" y="1432"/>
                    </a:lnTo>
                    <a:lnTo>
                      <a:pt x="57" y="1294"/>
                    </a:lnTo>
                    <a:lnTo>
                      <a:pt x="40" y="1071"/>
                    </a:lnTo>
                    <a:lnTo>
                      <a:pt x="22" y="820"/>
                    </a:lnTo>
                    <a:lnTo>
                      <a:pt x="9" y="605"/>
                    </a:lnTo>
                    <a:lnTo>
                      <a:pt x="4" y="373"/>
                    </a:lnTo>
                    <a:lnTo>
                      <a:pt x="0" y="143"/>
                    </a:lnTo>
                    <a:lnTo>
                      <a:pt x="9" y="41"/>
                    </a:lnTo>
                    <a:lnTo>
                      <a:pt x="22" y="3"/>
                    </a:lnTo>
                    <a:lnTo>
                      <a:pt x="75" y="0"/>
                    </a:lnTo>
                    <a:lnTo>
                      <a:pt x="226" y="20"/>
                    </a:lnTo>
                    <a:lnTo>
                      <a:pt x="430" y="17"/>
                    </a:lnTo>
                    <a:lnTo>
                      <a:pt x="722" y="33"/>
                    </a:lnTo>
                    <a:lnTo>
                      <a:pt x="1062" y="45"/>
                    </a:lnTo>
                    <a:lnTo>
                      <a:pt x="1531" y="54"/>
                    </a:lnTo>
                    <a:lnTo>
                      <a:pt x="1845" y="45"/>
                    </a:lnTo>
                    <a:lnTo>
                      <a:pt x="2187" y="38"/>
                    </a:lnTo>
                    <a:lnTo>
                      <a:pt x="2372" y="24"/>
                    </a:lnTo>
                    <a:lnTo>
                      <a:pt x="2347" y="54"/>
                    </a:lnTo>
                    <a:close/>
                  </a:path>
                </a:pathLst>
              </a:custGeom>
              <a:solidFill>
                <a:srgbClr val="919191"/>
              </a:solidFill>
              <a:ln w="9525" cap="flat" cmpd="sng">
                <a:solidFill>
                  <a:srgbClr val="414141"/>
                </a:solidFill>
                <a:prstDash val="solid"/>
                <a:round/>
                <a:headEnd type="none" w="med" len="med"/>
                <a:tailEnd type="none" w="med" len="med"/>
              </a:ln>
            </p:spPr>
            <p:txBody>
              <a:bodyPr/>
              <a:p>
                <a:endParaRPr lang="zh-CN" altLang="en-US"/>
              </a:p>
            </p:txBody>
          </p:sp>
          <p:sp>
            <p:nvSpPr>
              <p:cNvPr id="33821" name="Freeform 30"/>
              <p:cNvSpPr/>
              <p:nvPr/>
            </p:nvSpPr>
            <p:spPr>
              <a:xfrm>
                <a:off x="4442" y="2609"/>
                <a:ext cx="1182" cy="748"/>
              </a:xfrm>
              <a:custGeom>
                <a:avLst/>
                <a:gdLst/>
                <a:ahLst/>
                <a:cxnLst>
                  <a:cxn ang="0">
                    <a:pos x="13" y="708"/>
                  </a:cxn>
                  <a:cxn ang="0">
                    <a:pos x="283" y="712"/>
                  </a:cxn>
                  <a:cxn ang="0">
                    <a:pos x="563" y="714"/>
                  </a:cxn>
                  <a:cxn ang="0">
                    <a:pos x="735" y="714"/>
                  </a:cxn>
                  <a:cxn ang="0">
                    <a:pos x="901" y="717"/>
                  </a:cxn>
                  <a:cxn ang="0">
                    <a:pos x="1133" y="723"/>
                  </a:cxn>
                  <a:cxn ang="0">
                    <a:pos x="1169" y="729"/>
                  </a:cxn>
                  <a:cxn ang="0">
                    <a:pos x="1166" y="628"/>
                  </a:cxn>
                  <a:cxn ang="0">
                    <a:pos x="1144" y="500"/>
                  </a:cxn>
                  <a:cxn ang="0">
                    <a:pos x="1127" y="386"/>
                  </a:cxn>
                  <a:cxn ang="0">
                    <a:pos x="1122" y="216"/>
                  </a:cxn>
                  <a:cxn ang="0">
                    <a:pos x="1127" y="126"/>
                  </a:cxn>
                  <a:cxn ang="0">
                    <a:pos x="1142" y="34"/>
                  </a:cxn>
                  <a:cxn ang="0">
                    <a:pos x="1135" y="4"/>
                  </a:cxn>
                  <a:cxn ang="0">
                    <a:pos x="1144" y="0"/>
                  </a:cxn>
                  <a:cxn ang="0">
                    <a:pos x="1155" y="37"/>
                  </a:cxn>
                  <a:cxn ang="0">
                    <a:pos x="1149" y="92"/>
                  </a:cxn>
                  <a:cxn ang="0">
                    <a:pos x="1135" y="166"/>
                  </a:cxn>
                  <a:cxn ang="0">
                    <a:pos x="1133" y="246"/>
                  </a:cxn>
                  <a:cxn ang="0">
                    <a:pos x="1142" y="372"/>
                  </a:cxn>
                  <a:cxn ang="0">
                    <a:pos x="1151" y="456"/>
                  </a:cxn>
                  <a:cxn ang="0">
                    <a:pos x="1162" y="527"/>
                  </a:cxn>
                  <a:cxn ang="0">
                    <a:pos x="1173" y="608"/>
                  </a:cxn>
                  <a:cxn ang="0">
                    <a:pos x="1180" y="664"/>
                  </a:cxn>
                  <a:cxn ang="0">
                    <a:pos x="1182" y="742"/>
                  </a:cxn>
                  <a:cxn ang="0">
                    <a:pos x="1171" y="748"/>
                  </a:cxn>
                  <a:cxn ang="0">
                    <a:pos x="1133" y="738"/>
                  </a:cxn>
                  <a:cxn ang="0">
                    <a:pos x="1023" y="733"/>
                  </a:cxn>
                  <a:cxn ang="0">
                    <a:pos x="844" y="729"/>
                  </a:cxn>
                  <a:cxn ang="0">
                    <a:pos x="717" y="724"/>
                  </a:cxn>
                  <a:cxn ang="0">
                    <a:pos x="607" y="724"/>
                  </a:cxn>
                  <a:cxn ang="0">
                    <a:pos x="454" y="721"/>
                  </a:cxn>
                  <a:cxn ang="0">
                    <a:pos x="302" y="721"/>
                  </a:cxn>
                  <a:cxn ang="0">
                    <a:pos x="133" y="721"/>
                  </a:cxn>
                  <a:cxn ang="0">
                    <a:pos x="0" y="724"/>
                  </a:cxn>
                  <a:cxn ang="0">
                    <a:pos x="13" y="708"/>
                  </a:cxn>
                </a:cxnLst>
                <a:pathLst>
                  <a:path w="2363" h="1498">
                    <a:moveTo>
                      <a:pt x="26" y="1417"/>
                    </a:moveTo>
                    <a:lnTo>
                      <a:pt x="566" y="1426"/>
                    </a:lnTo>
                    <a:lnTo>
                      <a:pt x="1125" y="1429"/>
                    </a:lnTo>
                    <a:lnTo>
                      <a:pt x="1470" y="1429"/>
                    </a:lnTo>
                    <a:lnTo>
                      <a:pt x="1801" y="1435"/>
                    </a:lnTo>
                    <a:lnTo>
                      <a:pt x="2266" y="1447"/>
                    </a:lnTo>
                    <a:lnTo>
                      <a:pt x="2338" y="1459"/>
                    </a:lnTo>
                    <a:lnTo>
                      <a:pt x="2332" y="1258"/>
                    </a:lnTo>
                    <a:lnTo>
                      <a:pt x="2288" y="1002"/>
                    </a:lnTo>
                    <a:lnTo>
                      <a:pt x="2253" y="773"/>
                    </a:lnTo>
                    <a:lnTo>
                      <a:pt x="2244" y="433"/>
                    </a:lnTo>
                    <a:lnTo>
                      <a:pt x="2253" y="253"/>
                    </a:lnTo>
                    <a:lnTo>
                      <a:pt x="2284" y="68"/>
                    </a:lnTo>
                    <a:lnTo>
                      <a:pt x="2270" y="9"/>
                    </a:lnTo>
                    <a:lnTo>
                      <a:pt x="2288" y="0"/>
                    </a:lnTo>
                    <a:lnTo>
                      <a:pt x="2310" y="75"/>
                    </a:lnTo>
                    <a:lnTo>
                      <a:pt x="2297" y="185"/>
                    </a:lnTo>
                    <a:lnTo>
                      <a:pt x="2270" y="332"/>
                    </a:lnTo>
                    <a:lnTo>
                      <a:pt x="2266" y="492"/>
                    </a:lnTo>
                    <a:lnTo>
                      <a:pt x="2284" y="745"/>
                    </a:lnTo>
                    <a:lnTo>
                      <a:pt x="2301" y="913"/>
                    </a:lnTo>
                    <a:lnTo>
                      <a:pt x="2323" y="1056"/>
                    </a:lnTo>
                    <a:lnTo>
                      <a:pt x="2345" y="1217"/>
                    </a:lnTo>
                    <a:lnTo>
                      <a:pt x="2360" y="1330"/>
                    </a:lnTo>
                    <a:lnTo>
                      <a:pt x="2363" y="1485"/>
                    </a:lnTo>
                    <a:lnTo>
                      <a:pt x="2341" y="1498"/>
                    </a:lnTo>
                    <a:lnTo>
                      <a:pt x="2266" y="1477"/>
                    </a:lnTo>
                    <a:lnTo>
                      <a:pt x="2045" y="1468"/>
                    </a:lnTo>
                    <a:lnTo>
                      <a:pt x="1687" y="1459"/>
                    </a:lnTo>
                    <a:lnTo>
                      <a:pt x="1434" y="1450"/>
                    </a:lnTo>
                    <a:lnTo>
                      <a:pt x="1213" y="1450"/>
                    </a:lnTo>
                    <a:lnTo>
                      <a:pt x="908" y="1443"/>
                    </a:lnTo>
                    <a:lnTo>
                      <a:pt x="603" y="1443"/>
                    </a:lnTo>
                    <a:lnTo>
                      <a:pt x="265" y="1443"/>
                    </a:lnTo>
                    <a:lnTo>
                      <a:pt x="0" y="1450"/>
                    </a:lnTo>
                    <a:lnTo>
                      <a:pt x="26" y="1417"/>
                    </a:lnTo>
                    <a:close/>
                  </a:path>
                </a:pathLst>
              </a:custGeom>
              <a:solidFill>
                <a:srgbClr val="919191"/>
              </a:solidFill>
              <a:ln w="9525" cap="flat" cmpd="sng">
                <a:solidFill>
                  <a:srgbClr val="414141"/>
                </a:solidFill>
                <a:prstDash val="solid"/>
                <a:round/>
                <a:headEnd type="none" w="med" len="med"/>
                <a:tailEnd type="none" w="med" len="med"/>
              </a:ln>
            </p:spPr>
            <p:txBody>
              <a:bodyPr/>
              <a:p>
                <a:endParaRPr lang="zh-CN" altLang="en-US"/>
              </a:p>
            </p:txBody>
          </p:sp>
        </p:grpSp>
        <p:grpSp>
          <p:nvGrpSpPr>
            <p:cNvPr id="33822" name="Group 31"/>
            <p:cNvGrpSpPr/>
            <p:nvPr/>
          </p:nvGrpSpPr>
          <p:grpSpPr>
            <a:xfrm>
              <a:off x="4639" y="2125"/>
              <a:ext cx="703" cy="867"/>
              <a:chOff x="4904" y="2968"/>
              <a:chExt cx="560" cy="734"/>
            </a:xfrm>
          </p:grpSpPr>
          <p:sp>
            <p:nvSpPr>
              <p:cNvPr id="33823" name="Freeform 32"/>
              <p:cNvSpPr/>
              <p:nvPr/>
            </p:nvSpPr>
            <p:spPr>
              <a:xfrm>
                <a:off x="5060" y="3066"/>
                <a:ext cx="155" cy="141"/>
              </a:xfrm>
              <a:custGeom>
                <a:avLst/>
                <a:gdLst/>
                <a:ahLst/>
                <a:cxnLst>
                  <a:cxn ang="0">
                    <a:pos x="99" y="31"/>
                  </a:cxn>
                  <a:cxn ang="0">
                    <a:pos x="81" y="13"/>
                  </a:cxn>
                  <a:cxn ang="0">
                    <a:pos x="56" y="3"/>
                  </a:cxn>
                  <a:cxn ang="0">
                    <a:pos x="42" y="0"/>
                  </a:cxn>
                  <a:cxn ang="0">
                    <a:pos x="23" y="7"/>
                  </a:cxn>
                  <a:cxn ang="0">
                    <a:pos x="12" y="18"/>
                  </a:cxn>
                  <a:cxn ang="0">
                    <a:pos x="6" y="38"/>
                  </a:cxn>
                  <a:cxn ang="0">
                    <a:pos x="0" y="59"/>
                  </a:cxn>
                  <a:cxn ang="0">
                    <a:pos x="4" y="94"/>
                  </a:cxn>
                  <a:cxn ang="0">
                    <a:pos x="12" y="114"/>
                  </a:cxn>
                  <a:cxn ang="0">
                    <a:pos x="22" y="128"/>
                  </a:cxn>
                  <a:cxn ang="0">
                    <a:pos x="41" y="137"/>
                  </a:cxn>
                  <a:cxn ang="0">
                    <a:pos x="56" y="141"/>
                  </a:cxn>
                  <a:cxn ang="0">
                    <a:pos x="75" y="141"/>
                  </a:cxn>
                  <a:cxn ang="0">
                    <a:pos x="87" y="134"/>
                  </a:cxn>
                  <a:cxn ang="0">
                    <a:pos x="99" y="121"/>
                  </a:cxn>
                  <a:cxn ang="0">
                    <a:pos x="103" y="104"/>
                  </a:cxn>
                  <a:cxn ang="0">
                    <a:pos x="109" y="85"/>
                  </a:cxn>
                  <a:cxn ang="0">
                    <a:pos x="112" y="61"/>
                  </a:cxn>
                  <a:cxn ang="0">
                    <a:pos x="110" y="48"/>
                  </a:cxn>
                  <a:cxn ang="0">
                    <a:pos x="126" y="35"/>
                  </a:cxn>
                  <a:cxn ang="0">
                    <a:pos x="147" y="25"/>
                  </a:cxn>
                  <a:cxn ang="0">
                    <a:pos x="155" y="16"/>
                  </a:cxn>
                  <a:cxn ang="0">
                    <a:pos x="154" y="10"/>
                  </a:cxn>
                  <a:cxn ang="0">
                    <a:pos x="141" y="5"/>
                  </a:cxn>
                  <a:cxn ang="0">
                    <a:pos x="129" y="10"/>
                  </a:cxn>
                  <a:cxn ang="0">
                    <a:pos x="119" y="26"/>
                  </a:cxn>
                  <a:cxn ang="0">
                    <a:pos x="99" y="31"/>
                  </a:cxn>
                </a:cxnLst>
                <a:pathLst>
                  <a:path w="309" h="282">
                    <a:moveTo>
                      <a:pt x="198" y="62"/>
                    </a:moveTo>
                    <a:lnTo>
                      <a:pt x="162" y="26"/>
                    </a:lnTo>
                    <a:lnTo>
                      <a:pt x="112" y="5"/>
                    </a:lnTo>
                    <a:lnTo>
                      <a:pt x="84" y="0"/>
                    </a:lnTo>
                    <a:lnTo>
                      <a:pt x="46" y="14"/>
                    </a:lnTo>
                    <a:lnTo>
                      <a:pt x="24" y="36"/>
                    </a:lnTo>
                    <a:lnTo>
                      <a:pt x="11" y="76"/>
                    </a:lnTo>
                    <a:lnTo>
                      <a:pt x="0" y="118"/>
                    </a:lnTo>
                    <a:lnTo>
                      <a:pt x="7" y="188"/>
                    </a:lnTo>
                    <a:lnTo>
                      <a:pt x="24" y="228"/>
                    </a:lnTo>
                    <a:lnTo>
                      <a:pt x="44" y="256"/>
                    </a:lnTo>
                    <a:lnTo>
                      <a:pt x="81" y="274"/>
                    </a:lnTo>
                    <a:lnTo>
                      <a:pt x="112" y="282"/>
                    </a:lnTo>
                    <a:lnTo>
                      <a:pt x="149" y="281"/>
                    </a:lnTo>
                    <a:lnTo>
                      <a:pt x="174" y="267"/>
                    </a:lnTo>
                    <a:lnTo>
                      <a:pt x="197" y="242"/>
                    </a:lnTo>
                    <a:lnTo>
                      <a:pt x="206" y="207"/>
                    </a:lnTo>
                    <a:lnTo>
                      <a:pt x="217" y="169"/>
                    </a:lnTo>
                    <a:lnTo>
                      <a:pt x="224" y="122"/>
                    </a:lnTo>
                    <a:lnTo>
                      <a:pt x="219" y="96"/>
                    </a:lnTo>
                    <a:lnTo>
                      <a:pt x="252" y="69"/>
                    </a:lnTo>
                    <a:lnTo>
                      <a:pt x="294" y="50"/>
                    </a:lnTo>
                    <a:lnTo>
                      <a:pt x="309" y="31"/>
                    </a:lnTo>
                    <a:lnTo>
                      <a:pt x="307" y="19"/>
                    </a:lnTo>
                    <a:lnTo>
                      <a:pt x="281" y="10"/>
                    </a:lnTo>
                    <a:lnTo>
                      <a:pt x="257" y="19"/>
                    </a:lnTo>
                    <a:lnTo>
                      <a:pt x="237" y="52"/>
                    </a:lnTo>
                    <a:lnTo>
                      <a:pt x="198" y="62"/>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33824" name="Freeform 33"/>
              <p:cNvSpPr/>
              <p:nvPr/>
            </p:nvSpPr>
            <p:spPr>
              <a:xfrm>
                <a:off x="5112" y="3218"/>
                <a:ext cx="132" cy="215"/>
              </a:xfrm>
              <a:custGeom>
                <a:avLst/>
                <a:gdLst/>
                <a:ahLst/>
                <a:cxnLst>
                  <a:cxn ang="0">
                    <a:pos x="18" y="4"/>
                  </a:cxn>
                  <a:cxn ang="0">
                    <a:pos x="45" y="0"/>
                  </a:cxn>
                  <a:cxn ang="0">
                    <a:pos x="70" y="4"/>
                  </a:cxn>
                  <a:cxn ang="0">
                    <a:pos x="91" y="14"/>
                  </a:cxn>
                  <a:cxn ang="0">
                    <a:pos x="107" y="29"/>
                  </a:cxn>
                  <a:cxn ang="0">
                    <a:pos x="118" y="46"/>
                  </a:cxn>
                  <a:cxn ang="0">
                    <a:pos x="125" y="68"/>
                  </a:cxn>
                  <a:cxn ang="0">
                    <a:pos x="132" y="90"/>
                  </a:cxn>
                  <a:cxn ang="0">
                    <a:pos x="132" y="115"/>
                  </a:cxn>
                  <a:cxn ang="0">
                    <a:pos x="128" y="144"/>
                  </a:cxn>
                  <a:cxn ang="0">
                    <a:pos x="121" y="167"/>
                  </a:cxn>
                  <a:cxn ang="0">
                    <a:pos x="111" y="187"/>
                  </a:cxn>
                  <a:cxn ang="0">
                    <a:pos x="101" y="202"/>
                  </a:cxn>
                  <a:cxn ang="0">
                    <a:pos x="86" y="212"/>
                  </a:cxn>
                  <a:cxn ang="0">
                    <a:pos x="65" y="215"/>
                  </a:cxn>
                  <a:cxn ang="0">
                    <a:pos x="48" y="214"/>
                  </a:cxn>
                  <a:cxn ang="0">
                    <a:pos x="34" y="206"/>
                  </a:cxn>
                  <a:cxn ang="0">
                    <a:pos x="27" y="196"/>
                  </a:cxn>
                  <a:cxn ang="0">
                    <a:pos x="21" y="178"/>
                  </a:cxn>
                  <a:cxn ang="0">
                    <a:pos x="23" y="155"/>
                  </a:cxn>
                  <a:cxn ang="0">
                    <a:pos x="30" y="141"/>
                  </a:cxn>
                  <a:cxn ang="0">
                    <a:pos x="37" y="123"/>
                  </a:cxn>
                  <a:cxn ang="0">
                    <a:pos x="37" y="110"/>
                  </a:cxn>
                  <a:cxn ang="0">
                    <a:pos x="31" y="99"/>
                  </a:cxn>
                  <a:cxn ang="0">
                    <a:pos x="23" y="83"/>
                  </a:cxn>
                  <a:cxn ang="0">
                    <a:pos x="10" y="67"/>
                  </a:cxn>
                  <a:cxn ang="0">
                    <a:pos x="0" y="49"/>
                  </a:cxn>
                  <a:cxn ang="0">
                    <a:pos x="0" y="32"/>
                  </a:cxn>
                  <a:cxn ang="0">
                    <a:pos x="4" y="19"/>
                  </a:cxn>
                  <a:cxn ang="0">
                    <a:pos x="18" y="4"/>
                  </a:cxn>
                </a:cxnLst>
                <a:pathLst>
                  <a:path w="264" h="431">
                    <a:moveTo>
                      <a:pt x="35" y="9"/>
                    </a:moveTo>
                    <a:lnTo>
                      <a:pt x="90" y="0"/>
                    </a:lnTo>
                    <a:lnTo>
                      <a:pt x="139" y="9"/>
                    </a:lnTo>
                    <a:lnTo>
                      <a:pt x="182" y="28"/>
                    </a:lnTo>
                    <a:lnTo>
                      <a:pt x="213" y="58"/>
                    </a:lnTo>
                    <a:lnTo>
                      <a:pt x="235" y="93"/>
                    </a:lnTo>
                    <a:lnTo>
                      <a:pt x="250" y="136"/>
                    </a:lnTo>
                    <a:lnTo>
                      <a:pt x="263" y="180"/>
                    </a:lnTo>
                    <a:lnTo>
                      <a:pt x="264" y="231"/>
                    </a:lnTo>
                    <a:lnTo>
                      <a:pt x="255" y="288"/>
                    </a:lnTo>
                    <a:lnTo>
                      <a:pt x="241" y="334"/>
                    </a:lnTo>
                    <a:lnTo>
                      <a:pt x="222" y="374"/>
                    </a:lnTo>
                    <a:lnTo>
                      <a:pt x="202" y="405"/>
                    </a:lnTo>
                    <a:lnTo>
                      <a:pt x="171" y="424"/>
                    </a:lnTo>
                    <a:lnTo>
                      <a:pt x="130" y="431"/>
                    </a:lnTo>
                    <a:lnTo>
                      <a:pt x="95" y="428"/>
                    </a:lnTo>
                    <a:lnTo>
                      <a:pt x="68" y="412"/>
                    </a:lnTo>
                    <a:lnTo>
                      <a:pt x="53" y="393"/>
                    </a:lnTo>
                    <a:lnTo>
                      <a:pt x="42" y="356"/>
                    </a:lnTo>
                    <a:lnTo>
                      <a:pt x="46" y="311"/>
                    </a:lnTo>
                    <a:lnTo>
                      <a:pt x="60" y="283"/>
                    </a:lnTo>
                    <a:lnTo>
                      <a:pt x="73" y="246"/>
                    </a:lnTo>
                    <a:lnTo>
                      <a:pt x="73" y="220"/>
                    </a:lnTo>
                    <a:lnTo>
                      <a:pt x="62" y="199"/>
                    </a:lnTo>
                    <a:lnTo>
                      <a:pt x="46" y="166"/>
                    </a:lnTo>
                    <a:lnTo>
                      <a:pt x="20" y="135"/>
                    </a:lnTo>
                    <a:lnTo>
                      <a:pt x="0" y="98"/>
                    </a:lnTo>
                    <a:lnTo>
                      <a:pt x="0" y="65"/>
                    </a:lnTo>
                    <a:lnTo>
                      <a:pt x="7" y="39"/>
                    </a:lnTo>
                    <a:lnTo>
                      <a:pt x="35" y="9"/>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33825" name="Freeform 34"/>
              <p:cNvSpPr/>
              <p:nvPr/>
            </p:nvSpPr>
            <p:spPr>
              <a:xfrm>
                <a:off x="4904" y="2968"/>
                <a:ext cx="241" cy="301"/>
              </a:xfrm>
              <a:custGeom>
                <a:avLst/>
                <a:gdLst/>
                <a:ahLst/>
                <a:cxnLst>
                  <a:cxn ang="0">
                    <a:pos x="190" y="271"/>
                  </a:cxn>
                  <a:cxn ang="0">
                    <a:pos x="215" y="269"/>
                  </a:cxn>
                  <a:cxn ang="0">
                    <a:pos x="235" y="271"/>
                  </a:cxn>
                  <a:cxn ang="0">
                    <a:pos x="241" y="283"/>
                  </a:cxn>
                  <a:cxn ang="0">
                    <a:pos x="236" y="295"/>
                  </a:cxn>
                  <a:cxn ang="0">
                    <a:pos x="222" y="301"/>
                  </a:cxn>
                  <a:cxn ang="0">
                    <a:pos x="183" y="296"/>
                  </a:cxn>
                  <a:cxn ang="0">
                    <a:pos x="134" y="283"/>
                  </a:cxn>
                  <a:cxn ang="0">
                    <a:pos x="92" y="252"/>
                  </a:cxn>
                  <a:cxn ang="0">
                    <a:pos x="68" y="202"/>
                  </a:cxn>
                  <a:cxn ang="0">
                    <a:pos x="46" y="129"/>
                  </a:cxn>
                  <a:cxn ang="0">
                    <a:pos x="35" y="78"/>
                  </a:cxn>
                  <a:cxn ang="0">
                    <a:pos x="33" y="61"/>
                  </a:cxn>
                  <a:cxn ang="0">
                    <a:pos x="14" y="52"/>
                  </a:cxn>
                  <a:cxn ang="0">
                    <a:pos x="0" y="33"/>
                  </a:cxn>
                  <a:cxn ang="0">
                    <a:pos x="4" y="18"/>
                  </a:cxn>
                  <a:cxn ang="0">
                    <a:pos x="19" y="18"/>
                  </a:cxn>
                  <a:cxn ang="0">
                    <a:pos x="31" y="37"/>
                  </a:cxn>
                  <a:cxn ang="0">
                    <a:pos x="39" y="35"/>
                  </a:cxn>
                  <a:cxn ang="0">
                    <a:pos x="29" y="10"/>
                  </a:cxn>
                  <a:cxn ang="0">
                    <a:pos x="39" y="0"/>
                  </a:cxn>
                  <a:cxn ang="0">
                    <a:pos x="55" y="20"/>
                  </a:cxn>
                  <a:cxn ang="0">
                    <a:pos x="52" y="40"/>
                  </a:cxn>
                  <a:cxn ang="0">
                    <a:pos x="67" y="6"/>
                  </a:cxn>
                  <a:cxn ang="0">
                    <a:pos x="79" y="10"/>
                  </a:cxn>
                  <a:cxn ang="0">
                    <a:pos x="82" y="24"/>
                  </a:cxn>
                  <a:cxn ang="0">
                    <a:pos x="69" y="39"/>
                  </a:cxn>
                  <a:cxn ang="0">
                    <a:pos x="57" y="56"/>
                  </a:cxn>
                  <a:cxn ang="0">
                    <a:pos x="53" y="71"/>
                  </a:cxn>
                  <a:cxn ang="0">
                    <a:pos x="58" y="102"/>
                  </a:cxn>
                  <a:cxn ang="0">
                    <a:pos x="69" y="144"/>
                  </a:cxn>
                  <a:cxn ang="0">
                    <a:pos x="87" y="186"/>
                  </a:cxn>
                  <a:cxn ang="0">
                    <a:pos x="110" y="225"/>
                  </a:cxn>
                  <a:cxn ang="0">
                    <a:pos x="125" y="247"/>
                  </a:cxn>
                  <a:cxn ang="0">
                    <a:pos x="144" y="261"/>
                  </a:cxn>
                  <a:cxn ang="0">
                    <a:pos x="168" y="266"/>
                  </a:cxn>
                  <a:cxn ang="0">
                    <a:pos x="190" y="271"/>
                  </a:cxn>
                </a:cxnLst>
                <a:pathLst>
                  <a:path w="482" h="602">
                    <a:moveTo>
                      <a:pt x="379" y="541"/>
                    </a:moveTo>
                    <a:lnTo>
                      <a:pt x="430" y="538"/>
                    </a:lnTo>
                    <a:lnTo>
                      <a:pt x="469" y="541"/>
                    </a:lnTo>
                    <a:lnTo>
                      <a:pt x="482" y="566"/>
                    </a:lnTo>
                    <a:lnTo>
                      <a:pt x="471" y="590"/>
                    </a:lnTo>
                    <a:lnTo>
                      <a:pt x="443" y="602"/>
                    </a:lnTo>
                    <a:lnTo>
                      <a:pt x="366" y="592"/>
                    </a:lnTo>
                    <a:lnTo>
                      <a:pt x="267" y="566"/>
                    </a:lnTo>
                    <a:lnTo>
                      <a:pt x="184" y="503"/>
                    </a:lnTo>
                    <a:lnTo>
                      <a:pt x="136" y="403"/>
                    </a:lnTo>
                    <a:lnTo>
                      <a:pt x="91" y="257"/>
                    </a:lnTo>
                    <a:lnTo>
                      <a:pt x="70" y="155"/>
                    </a:lnTo>
                    <a:lnTo>
                      <a:pt x="65" y="122"/>
                    </a:lnTo>
                    <a:lnTo>
                      <a:pt x="28" y="103"/>
                    </a:lnTo>
                    <a:lnTo>
                      <a:pt x="0" y="65"/>
                    </a:lnTo>
                    <a:lnTo>
                      <a:pt x="8" y="35"/>
                    </a:lnTo>
                    <a:lnTo>
                      <a:pt x="37" y="35"/>
                    </a:lnTo>
                    <a:lnTo>
                      <a:pt x="61" y="73"/>
                    </a:lnTo>
                    <a:lnTo>
                      <a:pt x="78" y="70"/>
                    </a:lnTo>
                    <a:lnTo>
                      <a:pt x="57" y="19"/>
                    </a:lnTo>
                    <a:lnTo>
                      <a:pt x="78" y="0"/>
                    </a:lnTo>
                    <a:lnTo>
                      <a:pt x="109" y="40"/>
                    </a:lnTo>
                    <a:lnTo>
                      <a:pt x="103" y="79"/>
                    </a:lnTo>
                    <a:lnTo>
                      <a:pt x="133" y="12"/>
                    </a:lnTo>
                    <a:lnTo>
                      <a:pt x="157" y="19"/>
                    </a:lnTo>
                    <a:lnTo>
                      <a:pt x="164" y="47"/>
                    </a:lnTo>
                    <a:lnTo>
                      <a:pt x="138" y="77"/>
                    </a:lnTo>
                    <a:lnTo>
                      <a:pt x="113" y="112"/>
                    </a:lnTo>
                    <a:lnTo>
                      <a:pt x="105" y="142"/>
                    </a:lnTo>
                    <a:lnTo>
                      <a:pt x="116" y="204"/>
                    </a:lnTo>
                    <a:lnTo>
                      <a:pt x="138" y="288"/>
                    </a:lnTo>
                    <a:lnTo>
                      <a:pt x="173" y="372"/>
                    </a:lnTo>
                    <a:lnTo>
                      <a:pt x="219" y="449"/>
                    </a:lnTo>
                    <a:lnTo>
                      <a:pt x="249" y="494"/>
                    </a:lnTo>
                    <a:lnTo>
                      <a:pt x="287" y="522"/>
                    </a:lnTo>
                    <a:lnTo>
                      <a:pt x="335" y="532"/>
                    </a:lnTo>
                    <a:lnTo>
                      <a:pt x="379" y="541"/>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33826" name="Freeform 35"/>
              <p:cNvSpPr/>
              <p:nvPr/>
            </p:nvSpPr>
            <p:spPr>
              <a:xfrm>
                <a:off x="5171" y="3027"/>
                <a:ext cx="293" cy="240"/>
              </a:xfrm>
              <a:custGeom>
                <a:avLst/>
                <a:gdLst/>
                <a:ahLst/>
                <a:cxnLst>
                  <a:cxn ang="0">
                    <a:pos x="9" y="211"/>
                  </a:cxn>
                  <a:cxn ang="0">
                    <a:pos x="40" y="208"/>
                  </a:cxn>
                  <a:cxn ang="0">
                    <a:pos x="81" y="202"/>
                  </a:cxn>
                  <a:cxn ang="0">
                    <a:pos x="135" y="186"/>
                  </a:cxn>
                  <a:cxn ang="0">
                    <a:pos x="168" y="166"/>
                  </a:cxn>
                  <a:cxn ang="0">
                    <a:pos x="183" y="146"/>
                  </a:cxn>
                  <a:cxn ang="0">
                    <a:pos x="198" y="110"/>
                  </a:cxn>
                  <a:cxn ang="0">
                    <a:pos x="209" y="74"/>
                  </a:cxn>
                  <a:cxn ang="0">
                    <a:pos x="209" y="55"/>
                  </a:cxn>
                  <a:cxn ang="0">
                    <a:pos x="207" y="46"/>
                  </a:cxn>
                  <a:cxn ang="0">
                    <a:pos x="182" y="42"/>
                  </a:cxn>
                  <a:cxn ang="0">
                    <a:pos x="173" y="32"/>
                  </a:cxn>
                  <a:cxn ang="0">
                    <a:pos x="178" y="24"/>
                  </a:cxn>
                  <a:cxn ang="0">
                    <a:pos x="189" y="24"/>
                  </a:cxn>
                  <a:cxn ang="0">
                    <a:pos x="205" y="31"/>
                  </a:cxn>
                  <a:cxn ang="0">
                    <a:pos x="213" y="33"/>
                  </a:cxn>
                  <a:cxn ang="0">
                    <a:pos x="223" y="29"/>
                  </a:cxn>
                  <a:cxn ang="0">
                    <a:pos x="235" y="19"/>
                  </a:cxn>
                  <a:cxn ang="0">
                    <a:pos x="243" y="5"/>
                  </a:cxn>
                  <a:cxn ang="0">
                    <a:pos x="253" y="0"/>
                  </a:cxn>
                  <a:cxn ang="0">
                    <a:pos x="263" y="1"/>
                  </a:cxn>
                  <a:cxn ang="0">
                    <a:pos x="260" y="14"/>
                  </a:cxn>
                  <a:cxn ang="0">
                    <a:pos x="245" y="29"/>
                  </a:cxn>
                  <a:cxn ang="0">
                    <a:pos x="235" y="36"/>
                  </a:cxn>
                  <a:cxn ang="0">
                    <a:pos x="237" y="39"/>
                  </a:cxn>
                  <a:cxn ang="0">
                    <a:pos x="249" y="39"/>
                  </a:cxn>
                  <a:cxn ang="0">
                    <a:pos x="264" y="37"/>
                  </a:cxn>
                  <a:cxn ang="0">
                    <a:pos x="277" y="32"/>
                  </a:cxn>
                  <a:cxn ang="0">
                    <a:pos x="281" y="23"/>
                  </a:cxn>
                  <a:cxn ang="0">
                    <a:pos x="291" y="26"/>
                  </a:cxn>
                  <a:cxn ang="0">
                    <a:pos x="293" y="39"/>
                  </a:cxn>
                  <a:cxn ang="0">
                    <a:pos x="279" y="49"/>
                  </a:cxn>
                  <a:cxn ang="0">
                    <a:pos x="259" y="52"/>
                  </a:cxn>
                  <a:cxn ang="0">
                    <a:pos x="237" y="50"/>
                  </a:cxn>
                  <a:cxn ang="0">
                    <a:pos x="229" y="55"/>
                  </a:cxn>
                  <a:cxn ang="0">
                    <a:pos x="223" y="75"/>
                  </a:cxn>
                  <a:cxn ang="0">
                    <a:pos x="220" y="98"/>
                  </a:cxn>
                  <a:cxn ang="0">
                    <a:pos x="213" y="126"/>
                  </a:cxn>
                  <a:cxn ang="0">
                    <a:pos x="207" y="146"/>
                  </a:cxn>
                  <a:cxn ang="0">
                    <a:pos x="198" y="163"/>
                  </a:cxn>
                  <a:cxn ang="0">
                    <a:pos x="186" y="180"/>
                  </a:cxn>
                  <a:cxn ang="0">
                    <a:pos x="175" y="186"/>
                  </a:cxn>
                  <a:cxn ang="0">
                    <a:pos x="154" y="198"/>
                  </a:cxn>
                  <a:cxn ang="0">
                    <a:pos x="128" y="211"/>
                  </a:cxn>
                  <a:cxn ang="0">
                    <a:pos x="90" y="221"/>
                  </a:cxn>
                  <a:cxn ang="0">
                    <a:pos x="60" y="228"/>
                  </a:cxn>
                  <a:cxn ang="0">
                    <a:pos x="26" y="240"/>
                  </a:cxn>
                  <a:cxn ang="0">
                    <a:pos x="9" y="236"/>
                  </a:cxn>
                  <a:cxn ang="0">
                    <a:pos x="0" y="221"/>
                  </a:cxn>
                  <a:cxn ang="0">
                    <a:pos x="9" y="211"/>
                  </a:cxn>
                </a:cxnLst>
                <a:pathLst>
                  <a:path w="587" h="478">
                    <a:moveTo>
                      <a:pt x="19" y="420"/>
                    </a:moveTo>
                    <a:lnTo>
                      <a:pt x="81" y="415"/>
                    </a:lnTo>
                    <a:lnTo>
                      <a:pt x="162" y="403"/>
                    </a:lnTo>
                    <a:lnTo>
                      <a:pt x="271" y="370"/>
                    </a:lnTo>
                    <a:lnTo>
                      <a:pt x="337" y="331"/>
                    </a:lnTo>
                    <a:lnTo>
                      <a:pt x="366" y="291"/>
                    </a:lnTo>
                    <a:lnTo>
                      <a:pt x="397" y="220"/>
                    </a:lnTo>
                    <a:lnTo>
                      <a:pt x="418" y="148"/>
                    </a:lnTo>
                    <a:lnTo>
                      <a:pt x="419" y="110"/>
                    </a:lnTo>
                    <a:lnTo>
                      <a:pt x="414" y="91"/>
                    </a:lnTo>
                    <a:lnTo>
                      <a:pt x="364" y="84"/>
                    </a:lnTo>
                    <a:lnTo>
                      <a:pt x="346" y="64"/>
                    </a:lnTo>
                    <a:lnTo>
                      <a:pt x="357" y="47"/>
                    </a:lnTo>
                    <a:lnTo>
                      <a:pt x="379" y="47"/>
                    </a:lnTo>
                    <a:lnTo>
                      <a:pt x="410" y="61"/>
                    </a:lnTo>
                    <a:lnTo>
                      <a:pt x="427" y="66"/>
                    </a:lnTo>
                    <a:lnTo>
                      <a:pt x="447" y="57"/>
                    </a:lnTo>
                    <a:lnTo>
                      <a:pt x="471" y="38"/>
                    </a:lnTo>
                    <a:lnTo>
                      <a:pt x="487" y="9"/>
                    </a:lnTo>
                    <a:lnTo>
                      <a:pt x="506" y="0"/>
                    </a:lnTo>
                    <a:lnTo>
                      <a:pt x="526" y="2"/>
                    </a:lnTo>
                    <a:lnTo>
                      <a:pt x="520" y="28"/>
                    </a:lnTo>
                    <a:lnTo>
                      <a:pt x="491" y="57"/>
                    </a:lnTo>
                    <a:lnTo>
                      <a:pt x="471" y="71"/>
                    </a:lnTo>
                    <a:lnTo>
                      <a:pt x="475" y="77"/>
                    </a:lnTo>
                    <a:lnTo>
                      <a:pt x="498" y="77"/>
                    </a:lnTo>
                    <a:lnTo>
                      <a:pt x="528" y="73"/>
                    </a:lnTo>
                    <a:lnTo>
                      <a:pt x="554" y="64"/>
                    </a:lnTo>
                    <a:lnTo>
                      <a:pt x="563" y="45"/>
                    </a:lnTo>
                    <a:lnTo>
                      <a:pt x="583" y="52"/>
                    </a:lnTo>
                    <a:lnTo>
                      <a:pt x="587" y="77"/>
                    </a:lnTo>
                    <a:lnTo>
                      <a:pt x="559" y="98"/>
                    </a:lnTo>
                    <a:lnTo>
                      <a:pt x="519" y="103"/>
                    </a:lnTo>
                    <a:lnTo>
                      <a:pt x="475" y="99"/>
                    </a:lnTo>
                    <a:lnTo>
                      <a:pt x="458" y="110"/>
                    </a:lnTo>
                    <a:lnTo>
                      <a:pt x="447" y="150"/>
                    </a:lnTo>
                    <a:lnTo>
                      <a:pt x="440" y="195"/>
                    </a:lnTo>
                    <a:lnTo>
                      <a:pt x="427" y="251"/>
                    </a:lnTo>
                    <a:lnTo>
                      <a:pt x="414" y="291"/>
                    </a:lnTo>
                    <a:lnTo>
                      <a:pt x="397" y="324"/>
                    </a:lnTo>
                    <a:lnTo>
                      <a:pt x="372" y="358"/>
                    </a:lnTo>
                    <a:lnTo>
                      <a:pt x="350" y="370"/>
                    </a:lnTo>
                    <a:lnTo>
                      <a:pt x="309" y="394"/>
                    </a:lnTo>
                    <a:lnTo>
                      <a:pt x="256" y="420"/>
                    </a:lnTo>
                    <a:lnTo>
                      <a:pt x="180" y="440"/>
                    </a:lnTo>
                    <a:lnTo>
                      <a:pt x="120" y="454"/>
                    </a:lnTo>
                    <a:lnTo>
                      <a:pt x="52" y="478"/>
                    </a:lnTo>
                    <a:lnTo>
                      <a:pt x="19" y="471"/>
                    </a:lnTo>
                    <a:lnTo>
                      <a:pt x="0" y="440"/>
                    </a:lnTo>
                    <a:lnTo>
                      <a:pt x="19" y="420"/>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33827" name="Freeform 36"/>
              <p:cNvSpPr/>
              <p:nvPr/>
            </p:nvSpPr>
            <p:spPr>
              <a:xfrm>
                <a:off x="5117" y="3391"/>
                <a:ext cx="94" cy="307"/>
              </a:xfrm>
              <a:custGeom>
                <a:avLst/>
                <a:gdLst/>
                <a:ahLst/>
                <a:cxnLst>
                  <a:cxn ang="0">
                    <a:pos x="24" y="4"/>
                  </a:cxn>
                  <a:cxn ang="0">
                    <a:pos x="42" y="0"/>
                  </a:cxn>
                  <a:cxn ang="0">
                    <a:pos x="52" y="9"/>
                  </a:cxn>
                  <a:cxn ang="0">
                    <a:pos x="54" y="26"/>
                  </a:cxn>
                  <a:cxn ang="0">
                    <a:pos x="56" y="59"/>
                  </a:cxn>
                  <a:cxn ang="0">
                    <a:pos x="53" y="111"/>
                  </a:cxn>
                  <a:cxn ang="0">
                    <a:pos x="46" y="162"/>
                  </a:cxn>
                  <a:cxn ang="0">
                    <a:pos x="37" y="214"/>
                  </a:cxn>
                  <a:cxn ang="0">
                    <a:pos x="30" y="259"/>
                  </a:cxn>
                  <a:cxn ang="0">
                    <a:pos x="29" y="268"/>
                  </a:cxn>
                  <a:cxn ang="0">
                    <a:pos x="33" y="273"/>
                  </a:cxn>
                  <a:cxn ang="0">
                    <a:pos x="49" y="267"/>
                  </a:cxn>
                  <a:cxn ang="0">
                    <a:pos x="60" y="249"/>
                  </a:cxn>
                  <a:cxn ang="0">
                    <a:pos x="68" y="242"/>
                  </a:cxn>
                  <a:cxn ang="0">
                    <a:pos x="85" y="237"/>
                  </a:cxn>
                  <a:cxn ang="0">
                    <a:pos x="91" y="240"/>
                  </a:cxn>
                  <a:cxn ang="0">
                    <a:pos x="94" y="256"/>
                  </a:cxn>
                  <a:cxn ang="0">
                    <a:pos x="74" y="265"/>
                  </a:cxn>
                  <a:cxn ang="0">
                    <a:pos x="52" y="283"/>
                  </a:cxn>
                  <a:cxn ang="0">
                    <a:pos x="32" y="302"/>
                  </a:cxn>
                  <a:cxn ang="0">
                    <a:pos x="19" y="307"/>
                  </a:cxn>
                  <a:cxn ang="0">
                    <a:pos x="9" y="303"/>
                  </a:cxn>
                  <a:cxn ang="0">
                    <a:pos x="0" y="296"/>
                  </a:cxn>
                  <a:cxn ang="0">
                    <a:pos x="0" y="290"/>
                  </a:cxn>
                  <a:cxn ang="0">
                    <a:pos x="8" y="272"/>
                  </a:cxn>
                  <a:cxn ang="0">
                    <a:pos x="17" y="260"/>
                  </a:cxn>
                  <a:cxn ang="0">
                    <a:pos x="20" y="230"/>
                  </a:cxn>
                  <a:cxn ang="0">
                    <a:pos x="20" y="192"/>
                  </a:cxn>
                  <a:cxn ang="0">
                    <a:pos x="19" y="137"/>
                  </a:cxn>
                  <a:cxn ang="0">
                    <a:pos x="26" y="97"/>
                  </a:cxn>
                  <a:cxn ang="0">
                    <a:pos x="21" y="54"/>
                  </a:cxn>
                  <a:cxn ang="0">
                    <a:pos x="21" y="21"/>
                  </a:cxn>
                  <a:cxn ang="0">
                    <a:pos x="24" y="4"/>
                  </a:cxn>
                </a:cxnLst>
                <a:pathLst>
                  <a:path w="187" h="612">
                    <a:moveTo>
                      <a:pt x="48" y="7"/>
                    </a:moveTo>
                    <a:lnTo>
                      <a:pt x="84" y="0"/>
                    </a:lnTo>
                    <a:lnTo>
                      <a:pt x="103" y="17"/>
                    </a:lnTo>
                    <a:lnTo>
                      <a:pt x="108" y="52"/>
                    </a:lnTo>
                    <a:lnTo>
                      <a:pt x="112" y="117"/>
                    </a:lnTo>
                    <a:lnTo>
                      <a:pt x="105" y="221"/>
                    </a:lnTo>
                    <a:lnTo>
                      <a:pt x="92" y="322"/>
                    </a:lnTo>
                    <a:lnTo>
                      <a:pt x="73" y="427"/>
                    </a:lnTo>
                    <a:lnTo>
                      <a:pt x="59" y="516"/>
                    </a:lnTo>
                    <a:lnTo>
                      <a:pt x="57" y="535"/>
                    </a:lnTo>
                    <a:lnTo>
                      <a:pt x="66" y="544"/>
                    </a:lnTo>
                    <a:lnTo>
                      <a:pt x="97" y="532"/>
                    </a:lnTo>
                    <a:lnTo>
                      <a:pt x="119" y="497"/>
                    </a:lnTo>
                    <a:lnTo>
                      <a:pt x="136" y="483"/>
                    </a:lnTo>
                    <a:lnTo>
                      <a:pt x="169" y="473"/>
                    </a:lnTo>
                    <a:lnTo>
                      <a:pt x="182" y="479"/>
                    </a:lnTo>
                    <a:lnTo>
                      <a:pt x="187" y="511"/>
                    </a:lnTo>
                    <a:lnTo>
                      <a:pt x="147" y="528"/>
                    </a:lnTo>
                    <a:lnTo>
                      <a:pt x="103" y="565"/>
                    </a:lnTo>
                    <a:lnTo>
                      <a:pt x="64" y="602"/>
                    </a:lnTo>
                    <a:lnTo>
                      <a:pt x="38" y="612"/>
                    </a:lnTo>
                    <a:lnTo>
                      <a:pt x="18" y="605"/>
                    </a:lnTo>
                    <a:lnTo>
                      <a:pt x="0" y="591"/>
                    </a:lnTo>
                    <a:lnTo>
                      <a:pt x="0" y="579"/>
                    </a:lnTo>
                    <a:lnTo>
                      <a:pt x="16" y="542"/>
                    </a:lnTo>
                    <a:lnTo>
                      <a:pt x="33" y="518"/>
                    </a:lnTo>
                    <a:lnTo>
                      <a:pt x="40" y="459"/>
                    </a:lnTo>
                    <a:lnTo>
                      <a:pt x="40" y="382"/>
                    </a:lnTo>
                    <a:lnTo>
                      <a:pt x="38" y="274"/>
                    </a:lnTo>
                    <a:lnTo>
                      <a:pt x="51" y="193"/>
                    </a:lnTo>
                    <a:lnTo>
                      <a:pt x="42" y="108"/>
                    </a:lnTo>
                    <a:lnTo>
                      <a:pt x="42" y="41"/>
                    </a:lnTo>
                    <a:lnTo>
                      <a:pt x="48" y="7"/>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sp>
            <p:nvSpPr>
              <p:cNvPr id="33828" name="Freeform 37"/>
              <p:cNvSpPr/>
              <p:nvPr/>
            </p:nvSpPr>
            <p:spPr>
              <a:xfrm>
                <a:off x="5178" y="3395"/>
                <a:ext cx="98" cy="307"/>
              </a:xfrm>
              <a:custGeom>
                <a:avLst/>
                <a:gdLst/>
                <a:ahLst/>
                <a:cxnLst>
                  <a:cxn ang="0">
                    <a:pos x="0" y="5"/>
                  </a:cxn>
                  <a:cxn ang="0">
                    <a:pos x="16" y="0"/>
                  </a:cxn>
                  <a:cxn ang="0">
                    <a:pos x="27" y="6"/>
                  </a:cxn>
                  <a:cxn ang="0">
                    <a:pos x="33" y="24"/>
                  </a:cxn>
                  <a:cxn ang="0">
                    <a:pos x="37" y="57"/>
                  </a:cxn>
                  <a:cxn ang="0">
                    <a:pos x="40" y="109"/>
                  </a:cxn>
                  <a:cxn ang="0">
                    <a:pos x="39" y="160"/>
                  </a:cxn>
                  <a:cxn ang="0">
                    <a:pos x="37" y="215"/>
                  </a:cxn>
                  <a:cxn ang="0">
                    <a:pos x="34" y="259"/>
                  </a:cxn>
                  <a:cxn ang="0">
                    <a:pos x="36" y="269"/>
                  </a:cxn>
                  <a:cxn ang="0">
                    <a:pos x="40" y="273"/>
                  </a:cxn>
                  <a:cxn ang="0">
                    <a:pos x="53" y="264"/>
                  </a:cxn>
                  <a:cxn ang="0">
                    <a:pos x="64" y="245"/>
                  </a:cxn>
                  <a:cxn ang="0">
                    <a:pos x="70" y="238"/>
                  </a:cxn>
                  <a:cxn ang="0">
                    <a:pos x="86" y="230"/>
                  </a:cxn>
                  <a:cxn ang="0">
                    <a:pos x="94" y="235"/>
                  </a:cxn>
                  <a:cxn ang="0">
                    <a:pos x="98" y="250"/>
                  </a:cxn>
                  <a:cxn ang="0">
                    <a:pos x="78" y="261"/>
                  </a:cxn>
                  <a:cxn ang="0">
                    <a:pos x="58" y="282"/>
                  </a:cxn>
                  <a:cxn ang="0">
                    <a:pos x="41" y="302"/>
                  </a:cxn>
                  <a:cxn ang="0">
                    <a:pos x="31" y="307"/>
                  </a:cxn>
                  <a:cxn ang="0">
                    <a:pos x="19" y="306"/>
                  </a:cxn>
                  <a:cxn ang="0">
                    <a:pos x="9" y="298"/>
                  </a:cxn>
                  <a:cxn ang="0">
                    <a:pos x="9" y="292"/>
                  </a:cxn>
                  <a:cxn ang="0">
                    <a:pos x="15" y="274"/>
                  </a:cxn>
                  <a:cxn ang="0">
                    <a:pos x="21" y="260"/>
                  </a:cxn>
                  <a:cxn ang="0">
                    <a:pos x="22" y="230"/>
                  </a:cxn>
                  <a:cxn ang="0">
                    <a:pos x="17" y="192"/>
                  </a:cxn>
                  <a:cxn ang="0">
                    <a:pos x="9" y="140"/>
                  </a:cxn>
                  <a:cxn ang="0">
                    <a:pos x="12" y="97"/>
                  </a:cxn>
                  <a:cxn ang="0">
                    <a:pos x="3" y="57"/>
                  </a:cxn>
                  <a:cxn ang="0">
                    <a:pos x="0" y="24"/>
                  </a:cxn>
                  <a:cxn ang="0">
                    <a:pos x="0" y="5"/>
                  </a:cxn>
                </a:cxnLst>
                <a:pathLst>
                  <a:path w="197" h="614">
                    <a:moveTo>
                      <a:pt x="0" y="10"/>
                    </a:moveTo>
                    <a:lnTo>
                      <a:pt x="33" y="0"/>
                    </a:lnTo>
                    <a:lnTo>
                      <a:pt x="55" y="12"/>
                    </a:lnTo>
                    <a:lnTo>
                      <a:pt x="66" y="48"/>
                    </a:lnTo>
                    <a:lnTo>
                      <a:pt x="74" y="113"/>
                    </a:lnTo>
                    <a:lnTo>
                      <a:pt x="81" y="218"/>
                    </a:lnTo>
                    <a:lnTo>
                      <a:pt x="79" y="319"/>
                    </a:lnTo>
                    <a:lnTo>
                      <a:pt x="74" y="429"/>
                    </a:lnTo>
                    <a:lnTo>
                      <a:pt x="68" y="518"/>
                    </a:lnTo>
                    <a:lnTo>
                      <a:pt x="72" y="537"/>
                    </a:lnTo>
                    <a:lnTo>
                      <a:pt x="81" y="546"/>
                    </a:lnTo>
                    <a:lnTo>
                      <a:pt x="107" y="528"/>
                    </a:lnTo>
                    <a:lnTo>
                      <a:pt x="129" y="490"/>
                    </a:lnTo>
                    <a:lnTo>
                      <a:pt x="140" y="476"/>
                    </a:lnTo>
                    <a:lnTo>
                      <a:pt x="173" y="460"/>
                    </a:lnTo>
                    <a:lnTo>
                      <a:pt x="188" y="469"/>
                    </a:lnTo>
                    <a:lnTo>
                      <a:pt x="197" y="499"/>
                    </a:lnTo>
                    <a:lnTo>
                      <a:pt x="156" y="521"/>
                    </a:lnTo>
                    <a:lnTo>
                      <a:pt x="116" y="563"/>
                    </a:lnTo>
                    <a:lnTo>
                      <a:pt x="83" y="603"/>
                    </a:lnTo>
                    <a:lnTo>
                      <a:pt x="63" y="614"/>
                    </a:lnTo>
                    <a:lnTo>
                      <a:pt x="39" y="612"/>
                    </a:lnTo>
                    <a:lnTo>
                      <a:pt x="18" y="596"/>
                    </a:lnTo>
                    <a:lnTo>
                      <a:pt x="18" y="584"/>
                    </a:lnTo>
                    <a:lnTo>
                      <a:pt x="31" y="548"/>
                    </a:lnTo>
                    <a:lnTo>
                      <a:pt x="42" y="520"/>
                    </a:lnTo>
                    <a:lnTo>
                      <a:pt x="44" y="460"/>
                    </a:lnTo>
                    <a:lnTo>
                      <a:pt x="35" y="383"/>
                    </a:lnTo>
                    <a:lnTo>
                      <a:pt x="18" y="279"/>
                    </a:lnTo>
                    <a:lnTo>
                      <a:pt x="24" y="193"/>
                    </a:lnTo>
                    <a:lnTo>
                      <a:pt x="6" y="113"/>
                    </a:lnTo>
                    <a:lnTo>
                      <a:pt x="0" y="47"/>
                    </a:lnTo>
                    <a:lnTo>
                      <a:pt x="0" y="10"/>
                    </a:lnTo>
                    <a:close/>
                  </a:path>
                </a:pathLst>
              </a:custGeom>
              <a:solidFill>
                <a:schemeClr val="accent2"/>
              </a:solidFill>
              <a:ln w="9525" cap="flat" cmpd="sng">
                <a:solidFill>
                  <a:schemeClr val="accent2"/>
                </a:solidFill>
                <a:prstDash val="solid"/>
                <a:round/>
                <a:headEnd type="none" w="med" len="med"/>
                <a:tailEnd type="none" w="med" len="med"/>
              </a:ln>
            </p:spPr>
            <p:txBody>
              <a:bodyPr/>
              <a:p>
                <a:endParaRPr lang="zh-CN" altLang="en-US"/>
              </a:p>
            </p:txBody>
          </p:sp>
        </p:gr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7409">
                                            <p:txEl>
                                              <p:charRg st="0" end="13"/>
                                            </p:txEl>
                                          </p:spTgt>
                                        </p:tgtEl>
                                        <p:attrNameLst>
                                          <p:attrName>style.visibility</p:attrName>
                                        </p:attrNameLst>
                                      </p:cBhvr>
                                      <p:to>
                                        <p:strVal val="visible"/>
                                      </p:to>
                                    </p:set>
                                    <p:anim calcmode="lin" valueType="num">
                                      <p:cBhvr>
                                        <p:cTn id="7" dur="1000" fill="hold"/>
                                        <p:tgtEl>
                                          <p:spTgt spid="17409">
                                            <p:txEl>
                                              <p:charRg st="0" end="13"/>
                                            </p:txEl>
                                          </p:spTgt>
                                        </p:tgtEl>
                                        <p:attrNameLst>
                                          <p:attrName>ppt_w</p:attrName>
                                        </p:attrNameLst>
                                      </p:cBhvr>
                                      <p:tavLst>
                                        <p:tav tm="0">
                                          <p:val>
                                            <p:strVal val="#ppt_w*0.70"/>
                                          </p:val>
                                        </p:tav>
                                        <p:tav tm="100000">
                                          <p:val>
                                            <p:strVal val="#ppt_w"/>
                                          </p:val>
                                        </p:tav>
                                      </p:tavLst>
                                    </p:anim>
                                    <p:anim calcmode="lin" valueType="num">
                                      <p:cBhvr>
                                        <p:cTn id="8" dur="1000" fill="hold"/>
                                        <p:tgtEl>
                                          <p:spTgt spid="17409">
                                            <p:txEl>
                                              <p:charRg st="0" end="13"/>
                                            </p:txEl>
                                          </p:spTgt>
                                        </p:tgtEl>
                                        <p:attrNameLst>
                                          <p:attrName>ppt_h</p:attrName>
                                        </p:attrNameLst>
                                      </p:cBhvr>
                                      <p:tavLst>
                                        <p:tav tm="0">
                                          <p:val>
                                            <p:strVal val="#ppt_h"/>
                                          </p:val>
                                        </p:tav>
                                        <p:tav tm="100000">
                                          <p:val>
                                            <p:strVal val="#ppt_h"/>
                                          </p:val>
                                        </p:tav>
                                      </p:tavLst>
                                    </p:anim>
                                    <p:animEffect transition="in" filter="fade">
                                      <p:cBhvr>
                                        <p:cTn id="9" dur="1000"/>
                                        <p:tgtEl>
                                          <p:spTgt spid="17409">
                                            <p:txEl>
                                              <p:charRg st="0" end="1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7411">
                                            <p:txEl>
                                              <p:charRg st="0" end="39"/>
                                            </p:txEl>
                                          </p:spTgt>
                                        </p:tgtEl>
                                        <p:attrNameLst>
                                          <p:attrName>style.visibility</p:attrName>
                                        </p:attrNameLst>
                                      </p:cBhvr>
                                      <p:to>
                                        <p:strVal val="visible"/>
                                      </p:to>
                                    </p:set>
                                    <p:anim calcmode="lin" valueType="num">
                                      <p:cBhvr>
                                        <p:cTn id="14" dur="1000" fill="hold"/>
                                        <p:tgtEl>
                                          <p:spTgt spid="17411">
                                            <p:txEl>
                                              <p:charRg st="0" end="39"/>
                                            </p:txEl>
                                          </p:spTgt>
                                        </p:tgtEl>
                                        <p:attrNameLst>
                                          <p:attrName>ppt_w</p:attrName>
                                        </p:attrNameLst>
                                      </p:cBhvr>
                                      <p:tavLst>
                                        <p:tav tm="0">
                                          <p:val>
                                            <p:strVal val="#ppt_w*0.70"/>
                                          </p:val>
                                        </p:tav>
                                        <p:tav tm="100000">
                                          <p:val>
                                            <p:strVal val="#ppt_w"/>
                                          </p:val>
                                        </p:tav>
                                      </p:tavLst>
                                    </p:anim>
                                    <p:anim calcmode="lin" valueType="num">
                                      <p:cBhvr>
                                        <p:cTn id="15" dur="1000" fill="hold"/>
                                        <p:tgtEl>
                                          <p:spTgt spid="17411">
                                            <p:txEl>
                                              <p:charRg st="0" end="39"/>
                                            </p:txEl>
                                          </p:spTgt>
                                        </p:tgtEl>
                                        <p:attrNameLst>
                                          <p:attrName>ppt_h</p:attrName>
                                        </p:attrNameLst>
                                      </p:cBhvr>
                                      <p:tavLst>
                                        <p:tav tm="0">
                                          <p:val>
                                            <p:strVal val="#ppt_h"/>
                                          </p:val>
                                        </p:tav>
                                        <p:tav tm="100000">
                                          <p:val>
                                            <p:strVal val="#ppt_h"/>
                                          </p:val>
                                        </p:tav>
                                      </p:tavLst>
                                    </p:anim>
                                    <p:animEffect transition="in" filter="fade">
                                      <p:cBhvr>
                                        <p:cTn id="16" dur="1000"/>
                                        <p:tgtEl>
                                          <p:spTgt spid="17411">
                                            <p:txEl>
                                              <p:charRg st="0" end="39"/>
                                            </p:txEl>
                                          </p:spTgt>
                                        </p:tgtEl>
                                      </p:cBhvr>
                                    </p:animEffect>
                                  </p:childTnLst>
                                </p:cTn>
                              </p:par>
                              <p:par>
                                <p:cTn id="17" presetID="55" presetClass="entr" presetSubtype="0" fill="hold" nodeType="withEffect">
                                  <p:stCondLst>
                                    <p:cond delay="0"/>
                                  </p:stCondLst>
                                  <p:childTnLst>
                                    <p:set>
                                      <p:cBhvr>
                                        <p:cTn id="18" dur="1" fill="hold">
                                          <p:stCondLst>
                                            <p:cond delay="0"/>
                                          </p:stCondLst>
                                        </p:cTn>
                                        <p:tgtEl>
                                          <p:spTgt spid="17411">
                                            <p:txEl>
                                              <p:charRg st="39" end="82"/>
                                            </p:txEl>
                                          </p:spTgt>
                                        </p:tgtEl>
                                        <p:attrNameLst>
                                          <p:attrName>style.visibility</p:attrName>
                                        </p:attrNameLst>
                                      </p:cBhvr>
                                      <p:to>
                                        <p:strVal val="visible"/>
                                      </p:to>
                                    </p:set>
                                    <p:anim calcmode="lin" valueType="num">
                                      <p:cBhvr>
                                        <p:cTn id="19" dur="1000" fill="hold"/>
                                        <p:tgtEl>
                                          <p:spTgt spid="17411">
                                            <p:txEl>
                                              <p:charRg st="39" end="82"/>
                                            </p:txEl>
                                          </p:spTgt>
                                        </p:tgtEl>
                                        <p:attrNameLst>
                                          <p:attrName>ppt_w</p:attrName>
                                        </p:attrNameLst>
                                      </p:cBhvr>
                                      <p:tavLst>
                                        <p:tav tm="0">
                                          <p:val>
                                            <p:strVal val="#ppt_w*0.70"/>
                                          </p:val>
                                        </p:tav>
                                        <p:tav tm="100000">
                                          <p:val>
                                            <p:strVal val="#ppt_w"/>
                                          </p:val>
                                        </p:tav>
                                      </p:tavLst>
                                    </p:anim>
                                    <p:anim calcmode="lin" valueType="num">
                                      <p:cBhvr>
                                        <p:cTn id="20" dur="1000" fill="hold"/>
                                        <p:tgtEl>
                                          <p:spTgt spid="17411">
                                            <p:txEl>
                                              <p:charRg st="39" end="82"/>
                                            </p:txEl>
                                          </p:spTgt>
                                        </p:tgtEl>
                                        <p:attrNameLst>
                                          <p:attrName>ppt_h</p:attrName>
                                        </p:attrNameLst>
                                      </p:cBhvr>
                                      <p:tavLst>
                                        <p:tav tm="0">
                                          <p:val>
                                            <p:strVal val="#ppt_h"/>
                                          </p:val>
                                        </p:tav>
                                        <p:tav tm="100000">
                                          <p:val>
                                            <p:strVal val="#ppt_h"/>
                                          </p:val>
                                        </p:tav>
                                      </p:tavLst>
                                    </p:anim>
                                    <p:animEffect transition="in" filter="fade">
                                      <p:cBhvr>
                                        <p:cTn id="21" dur="1000"/>
                                        <p:tgtEl>
                                          <p:spTgt spid="17411">
                                            <p:txEl>
                                              <p:charRg st="39" end="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9" grpId="0" build="p"/>
      <p:bldP spid="17409" grpI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817" name="图片 3"/>
          <p:cNvPicPr>
            <a:picLocks noChangeAspect="1"/>
          </p:cNvPicPr>
          <p:nvPr/>
        </p:nvPicPr>
        <p:blipFill>
          <a:blip r:embed="rId1"/>
          <a:stretch>
            <a:fillRect/>
          </a:stretch>
        </p:blipFill>
        <p:spPr>
          <a:xfrm>
            <a:off x="2047875" y="0"/>
            <a:ext cx="7610475" cy="685800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1" name="图片 3"/>
          <p:cNvPicPr>
            <a:picLocks noChangeAspect="1"/>
          </p:cNvPicPr>
          <p:nvPr/>
        </p:nvPicPr>
        <p:blipFill>
          <a:blip r:embed="rId1"/>
          <a:stretch>
            <a:fillRect/>
          </a:stretch>
        </p:blipFill>
        <p:spPr>
          <a:xfrm>
            <a:off x="885825" y="1150938"/>
            <a:ext cx="4406900" cy="4878387"/>
          </a:xfrm>
          <a:prstGeom prst="rect">
            <a:avLst/>
          </a:prstGeom>
          <a:noFill/>
          <a:ln w="9525">
            <a:noFill/>
          </a:ln>
        </p:spPr>
      </p:pic>
      <p:pic>
        <p:nvPicPr>
          <p:cNvPr id="35842" name="图片 4"/>
          <p:cNvPicPr>
            <a:picLocks noChangeAspect="1"/>
          </p:cNvPicPr>
          <p:nvPr/>
        </p:nvPicPr>
        <p:blipFill>
          <a:blip r:embed="rId2"/>
          <a:stretch>
            <a:fillRect/>
          </a:stretch>
        </p:blipFill>
        <p:spPr>
          <a:xfrm>
            <a:off x="6362700" y="1277938"/>
            <a:ext cx="5181600" cy="4970462"/>
          </a:xfrm>
          <a:prstGeom prst="rect">
            <a:avLst/>
          </a:prstGeom>
          <a:noFill/>
          <a:ln w="9525">
            <a:noFill/>
          </a:ln>
        </p:spPr>
      </p:pic>
      <p:sp>
        <p:nvSpPr>
          <p:cNvPr id="35843" name="标题 5"/>
          <p:cNvSpPr>
            <a:spLocks noGrp="1"/>
          </p:cNvSpPr>
          <p:nvPr>
            <p:ph type="title"/>
          </p:nvPr>
        </p:nvSpPr>
        <p:spPr>
          <a:xfrm>
            <a:off x="763588" y="236538"/>
            <a:ext cx="10515600" cy="1325562"/>
          </a:xfrm>
          <a:noFill/>
          <a:ln>
            <a:noFill/>
          </a:ln>
        </p:spPr>
        <p:txBody>
          <a:bodyPr anchor="t" anchorCtr="0"/>
          <a:p>
            <a:r>
              <a:rPr lang="zh-CN" altLang="zh-CN" sz="3200" b="1" dirty="0">
                <a:solidFill>
                  <a:srgbClr val="0070C0"/>
                </a:solidFill>
                <a:latin typeface="微软雅黑" panose="020B0503020204020204" pitchFamily="34" charset="-122"/>
                <a:ea typeface="微软雅黑" panose="020B0503020204020204" pitchFamily="34" charset="-122"/>
              </a:rPr>
              <a:t>国家竞争优势理论</a:t>
            </a:r>
            <a:r>
              <a:rPr lang="en-US" altLang="zh-CN" sz="3200" b="1" dirty="0">
                <a:solidFill>
                  <a:srgbClr val="0070C0"/>
                </a:solidFill>
                <a:latin typeface="微软雅黑" panose="020B0503020204020204" pitchFamily="34" charset="-122"/>
                <a:ea typeface="微软雅黑" panose="020B0503020204020204" pitchFamily="34" charset="-122"/>
              </a:rPr>
              <a:t>:</a:t>
            </a:r>
            <a:r>
              <a:rPr lang="zh-CN" altLang="zh-CN" sz="3200" b="1" dirty="0">
                <a:solidFill>
                  <a:srgbClr val="0070C0"/>
                </a:solidFill>
                <a:latin typeface="微软雅黑" panose="020B0503020204020204" pitchFamily="34" charset="-122"/>
                <a:ea typeface="微软雅黑" panose="020B0503020204020204" pitchFamily="34" charset="-122"/>
              </a:rPr>
              <a:t>钻石模型</a:t>
            </a:r>
            <a:endParaRPr lang="zh-CN" altLang="zh-CN" sz="32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1587" y="4903788"/>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88963"/>
            <a:ext cx="1495425" cy="5386388"/>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2</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2462213"/>
            <a:ext cx="9429750" cy="2308225"/>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行业</a:t>
            </a:r>
            <a:endParaRPr kumimoji="0" lang="en-US" altLang="zh-CN"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经济特性</a:t>
            </a: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及生命周期</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4879975" cy="1528763"/>
          </a:xfrm>
          <a:prstGeom prst="rect">
            <a:avLst/>
          </a:prstGeom>
          <a:noFill/>
          <a:ln>
            <a:noFill/>
          </a:ln>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2.1  </a:t>
            </a:r>
            <a:r>
              <a:rPr kumimoji="0" lang="zh-CN" altLang="en-US"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行业经济特性</a:t>
            </a:r>
            <a:endParaRPr kumimoji="0" lang="en-US" altLang="zh-CN"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2.2  </a:t>
            </a:r>
            <a:r>
              <a:rPr kumimoji="0" lang="zh-CN" altLang="en-US"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行业生命周期</a:t>
            </a:r>
            <a:endParaRPr kumimoji="0" lang="zh-CN" altLang="en-US" sz="3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88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789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7895"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行业经济特性及生命周期</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300163" y="2074863"/>
            <a:ext cx="9453562" cy="3108325"/>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行业由许多生产可互相替代产品的公司组成。在竞争中，这些公司互相影响。一般来说，行业中存在很多机会可供公司利用，以获得超额利润。在某种程度上，这些公司选择战略时会受到行业因素的影响。</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行业经济特性</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行业生命周期</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993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3994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3994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2.1  </a:t>
            </a:r>
            <a:r>
              <a:rPr lang="zh-CN" altLang="en-US" sz="3200" dirty="0">
                <a:solidFill>
                  <a:srgbClr val="1570C1"/>
                </a:solidFill>
                <a:latin typeface="微软雅黑" panose="020B0503020204020204" pitchFamily="34" charset="-122"/>
                <a:ea typeface="微软雅黑" panose="020B0503020204020204" pitchFamily="34" charset="-122"/>
              </a:rPr>
              <a:t>行业经济特性</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728663" y="1330325"/>
            <a:ext cx="10734675" cy="4708525"/>
          </a:xfrm>
          <a:prstGeom prst="rect">
            <a:avLst/>
          </a:prstGeom>
          <a:solidFill>
            <a:srgbClr val="1570C1"/>
          </a:solidFill>
          <a:ln w="9525">
            <a:noFill/>
          </a:ln>
        </p:spPr>
        <p:txBody>
          <a:bodyPr anchor="t" anchorCtr="0">
            <a:spAutoFit/>
          </a:bodyPr>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市场规模</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竞争角逐的范围</a:t>
            </a:r>
            <a:r>
              <a:rPr lang="en-US" altLang="zh-CN" sz="2000" dirty="0">
                <a:solidFill>
                  <a:schemeClr val="bg1"/>
                </a:solidFill>
                <a:latin typeface="微软雅黑" panose="020B0503020204020204" pitchFamily="34" charset="-122"/>
                <a:ea typeface="微软雅黑" panose="020B0503020204020204" pitchFamily="34" charset="-122"/>
              </a:rPr>
              <a:t>(</a:t>
            </a:r>
            <a:r>
              <a:rPr lang="zh-CN" altLang="en-US" sz="2000" dirty="0">
                <a:solidFill>
                  <a:schemeClr val="bg1"/>
                </a:solidFill>
                <a:latin typeface="微软雅黑" panose="020B0503020204020204" pitchFamily="34" charset="-122"/>
                <a:ea typeface="微软雅黑" panose="020B0503020204020204" pitchFamily="34" charset="-122"/>
              </a:rPr>
              <a:t>当地、区域、全国、国际、全球？</a:t>
            </a:r>
            <a:r>
              <a:rPr lang="en-US" altLang="zh-CN" sz="2000" dirty="0">
                <a:solidFill>
                  <a:schemeClr val="bg1"/>
                </a:solidFill>
                <a:latin typeface="微软雅黑" panose="020B0503020204020204" pitchFamily="34" charset="-122"/>
                <a:ea typeface="微软雅黑" panose="020B0503020204020204" pitchFamily="34" charset="-122"/>
              </a:rPr>
              <a:t>)</a:t>
            </a:r>
            <a:endParaRPr lang="en-US" altLang="zh-CN"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市场增长速度及行业目前所处成长周期阶段（投入期、成长期、成熟期、衰退期）</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竞争厂商的数量和相对规模（被众多的小公司细分还是被几家大公司垄断，即行业集中度）</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购买者的数量和相对规模</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前向一体化及后向一体化的程度</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到达购买者的分销渠道的种类</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工艺革新和技术变革的速度</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竞争对手产品差异化的程度</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规模经济性</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学习（经验）曲线（行业中的某些活动是不是有学习及经验效应方面的特色，从而单元成本会随累积产量的增长而降低）</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生产能力利用率高低是否在很大程度上决定公司能否获得成本生产效率</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必要的资源以及进入和退出的难度</a:t>
            </a:r>
            <a:endParaRPr lang="zh-CN" altLang="en-US" sz="2000" dirty="0">
              <a:solidFill>
                <a:schemeClr val="bg1"/>
              </a:solidFill>
              <a:latin typeface="微软雅黑" panose="020B0503020204020204" pitchFamily="34" charset="-122"/>
              <a:ea typeface="微软雅黑" panose="020B0503020204020204" pitchFamily="34" charset="-122"/>
            </a:endParaRPr>
          </a:p>
          <a:p>
            <a:pPr marL="285750" indent="-285750" eaLnBrk="0" hangingPunct="0">
              <a:buFont typeface="Wingdings" panose="05000000000000000000" pitchFamily="2" charset="2"/>
              <a:buChar char="Ø"/>
            </a:pPr>
            <a:r>
              <a:rPr lang="zh-CN" altLang="en-US" sz="2000" dirty="0">
                <a:solidFill>
                  <a:schemeClr val="bg1"/>
                </a:solidFill>
                <a:latin typeface="微软雅黑" panose="020B0503020204020204" pitchFamily="34" charset="-122"/>
                <a:ea typeface="微软雅黑" panose="020B0503020204020204" pitchFamily="34" charset="-122"/>
              </a:rPr>
              <a:t>行业的盈利水平处于平均水平之上还是处于平均水平之下</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198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198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199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行业生命周期</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612775" y="2160588"/>
            <a:ext cx="5735638" cy="3108325"/>
          </a:xfrm>
          <a:prstGeom prst="rect">
            <a:avLst/>
          </a:prstGeom>
          <a:solidFill>
            <a:srgbClr val="1570C1"/>
          </a:solidFill>
          <a:ln w="9525">
            <a:noFill/>
          </a:ln>
        </p:spPr>
        <p:txBody>
          <a:bodyPr wrap="square"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行业生命周期是指行业从出现到完全退出社会经济活动所经历的时间。行业生命周期理论表明，不同行业从产生到衰亡所经历的阶段尽管有所差别，但基本上要经历四个阶段：导入期（萌芽期）、成长期、成熟期和衰退期。</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nvGrpSpPr>
          <p:cNvPr id="6" name="画布 471"/>
          <p:cNvGrpSpPr>
            <a:grpSpLocks noChangeAspect="1"/>
          </p:cNvGrpSpPr>
          <p:nvPr/>
        </p:nvGrpSpPr>
        <p:grpSpPr>
          <a:xfrm>
            <a:off x="6348413" y="2174875"/>
            <a:ext cx="5775325" cy="2576513"/>
            <a:chOff x="0" y="0"/>
            <a:chExt cx="48006" cy="25761"/>
          </a:xfrm>
        </p:grpSpPr>
        <p:sp>
          <p:nvSpPr>
            <p:cNvPr id="41994" name="矩形 29"/>
            <p:cNvSpPr>
              <a:spLocks noChangeAspect="1"/>
            </p:cNvSpPr>
            <p:nvPr/>
          </p:nvSpPr>
          <p:spPr>
            <a:xfrm>
              <a:off x="0" y="0"/>
              <a:ext cx="48006" cy="25761"/>
            </a:xfrm>
            <a:prstGeom prst="rect">
              <a:avLst/>
            </a:prstGeom>
            <a:noFill/>
            <a:ln w="9525">
              <a:noFill/>
            </a:ln>
          </p:spPr>
          <p:txBody>
            <a:bodyPr anchor="t" anchorCtr="0"/>
            <a:p>
              <a:pPr eaLnBrk="0" hangingPunct="0"/>
              <a:endParaRPr lang="en-US" altLang="en-US" dirty="0">
                <a:solidFill>
                  <a:srgbClr val="1570C1"/>
                </a:solidFill>
                <a:latin typeface="微软雅黑" panose="020B0503020204020204" pitchFamily="34" charset="-122"/>
                <a:ea typeface="微软雅黑" panose="020B0503020204020204" pitchFamily="34" charset="-122"/>
              </a:endParaRPr>
            </a:p>
          </p:txBody>
        </p:sp>
        <p:sp>
          <p:nvSpPr>
            <p:cNvPr id="41995" name="直线 1024"/>
            <p:cNvSpPr/>
            <p:nvPr/>
          </p:nvSpPr>
          <p:spPr>
            <a:xfrm>
              <a:off x="5717" y="25754"/>
              <a:ext cx="35432" cy="7"/>
            </a:xfrm>
            <a:prstGeom prst="line">
              <a:avLst/>
            </a:prstGeom>
            <a:ln w="9525" cap="flat" cmpd="sng">
              <a:solidFill>
                <a:srgbClr val="000000"/>
              </a:solidFill>
              <a:prstDash val="solid"/>
              <a:round/>
              <a:headEnd type="none" w="med" len="med"/>
              <a:tailEnd type="triangle" w="med" len="med"/>
            </a:ln>
          </p:spPr>
        </p:sp>
        <p:sp>
          <p:nvSpPr>
            <p:cNvPr id="41996" name="直线 1025"/>
            <p:cNvSpPr/>
            <p:nvPr/>
          </p:nvSpPr>
          <p:spPr>
            <a:xfrm flipV="1">
              <a:off x="5717" y="0"/>
              <a:ext cx="8" cy="25754"/>
            </a:xfrm>
            <a:prstGeom prst="line">
              <a:avLst/>
            </a:prstGeom>
            <a:ln w="9525" cap="flat" cmpd="sng">
              <a:solidFill>
                <a:srgbClr val="000000"/>
              </a:solidFill>
              <a:prstDash val="solid"/>
              <a:round/>
              <a:headEnd type="none" w="med" len="med"/>
              <a:tailEnd type="triangle" w="med" len="med"/>
            </a:ln>
          </p:spPr>
        </p:sp>
        <p:sp>
          <p:nvSpPr>
            <p:cNvPr id="41997" name="文本框 1026"/>
            <p:cNvSpPr txBox="1"/>
            <p:nvPr/>
          </p:nvSpPr>
          <p:spPr>
            <a:xfrm>
              <a:off x="2283" y="2968"/>
              <a:ext cx="3431" cy="15904"/>
            </a:xfrm>
            <a:prstGeom prst="rect">
              <a:avLst/>
            </a:prstGeom>
            <a:noFill/>
            <a:ln w="9525">
              <a:noFill/>
            </a:ln>
          </p:spPr>
          <p:txBody>
            <a:bodyPr vert="eaVert" anchor="t" anchorCtr="0"/>
            <a:p>
              <a:pPr eaLnBrk="0" hangingPunct="0">
                <a:buSzTx/>
              </a:pPr>
              <a:r>
                <a:rPr lang="zh-CN" altLang="en-US">
                  <a:solidFill>
                    <a:srgbClr val="1570C1"/>
                  </a:solidFill>
                  <a:latin typeface="微软雅黑" panose="020B0503020204020204" pitchFamily="34" charset="-122"/>
                  <a:ea typeface="微软雅黑" panose="020B0503020204020204" pitchFamily="34" charset="-122"/>
                </a:rPr>
                <a:t>行业销售收入</a:t>
              </a:r>
              <a:endParaRPr lang="zh-CN" altLang="en-US">
                <a:solidFill>
                  <a:srgbClr val="1570C1"/>
                </a:solidFill>
                <a:latin typeface="微软雅黑" panose="020B0503020204020204" pitchFamily="34" charset="-122"/>
                <a:ea typeface="微软雅黑" panose="020B0503020204020204" pitchFamily="34" charset="-122"/>
              </a:endParaRPr>
            </a:p>
            <a:p>
              <a:pPr eaLnBrk="0" hangingPunct="0">
                <a:buSzTx/>
              </a:pPr>
              <a:endParaRPr lang="zh-CN" altLang="en-US">
                <a:solidFill>
                  <a:srgbClr val="1570C1"/>
                </a:solidFill>
                <a:latin typeface="微软雅黑" panose="020B0503020204020204" pitchFamily="34" charset="-122"/>
                <a:ea typeface="微软雅黑" panose="020B0503020204020204" pitchFamily="34" charset="-122"/>
              </a:endParaRPr>
            </a:p>
          </p:txBody>
        </p:sp>
        <p:sp>
          <p:nvSpPr>
            <p:cNvPr id="41998" name="任意多边形 1027"/>
            <p:cNvSpPr/>
            <p:nvPr/>
          </p:nvSpPr>
          <p:spPr>
            <a:xfrm>
              <a:off x="6862" y="5365"/>
              <a:ext cx="30852" cy="18412"/>
            </a:xfrm>
            <a:custGeom>
              <a:avLst/>
              <a:gdLst/>
              <a:ahLst/>
              <a:cxnLst>
                <a:cxn ang="0">
                  <a:pos x="0" y="2147483647"/>
                </a:cxn>
                <a:cxn ang="0">
                  <a:pos x="2147483647" y="2147483647"/>
                </a:cxn>
                <a:cxn ang="0">
                  <a:pos x="2147483647" y="2147483647"/>
                </a:cxn>
                <a:cxn ang="0">
                  <a:pos x="2147483647" y="253720953"/>
                </a:cxn>
                <a:cxn ang="0">
                  <a:pos x="2147483647" y="2147483647"/>
                </a:cxn>
              </a:cxnLst>
              <a:pathLst>
                <a:path w="4500" h="2678">
                  <a:moveTo>
                    <a:pt x="0" y="2678"/>
                  </a:moveTo>
                  <a:cubicBezTo>
                    <a:pt x="420" y="2470"/>
                    <a:pt x="840" y="2262"/>
                    <a:pt x="1260" y="1898"/>
                  </a:cubicBezTo>
                  <a:cubicBezTo>
                    <a:pt x="1680" y="1534"/>
                    <a:pt x="2160" y="806"/>
                    <a:pt x="2520" y="494"/>
                  </a:cubicBezTo>
                  <a:cubicBezTo>
                    <a:pt x="2880" y="182"/>
                    <a:pt x="3090" y="0"/>
                    <a:pt x="3420" y="26"/>
                  </a:cubicBezTo>
                  <a:cubicBezTo>
                    <a:pt x="3750" y="52"/>
                    <a:pt x="4320" y="546"/>
                    <a:pt x="4500" y="650"/>
                  </a:cubicBezTo>
                </a:path>
              </a:pathLst>
            </a:custGeom>
            <a:noFill/>
            <a:ln w="9525" cap="flat" cmpd="sng">
              <a:solidFill>
                <a:srgbClr val="000000"/>
              </a:solidFill>
              <a:prstDash val="solid"/>
              <a:round/>
              <a:headEnd type="none" w="med" len="med"/>
              <a:tailEnd type="none" w="med" len="med"/>
            </a:ln>
          </p:spPr>
          <p:txBody>
            <a:bodyPr/>
            <a:p>
              <a:endParaRPr lang="zh-CN" altLang="en-US"/>
            </a:p>
          </p:txBody>
        </p:sp>
        <p:sp>
          <p:nvSpPr>
            <p:cNvPr id="41999" name="直线 1028"/>
            <p:cNvSpPr/>
            <p:nvPr/>
          </p:nvSpPr>
          <p:spPr>
            <a:xfrm>
              <a:off x="13713" y="19811"/>
              <a:ext cx="8" cy="5943"/>
            </a:xfrm>
            <a:prstGeom prst="line">
              <a:avLst/>
            </a:prstGeom>
            <a:ln w="9525" cap="flat" cmpd="sng">
              <a:solidFill>
                <a:srgbClr val="000000"/>
              </a:solidFill>
              <a:prstDash val="dash"/>
              <a:round/>
              <a:headEnd type="none" w="med" len="med"/>
              <a:tailEnd type="none" w="med" len="med"/>
            </a:ln>
          </p:spPr>
        </p:sp>
        <p:sp>
          <p:nvSpPr>
            <p:cNvPr id="42000" name="直线 1029"/>
            <p:cNvSpPr/>
            <p:nvPr/>
          </p:nvSpPr>
          <p:spPr>
            <a:xfrm>
              <a:off x="21717" y="10893"/>
              <a:ext cx="7" cy="14861"/>
            </a:xfrm>
            <a:prstGeom prst="line">
              <a:avLst/>
            </a:prstGeom>
            <a:ln w="9525" cap="flat" cmpd="sng">
              <a:solidFill>
                <a:srgbClr val="000000"/>
              </a:solidFill>
              <a:prstDash val="dash"/>
              <a:round/>
              <a:headEnd type="none" w="med" len="med"/>
              <a:tailEnd type="none" w="med" len="med"/>
            </a:ln>
          </p:spPr>
        </p:sp>
        <p:sp>
          <p:nvSpPr>
            <p:cNvPr id="42001" name="直线 1030"/>
            <p:cNvSpPr/>
            <p:nvPr/>
          </p:nvSpPr>
          <p:spPr>
            <a:xfrm>
              <a:off x="30859" y="6610"/>
              <a:ext cx="11" cy="19145"/>
            </a:xfrm>
            <a:prstGeom prst="line">
              <a:avLst/>
            </a:prstGeom>
            <a:ln w="9525" cap="flat" cmpd="sng">
              <a:solidFill>
                <a:srgbClr val="000000"/>
              </a:solidFill>
              <a:prstDash val="dash"/>
              <a:round/>
              <a:headEnd type="none" w="med" len="med"/>
              <a:tailEnd type="none" w="med" len="med"/>
            </a:ln>
          </p:spPr>
        </p:sp>
        <p:sp>
          <p:nvSpPr>
            <p:cNvPr id="42002" name="文本框 1031"/>
            <p:cNvSpPr txBox="1"/>
            <p:nvPr/>
          </p:nvSpPr>
          <p:spPr>
            <a:xfrm>
              <a:off x="6862" y="22682"/>
              <a:ext cx="7271" cy="2952"/>
            </a:xfrm>
            <a:prstGeom prst="rect">
              <a:avLst/>
            </a:prstGeom>
            <a:noFill/>
            <a:ln w="9525">
              <a:noFill/>
            </a:ln>
          </p:spPr>
          <p:txBody>
            <a:bodyPr anchor="t" anchorCtr="0"/>
            <a:p>
              <a:pPr eaLnBrk="0" hangingPunct="0">
                <a:buSzTx/>
              </a:pPr>
              <a:r>
                <a:rPr lang="zh-CN" altLang="en-US">
                  <a:solidFill>
                    <a:srgbClr val="1570C1"/>
                  </a:solidFill>
                  <a:latin typeface="微软雅黑" panose="020B0503020204020204" pitchFamily="34" charset="-122"/>
                  <a:ea typeface="微软雅黑" panose="020B0503020204020204" pitchFamily="34" charset="-122"/>
                </a:rPr>
                <a:t>导入期</a:t>
              </a:r>
              <a:endParaRPr lang="zh-CN" altLang="en-US">
                <a:solidFill>
                  <a:srgbClr val="1570C1"/>
                </a:solidFill>
                <a:latin typeface="微软雅黑" panose="020B0503020204020204" pitchFamily="34" charset="-122"/>
                <a:ea typeface="微软雅黑" panose="020B0503020204020204" pitchFamily="34" charset="-122"/>
              </a:endParaRPr>
            </a:p>
            <a:p>
              <a:pPr eaLnBrk="0" hangingPunct="0">
                <a:buSzTx/>
              </a:pPr>
              <a:endParaRPr lang="zh-CN" altLang="en-US">
                <a:solidFill>
                  <a:srgbClr val="1570C1"/>
                </a:solidFill>
                <a:latin typeface="微软雅黑" panose="020B0503020204020204" pitchFamily="34" charset="-122"/>
                <a:ea typeface="微软雅黑" panose="020B0503020204020204" pitchFamily="34" charset="-122"/>
              </a:endParaRPr>
            </a:p>
          </p:txBody>
        </p:sp>
        <p:sp>
          <p:nvSpPr>
            <p:cNvPr id="42003" name="文本框 1032"/>
            <p:cNvSpPr txBox="1"/>
            <p:nvPr/>
          </p:nvSpPr>
          <p:spPr>
            <a:xfrm>
              <a:off x="14172" y="22682"/>
              <a:ext cx="7271" cy="2952"/>
            </a:xfrm>
            <a:prstGeom prst="rect">
              <a:avLst/>
            </a:prstGeom>
            <a:noFill/>
            <a:ln w="9525">
              <a:noFill/>
            </a:ln>
          </p:spPr>
          <p:txBody>
            <a:bodyPr anchor="t" anchorCtr="0"/>
            <a:p>
              <a:pPr eaLnBrk="0" hangingPunct="0">
                <a:buSzTx/>
              </a:pPr>
              <a:r>
                <a:rPr lang="zh-CN" altLang="en-US">
                  <a:solidFill>
                    <a:srgbClr val="1570C1"/>
                  </a:solidFill>
                  <a:latin typeface="微软雅黑" panose="020B0503020204020204" pitchFamily="34" charset="-122"/>
                  <a:ea typeface="微软雅黑" panose="020B0503020204020204" pitchFamily="34" charset="-122"/>
                </a:rPr>
                <a:t>成长期</a:t>
              </a:r>
              <a:endParaRPr lang="zh-CN" altLang="en-US">
                <a:solidFill>
                  <a:srgbClr val="1570C1"/>
                </a:solidFill>
                <a:latin typeface="微软雅黑" panose="020B0503020204020204" pitchFamily="34" charset="-122"/>
                <a:ea typeface="微软雅黑" panose="020B0503020204020204" pitchFamily="34" charset="-122"/>
              </a:endParaRPr>
            </a:p>
            <a:p>
              <a:pPr eaLnBrk="0" hangingPunct="0">
                <a:buSzTx/>
              </a:pPr>
              <a:endParaRPr lang="zh-CN" altLang="en-US">
                <a:solidFill>
                  <a:srgbClr val="1570C1"/>
                </a:solidFill>
                <a:latin typeface="微软雅黑" panose="020B0503020204020204" pitchFamily="34" charset="-122"/>
                <a:ea typeface="微软雅黑" panose="020B0503020204020204" pitchFamily="34" charset="-122"/>
              </a:endParaRPr>
            </a:p>
          </p:txBody>
        </p:sp>
        <p:sp>
          <p:nvSpPr>
            <p:cNvPr id="42004" name="文本框 1033"/>
            <p:cNvSpPr txBox="1"/>
            <p:nvPr/>
          </p:nvSpPr>
          <p:spPr>
            <a:xfrm>
              <a:off x="22736" y="22682"/>
              <a:ext cx="7284" cy="2952"/>
            </a:xfrm>
            <a:prstGeom prst="rect">
              <a:avLst/>
            </a:prstGeom>
            <a:noFill/>
            <a:ln w="9525">
              <a:noFill/>
            </a:ln>
          </p:spPr>
          <p:txBody>
            <a:bodyPr anchor="t" anchorCtr="0"/>
            <a:p>
              <a:pPr eaLnBrk="0" hangingPunct="0">
                <a:buSzTx/>
              </a:pPr>
              <a:r>
                <a:rPr lang="zh-CN" altLang="en-US">
                  <a:solidFill>
                    <a:srgbClr val="1570C1"/>
                  </a:solidFill>
                  <a:latin typeface="微软雅黑" panose="020B0503020204020204" pitchFamily="34" charset="-122"/>
                  <a:ea typeface="微软雅黑" panose="020B0503020204020204" pitchFamily="34" charset="-122"/>
                </a:rPr>
                <a:t>成熟期</a:t>
              </a:r>
              <a:endParaRPr lang="zh-CN" altLang="en-US">
                <a:solidFill>
                  <a:srgbClr val="1570C1"/>
                </a:solidFill>
                <a:latin typeface="微软雅黑" panose="020B0503020204020204" pitchFamily="34" charset="-122"/>
                <a:ea typeface="微软雅黑" panose="020B0503020204020204" pitchFamily="34" charset="-122"/>
              </a:endParaRPr>
            </a:p>
            <a:p>
              <a:pPr eaLnBrk="0" hangingPunct="0">
                <a:buSzTx/>
              </a:pPr>
              <a:endParaRPr lang="zh-CN" altLang="en-US">
                <a:solidFill>
                  <a:srgbClr val="1570C1"/>
                </a:solidFill>
                <a:latin typeface="微软雅黑" panose="020B0503020204020204" pitchFamily="34" charset="-122"/>
                <a:ea typeface="微软雅黑" panose="020B0503020204020204" pitchFamily="34" charset="-122"/>
              </a:endParaRPr>
            </a:p>
          </p:txBody>
        </p:sp>
        <p:sp>
          <p:nvSpPr>
            <p:cNvPr id="42005" name="文本框 1034"/>
            <p:cNvSpPr txBox="1"/>
            <p:nvPr/>
          </p:nvSpPr>
          <p:spPr>
            <a:xfrm>
              <a:off x="32105" y="22682"/>
              <a:ext cx="7271" cy="2952"/>
            </a:xfrm>
            <a:prstGeom prst="rect">
              <a:avLst/>
            </a:prstGeom>
            <a:noFill/>
            <a:ln w="9525">
              <a:noFill/>
            </a:ln>
          </p:spPr>
          <p:txBody>
            <a:bodyPr anchor="t" anchorCtr="0"/>
            <a:p>
              <a:pPr eaLnBrk="0" hangingPunct="0">
                <a:buSzTx/>
              </a:pPr>
              <a:r>
                <a:rPr lang="zh-CN" altLang="en-US">
                  <a:solidFill>
                    <a:srgbClr val="1570C1"/>
                  </a:solidFill>
                  <a:latin typeface="微软雅黑" panose="020B0503020204020204" pitchFamily="34" charset="-122"/>
                  <a:ea typeface="微软雅黑" panose="020B0503020204020204" pitchFamily="34" charset="-122"/>
                </a:rPr>
                <a:t>衰退期</a:t>
              </a:r>
              <a:endParaRPr lang="zh-CN" altLang="en-US">
                <a:solidFill>
                  <a:srgbClr val="1570C1"/>
                </a:solidFill>
                <a:latin typeface="微软雅黑" panose="020B0503020204020204" pitchFamily="34" charset="-122"/>
                <a:ea typeface="微软雅黑" panose="020B0503020204020204" pitchFamily="34" charset="-122"/>
              </a:endParaRPr>
            </a:p>
            <a:p>
              <a:pPr eaLnBrk="0" hangingPunct="0">
                <a:buSzTx/>
              </a:pPr>
              <a:endParaRPr lang="zh-CN" altLang="en-US">
                <a:solidFill>
                  <a:srgbClr val="1570C1"/>
                </a:solidFill>
                <a:latin typeface="微软雅黑" panose="020B0503020204020204" pitchFamily="34" charset="-122"/>
                <a:ea typeface="微软雅黑" panose="020B0503020204020204" pitchFamily="34" charset="-122"/>
              </a:endParaRPr>
            </a:p>
          </p:txBody>
        </p:sp>
      </p:grpSp>
      <p:sp>
        <p:nvSpPr>
          <p:cNvPr id="25" name="矩形 24"/>
          <p:cNvSpPr/>
          <p:nvPr/>
        </p:nvSpPr>
        <p:spPr>
          <a:xfrm>
            <a:off x="7467600" y="4903788"/>
            <a:ext cx="2584450" cy="460375"/>
          </a:xfrm>
          <a:prstGeom prst="rect">
            <a:avLst/>
          </a:prstGeom>
          <a:noFill/>
          <a:ln w="9525">
            <a:noFill/>
          </a:ln>
        </p:spPr>
        <p:txBody>
          <a:bodyPr wrap="none" anchor="t" anchorCtr="0">
            <a:spAutoFit/>
          </a:bodyPr>
          <a:p>
            <a:pPr eaLnBrk="0" hangingPunct="0"/>
            <a:r>
              <a:rPr lang="zh-CN" altLang="en-US" sz="2400" dirty="0">
                <a:solidFill>
                  <a:srgbClr val="1570C1"/>
                </a:solidFill>
                <a:latin typeface="微软雅黑" panose="020B0503020204020204" pitchFamily="34" charset="-122"/>
                <a:ea typeface="微软雅黑" panose="020B0503020204020204" pitchFamily="34" charset="-122"/>
              </a:rPr>
              <a:t>图</a:t>
            </a:r>
            <a:r>
              <a:rPr lang="en-US" altLang="zh-CN" sz="2400" dirty="0">
                <a:solidFill>
                  <a:srgbClr val="1570C1"/>
                </a:solidFill>
                <a:latin typeface="微软雅黑" panose="020B0503020204020204" pitchFamily="34" charset="-122"/>
                <a:ea typeface="微软雅黑" panose="020B0503020204020204" pitchFamily="34" charset="-122"/>
              </a:rPr>
              <a:t>2 </a:t>
            </a:r>
            <a:r>
              <a:rPr lang="zh-CN" altLang="en-US" sz="2400" dirty="0">
                <a:solidFill>
                  <a:srgbClr val="1570C1"/>
                </a:solidFill>
                <a:latin typeface="微软雅黑" panose="020B0503020204020204" pitchFamily="34" charset="-122"/>
                <a:ea typeface="微软雅黑" panose="020B0503020204020204" pitchFamily="34" charset="-122"/>
              </a:rPr>
              <a:t>行业生命周期</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403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403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403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2.2  </a:t>
            </a:r>
            <a:r>
              <a:rPr lang="zh-CN" altLang="en-US" sz="3200" dirty="0">
                <a:solidFill>
                  <a:srgbClr val="1570C1"/>
                </a:solidFill>
                <a:latin typeface="微软雅黑" panose="020B0503020204020204" pitchFamily="34" charset="-122"/>
                <a:ea typeface="微软雅黑" panose="020B0503020204020204" pitchFamily="34" charset="-122"/>
              </a:rPr>
              <a:t>行业生命周期</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758825" y="1009650"/>
            <a:ext cx="10672763" cy="5322888"/>
          </a:xfrm>
          <a:prstGeom prst="rect">
            <a:avLst/>
          </a:prstGeom>
          <a:solidFill>
            <a:srgbClr val="57CAF4"/>
          </a:solidFill>
        </p:spPr>
        <p:txBody>
          <a:bodyPr>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导入期（萌芽期）</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这一时期的产品设计尚未成熟，行业利润率较低，市场增长率较高，需求增长较快，技术变动较大。行业中的企业主要致力于开辟新用户、占领市场，但此时技术上有很大的不确定性，在产品、市场、服务等策略上有很大的余地，对行业特点、行业竞争状况、用户特点等方面的信息掌握不多，进入壁垒较低。</a:t>
            </a:r>
            <a:endPar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成长期</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该行业已经形成并快速发展，市场增长率很高，需求高速增长，技术渐趋定型。行业特点、行业竞争状况及用户特点已比较明朗。企业进入壁垒提高，产品品种及竞争者数量增多。大多数企业因高增长率而在行业中继续存在。</a:t>
            </a:r>
            <a:endPar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成熟期</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这一时期的市场增长率不高，需求增长率不高，技术上已经成熟。行业特点、行业竞争状况及用户特点非常清楚和稳定。买方市场形成，行业盈利能力下降，竞争更加激烈，新产品和产品的新用途开发更为困难，行业进入壁垒很高。</a:t>
            </a:r>
            <a:endPar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衰退期</a:t>
            </a:r>
            <a:endParaRPr kumimoji="0"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       这一时期的行业生产能力会出现过剩现象，技术被模仿后出现的替代产品充斥市场，市场增长率严重下降，需求下降，产品品种及竞争者数目减少。行业活动水平随各公司从该行业退出而下降，该行业可能不复存在或被并入另一行业。</a:t>
            </a:r>
            <a:endParaRPr kumimoji="0" lang="zh-CN" altLang="en-US" sz="20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45210" y="636905"/>
            <a:ext cx="10288270" cy="54635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65835" y="727710"/>
            <a:ext cx="10419715" cy="540258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64895" y="485140"/>
            <a:ext cx="10212070" cy="56483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45210" y="502920"/>
            <a:ext cx="10301605" cy="571309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14900"/>
            <a:ext cx="12193588" cy="1954213"/>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36575"/>
            <a:ext cx="1495425" cy="538480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3</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44" name="文本框 12"/>
          <p:cNvSpPr txBox="1">
            <a:spLocks noChangeArrowheads="1"/>
          </p:cNvSpPr>
          <p:nvPr/>
        </p:nvSpPr>
        <p:spPr bwMode="auto">
          <a:xfrm>
            <a:off x="2762250" y="3646488"/>
            <a:ext cx="9429750" cy="119761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企业竞争结构</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4846638"/>
            <a:ext cx="5289550" cy="2103438"/>
          </a:xfrm>
          <a:prstGeom prst="rect">
            <a:avLst/>
          </a:prstGeom>
          <a:noFill/>
          <a:ln>
            <a:noFill/>
          </a:ln>
        </p:spPr>
        <p:txBody>
          <a:bodyPr wrap="square"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3.1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行业内现有厂商之间的竞争</a:t>
            </a:r>
            <a:endPar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3.2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潜在进入者的威胁</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3.3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来自替代品的竞争压力</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3.4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来自供应商的压力</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3.5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来自购买者的压力</a:t>
            </a:r>
            <a:endPar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3.6  </a:t>
            </a:r>
            <a:r>
              <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五力模型的战略意义</a:t>
            </a:r>
            <a:endParaRPr kumimoji="0" lang="zh-CN" altLang="en-US" sz="16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10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710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7111"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行业竞争结构分析</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画布 5002"/>
          <p:cNvGrpSpPr/>
          <p:nvPr/>
        </p:nvGrpSpPr>
        <p:grpSpPr>
          <a:xfrm>
            <a:off x="2182813" y="1184275"/>
            <a:ext cx="7834312" cy="4891088"/>
            <a:chOff x="5435" y="920"/>
            <a:chExt cx="42755" cy="26696"/>
          </a:xfrm>
        </p:grpSpPr>
        <p:sp>
          <p:nvSpPr>
            <p:cNvPr id="47113" name="文本框 1193"/>
            <p:cNvSpPr txBox="1"/>
            <p:nvPr/>
          </p:nvSpPr>
          <p:spPr>
            <a:xfrm>
              <a:off x="21043" y="7327"/>
              <a:ext cx="9818" cy="9424"/>
            </a:xfrm>
            <a:prstGeom prst="rect">
              <a:avLst/>
            </a:prstGeom>
            <a:solidFill>
              <a:srgbClr val="1570C1"/>
            </a:solidFill>
            <a:ln w="9525">
              <a:noFill/>
            </a:ln>
          </p:spPr>
          <p:txBody>
            <a:bodyPr anchor="ctr" anchorCtr="0"/>
            <a:p>
              <a:pPr algn="ctr" eaLnBrk="0" hangingPunct="0"/>
              <a:r>
                <a:rPr lang="zh-CN" altLang="zh-CN" sz="2000" dirty="0">
                  <a:solidFill>
                    <a:schemeClr val="bg1"/>
                  </a:solidFill>
                  <a:latin typeface="微软雅黑" panose="020B0503020204020204" pitchFamily="34" charset="-122"/>
                  <a:ea typeface="微软雅黑" panose="020B0503020204020204" pitchFamily="34" charset="-122"/>
                </a:rPr>
                <a:t>产业竞争对手</a:t>
              </a:r>
              <a:endParaRPr lang="zh-CN" altLang="zh-CN" sz="2000" dirty="0">
                <a:solidFill>
                  <a:schemeClr val="bg1"/>
                </a:solidFill>
                <a:latin typeface="微软雅黑" panose="020B0503020204020204" pitchFamily="34" charset="-122"/>
                <a:ea typeface="微软雅黑" panose="020B0503020204020204" pitchFamily="34" charset="-122"/>
              </a:endParaRPr>
            </a:p>
            <a:p>
              <a:pPr eaLnBrk="0" hangingPunct="0"/>
              <a:r>
                <a:rPr lang="zh-CN" altLang="en-US" sz="2000" dirty="0">
                  <a:solidFill>
                    <a:schemeClr val="bg1"/>
                  </a:solidFill>
                  <a:latin typeface="微软雅黑" panose="020B0503020204020204" pitchFamily="34" charset="-122"/>
                  <a:ea typeface="微软雅黑" panose="020B0503020204020204" pitchFamily="34" charset="-122"/>
                </a:rPr>
                <a:t>       </a:t>
              </a:r>
              <a:endParaRPr lang="en-US" altLang="zh-CN" sz="2000" dirty="0">
                <a:solidFill>
                  <a:schemeClr val="bg1"/>
                </a:solidFill>
                <a:latin typeface="微软雅黑" panose="020B0503020204020204" pitchFamily="34" charset="-122"/>
                <a:ea typeface="微软雅黑" panose="020B0503020204020204" pitchFamily="34" charset="-122"/>
              </a:endParaRPr>
            </a:p>
            <a:p>
              <a:pPr eaLnBrk="0" hangingPunct="0"/>
              <a:endParaRPr lang="zh-CN" altLang="en-US" sz="2000" dirty="0">
                <a:solidFill>
                  <a:schemeClr val="bg1"/>
                </a:solidFill>
                <a:latin typeface="微软雅黑" panose="020B0503020204020204" pitchFamily="34" charset="-122"/>
                <a:ea typeface="微软雅黑" panose="020B0503020204020204" pitchFamily="34" charset="-122"/>
              </a:endParaRPr>
            </a:p>
            <a:p>
              <a:pPr algn="ctr" eaLnBrk="0" hangingPunct="0"/>
              <a:r>
                <a:rPr lang="zh-CN" altLang="en-US" sz="2000" dirty="0">
                  <a:solidFill>
                    <a:schemeClr val="bg1"/>
                  </a:solidFill>
                  <a:latin typeface="微软雅黑" panose="020B0503020204020204" pitchFamily="34" charset="-122"/>
                  <a:ea typeface="微软雅黑" panose="020B0503020204020204" pitchFamily="34" charset="-122"/>
                </a:rPr>
                <a:t>现有公司间的竞争</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47114" name="文本框 1200"/>
            <p:cNvSpPr txBox="1"/>
            <p:nvPr/>
          </p:nvSpPr>
          <p:spPr>
            <a:xfrm>
              <a:off x="41624" y="9353"/>
              <a:ext cx="6566" cy="2908"/>
            </a:xfrm>
            <a:prstGeom prst="rect">
              <a:avLst/>
            </a:prstGeom>
            <a:solidFill>
              <a:srgbClr val="1570C1"/>
            </a:solidFill>
            <a:ln w="9525">
              <a:noFill/>
            </a:ln>
          </p:spPr>
          <p:txBody>
            <a:bodyPr anchor="ctr" anchorCtr="0"/>
            <a:p>
              <a:pPr algn="ctr" eaLnBrk="0" hangingPunct="0"/>
              <a:r>
                <a:rPr lang="zh-CN" altLang="zh-CN" sz="2000" dirty="0">
                  <a:solidFill>
                    <a:schemeClr val="bg1"/>
                  </a:solidFill>
                  <a:latin typeface="微软雅黑" panose="020B0503020204020204" pitchFamily="34" charset="-122"/>
                  <a:ea typeface="微软雅黑" panose="020B0503020204020204" pitchFamily="34" charset="-122"/>
                </a:rPr>
                <a:t>买方</a:t>
              </a:r>
              <a:endParaRPr lang="zh-CN" altLang="zh-CN" sz="2000" dirty="0">
                <a:solidFill>
                  <a:schemeClr val="bg1"/>
                </a:solidFill>
                <a:latin typeface="微软雅黑" panose="020B0503020204020204" pitchFamily="34" charset="-122"/>
                <a:ea typeface="微软雅黑" panose="020B0503020204020204" pitchFamily="34" charset="-122"/>
              </a:endParaRPr>
            </a:p>
          </p:txBody>
        </p:sp>
        <p:sp>
          <p:nvSpPr>
            <p:cNvPr id="47115" name="文本框 1201"/>
            <p:cNvSpPr txBox="1"/>
            <p:nvPr/>
          </p:nvSpPr>
          <p:spPr>
            <a:xfrm>
              <a:off x="5435" y="9353"/>
              <a:ext cx="5137" cy="2908"/>
            </a:xfrm>
            <a:prstGeom prst="rect">
              <a:avLst/>
            </a:prstGeom>
            <a:solidFill>
              <a:srgbClr val="1570C1"/>
            </a:solidFill>
            <a:ln w="9525">
              <a:noFill/>
            </a:ln>
          </p:spPr>
          <p:txBody>
            <a:bodyPr anchor="ctr" anchorCtr="0"/>
            <a:p>
              <a:pPr algn="ctr" eaLnBrk="0" hangingPunct="0"/>
              <a:r>
                <a:rPr lang="zh-CN" altLang="zh-CN" sz="2000" dirty="0">
                  <a:solidFill>
                    <a:schemeClr val="bg1"/>
                  </a:solidFill>
                  <a:latin typeface="微软雅黑" panose="020B0503020204020204" pitchFamily="34" charset="-122"/>
                  <a:ea typeface="微软雅黑" panose="020B0503020204020204" pitchFamily="34" charset="-122"/>
                </a:rPr>
                <a:t>供方</a:t>
              </a:r>
              <a:endParaRPr lang="zh-CN" altLang="zh-CN" sz="2000" dirty="0">
                <a:solidFill>
                  <a:schemeClr val="bg1"/>
                </a:solidFill>
                <a:latin typeface="微软雅黑" panose="020B0503020204020204" pitchFamily="34" charset="-122"/>
                <a:ea typeface="微软雅黑" panose="020B0503020204020204" pitchFamily="34" charset="-122"/>
              </a:endParaRPr>
            </a:p>
          </p:txBody>
        </p:sp>
        <p:sp>
          <p:nvSpPr>
            <p:cNvPr id="47116" name="文本框 1202"/>
            <p:cNvSpPr txBox="1"/>
            <p:nvPr/>
          </p:nvSpPr>
          <p:spPr>
            <a:xfrm>
              <a:off x="21729" y="920"/>
              <a:ext cx="7995" cy="3169"/>
            </a:xfrm>
            <a:prstGeom prst="rect">
              <a:avLst/>
            </a:prstGeom>
            <a:solidFill>
              <a:srgbClr val="1570C1"/>
            </a:solidFill>
            <a:ln w="9525">
              <a:noFill/>
            </a:ln>
          </p:spPr>
          <p:txBody>
            <a:bodyPr anchor="ctr" anchorCtr="0"/>
            <a:p>
              <a:pPr algn="ctr" eaLnBrk="0" hangingPunct="0"/>
              <a:r>
                <a:rPr lang="zh-CN" altLang="zh-CN" sz="2000" dirty="0">
                  <a:solidFill>
                    <a:schemeClr val="bg1"/>
                  </a:solidFill>
                  <a:latin typeface="微软雅黑" panose="020B0503020204020204" pitchFamily="34" charset="-122"/>
                  <a:ea typeface="微软雅黑" panose="020B0503020204020204" pitchFamily="34" charset="-122"/>
                </a:rPr>
                <a:t>潜在进入者</a:t>
              </a:r>
              <a:endParaRPr lang="zh-CN" altLang="zh-CN" sz="2000" dirty="0">
                <a:solidFill>
                  <a:schemeClr val="bg1"/>
                </a:solidFill>
                <a:latin typeface="微软雅黑" panose="020B0503020204020204" pitchFamily="34" charset="-122"/>
                <a:ea typeface="微软雅黑" panose="020B0503020204020204" pitchFamily="34" charset="-122"/>
              </a:endParaRPr>
            </a:p>
          </p:txBody>
        </p:sp>
        <p:sp>
          <p:nvSpPr>
            <p:cNvPr id="47117" name="文本框 1203"/>
            <p:cNvSpPr txBox="1"/>
            <p:nvPr/>
          </p:nvSpPr>
          <p:spPr>
            <a:xfrm>
              <a:off x="21729" y="21069"/>
              <a:ext cx="8001" cy="2737"/>
            </a:xfrm>
            <a:prstGeom prst="rect">
              <a:avLst/>
            </a:prstGeom>
            <a:solidFill>
              <a:srgbClr val="1570C1"/>
            </a:solidFill>
            <a:ln w="9525">
              <a:noFill/>
            </a:ln>
          </p:spPr>
          <p:txBody>
            <a:bodyPr anchor="ctr" anchorCtr="0"/>
            <a:p>
              <a:pPr algn="ctr" eaLnBrk="0" hangingPunct="0"/>
              <a:r>
                <a:rPr lang="zh-CN" altLang="zh-CN" sz="2000" dirty="0">
                  <a:solidFill>
                    <a:schemeClr val="bg1"/>
                  </a:solidFill>
                  <a:latin typeface="微软雅黑" panose="020B0503020204020204" pitchFamily="34" charset="-122"/>
                  <a:ea typeface="微软雅黑" panose="020B0503020204020204" pitchFamily="34" charset="-122"/>
                </a:rPr>
                <a:t>替代品</a:t>
              </a:r>
              <a:endParaRPr lang="zh-CN" altLang="zh-CN" sz="2000" dirty="0">
                <a:solidFill>
                  <a:schemeClr val="bg1"/>
                </a:solidFill>
                <a:latin typeface="微软雅黑" panose="020B0503020204020204" pitchFamily="34" charset="-122"/>
                <a:ea typeface="微软雅黑" panose="020B0503020204020204" pitchFamily="34" charset="-122"/>
              </a:endParaRPr>
            </a:p>
          </p:txBody>
        </p:sp>
        <p:sp>
          <p:nvSpPr>
            <p:cNvPr id="47118" name="文本框 1205"/>
            <p:cNvSpPr txBox="1"/>
            <p:nvPr/>
          </p:nvSpPr>
          <p:spPr>
            <a:xfrm>
              <a:off x="12573" y="24644"/>
              <a:ext cx="26289" cy="2972"/>
            </a:xfrm>
            <a:prstGeom prst="rect">
              <a:avLst/>
            </a:prstGeom>
            <a:noFill/>
            <a:ln w="9525">
              <a:noFill/>
            </a:ln>
          </p:spPr>
          <p:txBody>
            <a:bodyPr anchor="ctr" anchorCtr="0"/>
            <a:p>
              <a:pPr algn="ctr" eaLnBrk="0" hangingPunct="0"/>
              <a:r>
                <a:rPr lang="zh-CN" altLang="zh-CN" sz="2400" dirty="0">
                  <a:solidFill>
                    <a:srgbClr val="1570C1"/>
                  </a:solidFill>
                  <a:latin typeface="微软雅黑" panose="020B0503020204020204" pitchFamily="34" charset="-122"/>
                  <a:ea typeface="微软雅黑" panose="020B0503020204020204" pitchFamily="34" charset="-122"/>
                </a:rPr>
                <a:t>图</a:t>
              </a:r>
              <a:r>
                <a:rPr lang="en-US" altLang="zh-CN" sz="2400" dirty="0">
                  <a:solidFill>
                    <a:srgbClr val="1570C1"/>
                  </a:solidFill>
                  <a:latin typeface="微软雅黑" panose="020B0503020204020204" pitchFamily="34" charset="-122"/>
                  <a:ea typeface="微软雅黑" panose="020B0503020204020204" pitchFamily="34" charset="-122"/>
                </a:rPr>
                <a:t>3   </a:t>
              </a:r>
              <a:r>
                <a:rPr lang="zh-CN" altLang="en-US" sz="2400" dirty="0">
                  <a:solidFill>
                    <a:srgbClr val="1570C1"/>
                  </a:solidFill>
                  <a:latin typeface="微软雅黑" panose="020B0503020204020204" pitchFamily="34" charset="-122"/>
                  <a:ea typeface="微软雅黑" panose="020B0503020204020204" pitchFamily="34" charset="-122"/>
                </a:rPr>
                <a:t>驱动产业竞争的力量</a:t>
              </a:r>
              <a:endParaRPr lang="zh-CN" altLang="en-US" sz="2400" dirty="0">
                <a:solidFill>
                  <a:srgbClr val="1570C1"/>
                </a:solidFill>
                <a:latin typeface="微软雅黑" panose="020B0503020204020204" pitchFamily="34" charset="-122"/>
                <a:ea typeface="微软雅黑" panose="020B0503020204020204" pitchFamily="34" charset="-122"/>
              </a:endParaRPr>
            </a:p>
            <a:p>
              <a:pPr algn="ctr" eaLnBrk="0" hangingPunct="0"/>
              <a:r>
                <a:rPr lang="zh-CN" altLang="en-US" sz="2400" dirty="0">
                  <a:solidFill>
                    <a:srgbClr val="1570C1"/>
                  </a:solidFill>
                  <a:latin typeface="微软雅黑" panose="020B0503020204020204" pitchFamily="34" charset="-122"/>
                  <a:ea typeface="微软雅黑" panose="020B0503020204020204" pitchFamily="34" charset="-122"/>
                </a:rPr>
                <a:t>（波特的五力竞争模型）</a:t>
              </a:r>
              <a:endParaRPr lang="zh-CN" altLang="en-US" sz="2400" dirty="0">
                <a:solidFill>
                  <a:srgbClr val="1570C1"/>
                </a:solidFill>
                <a:latin typeface="微软雅黑" panose="020B0503020204020204" pitchFamily="34" charset="-122"/>
                <a:ea typeface="微软雅黑" panose="020B0503020204020204" pitchFamily="34" charset="-122"/>
              </a:endParaRPr>
            </a:p>
          </p:txBody>
        </p:sp>
        <p:sp>
          <p:nvSpPr>
            <p:cNvPr id="47119" name="直线 1206"/>
            <p:cNvSpPr/>
            <p:nvPr/>
          </p:nvSpPr>
          <p:spPr>
            <a:xfrm>
              <a:off x="25717" y="4089"/>
              <a:ext cx="6" cy="3238"/>
            </a:xfrm>
            <a:prstGeom prst="line">
              <a:avLst/>
            </a:prstGeom>
            <a:ln w="9525" cap="flat" cmpd="sng">
              <a:solidFill>
                <a:srgbClr val="000000"/>
              </a:solidFill>
              <a:prstDash val="solid"/>
              <a:round/>
              <a:headEnd type="none" w="med" len="med"/>
              <a:tailEnd type="triangle" w="med" len="med"/>
            </a:ln>
          </p:spPr>
        </p:sp>
        <p:sp>
          <p:nvSpPr>
            <p:cNvPr id="47120" name="直线 1207"/>
            <p:cNvSpPr/>
            <p:nvPr/>
          </p:nvSpPr>
          <p:spPr>
            <a:xfrm flipV="1">
              <a:off x="25711" y="16751"/>
              <a:ext cx="6" cy="4318"/>
            </a:xfrm>
            <a:prstGeom prst="line">
              <a:avLst/>
            </a:prstGeom>
            <a:ln w="9525" cap="flat" cmpd="sng">
              <a:solidFill>
                <a:srgbClr val="000000"/>
              </a:solidFill>
              <a:prstDash val="solid"/>
              <a:round/>
              <a:headEnd type="none" w="med" len="med"/>
              <a:tailEnd type="triangle" w="med" len="med"/>
            </a:ln>
          </p:spPr>
        </p:sp>
        <p:sp>
          <p:nvSpPr>
            <p:cNvPr id="47121" name="直线 1208"/>
            <p:cNvSpPr/>
            <p:nvPr/>
          </p:nvSpPr>
          <p:spPr>
            <a:xfrm>
              <a:off x="10572" y="10928"/>
              <a:ext cx="10471" cy="13"/>
            </a:xfrm>
            <a:prstGeom prst="line">
              <a:avLst/>
            </a:prstGeom>
            <a:ln w="9525" cap="flat" cmpd="sng">
              <a:solidFill>
                <a:srgbClr val="000000"/>
              </a:solidFill>
              <a:prstDash val="solid"/>
              <a:round/>
              <a:headEnd type="none" w="med" len="med"/>
              <a:tailEnd type="triangle" w="med" len="med"/>
            </a:ln>
          </p:spPr>
        </p:sp>
        <p:sp>
          <p:nvSpPr>
            <p:cNvPr id="47122" name="直线 1209"/>
            <p:cNvSpPr/>
            <p:nvPr/>
          </p:nvSpPr>
          <p:spPr>
            <a:xfrm flipH="1" flipV="1">
              <a:off x="30861" y="10934"/>
              <a:ext cx="10763" cy="7"/>
            </a:xfrm>
            <a:prstGeom prst="line">
              <a:avLst/>
            </a:prstGeom>
            <a:ln w="9525" cap="flat" cmpd="sng">
              <a:solidFill>
                <a:srgbClr val="000000"/>
              </a:solidFill>
              <a:prstDash val="solid"/>
              <a:round/>
              <a:headEnd type="none" w="med" len="med"/>
              <a:tailEnd type="triangle" w="med" len="med"/>
            </a:ln>
          </p:spPr>
        </p:sp>
        <p:sp>
          <p:nvSpPr>
            <p:cNvPr id="47123" name="自选图形 1337"/>
            <p:cNvSpPr/>
            <p:nvPr/>
          </p:nvSpPr>
          <p:spPr>
            <a:xfrm>
              <a:off x="23770" y="10371"/>
              <a:ext cx="3810" cy="1733"/>
            </a:xfrm>
            <a:prstGeom prst="curvedUpArrow">
              <a:avLst>
                <a:gd name="adj1" fmla="val 43969"/>
                <a:gd name="adj2" fmla="val 87939"/>
                <a:gd name="adj3" fmla="val 33263"/>
              </a:avLst>
            </a:prstGeom>
            <a:solidFill>
              <a:srgbClr val="9CBEE0">
                <a:alpha val="0"/>
              </a:srgbClr>
            </a:solidFill>
            <a:ln w="9525" cap="flat" cmpd="sng">
              <a:solidFill>
                <a:schemeClr val="bg1"/>
              </a:solidFill>
              <a:prstDash val="solid"/>
              <a:miter/>
              <a:headEnd type="none" w="med" len="med"/>
              <a:tailEnd type="none" w="med" len="med"/>
            </a:ln>
          </p:spPr>
          <p:txBody>
            <a:bodyPr anchor="ctr" anchorCtr="0"/>
            <a:p>
              <a:pPr eaLnBrk="0" hangingPunct="0"/>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47124" name="文本框 1340"/>
            <p:cNvSpPr txBox="1"/>
            <p:nvPr/>
          </p:nvSpPr>
          <p:spPr>
            <a:xfrm>
              <a:off x="31565" y="7679"/>
              <a:ext cx="9620" cy="2763"/>
            </a:xfrm>
            <a:prstGeom prst="rect">
              <a:avLst/>
            </a:prstGeom>
            <a:solidFill>
              <a:srgbClr val="57CAF4">
                <a:alpha val="0"/>
              </a:srgbClr>
            </a:solidFill>
            <a:ln w="9525">
              <a:noFill/>
            </a:ln>
          </p:spPr>
          <p:txBody>
            <a:bodyPr anchor="ctr" anchorCtr="0"/>
            <a:p>
              <a:pPr algn="ctr" eaLnBrk="0" hangingPunct="0"/>
              <a:r>
                <a:rPr lang="zh-CN" altLang="zh-CN" sz="2000" dirty="0">
                  <a:solidFill>
                    <a:srgbClr val="1570C1"/>
                  </a:solidFill>
                  <a:latin typeface="微软雅黑" panose="020B0503020204020204" pitchFamily="34" charset="-122"/>
                  <a:ea typeface="微软雅黑" panose="020B0503020204020204" pitchFamily="34" charset="-122"/>
                </a:rPr>
                <a:t>买方谈判能力</a:t>
              </a:r>
              <a:endParaRPr lang="zh-CN" altLang="zh-CN" sz="2000" dirty="0">
                <a:solidFill>
                  <a:srgbClr val="1570C1"/>
                </a:solidFill>
                <a:latin typeface="微软雅黑" panose="020B0503020204020204" pitchFamily="34" charset="-122"/>
                <a:ea typeface="微软雅黑" panose="020B0503020204020204" pitchFamily="34" charset="-122"/>
              </a:endParaRPr>
            </a:p>
          </p:txBody>
        </p:sp>
        <p:sp>
          <p:nvSpPr>
            <p:cNvPr id="47125" name="文本框 1341"/>
            <p:cNvSpPr txBox="1"/>
            <p:nvPr/>
          </p:nvSpPr>
          <p:spPr>
            <a:xfrm>
              <a:off x="26470" y="17529"/>
              <a:ext cx="15268" cy="2762"/>
            </a:xfrm>
            <a:prstGeom prst="rect">
              <a:avLst/>
            </a:prstGeom>
            <a:solidFill>
              <a:srgbClr val="57CAF4">
                <a:alpha val="0"/>
              </a:srgbClr>
            </a:solidFill>
            <a:ln w="9525">
              <a:noFill/>
            </a:ln>
          </p:spPr>
          <p:txBody>
            <a:bodyPr anchor="ctr" anchorCtr="0"/>
            <a:p>
              <a:pPr algn="ctr" eaLnBrk="0" hangingPunct="0"/>
              <a:r>
                <a:rPr lang="zh-CN" altLang="zh-CN" sz="2000" dirty="0">
                  <a:solidFill>
                    <a:srgbClr val="1570C1"/>
                  </a:solidFill>
                  <a:latin typeface="微软雅黑" panose="020B0503020204020204" pitchFamily="34" charset="-122"/>
                  <a:ea typeface="微软雅黑" panose="020B0503020204020204" pitchFamily="34" charset="-122"/>
                </a:rPr>
                <a:t>替代产品或服务的威胁</a:t>
              </a:r>
              <a:endParaRPr lang="zh-CN" altLang="zh-CN" sz="2000" dirty="0">
                <a:solidFill>
                  <a:srgbClr val="1570C1"/>
                </a:solidFill>
                <a:latin typeface="微软雅黑" panose="020B0503020204020204" pitchFamily="34" charset="-122"/>
                <a:ea typeface="微软雅黑" panose="020B0503020204020204" pitchFamily="34" charset="-122"/>
              </a:endParaRPr>
            </a:p>
          </p:txBody>
        </p:sp>
        <p:sp>
          <p:nvSpPr>
            <p:cNvPr id="47126" name="文本框 1339"/>
            <p:cNvSpPr txBox="1"/>
            <p:nvPr/>
          </p:nvSpPr>
          <p:spPr>
            <a:xfrm>
              <a:off x="10800" y="7608"/>
              <a:ext cx="9804" cy="2763"/>
            </a:xfrm>
            <a:prstGeom prst="rect">
              <a:avLst/>
            </a:prstGeom>
            <a:solidFill>
              <a:srgbClr val="57CAF4">
                <a:alpha val="0"/>
              </a:srgbClr>
            </a:solidFill>
            <a:ln w="9525">
              <a:noFill/>
            </a:ln>
          </p:spPr>
          <p:txBody>
            <a:bodyPr anchor="ctr" anchorCtr="0"/>
            <a:p>
              <a:pPr algn="ctr" eaLnBrk="0" hangingPunct="0"/>
              <a:r>
                <a:rPr lang="zh-CN" altLang="zh-CN" sz="2000" dirty="0">
                  <a:solidFill>
                    <a:srgbClr val="1570C1"/>
                  </a:solidFill>
                  <a:latin typeface="微软雅黑" panose="020B0503020204020204" pitchFamily="34" charset="-122"/>
                  <a:ea typeface="微软雅黑" panose="020B0503020204020204" pitchFamily="34" charset="-122"/>
                </a:rPr>
                <a:t>供方谈判能力</a:t>
              </a:r>
              <a:endParaRPr lang="zh-CN" altLang="zh-CN" sz="2000" dirty="0">
                <a:solidFill>
                  <a:srgbClr val="1570C1"/>
                </a:solidFill>
                <a:latin typeface="微软雅黑" panose="020B0503020204020204" pitchFamily="34" charset="-122"/>
                <a:ea typeface="微软雅黑" panose="020B0503020204020204" pitchFamily="34" charset="-122"/>
              </a:endParaRPr>
            </a:p>
          </p:txBody>
        </p:sp>
      </p:grpSp>
      <p:sp>
        <p:nvSpPr>
          <p:cNvPr id="47127" name="文本框 1341"/>
          <p:cNvSpPr txBox="1"/>
          <p:nvPr/>
        </p:nvSpPr>
        <p:spPr>
          <a:xfrm>
            <a:off x="3240088" y="1808163"/>
            <a:ext cx="2797175" cy="506412"/>
          </a:xfrm>
          <a:prstGeom prst="rect">
            <a:avLst/>
          </a:prstGeom>
          <a:solidFill>
            <a:srgbClr val="57CAF4">
              <a:alpha val="0"/>
            </a:srgbClr>
          </a:solidFill>
          <a:ln w="9525">
            <a:noFill/>
          </a:ln>
        </p:spPr>
        <p:txBody>
          <a:bodyPr anchor="ctr" anchorCtr="0"/>
          <a:p>
            <a:pPr algn="ctr" eaLnBrk="0" hangingPunct="0"/>
            <a:r>
              <a:rPr lang="zh-CN" altLang="zh-CN" sz="2000" dirty="0">
                <a:solidFill>
                  <a:srgbClr val="1570C1"/>
                </a:solidFill>
                <a:latin typeface="微软雅黑" panose="020B0503020204020204" pitchFamily="34" charset="-122"/>
                <a:ea typeface="微软雅黑" panose="020B0503020204020204" pitchFamily="34" charset="-122"/>
              </a:rPr>
              <a:t>新进入者的威胁</a:t>
            </a:r>
            <a:endParaRPr lang="zh-CN" altLang="zh-CN" sz="20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915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4915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49159"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3.1  </a:t>
            </a:r>
            <a:r>
              <a:rPr lang="zh-CN" altLang="en-US" sz="3200" dirty="0">
                <a:solidFill>
                  <a:srgbClr val="1570C1"/>
                </a:solidFill>
                <a:latin typeface="微软雅黑" panose="020B0503020204020204" pitchFamily="34" charset="-122"/>
                <a:ea typeface="微软雅黑" panose="020B0503020204020204" pitchFamily="34" charset="-122"/>
              </a:rPr>
              <a:t>行业内现有厂商之间的竞争</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2719388" y="1225550"/>
            <a:ext cx="6724650" cy="4832350"/>
          </a:xfrm>
          <a:prstGeom prst="rect">
            <a:avLst/>
          </a:prstGeom>
          <a:solidFill>
            <a:srgbClr val="1570C1"/>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现有厂商的数量和规模</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市场需求增长速度的快慢</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固定成本或库存成本的高低</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品牌忠诚度及顾客转换成本的大小</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行业内厂商对其现有市场地位的满意度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退出壁垒的高低</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专用性资产</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退出的费用高</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和公司其他业务的战略关系密切</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感情障碍</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政府和社会的限制</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06525" y="612775"/>
            <a:ext cx="9378950" cy="56324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120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1207"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3.2  </a:t>
            </a:r>
            <a:r>
              <a:rPr lang="zh-CN" altLang="en-US" sz="3200" dirty="0">
                <a:solidFill>
                  <a:srgbClr val="1570C1"/>
                </a:solidFill>
                <a:latin typeface="微软雅黑" panose="020B0503020204020204" pitchFamily="34" charset="-122"/>
                <a:ea typeface="微软雅黑" panose="020B0503020204020204" pitchFamily="34" charset="-122"/>
              </a:rPr>
              <a:t>潜在进入者的威胁</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936625" y="1009650"/>
            <a:ext cx="10353675" cy="5692775"/>
          </a:xfrm>
          <a:prstGeom prst="rect">
            <a:avLst/>
          </a:prstGeom>
          <a:solidFill>
            <a:srgbClr val="1570C1"/>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进入壁垒的高低</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规模经济（随着经营规模扩大，单位产品成本下降的产业特性。产业最低有效规模越高，进入障碍越大）</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产品差别化及顾客忠诚度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技术复杂程度及专利保护</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学习曲线（随着时间推移，单位产品成本下降的产业特性）</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资源要求</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与规模无关的成本劣势（专有产品技术、原材料来源优势、地点优势、政府补贴、学习曲线等）</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分销渠道</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政府政策及有关法律限制</a:t>
            </a:r>
            <a:endParaRPr lang="zh-CN" altLang="en-US" sz="2800"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chemeClr val="bg1"/>
                </a:solidFill>
                <a:latin typeface="微软雅黑" panose="020B0503020204020204" pitchFamily="34" charset="-122"/>
                <a:ea typeface="微软雅黑" panose="020B0503020204020204" pitchFamily="34" charset="-122"/>
              </a:rPr>
              <a:t>关税及国际贸易方面的限制</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现有厂商的预期反应</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12850" y="310515"/>
            <a:ext cx="9806305" cy="58985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4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325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3255"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3.3  </a:t>
            </a:r>
            <a:r>
              <a:rPr lang="zh-CN" altLang="en-US" sz="3200" dirty="0">
                <a:solidFill>
                  <a:srgbClr val="1570C1"/>
                </a:solidFill>
                <a:latin typeface="微软雅黑" panose="020B0503020204020204" pitchFamily="34" charset="-122"/>
                <a:ea typeface="微软雅黑" panose="020B0503020204020204" pitchFamily="34" charset="-122"/>
              </a:rPr>
              <a:t>来自替代品的竞争压力</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0" name="矩形 9"/>
          <p:cNvSpPr/>
          <p:nvPr/>
        </p:nvSpPr>
        <p:spPr>
          <a:xfrm>
            <a:off x="2127250" y="2328863"/>
            <a:ext cx="7858125" cy="3322955"/>
          </a:xfrm>
          <a:prstGeom prst="rect">
            <a:avLst/>
          </a:prstGeom>
          <a:solidFill>
            <a:srgbClr val="1570C1"/>
          </a:solidFill>
          <a:ln w="9525">
            <a:noFill/>
          </a:ln>
        </p:spPr>
        <p:txBody>
          <a:bodyPr anchor="t" anchorCtr="0">
            <a:spAutoFit/>
          </a:bodyPr>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替代品在价格上的吸引力</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替代品在质量、性能和其他一些重要属性方面的满意程度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购买者转向替代品的转换成本</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需</a:t>
            </a:r>
            <a:r>
              <a:rPr lang="zh-CN" altLang="en-US" sz="2800" dirty="0">
                <a:solidFill>
                  <a:schemeClr val="bg1"/>
                </a:solidFill>
                <a:latin typeface="微软雅黑" panose="020B0503020204020204" pitchFamily="34" charset="-122"/>
                <a:ea typeface="微软雅黑" panose="020B0503020204020204" pitchFamily="34" charset="-122"/>
              </a:rPr>
              <a:t>求的交叉弹性系数</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41145" y="976630"/>
            <a:ext cx="9170035" cy="473519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529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530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5303"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3.4  </a:t>
            </a:r>
            <a:r>
              <a:rPr lang="zh-CN" altLang="en-US" sz="3200" dirty="0">
                <a:solidFill>
                  <a:srgbClr val="1570C1"/>
                </a:solidFill>
                <a:latin typeface="微软雅黑" panose="020B0503020204020204" pitchFamily="34" charset="-122"/>
                <a:ea typeface="微软雅黑" panose="020B0503020204020204" pitchFamily="34" charset="-122"/>
              </a:rPr>
              <a:t>来自供应商的压力</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0" name="矩形 9"/>
          <p:cNvSpPr/>
          <p:nvPr/>
        </p:nvSpPr>
        <p:spPr>
          <a:xfrm>
            <a:off x="2774950" y="1358900"/>
            <a:ext cx="6724650" cy="4541838"/>
          </a:xfrm>
          <a:prstGeom prst="rect">
            <a:avLst/>
          </a:prstGeom>
          <a:solidFill>
            <a:srgbClr val="1570C1"/>
          </a:solidFill>
          <a:ln w="9525">
            <a:noFill/>
          </a:ln>
        </p:spPr>
        <p:txBody>
          <a:bodyPr anchor="t" anchorCtr="0">
            <a:spAutoFit/>
          </a:bodyPr>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供应商的集中程度和本行业的集中程度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供应品可替代的程度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本行业对供应者的重要程度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供应者对本行业的重要程度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供应品的差异性和转变费用</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供应商前向一体化的可能性</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行业内企业后向一体化的可能性</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57020" y="539750"/>
            <a:ext cx="9425940" cy="5778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734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734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7351"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3.5  </a:t>
            </a:r>
            <a:r>
              <a:rPr lang="zh-CN" altLang="en-US" sz="3200" dirty="0">
                <a:solidFill>
                  <a:srgbClr val="1570C1"/>
                </a:solidFill>
                <a:latin typeface="微软雅黑" panose="020B0503020204020204" pitchFamily="34" charset="-122"/>
                <a:ea typeface="微软雅黑" panose="020B0503020204020204" pitchFamily="34" charset="-122"/>
              </a:rPr>
              <a:t>来自购买者的压力</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0" name="矩形 9"/>
          <p:cNvSpPr/>
          <p:nvPr/>
        </p:nvSpPr>
        <p:spPr>
          <a:xfrm>
            <a:off x="1760538" y="1320800"/>
            <a:ext cx="8542337" cy="4618038"/>
          </a:xfrm>
          <a:prstGeom prst="rect">
            <a:avLst/>
          </a:prstGeom>
          <a:solidFill>
            <a:srgbClr val="1570C1"/>
          </a:solidFill>
          <a:ln w="9525">
            <a:noFill/>
          </a:ln>
        </p:spPr>
        <p:txBody>
          <a:bodyPr anchor="t" anchorCtr="0">
            <a:spAutoFit/>
          </a:bodyPr>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购买者的集中程度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购买者从本行业购买产品的标准化程度</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购买者从本行业购买产品占其成本或购买额的比重</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购买者的转变费用</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购买者的盈利能力</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购买者采用后向联合的现实威胁</a:t>
            </a:r>
            <a:endParaRPr lang="zh-CN" altLang="en-US" sz="2800" dirty="0">
              <a:solidFill>
                <a:schemeClr val="bg1"/>
              </a:solidFill>
              <a:latin typeface="微软雅黑" panose="020B0503020204020204" pitchFamily="34" charset="-122"/>
              <a:ea typeface="微软雅黑" panose="020B0503020204020204" pitchFamily="34" charset="-122"/>
            </a:endParaRPr>
          </a:p>
          <a:p>
            <a:pPr marL="457200" indent="-457200" eaLnBrk="0" hangingPunct="0">
              <a:lnSpc>
                <a:spcPct val="150000"/>
              </a:lnSpc>
              <a:buFont typeface="Wingdings" panose="05000000000000000000" pitchFamily="2" charset="2"/>
              <a:buChar char="Ø"/>
            </a:pPr>
            <a:r>
              <a:rPr lang="zh-CN" altLang="en-US" sz="2800" dirty="0">
                <a:solidFill>
                  <a:schemeClr val="bg1"/>
                </a:solidFill>
                <a:latin typeface="微软雅黑" panose="020B0503020204020204" pitchFamily="34" charset="-122"/>
                <a:ea typeface="微软雅黑" panose="020B0503020204020204" pitchFamily="34" charset="-122"/>
              </a:rPr>
              <a:t>本行业产品对用户产品质量或服务的影响程度</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03400" y="756920"/>
            <a:ext cx="8585200" cy="53721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939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5939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59399" name="文本框 17"/>
          <p:cNvSpPr txBox="1"/>
          <p:nvPr/>
        </p:nvSpPr>
        <p:spPr>
          <a:xfrm>
            <a:off x="425450" y="425450"/>
            <a:ext cx="5948363"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3.6  </a:t>
            </a:r>
            <a:r>
              <a:rPr lang="zh-CN" altLang="en-US" sz="3200" dirty="0">
                <a:solidFill>
                  <a:srgbClr val="1570C1"/>
                </a:solidFill>
                <a:latin typeface="微软雅黑" panose="020B0503020204020204" pitchFamily="34" charset="-122"/>
                <a:ea typeface="微软雅黑" panose="020B0503020204020204" pitchFamily="34" charset="-122"/>
              </a:rPr>
              <a:t>五力模型的战略意义</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028700" y="1422400"/>
            <a:ext cx="1724025" cy="400050"/>
          </a:xfrm>
          <a:prstGeom prst="rect">
            <a:avLst/>
          </a:prstGeom>
          <a:solidFill>
            <a:srgbClr val="1570C1"/>
          </a:solidFill>
          <a:ln w="9525">
            <a:noFill/>
          </a:ln>
        </p:spPr>
        <p:txBody>
          <a:bodyPr wrap="none" anchor="t" anchorCtr="0">
            <a:spAutoFit/>
          </a:bodyPr>
          <a:p>
            <a:pPr eaLnBrk="0" hangingPunct="0"/>
            <a:r>
              <a:rPr lang="zh-CN" altLang="en-US" sz="2000" dirty="0">
                <a:solidFill>
                  <a:schemeClr val="bg1"/>
                </a:solidFill>
                <a:latin typeface="微软雅黑" panose="020B0503020204020204" pitchFamily="34" charset="-122"/>
                <a:ea typeface="微软雅黑" panose="020B0503020204020204" pitchFamily="34" charset="-122"/>
              </a:rPr>
              <a:t>五种竞争力量</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4" name="矩形 3"/>
          <p:cNvSpPr/>
          <p:nvPr/>
        </p:nvSpPr>
        <p:spPr>
          <a:xfrm>
            <a:off x="4089400" y="1422400"/>
            <a:ext cx="2493963" cy="400050"/>
          </a:xfrm>
          <a:prstGeom prst="rect">
            <a:avLst/>
          </a:prstGeom>
          <a:solidFill>
            <a:srgbClr val="1570C1"/>
          </a:solidFill>
          <a:ln w="9525">
            <a:noFill/>
          </a:ln>
        </p:spPr>
        <p:txBody>
          <a:bodyPr wrap="none" anchor="t" anchorCtr="0">
            <a:spAutoFit/>
          </a:bodyPr>
          <a:p>
            <a:pPr algn="ctr" eaLnBrk="0" hangingPunct="0"/>
            <a:r>
              <a:rPr lang="zh-CN" altLang="en-US" sz="2000" dirty="0">
                <a:solidFill>
                  <a:schemeClr val="bg1"/>
                </a:solidFill>
                <a:latin typeface="微软雅黑" panose="020B0503020204020204" pitchFamily="34" charset="-122"/>
                <a:ea typeface="微软雅黑" panose="020B0503020204020204" pitchFamily="34" charset="-122"/>
              </a:rPr>
              <a:t>整个行业的竞争结构</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5" name="矩形 4"/>
          <p:cNvSpPr/>
          <p:nvPr/>
        </p:nvSpPr>
        <p:spPr>
          <a:xfrm>
            <a:off x="7920038" y="1422400"/>
            <a:ext cx="3262312" cy="400050"/>
          </a:xfrm>
          <a:prstGeom prst="rect">
            <a:avLst/>
          </a:prstGeom>
          <a:solidFill>
            <a:srgbClr val="1570C1"/>
          </a:solidFill>
          <a:ln w="9525">
            <a:noFill/>
          </a:ln>
        </p:spPr>
        <p:txBody>
          <a:bodyPr wrap="none" anchor="t" anchorCtr="0">
            <a:spAutoFit/>
          </a:bodyPr>
          <a:p>
            <a:pPr eaLnBrk="0" hangingPunct="0"/>
            <a:r>
              <a:rPr lang="zh-CN" altLang="en-US" sz="2000" dirty="0">
                <a:solidFill>
                  <a:schemeClr val="bg1"/>
                </a:solidFill>
                <a:latin typeface="微软雅黑" panose="020B0503020204020204" pitchFamily="34" charset="-122"/>
                <a:ea typeface="微软雅黑" panose="020B0503020204020204" pitchFamily="34" charset="-122"/>
              </a:rPr>
              <a:t>行业中竞争厂商的平均利润</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6" name="右箭头 5"/>
          <p:cNvSpPr/>
          <p:nvPr/>
        </p:nvSpPr>
        <p:spPr>
          <a:xfrm>
            <a:off x="2997200" y="1422400"/>
            <a:ext cx="804863" cy="400050"/>
          </a:xfrm>
          <a:prstGeom prst="rightArrow">
            <a:avLst>
              <a:gd name="adj1" fmla="val 50000"/>
              <a:gd name="adj2" fmla="val 49841"/>
            </a:avLst>
          </a:prstGeom>
          <a:solidFill>
            <a:srgbClr val="57CAF4"/>
          </a:solidFill>
          <a:ln w="9525">
            <a:noFill/>
          </a:ln>
        </p:spPr>
        <p:txBody>
          <a:bodyPr anchor="ctr" anchorCtr="0">
            <a:spAutoFit/>
          </a:bodyPr>
          <a:p>
            <a:pPr algn="ctr" eaLnBrk="0" hangingPunct="0"/>
            <a:endParaRPr lang="zh-CN" altLang="en-US" sz="2400" dirty="0">
              <a:latin typeface="微软雅黑" panose="020B0503020204020204" pitchFamily="34" charset="-122"/>
              <a:ea typeface="微软雅黑" panose="020B0503020204020204" pitchFamily="34" charset="-122"/>
            </a:endParaRPr>
          </a:p>
        </p:txBody>
      </p:sp>
      <p:sp>
        <p:nvSpPr>
          <p:cNvPr id="23" name="右箭头 22"/>
          <p:cNvSpPr/>
          <p:nvPr/>
        </p:nvSpPr>
        <p:spPr>
          <a:xfrm>
            <a:off x="6870700" y="1422400"/>
            <a:ext cx="804863" cy="400050"/>
          </a:xfrm>
          <a:prstGeom prst="rightArrow">
            <a:avLst>
              <a:gd name="adj1" fmla="val 50000"/>
              <a:gd name="adj2" fmla="val 49841"/>
            </a:avLst>
          </a:prstGeom>
          <a:solidFill>
            <a:srgbClr val="57CAF4"/>
          </a:solidFill>
          <a:ln w="9525">
            <a:noFill/>
          </a:ln>
        </p:spPr>
        <p:txBody>
          <a:bodyPr anchor="ctr" anchorCtr="0">
            <a:spAutoFit/>
          </a:bodyPr>
          <a:p>
            <a:pPr algn="ctr" eaLnBrk="0" hangingPunct="0"/>
            <a:endParaRPr lang="zh-CN" altLang="en-US" sz="2400" dirty="0">
              <a:latin typeface="微软雅黑" panose="020B0503020204020204" pitchFamily="34" charset="-122"/>
              <a:ea typeface="微软雅黑" panose="020B0503020204020204" pitchFamily="34" charset="-122"/>
            </a:endParaRPr>
          </a:p>
        </p:txBody>
      </p:sp>
      <p:sp>
        <p:nvSpPr>
          <p:cNvPr id="7" name="矩形 6"/>
          <p:cNvSpPr/>
          <p:nvPr/>
        </p:nvSpPr>
        <p:spPr>
          <a:xfrm>
            <a:off x="149225" y="2190750"/>
            <a:ext cx="12042775" cy="3538538"/>
          </a:xfrm>
          <a:prstGeom prst="rect">
            <a:avLst/>
          </a:prstGeom>
          <a:solidFill>
            <a:srgbClr val="57CAF4"/>
          </a:solidFill>
          <a:ln w="9525">
            <a:noFill/>
          </a:ln>
        </p:spPr>
        <p:txBody>
          <a:bodyPr wrap="square" anchor="t" anchorCtr="0">
            <a:spAutoFit/>
          </a:bodyPr>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解释既定行业或者即将进入的竞争态势是否还能使企业获得可接受利润：</a:t>
            </a:r>
            <a:endParaRPr lang="zh-CN" altLang="en-US"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识别每个竞争因素的关键组成部分；</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评价每个要素对企业的作用和重要性；</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确定这些要素的综合作用是否值得企业进入或者继续留在某个产业</a:t>
            </a:r>
            <a:endParaRPr lang="en-US" altLang="zh-CN" sz="2800" dirty="0">
              <a:solidFill>
                <a:srgbClr val="1570C1"/>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b="1" dirty="0">
                <a:solidFill>
                  <a:schemeClr val="bg1"/>
                </a:solidFill>
                <a:latin typeface="微软雅黑" panose="020B0503020204020204" pitchFamily="34" charset="-122"/>
                <a:ea typeface="微软雅黑" panose="020B0503020204020204" pitchFamily="34" charset="-122"/>
              </a:rPr>
              <a:t>指导管理者如何制定可以获得有力市场地位的战略：</a:t>
            </a:r>
            <a:endParaRPr lang="zh-CN" altLang="en-US" sz="2800" b="1" dirty="0">
              <a:solidFill>
                <a:schemeClr val="bg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尽可能摆脱这五种竞争力量的影响</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影响竞争压力使其朝着有利于公司的方向改变</a:t>
            </a:r>
            <a:endParaRPr lang="zh-CN" altLang="en-US" sz="2800" dirty="0">
              <a:solidFill>
                <a:srgbClr val="1570C1"/>
              </a:solidFill>
              <a:latin typeface="微软雅黑" panose="020B0503020204020204" pitchFamily="34" charset="-122"/>
              <a:ea typeface="微软雅黑" panose="020B0503020204020204" pitchFamily="34" charset="-122"/>
            </a:endParaRPr>
          </a:p>
          <a:p>
            <a:pPr marL="914400" lvl="1" indent="-457200" eaLnBrk="0" hangingPunct="0">
              <a:buFont typeface="Arial" panose="020B0604020202020204" pitchFamily="34" charset="0"/>
              <a:buChar char="•"/>
            </a:pPr>
            <a:r>
              <a:rPr lang="zh-CN" altLang="en-US" sz="2800" dirty="0">
                <a:solidFill>
                  <a:srgbClr val="1570C1"/>
                </a:solidFill>
                <a:latin typeface="微软雅黑" panose="020B0503020204020204" pitchFamily="34" charset="-122"/>
                <a:ea typeface="微软雅黑" panose="020B0503020204020204" pitchFamily="34" charset="-122"/>
              </a:rPr>
              <a:t>建立强大的安全优势</a:t>
            </a:r>
            <a:endParaRPr lang="zh-CN" altLang="en-US" sz="28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left)">
                                      <p:cBhvr>
                                        <p:cTn id="19" dur="500"/>
                                        <p:tgtEl>
                                          <p:spTgt spid="23"/>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23" grpId="0" animBg="1"/>
      <p:bldP spid="7"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00613"/>
            <a:ext cx="12193588" cy="1955800"/>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76263"/>
            <a:ext cx="1495425" cy="538480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4</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6" name="文本框 12"/>
          <p:cNvSpPr txBox="1">
            <a:spLocks noChangeArrowheads="1"/>
          </p:cNvSpPr>
          <p:nvPr/>
        </p:nvSpPr>
        <p:spPr bwMode="auto">
          <a:xfrm>
            <a:off x="2762250" y="3644900"/>
            <a:ext cx="9429750" cy="1196975"/>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战略群组</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4879975" cy="1566863"/>
          </a:xfrm>
          <a:prstGeom prst="rect">
            <a:avLst/>
          </a:prstGeom>
          <a:noFill/>
          <a:ln>
            <a:noFill/>
          </a:ln>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4.1  </a:t>
            </a: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战略群组的特征</a:t>
            </a:r>
            <a:endPar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4.2  </a:t>
            </a: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划分战略群组的过程 </a:t>
            </a:r>
            <a:endParaRPr kumimoji="0" lang="en-US"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4.3  </a:t>
            </a: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战略群组的应用</a:t>
            </a:r>
            <a:endPar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246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246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2471"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战略群组</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8" name="矩形 17"/>
          <p:cNvSpPr/>
          <p:nvPr/>
        </p:nvSpPr>
        <p:spPr>
          <a:xfrm>
            <a:off x="574675" y="2074863"/>
            <a:ext cx="11083925" cy="3108325"/>
          </a:xfrm>
          <a:prstGeom prst="rect">
            <a:avLst/>
          </a:prstGeom>
          <a:solidFill>
            <a:srgbClr val="1570C1"/>
          </a:solidFill>
          <a:ln w="9525">
            <a:noFill/>
          </a:ln>
        </p:spPr>
        <p:txBody>
          <a:bodyPr wrap="square" anchor="t" anchorCtr="0">
            <a:spAutoFit/>
          </a:bodyPr>
          <a:p>
            <a:pPr algn="just" eaLnBrk="0" hangingPunct="0"/>
            <a:r>
              <a:rPr lang="en-US" altLang="zh-CN" sz="2800" dirty="0">
                <a:solidFill>
                  <a:srgbClr val="FFFFFF"/>
                </a:solidFill>
                <a:latin typeface="微软雅黑" panose="020B0503020204020204" pitchFamily="34" charset="-122"/>
                <a:ea typeface="微软雅黑" panose="020B0503020204020204" pitchFamily="34" charset="-122"/>
              </a:rPr>
              <a:t>      </a:t>
            </a:r>
            <a:r>
              <a:rPr lang="zh-CN" altLang="en-US" sz="2800" dirty="0">
                <a:solidFill>
                  <a:srgbClr val="FFFFFF"/>
                </a:solidFill>
                <a:latin typeface="微软雅黑" panose="020B0503020204020204" pitchFamily="34" charset="-122"/>
                <a:ea typeface="微软雅黑" panose="020B0503020204020204" pitchFamily="34" charset="-122"/>
              </a:rPr>
              <a:t>战略群组（</a:t>
            </a:r>
            <a:r>
              <a:rPr lang="en-US" altLang="zh-CN" sz="2800" dirty="0">
                <a:solidFill>
                  <a:srgbClr val="FFFFFF"/>
                </a:solidFill>
                <a:latin typeface="微软雅黑" panose="020B0503020204020204" pitchFamily="34" charset="-122"/>
                <a:ea typeface="微软雅黑" panose="020B0503020204020204" pitchFamily="34" charset="-122"/>
              </a:rPr>
              <a:t>Strategic Group</a:t>
            </a:r>
            <a:r>
              <a:rPr lang="zh-CN" altLang="en-US" sz="2800" dirty="0">
                <a:solidFill>
                  <a:srgbClr val="FFFFFF"/>
                </a:solidFill>
                <a:latin typeface="微软雅黑" panose="020B0503020204020204" pitchFamily="34" charset="-122"/>
                <a:ea typeface="微软雅黑" panose="020B0503020204020204" pitchFamily="34" charset="-122"/>
              </a:rPr>
              <a:t>），又称战略集团，是一个由行业中具有相同或相似竞争手段和市场地位的竞争对手组合而成的群体。</a:t>
            </a:r>
            <a:endParaRPr lang="en-US" altLang="zh-CN" sz="2800" dirty="0">
              <a:solidFill>
                <a:srgbClr val="FFFFFF"/>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rgbClr val="FFFFFF"/>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rgbClr val="FFFFFF"/>
                </a:solidFill>
                <a:latin typeface="微软雅黑" panose="020B0503020204020204" pitchFamily="34" charset="-122"/>
                <a:ea typeface="微软雅黑" panose="020B0503020204020204" pitchFamily="34" charset="-122"/>
              </a:rPr>
              <a:t>      同一个战略群组中的企业在很多维度上彼此相同，例如产品线跨度、定价、分销渠道、细分市场、顾客服务、技术支持等，而不同战略群组中的企业在上述维度上可能不同。因此，公司最主要的竞争对手是处于同一个战略群组中的成员。</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451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451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451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4.1  </a:t>
            </a:r>
            <a:r>
              <a:rPr lang="zh-CN" altLang="en-US" sz="3200" dirty="0">
                <a:solidFill>
                  <a:srgbClr val="1570C1"/>
                </a:solidFill>
                <a:latin typeface="微软雅黑" panose="020B0503020204020204" pitchFamily="34" charset="-122"/>
                <a:ea typeface="微软雅黑" panose="020B0503020204020204" pitchFamily="34" charset="-122"/>
              </a:rPr>
              <a:t>战略群组的特征</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组合 11"/>
          <p:cNvGrpSpPr/>
          <p:nvPr/>
        </p:nvGrpSpPr>
        <p:grpSpPr>
          <a:xfrm>
            <a:off x="1814513" y="1738313"/>
            <a:ext cx="2362200" cy="3784600"/>
            <a:chOff x="1772528" y="2045493"/>
            <a:chExt cx="2363373" cy="3328366"/>
          </a:xfrm>
        </p:grpSpPr>
        <p:sp>
          <p:nvSpPr>
            <p:cNvPr id="13" name="矩形 12"/>
            <p:cNvSpPr/>
            <p:nvPr/>
          </p:nvSpPr>
          <p:spPr>
            <a:xfrm>
              <a:off x="1772528"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p:nvSpPr>
          <p:spPr>
            <a:xfrm>
              <a:off x="1991712" y="2045493"/>
              <a:ext cx="2144189" cy="3328366"/>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相同战略群组内企业的</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产品或服务最相似，目标客户群最相似，因此它们之间的竞争最激烈</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 name="组合 14"/>
          <p:cNvGrpSpPr/>
          <p:nvPr/>
        </p:nvGrpSpPr>
        <p:grpSpPr>
          <a:xfrm>
            <a:off x="4892675" y="1738313"/>
            <a:ext cx="2362200" cy="3784600"/>
            <a:chOff x="4851008" y="2045493"/>
            <a:chExt cx="2363373" cy="3328366"/>
          </a:xfrm>
        </p:grpSpPr>
        <p:sp>
          <p:nvSpPr>
            <p:cNvPr id="19" name="矩形 18"/>
            <p:cNvSpPr/>
            <p:nvPr/>
          </p:nvSpPr>
          <p:spPr>
            <a:xfrm>
              <a:off x="4851008"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矩形 19"/>
            <p:cNvSpPr/>
            <p:nvPr/>
          </p:nvSpPr>
          <p:spPr>
            <a:xfrm>
              <a:off x="5070192" y="2045493"/>
              <a:ext cx="2144189" cy="3328366"/>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不同群组的行业的五种力量的竞争强度是不同</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的</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7" name="组合 20"/>
          <p:cNvGrpSpPr/>
          <p:nvPr/>
        </p:nvGrpSpPr>
        <p:grpSpPr>
          <a:xfrm>
            <a:off x="7989888" y="1738313"/>
            <a:ext cx="2362200" cy="3784600"/>
            <a:chOff x="7948207" y="2045493"/>
            <a:chExt cx="2363373" cy="3328366"/>
          </a:xfrm>
        </p:grpSpPr>
        <p:sp>
          <p:nvSpPr>
            <p:cNvPr id="22" name="矩形 21"/>
            <p:cNvSpPr/>
            <p:nvPr/>
          </p:nvSpPr>
          <p:spPr>
            <a:xfrm>
              <a:off x="7948207" y="2045493"/>
              <a:ext cx="219184" cy="3328366"/>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矩形 22"/>
            <p:cNvSpPr/>
            <p:nvPr/>
          </p:nvSpPr>
          <p:spPr>
            <a:xfrm>
              <a:off x="8167391" y="2045493"/>
              <a:ext cx="2144189" cy="3328366"/>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不同群组的战略越接近，群组</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间竞争的可能性越大</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56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656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656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4.2  </a:t>
            </a:r>
            <a:r>
              <a:rPr lang="zh-CN" altLang="en-US" sz="3200" dirty="0">
                <a:solidFill>
                  <a:srgbClr val="1570C1"/>
                </a:solidFill>
                <a:latin typeface="微软雅黑" panose="020B0503020204020204" pitchFamily="34" charset="-122"/>
                <a:ea typeface="微软雅黑" panose="020B0503020204020204" pitchFamily="34" charset="-122"/>
              </a:rPr>
              <a:t>划分战略群组的过程 </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8" name="矩形 17"/>
          <p:cNvSpPr/>
          <p:nvPr/>
        </p:nvSpPr>
        <p:spPr>
          <a:xfrm>
            <a:off x="609600" y="1328738"/>
            <a:ext cx="10968038" cy="4830762"/>
          </a:xfrm>
          <a:prstGeom prst="rect">
            <a:avLst/>
          </a:prstGeom>
          <a:solidFill>
            <a:srgbClr val="1570C1"/>
          </a:solidFill>
          <a:ln w="9525">
            <a:noFill/>
          </a:ln>
        </p:spPr>
        <p:txBody>
          <a:bodyPr anchor="t" anchorCtr="0">
            <a:spAutoFit/>
          </a:bodyPr>
          <a:p>
            <a:pPr marL="457200" indent="-457200" eaLnBrk="0" hangingPunct="0">
              <a:buFont typeface="Wingdings" panose="05000000000000000000" pitchFamily="2" charset="2"/>
              <a:buChar char="Ø"/>
            </a:pPr>
            <a:r>
              <a:rPr lang="zh-CN" altLang="en-US" sz="2800" dirty="0">
                <a:solidFill>
                  <a:srgbClr val="FFFFFF"/>
                </a:solidFill>
                <a:latin typeface="微软雅黑" panose="020B0503020204020204" pitchFamily="34" charset="-122"/>
                <a:ea typeface="微软雅黑" panose="020B0503020204020204" pitchFamily="34" charset="-122"/>
              </a:rPr>
              <a:t>确定将行业中各个厂商分开来的因素：</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价格或质量（高、中、低）</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地理覆盖面（当地、区域、全国、全球）</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垂直一体化程度（无、部分、全线）</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产品线跨度（宽、窄）</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对分销渠道的应用（一个、一些、全部）</a:t>
            </a:r>
            <a:endParaRPr lang="zh-CN" altLang="en-US" sz="2800" dirty="0">
              <a:solidFill>
                <a:srgbClr val="FFFFFF"/>
              </a:solidFill>
              <a:latin typeface="微软雅黑" panose="020B0503020204020204" pitchFamily="34" charset="-122"/>
              <a:ea typeface="微软雅黑" panose="020B0503020204020204" pitchFamily="34" charset="-122"/>
            </a:endParaRPr>
          </a:p>
          <a:p>
            <a:pPr marL="1200150" lvl="1" indent="-457200" eaLnBrk="0" hangingPunct="0">
              <a:buFont typeface="Arial" panose="020B0604020202020204" pitchFamily="34" charset="0"/>
              <a:buChar char="•"/>
            </a:pPr>
            <a:r>
              <a:rPr lang="zh-CN" altLang="en-US" sz="2800" dirty="0">
                <a:solidFill>
                  <a:srgbClr val="FFFFFF"/>
                </a:solidFill>
                <a:latin typeface="微软雅黑" panose="020B0503020204020204" pitchFamily="34" charset="-122"/>
                <a:ea typeface="微软雅黑" panose="020B0503020204020204" pitchFamily="34" charset="-122"/>
              </a:rPr>
              <a:t>服务程度（无附加服务、有限服务、全线服务）</a:t>
            </a:r>
            <a:endParaRPr lang="zh-CN" altLang="en-US" sz="2800" dirty="0">
              <a:solidFill>
                <a:srgbClr val="FFFFFF"/>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rgbClr val="FFFFFF"/>
                </a:solidFill>
                <a:latin typeface="微软雅黑" panose="020B0503020204020204" pitchFamily="34" charset="-122"/>
                <a:ea typeface="微软雅黑" panose="020B0503020204020204" pitchFamily="34" charset="-122"/>
              </a:rPr>
              <a:t>按照上述差异化特征将各个厂商列于一张双变量图之上；</a:t>
            </a:r>
            <a:endParaRPr lang="zh-CN" altLang="en-US" sz="2800" dirty="0">
              <a:solidFill>
                <a:srgbClr val="FFFFFF"/>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rgbClr val="FFFFFF"/>
                </a:solidFill>
                <a:latin typeface="微软雅黑" panose="020B0503020204020204" pitchFamily="34" charset="-122"/>
                <a:ea typeface="微软雅黑" panose="020B0503020204020204" pitchFamily="34" charset="-122"/>
              </a:rPr>
              <a:t>把大致落在相同战略空间的厂商归为同一个战略群组；</a:t>
            </a:r>
            <a:endParaRPr lang="zh-CN" altLang="en-US" sz="2800" dirty="0">
              <a:solidFill>
                <a:srgbClr val="FFFFFF"/>
              </a:solidFill>
              <a:latin typeface="微软雅黑" panose="020B0503020204020204" pitchFamily="34" charset="-122"/>
              <a:ea typeface="微软雅黑" panose="020B0503020204020204" pitchFamily="34" charset="-122"/>
            </a:endParaRPr>
          </a:p>
          <a:p>
            <a:pPr marL="457200" indent="-457200" eaLnBrk="0" hangingPunct="0">
              <a:buFont typeface="Wingdings" panose="05000000000000000000" pitchFamily="2" charset="2"/>
              <a:buChar char="Ø"/>
            </a:pPr>
            <a:r>
              <a:rPr lang="zh-CN" altLang="en-US" sz="2800" dirty="0">
                <a:solidFill>
                  <a:srgbClr val="FFFFFF"/>
                </a:solidFill>
                <a:latin typeface="微软雅黑" panose="020B0503020204020204" pitchFamily="34" charset="-122"/>
                <a:ea typeface="微软雅黑" panose="020B0503020204020204" pitchFamily="34" charset="-122"/>
              </a:rPr>
              <a:t>把每一个战略群组画一个圈，使其半径与各个群组占整个群体销售收入的份额成正比，这样得到一个双变量的战略群组图。</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860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6861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6861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4.3  </a:t>
            </a:r>
            <a:r>
              <a:rPr lang="zh-CN" altLang="en-US" sz="3200" dirty="0">
                <a:solidFill>
                  <a:srgbClr val="1570C1"/>
                </a:solidFill>
                <a:latin typeface="微软雅黑" panose="020B0503020204020204" pitchFamily="34" charset="-122"/>
                <a:ea typeface="微软雅黑" panose="020B0503020204020204" pitchFamily="34" charset="-122"/>
              </a:rPr>
              <a:t>战略群组的应用</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组合 10"/>
          <p:cNvGrpSpPr/>
          <p:nvPr/>
        </p:nvGrpSpPr>
        <p:grpSpPr>
          <a:xfrm>
            <a:off x="1149350" y="1425575"/>
            <a:ext cx="3648075" cy="2460625"/>
            <a:chOff x="1854200" y="1438275"/>
            <a:chExt cx="3232150" cy="2179638"/>
          </a:xfrm>
        </p:grpSpPr>
        <p:sp>
          <p:nvSpPr>
            <p:cNvPr id="12" name="Freeform 10"/>
            <p:cNvSpPr/>
            <p:nvPr/>
          </p:nvSpPr>
          <p:spPr bwMode="auto">
            <a:xfrm>
              <a:off x="1932964" y="1438275"/>
              <a:ext cx="3153386"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Freeform 11"/>
            <p:cNvSpPr/>
            <p:nvPr/>
          </p:nvSpPr>
          <p:spPr bwMode="auto">
            <a:xfrm>
              <a:off x="1854200" y="1599991"/>
              <a:ext cx="2970540" cy="2017922"/>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619" name="TextBox 57"/>
            <p:cNvSpPr txBox="1"/>
            <p:nvPr/>
          </p:nvSpPr>
          <p:spPr>
            <a:xfrm>
              <a:off x="1906241" y="1796861"/>
              <a:ext cx="2866459" cy="1036664"/>
            </a:xfrm>
            <a:prstGeom prst="rect">
              <a:avLst/>
            </a:prstGeom>
            <a:noFill/>
            <a:ln w="9525">
              <a:noFill/>
            </a:ln>
          </p:spPr>
          <p:txBody>
            <a:bodyPr anchor="t" anchorCtr="0">
              <a:spAutoFit/>
            </a:bodyPr>
            <a:p>
              <a:pPr algn="ctr">
                <a:lnSpc>
                  <a:spcPct val="130000"/>
                </a:lnSpc>
                <a:buSzTx/>
              </a:pPr>
              <a:r>
                <a:rPr lang="zh-CN" altLang="en-US" dirty="0">
                  <a:solidFill>
                    <a:srgbClr val="FFFFFF"/>
                  </a:solidFill>
                  <a:latin typeface="微软雅黑" panose="020B0503020204020204" pitchFamily="34" charset="-122"/>
                  <a:ea typeface="微软雅黑" panose="020B0503020204020204" pitchFamily="34" charset="-122"/>
                </a:rPr>
                <a:t>行业驱动力和竞争压力在多大程度上对哪些战略群组有利，而对于哪些战略群组不利？</a:t>
              </a:r>
              <a:endParaRPr lang="zh-CN" altLang="en-US" dirty="0">
                <a:solidFill>
                  <a:srgbClr val="FFFFFF"/>
                </a:solidFill>
                <a:latin typeface="微软雅黑" panose="020B0503020204020204" pitchFamily="34" charset="-122"/>
                <a:ea typeface="微软雅黑" panose="020B0503020204020204" pitchFamily="34" charset="-122"/>
              </a:endParaRPr>
            </a:p>
          </p:txBody>
        </p:sp>
      </p:grpSp>
      <p:grpSp>
        <p:nvGrpSpPr>
          <p:cNvPr id="6" name="组合 14"/>
          <p:cNvGrpSpPr/>
          <p:nvPr/>
        </p:nvGrpSpPr>
        <p:grpSpPr>
          <a:xfrm>
            <a:off x="6742113" y="1093788"/>
            <a:ext cx="3648075" cy="2460625"/>
            <a:chOff x="1854200" y="1438275"/>
            <a:chExt cx="3232150" cy="2179638"/>
          </a:xfrm>
        </p:grpSpPr>
        <p:sp>
          <p:nvSpPr>
            <p:cNvPr id="19" name="Freeform 10"/>
            <p:cNvSpPr/>
            <p:nvPr/>
          </p:nvSpPr>
          <p:spPr bwMode="auto">
            <a:xfrm>
              <a:off x="1932964" y="1438275"/>
              <a:ext cx="3153386"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00B0F0">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0" name="Freeform 11"/>
            <p:cNvSpPr/>
            <p:nvPr/>
          </p:nvSpPr>
          <p:spPr bwMode="auto">
            <a:xfrm>
              <a:off x="1854200" y="1599991"/>
              <a:ext cx="2970540" cy="2017922"/>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623" name="TextBox 57"/>
            <p:cNvSpPr txBox="1"/>
            <p:nvPr/>
          </p:nvSpPr>
          <p:spPr>
            <a:xfrm>
              <a:off x="1854200" y="1670301"/>
              <a:ext cx="2970540" cy="1355032"/>
            </a:xfrm>
            <a:prstGeom prst="rect">
              <a:avLst/>
            </a:prstGeom>
            <a:noFill/>
            <a:ln w="9525">
              <a:noFill/>
            </a:ln>
          </p:spPr>
          <p:txBody>
            <a:bodyPr anchor="t" anchorCtr="0">
              <a:spAutoFit/>
            </a:bodyPr>
            <a:p>
              <a:pPr algn="ctr">
                <a:lnSpc>
                  <a:spcPct val="130000"/>
                </a:lnSpc>
                <a:buSzTx/>
              </a:pPr>
              <a:r>
                <a:rPr lang="zh-CN" altLang="en-US" dirty="0">
                  <a:solidFill>
                    <a:srgbClr val="FFFFFF"/>
                  </a:solidFill>
                  <a:latin typeface="微软雅黑" panose="020B0503020204020204" pitchFamily="34" charset="-122"/>
                  <a:ea typeface="微软雅黑" panose="020B0503020204020204" pitchFamily="34" charset="-122"/>
                </a:rPr>
                <a:t>战略群组间是否存在利润水平差异，不同群组的利润潜力在多大出程度上由每一战略群组市场定位的优劣势决定？</a:t>
              </a:r>
              <a:endParaRPr lang="zh-CN" altLang="en-US" dirty="0">
                <a:solidFill>
                  <a:srgbClr val="FFFFFF"/>
                </a:solidFill>
                <a:latin typeface="微软雅黑" panose="020B0503020204020204" pitchFamily="34" charset="-122"/>
                <a:ea typeface="微软雅黑" panose="020B0503020204020204" pitchFamily="34" charset="-122"/>
              </a:endParaRPr>
            </a:p>
          </p:txBody>
        </p:sp>
      </p:grpSp>
      <p:grpSp>
        <p:nvGrpSpPr>
          <p:cNvPr id="7" name="组合 21"/>
          <p:cNvGrpSpPr/>
          <p:nvPr/>
        </p:nvGrpSpPr>
        <p:grpSpPr>
          <a:xfrm>
            <a:off x="1765301" y="3918606"/>
            <a:ext cx="3648315" cy="2460284"/>
            <a:chOff x="1854200" y="1438275"/>
            <a:chExt cx="3232150" cy="2179638"/>
          </a:xfrm>
          <a:solidFill>
            <a:srgbClr val="1570C1"/>
          </a:solidFill>
        </p:grpSpPr>
        <p:sp>
          <p:nvSpPr>
            <p:cNvPr id="23" name="Freeform 10"/>
            <p:cNvSpPr/>
            <p:nvPr/>
          </p:nvSpPr>
          <p:spPr bwMode="auto">
            <a:xfrm>
              <a:off x="1933575" y="1438275"/>
              <a:ext cx="3152775" cy="2179638"/>
            </a:xfrm>
            <a:custGeom>
              <a:avLst/>
              <a:gdLst>
                <a:gd name="T0" fmla="*/ 1192 w 1192"/>
                <a:gd name="T1" fmla="*/ 148 h 1156"/>
                <a:gd name="T2" fmla="*/ 74 w 1192"/>
                <a:gd name="T3" fmla="*/ 0 h 1156"/>
                <a:gd name="T4" fmla="*/ 0 w 1192"/>
                <a:gd name="T5" fmla="*/ 788 h 1156"/>
                <a:gd name="T6" fmla="*/ 710 w 1192"/>
                <a:gd name="T7" fmla="*/ 854 h 1156"/>
                <a:gd name="T8" fmla="*/ 898 w 1192"/>
                <a:gd name="T9" fmla="*/ 1156 h 1156"/>
                <a:gd name="T10" fmla="*/ 881 w 1192"/>
                <a:gd name="T11" fmla="*/ 866 h 1156"/>
                <a:gd name="T12" fmla="*/ 1093 w 1192"/>
                <a:gd name="T13" fmla="*/ 873 h 1156"/>
                <a:gd name="T14" fmla="*/ 1192 w 1192"/>
                <a:gd name="T15" fmla="*/ 148 h 11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2" h="1156">
                  <a:moveTo>
                    <a:pt x="1192" y="148"/>
                  </a:moveTo>
                  <a:lnTo>
                    <a:pt x="74" y="0"/>
                  </a:lnTo>
                  <a:lnTo>
                    <a:pt x="0" y="788"/>
                  </a:lnTo>
                  <a:lnTo>
                    <a:pt x="710" y="854"/>
                  </a:lnTo>
                  <a:lnTo>
                    <a:pt x="898" y="1156"/>
                  </a:lnTo>
                  <a:lnTo>
                    <a:pt x="881" y="866"/>
                  </a:lnTo>
                  <a:lnTo>
                    <a:pt x="1093" y="873"/>
                  </a:lnTo>
                  <a:lnTo>
                    <a:pt x="1192" y="148"/>
                  </a:lnTo>
                  <a:close/>
                </a:path>
              </a:pathLst>
            </a:custGeom>
            <a:solidFill>
              <a:srgbClr val="1570C1">
                <a:alpha val="5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4" name="Freeform 11"/>
            <p:cNvSpPr/>
            <p:nvPr/>
          </p:nvSpPr>
          <p:spPr bwMode="auto">
            <a:xfrm>
              <a:off x="1854200" y="1600200"/>
              <a:ext cx="2970213" cy="2017713"/>
            </a:xfrm>
            <a:custGeom>
              <a:avLst/>
              <a:gdLst>
                <a:gd name="T0" fmla="*/ 1123 w 1123"/>
                <a:gd name="T1" fmla="*/ 0 h 1070"/>
                <a:gd name="T2" fmla="*/ 0 w 1123"/>
                <a:gd name="T3" fmla="*/ 0 h 1070"/>
                <a:gd name="T4" fmla="*/ 0 w 1123"/>
                <a:gd name="T5" fmla="*/ 787 h 1070"/>
                <a:gd name="T6" fmla="*/ 712 w 1123"/>
                <a:gd name="T7" fmla="*/ 787 h 1070"/>
                <a:gd name="T8" fmla="*/ 928 w 1123"/>
                <a:gd name="T9" fmla="*/ 1070 h 1070"/>
                <a:gd name="T10" fmla="*/ 928 w 1123"/>
                <a:gd name="T11" fmla="*/ 787 h 1070"/>
                <a:gd name="T12" fmla="*/ 1123 w 1123"/>
                <a:gd name="T13" fmla="*/ 787 h 1070"/>
                <a:gd name="T14" fmla="*/ 1123 w 1123"/>
                <a:gd name="T15" fmla="*/ 0 h 10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23" h="1070">
                  <a:moveTo>
                    <a:pt x="1123" y="0"/>
                  </a:moveTo>
                  <a:lnTo>
                    <a:pt x="0" y="0"/>
                  </a:lnTo>
                  <a:lnTo>
                    <a:pt x="0" y="787"/>
                  </a:lnTo>
                  <a:lnTo>
                    <a:pt x="712" y="787"/>
                  </a:lnTo>
                  <a:lnTo>
                    <a:pt x="928" y="1070"/>
                  </a:lnTo>
                  <a:lnTo>
                    <a:pt x="928" y="787"/>
                  </a:lnTo>
                  <a:lnTo>
                    <a:pt x="1123" y="787"/>
                  </a:lnTo>
                  <a:lnTo>
                    <a:pt x="112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5" name="TextBox 57"/>
            <p:cNvSpPr txBox="1"/>
            <p:nvPr/>
          </p:nvSpPr>
          <p:spPr bwMode="auto">
            <a:xfrm>
              <a:off x="2037233" y="1858400"/>
              <a:ext cx="2673350" cy="1036808"/>
            </a:xfrm>
            <a:prstGeom prst="rect">
              <a:avLst/>
            </a:prstGeom>
            <a:grpFill/>
          </p:spPr>
          <p:txBody>
            <a:bodyPr>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战略群组</a:t>
              </a: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间的转移壁垒（</a:t>
              </a:r>
              <a:r>
                <a:rPr kumimoji="0" lang="en-US" altLang="zh-CN"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M</a:t>
              </a:r>
              <a:r>
                <a:rPr kumimoji="0" lang="en-US" altLang="zh-CN"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obility barriers</a:t>
              </a: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）如何？由何种因素决定？</a:t>
              </a:r>
              <a:endPar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68625" name="图片 2"/>
          <p:cNvPicPr>
            <a:picLocks noChangeAspect="1"/>
          </p:cNvPicPr>
          <p:nvPr/>
        </p:nvPicPr>
        <p:blipFill>
          <a:blip r:embed="rId1"/>
          <a:stretch>
            <a:fillRect/>
          </a:stretch>
        </p:blipFill>
        <p:spPr>
          <a:xfrm>
            <a:off x="5905500" y="3384550"/>
            <a:ext cx="5387975" cy="2774950"/>
          </a:xfrm>
          <a:prstGeom prst="rect">
            <a:avLst/>
          </a:prstGeom>
          <a:noFill/>
          <a:ln w="9525">
            <a:no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000000"/>
                                          </p:val>
                                        </p:tav>
                                        <p:tav tm="100000">
                                          <p:val>
                                            <p:strVal val="#ppt_w"/>
                                          </p:val>
                                        </p:tav>
                                      </p:tavLst>
                                    </p:anim>
                                    <p:anim calcmode="lin" valueType="num">
                                      <p:cBhvr>
                                        <p:cTn id="8" dur="500" fill="hold"/>
                                        <p:tgtEl>
                                          <p:spTgt spid="5"/>
                                        </p:tgtEl>
                                        <p:attrNameLst>
                                          <p:attrName>ppt_h</p:attrName>
                                        </p:attrNameLst>
                                      </p:cBhvr>
                                      <p:tavLst>
                                        <p:tav tm="0">
                                          <p:val>
                                            <p:fltVal val="0.00000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000000"/>
                                          </p:val>
                                        </p:tav>
                                        <p:tav tm="100000">
                                          <p:val>
                                            <p:strVal val="#ppt_w"/>
                                          </p:val>
                                        </p:tav>
                                      </p:tavLst>
                                    </p:anim>
                                    <p:anim calcmode="lin" valueType="num">
                                      <p:cBhvr>
                                        <p:cTn id="14" dur="500" fill="hold"/>
                                        <p:tgtEl>
                                          <p:spTgt spid="6"/>
                                        </p:tgtEl>
                                        <p:attrNameLst>
                                          <p:attrName>ppt_h</p:attrName>
                                        </p:attrNameLst>
                                      </p:cBhvr>
                                      <p:tavLst>
                                        <p:tav tm="0">
                                          <p:val>
                                            <p:fltVal val="0.000000"/>
                                          </p:val>
                                        </p:tav>
                                        <p:tav tm="100000">
                                          <p:val>
                                            <p:strVal val="#ppt_h"/>
                                          </p:val>
                                        </p:tav>
                                      </p:tavLst>
                                    </p:anim>
                                    <p:animEffect transition="in" filter="fade">
                                      <p:cBhvr>
                                        <p:cTn id="15" dur="500"/>
                                        <p:tgtEl>
                                          <p:spTgt spid="6"/>
                                        </p:tgtEl>
                                      </p:cBhvr>
                                    </p:animEffect>
                                  </p:childTnLst>
                                </p:cTn>
                              </p:par>
                            </p:childTnLst>
                          </p:cTn>
                        </p:par>
                        <p:par>
                          <p:cTn id="16" fill="hold">
                            <p:stCondLst>
                              <p:cond delay="1000"/>
                            </p:stCondLst>
                            <p:childTnLst>
                              <p:par>
                                <p:cTn id="17" presetID="53" presetClass="entr" presetSubtype="16"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000000"/>
                                          </p:val>
                                        </p:tav>
                                        <p:tav tm="100000">
                                          <p:val>
                                            <p:strVal val="#ppt_w"/>
                                          </p:val>
                                        </p:tav>
                                      </p:tavLst>
                                    </p:anim>
                                    <p:anim calcmode="lin" valueType="num">
                                      <p:cBhvr>
                                        <p:cTn id="20" dur="500" fill="hold"/>
                                        <p:tgtEl>
                                          <p:spTgt spid="7"/>
                                        </p:tgtEl>
                                        <p:attrNameLst>
                                          <p:attrName>ppt_h</p:attrName>
                                        </p:attrNameLst>
                                      </p:cBhvr>
                                      <p:tavLst>
                                        <p:tav tm="0">
                                          <p:val>
                                            <p:fltVal val="0.000000"/>
                                          </p:val>
                                        </p:tav>
                                        <p:tav tm="100000">
                                          <p:val>
                                            <p:strVal val="#ppt_h"/>
                                          </p:val>
                                        </p:tav>
                                      </p:tavLst>
                                    </p:anim>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79525" y="363855"/>
            <a:ext cx="9632950" cy="594169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00613"/>
            <a:ext cx="12193588" cy="1955800"/>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22288"/>
            <a:ext cx="1495425" cy="538480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smtClean="0">
                <a:ln>
                  <a:noFill/>
                </a:ln>
                <a:solidFill>
                  <a:srgbClr val="0070C0"/>
                </a:solidFill>
                <a:effectLst/>
                <a:uLnTx/>
                <a:uFillTx/>
                <a:latin typeface="Arial" panose="020B0604020202020204"/>
                <a:ea typeface="微软雅黑" panose="020B0503020204020204" pitchFamily="34" charset="-122"/>
                <a:cs typeface="+mn-ea"/>
                <a:sym typeface="+mn-lt"/>
              </a:rPr>
              <a:t>5</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6" name="文本框 12"/>
          <p:cNvSpPr txBox="1">
            <a:spLocks noChangeArrowheads="1"/>
          </p:cNvSpPr>
          <p:nvPr/>
        </p:nvSpPr>
        <p:spPr bwMode="auto">
          <a:xfrm>
            <a:off x="2762250" y="3644900"/>
            <a:ext cx="9429750" cy="120015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竞争对手</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4879975" cy="1812925"/>
          </a:xfrm>
          <a:prstGeom prst="rect">
            <a:avLst/>
          </a:prstGeom>
          <a:noFill/>
          <a:ln>
            <a:noFill/>
          </a:ln>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5.1  </a:t>
            </a:r>
            <a:r>
              <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竞争对手的界定</a:t>
            </a:r>
            <a:endPar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5.2  </a:t>
            </a:r>
            <a:r>
              <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竞争对手分析的框架</a:t>
            </a:r>
            <a:endPar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5.3  </a:t>
            </a:r>
            <a:r>
              <a:rPr kumimoji="0" lang="zh-CN" altLang="en-US"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市场信号辨识与分析</a:t>
            </a:r>
            <a:endParaRPr kumimoji="0" lang="en-US" altLang="zh-CN" sz="28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68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168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1687"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竞争对手</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8" name="矩形 17"/>
          <p:cNvSpPr/>
          <p:nvPr/>
        </p:nvSpPr>
        <p:spPr>
          <a:xfrm>
            <a:off x="849313" y="1954213"/>
            <a:ext cx="10577512" cy="3108325"/>
          </a:xfrm>
          <a:prstGeom prst="rect">
            <a:avLst/>
          </a:prstGeom>
          <a:solidFill>
            <a:srgbClr val="1570C1"/>
          </a:solidFill>
          <a:ln w="9525">
            <a:noFill/>
          </a:ln>
        </p:spPr>
        <p:txBody>
          <a:bodyPr anchor="t" anchorCtr="0">
            <a:spAutoFit/>
          </a:bodyPr>
          <a:p>
            <a:pPr algn="just" eaLnBrk="0" hangingPunct="0"/>
            <a:r>
              <a:rPr lang="en-US" altLang="zh-CN" sz="2800" dirty="0">
                <a:solidFill>
                  <a:srgbClr val="FFFFFF"/>
                </a:solidFill>
                <a:latin typeface="微软雅黑" panose="020B0503020204020204" pitchFamily="34" charset="-122"/>
                <a:ea typeface="微软雅黑" panose="020B0503020204020204" pitchFamily="34" charset="-122"/>
              </a:rPr>
              <a:t>       </a:t>
            </a:r>
            <a:r>
              <a:rPr lang="zh-CN" altLang="en-US" sz="2800" dirty="0">
                <a:solidFill>
                  <a:srgbClr val="FFFFFF"/>
                </a:solidFill>
                <a:latin typeface="微软雅黑" panose="020B0503020204020204" pitchFamily="34" charset="-122"/>
                <a:ea typeface="微软雅黑" panose="020B0503020204020204" pitchFamily="34" charset="-122"/>
              </a:rPr>
              <a:t>竞争对手分析是在收集信息的基础上，对企业主要的竞争对手进行界定，并对其进行系统分析与评估，以制定竞争策略的过程。</a:t>
            </a:r>
            <a:endParaRPr lang="en-US" altLang="zh-CN" sz="2800" dirty="0">
              <a:solidFill>
                <a:srgbClr val="FFFFFF"/>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rgbClr val="FFFFFF"/>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rgbClr val="FFFFFF"/>
                </a:solidFill>
                <a:latin typeface="微软雅黑" panose="020B0503020204020204" pitchFamily="34" charset="-122"/>
                <a:ea typeface="微软雅黑" panose="020B0503020204020204" pitchFamily="34" charset="-122"/>
              </a:rPr>
              <a:t>       只有时刻监测竞争对手，充分理解它们的战略，科学预测它们下一步最可能采取的行动，才有可能战胜竞争对手。因此，竞争对手分析是企业管理者必须考虑的重要课题，是企业外部环境分析必不可少的组成部分。</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372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373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373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5.1  </a:t>
            </a:r>
            <a:r>
              <a:rPr lang="zh-CN" altLang="en-US" sz="3200" dirty="0">
                <a:solidFill>
                  <a:srgbClr val="1570C1"/>
                </a:solidFill>
                <a:latin typeface="微软雅黑" panose="020B0503020204020204" pitchFamily="34" charset="-122"/>
                <a:ea typeface="微软雅黑" panose="020B0503020204020204" pitchFamily="34" charset="-122"/>
              </a:rPr>
              <a:t>竞争对手的界定</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592138" y="1295400"/>
            <a:ext cx="11388725" cy="4400550"/>
          </a:xfrm>
          <a:prstGeom prst="rect">
            <a:avLst/>
          </a:prstGeom>
          <a:solidFill>
            <a:srgbClr val="57CAF4"/>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一般而言，竞争对手的界定需要遵循以下原则：</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利用战略群体图来确定。在同一战略群体中的企业是最为直接的竞争对手；其次，在相近战略群体中的企业也可能是主要的竞争对手。</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从辨别针对同一目标消费群的争抢强度入手来界定。</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just"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对于进入壁垒不是很高的行业，识别潜在竞争对手也非常重要。通常以下公司容易构成对公司的竞争威胁：不在本行业但很容易克服进入壁垒的公司；进入本行业可产生明显协同效应的公司；其战略延伸必将导致加入本行业竞争的公司；可能进行一体化整合的供应商或购买者。</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577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578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578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5.2  </a:t>
            </a:r>
            <a:r>
              <a:rPr lang="zh-CN" altLang="en-US" sz="3200" dirty="0">
                <a:solidFill>
                  <a:srgbClr val="1570C1"/>
                </a:solidFill>
                <a:latin typeface="微软雅黑" panose="020B0503020204020204" pitchFamily="34" charset="-122"/>
                <a:ea typeface="微软雅黑" panose="020B0503020204020204" pitchFamily="34" charset="-122"/>
              </a:rPr>
              <a:t>竞争对手分析的框架</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画布 5032"/>
          <p:cNvGrpSpPr/>
          <p:nvPr/>
        </p:nvGrpSpPr>
        <p:grpSpPr>
          <a:xfrm>
            <a:off x="1030288" y="1693863"/>
            <a:ext cx="10152062" cy="4252912"/>
            <a:chOff x="0" y="0"/>
            <a:chExt cx="49689" cy="20816"/>
          </a:xfrm>
        </p:grpSpPr>
        <p:sp>
          <p:nvSpPr>
            <p:cNvPr id="75785" name="文本框 1085"/>
            <p:cNvSpPr txBox="1"/>
            <p:nvPr/>
          </p:nvSpPr>
          <p:spPr>
            <a:xfrm>
              <a:off x="1146" y="992"/>
              <a:ext cx="23996" cy="2969"/>
            </a:xfrm>
            <a:prstGeom prst="rect">
              <a:avLst/>
            </a:prstGeom>
            <a:noFill/>
            <a:ln w="9525" cap="flat" cmpd="sng">
              <a:solidFill>
                <a:srgbClr val="000000"/>
              </a:solidFill>
              <a:prstDash val="solid"/>
              <a:miter/>
              <a:headEnd type="none" w="med" len="med"/>
              <a:tailEnd type="none" w="med" len="med"/>
            </a:ln>
          </p:spPr>
          <p:txBody>
            <a:bodyPr lIns="18000" rIns="18000" anchor="ctr" anchorCtr="0"/>
            <a:p>
              <a:pPr eaLnBrk="0" hangingPunct="0"/>
              <a:r>
                <a:rPr lang="zh-CN" altLang="zh-CN" dirty="0">
                  <a:solidFill>
                    <a:srgbClr val="1570C1"/>
                  </a:solidFill>
                  <a:latin typeface="微软雅黑" panose="020B0503020204020204" pitchFamily="34" charset="-122"/>
                  <a:ea typeface="微软雅黑" panose="020B0503020204020204" pitchFamily="34" charset="-122"/>
                </a:rPr>
                <a:t>竞争对手的未来目标：什么驱使着竞争对手？</a:t>
              </a:r>
              <a:endParaRPr lang="zh-CN" altLang="zh-CN" dirty="0">
                <a:solidFill>
                  <a:srgbClr val="1570C1"/>
                </a:solidFill>
                <a:latin typeface="微软雅黑" panose="020B0503020204020204" pitchFamily="34" charset="-122"/>
                <a:ea typeface="微软雅黑" panose="020B0503020204020204" pitchFamily="34" charset="-122"/>
              </a:endParaRPr>
            </a:p>
          </p:txBody>
        </p:sp>
        <p:sp>
          <p:nvSpPr>
            <p:cNvPr id="75786" name="文本框 1086"/>
            <p:cNvSpPr txBox="1"/>
            <p:nvPr/>
          </p:nvSpPr>
          <p:spPr>
            <a:xfrm>
              <a:off x="1146" y="4954"/>
              <a:ext cx="23996" cy="2977"/>
            </a:xfrm>
            <a:prstGeom prst="rect">
              <a:avLst/>
            </a:prstGeom>
            <a:noFill/>
            <a:ln w="9525" cap="flat" cmpd="sng">
              <a:solidFill>
                <a:srgbClr val="000000"/>
              </a:solidFill>
              <a:prstDash val="solid"/>
              <a:miter/>
              <a:headEnd type="none" w="med" len="med"/>
              <a:tailEnd type="none" w="med" len="med"/>
            </a:ln>
          </p:spPr>
          <p:txBody>
            <a:bodyPr lIns="18000" rIns="18000" anchor="ctr" anchorCtr="0"/>
            <a:p>
              <a:pPr eaLnBrk="0" hangingPunct="0"/>
              <a:r>
                <a:rPr lang="zh-CN" altLang="zh-CN" dirty="0">
                  <a:solidFill>
                    <a:srgbClr val="1570C1"/>
                  </a:solidFill>
                  <a:latin typeface="微软雅黑" panose="020B0503020204020204" pitchFamily="34" charset="-122"/>
                  <a:ea typeface="微软雅黑" panose="020B0503020204020204" pitchFamily="34" charset="-122"/>
                </a:rPr>
                <a:t>竞争对手的假设：对其自身和行业有何看法？ </a:t>
              </a:r>
              <a:endParaRPr lang="zh-CN" altLang="zh-CN" dirty="0">
                <a:solidFill>
                  <a:srgbClr val="1570C1"/>
                </a:solidFill>
                <a:latin typeface="微软雅黑" panose="020B0503020204020204" pitchFamily="34" charset="-122"/>
                <a:ea typeface="微软雅黑" panose="020B0503020204020204" pitchFamily="34" charset="-122"/>
              </a:endParaRPr>
            </a:p>
          </p:txBody>
        </p:sp>
        <p:sp>
          <p:nvSpPr>
            <p:cNvPr id="75787" name="文本框 1087"/>
            <p:cNvSpPr txBox="1"/>
            <p:nvPr/>
          </p:nvSpPr>
          <p:spPr>
            <a:xfrm>
              <a:off x="1146" y="8923"/>
              <a:ext cx="23996" cy="2977"/>
            </a:xfrm>
            <a:prstGeom prst="rect">
              <a:avLst/>
            </a:prstGeom>
            <a:noFill/>
            <a:ln w="9525" cap="flat" cmpd="sng">
              <a:solidFill>
                <a:srgbClr val="000000"/>
              </a:solidFill>
              <a:prstDash val="solid"/>
              <a:miter/>
              <a:headEnd type="none" w="med" len="med"/>
              <a:tailEnd type="none" w="med" len="med"/>
            </a:ln>
          </p:spPr>
          <p:txBody>
            <a:bodyPr lIns="18000" rIns="18000" anchor="ctr" anchorCtr="0"/>
            <a:p>
              <a:pPr eaLnBrk="0" hangingPunct="0"/>
              <a:r>
                <a:rPr lang="zh-CN" altLang="zh-CN" dirty="0">
                  <a:solidFill>
                    <a:srgbClr val="1570C1"/>
                  </a:solidFill>
                  <a:latin typeface="微软雅黑" panose="020B0503020204020204" pitchFamily="34" charset="-122"/>
                  <a:ea typeface="微软雅黑" panose="020B0503020204020204" pitchFamily="34" charset="-122"/>
                </a:rPr>
                <a:t>竞争对手的当前战略：正在做什么和能做什么？</a:t>
              </a:r>
              <a:endParaRPr lang="zh-CN" altLang="zh-CN" dirty="0">
                <a:solidFill>
                  <a:srgbClr val="1570C1"/>
                </a:solidFill>
                <a:latin typeface="微软雅黑" panose="020B0503020204020204" pitchFamily="34" charset="-122"/>
                <a:ea typeface="微软雅黑" panose="020B0503020204020204" pitchFamily="34" charset="-122"/>
              </a:endParaRPr>
            </a:p>
          </p:txBody>
        </p:sp>
        <p:sp>
          <p:nvSpPr>
            <p:cNvPr id="75788" name="文本框 1088"/>
            <p:cNvSpPr txBox="1"/>
            <p:nvPr/>
          </p:nvSpPr>
          <p:spPr>
            <a:xfrm>
              <a:off x="1146" y="12885"/>
              <a:ext cx="23996" cy="2977"/>
            </a:xfrm>
            <a:prstGeom prst="rect">
              <a:avLst/>
            </a:prstGeom>
            <a:noFill/>
            <a:ln w="9525" cap="flat" cmpd="sng">
              <a:solidFill>
                <a:srgbClr val="000000"/>
              </a:solidFill>
              <a:prstDash val="solid"/>
              <a:miter/>
              <a:headEnd type="none" w="med" len="med"/>
              <a:tailEnd type="none" w="med" len="med"/>
            </a:ln>
          </p:spPr>
          <p:txBody>
            <a:bodyPr lIns="18000" rIns="18000" anchor="ctr" anchorCtr="0"/>
            <a:p>
              <a:pPr eaLnBrk="0" hangingPunct="0"/>
              <a:r>
                <a:rPr lang="zh-CN" altLang="zh-CN" dirty="0">
                  <a:solidFill>
                    <a:srgbClr val="1570C1"/>
                  </a:solidFill>
                  <a:latin typeface="微软雅黑" panose="020B0503020204020204" pitchFamily="34" charset="-122"/>
                  <a:ea typeface="微软雅黑" panose="020B0503020204020204" pitchFamily="34" charset="-122"/>
                </a:rPr>
                <a:t>竞争对手的资源能力：拥有哪些优势与劣势？</a:t>
              </a:r>
              <a:endParaRPr lang="zh-CN" altLang="zh-CN" dirty="0">
                <a:solidFill>
                  <a:srgbClr val="1570C1"/>
                </a:solidFill>
                <a:latin typeface="微软雅黑" panose="020B0503020204020204" pitchFamily="34" charset="-122"/>
                <a:ea typeface="微软雅黑" panose="020B0503020204020204" pitchFamily="34" charset="-122"/>
              </a:endParaRPr>
            </a:p>
          </p:txBody>
        </p:sp>
        <p:sp>
          <p:nvSpPr>
            <p:cNvPr id="75789" name="矩形 1089"/>
            <p:cNvSpPr/>
            <p:nvPr/>
          </p:nvSpPr>
          <p:spPr>
            <a:xfrm>
              <a:off x="0" y="0"/>
              <a:ext cx="26289" cy="16854"/>
            </a:xfrm>
            <a:prstGeom prst="rect">
              <a:avLst/>
            </a:prstGeom>
            <a:noFill/>
            <a:ln w="9525" cap="flat" cmpd="sng">
              <a:solidFill>
                <a:srgbClr val="000000"/>
              </a:solidFill>
              <a:prstDash val="solid"/>
              <a:miter/>
              <a:headEnd type="none" w="med" len="med"/>
              <a:tailEnd type="none" w="med" len="med"/>
            </a:ln>
          </p:spPr>
          <p:txBody>
            <a:bodyPr anchor="ctr" anchorCtr="0"/>
            <a:p>
              <a:pPr eaLnBrk="0" hangingPunct="0"/>
              <a:endParaRPr lang="zh-CN" altLang="en-US" dirty="0">
                <a:solidFill>
                  <a:srgbClr val="1570C1"/>
                </a:solidFill>
                <a:latin typeface="微软雅黑" panose="020B0503020204020204" pitchFamily="34" charset="-122"/>
                <a:ea typeface="微软雅黑" panose="020B0503020204020204" pitchFamily="34" charset="-122"/>
              </a:endParaRPr>
            </a:p>
          </p:txBody>
        </p:sp>
        <p:sp>
          <p:nvSpPr>
            <p:cNvPr id="75790" name="文本框 1090"/>
            <p:cNvSpPr txBox="1"/>
            <p:nvPr/>
          </p:nvSpPr>
          <p:spPr>
            <a:xfrm>
              <a:off x="29724" y="2971"/>
              <a:ext cx="19965" cy="10897"/>
            </a:xfrm>
            <a:prstGeom prst="rect">
              <a:avLst/>
            </a:prstGeom>
            <a:noFill/>
            <a:ln w="9525" cap="flat" cmpd="sng">
              <a:solidFill>
                <a:srgbClr val="000000"/>
              </a:solidFill>
              <a:prstDash val="solid"/>
              <a:miter/>
              <a:headEnd type="none" w="med" len="med"/>
              <a:tailEnd type="none" w="med" len="med"/>
            </a:ln>
          </p:spPr>
          <p:txBody>
            <a:bodyPr anchor="ctr" anchorCtr="0"/>
            <a:p>
              <a:pPr defTabSz="914400" eaLnBrk="0" hangingPunct="0">
                <a:lnSpc>
                  <a:spcPct val="150000"/>
                </a:lnSpc>
                <a:tabLst>
                  <a:tab pos="114300" algn="l"/>
                </a:tabLst>
              </a:pPr>
              <a:r>
                <a:rPr lang="zh-CN" altLang="zh-CN" dirty="0">
                  <a:solidFill>
                    <a:srgbClr val="1570C1"/>
                  </a:solidFill>
                  <a:latin typeface="微软雅黑" panose="020B0503020204020204" pitchFamily="34" charset="-122"/>
                  <a:ea typeface="微软雅黑" panose="020B0503020204020204" pitchFamily="34" charset="-122"/>
                </a:rPr>
                <a:t>竞争对手的反应：</a:t>
              </a:r>
              <a:endParaRPr lang="zh-CN" altLang="zh-CN" dirty="0">
                <a:solidFill>
                  <a:srgbClr val="1570C1"/>
                </a:solidFill>
                <a:latin typeface="微软雅黑" panose="020B0503020204020204" pitchFamily="34" charset="-122"/>
                <a:ea typeface="微软雅黑" panose="020B0503020204020204" pitchFamily="34" charset="-122"/>
              </a:endParaRPr>
            </a:p>
            <a:p>
              <a:pPr defTabSz="914400" eaLnBrk="0" hangingPunct="0">
                <a:lnSpc>
                  <a:spcPct val="150000"/>
                </a:lnSpc>
                <a:buChar char="•"/>
                <a:tabLst>
                  <a:tab pos="114300" algn="l"/>
                </a:tabLst>
              </a:pPr>
              <a:r>
                <a:rPr lang="zh-CN" altLang="zh-CN" dirty="0">
                  <a:solidFill>
                    <a:srgbClr val="1570C1"/>
                  </a:solidFill>
                  <a:latin typeface="微软雅黑" panose="020B0503020204020204" pitchFamily="34" charset="-122"/>
                  <a:ea typeface="微软雅黑" panose="020B0503020204020204" pitchFamily="34" charset="-122"/>
                </a:rPr>
                <a:t>竞争对手对其目前地位满意吗？</a:t>
              </a:r>
              <a:endParaRPr lang="zh-CN" altLang="zh-CN" dirty="0">
                <a:solidFill>
                  <a:srgbClr val="1570C1"/>
                </a:solidFill>
                <a:latin typeface="微软雅黑" panose="020B0503020204020204" pitchFamily="34" charset="-122"/>
                <a:ea typeface="微软雅黑" panose="020B0503020204020204" pitchFamily="34" charset="-122"/>
              </a:endParaRPr>
            </a:p>
            <a:p>
              <a:pPr defTabSz="914400" eaLnBrk="0" hangingPunct="0">
                <a:lnSpc>
                  <a:spcPct val="150000"/>
                </a:lnSpc>
                <a:buChar char="•"/>
                <a:tabLst>
                  <a:tab pos="114300" algn="l"/>
                </a:tabLst>
              </a:pPr>
              <a:r>
                <a:rPr lang="zh-CN" altLang="zh-CN" dirty="0">
                  <a:solidFill>
                    <a:srgbClr val="1570C1"/>
                  </a:solidFill>
                  <a:latin typeface="微软雅黑" panose="020B0503020204020204" pitchFamily="34" charset="-122"/>
                  <a:ea typeface="微软雅黑" panose="020B0503020204020204" pitchFamily="34" charset="-122"/>
                </a:rPr>
                <a:t>竞争对手将做什么行动或战略转变？</a:t>
              </a:r>
              <a:endParaRPr lang="zh-CN" altLang="zh-CN" dirty="0">
                <a:solidFill>
                  <a:srgbClr val="1570C1"/>
                </a:solidFill>
                <a:latin typeface="微软雅黑" panose="020B0503020204020204" pitchFamily="34" charset="-122"/>
                <a:ea typeface="微软雅黑" panose="020B0503020204020204" pitchFamily="34" charset="-122"/>
              </a:endParaRPr>
            </a:p>
            <a:p>
              <a:pPr defTabSz="914400" eaLnBrk="0" hangingPunct="0">
                <a:lnSpc>
                  <a:spcPct val="150000"/>
                </a:lnSpc>
                <a:buChar char="•"/>
                <a:tabLst>
                  <a:tab pos="114300" algn="l"/>
                </a:tabLst>
              </a:pPr>
              <a:r>
                <a:rPr lang="zh-CN" altLang="zh-CN" dirty="0">
                  <a:solidFill>
                    <a:srgbClr val="1570C1"/>
                  </a:solidFill>
                  <a:latin typeface="微软雅黑" panose="020B0503020204020204" pitchFamily="34" charset="-122"/>
                  <a:ea typeface="微软雅黑" panose="020B0503020204020204" pitchFamily="34" charset="-122"/>
                </a:rPr>
                <a:t>竞争对手哪里易受到攻击？</a:t>
              </a:r>
              <a:endParaRPr lang="zh-CN" altLang="zh-CN" dirty="0">
                <a:solidFill>
                  <a:srgbClr val="1570C1"/>
                </a:solidFill>
                <a:latin typeface="微软雅黑" panose="020B0503020204020204" pitchFamily="34" charset="-122"/>
                <a:ea typeface="微软雅黑" panose="020B0503020204020204" pitchFamily="34" charset="-122"/>
              </a:endParaRPr>
            </a:p>
            <a:p>
              <a:pPr defTabSz="914400" eaLnBrk="0" hangingPunct="0">
                <a:lnSpc>
                  <a:spcPct val="150000"/>
                </a:lnSpc>
                <a:buChar char="•"/>
                <a:tabLst>
                  <a:tab pos="114300" algn="l"/>
                </a:tabLst>
              </a:pPr>
              <a:r>
                <a:rPr lang="zh-CN" altLang="zh-CN" dirty="0">
                  <a:solidFill>
                    <a:srgbClr val="1570C1"/>
                  </a:solidFill>
                  <a:latin typeface="微软雅黑" panose="020B0503020204020204" pitchFamily="34" charset="-122"/>
                  <a:ea typeface="微软雅黑" panose="020B0503020204020204" pitchFamily="34" charset="-122"/>
                </a:rPr>
                <a:t>什么将激起竞争对手最强烈的报复？</a:t>
              </a:r>
              <a:endParaRPr lang="zh-CN" altLang="zh-CN" dirty="0">
                <a:solidFill>
                  <a:srgbClr val="1570C1"/>
                </a:solidFill>
                <a:latin typeface="微软雅黑" panose="020B0503020204020204" pitchFamily="34" charset="-122"/>
                <a:ea typeface="微软雅黑" panose="020B0503020204020204" pitchFamily="34" charset="-122"/>
              </a:endParaRPr>
            </a:p>
          </p:txBody>
        </p:sp>
        <p:sp>
          <p:nvSpPr>
            <p:cNvPr id="75791" name="自选图形 1091"/>
            <p:cNvSpPr/>
            <p:nvPr/>
          </p:nvSpPr>
          <p:spPr>
            <a:xfrm>
              <a:off x="26289" y="6938"/>
              <a:ext cx="3424" cy="2970"/>
            </a:xfrm>
            <a:custGeom>
              <a:avLst/>
              <a:gdLst/>
              <a:ahLst/>
              <a:cxnLst>
                <a:cxn ang="17694720">
                  <a:pos x="0" y="0"/>
                </a:cxn>
                <a:cxn ang="11796480">
                  <a:pos x="0" y="0"/>
                </a:cxn>
                <a:cxn ang="5898240">
                  <a:pos x="0" y="0"/>
                </a:cxn>
                <a:cxn ang="0">
                  <a:pos x="0" y="0"/>
                </a:cxn>
              </a:cxnLst>
              <a:pathLst>
                <a:path w="21600" h="21600">
                  <a:moveTo>
                    <a:pt x="16205" y="0"/>
                  </a:moveTo>
                  <a:lnTo>
                    <a:pt x="16205" y="5400"/>
                  </a:lnTo>
                  <a:lnTo>
                    <a:pt x="3375" y="5400"/>
                  </a:lnTo>
                  <a:lnTo>
                    <a:pt x="3375" y="16200"/>
                  </a:lnTo>
                  <a:lnTo>
                    <a:pt x="16205" y="16200"/>
                  </a:lnTo>
                  <a:lnTo>
                    <a:pt x="16205" y="21600"/>
                  </a:lnTo>
                  <a:lnTo>
                    <a:pt x="21600" y="10800"/>
                  </a:lnTo>
                  <a:lnTo>
                    <a:pt x="16205"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noFill/>
            <a:ln w="9525" cap="flat" cmpd="sng">
              <a:solidFill>
                <a:srgbClr val="000000"/>
              </a:solidFill>
              <a:prstDash val="solid"/>
              <a:miter/>
              <a:headEnd type="none" w="med" len="med"/>
              <a:tailEnd type="none" w="med" len="med"/>
            </a:ln>
          </p:spPr>
          <p:txBody>
            <a:bodyPr/>
            <a:p>
              <a:endParaRPr lang="zh-CN" altLang="en-US"/>
            </a:p>
          </p:txBody>
        </p:sp>
        <p:sp>
          <p:nvSpPr>
            <p:cNvPr id="75792" name="文本框 1092"/>
            <p:cNvSpPr txBox="1"/>
            <p:nvPr/>
          </p:nvSpPr>
          <p:spPr>
            <a:xfrm>
              <a:off x="13144" y="17847"/>
              <a:ext cx="25143" cy="2969"/>
            </a:xfrm>
            <a:prstGeom prst="rect">
              <a:avLst/>
            </a:prstGeom>
            <a:noFill/>
            <a:ln w="9525">
              <a:noFill/>
            </a:ln>
          </p:spPr>
          <p:txBody>
            <a:bodyPr anchor="ctr" anchorCtr="0"/>
            <a:p>
              <a:pPr algn="ctr" eaLnBrk="0" hangingPunct="0"/>
              <a:r>
                <a:rPr lang="zh-CN" altLang="zh-CN" sz="2400" dirty="0">
                  <a:solidFill>
                    <a:srgbClr val="1570C1"/>
                  </a:solidFill>
                  <a:latin typeface="微软雅黑" panose="020B0503020204020204" pitchFamily="34" charset="-122"/>
                  <a:ea typeface="微软雅黑" panose="020B0503020204020204" pitchFamily="34" charset="-122"/>
                </a:rPr>
                <a:t>图</a:t>
              </a:r>
              <a:r>
                <a:rPr lang="en-US" altLang="zh-CN" sz="2400" dirty="0">
                  <a:solidFill>
                    <a:srgbClr val="1570C1"/>
                  </a:solidFill>
                  <a:latin typeface="微软雅黑" panose="020B0503020204020204" pitchFamily="34" charset="-122"/>
                  <a:ea typeface="微软雅黑" panose="020B0503020204020204" pitchFamily="34" charset="-122"/>
                </a:rPr>
                <a:t>4  </a:t>
              </a:r>
              <a:r>
                <a:rPr lang="zh-CN" altLang="en-US" sz="2400" dirty="0">
                  <a:solidFill>
                    <a:srgbClr val="1570C1"/>
                  </a:solidFill>
                  <a:latin typeface="微软雅黑" panose="020B0503020204020204" pitchFamily="34" charset="-122"/>
                  <a:ea typeface="微软雅黑" panose="020B0503020204020204" pitchFamily="34" charset="-122"/>
                </a:rPr>
                <a:t>竞争对手分析框架</a:t>
              </a:r>
              <a:endParaRPr lang="zh-CN" altLang="en-US" sz="2400" dirty="0">
                <a:solidFill>
                  <a:srgbClr val="1570C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782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7782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7783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5.3  </a:t>
            </a:r>
            <a:r>
              <a:rPr lang="zh-CN" altLang="en-US" sz="3200" dirty="0">
                <a:solidFill>
                  <a:srgbClr val="1570C1"/>
                </a:solidFill>
                <a:latin typeface="微软雅黑" panose="020B0503020204020204" pitchFamily="34" charset="-122"/>
                <a:ea typeface="微软雅黑" panose="020B0503020204020204" pitchFamily="34" charset="-122"/>
              </a:rPr>
              <a:t>市场信号辨识与分析</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169988" y="2290763"/>
            <a:ext cx="9826625" cy="2676525"/>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市场信号多种多样，采取何种形式主要依据竞争对手的行为及使用媒介而定。</a:t>
            </a:r>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chemeClr val="bg1"/>
                </a:solidFill>
                <a:latin typeface="微软雅黑" panose="020B0503020204020204" pitchFamily="34" charset="-122"/>
                <a:ea typeface="微软雅黑" panose="020B0503020204020204" pitchFamily="34" charset="-122"/>
              </a:rPr>
              <a:t>      比较重要的市场信号形式有以下几种：事前预告；事后宣传；竞争对手对产业情况的公开讨论；竞争者对自己行动的讨论和解释；比较竞争对手采用的竞争方式；交叉回避。</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矩形 6"/>
          <p:cNvSpPr>
            <a:spLocks noChangeArrowheads="1"/>
          </p:cNvSpPr>
          <p:nvPr/>
        </p:nvSpPr>
        <p:spPr bwMode="auto">
          <a:xfrm>
            <a:off x="0" y="4900613"/>
            <a:ext cx="12193588" cy="1955800"/>
          </a:xfrm>
          <a:prstGeom prst="rect">
            <a:avLst/>
          </a:prstGeom>
          <a:solidFill>
            <a:srgbClr val="0070C0"/>
          </a:solidFill>
          <a:ln>
            <a:noFill/>
          </a:ln>
        </p:spPr>
        <p:txBody>
          <a:bodyPr lIns="91428" tIns="45713" rIns="91428" bIns="45713"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ea"/>
              <a:sym typeface="+mn-lt"/>
            </a:endParaRPr>
          </a:p>
        </p:txBody>
      </p:sp>
      <p:sp>
        <p:nvSpPr>
          <p:cNvPr id="43" name="文本框 8"/>
          <p:cNvSpPr txBox="1">
            <a:spLocks noChangeArrowheads="1"/>
          </p:cNvSpPr>
          <p:nvPr/>
        </p:nvSpPr>
        <p:spPr bwMode="auto">
          <a:xfrm>
            <a:off x="0" y="522288"/>
            <a:ext cx="1495425" cy="538480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6</a:t>
            </a:r>
            <a:endParaRPr kumimoji="0" lang="zh-CN" altLang="en-US" sz="344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6" name="文本框 12"/>
          <p:cNvSpPr txBox="1">
            <a:spLocks noChangeArrowheads="1"/>
          </p:cNvSpPr>
          <p:nvPr/>
        </p:nvSpPr>
        <p:spPr bwMode="auto">
          <a:xfrm>
            <a:off x="2762250" y="3644900"/>
            <a:ext cx="9429750" cy="1200150"/>
          </a:xfrm>
          <a:prstGeom prst="rect">
            <a:avLst/>
          </a:prstGeom>
          <a:noFill/>
          <a:ln>
            <a:noFill/>
          </a:ln>
        </p:spPr>
        <p:txBody>
          <a:bodyPr lIns="91428" tIns="45713" rIns="91428" bIns="45713">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rPr>
              <a:t>关键成功因素</a:t>
            </a:r>
            <a:endParaRPr kumimoji="0" lang="zh-CN" altLang="en-US" sz="7200" b="1" i="0" u="none" strike="noStrike" kern="1200" cap="none" spc="0" normalizeH="0" baseline="0" noProof="0" dirty="0">
              <a:ln>
                <a:noFill/>
              </a:ln>
              <a:solidFill>
                <a:srgbClr val="0070C0"/>
              </a:solidFill>
              <a:effectLst/>
              <a:uLnTx/>
              <a:uFillTx/>
              <a:latin typeface="Arial" panose="020B0604020202020204"/>
              <a:ea typeface="微软雅黑" panose="020B0503020204020204" pitchFamily="34" charset="-122"/>
              <a:cs typeface="+mn-ea"/>
              <a:sym typeface="+mn-lt"/>
            </a:endParaRPr>
          </a:p>
        </p:txBody>
      </p:sp>
      <p:sp>
        <p:nvSpPr>
          <p:cNvPr id="8" name="矩形 16"/>
          <p:cNvSpPr>
            <a:spLocks noChangeArrowheads="1"/>
          </p:cNvSpPr>
          <p:nvPr/>
        </p:nvSpPr>
        <p:spPr bwMode="auto">
          <a:xfrm>
            <a:off x="2886075" y="5024438"/>
            <a:ext cx="4879975" cy="1368425"/>
          </a:xfrm>
          <a:prstGeom prst="rect">
            <a:avLst/>
          </a:prstGeom>
          <a:noFill/>
          <a:ln>
            <a:noFill/>
          </a:ln>
        </p:spPr>
        <p:txBody>
          <a:bodyPr lIns="91428" tIns="45713" rIns="91428" bIns="45713">
            <a:spAutoFit/>
          </a:bodyPr>
          <a:lstStyle/>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6.1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关键成功因素的识别</a:t>
            </a:r>
            <a:endPar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just" defTabSz="1216025" rtl="0" eaLnBrk="0" fontAlgn="base" latinLnBrk="0" hangingPunct="0">
              <a:lnSpc>
                <a:spcPct val="120000"/>
              </a:lnSpc>
              <a:spcBef>
                <a:spcPct val="20000"/>
              </a:spcBef>
              <a:spcAft>
                <a:spcPct val="0"/>
              </a:spcAft>
              <a:buClrTx/>
              <a:buSzTx/>
              <a:buFontTx/>
              <a:buNone/>
              <a:defRPr/>
            </a:pPr>
            <a:r>
              <a:rPr kumimoji="0" lang="en-US" altLang="zh-CN"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6.2  </a:t>
            </a:r>
            <a:r>
              <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rPr>
              <a:t>常见的关键成功因素</a:t>
            </a:r>
            <a:endParaRPr kumimoji="0" lang="zh-CN" altLang="en-US" sz="32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089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090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0903" name="文本框 17"/>
          <p:cNvSpPr txBox="1"/>
          <p:nvPr/>
        </p:nvSpPr>
        <p:spPr>
          <a:xfrm>
            <a:off x="425450"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144588" y="2074863"/>
            <a:ext cx="9815512" cy="3538537"/>
          </a:xfrm>
          <a:prstGeom prst="rect">
            <a:avLst/>
          </a:prstGeom>
          <a:solidFill>
            <a:srgbClr val="1570C1"/>
          </a:solidFill>
          <a:ln w="9525">
            <a:noFill/>
          </a:ln>
        </p:spPr>
        <p:txBody>
          <a:bodyPr anchor="t" anchorCtr="0">
            <a:spAutoFit/>
          </a:bodyPr>
          <a:p>
            <a:pPr algn="just" eaLnBrk="0" hangingPunct="0"/>
            <a:r>
              <a:rPr lang="en-US" altLang="zh-CN" sz="2800" dirty="0">
                <a:solidFill>
                  <a:schemeClr val="bg1"/>
                </a:solidFill>
                <a:latin typeface="微软雅黑" panose="020B0503020204020204" pitchFamily="34" charset="-122"/>
                <a:ea typeface="微软雅黑" panose="020B0503020204020204" pitchFamily="34" charset="-122"/>
              </a:rPr>
              <a:t>       </a:t>
            </a:r>
            <a:r>
              <a:rPr lang="zh-CN" altLang="en-US" sz="2800" dirty="0">
                <a:solidFill>
                  <a:schemeClr val="bg1"/>
                </a:solidFill>
                <a:latin typeface="微软雅黑" panose="020B0503020204020204" pitchFamily="34" charset="-122"/>
                <a:ea typeface="微软雅黑" panose="020B0503020204020204" pitchFamily="34" charset="-122"/>
              </a:rPr>
              <a:t>竞争的关键成功因素（</a:t>
            </a:r>
            <a:r>
              <a:rPr lang="en-US" altLang="zh-CN" sz="2800" dirty="0">
                <a:solidFill>
                  <a:schemeClr val="bg1"/>
                </a:solidFill>
                <a:latin typeface="微软雅黑" panose="020B0503020204020204" pitchFamily="34" charset="-122"/>
                <a:ea typeface="微软雅黑" panose="020B0503020204020204" pitchFamily="34" charset="-122"/>
              </a:rPr>
              <a:t>Key Success Factor</a:t>
            </a:r>
            <a:r>
              <a:rPr lang="zh-CN" altLang="en-US" sz="2800" dirty="0">
                <a:solidFill>
                  <a:schemeClr val="bg1"/>
                </a:solidFill>
                <a:latin typeface="微软雅黑" panose="020B0503020204020204" pitchFamily="34" charset="-122"/>
                <a:ea typeface="微软雅黑" panose="020B0503020204020204" pitchFamily="34" charset="-122"/>
              </a:rPr>
              <a:t>，</a:t>
            </a:r>
            <a:r>
              <a:rPr lang="en-US" altLang="zh-CN" sz="2800" dirty="0">
                <a:solidFill>
                  <a:schemeClr val="bg1"/>
                </a:solidFill>
                <a:latin typeface="微软雅黑" panose="020B0503020204020204" pitchFamily="34" charset="-122"/>
                <a:ea typeface="微软雅黑" panose="020B0503020204020204" pitchFamily="34" charset="-122"/>
              </a:rPr>
              <a:t>KSF</a:t>
            </a:r>
            <a:r>
              <a:rPr lang="zh-CN" altLang="en-US" sz="2800" dirty="0">
                <a:solidFill>
                  <a:schemeClr val="bg1"/>
                </a:solidFill>
                <a:latin typeface="微软雅黑" panose="020B0503020204020204" pitchFamily="34" charset="-122"/>
                <a:ea typeface="微软雅黑" panose="020B0503020204020204" pitchFamily="34" charset="-122"/>
              </a:rPr>
              <a:t>）是指影响行业中企业能否在市场上</a:t>
            </a:r>
            <a:r>
              <a:rPr lang="zh-CN" altLang="en-US" sz="2800" dirty="0">
                <a:solidFill>
                  <a:srgbClr val="FF0000"/>
                </a:solidFill>
                <a:latin typeface="微软雅黑" panose="020B0503020204020204" pitchFamily="34" charset="-122"/>
                <a:ea typeface="微软雅黑" panose="020B0503020204020204" pitchFamily="34" charset="-122"/>
              </a:rPr>
              <a:t>满足顾客需求</a:t>
            </a:r>
            <a:r>
              <a:rPr lang="zh-CN" altLang="en-US" sz="2800" dirty="0">
                <a:solidFill>
                  <a:schemeClr val="bg1"/>
                </a:solidFill>
                <a:latin typeface="微软雅黑" panose="020B0503020204020204" pitchFamily="34" charset="-122"/>
                <a:ea typeface="微软雅黑" panose="020B0503020204020204" pitchFamily="34" charset="-122"/>
              </a:rPr>
              <a:t>、获得</a:t>
            </a:r>
            <a:r>
              <a:rPr lang="zh-CN" altLang="en-US" sz="2800" dirty="0">
                <a:solidFill>
                  <a:srgbClr val="FF0000"/>
                </a:solidFill>
                <a:latin typeface="微软雅黑" panose="020B0503020204020204" pitchFamily="34" charset="-122"/>
                <a:ea typeface="微软雅黑" panose="020B0503020204020204" pitchFamily="34" charset="-122"/>
              </a:rPr>
              <a:t>持续竞争优势</a:t>
            </a:r>
            <a:r>
              <a:rPr lang="zh-CN" altLang="en-US" sz="2800" dirty="0">
                <a:solidFill>
                  <a:schemeClr val="bg1"/>
                </a:solidFill>
                <a:latin typeface="微软雅黑" panose="020B0503020204020204" pitchFamily="34" charset="-122"/>
                <a:ea typeface="微软雅黑" panose="020B0503020204020204" pitchFamily="34" charset="-122"/>
              </a:rPr>
              <a:t>最重要的因素，包括独特的战略要素、产品属性、资源、能力、竞争能力等。</a:t>
            </a:r>
            <a:endParaRPr lang="en-US" altLang="zh-CN" sz="2800" dirty="0">
              <a:solidFill>
                <a:schemeClr val="bg1"/>
              </a:solidFill>
              <a:latin typeface="微软雅黑" panose="020B0503020204020204" pitchFamily="34" charset="-122"/>
              <a:ea typeface="微软雅黑" panose="020B0503020204020204" pitchFamily="34" charset="-122"/>
            </a:endParaRPr>
          </a:p>
          <a:p>
            <a:pPr algn="just" eaLnBrk="0" hangingPunct="0"/>
            <a:endParaRPr lang="zh-CN" altLang="en-US" sz="2800" dirty="0">
              <a:solidFill>
                <a:schemeClr val="bg1"/>
              </a:solidFill>
              <a:latin typeface="微软雅黑" panose="020B0503020204020204" pitchFamily="34" charset="-122"/>
              <a:ea typeface="微软雅黑" panose="020B0503020204020204" pitchFamily="34" charset="-122"/>
            </a:endParaRPr>
          </a:p>
          <a:p>
            <a:pPr algn="just" eaLnBrk="0" hangingPunct="0"/>
            <a:r>
              <a:rPr lang="zh-CN" altLang="en-US" sz="2800" dirty="0">
                <a:solidFill>
                  <a:schemeClr val="bg1"/>
                </a:solidFill>
                <a:latin typeface="微软雅黑" panose="020B0503020204020204" pitchFamily="34" charset="-122"/>
                <a:ea typeface="微软雅黑" panose="020B0503020204020204" pitchFamily="34" charset="-122"/>
              </a:rPr>
              <a:t>       这些因素是行业中价值创造的关键环节，还是企业应该构建核心竞争力的领域。识别关键成功因素，充分掌握行业的特点与竞争情况，是战略分析与制定的前提与基础。</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294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294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295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6.1  </a:t>
            </a:r>
            <a:r>
              <a:rPr lang="zh-CN" altLang="en-US" sz="3200" dirty="0">
                <a:solidFill>
                  <a:srgbClr val="1570C1"/>
                </a:solidFill>
                <a:latin typeface="微软雅黑" panose="020B0503020204020204" pitchFamily="34" charset="-122"/>
                <a:ea typeface="微软雅黑" panose="020B0503020204020204" pitchFamily="34" charset="-122"/>
              </a:rPr>
              <a:t>关键成功因素的识别</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3" name="矩形 2"/>
          <p:cNvSpPr/>
          <p:nvPr/>
        </p:nvSpPr>
        <p:spPr>
          <a:xfrm>
            <a:off x="1131888" y="1860550"/>
            <a:ext cx="9931400" cy="3538538"/>
          </a:xfrm>
          <a:prstGeom prst="rect">
            <a:avLst/>
          </a:prstGeom>
          <a:solidFill>
            <a:srgbClr val="57CAF4"/>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回答以下</a:t>
            </a: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三个问题有助于确定行业的关键成功因素：</a:t>
            </a:r>
            <a:endParaRPr kumimoji="0" lang="en-US" altLang="zh-CN"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顾客在各个竞争性品牌间进行选择的基础是什么？</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行业中的企业要取得竞争成功必须做什么一一它需要什么资源和竞争能力？</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rPr>
              <a:t>行业中的企业要取得持久竞争优势必须采取什么措施？ </a:t>
            </a:r>
            <a:endParaRPr kumimoji="0" lang="zh-CN" altLang="en-US" sz="2800" b="0" i="0" u="none" strike="noStrike" kern="1200" cap="none" spc="0" normalizeH="0" baseline="0" noProof="0" dirty="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499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499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499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6.1  </a:t>
            </a:r>
            <a:r>
              <a:rPr lang="zh-CN" altLang="en-US" sz="3200" dirty="0">
                <a:solidFill>
                  <a:srgbClr val="1570C1"/>
                </a:solidFill>
                <a:latin typeface="微软雅黑" panose="020B0503020204020204" pitchFamily="34" charset="-122"/>
                <a:ea typeface="微软雅黑" panose="020B0503020204020204" pitchFamily="34" charset="-122"/>
              </a:rPr>
              <a:t>关键成功因素的识别</a:t>
            </a:r>
            <a:endParaRPr lang="zh-CN" altLang="en-US" sz="3200" dirty="0">
              <a:solidFill>
                <a:srgbClr val="1570C1"/>
              </a:solidFill>
              <a:latin typeface="微软雅黑" panose="020B0503020204020204" pitchFamily="34" charset="-122"/>
              <a:ea typeface="微软雅黑" panose="020B0503020204020204" pitchFamily="34" charset="-122"/>
            </a:endParaRPr>
          </a:p>
        </p:txBody>
      </p:sp>
      <p:grpSp>
        <p:nvGrpSpPr>
          <p:cNvPr id="5" name="组合 4"/>
          <p:cNvGrpSpPr/>
          <p:nvPr/>
        </p:nvGrpSpPr>
        <p:grpSpPr>
          <a:xfrm>
            <a:off x="1119188" y="2084388"/>
            <a:ext cx="4635500" cy="3090862"/>
            <a:chOff x="1118853" y="2084341"/>
            <a:chExt cx="4635299" cy="3090957"/>
          </a:xfrm>
        </p:grpSpPr>
        <p:sp>
          <p:nvSpPr>
            <p:cNvPr id="11" name="矩形 10"/>
            <p:cNvSpPr/>
            <p:nvPr/>
          </p:nvSpPr>
          <p:spPr>
            <a:xfrm>
              <a:off x="1118853" y="2084341"/>
              <a:ext cx="4635299" cy="71757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比较法</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矩形 11"/>
            <p:cNvSpPr/>
            <p:nvPr/>
          </p:nvSpPr>
          <p:spPr>
            <a:xfrm>
              <a:off x="1118853" y="2801913"/>
              <a:ext cx="4635299" cy="2373385"/>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将本行业内成功企业与失败企业进行比较，分析差距及造成差距的原因，差别之处就是关键成功因素</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grpSp>
        <p:nvGrpSpPr>
          <p:cNvPr id="6" name="组合 5"/>
          <p:cNvGrpSpPr/>
          <p:nvPr/>
        </p:nvGrpSpPr>
        <p:grpSpPr>
          <a:xfrm>
            <a:off x="6415088" y="2084388"/>
            <a:ext cx="4635500" cy="3090862"/>
            <a:chOff x="6414775" y="2084341"/>
            <a:chExt cx="4635300" cy="3090957"/>
          </a:xfrm>
        </p:grpSpPr>
        <p:sp>
          <p:nvSpPr>
            <p:cNvPr id="13" name="矩形 12"/>
            <p:cNvSpPr/>
            <p:nvPr/>
          </p:nvSpPr>
          <p:spPr>
            <a:xfrm>
              <a:off x="6414775" y="2084341"/>
              <a:ext cx="4635300" cy="717572"/>
            </a:xfrm>
            <a:prstGeom prst="rect">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市场分析法</a:t>
              </a:r>
              <a:endParaRPr kumimoji="0" lang="zh-CN" altLang="en-US" sz="2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4" name="矩形 13"/>
            <p:cNvSpPr/>
            <p:nvPr/>
          </p:nvSpPr>
          <p:spPr>
            <a:xfrm>
              <a:off x="6414775" y="2801913"/>
              <a:ext cx="4635300" cy="2373385"/>
            </a:xfrm>
            <a:prstGeom prst="rect">
              <a:avLst/>
            </a:prstGeom>
            <a:solidFill>
              <a:srgbClr val="00B0F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      </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rPr>
                <a:t>用细分市场原则分析整个行业市场，找出关键性的市场和具有战略意义的产品进行分析，据此确定关键成功因素</a:t>
              </a:r>
              <a:endPar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704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704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704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1165225" y="1536700"/>
            <a:ext cx="9893300" cy="4186238"/>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与技术相关的关键成功要素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科研技能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生产工艺及生产过程中创造性地进行改进的技术能力</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产品革新能力</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在既定技术上的专有技能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运用</a:t>
            </a:r>
            <a:r>
              <a:rPr kumimoji="0" lang="en-US" altLang="zh-CN"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Internet</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发布信息、承接订单、送货、提供服务的能力</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89089"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89092"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89095"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2816225" y="1644650"/>
            <a:ext cx="6354763" cy="3968750"/>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与制造相关的关键成功要素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低成本生产效率</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固定资产利用率</a:t>
            </a:r>
            <a:r>
              <a:rPr lang="zh-CN" altLang="en-US" sz="2800" strike="noStrike"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sym typeface="+mn-ea"/>
              </a:rPr>
              <a:t>高</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低成本的生产工厂定位</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足够的娴熟劳动力</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劳动生产率</a:t>
            </a:r>
            <a:r>
              <a:rPr lang="zh-CN" altLang="en-US" sz="2800" strike="noStrike"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sym typeface="+mn-ea"/>
              </a:rPr>
              <a:t>高</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产品设计和产品工程成本低</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能够灵活排产，满足客户订制需要</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1137"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1140"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1143"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3854450" y="1428750"/>
            <a:ext cx="4594225" cy="4400550"/>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与营销相关的关键成功要素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快速准确的技术支持</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礼貌的客户服务</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顾客订</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单的准确满足</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产品线宽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商品推销技巧</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有吸引力的款式</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顾客保修和保险</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精明的广告</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3185"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3188"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3191"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2163763" y="1182688"/>
            <a:ext cx="8147050" cy="5262563"/>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与技能相关的关键成功要素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劳动力有卓越才能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质量控制诀窍</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设计方面的专有技能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某一具体技术上的专有技能</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能够开发出创造性产品，并能进行创造性改进</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新品开发快</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卓越的信息系统</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快速对市场变化作出反应</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能够熟练运用互联网</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0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拥有经验</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523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523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5239"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2981325" y="1860550"/>
            <a:ext cx="6381750" cy="3538538"/>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与分销相关的关键成功要素</a:t>
            </a:r>
            <a:endParaRPr kumimoji="0" lang="en-US" altLang="zh-CN"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强大的分销</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网络</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能够在零售商货架上获得足够空间</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分销成本低</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送货快</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728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9728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97287" name="文本框 17"/>
          <p:cNvSpPr txBox="1"/>
          <p:nvPr/>
        </p:nvSpPr>
        <p:spPr>
          <a:xfrm>
            <a:off x="425450" y="425450"/>
            <a:ext cx="5410200" cy="584200"/>
          </a:xfrm>
          <a:prstGeom prst="rect">
            <a:avLst/>
          </a:prstGeom>
          <a:noFill/>
          <a:ln w="9525">
            <a:noFill/>
          </a:ln>
        </p:spPr>
        <p:txBody>
          <a:bodyPr anchor="t" anchorCtr="0">
            <a:spAutoFit/>
          </a:bodyPr>
          <a:p>
            <a:r>
              <a:rPr lang="en-US" altLang="zh-CN" sz="3200" dirty="0">
                <a:solidFill>
                  <a:srgbClr val="1570C1"/>
                </a:solidFill>
                <a:latin typeface="微软雅黑" panose="020B0503020204020204" pitchFamily="34" charset="-122"/>
                <a:ea typeface="微软雅黑" panose="020B0503020204020204" pitchFamily="34" charset="-122"/>
              </a:rPr>
              <a:t>6.2  </a:t>
            </a:r>
            <a:r>
              <a:rPr lang="zh-CN" altLang="en-US" sz="3200" dirty="0">
                <a:solidFill>
                  <a:srgbClr val="1570C1"/>
                </a:solidFill>
                <a:latin typeface="微软雅黑" panose="020B0503020204020204" pitchFamily="34" charset="-122"/>
                <a:ea typeface="微软雅黑" panose="020B0503020204020204" pitchFamily="34" charset="-122"/>
              </a:rPr>
              <a:t>常见的关键成功因素</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1" name="矩形 10"/>
          <p:cNvSpPr>
            <a:spLocks noChangeArrowheads="1"/>
          </p:cNvSpPr>
          <p:nvPr/>
        </p:nvSpPr>
        <p:spPr bwMode="auto">
          <a:xfrm>
            <a:off x="614363" y="1536700"/>
            <a:ext cx="10963275" cy="4184650"/>
          </a:xfrm>
          <a:prstGeom prst="rect">
            <a:avLst/>
          </a:prstGeom>
          <a:solidFill>
            <a:srgbClr val="57CAF4"/>
          </a:solidFill>
          <a:ln>
            <a:noFill/>
          </a:ln>
        </p:spPr>
        <p:txBody>
          <a:bodyPr>
            <a:spAutoFit/>
          </a:bodyPr>
          <a:lstStyle>
            <a:lvl1pPr marL="457200" indent="-457200">
              <a:defRPr>
                <a:solidFill>
                  <a:schemeClr val="tx1"/>
                </a:solidFill>
                <a:latin typeface="Calibri" panose="020F0502020204030204" pitchFamily="34" charset="0"/>
                <a:ea typeface="宋体" panose="02010600030101010101" pitchFamily="2" charset="-122"/>
              </a:defRPr>
            </a:lvl1pPr>
            <a:lvl2pPr marL="914400" indent="-45720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rPr>
              <a:t>其他关键成功要素</a:t>
            </a: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800" b="1" i="0" u="none" strike="noStrike" kern="1200" cap="none" spc="0" normalizeH="0" baseline="0" noProof="0" dirty="0" smtClean="0">
              <a:ln>
                <a:noFill/>
              </a:ln>
              <a:solidFill>
                <a:schemeClr val="bg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有利的公司形象与声誉</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总成本低（不仅仅是制造过程</a:t>
            </a: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便利的设施选址（尤其对零售业务而言）</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能够获得财务资本（对高风险行业与资本密集型行业尤为重要）</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a:p>
            <a:pPr marL="457200" marR="0" lvl="0" indent="-457200" algn="l" defTabSz="914400" rtl="0" eaLnBrk="0" fontAlgn="base" latinLnBrk="0" hangingPunct="0">
              <a:lnSpc>
                <a:spcPct val="150000"/>
              </a:lnSpc>
              <a:spcBef>
                <a:spcPct val="0"/>
              </a:spcBef>
              <a:spcAft>
                <a:spcPct val="0"/>
              </a:spcAft>
              <a:buClrTx/>
              <a:buSzTx/>
              <a:buFont typeface="Wingdings" panose="05000000000000000000" pitchFamily="2" charset="2"/>
              <a:buChar char="Ø"/>
              <a:defRPr/>
            </a:pPr>
            <a:r>
              <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rPr>
              <a:t>专利保护</a:t>
            </a:r>
            <a:endParaRPr kumimoji="0" lang="zh-CN" altLang="en-US" sz="2800" b="0" i="0" u="none" strike="noStrike" kern="1200" cap="none" spc="0" normalizeH="0" baseline="0" noProof="0" dirty="0" smtClean="0">
              <a:ln>
                <a:noFill/>
              </a:ln>
              <a:solidFill>
                <a:srgbClr val="1570C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0353"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0356"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0359" name="文本框 17"/>
          <p:cNvSpPr txBox="1"/>
          <p:nvPr/>
        </p:nvSpPr>
        <p:spPr>
          <a:xfrm>
            <a:off x="395605" y="425450"/>
            <a:ext cx="5410200" cy="584200"/>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外部因素评价矩阵</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00360" name="TextBox 12"/>
          <p:cNvSpPr txBox="1"/>
          <p:nvPr/>
        </p:nvSpPr>
        <p:spPr>
          <a:xfrm>
            <a:off x="944880" y="1699895"/>
            <a:ext cx="10301288" cy="3968750"/>
          </a:xfrm>
          <a:prstGeom prst="rect">
            <a:avLst/>
          </a:prstGeom>
          <a:solidFill>
            <a:srgbClr val="57CAF4"/>
          </a:solidFill>
          <a:ln w="9525">
            <a:noFill/>
          </a:ln>
        </p:spPr>
        <p:txBody>
          <a:bodyPr anchor="t" anchorCtr="0">
            <a:spAutoFit/>
          </a:bodyPr>
          <a:p>
            <a:pPr algn="just" eaLnBrk="0" hangingPunct="0">
              <a:lnSpc>
                <a:spcPct val="150000"/>
              </a:lnSpc>
            </a:pPr>
            <a:r>
              <a:rPr lang="zh-CN" altLang="en-US" dirty="0">
                <a:latin typeface="Calibri" panose="020F0502020204030204" pitchFamily="34" charset="0"/>
                <a:ea typeface="宋体" panose="02010600030101010101" pitchFamily="2" charset="-122"/>
              </a:rPr>
              <a:t> </a:t>
            </a:r>
            <a:r>
              <a:rPr lang="zh-CN" altLang="en-US" sz="2800" dirty="0">
                <a:latin typeface="Calibri" panose="020F0502020204030204" pitchFamily="34" charset="0"/>
                <a:ea typeface="宋体" panose="02010600030101010101" pitchFamily="2" charset="-122"/>
              </a:rPr>
              <a:t>        </a:t>
            </a:r>
            <a:r>
              <a:rPr lang="zh-CN" altLang="en-US" sz="2800" dirty="0">
                <a:latin typeface="微软雅黑" panose="020B0503020204020204" pitchFamily="34" charset="-122"/>
                <a:ea typeface="微软雅黑" panose="020B0503020204020204" pitchFamily="34" charset="-122"/>
              </a:rPr>
              <a:t>外部因素评价矩阵（</a:t>
            </a:r>
            <a:r>
              <a:rPr lang="en-US" altLang="zh-CN" sz="2800" dirty="0">
                <a:latin typeface="微软雅黑" panose="020B0503020204020204" pitchFamily="34" charset="-122"/>
                <a:ea typeface="微软雅黑" panose="020B0503020204020204" pitchFamily="34" charset="-122"/>
              </a:rPr>
              <a:t>External factor evaluation matrix</a:t>
            </a:r>
            <a:r>
              <a:rPr lang="zh-CN" altLang="en-US" sz="2800" dirty="0">
                <a:latin typeface="微软雅黑" panose="020B0503020204020204" pitchFamily="34" charset="-122"/>
                <a:ea typeface="微软雅黑" panose="020B0503020204020204" pitchFamily="34" charset="-122"/>
              </a:rPr>
              <a:t>），简称</a:t>
            </a:r>
            <a:r>
              <a:rPr lang="en-US" altLang="zh-CN" sz="2800" dirty="0">
                <a:latin typeface="微软雅黑" panose="020B0503020204020204" pitchFamily="34" charset="-122"/>
                <a:ea typeface="微软雅黑" panose="020B0503020204020204" pitchFamily="34" charset="-122"/>
              </a:rPr>
              <a:t>EFE</a:t>
            </a:r>
            <a:r>
              <a:rPr lang="zh-CN" altLang="en-US" sz="2800" dirty="0">
                <a:latin typeface="微软雅黑" panose="020B0503020204020204" pitchFamily="34" charset="-122"/>
                <a:ea typeface="微软雅黑" panose="020B0503020204020204" pitchFamily="34" charset="-122"/>
              </a:rPr>
              <a:t>矩阵，可以帮助战略制定者总结评价</a:t>
            </a:r>
            <a:r>
              <a:rPr lang="zh-CN" altLang="en-US" sz="2800" dirty="0">
                <a:solidFill>
                  <a:srgbClr val="FF0000"/>
                </a:solidFill>
                <a:latin typeface="微软雅黑" panose="020B0503020204020204" pitchFamily="34" charset="-122"/>
                <a:ea typeface="微软雅黑" panose="020B0503020204020204" pitchFamily="34" charset="-122"/>
              </a:rPr>
              <a:t>宏观环境方面</a:t>
            </a:r>
            <a:r>
              <a:rPr lang="zh-CN" altLang="en-US" sz="2800" dirty="0">
                <a:latin typeface="微软雅黑" panose="020B0503020204020204" pitchFamily="34" charset="-122"/>
                <a:ea typeface="微软雅黑" panose="020B0503020204020204" pitchFamily="34" charset="-122"/>
              </a:rPr>
              <a:t>的信息。</a:t>
            </a:r>
            <a:r>
              <a:rPr lang="en-US" altLang="zh-CN" sz="2800" dirty="0">
                <a:latin typeface="微软雅黑" panose="020B0503020204020204" pitchFamily="34" charset="-122"/>
                <a:ea typeface="微软雅黑" panose="020B0503020204020204" pitchFamily="34" charset="-122"/>
              </a:rPr>
              <a:t>EFE</a:t>
            </a:r>
            <a:r>
              <a:rPr lang="zh-CN" altLang="en-US" sz="2800" dirty="0">
                <a:latin typeface="微软雅黑" panose="020B0503020204020204" pitchFamily="34" charset="-122"/>
                <a:ea typeface="微软雅黑" panose="020B0503020204020204" pitchFamily="34" charset="-122"/>
              </a:rPr>
              <a:t>矩阵从</a:t>
            </a:r>
            <a:r>
              <a:rPr lang="zh-CN" altLang="en-US" sz="2800" dirty="0">
                <a:solidFill>
                  <a:srgbClr val="FF0000"/>
                </a:solidFill>
                <a:latin typeface="微软雅黑" panose="020B0503020204020204" pitchFamily="34" charset="-122"/>
                <a:ea typeface="微软雅黑" panose="020B0503020204020204" pitchFamily="34" charset="-122"/>
              </a:rPr>
              <a:t>机会与威胁</a:t>
            </a:r>
            <a:r>
              <a:rPr lang="zh-CN" altLang="en-US" sz="2800" dirty="0">
                <a:latin typeface="微软雅黑" panose="020B0503020204020204" pitchFamily="34" charset="-122"/>
                <a:ea typeface="微软雅黑" panose="020B0503020204020204" pitchFamily="34" charset="-122"/>
              </a:rPr>
              <a:t>两个方面出发，首先从</a:t>
            </a:r>
            <a:r>
              <a:rPr lang="zh-CN" altLang="en-US" sz="2800" dirty="0">
                <a:solidFill>
                  <a:srgbClr val="FF0000"/>
                </a:solidFill>
                <a:latin typeface="微软雅黑" panose="020B0503020204020204" pitchFamily="34" charset="-122"/>
                <a:ea typeface="微软雅黑" panose="020B0503020204020204" pitchFamily="34" charset="-122"/>
              </a:rPr>
              <a:t>行业角度</a:t>
            </a:r>
            <a:r>
              <a:rPr lang="zh-CN" altLang="en-US" sz="2800" dirty="0">
                <a:latin typeface="微软雅黑" panose="020B0503020204020204" pitchFamily="34" charset="-122"/>
                <a:ea typeface="微软雅黑" panose="020B0503020204020204" pitchFamily="34" charset="-122"/>
              </a:rPr>
              <a:t>对外部关键因素进行重要性评估并赋予权重，然后对</a:t>
            </a:r>
            <a:r>
              <a:rPr lang="zh-CN" altLang="en-US" sz="2800" dirty="0">
                <a:solidFill>
                  <a:srgbClr val="FF0000"/>
                </a:solidFill>
                <a:latin typeface="微软雅黑" panose="020B0503020204020204" pitchFamily="34" charset="-122"/>
                <a:ea typeface="微软雅黑" panose="020B0503020204020204" pitchFamily="34" charset="-122"/>
              </a:rPr>
              <a:t>企业</a:t>
            </a:r>
            <a:r>
              <a:rPr lang="zh-CN" altLang="en-US" sz="2800" dirty="0">
                <a:latin typeface="微软雅黑" panose="020B0503020204020204" pitchFamily="34" charset="-122"/>
                <a:ea typeface="微软雅黑" panose="020B0503020204020204" pitchFamily="34" charset="-122"/>
              </a:rPr>
              <a:t>对各个因素的</a:t>
            </a:r>
            <a:r>
              <a:rPr lang="zh-CN" altLang="en-US" sz="2800" dirty="0">
                <a:solidFill>
                  <a:srgbClr val="FF0000"/>
                </a:solidFill>
                <a:latin typeface="微软雅黑" panose="020B0503020204020204" pitchFamily="34" charset="-122"/>
                <a:ea typeface="微软雅黑" panose="020B0503020204020204" pitchFamily="34" charset="-122"/>
              </a:rPr>
              <a:t>战略反应</a:t>
            </a:r>
            <a:r>
              <a:rPr lang="zh-CN" altLang="en-US" sz="2800" dirty="0">
                <a:latin typeface="微软雅黑" panose="020B0503020204020204" pitchFamily="34" charset="-122"/>
                <a:ea typeface="微软雅黑" panose="020B0503020204020204" pitchFamily="34" charset="-122"/>
              </a:rPr>
              <a:t>进行评分，最终得出企业在</a:t>
            </a:r>
            <a:r>
              <a:rPr lang="zh-CN" altLang="en-US" sz="2800" dirty="0">
                <a:solidFill>
                  <a:srgbClr val="FF0000"/>
                </a:solidFill>
                <a:latin typeface="微软雅黑" panose="020B0503020204020204" pitchFamily="34" charset="-122"/>
                <a:ea typeface="微软雅黑" panose="020B0503020204020204" pitchFamily="34" charset="-122"/>
              </a:rPr>
              <a:t>利用机会</a:t>
            </a:r>
            <a:r>
              <a:rPr lang="zh-CN" altLang="en-US" sz="2800" dirty="0">
                <a:latin typeface="微软雅黑" panose="020B0503020204020204" pitchFamily="34" charset="-122"/>
                <a:ea typeface="微软雅黑" panose="020B0503020204020204" pitchFamily="34" charset="-122"/>
              </a:rPr>
              <a:t>与</a:t>
            </a:r>
            <a:r>
              <a:rPr lang="zh-CN" altLang="en-US" sz="2800" dirty="0">
                <a:solidFill>
                  <a:srgbClr val="FF0000"/>
                </a:solidFill>
                <a:latin typeface="微软雅黑" panose="020B0503020204020204" pitchFamily="34" charset="-122"/>
                <a:ea typeface="微软雅黑" panose="020B0503020204020204" pitchFamily="34" charset="-122"/>
              </a:rPr>
              <a:t>应对威胁</a:t>
            </a:r>
            <a:r>
              <a:rPr lang="zh-CN" altLang="en-US" sz="2800" dirty="0">
                <a:latin typeface="微软雅黑" panose="020B0503020204020204" pitchFamily="34" charset="-122"/>
                <a:ea typeface="微软雅黑" panose="020B0503020204020204" pitchFamily="34" charset="-122"/>
              </a:rPr>
              <a:t>方面的综合得分。</a:t>
            </a:r>
            <a:endParaRPr lang="zh-CN" altLang="en-US" sz="28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2401" name="组合 3"/>
          <p:cNvGrpSpPr/>
          <p:nvPr/>
        </p:nvGrpSpPr>
        <p:grpSpPr>
          <a:xfrm flipH="1">
            <a:off x="11182350" y="0"/>
            <a:ext cx="1009650" cy="1009650"/>
            <a:chOff x="0" y="0"/>
            <a:chExt cx="3600450" cy="3600450"/>
          </a:xfrm>
        </p:grpSpPr>
        <p:sp>
          <p:nvSpPr>
            <p:cNvPr id="8" name="直角三角形 7"/>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 name="直角三角形 1"/>
            <p:cNvSpPr/>
            <p:nvPr/>
          </p:nvSpPr>
          <p:spPr>
            <a:xfrm rot="5400000">
              <a:off x="-3" y="1"/>
              <a:ext cx="2972071" cy="2972068"/>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grpSp>
        <p:nvGrpSpPr>
          <p:cNvPr id="102404" name="组合 14"/>
          <p:cNvGrpSpPr/>
          <p:nvPr/>
        </p:nvGrpSpPr>
        <p:grpSpPr>
          <a:xfrm flipV="1">
            <a:off x="0" y="5829300"/>
            <a:ext cx="1028700" cy="1028700"/>
            <a:chOff x="0" y="0"/>
            <a:chExt cx="3600450" cy="3600450"/>
          </a:xfrm>
        </p:grpSpPr>
        <p:sp>
          <p:nvSpPr>
            <p:cNvPr id="16" name="直角三角形 15"/>
            <p:cNvSpPr/>
            <p:nvPr/>
          </p:nvSpPr>
          <p:spPr>
            <a:xfrm rot="5400000">
              <a:off x="0" y="0"/>
              <a:ext cx="3600450" cy="3600450"/>
            </a:xfrm>
            <a:prstGeom prst="rtTriangle">
              <a:avLst/>
            </a:prstGeom>
            <a:solidFill>
              <a:srgbClr val="D7D8D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直角三角形 16"/>
            <p:cNvSpPr/>
            <p:nvPr/>
          </p:nvSpPr>
          <p:spPr>
            <a:xfrm rot="5400000">
              <a:off x="4" y="0"/>
              <a:ext cx="2972592" cy="2972596"/>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
        <p:nvSpPr>
          <p:cNvPr id="102407" name="文本框 17"/>
          <p:cNvSpPr txBox="1"/>
          <p:nvPr/>
        </p:nvSpPr>
        <p:spPr>
          <a:xfrm>
            <a:off x="403225" y="425450"/>
            <a:ext cx="7226300" cy="583565"/>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外部因素评价矩阵分析步骤</a:t>
            </a:r>
            <a:endParaRPr lang="zh-CN" altLang="en-US" sz="3200" dirty="0">
              <a:solidFill>
                <a:srgbClr val="1570C1"/>
              </a:solidFill>
              <a:latin typeface="微软雅黑" panose="020B0503020204020204" pitchFamily="34" charset="-122"/>
              <a:ea typeface="微软雅黑" panose="020B0503020204020204" pitchFamily="34" charset="-122"/>
            </a:endParaRPr>
          </a:p>
        </p:txBody>
      </p:sp>
      <p:sp>
        <p:nvSpPr>
          <p:cNvPr id="102408" name="Rectangle 1"/>
          <p:cNvSpPr/>
          <p:nvPr/>
        </p:nvSpPr>
        <p:spPr>
          <a:xfrm>
            <a:off x="506413" y="1250950"/>
            <a:ext cx="11301412" cy="4706938"/>
          </a:xfrm>
          <a:prstGeom prst="rect">
            <a:avLst/>
          </a:prstGeom>
          <a:solidFill>
            <a:srgbClr val="57CAF4"/>
          </a:solidFill>
          <a:ln w="9525">
            <a:noFill/>
          </a:ln>
        </p:spPr>
        <p:txBody>
          <a:bodyPr wrap="square" anchor="ctr" anchorCtr="0">
            <a:spAutoFit/>
          </a:bodyPr>
          <a:p>
            <a:pPr indent="266700" algn="just" eaLnBrk="0" hangingPunct="0">
              <a:lnSpc>
                <a:spcPct val="150000"/>
              </a:lnSpc>
            </a:pP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第一，在进行外部环境分析时，依次列出影响企业和产业的</a:t>
            </a:r>
            <a:r>
              <a:rPr lang="en-US" altLang="zh-CN" sz="2000" dirty="0">
                <a:latin typeface="微软雅黑" panose="020B0503020204020204" pitchFamily="34" charset="-122"/>
                <a:ea typeface="微软雅黑" panose="020B0503020204020204" pitchFamily="34" charset="-122"/>
              </a:rPr>
              <a:t>15~20</a:t>
            </a:r>
            <a:r>
              <a:rPr lang="zh-CN" altLang="en-US" sz="2000" dirty="0">
                <a:latin typeface="微软雅黑" panose="020B0503020204020204" pitchFamily="34" charset="-122"/>
                <a:ea typeface="微软雅黑" panose="020B0503020204020204" pitchFamily="34" charset="-122"/>
              </a:rPr>
              <a:t>个主要外部因素，涵盖机会和威胁两个方面。首先列举机会、然后列举威胁，尽可能具体，使用百分比、比率和对比性数字。</a:t>
            </a:r>
            <a:endParaRPr lang="zh-CN" altLang="en-US" sz="2000" dirty="0">
              <a:latin typeface="微软雅黑" panose="020B0503020204020204" pitchFamily="34" charset="-122"/>
              <a:ea typeface="微软雅黑" panose="020B0503020204020204" pitchFamily="34" charset="-122"/>
            </a:endParaRPr>
          </a:p>
          <a:p>
            <a:pPr indent="266700" algn="just" eaLnBrk="0" hangingPunct="0">
              <a:lnSpc>
                <a:spcPct val="150000"/>
              </a:lnSpc>
            </a:pPr>
            <a:r>
              <a:rPr lang="zh-CN" altLang="en-US" sz="2000" dirty="0">
                <a:latin typeface="微软雅黑" panose="020B0503020204020204" pitchFamily="34" charset="-122"/>
                <a:ea typeface="微软雅黑" panose="020B0503020204020204" pitchFamily="34" charset="-122"/>
              </a:rPr>
              <a:t>   第二，为每个因素赋予权重。权重表示该因素对于企业在行业中取得成功的影响的重要程度，赋值从</a:t>
            </a:r>
            <a:r>
              <a:rPr lang="en-US" altLang="zh-CN" sz="2000" dirty="0">
                <a:latin typeface="微软雅黑" panose="020B0503020204020204" pitchFamily="34" charset="-122"/>
                <a:ea typeface="微软雅黑" panose="020B0503020204020204" pitchFamily="34" charset="-122"/>
              </a:rPr>
              <a:t>0</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不等，所有权重系数的总和等于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。权重可以通过比较成功与失败竞争对手或者集体讨论的方式确定。权重确定以行业为基准。</a:t>
            </a:r>
            <a:endParaRPr lang="zh-CN" altLang="en-US" sz="2000" dirty="0">
              <a:latin typeface="微软雅黑" panose="020B0503020204020204" pitchFamily="34" charset="-122"/>
              <a:ea typeface="微软雅黑" panose="020B0503020204020204" pitchFamily="34" charset="-122"/>
            </a:endParaRPr>
          </a:p>
          <a:p>
            <a:pPr indent="266700" algn="just" eaLnBrk="0" hangingPunct="0">
              <a:lnSpc>
                <a:spcPct val="150000"/>
              </a:lnSpc>
            </a:pPr>
            <a:r>
              <a:rPr lang="zh-CN" altLang="en-US" sz="2000" dirty="0">
                <a:latin typeface="微软雅黑" panose="020B0503020204020204" pitchFamily="34" charset="-122"/>
                <a:ea typeface="微软雅黑" panose="020B0503020204020204" pitchFamily="34" charset="-122"/>
              </a:rPr>
              <a:t>   第三，对关键的外部因素从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进行评分，以衡量企业当前战略对于该因素的反应程度。其中从</a:t>
            </a: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到</a:t>
            </a: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依次为：很差、平均水平、高于平均水平、很好。与第二步权重评估不同，该评分是针对企业而言，是企业战略有效性的体现，是企业战略能否有效应对外部环境因素的真实表现。</a:t>
            </a:r>
            <a:endParaRPr lang="zh-CN" altLang="en-US" sz="2000" dirty="0">
              <a:latin typeface="微软雅黑" panose="020B0503020204020204" pitchFamily="34" charset="-122"/>
              <a:ea typeface="微软雅黑" panose="020B0503020204020204" pitchFamily="34" charset="-122"/>
            </a:endParaRPr>
          </a:p>
          <a:p>
            <a:pPr indent="266700" algn="just" eaLnBrk="0" hangingPunct="0">
              <a:lnSpc>
                <a:spcPct val="150000"/>
              </a:lnSpc>
            </a:pPr>
            <a:r>
              <a:rPr lang="zh-CN" altLang="en-US" sz="2000" dirty="0">
                <a:latin typeface="微软雅黑" panose="020B0503020204020204" pitchFamily="34" charset="-122"/>
                <a:ea typeface="微软雅黑" panose="020B0503020204020204" pitchFamily="34" charset="-122"/>
              </a:rPr>
              <a:t>   第四，将每个因素的权重与评分相乘，得到每一个因素的加权评价值。</a:t>
            </a:r>
            <a:endParaRPr lang="zh-CN" altLang="en-US" sz="2000" dirty="0">
              <a:latin typeface="微软雅黑" panose="020B0503020204020204" pitchFamily="34" charset="-122"/>
              <a:ea typeface="微软雅黑" panose="020B0503020204020204" pitchFamily="34" charset="-122"/>
            </a:endParaRPr>
          </a:p>
          <a:p>
            <a:pPr indent="266700" algn="just" eaLnBrk="0" hangingPunct="0">
              <a:lnSpc>
                <a:spcPct val="150000"/>
              </a:lnSpc>
            </a:pPr>
            <a:r>
              <a:rPr lang="zh-CN" altLang="en-US" sz="2000" dirty="0">
                <a:latin typeface="微软雅黑" panose="020B0503020204020204" pitchFamily="34" charset="-122"/>
                <a:ea typeface="微软雅黑" panose="020B0503020204020204" pitchFamily="34" charset="-122"/>
              </a:rPr>
              <a:t>   第五：将每个因素的加权评价值加总，求得企业外部环境机会与威胁的综合加权评价值。</a:t>
            </a:r>
            <a:endParaRPr lang="zh-CN" altLang="en-US" sz="2000" dirty="0">
              <a:latin typeface="微软雅黑" panose="020B0503020204020204" pitchFamily="34" charset="-122"/>
              <a:ea typeface="微软雅黑" panose="020B0503020204020204" pitchFamily="34" charset="-122"/>
            </a:endParaRPr>
          </a:p>
        </p:txBody>
      </p:sp>
    </p:spTree>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6" name="矩形 28675"/>
          <p:cNvSpPr/>
          <p:nvPr/>
        </p:nvSpPr>
        <p:spPr>
          <a:xfrm>
            <a:off x="516890" y="929640"/>
            <a:ext cx="5433695" cy="5477510"/>
          </a:xfrm>
          <a:prstGeom prst="rect">
            <a:avLst/>
          </a:prstGeom>
          <a:noFill/>
          <a:ln w="9525">
            <a:noFill/>
          </a:ln>
        </p:spPr>
        <p:txBody>
          <a:bodyPr wrap="square" anchor="ctr" anchorCtr="0">
            <a:spAutoFit/>
          </a:bodyPr>
          <a:p>
            <a:pPr algn="just">
              <a:lnSpc>
                <a:spcPct val="125000"/>
              </a:lnSpc>
            </a:pPr>
            <a:r>
              <a:rPr lang="zh-CN" altLang="zh-CN" sz="2400" dirty="0">
                <a:solidFill>
                  <a:schemeClr val="bg2"/>
                </a:solidFill>
                <a:latin typeface="微软雅黑" panose="020B0503020204020204" pitchFamily="34" charset="-122"/>
                <a:ea typeface="微软雅黑" panose="020B0503020204020204" pitchFamily="34" charset="-122"/>
              </a:rPr>
              <a:t>  </a:t>
            </a:r>
            <a:r>
              <a:rPr lang="zh-CN" altLang="zh-CN" sz="2800" dirty="0">
                <a:solidFill>
                  <a:schemeClr val="bg2"/>
                </a:solidFill>
                <a:latin typeface="微软雅黑" panose="020B0503020204020204" pitchFamily="34" charset="-122"/>
                <a:ea typeface="微软雅黑" panose="020B0503020204020204" pitchFamily="34" charset="-122"/>
              </a:rPr>
              <a:t>     </a:t>
            </a:r>
            <a:r>
              <a:rPr lang="zh-CN" altLang="zh-CN" sz="2800" dirty="0">
                <a:latin typeface="微软雅黑" panose="020B0503020204020204" pitchFamily="34" charset="-122"/>
                <a:ea typeface="微软雅黑" panose="020B0503020204020204" pitchFamily="34" charset="-122"/>
              </a:rPr>
              <a:t>对于企业来说，其可能的最高与最低综合加权评价值分别为</a:t>
            </a:r>
            <a:r>
              <a:rPr lang="en-US" altLang="zh-CN" sz="2800" dirty="0">
                <a:latin typeface="微软雅黑" panose="020B0503020204020204" pitchFamily="34" charset="-122"/>
                <a:ea typeface="微软雅黑" panose="020B0503020204020204" pitchFamily="34" charset="-122"/>
              </a:rPr>
              <a:t>4</a:t>
            </a:r>
            <a:r>
              <a:rPr lang="zh-CN" altLang="zh-CN" sz="2800" dirty="0">
                <a:latin typeface="微软雅黑" panose="020B0503020204020204" pitchFamily="34" charset="-122"/>
                <a:ea typeface="微软雅黑" panose="020B0503020204020204" pitchFamily="34" charset="-122"/>
              </a:rPr>
              <a:t>与</a:t>
            </a:r>
            <a:r>
              <a:rPr lang="en-US" altLang="zh-CN" sz="2800" dirty="0">
                <a:latin typeface="微软雅黑" panose="020B0503020204020204" pitchFamily="34" charset="-122"/>
                <a:ea typeface="微软雅黑" panose="020B0503020204020204" pitchFamily="34" charset="-122"/>
              </a:rPr>
              <a:t>1</a:t>
            </a:r>
            <a:r>
              <a:rPr lang="zh-CN" altLang="zh-CN" sz="2800" dirty="0">
                <a:latin typeface="微软雅黑" panose="020B0503020204020204" pitchFamily="34" charset="-122"/>
                <a:ea typeface="微软雅黑" panose="020B0503020204020204" pitchFamily="34" charset="-122"/>
              </a:rPr>
              <a:t>，其平均综合加权评价值为</a:t>
            </a:r>
            <a:r>
              <a:rPr lang="en-US" altLang="zh-CN" sz="2800" dirty="0">
                <a:latin typeface="微软雅黑" panose="020B0503020204020204" pitchFamily="34" charset="-122"/>
                <a:ea typeface="微软雅黑" panose="020B0503020204020204" pitchFamily="34" charset="-122"/>
              </a:rPr>
              <a:t>2.5</a:t>
            </a:r>
            <a:r>
              <a:rPr lang="zh-CN" altLang="zh-CN" sz="2800" dirty="0">
                <a:latin typeface="微软雅黑" panose="020B0503020204020204" pitchFamily="34" charset="-122"/>
                <a:ea typeface="微软雅黑" panose="020B0503020204020204" pitchFamily="34" charset="-122"/>
              </a:rPr>
              <a:t>。</a:t>
            </a:r>
            <a:endParaRPr lang="zh-CN" altLang="zh-CN" sz="2800" dirty="0">
              <a:latin typeface="微软雅黑" panose="020B0503020204020204" pitchFamily="34" charset="-122"/>
              <a:ea typeface="微软雅黑" panose="020B0503020204020204" pitchFamily="34" charset="-122"/>
            </a:endParaRPr>
          </a:p>
          <a:p>
            <a:pPr algn="just">
              <a:lnSpc>
                <a:spcPct val="125000"/>
              </a:lnSpc>
            </a:pPr>
            <a:r>
              <a:rPr lang="zh-CN" altLang="zh-CN" sz="2800" dirty="0">
                <a:latin typeface="微软雅黑" panose="020B0503020204020204" pitchFamily="34" charset="-122"/>
                <a:ea typeface="微软雅黑" panose="020B0503020204020204" pitchFamily="34" charset="-122"/>
              </a:rPr>
              <a:t>       如果综合加权评价值为</a:t>
            </a:r>
            <a:r>
              <a:rPr lang="en-US" altLang="zh-CN" sz="2800" dirty="0">
                <a:latin typeface="微软雅黑" panose="020B0503020204020204" pitchFamily="34" charset="-122"/>
                <a:ea typeface="微软雅黑" panose="020B0503020204020204" pitchFamily="34" charset="-122"/>
              </a:rPr>
              <a:t>4</a:t>
            </a:r>
            <a:r>
              <a:rPr lang="zh-CN" altLang="zh-CN" sz="2800" dirty="0">
                <a:latin typeface="微软雅黑" panose="020B0503020204020204" pitchFamily="34" charset="-122"/>
                <a:ea typeface="微软雅黑" panose="020B0503020204020204" pitchFamily="34" charset="-122"/>
              </a:rPr>
              <a:t>，表示该企业处于一个非常有吸引力的行业中，面临大量市场机会；而综合加权评价值为</a:t>
            </a:r>
            <a:r>
              <a:rPr lang="en-US" altLang="zh-CN" sz="2800" dirty="0">
                <a:latin typeface="微软雅黑" panose="020B0503020204020204" pitchFamily="34" charset="-122"/>
                <a:ea typeface="微软雅黑" panose="020B0503020204020204" pitchFamily="34" charset="-122"/>
              </a:rPr>
              <a:t>1</a:t>
            </a:r>
            <a:r>
              <a:rPr lang="zh-CN" altLang="zh-CN" sz="2800" dirty="0">
                <a:latin typeface="微软雅黑" panose="020B0503020204020204" pitchFamily="34" charset="-122"/>
                <a:ea typeface="微软雅黑" panose="020B0503020204020204" pitchFamily="34" charset="-122"/>
              </a:rPr>
              <a:t>，则表示企业处于一个前景不妙的行业中，面临着严重的外部威胁。 </a:t>
            </a:r>
            <a:endParaRPr lang="zh-CN" altLang="zh-CN" sz="2800" dirty="0">
              <a:latin typeface="微软雅黑" panose="020B0503020204020204" pitchFamily="34" charset="-122"/>
              <a:ea typeface="微软雅黑" panose="020B0503020204020204" pitchFamily="34" charset="-122"/>
            </a:endParaRPr>
          </a:p>
        </p:txBody>
      </p:sp>
      <p:pic>
        <p:nvPicPr>
          <p:cNvPr id="104450" name="图片 1"/>
          <p:cNvPicPr>
            <a:picLocks noChangeAspect="1"/>
          </p:cNvPicPr>
          <p:nvPr/>
        </p:nvPicPr>
        <p:blipFill>
          <a:blip r:embed="rId1"/>
          <a:srcRect l="54347" t="47414"/>
          <a:stretch>
            <a:fillRect/>
          </a:stretch>
        </p:blipFill>
        <p:spPr>
          <a:xfrm>
            <a:off x="10522585" y="71755"/>
            <a:ext cx="1669415" cy="1878330"/>
          </a:xfrm>
          <a:prstGeom prst="rect">
            <a:avLst/>
          </a:prstGeom>
          <a:noFill/>
          <a:ln w="9525">
            <a:noFill/>
          </a:ln>
        </p:spPr>
      </p:pic>
      <p:sp>
        <p:nvSpPr>
          <p:cNvPr id="104451" name="文本框 17"/>
          <p:cNvSpPr txBox="1"/>
          <p:nvPr/>
        </p:nvSpPr>
        <p:spPr>
          <a:xfrm>
            <a:off x="383540" y="216535"/>
            <a:ext cx="7226300" cy="583565"/>
          </a:xfrm>
          <a:prstGeom prst="rect">
            <a:avLst/>
          </a:prstGeom>
          <a:noFill/>
          <a:ln w="9525">
            <a:noFill/>
          </a:ln>
        </p:spPr>
        <p:txBody>
          <a:bodyPr anchor="t" anchorCtr="0">
            <a:spAutoFit/>
          </a:bodyPr>
          <a:p>
            <a:r>
              <a:rPr lang="zh-CN" altLang="en-US" sz="3200" dirty="0">
                <a:solidFill>
                  <a:srgbClr val="1570C1"/>
                </a:solidFill>
                <a:latin typeface="微软雅黑" panose="020B0503020204020204" pitchFamily="34" charset="-122"/>
                <a:ea typeface="微软雅黑" panose="020B0503020204020204" pitchFamily="34" charset="-122"/>
              </a:rPr>
              <a:t>外部因素评价矩阵分析结论</a:t>
            </a:r>
            <a:endParaRPr lang="zh-CN" altLang="en-US" sz="3200" dirty="0">
              <a:solidFill>
                <a:srgbClr val="1570C1"/>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6109970" y="1058545"/>
            <a:ext cx="4413250" cy="5348605"/>
          </a:xfrm>
          <a:prstGeom prst="rect">
            <a:avLst/>
          </a:prstGeom>
        </p:spPr>
      </p:pic>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8676"/>
                                        </p:tgtEl>
                                        <p:attrNameLst>
                                          <p:attrName>style.visibility</p:attrName>
                                        </p:attrNameLst>
                                      </p:cBhvr>
                                      <p:to>
                                        <p:strVal val="visible"/>
                                      </p:to>
                                    </p:set>
                                    <p:anim calcmode="discrete" valueType="clr">
                                      <p:cBhvr override="childStyle">
                                        <p:cTn id="7" dur="80"/>
                                        <p:tgtEl>
                                          <p:spTgt spid="28676"/>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8676"/>
                                        </p:tgtEl>
                                        <p:attrNameLst>
                                          <p:attrName>fillcolor</p:attrName>
                                        </p:attrNameLst>
                                      </p:cBhvr>
                                      <p:tavLst>
                                        <p:tav tm="0">
                                          <p:val>
                                            <p:clrVal>
                                              <a:schemeClr val="accent2"/>
                                            </p:clrVal>
                                          </p:val>
                                        </p:tav>
                                        <p:tav tm="50000">
                                          <p:val>
                                            <p:clrVal>
                                              <a:schemeClr val="hlink"/>
                                            </p:clrVal>
                                          </p:val>
                                        </p:tav>
                                      </p:tavLst>
                                    </p:anim>
                                    <p:set>
                                      <p:cBhvr>
                                        <p:cTn id="9" dur="80"/>
                                        <p:tgtEl>
                                          <p:spTgt spid="28676"/>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defTabSz="914400" eaLnBrk="1" hangingPunct="1">
              <a:lnSpc>
                <a:spcPct val="100000"/>
              </a:lnSpc>
              <a:buClrTx/>
              <a:buSzTx/>
              <a:buFontTx/>
            </a:pPr>
            <a:r>
              <a:rPr lang="zh-CN" altLang="en-US" sz="3200" dirty="0">
                <a:solidFill>
                  <a:srgbClr val="1570C1"/>
                </a:solidFill>
                <a:latin typeface="微软雅黑" panose="020B0503020204020204" pitchFamily="34" charset="-122"/>
                <a:ea typeface="微软雅黑" panose="020B0503020204020204" pitchFamily="34" charset="-122"/>
                <a:cs typeface="+mn-cs"/>
              </a:rPr>
              <a:t>竞争态势矩阵分析法</a:t>
            </a:r>
            <a:endParaRPr lang="zh-CN" altLang="en-US" sz="3200" dirty="0">
              <a:solidFill>
                <a:srgbClr val="1570C1"/>
              </a:solidFill>
              <a:latin typeface="微软雅黑" panose="020B0503020204020204" pitchFamily="34" charset="-122"/>
              <a:ea typeface="微软雅黑" panose="020B0503020204020204" pitchFamily="34" charset="-122"/>
              <a:cs typeface="+mn-cs"/>
            </a:endParaRPr>
          </a:p>
        </p:txBody>
      </p:sp>
      <p:sp>
        <p:nvSpPr>
          <p:cNvPr id="3" name="内容占位符 2"/>
          <p:cNvSpPr>
            <a:spLocks noGrp="1"/>
          </p:cNvSpPr>
          <p:nvPr>
            <p:ph idx="1"/>
          </p:nvPr>
        </p:nvSpPr>
        <p:spPr>
          <a:xfrm>
            <a:off x="838200" y="1168400"/>
            <a:ext cx="10515600" cy="5137785"/>
          </a:xfrm>
        </p:spPr>
        <p:txBody>
          <a:bodyPr/>
          <a:p>
            <a:pPr algn="just"/>
            <a:r>
              <a:rPr lang="zh-CN" altLang="en-US"/>
              <a:t>    </a:t>
            </a:r>
            <a:r>
              <a:rPr lang="en-US" altLang="zh-CN"/>
              <a:t>     </a:t>
            </a:r>
            <a:r>
              <a:rPr lang="zh-CN" altLang="en-US"/>
              <a:t>竞争态势矩阵（</a:t>
            </a:r>
            <a:r>
              <a:rPr lang="en-US" altLang="zh-CN"/>
              <a:t>C</a:t>
            </a:r>
            <a:r>
              <a:rPr lang="zh-CN" altLang="en-US"/>
              <a:t>ompetitive </a:t>
            </a:r>
            <a:r>
              <a:rPr lang="en-US" altLang="zh-CN"/>
              <a:t>P</a:t>
            </a:r>
            <a:r>
              <a:rPr lang="zh-CN" altLang="en-US"/>
              <a:t>rofile </a:t>
            </a:r>
            <a:r>
              <a:rPr lang="en-US" altLang="zh-CN"/>
              <a:t>M</a:t>
            </a:r>
            <a:r>
              <a:rPr lang="zh-CN" altLang="en-US"/>
              <a:t>atrix, CPM）用于确认</a:t>
            </a:r>
            <a:r>
              <a:rPr lang="zh-CN" altLang="en-US">
                <a:solidFill>
                  <a:srgbClr val="FF0000"/>
                </a:solidFill>
              </a:rPr>
              <a:t>企业的主要竞争者及相对</a:t>
            </a:r>
            <a:r>
              <a:rPr lang="zh-CN" altLang="en-US">
                <a:solidFill>
                  <a:srgbClr val="FF0000"/>
                </a:solidFill>
              </a:rPr>
              <a:t>于该企业的战略地位、主要竞争者的特定优势与劣势</a:t>
            </a:r>
            <a:r>
              <a:rPr lang="zh-CN" altLang="en-US"/>
              <a:t>。</a:t>
            </a:r>
            <a:endParaRPr lang="zh-CN" altLang="en-US"/>
          </a:p>
          <a:p>
            <a:pPr algn="just"/>
            <a:r>
              <a:rPr lang="zh-CN" altLang="en-US"/>
              <a:t> CPM分析步骤：</a:t>
            </a:r>
            <a:endParaRPr lang="zh-CN" altLang="en-US"/>
          </a:p>
          <a:p>
            <a:pPr algn="just"/>
            <a:r>
              <a:rPr lang="zh-CN" altLang="en-US"/>
              <a:t>第一步：由企业战略决策者识别外部坏境中的关键战略因素。</a:t>
            </a:r>
            <a:endParaRPr lang="zh-CN" altLang="en-US"/>
          </a:p>
          <a:p>
            <a:pPr algn="just"/>
            <a:r>
              <a:rPr lang="zh-CN" altLang="en-US"/>
              <a:t>第二步：赋予每个因素一定的权重，以表明该因素对于企业经营成败的相对重要性。</a:t>
            </a:r>
            <a:endParaRPr lang="zh-CN" altLang="en-US"/>
          </a:p>
          <a:p>
            <a:pPr algn="just"/>
            <a:r>
              <a:rPr lang="zh-CN" altLang="en-US"/>
              <a:t>第三步：对产业中各竞争者在每个战略要素上所表现的力量相对强弱进行评价。</a:t>
            </a:r>
            <a:endParaRPr lang="zh-CN" altLang="en-US"/>
          </a:p>
          <a:p>
            <a:pPr algn="just"/>
            <a:r>
              <a:rPr lang="zh-CN" altLang="en-US"/>
              <a:t>第四步：将各战略要素的评价值与权重相乘，得出各竞争者在相应因素上相对力量强弱的加权评价值。</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dirty="0">
                <a:solidFill>
                  <a:srgbClr val="1570C1"/>
                </a:solidFill>
                <a:latin typeface="微软雅黑" panose="020B0503020204020204" pitchFamily="34" charset="-122"/>
                <a:ea typeface="微软雅黑" panose="020B0503020204020204" pitchFamily="34" charset="-122"/>
                <a:cs typeface="+mn-cs"/>
                <a:sym typeface="+mn-ea"/>
              </a:rPr>
              <a:t>竞争态势矩阵分析法</a:t>
            </a:r>
            <a:br>
              <a:rPr lang="zh-CN" altLang="en-US" sz="3200" dirty="0">
                <a:solidFill>
                  <a:srgbClr val="1570C1"/>
                </a:solidFill>
                <a:latin typeface="微软雅黑" panose="020B0503020204020204" pitchFamily="34" charset="-122"/>
                <a:ea typeface="微软雅黑" panose="020B0503020204020204" pitchFamily="34" charset="-122"/>
                <a:cs typeface="+mn-cs"/>
              </a:rPr>
            </a:br>
            <a:endParaRPr lang="zh-CN" altLang="en-US"/>
          </a:p>
        </p:txBody>
      </p:sp>
      <p:sp>
        <p:nvSpPr>
          <p:cNvPr id="3" name="内容占位符 2"/>
          <p:cNvSpPr>
            <a:spLocks noGrp="1"/>
          </p:cNvSpPr>
          <p:nvPr>
            <p:ph idx="1"/>
          </p:nvPr>
        </p:nvSpPr>
        <p:spPr>
          <a:xfrm>
            <a:off x="838200" y="939800"/>
            <a:ext cx="5280660" cy="5655945"/>
          </a:xfrm>
        </p:spPr>
        <p:txBody>
          <a:bodyPr/>
          <a:p>
            <a:r>
              <a:rPr lang="zh-CN" altLang="en-US"/>
              <a:t>CPM分析结论</a:t>
            </a:r>
            <a:endParaRPr lang="zh-CN" altLang="en-US"/>
          </a:p>
          <a:p>
            <a:pPr algn="just"/>
            <a:r>
              <a:rPr lang="zh-CN" altLang="en-US"/>
              <a:t>    </a:t>
            </a:r>
            <a:r>
              <a:rPr lang="en-US" altLang="zh-CN"/>
              <a:t>    </a:t>
            </a:r>
            <a:r>
              <a:rPr lang="zh-CN" altLang="en-US"/>
              <a:t>企业得分最高为4分，最低为1分，平均为2.5分，并以此得出结论：结果越是高于2.5分的平均值，越接近于4分则企业在竞争过程中的实力越强（总加权分数为4，说明企业在整个产业的竞争过程中实力最强，处于绝对优势地位）；而得分越接近于1分则企业在竞争过程中实力越弱（总加权分数为1，则说明企业在整个产业的竞争过程中实力最弱，处于绝对劣势地位）。</a:t>
            </a:r>
            <a:endParaRPr lang="zh-CN" altLang="en-US"/>
          </a:p>
        </p:txBody>
      </p:sp>
      <p:pic>
        <p:nvPicPr>
          <p:cNvPr id="4" name="图片 3"/>
          <p:cNvPicPr>
            <a:picLocks noChangeAspect="1"/>
          </p:cNvPicPr>
          <p:nvPr/>
        </p:nvPicPr>
        <p:blipFill>
          <a:blip r:embed="rId1"/>
          <a:stretch>
            <a:fillRect/>
          </a:stretch>
        </p:blipFill>
        <p:spPr>
          <a:xfrm>
            <a:off x="6555740" y="720725"/>
            <a:ext cx="5172710" cy="560705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1435100" y="984250"/>
            <a:ext cx="10515600" cy="5873750"/>
          </a:xfrm>
        </p:spPr>
        <p:txBody>
          <a:bodyPr/>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0" i="0" u="none" strike="noStrike" kern="1200" cap="none" spc="0" normalizeH="0" baseline="0" noProof="1">
                <a:solidFill>
                  <a:schemeClr val="tx1"/>
                </a:solidFill>
                <a:latin typeface="+mn-lt"/>
                <a:ea typeface="+mn-ea"/>
                <a:cs typeface="+mn-cs"/>
              </a:rPr>
              <a:t>（1）经济发展具有（     ）波动特点。</a:t>
            </a:r>
            <a:endParaRPr kumimoji="0" lang="zh-CN" altLang="en-US" sz="2800" b="0" i="0" u="none" strike="noStrike" kern="1200" cap="none" spc="0" normalizeH="0" baseline="0" noProof="1">
              <a:solidFill>
                <a:schemeClr val="tx1"/>
              </a:solidFill>
              <a:latin typeface="+mn-lt"/>
              <a:ea typeface="+mn-ea"/>
              <a:cs typeface="+mn-cs"/>
            </a:endParaRPr>
          </a:p>
          <a:p>
            <a:pPr marL="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A</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长期性  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周期性  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短期性   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瞬间</a:t>
            </a:r>
            <a:endParaRPr kumimoji="0" lang="zh-CN" altLang="en-US" sz="2800" b="0" i="0" u="none" strike="noStrike" kern="1200" cap="none" spc="0" normalizeH="0" baseline="0" noProof="1">
              <a:solidFill>
                <a:schemeClr val="tx1"/>
              </a:solidFill>
              <a:latin typeface="+mn-lt"/>
              <a:ea typeface="+mn-ea"/>
              <a:cs typeface="+mn-cs"/>
            </a:endParaRPr>
          </a:p>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0" i="0" u="none" strike="noStrike" kern="1200" cap="none" spc="0" normalizeH="0" baseline="0" noProof="1">
                <a:solidFill>
                  <a:schemeClr val="tx1"/>
                </a:solidFill>
                <a:latin typeface="+mn-lt"/>
                <a:ea typeface="+mn-ea"/>
                <a:cs typeface="+mn-cs"/>
              </a:rPr>
              <a:t>（</a:t>
            </a:r>
            <a:r>
              <a:rPr kumimoji="0" lang="en-US" altLang="zh-CN" sz="2800" b="0" i="0" u="none" strike="noStrike" kern="1200" cap="none" spc="0" normalizeH="0" baseline="0" noProof="1">
                <a:solidFill>
                  <a:schemeClr val="tx1"/>
                </a:solidFill>
                <a:latin typeface="+mn-lt"/>
                <a:ea typeface="+mn-ea"/>
                <a:cs typeface="+mn-cs"/>
              </a:rPr>
              <a:t>2</a:t>
            </a:r>
            <a:r>
              <a:rPr kumimoji="0" lang="zh-CN" altLang="en-US" sz="2800" b="0" i="0" u="none" strike="noStrike" kern="1200" cap="none" spc="0" normalizeH="0" baseline="0" noProof="1">
                <a:solidFill>
                  <a:schemeClr val="tx1"/>
                </a:solidFill>
                <a:latin typeface="+mn-lt"/>
                <a:ea typeface="+mn-ea"/>
                <a:cs typeface="+mn-cs"/>
              </a:rPr>
              <a:t>）某一个行业在某一战略方面采用相同或相似战略的各公司组成的集团叫做（     ）。</a:t>
            </a:r>
            <a:endParaRPr kumimoji="0" lang="zh-CN" altLang="en-US" sz="2800" b="0" i="0" u="none" strike="noStrike" kern="1200" cap="none" spc="0" normalizeH="0" baseline="0" noProof="1">
              <a:solidFill>
                <a:schemeClr val="tx1"/>
              </a:solidFill>
              <a:latin typeface="+mn-lt"/>
              <a:ea typeface="+mn-ea"/>
              <a:cs typeface="+mn-cs"/>
            </a:endParaRPr>
          </a:p>
          <a:p>
            <a:pPr marL="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A</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战略联盟  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战略群组  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并购   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合作</a:t>
            </a:r>
            <a:endParaRPr kumimoji="0" lang="zh-CN" altLang="en-US" sz="2800" b="0" i="0" u="none" strike="noStrike" kern="1200" cap="none" spc="0" normalizeH="0" baseline="0" noProof="1">
              <a:solidFill>
                <a:schemeClr val="tx1"/>
              </a:solidFill>
              <a:latin typeface="+mn-lt"/>
              <a:ea typeface="+mn-ea"/>
              <a:cs typeface="+mn-cs"/>
            </a:endParaRPr>
          </a:p>
          <a:p>
            <a:pPr marL="228600" marR="0" indent="0" algn="l" defTabSz="914400" rtl="0" eaLnBrk="0" fontAlgn="base" latinLnBrk="0" hangingPunct="0">
              <a:lnSpc>
                <a:spcPct val="150000"/>
              </a:lnSpc>
              <a:spcBef>
                <a:spcPts val="1000"/>
              </a:spcBef>
              <a:spcAft>
                <a:spcPct val="0"/>
              </a:spcAft>
              <a:buClrTx/>
              <a:buSzTx/>
              <a:buFont typeface="Arial" panose="020B0604020202020204" pitchFamily="34" charset="0"/>
              <a:buChar char="•"/>
            </a:pPr>
            <a:r>
              <a:rPr kumimoji="0" lang="zh-CN" altLang="en-US" sz="2800" b="0" i="0" u="none" strike="noStrike" kern="1200" cap="none" spc="0" normalizeH="0" baseline="0" noProof="1">
                <a:solidFill>
                  <a:schemeClr val="tx1"/>
                </a:solidFill>
                <a:latin typeface="+mn-lt"/>
                <a:ea typeface="+mn-ea"/>
                <a:cs typeface="+mn-cs"/>
              </a:rPr>
              <a:t>（3）宏观环境分析的方法是（     ）。</a:t>
            </a:r>
            <a:endParaRPr kumimoji="0" lang="zh-CN" altLang="en-US" sz="2800" b="0" i="0" u="none" strike="noStrike" kern="1200" cap="none" spc="0" normalizeH="0" baseline="0" noProof="1">
              <a:solidFill>
                <a:schemeClr val="tx1"/>
              </a:solidFill>
              <a:latin typeface="+mn-lt"/>
              <a:ea typeface="+mn-ea"/>
              <a:cs typeface="+mn-cs"/>
            </a:endParaRPr>
          </a:p>
          <a:p>
            <a:pPr marL="0" marR="0" indent="0" algn="l" defTabSz="914400" rtl="0" eaLnBrk="0" fontAlgn="base" latinLnBrk="0" hangingPunct="0">
              <a:lnSpc>
                <a:spcPct val="150000"/>
              </a:lnSpc>
              <a:spcBef>
                <a:spcPts val="1000"/>
              </a:spcBef>
              <a:spcAft>
                <a:spcPct val="0"/>
              </a:spcAft>
              <a:buClrTx/>
              <a:buSzTx/>
              <a:buFont typeface="Arial" panose="020B0604020202020204" pitchFamily="34" charset="0"/>
              <a:buNone/>
            </a:pPr>
            <a:r>
              <a:rPr kumimoji="0" lang="zh-CN" altLang="en-US" sz="2800" b="0" i="0" u="none" strike="noStrike" kern="1200" cap="none" spc="0" normalizeH="0" baseline="0" noProof="1">
                <a:solidFill>
                  <a:schemeClr val="tx1"/>
                </a:solidFill>
                <a:latin typeface="+mn-lt"/>
                <a:ea typeface="+mn-ea"/>
                <a:cs typeface="+mn-cs"/>
              </a:rPr>
              <a:t>A</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五力模型  B</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EFE矩阵  C</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SWOT分析   D</a:t>
            </a:r>
            <a:r>
              <a:rPr kumimoji="0" lang="en-US" altLang="zh-CN" sz="2800" b="0" i="0" u="none" strike="noStrike" kern="1200" cap="none" spc="0" normalizeH="0" baseline="0" noProof="1">
                <a:solidFill>
                  <a:schemeClr val="tx1"/>
                </a:solidFill>
                <a:latin typeface="+mn-lt"/>
                <a:ea typeface="+mn-ea"/>
                <a:cs typeface="+mn-cs"/>
              </a:rPr>
              <a:t>.</a:t>
            </a:r>
            <a:r>
              <a:rPr kumimoji="0" lang="zh-CN" altLang="en-US" sz="2800" b="0" i="0" u="none" strike="noStrike" kern="1200" cap="none" spc="0" normalizeH="0" baseline="0" noProof="1">
                <a:solidFill>
                  <a:schemeClr val="tx1"/>
                </a:solidFill>
                <a:latin typeface="+mn-lt"/>
                <a:ea typeface="+mn-ea"/>
                <a:cs typeface="+mn-cs"/>
              </a:rPr>
              <a:t>CPM矩阵</a:t>
            </a:r>
            <a:endParaRPr kumimoji="0" lang="zh-CN" altLang="en-US" sz="2800" b="0" i="0" u="none" strike="noStrike" kern="1200" cap="none" spc="0" normalizeH="0" baseline="0" noProof="1">
              <a:solidFill>
                <a:schemeClr val="tx1"/>
              </a:solidFill>
              <a:latin typeface="+mn-lt"/>
              <a:ea typeface="+mn-ea"/>
              <a:cs typeface="+mn-cs"/>
            </a:endParaRPr>
          </a:p>
        </p:txBody>
      </p:sp>
      <p:sp>
        <p:nvSpPr>
          <p:cNvPr id="5" name="直角三角形 4"/>
          <p:cNvSpPr/>
          <p:nvPr/>
        </p:nvSpPr>
        <p:spPr>
          <a:xfrm rot="5400000">
            <a:off x="0" y="0"/>
            <a:ext cx="2971800" cy="2971800"/>
          </a:xfrm>
          <a:prstGeom prst="rtTriangle">
            <a:avLst/>
          </a:prstGeom>
          <a:solidFill>
            <a:srgbClr val="1570C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eaLnBrk="1" fontAlgn="auto" hangingPunct="1">
              <a:spcBef>
                <a:spcPts val="0"/>
              </a:spcBef>
              <a:spcAft>
                <a:spcPts val="0"/>
              </a:spcAft>
              <a:defRPr/>
            </a:pPr>
            <a:endParaRPr lang="zh-CN" altLang="en-US" strike="noStrike" noProof="1">
              <a:solidFill>
                <a:prstClr val="white"/>
              </a:solidFill>
              <a:latin typeface="微软雅黑" panose="020B0503020204020204" pitchFamily="34" charset="-122"/>
              <a:ea typeface="微软雅黑" panose="020B0503020204020204" pitchFamily="34" charset="-122"/>
            </a:endParaRPr>
          </a:p>
        </p:txBody>
      </p:sp>
      <p:sp>
        <p:nvSpPr>
          <p:cNvPr id="105475" name="文本框 2"/>
          <p:cNvSpPr txBox="1"/>
          <p:nvPr/>
        </p:nvSpPr>
        <p:spPr>
          <a:xfrm>
            <a:off x="314325" y="306388"/>
            <a:ext cx="674688" cy="1360487"/>
          </a:xfrm>
          <a:prstGeom prst="rect">
            <a:avLst/>
          </a:prstGeom>
          <a:noFill/>
          <a:ln w="9525">
            <a:noFill/>
          </a:ln>
        </p:spPr>
        <p:txBody>
          <a:bodyPr vert="eaVert" wrap="square" anchor="t" anchorCtr="0">
            <a:spAutoFit/>
          </a:bodyPr>
          <a:p>
            <a:pPr algn="dist"/>
            <a:r>
              <a:rPr lang="zh-CN" altLang="en-US" sz="3200" b="1">
                <a:solidFill>
                  <a:srgbClr val="FFFFFF"/>
                </a:solidFill>
                <a:latin typeface="微软雅黑" panose="020B0503020204020204" pitchFamily="34" charset="-122"/>
                <a:ea typeface="微软雅黑" panose="020B0503020204020204" pitchFamily="34" charset="-122"/>
              </a:rPr>
              <a:t>小测验</a:t>
            </a:r>
            <a:endParaRPr lang="zh-CN" altLang="en-US" sz="3200" b="1">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文本框 11"/>
          <p:cNvSpPr txBox="1"/>
          <p:nvPr/>
        </p:nvSpPr>
        <p:spPr>
          <a:xfrm>
            <a:off x="276225" y="2162175"/>
            <a:ext cx="5686425" cy="1016000"/>
          </a:xfrm>
          <a:prstGeom prst="rect">
            <a:avLst/>
          </a:prstGeom>
          <a:noFill/>
          <a:ln w="9525">
            <a:noFill/>
          </a:ln>
        </p:spPr>
        <p:txBody>
          <a:bodyPr anchor="t" anchorCtr="0">
            <a:spAutoFit/>
          </a:bodyPr>
          <a:p>
            <a:pPr algn="ctr"/>
            <a:r>
              <a:rPr lang="zh-CN" altLang="en-US" sz="6000" dirty="0">
                <a:solidFill>
                  <a:srgbClr val="1570C1"/>
                </a:solidFill>
                <a:latin typeface="微软雅黑" panose="020B0503020204020204" pitchFamily="34" charset="-122"/>
                <a:ea typeface="微软雅黑" panose="020B0503020204020204" pitchFamily="34" charset="-122"/>
              </a:rPr>
              <a:t>本章完</a:t>
            </a:r>
            <a:endParaRPr lang="en-US" altLang="zh-CN" sz="6000" dirty="0">
              <a:solidFill>
                <a:srgbClr val="1570C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773863" y="2503488"/>
            <a:ext cx="4786312" cy="1014412"/>
          </a:xfrm>
          <a:prstGeom prst="rect">
            <a:avLst/>
          </a:prstGeom>
          <a:noFill/>
          <a:ln w="9525">
            <a:noFill/>
          </a:ln>
        </p:spPr>
        <p:txBody>
          <a:bodyPr anchor="t" anchorCtr="0">
            <a:spAutoFit/>
          </a:bodyPr>
          <a:p>
            <a:pPr algn="ctr"/>
            <a:r>
              <a:rPr lang="zh-CN" altLang="en-US" sz="6000" dirty="0">
                <a:solidFill>
                  <a:srgbClr val="FFFFFF"/>
                </a:solidFill>
                <a:latin typeface="微软雅黑" panose="020B0503020204020204" pitchFamily="34" charset="-122"/>
                <a:ea typeface="微软雅黑" panose="020B0503020204020204" pitchFamily="34" charset="-122"/>
              </a:rPr>
              <a:t>战略管理</a:t>
            </a:r>
            <a:endParaRPr lang="zh-CN" altLang="en-US" sz="6000" dirty="0">
              <a:solidFill>
                <a:srgbClr val="FFFFFF"/>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76225" y="3686175"/>
            <a:ext cx="5686425" cy="646113"/>
          </a:xfrm>
          <a:prstGeom prst="rect">
            <a:avLst/>
          </a:prstGeom>
          <a:noFill/>
          <a:ln w="9525">
            <a:noFill/>
          </a:ln>
        </p:spPr>
        <p:txBody>
          <a:bodyPr anchor="t" anchorCtr="0">
            <a:spAutoFit/>
          </a:bodyPr>
          <a:p>
            <a:pPr algn="ctr"/>
            <a:r>
              <a:rPr lang="zh-CN" altLang="en-US" sz="3600" dirty="0">
                <a:solidFill>
                  <a:srgbClr val="1570C1"/>
                </a:solidFill>
                <a:latin typeface="微软雅黑" panose="020B0503020204020204" pitchFamily="34" charset="-122"/>
                <a:ea typeface="微软雅黑" panose="020B0503020204020204" pitchFamily="34" charset="-122"/>
              </a:rPr>
              <a:t>谢谢观赏</a:t>
            </a:r>
            <a:endParaRPr lang="zh-CN" altLang="en-US" sz="6000" dirty="0">
              <a:solidFill>
                <a:srgbClr val="1570C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tags/tag1.xml><?xml version="1.0" encoding="utf-8"?>
<p:tagLst xmlns:p="http://schemas.openxmlformats.org/presentationml/2006/main">
  <p:tag name="ISPRING_RESOURCE_PATHS_HASH_2" val="2b758c575d3afaa4a23037e74bea4a653611b5f"/>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defRPr sz="2400" dirty="0" smtClean="0">
            <a:latin typeface="微软雅黑" panose="020B0503020204020204" pitchFamily="34" charset="-122"/>
            <a:ea typeface="微软雅黑" panose="020B0503020204020204" pitchFamily="34" charset="-122"/>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7217</Words>
  <Application>WPS 演示</Application>
  <PresentationFormat>自定义</PresentationFormat>
  <Paragraphs>494</Paragraphs>
  <Slides>65</Slides>
  <Notes>38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65</vt:i4>
      </vt:variant>
    </vt:vector>
  </HeadingPairs>
  <TitlesOfParts>
    <vt:vector size="75" baseType="lpstr">
      <vt:lpstr>Arial</vt:lpstr>
      <vt:lpstr>宋体</vt:lpstr>
      <vt:lpstr>Wingdings</vt:lpstr>
      <vt:lpstr>Calibri</vt:lpstr>
      <vt:lpstr>微软雅黑</vt:lpstr>
      <vt:lpstr>Calibri Light</vt:lpstr>
      <vt:lpstr>Arial</vt:lpstr>
      <vt:lpstr>Arial Unicode MS</vt:lpstr>
      <vt:lpstr>隶书</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国家竞争优势理论:钻石模型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竞争态势矩阵分析法</vt:lpstr>
      <vt:lpstr>竞争态势矩阵分析法 </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杨淼</cp:lastModifiedBy>
  <cp:revision>53</cp:revision>
  <dcterms:created xsi:type="dcterms:W3CDTF">2015-06-07T14:37:00Z</dcterms:created>
  <dcterms:modified xsi:type="dcterms:W3CDTF">2021-03-17T10:07:51Z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2052-11.1.0.10356</vt:lpwstr>
  </property>
  <property fmtid="{D5CDD505-2E9C-101B-9397-08002B2CF9AE}" pid="3" name="ICV">
    <vt:lpwstr>4A05715065D644BBA7067B26FAB10ADB</vt:lpwstr>
  </property>
</Properties>
</file>