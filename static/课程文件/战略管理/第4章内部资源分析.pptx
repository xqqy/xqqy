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343" r:id="rId4"/>
    <p:sldId id="344" r:id="rId6"/>
    <p:sldId id="367" r:id="rId7"/>
    <p:sldId id="433" r:id="rId8"/>
    <p:sldId id="436" r:id="rId9"/>
    <p:sldId id="437" r:id="rId10"/>
    <p:sldId id="569" r:id="rId11"/>
    <p:sldId id="346" r:id="rId12"/>
    <p:sldId id="371" r:id="rId13"/>
    <p:sldId id="438" r:id="rId14"/>
    <p:sldId id="570" r:id="rId15"/>
    <p:sldId id="482" r:id="rId16"/>
    <p:sldId id="439" r:id="rId17"/>
    <p:sldId id="441" r:id="rId18"/>
    <p:sldId id="442" r:id="rId19"/>
    <p:sldId id="352" r:id="rId20"/>
    <p:sldId id="374" r:id="rId21"/>
    <p:sldId id="571" r:id="rId22"/>
    <p:sldId id="444" r:id="rId23"/>
    <p:sldId id="445" r:id="rId24"/>
    <p:sldId id="447" r:id="rId25"/>
    <p:sldId id="448" r:id="rId26"/>
    <p:sldId id="449" r:id="rId27"/>
    <p:sldId id="450" r:id="rId28"/>
    <p:sldId id="451" r:id="rId29"/>
    <p:sldId id="452" r:id="rId30"/>
    <p:sldId id="572" r:id="rId31"/>
    <p:sldId id="453" r:id="rId32"/>
    <p:sldId id="454" r:id="rId33"/>
    <p:sldId id="455" r:id="rId34"/>
    <p:sldId id="456" r:id="rId35"/>
    <p:sldId id="457" r:id="rId36"/>
    <p:sldId id="458" r:id="rId37"/>
    <p:sldId id="446" r:id="rId38"/>
    <p:sldId id="357" r:id="rId39"/>
    <p:sldId id="459" r:id="rId40"/>
    <p:sldId id="460" r:id="rId41"/>
    <p:sldId id="523" r:id="rId42"/>
    <p:sldId id="545" r:id="rId43"/>
    <p:sldId id="546" r:id="rId44"/>
    <p:sldId id="547" r:id="rId45"/>
    <p:sldId id="489" r:id="rId46"/>
    <p:sldId id="461" r:id="rId47"/>
    <p:sldId id="524" r:id="rId48"/>
    <p:sldId id="484" r:id="rId49"/>
    <p:sldId id="485" r:id="rId50"/>
    <p:sldId id="463" r:id="rId51"/>
    <p:sldId id="464" r:id="rId52"/>
    <p:sldId id="465" r:id="rId53"/>
    <p:sldId id="466" r:id="rId54"/>
    <p:sldId id="627" r:id="rId55"/>
    <p:sldId id="334" r:id="rId56"/>
    <p:sldId id="403" r:id="rId57"/>
    <p:sldId id="468" r:id="rId58"/>
    <p:sldId id="525" r:id="rId59"/>
    <p:sldId id="526" r:id="rId60"/>
    <p:sldId id="527" r:id="rId61"/>
    <p:sldId id="528" r:id="rId62"/>
    <p:sldId id="408" r:id="rId63"/>
    <p:sldId id="350" r:id="rId64"/>
    <p:sldId id="469" r:id="rId65"/>
    <p:sldId id="626" r:id="rId66"/>
    <p:sldId id="641" r:id="rId67"/>
    <p:sldId id="650" r:id="rId68"/>
    <p:sldId id="646" r:id="rId69"/>
    <p:sldId id="434" r:id="rId70"/>
    <p:sldId id="644" r:id="rId71"/>
    <p:sldId id="364" r:id="rId72"/>
  </p:sldIdLst>
  <p:sldSz cx="12192000" cy="6858000"/>
  <p:notesSz cx="6858000" cy="9144000"/>
  <p:custDataLst>
    <p:tags r:id="rId7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70C1"/>
    <a:srgbClr val="57CAF4"/>
    <a:srgbClr val="D7D8D8"/>
    <a:srgbClr val="E0E2E3"/>
    <a:srgbClr val="C8C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205"/>
    <p:restoredTop sz="94414"/>
  </p:normalViewPr>
  <p:slideViewPr>
    <p:cSldViewPr snapToGrid="0" showGuides="1">
      <p:cViewPr varScale="1">
        <p:scale>
          <a:sx n="70" d="100"/>
          <a:sy n="70" d="100"/>
        </p:scale>
        <p:origin x="648" y="66"/>
      </p:cViewPr>
      <p:guideLst>
        <p:guide orient="horz" pos="2160"/>
        <p:guide pos="3840"/>
      </p:guideLst>
    </p:cSldViewPr>
  </p:slideViewPr>
  <p:notesTextViewPr>
    <p:cViewPr>
      <p:scale>
        <a:sx n="1" d="1"/>
        <a:sy n="1" d="1"/>
      </p:scale>
      <p:origin x="0" y="0"/>
    </p:cViewPr>
  </p:notesTextViewPr>
  <p:sorterViewPr showFormatting="0">
    <p:cViewPr>
      <p:scale>
        <a:sx n="31" d="100"/>
        <a:sy n="3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6" Type="http://schemas.openxmlformats.org/officeDocument/2006/relationships/tags" Target="tags/tag36.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2CB29034-4740-4276-8BAC-1835E43C6878}" type="datetimeFigureOut">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5C77EDA6-5F1C-40B0-847F-0AA0A61ADA98}" type="slidenum">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幻灯片图像占位符 1"/>
          <p:cNvSpPr>
            <a:spLocks noGrp="1" noRot="1" noChangeAspect="1" noTextEdit="1"/>
          </p:cNvSpPr>
          <p:nvPr>
            <p:ph type="sldImg"/>
          </p:nvPr>
        </p:nvSpPr>
        <p:spPr>
          <a:ln>
            <a:solidFill>
              <a:srgbClr val="000000"/>
            </a:solidFill>
            <a:miter/>
          </a:ln>
        </p:spPr>
      </p:sp>
      <p:sp>
        <p:nvSpPr>
          <p:cNvPr id="18434"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843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幻灯片图像占位符 1"/>
          <p:cNvSpPr>
            <a:spLocks noGrp="1" noRot="1" noChangeAspect="1" noTextEdit="1"/>
          </p:cNvSpPr>
          <p:nvPr>
            <p:ph type="sldImg"/>
          </p:nvPr>
        </p:nvSpPr>
        <p:spPr>
          <a:ln>
            <a:solidFill>
              <a:srgbClr val="000000"/>
            </a:solidFill>
            <a:miter/>
          </a:ln>
        </p:spPr>
      </p:sp>
      <p:sp>
        <p:nvSpPr>
          <p:cNvPr id="20482" name="备注占位符 2"/>
          <p:cNvSpPr>
            <a:spLocks noGrp="1"/>
          </p:cNvSpPr>
          <p:nvPr>
            <p:ph type="body"/>
          </p:nvPr>
        </p:nvSpPr>
        <p:spPr>
          <a:noFill/>
          <a:ln>
            <a:noFill/>
          </a:ln>
        </p:spPr>
        <p:txBody>
          <a:bodyPr wrap="square" lIns="91440" tIns="45720" rIns="91440" bIns="45720" anchor="t" anchorCtr="0"/>
          <a:p>
            <a:pPr lvl="0" eaLnBrk="1" hangingPunct="1"/>
            <a:r>
              <a:rPr lang="zh-CN" altLang="en-US" dirty="0"/>
              <a:t>字号可根据</a:t>
            </a:r>
            <a:endParaRPr lang="zh-CN" altLang="en-US" dirty="0"/>
          </a:p>
        </p:txBody>
      </p:sp>
      <p:sp>
        <p:nvSpPr>
          <p:cNvPr id="2048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noRot="1" noChangeAspect="1" noTextEdit="1"/>
          </p:cNvSpPr>
          <p:nvPr>
            <p:ph type="sldImg"/>
          </p:nvPr>
        </p:nvSpPr>
        <p:spPr>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560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765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幻灯片图像占位符 1"/>
          <p:cNvSpPr>
            <a:spLocks noGrp="1" noRot="1" noChangeAspect="1" noTextEdit="1"/>
          </p:cNvSpPr>
          <p:nvPr>
            <p:ph type="sldImg"/>
          </p:nvPr>
        </p:nvSpPr>
        <p:spPr>
          <a:ln>
            <a:solidFill>
              <a:srgbClr val="000000"/>
            </a:solidFill>
            <a:miter/>
          </a:ln>
        </p:spPr>
      </p:sp>
      <p:sp>
        <p:nvSpPr>
          <p:cNvPr id="30722" name="备注占位符 2"/>
          <p:cNvSpPr>
            <a:spLocks noGrp="1"/>
          </p:cNvSpPr>
          <p:nvPr>
            <p:ph type="body"/>
          </p:nvPr>
        </p:nvSpPr>
        <p:spPr>
          <a:noFill/>
          <a:ln>
            <a:noFill/>
          </a:ln>
        </p:spPr>
        <p:txBody>
          <a:bodyPr wrap="square" lIns="91440" tIns="45720" rIns="91440" bIns="45720" anchor="t" anchorCtr="0"/>
          <a:p>
            <a:pPr lvl="0" eaLnBrk="1" hangingPunct="1"/>
            <a:endParaRPr lang="zh-CN" altLang="en-US" dirty="0"/>
          </a:p>
        </p:txBody>
      </p:sp>
      <p:sp>
        <p:nvSpPr>
          <p:cNvPr id="3072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幻灯片图像占位符 1"/>
          <p:cNvSpPr>
            <a:spLocks noGrp="1" noRot="1" noChangeAspect="1" noTextEdit="1"/>
          </p:cNvSpPr>
          <p:nvPr>
            <p:ph type="sldImg"/>
          </p:nvPr>
        </p:nvSpPr>
        <p:spPr>
          <a:ln>
            <a:solidFill>
              <a:srgbClr val="000000"/>
            </a:solidFill>
            <a:miter/>
          </a:ln>
        </p:spPr>
      </p:sp>
      <p:sp>
        <p:nvSpPr>
          <p:cNvPr id="3277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277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幻灯片图像占位符 1"/>
          <p:cNvSpPr>
            <a:spLocks noGrp="1" noRot="1" noChangeAspect="1" noTextEdit="1"/>
          </p:cNvSpPr>
          <p:nvPr>
            <p:ph type="sldImg"/>
          </p:nvPr>
        </p:nvSpPr>
        <p:spPr>
          <a:ln>
            <a:solidFill>
              <a:srgbClr val="000000"/>
            </a:solidFill>
            <a:miter/>
          </a:ln>
        </p:spPr>
      </p:sp>
      <p:sp>
        <p:nvSpPr>
          <p:cNvPr id="3481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4819"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幻灯片图像占位符 1"/>
          <p:cNvSpPr>
            <a:spLocks noGrp="1" noRot="1" noChangeAspect="1" noTextEdit="1"/>
          </p:cNvSpPr>
          <p:nvPr>
            <p:ph type="sldImg"/>
          </p:nvPr>
        </p:nvSpPr>
        <p:spPr>
          <a:ln>
            <a:solidFill>
              <a:srgbClr val="000000"/>
            </a:solidFill>
            <a:miter/>
          </a:ln>
        </p:spPr>
      </p:sp>
      <p:sp>
        <p:nvSpPr>
          <p:cNvPr id="3891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891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幻灯片图像占位符 1"/>
          <p:cNvSpPr>
            <a:spLocks noGrp="1" noRot="1" noChangeAspect="1" noTextEdit="1"/>
          </p:cNvSpPr>
          <p:nvPr>
            <p:ph type="sldImg"/>
          </p:nvPr>
        </p:nvSpPr>
        <p:spPr>
          <a:ln>
            <a:solidFill>
              <a:srgbClr val="000000"/>
            </a:solidFill>
            <a:miter/>
          </a:ln>
        </p:spPr>
      </p:sp>
      <p:sp>
        <p:nvSpPr>
          <p:cNvPr id="4096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096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301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幻灯片图像占位符 1"/>
          <p:cNvSpPr>
            <a:spLocks noGrp="1" noRot="1" noChangeAspect="1" noTextEdit="1"/>
          </p:cNvSpPr>
          <p:nvPr>
            <p:ph type="sldImg"/>
          </p:nvPr>
        </p:nvSpPr>
        <p:spPr>
          <a:ln>
            <a:solidFill>
              <a:srgbClr val="000000"/>
            </a:solidFill>
            <a:miter/>
          </a:ln>
        </p:spPr>
      </p:sp>
      <p:sp>
        <p:nvSpPr>
          <p:cNvPr id="4608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608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幻灯片图像占位符 1"/>
          <p:cNvSpPr>
            <a:spLocks noGrp="1" noRot="1" noChangeAspect="1" noTextEdit="1"/>
          </p:cNvSpPr>
          <p:nvPr>
            <p:ph type="sldImg"/>
          </p:nvPr>
        </p:nvSpPr>
        <p:spPr>
          <a:ln>
            <a:solidFill>
              <a:srgbClr val="000000"/>
            </a:solidFill>
            <a:miter/>
          </a:ln>
        </p:spPr>
      </p:sp>
      <p:sp>
        <p:nvSpPr>
          <p:cNvPr id="4915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915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幻灯片图像占位符 1"/>
          <p:cNvSpPr>
            <a:spLocks noGrp="1" noRot="1" noChangeAspect="1" noTextEdit="1"/>
          </p:cNvSpPr>
          <p:nvPr>
            <p:ph type="sldImg"/>
          </p:nvPr>
        </p:nvSpPr>
        <p:spPr>
          <a:ln>
            <a:solidFill>
              <a:srgbClr val="000000"/>
            </a:solidFill>
            <a:miter/>
          </a:ln>
        </p:spPr>
      </p:sp>
      <p:sp>
        <p:nvSpPr>
          <p:cNvPr id="5120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120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幻灯片图像占位符 1"/>
          <p:cNvSpPr>
            <a:spLocks noGrp="1" noRot="1" noChangeAspect="1" noTextEdit="1"/>
          </p:cNvSpPr>
          <p:nvPr>
            <p:ph type="sldImg"/>
          </p:nvPr>
        </p:nvSpPr>
        <p:spPr>
          <a:ln>
            <a:solidFill>
              <a:srgbClr val="000000"/>
            </a:solidFill>
            <a:miter/>
          </a:ln>
        </p:spPr>
      </p:sp>
      <p:sp>
        <p:nvSpPr>
          <p:cNvPr id="532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325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幻灯片图像占位符 1"/>
          <p:cNvSpPr>
            <a:spLocks noGrp="1" noRot="1" noChangeAspect="1" noTextEdit="1"/>
          </p:cNvSpPr>
          <p:nvPr>
            <p:ph type="sldImg"/>
          </p:nvPr>
        </p:nvSpPr>
        <p:spPr>
          <a:ln>
            <a:solidFill>
              <a:srgbClr val="000000"/>
            </a:solidFill>
            <a:miter/>
          </a:ln>
        </p:spPr>
      </p:sp>
      <p:sp>
        <p:nvSpPr>
          <p:cNvPr id="5529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5299"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幻灯片图像占位符 1"/>
          <p:cNvSpPr>
            <a:spLocks noGrp="1" noRot="1" noChangeAspect="1" noTextEdit="1"/>
          </p:cNvSpPr>
          <p:nvPr>
            <p:ph type="sldImg"/>
          </p:nvPr>
        </p:nvSpPr>
        <p:spPr>
          <a:ln>
            <a:solidFill>
              <a:srgbClr val="000000"/>
            </a:solidFill>
            <a:miter/>
          </a:ln>
        </p:spPr>
      </p:sp>
      <p:sp>
        <p:nvSpPr>
          <p:cNvPr id="5734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734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幻灯片图像占位符 1"/>
          <p:cNvSpPr>
            <a:spLocks noGrp="1" noRot="1" noChangeAspect="1" noTextEdit="1"/>
          </p:cNvSpPr>
          <p:nvPr>
            <p:ph type="sldImg"/>
          </p:nvPr>
        </p:nvSpPr>
        <p:spPr>
          <a:ln>
            <a:solidFill>
              <a:srgbClr val="000000"/>
            </a:solidFill>
            <a:miter/>
          </a:ln>
        </p:spPr>
      </p:sp>
      <p:sp>
        <p:nvSpPr>
          <p:cNvPr id="5939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939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幻灯片图像占位符 1"/>
          <p:cNvSpPr>
            <a:spLocks noGrp="1" noRot="1" noChangeAspect="1" noTextEdit="1"/>
          </p:cNvSpPr>
          <p:nvPr>
            <p:ph type="sldImg"/>
          </p:nvPr>
        </p:nvSpPr>
        <p:spPr>
          <a:ln>
            <a:solidFill>
              <a:srgbClr val="000000"/>
            </a:solidFill>
            <a:miter/>
          </a:ln>
        </p:spPr>
      </p:sp>
      <p:sp>
        <p:nvSpPr>
          <p:cNvPr id="6144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144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幻灯片图像占位符 1"/>
          <p:cNvSpPr>
            <a:spLocks noGrp="1" noRot="1" noChangeAspect="1" noTextEdit="1"/>
          </p:cNvSpPr>
          <p:nvPr>
            <p:ph type="sldImg"/>
          </p:nvPr>
        </p:nvSpPr>
        <p:spPr>
          <a:ln>
            <a:solidFill>
              <a:srgbClr val="000000"/>
            </a:solidFill>
            <a:miter/>
          </a:ln>
        </p:spPr>
      </p:sp>
      <p:sp>
        <p:nvSpPr>
          <p:cNvPr id="6349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349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幻灯片图像占位符 1"/>
          <p:cNvSpPr>
            <a:spLocks noGrp="1" noRot="1" noChangeAspect="1" noTextEdit="1"/>
          </p:cNvSpPr>
          <p:nvPr>
            <p:ph type="sldImg"/>
          </p:nvPr>
        </p:nvSpPr>
        <p:spPr>
          <a:ln>
            <a:solidFill>
              <a:srgbClr val="000000"/>
            </a:solidFill>
            <a:miter/>
          </a:ln>
        </p:spPr>
      </p:sp>
      <p:sp>
        <p:nvSpPr>
          <p:cNvPr id="6758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758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幻灯片图像占位符 1"/>
          <p:cNvSpPr>
            <a:spLocks noGrp="1" noRot="1" noChangeAspect="1" noTextEdit="1"/>
          </p:cNvSpPr>
          <p:nvPr>
            <p:ph type="sldImg"/>
          </p:nvPr>
        </p:nvSpPr>
        <p:spPr>
          <a:ln>
            <a:solidFill>
              <a:srgbClr val="000000"/>
            </a:solidFill>
            <a:miter/>
          </a:ln>
        </p:spPr>
      </p:sp>
      <p:sp>
        <p:nvSpPr>
          <p:cNvPr id="6963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963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幻灯片图像占位符 1"/>
          <p:cNvSpPr>
            <a:spLocks noGrp="1" noRot="1" noChangeAspect="1" noTextEdit="1"/>
          </p:cNvSpPr>
          <p:nvPr>
            <p:ph type="sldImg"/>
          </p:nvPr>
        </p:nvSpPr>
        <p:spPr>
          <a:ln>
            <a:solidFill>
              <a:srgbClr val="000000"/>
            </a:solidFill>
            <a:miter/>
          </a:ln>
        </p:spPr>
      </p:sp>
      <p:sp>
        <p:nvSpPr>
          <p:cNvPr id="7168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168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幻灯片图像占位符 1"/>
          <p:cNvSpPr>
            <a:spLocks noGrp="1" noRot="1" noChangeAspect="1" noTextEdit="1"/>
          </p:cNvSpPr>
          <p:nvPr>
            <p:ph type="sldImg"/>
          </p:nvPr>
        </p:nvSpPr>
        <p:spPr>
          <a:ln>
            <a:solidFill>
              <a:srgbClr val="000000"/>
            </a:solidFill>
            <a:miter/>
          </a:ln>
        </p:spPr>
      </p:sp>
      <p:sp>
        <p:nvSpPr>
          <p:cNvPr id="7373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373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幻灯片图像占位符 1"/>
          <p:cNvSpPr>
            <a:spLocks noGrp="1" noRot="1" noChangeAspect="1" noTextEdit="1"/>
          </p:cNvSpPr>
          <p:nvPr>
            <p:ph type="sldImg"/>
          </p:nvPr>
        </p:nvSpPr>
        <p:spPr>
          <a:ln>
            <a:solidFill>
              <a:srgbClr val="000000"/>
            </a:solidFill>
            <a:miter/>
          </a:ln>
        </p:spPr>
      </p:sp>
      <p:sp>
        <p:nvSpPr>
          <p:cNvPr id="7577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5779"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幻灯片图像占位符 1"/>
          <p:cNvSpPr>
            <a:spLocks noGrp="1" noRot="1" noChangeAspect="1" noTextEdit="1"/>
          </p:cNvSpPr>
          <p:nvPr>
            <p:ph type="sldImg"/>
          </p:nvPr>
        </p:nvSpPr>
        <p:spPr>
          <a:ln>
            <a:solidFill>
              <a:srgbClr val="000000"/>
            </a:solidFill>
            <a:miter/>
          </a:ln>
        </p:spPr>
      </p:sp>
      <p:sp>
        <p:nvSpPr>
          <p:cNvPr id="7782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782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幻灯片图像占位符 1"/>
          <p:cNvSpPr>
            <a:spLocks noGrp="1" noRot="1" noChangeAspect="1" noTextEdit="1"/>
          </p:cNvSpPr>
          <p:nvPr>
            <p:ph type="sldImg"/>
          </p:nvPr>
        </p:nvSpPr>
        <p:spPr>
          <a:ln>
            <a:solidFill>
              <a:srgbClr val="000000"/>
            </a:solidFill>
            <a:miter/>
          </a:ln>
        </p:spPr>
      </p:sp>
      <p:sp>
        <p:nvSpPr>
          <p:cNvPr id="7987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987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幻灯片图像占位符 1"/>
          <p:cNvSpPr>
            <a:spLocks noGrp="1" noRot="1" noChangeAspect="1" noTextEdit="1"/>
          </p:cNvSpPr>
          <p:nvPr>
            <p:ph type="sldImg"/>
          </p:nvPr>
        </p:nvSpPr>
        <p:spPr>
          <a:ln>
            <a:solidFill>
              <a:srgbClr val="000000"/>
            </a:solidFill>
            <a:miter/>
          </a:ln>
        </p:spPr>
      </p:sp>
      <p:sp>
        <p:nvSpPr>
          <p:cNvPr id="8294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8294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幻灯片图像占位符 1"/>
          <p:cNvSpPr>
            <a:spLocks noGrp="1" noRot="1" noChangeAspect="1" noTextEdit="1"/>
          </p:cNvSpPr>
          <p:nvPr>
            <p:ph type="sldImg"/>
          </p:nvPr>
        </p:nvSpPr>
        <p:spPr>
          <a:ln>
            <a:solidFill>
              <a:srgbClr val="000000"/>
            </a:solidFill>
            <a:miter/>
          </a:ln>
        </p:spPr>
      </p:sp>
      <p:sp>
        <p:nvSpPr>
          <p:cNvPr id="8499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8499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幻灯片图像占位符 1"/>
          <p:cNvSpPr>
            <a:spLocks noGrp="1" noRot="1" noChangeAspect="1" noTextEdit="1"/>
          </p:cNvSpPr>
          <p:nvPr>
            <p:ph type="sldImg"/>
          </p:nvPr>
        </p:nvSpPr>
        <p:spPr>
          <a:ln>
            <a:solidFill>
              <a:srgbClr val="000000"/>
            </a:solidFill>
            <a:miter/>
          </a:ln>
        </p:spPr>
      </p:sp>
      <p:sp>
        <p:nvSpPr>
          <p:cNvPr id="9113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1139"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幻灯片图像占位符 1"/>
          <p:cNvSpPr>
            <a:spLocks noGrp="1" noRot="1" noChangeAspect="1" noTextEdit="1"/>
          </p:cNvSpPr>
          <p:nvPr>
            <p:ph type="sldImg"/>
          </p:nvPr>
        </p:nvSpPr>
        <p:spPr>
          <a:ln>
            <a:solidFill>
              <a:srgbClr val="000000"/>
            </a:solidFill>
            <a:miter/>
          </a:ln>
        </p:spPr>
      </p:sp>
      <p:sp>
        <p:nvSpPr>
          <p:cNvPr id="9318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318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幻灯片图像占位符 1"/>
          <p:cNvSpPr>
            <a:spLocks noGrp="1" noRot="1" noChangeAspect="1" noTextEdit="1"/>
          </p:cNvSpPr>
          <p:nvPr>
            <p:ph type="sldImg"/>
          </p:nvPr>
        </p:nvSpPr>
        <p:spPr>
          <a:ln>
            <a:solidFill>
              <a:srgbClr val="000000"/>
            </a:solidFill>
            <a:miter/>
          </a:ln>
        </p:spPr>
      </p:sp>
      <p:sp>
        <p:nvSpPr>
          <p:cNvPr id="9830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830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幻灯片图像占位符 1"/>
          <p:cNvSpPr>
            <a:spLocks noGrp="1" noRot="1" noChangeAspect="1" noTextEdit="1"/>
          </p:cNvSpPr>
          <p:nvPr>
            <p:ph type="sldImg"/>
          </p:nvPr>
        </p:nvSpPr>
        <p:spPr>
          <a:ln>
            <a:solidFill>
              <a:srgbClr val="000000"/>
            </a:solidFill>
            <a:miter/>
          </a:ln>
        </p:spPr>
      </p:sp>
      <p:sp>
        <p:nvSpPr>
          <p:cNvPr id="10035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0035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幻灯片图像占位符 1"/>
          <p:cNvSpPr>
            <a:spLocks noGrp="1" noRot="1" noChangeAspect="1" noTextEdit="1"/>
          </p:cNvSpPr>
          <p:nvPr>
            <p:ph type="sldImg"/>
          </p:nvPr>
        </p:nvSpPr>
        <p:spPr>
          <a:ln>
            <a:solidFill>
              <a:srgbClr val="000000"/>
            </a:solidFill>
            <a:miter/>
          </a:ln>
        </p:spPr>
      </p:sp>
      <p:sp>
        <p:nvSpPr>
          <p:cNvPr id="10240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0240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幻灯片图像占位符 1"/>
          <p:cNvSpPr>
            <a:spLocks noGrp="1" noRot="1" noChangeAspect="1" noTextEdit="1"/>
          </p:cNvSpPr>
          <p:nvPr>
            <p:ph type="sldImg"/>
          </p:nvPr>
        </p:nvSpPr>
        <p:spPr>
          <a:ln>
            <a:solidFill>
              <a:srgbClr val="000000"/>
            </a:solidFill>
            <a:miter/>
          </a:ln>
        </p:spPr>
      </p:sp>
      <p:sp>
        <p:nvSpPr>
          <p:cNvPr id="1044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0445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幻灯片图像占位符 1"/>
          <p:cNvSpPr>
            <a:spLocks noGrp="1" noRot="1" noChangeAspect="1" noTextEdit="1"/>
          </p:cNvSpPr>
          <p:nvPr>
            <p:ph type="sldImg"/>
          </p:nvPr>
        </p:nvSpPr>
        <p:spPr>
          <a:ln>
            <a:solidFill>
              <a:srgbClr val="000000"/>
            </a:solidFill>
            <a:miter/>
          </a:ln>
        </p:spPr>
      </p:sp>
      <p:sp>
        <p:nvSpPr>
          <p:cNvPr id="10854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0854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幻灯片图像占位符 1"/>
          <p:cNvSpPr>
            <a:spLocks noGrp="1" noRot="1" noChangeAspect="1" noTextEdit="1"/>
          </p:cNvSpPr>
          <p:nvPr>
            <p:ph type="sldImg"/>
          </p:nvPr>
        </p:nvSpPr>
        <p:spPr>
          <a:ln>
            <a:solidFill>
              <a:srgbClr val="000000"/>
            </a:solidFill>
            <a:miter/>
          </a:ln>
        </p:spPr>
      </p:sp>
      <p:sp>
        <p:nvSpPr>
          <p:cNvPr id="11059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10595"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幻灯片图像占位符 1"/>
          <p:cNvSpPr>
            <a:spLocks noGrp="1" noRot="1" noChangeAspect="1" noTextEdit="1"/>
          </p:cNvSpPr>
          <p:nvPr>
            <p:ph type="sldImg"/>
          </p:nvPr>
        </p:nvSpPr>
        <p:spPr>
          <a:ln>
            <a:solidFill>
              <a:srgbClr val="000000"/>
            </a:solidFill>
            <a:miter/>
          </a:ln>
        </p:spPr>
      </p:sp>
      <p:sp>
        <p:nvSpPr>
          <p:cNvPr id="11776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1776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幻灯片图像占位符 1"/>
          <p:cNvSpPr>
            <a:spLocks noGrp="1" noRot="1" noChangeAspect="1" noTextEdit="1"/>
          </p:cNvSpPr>
          <p:nvPr>
            <p:ph type="sldImg"/>
          </p:nvPr>
        </p:nvSpPr>
        <p:spPr>
          <a:ln>
            <a:solidFill>
              <a:srgbClr val="000000"/>
            </a:solidFill>
            <a:miter/>
          </a:ln>
        </p:spPr>
      </p:sp>
      <p:sp>
        <p:nvSpPr>
          <p:cNvPr id="11981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1981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幻灯片图像占位符 1"/>
          <p:cNvSpPr>
            <a:spLocks noGrp="1" noRot="1" noChangeAspect="1" noTextEdit="1"/>
          </p:cNvSpPr>
          <p:nvPr>
            <p:ph type="sldImg"/>
          </p:nvPr>
        </p:nvSpPr>
        <p:spPr>
          <a:ln>
            <a:solidFill>
              <a:srgbClr val="000000"/>
            </a:solidFill>
            <a:miter/>
          </a:ln>
        </p:spPr>
      </p:sp>
      <p:sp>
        <p:nvSpPr>
          <p:cNvPr id="122882" name="备注占位符 2"/>
          <p:cNvSpPr>
            <a:spLocks noGrp="1"/>
          </p:cNvSpPr>
          <p:nvPr>
            <p:ph type="body"/>
          </p:nvPr>
        </p:nvSpPr>
        <p:spPr>
          <a:noFill/>
          <a:ln>
            <a:noFill/>
          </a:ln>
        </p:spPr>
        <p:txBody>
          <a:bodyPr wrap="square" lIns="91440" tIns="45720" rIns="91440" bIns="45720" anchor="t" anchorCtr="0"/>
          <a:p>
            <a:pPr lvl="0" eaLnBrk="1" hangingPunct="1"/>
            <a:r>
              <a:rPr lang="zh-CN" altLang="en-US" dirty="0"/>
              <a:t>字号可根据</a:t>
            </a:r>
            <a:endParaRPr lang="zh-CN" altLang="en-US" dirty="0"/>
          </a:p>
        </p:txBody>
      </p:sp>
      <p:sp>
        <p:nvSpPr>
          <p:cNvPr id="122883"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3075" name="图片 2"/>
          <p:cNvPicPr>
            <a:picLocks noChangeAspect="1"/>
          </p:cNvPicPr>
          <p:nvPr userDrawn="1"/>
        </p:nvPicPr>
        <p:blipFill>
          <a:blip r:embed="rId2"/>
          <a:srcRect r="6975"/>
          <a:stretch>
            <a:fillRect/>
          </a:stretch>
        </p:blipFill>
        <p:spPr>
          <a:xfrm>
            <a:off x="5224463" y="0"/>
            <a:ext cx="6967537" cy="6858000"/>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838200" y="1825625"/>
            <a:ext cx="10515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01C1D11-DB00-4041-8528-752836ACD05B}"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F52C9B9-05D7-4AB1-AD45-E9DC89E73D4A}"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8B65C5B-931A-4826-AA1D-D0E7518E6020}"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4F4DDE4-181A-43C1-8907-94D7013F86BE}"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1502FD-DCF3-4A4A-8685-F637EC9E126A}"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B2041B7-5742-4C18-9F29-86E3E1B0AFE9}"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7787"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EF19E09-8F74-40D4-A992-29537A7AC924}"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31D30D7-A4E0-497F-8E50-ED7E5B924C43}"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205C2B9-77BE-44DA-ADDA-865F287FBA6E}"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1E6DD5E-F55E-4F9F-8BCB-6D7AC80BD3A4}"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3" name="日期占位符 1"/>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2F2F222-B2A6-4000-8168-E36ABC44CEBD}"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2"/>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C149BB0-B77E-4694-89B2-7FCEAC162225}"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40C536F-7729-4D5C-AE64-04660703A684}"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1EBA359-2057-46B3-986E-880DD2588BD0}"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999D996-06E6-4734-A984-EC568D140983}"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D255627-615C-4002-8E52-4C7F2854C6BB}"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5D9CE11-5B80-4424-BEDE-9D1BC7289FBC}"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54ECD59-6683-40E9-968D-91BE482211FE}"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0ABE401-76D3-4673-AAFC-20804CF948A7}"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D4DBE5E-BE44-4EF9-9585-242984F7DD5B}"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1867" y="776288"/>
            <a:ext cx="10947400" cy="935037"/>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27051" y="1855788"/>
            <a:ext cx="5384800" cy="43100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6115051" y="1855788"/>
            <a:ext cx="5384800" cy="43100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日期占位符 4"/>
          <p:cNvSpPr>
            <a:spLocks noGrp="1"/>
          </p:cNvSpPr>
          <p:nvPr>
            <p:ph type="dt" sz="half" idx="10"/>
          </p:nvPr>
        </p:nvSpPr>
        <p:spPr>
          <a:xfrm>
            <a:off x="609600" y="6245225"/>
            <a:ext cx="2844800" cy="476250"/>
          </a:xfrm>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a:xfrm>
            <a:off x="4165600" y="6245225"/>
            <a:ext cx="3860800" cy="476250"/>
          </a:xfrm>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8737600" y="6245225"/>
            <a:ext cx="2844800" cy="476250"/>
          </a:xfrm>
        </p:spPr>
        <p:txBody>
          <a:bodyPr/>
          <a:p>
            <a:pPr marL="0" marR="0" lvl="0" indent="0" algn="r" defTabSz="914400" rtl="0" eaLnBrk="1" fontAlgn="base" latinLnBrk="0" hangingPunct="1">
              <a:lnSpc>
                <a:spcPct val="100000"/>
              </a:lnSpc>
              <a:spcBef>
                <a:spcPct val="0"/>
              </a:spcBef>
              <a:spcAft>
                <a:spcPct val="0"/>
              </a:spcAft>
              <a:buClrTx/>
              <a:buSzTx/>
              <a:buFontTx/>
              <a:buNone/>
              <a:defRPr/>
            </a:pPr>
            <a:fld id="{3EF3F194-D8B0-4AC7-8B85-AF2C6EA77D6B}" type="slidenum">
              <a:rPr kumimoji="0" lang="zh-CN"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3" name="日期占位符 1"/>
          <p:cNvSpPr>
            <a:spLocks noGrp="1"/>
          </p:cNvSpPr>
          <p:nvPr>
            <p:ph type="dt" sz="half" idx="2"/>
            <p:custDataLst>
              <p:tags r:id="rId2"/>
            </p:custDataLst>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pPr>
            <a:fld id="{72F2F222-B2A6-4000-8168-E36ABC44CEBD}"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2"/>
          <p:cNvSpPr>
            <a:spLocks noGrp="1"/>
          </p:cNvSpPr>
          <p:nvPr>
            <p:ph type="ftr" sz="quarter" idx="3"/>
            <p:custDataLst>
              <p:tags r:id="rId3"/>
            </p:custDataLst>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3"/>
          <p:cNvSpPr>
            <a:spLocks noGrp="1"/>
          </p:cNvSpPr>
          <p:nvPr>
            <p:ph type="sldNum" sz="quarter" idx="4"/>
            <p:custDataLst>
              <p:tags r:id="rId4"/>
            </p:custDataLst>
          </p:nvPr>
        </p:nvSpPr>
        <p:spPr>
          <a:xfrm>
            <a:off x="8610600" y="6356350"/>
            <a:ext cx="2743200" cy="365125"/>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pPr>
            <a:fld id="{EC149BB0-B77E-4694-89B2-7FCEAC162225}" type="slidenum">
              <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2.png"/><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图片 6"/>
          <p:cNvPicPr>
            <a:picLocks noChangeAspect="1"/>
          </p:cNvPicPr>
          <p:nvPr userDrawn="1"/>
        </p:nvPicPr>
        <p:blipFill>
          <a:blip r:embed="rId13"/>
          <a:stretch>
            <a:fillRect/>
          </a:stretch>
        </p:blipFill>
        <p:spPr>
          <a:xfrm>
            <a:off x="1588" y="0"/>
            <a:ext cx="12188825"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2050" name="图片 6"/>
          <p:cNvPicPr>
            <a:picLocks noChangeAspect="1"/>
          </p:cNvPicPr>
          <p:nvPr userDrawn="1"/>
        </p:nvPicPr>
        <p:blipFill>
          <a:blip r:embed="rId2"/>
          <a:stretch>
            <a:fillRect/>
          </a:stretch>
        </p:blipFill>
        <p:spPr>
          <a:xfrm>
            <a:off x="1588" y="0"/>
            <a:ext cx="12188825"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6.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1" Type="http://schemas.openxmlformats.org/officeDocument/2006/relationships/slideLayout" Target="../slideLayouts/slideLayout12.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tags" Target="../tags/tag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276225" y="2162175"/>
            <a:ext cx="5686425" cy="1016000"/>
          </a:xfrm>
          <a:prstGeom prst="rect">
            <a:avLst/>
          </a:prstGeom>
          <a:noFill/>
          <a:ln w="9525">
            <a:noFill/>
          </a:ln>
        </p:spPr>
        <p:txBody>
          <a:bodyPr anchor="t" anchorCtr="0">
            <a:spAutoFit/>
          </a:bodyPr>
          <a:p>
            <a:pPr algn="ctr"/>
            <a:r>
              <a:rPr lang="zh-CN" altLang="en-US" sz="6000" dirty="0">
                <a:solidFill>
                  <a:srgbClr val="1570C1"/>
                </a:solidFill>
                <a:latin typeface="微软雅黑" panose="020B0503020204020204" pitchFamily="34" charset="-122"/>
                <a:ea typeface="微软雅黑" panose="020B0503020204020204" pitchFamily="34" charset="-122"/>
              </a:rPr>
              <a:t>第</a:t>
            </a:r>
            <a:r>
              <a:rPr lang="en-US" altLang="zh-CN" sz="6000" dirty="0">
                <a:solidFill>
                  <a:srgbClr val="1570C1"/>
                </a:solidFill>
                <a:latin typeface="微软雅黑" panose="020B0503020204020204" pitchFamily="34" charset="-122"/>
                <a:ea typeface="微软雅黑" panose="020B0503020204020204" pitchFamily="34" charset="-122"/>
              </a:rPr>
              <a:t>4</a:t>
            </a:r>
            <a:r>
              <a:rPr lang="zh-CN" altLang="en-US" sz="6000" dirty="0">
                <a:solidFill>
                  <a:srgbClr val="1570C1"/>
                </a:solidFill>
                <a:latin typeface="微软雅黑" panose="020B0503020204020204" pitchFamily="34" charset="-122"/>
                <a:ea typeface="微软雅黑" panose="020B0503020204020204" pitchFamily="34" charset="-122"/>
              </a:rPr>
              <a:t>章</a:t>
            </a:r>
            <a:endParaRPr lang="en-US" altLang="zh-CN" sz="6000" dirty="0">
              <a:solidFill>
                <a:srgbClr val="1570C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76225" y="3686175"/>
            <a:ext cx="5686425" cy="644525"/>
          </a:xfrm>
          <a:prstGeom prst="rect">
            <a:avLst/>
          </a:prstGeom>
          <a:noFill/>
          <a:ln w="9525">
            <a:noFill/>
          </a:ln>
        </p:spPr>
        <p:txBody>
          <a:bodyPr anchor="t" anchorCtr="0">
            <a:spAutoFit/>
          </a:bodyPr>
          <a:p>
            <a:pPr algn="ctr"/>
            <a:r>
              <a:rPr lang="zh-CN" altLang="en-US" sz="3600" dirty="0">
                <a:solidFill>
                  <a:srgbClr val="1570C1"/>
                </a:solidFill>
                <a:latin typeface="微软雅黑" panose="020B0503020204020204" pitchFamily="34" charset="-122"/>
                <a:ea typeface="微软雅黑" panose="020B0503020204020204" pitchFamily="34" charset="-122"/>
              </a:rPr>
              <a:t>内部资源分析</a:t>
            </a:r>
            <a:endParaRPr lang="zh-CN" altLang="en-US" sz="3600" dirty="0">
              <a:solidFill>
                <a:srgbClr val="1570C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645150" y="2584450"/>
            <a:ext cx="6954838" cy="830263"/>
          </a:xfrm>
          <a:prstGeom prst="rect">
            <a:avLst/>
          </a:prstGeom>
          <a:noFill/>
          <a:ln w="9525">
            <a:noFill/>
          </a:ln>
        </p:spPr>
        <p:txBody>
          <a:bodyPr wrap="square" anchor="t" anchorCtr="0">
            <a:spAutoFit/>
          </a:bodyPr>
          <a:p>
            <a:pPr algn="ctr"/>
            <a:r>
              <a:rPr lang="zh-CN" altLang="en-US" sz="4800">
                <a:solidFill>
                  <a:srgbClr val="FFFFFF"/>
                </a:solidFill>
                <a:latin typeface="微软雅黑" panose="020B0503020204020204" pitchFamily="34" charset="-122"/>
                <a:ea typeface="微软雅黑" panose="020B0503020204020204" pitchFamily="34" charset="-122"/>
              </a:rPr>
              <a:t>战略管理</a:t>
            </a:r>
            <a:endParaRPr lang="zh-CN" altLang="en-US" sz="480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461" name="文本框 2"/>
          <p:cNvSpPr txBox="1"/>
          <p:nvPr/>
        </p:nvSpPr>
        <p:spPr>
          <a:xfrm>
            <a:off x="292100" y="244475"/>
            <a:ext cx="677863" cy="1884363"/>
          </a:xfrm>
          <a:prstGeom prst="rect">
            <a:avLst/>
          </a:prstGeom>
          <a:noFill/>
          <a:ln w="9525">
            <a:noFill/>
          </a:ln>
        </p:spPr>
        <p:txBody>
          <a:bodyPr vert="eaVert" anchor="t" anchorCtr="0">
            <a:spAutoFit/>
          </a:bodyPr>
          <a:p>
            <a:pPr algn="dist"/>
            <a:r>
              <a:rPr lang="zh-CN" altLang="en-US" sz="3200" b="1" dirty="0">
                <a:solidFill>
                  <a:srgbClr val="FFFFFF"/>
                </a:solidFill>
                <a:latin typeface="微软雅黑" panose="020B0503020204020204" pitchFamily="34" charset="-122"/>
                <a:ea typeface="微软雅黑" panose="020B0503020204020204" pitchFamily="34" charset="-122"/>
              </a:rPr>
              <a:t>学习目标</a:t>
            </a:r>
            <a:endParaRPr lang="zh-CN" altLang="en-US" sz="3200" b="1" dirty="0">
              <a:solidFill>
                <a:srgbClr val="FFFFFF"/>
              </a:solidFill>
              <a:latin typeface="微软雅黑" panose="020B0503020204020204" pitchFamily="34" charset="-122"/>
              <a:ea typeface="微软雅黑" panose="020B0503020204020204" pitchFamily="34" charset="-122"/>
            </a:endParaRPr>
          </a:p>
        </p:txBody>
      </p:sp>
      <p:sp>
        <p:nvSpPr>
          <p:cNvPr id="17416" name="文本框 10"/>
          <p:cNvSpPr txBox="1"/>
          <p:nvPr/>
        </p:nvSpPr>
        <p:spPr>
          <a:xfrm>
            <a:off x="2641600" y="1800225"/>
            <a:ext cx="8064500" cy="3414713"/>
          </a:xfrm>
          <a:prstGeom prst="rect">
            <a:avLst/>
          </a:prstGeom>
          <a:noFill/>
          <a:ln w="9525">
            <a:noFill/>
          </a:ln>
        </p:spPr>
        <p:txBody>
          <a:bodyPr anchor="t" anchorCtr="0">
            <a:spAutoFit/>
          </a:bodyPr>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认识企业资源的内涵及竞争价值分析</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掌握企业能力分析的内容与方法</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识别企业核心竞争力以及认识培育核心竞争力的途径</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了解企业的动态能力及实现途径</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使用价值链分析企业的竞争优势和战略成本</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掌握</a:t>
            </a:r>
            <a:r>
              <a:rPr lang="en-US" altLang="zh-CN" sz="2400" dirty="0">
                <a:solidFill>
                  <a:srgbClr val="1570C1"/>
                </a:solidFill>
                <a:latin typeface="微软雅黑" panose="020B0503020204020204" pitchFamily="34" charset="-122"/>
                <a:ea typeface="微软雅黑" panose="020B0503020204020204" pitchFamily="34" charset="-122"/>
              </a:rPr>
              <a:t>SWOT</a:t>
            </a:r>
            <a:r>
              <a:rPr lang="zh-CN" altLang="en-US" sz="2400" dirty="0">
                <a:solidFill>
                  <a:srgbClr val="1570C1"/>
                </a:solidFill>
                <a:latin typeface="微软雅黑" panose="020B0503020204020204" pitchFamily="34" charset="-122"/>
                <a:ea typeface="微软雅黑" panose="020B0503020204020204" pitchFamily="34" charset="-122"/>
              </a:rPr>
              <a:t>分析的方法并能实际运用</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wipe(left)">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1509" name="文本框 2"/>
          <p:cNvSpPr txBox="1"/>
          <p:nvPr/>
        </p:nvSpPr>
        <p:spPr>
          <a:xfrm>
            <a:off x="292100" y="400050"/>
            <a:ext cx="677863" cy="971550"/>
          </a:xfrm>
          <a:prstGeom prst="rect">
            <a:avLst/>
          </a:prstGeom>
          <a:noFill/>
          <a:ln w="9525">
            <a:noFill/>
          </a:ln>
        </p:spPr>
        <p:txBody>
          <a:bodyPr vert="eaVert" anchor="t" anchorCtr="0">
            <a:spAutoFit/>
          </a:bodyPr>
          <a:p>
            <a:pPr algn="dist"/>
            <a:r>
              <a:rPr lang="zh-CN" altLang="en-US" sz="3200" b="1" dirty="0">
                <a:solidFill>
                  <a:srgbClr val="FFFFFF"/>
                </a:solidFill>
                <a:latin typeface="微软雅黑" panose="020B0503020204020204" pitchFamily="34" charset="-122"/>
                <a:ea typeface="微软雅黑" panose="020B0503020204020204" pitchFamily="34" charset="-122"/>
              </a:rPr>
              <a:t>目录</a:t>
            </a:r>
            <a:endParaRPr lang="zh-CN" altLang="en-US" sz="3200" b="1" dirty="0">
              <a:solidFill>
                <a:srgbClr val="FFFFFF"/>
              </a:solidFill>
              <a:latin typeface="微软雅黑" panose="020B0503020204020204" pitchFamily="34" charset="-122"/>
              <a:ea typeface="微软雅黑" panose="020B0503020204020204" pitchFamily="34" charset="-122"/>
            </a:endParaRPr>
          </a:p>
        </p:txBody>
      </p:sp>
      <p:sp>
        <p:nvSpPr>
          <p:cNvPr id="12" name="文本框 10"/>
          <p:cNvSpPr txBox="1"/>
          <p:nvPr/>
        </p:nvSpPr>
        <p:spPr>
          <a:xfrm>
            <a:off x="4010025" y="1038225"/>
            <a:ext cx="4991100" cy="5016500"/>
          </a:xfrm>
          <a:prstGeom prst="rect">
            <a:avLst/>
          </a:prstGeom>
          <a:noFill/>
          <a:ln w="9525">
            <a:noFill/>
          </a:ln>
        </p:spPr>
        <p:txBody>
          <a:bodyPr anchor="t" anchorCtr="0">
            <a:spAutoFit/>
          </a:bodyPr>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1</a:t>
            </a:r>
            <a:r>
              <a:rPr lang="zh-CN" altLang="en-US" sz="3200" dirty="0">
                <a:solidFill>
                  <a:srgbClr val="1570C1"/>
                </a:solidFill>
                <a:latin typeface="微软雅黑" panose="020B0503020204020204" pitchFamily="34" charset="-122"/>
                <a:ea typeface="微软雅黑" panose="020B0503020204020204" pitchFamily="34" charset="-122"/>
              </a:rPr>
              <a:t>节  企业资源</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2</a:t>
            </a:r>
            <a:r>
              <a:rPr lang="zh-CN" altLang="en-US" sz="3200" dirty="0">
                <a:solidFill>
                  <a:srgbClr val="1570C1"/>
                </a:solidFill>
                <a:latin typeface="微软雅黑" panose="020B0503020204020204" pitchFamily="34" charset="-122"/>
                <a:ea typeface="微软雅黑" panose="020B0503020204020204" pitchFamily="34" charset="-122"/>
              </a:rPr>
              <a:t>节  企业能力</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3</a:t>
            </a:r>
            <a:r>
              <a:rPr lang="zh-CN" altLang="en-US" sz="3200" dirty="0">
                <a:solidFill>
                  <a:srgbClr val="1570C1"/>
                </a:solidFill>
                <a:latin typeface="微软雅黑" panose="020B0503020204020204" pitchFamily="34" charset="-122"/>
                <a:ea typeface="微软雅黑" panose="020B0503020204020204" pitchFamily="34" charset="-122"/>
              </a:rPr>
              <a:t>节  企业价值链</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4</a:t>
            </a:r>
            <a:r>
              <a:rPr lang="zh-CN" altLang="en-US" sz="3200" dirty="0">
                <a:solidFill>
                  <a:srgbClr val="1570C1"/>
                </a:solidFill>
                <a:latin typeface="微软雅黑" panose="020B0503020204020204" pitchFamily="34" charset="-122"/>
                <a:ea typeface="微软雅黑" panose="020B0503020204020204" pitchFamily="34" charset="-122"/>
              </a:rPr>
              <a:t>节  内部因素评价矩阵</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5</a:t>
            </a:r>
            <a:r>
              <a:rPr lang="zh-CN" altLang="en-US" sz="3200" dirty="0">
                <a:solidFill>
                  <a:srgbClr val="1570C1"/>
                </a:solidFill>
                <a:latin typeface="微软雅黑" panose="020B0503020204020204" pitchFamily="34" charset="-122"/>
                <a:ea typeface="微软雅黑" panose="020B0503020204020204" pitchFamily="34" charset="-122"/>
              </a:rPr>
              <a:t>节  </a:t>
            </a:r>
            <a:r>
              <a:rPr lang="en-US" altLang="zh-CN" sz="3200" dirty="0">
                <a:solidFill>
                  <a:srgbClr val="1570C1"/>
                </a:solidFill>
                <a:latin typeface="微软雅黑" panose="020B0503020204020204" pitchFamily="34" charset="-122"/>
                <a:ea typeface="微软雅黑" panose="020B0503020204020204" pitchFamily="34" charset="-122"/>
              </a:rPr>
              <a:t>SWOT</a:t>
            </a:r>
            <a:r>
              <a:rPr lang="zh-CN" altLang="en-US" sz="3200" dirty="0">
                <a:solidFill>
                  <a:srgbClr val="1570C1"/>
                </a:solidFill>
                <a:latin typeface="微软雅黑" panose="020B0503020204020204" pitchFamily="34" charset="-122"/>
                <a:ea typeface="微软雅黑" panose="020B0503020204020204" pitchFamily="34" charset="-122"/>
              </a:rPr>
              <a:t>分析法</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52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253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2535" name="文本框 17"/>
          <p:cNvSpPr txBox="1"/>
          <p:nvPr/>
        </p:nvSpPr>
        <p:spPr>
          <a:xfrm>
            <a:off x="425450" y="425450"/>
            <a:ext cx="9607550" cy="1077913"/>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资源基础观揭示公司独特的资源与能力组合对战略的决定性影响</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4" name="矩形 3"/>
          <p:cNvSpPr/>
          <p:nvPr/>
        </p:nvSpPr>
        <p:spPr>
          <a:xfrm>
            <a:off x="425450" y="1766888"/>
            <a:ext cx="5202238" cy="4400550"/>
          </a:xfrm>
          <a:prstGeom prst="rect">
            <a:avLst/>
          </a:prstGeom>
          <a:solidFill>
            <a:srgbClr val="57CAF4"/>
          </a:solidFill>
          <a:ln w="9525">
            <a:noFill/>
          </a:ln>
        </p:spPr>
        <p:txBody>
          <a:bodyPr anchor="t" anchorCtr="0">
            <a:spAutoFit/>
          </a:bodyPr>
          <a:p>
            <a:pPr eaLnBrk="0" hangingPunct="0"/>
            <a:r>
              <a:rPr lang="zh-CN" altLang="en-US" sz="2800" dirty="0">
                <a:solidFill>
                  <a:schemeClr val="bg1"/>
                </a:solidFill>
                <a:latin typeface="微软雅黑" panose="020B0503020204020204" pitchFamily="34" charset="-122"/>
                <a:ea typeface="微软雅黑" panose="020B0503020204020204" pitchFamily="34" charset="-122"/>
              </a:rPr>
              <a:t>以资源为基础的竞争优势理论认为，任何一家企业都是资源与能力的独特组合，这些资源和能力是组织战略的基础和利润的重要来源。</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因此，企业内部的资源和能力比外部环境更重要。战略的选择应最有效利用其核心竞争力，抓住外部环境的机遇。</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1" name="Rectangle 3"/>
          <p:cNvSpPr/>
          <p:nvPr/>
        </p:nvSpPr>
        <p:spPr>
          <a:xfrm>
            <a:off x="5924550" y="1330325"/>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资源：企业生产过程的投入</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32" name="Rectangle 4"/>
          <p:cNvSpPr/>
          <p:nvPr/>
        </p:nvSpPr>
        <p:spPr>
          <a:xfrm>
            <a:off x="5924550" y="2187575"/>
            <a:ext cx="5948363" cy="506413"/>
          </a:xfrm>
          <a:prstGeom prst="rect">
            <a:avLst/>
          </a:prstGeom>
          <a:solidFill>
            <a:srgbClr val="1570C1"/>
          </a:solidFill>
          <a:ln w="12700">
            <a:noFill/>
          </a:ln>
        </p:spPr>
        <p:txBody>
          <a:bodyPr wrap="none" anchor="ctr" anchorCtr="0"/>
          <a:p>
            <a:pPr eaLnBrk="0" hangingPunct="0">
              <a:spcBef>
                <a:spcPct val="50000"/>
              </a:spcBef>
            </a:pPr>
            <a:r>
              <a:rPr lang="zh-CN" altLang="en-US" dirty="0">
                <a:solidFill>
                  <a:schemeClr val="bg2"/>
                </a:solidFill>
                <a:latin typeface="微软雅黑" panose="020B0503020204020204" pitchFamily="34" charset="-122"/>
                <a:ea typeface="微软雅黑" panose="020B0503020204020204" pitchFamily="34" charset="-122"/>
              </a:rPr>
              <a:t>能力：将众多资源结合运用来完成一项任务或活动的才能</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33" name="Rectangle 5"/>
          <p:cNvSpPr/>
          <p:nvPr/>
        </p:nvSpPr>
        <p:spPr>
          <a:xfrm>
            <a:off x="5924550" y="3046413"/>
            <a:ext cx="5948363" cy="506412"/>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竞争优势：企业战胜竞争对手的能力</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34" name="Rectangle 6"/>
          <p:cNvSpPr/>
          <p:nvPr/>
        </p:nvSpPr>
        <p:spPr>
          <a:xfrm>
            <a:off x="5924550" y="3905250"/>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有吸引力的行业：利用公司资源和能力挖掘有机会的行业</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35" name="Rectangle 7"/>
          <p:cNvSpPr/>
          <p:nvPr/>
        </p:nvSpPr>
        <p:spPr>
          <a:xfrm>
            <a:off x="5924550" y="4762500"/>
            <a:ext cx="5948363" cy="5683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战略设计和实施：采取能够获取超额利润的战略行动</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36" name="Rectangle 8"/>
          <p:cNvSpPr/>
          <p:nvPr/>
        </p:nvSpPr>
        <p:spPr>
          <a:xfrm>
            <a:off x="5924550" y="5683250"/>
            <a:ext cx="5948363" cy="484188"/>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超额利润：获取超额利润</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43" name="AutoShape 15"/>
          <p:cNvSpPr/>
          <p:nvPr/>
        </p:nvSpPr>
        <p:spPr>
          <a:xfrm>
            <a:off x="8734425" y="1903413"/>
            <a:ext cx="198438" cy="215900"/>
          </a:xfrm>
          <a:prstGeom prst="downArrow">
            <a:avLst>
              <a:gd name="adj1" fmla="val 50000"/>
              <a:gd name="adj2" fmla="val 37127"/>
            </a:avLst>
          </a:prstGeom>
          <a:solidFill>
            <a:srgbClr val="57CAF4"/>
          </a:solidFill>
          <a:ln w="12700">
            <a:noFill/>
          </a:ln>
        </p:spPr>
        <p:txBody>
          <a:bodyPr vert="eaVert" wrap="none" anchor="ctr" anchorCtr="0"/>
          <a:p>
            <a:pPr algn="ctr" eaLnBrk="0" hangingPunct="0"/>
            <a:endParaRPr lang="zh-CN" altLang="en-US" dirty="0">
              <a:latin typeface="微软雅黑" panose="020B0503020204020204" pitchFamily="34" charset="-122"/>
              <a:ea typeface="微软雅黑" panose="020B0503020204020204" pitchFamily="34" charset="-122"/>
            </a:endParaRPr>
          </a:p>
        </p:txBody>
      </p:sp>
      <p:sp>
        <p:nvSpPr>
          <p:cNvPr id="44" name="AutoShape 16"/>
          <p:cNvSpPr/>
          <p:nvPr/>
        </p:nvSpPr>
        <p:spPr>
          <a:xfrm>
            <a:off x="8734425" y="2762250"/>
            <a:ext cx="198438" cy="215900"/>
          </a:xfrm>
          <a:prstGeom prst="downArrow">
            <a:avLst>
              <a:gd name="adj1" fmla="val 50000"/>
              <a:gd name="adj2" fmla="val 37127"/>
            </a:avLst>
          </a:prstGeom>
          <a:solidFill>
            <a:srgbClr val="57CAF4"/>
          </a:solidFill>
          <a:ln w="12700">
            <a:noFill/>
          </a:ln>
        </p:spPr>
        <p:txBody>
          <a:bodyPr vert="eaVert" wrap="none" anchor="ctr" anchorCtr="0"/>
          <a:p>
            <a:pPr algn="ctr" eaLnBrk="0" hangingPunct="0"/>
            <a:endParaRPr lang="zh-CN" altLang="en-US" dirty="0">
              <a:latin typeface="微软雅黑" panose="020B0503020204020204" pitchFamily="34" charset="-122"/>
              <a:ea typeface="微软雅黑" panose="020B0503020204020204" pitchFamily="34" charset="-122"/>
            </a:endParaRPr>
          </a:p>
        </p:txBody>
      </p:sp>
      <p:sp>
        <p:nvSpPr>
          <p:cNvPr id="45" name="AutoShape 17"/>
          <p:cNvSpPr/>
          <p:nvPr/>
        </p:nvSpPr>
        <p:spPr>
          <a:xfrm>
            <a:off x="8734425" y="3621088"/>
            <a:ext cx="198438" cy="215900"/>
          </a:xfrm>
          <a:prstGeom prst="downArrow">
            <a:avLst>
              <a:gd name="adj1" fmla="val 50000"/>
              <a:gd name="adj2" fmla="val 37127"/>
            </a:avLst>
          </a:prstGeom>
          <a:solidFill>
            <a:srgbClr val="57CAF4"/>
          </a:solidFill>
          <a:ln w="12700">
            <a:noFill/>
          </a:ln>
        </p:spPr>
        <p:txBody>
          <a:bodyPr vert="eaVert" wrap="none" anchor="ctr" anchorCtr="0"/>
          <a:p>
            <a:pPr algn="ctr" eaLnBrk="0" hangingPunct="0"/>
            <a:endParaRPr lang="zh-CN" altLang="en-US" dirty="0">
              <a:latin typeface="微软雅黑" panose="020B0503020204020204" pitchFamily="34" charset="-122"/>
              <a:ea typeface="微软雅黑" panose="020B0503020204020204" pitchFamily="34" charset="-122"/>
            </a:endParaRPr>
          </a:p>
        </p:txBody>
      </p:sp>
      <p:sp>
        <p:nvSpPr>
          <p:cNvPr id="46" name="AutoShape 18"/>
          <p:cNvSpPr/>
          <p:nvPr/>
        </p:nvSpPr>
        <p:spPr>
          <a:xfrm>
            <a:off x="8734425" y="4478338"/>
            <a:ext cx="198438" cy="215900"/>
          </a:xfrm>
          <a:prstGeom prst="downArrow">
            <a:avLst>
              <a:gd name="adj1" fmla="val 50000"/>
              <a:gd name="adj2" fmla="val 37127"/>
            </a:avLst>
          </a:prstGeom>
          <a:solidFill>
            <a:srgbClr val="57CAF4"/>
          </a:solidFill>
          <a:ln w="12700">
            <a:noFill/>
          </a:ln>
        </p:spPr>
        <p:txBody>
          <a:bodyPr vert="eaVert" wrap="none" anchor="ctr" anchorCtr="0"/>
          <a:p>
            <a:pPr algn="ctr" eaLnBrk="0" hangingPunct="0"/>
            <a:endParaRPr lang="zh-CN" altLang="en-US" dirty="0">
              <a:latin typeface="微软雅黑" panose="020B0503020204020204" pitchFamily="34" charset="-122"/>
              <a:ea typeface="微软雅黑" panose="020B0503020204020204" pitchFamily="34" charset="-122"/>
            </a:endParaRPr>
          </a:p>
        </p:txBody>
      </p:sp>
      <p:sp>
        <p:nvSpPr>
          <p:cNvPr id="47" name="AutoShape 19"/>
          <p:cNvSpPr/>
          <p:nvPr/>
        </p:nvSpPr>
        <p:spPr>
          <a:xfrm>
            <a:off x="8734425" y="5399088"/>
            <a:ext cx="198438" cy="215900"/>
          </a:xfrm>
          <a:prstGeom prst="downArrow">
            <a:avLst>
              <a:gd name="adj1" fmla="val 50000"/>
              <a:gd name="adj2" fmla="val 37127"/>
            </a:avLst>
          </a:prstGeom>
          <a:solidFill>
            <a:srgbClr val="57CAF4"/>
          </a:solidFill>
          <a:ln w="12700">
            <a:noFill/>
          </a:ln>
        </p:spPr>
        <p:txBody>
          <a:bodyPr vert="eaVert" wrap="none" anchor="ctr" anchorCtr="0"/>
          <a:p>
            <a:pPr algn="ctr" eaLnBrk="0" hangingPunct="0"/>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425450" y="1782763"/>
            <a:ext cx="5202238" cy="4400550"/>
          </a:xfrm>
          <a:prstGeom prst="rect">
            <a:avLst/>
          </a:prstGeom>
          <a:solidFill>
            <a:srgbClr val="57CAF4"/>
          </a:solidFill>
          <a:ln w="9525">
            <a:noFill/>
          </a:ln>
        </p:spPr>
        <p:txBody>
          <a:bodyPr anchor="t" anchorCtr="0">
            <a:spAutoFit/>
          </a:bodyPr>
          <a:p>
            <a:pPr eaLnBrk="0" hangingPunct="0"/>
            <a:r>
              <a:rPr lang="zh-CN" altLang="en-US" sz="2800" dirty="0">
                <a:solidFill>
                  <a:schemeClr val="bg1"/>
                </a:solidFill>
                <a:latin typeface="微软雅黑" panose="020B0503020204020204" pitchFamily="34" charset="-122"/>
                <a:ea typeface="微软雅黑" panose="020B0503020204020204" pitchFamily="34" charset="-122"/>
              </a:rPr>
              <a:t>以资源为基础的竞争优势理论认为，任何一家企业都是资源与能力的独特组合，这些资源和能力是组织战略的基础和利润的重要来源。</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因此，企业内部的资源和能力比外部环境更重要。战略的选择应最有效利用其核心竞争力，抓住外部环境的机遇。</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5" name="Rectangle 3"/>
          <p:cNvSpPr/>
          <p:nvPr/>
        </p:nvSpPr>
        <p:spPr>
          <a:xfrm>
            <a:off x="5924550" y="1346200"/>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资源：企业生产过程的投入</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6" name="Rectangle 4"/>
          <p:cNvSpPr/>
          <p:nvPr/>
        </p:nvSpPr>
        <p:spPr>
          <a:xfrm>
            <a:off x="5924550" y="2187575"/>
            <a:ext cx="5948363" cy="506413"/>
          </a:xfrm>
          <a:prstGeom prst="rect">
            <a:avLst/>
          </a:prstGeom>
          <a:solidFill>
            <a:srgbClr val="1570C1"/>
          </a:solidFill>
          <a:ln w="12700">
            <a:noFill/>
          </a:ln>
        </p:spPr>
        <p:txBody>
          <a:bodyPr wrap="none" anchor="ctr" anchorCtr="0"/>
          <a:p>
            <a:pPr eaLnBrk="0" hangingPunct="0">
              <a:spcBef>
                <a:spcPct val="50000"/>
              </a:spcBef>
            </a:pPr>
            <a:r>
              <a:rPr lang="zh-CN" altLang="en-US" dirty="0">
                <a:solidFill>
                  <a:schemeClr val="bg2"/>
                </a:solidFill>
                <a:latin typeface="微软雅黑" panose="020B0503020204020204" pitchFamily="34" charset="-122"/>
                <a:ea typeface="微软雅黑" panose="020B0503020204020204" pitchFamily="34" charset="-122"/>
              </a:rPr>
              <a:t>能力：将众多资源结合运用来完成一项任务或活动的才能</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7" name="矩形 6"/>
          <p:cNvSpPr/>
          <p:nvPr/>
        </p:nvSpPr>
        <p:spPr>
          <a:xfrm>
            <a:off x="425450" y="1782763"/>
            <a:ext cx="5202238" cy="4400550"/>
          </a:xfrm>
          <a:prstGeom prst="rect">
            <a:avLst/>
          </a:prstGeom>
          <a:solidFill>
            <a:srgbClr val="57CAF4"/>
          </a:solidFill>
          <a:ln w="9525">
            <a:noFill/>
          </a:ln>
        </p:spPr>
        <p:txBody>
          <a:bodyPr anchor="t" anchorCtr="0">
            <a:spAutoFit/>
          </a:bodyPr>
          <a:p>
            <a:pPr eaLnBrk="0" hangingPunct="0"/>
            <a:r>
              <a:rPr lang="zh-CN" altLang="en-US" sz="2800" dirty="0">
                <a:solidFill>
                  <a:schemeClr val="bg1"/>
                </a:solidFill>
                <a:latin typeface="微软雅黑" panose="020B0503020204020204" pitchFamily="34" charset="-122"/>
                <a:ea typeface="微软雅黑" panose="020B0503020204020204" pitchFamily="34" charset="-122"/>
              </a:rPr>
              <a:t>以资源为基础的竞争优势理论认为，任何一家企业都是资源与能力的独特组合，这些资源和能力是组织战略的基础和利润的重要来源。</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因此，企业内部的资源和能力比外部环境更重要。战略的选择应最有效利用其核心竞争力，抓住外部环境的机遇。</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9" name="Rectangle 3"/>
          <p:cNvSpPr/>
          <p:nvPr/>
        </p:nvSpPr>
        <p:spPr>
          <a:xfrm>
            <a:off x="5924550" y="1346200"/>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资源：企业生产过程的投入</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0" name="Rectangle 5"/>
          <p:cNvSpPr/>
          <p:nvPr/>
        </p:nvSpPr>
        <p:spPr>
          <a:xfrm>
            <a:off x="5924550" y="3046413"/>
            <a:ext cx="5948363" cy="506412"/>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竞争优势：企业战胜竞争对手的能力</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1" name="Rectangle 4"/>
          <p:cNvSpPr/>
          <p:nvPr/>
        </p:nvSpPr>
        <p:spPr>
          <a:xfrm>
            <a:off x="5924550" y="2187575"/>
            <a:ext cx="5948363" cy="506413"/>
          </a:xfrm>
          <a:prstGeom prst="rect">
            <a:avLst/>
          </a:prstGeom>
          <a:solidFill>
            <a:srgbClr val="1570C1"/>
          </a:solidFill>
          <a:ln w="12700">
            <a:noFill/>
          </a:ln>
        </p:spPr>
        <p:txBody>
          <a:bodyPr wrap="none" anchor="ctr" anchorCtr="0"/>
          <a:p>
            <a:pPr eaLnBrk="0" hangingPunct="0">
              <a:spcBef>
                <a:spcPct val="50000"/>
              </a:spcBef>
            </a:pPr>
            <a:r>
              <a:rPr lang="zh-CN" altLang="en-US" dirty="0">
                <a:solidFill>
                  <a:schemeClr val="bg2"/>
                </a:solidFill>
                <a:latin typeface="微软雅黑" panose="020B0503020204020204" pitchFamily="34" charset="-122"/>
                <a:ea typeface="微软雅黑" panose="020B0503020204020204" pitchFamily="34" charset="-122"/>
              </a:rPr>
              <a:t>能力：将众多资源结合运用来完成一项任务或活动的才能</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2" name="矩形 11"/>
          <p:cNvSpPr/>
          <p:nvPr/>
        </p:nvSpPr>
        <p:spPr>
          <a:xfrm>
            <a:off x="425450" y="1782763"/>
            <a:ext cx="5202238" cy="4400550"/>
          </a:xfrm>
          <a:prstGeom prst="rect">
            <a:avLst/>
          </a:prstGeom>
          <a:solidFill>
            <a:srgbClr val="57CAF4"/>
          </a:solidFill>
          <a:ln w="9525">
            <a:noFill/>
          </a:ln>
        </p:spPr>
        <p:txBody>
          <a:bodyPr anchor="t" anchorCtr="0">
            <a:spAutoFit/>
          </a:bodyPr>
          <a:p>
            <a:pPr eaLnBrk="0" hangingPunct="0"/>
            <a:r>
              <a:rPr lang="zh-CN" altLang="en-US" sz="2800" dirty="0">
                <a:solidFill>
                  <a:schemeClr val="bg1"/>
                </a:solidFill>
                <a:latin typeface="微软雅黑" panose="020B0503020204020204" pitchFamily="34" charset="-122"/>
                <a:ea typeface="微软雅黑" panose="020B0503020204020204" pitchFamily="34" charset="-122"/>
              </a:rPr>
              <a:t>以资源为基础的竞争优势理论认为，任何一家企业都是资源与能力的独特组合，这些资源和能力是组织战略的基础和利润的重要来源。</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因此，企业内部的资源和能力比外部环境更重要。战略的选择应最有效利用其核心竞争力，抓住外部环境的机遇。</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3" name="Rectangle 3"/>
          <p:cNvSpPr/>
          <p:nvPr/>
        </p:nvSpPr>
        <p:spPr>
          <a:xfrm>
            <a:off x="5924550" y="1346200"/>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资源：企业生产过程的投入</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4" name="Rectangle 6"/>
          <p:cNvSpPr/>
          <p:nvPr/>
        </p:nvSpPr>
        <p:spPr>
          <a:xfrm>
            <a:off x="5924550" y="3973513"/>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有吸引力的行业：利用公司资源和能力挖掘有机会的行业</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5" name="Rectangle 5"/>
          <p:cNvSpPr/>
          <p:nvPr/>
        </p:nvSpPr>
        <p:spPr>
          <a:xfrm>
            <a:off x="5924550" y="3114675"/>
            <a:ext cx="5948363" cy="506413"/>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竞争优势：企业战胜竞争对手的能力</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8" name="Rectangle 4"/>
          <p:cNvSpPr/>
          <p:nvPr/>
        </p:nvSpPr>
        <p:spPr>
          <a:xfrm>
            <a:off x="5924550" y="2255838"/>
            <a:ext cx="5948363" cy="506412"/>
          </a:xfrm>
          <a:prstGeom prst="rect">
            <a:avLst/>
          </a:prstGeom>
          <a:solidFill>
            <a:srgbClr val="1570C1"/>
          </a:solidFill>
          <a:ln w="12700">
            <a:noFill/>
          </a:ln>
        </p:spPr>
        <p:txBody>
          <a:bodyPr wrap="none" anchor="ctr" anchorCtr="0"/>
          <a:p>
            <a:pPr eaLnBrk="0" hangingPunct="0">
              <a:spcBef>
                <a:spcPct val="50000"/>
              </a:spcBef>
            </a:pPr>
            <a:r>
              <a:rPr lang="zh-CN" altLang="en-US" dirty="0">
                <a:solidFill>
                  <a:schemeClr val="bg2"/>
                </a:solidFill>
                <a:latin typeface="微软雅黑" panose="020B0503020204020204" pitchFamily="34" charset="-122"/>
                <a:ea typeface="微软雅黑" panose="020B0503020204020204" pitchFamily="34" charset="-122"/>
              </a:rPr>
              <a:t>能力：将众多资源结合运用来完成一项任务或活动的才能</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9" name="矩形 18"/>
          <p:cNvSpPr/>
          <p:nvPr/>
        </p:nvSpPr>
        <p:spPr>
          <a:xfrm>
            <a:off x="425450" y="1851025"/>
            <a:ext cx="5202238" cy="4400550"/>
          </a:xfrm>
          <a:prstGeom prst="rect">
            <a:avLst/>
          </a:prstGeom>
          <a:solidFill>
            <a:srgbClr val="57CAF4"/>
          </a:solidFill>
          <a:ln w="9525">
            <a:noFill/>
          </a:ln>
        </p:spPr>
        <p:txBody>
          <a:bodyPr anchor="t" anchorCtr="0">
            <a:spAutoFit/>
          </a:bodyPr>
          <a:p>
            <a:pPr eaLnBrk="0" hangingPunct="0"/>
            <a:r>
              <a:rPr lang="zh-CN" altLang="en-US" sz="2800" dirty="0">
                <a:solidFill>
                  <a:schemeClr val="bg1"/>
                </a:solidFill>
                <a:latin typeface="微软雅黑" panose="020B0503020204020204" pitchFamily="34" charset="-122"/>
                <a:ea typeface="微软雅黑" panose="020B0503020204020204" pitchFamily="34" charset="-122"/>
              </a:rPr>
              <a:t>以资源为基础的竞争优势理论认为，任何一家企业都是资源与能力的独特组合，这些资源和能力是组织战略的基础和利润的重要来源。</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因此，企业内部的资源和能力比外部环境更重要。战略的选择应最有效利用其核心竞争力，抓住外部环境的机遇。</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0" name="Rectangle 3"/>
          <p:cNvSpPr/>
          <p:nvPr/>
        </p:nvSpPr>
        <p:spPr>
          <a:xfrm>
            <a:off x="5924550" y="1414463"/>
            <a:ext cx="5948363" cy="504825"/>
          </a:xfrm>
          <a:prstGeom prst="rect">
            <a:avLst/>
          </a:prstGeom>
          <a:solidFill>
            <a:srgbClr val="1570C1"/>
          </a:solidFill>
          <a:ln w="12700">
            <a:noFill/>
          </a:ln>
        </p:spPr>
        <p:txBody>
          <a:bodyPr wrap="none" anchor="ctr" anchorCtr="0"/>
          <a:p>
            <a:pPr eaLnBrk="0" hangingPunct="0"/>
            <a:r>
              <a:rPr lang="zh-CN" altLang="en-US" dirty="0">
                <a:solidFill>
                  <a:schemeClr val="bg2"/>
                </a:solidFill>
                <a:latin typeface="微软雅黑" panose="020B0503020204020204" pitchFamily="34" charset="-122"/>
                <a:ea typeface="微软雅黑" panose="020B0503020204020204" pitchFamily="34" charset="-122"/>
              </a:rPr>
              <a:t>资源：企业生产过程的投入</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1" name="Rectangle 7"/>
          <p:cNvSpPr/>
          <p:nvPr/>
        </p:nvSpPr>
        <p:spPr>
          <a:xfrm>
            <a:off x="5924550" y="4778375"/>
            <a:ext cx="5948363" cy="568325"/>
          </a:xfrm>
          <a:prstGeom prst="rect">
            <a:avLst/>
          </a:prstGeom>
          <a:solidFill>
            <a:srgbClr val="1570C1"/>
          </a:solidFill>
          <a:ln w="12700">
            <a:noFill/>
          </a:ln>
        </p:spPr>
        <p:txBody>
          <a:bodyPr wrap="none" anchor="ctr" anchorCtr="0"/>
          <a:p>
            <a:pPr algn="ctr" eaLnBrk="0" hangingPunct="0"/>
            <a:r>
              <a:rPr lang="zh-CN" altLang="en-US" dirty="0">
                <a:solidFill>
                  <a:schemeClr val="bg2"/>
                </a:solidFill>
                <a:latin typeface="微软雅黑" panose="020B0503020204020204" pitchFamily="34" charset="-122"/>
                <a:ea typeface="微软雅黑" panose="020B0503020204020204" pitchFamily="34" charset="-122"/>
              </a:rPr>
              <a:t>战略设计和实施：采取能够获取超额利润的战略行动</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2" name="Rectangle 8"/>
          <p:cNvSpPr/>
          <p:nvPr/>
        </p:nvSpPr>
        <p:spPr>
          <a:xfrm>
            <a:off x="5924550" y="5699125"/>
            <a:ext cx="5948363" cy="484188"/>
          </a:xfrm>
          <a:prstGeom prst="rect">
            <a:avLst/>
          </a:prstGeom>
          <a:solidFill>
            <a:srgbClr val="1570C1"/>
          </a:solidFill>
          <a:ln w="12700">
            <a:noFill/>
          </a:ln>
        </p:spPr>
        <p:txBody>
          <a:bodyPr wrap="none" anchor="ctr" anchorCtr="0"/>
          <a:p>
            <a:pPr algn="ctr" eaLnBrk="0" hangingPunct="0"/>
            <a:r>
              <a:rPr lang="zh-CN" altLang="en-US" dirty="0">
                <a:solidFill>
                  <a:schemeClr val="bg2"/>
                </a:solidFill>
                <a:latin typeface="微软雅黑" panose="020B0503020204020204" pitchFamily="34" charset="-122"/>
                <a:ea typeface="微软雅黑" panose="020B0503020204020204" pitchFamily="34" charset="-122"/>
              </a:rPr>
              <a:t>超额利润：获取超额利润</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3" name="Rectangle 6"/>
          <p:cNvSpPr/>
          <p:nvPr/>
        </p:nvSpPr>
        <p:spPr>
          <a:xfrm>
            <a:off x="5924550" y="3989388"/>
            <a:ext cx="5948363" cy="504825"/>
          </a:xfrm>
          <a:prstGeom prst="rect">
            <a:avLst/>
          </a:prstGeom>
          <a:solidFill>
            <a:srgbClr val="1570C1"/>
          </a:solidFill>
          <a:ln w="12700">
            <a:noFill/>
          </a:ln>
        </p:spPr>
        <p:txBody>
          <a:bodyPr wrap="none" anchor="ctr" anchorCtr="0"/>
          <a:p>
            <a:pPr algn="ctr" eaLnBrk="0" hangingPunct="0"/>
            <a:r>
              <a:rPr lang="zh-CN" altLang="en-US" dirty="0">
                <a:solidFill>
                  <a:schemeClr val="bg2"/>
                </a:solidFill>
                <a:latin typeface="微软雅黑" panose="020B0503020204020204" pitchFamily="34" charset="-122"/>
                <a:ea typeface="微软雅黑" panose="020B0503020204020204" pitchFamily="34" charset="-122"/>
              </a:rPr>
              <a:t>有吸引力的行业：利用企业资源和能力挖掘有机会的行业</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4" name="Rectangle 5"/>
          <p:cNvSpPr/>
          <p:nvPr/>
        </p:nvSpPr>
        <p:spPr>
          <a:xfrm>
            <a:off x="5924550" y="3130550"/>
            <a:ext cx="5948363" cy="506413"/>
          </a:xfrm>
          <a:prstGeom prst="rect">
            <a:avLst/>
          </a:prstGeom>
          <a:solidFill>
            <a:srgbClr val="1570C1"/>
          </a:solidFill>
          <a:ln w="12700">
            <a:noFill/>
          </a:ln>
        </p:spPr>
        <p:txBody>
          <a:bodyPr wrap="none" anchor="ctr" anchorCtr="0"/>
          <a:p>
            <a:pPr algn="ctr" eaLnBrk="0" hangingPunct="0"/>
            <a:r>
              <a:rPr lang="zh-CN" altLang="en-US" dirty="0">
                <a:solidFill>
                  <a:schemeClr val="bg2"/>
                </a:solidFill>
                <a:latin typeface="微软雅黑" panose="020B0503020204020204" pitchFamily="34" charset="-122"/>
                <a:ea typeface="微软雅黑" panose="020B0503020204020204" pitchFamily="34" charset="-122"/>
              </a:rPr>
              <a:t>竞争优势：企业战胜竞争对手的能力</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5" name="Rectangle 4"/>
          <p:cNvSpPr/>
          <p:nvPr/>
        </p:nvSpPr>
        <p:spPr>
          <a:xfrm>
            <a:off x="5924550" y="2271713"/>
            <a:ext cx="5948363" cy="506412"/>
          </a:xfrm>
          <a:prstGeom prst="rect">
            <a:avLst/>
          </a:prstGeom>
          <a:solidFill>
            <a:srgbClr val="1570C1"/>
          </a:solidFill>
          <a:ln w="12700">
            <a:noFill/>
          </a:ln>
        </p:spPr>
        <p:txBody>
          <a:bodyPr wrap="none" anchor="ctr" anchorCtr="0"/>
          <a:p>
            <a:pPr algn="ctr" eaLnBrk="0" hangingPunct="0">
              <a:spcBef>
                <a:spcPct val="50000"/>
              </a:spcBef>
            </a:pPr>
            <a:r>
              <a:rPr lang="zh-CN" altLang="en-US" dirty="0">
                <a:solidFill>
                  <a:schemeClr val="bg2"/>
                </a:solidFill>
                <a:latin typeface="微软雅黑" panose="020B0503020204020204" pitchFamily="34" charset="-122"/>
                <a:ea typeface="微软雅黑" panose="020B0503020204020204" pitchFamily="34" charset="-122"/>
              </a:rPr>
              <a:t>能力：将众多资源结合运用完成一项任务或活动的才能</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6" name="矩形 25"/>
          <p:cNvSpPr/>
          <p:nvPr/>
        </p:nvSpPr>
        <p:spPr>
          <a:xfrm>
            <a:off x="425450" y="1866900"/>
            <a:ext cx="5202238" cy="4400550"/>
          </a:xfrm>
          <a:prstGeom prst="rect">
            <a:avLst/>
          </a:prstGeom>
          <a:solidFill>
            <a:srgbClr val="57CAF4"/>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以资源为基础的竞争优势理论认为，任何一家企业都是资源与能力的独特组合，这些资源和能力是组织战略的基础和利润的重要来源。</a:t>
            </a:r>
            <a:endParaRPr lang="en-US" altLang="zh-CN" sz="2800" dirty="0">
              <a:solidFill>
                <a:schemeClr val="bg1"/>
              </a:solidFill>
              <a:latin typeface="微软雅黑" panose="020B0503020204020204" pitchFamily="34" charset="-122"/>
              <a:ea typeface="微软雅黑" panose="020B0503020204020204" pitchFamily="34" charset="-122"/>
            </a:endParaRPr>
          </a:p>
          <a:p>
            <a:pPr algn="just"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chemeClr val="bg1"/>
                </a:solidFill>
                <a:latin typeface="微软雅黑" panose="020B0503020204020204" pitchFamily="34" charset="-122"/>
                <a:ea typeface="微软雅黑" panose="020B0503020204020204" pitchFamily="34" charset="-122"/>
              </a:rPr>
              <a:t>       因此，企业内部的资源和能力比外部环境更重要。战略的选择应最有效利用其核心竞争力，抓住外部环境的机遇。</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7" name="Rectangle 3"/>
          <p:cNvSpPr/>
          <p:nvPr/>
        </p:nvSpPr>
        <p:spPr>
          <a:xfrm>
            <a:off x="5924550" y="1430338"/>
            <a:ext cx="5948363" cy="504825"/>
          </a:xfrm>
          <a:prstGeom prst="rect">
            <a:avLst/>
          </a:prstGeom>
          <a:solidFill>
            <a:srgbClr val="1570C1"/>
          </a:solidFill>
          <a:ln w="12700">
            <a:noFill/>
          </a:ln>
        </p:spPr>
        <p:txBody>
          <a:bodyPr wrap="none" anchor="ctr" anchorCtr="0"/>
          <a:p>
            <a:pPr algn="ctr" eaLnBrk="0" hangingPunct="0"/>
            <a:r>
              <a:rPr lang="zh-CN" altLang="en-US" dirty="0">
                <a:solidFill>
                  <a:schemeClr val="bg2"/>
                </a:solidFill>
                <a:latin typeface="微软雅黑" panose="020B0503020204020204" pitchFamily="34" charset="-122"/>
                <a:ea typeface="微软雅黑" panose="020B0503020204020204" pitchFamily="34" charset="-122"/>
              </a:rPr>
              <a:t>资源：企业生产过程的投入</a:t>
            </a:r>
            <a:endParaRPr lang="zh-CN" altLang="en-US" dirty="0">
              <a:solidFill>
                <a:schemeClr val="bg2"/>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up)">
                                      <p:cBhvr>
                                        <p:cTn id="11" dur="500"/>
                                        <p:tgtEl>
                                          <p:spTgt spid="4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up)">
                                      <p:cBhvr>
                                        <p:cTn id="19" dur="500"/>
                                        <p:tgtEl>
                                          <p:spTgt spid="4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up)">
                                      <p:cBhvr>
                                        <p:cTn id="27" dur="500"/>
                                        <p:tgtEl>
                                          <p:spTgt spid="45"/>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up)">
                                      <p:cBhvr>
                                        <p:cTn id="35" dur="500"/>
                                        <p:tgtEl>
                                          <p:spTgt spid="46"/>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wipe(up)">
                                      <p:cBhvr>
                                        <p:cTn id="43" dur="500"/>
                                        <p:tgtEl>
                                          <p:spTgt spid="47"/>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par>
                          <p:cTn id="63" fill="hold">
                            <p:stCondLst>
                              <p:cond delay="500"/>
                            </p:stCondLst>
                            <p:childTnLst>
                              <p:par>
                                <p:cTn id="64" presetID="10" presetClass="entr" presetSubtype="0" fill="hold" grpId="0" nodeType="after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500"/>
                                        <p:tgtEl>
                                          <p:spTgt spid="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fade">
                                      <p:cBhvr>
                                        <p:cTn id="76" dur="500"/>
                                        <p:tgtEl>
                                          <p:spTgt spid="7"/>
                                        </p:tgtEl>
                                      </p:cBhvr>
                                    </p:animEffect>
                                  </p:childTnLst>
                                </p:cTn>
                              </p:par>
                            </p:childTnLst>
                          </p:cTn>
                        </p:par>
                        <p:par>
                          <p:cTn id="77" fill="hold">
                            <p:stCondLst>
                              <p:cond delay="50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childTnLst>
                          </p:cTn>
                        </p:par>
                        <p:par>
                          <p:cTn id="81" fill="hold">
                            <p:stCondLst>
                              <p:cond delay="1000"/>
                            </p:stCondLst>
                            <p:childTnLst>
                              <p:par>
                                <p:cTn id="82" presetID="10" presetClass="entr" presetSubtype="0" fill="hold" grpId="0"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fade">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fade">
                                      <p:cBhvr>
                                        <p:cTn id="89" dur="50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fade">
                                      <p:cBhvr>
                                        <p:cTn id="94" dur="500"/>
                                        <p:tgtEl>
                                          <p:spTgt spid="12"/>
                                        </p:tgtEl>
                                      </p:cBhvr>
                                    </p:animEffect>
                                  </p:childTnLst>
                                </p:cTn>
                              </p:par>
                            </p:childTnLst>
                          </p:cTn>
                        </p:par>
                        <p:par>
                          <p:cTn id="95" fill="hold">
                            <p:stCondLst>
                              <p:cond delay="500"/>
                            </p:stCondLst>
                            <p:childTnLst>
                              <p:par>
                                <p:cTn id="96" presetID="10" presetClass="entr" presetSubtype="0" fill="hold" grpId="0" nodeType="after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fade">
                                      <p:cBhvr>
                                        <p:cTn id="98" dur="500"/>
                                        <p:tgtEl>
                                          <p:spTgt spid="14"/>
                                        </p:tgtEl>
                                      </p:cBhvr>
                                    </p:animEffect>
                                  </p:childTnLst>
                                </p:cTn>
                              </p:par>
                            </p:childTnLst>
                          </p:cTn>
                        </p:par>
                        <p:par>
                          <p:cTn id="99" fill="hold">
                            <p:stCondLst>
                              <p:cond delay="1000"/>
                            </p:stCondLst>
                            <p:childTnLst>
                              <p:par>
                                <p:cTn id="100" presetID="10" presetClass="entr" presetSubtype="0" fill="hold" grpId="0" nodeType="afterEffect">
                                  <p:stCondLst>
                                    <p:cond delay="0"/>
                                  </p:stCondLst>
                                  <p:childTnLst>
                                    <p:set>
                                      <p:cBhvr>
                                        <p:cTn id="101" dur="1" fill="hold">
                                          <p:stCondLst>
                                            <p:cond delay="0"/>
                                          </p:stCondLst>
                                        </p:cTn>
                                        <p:tgtEl>
                                          <p:spTgt spid="15"/>
                                        </p:tgtEl>
                                        <p:attrNameLst>
                                          <p:attrName>style.visibility</p:attrName>
                                        </p:attrNameLst>
                                      </p:cBhvr>
                                      <p:to>
                                        <p:strVal val="visible"/>
                                      </p:to>
                                    </p:set>
                                    <p:animEffect transition="in" filter="fade">
                                      <p:cBhvr>
                                        <p:cTn id="102" dur="500"/>
                                        <p:tgtEl>
                                          <p:spTgt spid="15"/>
                                        </p:tgtEl>
                                      </p:cBhvr>
                                    </p:animEffect>
                                  </p:childTnLst>
                                </p:cTn>
                              </p:par>
                            </p:childTnLst>
                          </p:cTn>
                        </p:par>
                        <p:par>
                          <p:cTn id="103" fill="hold">
                            <p:stCondLst>
                              <p:cond delay="1500"/>
                            </p:stCondLst>
                            <p:childTnLst>
                              <p:par>
                                <p:cTn id="104" presetID="10" presetClass="entr" presetSubtype="0" fill="hold" grpId="0" nodeType="afterEffect">
                                  <p:stCondLst>
                                    <p:cond delay="0"/>
                                  </p:stCondLst>
                                  <p:childTnLst>
                                    <p:set>
                                      <p:cBhvr>
                                        <p:cTn id="105" dur="1" fill="hold">
                                          <p:stCondLst>
                                            <p:cond delay="0"/>
                                          </p:stCondLst>
                                        </p:cTn>
                                        <p:tgtEl>
                                          <p:spTgt spid="18"/>
                                        </p:tgtEl>
                                        <p:attrNameLst>
                                          <p:attrName>style.visibility</p:attrName>
                                        </p:attrNameLst>
                                      </p:cBhvr>
                                      <p:to>
                                        <p:strVal val="visible"/>
                                      </p:to>
                                    </p:set>
                                    <p:animEffect transition="in" filter="fade">
                                      <p:cBhvr>
                                        <p:cTn id="106" dur="500"/>
                                        <p:tgtEl>
                                          <p:spTgt spid="1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20"/>
                                        </p:tgtEl>
                                        <p:attrNameLst>
                                          <p:attrName>style.visibility</p:attrName>
                                        </p:attrNameLst>
                                      </p:cBhvr>
                                      <p:to>
                                        <p:strVal val="visible"/>
                                      </p:to>
                                    </p:set>
                                    <p:animEffect transition="in" filter="fade">
                                      <p:cBhvr>
                                        <p:cTn id="111" dur="500"/>
                                        <p:tgtEl>
                                          <p:spTgt spid="20"/>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9"/>
                                        </p:tgtEl>
                                        <p:attrNameLst>
                                          <p:attrName>style.visibility</p:attrName>
                                        </p:attrNameLst>
                                      </p:cBhvr>
                                      <p:to>
                                        <p:strVal val="visible"/>
                                      </p:to>
                                    </p:set>
                                    <p:animEffect transition="in" filter="fade">
                                      <p:cBhvr>
                                        <p:cTn id="116" dur="500"/>
                                        <p:tgtEl>
                                          <p:spTgt spid="19"/>
                                        </p:tgtEl>
                                      </p:cBhvr>
                                    </p:animEffect>
                                  </p:childTnLst>
                                </p:cTn>
                              </p:par>
                            </p:childTnLst>
                          </p:cTn>
                        </p:par>
                        <p:par>
                          <p:cTn id="117" fill="hold">
                            <p:stCondLst>
                              <p:cond delay="500"/>
                            </p:stCondLst>
                            <p:childTnLst>
                              <p:par>
                                <p:cTn id="118" presetID="10" presetClass="entr" presetSubtype="0" fill="hold" grpId="0" nodeType="afterEffect">
                                  <p:stCondLst>
                                    <p:cond delay="0"/>
                                  </p:stCondLst>
                                  <p:childTnLst>
                                    <p:set>
                                      <p:cBhvr>
                                        <p:cTn id="119" dur="1" fill="hold">
                                          <p:stCondLst>
                                            <p:cond delay="0"/>
                                          </p:stCondLst>
                                        </p:cTn>
                                        <p:tgtEl>
                                          <p:spTgt spid="21"/>
                                        </p:tgtEl>
                                        <p:attrNameLst>
                                          <p:attrName>style.visibility</p:attrName>
                                        </p:attrNameLst>
                                      </p:cBhvr>
                                      <p:to>
                                        <p:strVal val="visible"/>
                                      </p:to>
                                    </p:set>
                                    <p:animEffect transition="in" filter="fade">
                                      <p:cBhvr>
                                        <p:cTn id="120" dur="500"/>
                                        <p:tgtEl>
                                          <p:spTgt spid="21"/>
                                        </p:tgtEl>
                                      </p:cBhvr>
                                    </p:animEffect>
                                  </p:childTnLst>
                                </p:cTn>
                              </p:par>
                            </p:childTnLst>
                          </p:cTn>
                        </p:par>
                        <p:par>
                          <p:cTn id="121" fill="hold">
                            <p:stCondLst>
                              <p:cond delay="1000"/>
                            </p:stCondLst>
                            <p:childTnLst>
                              <p:par>
                                <p:cTn id="122" presetID="10" presetClass="entr" presetSubtype="0" fill="hold" grpId="0" nodeType="afterEffect">
                                  <p:stCondLst>
                                    <p:cond delay="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500"/>
                                        <p:tgtEl>
                                          <p:spTgt spid="22"/>
                                        </p:tgtEl>
                                      </p:cBhvr>
                                    </p:animEffect>
                                  </p:childTnLst>
                                </p:cTn>
                              </p:par>
                            </p:childTnLst>
                          </p:cTn>
                        </p:par>
                        <p:par>
                          <p:cTn id="125" fill="hold">
                            <p:stCondLst>
                              <p:cond delay="1500"/>
                            </p:stCondLst>
                            <p:childTnLst>
                              <p:par>
                                <p:cTn id="126" presetID="10" presetClass="entr" presetSubtype="0" fill="hold" grpId="0" nodeType="afterEffect">
                                  <p:stCondLst>
                                    <p:cond delay="0"/>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500"/>
                                        <p:tgtEl>
                                          <p:spTgt spid="23"/>
                                        </p:tgtEl>
                                      </p:cBhvr>
                                    </p:animEffect>
                                  </p:childTnLst>
                                </p:cTn>
                              </p:par>
                            </p:childTnLst>
                          </p:cTn>
                        </p:par>
                        <p:par>
                          <p:cTn id="129" fill="hold">
                            <p:stCondLst>
                              <p:cond delay="2000"/>
                            </p:stCondLst>
                            <p:childTnLst>
                              <p:par>
                                <p:cTn id="130" presetID="10" presetClass="entr" presetSubtype="0" fill="hold" grpId="0" nodeType="afterEffect">
                                  <p:stCondLst>
                                    <p:cond delay="0"/>
                                  </p:stCondLst>
                                  <p:childTnLst>
                                    <p:set>
                                      <p:cBhvr>
                                        <p:cTn id="131" dur="1" fill="hold">
                                          <p:stCondLst>
                                            <p:cond delay="0"/>
                                          </p:stCondLst>
                                        </p:cTn>
                                        <p:tgtEl>
                                          <p:spTgt spid="24"/>
                                        </p:tgtEl>
                                        <p:attrNameLst>
                                          <p:attrName>style.visibility</p:attrName>
                                        </p:attrNameLst>
                                      </p:cBhvr>
                                      <p:to>
                                        <p:strVal val="visible"/>
                                      </p:to>
                                    </p:set>
                                    <p:animEffect transition="in" filter="fade">
                                      <p:cBhvr>
                                        <p:cTn id="132" dur="500"/>
                                        <p:tgtEl>
                                          <p:spTgt spid="24"/>
                                        </p:tgtEl>
                                      </p:cBhvr>
                                    </p:animEffect>
                                  </p:childTnLst>
                                </p:cTn>
                              </p:par>
                            </p:childTnLst>
                          </p:cTn>
                        </p:par>
                        <p:par>
                          <p:cTn id="133" fill="hold">
                            <p:stCondLst>
                              <p:cond delay="2500"/>
                            </p:stCondLst>
                            <p:childTnLst>
                              <p:par>
                                <p:cTn id="134" presetID="10" presetClass="entr" presetSubtype="0" fill="hold" grpId="0" nodeType="afterEffect">
                                  <p:stCondLst>
                                    <p:cond delay="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500"/>
                                        <p:tgtEl>
                                          <p:spTgt spid="25"/>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grpId="0" nodeType="clickEffect">
                                  <p:stCondLst>
                                    <p:cond delay="0"/>
                                  </p:stCondLst>
                                  <p:childTnLst>
                                    <p:set>
                                      <p:cBhvr>
                                        <p:cTn id="140" dur="1" fill="hold">
                                          <p:stCondLst>
                                            <p:cond delay="0"/>
                                          </p:stCondLst>
                                        </p:cTn>
                                        <p:tgtEl>
                                          <p:spTgt spid="27"/>
                                        </p:tgtEl>
                                        <p:attrNameLst>
                                          <p:attrName>style.visibility</p:attrName>
                                        </p:attrNameLst>
                                      </p:cBhvr>
                                      <p:to>
                                        <p:strVal val="visible"/>
                                      </p:to>
                                    </p:set>
                                    <p:animEffect transition="in" filter="fade">
                                      <p:cBhvr>
                                        <p:cTn id="141" dur="500"/>
                                        <p:tgtEl>
                                          <p:spTgt spid="27"/>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26"/>
                                        </p:tgtEl>
                                        <p:attrNameLst>
                                          <p:attrName>style.visibility</p:attrName>
                                        </p:attrNameLst>
                                      </p:cBhvr>
                                      <p:to>
                                        <p:strVal val="visible"/>
                                      </p:to>
                                    </p:set>
                                    <p:animEffect transition="in" filter="fade">
                                      <p:cBhvr>
                                        <p:cTn id="1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31" grpId="0" animBg="1"/>
      <p:bldP spid="32" grpId="0" animBg="1"/>
      <p:bldP spid="33" grpId="0" animBg="1"/>
      <p:bldP spid="34" grpId="0" animBg="1"/>
      <p:bldP spid="35" grpId="0" animBg="1"/>
      <p:bldP spid="36" grpId="0" animBg="1"/>
      <p:bldP spid="43" grpId="0" animBg="1"/>
      <p:bldP spid="44" grpId="0" animBg="1"/>
      <p:bldP spid="45" grpId="0" animBg="1"/>
      <p:bldP spid="46" grpId="0" animBg="1"/>
      <p:bldP spid="47" grpId="0" animBg="1"/>
      <p:bldP spid="3" grpId="0" bldLvl="0" animBg="1"/>
      <p:bldP spid="5" grpId="0" bldLvl="0" animBg="1"/>
      <p:bldP spid="6" grpId="0" bldLvl="0" animBg="1"/>
      <p:bldP spid="7"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457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458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4583" name="文本框 17"/>
          <p:cNvSpPr txBox="1"/>
          <p:nvPr/>
        </p:nvSpPr>
        <p:spPr>
          <a:xfrm>
            <a:off x="425450" y="425450"/>
            <a:ext cx="960755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环境因素和企业特点共同决定企业战略和利润率</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4" name="矩形 3"/>
          <p:cNvSpPr/>
          <p:nvPr/>
        </p:nvSpPr>
        <p:spPr>
          <a:xfrm>
            <a:off x="596900" y="3762375"/>
            <a:ext cx="10958513" cy="2245360"/>
          </a:xfrm>
          <a:prstGeom prst="rect">
            <a:avLst/>
          </a:prstGeom>
          <a:solidFill>
            <a:srgbClr val="1570C1"/>
          </a:solidFill>
          <a:ln w="9525">
            <a:noFill/>
          </a:ln>
        </p:spPr>
        <p:txBody>
          <a:bodyPr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要想在</a:t>
            </a:r>
            <a:r>
              <a:rPr lang="en-US" altLang="zh-CN" sz="2800" dirty="0">
                <a:solidFill>
                  <a:schemeClr val="bg1"/>
                </a:solidFill>
                <a:latin typeface="微软雅黑" panose="020B0503020204020204" pitchFamily="34" charset="-122"/>
                <a:ea typeface="微软雅黑" panose="020B0503020204020204" pitchFamily="34" charset="-122"/>
              </a:rPr>
              <a:t>21</a:t>
            </a:r>
            <a:r>
              <a:rPr lang="zh-CN" altLang="en-US" sz="2800" dirty="0">
                <a:solidFill>
                  <a:schemeClr val="bg1"/>
                </a:solidFill>
                <a:latin typeface="微软雅黑" panose="020B0503020204020204" pitchFamily="34" charset="-122"/>
                <a:ea typeface="微软雅黑" panose="020B0503020204020204" pitchFamily="34" charset="-122"/>
              </a:rPr>
              <a:t>世纪竞争格局下取得成功，企业必须积累自己独到的资源和能力，而这又必须适应不断变化的行业环境。通过行业组织模型，我们可以理解市场行为</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通过资源基础模型，我们可以理解企业如何发展并有效利用资源、能力和竞争力。企业能做什么和要做什么的契合会促进企业发展战略意图、追求战略使命以及形成战略。</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2487613" y="1582738"/>
            <a:ext cx="7177087" cy="2178050"/>
            <a:chOff x="2767134" y="1544845"/>
            <a:chExt cx="7176966" cy="2176619"/>
          </a:xfrm>
        </p:grpSpPr>
        <p:sp>
          <p:nvSpPr>
            <p:cNvPr id="24586" name="AutoShape 5"/>
            <p:cNvSpPr/>
            <p:nvPr/>
          </p:nvSpPr>
          <p:spPr>
            <a:xfrm>
              <a:off x="2767134" y="1544845"/>
              <a:ext cx="7176966" cy="1714122"/>
            </a:xfrm>
            <a:prstGeom prst="roundRect">
              <a:avLst>
                <a:gd name="adj" fmla="val 16667"/>
              </a:avLst>
            </a:prstGeom>
            <a:solidFill>
              <a:srgbClr val="57CAF4"/>
            </a:solidFill>
            <a:ln w="12700">
              <a:noFill/>
            </a:ln>
          </p:spPr>
          <p:txBody>
            <a:bodyPr wrap="none" anchor="ctr" anchorCtr="0"/>
            <a:p>
              <a:pPr eaLnBrk="0" hangingPunct="0"/>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24587" name="Rectangle 6"/>
            <p:cNvSpPr/>
            <p:nvPr/>
          </p:nvSpPr>
          <p:spPr>
            <a:xfrm>
              <a:off x="6216801" y="1544845"/>
              <a:ext cx="243244" cy="1714122"/>
            </a:xfrm>
            <a:prstGeom prst="rect">
              <a:avLst/>
            </a:prstGeom>
            <a:solidFill>
              <a:schemeClr val="bg1"/>
            </a:solidFill>
            <a:ln w="12700">
              <a:noFill/>
            </a:ln>
          </p:spPr>
          <p:txBody>
            <a:bodyPr wrap="none" anchor="ctr" anchorCtr="0"/>
            <a:p>
              <a:pPr eaLnBrk="0" hangingPunct="0"/>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24588" name="Text Box 7"/>
            <p:cNvSpPr txBox="1"/>
            <p:nvPr/>
          </p:nvSpPr>
          <p:spPr>
            <a:xfrm>
              <a:off x="2955786" y="1601104"/>
              <a:ext cx="3444021" cy="1567661"/>
            </a:xfrm>
            <a:prstGeom prst="rect">
              <a:avLst/>
            </a:prstGeom>
            <a:noFill/>
            <a:ln w="12700">
              <a:noFill/>
            </a:ln>
          </p:spPr>
          <p:txBody>
            <a:bodyPr anchor="t" anchorCtr="0">
              <a:spAutoFit/>
            </a:bodyPr>
            <a:p>
              <a:pPr eaLnBrk="0" hangingPunct="0">
                <a:spcBef>
                  <a:spcPct val="50000"/>
                </a:spcBef>
              </a:pPr>
              <a:r>
                <a:rPr lang="zh-CN" altLang="en-US" sz="2400" dirty="0">
                  <a:solidFill>
                    <a:srgbClr val="1570C1"/>
                  </a:solidFill>
                  <a:latin typeface="微软雅黑" panose="020B0503020204020204" pitchFamily="34" charset="-122"/>
                  <a:ea typeface="微软雅黑" panose="020B0503020204020204" pitchFamily="34" charset="-122"/>
                </a:rPr>
                <a:t>通过研究外部环境，</a:t>
              </a:r>
              <a:endParaRPr lang="en-US" altLang="zh-CN" sz="2400" dirty="0">
                <a:solidFill>
                  <a:srgbClr val="1570C1"/>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2400" dirty="0">
                  <a:solidFill>
                    <a:srgbClr val="1570C1"/>
                  </a:solidFill>
                  <a:latin typeface="微软雅黑" panose="020B0503020204020204" pitchFamily="34" charset="-122"/>
                  <a:ea typeface="微软雅黑" panose="020B0503020204020204" pitchFamily="34" charset="-122"/>
                </a:rPr>
                <a:t>企业确定：</a:t>
              </a:r>
              <a:endParaRPr lang="zh-CN" altLang="en-US" sz="2400" dirty="0">
                <a:solidFill>
                  <a:srgbClr val="1570C1"/>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2400" dirty="0">
                  <a:solidFill>
                    <a:srgbClr val="1570C1"/>
                  </a:solidFill>
                  <a:latin typeface="微软雅黑" panose="020B0503020204020204" pitchFamily="34" charset="-122"/>
                  <a:ea typeface="微软雅黑" panose="020B0503020204020204" pitchFamily="34" charset="-122"/>
                </a:rPr>
                <a:t>它们可能会选择做什么</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24589" name="Text Box 9"/>
            <p:cNvSpPr txBox="1"/>
            <p:nvPr/>
          </p:nvSpPr>
          <p:spPr>
            <a:xfrm>
              <a:off x="6602074" y="1599727"/>
              <a:ext cx="3170238" cy="2121737"/>
            </a:xfrm>
            <a:prstGeom prst="rect">
              <a:avLst/>
            </a:prstGeom>
            <a:noFill/>
            <a:ln w="12700">
              <a:noFill/>
            </a:ln>
          </p:spPr>
          <p:txBody>
            <a:bodyPr anchor="t" anchorCtr="0">
              <a:spAutoFit/>
            </a:bodyPr>
            <a:p>
              <a:pPr eaLnBrk="0" hangingPunct="0">
                <a:spcBef>
                  <a:spcPct val="50000"/>
                </a:spcBef>
              </a:pPr>
              <a:r>
                <a:rPr lang="zh-CN" altLang="en-US" sz="2400" dirty="0">
                  <a:solidFill>
                    <a:srgbClr val="1570C1"/>
                  </a:solidFill>
                  <a:latin typeface="微软雅黑" panose="020B0503020204020204" pitchFamily="34" charset="-122"/>
                  <a:ea typeface="微软雅黑" panose="020B0503020204020204" pitchFamily="34" charset="-122"/>
                </a:rPr>
                <a:t>通过研究内部环境，</a:t>
              </a:r>
              <a:endParaRPr lang="en-US" altLang="zh-CN" sz="2400" dirty="0">
                <a:solidFill>
                  <a:srgbClr val="1570C1"/>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2400" dirty="0">
                  <a:solidFill>
                    <a:srgbClr val="1570C1"/>
                  </a:solidFill>
                  <a:latin typeface="微软雅黑" panose="020B0503020204020204" pitchFamily="34" charset="-122"/>
                  <a:ea typeface="微软雅黑" panose="020B0503020204020204" pitchFamily="34" charset="-122"/>
                </a:rPr>
                <a:t>企业确定：</a:t>
              </a:r>
              <a:endParaRPr lang="zh-CN" altLang="en-US" sz="2400" dirty="0">
                <a:solidFill>
                  <a:srgbClr val="1570C1"/>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2400" dirty="0">
                  <a:solidFill>
                    <a:srgbClr val="1570C1"/>
                  </a:solidFill>
                  <a:latin typeface="微软雅黑" panose="020B0503020204020204" pitchFamily="34" charset="-122"/>
                  <a:ea typeface="微软雅黑" panose="020B0503020204020204" pitchFamily="34" charset="-122"/>
                </a:rPr>
                <a:t>它们能做什么</a:t>
              </a:r>
              <a:endParaRPr lang="zh-CN" altLang="en-US" sz="2400" dirty="0">
                <a:solidFill>
                  <a:srgbClr val="1570C1"/>
                </a:solidFill>
                <a:latin typeface="微软雅黑" panose="020B0503020204020204" pitchFamily="34" charset="-122"/>
                <a:ea typeface="微软雅黑" panose="020B0503020204020204" pitchFamily="34" charset="-122"/>
              </a:endParaRPr>
            </a:p>
            <a:p>
              <a:pPr eaLnBrk="0" hangingPunct="0">
                <a:spcBef>
                  <a:spcPct val="50000"/>
                </a:spcBef>
              </a:pPr>
              <a:endParaRPr lang="en-US" altLang="zh-CN" sz="2400" dirty="0">
                <a:solidFill>
                  <a:srgbClr val="1570C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66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6631" name="文本框 17"/>
          <p:cNvSpPr txBox="1"/>
          <p:nvPr/>
        </p:nvSpPr>
        <p:spPr>
          <a:xfrm>
            <a:off x="425450" y="425450"/>
            <a:ext cx="9607550" cy="583565"/>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内部</a:t>
            </a:r>
            <a:r>
              <a:rPr lang="zh-CN" altLang="en-US" sz="3200" dirty="0">
                <a:solidFill>
                  <a:srgbClr val="1570C1"/>
                </a:solidFill>
                <a:latin typeface="微软雅黑" panose="020B0503020204020204" pitchFamily="34" charset="-122"/>
                <a:ea typeface="微软雅黑" panose="020B0503020204020204" pitchFamily="34" charset="-122"/>
              </a:rPr>
              <a:t>环境分析的思路</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66" name="AutoShape 14"/>
          <p:cNvSpPr>
            <a:spLocks noChangeArrowheads="1"/>
          </p:cNvSpPr>
          <p:nvPr/>
        </p:nvSpPr>
        <p:spPr bwMode="auto">
          <a:xfrm>
            <a:off x="514350" y="4854575"/>
            <a:ext cx="1095375" cy="990600"/>
          </a:xfrm>
          <a:prstGeom prst="roundRect">
            <a:avLst>
              <a:gd name="adj" fmla="val 12468"/>
            </a:avLst>
          </a:prstGeom>
          <a:solidFill>
            <a:srgbClr val="57CAF4"/>
          </a:solidFill>
          <a:ln>
            <a:noFill/>
          </a:ln>
          <a:effec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1"/>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资源</a:t>
            </a:r>
            <a:endParaRPr kumimoji="0" lang="en-US" altLang="zh-CN" sz="20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有形</a:t>
            </a:r>
            <a:endParaRPr kumimoji="0" lang="en-US" altLang="zh-CN" sz="20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无形</a:t>
            </a:r>
            <a:endParaRPr kumimoji="0" lang="zh-CN" altLang="en-US" sz="20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6633" name="Oval 50"/>
          <p:cNvSpPr/>
          <p:nvPr/>
        </p:nvSpPr>
        <p:spPr>
          <a:xfrm>
            <a:off x="5568950" y="2141538"/>
            <a:ext cx="2282825" cy="1128712"/>
          </a:xfrm>
          <a:prstGeom prst="ellipse">
            <a:avLst/>
          </a:prstGeom>
          <a:solidFill>
            <a:srgbClr val="57CAF4"/>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发现核心竞争力</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6634" name="AutoShape 14"/>
          <p:cNvSpPr/>
          <p:nvPr/>
        </p:nvSpPr>
        <p:spPr>
          <a:xfrm>
            <a:off x="1703388" y="3995738"/>
            <a:ext cx="1909762" cy="990600"/>
          </a:xfrm>
          <a:prstGeom prst="roundRect">
            <a:avLst>
              <a:gd name="adj" fmla="val 12468"/>
            </a:avLst>
          </a:prstGeom>
          <a:solidFill>
            <a:srgbClr val="57CAF4"/>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能力</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000" dirty="0">
                <a:solidFill>
                  <a:schemeClr val="bg1"/>
                </a:solidFill>
                <a:latin typeface="微软雅黑" panose="020B0503020204020204" pitchFamily="34" charset="-122"/>
                <a:ea typeface="微软雅黑" panose="020B0503020204020204" pitchFamily="34" charset="-122"/>
              </a:rPr>
              <a:t>一组资源的整合</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6635" name="AutoShape 14"/>
          <p:cNvSpPr/>
          <p:nvPr/>
        </p:nvSpPr>
        <p:spPr>
          <a:xfrm>
            <a:off x="3705225" y="3136900"/>
            <a:ext cx="1771650" cy="990600"/>
          </a:xfrm>
          <a:prstGeom prst="roundRect">
            <a:avLst>
              <a:gd name="adj" fmla="val 12468"/>
            </a:avLst>
          </a:prstGeom>
          <a:solidFill>
            <a:srgbClr val="57CAF4"/>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核心竞争力</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000" dirty="0">
                <a:solidFill>
                  <a:schemeClr val="bg1"/>
                </a:solidFill>
                <a:latin typeface="微软雅黑" panose="020B0503020204020204" pitchFamily="34" charset="-122"/>
                <a:ea typeface="微软雅黑" panose="020B0503020204020204" pitchFamily="34" charset="-122"/>
              </a:rPr>
              <a:t>产生竞争优势</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000" dirty="0">
                <a:solidFill>
                  <a:schemeClr val="bg1"/>
                </a:solidFill>
                <a:latin typeface="微软雅黑" panose="020B0503020204020204" pitchFamily="34" charset="-122"/>
                <a:ea typeface="微软雅黑" panose="020B0503020204020204" pitchFamily="34" charset="-122"/>
              </a:rPr>
              <a:t>的资源与能力</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6636" name="AutoShape 14"/>
          <p:cNvSpPr/>
          <p:nvPr/>
        </p:nvSpPr>
        <p:spPr>
          <a:xfrm>
            <a:off x="7943850" y="1284288"/>
            <a:ext cx="1617663" cy="990600"/>
          </a:xfrm>
          <a:prstGeom prst="roundRect">
            <a:avLst>
              <a:gd name="adj" fmla="val 12468"/>
            </a:avLst>
          </a:prstGeom>
          <a:solidFill>
            <a:srgbClr val="57CAF4"/>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战略竞争力</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26637" name="AutoShape 14"/>
          <p:cNvSpPr/>
          <p:nvPr/>
        </p:nvSpPr>
        <p:spPr>
          <a:xfrm>
            <a:off x="9653588" y="425450"/>
            <a:ext cx="1616075" cy="990600"/>
          </a:xfrm>
          <a:prstGeom prst="roundRect">
            <a:avLst>
              <a:gd name="adj" fmla="val 12468"/>
            </a:avLst>
          </a:prstGeom>
          <a:solidFill>
            <a:srgbClr val="57CAF4"/>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竞争优势</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cxnSp>
        <p:nvCxnSpPr>
          <p:cNvPr id="7" name="肘形连接符 6"/>
          <p:cNvCxnSpPr>
            <a:stCxn id="66" idx="0"/>
            <a:endCxn id="26634" idx="1"/>
          </p:cNvCxnSpPr>
          <p:nvPr/>
        </p:nvCxnSpPr>
        <p:spPr>
          <a:xfrm rot="5400000" flipH="1" flipV="1">
            <a:off x="1200944" y="4352131"/>
            <a:ext cx="363538" cy="64135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肘形连接符 9"/>
          <p:cNvCxnSpPr>
            <a:stCxn id="26634" idx="0"/>
            <a:endCxn id="26635" idx="1"/>
          </p:cNvCxnSpPr>
          <p:nvPr/>
        </p:nvCxnSpPr>
        <p:spPr>
          <a:xfrm rot="5400000" flipH="1" flipV="1">
            <a:off x="2999581" y="3290094"/>
            <a:ext cx="363538" cy="104775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肘形连接符 11"/>
          <p:cNvCxnSpPr>
            <a:stCxn id="26635" idx="0"/>
            <a:endCxn id="26633" idx="2"/>
          </p:cNvCxnSpPr>
          <p:nvPr/>
        </p:nvCxnSpPr>
        <p:spPr>
          <a:xfrm rot="5400000" flipH="1" flipV="1">
            <a:off x="4864894" y="2432844"/>
            <a:ext cx="430213" cy="97790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26633" idx="0"/>
            <a:endCxn id="26636" idx="1"/>
          </p:cNvCxnSpPr>
          <p:nvPr/>
        </p:nvCxnSpPr>
        <p:spPr>
          <a:xfrm rot="5400000" flipH="1" flipV="1">
            <a:off x="7146131" y="1343819"/>
            <a:ext cx="361950" cy="1233488"/>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肘形连接符 111"/>
          <p:cNvCxnSpPr>
            <a:stCxn id="26636" idx="0"/>
            <a:endCxn id="26637" idx="1"/>
          </p:cNvCxnSpPr>
          <p:nvPr/>
        </p:nvCxnSpPr>
        <p:spPr>
          <a:xfrm rot="5400000" flipH="1" flipV="1">
            <a:off x="9020969" y="651669"/>
            <a:ext cx="363538" cy="90170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643" name="Oval 50"/>
          <p:cNvSpPr/>
          <p:nvPr/>
        </p:nvSpPr>
        <p:spPr>
          <a:xfrm>
            <a:off x="5803900" y="3632200"/>
            <a:ext cx="1812925" cy="1260475"/>
          </a:xfrm>
          <a:prstGeom prst="ellipse">
            <a:avLst/>
          </a:prstGeom>
          <a:solidFill>
            <a:srgbClr val="1570C1"/>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持久性竞争</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优势的标准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6644" name="Oval 50"/>
          <p:cNvSpPr/>
          <p:nvPr/>
        </p:nvSpPr>
        <p:spPr>
          <a:xfrm>
            <a:off x="8520113" y="3268663"/>
            <a:ext cx="1812925" cy="1260475"/>
          </a:xfrm>
          <a:prstGeom prst="ellipse">
            <a:avLst/>
          </a:prstGeom>
          <a:solidFill>
            <a:srgbClr val="1570C1"/>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价值链分析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6645" name="AutoShape 14"/>
          <p:cNvSpPr/>
          <p:nvPr/>
        </p:nvSpPr>
        <p:spPr>
          <a:xfrm>
            <a:off x="8991600" y="5256213"/>
            <a:ext cx="868363" cy="547687"/>
          </a:xfrm>
          <a:prstGeom prst="roundRect">
            <a:avLst>
              <a:gd name="adj" fmla="val 12468"/>
            </a:avLst>
          </a:prstGeom>
          <a:solidFill>
            <a:srgbClr val="1570C1"/>
          </a:solidFill>
          <a:ln w="9525">
            <a:noFill/>
          </a:ln>
        </p:spPr>
        <p:txBody>
          <a:bodyPr wrap="none" anchor="ctr" anchorCtr="0"/>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外包</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6646" name="AutoShape 14"/>
          <p:cNvSpPr/>
          <p:nvPr/>
        </p:nvSpPr>
        <p:spPr>
          <a:xfrm>
            <a:off x="5715000" y="5256213"/>
            <a:ext cx="1992313" cy="1306512"/>
          </a:xfrm>
          <a:prstGeom prst="roundRect">
            <a:avLst>
              <a:gd name="adj" fmla="val 12468"/>
            </a:avLst>
          </a:prstGeom>
          <a:solidFill>
            <a:srgbClr val="1570C1"/>
          </a:solidFill>
          <a:ln w="9525">
            <a:noFill/>
          </a:ln>
        </p:spPr>
        <p:txBody>
          <a:bodyPr wrap="none" anchor="ctr" anchorCtr="0"/>
          <a:p>
            <a:pPr marL="342900" indent="-342900" eaLnBrk="0" hangingPunct="0">
              <a:buFont typeface="Wingdings" panose="05000000000000000000" pitchFamily="2" charset="2"/>
              <a:buChar char="Ø"/>
            </a:pPr>
            <a:r>
              <a:rPr lang="zh-CN" altLang="en-US" sz="2000" b="1" dirty="0">
                <a:solidFill>
                  <a:schemeClr val="bg1"/>
                </a:solidFill>
                <a:latin typeface="微软雅黑" panose="020B0503020204020204" pitchFamily="34" charset="-122"/>
                <a:ea typeface="微软雅黑" panose="020B0503020204020204" pitchFamily="34" charset="-122"/>
              </a:rPr>
              <a:t>有价值的</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342900" indent="-342900" eaLnBrk="0" hangingPunct="0">
              <a:buFont typeface="Wingdings" panose="05000000000000000000" pitchFamily="2" charset="2"/>
              <a:buChar char="Ø"/>
            </a:pPr>
            <a:r>
              <a:rPr lang="zh-CN" altLang="en-US" sz="2000" b="1" dirty="0">
                <a:solidFill>
                  <a:schemeClr val="bg1"/>
                </a:solidFill>
                <a:latin typeface="微软雅黑" panose="020B0503020204020204" pitchFamily="34" charset="-122"/>
                <a:ea typeface="微软雅黑" panose="020B0503020204020204" pitchFamily="34" charset="-122"/>
              </a:rPr>
              <a:t>稀缺的</a:t>
            </a:r>
            <a:endParaRPr lang="zh-CN" altLang="en-US" sz="2000" b="1" dirty="0">
              <a:solidFill>
                <a:schemeClr val="bg1"/>
              </a:solidFill>
              <a:latin typeface="微软雅黑" panose="020B0503020204020204" pitchFamily="34" charset="-122"/>
              <a:ea typeface="微软雅黑" panose="020B0503020204020204" pitchFamily="34" charset="-122"/>
            </a:endParaRPr>
          </a:p>
          <a:p>
            <a:pPr marL="342900" indent="-342900" eaLnBrk="0" hangingPunct="0">
              <a:buFont typeface="Wingdings" panose="05000000000000000000" pitchFamily="2" charset="2"/>
              <a:buChar char="Ø"/>
            </a:pPr>
            <a:r>
              <a:rPr lang="zh-CN" altLang="en-US" sz="2000" b="1" dirty="0">
                <a:solidFill>
                  <a:schemeClr val="bg1"/>
                </a:solidFill>
                <a:latin typeface="微软雅黑" panose="020B0503020204020204" pitchFamily="34" charset="-122"/>
                <a:ea typeface="微软雅黑" panose="020B0503020204020204" pitchFamily="34" charset="-122"/>
              </a:rPr>
              <a:t>难以模仿的</a:t>
            </a:r>
            <a:endParaRPr lang="zh-CN" altLang="en-US" sz="2000" b="1" dirty="0">
              <a:solidFill>
                <a:schemeClr val="bg1"/>
              </a:solidFill>
              <a:latin typeface="微软雅黑" panose="020B0503020204020204" pitchFamily="34" charset="-122"/>
              <a:ea typeface="微软雅黑" panose="020B0503020204020204" pitchFamily="34" charset="-122"/>
            </a:endParaRPr>
          </a:p>
          <a:p>
            <a:pPr marL="342900" indent="-342900" eaLnBrk="0" hangingPunct="0">
              <a:buFont typeface="Wingdings" panose="05000000000000000000" pitchFamily="2" charset="2"/>
              <a:buChar char="Ø"/>
            </a:pPr>
            <a:r>
              <a:rPr lang="zh-CN" altLang="en-US" sz="2000" b="1" dirty="0">
                <a:solidFill>
                  <a:schemeClr val="bg1"/>
                </a:solidFill>
                <a:latin typeface="微软雅黑" panose="020B0503020204020204" pitchFamily="34" charset="-122"/>
                <a:ea typeface="微软雅黑" panose="020B0503020204020204" pitchFamily="34" charset="-122"/>
              </a:rPr>
              <a:t>不可替代的</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cxnSp>
        <p:nvCxnSpPr>
          <p:cNvPr id="123" name="直接连接符 122"/>
          <p:cNvCxnSpPr>
            <a:stCxn id="26633" idx="4"/>
            <a:endCxn id="26643" idx="0"/>
          </p:cNvCxnSpPr>
          <p:nvPr/>
        </p:nvCxnSpPr>
        <p:spPr>
          <a:xfrm>
            <a:off x="6710363" y="3270250"/>
            <a:ext cx="0" cy="361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26633" idx="4"/>
            <a:endCxn id="26644" idx="0"/>
          </p:cNvCxnSpPr>
          <p:nvPr/>
        </p:nvCxnSpPr>
        <p:spPr>
          <a:xfrm flipV="1">
            <a:off x="6710363" y="3268663"/>
            <a:ext cx="2716213"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26643" idx="4"/>
            <a:endCxn id="26646" idx="0"/>
          </p:cNvCxnSpPr>
          <p:nvPr/>
        </p:nvCxnSpPr>
        <p:spPr>
          <a:xfrm>
            <a:off x="6710363" y="4892675"/>
            <a:ext cx="1588" cy="3635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37" name="直接连接符 65536"/>
          <p:cNvCxnSpPr>
            <a:stCxn id="26644" idx="4"/>
            <a:endCxn id="26645" idx="0"/>
          </p:cNvCxnSpPr>
          <p:nvPr/>
        </p:nvCxnSpPr>
        <p:spPr>
          <a:xfrm>
            <a:off x="9426575" y="4529138"/>
            <a:ext cx="0" cy="727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3" name="图片 1"/>
          <p:cNvPicPr>
            <a:picLocks noChangeAspect="1"/>
          </p:cNvPicPr>
          <p:nvPr/>
        </p:nvPicPr>
        <p:blipFill>
          <a:blip r:embed="rId1"/>
          <a:stretch>
            <a:fillRect/>
          </a:stretch>
        </p:blipFill>
        <p:spPr>
          <a:xfrm>
            <a:off x="758825" y="838200"/>
            <a:ext cx="10969625" cy="5018088"/>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1587" y="4903788"/>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88963"/>
            <a:ext cx="1495425"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1</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94313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企业资源</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8" name="矩形 16"/>
          <p:cNvSpPr>
            <a:spLocks noChangeArrowheads="1"/>
          </p:cNvSpPr>
          <p:nvPr/>
        </p:nvSpPr>
        <p:spPr bwMode="auto">
          <a:xfrm>
            <a:off x="2886075" y="4860925"/>
            <a:ext cx="48799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1.1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企业资源的内涵</a:t>
            </a:r>
            <a:endPar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1.2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企业资源的种类</a:t>
            </a:r>
            <a:endPar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1.3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企业资源与竞争优势</a:t>
            </a:r>
            <a:endPar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74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174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175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1.1  </a:t>
            </a:r>
            <a:r>
              <a:rPr lang="zh-CN" altLang="en-US" sz="3200" dirty="0">
                <a:solidFill>
                  <a:srgbClr val="1570C1"/>
                </a:solidFill>
                <a:latin typeface="微软雅黑" panose="020B0503020204020204" pitchFamily="34" charset="-122"/>
                <a:ea typeface="微软雅黑" panose="020B0503020204020204" pitchFamily="34" charset="-122"/>
              </a:rPr>
              <a:t>企业资源的内涵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35000" y="1860550"/>
            <a:ext cx="10869613" cy="3968750"/>
          </a:xfrm>
          <a:prstGeom prst="rect">
            <a:avLst/>
          </a:prstGeom>
          <a:solidFill>
            <a:srgbClr val="1570C1"/>
          </a:solidFill>
          <a:ln w="9525">
            <a:noFill/>
          </a:ln>
        </p:spPr>
        <p:txBody>
          <a:bodyPr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企业资源指的是企业在向社会提供产品或服务的过程中所拥有或者控制的、能够实现企业战略目标的各种要素的集合。</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资源基础理论把企业绩效的差别归结为企业的资源不同。</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所谓资源，是指企业在生产经营过程中所投入的各种要素。</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资源是经济学的基本概念，资源配置也是经济学中的一个经典命题。</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79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379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379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1.2  </a:t>
            </a:r>
            <a:r>
              <a:rPr lang="zh-CN" altLang="en-US" sz="3200" dirty="0">
                <a:solidFill>
                  <a:srgbClr val="1570C1"/>
                </a:solidFill>
                <a:latin typeface="微软雅黑" panose="020B0503020204020204" pitchFamily="34" charset="-122"/>
                <a:ea typeface="微软雅黑" panose="020B0503020204020204" pitchFamily="34" charset="-122"/>
              </a:rPr>
              <a:t>企业资源的种类</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27063" y="1228725"/>
            <a:ext cx="10555287" cy="5262245"/>
          </a:xfrm>
          <a:prstGeom prst="rect">
            <a:avLst/>
          </a:prstGeom>
          <a:solidFill>
            <a:srgbClr val="57CAF4"/>
          </a:solidFill>
          <a:ln w="9525">
            <a:noFill/>
          </a:ln>
        </p:spPr>
        <p:txBody>
          <a:bodyPr wrap="square" anchor="t" anchorCtr="0">
            <a:spAutoFit/>
          </a:bodyPr>
          <a:p>
            <a:pPr marL="457200" indent="-457200" eaLnBrk="0" hangingPunct="0">
              <a:buFont typeface="Wingdings" panose="05000000000000000000" pitchFamily="2" charset="2"/>
              <a:buChar char="Ø"/>
            </a:pPr>
            <a:r>
              <a:rPr lang="zh-CN" altLang="en-US" sz="2400" b="1" dirty="0">
                <a:solidFill>
                  <a:schemeClr val="bg1"/>
                </a:solidFill>
                <a:latin typeface="微软雅黑" panose="020B0503020204020204" pitchFamily="34" charset="-122"/>
                <a:ea typeface="微软雅黑" panose="020B0503020204020204" pitchFamily="34" charset="-122"/>
              </a:rPr>
              <a:t>有形资源（财务资源、组织资源、实物资源、技术资源）</a:t>
            </a:r>
            <a:endParaRPr lang="zh-CN" altLang="en-US" sz="24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400" dirty="0">
                <a:solidFill>
                  <a:srgbClr val="1570C1"/>
                </a:solidFill>
                <a:latin typeface="微软雅黑" panose="020B0503020204020204" pitchFamily="34" charset="-122"/>
                <a:ea typeface="微软雅黑" panose="020B0503020204020204" pitchFamily="34" charset="-122"/>
              </a:rPr>
              <a:t>主要指具有物理属性且可见的资源，如企业的资本金、股票、银行存款以及厂房、机器设备、有利的地理位置等。企业的大部分固定资产和流动资产都属于有形资源。</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400" b="1" dirty="0">
                <a:solidFill>
                  <a:schemeClr val="bg1"/>
                </a:solidFill>
                <a:latin typeface="微软雅黑" panose="020B0503020204020204" pitchFamily="34" charset="-122"/>
                <a:ea typeface="微软雅黑" panose="020B0503020204020204" pitchFamily="34" charset="-122"/>
              </a:rPr>
              <a:t>无形资源</a:t>
            </a:r>
            <a:endParaRPr lang="zh-CN" altLang="en-US" sz="2400" dirty="0">
              <a:solidFill>
                <a:schemeClr val="bg1"/>
              </a:solidFill>
              <a:latin typeface="微软雅黑" panose="020B0503020204020204" pitchFamily="34" charset="-122"/>
              <a:ea typeface="微软雅黑" panose="020B0503020204020204" pitchFamily="34" charset="-122"/>
            </a:endParaRPr>
          </a:p>
          <a:p>
            <a:pPr marL="914400" lvl="1" indent="-457200" algn="l" eaLnBrk="0" hangingPunct="0">
              <a:buSzTx/>
              <a:buFont typeface="Arial" panose="020B0604020202020204" pitchFamily="34" charset="0"/>
              <a:buChar char="•"/>
            </a:pPr>
            <a:r>
              <a:rPr lang="zh-CN" altLang="en-US" sz="2400" dirty="0">
                <a:solidFill>
                  <a:srgbClr val="1570C1"/>
                </a:solidFill>
                <a:latin typeface="微软雅黑" panose="020B0503020204020204" pitchFamily="34" charset="-122"/>
                <a:ea typeface="微软雅黑" panose="020B0503020204020204" pitchFamily="34" charset="-122"/>
              </a:rPr>
              <a:t>市场资源：企业所拥有或控制的、同市场密切相关的资源要素，它来自于企业同市场及顾客建立的有利关系。（商标、信誉、品牌、关系）</a:t>
            </a:r>
            <a:endParaRPr lang="zh-CN" altLang="en-US" sz="2400" dirty="0">
              <a:solidFill>
                <a:srgbClr val="1570C1"/>
              </a:solidFill>
              <a:latin typeface="微软雅黑" panose="020B0503020204020204" pitchFamily="34" charset="-122"/>
              <a:ea typeface="微软雅黑" panose="020B0503020204020204" pitchFamily="34" charset="-122"/>
            </a:endParaRPr>
          </a:p>
          <a:p>
            <a:pPr marL="914400" lvl="1" indent="-457200" algn="l" eaLnBrk="0" hangingPunct="0">
              <a:buSzTx/>
              <a:buFont typeface="Arial" panose="020B0604020202020204" pitchFamily="34" charset="0"/>
              <a:buChar char="•"/>
            </a:pPr>
            <a:r>
              <a:rPr lang="zh-CN" altLang="en-US" sz="2400" dirty="0">
                <a:solidFill>
                  <a:srgbClr val="1570C1"/>
                </a:solidFill>
                <a:latin typeface="微软雅黑" panose="020B0503020204020204" pitchFamily="34" charset="-122"/>
                <a:ea typeface="微软雅黑" panose="020B0503020204020204" pitchFamily="34" charset="-122"/>
              </a:rPr>
              <a:t>知识资源：专利、版权、商标、专有技术、设计专有权以及一系列并未受专利保护的其他知识。</a:t>
            </a:r>
            <a:endParaRPr lang="zh-CN" altLang="en-US" sz="2400" dirty="0">
              <a:solidFill>
                <a:srgbClr val="1570C1"/>
              </a:solidFill>
              <a:latin typeface="微软雅黑" panose="020B0503020204020204" pitchFamily="34" charset="-122"/>
              <a:ea typeface="微软雅黑" panose="020B0503020204020204" pitchFamily="34" charset="-122"/>
            </a:endParaRPr>
          </a:p>
          <a:p>
            <a:pPr marL="914400" lvl="1" indent="-457200" algn="l" eaLnBrk="0" hangingPunct="0">
              <a:buSzTx/>
              <a:buFont typeface="Arial" panose="020B0604020202020204" pitchFamily="34" charset="0"/>
              <a:buChar char="•"/>
            </a:pPr>
            <a:r>
              <a:rPr lang="zh-CN" altLang="en-US" sz="2400" dirty="0">
                <a:solidFill>
                  <a:srgbClr val="1570C1"/>
                </a:solidFill>
                <a:latin typeface="微软雅黑" panose="020B0503020204020204" pitchFamily="34" charset="-122"/>
                <a:ea typeface="微软雅黑" panose="020B0503020204020204" pitchFamily="34" charset="-122"/>
              </a:rPr>
              <a:t>人才资源：体现在企业员工身上的才能，包括企业员工的专业技能、创造力、解决问题的能力及管理能力等。</a:t>
            </a:r>
            <a:endParaRPr lang="zh-CN" altLang="en-US" sz="2400" dirty="0">
              <a:solidFill>
                <a:srgbClr val="1570C1"/>
              </a:solidFill>
              <a:latin typeface="微软雅黑" panose="020B0503020204020204" pitchFamily="34" charset="-122"/>
              <a:ea typeface="微软雅黑" panose="020B0503020204020204" pitchFamily="34" charset="-122"/>
            </a:endParaRPr>
          </a:p>
          <a:p>
            <a:pPr marL="914400" lvl="1" indent="-457200" algn="l" eaLnBrk="0" hangingPunct="0">
              <a:buSzTx/>
              <a:buFont typeface="Arial" panose="020B0604020202020204" pitchFamily="34" charset="0"/>
              <a:buChar char="•"/>
            </a:pPr>
            <a:r>
              <a:rPr lang="zh-CN" altLang="en-US" sz="2400" dirty="0">
                <a:solidFill>
                  <a:srgbClr val="1570C1"/>
                </a:solidFill>
                <a:latin typeface="微软雅黑" panose="020B0503020204020204" pitchFamily="34" charset="-122"/>
                <a:ea typeface="微软雅黑" panose="020B0503020204020204" pitchFamily="34" charset="-122"/>
              </a:rPr>
              <a:t>基础结构资源：企业的管理哲学、企业文化、企业内部的基本管理制度以及企业同外界力量所形成的各种协议和制度安排。</a:t>
            </a:r>
            <a:endParaRPr lang="zh-CN" altLang="en-US" sz="2400" dirty="0">
              <a:solidFill>
                <a:srgbClr val="1570C1"/>
              </a:solidFill>
              <a:latin typeface="微软雅黑" panose="020B0503020204020204" pitchFamily="34" charset="-122"/>
              <a:ea typeface="微软雅黑" panose="020B0503020204020204" pitchFamily="34" charset="-122"/>
            </a:endParaRPr>
          </a:p>
          <a:p>
            <a:pPr marL="914400" lvl="1" indent="-457200" algn="l" eaLnBrk="0" hangingPunct="0">
              <a:buSzTx/>
              <a:buFont typeface="Arial" panose="020B0604020202020204" pitchFamily="34" charset="0"/>
              <a:buChar char="•"/>
            </a:pPr>
            <a:r>
              <a:rPr lang="zh-CN" altLang="en-US" sz="2400" dirty="0">
                <a:solidFill>
                  <a:srgbClr val="1570C1"/>
                </a:solidFill>
                <a:latin typeface="微软雅黑" panose="020B0503020204020204" pitchFamily="34" charset="-122"/>
                <a:ea typeface="微软雅黑" panose="020B0503020204020204" pitchFamily="34" charset="-122"/>
              </a:rPr>
              <a:t>组织能力：企业内部各种被用来实现某一个目的的组织流程等。</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1" name="图片 1"/>
          <p:cNvPicPr>
            <a:picLocks noChangeAspect="1"/>
          </p:cNvPicPr>
          <p:nvPr/>
        </p:nvPicPr>
        <p:blipFill>
          <a:blip r:embed="rId1"/>
          <a:stretch>
            <a:fillRect/>
          </a:stretch>
        </p:blipFill>
        <p:spPr>
          <a:xfrm>
            <a:off x="417830" y="0"/>
            <a:ext cx="5632450" cy="6638925"/>
          </a:xfrm>
          <a:prstGeom prst="rect">
            <a:avLst/>
          </a:prstGeom>
          <a:noFill/>
          <a:ln w="9525">
            <a:noFill/>
          </a:ln>
        </p:spPr>
      </p:pic>
      <p:pic>
        <p:nvPicPr>
          <p:cNvPr id="35842" name="图片 2"/>
          <p:cNvPicPr>
            <a:picLocks noChangeAspect="1"/>
          </p:cNvPicPr>
          <p:nvPr/>
        </p:nvPicPr>
        <p:blipFill>
          <a:blip r:embed="rId2"/>
          <a:stretch>
            <a:fillRect/>
          </a:stretch>
        </p:blipFill>
        <p:spPr>
          <a:xfrm>
            <a:off x="6233160" y="-635"/>
            <a:ext cx="5683250" cy="679577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直角三角形 2"/>
          <p:cNvSpPr/>
          <p:nvPr>
            <p:custDataLst>
              <p:tags r:id="rId1"/>
            </p:custDataLst>
          </p:nvPr>
        </p:nvSpPr>
        <p:spPr>
          <a:xfrm rot="16200000">
            <a:off x="7325519" y="1991519"/>
            <a:ext cx="2697163" cy="7035800"/>
          </a:xfrm>
          <a:prstGeom prst="rtTriangle">
            <a:avLst/>
          </a:prstGeom>
          <a:solidFill>
            <a:srgbClr val="266CB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直角三角形 18"/>
          <p:cNvSpPr/>
          <p:nvPr>
            <p:custDataLst>
              <p:tags r:id="rId2"/>
            </p:custDataLst>
          </p:nvPr>
        </p:nvSpPr>
        <p:spPr>
          <a:xfrm rot="5400000">
            <a:off x="2169319" y="-2169319"/>
            <a:ext cx="2697163" cy="7035800"/>
          </a:xfrm>
          <a:prstGeom prst="rtTriangle">
            <a:avLst/>
          </a:prstGeom>
          <a:solidFill>
            <a:srgbClr val="07B566">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fontAlgn="base"/>
            <a:endParaRPr kumimoji="1" lang="zh-CN" altLang="en-US" sz="1600" b="1" strike="noStrike" noProof="1">
              <a:solidFill>
                <a:srgbClr val="FFFFFF"/>
              </a:solidFill>
              <a:latin typeface="微软雅黑" panose="020B0503020204020204" pitchFamily="34" charset="-122"/>
              <a:ea typeface="微软雅黑" panose="020B0503020204020204" pitchFamily="34" charset="-122"/>
            </a:endParaRPr>
          </a:p>
        </p:txBody>
      </p:sp>
      <p:sp>
        <p:nvSpPr>
          <p:cNvPr id="4" name="矩形 3"/>
          <p:cNvSpPr/>
          <p:nvPr>
            <p:custDataLst>
              <p:tags r:id="rId3"/>
            </p:custDataLst>
          </p:nvPr>
        </p:nvSpPr>
        <p:spPr>
          <a:xfrm>
            <a:off x="457200" y="6367463"/>
            <a:ext cx="11226800" cy="10636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fontAlgn="base"/>
            <a:endParaRPr kumimoji="1" lang="zh-CN" altLang="en-US" sz="1600" b="1" strike="noStrike" noProof="1">
              <a:solidFill>
                <a:srgbClr val="FFFFFF"/>
              </a:solidFill>
              <a:latin typeface="微软雅黑" panose="020B0503020204020204" pitchFamily="34" charset="-122"/>
              <a:ea typeface="微软雅黑" panose="020B0503020204020204" pitchFamily="34" charset="-122"/>
            </a:endParaRPr>
          </a:p>
        </p:txBody>
      </p:sp>
      <p:sp>
        <p:nvSpPr>
          <p:cNvPr id="6" name="矩形 5"/>
          <p:cNvSpPr/>
          <p:nvPr>
            <p:custDataLst>
              <p:tags r:id="rId4"/>
            </p:custDataLst>
          </p:nvPr>
        </p:nvSpPr>
        <p:spPr>
          <a:xfrm>
            <a:off x="457200" y="457200"/>
            <a:ext cx="11226800" cy="1989138"/>
          </a:xfrm>
          <a:prstGeom prst="rect">
            <a:avLst/>
          </a:prstGeom>
          <a:solidFill>
            <a:srgbClr val="FFFFFF"/>
          </a:solidFill>
          <a:ln w="1905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fontAlgn="base"/>
            <a:endParaRPr kumimoji="1" lang="zh-CN" altLang="en-US" sz="1600" b="1" strike="noStrike" noProof="1">
              <a:solidFill>
                <a:srgbClr val="FFFFFF"/>
              </a:solidFill>
              <a:latin typeface="微软雅黑" panose="020B0503020204020204" pitchFamily="34" charset="-122"/>
              <a:ea typeface="微软雅黑" panose="020B0503020204020204" pitchFamily="34" charset="-122"/>
            </a:endParaRPr>
          </a:p>
        </p:txBody>
      </p:sp>
      <p:sp>
        <p:nvSpPr>
          <p:cNvPr id="7" name="矩形 6"/>
          <p:cNvSpPr/>
          <p:nvPr>
            <p:custDataLst>
              <p:tags r:id="rId5"/>
            </p:custDataLst>
          </p:nvPr>
        </p:nvSpPr>
        <p:spPr>
          <a:xfrm>
            <a:off x="457200" y="2438400"/>
            <a:ext cx="11226800" cy="3784600"/>
          </a:xfrm>
          <a:prstGeom prst="rect">
            <a:avLst/>
          </a:prstGeom>
          <a:solidFill>
            <a:srgbClr val="F2F2F2"/>
          </a:solidFill>
          <a:ln w="19050">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fontAlgn="base"/>
            <a:endParaRPr kumimoji="1" lang="zh-CN" altLang="en-US" sz="1600" b="1" strike="noStrike" noProof="1">
              <a:solidFill>
                <a:srgbClr val="FFFFFF"/>
              </a:solidFill>
              <a:latin typeface="微软雅黑" panose="020B0503020204020204" pitchFamily="34" charset="-122"/>
              <a:ea typeface="微软雅黑" panose="020B0503020204020204" pitchFamily="34" charset="-122"/>
            </a:endParaRPr>
          </a:p>
        </p:txBody>
      </p:sp>
      <p:sp>
        <p:nvSpPr>
          <p:cNvPr id="36870" name="Title 6"/>
          <p:cNvSpPr txBox="1"/>
          <p:nvPr>
            <p:custDataLst>
              <p:tags r:id="rId6"/>
            </p:custDataLst>
          </p:nvPr>
        </p:nvSpPr>
        <p:spPr>
          <a:xfrm>
            <a:off x="755650" y="850900"/>
            <a:ext cx="9753600" cy="1371600"/>
          </a:xfrm>
          <a:prstGeom prst="rect">
            <a:avLst/>
          </a:prstGeom>
          <a:noFill/>
          <a:ln w="3175">
            <a:noFill/>
          </a:ln>
        </p:spPr>
        <p:txBody>
          <a:bodyPr wrap="square" lIns="91440" tIns="45720" rIns="91440" bIns="45720" anchor="ctr" anchorCtr="0"/>
          <a:p>
            <a:pPr indent="-285750" fontAlgn="ctr">
              <a:lnSpc>
                <a:spcPct val="130000"/>
              </a:lnSpc>
              <a:spcBef>
                <a:spcPts val="1000"/>
              </a:spcBef>
              <a:buSzPct val="100000"/>
            </a:pPr>
            <a:r>
              <a:rPr lang="zh-CN" altLang="en-US" sz="3200">
                <a:solidFill>
                  <a:srgbClr val="1570C1"/>
                </a:solidFill>
                <a:latin typeface="微软雅黑" panose="020B0503020204020204" pitchFamily="34" charset="-122"/>
                <a:ea typeface="微软雅黑" panose="020B0503020204020204" pitchFamily="34" charset="-122"/>
              </a:rPr>
              <a:t>普通资源和独特资源的区别</a:t>
            </a:r>
            <a:endParaRPr lang="zh-CN" altLang="en-US" sz="3200">
              <a:solidFill>
                <a:srgbClr val="1570C1"/>
              </a:solidFill>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7"/>
            </p:custDataLst>
          </p:nvPr>
        </p:nvGraphicFramePr>
        <p:xfrm>
          <a:off x="1193800" y="2567940"/>
          <a:ext cx="9753600" cy="3160713"/>
        </p:xfrm>
        <a:graphic>
          <a:graphicData uri="http://schemas.openxmlformats.org/drawingml/2006/table">
            <a:tbl>
              <a:tblPr firstRow="1" bandRow="1">
                <a:tableStyleId>{5940675A-B579-460E-94D1-54222C63F5DA}</a:tableStyleId>
              </a:tblPr>
              <a:tblGrid>
                <a:gridCol w="1182370"/>
                <a:gridCol w="3464560"/>
                <a:gridCol w="5106670"/>
              </a:tblGrid>
              <a:tr h="833755">
                <a:tc>
                  <a:txBody>
                    <a:bodyPr/>
                    <a:p>
                      <a:pPr indent="0" algn="ctr">
                        <a:lnSpc>
                          <a:spcPct val="120000"/>
                        </a:lnSpc>
                        <a:spcBef>
                          <a:spcPts val="0"/>
                        </a:spcBef>
                        <a:spcAft>
                          <a:spcPts val="0"/>
                        </a:spcAft>
                        <a:buNone/>
                      </a:pPr>
                      <a:endParaRPr lang="en-US" altLang="en-US" sz="2200" b="1">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w="19050" cap="rnd">
                      <a:solidFill>
                        <a:srgbClr val="144D73"/>
                      </a:solidFill>
                      <a:prstDash val="solid"/>
                    </a:lnL>
                    <a:lnR w="3175">
                      <a:solidFill>
                        <a:srgbClr val="FFFFFF"/>
                      </a:solidFill>
                      <a:prstDash val="dot"/>
                    </a:lnR>
                    <a:lnT w="19050" cap="rnd">
                      <a:solidFill>
                        <a:srgbClr val="144D73"/>
                      </a:solidFill>
                      <a:prstDash val="solid"/>
                    </a:lnT>
                    <a:lnB w="19050">
                      <a:solidFill>
                        <a:srgbClr val="144D73"/>
                      </a:solidFill>
                      <a:prstDash val="solid"/>
                    </a:lnB>
                    <a:lnTlToBr>
                      <a:noFill/>
                    </a:lnTlToBr>
                    <a:lnBlToTr>
                      <a:noFill/>
                    </a:lnBlToTr>
                    <a:solidFill>
                      <a:srgbClr val="144D73"/>
                    </a:solidFill>
                  </a:tcPr>
                </a:tc>
                <a:tc>
                  <a:txBody>
                    <a:bodyPr/>
                    <a:p>
                      <a:pPr indent="0" algn="ctr">
                        <a:lnSpc>
                          <a:spcPct val="120000"/>
                        </a:lnSpc>
                        <a:spcBef>
                          <a:spcPts val="0"/>
                        </a:spcBef>
                        <a:spcAft>
                          <a:spcPts val="0"/>
                        </a:spcAft>
                        <a:buNone/>
                      </a:pPr>
                      <a:r>
                        <a:rPr lang="en-US" sz="2200" b="1">
                          <a:solidFill>
                            <a:srgbClr val="FFFFFF"/>
                          </a:solidFill>
                          <a:latin typeface="微软雅黑" panose="020B0503020204020204" pitchFamily="34" charset="-122"/>
                          <a:ea typeface="微软雅黑" panose="020B0503020204020204" pitchFamily="34" charset="-122"/>
                        </a:rPr>
                        <a:t>有形资源</a:t>
                      </a:r>
                      <a:endParaRPr lang="en-US" altLang="en-US" sz="2200" b="1">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w="3175">
                      <a:solidFill>
                        <a:srgbClr val="FFFFFF"/>
                      </a:solidFill>
                      <a:prstDash val="dot"/>
                    </a:lnL>
                    <a:lnR w="3175">
                      <a:solidFill>
                        <a:srgbClr val="FFFFFF"/>
                      </a:solidFill>
                      <a:prstDash val="dot"/>
                    </a:lnR>
                    <a:lnT w="19050" cap="rnd">
                      <a:solidFill>
                        <a:srgbClr val="144D73"/>
                      </a:solidFill>
                      <a:prstDash val="solid"/>
                    </a:lnT>
                    <a:lnB w="19050">
                      <a:solidFill>
                        <a:srgbClr val="144D73"/>
                      </a:solidFill>
                      <a:prstDash val="solid"/>
                    </a:lnB>
                    <a:lnTlToBr>
                      <a:noFill/>
                    </a:lnTlToBr>
                    <a:lnBlToTr>
                      <a:noFill/>
                    </a:lnBlToTr>
                    <a:solidFill>
                      <a:srgbClr val="144D73"/>
                    </a:solidFill>
                  </a:tcPr>
                </a:tc>
                <a:tc>
                  <a:txBody>
                    <a:bodyPr/>
                    <a:p>
                      <a:pPr indent="0" algn="ctr">
                        <a:lnSpc>
                          <a:spcPct val="120000"/>
                        </a:lnSpc>
                        <a:spcBef>
                          <a:spcPts val="0"/>
                        </a:spcBef>
                        <a:spcAft>
                          <a:spcPts val="0"/>
                        </a:spcAft>
                        <a:buNone/>
                      </a:pPr>
                      <a:r>
                        <a:rPr lang="en-US" sz="2200" b="1">
                          <a:solidFill>
                            <a:srgbClr val="FFFFFF"/>
                          </a:solidFill>
                          <a:latin typeface="微软雅黑" panose="020B0503020204020204" pitchFamily="34" charset="-122"/>
                          <a:ea typeface="微软雅黑" panose="020B0503020204020204" pitchFamily="34" charset="-122"/>
                        </a:rPr>
                        <a:t>无形资源</a:t>
                      </a:r>
                      <a:endParaRPr lang="en-US" altLang="en-US" sz="2200" b="1">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w="3175">
                      <a:solidFill>
                        <a:srgbClr val="FFFFFF"/>
                      </a:solidFill>
                      <a:prstDash val="dot"/>
                    </a:lnL>
                    <a:lnR w="19050" cap="rnd">
                      <a:solidFill>
                        <a:srgbClr val="144D73"/>
                      </a:solidFill>
                      <a:prstDash val="solid"/>
                    </a:lnR>
                    <a:lnT w="19050" cap="rnd">
                      <a:solidFill>
                        <a:srgbClr val="144D73"/>
                      </a:solidFill>
                      <a:prstDash val="solid"/>
                    </a:lnT>
                    <a:lnB w="19050">
                      <a:solidFill>
                        <a:srgbClr val="144D73"/>
                      </a:solidFill>
                      <a:prstDash val="solid"/>
                    </a:lnB>
                    <a:lnTlToBr>
                      <a:noFill/>
                    </a:lnTlToBr>
                    <a:lnBlToTr>
                      <a:noFill/>
                    </a:lnBlToTr>
                    <a:solidFill>
                      <a:srgbClr val="144D73"/>
                    </a:solidFill>
                  </a:tcPr>
                </a:tc>
              </a:tr>
              <a:tr h="1163320">
                <a:tc>
                  <a:txBody>
                    <a:bodyPr/>
                    <a:p>
                      <a:pPr indent="0" algn="ctr">
                        <a:lnSpc>
                          <a:spcPct val="120000"/>
                        </a:lnSpc>
                        <a:spcBef>
                          <a:spcPts val="0"/>
                        </a:spcBef>
                        <a:spcAft>
                          <a:spcPts val="0"/>
                        </a:spcAft>
                        <a:buNone/>
                      </a:pPr>
                      <a:r>
                        <a:rPr lang="en-US" sz="2000" b="0" spc="130">
                          <a:solidFill>
                            <a:srgbClr val="404040"/>
                          </a:solidFill>
                          <a:latin typeface="微软雅黑" panose="020B0503020204020204" pitchFamily="34" charset="-122"/>
                          <a:ea typeface="微软雅黑" panose="020B0503020204020204" pitchFamily="34" charset="-122"/>
                        </a:rPr>
                        <a:t>普通资源</a:t>
                      </a:r>
                      <a:endParaRPr lang="en-US" altLang="en-US" sz="20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cap="rnd">
                      <a:solidFill>
                        <a:srgbClr val="144D73"/>
                      </a:solidFill>
                      <a:prstDash val="solid"/>
                    </a:lnL>
                    <a:lnR w="3175">
                      <a:solidFill>
                        <a:srgbClr val="144D73"/>
                      </a:solidFill>
                      <a:prstDash val="dot"/>
                    </a:lnR>
                    <a:lnT w="19050">
                      <a:solidFill>
                        <a:srgbClr val="144D73"/>
                      </a:solidFill>
                      <a:prstDash val="solid"/>
                    </a:lnT>
                    <a:lnB w="3175">
                      <a:solidFill>
                        <a:srgbClr val="144D73"/>
                      </a:solidFill>
                      <a:prstDash val="dot"/>
                    </a:lnB>
                    <a:lnTlToBr>
                      <a:noFill/>
                    </a:lnTlToBr>
                    <a:lnBlToTr>
                      <a:noFill/>
                    </a:lnBlToTr>
                    <a:solidFill>
                      <a:srgbClr val="F2F2F2"/>
                    </a:solidFill>
                  </a:tcPr>
                </a:tc>
                <a:tc>
                  <a:txBody>
                    <a:bodyPr/>
                    <a:p>
                      <a:pPr indent="0" algn="ctr">
                        <a:lnSpc>
                          <a:spcPct val="120000"/>
                        </a:lnSpc>
                        <a:spcBef>
                          <a:spcPts val="0"/>
                        </a:spcBef>
                        <a:spcAft>
                          <a:spcPts val="0"/>
                        </a:spcAft>
                        <a:buNone/>
                      </a:pPr>
                      <a:r>
                        <a:rPr lang="en-US" sz="2000" b="0" spc="130">
                          <a:solidFill>
                            <a:srgbClr val="404040"/>
                          </a:solidFill>
                          <a:latin typeface="微软雅黑" panose="020B0503020204020204" pitchFamily="34" charset="-122"/>
                          <a:ea typeface="微软雅黑" panose="020B0503020204020204" pitchFamily="34" charset="-122"/>
                        </a:rPr>
                        <a:t>易于发现</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易于获得</a:t>
                      </a:r>
                      <a:endParaRPr lang="en-US" altLang="en-US" sz="20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3175">
                      <a:solidFill>
                        <a:srgbClr val="144D73"/>
                      </a:solidFill>
                      <a:prstDash val="dot"/>
                    </a:lnL>
                    <a:lnR w="3175">
                      <a:solidFill>
                        <a:srgbClr val="144D73"/>
                      </a:solidFill>
                      <a:prstDash val="dot"/>
                    </a:lnR>
                    <a:lnT w="19050">
                      <a:solidFill>
                        <a:srgbClr val="144D73"/>
                      </a:solidFill>
                      <a:prstDash val="solid"/>
                    </a:lnT>
                    <a:lnB w="3175">
                      <a:solidFill>
                        <a:srgbClr val="144D73"/>
                      </a:solidFill>
                      <a:prstDash val="dot"/>
                    </a:lnB>
                    <a:lnTlToBr>
                      <a:noFill/>
                    </a:lnTlToBr>
                    <a:lnBlToTr>
                      <a:noFill/>
                    </a:lnBlToTr>
                    <a:solidFill>
                      <a:srgbClr val="F2F2F2"/>
                    </a:solidFill>
                  </a:tcPr>
                </a:tc>
                <a:tc>
                  <a:txBody>
                    <a:bodyPr/>
                    <a:p>
                      <a:pPr indent="0" algn="ctr">
                        <a:lnSpc>
                          <a:spcPct val="120000"/>
                        </a:lnSpc>
                        <a:spcBef>
                          <a:spcPts val="0"/>
                        </a:spcBef>
                        <a:spcAft>
                          <a:spcPts val="0"/>
                        </a:spcAft>
                        <a:buNone/>
                      </a:pPr>
                      <a:r>
                        <a:rPr lang="en-US" sz="2000" b="0" spc="130">
                          <a:solidFill>
                            <a:srgbClr val="404040"/>
                          </a:solidFill>
                          <a:latin typeface="微软雅黑" panose="020B0503020204020204" pitchFamily="34" charset="-122"/>
                          <a:ea typeface="微软雅黑" panose="020B0503020204020204" pitchFamily="34" charset="-122"/>
                        </a:rPr>
                        <a:t>易于识别</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众所周知的常识</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易于学习模仿</a:t>
                      </a:r>
                      <a:endParaRPr lang="en-US" altLang="en-US" sz="20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3175">
                      <a:solidFill>
                        <a:srgbClr val="144D73"/>
                      </a:solidFill>
                      <a:prstDash val="dot"/>
                    </a:lnL>
                    <a:lnR w="19050" cap="rnd">
                      <a:solidFill>
                        <a:srgbClr val="144D73"/>
                      </a:solidFill>
                      <a:prstDash val="solid"/>
                    </a:lnR>
                    <a:lnT w="19050">
                      <a:solidFill>
                        <a:srgbClr val="144D73"/>
                      </a:solidFill>
                      <a:prstDash val="solid"/>
                    </a:lnT>
                    <a:lnB w="3175">
                      <a:solidFill>
                        <a:srgbClr val="144D73"/>
                      </a:solidFill>
                      <a:prstDash val="dot"/>
                    </a:lnB>
                    <a:lnTlToBr>
                      <a:noFill/>
                    </a:lnTlToBr>
                    <a:lnBlToTr>
                      <a:noFill/>
                    </a:lnBlToTr>
                    <a:solidFill>
                      <a:srgbClr val="F2F2F2"/>
                    </a:solidFill>
                  </a:tcPr>
                </a:tc>
              </a:tr>
              <a:tr h="1163320">
                <a:tc>
                  <a:txBody>
                    <a:bodyPr/>
                    <a:p>
                      <a:pPr indent="0" algn="ctr">
                        <a:lnSpc>
                          <a:spcPct val="120000"/>
                        </a:lnSpc>
                        <a:spcBef>
                          <a:spcPts val="0"/>
                        </a:spcBef>
                        <a:spcAft>
                          <a:spcPts val="0"/>
                        </a:spcAft>
                        <a:buNone/>
                      </a:pPr>
                      <a:r>
                        <a:rPr lang="en-US" sz="2000" b="0" spc="130">
                          <a:solidFill>
                            <a:srgbClr val="404040"/>
                          </a:solidFill>
                          <a:latin typeface="微软雅黑" panose="020B0503020204020204" pitchFamily="34" charset="-122"/>
                          <a:ea typeface="微软雅黑" panose="020B0503020204020204" pitchFamily="34" charset="-122"/>
                        </a:rPr>
                        <a:t>独特资源</a:t>
                      </a:r>
                      <a:endParaRPr lang="en-US" altLang="en-US" sz="20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cap="rnd">
                      <a:solidFill>
                        <a:srgbClr val="144D73"/>
                      </a:solidFill>
                      <a:prstDash val="solid"/>
                    </a:lnL>
                    <a:lnR w="3175">
                      <a:solidFill>
                        <a:srgbClr val="144D73"/>
                      </a:solidFill>
                      <a:prstDash val="dot"/>
                    </a:lnR>
                    <a:lnT w="3175">
                      <a:solidFill>
                        <a:srgbClr val="144D73"/>
                      </a:solidFill>
                      <a:prstDash val="dot"/>
                    </a:lnT>
                    <a:lnB w="19050" cap="rnd">
                      <a:solidFill>
                        <a:srgbClr val="144D73"/>
                      </a:solidFill>
                      <a:prstDash val="solid"/>
                    </a:lnB>
                    <a:lnTlToBr>
                      <a:noFill/>
                    </a:lnTlToBr>
                    <a:lnBlToTr>
                      <a:noFill/>
                    </a:lnBlToTr>
                    <a:solidFill>
                      <a:srgbClr val="FFFFFF"/>
                    </a:solidFill>
                  </a:tcPr>
                </a:tc>
                <a:tc>
                  <a:txBody>
                    <a:bodyPr/>
                    <a:p>
                      <a:pPr indent="0" algn="ctr">
                        <a:lnSpc>
                          <a:spcPct val="120000"/>
                        </a:lnSpc>
                        <a:spcBef>
                          <a:spcPts val="0"/>
                        </a:spcBef>
                        <a:spcAft>
                          <a:spcPts val="0"/>
                        </a:spcAft>
                        <a:buNone/>
                      </a:pPr>
                      <a:r>
                        <a:rPr lang="en-US" sz="2000" b="0" spc="130">
                          <a:solidFill>
                            <a:srgbClr val="404040"/>
                          </a:solidFill>
                          <a:latin typeface="微软雅黑" panose="020B0503020204020204" pitchFamily="34" charset="-122"/>
                          <a:ea typeface="微软雅黑" panose="020B0503020204020204" pitchFamily="34" charset="-122"/>
                        </a:rPr>
                        <a:t>难以获得</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行业内比较少见</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可能无法移植</a:t>
                      </a:r>
                      <a:endParaRPr lang="en-US" altLang="en-US" sz="20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3175">
                      <a:solidFill>
                        <a:srgbClr val="144D73"/>
                      </a:solidFill>
                      <a:prstDash val="dot"/>
                    </a:lnL>
                    <a:lnR w="3175">
                      <a:solidFill>
                        <a:srgbClr val="144D73"/>
                      </a:solidFill>
                      <a:prstDash val="dot"/>
                    </a:lnR>
                    <a:lnT w="3175">
                      <a:solidFill>
                        <a:srgbClr val="144D73"/>
                      </a:solidFill>
                      <a:prstDash val="dot"/>
                    </a:lnT>
                    <a:lnB w="19050" cap="rnd">
                      <a:solidFill>
                        <a:srgbClr val="144D73"/>
                      </a:solidFill>
                      <a:prstDash val="solid"/>
                    </a:lnB>
                    <a:lnTlToBr>
                      <a:noFill/>
                    </a:lnTlToBr>
                    <a:lnBlToTr>
                      <a:noFill/>
                    </a:lnBlToTr>
                    <a:solidFill>
                      <a:srgbClr val="FFFFFF"/>
                    </a:solidFill>
                  </a:tcPr>
                </a:tc>
                <a:tc>
                  <a:txBody>
                    <a:bodyPr/>
                    <a:p>
                      <a:pPr indent="0" algn="ctr">
                        <a:lnSpc>
                          <a:spcPct val="120000"/>
                        </a:lnSpc>
                        <a:spcBef>
                          <a:spcPts val="0"/>
                        </a:spcBef>
                        <a:spcAft>
                          <a:spcPts val="0"/>
                        </a:spcAft>
                        <a:buNone/>
                      </a:pPr>
                      <a:r>
                        <a:rPr lang="en-US" sz="2000" b="0" spc="130">
                          <a:solidFill>
                            <a:srgbClr val="404040"/>
                          </a:solidFill>
                          <a:latin typeface="微软雅黑" panose="020B0503020204020204" pitchFamily="34" charset="-122"/>
                          <a:ea typeface="微软雅黑" panose="020B0503020204020204" pitchFamily="34" charset="-122"/>
                        </a:rPr>
                        <a:t>难以评估难以确定，难以理解</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需要一定时间去学习</a:t>
                      </a:r>
                      <a:r>
                        <a:rPr lang="zh-CN" altLang="en-US" sz="2000" b="0" spc="130">
                          <a:solidFill>
                            <a:srgbClr val="404040"/>
                          </a:solidFill>
                          <a:latin typeface="微软雅黑" panose="020B0503020204020204" pitchFamily="34" charset="-122"/>
                          <a:ea typeface="微软雅黑" panose="020B0503020204020204" pitchFamily="34" charset="-122"/>
                        </a:rPr>
                        <a:t>，</a:t>
                      </a:r>
                      <a:r>
                        <a:rPr lang="en-US" sz="2000" b="0" spc="130">
                          <a:solidFill>
                            <a:srgbClr val="404040"/>
                          </a:solidFill>
                          <a:latin typeface="微软雅黑" panose="020B0503020204020204" pitchFamily="34" charset="-122"/>
                          <a:ea typeface="微软雅黑" panose="020B0503020204020204" pitchFamily="34" charset="-122"/>
                        </a:rPr>
                        <a:t>可能需要具有一定经验</a:t>
                      </a:r>
                      <a:endParaRPr lang="en-US" altLang="en-US" sz="20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3175">
                      <a:solidFill>
                        <a:srgbClr val="144D73"/>
                      </a:solidFill>
                      <a:prstDash val="dot"/>
                    </a:lnL>
                    <a:lnR w="19050" cap="rnd">
                      <a:solidFill>
                        <a:srgbClr val="144D73"/>
                      </a:solidFill>
                      <a:prstDash val="solid"/>
                    </a:lnR>
                    <a:lnT w="3175">
                      <a:solidFill>
                        <a:srgbClr val="144D73"/>
                      </a:solidFill>
                      <a:prstDash val="dot"/>
                    </a:lnT>
                    <a:lnB w="19050" cap="rnd">
                      <a:solidFill>
                        <a:srgbClr val="144D73"/>
                      </a:solidFill>
                      <a:prstDash val="solid"/>
                    </a:lnB>
                    <a:lnTlToBr>
                      <a:noFill/>
                    </a:lnTlToBr>
                    <a:lnBlToTr>
                      <a:noFill/>
                    </a:lnBlToTr>
                    <a:solidFill>
                      <a:srgbClr val="FFFFFF"/>
                    </a:solidFill>
                  </a:tcPr>
                </a:tc>
              </a:tr>
            </a:tbl>
          </a:graphicData>
        </a:graphic>
      </p:graphicFrame>
    </p:spTree>
    <p:custDataLst>
      <p:tags r:id="rId8"/>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88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789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 name="矩形 2"/>
          <p:cNvSpPr/>
          <p:nvPr/>
        </p:nvSpPr>
        <p:spPr>
          <a:xfrm>
            <a:off x="977900" y="1147763"/>
            <a:ext cx="10177463" cy="5477510"/>
          </a:xfrm>
          <a:prstGeom prst="rect">
            <a:avLst/>
          </a:prstGeom>
          <a:solidFill>
            <a:srgbClr val="57CAF4"/>
          </a:solidFill>
          <a:ln>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什么样的资源对企业最有价值？</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巴尼</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J. B. Barney</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）曾列举出五项能构成企业持久竞争优势的资源的条件：</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VRIN原则:Valuable(有价值的), Rare(稀缺的), Imitability(不可模仿的),Non-substitutable(不可替代的)</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在创造价值过程中发挥重要作用的</a:t>
            </a:r>
            <a:endPar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稀缺的</a:t>
            </a:r>
            <a:endPar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不可模仿的</a:t>
            </a:r>
            <a:endPar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不可替代的</a:t>
            </a:r>
            <a:endPar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可以低成本价获得</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的</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
        <p:nvSpPr>
          <p:cNvPr id="37896"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1.3 </a:t>
            </a:r>
            <a:r>
              <a:rPr lang="zh-CN" altLang="zh-CN" sz="3200" dirty="0">
                <a:solidFill>
                  <a:srgbClr val="1570C1"/>
                </a:solidFill>
                <a:latin typeface="微软雅黑" panose="020B0503020204020204" pitchFamily="34" charset="-122"/>
                <a:ea typeface="微软雅黑" panose="020B0503020204020204" pitchFamily="34" charset="-122"/>
              </a:rPr>
              <a:t>企业资源与竞争优势</a:t>
            </a:r>
            <a:endParaRPr lang="zh-CN" altLang="zh-CN"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993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994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 name="矩形 2"/>
          <p:cNvSpPr/>
          <p:nvPr/>
        </p:nvSpPr>
        <p:spPr>
          <a:xfrm>
            <a:off x="871538" y="1860550"/>
            <a:ext cx="10404475" cy="3538538"/>
          </a:xfrm>
          <a:prstGeom prst="rect">
            <a:avLst/>
          </a:prstGeom>
          <a:solidFill>
            <a:srgbClr val="57CAF4"/>
          </a:solidFill>
          <a:ln>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格兰特（ </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Grant</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1991</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）则提出评价资源重要性的四项标准：</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占用性（</a:t>
            </a:r>
            <a:r>
              <a:rPr kumimoji="0" lang="en-US" altLang="zh-CN" sz="2800" b="0" i="0" u="none" strike="noStrike" kern="1200" cap="none" spc="0" normalizeH="0" baseline="0" noProof="0" dirty="0" err="1">
                <a:ln>
                  <a:noFill/>
                </a:ln>
                <a:solidFill>
                  <a:srgbClr val="1570C1"/>
                </a:solidFill>
                <a:effectLst/>
                <a:uLnTx/>
                <a:uFillTx/>
                <a:latin typeface="微软雅黑" panose="020B0503020204020204" pitchFamily="34" charset="-122"/>
                <a:ea typeface="微软雅黑" panose="020B0503020204020204" pitchFamily="34" charset="-122"/>
                <a:cs typeface="+mn-cs"/>
              </a:rPr>
              <a:t>Appropriability</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耐久性（</a:t>
            </a:r>
            <a:r>
              <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Durability</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转移性（</a:t>
            </a:r>
            <a:r>
              <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Transferability</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复制性（</a:t>
            </a:r>
            <a:r>
              <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Replicability</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
        <p:nvSpPr>
          <p:cNvPr id="39944"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1.3 </a:t>
            </a:r>
            <a:r>
              <a:rPr lang="zh-CN" altLang="zh-CN" sz="3200" dirty="0">
                <a:solidFill>
                  <a:srgbClr val="1570C1"/>
                </a:solidFill>
                <a:latin typeface="微软雅黑" panose="020B0503020204020204" pitchFamily="34" charset="-122"/>
                <a:ea typeface="微软雅黑" panose="020B0503020204020204" pitchFamily="34" charset="-122"/>
              </a:rPr>
              <a:t>企业资源与竞争优势</a:t>
            </a:r>
            <a:endParaRPr lang="zh-CN" altLang="zh-CN"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198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198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 name="矩形 2"/>
          <p:cNvSpPr/>
          <p:nvPr/>
        </p:nvSpPr>
        <p:spPr>
          <a:xfrm>
            <a:off x="758825" y="1150938"/>
            <a:ext cx="10626725" cy="2244725"/>
          </a:xfrm>
          <a:prstGeom prst="rect">
            <a:avLst/>
          </a:prstGeom>
          <a:solidFill>
            <a:srgbClr val="1570C1"/>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资源竞争的焦点是模仿与反模仿，独占与反独占。</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chemeClr val="bg1"/>
                </a:solidFill>
                <a:latin typeface="微软雅黑" panose="020B0503020204020204" pitchFamily="34" charset="-122"/>
                <a:ea typeface="微软雅黑" panose="020B0503020204020204" pitchFamily="34" charset="-122"/>
              </a:rPr>
              <a:t>      因此从竞争角度看，资源配置只是战略中的一个问题，而资源开发（形成优势资源）、积累（提升资源）、整合（组合资源）和运用（配置资源）是一组相连贯的战略课题。</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722313" y="3944938"/>
          <a:ext cx="10714038" cy="2122489"/>
        </p:xfrm>
        <a:graphic>
          <a:graphicData uri="http://schemas.openxmlformats.org/drawingml/2006/table">
            <a:tbl>
              <a:tblPr firstRow="1" bandRow="1">
                <a:tableStyleId>{5C22544A-7EE6-4342-B048-85BDC9FD1C3A}</a:tableStyleId>
              </a:tblPr>
              <a:tblGrid>
                <a:gridCol w="1365885"/>
                <a:gridCol w="1402874"/>
                <a:gridCol w="1596696"/>
                <a:gridCol w="1583049"/>
                <a:gridCol w="2060693"/>
                <a:gridCol w="2704841"/>
              </a:tblGrid>
              <a:tr h="639793">
                <a:tc>
                  <a:txBody>
                    <a:bodyPr/>
                    <a:lstStyle/>
                    <a:p>
                      <a:pPr algn="ctr"/>
                      <a:r>
                        <a:rPr lang="zh-CN" altLang="en-US" sz="1800" dirty="0" smtClean="0">
                          <a:latin typeface="微软雅黑" panose="020B0503020204020204" pitchFamily="34" charset="-122"/>
                          <a:ea typeface="微软雅黑" panose="020B0503020204020204" pitchFamily="34" charset="-122"/>
                        </a:rPr>
                        <a:t>资源和能力是否有价值</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资源和能力是否稀有</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资源和能力是否难于模仿</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资源和能力是否不可替代</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竞争后果</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业绩评价</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r>
              <a:tr h="370674">
                <a:tc>
                  <a:txBody>
                    <a:bodyPr/>
                    <a:lstStyle/>
                    <a:p>
                      <a:pPr algn="ctr"/>
                      <a:r>
                        <a:rPr lang="zh-CN" altLang="en-US" sz="1800" dirty="0" smtClean="0">
                          <a:latin typeface="微软雅黑" panose="020B0503020204020204" pitchFamily="34" charset="-122"/>
                          <a:ea typeface="微软雅黑" panose="020B0503020204020204" pitchFamily="34" charset="-122"/>
                        </a:rPr>
                        <a:t>否</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竞争无优势</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低于平均的回报</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r>
              <a:tr h="370674">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是</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竞争对等</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平均回报</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r>
              <a:tr h="370674">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微软雅黑" panose="020B0503020204020204" pitchFamily="34" charset="-122"/>
                          <a:ea typeface="微软雅黑" panose="020B0503020204020204" pitchFamily="34" charset="-122"/>
                        </a:rPr>
                        <a:t>是</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否</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暂时性的竞争优势</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平均回报至高于平均回报</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r>
              <a:tr h="370674">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是</a:t>
                      </a:r>
                      <a:endParaRPr lang="zh-CN" altLang="en-US" sz="1800" dirty="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持久性的竞争优势</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c>
                  <a:txBody>
                    <a:bodyPr/>
                    <a:lstStyle/>
                    <a:p>
                      <a:pPr algn="ctr"/>
                      <a:r>
                        <a:rPr lang="zh-CN" altLang="en-US" sz="1800" dirty="0" smtClean="0">
                          <a:latin typeface="微软雅黑" panose="020B0503020204020204" pitchFamily="34" charset="-122"/>
                          <a:ea typeface="微软雅黑" panose="020B0503020204020204" pitchFamily="34" charset="-122"/>
                        </a:rPr>
                        <a:t>高于平均回报</a:t>
                      </a:r>
                      <a:endParaRPr lang="zh-CN" altLang="en-US" sz="1800" dirty="0" smtClean="0">
                        <a:latin typeface="微软雅黑" panose="020B0503020204020204" pitchFamily="34" charset="-122"/>
                        <a:ea typeface="微软雅黑" panose="020B0503020204020204" pitchFamily="34" charset="-122"/>
                      </a:endParaRPr>
                    </a:p>
                  </a:txBody>
                  <a:tcPr marL="91435" marR="91435" marT="45699" marB="45699"/>
                </a:tc>
              </a:tr>
            </a:tbl>
          </a:graphicData>
        </a:graphic>
      </p:graphicFrame>
      <p:sp>
        <p:nvSpPr>
          <p:cNvPr id="5" name="矩形 4"/>
          <p:cNvSpPr/>
          <p:nvPr/>
        </p:nvSpPr>
        <p:spPr>
          <a:xfrm>
            <a:off x="3517900" y="3506788"/>
            <a:ext cx="4754563" cy="460375"/>
          </a:xfrm>
          <a:prstGeom prst="rect">
            <a:avLst/>
          </a:prstGeom>
          <a:noFill/>
          <a:ln w="9525">
            <a:noFill/>
          </a:ln>
        </p:spPr>
        <p:txBody>
          <a:bodyPr wrap="none" anchor="t" anchorCtr="0">
            <a:spAutoFit/>
          </a:bodyPr>
          <a:p>
            <a:pPr eaLnBrk="0" hangingPunct="0"/>
            <a:r>
              <a:rPr lang="zh-CN" altLang="en-US" sz="2400" dirty="0">
                <a:solidFill>
                  <a:srgbClr val="1570C1"/>
                </a:solidFill>
                <a:latin typeface="微软雅黑" panose="020B0503020204020204" pitchFamily="34" charset="-122"/>
                <a:ea typeface="微软雅黑" panose="020B0503020204020204" pitchFamily="34" charset="-122"/>
              </a:rPr>
              <a:t>持久竞争优势四种标准结合的结果</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4203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1.3 </a:t>
            </a:r>
            <a:r>
              <a:rPr lang="zh-CN" altLang="zh-CN" sz="3200" dirty="0">
                <a:solidFill>
                  <a:srgbClr val="1570C1"/>
                </a:solidFill>
                <a:latin typeface="微软雅黑" panose="020B0503020204020204" pitchFamily="34" charset="-122"/>
                <a:ea typeface="微软雅黑" panose="020B0503020204020204" pitchFamily="34" charset="-122"/>
              </a:rPr>
              <a:t>企业资源与竞争优势</a:t>
            </a:r>
            <a:endParaRPr lang="zh-CN" altLang="zh-CN"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1587" y="4918075"/>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88963"/>
            <a:ext cx="1495425"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2</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52838"/>
            <a:ext cx="9429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企业能力</a:t>
            </a:r>
            <a:endParaRPr kumimoji="0" lang="zh-CN" altLang="en-US"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43213" y="4918075"/>
            <a:ext cx="48799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2.1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企业能力的内涵</a:t>
            </a:r>
            <a:endPar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2.2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核心能力 </a:t>
            </a:r>
            <a:endPar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2.3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动态能力</a:t>
            </a:r>
            <a:endPar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505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506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506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2.1  </a:t>
            </a:r>
            <a:r>
              <a:rPr lang="zh-CN" altLang="en-US" sz="3200" dirty="0">
                <a:solidFill>
                  <a:srgbClr val="1570C1"/>
                </a:solidFill>
                <a:latin typeface="微软雅黑" panose="020B0503020204020204" pitchFamily="34" charset="-122"/>
                <a:ea typeface="微软雅黑" panose="020B0503020204020204" pitchFamily="34" charset="-122"/>
              </a:rPr>
              <a:t>企业能力的内涵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a:spLocks noChangeArrowheads="1"/>
          </p:cNvSpPr>
          <p:nvPr/>
        </p:nvSpPr>
        <p:spPr bwMode="auto">
          <a:xfrm>
            <a:off x="939800" y="1144588"/>
            <a:ext cx="10312400" cy="5262563"/>
          </a:xfrm>
          <a:prstGeom prst="rect">
            <a:avLst/>
          </a:prstGeom>
          <a:solidFill>
            <a:srgbClr val="1570C1"/>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企业能力是指运用、转换与整合资源的能力，是资产、人员和组织投入产出过程的复杂结合，表现为</a:t>
            </a:r>
            <a:r>
              <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整合一组资源以完成任务或者从事经营活动的有效性和效率。企业是一个能力体系或能力的集合，能力决定企业的规模和边界</a:t>
            </a:r>
            <a:r>
              <a:rPr kumimoji="0" lang="zh-CN" altLang="en-US" sz="28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t>
            </a:r>
            <a:endParaRPr kumimoji="0" lang="en-US" altLang="zh-CN" sz="28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企业的能力分析是战略管理领域中传统的分析方法</a:t>
            </a:r>
            <a:r>
              <a:rPr kumimoji="0" lang="zh-CN" altLang="en-US" sz="28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能力是指企业分配资源的效率，这些资源被有目的地整合在一起，以达到一种预想的最终状态</a:t>
            </a:r>
            <a:r>
              <a:rPr kumimoji="0" lang="zh-CN" altLang="en-US" sz="28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通常把能力分为营销能力、生产能力、财务能力、组织能力、技术开发能力等</a:t>
            </a:r>
            <a:r>
              <a:rPr kumimoji="0" lang="zh-CN" altLang="en-US" sz="28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能力分析强调通过与竞争对手对比来认识企业的优势和劣势。（这些内容实际上与资源、价值链分析有很大重合</a:t>
            </a:r>
            <a:r>
              <a:rPr kumimoji="0" lang="zh-CN" altLang="en-US" sz="28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5" name="图片 1"/>
          <p:cNvPicPr>
            <a:picLocks noChangeAspect="1"/>
          </p:cNvPicPr>
          <p:nvPr/>
        </p:nvPicPr>
        <p:blipFill>
          <a:blip r:embed="rId1"/>
          <a:stretch>
            <a:fillRect/>
          </a:stretch>
        </p:blipFill>
        <p:spPr>
          <a:xfrm>
            <a:off x="2795588" y="95250"/>
            <a:ext cx="6611937" cy="67627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2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813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813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2.1  </a:t>
            </a:r>
            <a:r>
              <a:rPr lang="zh-CN" altLang="en-US" sz="3200" dirty="0">
                <a:solidFill>
                  <a:srgbClr val="1570C1"/>
                </a:solidFill>
                <a:latin typeface="微软雅黑" panose="020B0503020204020204" pitchFamily="34" charset="-122"/>
                <a:ea typeface="微软雅黑" panose="020B0503020204020204" pitchFamily="34" charset="-122"/>
              </a:rPr>
              <a:t>企业能力的内涵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pic>
        <p:nvPicPr>
          <p:cNvPr id="48136" name="图片 3" descr="屏幕剪辑"/>
          <p:cNvPicPr>
            <a:picLocks noChangeAspect="1"/>
          </p:cNvPicPr>
          <p:nvPr/>
        </p:nvPicPr>
        <p:blipFill>
          <a:blip r:embed="rId1"/>
          <a:stretch>
            <a:fillRect/>
          </a:stretch>
        </p:blipFill>
        <p:spPr>
          <a:xfrm>
            <a:off x="3376613" y="1838325"/>
            <a:ext cx="5321300" cy="3990975"/>
          </a:xfrm>
          <a:prstGeom prst="rect">
            <a:avLst/>
          </a:prstGeom>
          <a:noFill/>
          <a:ln w="9525">
            <a:noFill/>
          </a:ln>
        </p:spPr>
      </p:pic>
      <p:sp>
        <p:nvSpPr>
          <p:cNvPr id="48137" name="矩形 4"/>
          <p:cNvSpPr/>
          <p:nvPr/>
        </p:nvSpPr>
        <p:spPr>
          <a:xfrm>
            <a:off x="4011613" y="1009650"/>
            <a:ext cx="5519737" cy="461963"/>
          </a:xfrm>
          <a:prstGeom prst="rect">
            <a:avLst/>
          </a:prstGeom>
          <a:noFill/>
          <a:ln w="9525">
            <a:noFill/>
          </a:ln>
        </p:spPr>
        <p:txBody>
          <a:bodyPr anchor="t" anchorCtr="0">
            <a:spAutoFit/>
          </a:bodyPr>
          <a:p>
            <a:r>
              <a:rPr lang="zh-CN" altLang="en-US" sz="2400" dirty="0">
                <a:solidFill>
                  <a:srgbClr val="1570C1"/>
                </a:solidFill>
                <a:latin typeface="微软雅黑" panose="020B0503020204020204" pitchFamily="34" charset="-122"/>
                <a:ea typeface="微软雅黑" panose="020B0503020204020204" pitchFamily="34" charset="-122"/>
              </a:rPr>
              <a:t>有关企业能力的传统分析方法</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48138" name="矩形 5"/>
          <p:cNvSpPr/>
          <p:nvPr/>
        </p:nvSpPr>
        <p:spPr>
          <a:xfrm>
            <a:off x="5356225" y="1489075"/>
            <a:ext cx="3271838" cy="369888"/>
          </a:xfrm>
          <a:prstGeom prst="rect">
            <a:avLst/>
          </a:prstGeom>
          <a:noFill/>
          <a:ln w="9525">
            <a:noFill/>
          </a:ln>
        </p:spPr>
        <p:txBody>
          <a:bodyPr wrap="none" anchor="t" anchorCtr="0">
            <a:spAutoFit/>
          </a:bodyPr>
          <a:p>
            <a:pPr eaLnBrk="0" hangingPunct="0"/>
            <a:r>
              <a:rPr lang="zh-CN" altLang="en-US" dirty="0">
                <a:latin typeface="微软雅黑" panose="020B0503020204020204" pitchFamily="34" charset="-122"/>
                <a:ea typeface="微软雅黑" panose="020B0503020204020204" pitchFamily="34" charset="-122"/>
              </a:rPr>
              <a:t>弱   　         中等　　　     强</a:t>
            </a:r>
            <a:endParaRPr lang="zh-CN" altLang="en-US" dirty="0">
              <a:latin typeface="微软雅黑" panose="020B0503020204020204" pitchFamily="34" charset="-122"/>
              <a:ea typeface="微软雅黑" panose="020B0503020204020204" pitchFamily="34" charset="-122"/>
            </a:endParaRPr>
          </a:p>
        </p:txBody>
      </p:sp>
      <p:sp>
        <p:nvSpPr>
          <p:cNvPr id="48139" name="矩形 6"/>
          <p:cNvSpPr/>
          <p:nvPr/>
        </p:nvSpPr>
        <p:spPr>
          <a:xfrm>
            <a:off x="3321050" y="5918200"/>
            <a:ext cx="5376863" cy="646113"/>
          </a:xfrm>
          <a:prstGeom prst="rect">
            <a:avLst/>
          </a:prstGeom>
          <a:noFill/>
          <a:ln w="9525">
            <a:noFill/>
          </a:ln>
        </p:spPr>
        <p:txBody>
          <a:bodyPr anchor="t" anchorCtr="0">
            <a:spAutoFit/>
          </a:bodyPr>
          <a:p>
            <a:pPr eaLnBrk="0" hangingPunct="0"/>
            <a:r>
              <a:rPr lang="zh-CN" altLang="en-US" dirty="0">
                <a:latin typeface="微软雅黑" panose="020B0503020204020204" pitchFamily="34" charset="-122"/>
                <a:ea typeface="微软雅黑" panose="020B0503020204020204" pitchFamily="34" charset="-122"/>
              </a:rPr>
              <a:t>注：“□”为本公司；“☆”为竞争对手１；“⊙”为竞争对手２。</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017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018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018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08013" y="1770063"/>
            <a:ext cx="11025187" cy="1384300"/>
          </a:xfrm>
          <a:prstGeom prst="rect">
            <a:avLst/>
          </a:prstGeom>
          <a:solidFill>
            <a:srgbClr val="57CAF4"/>
          </a:solidFill>
          <a:ln w="9525">
            <a:noFill/>
          </a:ln>
        </p:spPr>
        <p:txBody>
          <a:bodyPr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核心能力理论是战略管理学家普拉哈拉德、哈默尔于</a:t>
            </a:r>
            <a:r>
              <a:rPr lang="en-US" altLang="zh-CN" sz="2800" dirty="0">
                <a:solidFill>
                  <a:schemeClr val="bg1"/>
                </a:solidFill>
                <a:latin typeface="微软雅黑" panose="020B0503020204020204" pitchFamily="34" charset="-122"/>
                <a:ea typeface="微软雅黑" panose="020B0503020204020204" pitchFamily="34" charset="-122"/>
              </a:rPr>
              <a:t>1990</a:t>
            </a:r>
            <a:r>
              <a:rPr lang="zh-CN" altLang="en-US" sz="2800" dirty="0">
                <a:solidFill>
                  <a:schemeClr val="bg1"/>
                </a:solidFill>
                <a:latin typeface="微软雅黑" panose="020B0503020204020204" pitchFamily="34" charset="-122"/>
                <a:ea typeface="微软雅黑" panose="020B0503020204020204" pitchFamily="34" charset="-122"/>
              </a:rPr>
              <a:t>年在</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哈佛商业评论</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上发表的</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公司核心能力</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一文中最早提出的，其后核心能力理论在理论界和工商界得到广泛应用。</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608013" y="4103688"/>
            <a:ext cx="11025187" cy="1384300"/>
          </a:xfrm>
          <a:prstGeom prst="rect">
            <a:avLst/>
          </a:prstGeom>
          <a:solidFill>
            <a:srgbClr val="1570C1"/>
          </a:solidFill>
          <a:ln w="9525">
            <a:noFill/>
          </a:ln>
        </p:spPr>
        <p:txBody>
          <a:bodyPr wrap="square"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“核心能力是组织中的积累性学识，特别是关于如何协调不同的生产技能和有机结合多种技术的学识。” </a:t>
            </a:r>
            <a:endParaRPr lang="zh-CN" altLang="en-US"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普拉哈拉德、哈默尔</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22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22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223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49288" y="1644650"/>
            <a:ext cx="10855325" cy="3968750"/>
          </a:xfrm>
          <a:prstGeom prst="rect">
            <a:avLst/>
          </a:prstGeom>
          <a:solidFill>
            <a:srgbClr val="57CAF4"/>
          </a:solidFill>
          <a:ln>
            <a:noFill/>
          </a:ln>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Leonard-Barton</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认为核心能力是识别和提供竞争优势的知识体系。这个体系可以从四个方面衡量：</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组织成员所掌握的知识和技能</a:t>
            </a:r>
            <a:endPar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企业技术系统之中的知识</a:t>
            </a:r>
            <a:endPar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管理系统，企业管理制度、对创新的奖励、有计划的员工教育等</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价值系统，即企业文化</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427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427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427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61988" y="1320800"/>
            <a:ext cx="10869613" cy="4616450"/>
          </a:xfrm>
          <a:prstGeom prst="rect">
            <a:avLst/>
          </a:prstGeom>
          <a:solidFill>
            <a:srgbClr val="57CAF4"/>
          </a:solidFill>
          <a:ln>
            <a:noFill/>
          </a:ln>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核心能力的识别：</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一种能力要想成为核心能力，必须是“</a:t>
            </a:r>
            <a:r>
              <a:rPr lang="zh-CN" altLang="en-US" sz="2800" strike="noStrike" noProof="0" dirty="0">
                <a:ln>
                  <a:noFill/>
                </a:ln>
                <a:solidFill>
                  <a:srgbClr val="1570C1"/>
                </a:solidFill>
                <a:effectLst/>
                <a:uLnTx/>
                <a:uFillTx/>
                <a:latin typeface="微软雅黑" panose="020B0503020204020204" pitchFamily="34" charset="-122"/>
                <a:ea typeface="微软雅黑" panose="020B0503020204020204" pitchFamily="34" charset="-122"/>
                <a:cs typeface="+mn-cs"/>
                <a:sym typeface="+mn-ea"/>
              </a:rPr>
              <a:t>从</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客户角度出发，是有价值并不可替代的；从竞争者的角度出发，是独特并不可模仿的</a:t>
            </a:r>
            <a:r>
              <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价值性</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核心能力具有市场价值、能为消费者带来价值创造或价值附加</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索尼的核心能力是微型化，它带</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给用户的利益是随身携带。</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沃尔玛的核心能力是其采购、信息化和强大的物流管理，它带给用户的利益是更低的产品价格。</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632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632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632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939800" y="2074863"/>
            <a:ext cx="10350500" cy="3753485"/>
          </a:xfrm>
          <a:prstGeom prst="rect">
            <a:avLst/>
          </a:prstGeom>
          <a:solidFill>
            <a:srgbClr val="57CAF4"/>
          </a:solidFill>
          <a:ln>
            <a:noFill/>
          </a:ln>
        </p:spPr>
        <p:txBody>
          <a:bodyPr>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独特性</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指极少数现有或潜在竞争对手能拥有的能力</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有价值而普遍存在的资源和能力可能会造成对等竞争。只有当企业创造并发展那些与竞争对手共有能力不一样的能力时，才会产生竞争优势。</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戴尔用来塑造并发展商业模式的能力（低成本、高效率</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的直销</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模式）</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836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837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837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912813" y="1106488"/>
            <a:ext cx="10352088" cy="5046663"/>
          </a:xfrm>
          <a:prstGeom prst="rect">
            <a:avLst/>
          </a:prstGeom>
          <a:solidFill>
            <a:srgbClr val="57CAF4"/>
          </a:solidFill>
          <a:ln>
            <a:noFill/>
          </a:ln>
        </p:spPr>
        <p:txBody>
          <a:bodyPr>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难于模仿性</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是其他企业不能轻易建立的能力</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核心能力是不同技能的有机融合，是公司的战略性资源。一项能力的模仿成本和难度越大，它的潜在竞争价值就越大。难以模仿的条件：基于特定历史条件；界限模糊；复杂性。</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英特尔公司的核心能力是持续不断的快速的推出新一代功能更强大的芯片。</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许多竞争对手、客户、分析家认为麦肯锡的文化是其竞争优势的首要来源。</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041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042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042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912813" y="2074863"/>
            <a:ext cx="10269538" cy="3108325"/>
          </a:xfrm>
          <a:prstGeom prst="rect">
            <a:avLst/>
          </a:prstGeom>
          <a:solidFill>
            <a:srgbClr val="57CAF4"/>
          </a:solidFill>
          <a:ln>
            <a:noFill/>
          </a:ln>
        </p:spPr>
        <p:txBody>
          <a:bodyPr>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难以替代性</a:t>
            </a: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指不具有战略对等资源的能力</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一种能力越难被替代，它能产生的战略价值就越高。竞争对手就越难模仿它的战略以产生价值。</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企业的专有知识以及建立在经理和员工间信任基础上的工作关系就是很难被了解、也很难被替代的能力。</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46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246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247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06425" y="1268413"/>
            <a:ext cx="10672763" cy="2244725"/>
          </a:xfrm>
          <a:prstGeom prst="rect">
            <a:avLst/>
          </a:prstGeom>
          <a:solidFill>
            <a:srgbClr val="57CAF4"/>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b="1" dirty="0">
                <a:solidFill>
                  <a:schemeClr val="bg1"/>
                </a:solidFill>
                <a:latin typeface="微软雅黑" panose="020B0503020204020204" pitchFamily="34" charset="-122"/>
                <a:ea typeface="微软雅黑" panose="020B0503020204020204" pitchFamily="34" charset="-122"/>
              </a:rPr>
              <a:t>延展性</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核心能力可使企业拥有进入相关市场的潜力，衍生出一系列新的产品和服务</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宝洁公司在产品开发和营销方面的核心能力；</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佳能公司在图像显示技术方面的核心能力。</a:t>
            </a:r>
            <a:endParaRPr lang="zh-CN" altLang="en-US" sz="2800" dirty="0">
              <a:solidFill>
                <a:srgbClr val="1570C1"/>
              </a:solidFill>
              <a:latin typeface="微软雅黑" panose="020B0503020204020204" pitchFamily="34" charset="-122"/>
              <a:ea typeface="微软雅黑" panose="020B0503020204020204" pitchFamily="34" charset="-122"/>
            </a:endParaRPr>
          </a:p>
        </p:txBody>
      </p:sp>
      <p:sp>
        <p:nvSpPr>
          <p:cNvPr id="4" name="矩形 3"/>
          <p:cNvSpPr/>
          <p:nvPr/>
        </p:nvSpPr>
        <p:spPr>
          <a:xfrm>
            <a:off x="606425" y="3833813"/>
            <a:ext cx="10672763" cy="1814513"/>
          </a:xfrm>
          <a:prstGeom prst="rect">
            <a:avLst/>
          </a:prstGeom>
          <a:solidFill>
            <a:srgbClr val="57CAF4"/>
          </a:solidFill>
          <a:ln w="9525">
            <a:noFill/>
          </a:ln>
        </p:spPr>
        <p:txBody>
          <a:bodyPr anchor="t">
            <a:spAutoFit/>
          </a:bodyPr>
          <a:p>
            <a:pPr lvl="1" indent="-457200" algn="l" eaLnBrk="0" fontAlgn="base" hangingPunct="0">
              <a:lnSpc>
                <a:spcPct val="100000"/>
              </a:lnSpc>
              <a:buClrTx/>
              <a:buSzTx/>
              <a:buFont typeface="Wingdings" panose="05000000000000000000" pitchFamily="2" charset="2"/>
              <a:buChar char="Ø"/>
            </a:pPr>
            <a:r>
              <a:rPr lang="zh-CN" altLang="en-US" sz="2800" b="1" strike="noStrike" noProof="1" dirty="0">
                <a:solidFill>
                  <a:schemeClr val="bg1"/>
                </a:solidFill>
                <a:latin typeface="微软雅黑" panose="020B0503020204020204" pitchFamily="34" charset="-122"/>
                <a:ea typeface="微软雅黑" panose="020B0503020204020204" pitchFamily="34" charset="-122"/>
                <a:cs typeface="+mn-cs"/>
                <a:sym typeface="+mn-ea"/>
              </a:rPr>
              <a:t>持久性——核心竞争力给企业带来持续竞争优势</a:t>
            </a:r>
            <a:endParaRPr lang="zh-CN" altLang="en-US" sz="2800" b="1" strike="noStrike" noProof="1" dirty="0">
              <a:solidFill>
                <a:schemeClr val="bg1"/>
              </a:solidFill>
              <a:latin typeface="微软雅黑" panose="020B0503020204020204" pitchFamily="34" charset="-122"/>
              <a:ea typeface="微软雅黑" panose="020B0503020204020204" pitchFamily="34" charset="-122"/>
            </a:endParaRPr>
          </a:p>
          <a:p>
            <a:pPr marL="914400" lvl="1" indent="-457200" algn="l" eaLnBrk="0" fontAlgn="base" hangingPunct="0">
              <a:lnSpc>
                <a:spcPct val="150000"/>
              </a:lnSpc>
              <a:buClrTx/>
              <a:buSzTx/>
              <a:buFont typeface="Arial" panose="020B0604020202020204" pitchFamily="34" charset="0"/>
              <a:buChar char="•"/>
            </a:pPr>
            <a:r>
              <a:rPr lang="zh-CN" altLang="en-US" sz="2800" strike="noStrike" noProof="1" dirty="0">
                <a:solidFill>
                  <a:srgbClr val="1570C1"/>
                </a:solidFill>
                <a:latin typeface="微软雅黑" panose="020B0503020204020204" pitchFamily="34" charset="-122"/>
                <a:ea typeface="微软雅黑" panose="020B0503020204020204" pitchFamily="34" charset="-122"/>
                <a:cs typeface="+mn-cs"/>
                <a:sym typeface="+mn-ea"/>
              </a:rPr>
              <a:t>企业核心竞争能力的形成必然是企业整体优化的结果，必然在企业拥有的全部资源中持续发挥作用。</a:t>
            </a:r>
            <a:endParaRPr lang="zh-CN" altLang="en-US" sz="2800" strike="noStrike" noProof="1"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4513" name="图片 1"/>
          <p:cNvPicPr>
            <a:picLocks noChangeAspect="1"/>
          </p:cNvPicPr>
          <p:nvPr/>
        </p:nvPicPr>
        <p:blipFill>
          <a:blip r:embed="rId1"/>
          <a:stretch>
            <a:fillRect/>
          </a:stretch>
        </p:blipFill>
        <p:spPr>
          <a:xfrm>
            <a:off x="1242060" y="76835"/>
            <a:ext cx="9707245" cy="666686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656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656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656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66568" name="矩形 3"/>
          <p:cNvSpPr/>
          <p:nvPr/>
        </p:nvSpPr>
        <p:spPr>
          <a:xfrm>
            <a:off x="849313" y="1633538"/>
            <a:ext cx="2936875" cy="831850"/>
          </a:xfrm>
          <a:prstGeom prst="rect">
            <a:avLst/>
          </a:prstGeom>
          <a:solidFill>
            <a:srgbClr val="1570C1"/>
          </a:solidFill>
          <a:ln w="9525">
            <a:noFill/>
          </a:ln>
        </p:spPr>
        <p:txBody>
          <a:bodyPr anchor="ctr" anchorCtr="0">
            <a:spAutoFit/>
          </a:bodyPr>
          <a:p>
            <a:pPr algn="ctr" eaLnBrk="0" hangingPunct="0"/>
            <a:r>
              <a:rPr lang="zh-CN" altLang="en-US" sz="2400" b="1" dirty="0">
                <a:solidFill>
                  <a:schemeClr val="bg1"/>
                </a:solidFill>
                <a:latin typeface="微软雅黑" panose="020B0503020204020204" pitchFamily="34" charset="-122"/>
                <a:ea typeface="微软雅黑" panose="020B0503020204020204" pitchFamily="34" charset="-122"/>
              </a:rPr>
              <a:t>资源</a:t>
            </a:r>
            <a:endParaRPr lang="en-US" altLang="zh-CN" sz="24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企业生产过程的投入</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6569" name="矩形 39"/>
          <p:cNvSpPr/>
          <p:nvPr/>
        </p:nvSpPr>
        <p:spPr>
          <a:xfrm>
            <a:off x="7653338" y="1633538"/>
            <a:ext cx="3319462" cy="831850"/>
          </a:xfrm>
          <a:prstGeom prst="rect">
            <a:avLst/>
          </a:prstGeom>
          <a:solidFill>
            <a:srgbClr val="1570C1"/>
          </a:solidFill>
          <a:ln w="9525">
            <a:noFill/>
          </a:ln>
        </p:spPr>
        <p:txBody>
          <a:bodyPr anchor="ctr" anchorCtr="0">
            <a:spAutoFit/>
          </a:bodyPr>
          <a:p>
            <a:pPr algn="ctr" eaLnBrk="0" hangingPunct="0"/>
            <a:r>
              <a:rPr lang="zh-CN" altLang="en-US" sz="2400" b="1" dirty="0">
                <a:solidFill>
                  <a:schemeClr val="bg1"/>
                </a:solidFill>
                <a:latin typeface="微软雅黑" panose="020B0503020204020204" pitchFamily="34" charset="-122"/>
                <a:ea typeface="微软雅黑" panose="020B0503020204020204" pitchFamily="34" charset="-122"/>
              </a:rPr>
              <a:t>核心竞争力</a:t>
            </a:r>
            <a:endParaRPr lang="en-US" altLang="zh-CN" sz="24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一种战略能力</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6570" name="矩形 40"/>
          <p:cNvSpPr/>
          <p:nvPr/>
        </p:nvSpPr>
        <p:spPr>
          <a:xfrm>
            <a:off x="7653338" y="4967288"/>
            <a:ext cx="3319462" cy="831850"/>
          </a:xfrm>
          <a:prstGeom prst="rect">
            <a:avLst/>
          </a:prstGeom>
          <a:solidFill>
            <a:srgbClr val="1570C1"/>
          </a:solidFill>
          <a:ln w="9525">
            <a:noFill/>
          </a:ln>
        </p:spPr>
        <p:txBody>
          <a:bodyPr anchor="ctr" anchorCtr="0">
            <a:spAutoFit/>
          </a:bodyPr>
          <a:p>
            <a:pPr algn="ctr" eaLnBrk="0" hangingPunct="0"/>
            <a:r>
              <a:rPr lang="zh-CN" altLang="en-US" sz="2400" b="1" dirty="0">
                <a:solidFill>
                  <a:schemeClr val="bg1"/>
                </a:solidFill>
                <a:latin typeface="微软雅黑" panose="020B0503020204020204" pitchFamily="34" charset="-122"/>
                <a:ea typeface="微软雅黑" panose="020B0503020204020204" pitchFamily="34" charset="-122"/>
              </a:rPr>
              <a:t>能力</a:t>
            </a:r>
            <a:endParaRPr lang="zh-CN" altLang="en-US" sz="24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一组非战略资源的整合</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6571" name="矩形 42"/>
          <p:cNvSpPr/>
          <p:nvPr/>
        </p:nvSpPr>
        <p:spPr>
          <a:xfrm>
            <a:off x="3786188" y="3389313"/>
            <a:ext cx="2497137" cy="831850"/>
          </a:xfrm>
          <a:prstGeom prst="rect">
            <a:avLst/>
          </a:prstGeom>
          <a:solidFill>
            <a:srgbClr val="1570C1"/>
          </a:solidFill>
          <a:ln w="9525">
            <a:noFill/>
          </a:ln>
        </p:spPr>
        <p:txBody>
          <a:bodyPr anchor="ctr" anchorCtr="0">
            <a:spAutoFit/>
          </a:bodyPr>
          <a:p>
            <a:pPr algn="ctr" eaLnBrk="0" hangingPunct="0"/>
            <a:r>
              <a:rPr lang="zh-CN" altLang="en-US" sz="2400" b="1" dirty="0">
                <a:solidFill>
                  <a:schemeClr val="bg1"/>
                </a:solidFill>
                <a:latin typeface="微软雅黑" panose="020B0503020204020204" pitchFamily="34" charset="-122"/>
                <a:ea typeface="微软雅黑" panose="020B0503020204020204" pitchFamily="34" charset="-122"/>
              </a:rPr>
              <a:t>能力</a:t>
            </a:r>
            <a:endParaRPr lang="zh-CN" altLang="en-US" sz="2400"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一组资源的整合</a:t>
            </a:r>
            <a:endParaRPr lang="zh-CN" altLang="en-US" sz="2400" dirty="0">
              <a:solidFill>
                <a:schemeClr val="bg1"/>
              </a:solidFill>
              <a:latin typeface="微软雅黑" panose="020B0503020204020204" pitchFamily="34" charset="-122"/>
              <a:ea typeface="微软雅黑" panose="020B0503020204020204" pitchFamily="34" charset="-122"/>
            </a:endParaRPr>
          </a:p>
        </p:txBody>
      </p:sp>
      <p:cxnSp>
        <p:nvCxnSpPr>
          <p:cNvPr id="6" name="肘形连接符 5"/>
          <p:cNvCxnSpPr>
            <a:stCxn id="66568" idx="2"/>
            <a:endCxn id="66571" idx="1"/>
          </p:cNvCxnSpPr>
          <p:nvPr/>
        </p:nvCxnSpPr>
        <p:spPr>
          <a:xfrm rot="16200000" flipH="1">
            <a:off x="2382044" y="2401094"/>
            <a:ext cx="1339850" cy="146843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573" name="Text Box 12"/>
          <p:cNvSpPr txBox="1"/>
          <p:nvPr/>
        </p:nvSpPr>
        <p:spPr>
          <a:xfrm>
            <a:off x="9561513" y="2971800"/>
            <a:ext cx="665162" cy="400050"/>
          </a:xfrm>
          <a:prstGeom prst="rect">
            <a:avLst/>
          </a:prstGeom>
          <a:solidFill>
            <a:srgbClr val="57CAF4"/>
          </a:solidFill>
          <a:ln w="9525">
            <a:noFill/>
          </a:ln>
        </p:spPr>
        <p:txBody>
          <a:bodyPr anchor="t" anchorCtr="0">
            <a:spAutoFit/>
          </a:bodyPr>
          <a:p>
            <a:pPr algn="ctr" eaLnBrk="0" hangingPunct="0"/>
            <a:r>
              <a:rPr lang="en-US" altLang="zh-CN" sz="2000" b="1" dirty="0">
                <a:solidFill>
                  <a:schemeClr val="bg1"/>
                </a:solidFill>
                <a:latin typeface="微软雅黑" panose="020B0503020204020204" pitchFamily="34" charset="-122"/>
                <a:ea typeface="微软雅黑" panose="020B0503020204020204" pitchFamily="34" charset="-122"/>
              </a:rPr>
              <a:t>YES</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6574" name="矩形 6"/>
          <p:cNvSpPr/>
          <p:nvPr/>
        </p:nvSpPr>
        <p:spPr>
          <a:xfrm>
            <a:off x="6530975" y="3267075"/>
            <a:ext cx="2281238" cy="398463"/>
          </a:xfrm>
          <a:prstGeom prst="rect">
            <a:avLst/>
          </a:prstGeom>
          <a:solidFill>
            <a:srgbClr val="57CAF4"/>
          </a:solid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是否满足识别标准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cxnSp>
        <p:nvCxnSpPr>
          <p:cNvPr id="10" name="肘形连接符 9"/>
          <p:cNvCxnSpPr>
            <a:stCxn id="66571" idx="3"/>
            <a:endCxn id="66569" idx="2"/>
          </p:cNvCxnSpPr>
          <p:nvPr/>
        </p:nvCxnSpPr>
        <p:spPr>
          <a:xfrm flipV="1">
            <a:off x="6283325" y="2465388"/>
            <a:ext cx="3028950" cy="133985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45"/>
          <p:cNvCxnSpPr>
            <a:stCxn id="66571" idx="3"/>
            <a:endCxn id="66570" idx="0"/>
          </p:cNvCxnSpPr>
          <p:nvPr/>
        </p:nvCxnSpPr>
        <p:spPr>
          <a:xfrm>
            <a:off x="6283325" y="3805238"/>
            <a:ext cx="3028950" cy="116205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577" name="Text Box 12"/>
          <p:cNvSpPr txBox="1"/>
          <p:nvPr/>
        </p:nvSpPr>
        <p:spPr>
          <a:xfrm>
            <a:off x="2690813" y="3263900"/>
            <a:ext cx="720725" cy="400050"/>
          </a:xfrm>
          <a:prstGeom prst="rect">
            <a:avLst/>
          </a:prstGeom>
          <a:solidFill>
            <a:srgbClr val="57CAF4"/>
          </a:solid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来源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6578" name="Text Box 12"/>
          <p:cNvSpPr txBox="1"/>
          <p:nvPr/>
        </p:nvSpPr>
        <p:spPr>
          <a:xfrm>
            <a:off x="9561513" y="4221163"/>
            <a:ext cx="665162" cy="400050"/>
          </a:xfrm>
          <a:prstGeom prst="rect">
            <a:avLst/>
          </a:prstGeom>
          <a:solidFill>
            <a:srgbClr val="57CAF4"/>
          </a:solidFill>
          <a:ln w="9525">
            <a:noFill/>
          </a:ln>
        </p:spPr>
        <p:txBody>
          <a:bodyPr anchor="t" anchorCtr="0">
            <a:spAutoFit/>
          </a:bodyPr>
          <a:p>
            <a:pPr algn="ctr" eaLnBrk="0" hangingPunct="0"/>
            <a:r>
              <a:rPr lang="en-US" altLang="zh-CN" sz="2000" b="1" dirty="0">
                <a:solidFill>
                  <a:schemeClr val="bg1"/>
                </a:solidFill>
                <a:latin typeface="微软雅黑" panose="020B0503020204020204" pitchFamily="34" charset="-122"/>
                <a:ea typeface="微软雅黑" panose="020B0503020204020204" pitchFamily="34" charset="-122"/>
              </a:rPr>
              <a:t>NO</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860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861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861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68616" name="椭圆 2"/>
          <p:cNvSpPr/>
          <p:nvPr/>
        </p:nvSpPr>
        <p:spPr>
          <a:xfrm>
            <a:off x="3900488" y="3087688"/>
            <a:ext cx="1166812" cy="1165225"/>
          </a:xfrm>
          <a:prstGeom prst="ellipse">
            <a:avLst/>
          </a:prstGeom>
          <a:solidFill>
            <a:srgbClr val="1570C1"/>
          </a:solidFill>
          <a:ln w="9525">
            <a:noFill/>
          </a:ln>
        </p:spPr>
        <p:txBody>
          <a:bodyPr anchor="ctr" anchorCtr="0">
            <a:spAutoFit/>
          </a:bodyPr>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核心产品</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8617" name="椭圆 38"/>
          <p:cNvSpPr/>
          <p:nvPr/>
        </p:nvSpPr>
        <p:spPr>
          <a:xfrm>
            <a:off x="2470150" y="1436688"/>
            <a:ext cx="1165225" cy="1168400"/>
          </a:xfrm>
          <a:prstGeom prst="ellipse">
            <a:avLst/>
          </a:prstGeom>
          <a:solidFill>
            <a:srgbClr val="57CAF4"/>
          </a:solidFill>
          <a:ln w="9525">
            <a:noFill/>
          </a:ln>
        </p:spPr>
        <p:txBody>
          <a:bodyPr anchor="ctr" anchorCtr="0">
            <a:spAutoFit/>
          </a:bodyPr>
          <a:p>
            <a:pPr algn="ctr" eaLnBrk="0" hangingPunct="0"/>
            <a:r>
              <a:rPr lang="zh-CN" altLang="en-US" sz="2400" dirty="0">
                <a:solidFill>
                  <a:srgbClr val="1570C1"/>
                </a:solidFill>
                <a:latin typeface="微软雅黑" panose="020B0503020204020204" pitchFamily="34" charset="-122"/>
                <a:ea typeface="微软雅黑" panose="020B0503020204020204" pitchFamily="34" charset="-122"/>
              </a:rPr>
              <a:t>最终产品</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68618" name="椭圆 41"/>
          <p:cNvSpPr/>
          <p:nvPr/>
        </p:nvSpPr>
        <p:spPr>
          <a:xfrm>
            <a:off x="8601075" y="4727575"/>
            <a:ext cx="1165225" cy="1168400"/>
          </a:xfrm>
          <a:prstGeom prst="ellipse">
            <a:avLst/>
          </a:prstGeom>
          <a:solidFill>
            <a:srgbClr val="57CAF4"/>
          </a:solidFill>
          <a:ln w="9525">
            <a:noFill/>
          </a:ln>
        </p:spPr>
        <p:txBody>
          <a:bodyPr anchor="ctr" anchorCtr="0">
            <a:spAutoFit/>
          </a:bodyPr>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核心能力</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8619" name="椭圆 43"/>
          <p:cNvSpPr/>
          <p:nvPr/>
        </p:nvSpPr>
        <p:spPr>
          <a:xfrm>
            <a:off x="4513263" y="1444625"/>
            <a:ext cx="1166812" cy="1168400"/>
          </a:xfrm>
          <a:prstGeom prst="ellipse">
            <a:avLst/>
          </a:prstGeom>
          <a:solidFill>
            <a:srgbClr val="57CAF4"/>
          </a:solidFill>
          <a:ln w="9525">
            <a:noFill/>
          </a:ln>
        </p:spPr>
        <p:txBody>
          <a:bodyPr anchor="ctr" anchorCtr="0">
            <a:spAutoFit/>
          </a:bodyPr>
          <a:p>
            <a:pPr algn="ctr" eaLnBrk="0" hangingPunct="0"/>
            <a:r>
              <a:rPr lang="zh-CN" altLang="en-US" sz="2400" dirty="0">
                <a:solidFill>
                  <a:srgbClr val="1570C1"/>
                </a:solidFill>
                <a:latin typeface="微软雅黑" panose="020B0503020204020204" pitchFamily="34" charset="-122"/>
                <a:ea typeface="微软雅黑" panose="020B0503020204020204" pitchFamily="34" charset="-122"/>
              </a:rPr>
              <a:t>最终产品</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68620" name="椭圆 46"/>
          <p:cNvSpPr/>
          <p:nvPr/>
        </p:nvSpPr>
        <p:spPr>
          <a:xfrm>
            <a:off x="6557963" y="1436688"/>
            <a:ext cx="1165225" cy="1168400"/>
          </a:xfrm>
          <a:prstGeom prst="ellipse">
            <a:avLst/>
          </a:prstGeom>
          <a:solidFill>
            <a:srgbClr val="57CAF4"/>
          </a:solidFill>
          <a:ln w="9525">
            <a:noFill/>
          </a:ln>
        </p:spPr>
        <p:txBody>
          <a:bodyPr anchor="ctr" anchorCtr="0">
            <a:spAutoFit/>
          </a:bodyPr>
          <a:p>
            <a:pPr algn="ctr" eaLnBrk="0" hangingPunct="0"/>
            <a:r>
              <a:rPr lang="zh-CN" altLang="en-US" sz="2400" dirty="0">
                <a:solidFill>
                  <a:srgbClr val="1570C1"/>
                </a:solidFill>
                <a:latin typeface="微软雅黑" panose="020B0503020204020204" pitchFamily="34" charset="-122"/>
                <a:ea typeface="微软雅黑" panose="020B0503020204020204" pitchFamily="34" charset="-122"/>
              </a:rPr>
              <a:t>最终产品</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68621" name="椭圆 47"/>
          <p:cNvSpPr/>
          <p:nvPr/>
        </p:nvSpPr>
        <p:spPr>
          <a:xfrm>
            <a:off x="8601075" y="1444625"/>
            <a:ext cx="1165225" cy="1168400"/>
          </a:xfrm>
          <a:prstGeom prst="ellipse">
            <a:avLst/>
          </a:prstGeom>
          <a:solidFill>
            <a:srgbClr val="57CAF4"/>
          </a:solidFill>
          <a:ln w="9525">
            <a:noFill/>
          </a:ln>
        </p:spPr>
        <p:txBody>
          <a:bodyPr anchor="ctr" anchorCtr="0">
            <a:spAutoFit/>
          </a:bodyPr>
          <a:p>
            <a:pPr algn="ctr" eaLnBrk="0" hangingPunct="0"/>
            <a:r>
              <a:rPr lang="zh-CN" altLang="en-US" sz="2400" dirty="0">
                <a:solidFill>
                  <a:srgbClr val="1570C1"/>
                </a:solidFill>
                <a:latin typeface="微软雅黑" panose="020B0503020204020204" pitchFamily="34" charset="-122"/>
                <a:ea typeface="微软雅黑" panose="020B0503020204020204" pitchFamily="34" charset="-122"/>
              </a:rPr>
              <a:t>最终产品</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68622" name="椭圆 48"/>
          <p:cNvSpPr/>
          <p:nvPr/>
        </p:nvSpPr>
        <p:spPr>
          <a:xfrm>
            <a:off x="7283450" y="3082925"/>
            <a:ext cx="1165225" cy="1166813"/>
          </a:xfrm>
          <a:prstGeom prst="ellipse">
            <a:avLst/>
          </a:prstGeom>
          <a:solidFill>
            <a:srgbClr val="1570C1"/>
          </a:solidFill>
          <a:ln w="9525">
            <a:noFill/>
          </a:ln>
        </p:spPr>
        <p:txBody>
          <a:bodyPr anchor="ctr" anchorCtr="0">
            <a:spAutoFit/>
          </a:bodyPr>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核心产品</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8623" name="椭圆 49"/>
          <p:cNvSpPr/>
          <p:nvPr/>
        </p:nvSpPr>
        <p:spPr>
          <a:xfrm>
            <a:off x="5562600" y="4727575"/>
            <a:ext cx="1165225" cy="1168400"/>
          </a:xfrm>
          <a:prstGeom prst="ellipse">
            <a:avLst/>
          </a:prstGeom>
          <a:solidFill>
            <a:srgbClr val="57CAF4"/>
          </a:solidFill>
          <a:ln w="9525">
            <a:noFill/>
          </a:ln>
        </p:spPr>
        <p:txBody>
          <a:bodyPr anchor="ctr" anchorCtr="0">
            <a:spAutoFit/>
          </a:bodyPr>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核心能力</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8624" name="椭圆 50"/>
          <p:cNvSpPr/>
          <p:nvPr/>
        </p:nvSpPr>
        <p:spPr>
          <a:xfrm>
            <a:off x="2470150" y="4727575"/>
            <a:ext cx="1165225" cy="1168400"/>
          </a:xfrm>
          <a:prstGeom prst="ellipse">
            <a:avLst/>
          </a:prstGeom>
          <a:solidFill>
            <a:srgbClr val="57CAF4"/>
          </a:solidFill>
          <a:ln w="9525">
            <a:noFill/>
          </a:ln>
        </p:spPr>
        <p:txBody>
          <a:bodyPr anchor="ctr" anchorCtr="0">
            <a:spAutoFit/>
          </a:bodyPr>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核心能力</a:t>
            </a:r>
            <a:endParaRPr lang="zh-CN" altLang="en-US" sz="2400" dirty="0">
              <a:solidFill>
                <a:schemeClr val="bg1"/>
              </a:solidFill>
              <a:latin typeface="微软雅黑" panose="020B0503020204020204" pitchFamily="34" charset="-122"/>
              <a:ea typeface="微软雅黑" panose="020B0503020204020204" pitchFamily="34" charset="-122"/>
            </a:endParaRPr>
          </a:p>
        </p:txBody>
      </p:sp>
      <p:cxnSp>
        <p:nvCxnSpPr>
          <p:cNvPr id="9" name="直接箭头连接符 8"/>
          <p:cNvCxnSpPr>
            <a:stCxn id="68624" idx="7"/>
            <a:endCxn id="68616" idx="3"/>
          </p:cNvCxnSpPr>
          <p:nvPr/>
        </p:nvCxnSpPr>
        <p:spPr>
          <a:xfrm flipV="1">
            <a:off x="3465513" y="4083050"/>
            <a:ext cx="606425" cy="8159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8623" idx="1"/>
            <a:endCxn id="68616" idx="5"/>
          </p:cNvCxnSpPr>
          <p:nvPr/>
        </p:nvCxnSpPr>
        <p:spPr>
          <a:xfrm flipH="1" flipV="1">
            <a:off x="4895850" y="4083050"/>
            <a:ext cx="836613" cy="8159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68616" idx="1"/>
            <a:endCxn id="68617" idx="5"/>
          </p:cNvCxnSpPr>
          <p:nvPr/>
        </p:nvCxnSpPr>
        <p:spPr>
          <a:xfrm flipH="1" flipV="1">
            <a:off x="3465513" y="2433638"/>
            <a:ext cx="606425" cy="825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68616" idx="7"/>
            <a:endCxn id="68619" idx="4"/>
          </p:cNvCxnSpPr>
          <p:nvPr/>
        </p:nvCxnSpPr>
        <p:spPr>
          <a:xfrm flipV="1">
            <a:off x="4895850" y="2613025"/>
            <a:ext cx="201613" cy="6461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68623" idx="7"/>
            <a:endCxn id="68622" idx="3"/>
          </p:cNvCxnSpPr>
          <p:nvPr/>
        </p:nvCxnSpPr>
        <p:spPr>
          <a:xfrm flipV="1">
            <a:off x="6557963" y="4078288"/>
            <a:ext cx="895350" cy="8207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68618" idx="1"/>
            <a:endCxn id="68622" idx="5"/>
          </p:cNvCxnSpPr>
          <p:nvPr/>
        </p:nvCxnSpPr>
        <p:spPr>
          <a:xfrm flipH="1" flipV="1">
            <a:off x="8278813" y="4078288"/>
            <a:ext cx="493713" cy="8207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68622" idx="1"/>
            <a:endCxn id="68620" idx="4"/>
          </p:cNvCxnSpPr>
          <p:nvPr/>
        </p:nvCxnSpPr>
        <p:spPr>
          <a:xfrm flipH="1" flipV="1">
            <a:off x="7140575" y="2605088"/>
            <a:ext cx="312738" cy="6492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68622" idx="7"/>
            <a:endCxn id="68621" idx="3"/>
          </p:cNvCxnSpPr>
          <p:nvPr/>
        </p:nvCxnSpPr>
        <p:spPr>
          <a:xfrm flipV="1">
            <a:off x="8278813" y="2441575"/>
            <a:ext cx="493713" cy="812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065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066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066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825500" y="1428750"/>
            <a:ext cx="10533063" cy="4400550"/>
          </a:xfrm>
          <a:prstGeom prst="rect">
            <a:avLst/>
          </a:prstGeom>
          <a:solidFill>
            <a:srgbClr val="57CAF4"/>
          </a:solidFill>
          <a:ln>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核心能力的管理</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核心能力应该在企业战略中处于</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核心位置；核心能力管理中有四项基本任务。</a:t>
            </a:r>
            <a:endParaRPr kumimoji="0" lang="en-US" altLang="zh-CN"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选择核心能力的发展方向；</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制定培养的具体步骤；</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展开核心能力；</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保护核心能力。</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270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270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271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44525" y="1752600"/>
            <a:ext cx="10887075" cy="4399915"/>
          </a:xfrm>
          <a:prstGeom prst="rect">
            <a:avLst/>
          </a:prstGeom>
          <a:solidFill>
            <a:srgbClr val="57CAF4"/>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b="1" dirty="0">
                <a:solidFill>
                  <a:schemeClr val="bg1"/>
                </a:solidFill>
                <a:latin typeface="微软雅黑" panose="020B0503020204020204" pitchFamily="34" charset="-122"/>
                <a:ea typeface="微软雅黑" panose="020B0503020204020204" pitchFamily="34" charset="-122"/>
              </a:rPr>
              <a:t>选择核心能力的培养方向</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特别要注意区分哪些可能成为、而哪些不可能成为核心能力。</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例：本田的核心能力</a:t>
            </a:r>
            <a:r>
              <a:rPr lang="en-US" altLang="zh-CN" sz="2800" dirty="0">
                <a:solidFill>
                  <a:srgbClr val="1570C1"/>
                </a:solidFill>
                <a:latin typeface="微软雅黑" panose="020B0503020204020204" pitchFamily="34" charset="-122"/>
                <a:ea typeface="微软雅黑" panose="020B0503020204020204" pitchFamily="34" charset="-122"/>
              </a:rPr>
              <a:t>(强大的研发能力，特别是发动机的研发与生产技术）</a:t>
            </a:r>
            <a:endParaRPr lang="en-US" altLang="zh-CN"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en-US" altLang="zh-CN" sz="2800" dirty="0">
                <a:solidFill>
                  <a:srgbClr val="1570C1"/>
                </a:solidFill>
                <a:latin typeface="微软雅黑" panose="020B0503020204020204" pitchFamily="34" charset="-122"/>
                <a:ea typeface="微软雅黑" panose="020B0503020204020204" pitchFamily="34" charset="-122"/>
              </a:rPr>
              <a:t>PRAHALAD</a:t>
            </a:r>
            <a:r>
              <a:rPr lang="zh-CN" altLang="en-US" sz="2800" dirty="0">
                <a:solidFill>
                  <a:srgbClr val="1570C1"/>
                </a:solidFill>
                <a:latin typeface="微软雅黑" panose="020B0503020204020204" pitchFamily="34" charset="-122"/>
                <a:ea typeface="微软雅黑" panose="020B0503020204020204" pitchFamily="34" charset="-122"/>
              </a:rPr>
              <a:t>等指出，凭借廉价劳动力形成的竞争力不应被看作核心竞争力。</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定义核心能力，应该充分展现出企业的发展机遇。</a:t>
            </a:r>
            <a:endParaRPr lang="zh-CN" altLang="en-US" sz="28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475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475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475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44525" y="1752600"/>
            <a:ext cx="10887075" cy="3752850"/>
          </a:xfrm>
          <a:prstGeom prst="rect">
            <a:avLst/>
          </a:prstGeom>
          <a:solidFill>
            <a:srgbClr val="57CAF4"/>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b="1" dirty="0">
                <a:solidFill>
                  <a:schemeClr val="bg1"/>
                </a:solidFill>
                <a:latin typeface="微软雅黑" panose="020B0503020204020204" pitchFamily="34" charset="-122"/>
                <a:ea typeface="微软雅黑" panose="020B0503020204020204" pitchFamily="34" charset="-122"/>
              </a:rPr>
              <a:t>核心能力的展开</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加速企业内部的技术扩散和挖掘多样化经营的机会。</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为了在多项业务间运用核心能力、在众多新市场上运用核心能力，企业必须在组织内部展开核心能力，即把核心能力从一个部门或业务单位移植到另一个部门或单位。</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企业内部的人才流动与风险组织。</a:t>
            </a:r>
            <a:endParaRPr lang="zh-CN" altLang="en-US" sz="28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680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680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680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核心能力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4354513" y="2398713"/>
            <a:ext cx="3532187" cy="2462212"/>
          </a:xfrm>
          <a:prstGeom prst="rect">
            <a:avLst/>
          </a:prstGeom>
          <a:solidFill>
            <a:srgbClr val="57CAF4"/>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b="1" dirty="0">
                <a:solidFill>
                  <a:schemeClr val="bg1"/>
                </a:solidFill>
                <a:latin typeface="微软雅黑" panose="020B0503020204020204" pitchFamily="34" charset="-122"/>
                <a:ea typeface="微软雅黑" panose="020B0503020204020204" pitchFamily="34" charset="-122"/>
              </a:rPr>
              <a:t>核心能力的保护</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战略性防范</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制度性防范</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竞争性防范</a:t>
            </a:r>
            <a:endParaRPr lang="zh-CN" altLang="en-US" sz="28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884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885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885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2.3  </a:t>
            </a:r>
            <a:r>
              <a:rPr lang="zh-CN" altLang="en-US" sz="3200" dirty="0">
                <a:solidFill>
                  <a:srgbClr val="1570C1"/>
                </a:solidFill>
                <a:latin typeface="微软雅黑" panose="020B0503020204020204" pitchFamily="34" charset="-122"/>
                <a:ea typeface="微软雅黑" panose="020B0503020204020204" pitchFamily="34" charset="-122"/>
              </a:rPr>
              <a:t>动态能力</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849313" y="1673225"/>
            <a:ext cx="10504487" cy="952500"/>
          </a:xfrm>
          <a:prstGeom prst="rect">
            <a:avLst/>
          </a:prstGeom>
          <a:solidFill>
            <a:srgbClr val="1570C1"/>
          </a:solidFill>
          <a:ln w="9525">
            <a:noFill/>
          </a:ln>
        </p:spPr>
        <p:txBody>
          <a:bodyPr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动态能力是企业为了应对竞争对手和顾客需求的不断变化，主要决策者重新配置和整合企业资源的能力</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849313" y="3241675"/>
            <a:ext cx="3816350" cy="2678113"/>
          </a:xfrm>
          <a:prstGeom prst="rect">
            <a:avLst/>
          </a:prstGeom>
          <a:solidFill>
            <a:srgbClr val="57CAF4"/>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动态能力的识别与特征</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开拓性</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开放性</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复杂性</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难以复制性</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
        <p:nvSpPr>
          <p:cNvPr id="4" name="矩形 3"/>
          <p:cNvSpPr/>
          <p:nvPr/>
        </p:nvSpPr>
        <p:spPr>
          <a:xfrm>
            <a:off x="4968875" y="3241675"/>
            <a:ext cx="6384925" cy="2676525"/>
          </a:xfrm>
          <a:prstGeom prst="rect">
            <a:avLst/>
          </a:prstGeom>
          <a:solidFill>
            <a:srgbClr val="1570C1"/>
          </a:solidFill>
          <a:ln w="9525">
            <a:noFill/>
          </a:ln>
        </p:spPr>
        <p:txBody>
          <a:bodyPr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动态能力是通过连续不断的对组织内外部资源的整合、构建、重新配置而形成的，要依赖于组织资源尤其是组织核心资源的支撑而逐渐发展，良好的组织绩效离不开组织的强动态能力、独特资源和好的战略，三者缺一不可。</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1" grpId="0" animBg="1"/>
      <p:bldP spid="4"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36575"/>
            <a:ext cx="1495425"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3</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9429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企业价值链</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14913"/>
            <a:ext cx="48799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3.1  </a:t>
            </a:r>
            <a:r>
              <a:rPr kumimoji="0" 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价值链与价值系统</a:t>
            </a:r>
            <a:endParaRPr kumimoji="0" 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3.2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价值链的基本构成</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3.3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价值链与战略成本管理</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3.4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价值链</a:t>
            </a:r>
            <a:r>
              <a:rPr kumimoji="0" 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与竞争优势</a:t>
            </a:r>
            <a:endParaRPr kumimoji="0" 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192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192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192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3.1  </a:t>
            </a:r>
            <a:r>
              <a:rPr lang="zh-CN" altLang="en-US" sz="3200" dirty="0">
                <a:solidFill>
                  <a:srgbClr val="1570C1"/>
                </a:solidFill>
                <a:latin typeface="微软雅黑" panose="020B0503020204020204" pitchFamily="34" charset="-122"/>
                <a:ea typeface="微软雅黑" panose="020B0503020204020204" pitchFamily="34" charset="-122"/>
              </a:rPr>
              <a:t>价值链与价值系统</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p:nvPr/>
        </p:nvSpPr>
        <p:spPr>
          <a:xfrm>
            <a:off x="627063" y="1428750"/>
            <a:ext cx="10918825" cy="4400550"/>
          </a:xfrm>
          <a:prstGeom prst="rect">
            <a:avLst/>
          </a:prstGeom>
          <a:solidFill>
            <a:srgbClr val="1570C1"/>
          </a:solidFill>
          <a:ln w="9525">
            <a:noFill/>
          </a:ln>
        </p:spPr>
        <p:txBody>
          <a:bodyPr anchor="t" anchorCtr="0">
            <a:spAutoFit/>
          </a:bodyPr>
          <a:p>
            <a:pPr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企业创造价值的过程可以分解为一系列互不相同又互相联系的活动，或者称之为价值增值活动，其总和就构成企业的“价值链”。</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迈克尔</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波特说，“把企业作为一个整体来看待，是无法理解企业的竞争优势的”。</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竞争优势来源于企业在设计、生产、营销、交货等过程和辅助过程中所进行的许多相互分离而又相互衔接的活动。</a:t>
            </a:r>
            <a:endParaRPr lang="en-US" altLang="zh-CN" sz="2800" dirty="0">
              <a:solidFill>
                <a:schemeClr val="bg1"/>
              </a:solidFill>
              <a:latin typeface="微软雅黑" panose="020B0503020204020204" pitchFamily="34" charset="-122"/>
              <a:ea typeface="微软雅黑" panose="020B0503020204020204" pitchFamily="34" charset="-122"/>
            </a:endParaRPr>
          </a:p>
          <a:p>
            <a:pPr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800" dirty="0">
                <a:solidFill>
                  <a:schemeClr val="bg1"/>
                </a:solidFill>
                <a:latin typeface="微软雅黑" panose="020B0503020204020204" pitchFamily="34" charset="-122"/>
                <a:ea typeface="微软雅黑" panose="020B0503020204020204" pitchFamily="34" charset="-122"/>
              </a:rPr>
              <a:t>      战略的基本单位是“活动”。</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396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397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 name="组合 2"/>
          <p:cNvGrpSpPr/>
          <p:nvPr/>
        </p:nvGrpSpPr>
        <p:grpSpPr>
          <a:xfrm>
            <a:off x="1116013" y="2549525"/>
            <a:ext cx="3240087" cy="2160588"/>
            <a:chOff x="1115418" y="2549525"/>
            <a:chExt cx="3240087" cy="2160588"/>
          </a:xfrm>
        </p:grpSpPr>
        <p:sp>
          <p:nvSpPr>
            <p:cNvPr id="14" name="矩形 13"/>
            <p:cNvSpPr/>
            <p:nvPr/>
          </p:nvSpPr>
          <p:spPr>
            <a:xfrm>
              <a:off x="1115418" y="2549525"/>
              <a:ext cx="3240087" cy="501650"/>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价值链</a:t>
              </a:r>
              <a:endParaRPr kumimoji="0" lang="zh-CN" altLang="en-US" sz="24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1115418" y="3051175"/>
              <a:ext cx="3240087" cy="1658938"/>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按照创造价值的关系所形成的企业活动整体</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 name="组合 3"/>
          <p:cNvGrpSpPr/>
          <p:nvPr/>
        </p:nvGrpSpPr>
        <p:grpSpPr>
          <a:xfrm>
            <a:off x="4467225" y="2549525"/>
            <a:ext cx="3240088" cy="2160588"/>
            <a:chOff x="4466630" y="2549525"/>
            <a:chExt cx="3240088" cy="2160588"/>
          </a:xfrm>
        </p:grpSpPr>
        <p:sp>
          <p:nvSpPr>
            <p:cNvPr id="18" name="矩形 17"/>
            <p:cNvSpPr/>
            <p:nvPr/>
          </p:nvSpPr>
          <p:spPr>
            <a:xfrm>
              <a:off x="4466630" y="2549525"/>
              <a:ext cx="3240088" cy="501650"/>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价值活动</a:t>
              </a:r>
              <a:endParaRPr kumimoji="0" lang="zh-CN" altLang="en-US" sz="24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4466630" y="3051175"/>
              <a:ext cx="3240088" cy="1658938"/>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创造价值的基本工作</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价值活动可以分为两类：直接活动和辅助活动</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5" name="组合 4"/>
          <p:cNvGrpSpPr/>
          <p:nvPr/>
        </p:nvGrpSpPr>
        <p:grpSpPr>
          <a:xfrm>
            <a:off x="7820025" y="2549525"/>
            <a:ext cx="3240088" cy="2160588"/>
            <a:chOff x="7819430" y="2549525"/>
            <a:chExt cx="3240088" cy="2160588"/>
          </a:xfrm>
        </p:grpSpPr>
        <p:sp>
          <p:nvSpPr>
            <p:cNvPr id="20" name="矩形 19"/>
            <p:cNvSpPr/>
            <p:nvPr/>
          </p:nvSpPr>
          <p:spPr>
            <a:xfrm>
              <a:off x="7819430" y="2549525"/>
              <a:ext cx="3240088" cy="501650"/>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价值系统</a:t>
              </a:r>
              <a:endParaRPr kumimoji="0" lang="zh-CN" altLang="en-US" sz="24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1" name="矩形 20"/>
            <p:cNvSpPr/>
            <p:nvPr/>
          </p:nvSpPr>
          <p:spPr>
            <a:xfrm>
              <a:off x="7819430" y="3051175"/>
              <a:ext cx="3240088" cy="1658938"/>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前后相连的价值链所形成的价值链系统</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83984"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3.1  </a:t>
            </a:r>
            <a:r>
              <a:rPr lang="zh-CN" altLang="en-US" sz="3200" dirty="0">
                <a:solidFill>
                  <a:srgbClr val="1570C1"/>
                </a:solidFill>
                <a:latin typeface="微软雅黑" panose="020B0503020204020204" pitchFamily="34" charset="-122"/>
                <a:ea typeface="微软雅黑" panose="020B0503020204020204" pitchFamily="34" charset="-122"/>
              </a:rPr>
              <a:t>价值链与价值系统</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1611313" y="2025650"/>
            <a:ext cx="8732837" cy="4114800"/>
          </a:xfrm>
          <a:prstGeom prst="rect">
            <a:avLst/>
          </a:prstGeom>
          <a:noFill/>
          <a:ln w="9525">
            <a:noFill/>
          </a:ln>
        </p:spPr>
      </p:pic>
      <p:pic>
        <p:nvPicPr>
          <p:cNvPr id="86018" name="图片 1"/>
          <p:cNvPicPr>
            <a:picLocks noChangeAspect="1"/>
          </p:cNvPicPr>
          <p:nvPr/>
        </p:nvPicPr>
        <p:blipFill>
          <a:blip r:embed="rId2"/>
          <a:srcRect t="40053" b="38426"/>
          <a:stretch>
            <a:fillRect/>
          </a:stretch>
        </p:blipFill>
        <p:spPr>
          <a:xfrm>
            <a:off x="7604125" y="5640388"/>
            <a:ext cx="4587875" cy="989012"/>
          </a:xfrm>
          <a:prstGeom prst="rect">
            <a:avLst/>
          </a:prstGeom>
          <a:noFill/>
          <a:ln w="9525">
            <a:noFill/>
          </a:ln>
        </p:spPr>
      </p:pic>
      <p:sp>
        <p:nvSpPr>
          <p:cNvPr id="86019" name="矩形 6"/>
          <p:cNvSpPr/>
          <p:nvPr/>
        </p:nvSpPr>
        <p:spPr>
          <a:xfrm>
            <a:off x="1266825" y="193675"/>
            <a:ext cx="9990138" cy="1641475"/>
          </a:xfrm>
          <a:prstGeom prst="rect">
            <a:avLst/>
          </a:prstGeom>
          <a:noFill/>
          <a:ln w="9525">
            <a:noFill/>
          </a:ln>
        </p:spPr>
        <p:txBody>
          <a:bodyPr wrap="square" anchor="t" anchorCtr="0">
            <a:spAutoFit/>
          </a:bodyPr>
          <a:p>
            <a:pPr algn="just">
              <a:lnSpc>
                <a:spcPct val="140000"/>
              </a:lnSpc>
            </a:pPr>
            <a:r>
              <a:rPr lang="en-US" altLang="zh-CN" sz="2400" b="1" dirty="0">
                <a:latin typeface="Calibri" panose="020F0502020204030204" pitchFamily="34" charset="0"/>
                <a:ea typeface="宋体" panose="02010600030101010101" pitchFamily="2" charset="-122"/>
              </a:rPr>
              <a:t>         </a:t>
            </a:r>
            <a:r>
              <a:rPr lang="zh-CN" altLang="zh-CN" sz="2400" b="1" dirty="0">
                <a:latin typeface="Calibri" panose="020F0502020204030204" pitchFamily="34" charset="0"/>
                <a:ea typeface="宋体" panose="02010600030101010101" pitchFamily="2" charset="-122"/>
              </a:rPr>
              <a:t>价值链分析工具是迈克尔·波特开发的、用于确认具有潜在价值创造作用的商业活动的战略分析工具。迈克尔·波特将企业价值创造活动分为两类，分别是基本活动和支持活动。</a:t>
            </a:r>
            <a:endParaRPr lang="zh-CN" altLang="zh-CN" sz="2400" b="1" dirty="0">
              <a:latin typeface="Calibri" panose="020F0502020204030204" pitchFamily="34"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矩形 48"/>
          <p:cNvSpPr/>
          <p:nvPr/>
        </p:nvSpPr>
        <p:spPr>
          <a:xfrm>
            <a:off x="622300" y="1017588"/>
            <a:ext cx="1874838" cy="612775"/>
          </a:xfrm>
          <a:prstGeom prst="rect">
            <a:avLst/>
          </a:prstGeom>
          <a:noFill/>
          <a:ln w="9525">
            <a:noFill/>
          </a:ln>
        </p:spPr>
        <p:txBody>
          <a:bodyPr wrap="none" lIns="121917" tIns="60958" rIns="121917" bIns="60958" anchor="t" anchorCtr="0">
            <a:spAutoFit/>
          </a:bodyPr>
          <a:p>
            <a:pPr>
              <a:spcBef>
                <a:spcPct val="20000"/>
              </a:spcBef>
            </a:pPr>
            <a:r>
              <a:rPr lang="zh-CN" altLang="en-US" sz="3200" b="1" dirty="0">
                <a:latin typeface="黑体" panose="02010609060101010101" pitchFamily="49" charset="-122"/>
                <a:ea typeface="黑体" panose="02010609060101010101" pitchFamily="49" charset="-122"/>
                <a:sym typeface="Arial" panose="020B0604020202020204" pitchFamily="34" charset="0"/>
              </a:rPr>
              <a:t>基本活动</a:t>
            </a:r>
            <a:endParaRPr lang="zh-CN" altLang="en-US" sz="3200" b="1" dirty="0">
              <a:latin typeface="黑体" panose="02010609060101010101" pitchFamily="49" charset="-122"/>
              <a:ea typeface="黑体" panose="02010609060101010101" pitchFamily="49" charset="-122"/>
              <a:sym typeface="Arial" panose="020B0604020202020204" pitchFamily="34" charset="0"/>
            </a:endParaRPr>
          </a:p>
        </p:txBody>
      </p:sp>
      <p:sp>
        <p:nvSpPr>
          <p:cNvPr id="87042" name="等腰三角形 49"/>
          <p:cNvSpPr/>
          <p:nvPr/>
        </p:nvSpPr>
        <p:spPr>
          <a:xfrm rot="5400000">
            <a:off x="-63500" y="987425"/>
            <a:ext cx="774700" cy="669925"/>
          </a:xfrm>
          <a:prstGeom prst="triangle">
            <a:avLst>
              <a:gd name="adj" fmla="val 50000"/>
            </a:avLst>
          </a:prstGeom>
          <a:solidFill>
            <a:schemeClr val="accent1"/>
          </a:solidFill>
          <a:ln w="9525">
            <a:noFill/>
          </a:ln>
        </p:spPr>
        <p:txBody>
          <a:bodyPr lIns="121917" tIns="60958" rIns="121917" bIns="60958" anchor="ctr" anchorCtr="0"/>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87043" name="Freeform 7"/>
          <p:cNvSpPr/>
          <p:nvPr/>
        </p:nvSpPr>
        <p:spPr>
          <a:xfrm>
            <a:off x="5305425" y="2182813"/>
            <a:ext cx="1384300" cy="1220787"/>
          </a:xfrm>
          <a:custGeom>
            <a:avLst/>
            <a:gdLst/>
            <a:ahLst/>
            <a:cxnLst>
              <a:cxn ang="0">
                <a:pos x="1384300" y="1221316"/>
              </a:cxn>
              <a:cxn ang="0">
                <a:pos x="692150" y="0"/>
              </a:cxn>
              <a:cxn ang="0">
                <a:pos x="0" y="1221316"/>
              </a:cxn>
              <a:cxn ang="0">
                <a:pos x="1384300" y="1221316"/>
              </a:cxn>
            </a:cxnLst>
            <a:pathLst>
              <a:path w="2684" h="2365">
                <a:moveTo>
                  <a:pt x="2684" y="2365"/>
                </a:moveTo>
                <a:lnTo>
                  <a:pt x="1342" y="0"/>
                </a:lnTo>
                <a:lnTo>
                  <a:pt x="0" y="2365"/>
                </a:lnTo>
                <a:lnTo>
                  <a:pt x="2684" y="2365"/>
                </a:lnTo>
                <a:close/>
              </a:path>
            </a:pathLst>
          </a:custGeom>
          <a:solidFill>
            <a:schemeClr val="accent1"/>
          </a:solidFill>
          <a:ln w="9525">
            <a:noFill/>
          </a:ln>
        </p:spPr>
        <p:txBody>
          <a:bodyPr/>
          <a:p>
            <a:endParaRPr lang="zh-CN" altLang="en-US"/>
          </a:p>
        </p:txBody>
      </p:sp>
      <p:sp>
        <p:nvSpPr>
          <p:cNvPr id="87044" name="Freeform 8"/>
          <p:cNvSpPr/>
          <p:nvPr/>
        </p:nvSpPr>
        <p:spPr>
          <a:xfrm>
            <a:off x="3933825" y="3403600"/>
            <a:ext cx="1371600" cy="1320800"/>
          </a:xfrm>
          <a:custGeom>
            <a:avLst/>
            <a:gdLst/>
            <a:ahLst/>
            <a:cxnLst>
              <a:cxn ang="0">
                <a:pos x="1371600" y="0"/>
              </a:cxn>
              <a:cxn ang="0">
                <a:pos x="0" y="282474"/>
              </a:cxn>
              <a:cxn ang="0">
                <a:pos x="944777" y="1320800"/>
              </a:cxn>
              <a:cxn ang="0">
                <a:pos x="1371600" y="0"/>
              </a:cxn>
            </a:cxnLst>
            <a:pathLst>
              <a:path w="2664" h="2553">
                <a:moveTo>
                  <a:pt x="2664" y="0"/>
                </a:moveTo>
                <a:lnTo>
                  <a:pt x="0" y="546"/>
                </a:lnTo>
                <a:lnTo>
                  <a:pt x="1835" y="2553"/>
                </a:lnTo>
                <a:lnTo>
                  <a:pt x="2664" y="0"/>
                </a:lnTo>
                <a:close/>
              </a:path>
            </a:pathLst>
          </a:custGeom>
          <a:solidFill>
            <a:schemeClr val="accent1"/>
          </a:solidFill>
          <a:ln w="9525">
            <a:noFill/>
          </a:ln>
        </p:spPr>
        <p:txBody>
          <a:bodyPr/>
          <a:p>
            <a:endParaRPr lang="zh-CN" altLang="en-US"/>
          </a:p>
        </p:txBody>
      </p:sp>
      <p:sp>
        <p:nvSpPr>
          <p:cNvPr id="87045" name="Freeform 9"/>
          <p:cNvSpPr/>
          <p:nvPr/>
        </p:nvSpPr>
        <p:spPr>
          <a:xfrm>
            <a:off x="4721225" y="4724400"/>
            <a:ext cx="1274763" cy="1392238"/>
          </a:xfrm>
          <a:custGeom>
            <a:avLst/>
            <a:gdLst/>
            <a:ahLst/>
            <a:cxnLst>
              <a:cxn ang="0">
                <a:pos x="156963" y="0"/>
              </a:cxn>
              <a:cxn ang="0">
                <a:pos x="0" y="1392767"/>
              </a:cxn>
              <a:cxn ang="0">
                <a:pos x="1274233" y="813392"/>
              </a:cxn>
              <a:cxn ang="0">
                <a:pos x="156963" y="0"/>
              </a:cxn>
            </a:cxnLst>
            <a:pathLst>
              <a:path w="2476" h="2702">
                <a:moveTo>
                  <a:pt x="305" y="0"/>
                </a:moveTo>
                <a:lnTo>
                  <a:pt x="0" y="2702"/>
                </a:lnTo>
                <a:lnTo>
                  <a:pt x="2476" y="1578"/>
                </a:lnTo>
                <a:lnTo>
                  <a:pt x="305" y="0"/>
                </a:lnTo>
                <a:close/>
              </a:path>
            </a:pathLst>
          </a:custGeom>
          <a:solidFill>
            <a:schemeClr val="accent2"/>
          </a:solidFill>
          <a:ln w="9525">
            <a:noFill/>
          </a:ln>
        </p:spPr>
        <p:txBody>
          <a:bodyPr/>
          <a:p>
            <a:endParaRPr lang="zh-CN" altLang="en-US"/>
          </a:p>
        </p:txBody>
      </p:sp>
      <p:sp>
        <p:nvSpPr>
          <p:cNvPr id="87046" name="Freeform 10"/>
          <p:cNvSpPr/>
          <p:nvPr/>
        </p:nvSpPr>
        <p:spPr>
          <a:xfrm>
            <a:off x="5995988" y="4724400"/>
            <a:ext cx="1277937" cy="1392238"/>
          </a:xfrm>
          <a:custGeom>
            <a:avLst/>
            <a:gdLst/>
            <a:ahLst/>
            <a:cxnLst>
              <a:cxn ang="0">
                <a:pos x="0" y="813392"/>
              </a:cxn>
              <a:cxn ang="0">
                <a:pos x="1278467" y="1392767"/>
              </a:cxn>
              <a:cxn ang="0">
                <a:pos x="1121498" y="0"/>
              </a:cxn>
              <a:cxn ang="0">
                <a:pos x="0" y="813392"/>
              </a:cxn>
            </a:cxnLst>
            <a:pathLst>
              <a:path w="2476" h="2702">
                <a:moveTo>
                  <a:pt x="0" y="1578"/>
                </a:moveTo>
                <a:lnTo>
                  <a:pt x="2476" y="2702"/>
                </a:lnTo>
                <a:lnTo>
                  <a:pt x="2172" y="0"/>
                </a:lnTo>
                <a:lnTo>
                  <a:pt x="0" y="1578"/>
                </a:lnTo>
                <a:close/>
              </a:path>
            </a:pathLst>
          </a:custGeom>
          <a:solidFill>
            <a:schemeClr val="accent2"/>
          </a:solidFill>
          <a:ln w="9525">
            <a:noFill/>
          </a:ln>
        </p:spPr>
        <p:txBody>
          <a:bodyPr/>
          <a:p>
            <a:endParaRPr lang="zh-CN" altLang="en-US"/>
          </a:p>
        </p:txBody>
      </p:sp>
      <p:sp>
        <p:nvSpPr>
          <p:cNvPr id="87047" name="Freeform 11"/>
          <p:cNvSpPr/>
          <p:nvPr/>
        </p:nvSpPr>
        <p:spPr>
          <a:xfrm>
            <a:off x="6689725" y="3403600"/>
            <a:ext cx="1371600" cy="1320800"/>
          </a:xfrm>
          <a:custGeom>
            <a:avLst/>
            <a:gdLst/>
            <a:ahLst/>
            <a:cxnLst>
              <a:cxn ang="0">
                <a:pos x="427337" y="1320800"/>
              </a:cxn>
              <a:cxn ang="0">
                <a:pos x="1371600" y="282474"/>
              </a:cxn>
              <a:cxn ang="0">
                <a:pos x="0" y="0"/>
              </a:cxn>
              <a:cxn ang="0">
                <a:pos x="427337" y="1320800"/>
              </a:cxn>
            </a:cxnLst>
            <a:pathLst>
              <a:path w="2664" h="2553">
                <a:moveTo>
                  <a:pt x="830" y="2553"/>
                </a:moveTo>
                <a:lnTo>
                  <a:pt x="2664" y="546"/>
                </a:lnTo>
                <a:lnTo>
                  <a:pt x="0" y="0"/>
                </a:lnTo>
                <a:lnTo>
                  <a:pt x="830" y="2553"/>
                </a:lnTo>
                <a:close/>
              </a:path>
            </a:pathLst>
          </a:custGeom>
          <a:solidFill>
            <a:schemeClr val="accent1"/>
          </a:solidFill>
          <a:ln w="9525">
            <a:noFill/>
          </a:ln>
        </p:spPr>
        <p:txBody>
          <a:bodyPr/>
          <a:p>
            <a:endParaRPr lang="zh-CN" altLang="en-US"/>
          </a:p>
        </p:txBody>
      </p:sp>
      <p:sp>
        <p:nvSpPr>
          <p:cNvPr id="87048" name="TextBox 12"/>
          <p:cNvSpPr/>
          <p:nvPr/>
        </p:nvSpPr>
        <p:spPr>
          <a:xfrm>
            <a:off x="6524625" y="1981200"/>
            <a:ext cx="4081463" cy="830263"/>
          </a:xfrm>
          <a:prstGeom prst="rect">
            <a:avLst/>
          </a:prstGeom>
          <a:noFill/>
          <a:ln w="9525">
            <a:noFill/>
          </a:ln>
        </p:spPr>
        <p:txBody>
          <a:bodyPr wrap="square" lIns="0" tIns="0" rIns="0" bIns="0" anchor="t" anchorCtr="0">
            <a:spAutoFit/>
          </a:bodyPr>
          <a:p>
            <a:pPr algn="just"/>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指收集、储存以及发送最终产品给客户的行为，如最终产品的仓储、订单提取和打包、装运、发货设施的运作等。</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7049" name="TextBox 13"/>
          <p:cNvSpPr/>
          <p:nvPr/>
        </p:nvSpPr>
        <p:spPr>
          <a:xfrm>
            <a:off x="8202613" y="3613150"/>
            <a:ext cx="3208337" cy="1108075"/>
          </a:xfrm>
          <a:prstGeom prst="rect">
            <a:avLst/>
          </a:prstGeom>
          <a:noFill/>
          <a:ln w="9525">
            <a:noFill/>
          </a:ln>
        </p:spPr>
        <p:txBody>
          <a:bodyPr wrap="square" lIns="0" tIns="0" rIns="0" bIns="0" anchor="t" anchorCtr="0">
            <a:spAutoFit/>
          </a:bodyPr>
          <a:p>
            <a:pPr algn="just"/>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让顾客 / 消费者意识到产品或服务的存在，并实施购买行为的活动，如销售管理、 广告、促销等。</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72" name="TextBox 14"/>
          <p:cNvSpPr>
            <a:spLocks noChangeArrowheads="1"/>
          </p:cNvSpPr>
          <p:nvPr/>
        </p:nvSpPr>
        <p:spPr bwMode="auto">
          <a:xfrm>
            <a:off x="7515225" y="5541963"/>
            <a:ext cx="33940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r>
              <a:rPr lang="en-US" sz="1800" strike="noStrike" noProof="1">
                <a:solidFill>
                  <a:srgbClr val="595959"/>
                </a:solidFill>
                <a:latin typeface="黑体" panose="02010609060101010101" pitchFamily="49" charset="-122"/>
                <a:ea typeface="黑体" panose="02010609060101010101" pitchFamily="49" charset="-122"/>
                <a:cs typeface="黑体" panose="02010609060101010101" pitchFamily="49" charset="-122"/>
                <a:sym typeface="Arial" panose="020B0604020202020204" pitchFamily="34" charset="0"/>
              </a:rPr>
              <a:t>    </a:t>
            </a:r>
            <a:r>
              <a:rPr sz="1800" strike="noStrike" noProof="1">
                <a:solidFill>
                  <a:srgbClr val="595959"/>
                </a:solidFill>
                <a:latin typeface="黑体" panose="02010609060101010101" pitchFamily="49" charset="-122"/>
                <a:ea typeface="黑体" panose="02010609060101010101" pitchFamily="49" charset="-122"/>
                <a:cs typeface="黑体" panose="02010609060101010101" pitchFamily="49" charset="-122"/>
                <a:sym typeface="Arial" panose="020B0604020202020204" pitchFamily="34" charset="0"/>
              </a:rPr>
              <a:t>包括所有增加或者保持产品或服务价值的活动，如安装、维护和修理、技术支持、投诉处理等</a:t>
            </a:r>
            <a:r>
              <a:rPr sz="1465" strike="noStrike" noProof="1">
                <a:solidFill>
                  <a:srgbClr val="595959"/>
                </a:solidFill>
                <a:latin typeface="Arial" panose="020B0604020202020204" pitchFamily="34" charset="0"/>
                <a:ea typeface="微软雅黑" panose="020B0503020204020204" pitchFamily="34" charset="-122"/>
                <a:cs typeface="+mn-cs"/>
                <a:sym typeface="Arial" panose="020B0604020202020204" pitchFamily="34" charset="0"/>
              </a:rPr>
              <a:t>。</a:t>
            </a:r>
            <a:endParaRPr sz="1465" strike="noStrike" noProof="1">
              <a:solidFill>
                <a:srgbClr val="595959"/>
              </a:solidFill>
              <a:latin typeface="Arial" panose="020B0604020202020204" pitchFamily="34" charset="0"/>
              <a:ea typeface="微软雅黑" panose="020B0503020204020204" pitchFamily="34" charset="-122"/>
              <a:sym typeface="Arial" panose="020B0604020202020204" pitchFamily="34" charset="0"/>
            </a:endParaRPr>
          </a:p>
        </p:txBody>
      </p:sp>
      <p:sp>
        <p:nvSpPr>
          <p:cNvPr id="87051" name="TextBox 15"/>
          <p:cNvSpPr/>
          <p:nvPr/>
        </p:nvSpPr>
        <p:spPr>
          <a:xfrm>
            <a:off x="1173163" y="5140325"/>
            <a:ext cx="3055937" cy="1108075"/>
          </a:xfrm>
          <a:prstGeom prst="rect">
            <a:avLst/>
          </a:prstGeom>
          <a:noFill/>
          <a:ln w="9525">
            <a:noFill/>
          </a:ln>
        </p:spPr>
        <p:txBody>
          <a:bodyPr wrap="square" lIns="0" tIns="0" rIns="0" bIns="0" anchor="t" anchorCtr="0">
            <a:spAutoFit/>
          </a:bodyPr>
          <a:p>
            <a:pPr algn="just"/>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将不同的输入生产要素转化为最终产品或服务的活动，包括加 工、包装、装配、检测等。</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7052" name="TextBox 16"/>
          <p:cNvSpPr/>
          <p:nvPr/>
        </p:nvSpPr>
        <p:spPr>
          <a:xfrm>
            <a:off x="1173163" y="2987675"/>
            <a:ext cx="2809875" cy="830263"/>
          </a:xfrm>
          <a:prstGeom prst="rect">
            <a:avLst/>
          </a:prstGeom>
          <a:noFill/>
          <a:ln w="9525">
            <a:noFill/>
          </a:ln>
        </p:spPr>
        <p:txBody>
          <a:bodyPr lIns="0" tIns="0" rIns="0" bIns="0" anchor="t" anchorCtr="0">
            <a:spAutoFit/>
          </a:bodyPr>
          <a:p>
            <a:pPr algn="just"/>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指与产品或服务的各项输入生产要素相关的接收、储存和配送等活动。</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7053" name="TextBox 17"/>
          <p:cNvSpPr/>
          <p:nvPr/>
        </p:nvSpPr>
        <p:spPr>
          <a:xfrm>
            <a:off x="6524625" y="1466850"/>
            <a:ext cx="1682750" cy="368300"/>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输出物流</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7054" name="TextBox 18"/>
          <p:cNvSpPr/>
          <p:nvPr/>
        </p:nvSpPr>
        <p:spPr>
          <a:xfrm>
            <a:off x="8202613" y="3219450"/>
            <a:ext cx="1682750" cy="368300"/>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营销和销售</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7055" name="TextBox 19"/>
          <p:cNvSpPr/>
          <p:nvPr/>
        </p:nvSpPr>
        <p:spPr>
          <a:xfrm>
            <a:off x="7515225" y="5140325"/>
            <a:ext cx="1682750" cy="368300"/>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服务</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7056" name="TextBox 20"/>
          <p:cNvSpPr/>
          <p:nvPr/>
        </p:nvSpPr>
        <p:spPr>
          <a:xfrm>
            <a:off x="1173163" y="4638675"/>
            <a:ext cx="1958975" cy="368300"/>
          </a:xfrm>
          <a:prstGeom prst="rect">
            <a:avLst/>
          </a:prstGeom>
          <a:noFill/>
          <a:ln w="9525">
            <a:noFill/>
          </a:ln>
        </p:spPr>
        <p:txBody>
          <a:bodyPr wrap="square"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制造与运营</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7057" name="TextBox 21"/>
          <p:cNvSpPr/>
          <p:nvPr/>
        </p:nvSpPr>
        <p:spPr>
          <a:xfrm>
            <a:off x="1173163" y="2335213"/>
            <a:ext cx="1441450" cy="368300"/>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输入物流</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7058" name="TextBox 22"/>
          <p:cNvSpPr/>
          <p:nvPr/>
        </p:nvSpPr>
        <p:spPr>
          <a:xfrm>
            <a:off x="5543550" y="3840163"/>
            <a:ext cx="908050" cy="984250"/>
          </a:xfrm>
          <a:prstGeom prst="rect">
            <a:avLst/>
          </a:prstGeom>
          <a:noFill/>
          <a:ln w="9525">
            <a:noFill/>
          </a:ln>
        </p:spPr>
        <p:txBody>
          <a:bodyPr wrap="square" lIns="0" tIns="0" rIns="0" bIns="0" anchor="t" anchorCtr="0">
            <a:spAutoFit/>
          </a:bodyPr>
          <a:p>
            <a:pPr algn="ctr"/>
            <a:r>
              <a:rPr lang="zh-CN" altLang="en-US" sz="3200" b="1" dirty="0">
                <a:solidFill>
                  <a:schemeClr val="accent1"/>
                </a:solidFill>
                <a:latin typeface="黑体" panose="02010609060101010101" pitchFamily="49" charset="-122"/>
                <a:ea typeface="黑体" panose="02010609060101010101" pitchFamily="49" charset="-122"/>
                <a:sym typeface="Arial" panose="020B0604020202020204" pitchFamily="34" charset="0"/>
              </a:rPr>
              <a:t>基本活动</a:t>
            </a:r>
            <a:endParaRPr lang="zh-CN" altLang="en-US" sz="3200">
              <a:latin typeface="黑体" panose="02010609060101010101" pitchFamily="49" charset="-122"/>
              <a:ea typeface="黑体" panose="02010609060101010101" pitchFamily="49" charset="-122"/>
              <a:sym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矩形 48"/>
          <p:cNvSpPr/>
          <p:nvPr/>
        </p:nvSpPr>
        <p:spPr>
          <a:xfrm>
            <a:off x="622300" y="1017588"/>
            <a:ext cx="1874838" cy="612775"/>
          </a:xfrm>
          <a:prstGeom prst="rect">
            <a:avLst/>
          </a:prstGeom>
          <a:noFill/>
          <a:ln w="9525">
            <a:noFill/>
          </a:ln>
        </p:spPr>
        <p:txBody>
          <a:bodyPr wrap="none" lIns="121917" tIns="60958" rIns="121917" bIns="60958" anchor="t" anchorCtr="0">
            <a:spAutoFit/>
          </a:bodyPr>
          <a:p>
            <a:pPr>
              <a:spcBef>
                <a:spcPct val="20000"/>
              </a:spcBef>
            </a:pPr>
            <a:r>
              <a:rPr lang="zh-CN" altLang="en-US" sz="3200" b="1" dirty="0">
                <a:latin typeface="黑体" panose="02010609060101010101" pitchFamily="49" charset="-122"/>
                <a:ea typeface="黑体" panose="02010609060101010101" pitchFamily="49" charset="-122"/>
                <a:sym typeface="Arial" panose="020B0604020202020204" pitchFamily="34" charset="0"/>
              </a:rPr>
              <a:t>支持活动</a:t>
            </a:r>
            <a:endParaRPr lang="zh-CN" altLang="en-US" sz="3200" b="1" dirty="0">
              <a:latin typeface="黑体" panose="02010609060101010101" pitchFamily="49" charset="-122"/>
              <a:ea typeface="黑体" panose="02010609060101010101" pitchFamily="49" charset="-122"/>
              <a:sym typeface="Arial" panose="020B0604020202020204" pitchFamily="34" charset="0"/>
            </a:endParaRPr>
          </a:p>
        </p:txBody>
      </p:sp>
      <p:sp>
        <p:nvSpPr>
          <p:cNvPr id="88066" name="等腰三角形 49"/>
          <p:cNvSpPr/>
          <p:nvPr/>
        </p:nvSpPr>
        <p:spPr>
          <a:xfrm rot="5400000">
            <a:off x="-63500" y="987425"/>
            <a:ext cx="774700" cy="669925"/>
          </a:xfrm>
          <a:prstGeom prst="triangle">
            <a:avLst>
              <a:gd name="adj" fmla="val 50000"/>
            </a:avLst>
          </a:prstGeom>
          <a:solidFill>
            <a:schemeClr val="accent1"/>
          </a:solidFill>
          <a:ln w="9525">
            <a:noFill/>
          </a:ln>
        </p:spPr>
        <p:txBody>
          <a:bodyPr lIns="121917" tIns="60958" rIns="121917" bIns="60958" anchor="ctr" anchorCtr="0"/>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88067" name="Freeform 8"/>
          <p:cNvSpPr/>
          <p:nvPr/>
        </p:nvSpPr>
        <p:spPr>
          <a:xfrm rot="1080000">
            <a:off x="4154488" y="3024188"/>
            <a:ext cx="1371600" cy="1320800"/>
          </a:xfrm>
          <a:custGeom>
            <a:avLst/>
            <a:gdLst/>
            <a:ahLst/>
            <a:cxnLst>
              <a:cxn ang="0">
                <a:pos x="1371600" y="0"/>
              </a:cxn>
              <a:cxn ang="0">
                <a:pos x="0" y="282474"/>
              </a:cxn>
              <a:cxn ang="0">
                <a:pos x="944777" y="1320800"/>
              </a:cxn>
              <a:cxn ang="0">
                <a:pos x="1371600" y="0"/>
              </a:cxn>
            </a:cxnLst>
            <a:pathLst>
              <a:path w="2664" h="2553">
                <a:moveTo>
                  <a:pt x="2664" y="0"/>
                </a:moveTo>
                <a:lnTo>
                  <a:pt x="0" y="546"/>
                </a:lnTo>
                <a:lnTo>
                  <a:pt x="1835" y="2553"/>
                </a:lnTo>
                <a:lnTo>
                  <a:pt x="2664" y="0"/>
                </a:lnTo>
                <a:close/>
              </a:path>
            </a:pathLst>
          </a:custGeom>
          <a:solidFill>
            <a:schemeClr val="accent1"/>
          </a:solidFill>
          <a:ln w="9525">
            <a:noFill/>
          </a:ln>
        </p:spPr>
        <p:txBody>
          <a:bodyPr/>
          <a:p>
            <a:endParaRPr lang="zh-CN" altLang="en-US"/>
          </a:p>
        </p:txBody>
      </p:sp>
      <p:sp>
        <p:nvSpPr>
          <p:cNvPr id="88068" name="Freeform 9"/>
          <p:cNvSpPr/>
          <p:nvPr/>
        </p:nvSpPr>
        <p:spPr>
          <a:xfrm>
            <a:off x="4697413" y="4395788"/>
            <a:ext cx="1274762" cy="1392237"/>
          </a:xfrm>
          <a:custGeom>
            <a:avLst/>
            <a:gdLst/>
            <a:ahLst/>
            <a:cxnLst>
              <a:cxn ang="0">
                <a:pos x="156963" y="0"/>
              </a:cxn>
              <a:cxn ang="0">
                <a:pos x="0" y="1392767"/>
              </a:cxn>
              <a:cxn ang="0">
                <a:pos x="1274233" y="813392"/>
              </a:cxn>
              <a:cxn ang="0">
                <a:pos x="156963" y="0"/>
              </a:cxn>
            </a:cxnLst>
            <a:pathLst>
              <a:path w="2476" h="2702">
                <a:moveTo>
                  <a:pt x="305" y="0"/>
                </a:moveTo>
                <a:lnTo>
                  <a:pt x="0" y="2702"/>
                </a:lnTo>
                <a:lnTo>
                  <a:pt x="2476" y="1578"/>
                </a:lnTo>
                <a:lnTo>
                  <a:pt x="305" y="0"/>
                </a:lnTo>
                <a:close/>
              </a:path>
            </a:pathLst>
          </a:custGeom>
          <a:solidFill>
            <a:schemeClr val="accent2"/>
          </a:solidFill>
          <a:ln w="9525">
            <a:noFill/>
          </a:ln>
        </p:spPr>
        <p:txBody>
          <a:bodyPr/>
          <a:p>
            <a:endParaRPr lang="zh-CN" altLang="en-US"/>
          </a:p>
        </p:txBody>
      </p:sp>
      <p:sp>
        <p:nvSpPr>
          <p:cNvPr id="88069" name="Freeform 10"/>
          <p:cNvSpPr/>
          <p:nvPr/>
        </p:nvSpPr>
        <p:spPr>
          <a:xfrm rot="-960000">
            <a:off x="5880100" y="4232275"/>
            <a:ext cx="1277938" cy="1392238"/>
          </a:xfrm>
          <a:custGeom>
            <a:avLst/>
            <a:gdLst/>
            <a:ahLst/>
            <a:cxnLst>
              <a:cxn ang="0">
                <a:pos x="0" y="813392"/>
              </a:cxn>
              <a:cxn ang="0">
                <a:pos x="1278467" y="1392767"/>
              </a:cxn>
              <a:cxn ang="0">
                <a:pos x="1121498" y="0"/>
              </a:cxn>
              <a:cxn ang="0">
                <a:pos x="0" y="813392"/>
              </a:cxn>
            </a:cxnLst>
            <a:pathLst>
              <a:path w="2476" h="2702">
                <a:moveTo>
                  <a:pt x="0" y="1578"/>
                </a:moveTo>
                <a:lnTo>
                  <a:pt x="2476" y="2702"/>
                </a:lnTo>
                <a:lnTo>
                  <a:pt x="2172" y="0"/>
                </a:lnTo>
                <a:lnTo>
                  <a:pt x="0" y="1578"/>
                </a:lnTo>
                <a:close/>
              </a:path>
            </a:pathLst>
          </a:custGeom>
          <a:solidFill>
            <a:schemeClr val="accent2"/>
          </a:solidFill>
          <a:ln w="9525">
            <a:noFill/>
          </a:ln>
        </p:spPr>
        <p:txBody>
          <a:bodyPr/>
          <a:p>
            <a:endParaRPr lang="zh-CN" altLang="en-US"/>
          </a:p>
        </p:txBody>
      </p:sp>
      <p:sp>
        <p:nvSpPr>
          <p:cNvPr id="88070" name="Freeform 11"/>
          <p:cNvSpPr/>
          <p:nvPr/>
        </p:nvSpPr>
        <p:spPr>
          <a:xfrm rot="-2100000">
            <a:off x="5951538" y="2743200"/>
            <a:ext cx="1371600" cy="1320800"/>
          </a:xfrm>
          <a:custGeom>
            <a:avLst/>
            <a:gdLst/>
            <a:ahLst/>
            <a:cxnLst>
              <a:cxn ang="0">
                <a:pos x="427337" y="1320800"/>
              </a:cxn>
              <a:cxn ang="0">
                <a:pos x="1371600" y="282474"/>
              </a:cxn>
              <a:cxn ang="0">
                <a:pos x="0" y="0"/>
              </a:cxn>
              <a:cxn ang="0">
                <a:pos x="427337" y="1320800"/>
              </a:cxn>
            </a:cxnLst>
            <a:pathLst>
              <a:path w="2664" h="2553">
                <a:moveTo>
                  <a:pt x="830" y="2553"/>
                </a:moveTo>
                <a:lnTo>
                  <a:pt x="2664" y="546"/>
                </a:lnTo>
                <a:lnTo>
                  <a:pt x="0" y="0"/>
                </a:lnTo>
                <a:lnTo>
                  <a:pt x="830" y="2553"/>
                </a:lnTo>
                <a:close/>
              </a:path>
            </a:pathLst>
          </a:custGeom>
          <a:solidFill>
            <a:schemeClr val="accent1"/>
          </a:solidFill>
          <a:ln w="9525">
            <a:noFill/>
          </a:ln>
        </p:spPr>
        <p:txBody>
          <a:bodyPr/>
          <a:p>
            <a:endParaRPr lang="zh-CN" altLang="en-US"/>
          </a:p>
        </p:txBody>
      </p:sp>
      <p:sp>
        <p:nvSpPr>
          <p:cNvPr id="88071" name="TextBox 12"/>
          <p:cNvSpPr/>
          <p:nvPr/>
        </p:nvSpPr>
        <p:spPr>
          <a:xfrm>
            <a:off x="7483475" y="2022475"/>
            <a:ext cx="4081463" cy="995363"/>
          </a:xfrm>
          <a:prstGeom prst="rect">
            <a:avLst/>
          </a:prstGeom>
          <a:noFill/>
          <a:ln w="9525">
            <a:noFill/>
          </a:ln>
        </p:spPr>
        <p:txBody>
          <a:bodyPr wrap="square" lIns="0" tIns="0" rIns="0" bIns="0" anchor="t" anchorCtr="0">
            <a:spAutoFit/>
          </a:bodyPr>
          <a:p>
            <a:pPr algn="just">
              <a:lnSpc>
                <a:spcPct val="120000"/>
              </a:lnSpc>
            </a:pPr>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是产品和运营过程的设计，包括产品研究与开发、流程研究与开发、业务方案的改善等。</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8072" name="TextBox 13"/>
          <p:cNvSpPr/>
          <p:nvPr/>
        </p:nvSpPr>
        <p:spPr>
          <a:xfrm>
            <a:off x="7724775" y="4903788"/>
            <a:ext cx="3206750" cy="663575"/>
          </a:xfrm>
          <a:prstGeom prst="rect">
            <a:avLst/>
          </a:prstGeom>
          <a:noFill/>
          <a:ln w="9525">
            <a:noFill/>
          </a:ln>
        </p:spPr>
        <p:txBody>
          <a:bodyPr wrap="square" lIns="0" tIns="0" rIns="0" bIns="0" anchor="t" anchorCtr="0">
            <a:spAutoFit/>
          </a:bodyPr>
          <a:p>
            <a:pPr algn="just">
              <a:lnSpc>
                <a:spcPct val="120000"/>
              </a:lnSpc>
            </a:pPr>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获取各种基本活动所需要的输入资源的过程。</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8073" name="TextBox 15"/>
          <p:cNvSpPr/>
          <p:nvPr/>
        </p:nvSpPr>
        <p:spPr>
          <a:xfrm>
            <a:off x="1173163" y="5006975"/>
            <a:ext cx="3055937" cy="663575"/>
          </a:xfrm>
          <a:prstGeom prst="rect">
            <a:avLst/>
          </a:prstGeom>
          <a:noFill/>
          <a:ln w="9525">
            <a:noFill/>
          </a:ln>
        </p:spPr>
        <p:txBody>
          <a:bodyPr wrap="square" lIns="0" tIns="0" rIns="0" bIns="0" anchor="t" anchorCtr="0">
            <a:spAutoFit/>
          </a:bodyPr>
          <a:p>
            <a:pPr algn="just">
              <a:lnSpc>
                <a:spcPct val="120000"/>
              </a:lnSpc>
            </a:pPr>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包括招聘、聘用、培训、能力开发、激励措施等。</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8074" name="TextBox 16"/>
          <p:cNvSpPr/>
          <p:nvPr/>
        </p:nvSpPr>
        <p:spPr>
          <a:xfrm>
            <a:off x="1084263" y="2703513"/>
            <a:ext cx="2809875" cy="1328737"/>
          </a:xfrm>
          <a:prstGeom prst="rect">
            <a:avLst/>
          </a:prstGeom>
          <a:noFill/>
          <a:ln w="9525">
            <a:noFill/>
          </a:ln>
        </p:spPr>
        <p:txBody>
          <a:bodyPr lIns="0" tIns="0" rIns="0" bIns="0" anchor="t" anchorCtr="0">
            <a:spAutoFit/>
          </a:bodyPr>
          <a:p>
            <a:pPr algn="just">
              <a:lnSpc>
                <a:spcPct val="120000"/>
              </a:lnSpc>
            </a:pPr>
            <a:r>
              <a:rPr lang="en-US" altLang="zh-CN">
                <a:solidFill>
                  <a:srgbClr val="595959"/>
                </a:solidFill>
                <a:latin typeface="黑体" panose="02010609060101010101" pitchFamily="49" charset="-122"/>
                <a:ea typeface="黑体" panose="02010609060101010101" pitchFamily="49" charset="-122"/>
                <a:sym typeface="Arial" panose="020B0604020202020204" pitchFamily="34" charset="0"/>
              </a:rPr>
              <a:t>    </a:t>
            </a:r>
            <a:r>
              <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rPr>
              <a:t>包括计划、财务、质量控制、信息管理等对基本活动的业绩表现发挥重要作用的体系。</a:t>
            </a:r>
            <a:endParaRPr lang="zh-CN" altLang="zh-CN">
              <a:solidFill>
                <a:srgbClr val="595959"/>
              </a:solidFill>
              <a:latin typeface="黑体" panose="02010609060101010101" pitchFamily="49" charset="-122"/>
              <a:ea typeface="黑体" panose="02010609060101010101" pitchFamily="49" charset="-122"/>
              <a:sym typeface="Arial" panose="020B0604020202020204" pitchFamily="34" charset="0"/>
            </a:endParaRPr>
          </a:p>
        </p:txBody>
      </p:sp>
      <p:sp>
        <p:nvSpPr>
          <p:cNvPr id="88075" name="TextBox 17"/>
          <p:cNvSpPr/>
          <p:nvPr/>
        </p:nvSpPr>
        <p:spPr>
          <a:xfrm>
            <a:off x="7483475" y="1630363"/>
            <a:ext cx="1682750" cy="368300"/>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技术开发</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8076" name="TextBox 18"/>
          <p:cNvSpPr/>
          <p:nvPr/>
        </p:nvSpPr>
        <p:spPr>
          <a:xfrm>
            <a:off x="7724775" y="4422775"/>
            <a:ext cx="1682750" cy="369888"/>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采购</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8077" name="TextBox 20"/>
          <p:cNvSpPr/>
          <p:nvPr/>
        </p:nvSpPr>
        <p:spPr>
          <a:xfrm>
            <a:off x="1173163" y="4638675"/>
            <a:ext cx="1958975" cy="368300"/>
          </a:xfrm>
          <a:prstGeom prst="rect">
            <a:avLst/>
          </a:prstGeom>
          <a:noFill/>
          <a:ln w="9525">
            <a:noFill/>
          </a:ln>
        </p:spPr>
        <p:txBody>
          <a:bodyPr wrap="square"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人力资源管理</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8078" name="TextBox 21"/>
          <p:cNvSpPr/>
          <p:nvPr/>
        </p:nvSpPr>
        <p:spPr>
          <a:xfrm>
            <a:off x="1173163" y="2335213"/>
            <a:ext cx="1441450" cy="368300"/>
          </a:xfrm>
          <a:prstGeom prst="rect">
            <a:avLst/>
          </a:prstGeom>
          <a:noFill/>
          <a:ln w="9525">
            <a:noFill/>
          </a:ln>
        </p:spPr>
        <p:txBody>
          <a:bodyPr lIns="0" tIns="0" rIns="0" bIns="0" anchor="t" anchorCtr="0">
            <a:spAutoFit/>
          </a:bodyPr>
          <a:p>
            <a:r>
              <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rPr>
              <a:t>基础设施</a:t>
            </a:r>
            <a:endParaRPr lang="zh-CN" altLang="en-US" sz="2400" b="1">
              <a:solidFill>
                <a:srgbClr val="404040"/>
              </a:solidFill>
              <a:latin typeface="黑体" panose="02010609060101010101" pitchFamily="49" charset="-122"/>
              <a:ea typeface="黑体" panose="02010609060101010101" pitchFamily="49" charset="-122"/>
              <a:sym typeface="Arial" panose="020B0604020202020204" pitchFamily="34" charset="0"/>
            </a:endParaRPr>
          </a:p>
        </p:txBody>
      </p:sp>
      <p:sp>
        <p:nvSpPr>
          <p:cNvPr id="88079" name="TextBox 22"/>
          <p:cNvSpPr/>
          <p:nvPr/>
        </p:nvSpPr>
        <p:spPr>
          <a:xfrm>
            <a:off x="5399088" y="3806825"/>
            <a:ext cx="909637" cy="985838"/>
          </a:xfrm>
          <a:prstGeom prst="rect">
            <a:avLst/>
          </a:prstGeom>
          <a:noFill/>
          <a:ln w="9525">
            <a:noFill/>
          </a:ln>
        </p:spPr>
        <p:txBody>
          <a:bodyPr wrap="square" lIns="0" tIns="0" rIns="0" bIns="0" anchor="t" anchorCtr="0">
            <a:spAutoFit/>
          </a:bodyPr>
          <a:p>
            <a:pPr algn="ctr"/>
            <a:r>
              <a:rPr lang="zh-CN" altLang="en-US" sz="3200" b="1" dirty="0">
                <a:solidFill>
                  <a:schemeClr val="accent1"/>
                </a:solidFill>
                <a:latin typeface="黑体" panose="02010609060101010101" pitchFamily="49" charset="-122"/>
                <a:ea typeface="黑体" panose="02010609060101010101" pitchFamily="49" charset="-122"/>
                <a:sym typeface="Arial" panose="020B0604020202020204" pitchFamily="34" charset="0"/>
              </a:rPr>
              <a:t>支持活动</a:t>
            </a:r>
            <a:endParaRPr lang="zh-CN" altLang="en-US" sz="3200">
              <a:latin typeface="黑体" panose="02010609060101010101" pitchFamily="49" charset="-122"/>
              <a:ea typeface="黑体" panose="02010609060101010101" pitchFamily="49" charset="-122"/>
              <a:sym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等腰三角形 49"/>
          <p:cNvSpPr/>
          <p:nvPr/>
        </p:nvSpPr>
        <p:spPr>
          <a:xfrm rot="5400000">
            <a:off x="-63500" y="987425"/>
            <a:ext cx="774700" cy="669925"/>
          </a:xfrm>
          <a:prstGeom prst="triangle">
            <a:avLst>
              <a:gd name="adj" fmla="val 50000"/>
            </a:avLst>
          </a:prstGeom>
          <a:solidFill>
            <a:schemeClr val="accent1"/>
          </a:solidFill>
          <a:ln w="9525">
            <a:noFill/>
          </a:ln>
        </p:spPr>
        <p:txBody>
          <a:bodyPr lIns="121917" tIns="60958" rIns="121917" bIns="60958" anchor="ctr" anchorCtr="0"/>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p:cNvSpPr/>
          <p:nvPr/>
        </p:nvSpPr>
        <p:spPr>
          <a:xfrm>
            <a:off x="1172844" y="1064260"/>
            <a:ext cx="10040620" cy="1108710"/>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89091" name="矩形 6"/>
          <p:cNvSpPr/>
          <p:nvPr/>
        </p:nvSpPr>
        <p:spPr>
          <a:xfrm>
            <a:off x="1196975" y="1141413"/>
            <a:ext cx="9991725" cy="1641475"/>
          </a:xfrm>
          <a:prstGeom prst="rect">
            <a:avLst/>
          </a:prstGeom>
          <a:noFill/>
          <a:ln w="9525">
            <a:noFill/>
          </a:ln>
        </p:spPr>
        <p:txBody>
          <a:bodyPr wrap="square" anchor="t" anchorCtr="0">
            <a:spAutoFit/>
          </a:bodyPr>
          <a:p>
            <a:pPr>
              <a:lnSpc>
                <a:spcPct val="140000"/>
              </a:lnSpc>
            </a:pPr>
            <a:r>
              <a:rPr lang="en-US" altLang="zh-CN" sz="2400" b="1" dirty="0">
                <a:latin typeface="Calibri" panose="020F0502020204030204" pitchFamily="34" charset="0"/>
                <a:ea typeface="宋体" panose="02010600030101010101" pitchFamily="2" charset="-122"/>
              </a:rPr>
              <a:t>         </a:t>
            </a:r>
            <a:r>
              <a:rPr lang="zh-CN" altLang="zh-CN" sz="2400" b="1" dirty="0">
                <a:latin typeface="Calibri" panose="020F0502020204030204" pitchFamily="34" charset="0"/>
                <a:ea typeface="宋体" panose="02010600030101010101" pitchFamily="2" charset="-122"/>
              </a:rPr>
              <a:t>企业通常都要进行专业分工，因此企业必须清楚自己擅长从事哪些分工活动，理解价值创造体系内分工合作的重要性，并依据自身资源和能力基础做出如下选择决策</a:t>
            </a:r>
            <a:r>
              <a:rPr lang="zh-CN" altLang="zh-CN" sz="2000" b="1" dirty="0">
                <a:latin typeface="Calibri" panose="020F0502020204030204" pitchFamily="34" charset="0"/>
                <a:ea typeface="宋体" panose="02010600030101010101" pitchFamily="2" charset="-122"/>
              </a:rPr>
              <a:t>：</a:t>
            </a:r>
            <a:endParaRPr lang="zh-CN" altLang="zh-CN" sz="2000" b="1" dirty="0">
              <a:latin typeface="Calibri" panose="020F0502020204030204" pitchFamily="34" charset="0"/>
              <a:ea typeface="宋体" panose="02010600030101010101" pitchFamily="2" charset="-122"/>
            </a:endParaRPr>
          </a:p>
        </p:txBody>
      </p:sp>
      <p:sp>
        <p:nvSpPr>
          <p:cNvPr id="89092" name="文本框 1"/>
          <p:cNvSpPr txBox="1"/>
          <p:nvPr/>
        </p:nvSpPr>
        <p:spPr>
          <a:xfrm>
            <a:off x="1238250" y="2443163"/>
            <a:ext cx="9909175" cy="4052887"/>
          </a:xfrm>
          <a:prstGeom prst="rect">
            <a:avLst/>
          </a:prstGeom>
          <a:noFill/>
          <a:ln w="9525">
            <a:noFill/>
          </a:ln>
        </p:spPr>
        <p:txBody>
          <a:bodyPr wrap="square" anchor="t" anchorCtr="0">
            <a:spAutoFit/>
          </a:bodyPr>
          <a:p>
            <a:pPr marL="285750" indent="-285750">
              <a:lnSpc>
                <a:spcPct val="230000"/>
              </a:lnSpc>
              <a:buFont typeface="Wingdings" panose="05000000000000000000" charset="0"/>
              <a:buChar char="l"/>
            </a:pPr>
            <a:r>
              <a:rPr lang="zh-CN" altLang="en-US" sz="2800">
                <a:latin typeface="Calibri" panose="020F0502020204030204" pitchFamily="34" charset="0"/>
                <a:ea typeface="宋体" panose="02010600030101010101" pitchFamily="2" charset="-122"/>
              </a:rPr>
              <a:t>对于某项业务活动，企业是自己完成还是外包（交由其他效率更高的企业）？</a:t>
            </a:r>
            <a:endParaRPr lang="zh-CN" altLang="en-US" sz="2800">
              <a:latin typeface="Calibri" panose="020F0502020204030204" pitchFamily="34" charset="0"/>
              <a:ea typeface="宋体" panose="02010600030101010101" pitchFamily="2" charset="-122"/>
            </a:endParaRPr>
          </a:p>
          <a:p>
            <a:pPr marL="285750" indent="-285750">
              <a:lnSpc>
                <a:spcPct val="230000"/>
              </a:lnSpc>
              <a:buFont typeface="Wingdings" panose="05000000000000000000" charset="0"/>
              <a:buChar char="l"/>
            </a:pPr>
            <a:r>
              <a:rPr lang="zh-CN" altLang="en-US" sz="2800">
                <a:latin typeface="Calibri" panose="020F0502020204030204" pitchFamily="34" charset="0"/>
                <a:ea typeface="宋体" panose="02010600030101010101" pitchFamily="2" charset="-122"/>
              </a:rPr>
              <a:t>在价值链各个环节上谁可能是最好的合作伙伴？</a:t>
            </a:r>
            <a:endParaRPr lang="zh-CN" altLang="en-US" sz="2800">
              <a:latin typeface="Calibri" panose="020F0502020204030204" pitchFamily="34" charset="0"/>
              <a:ea typeface="宋体" panose="02010600030101010101" pitchFamily="2" charset="-122"/>
            </a:endParaRPr>
          </a:p>
          <a:p>
            <a:pPr marL="285750" indent="-285750">
              <a:lnSpc>
                <a:spcPct val="230000"/>
              </a:lnSpc>
              <a:buFont typeface="Wingdings" panose="05000000000000000000" charset="0"/>
              <a:buChar char="l"/>
            </a:pPr>
            <a:r>
              <a:rPr lang="zh-CN" altLang="en-US" sz="2800">
                <a:latin typeface="Calibri" panose="020F0502020204030204" pitchFamily="34" charset="0"/>
                <a:ea typeface="宋体" panose="02010600030101010101" pitchFamily="2" charset="-122"/>
              </a:rPr>
              <a:t>与每个合作伙伴建立什么样的关系？</a:t>
            </a:r>
            <a:endParaRPr lang="zh-CN" altLang="en-US" sz="2800">
              <a:latin typeface="Calibri" panose="020F0502020204030204" pitchFamily="34" charset="0"/>
              <a:ea typeface="宋体" panose="02010600030101010101" pitchFamily="2" charset="-122"/>
            </a:endParaRPr>
          </a:p>
        </p:txBody>
      </p:sp>
      <p:sp>
        <p:nvSpPr>
          <p:cNvPr id="89093" name="文本占位符 3"/>
          <p:cNvSpPr>
            <a:spLocks noGrp="1"/>
          </p:cNvSpPr>
          <p:nvPr/>
        </p:nvSpPr>
        <p:spPr>
          <a:xfrm>
            <a:off x="1238250" y="449263"/>
            <a:ext cx="10515600" cy="615950"/>
          </a:xfrm>
          <a:prstGeom prst="rect">
            <a:avLst/>
          </a:prstGeom>
          <a:noFill/>
          <a:ln w="9525">
            <a:noFill/>
          </a:ln>
        </p:spPr>
        <p:txBody>
          <a:bodyPr lIns="91440" tIns="45720" rIns="91440" bIns="45720" anchor="t" anchorCtr="0"/>
          <a:p>
            <a:pPr>
              <a:lnSpc>
                <a:spcPct val="90000"/>
              </a:lnSpc>
              <a:spcBef>
                <a:spcPts val="1000"/>
              </a:spcBef>
            </a:pPr>
            <a:r>
              <a:rPr lang="zh-CN" altLang="zh-CN" sz="3200" dirty="0">
                <a:latin typeface="Calibri" panose="020F0502020204030204" pitchFamily="34" charset="0"/>
                <a:ea typeface="宋体" panose="02010600030101010101" pitchFamily="2" charset="-122"/>
              </a:rPr>
              <a:t>价值链分析</a:t>
            </a:r>
            <a:endParaRPr lang="zh-CN" altLang="zh-CN" sz="3200" dirty="0">
              <a:latin typeface="Calibri" panose="020F050202020403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011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2"/>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011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0119" name="文本框 17"/>
          <p:cNvSpPr txBox="1"/>
          <p:nvPr/>
        </p:nvSpPr>
        <p:spPr>
          <a:xfrm>
            <a:off x="425450" y="425450"/>
            <a:ext cx="6289675"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价值链是整个价值系统的一部分</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90120" name="Group 2"/>
          <p:cNvGrpSpPr/>
          <p:nvPr/>
        </p:nvGrpSpPr>
        <p:grpSpPr>
          <a:xfrm>
            <a:off x="1643063" y="1697038"/>
            <a:ext cx="1862137" cy="1206500"/>
            <a:chOff x="167" y="820"/>
            <a:chExt cx="1173" cy="760"/>
          </a:xfrm>
        </p:grpSpPr>
        <p:sp>
          <p:nvSpPr>
            <p:cNvPr id="90121" name="AutoShape 3"/>
            <p:cNvSpPr/>
            <p:nvPr/>
          </p:nvSpPr>
          <p:spPr>
            <a:xfrm>
              <a:off x="292" y="820"/>
              <a:ext cx="1048" cy="760"/>
            </a:xfrm>
            <a:prstGeom prst="homePlate">
              <a:avLst>
                <a:gd name="adj" fmla="val 45881"/>
              </a:avLst>
            </a:prstGeom>
            <a:solidFill>
              <a:srgbClr val="C0FEF9"/>
            </a:solidFill>
            <a:ln w="12700"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22" name="AutoShape 4"/>
            <p:cNvSpPr/>
            <p:nvPr/>
          </p:nvSpPr>
          <p:spPr>
            <a:xfrm>
              <a:off x="184" y="820"/>
              <a:ext cx="1048" cy="760"/>
            </a:xfrm>
            <a:prstGeom prst="homePlate">
              <a:avLst>
                <a:gd name="adj" fmla="val 45881"/>
              </a:avLst>
            </a:prstGeom>
            <a:solidFill>
              <a:srgbClr val="C0FEF9"/>
            </a:solidFill>
            <a:ln w="12700"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23" name="Line 5"/>
            <p:cNvSpPr/>
            <p:nvPr/>
          </p:nvSpPr>
          <p:spPr>
            <a:xfrm flipH="1">
              <a:off x="167" y="1200"/>
              <a:ext cx="1085" cy="0"/>
            </a:xfrm>
            <a:prstGeom prst="line">
              <a:avLst/>
            </a:prstGeom>
            <a:ln w="12700" cap="flat" cmpd="sng">
              <a:solidFill>
                <a:schemeClr val="accent2"/>
              </a:solidFill>
              <a:prstDash val="solid"/>
              <a:round/>
              <a:headEnd type="none" w="med" len="med"/>
              <a:tailEnd type="none" w="med" len="med"/>
            </a:ln>
          </p:spPr>
        </p:sp>
        <p:sp>
          <p:nvSpPr>
            <p:cNvPr id="90124" name="Line 6"/>
            <p:cNvSpPr/>
            <p:nvPr/>
          </p:nvSpPr>
          <p:spPr>
            <a:xfrm>
              <a:off x="384" y="1219"/>
              <a:ext cx="0" cy="349"/>
            </a:xfrm>
            <a:prstGeom prst="line">
              <a:avLst/>
            </a:prstGeom>
            <a:ln w="12700" cap="flat" cmpd="sng">
              <a:solidFill>
                <a:schemeClr val="accent2"/>
              </a:solidFill>
              <a:prstDash val="solid"/>
              <a:round/>
              <a:headEnd type="none" w="med" len="med"/>
              <a:tailEnd type="none" w="med" len="med"/>
            </a:ln>
          </p:spPr>
        </p:sp>
        <p:sp>
          <p:nvSpPr>
            <p:cNvPr id="90125" name="Line 7"/>
            <p:cNvSpPr/>
            <p:nvPr/>
          </p:nvSpPr>
          <p:spPr>
            <a:xfrm>
              <a:off x="576" y="1219"/>
              <a:ext cx="0" cy="349"/>
            </a:xfrm>
            <a:prstGeom prst="line">
              <a:avLst/>
            </a:prstGeom>
            <a:ln w="12700" cap="flat" cmpd="sng">
              <a:solidFill>
                <a:schemeClr val="accent2"/>
              </a:solidFill>
              <a:prstDash val="solid"/>
              <a:round/>
              <a:headEnd type="none" w="med" len="med"/>
              <a:tailEnd type="none" w="med" len="med"/>
            </a:ln>
          </p:spPr>
        </p:sp>
        <p:sp>
          <p:nvSpPr>
            <p:cNvPr id="90126" name="Line 8"/>
            <p:cNvSpPr/>
            <p:nvPr/>
          </p:nvSpPr>
          <p:spPr>
            <a:xfrm>
              <a:off x="768" y="1219"/>
              <a:ext cx="0" cy="349"/>
            </a:xfrm>
            <a:prstGeom prst="line">
              <a:avLst/>
            </a:prstGeom>
            <a:ln w="12700" cap="flat" cmpd="sng">
              <a:solidFill>
                <a:schemeClr val="accent2"/>
              </a:solidFill>
              <a:prstDash val="solid"/>
              <a:round/>
              <a:headEnd type="none" w="med" len="med"/>
              <a:tailEnd type="none" w="med" len="med"/>
            </a:ln>
          </p:spPr>
        </p:sp>
        <p:sp>
          <p:nvSpPr>
            <p:cNvPr id="90127" name="Line 9"/>
            <p:cNvSpPr/>
            <p:nvPr/>
          </p:nvSpPr>
          <p:spPr>
            <a:xfrm>
              <a:off x="960" y="1219"/>
              <a:ext cx="0" cy="259"/>
            </a:xfrm>
            <a:prstGeom prst="line">
              <a:avLst/>
            </a:prstGeom>
            <a:ln w="12700" cap="flat" cmpd="sng">
              <a:solidFill>
                <a:schemeClr val="accent2"/>
              </a:solidFill>
              <a:prstDash val="solid"/>
              <a:round/>
              <a:headEnd type="none" w="med" len="med"/>
              <a:tailEnd type="none" w="med" len="med"/>
            </a:ln>
          </p:spPr>
        </p:sp>
        <p:sp>
          <p:nvSpPr>
            <p:cNvPr id="90128" name="Line 10"/>
            <p:cNvSpPr/>
            <p:nvPr/>
          </p:nvSpPr>
          <p:spPr>
            <a:xfrm>
              <a:off x="199" y="1008"/>
              <a:ext cx="853" cy="0"/>
            </a:xfrm>
            <a:prstGeom prst="line">
              <a:avLst/>
            </a:prstGeom>
            <a:ln w="12700" cap="flat" cmpd="sng">
              <a:solidFill>
                <a:schemeClr val="accent2"/>
              </a:solidFill>
              <a:prstDash val="solid"/>
              <a:round/>
              <a:headEnd type="none" w="med" len="med"/>
              <a:tailEnd type="none" w="med" len="med"/>
            </a:ln>
          </p:spPr>
        </p:sp>
        <p:sp>
          <p:nvSpPr>
            <p:cNvPr id="90129" name="Line 11"/>
            <p:cNvSpPr/>
            <p:nvPr/>
          </p:nvSpPr>
          <p:spPr>
            <a:xfrm>
              <a:off x="199" y="906"/>
              <a:ext cx="757" cy="0"/>
            </a:xfrm>
            <a:prstGeom prst="line">
              <a:avLst/>
            </a:prstGeom>
            <a:ln w="12700" cap="flat" cmpd="sng">
              <a:solidFill>
                <a:schemeClr val="accent2"/>
              </a:solidFill>
              <a:prstDash val="solid"/>
              <a:round/>
              <a:headEnd type="none" w="med" len="med"/>
              <a:tailEnd type="none" w="med" len="med"/>
            </a:ln>
          </p:spPr>
        </p:sp>
        <p:sp>
          <p:nvSpPr>
            <p:cNvPr id="90130" name="Line 12"/>
            <p:cNvSpPr/>
            <p:nvPr/>
          </p:nvSpPr>
          <p:spPr>
            <a:xfrm>
              <a:off x="199" y="1098"/>
              <a:ext cx="925" cy="0"/>
            </a:xfrm>
            <a:prstGeom prst="line">
              <a:avLst/>
            </a:prstGeom>
            <a:ln w="12700" cap="flat" cmpd="sng">
              <a:solidFill>
                <a:schemeClr val="accent2"/>
              </a:solidFill>
              <a:prstDash val="solid"/>
              <a:round/>
              <a:headEnd type="none" w="med" len="med"/>
              <a:tailEnd type="none" w="med" len="med"/>
            </a:ln>
          </p:spPr>
        </p:sp>
      </p:grpSp>
      <p:grpSp>
        <p:nvGrpSpPr>
          <p:cNvPr id="90131" name="Group 13"/>
          <p:cNvGrpSpPr/>
          <p:nvPr/>
        </p:nvGrpSpPr>
        <p:grpSpPr>
          <a:xfrm>
            <a:off x="3852863" y="1697038"/>
            <a:ext cx="1862137" cy="1206500"/>
            <a:chOff x="1559" y="820"/>
            <a:chExt cx="1173" cy="760"/>
          </a:xfrm>
        </p:grpSpPr>
        <p:sp>
          <p:nvSpPr>
            <p:cNvPr id="90132" name="AutoShape 14"/>
            <p:cNvSpPr/>
            <p:nvPr/>
          </p:nvSpPr>
          <p:spPr>
            <a:xfrm>
              <a:off x="1684" y="820"/>
              <a:ext cx="1048" cy="760"/>
            </a:xfrm>
            <a:prstGeom prst="homePlate">
              <a:avLst>
                <a:gd name="adj" fmla="val 45881"/>
              </a:avLst>
            </a:prstGeom>
            <a:solidFill>
              <a:srgbClr val="F39FD1"/>
            </a:solidFill>
            <a:ln w="12700" cap="flat" cmpd="sng">
              <a:solidFill>
                <a:srgbClr val="B50069"/>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33" name="AutoShape 15"/>
            <p:cNvSpPr/>
            <p:nvPr/>
          </p:nvSpPr>
          <p:spPr>
            <a:xfrm>
              <a:off x="1576" y="820"/>
              <a:ext cx="1048" cy="760"/>
            </a:xfrm>
            <a:prstGeom prst="homePlate">
              <a:avLst>
                <a:gd name="adj" fmla="val 45881"/>
              </a:avLst>
            </a:prstGeom>
            <a:solidFill>
              <a:srgbClr val="F39FD1"/>
            </a:solidFill>
            <a:ln w="12700" cap="flat" cmpd="sng">
              <a:solidFill>
                <a:srgbClr val="B50069"/>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34" name="Line 16"/>
            <p:cNvSpPr/>
            <p:nvPr/>
          </p:nvSpPr>
          <p:spPr>
            <a:xfrm flipH="1">
              <a:off x="1559" y="1200"/>
              <a:ext cx="1085" cy="0"/>
            </a:xfrm>
            <a:prstGeom prst="line">
              <a:avLst/>
            </a:prstGeom>
            <a:ln w="12700" cap="flat" cmpd="sng">
              <a:solidFill>
                <a:srgbClr val="B50069"/>
              </a:solidFill>
              <a:prstDash val="solid"/>
              <a:round/>
              <a:headEnd type="none" w="med" len="med"/>
              <a:tailEnd type="none" w="med" len="med"/>
            </a:ln>
          </p:spPr>
        </p:sp>
        <p:sp>
          <p:nvSpPr>
            <p:cNvPr id="90135" name="Line 17"/>
            <p:cNvSpPr/>
            <p:nvPr/>
          </p:nvSpPr>
          <p:spPr>
            <a:xfrm>
              <a:off x="1776" y="1219"/>
              <a:ext cx="0" cy="349"/>
            </a:xfrm>
            <a:prstGeom prst="line">
              <a:avLst/>
            </a:prstGeom>
            <a:ln w="12700" cap="flat" cmpd="sng">
              <a:solidFill>
                <a:srgbClr val="B50069"/>
              </a:solidFill>
              <a:prstDash val="solid"/>
              <a:round/>
              <a:headEnd type="none" w="med" len="med"/>
              <a:tailEnd type="none" w="med" len="med"/>
            </a:ln>
          </p:spPr>
        </p:sp>
        <p:sp>
          <p:nvSpPr>
            <p:cNvPr id="90136" name="Line 18"/>
            <p:cNvSpPr/>
            <p:nvPr/>
          </p:nvSpPr>
          <p:spPr>
            <a:xfrm>
              <a:off x="1968" y="1219"/>
              <a:ext cx="0" cy="349"/>
            </a:xfrm>
            <a:prstGeom prst="line">
              <a:avLst/>
            </a:prstGeom>
            <a:ln w="12700" cap="flat" cmpd="sng">
              <a:solidFill>
                <a:srgbClr val="B50069"/>
              </a:solidFill>
              <a:prstDash val="solid"/>
              <a:round/>
              <a:headEnd type="none" w="med" len="med"/>
              <a:tailEnd type="none" w="med" len="med"/>
            </a:ln>
          </p:spPr>
        </p:sp>
        <p:sp>
          <p:nvSpPr>
            <p:cNvPr id="90137" name="Line 19"/>
            <p:cNvSpPr/>
            <p:nvPr/>
          </p:nvSpPr>
          <p:spPr>
            <a:xfrm>
              <a:off x="2160" y="1219"/>
              <a:ext cx="0" cy="349"/>
            </a:xfrm>
            <a:prstGeom prst="line">
              <a:avLst/>
            </a:prstGeom>
            <a:ln w="12700" cap="flat" cmpd="sng">
              <a:solidFill>
                <a:srgbClr val="B50069"/>
              </a:solidFill>
              <a:prstDash val="solid"/>
              <a:round/>
              <a:headEnd type="none" w="med" len="med"/>
              <a:tailEnd type="none" w="med" len="med"/>
            </a:ln>
          </p:spPr>
        </p:sp>
        <p:sp>
          <p:nvSpPr>
            <p:cNvPr id="90138" name="Line 20"/>
            <p:cNvSpPr/>
            <p:nvPr/>
          </p:nvSpPr>
          <p:spPr>
            <a:xfrm>
              <a:off x="2352" y="1219"/>
              <a:ext cx="0" cy="259"/>
            </a:xfrm>
            <a:prstGeom prst="line">
              <a:avLst/>
            </a:prstGeom>
            <a:ln w="12700" cap="flat" cmpd="sng">
              <a:solidFill>
                <a:srgbClr val="B50069"/>
              </a:solidFill>
              <a:prstDash val="solid"/>
              <a:round/>
              <a:headEnd type="none" w="med" len="med"/>
              <a:tailEnd type="none" w="med" len="med"/>
            </a:ln>
          </p:spPr>
        </p:sp>
        <p:sp>
          <p:nvSpPr>
            <p:cNvPr id="90139" name="Line 21"/>
            <p:cNvSpPr/>
            <p:nvPr/>
          </p:nvSpPr>
          <p:spPr>
            <a:xfrm>
              <a:off x="1591" y="1008"/>
              <a:ext cx="853" cy="0"/>
            </a:xfrm>
            <a:prstGeom prst="line">
              <a:avLst/>
            </a:prstGeom>
            <a:ln w="12700" cap="flat" cmpd="sng">
              <a:solidFill>
                <a:srgbClr val="B50069"/>
              </a:solidFill>
              <a:prstDash val="solid"/>
              <a:round/>
              <a:headEnd type="none" w="med" len="med"/>
              <a:tailEnd type="none" w="med" len="med"/>
            </a:ln>
          </p:spPr>
        </p:sp>
        <p:sp>
          <p:nvSpPr>
            <p:cNvPr id="90140" name="Line 22"/>
            <p:cNvSpPr/>
            <p:nvPr/>
          </p:nvSpPr>
          <p:spPr>
            <a:xfrm>
              <a:off x="1591" y="906"/>
              <a:ext cx="757" cy="0"/>
            </a:xfrm>
            <a:prstGeom prst="line">
              <a:avLst/>
            </a:prstGeom>
            <a:ln w="12700" cap="flat" cmpd="sng">
              <a:solidFill>
                <a:srgbClr val="B50069"/>
              </a:solidFill>
              <a:prstDash val="solid"/>
              <a:round/>
              <a:headEnd type="none" w="med" len="med"/>
              <a:tailEnd type="none" w="med" len="med"/>
            </a:ln>
          </p:spPr>
        </p:sp>
        <p:sp>
          <p:nvSpPr>
            <p:cNvPr id="90141" name="Line 23"/>
            <p:cNvSpPr/>
            <p:nvPr/>
          </p:nvSpPr>
          <p:spPr>
            <a:xfrm>
              <a:off x="1591" y="1098"/>
              <a:ext cx="925" cy="0"/>
            </a:xfrm>
            <a:prstGeom prst="line">
              <a:avLst/>
            </a:prstGeom>
            <a:ln w="12700" cap="flat" cmpd="sng">
              <a:solidFill>
                <a:srgbClr val="B50069"/>
              </a:solidFill>
              <a:prstDash val="solid"/>
              <a:round/>
              <a:headEnd type="none" w="med" len="med"/>
              <a:tailEnd type="none" w="med" len="med"/>
            </a:ln>
          </p:spPr>
        </p:sp>
      </p:grpSp>
      <p:grpSp>
        <p:nvGrpSpPr>
          <p:cNvPr id="90142" name="Group 24"/>
          <p:cNvGrpSpPr/>
          <p:nvPr/>
        </p:nvGrpSpPr>
        <p:grpSpPr>
          <a:xfrm>
            <a:off x="8424863" y="1697038"/>
            <a:ext cx="1862137" cy="1206500"/>
            <a:chOff x="4439" y="820"/>
            <a:chExt cx="1173" cy="760"/>
          </a:xfrm>
        </p:grpSpPr>
        <p:sp>
          <p:nvSpPr>
            <p:cNvPr id="90143" name="AutoShape 25"/>
            <p:cNvSpPr/>
            <p:nvPr/>
          </p:nvSpPr>
          <p:spPr>
            <a:xfrm>
              <a:off x="4564" y="820"/>
              <a:ext cx="1048" cy="760"/>
            </a:xfrm>
            <a:prstGeom prst="homePlate">
              <a:avLst>
                <a:gd name="adj" fmla="val 45881"/>
              </a:avLst>
            </a:prstGeom>
            <a:solidFill>
              <a:srgbClr val="A2C1FE"/>
            </a:solidFill>
            <a:ln w="12700" cap="flat" cmpd="sng">
              <a:solidFill>
                <a:srgbClr val="063DE8"/>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44" name="AutoShape 26"/>
            <p:cNvSpPr/>
            <p:nvPr/>
          </p:nvSpPr>
          <p:spPr>
            <a:xfrm>
              <a:off x="4456" y="820"/>
              <a:ext cx="1048" cy="760"/>
            </a:xfrm>
            <a:prstGeom prst="homePlate">
              <a:avLst>
                <a:gd name="adj" fmla="val 45881"/>
              </a:avLst>
            </a:prstGeom>
            <a:solidFill>
              <a:srgbClr val="A2C1FE"/>
            </a:solidFill>
            <a:ln w="12700" cap="flat" cmpd="sng">
              <a:solidFill>
                <a:srgbClr val="063DE8"/>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45" name="Line 27"/>
            <p:cNvSpPr/>
            <p:nvPr/>
          </p:nvSpPr>
          <p:spPr>
            <a:xfrm flipH="1">
              <a:off x="4439" y="1200"/>
              <a:ext cx="1085" cy="0"/>
            </a:xfrm>
            <a:prstGeom prst="line">
              <a:avLst/>
            </a:prstGeom>
            <a:ln w="12700" cap="flat" cmpd="sng">
              <a:solidFill>
                <a:srgbClr val="063DE8"/>
              </a:solidFill>
              <a:prstDash val="solid"/>
              <a:round/>
              <a:headEnd type="none" w="med" len="med"/>
              <a:tailEnd type="none" w="med" len="med"/>
            </a:ln>
          </p:spPr>
        </p:sp>
        <p:sp>
          <p:nvSpPr>
            <p:cNvPr id="90146" name="Line 28"/>
            <p:cNvSpPr/>
            <p:nvPr/>
          </p:nvSpPr>
          <p:spPr>
            <a:xfrm>
              <a:off x="4656" y="1219"/>
              <a:ext cx="0" cy="349"/>
            </a:xfrm>
            <a:prstGeom prst="line">
              <a:avLst/>
            </a:prstGeom>
            <a:ln w="12700" cap="flat" cmpd="sng">
              <a:solidFill>
                <a:srgbClr val="063DE8"/>
              </a:solidFill>
              <a:prstDash val="solid"/>
              <a:round/>
              <a:headEnd type="none" w="med" len="med"/>
              <a:tailEnd type="none" w="med" len="med"/>
            </a:ln>
          </p:spPr>
        </p:sp>
        <p:sp>
          <p:nvSpPr>
            <p:cNvPr id="90147" name="Line 29"/>
            <p:cNvSpPr/>
            <p:nvPr/>
          </p:nvSpPr>
          <p:spPr>
            <a:xfrm>
              <a:off x="4848" y="1219"/>
              <a:ext cx="0" cy="349"/>
            </a:xfrm>
            <a:prstGeom prst="line">
              <a:avLst/>
            </a:prstGeom>
            <a:ln w="12700" cap="flat" cmpd="sng">
              <a:solidFill>
                <a:srgbClr val="063DE8"/>
              </a:solidFill>
              <a:prstDash val="solid"/>
              <a:round/>
              <a:headEnd type="none" w="med" len="med"/>
              <a:tailEnd type="none" w="med" len="med"/>
            </a:ln>
          </p:spPr>
        </p:sp>
        <p:sp>
          <p:nvSpPr>
            <p:cNvPr id="90148" name="Line 30"/>
            <p:cNvSpPr/>
            <p:nvPr/>
          </p:nvSpPr>
          <p:spPr>
            <a:xfrm>
              <a:off x="5040" y="1219"/>
              <a:ext cx="0" cy="349"/>
            </a:xfrm>
            <a:prstGeom prst="line">
              <a:avLst/>
            </a:prstGeom>
            <a:ln w="12700" cap="flat" cmpd="sng">
              <a:solidFill>
                <a:srgbClr val="063DE8"/>
              </a:solidFill>
              <a:prstDash val="solid"/>
              <a:round/>
              <a:headEnd type="none" w="med" len="med"/>
              <a:tailEnd type="none" w="med" len="med"/>
            </a:ln>
          </p:spPr>
        </p:sp>
        <p:sp>
          <p:nvSpPr>
            <p:cNvPr id="90149" name="Line 31"/>
            <p:cNvSpPr/>
            <p:nvPr/>
          </p:nvSpPr>
          <p:spPr>
            <a:xfrm>
              <a:off x="5232" y="1219"/>
              <a:ext cx="0" cy="259"/>
            </a:xfrm>
            <a:prstGeom prst="line">
              <a:avLst/>
            </a:prstGeom>
            <a:ln w="12700" cap="flat" cmpd="sng">
              <a:solidFill>
                <a:srgbClr val="063DE8"/>
              </a:solidFill>
              <a:prstDash val="solid"/>
              <a:round/>
              <a:headEnd type="none" w="med" len="med"/>
              <a:tailEnd type="none" w="med" len="med"/>
            </a:ln>
          </p:spPr>
        </p:sp>
        <p:sp>
          <p:nvSpPr>
            <p:cNvPr id="90150" name="Line 32"/>
            <p:cNvSpPr/>
            <p:nvPr/>
          </p:nvSpPr>
          <p:spPr>
            <a:xfrm>
              <a:off x="4471" y="1008"/>
              <a:ext cx="853" cy="0"/>
            </a:xfrm>
            <a:prstGeom prst="line">
              <a:avLst/>
            </a:prstGeom>
            <a:ln w="12700" cap="flat" cmpd="sng">
              <a:solidFill>
                <a:srgbClr val="063DE8"/>
              </a:solidFill>
              <a:prstDash val="solid"/>
              <a:round/>
              <a:headEnd type="none" w="med" len="med"/>
              <a:tailEnd type="none" w="med" len="med"/>
            </a:ln>
          </p:spPr>
        </p:sp>
        <p:sp>
          <p:nvSpPr>
            <p:cNvPr id="90151" name="Line 33"/>
            <p:cNvSpPr/>
            <p:nvPr/>
          </p:nvSpPr>
          <p:spPr>
            <a:xfrm>
              <a:off x="4471" y="906"/>
              <a:ext cx="757" cy="0"/>
            </a:xfrm>
            <a:prstGeom prst="line">
              <a:avLst/>
            </a:prstGeom>
            <a:ln w="12700" cap="flat" cmpd="sng">
              <a:solidFill>
                <a:srgbClr val="063DE8"/>
              </a:solidFill>
              <a:prstDash val="solid"/>
              <a:round/>
              <a:headEnd type="none" w="med" len="med"/>
              <a:tailEnd type="none" w="med" len="med"/>
            </a:ln>
          </p:spPr>
        </p:sp>
        <p:sp>
          <p:nvSpPr>
            <p:cNvPr id="90152" name="Line 34"/>
            <p:cNvSpPr/>
            <p:nvPr/>
          </p:nvSpPr>
          <p:spPr>
            <a:xfrm>
              <a:off x="4471" y="1098"/>
              <a:ext cx="925" cy="0"/>
            </a:xfrm>
            <a:prstGeom prst="line">
              <a:avLst/>
            </a:prstGeom>
            <a:ln w="12700" cap="flat" cmpd="sng">
              <a:solidFill>
                <a:srgbClr val="063DE8"/>
              </a:solidFill>
              <a:prstDash val="solid"/>
              <a:round/>
              <a:headEnd type="none" w="med" len="med"/>
              <a:tailEnd type="none" w="med" len="med"/>
            </a:ln>
          </p:spPr>
        </p:sp>
      </p:grpSp>
      <p:grpSp>
        <p:nvGrpSpPr>
          <p:cNvPr id="90153" name="Group 35"/>
          <p:cNvGrpSpPr/>
          <p:nvPr/>
        </p:nvGrpSpPr>
        <p:grpSpPr>
          <a:xfrm>
            <a:off x="6138863" y="1697038"/>
            <a:ext cx="1862137" cy="1206500"/>
            <a:chOff x="2999" y="820"/>
            <a:chExt cx="1173" cy="760"/>
          </a:xfrm>
        </p:grpSpPr>
        <p:sp>
          <p:nvSpPr>
            <p:cNvPr id="90154" name="AutoShape 36"/>
            <p:cNvSpPr/>
            <p:nvPr/>
          </p:nvSpPr>
          <p:spPr>
            <a:xfrm>
              <a:off x="3124" y="820"/>
              <a:ext cx="1048" cy="760"/>
            </a:xfrm>
            <a:prstGeom prst="homePlate">
              <a:avLst>
                <a:gd name="adj" fmla="val 45881"/>
              </a:avLst>
            </a:prstGeom>
            <a:solidFill>
              <a:srgbClr val="FDE3BA"/>
            </a:solidFill>
            <a:ln w="12700" cap="flat" cmpd="sng">
              <a:solidFill>
                <a:schemeClr val="hlink"/>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55" name="AutoShape 37"/>
            <p:cNvSpPr/>
            <p:nvPr/>
          </p:nvSpPr>
          <p:spPr>
            <a:xfrm>
              <a:off x="3016" y="820"/>
              <a:ext cx="1048" cy="760"/>
            </a:xfrm>
            <a:prstGeom prst="homePlate">
              <a:avLst>
                <a:gd name="adj" fmla="val 45881"/>
              </a:avLst>
            </a:prstGeom>
            <a:solidFill>
              <a:srgbClr val="FDE3BA"/>
            </a:solidFill>
            <a:ln w="12700" cap="flat" cmpd="sng">
              <a:solidFill>
                <a:schemeClr val="hlink"/>
              </a:solidFill>
              <a:prstDash val="solid"/>
              <a:miter/>
              <a:headEnd type="none" w="med" len="med"/>
              <a:tailEnd type="none" w="med" len="med"/>
            </a:ln>
          </p:spPr>
          <p:txBody>
            <a:bodyPr wrap="none" anchor="ctr"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90156" name="Line 38"/>
            <p:cNvSpPr/>
            <p:nvPr/>
          </p:nvSpPr>
          <p:spPr>
            <a:xfrm flipH="1">
              <a:off x="2999" y="1200"/>
              <a:ext cx="1085" cy="0"/>
            </a:xfrm>
            <a:prstGeom prst="line">
              <a:avLst/>
            </a:prstGeom>
            <a:ln w="12700" cap="flat" cmpd="sng">
              <a:solidFill>
                <a:schemeClr val="hlink"/>
              </a:solidFill>
              <a:prstDash val="solid"/>
              <a:round/>
              <a:headEnd type="none" w="med" len="med"/>
              <a:tailEnd type="none" w="med" len="med"/>
            </a:ln>
          </p:spPr>
        </p:sp>
        <p:sp>
          <p:nvSpPr>
            <p:cNvPr id="90157" name="Line 39"/>
            <p:cNvSpPr/>
            <p:nvPr/>
          </p:nvSpPr>
          <p:spPr>
            <a:xfrm>
              <a:off x="3216" y="1219"/>
              <a:ext cx="0" cy="349"/>
            </a:xfrm>
            <a:prstGeom prst="line">
              <a:avLst/>
            </a:prstGeom>
            <a:ln w="12700" cap="flat" cmpd="sng">
              <a:solidFill>
                <a:schemeClr val="hlink"/>
              </a:solidFill>
              <a:prstDash val="solid"/>
              <a:round/>
              <a:headEnd type="none" w="med" len="med"/>
              <a:tailEnd type="none" w="med" len="med"/>
            </a:ln>
          </p:spPr>
        </p:sp>
        <p:sp>
          <p:nvSpPr>
            <p:cNvPr id="90158" name="Line 40"/>
            <p:cNvSpPr/>
            <p:nvPr/>
          </p:nvSpPr>
          <p:spPr>
            <a:xfrm>
              <a:off x="3408" y="1219"/>
              <a:ext cx="0" cy="349"/>
            </a:xfrm>
            <a:prstGeom prst="line">
              <a:avLst/>
            </a:prstGeom>
            <a:ln w="12700" cap="flat" cmpd="sng">
              <a:solidFill>
                <a:schemeClr val="hlink"/>
              </a:solidFill>
              <a:prstDash val="solid"/>
              <a:round/>
              <a:headEnd type="none" w="med" len="med"/>
              <a:tailEnd type="none" w="med" len="med"/>
            </a:ln>
          </p:spPr>
        </p:sp>
        <p:sp>
          <p:nvSpPr>
            <p:cNvPr id="90159" name="Line 41"/>
            <p:cNvSpPr/>
            <p:nvPr/>
          </p:nvSpPr>
          <p:spPr>
            <a:xfrm>
              <a:off x="3600" y="1219"/>
              <a:ext cx="0" cy="349"/>
            </a:xfrm>
            <a:prstGeom prst="line">
              <a:avLst/>
            </a:prstGeom>
            <a:ln w="12700" cap="flat" cmpd="sng">
              <a:solidFill>
                <a:schemeClr val="hlink"/>
              </a:solidFill>
              <a:prstDash val="solid"/>
              <a:round/>
              <a:headEnd type="none" w="med" len="med"/>
              <a:tailEnd type="none" w="med" len="med"/>
            </a:ln>
          </p:spPr>
        </p:sp>
        <p:sp>
          <p:nvSpPr>
            <p:cNvPr id="90160" name="Line 42"/>
            <p:cNvSpPr/>
            <p:nvPr/>
          </p:nvSpPr>
          <p:spPr>
            <a:xfrm>
              <a:off x="3792" y="1219"/>
              <a:ext cx="0" cy="259"/>
            </a:xfrm>
            <a:prstGeom prst="line">
              <a:avLst/>
            </a:prstGeom>
            <a:ln w="12700" cap="flat" cmpd="sng">
              <a:solidFill>
                <a:schemeClr val="hlink"/>
              </a:solidFill>
              <a:prstDash val="solid"/>
              <a:round/>
              <a:headEnd type="none" w="med" len="med"/>
              <a:tailEnd type="none" w="med" len="med"/>
            </a:ln>
          </p:spPr>
        </p:sp>
        <p:sp>
          <p:nvSpPr>
            <p:cNvPr id="90161" name="Line 43"/>
            <p:cNvSpPr/>
            <p:nvPr/>
          </p:nvSpPr>
          <p:spPr>
            <a:xfrm>
              <a:off x="3031" y="1008"/>
              <a:ext cx="853" cy="0"/>
            </a:xfrm>
            <a:prstGeom prst="line">
              <a:avLst/>
            </a:prstGeom>
            <a:ln w="12700" cap="flat" cmpd="sng">
              <a:solidFill>
                <a:schemeClr val="hlink"/>
              </a:solidFill>
              <a:prstDash val="solid"/>
              <a:round/>
              <a:headEnd type="none" w="med" len="med"/>
              <a:tailEnd type="none" w="med" len="med"/>
            </a:ln>
          </p:spPr>
        </p:sp>
        <p:sp>
          <p:nvSpPr>
            <p:cNvPr id="90162" name="Line 44"/>
            <p:cNvSpPr/>
            <p:nvPr/>
          </p:nvSpPr>
          <p:spPr>
            <a:xfrm>
              <a:off x="3031" y="906"/>
              <a:ext cx="757" cy="0"/>
            </a:xfrm>
            <a:prstGeom prst="line">
              <a:avLst/>
            </a:prstGeom>
            <a:ln w="12700" cap="flat" cmpd="sng">
              <a:solidFill>
                <a:schemeClr val="hlink"/>
              </a:solidFill>
              <a:prstDash val="solid"/>
              <a:round/>
              <a:headEnd type="none" w="med" len="med"/>
              <a:tailEnd type="none" w="med" len="med"/>
            </a:ln>
          </p:spPr>
        </p:sp>
        <p:sp>
          <p:nvSpPr>
            <p:cNvPr id="90163" name="Line 45"/>
            <p:cNvSpPr/>
            <p:nvPr/>
          </p:nvSpPr>
          <p:spPr>
            <a:xfrm>
              <a:off x="3031" y="1098"/>
              <a:ext cx="925" cy="0"/>
            </a:xfrm>
            <a:prstGeom prst="line">
              <a:avLst/>
            </a:prstGeom>
            <a:ln w="12700" cap="flat" cmpd="sng">
              <a:solidFill>
                <a:schemeClr val="hlink"/>
              </a:solidFill>
              <a:prstDash val="solid"/>
              <a:round/>
              <a:headEnd type="none" w="med" len="med"/>
              <a:tailEnd type="none" w="med" len="med"/>
            </a:ln>
          </p:spPr>
        </p:sp>
      </p:grpSp>
      <p:sp>
        <p:nvSpPr>
          <p:cNvPr id="90164" name="Rectangle 49"/>
          <p:cNvSpPr/>
          <p:nvPr/>
        </p:nvSpPr>
        <p:spPr>
          <a:xfrm>
            <a:off x="1616075" y="1311275"/>
            <a:ext cx="1568450" cy="366713"/>
          </a:xfrm>
          <a:prstGeom prst="rect">
            <a:avLst/>
          </a:prstGeom>
          <a:noFill/>
          <a:ln w="12700">
            <a:noFill/>
          </a:ln>
        </p:spPr>
        <p:txBody>
          <a:bodyPr wrap="none" lIns="90488" tIns="44450" rIns="90488" bIns="44450" anchor="t" anchorCtr="0">
            <a:spAutoFit/>
          </a:bodyPr>
          <a:p>
            <a:pPr eaLnBrk="0" hangingPunct="0"/>
            <a:r>
              <a:rPr lang="zh-CN" altLang="en-US" b="1" dirty="0">
                <a:latin typeface="微软雅黑" panose="020B0503020204020204" pitchFamily="34" charset="-122"/>
                <a:ea typeface="微软雅黑" panose="020B0503020204020204" pitchFamily="34" charset="-122"/>
              </a:rPr>
              <a:t>供应商价值链</a:t>
            </a:r>
            <a:endParaRPr lang="zh-CN" altLang="en-US" b="1" dirty="0">
              <a:latin typeface="微软雅黑" panose="020B0503020204020204" pitchFamily="34" charset="-122"/>
              <a:ea typeface="微软雅黑" panose="020B0503020204020204" pitchFamily="34" charset="-122"/>
            </a:endParaRPr>
          </a:p>
        </p:txBody>
      </p:sp>
      <p:sp>
        <p:nvSpPr>
          <p:cNvPr id="90165" name="Rectangle 50"/>
          <p:cNvSpPr/>
          <p:nvPr/>
        </p:nvSpPr>
        <p:spPr>
          <a:xfrm>
            <a:off x="3852863" y="1304925"/>
            <a:ext cx="1336675" cy="366713"/>
          </a:xfrm>
          <a:prstGeom prst="rect">
            <a:avLst/>
          </a:prstGeom>
          <a:noFill/>
          <a:ln w="12700">
            <a:noFill/>
          </a:ln>
        </p:spPr>
        <p:txBody>
          <a:bodyPr wrap="none" lIns="90488" tIns="44450" rIns="90488" bIns="44450" anchor="t" anchorCtr="0">
            <a:spAutoFit/>
          </a:bodyPr>
          <a:p>
            <a:pPr eaLnBrk="0" hangingPunct="0"/>
            <a:r>
              <a:rPr lang="zh-CN" altLang="en-US" b="1" dirty="0">
                <a:latin typeface="微软雅黑" panose="020B0503020204020204" pitchFamily="34" charset="-122"/>
                <a:ea typeface="微软雅黑" panose="020B0503020204020204" pitchFamily="34" charset="-122"/>
              </a:rPr>
              <a:t>企业价值链</a:t>
            </a:r>
            <a:endParaRPr lang="zh-CN" altLang="en-US" b="1" dirty="0">
              <a:latin typeface="微软雅黑" panose="020B0503020204020204" pitchFamily="34" charset="-122"/>
              <a:ea typeface="微软雅黑" panose="020B0503020204020204" pitchFamily="34" charset="-122"/>
            </a:endParaRPr>
          </a:p>
        </p:txBody>
      </p:sp>
      <p:sp>
        <p:nvSpPr>
          <p:cNvPr id="90166" name="Rectangle 51"/>
          <p:cNvSpPr/>
          <p:nvPr/>
        </p:nvSpPr>
        <p:spPr>
          <a:xfrm>
            <a:off x="6138863" y="1311275"/>
            <a:ext cx="1336675" cy="366713"/>
          </a:xfrm>
          <a:prstGeom prst="rect">
            <a:avLst/>
          </a:prstGeom>
          <a:noFill/>
          <a:ln w="12700">
            <a:noFill/>
          </a:ln>
        </p:spPr>
        <p:txBody>
          <a:bodyPr wrap="none" lIns="90488" tIns="44450" rIns="90488" bIns="44450" anchor="t" anchorCtr="0">
            <a:spAutoFit/>
          </a:bodyPr>
          <a:p>
            <a:pPr eaLnBrk="0" hangingPunct="0"/>
            <a:r>
              <a:rPr lang="zh-CN" altLang="en-US" b="1" dirty="0">
                <a:latin typeface="微软雅黑" panose="020B0503020204020204" pitchFamily="34" charset="-122"/>
                <a:ea typeface="微软雅黑" panose="020B0503020204020204" pitchFamily="34" charset="-122"/>
              </a:rPr>
              <a:t>渠道价值链</a:t>
            </a:r>
            <a:endParaRPr lang="zh-CN" altLang="en-US" b="1" dirty="0">
              <a:latin typeface="微软雅黑" panose="020B0503020204020204" pitchFamily="34" charset="-122"/>
              <a:ea typeface="微软雅黑" panose="020B0503020204020204" pitchFamily="34" charset="-122"/>
            </a:endParaRPr>
          </a:p>
        </p:txBody>
      </p:sp>
      <p:sp>
        <p:nvSpPr>
          <p:cNvPr id="90167" name="Rectangle 52"/>
          <p:cNvSpPr/>
          <p:nvPr/>
        </p:nvSpPr>
        <p:spPr>
          <a:xfrm>
            <a:off x="8435975" y="1311275"/>
            <a:ext cx="1566863" cy="366713"/>
          </a:xfrm>
          <a:prstGeom prst="rect">
            <a:avLst/>
          </a:prstGeom>
          <a:noFill/>
          <a:ln w="12700">
            <a:noFill/>
          </a:ln>
        </p:spPr>
        <p:txBody>
          <a:bodyPr wrap="none" lIns="90488" tIns="44450" rIns="90488" bIns="44450" anchor="t" anchorCtr="0">
            <a:spAutoFit/>
          </a:bodyPr>
          <a:p>
            <a:pPr eaLnBrk="0" hangingPunct="0"/>
            <a:r>
              <a:rPr lang="zh-CN" altLang="en-US" b="1" dirty="0">
                <a:latin typeface="微软雅黑" panose="020B0503020204020204" pitchFamily="34" charset="-122"/>
                <a:ea typeface="微软雅黑" panose="020B0503020204020204" pitchFamily="34" charset="-122"/>
              </a:rPr>
              <a:t>购买者价值链</a:t>
            </a:r>
            <a:endParaRPr lang="zh-CN" altLang="en-US" b="1" dirty="0">
              <a:latin typeface="微软雅黑" panose="020B0503020204020204" pitchFamily="34" charset="-122"/>
              <a:ea typeface="微软雅黑" panose="020B0503020204020204" pitchFamily="34" charset="-122"/>
            </a:endParaRPr>
          </a:p>
        </p:txBody>
      </p:sp>
      <p:sp>
        <p:nvSpPr>
          <p:cNvPr id="66" name="Rectangle 55"/>
          <p:cNvSpPr>
            <a:spLocks noChangeArrowheads="1"/>
          </p:cNvSpPr>
          <p:nvPr/>
        </p:nvSpPr>
        <p:spPr bwMode="auto">
          <a:xfrm>
            <a:off x="1670050" y="3276600"/>
            <a:ext cx="8616950" cy="2859088"/>
          </a:xfrm>
          <a:prstGeom prst="rect">
            <a:avLst/>
          </a:prstGeom>
          <a:solidFill>
            <a:srgbClr val="57CAF4"/>
          </a:solidFill>
          <a:ln>
            <a:noFill/>
          </a:ln>
          <a:effectLst/>
        </p:spPr>
        <p:txBody>
          <a:bodyPr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上游价值：</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完成不断提供企业活动所需物品和服务的活动</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每个企业最终都必须找到能够成为一些购买者价值链的一部分的方法</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差别化的最终基础是在购买者的价值链中扮演一定角色的能力</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这就会产生价值！！！</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某一行业中企业的价值链各异，反映每个企业独特的特性：</a:t>
            </a:r>
            <a:endParaRPr kumimoji="0" lang="en-US" altLang="zh-CN" sz="2000" b="1"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历史</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战略</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成功的运营</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216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216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216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3.2  </a:t>
            </a:r>
            <a:r>
              <a:rPr lang="zh-CN" altLang="en-US" sz="3200" dirty="0">
                <a:solidFill>
                  <a:srgbClr val="1570C1"/>
                </a:solidFill>
                <a:latin typeface="微软雅黑" panose="020B0503020204020204" pitchFamily="34" charset="-122"/>
                <a:ea typeface="微软雅黑" panose="020B0503020204020204" pitchFamily="34" charset="-122"/>
              </a:rPr>
              <a:t>价值链的基本构成</a:t>
            </a:r>
            <a:endParaRPr lang="zh-CN" altLang="en-US" sz="3200" dirty="0">
              <a:solidFill>
                <a:srgbClr val="1570C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969962" y="1427163"/>
            <a:ext cx="7896225" cy="4483100"/>
          </a:xfrm>
          <a:prstGeom prst="rect">
            <a:avLst/>
          </a:prstGeom>
          <a:noFill/>
          <a:ln w="9525">
            <a:noFill/>
          </a:ln>
        </p:spPr>
      </p:pic>
      <p:sp>
        <p:nvSpPr>
          <p:cNvPr id="12" name="Rectangle 3"/>
          <p:cNvSpPr txBox="1"/>
          <p:nvPr/>
        </p:nvSpPr>
        <p:spPr>
          <a:xfrm>
            <a:off x="5422900" y="1679575"/>
            <a:ext cx="6388100" cy="425450"/>
          </a:xfrm>
          <a:prstGeom prst="rect">
            <a:avLst/>
          </a:prstGeom>
          <a:noFill/>
          <a:ln w="9525">
            <a:noFill/>
          </a:ln>
        </p:spPr>
        <p:txBody>
          <a:bodyPr anchor="t" anchorCtr="0"/>
          <a:p>
            <a:pPr>
              <a:lnSpc>
                <a:spcPct val="90000"/>
              </a:lnSpc>
              <a:spcBef>
                <a:spcPts val="1000"/>
              </a:spcBef>
              <a:buFont typeface="Arial" panose="020B0604020202020204" pitchFamily="34" charset="0"/>
            </a:pPr>
            <a:r>
              <a:rPr lang="zh-CN" altLang="en-US" sz="2800" dirty="0">
                <a:solidFill>
                  <a:srgbClr val="1570C1"/>
                </a:solidFill>
                <a:latin typeface="微软雅黑" panose="020B0503020204020204" pitchFamily="34" charset="-122"/>
                <a:ea typeface="微软雅黑" panose="020B0503020204020204" pitchFamily="34" charset="-122"/>
              </a:rPr>
              <a:t>上面每一项活动又可以进一步分解，如</a:t>
            </a:r>
            <a:r>
              <a:rPr lang="zh-CN" altLang="en-US" sz="2800" b="1" dirty="0">
                <a:solidFill>
                  <a:srgbClr val="1570C1"/>
                </a:solidFill>
                <a:latin typeface="微软雅黑" panose="020B0503020204020204" pitchFamily="34" charset="-122"/>
                <a:ea typeface="微软雅黑" panose="020B0503020204020204" pitchFamily="34" charset="-122"/>
              </a:rPr>
              <a:t>：</a:t>
            </a:r>
            <a:endParaRPr lang="zh-CN" altLang="en-US" sz="2800" b="1" dirty="0">
              <a:solidFill>
                <a:srgbClr val="1570C1"/>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676900" y="2760663"/>
            <a:ext cx="6134100" cy="2774950"/>
            <a:chOff x="5732584" y="2759869"/>
            <a:chExt cx="6134100" cy="2774950"/>
          </a:xfrm>
        </p:grpSpPr>
        <p:sp>
          <p:nvSpPr>
            <p:cNvPr id="92171" name="AutoShape 4"/>
            <p:cNvSpPr/>
            <p:nvPr/>
          </p:nvSpPr>
          <p:spPr>
            <a:xfrm>
              <a:off x="8170984" y="2759869"/>
              <a:ext cx="1104900" cy="1022350"/>
            </a:xfrm>
            <a:prstGeom prst="homePlate">
              <a:avLst>
                <a:gd name="adj" fmla="val 26953"/>
              </a:avLst>
            </a:prstGeom>
            <a:solidFill>
              <a:srgbClr val="1570C1"/>
            </a:solidFill>
            <a:ln w="9525"/>
            <a:scene3d>
              <a:camera prst="legacyObliqueTopLeft">
                <a:rot lat="0" lon="0" rev="0"/>
              </a:camera>
              <a:lightRig rig="legacyFlat3" dir="t"/>
            </a:scene3d>
            <a:sp3d extrusionH="430200" prstMaterial="legacyMatte">
              <a:bevelT w="13500" h="13500" prst="angle"/>
              <a:bevelB w="13500" h="13500" prst="angle"/>
              <a:extrusionClr>
                <a:schemeClr val="accent1"/>
              </a:extrusionClr>
            </a:sp3d>
          </p:spPr>
          <p:txBody>
            <a:bodyPr anchor="t" anchorCtr="0">
              <a:flatTx/>
            </a:bodyPr>
            <a:p>
              <a:r>
                <a:rPr lang="zh-CN" altLang="en-US" sz="2400" dirty="0">
                  <a:solidFill>
                    <a:schemeClr val="bg1"/>
                  </a:solidFill>
                  <a:latin typeface="微软雅黑" panose="020B0503020204020204" pitchFamily="34" charset="-122"/>
                  <a:ea typeface="微软雅黑" panose="020B0503020204020204" pitchFamily="34" charset="-122"/>
                </a:rPr>
                <a:t>生产制造</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2172" name="AutoShape 5"/>
            <p:cNvSpPr/>
            <p:nvPr/>
          </p:nvSpPr>
          <p:spPr>
            <a:xfrm>
              <a:off x="5732584" y="4468019"/>
              <a:ext cx="1104900" cy="1022350"/>
            </a:xfrm>
            <a:prstGeom prst="homePlate">
              <a:avLst>
                <a:gd name="adj" fmla="val 26953"/>
              </a:avLst>
            </a:prstGeom>
            <a:solidFill>
              <a:srgbClr val="00FF00"/>
            </a:solidFill>
            <a:ln w="9525"/>
            <a:scene3d>
              <a:camera prst="legacyObliqueTopLeft">
                <a:rot lat="0" lon="0" rev="0"/>
              </a:camera>
              <a:lightRig rig="legacyFlat3" dir="t"/>
            </a:scene3d>
            <a:sp3d extrusionH="430200" prstMaterial="legacyMatte">
              <a:bevelT w="13500" h="13500" prst="angle"/>
              <a:bevelB w="13500" h="13500" prst="angle"/>
              <a:extrusionClr>
                <a:srgbClr val="00FF00"/>
              </a:extrusionClr>
            </a:sp3d>
          </p:spPr>
          <p:txBody>
            <a:bodyPr anchor="t" anchorCtr="0">
              <a:flatTx/>
            </a:bodyPr>
            <a:p>
              <a:r>
                <a:rPr lang="zh-CN" altLang="en-US" sz="2400" dirty="0">
                  <a:solidFill>
                    <a:schemeClr val="bg1"/>
                  </a:solidFill>
                  <a:latin typeface="微软雅黑" panose="020B0503020204020204" pitchFamily="34" charset="-122"/>
                  <a:ea typeface="微软雅黑" panose="020B0503020204020204" pitchFamily="34" charset="-122"/>
                </a:rPr>
                <a:t>热处理</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2173" name="AutoShape 6"/>
            <p:cNvSpPr/>
            <p:nvPr/>
          </p:nvSpPr>
          <p:spPr>
            <a:xfrm>
              <a:off x="7370884" y="4512469"/>
              <a:ext cx="1104900" cy="1022350"/>
            </a:xfrm>
            <a:prstGeom prst="homePlate">
              <a:avLst>
                <a:gd name="adj" fmla="val 26953"/>
              </a:avLst>
            </a:prstGeom>
            <a:solidFill>
              <a:srgbClr val="00FF00"/>
            </a:solidFill>
            <a:ln w="9525"/>
            <a:scene3d>
              <a:camera prst="legacyObliqueTopLeft">
                <a:rot lat="0" lon="0" rev="0"/>
              </a:camera>
              <a:lightRig rig="legacyFlat3" dir="t"/>
            </a:scene3d>
            <a:sp3d extrusionH="430200" prstMaterial="legacyMatte">
              <a:bevelT w="13500" h="13500" prst="angle"/>
              <a:bevelB w="13500" h="13500" prst="angle"/>
              <a:extrusionClr>
                <a:srgbClr val="00FF00"/>
              </a:extrusionClr>
            </a:sp3d>
          </p:spPr>
          <p:txBody>
            <a:bodyPr anchor="t" anchorCtr="0">
              <a:flatTx/>
            </a:bodyPr>
            <a:p>
              <a:r>
                <a:rPr lang="zh-CN" altLang="en-US" sz="2400" dirty="0">
                  <a:solidFill>
                    <a:schemeClr val="bg1"/>
                  </a:solidFill>
                  <a:latin typeface="微软雅黑" panose="020B0503020204020204" pitchFamily="34" charset="-122"/>
                  <a:ea typeface="微软雅黑" panose="020B0503020204020204" pitchFamily="34" charset="-122"/>
                </a:rPr>
                <a:t>机加工</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2174" name="AutoShape 7"/>
            <p:cNvSpPr/>
            <p:nvPr/>
          </p:nvSpPr>
          <p:spPr>
            <a:xfrm>
              <a:off x="9161584" y="4468019"/>
              <a:ext cx="1104900" cy="1022350"/>
            </a:xfrm>
            <a:prstGeom prst="homePlate">
              <a:avLst>
                <a:gd name="adj" fmla="val 26953"/>
              </a:avLst>
            </a:prstGeom>
            <a:solidFill>
              <a:srgbClr val="00FF00"/>
            </a:solidFill>
            <a:ln w="9525"/>
            <a:scene3d>
              <a:camera prst="legacyObliqueTopLeft">
                <a:rot lat="0" lon="0" rev="0"/>
              </a:camera>
              <a:lightRig rig="legacyFlat3" dir="t"/>
            </a:scene3d>
            <a:sp3d extrusionH="430200" prstMaterial="legacyMatte">
              <a:bevelT w="13500" h="13500" prst="angle"/>
              <a:bevelB w="13500" h="13500" prst="angle"/>
              <a:extrusionClr>
                <a:srgbClr val="00FF00"/>
              </a:extrusionClr>
            </a:sp3d>
          </p:spPr>
          <p:txBody>
            <a:bodyPr anchor="t" anchorCtr="0">
              <a:flatTx/>
            </a:bodyPr>
            <a:p>
              <a:r>
                <a:rPr lang="zh-CN" altLang="en-US" sz="2400" dirty="0">
                  <a:solidFill>
                    <a:schemeClr val="bg1"/>
                  </a:solidFill>
                  <a:latin typeface="微软雅黑" panose="020B0503020204020204" pitchFamily="34" charset="-122"/>
                  <a:ea typeface="微软雅黑" panose="020B0503020204020204" pitchFamily="34" charset="-122"/>
                </a:rPr>
                <a:t>组装调试</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2175" name="AutoShape 8"/>
            <p:cNvSpPr/>
            <p:nvPr/>
          </p:nvSpPr>
          <p:spPr>
            <a:xfrm>
              <a:off x="10761784" y="4468019"/>
              <a:ext cx="1104900" cy="1022350"/>
            </a:xfrm>
            <a:prstGeom prst="homePlate">
              <a:avLst>
                <a:gd name="adj" fmla="val 26953"/>
              </a:avLst>
            </a:prstGeom>
            <a:solidFill>
              <a:srgbClr val="00FF00"/>
            </a:solidFill>
            <a:ln w="9525"/>
            <a:scene3d>
              <a:camera prst="legacyObliqueTopLeft">
                <a:rot lat="0" lon="0" rev="0"/>
              </a:camera>
              <a:lightRig rig="legacyFlat3" dir="t"/>
            </a:scene3d>
            <a:sp3d extrusionH="430200" prstMaterial="legacyMatte">
              <a:bevelT w="13500" h="13500" prst="angle"/>
              <a:bevelB w="13500" h="13500" prst="angle"/>
              <a:extrusionClr>
                <a:srgbClr val="00FF00"/>
              </a:extrusionClr>
            </a:sp3d>
          </p:spPr>
          <p:txBody>
            <a:bodyPr anchor="t" anchorCtr="0">
              <a:flatTx/>
            </a:bodyPr>
            <a:p>
              <a:r>
                <a:rPr lang="zh-CN" altLang="en-US" sz="2400" dirty="0">
                  <a:solidFill>
                    <a:schemeClr val="bg1"/>
                  </a:solidFill>
                  <a:latin typeface="微软雅黑" panose="020B0503020204020204" pitchFamily="34" charset="-122"/>
                  <a:ea typeface="微软雅黑" panose="020B0503020204020204" pitchFamily="34" charset="-122"/>
                </a:rPr>
                <a:t>质量检验</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2176" name="Line 9"/>
            <p:cNvSpPr/>
            <p:nvPr/>
          </p:nvSpPr>
          <p:spPr>
            <a:xfrm>
              <a:off x="8551984" y="3782219"/>
              <a:ext cx="0" cy="304800"/>
            </a:xfrm>
            <a:prstGeom prst="line">
              <a:avLst/>
            </a:prstGeom>
            <a:ln w="9525" cap="flat" cmpd="sng">
              <a:solidFill>
                <a:schemeClr val="tx1"/>
              </a:solidFill>
              <a:prstDash val="solid"/>
              <a:round/>
              <a:headEnd type="none" w="med" len="med"/>
              <a:tailEnd type="none" w="med" len="med"/>
            </a:ln>
          </p:spPr>
        </p:sp>
        <p:sp>
          <p:nvSpPr>
            <p:cNvPr id="92177" name="Line 10"/>
            <p:cNvSpPr/>
            <p:nvPr/>
          </p:nvSpPr>
          <p:spPr>
            <a:xfrm>
              <a:off x="6189784" y="4087019"/>
              <a:ext cx="4648200" cy="0"/>
            </a:xfrm>
            <a:prstGeom prst="line">
              <a:avLst/>
            </a:prstGeom>
            <a:ln w="9525" cap="flat" cmpd="sng">
              <a:solidFill>
                <a:schemeClr val="tx1"/>
              </a:solidFill>
              <a:prstDash val="solid"/>
              <a:round/>
              <a:headEnd type="none" w="med" len="med"/>
              <a:tailEnd type="none" w="med" len="med"/>
            </a:ln>
          </p:spPr>
        </p:sp>
        <p:sp>
          <p:nvSpPr>
            <p:cNvPr id="92178" name="Line 11"/>
            <p:cNvSpPr/>
            <p:nvPr/>
          </p:nvSpPr>
          <p:spPr>
            <a:xfrm>
              <a:off x="6189784" y="4087019"/>
              <a:ext cx="0" cy="304800"/>
            </a:xfrm>
            <a:prstGeom prst="line">
              <a:avLst/>
            </a:prstGeom>
            <a:ln w="9525" cap="flat" cmpd="sng">
              <a:solidFill>
                <a:schemeClr val="tx1"/>
              </a:solidFill>
              <a:prstDash val="solid"/>
              <a:round/>
              <a:headEnd type="none" w="med" len="med"/>
              <a:tailEnd type="triangle" w="med" len="med"/>
            </a:ln>
          </p:spPr>
        </p:sp>
        <p:sp>
          <p:nvSpPr>
            <p:cNvPr id="92179" name="Line 12"/>
            <p:cNvSpPr/>
            <p:nvPr/>
          </p:nvSpPr>
          <p:spPr>
            <a:xfrm>
              <a:off x="7637584" y="4087019"/>
              <a:ext cx="0" cy="304800"/>
            </a:xfrm>
            <a:prstGeom prst="line">
              <a:avLst/>
            </a:prstGeom>
            <a:ln w="9525" cap="flat" cmpd="sng">
              <a:solidFill>
                <a:schemeClr val="tx1"/>
              </a:solidFill>
              <a:prstDash val="solid"/>
              <a:round/>
              <a:headEnd type="none" w="med" len="med"/>
              <a:tailEnd type="triangle" w="med" len="med"/>
            </a:ln>
          </p:spPr>
        </p:sp>
        <p:sp>
          <p:nvSpPr>
            <p:cNvPr id="92180" name="Line 13"/>
            <p:cNvSpPr/>
            <p:nvPr/>
          </p:nvSpPr>
          <p:spPr>
            <a:xfrm>
              <a:off x="9390184" y="4087019"/>
              <a:ext cx="0" cy="304800"/>
            </a:xfrm>
            <a:prstGeom prst="line">
              <a:avLst/>
            </a:prstGeom>
            <a:ln w="9525" cap="flat" cmpd="sng">
              <a:solidFill>
                <a:schemeClr val="tx1"/>
              </a:solidFill>
              <a:prstDash val="solid"/>
              <a:round/>
              <a:headEnd type="none" w="med" len="med"/>
              <a:tailEnd type="triangle" w="med" len="med"/>
            </a:ln>
          </p:spPr>
        </p:sp>
        <p:sp>
          <p:nvSpPr>
            <p:cNvPr id="92181" name="Line 14"/>
            <p:cNvSpPr/>
            <p:nvPr/>
          </p:nvSpPr>
          <p:spPr>
            <a:xfrm>
              <a:off x="10837984" y="4087019"/>
              <a:ext cx="0" cy="304800"/>
            </a:xfrm>
            <a:prstGeom prst="line">
              <a:avLst/>
            </a:prstGeom>
            <a:ln w="9525" cap="flat" cmpd="sng">
              <a:solidFill>
                <a:schemeClr val="tx1"/>
              </a:solidFill>
              <a:prstDash val="solid"/>
              <a:round/>
              <a:headEnd type="none" w="med" len="med"/>
              <a:tailEnd type="triangle" w="med" len="med"/>
            </a:ln>
          </p:spPr>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36"/>
          <p:cNvSpPr/>
          <p:nvPr/>
        </p:nvSpPr>
        <p:spPr>
          <a:xfrm>
            <a:off x="5865813" y="989013"/>
            <a:ext cx="460375" cy="219075"/>
          </a:xfrm>
          <a:prstGeom prst="rect">
            <a:avLst/>
          </a:prstGeom>
          <a:noFill/>
          <a:ln w="9525">
            <a:noFill/>
          </a:ln>
          <a:effectLst>
            <a:prstShdw prst="shdw17" dist="17961" dir="13499999">
              <a:srgbClr val="5C7A00"/>
            </a:prstShdw>
          </a:effectLst>
        </p:spPr>
        <p:txBody>
          <a:bodyPr rot="10800000" vert="eaVert" wrap="none" anchor="ctr" anchorCtr="0">
            <a:spAutoFit/>
          </a:bodyPr>
          <a:p>
            <a:pPr algn="ctr"/>
            <a:endParaRPr lang="zh-CN" altLang="en-US" dirty="0">
              <a:latin typeface="Arial" panose="020B0604020202020204" pitchFamily="34" charset="0"/>
              <a:ea typeface="宋体" panose="02010600030101010101" pitchFamily="2" charset="-122"/>
            </a:endParaRPr>
          </a:p>
        </p:txBody>
      </p:sp>
      <p:sp>
        <p:nvSpPr>
          <p:cNvPr id="94210" name="文本框 38"/>
          <p:cNvSpPr txBox="1"/>
          <p:nvPr/>
        </p:nvSpPr>
        <p:spPr>
          <a:xfrm>
            <a:off x="2120900" y="527050"/>
            <a:ext cx="8091488" cy="584200"/>
          </a:xfrm>
          <a:prstGeom prst="rect">
            <a:avLst/>
          </a:prstGeom>
          <a:noFill/>
          <a:ln w="9525">
            <a:noFill/>
          </a:ln>
        </p:spPr>
        <p:txBody>
          <a:bodyPr anchor="t" anchorCtr="0">
            <a:spAutoFit/>
          </a:bodyPr>
          <a:p>
            <a:pPr algn="ctr">
              <a:buFont typeface="Arial" panose="020B0604020202020204" pitchFamily="34" charset="0"/>
            </a:pPr>
            <a:r>
              <a:rPr lang="zh-CN" altLang="en-US" sz="3200" dirty="0">
                <a:latin typeface="黑体" panose="02010609060101010101" pitchFamily="49" charset="-122"/>
                <a:ea typeface="黑体" panose="02010609060101010101" pitchFamily="49" charset="-122"/>
              </a:rPr>
              <a:t>家电生产企业的价值链</a:t>
            </a:r>
            <a:endParaRPr lang="zh-CN" altLang="en-US" sz="3200" dirty="0">
              <a:latin typeface="黑体" panose="02010609060101010101" pitchFamily="49" charset="-122"/>
              <a:ea typeface="黑体" panose="02010609060101010101" pitchFamily="49" charset="-122"/>
            </a:endParaRPr>
          </a:p>
        </p:txBody>
      </p:sp>
      <p:pic>
        <p:nvPicPr>
          <p:cNvPr id="94211" name="图片 3"/>
          <p:cNvPicPr>
            <a:picLocks noChangeAspect="1"/>
          </p:cNvPicPr>
          <p:nvPr/>
        </p:nvPicPr>
        <p:blipFill>
          <a:blip r:embed="rId1">
            <a:clrChange>
              <a:clrFrom>
                <a:srgbClr val="FFFFFF"/>
              </a:clrFrom>
              <a:clrTo>
                <a:srgbClr val="FFFFFF">
                  <a:alpha val="0"/>
                </a:srgbClr>
              </a:clrTo>
            </a:clrChange>
          </a:blip>
          <a:stretch>
            <a:fillRect/>
          </a:stretch>
        </p:blipFill>
        <p:spPr>
          <a:xfrm>
            <a:off x="1741488" y="1385888"/>
            <a:ext cx="8535987" cy="5040312"/>
          </a:xfrm>
          <a:prstGeom prst="rect">
            <a:avLst/>
          </a:prstGeom>
          <a:noFill/>
          <a:ln w="9525">
            <a:noFill/>
          </a:ln>
        </p:spPr>
      </p:pic>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idx="1"/>
          </p:nvPr>
        </p:nvSpPr>
        <p:spPr>
          <a:xfrm>
            <a:off x="1409700" y="1301750"/>
            <a:ext cx="9372600" cy="1771650"/>
          </a:xfrm>
        </p:spPr>
        <p:txBody>
          <a:bodyPr wrap="square" lIns="91440" tIns="45720" rIns="91440" bIns="45720" anchor="t"/>
          <a:p>
            <a:pPr marL="0" marR="0" indent="-228600" algn="just" defTabSz="914400" rtl="0" eaLnBrk="1" fontAlgn="base" latinLnBrk="0" hangingPunct="1">
              <a:lnSpc>
                <a:spcPct val="100000"/>
              </a:lnSpc>
              <a:spcBef>
                <a:spcPts val="1000"/>
              </a:spcBef>
              <a:spcAft>
                <a:spcPct val="0"/>
              </a:spcAft>
              <a:buClrTx/>
              <a:buSzTx/>
              <a:buFontTx/>
              <a:buNone/>
            </a:pPr>
            <a:r>
              <a:rPr kumimoji="0" lang="en-US" altLang="zh-CN" sz="2400" b="0" i="0" u="none" strike="noStrike" kern="1200" cap="none" spc="0" normalizeH="0" baseline="0" noProof="1" dirty="0">
                <a:solidFill>
                  <a:srgbClr val="1570C1"/>
                </a:solidFill>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1" dirty="0">
                <a:solidFill>
                  <a:srgbClr val="1570C1"/>
                </a:solidFill>
                <a:latin typeface="微软雅黑" panose="020B0503020204020204" pitchFamily="34" charset="-122"/>
                <a:ea typeface="微软雅黑" panose="020B0503020204020204" pitchFamily="34" charset="-122"/>
                <a:cs typeface="+mn-cs"/>
              </a:rPr>
              <a:t>战略成本管理：</a:t>
            </a:r>
            <a:r>
              <a:rPr kumimoji="0" lang="zh-CN" altLang="en-US" sz="2800" b="0" i="0" u="none" strike="noStrike" kern="1200" cap="none" spc="0" normalizeH="0" baseline="0" noProof="1" dirty="0">
                <a:solidFill>
                  <a:schemeClr val="tx1"/>
                </a:solidFill>
                <a:latin typeface="微软雅黑" panose="020B0503020204020204" pitchFamily="34" charset="-122"/>
                <a:ea typeface="微软雅黑" panose="020B0503020204020204" pitchFamily="34" charset="-122"/>
                <a:cs typeface="+mn-cs"/>
              </a:rPr>
              <a:t>将成本管理置身于战略管理的广泛空间，从战略高度对企业的成本行为和成本结构进行分析，通过战略成本预测、决策、计划、控制和业绩评价为企业的战略管理服务。</a:t>
            </a:r>
            <a:endParaRPr kumimoji="0" lang="zh-CN" altLang="en-US" sz="2800" b="0" i="0" u="none" strike="noStrike" kern="1200" cap="none" spc="0" normalizeH="0" baseline="0" noProof="1" dirty="0">
              <a:solidFill>
                <a:schemeClr val="tx1"/>
              </a:solidFill>
              <a:latin typeface="华文仿宋" panose="02010600040101010101" pitchFamily="2" charset="-122"/>
              <a:ea typeface="华文仿宋" panose="02010600040101010101" pitchFamily="2" charset="-122"/>
              <a:cs typeface="+mn-cs"/>
            </a:endParaRPr>
          </a:p>
          <a:p>
            <a:pPr marL="0" marR="0" indent="-228600" algn="l" defTabSz="914400" rtl="0" eaLnBrk="1" fontAlgn="base" latinLnBrk="0" hangingPunct="1">
              <a:lnSpc>
                <a:spcPct val="100000"/>
              </a:lnSpc>
              <a:spcBef>
                <a:spcPts val="1000"/>
              </a:spcBef>
              <a:spcAft>
                <a:spcPct val="0"/>
              </a:spcAft>
              <a:buClrTx/>
              <a:buSzTx/>
              <a:buFontTx/>
              <a:buNone/>
            </a:pPr>
            <a:r>
              <a:rPr kumimoji="0" lang="zh-CN" altLang="en-US" sz="2800" b="0" i="0" u="none" strike="noStrike" kern="1200" cap="none" spc="0" normalizeH="0" baseline="0" noProof="1" dirty="0">
                <a:solidFill>
                  <a:schemeClr val="tx1"/>
                </a:solidFill>
                <a:latin typeface="华文仿宋" panose="02010600040101010101" pitchFamily="2" charset="-122"/>
                <a:ea typeface="华文仿宋" panose="02010600040101010101" pitchFamily="2" charset="-122"/>
                <a:cs typeface="+mn-cs"/>
              </a:rPr>
              <a:t>           </a:t>
            </a:r>
            <a:endParaRPr kumimoji="0" lang="zh-CN" altLang="en-US" sz="2400" b="0" i="0" u="none" strike="noStrike" kern="1200" cap="none" spc="0" normalizeH="0" baseline="0" noProof="1" dirty="0">
              <a:solidFill>
                <a:srgbClr val="1570C1"/>
              </a:solidFill>
              <a:latin typeface="微软雅黑" panose="020B0503020204020204" pitchFamily="34" charset="-122"/>
              <a:ea typeface="微软雅黑" panose="020B0503020204020204" pitchFamily="34" charset="-122"/>
              <a:cs typeface="+mn-cs"/>
            </a:endParaRPr>
          </a:p>
          <a:p>
            <a:pPr marL="228600" marR="0" indent="-228600" algn="l" defTabSz="914400" rtl="0" eaLnBrk="1" fontAlgn="base" latinLnBrk="0" hangingPunct="1">
              <a:lnSpc>
                <a:spcPct val="90000"/>
              </a:lnSpc>
              <a:spcBef>
                <a:spcPts val="1000"/>
              </a:spcBef>
              <a:spcAft>
                <a:spcPct val="0"/>
              </a:spcAft>
              <a:buClrTx/>
              <a:buSzTx/>
              <a:buFont typeface="Arial" panose="020B0604020202020204" pitchFamily="34" charset="0"/>
              <a:buNone/>
            </a:pPr>
            <a:endParaRPr kumimoji="0" lang="zh-CN" altLang="en-US" sz="2400" b="0" i="0" u="none" strike="noStrike" kern="1200" cap="none" spc="0" normalizeH="0" baseline="0" noProof="1" dirty="0">
              <a:solidFill>
                <a:srgbClr val="1570C1"/>
              </a:solidFill>
              <a:latin typeface="微软雅黑" panose="020B0503020204020204" pitchFamily="34" charset="-122"/>
              <a:ea typeface="微软雅黑" panose="020B0503020204020204" pitchFamily="34" charset="-122"/>
              <a:cs typeface="+mn-cs"/>
            </a:endParaRPr>
          </a:p>
          <a:p>
            <a:pPr marL="228600" marR="0" indent="-228600" algn="l" defTabSz="914400" rtl="0" eaLnBrk="1" fontAlgn="base" latinLnBrk="0" hangingPunct="1">
              <a:lnSpc>
                <a:spcPct val="90000"/>
              </a:lnSpc>
              <a:spcBef>
                <a:spcPts val="1000"/>
              </a:spcBef>
              <a:spcAft>
                <a:spcPct val="0"/>
              </a:spcAft>
              <a:buClrTx/>
              <a:buSzTx/>
              <a:buFont typeface="Arial" panose="020B0604020202020204" pitchFamily="34" charset="0"/>
              <a:buNone/>
            </a:pPr>
            <a:endParaRPr kumimoji="0" lang="zh-CN" altLang="en-US" sz="2000" b="0" i="0" u="none" strike="noStrike" kern="1200" cap="none" spc="0" normalizeH="0" baseline="0" noProof="1" dirty="0">
              <a:solidFill>
                <a:schemeClr val="tx1"/>
              </a:solidFill>
              <a:latin typeface="华文仿宋" panose="02010600040101010101" pitchFamily="2" charset="-122"/>
              <a:ea typeface="华文仿宋" panose="02010600040101010101" pitchFamily="2" charset="-122"/>
              <a:cs typeface="+mn-cs"/>
            </a:endParaRPr>
          </a:p>
          <a:p>
            <a:pPr marL="228600" marR="0" indent="-228600" algn="l" defTabSz="914400" rtl="0" eaLnBrk="1" fontAlgn="base" latinLnBrk="0" hangingPunct="1">
              <a:lnSpc>
                <a:spcPct val="90000"/>
              </a:lnSpc>
              <a:spcBef>
                <a:spcPts val="1000"/>
              </a:spcBef>
              <a:spcAft>
                <a:spcPct val="0"/>
              </a:spcAft>
              <a:buClrTx/>
              <a:buSzTx/>
              <a:buFont typeface="Arial" panose="020B0604020202020204" pitchFamily="34" charset="0"/>
              <a:buNone/>
            </a:pPr>
            <a:r>
              <a:rPr kumimoji="0" lang="en-US" altLang="zh-CN" sz="2000" b="0" i="0" u="none" strike="noStrike" kern="1200" cap="none" spc="0" normalizeH="0" baseline="0" noProof="1" dirty="0">
                <a:solidFill>
                  <a:schemeClr val="tx1"/>
                </a:solidFill>
                <a:latin typeface="华文仿宋" panose="02010600040101010101" pitchFamily="2" charset="-122"/>
                <a:ea typeface="华文仿宋" panose="02010600040101010101" pitchFamily="2" charset="-122"/>
                <a:cs typeface="+mn-cs"/>
              </a:rPr>
              <a:t>     </a:t>
            </a:r>
            <a:endParaRPr kumimoji="0" lang="zh-CN" altLang="en-US" sz="2000" b="0" i="0" u="none" strike="noStrike" kern="1200" cap="none" spc="0" normalizeH="0" baseline="0" noProof="1" dirty="0">
              <a:solidFill>
                <a:schemeClr val="tx1"/>
              </a:solidFill>
              <a:latin typeface="华文仿宋" panose="02010600040101010101" pitchFamily="2" charset="-122"/>
              <a:ea typeface="华文仿宋" panose="02010600040101010101" pitchFamily="2" charset="-122"/>
              <a:cs typeface="+mn-cs"/>
            </a:endParaRPr>
          </a:p>
        </p:txBody>
      </p:sp>
      <p:graphicFrame>
        <p:nvGraphicFramePr>
          <p:cNvPr id="4" name="表格 3"/>
          <p:cNvGraphicFramePr/>
          <p:nvPr/>
        </p:nvGraphicFramePr>
        <p:xfrm>
          <a:off x="2278063" y="3378200"/>
          <a:ext cx="7451725" cy="2468880"/>
        </p:xfrm>
        <a:graphic>
          <a:graphicData uri="http://schemas.openxmlformats.org/drawingml/2006/table">
            <a:tbl>
              <a:tblPr firstRow="1" bandRow="1">
                <a:tableStyleId>{5940675A-B579-460E-94D1-54222C63F5DA}</a:tableStyleId>
              </a:tblPr>
              <a:tblGrid>
                <a:gridCol w="1782445"/>
                <a:gridCol w="2561590"/>
                <a:gridCol w="3107690"/>
              </a:tblGrid>
              <a:tr h="411480">
                <a:tc>
                  <a:txBody>
                    <a:bodyPr/>
                    <a:p>
                      <a:pPr indent="0" algn="ctr" fontAlgn="auto">
                        <a:lnSpc>
                          <a:spcPct val="150000"/>
                        </a:lnSpc>
                        <a:buNone/>
                      </a:pPr>
                      <a:r>
                        <a:rPr lang="zh-CN" altLang="en-US" sz="1800" b="1">
                          <a:solidFill>
                            <a:srgbClr val="FFFFFF"/>
                          </a:solidFill>
                          <a:latin typeface="微软雅黑" panose="020B0503020204020204" pitchFamily="34" charset="-122"/>
                          <a:ea typeface="微软雅黑" panose="020B0503020204020204" pitchFamily="34" charset="-122"/>
                          <a:cs typeface="宋体" panose="02010600030101010101" pitchFamily="2" charset="-122"/>
                        </a:rPr>
                        <a:t>项目</a:t>
                      </a:r>
                      <a:endParaRPr lang="zh-CN" altLang="en-US" sz="1800" b="1">
                        <a:solidFill>
                          <a:srgbClr val="FFFFFF"/>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a:noFill/>
                    </a:lnR>
                    <a:lnT>
                      <a:noFill/>
                    </a:lnT>
                    <a:lnB>
                      <a:noFill/>
                    </a:lnB>
                    <a:lnTlToBr>
                      <a:noFill/>
                    </a:lnTlToBr>
                    <a:lnBlToTr>
                      <a:noFill/>
                    </a:lnBlToTr>
                    <a:solidFill>
                      <a:srgbClr val="595959"/>
                    </a:solidFill>
                  </a:tcPr>
                </a:tc>
                <a:tc>
                  <a:txBody>
                    <a:bodyPr/>
                    <a:p>
                      <a:pPr indent="0" algn="ctr" fontAlgn="auto">
                        <a:lnSpc>
                          <a:spcPct val="150000"/>
                        </a:lnSpc>
                        <a:buNone/>
                      </a:pPr>
                      <a:r>
                        <a:rPr lang="zh-CN" altLang="en-US" sz="1800" b="1">
                          <a:solidFill>
                            <a:srgbClr val="FFFFFF"/>
                          </a:solidFill>
                          <a:latin typeface="微软雅黑" panose="020B0503020204020204" pitchFamily="34" charset="-122"/>
                          <a:ea typeface="微软雅黑" panose="020B0503020204020204" pitchFamily="34" charset="-122"/>
                          <a:cs typeface="宋体" panose="02010600030101010101" pitchFamily="2" charset="-122"/>
                        </a:rPr>
                        <a:t>传统成本管理</a:t>
                      </a:r>
                      <a:endParaRPr lang="zh-CN" altLang="en-US" sz="1800" b="1">
                        <a:solidFill>
                          <a:srgbClr val="FFFFFF"/>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a:noFill/>
                    </a:lnR>
                    <a:lnT>
                      <a:noFill/>
                    </a:lnT>
                    <a:lnB>
                      <a:noFill/>
                    </a:lnB>
                    <a:lnTlToBr>
                      <a:noFill/>
                    </a:lnTlToBr>
                    <a:lnBlToTr>
                      <a:noFill/>
                    </a:lnBlToTr>
                    <a:solidFill>
                      <a:srgbClr val="E29A9A"/>
                    </a:solidFill>
                  </a:tcPr>
                </a:tc>
                <a:tc>
                  <a:txBody>
                    <a:bodyPr/>
                    <a:p>
                      <a:pPr indent="0" algn="ctr" fontAlgn="auto">
                        <a:lnSpc>
                          <a:spcPct val="150000"/>
                        </a:lnSpc>
                        <a:buNone/>
                      </a:pPr>
                      <a:r>
                        <a:rPr lang="zh-CN" altLang="en-US" sz="1800" b="1">
                          <a:solidFill>
                            <a:srgbClr val="FFFFFF"/>
                          </a:solidFill>
                          <a:latin typeface="微软雅黑" panose="020B0503020204020204" pitchFamily="34" charset="-122"/>
                          <a:ea typeface="微软雅黑" panose="020B0503020204020204" pitchFamily="34" charset="-122"/>
                          <a:cs typeface="宋体" panose="02010600030101010101" pitchFamily="2" charset="-122"/>
                        </a:rPr>
                        <a:t>战略成本管理</a:t>
                      </a:r>
                      <a:endParaRPr lang="zh-CN" altLang="en-US" sz="1800" b="1">
                        <a:solidFill>
                          <a:srgbClr val="FFFFFF"/>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a:noFill/>
                    </a:lnR>
                    <a:lnT>
                      <a:noFill/>
                    </a:lnT>
                    <a:lnB>
                      <a:noFill/>
                    </a:lnB>
                    <a:lnTlToBr>
                      <a:noFill/>
                    </a:lnTlToBr>
                    <a:lnBlToTr>
                      <a:noFill/>
                    </a:lnBlToTr>
                    <a:solidFill>
                      <a:srgbClr val="DFBBB3"/>
                    </a:solidFill>
                  </a:tcPr>
                </a:tc>
              </a:tr>
              <a:tr h="411480">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管理出发点</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w="12700">
                      <a:solidFill>
                        <a:srgbClr val="D9D9D9"/>
                      </a:solidFill>
                      <a:prstDash val="solid"/>
                    </a:lnR>
                    <a:lnT>
                      <a:noFill/>
                    </a:lnT>
                    <a:lnB>
                      <a:noFill/>
                    </a:lnB>
                    <a:lnTlToBr>
                      <a:noFill/>
                    </a:lnTlToBr>
                    <a:lnBlToTr>
                      <a:noFill/>
                    </a:lnBlToTr>
                    <a:solidFill>
                      <a:srgbClr val="FFFFFF"/>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成本阶段</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12700">
                      <a:solidFill>
                        <a:srgbClr val="D9D9D9"/>
                      </a:solidFill>
                      <a:prstDash val="solid"/>
                    </a:lnL>
                    <a:lnR w="6350">
                      <a:solidFill>
                        <a:srgbClr val="D9D9D9"/>
                      </a:solidFill>
                      <a:prstDash val="solid"/>
                    </a:lnR>
                    <a:lnT>
                      <a:noFill/>
                    </a:lnT>
                    <a:lnB>
                      <a:noFill/>
                    </a:lnB>
                    <a:lnTlToBr>
                      <a:noFill/>
                    </a:lnTlToBr>
                    <a:lnBlToTr>
                      <a:noFill/>
                    </a:lnBlToTr>
                    <a:solidFill>
                      <a:srgbClr val="FFFFFF"/>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供应、生产、销售和服务阶段</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6350">
                      <a:solidFill>
                        <a:srgbClr val="D9D9D9"/>
                      </a:solidFill>
                      <a:prstDash val="solid"/>
                    </a:lnL>
                    <a:lnR>
                      <a:noFill/>
                    </a:lnR>
                    <a:lnT>
                      <a:noFill/>
                    </a:lnT>
                    <a:lnB>
                      <a:noFill/>
                    </a:lnB>
                    <a:lnTlToBr>
                      <a:noFill/>
                    </a:lnTlToBr>
                    <a:lnBlToTr>
                      <a:noFill/>
                    </a:lnBlToTr>
                    <a:solidFill>
                      <a:srgbClr val="FFFFFF"/>
                    </a:solidFill>
                  </a:tcPr>
                </a:tc>
              </a:tr>
              <a:tr h="411480">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管理范围</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w="12700">
                      <a:solidFill>
                        <a:srgbClr val="D9D9D9"/>
                      </a:solidFill>
                      <a:prstDash val="solid"/>
                    </a:lnR>
                    <a:lnT>
                      <a:noFill/>
                    </a:lnT>
                    <a:lnB>
                      <a:noFill/>
                    </a:lnB>
                    <a:lnTlToBr>
                      <a:noFill/>
                    </a:lnTlToBr>
                    <a:lnBlToTr>
                      <a:noFill/>
                    </a:lnBlToTr>
                    <a:solidFill>
                      <a:srgbClr val="F2F2F2"/>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企业内部价值链</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12700">
                      <a:solidFill>
                        <a:srgbClr val="D9D9D9"/>
                      </a:solidFill>
                      <a:prstDash val="solid"/>
                    </a:lnL>
                    <a:lnR w="6350">
                      <a:solidFill>
                        <a:srgbClr val="D9D9D9"/>
                      </a:solidFill>
                      <a:prstDash val="solid"/>
                    </a:lnR>
                    <a:lnT>
                      <a:noFill/>
                    </a:lnT>
                    <a:lnB>
                      <a:noFill/>
                    </a:lnB>
                    <a:lnTlToBr>
                      <a:noFill/>
                    </a:lnTlToBr>
                    <a:lnBlToTr>
                      <a:noFill/>
                    </a:lnBlToTr>
                    <a:solidFill>
                      <a:srgbClr val="F2F2F2"/>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企业内外部价值链</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6350">
                      <a:solidFill>
                        <a:srgbClr val="D9D9D9"/>
                      </a:solidFill>
                      <a:prstDash val="solid"/>
                    </a:lnL>
                    <a:lnR>
                      <a:noFill/>
                    </a:lnR>
                    <a:lnT>
                      <a:noFill/>
                    </a:lnT>
                    <a:lnB>
                      <a:noFill/>
                    </a:lnB>
                    <a:lnTlToBr>
                      <a:noFill/>
                    </a:lnTlToBr>
                    <a:lnBlToTr>
                      <a:noFill/>
                    </a:lnBlToTr>
                    <a:solidFill>
                      <a:srgbClr val="F2F2F2"/>
                    </a:solidFill>
                  </a:tcPr>
                </a:tc>
              </a:tr>
              <a:tr h="411480">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成本动因观</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w="12700">
                      <a:solidFill>
                        <a:srgbClr val="D9D9D9"/>
                      </a:solidFill>
                      <a:prstDash val="solid"/>
                    </a:lnR>
                    <a:lnT>
                      <a:noFill/>
                    </a:lnT>
                    <a:lnB>
                      <a:noFill/>
                    </a:lnB>
                    <a:lnTlToBr>
                      <a:noFill/>
                    </a:lnTlToBr>
                    <a:lnBlToTr>
                      <a:noFill/>
                    </a:lnBlToTr>
                    <a:solidFill>
                      <a:srgbClr val="FFFFFF"/>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产量</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12700">
                      <a:solidFill>
                        <a:srgbClr val="D9D9D9"/>
                      </a:solidFill>
                      <a:prstDash val="solid"/>
                    </a:lnL>
                    <a:lnR w="6350">
                      <a:solidFill>
                        <a:srgbClr val="D9D9D9"/>
                      </a:solidFill>
                      <a:prstDash val="solid"/>
                    </a:lnR>
                    <a:lnT>
                      <a:noFill/>
                    </a:lnT>
                    <a:lnB>
                      <a:noFill/>
                    </a:lnB>
                    <a:lnTlToBr>
                      <a:noFill/>
                    </a:lnTlToBr>
                    <a:lnBlToTr>
                      <a:noFill/>
                    </a:lnBlToTr>
                    <a:solidFill>
                      <a:srgbClr val="FFFFFF"/>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多成本动因</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6350">
                      <a:solidFill>
                        <a:srgbClr val="D9D9D9"/>
                      </a:solidFill>
                      <a:prstDash val="solid"/>
                    </a:lnL>
                    <a:lnR>
                      <a:noFill/>
                    </a:lnR>
                    <a:lnT>
                      <a:noFill/>
                    </a:lnT>
                    <a:lnB>
                      <a:noFill/>
                    </a:lnB>
                    <a:lnTlToBr>
                      <a:noFill/>
                    </a:lnTlToBr>
                    <a:lnBlToTr>
                      <a:noFill/>
                    </a:lnBlToTr>
                    <a:solidFill>
                      <a:srgbClr val="FFFFFF"/>
                    </a:solidFill>
                  </a:tcPr>
                </a:tc>
              </a:tr>
              <a:tr h="411480">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成本管理观</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w="12700">
                      <a:solidFill>
                        <a:srgbClr val="D9D9D9"/>
                      </a:solidFill>
                      <a:prstDash val="solid"/>
                    </a:lnR>
                    <a:lnT>
                      <a:noFill/>
                    </a:lnT>
                    <a:lnB>
                      <a:noFill/>
                    </a:lnB>
                    <a:lnTlToBr>
                      <a:noFill/>
                    </a:lnTlToBr>
                    <a:lnBlToTr>
                      <a:noFill/>
                    </a:lnBlToTr>
                    <a:solidFill>
                      <a:srgbClr val="F2F2F2"/>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产量定额分摊</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12700">
                      <a:solidFill>
                        <a:srgbClr val="D9D9D9"/>
                      </a:solidFill>
                      <a:prstDash val="solid"/>
                    </a:lnL>
                    <a:lnR w="6350">
                      <a:solidFill>
                        <a:srgbClr val="D9D9D9"/>
                      </a:solidFill>
                      <a:prstDash val="solid"/>
                    </a:lnR>
                    <a:lnT>
                      <a:noFill/>
                    </a:lnT>
                    <a:lnB>
                      <a:noFill/>
                    </a:lnB>
                    <a:lnTlToBr>
                      <a:noFill/>
                    </a:lnTlToBr>
                    <a:lnBlToTr>
                      <a:noFill/>
                    </a:lnBlToTr>
                    <a:solidFill>
                      <a:srgbClr val="F2F2F2"/>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关联作业费用</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6350">
                      <a:solidFill>
                        <a:srgbClr val="D9D9D9"/>
                      </a:solidFill>
                      <a:prstDash val="solid"/>
                    </a:lnL>
                    <a:lnR>
                      <a:noFill/>
                    </a:lnR>
                    <a:lnT>
                      <a:noFill/>
                    </a:lnT>
                    <a:lnB>
                      <a:noFill/>
                    </a:lnB>
                    <a:lnTlToBr>
                      <a:noFill/>
                    </a:lnTlToBr>
                    <a:lnBlToTr>
                      <a:noFill/>
                    </a:lnBlToTr>
                    <a:solidFill>
                      <a:srgbClr val="F2F2F2"/>
                    </a:solidFill>
                  </a:tcPr>
                </a:tc>
              </a:tr>
              <a:tr h="411480">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成本管理观点</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a:noFill/>
                    </a:lnL>
                    <a:lnR w="12700">
                      <a:solidFill>
                        <a:srgbClr val="D9D9D9"/>
                      </a:solidFill>
                      <a:prstDash val="solid"/>
                    </a:lnR>
                    <a:lnT>
                      <a:noFill/>
                    </a:lnT>
                    <a:lnB w="19050">
                      <a:solidFill>
                        <a:srgbClr val="595959"/>
                      </a:solidFill>
                      <a:prstDash val="solid"/>
                    </a:lnB>
                    <a:lnTlToBr>
                      <a:noFill/>
                    </a:lnTlToBr>
                    <a:lnBlToTr>
                      <a:noFill/>
                    </a:lnBlToTr>
                    <a:solidFill>
                      <a:srgbClr val="FFFFFF"/>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静态</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12700">
                      <a:solidFill>
                        <a:srgbClr val="D9D9D9"/>
                      </a:solidFill>
                      <a:prstDash val="solid"/>
                    </a:lnL>
                    <a:lnR w="6350">
                      <a:solidFill>
                        <a:srgbClr val="D9D9D9"/>
                      </a:solidFill>
                      <a:prstDash val="solid"/>
                    </a:lnR>
                    <a:lnT>
                      <a:noFill/>
                    </a:lnT>
                    <a:lnB w="19050">
                      <a:solidFill>
                        <a:srgbClr val="595959"/>
                      </a:solidFill>
                      <a:prstDash val="solid"/>
                    </a:lnB>
                    <a:lnTlToBr>
                      <a:noFill/>
                    </a:lnTlToBr>
                    <a:lnBlToTr>
                      <a:noFill/>
                    </a:lnBlToTr>
                    <a:solidFill>
                      <a:srgbClr val="FFFFFF"/>
                    </a:solidFill>
                  </a:tcPr>
                </a:tc>
                <a:tc>
                  <a:txBody>
                    <a:bodyPr/>
                    <a:p>
                      <a:pPr indent="0" algn="ctr" fontAlgn="auto">
                        <a:lnSpc>
                          <a:spcPct val="150000"/>
                        </a:lnSpc>
                        <a:buNone/>
                      </a:pPr>
                      <a:r>
                        <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rPr>
                        <a:t>动态</a:t>
                      </a:r>
                      <a:endParaRPr lang="zh-CN" altLang="en-US" sz="1800" b="0">
                        <a:solidFill>
                          <a:srgbClr val="40404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1" vert="horz" anchor="t">
                    <a:lnL w="6350">
                      <a:solidFill>
                        <a:srgbClr val="D9D9D9"/>
                      </a:solidFill>
                      <a:prstDash val="solid"/>
                    </a:lnL>
                    <a:lnR>
                      <a:noFill/>
                    </a:lnR>
                    <a:lnT>
                      <a:noFill/>
                    </a:lnT>
                    <a:lnB w="19050">
                      <a:solidFill>
                        <a:srgbClr val="595959"/>
                      </a:solidFill>
                      <a:prstDash val="solid"/>
                    </a:lnB>
                    <a:lnTlToBr>
                      <a:noFill/>
                    </a:lnTlToBr>
                    <a:lnBlToTr>
                      <a:noFill/>
                    </a:lnBlToTr>
                    <a:solidFill>
                      <a:srgbClr val="FFFFFF"/>
                    </a:solidFill>
                  </a:tcPr>
                </a:tc>
              </a:tr>
            </a:tbl>
          </a:graphicData>
        </a:graphic>
      </p:graphicFrame>
      <p:sp>
        <p:nvSpPr>
          <p:cNvPr id="95266" name="文本框 17"/>
          <p:cNvSpPr txBox="1"/>
          <p:nvPr/>
        </p:nvSpPr>
        <p:spPr>
          <a:xfrm>
            <a:off x="44450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3.3  </a:t>
            </a:r>
            <a:r>
              <a:rPr lang="zh-CN" altLang="en-US" sz="3200" dirty="0">
                <a:solidFill>
                  <a:srgbClr val="1570C1"/>
                </a:solidFill>
                <a:latin typeface="微软雅黑" panose="020B0503020204020204" pitchFamily="34" charset="-122"/>
                <a:ea typeface="微软雅黑" panose="020B0503020204020204" pitchFamily="34" charset="-122"/>
              </a:rPr>
              <a:t>价值链与战略成本管理</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custDataLst>
              <p:tags r:id="rId1"/>
            </p:custDataLst>
          </p:nvPr>
        </p:nvSpPr>
        <p:spPr>
          <a:xfrm>
            <a:off x="960755" y="1490980"/>
            <a:ext cx="10515600" cy="4629785"/>
          </a:xfrm>
        </p:spPr>
        <p:txBody>
          <a:bodyPr>
            <a:normAutofit lnSpcReduction="10000"/>
          </a:bodyPr>
          <a:p>
            <a:pPr marL="0" marR="0" indent="-228600" algn="l" defTabSz="914400" rtl="0" eaLnBrk="1" fontAlgn="base" latinLnBrk="0" hangingPunct="1">
              <a:lnSpc>
                <a:spcPct val="100000"/>
              </a:lnSpc>
              <a:spcBef>
                <a:spcPts val="1000"/>
              </a:spcBef>
              <a:spcAft>
                <a:spcPct val="0"/>
              </a:spcAft>
              <a:buClrTx/>
              <a:buSzTx/>
              <a:buFontTx/>
              <a:buNone/>
            </a:pPr>
            <a:r>
              <a:rPr kumimoji="0" lang="zh-CN" altLang="en-US" sz="2400" b="0" i="0" u="none" strike="noStrike" kern="1200" cap="none" spc="0" normalizeH="0" baseline="0" noProof="1" dirty="0">
                <a:solidFill>
                  <a:srgbClr val="1570C1"/>
                </a:solidFill>
                <a:latin typeface="微软雅黑" panose="020B0503020204020204" pitchFamily="34" charset="-122"/>
                <a:ea typeface="微软雅黑" panose="020B0503020204020204" pitchFamily="34" charset="-122"/>
                <a:cs typeface="+mn-cs"/>
              </a:rPr>
              <a:t>基于价值链的战略成本管理</a:t>
            </a:r>
            <a:endParaRPr kumimoji="0" lang="zh-CN" altLang="en-US" sz="2400" b="0" i="0" u="none" strike="noStrike" kern="1200" cap="none" spc="0" normalizeH="0" baseline="0" noProof="1" dirty="0">
              <a:solidFill>
                <a:srgbClr val="1570C1"/>
              </a:solidFill>
              <a:latin typeface="微软雅黑" panose="020B0503020204020204" pitchFamily="34" charset="-122"/>
              <a:ea typeface="微软雅黑" panose="020B0503020204020204" pitchFamily="34" charset="-122"/>
              <a:cs typeface="+mn-cs"/>
            </a:endParaRPr>
          </a:p>
          <a:p>
            <a:pPr marL="685800" marR="0" lvl="1" indent="-228600" algn="l" defTabSz="914400" rtl="0" eaLnBrk="0" fontAlgn="base" latinLnBrk="0" hangingPunct="0">
              <a:lnSpc>
                <a:spcPct val="150000"/>
              </a:lnSpc>
              <a:spcBef>
                <a:spcPts val="1000"/>
              </a:spcBef>
              <a:spcAft>
                <a:spcPts val="0"/>
              </a:spcAft>
              <a:buClr>
                <a:schemeClr val="accent1"/>
              </a:buClr>
              <a:buSzTx/>
              <a:buFont typeface="Wingdings" panose="05000000000000000000" pitchFamily="2" charset="2"/>
              <a:buChar char="§"/>
            </a:pPr>
            <a:r>
              <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rPr>
              <a:t>识别价值链，判断价值活动的主要内容</a:t>
            </a:r>
            <a:endPar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endParaRPr>
          </a:p>
          <a:p>
            <a:pPr marL="685800" marR="0" lvl="1" indent="-228600" algn="l" defTabSz="914400" rtl="0" eaLnBrk="0" fontAlgn="base" latinLnBrk="0" hangingPunct="0">
              <a:lnSpc>
                <a:spcPct val="150000"/>
              </a:lnSpc>
              <a:spcBef>
                <a:spcPts val="1000"/>
              </a:spcBef>
              <a:spcAft>
                <a:spcPts val="0"/>
              </a:spcAft>
              <a:buClr>
                <a:schemeClr val="accent1"/>
              </a:buClr>
              <a:buSzTx/>
              <a:buFont typeface="Wingdings" panose="05000000000000000000" pitchFamily="2" charset="2"/>
              <a:buChar char="§"/>
            </a:pPr>
            <a:r>
              <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rPr>
              <a:t>判定每种价值活动的成本动因，优化协同价值链之间的联系</a:t>
            </a:r>
            <a:endPar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endParaRPr>
          </a:p>
          <a:p>
            <a:pPr marL="685800" marR="0" lvl="1" indent="-228600" algn="l" defTabSz="914400" rtl="0" eaLnBrk="0" fontAlgn="base" latinLnBrk="0" hangingPunct="0">
              <a:lnSpc>
                <a:spcPct val="150000"/>
              </a:lnSpc>
              <a:spcBef>
                <a:spcPts val="1000"/>
              </a:spcBef>
              <a:spcAft>
                <a:spcPts val="0"/>
              </a:spcAft>
              <a:buClr>
                <a:schemeClr val="accent1"/>
              </a:buClr>
              <a:buSzTx/>
              <a:buFont typeface="Wingdings" panose="05000000000000000000" pitchFamily="2" charset="2"/>
              <a:buChar char="§"/>
            </a:pPr>
            <a:r>
              <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rPr>
              <a:t>通过控制成本动因重构价值链，制定降低成本的策略</a:t>
            </a:r>
            <a:endPar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endParaRPr>
          </a:p>
          <a:p>
            <a:pPr marL="685800" marR="0" lvl="1" indent="-228600" algn="l" defTabSz="914400" rtl="0" eaLnBrk="0" fontAlgn="base" latinLnBrk="0" hangingPunct="0">
              <a:lnSpc>
                <a:spcPct val="150000"/>
              </a:lnSpc>
              <a:spcBef>
                <a:spcPts val="1000"/>
              </a:spcBef>
              <a:spcAft>
                <a:spcPts val="0"/>
              </a:spcAft>
              <a:buClr>
                <a:schemeClr val="accent1"/>
              </a:buClr>
              <a:buSzTx/>
              <a:buFont typeface="Wingdings" panose="05000000000000000000" pitchFamily="2" charset="2"/>
              <a:buChar char="§"/>
            </a:pPr>
            <a:r>
              <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rPr>
              <a:t>检验成本削减的持久性</a:t>
            </a:r>
            <a:endPar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endParaRPr>
          </a:p>
          <a:p>
            <a:pPr marL="228600" marR="0" indent="-228600" algn="l" defTabSz="914400" rtl="0" eaLnBrk="0" fontAlgn="base" latinLnBrk="0" hangingPunct="0">
              <a:lnSpc>
                <a:spcPct val="150000"/>
              </a:lnSpc>
              <a:spcBef>
                <a:spcPts val="1000"/>
              </a:spcBef>
              <a:spcAft>
                <a:spcPts val="0"/>
              </a:spcAft>
              <a:buClr>
                <a:schemeClr val="hlink"/>
              </a:buClr>
              <a:buSzTx/>
              <a:buFont typeface="Wingdings" panose="05000000000000000000" pitchFamily="2" charset="2"/>
              <a:buChar char="v"/>
            </a:pPr>
            <a:endParaRPr kumimoji="0" lang="zh-CN" altLang="en-US" sz="3200" b="0" i="0" u="none" strike="noStrike" kern="0" cap="none" spc="0" normalizeH="0" baseline="0" noProof="1" dirty="0" smtClean="0">
              <a:solidFill>
                <a:schemeClr val="tx2"/>
              </a:solidFill>
              <a:latin typeface="+mn-lt"/>
              <a:ea typeface="+mn-ea"/>
              <a:cs typeface="Arial" panose="020B0604020202020204" pitchFamily="34" charset="0"/>
            </a:endParaRPr>
          </a:p>
        </p:txBody>
      </p:sp>
      <p:sp>
        <p:nvSpPr>
          <p:cNvPr id="96258" name="文本框 17"/>
          <p:cNvSpPr txBox="1"/>
          <p:nvPr/>
        </p:nvSpPr>
        <p:spPr>
          <a:xfrm>
            <a:off x="44450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3.3  </a:t>
            </a:r>
            <a:r>
              <a:rPr lang="zh-CN" altLang="en-US" sz="3200" dirty="0">
                <a:solidFill>
                  <a:srgbClr val="1570C1"/>
                </a:solidFill>
                <a:latin typeface="微软雅黑" panose="020B0503020204020204" pitchFamily="34" charset="-122"/>
                <a:ea typeface="微软雅黑" panose="020B0503020204020204" pitchFamily="34" charset="-122"/>
              </a:rPr>
              <a:t>价值链与战略成本管理</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728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728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728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3.4  </a:t>
            </a:r>
            <a:r>
              <a:rPr lang="zh-CN" altLang="en-US" sz="3200" dirty="0">
                <a:solidFill>
                  <a:srgbClr val="1570C1"/>
                </a:solidFill>
                <a:latin typeface="微软雅黑" panose="020B0503020204020204" pitchFamily="34" charset="-122"/>
                <a:ea typeface="微软雅黑" panose="020B0503020204020204" pitchFamily="34" charset="-122"/>
              </a:rPr>
              <a:t>价值链与竞争优势</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p:nvPr/>
        </p:nvSpPr>
        <p:spPr>
          <a:xfrm>
            <a:off x="954088" y="1733550"/>
            <a:ext cx="10266362" cy="1814513"/>
          </a:xfrm>
          <a:prstGeom prst="rect">
            <a:avLst/>
          </a:prstGeom>
          <a:solidFill>
            <a:srgbClr val="1570C1"/>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在一定时期内，每个产业的价值链上都存在一些关键环节，在这些环节上握有优势的企业往往能够在竞争中占据主动。</a:t>
            </a:r>
            <a:endParaRPr lang="en-US" altLang="zh-CN" sz="2800" dirty="0">
              <a:solidFill>
                <a:schemeClr val="bg1"/>
              </a:solidFill>
              <a:latin typeface="微软雅黑" panose="020B0503020204020204" pitchFamily="34" charset="-122"/>
              <a:ea typeface="微软雅黑" panose="020B0503020204020204" pitchFamily="34" charset="-122"/>
            </a:endParaRPr>
          </a:p>
          <a:p>
            <a:pPr algn="just"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chemeClr val="bg1"/>
                </a:solidFill>
                <a:latin typeface="微软雅黑" panose="020B0503020204020204" pitchFamily="34" charset="-122"/>
                <a:ea typeface="微软雅黑" panose="020B0503020204020204" pitchFamily="34" charset="-122"/>
              </a:rPr>
              <a:t>      例：碳酸饮料</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8720262" y="4156077"/>
            <a:ext cx="2500016" cy="1282254"/>
            <a:chOff x="8876560" y="3074274"/>
            <a:chExt cx="2500016" cy="1282254"/>
          </a:xfrm>
          <a:solidFill>
            <a:srgbClr val="004E96"/>
          </a:solidFill>
        </p:grpSpPr>
        <p:sp>
          <p:nvSpPr>
            <p:cNvPr id="12" name="Freeform 5"/>
            <p:cNvSpPr/>
            <p:nvPr/>
          </p:nvSpPr>
          <p:spPr bwMode="auto">
            <a:xfrm>
              <a:off x="8876560" y="3074274"/>
              <a:ext cx="2500016" cy="1282254"/>
            </a:xfrm>
            <a:custGeom>
              <a:avLst/>
              <a:gdLst>
                <a:gd name="T0" fmla="*/ 0 w 659"/>
                <a:gd name="T1" fmla="*/ 0 h 338"/>
                <a:gd name="T2" fmla="*/ 564 w 659"/>
                <a:gd name="T3" fmla="*/ 0 h 338"/>
                <a:gd name="T4" fmla="*/ 659 w 659"/>
                <a:gd name="T5" fmla="*/ 169 h 338"/>
                <a:gd name="T6" fmla="*/ 564 w 659"/>
                <a:gd name="T7" fmla="*/ 338 h 338"/>
                <a:gd name="T8" fmla="*/ 0 w 659"/>
                <a:gd name="T9" fmla="*/ 338 h 338"/>
                <a:gd name="T10" fmla="*/ 0 w 659"/>
                <a:gd name="T11" fmla="*/ 0 h 338"/>
              </a:gdLst>
              <a:ahLst/>
              <a:cxnLst>
                <a:cxn ang="0">
                  <a:pos x="T0" y="T1"/>
                </a:cxn>
                <a:cxn ang="0">
                  <a:pos x="T2" y="T3"/>
                </a:cxn>
                <a:cxn ang="0">
                  <a:pos x="T4" y="T5"/>
                </a:cxn>
                <a:cxn ang="0">
                  <a:pos x="T6" y="T7"/>
                </a:cxn>
                <a:cxn ang="0">
                  <a:pos x="T8" y="T9"/>
                </a:cxn>
                <a:cxn ang="0">
                  <a:pos x="T10" y="T11"/>
                </a:cxn>
              </a:cxnLst>
              <a:rect l="0" t="0" r="r" b="b"/>
              <a:pathLst>
                <a:path w="659" h="338">
                  <a:moveTo>
                    <a:pt x="0" y="0"/>
                  </a:moveTo>
                  <a:lnTo>
                    <a:pt x="564" y="0"/>
                  </a:lnTo>
                  <a:lnTo>
                    <a:pt x="659" y="169"/>
                  </a:lnTo>
                  <a:lnTo>
                    <a:pt x="564" y="338"/>
                  </a:lnTo>
                  <a:lnTo>
                    <a:pt x="0" y="338"/>
                  </a:lnTo>
                  <a:lnTo>
                    <a:pt x="0" y="0"/>
                  </a:lnTo>
                  <a:close/>
                </a:path>
              </a:pathLst>
            </a:custGeom>
            <a:solidFill>
              <a:srgbClr val="1570C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文本框 12"/>
            <p:cNvSpPr txBox="1"/>
            <p:nvPr/>
          </p:nvSpPr>
          <p:spPr>
            <a:xfrm>
              <a:off x="9852189" y="3709479"/>
              <a:ext cx="800219"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零售</a:t>
              </a:r>
              <a:endPar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文本框 13"/>
            <p:cNvSpPr txBox="1"/>
            <p:nvPr/>
          </p:nvSpPr>
          <p:spPr>
            <a:xfrm>
              <a:off x="9593341" y="3299184"/>
              <a:ext cx="1473480"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O5</a:t>
              </a:r>
              <a:endPar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5" name="组合 14"/>
          <p:cNvGrpSpPr/>
          <p:nvPr/>
        </p:nvGrpSpPr>
        <p:grpSpPr>
          <a:xfrm>
            <a:off x="6770327" y="4156077"/>
            <a:ext cx="2507603" cy="1282254"/>
            <a:chOff x="6926624" y="3074274"/>
            <a:chExt cx="2507603" cy="1282254"/>
          </a:xfrm>
          <a:solidFill>
            <a:srgbClr val="77B224"/>
          </a:solidFill>
        </p:grpSpPr>
        <p:sp>
          <p:nvSpPr>
            <p:cNvPr id="18" name="Freeform 6"/>
            <p:cNvSpPr/>
            <p:nvPr/>
          </p:nvSpPr>
          <p:spPr bwMode="auto">
            <a:xfrm>
              <a:off x="6926624" y="3074274"/>
              <a:ext cx="2507603" cy="1282254"/>
            </a:xfrm>
            <a:custGeom>
              <a:avLst/>
              <a:gdLst>
                <a:gd name="T0" fmla="*/ 0 w 661"/>
                <a:gd name="T1" fmla="*/ 0 h 338"/>
                <a:gd name="T2" fmla="*/ 564 w 661"/>
                <a:gd name="T3" fmla="*/ 0 h 338"/>
                <a:gd name="T4" fmla="*/ 661 w 661"/>
                <a:gd name="T5" fmla="*/ 169 h 338"/>
                <a:gd name="T6" fmla="*/ 564 w 661"/>
                <a:gd name="T7" fmla="*/ 338 h 338"/>
                <a:gd name="T8" fmla="*/ 0 w 661"/>
                <a:gd name="T9" fmla="*/ 338 h 338"/>
                <a:gd name="T10" fmla="*/ 0 w 661"/>
                <a:gd name="T11" fmla="*/ 0 h 338"/>
              </a:gdLst>
              <a:ahLst/>
              <a:cxnLst>
                <a:cxn ang="0">
                  <a:pos x="T0" y="T1"/>
                </a:cxn>
                <a:cxn ang="0">
                  <a:pos x="T2" y="T3"/>
                </a:cxn>
                <a:cxn ang="0">
                  <a:pos x="T4" y="T5"/>
                </a:cxn>
                <a:cxn ang="0">
                  <a:pos x="T6" y="T7"/>
                </a:cxn>
                <a:cxn ang="0">
                  <a:pos x="T8" y="T9"/>
                </a:cxn>
                <a:cxn ang="0">
                  <a:pos x="T10" y="T11"/>
                </a:cxn>
              </a:cxnLst>
              <a:rect l="0" t="0" r="r" b="b"/>
              <a:pathLst>
                <a:path w="661" h="338">
                  <a:moveTo>
                    <a:pt x="0" y="0"/>
                  </a:moveTo>
                  <a:lnTo>
                    <a:pt x="564" y="0"/>
                  </a:lnTo>
                  <a:lnTo>
                    <a:pt x="661" y="169"/>
                  </a:lnTo>
                  <a:lnTo>
                    <a:pt x="564" y="338"/>
                  </a:lnTo>
                  <a:lnTo>
                    <a:pt x="0" y="338"/>
                  </a:lnTo>
                  <a:lnTo>
                    <a:pt x="0" y="0"/>
                  </a:ln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9" name="文本框 18"/>
            <p:cNvSpPr txBox="1"/>
            <p:nvPr/>
          </p:nvSpPr>
          <p:spPr>
            <a:xfrm>
              <a:off x="7893544" y="3709479"/>
              <a:ext cx="800219"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配送</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文本框 19"/>
            <p:cNvSpPr txBox="1"/>
            <p:nvPr/>
          </p:nvSpPr>
          <p:spPr>
            <a:xfrm>
              <a:off x="7663952" y="3299184"/>
              <a:ext cx="1473480"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O4</a:t>
              </a:r>
              <a:endPar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1" name="组合 20"/>
          <p:cNvGrpSpPr/>
          <p:nvPr/>
        </p:nvGrpSpPr>
        <p:grpSpPr>
          <a:xfrm>
            <a:off x="4835565" y="4156077"/>
            <a:ext cx="2500016" cy="1282254"/>
            <a:chOff x="4991862" y="3074274"/>
            <a:chExt cx="2500016" cy="1282254"/>
          </a:xfrm>
          <a:solidFill>
            <a:srgbClr val="004E96"/>
          </a:solidFill>
        </p:grpSpPr>
        <p:sp>
          <p:nvSpPr>
            <p:cNvPr id="22" name="Freeform 7"/>
            <p:cNvSpPr/>
            <p:nvPr/>
          </p:nvSpPr>
          <p:spPr bwMode="auto">
            <a:xfrm>
              <a:off x="4991862" y="3074274"/>
              <a:ext cx="2500016" cy="1282254"/>
            </a:xfrm>
            <a:custGeom>
              <a:avLst/>
              <a:gdLst>
                <a:gd name="T0" fmla="*/ 0 w 659"/>
                <a:gd name="T1" fmla="*/ 0 h 338"/>
                <a:gd name="T2" fmla="*/ 564 w 659"/>
                <a:gd name="T3" fmla="*/ 0 h 338"/>
                <a:gd name="T4" fmla="*/ 659 w 659"/>
                <a:gd name="T5" fmla="*/ 169 h 338"/>
                <a:gd name="T6" fmla="*/ 564 w 659"/>
                <a:gd name="T7" fmla="*/ 338 h 338"/>
                <a:gd name="T8" fmla="*/ 0 w 659"/>
                <a:gd name="T9" fmla="*/ 338 h 338"/>
                <a:gd name="T10" fmla="*/ 0 w 659"/>
                <a:gd name="T11" fmla="*/ 0 h 338"/>
              </a:gdLst>
              <a:ahLst/>
              <a:cxnLst>
                <a:cxn ang="0">
                  <a:pos x="T0" y="T1"/>
                </a:cxn>
                <a:cxn ang="0">
                  <a:pos x="T2" y="T3"/>
                </a:cxn>
                <a:cxn ang="0">
                  <a:pos x="T4" y="T5"/>
                </a:cxn>
                <a:cxn ang="0">
                  <a:pos x="T6" y="T7"/>
                </a:cxn>
                <a:cxn ang="0">
                  <a:pos x="T8" y="T9"/>
                </a:cxn>
                <a:cxn ang="0">
                  <a:pos x="T10" y="T11"/>
                </a:cxn>
              </a:cxnLst>
              <a:rect l="0" t="0" r="r" b="b"/>
              <a:pathLst>
                <a:path w="659" h="338">
                  <a:moveTo>
                    <a:pt x="0" y="0"/>
                  </a:moveTo>
                  <a:lnTo>
                    <a:pt x="564" y="0"/>
                  </a:lnTo>
                  <a:lnTo>
                    <a:pt x="659" y="169"/>
                  </a:lnTo>
                  <a:lnTo>
                    <a:pt x="564" y="338"/>
                  </a:lnTo>
                  <a:lnTo>
                    <a:pt x="0" y="338"/>
                  </a:lnTo>
                  <a:lnTo>
                    <a:pt x="0" y="0"/>
                  </a:lnTo>
                  <a:close/>
                </a:path>
              </a:pathLst>
            </a:custGeom>
            <a:solidFill>
              <a:srgbClr val="1570C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3" name="文本框 22"/>
            <p:cNvSpPr txBox="1"/>
            <p:nvPr/>
          </p:nvSpPr>
          <p:spPr>
            <a:xfrm>
              <a:off x="6012823" y="3709479"/>
              <a:ext cx="800219" cy="46166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灌装</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4" name="文本框 23"/>
            <p:cNvSpPr txBox="1"/>
            <p:nvPr/>
          </p:nvSpPr>
          <p:spPr>
            <a:xfrm>
              <a:off x="5776692" y="3299184"/>
              <a:ext cx="1473480"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O3</a:t>
              </a:r>
              <a:endPar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5" name="组合 24"/>
          <p:cNvGrpSpPr/>
          <p:nvPr/>
        </p:nvGrpSpPr>
        <p:grpSpPr>
          <a:xfrm>
            <a:off x="2896997" y="4156077"/>
            <a:ext cx="2496222" cy="1282254"/>
            <a:chOff x="3053306" y="3074274"/>
            <a:chExt cx="2496222" cy="1282254"/>
          </a:xfrm>
          <a:solidFill>
            <a:srgbClr val="00B0F0"/>
          </a:solidFill>
        </p:grpSpPr>
        <p:sp>
          <p:nvSpPr>
            <p:cNvPr id="26" name="Freeform 8"/>
            <p:cNvSpPr/>
            <p:nvPr/>
          </p:nvSpPr>
          <p:spPr bwMode="auto">
            <a:xfrm>
              <a:off x="3053306" y="3074274"/>
              <a:ext cx="2496222" cy="1282254"/>
            </a:xfrm>
            <a:custGeom>
              <a:avLst/>
              <a:gdLst>
                <a:gd name="T0" fmla="*/ 0 w 658"/>
                <a:gd name="T1" fmla="*/ 0 h 338"/>
                <a:gd name="T2" fmla="*/ 564 w 658"/>
                <a:gd name="T3" fmla="*/ 0 h 338"/>
                <a:gd name="T4" fmla="*/ 658 w 658"/>
                <a:gd name="T5" fmla="*/ 169 h 338"/>
                <a:gd name="T6" fmla="*/ 564 w 658"/>
                <a:gd name="T7" fmla="*/ 338 h 338"/>
                <a:gd name="T8" fmla="*/ 0 w 658"/>
                <a:gd name="T9" fmla="*/ 338 h 338"/>
                <a:gd name="T10" fmla="*/ 0 w 658"/>
                <a:gd name="T11" fmla="*/ 0 h 338"/>
              </a:gdLst>
              <a:ahLst/>
              <a:cxnLst>
                <a:cxn ang="0">
                  <a:pos x="T0" y="T1"/>
                </a:cxn>
                <a:cxn ang="0">
                  <a:pos x="T2" y="T3"/>
                </a:cxn>
                <a:cxn ang="0">
                  <a:pos x="T4" y="T5"/>
                </a:cxn>
                <a:cxn ang="0">
                  <a:pos x="T6" y="T7"/>
                </a:cxn>
                <a:cxn ang="0">
                  <a:pos x="T8" y="T9"/>
                </a:cxn>
                <a:cxn ang="0">
                  <a:pos x="T10" y="T11"/>
                </a:cxn>
              </a:cxnLst>
              <a:rect l="0" t="0" r="r" b="b"/>
              <a:pathLst>
                <a:path w="658" h="338">
                  <a:moveTo>
                    <a:pt x="0" y="0"/>
                  </a:moveTo>
                  <a:lnTo>
                    <a:pt x="564" y="0"/>
                  </a:lnTo>
                  <a:lnTo>
                    <a:pt x="658" y="169"/>
                  </a:lnTo>
                  <a:lnTo>
                    <a:pt x="564" y="338"/>
                  </a:lnTo>
                  <a:lnTo>
                    <a:pt x="0" y="338"/>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7" name="文本框 26"/>
            <p:cNvSpPr txBox="1"/>
            <p:nvPr/>
          </p:nvSpPr>
          <p:spPr>
            <a:xfrm>
              <a:off x="4001398" y="3709479"/>
              <a:ext cx="800219" cy="461665"/>
            </a:xfrm>
            <a:prstGeom prst="rect">
              <a:avLst/>
            </a:prstGeom>
            <a:grp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制浆</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8" name="文本框 27"/>
            <p:cNvSpPr txBox="1"/>
            <p:nvPr/>
          </p:nvSpPr>
          <p:spPr>
            <a:xfrm>
              <a:off x="3772372" y="3299184"/>
              <a:ext cx="1473480" cy="461665"/>
            </a:xfrm>
            <a:prstGeom prst="rect">
              <a:avLst/>
            </a:prstGeom>
            <a:grp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O2</a:t>
              </a:r>
              <a:endPar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9" name="组合 28"/>
          <p:cNvGrpSpPr/>
          <p:nvPr/>
        </p:nvGrpSpPr>
        <p:grpSpPr>
          <a:xfrm>
            <a:off x="954659" y="4156077"/>
            <a:ext cx="2500016" cy="1282254"/>
            <a:chOff x="1110957" y="3074274"/>
            <a:chExt cx="2500016" cy="1282254"/>
          </a:xfrm>
          <a:solidFill>
            <a:srgbClr val="004E96"/>
          </a:solidFill>
        </p:grpSpPr>
        <p:sp>
          <p:nvSpPr>
            <p:cNvPr id="30" name="Freeform 9"/>
            <p:cNvSpPr/>
            <p:nvPr/>
          </p:nvSpPr>
          <p:spPr bwMode="auto">
            <a:xfrm>
              <a:off x="1110957" y="3074274"/>
              <a:ext cx="2500016" cy="1282254"/>
            </a:xfrm>
            <a:custGeom>
              <a:avLst/>
              <a:gdLst>
                <a:gd name="T0" fmla="*/ 0 w 659"/>
                <a:gd name="T1" fmla="*/ 0 h 338"/>
                <a:gd name="T2" fmla="*/ 564 w 659"/>
                <a:gd name="T3" fmla="*/ 0 h 338"/>
                <a:gd name="T4" fmla="*/ 659 w 659"/>
                <a:gd name="T5" fmla="*/ 169 h 338"/>
                <a:gd name="T6" fmla="*/ 564 w 659"/>
                <a:gd name="T7" fmla="*/ 338 h 338"/>
                <a:gd name="T8" fmla="*/ 0 w 659"/>
                <a:gd name="T9" fmla="*/ 338 h 338"/>
                <a:gd name="T10" fmla="*/ 0 w 659"/>
                <a:gd name="T11" fmla="*/ 0 h 338"/>
              </a:gdLst>
              <a:ahLst/>
              <a:cxnLst>
                <a:cxn ang="0">
                  <a:pos x="T0" y="T1"/>
                </a:cxn>
                <a:cxn ang="0">
                  <a:pos x="T2" y="T3"/>
                </a:cxn>
                <a:cxn ang="0">
                  <a:pos x="T4" y="T5"/>
                </a:cxn>
                <a:cxn ang="0">
                  <a:pos x="T6" y="T7"/>
                </a:cxn>
                <a:cxn ang="0">
                  <a:pos x="T8" y="T9"/>
                </a:cxn>
                <a:cxn ang="0">
                  <a:pos x="T10" y="T11"/>
                </a:cxn>
              </a:cxnLst>
              <a:rect l="0" t="0" r="r" b="b"/>
              <a:pathLst>
                <a:path w="659" h="338">
                  <a:moveTo>
                    <a:pt x="0" y="0"/>
                  </a:moveTo>
                  <a:lnTo>
                    <a:pt x="564" y="0"/>
                  </a:lnTo>
                  <a:lnTo>
                    <a:pt x="659" y="169"/>
                  </a:lnTo>
                  <a:lnTo>
                    <a:pt x="564" y="338"/>
                  </a:lnTo>
                  <a:lnTo>
                    <a:pt x="0" y="338"/>
                  </a:lnTo>
                  <a:lnTo>
                    <a:pt x="0" y="0"/>
                  </a:lnTo>
                  <a:close/>
                </a:path>
              </a:pathLst>
            </a:custGeom>
            <a:solidFill>
              <a:srgbClr val="1570C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1" name="文本框 30"/>
            <p:cNvSpPr txBox="1"/>
            <p:nvPr/>
          </p:nvSpPr>
          <p:spPr>
            <a:xfrm>
              <a:off x="1421521" y="3715401"/>
              <a:ext cx="1415772"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植物提取</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文本框 31"/>
            <p:cNvSpPr txBox="1"/>
            <p:nvPr/>
          </p:nvSpPr>
          <p:spPr>
            <a:xfrm>
              <a:off x="1421521" y="3305106"/>
              <a:ext cx="1473480"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O1</a:t>
              </a:r>
              <a:endPar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932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933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2" name="矩形 21"/>
          <p:cNvSpPr/>
          <p:nvPr/>
        </p:nvSpPr>
        <p:spPr>
          <a:xfrm>
            <a:off x="1123950" y="1427163"/>
            <a:ext cx="9906000" cy="4400550"/>
          </a:xfrm>
          <a:prstGeom prst="rect">
            <a:avLst/>
          </a:prstGeom>
          <a:solidFill>
            <a:srgbClr val="57CAF4"/>
          </a:solidFill>
          <a:ln>
            <a:noFill/>
          </a:ln>
        </p:spPr>
        <p:txBody>
          <a:bodyPr>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识别活动</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1" indent="0" algn="just"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如果把生产经营过程中的每一可以独立完成的工作都作为“活动”，分析将过于繁杂并失去战略意义。</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区分开对价值（满足顾客需求）有独特贡献的活动</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区分开占成本比重大的活动</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区分开成本正在迅速上升的活动</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区分开“经济性”不同的活动</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
        <p:nvSpPr>
          <p:cNvPr id="99336"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3.4  </a:t>
            </a:r>
            <a:r>
              <a:rPr lang="zh-CN" altLang="en-US" sz="3200" dirty="0">
                <a:solidFill>
                  <a:srgbClr val="1570C1"/>
                </a:solidFill>
                <a:latin typeface="微软雅黑" panose="020B0503020204020204" pitchFamily="34" charset="-122"/>
                <a:ea typeface="微软雅黑" panose="020B0503020204020204" pitchFamily="34" charset="-122"/>
              </a:rPr>
              <a:t>价值链与竞争优势</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137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138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2" name="矩形 21"/>
          <p:cNvSpPr/>
          <p:nvPr/>
        </p:nvSpPr>
        <p:spPr>
          <a:xfrm>
            <a:off x="757238" y="1752600"/>
            <a:ext cx="10710863" cy="3752850"/>
          </a:xfrm>
          <a:prstGeom prst="rect">
            <a:avLst/>
          </a:prstGeom>
          <a:solidFill>
            <a:srgbClr val="57CAF4"/>
          </a:solidFill>
          <a:ln>
            <a:noFill/>
          </a:ln>
        </p:spPr>
        <p:txBody>
          <a:bodyPr>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分析活动的意义和效率</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对于每一项活动，都需要认清：</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这项活动在创造价值过程中起着什么作用？它重要吗？</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我们现在完成这项活动的方式是否恰当？有无更合理的方式？更先进的技术？</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这项活动花费多少费用？</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
        <p:nvSpPr>
          <p:cNvPr id="101384"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3.4  </a:t>
            </a:r>
            <a:r>
              <a:rPr lang="zh-CN" altLang="en-US" sz="3200" dirty="0">
                <a:solidFill>
                  <a:srgbClr val="1570C1"/>
                </a:solidFill>
                <a:latin typeface="微软雅黑" panose="020B0503020204020204" pitchFamily="34" charset="-122"/>
                <a:ea typeface="微软雅黑" panose="020B0503020204020204" pitchFamily="34" charset="-122"/>
              </a:rPr>
              <a:t>价值链与竞争优势</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34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34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2" name="矩形 21"/>
          <p:cNvSpPr/>
          <p:nvPr/>
        </p:nvSpPr>
        <p:spPr>
          <a:xfrm>
            <a:off x="2733675" y="2398713"/>
            <a:ext cx="5795963" cy="2462213"/>
          </a:xfrm>
          <a:prstGeom prst="rect">
            <a:avLst/>
          </a:prstGeom>
          <a:solidFill>
            <a:srgbClr val="57CAF4"/>
          </a:solidFill>
          <a:ln>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价值链的改进</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改进价值链的两种途径</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提高活动的效率</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重组价值链</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
        <p:nvSpPr>
          <p:cNvPr id="103432"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3.4  </a:t>
            </a:r>
            <a:r>
              <a:rPr lang="zh-CN" altLang="en-US" sz="3200" dirty="0">
                <a:solidFill>
                  <a:srgbClr val="1570C1"/>
                </a:solidFill>
                <a:latin typeface="微软雅黑" panose="020B0503020204020204" pitchFamily="34" charset="-122"/>
                <a:ea typeface="微软雅黑" panose="020B0503020204020204" pitchFamily="34" charset="-122"/>
              </a:rPr>
              <a:t>价值链与竞争优势</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5473" name="图片 1"/>
          <p:cNvPicPr>
            <a:picLocks noChangeAspect="1"/>
          </p:cNvPicPr>
          <p:nvPr/>
        </p:nvPicPr>
        <p:blipFill>
          <a:blip r:embed="rId1"/>
          <a:stretch>
            <a:fillRect/>
          </a:stretch>
        </p:blipFill>
        <p:spPr>
          <a:xfrm>
            <a:off x="838200" y="841375"/>
            <a:ext cx="10515600" cy="4356100"/>
          </a:xfrm>
          <a:prstGeom prst="rect">
            <a:avLst/>
          </a:prstGeom>
          <a:noFill/>
          <a:ln w="9525">
            <a:noFill/>
          </a:ln>
        </p:spPr>
      </p:pic>
      <p:pic>
        <p:nvPicPr>
          <p:cNvPr id="105474" name="图片 2"/>
          <p:cNvPicPr>
            <a:picLocks noChangeAspect="1"/>
          </p:cNvPicPr>
          <p:nvPr/>
        </p:nvPicPr>
        <p:blipFill>
          <a:blip r:embed="rId2"/>
          <a:stretch>
            <a:fillRect/>
          </a:stretch>
        </p:blipFill>
        <p:spPr>
          <a:xfrm>
            <a:off x="3222625" y="2787650"/>
            <a:ext cx="6005513" cy="3849688"/>
          </a:xfrm>
          <a:prstGeom prst="rect">
            <a:avLst/>
          </a:prstGeom>
          <a:noFill/>
          <a:ln w="9525">
            <a:noFill/>
          </a:ln>
        </p:spPr>
      </p:pic>
      <p:sp>
        <p:nvSpPr>
          <p:cNvPr id="105475" name="标题 1"/>
          <p:cNvSpPr>
            <a:spLocks noGrp="1"/>
          </p:cNvSpPr>
          <p:nvPr/>
        </p:nvSpPr>
        <p:spPr>
          <a:xfrm>
            <a:off x="741363" y="95250"/>
            <a:ext cx="10512425" cy="971550"/>
          </a:xfrm>
          <a:prstGeom prst="rect">
            <a:avLst/>
          </a:prstGeom>
          <a:noFill/>
          <a:ln w="9525">
            <a:noFill/>
          </a:ln>
        </p:spPr>
        <p:txBody>
          <a:bodyPr lIns="91440" tIns="45720" rIns="91440" bIns="45720" anchor="ctr" anchorCtr="0"/>
          <a:p>
            <a:pPr>
              <a:lnSpc>
                <a:spcPct val="90000"/>
              </a:lnSpc>
            </a:pPr>
            <a:r>
              <a:rPr lang="zh-CN" altLang="zh-CN" sz="3200" b="1" dirty="0">
                <a:solidFill>
                  <a:srgbClr val="0070C0"/>
                </a:solidFill>
                <a:latin typeface="微软雅黑" panose="020B0503020204020204" pitchFamily="34" charset="-122"/>
                <a:ea typeface="微软雅黑" panose="020B0503020204020204" pitchFamily="34" charset="-122"/>
              </a:rPr>
              <a:t>全球价值链分析</a:t>
            </a:r>
            <a:endParaRPr lang="zh-CN" altLang="zh-CN" sz="32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00613"/>
            <a:ext cx="12193588" cy="1955800"/>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76263"/>
            <a:ext cx="1495425"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4</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6" name="文本框 12"/>
          <p:cNvSpPr txBox="1">
            <a:spLocks noChangeArrowheads="1"/>
          </p:cNvSpPr>
          <p:nvPr/>
        </p:nvSpPr>
        <p:spPr bwMode="auto">
          <a:xfrm>
            <a:off x="2762250" y="3644900"/>
            <a:ext cx="9429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内部因素评价矩阵</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24438"/>
            <a:ext cx="524827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4.1  </a:t>
            </a:r>
            <a:r>
              <a:rPr kumimoji="0" lang="zh-CN" altLang="en-US"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内部因素评价矩阵概念</a:t>
            </a:r>
            <a:endPar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4.2  </a:t>
            </a:r>
            <a:r>
              <a:rPr kumimoji="0" lang="zh-CN" altLang="en-US"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内部因素评价矩阵分析步骤</a:t>
            </a:r>
            <a:endParaRPr kumimoji="0" lang="zh-CN" altLang="en-US"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752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752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752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4.1  </a:t>
            </a:r>
            <a:r>
              <a:rPr lang="zh-CN" altLang="en-US" sz="3200" dirty="0">
                <a:solidFill>
                  <a:srgbClr val="1570C1"/>
                </a:solidFill>
                <a:latin typeface="微软雅黑" panose="020B0503020204020204" pitchFamily="34" charset="-122"/>
                <a:ea typeface="微软雅黑" panose="020B0503020204020204" pitchFamily="34" charset="-122"/>
              </a:rPr>
              <a:t>内部因素评价矩阵概念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p:nvPr/>
        </p:nvSpPr>
        <p:spPr>
          <a:xfrm>
            <a:off x="1384300" y="2290763"/>
            <a:ext cx="9437688" cy="2676525"/>
          </a:xfrm>
          <a:prstGeom prst="rect">
            <a:avLst/>
          </a:prstGeom>
          <a:solidFill>
            <a:srgbClr val="1570C1"/>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内部因素评价矩阵（</a:t>
            </a:r>
            <a:r>
              <a:rPr lang="en-US" altLang="zh-CN" sz="2800" dirty="0">
                <a:solidFill>
                  <a:schemeClr val="bg1"/>
                </a:solidFill>
                <a:latin typeface="微软雅黑" panose="020B0503020204020204" pitchFamily="34" charset="-122"/>
                <a:ea typeface="微软雅黑" panose="020B0503020204020204" pitchFamily="34" charset="-122"/>
              </a:rPr>
              <a:t>Internal Factor Evaluation Matrix</a:t>
            </a:r>
            <a:r>
              <a:rPr lang="zh-CN" altLang="en-US" sz="2800" dirty="0">
                <a:solidFill>
                  <a:schemeClr val="bg1"/>
                </a:solidFill>
                <a:latin typeface="微软雅黑" panose="020B0503020204020204" pitchFamily="34" charset="-122"/>
                <a:ea typeface="微软雅黑" panose="020B0503020204020204" pitchFamily="34" charset="-122"/>
              </a:rPr>
              <a:t>，</a:t>
            </a:r>
            <a:r>
              <a:rPr lang="en-US" altLang="zh-CN" sz="2800" dirty="0">
                <a:solidFill>
                  <a:schemeClr val="bg1"/>
                </a:solidFill>
                <a:latin typeface="微软雅黑" panose="020B0503020204020204" pitchFamily="34" charset="-122"/>
                <a:ea typeface="微软雅黑" panose="020B0503020204020204" pitchFamily="34" charset="-122"/>
              </a:rPr>
              <a:t>IFE</a:t>
            </a:r>
            <a:r>
              <a:rPr lang="zh-CN" altLang="en-US" sz="2800" dirty="0">
                <a:solidFill>
                  <a:schemeClr val="bg1"/>
                </a:solidFill>
                <a:latin typeface="微软雅黑" panose="020B0503020204020204" pitchFamily="34" charset="-122"/>
                <a:ea typeface="微软雅黑" panose="020B0503020204020204" pitchFamily="34" charset="-122"/>
              </a:rPr>
              <a:t>矩阵），是一种对内部因素进行分析的工具，其做法是从优势和劣势两个方面找出影响企业未来发展的关键因素，根据各个因素影响程度的大小确定权数，再按企业对各关键因素的有效反应程度对各关键因素进行评分，最后算出企业的总加权分数。</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956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957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9575" name="文本框 17"/>
          <p:cNvSpPr txBox="1"/>
          <p:nvPr/>
        </p:nvSpPr>
        <p:spPr>
          <a:xfrm>
            <a:off x="425450" y="425450"/>
            <a:ext cx="60975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4.2  </a:t>
            </a:r>
            <a:r>
              <a:rPr lang="zh-CN" altLang="en-US" sz="3200" dirty="0">
                <a:solidFill>
                  <a:srgbClr val="1570C1"/>
                </a:solidFill>
                <a:latin typeface="微软雅黑" panose="020B0503020204020204" pitchFamily="34" charset="-122"/>
                <a:ea typeface="微软雅黑" panose="020B0503020204020204" pitchFamily="34" charset="-122"/>
              </a:rPr>
              <a:t>内部因素评价矩阵分析步骤</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24486" y="2755973"/>
            <a:ext cx="1608403" cy="2113818"/>
            <a:chOff x="3908425" y="969169"/>
            <a:chExt cx="2174875" cy="2858294"/>
          </a:xfrm>
          <a:solidFill>
            <a:srgbClr val="1570C1"/>
          </a:solidFill>
        </p:grpSpPr>
        <p:sp>
          <p:nvSpPr>
            <p:cNvPr id="12" name="Freeform 6"/>
            <p:cNvSpPr>
              <a:spLocks noEditPoints="1"/>
            </p:cNvSpPr>
            <p:nvPr/>
          </p:nvSpPr>
          <p:spPr bwMode="auto">
            <a:xfrm>
              <a:off x="3968750" y="1439863"/>
              <a:ext cx="2114550" cy="2387600"/>
            </a:xfrm>
            <a:custGeom>
              <a:avLst/>
              <a:gdLst>
                <a:gd name="T0" fmla="*/ 292 w 563"/>
                <a:gd name="T1" fmla="*/ 0 h 635"/>
                <a:gd name="T2" fmla="*/ 286 w 563"/>
                <a:gd name="T3" fmla="*/ 130 h 635"/>
                <a:gd name="T4" fmla="*/ 329 w 563"/>
                <a:gd name="T5" fmla="*/ 5 h 635"/>
                <a:gd name="T6" fmla="*/ 315 w 563"/>
                <a:gd name="T7" fmla="*/ 119 h 635"/>
                <a:gd name="T8" fmla="*/ 373 w 563"/>
                <a:gd name="T9" fmla="*/ 30 h 635"/>
                <a:gd name="T10" fmla="*/ 432 w 563"/>
                <a:gd name="T11" fmla="*/ 155 h 635"/>
                <a:gd name="T12" fmla="*/ 561 w 563"/>
                <a:gd name="T13" fmla="*/ 178 h 635"/>
                <a:gd name="T14" fmla="*/ 397 w 563"/>
                <a:gd name="T15" fmla="*/ 203 h 635"/>
                <a:gd name="T16" fmla="*/ 382 w 563"/>
                <a:gd name="T17" fmla="*/ 161 h 635"/>
                <a:gd name="T18" fmla="*/ 364 w 563"/>
                <a:gd name="T19" fmla="*/ 136 h 635"/>
                <a:gd name="T20" fmla="*/ 373 w 563"/>
                <a:gd name="T21" fmla="*/ 275 h 635"/>
                <a:gd name="T22" fmla="*/ 447 w 563"/>
                <a:gd name="T23" fmla="*/ 403 h 635"/>
                <a:gd name="T24" fmla="*/ 324 w 563"/>
                <a:gd name="T25" fmla="*/ 509 h 635"/>
                <a:gd name="T26" fmla="*/ 291 w 563"/>
                <a:gd name="T27" fmla="*/ 631 h 635"/>
                <a:gd name="T28" fmla="*/ 250 w 563"/>
                <a:gd name="T29" fmla="*/ 629 h 635"/>
                <a:gd name="T30" fmla="*/ 238 w 563"/>
                <a:gd name="T31" fmla="*/ 579 h 635"/>
                <a:gd name="T32" fmla="*/ 260 w 563"/>
                <a:gd name="T33" fmla="*/ 418 h 635"/>
                <a:gd name="T34" fmla="*/ 224 w 563"/>
                <a:gd name="T35" fmla="*/ 250 h 635"/>
                <a:gd name="T36" fmla="*/ 140 w 563"/>
                <a:gd name="T37" fmla="*/ 93 h 635"/>
                <a:gd name="T38" fmla="*/ 128 w 563"/>
                <a:gd name="T39" fmla="*/ 213 h 635"/>
                <a:gd name="T40" fmla="*/ 162 w 563"/>
                <a:gd name="T41" fmla="*/ 245 h 635"/>
                <a:gd name="T42" fmla="*/ 115 w 563"/>
                <a:gd name="T43" fmla="*/ 289 h 635"/>
                <a:gd name="T44" fmla="*/ 74 w 563"/>
                <a:gd name="T45" fmla="*/ 280 h 635"/>
                <a:gd name="T46" fmla="*/ 70 w 563"/>
                <a:gd name="T47" fmla="*/ 276 h 635"/>
                <a:gd name="T48" fmla="*/ 0 w 563"/>
                <a:gd name="T49" fmla="*/ 250 h 635"/>
                <a:gd name="T50" fmla="*/ 58 w 563"/>
                <a:gd name="T51" fmla="*/ 221 h 635"/>
                <a:gd name="T52" fmla="*/ 72 w 563"/>
                <a:gd name="T53" fmla="*/ 200 h 635"/>
                <a:gd name="T54" fmla="*/ 255 w 563"/>
                <a:gd name="T55" fmla="*/ 6 h 635"/>
                <a:gd name="T56" fmla="*/ 117 w 563"/>
                <a:gd name="T57" fmla="*/ 234 h 635"/>
                <a:gd name="T58" fmla="*/ 69 w 563"/>
                <a:gd name="T59" fmla="*/ 211 h 635"/>
                <a:gd name="T60" fmla="*/ 299 w 563"/>
                <a:gd name="T61" fmla="*/ 291 h 635"/>
                <a:gd name="T62" fmla="*/ 368 w 563"/>
                <a:gd name="T63" fmla="*/ 395 h 635"/>
                <a:gd name="T64" fmla="*/ 315 w 563"/>
                <a:gd name="T65" fmla="*/ 309 h 635"/>
                <a:gd name="T66" fmla="*/ 299 w 563"/>
                <a:gd name="T67" fmla="*/ 291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3" h="635">
                  <a:moveTo>
                    <a:pt x="255" y="6"/>
                  </a:moveTo>
                  <a:cubicBezTo>
                    <a:pt x="267" y="3"/>
                    <a:pt x="279" y="1"/>
                    <a:pt x="292" y="0"/>
                  </a:cubicBezTo>
                  <a:cubicBezTo>
                    <a:pt x="287" y="15"/>
                    <a:pt x="285" y="31"/>
                    <a:pt x="283" y="46"/>
                  </a:cubicBezTo>
                  <a:cubicBezTo>
                    <a:pt x="282" y="74"/>
                    <a:pt x="279" y="102"/>
                    <a:pt x="286" y="130"/>
                  </a:cubicBezTo>
                  <a:cubicBezTo>
                    <a:pt x="288" y="87"/>
                    <a:pt x="307" y="46"/>
                    <a:pt x="303" y="3"/>
                  </a:cubicBezTo>
                  <a:cubicBezTo>
                    <a:pt x="312" y="3"/>
                    <a:pt x="320" y="4"/>
                    <a:pt x="329" y="5"/>
                  </a:cubicBezTo>
                  <a:cubicBezTo>
                    <a:pt x="326" y="17"/>
                    <a:pt x="320" y="29"/>
                    <a:pt x="319" y="42"/>
                  </a:cubicBezTo>
                  <a:cubicBezTo>
                    <a:pt x="317" y="68"/>
                    <a:pt x="315" y="93"/>
                    <a:pt x="315" y="119"/>
                  </a:cubicBezTo>
                  <a:cubicBezTo>
                    <a:pt x="328" y="83"/>
                    <a:pt x="342" y="46"/>
                    <a:pt x="345" y="8"/>
                  </a:cubicBezTo>
                  <a:cubicBezTo>
                    <a:pt x="355" y="14"/>
                    <a:pt x="370" y="16"/>
                    <a:pt x="373" y="30"/>
                  </a:cubicBezTo>
                  <a:cubicBezTo>
                    <a:pt x="378" y="50"/>
                    <a:pt x="390" y="68"/>
                    <a:pt x="398" y="87"/>
                  </a:cubicBezTo>
                  <a:cubicBezTo>
                    <a:pt x="410" y="109"/>
                    <a:pt x="419" y="133"/>
                    <a:pt x="432" y="155"/>
                  </a:cubicBezTo>
                  <a:cubicBezTo>
                    <a:pt x="465" y="152"/>
                    <a:pt x="498" y="153"/>
                    <a:pt x="530" y="153"/>
                  </a:cubicBezTo>
                  <a:cubicBezTo>
                    <a:pt x="544" y="152"/>
                    <a:pt x="561" y="163"/>
                    <a:pt x="561" y="178"/>
                  </a:cubicBezTo>
                  <a:cubicBezTo>
                    <a:pt x="563" y="191"/>
                    <a:pt x="550" y="201"/>
                    <a:pt x="538" y="201"/>
                  </a:cubicBezTo>
                  <a:cubicBezTo>
                    <a:pt x="491" y="203"/>
                    <a:pt x="444" y="202"/>
                    <a:pt x="397" y="203"/>
                  </a:cubicBezTo>
                  <a:cubicBezTo>
                    <a:pt x="390" y="189"/>
                    <a:pt x="383" y="176"/>
                    <a:pt x="376" y="162"/>
                  </a:cubicBezTo>
                  <a:cubicBezTo>
                    <a:pt x="382" y="161"/>
                    <a:pt x="382" y="161"/>
                    <a:pt x="382" y="161"/>
                  </a:cubicBezTo>
                  <a:cubicBezTo>
                    <a:pt x="380" y="161"/>
                    <a:pt x="377" y="161"/>
                    <a:pt x="375" y="161"/>
                  </a:cubicBezTo>
                  <a:cubicBezTo>
                    <a:pt x="371" y="153"/>
                    <a:pt x="368" y="144"/>
                    <a:pt x="364" y="136"/>
                  </a:cubicBezTo>
                  <a:cubicBezTo>
                    <a:pt x="360" y="162"/>
                    <a:pt x="360" y="188"/>
                    <a:pt x="360" y="214"/>
                  </a:cubicBezTo>
                  <a:cubicBezTo>
                    <a:pt x="361" y="235"/>
                    <a:pt x="361" y="257"/>
                    <a:pt x="373" y="275"/>
                  </a:cubicBezTo>
                  <a:cubicBezTo>
                    <a:pt x="395" y="310"/>
                    <a:pt x="423" y="343"/>
                    <a:pt x="443" y="381"/>
                  </a:cubicBezTo>
                  <a:cubicBezTo>
                    <a:pt x="446" y="388"/>
                    <a:pt x="451" y="396"/>
                    <a:pt x="447" y="403"/>
                  </a:cubicBezTo>
                  <a:cubicBezTo>
                    <a:pt x="441" y="420"/>
                    <a:pt x="427" y="432"/>
                    <a:pt x="414" y="445"/>
                  </a:cubicBezTo>
                  <a:cubicBezTo>
                    <a:pt x="386" y="469"/>
                    <a:pt x="359" y="496"/>
                    <a:pt x="324" y="509"/>
                  </a:cubicBezTo>
                  <a:cubicBezTo>
                    <a:pt x="315" y="544"/>
                    <a:pt x="310" y="580"/>
                    <a:pt x="300" y="614"/>
                  </a:cubicBezTo>
                  <a:cubicBezTo>
                    <a:pt x="299" y="621"/>
                    <a:pt x="295" y="626"/>
                    <a:pt x="291" y="631"/>
                  </a:cubicBezTo>
                  <a:cubicBezTo>
                    <a:pt x="290" y="632"/>
                    <a:pt x="286" y="634"/>
                    <a:pt x="285" y="635"/>
                  </a:cubicBezTo>
                  <a:cubicBezTo>
                    <a:pt x="273" y="635"/>
                    <a:pt x="261" y="632"/>
                    <a:pt x="250" y="629"/>
                  </a:cubicBezTo>
                  <a:cubicBezTo>
                    <a:pt x="246" y="625"/>
                    <a:pt x="242" y="622"/>
                    <a:pt x="238" y="618"/>
                  </a:cubicBezTo>
                  <a:cubicBezTo>
                    <a:pt x="230" y="606"/>
                    <a:pt x="234" y="591"/>
                    <a:pt x="238" y="579"/>
                  </a:cubicBezTo>
                  <a:cubicBezTo>
                    <a:pt x="249" y="543"/>
                    <a:pt x="258" y="508"/>
                    <a:pt x="265" y="472"/>
                  </a:cubicBezTo>
                  <a:cubicBezTo>
                    <a:pt x="269" y="454"/>
                    <a:pt x="264" y="435"/>
                    <a:pt x="260" y="418"/>
                  </a:cubicBezTo>
                  <a:cubicBezTo>
                    <a:pt x="251" y="383"/>
                    <a:pt x="242" y="349"/>
                    <a:pt x="233" y="315"/>
                  </a:cubicBezTo>
                  <a:cubicBezTo>
                    <a:pt x="229" y="294"/>
                    <a:pt x="222" y="272"/>
                    <a:pt x="224" y="250"/>
                  </a:cubicBezTo>
                  <a:cubicBezTo>
                    <a:pt x="228" y="189"/>
                    <a:pt x="235" y="128"/>
                    <a:pt x="243" y="67"/>
                  </a:cubicBezTo>
                  <a:cubicBezTo>
                    <a:pt x="208" y="75"/>
                    <a:pt x="174" y="84"/>
                    <a:pt x="140" y="93"/>
                  </a:cubicBezTo>
                  <a:cubicBezTo>
                    <a:pt x="131" y="132"/>
                    <a:pt x="129" y="174"/>
                    <a:pt x="114" y="212"/>
                  </a:cubicBezTo>
                  <a:cubicBezTo>
                    <a:pt x="118" y="212"/>
                    <a:pt x="125" y="213"/>
                    <a:pt x="128" y="213"/>
                  </a:cubicBezTo>
                  <a:cubicBezTo>
                    <a:pt x="127" y="221"/>
                    <a:pt x="125" y="228"/>
                    <a:pt x="123" y="236"/>
                  </a:cubicBezTo>
                  <a:cubicBezTo>
                    <a:pt x="136" y="239"/>
                    <a:pt x="149" y="242"/>
                    <a:pt x="162" y="245"/>
                  </a:cubicBezTo>
                  <a:cubicBezTo>
                    <a:pt x="160" y="260"/>
                    <a:pt x="156" y="274"/>
                    <a:pt x="153" y="289"/>
                  </a:cubicBezTo>
                  <a:cubicBezTo>
                    <a:pt x="140" y="289"/>
                    <a:pt x="128" y="289"/>
                    <a:pt x="115" y="289"/>
                  </a:cubicBezTo>
                  <a:cubicBezTo>
                    <a:pt x="101" y="288"/>
                    <a:pt x="88" y="288"/>
                    <a:pt x="75" y="288"/>
                  </a:cubicBezTo>
                  <a:cubicBezTo>
                    <a:pt x="74" y="280"/>
                    <a:pt x="74" y="280"/>
                    <a:pt x="74" y="280"/>
                  </a:cubicBezTo>
                  <a:cubicBezTo>
                    <a:pt x="81" y="282"/>
                    <a:pt x="81" y="282"/>
                    <a:pt x="81" y="282"/>
                  </a:cubicBezTo>
                  <a:cubicBezTo>
                    <a:pt x="77" y="280"/>
                    <a:pt x="74" y="278"/>
                    <a:pt x="70" y="276"/>
                  </a:cubicBezTo>
                  <a:cubicBezTo>
                    <a:pt x="66" y="278"/>
                    <a:pt x="62" y="279"/>
                    <a:pt x="58" y="280"/>
                  </a:cubicBezTo>
                  <a:cubicBezTo>
                    <a:pt x="38" y="272"/>
                    <a:pt x="20" y="258"/>
                    <a:pt x="0" y="250"/>
                  </a:cubicBezTo>
                  <a:cubicBezTo>
                    <a:pt x="2" y="237"/>
                    <a:pt x="6" y="224"/>
                    <a:pt x="8" y="211"/>
                  </a:cubicBezTo>
                  <a:cubicBezTo>
                    <a:pt x="25" y="212"/>
                    <a:pt x="41" y="217"/>
                    <a:pt x="58" y="221"/>
                  </a:cubicBezTo>
                  <a:cubicBezTo>
                    <a:pt x="59" y="214"/>
                    <a:pt x="60" y="207"/>
                    <a:pt x="62" y="200"/>
                  </a:cubicBezTo>
                  <a:cubicBezTo>
                    <a:pt x="64" y="200"/>
                    <a:pt x="70" y="200"/>
                    <a:pt x="72" y="200"/>
                  </a:cubicBezTo>
                  <a:cubicBezTo>
                    <a:pt x="78" y="150"/>
                    <a:pt x="91" y="102"/>
                    <a:pt x="97" y="52"/>
                  </a:cubicBezTo>
                  <a:cubicBezTo>
                    <a:pt x="150" y="36"/>
                    <a:pt x="202" y="22"/>
                    <a:pt x="255" y="6"/>
                  </a:cubicBezTo>
                  <a:close/>
                  <a:moveTo>
                    <a:pt x="67" y="223"/>
                  </a:moveTo>
                  <a:cubicBezTo>
                    <a:pt x="84" y="226"/>
                    <a:pt x="100" y="232"/>
                    <a:pt x="117" y="234"/>
                  </a:cubicBezTo>
                  <a:cubicBezTo>
                    <a:pt x="117" y="231"/>
                    <a:pt x="117" y="225"/>
                    <a:pt x="116" y="222"/>
                  </a:cubicBezTo>
                  <a:cubicBezTo>
                    <a:pt x="101" y="219"/>
                    <a:pt x="85" y="216"/>
                    <a:pt x="69" y="211"/>
                  </a:cubicBezTo>
                  <a:cubicBezTo>
                    <a:pt x="68" y="215"/>
                    <a:pt x="68" y="219"/>
                    <a:pt x="67" y="223"/>
                  </a:cubicBezTo>
                  <a:close/>
                  <a:moveTo>
                    <a:pt x="299" y="291"/>
                  </a:moveTo>
                  <a:cubicBezTo>
                    <a:pt x="310" y="337"/>
                    <a:pt x="322" y="383"/>
                    <a:pt x="330" y="429"/>
                  </a:cubicBezTo>
                  <a:cubicBezTo>
                    <a:pt x="344" y="420"/>
                    <a:pt x="358" y="410"/>
                    <a:pt x="368" y="395"/>
                  </a:cubicBezTo>
                  <a:cubicBezTo>
                    <a:pt x="362" y="381"/>
                    <a:pt x="355" y="367"/>
                    <a:pt x="347" y="354"/>
                  </a:cubicBezTo>
                  <a:cubicBezTo>
                    <a:pt x="337" y="339"/>
                    <a:pt x="326" y="324"/>
                    <a:pt x="315" y="309"/>
                  </a:cubicBezTo>
                  <a:cubicBezTo>
                    <a:pt x="311" y="303"/>
                    <a:pt x="307" y="297"/>
                    <a:pt x="303" y="291"/>
                  </a:cubicBezTo>
                  <a:cubicBezTo>
                    <a:pt x="302" y="291"/>
                    <a:pt x="300" y="291"/>
                    <a:pt x="299" y="2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Freeform 7"/>
            <p:cNvSpPr/>
            <p:nvPr/>
          </p:nvSpPr>
          <p:spPr bwMode="auto">
            <a:xfrm>
              <a:off x="3908425" y="2387600"/>
              <a:ext cx="630238" cy="409575"/>
            </a:xfrm>
            <a:custGeom>
              <a:avLst/>
              <a:gdLst>
                <a:gd name="T0" fmla="*/ 14 w 168"/>
                <a:gd name="T1" fmla="*/ 0 h 109"/>
                <a:gd name="T2" fmla="*/ 77 w 168"/>
                <a:gd name="T3" fmla="*/ 33 h 109"/>
                <a:gd name="T4" fmla="*/ 76 w 168"/>
                <a:gd name="T5" fmla="*/ 49 h 109"/>
                <a:gd name="T6" fmla="*/ 90 w 168"/>
                <a:gd name="T7" fmla="*/ 39 h 109"/>
                <a:gd name="T8" fmla="*/ 137 w 168"/>
                <a:gd name="T9" fmla="*/ 39 h 109"/>
                <a:gd name="T10" fmla="*/ 168 w 168"/>
                <a:gd name="T11" fmla="*/ 39 h 109"/>
                <a:gd name="T12" fmla="*/ 152 w 168"/>
                <a:gd name="T13" fmla="*/ 109 h 109"/>
                <a:gd name="T14" fmla="*/ 102 w 168"/>
                <a:gd name="T15" fmla="*/ 98 h 109"/>
                <a:gd name="T16" fmla="*/ 1 w 168"/>
                <a:gd name="T17" fmla="*/ 74 h 109"/>
                <a:gd name="T18" fmla="*/ 14 w 168"/>
                <a:gd name="T19"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09">
                  <a:moveTo>
                    <a:pt x="14" y="0"/>
                  </a:moveTo>
                  <a:cubicBezTo>
                    <a:pt x="36" y="10"/>
                    <a:pt x="55" y="23"/>
                    <a:pt x="77" y="33"/>
                  </a:cubicBezTo>
                  <a:cubicBezTo>
                    <a:pt x="77" y="37"/>
                    <a:pt x="76" y="45"/>
                    <a:pt x="76" y="49"/>
                  </a:cubicBezTo>
                  <a:cubicBezTo>
                    <a:pt x="81" y="46"/>
                    <a:pt x="85" y="42"/>
                    <a:pt x="90" y="39"/>
                  </a:cubicBezTo>
                  <a:cubicBezTo>
                    <a:pt x="106" y="39"/>
                    <a:pt x="122" y="39"/>
                    <a:pt x="137" y="39"/>
                  </a:cubicBezTo>
                  <a:cubicBezTo>
                    <a:pt x="148" y="39"/>
                    <a:pt x="158" y="39"/>
                    <a:pt x="168" y="39"/>
                  </a:cubicBezTo>
                  <a:cubicBezTo>
                    <a:pt x="163" y="63"/>
                    <a:pt x="159" y="86"/>
                    <a:pt x="152" y="109"/>
                  </a:cubicBezTo>
                  <a:cubicBezTo>
                    <a:pt x="135" y="105"/>
                    <a:pt x="119" y="102"/>
                    <a:pt x="102" y="98"/>
                  </a:cubicBezTo>
                  <a:cubicBezTo>
                    <a:pt x="69" y="89"/>
                    <a:pt x="34" y="83"/>
                    <a:pt x="1" y="74"/>
                  </a:cubicBezTo>
                  <a:cubicBezTo>
                    <a:pt x="0" y="49"/>
                    <a:pt x="11" y="25"/>
                    <a:pt x="1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Line 9"/>
            <p:cNvSpPr>
              <a:spLocks noChangeShapeType="1"/>
            </p:cNvSpPr>
            <p:nvPr/>
          </p:nvSpPr>
          <p:spPr bwMode="auto">
            <a:xfrm>
              <a:off x="5586413" y="1933575"/>
              <a:ext cx="0" cy="0"/>
            </a:xfrm>
            <a:prstGeom prst="lin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Line 10"/>
            <p:cNvSpPr>
              <a:spLocks noChangeShapeType="1"/>
            </p:cNvSpPr>
            <p:nvPr/>
          </p:nvSpPr>
          <p:spPr bwMode="auto">
            <a:xfrm>
              <a:off x="5586413" y="1933575"/>
              <a:ext cx="0" cy="0"/>
            </a:xfrm>
            <a:prstGeom prst="lin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椭圆 17"/>
            <p:cNvSpPr/>
            <p:nvPr/>
          </p:nvSpPr>
          <p:spPr>
            <a:xfrm>
              <a:off x="4960144" y="969169"/>
              <a:ext cx="442912" cy="44291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0" name="矩形 19"/>
          <p:cNvSpPr/>
          <p:nvPr/>
        </p:nvSpPr>
        <p:spPr bwMode="auto">
          <a:xfrm>
            <a:off x="0" y="4870450"/>
            <a:ext cx="5661025" cy="9239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列出在内部分析过程中确定的关键因素。采用</a:t>
            </a:r>
            <a:r>
              <a:rPr kumimoji="0" lang="en-US" altLang="zh-CN"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10~20</a:t>
            </a: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个内部因素，包括优势和弱点两方面的</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1" name="矩形 30"/>
          <p:cNvSpPr/>
          <p:nvPr/>
        </p:nvSpPr>
        <p:spPr bwMode="auto">
          <a:xfrm>
            <a:off x="1636713" y="3940175"/>
            <a:ext cx="5661025" cy="923925"/>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给每个因素以权重，其数值范围由</a:t>
            </a:r>
            <a:r>
              <a:rPr kumimoji="0" lang="en-US" altLang="zh-CN"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0.0</a:t>
            </a: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（不重要）到</a:t>
            </a:r>
            <a:r>
              <a:rPr kumimoji="0" lang="en-US" altLang="zh-CN"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1.0</a:t>
            </a: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（非常重要）</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2" name="矩形 31"/>
          <p:cNvSpPr/>
          <p:nvPr/>
        </p:nvSpPr>
        <p:spPr bwMode="auto">
          <a:xfrm>
            <a:off x="3271838" y="3009900"/>
            <a:ext cx="5661025" cy="9239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为各因素进行评分。1分代表重要弱势；2分代表次要弱势；3分代表次要优势；4分代表重要优势。</a:t>
            </a: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3" name="矩形 32"/>
          <p:cNvSpPr/>
          <p:nvPr/>
        </p:nvSpPr>
        <p:spPr bwMode="auto">
          <a:xfrm>
            <a:off x="4908550" y="2093913"/>
            <a:ext cx="5661025" cy="923925"/>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用每个因素的权重乘以它的评分，即得到每个因素的加权分数</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4" name="矩形 33"/>
          <p:cNvSpPr/>
          <p:nvPr/>
        </p:nvSpPr>
        <p:spPr bwMode="auto">
          <a:xfrm>
            <a:off x="6545263" y="1177925"/>
            <a:ext cx="5661025" cy="9239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将所有因素的加权分数相加，得到企业的总加权分数</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0" dur="500"/>
                                        <p:tgtEl>
                                          <p:spTgt spid="20"/>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ipe(left)">
                                      <p:cBhvr>
                                        <p:cTn id="14" dur="500"/>
                                        <p:tgtEl>
                                          <p:spTgt spid="31"/>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500"/>
                                        <p:tgtEl>
                                          <p:spTgt spid="32"/>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1" grpId="0" animBg="1"/>
      <p:bldP spid="32" grpId="0" animBg="1"/>
      <p:bldP spid="33" grpId="0" animBg="1"/>
      <p:bldP spid="3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文本框 9"/>
          <p:cNvSpPr txBox="1"/>
          <p:nvPr/>
        </p:nvSpPr>
        <p:spPr>
          <a:xfrm>
            <a:off x="2133600" y="1287463"/>
            <a:ext cx="8091488" cy="584200"/>
          </a:xfrm>
          <a:prstGeom prst="rect">
            <a:avLst/>
          </a:prstGeom>
          <a:noFill/>
          <a:ln w="9525">
            <a:noFill/>
          </a:ln>
        </p:spPr>
        <p:txBody>
          <a:bodyPr anchor="t" anchorCtr="0">
            <a:spAutoFit/>
          </a:bodyPr>
          <a:p>
            <a:pPr algn="ctr">
              <a:buFont typeface="Arial" panose="020B0604020202020204" pitchFamily="34" charset="0"/>
            </a:pPr>
            <a:r>
              <a:rPr lang="zh-CN" altLang="en-US" sz="3200" dirty="0">
                <a:latin typeface="黑体" panose="02010609060101010101" pitchFamily="49" charset="-122"/>
                <a:ea typeface="黑体" panose="02010609060101010101" pitchFamily="49" charset="-122"/>
              </a:rPr>
              <a:t>雷达图</a:t>
            </a:r>
            <a:r>
              <a:rPr lang="zh-CN" altLang="en-US" sz="3200" dirty="0">
                <a:latin typeface="Arial" panose="020B0604020202020204" pitchFamily="34" charset="0"/>
                <a:ea typeface="黑体" panose="02010609060101010101" pitchFamily="49" charset="-122"/>
              </a:rPr>
              <a:t>（</a:t>
            </a:r>
            <a:r>
              <a:rPr lang="en-US" altLang="zh-CN" sz="3200" dirty="0">
                <a:latin typeface="Arial" panose="020B0604020202020204" pitchFamily="34" charset="0"/>
                <a:ea typeface="黑体" panose="02010609060101010101" pitchFamily="49" charset="-122"/>
              </a:rPr>
              <a:t>Radar diagram</a:t>
            </a:r>
            <a:r>
              <a:rPr lang="zh-CN" altLang="en-US" sz="3200" dirty="0">
                <a:latin typeface="Arial" panose="020B0604020202020204" pitchFamily="34" charset="0"/>
                <a:ea typeface="黑体" panose="02010609060101010101" pitchFamily="49" charset="-122"/>
              </a:rPr>
              <a:t>）</a:t>
            </a:r>
            <a:r>
              <a:rPr lang="zh-CN" altLang="en-US" sz="2800" dirty="0">
                <a:latin typeface="Arial" panose="020B0604020202020204" pitchFamily="34" charset="0"/>
                <a:ea typeface="黑体" panose="02010609060101010101" pitchFamily="49" charset="-122"/>
              </a:rPr>
              <a:t>    </a:t>
            </a:r>
            <a:endParaRPr lang="zh-CN" altLang="en-US" sz="2800" dirty="0">
              <a:latin typeface="Arial" panose="020B0604020202020204" pitchFamily="34" charset="0"/>
              <a:ea typeface="黑体" panose="02010609060101010101" pitchFamily="49" charset="-122"/>
            </a:endParaRPr>
          </a:p>
        </p:txBody>
      </p:sp>
      <p:sp>
        <p:nvSpPr>
          <p:cNvPr id="26627" name="文本框 3"/>
          <p:cNvSpPr txBox="1"/>
          <p:nvPr/>
        </p:nvSpPr>
        <p:spPr>
          <a:xfrm>
            <a:off x="2362200" y="2133600"/>
            <a:ext cx="7372350" cy="3784600"/>
          </a:xfrm>
          <a:prstGeom prst="rect">
            <a:avLst/>
          </a:prstGeom>
          <a:noFill/>
          <a:ln w="9525">
            <a:noFill/>
          </a:ln>
        </p:spPr>
        <p:txBody>
          <a:bodyPr anchor="t" anchorCtr="0">
            <a:spAutoFit/>
          </a:bodyPr>
          <a:p>
            <a:pPr algn="just">
              <a:lnSpc>
                <a:spcPct val="125000"/>
              </a:lnSpc>
            </a:pPr>
            <a:r>
              <a:rPr lang="zh-CN" altLang="en-US" sz="3200" b="1" dirty="0">
                <a:latin typeface="Arial" panose="020B0604020202020204" pitchFamily="34" charset="0"/>
                <a:ea typeface="宋体" panose="02010600030101010101" pitchFamily="2" charset="-122"/>
              </a:rPr>
              <a:t>静态分析</a:t>
            </a:r>
            <a:r>
              <a:rPr lang="zh-CN" altLang="en-US" sz="3200" dirty="0">
                <a:latin typeface="Arial" panose="020B0604020202020204" pitchFamily="34" charset="0"/>
                <a:ea typeface="宋体" panose="02010600030101010101" pitchFamily="2" charset="-122"/>
              </a:rPr>
              <a:t>：将企业的各种财务比率与竞争对手或整个行业的财务比率做横向比较；</a:t>
            </a:r>
            <a:endParaRPr lang="en-US" altLang="zh-CN" sz="3200" dirty="0">
              <a:latin typeface="Arial" panose="020B0604020202020204" pitchFamily="34" charset="0"/>
              <a:ea typeface="宋体" panose="02010600030101010101" pitchFamily="2" charset="-122"/>
            </a:endParaRPr>
          </a:p>
          <a:p>
            <a:pPr algn="just">
              <a:lnSpc>
                <a:spcPct val="125000"/>
              </a:lnSpc>
            </a:pPr>
            <a:r>
              <a:rPr lang="zh-CN" altLang="en-US" sz="3200" b="1" dirty="0">
                <a:latin typeface="Arial" panose="020B0604020202020204" pitchFamily="34" charset="0"/>
                <a:ea typeface="宋体" panose="02010600030101010101" pitchFamily="2" charset="-122"/>
              </a:rPr>
              <a:t>动态分析</a:t>
            </a:r>
            <a:r>
              <a:rPr lang="zh-CN" altLang="en-US" sz="3200" dirty="0">
                <a:latin typeface="Arial" panose="020B0604020202020204" pitchFamily="34" charset="0"/>
                <a:ea typeface="宋体" panose="02010600030101010101" pitchFamily="2" charset="-122"/>
              </a:rPr>
              <a:t>：将企业现时的财务比率与先前的财务比率做纵向比较，发现企业财务及经营情况的发展变化趋势。</a:t>
            </a:r>
            <a:endParaRPr lang="en-US" altLang="zh-CN" sz="3200" dirty="0">
              <a:latin typeface="Arial" panose="020B0604020202020204" pitchFamily="34" charset="0"/>
              <a:ea typeface="宋体" panose="02010600030101010101" pitchFamily="2" charset="-122"/>
            </a:endParaRPr>
          </a:p>
        </p:txBody>
      </p:sp>
      <p:pic>
        <p:nvPicPr>
          <p:cNvPr id="111619" name="图片 1"/>
          <p:cNvPicPr>
            <a:picLocks noChangeAspect="1"/>
          </p:cNvPicPr>
          <p:nvPr/>
        </p:nvPicPr>
        <p:blipFill>
          <a:blip r:embed="rId1"/>
          <a:srcRect r="51210" b="48119"/>
          <a:stretch>
            <a:fillRect/>
          </a:stretch>
        </p:blipFill>
        <p:spPr>
          <a:xfrm>
            <a:off x="10117138" y="107950"/>
            <a:ext cx="1560512" cy="1384300"/>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p:cTn id="7" dur="1000" fill="hold"/>
                                        <p:tgtEl>
                                          <p:spTgt spid="26626"/>
                                        </p:tgtEl>
                                        <p:attrNameLst>
                                          <p:attrName>ppt_w</p:attrName>
                                        </p:attrNameLst>
                                      </p:cBhvr>
                                      <p:tavLst>
                                        <p:tav tm="0">
                                          <p:val>
                                            <p:strVal val="#ppt_w*0.70"/>
                                          </p:val>
                                        </p:tav>
                                        <p:tav tm="100000">
                                          <p:val>
                                            <p:strVal val="#ppt_w"/>
                                          </p:val>
                                        </p:tav>
                                      </p:tavLst>
                                    </p:anim>
                                    <p:anim calcmode="lin" valueType="num">
                                      <p:cBhvr>
                                        <p:cTn id="8" dur="1000" fill="hold"/>
                                        <p:tgtEl>
                                          <p:spTgt spid="26626"/>
                                        </p:tgtEl>
                                        <p:attrNameLst>
                                          <p:attrName>ppt_h</p:attrName>
                                        </p:attrNameLst>
                                      </p:cBhvr>
                                      <p:tavLst>
                                        <p:tav tm="0">
                                          <p:val>
                                            <p:strVal val="#ppt_h"/>
                                          </p:val>
                                        </p:tav>
                                        <p:tav tm="100000">
                                          <p:val>
                                            <p:strVal val="#ppt_h"/>
                                          </p:val>
                                        </p:tav>
                                      </p:tavLst>
                                    </p:anim>
                                    <p:animEffect transition="in" filter="fade">
                                      <p:cBhvr>
                                        <p:cTn id="9" dur="1000"/>
                                        <p:tgtEl>
                                          <p:spTgt spid="26626"/>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6627"/>
                                        </p:tgtEl>
                                        <p:attrNameLst>
                                          <p:attrName>style.visibility</p:attrName>
                                        </p:attrNameLst>
                                      </p:cBhvr>
                                      <p:to>
                                        <p:strVal val="visible"/>
                                      </p:to>
                                    </p:set>
                                    <p:anim calcmode="lin" valueType="num">
                                      <p:cBhvr>
                                        <p:cTn id="14" dur="500"/>
                                        <p:tgtEl>
                                          <p:spTgt spid="26627"/>
                                        </p:tgtEl>
                                        <p:attrNameLst>
                                          <p:attrName>ppt_y</p:attrName>
                                        </p:attrNameLst>
                                      </p:cBhvr>
                                      <p:tavLst>
                                        <p:tav tm="0">
                                          <p:val>
                                            <p:strVal val="#ppt_y+#ppt_h*1.125000"/>
                                          </p:val>
                                        </p:tav>
                                        <p:tav tm="100000">
                                          <p:val>
                                            <p:strVal val="#ppt_y"/>
                                          </p:val>
                                        </p:tav>
                                      </p:tavLst>
                                    </p:anim>
                                    <p:animEffect transition="in" filter="wipe(up)">
                                      <p:cBhvr>
                                        <p:cTn id="15"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6" grpId="1"/>
      <p:bldP spid="26627" grpId="0"/>
      <p:bldP spid="26627"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文本框 10"/>
          <p:cNvSpPr txBox="1"/>
          <p:nvPr/>
        </p:nvSpPr>
        <p:spPr>
          <a:xfrm>
            <a:off x="3108325" y="635000"/>
            <a:ext cx="6796088" cy="584200"/>
          </a:xfrm>
          <a:prstGeom prst="rect">
            <a:avLst/>
          </a:prstGeom>
          <a:noFill/>
          <a:ln w="9525">
            <a:noFill/>
          </a:ln>
        </p:spPr>
        <p:txBody>
          <a:bodyPr anchor="t" anchorCtr="0">
            <a:spAutoFit/>
          </a:bodyPr>
          <a:p>
            <a:pPr algn="ctr">
              <a:buFont typeface="Arial" panose="020B0604020202020204" pitchFamily="34" charset="0"/>
            </a:pPr>
            <a:r>
              <a:rPr lang="zh-CN" altLang="en-US" sz="3200" dirty="0">
                <a:latin typeface="黑体" panose="02010609060101010101" pitchFamily="49" charset="-122"/>
                <a:ea typeface="黑体" panose="02010609060101010101" pitchFamily="49" charset="-122"/>
              </a:rPr>
              <a:t>雷达图的五类指标</a:t>
            </a:r>
            <a:r>
              <a:rPr lang="zh-CN" altLang="en-US" sz="2800" dirty="0">
                <a:latin typeface="Arial" panose="020B0604020202020204" pitchFamily="34" charset="0"/>
                <a:ea typeface="黑体" panose="02010609060101010101" pitchFamily="49" charset="-122"/>
              </a:rPr>
              <a:t>   </a:t>
            </a:r>
            <a:endParaRPr lang="zh-CN" altLang="en-US" sz="2800" dirty="0">
              <a:latin typeface="Arial" panose="020B0604020202020204" pitchFamily="34" charset="0"/>
              <a:ea typeface="黑体" panose="02010609060101010101" pitchFamily="49" charset="-122"/>
            </a:endParaRPr>
          </a:p>
        </p:txBody>
      </p:sp>
      <p:sp>
        <p:nvSpPr>
          <p:cNvPr id="54" name="圆角矩形 9"/>
          <p:cNvSpPr/>
          <p:nvPr>
            <p:custDataLst>
              <p:tags r:id="rId1"/>
            </p:custDataLst>
          </p:nvPr>
        </p:nvSpPr>
        <p:spPr>
          <a:xfrm rot="-1037815" flipH="1">
            <a:off x="4892675" y="4995863"/>
            <a:ext cx="541338" cy="542925"/>
          </a:xfrm>
          <a:prstGeom prst="roundRect">
            <a:avLst>
              <a:gd name="adj" fmla="val 16667"/>
            </a:avLst>
          </a:prstGeom>
          <a:solidFill>
            <a:srgbClr val="9BBB59"/>
          </a:solidFill>
          <a:ln w="57150" cap="flat" cmpd="sng">
            <a:solidFill>
              <a:srgbClr val="FFFFFF"/>
            </a:solidFill>
            <a:prstDash val="solid"/>
            <a:round/>
            <a:headEnd type="none" w="med" len="med"/>
            <a:tailEnd type="none" w="med" len="med"/>
          </a:ln>
        </p:spPr>
        <p:txBody>
          <a:bodyPr wrap="none" lIns="68580" tIns="34290" rIns="68580" bIns="34290" anchor="ctr" anchorCtr="1"/>
          <a:p>
            <a:pPr algn="ctr">
              <a:lnSpc>
                <a:spcPct val="130000"/>
              </a:lnSpc>
            </a:pPr>
            <a:r>
              <a:rPr lang="en-US" altLang="zh-CN" sz="2100" dirty="0">
                <a:solidFill>
                  <a:srgbClr val="FFFFFF"/>
                </a:solidFill>
                <a:latin typeface="微软雅黑" panose="020B0503020204020204" pitchFamily="34" charset="-122"/>
                <a:ea typeface="微软雅黑" panose="020B0503020204020204" pitchFamily="34" charset="-122"/>
              </a:rPr>
              <a:t>05</a:t>
            </a:r>
            <a:endParaRPr lang="en-US" altLang="zh-CN" sz="2100" dirty="0">
              <a:solidFill>
                <a:srgbClr val="FFFFFF"/>
              </a:solidFill>
              <a:latin typeface="微软雅黑" panose="020B0503020204020204" pitchFamily="34" charset="-122"/>
              <a:ea typeface="微软雅黑" panose="020B0503020204020204" pitchFamily="34" charset="-122"/>
            </a:endParaRPr>
          </a:p>
        </p:txBody>
      </p:sp>
      <p:sp>
        <p:nvSpPr>
          <p:cNvPr id="53" name="圆角矩形 9"/>
          <p:cNvSpPr/>
          <p:nvPr>
            <p:custDataLst>
              <p:tags r:id="rId2"/>
            </p:custDataLst>
          </p:nvPr>
        </p:nvSpPr>
        <p:spPr>
          <a:xfrm flipH="1">
            <a:off x="6623050" y="5072063"/>
            <a:ext cx="541338" cy="541337"/>
          </a:xfrm>
          <a:prstGeom prst="roundRect">
            <a:avLst>
              <a:gd name="adj" fmla="val 16667"/>
            </a:avLst>
          </a:prstGeom>
          <a:solidFill>
            <a:srgbClr val="69A35B"/>
          </a:solidFill>
          <a:ln w="57150" cap="flat" cmpd="sng">
            <a:solidFill>
              <a:srgbClr val="FFFFFF"/>
            </a:solidFill>
            <a:prstDash val="solid"/>
            <a:round/>
            <a:headEnd type="none" w="med" len="med"/>
            <a:tailEnd type="none" w="med" len="med"/>
          </a:ln>
        </p:spPr>
        <p:txBody>
          <a:bodyPr wrap="none" lIns="68580" tIns="34290" rIns="68580" bIns="34290" anchor="ctr" anchorCtr="1"/>
          <a:p>
            <a:pPr algn="ctr">
              <a:lnSpc>
                <a:spcPct val="130000"/>
              </a:lnSpc>
            </a:pPr>
            <a:r>
              <a:rPr lang="en-US" altLang="zh-CN" sz="2100" dirty="0">
                <a:solidFill>
                  <a:srgbClr val="FFFFFF"/>
                </a:solidFill>
                <a:latin typeface="微软雅黑" panose="020B0503020204020204" pitchFamily="34" charset="-122"/>
                <a:ea typeface="微软雅黑" panose="020B0503020204020204" pitchFamily="34" charset="-122"/>
              </a:rPr>
              <a:t>04</a:t>
            </a:r>
            <a:endParaRPr lang="en-US" altLang="zh-CN" sz="2100" dirty="0">
              <a:solidFill>
                <a:srgbClr val="FFFFFF"/>
              </a:solidFill>
              <a:latin typeface="微软雅黑" panose="020B0503020204020204" pitchFamily="34" charset="-122"/>
              <a:ea typeface="微软雅黑" panose="020B0503020204020204" pitchFamily="34" charset="-122"/>
            </a:endParaRPr>
          </a:p>
        </p:txBody>
      </p:sp>
      <p:sp>
        <p:nvSpPr>
          <p:cNvPr id="52" name="圆角矩形 7"/>
          <p:cNvSpPr/>
          <p:nvPr>
            <p:custDataLst>
              <p:tags r:id="rId3"/>
            </p:custDataLst>
          </p:nvPr>
        </p:nvSpPr>
        <p:spPr>
          <a:xfrm rot="1068179" flipH="1">
            <a:off x="7221538" y="3451225"/>
            <a:ext cx="541337" cy="541338"/>
          </a:xfrm>
          <a:prstGeom prst="roundRect">
            <a:avLst>
              <a:gd name="adj" fmla="val 16667"/>
            </a:avLst>
          </a:prstGeom>
          <a:solidFill>
            <a:srgbClr val="1AA3AA"/>
          </a:solidFill>
          <a:ln w="57150" cap="flat" cmpd="sng">
            <a:solidFill>
              <a:srgbClr val="FFFFFF"/>
            </a:solidFill>
            <a:prstDash val="solid"/>
            <a:round/>
            <a:headEnd type="none" w="med" len="med"/>
            <a:tailEnd type="none" w="med" len="med"/>
          </a:ln>
        </p:spPr>
        <p:txBody>
          <a:bodyPr wrap="none" lIns="68580" tIns="34290" rIns="68580" bIns="34290" anchor="ctr" anchorCtr="1"/>
          <a:p>
            <a:pPr algn="ctr">
              <a:lnSpc>
                <a:spcPct val="130000"/>
              </a:lnSpc>
            </a:pPr>
            <a:r>
              <a:rPr lang="en-US" altLang="zh-CN" sz="2100" dirty="0">
                <a:solidFill>
                  <a:srgbClr val="FFFFFF"/>
                </a:solidFill>
                <a:latin typeface="微软雅黑" panose="020B0503020204020204" pitchFamily="34" charset="-122"/>
                <a:ea typeface="微软雅黑" panose="020B0503020204020204" pitchFamily="34" charset="-122"/>
              </a:rPr>
              <a:t>03</a:t>
            </a:r>
            <a:endParaRPr lang="en-US" altLang="zh-CN" sz="2100" dirty="0">
              <a:solidFill>
                <a:srgbClr val="FFFFFF"/>
              </a:solidFill>
              <a:latin typeface="微软雅黑" panose="020B0503020204020204" pitchFamily="34" charset="-122"/>
              <a:ea typeface="微软雅黑" panose="020B0503020204020204" pitchFamily="34" charset="-122"/>
            </a:endParaRPr>
          </a:p>
        </p:txBody>
      </p:sp>
      <p:sp>
        <p:nvSpPr>
          <p:cNvPr id="42" name="圆角矩形 5"/>
          <p:cNvSpPr/>
          <p:nvPr>
            <p:custDataLst>
              <p:tags r:id="rId4"/>
            </p:custDataLst>
          </p:nvPr>
        </p:nvSpPr>
        <p:spPr>
          <a:xfrm rot="-3285442">
            <a:off x="5830888" y="2435225"/>
            <a:ext cx="541337" cy="541338"/>
          </a:xfrm>
          <a:prstGeom prst="roundRect">
            <a:avLst>
              <a:gd name="adj" fmla="val 16667"/>
            </a:avLst>
          </a:prstGeom>
          <a:solidFill>
            <a:srgbClr val="3498DB"/>
          </a:solidFill>
          <a:ln w="57150" cap="flat" cmpd="sng">
            <a:solidFill>
              <a:srgbClr val="FFFFFF"/>
            </a:solidFill>
            <a:prstDash val="solid"/>
            <a:round/>
            <a:headEnd type="none" w="med" len="med"/>
            <a:tailEnd type="none" w="med" len="med"/>
          </a:ln>
        </p:spPr>
        <p:txBody>
          <a:bodyPr wrap="none" lIns="68580" tIns="34290" rIns="68580" bIns="34290" anchor="ctr" anchorCtr="1"/>
          <a:p>
            <a:pPr algn="ctr">
              <a:lnSpc>
                <a:spcPct val="130000"/>
              </a:lnSpc>
            </a:pPr>
            <a:r>
              <a:rPr lang="en-US" altLang="zh-CN" sz="2100" dirty="0">
                <a:solidFill>
                  <a:srgbClr val="FFFFFF"/>
                </a:solidFill>
                <a:latin typeface="微软雅黑" panose="020B0503020204020204" pitchFamily="34" charset="-122"/>
                <a:ea typeface="微软雅黑" panose="020B0503020204020204" pitchFamily="34" charset="-122"/>
              </a:rPr>
              <a:t>02</a:t>
            </a:r>
            <a:endParaRPr lang="en-US" altLang="zh-CN" sz="2100" dirty="0">
              <a:solidFill>
                <a:srgbClr val="FFFFFF"/>
              </a:solidFill>
              <a:latin typeface="微软雅黑" panose="020B0503020204020204" pitchFamily="34" charset="-122"/>
              <a:ea typeface="微软雅黑" panose="020B0503020204020204" pitchFamily="34" charset="-122"/>
            </a:endParaRPr>
          </a:p>
        </p:txBody>
      </p:sp>
      <p:sp>
        <p:nvSpPr>
          <p:cNvPr id="41" name="任意多边形: 形状 40"/>
          <p:cNvSpPr/>
          <p:nvPr>
            <p:custDataLst>
              <p:tags r:id="rId5"/>
            </p:custDataLst>
          </p:nvPr>
        </p:nvSpPr>
        <p:spPr bwMode="auto">
          <a:xfrm rot="20540937">
            <a:off x="4713288" y="4183063"/>
            <a:ext cx="962025" cy="754063"/>
          </a:xfrm>
          <a:custGeom>
            <a:avLst/>
            <a:gdLst>
              <a:gd name="connsiteX0" fmla="*/ 0 w 1265863"/>
              <a:gd name="connsiteY0" fmla="*/ 992036 h 992036"/>
              <a:gd name="connsiteX1" fmla="*/ 0 w 1265863"/>
              <a:gd name="connsiteY1" fmla="*/ 819392 h 992036"/>
              <a:gd name="connsiteX2" fmla="*/ 819392 w 1265863"/>
              <a:gd name="connsiteY2" fmla="*/ 0 h 992036"/>
              <a:gd name="connsiteX3" fmla="*/ 1265863 w 1265863"/>
              <a:gd name="connsiteY3" fmla="*/ 0 h 992036"/>
              <a:gd name="connsiteX4" fmla="*/ 1265863 w 1265863"/>
              <a:gd name="connsiteY4" fmla="*/ 627413 h 992036"/>
              <a:gd name="connsiteX5" fmla="*/ 819392 w 1265863"/>
              <a:gd name="connsiteY5" fmla="*/ 627413 h 992036"/>
              <a:gd name="connsiteX6" fmla="*/ 627413 w 1265863"/>
              <a:gd name="connsiteY6" fmla="*/ 819392 h 992036"/>
              <a:gd name="connsiteX7" fmla="*/ 627413 w 1265863"/>
              <a:gd name="connsiteY7" fmla="*/ 992036 h 992036"/>
              <a:gd name="connsiteX8" fmla="*/ 0 w 1265863"/>
              <a:gd name="connsiteY8" fmla="*/ 992036 h 99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5863" h="992036">
                <a:moveTo>
                  <a:pt x="0" y="992036"/>
                </a:moveTo>
                <a:lnTo>
                  <a:pt x="0" y="819392"/>
                </a:lnTo>
                <a:cubicBezTo>
                  <a:pt x="0" y="366854"/>
                  <a:pt x="366854" y="0"/>
                  <a:pt x="819392" y="0"/>
                </a:cubicBezTo>
                <a:lnTo>
                  <a:pt x="1265863" y="0"/>
                </a:lnTo>
                <a:lnTo>
                  <a:pt x="1265863" y="627413"/>
                </a:lnTo>
                <a:lnTo>
                  <a:pt x="819392" y="627413"/>
                </a:lnTo>
                <a:cubicBezTo>
                  <a:pt x="713365" y="627413"/>
                  <a:pt x="627413" y="713365"/>
                  <a:pt x="627413" y="819392"/>
                </a:cubicBezTo>
                <a:lnTo>
                  <a:pt x="627413" y="992036"/>
                </a:lnTo>
                <a:lnTo>
                  <a:pt x="0" y="992036"/>
                </a:lnTo>
                <a:close/>
              </a:path>
            </a:pathLst>
          </a:custGeom>
          <a:solidFill>
            <a:srgbClr val="9BBB59"/>
          </a:solidFill>
          <a:ln w="9525">
            <a:noFill/>
            <a:round/>
          </a:ln>
        </p:spPr>
        <p:txBody>
          <a:bodyPr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sz="135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7" name="等腰三角形 16"/>
          <p:cNvSpPr/>
          <p:nvPr>
            <p:custDataLst>
              <p:tags r:id="rId6"/>
            </p:custDataLst>
          </p:nvPr>
        </p:nvSpPr>
        <p:spPr>
          <a:xfrm rot="4323977">
            <a:off x="5481638" y="3960813"/>
            <a:ext cx="703263" cy="481013"/>
          </a:xfrm>
          <a:prstGeom prst="triangle">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8" name="等腰三角形 17"/>
          <p:cNvSpPr/>
          <p:nvPr>
            <p:custDataLst>
              <p:tags r:id="rId7"/>
            </p:custDataLst>
          </p:nvPr>
        </p:nvSpPr>
        <p:spPr>
          <a:xfrm rot="8621083">
            <a:off x="5575300" y="3675063"/>
            <a:ext cx="704850" cy="481013"/>
          </a:xfrm>
          <a:prstGeom prst="triangle">
            <a:avLst/>
          </a:pr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9" name="等腰三角形 18"/>
          <p:cNvSpPr/>
          <p:nvPr>
            <p:custDataLst>
              <p:tags r:id="rId8"/>
            </p:custDataLst>
          </p:nvPr>
        </p:nvSpPr>
        <p:spPr>
          <a:xfrm rot="12965842">
            <a:off x="5876925" y="3675063"/>
            <a:ext cx="704850" cy="482600"/>
          </a:xfrm>
          <a:prstGeom prst="triangle">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0" name="等腰三角形 19"/>
          <p:cNvSpPr/>
          <p:nvPr>
            <p:custDataLst>
              <p:tags r:id="rId9"/>
            </p:custDataLst>
          </p:nvPr>
        </p:nvSpPr>
        <p:spPr>
          <a:xfrm rot="17281612">
            <a:off x="5972969" y="3960019"/>
            <a:ext cx="703263" cy="482600"/>
          </a:xfrm>
          <a:prstGeom prst="triangle">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1" name="等腰三角形 20"/>
          <p:cNvSpPr/>
          <p:nvPr>
            <p:custDataLst>
              <p:tags r:id="rId10"/>
            </p:custDataLst>
          </p:nvPr>
        </p:nvSpPr>
        <p:spPr>
          <a:xfrm>
            <a:off x="5727700" y="4137025"/>
            <a:ext cx="703263" cy="481013"/>
          </a:xfrm>
          <a:prstGeom prst="triangle">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31" name="任意多边形: 形状 30"/>
          <p:cNvSpPr/>
          <p:nvPr>
            <p:custDataLst>
              <p:tags r:id="rId11"/>
            </p:custDataLst>
          </p:nvPr>
        </p:nvSpPr>
        <p:spPr bwMode="auto">
          <a:xfrm rot="3187702">
            <a:off x="4909344" y="3045619"/>
            <a:ext cx="960438" cy="752475"/>
          </a:xfrm>
          <a:custGeom>
            <a:avLst/>
            <a:gdLst>
              <a:gd name="connsiteX0" fmla="*/ 0 w 1265863"/>
              <a:gd name="connsiteY0" fmla="*/ 992036 h 992036"/>
              <a:gd name="connsiteX1" fmla="*/ 0 w 1265863"/>
              <a:gd name="connsiteY1" fmla="*/ 819392 h 992036"/>
              <a:gd name="connsiteX2" fmla="*/ 819392 w 1265863"/>
              <a:gd name="connsiteY2" fmla="*/ 0 h 992036"/>
              <a:gd name="connsiteX3" fmla="*/ 1265863 w 1265863"/>
              <a:gd name="connsiteY3" fmla="*/ 0 h 992036"/>
              <a:gd name="connsiteX4" fmla="*/ 1265863 w 1265863"/>
              <a:gd name="connsiteY4" fmla="*/ 627413 h 992036"/>
              <a:gd name="connsiteX5" fmla="*/ 819392 w 1265863"/>
              <a:gd name="connsiteY5" fmla="*/ 627413 h 992036"/>
              <a:gd name="connsiteX6" fmla="*/ 627413 w 1265863"/>
              <a:gd name="connsiteY6" fmla="*/ 819392 h 992036"/>
              <a:gd name="connsiteX7" fmla="*/ 627413 w 1265863"/>
              <a:gd name="connsiteY7" fmla="*/ 992036 h 992036"/>
              <a:gd name="connsiteX8" fmla="*/ 0 w 1265863"/>
              <a:gd name="connsiteY8" fmla="*/ 992036 h 99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5863" h="992036">
                <a:moveTo>
                  <a:pt x="0" y="992036"/>
                </a:moveTo>
                <a:lnTo>
                  <a:pt x="0" y="819392"/>
                </a:lnTo>
                <a:cubicBezTo>
                  <a:pt x="0" y="366854"/>
                  <a:pt x="366854" y="0"/>
                  <a:pt x="819392" y="0"/>
                </a:cubicBezTo>
                <a:lnTo>
                  <a:pt x="1265863" y="0"/>
                </a:lnTo>
                <a:lnTo>
                  <a:pt x="1265863" y="627413"/>
                </a:lnTo>
                <a:lnTo>
                  <a:pt x="819392" y="627413"/>
                </a:lnTo>
                <a:cubicBezTo>
                  <a:pt x="713365" y="627413"/>
                  <a:pt x="627413" y="713365"/>
                  <a:pt x="627413" y="819392"/>
                </a:cubicBezTo>
                <a:lnTo>
                  <a:pt x="627413" y="992036"/>
                </a:lnTo>
                <a:lnTo>
                  <a:pt x="0" y="992036"/>
                </a:lnTo>
                <a:close/>
              </a:path>
            </a:pathLst>
          </a:custGeom>
          <a:solidFill>
            <a:srgbClr val="1F74AD"/>
          </a:solidFill>
          <a:ln w="9525">
            <a:noFill/>
            <a:round/>
          </a:ln>
        </p:spPr>
        <p:txBody>
          <a:bodyPr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sz="135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33" name="任意多边形: 形状 32"/>
          <p:cNvSpPr/>
          <p:nvPr>
            <p:custDataLst>
              <p:tags r:id="rId12"/>
            </p:custDataLst>
          </p:nvPr>
        </p:nvSpPr>
        <p:spPr bwMode="auto">
          <a:xfrm rot="7522563">
            <a:off x="6026150" y="2909888"/>
            <a:ext cx="962025" cy="752475"/>
          </a:xfrm>
          <a:custGeom>
            <a:avLst/>
            <a:gdLst>
              <a:gd name="connsiteX0" fmla="*/ 0 w 1265863"/>
              <a:gd name="connsiteY0" fmla="*/ 992036 h 992036"/>
              <a:gd name="connsiteX1" fmla="*/ 0 w 1265863"/>
              <a:gd name="connsiteY1" fmla="*/ 819392 h 992036"/>
              <a:gd name="connsiteX2" fmla="*/ 819392 w 1265863"/>
              <a:gd name="connsiteY2" fmla="*/ 0 h 992036"/>
              <a:gd name="connsiteX3" fmla="*/ 1265863 w 1265863"/>
              <a:gd name="connsiteY3" fmla="*/ 0 h 992036"/>
              <a:gd name="connsiteX4" fmla="*/ 1265863 w 1265863"/>
              <a:gd name="connsiteY4" fmla="*/ 627413 h 992036"/>
              <a:gd name="connsiteX5" fmla="*/ 819392 w 1265863"/>
              <a:gd name="connsiteY5" fmla="*/ 627413 h 992036"/>
              <a:gd name="connsiteX6" fmla="*/ 627413 w 1265863"/>
              <a:gd name="connsiteY6" fmla="*/ 819392 h 992036"/>
              <a:gd name="connsiteX7" fmla="*/ 627413 w 1265863"/>
              <a:gd name="connsiteY7" fmla="*/ 992036 h 992036"/>
              <a:gd name="connsiteX8" fmla="*/ 0 w 1265863"/>
              <a:gd name="connsiteY8" fmla="*/ 992036 h 99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5863" h="992036">
                <a:moveTo>
                  <a:pt x="0" y="992036"/>
                </a:moveTo>
                <a:lnTo>
                  <a:pt x="0" y="819392"/>
                </a:lnTo>
                <a:cubicBezTo>
                  <a:pt x="0" y="366854"/>
                  <a:pt x="366854" y="0"/>
                  <a:pt x="819392" y="0"/>
                </a:cubicBezTo>
                <a:lnTo>
                  <a:pt x="1265863" y="0"/>
                </a:lnTo>
                <a:lnTo>
                  <a:pt x="1265863" y="627413"/>
                </a:lnTo>
                <a:lnTo>
                  <a:pt x="819392" y="627413"/>
                </a:lnTo>
                <a:cubicBezTo>
                  <a:pt x="713365" y="627413"/>
                  <a:pt x="627413" y="713365"/>
                  <a:pt x="627413" y="819392"/>
                </a:cubicBezTo>
                <a:lnTo>
                  <a:pt x="627413" y="992036"/>
                </a:lnTo>
                <a:lnTo>
                  <a:pt x="0" y="992036"/>
                </a:lnTo>
                <a:close/>
              </a:path>
            </a:pathLst>
          </a:custGeom>
          <a:solidFill>
            <a:srgbClr val="3498DB"/>
          </a:solidFill>
          <a:ln w="9525">
            <a:noFill/>
            <a:round/>
          </a:ln>
        </p:spPr>
        <p:txBody>
          <a:bodyPr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sz="135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36" name="任意多边形: 形状 35"/>
          <p:cNvSpPr/>
          <p:nvPr>
            <p:custDataLst>
              <p:tags r:id="rId13"/>
            </p:custDataLst>
          </p:nvPr>
        </p:nvSpPr>
        <p:spPr bwMode="auto">
          <a:xfrm rot="11878314">
            <a:off x="6570663" y="3906838"/>
            <a:ext cx="962025" cy="752475"/>
          </a:xfrm>
          <a:custGeom>
            <a:avLst/>
            <a:gdLst>
              <a:gd name="connsiteX0" fmla="*/ 0 w 1265863"/>
              <a:gd name="connsiteY0" fmla="*/ 992036 h 992036"/>
              <a:gd name="connsiteX1" fmla="*/ 0 w 1265863"/>
              <a:gd name="connsiteY1" fmla="*/ 819392 h 992036"/>
              <a:gd name="connsiteX2" fmla="*/ 819392 w 1265863"/>
              <a:gd name="connsiteY2" fmla="*/ 0 h 992036"/>
              <a:gd name="connsiteX3" fmla="*/ 1265863 w 1265863"/>
              <a:gd name="connsiteY3" fmla="*/ 0 h 992036"/>
              <a:gd name="connsiteX4" fmla="*/ 1265863 w 1265863"/>
              <a:gd name="connsiteY4" fmla="*/ 627413 h 992036"/>
              <a:gd name="connsiteX5" fmla="*/ 819392 w 1265863"/>
              <a:gd name="connsiteY5" fmla="*/ 627413 h 992036"/>
              <a:gd name="connsiteX6" fmla="*/ 627413 w 1265863"/>
              <a:gd name="connsiteY6" fmla="*/ 819392 h 992036"/>
              <a:gd name="connsiteX7" fmla="*/ 627413 w 1265863"/>
              <a:gd name="connsiteY7" fmla="*/ 992036 h 992036"/>
              <a:gd name="connsiteX8" fmla="*/ 0 w 1265863"/>
              <a:gd name="connsiteY8" fmla="*/ 992036 h 99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5863" h="992036">
                <a:moveTo>
                  <a:pt x="0" y="992036"/>
                </a:moveTo>
                <a:lnTo>
                  <a:pt x="0" y="819392"/>
                </a:lnTo>
                <a:cubicBezTo>
                  <a:pt x="0" y="366854"/>
                  <a:pt x="366854" y="0"/>
                  <a:pt x="819392" y="0"/>
                </a:cubicBezTo>
                <a:lnTo>
                  <a:pt x="1265863" y="0"/>
                </a:lnTo>
                <a:lnTo>
                  <a:pt x="1265863" y="627413"/>
                </a:lnTo>
                <a:lnTo>
                  <a:pt x="819392" y="627413"/>
                </a:lnTo>
                <a:cubicBezTo>
                  <a:pt x="713365" y="627413"/>
                  <a:pt x="627413" y="713365"/>
                  <a:pt x="627413" y="819392"/>
                </a:cubicBezTo>
                <a:lnTo>
                  <a:pt x="627413" y="992036"/>
                </a:lnTo>
                <a:lnTo>
                  <a:pt x="0" y="992036"/>
                </a:lnTo>
                <a:close/>
              </a:path>
            </a:pathLst>
          </a:custGeom>
          <a:solidFill>
            <a:srgbClr val="1AA3AA"/>
          </a:solidFill>
          <a:ln w="9525">
            <a:noFill/>
            <a:round/>
          </a:ln>
        </p:spPr>
        <p:txBody>
          <a:bodyPr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sz="135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0" name="任意多边形: 形状 39"/>
          <p:cNvSpPr/>
          <p:nvPr>
            <p:custDataLst>
              <p:tags r:id="rId14"/>
            </p:custDataLst>
          </p:nvPr>
        </p:nvSpPr>
        <p:spPr bwMode="auto">
          <a:xfrm rot="16200000">
            <a:off x="5745163" y="4724400"/>
            <a:ext cx="962025" cy="752475"/>
          </a:xfrm>
          <a:custGeom>
            <a:avLst/>
            <a:gdLst>
              <a:gd name="connsiteX0" fmla="*/ 0 w 1265863"/>
              <a:gd name="connsiteY0" fmla="*/ 992036 h 992036"/>
              <a:gd name="connsiteX1" fmla="*/ 0 w 1265863"/>
              <a:gd name="connsiteY1" fmla="*/ 819392 h 992036"/>
              <a:gd name="connsiteX2" fmla="*/ 819392 w 1265863"/>
              <a:gd name="connsiteY2" fmla="*/ 0 h 992036"/>
              <a:gd name="connsiteX3" fmla="*/ 1265863 w 1265863"/>
              <a:gd name="connsiteY3" fmla="*/ 0 h 992036"/>
              <a:gd name="connsiteX4" fmla="*/ 1265863 w 1265863"/>
              <a:gd name="connsiteY4" fmla="*/ 627413 h 992036"/>
              <a:gd name="connsiteX5" fmla="*/ 819392 w 1265863"/>
              <a:gd name="connsiteY5" fmla="*/ 627413 h 992036"/>
              <a:gd name="connsiteX6" fmla="*/ 627413 w 1265863"/>
              <a:gd name="connsiteY6" fmla="*/ 819392 h 992036"/>
              <a:gd name="connsiteX7" fmla="*/ 627413 w 1265863"/>
              <a:gd name="connsiteY7" fmla="*/ 992036 h 992036"/>
              <a:gd name="connsiteX8" fmla="*/ 0 w 1265863"/>
              <a:gd name="connsiteY8" fmla="*/ 992036 h 99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5863" h="992036">
                <a:moveTo>
                  <a:pt x="0" y="992036"/>
                </a:moveTo>
                <a:lnTo>
                  <a:pt x="0" y="819392"/>
                </a:lnTo>
                <a:cubicBezTo>
                  <a:pt x="0" y="366854"/>
                  <a:pt x="366854" y="0"/>
                  <a:pt x="819392" y="0"/>
                </a:cubicBezTo>
                <a:lnTo>
                  <a:pt x="1265863" y="0"/>
                </a:lnTo>
                <a:lnTo>
                  <a:pt x="1265863" y="627413"/>
                </a:lnTo>
                <a:lnTo>
                  <a:pt x="819392" y="627413"/>
                </a:lnTo>
                <a:cubicBezTo>
                  <a:pt x="713365" y="627413"/>
                  <a:pt x="627413" y="713365"/>
                  <a:pt x="627413" y="819392"/>
                </a:cubicBezTo>
                <a:lnTo>
                  <a:pt x="627413" y="992036"/>
                </a:lnTo>
                <a:lnTo>
                  <a:pt x="0" y="992036"/>
                </a:lnTo>
                <a:close/>
              </a:path>
            </a:pathLst>
          </a:custGeom>
          <a:solidFill>
            <a:srgbClr val="69A35B"/>
          </a:solidFill>
          <a:ln w="9525">
            <a:noFill/>
            <a:round/>
          </a:ln>
        </p:spPr>
        <p:txBody>
          <a:bodyPr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sz="135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9" name="圆角矩形 3"/>
          <p:cNvSpPr/>
          <p:nvPr>
            <p:custDataLst>
              <p:tags r:id="rId15"/>
            </p:custDataLst>
          </p:nvPr>
        </p:nvSpPr>
        <p:spPr>
          <a:xfrm rot="-2132398">
            <a:off x="4437063" y="3354388"/>
            <a:ext cx="541337" cy="541337"/>
          </a:xfrm>
          <a:prstGeom prst="roundRect">
            <a:avLst>
              <a:gd name="adj" fmla="val 16667"/>
            </a:avLst>
          </a:prstGeom>
          <a:solidFill>
            <a:srgbClr val="1F74AD"/>
          </a:solidFill>
          <a:ln w="57150" cap="flat" cmpd="sng">
            <a:solidFill>
              <a:srgbClr val="FFFFFF"/>
            </a:solidFill>
            <a:prstDash val="solid"/>
            <a:round/>
            <a:headEnd type="none" w="med" len="med"/>
            <a:tailEnd type="none" w="med" len="med"/>
          </a:ln>
        </p:spPr>
        <p:txBody>
          <a:bodyPr wrap="none" lIns="68580" tIns="34290" rIns="68580" bIns="34290" anchor="ctr" anchorCtr="1"/>
          <a:p>
            <a:pPr algn="ctr">
              <a:lnSpc>
                <a:spcPct val="130000"/>
              </a:lnSpc>
            </a:pPr>
            <a:r>
              <a:rPr lang="en-US" altLang="zh-CN" sz="2100" dirty="0">
                <a:solidFill>
                  <a:srgbClr val="FFFFFF"/>
                </a:solidFill>
                <a:latin typeface="微软雅黑" panose="020B0503020204020204" pitchFamily="34" charset="-122"/>
                <a:ea typeface="微软雅黑" panose="020B0503020204020204" pitchFamily="34" charset="-122"/>
              </a:rPr>
              <a:t>01</a:t>
            </a:r>
            <a:endParaRPr lang="en-US" altLang="zh-CN" sz="2100" dirty="0">
              <a:solidFill>
                <a:srgbClr val="FFFFFF"/>
              </a:solidFill>
              <a:latin typeface="微软雅黑" panose="020B0503020204020204" pitchFamily="34" charset="-122"/>
              <a:ea typeface="微软雅黑" panose="020B0503020204020204" pitchFamily="34" charset="-122"/>
            </a:endParaRPr>
          </a:p>
        </p:txBody>
      </p:sp>
      <p:sp>
        <p:nvSpPr>
          <p:cNvPr id="55" name="文本框 54"/>
          <p:cNvSpPr txBox="1"/>
          <p:nvPr>
            <p:custDataLst>
              <p:tags r:id="rId16"/>
            </p:custDataLst>
          </p:nvPr>
        </p:nvSpPr>
        <p:spPr bwMode="auto">
          <a:xfrm>
            <a:off x="8201025" y="3340100"/>
            <a:ext cx="1885950" cy="276225"/>
          </a:xfrm>
          <a:prstGeom prst="rect">
            <a:avLst/>
          </a:prstGeom>
          <a:noFill/>
        </p:spPr>
        <p:txBody>
          <a:bodyPr lIns="67500" tIns="35100" rIns="67500" bIns="0" anchor="b"/>
          <a:lstStyle/>
          <a:p>
            <a:pPr marR="0" defTabSz="914400">
              <a:lnSpc>
                <a:spcPct val="120000"/>
              </a:lnSpc>
              <a:buClrTx/>
              <a:buSzTx/>
              <a:buFontTx/>
              <a:defRPr/>
            </a:pPr>
            <a:r>
              <a:rPr kumimoji="0" lang="zh-CN" altLang="en-US" sz="2400" b="1" kern="1200" cap="none" spc="300" normalizeH="0" baseline="0" noProof="1">
                <a:solidFill>
                  <a:srgbClr val="1AA3AA"/>
                </a:solidFill>
                <a:latin typeface="微软雅黑" panose="020B0503020204020204" pitchFamily="34" charset="-122"/>
                <a:ea typeface="微软雅黑" panose="020B0503020204020204" pitchFamily="34" charset="-122"/>
                <a:cs typeface="+mn-ea"/>
              </a:rPr>
              <a:t>成长性指标</a:t>
            </a:r>
            <a:endParaRPr kumimoji="0" lang="zh-CN" altLang="en-US" sz="2400" b="1" kern="1200" cap="none" spc="300" normalizeH="0" baseline="0" noProof="1">
              <a:solidFill>
                <a:srgbClr val="1AA3AA"/>
              </a:solidFill>
              <a:latin typeface="微软雅黑" panose="020B0503020204020204" pitchFamily="34" charset="-122"/>
              <a:ea typeface="微软雅黑" panose="020B0503020204020204" pitchFamily="34" charset="-122"/>
              <a:cs typeface="+mn-ea"/>
            </a:endParaRPr>
          </a:p>
        </p:txBody>
      </p:sp>
      <p:sp>
        <p:nvSpPr>
          <p:cNvPr id="57" name="文本框 56"/>
          <p:cNvSpPr txBox="1"/>
          <p:nvPr>
            <p:custDataLst>
              <p:tags r:id="rId17"/>
            </p:custDataLst>
          </p:nvPr>
        </p:nvSpPr>
        <p:spPr bwMode="auto">
          <a:xfrm>
            <a:off x="8085138" y="4968875"/>
            <a:ext cx="1885950" cy="276225"/>
          </a:xfrm>
          <a:prstGeom prst="rect">
            <a:avLst/>
          </a:prstGeom>
          <a:noFill/>
        </p:spPr>
        <p:txBody>
          <a:bodyPr lIns="67500" tIns="35100" rIns="67500" bIns="0" anchor="b"/>
          <a:lstStyle/>
          <a:p>
            <a:pPr marR="0" defTabSz="914400">
              <a:lnSpc>
                <a:spcPct val="120000"/>
              </a:lnSpc>
              <a:buClrTx/>
              <a:buSzTx/>
              <a:buFontTx/>
              <a:defRPr/>
            </a:pPr>
            <a:r>
              <a:rPr kumimoji="0" lang="zh-CN" altLang="en-US" sz="2400" b="1" kern="1200" cap="none" spc="300" normalizeH="0" baseline="0" noProof="1">
                <a:solidFill>
                  <a:srgbClr val="69A35B"/>
                </a:solidFill>
                <a:latin typeface="微软雅黑" panose="020B0503020204020204" pitchFamily="34" charset="-122"/>
                <a:ea typeface="微软雅黑" panose="020B0503020204020204" pitchFamily="34" charset="-122"/>
                <a:cs typeface="+mn-ea"/>
              </a:rPr>
              <a:t>生产性指标</a:t>
            </a:r>
            <a:endParaRPr kumimoji="0" lang="zh-CN" altLang="en-US" sz="2400" b="1" kern="1200" cap="none" spc="300" normalizeH="0" baseline="0" noProof="1">
              <a:solidFill>
                <a:srgbClr val="69A35B"/>
              </a:solidFill>
              <a:latin typeface="微软雅黑" panose="020B0503020204020204" pitchFamily="34" charset="-122"/>
              <a:ea typeface="微软雅黑" panose="020B0503020204020204" pitchFamily="34" charset="-122"/>
              <a:cs typeface="+mn-ea"/>
            </a:endParaRPr>
          </a:p>
        </p:txBody>
      </p:sp>
      <p:sp>
        <p:nvSpPr>
          <p:cNvPr id="59" name="文本框 58"/>
          <p:cNvSpPr txBox="1"/>
          <p:nvPr>
            <p:custDataLst>
              <p:tags r:id="rId18"/>
            </p:custDataLst>
          </p:nvPr>
        </p:nvSpPr>
        <p:spPr bwMode="auto">
          <a:xfrm>
            <a:off x="2324100" y="4968875"/>
            <a:ext cx="1885950" cy="276225"/>
          </a:xfrm>
          <a:prstGeom prst="rect">
            <a:avLst/>
          </a:prstGeom>
          <a:noFill/>
        </p:spPr>
        <p:txBody>
          <a:bodyPr lIns="67500" tIns="35100" rIns="67500" bIns="0" anchor="b"/>
          <a:lstStyle/>
          <a:p>
            <a:pPr marR="0" algn="r" defTabSz="914400">
              <a:lnSpc>
                <a:spcPct val="120000"/>
              </a:lnSpc>
              <a:buClrTx/>
              <a:buSzTx/>
              <a:buFontTx/>
              <a:defRPr/>
            </a:pPr>
            <a:r>
              <a:rPr kumimoji="0" lang="zh-CN" altLang="en-US" sz="2400" b="1" kern="1200" cap="none" spc="300" normalizeH="0" baseline="0" noProof="1">
                <a:solidFill>
                  <a:srgbClr val="9BBB59"/>
                </a:solidFill>
                <a:latin typeface="微软雅黑" panose="020B0503020204020204" pitchFamily="34" charset="-122"/>
                <a:ea typeface="微软雅黑" panose="020B0503020204020204" pitchFamily="34" charset="-122"/>
                <a:cs typeface="+mn-ea"/>
              </a:rPr>
              <a:t>安全性指标</a:t>
            </a:r>
            <a:endParaRPr kumimoji="0" lang="zh-CN" altLang="en-US" sz="2400" b="1" kern="1200" cap="none" spc="300" normalizeH="0" baseline="0" noProof="1">
              <a:solidFill>
                <a:srgbClr val="9BBB59"/>
              </a:solidFill>
              <a:latin typeface="微软雅黑" panose="020B0503020204020204" pitchFamily="34" charset="-122"/>
              <a:ea typeface="微软雅黑" panose="020B0503020204020204" pitchFamily="34" charset="-122"/>
              <a:cs typeface="+mn-ea"/>
            </a:endParaRPr>
          </a:p>
        </p:txBody>
      </p:sp>
      <p:sp>
        <p:nvSpPr>
          <p:cNvPr id="61" name="文本框 60"/>
          <p:cNvSpPr txBox="1"/>
          <p:nvPr>
            <p:custDataLst>
              <p:tags r:id="rId19"/>
            </p:custDataLst>
          </p:nvPr>
        </p:nvSpPr>
        <p:spPr bwMode="auto">
          <a:xfrm>
            <a:off x="2036763" y="2900363"/>
            <a:ext cx="1885950" cy="276225"/>
          </a:xfrm>
          <a:prstGeom prst="rect">
            <a:avLst/>
          </a:prstGeom>
          <a:noFill/>
        </p:spPr>
        <p:txBody>
          <a:bodyPr lIns="67500" tIns="35100" rIns="67500" bIns="0" anchor="b"/>
          <a:lstStyle/>
          <a:p>
            <a:pPr marR="0" algn="r" defTabSz="914400">
              <a:lnSpc>
                <a:spcPct val="120000"/>
              </a:lnSpc>
              <a:buClrTx/>
              <a:buSzTx/>
              <a:buFontTx/>
              <a:defRPr/>
            </a:pPr>
            <a:r>
              <a:rPr kumimoji="0" lang="zh-CN" altLang="en-US" sz="2400" b="1" kern="1200" cap="none" spc="300" normalizeH="0" baseline="0" noProof="1">
                <a:solidFill>
                  <a:srgbClr val="1F74AD"/>
                </a:solidFill>
                <a:latin typeface="微软雅黑" panose="020B0503020204020204" pitchFamily="34" charset="-122"/>
                <a:ea typeface="微软雅黑" panose="020B0503020204020204" pitchFamily="34" charset="-122"/>
                <a:cs typeface="+mn-ea"/>
              </a:rPr>
              <a:t>收益性指标</a:t>
            </a:r>
            <a:endParaRPr kumimoji="0" lang="zh-CN" altLang="en-US" sz="2400" b="1" kern="1200" cap="none" spc="300" normalizeH="0" baseline="0" noProof="1">
              <a:solidFill>
                <a:srgbClr val="1F74AD"/>
              </a:solidFill>
              <a:latin typeface="微软雅黑" panose="020B0503020204020204" pitchFamily="34" charset="-122"/>
              <a:ea typeface="微软雅黑" panose="020B0503020204020204" pitchFamily="34" charset="-122"/>
              <a:cs typeface="+mn-ea"/>
            </a:endParaRPr>
          </a:p>
        </p:txBody>
      </p:sp>
      <p:sp>
        <p:nvSpPr>
          <p:cNvPr id="63" name="文本框 62"/>
          <p:cNvSpPr txBox="1"/>
          <p:nvPr>
            <p:custDataLst>
              <p:tags r:id="rId20"/>
            </p:custDataLst>
          </p:nvPr>
        </p:nvSpPr>
        <p:spPr bwMode="auto">
          <a:xfrm>
            <a:off x="6985000" y="1916113"/>
            <a:ext cx="1885950" cy="277813"/>
          </a:xfrm>
          <a:prstGeom prst="rect">
            <a:avLst/>
          </a:prstGeom>
          <a:noFill/>
        </p:spPr>
        <p:txBody>
          <a:bodyPr lIns="67500" tIns="35100" rIns="67500" bIns="0" anchor="b"/>
          <a:lstStyle/>
          <a:p>
            <a:pPr marR="0" defTabSz="914400">
              <a:lnSpc>
                <a:spcPct val="120000"/>
              </a:lnSpc>
              <a:buClrTx/>
              <a:buSzTx/>
              <a:buFontTx/>
              <a:defRPr/>
            </a:pPr>
            <a:r>
              <a:rPr kumimoji="0" lang="zh-CN" altLang="en-US" sz="2400" b="1" kern="1200" cap="none" spc="300" normalizeH="0" baseline="0" noProof="1">
                <a:solidFill>
                  <a:srgbClr val="3498DB"/>
                </a:solidFill>
                <a:latin typeface="微软雅黑" panose="020B0503020204020204" pitchFamily="34" charset="-122"/>
                <a:ea typeface="微软雅黑" panose="020B0503020204020204" pitchFamily="34" charset="-122"/>
                <a:cs typeface="+mn-ea"/>
              </a:rPr>
              <a:t>流动性指标</a:t>
            </a:r>
            <a:endParaRPr kumimoji="0" lang="zh-CN" altLang="en-US" sz="2400" b="1" kern="1200" cap="none" spc="300" normalizeH="0" baseline="0" noProof="1">
              <a:solidFill>
                <a:srgbClr val="3498DB"/>
              </a:solidFill>
              <a:latin typeface="微软雅黑" panose="020B0503020204020204" pitchFamily="34" charset="-122"/>
              <a:ea typeface="微软雅黑" panose="020B0503020204020204" pitchFamily="34" charset="-122"/>
              <a:cs typeface="+mn-ea"/>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p:cTn id="7" dur="1000" fill="hold"/>
                                        <p:tgtEl>
                                          <p:spTgt spid="27650"/>
                                        </p:tgtEl>
                                        <p:attrNameLst>
                                          <p:attrName>ppt_w</p:attrName>
                                        </p:attrNameLst>
                                      </p:cBhvr>
                                      <p:tavLst>
                                        <p:tav tm="0">
                                          <p:val>
                                            <p:strVal val="#ppt_w*0.70"/>
                                          </p:val>
                                        </p:tav>
                                        <p:tav tm="100000">
                                          <p:val>
                                            <p:strVal val="#ppt_w"/>
                                          </p:val>
                                        </p:tav>
                                      </p:tavLst>
                                    </p:anim>
                                    <p:anim calcmode="lin" valueType="num">
                                      <p:cBhvr>
                                        <p:cTn id="8" dur="1000" fill="hold"/>
                                        <p:tgtEl>
                                          <p:spTgt spid="27650"/>
                                        </p:tgtEl>
                                        <p:attrNameLst>
                                          <p:attrName>ppt_h</p:attrName>
                                        </p:attrNameLst>
                                      </p:cBhvr>
                                      <p:tavLst>
                                        <p:tav tm="0">
                                          <p:val>
                                            <p:strVal val="#ppt_h"/>
                                          </p:val>
                                        </p:tav>
                                        <p:tav tm="100000">
                                          <p:val>
                                            <p:strVal val="#ppt_h"/>
                                          </p:val>
                                        </p:tav>
                                      </p:tavLst>
                                    </p:anim>
                                    <p:animEffect transition="in" filter="fade">
                                      <p:cBhvr>
                                        <p:cTn id="9" dur="1000"/>
                                        <p:tgtEl>
                                          <p:spTgt spid="27650"/>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randombar(horizontal)">
                                      <p:cBhvr>
                                        <p:cTn id="14" dur="500"/>
                                        <p:tgtEl>
                                          <p:spTgt spid="54"/>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randombar(horizontal)">
                                      <p:cBhvr>
                                        <p:cTn id="17" dur="500"/>
                                        <p:tgtEl>
                                          <p:spTgt spid="53"/>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randombar(horizontal)">
                                      <p:cBhvr>
                                        <p:cTn id="20" dur="500"/>
                                        <p:tgtEl>
                                          <p:spTgt spid="5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randombar(horizontal)">
                                      <p:cBhvr>
                                        <p:cTn id="23" dur="500"/>
                                        <p:tgtEl>
                                          <p:spTgt spid="42"/>
                                        </p:tgtEl>
                                      </p:cBhvr>
                                    </p:animEffect>
                                  </p:childTnLst>
                                </p:cTn>
                              </p:par>
                              <p:par>
                                <p:cTn id="24" presetID="14" presetClass="entr" presetSubtype="10" fill="hold"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randombar(horizontal)">
                                      <p:cBhvr>
                                        <p:cTn id="26" dur="500"/>
                                        <p:tgtEl>
                                          <p:spTgt spid="41"/>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randombar(horizontal)">
                                      <p:cBhvr>
                                        <p:cTn id="29" dur="500"/>
                                        <p:tgtEl>
                                          <p:spTgt spid="1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randombar(horizontal)">
                                      <p:cBhvr>
                                        <p:cTn id="32" dur="500"/>
                                        <p:tgtEl>
                                          <p:spTgt spid="1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randombar(horizontal)">
                                      <p:cBhvr>
                                        <p:cTn id="35" dur="500"/>
                                        <p:tgtEl>
                                          <p:spTgt spid="1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randombar(horizontal)">
                                      <p:cBhvr>
                                        <p:cTn id="38" dur="500"/>
                                        <p:tgtEl>
                                          <p:spTgt spid="2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randombar(horizontal)">
                                      <p:cBhvr>
                                        <p:cTn id="41" dur="500"/>
                                        <p:tgtEl>
                                          <p:spTgt spid="21"/>
                                        </p:tgtEl>
                                      </p:cBhvr>
                                    </p:animEffect>
                                  </p:childTnLst>
                                </p:cTn>
                              </p:par>
                              <p:par>
                                <p:cTn id="42" presetID="14" presetClass="entr" presetSubtype="1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randombar(horizontal)">
                                      <p:cBhvr>
                                        <p:cTn id="44" dur="500"/>
                                        <p:tgtEl>
                                          <p:spTgt spid="31"/>
                                        </p:tgtEl>
                                      </p:cBhvr>
                                    </p:animEffect>
                                  </p:childTnLst>
                                </p:cTn>
                              </p:par>
                              <p:par>
                                <p:cTn id="45" presetID="14" presetClass="entr" presetSubtype="1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randombar(horizontal)">
                                      <p:cBhvr>
                                        <p:cTn id="47" dur="500"/>
                                        <p:tgtEl>
                                          <p:spTgt spid="33"/>
                                        </p:tgtEl>
                                      </p:cBhvr>
                                    </p:animEffect>
                                  </p:childTnLst>
                                </p:cTn>
                              </p:par>
                              <p:par>
                                <p:cTn id="48" presetID="14" presetClass="entr" presetSubtype="10" fill="hold"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randombar(horizontal)">
                                      <p:cBhvr>
                                        <p:cTn id="50" dur="500"/>
                                        <p:tgtEl>
                                          <p:spTgt spid="36"/>
                                        </p:tgtEl>
                                      </p:cBhvr>
                                    </p:animEffect>
                                  </p:childTnLst>
                                </p:cTn>
                              </p:par>
                              <p:par>
                                <p:cTn id="51" presetID="14" presetClass="entr" presetSubtype="1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randombar(horizontal)">
                                      <p:cBhvr>
                                        <p:cTn id="53" dur="500"/>
                                        <p:tgtEl>
                                          <p:spTgt spid="40"/>
                                        </p:tgtEl>
                                      </p:cBhvr>
                                    </p:animEffect>
                                  </p:childTnLst>
                                </p:cTn>
                              </p:par>
                              <p:par>
                                <p:cTn id="54" presetID="14" presetClass="entr" presetSubtype="1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randombar(horizontal)">
                                      <p:cBhvr>
                                        <p:cTn id="56" dur="500"/>
                                        <p:tgtEl>
                                          <p:spTgt spid="49"/>
                                        </p:tgtEl>
                                      </p:cBhvr>
                                    </p:animEffect>
                                  </p:childTnLst>
                                </p:cTn>
                              </p:par>
                              <p:par>
                                <p:cTn id="57" presetID="14" presetClass="entr" presetSubtype="1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animEffect transition="in" filter="randombar(horizontal)">
                                      <p:cBhvr>
                                        <p:cTn id="59" dur="500"/>
                                        <p:tgtEl>
                                          <p:spTgt spid="55"/>
                                        </p:tgtEl>
                                      </p:cBhvr>
                                    </p:animEffect>
                                  </p:childTnLst>
                                </p:cTn>
                              </p:par>
                              <p:par>
                                <p:cTn id="60" presetID="14" presetClass="entr" presetSubtype="10"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randombar(horizontal)">
                                      <p:cBhvr>
                                        <p:cTn id="62" dur="500"/>
                                        <p:tgtEl>
                                          <p:spTgt spid="57"/>
                                        </p:tgtEl>
                                      </p:cBhvr>
                                    </p:animEffect>
                                  </p:childTnLst>
                                </p:cTn>
                              </p:par>
                              <p:par>
                                <p:cTn id="63" presetID="14" presetClass="entr" presetSubtype="10"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animEffect transition="in" filter="randombar(horizontal)">
                                      <p:cBhvr>
                                        <p:cTn id="65" dur="500"/>
                                        <p:tgtEl>
                                          <p:spTgt spid="59"/>
                                        </p:tgtEl>
                                      </p:cBhvr>
                                    </p:animEffect>
                                  </p:childTnLst>
                                </p:cTn>
                              </p:par>
                              <p:par>
                                <p:cTn id="66" presetID="14" presetClass="entr" presetSubtype="10" fill="hold" grpId="0" nodeType="withEffect">
                                  <p:stCondLst>
                                    <p:cond delay="0"/>
                                  </p:stCondLst>
                                  <p:childTnLst>
                                    <p:set>
                                      <p:cBhvr>
                                        <p:cTn id="67" dur="1" fill="hold">
                                          <p:stCondLst>
                                            <p:cond delay="0"/>
                                          </p:stCondLst>
                                        </p:cTn>
                                        <p:tgtEl>
                                          <p:spTgt spid="61"/>
                                        </p:tgtEl>
                                        <p:attrNameLst>
                                          <p:attrName>style.visibility</p:attrName>
                                        </p:attrNameLst>
                                      </p:cBhvr>
                                      <p:to>
                                        <p:strVal val="visible"/>
                                      </p:to>
                                    </p:set>
                                    <p:animEffect transition="in" filter="randombar(horizontal)">
                                      <p:cBhvr>
                                        <p:cTn id="68" dur="500"/>
                                        <p:tgtEl>
                                          <p:spTgt spid="61"/>
                                        </p:tgtEl>
                                      </p:cBhvr>
                                    </p:animEffect>
                                  </p:childTnLst>
                                </p:cTn>
                              </p:par>
                              <p:par>
                                <p:cTn id="69" presetID="14" presetClass="entr" presetSubtype="10" fill="hold" grpId="0" nodeType="withEffect">
                                  <p:stCondLst>
                                    <p:cond delay="0"/>
                                  </p:stCondLst>
                                  <p:childTnLst>
                                    <p:set>
                                      <p:cBhvr>
                                        <p:cTn id="70" dur="1" fill="hold">
                                          <p:stCondLst>
                                            <p:cond delay="0"/>
                                          </p:stCondLst>
                                        </p:cTn>
                                        <p:tgtEl>
                                          <p:spTgt spid="63"/>
                                        </p:tgtEl>
                                        <p:attrNameLst>
                                          <p:attrName>style.visibility</p:attrName>
                                        </p:attrNameLst>
                                      </p:cBhvr>
                                      <p:to>
                                        <p:strVal val="visible"/>
                                      </p:to>
                                    </p:set>
                                    <p:animEffect transition="in" filter="randombar(horizontal)">
                                      <p:cBhvr>
                                        <p:cTn id="71"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0" grpId="1"/>
      <p:bldP spid="54" grpId="0" bldLvl="0" animBg="1"/>
      <p:bldP spid="53" grpId="0" bldLvl="0" animBg="1"/>
      <p:bldP spid="52" grpId="0" bldLvl="0" animBg="1"/>
      <p:bldP spid="42" grpId="0" bldLvl="0" animBg="1"/>
      <p:bldP spid="17" grpId="0" bldLvl="0" animBg="1"/>
      <p:bldP spid="18" grpId="0" bldLvl="0" animBg="1"/>
      <p:bldP spid="19" grpId="0" bldLvl="0" animBg="1"/>
      <p:bldP spid="20" grpId="0" bldLvl="0" animBg="1"/>
      <p:bldP spid="21" grpId="0" bldLvl="0" animBg="1"/>
      <p:bldP spid="49" grpId="0" bldLvl="0" animBg="1"/>
      <p:bldP spid="55" grpId="0"/>
      <p:bldP spid="57" grpId="0"/>
      <p:bldP spid="59" grpId="0"/>
      <p:bldP spid="61" grpId="0"/>
      <p:bldP spid="6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文本框 12"/>
          <p:cNvSpPr txBox="1"/>
          <p:nvPr/>
        </p:nvSpPr>
        <p:spPr>
          <a:xfrm>
            <a:off x="1802130" y="256540"/>
            <a:ext cx="7391400" cy="584200"/>
          </a:xfrm>
          <a:prstGeom prst="rect">
            <a:avLst/>
          </a:prstGeom>
          <a:noFill/>
          <a:ln w="9525">
            <a:noFill/>
          </a:ln>
        </p:spPr>
        <p:txBody>
          <a:bodyPr anchor="t" anchorCtr="0">
            <a:spAutoFit/>
          </a:bodyPr>
          <a:p>
            <a:pPr>
              <a:buFont typeface="Arial" panose="020B0604020202020204" pitchFamily="34" charset="0"/>
            </a:pPr>
            <a:r>
              <a:rPr lang="zh-CN" altLang="en-US" sz="3200" dirty="0">
                <a:latin typeface="黑体" panose="02010609060101010101" pitchFamily="49" charset="-122"/>
                <a:ea typeface="黑体" panose="02010609060101010101" pitchFamily="49" charset="-122"/>
              </a:rPr>
              <a:t>某企业的雷达图</a:t>
            </a:r>
            <a:r>
              <a:rPr lang="zh-CN" altLang="en-US" sz="2800" dirty="0">
                <a:latin typeface="Arial" panose="020B0604020202020204" pitchFamily="34" charset="0"/>
                <a:ea typeface="黑体" panose="02010609060101010101" pitchFamily="49" charset="-122"/>
              </a:rPr>
              <a:t>   </a:t>
            </a:r>
            <a:endParaRPr lang="zh-CN" altLang="en-US" sz="2800" dirty="0">
              <a:latin typeface="Arial" panose="020B0604020202020204" pitchFamily="34" charset="0"/>
              <a:ea typeface="黑体" panose="02010609060101010101" pitchFamily="49" charset="-122"/>
            </a:endParaRPr>
          </a:p>
        </p:txBody>
      </p:sp>
      <p:pic>
        <p:nvPicPr>
          <p:cNvPr id="113666" name="图片 5"/>
          <p:cNvPicPr>
            <a:picLocks noChangeAspect="1"/>
          </p:cNvPicPr>
          <p:nvPr/>
        </p:nvPicPr>
        <p:blipFill>
          <a:blip r:embed="rId1">
            <a:clrChange>
              <a:clrFrom>
                <a:srgbClr val="FFFFFF"/>
              </a:clrFrom>
              <a:clrTo>
                <a:srgbClr val="FFFFFF">
                  <a:alpha val="0"/>
                </a:srgbClr>
              </a:clrTo>
            </a:clrChange>
          </a:blip>
          <a:stretch>
            <a:fillRect/>
          </a:stretch>
        </p:blipFill>
        <p:spPr>
          <a:xfrm>
            <a:off x="5345113" y="840740"/>
            <a:ext cx="5894387" cy="5730875"/>
          </a:xfrm>
          <a:prstGeom prst="rect">
            <a:avLst/>
          </a:prstGeom>
          <a:noFill/>
          <a:ln w="9525">
            <a:noFill/>
          </a:ln>
        </p:spPr>
      </p:pic>
      <p:sp>
        <p:nvSpPr>
          <p:cNvPr id="113667" name="文本框 6"/>
          <p:cNvSpPr txBox="1"/>
          <p:nvPr/>
        </p:nvSpPr>
        <p:spPr>
          <a:xfrm>
            <a:off x="1568450" y="999173"/>
            <a:ext cx="3776663" cy="5260975"/>
          </a:xfrm>
          <a:prstGeom prst="rect">
            <a:avLst/>
          </a:prstGeom>
          <a:noFill/>
          <a:ln w="9525">
            <a:noFill/>
          </a:ln>
        </p:spPr>
        <p:txBody>
          <a:bodyPr anchor="t" anchorCtr="0">
            <a:spAutoFit/>
          </a:bodyPr>
          <a:p>
            <a:r>
              <a:rPr lang="zh-CN" altLang="en-US" sz="2100" b="1" dirty="0">
                <a:latin typeface="Arial" panose="020B0604020202020204" pitchFamily="34" charset="0"/>
                <a:ea typeface="宋体" panose="02010600030101010101" pitchFamily="2" charset="-122"/>
              </a:rPr>
              <a:t>收益性</a:t>
            </a:r>
            <a:r>
              <a:rPr lang="zh-CN" altLang="en-US" sz="2100" dirty="0">
                <a:latin typeface="Arial" panose="020B0604020202020204" pitchFamily="34" charset="0"/>
                <a:ea typeface="宋体" panose="02010600030101010101" pitchFamily="2" charset="-122"/>
              </a:rPr>
              <a:t>：</a:t>
            </a:r>
            <a:r>
              <a:rPr lang="en-US" altLang="zh-CN" sz="2100" dirty="0">
                <a:latin typeface="Arial" panose="020B0604020202020204" pitchFamily="34" charset="0"/>
                <a:ea typeface="宋体" panose="02010600030101010101" pitchFamily="2" charset="-122"/>
              </a:rPr>
              <a:t>1.</a:t>
            </a:r>
            <a:r>
              <a:rPr lang="zh-CN" altLang="en-US" sz="2100" dirty="0">
                <a:latin typeface="Arial" panose="020B0604020202020204" pitchFamily="34" charset="0"/>
                <a:ea typeface="宋体" panose="02010600030101010101" pitchFamily="2" charset="-122"/>
              </a:rPr>
              <a:t>资产报酬率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2.</a:t>
            </a:r>
            <a:r>
              <a:rPr lang="zh-CN" altLang="en-US" sz="2100" dirty="0">
                <a:latin typeface="Arial" panose="020B0604020202020204" pitchFamily="34" charset="0"/>
                <a:ea typeface="宋体" panose="02010600030101010101" pitchFamily="2" charset="-122"/>
              </a:rPr>
              <a:t>所有者权益报酬率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3.</a:t>
            </a:r>
            <a:r>
              <a:rPr lang="zh-CN" altLang="en-US" sz="2100" dirty="0">
                <a:latin typeface="Arial" panose="020B0604020202020204" pitchFamily="34" charset="0"/>
                <a:ea typeface="宋体" panose="02010600030101010101" pitchFamily="2" charset="-122"/>
              </a:rPr>
              <a:t>销售利税率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4.</a:t>
            </a:r>
            <a:r>
              <a:rPr lang="zh-CN" altLang="en-US" sz="2100" dirty="0">
                <a:latin typeface="Arial" panose="020B0604020202020204" pitchFamily="34" charset="0"/>
                <a:ea typeface="宋体" panose="02010600030101010101" pitchFamily="2" charset="-122"/>
              </a:rPr>
              <a:t>成本费用率</a:t>
            </a:r>
            <a:endParaRPr lang="en-US" altLang="zh-CN" sz="2100" dirty="0">
              <a:latin typeface="Arial" panose="020B0604020202020204" pitchFamily="34" charset="0"/>
              <a:ea typeface="宋体" panose="02010600030101010101" pitchFamily="2" charset="-122"/>
            </a:endParaRPr>
          </a:p>
          <a:p>
            <a:r>
              <a:rPr lang="zh-CN" altLang="en-US" sz="2100" b="1" dirty="0">
                <a:latin typeface="Arial" panose="020B0604020202020204" pitchFamily="34" charset="0"/>
                <a:ea typeface="宋体" panose="02010600030101010101" pitchFamily="2" charset="-122"/>
              </a:rPr>
              <a:t>安全性</a:t>
            </a:r>
            <a:r>
              <a:rPr lang="zh-CN" altLang="en-US" sz="2100" dirty="0">
                <a:latin typeface="Arial" panose="020B0604020202020204" pitchFamily="34" charset="0"/>
                <a:ea typeface="宋体" panose="02010600030101010101" pitchFamily="2" charset="-122"/>
              </a:rPr>
              <a:t>：</a:t>
            </a:r>
            <a:r>
              <a:rPr lang="en-US" altLang="zh-CN" sz="2100" dirty="0">
                <a:latin typeface="Arial" panose="020B0604020202020204" pitchFamily="34" charset="0"/>
                <a:ea typeface="宋体" panose="02010600030101010101" pitchFamily="2" charset="-122"/>
              </a:rPr>
              <a:t>5.</a:t>
            </a:r>
            <a:r>
              <a:rPr lang="zh-CN" altLang="en-US" sz="2100" dirty="0">
                <a:latin typeface="Arial" panose="020B0604020202020204" pitchFamily="34" charset="0"/>
                <a:ea typeface="宋体" panose="02010600030101010101" pitchFamily="2" charset="-122"/>
              </a:rPr>
              <a:t>流动比率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6.</a:t>
            </a:r>
            <a:r>
              <a:rPr lang="zh-CN" altLang="en-US" sz="2100" dirty="0">
                <a:latin typeface="Arial" panose="020B0604020202020204" pitchFamily="34" charset="0"/>
                <a:ea typeface="宋体" panose="02010600030101010101" pitchFamily="2" charset="-122"/>
              </a:rPr>
              <a:t>速动比率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7.</a:t>
            </a:r>
            <a:r>
              <a:rPr lang="zh-CN" altLang="en-US" sz="2100" dirty="0">
                <a:latin typeface="Arial" panose="020B0604020202020204" pitchFamily="34" charset="0"/>
                <a:ea typeface="宋体" panose="02010600030101010101" pitchFamily="2" charset="-122"/>
              </a:rPr>
              <a:t>资产负债率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8.</a:t>
            </a:r>
            <a:r>
              <a:rPr lang="zh-CN" altLang="en-US" sz="2100" dirty="0">
                <a:latin typeface="Arial" panose="020B0604020202020204" pitchFamily="34" charset="0"/>
                <a:ea typeface="宋体" panose="02010600030101010101" pitchFamily="2" charset="-122"/>
              </a:rPr>
              <a:t>所有者权益比率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9.</a:t>
            </a:r>
            <a:r>
              <a:rPr lang="zh-CN" altLang="en-US" sz="2100" dirty="0">
                <a:latin typeface="Arial" panose="020B0604020202020204" pitchFamily="34" charset="0"/>
                <a:ea typeface="宋体" panose="02010600030101010101" pitchFamily="2" charset="-122"/>
              </a:rPr>
              <a:t>利息保障倍数</a:t>
            </a:r>
            <a:endParaRPr lang="en-US" altLang="zh-CN" sz="2100" dirty="0">
              <a:latin typeface="Arial" panose="020B0604020202020204" pitchFamily="34" charset="0"/>
              <a:ea typeface="宋体" panose="02010600030101010101" pitchFamily="2" charset="-122"/>
            </a:endParaRPr>
          </a:p>
          <a:p>
            <a:r>
              <a:rPr lang="zh-CN" altLang="en-US" sz="2100" b="1" dirty="0">
                <a:latin typeface="Arial" panose="020B0604020202020204" pitchFamily="34" charset="0"/>
                <a:ea typeface="宋体" panose="02010600030101010101" pitchFamily="2" charset="-122"/>
              </a:rPr>
              <a:t>流动性</a:t>
            </a:r>
            <a:r>
              <a:rPr lang="zh-CN" altLang="en-US" sz="2100" dirty="0">
                <a:latin typeface="Arial" panose="020B0604020202020204" pitchFamily="34" charset="0"/>
                <a:ea typeface="宋体" panose="02010600030101010101" pitchFamily="2" charset="-122"/>
              </a:rPr>
              <a:t>：</a:t>
            </a:r>
            <a:r>
              <a:rPr lang="en-US" altLang="zh-CN" sz="2100" dirty="0">
                <a:latin typeface="Arial" panose="020B0604020202020204" pitchFamily="34" charset="0"/>
                <a:ea typeface="宋体" panose="02010600030101010101" pitchFamily="2" charset="-122"/>
              </a:rPr>
              <a:t>10.</a:t>
            </a:r>
            <a:r>
              <a:rPr lang="zh-CN" altLang="en-US" sz="2100" dirty="0">
                <a:latin typeface="Arial" panose="020B0604020202020204" pitchFamily="34" charset="0"/>
                <a:ea typeface="宋体" panose="02010600030101010101" pitchFamily="2" charset="-122"/>
              </a:rPr>
              <a:t>总资产周转率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11.</a:t>
            </a:r>
            <a:r>
              <a:rPr lang="zh-CN" altLang="en-US" sz="2100" dirty="0">
                <a:latin typeface="Arial" panose="020B0604020202020204" pitchFamily="34" charset="0"/>
                <a:ea typeface="宋体" panose="02010600030101010101" pitchFamily="2" charset="-122"/>
              </a:rPr>
              <a:t>应收账款周转率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12.</a:t>
            </a:r>
            <a:r>
              <a:rPr lang="zh-CN" altLang="en-US" sz="2100" dirty="0">
                <a:latin typeface="Arial" panose="020B0604020202020204" pitchFamily="34" charset="0"/>
                <a:ea typeface="宋体" panose="02010600030101010101" pitchFamily="2" charset="-122"/>
              </a:rPr>
              <a:t>存货周转率</a:t>
            </a:r>
            <a:endParaRPr lang="en-US" altLang="zh-CN" sz="2100" dirty="0">
              <a:latin typeface="Arial" panose="020B0604020202020204" pitchFamily="34" charset="0"/>
              <a:ea typeface="宋体" panose="02010600030101010101" pitchFamily="2" charset="-122"/>
            </a:endParaRPr>
          </a:p>
          <a:p>
            <a:r>
              <a:rPr lang="zh-CN" altLang="en-US" sz="2100" b="1" dirty="0">
                <a:latin typeface="Arial" panose="020B0604020202020204" pitchFamily="34" charset="0"/>
                <a:ea typeface="宋体" panose="02010600030101010101" pitchFamily="2" charset="-122"/>
              </a:rPr>
              <a:t>成长性</a:t>
            </a:r>
            <a:r>
              <a:rPr lang="zh-CN" altLang="en-US" sz="2100" dirty="0">
                <a:latin typeface="Arial" panose="020B0604020202020204" pitchFamily="34" charset="0"/>
                <a:ea typeface="宋体" panose="02010600030101010101" pitchFamily="2" charset="-122"/>
              </a:rPr>
              <a:t>：</a:t>
            </a:r>
            <a:r>
              <a:rPr lang="en-US" altLang="zh-CN" sz="2100" dirty="0">
                <a:latin typeface="Arial" panose="020B0604020202020204" pitchFamily="34" charset="0"/>
                <a:ea typeface="宋体" panose="02010600030101010101" pitchFamily="2" charset="-122"/>
              </a:rPr>
              <a:t>13.</a:t>
            </a:r>
            <a:r>
              <a:rPr lang="zh-CN" altLang="en-US" sz="2100" dirty="0">
                <a:latin typeface="Arial" panose="020B0604020202020204" pitchFamily="34" charset="0"/>
                <a:ea typeface="宋体" panose="02010600030101010101" pitchFamily="2" charset="-122"/>
              </a:rPr>
              <a:t>销售收入增长率</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14.</a:t>
            </a:r>
            <a:r>
              <a:rPr lang="zh-CN" altLang="en-US" sz="2100" dirty="0">
                <a:latin typeface="Arial" panose="020B0604020202020204" pitchFamily="34" charset="0"/>
                <a:ea typeface="宋体" panose="02010600030101010101" pitchFamily="2" charset="-122"/>
              </a:rPr>
              <a:t>产值增长率</a:t>
            </a:r>
            <a:endParaRPr lang="en-US" altLang="zh-CN" sz="2100" dirty="0">
              <a:latin typeface="Arial" panose="020B0604020202020204" pitchFamily="34" charset="0"/>
              <a:ea typeface="宋体" panose="02010600030101010101" pitchFamily="2" charset="-122"/>
            </a:endParaRPr>
          </a:p>
          <a:p>
            <a:r>
              <a:rPr lang="zh-CN" altLang="en-US" sz="2100" b="1" dirty="0">
                <a:latin typeface="Arial" panose="020B0604020202020204" pitchFamily="34" charset="0"/>
                <a:ea typeface="宋体" panose="02010600030101010101" pitchFamily="2" charset="-122"/>
              </a:rPr>
              <a:t>生产性</a:t>
            </a:r>
            <a:r>
              <a:rPr lang="zh-CN" altLang="en-US" sz="2100" dirty="0">
                <a:latin typeface="Arial" panose="020B0604020202020204" pitchFamily="34" charset="0"/>
                <a:ea typeface="宋体" panose="02010600030101010101" pitchFamily="2" charset="-122"/>
              </a:rPr>
              <a:t>：</a:t>
            </a:r>
            <a:r>
              <a:rPr lang="en-US" altLang="zh-CN" sz="2100" dirty="0">
                <a:latin typeface="Arial" panose="020B0604020202020204" pitchFamily="34" charset="0"/>
                <a:ea typeface="宋体" panose="02010600030101010101" pitchFamily="2" charset="-122"/>
              </a:rPr>
              <a:t>15.</a:t>
            </a:r>
            <a:r>
              <a:rPr lang="zh-CN" altLang="en-US" sz="2100" dirty="0">
                <a:latin typeface="Arial" panose="020B0604020202020204" pitchFamily="34" charset="0"/>
                <a:ea typeface="宋体" panose="02010600030101010101" pitchFamily="2" charset="-122"/>
              </a:rPr>
              <a:t>人均工资</a:t>
            </a:r>
            <a:endParaRPr lang="en-US" altLang="zh-CN" sz="2100" dirty="0">
              <a:latin typeface="Arial" panose="020B0604020202020204" pitchFamily="34" charset="0"/>
              <a:ea typeface="宋体" panose="02010600030101010101" pitchFamily="2" charset="-122"/>
            </a:endParaRPr>
          </a:p>
          <a:p>
            <a:r>
              <a:rPr lang="en-US" altLang="zh-CN" sz="2100" dirty="0">
                <a:latin typeface="Arial" panose="020B0604020202020204" pitchFamily="34" charset="0"/>
                <a:ea typeface="宋体" panose="02010600030101010101" pitchFamily="2" charset="-122"/>
              </a:rPr>
              <a:t>              16.</a:t>
            </a:r>
            <a:r>
              <a:rPr lang="zh-CN" altLang="en-US" sz="2100" dirty="0">
                <a:latin typeface="Arial" panose="020B0604020202020204" pitchFamily="34" charset="0"/>
                <a:ea typeface="宋体" panose="02010600030101010101" pitchFamily="2" charset="-122"/>
              </a:rPr>
              <a:t>人均销售收入</a:t>
            </a:r>
            <a:endParaRPr lang="zh-CN" altLang="en-US" sz="2100" dirty="0">
              <a:latin typeface="Arial" panose="020B0604020202020204" pitchFamily="34" charset="0"/>
              <a:ea typeface="宋体" panose="02010600030101010101" pitchFamily="2" charset="-122"/>
            </a:endParaRP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文本框 9"/>
          <p:cNvSpPr txBox="1"/>
          <p:nvPr/>
        </p:nvSpPr>
        <p:spPr>
          <a:xfrm>
            <a:off x="2133600" y="1287463"/>
            <a:ext cx="8091488" cy="584200"/>
          </a:xfrm>
          <a:prstGeom prst="rect">
            <a:avLst/>
          </a:prstGeom>
          <a:noFill/>
          <a:ln w="9525">
            <a:noFill/>
          </a:ln>
        </p:spPr>
        <p:txBody>
          <a:bodyPr anchor="t" anchorCtr="0">
            <a:spAutoFit/>
          </a:bodyPr>
          <a:p>
            <a:pPr algn="ctr">
              <a:buFont typeface="Arial" panose="020B0604020202020204" pitchFamily="34" charset="0"/>
            </a:pPr>
            <a:r>
              <a:rPr lang="zh-CN" altLang="en-US" sz="3200" dirty="0">
                <a:latin typeface="黑体" panose="02010609060101010101" pitchFamily="49" charset="-122"/>
                <a:ea typeface="黑体" panose="02010609060101010101" pitchFamily="49" charset="-122"/>
              </a:rPr>
              <a:t>雷达图的优缺点</a:t>
            </a:r>
            <a:r>
              <a:rPr lang="zh-CN" altLang="en-US" sz="2800" dirty="0">
                <a:latin typeface="Arial" panose="020B0604020202020204" pitchFamily="34" charset="0"/>
                <a:ea typeface="黑体" panose="02010609060101010101" pitchFamily="49" charset="-122"/>
              </a:rPr>
              <a:t>    </a:t>
            </a:r>
            <a:endParaRPr lang="zh-CN" altLang="en-US" sz="2800" dirty="0">
              <a:latin typeface="Arial" panose="020B0604020202020204" pitchFamily="34" charset="0"/>
              <a:ea typeface="黑体" panose="02010609060101010101" pitchFamily="49" charset="-122"/>
            </a:endParaRPr>
          </a:p>
        </p:txBody>
      </p:sp>
      <p:sp>
        <p:nvSpPr>
          <p:cNvPr id="26627" name="文本框 3"/>
          <p:cNvSpPr txBox="1"/>
          <p:nvPr/>
        </p:nvSpPr>
        <p:spPr>
          <a:xfrm>
            <a:off x="2295525" y="2119313"/>
            <a:ext cx="7600950" cy="3322637"/>
          </a:xfrm>
          <a:prstGeom prst="rect">
            <a:avLst/>
          </a:prstGeom>
          <a:noFill/>
          <a:ln w="9525">
            <a:noFill/>
          </a:ln>
        </p:spPr>
        <p:txBody>
          <a:bodyPr anchor="t" anchorCtr="0">
            <a:spAutoFit/>
          </a:bodyPr>
          <a:p>
            <a:pPr algn="just">
              <a:lnSpc>
                <a:spcPct val="125000"/>
              </a:lnSpc>
            </a:pPr>
            <a:r>
              <a:rPr lang="zh-CN" altLang="en-US" sz="2800" dirty="0">
                <a:solidFill>
                  <a:srgbClr val="00B0F0"/>
                </a:solidFill>
                <a:latin typeface="Arial" panose="020B0604020202020204" pitchFamily="34" charset="0"/>
                <a:ea typeface="宋体" panose="02010600030101010101" pitchFamily="2" charset="-122"/>
              </a:rPr>
              <a:t>优点</a:t>
            </a:r>
            <a:r>
              <a:rPr lang="zh-CN" altLang="en-US" sz="2800" dirty="0">
                <a:latin typeface="Arial" panose="020B0604020202020204" pitchFamily="34" charset="0"/>
                <a:ea typeface="宋体" panose="02010600030101010101" pitchFamily="2" charset="-122"/>
              </a:rPr>
              <a:t>：雷达图既可以用于同时对多个指标的对比分析，也可以对同一指标在不同时期的变化进行分析。具有简洁、直观、形象的优点，易于操作和推广。</a:t>
            </a:r>
            <a:endParaRPr lang="zh-CN" altLang="en-US" sz="2800" dirty="0">
              <a:latin typeface="Arial" panose="020B0604020202020204" pitchFamily="34" charset="0"/>
              <a:ea typeface="宋体" panose="02010600030101010101" pitchFamily="2" charset="-122"/>
            </a:endParaRPr>
          </a:p>
          <a:p>
            <a:pPr algn="just">
              <a:lnSpc>
                <a:spcPct val="125000"/>
              </a:lnSpc>
            </a:pPr>
            <a:r>
              <a:rPr lang="zh-CN" altLang="en-US" sz="2800" dirty="0">
                <a:solidFill>
                  <a:srgbClr val="00B0F0"/>
                </a:solidFill>
                <a:latin typeface="Arial" panose="020B0604020202020204" pitchFamily="34" charset="0"/>
                <a:ea typeface="宋体" panose="02010600030101010101" pitchFamily="2" charset="-122"/>
              </a:rPr>
              <a:t>缺点</a:t>
            </a:r>
            <a:r>
              <a:rPr lang="zh-CN" altLang="en-US" sz="2800" dirty="0">
                <a:latin typeface="Arial" panose="020B0604020202020204" pitchFamily="34" charset="0"/>
                <a:ea typeface="宋体" panose="02010600030101010101" pitchFamily="2" charset="-122"/>
              </a:rPr>
              <a:t>：当参加评价的对象较多时，很难给出综合评价的排序结果。</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p:cTn id="7" dur="1000" fill="hold"/>
                                        <p:tgtEl>
                                          <p:spTgt spid="26626"/>
                                        </p:tgtEl>
                                        <p:attrNameLst>
                                          <p:attrName>ppt_w</p:attrName>
                                        </p:attrNameLst>
                                      </p:cBhvr>
                                      <p:tavLst>
                                        <p:tav tm="0">
                                          <p:val>
                                            <p:strVal val="#ppt_w*0.70"/>
                                          </p:val>
                                        </p:tav>
                                        <p:tav tm="100000">
                                          <p:val>
                                            <p:strVal val="#ppt_w"/>
                                          </p:val>
                                        </p:tav>
                                      </p:tavLst>
                                    </p:anim>
                                    <p:anim calcmode="lin" valueType="num">
                                      <p:cBhvr>
                                        <p:cTn id="8" dur="1000" fill="hold"/>
                                        <p:tgtEl>
                                          <p:spTgt spid="26626"/>
                                        </p:tgtEl>
                                        <p:attrNameLst>
                                          <p:attrName>ppt_h</p:attrName>
                                        </p:attrNameLst>
                                      </p:cBhvr>
                                      <p:tavLst>
                                        <p:tav tm="0">
                                          <p:val>
                                            <p:strVal val="#ppt_h"/>
                                          </p:val>
                                        </p:tav>
                                        <p:tav tm="100000">
                                          <p:val>
                                            <p:strVal val="#ppt_h"/>
                                          </p:val>
                                        </p:tav>
                                      </p:tavLst>
                                    </p:anim>
                                    <p:animEffect transition="in" filter="fade">
                                      <p:cBhvr>
                                        <p:cTn id="9" dur="1000"/>
                                        <p:tgtEl>
                                          <p:spTgt spid="26626"/>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26627">
                                            <p:txEl>
                                              <p:charRg st="0" end="68"/>
                                            </p:txEl>
                                          </p:spTgt>
                                        </p:tgtEl>
                                        <p:attrNameLst>
                                          <p:attrName>style.visibility</p:attrName>
                                        </p:attrNameLst>
                                      </p:cBhvr>
                                      <p:to>
                                        <p:strVal val="visible"/>
                                      </p:to>
                                    </p:set>
                                    <p:animEffect transition="in" filter="blinds(horizontal)">
                                      <p:cBhvr>
                                        <p:cTn id="14" dur="500"/>
                                        <p:tgtEl>
                                          <p:spTgt spid="26627">
                                            <p:txEl>
                                              <p:charRg st="0" end="68"/>
                                            </p:txEl>
                                          </p:spTgt>
                                        </p:tgtEl>
                                      </p:cBhvr>
                                    </p:animEffect>
                                  </p:childTnLst>
                                </p:cTn>
                              </p:par>
                              <p:par>
                                <p:cTn id="15" presetID="3" presetClass="entr" presetSubtype="10" fill="hold" nodeType="withEffect">
                                  <p:stCondLst>
                                    <p:cond delay="0"/>
                                  </p:stCondLst>
                                  <p:childTnLst>
                                    <p:set>
                                      <p:cBhvr>
                                        <p:cTn id="16" dur="1" fill="hold">
                                          <p:stCondLst>
                                            <p:cond delay="0"/>
                                          </p:stCondLst>
                                        </p:cTn>
                                        <p:tgtEl>
                                          <p:spTgt spid="26627">
                                            <p:txEl>
                                              <p:charRg st="68" end="98"/>
                                            </p:txEl>
                                          </p:spTgt>
                                        </p:tgtEl>
                                        <p:attrNameLst>
                                          <p:attrName>style.visibility</p:attrName>
                                        </p:attrNameLst>
                                      </p:cBhvr>
                                      <p:to>
                                        <p:strVal val="visible"/>
                                      </p:to>
                                    </p:set>
                                    <p:animEffect transition="in" filter="blinds(horizontal)">
                                      <p:cBhvr>
                                        <p:cTn id="17" dur="500"/>
                                        <p:tgtEl>
                                          <p:spTgt spid="26627">
                                            <p:txEl>
                                              <p:charRg st="68"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6"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00613"/>
            <a:ext cx="12193588" cy="1955800"/>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22288"/>
            <a:ext cx="1495425"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5</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6" name="文本框 12"/>
          <p:cNvSpPr txBox="1">
            <a:spLocks noChangeArrowheads="1"/>
          </p:cNvSpPr>
          <p:nvPr/>
        </p:nvSpPr>
        <p:spPr bwMode="auto">
          <a:xfrm>
            <a:off x="2762250" y="3644900"/>
            <a:ext cx="9429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SWOT</a:t>
            </a: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分析法</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24438"/>
            <a:ext cx="48799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5.1  SWOT</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分析的基础</a:t>
            </a:r>
            <a:endPar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5.2  SWOT</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分析矩阵</a:t>
            </a:r>
            <a:endPar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673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1674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1674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5.1  SWOT</a:t>
            </a:r>
            <a:r>
              <a:rPr lang="zh-CN" altLang="en-US" sz="3200" dirty="0">
                <a:solidFill>
                  <a:srgbClr val="1570C1"/>
                </a:solidFill>
                <a:latin typeface="微软雅黑" panose="020B0503020204020204" pitchFamily="34" charset="-122"/>
                <a:ea typeface="微软雅黑" panose="020B0503020204020204" pitchFamily="34" charset="-122"/>
              </a:rPr>
              <a:t>分析的基础</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324225" y="2092325"/>
            <a:ext cx="5641975" cy="503238"/>
            <a:chOff x="2757271" y="2061784"/>
            <a:chExt cx="7191255" cy="1053562"/>
          </a:xfrm>
        </p:grpSpPr>
        <p:sp>
          <p:nvSpPr>
            <p:cNvPr id="12" name="矩形 11"/>
            <p:cNvSpPr/>
            <p:nvPr/>
          </p:nvSpPr>
          <p:spPr>
            <a:xfrm>
              <a:off x="2757271" y="2061784"/>
              <a:ext cx="1264642"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4021913" y="2061784"/>
              <a:ext cx="5926613"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确定企业的优势和资源能力</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2" name="组合 21"/>
          <p:cNvGrpSpPr/>
          <p:nvPr/>
        </p:nvGrpSpPr>
        <p:grpSpPr>
          <a:xfrm>
            <a:off x="3324225" y="2773363"/>
            <a:ext cx="5641975" cy="503237"/>
            <a:chOff x="2757271" y="2061784"/>
            <a:chExt cx="7191254" cy="1053562"/>
          </a:xfrm>
        </p:grpSpPr>
        <p:sp>
          <p:nvSpPr>
            <p:cNvPr id="23" name="矩形 22"/>
            <p:cNvSpPr/>
            <p:nvPr/>
          </p:nvSpPr>
          <p:spPr>
            <a:xfrm>
              <a:off x="2757271" y="2061784"/>
              <a:ext cx="1264642"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4021913" y="2061784"/>
              <a:ext cx="5926612"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确定企业的劣</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势和资源缺陷</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5" name="组合 24"/>
          <p:cNvGrpSpPr/>
          <p:nvPr/>
        </p:nvGrpSpPr>
        <p:grpSpPr>
          <a:xfrm>
            <a:off x="3324225" y="5499100"/>
            <a:ext cx="5641975" cy="503238"/>
            <a:chOff x="2757271" y="2061784"/>
            <a:chExt cx="7191255" cy="1053562"/>
          </a:xfrm>
        </p:grpSpPr>
        <p:sp>
          <p:nvSpPr>
            <p:cNvPr id="26" name="矩形 25"/>
            <p:cNvSpPr/>
            <p:nvPr/>
          </p:nvSpPr>
          <p:spPr>
            <a:xfrm>
              <a:off x="2757271" y="2061784"/>
              <a:ext cx="1264642"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（六）</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4021913" y="2061784"/>
              <a:ext cx="5926613"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确认企业</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面临的威胁</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8" name="组合 27"/>
          <p:cNvGrpSpPr/>
          <p:nvPr/>
        </p:nvGrpSpPr>
        <p:grpSpPr>
          <a:xfrm>
            <a:off x="3324225" y="3455988"/>
            <a:ext cx="5641975" cy="503237"/>
            <a:chOff x="2757271" y="2061784"/>
            <a:chExt cx="7191255" cy="1053562"/>
          </a:xfrm>
        </p:grpSpPr>
        <p:sp>
          <p:nvSpPr>
            <p:cNvPr id="29" name="矩形 28"/>
            <p:cNvSpPr/>
            <p:nvPr/>
          </p:nvSpPr>
          <p:spPr>
            <a:xfrm>
              <a:off x="2757271" y="2061784"/>
              <a:ext cx="1264642"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矩形 29"/>
            <p:cNvSpPr/>
            <p:nvPr/>
          </p:nvSpPr>
          <p:spPr>
            <a:xfrm>
              <a:off x="4021913" y="2061784"/>
              <a:ext cx="5926613"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对资源优势和劣</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势的评估</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1" name="组合 30"/>
          <p:cNvGrpSpPr/>
          <p:nvPr/>
        </p:nvGrpSpPr>
        <p:grpSpPr>
          <a:xfrm>
            <a:off x="3324225" y="4137025"/>
            <a:ext cx="5641975" cy="503238"/>
            <a:chOff x="2757271" y="2061784"/>
            <a:chExt cx="7191255" cy="1053562"/>
          </a:xfrm>
        </p:grpSpPr>
        <p:sp>
          <p:nvSpPr>
            <p:cNvPr id="32" name="矩形 31"/>
            <p:cNvSpPr/>
            <p:nvPr/>
          </p:nvSpPr>
          <p:spPr>
            <a:xfrm>
              <a:off x="2757271" y="2061784"/>
              <a:ext cx="1264642"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矩形 32"/>
            <p:cNvSpPr/>
            <p:nvPr/>
          </p:nvSpPr>
          <p:spPr>
            <a:xfrm>
              <a:off x="4021913" y="2061784"/>
              <a:ext cx="5926613"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确定企业</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的核心能力</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4" name="组合 33"/>
          <p:cNvGrpSpPr/>
          <p:nvPr/>
        </p:nvGrpSpPr>
        <p:grpSpPr>
          <a:xfrm>
            <a:off x="3324225" y="4818063"/>
            <a:ext cx="5641975" cy="503237"/>
            <a:chOff x="2757271" y="2061784"/>
            <a:chExt cx="7191255" cy="1053562"/>
          </a:xfrm>
        </p:grpSpPr>
        <p:sp>
          <p:nvSpPr>
            <p:cNvPr id="35" name="矩形 34"/>
            <p:cNvSpPr/>
            <p:nvPr/>
          </p:nvSpPr>
          <p:spPr>
            <a:xfrm>
              <a:off x="2757271" y="2061784"/>
              <a:ext cx="1264642"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 name="矩形 35"/>
            <p:cNvSpPr/>
            <p:nvPr/>
          </p:nvSpPr>
          <p:spPr>
            <a:xfrm>
              <a:off x="4021913" y="2061784"/>
              <a:ext cx="5926613"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确认企业</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面临的机会</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3" name="矩形 2"/>
          <p:cNvSpPr/>
          <p:nvPr/>
        </p:nvSpPr>
        <p:spPr>
          <a:xfrm>
            <a:off x="1708150" y="1290638"/>
            <a:ext cx="9172575" cy="522287"/>
          </a:xfrm>
          <a:prstGeom prst="rect">
            <a:avLst/>
          </a:prstGeom>
          <a:solidFill>
            <a:srgbClr val="1570C1"/>
          </a:solidFill>
          <a:ln w="9525">
            <a:noFill/>
          </a:ln>
        </p:spPr>
        <p:txBody>
          <a:bodyPr wrap="square" anchor="t" anchorCtr="0">
            <a:spAutoFit/>
          </a:bodyPr>
          <a:p>
            <a:pPr algn="ctr" eaLnBrk="0" hangingPunct="0"/>
            <a:r>
              <a:rPr lang="zh-CN" altLang="en-US" sz="2800" dirty="0">
                <a:solidFill>
                  <a:schemeClr val="bg1"/>
                </a:solidFill>
                <a:latin typeface="微软雅黑" panose="020B0503020204020204" pitchFamily="34" charset="-122"/>
                <a:ea typeface="微软雅黑" panose="020B0503020204020204" pitchFamily="34" charset="-122"/>
              </a:rPr>
              <a:t>战略制定必须寻求企业内部资源和外部环境间的良好匹配</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par>
                                <p:cTn id="12" presetID="22" presetClass="entr" presetSubtype="2"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right)">
                                      <p:cBhvr>
                                        <p:cTn id="14" dur="500"/>
                                        <p:tgtEl>
                                          <p:spTgt spid="22"/>
                                        </p:tgtEl>
                                      </p:cBhvr>
                                    </p:animEffect>
                                  </p:childTnLst>
                                </p:cTn>
                              </p:par>
                              <p:par>
                                <p:cTn id="15" presetID="22" presetClass="entr" presetSubtype="8"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par>
                                <p:cTn id="18" presetID="22" presetClass="entr" presetSubtype="2"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500"/>
                                        <p:tgtEl>
                                          <p:spTgt spid="31"/>
                                        </p:tgtEl>
                                      </p:cBhvr>
                                    </p:animEffect>
                                  </p:childTnLst>
                                </p:cTn>
                              </p:par>
                              <p:par>
                                <p:cTn id="21" presetID="22" presetClass="entr" presetSubtype="8"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left)">
                                      <p:cBhvr>
                                        <p:cTn id="23" dur="500"/>
                                        <p:tgtEl>
                                          <p:spTgt spid="34"/>
                                        </p:tgtEl>
                                      </p:cBhvr>
                                    </p:animEffect>
                                  </p:childTnLst>
                                </p:cTn>
                              </p:par>
                              <p:par>
                                <p:cTn id="24" presetID="22" presetClass="entr" presetSubtype="2"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right)">
                                      <p:cBhvr>
                                        <p:cTn id="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878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1878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1879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5.2  SWOT</a:t>
            </a:r>
            <a:r>
              <a:rPr lang="zh-CN" altLang="en-US" sz="3200" dirty="0">
                <a:solidFill>
                  <a:srgbClr val="1570C1"/>
                </a:solidFill>
                <a:latin typeface="微软雅黑" panose="020B0503020204020204" pitchFamily="34" charset="-122"/>
                <a:ea typeface="微软雅黑" panose="020B0503020204020204" pitchFamily="34" charset="-122"/>
              </a:rPr>
              <a:t>分析矩阵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1463675" y="1349375"/>
          <a:ext cx="9236076" cy="4279900"/>
        </p:xfrm>
        <a:graphic>
          <a:graphicData uri="http://schemas.openxmlformats.org/drawingml/2006/table">
            <a:tbl>
              <a:tblPr firstRow="1" bandRow="1">
                <a:tableStyleId>{5C22544A-7EE6-4342-B048-85BDC9FD1C3A}</a:tableStyleId>
              </a:tblPr>
              <a:tblGrid>
                <a:gridCol w="3078692"/>
                <a:gridCol w="3078692"/>
                <a:gridCol w="3078692"/>
              </a:tblGrid>
              <a:tr h="1398865">
                <a:tc>
                  <a:txBody>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SWOT</a:t>
                      </a:r>
                      <a:r>
                        <a:rPr lang="zh-CN" altLang="en-US" sz="2000" b="1" dirty="0" smtClean="0">
                          <a:solidFill>
                            <a:schemeClr val="bg1"/>
                          </a:solidFill>
                          <a:latin typeface="微软雅黑" panose="020B0503020204020204" pitchFamily="34" charset="-122"/>
                          <a:ea typeface="微软雅黑" panose="020B0503020204020204" pitchFamily="34" charset="-122"/>
                        </a:rPr>
                        <a:t>矩阵</a:t>
                      </a:r>
                      <a:endParaRPr lang="zh-CN" altLang="en-US" sz="2000" b="1" dirty="0">
                        <a:solidFill>
                          <a:schemeClr val="bg1"/>
                        </a:solidFill>
                        <a:latin typeface="微软雅黑" panose="020B0503020204020204" pitchFamily="34" charset="-122"/>
                        <a:ea typeface="微软雅黑" panose="020B0503020204020204" pitchFamily="34" charset="-122"/>
                      </a:endParaRPr>
                    </a:p>
                  </a:txBody>
                  <a:tcPr marL="103906" marR="103906" marT="51952" marB="51952" anchor="ctr"/>
                </a:tc>
                <a:tc>
                  <a:txBody>
                    <a:bodyPr/>
                    <a:lstStyle/>
                    <a:p>
                      <a:r>
                        <a:rPr lang="zh-CN" altLang="en-US" sz="2000" dirty="0" smtClean="0">
                          <a:latin typeface="微软雅黑" panose="020B0503020204020204" pitchFamily="34" charset="-122"/>
                          <a:ea typeface="微软雅黑" panose="020B0503020204020204" pitchFamily="34" charset="-122"/>
                        </a:rPr>
                        <a:t>优势</a:t>
                      </a:r>
                      <a:r>
                        <a:rPr lang="en-US" altLang="zh-CN" sz="2000" dirty="0" smtClean="0">
                          <a:latin typeface="微软雅黑" panose="020B0503020204020204" pitchFamily="34" charset="-122"/>
                          <a:ea typeface="微软雅黑" panose="020B0503020204020204" pitchFamily="34" charset="-122"/>
                        </a:rPr>
                        <a:t>—S</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Strengths)</a:t>
                      </a:r>
                      <a:endParaRPr lang="en-US" altLang="zh-CN" sz="20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2000" dirty="0" smtClean="0">
                          <a:latin typeface="微软雅黑" panose="020B0503020204020204" pitchFamily="34" charset="-122"/>
                          <a:ea typeface="微软雅黑" panose="020B0503020204020204" pitchFamily="34" charset="-122"/>
                        </a:rPr>
                        <a:t>1.</a:t>
                      </a:r>
                      <a:endParaRPr lang="en-US" altLang="zh-CN" sz="20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列出优势</a:t>
                      </a:r>
                      <a:endParaRPr lang="en-US" altLang="zh-CN" sz="20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2000" dirty="0" smtClean="0">
                          <a:latin typeface="微软雅黑" panose="020B0503020204020204" pitchFamily="34" charset="-122"/>
                          <a:ea typeface="微软雅黑" panose="020B0503020204020204" pitchFamily="34" charset="-122"/>
                        </a:rPr>
                        <a:t>3.</a:t>
                      </a:r>
                      <a:r>
                        <a:rPr lang="en-US" altLang="zh-CN" sz="2000" baseline="0" dirty="0" smtClean="0">
                          <a:latin typeface="微软雅黑" panose="020B0503020204020204" pitchFamily="34" charset="-122"/>
                          <a:ea typeface="微软雅黑" panose="020B0503020204020204" pitchFamily="34" charset="-122"/>
                        </a:rPr>
                        <a:t> ……</a:t>
                      </a:r>
                      <a:endParaRPr lang="en-US" altLang="zh-CN" sz="2000" dirty="0" smtClean="0">
                        <a:latin typeface="微软雅黑" panose="020B0503020204020204" pitchFamily="34" charset="-122"/>
                        <a:ea typeface="微软雅黑" panose="020B0503020204020204" pitchFamily="34" charset="-122"/>
                      </a:endParaRPr>
                    </a:p>
                  </a:txBody>
                  <a:tcPr marL="103906" marR="103906" marT="51952" marB="51952" anchor="ctr"/>
                </a:tc>
                <a:tc>
                  <a:txBody>
                    <a:bodyPr/>
                    <a:lstStyle/>
                    <a:p>
                      <a:r>
                        <a:rPr lang="zh-CN" altLang="en-US" sz="2000" dirty="0" smtClean="0">
                          <a:latin typeface="微软雅黑" panose="020B0503020204020204" pitchFamily="34" charset="-122"/>
                          <a:ea typeface="微软雅黑" panose="020B0503020204020204" pitchFamily="34" charset="-122"/>
                        </a:rPr>
                        <a:t>劣势</a:t>
                      </a:r>
                      <a:r>
                        <a:rPr lang="en-US" altLang="zh-CN" sz="2000" dirty="0" smtClean="0">
                          <a:latin typeface="微软雅黑" panose="020B0503020204020204" pitchFamily="34" charset="-122"/>
                          <a:ea typeface="微软雅黑" panose="020B0503020204020204" pitchFamily="34" charset="-122"/>
                        </a:rPr>
                        <a:t>—W(Weakness)</a:t>
                      </a:r>
                      <a:endParaRPr lang="en-US" altLang="zh-CN" sz="20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2000" dirty="0" smtClean="0">
                          <a:latin typeface="微软雅黑" panose="020B0503020204020204" pitchFamily="34" charset="-122"/>
                          <a:ea typeface="微软雅黑" panose="020B0503020204020204" pitchFamily="34" charset="-122"/>
                        </a:rPr>
                        <a:t>1.</a:t>
                      </a:r>
                      <a:endParaRPr lang="en-US" altLang="zh-CN" sz="20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列出弱点</a:t>
                      </a:r>
                      <a:endParaRPr lang="en-US" altLang="zh-CN" sz="20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2000" dirty="0" smtClean="0">
                          <a:latin typeface="微软雅黑" panose="020B0503020204020204" pitchFamily="34" charset="-122"/>
                          <a:ea typeface="微软雅黑" panose="020B0503020204020204" pitchFamily="34" charset="-122"/>
                        </a:rPr>
                        <a:t>3.</a:t>
                      </a:r>
                      <a:r>
                        <a:rPr lang="en-US" altLang="zh-CN" sz="2000" baseline="0" dirty="0" smtClean="0">
                          <a:latin typeface="微软雅黑" panose="020B0503020204020204" pitchFamily="34" charset="-122"/>
                          <a:ea typeface="微软雅黑" panose="020B0503020204020204" pitchFamily="34" charset="-122"/>
                        </a:rPr>
                        <a:t> ……</a:t>
                      </a:r>
                      <a:endParaRPr lang="en-US" altLang="zh-CN" sz="2000" dirty="0" smtClean="0">
                        <a:latin typeface="微软雅黑" panose="020B0503020204020204" pitchFamily="34" charset="-122"/>
                        <a:ea typeface="微软雅黑" panose="020B0503020204020204" pitchFamily="34" charset="-122"/>
                      </a:endParaRPr>
                    </a:p>
                  </a:txBody>
                  <a:tcPr marL="103906" marR="103906" marT="51952" marB="51952" anchor="ctr"/>
                </a:tc>
              </a:tr>
              <a:tr h="1482170">
                <a:tc>
                  <a:txBody>
                    <a:bodyPr/>
                    <a:lstStyle/>
                    <a:p>
                      <a:r>
                        <a:rPr lang="zh-CN" altLang="en-US" sz="2000" b="1" dirty="0" smtClean="0">
                          <a:solidFill>
                            <a:srgbClr val="1570C1"/>
                          </a:solidFill>
                          <a:latin typeface="微软雅黑" panose="020B0503020204020204" pitchFamily="34" charset="-122"/>
                          <a:ea typeface="微软雅黑" panose="020B0503020204020204" pitchFamily="34" charset="-122"/>
                        </a:rPr>
                        <a:t>机会</a:t>
                      </a:r>
                      <a:r>
                        <a:rPr lang="en-US" altLang="zh-CN" sz="2000" b="1" dirty="0" smtClean="0">
                          <a:solidFill>
                            <a:srgbClr val="1570C1"/>
                          </a:solidFill>
                          <a:latin typeface="微软雅黑" panose="020B0503020204020204" pitchFamily="34" charset="-122"/>
                          <a:ea typeface="微软雅黑" panose="020B0503020204020204" pitchFamily="34" charset="-122"/>
                        </a:rPr>
                        <a:t>—O(Opportunities)</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p>
                      <a:pPr marL="457200" lvl="1" indent="0">
                        <a:buFont typeface="+mj-lt"/>
                        <a:buNone/>
                      </a:pPr>
                      <a:r>
                        <a:rPr lang="en-US" altLang="zh-CN" sz="2000" b="1" dirty="0" smtClean="0">
                          <a:solidFill>
                            <a:srgbClr val="1570C1"/>
                          </a:solidFill>
                          <a:latin typeface="微软雅黑" panose="020B0503020204020204" pitchFamily="34" charset="-122"/>
                          <a:ea typeface="微软雅黑" panose="020B0503020204020204" pitchFamily="34" charset="-122"/>
                        </a:rPr>
                        <a:t>1.</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p>
                      <a:pPr marL="457200" lvl="1" indent="0">
                        <a:buFont typeface="+mj-lt"/>
                        <a:buNone/>
                      </a:pPr>
                      <a:r>
                        <a:rPr lang="en-US" altLang="zh-CN" sz="2000" b="1" dirty="0" smtClean="0">
                          <a:solidFill>
                            <a:srgbClr val="1570C1"/>
                          </a:solidFill>
                          <a:latin typeface="微软雅黑" panose="020B0503020204020204" pitchFamily="34" charset="-122"/>
                          <a:ea typeface="微软雅黑" panose="020B0503020204020204" pitchFamily="34" charset="-122"/>
                        </a:rPr>
                        <a:t>2.</a:t>
                      </a:r>
                      <a:r>
                        <a:rPr lang="zh-CN" altLang="en-US" sz="2000" b="1" dirty="0" smtClean="0">
                          <a:solidFill>
                            <a:srgbClr val="1570C1"/>
                          </a:solidFill>
                          <a:latin typeface="微软雅黑" panose="020B0503020204020204" pitchFamily="34" charset="-122"/>
                          <a:ea typeface="微软雅黑" panose="020B0503020204020204" pitchFamily="34" charset="-122"/>
                        </a:rPr>
                        <a:t>列出机会</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p>
                      <a:pPr marL="457200" lvl="1" indent="0">
                        <a:buFont typeface="+mj-lt"/>
                        <a:buNone/>
                      </a:pPr>
                      <a:r>
                        <a:rPr lang="en-US" altLang="zh-CN" sz="2000" b="1" dirty="0" smtClean="0">
                          <a:solidFill>
                            <a:srgbClr val="1570C1"/>
                          </a:solidFill>
                          <a:latin typeface="微软雅黑" panose="020B0503020204020204" pitchFamily="34" charset="-122"/>
                          <a:ea typeface="微软雅黑" panose="020B0503020204020204" pitchFamily="34" charset="-122"/>
                        </a:rPr>
                        <a:t>3.</a:t>
                      </a:r>
                      <a:r>
                        <a:rPr lang="en-US" altLang="zh-CN" sz="2000" b="1" baseline="0" dirty="0" smtClean="0">
                          <a:solidFill>
                            <a:srgbClr val="1570C1"/>
                          </a:solidFill>
                          <a:latin typeface="微软雅黑" panose="020B0503020204020204" pitchFamily="34" charset="-122"/>
                          <a:ea typeface="微软雅黑" panose="020B0503020204020204" pitchFamily="34" charset="-122"/>
                        </a:rPr>
                        <a:t> ……</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txBody>
                  <a:tcPr marL="103906" marR="103906" marT="51952" marB="51952" anchor="ctr"/>
                </a:tc>
                <a:tc>
                  <a:txBody>
                    <a:bodyPr/>
                    <a:lstStyle/>
                    <a:p>
                      <a:r>
                        <a:rPr lang="en-US" altLang="zh-CN" sz="1800" dirty="0" smtClean="0">
                          <a:latin typeface="微软雅黑" panose="020B0503020204020204" pitchFamily="34" charset="-122"/>
                          <a:ea typeface="微软雅黑" panose="020B0503020204020204" pitchFamily="34" charset="-122"/>
                        </a:rPr>
                        <a:t>SO</a:t>
                      </a:r>
                      <a:r>
                        <a:rPr lang="zh-CN" altLang="en-US" sz="1800" dirty="0" smtClean="0">
                          <a:latin typeface="微软雅黑" panose="020B0503020204020204" pitchFamily="34" charset="-122"/>
                          <a:ea typeface="微软雅黑" panose="020B0503020204020204" pitchFamily="34" charset="-122"/>
                        </a:rPr>
                        <a:t>战略</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1.</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发挥优势，利用机会</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3.</a:t>
                      </a:r>
                      <a:r>
                        <a:rPr lang="en-US" altLang="zh-CN" sz="1800" baseline="0" dirty="0" smtClean="0">
                          <a:latin typeface="微软雅黑" panose="020B0503020204020204" pitchFamily="34" charset="-122"/>
                          <a:ea typeface="微软雅黑" panose="020B0503020204020204" pitchFamily="34" charset="-122"/>
                        </a:rPr>
                        <a:t> ……</a:t>
                      </a:r>
                      <a:endParaRPr lang="en-US" altLang="zh-CN" sz="1800" dirty="0" smtClean="0">
                        <a:latin typeface="微软雅黑" panose="020B0503020204020204" pitchFamily="34" charset="-122"/>
                        <a:ea typeface="微软雅黑" panose="020B0503020204020204" pitchFamily="34" charset="-122"/>
                      </a:endParaRPr>
                    </a:p>
                  </a:txBody>
                  <a:tcPr marL="103906" marR="103906" marT="51952" marB="51952" anchor="ctr"/>
                </a:tc>
                <a:tc>
                  <a:txBody>
                    <a:bodyPr/>
                    <a:lstStyle/>
                    <a:p>
                      <a:r>
                        <a:rPr lang="en-US" altLang="zh-CN" sz="1800" dirty="0" smtClean="0">
                          <a:latin typeface="微软雅黑" panose="020B0503020204020204" pitchFamily="34" charset="-122"/>
                          <a:ea typeface="微软雅黑" panose="020B0503020204020204" pitchFamily="34" charset="-122"/>
                        </a:rPr>
                        <a:t>WO</a:t>
                      </a:r>
                      <a:r>
                        <a:rPr lang="zh-CN" altLang="en-US" sz="1800" dirty="0" smtClean="0">
                          <a:latin typeface="微软雅黑" panose="020B0503020204020204" pitchFamily="34" charset="-122"/>
                          <a:ea typeface="微软雅黑" panose="020B0503020204020204" pitchFamily="34" charset="-122"/>
                        </a:rPr>
                        <a:t>战略</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1.</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利用机会，克服弱点</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3.</a:t>
                      </a:r>
                      <a:r>
                        <a:rPr lang="en-US" altLang="zh-CN" sz="1800" baseline="0" dirty="0" smtClean="0">
                          <a:latin typeface="微软雅黑" panose="020B0503020204020204" pitchFamily="34" charset="-122"/>
                          <a:ea typeface="微软雅黑" panose="020B0503020204020204" pitchFamily="34" charset="-122"/>
                        </a:rPr>
                        <a:t> ……</a:t>
                      </a:r>
                      <a:endParaRPr lang="en-US" altLang="zh-CN" sz="1800" dirty="0" smtClean="0">
                        <a:latin typeface="微软雅黑" panose="020B0503020204020204" pitchFamily="34" charset="-122"/>
                        <a:ea typeface="微软雅黑" panose="020B0503020204020204" pitchFamily="34" charset="-122"/>
                      </a:endParaRPr>
                    </a:p>
                  </a:txBody>
                  <a:tcPr marL="103906" marR="103906" marT="51952" marB="51952" anchor="ctr"/>
                </a:tc>
              </a:tr>
              <a:tr h="1398865">
                <a:tc>
                  <a:txBody>
                    <a:bodyPr/>
                    <a:lstStyle/>
                    <a:p>
                      <a:r>
                        <a:rPr lang="zh-CN" altLang="en-US" sz="2000" b="1" dirty="0" smtClean="0">
                          <a:solidFill>
                            <a:srgbClr val="1570C1"/>
                          </a:solidFill>
                          <a:latin typeface="微软雅黑" panose="020B0503020204020204" pitchFamily="34" charset="-122"/>
                          <a:ea typeface="微软雅黑" panose="020B0503020204020204" pitchFamily="34" charset="-122"/>
                        </a:rPr>
                        <a:t>威胁</a:t>
                      </a:r>
                      <a:r>
                        <a:rPr lang="en-US" altLang="zh-CN" sz="2000" b="1" dirty="0" smtClean="0">
                          <a:solidFill>
                            <a:srgbClr val="1570C1"/>
                          </a:solidFill>
                          <a:latin typeface="微软雅黑" panose="020B0503020204020204" pitchFamily="34" charset="-122"/>
                          <a:ea typeface="微软雅黑" panose="020B0503020204020204" pitchFamily="34" charset="-122"/>
                        </a:rPr>
                        <a:t>—T(Threats)</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p>
                      <a:pPr marL="457200" lvl="1" indent="0">
                        <a:buFont typeface="+mj-lt"/>
                        <a:buNone/>
                      </a:pPr>
                      <a:r>
                        <a:rPr lang="en-US" altLang="zh-CN" sz="2000" b="1" dirty="0" smtClean="0">
                          <a:solidFill>
                            <a:srgbClr val="1570C1"/>
                          </a:solidFill>
                          <a:latin typeface="微软雅黑" panose="020B0503020204020204" pitchFamily="34" charset="-122"/>
                          <a:ea typeface="微软雅黑" panose="020B0503020204020204" pitchFamily="34" charset="-122"/>
                        </a:rPr>
                        <a:t>1.</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p>
                      <a:pPr marL="457200" lvl="1" indent="0">
                        <a:buFont typeface="+mj-lt"/>
                        <a:buNone/>
                      </a:pPr>
                      <a:r>
                        <a:rPr lang="en-US" altLang="zh-CN" sz="2000" b="1" dirty="0" smtClean="0">
                          <a:solidFill>
                            <a:srgbClr val="1570C1"/>
                          </a:solidFill>
                          <a:latin typeface="微软雅黑" panose="020B0503020204020204" pitchFamily="34" charset="-122"/>
                          <a:ea typeface="微软雅黑" panose="020B0503020204020204" pitchFamily="34" charset="-122"/>
                        </a:rPr>
                        <a:t>2.</a:t>
                      </a:r>
                      <a:r>
                        <a:rPr lang="zh-CN" altLang="en-US" sz="2000" b="1" dirty="0" smtClean="0">
                          <a:solidFill>
                            <a:srgbClr val="1570C1"/>
                          </a:solidFill>
                          <a:latin typeface="微软雅黑" panose="020B0503020204020204" pitchFamily="34" charset="-122"/>
                          <a:ea typeface="微软雅黑" panose="020B0503020204020204" pitchFamily="34" charset="-122"/>
                        </a:rPr>
                        <a:t>列出威胁</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p>
                      <a:pPr marL="457200" lvl="1" indent="0">
                        <a:buFont typeface="+mj-lt"/>
                        <a:buNone/>
                      </a:pPr>
                      <a:r>
                        <a:rPr lang="en-US" altLang="zh-CN" sz="2000" b="1" dirty="0" smtClean="0">
                          <a:solidFill>
                            <a:srgbClr val="1570C1"/>
                          </a:solidFill>
                          <a:latin typeface="微软雅黑" panose="020B0503020204020204" pitchFamily="34" charset="-122"/>
                          <a:ea typeface="微软雅黑" panose="020B0503020204020204" pitchFamily="34" charset="-122"/>
                        </a:rPr>
                        <a:t>3.</a:t>
                      </a:r>
                      <a:r>
                        <a:rPr lang="en-US" altLang="zh-CN" sz="2000" b="1" baseline="0" dirty="0" smtClean="0">
                          <a:solidFill>
                            <a:srgbClr val="1570C1"/>
                          </a:solidFill>
                          <a:latin typeface="微软雅黑" panose="020B0503020204020204" pitchFamily="34" charset="-122"/>
                          <a:ea typeface="微软雅黑" panose="020B0503020204020204" pitchFamily="34" charset="-122"/>
                        </a:rPr>
                        <a:t> ……</a:t>
                      </a:r>
                      <a:endParaRPr lang="en-US" altLang="zh-CN" sz="2000" b="1" dirty="0" smtClean="0">
                        <a:solidFill>
                          <a:srgbClr val="1570C1"/>
                        </a:solidFill>
                        <a:latin typeface="微软雅黑" panose="020B0503020204020204" pitchFamily="34" charset="-122"/>
                        <a:ea typeface="微软雅黑" panose="020B0503020204020204" pitchFamily="34" charset="-122"/>
                      </a:endParaRPr>
                    </a:p>
                  </a:txBody>
                  <a:tcPr marL="103906" marR="103906" marT="51952" marB="51952" anchor="ctr"/>
                </a:tc>
                <a:tc>
                  <a:txBody>
                    <a:bodyPr/>
                    <a:lstStyle/>
                    <a:p>
                      <a:r>
                        <a:rPr lang="en-US" altLang="zh-CN" sz="1800" dirty="0" smtClean="0">
                          <a:latin typeface="微软雅黑" panose="020B0503020204020204" pitchFamily="34" charset="-122"/>
                          <a:ea typeface="微软雅黑" panose="020B0503020204020204" pitchFamily="34" charset="-122"/>
                        </a:rPr>
                        <a:t>ST</a:t>
                      </a:r>
                      <a:r>
                        <a:rPr lang="zh-CN" altLang="en-US" sz="1800" dirty="0" smtClean="0">
                          <a:latin typeface="微软雅黑" panose="020B0503020204020204" pitchFamily="34" charset="-122"/>
                          <a:ea typeface="微软雅黑" panose="020B0503020204020204" pitchFamily="34" charset="-122"/>
                        </a:rPr>
                        <a:t>战略</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1.</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利用优势，回避威胁</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3.</a:t>
                      </a:r>
                      <a:r>
                        <a:rPr lang="en-US" altLang="zh-CN" sz="1800" baseline="0" dirty="0" smtClean="0">
                          <a:latin typeface="微软雅黑" panose="020B0503020204020204" pitchFamily="34" charset="-122"/>
                          <a:ea typeface="微软雅黑" panose="020B0503020204020204" pitchFamily="34" charset="-122"/>
                        </a:rPr>
                        <a:t> ……</a:t>
                      </a:r>
                      <a:endParaRPr lang="en-US" altLang="zh-CN" sz="1800" dirty="0" smtClean="0">
                        <a:latin typeface="微软雅黑" panose="020B0503020204020204" pitchFamily="34" charset="-122"/>
                        <a:ea typeface="微软雅黑" panose="020B0503020204020204" pitchFamily="34" charset="-122"/>
                      </a:endParaRPr>
                    </a:p>
                  </a:txBody>
                  <a:tcPr marL="103906" marR="103906" marT="51952" marB="51952" anchor="ctr"/>
                </a:tc>
                <a:tc>
                  <a:txBody>
                    <a:bodyPr/>
                    <a:lstStyle/>
                    <a:p>
                      <a:r>
                        <a:rPr lang="en-US" altLang="zh-CN" sz="1800" dirty="0" smtClean="0">
                          <a:latin typeface="微软雅黑" panose="020B0503020204020204" pitchFamily="34" charset="-122"/>
                          <a:ea typeface="微软雅黑" panose="020B0503020204020204" pitchFamily="34" charset="-122"/>
                        </a:rPr>
                        <a:t>WT</a:t>
                      </a:r>
                      <a:r>
                        <a:rPr lang="zh-CN" altLang="en-US" sz="1800" dirty="0" smtClean="0">
                          <a:latin typeface="微软雅黑" panose="020B0503020204020204" pitchFamily="34" charset="-122"/>
                          <a:ea typeface="微软雅黑" panose="020B0503020204020204" pitchFamily="34" charset="-122"/>
                        </a:rPr>
                        <a:t>战略</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1.</a:t>
                      </a:r>
                      <a:endParaRPr lang="en-US" altLang="zh-CN" sz="1800" dirty="0" smtClean="0">
                        <a:latin typeface="微软雅黑" panose="020B0503020204020204" pitchFamily="34" charset="-122"/>
                        <a:ea typeface="微软雅黑" panose="020B0503020204020204" pitchFamily="34" charset="-122"/>
                      </a:endParaRPr>
                    </a:p>
                    <a:p>
                      <a:pPr marL="457200" lvl="1" indent="0">
                        <a:buFont typeface="+mj-lt"/>
                        <a:buNone/>
                      </a:pP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减少弱点，回避威胁</a:t>
                      </a:r>
                      <a:r>
                        <a:rPr lang="en-US" altLang="zh-CN" sz="1800" dirty="0" smtClean="0">
                          <a:latin typeface="微软雅黑" panose="020B0503020204020204" pitchFamily="34" charset="-122"/>
                          <a:ea typeface="微软雅黑" panose="020B0503020204020204" pitchFamily="34" charset="-122"/>
                        </a:rPr>
                        <a:t>3.</a:t>
                      </a:r>
                      <a:r>
                        <a:rPr lang="en-US" altLang="zh-CN" sz="1800" baseline="0" dirty="0" smtClean="0">
                          <a:latin typeface="微软雅黑" panose="020B0503020204020204" pitchFamily="34" charset="-122"/>
                          <a:ea typeface="微软雅黑" panose="020B0503020204020204" pitchFamily="34" charset="-122"/>
                        </a:rPr>
                        <a:t> ……</a:t>
                      </a:r>
                      <a:endParaRPr lang="en-US" altLang="zh-CN" sz="1800" dirty="0" smtClean="0">
                        <a:latin typeface="微软雅黑" panose="020B0503020204020204" pitchFamily="34" charset="-122"/>
                        <a:ea typeface="微软雅黑" panose="020B0503020204020204" pitchFamily="34" charset="-122"/>
                      </a:endParaRPr>
                    </a:p>
                  </a:txBody>
                  <a:tcPr marL="103906" marR="103906" marT="51952" marB="51952" anchor="ctr"/>
                </a:tc>
              </a:tr>
            </a:tbl>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0833" name="图片 1"/>
          <p:cNvPicPr>
            <a:picLocks noChangeAspect="1"/>
          </p:cNvPicPr>
          <p:nvPr/>
        </p:nvPicPr>
        <p:blipFill>
          <a:blip r:embed="rId1"/>
          <a:stretch>
            <a:fillRect/>
          </a:stretch>
        </p:blipFill>
        <p:spPr>
          <a:xfrm>
            <a:off x="838200" y="720725"/>
            <a:ext cx="10515600" cy="2482850"/>
          </a:xfrm>
          <a:prstGeom prst="rect">
            <a:avLst/>
          </a:prstGeom>
          <a:noFill/>
          <a:ln w="9525">
            <a:noFill/>
          </a:ln>
        </p:spPr>
      </p:pic>
      <p:pic>
        <p:nvPicPr>
          <p:cNvPr id="120834" name="图片 2"/>
          <p:cNvPicPr>
            <a:picLocks noChangeAspect="1"/>
          </p:cNvPicPr>
          <p:nvPr/>
        </p:nvPicPr>
        <p:blipFill>
          <a:blip r:embed="rId2"/>
          <a:stretch>
            <a:fillRect/>
          </a:stretch>
        </p:blipFill>
        <p:spPr>
          <a:xfrm>
            <a:off x="838200" y="3473450"/>
            <a:ext cx="10515600" cy="2499995"/>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54150" y="92075"/>
            <a:ext cx="9629140" cy="659320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31" name="文本框 9"/>
          <p:cNvSpPr txBox="1"/>
          <p:nvPr/>
        </p:nvSpPr>
        <p:spPr>
          <a:xfrm>
            <a:off x="3747135" y="184785"/>
            <a:ext cx="4486275" cy="522288"/>
          </a:xfrm>
          <a:prstGeom prst="rect">
            <a:avLst/>
          </a:prstGeom>
          <a:noFill/>
          <a:ln w="9525">
            <a:noFill/>
          </a:ln>
        </p:spPr>
        <p:txBody>
          <a:bodyPr>
            <a:spAutoFit/>
          </a:bodyPr>
          <a:p>
            <a:pPr algn="ctr" eaLnBrk="1" hangingPunct="1"/>
            <a:r>
              <a:rPr lang="zh-CN" altLang="en-US" sz="2800" dirty="0">
                <a:latin typeface="隶书" panose="02010509060101010101" pitchFamily="49" charset="-122"/>
                <a:ea typeface="隶书" panose="02010509060101010101" pitchFamily="49" charset="-122"/>
              </a:rPr>
              <a:t>某企业SWOT矩阵分析</a:t>
            </a:r>
            <a:endParaRPr lang="zh-CN" altLang="en-US" sz="2800" dirty="0">
              <a:latin typeface="隶书" panose="02010509060101010101" pitchFamily="49" charset="-122"/>
              <a:ea typeface="隶书" panose="02010509060101010101" pitchFamily="49" charset="-122"/>
            </a:endParaRPr>
          </a:p>
        </p:txBody>
      </p:sp>
      <p:graphicFrame>
        <p:nvGraphicFramePr>
          <p:cNvPr id="5" name="表格 4"/>
          <p:cNvGraphicFramePr/>
          <p:nvPr>
            <p:custDataLst>
              <p:tags r:id="rId1"/>
            </p:custDataLst>
          </p:nvPr>
        </p:nvGraphicFramePr>
        <p:xfrm>
          <a:off x="1986280" y="707390"/>
          <a:ext cx="9077960" cy="5969000"/>
        </p:xfrm>
        <a:graphic>
          <a:graphicData uri="http://schemas.openxmlformats.org/drawingml/2006/table">
            <a:tbl>
              <a:tblPr firstRow="1" bandRow="1">
                <a:effectLst/>
                <a:tableStyleId>{5940675A-B579-460E-94D1-54222C63F5DA}</a:tableStyleId>
              </a:tblPr>
              <a:tblGrid>
                <a:gridCol w="3733165"/>
                <a:gridCol w="2613025"/>
                <a:gridCol w="2731770"/>
              </a:tblGrid>
              <a:tr h="2468880">
                <a:tc>
                  <a:txBody>
                    <a:bodyPr/>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        优势与劣势</a:t>
                      </a:r>
                      <a:endParaRPr lang="en-US" sz="1800" b="1">
                        <a:latin typeface="宋体" panose="02010600030101010101" pitchFamily="2" charset="-122"/>
                        <a:ea typeface="宋体" panose="02010600030101010101" pitchFamily="2" charset="-122"/>
                        <a:cs typeface="宋体" panose="02010600030101010101" pitchFamily="2" charset="-122"/>
                      </a:endParaRPr>
                    </a:p>
                    <a:p>
                      <a:pPr algn="ctr">
                        <a:buNone/>
                      </a:pPr>
                      <a:endParaRPr lang="en-US" sz="1800" b="1">
                        <a:latin typeface="宋体" panose="02010600030101010101" pitchFamily="2" charset="-122"/>
                        <a:ea typeface="宋体" panose="02010600030101010101" pitchFamily="2" charset="-122"/>
                        <a:cs typeface="宋体" panose="02010600030101010101" pitchFamily="2" charset="-122"/>
                      </a:endParaRPr>
                    </a:p>
                    <a:p>
                      <a:pPr algn="l">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    战略匹配　  </a:t>
                      </a:r>
                      <a:endParaRPr lang="en-US" sz="1800" b="1">
                        <a:latin typeface="宋体" panose="02010600030101010101" pitchFamily="2" charset="-122"/>
                        <a:ea typeface="宋体" panose="02010600030101010101" pitchFamily="2" charset="-122"/>
                        <a:cs typeface="宋体" panose="02010600030101010101" pitchFamily="2" charset="-122"/>
                      </a:endParaRPr>
                    </a:p>
                    <a:p>
                      <a:pPr algn="ctr">
                        <a:buNone/>
                      </a:pPr>
                      <a:endParaRPr lang="en-US" sz="1800" b="1">
                        <a:latin typeface="宋体" panose="02010600030101010101" pitchFamily="2" charset="-122"/>
                        <a:ea typeface="宋体" panose="02010600030101010101" pitchFamily="2" charset="-122"/>
                        <a:cs typeface="宋体" panose="02010600030101010101" pitchFamily="2" charset="-122"/>
                      </a:endParaRPr>
                    </a:p>
                    <a:p>
                      <a:pPr algn="ctr">
                        <a:buNone/>
                      </a:pPr>
                      <a:endParaRPr lang="en-US" sz="1800" b="1">
                        <a:latin typeface="宋体" panose="02010600030101010101" pitchFamily="2" charset="-122"/>
                        <a:ea typeface="宋体" panose="02010600030101010101" pitchFamily="2" charset="-122"/>
                        <a:cs typeface="宋体" panose="02010600030101010101" pitchFamily="2" charset="-122"/>
                      </a:endParaRPr>
                    </a:p>
                    <a:p>
                      <a:pPr algn="l">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 机会与威胁</a:t>
                      </a: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优势</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(1)资金</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(2)进入这个市场较早</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(3)有比较完整的销售网络 </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(4)统计技术比较先进</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(5)居于市场领先地位,占有投资咨询行业相当的份额 </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劣势</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(1)监控系统是模拟式</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(2)成本较高</a:t>
                      </a:r>
                      <a:endParaRPr lang="en-US" sz="1800">
                        <a:latin typeface="宋体" panose="02010600030101010101" pitchFamily="2" charset="-122"/>
                        <a:ea typeface="宋体" panose="02010600030101010101" pitchFamily="2" charset="-122"/>
                        <a:cs typeface="宋体" panose="02010600030101010101" pitchFamily="2" charset="-122"/>
                      </a:endParaRPr>
                    </a:p>
                    <a:p>
                      <a:pPr algn="ctr">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(3)一次性投入大</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158240">
                <a:tc>
                  <a:txBody>
                    <a:bodyPr/>
                    <a:p>
                      <a:pPr algn="ctr">
                        <a:lnSpc>
                          <a:spcPct val="105000"/>
                        </a:lnSpc>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机会</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(1)中国市场化进程向纵深发展</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(2)电视台市场化程度不断提高</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(3)其他城市需求也在扩大</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lnSpc>
                          <a:spcPct val="105000"/>
                        </a:lnSpc>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 SO战略</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应该以市场主导的身份力争扩大市场供给以满足日益增大的市场需求</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WO战略</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应该努力降低成本,以更低的价格抢占市场</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41880">
                <a:tc>
                  <a:txBody>
                    <a:bodyPr/>
                    <a:p>
                      <a:pPr algn="ctr">
                        <a:lnSpc>
                          <a:spcPct val="105000"/>
                        </a:lnSpc>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威胁</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(1)由于地方保护主义,致使有些分市场难以进入</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(2)竞争者的实力相对较强,使得我们在竞争中处于更加不利的位置</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(3)日记形式的监测系统因为成本较低依然占据一定的市场空间</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lnSpc>
                          <a:spcPct val="105000"/>
                        </a:lnSpc>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ST战略</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应该首先进入市场化程度较高的沿海大城市。应该用更快的速度抢占市场,逐步更新设备。</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WT战略</a:t>
                      </a: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endParaRPr lang="en-US" sz="1800">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pPr>
                      <a:r>
                        <a:rPr lang="en-US" sz="1800">
                          <a:solidFill>
                            <a:srgbClr val="000000"/>
                          </a:solidFill>
                          <a:latin typeface="宋体" panose="02010600030101010101" pitchFamily="2" charset="-122"/>
                          <a:ea typeface="宋体" panose="02010600030101010101" pitchFamily="2" charset="-122"/>
                          <a:cs typeface="宋体" panose="02010600030101010101" pitchFamily="2" charset="-122"/>
                        </a:rPr>
                        <a:t>应该先用模拟式的监测设备抢占市场,然后再根据电视数字化的进程逐步进入市场</a:t>
                      </a:r>
                      <a:endParaRPr lang="en-US" altLang="en-US" sz="18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90" marR="6859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cxnSp>
        <p:nvCxnSpPr>
          <p:cNvPr id="9" name="直接连接符 8"/>
          <p:cNvCxnSpPr/>
          <p:nvPr/>
        </p:nvCxnSpPr>
        <p:spPr>
          <a:xfrm>
            <a:off x="1986280" y="1998345"/>
            <a:ext cx="3715385" cy="1144270"/>
          </a:xfrm>
          <a:prstGeom prst="line">
            <a:avLst/>
          </a:prstGeom>
        </p:spPr>
        <p:style>
          <a:lnRef idx="1">
            <a:srgbClr val="000000"/>
          </a:lnRef>
          <a:fillRef idx="0">
            <a:srgbClr val="000000"/>
          </a:fillRef>
          <a:effectRef idx="0">
            <a:srgbClr val="000000"/>
          </a:effectRef>
          <a:fontRef idx="minor">
            <a:srgbClr val="000000"/>
          </a:fontRef>
        </p:style>
      </p:cxnSp>
      <p:cxnSp>
        <p:nvCxnSpPr>
          <p:cNvPr id="8" name="直接连接符 7"/>
          <p:cNvCxnSpPr/>
          <p:nvPr/>
        </p:nvCxnSpPr>
        <p:spPr>
          <a:xfrm>
            <a:off x="1986280" y="707390"/>
            <a:ext cx="3801745" cy="2478405"/>
          </a:xfrm>
          <a:prstGeom prst="line">
            <a:avLst/>
          </a:prstGeom>
        </p:spPr>
        <p:style>
          <a:lnRef idx="1">
            <a:srgbClr val="000000"/>
          </a:lnRef>
          <a:fillRef idx="0">
            <a:srgbClr val="000000"/>
          </a:fillRef>
          <a:effectRef idx="0">
            <a:srgbClr val="000000"/>
          </a:effectRef>
          <a:fontRef idx="minor">
            <a:srgbClr val="000000"/>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6" name="文本框 10"/>
          <p:cNvSpPr txBox="1"/>
          <p:nvPr/>
        </p:nvSpPr>
        <p:spPr>
          <a:xfrm>
            <a:off x="365125" y="59055"/>
            <a:ext cx="11580495" cy="6739255"/>
          </a:xfrm>
          <a:prstGeom prst="rect">
            <a:avLst/>
          </a:prstGeom>
          <a:noFill/>
          <a:ln w="9525">
            <a:noFill/>
          </a:ln>
        </p:spPr>
        <p:txBody>
          <a:bodyPr wrap="square" anchor="t" anchorCtr="0">
            <a:spAutoFit/>
          </a:bodyPr>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SWOT分析的优点：在商业环境与企业战略之间建立起明确联系。</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SWOT分析的缺点：</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（1）对于业务方向的选择，SWOT未能准确揭示任意特定外部因素或外部因素结构的战略含义是什么。 </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（2）SWOT只是指出业务方向的选择受到外部环境因素的限制，特别是由环境引起的机会或威胁的限制，而没有直接把特定的组织特征与特定的环境因素联系起来，进而确定最适当的战略方向。</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（3）由于SWOT分析一开始就提出企业存在的优势和劣势，它在业务安排上倾向于选择</a:t>
            </a:r>
            <a:r>
              <a:rPr lang="zh-CN" altLang="en-US" sz="2400" dirty="0">
                <a:solidFill>
                  <a:srgbClr val="FF0000"/>
                </a:solidFill>
                <a:latin typeface="微软雅黑" panose="020B0503020204020204" pitchFamily="34" charset="-122"/>
                <a:ea typeface="微软雅黑" panose="020B0503020204020204" pitchFamily="34" charset="-122"/>
              </a:rPr>
              <a:t>增量变动战略</a:t>
            </a:r>
            <a:r>
              <a:rPr lang="zh-CN" altLang="en-US" sz="2400" dirty="0">
                <a:solidFill>
                  <a:srgbClr val="1570C1"/>
                </a:solidFill>
                <a:latin typeface="微软雅黑" panose="020B0503020204020204" pitchFamily="34" charset="-122"/>
                <a:ea typeface="微软雅黑" panose="020B0503020204020204" pitchFamily="34" charset="-122"/>
              </a:rPr>
              <a:t>。在基于现有知识有效利用的竞争中，增量改进是合适的，但在整体上并不适合于以根本性变动为基础的竞争——以</a:t>
            </a:r>
            <a:r>
              <a:rPr lang="zh-CN" altLang="en-US" sz="2400" dirty="0">
                <a:solidFill>
                  <a:srgbClr val="FF0000"/>
                </a:solidFill>
                <a:latin typeface="微软雅黑" panose="020B0503020204020204" pitchFamily="34" charset="-122"/>
                <a:ea typeface="微软雅黑" panose="020B0503020204020204" pitchFamily="34" charset="-122"/>
              </a:rPr>
              <a:t>新的、有用的、无法模仿的知识</a:t>
            </a:r>
            <a:r>
              <a:rPr lang="zh-CN" altLang="en-US" sz="2400" dirty="0">
                <a:solidFill>
                  <a:srgbClr val="1570C1"/>
                </a:solidFill>
                <a:latin typeface="微软雅黑" panose="020B0503020204020204" pitchFamily="34" charset="-122"/>
                <a:ea typeface="微软雅黑" panose="020B0503020204020204" pitchFamily="34" charset="-122"/>
              </a:rPr>
              <a:t>为基础的竞争（即熊彼特式竞争（Schumpeterian competition）的一种形式）。</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wipe(left)">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1861" name="文本框 2"/>
          <p:cNvSpPr txBox="1"/>
          <p:nvPr/>
        </p:nvSpPr>
        <p:spPr>
          <a:xfrm>
            <a:off x="292100" y="244475"/>
            <a:ext cx="677863" cy="1884363"/>
          </a:xfrm>
          <a:prstGeom prst="rect">
            <a:avLst/>
          </a:prstGeom>
          <a:noFill/>
          <a:ln w="9525">
            <a:noFill/>
          </a:ln>
        </p:spPr>
        <p:txBody>
          <a:bodyPr vert="eaVert" anchor="t" anchorCtr="0">
            <a:spAutoFit/>
          </a:bodyPr>
          <a:p>
            <a:pPr algn="dist"/>
            <a:r>
              <a:rPr lang="zh-CN" altLang="en-US" sz="3200" b="1" dirty="0">
                <a:solidFill>
                  <a:srgbClr val="FFFFFF"/>
                </a:solidFill>
                <a:latin typeface="微软雅黑" panose="020B0503020204020204" pitchFamily="34" charset="-122"/>
                <a:ea typeface="微软雅黑" panose="020B0503020204020204" pitchFamily="34" charset="-122"/>
              </a:rPr>
              <a:t>复习思考</a:t>
            </a:r>
            <a:endParaRPr lang="zh-CN" altLang="en-US" sz="3200" b="1" dirty="0">
              <a:solidFill>
                <a:srgbClr val="FFFFFF"/>
              </a:solidFill>
              <a:latin typeface="微软雅黑" panose="020B0503020204020204" pitchFamily="34" charset="-122"/>
              <a:ea typeface="微软雅黑" panose="020B0503020204020204" pitchFamily="34" charset="-122"/>
            </a:endParaRPr>
          </a:p>
        </p:txBody>
      </p:sp>
      <p:sp>
        <p:nvSpPr>
          <p:cNvPr id="17416" name="文本框 10"/>
          <p:cNvSpPr txBox="1"/>
          <p:nvPr/>
        </p:nvSpPr>
        <p:spPr>
          <a:xfrm>
            <a:off x="2139950" y="1536700"/>
            <a:ext cx="9283700" cy="3968750"/>
          </a:xfrm>
          <a:prstGeom prst="rect">
            <a:avLst/>
          </a:prstGeom>
          <a:noFill/>
          <a:ln w="9525">
            <a:noFill/>
          </a:ln>
        </p:spPr>
        <p:txBody>
          <a:bodyPr anchor="t" anchorCtr="0">
            <a:spAutoFit/>
          </a:bodyPr>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企业资源的内涵是什么？如何判断一项资源是否具备竞争价值？</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企业能力分析的内容与方法有哪些？</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什么是价值链？如何通过价值链分析建立企业竞争优势？</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什么是战略成本？如何利用价值链实施战略成本管理？</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什么是企业核心能力？企业应如何培育核心能力？</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什么是企业动态能力？如何培育企业动态能力？</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如何在战略制定过程中正确运用SWOT方法进行分析？</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wipe(left)">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0"/>
            <a:ext cx="2971800" cy="2971800"/>
          </a:xfrm>
          <a:prstGeom prst="rect">
            <a:avLst/>
          </a:prstGeom>
        </p:spPr>
      </p:pic>
      <p:sp>
        <p:nvSpPr>
          <p:cNvPr id="105475" name="文本框 2"/>
          <p:cNvSpPr txBox="1"/>
          <p:nvPr/>
        </p:nvSpPr>
        <p:spPr>
          <a:xfrm>
            <a:off x="314325" y="306388"/>
            <a:ext cx="674688" cy="1360487"/>
          </a:xfrm>
          <a:prstGeom prst="rect">
            <a:avLst/>
          </a:prstGeom>
          <a:noFill/>
          <a:ln w="9525">
            <a:noFill/>
          </a:ln>
        </p:spPr>
        <p:txBody>
          <a:bodyPr vert="eaVert" wrap="square" anchor="t" anchorCtr="0">
            <a:spAutoFit/>
          </a:bodyPr>
          <a:p>
            <a:pPr algn="dist"/>
            <a:r>
              <a:rPr lang="zh-CN" altLang="en-US" sz="3200" b="1">
                <a:solidFill>
                  <a:srgbClr val="FFFFFF"/>
                </a:solidFill>
                <a:latin typeface="微软雅黑" panose="020B0503020204020204" pitchFamily="34" charset="-122"/>
                <a:ea typeface="微软雅黑" panose="020B0503020204020204" pitchFamily="34" charset="-122"/>
              </a:rPr>
              <a:t>小测验</a:t>
            </a:r>
            <a:endParaRPr lang="zh-CN" altLang="en-US" sz="3200" b="1">
              <a:solidFill>
                <a:srgbClr val="FFFFFF"/>
              </a:solidFill>
              <a:latin typeface="微软雅黑" panose="020B0503020204020204" pitchFamily="34" charset="-122"/>
              <a:ea typeface="微软雅黑" panose="020B0503020204020204" pitchFamily="34" charset="-122"/>
            </a:endParaRPr>
          </a:p>
        </p:txBody>
      </p:sp>
      <p:sp>
        <p:nvSpPr>
          <p:cNvPr id="4" name="内容占位符 2"/>
          <p:cNvSpPr>
            <a:spLocks noGrp="1"/>
          </p:cNvSpPr>
          <p:nvPr/>
        </p:nvSpPr>
        <p:spPr>
          <a:xfrm>
            <a:off x="989330" y="213360"/>
            <a:ext cx="11102340" cy="6431280"/>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indent="0" algn="just" defTabSz="914400" rtl="0" eaLnBrk="0" fontAlgn="base" latinLnBrk="0" hangingPunct="0">
              <a:lnSpc>
                <a:spcPct val="150000"/>
              </a:lnSpc>
              <a:spcBef>
                <a:spcPts val="1000"/>
              </a:spcBef>
              <a:spcAft>
                <a:spcPct val="0"/>
              </a:spcAft>
              <a:buClrTx/>
              <a:buSzTx/>
              <a:buFont typeface="Arial" panose="020B0604020202020204" pitchFamily="34" charset="0"/>
              <a:buChar char="•"/>
            </a:pPr>
            <a:r>
              <a:rPr kumimoji="0" lang="zh-CN" altLang="en-US" sz="2800" b="1" i="0" u="none" strike="noStrike" kern="1200" cap="none" spc="0" normalizeH="0" baseline="0" noProof="1">
                <a:solidFill>
                  <a:schemeClr val="tx1"/>
                </a:solidFill>
                <a:latin typeface="+mn-lt"/>
                <a:ea typeface="+mn-ea"/>
                <a:cs typeface="+mn-cs"/>
              </a:rPr>
              <a:t>（</a:t>
            </a:r>
            <a:r>
              <a:rPr kumimoji="0" lang="en-US" altLang="zh-CN" sz="2800" b="1" i="0" u="none" strike="noStrike" kern="1200" cap="none" spc="0" normalizeH="0" baseline="0" noProof="1">
                <a:solidFill>
                  <a:schemeClr val="tx1"/>
                </a:solidFill>
                <a:latin typeface="+mn-lt"/>
                <a:ea typeface="+mn-ea"/>
                <a:cs typeface="+mn-cs"/>
              </a:rPr>
              <a:t>1</a:t>
            </a:r>
            <a:r>
              <a:rPr kumimoji="0" lang="zh-CN" altLang="en-US" sz="2800" b="1" i="0" u="none" strike="noStrike" kern="1200" cap="none" spc="0" normalizeH="0" baseline="0" noProof="1">
                <a:solidFill>
                  <a:schemeClr val="tx1"/>
                </a:solidFill>
                <a:latin typeface="+mn-lt"/>
                <a:ea typeface="+mn-ea"/>
                <a:cs typeface="+mn-cs"/>
              </a:rPr>
              <a:t>）核心能力犹如一个技能源，由此向外发散，为顾客不断提供新的产品或服务，这反映其（ </a:t>
            </a:r>
            <a:r>
              <a:rPr kumimoji="0" lang="en-US" altLang="zh-CN" sz="2800" b="1" i="0" u="none" strike="noStrike" kern="1200" cap="none" spc="0" normalizeH="0" baseline="0" noProof="1">
                <a:solidFill>
                  <a:schemeClr val="tx1"/>
                </a:solidFill>
                <a:latin typeface="+mn-lt"/>
                <a:ea typeface="+mn-ea"/>
                <a:cs typeface="+mn-cs"/>
              </a:rPr>
              <a:t> </a:t>
            </a:r>
            <a:r>
              <a:rPr kumimoji="0" lang="zh-CN" altLang="en-US" sz="2800" b="1" i="0" u="none" strike="noStrike" kern="1200" cap="none" spc="0" normalizeH="0" baseline="0" noProof="1">
                <a:solidFill>
                  <a:schemeClr val="tx1"/>
                </a:solidFill>
                <a:latin typeface="+mn-lt"/>
                <a:ea typeface="+mn-ea"/>
                <a:cs typeface="+mn-cs"/>
              </a:rPr>
              <a:t> ）。</a:t>
            </a:r>
            <a:endParaRPr kumimoji="0" lang="zh-CN" altLang="en-US" sz="2800" b="1" i="0" u="none" strike="noStrike" kern="1200" cap="none" spc="0" normalizeH="0" baseline="0" noProof="1">
              <a:solidFill>
                <a:schemeClr val="tx1"/>
              </a:solidFill>
              <a:latin typeface="+mn-lt"/>
              <a:ea typeface="+mn-ea"/>
              <a:cs typeface="+mn-cs"/>
            </a:endParaRPr>
          </a:p>
          <a:p>
            <a:pPr marL="228600" marR="0" indent="0" algn="just" defTabSz="914400" rtl="0" eaLnBrk="0" fontAlgn="base" latinLnBrk="0" hangingPunct="0">
              <a:lnSpc>
                <a:spcPct val="150000"/>
              </a:lnSpc>
              <a:spcBef>
                <a:spcPts val="1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n-lt"/>
                <a:ea typeface="+mn-ea"/>
                <a:cs typeface="+mn-cs"/>
              </a:rPr>
              <a:t>A</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延展性  </a:t>
            </a:r>
            <a:r>
              <a:rPr kumimoji="0" lang="en-US" altLang="zh-CN" sz="2800" b="0" i="0" u="none" strike="noStrike" kern="1200" cap="none" spc="0" normalizeH="0" baseline="0" noProof="1">
                <a:solidFill>
                  <a:schemeClr val="tx1"/>
                </a:solidFill>
                <a:latin typeface="+mn-lt"/>
                <a:ea typeface="+mn-ea"/>
                <a:cs typeface="+mn-cs"/>
              </a:rPr>
              <a:t> </a:t>
            </a:r>
            <a:r>
              <a:rPr kumimoji="0" lang="zh-CN" altLang="en-US" sz="2800" b="0" i="0" u="none" strike="noStrike" kern="1200" cap="none" spc="0" normalizeH="0" baseline="0" noProof="1">
                <a:solidFill>
                  <a:schemeClr val="tx1"/>
                </a:solidFill>
                <a:latin typeface="+mn-lt"/>
                <a:ea typeface="+mn-ea"/>
                <a:cs typeface="+mn-cs"/>
              </a:rPr>
              <a:t>B</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独特性  </a:t>
            </a:r>
            <a:r>
              <a:rPr kumimoji="0" lang="en-US" altLang="zh-CN" sz="2800" b="0" i="0" u="none" strike="noStrike" kern="1200" cap="none" spc="0" normalizeH="0" baseline="0" noProof="1">
                <a:solidFill>
                  <a:schemeClr val="tx1"/>
                </a:solidFill>
                <a:latin typeface="+mn-lt"/>
                <a:ea typeface="+mn-ea"/>
                <a:cs typeface="+mn-cs"/>
              </a:rPr>
              <a:t> </a:t>
            </a:r>
            <a:r>
              <a:rPr kumimoji="0" lang="zh-CN" altLang="en-US" sz="2800" b="0" i="0" u="none" strike="noStrike" kern="1200" cap="none" spc="0" normalizeH="0" baseline="0" noProof="1">
                <a:solidFill>
                  <a:schemeClr val="tx1"/>
                </a:solidFill>
                <a:latin typeface="+mn-lt"/>
                <a:ea typeface="+mn-ea"/>
                <a:cs typeface="+mn-cs"/>
              </a:rPr>
              <a:t>C</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不可替代性  </a:t>
            </a:r>
            <a:r>
              <a:rPr kumimoji="0" lang="en-US" altLang="zh-CN" sz="2800" b="0" i="0" u="none" strike="noStrike" kern="1200" cap="none" spc="0" normalizeH="0" baseline="0" noProof="1">
                <a:solidFill>
                  <a:schemeClr val="tx1"/>
                </a:solidFill>
                <a:latin typeface="+mn-lt"/>
                <a:ea typeface="+mn-ea"/>
                <a:cs typeface="+mn-cs"/>
              </a:rPr>
              <a:t> </a:t>
            </a:r>
            <a:r>
              <a:rPr kumimoji="0" lang="zh-CN" altLang="en-US" sz="2800" b="0" i="0" u="none" strike="noStrike" kern="1200" cap="none" spc="0" normalizeH="0" baseline="0" noProof="1">
                <a:solidFill>
                  <a:schemeClr val="tx1"/>
                </a:solidFill>
                <a:latin typeface="+mn-lt"/>
                <a:ea typeface="+mn-ea"/>
                <a:cs typeface="+mn-cs"/>
              </a:rPr>
              <a:t>D</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价值</a:t>
            </a:r>
            <a:r>
              <a:rPr kumimoji="0" lang="zh-CN" altLang="en-US" sz="2800" b="0" i="0" u="none" strike="noStrike" kern="1200" cap="none" spc="0" normalizeH="0" baseline="0" noProof="1">
                <a:solidFill>
                  <a:schemeClr val="tx1"/>
                </a:solidFill>
                <a:latin typeface="+mn-lt"/>
                <a:ea typeface="+mn-ea"/>
                <a:cs typeface="+mn-cs"/>
              </a:rPr>
              <a:t>性</a:t>
            </a:r>
            <a:endParaRPr kumimoji="0" lang="zh-CN" altLang="en-US" sz="2800" b="0" i="0" u="none" strike="noStrike" kern="1200" cap="none" spc="0" normalizeH="0" baseline="0" noProof="1">
              <a:solidFill>
                <a:schemeClr val="tx1"/>
              </a:solidFill>
              <a:latin typeface="+mn-lt"/>
              <a:ea typeface="+mn-ea"/>
              <a:cs typeface="+mn-cs"/>
            </a:endParaRPr>
          </a:p>
          <a:p>
            <a:pPr marL="228600" marR="0" indent="0" algn="just" defTabSz="914400" rtl="0" eaLnBrk="0" fontAlgn="base" latinLnBrk="0" hangingPunct="0">
              <a:lnSpc>
                <a:spcPct val="150000"/>
              </a:lnSpc>
              <a:spcBef>
                <a:spcPts val="1000"/>
              </a:spcBef>
              <a:spcAft>
                <a:spcPct val="0"/>
              </a:spcAft>
              <a:buClrTx/>
              <a:buSzTx/>
              <a:buFont typeface="Arial" panose="020B0604020202020204" pitchFamily="34" charset="0"/>
              <a:buChar char="•"/>
            </a:pPr>
            <a:r>
              <a:rPr kumimoji="0" lang="zh-CN" altLang="en-US" sz="2800" b="1" i="0" u="none" strike="noStrike" kern="1200" cap="none" spc="0" normalizeH="0" baseline="0" noProof="1">
                <a:solidFill>
                  <a:schemeClr val="tx1"/>
                </a:solidFill>
                <a:latin typeface="+mn-lt"/>
                <a:ea typeface="+mn-ea"/>
                <a:cs typeface="+mn-cs"/>
              </a:rPr>
              <a:t>（</a:t>
            </a:r>
            <a:r>
              <a:rPr kumimoji="0" lang="en-US" altLang="zh-CN" sz="2800" b="1" i="0" u="none" strike="noStrike" kern="1200" cap="none" spc="0" normalizeH="0" baseline="0" noProof="1">
                <a:solidFill>
                  <a:schemeClr val="tx1"/>
                </a:solidFill>
                <a:latin typeface="+mn-lt"/>
                <a:ea typeface="+mn-ea"/>
                <a:cs typeface="+mn-cs"/>
              </a:rPr>
              <a:t>2</a:t>
            </a:r>
            <a:r>
              <a:rPr kumimoji="0" lang="zh-CN" altLang="en-US" sz="2800" b="1" i="0" u="none" strike="noStrike" kern="1200" cap="none" spc="0" normalizeH="0" baseline="0" noProof="1">
                <a:solidFill>
                  <a:schemeClr val="tx1"/>
                </a:solidFill>
                <a:latin typeface="+mn-lt"/>
                <a:ea typeface="+mn-ea"/>
                <a:cs typeface="+mn-cs"/>
              </a:rPr>
              <a:t>）与接收存储和分配相关联的各种活动，如原材料搬运、仓储、库存控制、车辆调度和向供应商退货，这是（ </a:t>
            </a:r>
            <a:r>
              <a:rPr kumimoji="0" lang="en-US" altLang="zh-CN" sz="2800" b="1" i="0" u="none" strike="noStrike" kern="1200" cap="none" spc="0" normalizeH="0" baseline="0" noProof="1">
                <a:solidFill>
                  <a:schemeClr val="tx1"/>
                </a:solidFill>
                <a:latin typeface="+mn-lt"/>
                <a:ea typeface="+mn-ea"/>
                <a:cs typeface="+mn-cs"/>
              </a:rPr>
              <a:t> </a:t>
            </a:r>
            <a:r>
              <a:rPr kumimoji="0" lang="zh-CN" altLang="en-US" sz="2800" b="1" i="0" u="none" strike="noStrike" kern="1200" cap="none" spc="0" normalizeH="0" baseline="0" noProof="1">
                <a:solidFill>
                  <a:schemeClr val="tx1"/>
                </a:solidFill>
                <a:latin typeface="+mn-lt"/>
                <a:ea typeface="+mn-ea"/>
                <a:cs typeface="+mn-cs"/>
              </a:rPr>
              <a:t> ）。</a:t>
            </a:r>
            <a:endParaRPr kumimoji="0" lang="zh-CN" altLang="en-US" sz="2800" b="1" i="0" u="none" strike="noStrike" kern="1200" cap="none" spc="0" normalizeH="0" baseline="0" noProof="1">
              <a:solidFill>
                <a:schemeClr val="tx1"/>
              </a:solidFill>
              <a:latin typeface="+mn-lt"/>
              <a:ea typeface="+mn-ea"/>
              <a:cs typeface="+mn-cs"/>
            </a:endParaRPr>
          </a:p>
          <a:p>
            <a:pPr marL="228600" marR="0" indent="0" algn="just" defTabSz="914400" rtl="0" eaLnBrk="0" fontAlgn="base" latinLnBrk="0" hangingPunct="0">
              <a:lnSpc>
                <a:spcPct val="150000"/>
              </a:lnSpc>
              <a:spcBef>
                <a:spcPts val="1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n-lt"/>
                <a:ea typeface="+mn-ea"/>
                <a:cs typeface="+mn-cs"/>
              </a:rPr>
              <a:t>A</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生产作业  B</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输入物流 </a:t>
            </a:r>
            <a:r>
              <a:rPr kumimoji="0" lang="en-US" altLang="zh-CN" sz="2800" b="0" i="0" u="none" strike="noStrike" kern="1200" cap="none" spc="0" normalizeH="0" baseline="0" noProof="1">
                <a:solidFill>
                  <a:schemeClr val="tx1"/>
                </a:solidFill>
                <a:latin typeface="+mn-lt"/>
                <a:ea typeface="+mn-ea"/>
                <a:cs typeface="+mn-cs"/>
              </a:rPr>
              <a:t> </a:t>
            </a:r>
            <a:r>
              <a:rPr kumimoji="0" lang="zh-CN" altLang="en-US" sz="2800" b="0" i="0" u="none" strike="noStrike" kern="1200" cap="none" spc="0" normalizeH="0" baseline="0" noProof="1">
                <a:solidFill>
                  <a:schemeClr val="tx1"/>
                </a:solidFill>
                <a:latin typeface="+mn-lt"/>
                <a:ea typeface="+mn-ea"/>
                <a:cs typeface="+mn-cs"/>
              </a:rPr>
              <a:t>C</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外部后勤   D</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服务</a:t>
            </a:r>
            <a:endParaRPr kumimoji="0" lang="zh-CN" altLang="en-US" sz="2800" b="0" i="0" u="none" strike="noStrike" kern="1200" cap="none" spc="0" normalizeH="0" baseline="0" noProof="1">
              <a:solidFill>
                <a:schemeClr val="tx1"/>
              </a:solidFill>
              <a:latin typeface="+mn-lt"/>
              <a:ea typeface="+mn-ea"/>
              <a:cs typeface="+mn-cs"/>
            </a:endParaRPr>
          </a:p>
          <a:p>
            <a:pPr marL="228600" marR="0" indent="0" algn="just" defTabSz="914400" rtl="0" eaLnBrk="0" fontAlgn="base" latinLnBrk="0" hangingPunct="0">
              <a:lnSpc>
                <a:spcPct val="150000"/>
              </a:lnSpc>
              <a:spcBef>
                <a:spcPts val="1000"/>
              </a:spcBef>
              <a:spcAft>
                <a:spcPct val="0"/>
              </a:spcAft>
              <a:buClrTx/>
              <a:buSzTx/>
              <a:buFont typeface="Arial" panose="020B0604020202020204" pitchFamily="34" charset="0"/>
              <a:buChar char="•"/>
            </a:pPr>
            <a:r>
              <a:rPr kumimoji="0" lang="zh-CN" altLang="en-US" sz="2800" b="1" i="0" u="none" strike="noStrike" kern="1200" cap="none" spc="0" normalizeH="0" baseline="0" noProof="1">
                <a:solidFill>
                  <a:schemeClr val="tx1"/>
                </a:solidFill>
                <a:latin typeface="+mn-lt"/>
                <a:ea typeface="+mn-ea"/>
                <a:cs typeface="+mn-cs"/>
              </a:rPr>
              <a:t>（</a:t>
            </a:r>
            <a:r>
              <a:rPr kumimoji="0" lang="en-US" altLang="zh-CN" sz="2800" b="1" i="0" u="none" strike="noStrike" kern="1200" cap="none" spc="0" normalizeH="0" baseline="0" noProof="1">
                <a:solidFill>
                  <a:schemeClr val="tx1"/>
                </a:solidFill>
                <a:latin typeface="+mn-lt"/>
                <a:ea typeface="+mn-ea"/>
                <a:cs typeface="+mn-cs"/>
              </a:rPr>
              <a:t>3</a:t>
            </a:r>
            <a:r>
              <a:rPr kumimoji="0" lang="zh-CN" altLang="en-US" sz="2800" b="1" i="0" u="none" strike="noStrike" kern="1200" cap="none" spc="0" normalizeH="0" baseline="0" noProof="1">
                <a:solidFill>
                  <a:schemeClr val="tx1"/>
                </a:solidFill>
                <a:latin typeface="+mn-lt"/>
                <a:ea typeface="+mn-ea"/>
                <a:cs typeface="+mn-cs"/>
              </a:rPr>
              <a:t>）经营能力、技术诀窍、创新能力、企业形象和声誉、专利、版权商标、商业机密等是（ </a:t>
            </a:r>
            <a:r>
              <a:rPr kumimoji="0" lang="en-US" altLang="zh-CN" sz="2800" b="1" i="0" u="none" strike="noStrike" kern="1200" cap="none" spc="0" normalizeH="0" baseline="0" noProof="1">
                <a:solidFill>
                  <a:schemeClr val="tx1"/>
                </a:solidFill>
                <a:latin typeface="+mn-lt"/>
                <a:ea typeface="+mn-ea"/>
                <a:cs typeface="+mn-cs"/>
              </a:rPr>
              <a:t> </a:t>
            </a:r>
            <a:r>
              <a:rPr kumimoji="0" lang="zh-CN" altLang="en-US" sz="2800" b="1" i="0" u="none" strike="noStrike" kern="1200" cap="none" spc="0" normalizeH="0" baseline="0" noProof="1">
                <a:solidFill>
                  <a:schemeClr val="tx1"/>
                </a:solidFill>
                <a:latin typeface="+mn-lt"/>
                <a:ea typeface="+mn-ea"/>
                <a:cs typeface="+mn-cs"/>
              </a:rPr>
              <a:t> ）。</a:t>
            </a:r>
            <a:endParaRPr kumimoji="0" lang="zh-CN" altLang="en-US" sz="2800" b="1" i="0" u="none" strike="noStrike" kern="1200" cap="none" spc="0" normalizeH="0" baseline="0" noProof="1">
              <a:solidFill>
                <a:schemeClr val="tx1"/>
              </a:solidFill>
              <a:latin typeface="+mn-lt"/>
              <a:ea typeface="+mn-ea"/>
              <a:cs typeface="+mn-cs"/>
            </a:endParaRPr>
          </a:p>
          <a:p>
            <a:pPr marL="228600" marR="0" indent="0" algn="just" defTabSz="914400" rtl="0" eaLnBrk="0" fontAlgn="base" latinLnBrk="0" hangingPunct="0">
              <a:lnSpc>
                <a:spcPct val="150000"/>
              </a:lnSpc>
              <a:spcBef>
                <a:spcPts val="1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n-lt"/>
                <a:ea typeface="+mn-ea"/>
                <a:cs typeface="+mn-cs"/>
              </a:rPr>
              <a:t> </a:t>
            </a:r>
            <a:r>
              <a:rPr kumimoji="0" lang="en-US" altLang="zh-CN" sz="2800" b="0" i="0" u="none" strike="noStrike" kern="1200" cap="none" spc="0" normalizeH="0" baseline="0" noProof="1">
                <a:solidFill>
                  <a:schemeClr val="tx1"/>
                </a:solidFill>
                <a:latin typeface="+mn-lt"/>
                <a:ea typeface="+mn-ea"/>
                <a:cs typeface="+mn-cs"/>
              </a:rPr>
              <a:t>A.</a:t>
            </a:r>
            <a:r>
              <a:rPr kumimoji="0" lang="zh-CN" altLang="en-US" sz="2800" b="0" i="0" u="none" strike="noStrike" kern="1200" cap="none" spc="0" normalizeH="0" baseline="0" noProof="1">
                <a:solidFill>
                  <a:schemeClr val="tx1"/>
                </a:solidFill>
                <a:latin typeface="+mn-lt"/>
                <a:ea typeface="+mn-ea"/>
                <a:cs typeface="+mn-cs"/>
              </a:rPr>
              <a:t>有形资源  B</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无形资源  C</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人力资源   D</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核心能力</a:t>
            </a:r>
            <a:endParaRPr kumimoji="0" lang="zh-CN" altLang="en-US" sz="2800" b="0" i="0" u="none" strike="noStrike" kern="1200" cap="none" spc="0" normalizeH="0" baseline="0" noProof="1">
              <a:solidFill>
                <a:schemeClr val="tx1"/>
              </a:solidFill>
              <a:latin typeface="+mn-lt"/>
              <a:ea typeface="+mn-ea"/>
              <a:cs typeface="+mn-cs"/>
            </a:endParaRPr>
          </a:p>
          <a:p>
            <a:pPr marL="228600" marR="0" indent="0" algn="l" defTabSz="914400" rtl="0" eaLnBrk="0" fontAlgn="base" latinLnBrk="0" hangingPunct="0">
              <a:lnSpc>
                <a:spcPct val="150000"/>
              </a:lnSpc>
              <a:spcBef>
                <a:spcPts val="1000"/>
              </a:spcBef>
              <a:spcAft>
                <a:spcPct val="0"/>
              </a:spcAft>
              <a:buClrTx/>
              <a:buSzTx/>
              <a:buFont typeface="Arial" panose="020B0604020202020204" pitchFamily="34" charset="0"/>
              <a:buNone/>
            </a:pPr>
            <a:endParaRPr kumimoji="0" lang="zh-CN" altLang="en-US" sz="2800" b="0" i="0" u="none" strike="noStrike" kern="1200" cap="none" spc="0" normalizeH="0" baseline="0" noProof="1">
              <a:solidFill>
                <a:schemeClr val="tx1"/>
              </a:solidFill>
              <a:latin typeface="+mn-lt"/>
              <a:ea typeface="+mn-ea"/>
              <a:cs typeface="+mn-cs"/>
            </a:endParaRPr>
          </a:p>
          <a:p>
            <a:pPr marL="228600" marR="0" indent="0" algn="l" defTabSz="914400" rtl="0" eaLnBrk="0" fontAlgn="base" latinLnBrk="0" hangingPunct="0">
              <a:lnSpc>
                <a:spcPct val="150000"/>
              </a:lnSpc>
              <a:spcBef>
                <a:spcPts val="1000"/>
              </a:spcBef>
              <a:spcAft>
                <a:spcPct val="0"/>
              </a:spcAft>
              <a:buClrTx/>
              <a:buSzTx/>
              <a:buFont typeface="Arial" panose="020B0604020202020204" pitchFamily="34" charset="0"/>
              <a:buNone/>
            </a:pPr>
            <a:endParaRPr kumimoji="0" lang="zh-CN" altLang="en-US" sz="2800" b="0" i="0" u="none" strike="noStrike" kern="1200" cap="none" spc="0" normalizeH="0" baseline="0" noProof="1">
              <a:solidFill>
                <a:schemeClr val="tx1"/>
              </a:solidFill>
              <a:latin typeface="+mn-lt"/>
              <a:ea typeface="+mn-ea"/>
              <a:cs typeface="+mn-cs"/>
            </a:endParaRPr>
          </a:p>
          <a:p>
            <a:pPr marL="228600" marR="0" indent="0" algn="l" defTabSz="914400" rtl="0" eaLnBrk="0" fontAlgn="base" latinLnBrk="0" hangingPunct="0">
              <a:lnSpc>
                <a:spcPct val="150000"/>
              </a:lnSpc>
              <a:spcBef>
                <a:spcPts val="1000"/>
              </a:spcBef>
              <a:spcAft>
                <a:spcPct val="0"/>
              </a:spcAft>
              <a:buClrTx/>
              <a:buSzTx/>
              <a:buFont typeface="Arial" panose="020B0604020202020204" pitchFamily="34" charset="0"/>
              <a:buNone/>
            </a:pPr>
            <a:endParaRPr kumimoji="0" lang="zh-CN" altLang="en-US" sz="2800" b="0" i="0" u="none" strike="noStrike" kern="1200" cap="none" spc="0" normalizeH="0" baseline="0" noProof="1">
              <a:solidFill>
                <a:schemeClr val="tx1"/>
              </a:solidFill>
              <a:latin typeface="+mn-lt"/>
              <a:ea typeface="+mn-ea"/>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276225" y="2162175"/>
            <a:ext cx="5686425" cy="1016000"/>
          </a:xfrm>
          <a:prstGeom prst="rect">
            <a:avLst/>
          </a:prstGeom>
          <a:noFill/>
          <a:ln w="9525">
            <a:noFill/>
          </a:ln>
        </p:spPr>
        <p:txBody>
          <a:bodyPr anchor="t" anchorCtr="0">
            <a:spAutoFit/>
          </a:bodyPr>
          <a:p>
            <a:pPr algn="ctr"/>
            <a:r>
              <a:rPr lang="zh-CN" altLang="en-US" sz="6000" dirty="0">
                <a:solidFill>
                  <a:srgbClr val="1570C1"/>
                </a:solidFill>
                <a:latin typeface="微软雅黑" panose="020B0503020204020204" pitchFamily="34" charset="-122"/>
                <a:ea typeface="微软雅黑" panose="020B0503020204020204" pitchFamily="34" charset="-122"/>
              </a:rPr>
              <a:t>本章完</a:t>
            </a:r>
            <a:endParaRPr lang="en-US" altLang="zh-CN" sz="6000" dirty="0">
              <a:solidFill>
                <a:srgbClr val="1570C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773863" y="2503488"/>
            <a:ext cx="4786312" cy="1014412"/>
          </a:xfrm>
          <a:prstGeom prst="rect">
            <a:avLst/>
          </a:prstGeom>
          <a:noFill/>
          <a:ln w="9525">
            <a:noFill/>
          </a:ln>
        </p:spPr>
        <p:txBody>
          <a:bodyPr anchor="t" anchorCtr="0">
            <a:spAutoFit/>
          </a:bodyPr>
          <a:p>
            <a:pPr algn="ctr"/>
            <a:r>
              <a:rPr lang="zh-CN" altLang="en-US" sz="6000" dirty="0">
                <a:solidFill>
                  <a:srgbClr val="FFFFFF"/>
                </a:solidFill>
                <a:latin typeface="微软雅黑" panose="020B0503020204020204" pitchFamily="34" charset="-122"/>
                <a:ea typeface="微软雅黑" panose="020B0503020204020204" pitchFamily="34" charset="-122"/>
              </a:rPr>
              <a:t>战略管理</a:t>
            </a:r>
            <a:endParaRPr lang="zh-CN" altLang="en-US" sz="6000" dirty="0">
              <a:solidFill>
                <a:srgbClr val="FFFFF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76225" y="3686175"/>
            <a:ext cx="5686425" cy="646113"/>
          </a:xfrm>
          <a:prstGeom prst="rect">
            <a:avLst/>
          </a:prstGeom>
          <a:noFill/>
          <a:ln w="9525">
            <a:noFill/>
          </a:ln>
        </p:spPr>
        <p:txBody>
          <a:bodyPr anchor="t" anchorCtr="0">
            <a:spAutoFit/>
          </a:bodyPr>
          <a:p>
            <a:pPr algn="ctr"/>
            <a:r>
              <a:rPr lang="zh-CN" altLang="en-US" sz="3600" dirty="0">
                <a:solidFill>
                  <a:srgbClr val="1570C1"/>
                </a:solidFill>
                <a:latin typeface="微软雅黑" panose="020B0503020204020204" pitchFamily="34" charset="-122"/>
                <a:ea typeface="微软雅黑" panose="020B0503020204020204" pitchFamily="34" charset="-122"/>
              </a:rPr>
              <a:t>谢谢观赏</a:t>
            </a:r>
            <a:endParaRPr lang="zh-CN" altLang="en-US" sz="60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tags/tag1.xml><?xml version="1.0" encoding="utf-8"?>
<p:tagLst xmlns:p="http://schemas.openxmlformats.org/presentationml/2006/main">
  <p:tag name="REFSHAPE" val="254321748"/>
</p:tagLst>
</file>

<file path=ppt/tags/tag2.xml><?xml version="1.0" encoding="utf-8"?>
<p:tagLst xmlns:p="http://schemas.openxmlformats.org/presentationml/2006/main">
  <p:tag name="REFSHAPE" val="254322292"/>
</p:tagLst>
</file>

<file path=ppt/tags/tag3.xml><?xml version="1.0" encoding="utf-8"?>
<p:tagLst xmlns:p="http://schemas.openxmlformats.org/presentationml/2006/main">
  <p:tag name="REFSHAPE" val="254321884"/>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9037_1*i*1"/>
  <p:tag name="KSO_WM_TEMPLATE_CATEGORY" val="diagram"/>
  <p:tag name="KSO_WM_TEMPLATE_INDEX" val="20209037"/>
  <p:tag name="KSO_WM_UNIT_LAYERLEVEL" val="1"/>
  <p:tag name="KSO_WM_TAG_VERSION" val="1.0"/>
  <p:tag name="KSO_WM_BEAUTIFY_FLAG" val="#wm#"/>
  <p:tag name="KSO_WM_UNIT_TYPE" val="i"/>
  <p:tag name="KSO_WM_UNIT_INDEX" val="1"/>
  <p:tag name="KSO_WM_UNIT_BLOCK" val="0"/>
  <p:tag name="KSO_WM_UNIT_SM_LIMIT_TYPE" val="1"/>
  <p:tag name="KSO_WM_UNIT_DEC_AREA_ID" val="70c41b3ee9594c52aa74d94c00919da7"/>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d969281ee359a788b1dd7"/>
  <p:tag name="KSO_WM_CHIP_XID" val="5efd969281ee359a788b1dd8"/>
  <p:tag name="KSO_WM_UNIT_FILL_FORE_SCHEMECOLOR_INDEX_BRIGHTNESS" val="0"/>
  <p:tag name="KSO_WM_UNIT_FILL_FORE_SCHEMECOLOR_INDEX" val="5"/>
  <p:tag name="KSO_WM_UNIT_FILL_TYPE" val="1"/>
  <p:tag name="KSO_WM_UNIT_VALUE" val="377"/>
  <p:tag name="KSO_WM_TEMPLATE_ASSEMBLE_XID" val="5f005aefc1e42ffd0d0a8428"/>
  <p:tag name="KSO_WM_TEMPLATE_ASSEMBLE_GROUPID" val="5f005aefc1e42ffd0d0a8428"/>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9037_1*i*2"/>
  <p:tag name="KSO_WM_TEMPLATE_CATEGORY" val="diagram"/>
  <p:tag name="KSO_WM_TEMPLATE_INDEX" val="20209037"/>
  <p:tag name="KSO_WM_UNIT_LAYERLEVEL" val="1"/>
  <p:tag name="KSO_WM_TAG_VERSION" val="1.0"/>
  <p:tag name="KSO_WM_BEAUTIFY_FLAG" val="#wm#"/>
  <p:tag name="KSO_WM_UNIT_TYPE" val="i"/>
  <p:tag name="KSO_WM_UNIT_INDEX" val="2"/>
  <p:tag name="KSO_WM_UNIT_BLOCK" val="0"/>
  <p:tag name="KSO_WM_UNIT_SM_LIMIT_TYPE" val="1"/>
  <p:tag name="KSO_WM_UNIT_DEC_AREA_ID" val="56cb0d7cf0cb4b9ca5ad780a1f9e8b47"/>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d969281ee359a788b1dd7"/>
  <p:tag name="KSO_WM_CHIP_XID" val="5efd969281ee359a788b1dd8"/>
  <p:tag name="KSO_WM_UNIT_FILL_FORE_SCHEMECOLOR_INDEX_BRIGHTNESS" val="0"/>
  <p:tag name="KSO_WM_UNIT_FILL_FORE_SCHEMECOLOR_INDEX" val="9"/>
  <p:tag name="KSO_WM_UNIT_FILL_TYPE" val="1"/>
  <p:tag name="KSO_WM_UNIT_VALUE" val="377"/>
  <p:tag name="KSO_WM_TEMPLATE_ASSEMBLE_XID" val="5f005aefc1e42ffd0d0a8428"/>
  <p:tag name="KSO_WM_TEMPLATE_ASSEMBLE_GROUPID" val="5f005aefc1e42ffd0d0a8428"/>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9037_1*i*3"/>
  <p:tag name="KSO_WM_TEMPLATE_CATEGORY" val="diagram"/>
  <p:tag name="KSO_WM_TEMPLATE_INDEX" val="20209037"/>
  <p:tag name="KSO_WM_UNIT_LAYERLEVEL" val="1"/>
  <p:tag name="KSO_WM_TAG_VERSION" val="1.0"/>
  <p:tag name="KSO_WM_BEAUTIFY_FLAG" val="#wm#"/>
  <p:tag name="KSO_WM_UNIT_TYPE" val="i"/>
  <p:tag name="KSO_WM_UNIT_INDEX" val="3"/>
  <p:tag name="KSO_WM_UNIT_BLOCK" val="0"/>
  <p:tag name="KSO_WM_UNIT_SM_LIMIT_TYPE" val="1"/>
  <p:tag name="KSO_WM_UNIT_DEC_AREA_ID" val="887bf7dd5d364742a00bd4c3de87f3fc"/>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d969281ee359a788b1dd7"/>
  <p:tag name="KSO_WM_CHIP_XID" val="5efd969281ee359a788b1dd8"/>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 name="KSO_WM_UNIT_VALUE" val="55"/>
  <p:tag name="KSO_WM_TEMPLATE_ASSEMBLE_XID" val="5f005aefc1e42ffd0d0a8428"/>
  <p:tag name="KSO_WM_TEMPLATE_ASSEMBLE_GROUPID" val="5f005aefc1e42ffd0d0a8428"/>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9037_1*i*4"/>
  <p:tag name="KSO_WM_TEMPLATE_CATEGORY" val="diagram"/>
  <p:tag name="KSO_WM_TEMPLATE_INDEX" val="20209037"/>
  <p:tag name="KSO_WM_UNIT_LAYERLEVEL" val="1"/>
  <p:tag name="KSO_WM_TAG_VERSION" val="1.0"/>
  <p:tag name="KSO_WM_BEAUTIFY_FLAG" val="#wm#"/>
  <p:tag name="KSO_WM_UNIT_TYPE" val="i"/>
  <p:tag name="KSO_WM_UNIT_INDEX" val="4"/>
  <p:tag name="KSO_WM_UNIT_BLOCK" val="0"/>
  <p:tag name="KSO_WM_UNIT_SM_LIMIT_TYPE" val="2"/>
  <p:tag name="KSO_WM_UNIT_DEC_AREA_ID" val="6877d9c3d4874ce1ab20e270aebb9349"/>
  <p:tag name="KSO_WM_UNIT_DECORATE_INFO" val="{&quot;DecorateInfoH&quot;:{&quot;IsAbs&quot;:true},&quot;DecorateInfoW&quot;:{&quot;IsAbs&quot;:true},&quot;DecorateInfoX&quot;:{&quot;IsAbs&quot;:true,&quot;Pos&quot;:1},&quot;DecorateInfoY&quot;:{&quot;IsAbs&quot;:true,&quot;Pos&quot;:1},&quot;ReferentInfo&quot;:{&quot;Id&quot;:&quot;dd3ad894e3df4241a47f952a040a50f4&quot;,&quot;X&quot;:{&quot;Pos&quot;:1},&quot;Y&quot;:{&quot;Pos&quot;:1}}}"/>
  <p:tag name="KSO_WM_CHIP_GROUPID" val="5efd969281ee359a788b1dd7"/>
  <p:tag name="KSO_WM_CHIP_XID" val="5efd969281ee359a788b1dd8"/>
  <p:tag name="KSO_WM_UNIT_FILL_FORE_SCHEMECOLOR_INDEX_BRIGHTNESS" val="0"/>
  <p:tag name="KSO_WM_UNIT_FILL_FORE_SCHEMECOLOR_INDEX" val="16"/>
  <p:tag name="KSO_WM_UNIT_FILL_TYPE" val="1"/>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14"/>
  <p:tag name="KSO_WM_UNIT_TEXT_FILL_TYPE" val="1"/>
  <p:tag name="KSO_WM_UNIT_VALUE" val="440"/>
  <p:tag name="KSO_WM_TEMPLATE_ASSEMBLE_XID" val="5f005aefc1e42ffd0d0a8428"/>
  <p:tag name="KSO_WM_TEMPLATE_ASSEMBLE_GROUPID" val="5f005aefc1e42ffd0d0a8428"/>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9037_1*i*5"/>
  <p:tag name="KSO_WM_TEMPLATE_CATEGORY" val="diagram"/>
  <p:tag name="KSO_WM_TEMPLATE_INDEX" val="20209037"/>
  <p:tag name="KSO_WM_UNIT_LAYERLEVEL" val="1"/>
  <p:tag name="KSO_WM_TAG_VERSION" val="1.0"/>
  <p:tag name="KSO_WM_BEAUTIFY_FLAG" val="#wm#"/>
  <p:tag name="KSO_WM_UNIT_TYPE" val="i"/>
  <p:tag name="KSO_WM_UNIT_INDEX" val="5"/>
  <p:tag name="KSO_WM_UNIT_BLOCK" val="0"/>
  <p:tag name="KSO_WM_UNIT_SM_LIMIT_TYPE" val="2"/>
  <p:tag name="KSO_WM_UNIT_DEC_AREA_ID" val="6dbae0c0858e4309965878ae253f108f"/>
  <p:tag name="KSO_WM_UNIT_DECORATE_INFO" val="{&quot;DecorateInfoH&quot;:{&quot;IsAbs&quot;:true},&quot;DecorateInfoW&quot;:{&quot;IsAbs&quot;:true},&quot;DecorateInfoX&quot;:{&quot;IsAbs&quot;:true,&quot;Pos&quot;:1},&quot;DecorateInfoY&quot;:{&quot;IsAbs&quot;:true,&quot;Pos&quot;:1},&quot;ReferentInfo&quot;:{&quot;Id&quot;:&quot;2c0320f9da094bd7a44c504bbf7aa372&quot;,&quot;X&quot;:{&quot;Pos&quot;:1},&quot;Y&quot;:{&quot;Pos&quot;:1}}}"/>
  <p:tag name="KSO_WM_CHIP_GROUPID" val="5efd969281ee359a788b1dd7"/>
  <p:tag name="KSO_WM_CHIP_XID" val="5efd969281ee359a788b1dd8"/>
  <p:tag name="KSO_WM_UNIT_FILL_FORE_SCHEMECOLOR_INDEX_BRIGHTNESS" val="0"/>
  <p:tag name="KSO_WM_UNIT_FILL_FORE_SCHEMECOLOR_INDEX" val="15"/>
  <p:tag name="KSO_WM_UNIT_FILL_TYPE" val="1"/>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14"/>
  <p:tag name="KSO_WM_UNIT_TEXT_FILL_TYPE" val="1"/>
  <p:tag name="KSO_WM_UNIT_VALUE" val="825"/>
  <p:tag name="KSO_WM_TEMPLATE_ASSEMBLE_XID" val="5f005aefc1e42ffd0d0a8428"/>
  <p:tag name="KSO_WM_TEMPLATE_ASSEMBLE_GROUPID" val="5f005aefc1e42ffd0d0a8428"/>
</p:tagLst>
</file>

<file path=ppt/tags/tag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9037_1*f*1"/>
  <p:tag name="KSO_WM_TEMPLATE_CATEGORY" val="diagram"/>
  <p:tag name="KSO_WM_TEMPLATE_INDEX" val="20209037"/>
  <p:tag name="KSO_WM_UNIT_LAYERLEVEL" val="1"/>
  <p:tag name="KSO_WM_TAG_VERSION" val="1.0"/>
  <p:tag name="KSO_WM_BEAUTIFY_FLAG" val="#wm#"/>
  <p:tag name="KSO_WM_UNIT_DEFAULT_FONT" val="14;20;2"/>
  <p:tag name="KSO_WM_UNIT_BLOCK" val="0"/>
  <p:tag name="KSO_WM_UNIT_VALUE" val="168"/>
  <p:tag name="KSO_WM_UNIT_SHOW_EDIT_AREA_INDICATION" val="1"/>
  <p:tag name="KSO_WM_CHIP_GROUPID" val="5e6b05596848fb12bee65ac8"/>
  <p:tag name="KSO_WM_CHIP_XID" val="5e6b05596848fb12bee65aca"/>
  <p:tag name="KSO_WM_UNIT_DEC_AREA_ID" val="dd3ad894e3df4241a47f952a040a50f4"/>
  <p:tag name="KSO_WM_ASSEMBLE_CHIP_INDEX" val="f2de6ba691d94e529298c860d3078ca9"/>
  <p:tag name="KSO_WM_UNIT_TEXT_FILL_FORE_SCHEMECOLOR_INDEX_BRIGHTNESS" val="0.25"/>
  <p:tag name="KSO_WM_UNIT_TEXT_FILL_FORE_SCHEMECOLOR_INDEX" val="13"/>
  <p:tag name="KSO_WM_UNIT_TEXT_FILL_TYPE" val="1"/>
  <p:tag name="KSO_WM_TEMPLATE_ASSEMBLE_XID" val="5f005aefc1e42ffd0d0a8428"/>
  <p:tag name="KSO_WM_TEMPLATE_ASSEMBLE_GROUPID" val="5f005aefc1e42ffd0d0a8428"/>
</p:tagLst>
</file>

<file path=ppt/tags/tag10.xml><?xml version="1.0" encoding="utf-8"?>
<p:tagLst xmlns:p="http://schemas.openxmlformats.org/presentationml/2006/main">
  <p:tag name="KSO_WM_UNIT_TABLE_BEAUTIFY" val="smartTable{0dfd71ba-2576-4c33-bfa4-c95e7eea7db7}"/>
</p:tagLst>
</file>

<file path=ppt/tags/tag11.xml><?xml version="1.0" encoding="utf-8"?>
<p:tagLst xmlns:p="http://schemas.openxmlformats.org/presentationml/2006/main">
  <p:tag name="KSO_WM_SLIDE_ID" val="diagram20209037_1"/>
  <p:tag name="KSO_WM_TEMPLATE_SUBCATEGORY" val="21"/>
  <p:tag name="KSO_WM_SLIDE_ITEM_CNT" val="0"/>
  <p:tag name="KSO_WM_SLIDE_INDEX" val="1"/>
  <p:tag name="KSO_WM_TAG_VERSION" val="1.0"/>
  <p:tag name="KSO_WM_BEAUTIFY_FLAG" val="#wm#"/>
  <p:tag name="KSO_WM_TEMPLATE_CATEGORY" val="diagram"/>
  <p:tag name="KSO_WM_TEMPLATE_INDEX" val="20209037"/>
  <p:tag name="KSO_WM_SLIDE_LAYOUT" val="d_f"/>
  <p:tag name="KSO_WM_SLIDE_LAYOUT_CNT" val="1_1"/>
  <p:tag name="KSO_WM_SLIDE_TYPE" val="text"/>
  <p:tag name="KSO_WM_SLIDE_SUBTYPE" val="picTxt"/>
  <p:tag name="KSO_WM_SLIDE_SIZE" val="884*879"/>
  <p:tag name="KSO_WM_SLIDE_POSITION" val="36*-170"/>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7-04T18:33:21&quot;,&quot;maxSize&quot;:{&quot;size1&quot;:42.200000000000003},&quot;minSize&quot;:{&quot;size1&quot;:31.199999999999999},&quot;normalSize&quot;:{&quot;size1&quot;:31.199999999999999},&quot;subLayout&quot;:[{&quot;id&quot;:&quot;2020-07-04T18:33:21&quot;,&quot;margin&quot;:{&quot;bottom&quot;:0.026000002399086952,&quot;left&quot;:3.4570000171661377,&quot;right&quot;:3.3159999847412109,&quot;top&quot;:2.1170001029968262},&quot;type&quot;:0},{&quot;id&quot;:&quot;2020-07-04T18:33:21&quot;,&quot;margin&quot;:{&quot;bottom&quot;:2.5399999618530273,&quot;left&quot;:3.3870000839233398,&quot;right&quot;:3.3859999179840088,&quot;top&quot;:1.6670000553131104},&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89881773e3c341c1ab689e24c79864c5&quot;,&quot;fill_align&quot;:&quot;lm&quot;,&quot;text_align&quot;:&quot;lm&quot;,&quot;text_direction&quot;:&quot;horizontal&quot;,&quot;chip_types&quot;:[&quot;text&quot;,&quot;header&quot;]},{&quot;fill_id&quot;:&quot;7358526a601f4bc69a33a53d7bc8b819&quot;,&quot;fill_align&quot;:&quot;lm&quot;,&quot;text_align&quot;:&quot;lm&quot;,&quot;text_direction&quot;:&quot;horizontal&quot;,&quot;chip_types&quot;:[&quot;diagram&quot;,&quot;pictext&quot;,&quot;text&quot;,&quot;picture&quot;,&quot;chart&quot;,&quot;table&quot;,&quot;video&quot;]}]]"/>
  <p:tag name="KSO_WM_CHIP_XID" val="5efd969281ee359a788b1dd8"/>
  <p:tag name="KSO_WM_CHIP_GROUPID" val="5efd969281ee359a788b1dd7"/>
  <p:tag name="KSO_WM_SLIDE_BK_DARK_LIGHT" val="2"/>
  <p:tag name="KSO_WM_SLIDE_BACKGROUND_TYPE" val="general"/>
  <p:tag name="KSO_WM_SLIDE_SUPPORT_FEATURE_TYPE" val="0"/>
  <p:tag name="KSO_WM_TEMPLATE_ASSEMBLE_XID" val="5f005aefc1e42ffd0d0a8428"/>
  <p:tag name="KSO_WM_TEMPLATE_ASSEMBLE_GROUPID" val="5f005aefc1e42ffd0d0a8428"/>
</p:tagLst>
</file>

<file path=ppt/tags/tag12.xml><?xml version="1.0" encoding="utf-8"?>
<p:tagLst xmlns:p="http://schemas.openxmlformats.org/presentationml/2006/main">
  <p:tag name="KSO_WM_TAG_VERSION" val="1.0"/>
  <p:tag name="KSO_WM_BEAUTIFY_FLAG" val="#wm#"/>
  <p:tag name="KSO_WM_TEMPLATE_CATEGORY" val="custom"/>
  <p:tag name="KSO_WM_TEMPLATE_INDEX" val="160420"/>
  <p:tag name="KSO_WM_UNIT_TYPE" val="f"/>
  <p:tag name="KSO_WM_UNIT_INDEX" val="1"/>
  <p:tag name="KSO_WM_UNIT_ID" val="custom160420_2*f*1"/>
  <p:tag name="KSO_WM_UNIT_CLEAR" val="1"/>
  <p:tag name="KSO_WM_UNIT_LAYERLEVEL" val="1"/>
  <p:tag name="KSO_WM_UNIT_VALUE" val="264"/>
  <p:tag name="KSO_WM_UNIT_HIGHLIGHT" val="0"/>
  <p:tag name="KSO_WM_UNIT_COMPATIBLE" val="0"/>
  <p:tag name="KSO_WM_UNIT_PRESET_TEXT_INDEX" val="5"/>
  <p:tag name="KSO_WM_UNIT_PRESET_TEXT_LEN" val="232"/>
</p:tagLst>
</file>

<file path=ppt/tags/tag13.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5_2"/>
  <p:tag name="KSO_WM_UNIT_ID" val="diagram20188904_3*q_h_i*1_5_2"/>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9"/>
  <p:tag name="KSO_WM_UNIT_FILL_TYPE" val="1"/>
  <p:tag name="KSO_WM_UNIT_LINE_FORE_SCHEMECOLOR_INDEX" val="14"/>
  <p:tag name="KSO_WM_UNIT_LINE_FILL_TYPE" val="2"/>
  <p:tag name="KSO_WM_UNIT_TEXT_FILL_FORE_SCHEMECOLOR_INDEX" val="14"/>
  <p:tag name="KSO_WM_UNIT_TEXT_FILL_TYPE" val="1"/>
</p:tagLst>
</file>

<file path=ppt/tags/tag14.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4_1"/>
  <p:tag name="KSO_WM_UNIT_ID" val="diagram20188904_3*q_h_i*1_4_1"/>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8"/>
  <p:tag name="KSO_WM_UNIT_FILL_TYPE" val="1"/>
  <p:tag name="KSO_WM_UNIT_LINE_FORE_SCHEMECOLOR_INDEX" val="14"/>
  <p:tag name="KSO_WM_UNIT_LINE_FILL_TYPE" val="2"/>
  <p:tag name="KSO_WM_UNIT_TEXT_FILL_FORE_SCHEMECOLOR_INDEX" val="14"/>
  <p:tag name="KSO_WM_UNIT_TEXT_FILL_TYPE" val="1"/>
</p:tagLst>
</file>

<file path=ppt/tags/tag15.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3_1"/>
  <p:tag name="KSO_WM_UNIT_ID" val="diagram20188904_3*q_h_i*1_3_1"/>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7"/>
  <p:tag name="KSO_WM_UNIT_FILL_TYPE" val="1"/>
  <p:tag name="KSO_WM_UNIT_LINE_FORE_SCHEMECOLOR_INDEX" val="14"/>
  <p:tag name="KSO_WM_UNIT_LINE_FILL_TYPE" val="2"/>
  <p:tag name="KSO_WM_UNIT_TEXT_FILL_FORE_SCHEMECOLOR_INDEX" val="14"/>
  <p:tag name="KSO_WM_UNIT_TEXT_FILL_TYPE" val="1"/>
</p:tagLst>
</file>

<file path=ppt/tags/tag16.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2_1"/>
  <p:tag name="KSO_WM_UNIT_ID" val="diagram20188904_3*q_h_i*1_2_1"/>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6"/>
  <p:tag name="KSO_WM_UNIT_FILL_TYPE" val="1"/>
  <p:tag name="KSO_WM_UNIT_LINE_FORE_SCHEMECOLOR_INDEX" val="14"/>
  <p:tag name="KSO_WM_UNIT_LINE_FILL_TYPE" val="2"/>
  <p:tag name="KSO_WM_UNIT_TEXT_FILL_FORE_SCHEMECOLOR_INDEX" val="14"/>
  <p:tag name="KSO_WM_UNIT_TEXT_FILL_TYPE" val="1"/>
</p:tagLst>
</file>

<file path=ppt/tags/tag17.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5_1"/>
  <p:tag name="KSO_WM_UNIT_ID" val="diagram20188904_3*q_h_i*1_5_1"/>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9"/>
  <p:tag name="KSO_WM_UNIT_FILL_TYPE" val="1"/>
  <p:tag name="KSO_WM_UNIT_TEXT_FILL_FORE_SCHEMECOLOR_INDEX" val="13"/>
  <p:tag name="KSO_WM_UNIT_TEXT_FILL_TYP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5_3"/>
  <p:tag name="KSO_WM_UNIT_ID" val="diagram20188904_3*q_h_i*1_5_3"/>
  <p:tag name="KSO_WM_TEMPLATE_CATEGORY" val="diagram"/>
  <p:tag name="KSO_WM_TEMPLATE_INDEX" val="20188904"/>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20188904_3*q_h_i*1_1_3"/>
  <p:tag name="KSO_WM_TEMPLATE_CATEGORY" val="diagram"/>
  <p:tag name="KSO_WM_TEMPLATE_INDEX" val="20188904"/>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20188904_3*q_h_i*1_2_3"/>
  <p:tag name="KSO_WM_TEMPLATE_CATEGORY" val="diagram"/>
  <p:tag name="KSO_WM_TEMPLATE_INDEX" val="20188904"/>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20188904_3*q_h_i*1_3_3"/>
  <p:tag name="KSO_WM_TEMPLATE_CATEGORY" val="diagram"/>
  <p:tag name="KSO_WM_TEMPLATE_INDEX" val="20188904"/>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3"/>
  <p:tag name="KSO_WM_UNIT_ID" val="diagram20188904_3*q_h_i*1_4_3"/>
  <p:tag name="KSO_WM_TEMPLATE_CATEGORY" val="diagram"/>
  <p:tag name="KSO_WM_TEMPLATE_INDEX" val="20188904"/>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23.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1_2"/>
  <p:tag name="KSO_WM_UNIT_ID" val="diagram20188904_3*q_h_i*1_1_2"/>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5"/>
  <p:tag name="KSO_WM_UNIT_FILL_TYPE" val="1"/>
  <p:tag name="KSO_WM_UNIT_TEXT_FILL_FORE_SCHEMECOLOR_INDEX" val="13"/>
  <p:tag name="KSO_WM_UNIT_TEXT_FILL_TYPE" val="1"/>
</p:tagLst>
</file>

<file path=ppt/tags/tag24.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2_2"/>
  <p:tag name="KSO_WM_UNIT_ID" val="diagram20188904_3*q_h_i*1_2_2"/>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3_2"/>
  <p:tag name="KSO_WM_UNIT_ID" val="diagram20188904_3*q_h_i*1_3_2"/>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7"/>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4_2"/>
  <p:tag name="KSO_WM_UNIT_ID" val="diagram20188904_3*q_h_i*1_4_2"/>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8"/>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TAG_VERSION" val="1.0"/>
  <p:tag name="KSO_WM_TEMPLATE_CATEGORY" val="diagram"/>
  <p:tag name="KSO_WM_TEMPLATE_INDEX" val="20188904"/>
  <p:tag name="KSO_WM_UNIT_TYPE" val="q_h_i"/>
  <p:tag name="KSO_WM_UNIT_INDEX" val="1_1_1"/>
  <p:tag name="KSO_WM_UNIT_ID" val="diagram20188904_3*q_h_i*1_1_1"/>
  <p:tag name="KSO_WM_UNIT_LAYERLEVEL" val="1_1_1"/>
  <p:tag name="KSO_WM_BEAUTIFY_FLAG" val="#wm#"/>
  <p:tag name="KSO_WM_UNIT_HIGHLIGHT" val="0"/>
  <p:tag name="KSO_WM_UNIT_COMPATIBLE" val="0"/>
  <p:tag name="KSO_WM_UNIT_DIAGRAM_ISNUMVISUAL" val="0"/>
  <p:tag name="KSO_WM_UNIT_DIAGRAM_ISREFERUNIT" val="0"/>
  <p:tag name="KSO_WM_DIAGRAM_GROUP_CODE" val="q1-1"/>
  <p:tag name="KSO_WM_UNIT_FILL_FORE_SCHEMECOLOR_INDEX" val="5"/>
  <p:tag name="KSO_WM_UNIT_FILL_TYPE" val="1"/>
  <p:tag name="KSO_WM_UNIT_LINE_FORE_SCHEMECOLOR_INDEX" val="14"/>
  <p:tag name="KSO_WM_UNIT_LINE_FILL_TYPE" val="2"/>
  <p:tag name="KSO_WM_UNIT_TEXT_FILL_FORE_SCHEMECOLOR_INDEX" val="14"/>
  <p:tag name="KSO_WM_UNIT_TEXT_FILL_TYPE" val="1"/>
</p:tagLst>
</file>

<file path=ppt/tags/tag28.xml><?xml version="1.0" encoding="utf-8"?>
<p:tagLst xmlns:p="http://schemas.openxmlformats.org/presentationml/2006/main">
  <p:tag name="KSO_WM_TEMPLATE_CATEGORY" val="diagram"/>
  <p:tag name="KSO_WM_TEMPLATE_INDEX" val="20188904"/>
  <p:tag name="KSO_WM_UNIT_TYPE" val="q_h_a"/>
  <p:tag name="KSO_WM_UNIT_INDEX" val="1_3_1"/>
  <p:tag name="KSO_WM_UNIT_ID" val="diagram20188904_3*q_h_a*1_3_1"/>
  <p:tag name="KSO_WM_UNIT_LAYERLEVEL" val="1_1_1"/>
  <p:tag name="KSO_WM_UNIT_VALUE" val="6"/>
  <p:tag name="KSO_WM_UNIT_HIGHLIGHT" val="0"/>
  <p:tag name="KSO_WM_UNIT_COMPATIBLE" val="0"/>
  <p:tag name="KSO_WM_BEAUTIFY_FLAG" val="#wm#"/>
  <p:tag name="KSO_WM_TAG_VERSION" val="1.0"/>
  <p:tag name="KSO_WM_DIAGRAM_GROUP_CODE" val="q1-1"/>
  <p:tag name="KSO_WM_UNIT_PRESET_TEXT" val="添加标题"/>
  <p:tag name="KSO_WM_UNIT_ISCONTENTSTITLE" val="0"/>
  <p:tag name="KSO_WM_UNIT_NOCLEAR" val="0"/>
  <p:tag name="KSO_WM_UNIT_DIAGRAM_ISNUMVISUAL" val="0"/>
  <p:tag name="KSO_WM_UNIT_DIAGRAM_ISREFERUNIT" val="0"/>
  <p:tag name="KSO_WM_UNIT_TEXT_FILL_FORE_SCHEMECOLOR_INDEX" val="7"/>
  <p:tag name="KSO_WM_UNIT_TEXT_FILL_TYPE" val="1"/>
</p:tagLst>
</file>

<file path=ppt/tags/tag29.xml><?xml version="1.0" encoding="utf-8"?>
<p:tagLst xmlns:p="http://schemas.openxmlformats.org/presentationml/2006/main">
  <p:tag name="KSO_WM_TEMPLATE_CATEGORY" val="diagram"/>
  <p:tag name="KSO_WM_TEMPLATE_INDEX" val="20188904"/>
  <p:tag name="KSO_WM_UNIT_TYPE" val="q_h_a"/>
  <p:tag name="KSO_WM_UNIT_INDEX" val="1_4_1"/>
  <p:tag name="KSO_WM_UNIT_ID" val="diagram20188904_3*q_h_a*1_4_1"/>
  <p:tag name="KSO_WM_UNIT_LAYERLEVEL" val="1_1_1"/>
  <p:tag name="KSO_WM_UNIT_VALUE" val="6"/>
  <p:tag name="KSO_WM_UNIT_HIGHLIGHT" val="0"/>
  <p:tag name="KSO_WM_UNIT_COMPATIBLE" val="0"/>
  <p:tag name="KSO_WM_BEAUTIFY_FLAG" val="#wm#"/>
  <p:tag name="KSO_WM_TAG_VERSION" val="1.0"/>
  <p:tag name="KSO_WM_DIAGRAM_GROUP_CODE" val="q1-1"/>
  <p:tag name="KSO_WM_UNIT_PRESET_TEXT" val="添加标题"/>
  <p:tag name="KSO_WM_UNIT_ISCONTENTSTITLE" val="0"/>
  <p:tag name="KSO_WM_UNIT_NOCLEAR" val="0"/>
  <p:tag name="KSO_WM_UNIT_DIAGRAM_ISNUMVISUAL" val="0"/>
  <p:tag name="KSO_WM_UNIT_DIAGRAM_ISREFERUNIT" val="0"/>
  <p:tag name="KSO_WM_UNIT_TEXT_FILL_FORE_SCHEMECOLOR_INDEX" val="8"/>
  <p:tag name="KSO_WM_UNIT_TEXT_FILL_TYPE" val="1"/>
</p:tagLst>
</file>

<file path=ppt/tags/tag30.xml><?xml version="1.0" encoding="utf-8"?>
<p:tagLst xmlns:p="http://schemas.openxmlformats.org/presentationml/2006/main">
  <p:tag name="KSO_WM_TEMPLATE_CATEGORY" val="diagram"/>
  <p:tag name="KSO_WM_TEMPLATE_INDEX" val="20188904"/>
  <p:tag name="KSO_WM_UNIT_TYPE" val="q_h_a"/>
  <p:tag name="KSO_WM_UNIT_INDEX" val="1_5_1"/>
  <p:tag name="KSO_WM_UNIT_ID" val="diagram20188904_3*q_h_a*1_5_1"/>
  <p:tag name="KSO_WM_UNIT_LAYERLEVEL" val="1_1_1"/>
  <p:tag name="KSO_WM_UNIT_VALUE" val="6"/>
  <p:tag name="KSO_WM_UNIT_HIGHLIGHT" val="0"/>
  <p:tag name="KSO_WM_UNIT_COMPATIBLE" val="0"/>
  <p:tag name="KSO_WM_BEAUTIFY_FLAG" val="#wm#"/>
  <p:tag name="KSO_WM_TAG_VERSION" val="1.0"/>
  <p:tag name="KSO_WM_DIAGRAM_GROUP_CODE" val="q1-1"/>
  <p:tag name="KSO_WM_UNIT_PRESET_TEXT" val="添加标题"/>
  <p:tag name="KSO_WM_UNIT_ISCONTENTSTITLE" val="0"/>
  <p:tag name="KSO_WM_UNIT_NOCLEAR" val="0"/>
  <p:tag name="KSO_WM_UNIT_DIAGRAM_ISNUMVISUAL" val="0"/>
  <p:tag name="KSO_WM_UNIT_DIAGRAM_ISREFERUNIT" val="0"/>
  <p:tag name="KSO_WM_UNIT_TEXT_FILL_FORE_SCHEMECOLOR_INDEX" val="9"/>
  <p:tag name="KSO_WM_UNIT_TEXT_FILL_TYPE" val="1"/>
</p:tagLst>
</file>

<file path=ppt/tags/tag31.xml><?xml version="1.0" encoding="utf-8"?>
<p:tagLst xmlns:p="http://schemas.openxmlformats.org/presentationml/2006/main">
  <p:tag name="KSO_WM_TEMPLATE_CATEGORY" val="diagram"/>
  <p:tag name="KSO_WM_TEMPLATE_INDEX" val="20188904"/>
  <p:tag name="KSO_WM_UNIT_TYPE" val="q_h_a"/>
  <p:tag name="KSO_WM_UNIT_INDEX" val="1_1_1"/>
  <p:tag name="KSO_WM_UNIT_ID" val="diagram20188904_3*q_h_a*1_1_1"/>
  <p:tag name="KSO_WM_UNIT_LAYERLEVEL" val="1_1_1"/>
  <p:tag name="KSO_WM_UNIT_VALUE" val="6"/>
  <p:tag name="KSO_WM_UNIT_HIGHLIGHT" val="0"/>
  <p:tag name="KSO_WM_UNIT_COMPATIBLE" val="0"/>
  <p:tag name="KSO_WM_BEAUTIFY_FLAG" val="#wm#"/>
  <p:tag name="KSO_WM_TAG_VERSION" val="1.0"/>
  <p:tag name="KSO_WM_DIAGRAM_GROUP_CODE" val="q1-1"/>
  <p:tag name="KSO_WM_UNIT_PRESET_TEXT" val="添加标题"/>
  <p:tag name="KSO_WM_UNIT_ISCONTENTSTITLE" val="0"/>
  <p:tag name="KSO_WM_UNIT_NOCLEAR" val="0"/>
  <p:tag name="KSO_WM_UNIT_DIAGRAM_ISNUMVISUAL" val="0"/>
  <p:tag name="KSO_WM_UNIT_DIAGRAM_ISREFERUNIT" val="0"/>
  <p:tag name="KSO_WM_UNIT_TEXT_FILL_FORE_SCHEMECOLOR_INDEX" val="5"/>
  <p:tag name="KSO_WM_UNIT_TEXT_FILL_TYPE" val="1"/>
</p:tagLst>
</file>

<file path=ppt/tags/tag32.xml><?xml version="1.0" encoding="utf-8"?>
<p:tagLst xmlns:p="http://schemas.openxmlformats.org/presentationml/2006/main">
  <p:tag name="KSO_WM_TEMPLATE_CATEGORY" val="diagram"/>
  <p:tag name="KSO_WM_TEMPLATE_INDEX" val="20188904"/>
  <p:tag name="KSO_WM_UNIT_TYPE" val="q_h_a"/>
  <p:tag name="KSO_WM_UNIT_INDEX" val="1_2_1"/>
  <p:tag name="KSO_WM_UNIT_ID" val="diagram20188904_3*q_h_a*1_2_1"/>
  <p:tag name="KSO_WM_UNIT_LAYERLEVEL" val="1_1_1"/>
  <p:tag name="KSO_WM_UNIT_VALUE" val="6"/>
  <p:tag name="KSO_WM_UNIT_HIGHLIGHT" val="0"/>
  <p:tag name="KSO_WM_UNIT_COMPATIBLE" val="0"/>
  <p:tag name="KSO_WM_BEAUTIFY_FLAG" val="#wm#"/>
  <p:tag name="KSO_WM_TAG_VERSION" val="1.0"/>
  <p:tag name="KSO_WM_DIAGRAM_GROUP_CODE" val="q1-1"/>
  <p:tag name="KSO_WM_UNIT_PRESET_TEXT" val="添加标题"/>
  <p:tag name="KSO_WM_UNIT_ISCONTENTSTITLE" val="0"/>
  <p:tag name="KSO_WM_UNIT_NOCLEAR" val="0"/>
  <p:tag name="KSO_WM_UNIT_DIAGRAM_ISNUMVISUAL" val="0"/>
  <p:tag name="KSO_WM_UNIT_DIAGRAM_ISREFERUNIT" val="0"/>
  <p:tag name="KSO_WM_UNIT_TEXT_FILL_FORE_SCHEMECOLOR_INDEX" val="6"/>
  <p:tag name="KSO_WM_UNIT_TEXT_FILL_TYPE" val="1"/>
</p:tagLst>
</file>

<file path=ppt/tags/tag33.xml><?xml version="1.0" encoding="utf-8"?>
<p:tagLst xmlns:p="http://schemas.openxmlformats.org/presentationml/2006/main">
  <p:tag name="KSO_WM_UNIT_TABLE_BEAUTIFY" val="smartTable{bed3a398-ba80-42f5-af0d-a91fd1ef13ee}"/>
</p:tagLst>
</file>

<file path=ppt/tags/tag34.xml><?xml version="1.0" encoding="utf-8"?>
<p:tagLst xmlns:p="http://schemas.openxmlformats.org/presentationml/2006/main">
  <p:tag name="KSO_WM_UNIT_TABLE_BEAUTIFY" val="smartTable{5f2a68bf-d2db-4ca8-902a-43955871e016}"/>
</p:tagLst>
</file>

<file path=ppt/tags/tag35.xml><?xml version="1.0" encoding="utf-8"?>
<p:tagLst xmlns:p="http://schemas.openxmlformats.org/presentationml/2006/main">
  <p:tag name="KSO_WM_UNIT_PLACING_PICTURE_USER_VIEWPORT" val="{&quot;height&quot;:4680,&quot;width&quot;:4680}"/>
</p:tagLst>
</file>

<file path=ppt/tags/tag36.xml><?xml version="1.0" encoding="utf-8"?>
<p:tagLst xmlns:p="http://schemas.openxmlformats.org/presentationml/2006/main">
  <p:tag name="ISPRING_RESOURCE_PATHS_HASH_2" val="2b758c575d3afaa4a23037e74bea4a653611b5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570C1"/>
        </a:solidFill>
      </a:spPr>
      <a:bodyPr rtlCol="0" anchor="ctr">
        <a:spAutoFit/>
      </a:bodyPr>
      <a:lstStyle>
        <a:defPPr algn="ctr">
          <a:defRPr sz="2400" dirty="0" smtClean="0">
            <a:latin typeface="微软雅黑" panose="020B0503020204020204" pitchFamily="34" charset="-122"/>
            <a:ea typeface="微软雅黑" panose="020B0503020204020204" pitchFamily="34" charset="-122"/>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570C1"/>
        </a:solidFill>
      </a:spPr>
      <a:bodyPr rtlCol="0" anchor="ctr">
        <a:spAutoFit/>
      </a:bodyPr>
      <a:lstStyle>
        <a:defPPr algn="ctr">
          <a:defRPr sz="2400" dirty="0" smtClean="0">
            <a:latin typeface="微软雅黑" panose="020B0503020204020204" pitchFamily="34" charset="-122"/>
            <a:ea typeface="微软雅黑" panose="020B0503020204020204" pitchFamily="34" charset="-122"/>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9561</Words>
  <Application>WPS 演示</Application>
  <PresentationFormat>宽屏</PresentationFormat>
  <Paragraphs>899</Paragraphs>
  <Slides>68</Slides>
  <Notes>43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68</vt:i4>
      </vt:variant>
    </vt:vector>
  </HeadingPairs>
  <TitlesOfParts>
    <vt:vector size="83" baseType="lpstr">
      <vt:lpstr>Arial</vt:lpstr>
      <vt:lpstr>宋体</vt:lpstr>
      <vt:lpstr>Wingdings</vt:lpstr>
      <vt:lpstr>Calibri</vt:lpstr>
      <vt:lpstr>微软雅黑</vt:lpstr>
      <vt:lpstr>Calibri Light</vt:lpstr>
      <vt:lpstr>Times New Roman</vt:lpstr>
      <vt:lpstr>Arial</vt:lpstr>
      <vt:lpstr>Arial Unicode MS</vt:lpstr>
      <vt:lpstr>黑体</vt:lpstr>
      <vt:lpstr>Wingdings</vt:lpstr>
      <vt:lpstr>华文仿宋</vt:lpstr>
      <vt:lpstr>隶书</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杨淼</cp:lastModifiedBy>
  <cp:revision>67</cp:revision>
  <dcterms:created xsi:type="dcterms:W3CDTF">2015-06-07T14:37:00Z</dcterms:created>
  <dcterms:modified xsi:type="dcterms:W3CDTF">2021-03-21T07:49:26Z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ED6A9405EBC54F37AF88F81A427976B9</vt:lpwstr>
  </property>
</Properties>
</file>