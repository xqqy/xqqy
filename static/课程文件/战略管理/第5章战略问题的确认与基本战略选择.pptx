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64" r:id="rId3"/>
    <p:sldId id="267" r:id="rId4"/>
    <p:sldId id="364" r:id="rId5"/>
    <p:sldId id="346" r:id="rId6"/>
    <p:sldId id="266" r:id="rId7"/>
    <p:sldId id="348" r:id="rId8"/>
    <p:sldId id="311" r:id="rId10"/>
    <p:sldId id="347" r:id="rId11"/>
    <p:sldId id="312" r:id="rId12"/>
    <p:sldId id="314" r:id="rId13"/>
    <p:sldId id="315" r:id="rId14"/>
    <p:sldId id="316" r:id="rId15"/>
    <p:sldId id="287" r:id="rId16"/>
    <p:sldId id="351" r:id="rId17"/>
    <p:sldId id="352" r:id="rId18"/>
    <p:sldId id="349" r:id="rId19"/>
    <p:sldId id="326" r:id="rId20"/>
    <p:sldId id="327" r:id="rId21"/>
    <p:sldId id="328" r:id="rId22"/>
    <p:sldId id="32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69B7"/>
    <a:srgbClr val="FF0000"/>
    <a:srgbClr val="174A87"/>
    <a:srgbClr val="1F66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1" d="100"/>
          <a:sy n="91" d="100"/>
        </p:scale>
        <p:origin x="-102" y="-252"/>
      </p:cViewPr>
      <p:guideLst>
        <p:guide orient="horz" pos="2180"/>
        <p:guide pos="37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02344E-740B-4FDD-9D20-850C23609C5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1E9D41-0D82-4ECE-9CCA-4B13DC21ADD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51E9D41-0D82-4ECE-9CCA-4B13DC21ADD3}"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51E9D41-0D82-4ECE-9CCA-4B13DC21ADD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t="-8000" b="-8000"/>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B0A169-C57A-4F6A-BC4B-C9E7DAEE85DC}" type="slidenum">
              <a:rPr lang="zh-CN" altLang="en-US" smtClean="0"/>
            </a:fld>
            <a:endParaRPr lang="zh-CN" altLang="en-US"/>
          </a:p>
        </p:txBody>
      </p:sp>
      <p:sp>
        <p:nvSpPr>
          <p:cNvPr id="27" name="椭圆 26"/>
          <p:cNvSpPr/>
          <p:nvPr userDrawn="1"/>
        </p:nvSpPr>
        <p:spPr>
          <a:xfrm>
            <a:off x="7318169" y="1276492"/>
            <a:ext cx="3387782" cy="33877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userDrawn="1"/>
        </p:nvSpPr>
        <p:spPr>
          <a:xfrm>
            <a:off x="7318169" y="1283110"/>
            <a:ext cx="3387782" cy="3387782"/>
          </a:xfrm>
          <a:prstGeom prst="ellipse">
            <a:avLst/>
          </a:prstGeom>
          <a:solidFill>
            <a:schemeClr val="accent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5" name="图片 64"/>
          <p:cNvPicPr>
            <a:picLocks noChangeAspect="1"/>
          </p:cNvPicPr>
          <p:nvPr userDrawn="1"/>
        </p:nvPicPr>
        <p:blipFill rotWithShape="1">
          <a:blip r:embed="rId3" cstate="print">
            <a:extLst>
              <a:ext uri="{28A0092B-C50C-407E-A947-70E740481C1C}">
                <a14:useLocalDpi xmlns:a14="http://schemas.microsoft.com/office/drawing/2010/main" val="0"/>
              </a:ext>
            </a:extLst>
          </a:blip>
          <a:srcRect t="16385" b="30120"/>
          <a:stretch>
            <a:fillRect/>
          </a:stretch>
        </p:blipFill>
        <p:spPr>
          <a:xfrm>
            <a:off x="7339608" y="1660927"/>
            <a:ext cx="3358049" cy="2694683"/>
          </a:xfrm>
          <a:prstGeom prst="rect">
            <a:avLst/>
          </a:prstGeom>
        </p:spPr>
      </p:pic>
      <p:sp>
        <p:nvSpPr>
          <p:cNvPr id="70" name="对角圆角矩形 69"/>
          <p:cNvSpPr/>
          <p:nvPr userDrawn="1"/>
        </p:nvSpPr>
        <p:spPr>
          <a:xfrm>
            <a:off x="701767" y="1967682"/>
            <a:ext cx="6224724" cy="1981162"/>
          </a:xfrm>
          <a:prstGeom prst="round2DiagRect">
            <a:avLst/>
          </a:prstGeom>
          <a:solidFill>
            <a:schemeClr val="bg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椭圆 80"/>
          <p:cNvSpPr/>
          <p:nvPr userDrawn="1"/>
        </p:nvSpPr>
        <p:spPr>
          <a:xfrm>
            <a:off x="7121191" y="1110006"/>
            <a:ext cx="3752246" cy="3752246"/>
          </a:xfrm>
          <a:prstGeom prst="ellipse">
            <a:avLst/>
          </a:prstGeom>
          <a:noFill/>
          <a:ln w="127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82" name="椭圆 81"/>
          <p:cNvSpPr/>
          <p:nvPr userDrawn="1"/>
        </p:nvSpPr>
        <p:spPr>
          <a:xfrm>
            <a:off x="7365745" y="1097677"/>
            <a:ext cx="3752246" cy="3752246"/>
          </a:xfrm>
          <a:prstGeom prst="ellipse">
            <a:avLst/>
          </a:prstGeom>
          <a:noFill/>
          <a:ln w="12700">
            <a:solidFill>
              <a:schemeClr val="accent1">
                <a:lumMod val="40000"/>
                <a:lumOff val="60000"/>
                <a:alpha val="16000"/>
              </a:schemeClr>
            </a:solidFill>
          </a:ln>
          <a:effectLst>
            <a:glow rad="12700">
              <a:schemeClr val="accent1"/>
            </a:glow>
            <a:outerShdw blurRad="50800" dist="50800" dir="5400000" sx="1000" sy="1000" algn="ctr" rotWithShape="0">
              <a:srgbClr val="000000"/>
            </a:outerShdw>
            <a:reflection endPos="4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2" name="标题 1"/>
          <p:cNvSpPr>
            <a:spLocks noGrp="1"/>
          </p:cNvSpPr>
          <p:nvPr>
            <p:ph type="title" hasCustomPrompt="1"/>
          </p:nvPr>
        </p:nvSpPr>
        <p:spPr>
          <a:xfrm>
            <a:off x="750427" y="2022118"/>
            <a:ext cx="6176064" cy="1325563"/>
          </a:xfrm>
        </p:spPr>
        <p:txBody>
          <a:bodyPr>
            <a:noAutofit/>
          </a:bodyPr>
          <a:lstStyle>
            <a:lvl1pPr>
              <a:defRPr sz="7200" b="1">
                <a:effectLst>
                  <a:outerShdw blurRad="38100" dist="38100" dir="2700000" algn="tl">
                    <a:srgbClr val="000000">
                      <a:alpha val="43137"/>
                    </a:srgbClr>
                  </a:outerShdw>
                </a:effectLst>
              </a:defRPr>
            </a:lvl1pPr>
          </a:lstStyle>
          <a:p>
            <a:r>
              <a:rPr lang="zh-CN" altLang="en-US" dirty="0"/>
              <a:t>单击此处编辑</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6" name="直角三角形 15"/>
          <p:cNvSpPr/>
          <p:nvPr userDrawn="1"/>
        </p:nvSpPr>
        <p:spPr>
          <a:xfrm rot="16200000">
            <a:off x="3377160" y="4612031"/>
            <a:ext cx="720758" cy="86167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B0A169-C57A-4F6A-BC4B-C9E7DAEE85DC}" type="slidenum">
              <a:rPr lang="zh-CN" altLang="en-US" smtClean="0"/>
            </a:fld>
            <a:endParaRPr lang="zh-CN" altLang="en-US"/>
          </a:p>
        </p:txBody>
      </p:sp>
      <p:sp>
        <p:nvSpPr>
          <p:cNvPr id="8" name="直角三角形 7"/>
          <p:cNvSpPr/>
          <p:nvPr userDrawn="1"/>
        </p:nvSpPr>
        <p:spPr>
          <a:xfrm>
            <a:off x="-11505" y="0"/>
            <a:ext cx="6103832" cy="6907576"/>
          </a:xfrm>
          <a:custGeom>
            <a:avLst/>
            <a:gdLst>
              <a:gd name="connsiteX0" fmla="*/ 0 w 4770304"/>
              <a:gd name="connsiteY0" fmla="*/ 3855904 h 3855904"/>
              <a:gd name="connsiteX1" fmla="*/ 0 w 4770304"/>
              <a:gd name="connsiteY1" fmla="*/ 0 h 3855904"/>
              <a:gd name="connsiteX2" fmla="*/ 4770304 w 4770304"/>
              <a:gd name="connsiteY2" fmla="*/ 3855904 h 3855904"/>
              <a:gd name="connsiteX3" fmla="*/ 0 w 4770304"/>
              <a:gd name="connsiteY3" fmla="*/ 3855904 h 3855904"/>
              <a:gd name="connsiteX0-1" fmla="*/ 0 w 5916058"/>
              <a:gd name="connsiteY0-2" fmla="*/ 3855904 h 3855904"/>
              <a:gd name="connsiteX1-3" fmla="*/ 0 w 5916058"/>
              <a:gd name="connsiteY1-4" fmla="*/ 0 h 3855904"/>
              <a:gd name="connsiteX2-5" fmla="*/ 5916058 w 5916058"/>
              <a:gd name="connsiteY2-6" fmla="*/ 11017 h 3855904"/>
              <a:gd name="connsiteX3-7" fmla="*/ 0 w 5916058"/>
              <a:gd name="connsiteY3-8" fmla="*/ 3855904 h 3855904"/>
              <a:gd name="connsiteX0-9" fmla="*/ 0 w 5949108"/>
              <a:gd name="connsiteY0-10" fmla="*/ 3855904 h 3855904"/>
              <a:gd name="connsiteX1-11" fmla="*/ 0 w 5949108"/>
              <a:gd name="connsiteY1-12" fmla="*/ 0 h 3855904"/>
              <a:gd name="connsiteX2-13" fmla="*/ 5949108 w 5949108"/>
              <a:gd name="connsiteY2-14" fmla="*/ 11017 h 3855904"/>
              <a:gd name="connsiteX3-15" fmla="*/ 0 w 5949108"/>
              <a:gd name="connsiteY3-16" fmla="*/ 3855904 h 3855904"/>
              <a:gd name="connsiteX0-17" fmla="*/ 0 w 5960125"/>
              <a:gd name="connsiteY0-18" fmla="*/ 3855904 h 3855904"/>
              <a:gd name="connsiteX1-19" fmla="*/ 0 w 5960125"/>
              <a:gd name="connsiteY1-20" fmla="*/ 0 h 3855904"/>
              <a:gd name="connsiteX2-21" fmla="*/ 5960125 w 5960125"/>
              <a:gd name="connsiteY2-22" fmla="*/ 0 h 3855904"/>
              <a:gd name="connsiteX3-23" fmla="*/ 0 w 5960125"/>
              <a:gd name="connsiteY3-24" fmla="*/ 3855904 h 3855904"/>
              <a:gd name="connsiteX0-25" fmla="*/ 11017 w 5960125"/>
              <a:gd name="connsiteY0-26" fmla="*/ 6885542 h 6885542"/>
              <a:gd name="connsiteX1-27" fmla="*/ 0 w 5960125"/>
              <a:gd name="connsiteY1-28" fmla="*/ 0 h 6885542"/>
              <a:gd name="connsiteX2-29" fmla="*/ 5960125 w 5960125"/>
              <a:gd name="connsiteY2-30" fmla="*/ 0 h 6885542"/>
              <a:gd name="connsiteX3-31" fmla="*/ 11017 w 5960125"/>
              <a:gd name="connsiteY3-32" fmla="*/ 6885542 h 6885542"/>
              <a:gd name="connsiteX0-33" fmla="*/ 488 w 5971630"/>
              <a:gd name="connsiteY0-34" fmla="*/ 6907576 h 6907576"/>
              <a:gd name="connsiteX1-35" fmla="*/ 11505 w 5971630"/>
              <a:gd name="connsiteY1-36" fmla="*/ 0 h 6907576"/>
              <a:gd name="connsiteX2-37" fmla="*/ 5971630 w 5971630"/>
              <a:gd name="connsiteY2-38" fmla="*/ 0 h 6907576"/>
              <a:gd name="connsiteX3-39" fmla="*/ 488 w 5971630"/>
              <a:gd name="connsiteY3-40" fmla="*/ 6907576 h 6907576"/>
              <a:gd name="connsiteX0-41" fmla="*/ 488 w 6103832"/>
              <a:gd name="connsiteY0-42" fmla="*/ 6907576 h 6907576"/>
              <a:gd name="connsiteX1-43" fmla="*/ 11505 w 6103832"/>
              <a:gd name="connsiteY1-44" fmla="*/ 0 h 6907576"/>
              <a:gd name="connsiteX2-45" fmla="*/ 6103832 w 6103832"/>
              <a:gd name="connsiteY2-46" fmla="*/ 0 h 6907576"/>
              <a:gd name="connsiteX3-47" fmla="*/ 488 w 6103832"/>
              <a:gd name="connsiteY3-48" fmla="*/ 6907576 h 6907576"/>
            </a:gdLst>
            <a:ahLst/>
            <a:cxnLst>
              <a:cxn ang="0">
                <a:pos x="connsiteX0-1" y="connsiteY0-2"/>
              </a:cxn>
              <a:cxn ang="0">
                <a:pos x="connsiteX1-3" y="connsiteY1-4"/>
              </a:cxn>
              <a:cxn ang="0">
                <a:pos x="connsiteX2-5" y="connsiteY2-6"/>
              </a:cxn>
              <a:cxn ang="0">
                <a:pos x="connsiteX3-7" y="connsiteY3-8"/>
              </a:cxn>
            </a:cxnLst>
            <a:rect l="l" t="t" r="r" b="b"/>
            <a:pathLst>
              <a:path w="6103832" h="6907576">
                <a:moveTo>
                  <a:pt x="488" y="6907576"/>
                </a:moveTo>
                <a:cubicBezTo>
                  <a:pt x="-3184" y="4612395"/>
                  <a:pt x="15177" y="2295181"/>
                  <a:pt x="11505" y="0"/>
                </a:cubicBezTo>
                <a:lnTo>
                  <a:pt x="6103832" y="0"/>
                </a:lnTo>
                <a:lnTo>
                  <a:pt x="488" y="69075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rot="7714713">
            <a:off x="3195628" y="1578071"/>
            <a:ext cx="2677099" cy="1850834"/>
          </a:xfrm>
          <a:prstGeom prst="triangl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nvPr>
        </p:nvSpPr>
        <p:spPr>
          <a:xfrm>
            <a:off x="6092327" y="1444826"/>
            <a:ext cx="5558469" cy="1155566"/>
          </a:xfrm>
        </p:spPr>
        <p:txBody>
          <a:bodyPr anchor="b">
            <a:normAutofit/>
          </a:bodyPr>
          <a:lstStyle>
            <a:lvl1pPr algn="l">
              <a:defRPr sz="3600"/>
            </a:lvl1pPr>
          </a:lstStyle>
          <a:p>
            <a:r>
              <a:rPr lang="zh-CN" altLang="en-US" dirty="0"/>
              <a:t>单击此处编辑</a:t>
            </a:r>
            <a:endParaRPr lang="zh-CN" altLang="en-US" dirty="0"/>
          </a:p>
        </p:txBody>
      </p:sp>
      <p:sp>
        <p:nvSpPr>
          <p:cNvPr id="10" name="等腰三角形 9"/>
          <p:cNvSpPr/>
          <p:nvPr userDrawn="1"/>
        </p:nvSpPr>
        <p:spPr>
          <a:xfrm rot="7714713">
            <a:off x="2896612" y="1391968"/>
            <a:ext cx="2677099" cy="1850834"/>
          </a:xfrm>
          <a:prstGeom prst="triangl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rot="7714713">
            <a:off x="190152" y="6059272"/>
            <a:ext cx="838898" cy="579979"/>
          </a:xfrm>
          <a:prstGeom prst="triangl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18594403">
            <a:off x="109002" y="3932837"/>
            <a:ext cx="1395144" cy="964544"/>
          </a:xfrm>
          <a:prstGeom prst="triangl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18476742">
            <a:off x="1201733" y="3513177"/>
            <a:ext cx="2337900" cy="1530199"/>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nvSpPr>
        <p:spPr>
          <a:xfrm rot="7714713">
            <a:off x="1657821" y="5473635"/>
            <a:ext cx="838898" cy="579979"/>
          </a:xfrm>
          <a:prstGeom prst="triangle">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nvSpPr>
        <p:spPr>
          <a:xfrm rot="7714713">
            <a:off x="2620961" y="5371520"/>
            <a:ext cx="838898" cy="579979"/>
          </a:xfrm>
          <a:prstGeom prst="triangle">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userDrawn="1"/>
        </p:nvSpPr>
        <p:spPr>
          <a:xfrm rot="5970233">
            <a:off x="2630651" y="4313083"/>
            <a:ext cx="720758" cy="861670"/>
          </a:xfrm>
          <a:prstGeom prst="rtTriangl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nvSpPr>
        <p:spPr>
          <a:xfrm rot="7714713">
            <a:off x="3705736" y="4343946"/>
            <a:ext cx="397045" cy="251849"/>
          </a:xfrm>
          <a:prstGeom prst="triangle">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userDrawn="1"/>
        </p:nvSpPr>
        <p:spPr>
          <a:xfrm rot="7714713">
            <a:off x="3353711" y="4034303"/>
            <a:ext cx="397045" cy="251849"/>
          </a:xfrm>
          <a:prstGeom prst="triangle">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userDrawn="1"/>
        </p:nvSpPr>
        <p:spPr>
          <a:xfrm rot="7714713">
            <a:off x="4321877" y="4727175"/>
            <a:ext cx="397045" cy="251849"/>
          </a:xfrm>
          <a:prstGeom prst="triangle">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7714713">
            <a:off x="3927974" y="3653336"/>
            <a:ext cx="397045" cy="251849"/>
          </a:xfrm>
          <a:prstGeom prst="triangle">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直角三角形 21"/>
          <p:cNvSpPr/>
          <p:nvPr userDrawn="1"/>
        </p:nvSpPr>
        <p:spPr>
          <a:xfrm rot="5970233">
            <a:off x="4657340" y="3331385"/>
            <a:ext cx="720758" cy="861670"/>
          </a:xfrm>
          <a:prstGeom prst="rtTriangle">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直角三角形 22"/>
          <p:cNvSpPr/>
          <p:nvPr userDrawn="1"/>
        </p:nvSpPr>
        <p:spPr>
          <a:xfrm rot="16200000">
            <a:off x="5182066" y="3873067"/>
            <a:ext cx="720758" cy="86167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占位符 2"/>
          <p:cNvSpPr>
            <a:spLocks noGrp="1"/>
          </p:cNvSpPr>
          <p:nvPr>
            <p:ph type="body" idx="1" hasCustomPrompt="1"/>
          </p:nvPr>
        </p:nvSpPr>
        <p:spPr>
          <a:xfrm>
            <a:off x="6106729" y="2720196"/>
            <a:ext cx="5491401" cy="615454"/>
          </a:xfrm>
        </p:spPr>
        <p:txBody>
          <a:bodyPr>
            <a:noAutofit/>
          </a:bodyPr>
          <a:lstStyle>
            <a:lvl1pPr marL="0" indent="0">
              <a:buNone/>
              <a:defRPr sz="5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13186" y="281221"/>
            <a:ext cx="11578814" cy="1325563"/>
          </a:xfrm>
        </p:spPr>
        <p:txBody>
          <a:bodyPr>
            <a:normAutofit/>
          </a:bodyPr>
          <a:lstStyle>
            <a:lvl1pPr>
              <a:defRPr sz="3600"/>
            </a:lvl1pPr>
          </a:lstStyle>
          <a:p>
            <a:endParaRPr lang="zh-CN" altLang="en-US" dirty="0"/>
          </a:p>
        </p:txBody>
      </p:sp>
      <p:sp>
        <p:nvSpPr>
          <p:cNvPr id="3" name="内容占位符 2"/>
          <p:cNvSpPr>
            <a:spLocks noGrp="1"/>
          </p:cNvSpPr>
          <p:nvPr>
            <p:ph sz="half" idx="1"/>
          </p:nvPr>
        </p:nvSpPr>
        <p:spPr>
          <a:xfrm>
            <a:off x="838200" y="1825625"/>
            <a:ext cx="10242176"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B0A169-C57A-4F6A-BC4B-C9E7DAEE85DC}" type="slidenum">
              <a:rPr lang="zh-CN" altLang="en-US" smtClean="0"/>
            </a:fld>
            <a:endParaRPr lang="zh-CN" altLang="en-US"/>
          </a:p>
        </p:txBody>
      </p:sp>
      <p:sp>
        <p:nvSpPr>
          <p:cNvPr id="8" name="直角三角形 7"/>
          <p:cNvSpPr/>
          <p:nvPr userDrawn="1"/>
        </p:nvSpPr>
        <p:spPr>
          <a:xfrm>
            <a:off x="0" y="563992"/>
            <a:ext cx="613186" cy="559398"/>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8"/>
          <p:cNvSpPr/>
          <p:nvPr userDrawn="1"/>
        </p:nvSpPr>
        <p:spPr>
          <a:xfrm rot="10800000">
            <a:off x="435686" y="1523"/>
            <a:ext cx="613186" cy="559398"/>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accent1">
            <a:lumMod val="20000"/>
            <a:lumOff val="80000"/>
          </a:schemeClr>
        </a:solidFill>
        <a:effectLst/>
      </p:bgPr>
    </p:bg>
    <p:spTree>
      <p:nvGrpSpPr>
        <p:cNvPr id="1" name=""/>
        <p:cNvGrpSpPr/>
        <p:nvPr/>
      </p:nvGrpSpPr>
      <p:grpSpPr>
        <a:xfrm>
          <a:off x="0" y="0"/>
          <a:ext cx="0" cy="0"/>
          <a:chOff x="0" y="0"/>
          <a:chExt cx="0" cy="0"/>
        </a:xfrm>
      </p:grpSpPr>
      <p:cxnSp>
        <p:nvCxnSpPr>
          <p:cNvPr id="36" name="直接连接符 35"/>
          <p:cNvCxnSpPr/>
          <p:nvPr userDrawn="1"/>
        </p:nvCxnSpPr>
        <p:spPr>
          <a:xfrm>
            <a:off x="947825" y="571463"/>
            <a:ext cx="11244175"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p:nvPr>
        </p:nvSpPr>
        <p:spPr>
          <a:xfrm>
            <a:off x="1172990" y="63131"/>
            <a:ext cx="10515600" cy="615454"/>
          </a:xfr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B0A169-C57A-4F6A-BC4B-C9E7DAEE85DC}" type="slidenum">
              <a:rPr lang="zh-CN" altLang="en-US" smtClean="0"/>
            </a:fld>
            <a:endParaRPr lang="zh-CN" altLang="en-US"/>
          </a:p>
        </p:txBody>
      </p:sp>
      <p:cxnSp>
        <p:nvCxnSpPr>
          <p:cNvPr id="8" name="直接连接符 7"/>
          <p:cNvCxnSpPr/>
          <p:nvPr userDrawn="1"/>
        </p:nvCxnSpPr>
        <p:spPr>
          <a:xfrm flipH="1">
            <a:off x="451692" y="0"/>
            <a:ext cx="433331" cy="7050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0" y="705081"/>
            <a:ext cx="4516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885023" y="0"/>
            <a:ext cx="291468" cy="70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a:off x="550843" y="705081"/>
            <a:ext cx="6221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flipH="1">
            <a:off x="556609" y="207638"/>
            <a:ext cx="306206" cy="498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a:off x="698071" y="615384"/>
            <a:ext cx="3384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flipH="1">
            <a:off x="698071" y="366034"/>
            <a:ext cx="154050" cy="250663"/>
          </a:xfrm>
          <a:prstGeom prst="line">
            <a:avLst/>
          </a:prstGeom>
        </p:spPr>
        <p:style>
          <a:lnRef idx="1">
            <a:schemeClr val="accent1"/>
          </a:lnRef>
          <a:fillRef idx="0">
            <a:schemeClr val="accent1"/>
          </a:fillRef>
          <a:effectRef idx="0">
            <a:schemeClr val="accent1"/>
          </a:effectRef>
          <a:fontRef idx="minor">
            <a:schemeClr val="tx1"/>
          </a:fontRef>
        </p:style>
      </p:cxnSp>
      <p:sp>
        <p:nvSpPr>
          <p:cNvPr id="38" name="内容占位符 2"/>
          <p:cNvSpPr>
            <a:spLocks noGrp="1"/>
          </p:cNvSpPr>
          <p:nvPr>
            <p:ph sz="half" idx="13"/>
          </p:nvPr>
        </p:nvSpPr>
        <p:spPr>
          <a:xfrm>
            <a:off x="1187988" y="1115936"/>
            <a:ext cx="9256002" cy="497639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cxnSp>
        <p:nvCxnSpPr>
          <p:cNvPr id="43" name="直接连接符 42"/>
          <p:cNvCxnSpPr/>
          <p:nvPr userDrawn="1"/>
        </p:nvCxnSpPr>
        <p:spPr>
          <a:xfrm>
            <a:off x="851701" y="363919"/>
            <a:ext cx="98631" cy="20754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62815" y="207638"/>
            <a:ext cx="173690" cy="40699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 name="文本占位符 4"/>
          <p:cNvSpPr>
            <a:spLocks noGrp="1"/>
          </p:cNvSpPr>
          <p:nvPr>
            <p:ph type="body" sz="quarter" idx="3"/>
          </p:nvPr>
        </p:nvSpPr>
        <p:spPr>
          <a:xfrm>
            <a:off x="5836023" y="1266975"/>
            <a:ext cx="518318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5836023" y="2199570"/>
            <a:ext cx="5183188" cy="3684588"/>
          </a:xfrm>
        </p:spPr>
        <p:txBody>
          <a:bodyPr/>
          <a:lstStyle>
            <a:lvl1pPr>
              <a:defRPr sz="2400"/>
            </a:lvl1pPr>
          </a:lstStyle>
          <a:p>
            <a:pPr lvl="0"/>
            <a:r>
              <a:rPr lang="zh-CN" altLang="en-US" dirty="0"/>
              <a:t>单击此处编辑母版文本样式</a:t>
            </a:r>
            <a:endParaRPr lang="zh-CN" altLang="en-US" dirty="0"/>
          </a:p>
        </p:txBody>
      </p:sp>
      <p:sp>
        <p:nvSpPr>
          <p:cNvPr id="7" name="日期占位符 6"/>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9B0A169-C57A-4F6A-BC4B-C9E7DAEE85DC}" type="slidenum">
              <a:rPr lang="zh-CN" altLang="en-US" smtClean="0"/>
            </a:fld>
            <a:endParaRPr lang="zh-CN" altLang="en-US"/>
          </a:p>
        </p:txBody>
      </p:sp>
      <p:cxnSp>
        <p:nvCxnSpPr>
          <p:cNvPr id="10" name="直接连接符 9"/>
          <p:cNvCxnSpPr/>
          <p:nvPr userDrawn="1"/>
        </p:nvCxnSpPr>
        <p:spPr>
          <a:xfrm>
            <a:off x="947825" y="571463"/>
            <a:ext cx="112441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flipH="1">
            <a:off x="451692" y="0"/>
            <a:ext cx="433331" cy="7050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05081"/>
            <a:ext cx="4516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85023" y="0"/>
            <a:ext cx="291468" cy="704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550843" y="705081"/>
            <a:ext cx="6221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flipH="1">
            <a:off x="556609" y="207638"/>
            <a:ext cx="306206" cy="498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698071" y="615384"/>
            <a:ext cx="3384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flipH="1">
            <a:off x="698071" y="366034"/>
            <a:ext cx="154050" cy="2506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51701" y="363919"/>
            <a:ext cx="98631" cy="2075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62815" y="207638"/>
            <a:ext cx="173690" cy="406998"/>
          </a:xfrm>
          <a:prstGeom prst="line">
            <a:avLst/>
          </a:prstGeom>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idx="13"/>
          </p:nvPr>
        </p:nvSpPr>
        <p:spPr>
          <a:xfrm>
            <a:off x="1172990" y="63131"/>
            <a:ext cx="10515600" cy="615454"/>
          </a:xfr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22" name="图片占位符 21"/>
          <p:cNvSpPr>
            <a:spLocks noGrp="1"/>
          </p:cNvSpPr>
          <p:nvPr>
            <p:ph type="pic" sz="quarter" idx="14"/>
          </p:nvPr>
        </p:nvSpPr>
        <p:spPr>
          <a:xfrm>
            <a:off x="451692" y="1134903"/>
            <a:ext cx="5184775" cy="3700462"/>
          </a:xfrm>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t="-8000" b="-8000"/>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0" y="2590347"/>
            <a:ext cx="12113111" cy="1325563"/>
          </a:xfrm>
        </p:spPr>
        <p:txBody>
          <a:bodyPr>
            <a:noAutofit/>
          </a:bodyPr>
          <a:lstStyle>
            <a:lvl1pPr algn="ctr">
              <a:defRPr sz="11500">
                <a:solidFill>
                  <a:schemeClr val="bg1"/>
                </a:solidFill>
                <a:effectLst>
                  <a:outerShdw blurRad="38100" dist="38100" dir="2700000" algn="tl">
                    <a:srgbClr val="000000">
                      <a:alpha val="43137"/>
                    </a:srgbClr>
                  </a:outerShdw>
                </a:effectLst>
                <a:latin typeface="Adobe 楷体 Std R" panose="02020400000000000000" pitchFamily="18" charset="-122"/>
                <a:ea typeface="Adobe 楷体 Std R" panose="02020400000000000000" pitchFamily="18" charset="-122"/>
              </a:defRPr>
            </a:lvl1pPr>
          </a:lstStyle>
          <a:p>
            <a:r>
              <a:rPr lang="zh-CN" altLang="en-US" dirty="0"/>
              <a:t> 谢谢观看！</a:t>
            </a:r>
            <a:endParaRPr lang="zh-CN" altLang="en-US" dirty="0"/>
          </a:p>
        </p:txBody>
      </p:sp>
      <p:sp>
        <p:nvSpPr>
          <p:cNvPr id="3" name="日期占位符 2"/>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9B0A169-C57A-4F6A-BC4B-C9E7DAEE85DC}" type="slidenum">
              <a:rPr lang="zh-CN" altLang="en-US" smtClean="0"/>
            </a:fld>
            <a:endParaRPr lang="zh-CN" altLang="en-US"/>
          </a:p>
        </p:txBody>
      </p:sp>
      <p:sp>
        <p:nvSpPr>
          <p:cNvPr id="6" name="等腰三角形 5"/>
          <p:cNvSpPr/>
          <p:nvPr userDrawn="1"/>
        </p:nvSpPr>
        <p:spPr>
          <a:xfrm rot="19146430">
            <a:off x="2205320" y="1471306"/>
            <a:ext cx="1000462" cy="60242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rot="7600611">
            <a:off x="8345937" y="4142011"/>
            <a:ext cx="1000462" cy="602428"/>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rot="2255554">
            <a:off x="8233290" y="1466299"/>
            <a:ext cx="1000462" cy="60242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rot="13582917">
            <a:off x="2357720" y="4121288"/>
            <a:ext cx="1000462" cy="602428"/>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3582917">
            <a:off x="2479454" y="4037408"/>
            <a:ext cx="1000462" cy="602428"/>
          </a:xfrm>
          <a:prstGeom prst="triangle">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rot="2255554">
            <a:off x="8110370" y="1581182"/>
            <a:ext cx="1000462" cy="602428"/>
          </a:xfrm>
          <a:prstGeom prst="triangle">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19146430">
            <a:off x="2345538" y="1634166"/>
            <a:ext cx="1000462" cy="602428"/>
          </a:xfrm>
          <a:prstGeom prs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7600611">
            <a:off x="8193536" y="4026234"/>
            <a:ext cx="1000462" cy="602428"/>
          </a:xfrm>
          <a:prstGeom prst="triangle">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nvSpPr>
        <p:spPr>
          <a:xfrm rot="10195312">
            <a:off x="3617636" y="4528252"/>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nvSpPr>
        <p:spPr>
          <a:xfrm rot="12207976">
            <a:off x="5731991" y="4596024"/>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nvSpPr>
        <p:spPr>
          <a:xfrm rot="10435120">
            <a:off x="5054498" y="4512704"/>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userDrawn="1"/>
        </p:nvSpPr>
        <p:spPr>
          <a:xfrm rot="12207976">
            <a:off x="4334312" y="4635566"/>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nvSpPr>
        <p:spPr>
          <a:xfrm rot="10435120">
            <a:off x="6458447" y="4512703"/>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userDrawn="1"/>
        </p:nvSpPr>
        <p:spPr>
          <a:xfrm rot="12207976">
            <a:off x="7009866" y="4635564"/>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userDrawn="1"/>
        </p:nvSpPr>
        <p:spPr>
          <a:xfrm rot="10435120">
            <a:off x="7561283" y="4462974"/>
            <a:ext cx="621770" cy="319287"/>
          </a:xfrm>
          <a:prstGeom prst="triangle">
            <a:avLst/>
          </a:prstGeom>
          <a:solidFill>
            <a:schemeClr val="accent4">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20299161">
            <a:off x="3617636" y="1516354"/>
            <a:ext cx="621770" cy="319287"/>
          </a:xfrm>
          <a:prstGeom prst="triangle">
            <a:avLst/>
          </a:pr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userDrawn="1"/>
        </p:nvSpPr>
        <p:spPr>
          <a:xfrm rot="804986">
            <a:off x="4461766" y="1480572"/>
            <a:ext cx="621770" cy="319287"/>
          </a:xfrm>
          <a:prstGeom prst="triangle">
            <a:avLst/>
          </a:pr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userDrawn="1"/>
        </p:nvSpPr>
        <p:spPr>
          <a:xfrm rot="20299161">
            <a:off x="5091061" y="1472035"/>
            <a:ext cx="621770" cy="319287"/>
          </a:xfrm>
          <a:prstGeom prst="triangle">
            <a:avLst/>
          </a:pr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userDrawn="1"/>
        </p:nvSpPr>
        <p:spPr>
          <a:xfrm rot="804986">
            <a:off x="5904011" y="1460942"/>
            <a:ext cx="621770" cy="319287"/>
          </a:xfrm>
          <a:prstGeom prst="triangle">
            <a:avLst/>
          </a:pr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userDrawn="1"/>
        </p:nvSpPr>
        <p:spPr>
          <a:xfrm rot="20299161">
            <a:off x="6499136" y="1425161"/>
            <a:ext cx="621770" cy="319287"/>
          </a:xfrm>
          <a:prstGeom prst="triangle">
            <a:avLst/>
          </a:pr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userDrawn="1"/>
        </p:nvSpPr>
        <p:spPr>
          <a:xfrm rot="804986">
            <a:off x="7349279" y="1404249"/>
            <a:ext cx="621770" cy="319287"/>
          </a:xfrm>
          <a:prstGeom prst="triangle">
            <a:avLst/>
          </a:pr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9B0A169-C57A-4F6A-BC4B-C9E7DAEE85D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B0A169-C57A-4F6A-BC4B-C9E7DAEE85D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9B0A169-C57A-4F6A-BC4B-C9E7DAEE85D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B0A169-C57A-4F6A-BC4B-C9E7DAEE85D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25888C1-98C7-40AC-BAFB-184C7EA80AB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9B0A169-C57A-4F6A-BC4B-C9E7DAEE85D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888C1-98C7-40AC-BAFB-184C7EA80AB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B0A169-C57A-4F6A-BC4B-C9E7DAEE85D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pPr algn="ctr"/>
            <a:r>
              <a:rPr lang="zh-CN" altLang="en-US" dirty="0" smtClean="0"/>
              <a:t>第</a:t>
            </a:r>
            <a:r>
              <a:rPr lang="en-US" altLang="zh-CN" dirty="0" smtClean="0"/>
              <a:t>5</a:t>
            </a:r>
            <a:r>
              <a:rPr lang="zh-CN" altLang="en-US" dirty="0" smtClean="0"/>
              <a:t>章</a:t>
            </a:r>
            <a:endParaRPr lang="zh-CN" altLang="en-US" dirty="0"/>
          </a:p>
        </p:txBody>
      </p:sp>
      <p:sp>
        <p:nvSpPr>
          <p:cNvPr id="6" name="文本占位符 5"/>
          <p:cNvSpPr>
            <a:spLocks noGrp="1"/>
          </p:cNvSpPr>
          <p:nvPr>
            <p:ph type="body" idx="1"/>
          </p:nvPr>
        </p:nvSpPr>
        <p:spPr>
          <a:xfrm>
            <a:off x="6106795" y="2720340"/>
            <a:ext cx="5798820" cy="1731645"/>
          </a:xfrm>
        </p:spPr>
        <p:txBody>
          <a:bodyPr/>
          <a:lstStyle/>
          <a:p>
            <a:pPr algn="ctr"/>
            <a:r>
              <a:rPr lang="zh-CN" altLang="en-US" dirty="0"/>
              <a:t>战略</a:t>
            </a:r>
            <a:r>
              <a:rPr lang="zh-CN" altLang="en-US" dirty="0" smtClean="0"/>
              <a:t>问题</a:t>
            </a:r>
            <a:r>
              <a:rPr lang="zh-CN" altLang="en-US" dirty="0" smtClean="0"/>
              <a:t>的确认与</a:t>
            </a:r>
            <a:endParaRPr lang="en-US" altLang="zh-CN" dirty="0"/>
          </a:p>
          <a:p>
            <a:pPr algn="ctr"/>
            <a:r>
              <a:rPr lang="zh-CN" altLang="en-US" dirty="0" smtClean="0"/>
              <a:t>基本战略选择</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nvPr>
        </p:nvSpPr>
        <p:spPr>
          <a:xfrm>
            <a:off x="248920" y="549910"/>
            <a:ext cx="8370570" cy="8966200"/>
          </a:xfrm>
        </p:spPr>
        <p:txBody>
          <a:bodyPr>
            <a:normAutofit fontScale="25000"/>
          </a:bodyPr>
          <a:lstStyle/>
          <a:p>
            <a:pPr marL="0" indent="0" algn="just">
              <a:lnSpc>
                <a:spcPct val="120000"/>
              </a:lnSpc>
              <a:buNone/>
            </a:pPr>
            <a:r>
              <a:rPr lang="en-US" altLang="zh-CN" sz="8000" dirty="0" smtClean="0">
                <a:latin typeface="Times New Roman" panose="02020603050405020304" pitchFamily="18" charset="0"/>
                <a:cs typeface="Times New Roman" panose="02020603050405020304" pitchFamily="18" charset="0"/>
              </a:rPr>
              <a:t>1999</a:t>
            </a:r>
            <a:r>
              <a:rPr lang="zh-CN" altLang="en-US" sz="8000" dirty="0" smtClean="0">
                <a:latin typeface="Times New Roman" panose="02020603050405020304" pitchFamily="18" charset="0"/>
                <a:cs typeface="Times New Roman" panose="02020603050405020304" pitchFamily="18" charset="0"/>
              </a:rPr>
              <a:t>年以马云为首的“十八罗汉”在杭州湖畔花园创立阿里巴巴公司。</a:t>
            </a:r>
            <a:endParaRPr lang="en-US" altLang="zh-CN" sz="8000" dirty="0">
              <a:latin typeface="Times New Roman" panose="02020603050405020304" pitchFamily="18" charset="0"/>
              <a:cs typeface="Times New Roman" panose="02020603050405020304" pitchFamily="18" charset="0"/>
            </a:endParaRPr>
          </a:p>
          <a:p>
            <a:pPr marL="0" indent="0" algn="just">
              <a:lnSpc>
                <a:spcPct val="120000"/>
              </a:lnSpc>
              <a:buNone/>
            </a:pPr>
            <a:r>
              <a:rPr lang="zh-CN" altLang="en-US" sz="8000" dirty="0">
                <a:latin typeface="Times New Roman" panose="02020603050405020304" pitchFamily="18" charset="0"/>
                <a:cs typeface="Times New Roman" panose="02020603050405020304" pitchFamily="18" charset="0"/>
              </a:rPr>
              <a:t>成立以来，随着公司内外部环境与顾客需求</a:t>
            </a:r>
            <a:r>
              <a:rPr lang="zh-CN" altLang="en-US" sz="8000" dirty="0" smtClean="0">
                <a:latin typeface="Times New Roman" panose="02020603050405020304" pitchFamily="18" charset="0"/>
                <a:cs typeface="Times New Roman" panose="02020603050405020304" pitchFamily="18" charset="0"/>
              </a:rPr>
              <a:t>的快速</a:t>
            </a:r>
            <a:r>
              <a:rPr lang="zh-CN" altLang="en-US" sz="8000" dirty="0">
                <a:latin typeface="Times New Roman" panose="02020603050405020304" pitchFamily="18" charset="0"/>
                <a:cs typeface="Times New Roman" panose="02020603050405020304" pitchFamily="18" charset="0"/>
              </a:rPr>
              <a:t>变化</a:t>
            </a:r>
            <a:r>
              <a:rPr lang="zh-CN" altLang="en-US" sz="8000" dirty="0" smtClean="0">
                <a:latin typeface="Times New Roman" panose="02020603050405020304" pitchFamily="18" charset="0"/>
                <a:cs typeface="Times New Roman" panose="02020603050405020304" pitchFamily="18" charset="0"/>
              </a:rPr>
              <a:t>，阿里巴巴在很多方面发生变化：</a:t>
            </a:r>
            <a:endParaRPr lang="en-US" altLang="zh-CN" sz="8000" dirty="0" smtClean="0">
              <a:latin typeface="Times New Roman" panose="02020603050405020304" pitchFamily="18" charset="0"/>
              <a:cs typeface="Times New Roman" panose="02020603050405020304" pitchFamily="18" charset="0"/>
            </a:endParaRPr>
          </a:p>
          <a:p>
            <a:pPr marL="0" indent="0" algn="just">
              <a:lnSpc>
                <a:spcPct val="120000"/>
              </a:lnSpc>
              <a:buNone/>
            </a:pPr>
            <a:r>
              <a:rPr lang="zh-CN" altLang="en-US" sz="8000" dirty="0" smtClean="0">
                <a:solidFill>
                  <a:srgbClr val="FF0000"/>
                </a:solidFill>
                <a:latin typeface="Times New Roman" panose="02020603050405020304" pitchFamily="18" charset="0"/>
                <a:cs typeface="Times New Roman" panose="02020603050405020304" pitchFamily="18" charset="0"/>
              </a:rPr>
              <a:t>业务范围</a:t>
            </a:r>
            <a:r>
              <a:rPr lang="zh-CN" altLang="en-US" sz="8000" dirty="0">
                <a:solidFill>
                  <a:srgbClr val="FF0000"/>
                </a:solidFill>
                <a:latin typeface="Times New Roman" panose="02020603050405020304" pitchFamily="18" charset="0"/>
                <a:cs typeface="Times New Roman" panose="02020603050405020304" pitchFamily="18" charset="0"/>
              </a:rPr>
              <a:t>不断变化</a:t>
            </a:r>
            <a:r>
              <a:rPr lang="zh-CN" altLang="en-US" sz="8000" dirty="0">
                <a:latin typeface="Times New Roman" panose="02020603050405020304" pitchFamily="18" charset="0"/>
                <a:cs typeface="Times New Roman" panose="02020603050405020304" pitchFamily="18" charset="0"/>
              </a:rPr>
              <a:t>：从最初的 </a:t>
            </a:r>
            <a:r>
              <a:rPr lang="en-US" altLang="zh-CN" sz="8000" dirty="0">
                <a:latin typeface="Times New Roman" panose="02020603050405020304" pitchFamily="18" charset="0"/>
                <a:cs typeface="Times New Roman" panose="02020603050405020304" pitchFamily="18" charset="0"/>
              </a:rPr>
              <a:t>B2B </a:t>
            </a:r>
            <a:r>
              <a:rPr lang="zh-CN" altLang="en-US" sz="8000" dirty="0">
                <a:latin typeface="Times New Roman" panose="02020603050405020304" pitchFamily="18" charset="0"/>
                <a:cs typeface="Times New Roman" panose="02020603050405020304" pitchFamily="18" charset="0"/>
              </a:rPr>
              <a:t>业务拓展到 </a:t>
            </a:r>
            <a:r>
              <a:rPr lang="en-US" altLang="zh-CN" sz="8000" dirty="0">
                <a:latin typeface="Times New Roman" panose="02020603050405020304" pitchFamily="18" charset="0"/>
                <a:cs typeface="Times New Roman" panose="02020603050405020304" pitchFamily="18" charset="0"/>
              </a:rPr>
              <a:t>B2B2B </a:t>
            </a:r>
            <a:r>
              <a:rPr lang="zh-CN" altLang="en-US" sz="8000" dirty="0">
                <a:latin typeface="Times New Roman" panose="02020603050405020304" pitchFamily="18" charset="0"/>
                <a:cs typeface="Times New Roman" panose="02020603050405020304" pitchFamily="18" charset="0"/>
              </a:rPr>
              <a:t>业务、 </a:t>
            </a:r>
            <a:r>
              <a:rPr lang="en-US" altLang="zh-CN" sz="8000" dirty="0">
                <a:latin typeface="Times New Roman" panose="02020603050405020304" pitchFamily="18" charset="0"/>
                <a:cs typeface="Times New Roman" panose="02020603050405020304" pitchFamily="18" charset="0"/>
              </a:rPr>
              <a:t>C2B2C </a:t>
            </a:r>
            <a:r>
              <a:rPr lang="zh-CN" altLang="en-US" sz="8000" dirty="0">
                <a:latin typeface="Times New Roman" panose="02020603050405020304" pitchFamily="18" charset="0"/>
                <a:cs typeface="Times New Roman" panose="02020603050405020304" pitchFamily="18" charset="0"/>
              </a:rPr>
              <a:t>业务、</a:t>
            </a:r>
            <a:r>
              <a:rPr lang="en-US" altLang="zh-CN" sz="8000" dirty="0">
                <a:latin typeface="Times New Roman" panose="02020603050405020304" pitchFamily="18" charset="0"/>
                <a:cs typeface="Times New Roman" panose="02020603050405020304" pitchFamily="18" charset="0"/>
              </a:rPr>
              <a:t>B2B2C </a:t>
            </a:r>
            <a:r>
              <a:rPr lang="zh-CN" altLang="en-US" sz="8000" dirty="0">
                <a:latin typeface="Times New Roman" panose="02020603050405020304" pitchFamily="18" charset="0"/>
                <a:cs typeface="Times New Roman" panose="02020603050405020304" pitchFamily="18" charset="0"/>
              </a:rPr>
              <a:t>业务、移动互联营销平台业务、金融服务、云计算与</a:t>
            </a:r>
            <a:r>
              <a:rPr lang="zh-CN" altLang="en-US" sz="8000" dirty="0" smtClean="0">
                <a:latin typeface="Times New Roman" panose="02020603050405020304" pitchFamily="18" charset="0"/>
                <a:cs typeface="Times New Roman" panose="02020603050405020304" pitchFamily="18" charset="0"/>
              </a:rPr>
              <a:t>数据管理服务</a:t>
            </a:r>
            <a:r>
              <a:rPr lang="zh-CN" altLang="en-US" sz="8000" dirty="0">
                <a:latin typeface="Times New Roman" panose="02020603050405020304" pitchFamily="18" charset="0"/>
                <a:cs typeface="Times New Roman" panose="02020603050405020304" pitchFamily="18" charset="0"/>
              </a:rPr>
              <a:t>、物流信息平台业务</a:t>
            </a:r>
            <a:r>
              <a:rPr lang="zh-CN" altLang="en-US" sz="8000" dirty="0" smtClean="0">
                <a:latin typeface="Times New Roman" panose="02020603050405020304" pitchFamily="18" charset="0"/>
                <a:cs typeface="Times New Roman" panose="02020603050405020304" pitchFamily="18" charset="0"/>
              </a:rPr>
              <a:t>等。</a:t>
            </a:r>
            <a:endParaRPr lang="zh-CN" altLang="en-US" sz="8000" dirty="0" smtClean="0">
              <a:latin typeface="Times New Roman" panose="02020603050405020304" pitchFamily="18" charset="0"/>
              <a:cs typeface="Times New Roman" panose="02020603050405020304" pitchFamily="18" charset="0"/>
            </a:endParaRPr>
          </a:p>
          <a:p>
            <a:pPr marL="0" indent="0" algn="just">
              <a:lnSpc>
                <a:spcPct val="120000"/>
              </a:lnSpc>
              <a:buNone/>
            </a:pPr>
            <a:r>
              <a:rPr lang="zh-CN" altLang="en-US" sz="8000" dirty="0" smtClean="0">
                <a:solidFill>
                  <a:srgbClr val="FF0000"/>
                </a:solidFill>
                <a:latin typeface="Times New Roman" panose="02020603050405020304" pitchFamily="18" charset="0"/>
                <a:cs typeface="Times New Roman" panose="02020603050405020304" pitchFamily="18" charset="0"/>
              </a:rPr>
              <a:t>市场范围持续变化</a:t>
            </a:r>
            <a:r>
              <a:rPr lang="zh-CN" altLang="en-US" sz="8000" dirty="0" smtClean="0">
                <a:latin typeface="Times New Roman" panose="02020603050405020304" pitchFamily="18" charset="0"/>
                <a:cs typeface="Times New Roman" panose="02020603050405020304" pitchFamily="18" charset="0"/>
              </a:rPr>
              <a:t>：最初</a:t>
            </a:r>
            <a:r>
              <a:rPr lang="zh-CN" altLang="en-US" sz="8000" dirty="0">
                <a:latin typeface="Times New Roman" panose="02020603050405020304" pitchFamily="18" charset="0"/>
                <a:cs typeface="Times New Roman" panose="02020603050405020304" pitchFamily="18" charset="0"/>
              </a:rPr>
              <a:t>的中国局部市场拓展到整个中国</a:t>
            </a:r>
            <a:r>
              <a:rPr lang="zh-CN" altLang="en-US" sz="8000" dirty="0" smtClean="0">
                <a:latin typeface="Times New Roman" panose="02020603050405020304" pitchFamily="18" charset="0"/>
                <a:cs typeface="Times New Roman" panose="02020603050405020304" pitchFamily="18" charset="0"/>
              </a:rPr>
              <a:t>市场</a:t>
            </a:r>
            <a:r>
              <a:rPr lang="zh-CN" altLang="en-US" sz="8000" dirty="0">
                <a:latin typeface="Times New Roman" panose="02020603050405020304" pitchFamily="18" charset="0"/>
                <a:cs typeface="Times New Roman" panose="02020603050405020304" pitchFamily="18" charset="0"/>
              </a:rPr>
              <a:t>，并逐渐延伸扩大到全球</a:t>
            </a:r>
            <a:r>
              <a:rPr lang="zh-CN" altLang="en-US" sz="8000" dirty="0" smtClean="0">
                <a:latin typeface="Times New Roman" panose="02020603050405020304" pitchFamily="18" charset="0"/>
                <a:cs typeface="Times New Roman" panose="02020603050405020304" pitchFamily="18" charset="0"/>
              </a:rPr>
              <a:t>市场。</a:t>
            </a:r>
            <a:endParaRPr lang="zh-CN" altLang="en-US" sz="8000" dirty="0" smtClean="0">
              <a:latin typeface="Times New Roman" panose="02020603050405020304" pitchFamily="18" charset="0"/>
              <a:cs typeface="Times New Roman" panose="02020603050405020304" pitchFamily="18" charset="0"/>
            </a:endParaRPr>
          </a:p>
          <a:p>
            <a:pPr marL="0" indent="0" algn="just">
              <a:lnSpc>
                <a:spcPct val="120000"/>
              </a:lnSpc>
              <a:buNone/>
            </a:pPr>
            <a:r>
              <a:rPr lang="zh-CN" altLang="en-US" sz="8000" dirty="0" smtClean="0">
                <a:solidFill>
                  <a:srgbClr val="FF0000"/>
                </a:solidFill>
                <a:latin typeface="Times New Roman" panose="02020603050405020304" pitchFamily="18" charset="0"/>
                <a:cs typeface="Times New Roman" panose="02020603050405020304" pitchFamily="18" charset="0"/>
              </a:rPr>
              <a:t>管理模式不断调整</a:t>
            </a:r>
            <a:r>
              <a:rPr lang="zh-CN" altLang="en-US" sz="8000" dirty="0" smtClean="0">
                <a:latin typeface="Times New Roman" panose="02020603050405020304" pitchFamily="18" charset="0"/>
                <a:cs typeface="Times New Roman" panose="02020603050405020304" pitchFamily="18" charset="0"/>
              </a:rPr>
              <a:t>：组织</a:t>
            </a:r>
            <a:r>
              <a:rPr lang="zh-CN" altLang="en-US" sz="8000" dirty="0">
                <a:latin typeface="Times New Roman" panose="02020603050405020304" pitchFamily="18" charset="0"/>
                <a:cs typeface="Times New Roman" panose="02020603050405020304" pitchFamily="18" charset="0"/>
              </a:rPr>
              <a:t>结构 </a:t>
            </a:r>
            <a:r>
              <a:rPr lang="en-US" altLang="zh-CN" sz="8000" dirty="0">
                <a:latin typeface="Times New Roman" panose="02020603050405020304" pitchFamily="18" charset="0"/>
                <a:cs typeface="Times New Roman" panose="02020603050405020304" pitchFamily="18" charset="0"/>
              </a:rPr>
              <a:t>2006 </a:t>
            </a:r>
            <a:r>
              <a:rPr lang="zh-CN" altLang="en-US" sz="8000" dirty="0">
                <a:latin typeface="Times New Roman" panose="02020603050405020304" pitchFamily="18" charset="0"/>
                <a:cs typeface="Times New Roman" panose="02020603050405020304" pitchFamily="18" charset="0"/>
              </a:rPr>
              <a:t>年调整为“五虎将”，</a:t>
            </a:r>
            <a:r>
              <a:rPr lang="en-US" altLang="zh-CN" sz="8000" dirty="0">
                <a:latin typeface="Times New Roman" panose="02020603050405020304" pitchFamily="18" charset="0"/>
                <a:cs typeface="Times New Roman" panose="02020603050405020304" pitchFamily="18" charset="0"/>
              </a:rPr>
              <a:t>2011 </a:t>
            </a:r>
            <a:r>
              <a:rPr lang="zh-CN" altLang="en-US" sz="8000" dirty="0">
                <a:latin typeface="Times New Roman" panose="02020603050405020304" pitchFamily="18" charset="0"/>
                <a:cs typeface="Times New Roman" panose="02020603050405020304" pitchFamily="18" charset="0"/>
              </a:rPr>
              <a:t>年调整为“独孤七剑”，</a:t>
            </a:r>
            <a:r>
              <a:rPr lang="en-US" altLang="zh-CN" sz="8000" dirty="0">
                <a:latin typeface="Times New Roman" panose="02020603050405020304" pitchFamily="18" charset="0"/>
                <a:cs typeface="Times New Roman" panose="02020603050405020304" pitchFamily="18" charset="0"/>
              </a:rPr>
              <a:t>2013 </a:t>
            </a:r>
            <a:r>
              <a:rPr lang="zh-CN" altLang="en-US" sz="8000" dirty="0">
                <a:latin typeface="Times New Roman" panose="02020603050405020304" pitchFamily="18" charset="0"/>
                <a:cs typeface="Times New Roman" panose="02020603050405020304" pitchFamily="18" charset="0"/>
              </a:rPr>
              <a:t>年变为“独孤九剑”，</a:t>
            </a:r>
            <a:r>
              <a:rPr lang="en-US" altLang="zh-CN" sz="8000" dirty="0">
                <a:latin typeface="Times New Roman" panose="02020603050405020304" pitchFamily="18" charset="0"/>
                <a:cs typeface="Times New Roman" panose="02020603050405020304" pitchFamily="18" charset="0"/>
              </a:rPr>
              <a:t>2015 </a:t>
            </a:r>
            <a:r>
              <a:rPr lang="zh-CN" altLang="en-US" sz="8000" dirty="0">
                <a:latin typeface="Times New Roman" panose="02020603050405020304" pitchFamily="18" charset="0"/>
                <a:cs typeface="Times New Roman" panose="02020603050405020304" pitchFamily="18" charset="0"/>
              </a:rPr>
              <a:t>年底调整为“小前台、大中台”互为协同的创新管理模式，</a:t>
            </a:r>
            <a:r>
              <a:rPr lang="en-US" altLang="zh-CN" sz="8000" dirty="0">
                <a:latin typeface="Times New Roman" panose="02020603050405020304" pitchFamily="18" charset="0"/>
                <a:cs typeface="Times New Roman" panose="02020603050405020304" pitchFamily="18" charset="0"/>
              </a:rPr>
              <a:t>2016 </a:t>
            </a:r>
            <a:r>
              <a:rPr lang="zh-CN" altLang="en-US" sz="8000" dirty="0">
                <a:latin typeface="Times New Roman" panose="02020603050405020304" pitchFamily="18" charset="0"/>
                <a:cs typeface="Times New Roman" panose="02020603050405020304" pitchFamily="18" charset="0"/>
              </a:rPr>
              <a:t>年底将天猫与聚划算整合推出“三纵两横”架构，</a:t>
            </a:r>
            <a:r>
              <a:rPr lang="en-US" altLang="zh-CN" sz="8000" dirty="0">
                <a:latin typeface="Times New Roman" panose="02020603050405020304" pitchFamily="18" charset="0"/>
                <a:cs typeface="Times New Roman" panose="02020603050405020304" pitchFamily="18" charset="0"/>
              </a:rPr>
              <a:t>2017 </a:t>
            </a:r>
            <a:r>
              <a:rPr lang="zh-CN" altLang="en-US" sz="8000" dirty="0">
                <a:latin typeface="Times New Roman" panose="02020603050405020304" pitchFamily="18" charset="0"/>
                <a:cs typeface="Times New Roman" panose="02020603050405020304" pitchFamily="18" charset="0"/>
              </a:rPr>
              <a:t>年对多名高管重新任命与轮换对调。</a:t>
            </a:r>
            <a:endParaRPr lang="en-US" altLang="zh-CN" sz="8000" dirty="0" smtClean="0">
              <a:latin typeface="Times New Roman" panose="02020603050405020304" pitchFamily="18" charset="0"/>
              <a:cs typeface="Times New Roman" panose="02020603050405020304" pitchFamily="18" charset="0"/>
            </a:endParaRPr>
          </a:p>
          <a:p>
            <a:pPr marL="0" indent="0" algn="just">
              <a:lnSpc>
                <a:spcPct val="120000"/>
              </a:lnSpc>
              <a:buNone/>
            </a:pPr>
            <a:r>
              <a:rPr lang="zh-CN" altLang="en-US" sz="8000" dirty="0">
                <a:latin typeface="Times New Roman" panose="02020603050405020304" pitchFamily="18" charset="0"/>
                <a:cs typeface="Times New Roman" panose="02020603050405020304" pitchFamily="18" charset="0"/>
              </a:rPr>
              <a:t>公司</a:t>
            </a:r>
            <a:r>
              <a:rPr lang="zh-CN" altLang="en-US" sz="8000" dirty="0" smtClean="0">
                <a:latin typeface="Times New Roman" panose="02020603050405020304" pitchFamily="18" charset="0"/>
                <a:cs typeface="Times New Roman" panose="02020603050405020304" pitchFamily="18" charset="0"/>
              </a:rPr>
              <a:t>始终坚守</a:t>
            </a:r>
            <a:r>
              <a:rPr lang="zh-CN" altLang="en-US" sz="8000" dirty="0">
                <a:latin typeface="Times New Roman" panose="02020603050405020304" pitchFamily="18" charset="0"/>
                <a:cs typeface="Times New Roman" panose="02020603050405020304" pitchFamily="18" charset="0"/>
              </a:rPr>
              <a:t>未变的就是</a:t>
            </a:r>
            <a:r>
              <a:rPr lang="zh-CN" altLang="en-US" sz="8000" dirty="0">
                <a:solidFill>
                  <a:srgbClr val="FF0000"/>
                </a:solidFill>
                <a:latin typeface="Times New Roman" panose="02020603050405020304" pitchFamily="18" charset="0"/>
                <a:cs typeface="Times New Roman" panose="02020603050405020304" pitchFamily="18" charset="0"/>
              </a:rPr>
              <a:t>明确坚定的战略承诺</a:t>
            </a:r>
            <a:r>
              <a:rPr lang="zh-CN" altLang="en-US" sz="8000" dirty="0">
                <a:latin typeface="Times New Roman" panose="02020603050405020304" pitchFamily="18" charset="0"/>
                <a:cs typeface="Times New Roman" panose="02020603050405020304" pitchFamily="18" charset="0"/>
              </a:rPr>
              <a:t>。秉承“让天下没有</a:t>
            </a:r>
            <a:r>
              <a:rPr lang="zh-CN" altLang="en-US" sz="8000" dirty="0" smtClean="0">
                <a:latin typeface="Times New Roman" panose="02020603050405020304" pitchFamily="18" charset="0"/>
                <a:cs typeface="Times New Roman" panose="02020603050405020304" pitchFamily="18" charset="0"/>
              </a:rPr>
              <a:t>难做</a:t>
            </a:r>
            <a:r>
              <a:rPr lang="zh-CN" altLang="en-US" sz="8000" dirty="0">
                <a:latin typeface="Times New Roman" panose="02020603050405020304" pitchFamily="18" charset="0"/>
                <a:cs typeface="Times New Roman" panose="02020603050405020304" pitchFamily="18" charset="0"/>
              </a:rPr>
              <a:t>的生意”的宗旨，十几年来，公司始终把中小企业生存、成长和发展作为</a:t>
            </a:r>
            <a:r>
              <a:rPr lang="zh-CN" altLang="en-US" sz="8000" dirty="0" smtClean="0">
                <a:latin typeface="Times New Roman" panose="02020603050405020304" pitchFamily="18" charset="0"/>
                <a:cs typeface="Times New Roman" panose="02020603050405020304" pitchFamily="18" charset="0"/>
              </a:rPr>
              <a:t>自身生存</a:t>
            </a:r>
            <a:r>
              <a:rPr lang="zh-CN" altLang="en-US" sz="8000" dirty="0">
                <a:latin typeface="Times New Roman" panose="02020603050405020304" pitchFamily="18" charset="0"/>
                <a:cs typeface="Times New Roman" panose="02020603050405020304" pitchFamily="18" charset="0"/>
              </a:rPr>
              <a:t>、成长的根基和希望。</a:t>
            </a:r>
            <a:endParaRPr lang="zh-CN" altLang="en-US" sz="8000" dirty="0">
              <a:latin typeface="Times New Roman" panose="02020603050405020304" pitchFamily="18" charset="0"/>
              <a:cs typeface="Times New Roman" panose="02020603050405020304" pitchFamily="18" charset="0"/>
            </a:endParaRPr>
          </a:p>
          <a:p>
            <a:pPr marL="0" indent="0" algn="just">
              <a:lnSpc>
                <a:spcPct val="120000"/>
              </a:lnSpc>
              <a:buNone/>
            </a:pPr>
            <a:endParaRPr lang="zh-CN" altLang="en-US" sz="8000" dirty="0">
              <a:latin typeface="Times New Roman" panose="02020603050405020304" pitchFamily="18" charset="0"/>
              <a:cs typeface="Times New Roman" panose="02020603050405020304" pitchFamily="18" charset="0"/>
            </a:endParaRPr>
          </a:p>
        </p:txBody>
      </p:sp>
      <p:sp>
        <p:nvSpPr>
          <p:cNvPr id="9" name="矩形 8"/>
          <p:cNvSpPr/>
          <p:nvPr/>
        </p:nvSpPr>
        <p:spPr>
          <a:xfrm>
            <a:off x="1194686" y="89829"/>
            <a:ext cx="4232405" cy="460375"/>
          </a:xfrm>
          <a:prstGeom prst="rect">
            <a:avLst/>
          </a:prstGeom>
        </p:spPr>
        <p:txBody>
          <a:bodyPr wrap="square">
            <a:spAutoFit/>
          </a:bodyPr>
          <a:lstStyle/>
          <a:p>
            <a:r>
              <a:rPr lang="zh-CN" altLang="en-US" sz="2400" dirty="0" smtClean="0"/>
              <a:t>导入案例：阿里巴巴</a:t>
            </a:r>
            <a:endParaRPr lang="zh-CN" altLang="en-US" sz="3200" dirty="0">
              <a:solidFill>
                <a:srgbClr val="FF0000"/>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00160" y="2964180"/>
            <a:ext cx="3166745" cy="3310255"/>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0160" y="1072515"/>
            <a:ext cx="3166110" cy="12045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nvPr>
        </p:nvSpPr>
        <p:spPr>
          <a:xfrm>
            <a:off x="775970" y="857885"/>
            <a:ext cx="7874000" cy="7941310"/>
          </a:xfrm>
        </p:spPr>
        <p:txBody>
          <a:bodyPr>
            <a:normAutofit/>
          </a:bodyPr>
          <a:lstStyle/>
          <a:p>
            <a:pPr marL="0" indent="0" algn="just">
              <a:lnSpc>
                <a:spcPct val="120000"/>
              </a:lnSpc>
              <a:buNone/>
            </a:pPr>
            <a:r>
              <a:rPr lang="zh-CN" altLang="en-US" dirty="0">
                <a:solidFill>
                  <a:srgbClr val="FF0000"/>
                </a:solidFill>
                <a:latin typeface="Times New Roman" panose="02020603050405020304" pitchFamily="18" charset="0"/>
                <a:cs typeface="Times New Roman" panose="02020603050405020304" pitchFamily="18" charset="0"/>
              </a:rPr>
              <a:t>阿里巴巴的愿景</a:t>
            </a:r>
            <a:r>
              <a:rPr lang="zh-CN" altLang="en-US" dirty="0">
                <a:latin typeface="Times New Roman" panose="02020603050405020304" pitchFamily="18" charset="0"/>
                <a:cs typeface="Times New Roman" panose="02020603050405020304" pitchFamily="18" charset="0"/>
              </a:rPr>
              <a:t>：构建未来的商务生态系统。让客户相会、工作和生活在阿里巴巴，并持续发展最少102 年。</a:t>
            </a:r>
            <a:endParaRPr lang="zh-CN" altLang="en-US" dirty="0">
              <a:latin typeface="Times New Roman" panose="02020603050405020304" pitchFamily="18" charset="0"/>
              <a:cs typeface="Times New Roman" panose="02020603050405020304" pitchFamily="18" charset="0"/>
            </a:endParaRPr>
          </a:p>
          <a:p>
            <a:pPr marL="0" indent="0" algn="just">
              <a:lnSpc>
                <a:spcPct val="120000"/>
              </a:lnSpc>
              <a:buNone/>
            </a:pPr>
            <a:r>
              <a:rPr lang="zh-CN" altLang="en-US" dirty="0">
                <a:latin typeface="Times New Roman" panose="02020603050405020304" pitchFamily="18" charset="0"/>
                <a:cs typeface="Times New Roman" panose="02020603050405020304" pitchFamily="18" charset="0"/>
              </a:rPr>
              <a:t>正是对战略承诺的恪守，推动着阿里巴巴不断创造奇迹。短短的19年，阿里巴巴由最初 18 个人、50 万元创业资本，迅速发展成为雇员超过 70000 人、2017 年市值一度接近5000亿美元的电子商务帝国，在全球高科技公司中仅次于苹果、 谷歌和微软排在第四，而在全球互联网公司中仅次于谷歌排在第二。</a:t>
            </a:r>
            <a:endParaRPr lang="zh-CN" altLang="en-US" dirty="0">
              <a:latin typeface="Times New Roman" panose="02020603050405020304" pitchFamily="18" charset="0"/>
              <a:cs typeface="Times New Roman" panose="02020603050405020304" pitchFamily="18" charset="0"/>
            </a:endParaRPr>
          </a:p>
        </p:txBody>
      </p:sp>
      <p:sp>
        <p:nvSpPr>
          <p:cNvPr id="9" name="矩形 8"/>
          <p:cNvSpPr/>
          <p:nvPr/>
        </p:nvSpPr>
        <p:spPr>
          <a:xfrm>
            <a:off x="1194686" y="89829"/>
            <a:ext cx="4232405" cy="460375"/>
          </a:xfrm>
          <a:prstGeom prst="rect">
            <a:avLst/>
          </a:prstGeom>
        </p:spPr>
        <p:txBody>
          <a:bodyPr wrap="square">
            <a:spAutoFit/>
          </a:bodyPr>
          <a:lstStyle/>
          <a:p>
            <a:r>
              <a:rPr lang="zh-CN" altLang="en-US" sz="2400" dirty="0" smtClean="0"/>
              <a:t>导入案例：阿里巴巴</a:t>
            </a:r>
            <a:endParaRPr lang="zh-CN" altLang="en-US" sz="3200" dirty="0">
              <a:solidFill>
                <a:srgbClr val="FF0000"/>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97925" y="2515870"/>
            <a:ext cx="3009265" cy="3639185"/>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0160" y="1390650"/>
            <a:ext cx="2907030" cy="488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由阿里巴巴的成功历程中可以看出：</a:t>
            </a:r>
            <a:endParaRPr lang="zh-CN" altLang="en-US" dirty="0"/>
          </a:p>
        </p:txBody>
      </p:sp>
      <p:sp>
        <p:nvSpPr>
          <p:cNvPr id="3" name="内容占位符 2"/>
          <p:cNvSpPr>
            <a:spLocks noGrp="1"/>
          </p:cNvSpPr>
          <p:nvPr>
            <p:ph sz="half" idx="1"/>
          </p:nvPr>
        </p:nvSpPr>
        <p:spPr>
          <a:xfrm>
            <a:off x="612775" y="1464945"/>
            <a:ext cx="11128375" cy="5158105"/>
          </a:xfrm>
        </p:spPr>
        <p:txBody>
          <a:bodyPr>
            <a:noAutofit/>
          </a:bodyPr>
          <a:lstStyle/>
          <a:p>
            <a:r>
              <a:rPr lang="zh-CN" altLang="en-US" sz="3200" dirty="0" smtClean="0"/>
              <a:t>阿里巴巴的成功在很大程度上应当归于其对</a:t>
            </a:r>
            <a:r>
              <a:rPr lang="zh-CN" altLang="en-US" sz="3200" b="1" dirty="0" smtClean="0">
                <a:solidFill>
                  <a:srgbClr val="FF0000"/>
                </a:solidFill>
              </a:rPr>
              <a:t>战略承诺的坚持</a:t>
            </a:r>
            <a:r>
              <a:rPr lang="en-US" altLang="zh-CN" sz="3200" b="1" dirty="0" smtClean="0">
                <a:solidFill>
                  <a:srgbClr val="FF0000"/>
                </a:solidFill>
              </a:rPr>
              <a:t>——</a:t>
            </a:r>
            <a:r>
              <a:rPr lang="zh-CN" altLang="en-US" sz="3200" b="1" dirty="0" smtClean="0">
                <a:solidFill>
                  <a:srgbClr val="FF0000"/>
                </a:solidFill>
              </a:rPr>
              <a:t>也就是企业战略承诺需要坚定！</a:t>
            </a:r>
            <a:endParaRPr lang="en-US" altLang="zh-CN" sz="3200" dirty="0" smtClean="0"/>
          </a:p>
          <a:p>
            <a:r>
              <a:rPr lang="zh-CN" altLang="en-US" sz="3200" dirty="0" smtClean="0"/>
              <a:t>正是承诺</a:t>
            </a:r>
            <a:r>
              <a:rPr lang="zh-CN" altLang="en-US" sz="3200" dirty="0"/>
              <a:t>坚定才确保公司在长期发展各个关键时点都做出正确的战略选择，包括不断将最重要的资源投放到自己的核心业务，不断在核心业务的关键价值创造环节建立和发挥核心</a:t>
            </a:r>
            <a:r>
              <a:rPr lang="zh-CN" altLang="en-US" sz="3200" dirty="0" smtClean="0"/>
              <a:t>专长，从而</a:t>
            </a:r>
            <a:r>
              <a:rPr lang="zh-CN" altLang="en-US" sz="3200" dirty="0"/>
              <a:t>使公司的核心业务从</a:t>
            </a:r>
            <a:r>
              <a:rPr lang="en-US" altLang="zh-CN" sz="3200" dirty="0"/>
              <a:t>B2B </a:t>
            </a:r>
            <a:r>
              <a:rPr lang="zh-CN" altLang="en-US" sz="3200" dirty="0"/>
              <a:t>拓展到</a:t>
            </a:r>
            <a:r>
              <a:rPr lang="en-US" altLang="zh-CN" sz="3200" dirty="0"/>
              <a:t>C2B2C</a:t>
            </a:r>
            <a:r>
              <a:rPr lang="zh-CN" altLang="en-US" sz="3200" dirty="0"/>
              <a:t>与</a:t>
            </a:r>
            <a:r>
              <a:rPr lang="en-US" altLang="zh-CN" sz="3200" dirty="0"/>
              <a:t>B2B2C</a:t>
            </a:r>
            <a:r>
              <a:rPr lang="zh-CN" altLang="en-US" sz="3200" dirty="0"/>
              <a:t>，再从社交终端、移动互联网进一步拓展到金融、物流和大数据平台</a:t>
            </a:r>
            <a:r>
              <a:rPr lang="zh-CN" altLang="en-US" sz="3200" dirty="0" smtClean="0"/>
              <a:t>。</a:t>
            </a:r>
            <a:endParaRPr lang="en-US" altLang="zh-CN" sz="3200" dirty="0" smtClean="0"/>
          </a:p>
          <a:p>
            <a:r>
              <a:rPr lang="zh-CN" altLang="en-US" sz="3200" dirty="0" smtClean="0"/>
              <a:t>随着内外环境的变化，市场范围可以变化，业务范围可以变化，组织结构也可以调整，但战略承诺更多的是需要坚定。</a:t>
            </a:r>
            <a:endParaRPr lang="en-US" altLang="zh-CN" sz="3200" dirty="0"/>
          </a:p>
          <a:p>
            <a:endParaRPr lang="en-US" altLang="zh-CN"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5296799" y="1499690"/>
            <a:ext cx="5558469" cy="1155566"/>
          </a:xfrm>
        </p:spPr>
        <p:txBody>
          <a:bodyPr>
            <a:normAutofit/>
          </a:bodyPr>
          <a:lstStyle/>
          <a:p>
            <a:pPr algn="ctr"/>
            <a:r>
              <a:rPr lang="zh-CN" altLang="en-US" sz="2800" dirty="0"/>
              <a:t>第一节</a:t>
            </a:r>
            <a:endParaRPr lang="zh-CN" altLang="en-US" sz="2800" dirty="0"/>
          </a:p>
        </p:txBody>
      </p:sp>
      <p:sp>
        <p:nvSpPr>
          <p:cNvPr id="6" name="文本占位符 5"/>
          <p:cNvSpPr>
            <a:spLocks noGrp="1"/>
          </p:cNvSpPr>
          <p:nvPr>
            <p:ph type="body" idx="1"/>
          </p:nvPr>
        </p:nvSpPr>
        <p:spPr>
          <a:xfrm>
            <a:off x="5257801" y="2720196"/>
            <a:ext cx="6934200" cy="615454"/>
          </a:xfrm>
        </p:spPr>
        <p:txBody>
          <a:bodyPr/>
          <a:lstStyle/>
          <a:p>
            <a:pPr algn="ctr"/>
            <a:r>
              <a:rPr lang="zh-CN" altLang="en-US" sz="4000" dirty="0" smtClean="0"/>
              <a:t>战略问题的确认与决策的原则</a:t>
            </a:r>
            <a:endParaRPr lang="zh-CN" altLang="en-US" sz="4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510934" y="5030943"/>
            <a:ext cx="9716863" cy="1487557"/>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矩形 6"/>
          <p:cNvSpPr/>
          <p:nvPr/>
        </p:nvSpPr>
        <p:spPr>
          <a:xfrm>
            <a:off x="1510934" y="978479"/>
            <a:ext cx="9716863"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文本占位符 3"/>
          <p:cNvSpPr>
            <a:spLocks noGrp="1"/>
          </p:cNvSpPr>
          <p:nvPr>
            <p:ph type="body" idx="1"/>
          </p:nvPr>
        </p:nvSpPr>
        <p:spPr/>
        <p:txBody>
          <a:bodyPr/>
          <a:lstStyle/>
          <a:p>
            <a:r>
              <a:rPr lang="en-US" altLang="zh-CN" dirty="0"/>
              <a:t>1.</a:t>
            </a:r>
            <a:r>
              <a:rPr lang="zh-CN" altLang="en-US" dirty="0" smtClean="0"/>
              <a:t>战略问题的确认</a:t>
            </a:r>
            <a:endParaRPr lang="zh-CN" altLang="en-US" dirty="0"/>
          </a:p>
        </p:txBody>
      </p:sp>
      <p:sp>
        <p:nvSpPr>
          <p:cNvPr id="8" name="矩形 7"/>
          <p:cNvSpPr/>
          <p:nvPr/>
        </p:nvSpPr>
        <p:spPr>
          <a:xfrm>
            <a:off x="1701231" y="1226386"/>
            <a:ext cx="3338049" cy="523220"/>
          </a:xfrm>
          <a:prstGeom prst="rect">
            <a:avLst/>
          </a:prstGeom>
        </p:spPr>
        <p:txBody>
          <a:bodyPr wrap="square">
            <a:spAutoFit/>
          </a:bodyPr>
          <a:lstStyle/>
          <a:p>
            <a:r>
              <a:rPr lang="zh-CN" altLang="en-US" sz="2800" dirty="0">
                <a:solidFill>
                  <a:prstClr val="black"/>
                </a:solidFill>
              </a:rPr>
              <a:t>战略问题</a:t>
            </a:r>
            <a:endParaRPr lang="zh-CN" altLang="en-US" sz="2800" dirty="0">
              <a:solidFill>
                <a:prstClr val="black"/>
              </a:solidFill>
            </a:endParaRPr>
          </a:p>
        </p:txBody>
      </p:sp>
      <p:sp>
        <p:nvSpPr>
          <p:cNvPr id="10" name="矩形 9"/>
          <p:cNvSpPr/>
          <p:nvPr/>
        </p:nvSpPr>
        <p:spPr>
          <a:xfrm>
            <a:off x="1716926" y="4533849"/>
            <a:ext cx="3498082" cy="523220"/>
          </a:xfrm>
          <a:prstGeom prst="rect">
            <a:avLst/>
          </a:prstGeom>
        </p:spPr>
        <p:txBody>
          <a:bodyPr wrap="square">
            <a:spAutoFit/>
          </a:bodyPr>
          <a:lstStyle/>
          <a:p>
            <a:r>
              <a:rPr lang="zh-CN" altLang="en-US" sz="2800" dirty="0" smtClean="0">
                <a:solidFill>
                  <a:prstClr val="black"/>
                </a:solidFill>
              </a:rPr>
              <a:t>识别战略问题性质</a:t>
            </a:r>
            <a:endParaRPr lang="zh-CN" altLang="en-US" sz="2800" dirty="0">
              <a:solidFill>
                <a:prstClr val="black"/>
              </a:solidFill>
            </a:endParaRPr>
          </a:p>
        </p:txBody>
      </p:sp>
      <p:sp>
        <p:nvSpPr>
          <p:cNvPr id="13" name="椭圆 12"/>
          <p:cNvSpPr/>
          <p:nvPr/>
        </p:nvSpPr>
        <p:spPr>
          <a:xfrm>
            <a:off x="1045449" y="1145308"/>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1</a:t>
            </a:r>
            <a:endParaRPr lang="zh-CN" altLang="en-US" sz="3200" dirty="0">
              <a:solidFill>
                <a:prstClr val="white"/>
              </a:solidFill>
            </a:endParaRPr>
          </a:p>
        </p:txBody>
      </p:sp>
      <p:sp>
        <p:nvSpPr>
          <p:cNvPr id="14" name="椭圆 13"/>
          <p:cNvSpPr/>
          <p:nvPr/>
        </p:nvSpPr>
        <p:spPr>
          <a:xfrm>
            <a:off x="1061144" y="4515065"/>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3</a:t>
            </a:r>
            <a:endParaRPr lang="zh-CN" altLang="en-US" sz="3200" dirty="0">
              <a:solidFill>
                <a:prstClr val="white"/>
              </a:solidFill>
            </a:endParaRPr>
          </a:p>
        </p:txBody>
      </p:sp>
      <p:cxnSp>
        <p:nvCxnSpPr>
          <p:cNvPr id="16" name="直接连接符 15"/>
          <p:cNvCxnSpPr>
            <a:stCxn id="21" idx="4"/>
            <a:endCxn id="14" idx="0"/>
          </p:cNvCxnSpPr>
          <p:nvPr/>
        </p:nvCxnSpPr>
        <p:spPr>
          <a:xfrm>
            <a:off x="1380892" y="3521460"/>
            <a:ext cx="8143" cy="993605"/>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524762" y="3028365"/>
            <a:ext cx="9716863" cy="150548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prstClr val="white"/>
              </a:solidFill>
            </a:endParaRPr>
          </a:p>
        </p:txBody>
      </p:sp>
      <p:sp>
        <p:nvSpPr>
          <p:cNvPr id="17" name="矩形 16"/>
          <p:cNvSpPr/>
          <p:nvPr/>
        </p:nvSpPr>
        <p:spPr>
          <a:xfrm>
            <a:off x="1509432" y="2009331"/>
            <a:ext cx="9716863"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矩形 18"/>
          <p:cNvSpPr/>
          <p:nvPr/>
        </p:nvSpPr>
        <p:spPr>
          <a:xfrm>
            <a:off x="1701230" y="2881423"/>
            <a:ext cx="6071169" cy="523220"/>
          </a:xfrm>
          <a:prstGeom prst="rect">
            <a:avLst/>
          </a:prstGeom>
        </p:spPr>
        <p:txBody>
          <a:bodyPr wrap="square">
            <a:spAutoFit/>
          </a:bodyPr>
          <a:lstStyle/>
          <a:p>
            <a:r>
              <a:rPr lang="zh-CN" altLang="en-US" sz="2800" dirty="0" smtClean="0">
                <a:solidFill>
                  <a:prstClr val="black"/>
                </a:solidFill>
              </a:rPr>
              <a:t>确认战略问题：</a:t>
            </a:r>
            <a:r>
              <a:rPr lang="en-US" altLang="zh-CN" sz="2800" dirty="0" smtClean="0">
                <a:solidFill>
                  <a:prstClr val="black"/>
                </a:solidFill>
              </a:rPr>
              <a:t>SWOT</a:t>
            </a:r>
            <a:r>
              <a:rPr lang="zh-CN" altLang="en-US" sz="2800" dirty="0" smtClean="0">
                <a:solidFill>
                  <a:prstClr val="black"/>
                </a:solidFill>
              </a:rPr>
              <a:t>分析矩阵</a:t>
            </a:r>
            <a:endParaRPr lang="zh-CN" altLang="en-US" sz="2800" dirty="0">
              <a:solidFill>
                <a:prstClr val="black"/>
              </a:solidFill>
            </a:endParaRPr>
          </a:p>
        </p:txBody>
      </p:sp>
      <p:sp>
        <p:nvSpPr>
          <p:cNvPr id="20" name="矩形 19"/>
          <p:cNvSpPr/>
          <p:nvPr/>
        </p:nvSpPr>
        <p:spPr>
          <a:xfrm>
            <a:off x="3585171" y="2020036"/>
            <a:ext cx="7641125" cy="744756"/>
          </a:xfrm>
          <a:prstGeom prst="rect">
            <a:avLst/>
          </a:prstGeom>
        </p:spPr>
        <p:txBody>
          <a:bodyPr wrap="square">
            <a:spAutoFit/>
          </a:bodyPr>
          <a:lstStyle/>
          <a:p>
            <a:pPr marL="800100" lvl="1" indent="-342900">
              <a:lnSpc>
                <a:spcPct val="124000"/>
              </a:lnSpc>
              <a:buSzPct val="80000"/>
              <a:buFont typeface="Wingdings" panose="05000000000000000000" pitchFamily="2" charset="2"/>
              <a:buChar char="Ø"/>
            </a:pPr>
            <a:r>
              <a:rPr lang="zh-CN" altLang="en-US" dirty="0" smtClean="0">
                <a:solidFill>
                  <a:prstClr val="black"/>
                </a:solidFill>
              </a:rPr>
              <a:t>企业</a:t>
            </a:r>
            <a:r>
              <a:rPr lang="zh-CN" altLang="en-US" dirty="0">
                <a:solidFill>
                  <a:prstClr val="black"/>
                </a:solidFill>
              </a:rPr>
              <a:t>没有把握外部机会或者避免外部威胁的战略问题</a:t>
            </a:r>
            <a:r>
              <a:rPr lang="zh-CN" altLang="en-US" dirty="0" smtClean="0">
                <a:solidFill>
                  <a:prstClr val="black"/>
                </a:solidFill>
              </a:rPr>
              <a:t>；</a:t>
            </a:r>
            <a:endParaRPr lang="en-US" altLang="zh-CN" dirty="0" smtClean="0">
              <a:solidFill>
                <a:prstClr val="black"/>
              </a:solidFill>
            </a:endParaRPr>
          </a:p>
          <a:p>
            <a:pPr marL="800100" lvl="1" indent="-342900">
              <a:lnSpc>
                <a:spcPct val="124000"/>
              </a:lnSpc>
              <a:buSzPct val="80000"/>
              <a:buFont typeface="Wingdings" panose="05000000000000000000" pitchFamily="2" charset="2"/>
              <a:buChar char="Ø"/>
            </a:pPr>
            <a:r>
              <a:rPr lang="zh-CN" altLang="en-US" dirty="0" smtClean="0">
                <a:solidFill>
                  <a:prstClr val="black"/>
                </a:solidFill>
              </a:rPr>
              <a:t>企业</a:t>
            </a:r>
            <a:r>
              <a:rPr lang="zh-CN" altLang="en-US" dirty="0">
                <a:solidFill>
                  <a:prstClr val="black"/>
                </a:solidFill>
              </a:rPr>
              <a:t>没有发挥优势或者克服劣势的战略问题。</a:t>
            </a:r>
            <a:endParaRPr lang="zh-CN" altLang="en-US" dirty="0">
              <a:solidFill>
                <a:prstClr val="black"/>
              </a:solidFill>
            </a:endParaRPr>
          </a:p>
        </p:txBody>
      </p:sp>
      <p:sp>
        <p:nvSpPr>
          <p:cNvPr id="21" name="椭圆 20"/>
          <p:cNvSpPr/>
          <p:nvPr/>
        </p:nvSpPr>
        <p:spPr>
          <a:xfrm>
            <a:off x="1053001" y="2884151"/>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2</a:t>
            </a:r>
            <a:endParaRPr lang="zh-CN" altLang="en-US" sz="3200" dirty="0">
              <a:solidFill>
                <a:prstClr val="white"/>
              </a:solidFill>
            </a:endParaRPr>
          </a:p>
        </p:txBody>
      </p:sp>
      <p:cxnSp>
        <p:nvCxnSpPr>
          <p:cNvPr id="22" name="直接连接符 21"/>
          <p:cNvCxnSpPr>
            <a:stCxn id="13" idx="4"/>
            <a:endCxn id="21" idx="0"/>
          </p:cNvCxnSpPr>
          <p:nvPr/>
        </p:nvCxnSpPr>
        <p:spPr>
          <a:xfrm>
            <a:off x="1373340" y="1782617"/>
            <a:ext cx="7552" cy="1101534"/>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889972" y="1174748"/>
            <a:ext cx="7218630" cy="645160"/>
          </a:xfrm>
          <a:prstGeom prst="rect">
            <a:avLst/>
          </a:prstGeom>
        </p:spPr>
        <p:txBody>
          <a:bodyPr wrap="square">
            <a:spAutoFit/>
          </a:bodyPr>
          <a:lstStyle/>
          <a:p>
            <a:r>
              <a:rPr lang="zh-CN" altLang="zh-CN" kern="100" dirty="0">
                <a:solidFill>
                  <a:prstClr val="black"/>
                </a:solidFill>
                <a:latin typeface="黑体" panose="02010609060101010101" charset="-122"/>
                <a:cs typeface="Times New Roman" panose="02020603050405020304" pitchFamily="18" charset="0"/>
              </a:rPr>
              <a:t>战略问题是那些源自企业内部和外部关键环境因素的趋势性变化，并且对企业现在和未来发展具有重大、整体和长期性影响的问题</a:t>
            </a:r>
            <a:endParaRPr lang="zh-CN" altLang="en-US" dirty="0">
              <a:solidFill>
                <a:prstClr val="black"/>
              </a:solidFill>
              <a:latin typeface="黑体" panose="02010609060101010101" charset="-122"/>
            </a:endParaRPr>
          </a:p>
        </p:txBody>
      </p:sp>
      <p:sp>
        <p:nvSpPr>
          <p:cNvPr id="23" name="矩形 22"/>
          <p:cNvSpPr/>
          <p:nvPr/>
        </p:nvSpPr>
        <p:spPr>
          <a:xfrm>
            <a:off x="3465967" y="5052465"/>
            <a:ext cx="7641125" cy="1463040"/>
          </a:xfrm>
          <a:prstGeom prst="rect">
            <a:avLst/>
          </a:prstGeom>
        </p:spPr>
        <p:txBody>
          <a:bodyPr wrap="square">
            <a:spAutoFit/>
          </a:bodyPr>
          <a:lstStyle/>
          <a:p>
            <a:pPr marL="800100" lvl="1" indent="-342900">
              <a:lnSpc>
                <a:spcPct val="124000"/>
              </a:lnSpc>
              <a:buSzPct val="80000"/>
              <a:buFont typeface="Wingdings" panose="05000000000000000000" pitchFamily="2" charset="2"/>
              <a:buChar char="Ø"/>
            </a:pPr>
            <a:r>
              <a:rPr lang="zh-CN" altLang="en-US" dirty="0">
                <a:solidFill>
                  <a:prstClr val="black"/>
                </a:solidFill>
              </a:rPr>
              <a:t>根据战略问题的性质判断战略制定工作主要在哪个层次展开，战略制定任务的主要内容是什么以及战略制定的任务应由谁</a:t>
            </a:r>
            <a:r>
              <a:rPr lang="zh-CN" altLang="en-US" dirty="0" smtClean="0">
                <a:solidFill>
                  <a:prstClr val="black"/>
                </a:solidFill>
              </a:rPr>
              <a:t>完成。</a:t>
            </a:r>
            <a:endParaRPr lang="en-US" altLang="zh-CN" dirty="0">
              <a:solidFill>
                <a:prstClr val="black"/>
              </a:solidFill>
            </a:endParaRPr>
          </a:p>
          <a:p>
            <a:pPr marL="800100" lvl="1" indent="-342900">
              <a:lnSpc>
                <a:spcPct val="124000"/>
              </a:lnSpc>
              <a:buSzPct val="80000"/>
              <a:buFont typeface="Wingdings" panose="05000000000000000000" pitchFamily="2" charset="2"/>
              <a:buChar char="Ø"/>
            </a:pPr>
            <a:r>
              <a:rPr lang="zh-CN" altLang="en-US" dirty="0">
                <a:solidFill>
                  <a:prstClr val="black"/>
                </a:solidFill>
              </a:rPr>
              <a:t>企业战略管理者需要根据战略问题判断战略调整将主要发生在什么逻辑层次上。</a:t>
            </a:r>
            <a:endParaRPr lang="zh-CN" altLang="en-US" dirty="0">
              <a:solidFill>
                <a:prstClr val="black"/>
              </a:solidFill>
            </a:endParaRPr>
          </a:p>
        </p:txBody>
      </p:sp>
      <p:sp>
        <p:nvSpPr>
          <p:cNvPr id="33" name="矩形 32"/>
          <p:cNvSpPr/>
          <p:nvPr/>
        </p:nvSpPr>
        <p:spPr>
          <a:xfrm>
            <a:off x="3585170" y="3389659"/>
            <a:ext cx="7641125" cy="1122808"/>
          </a:xfrm>
          <a:prstGeom prst="rect">
            <a:avLst/>
          </a:prstGeom>
        </p:spPr>
        <p:txBody>
          <a:bodyPr wrap="square">
            <a:spAutoFit/>
          </a:bodyPr>
          <a:lstStyle/>
          <a:p>
            <a:pPr marL="800100" lvl="1" indent="-342900">
              <a:lnSpc>
                <a:spcPct val="124000"/>
              </a:lnSpc>
              <a:buSzPct val="80000"/>
              <a:buFont typeface="Wingdings" panose="05000000000000000000" pitchFamily="2" charset="2"/>
              <a:buChar char="Ø"/>
            </a:pPr>
            <a:r>
              <a:rPr lang="zh-CN" altLang="en-US" dirty="0">
                <a:solidFill>
                  <a:prstClr val="black"/>
                </a:solidFill>
              </a:rPr>
              <a:t>通过外部和内部环境分析找到企业可能面临的战略问题</a:t>
            </a:r>
            <a:r>
              <a:rPr lang="zh-CN" altLang="en-US" dirty="0" smtClean="0">
                <a:solidFill>
                  <a:prstClr val="black"/>
                </a:solidFill>
              </a:rPr>
              <a:t>；</a:t>
            </a:r>
            <a:endParaRPr lang="en-US" altLang="zh-CN" dirty="0" smtClean="0">
              <a:solidFill>
                <a:prstClr val="black"/>
              </a:solidFill>
            </a:endParaRPr>
          </a:p>
          <a:p>
            <a:pPr marL="800100" lvl="1" indent="-342900">
              <a:lnSpc>
                <a:spcPct val="124000"/>
              </a:lnSpc>
              <a:buSzPct val="80000"/>
              <a:buFont typeface="Wingdings" panose="05000000000000000000" pitchFamily="2" charset="2"/>
              <a:buChar char="Ø"/>
            </a:pPr>
            <a:r>
              <a:rPr lang="zh-CN" altLang="en-US" dirty="0" smtClean="0">
                <a:solidFill>
                  <a:prstClr val="black"/>
                </a:solidFill>
              </a:rPr>
              <a:t>通过</a:t>
            </a:r>
            <a:r>
              <a:rPr lang="en-US" altLang="zh-CN" dirty="0">
                <a:solidFill>
                  <a:prstClr val="black"/>
                </a:solidFill>
              </a:rPr>
              <a:t>SWOT</a:t>
            </a:r>
            <a:r>
              <a:rPr lang="zh-CN" altLang="en-US" dirty="0">
                <a:solidFill>
                  <a:prstClr val="black"/>
                </a:solidFill>
              </a:rPr>
              <a:t>的反复比对或者组合，最终确认企业所面临的现实战略问题，即有可能解决的战略</a:t>
            </a:r>
            <a:r>
              <a:rPr lang="zh-CN" altLang="en-US" dirty="0" smtClean="0">
                <a:solidFill>
                  <a:prstClr val="black"/>
                </a:solidFill>
              </a:rPr>
              <a:t>问题：</a:t>
            </a:r>
            <a:r>
              <a:rPr lang="en-US" altLang="zh-CN" dirty="0" smtClean="0">
                <a:solidFill>
                  <a:prstClr val="black"/>
                </a:solidFill>
              </a:rPr>
              <a:t>ST</a:t>
            </a:r>
            <a:r>
              <a:rPr lang="zh-CN" altLang="en-US" dirty="0" smtClean="0">
                <a:solidFill>
                  <a:prstClr val="black"/>
                </a:solidFill>
              </a:rPr>
              <a:t>、</a:t>
            </a:r>
            <a:r>
              <a:rPr lang="en-US" altLang="zh-CN" dirty="0" smtClean="0">
                <a:solidFill>
                  <a:prstClr val="black"/>
                </a:solidFill>
              </a:rPr>
              <a:t>SO</a:t>
            </a:r>
            <a:r>
              <a:rPr lang="zh-CN" altLang="en-US" dirty="0" smtClean="0">
                <a:solidFill>
                  <a:prstClr val="black"/>
                </a:solidFill>
              </a:rPr>
              <a:t>、</a:t>
            </a:r>
            <a:r>
              <a:rPr lang="en-US" altLang="zh-CN" dirty="0" smtClean="0">
                <a:solidFill>
                  <a:prstClr val="black"/>
                </a:solidFill>
              </a:rPr>
              <a:t>WO</a:t>
            </a:r>
            <a:r>
              <a:rPr lang="zh-CN" altLang="en-US" dirty="0" smtClean="0">
                <a:solidFill>
                  <a:prstClr val="black"/>
                </a:solidFill>
              </a:rPr>
              <a:t>、</a:t>
            </a:r>
            <a:r>
              <a:rPr lang="en-US" altLang="zh-CN" dirty="0" smtClean="0">
                <a:solidFill>
                  <a:prstClr val="black"/>
                </a:solidFill>
              </a:rPr>
              <a:t>WT</a:t>
            </a:r>
            <a:r>
              <a:rPr lang="zh-CN" altLang="en-US" dirty="0" smtClean="0">
                <a:solidFill>
                  <a:prstClr val="black"/>
                </a:solidFill>
              </a:rPr>
              <a:t>四大类组合。</a:t>
            </a:r>
            <a:endParaRPr lang="zh-CN" altLang="en-US" dirty="0">
              <a:solidFill>
                <a:prstClr val="black"/>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585580" y="5056116"/>
            <a:ext cx="9649770" cy="1487557"/>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509428" y="4755687"/>
            <a:ext cx="9716863"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518486" y="2936576"/>
            <a:ext cx="9716863" cy="2115889"/>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idx="1"/>
          </p:nvPr>
        </p:nvSpPr>
        <p:spPr/>
        <p:txBody>
          <a:bodyPr/>
          <a:lstStyle/>
          <a:p>
            <a:r>
              <a:rPr lang="en-US" altLang="zh-CN" dirty="0" smtClean="0"/>
              <a:t>2.</a:t>
            </a:r>
            <a:r>
              <a:rPr lang="zh-CN" altLang="en-US" dirty="0" smtClean="0"/>
              <a:t>战略决策的原则</a:t>
            </a:r>
            <a:endParaRPr lang="zh-CN" altLang="en-US" dirty="0"/>
          </a:p>
        </p:txBody>
      </p:sp>
      <p:sp>
        <p:nvSpPr>
          <p:cNvPr id="8" name="矩形 7"/>
          <p:cNvSpPr/>
          <p:nvPr/>
        </p:nvSpPr>
        <p:spPr>
          <a:xfrm>
            <a:off x="1796942" y="2920358"/>
            <a:ext cx="3338049" cy="523220"/>
          </a:xfrm>
          <a:prstGeom prst="rect">
            <a:avLst/>
          </a:prstGeom>
        </p:spPr>
        <p:txBody>
          <a:bodyPr wrap="square">
            <a:spAutoFit/>
          </a:bodyPr>
          <a:lstStyle/>
          <a:p>
            <a:r>
              <a:rPr lang="zh-CN" altLang="en-US" sz="2800" dirty="0" smtClean="0"/>
              <a:t>商业道德</a:t>
            </a:r>
            <a:endParaRPr lang="zh-CN" altLang="en-US" sz="2800" dirty="0"/>
          </a:p>
        </p:txBody>
      </p:sp>
      <p:sp>
        <p:nvSpPr>
          <p:cNvPr id="10" name="矩形 9"/>
          <p:cNvSpPr/>
          <p:nvPr/>
        </p:nvSpPr>
        <p:spPr>
          <a:xfrm>
            <a:off x="1796942" y="4955520"/>
            <a:ext cx="3498082" cy="523220"/>
          </a:xfrm>
          <a:prstGeom prst="rect">
            <a:avLst/>
          </a:prstGeom>
        </p:spPr>
        <p:txBody>
          <a:bodyPr wrap="square">
            <a:spAutoFit/>
          </a:bodyPr>
          <a:lstStyle/>
          <a:p>
            <a:r>
              <a:rPr lang="zh-CN" altLang="en-US" sz="2800" dirty="0" smtClean="0"/>
              <a:t>企业文化</a:t>
            </a:r>
            <a:endParaRPr lang="zh-CN" altLang="en-US" sz="2800" dirty="0"/>
          </a:p>
        </p:txBody>
      </p:sp>
      <p:sp>
        <p:nvSpPr>
          <p:cNvPr id="13" name="椭圆 12"/>
          <p:cNvSpPr/>
          <p:nvPr/>
        </p:nvSpPr>
        <p:spPr>
          <a:xfrm>
            <a:off x="1045449" y="1145308"/>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1</a:t>
            </a:r>
            <a:endParaRPr lang="zh-CN" altLang="en-US" sz="3200" dirty="0"/>
          </a:p>
        </p:txBody>
      </p:sp>
      <p:sp>
        <p:nvSpPr>
          <p:cNvPr id="14" name="椭圆 13"/>
          <p:cNvSpPr/>
          <p:nvPr/>
        </p:nvSpPr>
        <p:spPr>
          <a:xfrm>
            <a:off x="1060101" y="4919741"/>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3</a:t>
            </a:r>
            <a:endParaRPr lang="zh-CN" altLang="en-US" sz="3200" dirty="0"/>
          </a:p>
        </p:txBody>
      </p:sp>
      <p:cxnSp>
        <p:nvCxnSpPr>
          <p:cNvPr id="16" name="直接连接符 15"/>
          <p:cNvCxnSpPr>
            <a:stCxn id="21" idx="4"/>
            <a:endCxn id="14" idx="0"/>
          </p:cNvCxnSpPr>
          <p:nvPr/>
        </p:nvCxnSpPr>
        <p:spPr>
          <a:xfrm>
            <a:off x="1387324" y="3518674"/>
            <a:ext cx="668" cy="1401067"/>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509429" y="1999795"/>
            <a:ext cx="9716863" cy="936782"/>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17" name="矩形 16"/>
          <p:cNvSpPr/>
          <p:nvPr/>
        </p:nvSpPr>
        <p:spPr>
          <a:xfrm>
            <a:off x="1509431" y="980761"/>
            <a:ext cx="9716863"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715215" y="1145308"/>
            <a:ext cx="3338049" cy="523220"/>
          </a:xfrm>
          <a:prstGeom prst="rect">
            <a:avLst/>
          </a:prstGeom>
        </p:spPr>
        <p:txBody>
          <a:bodyPr wrap="square">
            <a:spAutoFit/>
          </a:bodyPr>
          <a:lstStyle/>
          <a:p>
            <a:r>
              <a:rPr lang="zh-CN" altLang="en-US" sz="2800" dirty="0"/>
              <a:t>利益相关者</a:t>
            </a:r>
            <a:endParaRPr lang="zh-CN" altLang="en-US" sz="2800" dirty="0"/>
          </a:p>
        </p:txBody>
      </p:sp>
      <p:sp>
        <p:nvSpPr>
          <p:cNvPr id="20" name="矩形 19"/>
          <p:cNvSpPr/>
          <p:nvPr/>
        </p:nvSpPr>
        <p:spPr>
          <a:xfrm>
            <a:off x="3594224" y="1741275"/>
            <a:ext cx="7641125" cy="1120140"/>
          </a:xfrm>
          <a:prstGeom prst="rect">
            <a:avLst/>
          </a:prstGeom>
        </p:spPr>
        <p:txBody>
          <a:bodyPr wrap="square">
            <a:spAutoFit/>
          </a:bodyPr>
          <a:lstStyle/>
          <a:p>
            <a:pPr marL="800100" lvl="1" indent="-342900">
              <a:lnSpc>
                <a:spcPct val="124000"/>
              </a:lnSpc>
              <a:buSzPct val="80000"/>
              <a:buFont typeface="Wingdings" panose="05000000000000000000" pitchFamily="2" charset="2"/>
              <a:buChar char="Ø"/>
            </a:pPr>
            <a:r>
              <a:rPr lang="zh-CN" altLang="en-US" dirty="0"/>
              <a:t>资本市场利益相关者</a:t>
            </a:r>
            <a:endParaRPr lang="en-US" altLang="zh-CN" dirty="0"/>
          </a:p>
          <a:p>
            <a:pPr marL="800100" lvl="1" indent="-342900">
              <a:lnSpc>
                <a:spcPct val="124000"/>
              </a:lnSpc>
              <a:buSzPct val="80000"/>
              <a:buFont typeface="Wingdings" panose="05000000000000000000" pitchFamily="2" charset="2"/>
              <a:buChar char="Ø"/>
            </a:pPr>
            <a:r>
              <a:rPr lang="zh-CN" altLang="en-US" dirty="0"/>
              <a:t>产品市场利益相关者</a:t>
            </a:r>
            <a:endParaRPr lang="en-US" altLang="zh-CN" dirty="0"/>
          </a:p>
          <a:p>
            <a:pPr marL="800100" lvl="1" indent="-342900">
              <a:lnSpc>
                <a:spcPct val="124000"/>
              </a:lnSpc>
              <a:buSzPct val="80000"/>
              <a:buFont typeface="Wingdings" panose="05000000000000000000" pitchFamily="2" charset="2"/>
              <a:buChar char="Ø"/>
            </a:pPr>
            <a:r>
              <a:rPr lang="zh-CN" altLang="en-US" dirty="0"/>
              <a:t>组织利益相关者</a:t>
            </a:r>
            <a:endParaRPr lang="zh-CN" altLang="en-US" dirty="0"/>
          </a:p>
        </p:txBody>
      </p:sp>
      <p:sp>
        <p:nvSpPr>
          <p:cNvPr id="21" name="椭圆 20"/>
          <p:cNvSpPr/>
          <p:nvPr/>
        </p:nvSpPr>
        <p:spPr>
          <a:xfrm>
            <a:off x="1059433" y="2881365"/>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2</a:t>
            </a:r>
            <a:endParaRPr lang="zh-CN" altLang="en-US" sz="3200" dirty="0"/>
          </a:p>
        </p:txBody>
      </p:sp>
      <p:cxnSp>
        <p:nvCxnSpPr>
          <p:cNvPr id="22" name="直接连接符 21"/>
          <p:cNvCxnSpPr>
            <a:stCxn id="13" idx="4"/>
            <a:endCxn id="21" idx="0"/>
          </p:cNvCxnSpPr>
          <p:nvPr/>
        </p:nvCxnSpPr>
        <p:spPr>
          <a:xfrm>
            <a:off x="1373340" y="1782617"/>
            <a:ext cx="13984" cy="1098748"/>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888461" y="2936577"/>
            <a:ext cx="7337829" cy="645160"/>
          </a:xfrm>
          <a:prstGeom prst="rect">
            <a:avLst/>
          </a:prstGeom>
        </p:spPr>
        <p:txBody>
          <a:bodyPr wrap="square">
            <a:spAutoFit/>
          </a:bodyPr>
          <a:lstStyle/>
          <a:p>
            <a:r>
              <a:rPr lang="zh-CN" altLang="en-US" kern="100" dirty="0">
                <a:latin typeface="+mn-ea"/>
                <a:cs typeface="Times New Roman" panose="02020603050405020304" pitchFamily="18" charset="0"/>
              </a:rPr>
              <a:t>商业道德会影响企业战略管理者的战略制定与</a:t>
            </a:r>
            <a:r>
              <a:rPr lang="zh-CN" altLang="en-US" kern="100" dirty="0" smtClean="0">
                <a:latin typeface="+mn-ea"/>
                <a:cs typeface="Times New Roman" panose="02020603050405020304" pitchFamily="18" charset="0"/>
              </a:rPr>
              <a:t>调整，商业</a:t>
            </a:r>
            <a:r>
              <a:rPr lang="zh-CN" altLang="en-US" kern="100" dirty="0">
                <a:latin typeface="+mn-ea"/>
                <a:cs typeface="Times New Roman" panose="02020603050405020304" pitchFamily="18" charset="0"/>
              </a:rPr>
              <a:t>道德在很大程度上代表特定历史时期整个社会对于商业组织的期望</a:t>
            </a:r>
            <a:endParaRPr lang="zh-CN" altLang="en-US" dirty="0">
              <a:latin typeface="+mn-ea"/>
            </a:endParaRPr>
          </a:p>
        </p:txBody>
      </p:sp>
      <p:sp>
        <p:nvSpPr>
          <p:cNvPr id="3" name="矩形 2"/>
          <p:cNvSpPr/>
          <p:nvPr/>
        </p:nvSpPr>
        <p:spPr>
          <a:xfrm>
            <a:off x="3880919" y="1083752"/>
            <a:ext cx="7345372" cy="645160"/>
          </a:xfrm>
          <a:prstGeom prst="rect">
            <a:avLst/>
          </a:prstGeom>
        </p:spPr>
        <p:txBody>
          <a:bodyPr wrap="square">
            <a:spAutoFit/>
          </a:bodyPr>
          <a:lstStyle/>
          <a:p>
            <a:r>
              <a:rPr lang="zh-CN" altLang="en-US" kern="100" dirty="0" smtClean="0">
                <a:latin typeface="+mn-ea"/>
                <a:cs typeface="Times New Roman" panose="02020603050405020304" pitchFamily="18" charset="0"/>
              </a:rPr>
              <a:t>企业是</a:t>
            </a:r>
            <a:r>
              <a:rPr lang="zh-CN" altLang="en-US" kern="100" dirty="0">
                <a:latin typeface="+mn-ea"/>
                <a:cs typeface="Times New Roman" panose="02020603050405020304" pitchFamily="18" charset="0"/>
              </a:rPr>
              <a:t>指能够影响公司的战略承诺、同时又被战略产出影响的、对公司业绩拥有可实施的主张权的个人、群体或</a:t>
            </a:r>
            <a:r>
              <a:rPr lang="zh-CN" altLang="en-US" kern="100" dirty="0" smtClean="0">
                <a:latin typeface="+mn-ea"/>
                <a:cs typeface="Times New Roman" panose="02020603050405020304" pitchFamily="18" charset="0"/>
              </a:rPr>
              <a:t>组织</a:t>
            </a:r>
            <a:endParaRPr lang="zh-CN" altLang="en-US" dirty="0">
              <a:latin typeface="+mn-ea"/>
            </a:endParaRPr>
          </a:p>
        </p:txBody>
      </p:sp>
      <p:sp>
        <p:nvSpPr>
          <p:cNvPr id="23" name="矩形 22"/>
          <p:cNvSpPr/>
          <p:nvPr/>
        </p:nvSpPr>
        <p:spPr>
          <a:xfrm>
            <a:off x="3406140" y="5742940"/>
            <a:ext cx="7820025" cy="396240"/>
          </a:xfrm>
          <a:prstGeom prst="rect">
            <a:avLst/>
          </a:prstGeom>
        </p:spPr>
        <p:txBody>
          <a:bodyPr wrap="square">
            <a:spAutoFit/>
          </a:bodyPr>
          <a:lstStyle/>
          <a:p>
            <a:pPr marL="800100" lvl="1" indent="-342900">
              <a:lnSpc>
                <a:spcPct val="124000"/>
              </a:lnSpc>
              <a:buSzPct val="80000"/>
              <a:buFont typeface="Wingdings" panose="05000000000000000000" pitchFamily="2" charset="2"/>
              <a:buChar char="Ø"/>
            </a:pPr>
            <a:r>
              <a:rPr lang="zh-CN" altLang="en-US" sz="1600" dirty="0"/>
              <a:t>企业文化可以分为三个层次</a:t>
            </a:r>
            <a:r>
              <a:rPr lang="zh-CN" altLang="en-US" sz="1600" dirty="0" smtClean="0"/>
              <a:t>：企业</a:t>
            </a:r>
            <a:r>
              <a:rPr lang="zh-CN" altLang="en-US" sz="1600" dirty="0"/>
              <a:t>的</a:t>
            </a:r>
            <a:r>
              <a:rPr lang="zh-CN" altLang="en-US" sz="1600" dirty="0" smtClean="0"/>
              <a:t>价值观；企业的信仰；企业的行为范式</a:t>
            </a:r>
            <a:endParaRPr lang="zh-CN" altLang="en-US" sz="1600" dirty="0"/>
          </a:p>
        </p:txBody>
      </p:sp>
      <p:sp>
        <p:nvSpPr>
          <p:cNvPr id="24" name="矩形 23"/>
          <p:cNvSpPr/>
          <p:nvPr/>
        </p:nvSpPr>
        <p:spPr>
          <a:xfrm>
            <a:off x="3594224" y="3589817"/>
            <a:ext cx="7641125" cy="1006475"/>
          </a:xfrm>
          <a:prstGeom prst="rect">
            <a:avLst/>
          </a:prstGeom>
        </p:spPr>
        <p:txBody>
          <a:bodyPr wrap="square">
            <a:spAutoFit/>
          </a:bodyPr>
          <a:lstStyle/>
          <a:p>
            <a:pPr marL="800100" lvl="1" indent="-342900">
              <a:lnSpc>
                <a:spcPct val="124000"/>
              </a:lnSpc>
              <a:buSzPct val="80000"/>
              <a:buFont typeface="Wingdings" panose="05000000000000000000" pitchFamily="2" charset="2"/>
              <a:buChar char="Ø"/>
            </a:pPr>
            <a:r>
              <a:rPr lang="zh-CN" altLang="en-US" sz="1600" dirty="0"/>
              <a:t>从宏观层面看，企业或其他组织在国内与国际社会中应发挥怎样的作用</a:t>
            </a:r>
            <a:endParaRPr lang="zh-CN" altLang="en-US" sz="1600" dirty="0"/>
          </a:p>
          <a:p>
            <a:pPr marL="800100" lvl="1" indent="-342900">
              <a:lnSpc>
                <a:spcPct val="124000"/>
              </a:lnSpc>
              <a:buSzPct val="80000"/>
              <a:buFont typeface="Wingdings" panose="05000000000000000000" pitchFamily="2" charset="2"/>
              <a:buChar char="Ø"/>
            </a:pPr>
            <a:r>
              <a:rPr lang="zh-CN" altLang="en-US" sz="1600" dirty="0" smtClean="0"/>
              <a:t>从</a:t>
            </a:r>
            <a:r>
              <a:rPr lang="zh-CN" altLang="en-US" sz="1600" dirty="0"/>
              <a:t>企业层面看，企业所面临的具体道德问题与公司的社会责任相关。</a:t>
            </a:r>
            <a:endParaRPr lang="zh-CN" altLang="en-US" sz="1600" dirty="0"/>
          </a:p>
          <a:p>
            <a:pPr marL="800100" lvl="1" indent="-342900">
              <a:lnSpc>
                <a:spcPct val="124000"/>
              </a:lnSpc>
              <a:buSzPct val="80000"/>
              <a:buFont typeface="Wingdings" panose="05000000000000000000" pitchFamily="2" charset="2"/>
              <a:buChar char="Ø"/>
            </a:pPr>
            <a:r>
              <a:rPr lang="zh-CN" altLang="en-US" sz="1600" dirty="0"/>
              <a:t>从个体层面看，商业道德涉及组织内部员工，尤其是战略管理者的行为。</a:t>
            </a:r>
            <a:endParaRPr lang="zh-CN" altLang="en-US" sz="1600" dirty="0"/>
          </a:p>
        </p:txBody>
      </p:sp>
      <p:sp>
        <p:nvSpPr>
          <p:cNvPr id="25" name="矩形 24"/>
          <p:cNvSpPr/>
          <p:nvPr/>
        </p:nvSpPr>
        <p:spPr>
          <a:xfrm>
            <a:off x="3871858" y="4858186"/>
            <a:ext cx="7354431" cy="645160"/>
          </a:xfrm>
          <a:prstGeom prst="rect">
            <a:avLst/>
          </a:prstGeom>
        </p:spPr>
        <p:txBody>
          <a:bodyPr wrap="square">
            <a:spAutoFit/>
          </a:bodyPr>
          <a:lstStyle/>
          <a:p>
            <a:r>
              <a:rPr lang="zh-CN" altLang="en-US" kern="100" dirty="0">
                <a:latin typeface="+mn-ea"/>
                <a:cs typeface="Times New Roman" panose="02020603050405020304" pitchFamily="18" charset="0"/>
              </a:rPr>
              <a:t>企业战略管理者进行战略制定或调整还会受到企业的价值观及其所嵌入的文化背景的</a:t>
            </a:r>
            <a:r>
              <a:rPr lang="zh-CN" altLang="en-US" kern="100" dirty="0" smtClean="0">
                <a:latin typeface="+mn-ea"/>
                <a:cs typeface="Times New Roman" panose="02020603050405020304" pitchFamily="18" charset="0"/>
              </a:rPr>
              <a:t>影响</a:t>
            </a:r>
            <a:endParaRPr lang="zh-CN" altLang="en-US" dirty="0">
              <a:latin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normAutofit/>
          </a:bodyPr>
          <a:lstStyle/>
          <a:p>
            <a:pPr algn="ctr"/>
            <a:r>
              <a:rPr lang="zh-CN" altLang="en-US" sz="2800" dirty="0"/>
              <a:t>第二节</a:t>
            </a:r>
            <a:endParaRPr lang="zh-CN" altLang="en-US" sz="2800" dirty="0"/>
          </a:p>
        </p:txBody>
      </p:sp>
      <p:sp>
        <p:nvSpPr>
          <p:cNvPr id="6" name="文本占位符 5"/>
          <p:cNvSpPr>
            <a:spLocks noGrp="1"/>
          </p:cNvSpPr>
          <p:nvPr>
            <p:ph type="body" idx="1"/>
          </p:nvPr>
        </p:nvSpPr>
        <p:spPr>
          <a:xfrm>
            <a:off x="6106729" y="2720196"/>
            <a:ext cx="6085271" cy="615454"/>
          </a:xfrm>
        </p:spPr>
        <p:txBody>
          <a:bodyPr/>
          <a:lstStyle/>
          <a:p>
            <a:pPr algn="ctr"/>
            <a:r>
              <a:rPr lang="zh-CN" altLang="en-US" sz="4000" dirty="0"/>
              <a:t>战略承诺</a:t>
            </a:r>
            <a:endParaRPr lang="zh-CN" altLang="en-US" sz="4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1.</a:t>
            </a:r>
            <a:r>
              <a:rPr lang="zh-CN" altLang="en-US" dirty="0"/>
              <a:t>战略承诺的定义</a:t>
            </a:r>
            <a:endParaRPr lang="zh-CN" altLang="en-US" dirty="0"/>
          </a:p>
        </p:txBody>
      </p:sp>
      <p:sp>
        <p:nvSpPr>
          <p:cNvPr id="13" name="矩形 12"/>
          <p:cNvSpPr/>
          <p:nvPr/>
        </p:nvSpPr>
        <p:spPr>
          <a:xfrm>
            <a:off x="1718945" y="1432560"/>
            <a:ext cx="9199245" cy="4548505"/>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873250" y="2024380"/>
            <a:ext cx="8970645" cy="3615055"/>
          </a:xfrm>
          <a:prstGeom prst="rect">
            <a:avLst/>
          </a:prstGeom>
        </p:spPr>
        <p:txBody>
          <a:bodyPr wrap="square">
            <a:spAutoFit/>
          </a:bodyPr>
          <a:lstStyle/>
          <a:p>
            <a:pPr>
              <a:spcBef>
                <a:spcPts val="600"/>
              </a:spcBef>
            </a:pPr>
            <a:r>
              <a:rPr lang="en-US" altLang="zh-CN" sz="2800" b="1" dirty="0"/>
              <a:t>        </a:t>
            </a:r>
            <a:r>
              <a:rPr lang="zh-CN" altLang="en-US" sz="2800" b="1" dirty="0">
                <a:solidFill>
                  <a:srgbClr val="FF0000"/>
                </a:solidFill>
              </a:rPr>
              <a:t>战略</a:t>
            </a:r>
            <a:r>
              <a:rPr lang="zh-CN" altLang="en-US" sz="2800" b="1" dirty="0" smtClean="0">
                <a:solidFill>
                  <a:srgbClr val="FF0000"/>
                </a:solidFill>
              </a:rPr>
              <a:t>承诺</a:t>
            </a:r>
            <a:r>
              <a:rPr lang="zh-CN" altLang="en-US" sz="2800" b="1" dirty="0" smtClean="0"/>
              <a:t>是</a:t>
            </a:r>
            <a:r>
              <a:rPr lang="zh-CN" altLang="en-US" sz="2800" b="1" dirty="0"/>
              <a:t>一个重要的战略要素，它是指企业基于自身的资源和能力，并考虑到当前外部环境及其未来变化趋势，为了实现希望达到的长期战略目标而向顾客、供应商、企业员工等利益相关者做出的长期承诺</a:t>
            </a:r>
            <a:r>
              <a:rPr lang="zh-CN" altLang="en-US" sz="2800" b="1" dirty="0" smtClean="0"/>
              <a:t>。</a:t>
            </a:r>
            <a:endParaRPr lang="en-US" altLang="zh-CN" sz="2800" b="1" dirty="0" smtClean="0"/>
          </a:p>
          <a:p>
            <a:pPr>
              <a:spcBef>
                <a:spcPts val="600"/>
              </a:spcBef>
            </a:pPr>
            <a:r>
              <a:rPr lang="zh-CN" altLang="en-US" sz="2800" b="1" dirty="0" smtClean="0"/>
              <a:t>        战略</a:t>
            </a:r>
            <a:r>
              <a:rPr lang="zh-CN" altLang="en-US" sz="2800" b="1" dirty="0"/>
              <a:t>承诺不仅指企业能够为顾客做出的产品或服务承诺，更重要的是包含企业为实现战略目标所进行的一系列战略投资和决策，这些战略决策都具有承诺特征，因此可以说战略就是一种投入和承诺</a:t>
            </a:r>
            <a:r>
              <a:rPr lang="zh-CN" altLang="zh-CN" sz="2800" b="1" dirty="0" smtClean="0"/>
              <a:t>。</a:t>
            </a:r>
            <a:endParaRPr lang="zh-CN"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smtClean="0"/>
              <a:t>2.</a:t>
            </a:r>
            <a:r>
              <a:rPr lang="zh-CN" altLang="en-US" dirty="0" smtClean="0"/>
              <a:t>战略承诺</a:t>
            </a:r>
            <a:r>
              <a:rPr lang="zh-CN" altLang="en-US" dirty="0"/>
              <a:t>的性质</a:t>
            </a:r>
            <a:endParaRPr lang="zh-CN" altLang="en-US" dirty="0"/>
          </a:p>
        </p:txBody>
      </p:sp>
      <p:sp>
        <p:nvSpPr>
          <p:cNvPr id="11" name="矩形 10"/>
          <p:cNvSpPr/>
          <p:nvPr/>
        </p:nvSpPr>
        <p:spPr>
          <a:xfrm>
            <a:off x="2035668" y="2377440"/>
            <a:ext cx="9094150" cy="1114591"/>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035668" y="1223694"/>
            <a:ext cx="9094150" cy="1020097"/>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277661" y="1228128"/>
            <a:ext cx="8792103" cy="1014730"/>
          </a:xfrm>
          <a:prstGeom prst="rect">
            <a:avLst/>
          </a:prstGeom>
        </p:spPr>
        <p:txBody>
          <a:bodyPr wrap="square">
            <a:spAutoFit/>
          </a:bodyPr>
          <a:lstStyle/>
          <a:p>
            <a:r>
              <a:rPr lang="zh-CN" altLang="zh-CN" sz="2000" dirty="0"/>
              <a:t>在企业战略的内容体系中</a:t>
            </a:r>
            <a:r>
              <a:rPr lang="zh-CN" altLang="zh-CN" sz="2000" dirty="0" smtClean="0"/>
              <a:t>，</a:t>
            </a:r>
            <a:r>
              <a:rPr lang="zh-CN" altLang="en-US" sz="2000" dirty="0"/>
              <a:t>时间跨度最长和影响最广泛的战略是企业战略承诺，因此也有人将企业战略承诺看成是价值层面的企业战略选择，其既受企业价值观的影响，又需要采用科学方法来决策</a:t>
            </a:r>
            <a:endParaRPr lang="zh-CN" altLang="en-US" sz="2000" dirty="0"/>
          </a:p>
        </p:txBody>
      </p:sp>
      <p:sp>
        <p:nvSpPr>
          <p:cNvPr id="15" name="矩形 14"/>
          <p:cNvSpPr/>
          <p:nvPr/>
        </p:nvSpPr>
        <p:spPr>
          <a:xfrm>
            <a:off x="2277796" y="2476368"/>
            <a:ext cx="8767567" cy="1014730"/>
          </a:xfrm>
          <a:prstGeom prst="rect">
            <a:avLst/>
          </a:prstGeom>
        </p:spPr>
        <p:txBody>
          <a:bodyPr wrap="square">
            <a:spAutoFit/>
          </a:bodyPr>
          <a:lstStyle/>
          <a:p>
            <a:r>
              <a:rPr lang="zh-CN" altLang="en-US" sz="2000" dirty="0"/>
              <a:t>无论企业经营环境如何变化，企业必须明确和坚持自己的战略承诺，即本企业之所以存在和发展的根本目的和意义；必须明确和坚持企业实现战略承诺过程中若干基本或者哲学层次的理念或原则</a:t>
            </a:r>
            <a:endParaRPr lang="zh-CN" altLang="en-US" sz="2000" dirty="0"/>
          </a:p>
        </p:txBody>
      </p:sp>
      <p:sp>
        <p:nvSpPr>
          <p:cNvPr id="19" name="矩形 18"/>
          <p:cNvSpPr/>
          <p:nvPr/>
        </p:nvSpPr>
        <p:spPr>
          <a:xfrm>
            <a:off x="2035668" y="3688111"/>
            <a:ext cx="9094150" cy="1770857"/>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277637" y="3757819"/>
            <a:ext cx="8817256" cy="1630045"/>
          </a:xfrm>
          <a:prstGeom prst="rect">
            <a:avLst/>
          </a:prstGeom>
        </p:spPr>
        <p:txBody>
          <a:bodyPr wrap="square">
            <a:spAutoFit/>
          </a:bodyPr>
          <a:lstStyle/>
          <a:p>
            <a:r>
              <a:rPr lang="zh-CN" altLang="en-US" sz="2000" dirty="0"/>
              <a:t>为了确保企业战略承诺的顺利实现，同时使得企业战略行为能够体现出连续性、整体性和创新性特征，企业战略承诺一经做出就必须长期坚持，它必须对企业战略决策和行动提供长期和宏观的指导，并且在企业一系列连续的战略决策和行动中得到贯彻</a:t>
            </a:r>
            <a:endParaRPr lang="en-US" altLang="zh-CN" sz="2000" dirty="0" smtClean="0"/>
          </a:p>
          <a:p>
            <a:r>
              <a:rPr lang="zh-CN" altLang="en-US" sz="2000" dirty="0"/>
              <a:t>战略承诺不能过于</a:t>
            </a:r>
            <a:r>
              <a:rPr lang="zh-CN" altLang="en-US" sz="2000" dirty="0" smtClean="0"/>
              <a:t>具体，也不能过于宽泛</a:t>
            </a:r>
            <a:endParaRPr lang="en-US" altLang="zh-CN" sz="2000" dirty="0"/>
          </a:p>
        </p:txBody>
      </p:sp>
      <p:sp>
        <p:nvSpPr>
          <p:cNvPr id="25" name="椭圆 24"/>
          <p:cNvSpPr/>
          <p:nvPr/>
        </p:nvSpPr>
        <p:spPr>
          <a:xfrm>
            <a:off x="1389035" y="1228128"/>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1</a:t>
            </a:r>
            <a:endParaRPr lang="zh-CN" altLang="en-US" sz="3200" dirty="0">
              <a:solidFill>
                <a:prstClr val="white"/>
              </a:solidFill>
            </a:endParaRPr>
          </a:p>
        </p:txBody>
      </p:sp>
      <p:sp>
        <p:nvSpPr>
          <p:cNvPr id="26" name="椭圆 25"/>
          <p:cNvSpPr/>
          <p:nvPr/>
        </p:nvSpPr>
        <p:spPr>
          <a:xfrm>
            <a:off x="1396882" y="4045709"/>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3</a:t>
            </a:r>
            <a:endParaRPr lang="zh-CN" altLang="en-US" sz="3200" dirty="0">
              <a:solidFill>
                <a:prstClr val="white"/>
              </a:solidFill>
            </a:endParaRPr>
          </a:p>
        </p:txBody>
      </p:sp>
      <p:cxnSp>
        <p:nvCxnSpPr>
          <p:cNvPr id="27" name="直接连接符 26"/>
          <p:cNvCxnSpPr>
            <a:stCxn id="28" idx="4"/>
            <a:endCxn id="26" idx="0"/>
          </p:cNvCxnSpPr>
          <p:nvPr/>
        </p:nvCxnSpPr>
        <p:spPr>
          <a:xfrm flipH="1">
            <a:off x="1724773" y="3202213"/>
            <a:ext cx="7848" cy="843496"/>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404730" y="2564904"/>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2</a:t>
            </a:r>
            <a:endParaRPr lang="zh-CN" altLang="en-US" sz="3200" dirty="0">
              <a:solidFill>
                <a:prstClr val="white"/>
              </a:solidFill>
            </a:endParaRPr>
          </a:p>
        </p:txBody>
      </p:sp>
      <p:cxnSp>
        <p:nvCxnSpPr>
          <p:cNvPr id="29" name="直接连接符 28"/>
          <p:cNvCxnSpPr>
            <a:stCxn id="25" idx="4"/>
            <a:endCxn id="28" idx="0"/>
          </p:cNvCxnSpPr>
          <p:nvPr/>
        </p:nvCxnSpPr>
        <p:spPr>
          <a:xfrm>
            <a:off x="1716926" y="1865437"/>
            <a:ext cx="15695" cy="699467"/>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277796" y="5691089"/>
            <a:ext cx="8817256" cy="398780"/>
          </a:xfrm>
          <a:prstGeom prst="rect">
            <a:avLst/>
          </a:prstGeom>
        </p:spPr>
        <p:txBody>
          <a:bodyPr wrap="square">
            <a:spAutoFit/>
          </a:bodyPr>
          <a:lstStyle/>
          <a:p>
            <a:r>
              <a:rPr lang="zh-CN" altLang="en-US" sz="2000" dirty="0"/>
              <a:t>承诺坚定是企业决策科学和行动迅速的前提</a:t>
            </a:r>
            <a:endParaRPr lang="en-US" altLang="zh-CN" sz="2000" dirty="0"/>
          </a:p>
        </p:txBody>
      </p:sp>
      <p:sp>
        <p:nvSpPr>
          <p:cNvPr id="46" name="椭圆 45"/>
          <p:cNvSpPr/>
          <p:nvPr/>
        </p:nvSpPr>
        <p:spPr>
          <a:xfrm>
            <a:off x="1404730" y="5571454"/>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solidFill>
                  <a:prstClr val="white"/>
                </a:solidFill>
              </a:rPr>
              <a:t>4</a:t>
            </a:r>
            <a:endParaRPr lang="zh-CN" altLang="en-US" sz="3200" dirty="0">
              <a:solidFill>
                <a:prstClr val="white"/>
              </a:solidFill>
            </a:endParaRPr>
          </a:p>
        </p:txBody>
      </p:sp>
      <p:cxnSp>
        <p:nvCxnSpPr>
          <p:cNvPr id="49" name="直接连接符 48"/>
          <p:cNvCxnSpPr/>
          <p:nvPr/>
        </p:nvCxnSpPr>
        <p:spPr>
          <a:xfrm>
            <a:off x="1716926" y="4683018"/>
            <a:ext cx="1" cy="905345"/>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3.</a:t>
            </a:r>
            <a:r>
              <a:rPr lang="zh-CN" altLang="en-US" dirty="0"/>
              <a:t>战略承诺的内容</a:t>
            </a:r>
            <a:endParaRPr lang="zh-CN" altLang="en-US" dirty="0"/>
          </a:p>
        </p:txBody>
      </p:sp>
      <p:sp>
        <p:nvSpPr>
          <p:cNvPr id="11" name="矩形 10"/>
          <p:cNvSpPr/>
          <p:nvPr/>
        </p:nvSpPr>
        <p:spPr>
          <a:xfrm>
            <a:off x="2035668" y="2181895"/>
            <a:ext cx="3266005" cy="1004935"/>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035668" y="1223695"/>
            <a:ext cx="3266005" cy="813336"/>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225964" y="1375453"/>
            <a:ext cx="3075708" cy="461665"/>
          </a:xfrm>
          <a:prstGeom prst="rect">
            <a:avLst/>
          </a:prstGeom>
        </p:spPr>
        <p:txBody>
          <a:bodyPr wrap="square">
            <a:spAutoFit/>
          </a:bodyPr>
          <a:lstStyle/>
          <a:p>
            <a:r>
              <a:rPr lang="zh-CN" altLang="en-US" sz="2400" dirty="0"/>
              <a:t>企业</a:t>
            </a:r>
            <a:r>
              <a:rPr lang="zh-CN" altLang="en-US" sz="2400" dirty="0" smtClean="0"/>
              <a:t>经营目的或使命</a:t>
            </a:r>
            <a:endParaRPr lang="zh-CN" altLang="en-US" sz="2400" dirty="0"/>
          </a:p>
        </p:txBody>
      </p:sp>
      <p:sp>
        <p:nvSpPr>
          <p:cNvPr id="15" name="矩形 14"/>
          <p:cNvSpPr/>
          <p:nvPr/>
        </p:nvSpPr>
        <p:spPr>
          <a:xfrm>
            <a:off x="2277661" y="2118037"/>
            <a:ext cx="2882814" cy="1015663"/>
          </a:xfrm>
          <a:prstGeom prst="rect">
            <a:avLst/>
          </a:prstGeom>
        </p:spPr>
        <p:txBody>
          <a:bodyPr wrap="square">
            <a:spAutoFit/>
          </a:bodyPr>
          <a:lstStyle/>
          <a:p>
            <a:r>
              <a:rPr lang="zh-CN" altLang="en-US" sz="2400" dirty="0"/>
              <a:t>企业经营的范围</a:t>
            </a:r>
            <a:endParaRPr lang="en-US" altLang="zh-CN" sz="2400" dirty="0"/>
          </a:p>
          <a:p>
            <a:pPr marL="742950" lvl="1" indent="-285750">
              <a:buFont typeface="Arial" panose="020B0604020202020204" pitchFamily="34" charset="0"/>
              <a:buChar char="•"/>
            </a:pPr>
            <a:r>
              <a:rPr lang="zh-CN" altLang="en-US" dirty="0"/>
              <a:t>行业或业务范围</a:t>
            </a:r>
            <a:endParaRPr lang="en-US" altLang="zh-CN" dirty="0"/>
          </a:p>
          <a:p>
            <a:pPr marL="742950" lvl="1" indent="-285750">
              <a:buFont typeface="Arial" panose="020B0604020202020204" pitchFamily="34" charset="0"/>
              <a:buChar char="•"/>
            </a:pPr>
            <a:r>
              <a:rPr lang="zh-CN" altLang="en-US" dirty="0"/>
              <a:t>市场经营范围</a:t>
            </a:r>
            <a:endParaRPr lang="zh-CN" altLang="en-US" dirty="0"/>
          </a:p>
        </p:txBody>
      </p:sp>
      <p:sp>
        <p:nvSpPr>
          <p:cNvPr id="16" name="椭圆 15"/>
          <p:cNvSpPr/>
          <p:nvPr/>
        </p:nvSpPr>
        <p:spPr>
          <a:xfrm>
            <a:off x="1570182" y="1357746"/>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1</a:t>
            </a:r>
            <a:endParaRPr lang="zh-CN" altLang="en-US" sz="3200" dirty="0"/>
          </a:p>
        </p:txBody>
      </p:sp>
      <p:sp>
        <p:nvSpPr>
          <p:cNvPr id="17" name="椭圆 16"/>
          <p:cNvSpPr/>
          <p:nvPr/>
        </p:nvSpPr>
        <p:spPr>
          <a:xfrm>
            <a:off x="1570182" y="2108008"/>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2</a:t>
            </a:r>
            <a:endParaRPr lang="zh-CN" altLang="en-US" sz="3200" dirty="0"/>
          </a:p>
        </p:txBody>
      </p:sp>
      <p:cxnSp>
        <p:nvCxnSpPr>
          <p:cNvPr id="18" name="直接连接符 17"/>
          <p:cNvCxnSpPr>
            <a:endCxn id="17" idx="0"/>
          </p:cNvCxnSpPr>
          <p:nvPr/>
        </p:nvCxnSpPr>
        <p:spPr>
          <a:xfrm>
            <a:off x="1898073" y="1995055"/>
            <a:ext cx="0" cy="11295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2035668" y="3319946"/>
            <a:ext cx="3266005"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277661" y="3510186"/>
            <a:ext cx="2357713" cy="461665"/>
          </a:xfrm>
          <a:prstGeom prst="rect">
            <a:avLst/>
          </a:prstGeom>
        </p:spPr>
        <p:txBody>
          <a:bodyPr wrap="square">
            <a:spAutoFit/>
          </a:bodyPr>
          <a:lstStyle/>
          <a:p>
            <a:r>
              <a:rPr lang="zh-CN" altLang="en-US" sz="2400" dirty="0"/>
              <a:t>经营方式</a:t>
            </a:r>
            <a:endParaRPr lang="zh-CN" altLang="en-US" sz="2400" dirty="0"/>
          </a:p>
        </p:txBody>
      </p:sp>
      <p:sp>
        <p:nvSpPr>
          <p:cNvPr id="21" name="椭圆 20"/>
          <p:cNvSpPr/>
          <p:nvPr/>
        </p:nvSpPr>
        <p:spPr>
          <a:xfrm>
            <a:off x="1570182" y="3500157"/>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3</a:t>
            </a:r>
            <a:endParaRPr lang="zh-CN" altLang="en-US" sz="3200" dirty="0"/>
          </a:p>
        </p:txBody>
      </p:sp>
      <p:cxnSp>
        <p:nvCxnSpPr>
          <p:cNvPr id="23" name="直接连接符 22"/>
          <p:cNvCxnSpPr>
            <a:stCxn id="17" idx="4"/>
            <a:endCxn id="21" idx="0"/>
          </p:cNvCxnSpPr>
          <p:nvPr/>
        </p:nvCxnSpPr>
        <p:spPr>
          <a:xfrm>
            <a:off x="1898073" y="2745317"/>
            <a:ext cx="0" cy="754840"/>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 name="等腰三角形 1"/>
          <p:cNvSpPr/>
          <p:nvPr/>
        </p:nvSpPr>
        <p:spPr>
          <a:xfrm rot="5400000">
            <a:off x="3537717" y="2987649"/>
            <a:ext cx="5430603" cy="1902692"/>
          </a:xfrm>
          <a:prstGeom prst="triangle">
            <a:avLst>
              <a:gd name="adj" fmla="val 49777"/>
            </a:avLst>
          </a:prstGeom>
          <a:gradFill flip="none" rotWithShape="1">
            <a:gsLst>
              <a:gs pos="0">
                <a:schemeClr val="accent1">
                  <a:alpha val="50000"/>
                </a:schemeClr>
              </a:gs>
              <a:gs pos="67000">
                <a:schemeClr val="accent1">
                  <a:lumMod val="60000"/>
                  <a:lumOff val="40000"/>
                </a:schemeClr>
              </a:gs>
              <a:gs pos="85000">
                <a:schemeClr val="accent1">
                  <a:lumMod val="45000"/>
                  <a:lumOff val="55000"/>
                  <a:alpha val="10000"/>
                </a:schemeClr>
              </a:gs>
              <a:gs pos="100000">
                <a:schemeClr val="accent1">
                  <a:lumMod val="60000"/>
                  <a:lumOff val="4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684837" y="3237943"/>
            <a:ext cx="3756689" cy="1306898"/>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875327" y="3526235"/>
            <a:ext cx="2621280" cy="701675"/>
          </a:xfrm>
          <a:prstGeom prst="rect">
            <a:avLst/>
          </a:prstGeom>
        </p:spPr>
        <p:txBody>
          <a:bodyPr wrap="none">
            <a:spAutoFit/>
          </a:bodyPr>
          <a:lstStyle/>
          <a:p>
            <a:pPr algn="ctr">
              <a:lnSpc>
                <a:spcPct val="124000"/>
              </a:lnSpc>
            </a:pPr>
            <a:r>
              <a:rPr lang="zh-CN" altLang="en-US" sz="3200" dirty="0">
                <a:latin typeface="+mn-ea"/>
              </a:rPr>
              <a:t>企业</a:t>
            </a:r>
            <a:r>
              <a:rPr lang="zh-CN" altLang="en-US" sz="3200" dirty="0">
                <a:latin typeface="+mn-ea"/>
              </a:rPr>
              <a:t>战略承诺</a:t>
            </a:r>
            <a:endParaRPr lang="zh-CN" altLang="en-US" sz="3200" dirty="0">
              <a:latin typeface="+mn-ea"/>
            </a:endParaRPr>
          </a:p>
        </p:txBody>
      </p:sp>
      <p:sp>
        <p:nvSpPr>
          <p:cNvPr id="24" name="矩形 23"/>
          <p:cNvSpPr/>
          <p:nvPr/>
        </p:nvSpPr>
        <p:spPr>
          <a:xfrm>
            <a:off x="2043215" y="4477278"/>
            <a:ext cx="3266005"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577729" y="4657489"/>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4</a:t>
            </a:r>
            <a:endParaRPr lang="zh-CN" altLang="en-US" sz="3200" dirty="0"/>
          </a:p>
        </p:txBody>
      </p:sp>
      <p:sp>
        <p:nvSpPr>
          <p:cNvPr id="26" name="矩形 25"/>
          <p:cNvSpPr/>
          <p:nvPr/>
        </p:nvSpPr>
        <p:spPr>
          <a:xfrm>
            <a:off x="2258048" y="4595094"/>
            <a:ext cx="2820948" cy="461665"/>
          </a:xfrm>
          <a:prstGeom prst="rect">
            <a:avLst/>
          </a:prstGeom>
        </p:spPr>
        <p:txBody>
          <a:bodyPr wrap="square">
            <a:spAutoFit/>
          </a:bodyPr>
          <a:lstStyle/>
          <a:p>
            <a:r>
              <a:rPr lang="zh-CN" altLang="en-US" sz="2400" dirty="0" smtClean="0"/>
              <a:t>关键成功因素</a:t>
            </a:r>
            <a:endParaRPr lang="zh-CN" altLang="en-US" sz="2400" dirty="0"/>
          </a:p>
        </p:txBody>
      </p:sp>
      <p:sp>
        <p:nvSpPr>
          <p:cNvPr id="27" name="矩形 26"/>
          <p:cNvSpPr/>
          <p:nvPr/>
        </p:nvSpPr>
        <p:spPr>
          <a:xfrm>
            <a:off x="2041714" y="5652708"/>
            <a:ext cx="3266005"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576228" y="5832919"/>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5</a:t>
            </a:r>
            <a:endParaRPr lang="zh-CN" altLang="en-US" sz="3200" dirty="0"/>
          </a:p>
        </p:txBody>
      </p:sp>
      <p:sp>
        <p:nvSpPr>
          <p:cNvPr id="29" name="矩形 28"/>
          <p:cNvSpPr/>
          <p:nvPr/>
        </p:nvSpPr>
        <p:spPr>
          <a:xfrm>
            <a:off x="2256547" y="5770524"/>
            <a:ext cx="2820948" cy="830997"/>
          </a:xfrm>
          <a:prstGeom prst="rect">
            <a:avLst/>
          </a:prstGeom>
        </p:spPr>
        <p:txBody>
          <a:bodyPr wrap="square">
            <a:spAutoFit/>
          </a:bodyPr>
          <a:lstStyle/>
          <a:p>
            <a:r>
              <a:rPr lang="zh-CN" altLang="en-US" sz="2400" dirty="0"/>
              <a:t>对相关</a:t>
            </a:r>
            <a:r>
              <a:rPr lang="zh-CN" altLang="en-US" sz="2400" dirty="0" smtClean="0"/>
              <a:t>利益相关集团的关注</a:t>
            </a:r>
            <a:endParaRPr lang="zh-CN" altLang="en-US" sz="2400" dirty="0"/>
          </a:p>
        </p:txBody>
      </p:sp>
      <p:cxnSp>
        <p:nvCxnSpPr>
          <p:cNvPr id="30" name="直接连接符 29"/>
          <p:cNvCxnSpPr>
            <a:stCxn id="21" idx="4"/>
            <a:endCxn id="25" idx="0"/>
          </p:cNvCxnSpPr>
          <p:nvPr/>
        </p:nvCxnSpPr>
        <p:spPr>
          <a:xfrm>
            <a:off x="1898073" y="4137466"/>
            <a:ext cx="7547" cy="52002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5" idx="4"/>
            <a:endCxn id="28" idx="0"/>
          </p:cNvCxnSpPr>
          <p:nvPr/>
        </p:nvCxnSpPr>
        <p:spPr>
          <a:xfrm flipH="1">
            <a:off x="1904119" y="5294798"/>
            <a:ext cx="1501" cy="538121"/>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4.</a:t>
            </a:r>
            <a:r>
              <a:rPr lang="zh-CN" altLang="en-US" dirty="0"/>
              <a:t>战略承诺</a:t>
            </a:r>
            <a:r>
              <a:rPr lang="zh-CN" altLang="en-US" dirty="0" smtClean="0"/>
              <a:t>的形式</a:t>
            </a:r>
            <a:endParaRPr lang="zh-CN" altLang="en-US" dirty="0"/>
          </a:p>
        </p:txBody>
      </p:sp>
      <p:sp>
        <p:nvSpPr>
          <p:cNvPr id="13" name="矩形 12"/>
          <p:cNvSpPr/>
          <p:nvPr/>
        </p:nvSpPr>
        <p:spPr>
          <a:xfrm>
            <a:off x="2035668" y="1049958"/>
            <a:ext cx="9815318" cy="304655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225964" y="1265088"/>
            <a:ext cx="2002004" cy="521970"/>
          </a:xfrm>
          <a:prstGeom prst="rect">
            <a:avLst/>
          </a:prstGeom>
        </p:spPr>
        <p:txBody>
          <a:bodyPr wrap="square">
            <a:spAutoFit/>
          </a:bodyPr>
          <a:lstStyle/>
          <a:p>
            <a:r>
              <a:rPr lang="zh-CN" altLang="en-US" sz="2800" dirty="0"/>
              <a:t>宗旨陈述</a:t>
            </a:r>
            <a:endParaRPr lang="zh-CN" altLang="en-US" sz="2000" dirty="0"/>
          </a:p>
        </p:txBody>
      </p:sp>
      <p:sp>
        <p:nvSpPr>
          <p:cNvPr id="16" name="椭圆 15"/>
          <p:cNvSpPr/>
          <p:nvPr/>
        </p:nvSpPr>
        <p:spPr>
          <a:xfrm>
            <a:off x="1570182" y="1184010"/>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1</a:t>
            </a:r>
            <a:endParaRPr lang="zh-CN" altLang="en-US" sz="3200" dirty="0"/>
          </a:p>
        </p:txBody>
      </p:sp>
      <p:cxnSp>
        <p:nvCxnSpPr>
          <p:cNvPr id="18" name="直接连接符 17"/>
          <p:cNvCxnSpPr>
            <a:endCxn id="21" idx="0"/>
          </p:cNvCxnSpPr>
          <p:nvPr/>
        </p:nvCxnSpPr>
        <p:spPr>
          <a:xfrm>
            <a:off x="1898073" y="1821319"/>
            <a:ext cx="0" cy="2537192"/>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2035668" y="4178300"/>
            <a:ext cx="9815318" cy="2524252"/>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277661" y="4368540"/>
            <a:ext cx="1723971" cy="523220"/>
          </a:xfrm>
          <a:prstGeom prst="rect">
            <a:avLst/>
          </a:prstGeom>
        </p:spPr>
        <p:txBody>
          <a:bodyPr wrap="square">
            <a:spAutoFit/>
          </a:bodyPr>
          <a:lstStyle/>
          <a:p>
            <a:r>
              <a:rPr lang="zh-CN" altLang="en-US" sz="2800" dirty="0"/>
              <a:t>其他形式</a:t>
            </a:r>
            <a:endParaRPr lang="zh-CN" altLang="en-US" sz="2800" dirty="0"/>
          </a:p>
        </p:txBody>
      </p:sp>
      <p:sp>
        <p:nvSpPr>
          <p:cNvPr id="21" name="椭圆 20"/>
          <p:cNvSpPr/>
          <p:nvPr/>
        </p:nvSpPr>
        <p:spPr>
          <a:xfrm>
            <a:off x="1570182" y="4358511"/>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2</a:t>
            </a:r>
            <a:endParaRPr lang="zh-CN" altLang="en-US" sz="3200" dirty="0"/>
          </a:p>
        </p:txBody>
      </p:sp>
      <p:sp>
        <p:nvSpPr>
          <p:cNvPr id="3" name="矩形 2"/>
          <p:cNvSpPr/>
          <p:nvPr/>
        </p:nvSpPr>
        <p:spPr>
          <a:xfrm>
            <a:off x="4270217" y="1263563"/>
            <a:ext cx="7499287" cy="645160"/>
          </a:xfrm>
          <a:prstGeom prst="rect">
            <a:avLst/>
          </a:prstGeom>
        </p:spPr>
        <p:txBody>
          <a:bodyPr wrap="square">
            <a:spAutoFit/>
          </a:bodyPr>
          <a:lstStyle/>
          <a:p>
            <a:r>
              <a:rPr lang="zh-CN" altLang="en-US" dirty="0"/>
              <a:t>企业宗旨解释企业存在的根本理由，反映人们在企业中从事工作的理想与动力，它并不是仅仅描述企业的产量或目标客户，而是企业的灵魂</a:t>
            </a:r>
            <a:endParaRPr lang="en-US" altLang="zh-CN" dirty="0"/>
          </a:p>
        </p:txBody>
      </p:sp>
      <p:sp>
        <p:nvSpPr>
          <p:cNvPr id="17" name="矩形 16"/>
          <p:cNvSpPr/>
          <p:nvPr/>
        </p:nvSpPr>
        <p:spPr>
          <a:xfrm>
            <a:off x="4160758" y="4358587"/>
            <a:ext cx="7609439" cy="2306955"/>
          </a:xfrm>
          <a:prstGeom prst="rect">
            <a:avLst/>
          </a:prstGeom>
        </p:spPr>
        <p:txBody>
          <a:bodyPr wrap="square">
            <a:spAutoFit/>
          </a:bodyPr>
          <a:lstStyle/>
          <a:p>
            <a:pPr marL="285750" indent="-285750">
              <a:buFont typeface="Arial" panose="020B0604020202020204" pitchFamily="34" charset="0"/>
              <a:buChar char="•"/>
            </a:pPr>
            <a:r>
              <a:rPr lang="zh-CN" altLang="zh-CN" dirty="0"/>
              <a:t>愿景</a:t>
            </a:r>
            <a:r>
              <a:rPr lang="zh-CN" altLang="en-US" dirty="0" smtClean="0"/>
              <a:t>。描绘</a:t>
            </a:r>
            <a:r>
              <a:rPr lang="zh-CN" altLang="en-US" dirty="0"/>
              <a:t>企业期望成为什么样子的一幅画面</a:t>
            </a:r>
            <a:r>
              <a:rPr lang="zh-CN" altLang="en-US" dirty="0" smtClean="0"/>
              <a:t>，即企业</a:t>
            </a:r>
            <a:r>
              <a:rPr lang="zh-CN" altLang="en-US" dirty="0"/>
              <a:t>最终想实现</a:t>
            </a:r>
            <a:r>
              <a:rPr lang="zh-CN" altLang="en-US" dirty="0" smtClean="0"/>
              <a:t>什么。愿</a:t>
            </a:r>
            <a:r>
              <a:rPr lang="zh-CN" altLang="en-US" dirty="0"/>
              <a:t>景清晰刻画组织的理想</a:t>
            </a:r>
            <a:r>
              <a:rPr lang="zh-CN" altLang="en-US" dirty="0" smtClean="0"/>
              <a:t>状况</a:t>
            </a:r>
            <a:r>
              <a:rPr lang="zh-CN" altLang="zh-CN" dirty="0" smtClean="0"/>
              <a:t>。</a:t>
            </a:r>
            <a:endParaRPr lang="en-US" altLang="zh-CN" dirty="0"/>
          </a:p>
          <a:p>
            <a:pPr marL="285750" indent="-285750">
              <a:buFont typeface="Arial" panose="020B0604020202020204" pitchFamily="34" charset="0"/>
              <a:buChar char="•"/>
            </a:pPr>
            <a:r>
              <a:rPr lang="zh-CN" altLang="zh-CN" dirty="0"/>
              <a:t>战略意图</a:t>
            </a:r>
            <a:r>
              <a:rPr lang="zh-CN" altLang="en-US" dirty="0"/>
              <a:t>。</a:t>
            </a:r>
            <a:r>
              <a:rPr lang="zh-CN" altLang="en-US" dirty="0" smtClean="0"/>
              <a:t>企业</a:t>
            </a:r>
            <a:r>
              <a:rPr lang="zh-CN" altLang="en-US" dirty="0"/>
              <a:t>雄心勃勃的宏伟梦想，也是企业动力之源，能为企业带来情感和职能上的双重能量，其核心内容是要表述企业希望长期恪守的经营范围和追求的目标</a:t>
            </a:r>
            <a:r>
              <a:rPr lang="zh-CN" altLang="zh-CN" dirty="0" smtClean="0"/>
              <a:t>。</a:t>
            </a:r>
            <a:endParaRPr lang="en-US" altLang="zh-CN" dirty="0"/>
          </a:p>
          <a:p>
            <a:pPr marL="285750" indent="-285750">
              <a:buFont typeface="Arial" panose="020B0604020202020204" pitchFamily="34" charset="0"/>
              <a:buChar char="•"/>
            </a:pPr>
            <a:r>
              <a:rPr lang="zh-CN" altLang="en-US" dirty="0"/>
              <a:t>经营理念。</a:t>
            </a:r>
            <a:r>
              <a:rPr lang="zh-CN" altLang="zh-CN" dirty="0"/>
              <a:t>能够统率众多员工，使众多员工团结一致的中心思想，约束企业管理者行为决策的基本原则</a:t>
            </a:r>
            <a:r>
              <a:rPr lang="zh-CN" altLang="en-US" dirty="0"/>
              <a:t>。</a:t>
            </a:r>
            <a:endParaRPr lang="en-US" altLang="zh-CN" dirty="0"/>
          </a:p>
          <a:p>
            <a:pPr marL="285750" indent="-285750">
              <a:buFont typeface="Arial" panose="020B0604020202020204" pitchFamily="34" charset="0"/>
              <a:buChar char="•"/>
            </a:pPr>
            <a:r>
              <a:rPr lang="zh-CN" altLang="zh-CN" dirty="0"/>
              <a:t>核心价值观</a:t>
            </a:r>
            <a:r>
              <a:rPr lang="zh-CN" altLang="en-US" dirty="0"/>
              <a:t>。</a:t>
            </a:r>
            <a:r>
              <a:rPr lang="zh-CN" altLang="zh-CN" dirty="0"/>
              <a:t>指导企业员工行为的最根本的</a:t>
            </a:r>
            <a:r>
              <a:rPr lang="zh-CN" altLang="zh-CN" dirty="0" smtClean="0"/>
              <a:t>优先</a:t>
            </a:r>
            <a:r>
              <a:rPr lang="zh-CN" altLang="en-US" dirty="0" smtClean="0"/>
              <a:t>顺序</a:t>
            </a:r>
            <a:r>
              <a:rPr lang="zh-CN" altLang="zh-CN" dirty="0" smtClean="0"/>
              <a:t>和</a:t>
            </a:r>
            <a:r>
              <a:rPr lang="zh-CN" altLang="zh-CN" dirty="0"/>
              <a:t>准则</a:t>
            </a:r>
            <a:r>
              <a:rPr lang="zh-CN" altLang="en-US" dirty="0"/>
              <a:t>。</a:t>
            </a:r>
            <a:endParaRPr lang="zh-CN" altLang="en-US" dirty="0"/>
          </a:p>
        </p:txBody>
      </p:sp>
      <p:sp>
        <p:nvSpPr>
          <p:cNvPr id="15" name="矩形 14"/>
          <p:cNvSpPr/>
          <p:nvPr/>
        </p:nvSpPr>
        <p:spPr>
          <a:xfrm>
            <a:off x="4391034" y="1937420"/>
            <a:ext cx="7459951" cy="2306955"/>
          </a:xfrm>
          <a:prstGeom prst="rect">
            <a:avLst/>
          </a:prstGeom>
        </p:spPr>
        <p:txBody>
          <a:bodyPr wrap="square">
            <a:spAutoFit/>
          </a:bodyPr>
          <a:lstStyle/>
          <a:p>
            <a:r>
              <a:rPr lang="zh-CN" altLang="en-US" dirty="0" smtClean="0"/>
              <a:t>目的：</a:t>
            </a:r>
            <a:endParaRPr lang="en-US" altLang="zh-CN" dirty="0" smtClean="0"/>
          </a:p>
          <a:p>
            <a:pPr marL="285750" indent="-285750">
              <a:buFont typeface="Arial" panose="020B0604020202020204" pitchFamily="34" charset="0"/>
              <a:buChar char="•"/>
            </a:pPr>
            <a:r>
              <a:rPr lang="zh-CN" altLang="en-US" dirty="0"/>
              <a:t>希望</a:t>
            </a:r>
            <a:r>
              <a:rPr lang="zh-CN" altLang="en-US" dirty="0" smtClean="0"/>
              <a:t>赢得外部利益相关集团的</a:t>
            </a:r>
            <a:r>
              <a:rPr lang="zh-CN" altLang="en-US" dirty="0"/>
              <a:t>认同、理解、支持和</a:t>
            </a:r>
            <a:r>
              <a:rPr lang="zh-CN" altLang="en-US" dirty="0" smtClean="0"/>
              <a:t>监督</a:t>
            </a:r>
            <a:endParaRPr lang="en-US" altLang="zh-CN" dirty="0" smtClean="0"/>
          </a:p>
          <a:p>
            <a:pPr marL="285750" indent="-285750">
              <a:buFont typeface="Arial" panose="020B0604020202020204" pitchFamily="34" charset="0"/>
              <a:buChar char="•"/>
            </a:pPr>
            <a:r>
              <a:rPr lang="zh-CN" altLang="en-US" dirty="0"/>
              <a:t>针对企业内部成员，尤其是企业战略管理者，确保企业内部就企业经营目的达成</a:t>
            </a:r>
            <a:r>
              <a:rPr lang="zh-CN" altLang="en-US" dirty="0" smtClean="0"/>
              <a:t>共识</a:t>
            </a:r>
            <a:endParaRPr lang="en-US" altLang="zh-CN" dirty="0" smtClean="0"/>
          </a:p>
          <a:p>
            <a:r>
              <a:rPr lang="zh-CN" altLang="en-US" dirty="0" smtClean="0"/>
              <a:t>好的宗旨陈述：</a:t>
            </a:r>
            <a:endParaRPr lang="en-US" altLang="zh-CN" dirty="0" smtClean="0"/>
          </a:p>
          <a:p>
            <a:pPr marL="285750" indent="-285750">
              <a:buFont typeface="Arial" panose="020B0604020202020204" pitchFamily="34" charset="0"/>
              <a:buChar char="•"/>
            </a:pPr>
            <a:r>
              <a:rPr lang="zh-CN" altLang="en-US" dirty="0" smtClean="0"/>
              <a:t>既</a:t>
            </a:r>
            <a:r>
              <a:rPr lang="zh-CN" altLang="en-US" dirty="0"/>
              <a:t>能够体现行业特点，又可以彰显自己的</a:t>
            </a:r>
            <a:r>
              <a:rPr lang="zh-CN" altLang="en-US" dirty="0" smtClean="0"/>
              <a:t>个性</a:t>
            </a:r>
            <a:endParaRPr lang="en-US" altLang="zh-CN" dirty="0" smtClean="0"/>
          </a:p>
          <a:p>
            <a:pPr marL="285750" indent="-285750">
              <a:buFont typeface="Arial" panose="020B0604020202020204" pitchFamily="34" charset="0"/>
              <a:buChar char="•"/>
            </a:pPr>
            <a:r>
              <a:rPr lang="zh-CN" altLang="en-US" dirty="0" smtClean="0"/>
              <a:t>既</a:t>
            </a:r>
            <a:r>
              <a:rPr lang="zh-CN" altLang="en-US" dirty="0"/>
              <a:t>需要具有综合性，又能够突出</a:t>
            </a:r>
            <a:r>
              <a:rPr lang="zh-CN" altLang="en-US" dirty="0" smtClean="0"/>
              <a:t>重点</a:t>
            </a:r>
            <a:endParaRPr lang="zh-CN" altLang="en-US" dirty="0" smtClean="0"/>
          </a:p>
          <a:p>
            <a:pPr marL="285750" indent="-285750">
              <a:buFont typeface="Arial" panose="020B0604020202020204" pitchFamily="34" charset="0"/>
              <a:buChar char="•"/>
            </a:pPr>
            <a:r>
              <a:rPr lang="zh-CN" altLang="en-US" dirty="0" smtClean="0"/>
              <a:t>既要</a:t>
            </a:r>
            <a:r>
              <a:rPr lang="zh-CN" altLang="en-US" dirty="0"/>
              <a:t>表现出取舍清晰，又能够</a:t>
            </a:r>
            <a:r>
              <a:rPr lang="zh-CN" altLang="en-US" dirty="0" smtClean="0"/>
              <a:t>留有余地</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normAutofit/>
          </a:bodyPr>
          <a:lstStyle/>
          <a:p>
            <a:pPr algn="ctr"/>
            <a:r>
              <a:rPr lang="zh-CN" altLang="en-US" sz="2800" dirty="0" smtClean="0"/>
              <a:t>第三节</a:t>
            </a:r>
            <a:endParaRPr lang="zh-CN" altLang="en-US" sz="2800" dirty="0"/>
          </a:p>
        </p:txBody>
      </p:sp>
      <p:sp>
        <p:nvSpPr>
          <p:cNvPr id="6" name="文本占位符 5"/>
          <p:cNvSpPr>
            <a:spLocks noGrp="1"/>
          </p:cNvSpPr>
          <p:nvPr>
            <p:ph type="body" idx="1"/>
          </p:nvPr>
        </p:nvSpPr>
        <p:spPr>
          <a:xfrm>
            <a:off x="6106729" y="2720196"/>
            <a:ext cx="6085271" cy="615454"/>
          </a:xfrm>
        </p:spPr>
        <p:txBody>
          <a:bodyPr/>
          <a:lstStyle/>
          <a:p>
            <a:pPr algn="ctr"/>
            <a:r>
              <a:rPr lang="zh-CN" altLang="en-US" sz="4000" dirty="0" smtClean="0"/>
              <a:t>战略方向</a:t>
            </a:r>
            <a:endParaRPr lang="zh-CN" alt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smtClean="0"/>
              <a:t>1.</a:t>
            </a:r>
            <a:r>
              <a:rPr lang="zh-CN" altLang="en-US" dirty="0" smtClean="0"/>
              <a:t>以行业与市场范围为依据的基本战略选择</a:t>
            </a:r>
            <a:endParaRPr lang="zh-CN" altLang="en-US" dirty="0"/>
          </a:p>
        </p:txBody>
      </p:sp>
      <p:sp>
        <p:nvSpPr>
          <p:cNvPr id="11" name="矩形 10"/>
          <p:cNvSpPr/>
          <p:nvPr/>
        </p:nvSpPr>
        <p:spPr>
          <a:xfrm>
            <a:off x="2035668" y="2377440"/>
            <a:ext cx="9094150" cy="1114591"/>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矩形 12"/>
          <p:cNvSpPr/>
          <p:nvPr/>
        </p:nvSpPr>
        <p:spPr>
          <a:xfrm>
            <a:off x="2035668" y="1223694"/>
            <a:ext cx="9094150" cy="1020097"/>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矩形 13"/>
          <p:cNvSpPr/>
          <p:nvPr/>
        </p:nvSpPr>
        <p:spPr>
          <a:xfrm>
            <a:off x="2277661" y="1228128"/>
            <a:ext cx="8792103" cy="1014730"/>
          </a:xfrm>
          <a:prstGeom prst="rect">
            <a:avLst/>
          </a:prstGeom>
        </p:spPr>
        <p:txBody>
          <a:bodyPr wrap="square">
            <a:spAutoFit/>
          </a:bodyPr>
          <a:lstStyle/>
          <a:p>
            <a:r>
              <a:rPr lang="zh-CN" altLang="en-US" sz="2000" dirty="0" smtClean="0">
                <a:solidFill>
                  <a:srgbClr val="FF0000"/>
                </a:solidFill>
              </a:rPr>
              <a:t>行业</a:t>
            </a:r>
            <a:r>
              <a:rPr lang="en-US" altLang="zh-CN" sz="2000" dirty="0" smtClean="0">
                <a:solidFill>
                  <a:srgbClr val="FF0000"/>
                </a:solidFill>
              </a:rPr>
              <a:t>/</a:t>
            </a:r>
            <a:r>
              <a:rPr lang="zh-CN" altLang="en-US" sz="2000" dirty="0">
                <a:solidFill>
                  <a:srgbClr val="FF0000"/>
                </a:solidFill>
              </a:rPr>
              <a:t>市场集中战略</a:t>
            </a:r>
            <a:r>
              <a:rPr lang="zh-CN" altLang="en-US" sz="2000" dirty="0" smtClean="0">
                <a:solidFill>
                  <a:prstClr val="black"/>
                </a:solidFill>
              </a:rPr>
              <a:t>：企业战略承诺如果</a:t>
            </a:r>
            <a:r>
              <a:rPr lang="zh-CN" altLang="en-US" sz="2000" dirty="0">
                <a:solidFill>
                  <a:prstClr val="black"/>
                </a:solidFill>
              </a:rPr>
              <a:t>表明企业专注于满足特定市场的顾客群体在某一方面的需求，则企业相应选择行业</a:t>
            </a:r>
            <a:r>
              <a:rPr lang="en-US" altLang="zh-CN" sz="2000" dirty="0">
                <a:solidFill>
                  <a:prstClr val="black"/>
                </a:solidFill>
              </a:rPr>
              <a:t>/</a:t>
            </a:r>
            <a:r>
              <a:rPr lang="zh-CN" altLang="en-US" sz="2000" dirty="0">
                <a:solidFill>
                  <a:prstClr val="black"/>
                </a:solidFill>
              </a:rPr>
              <a:t>市场集中战略，其战略性质就是业务层</a:t>
            </a:r>
            <a:r>
              <a:rPr lang="zh-CN" altLang="en-US" sz="2000" dirty="0" smtClean="0">
                <a:solidFill>
                  <a:prstClr val="black"/>
                </a:solidFill>
              </a:rPr>
              <a:t>战略。</a:t>
            </a:r>
            <a:endParaRPr lang="zh-CN" altLang="en-US" sz="2000" dirty="0">
              <a:solidFill>
                <a:prstClr val="black"/>
              </a:solidFill>
            </a:endParaRPr>
          </a:p>
        </p:txBody>
      </p:sp>
      <p:sp>
        <p:nvSpPr>
          <p:cNvPr id="15" name="矩形 14"/>
          <p:cNvSpPr/>
          <p:nvPr/>
        </p:nvSpPr>
        <p:spPr>
          <a:xfrm>
            <a:off x="2362251" y="2563248"/>
            <a:ext cx="8767567" cy="706755"/>
          </a:xfrm>
          <a:prstGeom prst="rect">
            <a:avLst/>
          </a:prstGeom>
        </p:spPr>
        <p:txBody>
          <a:bodyPr wrap="square">
            <a:spAutoFit/>
          </a:bodyPr>
          <a:lstStyle/>
          <a:p>
            <a:r>
              <a:rPr lang="zh-CN" altLang="en-US" sz="2000" dirty="0">
                <a:solidFill>
                  <a:srgbClr val="FF0000"/>
                </a:solidFill>
              </a:rPr>
              <a:t>行业多元化战略</a:t>
            </a:r>
            <a:r>
              <a:rPr lang="zh-CN" altLang="en-US" sz="2000" dirty="0">
                <a:solidFill>
                  <a:prstClr val="black"/>
                </a:solidFill>
              </a:rPr>
              <a:t>：如果企业致力于满足特定市场的顾客群体在多个方面的需求，企业就应该选择行业多元化战略，其战略性质就是公司层战略</a:t>
            </a:r>
            <a:r>
              <a:rPr lang="zh-CN" altLang="zh-CN" sz="2000" dirty="0" smtClean="0">
                <a:solidFill>
                  <a:prstClr val="black"/>
                </a:solidFill>
              </a:rPr>
              <a:t>。</a:t>
            </a:r>
            <a:endParaRPr lang="zh-CN" altLang="en-US" sz="2000" dirty="0">
              <a:solidFill>
                <a:prstClr val="black"/>
              </a:solidFill>
            </a:endParaRPr>
          </a:p>
        </p:txBody>
      </p:sp>
      <p:sp>
        <p:nvSpPr>
          <p:cNvPr id="19" name="矩形 18"/>
          <p:cNvSpPr/>
          <p:nvPr/>
        </p:nvSpPr>
        <p:spPr>
          <a:xfrm>
            <a:off x="2035668" y="3688112"/>
            <a:ext cx="9094150" cy="885428"/>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nvSpPr>
        <p:spPr>
          <a:xfrm>
            <a:off x="2312562" y="3717179"/>
            <a:ext cx="8817256" cy="706755"/>
          </a:xfrm>
          <a:prstGeom prst="rect">
            <a:avLst/>
          </a:prstGeom>
        </p:spPr>
        <p:txBody>
          <a:bodyPr wrap="square">
            <a:spAutoFit/>
          </a:bodyPr>
          <a:lstStyle/>
          <a:p>
            <a:r>
              <a:rPr lang="zh-CN" altLang="en-US" sz="2000" dirty="0">
                <a:solidFill>
                  <a:srgbClr val="FF0000"/>
                </a:solidFill>
              </a:rPr>
              <a:t>市场多元化战略</a:t>
            </a:r>
            <a:r>
              <a:rPr lang="zh-CN" altLang="en-US" sz="2000" dirty="0">
                <a:solidFill>
                  <a:prstClr val="black"/>
                </a:solidFill>
              </a:rPr>
              <a:t>：如果企业试图满足多个市场的顾客群体在某一方面的需求，那么企业就应选择市场多元化战略，此时战略性质是公司层战略。</a:t>
            </a:r>
            <a:endParaRPr lang="en-US" altLang="zh-CN" sz="2000" dirty="0">
              <a:solidFill>
                <a:prstClr val="black"/>
              </a:solidFill>
            </a:endParaRPr>
          </a:p>
        </p:txBody>
      </p:sp>
      <p:sp>
        <p:nvSpPr>
          <p:cNvPr id="25" name="椭圆 24"/>
          <p:cNvSpPr/>
          <p:nvPr/>
        </p:nvSpPr>
        <p:spPr>
          <a:xfrm>
            <a:off x="1389035" y="1228128"/>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1</a:t>
            </a:r>
            <a:endParaRPr lang="zh-CN" altLang="en-US" sz="3200" dirty="0">
              <a:solidFill>
                <a:prstClr val="white"/>
              </a:solidFill>
            </a:endParaRPr>
          </a:p>
        </p:txBody>
      </p:sp>
      <p:sp>
        <p:nvSpPr>
          <p:cNvPr id="26" name="椭圆 25"/>
          <p:cNvSpPr/>
          <p:nvPr/>
        </p:nvSpPr>
        <p:spPr>
          <a:xfrm>
            <a:off x="1396882" y="3812171"/>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3</a:t>
            </a:r>
            <a:endParaRPr lang="zh-CN" altLang="en-US" sz="3200" dirty="0">
              <a:solidFill>
                <a:prstClr val="white"/>
              </a:solidFill>
            </a:endParaRPr>
          </a:p>
        </p:txBody>
      </p:sp>
      <p:cxnSp>
        <p:nvCxnSpPr>
          <p:cNvPr id="27" name="直接连接符 26"/>
          <p:cNvCxnSpPr>
            <a:stCxn id="28" idx="4"/>
            <a:endCxn id="26" idx="0"/>
          </p:cNvCxnSpPr>
          <p:nvPr/>
        </p:nvCxnSpPr>
        <p:spPr>
          <a:xfrm flipH="1">
            <a:off x="1724773" y="3202213"/>
            <a:ext cx="7848" cy="609958"/>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404730" y="2564904"/>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rPr>
              <a:t>2</a:t>
            </a:r>
            <a:endParaRPr lang="zh-CN" altLang="en-US" sz="3200" dirty="0">
              <a:solidFill>
                <a:prstClr val="white"/>
              </a:solidFill>
            </a:endParaRPr>
          </a:p>
        </p:txBody>
      </p:sp>
      <p:cxnSp>
        <p:nvCxnSpPr>
          <p:cNvPr id="29" name="直接连接符 28"/>
          <p:cNvCxnSpPr>
            <a:stCxn id="25" idx="4"/>
            <a:endCxn id="28" idx="0"/>
          </p:cNvCxnSpPr>
          <p:nvPr/>
        </p:nvCxnSpPr>
        <p:spPr>
          <a:xfrm>
            <a:off x="1716926" y="1865437"/>
            <a:ext cx="15695" cy="699467"/>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362116" y="4894164"/>
            <a:ext cx="8817256" cy="706755"/>
          </a:xfrm>
          <a:prstGeom prst="rect">
            <a:avLst/>
          </a:prstGeom>
        </p:spPr>
        <p:txBody>
          <a:bodyPr wrap="square">
            <a:spAutoFit/>
          </a:bodyPr>
          <a:lstStyle/>
          <a:p>
            <a:r>
              <a:rPr lang="zh-CN" altLang="en-US" sz="2000" dirty="0">
                <a:solidFill>
                  <a:srgbClr val="FF0000"/>
                </a:solidFill>
              </a:rPr>
              <a:t>多角化战略</a:t>
            </a:r>
            <a:r>
              <a:rPr lang="zh-CN" altLang="en-US" sz="2000" dirty="0">
                <a:solidFill>
                  <a:prstClr val="black"/>
                </a:solidFill>
              </a:rPr>
              <a:t>：如果企业希望满足多个市场的顾客群体在多个方面的需求，那么企业就应选择多角化战略，</a:t>
            </a:r>
            <a:r>
              <a:rPr lang="zh-CN" altLang="en-US" sz="2000" dirty="0">
                <a:solidFill>
                  <a:prstClr val="black"/>
                </a:solidFill>
              </a:rPr>
              <a:t>此时战略性质就是公司层战略。</a:t>
            </a:r>
            <a:endParaRPr lang="en-US" altLang="zh-CN" sz="2000" dirty="0">
              <a:solidFill>
                <a:prstClr val="black"/>
              </a:solidFill>
            </a:endParaRPr>
          </a:p>
        </p:txBody>
      </p:sp>
      <p:sp>
        <p:nvSpPr>
          <p:cNvPr id="46" name="椭圆 45"/>
          <p:cNvSpPr/>
          <p:nvPr/>
        </p:nvSpPr>
        <p:spPr>
          <a:xfrm>
            <a:off x="1379886" y="4928616"/>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solidFill>
                  <a:prstClr val="white"/>
                </a:solidFill>
              </a:rPr>
              <a:t>4</a:t>
            </a:r>
            <a:endParaRPr lang="zh-CN" altLang="en-US" sz="3200" dirty="0">
              <a:solidFill>
                <a:prstClr val="white"/>
              </a:solidFill>
            </a:endParaRPr>
          </a:p>
        </p:txBody>
      </p:sp>
      <p:cxnSp>
        <p:nvCxnSpPr>
          <p:cNvPr id="49" name="直接连接符 48"/>
          <p:cNvCxnSpPr/>
          <p:nvPr/>
        </p:nvCxnSpPr>
        <p:spPr>
          <a:xfrm>
            <a:off x="1716926" y="4449480"/>
            <a:ext cx="1" cy="479136"/>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smtClean="0"/>
              <a:t>2.</a:t>
            </a:r>
            <a:r>
              <a:rPr lang="zh-CN" altLang="en-US" dirty="0" smtClean="0"/>
              <a:t>以发展态势为依据的基本战略选择</a:t>
            </a:r>
            <a:endParaRPr lang="zh-CN" altLang="en-US" dirty="0"/>
          </a:p>
        </p:txBody>
      </p:sp>
      <p:sp>
        <p:nvSpPr>
          <p:cNvPr id="11" name="矩形 10"/>
          <p:cNvSpPr/>
          <p:nvPr/>
        </p:nvSpPr>
        <p:spPr>
          <a:xfrm>
            <a:off x="2035668" y="2775964"/>
            <a:ext cx="9094150" cy="732561"/>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矩形 12"/>
          <p:cNvSpPr/>
          <p:nvPr/>
        </p:nvSpPr>
        <p:spPr>
          <a:xfrm>
            <a:off x="2035668" y="1717470"/>
            <a:ext cx="9094150" cy="4721693"/>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矩形 13"/>
          <p:cNvSpPr/>
          <p:nvPr/>
        </p:nvSpPr>
        <p:spPr>
          <a:xfrm>
            <a:off x="2277661" y="1721904"/>
            <a:ext cx="8792103" cy="923330"/>
          </a:xfrm>
          <a:prstGeom prst="rect">
            <a:avLst/>
          </a:prstGeom>
        </p:spPr>
        <p:txBody>
          <a:bodyPr wrap="square">
            <a:spAutoFit/>
          </a:bodyPr>
          <a:lstStyle/>
          <a:p>
            <a:r>
              <a:rPr lang="zh-CN" altLang="en-US" dirty="0">
                <a:solidFill>
                  <a:srgbClr val="FF0000"/>
                </a:solidFill>
              </a:rPr>
              <a:t>稳定型</a:t>
            </a:r>
            <a:r>
              <a:rPr lang="zh-CN" altLang="en-US" dirty="0" smtClean="0">
                <a:solidFill>
                  <a:srgbClr val="FF0000"/>
                </a:solidFill>
              </a:rPr>
              <a:t>战略</a:t>
            </a:r>
            <a:r>
              <a:rPr lang="zh-CN" altLang="en-US" dirty="0" smtClean="0">
                <a:solidFill>
                  <a:prstClr val="black"/>
                </a:solidFill>
              </a:rPr>
              <a:t>：是</a:t>
            </a:r>
            <a:r>
              <a:rPr lang="zh-CN" altLang="en-US" dirty="0">
                <a:solidFill>
                  <a:prstClr val="black"/>
                </a:solidFill>
              </a:rPr>
              <a:t>指企业根据发展态势，决定经营状况和资源配置保持目前较高发展水平的战略，即企业现有发展水平较高，而企业未来的发展目标与现有的发展水平相比变化不大的</a:t>
            </a:r>
            <a:r>
              <a:rPr lang="zh-CN" altLang="en-US" dirty="0" smtClean="0">
                <a:solidFill>
                  <a:prstClr val="black"/>
                </a:solidFill>
              </a:rPr>
              <a:t>战略。</a:t>
            </a:r>
            <a:endParaRPr lang="zh-CN" altLang="en-US" dirty="0">
              <a:solidFill>
                <a:prstClr val="black"/>
              </a:solidFill>
            </a:endParaRPr>
          </a:p>
        </p:txBody>
      </p:sp>
      <p:sp>
        <p:nvSpPr>
          <p:cNvPr id="15" name="矩形 14"/>
          <p:cNvSpPr/>
          <p:nvPr/>
        </p:nvSpPr>
        <p:spPr>
          <a:xfrm>
            <a:off x="2312721" y="2819144"/>
            <a:ext cx="8767567" cy="645160"/>
          </a:xfrm>
          <a:prstGeom prst="rect">
            <a:avLst/>
          </a:prstGeom>
        </p:spPr>
        <p:txBody>
          <a:bodyPr wrap="square">
            <a:spAutoFit/>
          </a:bodyPr>
          <a:lstStyle/>
          <a:p>
            <a:r>
              <a:rPr lang="zh-CN" altLang="en-US" dirty="0">
                <a:solidFill>
                  <a:srgbClr val="FF0000"/>
                </a:solidFill>
              </a:rPr>
              <a:t>增长型</a:t>
            </a:r>
            <a:r>
              <a:rPr lang="zh-CN" altLang="en-US" dirty="0" smtClean="0">
                <a:solidFill>
                  <a:srgbClr val="FF0000"/>
                </a:solidFill>
              </a:rPr>
              <a:t>战略</a:t>
            </a:r>
            <a:r>
              <a:rPr lang="zh-CN" altLang="en-US" dirty="0" smtClean="0">
                <a:solidFill>
                  <a:prstClr val="black"/>
                </a:solidFill>
              </a:rPr>
              <a:t>：是</a:t>
            </a:r>
            <a:r>
              <a:rPr lang="zh-CN" altLang="en-US" dirty="0">
                <a:solidFill>
                  <a:prstClr val="black"/>
                </a:solidFill>
              </a:rPr>
              <a:t>指企业根据发展态势，决定深入挖掘内部资源能力以充分利用外部环境的机会，使企业在目前发展水平上向更高的发展目标迈进的战略</a:t>
            </a:r>
            <a:r>
              <a:rPr lang="zh-CN" altLang="en-US" dirty="0" smtClean="0">
                <a:solidFill>
                  <a:prstClr val="black"/>
                </a:solidFill>
              </a:rPr>
              <a:t>。</a:t>
            </a:r>
            <a:endParaRPr lang="zh-CN" altLang="en-US" dirty="0">
              <a:solidFill>
                <a:prstClr val="black"/>
              </a:solidFill>
            </a:endParaRPr>
          </a:p>
        </p:txBody>
      </p:sp>
      <p:sp>
        <p:nvSpPr>
          <p:cNvPr id="20" name="矩形 19"/>
          <p:cNvSpPr/>
          <p:nvPr/>
        </p:nvSpPr>
        <p:spPr>
          <a:xfrm>
            <a:off x="2277661" y="3785638"/>
            <a:ext cx="8817256" cy="923330"/>
          </a:xfrm>
          <a:prstGeom prst="rect">
            <a:avLst/>
          </a:prstGeom>
        </p:spPr>
        <p:txBody>
          <a:bodyPr wrap="square">
            <a:spAutoFit/>
          </a:bodyPr>
          <a:lstStyle/>
          <a:p>
            <a:r>
              <a:rPr lang="zh-CN" altLang="en-US" dirty="0">
                <a:solidFill>
                  <a:srgbClr val="FF0000"/>
                </a:solidFill>
              </a:rPr>
              <a:t>收缩型</a:t>
            </a:r>
            <a:r>
              <a:rPr lang="zh-CN" altLang="en-US" dirty="0" smtClean="0">
                <a:solidFill>
                  <a:srgbClr val="FF0000"/>
                </a:solidFill>
              </a:rPr>
              <a:t>战略</a:t>
            </a:r>
            <a:r>
              <a:rPr lang="zh-CN" altLang="en-US" dirty="0" smtClean="0">
                <a:solidFill>
                  <a:prstClr val="black"/>
                </a:solidFill>
              </a:rPr>
              <a:t>：是</a:t>
            </a:r>
            <a:r>
              <a:rPr lang="zh-CN" altLang="en-US" dirty="0">
                <a:solidFill>
                  <a:prstClr val="black"/>
                </a:solidFill>
              </a:rPr>
              <a:t>指企业根据发展态势，决定企业未来资源配置与经营状况需要收缩，即企业未来发展水平低于现有发展水平的战略。同稳定型战略和增长型战略相比，收缩型战略是一种相对消极的基本战略</a:t>
            </a:r>
            <a:r>
              <a:rPr lang="zh-CN" altLang="en-US" dirty="0" smtClean="0">
                <a:solidFill>
                  <a:prstClr val="black"/>
                </a:solidFill>
              </a:rPr>
              <a:t>。</a:t>
            </a:r>
            <a:endParaRPr lang="en-US" altLang="zh-CN" dirty="0">
              <a:solidFill>
                <a:prstClr val="black"/>
              </a:solidFill>
            </a:endParaRPr>
          </a:p>
        </p:txBody>
      </p:sp>
      <p:sp>
        <p:nvSpPr>
          <p:cNvPr id="25" name="椭圆 24"/>
          <p:cNvSpPr/>
          <p:nvPr/>
        </p:nvSpPr>
        <p:spPr>
          <a:xfrm>
            <a:off x="1389035" y="1721904"/>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rPr>
              <a:t>1</a:t>
            </a:r>
            <a:endParaRPr lang="zh-CN" altLang="en-US" sz="2000" dirty="0">
              <a:solidFill>
                <a:prstClr val="white"/>
              </a:solidFill>
            </a:endParaRPr>
          </a:p>
        </p:txBody>
      </p:sp>
      <p:sp>
        <p:nvSpPr>
          <p:cNvPr id="26" name="椭圆 25"/>
          <p:cNvSpPr/>
          <p:nvPr/>
        </p:nvSpPr>
        <p:spPr>
          <a:xfrm>
            <a:off x="1404730" y="3907236"/>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rPr>
              <a:t>3</a:t>
            </a:r>
            <a:endParaRPr lang="zh-CN" altLang="en-US" sz="2000" dirty="0">
              <a:solidFill>
                <a:prstClr val="white"/>
              </a:solidFill>
            </a:endParaRPr>
          </a:p>
        </p:txBody>
      </p:sp>
      <p:cxnSp>
        <p:nvCxnSpPr>
          <p:cNvPr id="27" name="直接连接符 26"/>
          <p:cNvCxnSpPr>
            <a:stCxn id="28" idx="4"/>
            <a:endCxn id="26" idx="0"/>
          </p:cNvCxnSpPr>
          <p:nvPr/>
        </p:nvCxnSpPr>
        <p:spPr>
          <a:xfrm>
            <a:off x="1732621" y="3508525"/>
            <a:ext cx="0" cy="398711"/>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404730" y="2871216"/>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white"/>
                </a:solidFill>
              </a:rPr>
              <a:t>2</a:t>
            </a:r>
            <a:endParaRPr lang="zh-CN" altLang="en-US" sz="2000" dirty="0">
              <a:solidFill>
                <a:prstClr val="white"/>
              </a:solidFill>
            </a:endParaRPr>
          </a:p>
        </p:txBody>
      </p:sp>
      <p:cxnSp>
        <p:nvCxnSpPr>
          <p:cNvPr id="29" name="直接连接符 28"/>
          <p:cNvCxnSpPr>
            <a:stCxn id="25" idx="4"/>
            <a:endCxn id="28" idx="0"/>
          </p:cNvCxnSpPr>
          <p:nvPr/>
        </p:nvCxnSpPr>
        <p:spPr>
          <a:xfrm>
            <a:off x="1716926" y="2359213"/>
            <a:ext cx="15695" cy="51200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312562" y="4878444"/>
            <a:ext cx="8817256" cy="1477328"/>
          </a:xfrm>
          <a:prstGeom prst="rect">
            <a:avLst/>
          </a:prstGeom>
        </p:spPr>
        <p:txBody>
          <a:bodyPr wrap="square">
            <a:spAutoFit/>
          </a:bodyPr>
          <a:lstStyle/>
          <a:p>
            <a:r>
              <a:rPr lang="zh-CN" altLang="en-US" dirty="0">
                <a:solidFill>
                  <a:srgbClr val="FF0000"/>
                </a:solidFill>
              </a:rPr>
              <a:t>防御型</a:t>
            </a:r>
            <a:r>
              <a:rPr lang="zh-CN" altLang="en-US" dirty="0" smtClean="0">
                <a:solidFill>
                  <a:srgbClr val="FF0000"/>
                </a:solidFill>
              </a:rPr>
              <a:t>战略</a:t>
            </a:r>
            <a:r>
              <a:rPr lang="zh-CN" altLang="en-US" dirty="0" smtClean="0">
                <a:solidFill>
                  <a:prstClr val="black"/>
                </a:solidFill>
              </a:rPr>
              <a:t>：是</a:t>
            </a:r>
            <a:r>
              <a:rPr lang="zh-CN" altLang="en-US" dirty="0">
                <a:solidFill>
                  <a:prstClr val="black"/>
                </a:solidFill>
              </a:rPr>
              <a:t>指企业根据发展态势，决定其经营状况和资源配置保持在目前比较低水平上的战略，即企业现有发展水平较低，而企业未来的发展目标与现有的发展水平相比变化不大的战略</a:t>
            </a:r>
            <a:r>
              <a:rPr lang="zh-CN" altLang="en-US" dirty="0" smtClean="0">
                <a:solidFill>
                  <a:prstClr val="black"/>
                </a:solidFill>
              </a:rPr>
              <a:t>。</a:t>
            </a:r>
            <a:endParaRPr lang="en-US" altLang="zh-CN" dirty="0" smtClean="0">
              <a:solidFill>
                <a:prstClr val="black"/>
              </a:solidFill>
            </a:endParaRPr>
          </a:p>
          <a:p>
            <a:endParaRPr lang="en-US" altLang="zh-CN" dirty="0">
              <a:solidFill>
                <a:prstClr val="black"/>
              </a:solidFill>
            </a:endParaRPr>
          </a:p>
          <a:p>
            <a:r>
              <a:rPr lang="zh-CN" altLang="en-US" dirty="0">
                <a:solidFill>
                  <a:srgbClr val="FF0000"/>
                </a:solidFill>
              </a:rPr>
              <a:t>混合型</a:t>
            </a:r>
            <a:r>
              <a:rPr lang="zh-CN" altLang="en-US" dirty="0" smtClean="0">
                <a:solidFill>
                  <a:srgbClr val="FF0000"/>
                </a:solidFill>
              </a:rPr>
              <a:t>战略</a:t>
            </a:r>
            <a:r>
              <a:rPr lang="zh-CN" altLang="en-US" dirty="0" smtClean="0">
                <a:solidFill>
                  <a:prstClr val="black"/>
                </a:solidFill>
              </a:rPr>
              <a:t>：是</a:t>
            </a:r>
            <a:r>
              <a:rPr lang="zh-CN" altLang="en-US" dirty="0">
                <a:solidFill>
                  <a:prstClr val="black"/>
                </a:solidFill>
              </a:rPr>
              <a:t>指企业根据发展态势，决定其各个业务单元采用不同的基本战略。</a:t>
            </a:r>
            <a:endParaRPr lang="en-US" altLang="zh-CN" dirty="0">
              <a:solidFill>
                <a:prstClr val="black"/>
              </a:solidFill>
            </a:endParaRPr>
          </a:p>
        </p:txBody>
      </p:sp>
      <p:sp>
        <p:nvSpPr>
          <p:cNvPr id="46" name="椭圆 45"/>
          <p:cNvSpPr/>
          <p:nvPr/>
        </p:nvSpPr>
        <p:spPr>
          <a:xfrm>
            <a:off x="1389035" y="4907963"/>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prstClr val="white"/>
                </a:solidFill>
              </a:rPr>
              <a:t>4</a:t>
            </a:r>
            <a:endParaRPr lang="zh-CN" altLang="en-US" sz="2000" dirty="0">
              <a:solidFill>
                <a:prstClr val="white"/>
              </a:solidFill>
            </a:endParaRPr>
          </a:p>
        </p:txBody>
      </p:sp>
      <p:cxnSp>
        <p:nvCxnSpPr>
          <p:cNvPr id="49" name="直接连接符 48"/>
          <p:cNvCxnSpPr>
            <a:endCxn id="46" idx="0"/>
          </p:cNvCxnSpPr>
          <p:nvPr/>
        </p:nvCxnSpPr>
        <p:spPr>
          <a:xfrm flipH="1">
            <a:off x="1716926" y="4544545"/>
            <a:ext cx="7847" cy="363418"/>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97864" y="873173"/>
            <a:ext cx="9931954" cy="772747"/>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宋体" panose="02010600030101010101" pitchFamily="2" charset="-122"/>
                <a:ea typeface="宋体" panose="02010600030101010101" pitchFamily="2" charset="-122"/>
              </a:rPr>
              <a:t>发展态势，亦称战略态势，是指将企业未来发展目标（资源配置与经营状况）与目前发展水平（资源配置与经营状况）进行比较而得到的企业发展趋势。</a:t>
            </a:r>
            <a:endParaRPr lang="zh-CN" altLang="en-US" sz="2200" b="1" dirty="0">
              <a:solidFill>
                <a:schemeClr val="tx1"/>
              </a:solidFill>
              <a:latin typeface="宋体" panose="02010600030101010101" pitchFamily="2" charset="-122"/>
              <a:ea typeface="宋体" panose="02010600030101010101" pitchFamily="2" charset="-122"/>
            </a:endParaRPr>
          </a:p>
        </p:txBody>
      </p:sp>
      <p:sp>
        <p:nvSpPr>
          <p:cNvPr id="24" name="椭圆 23"/>
          <p:cNvSpPr/>
          <p:nvPr/>
        </p:nvSpPr>
        <p:spPr>
          <a:xfrm>
            <a:off x="1379886" y="5843061"/>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prstClr val="white"/>
                </a:solidFill>
              </a:rPr>
              <a:t>5</a:t>
            </a:r>
            <a:endParaRPr lang="zh-CN" altLang="en-US" sz="2000" dirty="0">
              <a:solidFill>
                <a:prstClr val="white"/>
              </a:solidFill>
            </a:endParaRPr>
          </a:p>
        </p:txBody>
      </p:sp>
      <p:cxnSp>
        <p:nvCxnSpPr>
          <p:cNvPr id="30" name="直接连接符 29"/>
          <p:cNvCxnSpPr>
            <a:endCxn id="24" idx="0"/>
          </p:cNvCxnSpPr>
          <p:nvPr/>
        </p:nvCxnSpPr>
        <p:spPr>
          <a:xfrm flipH="1">
            <a:off x="1707777" y="5545272"/>
            <a:ext cx="1" cy="297789"/>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normAutofit/>
          </a:bodyPr>
          <a:lstStyle/>
          <a:p>
            <a:pPr algn="ctr"/>
            <a:r>
              <a:rPr lang="zh-CN" altLang="en-US" sz="2800" dirty="0"/>
              <a:t>第四节</a:t>
            </a:r>
            <a:endParaRPr lang="zh-CN" altLang="en-US" sz="2800" dirty="0"/>
          </a:p>
        </p:txBody>
      </p:sp>
      <p:sp>
        <p:nvSpPr>
          <p:cNvPr id="6" name="文本占位符 5"/>
          <p:cNvSpPr>
            <a:spLocks noGrp="1"/>
          </p:cNvSpPr>
          <p:nvPr>
            <p:ph type="body" idx="1"/>
          </p:nvPr>
        </p:nvSpPr>
        <p:spPr>
          <a:xfrm>
            <a:off x="6106729" y="2720196"/>
            <a:ext cx="6085271" cy="615454"/>
          </a:xfrm>
        </p:spPr>
        <p:txBody>
          <a:bodyPr/>
          <a:lstStyle/>
          <a:p>
            <a:pPr algn="ctr"/>
            <a:r>
              <a:rPr lang="zh-CN" altLang="en-US" sz="4000" dirty="0"/>
              <a:t>战略目标</a:t>
            </a:r>
            <a:endParaRPr lang="zh-CN" alt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1.</a:t>
            </a:r>
            <a:r>
              <a:rPr lang="zh-CN" altLang="en-US" dirty="0"/>
              <a:t>战略目标的性质和作用</a:t>
            </a:r>
            <a:endParaRPr lang="zh-CN" altLang="en-US" dirty="0"/>
          </a:p>
        </p:txBody>
      </p:sp>
      <p:sp>
        <p:nvSpPr>
          <p:cNvPr id="11" name="矩形 10"/>
          <p:cNvSpPr/>
          <p:nvPr/>
        </p:nvSpPr>
        <p:spPr>
          <a:xfrm>
            <a:off x="1509197" y="2196738"/>
            <a:ext cx="9634449"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509197" y="632567"/>
            <a:ext cx="9634449"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889610" y="720955"/>
            <a:ext cx="9369340" cy="1014730"/>
          </a:xfrm>
          <a:prstGeom prst="rect">
            <a:avLst/>
          </a:prstGeom>
        </p:spPr>
        <p:txBody>
          <a:bodyPr wrap="square">
            <a:spAutoFit/>
          </a:bodyPr>
          <a:lstStyle/>
          <a:p>
            <a:r>
              <a:rPr lang="zh-CN" altLang="en-US" sz="2000" dirty="0" smtClean="0"/>
              <a:t>企业战略</a:t>
            </a:r>
            <a:r>
              <a:rPr lang="zh-CN" altLang="en-US" sz="2000" dirty="0"/>
              <a:t>目标是指企业在实现其宗旨过程中所追求的阶段性结果，是在最重要领域对企业宗旨的进一步具体化，具体反映企业在一定时期内经营活动的方向和所要达到的水平</a:t>
            </a:r>
            <a:r>
              <a:rPr lang="zh-CN" altLang="zh-CN" sz="2000" dirty="0" smtClean="0"/>
              <a:t>。</a:t>
            </a:r>
            <a:endParaRPr lang="zh-CN" altLang="en-US" sz="2000" dirty="0"/>
          </a:p>
        </p:txBody>
      </p:sp>
      <p:sp>
        <p:nvSpPr>
          <p:cNvPr id="16" name="椭圆 15"/>
          <p:cNvSpPr/>
          <p:nvPr/>
        </p:nvSpPr>
        <p:spPr>
          <a:xfrm>
            <a:off x="1043712" y="766619"/>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1</a:t>
            </a:r>
            <a:endParaRPr lang="zh-CN" altLang="en-US" sz="3200" dirty="0"/>
          </a:p>
        </p:txBody>
      </p:sp>
      <p:sp>
        <p:nvSpPr>
          <p:cNvPr id="17" name="椭圆 16"/>
          <p:cNvSpPr/>
          <p:nvPr/>
        </p:nvSpPr>
        <p:spPr>
          <a:xfrm>
            <a:off x="1043712" y="2376949"/>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2</a:t>
            </a:r>
            <a:endParaRPr lang="zh-CN" altLang="en-US" sz="3200" dirty="0"/>
          </a:p>
        </p:txBody>
      </p:sp>
      <p:cxnSp>
        <p:nvCxnSpPr>
          <p:cNvPr id="18" name="直接连接符 17"/>
          <p:cNvCxnSpPr/>
          <p:nvPr/>
        </p:nvCxnSpPr>
        <p:spPr>
          <a:xfrm>
            <a:off x="1371603" y="1403928"/>
            <a:ext cx="0" cy="96058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509197" y="3760909"/>
            <a:ext cx="9634449"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043712" y="3941120"/>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3</a:t>
            </a:r>
            <a:endParaRPr lang="zh-CN" altLang="en-US" sz="3200" dirty="0"/>
          </a:p>
        </p:txBody>
      </p:sp>
      <p:cxnSp>
        <p:nvCxnSpPr>
          <p:cNvPr id="23" name="直接连接符 22"/>
          <p:cNvCxnSpPr/>
          <p:nvPr/>
        </p:nvCxnSpPr>
        <p:spPr>
          <a:xfrm>
            <a:off x="1371603" y="3014258"/>
            <a:ext cx="0" cy="96058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509197" y="5037417"/>
            <a:ext cx="9634449" cy="128539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043712" y="5205143"/>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4</a:t>
            </a:r>
            <a:endParaRPr lang="zh-CN" altLang="en-US" sz="3200" dirty="0"/>
          </a:p>
        </p:txBody>
      </p:sp>
      <p:cxnSp>
        <p:nvCxnSpPr>
          <p:cNvPr id="27" name="直接连接符 26"/>
          <p:cNvCxnSpPr/>
          <p:nvPr/>
        </p:nvCxnSpPr>
        <p:spPr>
          <a:xfrm>
            <a:off x="1371603" y="4557126"/>
            <a:ext cx="0" cy="96058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88109" y="2285693"/>
            <a:ext cx="9369340" cy="1014730"/>
          </a:xfrm>
          <a:prstGeom prst="rect">
            <a:avLst/>
          </a:prstGeom>
        </p:spPr>
        <p:txBody>
          <a:bodyPr wrap="square">
            <a:spAutoFit/>
          </a:bodyPr>
          <a:lstStyle/>
          <a:p>
            <a:r>
              <a:rPr lang="zh-CN" altLang="en-US" sz="2000" dirty="0"/>
              <a:t>企业战略目标是一个系统，包括不同层次和领域的目标，其中最宏观、长远和定性的目标应该属于企业价值驱动型的战略，也是企业长期战略承诺的一种表现形式。将企业的战略承诺转化为战略决策与行动，需要具体目标的</a:t>
            </a:r>
            <a:r>
              <a:rPr lang="zh-CN" altLang="en-US" sz="2000" dirty="0" smtClean="0"/>
              <a:t>支持。</a:t>
            </a:r>
            <a:endParaRPr lang="zh-CN" altLang="en-US" sz="2000" dirty="0"/>
          </a:p>
        </p:txBody>
      </p:sp>
      <p:sp>
        <p:nvSpPr>
          <p:cNvPr id="28" name="矩形 27"/>
          <p:cNvSpPr/>
          <p:nvPr/>
        </p:nvSpPr>
        <p:spPr>
          <a:xfrm>
            <a:off x="1895659" y="3968118"/>
            <a:ext cx="9369340" cy="706755"/>
          </a:xfrm>
          <a:prstGeom prst="rect">
            <a:avLst/>
          </a:prstGeom>
        </p:spPr>
        <p:txBody>
          <a:bodyPr wrap="square">
            <a:spAutoFit/>
          </a:bodyPr>
          <a:lstStyle/>
          <a:p>
            <a:r>
              <a:rPr lang="zh-CN" altLang="en-US" sz="2000" dirty="0"/>
              <a:t>从战略制定的基本程序看，即使企业在战略制定中不需要修改战略承诺，也很可能需要修订自己的目标</a:t>
            </a:r>
            <a:r>
              <a:rPr lang="zh-CN" altLang="en-US" sz="2000" dirty="0" smtClean="0"/>
              <a:t>。</a:t>
            </a:r>
            <a:endParaRPr lang="zh-CN" altLang="en-US" sz="2000" dirty="0"/>
          </a:p>
        </p:txBody>
      </p:sp>
      <p:sp>
        <p:nvSpPr>
          <p:cNvPr id="29" name="矩形 28"/>
          <p:cNvSpPr/>
          <p:nvPr/>
        </p:nvSpPr>
        <p:spPr>
          <a:xfrm>
            <a:off x="1888109" y="5037417"/>
            <a:ext cx="9369340" cy="1322070"/>
          </a:xfrm>
          <a:prstGeom prst="rect">
            <a:avLst/>
          </a:prstGeom>
        </p:spPr>
        <p:txBody>
          <a:bodyPr wrap="square">
            <a:spAutoFit/>
          </a:bodyPr>
          <a:lstStyle/>
          <a:p>
            <a:r>
              <a:rPr lang="zh-CN" altLang="en-US" sz="2000" dirty="0"/>
              <a:t>制定和提出企业目标是战略制定的起点，否则战略管理的有效性和效率就无从谈起。企业只有设定明确的战略目标，并以该目标为核心在企业内部形成紧密合作的团队，为实现目标努力奋斗，才能取得成功。就这个意义而言，企业发展在很大程度上取决于其战略目标是否明确</a:t>
            </a:r>
            <a:r>
              <a:rPr lang="zh-CN" altLang="zh-CN" sz="2000" dirty="0" smtClean="0"/>
              <a:t>。</a:t>
            </a: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2.</a:t>
            </a:r>
            <a:r>
              <a:rPr lang="zh-CN" altLang="en-US" dirty="0"/>
              <a:t>战略目标的类型和内容</a:t>
            </a:r>
            <a:endParaRPr lang="zh-CN" altLang="en-US" dirty="0"/>
          </a:p>
        </p:txBody>
      </p:sp>
      <p:sp>
        <p:nvSpPr>
          <p:cNvPr id="11" name="矩形 10"/>
          <p:cNvSpPr/>
          <p:nvPr/>
        </p:nvSpPr>
        <p:spPr>
          <a:xfrm>
            <a:off x="1178605" y="2153205"/>
            <a:ext cx="10350294"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矩形 12"/>
          <p:cNvSpPr/>
          <p:nvPr/>
        </p:nvSpPr>
        <p:spPr>
          <a:xfrm>
            <a:off x="1169552" y="987390"/>
            <a:ext cx="10350294"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4" name="矩形 13"/>
          <p:cNvSpPr/>
          <p:nvPr/>
        </p:nvSpPr>
        <p:spPr>
          <a:xfrm>
            <a:off x="1404178" y="943002"/>
            <a:ext cx="10115667" cy="855619"/>
          </a:xfrm>
          <a:prstGeom prst="rect">
            <a:avLst/>
          </a:prstGeom>
        </p:spPr>
        <p:txBody>
          <a:bodyPr wrap="square">
            <a:spAutoFit/>
          </a:bodyPr>
          <a:lstStyle/>
          <a:p>
            <a:pPr>
              <a:lnSpc>
                <a:spcPct val="124000"/>
              </a:lnSpc>
            </a:pPr>
            <a:r>
              <a:rPr lang="zh-CN" altLang="zh-CN" sz="2000" dirty="0"/>
              <a:t>按照制定目标主体的层次，企业战略目标可以分为公司层战略目标、业务层战略目标和职能层战略目标。</a:t>
            </a:r>
            <a:endParaRPr lang="zh-CN" altLang="en-US" sz="2000" dirty="0"/>
          </a:p>
        </p:txBody>
      </p:sp>
      <p:sp>
        <p:nvSpPr>
          <p:cNvPr id="15" name="矩形 14"/>
          <p:cNvSpPr/>
          <p:nvPr/>
        </p:nvSpPr>
        <p:spPr>
          <a:xfrm>
            <a:off x="1420598" y="2084831"/>
            <a:ext cx="10108300" cy="855619"/>
          </a:xfrm>
          <a:prstGeom prst="rect">
            <a:avLst/>
          </a:prstGeom>
        </p:spPr>
        <p:txBody>
          <a:bodyPr wrap="square">
            <a:spAutoFit/>
          </a:bodyPr>
          <a:lstStyle/>
          <a:p>
            <a:pPr>
              <a:lnSpc>
                <a:spcPct val="124000"/>
              </a:lnSpc>
            </a:pPr>
            <a:r>
              <a:rPr lang="zh-CN" altLang="zh-CN" sz="2000" dirty="0"/>
              <a:t>按照目标预期实现的时间，企业战略目标可以分为长期目标、中期目标和短期目标，并构成连续的嵌套目标体系。</a:t>
            </a:r>
            <a:endParaRPr lang="zh-CN" altLang="en-US" sz="2000" dirty="0"/>
          </a:p>
        </p:txBody>
      </p:sp>
      <p:cxnSp>
        <p:nvCxnSpPr>
          <p:cNvPr id="18" name="直接连接符 17"/>
          <p:cNvCxnSpPr>
            <a:stCxn id="3" idx="2"/>
            <a:endCxn id="29" idx="0"/>
          </p:cNvCxnSpPr>
          <p:nvPr/>
        </p:nvCxnSpPr>
        <p:spPr>
          <a:xfrm>
            <a:off x="1031958" y="1612410"/>
            <a:ext cx="9053" cy="702238"/>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178605" y="3319028"/>
            <a:ext cx="10350294"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0" name="矩形 19"/>
          <p:cNvSpPr/>
          <p:nvPr/>
        </p:nvSpPr>
        <p:spPr>
          <a:xfrm>
            <a:off x="1420598" y="3287604"/>
            <a:ext cx="10108299" cy="854075"/>
          </a:xfrm>
          <a:prstGeom prst="rect">
            <a:avLst/>
          </a:prstGeom>
        </p:spPr>
        <p:txBody>
          <a:bodyPr wrap="square">
            <a:spAutoFit/>
          </a:bodyPr>
          <a:lstStyle/>
          <a:p>
            <a:pPr>
              <a:lnSpc>
                <a:spcPct val="124000"/>
              </a:lnSpc>
            </a:pPr>
            <a:r>
              <a:rPr lang="zh-CN" altLang="zh-CN" sz="2000" dirty="0"/>
              <a:t>按照目标的业务性质，企业战略目标可以分为顾客服务目标、盈利目标、员工福利目标、社会责任目标等。</a:t>
            </a:r>
            <a:endParaRPr lang="zh-CN" altLang="en-US" sz="2000" dirty="0"/>
          </a:p>
        </p:txBody>
      </p:sp>
      <p:cxnSp>
        <p:nvCxnSpPr>
          <p:cNvPr id="23" name="直接连接符 22"/>
          <p:cNvCxnSpPr>
            <a:stCxn id="29" idx="2"/>
            <a:endCxn id="32" idx="0"/>
          </p:cNvCxnSpPr>
          <p:nvPr/>
        </p:nvCxnSpPr>
        <p:spPr>
          <a:xfrm flipH="1">
            <a:off x="1031777" y="2714758"/>
            <a:ext cx="9234" cy="825893"/>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722540" y="1070876"/>
            <a:ext cx="730572" cy="849752"/>
            <a:chOff x="1062185" y="716053"/>
            <a:chExt cx="730572" cy="849752"/>
          </a:xfrm>
        </p:grpSpPr>
        <p:sp>
          <p:nvSpPr>
            <p:cNvPr id="2" name="等腰三角形 1"/>
            <p:cNvSpPr/>
            <p:nvPr/>
          </p:nvSpPr>
          <p:spPr>
            <a:xfrm rot="5400000">
              <a:off x="1039991" y="813039"/>
              <a:ext cx="849752" cy="655780"/>
            </a:xfrm>
            <a:prstGeom prst="triangle">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 name="文本框 2"/>
            <p:cNvSpPr txBox="1"/>
            <p:nvPr/>
          </p:nvSpPr>
          <p:spPr>
            <a:xfrm>
              <a:off x="1062185" y="857477"/>
              <a:ext cx="618836" cy="400110"/>
            </a:xfrm>
            <a:prstGeom prst="rect">
              <a:avLst/>
            </a:prstGeom>
            <a:noFill/>
          </p:spPr>
          <p:txBody>
            <a:bodyPr wrap="square" rtlCol="0">
              <a:spAutoFit/>
            </a:bodyPr>
            <a:lstStyle/>
            <a:p>
              <a:pPr algn="ctr"/>
              <a:r>
                <a:rPr lang="en-US" altLang="zh-CN" sz="2000" dirty="0">
                  <a:solidFill>
                    <a:schemeClr val="bg1"/>
                  </a:solidFill>
                  <a:latin typeface="黑体" panose="02010609060101010101" charset="-122"/>
                  <a:ea typeface="黑体" panose="02010609060101010101" charset="-122"/>
                </a:rPr>
                <a:t>1</a:t>
              </a:r>
              <a:endParaRPr lang="zh-CN" altLang="en-US" sz="2000" dirty="0">
                <a:solidFill>
                  <a:schemeClr val="bg1"/>
                </a:solidFill>
                <a:latin typeface="黑体" panose="02010609060101010101" charset="-122"/>
                <a:ea typeface="黑体" panose="02010609060101010101" charset="-122"/>
              </a:endParaRPr>
            </a:p>
          </p:txBody>
        </p:sp>
      </p:grpSp>
      <p:grpSp>
        <p:nvGrpSpPr>
          <p:cNvPr id="22" name="组合 21"/>
          <p:cNvGrpSpPr/>
          <p:nvPr/>
        </p:nvGrpSpPr>
        <p:grpSpPr>
          <a:xfrm>
            <a:off x="731593" y="2173224"/>
            <a:ext cx="730572" cy="849752"/>
            <a:chOff x="1062185" y="716053"/>
            <a:chExt cx="730572" cy="849752"/>
          </a:xfrm>
        </p:grpSpPr>
        <p:sp>
          <p:nvSpPr>
            <p:cNvPr id="28" name="等腰三角形 27"/>
            <p:cNvSpPr/>
            <p:nvPr/>
          </p:nvSpPr>
          <p:spPr>
            <a:xfrm rot="5400000">
              <a:off x="1039991" y="813039"/>
              <a:ext cx="849752" cy="655780"/>
            </a:xfrm>
            <a:prstGeom prst="triangle">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29" name="文本框 28"/>
            <p:cNvSpPr txBox="1"/>
            <p:nvPr/>
          </p:nvSpPr>
          <p:spPr>
            <a:xfrm>
              <a:off x="1062185" y="857477"/>
              <a:ext cx="618836" cy="400110"/>
            </a:xfrm>
            <a:prstGeom prst="rect">
              <a:avLst/>
            </a:prstGeom>
            <a:noFill/>
          </p:spPr>
          <p:txBody>
            <a:bodyPr wrap="square" rtlCol="0">
              <a:spAutoFit/>
            </a:bodyPr>
            <a:lstStyle/>
            <a:p>
              <a:pPr algn="ctr"/>
              <a:r>
                <a:rPr lang="en-US" altLang="zh-CN" sz="2000" dirty="0">
                  <a:solidFill>
                    <a:schemeClr val="bg1"/>
                  </a:solidFill>
                  <a:latin typeface="黑体" panose="02010609060101010101" charset="-122"/>
                  <a:ea typeface="黑体" panose="02010609060101010101" charset="-122"/>
                </a:rPr>
                <a:t>2</a:t>
              </a:r>
              <a:endParaRPr lang="zh-CN" altLang="en-US" sz="2000" dirty="0">
                <a:solidFill>
                  <a:schemeClr val="bg1"/>
                </a:solidFill>
                <a:latin typeface="黑体" panose="02010609060101010101" charset="-122"/>
                <a:ea typeface="黑体" panose="02010609060101010101" charset="-122"/>
              </a:endParaRPr>
            </a:p>
          </p:txBody>
        </p:sp>
      </p:grpSp>
      <p:grpSp>
        <p:nvGrpSpPr>
          <p:cNvPr id="30" name="组合 29"/>
          <p:cNvGrpSpPr/>
          <p:nvPr/>
        </p:nvGrpSpPr>
        <p:grpSpPr>
          <a:xfrm>
            <a:off x="722359" y="3399227"/>
            <a:ext cx="730572" cy="849752"/>
            <a:chOff x="1062185" y="716053"/>
            <a:chExt cx="730572" cy="849752"/>
          </a:xfrm>
        </p:grpSpPr>
        <p:sp>
          <p:nvSpPr>
            <p:cNvPr id="31" name="等腰三角形 30"/>
            <p:cNvSpPr/>
            <p:nvPr/>
          </p:nvSpPr>
          <p:spPr>
            <a:xfrm rot="5400000">
              <a:off x="1039991" y="813039"/>
              <a:ext cx="849752" cy="655780"/>
            </a:xfrm>
            <a:prstGeom prst="triangle">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2" name="文本框 31"/>
            <p:cNvSpPr txBox="1"/>
            <p:nvPr/>
          </p:nvSpPr>
          <p:spPr>
            <a:xfrm>
              <a:off x="1062185" y="857477"/>
              <a:ext cx="618836" cy="400110"/>
            </a:xfrm>
            <a:prstGeom prst="rect">
              <a:avLst/>
            </a:prstGeom>
            <a:noFill/>
          </p:spPr>
          <p:txBody>
            <a:bodyPr wrap="square" rtlCol="0">
              <a:spAutoFit/>
            </a:bodyPr>
            <a:lstStyle/>
            <a:p>
              <a:pPr algn="ctr"/>
              <a:r>
                <a:rPr lang="en-US" altLang="zh-CN" sz="2000" dirty="0">
                  <a:solidFill>
                    <a:schemeClr val="bg1"/>
                  </a:solidFill>
                  <a:latin typeface="黑体" panose="02010609060101010101" charset="-122"/>
                  <a:ea typeface="黑体" panose="02010609060101010101" charset="-122"/>
                </a:rPr>
                <a:t>3</a:t>
              </a:r>
              <a:endParaRPr lang="zh-CN" altLang="en-US" sz="2000" dirty="0">
                <a:solidFill>
                  <a:schemeClr val="bg1"/>
                </a:solidFill>
                <a:latin typeface="黑体" panose="02010609060101010101" charset="-122"/>
                <a:ea typeface="黑体" panose="02010609060101010101" charset="-122"/>
              </a:endParaRPr>
            </a:p>
          </p:txBody>
        </p:sp>
      </p:grpSp>
      <p:sp>
        <p:nvSpPr>
          <p:cNvPr id="21" name="矩形 20"/>
          <p:cNvSpPr/>
          <p:nvPr/>
        </p:nvSpPr>
        <p:spPr>
          <a:xfrm>
            <a:off x="1177099" y="4503535"/>
            <a:ext cx="10350294"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4" name="矩形 23"/>
          <p:cNvSpPr/>
          <p:nvPr/>
        </p:nvSpPr>
        <p:spPr>
          <a:xfrm>
            <a:off x="1419092" y="4472111"/>
            <a:ext cx="10108299" cy="473976"/>
          </a:xfrm>
          <a:prstGeom prst="rect">
            <a:avLst/>
          </a:prstGeom>
        </p:spPr>
        <p:txBody>
          <a:bodyPr wrap="square">
            <a:spAutoFit/>
          </a:bodyPr>
          <a:lstStyle/>
          <a:p>
            <a:pPr>
              <a:lnSpc>
                <a:spcPct val="124000"/>
              </a:lnSpc>
            </a:pPr>
            <a:r>
              <a:rPr lang="zh-CN" altLang="zh-CN" sz="2000" dirty="0"/>
              <a:t>按照目标的因果关系，企业战略目标可以分为战略行动目标和财务结果目标。</a:t>
            </a:r>
            <a:endParaRPr lang="zh-CN" altLang="en-US" sz="2000" dirty="0"/>
          </a:p>
        </p:txBody>
      </p:sp>
      <p:grpSp>
        <p:nvGrpSpPr>
          <p:cNvPr id="25" name="组合 24"/>
          <p:cNvGrpSpPr/>
          <p:nvPr/>
        </p:nvGrpSpPr>
        <p:grpSpPr>
          <a:xfrm>
            <a:off x="720853" y="4583734"/>
            <a:ext cx="730572" cy="849752"/>
            <a:chOff x="1062185" y="716053"/>
            <a:chExt cx="730572" cy="849752"/>
          </a:xfrm>
        </p:grpSpPr>
        <p:sp>
          <p:nvSpPr>
            <p:cNvPr id="26" name="等腰三角形 25"/>
            <p:cNvSpPr/>
            <p:nvPr/>
          </p:nvSpPr>
          <p:spPr>
            <a:xfrm rot="5400000">
              <a:off x="1039991" y="813039"/>
              <a:ext cx="849752" cy="655780"/>
            </a:xfrm>
            <a:prstGeom prst="triangle">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27" name="文本框 26"/>
            <p:cNvSpPr txBox="1"/>
            <p:nvPr/>
          </p:nvSpPr>
          <p:spPr>
            <a:xfrm>
              <a:off x="1062185" y="857477"/>
              <a:ext cx="618836" cy="400110"/>
            </a:xfrm>
            <a:prstGeom prst="rect">
              <a:avLst/>
            </a:prstGeom>
            <a:noFill/>
          </p:spPr>
          <p:txBody>
            <a:bodyPr wrap="square" rtlCol="0">
              <a:spAutoFit/>
            </a:bodyPr>
            <a:lstStyle/>
            <a:p>
              <a:pPr algn="ctr"/>
              <a:r>
                <a:rPr lang="en-US" altLang="zh-CN" sz="2000" dirty="0">
                  <a:solidFill>
                    <a:schemeClr val="bg1"/>
                  </a:solidFill>
                  <a:latin typeface="黑体" panose="02010609060101010101" charset="-122"/>
                  <a:ea typeface="黑体" panose="02010609060101010101" charset="-122"/>
                </a:rPr>
                <a:t>4</a:t>
              </a:r>
              <a:endParaRPr lang="zh-CN" altLang="en-US" sz="2000" dirty="0">
                <a:solidFill>
                  <a:schemeClr val="bg1"/>
                </a:solidFill>
                <a:latin typeface="黑体" panose="02010609060101010101" charset="-122"/>
                <a:ea typeface="黑体" panose="02010609060101010101" charset="-122"/>
              </a:endParaRPr>
            </a:p>
          </p:txBody>
        </p:sp>
      </p:grpSp>
      <p:cxnSp>
        <p:nvCxnSpPr>
          <p:cNvPr id="33" name="直接连接符 32"/>
          <p:cNvCxnSpPr>
            <a:stCxn id="32" idx="2"/>
            <a:endCxn id="27" idx="0"/>
          </p:cNvCxnSpPr>
          <p:nvPr/>
        </p:nvCxnSpPr>
        <p:spPr>
          <a:xfrm flipH="1">
            <a:off x="1030271" y="3940761"/>
            <a:ext cx="1506" cy="784397"/>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1175593" y="5688021"/>
            <a:ext cx="10350294" cy="1019034"/>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5" name="矩形 34"/>
          <p:cNvSpPr/>
          <p:nvPr/>
        </p:nvSpPr>
        <p:spPr>
          <a:xfrm>
            <a:off x="1417586" y="5656597"/>
            <a:ext cx="10108299" cy="855619"/>
          </a:xfrm>
          <a:prstGeom prst="rect">
            <a:avLst/>
          </a:prstGeom>
        </p:spPr>
        <p:txBody>
          <a:bodyPr wrap="square">
            <a:spAutoFit/>
          </a:bodyPr>
          <a:lstStyle/>
          <a:p>
            <a:pPr>
              <a:lnSpc>
                <a:spcPct val="124000"/>
              </a:lnSpc>
            </a:pPr>
            <a:r>
              <a:rPr lang="zh-CN" altLang="zh-CN" sz="2000" dirty="0"/>
              <a:t>企业战略目标的内容可能包括盈利能力、市场、客户、生产率、产品、资金、生产、研发、组织、社会责任等诸多方面</a:t>
            </a:r>
            <a:r>
              <a:rPr lang="zh-CN" altLang="en-US" sz="2000" dirty="0"/>
              <a:t>。</a:t>
            </a:r>
            <a:endParaRPr lang="zh-CN" altLang="en-US" sz="2000" dirty="0"/>
          </a:p>
        </p:txBody>
      </p:sp>
      <p:grpSp>
        <p:nvGrpSpPr>
          <p:cNvPr id="36" name="组合 35"/>
          <p:cNvGrpSpPr/>
          <p:nvPr/>
        </p:nvGrpSpPr>
        <p:grpSpPr>
          <a:xfrm>
            <a:off x="719347" y="5768220"/>
            <a:ext cx="730572" cy="849752"/>
            <a:chOff x="1062185" y="716053"/>
            <a:chExt cx="730572" cy="849752"/>
          </a:xfrm>
        </p:grpSpPr>
        <p:sp>
          <p:nvSpPr>
            <p:cNvPr id="37" name="等腰三角形 36"/>
            <p:cNvSpPr/>
            <p:nvPr/>
          </p:nvSpPr>
          <p:spPr>
            <a:xfrm rot="5400000">
              <a:off x="1039991" y="813039"/>
              <a:ext cx="849752" cy="655780"/>
            </a:xfrm>
            <a:prstGeom prst="triangle">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8" name="文本框 37"/>
            <p:cNvSpPr txBox="1"/>
            <p:nvPr/>
          </p:nvSpPr>
          <p:spPr>
            <a:xfrm>
              <a:off x="1062185" y="857477"/>
              <a:ext cx="618836" cy="400110"/>
            </a:xfrm>
            <a:prstGeom prst="rect">
              <a:avLst/>
            </a:prstGeom>
            <a:noFill/>
          </p:spPr>
          <p:txBody>
            <a:bodyPr wrap="square" rtlCol="0">
              <a:spAutoFit/>
            </a:bodyPr>
            <a:lstStyle/>
            <a:p>
              <a:pPr algn="ctr"/>
              <a:r>
                <a:rPr lang="en-US" altLang="zh-CN" sz="2000" dirty="0">
                  <a:solidFill>
                    <a:schemeClr val="bg1"/>
                  </a:solidFill>
                  <a:latin typeface="黑体" panose="02010609060101010101" charset="-122"/>
                  <a:ea typeface="黑体" panose="02010609060101010101" charset="-122"/>
                </a:rPr>
                <a:t>5</a:t>
              </a:r>
              <a:endParaRPr lang="zh-CN" altLang="en-US" sz="2000" dirty="0">
                <a:solidFill>
                  <a:schemeClr val="bg1"/>
                </a:solidFill>
                <a:latin typeface="黑体" panose="02010609060101010101" charset="-122"/>
                <a:ea typeface="黑体" panose="02010609060101010101" charset="-122"/>
              </a:endParaRPr>
            </a:p>
          </p:txBody>
        </p:sp>
      </p:grpSp>
      <p:cxnSp>
        <p:nvCxnSpPr>
          <p:cNvPr id="39" name="直接连接符 38"/>
          <p:cNvCxnSpPr>
            <a:stCxn id="27" idx="2"/>
            <a:endCxn id="38" idx="0"/>
          </p:cNvCxnSpPr>
          <p:nvPr/>
        </p:nvCxnSpPr>
        <p:spPr>
          <a:xfrm flipH="1">
            <a:off x="1028765" y="5125268"/>
            <a:ext cx="1506" cy="784376"/>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3.</a:t>
            </a:r>
            <a:r>
              <a:rPr lang="zh-CN" altLang="en-US" dirty="0"/>
              <a:t>有效战略目标的基本要求</a:t>
            </a:r>
            <a:endParaRPr lang="zh-CN" altLang="en-US" dirty="0"/>
          </a:p>
        </p:txBody>
      </p:sp>
      <p:sp>
        <p:nvSpPr>
          <p:cNvPr id="22" name="矩形 21"/>
          <p:cNvSpPr/>
          <p:nvPr/>
        </p:nvSpPr>
        <p:spPr>
          <a:xfrm>
            <a:off x="1502875" y="1592268"/>
            <a:ext cx="9877334" cy="3737602"/>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755187" y="1642625"/>
            <a:ext cx="2002004" cy="461665"/>
          </a:xfrm>
          <a:prstGeom prst="rect">
            <a:avLst/>
          </a:prstGeom>
        </p:spPr>
        <p:txBody>
          <a:bodyPr wrap="square">
            <a:spAutoFit/>
          </a:bodyPr>
          <a:lstStyle/>
          <a:p>
            <a:r>
              <a:rPr lang="zh-CN" altLang="en-US" sz="2400" dirty="0"/>
              <a:t>结构合理</a:t>
            </a:r>
            <a:endParaRPr lang="zh-CN" altLang="en-US" dirty="0"/>
          </a:p>
        </p:txBody>
      </p:sp>
      <p:sp>
        <p:nvSpPr>
          <p:cNvPr id="25" name="椭圆 24"/>
          <p:cNvSpPr/>
          <p:nvPr/>
        </p:nvSpPr>
        <p:spPr>
          <a:xfrm>
            <a:off x="1099405" y="1649692"/>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t>2</a:t>
            </a:r>
            <a:endParaRPr lang="zh-CN" altLang="en-US" sz="3200" dirty="0"/>
          </a:p>
        </p:txBody>
      </p:sp>
      <p:cxnSp>
        <p:nvCxnSpPr>
          <p:cNvPr id="26" name="直接连接符 25"/>
          <p:cNvCxnSpPr>
            <a:stCxn id="25" idx="4"/>
            <a:endCxn id="29" idx="0"/>
          </p:cNvCxnSpPr>
          <p:nvPr/>
        </p:nvCxnSpPr>
        <p:spPr>
          <a:xfrm>
            <a:off x="1427296" y="2287001"/>
            <a:ext cx="0" cy="3298981"/>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564891" y="5405771"/>
            <a:ext cx="9815318" cy="1306372"/>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806884" y="5596011"/>
            <a:ext cx="1723971" cy="461665"/>
          </a:xfrm>
          <a:prstGeom prst="rect">
            <a:avLst/>
          </a:prstGeom>
        </p:spPr>
        <p:txBody>
          <a:bodyPr wrap="square">
            <a:spAutoFit/>
          </a:bodyPr>
          <a:lstStyle/>
          <a:p>
            <a:r>
              <a:rPr lang="zh-CN" altLang="en-US" sz="2400" dirty="0"/>
              <a:t>方法合理</a:t>
            </a:r>
            <a:endParaRPr lang="zh-CN" altLang="en-US" sz="2400" dirty="0"/>
          </a:p>
        </p:txBody>
      </p:sp>
      <p:sp>
        <p:nvSpPr>
          <p:cNvPr id="29" name="椭圆 28"/>
          <p:cNvSpPr/>
          <p:nvPr/>
        </p:nvSpPr>
        <p:spPr>
          <a:xfrm>
            <a:off x="1099405" y="5585982"/>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2</a:t>
            </a:r>
            <a:endParaRPr lang="zh-CN" altLang="en-US" sz="3200" dirty="0"/>
          </a:p>
        </p:txBody>
      </p:sp>
      <p:sp>
        <p:nvSpPr>
          <p:cNvPr id="30" name="矩形 29"/>
          <p:cNvSpPr/>
          <p:nvPr/>
        </p:nvSpPr>
        <p:spPr>
          <a:xfrm>
            <a:off x="3799440" y="1606160"/>
            <a:ext cx="7499287" cy="3969385"/>
          </a:xfrm>
          <a:prstGeom prst="rect">
            <a:avLst/>
          </a:prstGeom>
        </p:spPr>
        <p:txBody>
          <a:bodyPr wrap="square">
            <a:spAutoFit/>
          </a:bodyPr>
          <a:lstStyle/>
          <a:p>
            <a:r>
              <a:rPr lang="zh-CN" altLang="en-US" dirty="0"/>
              <a:t>内容结构</a:t>
            </a:r>
            <a:endParaRPr lang="en-US" altLang="zh-CN" dirty="0"/>
          </a:p>
          <a:p>
            <a:pPr marL="285750" indent="-285750">
              <a:buFont typeface="Arial" panose="020B0604020202020204" pitchFamily="34" charset="0"/>
              <a:buChar char="•"/>
            </a:pPr>
            <a:r>
              <a:rPr lang="zh-CN" altLang="zh-CN" dirty="0"/>
              <a:t>规模指标</a:t>
            </a:r>
            <a:endParaRPr lang="en-US" altLang="zh-CN" dirty="0"/>
          </a:p>
          <a:p>
            <a:pPr marL="285750" indent="-285750">
              <a:buFont typeface="Arial" panose="020B0604020202020204" pitchFamily="34" charset="0"/>
              <a:buChar char="•"/>
            </a:pPr>
            <a:r>
              <a:rPr lang="zh-CN" altLang="zh-CN" dirty="0"/>
              <a:t>财务指标</a:t>
            </a:r>
            <a:endParaRPr lang="en-US" altLang="zh-CN" dirty="0"/>
          </a:p>
          <a:p>
            <a:pPr marL="285750" indent="-285750">
              <a:buFont typeface="Arial" panose="020B0604020202020204" pitchFamily="34" charset="0"/>
              <a:buChar char="•"/>
            </a:pPr>
            <a:r>
              <a:rPr lang="zh-CN" altLang="zh-CN" dirty="0"/>
              <a:t>创新目标</a:t>
            </a:r>
            <a:endParaRPr lang="en-US" altLang="zh-CN" dirty="0"/>
          </a:p>
          <a:p>
            <a:pPr marL="285750" indent="-285750">
              <a:buFont typeface="Arial" panose="020B0604020202020204" pitchFamily="34" charset="0"/>
              <a:buChar char="•"/>
            </a:pPr>
            <a:r>
              <a:rPr lang="zh-CN" altLang="zh-CN" dirty="0"/>
              <a:t>与社会责任有关的目标</a:t>
            </a:r>
            <a:endParaRPr lang="en-US" altLang="zh-CN" dirty="0"/>
          </a:p>
          <a:p>
            <a:r>
              <a:rPr lang="zh-CN" altLang="en-US" dirty="0"/>
              <a:t>层次结构</a:t>
            </a:r>
            <a:endParaRPr lang="en-US" altLang="zh-CN" dirty="0"/>
          </a:p>
          <a:p>
            <a:pPr marL="285750" indent="-285750">
              <a:buFont typeface="Arial" panose="020B0604020202020204" pitchFamily="34" charset="0"/>
              <a:buChar char="•"/>
            </a:pPr>
            <a:r>
              <a:rPr lang="zh-CN" altLang="zh-CN" dirty="0"/>
              <a:t>企业总部的主要战略目标是投资收益率</a:t>
            </a:r>
            <a:endParaRPr lang="en-US" altLang="zh-CN" dirty="0"/>
          </a:p>
          <a:p>
            <a:pPr marL="285750" indent="-285750">
              <a:buFont typeface="Arial" panose="020B0604020202020204" pitchFamily="34" charset="0"/>
              <a:buChar char="•"/>
            </a:pPr>
            <a:r>
              <a:rPr lang="zh-CN" altLang="zh-CN" dirty="0"/>
              <a:t>企业各事业部的主要战略目标是市场占有率和利润</a:t>
            </a:r>
            <a:endParaRPr lang="en-US" altLang="zh-CN" dirty="0"/>
          </a:p>
          <a:p>
            <a:pPr marL="285750" indent="-285750">
              <a:buFont typeface="Arial" panose="020B0604020202020204" pitchFamily="34" charset="0"/>
              <a:buChar char="•"/>
            </a:pPr>
            <a:r>
              <a:rPr lang="zh-CN" altLang="zh-CN" dirty="0"/>
              <a:t>各职能部门的主要战略目标是职能活动的有效性和速度</a:t>
            </a:r>
            <a:endParaRPr lang="en-US" altLang="zh-CN" dirty="0"/>
          </a:p>
          <a:p>
            <a:r>
              <a:rPr lang="zh-CN" altLang="en-US" dirty="0" smtClean="0"/>
              <a:t>时间</a:t>
            </a:r>
            <a:r>
              <a:rPr lang="zh-CN" altLang="en-US" dirty="0"/>
              <a:t>结构</a:t>
            </a:r>
            <a:endParaRPr lang="en-US" altLang="zh-CN" dirty="0"/>
          </a:p>
          <a:p>
            <a:pPr marL="285750" indent="-285750">
              <a:buFont typeface="Arial" panose="020B0604020202020204" pitchFamily="34" charset="0"/>
              <a:buChar char="•"/>
            </a:pPr>
            <a:r>
              <a:rPr lang="zh-CN" altLang="zh-CN" dirty="0"/>
              <a:t>长期目标是指涉及时间跨度在五年或五年以上的目标</a:t>
            </a:r>
            <a:endParaRPr lang="zh-CN" altLang="zh-CN" dirty="0"/>
          </a:p>
          <a:p>
            <a:pPr marL="285750" indent="-285750">
              <a:buFont typeface="Arial" panose="020B0604020202020204" pitchFamily="34" charset="0"/>
              <a:buChar char="•"/>
            </a:pPr>
            <a:r>
              <a:rPr lang="zh-CN" altLang="zh-CN" dirty="0"/>
              <a:t>中期目标是指涉及时间跨度在一年以上五年以下的目标</a:t>
            </a:r>
            <a:endParaRPr lang="zh-CN" altLang="zh-CN" dirty="0"/>
          </a:p>
          <a:p>
            <a:pPr marL="285750" indent="-285750">
              <a:buFont typeface="Arial" panose="020B0604020202020204" pitchFamily="34" charset="0"/>
              <a:buChar char="•"/>
            </a:pPr>
            <a:r>
              <a:rPr lang="zh-CN" altLang="zh-CN" dirty="0"/>
              <a:t>短期目标通常是指涉及时间跨度为一年或一年以下的目标</a:t>
            </a:r>
            <a:endParaRPr lang="zh-CN" altLang="zh-CN" dirty="0"/>
          </a:p>
          <a:p>
            <a:pPr marL="285750" indent="-285750">
              <a:buFont typeface="Arial" panose="020B0604020202020204" pitchFamily="34" charset="0"/>
              <a:buChar char="•"/>
            </a:pPr>
            <a:endParaRPr lang="zh-CN" altLang="en-US" dirty="0"/>
          </a:p>
        </p:txBody>
      </p:sp>
      <p:sp>
        <p:nvSpPr>
          <p:cNvPr id="31" name="矩形 30"/>
          <p:cNvSpPr/>
          <p:nvPr/>
        </p:nvSpPr>
        <p:spPr>
          <a:xfrm>
            <a:off x="3797931" y="5459058"/>
            <a:ext cx="7609439" cy="1200329"/>
          </a:xfrm>
          <a:prstGeom prst="rect">
            <a:avLst/>
          </a:prstGeom>
        </p:spPr>
        <p:txBody>
          <a:bodyPr wrap="square">
            <a:spAutoFit/>
          </a:bodyPr>
          <a:lstStyle/>
          <a:p>
            <a:pPr marL="285750" indent="-285750">
              <a:buFont typeface="Arial" panose="020B0604020202020204" pitchFamily="34" charset="0"/>
              <a:buChar char="•"/>
            </a:pPr>
            <a:r>
              <a:rPr lang="zh-CN" altLang="zh-CN" dirty="0"/>
              <a:t>结果与手段的关系</a:t>
            </a:r>
            <a:endParaRPr lang="zh-CN" altLang="zh-CN" dirty="0"/>
          </a:p>
          <a:p>
            <a:pPr marL="285750" indent="-285750">
              <a:buFont typeface="Arial" panose="020B0604020202020204" pitchFamily="34" charset="0"/>
              <a:buChar char="•"/>
            </a:pPr>
            <a:r>
              <a:rPr lang="zh-CN" altLang="zh-CN" dirty="0"/>
              <a:t>定量目标与定性目标的关系</a:t>
            </a:r>
            <a:endParaRPr lang="zh-CN" altLang="zh-CN" dirty="0"/>
          </a:p>
          <a:p>
            <a:pPr marL="285750" indent="-285750">
              <a:buFont typeface="Arial" panose="020B0604020202020204" pitchFamily="34" charset="0"/>
              <a:buChar char="•"/>
            </a:pPr>
            <a:r>
              <a:rPr lang="zh-CN" altLang="zh-CN" dirty="0"/>
              <a:t>可能性和挑战性的关系</a:t>
            </a:r>
            <a:endParaRPr lang="zh-CN" altLang="zh-CN" dirty="0"/>
          </a:p>
          <a:p>
            <a:pPr marL="285750" indent="-285750">
              <a:buFont typeface="Arial" panose="020B0604020202020204" pitchFamily="34" charset="0"/>
              <a:buChar char="•"/>
            </a:pPr>
            <a:r>
              <a:rPr lang="zh-CN" altLang="zh-CN" dirty="0"/>
              <a:t>坚持目标和动态调整的关系</a:t>
            </a:r>
            <a:endParaRPr lang="zh-CN" altLang="zh-CN" dirty="0"/>
          </a:p>
        </p:txBody>
      </p:sp>
      <p:sp>
        <p:nvSpPr>
          <p:cNvPr id="13" name="椭圆 12"/>
          <p:cNvSpPr/>
          <p:nvPr/>
        </p:nvSpPr>
        <p:spPr>
          <a:xfrm>
            <a:off x="1128104" y="659092"/>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1</a:t>
            </a:r>
            <a:endParaRPr lang="zh-CN" altLang="en-US" sz="3200" dirty="0"/>
          </a:p>
        </p:txBody>
      </p:sp>
      <p:cxnSp>
        <p:nvCxnSpPr>
          <p:cNvPr id="14" name="直接连接符 13"/>
          <p:cNvCxnSpPr>
            <a:endCxn id="25" idx="0"/>
          </p:cNvCxnSpPr>
          <p:nvPr/>
        </p:nvCxnSpPr>
        <p:spPr>
          <a:xfrm>
            <a:off x="1426347" y="1296401"/>
            <a:ext cx="949" cy="353291"/>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755187" y="716136"/>
            <a:ext cx="2002004" cy="461665"/>
          </a:xfrm>
          <a:prstGeom prst="rect">
            <a:avLst/>
          </a:prstGeom>
        </p:spPr>
        <p:txBody>
          <a:bodyPr wrap="square">
            <a:spAutoFit/>
          </a:bodyPr>
          <a:lstStyle/>
          <a:p>
            <a:r>
              <a:rPr lang="zh-CN" altLang="en-US" sz="2400" dirty="0" smtClean="0"/>
              <a:t>体系合理</a:t>
            </a:r>
            <a:endParaRPr lang="zh-CN" altLang="en-US" sz="2400" dirty="0"/>
          </a:p>
        </p:txBody>
      </p:sp>
      <p:sp>
        <p:nvSpPr>
          <p:cNvPr id="18" name="矩形 17"/>
          <p:cNvSpPr/>
          <p:nvPr/>
        </p:nvSpPr>
        <p:spPr>
          <a:xfrm>
            <a:off x="3808888" y="646990"/>
            <a:ext cx="7609439" cy="922020"/>
          </a:xfrm>
          <a:prstGeom prst="rect">
            <a:avLst/>
          </a:prstGeom>
        </p:spPr>
        <p:txBody>
          <a:bodyPr wrap="square">
            <a:spAutoFit/>
          </a:bodyPr>
          <a:lstStyle/>
          <a:p>
            <a:pPr marL="285750" indent="-285750">
              <a:buFont typeface="Arial" panose="020B0604020202020204" pitchFamily="34" charset="0"/>
              <a:buChar char="•"/>
            </a:pPr>
            <a:r>
              <a:rPr lang="zh-CN" altLang="en-US" dirty="0"/>
              <a:t>战略管理者必须基于对本企业战略承诺的理解，在相应领域设立相应的目标</a:t>
            </a:r>
            <a:r>
              <a:rPr lang="zh-CN" altLang="en-US" dirty="0" smtClean="0"/>
              <a:t>。</a:t>
            </a:r>
            <a:endParaRPr lang="en-US" altLang="zh-CN" dirty="0" smtClean="0"/>
          </a:p>
          <a:p>
            <a:pPr marL="285750" indent="-285750">
              <a:buFont typeface="Arial" panose="020B0604020202020204" pitchFamily="34" charset="0"/>
              <a:buChar char="•"/>
            </a:pPr>
            <a:r>
              <a:rPr lang="zh-CN" altLang="en-US" dirty="0" smtClean="0"/>
              <a:t>企业</a:t>
            </a:r>
            <a:r>
              <a:rPr lang="zh-CN" altLang="en-US" dirty="0"/>
              <a:t>战略承诺的内容越全面，企业目标的系统性就越高</a:t>
            </a:r>
            <a:endParaRPr lang="zh-CN"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dirty="0"/>
              <a:t>4.</a:t>
            </a:r>
            <a:r>
              <a:rPr lang="zh-CN" altLang="en-US" dirty="0"/>
              <a:t>战略目标制定的方法和技术</a:t>
            </a:r>
            <a:endParaRPr lang="zh-CN" altLang="en-US" dirty="0"/>
          </a:p>
        </p:txBody>
      </p:sp>
      <p:sp>
        <p:nvSpPr>
          <p:cNvPr id="21" name="矩形 20"/>
          <p:cNvSpPr/>
          <p:nvPr/>
        </p:nvSpPr>
        <p:spPr>
          <a:xfrm>
            <a:off x="1502875" y="943044"/>
            <a:ext cx="9877334" cy="1818263"/>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755187" y="1176281"/>
            <a:ext cx="2002004" cy="523220"/>
          </a:xfrm>
          <a:prstGeom prst="rect">
            <a:avLst/>
          </a:prstGeom>
        </p:spPr>
        <p:txBody>
          <a:bodyPr wrap="square">
            <a:spAutoFit/>
          </a:bodyPr>
          <a:lstStyle/>
          <a:p>
            <a:r>
              <a:rPr lang="zh-CN" altLang="en-US" sz="2800" dirty="0"/>
              <a:t>制定方法</a:t>
            </a:r>
            <a:endParaRPr lang="zh-CN" altLang="en-US" sz="2800" dirty="0"/>
          </a:p>
        </p:txBody>
      </p:sp>
      <p:sp>
        <p:nvSpPr>
          <p:cNvPr id="25" name="椭圆 24"/>
          <p:cNvSpPr/>
          <p:nvPr/>
        </p:nvSpPr>
        <p:spPr>
          <a:xfrm>
            <a:off x="1099405" y="1095203"/>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1</a:t>
            </a:r>
            <a:endParaRPr lang="zh-CN" altLang="en-US" sz="3200" dirty="0"/>
          </a:p>
        </p:txBody>
      </p:sp>
      <p:cxnSp>
        <p:nvCxnSpPr>
          <p:cNvPr id="26" name="直接连接符 25"/>
          <p:cNvCxnSpPr>
            <a:stCxn id="25" idx="4"/>
            <a:endCxn id="34" idx="0"/>
          </p:cNvCxnSpPr>
          <p:nvPr/>
        </p:nvCxnSpPr>
        <p:spPr>
          <a:xfrm>
            <a:off x="1427296" y="1732512"/>
            <a:ext cx="0" cy="1586571"/>
          </a:xfrm>
          <a:prstGeom prst="line">
            <a:avLst/>
          </a:prstGeom>
          <a:ln w="25400">
            <a:solidFill>
              <a:schemeClr val="accent1">
                <a:satMod val="120000"/>
                <a:alpha val="80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564640" y="3138805"/>
            <a:ext cx="9815195" cy="3126740"/>
          </a:xfrm>
          <a:prstGeom prst="rect">
            <a:avLst/>
          </a:prstGeom>
          <a:gradFill flip="none" rotWithShape="1">
            <a:gsLst>
              <a:gs pos="0">
                <a:schemeClr val="accent1">
                  <a:alpha val="50000"/>
                </a:schemeClr>
              </a:gs>
              <a:gs pos="67000">
                <a:schemeClr val="accent1">
                  <a:lumMod val="45000"/>
                  <a:lumOff val="55000"/>
                  <a:alpha val="20000"/>
                </a:schemeClr>
              </a:gs>
              <a:gs pos="88000">
                <a:schemeClr val="accent1">
                  <a:lumMod val="45000"/>
                  <a:lumOff val="55000"/>
                  <a:alpha val="10000"/>
                </a:schemeClr>
              </a:gs>
              <a:gs pos="100000">
                <a:schemeClr val="bg1">
                  <a:alpha val="2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806884" y="3329112"/>
            <a:ext cx="1723971" cy="523220"/>
          </a:xfrm>
          <a:prstGeom prst="rect">
            <a:avLst/>
          </a:prstGeom>
        </p:spPr>
        <p:txBody>
          <a:bodyPr wrap="square">
            <a:spAutoFit/>
          </a:bodyPr>
          <a:lstStyle/>
          <a:p>
            <a:r>
              <a:rPr lang="zh-CN" altLang="en-US" sz="2800" dirty="0"/>
              <a:t>制定技术</a:t>
            </a:r>
            <a:endParaRPr lang="zh-CN" altLang="en-US" sz="2800" dirty="0"/>
          </a:p>
        </p:txBody>
      </p:sp>
      <p:sp>
        <p:nvSpPr>
          <p:cNvPr id="34" name="椭圆 33"/>
          <p:cNvSpPr/>
          <p:nvPr/>
        </p:nvSpPr>
        <p:spPr>
          <a:xfrm>
            <a:off x="1099405" y="3319083"/>
            <a:ext cx="655782" cy="63730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2</a:t>
            </a:r>
            <a:endParaRPr lang="zh-CN" altLang="en-US" sz="3200" dirty="0"/>
          </a:p>
        </p:txBody>
      </p:sp>
      <p:sp>
        <p:nvSpPr>
          <p:cNvPr id="35" name="矩形 34"/>
          <p:cNvSpPr/>
          <p:nvPr/>
        </p:nvSpPr>
        <p:spPr>
          <a:xfrm>
            <a:off x="3844708" y="1038960"/>
            <a:ext cx="7499287" cy="1569660"/>
          </a:xfrm>
          <a:prstGeom prst="rect">
            <a:avLst/>
          </a:prstGeom>
        </p:spPr>
        <p:txBody>
          <a:bodyPr wrap="square">
            <a:spAutoFit/>
          </a:bodyPr>
          <a:lstStyle/>
          <a:p>
            <a:pPr marL="285750" indent="-285750">
              <a:buFont typeface="Arial" panose="020B0604020202020204" pitchFamily="34" charset="0"/>
              <a:buChar char="•"/>
            </a:pPr>
            <a:r>
              <a:rPr lang="zh-CN" altLang="en-US" sz="2400" dirty="0"/>
              <a:t>调查研究</a:t>
            </a:r>
            <a:endParaRPr lang="en-US" altLang="zh-CN" sz="2400" dirty="0"/>
          </a:p>
          <a:p>
            <a:pPr marL="285750" indent="-285750">
              <a:buFont typeface="Arial" panose="020B0604020202020204" pitchFamily="34" charset="0"/>
              <a:buChar char="•"/>
            </a:pPr>
            <a:r>
              <a:rPr lang="zh-CN" altLang="en-US" sz="2400" dirty="0"/>
              <a:t>目标拟定</a:t>
            </a:r>
            <a:endParaRPr lang="en-US" altLang="zh-CN" sz="2400" dirty="0"/>
          </a:p>
          <a:p>
            <a:pPr marL="285750" indent="-285750">
              <a:buFont typeface="Arial" panose="020B0604020202020204" pitchFamily="34" charset="0"/>
              <a:buChar char="•"/>
            </a:pPr>
            <a:r>
              <a:rPr lang="zh-CN" altLang="en-US" sz="2400" dirty="0"/>
              <a:t>评价论证</a:t>
            </a:r>
            <a:endParaRPr lang="en-US" altLang="zh-CN" sz="2400" dirty="0"/>
          </a:p>
          <a:p>
            <a:pPr marL="285750" indent="-285750">
              <a:buFont typeface="Arial" panose="020B0604020202020204" pitchFamily="34" charset="0"/>
              <a:buChar char="•"/>
            </a:pPr>
            <a:r>
              <a:rPr lang="zh-CN" altLang="en-US" sz="2400" dirty="0"/>
              <a:t>目标确定</a:t>
            </a:r>
            <a:endParaRPr lang="zh-CN" altLang="en-US" sz="2400" dirty="0"/>
          </a:p>
        </p:txBody>
      </p:sp>
      <p:sp>
        <p:nvSpPr>
          <p:cNvPr id="36" name="矩形 35"/>
          <p:cNvSpPr/>
          <p:nvPr/>
        </p:nvSpPr>
        <p:spPr>
          <a:xfrm>
            <a:off x="3844921" y="3300109"/>
            <a:ext cx="7609439" cy="3046095"/>
          </a:xfrm>
          <a:prstGeom prst="rect">
            <a:avLst/>
          </a:prstGeom>
        </p:spPr>
        <p:txBody>
          <a:bodyPr wrap="square">
            <a:spAutoFit/>
          </a:bodyPr>
          <a:lstStyle/>
          <a:p>
            <a:pPr marL="285750" indent="-285750">
              <a:buFont typeface="Arial" panose="020B0604020202020204" pitchFamily="34" charset="0"/>
              <a:buChar char="•"/>
            </a:pPr>
            <a:r>
              <a:rPr lang="zh-CN" altLang="en-US" sz="2400" dirty="0"/>
              <a:t>时间序列分析</a:t>
            </a:r>
            <a:r>
              <a:rPr lang="zh-CN" altLang="en-US" sz="2400" dirty="0"/>
              <a:t>法</a:t>
            </a:r>
            <a:endParaRPr lang="en-US" altLang="zh-CN" sz="2400" dirty="0"/>
          </a:p>
          <a:p>
            <a:pPr marL="285750" indent="-285750">
              <a:buFont typeface="Arial" panose="020B0604020202020204" pitchFamily="34" charset="0"/>
              <a:buChar char="•"/>
            </a:pPr>
            <a:r>
              <a:rPr lang="zh-CN" altLang="en-US" sz="2400" dirty="0"/>
              <a:t>相关分析法</a:t>
            </a:r>
            <a:endParaRPr lang="en-US" altLang="zh-CN" sz="2400" dirty="0"/>
          </a:p>
          <a:p>
            <a:pPr marL="285750" indent="-285750">
              <a:buFont typeface="Arial" panose="020B0604020202020204" pitchFamily="34" charset="0"/>
              <a:buChar char="•"/>
            </a:pPr>
            <a:r>
              <a:rPr lang="zh-CN" altLang="en-US" sz="2400" dirty="0"/>
              <a:t>盈亏平衡分析法</a:t>
            </a:r>
            <a:endParaRPr lang="en-US" altLang="zh-CN" sz="2400" dirty="0"/>
          </a:p>
          <a:p>
            <a:pPr marL="285750" indent="-285750">
              <a:buFont typeface="Arial" panose="020B0604020202020204" pitchFamily="34" charset="0"/>
              <a:buChar char="•"/>
            </a:pPr>
            <a:r>
              <a:rPr lang="zh-CN" altLang="en-US" sz="2400" dirty="0"/>
              <a:t>决策矩阵法</a:t>
            </a:r>
            <a:endParaRPr lang="en-US" altLang="zh-CN" sz="2400" dirty="0"/>
          </a:p>
          <a:p>
            <a:pPr marL="285750" indent="-285750">
              <a:buFont typeface="Arial" panose="020B0604020202020204" pitchFamily="34" charset="0"/>
              <a:buChar char="•"/>
            </a:pPr>
            <a:r>
              <a:rPr lang="zh-CN" altLang="en-US" sz="2400" dirty="0"/>
              <a:t>决策树法</a:t>
            </a:r>
            <a:endParaRPr lang="en-US" altLang="zh-CN" sz="2400" dirty="0"/>
          </a:p>
          <a:p>
            <a:pPr marL="285750" indent="-285750">
              <a:buFont typeface="Arial" panose="020B0604020202020204" pitchFamily="34" charset="0"/>
              <a:buChar char="•"/>
            </a:pPr>
            <a:r>
              <a:rPr lang="zh-CN" altLang="en-US" sz="2400" dirty="0"/>
              <a:t>博弈论法</a:t>
            </a:r>
            <a:endParaRPr lang="en-US" altLang="zh-CN" sz="2400" dirty="0"/>
          </a:p>
          <a:p>
            <a:pPr marL="285750" indent="-285750">
              <a:buFont typeface="Arial" panose="020B0604020202020204" pitchFamily="34" charset="0"/>
              <a:buChar char="•"/>
            </a:pPr>
            <a:r>
              <a:rPr lang="zh-CN" altLang="en-US" sz="2400" dirty="0"/>
              <a:t>模拟模型法</a:t>
            </a:r>
            <a:endParaRPr lang="en-US" altLang="zh-CN" sz="2400" dirty="0"/>
          </a:p>
          <a:p>
            <a:pPr marL="285750" indent="-285750">
              <a:buFont typeface="Arial" panose="020B0604020202020204" pitchFamily="34" charset="0"/>
              <a:buChar char="•"/>
            </a:pPr>
            <a:r>
              <a:rPr lang="zh-CN" altLang="en-US" sz="2400" dirty="0"/>
              <a:t>平衡计分卡方法</a:t>
            </a:r>
            <a:endParaRPr lang="zh-CN" altLang="zh-CN" sz="24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黑体"/>
        <a:cs typeface=""/>
      </a:majorFont>
      <a:minorFont>
        <a:latin typeface="Times New Roman"/>
        <a:ea typeface="黑体"/>
        <a:cs typeface=""/>
      </a:minorFont>
    </a:fontScheme>
    <a:fmtScheme name="上阴影">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4303</Words>
  <Application>WPS 演示</Application>
  <PresentationFormat>自定义</PresentationFormat>
  <Paragraphs>316</Paragraphs>
  <Slides>20</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宋体</vt:lpstr>
      <vt:lpstr>Wingdings</vt:lpstr>
      <vt:lpstr>Adobe 楷体 Std R</vt:lpstr>
      <vt:lpstr>Times New Roman</vt:lpstr>
      <vt:lpstr>黑体</vt:lpstr>
      <vt:lpstr>微软雅黑</vt:lpstr>
      <vt:lpstr>Arial Unicode MS</vt:lpstr>
      <vt:lpstr>Calibri</vt:lpstr>
      <vt:lpstr>Office 主题</vt:lpstr>
      <vt:lpstr>第5章</vt:lpstr>
      <vt:lpstr>PowerPoint 演示文稿</vt:lpstr>
      <vt:lpstr>PowerPoint 演示文稿</vt:lpstr>
      <vt:lpstr>由阿里巴巴的成功历程中可以看出：</vt:lpstr>
      <vt:lpstr>第一节</vt:lpstr>
      <vt:lpstr>PowerPoint 演示文稿</vt:lpstr>
      <vt:lpstr>PowerPoint 演示文稿</vt:lpstr>
      <vt:lpstr>第二节</vt:lpstr>
      <vt:lpstr>PowerPoint 演示文稿</vt:lpstr>
      <vt:lpstr>PowerPoint 演示文稿</vt:lpstr>
      <vt:lpstr>PowerPoint 演示文稿</vt:lpstr>
      <vt:lpstr>PowerPoint 演示文稿</vt:lpstr>
      <vt:lpstr>第三节</vt:lpstr>
      <vt:lpstr>PowerPoint 演示文稿</vt:lpstr>
      <vt:lpstr>PowerPoint 演示文稿</vt:lpstr>
      <vt:lpstr>第四节</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hzm</dc:creator>
  <cp:lastModifiedBy>杨淼</cp:lastModifiedBy>
  <cp:revision>182</cp:revision>
  <dcterms:created xsi:type="dcterms:W3CDTF">2016-11-10T07:15:00Z</dcterms:created>
  <dcterms:modified xsi:type="dcterms:W3CDTF">2021-03-20T14:07:21Z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EFE2729EFCDF443C93696D3318667877</vt:lpwstr>
  </property>
</Properties>
</file>