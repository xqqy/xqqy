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1" r:id="rId2"/>
  </p:sldMasterIdLst>
  <p:sldIdLst>
    <p:sldId id="257" r:id="rId3"/>
    <p:sldId id="258" r:id="rId4"/>
    <p:sldId id="259" r:id="rId5"/>
    <p:sldId id="293" r:id="rId6"/>
    <p:sldId id="277" r:id="rId7"/>
    <p:sldId id="260" r:id="rId8"/>
    <p:sldId id="261" r:id="rId9"/>
    <p:sldId id="263" r:id="rId10"/>
    <p:sldId id="262" r:id="rId11"/>
    <p:sldId id="288" r:id="rId12"/>
    <p:sldId id="286" r:id="rId13"/>
    <p:sldId id="264" r:id="rId14"/>
    <p:sldId id="287" r:id="rId15"/>
    <p:sldId id="291" r:id="rId16"/>
    <p:sldId id="284" r:id="rId17"/>
    <p:sldId id="289" r:id="rId18"/>
    <p:sldId id="292" r:id="rId19"/>
    <p:sldId id="285" r:id="rId20"/>
    <p:sldId id="268" r:id="rId21"/>
    <p:sldId id="269" r:id="rId22"/>
    <p:sldId id="270" r:id="rId23"/>
    <p:sldId id="265" r:id="rId24"/>
    <p:sldId id="266" r:id="rId25"/>
    <p:sldId id="267" r:id="rId26"/>
    <p:sldId id="283" r:id="rId27"/>
    <p:sldId id="290" r:id="rId28"/>
    <p:sldId id="278" r:id="rId29"/>
    <p:sldId id="279" r:id="rId30"/>
    <p:sldId id="280" r:id="rId31"/>
    <p:sldId id="281" r:id="rId32"/>
    <p:sldId id="271" r:id="rId33"/>
    <p:sldId id="272" r:id="rId34"/>
    <p:sldId id="282" r:id="rId35"/>
    <p:sldId id="273" r:id="rId36"/>
    <p:sldId id="274" r:id="rId3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pos="29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0"/>
      </p:cViewPr>
      <p:guideLst>
        <p:guide orient="horz" pos="2115"/>
        <p:guide pos="29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新刚 梁" userId="cc83a683-6c31-4aca-8f95-2d43cdf8a8ec" providerId="ADAL" clId="{189F5470-5120-4CE5-8EA2-C6877263F11A}"/>
    <pc:docChg chg="addSld modSld">
      <pc:chgData name="新刚 梁" userId="cc83a683-6c31-4aca-8f95-2d43cdf8a8ec" providerId="ADAL" clId="{189F5470-5120-4CE5-8EA2-C6877263F11A}" dt="2020-03-31T01:55:50.988" v="2"/>
      <pc:docMkLst>
        <pc:docMk/>
      </pc:docMkLst>
      <pc:sldChg chg="modSp">
        <pc:chgData name="新刚 梁" userId="cc83a683-6c31-4aca-8f95-2d43cdf8a8ec" providerId="ADAL" clId="{189F5470-5120-4CE5-8EA2-C6877263F11A}" dt="2020-03-31T01:52:21.639" v="0" actId="207"/>
        <pc:sldMkLst>
          <pc:docMk/>
          <pc:sldMk cId="0" sldId="257"/>
        </pc:sldMkLst>
        <pc:spChg chg="mod">
          <ac:chgData name="新刚 梁" userId="cc83a683-6c31-4aca-8f95-2d43cdf8a8ec" providerId="ADAL" clId="{189F5470-5120-4CE5-8EA2-C6877263F11A}" dt="2020-03-31T01:52:21.639" v="0" actId="207"/>
          <ac:spMkLst>
            <pc:docMk/>
            <pc:sldMk cId="0" sldId="257"/>
            <ac:spMk id="4098" creationId="{00000000-0000-0000-0000-000000000000}"/>
          </ac:spMkLst>
        </pc:spChg>
      </pc:sldChg>
      <pc:sldChg chg="delSp add">
        <pc:chgData name="新刚 梁" userId="cc83a683-6c31-4aca-8f95-2d43cdf8a8ec" providerId="ADAL" clId="{189F5470-5120-4CE5-8EA2-C6877263F11A}" dt="2020-03-31T01:55:50.988" v="2"/>
        <pc:sldMkLst>
          <pc:docMk/>
          <pc:sldMk cId="1265119378" sldId="293"/>
        </pc:sldMkLst>
        <pc:spChg chg="del">
          <ac:chgData name="新刚 梁" userId="cc83a683-6c31-4aca-8f95-2d43cdf8a8ec" providerId="ADAL" clId="{189F5470-5120-4CE5-8EA2-C6877263F11A}" dt="2020-03-31T01:55:50.988" v="2"/>
          <ac:spMkLst>
            <pc:docMk/>
            <pc:sldMk cId="1265119378" sldId="293"/>
            <ac:spMk id="2" creationId="{E7A78239-F5C2-446F-AF8C-87FAA745DDDB}"/>
          </ac:spMkLst>
        </pc:spChg>
        <pc:spChg chg="del">
          <ac:chgData name="新刚 梁" userId="cc83a683-6c31-4aca-8f95-2d43cdf8a8ec" providerId="ADAL" clId="{189F5470-5120-4CE5-8EA2-C6877263F11A}" dt="2020-03-31T01:55:50.988" v="2"/>
          <ac:spMkLst>
            <pc:docMk/>
            <pc:sldMk cId="1265119378" sldId="293"/>
            <ac:spMk id="3" creationId="{D9CCA0A4-B789-4764-986B-8D08B903566B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10" Type="http://schemas.openxmlformats.org/officeDocument/2006/relationships/image" Target="../media/image66.wmf"/><Relationship Id="rId4" Type="http://schemas.openxmlformats.org/officeDocument/2006/relationships/image" Target="../media/image60.wmf"/><Relationship Id="rId9" Type="http://schemas.openxmlformats.org/officeDocument/2006/relationships/image" Target="../media/image6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89.wmf"/><Relationship Id="rId7" Type="http://schemas.openxmlformats.org/officeDocument/2006/relationships/image" Target="../media/image93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52400" y="381000"/>
            <a:ext cx="6838950" cy="3365500"/>
            <a:chOff x="0" y="0"/>
            <a:chExt cx="4308" cy="2120"/>
          </a:xfrm>
        </p:grpSpPr>
        <p:sp>
          <p:nvSpPr>
            <p:cNvPr id="6" name="未知"/>
            <p:cNvSpPr>
              <a:spLocks/>
            </p:cNvSpPr>
            <p:nvPr/>
          </p:nvSpPr>
          <p:spPr bwMode="auto">
            <a:xfrm>
              <a:off x="79" y="94"/>
              <a:ext cx="1267" cy="1938"/>
            </a:xfrm>
            <a:custGeom>
              <a:avLst/>
              <a:gdLst>
                <a:gd name="T0" fmla="*/ 87 w 1692"/>
                <a:gd name="T1" fmla="*/ 193 h 2586"/>
                <a:gd name="T2" fmla="*/ 240 w 1692"/>
                <a:gd name="T3" fmla="*/ 157 h 2586"/>
                <a:gd name="T4" fmla="*/ 325 w 1692"/>
                <a:gd name="T5" fmla="*/ 180 h 2586"/>
                <a:gd name="T6" fmla="*/ 312 w 1692"/>
                <a:gd name="T7" fmla="*/ 333 h 2586"/>
                <a:gd name="T8" fmla="*/ 204 w 1692"/>
                <a:gd name="T9" fmla="*/ 436 h 2586"/>
                <a:gd name="T10" fmla="*/ 163 w 1692"/>
                <a:gd name="T11" fmla="*/ 535 h 2586"/>
                <a:gd name="T12" fmla="*/ 213 w 1692"/>
                <a:gd name="T13" fmla="*/ 722 h 2586"/>
                <a:gd name="T14" fmla="*/ 237 w 1692"/>
                <a:gd name="T15" fmla="*/ 719 h 2586"/>
                <a:gd name="T16" fmla="*/ 246 w 1692"/>
                <a:gd name="T17" fmla="*/ 679 h 2586"/>
                <a:gd name="T18" fmla="*/ 358 w 1692"/>
                <a:gd name="T19" fmla="*/ 865 h 2586"/>
                <a:gd name="T20" fmla="*/ 487 w 1692"/>
                <a:gd name="T21" fmla="*/ 899 h 2586"/>
                <a:gd name="T22" fmla="*/ 595 w 1692"/>
                <a:gd name="T23" fmla="*/ 1012 h 2586"/>
                <a:gd name="T24" fmla="*/ 639 w 1692"/>
                <a:gd name="T25" fmla="*/ 1066 h 2586"/>
                <a:gd name="T26" fmla="*/ 577 w 1692"/>
                <a:gd name="T27" fmla="*/ 1205 h 2586"/>
                <a:gd name="T28" fmla="*/ 686 w 1692"/>
                <a:gd name="T29" fmla="*/ 1335 h 2586"/>
                <a:gd name="T30" fmla="*/ 774 w 1692"/>
                <a:gd name="T31" fmla="*/ 1515 h 2586"/>
                <a:gd name="T32" fmla="*/ 819 w 1692"/>
                <a:gd name="T33" fmla="*/ 1731 h 2586"/>
                <a:gd name="T34" fmla="*/ 894 w 1692"/>
                <a:gd name="T35" fmla="*/ 1904 h 2586"/>
                <a:gd name="T36" fmla="*/ 958 w 1692"/>
                <a:gd name="T37" fmla="*/ 1889 h 2586"/>
                <a:gd name="T38" fmla="*/ 932 w 1692"/>
                <a:gd name="T39" fmla="*/ 1794 h 2586"/>
                <a:gd name="T40" fmla="*/ 964 w 1692"/>
                <a:gd name="T41" fmla="*/ 1728 h 2586"/>
                <a:gd name="T42" fmla="*/ 1024 w 1692"/>
                <a:gd name="T43" fmla="*/ 1670 h 2586"/>
                <a:gd name="T44" fmla="*/ 1084 w 1692"/>
                <a:gd name="T45" fmla="*/ 1556 h 2586"/>
                <a:gd name="T46" fmla="*/ 1174 w 1692"/>
                <a:gd name="T47" fmla="*/ 1461 h 2586"/>
                <a:gd name="T48" fmla="*/ 1215 w 1692"/>
                <a:gd name="T49" fmla="*/ 1308 h 2586"/>
                <a:gd name="T50" fmla="*/ 1162 w 1692"/>
                <a:gd name="T51" fmla="*/ 1153 h 2586"/>
                <a:gd name="T52" fmla="*/ 1030 w 1692"/>
                <a:gd name="T53" fmla="*/ 1057 h 2586"/>
                <a:gd name="T54" fmla="*/ 827 w 1692"/>
                <a:gd name="T55" fmla="*/ 959 h 2586"/>
                <a:gd name="T56" fmla="*/ 729 w 1692"/>
                <a:gd name="T57" fmla="*/ 944 h 2586"/>
                <a:gd name="T58" fmla="*/ 677 w 1692"/>
                <a:gd name="T59" fmla="*/ 950 h 2586"/>
                <a:gd name="T60" fmla="*/ 595 w 1692"/>
                <a:gd name="T61" fmla="*/ 980 h 2586"/>
                <a:gd name="T62" fmla="*/ 568 w 1692"/>
                <a:gd name="T63" fmla="*/ 880 h 2586"/>
                <a:gd name="T64" fmla="*/ 551 w 1692"/>
                <a:gd name="T65" fmla="*/ 796 h 2586"/>
                <a:gd name="T66" fmla="*/ 473 w 1692"/>
                <a:gd name="T67" fmla="*/ 827 h 2586"/>
                <a:gd name="T68" fmla="*/ 425 w 1692"/>
                <a:gd name="T69" fmla="*/ 712 h 2586"/>
                <a:gd name="T70" fmla="*/ 554 w 1692"/>
                <a:gd name="T71" fmla="*/ 683 h 2586"/>
                <a:gd name="T72" fmla="*/ 631 w 1692"/>
                <a:gd name="T73" fmla="*/ 679 h 2586"/>
                <a:gd name="T74" fmla="*/ 671 w 1692"/>
                <a:gd name="T75" fmla="*/ 674 h 2586"/>
                <a:gd name="T76" fmla="*/ 792 w 1692"/>
                <a:gd name="T77" fmla="*/ 562 h 2586"/>
                <a:gd name="T78" fmla="*/ 887 w 1692"/>
                <a:gd name="T79" fmla="*/ 508 h 2586"/>
                <a:gd name="T80" fmla="*/ 957 w 1692"/>
                <a:gd name="T81" fmla="*/ 477 h 2586"/>
                <a:gd name="T82" fmla="*/ 1003 w 1692"/>
                <a:gd name="T83" fmla="*/ 403 h 2586"/>
                <a:gd name="T84" fmla="*/ 964 w 1692"/>
                <a:gd name="T85" fmla="*/ 384 h 2586"/>
                <a:gd name="T86" fmla="*/ 1143 w 1692"/>
                <a:gd name="T87" fmla="*/ 342 h 2586"/>
                <a:gd name="T88" fmla="*/ 1053 w 1692"/>
                <a:gd name="T89" fmla="*/ 256 h 2586"/>
                <a:gd name="T90" fmla="*/ 994 w 1692"/>
                <a:gd name="T91" fmla="*/ 198 h 2586"/>
                <a:gd name="T92" fmla="*/ 915 w 1692"/>
                <a:gd name="T93" fmla="*/ 273 h 2586"/>
                <a:gd name="T94" fmla="*/ 831 w 1692"/>
                <a:gd name="T95" fmla="*/ 333 h 2586"/>
                <a:gd name="T96" fmla="*/ 765 w 1692"/>
                <a:gd name="T97" fmla="*/ 228 h 2586"/>
                <a:gd name="T98" fmla="*/ 908 w 1692"/>
                <a:gd name="T99" fmla="*/ 180 h 2586"/>
                <a:gd name="T100" fmla="*/ 948 w 1692"/>
                <a:gd name="T101" fmla="*/ 148 h 2586"/>
                <a:gd name="T102" fmla="*/ 994 w 1692"/>
                <a:gd name="T103" fmla="*/ 129 h 2586"/>
                <a:gd name="T104" fmla="*/ 963 w 1692"/>
                <a:gd name="T105" fmla="*/ 108 h 2586"/>
                <a:gd name="T106" fmla="*/ 945 w 1692"/>
                <a:gd name="T107" fmla="*/ 90 h 2586"/>
                <a:gd name="T108" fmla="*/ 900 w 1692"/>
                <a:gd name="T109" fmla="*/ 76 h 2586"/>
                <a:gd name="T110" fmla="*/ 828 w 1692"/>
                <a:gd name="T111" fmla="*/ 102 h 2586"/>
                <a:gd name="T112" fmla="*/ 711 w 1692"/>
                <a:gd name="T113" fmla="*/ 90 h 2586"/>
                <a:gd name="T114" fmla="*/ 412 w 1692"/>
                <a:gd name="T115" fmla="*/ 0 h 2586"/>
                <a:gd name="T116" fmla="*/ 258 w 1692"/>
                <a:gd name="T117" fmla="*/ 24 h 2586"/>
                <a:gd name="T118" fmla="*/ 217 w 1692"/>
                <a:gd name="T119" fmla="*/ 76 h 2586"/>
                <a:gd name="T120" fmla="*/ 96 w 1692"/>
                <a:gd name="T121" fmla="*/ 130 h 2586"/>
                <a:gd name="T122" fmla="*/ 96 w 1692"/>
                <a:gd name="T123" fmla="*/ 162 h 2586"/>
                <a:gd name="T124" fmla="*/ 1 w 1692"/>
                <a:gd name="T125" fmla="*/ 189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未知"/>
            <p:cNvSpPr>
              <a:spLocks/>
            </p:cNvSpPr>
            <p:nvPr/>
          </p:nvSpPr>
          <p:spPr bwMode="auto">
            <a:xfrm>
              <a:off x="39" y="279"/>
              <a:ext cx="34" cy="28"/>
            </a:xfrm>
            <a:custGeom>
              <a:avLst/>
              <a:gdLst>
                <a:gd name="T0" fmla="*/ 12 w 46"/>
                <a:gd name="T1" fmla="*/ 3 h 38"/>
                <a:gd name="T2" fmla="*/ 0 w 46"/>
                <a:gd name="T3" fmla="*/ 16 h 38"/>
                <a:gd name="T4" fmla="*/ 16 w 46"/>
                <a:gd name="T5" fmla="*/ 28 h 38"/>
                <a:gd name="T6" fmla="*/ 34 w 46"/>
                <a:gd name="T7" fmla="*/ 19 h 38"/>
                <a:gd name="T8" fmla="*/ 22 w 46"/>
                <a:gd name="T9" fmla="*/ 0 h 38"/>
                <a:gd name="T10" fmla="*/ 12 w 46"/>
                <a:gd name="T11" fmla="*/ 3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未知"/>
            <p:cNvSpPr>
              <a:spLocks/>
            </p:cNvSpPr>
            <p:nvPr/>
          </p:nvSpPr>
          <p:spPr bwMode="auto">
            <a:xfrm>
              <a:off x="346" y="402"/>
              <a:ext cx="39" cy="32"/>
            </a:xfrm>
            <a:custGeom>
              <a:avLst/>
              <a:gdLst>
                <a:gd name="T0" fmla="*/ 9 w 52"/>
                <a:gd name="T1" fmla="*/ 0 h 44"/>
                <a:gd name="T2" fmla="*/ 20 w 52"/>
                <a:gd name="T3" fmla="*/ 32 h 44"/>
                <a:gd name="T4" fmla="*/ 32 w 52"/>
                <a:gd name="T5" fmla="*/ 31 h 44"/>
                <a:gd name="T6" fmla="*/ 29 w 52"/>
                <a:gd name="T7" fmla="*/ 12 h 44"/>
                <a:gd name="T8" fmla="*/ 20 w 52"/>
                <a:gd name="T9" fmla="*/ 1 h 44"/>
                <a:gd name="T10" fmla="*/ 9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未知"/>
            <p:cNvSpPr>
              <a:spLocks/>
            </p:cNvSpPr>
            <p:nvPr/>
          </p:nvSpPr>
          <p:spPr bwMode="auto">
            <a:xfrm>
              <a:off x="1128" y="458"/>
              <a:ext cx="98" cy="74"/>
            </a:xfrm>
            <a:custGeom>
              <a:avLst/>
              <a:gdLst>
                <a:gd name="T0" fmla="*/ 73 w 131"/>
                <a:gd name="T1" fmla="*/ 0 h 98"/>
                <a:gd name="T2" fmla="*/ 59 w 131"/>
                <a:gd name="T3" fmla="*/ 6 h 98"/>
                <a:gd name="T4" fmla="*/ 40 w 131"/>
                <a:gd name="T5" fmla="*/ 18 h 98"/>
                <a:gd name="T6" fmla="*/ 29 w 131"/>
                <a:gd name="T7" fmla="*/ 30 h 98"/>
                <a:gd name="T8" fmla="*/ 16 w 131"/>
                <a:gd name="T9" fmla="*/ 39 h 98"/>
                <a:gd name="T10" fmla="*/ 47 w 131"/>
                <a:gd name="T11" fmla="*/ 62 h 98"/>
                <a:gd name="T12" fmla="*/ 59 w 131"/>
                <a:gd name="T13" fmla="*/ 71 h 98"/>
                <a:gd name="T14" fmla="*/ 64 w 131"/>
                <a:gd name="T15" fmla="*/ 69 h 98"/>
                <a:gd name="T16" fmla="*/ 67 w 131"/>
                <a:gd name="T17" fmla="*/ 65 h 98"/>
                <a:gd name="T18" fmla="*/ 73 w 131"/>
                <a:gd name="T19" fmla="*/ 74 h 98"/>
                <a:gd name="T20" fmla="*/ 92 w 131"/>
                <a:gd name="T21" fmla="*/ 65 h 98"/>
                <a:gd name="T22" fmla="*/ 97 w 131"/>
                <a:gd name="T23" fmla="*/ 56 h 98"/>
                <a:gd name="T24" fmla="*/ 76 w 131"/>
                <a:gd name="T25" fmla="*/ 30 h 98"/>
                <a:gd name="T26" fmla="*/ 86 w 131"/>
                <a:gd name="T27" fmla="*/ 18 h 98"/>
                <a:gd name="T28" fmla="*/ 83 w 131"/>
                <a:gd name="T29" fmla="*/ 3 h 98"/>
                <a:gd name="T30" fmla="*/ 73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未知"/>
            <p:cNvSpPr>
              <a:spLocks/>
            </p:cNvSpPr>
            <p:nvPr/>
          </p:nvSpPr>
          <p:spPr bwMode="auto">
            <a:xfrm>
              <a:off x="654" y="842"/>
              <a:ext cx="158" cy="84"/>
            </a:xfrm>
            <a:custGeom>
              <a:avLst/>
              <a:gdLst>
                <a:gd name="T0" fmla="*/ 35 w 212"/>
                <a:gd name="T1" fmla="*/ 9 h 112"/>
                <a:gd name="T2" fmla="*/ 13 w 212"/>
                <a:gd name="T3" fmla="*/ 9 h 112"/>
                <a:gd name="T4" fmla="*/ 4 w 212"/>
                <a:gd name="T5" fmla="*/ 12 h 112"/>
                <a:gd name="T6" fmla="*/ 19 w 212"/>
                <a:gd name="T7" fmla="*/ 39 h 112"/>
                <a:gd name="T8" fmla="*/ 38 w 212"/>
                <a:gd name="T9" fmla="*/ 33 h 112"/>
                <a:gd name="T10" fmla="*/ 69 w 212"/>
                <a:gd name="T11" fmla="*/ 41 h 112"/>
                <a:gd name="T12" fmla="*/ 83 w 212"/>
                <a:gd name="T13" fmla="*/ 45 h 112"/>
                <a:gd name="T14" fmla="*/ 99 w 212"/>
                <a:gd name="T15" fmla="*/ 66 h 112"/>
                <a:gd name="T16" fmla="*/ 105 w 212"/>
                <a:gd name="T17" fmla="*/ 84 h 112"/>
                <a:gd name="T18" fmla="*/ 117 w 212"/>
                <a:gd name="T19" fmla="*/ 75 h 112"/>
                <a:gd name="T20" fmla="*/ 126 w 212"/>
                <a:gd name="T21" fmla="*/ 72 h 112"/>
                <a:gd name="T22" fmla="*/ 139 w 212"/>
                <a:gd name="T23" fmla="*/ 77 h 112"/>
                <a:gd name="T24" fmla="*/ 145 w 212"/>
                <a:gd name="T25" fmla="*/ 60 h 112"/>
                <a:gd name="T26" fmla="*/ 114 w 212"/>
                <a:gd name="T27" fmla="*/ 41 h 112"/>
                <a:gd name="T28" fmla="*/ 78 w 212"/>
                <a:gd name="T29" fmla="*/ 15 h 112"/>
                <a:gd name="T30" fmla="*/ 40 w 212"/>
                <a:gd name="T31" fmla="*/ 20 h 112"/>
                <a:gd name="T32" fmla="*/ 35 w 212"/>
                <a:gd name="T33" fmla="*/ 9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未知"/>
            <p:cNvSpPr>
              <a:spLocks/>
            </p:cNvSpPr>
            <p:nvPr/>
          </p:nvSpPr>
          <p:spPr bwMode="auto">
            <a:xfrm>
              <a:off x="784" y="906"/>
              <a:ext cx="99" cy="41"/>
            </a:xfrm>
            <a:custGeom>
              <a:avLst/>
              <a:gdLst>
                <a:gd name="T0" fmla="*/ 42 w 133"/>
                <a:gd name="T1" fmla="*/ 0 h 54"/>
                <a:gd name="T2" fmla="*/ 32 w 133"/>
                <a:gd name="T3" fmla="*/ 5 h 54"/>
                <a:gd name="T4" fmla="*/ 23 w 133"/>
                <a:gd name="T5" fmla="*/ 23 h 54"/>
                <a:gd name="T6" fmla="*/ 11 w 133"/>
                <a:gd name="T7" fmla="*/ 26 h 54"/>
                <a:gd name="T8" fmla="*/ 2 w 133"/>
                <a:gd name="T9" fmla="*/ 32 h 54"/>
                <a:gd name="T10" fmla="*/ 10 w 133"/>
                <a:gd name="T11" fmla="*/ 41 h 54"/>
                <a:gd name="T12" fmla="*/ 99 w 133"/>
                <a:gd name="T13" fmla="*/ 26 h 54"/>
                <a:gd name="T14" fmla="*/ 92 w 133"/>
                <a:gd name="T15" fmla="*/ 12 h 54"/>
                <a:gd name="T16" fmla="*/ 78 w 133"/>
                <a:gd name="T17" fmla="*/ 6 h 54"/>
                <a:gd name="T18" fmla="*/ 75 w 133"/>
                <a:gd name="T19" fmla="*/ 18 h 54"/>
                <a:gd name="T20" fmla="*/ 66 w 133"/>
                <a:gd name="T21" fmla="*/ 14 h 54"/>
                <a:gd name="T22" fmla="*/ 50 w 133"/>
                <a:gd name="T23" fmla="*/ 11 h 54"/>
                <a:gd name="T24" fmla="*/ 4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未知"/>
            <p:cNvSpPr>
              <a:spLocks/>
            </p:cNvSpPr>
            <p:nvPr/>
          </p:nvSpPr>
          <p:spPr bwMode="auto">
            <a:xfrm>
              <a:off x="889" y="932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未知"/>
            <p:cNvSpPr>
              <a:spLocks/>
            </p:cNvSpPr>
            <p:nvPr/>
          </p:nvSpPr>
          <p:spPr bwMode="auto">
            <a:xfrm>
              <a:off x="945" y="935"/>
              <a:ext cx="12" cy="25"/>
            </a:xfrm>
            <a:custGeom>
              <a:avLst/>
              <a:gdLst>
                <a:gd name="T0" fmla="*/ 11 w 16"/>
                <a:gd name="T1" fmla="*/ 0 h 34"/>
                <a:gd name="T2" fmla="*/ 0 w 16"/>
                <a:gd name="T3" fmla="*/ 10 h 34"/>
                <a:gd name="T4" fmla="*/ 12 w 16"/>
                <a:gd name="T5" fmla="*/ 25 h 34"/>
                <a:gd name="T6" fmla="*/ 9 w 16"/>
                <a:gd name="T7" fmla="*/ 13 h 34"/>
                <a:gd name="T8" fmla="*/ 12 w 16"/>
                <a:gd name="T9" fmla="*/ 4 h 34"/>
                <a:gd name="T10" fmla="*/ 11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未知"/>
            <p:cNvSpPr>
              <a:spLocks/>
            </p:cNvSpPr>
            <p:nvPr/>
          </p:nvSpPr>
          <p:spPr bwMode="auto">
            <a:xfrm>
              <a:off x="762" y="89"/>
              <a:ext cx="180" cy="88"/>
            </a:xfrm>
            <a:custGeom>
              <a:avLst/>
              <a:gdLst>
                <a:gd name="T0" fmla="*/ 48 w 240"/>
                <a:gd name="T1" fmla="*/ 1 h 117"/>
                <a:gd name="T2" fmla="*/ 18 w 240"/>
                <a:gd name="T3" fmla="*/ 23 h 117"/>
                <a:gd name="T4" fmla="*/ 5 w 240"/>
                <a:gd name="T5" fmla="*/ 28 h 117"/>
                <a:gd name="T6" fmla="*/ 0 w 240"/>
                <a:gd name="T7" fmla="*/ 29 h 117"/>
                <a:gd name="T8" fmla="*/ 20 w 240"/>
                <a:gd name="T9" fmla="*/ 44 h 117"/>
                <a:gd name="T10" fmla="*/ 29 w 240"/>
                <a:gd name="T11" fmla="*/ 47 h 117"/>
                <a:gd name="T12" fmla="*/ 51 w 240"/>
                <a:gd name="T13" fmla="*/ 35 h 117"/>
                <a:gd name="T14" fmla="*/ 60 w 240"/>
                <a:gd name="T15" fmla="*/ 32 h 117"/>
                <a:gd name="T16" fmla="*/ 62 w 240"/>
                <a:gd name="T17" fmla="*/ 41 h 117"/>
                <a:gd name="T18" fmla="*/ 48 w 240"/>
                <a:gd name="T19" fmla="*/ 46 h 117"/>
                <a:gd name="T20" fmla="*/ 54 w 240"/>
                <a:gd name="T21" fmla="*/ 55 h 117"/>
                <a:gd name="T22" fmla="*/ 30 w 240"/>
                <a:gd name="T23" fmla="*/ 65 h 117"/>
                <a:gd name="T24" fmla="*/ 53 w 240"/>
                <a:gd name="T25" fmla="*/ 82 h 117"/>
                <a:gd name="T26" fmla="*/ 62 w 240"/>
                <a:gd name="T27" fmla="*/ 85 h 117"/>
                <a:gd name="T28" fmla="*/ 89 w 240"/>
                <a:gd name="T29" fmla="*/ 77 h 117"/>
                <a:gd name="T30" fmla="*/ 113 w 240"/>
                <a:gd name="T31" fmla="*/ 79 h 117"/>
                <a:gd name="T32" fmla="*/ 126 w 240"/>
                <a:gd name="T33" fmla="*/ 88 h 117"/>
                <a:gd name="T34" fmla="*/ 153 w 240"/>
                <a:gd name="T35" fmla="*/ 82 h 117"/>
                <a:gd name="T36" fmla="*/ 168 w 240"/>
                <a:gd name="T37" fmla="*/ 77 h 117"/>
                <a:gd name="T38" fmla="*/ 167 w 240"/>
                <a:gd name="T39" fmla="*/ 58 h 117"/>
                <a:gd name="T40" fmla="*/ 176 w 240"/>
                <a:gd name="T41" fmla="*/ 52 h 117"/>
                <a:gd name="T42" fmla="*/ 179 w 240"/>
                <a:gd name="T43" fmla="*/ 35 h 117"/>
                <a:gd name="T44" fmla="*/ 158 w 240"/>
                <a:gd name="T45" fmla="*/ 43 h 117"/>
                <a:gd name="T46" fmla="*/ 150 w 240"/>
                <a:gd name="T47" fmla="*/ 32 h 117"/>
                <a:gd name="T48" fmla="*/ 129 w 240"/>
                <a:gd name="T49" fmla="*/ 34 h 117"/>
                <a:gd name="T50" fmla="*/ 101 w 240"/>
                <a:gd name="T51" fmla="*/ 7 h 117"/>
                <a:gd name="T52" fmla="*/ 71 w 240"/>
                <a:gd name="T53" fmla="*/ 8 h 117"/>
                <a:gd name="T54" fmla="*/ 62 w 240"/>
                <a:gd name="T55" fmla="*/ 1 h 117"/>
                <a:gd name="T56" fmla="*/ 48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未知"/>
            <p:cNvSpPr>
              <a:spLocks/>
            </p:cNvSpPr>
            <p:nvPr/>
          </p:nvSpPr>
          <p:spPr bwMode="auto">
            <a:xfrm>
              <a:off x="842" y="48"/>
              <a:ext cx="146" cy="60"/>
            </a:xfrm>
            <a:custGeom>
              <a:avLst/>
              <a:gdLst>
                <a:gd name="T0" fmla="*/ 73 w 194"/>
                <a:gd name="T1" fmla="*/ 8 h 80"/>
                <a:gd name="T2" fmla="*/ 10 w 194"/>
                <a:gd name="T3" fmla="*/ 18 h 80"/>
                <a:gd name="T4" fmla="*/ 7 w 194"/>
                <a:gd name="T5" fmla="*/ 26 h 80"/>
                <a:gd name="T6" fmla="*/ 43 w 194"/>
                <a:gd name="T7" fmla="*/ 39 h 80"/>
                <a:gd name="T8" fmla="*/ 102 w 194"/>
                <a:gd name="T9" fmla="*/ 56 h 80"/>
                <a:gd name="T10" fmla="*/ 132 w 194"/>
                <a:gd name="T11" fmla="*/ 51 h 80"/>
                <a:gd name="T12" fmla="*/ 141 w 194"/>
                <a:gd name="T13" fmla="*/ 48 h 80"/>
                <a:gd name="T14" fmla="*/ 132 w 194"/>
                <a:gd name="T15" fmla="*/ 33 h 80"/>
                <a:gd name="T16" fmla="*/ 123 w 194"/>
                <a:gd name="T17" fmla="*/ 27 h 80"/>
                <a:gd name="T18" fmla="*/ 97 w 194"/>
                <a:gd name="T19" fmla="*/ 20 h 80"/>
                <a:gd name="T20" fmla="*/ 73 w 194"/>
                <a:gd name="T21" fmla="*/ 8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未知"/>
            <p:cNvSpPr>
              <a:spLocks/>
            </p:cNvSpPr>
            <p:nvPr/>
          </p:nvSpPr>
          <p:spPr bwMode="auto">
            <a:xfrm>
              <a:off x="1047" y="118"/>
              <a:ext cx="233" cy="190"/>
            </a:xfrm>
            <a:custGeom>
              <a:avLst/>
              <a:gdLst>
                <a:gd name="T0" fmla="*/ 50 w 310"/>
                <a:gd name="T1" fmla="*/ 7 h 254"/>
                <a:gd name="T2" fmla="*/ 38 w 310"/>
                <a:gd name="T3" fmla="*/ 17 h 254"/>
                <a:gd name="T4" fmla="*/ 16 w 310"/>
                <a:gd name="T5" fmla="*/ 29 h 254"/>
                <a:gd name="T6" fmla="*/ 40 w 310"/>
                <a:gd name="T7" fmla="*/ 58 h 254"/>
                <a:gd name="T8" fmla="*/ 59 w 310"/>
                <a:gd name="T9" fmla="*/ 64 h 254"/>
                <a:gd name="T10" fmla="*/ 77 w 310"/>
                <a:gd name="T11" fmla="*/ 74 h 254"/>
                <a:gd name="T12" fmla="*/ 95 w 310"/>
                <a:gd name="T13" fmla="*/ 64 h 254"/>
                <a:gd name="T14" fmla="*/ 107 w 310"/>
                <a:gd name="T15" fmla="*/ 76 h 254"/>
                <a:gd name="T16" fmla="*/ 112 w 310"/>
                <a:gd name="T17" fmla="*/ 95 h 254"/>
                <a:gd name="T18" fmla="*/ 86 w 310"/>
                <a:gd name="T19" fmla="*/ 113 h 254"/>
                <a:gd name="T20" fmla="*/ 67 w 310"/>
                <a:gd name="T21" fmla="*/ 129 h 254"/>
                <a:gd name="T22" fmla="*/ 52 w 310"/>
                <a:gd name="T23" fmla="*/ 126 h 254"/>
                <a:gd name="T24" fmla="*/ 43 w 310"/>
                <a:gd name="T25" fmla="*/ 123 h 254"/>
                <a:gd name="T26" fmla="*/ 32 w 310"/>
                <a:gd name="T27" fmla="*/ 140 h 254"/>
                <a:gd name="T28" fmla="*/ 29 w 310"/>
                <a:gd name="T29" fmla="*/ 149 h 254"/>
                <a:gd name="T30" fmla="*/ 55 w 310"/>
                <a:gd name="T31" fmla="*/ 153 h 254"/>
                <a:gd name="T32" fmla="*/ 71 w 310"/>
                <a:gd name="T33" fmla="*/ 152 h 254"/>
                <a:gd name="T34" fmla="*/ 86 w 310"/>
                <a:gd name="T35" fmla="*/ 173 h 254"/>
                <a:gd name="T36" fmla="*/ 95 w 310"/>
                <a:gd name="T37" fmla="*/ 176 h 254"/>
                <a:gd name="T38" fmla="*/ 104 w 310"/>
                <a:gd name="T39" fmla="*/ 179 h 254"/>
                <a:gd name="T40" fmla="*/ 117 w 310"/>
                <a:gd name="T41" fmla="*/ 188 h 254"/>
                <a:gd name="T42" fmla="*/ 136 w 310"/>
                <a:gd name="T43" fmla="*/ 177 h 254"/>
                <a:gd name="T44" fmla="*/ 153 w 310"/>
                <a:gd name="T45" fmla="*/ 176 h 254"/>
                <a:gd name="T46" fmla="*/ 172 w 310"/>
                <a:gd name="T47" fmla="*/ 159 h 254"/>
                <a:gd name="T48" fmla="*/ 169 w 310"/>
                <a:gd name="T49" fmla="*/ 138 h 254"/>
                <a:gd name="T50" fmla="*/ 163 w 310"/>
                <a:gd name="T51" fmla="*/ 129 h 254"/>
                <a:gd name="T52" fmla="*/ 175 w 310"/>
                <a:gd name="T53" fmla="*/ 125 h 254"/>
                <a:gd name="T54" fmla="*/ 184 w 310"/>
                <a:gd name="T55" fmla="*/ 137 h 254"/>
                <a:gd name="T56" fmla="*/ 186 w 310"/>
                <a:gd name="T57" fmla="*/ 147 h 254"/>
                <a:gd name="T58" fmla="*/ 196 w 310"/>
                <a:gd name="T59" fmla="*/ 144 h 254"/>
                <a:gd name="T60" fmla="*/ 228 w 310"/>
                <a:gd name="T61" fmla="*/ 126 h 254"/>
                <a:gd name="T62" fmla="*/ 220 w 310"/>
                <a:gd name="T63" fmla="*/ 110 h 254"/>
                <a:gd name="T64" fmla="*/ 195 w 310"/>
                <a:gd name="T65" fmla="*/ 92 h 254"/>
                <a:gd name="T66" fmla="*/ 199 w 310"/>
                <a:gd name="T67" fmla="*/ 80 h 254"/>
                <a:gd name="T68" fmla="*/ 208 w 310"/>
                <a:gd name="T69" fmla="*/ 77 h 254"/>
                <a:gd name="T70" fmla="*/ 190 w 310"/>
                <a:gd name="T71" fmla="*/ 47 h 254"/>
                <a:gd name="T72" fmla="*/ 175 w 310"/>
                <a:gd name="T73" fmla="*/ 44 h 254"/>
                <a:gd name="T74" fmla="*/ 166 w 310"/>
                <a:gd name="T75" fmla="*/ 41 h 254"/>
                <a:gd name="T76" fmla="*/ 151 w 310"/>
                <a:gd name="T77" fmla="*/ 25 h 254"/>
                <a:gd name="T78" fmla="*/ 117 w 310"/>
                <a:gd name="T79" fmla="*/ 34 h 254"/>
                <a:gd name="T80" fmla="*/ 126 w 310"/>
                <a:gd name="T81" fmla="*/ 19 h 254"/>
                <a:gd name="T82" fmla="*/ 104 w 310"/>
                <a:gd name="T83" fmla="*/ 13 h 254"/>
                <a:gd name="T84" fmla="*/ 89 w 310"/>
                <a:gd name="T85" fmla="*/ 14 h 254"/>
                <a:gd name="T86" fmla="*/ 50 w 310"/>
                <a:gd name="T87" fmla="*/ 7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未知"/>
            <p:cNvSpPr>
              <a:spLocks/>
            </p:cNvSpPr>
            <p:nvPr/>
          </p:nvSpPr>
          <p:spPr bwMode="auto">
            <a:xfrm>
              <a:off x="1045" y="36"/>
              <a:ext cx="44" cy="37"/>
            </a:xfrm>
            <a:custGeom>
              <a:avLst/>
              <a:gdLst>
                <a:gd name="T0" fmla="*/ 19 w 59"/>
                <a:gd name="T1" fmla="*/ 0 h 50"/>
                <a:gd name="T2" fmla="*/ 0 w 59"/>
                <a:gd name="T3" fmla="*/ 7 h 50"/>
                <a:gd name="T4" fmla="*/ 22 w 59"/>
                <a:gd name="T5" fmla="*/ 30 h 50"/>
                <a:gd name="T6" fmla="*/ 36 w 59"/>
                <a:gd name="T7" fmla="*/ 37 h 50"/>
                <a:gd name="T8" fmla="*/ 43 w 59"/>
                <a:gd name="T9" fmla="*/ 21 h 50"/>
                <a:gd name="T10" fmla="*/ 33 w 59"/>
                <a:gd name="T11" fmla="*/ 6 h 50"/>
                <a:gd name="T12" fmla="*/ 19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未知"/>
            <p:cNvSpPr>
              <a:spLocks/>
            </p:cNvSpPr>
            <p:nvPr/>
          </p:nvSpPr>
          <p:spPr bwMode="auto">
            <a:xfrm>
              <a:off x="961" y="106"/>
              <a:ext cx="65" cy="42"/>
            </a:xfrm>
            <a:custGeom>
              <a:avLst/>
              <a:gdLst>
                <a:gd name="T0" fmla="*/ 33 w 86"/>
                <a:gd name="T1" fmla="*/ 5 h 57"/>
                <a:gd name="T2" fmla="*/ 18 w 86"/>
                <a:gd name="T3" fmla="*/ 18 h 57"/>
                <a:gd name="T4" fmla="*/ 3 w 86"/>
                <a:gd name="T5" fmla="*/ 20 h 57"/>
                <a:gd name="T6" fmla="*/ 12 w 86"/>
                <a:gd name="T7" fmla="*/ 42 h 57"/>
                <a:gd name="T8" fmla="*/ 56 w 86"/>
                <a:gd name="T9" fmla="*/ 26 h 57"/>
                <a:gd name="T10" fmla="*/ 65 w 86"/>
                <a:gd name="T11" fmla="*/ 13 h 57"/>
                <a:gd name="T12" fmla="*/ 42 w 86"/>
                <a:gd name="T13" fmla="*/ 5 h 57"/>
                <a:gd name="T14" fmla="*/ 33 w 86"/>
                <a:gd name="T15" fmla="*/ 5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未知"/>
            <p:cNvSpPr>
              <a:spLocks/>
            </p:cNvSpPr>
            <p:nvPr/>
          </p:nvSpPr>
          <p:spPr bwMode="auto">
            <a:xfrm>
              <a:off x="1029" y="114"/>
              <a:ext cx="54" cy="25"/>
            </a:xfrm>
            <a:custGeom>
              <a:avLst/>
              <a:gdLst>
                <a:gd name="T0" fmla="*/ 30 w 73"/>
                <a:gd name="T1" fmla="*/ 0 h 34"/>
                <a:gd name="T2" fmla="*/ 7 w 73"/>
                <a:gd name="T3" fmla="*/ 12 h 34"/>
                <a:gd name="T4" fmla="*/ 18 w 73"/>
                <a:gd name="T5" fmla="*/ 25 h 34"/>
                <a:gd name="T6" fmla="*/ 38 w 73"/>
                <a:gd name="T7" fmla="*/ 21 h 34"/>
                <a:gd name="T8" fmla="*/ 47 w 73"/>
                <a:gd name="T9" fmla="*/ 15 h 34"/>
                <a:gd name="T10" fmla="*/ 30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未知"/>
            <p:cNvSpPr>
              <a:spLocks/>
            </p:cNvSpPr>
            <p:nvPr/>
          </p:nvSpPr>
          <p:spPr bwMode="auto">
            <a:xfrm>
              <a:off x="1000" y="78"/>
              <a:ext cx="64" cy="34"/>
            </a:xfrm>
            <a:custGeom>
              <a:avLst/>
              <a:gdLst>
                <a:gd name="T0" fmla="*/ 44 w 85"/>
                <a:gd name="T1" fmla="*/ 8 h 45"/>
                <a:gd name="T2" fmla="*/ 21 w 85"/>
                <a:gd name="T3" fmla="*/ 3 h 45"/>
                <a:gd name="T4" fmla="*/ 0 w 85"/>
                <a:gd name="T5" fmla="*/ 14 h 45"/>
                <a:gd name="T6" fmla="*/ 30 w 85"/>
                <a:gd name="T7" fmla="*/ 24 h 45"/>
                <a:gd name="T8" fmla="*/ 48 w 85"/>
                <a:gd name="T9" fmla="*/ 30 h 45"/>
                <a:gd name="T10" fmla="*/ 63 w 85"/>
                <a:gd name="T11" fmla="*/ 14 h 45"/>
                <a:gd name="T12" fmla="*/ 62 w 85"/>
                <a:gd name="T13" fmla="*/ 5 h 45"/>
                <a:gd name="T14" fmla="*/ 48 w 85"/>
                <a:gd name="T15" fmla="*/ 0 h 45"/>
                <a:gd name="T16" fmla="*/ 44 w 85"/>
                <a:gd name="T17" fmla="*/ 8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未知"/>
            <p:cNvSpPr>
              <a:spLocks/>
            </p:cNvSpPr>
            <p:nvPr/>
          </p:nvSpPr>
          <p:spPr bwMode="auto">
            <a:xfrm>
              <a:off x="973" y="46"/>
              <a:ext cx="44" cy="24"/>
            </a:xfrm>
            <a:custGeom>
              <a:avLst/>
              <a:gdLst>
                <a:gd name="T0" fmla="*/ 12 w 58"/>
                <a:gd name="T1" fmla="*/ 3 h 31"/>
                <a:gd name="T2" fmla="*/ 0 w 58"/>
                <a:gd name="T3" fmla="*/ 14 h 31"/>
                <a:gd name="T4" fmla="*/ 15 w 58"/>
                <a:gd name="T5" fmla="*/ 22 h 31"/>
                <a:gd name="T6" fmla="*/ 21 w 58"/>
                <a:gd name="T7" fmla="*/ 15 h 31"/>
                <a:gd name="T8" fmla="*/ 39 w 58"/>
                <a:gd name="T9" fmla="*/ 9 h 31"/>
                <a:gd name="T10" fmla="*/ 33 w 58"/>
                <a:gd name="T11" fmla="*/ 0 h 31"/>
                <a:gd name="T12" fmla="*/ 12 w 58"/>
                <a:gd name="T13" fmla="*/ 3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未知"/>
            <p:cNvSpPr>
              <a:spLocks/>
            </p:cNvSpPr>
            <p:nvPr/>
          </p:nvSpPr>
          <p:spPr bwMode="auto">
            <a:xfrm>
              <a:off x="1087" y="49"/>
              <a:ext cx="114" cy="77"/>
            </a:xfrm>
            <a:custGeom>
              <a:avLst/>
              <a:gdLst>
                <a:gd name="T0" fmla="*/ 29 w 152"/>
                <a:gd name="T1" fmla="*/ 0 h 102"/>
                <a:gd name="T2" fmla="*/ 11 w 152"/>
                <a:gd name="T3" fmla="*/ 5 h 102"/>
                <a:gd name="T4" fmla="*/ 3 w 152"/>
                <a:gd name="T5" fmla="*/ 29 h 102"/>
                <a:gd name="T6" fmla="*/ 9 w 152"/>
                <a:gd name="T7" fmla="*/ 42 h 102"/>
                <a:gd name="T8" fmla="*/ 0 w 152"/>
                <a:gd name="T9" fmla="*/ 54 h 102"/>
                <a:gd name="T10" fmla="*/ 42 w 152"/>
                <a:gd name="T11" fmla="*/ 65 h 102"/>
                <a:gd name="T12" fmla="*/ 62 w 152"/>
                <a:gd name="T13" fmla="*/ 69 h 102"/>
                <a:gd name="T14" fmla="*/ 114 w 152"/>
                <a:gd name="T15" fmla="*/ 65 h 102"/>
                <a:gd name="T16" fmla="*/ 57 w 152"/>
                <a:gd name="T17" fmla="*/ 53 h 102"/>
                <a:gd name="T18" fmla="*/ 41 w 152"/>
                <a:gd name="T19" fmla="*/ 47 h 102"/>
                <a:gd name="T20" fmla="*/ 33 w 152"/>
                <a:gd name="T21" fmla="*/ 39 h 102"/>
                <a:gd name="T22" fmla="*/ 38 w 152"/>
                <a:gd name="T23" fmla="*/ 26 h 102"/>
                <a:gd name="T24" fmla="*/ 29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未知"/>
            <p:cNvSpPr>
              <a:spLocks/>
            </p:cNvSpPr>
            <p:nvPr/>
          </p:nvSpPr>
          <p:spPr bwMode="auto">
            <a:xfrm>
              <a:off x="0" y="294"/>
              <a:ext cx="25" cy="15"/>
            </a:xfrm>
            <a:custGeom>
              <a:avLst/>
              <a:gdLst>
                <a:gd name="T0" fmla="*/ 25 w 34"/>
                <a:gd name="T1" fmla="*/ 0 h 20"/>
                <a:gd name="T2" fmla="*/ 18 w 34"/>
                <a:gd name="T3" fmla="*/ 15 h 20"/>
                <a:gd name="T4" fmla="*/ 3 w 34"/>
                <a:gd name="T5" fmla="*/ 14 h 20"/>
                <a:gd name="T6" fmla="*/ 3 w 34"/>
                <a:gd name="T7" fmla="*/ 5 h 20"/>
                <a:gd name="T8" fmla="*/ 25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未知"/>
            <p:cNvSpPr>
              <a:spLocks/>
            </p:cNvSpPr>
            <p:nvPr/>
          </p:nvSpPr>
          <p:spPr bwMode="auto">
            <a:xfrm>
              <a:off x="757" y="805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10 w 21"/>
                <a:gd name="T3" fmla="*/ 1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未知"/>
            <p:cNvSpPr>
              <a:spLocks/>
            </p:cNvSpPr>
            <p:nvPr/>
          </p:nvSpPr>
          <p:spPr bwMode="auto">
            <a:xfrm>
              <a:off x="760" y="830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10 w 21"/>
                <a:gd name="T3" fmla="*/ 1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未知"/>
            <p:cNvSpPr>
              <a:spLocks/>
            </p:cNvSpPr>
            <p:nvPr/>
          </p:nvSpPr>
          <p:spPr bwMode="auto">
            <a:xfrm>
              <a:off x="964" y="962"/>
              <a:ext cx="15" cy="12"/>
            </a:xfrm>
            <a:custGeom>
              <a:avLst/>
              <a:gdLst>
                <a:gd name="T0" fmla="*/ 2 w 21"/>
                <a:gd name="T1" fmla="*/ 0 h 16"/>
                <a:gd name="T2" fmla="*/ 9 w 21"/>
                <a:gd name="T3" fmla="*/ 1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未知"/>
            <p:cNvSpPr>
              <a:spLocks/>
            </p:cNvSpPr>
            <p:nvPr/>
          </p:nvSpPr>
          <p:spPr bwMode="auto">
            <a:xfrm>
              <a:off x="1088" y="478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未知"/>
            <p:cNvSpPr>
              <a:spLocks/>
            </p:cNvSpPr>
            <p:nvPr/>
          </p:nvSpPr>
          <p:spPr bwMode="auto">
            <a:xfrm>
              <a:off x="988" y="273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未知"/>
            <p:cNvSpPr>
              <a:spLocks/>
            </p:cNvSpPr>
            <p:nvPr/>
          </p:nvSpPr>
          <p:spPr bwMode="auto">
            <a:xfrm>
              <a:off x="1053" y="94"/>
              <a:ext cx="39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1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未知"/>
            <p:cNvSpPr>
              <a:spLocks/>
            </p:cNvSpPr>
            <p:nvPr/>
          </p:nvSpPr>
          <p:spPr bwMode="auto">
            <a:xfrm>
              <a:off x="1116" y="202"/>
              <a:ext cx="38" cy="18"/>
            </a:xfrm>
            <a:custGeom>
              <a:avLst/>
              <a:gdLst>
                <a:gd name="T0" fmla="*/ 10 w 51"/>
                <a:gd name="T1" fmla="*/ 0 h 24"/>
                <a:gd name="T2" fmla="*/ 5 w 51"/>
                <a:gd name="T3" fmla="*/ 14 h 24"/>
                <a:gd name="T4" fmla="*/ 20 w 51"/>
                <a:gd name="T5" fmla="*/ 18 h 24"/>
                <a:gd name="T6" fmla="*/ 25 w 51"/>
                <a:gd name="T7" fmla="*/ 3 h 24"/>
                <a:gd name="T8" fmla="*/ 10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未知"/>
            <p:cNvSpPr>
              <a:spLocks/>
            </p:cNvSpPr>
            <p:nvPr/>
          </p:nvSpPr>
          <p:spPr bwMode="auto">
            <a:xfrm>
              <a:off x="1132" y="0"/>
              <a:ext cx="696" cy="346"/>
            </a:xfrm>
            <a:custGeom>
              <a:avLst/>
              <a:gdLst>
                <a:gd name="T0" fmla="*/ 21 w 929"/>
                <a:gd name="T1" fmla="*/ 42 h 462"/>
                <a:gd name="T2" fmla="*/ 4 w 929"/>
                <a:gd name="T3" fmla="*/ 69 h 462"/>
                <a:gd name="T4" fmla="*/ 27 w 929"/>
                <a:gd name="T5" fmla="*/ 75 h 462"/>
                <a:gd name="T6" fmla="*/ 12 w 929"/>
                <a:gd name="T7" fmla="*/ 87 h 462"/>
                <a:gd name="T8" fmla="*/ 78 w 929"/>
                <a:gd name="T9" fmla="*/ 102 h 462"/>
                <a:gd name="T10" fmla="*/ 106 w 929"/>
                <a:gd name="T11" fmla="*/ 97 h 462"/>
                <a:gd name="T12" fmla="*/ 187 w 929"/>
                <a:gd name="T13" fmla="*/ 58 h 462"/>
                <a:gd name="T14" fmla="*/ 225 w 929"/>
                <a:gd name="T15" fmla="*/ 49 h 462"/>
                <a:gd name="T16" fmla="*/ 243 w 929"/>
                <a:gd name="T17" fmla="*/ 60 h 462"/>
                <a:gd name="T18" fmla="*/ 204 w 929"/>
                <a:gd name="T19" fmla="*/ 66 h 462"/>
                <a:gd name="T20" fmla="*/ 181 w 929"/>
                <a:gd name="T21" fmla="*/ 84 h 462"/>
                <a:gd name="T22" fmla="*/ 190 w 929"/>
                <a:gd name="T23" fmla="*/ 90 h 462"/>
                <a:gd name="T24" fmla="*/ 195 w 929"/>
                <a:gd name="T25" fmla="*/ 118 h 462"/>
                <a:gd name="T26" fmla="*/ 262 w 929"/>
                <a:gd name="T27" fmla="*/ 144 h 462"/>
                <a:gd name="T28" fmla="*/ 252 w 929"/>
                <a:gd name="T29" fmla="*/ 157 h 462"/>
                <a:gd name="T30" fmla="*/ 276 w 929"/>
                <a:gd name="T31" fmla="*/ 184 h 462"/>
                <a:gd name="T32" fmla="*/ 261 w 929"/>
                <a:gd name="T33" fmla="*/ 199 h 462"/>
                <a:gd name="T34" fmla="*/ 243 w 929"/>
                <a:gd name="T35" fmla="*/ 220 h 462"/>
                <a:gd name="T36" fmla="*/ 220 w 929"/>
                <a:gd name="T37" fmla="*/ 243 h 462"/>
                <a:gd name="T38" fmla="*/ 219 w 929"/>
                <a:gd name="T39" fmla="*/ 315 h 462"/>
                <a:gd name="T40" fmla="*/ 249 w 929"/>
                <a:gd name="T41" fmla="*/ 334 h 462"/>
                <a:gd name="T42" fmla="*/ 291 w 929"/>
                <a:gd name="T43" fmla="*/ 336 h 462"/>
                <a:gd name="T44" fmla="*/ 309 w 929"/>
                <a:gd name="T45" fmla="*/ 316 h 462"/>
                <a:gd name="T46" fmla="*/ 379 w 929"/>
                <a:gd name="T47" fmla="*/ 267 h 462"/>
                <a:gd name="T48" fmla="*/ 429 w 929"/>
                <a:gd name="T49" fmla="*/ 250 h 462"/>
                <a:gd name="T50" fmla="*/ 484 w 929"/>
                <a:gd name="T51" fmla="*/ 231 h 462"/>
                <a:gd name="T52" fmla="*/ 539 w 929"/>
                <a:gd name="T53" fmla="*/ 217 h 462"/>
                <a:gd name="T54" fmla="*/ 571 w 929"/>
                <a:gd name="T55" fmla="*/ 195 h 462"/>
                <a:gd name="T56" fmla="*/ 599 w 929"/>
                <a:gd name="T57" fmla="*/ 150 h 462"/>
                <a:gd name="T58" fmla="*/ 601 w 929"/>
                <a:gd name="T59" fmla="*/ 115 h 462"/>
                <a:gd name="T60" fmla="*/ 601 w 929"/>
                <a:gd name="T61" fmla="*/ 93 h 462"/>
                <a:gd name="T62" fmla="*/ 623 w 929"/>
                <a:gd name="T63" fmla="*/ 67 h 462"/>
                <a:gd name="T64" fmla="*/ 656 w 929"/>
                <a:gd name="T65" fmla="*/ 70 h 462"/>
                <a:gd name="T66" fmla="*/ 691 w 929"/>
                <a:gd name="T67" fmla="*/ 39 h 462"/>
                <a:gd name="T68" fmla="*/ 665 w 929"/>
                <a:gd name="T69" fmla="*/ 42 h 462"/>
                <a:gd name="T70" fmla="*/ 635 w 929"/>
                <a:gd name="T71" fmla="*/ 34 h 462"/>
                <a:gd name="T72" fmla="*/ 595 w 929"/>
                <a:gd name="T73" fmla="*/ 16 h 462"/>
                <a:gd name="T74" fmla="*/ 481 w 929"/>
                <a:gd name="T75" fmla="*/ 19 h 462"/>
                <a:gd name="T76" fmla="*/ 438 w 929"/>
                <a:gd name="T77" fmla="*/ 28 h 462"/>
                <a:gd name="T78" fmla="*/ 417 w 929"/>
                <a:gd name="T79" fmla="*/ 28 h 462"/>
                <a:gd name="T80" fmla="*/ 387 w 929"/>
                <a:gd name="T81" fmla="*/ 40 h 462"/>
                <a:gd name="T82" fmla="*/ 358 w 929"/>
                <a:gd name="T83" fmla="*/ 22 h 462"/>
                <a:gd name="T84" fmla="*/ 324 w 929"/>
                <a:gd name="T85" fmla="*/ 30 h 462"/>
                <a:gd name="T86" fmla="*/ 274 w 929"/>
                <a:gd name="T87" fmla="*/ 39 h 462"/>
                <a:gd name="T88" fmla="*/ 307 w 929"/>
                <a:gd name="T89" fmla="*/ 28 h 462"/>
                <a:gd name="T90" fmla="*/ 264 w 929"/>
                <a:gd name="T91" fmla="*/ 6 h 462"/>
                <a:gd name="T92" fmla="*/ 250 w 929"/>
                <a:gd name="T93" fmla="*/ 1 h 462"/>
                <a:gd name="T94" fmla="*/ 235 w 929"/>
                <a:gd name="T95" fmla="*/ 6 h 462"/>
                <a:gd name="T96" fmla="*/ 180 w 929"/>
                <a:gd name="T97" fmla="*/ 12 h 462"/>
                <a:gd name="T98" fmla="*/ 120 w 929"/>
                <a:gd name="T99" fmla="*/ 21 h 462"/>
                <a:gd name="T100" fmla="*/ 81 w 929"/>
                <a:gd name="T101" fmla="*/ 19 h 462"/>
                <a:gd name="T102" fmla="*/ 85 w 929"/>
                <a:gd name="T103" fmla="*/ 51 h 462"/>
                <a:gd name="T104" fmla="*/ 78 w 929"/>
                <a:gd name="T105" fmla="*/ 39 h 462"/>
                <a:gd name="T106" fmla="*/ 45 w 929"/>
                <a:gd name="T107" fmla="*/ 3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未知"/>
            <p:cNvSpPr>
              <a:spLocks/>
            </p:cNvSpPr>
            <p:nvPr/>
          </p:nvSpPr>
          <p:spPr bwMode="auto">
            <a:xfrm>
              <a:off x="1345" y="184"/>
              <a:ext cx="39" cy="24"/>
            </a:xfrm>
            <a:custGeom>
              <a:avLst/>
              <a:gdLst>
                <a:gd name="T0" fmla="*/ 26 w 52"/>
                <a:gd name="T1" fmla="*/ 0 h 32"/>
                <a:gd name="T2" fmla="*/ 6 w 52"/>
                <a:gd name="T3" fmla="*/ 15 h 32"/>
                <a:gd name="T4" fmla="*/ 18 w 52"/>
                <a:gd name="T5" fmla="*/ 24 h 32"/>
                <a:gd name="T6" fmla="*/ 32 w 52"/>
                <a:gd name="T7" fmla="*/ 23 h 32"/>
                <a:gd name="T8" fmla="*/ 26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未知"/>
            <p:cNvSpPr>
              <a:spLocks/>
            </p:cNvSpPr>
            <p:nvPr/>
          </p:nvSpPr>
          <p:spPr bwMode="auto">
            <a:xfrm>
              <a:off x="1628" y="250"/>
              <a:ext cx="128" cy="54"/>
            </a:xfrm>
            <a:custGeom>
              <a:avLst/>
              <a:gdLst>
                <a:gd name="T0" fmla="*/ 76 w 172"/>
                <a:gd name="T1" fmla="*/ 6 h 72"/>
                <a:gd name="T2" fmla="*/ 49 w 172"/>
                <a:gd name="T3" fmla="*/ 3 h 72"/>
                <a:gd name="T4" fmla="*/ 40 w 172"/>
                <a:gd name="T5" fmla="*/ 0 h 72"/>
                <a:gd name="T6" fmla="*/ 0 w 172"/>
                <a:gd name="T7" fmla="*/ 21 h 72"/>
                <a:gd name="T8" fmla="*/ 21 w 172"/>
                <a:gd name="T9" fmla="*/ 30 h 72"/>
                <a:gd name="T10" fmla="*/ 31 w 172"/>
                <a:gd name="T11" fmla="*/ 45 h 72"/>
                <a:gd name="T12" fmla="*/ 49 w 172"/>
                <a:gd name="T13" fmla="*/ 51 h 72"/>
                <a:gd name="T14" fmla="*/ 58 w 172"/>
                <a:gd name="T15" fmla="*/ 54 h 72"/>
                <a:gd name="T16" fmla="*/ 97 w 172"/>
                <a:gd name="T17" fmla="*/ 45 h 72"/>
                <a:gd name="T18" fmla="*/ 128 w 172"/>
                <a:gd name="T19" fmla="*/ 33 h 72"/>
                <a:gd name="T20" fmla="*/ 110 w 172"/>
                <a:gd name="T21" fmla="*/ 14 h 72"/>
                <a:gd name="T22" fmla="*/ 101 w 172"/>
                <a:gd name="T23" fmla="*/ 3 h 72"/>
                <a:gd name="T24" fmla="*/ 76 w 172"/>
                <a:gd name="T25" fmla="*/ 6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未知"/>
            <p:cNvSpPr>
              <a:spLocks/>
            </p:cNvSpPr>
            <p:nvPr/>
          </p:nvSpPr>
          <p:spPr bwMode="auto">
            <a:xfrm>
              <a:off x="1729" y="87"/>
              <a:ext cx="39" cy="24"/>
            </a:xfrm>
            <a:custGeom>
              <a:avLst/>
              <a:gdLst>
                <a:gd name="T0" fmla="*/ 26 w 52"/>
                <a:gd name="T1" fmla="*/ 0 h 32"/>
                <a:gd name="T2" fmla="*/ 6 w 52"/>
                <a:gd name="T3" fmla="*/ 15 h 32"/>
                <a:gd name="T4" fmla="*/ 18 w 52"/>
                <a:gd name="T5" fmla="*/ 24 h 32"/>
                <a:gd name="T6" fmla="*/ 32 w 52"/>
                <a:gd name="T7" fmla="*/ 23 h 32"/>
                <a:gd name="T8" fmla="*/ 26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未知"/>
            <p:cNvSpPr>
              <a:spLocks/>
            </p:cNvSpPr>
            <p:nvPr/>
          </p:nvSpPr>
          <p:spPr bwMode="auto">
            <a:xfrm>
              <a:off x="1998" y="55"/>
              <a:ext cx="155" cy="63"/>
            </a:xfrm>
            <a:custGeom>
              <a:avLst/>
              <a:gdLst>
                <a:gd name="T0" fmla="*/ 144 w 206"/>
                <a:gd name="T1" fmla="*/ 5 h 85"/>
                <a:gd name="T2" fmla="*/ 78 w 206"/>
                <a:gd name="T3" fmla="*/ 7 h 85"/>
                <a:gd name="T4" fmla="*/ 82 w 206"/>
                <a:gd name="T5" fmla="*/ 19 h 85"/>
                <a:gd name="T6" fmla="*/ 81 w 206"/>
                <a:gd name="T7" fmla="*/ 24 h 85"/>
                <a:gd name="T8" fmla="*/ 67 w 206"/>
                <a:gd name="T9" fmla="*/ 20 h 85"/>
                <a:gd name="T10" fmla="*/ 58 w 206"/>
                <a:gd name="T11" fmla="*/ 14 h 85"/>
                <a:gd name="T12" fmla="*/ 17 w 206"/>
                <a:gd name="T13" fmla="*/ 20 h 85"/>
                <a:gd name="T14" fmla="*/ 23 w 206"/>
                <a:gd name="T15" fmla="*/ 36 h 85"/>
                <a:gd name="T16" fmla="*/ 41 w 206"/>
                <a:gd name="T17" fmla="*/ 39 h 85"/>
                <a:gd name="T18" fmla="*/ 56 w 206"/>
                <a:gd name="T19" fmla="*/ 54 h 85"/>
                <a:gd name="T20" fmla="*/ 67 w 206"/>
                <a:gd name="T21" fmla="*/ 63 h 85"/>
                <a:gd name="T22" fmla="*/ 82 w 206"/>
                <a:gd name="T23" fmla="*/ 50 h 85"/>
                <a:gd name="T24" fmla="*/ 91 w 206"/>
                <a:gd name="T25" fmla="*/ 44 h 85"/>
                <a:gd name="T26" fmla="*/ 96 w 206"/>
                <a:gd name="T27" fmla="*/ 35 h 85"/>
                <a:gd name="T28" fmla="*/ 126 w 206"/>
                <a:gd name="T29" fmla="*/ 26 h 85"/>
                <a:gd name="T30" fmla="*/ 141 w 206"/>
                <a:gd name="T31" fmla="*/ 23 h 85"/>
                <a:gd name="T32" fmla="*/ 150 w 206"/>
                <a:gd name="T33" fmla="*/ 20 h 85"/>
                <a:gd name="T34" fmla="*/ 144 w 206"/>
                <a:gd name="T35" fmla="*/ 5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未知"/>
            <p:cNvSpPr>
              <a:spLocks/>
            </p:cNvSpPr>
            <p:nvPr/>
          </p:nvSpPr>
          <p:spPr bwMode="auto">
            <a:xfrm>
              <a:off x="2095" y="88"/>
              <a:ext cx="48" cy="21"/>
            </a:xfrm>
            <a:custGeom>
              <a:avLst/>
              <a:gdLst>
                <a:gd name="T0" fmla="*/ 27 w 64"/>
                <a:gd name="T1" fmla="*/ 5 h 28"/>
                <a:gd name="T2" fmla="*/ 6 w 64"/>
                <a:gd name="T3" fmla="*/ 3 h 28"/>
                <a:gd name="T4" fmla="*/ 18 w 64"/>
                <a:gd name="T5" fmla="*/ 21 h 28"/>
                <a:gd name="T6" fmla="*/ 41 w 64"/>
                <a:gd name="T7" fmla="*/ 11 h 28"/>
                <a:gd name="T8" fmla="*/ 27 w 64"/>
                <a:gd name="T9" fmla="*/ 5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未知"/>
            <p:cNvSpPr>
              <a:spLocks/>
            </p:cNvSpPr>
            <p:nvPr/>
          </p:nvSpPr>
          <p:spPr bwMode="auto">
            <a:xfrm>
              <a:off x="1803" y="360"/>
              <a:ext cx="109" cy="132"/>
            </a:xfrm>
            <a:custGeom>
              <a:avLst/>
              <a:gdLst>
                <a:gd name="T0" fmla="*/ 18 w 146"/>
                <a:gd name="T1" fmla="*/ 14 h 176"/>
                <a:gd name="T2" fmla="*/ 0 w 146"/>
                <a:gd name="T3" fmla="*/ 19 h 176"/>
                <a:gd name="T4" fmla="*/ 10 w 146"/>
                <a:gd name="T5" fmla="*/ 32 h 176"/>
                <a:gd name="T6" fmla="*/ 25 w 146"/>
                <a:gd name="T7" fmla="*/ 65 h 176"/>
                <a:gd name="T8" fmla="*/ 39 w 146"/>
                <a:gd name="T9" fmla="*/ 68 h 176"/>
                <a:gd name="T10" fmla="*/ 37 w 146"/>
                <a:gd name="T11" fmla="*/ 80 h 176"/>
                <a:gd name="T12" fmla="*/ 21 w 146"/>
                <a:gd name="T13" fmla="*/ 85 h 176"/>
                <a:gd name="T14" fmla="*/ 12 w 146"/>
                <a:gd name="T15" fmla="*/ 98 h 176"/>
                <a:gd name="T16" fmla="*/ 13 w 146"/>
                <a:gd name="T17" fmla="*/ 103 h 176"/>
                <a:gd name="T18" fmla="*/ 22 w 146"/>
                <a:gd name="T19" fmla="*/ 106 h 176"/>
                <a:gd name="T20" fmla="*/ 13 w 146"/>
                <a:gd name="T21" fmla="*/ 127 h 176"/>
                <a:gd name="T22" fmla="*/ 15 w 146"/>
                <a:gd name="T23" fmla="*/ 131 h 176"/>
                <a:gd name="T24" fmla="*/ 25 w 146"/>
                <a:gd name="T25" fmla="*/ 128 h 176"/>
                <a:gd name="T26" fmla="*/ 43 w 146"/>
                <a:gd name="T27" fmla="*/ 127 h 176"/>
                <a:gd name="T28" fmla="*/ 69 w 146"/>
                <a:gd name="T29" fmla="*/ 128 h 176"/>
                <a:gd name="T30" fmla="*/ 82 w 146"/>
                <a:gd name="T31" fmla="*/ 127 h 176"/>
                <a:gd name="T32" fmla="*/ 91 w 146"/>
                <a:gd name="T33" fmla="*/ 124 h 176"/>
                <a:gd name="T34" fmla="*/ 96 w 146"/>
                <a:gd name="T35" fmla="*/ 106 h 176"/>
                <a:gd name="T36" fmla="*/ 109 w 146"/>
                <a:gd name="T37" fmla="*/ 100 h 176"/>
                <a:gd name="T38" fmla="*/ 82 w 146"/>
                <a:gd name="T39" fmla="*/ 82 h 176"/>
                <a:gd name="T40" fmla="*/ 66 w 146"/>
                <a:gd name="T41" fmla="*/ 62 h 176"/>
                <a:gd name="T42" fmla="*/ 61 w 146"/>
                <a:gd name="T43" fmla="*/ 52 h 176"/>
                <a:gd name="T44" fmla="*/ 48 w 146"/>
                <a:gd name="T45" fmla="*/ 46 h 176"/>
                <a:gd name="T46" fmla="*/ 64 w 146"/>
                <a:gd name="T47" fmla="*/ 34 h 176"/>
                <a:gd name="T48" fmla="*/ 48 w 146"/>
                <a:gd name="T49" fmla="*/ 23 h 176"/>
                <a:gd name="T50" fmla="*/ 52 w 146"/>
                <a:gd name="T51" fmla="*/ 10 h 176"/>
                <a:gd name="T52" fmla="*/ 34 w 146"/>
                <a:gd name="T53" fmla="*/ 1 h 176"/>
                <a:gd name="T54" fmla="*/ 22 w 146"/>
                <a:gd name="T55" fmla="*/ 7 h 176"/>
                <a:gd name="T56" fmla="*/ 18 w 146"/>
                <a:gd name="T57" fmla="*/ 14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未知"/>
            <p:cNvSpPr>
              <a:spLocks/>
            </p:cNvSpPr>
            <p:nvPr/>
          </p:nvSpPr>
          <p:spPr bwMode="auto">
            <a:xfrm>
              <a:off x="1749" y="408"/>
              <a:ext cx="69" cy="68"/>
            </a:xfrm>
            <a:custGeom>
              <a:avLst/>
              <a:gdLst>
                <a:gd name="T0" fmla="*/ 44 w 92"/>
                <a:gd name="T1" fmla="*/ 4 h 92"/>
                <a:gd name="T2" fmla="*/ 62 w 92"/>
                <a:gd name="T3" fmla="*/ 6 h 92"/>
                <a:gd name="T4" fmla="*/ 69 w 92"/>
                <a:gd name="T5" fmla="*/ 19 h 92"/>
                <a:gd name="T6" fmla="*/ 59 w 92"/>
                <a:gd name="T7" fmla="*/ 35 h 92"/>
                <a:gd name="T8" fmla="*/ 35 w 92"/>
                <a:gd name="T9" fmla="*/ 56 h 92"/>
                <a:gd name="T10" fmla="*/ 14 w 92"/>
                <a:gd name="T11" fmla="*/ 68 h 92"/>
                <a:gd name="T12" fmla="*/ 6 w 92"/>
                <a:gd name="T13" fmla="*/ 53 h 92"/>
                <a:gd name="T14" fmla="*/ 15 w 92"/>
                <a:gd name="T15" fmla="*/ 47 h 92"/>
                <a:gd name="T16" fmla="*/ 11 w 92"/>
                <a:gd name="T17" fmla="*/ 34 h 92"/>
                <a:gd name="T18" fmla="*/ 30 w 92"/>
                <a:gd name="T19" fmla="*/ 21 h 92"/>
                <a:gd name="T20" fmla="*/ 44 w 92"/>
                <a:gd name="T21" fmla="*/ 4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未知"/>
            <p:cNvSpPr>
              <a:spLocks/>
            </p:cNvSpPr>
            <p:nvPr/>
          </p:nvSpPr>
          <p:spPr bwMode="auto">
            <a:xfrm>
              <a:off x="3435" y="1551"/>
              <a:ext cx="474" cy="495"/>
            </a:xfrm>
            <a:custGeom>
              <a:avLst/>
              <a:gdLst>
                <a:gd name="T0" fmla="*/ 159 w 633"/>
                <a:gd name="T1" fmla="*/ 8 h 660"/>
                <a:gd name="T2" fmla="*/ 132 w 633"/>
                <a:gd name="T3" fmla="*/ 14 h 660"/>
                <a:gd name="T4" fmla="*/ 108 w 633"/>
                <a:gd name="T5" fmla="*/ 38 h 660"/>
                <a:gd name="T6" fmla="*/ 78 w 633"/>
                <a:gd name="T7" fmla="*/ 44 h 660"/>
                <a:gd name="T8" fmla="*/ 63 w 633"/>
                <a:gd name="T9" fmla="*/ 56 h 660"/>
                <a:gd name="T10" fmla="*/ 51 w 633"/>
                <a:gd name="T11" fmla="*/ 86 h 660"/>
                <a:gd name="T12" fmla="*/ 27 w 633"/>
                <a:gd name="T13" fmla="*/ 125 h 660"/>
                <a:gd name="T14" fmla="*/ 0 w 633"/>
                <a:gd name="T15" fmla="*/ 134 h 660"/>
                <a:gd name="T16" fmla="*/ 54 w 633"/>
                <a:gd name="T17" fmla="*/ 242 h 660"/>
                <a:gd name="T18" fmla="*/ 90 w 633"/>
                <a:gd name="T19" fmla="*/ 320 h 660"/>
                <a:gd name="T20" fmla="*/ 108 w 633"/>
                <a:gd name="T21" fmla="*/ 332 h 660"/>
                <a:gd name="T22" fmla="*/ 126 w 633"/>
                <a:gd name="T23" fmla="*/ 338 h 660"/>
                <a:gd name="T24" fmla="*/ 171 w 633"/>
                <a:gd name="T25" fmla="*/ 323 h 660"/>
                <a:gd name="T26" fmla="*/ 189 w 633"/>
                <a:gd name="T27" fmla="*/ 317 h 660"/>
                <a:gd name="T28" fmla="*/ 225 w 633"/>
                <a:gd name="T29" fmla="*/ 338 h 660"/>
                <a:gd name="T30" fmla="*/ 243 w 633"/>
                <a:gd name="T31" fmla="*/ 395 h 660"/>
                <a:gd name="T32" fmla="*/ 252 w 633"/>
                <a:gd name="T33" fmla="*/ 392 h 660"/>
                <a:gd name="T34" fmla="*/ 258 w 633"/>
                <a:gd name="T35" fmla="*/ 383 h 660"/>
                <a:gd name="T36" fmla="*/ 276 w 633"/>
                <a:gd name="T37" fmla="*/ 410 h 660"/>
                <a:gd name="T38" fmla="*/ 303 w 633"/>
                <a:gd name="T39" fmla="*/ 428 h 660"/>
                <a:gd name="T40" fmla="*/ 326 w 633"/>
                <a:gd name="T41" fmla="*/ 452 h 660"/>
                <a:gd name="T42" fmla="*/ 332 w 633"/>
                <a:gd name="T43" fmla="*/ 461 h 660"/>
                <a:gd name="T44" fmla="*/ 341 w 633"/>
                <a:gd name="T45" fmla="*/ 467 h 660"/>
                <a:gd name="T46" fmla="*/ 362 w 633"/>
                <a:gd name="T47" fmla="*/ 491 h 660"/>
                <a:gd name="T48" fmla="*/ 368 w 633"/>
                <a:gd name="T49" fmla="*/ 473 h 660"/>
                <a:gd name="T50" fmla="*/ 404 w 633"/>
                <a:gd name="T51" fmla="*/ 494 h 660"/>
                <a:gd name="T52" fmla="*/ 440 w 633"/>
                <a:gd name="T53" fmla="*/ 491 h 660"/>
                <a:gd name="T54" fmla="*/ 461 w 633"/>
                <a:gd name="T55" fmla="*/ 398 h 660"/>
                <a:gd name="T56" fmla="*/ 473 w 633"/>
                <a:gd name="T57" fmla="*/ 347 h 660"/>
                <a:gd name="T58" fmla="*/ 464 w 633"/>
                <a:gd name="T59" fmla="*/ 275 h 660"/>
                <a:gd name="T60" fmla="*/ 401 w 633"/>
                <a:gd name="T61" fmla="*/ 203 h 660"/>
                <a:gd name="T62" fmla="*/ 395 w 633"/>
                <a:gd name="T63" fmla="*/ 176 h 660"/>
                <a:gd name="T64" fmla="*/ 344 w 633"/>
                <a:gd name="T65" fmla="*/ 134 h 660"/>
                <a:gd name="T66" fmla="*/ 353 w 633"/>
                <a:gd name="T67" fmla="*/ 116 h 660"/>
                <a:gd name="T68" fmla="*/ 341 w 633"/>
                <a:gd name="T69" fmla="*/ 98 h 660"/>
                <a:gd name="T70" fmla="*/ 312 w 633"/>
                <a:gd name="T71" fmla="*/ 59 h 660"/>
                <a:gd name="T72" fmla="*/ 294 w 633"/>
                <a:gd name="T73" fmla="*/ 23 h 660"/>
                <a:gd name="T74" fmla="*/ 291 w 633"/>
                <a:gd name="T75" fmla="*/ 14 h 660"/>
                <a:gd name="T76" fmla="*/ 273 w 633"/>
                <a:gd name="T77" fmla="*/ 113 h 660"/>
                <a:gd name="T78" fmla="*/ 243 w 633"/>
                <a:gd name="T79" fmla="*/ 86 h 660"/>
                <a:gd name="T80" fmla="*/ 219 w 633"/>
                <a:gd name="T81" fmla="*/ 83 h 660"/>
                <a:gd name="T82" fmla="*/ 204 w 633"/>
                <a:gd name="T83" fmla="*/ 65 h 660"/>
                <a:gd name="T84" fmla="*/ 198 w 633"/>
                <a:gd name="T85" fmla="*/ 47 h 660"/>
                <a:gd name="T86" fmla="*/ 207 w 633"/>
                <a:gd name="T87" fmla="*/ 41 h 660"/>
                <a:gd name="T88" fmla="*/ 180 w 633"/>
                <a:gd name="T89" fmla="*/ 14 h 660"/>
                <a:gd name="T90" fmla="*/ 162 w 633"/>
                <a:gd name="T91" fmla="*/ 8 h 660"/>
                <a:gd name="T92" fmla="*/ 153 w 633"/>
                <a:gd name="T93" fmla="*/ 5 h 660"/>
                <a:gd name="T94" fmla="*/ 159 w 633"/>
                <a:gd name="T95" fmla="*/ 8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未知"/>
            <p:cNvSpPr>
              <a:spLocks/>
            </p:cNvSpPr>
            <p:nvPr/>
          </p:nvSpPr>
          <p:spPr bwMode="auto">
            <a:xfrm>
              <a:off x="3582" y="1290"/>
              <a:ext cx="319" cy="210"/>
            </a:xfrm>
            <a:custGeom>
              <a:avLst/>
              <a:gdLst>
                <a:gd name="T0" fmla="*/ 63 w 426"/>
                <a:gd name="T1" fmla="*/ 45 h 280"/>
                <a:gd name="T2" fmla="*/ 51 w 426"/>
                <a:gd name="T3" fmla="*/ 27 h 280"/>
                <a:gd name="T4" fmla="*/ 48 w 426"/>
                <a:gd name="T5" fmla="*/ 12 h 280"/>
                <a:gd name="T6" fmla="*/ 39 w 426"/>
                <a:gd name="T7" fmla="*/ 9 h 280"/>
                <a:gd name="T8" fmla="*/ 12 w 426"/>
                <a:gd name="T9" fmla="*/ 12 h 280"/>
                <a:gd name="T10" fmla="*/ 33 w 426"/>
                <a:gd name="T11" fmla="*/ 30 h 280"/>
                <a:gd name="T12" fmla="*/ 36 w 426"/>
                <a:gd name="T13" fmla="*/ 39 h 280"/>
                <a:gd name="T14" fmla="*/ 18 w 426"/>
                <a:gd name="T15" fmla="*/ 51 h 280"/>
                <a:gd name="T16" fmla="*/ 66 w 426"/>
                <a:gd name="T17" fmla="*/ 69 h 280"/>
                <a:gd name="T18" fmla="*/ 93 w 426"/>
                <a:gd name="T19" fmla="*/ 84 h 280"/>
                <a:gd name="T20" fmla="*/ 96 w 426"/>
                <a:gd name="T21" fmla="*/ 93 h 280"/>
                <a:gd name="T22" fmla="*/ 105 w 426"/>
                <a:gd name="T23" fmla="*/ 99 h 280"/>
                <a:gd name="T24" fmla="*/ 111 w 426"/>
                <a:gd name="T25" fmla="*/ 117 h 280"/>
                <a:gd name="T26" fmla="*/ 99 w 426"/>
                <a:gd name="T27" fmla="*/ 147 h 280"/>
                <a:gd name="T28" fmla="*/ 135 w 426"/>
                <a:gd name="T29" fmla="*/ 141 h 280"/>
                <a:gd name="T30" fmla="*/ 144 w 426"/>
                <a:gd name="T31" fmla="*/ 162 h 280"/>
                <a:gd name="T32" fmla="*/ 162 w 426"/>
                <a:gd name="T33" fmla="*/ 168 h 280"/>
                <a:gd name="T34" fmla="*/ 171 w 426"/>
                <a:gd name="T35" fmla="*/ 171 h 280"/>
                <a:gd name="T36" fmla="*/ 189 w 426"/>
                <a:gd name="T37" fmla="*/ 168 h 280"/>
                <a:gd name="T38" fmla="*/ 207 w 426"/>
                <a:gd name="T39" fmla="*/ 147 h 280"/>
                <a:gd name="T40" fmla="*/ 252 w 426"/>
                <a:gd name="T41" fmla="*/ 189 h 280"/>
                <a:gd name="T42" fmla="*/ 273 w 426"/>
                <a:gd name="T43" fmla="*/ 210 h 280"/>
                <a:gd name="T44" fmla="*/ 270 w 426"/>
                <a:gd name="T45" fmla="*/ 168 h 280"/>
                <a:gd name="T46" fmla="*/ 252 w 426"/>
                <a:gd name="T47" fmla="*/ 150 h 280"/>
                <a:gd name="T48" fmla="*/ 279 w 426"/>
                <a:gd name="T49" fmla="*/ 126 h 280"/>
                <a:gd name="T50" fmla="*/ 306 w 426"/>
                <a:gd name="T51" fmla="*/ 117 h 280"/>
                <a:gd name="T52" fmla="*/ 315 w 426"/>
                <a:gd name="T53" fmla="*/ 114 h 280"/>
                <a:gd name="T54" fmla="*/ 318 w 426"/>
                <a:gd name="T55" fmla="*/ 105 h 280"/>
                <a:gd name="T56" fmla="*/ 267 w 426"/>
                <a:gd name="T57" fmla="*/ 111 h 280"/>
                <a:gd name="T58" fmla="*/ 228 w 426"/>
                <a:gd name="T59" fmla="*/ 105 h 280"/>
                <a:gd name="T60" fmla="*/ 225 w 426"/>
                <a:gd name="T61" fmla="*/ 96 h 280"/>
                <a:gd name="T62" fmla="*/ 219 w 426"/>
                <a:gd name="T63" fmla="*/ 87 h 280"/>
                <a:gd name="T64" fmla="*/ 165 w 426"/>
                <a:gd name="T65" fmla="*/ 60 h 280"/>
                <a:gd name="T66" fmla="*/ 120 w 426"/>
                <a:gd name="T67" fmla="*/ 45 h 280"/>
                <a:gd name="T68" fmla="*/ 102 w 426"/>
                <a:gd name="T69" fmla="*/ 39 h 280"/>
                <a:gd name="T70" fmla="*/ 60 w 426"/>
                <a:gd name="T71" fmla="*/ 39 h 280"/>
                <a:gd name="T72" fmla="*/ 51 w 426"/>
                <a:gd name="T73" fmla="*/ 24 h 280"/>
                <a:gd name="T74" fmla="*/ 5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未知"/>
            <p:cNvSpPr>
              <a:spLocks/>
            </p:cNvSpPr>
            <p:nvPr/>
          </p:nvSpPr>
          <p:spPr bwMode="auto">
            <a:xfrm>
              <a:off x="3591" y="1292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15 w 416"/>
                <a:gd name="T3" fmla="*/ 28 h 282"/>
                <a:gd name="T4" fmla="*/ 21 w 416"/>
                <a:gd name="T5" fmla="*/ 37 h 282"/>
                <a:gd name="T6" fmla="*/ 63 w 416"/>
                <a:gd name="T7" fmla="*/ 67 h 282"/>
                <a:gd name="T8" fmla="*/ 90 w 416"/>
                <a:gd name="T9" fmla="*/ 85 h 282"/>
                <a:gd name="T10" fmla="*/ 99 w 416"/>
                <a:gd name="T11" fmla="*/ 91 h 282"/>
                <a:gd name="T12" fmla="*/ 102 w 416"/>
                <a:gd name="T13" fmla="*/ 126 h 282"/>
                <a:gd name="T14" fmla="*/ 87 w 416"/>
                <a:gd name="T15" fmla="*/ 150 h 282"/>
                <a:gd name="T16" fmla="*/ 102 w 416"/>
                <a:gd name="T17" fmla="*/ 147 h 282"/>
                <a:gd name="T18" fmla="*/ 111 w 416"/>
                <a:gd name="T19" fmla="*/ 141 h 282"/>
                <a:gd name="T20" fmla="*/ 120 w 416"/>
                <a:gd name="T21" fmla="*/ 150 h 282"/>
                <a:gd name="T22" fmla="*/ 138 w 416"/>
                <a:gd name="T23" fmla="*/ 162 h 282"/>
                <a:gd name="T24" fmla="*/ 156 w 416"/>
                <a:gd name="T25" fmla="*/ 174 h 282"/>
                <a:gd name="T26" fmla="*/ 179 w 416"/>
                <a:gd name="T27" fmla="*/ 165 h 282"/>
                <a:gd name="T28" fmla="*/ 185 w 416"/>
                <a:gd name="T29" fmla="*/ 147 h 282"/>
                <a:gd name="T30" fmla="*/ 200 w 416"/>
                <a:gd name="T31" fmla="*/ 150 h 282"/>
                <a:gd name="T32" fmla="*/ 218 w 416"/>
                <a:gd name="T33" fmla="*/ 156 h 282"/>
                <a:gd name="T34" fmla="*/ 254 w 416"/>
                <a:gd name="T35" fmla="*/ 210 h 282"/>
                <a:gd name="T36" fmla="*/ 266 w 416"/>
                <a:gd name="T37" fmla="*/ 207 h 282"/>
                <a:gd name="T38" fmla="*/ 263 w 416"/>
                <a:gd name="T39" fmla="*/ 189 h 282"/>
                <a:gd name="T40" fmla="*/ 236 w 416"/>
                <a:gd name="T41" fmla="*/ 147 h 282"/>
                <a:gd name="T42" fmla="*/ 269 w 416"/>
                <a:gd name="T43" fmla="*/ 129 h 282"/>
                <a:gd name="T44" fmla="*/ 305 w 416"/>
                <a:gd name="T45" fmla="*/ 108 h 282"/>
                <a:gd name="T46" fmla="*/ 306 w 416"/>
                <a:gd name="T47" fmla="*/ 90 h 282"/>
                <a:gd name="T48" fmla="*/ 274 w 416"/>
                <a:gd name="T49" fmla="*/ 103 h 282"/>
                <a:gd name="T50" fmla="*/ 230 w 416"/>
                <a:gd name="T51" fmla="*/ 103 h 282"/>
                <a:gd name="T52" fmla="*/ 197 w 416"/>
                <a:gd name="T53" fmla="*/ 73 h 282"/>
                <a:gd name="T54" fmla="*/ 135 w 416"/>
                <a:gd name="T55" fmla="*/ 46 h 282"/>
                <a:gd name="T56" fmla="*/ 99 w 416"/>
                <a:gd name="T57" fmla="*/ 25 h 282"/>
                <a:gd name="T58" fmla="*/ 69 w 416"/>
                <a:gd name="T59" fmla="*/ 31 h 282"/>
                <a:gd name="T60" fmla="*/ 57 w 416"/>
                <a:gd name="T61" fmla="*/ 43 h 282"/>
                <a:gd name="T62" fmla="*/ 42 w 416"/>
                <a:gd name="T63" fmla="*/ 13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未知"/>
            <p:cNvSpPr>
              <a:spLocks/>
            </p:cNvSpPr>
            <p:nvPr/>
          </p:nvSpPr>
          <p:spPr bwMode="auto">
            <a:xfrm>
              <a:off x="3821" y="2062"/>
              <a:ext cx="45" cy="58"/>
            </a:xfrm>
            <a:custGeom>
              <a:avLst/>
              <a:gdLst>
                <a:gd name="T0" fmla="*/ 24 w 60"/>
                <a:gd name="T1" fmla="*/ 13 h 78"/>
                <a:gd name="T2" fmla="*/ 0 w 60"/>
                <a:gd name="T3" fmla="*/ 13 h 78"/>
                <a:gd name="T4" fmla="*/ 15 w 60"/>
                <a:gd name="T5" fmla="*/ 31 h 78"/>
                <a:gd name="T6" fmla="*/ 21 w 60"/>
                <a:gd name="T7" fmla="*/ 49 h 78"/>
                <a:gd name="T8" fmla="*/ 24 w 60"/>
                <a:gd name="T9" fmla="*/ 58 h 78"/>
                <a:gd name="T10" fmla="*/ 45 w 60"/>
                <a:gd name="T11" fmla="*/ 37 h 78"/>
                <a:gd name="T12" fmla="*/ 24 w 60"/>
                <a:gd name="T13" fmla="*/ 13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未知"/>
            <p:cNvSpPr>
              <a:spLocks/>
            </p:cNvSpPr>
            <p:nvPr/>
          </p:nvSpPr>
          <p:spPr bwMode="auto">
            <a:xfrm>
              <a:off x="3957" y="1972"/>
              <a:ext cx="164" cy="85"/>
            </a:xfrm>
            <a:custGeom>
              <a:avLst/>
              <a:gdLst>
                <a:gd name="T0" fmla="*/ 35 w 219"/>
                <a:gd name="T1" fmla="*/ 55 h 113"/>
                <a:gd name="T2" fmla="*/ 29 w 219"/>
                <a:gd name="T3" fmla="*/ 46 h 113"/>
                <a:gd name="T4" fmla="*/ 11 w 219"/>
                <a:gd name="T5" fmla="*/ 52 h 113"/>
                <a:gd name="T6" fmla="*/ 29 w 219"/>
                <a:gd name="T7" fmla="*/ 85 h 113"/>
                <a:gd name="T8" fmla="*/ 92 w 219"/>
                <a:gd name="T9" fmla="*/ 67 h 113"/>
                <a:gd name="T10" fmla="*/ 110 w 219"/>
                <a:gd name="T11" fmla="*/ 55 h 113"/>
                <a:gd name="T12" fmla="*/ 128 w 219"/>
                <a:gd name="T13" fmla="*/ 49 h 113"/>
                <a:gd name="T14" fmla="*/ 164 w 219"/>
                <a:gd name="T15" fmla="*/ 14 h 113"/>
                <a:gd name="T16" fmla="*/ 157 w 219"/>
                <a:gd name="T17" fmla="*/ 0 h 113"/>
                <a:gd name="T18" fmla="*/ 134 w 219"/>
                <a:gd name="T19" fmla="*/ 13 h 113"/>
                <a:gd name="T20" fmla="*/ 80 w 219"/>
                <a:gd name="T21" fmla="*/ 31 h 113"/>
                <a:gd name="T22" fmla="*/ 62 w 219"/>
                <a:gd name="T23" fmla="*/ 34 h 113"/>
                <a:gd name="T24" fmla="*/ 44 w 219"/>
                <a:gd name="T25" fmla="*/ 40 h 113"/>
                <a:gd name="T26" fmla="*/ 35 w 219"/>
                <a:gd name="T27" fmla="*/ 55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未知"/>
            <p:cNvSpPr>
              <a:spLocks/>
            </p:cNvSpPr>
            <p:nvPr/>
          </p:nvSpPr>
          <p:spPr bwMode="auto">
            <a:xfrm>
              <a:off x="4127" y="1922"/>
              <a:ext cx="104" cy="92"/>
            </a:xfrm>
            <a:custGeom>
              <a:avLst/>
              <a:gdLst>
                <a:gd name="T0" fmla="*/ 9 w 139"/>
                <a:gd name="T1" fmla="*/ 45 h 122"/>
                <a:gd name="T2" fmla="*/ 6 w 139"/>
                <a:gd name="T3" fmla="*/ 63 h 122"/>
                <a:gd name="T4" fmla="*/ 0 w 139"/>
                <a:gd name="T5" fmla="*/ 81 h 122"/>
                <a:gd name="T6" fmla="*/ 27 w 139"/>
                <a:gd name="T7" fmla="*/ 87 h 122"/>
                <a:gd name="T8" fmla="*/ 39 w 139"/>
                <a:gd name="T9" fmla="*/ 72 h 122"/>
                <a:gd name="T10" fmla="*/ 93 w 139"/>
                <a:gd name="T11" fmla="*/ 51 h 122"/>
                <a:gd name="T12" fmla="*/ 102 w 139"/>
                <a:gd name="T13" fmla="*/ 33 h 122"/>
                <a:gd name="T14" fmla="*/ 84 w 139"/>
                <a:gd name="T15" fmla="*/ 21 h 122"/>
                <a:gd name="T16" fmla="*/ 75 w 139"/>
                <a:gd name="T17" fmla="*/ 15 h 122"/>
                <a:gd name="T18" fmla="*/ 48 w 139"/>
                <a:gd name="T19" fmla="*/ 9 h 122"/>
                <a:gd name="T20" fmla="*/ 39 w 139"/>
                <a:gd name="T21" fmla="*/ 27 h 122"/>
                <a:gd name="T22" fmla="*/ 9 w 139"/>
                <a:gd name="T23" fmla="*/ 45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未知"/>
            <p:cNvSpPr>
              <a:spLocks/>
            </p:cNvSpPr>
            <p:nvPr/>
          </p:nvSpPr>
          <p:spPr bwMode="auto">
            <a:xfrm>
              <a:off x="4182" y="1881"/>
              <a:ext cx="37" cy="26"/>
            </a:xfrm>
            <a:custGeom>
              <a:avLst/>
              <a:gdLst>
                <a:gd name="T0" fmla="*/ 22 w 49"/>
                <a:gd name="T1" fmla="*/ 0 h 35"/>
                <a:gd name="T2" fmla="*/ 6 w 49"/>
                <a:gd name="T3" fmla="*/ 8 h 35"/>
                <a:gd name="T4" fmla="*/ 18 w 49"/>
                <a:gd name="T5" fmla="*/ 26 h 35"/>
                <a:gd name="T6" fmla="*/ 29 w 49"/>
                <a:gd name="T7" fmla="*/ 19 h 35"/>
                <a:gd name="T8" fmla="*/ 22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未知"/>
            <p:cNvSpPr>
              <a:spLocks/>
            </p:cNvSpPr>
            <p:nvPr/>
          </p:nvSpPr>
          <p:spPr bwMode="auto">
            <a:xfrm>
              <a:off x="2459" y="1395"/>
              <a:ext cx="123" cy="201"/>
            </a:xfrm>
            <a:custGeom>
              <a:avLst/>
              <a:gdLst>
                <a:gd name="T0" fmla="*/ 96 w 164"/>
                <a:gd name="T1" fmla="*/ 0 h 268"/>
                <a:gd name="T2" fmla="*/ 78 w 164"/>
                <a:gd name="T3" fmla="*/ 21 h 268"/>
                <a:gd name="T4" fmla="*/ 66 w 164"/>
                <a:gd name="T5" fmla="*/ 48 h 268"/>
                <a:gd name="T6" fmla="*/ 27 w 164"/>
                <a:gd name="T7" fmla="*/ 63 h 268"/>
                <a:gd name="T8" fmla="*/ 21 w 164"/>
                <a:gd name="T9" fmla="*/ 72 h 268"/>
                <a:gd name="T10" fmla="*/ 12 w 164"/>
                <a:gd name="T11" fmla="*/ 75 h 268"/>
                <a:gd name="T12" fmla="*/ 15 w 164"/>
                <a:gd name="T13" fmla="*/ 99 h 268"/>
                <a:gd name="T14" fmla="*/ 21 w 164"/>
                <a:gd name="T15" fmla="*/ 117 h 268"/>
                <a:gd name="T16" fmla="*/ 0 w 164"/>
                <a:gd name="T17" fmla="*/ 150 h 268"/>
                <a:gd name="T18" fmla="*/ 21 w 164"/>
                <a:gd name="T19" fmla="*/ 195 h 268"/>
                <a:gd name="T20" fmla="*/ 39 w 164"/>
                <a:gd name="T21" fmla="*/ 201 h 268"/>
                <a:gd name="T22" fmla="*/ 66 w 164"/>
                <a:gd name="T23" fmla="*/ 162 h 268"/>
                <a:gd name="T24" fmla="*/ 78 w 164"/>
                <a:gd name="T25" fmla="*/ 144 h 268"/>
                <a:gd name="T26" fmla="*/ 96 w 164"/>
                <a:gd name="T27" fmla="*/ 87 h 268"/>
                <a:gd name="T28" fmla="*/ 105 w 164"/>
                <a:gd name="T29" fmla="*/ 57 h 268"/>
                <a:gd name="T30" fmla="*/ 123 w 164"/>
                <a:gd name="T31" fmla="*/ 54 h 268"/>
                <a:gd name="T32" fmla="*/ 96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未知"/>
            <p:cNvSpPr>
              <a:spLocks/>
            </p:cNvSpPr>
            <p:nvPr/>
          </p:nvSpPr>
          <p:spPr bwMode="auto">
            <a:xfrm>
              <a:off x="2991" y="1083"/>
              <a:ext cx="49" cy="61"/>
            </a:xfrm>
            <a:custGeom>
              <a:avLst/>
              <a:gdLst>
                <a:gd name="T0" fmla="*/ 22 w 66"/>
                <a:gd name="T1" fmla="*/ 0 h 81"/>
                <a:gd name="T2" fmla="*/ 19 w 66"/>
                <a:gd name="T3" fmla="*/ 45 h 81"/>
                <a:gd name="T4" fmla="*/ 22 w 66"/>
                <a:gd name="T5" fmla="*/ 57 h 81"/>
                <a:gd name="T6" fmla="*/ 30 w 66"/>
                <a:gd name="T7" fmla="*/ 60 h 81"/>
                <a:gd name="T8" fmla="*/ 42 w 66"/>
                <a:gd name="T9" fmla="*/ 57 h 81"/>
                <a:gd name="T10" fmla="*/ 2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未知"/>
            <p:cNvSpPr>
              <a:spLocks/>
            </p:cNvSpPr>
            <p:nvPr/>
          </p:nvSpPr>
          <p:spPr bwMode="auto">
            <a:xfrm>
              <a:off x="3324" y="1149"/>
              <a:ext cx="111" cy="183"/>
            </a:xfrm>
            <a:custGeom>
              <a:avLst/>
              <a:gdLst>
                <a:gd name="T0" fmla="*/ 72 w 148"/>
                <a:gd name="T1" fmla="*/ 0 h 244"/>
                <a:gd name="T2" fmla="*/ 45 w 148"/>
                <a:gd name="T3" fmla="*/ 63 h 244"/>
                <a:gd name="T4" fmla="*/ 27 w 148"/>
                <a:gd name="T5" fmla="*/ 69 h 244"/>
                <a:gd name="T6" fmla="*/ 9 w 148"/>
                <a:gd name="T7" fmla="*/ 81 h 244"/>
                <a:gd name="T8" fmla="*/ 30 w 148"/>
                <a:gd name="T9" fmla="*/ 141 h 244"/>
                <a:gd name="T10" fmla="*/ 39 w 148"/>
                <a:gd name="T11" fmla="*/ 168 h 244"/>
                <a:gd name="T12" fmla="*/ 45 w 148"/>
                <a:gd name="T13" fmla="*/ 177 h 244"/>
                <a:gd name="T14" fmla="*/ 63 w 148"/>
                <a:gd name="T15" fmla="*/ 183 h 244"/>
                <a:gd name="T16" fmla="*/ 72 w 148"/>
                <a:gd name="T17" fmla="*/ 147 h 244"/>
                <a:gd name="T18" fmla="*/ 93 w 148"/>
                <a:gd name="T19" fmla="*/ 126 h 244"/>
                <a:gd name="T20" fmla="*/ 84 w 148"/>
                <a:gd name="T21" fmla="*/ 51 h 244"/>
                <a:gd name="T22" fmla="*/ 105 w 148"/>
                <a:gd name="T23" fmla="*/ 36 h 244"/>
                <a:gd name="T24" fmla="*/ 84 w 148"/>
                <a:gd name="T25" fmla="*/ 15 h 244"/>
                <a:gd name="T26" fmla="*/ 7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未知"/>
            <p:cNvSpPr>
              <a:spLocks/>
            </p:cNvSpPr>
            <p:nvPr/>
          </p:nvSpPr>
          <p:spPr bwMode="auto">
            <a:xfrm>
              <a:off x="3230" y="1092"/>
              <a:ext cx="72" cy="137"/>
            </a:xfrm>
            <a:custGeom>
              <a:avLst/>
              <a:gdLst>
                <a:gd name="T0" fmla="*/ 36 w 96"/>
                <a:gd name="T1" fmla="*/ 1 h 183"/>
                <a:gd name="T2" fmla="*/ 38 w 96"/>
                <a:gd name="T3" fmla="*/ 26 h 183"/>
                <a:gd name="T4" fmla="*/ 45 w 96"/>
                <a:gd name="T5" fmla="*/ 46 h 183"/>
                <a:gd name="T6" fmla="*/ 47 w 96"/>
                <a:gd name="T7" fmla="*/ 69 h 183"/>
                <a:gd name="T8" fmla="*/ 51 w 96"/>
                <a:gd name="T9" fmla="*/ 79 h 183"/>
                <a:gd name="T10" fmla="*/ 53 w 96"/>
                <a:gd name="T11" fmla="*/ 94 h 183"/>
                <a:gd name="T12" fmla="*/ 43 w 96"/>
                <a:gd name="T13" fmla="*/ 70 h 183"/>
                <a:gd name="T14" fmla="*/ 26 w 96"/>
                <a:gd name="T15" fmla="*/ 58 h 183"/>
                <a:gd name="T16" fmla="*/ 4 w 96"/>
                <a:gd name="T17" fmla="*/ 62 h 183"/>
                <a:gd name="T18" fmla="*/ 6 w 96"/>
                <a:gd name="T19" fmla="*/ 76 h 183"/>
                <a:gd name="T20" fmla="*/ 31 w 96"/>
                <a:gd name="T21" fmla="*/ 85 h 183"/>
                <a:gd name="T22" fmla="*/ 43 w 96"/>
                <a:gd name="T23" fmla="*/ 101 h 183"/>
                <a:gd name="T24" fmla="*/ 53 w 96"/>
                <a:gd name="T25" fmla="*/ 101 h 183"/>
                <a:gd name="T26" fmla="*/ 59 w 96"/>
                <a:gd name="T27" fmla="*/ 112 h 183"/>
                <a:gd name="T28" fmla="*/ 72 w 96"/>
                <a:gd name="T29" fmla="*/ 134 h 183"/>
                <a:gd name="T30" fmla="*/ 61 w 96"/>
                <a:gd name="T31" fmla="*/ 94 h 183"/>
                <a:gd name="T32" fmla="*/ 60 w 96"/>
                <a:gd name="T33" fmla="*/ 70 h 183"/>
                <a:gd name="T34" fmla="*/ 53 w 96"/>
                <a:gd name="T35" fmla="*/ 47 h 183"/>
                <a:gd name="T36" fmla="*/ 47 w 96"/>
                <a:gd name="T37" fmla="*/ 31 h 183"/>
                <a:gd name="T38" fmla="*/ 43 w 96"/>
                <a:gd name="T39" fmla="*/ 15 h 183"/>
                <a:gd name="T40" fmla="*/ 36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未知"/>
            <p:cNvSpPr>
              <a:spLocks/>
            </p:cNvSpPr>
            <p:nvPr/>
          </p:nvSpPr>
          <p:spPr bwMode="auto">
            <a:xfrm>
              <a:off x="3279" y="1202"/>
              <a:ext cx="40" cy="131"/>
            </a:xfrm>
            <a:custGeom>
              <a:avLst/>
              <a:gdLst>
                <a:gd name="T0" fmla="*/ 4 w 54"/>
                <a:gd name="T1" fmla="*/ 0 h 175"/>
                <a:gd name="T2" fmla="*/ 0 w 54"/>
                <a:gd name="T3" fmla="*/ 19 h 175"/>
                <a:gd name="T4" fmla="*/ 7 w 54"/>
                <a:gd name="T5" fmla="*/ 40 h 175"/>
                <a:gd name="T6" fmla="*/ 13 w 54"/>
                <a:gd name="T7" fmla="*/ 70 h 175"/>
                <a:gd name="T8" fmla="*/ 25 w 54"/>
                <a:gd name="T9" fmla="*/ 97 h 175"/>
                <a:gd name="T10" fmla="*/ 40 w 54"/>
                <a:gd name="T11" fmla="*/ 131 h 175"/>
                <a:gd name="T12" fmla="*/ 30 w 54"/>
                <a:gd name="T13" fmla="*/ 86 h 175"/>
                <a:gd name="T14" fmla="*/ 25 w 54"/>
                <a:gd name="T15" fmla="*/ 70 h 175"/>
                <a:gd name="T16" fmla="*/ 21 w 54"/>
                <a:gd name="T17" fmla="*/ 46 h 175"/>
                <a:gd name="T18" fmla="*/ 19 w 54"/>
                <a:gd name="T19" fmla="*/ 34 h 175"/>
                <a:gd name="T20" fmla="*/ 12 w 54"/>
                <a:gd name="T21" fmla="*/ 28 h 175"/>
                <a:gd name="T22" fmla="*/ 4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未知"/>
            <p:cNvSpPr>
              <a:spLocks/>
            </p:cNvSpPr>
            <p:nvPr/>
          </p:nvSpPr>
          <p:spPr bwMode="auto">
            <a:xfrm>
              <a:off x="3324" y="1339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6 w 86"/>
                <a:gd name="T3" fmla="*/ 25 h 73"/>
                <a:gd name="T4" fmla="*/ 17 w 86"/>
                <a:gd name="T5" fmla="*/ 32 h 73"/>
                <a:gd name="T6" fmla="*/ 36 w 86"/>
                <a:gd name="T7" fmla="*/ 36 h 73"/>
                <a:gd name="T8" fmla="*/ 47 w 86"/>
                <a:gd name="T9" fmla="*/ 42 h 73"/>
                <a:gd name="T10" fmla="*/ 56 w 86"/>
                <a:gd name="T11" fmla="*/ 49 h 73"/>
                <a:gd name="T12" fmla="*/ 65 w 86"/>
                <a:gd name="T13" fmla="*/ 51 h 73"/>
                <a:gd name="T14" fmla="*/ 54 w 86"/>
                <a:gd name="T15" fmla="*/ 29 h 73"/>
                <a:gd name="T16" fmla="*/ 48 w 86"/>
                <a:gd name="T17" fmla="*/ 16 h 73"/>
                <a:gd name="T18" fmla="*/ 27 w 86"/>
                <a:gd name="T19" fmla="*/ 18 h 73"/>
                <a:gd name="T20" fmla="*/ 18 w 86"/>
                <a:gd name="T21" fmla="*/ 14 h 73"/>
                <a:gd name="T22" fmla="*/ 5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未知"/>
            <p:cNvSpPr>
              <a:spLocks/>
            </p:cNvSpPr>
            <p:nvPr/>
          </p:nvSpPr>
          <p:spPr bwMode="auto">
            <a:xfrm>
              <a:off x="3428" y="1244"/>
              <a:ext cx="83" cy="117"/>
            </a:xfrm>
            <a:custGeom>
              <a:avLst/>
              <a:gdLst>
                <a:gd name="T0" fmla="*/ 73 w 111"/>
                <a:gd name="T1" fmla="*/ 0 h 156"/>
                <a:gd name="T2" fmla="*/ 56 w 111"/>
                <a:gd name="T3" fmla="*/ 8 h 156"/>
                <a:gd name="T4" fmla="*/ 17 w 111"/>
                <a:gd name="T5" fmla="*/ 11 h 156"/>
                <a:gd name="T6" fmla="*/ 10 w 111"/>
                <a:gd name="T7" fmla="*/ 25 h 156"/>
                <a:gd name="T8" fmla="*/ 8 w 111"/>
                <a:gd name="T9" fmla="*/ 46 h 156"/>
                <a:gd name="T10" fmla="*/ 10 w 111"/>
                <a:gd name="T11" fmla="*/ 56 h 156"/>
                <a:gd name="T12" fmla="*/ 2 w 111"/>
                <a:gd name="T13" fmla="*/ 66 h 156"/>
                <a:gd name="T14" fmla="*/ 10 w 111"/>
                <a:gd name="T15" fmla="*/ 82 h 156"/>
                <a:gd name="T16" fmla="*/ 17 w 111"/>
                <a:gd name="T17" fmla="*/ 93 h 156"/>
                <a:gd name="T18" fmla="*/ 11 w 111"/>
                <a:gd name="T19" fmla="*/ 108 h 156"/>
                <a:gd name="T20" fmla="*/ 18 w 111"/>
                <a:gd name="T21" fmla="*/ 117 h 156"/>
                <a:gd name="T22" fmla="*/ 31 w 111"/>
                <a:gd name="T23" fmla="*/ 108 h 156"/>
                <a:gd name="T24" fmla="*/ 37 w 111"/>
                <a:gd name="T25" fmla="*/ 70 h 156"/>
                <a:gd name="T26" fmla="*/ 42 w 111"/>
                <a:gd name="T27" fmla="*/ 95 h 156"/>
                <a:gd name="T28" fmla="*/ 49 w 111"/>
                <a:gd name="T29" fmla="*/ 109 h 156"/>
                <a:gd name="T30" fmla="*/ 46 w 111"/>
                <a:gd name="T31" fmla="*/ 84 h 156"/>
                <a:gd name="T32" fmla="*/ 54 w 111"/>
                <a:gd name="T33" fmla="*/ 55 h 156"/>
                <a:gd name="T34" fmla="*/ 52 w 111"/>
                <a:gd name="T35" fmla="*/ 38 h 156"/>
                <a:gd name="T36" fmla="*/ 40 w 111"/>
                <a:gd name="T37" fmla="*/ 45 h 156"/>
                <a:gd name="T38" fmla="*/ 26 w 111"/>
                <a:gd name="T39" fmla="*/ 41 h 156"/>
                <a:gd name="T40" fmla="*/ 31 w 111"/>
                <a:gd name="T41" fmla="*/ 27 h 156"/>
                <a:gd name="T42" fmla="*/ 46 w 111"/>
                <a:gd name="T43" fmla="*/ 26 h 156"/>
                <a:gd name="T44" fmla="*/ 58 w 111"/>
                <a:gd name="T45" fmla="*/ 29 h 156"/>
                <a:gd name="T46" fmla="*/ 73 w 111"/>
                <a:gd name="T47" fmla="*/ 23 h 156"/>
                <a:gd name="T48" fmla="*/ 83 w 111"/>
                <a:gd name="T49" fmla="*/ 10 h 156"/>
                <a:gd name="T50" fmla="*/ 73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未知"/>
            <p:cNvSpPr>
              <a:spLocks/>
            </p:cNvSpPr>
            <p:nvPr/>
          </p:nvSpPr>
          <p:spPr bwMode="auto">
            <a:xfrm>
              <a:off x="3400" y="826"/>
              <a:ext cx="22" cy="71"/>
            </a:xfrm>
            <a:custGeom>
              <a:avLst/>
              <a:gdLst>
                <a:gd name="T0" fmla="*/ 9 w 30"/>
                <a:gd name="T1" fmla="*/ 0 h 94"/>
                <a:gd name="T2" fmla="*/ 0 w 30"/>
                <a:gd name="T3" fmla="*/ 12 h 94"/>
                <a:gd name="T4" fmla="*/ 4 w 30"/>
                <a:gd name="T5" fmla="*/ 28 h 94"/>
                <a:gd name="T6" fmla="*/ 1 w 30"/>
                <a:gd name="T7" fmla="*/ 46 h 94"/>
                <a:gd name="T8" fmla="*/ 12 w 30"/>
                <a:gd name="T9" fmla="*/ 71 h 94"/>
                <a:gd name="T10" fmla="*/ 22 w 30"/>
                <a:gd name="T11" fmla="*/ 62 h 94"/>
                <a:gd name="T12" fmla="*/ 16 w 30"/>
                <a:gd name="T13" fmla="*/ 46 h 94"/>
                <a:gd name="T14" fmla="*/ 9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未知"/>
            <p:cNvSpPr>
              <a:spLocks/>
            </p:cNvSpPr>
            <p:nvPr/>
          </p:nvSpPr>
          <p:spPr bwMode="auto">
            <a:xfrm>
              <a:off x="3414" y="945"/>
              <a:ext cx="61" cy="118"/>
            </a:xfrm>
            <a:custGeom>
              <a:avLst/>
              <a:gdLst>
                <a:gd name="T0" fmla="*/ 9 w 81"/>
                <a:gd name="T1" fmla="*/ 1 h 158"/>
                <a:gd name="T2" fmla="*/ 0 w 81"/>
                <a:gd name="T3" fmla="*/ 15 h 158"/>
                <a:gd name="T4" fmla="*/ 6 w 81"/>
                <a:gd name="T5" fmla="*/ 37 h 158"/>
                <a:gd name="T6" fmla="*/ 5 w 81"/>
                <a:gd name="T7" fmla="*/ 80 h 158"/>
                <a:gd name="T8" fmla="*/ 13 w 81"/>
                <a:gd name="T9" fmla="*/ 77 h 158"/>
                <a:gd name="T10" fmla="*/ 15 w 81"/>
                <a:gd name="T11" fmla="*/ 86 h 158"/>
                <a:gd name="T12" fmla="*/ 22 w 81"/>
                <a:gd name="T13" fmla="*/ 91 h 158"/>
                <a:gd name="T14" fmla="*/ 29 w 81"/>
                <a:gd name="T15" fmla="*/ 105 h 158"/>
                <a:gd name="T16" fmla="*/ 36 w 81"/>
                <a:gd name="T17" fmla="*/ 96 h 158"/>
                <a:gd name="T18" fmla="*/ 49 w 81"/>
                <a:gd name="T19" fmla="*/ 100 h 158"/>
                <a:gd name="T20" fmla="*/ 47 w 81"/>
                <a:gd name="T21" fmla="*/ 81 h 158"/>
                <a:gd name="T22" fmla="*/ 36 w 81"/>
                <a:gd name="T23" fmla="*/ 78 h 158"/>
                <a:gd name="T24" fmla="*/ 29 w 81"/>
                <a:gd name="T25" fmla="*/ 68 h 158"/>
                <a:gd name="T26" fmla="*/ 25 w 81"/>
                <a:gd name="T27" fmla="*/ 55 h 158"/>
                <a:gd name="T28" fmla="*/ 31 w 81"/>
                <a:gd name="T29" fmla="*/ 40 h 158"/>
                <a:gd name="T30" fmla="*/ 26 w 81"/>
                <a:gd name="T31" fmla="*/ 26 h 158"/>
                <a:gd name="T32" fmla="*/ 32 w 81"/>
                <a:gd name="T33" fmla="*/ 15 h 158"/>
                <a:gd name="T34" fmla="*/ 22 w 81"/>
                <a:gd name="T35" fmla="*/ 3 h 158"/>
                <a:gd name="T36" fmla="*/ 14 w 81"/>
                <a:gd name="T37" fmla="*/ 5 h 158"/>
                <a:gd name="T38" fmla="*/ 9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未知"/>
            <p:cNvSpPr>
              <a:spLocks/>
            </p:cNvSpPr>
            <p:nvPr/>
          </p:nvSpPr>
          <p:spPr bwMode="auto">
            <a:xfrm>
              <a:off x="3457" y="1101"/>
              <a:ext cx="64" cy="79"/>
            </a:xfrm>
            <a:custGeom>
              <a:avLst/>
              <a:gdLst>
                <a:gd name="T0" fmla="*/ 39 w 85"/>
                <a:gd name="T1" fmla="*/ 0 h 105"/>
                <a:gd name="T2" fmla="*/ 33 w 85"/>
                <a:gd name="T3" fmla="*/ 14 h 105"/>
                <a:gd name="T4" fmla="*/ 24 w 85"/>
                <a:gd name="T5" fmla="*/ 23 h 105"/>
                <a:gd name="T6" fmla="*/ 12 w 85"/>
                <a:gd name="T7" fmla="*/ 26 h 105"/>
                <a:gd name="T8" fmla="*/ 6 w 85"/>
                <a:gd name="T9" fmla="*/ 36 h 105"/>
                <a:gd name="T10" fmla="*/ 3 w 85"/>
                <a:gd name="T11" fmla="*/ 56 h 105"/>
                <a:gd name="T12" fmla="*/ 10 w 85"/>
                <a:gd name="T13" fmla="*/ 53 h 105"/>
                <a:gd name="T14" fmla="*/ 19 w 85"/>
                <a:gd name="T15" fmla="*/ 47 h 105"/>
                <a:gd name="T16" fmla="*/ 26 w 85"/>
                <a:gd name="T17" fmla="*/ 52 h 105"/>
                <a:gd name="T18" fmla="*/ 44 w 85"/>
                <a:gd name="T19" fmla="*/ 74 h 105"/>
                <a:gd name="T20" fmla="*/ 53 w 85"/>
                <a:gd name="T21" fmla="*/ 54 h 105"/>
                <a:gd name="T22" fmla="*/ 64 w 85"/>
                <a:gd name="T23" fmla="*/ 51 h 105"/>
                <a:gd name="T24" fmla="*/ 56 w 85"/>
                <a:gd name="T25" fmla="*/ 29 h 105"/>
                <a:gd name="T26" fmla="*/ 39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未知"/>
            <p:cNvSpPr>
              <a:spLocks/>
            </p:cNvSpPr>
            <p:nvPr/>
          </p:nvSpPr>
          <p:spPr bwMode="auto">
            <a:xfrm>
              <a:off x="3533" y="1242"/>
              <a:ext cx="29" cy="49"/>
            </a:xfrm>
            <a:custGeom>
              <a:avLst/>
              <a:gdLst>
                <a:gd name="T0" fmla="*/ 5 w 38"/>
                <a:gd name="T1" fmla="*/ 20 h 66"/>
                <a:gd name="T2" fmla="*/ 20 w 38"/>
                <a:gd name="T3" fmla="*/ 49 h 66"/>
                <a:gd name="T4" fmla="*/ 23 w 38"/>
                <a:gd name="T5" fmla="*/ 39 h 66"/>
                <a:gd name="T6" fmla="*/ 29 w 38"/>
                <a:gd name="T7" fmla="*/ 30 h 66"/>
                <a:gd name="T8" fmla="*/ 23 w 38"/>
                <a:gd name="T9" fmla="*/ 19 h 66"/>
                <a:gd name="T10" fmla="*/ 15 w 38"/>
                <a:gd name="T11" fmla="*/ 10 h 66"/>
                <a:gd name="T12" fmla="*/ 8 w 38"/>
                <a:gd name="T13" fmla="*/ 1 h 66"/>
                <a:gd name="T14" fmla="*/ 2 w 38"/>
                <a:gd name="T15" fmla="*/ 9 h 66"/>
                <a:gd name="T16" fmla="*/ 5 w 38"/>
                <a:gd name="T17" fmla="*/ 20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未知"/>
            <p:cNvSpPr>
              <a:spLocks/>
            </p:cNvSpPr>
            <p:nvPr/>
          </p:nvSpPr>
          <p:spPr bwMode="auto">
            <a:xfrm>
              <a:off x="3517" y="1324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5 w 24"/>
                <a:gd name="T3" fmla="*/ 17 h 23"/>
                <a:gd name="T4" fmla="*/ 18 w 24"/>
                <a:gd name="T5" fmla="*/ 8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未知"/>
            <p:cNvSpPr>
              <a:spLocks/>
            </p:cNvSpPr>
            <p:nvPr/>
          </p:nvSpPr>
          <p:spPr bwMode="auto">
            <a:xfrm>
              <a:off x="3544" y="1314"/>
              <a:ext cx="45" cy="37"/>
            </a:xfrm>
            <a:custGeom>
              <a:avLst/>
              <a:gdLst>
                <a:gd name="T0" fmla="*/ 7 w 60"/>
                <a:gd name="T1" fmla="*/ 0 h 49"/>
                <a:gd name="T2" fmla="*/ 0 w 60"/>
                <a:gd name="T3" fmla="*/ 14 h 49"/>
                <a:gd name="T4" fmla="*/ 21 w 60"/>
                <a:gd name="T5" fmla="*/ 25 h 49"/>
                <a:gd name="T6" fmla="*/ 32 w 60"/>
                <a:gd name="T7" fmla="*/ 35 h 49"/>
                <a:gd name="T8" fmla="*/ 45 w 60"/>
                <a:gd name="T9" fmla="*/ 32 h 49"/>
                <a:gd name="T10" fmla="*/ 37 w 60"/>
                <a:gd name="T11" fmla="*/ 18 h 49"/>
                <a:gd name="T12" fmla="*/ 21 w 60"/>
                <a:gd name="T13" fmla="*/ 2 h 49"/>
                <a:gd name="T14" fmla="*/ 14 w 60"/>
                <a:gd name="T15" fmla="*/ 12 h 49"/>
                <a:gd name="T16" fmla="*/ 7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未知"/>
            <p:cNvSpPr>
              <a:spLocks/>
            </p:cNvSpPr>
            <p:nvPr/>
          </p:nvSpPr>
          <p:spPr bwMode="auto">
            <a:xfrm>
              <a:off x="3613" y="1384"/>
              <a:ext cx="24" cy="33"/>
            </a:xfrm>
            <a:custGeom>
              <a:avLst/>
              <a:gdLst>
                <a:gd name="T0" fmla="*/ 21 w 32"/>
                <a:gd name="T1" fmla="*/ 0 h 44"/>
                <a:gd name="T2" fmla="*/ 8 w 32"/>
                <a:gd name="T3" fmla="*/ 8 h 44"/>
                <a:gd name="T4" fmla="*/ 9 w 32"/>
                <a:gd name="T5" fmla="*/ 24 h 44"/>
                <a:gd name="T6" fmla="*/ 18 w 32"/>
                <a:gd name="T7" fmla="*/ 27 h 44"/>
                <a:gd name="T8" fmla="*/ 21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未知"/>
            <p:cNvSpPr>
              <a:spLocks/>
            </p:cNvSpPr>
            <p:nvPr/>
          </p:nvSpPr>
          <p:spPr bwMode="auto">
            <a:xfrm>
              <a:off x="3880" y="1342"/>
              <a:ext cx="46" cy="47"/>
            </a:xfrm>
            <a:custGeom>
              <a:avLst/>
              <a:gdLst>
                <a:gd name="T0" fmla="*/ 5 w 61"/>
                <a:gd name="T1" fmla="*/ 0 h 63"/>
                <a:gd name="T2" fmla="*/ 0 w 61"/>
                <a:gd name="T3" fmla="*/ 10 h 63"/>
                <a:gd name="T4" fmla="*/ 18 w 61"/>
                <a:gd name="T5" fmla="*/ 26 h 63"/>
                <a:gd name="T6" fmla="*/ 27 w 61"/>
                <a:gd name="T7" fmla="*/ 40 h 63"/>
                <a:gd name="T8" fmla="*/ 35 w 61"/>
                <a:gd name="T9" fmla="*/ 47 h 63"/>
                <a:gd name="T10" fmla="*/ 46 w 61"/>
                <a:gd name="T11" fmla="*/ 42 h 63"/>
                <a:gd name="T12" fmla="*/ 25 w 61"/>
                <a:gd name="T13" fmla="*/ 13 h 63"/>
                <a:gd name="T14" fmla="*/ 5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未知"/>
            <p:cNvSpPr>
              <a:spLocks/>
            </p:cNvSpPr>
            <p:nvPr/>
          </p:nvSpPr>
          <p:spPr bwMode="auto">
            <a:xfrm>
              <a:off x="3483" y="1401"/>
              <a:ext cx="46" cy="50"/>
            </a:xfrm>
            <a:custGeom>
              <a:avLst/>
              <a:gdLst>
                <a:gd name="T0" fmla="*/ 21 w 61"/>
                <a:gd name="T1" fmla="*/ 5 h 67"/>
                <a:gd name="T2" fmla="*/ 23 w 61"/>
                <a:gd name="T3" fmla="*/ 25 h 67"/>
                <a:gd name="T4" fmla="*/ 12 w 61"/>
                <a:gd name="T5" fmla="*/ 32 h 67"/>
                <a:gd name="T6" fmla="*/ 17 w 61"/>
                <a:gd name="T7" fmla="*/ 50 h 67"/>
                <a:gd name="T8" fmla="*/ 36 w 61"/>
                <a:gd name="T9" fmla="*/ 43 h 67"/>
                <a:gd name="T10" fmla="*/ 45 w 61"/>
                <a:gd name="T11" fmla="*/ 35 h 67"/>
                <a:gd name="T12" fmla="*/ 38 w 61"/>
                <a:gd name="T13" fmla="*/ 21 h 67"/>
                <a:gd name="T14" fmla="*/ 43 w 61"/>
                <a:gd name="T15" fmla="*/ 10 h 67"/>
                <a:gd name="T16" fmla="*/ 41 w 61"/>
                <a:gd name="T17" fmla="*/ 1 h 67"/>
                <a:gd name="T18" fmla="*/ 35 w 61"/>
                <a:gd name="T19" fmla="*/ 3 h 67"/>
                <a:gd name="T20" fmla="*/ 38 w 61"/>
                <a:gd name="T21" fmla="*/ 4 h 67"/>
                <a:gd name="T22" fmla="*/ 37 w 61"/>
                <a:gd name="T23" fmla="*/ 12 h 67"/>
                <a:gd name="T24" fmla="*/ 32 w 61"/>
                <a:gd name="T25" fmla="*/ 17 h 67"/>
                <a:gd name="T26" fmla="*/ 21 w 61"/>
                <a:gd name="T27" fmla="*/ 5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未知"/>
            <p:cNvSpPr>
              <a:spLocks/>
            </p:cNvSpPr>
            <p:nvPr/>
          </p:nvSpPr>
          <p:spPr bwMode="auto">
            <a:xfrm>
              <a:off x="3434" y="1420"/>
              <a:ext cx="32" cy="27"/>
            </a:xfrm>
            <a:custGeom>
              <a:avLst/>
              <a:gdLst>
                <a:gd name="T0" fmla="*/ 16 w 43"/>
                <a:gd name="T1" fmla="*/ 2 h 36"/>
                <a:gd name="T2" fmla="*/ 4 w 43"/>
                <a:gd name="T3" fmla="*/ 5 h 36"/>
                <a:gd name="T4" fmla="*/ 25 w 43"/>
                <a:gd name="T5" fmla="*/ 27 h 36"/>
                <a:gd name="T6" fmla="*/ 31 w 43"/>
                <a:gd name="T7" fmla="*/ 23 h 36"/>
                <a:gd name="T8" fmla="*/ 16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未知"/>
            <p:cNvSpPr>
              <a:spLocks/>
            </p:cNvSpPr>
            <p:nvPr/>
          </p:nvSpPr>
          <p:spPr bwMode="auto">
            <a:xfrm>
              <a:off x="3413" y="1391"/>
              <a:ext cx="24" cy="31"/>
            </a:xfrm>
            <a:custGeom>
              <a:avLst/>
              <a:gdLst>
                <a:gd name="T0" fmla="*/ 16 w 32"/>
                <a:gd name="T1" fmla="*/ 0 h 41"/>
                <a:gd name="T2" fmla="*/ 0 w 32"/>
                <a:gd name="T3" fmla="*/ 20 h 41"/>
                <a:gd name="T4" fmla="*/ 12 w 32"/>
                <a:gd name="T5" fmla="*/ 18 h 41"/>
                <a:gd name="T6" fmla="*/ 14 w 32"/>
                <a:gd name="T7" fmla="*/ 22 h 41"/>
                <a:gd name="T8" fmla="*/ 12 w 32"/>
                <a:gd name="T9" fmla="*/ 26 h 41"/>
                <a:gd name="T10" fmla="*/ 23 w 32"/>
                <a:gd name="T11" fmla="*/ 16 h 41"/>
                <a:gd name="T12" fmla="*/ 18 w 32"/>
                <a:gd name="T13" fmla="*/ 7 h 41"/>
                <a:gd name="T14" fmla="*/ 16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未知"/>
            <p:cNvSpPr>
              <a:spLocks/>
            </p:cNvSpPr>
            <p:nvPr/>
          </p:nvSpPr>
          <p:spPr bwMode="auto">
            <a:xfrm>
              <a:off x="3447" y="1402"/>
              <a:ext cx="34" cy="24"/>
            </a:xfrm>
            <a:custGeom>
              <a:avLst/>
              <a:gdLst>
                <a:gd name="T0" fmla="*/ 16 w 45"/>
                <a:gd name="T1" fmla="*/ 0 h 32"/>
                <a:gd name="T2" fmla="*/ 0 w 45"/>
                <a:gd name="T3" fmla="*/ 5 h 32"/>
                <a:gd name="T4" fmla="*/ 20 w 45"/>
                <a:gd name="T5" fmla="*/ 23 h 32"/>
                <a:gd name="T6" fmla="*/ 34 w 45"/>
                <a:gd name="T7" fmla="*/ 18 h 32"/>
                <a:gd name="T8" fmla="*/ 17 w 45"/>
                <a:gd name="T9" fmla="*/ 8 h 32"/>
                <a:gd name="T10" fmla="*/ 16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未知"/>
            <p:cNvSpPr>
              <a:spLocks/>
            </p:cNvSpPr>
            <p:nvPr/>
          </p:nvSpPr>
          <p:spPr bwMode="auto">
            <a:xfrm>
              <a:off x="3398" y="1070"/>
              <a:ext cx="27" cy="55"/>
            </a:xfrm>
            <a:custGeom>
              <a:avLst/>
              <a:gdLst>
                <a:gd name="T0" fmla="*/ 23 w 35"/>
                <a:gd name="T1" fmla="*/ 0 h 74"/>
                <a:gd name="T2" fmla="*/ 16 w 35"/>
                <a:gd name="T3" fmla="*/ 11 h 74"/>
                <a:gd name="T4" fmla="*/ 7 w 35"/>
                <a:gd name="T5" fmla="*/ 27 h 74"/>
                <a:gd name="T6" fmla="*/ 0 w 35"/>
                <a:gd name="T7" fmla="*/ 44 h 74"/>
                <a:gd name="T8" fmla="*/ 6 w 35"/>
                <a:gd name="T9" fmla="*/ 55 h 74"/>
                <a:gd name="T10" fmla="*/ 15 w 35"/>
                <a:gd name="T11" fmla="*/ 44 h 74"/>
                <a:gd name="T12" fmla="*/ 27 w 35"/>
                <a:gd name="T13" fmla="*/ 24 h 74"/>
                <a:gd name="T14" fmla="*/ 23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未知"/>
            <p:cNvSpPr>
              <a:spLocks/>
            </p:cNvSpPr>
            <p:nvPr/>
          </p:nvSpPr>
          <p:spPr bwMode="auto">
            <a:xfrm>
              <a:off x="3449" y="1061"/>
              <a:ext cx="19" cy="55"/>
            </a:xfrm>
            <a:custGeom>
              <a:avLst/>
              <a:gdLst>
                <a:gd name="T0" fmla="*/ 10 w 25"/>
                <a:gd name="T1" fmla="*/ 5 h 73"/>
                <a:gd name="T2" fmla="*/ 3 w 25"/>
                <a:gd name="T3" fmla="*/ 6 h 73"/>
                <a:gd name="T4" fmla="*/ 0 w 25"/>
                <a:gd name="T5" fmla="*/ 17 h 73"/>
                <a:gd name="T6" fmla="*/ 11 w 25"/>
                <a:gd name="T7" fmla="*/ 31 h 73"/>
                <a:gd name="T8" fmla="*/ 19 w 25"/>
                <a:gd name="T9" fmla="*/ 42 h 73"/>
                <a:gd name="T10" fmla="*/ 12 w 25"/>
                <a:gd name="T11" fmla="*/ 15 h 73"/>
                <a:gd name="T12" fmla="*/ 10 w 25"/>
                <a:gd name="T13" fmla="*/ 5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未知"/>
            <p:cNvSpPr>
              <a:spLocks/>
            </p:cNvSpPr>
            <p:nvPr/>
          </p:nvSpPr>
          <p:spPr bwMode="auto">
            <a:xfrm>
              <a:off x="3471" y="1044"/>
              <a:ext cx="10" cy="25"/>
            </a:xfrm>
            <a:custGeom>
              <a:avLst/>
              <a:gdLst>
                <a:gd name="T0" fmla="*/ 8 w 14"/>
                <a:gd name="T1" fmla="*/ 0 h 33"/>
                <a:gd name="T2" fmla="*/ 1 w 14"/>
                <a:gd name="T3" fmla="*/ 8 h 33"/>
                <a:gd name="T4" fmla="*/ 8 w 14"/>
                <a:gd name="T5" fmla="*/ 19 h 33"/>
                <a:gd name="T6" fmla="*/ 8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未知"/>
            <p:cNvSpPr>
              <a:spLocks/>
            </p:cNvSpPr>
            <p:nvPr/>
          </p:nvSpPr>
          <p:spPr bwMode="auto">
            <a:xfrm>
              <a:off x="3481" y="1056"/>
              <a:ext cx="21" cy="48"/>
            </a:xfrm>
            <a:custGeom>
              <a:avLst/>
              <a:gdLst>
                <a:gd name="T0" fmla="*/ 4 w 28"/>
                <a:gd name="T1" fmla="*/ 0 h 64"/>
                <a:gd name="T2" fmla="*/ 8 w 28"/>
                <a:gd name="T3" fmla="*/ 11 h 64"/>
                <a:gd name="T4" fmla="*/ 15 w 28"/>
                <a:gd name="T5" fmla="*/ 16 h 64"/>
                <a:gd name="T6" fmla="*/ 6 w 28"/>
                <a:gd name="T7" fmla="*/ 29 h 64"/>
                <a:gd name="T8" fmla="*/ 0 w 28"/>
                <a:gd name="T9" fmla="*/ 42 h 64"/>
                <a:gd name="T10" fmla="*/ 8 w 28"/>
                <a:gd name="T11" fmla="*/ 43 h 64"/>
                <a:gd name="T12" fmla="*/ 20 w 28"/>
                <a:gd name="T13" fmla="*/ 20 h 64"/>
                <a:gd name="T14" fmla="*/ 4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未知"/>
            <p:cNvSpPr>
              <a:spLocks/>
            </p:cNvSpPr>
            <p:nvPr/>
          </p:nvSpPr>
          <p:spPr bwMode="auto">
            <a:xfrm>
              <a:off x="3212" y="1125"/>
              <a:ext cx="12" cy="27"/>
            </a:xfrm>
            <a:custGeom>
              <a:avLst/>
              <a:gdLst>
                <a:gd name="T0" fmla="*/ 11 w 16"/>
                <a:gd name="T1" fmla="*/ 2 h 36"/>
                <a:gd name="T2" fmla="*/ 0 w 16"/>
                <a:gd name="T3" fmla="*/ 5 h 36"/>
                <a:gd name="T4" fmla="*/ 6 w 16"/>
                <a:gd name="T5" fmla="*/ 17 h 36"/>
                <a:gd name="T6" fmla="*/ 11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未知"/>
            <p:cNvSpPr>
              <a:spLocks/>
            </p:cNvSpPr>
            <p:nvPr/>
          </p:nvSpPr>
          <p:spPr bwMode="auto">
            <a:xfrm>
              <a:off x="3202" y="1102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未知"/>
            <p:cNvSpPr>
              <a:spLocks/>
            </p:cNvSpPr>
            <p:nvPr/>
          </p:nvSpPr>
          <p:spPr bwMode="auto">
            <a:xfrm>
              <a:off x="3198" y="1084"/>
              <a:ext cx="12" cy="14"/>
            </a:xfrm>
            <a:custGeom>
              <a:avLst/>
              <a:gdLst>
                <a:gd name="T0" fmla="*/ 8 w 16"/>
                <a:gd name="T1" fmla="*/ 4 h 19"/>
                <a:gd name="T2" fmla="*/ 0 w 16"/>
                <a:gd name="T3" fmla="*/ 7 h 19"/>
                <a:gd name="T4" fmla="*/ 9 w 16"/>
                <a:gd name="T5" fmla="*/ 14 h 19"/>
                <a:gd name="T6" fmla="*/ 8 w 16"/>
                <a:gd name="T7" fmla="*/ 4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未知"/>
            <p:cNvSpPr>
              <a:spLocks/>
            </p:cNvSpPr>
            <p:nvPr/>
          </p:nvSpPr>
          <p:spPr bwMode="auto">
            <a:xfrm>
              <a:off x="3186" y="1044"/>
              <a:ext cx="11" cy="19"/>
            </a:xfrm>
            <a:custGeom>
              <a:avLst/>
              <a:gdLst>
                <a:gd name="T0" fmla="*/ 5 w 14"/>
                <a:gd name="T1" fmla="*/ 0 h 25"/>
                <a:gd name="T2" fmla="*/ 0 w 14"/>
                <a:gd name="T3" fmla="*/ 10 h 25"/>
                <a:gd name="T4" fmla="*/ 9 w 14"/>
                <a:gd name="T5" fmla="*/ 18 h 25"/>
                <a:gd name="T6" fmla="*/ 5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未知"/>
            <p:cNvSpPr>
              <a:spLocks/>
            </p:cNvSpPr>
            <p:nvPr/>
          </p:nvSpPr>
          <p:spPr bwMode="auto">
            <a:xfrm>
              <a:off x="3188" y="1069"/>
              <a:ext cx="16" cy="13"/>
            </a:xfrm>
            <a:custGeom>
              <a:avLst/>
              <a:gdLst>
                <a:gd name="T0" fmla="*/ 9 w 22"/>
                <a:gd name="T1" fmla="*/ 0 h 18"/>
                <a:gd name="T2" fmla="*/ 14 w 22"/>
                <a:gd name="T3" fmla="*/ 13 h 18"/>
                <a:gd name="T4" fmla="*/ 10 w 22"/>
                <a:gd name="T5" fmla="*/ 4 h 18"/>
                <a:gd name="T6" fmla="*/ 9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未知"/>
            <p:cNvSpPr>
              <a:spLocks/>
            </p:cNvSpPr>
            <p:nvPr/>
          </p:nvSpPr>
          <p:spPr bwMode="auto">
            <a:xfrm>
              <a:off x="4024" y="1692"/>
              <a:ext cx="45" cy="60"/>
            </a:xfrm>
            <a:custGeom>
              <a:avLst/>
              <a:gdLst>
                <a:gd name="T0" fmla="*/ 8 w 60"/>
                <a:gd name="T1" fmla="*/ 5 h 81"/>
                <a:gd name="T2" fmla="*/ 2 w 60"/>
                <a:gd name="T3" fmla="*/ 13 h 81"/>
                <a:gd name="T4" fmla="*/ 11 w 60"/>
                <a:gd name="T5" fmla="*/ 29 h 81"/>
                <a:gd name="T6" fmla="*/ 20 w 60"/>
                <a:gd name="T7" fmla="*/ 40 h 81"/>
                <a:gd name="T8" fmla="*/ 30 w 60"/>
                <a:gd name="T9" fmla="*/ 47 h 81"/>
                <a:gd name="T10" fmla="*/ 38 w 60"/>
                <a:gd name="T11" fmla="*/ 60 h 81"/>
                <a:gd name="T12" fmla="*/ 39 w 60"/>
                <a:gd name="T13" fmla="*/ 42 h 81"/>
                <a:gd name="T14" fmla="*/ 32 w 60"/>
                <a:gd name="T15" fmla="*/ 27 h 81"/>
                <a:gd name="T16" fmla="*/ 19 w 60"/>
                <a:gd name="T17" fmla="*/ 13 h 81"/>
                <a:gd name="T18" fmla="*/ 8 w 60"/>
                <a:gd name="T19" fmla="*/ 5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未知"/>
            <p:cNvSpPr>
              <a:spLocks/>
            </p:cNvSpPr>
            <p:nvPr/>
          </p:nvSpPr>
          <p:spPr bwMode="auto">
            <a:xfrm>
              <a:off x="4255" y="1643"/>
              <a:ext cx="53" cy="46"/>
            </a:xfrm>
            <a:custGeom>
              <a:avLst/>
              <a:gdLst>
                <a:gd name="T0" fmla="*/ 21 w 71"/>
                <a:gd name="T1" fmla="*/ 17 h 61"/>
                <a:gd name="T2" fmla="*/ 10 w 71"/>
                <a:gd name="T3" fmla="*/ 24 h 61"/>
                <a:gd name="T4" fmla="*/ 1 w 71"/>
                <a:gd name="T5" fmla="*/ 33 h 61"/>
                <a:gd name="T6" fmla="*/ 10 w 71"/>
                <a:gd name="T7" fmla="*/ 44 h 61"/>
                <a:gd name="T8" fmla="*/ 21 w 71"/>
                <a:gd name="T9" fmla="*/ 33 h 61"/>
                <a:gd name="T10" fmla="*/ 30 w 71"/>
                <a:gd name="T11" fmla="*/ 17 h 61"/>
                <a:gd name="T12" fmla="*/ 41 w 71"/>
                <a:gd name="T13" fmla="*/ 0 h 61"/>
                <a:gd name="T14" fmla="*/ 53 w 71"/>
                <a:gd name="T15" fmla="*/ 8 h 61"/>
                <a:gd name="T16" fmla="*/ 26 w 71"/>
                <a:gd name="T17" fmla="*/ 17 h 61"/>
                <a:gd name="T18" fmla="*/ 21 w 71"/>
                <a:gd name="T19" fmla="*/ 17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未知"/>
            <p:cNvSpPr>
              <a:spLocks/>
            </p:cNvSpPr>
            <p:nvPr/>
          </p:nvSpPr>
          <p:spPr bwMode="auto">
            <a:xfrm>
              <a:off x="4095" y="1618"/>
              <a:ext cx="17" cy="23"/>
            </a:xfrm>
            <a:custGeom>
              <a:avLst/>
              <a:gdLst>
                <a:gd name="T0" fmla="*/ 7 w 23"/>
                <a:gd name="T1" fmla="*/ 0 h 30"/>
                <a:gd name="T2" fmla="*/ 0 w 23"/>
                <a:gd name="T3" fmla="*/ 11 h 30"/>
                <a:gd name="T4" fmla="*/ 9 w 23"/>
                <a:gd name="T5" fmla="*/ 23 h 30"/>
                <a:gd name="T6" fmla="*/ 7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未知"/>
            <p:cNvSpPr>
              <a:spLocks/>
            </p:cNvSpPr>
            <p:nvPr/>
          </p:nvSpPr>
          <p:spPr bwMode="auto">
            <a:xfrm>
              <a:off x="4087" y="1596"/>
              <a:ext cx="20" cy="17"/>
            </a:xfrm>
            <a:custGeom>
              <a:avLst/>
              <a:gdLst>
                <a:gd name="T0" fmla="*/ 15 w 26"/>
                <a:gd name="T1" fmla="*/ 0 h 23"/>
                <a:gd name="T2" fmla="*/ 0 w 26"/>
                <a:gd name="T3" fmla="*/ 10 h 23"/>
                <a:gd name="T4" fmla="*/ 16 w 26"/>
                <a:gd name="T5" fmla="*/ 15 h 23"/>
                <a:gd name="T6" fmla="*/ 15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未知"/>
            <p:cNvSpPr>
              <a:spLocks/>
            </p:cNvSpPr>
            <p:nvPr/>
          </p:nvSpPr>
          <p:spPr bwMode="auto">
            <a:xfrm>
              <a:off x="3934" y="1402"/>
              <a:ext cx="24" cy="33"/>
            </a:xfrm>
            <a:custGeom>
              <a:avLst/>
              <a:gdLst>
                <a:gd name="T0" fmla="*/ 21 w 32"/>
                <a:gd name="T1" fmla="*/ 0 h 44"/>
                <a:gd name="T2" fmla="*/ 8 w 32"/>
                <a:gd name="T3" fmla="*/ 8 h 44"/>
                <a:gd name="T4" fmla="*/ 9 w 32"/>
                <a:gd name="T5" fmla="*/ 24 h 44"/>
                <a:gd name="T6" fmla="*/ 18 w 32"/>
                <a:gd name="T7" fmla="*/ 27 h 44"/>
                <a:gd name="T8" fmla="*/ 21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未知"/>
            <p:cNvSpPr>
              <a:spLocks/>
            </p:cNvSpPr>
            <p:nvPr/>
          </p:nvSpPr>
          <p:spPr bwMode="auto">
            <a:xfrm>
              <a:off x="3968" y="1445"/>
              <a:ext cx="26" cy="33"/>
            </a:xfrm>
            <a:custGeom>
              <a:avLst/>
              <a:gdLst>
                <a:gd name="T0" fmla="*/ 23 w 34"/>
                <a:gd name="T1" fmla="*/ 0 h 44"/>
                <a:gd name="T2" fmla="*/ 8 w 34"/>
                <a:gd name="T3" fmla="*/ 7 h 44"/>
                <a:gd name="T4" fmla="*/ 11 w 34"/>
                <a:gd name="T5" fmla="*/ 24 h 44"/>
                <a:gd name="T6" fmla="*/ 20 w 34"/>
                <a:gd name="T7" fmla="*/ 27 h 44"/>
                <a:gd name="T8" fmla="*/ 23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未知"/>
            <p:cNvSpPr>
              <a:spLocks/>
            </p:cNvSpPr>
            <p:nvPr/>
          </p:nvSpPr>
          <p:spPr bwMode="auto">
            <a:xfrm>
              <a:off x="3995" y="1508"/>
              <a:ext cx="28" cy="28"/>
            </a:xfrm>
            <a:custGeom>
              <a:avLst/>
              <a:gdLst>
                <a:gd name="T0" fmla="*/ 25 w 38"/>
                <a:gd name="T1" fmla="*/ 2 h 37"/>
                <a:gd name="T2" fmla="*/ 7 w 38"/>
                <a:gd name="T3" fmla="*/ 2 h 37"/>
                <a:gd name="T4" fmla="*/ 10 w 38"/>
                <a:gd name="T5" fmla="*/ 19 h 37"/>
                <a:gd name="T6" fmla="*/ 19 w 38"/>
                <a:gd name="T7" fmla="*/ 22 h 37"/>
                <a:gd name="T8" fmla="*/ 25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未知"/>
            <p:cNvSpPr>
              <a:spLocks/>
            </p:cNvSpPr>
            <p:nvPr/>
          </p:nvSpPr>
          <p:spPr bwMode="auto">
            <a:xfrm>
              <a:off x="4029" y="1498"/>
              <a:ext cx="28" cy="26"/>
            </a:xfrm>
            <a:custGeom>
              <a:avLst/>
              <a:gdLst>
                <a:gd name="T0" fmla="*/ 25 w 38"/>
                <a:gd name="T1" fmla="*/ 2 h 34"/>
                <a:gd name="T2" fmla="*/ 7 w 38"/>
                <a:gd name="T3" fmla="*/ 2 h 34"/>
                <a:gd name="T4" fmla="*/ 12 w 38"/>
                <a:gd name="T5" fmla="*/ 17 h 34"/>
                <a:gd name="T6" fmla="*/ 20 w 38"/>
                <a:gd name="T7" fmla="*/ 17 h 34"/>
                <a:gd name="T8" fmla="*/ 25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未知"/>
            <p:cNvSpPr>
              <a:spLocks/>
            </p:cNvSpPr>
            <p:nvPr/>
          </p:nvSpPr>
          <p:spPr bwMode="auto">
            <a:xfrm>
              <a:off x="4019" y="1462"/>
              <a:ext cx="26" cy="20"/>
            </a:xfrm>
            <a:custGeom>
              <a:avLst/>
              <a:gdLst>
                <a:gd name="T0" fmla="*/ 23 w 35"/>
                <a:gd name="T1" fmla="*/ 1 h 27"/>
                <a:gd name="T2" fmla="*/ 7 w 35"/>
                <a:gd name="T3" fmla="*/ 1 h 27"/>
                <a:gd name="T4" fmla="*/ 10 w 35"/>
                <a:gd name="T5" fmla="*/ 11 h 27"/>
                <a:gd name="T6" fmla="*/ 19 w 35"/>
                <a:gd name="T7" fmla="*/ 14 h 27"/>
                <a:gd name="T8" fmla="*/ 23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未知"/>
            <p:cNvSpPr>
              <a:spLocks/>
            </p:cNvSpPr>
            <p:nvPr/>
          </p:nvSpPr>
          <p:spPr bwMode="auto">
            <a:xfrm>
              <a:off x="3993" y="1437"/>
              <a:ext cx="26" cy="35"/>
            </a:xfrm>
            <a:custGeom>
              <a:avLst/>
              <a:gdLst>
                <a:gd name="T0" fmla="*/ 21 w 35"/>
                <a:gd name="T1" fmla="*/ 12 h 47"/>
                <a:gd name="T2" fmla="*/ 14 w 35"/>
                <a:gd name="T3" fmla="*/ 1 h 47"/>
                <a:gd name="T4" fmla="*/ 7 w 35"/>
                <a:gd name="T5" fmla="*/ 19 h 47"/>
                <a:gd name="T6" fmla="*/ 14 w 35"/>
                <a:gd name="T7" fmla="*/ 26 h 47"/>
                <a:gd name="T8" fmla="*/ 20 w 35"/>
                <a:gd name="T9" fmla="*/ 22 h 47"/>
                <a:gd name="T10" fmla="*/ 21 w 35"/>
                <a:gd name="T11" fmla="*/ 12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未知"/>
            <p:cNvSpPr>
              <a:spLocks/>
            </p:cNvSpPr>
            <p:nvPr/>
          </p:nvSpPr>
          <p:spPr bwMode="auto">
            <a:xfrm>
              <a:off x="3961" y="1421"/>
              <a:ext cx="24" cy="26"/>
            </a:xfrm>
            <a:custGeom>
              <a:avLst/>
              <a:gdLst>
                <a:gd name="T0" fmla="*/ 17 w 32"/>
                <a:gd name="T1" fmla="*/ 7 h 35"/>
                <a:gd name="T2" fmla="*/ 8 w 32"/>
                <a:gd name="T3" fmla="*/ 1 h 35"/>
                <a:gd name="T4" fmla="*/ 9 w 32"/>
                <a:gd name="T5" fmla="*/ 17 h 35"/>
                <a:gd name="T6" fmla="*/ 18 w 32"/>
                <a:gd name="T7" fmla="*/ 20 h 35"/>
                <a:gd name="T8" fmla="*/ 17 w 32"/>
                <a:gd name="T9" fmla="*/ 7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未知"/>
            <p:cNvSpPr>
              <a:spLocks/>
            </p:cNvSpPr>
            <p:nvPr/>
          </p:nvSpPr>
          <p:spPr bwMode="auto">
            <a:xfrm>
              <a:off x="4001" y="1474"/>
              <a:ext cx="24" cy="26"/>
            </a:xfrm>
            <a:custGeom>
              <a:avLst/>
              <a:gdLst>
                <a:gd name="T0" fmla="*/ 17 w 32"/>
                <a:gd name="T1" fmla="*/ 7 h 35"/>
                <a:gd name="T2" fmla="*/ 8 w 32"/>
                <a:gd name="T3" fmla="*/ 1 h 35"/>
                <a:gd name="T4" fmla="*/ 9 w 32"/>
                <a:gd name="T5" fmla="*/ 17 h 35"/>
                <a:gd name="T6" fmla="*/ 18 w 32"/>
                <a:gd name="T7" fmla="*/ 20 h 35"/>
                <a:gd name="T8" fmla="*/ 17 w 32"/>
                <a:gd name="T9" fmla="*/ 7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未知"/>
            <p:cNvSpPr>
              <a:spLocks/>
            </p:cNvSpPr>
            <p:nvPr/>
          </p:nvSpPr>
          <p:spPr bwMode="auto">
            <a:xfrm>
              <a:off x="2391" y="100"/>
              <a:ext cx="141" cy="108"/>
            </a:xfrm>
            <a:custGeom>
              <a:avLst/>
              <a:gdLst>
                <a:gd name="T0" fmla="*/ 128 w 189"/>
                <a:gd name="T1" fmla="*/ 3 h 144"/>
                <a:gd name="T2" fmla="*/ 138 w 189"/>
                <a:gd name="T3" fmla="*/ 3 h 144"/>
                <a:gd name="T4" fmla="*/ 141 w 189"/>
                <a:gd name="T5" fmla="*/ 12 h 144"/>
                <a:gd name="T6" fmla="*/ 140 w 189"/>
                <a:gd name="T7" fmla="*/ 18 h 144"/>
                <a:gd name="T8" fmla="*/ 98 w 189"/>
                <a:gd name="T9" fmla="*/ 33 h 144"/>
                <a:gd name="T10" fmla="*/ 81 w 189"/>
                <a:gd name="T11" fmla="*/ 44 h 144"/>
                <a:gd name="T12" fmla="*/ 72 w 189"/>
                <a:gd name="T13" fmla="*/ 47 h 144"/>
                <a:gd name="T14" fmla="*/ 53 w 189"/>
                <a:gd name="T15" fmla="*/ 62 h 144"/>
                <a:gd name="T16" fmla="*/ 56 w 189"/>
                <a:gd name="T17" fmla="*/ 69 h 144"/>
                <a:gd name="T18" fmla="*/ 62 w 189"/>
                <a:gd name="T19" fmla="*/ 87 h 144"/>
                <a:gd name="T20" fmla="*/ 80 w 189"/>
                <a:gd name="T21" fmla="*/ 95 h 144"/>
                <a:gd name="T22" fmla="*/ 69 w 189"/>
                <a:gd name="T23" fmla="*/ 105 h 144"/>
                <a:gd name="T24" fmla="*/ 62 w 189"/>
                <a:gd name="T25" fmla="*/ 98 h 144"/>
                <a:gd name="T26" fmla="*/ 53 w 189"/>
                <a:gd name="T27" fmla="*/ 101 h 144"/>
                <a:gd name="T28" fmla="*/ 16 w 189"/>
                <a:gd name="T29" fmla="*/ 92 h 144"/>
                <a:gd name="T30" fmla="*/ 14 w 189"/>
                <a:gd name="T31" fmla="*/ 80 h 144"/>
                <a:gd name="T32" fmla="*/ 35 w 189"/>
                <a:gd name="T33" fmla="*/ 68 h 144"/>
                <a:gd name="T34" fmla="*/ 38 w 189"/>
                <a:gd name="T35" fmla="*/ 57 h 144"/>
                <a:gd name="T36" fmla="*/ 35 w 189"/>
                <a:gd name="T37" fmla="*/ 48 h 144"/>
                <a:gd name="T38" fmla="*/ 54 w 189"/>
                <a:gd name="T39" fmla="*/ 35 h 144"/>
                <a:gd name="T40" fmla="*/ 72 w 189"/>
                <a:gd name="T41" fmla="*/ 27 h 144"/>
                <a:gd name="T42" fmla="*/ 84 w 189"/>
                <a:gd name="T43" fmla="*/ 18 h 144"/>
                <a:gd name="T44" fmla="*/ 128 w 189"/>
                <a:gd name="T45" fmla="*/ 3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未知"/>
            <p:cNvSpPr>
              <a:spLocks/>
            </p:cNvSpPr>
            <p:nvPr/>
          </p:nvSpPr>
          <p:spPr bwMode="auto">
            <a:xfrm>
              <a:off x="2475" y="204"/>
              <a:ext cx="40" cy="12"/>
            </a:xfrm>
            <a:custGeom>
              <a:avLst/>
              <a:gdLst>
                <a:gd name="T0" fmla="*/ 18 w 53"/>
                <a:gd name="T1" fmla="*/ 0 h 17"/>
                <a:gd name="T2" fmla="*/ 9 w 53"/>
                <a:gd name="T3" fmla="*/ 1 h 17"/>
                <a:gd name="T4" fmla="*/ 24 w 53"/>
                <a:gd name="T5" fmla="*/ 11 h 17"/>
                <a:gd name="T6" fmla="*/ 33 w 53"/>
                <a:gd name="T7" fmla="*/ 10 h 17"/>
                <a:gd name="T8" fmla="*/ 18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未知"/>
            <p:cNvSpPr>
              <a:spLocks/>
            </p:cNvSpPr>
            <p:nvPr/>
          </p:nvSpPr>
          <p:spPr bwMode="auto">
            <a:xfrm>
              <a:off x="2680" y="48"/>
              <a:ext cx="42" cy="28"/>
            </a:xfrm>
            <a:custGeom>
              <a:avLst/>
              <a:gdLst>
                <a:gd name="T0" fmla="*/ 42 w 57"/>
                <a:gd name="T1" fmla="*/ 3 h 37"/>
                <a:gd name="T2" fmla="*/ 18 w 57"/>
                <a:gd name="T3" fmla="*/ 18 h 37"/>
                <a:gd name="T4" fmla="*/ 8 w 57"/>
                <a:gd name="T5" fmla="*/ 26 h 37"/>
                <a:gd name="T6" fmla="*/ 7 w 57"/>
                <a:gd name="T7" fmla="*/ 3 h 37"/>
                <a:gd name="T8" fmla="*/ 15 w 57"/>
                <a:gd name="T9" fmla="*/ 0 h 37"/>
                <a:gd name="T10" fmla="*/ 42 w 57"/>
                <a:gd name="T11" fmla="*/ 3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未知"/>
            <p:cNvSpPr>
              <a:spLocks/>
            </p:cNvSpPr>
            <p:nvPr/>
          </p:nvSpPr>
          <p:spPr bwMode="auto">
            <a:xfrm>
              <a:off x="2710" y="61"/>
              <a:ext cx="50" cy="20"/>
            </a:xfrm>
            <a:custGeom>
              <a:avLst/>
              <a:gdLst>
                <a:gd name="T0" fmla="*/ 21 w 68"/>
                <a:gd name="T1" fmla="*/ 0 h 26"/>
                <a:gd name="T2" fmla="*/ 8 w 68"/>
                <a:gd name="T3" fmla="*/ 5 h 26"/>
                <a:gd name="T4" fmla="*/ 42 w 68"/>
                <a:gd name="T5" fmla="*/ 20 h 26"/>
                <a:gd name="T6" fmla="*/ 46 w 68"/>
                <a:gd name="T7" fmla="*/ 18 h 26"/>
                <a:gd name="T8" fmla="*/ 2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未知"/>
            <p:cNvSpPr>
              <a:spLocks/>
            </p:cNvSpPr>
            <p:nvPr/>
          </p:nvSpPr>
          <p:spPr bwMode="auto">
            <a:xfrm>
              <a:off x="2764" y="64"/>
              <a:ext cx="50" cy="32"/>
            </a:xfrm>
            <a:custGeom>
              <a:avLst/>
              <a:gdLst>
                <a:gd name="T0" fmla="*/ 38 w 66"/>
                <a:gd name="T1" fmla="*/ 7 h 43"/>
                <a:gd name="T2" fmla="*/ 20 w 66"/>
                <a:gd name="T3" fmla="*/ 7 h 43"/>
                <a:gd name="T4" fmla="*/ 8 w 66"/>
                <a:gd name="T5" fmla="*/ 7 h 43"/>
                <a:gd name="T6" fmla="*/ 6 w 66"/>
                <a:gd name="T7" fmla="*/ 26 h 43"/>
                <a:gd name="T8" fmla="*/ 24 w 66"/>
                <a:gd name="T9" fmla="*/ 32 h 43"/>
                <a:gd name="T10" fmla="*/ 47 w 66"/>
                <a:gd name="T11" fmla="*/ 20 h 43"/>
                <a:gd name="T12" fmla="*/ 38 w 66"/>
                <a:gd name="T13" fmla="*/ 7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未知"/>
            <p:cNvSpPr>
              <a:spLocks/>
            </p:cNvSpPr>
            <p:nvPr/>
          </p:nvSpPr>
          <p:spPr bwMode="auto">
            <a:xfrm>
              <a:off x="3113" y="91"/>
              <a:ext cx="88" cy="31"/>
            </a:xfrm>
            <a:custGeom>
              <a:avLst/>
              <a:gdLst>
                <a:gd name="T0" fmla="*/ 11 w 117"/>
                <a:gd name="T1" fmla="*/ 0 h 41"/>
                <a:gd name="T2" fmla="*/ 6 w 117"/>
                <a:gd name="T3" fmla="*/ 12 h 41"/>
                <a:gd name="T4" fmla="*/ 38 w 117"/>
                <a:gd name="T5" fmla="*/ 23 h 41"/>
                <a:gd name="T6" fmla="*/ 57 w 117"/>
                <a:gd name="T7" fmla="*/ 27 h 41"/>
                <a:gd name="T8" fmla="*/ 84 w 117"/>
                <a:gd name="T9" fmla="*/ 17 h 41"/>
                <a:gd name="T10" fmla="*/ 59 w 117"/>
                <a:gd name="T11" fmla="*/ 3 h 41"/>
                <a:gd name="T12" fmla="*/ 11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未知"/>
            <p:cNvSpPr>
              <a:spLocks/>
            </p:cNvSpPr>
            <p:nvPr/>
          </p:nvSpPr>
          <p:spPr bwMode="auto">
            <a:xfrm>
              <a:off x="3203" y="90"/>
              <a:ext cx="46" cy="24"/>
            </a:xfrm>
            <a:custGeom>
              <a:avLst/>
              <a:gdLst>
                <a:gd name="T0" fmla="*/ 24 w 62"/>
                <a:gd name="T1" fmla="*/ 3 h 32"/>
                <a:gd name="T2" fmla="*/ 46 w 62"/>
                <a:gd name="T3" fmla="*/ 8 h 32"/>
                <a:gd name="T4" fmla="*/ 22 w 62"/>
                <a:gd name="T5" fmla="*/ 24 h 32"/>
                <a:gd name="T6" fmla="*/ 4 w 62"/>
                <a:gd name="T7" fmla="*/ 17 h 32"/>
                <a:gd name="T8" fmla="*/ 24 w 62"/>
                <a:gd name="T9" fmla="*/ 3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未知"/>
            <p:cNvSpPr>
              <a:spLocks/>
            </p:cNvSpPr>
            <p:nvPr/>
          </p:nvSpPr>
          <p:spPr bwMode="auto">
            <a:xfrm>
              <a:off x="3182" y="119"/>
              <a:ext cx="37" cy="17"/>
            </a:xfrm>
            <a:custGeom>
              <a:avLst/>
              <a:gdLst>
                <a:gd name="T0" fmla="*/ 15 w 49"/>
                <a:gd name="T1" fmla="*/ 1 h 23"/>
                <a:gd name="T2" fmla="*/ 5 w 49"/>
                <a:gd name="T3" fmla="*/ 4 h 23"/>
                <a:gd name="T4" fmla="*/ 29 w 49"/>
                <a:gd name="T5" fmla="*/ 17 h 23"/>
                <a:gd name="T6" fmla="*/ 15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未知"/>
            <p:cNvSpPr>
              <a:spLocks/>
            </p:cNvSpPr>
            <p:nvPr/>
          </p:nvSpPr>
          <p:spPr bwMode="auto">
            <a:xfrm>
              <a:off x="3434" y="343"/>
              <a:ext cx="76" cy="114"/>
            </a:xfrm>
            <a:custGeom>
              <a:avLst/>
              <a:gdLst>
                <a:gd name="T0" fmla="*/ 4 w 102"/>
                <a:gd name="T1" fmla="*/ 0 h 152"/>
                <a:gd name="T2" fmla="*/ 0 w 102"/>
                <a:gd name="T3" fmla="*/ 14 h 152"/>
                <a:gd name="T4" fmla="*/ 10 w 102"/>
                <a:gd name="T5" fmla="*/ 32 h 152"/>
                <a:gd name="T6" fmla="*/ 24 w 102"/>
                <a:gd name="T7" fmla="*/ 54 h 152"/>
                <a:gd name="T8" fmla="*/ 27 w 102"/>
                <a:gd name="T9" fmla="*/ 78 h 152"/>
                <a:gd name="T10" fmla="*/ 60 w 102"/>
                <a:gd name="T11" fmla="*/ 114 h 152"/>
                <a:gd name="T12" fmla="*/ 64 w 102"/>
                <a:gd name="T13" fmla="*/ 93 h 152"/>
                <a:gd name="T14" fmla="*/ 55 w 102"/>
                <a:gd name="T15" fmla="*/ 77 h 152"/>
                <a:gd name="T16" fmla="*/ 46 w 102"/>
                <a:gd name="T17" fmla="*/ 69 h 152"/>
                <a:gd name="T18" fmla="*/ 39 w 102"/>
                <a:gd name="T19" fmla="*/ 56 h 152"/>
                <a:gd name="T20" fmla="*/ 31 w 102"/>
                <a:gd name="T21" fmla="*/ 33 h 152"/>
                <a:gd name="T22" fmla="*/ 3 w 102"/>
                <a:gd name="T23" fmla="*/ 9 h 152"/>
                <a:gd name="T24" fmla="*/ 4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未知"/>
            <p:cNvSpPr>
              <a:spLocks/>
            </p:cNvSpPr>
            <p:nvPr/>
          </p:nvSpPr>
          <p:spPr bwMode="auto">
            <a:xfrm>
              <a:off x="3495" y="461"/>
              <a:ext cx="55" cy="78"/>
            </a:xfrm>
            <a:custGeom>
              <a:avLst/>
              <a:gdLst>
                <a:gd name="T0" fmla="*/ 48 w 74"/>
                <a:gd name="T1" fmla="*/ 17 h 103"/>
                <a:gd name="T2" fmla="*/ 55 w 74"/>
                <a:gd name="T3" fmla="*/ 30 h 103"/>
                <a:gd name="T4" fmla="*/ 22 w 74"/>
                <a:gd name="T5" fmla="*/ 64 h 103"/>
                <a:gd name="T6" fmla="*/ 24 w 74"/>
                <a:gd name="T7" fmla="*/ 76 h 103"/>
                <a:gd name="T8" fmla="*/ 15 w 74"/>
                <a:gd name="T9" fmla="*/ 71 h 103"/>
                <a:gd name="T10" fmla="*/ 4 w 74"/>
                <a:gd name="T11" fmla="*/ 64 h 103"/>
                <a:gd name="T12" fmla="*/ 0 w 74"/>
                <a:gd name="T13" fmla="*/ 62 h 103"/>
                <a:gd name="T14" fmla="*/ 7 w 74"/>
                <a:gd name="T15" fmla="*/ 44 h 103"/>
                <a:gd name="T16" fmla="*/ 9 w 74"/>
                <a:gd name="T17" fmla="*/ 39 h 103"/>
                <a:gd name="T18" fmla="*/ 1 w 74"/>
                <a:gd name="T19" fmla="*/ 18 h 103"/>
                <a:gd name="T20" fmla="*/ 3 w 74"/>
                <a:gd name="T21" fmla="*/ 11 h 103"/>
                <a:gd name="T22" fmla="*/ 19 w 74"/>
                <a:gd name="T23" fmla="*/ 17 h 103"/>
                <a:gd name="T24" fmla="*/ 27 w 74"/>
                <a:gd name="T25" fmla="*/ 27 h 103"/>
                <a:gd name="T26" fmla="*/ 48 w 74"/>
                <a:gd name="T27" fmla="*/ 17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未知"/>
            <p:cNvSpPr>
              <a:spLocks/>
            </p:cNvSpPr>
            <p:nvPr/>
          </p:nvSpPr>
          <p:spPr bwMode="auto">
            <a:xfrm>
              <a:off x="3459" y="541"/>
              <a:ext cx="109" cy="189"/>
            </a:xfrm>
            <a:custGeom>
              <a:avLst/>
              <a:gdLst>
                <a:gd name="T0" fmla="*/ 61 w 146"/>
                <a:gd name="T1" fmla="*/ 75 h 252"/>
                <a:gd name="T2" fmla="*/ 49 w 146"/>
                <a:gd name="T3" fmla="*/ 80 h 252"/>
                <a:gd name="T4" fmla="*/ 48 w 146"/>
                <a:gd name="T5" fmla="*/ 99 h 252"/>
                <a:gd name="T6" fmla="*/ 16 w 146"/>
                <a:gd name="T7" fmla="*/ 110 h 252"/>
                <a:gd name="T8" fmla="*/ 6 w 146"/>
                <a:gd name="T9" fmla="*/ 126 h 252"/>
                <a:gd name="T10" fmla="*/ 15 w 146"/>
                <a:gd name="T11" fmla="*/ 137 h 252"/>
                <a:gd name="T12" fmla="*/ 6 w 146"/>
                <a:gd name="T13" fmla="*/ 149 h 252"/>
                <a:gd name="T14" fmla="*/ 18 w 146"/>
                <a:gd name="T15" fmla="*/ 189 h 252"/>
                <a:gd name="T16" fmla="*/ 21 w 146"/>
                <a:gd name="T17" fmla="*/ 161 h 252"/>
                <a:gd name="T18" fmla="*/ 16 w 146"/>
                <a:gd name="T19" fmla="*/ 144 h 252"/>
                <a:gd name="T20" fmla="*/ 31 w 146"/>
                <a:gd name="T21" fmla="*/ 132 h 252"/>
                <a:gd name="T22" fmla="*/ 39 w 146"/>
                <a:gd name="T23" fmla="*/ 119 h 252"/>
                <a:gd name="T24" fmla="*/ 49 w 146"/>
                <a:gd name="T25" fmla="*/ 131 h 252"/>
                <a:gd name="T26" fmla="*/ 33 w 146"/>
                <a:gd name="T27" fmla="*/ 143 h 252"/>
                <a:gd name="T28" fmla="*/ 42 w 146"/>
                <a:gd name="T29" fmla="*/ 150 h 252"/>
                <a:gd name="T30" fmla="*/ 51 w 146"/>
                <a:gd name="T31" fmla="*/ 134 h 252"/>
                <a:gd name="T32" fmla="*/ 63 w 146"/>
                <a:gd name="T33" fmla="*/ 138 h 252"/>
                <a:gd name="T34" fmla="*/ 78 w 146"/>
                <a:gd name="T35" fmla="*/ 111 h 252"/>
                <a:gd name="T36" fmla="*/ 85 w 146"/>
                <a:gd name="T37" fmla="*/ 117 h 252"/>
                <a:gd name="T38" fmla="*/ 102 w 146"/>
                <a:gd name="T39" fmla="*/ 111 h 252"/>
                <a:gd name="T40" fmla="*/ 109 w 146"/>
                <a:gd name="T41" fmla="*/ 98 h 252"/>
                <a:gd name="T42" fmla="*/ 106 w 146"/>
                <a:gd name="T43" fmla="*/ 83 h 252"/>
                <a:gd name="T44" fmla="*/ 100 w 146"/>
                <a:gd name="T45" fmla="*/ 74 h 252"/>
                <a:gd name="T46" fmla="*/ 91 w 146"/>
                <a:gd name="T47" fmla="*/ 30 h 252"/>
                <a:gd name="T48" fmla="*/ 70 w 146"/>
                <a:gd name="T49" fmla="*/ 0 h 252"/>
                <a:gd name="T50" fmla="*/ 58 w 146"/>
                <a:gd name="T51" fmla="*/ 9 h 252"/>
                <a:gd name="T52" fmla="*/ 72 w 146"/>
                <a:gd name="T53" fmla="*/ 26 h 252"/>
                <a:gd name="T54" fmla="*/ 72 w 146"/>
                <a:gd name="T55" fmla="*/ 48 h 252"/>
                <a:gd name="T56" fmla="*/ 61 w 146"/>
                <a:gd name="T57" fmla="*/ 75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未知"/>
            <p:cNvSpPr>
              <a:spLocks/>
            </p:cNvSpPr>
            <p:nvPr/>
          </p:nvSpPr>
          <p:spPr bwMode="auto">
            <a:xfrm>
              <a:off x="2398" y="37"/>
              <a:ext cx="52" cy="30"/>
            </a:xfrm>
            <a:custGeom>
              <a:avLst/>
              <a:gdLst>
                <a:gd name="T0" fmla="*/ 44 w 70"/>
                <a:gd name="T1" fmla="*/ 0 h 40"/>
                <a:gd name="T2" fmla="*/ 48 w 70"/>
                <a:gd name="T3" fmla="*/ 15 h 40"/>
                <a:gd name="T4" fmla="*/ 30 w 70"/>
                <a:gd name="T5" fmla="*/ 18 h 40"/>
                <a:gd name="T6" fmla="*/ 23 w 70"/>
                <a:gd name="T7" fmla="*/ 30 h 40"/>
                <a:gd name="T8" fmla="*/ 5 w 70"/>
                <a:gd name="T9" fmla="*/ 29 h 40"/>
                <a:gd name="T10" fmla="*/ 1 w 70"/>
                <a:gd name="T11" fmla="*/ 27 h 40"/>
                <a:gd name="T12" fmla="*/ 25 w 70"/>
                <a:gd name="T13" fmla="*/ 15 h 40"/>
                <a:gd name="T14" fmla="*/ 44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未知"/>
            <p:cNvSpPr>
              <a:spLocks/>
            </p:cNvSpPr>
            <p:nvPr/>
          </p:nvSpPr>
          <p:spPr bwMode="auto">
            <a:xfrm>
              <a:off x="2291" y="46"/>
              <a:ext cx="19" cy="22"/>
            </a:xfrm>
            <a:custGeom>
              <a:avLst/>
              <a:gdLst>
                <a:gd name="T0" fmla="*/ 13 w 26"/>
                <a:gd name="T1" fmla="*/ 0 h 29"/>
                <a:gd name="T2" fmla="*/ 0 w 26"/>
                <a:gd name="T3" fmla="*/ 14 h 29"/>
                <a:gd name="T4" fmla="*/ 13 w 26"/>
                <a:gd name="T5" fmla="*/ 20 h 29"/>
                <a:gd name="T6" fmla="*/ 13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未知"/>
            <p:cNvSpPr>
              <a:spLocks/>
            </p:cNvSpPr>
            <p:nvPr/>
          </p:nvSpPr>
          <p:spPr bwMode="auto">
            <a:xfrm>
              <a:off x="2315" y="45"/>
              <a:ext cx="37" cy="27"/>
            </a:xfrm>
            <a:custGeom>
              <a:avLst/>
              <a:gdLst>
                <a:gd name="T0" fmla="*/ 11 w 49"/>
                <a:gd name="T1" fmla="*/ 5 h 36"/>
                <a:gd name="T2" fmla="*/ 0 w 49"/>
                <a:gd name="T3" fmla="*/ 14 h 36"/>
                <a:gd name="T4" fmla="*/ 5 w 49"/>
                <a:gd name="T5" fmla="*/ 24 h 36"/>
                <a:gd name="T6" fmla="*/ 14 w 49"/>
                <a:gd name="T7" fmla="*/ 27 h 36"/>
                <a:gd name="T8" fmla="*/ 30 w 49"/>
                <a:gd name="T9" fmla="*/ 20 h 36"/>
                <a:gd name="T10" fmla="*/ 11 w 49"/>
                <a:gd name="T11" fmla="*/ 5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未知"/>
            <p:cNvSpPr>
              <a:spLocks/>
            </p:cNvSpPr>
            <p:nvPr/>
          </p:nvSpPr>
          <p:spPr bwMode="auto">
            <a:xfrm>
              <a:off x="2376" y="36"/>
              <a:ext cx="20" cy="16"/>
            </a:xfrm>
            <a:custGeom>
              <a:avLst/>
              <a:gdLst>
                <a:gd name="T0" fmla="*/ 8 w 27"/>
                <a:gd name="T1" fmla="*/ 0 h 22"/>
                <a:gd name="T2" fmla="*/ 2 w 27"/>
                <a:gd name="T3" fmla="*/ 9 h 22"/>
                <a:gd name="T4" fmla="*/ 14 w 27"/>
                <a:gd name="T5" fmla="*/ 16 h 22"/>
                <a:gd name="T6" fmla="*/ 8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未知"/>
            <p:cNvSpPr>
              <a:spLocks/>
            </p:cNvSpPr>
            <p:nvPr/>
          </p:nvSpPr>
          <p:spPr bwMode="auto">
            <a:xfrm>
              <a:off x="2358" y="54"/>
              <a:ext cx="15" cy="13"/>
            </a:xfrm>
            <a:custGeom>
              <a:avLst/>
              <a:gdLst>
                <a:gd name="T0" fmla="*/ 8 w 20"/>
                <a:gd name="T1" fmla="*/ 0 h 18"/>
                <a:gd name="T2" fmla="*/ 7 w 20"/>
                <a:gd name="T3" fmla="*/ 13 h 18"/>
                <a:gd name="T4" fmla="*/ 8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未知"/>
            <p:cNvSpPr>
              <a:spLocks/>
            </p:cNvSpPr>
            <p:nvPr/>
          </p:nvSpPr>
          <p:spPr bwMode="auto">
            <a:xfrm>
              <a:off x="3498" y="70"/>
              <a:ext cx="18" cy="33"/>
            </a:xfrm>
            <a:custGeom>
              <a:avLst/>
              <a:gdLst>
                <a:gd name="T0" fmla="*/ 18 w 24"/>
                <a:gd name="T1" fmla="*/ 0 h 44"/>
                <a:gd name="T2" fmla="*/ 6 w 24"/>
                <a:gd name="T3" fmla="*/ 12 h 44"/>
                <a:gd name="T4" fmla="*/ 0 w 24"/>
                <a:gd name="T5" fmla="*/ 26 h 44"/>
                <a:gd name="T6" fmla="*/ 12 w 24"/>
                <a:gd name="T7" fmla="*/ 30 h 44"/>
                <a:gd name="T8" fmla="*/ 18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未知"/>
            <p:cNvSpPr>
              <a:spLocks/>
            </p:cNvSpPr>
            <p:nvPr/>
          </p:nvSpPr>
          <p:spPr bwMode="auto">
            <a:xfrm>
              <a:off x="2614" y="1522"/>
              <a:ext cx="31" cy="18"/>
            </a:xfrm>
            <a:custGeom>
              <a:avLst/>
              <a:gdLst>
                <a:gd name="T0" fmla="*/ 23 w 41"/>
                <a:gd name="T1" fmla="*/ 0 h 24"/>
                <a:gd name="T2" fmla="*/ 20 w 41"/>
                <a:gd name="T3" fmla="*/ 18 h 24"/>
                <a:gd name="T4" fmla="*/ 23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未知"/>
            <p:cNvSpPr>
              <a:spLocks/>
            </p:cNvSpPr>
            <p:nvPr/>
          </p:nvSpPr>
          <p:spPr bwMode="auto">
            <a:xfrm>
              <a:off x="2654" y="1515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未知"/>
            <p:cNvSpPr>
              <a:spLocks/>
            </p:cNvSpPr>
            <p:nvPr/>
          </p:nvSpPr>
          <p:spPr bwMode="auto">
            <a:xfrm>
              <a:off x="2587" y="1361"/>
              <a:ext cx="9" cy="15"/>
            </a:xfrm>
            <a:custGeom>
              <a:avLst/>
              <a:gdLst>
                <a:gd name="T0" fmla="*/ 7 w 13"/>
                <a:gd name="T1" fmla="*/ 4 h 20"/>
                <a:gd name="T2" fmla="*/ 1 w 13"/>
                <a:gd name="T3" fmla="*/ 8 h 20"/>
                <a:gd name="T4" fmla="*/ 6 w 13"/>
                <a:gd name="T5" fmla="*/ 15 h 20"/>
                <a:gd name="T6" fmla="*/ 7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未知"/>
            <p:cNvSpPr>
              <a:spLocks/>
            </p:cNvSpPr>
            <p:nvPr/>
          </p:nvSpPr>
          <p:spPr bwMode="auto">
            <a:xfrm>
              <a:off x="2647" y="1288"/>
              <a:ext cx="11" cy="19"/>
            </a:xfrm>
            <a:custGeom>
              <a:avLst/>
              <a:gdLst>
                <a:gd name="T0" fmla="*/ 5 w 14"/>
                <a:gd name="T1" fmla="*/ 0 h 25"/>
                <a:gd name="T2" fmla="*/ 0 w 14"/>
                <a:gd name="T3" fmla="*/ 10 h 25"/>
                <a:gd name="T4" fmla="*/ 9 w 14"/>
                <a:gd name="T5" fmla="*/ 18 h 25"/>
                <a:gd name="T6" fmla="*/ 5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未知"/>
            <p:cNvSpPr>
              <a:spLocks/>
            </p:cNvSpPr>
            <p:nvPr/>
          </p:nvSpPr>
          <p:spPr bwMode="auto">
            <a:xfrm>
              <a:off x="2623" y="1287"/>
              <a:ext cx="11" cy="19"/>
            </a:xfrm>
            <a:custGeom>
              <a:avLst/>
              <a:gdLst>
                <a:gd name="T0" fmla="*/ 5 w 14"/>
                <a:gd name="T1" fmla="*/ 0 h 25"/>
                <a:gd name="T2" fmla="*/ 0 w 14"/>
                <a:gd name="T3" fmla="*/ 10 h 25"/>
                <a:gd name="T4" fmla="*/ 9 w 14"/>
                <a:gd name="T5" fmla="*/ 18 h 25"/>
                <a:gd name="T6" fmla="*/ 5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未知"/>
            <p:cNvSpPr>
              <a:spLocks/>
            </p:cNvSpPr>
            <p:nvPr/>
          </p:nvSpPr>
          <p:spPr bwMode="auto">
            <a:xfrm>
              <a:off x="2612" y="1309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未知"/>
            <p:cNvSpPr>
              <a:spLocks/>
            </p:cNvSpPr>
            <p:nvPr/>
          </p:nvSpPr>
          <p:spPr bwMode="auto">
            <a:xfrm>
              <a:off x="2587" y="1343"/>
              <a:ext cx="9" cy="15"/>
            </a:xfrm>
            <a:custGeom>
              <a:avLst/>
              <a:gdLst>
                <a:gd name="T0" fmla="*/ 7 w 13"/>
                <a:gd name="T1" fmla="*/ 4 h 20"/>
                <a:gd name="T2" fmla="*/ 1 w 13"/>
                <a:gd name="T3" fmla="*/ 8 h 20"/>
                <a:gd name="T4" fmla="*/ 6 w 13"/>
                <a:gd name="T5" fmla="*/ 15 h 20"/>
                <a:gd name="T6" fmla="*/ 7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未知"/>
            <p:cNvSpPr>
              <a:spLocks/>
            </p:cNvSpPr>
            <p:nvPr/>
          </p:nvSpPr>
          <p:spPr bwMode="auto">
            <a:xfrm>
              <a:off x="2606" y="1330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未知"/>
            <p:cNvSpPr>
              <a:spLocks/>
            </p:cNvSpPr>
            <p:nvPr/>
          </p:nvSpPr>
          <p:spPr bwMode="auto">
            <a:xfrm>
              <a:off x="1873" y="342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未知"/>
            <p:cNvSpPr>
              <a:spLocks/>
            </p:cNvSpPr>
            <p:nvPr/>
          </p:nvSpPr>
          <p:spPr bwMode="auto">
            <a:xfrm>
              <a:off x="1812" y="308"/>
              <a:ext cx="10" cy="15"/>
            </a:xfrm>
            <a:custGeom>
              <a:avLst/>
              <a:gdLst>
                <a:gd name="T0" fmla="*/ 8 w 13"/>
                <a:gd name="T1" fmla="*/ 4 h 20"/>
                <a:gd name="T2" fmla="*/ 1 w 13"/>
                <a:gd name="T3" fmla="*/ 8 h 20"/>
                <a:gd name="T4" fmla="*/ 7 w 13"/>
                <a:gd name="T5" fmla="*/ 15 h 20"/>
                <a:gd name="T6" fmla="*/ 8 w 13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未知"/>
            <p:cNvSpPr>
              <a:spLocks/>
            </p:cNvSpPr>
            <p:nvPr/>
          </p:nvSpPr>
          <p:spPr bwMode="auto">
            <a:xfrm>
              <a:off x="1574" y="91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14" name="Picture 112" descr="artplus_nature_naturalcity42_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0450" y="3167063"/>
            <a:ext cx="4425950" cy="298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" name="Picture 113" descr="artplus_nature_naturalcity42_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56425" y="3352800"/>
            <a:ext cx="1654175" cy="87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" name="Picture 114" descr="artplus_nature_naturalcity42_c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96400" y="2895600"/>
            <a:ext cx="1112838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" name="Picture 115" descr="artplus_nature_naturalcity42_f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4994275" y="4594225"/>
            <a:ext cx="4911725" cy="188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" name="Picture 118" descr="artplus_nature_naturalcity42_b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195888" y="3097213"/>
            <a:ext cx="29718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" name="Picture 119" descr="artplus_nature_naturalcity42_e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943600" y="1993900"/>
            <a:ext cx="1546225" cy="166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0" name="Picture 120" descr="artplus_nature_naturalcity42_d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626100" y="2862263"/>
            <a:ext cx="6238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1" name="Picture 121" descr="a1"/>
          <p:cNvPicPr>
            <a:picLocks noChangeAspect="1" noChangeArrowheads="1"/>
          </p:cNvPicPr>
          <p:nvPr userDrawn="1"/>
        </p:nvPicPr>
        <p:blipFill>
          <a:blip r:embed="rId10"/>
          <a:srcRect/>
          <a:stretch>
            <a:fillRect/>
          </a:stretch>
        </p:blipFill>
        <p:spPr bwMode="auto">
          <a:xfrm>
            <a:off x="9359900" y="95250"/>
            <a:ext cx="1803400" cy="207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" name="Picture 122" descr="b_1"/>
          <p:cNvPicPr>
            <a:picLocks noChangeAspect="1" noChangeArrowheads="1"/>
          </p:cNvPicPr>
          <p:nvPr userDrawn="1"/>
        </p:nvPicPr>
        <p:blipFill>
          <a:blip r:embed="rId11"/>
          <a:srcRect/>
          <a:stretch>
            <a:fillRect/>
          </a:stretch>
        </p:blipFill>
        <p:spPr bwMode="auto">
          <a:xfrm>
            <a:off x="10204450" y="1968500"/>
            <a:ext cx="10795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" name="Picture 123" descr="aa"/>
          <p:cNvPicPr>
            <a:picLocks noChangeAspect="1" noChangeArrowheads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6156325" y="188913"/>
            <a:ext cx="26384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64" name="Rectangle 116"/>
          <p:cNvSpPr>
            <a:spLocks noGrp="1" noChangeArrowheads="1"/>
          </p:cNvSpPr>
          <p:nvPr>
            <p:ph type="ctrTitle"/>
          </p:nvPr>
        </p:nvSpPr>
        <p:spPr>
          <a:xfrm>
            <a:off x="304800" y="4419600"/>
            <a:ext cx="6400800" cy="1143000"/>
          </a:xfrm>
        </p:spPr>
        <p:txBody>
          <a:bodyPr/>
          <a:lstStyle>
            <a:lvl1pPr>
              <a:defRPr sz="4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zh-CN" noProof="0"/>
              <a:t>Click to edit Master title style</a:t>
            </a:r>
          </a:p>
        </p:txBody>
      </p:sp>
      <p:sp>
        <p:nvSpPr>
          <p:cNvPr id="2165" name="Rectangle 117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715000"/>
            <a:ext cx="4340225" cy="381000"/>
          </a:xfrm>
        </p:spPr>
        <p:txBody>
          <a:bodyPr/>
          <a:lstStyle>
            <a:lvl1pPr marL="0" indent="0" algn="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zh-CN" noProof="0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37743E-6 L -0.21076 0.0478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8500" y="240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3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81481E-6 C -0.08906 0.01505 -0.38802 0.03033 -0.53472 0.09075 C -0.68142 0.15116 -0.81198 0.322 -0.88055 0.36297 C -0.94913 0.40394 -0.93229 0.34237 -0.94583 0.33704 " pathEditMode="relative" rAng="0" ptsTypes="aaaa">
                                      <p:cBhvr>
                                        <p:cTn id="39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45500" y="202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4629 C -0.07778 0.05393 -0.34948 0.0956 -0.46667 0.09166 C -0.58385 0.08773 -0.63611 -0.0007 -0.70278 0.02314 C -0.76944 0.04699 -0.83247 0.19027 -0.86667 0.23426 " pathEditMode="relative" rAng="0" ptsTypes="aaaa">
                                      <p:cBhvr>
                                        <p:cTn id="41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41300" y="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1800"/>
                            </p:stCondLst>
                            <p:childTnLst>
                              <p:par>
                                <p:cTn id="4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765175"/>
            <a:ext cx="4038600" cy="5559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765175"/>
            <a:ext cx="4038600" cy="5559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0499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0499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"/>
          <p:cNvPicPr>
            <a:picLocks noChangeAspect="1" noChangeArrowheads="1"/>
          </p:cNvPicPr>
          <p:nvPr/>
        </p:nvPicPr>
        <p:blipFill>
          <a:blip r:embed="rId13"/>
          <a:srcRect b="38461"/>
          <a:stretch>
            <a:fillRect/>
          </a:stretch>
        </p:blipFill>
        <p:spPr bwMode="auto">
          <a:xfrm>
            <a:off x="0" y="6340475"/>
            <a:ext cx="914400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aa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86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Click to edit Master title style</a:t>
            </a:r>
          </a:p>
        </p:txBody>
      </p:sp>
      <p:sp>
        <p:nvSpPr>
          <p:cNvPr id="1030" name="Text Box 6"/>
          <p:cNvSpPr txBox="1">
            <a:spLocks noChangeArrowheads="1"/>
          </p:cNvSpPr>
          <p:nvPr userDrawn="1"/>
        </p:nvSpPr>
        <p:spPr bwMode="auto">
          <a:xfrm>
            <a:off x="838200" y="6491288"/>
            <a:ext cx="7010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/>
          </a:p>
        </p:txBody>
      </p:sp>
      <p:grpSp>
        <p:nvGrpSpPr>
          <p:cNvPr id="1031" name="Group 7"/>
          <p:cNvGrpSpPr>
            <a:grpSpLocks/>
          </p:cNvGrpSpPr>
          <p:nvPr userDrawn="1"/>
        </p:nvGrpSpPr>
        <p:grpSpPr bwMode="auto">
          <a:xfrm>
            <a:off x="457200" y="6564313"/>
            <a:ext cx="8229600" cy="476250"/>
            <a:chOff x="0" y="0"/>
            <a:chExt cx="12960" cy="750"/>
          </a:xfrm>
        </p:grpSpPr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3360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fld id="{460EF8AA-1AEC-493A-86DD-EDE08CE09A11}" type="datetime1">
                <a:rPr lang="zh-CN" altLang="en-US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pPr/>
                <a:t>2020/3/31</a:t>
              </a:fld>
              <a:endParaRPr lang="zh-CN" altLang="zh-CN" sz="1200" b="1">
                <a:solidFill>
                  <a:schemeClr val="bg1"/>
                </a:solidFill>
                <a:latin typeface="新宋体" pitchFamily="49" charset="-122"/>
                <a:ea typeface="新宋体" pitchFamily="49" charset="-122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9600" y="0"/>
              <a:ext cx="3360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/>
              <a:fld id="{42006033-4842-439A-9EFA-DD1C135FC659}" type="slidenum">
                <a:rPr lang="zh-CN" altLang="en-US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pPr algn="r"/>
                <a:t>‹#›</a:t>
              </a:fld>
              <a:r>
                <a:rPr lang="zh-CN" altLang="en-US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t> / 23</a:t>
              </a: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4200" y="0"/>
              <a:ext cx="4560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zh-CN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t>第二章  随机变量及其分布</a:t>
              </a:r>
            </a:p>
          </p:txBody>
        </p:sp>
      </p:grpSp>
      <p:grpSp>
        <p:nvGrpSpPr>
          <p:cNvPr id="1032" name="Group 11"/>
          <p:cNvGrpSpPr>
            <a:grpSpLocks/>
          </p:cNvGrpSpPr>
          <p:nvPr userDrawn="1"/>
        </p:nvGrpSpPr>
        <p:grpSpPr bwMode="auto">
          <a:xfrm>
            <a:off x="257175" y="561975"/>
            <a:ext cx="3384550" cy="600075"/>
            <a:chOff x="0" y="0"/>
            <a:chExt cx="7484" cy="1474"/>
          </a:xfrm>
        </p:grpSpPr>
        <p:sp>
          <p:nvSpPr>
            <p:cNvPr id="1033" name="Line 12"/>
            <p:cNvSpPr>
              <a:spLocks noChangeShapeType="1"/>
            </p:cNvSpPr>
            <p:nvPr userDrawn="1"/>
          </p:nvSpPr>
          <p:spPr bwMode="auto">
            <a:xfrm>
              <a:off x="418" y="0"/>
              <a:ext cx="1" cy="1475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Line 13"/>
            <p:cNvSpPr>
              <a:spLocks noChangeShapeType="1"/>
            </p:cNvSpPr>
            <p:nvPr userDrawn="1"/>
          </p:nvSpPr>
          <p:spPr bwMode="auto">
            <a:xfrm flipV="1">
              <a:off x="0" y="1021"/>
              <a:ext cx="7485" cy="1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新宋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13"/>
          <a:srcRect b="38461"/>
          <a:stretch>
            <a:fillRect/>
          </a:stretch>
        </p:blipFill>
        <p:spPr bwMode="auto">
          <a:xfrm>
            <a:off x="0" y="6340475"/>
            <a:ext cx="914400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5175"/>
            <a:ext cx="8229600" cy="555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ssss</a:t>
            </a:r>
          </a:p>
        </p:txBody>
      </p:sp>
      <p:sp>
        <p:nvSpPr>
          <p:cNvPr id="2053" name="Text Box 5"/>
          <p:cNvSpPr txBox="1">
            <a:spLocks noChangeArrowheads="1"/>
          </p:cNvSpPr>
          <p:nvPr userDrawn="1"/>
        </p:nvSpPr>
        <p:spPr bwMode="auto">
          <a:xfrm>
            <a:off x="838200" y="6491288"/>
            <a:ext cx="7010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/>
          </a:p>
        </p:txBody>
      </p:sp>
      <p:grpSp>
        <p:nvGrpSpPr>
          <p:cNvPr id="2054" name="Group 6"/>
          <p:cNvGrpSpPr>
            <a:grpSpLocks/>
          </p:cNvGrpSpPr>
          <p:nvPr userDrawn="1"/>
        </p:nvGrpSpPr>
        <p:grpSpPr bwMode="auto">
          <a:xfrm>
            <a:off x="457200" y="6564313"/>
            <a:ext cx="8229600" cy="476250"/>
            <a:chOff x="0" y="0"/>
            <a:chExt cx="12960" cy="750"/>
          </a:xfrm>
        </p:grpSpPr>
        <p:sp>
          <p:nvSpPr>
            <p:cNvPr id="2055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3360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fld id="{97A4119F-834F-4805-B626-722E14C7D1EC}" type="datetime1">
                <a:rPr lang="zh-CN" altLang="en-US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pPr/>
                <a:t>2020/3/31</a:t>
              </a:fld>
              <a:endParaRPr lang="zh-CN" altLang="zh-CN" sz="1200" b="1">
                <a:solidFill>
                  <a:schemeClr val="bg1"/>
                </a:solidFill>
                <a:latin typeface="新宋体" pitchFamily="49" charset="-122"/>
                <a:ea typeface="新宋体" pitchFamily="49" charset="-122"/>
              </a:endParaRPr>
            </a:p>
          </p:txBody>
        </p:sp>
        <p:sp>
          <p:nvSpPr>
            <p:cNvPr id="2056" name="Rectangle 8"/>
            <p:cNvSpPr>
              <a:spLocks noChangeArrowheads="1"/>
            </p:cNvSpPr>
            <p:nvPr/>
          </p:nvSpPr>
          <p:spPr bwMode="auto">
            <a:xfrm>
              <a:off x="9600" y="0"/>
              <a:ext cx="3360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/>
              <a:fld id="{ED860767-5081-40FF-A9F7-BE3FEFBA07D5}" type="slidenum">
                <a:rPr lang="zh-CN" altLang="en-US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pPr algn="r"/>
                <a:t>‹#›</a:t>
              </a:fld>
              <a:r>
                <a:rPr lang="zh-CN" altLang="en-US" sz="1200" b="1" dirty="0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t> / </a:t>
              </a:r>
              <a:r>
                <a:rPr lang="en-US" altLang="zh-CN" sz="1200" b="1" dirty="0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t>34</a:t>
              </a:r>
              <a:endParaRPr lang="zh-CN" altLang="en-US" sz="1200" b="1" dirty="0">
                <a:solidFill>
                  <a:schemeClr val="bg1"/>
                </a:solidFill>
                <a:latin typeface="新宋体" pitchFamily="49" charset="-122"/>
                <a:ea typeface="新宋体" pitchFamily="49" charset="-122"/>
              </a:endParaRPr>
            </a:p>
          </p:txBody>
        </p: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4200" y="0"/>
              <a:ext cx="4560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zh-CN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t>第二章  随机变量及其分布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新宋体" pitchFamily="49" charset="-122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Ø"/>
        <a:defRPr sz="28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1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5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1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5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7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2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3.wmf"/><Relationship Id="rId20" Type="http://schemas.openxmlformats.org/officeDocument/2006/relationships/image" Target="../media/image6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53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62.wmf"/><Relationship Id="rId22" Type="http://schemas.openxmlformats.org/officeDocument/2006/relationships/image" Target="../media/image6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67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72.png"/><Relationship Id="rId5" Type="http://schemas.openxmlformats.org/officeDocument/2006/relationships/image" Target="../media/image71.wmf"/><Relationship Id="rId4" Type="http://schemas.openxmlformats.org/officeDocument/2006/relationships/oleObject" Target="../embeddings/oleObject3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37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7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86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4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8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94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91.wmf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9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9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99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57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>
                <a:solidFill>
                  <a:srgbClr val="000000"/>
                </a:solidFill>
              </a:rPr>
              <a:t>概率论与数理统计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zh-CN"/>
              <a:t>2011-2012-2    </a:t>
            </a:r>
          </a:p>
          <a:p>
            <a:pPr eaLnBrk="1" hangingPunct="1"/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sz="4300"/>
              <a:t>第二章 随机变量及其分布</a:t>
            </a:r>
          </a:p>
        </p:txBody>
      </p:sp>
      <p:pic>
        <p:nvPicPr>
          <p:cNvPr id="5124" name="Picture 4" descr="1"/>
          <p:cNvPicPr>
            <a:picLocks noChangeAspect="1" noChangeArrowheads="1"/>
          </p:cNvPicPr>
          <p:nvPr/>
        </p:nvPicPr>
        <p:blipFill>
          <a:blip r:embed="rId2"/>
          <a:srcRect b="38461"/>
          <a:stretch>
            <a:fillRect/>
          </a:stretch>
        </p:blipFill>
        <p:spPr bwMode="auto">
          <a:xfrm>
            <a:off x="0" y="6340475"/>
            <a:ext cx="914400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125" name="Group 5"/>
          <p:cNvGrpSpPr>
            <a:grpSpLocks/>
          </p:cNvGrpSpPr>
          <p:nvPr/>
        </p:nvGrpSpPr>
        <p:grpSpPr bwMode="auto">
          <a:xfrm>
            <a:off x="457200" y="6564313"/>
            <a:ext cx="8229600" cy="476250"/>
            <a:chOff x="0" y="0"/>
            <a:chExt cx="12960" cy="750"/>
          </a:xfrm>
        </p:grpSpPr>
        <p:sp>
          <p:nvSpPr>
            <p:cNvPr id="5156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360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fld id="{EF0AA60D-2269-44FC-BF80-7F4F2A412176}" type="datetime1">
                <a:rPr lang="zh-CN" altLang="en-US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pPr/>
                <a:t>2020/3/31</a:t>
              </a:fld>
              <a:endParaRPr lang="zh-CN" altLang="zh-CN" sz="1200" b="1">
                <a:solidFill>
                  <a:schemeClr val="bg1"/>
                </a:solidFill>
                <a:latin typeface="新宋体" pitchFamily="49" charset="-122"/>
                <a:ea typeface="新宋体" pitchFamily="49" charset="-122"/>
              </a:endParaRPr>
            </a:p>
          </p:txBody>
        </p:sp>
        <p:sp>
          <p:nvSpPr>
            <p:cNvPr id="5157" name="Rectangle 7"/>
            <p:cNvSpPr>
              <a:spLocks noChangeArrowheads="1"/>
            </p:cNvSpPr>
            <p:nvPr/>
          </p:nvSpPr>
          <p:spPr bwMode="auto">
            <a:xfrm>
              <a:off x="9600" y="0"/>
              <a:ext cx="3360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r"/>
              <a:fld id="{A4B2384D-74F7-4814-B787-1E56F26D4362}" type="slidenum">
                <a:rPr lang="zh-CN" altLang="zh-CN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pPr algn="r"/>
                <a:t>2</a:t>
              </a:fld>
              <a:r>
                <a:rPr lang="zh-CN" altLang="zh-CN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t> / 30</a:t>
              </a:r>
            </a:p>
          </p:txBody>
        </p:sp>
        <p:sp>
          <p:nvSpPr>
            <p:cNvPr id="5158" name="Rectangle 8"/>
            <p:cNvSpPr>
              <a:spLocks noChangeArrowheads="1"/>
            </p:cNvSpPr>
            <p:nvPr/>
          </p:nvSpPr>
          <p:spPr bwMode="auto">
            <a:xfrm>
              <a:off x="4200" y="0"/>
              <a:ext cx="4560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zh-CN" altLang="zh-CN" sz="1200" b="1">
                  <a:solidFill>
                    <a:schemeClr val="bg1"/>
                  </a:solidFill>
                  <a:latin typeface="新宋体" pitchFamily="49" charset="-122"/>
                  <a:ea typeface="新宋体" pitchFamily="49" charset="-122"/>
                </a:rPr>
                <a:t>第二章  随机变量及其分布</a:t>
              </a:r>
            </a:p>
          </p:txBody>
        </p:sp>
      </p:grpSp>
      <p:sp>
        <p:nvSpPr>
          <p:cNvPr id="5126" name="Line 9"/>
          <p:cNvSpPr>
            <a:spLocks noChangeShapeType="1"/>
          </p:cNvSpPr>
          <p:nvPr/>
        </p:nvSpPr>
        <p:spPr bwMode="auto">
          <a:xfrm>
            <a:off x="2484438" y="4581525"/>
            <a:ext cx="792162" cy="503238"/>
          </a:xfrm>
          <a:prstGeom prst="line">
            <a:avLst/>
          </a:prstGeom>
          <a:noFill/>
          <a:ln w="12700" cap="rnd">
            <a:solidFill>
              <a:srgbClr val="003366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127" name="Line 10"/>
          <p:cNvSpPr>
            <a:spLocks noChangeShapeType="1"/>
          </p:cNvSpPr>
          <p:nvPr/>
        </p:nvSpPr>
        <p:spPr bwMode="auto">
          <a:xfrm flipV="1">
            <a:off x="2286000" y="2133600"/>
            <a:ext cx="990600" cy="374650"/>
          </a:xfrm>
          <a:prstGeom prst="line">
            <a:avLst/>
          </a:prstGeom>
          <a:noFill/>
          <a:ln w="12700" cap="rnd">
            <a:solidFill>
              <a:srgbClr val="003366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128" name="Line 11"/>
          <p:cNvSpPr>
            <a:spLocks noChangeShapeType="1"/>
          </p:cNvSpPr>
          <p:nvPr/>
        </p:nvSpPr>
        <p:spPr bwMode="auto">
          <a:xfrm flipV="1">
            <a:off x="2700338" y="2852738"/>
            <a:ext cx="557212" cy="144462"/>
          </a:xfrm>
          <a:prstGeom prst="line">
            <a:avLst/>
          </a:prstGeom>
          <a:noFill/>
          <a:ln w="12700" cap="rnd">
            <a:solidFill>
              <a:srgbClr val="003366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129" name="Line 12"/>
          <p:cNvSpPr>
            <a:spLocks noChangeShapeType="1"/>
          </p:cNvSpPr>
          <p:nvPr/>
        </p:nvSpPr>
        <p:spPr bwMode="auto">
          <a:xfrm>
            <a:off x="2700338" y="4102100"/>
            <a:ext cx="576262" cy="263525"/>
          </a:xfrm>
          <a:prstGeom prst="line">
            <a:avLst/>
          </a:prstGeom>
          <a:noFill/>
          <a:ln w="12700" cap="rnd">
            <a:solidFill>
              <a:srgbClr val="003366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130" name="Line 13"/>
          <p:cNvSpPr>
            <a:spLocks noChangeShapeType="1"/>
          </p:cNvSpPr>
          <p:nvPr/>
        </p:nvSpPr>
        <p:spPr bwMode="auto">
          <a:xfrm flipV="1">
            <a:off x="2771775" y="3573463"/>
            <a:ext cx="615950" cy="25400"/>
          </a:xfrm>
          <a:prstGeom prst="line">
            <a:avLst/>
          </a:prstGeom>
          <a:noFill/>
          <a:ln w="12700" cap="rnd">
            <a:solidFill>
              <a:srgbClr val="003366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5131" name="Group 14"/>
          <p:cNvGrpSpPr>
            <a:grpSpLocks/>
          </p:cNvGrpSpPr>
          <p:nvPr/>
        </p:nvGrpSpPr>
        <p:grpSpPr bwMode="auto">
          <a:xfrm>
            <a:off x="250825" y="2357438"/>
            <a:ext cx="2646363" cy="2671762"/>
            <a:chOff x="0" y="0"/>
            <a:chExt cx="1684" cy="1683"/>
          </a:xfrm>
        </p:grpSpPr>
        <p:sp>
          <p:nvSpPr>
            <p:cNvPr id="6159" name="Oval 15"/>
            <p:cNvSpPr>
              <a:spLocks noChangeArrowheads="1"/>
            </p:cNvSpPr>
            <p:nvPr/>
          </p:nvSpPr>
          <p:spPr bwMode="auto">
            <a:xfrm>
              <a:off x="0" y="0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tint val="0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160" name="Oval 16"/>
            <p:cNvSpPr>
              <a:spLocks noChangeArrowheads="1"/>
            </p:cNvSpPr>
            <p:nvPr/>
          </p:nvSpPr>
          <p:spPr bwMode="auto">
            <a:xfrm>
              <a:off x="111" y="109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shade val="54118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161" name="Oval 17"/>
            <p:cNvSpPr>
              <a:spLocks noChangeArrowheads="1"/>
            </p:cNvSpPr>
            <p:nvPr/>
          </p:nvSpPr>
          <p:spPr bwMode="auto">
            <a:xfrm>
              <a:off x="118" y="117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shade val="63529"/>
                    <a:invGamma/>
                  </a:schemeClr>
                </a:gs>
                <a:gs pos="100000">
                  <a:schemeClr val="folHlink">
                    <a:alpha val="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50" name="Oval 18"/>
            <p:cNvSpPr>
              <a:spLocks noChangeArrowheads="1"/>
            </p:cNvSpPr>
            <p:nvPr/>
          </p:nvSpPr>
          <p:spPr bwMode="auto">
            <a:xfrm>
              <a:off x="183" y="183"/>
              <a:ext cx="1317" cy="1316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51" name="Oval 19"/>
            <p:cNvSpPr>
              <a:spLocks noChangeArrowheads="1"/>
            </p:cNvSpPr>
            <p:nvPr/>
          </p:nvSpPr>
          <p:spPr bwMode="auto">
            <a:xfrm>
              <a:off x="204" y="204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152" name="Oval 20"/>
            <p:cNvSpPr>
              <a:spLocks noChangeArrowheads="1"/>
            </p:cNvSpPr>
            <p:nvPr/>
          </p:nvSpPr>
          <p:spPr bwMode="auto">
            <a:xfrm>
              <a:off x="220" y="211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153" name="Oval 21"/>
            <p:cNvSpPr>
              <a:spLocks noChangeArrowheads="1"/>
            </p:cNvSpPr>
            <p:nvPr/>
          </p:nvSpPr>
          <p:spPr bwMode="auto">
            <a:xfrm>
              <a:off x="234" y="223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154" name="Oval 22"/>
            <p:cNvSpPr>
              <a:spLocks noChangeArrowheads="1"/>
            </p:cNvSpPr>
            <p:nvPr/>
          </p:nvSpPr>
          <p:spPr bwMode="auto">
            <a:xfrm>
              <a:off x="303" y="256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pic>
          <p:nvPicPr>
            <p:cNvPr id="5155" name="Picture 23" descr="mark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12" y="354"/>
              <a:ext cx="1011" cy="10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132" name="AutoShape 24"/>
          <p:cNvSpPr>
            <a:spLocks noChangeArrowheads="1"/>
          </p:cNvSpPr>
          <p:nvPr/>
        </p:nvSpPr>
        <p:spPr bwMode="auto">
          <a:xfrm>
            <a:off x="3298825" y="1871663"/>
            <a:ext cx="5054600" cy="4889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BEBEBE"/>
              </a:gs>
            </a:gsLst>
            <a:lin ang="5400000" scaled="1"/>
          </a:gradFill>
          <a:ln w="19050">
            <a:solidFill>
              <a:srgbClr val="C0C0C0"/>
            </a:solidFill>
            <a:round/>
            <a:headEnd/>
            <a:tailE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3" name="Rectangle 25"/>
          <p:cNvSpPr>
            <a:spLocks noChangeArrowheads="1"/>
          </p:cNvSpPr>
          <p:nvPr/>
        </p:nvSpPr>
        <p:spPr bwMode="auto">
          <a:xfrm>
            <a:off x="4702175" y="1908175"/>
            <a:ext cx="24574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sz="2000" b="1"/>
              <a:t>随机变量</a:t>
            </a:r>
          </a:p>
        </p:txBody>
      </p:sp>
      <p:sp>
        <p:nvSpPr>
          <p:cNvPr id="5134" name="AutoShape 26"/>
          <p:cNvSpPr>
            <a:spLocks noChangeArrowheads="1"/>
          </p:cNvSpPr>
          <p:nvPr/>
        </p:nvSpPr>
        <p:spPr bwMode="auto">
          <a:xfrm>
            <a:off x="3298825" y="2620963"/>
            <a:ext cx="5054600" cy="4889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BEBEBE"/>
              </a:gs>
            </a:gsLst>
            <a:lin ang="5400000" scaled="1"/>
          </a:gradFill>
          <a:ln w="19050">
            <a:solidFill>
              <a:srgbClr val="C0C0C0"/>
            </a:solidFill>
            <a:round/>
            <a:headEnd/>
            <a:tailE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5" name="Rectangle 27"/>
          <p:cNvSpPr>
            <a:spLocks noChangeArrowheads="1"/>
          </p:cNvSpPr>
          <p:nvPr/>
        </p:nvSpPr>
        <p:spPr bwMode="auto">
          <a:xfrm>
            <a:off x="4702175" y="2657475"/>
            <a:ext cx="33988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sz="2000" b="1"/>
              <a:t>离散型随机变量及其分布律</a:t>
            </a:r>
          </a:p>
        </p:txBody>
      </p:sp>
      <p:sp>
        <p:nvSpPr>
          <p:cNvPr id="5136" name="AutoShape 28"/>
          <p:cNvSpPr>
            <a:spLocks noChangeArrowheads="1"/>
          </p:cNvSpPr>
          <p:nvPr/>
        </p:nvSpPr>
        <p:spPr bwMode="auto">
          <a:xfrm>
            <a:off x="3295650" y="3363913"/>
            <a:ext cx="5054600" cy="4889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BEBEBE"/>
              </a:gs>
            </a:gsLst>
            <a:lin ang="5400000" scaled="1"/>
          </a:gradFill>
          <a:ln w="19050">
            <a:solidFill>
              <a:srgbClr val="C0C0C0"/>
            </a:solidFill>
            <a:round/>
            <a:headEnd/>
            <a:tailE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7" name="Rectangle 29"/>
          <p:cNvSpPr>
            <a:spLocks noChangeArrowheads="1"/>
          </p:cNvSpPr>
          <p:nvPr/>
        </p:nvSpPr>
        <p:spPr bwMode="auto">
          <a:xfrm>
            <a:off x="4699000" y="3400425"/>
            <a:ext cx="3140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sz="2000" b="1"/>
              <a:t>随机变量的分布函数</a:t>
            </a:r>
          </a:p>
        </p:txBody>
      </p:sp>
      <p:sp>
        <p:nvSpPr>
          <p:cNvPr id="5138" name="Oval 30"/>
          <p:cNvSpPr>
            <a:spLocks noChangeArrowheads="1"/>
          </p:cNvSpPr>
          <p:nvPr/>
        </p:nvSpPr>
        <p:spPr bwMode="auto">
          <a:xfrm>
            <a:off x="3209925" y="1989138"/>
            <a:ext cx="227013" cy="2286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9" name="Oval 31"/>
          <p:cNvSpPr>
            <a:spLocks noChangeArrowheads="1"/>
          </p:cNvSpPr>
          <p:nvPr/>
        </p:nvSpPr>
        <p:spPr bwMode="auto">
          <a:xfrm>
            <a:off x="3222625" y="2754313"/>
            <a:ext cx="227013" cy="228600"/>
          </a:xfrm>
          <a:prstGeom prst="ellipse">
            <a:avLst/>
          </a:prstGeom>
          <a:solidFill>
            <a:srgbClr val="FF6600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0" name="Oval 32"/>
          <p:cNvSpPr>
            <a:spLocks noChangeArrowheads="1"/>
          </p:cNvSpPr>
          <p:nvPr/>
        </p:nvSpPr>
        <p:spPr bwMode="auto">
          <a:xfrm>
            <a:off x="3222625" y="3509963"/>
            <a:ext cx="227013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1" name="AutoShape 33"/>
          <p:cNvSpPr>
            <a:spLocks noChangeArrowheads="1"/>
          </p:cNvSpPr>
          <p:nvPr/>
        </p:nvSpPr>
        <p:spPr bwMode="auto">
          <a:xfrm>
            <a:off x="3298825" y="4095750"/>
            <a:ext cx="5054600" cy="4889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BEBEBE"/>
              </a:gs>
            </a:gsLst>
            <a:lin ang="5400000" scaled="1"/>
          </a:gradFill>
          <a:ln w="19050">
            <a:solidFill>
              <a:srgbClr val="C0C0C0"/>
            </a:solidFill>
            <a:round/>
            <a:headEnd/>
            <a:tailE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2" name="Rectangle 34"/>
          <p:cNvSpPr>
            <a:spLocks noChangeArrowheads="1"/>
          </p:cNvSpPr>
          <p:nvPr/>
        </p:nvSpPr>
        <p:spPr bwMode="auto">
          <a:xfrm>
            <a:off x="4594225" y="4171950"/>
            <a:ext cx="3506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sz="2000" b="1"/>
              <a:t>连续型随机变量及其概率密度</a:t>
            </a:r>
          </a:p>
        </p:txBody>
      </p:sp>
      <p:sp>
        <p:nvSpPr>
          <p:cNvPr id="5143" name="Oval 35"/>
          <p:cNvSpPr>
            <a:spLocks noChangeArrowheads="1"/>
          </p:cNvSpPr>
          <p:nvPr/>
        </p:nvSpPr>
        <p:spPr bwMode="auto">
          <a:xfrm>
            <a:off x="3209925" y="4233863"/>
            <a:ext cx="227013" cy="228600"/>
          </a:xfrm>
          <a:prstGeom prst="ellipse">
            <a:avLst/>
          </a:prstGeom>
          <a:solidFill>
            <a:srgbClr val="008000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4" name="AutoShape 36"/>
          <p:cNvSpPr>
            <a:spLocks noChangeArrowheads="1"/>
          </p:cNvSpPr>
          <p:nvPr/>
        </p:nvSpPr>
        <p:spPr bwMode="auto">
          <a:xfrm>
            <a:off x="3298825" y="4884738"/>
            <a:ext cx="5054600" cy="4889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BEBEBE"/>
              </a:gs>
            </a:gsLst>
            <a:lin ang="5400000" scaled="1"/>
          </a:gradFill>
          <a:ln w="19050">
            <a:solidFill>
              <a:srgbClr val="C0C0C0"/>
            </a:solidFill>
            <a:round/>
            <a:headEnd/>
            <a:tailE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5" name="Rectangle 37"/>
          <p:cNvSpPr>
            <a:spLocks noChangeArrowheads="1"/>
          </p:cNvSpPr>
          <p:nvPr/>
        </p:nvSpPr>
        <p:spPr bwMode="auto">
          <a:xfrm>
            <a:off x="4702175" y="4921250"/>
            <a:ext cx="36655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sz="2000" b="1"/>
              <a:t>随机变量的函数的分布</a:t>
            </a:r>
          </a:p>
        </p:txBody>
      </p:sp>
      <p:sp>
        <p:nvSpPr>
          <p:cNvPr id="5146" name="Oval 38"/>
          <p:cNvSpPr>
            <a:spLocks noChangeArrowheads="1"/>
          </p:cNvSpPr>
          <p:nvPr/>
        </p:nvSpPr>
        <p:spPr bwMode="auto">
          <a:xfrm>
            <a:off x="3222625" y="5018088"/>
            <a:ext cx="227013" cy="228600"/>
          </a:xfrm>
          <a:prstGeom prst="ellipse">
            <a:avLst/>
          </a:prstGeom>
          <a:solidFill>
            <a:srgbClr val="008080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/>
              <a:t>   </a:t>
            </a:r>
            <a:r>
              <a:rPr lang="zh-CN"/>
              <a:t>本章要点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chemeClr val="hlink"/>
              </a:buClr>
              <a:buFont typeface="Wingdings" pitchFamily="2" charset="2"/>
              <a:buChar char="v"/>
            </a:pPr>
            <a:r>
              <a:rPr lang="zh-CN" altLang="en-US" sz="3600" b="1">
                <a:solidFill>
                  <a:schemeClr val="hlink"/>
                </a:solidFill>
              </a:rPr>
              <a:t>关键词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3600" b="1"/>
              <a:t>         </a:t>
            </a:r>
            <a:r>
              <a:rPr lang="zh-CN" altLang="en-US" sz="2800" b="1"/>
              <a:t>随机变量、分布函数、概率密度、伯努利试验、泊松定理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/>
              <a:t>          （0-1）分布、二项分布、泊松分布、几何分布、均匀分布、指数分布、正态分布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Font typeface="Wingdings" pitchFamily="2" charset="2"/>
              <a:buChar char="v"/>
            </a:pPr>
            <a:r>
              <a:rPr lang="zh-CN" altLang="en-US" sz="3600" b="1">
                <a:solidFill>
                  <a:schemeClr val="hlink"/>
                </a:solidFill>
              </a:rPr>
              <a:t>需要掌握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2800" b="1">
                <a:latin typeface="宋体" pitchFamily="2" charset="-122"/>
                <a:sym typeface="Arial" pitchFamily="34" charset="0"/>
              </a:rPr>
              <a:t>随机变量的分布律和分布函数、概率密度，利用其计算相关概率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2800" b="1">
                <a:latin typeface="宋体" pitchFamily="2" charset="-122"/>
                <a:sym typeface="Arial" pitchFamily="34" charset="0"/>
              </a:rPr>
              <a:t>掌握各种分布及其性质，会熟练应用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2800" b="1">
                <a:latin typeface="宋体" pitchFamily="2" charset="-122"/>
                <a:sym typeface="Arial" pitchFamily="34" charset="0"/>
              </a:rPr>
              <a:t>会求解随机变量的函数的分布函数</a:t>
            </a:r>
          </a:p>
          <a:p>
            <a:pPr eaLnBrk="1" hangingPunct="1">
              <a:lnSpc>
                <a:spcPct val="90000"/>
              </a:lnSpc>
            </a:pPr>
            <a:endParaRPr lang="zh-CN" altLang="en-US" sz="3600" b="1"/>
          </a:p>
        </p:txBody>
      </p:sp>
      <p:sp>
        <p:nvSpPr>
          <p:cNvPr id="6148" name="Sound"/>
          <p:cNvSpPr>
            <a:spLocks noEditPoints="1" noChangeArrowheads="1"/>
          </p:cNvSpPr>
          <p:nvPr/>
        </p:nvSpPr>
        <p:spPr bwMode="auto">
          <a:xfrm>
            <a:off x="539750" y="260350"/>
            <a:ext cx="400050" cy="546100"/>
          </a:xfrm>
          <a:custGeom>
            <a:avLst/>
            <a:gdLst>
              <a:gd name="T0" fmla="*/ 206767 w 21600"/>
              <a:gd name="T1" fmla="*/ 534950 h 21600"/>
              <a:gd name="T2" fmla="*/ 206767 w 21600"/>
              <a:gd name="T3" fmla="*/ 0 h 21600"/>
              <a:gd name="T4" fmla="*/ 0 w 21600"/>
              <a:gd name="T5" fmla="*/ 273050 h 21600"/>
              <a:gd name="T6" fmla="*/ 400050 w 21600"/>
              <a:gd name="T7" fmla="*/ 27305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61 w 21600"/>
              <a:gd name="T13" fmla="*/ 22454 h 21600"/>
              <a:gd name="T14" fmla="*/ 21069 w 21600"/>
              <a:gd name="T15" fmla="*/ 28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 cmpd="sng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119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603625" y="2419350"/>
            <a:ext cx="2227263" cy="596900"/>
          </a:xfrm>
          <a:prstGeom prst="rect">
            <a:avLst/>
          </a:prstGeom>
          <a:solidFill>
            <a:srgbClr val="FF0000"/>
          </a:solidFill>
          <a:ln w="76200" cmpd="tri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b="1" dirty="0">
                <a:solidFill>
                  <a:srgbClr val="FFFF00"/>
                </a:solidFill>
                <a:latin typeface="隶书" pitchFamily="49" charset="-122"/>
                <a:ea typeface="隶书" pitchFamily="49" charset="-122"/>
              </a:rPr>
              <a:t>随 机 变 量</a:t>
            </a:r>
          </a:p>
        </p:txBody>
      </p:sp>
      <p:sp>
        <p:nvSpPr>
          <p:cNvPr id="8195" name="Rectangle 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464300" y="2114550"/>
            <a:ext cx="1825625" cy="1022350"/>
          </a:xfrm>
          <a:prstGeom prst="rect">
            <a:avLst/>
          </a:prstGeom>
          <a:solidFill>
            <a:srgbClr val="00A87C"/>
          </a:solidFill>
          <a:ln w="76200" cmpd="tri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b="1" dirty="0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离 散 型</a:t>
            </a:r>
          </a:p>
          <a:p>
            <a:pPr algn="ctr"/>
            <a:r>
              <a:rPr lang="zh-CN" b="1" dirty="0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随机变量</a:t>
            </a:r>
          </a:p>
        </p:txBody>
      </p:sp>
      <p:sp>
        <p:nvSpPr>
          <p:cNvPr id="8196" name="Rectangl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55650" y="2130425"/>
            <a:ext cx="1905000" cy="1022350"/>
          </a:xfrm>
          <a:prstGeom prst="rect">
            <a:avLst/>
          </a:prstGeom>
          <a:solidFill>
            <a:srgbClr val="336600"/>
          </a:solidFill>
          <a:ln w="76200" cmpd="tri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b="1" dirty="0">
                <a:solidFill>
                  <a:srgbClr val="66FF33"/>
                </a:solidFill>
                <a:latin typeface="隶书" pitchFamily="49" charset="-122"/>
                <a:ea typeface="隶书" pitchFamily="49" charset="-122"/>
              </a:rPr>
              <a:t>连 续 型随机变量</a:t>
            </a:r>
          </a:p>
        </p:txBody>
      </p:sp>
      <p:sp>
        <p:nvSpPr>
          <p:cNvPr id="8197" name="AutoShape 5"/>
          <p:cNvSpPr>
            <a:spLocks noChangeArrowheads="1"/>
          </p:cNvSpPr>
          <p:nvPr/>
        </p:nvSpPr>
        <p:spPr bwMode="auto">
          <a:xfrm rot="16200000" flipH="1">
            <a:off x="6092031" y="2423319"/>
            <a:ext cx="125413" cy="574675"/>
          </a:xfrm>
          <a:prstGeom prst="downArrow">
            <a:avLst>
              <a:gd name="adj1" fmla="val 50000"/>
              <a:gd name="adj2" fmla="val 114557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8198" name="AutoShape 6"/>
          <p:cNvSpPr>
            <a:spLocks noChangeArrowheads="1"/>
          </p:cNvSpPr>
          <p:nvPr/>
        </p:nvSpPr>
        <p:spPr bwMode="auto">
          <a:xfrm>
            <a:off x="2674938" y="2584450"/>
            <a:ext cx="892175" cy="146050"/>
          </a:xfrm>
          <a:prstGeom prst="leftArrow">
            <a:avLst>
              <a:gd name="adj1" fmla="val 50000"/>
              <a:gd name="adj2" fmla="val 152717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9" name="Rectangle 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575050" y="1123950"/>
            <a:ext cx="2303463" cy="596900"/>
          </a:xfrm>
          <a:prstGeom prst="rect">
            <a:avLst/>
          </a:prstGeom>
          <a:solidFill>
            <a:srgbClr val="993366"/>
          </a:solidFill>
          <a:ln w="76200" cmpd="tri">
            <a:solidFill>
              <a:srgbClr val="FF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b="1" dirty="0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分 布 函 数</a:t>
            </a:r>
          </a:p>
        </p:txBody>
      </p:sp>
      <p:sp>
        <p:nvSpPr>
          <p:cNvPr id="8200" name="AutoShape 8"/>
          <p:cNvSpPr>
            <a:spLocks noChangeArrowheads="1"/>
          </p:cNvSpPr>
          <p:nvPr/>
        </p:nvSpPr>
        <p:spPr bwMode="auto">
          <a:xfrm>
            <a:off x="4625975" y="1733550"/>
            <a:ext cx="144463" cy="644525"/>
          </a:xfrm>
          <a:prstGeom prst="upArrow">
            <a:avLst>
              <a:gd name="adj1" fmla="val 50000"/>
              <a:gd name="adj2" fmla="val 111538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1" name="AutoShape 9"/>
          <p:cNvSpPr>
            <a:spLocks noChangeArrowheads="1"/>
          </p:cNvSpPr>
          <p:nvPr/>
        </p:nvSpPr>
        <p:spPr bwMode="auto">
          <a:xfrm>
            <a:off x="7283450" y="1762125"/>
            <a:ext cx="144463" cy="311150"/>
          </a:xfrm>
          <a:prstGeom prst="upArrow">
            <a:avLst>
              <a:gd name="adj1" fmla="val 50000"/>
              <a:gd name="adj2" fmla="val 53846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2" name="AutoShape 10"/>
          <p:cNvSpPr>
            <a:spLocks noChangeArrowheads="1"/>
          </p:cNvSpPr>
          <p:nvPr/>
        </p:nvSpPr>
        <p:spPr bwMode="auto">
          <a:xfrm>
            <a:off x="1789113" y="1749425"/>
            <a:ext cx="144462" cy="381000"/>
          </a:xfrm>
          <a:prstGeom prst="upArrow">
            <a:avLst>
              <a:gd name="adj1" fmla="val 50000"/>
              <a:gd name="adj2" fmla="val 65934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3" name="Rectangle 11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427788" y="1139825"/>
            <a:ext cx="1828800" cy="593725"/>
          </a:xfrm>
          <a:prstGeom prst="rect">
            <a:avLst/>
          </a:prstGeom>
          <a:solidFill>
            <a:srgbClr val="4D4D4D"/>
          </a:solidFill>
          <a:ln w="76200" cmpd="tri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b="1" dirty="0">
                <a:solidFill>
                  <a:srgbClr val="FFFF00"/>
                </a:solidFill>
                <a:latin typeface="隶书" pitchFamily="49" charset="-122"/>
                <a:ea typeface="隶书" pitchFamily="49" charset="-122"/>
              </a:rPr>
              <a:t>分 布 律</a:t>
            </a:r>
          </a:p>
        </p:txBody>
      </p:sp>
      <p:sp>
        <p:nvSpPr>
          <p:cNvPr id="8204" name="Rectangle 1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55650" y="1123950"/>
            <a:ext cx="2303463" cy="596900"/>
          </a:xfrm>
          <a:prstGeom prst="rect">
            <a:avLst/>
          </a:prstGeom>
          <a:solidFill>
            <a:srgbClr val="6600CC"/>
          </a:solidFill>
          <a:ln w="76200" cmpd="tri">
            <a:solidFill>
              <a:srgbClr val="FF99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b="1" dirty="0">
                <a:solidFill>
                  <a:srgbClr val="FFFF99"/>
                </a:solidFill>
                <a:latin typeface="隶书" pitchFamily="49" charset="-122"/>
                <a:ea typeface="隶书" pitchFamily="49" charset="-122"/>
              </a:rPr>
              <a:t>密 度 函 数</a:t>
            </a:r>
          </a:p>
        </p:txBody>
      </p:sp>
      <p:sp>
        <p:nvSpPr>
          <p:cNvPr id="8205" name="AutoShape 13"/>
          <p:cNvSpPr>
            <a:spLocks noChangeArrowheads="1"/>
          </p:cNvSpPr>
          <p:nvPr/>
        </p:nvSpPr>
        <p:spPr bwMode="auto">
          <a:xfrm>
            <a:off x="3095625" y="1368425"/>
            <a:ext cx="457200" cy="142875"/>
          </a:xfrm>
          <a:prstGeom prst="leftRightArrow">
            <a:avLst>
              <a:gd name="adj1" fmla="val 50000"/>
              <a:gd name="adj2" fmla="val 64000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6" name="AutoShape 14"/>
          <p:cNvSpPr>
            <a:spLocks noChangeArrowheads="1"/>
          </p:cNvSpPr>
          <p:nvPr/>
        </p:nvSpPr>
        <p:spPr bwMode="auto">
          <a:xfrm>
            <a:off x="5918200" y="1393825"/>
            <a:ext cx="457200" cy="123825"/>
          </a:xfrm>
          <a:prstGeom prst="leftRightArrow">
            <a:avLst>
              <a:gd name="adj1" fmla="val 50000"/>
              <a:gd name="adj2" fmla="val 73846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7" name="AutoShape 15"/>
          <p:cNvSpPr>
            <a:spLocks noChangeArrowheads="1"/>
          </p:cNvSpPr>
          <p:nvPr/>
        </p:nvSpPr>
        <p:spPr bwMode="auto">
          <a:xfrm>
            <a:off x="949325" y="3171825"/>
            <a:ext cx="144463" cy="381000"/>
          </a:xfrm>
          <a:prstGeom prst="downArrow">
            <a:avLst>
              <a:gd name="adj1" fmla="val 50000"/>
              <a:gd name="adj2" fmla="val 65934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8208" name="AutoShape 16"/>
          <p:cNvSpPr>
            <a:spLocks noChangeArrowheads="1"/>
          </p:cNvSpPr>
          <p:nvPr/>
        </p:nvSpPr>
        <p:spPr bwMode="auto">
          <a:xfrm>
            <a:off x="1668463" y="3171825"/>
            <a:ext cx="144462" cy="381000"/>
          </a:xfrm>
          <a:prstGeom prst="downArrow">
            <a:avLst>
              <a:gd name="adj1" fmla="val 50000"/>
              <a:gd name="adj2" fmla="val 65934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8209" name="AutoShape 17"/>
          <p:cNvSpPr>
            <a:spLocks noChangeArrowheads="1"/>
          </p:cNvSpPr>
          <p:nvPr/>
        </p:nvSpPr>
        <p:spPr bwMode="auto">
          <a:xfrm>
            <a:off x="2357438" y="3171825"/>
            <a:ext cx="144462" cy="381000"/>
          </a:xfrm>
          <a:prstGeom prst="downArrow">
            <a:avLst>
              <a:gd name="adj1" fmla="val 50000"/>
              <a:gd name="adj2" fmla="val 65934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8210" name="Rectangle 18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84225" y="3571875"/>
            <a:ext cx="541338" cy="1876425"/>
          </a:xfrm>
          <a:prstGeom prst="rect">
            <a:avLst/>
          </a:prstGeom>
          <a:solidFill>
            <a:srgbClr val="FFFF00"/>
          </a:solidFill>
          <a:ln w="76200" cmpd="tri">
            <a:solidFill>
              <a:srgbClr val="3366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b="1">
                <a:latin typeface="隶书" pitchFamily="49" charset="-122"/>
                <a:ea typeface="隶书" pitchFamily="49" charset="-122"/>
              </a:rPr>
              <a:t>均</a:t>
            </a:r>
          </a:p>
          <a:p>
            <a:pPr algn="ctr"/>
            <a:r>
              <a:rPr lang="zh-CN" b="1">
                <a:latin typeface="隶书" pitchFamily="49" charset="-122"/>
                <a:ea typeface="隶书" pitchFamily="49" charset="-122"/>
              </a:rPr>
              <a:t>匀</a:t>
            </a:r>
          </a:p>
          <a:p>
            <a:pPr algn="ctr"/>
            <a:r>
              <a:rPr lang="zh-CN" b="1">
                <a:latin typeface="隶书" pitchFamily="49" charset="-122"/>
                <a:ea typeface="隶书" pitchFamily="49" charset="-122"/>
              </a:rPr>
              <a:t>分</a:t>
            </a:r>
          </a:p>
          <a:p>
            <a:pPr algn="ctr"/>
            <a:r>
              <a:rPr lang="zh-CN" b="1">
                <a:latin typeface="隶书" pitchFamily="49" charset="-122"/>
                <a:ea typeface="隶书" pitchFamily="49" charset="-122"/>
              </a:rPr>
              <a:t>布</a:t>
            </a:r>
          </a:p>
        </p:txBody>
      </p:sp>
      <p:sp>
        <p:nvSpPr>
          <p:cNvPr id="8211" name="Rectangle 19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441450" y="3571875"/>
            <a:ext cx="617538" cy="1876425"/>
          </a:xfrm>
          <a:prstGeom prst="rect">
            <a:avLst/>
          </a:prstGeom>
          <a:solidFill>
            <a:srgbClr val="CC00FF"/>
          </a:solidFill>
          <a:ln w="76200" cmpd="tri">
            <a:solidFill>
              <a:srgbClr val="3366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b="1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指</a:t>
            </a:r>
          </a:p>
          <a:p>
            <a:pPr algn="ctr"/>
            <a:r>
              <a:rPr lang="zh-CN" b="1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数</a:t>
            </a:r>
          </a:p>
          <a:p>
            <a:pPr algn="ctr"/>
            <a:r>
              <a:rPr lang="zh-CN" b="1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分</a:t>
            </a:r>
          </a:p>
          <a:p>
            <a:pPr algn="ctr"/>
            <a:r>
              <a:rPr lang="zh-CN" b="1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布</a:t>
            </a:r>
          </a:p>
        </p:txBody>
      </p:sp>
      <p:sp>
        <p:nvSpPr>
          <p:cNvPr id="8212" name="Rectangle 20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179638" y="3571875"/>
            <a:ext cx="541337" cy="1876425"/>
          </a:xfrm>
          <a:prstGeom prst="rect">
            <a:avLst/>
          </a:prstGeom>
          <a:solidFill>
            <a:srgbClr val="CC3300"/>
          </a:solidFill>
          <a:ln w="76200" cmpd="tri">
            <a:solidFill>
              <a:srgbClr val="3366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b="1">
                <a:solidFill>
                  <a:srgbClr val="00CC99"/>
                </a:solidFill>
                <a:latin typeface="隶书" pitchFamily="49" charset="-122"/>
                <a:ea typeface="隶书" pitchFamily="49" charset="-122"/>
              </a:rPr>
              <a:t>正</a:t>
            </a:r>
          </a:p>
          <a:p>
            <a:pPr algn="ctr"/>
            <a:r>
              <a:rPr lang="zh-CN" b="1">
                <a:solidFill>
                  <a:srgbClr val="00CC99"/>
                </a:solidFill>
                <a:latin typeface="隶书" pitchFamily="49" charset="-122"/>
                <a:ea typeface="隶书" pitchFamily="49" charset="-122"/>
              </a:rPr>
              <a:t>态</a:t>
            </a:r>
          </a:p>
          <a:p>
            <a:pPr algn="ctr"/>
            <a:r>
              <a:rPr lang="zh-CN" b="1">
                <a:solidFill>
                  <a:srgbClr val="00CC99"/>
                </a:solidFill>
                <a:latin typeface="隶书" pitchFamily="49" charset="-122"/>
                <a:ea typeface="隶书" pitchFamily="49" charset="-122"/>
              </a:rPr>
              <a:t>分</a:t>
            </a:r>
          </a:p>
          <a:p>
            <a:pPr algn="ctr"/>
            <a:r>
              <a:rPr lang="zh-CN" b="1">
                <a:solidFill>
                  <a:srgbClr val="00CC99"/>
                </a:solidFill>
                <a:latin typeface="隶书" pitchFamily="49" charset="-122"/>
                <a:ea typeface="隶书" pitchFamily="49" charset="-122"/>
              </a:rPr>
              <a:t>布</a:t>
            </a:r>
          </a:p>
        </p:txBody>
      </p:sp>
      <p:sp>
        <p:nvSpPr>
          <p:cNvPr id="8213" name="AutoShape 21"/>
          <p:cNvSpPr>
            <a:spLocks noChangeArrowheads="1"/>
          </p:cNvSpPr>
          <p:nvPr/>
        </p:nvSpPr>
        <p:spPr bwMode="auto">
          <a:xfrm>
            <a:off x="6538913" y="3181350"/>
            <a:ext cx="144462" cy="381000"/>
          </a:xfrm>
          <a:prstGeom prst="downArrow">
            <a:avLst>
              <a:gd name="adj1" fmla="val 50000"/>
              <a:gd name="adj2" fmla="val 65934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8214" name="AutoShape 22"/>
          <p:cNvSpPr>
            <a:spLocks noChangeArrowheads="1"/>
          </p:cNvSpPr>
          <p:nvPr/>
        </p:nvSpPr>
        <p:spPr bwMode="auto">
          <a:xfrm>
            <a:off x="7299325" y="3181350"/>
            <a:ext cx="144463" cy="381000"/>
          </a:xfrm>
          <a:prstGeom prst="downArrow">
            <a:avLst>
              <a:gd name="adj1" fmla="val 50000"/>
              <a:gd name="adj2" fmla="val 65934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8215" name="AutoShape 23"/>
          <p:cNvSpPr>
            <a:spLocks noChangeArrowheads="1"/>
          </p:cNvSpPr>
          <p:nvPr/>
        </p:nvSpPr>
        <p:spPr bwMode="auto">
          <a:xfrm>
            <a:off x="8083550" y="3181350"/>
            <a:ext cx="144463" cy="381000"/>
          </a:xfrm>
          <a:prstGeom prst="downArrow">
            <a:avLst>
              <a:gd name="adj1" fmla="val 50000"/>
              <a:gd name="adj2" fmla="val 65934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8216" name="Rectangle 2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280150" y="3609975"/>
            <a:ext cx="617538" cy="1876425"/>
          </a:xfrm>
          <a:prstGeom prst="rect">
            <a:avLst/>
          </a:prstGeom>
          <a:solidFill>
            <a:srgbClr val="FF9999"/>
          </a:solidFill>
          <a:ln w="76200" cmpd="tri">
            <a:solidFill>
              <a:srgbClr val="CC33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b="1">
                <a:latin typeface="隶书" pitchFamily="49" charset="-122"/>
                <a:ea typeface="隶书" pitchFamily="49" charset="-122"/>
              </a:rPr>
              <a:t>两</a:t>
            </a:r>
          </a:p>
          <a:p>
            <a:pPr algn="ctr"/>
            <a:r>
              <a:rPr lang="zh-CN" b="1">
                <a:latin typeface="隶书" pitchFamily="49" charset="-122"/>
                <a:ea typeface="隶书" pitchFamily="49" charset="-122"/>
              </a:rPr>
              <a:t>点</a:t>
            </a:r>
          </a:p>
          <a:p>
            <a:pPr algn="ctr"/>
            <a:r>
              <a:rPr lang="zh-CN" b="1">
                <a:latin typeface="隶书" pitchFamily="49" charset="-122"/>
                <a:ea typeface="隶书" pitchFamily="49" charset="-122"/>
              </a:rPr>
              <a:t>分</a:t>
            </a:r>
          </a:p>
          <a:p>
            <a:pPr algn="ctr"/>
            <a:r>
              <a:rPr lang="zh-CN" b="1">
                <a:latin typeface="隶书" pitchFamily="49" charset="-122"/>
                <a:ea typeface="隶书" pitchFamily="49" charset="-122"/>
              </a:rPr>
              <a:t>布</a:t>
            </a:r>
          </a:p>
        </p:txBody>
      </p:sp>
      <p:sp>
        <p:nvSpPr>
          <p:cNvPr id="8217" name="Rectangle 2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108825" y="3597275"/>
            <a:ext cx="617538" cy="1876425"/>
          </a:xfrm>
          <a:prstGeom prst="rect">
            <a:avLst/>
          </a:prstGeom>
          <a:solidFill>
            <a:srgbClr val="66FFFF"/>
          </a:solidFill>
          <a:ln w="76200" cmpd="tri">
            <a:solidFill>
              <a:srgbClr val="CC33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b="1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二</a:t>
            </a:r>
          </a:p>
          <a:p>
            <a:pPr algn="ctr"/>
            <a:r>
              <a:rPr lang="zh-CN" b="1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项</a:t>
            </a:r>
          </a:p>
          <a:p>
            <a:pPr algn="ctr"/>
            <a:r>
              <a:rPr lang="zh-CN" b="1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分</a:t>
            </a:r>
          </a:p>
          <a:p>
            <a:pPr algn="ctr"/>
            <a:r>
              <a:rPr lang="zh-CN" b="1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布</a:t>
            </a:r>
          </a:p>
        </p:txBody>
      </p:sp>
      <p:sp>
        <p:nvSpPr>
          <p:cNvPr id="8218" name="Rectangle 2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910513" y="3609975"/>
            <a:ext cx="617537" cy="1876425"/>
          </a:xfrm>
          <a:prstGeom prst="rect">
            <a:avLst/>
          </a:prstGeom>
          <a:solidFill>
            <a:srgbClr val="990099"/>
          </a:solidFill>
          <a:ln w="76200" cmpd="tri">
            <a:solidFill>
              <a:srgbClr val="CC33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b="1">
                <a:solidFill>
                  <a:srgbClr val="FFFF87"/>
                </a:solidFill>
                <a:latin typeface="隶书" pitchFamily="49" charset="-122"/>
                <a:ea typeface="隶书" pitchFamily="49" charset="-122"/>
              </a:rPr>
              <a:t>泊</a:t>
            </a:r>
          </a:p>
          <a:p>
            <a:pPr algn="ctr"/>
            <a:r>
              <a:rPr lang="zh-CN" b="1">
                <a:solidFill>
                  <a:srgbClr val="FFFF87"/>
                </a:solidFill>
                <a:latin typeface="隶书" pitchFamily="49" charset="-122"/>
                <a:ea typeface="隶书" pitchFamily="49" charset="-122"/>
              </a:rPr>
              <a:t>松</a:t>
            </a:r>
          </a:p>
          <a:p>
            <a:pPr algn="ctr"/>
            <a:r>
              <a:rPr lang="zh-CN" b="1">
                <a:solidFill>
                  <a:srgbClr val="FFFF87"/>
                </a:solidFill>
                <a:latin typeface="隶书" pitchFamily="49" charset="-122"/>
                <a:ea typeface="隶书" pitchFamily="49" charset="-122"/>
              </a:rPr>
              <a:t>分</a:t>
            </a:r>
          </a:p>
          <a:p>
            <a:pPr algn="ctr"/>
            <a:r>
              <a:rPr lang="zh-CN" b="1">
                <a:solidFill>
                  <a:srgbClr val="FFFF87"/>
                </a:solidFill>
                <a:latin typeface="隶书" pitchFamily="49" charset="-122"/>
                <a:ea typeface="隶书" pitchFamily="49" charset="-122"/>
              </a:rPr>
              <a:t>布</a:t>
            </a:r>
          </a:p>
        </p:txBody>
      </p:sp>
      <p:sp>
        <p:nvSpPr>
          <p:cNvPr id="8219" name="AutoShape 27"/>
          <p:cNvSpPr>
            <a:spLocks noChangeArrowheads="1"/>
          </p:cNvSpPr>
          <p:nvPr/>
        </p:nvSpPr>
        <p:spPr bwMode="auto">
          <a:xfrm>
            <a:off x="3990975" y="3035300"/>
            <a:ext cx="144463" cy="873125"/>
          </a:xfrm>
          <a:prstGeom prst="downArrow">
            <a:avLst>
              <a:gd name="adj1" fmla="val 50000"/>
              <a:gd name="adj2" fmla="val 151098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8220" name="Rectangle 28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041650" y="3943350"/>
            <a:ext cx="1828800" cy="1450975"/>
          </a:xfrm>
          <a:prstGeom prst="rect">
            <a:avLst/>
          </a:prstGeom>
          <a:solidFill>
            <a:srgbClr val="FFFF87"/>
          </a:solidFill>
          <a:ln w="76200" cmpd="tri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b="1">
                <a:solidFill>
                  <a:srgbClr val="CC3300"/>
                </a:solidFill>
                <a:latin typeface="隶书" pitchFamily="49" charset="-122"/>
                <a:ea typeface="隶书" pitchFamily="49" charset="-122"/>
              </a:rPr>
              <a:t>随机变量</a:t>
            </a:r>
          </a:p>
          <a:p>
            <a:pPr algn="ctr"/>
            <a:r>
              <a:rPr lang="zh-CN" b="1">
                <a:solidFill>
                  <a:srgbClr val="CC3300"/>
                </a:solidFill>
                <a:latin typeface="隶书" pitchFamily="49" charset="-122"/>
                <a:ea typeface="隶书" pitchFamily="49" charset="-122"/>
              </a:rPr>
              <a:t>的函数的</a:t>
            </a:r>
          </a:p>
          <a:p>
            <a:pPr algn="ctr"/>
            <a:r>
              <a:rPr lang="zh-CN" altLang="zh-CN" b="1">
                <a:solidFill>
                  <a:srgbClr val="CC33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b="1">
                <a:solidFill>
                  <a:srgbClr val="CC3300"/>
                </a:solidFill>
                <a:latin typeface="隶书" pitchFamily="49" charset="-122"/>
                <a:ea typeface="隶书" pitchFamily="49" charset="-122"/>
              </a:rPr>
              <a:t>分 布</a:t>
            </a:r>
          </a:p>
        </p:txBody>
      </p:sp>
      <p:sp>
        <p:nvSpPr>
          <p:cNvPr id="8221" name="AutoShape 29"/>
          <p:cNvSpPr>
            <a:spLocks noChangeArrowheads="1"/>
          </p:cNvSpPr>
          <p:nvPr/>
        </p:nvSpPr>
        <p:spPr bwMode="auto">
          <a:xfrm>
            <a:off x="5251450" y="3035300"/>
            <a:ext cx="144463" cy="879475"/>
          </a:xfrm>
          <a:prstGeom prst="downArrow">
            <a:avLst>
              <a:gd name="adj1" fmla="val 50000"/>
              <a:gd name="adj2" fmla="val 152197"/>
            </a:avLst>
          </a:prstGeom>
          <a:solidFill>
            <a:srgbClr val="FF99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8222" name="Rectangle 30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091113" y="3943350"/>
            <a:ext cx="617537" cy="1447800"/>
          </a:xfrm>
          <a:prstGeom prst="rect">
            <a:avLst/>
          </a:prstGeom>
          <a:solidFill>
            <a:srgbClr val="006699"/>
          </a:solidFill>
          <a:ln w="76200" cmpd="tri">
            <a:solidFill>
              <a:srgbClr val="66FF33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b="1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定</a:t>
            </a:r>
          </a:p>
          <a:p>
            <a:endParaRPr lang="zh-CN" altLang="zh-CN" b="1">
              <a:solidFill>
                <a:schemeClr val="bg1"/>
              </a:solidFill>
              <a:latin typeface="隶书" pitchFamily="49" charset="-122"/>
              <a:ea typeface="隶书" pitchFamily="49" charset="-122"/>
            </a:endParaRPr>
          </a:p>
          <a:p>
            <a:r>
              <a:rPr lang="zh-CN" b="1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ldLvl="0" animBg="1" autoUpdateAnimBg="0"/>
      <p:bldP spid="8195" grpId="0" bldLvl="0" animBg="1" autoUpdateAnimBg="0"/>
      <p:bldP spid="8196" grpId="0" bldLvl="0" animBg="1" autoUpdateAnimBg="0"/>
      <p:bldP spid="8197" grpId="0" animBg="1"/>
      <p:bldP spid="8198" grpId="0" animBg="1"/>
      <p:bldP spid="8199" grpId="0" bldLvl="0" animBg="1" autoUpdateAnimBg="0"/>
      <p:bldP spid="8200" grpId="0" animBg="1"/>
      <p:bldP spid="8201" grpId="0" animBg="1"/>
      <p:bldP spid="8202" grpId="0" animBg="1"/>
      <p:bldP spid="8203" grpId="0" bldLvl="0" animBg="1" autoUpdateAnimBg="0"/>
      <p:bldP spid="8204" grpId="0" bldLvl="0" animBg="1" autoUpdateAnimBg="0"/>
      <p:bldP spid="8205" grpId="0" animBg="1"/>
      <p:bldP spid="8206" grpId="0" animBg="1"/>
      <p:bldP spid="8207" grpId="0" animBg="1"/>
      <p:bldP spid="8208" grpId="0" animBg="1"/>
      <p:bldP spid="8209" grpId="0" animBg="1"/>
      <p:bldP spid="8210" grpId="0" bldLvl="0" animBg="1" autoUpdateAnimBg="0"/>
      <p:bldP spid="8211" grpId="0" bldLvl="0" animBg="1" autoUpdateAnimBg="0"/>
      <p:bldP spid="8212" grpId="0" bldLvl="0" animBg="1" autoUpdateAnimBg="0"/>
      <p:bldP spid="8213" grpId="0" animBg="1"/>
      <p:bldP spid="8214" grpId="0" animBg="1"/>
      <p:bldP spid="8215" grpId="0" animBg="1"/>
      <p:bldP spid="8216" grpId="0" bldLvl="0" animBg="1" autoUpdateAnimBg="0"/>
      <p:bldP spid="8217" grpId="0" bldLvl="0" animBg="1" autoUpdateAnimBg="0"/>
      <p:bldP spid="8218" grpId="0" bldLvl="0" animBg="1" autoUpdateAnimBg="0"/>
      <p:bldP spid="8219" grpId="0" animBg="1"/>
      <p:bldP spid="8220" grpId="0" bldLvl="0" animBg="1" autoUpdateAnimBg="0"/>
      <p:bldP spid="8221" grpId="0" animBg="1"/>
      <p:bldP spid="8222" grpId="0" bldLvl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052"/>
          <p:cNvSpPr txBox="1">
            <a:spLocks noChangeArrowheads="1"/>
          </p:cNvSpPr>
          <p:nvPr/>
        </p:nvSpPr>
        <p:spPr bwMode="auto">
          <a:xfrm>
            <a:off x="1371600" y="900113"/>
            <a:ext cx="3124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solidFill>
                  <a:schemeClr val="accent2"/>
                </a:solidFill>
                <a:latin typeface="Tahoma" pitchFamily="34" charset="0"/>
              </a:rPr>
              <a:t>等可能概型</a:t>
            </a:r>
          </a:p>
        </p:txBody>
      </p:sp>
      <p:sp>
        <p:nvSpPr>
          <p:cNvPr id="8195" name="Text Box 2053"/>
          <p:cNvSpPr txBox="1">
            <a:spLocks noChangeArrowheads="1"/>
          </p:cNvSpPr>
          <p:nvPr/>
        </p:nvSpPr>
        <p:spPr bwMode="auto">
          <a:xfrm>
            <a:off x="1295400" y="1890713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latin typeface="Tahoma" pitchFamily="34" charset="0"/>
              </a:rPr>
              <a:t>贝努里概型</a:t>
            </a:r>
          </a:p>
        </p:txBody>
      </p:sp>
      <p:sp>
        <p:nvSpPr>
          <p:cNvPr id="8196" name="Text Box 2054"/>
          <p:cNvSpPr txBox="1">
            <a:spLocks noChangeArrowheads="1"/>
          </p:cNvSpPr>
          <p:nvPr/>
        </p:nvSpPr>
        <p:spPr bwMode="auto">
          <a:xfrm>
            <a:off x="1295400" y="2895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latin typeface="Tahoma" pitchFamily="34" charset="0"/>
              </a:rPr>
              <a:t>离散几何概型</a:t>
            </a:r>
          </a:p>
        </p:txBody>
      </p:sp>
      <p:sp>
        <p:nvSpPr>
          <p:cNvPr id="8197" name="Text Box 2055"/>
          <p:cNvSpPr txBox="1">
            <a:spLocks noChangeArrowheads="1"/>
          </p:cNvSpPr>
          <p:nvPr/>
        </p:nvSpPr>
        <p:spPr bwMode="auto">
          <a:xfrm>
            <a:off x="1371600" y="33528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latin typeface="Tahoma" pitchFamily="34" charset="0"/>
              </a:rPr>
              <a:t>超几何概型</a:t>
            </a:r>
          </a:p>
        </p:txBody>
      </p:sp>
      <p:sp>
        <p:nvSpPr>
          <p:cNvPr id="8198" name="Text Box 2056"/>
          <p:cNvSpPr txBox="1">
            <a:spLocks noChangeArrowheads="1"/>
          </p:cNvSpPr>
          <p:nvPr/>
        </p:nvSpPr>
        <p:spPr bwMode="auto">
          <a:xfrm>
            <a:off x="1371600" y="2347913"/>
            <a:ext cx="243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latin typeface="Tahoma" pitchFamily="34" charset="0"/>
              </a:rPr>
              <a:t>泊松概型</a:t>
            </a:r>
          </a:p>
        </p:txBody>
      </p:sp>
      <p:sp>
        <p:nvSpPr>
          <p:cNvPr id="8199" name="Text Box 2057"/>
          <p:cNvSpPr txBox="1">
            <a:spLocks noChangeArrowheads="1"/>
          </p:cNvSpPr>
          <p:nvPr/>
        </p:nvSpPr>
        <p:spPr bwMode="auto">
          <a:xfrm>
            <a:off x="1371600" y="3886200"/>
            <a:ext cx="434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latin typeface="Tahoma" pitchFamily="34" charset="0"/>
              </a:rPr>
              <a:t>均匀概型</a:t>
            </a:r>
          </a:p>
        </p:txBody>
      </p:sp>
      <p:sp>
        <p:nvSpPr>
          <p:cNvPr id="8200" name="Text Box 2058"/>
          <p:cNvSpPr txBox="1">
            <a:spLocks noChangeArrowheads="1"/>
          </p:cNvSpPr>
          <p:nvPr/>
        </p:nvSpPr>
        <p:spPr bwMode="auto">
          <a:xfrm>
            <a:off x="1371600" y="44196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latin typeface="Tahoma" pitchFamily="34" charset="0"/>
              </a:rPr>
              <a:t>指数概型</a:t>
            </a:r>
          </a:p>
        </p:txBody>
      </p:sp>
      <p:sp>
        <p:nvSpPr>
          <p:cNvPr id="8201" name="Text Box 2059"/>
          <p:cNvSpPr txBox="1">
            <a:spLocks noChangeArrowheads="1"/>
          </p:cNvSpPr>
          <p:nvPr/>
        </p:nvSpPr>
        <p:spPr bwMode="auto">
          <a:xfrm>
            <a:off x="1371600" y="50292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solidFill>
                  <a:schemeClr val="accent2"/>
                </a:solidFill>
                <a:latin typeface="Tahoma" pitchFamily="34" charset="0"/>
              </a:rPr>
              <a:t>正态概型</a:t>
            </a:r>
          </a:p>
        </p:txBody>
      </p:sp>
      <p:sp>
        <p:nvSpPr>
          <p:cNvPr id="8202" name="Text Box 2060"/>
          <p:cNvSpPr txBox="1">
            <a:spLocks noChangeArrowheads="1"/>
          </p:cNvSpPr>
          <p:nvPr/>
        </p:nvSpPr>
        <p:spPr bwMode="auto">
          <a:xfrm>
            <a:off x="3886200" y="1890713"/>
            <a:ext cx="2835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sz="2400" b="1" dirty="0">
                <a:latin typeface="Tahoma" pitchFamily="34" charset="0"/>
              </a:rPr>
              <a:t>二项分布</a:t>
            </a:r>
          </a:p>
        </p:txBody>
      </p:sp>
      <p:sp>
        <p:nvSpPr>
          <p:cNvPr id="8203" name="Line 2061"/>
          <p:cNvSpPr>
            <a:spLocks noChangeShapeType="1"/>
          </p:cNvSpPr>
          <p:nvPr/>
        </p:nvSpPr>
        <p:spPr bwMode="auto">
          <a:xfrm>
            <a:off x="3124200" y="11287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8204" name="Line 2062"/>
          <p:cNvSpPr>
            <a:spLocks noChangeShapeType="1"/>
          </p:cNvSpPr>
          <p:nvPr/>
        </p:nvSpPr>
        <p:spPr bwMode="auto">
          <a:xfrm>
            <a:off x="3200400" y="21193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8205" name="Line 2063"/>
          <p:cNvSpPr>
            <a:spLocks noChangeShapeType="1"/>
          </p:cNvSpPr>
          <p:nvPr/>
        </p:nvSpPr>
        <p:spPr bwMode="auto">
          <a:xfrm>
            <a:off x="3124200" y="2590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8206" name="Line 2064"/>
          <p:cNvSpPr>
            <a:spLocks noChangeShapeType="1"/>
          </p:cNvSpPr>
          <p:nvPr/>
        </p:nvSpPr>
        <p:spPr bwMode="auto">
          <a:xfrm>
            <a:off x="3352800" y="312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8207" name="Line 2065"/>
          <p:cNvSpPr>
            <a:spLocks noChangeShapeType="1"/>
          </p:cNvSpPr>
          <p:nvPr/>
        </p:nvSpPr>
        <p:spPr bwMode="auto">
          <a:xfrm>
            <a:off x="3276600" y="3581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8208" name="Line 2066"/>
          <p:cNvSpPr>
            <a:spLocks noChangeShapeType="1"/>
          </p:cNvSpPr>
          <p:nvPr/>
        </p:nvSpPr>
        <p:spPr bwMode="auto">
          <a:xfrm>
            <a:off x="2971800" y="4114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8209" name="Line 2067"/>
          <p:cNvSpPr>
            <a:spLocks noChangeShapeType="1"/>
          </p:cNvSpPr>
          <p:nvPr/>
        </p:nvSpPr>
        <p:spPr bwMode="auto">
          <a:xfrm>
            <a:off x="2971800" y="4648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8210" name="Line 2068"/>
          <p:cNvSpPr>
            <a:spLocks noChangeShapeType="1"/>
          </p:cNvSpPr>
          <p:nvPr/>
        </p:nvSpPr>
        <p:spPr bwMode="auto">
          <a:xfrm>
            <a:off x="2971800" y="5257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8211" name="Rectangle 2069"/>
          <p:cNvSpPr>
            <a:spLocks noChangeArrowheads="1"/>
          </p:cNvSpPr>
          <p:nvPr/>
        </p:nvSpPr>
        <p:spPr bwMode="auto">
          <a:xfrm>
            <a:off x="6096000" y="9906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zh-CN" sz="2400" b="1">
                <a:latin typeface="Times New Roman" pitchFamily="18" charset="0"/>
              </a:rPr>
              <a:t>P </a:t>
            </a:r>
            <a:r>
              <a:rPr lang="zh-CN" altLang="zh-CN" sz="2400" b="1" baseline="-25000">
                <a:latin typeface="Times New Roman" pitchFamily="18" charset="0"/>
              </a:rPr>
              <a:t>12  </a:t>
            </a:r>
            <a:r>
              <a:rPr lang="zh-CN" altLang="zh-CN" sz="2400" b="1">
                <a:latin typeface="Times New Roman" pitchFamily="18" charset="0"/>
              </a:rPr>
              <a:t>(4.1)</a:t>
            </a:r>
          </a:p>
        </p:txBody>
      </p:sp>
      <p:sp>
        <p:nvSpPr>
          <p:cNvPr id="8212" name="Rectangle 2070"/>
          <p:cNvSpPr>
            <a:spLocks noChangeArrowheads="1"/>
          </p:cNvSpPr>
          <p:nvPr/>
        </p:nvSpPr>
        <p:spPr bwMode="auto">
          <a:xfrm>
            <a:off x="3886200" y="2347913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sz="2400" b="1" dirty="0">
                <a:latin typeface="Tahoma" pitchFamily="34" charset="0"/>
              </a:rPr>
              <a:t>泊松分布</a:t>
            </a:r>
          </a:p>
        </p:txBody>
      </p:sp>
      <p:sp>
        <p:nvSpPr>
          <p:cNvPr id="8213" name="Text Box 2071"/>
          <p:cNvSpPr txBox="1">
            <a:spLocks noChangeArrowheads="1"/>
          </p:cNvSpPr>
          <p:nvPr/>
        </p:nvSpPr>
        <p:spPr bwMode="auto">
          <a:xfrm>
            <a:off x="3886200" y="2895600"/>
            <a:ext cx="243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 dirty="0">
                <a:latin typeface="Tahoma" pitchFamily="34" charset="0"/>
              </a:rPr>
              <a:t>几何分布</a:t>
            </a:r>
          </a:p>
        </p:txBody>
      </p:sp>
      <p:sp>
        <p:nvSpPr>
          <p:cNvPr id="8214" name="Text Box 2072"/>
          <p:cNvSpPr txBox="1">
            <a:spLocks noChangeArrowheads="1"/>
          </p:cNvSpPr>
          <p:nvPr/>
        </p:nvSpPr>
        <p:spPr bwMode="auto">
          <a:xfrm>
            <a:off x="3962400" y="33528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latin typeface="Tahoma" pitchFamily="34" charset="0"/>
              </a:rPr>
              <a:t>超几何分布</a:t>
            </a:r>
          </a:p>
        </p:txBody>
      </p:sp>
      <p:sp>
        <p:nvSpPr>
          <p:cNvPr id="8215" name="Text Box 2073"/>
          <p:cNvSpPr txBox="1">
            <a:spLocks noChangeArrowheads="1"/>
          </p:cNvSpPr>
          <p:nvPr/>
        </p:nvSpPr>
        <p:spPr bwMode="auto">
          <a:xfrm>
            <a:off x="3733800" y="38862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latin typeface="Tahoma" pitchFamily="34" charset="0"/>
              </a:rPr>
              <a:t>均匀分布</a:t>
            </a:r>
          </a:p>
        </p:txBody>
      </p:sp>
      <p:sp>
        <p:nvSpPr>
          <p:cNvPr id="8216" name="Text Box 2074"/>
          <p:cNvSpPr txBox="1">
            <a:spLocks noChangeArrowheads="1"/>
          </p:cNvSpPr>
          <p:nvPr/>
        </p:nvSpPr>
        <p:spPr bwMode="auto">
          <a:xfrm>
            <a:off x="3733800" y="44958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latin typeface="Tahoma" pitchFamily="34" charset="0"/>
              </a:rPr>
              <a:t>指数分布</a:t>
            </a:r>
          </a:p>
        </p:txBody>
      </p:sp>
      <p:sp>
        <p:nvSpPr>
          <p:cNvPr id="8217" name="Text Box 2075"/>
          <p:cNvSpPr txBox="1">
            <a:spLocks noChangeArrowheads="1"/>
          </p:cNvSpPr>
          <p:nvPr/>
        </p:nvSpPr>
        <p:spPr bwMode="auto">
          <a:xfrm>
            <a:off x="3733800" y="502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latin typeface="Tahoma" pitchFamily="34" charset="0"/>
              </a:rPr>
              <a:t>正态分布</a:t>
            </a:r>
          </a:p>
        </p:txBody>
      </p:sp>
      <p:sp>
        <p:nvSpPr>
          <p:cNvPr id="8218" name="Rectangle 2076"/>
          <p:cNvSpPr>
            <a:spLocks noChangeArrowheads="1"/>
          </p:cNvSpPr>
          <p:nvPr/>
        </p:nvSpPr>
        <p:spPr bwMode="auto">
          <a:xfrm>
            <a:off x="1371600" y="304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sz="2400" b="1">
                <a:solidFill>
                  <a:srgbClr val="0A2AB0"/>
                </a:solidFill>
                <a:latin typeface="Tahoma" pitchFamily="34" charset="0"/>
              </a:rPr>
              <a:t>概率模型</a:t>
            </a:r>
          </a:p>
        </p:txBody>
      </p:sp>
      <p:graphicFrame>
        <p:nvGraphicFramePr>
          <p:cNvPr id="8219" name="Object 27"/>
          <p:cNvGraphicFramePr>
            <a:graphicFrameLocks noChangeAspect="1"/>
          </p:cNvGraphicFramePr>
          <p:nvPr/>
        </p:nvGraphicFramePr>
        <p:xfrm>
          <a:off x="2438400" y="5599113"/>
          <a:ext cx="26050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3" imgW="1208073" imgH="228898" progId="Equation.3">
                  <p:embed/>
                </p:oleObj>
              </mc:Choice>
              <mc:Fallback>
                <p:oleObj r:id="rId3" imgW="1208073" imgH="228898" progId="Equation.3">
                  <p:embed/>
                  <p:pic>
                    <p:nvPicPr>
                      <p:cNvPr id="821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599113"/>
                        <a:ext cx="260508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0" name="AutoShape 2079"/>
          <p:cNvSpPr>
            <a:spLocks/>
          </p:cNvSpPr>
          <p:nvPr/>
        </p:nvSpPr>
        <p:spPr bwMode="auto">
          <a:xfrm>
            <a:off x="5791200" y="1143000"/>
            <a:ext cx="381000" cy="2362200"/>
          </a:xfrm>
          <a:prstGeom prst="rightBrace">
            <a:avLst>
              <a:gd name="adj1" fmla="val 51667"/>
              <a:gd name="adj2" fmla="val 50000"/>
            </a:avLst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zh-CN">
              <a:latin typeface="Tahoma" pitchFamily="34" charset="0"/>
            </a:endParaRPr>
          </a:p>
        </p:txBody>
      </p:sp>
      <p:sp>
        <p:nvSpPr>
          <p:cNvPr id="8221" name="Text Box 2080"/>
          <p:cNvSpPr txBox="1">
            <a:spLocks noChangeArrowheads="1"/>
          </p:cNvSpPr>
          <p:nvPr/>
        </p:nvSpPr>
        <p:spPr bwMode="auto">
          <a:xfrm>
            <a:off x="6172200" y="20574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solidFill>
                  <a:schemeClr val="tx2"/>
                </a:solidFill>
                <a:latin typeface="Tahoma" pitchFamily="34" charset="0"/>
              </a:rPr>
              <a:t>离散型</a:t>
            </a:r>
          </a:p>
        </p:txBody>
      </p:sp>
      <p:sp>
        <p:nvSpPr>
          <p:cNvPr id="8222" name="AutoShape 2081"/>
          <p:cNvSpPr>
            <a:spLocks/>
          </p:cNvSpPr>
          <p:nvPr/>
        </p:nvSpPr>
        <p:spPr bwMode="auto">
          <a:xfrm>
            <a:off x="5257800" y="4038600"/>
            <a:ext cx="304800" cy="1981200"/>
          </a:xfrm>
          <a:prstGeom prst="rightBrace">
            <a:avLst>
              <a:gd name="adj1" fmla="val 54167"/>
              <a:gd name="adj2" fmla="val 50000"/>
            </a:avLst>
          </a:prstGeom>
          <a:noFill/>
          <a:ln w="952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zh-CN">
              <a:latin typeface="Tahoma" pitchFamily="34" charset="0"/>
            </a:endParaRPr>
          </a:p>
        </p:txBody>
      </p:sp>
      <p:sp>
        <p:nvSpPr>
          <p:cNvPr id="8223" name="Text Box 2082"/>
          <p:cNvSpPr txBox="1">
            <a:spLocks noChangeArrowheads="1"/>
          </p:cNvSpPr>
          <p:nvPr/>
        </p:nvSpPr>
        <p:spPr bwMode="auto">
          <a:xfrm>
            <a:off x="5638800" y="47244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solidFill>
                  <a:srgbClr val="008000"/>
                </a:solidFill>
                <a:latin typeface="Tahoma" pitchFamily="34" charset="0"/>
              </a:rPr>
              <a:t>连续型</a:t>
            </a:r>
          </a:p>
        </p:txBody>
      </p:sp>
      <p:sp>
        <p:nvSpPr>
          <p:cNvPr id="8224" name="Arc 2084"/>
          <p:cNvSpPr>
            <a:spLocks/>
          </p:cNvSpPr>
          <p:nvPr/>
        </p:nvSpPr>
        <p:spPr bwMode="auto">
          <a:xfrm flipH="1">
            <a:off x="809625" y="1144588"/>
            <a:ext cx="561975" cy="3046412"/>
          </a:xfrm>
          <a:custGeom>
            <a:avLst/>
            <a:gdLst>
              <a:gd name="T0" fmla="*/ 18857 w 22351"/>
              <a:gd name="T1" fmla="*/ 0 h 43200"/>
              <a:gd name="T2" fmla="*/ 561975 w 22351"/>
              <a:gd name="T3" fmla="*/ 1523206 h 43200"/>
              <a:gd name="T4" fmla="*/ 18883 w 22351"/>
              <a:gd name="T5" fmla="*/ 3046412 h 43200"/>
              <a:gd name="T6" fmla="*/ 0 w 22351"/>
              <a:gd name="T7" fmla="*/ 3045425 h 43200"/>
              <a:gd name="T8" fmla="*/ 18857 w 22351"/>
              <a:gd name="T9" fmla="*/ 0 h 43200"/>
              <a:gd name="T10" fmla="*/ 561975 w 22351"/>
              <a:gd name="T11" fmla="*/ 1523206 h 43200"/>
              <a:gd name="T12" fmla="*/ 18883 w 22351"/>
              <a:gd name="T13" fmla="*/ 3046412 h 43200"/>
              <a:gd name="T14" fmla="*/ 0 w 22351"/>
              <a:gd name="T15" fmla="*/ 3045425 h 43200"/>
              <a:gd name="T16" fmla="*/ 18883 w 22351"/>
              <a:gd name="T17" fmla="*/ 1523206 h 43200"/>
              <a:gd name="T18" fmla="*/ 18857 w 22351"/>
              <a:gd name="T19" fmla="*/ 0 h 432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2351" h="43200" fill="none" extrusionOk="0">
                <a:moveTo>
                  <a:pt x="750" y="0"/>
                </a:moveTo>
                <a:cubicBezTo>
                  <a:pt x="12680" y="0"/>
                  <a:pt x="22351" y="9670"/>
                  <a:pt x="22351" y="21600"/>
                </a:cubicBezTo>
                <a:cubicBezTo>
                  <a:pt x="22351" y="33529"/>
                  <a:pt x="12680" y="43200"/>
                  <a:pt x="751" y="43200"/>
                </a:cubicBezTo>
                <a:cubicBezTo>
                  <a:pt x="500" y="43200"/>
                  <a:pt x="250" y="43195"/>
                  <a:pt x="0" y="43186"/>
                </a:cubicBezTo>
              </a:path>
              <a:path w="22351" h="43200" stroke="0" extrusionOk="0">
                <a:moveTo>
                  <a:pt x="750" y="0"/>
                </a:moveTo>
                <a:cubicBezTo>
                  <a:pt x="12680" y="0"/>
                  <a:pt x="22351" y="9670"/>
                  <a:pt x="22351" y="21600"/>
                </a:cubicBezTo>
                <a:cubicBezTo>
                  <a:pt x="22351" y="33529"/>
                  <a:pt x="12680" y="43200"/>
                  <a:pt x="751" y="43200"/>
                </a:cubicBezTo>
                <a:cubicBezTo>
                  <a:pt x="500" y="43200"/>
                  <a:pt x="250" y="43195"/>
                  <a:pt x="0" y="43186"/>
                </a:cubicBezTo>
                <a:lnTo>
                  <a:pt x="751" y="21600"/>
                </a:lnTo>
                <a:lnTo>
                  <a:pt x="750" y="0"/>
                </a:lnTo>
                <a:close/>
              </a:path>
            </a:pathLst>
          </a:custGeom>
          <a:noFill/>
          <a:ln w="9525" cmpd="sng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225" name="Group 33"/>
          <p:cNvGrpSpPr>
            <a:grpSpLocks/>
          </p:cNvGrpSpPr>
          <p:nvPr/>
        </p:nvGrpSpPr>
        <p:grpSpPr bwMode="auto">
          <a:xfrm>
            <a:off x="342900" y="3048000"/>
            <a:ext cx="1028700" cy="1828800"/>
            <a:chOff x="0" y="0"/>
            <a:chExt cx="648" cy="1296"/>
          </a:xfrm>
        </p:grpSpPr>
        <p:sp>
          <p:nvSpPr>
            <p:cNvPr id="8238" name="Arc 2086"/>
            <p:cNvSpPr>
              <a:spLocks/>
            </p:cNvSpPr>
            <p:nvPr/>
          </p:nvSpPr>
          <p:spPr bwMode="auto">
            <a:xfrm flipH="1">
              <a:off x="336" y="0"/>
              <a:ext cx="312" cy="1152"/>
            </a:xfrm>
            <a:custGeom>
              <a:avLst/>
              <a:gdLst>
                <a:gd name="T0" fmla="*/ 21 w 23174"/>
                <a:gd name="T1" fmla="*/ 0 h 43200"/>
                <a:gd name="T2" fmla="*/ 312 w 23174"/>
                <a:gd name="T3" fmla="*/ 576 h 43200"/>
                <a:gd name="T4" fmla="*/ 21 w 23174"/>
                <a:gd name="T5" fmla="*/ 1152 h 43200"/>
                <a:gd name="T6" fmla="*/ 0 w 23174"/>
                <a:gd name="T7" fmla="*/ 1150 h 43200"/>
                <a:gd name="T8" fmla="*/ 21 w 23174"/>
                <a:gd name="T9" fmla="*/ 0 h 43200"/>
                <a:gd name="T10" fmla="*/ 312 w 23174"/>
                <a:gd name="T11" fmla="*/ 576 h 43200"/>
                <a:gd name="T12" fmla="*/ 21 w 23174"/>
                <a:gd name="T13" fmla="*/ 1152 h 43200"/>
                <a:gd name="T14" fmla="*/ 0 w 23174"/>
                <a:gd name="T15" fmla="*/ 1150 h 43200"/>
                <a:gd name="T16" fmla="*/ 21 w 23174"/>
                <a:gd name="T17" fmla="*/ 576 h 43200"/>
                <a:gd name="T18" fmla="*/ 21 w 23174"/>
                <a:gd name="T19" fmla="*/ 0 h 432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174" h="43200" fill="none" extrusionOk="0">
                  <a:moveTo>
                    <a:pt x="1573" y="0"/>
                  </a:moveTo>
                  <a:cubicBezTo>
                    <a:pt x="13503" y="0"/>
                    <a:pt x="23174" y="9670"/>
                    <a:pt x="23174" y="21600"/>
                  </a:cubicBezTo>
                  <a:cubicBezTo>
                    <a:pt x="23174" y="33529"/>
                    <a:pt x="13503" y="43200"/>
                    <a:pt x="1574" y="43200"/>
                  </a:cubicBezTo>
                  <a:cubicBezTo>
                    <a:pt x="1048" y="43200"/>
                    <a:pt x="523" y="43180"/>
                    <a:pt x="0" y="43142"/>
                  </a:cubicBezTo>
                </a:path>
                <a:path w="23174" h="43200" stroke="0" extrusionOk="0">
                  <a:moveTo>
                    <a:pt x="1573" y="0"/>
                  </a:moveTo>
                  <a:cubicBezTo>
                    <a:pt x="13503" y="0"/>
                    <a:pt x="23174" y="9670"/>
                    <a:pt x="23174" y="21600"/>
                  </a:cubicBezTo>
                  <a:cubicBezTo>
                    <a:pt x="23174" y="33529"/>
                    <a:pt x="13503" y="43200"/>
                    <a:pt x="1574" y="43200"/>
                  </a:cubicBezTo>
                  <a:cubicBezTo>
                    <a:pt x="1048" y="43200"/>
                    <a:pt x="523" y="43180"/>
                    <a:pt x="0" y="43142"/>
                  </a:cubicBezTo>
                  <a:lnTo>
                    <a:pt x="1574" y="21600"/>
                  </a:lnTo>
                  <a:lnTo>
                    <a:pt x="1573" y="0"/>
                  </a:lnTo>
                  <a:close/>
                </a:path>
              </a:pathLst>
            </a:custGeom>
            <a:noFill/>
            <a:ln w="9525" cmpd="sng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9" name="Text Box 2092"/>
            <p:cNvSpPr txBox="1">
              <a:spLocks noChangeArrowheads="1"/>
            </p:cNvSpPr>
            <p:nvPr/>
          </p:nvSpPr>
          <p:spPr bwMode="auto">
            <a:xfrm>
              <a:off x="0" y="192"/>
              <a:ext cx="346" cy="1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sz="2400" b="1">
                  <a:solidFill>
                    <a:schemeClr val="accent2"/>
                  </a:solidFill>
                  <a:latin typeface="Tahoma" pitchFamily="34" charset="0"/>
                </a:rPr>
                <a:t>无记忆性</a:t>
              </a:r>
            </a:p>
          </p:txBody>
        </p:sp>
      </p:grpSp>
      <p:grpSp>
        <p:nvGrpSpPr>
          <p:cNvPr id="8226" name="Group 36"/>
          <p:cNvGrpSpPr>
            <a:grpSpLocks/>
          </p:cNvGrpSpPr>
          <p:nvPr/>
        </p:nvGrpSpPr>
        <p:grpSpPr bwMode="auto">
          <a:xfrm>
            <a:off x="381000" y="5121275"/>
            <a:ext cx="1066800" cy="898525"/>
            <a:chOff x="0" y="0"/>
            <a:chExt cx="672" cy="566"/>
          </a:xfrm>
        </p:grpSpPr>
        <p:sp>
          <p:nvSpPr>
            <p:cNvPr id="8236" name="AutoShape 2091"/>
            <p:cNvSpPr>
              <a:spLocks/>
            </p:cNvSpPr>
            <p:nvPr/>
          </p:nvSpPr>
          <p:spPr bwMode="auto">
            <a:xfrm>
              <a:off x="528" y="38"/>
              <a:ext cx="144" cy="528"/>
            </a:xfrm>
            <a:prstGeom prst="leftBracket">
              <a:avLst>
                <a:gd name="adj" fmla="val 30556"/>
              </a:avLst>
            </a:prstGeom>
            <a:noFill/>
            <a:ln w="9525">
              <a:solidFill>
                <a:srgbClr val="0033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zh-CN">
                <a:latin typeface="Tahoma" pitchFamily="34" charset="0"/>
              </a:endParaRPr>
            </a:p>
          </p:txBody>
        </p:sp>
        <p:sp>
          <p:nvSpPr>
            <p:cNvPr id="8237" name="Text Box 2094"/>
            <p:cNvSpPr txBox="1">
              <a:spLocks noChangeArrowheads="1"/>
            </p:cNvSpPr>
            <p:nvPr/>
          </p:nvSpPr>
          <p:spPr bwMode="auto">
            <a:xfrm>
              <a:off x="0" y="0"/>
              <a:ext cx="624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sz="2400" b="1">
                  <a:solidFill>
                    <a:srgbClr val="0033CC"/>
                  </a:solidFill>
                  <a:latin typeface="Tahoma" pitchFamily="34" charset="0"/>
                </a:rPr>
                <a:t>统计模型</a:t>
              </a:r>
            </a:p>
          </p:txBody>
        </p:sp>
      </p:grpSp>
      <p:sp>
        <p:nvSpPr>
          <p:cNvPr id="8227" name="Text Box 2096"/>
          <p:cNvSpPr txBox="1">
            <a:spLocks noChangeArrowheads="1"/>
          </p:cNvSpPr>
          <p:nvPr/>
        </p:nvSpPr>
        <p:spPr bwMode="auto">
          <a:xfrm>
            <a:off x="1371600" y="1357313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latin typeface="Tahoma" pitchFamily="34" charset="0"/>
              </a:rPr>
              <a:t>两点概型</a:t>
            </a:r>
          </a:p>
        </p:txBody>
      </p:sp>
      <p:sp>
        <p:nvSpPr>
          <p:cNvPr id="8228" name="Text Box 2097"/>
          <p:cNvSpPr txBox="1">
            <a:spLocks noChangeArrowheads="1"/>
          </p:cNvSpPr>
          <p:nvPr/>
        </p:nvSpPr>
        <p:spPr bwMode="auto">
          <a:xfrm>
            <a:off x="3657600" y="1357313"/>
            <a:ext cx="2835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b="1" dirty="0">
                <a:latin typeface="Times New Roman" pitchFamily="18" charset="0"/>
              </a:rPr>
              <a:t>（</a:t>
            </a:r>
            <a:r>
              <a:rPr lang="zh-CN" altLang="zh-CN" b="1" dirty="0">
                <a:latin typeface="Times New Roman" pitchFamily="18" charset="0"/>
              </a:rPr>
              <a:t>0-1</a:t>
            </a:r>
            <a:r>
              <a:rPr lang="zh-CN" sz="2400" b="1" dirty="0">
                <a:latin typeface="Tahoma" pitchFamily="34" charset="0"/>
              </a:rPr>
              <a:t>）分布</a:t>
            </a:r>
          </a:p>
        </p:txBody>
      </p:sp>
      <p:sp>
        <p:nvSpPr>
          <p:cNvPr id="8229" name="Line 2098"/>
          <p:cNvSpPr>
            <a:spLocks noChangeShapeType="1"/>
          </p:cNvSpPr>
          <p:nvPr/>
        </p:nvSpPr>
        <p:spPr bwMode="auto">
          <a:xfrm>
            <a:off x="3124200" y="15859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8230" name="Text Box 2099"/>
          <p:cNvSpPr txBox="1">
            <a:spLocks noChangeArrowheads="1"/>
          </p:cNvSpPr>
          <p:nvPr/>
        </p:nvSpPr>
        <p:spPr bwMode="auto">
          <a:xfrm>
            <a:off x="6324600" y="3048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2400" b="1">
                <a:latin typeface="Tahoma" pitchFamily="34" charset="0"/>
              </a:rPr>
              <a:t>计算概率的工具</a:t>
            </a:r>
          </a:p>
        </p:txBody>
      </p:sp>
      <p:sp>
        <p:nvSpPr>
          <p:cNvPr id="8231" name="Rectangle 2100"/>
          <p:cNvSpPr>
            <a:spLocks noChangeArrowheads="1"/>
          </p:cNvSpPr>
          <p:nvPr/>
        </p:nvSpPr>
        <p:spPr bwMode="auto">
          <a:xfrm>
            <a:off x="3962400" y="304800"/>
            <a:ext cx="236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sz="2400" b="1">
                <a:solidFill>
                  <a:srgbClr val="0A2AB0"/>
                </a:solidFill>
                <a:latin typeface="Tahoma" pitchFamily="34" charset="0"/>
              </a:rPr>
              <a:t>分布类型</a:t>
            </a:r>
          </a:p>
        </p:txBody>
      </p:sp>
      <p:sp>
        <p:nvSpPr>
          <p:cNvPr id="8232" name="Text Box 2101"/>
          <p:cNvSpPr txBox="1">
            <a:spLocks noChangeArrowheads="1"/>
          </p:cNvSpPr>
          <p:nvPr/>
        </p:nvSpPr>
        <p:spPr bwMode="auto">
          <a:xfrm>
            <a:off x="7467600" y="914400"/>
            <a:ext cx="549275" cy="27432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sz="2400" b="1">
                <a:solidFill>
                  <a:schemeClr val="tx2"/>
                </a:solidFill>
                <a:latin typeface="Tahoma" pitchFamily="34" charset="0"/>
              </a:rPr>
              <a:t>分      布      律</a:t>
            </a:r>
          </a:p>
        </p:txBody>
      </p:sp>
      <p:sp>
        <p:nvSpPr>
          <p:cNvPr id="8233" name="Text Box 2102"/>
          <p:cNvSpPr txBox="1">
            <a:spLocks noChangeArrowheads="1"/>
          </p:cNvSpPr>
          <p:nvPr/>
        </p:nvSpPr>
        <p:spPr bwMode="auto">
          <a:xfrm>
            <a:off x="3794125" y="914400"/>
            <a:ext cx="2835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sz="2400" b="1" dirty="0">
                <a:latin typeface="Tahoma" pitchFamily="34" charset="0"/>
              </a:rPr>
              <a:t>离散均匀分布</a:t>
            </a:r>
          </a:p>
        </p:txBody>
      </p:sp>
      <p:sp>
        <p:nvSpPr>
          <p:cNvPr id="8234" name="Text Box 2103"/>
          <p:cNvSpPr txBox="1">
            <a:spLocks noChangeArrowheads="1"/>
          </p:cNvSpPr>
          <p:nvPr/>
        </p:nvSpPr>
        <p:spPr bwMode="auto">
          <a:xfrm>
            <a:off x="7162800" y="3810000"/>
            <a:ext cx="549275" cy="22860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sz="2400" b="1">
                <a:solidFill>
                  <a:srgbClr val="008000"/>
                </a:solidFill>
                <a:latin typeface="Tahoma" pitchFamily="34" charset="0"/>
              </a:rPr>
              <a:t>概  率  密  度</a:t>
            </a:r>
          </a:p>
        </p:txBody>
      </p:sp>
      <p:sp>
        <p:nvSpPr>
          <p:cNvPr id="8235" name="Text Box 2104"/>
          <p:cNvSpPr txBox="1">
            <a:spLocks noChangeArrowheads="1"/>
          </p:cNvSpPr>
          <p:nvPr/>
        </p:nvSpPr>
        <p:spPr bwMode="auto">
          <a:xfrm>
            <a:off x="8153400" y="914400"/>
            <a:ext cx="549275" cy="50292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sz="2400" b="1">
                <a:solidFill>
                  <a:schemeClr val="accent2"/>
                </a:solidFill>
                <a:latin typeface="Tahoma" pitchFamily="34" charset="0"/>
              </a:rPr>
              <a:t>分           布            函             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611188" y="620713"/>
            <a:ext cx="7416800" cy="94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CC0000"/>
                </a:solidFill>
                <a:latin typeface="宋体" pitchFamily="2" charset="-122"/>
                <a:ea typeface="楷体" pitchFamily="49" charset="-122"/>
                <a:sym typeface="宋体" pitchFamily="2" charset="-122"/>
              </a:rPr>
              <a:t>例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   下列函数中可以作为随机变量的分布函数的是</a:t>
            </a:r>
            <a:r>
              <a:rPr lang="zh-CN" altLang="en-US" b="1" u="sng">
                <a:latin typeface="宋体" pitchFamily="2" charset="-122"/>
                <a:sym typeface="Times New Roman" pitchFamily="18" charset="0"/>
              </a:rPr>
              <a:t>            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。</a:t>
            </a:r>
            <a:r>
              <a:rPr lang="zh-CN" altLang="en-US" b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 </a:t>
            </a:r>
            <a:endParaRPr lang="zh-CN" altLang="en-US"/>
          </a:p>
        </p:txBody>
      </p:sp>
      <p:pic>
        <p:nvPicPr>
          <p:cNvPr id="9219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5513" y="1989138"/>
            <a:ext cx="180022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24525" y="1989138"/>
            <a:ext cx="2806700" cy="935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5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51050" y="3284538"/>
            <a:ext cx="2449513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6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24525" y="3357563"/>
            <a:ext cx="2952750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092200" y="2063750"/>
            <a:ext cx="124777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latin typeface="宋体" pitchFamily="2" charset="-122"/>
              </a:rPr>
              <a:t>（A）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4619625" y="2133600"/>
            <a:ext cx="124777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latin typeface="宋体" pitchFamily="2" charset="-122"/>
              </a:rPr>
              <a:t>（B）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116013" y="3486150"/>
            <a:ext cx="12477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latin typeface="宋体" pitchFamily="2" charset="-122"/>
              </a:rPr>
              <a:t>（C）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4619625" y="3486150"/>
            <a:ext cx="12477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latin typeface="宋体" pitchFamily="2" charset="-122"/>
              </a:rPr>
              <a:t>（D）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1644650" y="5273675"/>
            <a:ext cx="6311900" cy="519113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是否满足不减、左趋于0、右趋于1？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2266950" y="1052513"/>
            <a:ext cx="944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CC0000"/>
                </a:solidFill>
                <a:ea typeface="黑体" pitchFamily="49" charset="-122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1" grpId="0" bldLvl="0" animBg="1" autoUpdateAnimBg="0"/>
      <p:bldP spid="10252" grpId="0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684213" y="549275"/>
            <a:ext cx="50800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/>
            <a:r>
              <a:rPr lang="zh-CN" altLang="en-US" b="1">
                <a:solidFill>
                  <a:srgbClr val="CC0000"/>
                </a:solidFill>
                <a:latin typeface="Times New Roman" pitchFamily="18" charset="0"/>
                <a:ea typeface="楷体" pitchFamily="49" charset="-122"/>
                <a:sym typeface="Times New Roman" pitchFamily="18" charset="0"/>
              </a:rPr>
              <a:t>例</a:t>
            </a:r>
            <a:r>
              <a:rPr lang="zh-CN" altLang="en-US" b="1">
                <a:latin typeface="Times New Roman" pitchFamily="18" charset="0"/>
                <a:sym typeface="Times New Roman" pitchFamily="18" charset="0"/>
              </a:rPr>
              <a:t>  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设</a:t>
            </a:r>
            <a:endParaRPr lang="zh-CN" altLang="en-US"/>
          </a:p>
        </p:txBody>
      </p:sp>
      <p:pic>
        <p:nvPicPr>
          <p:cNvPr id="11267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5300" y="622300"/>
            <a:ext cx="79057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411413" y="549275"/>
            <a:ext cx="50800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/>
            <a:r>
              <a:rPr lang="zh-CN" b="1">
                <a:latin typeface="宋体" pitchFamily="2" charset="-122"/>
                <a:sym typeface="宋体" pitchFamily="2" charset="-122"/>
              </a:rPr>
              <a:t>与</a:t>
            </a:r>
          </a:p>
        </p:txBody>
      </p:sp>
      <p:pic>
        <p:nvPicPr>
          <p:cNvPr id="11269" name="Picture 5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16238" y="622300"/>
            <a:ext cx="719137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3597275" y="581025"/>
            <a:ext cx="50800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/>
            <a:r>
              <a:rPr lang="zh-CN" b="1">
                <a:latin typeface="宋体" pitchFamily="2" charset="-122"/>
                <a:sym typeface="宋体" pitchFamily="2" charset="-122"/>
              </a:rPr>
              <a:t>分别为随机变量</a:t>
            </a:r>
          </a:p>
        </p:txBody>
      </p:sp>
      <p:pic>
        <p:nvPicPr>
          <p:cNvPr id="11271" name="Picture 7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00788" y="692150"/>
            <a:ext cx="431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6661150" y="593725"/>
            <a:ext cx="64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/>
            <a:r>
              <a:rPr lang="zh-CN" b="1">
                <a:latin typeface="宋体" pitchFamily="2" charset="-122"/>
                <a:sym typeface="宋体" pitchFamily="2" charset="-122"/>
              </a:rPr>
              <a:t>与</a:t>
            </a:r>
          </a:p>
        </p:txBody>
      </p:sp>
      <p:pic>
        <p:nvPicPr>
          <p:cNvPr id="11273" name="Picture 9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64388" y="692150"/>
            <a:ext cx="4318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1187450" y="1196975"/>
            <a:ext cx="50800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/>
            <a:r>
              <a:rPr lang="zh-CN" b="1">
                <a:latin typeface="宋体" pitchFamily="2" charset="-122"/>
                <a:sym typeface="宋体" pitchFamily="2" charset="-122"/>
              </a:rPr>
              <a:t>的分布函数，则为使</a:t>
            </a:r>
          </a:p>
        </p:txBody>
      </p:sp>
      <p:pic>
        <p:nvPicPr>
          <p:cNvPr id="11275" name="Picture 11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00563" y="1268413"/>
            <a:ext cx="2446337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1187450" y="1844675"/>
            <a:ext cx="777557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/>
            <a:r>
              <a:rPr lang="zh-CN" altLang="en-US" b="1">
                <a:latin typeface="宋体" pitchFamily="2" charset="-122"/>
                <a:sym typeface="宋体" pitchFamily="2" charset="-122"/>
              </a:rPr>
              <a:t>是某随机变量的分布函数，则</a:t>
            </a:r>
            <a:r>
              <a:rPr lang="zh-CN" altLang="en-US" b="1" i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a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、</a:t>
            </a:r>
            <a:r>
              <a:rPr lang="zh-CN" altLang="en-US" b="1" i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b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可能是</a:t>
            </a:r>
            <a:r>
              <a:rPr lang="zh-CN" altLang="en-US" b="1" u="sng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           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。</a:t>
            </a:r>
          </a:p>
        </p:txBody>
      </p:sp>
      <p:pic>
        <p:nvPicPr>
          <p:cNvPr id="11277" name="Picture 13"/>
          <p:cNvPicPr>
            <a:picLocks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051050" y="2924175"/>
            <a:ext cx="165735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8" name="Picture 14"/>
          <p:cNvPicPr>
            <a:picLocks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580063" y="2852738"/>
            <a:ext cx="165576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9" name="Picture 15"/>
          <p:cNvPicPr>
            <a:picLocks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051050" y="3933825"/>
            <a:ext cx="165735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80" name="Picture 16"/>
          <p:cNvPicPr>
            <a:picLocks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651500" y="3933825"/>
            <a:ext cx="165735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1092200" y="2981325"/>
            <a:ext cx="12477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latin typeface="宋体" pitchFamily="2" charset="-122"/>
              </a:rPr>
              <a:t>（A）</a:t>
            </a:r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4645025" y="2997200"/>
            <a:ext cx="124777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latin typeface="宋体" pitchFamily="2" charset="-122"/>
              </a:rPr>
              <a:t>（B）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1092200" y="4005263"/>
            <a:ext cx="12477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latin typeface="宋体" pitchFamily="2" charset="-122"/>
              </a:rPr>
              <a:t>（C）</a:t>
            </a: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4619625" y="4005263"/>
            <a:ext cx="12477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latin typeface="宋体" pitchFamily="2" charset="-122"/>
              </a:rPr>
              <a:t>（D）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7812088" y="1773238"/>
            <a:ext cx="1057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CC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9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466725" y="620713"/>
            <a:ext cx="7200900" cy="1150937"/>
            <a:chOff x="0" y="0"/>
            <a:chExt cx="11340" cy="1813"/>
          </a:xfrm>
        </p:grpSpPr>
        <p:sp>
          <p:nvSpPr>
            <p:cNvPr id="10262" name="Text Box 3"/>
            <p:cNvSpPr txBox="1">
              <a:spLocks noChangeArrowheads="1"/>
            </p:cNvSpPr>
            <p:nvPr/>
          </p:nvSpPr>
          <p:spPr bwMode="auto">
            <a:xfrm>
              <a:off x="454" y="0"/>
              <a:ext cx="10887" cy="1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66700" indent="-266700">
                <a:lnSpc>
                  <a:spcPct val="120000"/>
                </a:lnSpc>
              </a:pPr>
              <a:r>
                <a:rPr lang="zh-CN" altLang="en-US" b="1">
                  <a:latin typeface="宋体" pitchFamily="2" charset="-122"/>
                  <a:sym typeface="宋体" pitchFamily="2" charset="-122"/>
                </a:rPr>
                <a:t>           为随机变量的分布函数，概率密度函数分别是</a:t>
              </a:r>
            </a:p>
          </p:txBody>
        </p:sp>
        <p:sp>
          <p:nvSpPr>
            <p:cNvPr id="10263" name="Text Box 4"/>
            <p:cNvSpPr txBox="1">
              <a:spLocks noChangeArrowheads="1"/>
            </p:cNvSpPr>
            <p:nvPr/>
          </p:nvSpPr>
          <p:spPr bwMode="auto">
            <a:xfrm>
              <a:off x="0" y="116"/>
              <a:ext cx="8000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66700" indent="-266700"/>
              <a:r>
                <a:rPr lang="zh-CN" altLang="en-US" b="1">
                  <a:solidFill>
                    <a:srgbClr val="CC0000"/>
                  </a:solidFill>
                  <a:latin typeface="Times New Roman" pitchFamily="18" charset="0"/>
                  <a:ea typeface="楷体" pitchFamily="49" charset="-122"/>
                  <a:sym typeface="Times New Roman" pitchFamily="18" charset="0"/>
                </a:rPr>
                <a:t>例</a:t>
              </a:r>
              <a:r>
                <a:rPr lang="zh-CN" altLang="en-US" b="1">
                  <a:latin typeface="Times New Roman" pitchFamily="18" charset="0"/>
                  <a:sym typeface="Times New Roman" pitchFamily="18" charset="0"/>
                </a:rPr>
                <a:t>  </a:t>
              </a:r>
              <a:r>
                <a:rPr lang="zh-CN" altLang="en-US" b="1">
                  <a:latin typeface="宋体" pitchFamily="2" charset="-122"/>
                  <a:sym typeface="宋体" pitchFamily="2" charset="-122"/>
                </a:rPr>
                <a:t>设</a:t>
              </a:r>
              <a:endParaRPr lang="zh-CN" altLang="en-US"/>
            </a:p>
          </p:txBody>
        </p:sp>
        <p:pic>
          <p:nvPicPr>
            <p:cNvPr id="10264" name="Picture 5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17" y="180"/>
              <a:ext cx="1813" cy="7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5" name="Picture 6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05" y="1021"/>
              <a:ext cx="2041" cy="7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243" name="Text Box 7"/>
          <p:cNvSpPr txBox="1">
            <a:spLocks noChangeArrowheads="1"/>
          </p:cNvSpPr>
          <p:nvPr/>
        </p:nvSpPr>
        <p:spPr bwMode="auto">
          <a:xfrm>
            <a:off x="5076825" y="1209675"/>
            <a:ext cx="50800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zh-CN" b="1">
                <a:latin typeface="宋体" pitchFamily="2" charset="-122"/>
                <a:sym typeface="宋体" pitchFamily="2" charset="-122"/>
              </a:rPr>
              <a:t>则</a:t>
            </a:r>
            <a:r>
              <a:rPr lang="zh-CN" b="1" u="sng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       </a:t>
            </a:r>
            <a:r>
              <a:rPr lang="zh-CN" b="1">
                <a:latin typeface="宋体" pitchFamily="2" charset="-122"/>
                <a:sym typeface="宋体" pitchFamily="2" charset="-122"/>
              </a:rPr>
              <a:t>。</a:t>
            </a:r>
          </a:p>
        </p:txBody>
      </p:sp>
      <p:grpSp>
        <p:nvGrpSpPr>
          <p:cNvPr id="10244" name="Group 8"/>
          <p:cNvGrpSpPr>
            <a:grpSpLocks/>
          </p:cNvGrpSpPr>
          <p:nvPr/>
        </p:nvGrpSpPr>
        <p:grpSpPr bwMode="auto">
          <a:xfrm>
            <a:off x="1092200" y="2063750"/>
            <a:ext cx="7119938" cy="646113"/>
            <a:chOff x="0" y="0"/>
            <a:chExt cx="11212" cy="1018"/>
          </a:xfrm>
        </p:grpSpPr>
        <p:pic>
          <p:nvPicPr>
            <p:cNvPr id="10259" name="Picture 9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11" y="112"/>
              <a:ext cx="2382" cy="9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60" name="Text Box 10"/>
            <p:cNvSpPr txBox="1">
              <a:spLocks noChangeArrowheads="1"/>
            </p:cNvSpPr>
            <p:nvPr/>
          </p:nvSpPr>
          <p:spPr bwMode="auto">
            <a:xfrm>
              <a:off x="3212" y="110"/>
              <a:ext cx="8000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indent="476250"/>
              <a:r>
                <a:rPr lang="zh-CN" b="1">
                  <a:latin typeface="宋体" pitchFamily="2" charset="-122"/>
                  <a:sym typeface="宋体" pitchFamily="2" charset="-122"/>
                </a:rPr>
                <a:t>是概率密度函数</a:t>
              </a:r>
              <a:r>
                <a:rPr lang="zh-CN" b="1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         </a:t>
              </a:r>
              <a:endParaRPr lang="zh-CN"/>
            </a:p>
          </p:txBody>
        </p:sp>
        <p:sp>
          <p:nvSpPr>
            <p:cNvPr id="10261" name="Text Box 11"/>
            <p:cNvSpPr txBox="1">
              <a:spLocks noChangeArrowheads="1"/>
            </p:cNvSpPr>
            <p:nvPr/>
          </p:nvSpPr>
          <p:spPr bwMode="auto">
            <a:xfrm>
              <a:off x="0" y="0"/>
              <a:ext cx="1965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>
                  <a:latin typeface="宋体" pitchFamily="2" charset="-122"/>
                </a:rPr>
                <a:t>（A）</a:t>
              </a:r>
            </a:p>
          </p:txBody>
        </p:sp>
      </p:grpSp>
      <p:grpSp>
        <p:nvGrpSpPr>
          <p:cNvPr id="10245" name="Group 12"/>
          <p:cNvGrpSpPr>
            <a:grpSpLocks/>
          </p:cNvGrpSpPr>
          <p:nvPr/>
        </p:nvGrpSpPr>
        <p:grpSpPr bwMode="auto">
          <a:xfrm>
            <a:off x="1116013" y="2909888"/>
            <a:ext cx="6951662" cy="590550"/>
            <a:chOff x="0" y="0"/>
            <a:chExt cx="10948" cy="929"/>
          </a:xfrm>
        </p:grpSpPr>
        <p:pic>
          <p:nvPicPr>
            <p:cNvPr id="10256" name="Picture 13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475" y="23"/>
              <a:ext cx="2154" cy="9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57" name="Text Box 14"/>
            <p:cNvSpPr txBox="1">
              <a:spLocks noChangeArrowheads="1"/>
            </p:cNvSpPr>
            <p:nvPr/>
          </p:nvSpPr>
          <p:spPr bwMode="auto">
            <a:xfrm>
              <a:off x="2948" y="35"/>
              <a:ext cx="8000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indent="476250"/>
              <a:r>
                <a:rPr lang="zh-CN" b="1" dirty="0">
                  <a:latin typeface="宋体" pitchFamily="2" charset="-122"/>
                  <a:sym typeface="宋体" pitchFamily="2" charset="-122"/>
                </a:rPr>
                <a:t>是概率密度函数</a:t>
              </a:r>
              <a:r>
                <a:rPr lang="zh-CN" b="1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         </a:t>
              </a:r>
            </a:p>
          </p:txBody>
        </p:sp>
        <p:sp>
          <p:nvSpPr>
            <p:cNvPr id="10258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1965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>
                  <a:latin typeface="宋体" pitchFamily="2" charset="-122"/>
                </a:rPr>
                <a:t>（B）</a:t>
              </a:r>
            </a:p>
          </p:txBody>
        </p:sp>
      </p:grpSp>
      <p:grpSp>
        <p:nvGrpSpPr>
          <p:cNvPr id="10246" name="Group 16"/>
          <p:cNvGrpSpPr>
            <a:grpSpLocks/>
          </p:cNvGrpSpPr>
          <p:nvPr/>
        </p:nvGrpSpPr>
        <p:grpSpPr bwMode="auto">
          <a:xfrm>
            <a:off x="1116013" y="3702050"/>
            <a:ext cx="7776210" cy="1109663"/>
            <a:chOff x="0" y="0"/>
            <a:chExt cx="12246" cy="1747"/>
          </a:xfrm>
        </p:grpSpPr>
        <p:pic>
          <p:nvPicPr>
            <p:cNvPr id="10253" name="Picture 17"/>
            <p:cNvPicPr>
              <a:picLocks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361" y="121"/>
              <a:ext cx="10885" cy="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54" name="Text Box 18"/>
            <p:cNvSpPr txBox="1">
              <a:spLocks noChangeArrowheads="1"/>
            </p:cNvSpPr>
            <p:nvPr/>
          </p:nvSpPr>
          <p:spPr bwMode="auto">
            <a:xfrm>
              <a:off x="680" y="931"/>
              <a:ext cx="8000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indent="400050"/>
              <a:r>
                <a:rPr lang="zh-CN" b="1">
                  <a:latin typeface="宋体" pitchFamily="2" charset="-122"/>
                  <a:sym typeface="宋体" pitchFamily="2" charset="-122"/>
                </a:rPr>
                <a:t>是概率密度函数</a:t>
              </a:r>
              <a:r>
                <a:rPr lang="zh-CN" b="1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         </a:t>
              </a:r>
              <a:endParaRPr lang="zh-CN"/>
            </a:p>
          </p:txBody>
        </p:sp>
        <p:sp>
          <p:nvSpPr>
            <p:cNvPr id="10255" name="Text Box 19"/>
            <p:cNvSpPr txBox="1">
              <a:spLocks noChangeArrowheads="1"/>
            </p:cNvSpPr>
            <p:nvPr/>
          </p:nvSpPr>
          <p:spPr bwMode="auto">
            <a:xfrm>
              <a:off x="0" y="0"/>
              <a:ext cx="1965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>
                  <a:latin typeface="宋体" pitchFamily="2" charset="-122"/>
                </a:rPr>
                <a:t>（C）</a:t>
              </a:r>
            </a:p>
          </p:txBody>
        </p:sp>
      </p:grpSp>
      <p:grpSp>
        <p:nvGrpSpPr>
          <p:cNvPr id="10247" name="Group 20"/>
          <p:cNvGrpSpPr>
            <a:grpSpLocks/>
          </p:cNvGrpSpPr>
          <p:nvPr/>
        </p:nvGrpSpPr>
        <p:grpSpPr bwMode="auto">
          <a:xfrm>
            <a:off x="1116013" y="4854575"/>
            <a:ext cx="7312025" cy="590550"/>
            <a:chOff x="0" y="0"/>
            <a:chExt cx="11515" cy="930"/>
          </a:xfrm>
        </p:grpSpPr>
        <p:sp>
          <p:nvSpPr>
            <p:cNvPr id="10249" name="Text Box 21"/>
            <p:cNvSpPr txBox="1">
              <a:spLocks noChangeArrowheads="1"/>
            </p:cNvSpPr>
            <p:nvPr/>
          </p:nvSpPr>
          <p:spPr bwMode="auto">
            <a:xfrm>
              <a:off x="3515" y="87"/>
              <a:ext cx="8000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b="1">
                  <a:latin typeface="宋体" pitchFamily="2" charset="-122"/>
                  <a:sym typeface="宋体" pitchFamily="2" charset="-122"/>
                </a:rPr>
                <a:t>是分布函数</a:t>
              </a:r>
            </a:p>
          </p:txBody>
        </p:sp>
        <p:grpSp>
          <p:nvGrpSpPr>
            <p:cNvPr id="10250" name="Group 22"/>
            <p:cNvGrpSpPr>
              <a:grpSpLocks/>
            </p:cNvGrpSpPr>
            <p:nvPr/>
          </p:nvGrpSpPr>
          <p:grpSpPr bwMode="auto">
            <a:xfrm>
              <a:off x="0" y="0"/>
              <a:ext cx="3741" cy="930"/>
              <a:chOff x="0" y="0"/>
              <a:chExt cx="3741" cy="930"/>
            </a:xfrm>
          </p:grpSpPr>
          <p:pic>
            <p:nvPicPr>
              <p:cNvPr id="10251" name="Picture 23"/>
              <p:cNvPicPr>
                <a:picLocks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1361" y="136"/>
                <a:ext cx="2381" cy="7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252" name="Text Box 24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965" cy="8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zh-CN" altLang="en-US">
                    <a:latin typeface="宋体" pitchFamily="2" charset="-122"/>
                  </a:rPr>
                  <a:t>（D）</a:t>
                </a:r>
              </a:p>
            </p:txBody>
          </p:sp>
        </p:grpSp>
      </p:grp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5681663" y="1196975"/>
            <a:ext cx="1266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CC0000"/>
                </a:solidFill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9" grpId="0" bldLvl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971600" y="620688"/>
                <a:ext cx="7848872" cy="520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FF0000"/>
                    </a:solidFill>
                    <a:latin typeface="楷体" pitchFamily="49" charset="-122"/>
                    <a:ea typeface="楷体" pitchFamily="49" charset="-122"/>
                  </a:rPr>
                  <a:t> 例 </a:t>
                </a:r>
                <a:r>
                  <a:rPr lang="zh-CN" altLang="en-US" sz="3200" b="1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3200" b="1" dirty="0"/>
                  <a:t> 为标准正态分布的概率密度</a:t>
                </a:r>
                <a:r>
                  <a:rPr lang="en-US" altLang="zh-CN" sz="32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3200" b="1" dirty="0"/>
                  <a:t>为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[−</m:t>
                    </m:r>
                    <m:r>
                      <a:rPr lang="en-US" altLang="zh-CN" sz="3200" b="1" i="1" smtClean="0">
                        <a:latin typeface="Cambria Math"/>
                      </a:rPr>
                      <m:t>𝟏</m:t>
                    </m:r>
                    <m:r>
                      <a:rPr lang="en-US" altLang="zh-CN" sz="3200" b="1" i="1" smtClean="0">
                        <a:latin typeface="Cambria Math"/>
                      </a:rPr>
                      <m:t>,</m:t>
                    </m:r>
                    <m:r>
                      <a:rPr lang="en-US" altLang="zh-CN" sz="3200" b="1" i="1" smtClean="0">
                        <a:latin typeface="Cambria Math"/>
                      </a:rPr>
                      <m:t>𝟑</m:t>
                    </m:r>
                    <m:r>
                      <a:rPr lang="en-US" altLang="zh-CN" sz="3200" b="1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zh-CN" altLang="en-US" sz="3200" b="1" dirty="0"/>
                  <a:t>上均匀分布的概率密度</a:t>
                </a:r>
                <a:r>
                  <a:rPr lang="en-US" altLang="zh-CN" sz="3200" b="1" dirty="0"/>
                  <a:t>,</a:t>
                </a:r>
                <a:r>
                  <a:rPr lang="zh-CN" altLang="en-US" sz="3200" b="1" dirty="0"/>
                  <a:t>若</a:t>
                </a:r>
                <a:endParaRPr lang="en-US" altLang="zh-CN" sz="3200" b="1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𝒂</m:t>
                            </m:r>
                            <m:sSub>
                              <m:sSubPr>
                                <m:ctrlP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3200" b="1" i="1" smtClean="0">
                                <a:latin typeface="Cambria Math"/>
                              </a:rPr>
                              <m:t>     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≤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𝒃</m:t>
                            </m:r>
                            <m:sSub>
                              <m:sSubPr>
                                <m:ctrlP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3200" b="1" i="1" smtClean="0">
                                <a:latin typeface="Cambria Math"/>
                              </a:rPr>
                              <m:t>    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&gt;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3200" b="1" dirty="0"/>
                  <a:t>   </a:t>
                </a:r>
                <a:r>
                  <a:rPr lang="en-US" altLang="zh-CN" sz="3200" b="1" dirty="0"/>
                  <a:t>(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latin typeface="Cambria Math"/>
                      </a:rPr>
                      <m:t>𝒂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&gt;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𝟎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, 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𝒃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&gt;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𝟎</m:t>
                    </m:r>
                  </m:oMath>
                </a14:m>
                <a:r>
                  <a:rPr lang="en-US" altLang="zh-CN" sz="3200" b="1" dirty="0"/>
                  <a:t>)</a:t>
                </a:r>
                <a:r>
                  <a:rPr lang="zh-CN" altLang="en-US" sz="3200" b="1" dirty="0"/>
                  <a:t> </a:t>
                </a:r>
                <a:endParaRPr lang="en-US" altLang="zh-CN" sz="3200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3200" b="1" dirty="0"/>
                  <a:t>为概率密度</a:t>
                </a:r>
                <a:r>
                  <a:rPr lang="en-US" altLang="zh-CN" sz="3200" b="1" dirty="0"/>
                  <a:t>,</a:t>
                </a:r>
                <a:r>
                  <a:rPr lang="zh-CN" altLang="en-US" sz="3200" b="1" dirty="0"/>
                  <a:t>则 </a:t>
                </a:r>
                <a:r>
                  <a:rPr lang="en-US" altLang="zh-CN" sz="3200" b="1" dirty="0"/>
                  <a:t>a, b </a:t>
                </a:r>
                <a:r>
                  <a:rPr lang="zh-CN" altLang="en-US" sz="3200" b="1" dirty="0"/>
                  <a:t>应满足 </a:t>
                </a:r>
                <a:r>
                  <a:rPr lang="en-US" altLang="zh-CN" sz="3200" b="1" dirty="0"/>
                  <a:t>(   )</a:t>
                </a:r>
              </a:p>
              <a:p>
                <a:pPr marL="514350" indent="-514350">
                  <a:lnSpc>
                    <a:spcPct val="150000"/>
                  </a:lnSpc>
                  <a:buAutoNum type="alphaUcParenBoth"/>
                </a:pPr>
                <a:r>
                  <a:rPr lang="en-US" altLang="zh-CN" sz="3200" b="1" dirty="0"/>
                  <a:t>2a+3b=4 .     (B)  3a+2b=4.    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(C)  </a:t>
                </a:r>
                <a:r>
                  <a:rPr lang="en-US" altLang="zh-CN" sz="3200" b="1" dirty="0" err="1"/>
                  <a:t>a+b</a:t>
                </a:r>
                <a:r>
                  <a:rPr lang="en-US" altLang="zh-CN" sz="3200" b="1" dirty="0"/>
                  <a:t>=1.      (D)  </a:t>
                </a:r>
                <a:r>
                  <a:rPr lang="en-US" altLang="zh-CN" sz="3200" b="1" dirty="0" err="1"/>
                  <a:t>a+b</a:t>
                </a:r>
                <a:r>
                  <a:rPr lang="en-US" altLang="zh-CN" sz="3200" b="1" dirty="0"/>
                  <a:t>=2.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620688"/>
                <a:ext cx="7848872" cy="5204053"/>
              </a:xfrm>
              <a:prstGeom prst="rect">
                <a:avLst/>
              </a:prstGeom>
              <a:blipFill rotWithShape="1">
                <a:blip r:embed="rId2"/>
                <a:stretch>
                  <a:fillRect l="-1941" b="-1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084168" y="5301208"/>
            <a:ext cx="1337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答案 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99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827584" y="476672"/>
                <a:ext cx="7992888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FF0000"/>
                    </a:solidFill>
                    <a:latin typeface="楷体" pitchFamily="49" charset="-122"/>
                    <a:ea typeface="楷体" pitchFamily="49" charset="-122"/>
                  </a:rPr>
                  <a:t>例</a:t>
                </a:r>
                <a:r>
                  <a:rPr lang="zh-CN" altLang="en-US" sz="3200" b="1" dirty="0"/>
                  <a:t>  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𝑭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3200" b="1" dirty="0"/>
                  <a:t> 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dirty="0" smtClean="0">
                            <a:latin typeface="Cambria Math"/>
                          </a:rPr>
                          <m:t>𝑭</m:t>
                        </m:r>
                      </m:e>
                      <m:sub>
                        <m:r>
                          <a:rPr lang="en-US" altLang="zh-CN" sz="3200" b="1" i="1" dirty="0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3200" b="1" i="1" dirty="0" smtClean="0">
                        <a:latin typeface="Cambria Math"/>
                      </a:rPr>
                      <m:t>(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𝒙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200" b="1" dirty="0"/>
                  <a:t> 为两个分布函数，其相应的概率密度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(</m:t>
                    </m:r>
                    <m:r>
                      <a:rPr lang="en-US" altLang="zh-CN" sz="3200" b="1" i="1" smtClean="0">
                        <a:latin typeface="Cambria Math"/>
                      </a:rPr>
                      <m:t>𝒙</m:t>
                    </m:r>
                    <m:r>
                      <a:rPr lang="en-US" altLang="zh-CN" sz="3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200" b="1" dirty="0"/>
                  <a:t> 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dirty="0" smtClean="0">
                            <a:latin typeface="Cambria Math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dirty="0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3200" b="1" i="1" dirty="0" smtClean="0">
                        <a:latin typeface="Cambria Math"/>
                      </a:rPr>
                      <m:t>(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𝒙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200" b="1" dirty="0"/>
                  <a:t> 是连续函数，则必为概率密度的是</a:t>
                </a:r>
                <a:r>
                  <a:rPr lang="en-US" altLang="zh-CN" sz="3200" b="1" dirty="0"/>
                  <a:t>(    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(A) </a:t>
                </a:r>
                <a:r>
                  <a:rPr lang="zh-CN" altLang="en-US" sz="3200" b="1" dirty="0"/>
                  <a:t>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3200" b="1" dirty="0"/>
                  <a:t>                     </a:t>
                </a:r>
                <a:r>
                  <a:rPr lang="en-US" altLang="zh-CN" sz="3200" b="1" dirty="0"/>
                  <a:t>(B) </a:t>
                </a:r>
                <a:r>
                  <a:rPr lang="zh-CN" altLang="en-US" sz="3200" b="1" dirty="0"/>
                  <a:t>．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𝟐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𝑭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endParaRPr lang="zh-CN" altLang="en-US" sz="32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(C) </a:t>
                </a:r>
                <a:r>
                  <a:rPr lang="zh-CN" altLang="en-US" sz="3200" b="1" dirty="0"/>
                  <a:t>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 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𝑭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dirty="0"/>
                  <a:t>                     (D)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𝑭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𝑭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76672"/>
                <a:ext cx="7992888" cy="3785652"/>
              </a:xfrm>
              <a:prstGeom prst="rect">
                <a:avLst/>
              </a:prstGeom>
              <a:blipFill rotWithShape="1">
                <a:blip r:embed="rId2"/>
                <a:stretch>
                  <a:fillRect l="-1983" r="-1907" b="-19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084168" y="530120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答案 </a:t>
            </a:r>
            <a:r>
              <a:rPr lang="en-US" altLang="zh-CN" b="1" dirty="0">
                <a:solidFill>
                  <a:srgbClr val="FF0000"/>
                </a:solidFill>
              </a:rPr>
              <a:t>D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17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539750" y="692150"/>
            <a:ext cx="508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zh-CN" altLang="en-US" b="1">
                <a:solidFill>
                  <a:srgbClr val="CC0000"/>
                </a:solidFill>
                <a:latin typeface="楷体" pitchFamily="49" charset="-122"/>
                <a:ea typeface="楷体" pitchFamily="49" charset="-122"/>
                <a:sym typeface="Times New Roman" pitchFamily="18" charset="0"/>
              </a:rPr>
              <a:t>例 </a:t>
            </a:r>
            <a:r>
              <a:rPr lang="zh-CN" altLang="en-US" b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用随机变量</a:t>
            </a:r>
            <a:endParaRPr lang="zh-CN" altLang="en-US"/>
          </a:p>
        </p:txBody>
      </p:sp>
      <p:pic>
        <p:nvPicPr>
          <p:cNvPr id="12291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87675" y="836613"/>
            <a:ext cx="360363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276600" y="692150"/>
            <a:ext cx="508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zh-CN" b="1">
                <a:latin typeface="宋体" pitchFamily="2" charset="-122"/>
                <a:sym typeface="宋体" pitchFamily="2" charset="-122"/>
              </a:rPr>
              <a:t>的分布函数</a:t>
            </a:r>
          </a:p>
        </p:txBody>
      </p:sp>
      <p:pic>
        <p:nvPicPr>
          <p:cNvPr id="12293" name="Picture 5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263" y="765175"/>
            <a:ext cx="719137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5868988" y="692150"/>
            <a:ext cx="508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zh-CN" b="1">
                <a:latin typeface="宋体" pitchFamily="2" charset="-122"/>
                <a:sym typeface="宋体" pitchFamily="2" charset="-122"/>
              </a:rPr>
              <a:t>表示下列概率</a:t>
            </a:r>
          </a:p>
        </p:txBody>
      </p:sp>
      <p:pic>
        <p:nvPicPr>
          <p:cNvPr id="12295" name="Picture 7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42988" y="1631950"/>
            <a:ext cx="331152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6" name="Picture 8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71550" y="2565400"/>
            <a:ext cx="3384550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7" name="Picture 9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71550" y="3502025"/>
            <a:ext cx="3095625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8" name="Picture 10"/>
          <p:cNvPicPr>
            <a:picLocks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71550" y="4508500"/>
            <a:ext cx="3024188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9" name="Picture 11"/>
          <p:cNvPicPr>
            <a:picLocks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00113" y="5445125"/>
            <a:ext cx="3167062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3276600" y="1628775"/>
            <a:ext cx="19304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F(a </a:t>
            </a:r>
            <a:r>
              <a:rPr lang="zh-CN" altLang="en-US">
                <a:latin typeface="Arial Symbol" charset="0"/>
              </a:rPr>
              <a:t>- </a:t>
            </a:r>
            <a:r>
              <a:rPr lang="zh-CN" altLang="en-US"/>
              <a:t>0)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3276600" y="2622550"/>
            <a:ext cx="19304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F(a)</a:t>
            </a:r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2987675" y="3559175"/>
            <a:ext cx="287972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F(a) - F(a </a:t>
            </a:r>
            <a:r>
              <a:rPr lang="zh-CN" altLang="en-US">
                <a:latin typeface="Arial Symbol" charset="0"/>
              </a:rPr>
              <a:t>- </a:t>
            </a:r>
            <a:r>
              <a:rPr lang="zh-CN" altLang="en-US"/>
              <a:t>0)</a:t>
            </a:r>
          </a:p>
        </p:txBody>
      </p:sp>
      <p:sp>
        <p:nvSpPr>
          <p:cNvPr id="13327" name="Text Box 15"/>
          <p:cNvSpPr txBox="1">
            <a:spLocks noChangeArrowheads="1"/>
          </p:cNvSpPr>
          <p:nvPr/>
        </p:nvSpPr>
        <p:spPr bwMode="auto">
          <a:xfrm>
            <a:off x="2987675" y="4567238"/>
            <a:ext cx="266382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F(b </a:t>
            </a:r>
            <a:r>
              <a:rPr lang="zh-CN" altLang="en-US">
                <a:latin typeface="Arial Symbol" charset="0"/>
              </a:rPr>
              <a:t>- </a:t>
            </a:r>
            <a:r>
              <a:rPr lang="zh-CN" altLang="en-US"/>
              <a:t>0) - F(a)</a:t>
            </a:r>
          </a:p>
        </p:txBody>
      </p:sp>
      <p:sp>
        <p:nvSpPr>
          <p:cNvPr id="13328" name="Text Box 16"/>
          <p:cNvSpPr txBox="1">
            <a:spLocks noChangeArrowheads="1"/>
          </p:cNvSpPr>
          <p:nvPr/>
        </p:nvSpPr>
        <p:spPr bwMode="auto">
          <a:xfrm>
            <a:off x="3060700" y="5445125"/>
            <a:ext cx="287972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F(b) - F(a)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4" grpId="0" bldLvl="0" autoUpdateAnimBg="0"/>
      <p:bldP spid="13325" grpId="0" bldLvl="0" autoUpdateAnimBg="0"/>
      <p:bldP spid="13326" grpId="0" bldLvl="0" autoUpdateAnimBg="0"/>
      <p:bldP spid="13327" grpId="0" bldLvl="0" autoUpdateAnimBg="0"/>
      <p:bldP spid="13328" grpId="0" bldLvl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043608" y="705177"/>
                <a:ext cx="7488832" cy="36365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3200" b="1" dirty="0">
                    <a:solidFill>
                      <a:srgbClr val="FF0000"/>
                    </a:solidFill>
                  </a:rPr>
                  <a:t>例 </a:t>
                </a:r>
                <a:r>
                  <a:rPr lang="zh-CN" altLang="en-US" sz="3200" b="1" dirty="0"/>
                  <a:t>  设随机变量</a:t>
                </a:r>
                <a:r>
                  <a:rPr lang="en-US" altLang="zh-CN" sz="3200" b="1" dirty="0"/>
                  <a:t>X</a:t>
                </a:r>
                <a:r>
                  <a:rPr lang="zh-CN" altLang="en-US" sz="3200" b="1" dirty="0"/>
                  <a:t> 的分布函数</a:t>
                </a:r>
                <a:endParaRPr lang="en-US" altLang="zh-CN" sz="3200" b="1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𝑭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𝟎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               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&lt;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f>
                              <m:fPr>
                                <m:ctrlP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altLang="zh-CN" sz="3200" b="1" i="1" smtClean="0">
                                <a:latin typeface="Cambria Math"/>
                              </a:rPr>
                              <m:t>         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𝟎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≤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&lt;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𝟏</m:t>
                            </m:r>
                          </m:e>
                          <m:e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𝒙</m:t>
                                </m:r>
                              </m:sup>
                            </m:sSup>
                            <m:r>
                              <a:rPr lang="en-US" altLang="zh-CN" sz="3200" b="1" i="1" smtClean="0">
                                <a:latin typeface="Cambria Math"/>
                              </a:rPr>
                              <m:t>     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≥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𝟏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3200" b="1" dirty="0"/>
                  <a:t> </a:t>
                </a:r>
                <a:endParaRPr lang="en-US" altLang="zh-CN" sz="3200" b="1" dirty="0"/>
              </a:p>
              <a:p>
                <a:r>
                  <a:rPr lang="zh-CN" altLang="en-US" sz="3200" b="1" dirty="0"/>
                  <a:t>则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𝑷</m:t>
                    </m:r>
                    <m:r>
                      <a:rPr lang="en-US" altLang="zh-CN" sz="3200" b="1" i="1" smtClean="0">
                        <a:latin typeface="Cambria Math"/>
                      </a:rPr>
                      <m:t>(</m:t>
                    </m:r>
                    <m:r>
                      <a:rPr lang="en-US" altLang="zh-CN" sz="3200" b="1" i="1" smtClean="0">
                        <a:latin typeface="Cambria Math"/>
                      </a:rPr>
                      <m:t>𝑿</m:t>
                    </m:r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r>
                      <a:rPr lang="en-US" altLang="zh-CN" sz="3200" b="1" i="1" smtClean="0">
                        <a:latin typeface="Cambria Math"/>
                      </a:rPr>
                      <m:t>𝟏</m:t>
                    </m:r>
                    <m:r>
                      <a:rPr lang="en-US" altLang="zh-CN" sz="3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3200" b="1" dirty="0"/>
                  <a:t>= (   )</a:t>
                </a:r>
              </a:p>
              <a:p>
                <a:r>
                  <a:rPr lang="en-US" altLang="zh-CN" sz="3200" b="1" dirty="0"/>
                  <a:t> (A)    0.                       (B)  . 1/2            </a:t>
                </a:r>
              </a:p>
              <a:p>
                <a:r>
                  <a:rPr lang="en-US" altLang="zh-CN" sz="3200" b="1" dirty="0"/>
                  <a:t> (C)  .   1/2-1/e             (D) 1-1/e</a:t>
                </a:r>
                <a:endParaRPr lang="zh-CN" altLang="en-US" sz="3200" b="1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705177"/>
                <a:ext cx="7488832" cy="3636573"/>
              </a:xfrm>
              <a:prstGeom prst="rect">
                <a:avLst/>
              </a:prstGeom>
              <a:blipFill rotWithShape="1">
                <a:blip r:embed="rId2"/>
                <a:stretch>
                  <a:fillRect l="-2034" t="-2685" b="-4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084168" y="530120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答案 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88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043608" y="764704"/>
                <a:ext cx="7416824" cy="22294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FF0000"/>
                    </a:solidFill>
                  </a:rPr>
                  <a:t>例</a:t>
                </a:r>
                <a:r>
                  <a:rPr lang="zh-CN" altLang="en-US" sz="3200" b="1" dirty="0"/>
                  <a:t>   设随机变量 </a:t>
                </a:r>
                <a:r>
                  <a:rPr lang="en-US" altLang="zh-CN" sz="3200" b="1" dirty="0"/>
                  <a:t>X </a:t>
                </a:r>
                <a:r>
                  <a:rPr lang="zh-CN" altLang="en-US" sz="3200" b="1" dirty="0"/>
                  <a:t>服从正态分布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𝑵</m:t>
                    </m:r>
                    <m:r>
                      <a:rPr lang="en-US" altLang="zh-CN" sz="3200" b="1" i="1" smtClean="0">
                        <a:latin typeface="Cambria Math"/>
                      </a:rPr>
                      <m:t>(</m:t>
                    </m:r>
                    <m:r>
                      <a:rPr lang="en-US" altLang="zh-CN" sz="3200" b="1" i="1" smtClean="0">
                        <a:latin typeface="Cambria Math"/>
                      </a:rPr>
                      <m:t>𝝁</m:t>
                    </m:r>
                    <m:r>
                      <a:rPr lang="en-US" altLang="zh-CN" sz="3200" b="1" i="1" smtClean="0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𝝈</m:t>
                        </m:r>
                      </m:e>
                      <m:sup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3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200" b="1" dirty="0"/>
                  <a:t> 且二次方程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3200" b="1" i="1" smtClean="0">
                        <a:latin typeface="Cambria Math"/>
                      </a:rPr>
                      <m:t>+</m:t>
                    </m:r>
                    <m:r>
                      <a:rPr lang="en-US" altLang="zh-CN" sz="3200" b="1" i="1" smtClean="0">
                        <a:latin typeface="Cambria Math"/>
                      </a:rPr>
                      <m:t>𝟒</m:t>
                    </m:r>
                    <m:r>
                      <a:rPr lang="en-US" altLang="zh-CN" sz="3200" b="1" i="1" smtClean="0">
                        <a:latin typeface="Cambria Math"/>
                      </a:rPr>
                      <m:t>𝒚</m:t>
                    </m:r>
                    <m:r>
                      <a:rPr lang="en-US" altLang="zh-CN" sz="3200" b="1" i="1" smtClean="0">
                        <a:latin typeface="Cambria Math"/>
                      </a:rPr>
                      <m:t>+</m:t>
                    </m:r>
                    <m:r>
                      <a:rPr lang="en-US" altLang="zh-CN" sz="3200" b="1" i="1" smtClean="0">
                        <a:latin typeface="Cambria Math"/>
                      </a:rPr>
                      <m:t>𝑿</m:t>
                    </m:r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r>
                      <a:rPr lang="en-US" altLang="zh-CN" sz="3200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sz="3200" b="1" dirty="0"/>
                  <a:t>无实根的概率为 </a:t>
                </a:r>
                <a:r>
                  <a:rPr lang="en-US" altLang="zh-CN" sz="3200" b="1" dirty="0"/>
                  <a:t>1/2</a:t>
                </a:r>
                <a:r>
                  <a:rPr lang="zh-CN" altLang="en-US" sz="3200" b="1" dirty="0"/>
                  <a:t>，则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𝝁</m:t>
                    </m:r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</m:oMath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764704"/>
                <a:ext cx="7416824" cy="2229456"/>
              </a:xfrm>
              <a:prstGeom prst="rect">
                <a:avLst/>
              </a:prstGeom>
              <a:blipFill rotWithShape="1">
                <a:blip r:embed="rId2"/>
                <a:stretch>
                  <a:fillRect l="-2054" r="-740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084168" y="5301208"/>
            <a:ext cx="1205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答案 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86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539552" y="404664"/>
                <a:ext cx="8136904" cy="52267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FF0000"/>
                    </a:solidFill>
                    <a:latin typeface="楷体" pitchFamily="49" charset="-122"/>
                    <a:ea typeface="楷体" pitchFamily="49" charset="-122"/>
                  </a:rPr>
                  <a:t>例</a:t>
                </a:r>
                <a:r>
                  <a:rPr lang="zh-CN" altLang="en-US" sz="3200" b="1" dirty="0"/>
                  <a:t>  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,  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,   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3200" b="1" dirty="0"/>
                  <a:t> 是随机变量，且</a:t>
                </a:r>
                <a:endParaRPr lang="en-US" altLang="zh-CN" sz="3200" b="1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∼</m:t>
                    </m:r>
                    <m:r>
                      <a:rPr lang="en-US" altLang="zh-CN" sz="3200" b="1" i="1" smtClean="0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𝟎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∼</m:t>
                    </m:r>
                    <m:r>
                      <a:rPr lang="en-US" altLang="zh-CN" sz="3200" b="1" i="1" smtClean="0">
                        <a:latin typeface="Cambria Math"/>
                      </a:rPr>
                      <m:t>𝑵</m:t>
                    </m:r>
                    <m:r>
                      <a:rPr lang="en-US" altLang="zh-CN" sz="3200" b="1" i="1" smtClean="0">
                        <a:latin typeface="Cambria Math"/>
                      </a:rPr>
                      <m:t>(</m:t>
                    </m:r>
                    <m:r>
                      <a:rPr lang="en-US" altLang="zh-CN" sz="3200" b="1" i="1" smtClean="0">
                        <a:latin typeface="Cambria Math"/>
                      </a:rPr>
                      <m:t>𝟎</m:t>
                    </m:r>
                    <m:r>
                      <a:rPr lang="en-US" altLang="zh-CN" sz="3200" b="1" i="1" smtClean="0">
                        <a:latin typeface="Cambria Math"/>
                      </a:rPr>
                      <m:t>,</m:t>
                    </m:r>
                    <m:r>
                      <a:rPr lang="en-US" altLang="zh-CN" sz="3200" b="1" i="1" smtClean="0">
                        <a:latin typeface="Cambria Math"/>
                      </a:rPr>
                      <m:t>𝟒</m:t>
                    </m:r>
                    <m:r>
                      <a:rPr lang="en-US" altLang="zh-CN" sz="3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200" b="1" dirty="0"/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latin typeface="Cambria Math"/>
                      </a:rPr>
                      <m:t>𝑿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_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𝟑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∼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𝑵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(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𝟓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,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𝟗</m:t>
                    </m:r>
                    <m:r>
                      <a:rPr lang="en-US" altLang="zh-CN" sz="32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200" b="1" dirty="0"/>
                  <a:t>。</a:t>
                </a:r>
                <a:endParaRPr lang="en-US" altLang="zh-CN" sz="3200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3200" b="1" dirty="0"/>
                  <a:t>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r>
                      <a:rPr lang="en-US" altLang="zh-CN" sz="3200" b="1" i="1" smtClean="0">
                        <a:latin typeface="Cambria Math"/>
                      </a:rPr>
                      <m:t>𝑷</m:t>
                    </m:r>
                    <m:r>
                      <a:rPr lang="en-US" altLang="zh-CN" sz="3200" b="1" i="1" smtClean="0">
                        <a:latin typeface="Cambria Math"/>
                      </a:rPr>
                      <m:t>(−</m:t>
                    </m:r>
                    <m:r>
                      <a:rPr lang="en-US" altLang="zh-CN" sz="3200" b="1" i="1" smtClean="0">
                        <a:latin typeface="Cambria Math"/>
                      </a:rPr>
                      <m:t>𝟐</m:t>
                    </m:r>
                    <m:r>
                      <a:rPr lang="en-US" altLang="zh-CN" sz="3200" b="1" i="1" smtClean="0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≤</m:t>
                    </m:r>
                    <m:r>
                      <a:rPr lang="en-US" altLang="zh-CN" sz="3200" b="1" i="1" smtClean="0">
                        <a:latin typeface="Cambria Math"/>
                      </a:rPr>
                      <m:t>𝟐</m:t>
                    </m:r>
                    <m:r>
                      <a:rPr lang="en-US" altLang="zh-CN" sz="3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200" b="1" dirty="0"/>
                  <a:t>，则（   ）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3200" b="1" dirty="0"/>
                  <a:t>（</a:t>
                </a:r>
                <a:r>
                  <a:rPr lang="en-US" altLang="zh-CN" sz="3200" b="1" dirty="0"/>
                  <a:t>A</a:t>
                </a:r>
                <a:r>
                  <a:rPr lang="zh-CN" altLang="en-US" sz="3200" b="1" dirty="0"/>
                  <a:t>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𝟑</m:t>
                        </m:r>
                      </m:sub>
                    </m:sSub>
                  </m:oMath>
                </a14:m>
                <a:endParaRPr lang="zh-CN" altLang="en-US" sz="3200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3200" b="1" dirty="0"/>
                  <a:t>（</a:t>
                </a:r>
                <a:r>
                  <a:rPr lang="en-US" altLang="zh-CN" sz="3200" b="1" dirty="0"/>
                  <a:t>B</a:t>
                </a:r>
                <a:r>
                  <a:rPr lang="zh-CN" altLang="en-US" sz="3200" b="1" dirty="0"/>
                  <a:t>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3200" b="1" i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>
                            <a:latin typeface="Cambria Math"/>
                          </a:rPr>
                          <m:t>𝟑</m:t>
                        </m:r>
                      </m:sub>
                    </m:sSub>
                  </m:oMath>
                </a14:m>
                <a:endParaRPr lang="zh-CN" altLang="en-US" sz="3200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3200" b="1" dirty="0"/>
                  <a:t>（</a:t>
                </a:r>
                <a:r>
                  <a:rPr lang="en-US" altLang="zh-CN" sz="3200" b="1" dirty="0"/>
                  <a:t>C</a:t>
                </a:r>
                <a:r>
                  <a:rPr lang="zh-CN" altLang="en-US" sz="3200" b="1" dirty="0"/>
                  <a:t>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𝟑</m:t>
                        </m:r>
                      </m:sub>
                    </m:sSub>
                    <m:r>
                      <a:rPr lang="en-US" altLang="zh-CN" sz="3200" b="1" i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endParaRPr lang="zh-CN" altLang="en-US" sz="3200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3200" b="1" dirty="0"/>
                  <a:t>（</a:t>
                </a:r>
                <a:r>
                  <a:rPr lang="en-US" altLang="zh-CN" sz="3200" b="1" dirty="0"/>
                  <a:t>D</a:t>
                </a:r>
                <a:r>
                  <a:rPr lang="zh-CN" altLang="en-US" sz="3200" b="1" dirty="0"/>
                  <a:t>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𝟑</m:t>
                        </m:r>
                      </m:sub>
                    </m:sSub>
                    <m:r>
                      <a:rPr lang="en-US" altLang="zh-CN" sz="3200" b="1" i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04664"/>
                <a:ext cx="8136904" cy="5226752"/>
              </a:xfrm>
              <a:prstGeom prst="rect">
                <a:avLst/>
              </a:prstGeom>
              <a:blipFill rotWithShape="1">
                <a:blip r:embed="rId2"/>
                <a:stretch>
                  <a:fillRect l="-1949" r="-6897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020272" y="4201924"/>
            <a:ext cx="13511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答案  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10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83568" y="476672"/>
                <a:ext cx="8136904" cy="45284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FF0000"/>
                    </a:solidFill>
                  </a:rPr>
                  <a:t>例</a:t>
                </a:r>
                <a:r>
                  <a:rPr lang="zh-CN" altLang="en-US" sz="3200" b="1" dirty="0"/>
                  <a:t>  设随机变量 </a:t>
                </a:r>
                <a:r>
                  <a:rPr lang="en-US" altLang="zh-CN" sz="3200" b="1" dirty="0"/>
                  <a:t>X</a:t>
                </a:r>
                <a:r>
                  <a:rPr lang="zh-CN" altLang="en-US" sz="3200" b="1" dirty="0"/>
                  <a:t>服从正态分布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𝑵</m:t>
                    </m:r>
                    <m:r>
                      <a:rPr lang="en-US" altLang="zh-CN" sz="3200" b="1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,</m:t>
                    </m:r>
                    <m:sSubSup>
                      <m:sSubSup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p>
                    </m:sSubSup>
                    <m:r>
                      <a:rPr lang="en-US" altLang="zh-CN" sz="3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200" b="1" dirty="0"/>
                  <a:t> ， </a:t>
                </a:r>
                <a:r>
                  <a:rPr lang="en-US" altLang="zh-CN" sz="3200" b="1" dirty="0"/>
                  <a:t>Y</a:t>
                </a:r>
                <a:r>
                  <a:rPr lang="zh-CN" altLang="en-US" sz="3200" b="1" dirty="0"/>
                  <a:t>服从正态分布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/>
                      </a:rPr>
                      <m:t>𝑵</m:t>
                    </m:r>
                    <m:r>
                      <a:rPr lang="en-US" altLang="zh-CN" sz="3200" b="1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3200" b="1" i="1">
                        <a:latin typeface="Cambria Math"/>
                      </a:rPr>
                      <m:t>,</m:t>
                    </m:r>
                    <m:sSubSup>
                      <m:sSubSup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1" i="1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  <m:sup>
                        <m:r>
                          <a:rPr lang="en-US" altLang="zh-CN" sz="3200" b="1" i="1">
                            <a:latin typeface="Cambria Math"/>
                          </a:rPr>
                          <m:t>𝟐</m:t>
                        </m:r>
                      </m:sup>
                    </m:sSubSup>
                    <m:r>
                      <a:rPr lang="en-US" altLang="zh-CN" sz="3200" b="1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200" b="1" dirty="0"/>
                  <a:t> ，且</a:t>
                </a:r>
                <a:endParaRPr lang="en-US" altLang="zh-CN" sz="3200" b="1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sz="3200" b="1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smtClean="0">
                                      <a:latin typeface="Cambria Math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3200" b="1" i="1" smtClean="0"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3200" b="1" i="1" smtClean="0">
                              <a:latin typeface="Cambria Math"/>
                            </a:rPr>
                            <m:t>&lt;</m:t>
                          </m:r>
                          <m:r>
                            <a:rPr lang="en-US" altLang="zh-CN" sz="32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/>
                        </a:rPr>
                        <m:t>&gt;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𝑷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/>
                            </a:rPr>
                            <m:t>𝒀</m:t>
                          </m:r>
                          <m:r>
                            <a:rPr lang="en-US" altLang="zh-CN" sz="3200" b="1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smtClean="0">
                          <a:latin typeface="Cambria Math"/>
                        </a:rPr>
                        <m:t>&lt;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𝟏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CN" altLang="en-US" sz="3200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3200" b="1" dirty="0"/>
                  <a:t> 则必有</a:t>
                </a:r>
                <a:r>
                  <a:rPr lang="en-US" altLang="zh-CN" sz="3200" b="1" dirty="0"/>
                  <a:t>(   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(A)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dirty="0"/>
                  <a:t>		 (B)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sz="32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sz="3200" b="1" i="1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sz="32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(C)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dirty="0"/>
                  <a:t>	 	(D)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32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3200" b="1" i="1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76672"/>
                <a:ext cx="8136904" cy="4528484"/>
              </a:xfrm>
              <a:prstGeom prst="rect">
                <a:avLst/>
              </a:prstGeom>
              <a:blipFill rotWithShape="1">
                <a:blip r:embed="rId2"/>
                <a:stretch>
                  <a:fillRect l="-1873" b="-34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084168" y="5301208"/>
            <a:ext cx="1337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答案 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047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115616" y="548680"/>
                <a:ext cx="7488832" cy="42076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FF0000"/>
                    </a:solidFill>
                  </a:rPr>
                  <a:t>例</a:t>
                </a:r>
                <a:r>
                  <a:rPr lang="zh-CN" altLang="en-US" sz="3200" b="1" dirty="0"/>
                  <a:t>    设随机变量 </a:t>
                </a:r>
                <a:r>
                  <a:rPr lang="en-US" altLang="zh-CN" sz="3200" b="1" dirty="0"/>
                  <a:t>X</a:t>
                </a:r>
                <a:r>
                  <a:rPr lang="zh-CN" altLang="en-US" sz="3200" b="1" dirty="0"/>
                  <a:t>服从正态分布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𝑵</m:t>
                    </m:r>
                    <m:r>
                      <a:rPr lang="en-US" altLang="zh-CN" sz="3200" b="1" i="1" smtClean="0">
                        <a:latin typeface="Cambria Math"/>
                      </a:rPr>
                      <m:t>(</m:t>
                    </m:r>
                    <m:r>
                      <a:rPr lang="en-US" altLang="zh-CN" sz="3200" b="1" i="1" smtClean="0">
                        <a:latin typeface="Cambria Math"/>
                      </a:rPr>
                      <m:t>𝟎</m:t>
                    </m:r>
                    <m:r>
                      <a:rPr lang="en-US" altLang="zh-CN" sz="3200" b="1" i="1" smtClean="0">
                        <a:latin typeface="Cambria Math"/>
                      </a:rPr>
                      <m:t>,</m:t>
                    </m:r>
                    <m:r>
                      <a:rPr lang="en-US" altLang="zh-CN" sz="3200" b="1" i="1" smtClean="0">
                        <a:latin typeface="Cambria Math"/>
                      </a:rPr>
                      <m:t>𝟏</m:t>
                    </m:r>
                    <m:r>
                      <a:rPr lang="en-US" altLang="zh-CN" sz="3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200" b="1" dirty="0"/>
                  <a:t>，对给定的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𝜶</m:t>
                    </m:r>
                  </m:oMath>
                </a14:m>
                <a:r>
                  <a:rPr lang="zh-CN" altLang="en-US" sz="3200" b="1" dirty="0"/>
                  <a:t> ，数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zh-CN" altLang="en-US" sz="3200" b="1" dirty="0"/>
                  <a:t>满足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&gt;</m:t>
                        </m:r>
                        <m:sSub>
                          <m:sSub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𝜶</m:t>
                            </m:r>
                          </m:sub>
                        </m:sSub>
                      </m:e>
                    </m:d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r>
                      <a:rPr lang="en-US" altLang="zh-CN" sz="3200" b="1" i="1" smtClean="0">
                        <a:latin typeface="Cambria Math"/>
                      </a:rPr>
                      <m:t>𝜶</m:t>
                    </m:r>
                  </m:oMath>
                </a14:m>
                <a:r>
                  <a:rPr lang="zh-CN" altLang="en-US" sz="3200" b="1" dirty="0"/>
                  <a:t> ，若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𝑿</m:t>
                            </m:r>
                          </m:e>
                        </m:d>
                        <m:r>
                          <a:rPr lang="en-US" altLang="zh-CN" sz="3200" b="1" i="1" smtClean="0">
                            <a:latin typeface="Cambria Math"/>
                          </a:rPr>
                          <m:t>&lt;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r>
                      <a:rPr lang="en-US" altLang="zh-CN" sz="3200" b="1" i="1" smtClean="0">
                        <a:latin typeface="Cambria Math"/>
                      </a:rPr>
                      <m:t>𝜶</m:t>
                    </m:r>
                  </m:oMath>
                </a14:m>
                <a:r>
                  <a:rPr lang="zh-CN" altLang="en-US" sz="3200" b="1" dirty="0"/>
                  <a:t> ，则</a:t>
                </a:r>
                <a:r>
                  <a:rPr lang="en-US" altLang="zh-CN" sz="3200" b="1" dirty="0"/>
                  <a:t>x</a:t>
                </a:r>
                <a:r>
                  <a:rPr lang="zh-CN" altLang="en-US" sz="3200" b="1" dirty="0"/>
                  <a:t> 等于</a:t>
                </a:r>
                <a:r>
                  <a:rPr lang="en-US" altLang="zh-CN" sz="3200" b="1" dirty="0"/>
                  <a:t>(     )</a:t>
                </a:r>
              </a:p>
              <a:p>
                <a:pPr marL="514350" indent="-514350">
                  <a:lnSpc>
                    <a:spcPct val="150000"/>
                  </a:lnSpc>
                  <a:buAutoNum type="alphaUcParenBoth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   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𝜶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/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dirty="0"/>
                  <a:t> .      (B)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𝜶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/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dirty="0"/>
                  <a:t>.  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  (C)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𝒖</m:t>
                        </m:r>
                      </m:e>
                      <m:sub>
                        <m:f>
                          <m:f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𝜶</m:t>
                            </m:r>
                          </m:num>
                          <m:den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altLang="zh-CN" sz="3200" b="1" dirty="0"/>
                  <a:t> .       (D)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en-US" altLang="zh-CN" sz="3200" b="1" dirty="0"/>
                  <a:t>  . </a:t>
                </a:r>
                <a:endParaRPr lang="zh-CN" altLang="en-US" sz="3200" b="1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548680"/>
                <a:ext cx="7488832" cy="4207690"/>
              </a:xfrm>
              <a:prstGeom prst="rect">
                <a:avLst/>
              </a:prstGeom>
              <a:blipFill rotWithShape="1">
                <a:blip r:embed="rId2"/>
                <a:stretch>
                  <a:fillRect l="-2036" r="-75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084168" y="5301208"/>
            <a:ext cx="126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答案 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38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827584" y="476672"/>
                <a:ext cx="7920880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FF0000"/>
                    </a:solidFill>
                    <a:latin typeface="楷体" pitchFamily="49" charset="-122"/>
                    <a:ea typeface="楷体" pitchFamily="49" charset="-122"/>
                  </a:rPr>
                  <a:t>例</a:t>
                </a:r>
                <a:r>
                  <a:rPr lang="zh-CN" altLang="en-US" sz="3200" b="1" dirty="0"/>
                  <a:t>  设随机变量</a:t>
                </a:r>
                <a:r>
                  <a:rPr lang="en-US" altLang="zh-CN" sz="3200" b="1" dirty="0"/>
                  <a:t>Y</a:t>
                </a:r>
                <a:r>
                  <a:rPr lang="zh-CN" altLang="en-US" sz="3200" b="1" dirty="0"/>
                  <a:t>服从参数为</a:t>
                </a:r>
                <a:r>
                  <a:rPr lang="en-US" altLang="zh-CN" sz="3200" b="1" dirty="0"/>
                  <a:t>1</a:t>
                </a:r>
                <a:r>
                  <a:rPr lang="zh-CN" altLang="en-US" sz="3200" b="1" dirty="0"/>
                  <a:t>的指数分布</a:t>
                </a:r>
                <a:r>
                  <a:rPr lang="en-US" altLang="zh-CN" sz="3200" b="1" dirty="0"/>
                  <a:t>, a </a:t>
                </a:r>
                <a:r>
                  <a:rPr lang="zh-CN" altLang="en-US" sz="3200" b="1" dirty="0"/>
                  <a:t>为常数且大于零，则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𝒀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≤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𝒂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e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𝒀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&gt;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𝒂</m:t>
                        </m:r>
                      </m:e>
                    </m:d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________</a:t>
                </a:r>
                <a:r>
                  <a:rPr lang="zh-CN" altLang="en-US" sz="3200" b="1" dirty="0"/>
                  <a:t>。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76672"/>
                <a:ext cx="7920880" cy="2308324"/>
              </a:xfrm>
              <a:prstGeom prst="rect">
                <a:avLst/>
              </a:prstGeom>
              <a:blipFill rotWithShape="1">
                <a:blip r:embed="rId2"/>
                <a:stretch>
                  <a:fillRect l="-2002" r="-2925" b="-3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4600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809625" y="260350"/>
          <a:ext cx="75819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r:id="rId3" imgW="7581900" imgH="3962400" progId="Equation.3">
                  <p:embed/>
                </p:oleObj>
              </mc:Choice>
              <mc:Fallback>
                <p:oleObj r:id="rId3" imgW="7581900" imgH="3962400" progId="Equation.3">
                  <p:embed/>
                  <p:pic>
                    <p:nvPicPr>
                      <p:cNvPr id="163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260350"/>
                        <a:ext cx="7581900" cy="396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827088" y="4441825"/>
            <a:ext cx="7561262" cy="11176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b="1">
                <a:solidFill>
                  <a:srgbClr val="FF0000"/>
                </a:solidFill>
              </a:rPr>
              <a:t>[</a:t>
            </a:r>
            <a:r>
              <a:rPr lang="zh-CN" b="1">
                <a:solidFill>
                  <a:srgbClr val="FF0000"/>
                </a:solidFill>
              </a:rPr>
              <a:t>思路</a:t>
            </a:r>
            <a:r>
              <a:rPr lang="zh-CN" altLang="zh-CN" b="1">
                <a:solidFill>
                  <a:srgbClr val="FF0000"/>
                </a:solidFill>
              </a:rPr>
              <a:t>]</a:t>
            </a:r>
            <a:r>
              <a:rPr lang="zh-CN" altLang="zh-CN" b="1">
                <a:solidFill>
                  <a:srgbClr val="0000FF"/>
                </a:solidFill>
              </a:rPr>
              <a:t>    </a:t>
            </a:r>
            <a:r>
              <a:rPr lang="zh-CN" b="1"/>
              <a:t>首先利用分布函数的性质求出常数 </a:t>
            </a:r>
            <a:r>
              <a:rPr lang="zh-CN" altLang="zh-CN" b="1" i="1"/>
              <a:t>a, b,</a:t>
            </a:r>
          </a:p>
          <a:p>
            <a:pPr>
              <a:lnSpc>
                <a:spcPct val="120000"/>
              </a:lnSpc>
            </a:pPr>
            <a:r>
              <a:rPr lang="zh-CN" b="1"/>
              <a:t>再用已确定的分布函数来求分布律</a:t>
            </a:r>
            <a:r>
              <a:rPr lang="zh-CN" altLang="zh-CN" b="1"/>
              <a:t>.</a:t>
            </a:r>
            <a:endParaRPr lang="zh-CN" altLang="zh-CN" b="1">
              <a:ea typeface="黑体" pitchFamily="49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827088" y="5572125"/>
            <a:ext cx="538162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b="1">
                <a:solidFill>
                  <a:srgbClr val="CC0000"/>
                </a:solidFill>
                <a:ea typeface="楷体" pitchFamily="49" charset="-122"/>
              </a:rPr>
              <a:t>解</a:t>
            </a:r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1741488" y="5661025"/>
          <a:ext cx="431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r:id="rId5" imgW="4316127" imgH="431613" progId="Equation.3">
                  <p:embed/>
                </p:oleObj>
              </mc:Choice>
              <mc:Fallback>
                <p:oleObj r:id="rId5" imgW="4316127" imgH="431613" progId="Equation.3">
                  <p:embed/>
                  <p:pic>
                    <p:nvPicPr>
                      <p:cNvPr id="174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5661025"/>
                        <a:ext cx="4318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827088" y="266700"/>
            <a:ext cx="538162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b="1">
                <a:solidFill>
                  <a:srgbClr val="CC0000"/>
                </a:solidFill>
                <a:latin typeface="黑体" pitchFamily="49" charset="-122"/>
                <a:ea typeface="楷体" pitchFamily="49" charset="-122"/>
              </a:rPr>
              <a:t>例</a:t>
            </a:r>
          </a:p>
        </p:txBody>
      </p:sp>
      <p:sp>
        <p:nvSpPr>
          <p:cNvPr id="16391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229600" y="6096000"/>
            <a:ext cx="533400" cy="533400"/>
          </a:xfrm>
          <a:prstGeom prst="actionButtonBlank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ldLvl="0" animBg="1" autoUpdateAnimBg="0"/>
      <p:bldP spid="1741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1879600" y="838200"/>
          <a:ext cx="4584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r:id="rId3" imgW="4582711" imgH="431613" progId="Equation.3">
                  <p:embed/>
                </p:oleObj>
              </mc:Choice>
              <mc:Fallback>
                <p:oleObj r:id="rId3" imgW="4582711" imgH="431613" progId="Equation.3">
                  <p:embed/>
                  <p:pic>
                    <p:nvPicPr>
                      <p:cNvPr id="184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838200"/>
                        <a:ext cx="4584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1905000" y="1524000"/>
          <a:ext cx="1638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r:id="rId5" imgW="1638300" imgH="393700" progId="Equation.3">
                  <p:embed/>
                </p:oleObj>
              </mc:Choice>
              <mc:Fallback>
                <p:oleObj r:id="rId5" imgW="1638300" imgH="393700" progId="Equation.3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16383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1905000" y="2057400"/>
          <a:ext cx="267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r:id="rId7" imgW="2679700" imgH="825500" progId="Equation.3">
                  <p:embed/>
                </p:oleObj>
              </mc:Choice>
              <mc:Fallback>
                <p:oleObj r:id="rId7" imgW="2679700" imgH="825500" progId="Equation.3">
                  <p:embed/>
                  <p:pic>
                    <p:nvPicPr>
                      <p:cNvPr id="184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57400"/>
                        <a:ext cx="26797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2895600" y="2819400"/>
          <a:ext cx="2565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r:id="rId9" imgW="2565400" imgH="838200" progId="Equation.3">
                  <p:embed/>
                </p:oleObj>
              </mc:Choice>
              <mc:Fallback>
                <p:oleObj r:id="rId9" imgW="2565400" imgH="838200" progId="Equation.3">
                  <p:embed/>
                  <p:pic>
                    <p:nvPicPr>
                      <p:cNvPr id="18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819400"/>
                        <a:ext cx="2565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2825750" y="3657600"/>
          <a:ext cx="187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r:id="rId11" imgW="1880416" imgH="838564" progId="Equation.3">
                  <p:embed/>
                </p:oleObj>
              </mc:Choice>
              <mc:Fallback>
                <p:oleObj r:id="rId11" imgW="1880416" imgH="838564" progId="Equation.3">
                  <p:embed/>
                  <p:pic>
                    <p:nvPicPr>
                      <p:cNvPr id="184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3657600"/>
                        <a:ext cx="18796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1905000" y="4648200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r:id="rId13" imgW="2020177" imgH="419282" progId="Equation.3">
                  <p:embed/>
                </p:oleObj>
              </mc:Choice>
              <mc:Fallback>
                <p:oleObj r:id="rId13" imgW="2020177" imgH="419282" progId="Equation.3">
                  <p:embed/>
                  <p:pic>
                    <p:nvPicPr>
                      <p:cNvPr id="184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648200"/>
                        <a:ext cx="2019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/>
        </p:nvGraphicFramePr>
        <p:xfrm>
          <a:off x="1905000" y="5257800"/>
          <a:ext cx="3568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r:id="rId15" imgW="3568700" imgH="838200" progId="Equation.3">
                  <p:embed/>
                </p:oleObj>
              </mc:Choice>
              <mc:Fallback>
                <p:oleObj r:id="rId15" imgW="3568700" imgH="838200" progId="Equation.3">
                  <p:embed/>
                  <p:pic>
                    <p:nvPicPr>
                      <p:cNvPr id="184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257800"/>
                        <a:ext cx="35687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990600" y="762000"/>
          <a:ext cx="5397500" cy="288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r:id="rId3" imgW="5397500" imgH="2882900" progId="Equation.3">
                  <p:embed/>
                </p:oleObj>
              </mc:Choice>
              <mc:Fallback>
                <p:oleObj r:id="rId3" imgW="5397500" imgH="2882900" progId="Equation.3">
                  <p:embed/>
                  <p:pic>
                    <p:nvPicPr>
                      <p:cNvPr id="194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762000"/>
                        <a:ext cx="5397500" cy="288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914400" y="3810000"/>
            <a:ext cx="3098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b="1"/>
              <a:t>从而 </a:t>
            </a:r>
            <a:r>
              <a:rPr lang="zh-CN" altLang="zh-CN" b="1" i="1"/>
              <a:t>X </a:t>
            </a:r>
            <a:r>
              <a:rPr lang="zh-CN" b="1"/>
              <a:t>的分布律为</a:t>
            </a: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2438400" y="5051425"/>
            <a:ext cx="38862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2667000" y="4594225"/>
          <a:ext cx="355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r:id="rId5" imgW="355600" imgH="292100" progId="Equation.3">
                  <p:embed/>
                </p:oleObj>
              </mc:Choice>
              <mc:Fallback>
                <p:oleObj r:id="rId5" imgW="355600" imgH="292100" progId="Equation.3">
                  <p:embed/>
                  <p:pic>
                    <p:nvPicPr>
                      <p:cNvPr id="194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594225"/>
                        <a:ext cx="3556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2667000" y="5356225"/>
          <a:ext cx="292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r:id="rId7" imgW="292227" imgH="292227" progId="Equation.3">
                  <p:embed/>
                </p:oleObj>
              </mc:Choice>
              <mc:Fallback>
                <p:oleObj r:id="rId7" imgW="292227" imgH="292227" progId="Equation.3">
                  <p:embed/>
                  <p:pic>
                    <p:nvPicPr>
                      <p:cNvPr id="19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356225"/>
                        <a:ext cx="2921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/>
        </p:nvGraphicFramePr>
        <p:xfrm>
          <a:off x="3581400" y="4518025"/>
          <a:ext cx="215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r:id="rId9" imgW="2159000" imgH="393700" progId="Equation.3">
                  <p:embed/>
                </p:oleObj>
              </mc:Choice>
              <mc:Fallback>
                <p:oleObj r:id="rId9" imgW="2159000" imgH="393700" progId="Equation.3">
                  <p:embed/>
                  <p:pic>
                    <p:nvPicPr>
                      <p:cNvPr id="194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518025"/>
                        <a:ext cx="2159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3733800" y="5051425"/>
          <a:ext cx="201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r:id="rId11" imgW="2020177" imgH="838564" progId="Equation.3">
                  <p:embed/>
                </p:oleObj>
              </mc:Choice>
              <mc:Fallback>
                <p:oleObj r:id="rId11" imgW="2020177" imgH="838564" progId="Equation.3">
                  <p:embed/>
                  <p:pic>
                    <p:nvPicPr>
                      <p:cNvPr id="194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051425"/>
                        <a:ext cx="20193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Line 9"/>
          <p:cNvSpPr>
            <a:spLocks noChangeShapeType="1"/>
          </p:cNvSpPr>
          <p:nvPr/>
        </p:nvSpPr>
        <p:spPr bwMode="auto">
          <a:xfrm>
            <a:off x="3124200" y="4365625"/>
            <a:ext cx="0" cy="15240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  <p:bldP spid="19460" grpId="0" animBg="1"/>
      <p:bldP spid="1946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920750" y="938213"/>
          <a:ext cx="75184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r:id="rId3" imgW="7518400" imgH="1981200" progId="Equation.3">
                  <p:embed/>
                </p:oleObj>
              </mc:Choice>
              <mc:Fallback>
                <p:oleObj r:id="rId3" imgW="7518400" imgH="1981200" progId="Equation.3">
                  <p:embed/>
                  <p:pic>
                    <p:nvPicPr>
                      <p:cNvPr id="143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938213"/>
                        <a:ext cx="7518400" cy="198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838200" y="2935288"/>
            <a:ext cx="7620000" cy="159216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b="1" dirty="0">
                <a:solidFill>
                  <a:srgbClr val="FF0000"/>
                </a:solidFill>
              </a:rPr>
              <a:t>[</a:t>
            </a:r>
            <a:r>
              <a:rPr lang="zh-CN" b="1" dirty="0">
                <a:solidFill>
                  <a:srgbClr val="FF0000"/>
                </a:solidFill>
              </a:rPr>
              <a:t>思路</a:t>
            </a:r>
            <a:r>
              <a:rPr lang="zh-CN" altLang="zh-CN" b="1" dirty="0">
                <a:solidFill>
                  <a:srgbClr val="FF0000"/>
                </a:solidFill>
              </a:rPr>
              <a:t>]</a:t>
            </a:r>
            <a:r>
              <a:rPr lang="zh-CN" altLang="zh-CN" b="1" dirty="0">
                <a:solidFill>
                  <a:srgbClr val="0000FF"/>
                </a:solidFill>
              </a:rPr>
              <a:t>    </a:t>
            </a:r>
            <a:r>
              <a:rPr lang="zh-CN" b="1" dirty="0"/>
              <a:t>首先根据概率分布的性质求出常数 </a:t>
            </a:r>
            <a:r>
              <a:rPr lang="zh-CN" altLang="zh-CN" b="1" i="1" dirty="0"/>
              <a:t>a </a:t>
            </a:r>
            <a:r>
              <a:rPr lang="zh-CN" b="1" dirty="0"/>
              <a:t>的值</a:t>
            </a:r>
            <a:r>
              <a:rPr lang="zh-CN" altLang="zh-CN" b="1" dirty="0"/>
              <a:t>, </a:t>
            </a:r>
            <a:r>
              <a:rPr lang="zh-CN" b="1" dirty="0"/>
              <a:t>然后确定概率分布律的具体形式</a:t>
            </a:r>
            <a:r>
              <a:rPr lang="zh-CN" altLang="zh-CN" b="1" dirty="0"/>
              <a:t>,</a:t>
            </a:r>
            <a:r>
              <a:rPr lang="zh-CN" b="1" dirty="0"/>
              <a:t>最后再计算条件概率</a:t>
            </a:r>
            <a:r>
              <a:rPr lang="zh-CN" altLang="zh-CN" b="1" dirty="0"/>
              <a:t>.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447800" y="4684713"/>
            <a:ext cx="39338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 b="1"/>
              <a:t>  </a:t>
            </a:r>
            <a:r>
              <a:rPr lang="zh-CN" b="1"/>
              <a:t>利用概率分布律的性质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900113" y="4633913"/>
            <a:ext cx="538162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b="1">
                <a:solidFill>
                  <a:srgbClr val="CC0000"/>
                </a:solidFill>
                <a:ea typeface="楷体" pitchFamily="49" charset="-122"/>
              </a:rPr>
              <a:t>解</a:t>
            </a:r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5486400" y="4662488"/>
          <a:ext cx="13843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r:id="rId5" imgW="1384300" imgH="711200" progId="Equation.3">
                  <p:embed/>
                </p:oleObj>
              </mc:Choice>
              <mc:Fallback>
                <p:oleObj r:id="rId5" imgW="1384300" imgH="711200" progId="Equation.3">
                  <p:embed/>
                  <p:pic>
                    <p:nvPicPr>
                      <p:cNvPr id="14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662488"/>
                        <a:ext cx="13843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819150" y="877888"/>
            <a:ext cx="14668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b="1">
                <a:solidFill>
                  <a:srgbClr val="CC0000"/>
                </a:solidFill>
                <a:latin typeface="黑体" pitchFamily="49" charset="-122"/>
                <a:ea typeface="楷体" pitchFamily="49" charset="-122"/>
              </a:rPr>
              <a:t>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ldLvl="0" animBg="1" autoUpdateAnimBg="0"/>
      <p:bldP spid="14340" grpId="0" autoUpdateAnimBg="0"/>
      <p:bldP spid="14341" grpId="0" autoUpdateAnimBg="0"/>
      <p:bldP spid="1434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838200" y="3200400"/>
            <a:ext cx="3098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b="1"/>
              <a:t>因此 </a:t>
            </a:r>
            <a:r>
              <a:rPr lang="zh-CN" altLang="zh-CN" b="1" i="1"/>
              <a:t>X </a:t>
            </a:r>
            <a:r>
              <a:rPr lang="zh-CN" b="1"/>
              <a:t>的分布律为</a:t>
            </a:r>
          </a:p>
        </p:txBody>
      </p:sp>
      <p:grpSp>
        <p:nvGrpSpPr>
          <p:cNvPr id="15363" name="Group 3"/>
          <p:cNvGrpSpPr>
            <a:grpSpLocks/>
          </p:cNvGrpSpPr>
          <p:nvPr/>
        </p:nvGrpSpPr>
        <p:grpSpPr bwMode="auto">
          <a:xfrm>
            <a:off x="1219200" y="3962400"/>
            <a:ext cx="6324600" cy="1676400"/>
            <a:chOff x="0" y="0"/>
            <a:chExt cx="3984" cy="1056"/>
          </a:xfrm>
        </p:grpSpPr>
        <p:sp>
          <p:nvSpPr>
            <p:cNvPr id="14350" name="Line 4"/>
            <p:cNvSpPr>
              <a:spLocks noChangeShapeType="1"/>
            </p:cNvSpPr>
            <p:nvPr/>
          </p:nvSpPr>
          <p:spPr bwMode="auto">
            <a:xfrm>
              <a:off x="0" y="528"/>
              <a:ext cx="3984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1" name="Line 5"/>
            <p:cNvSpPr>
              <a:spLocks noChangeShapeType="1"/>
            </p:cNvSpPr>
            <p:nvPr/>
          </p:nvSpPr>
          <p:spPr bwMode="auto">
            <a:xfrm>
              <a:off x="768" y="0"/>
              <a:ext cx="0" cy="105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1676400" y="4191000"/>
          <a:ext cx="355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r:id="rId3" imgW="355600" imgH="292100" progId="Equation.3">
                  <p:embed/>
                </p:oleObj>
              </mc:Choice>
              <mc:Fallback>
                <p:oleObj r:id="rId3" imgW="355600" imgH="292100" progId="Equation.3">
                  <p:embed/>
                  <p:pic>
                    <p:nvPicPr>
                      <p:cNvPr id="153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191000"/>
                        <a:ext cx="3556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1676400" y="5105400"/>
          <a:ext cx="292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r:id="rId5" imgW="292227" imgH="292227" progId="Equation.3">
                  <p:embed/>
                </p:oleObj>
              </mc:Choice>
              <mc:Fallback>
                <p:oleObj r:id="rId5" imgW="292227" imgH="292227" progId="Equation.3">
                  <p:embed/>
                  <p:pic>
                    <p:nvPicPr>
                      <p:cNvPr id="153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105400"/>
                        <a:ext cx="2921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>
          <a:off x="2819400" y="4114800"/>
          <a:ext cx="3632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r:id="rId7" imgW="3632200" imgH="457200" progId="Equation.3">
                  <p:embed/>
                </p:oleObj>
              </mc:Choice>
              <mc:Fallback>
                <p:oleObj r:id="rId7" imgW="3632200" imgH="457200" progId="Equation.3">
                  <p:embed/>
                  <p:pic>
                    <p:nvPicPr>
                      <p:cNvPr id="153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114800"/>
                        <a:ext cx="3632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2819400" y="4800600"/>
          <a:ext cx="419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r:id="rId9" imgW="419282" imgH="838564" progId="Equation.3">
                  <p:embed/>
                </p:oleObj>
              </mc:Choice>
              <mc:Fallback>
                <p:oleObj r:id="rId9" imgW="419282" imgH="838564" progId="Equation.3">
                  <p:embed/>
                  <p:pic>
                    <p:nvPicPr>
                      <p:cNvPr id="153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800600"/>
                        <a:ext cx="4191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0"/>
          <p:cNvGraphicFramePr>
            <a:graphicFrameLocks noChangeAspect="1"/>
          </p:cNvGraphicFramePr>
          <p:nvPr/>
        </p:nvGraphicFramePr>
        <p:xfrm>
          <a:off x="3962400" y="4800600"/>
          <a:ext cx="419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r:id="rId11" imgW="419282" imgH="838564" progId="Equation.3">
                  <p:embed/>
                </p:oleObj>
              </mc:Choice>
              <mc:Fallback>
                <p:oleObj r:id="rId11" imgW="419282" imgH="838564" progId="Equation.3">
                  <p:embed/>
                  <p:pic>
                    <p:nvPicPr>
                      <p:cNvPr id="153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800600"/>
                        <a:ext cx="4191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11"/>
          <p:cNvGraphicFramePr>
            <a:graphicFrameLocks noChangeAspect="1"/>
          </p:cNvGraphicFramePr>
          <p:nvPr/>
        </p:nvGraphicFramePr>
        <p:xfrm>
          <a:off x="4953000" y="4800600"/>
          <a:ext cx="419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r:id="rId13" imgW="419282" imgH="838564" progId="Equation.3">
                  <p:embed/>
                </p:oleObj>
              </mc:Choice>
              <mc:Fallback>
                <p:oleObj r:id="rId13" imgW="419282" imgH="838564" progId="Equation.3">
                  <p:embed/>
                  <p:pic>
                    <p:nvPicPr>
                      <p:cNvPr id="153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800600"/>
                        <a:ext cx="4191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Object 12"/>
          <p:cNvGraphicFramePr>
            <a:graphicFrameLocks noChangeAspect="1"/>
          </p:cNvGraphicFramePr>
          <p:nvPr/>
        </p:nvGraphicFramePr>
        <p:xfrm>
          <a:off x="6096000" y="4800600"/>
          <a:ext cx="419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r:id="rId15" imgW="419282" imgH="838564" progId="Equation.3">
                  <p:embed/>
                </p:oleObj>
              </mc:Choice>
              <mc:Fallback>
                <p:oleObj r:id="rId15" imgW="419282" imgH="838564" progId="Equation.3">
                  <p:embed/>
                  <p:pic>
                    <p:nvPicPr>
                      <p:cNvPr id="1537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00600"/>
                        <a:ext cx="4191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914400" y="990600"/>
          <a:ext cx="4749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r:id="rId17" imgW="4749800" imgH="889000" progId="Equation.3">
                  <p:embed/>
                </p:oleObj>
              </mc:Choice>
              <mc:Fallback>
                <p:oleObj r:id="rId17" imgW="4749800" imgH="889000" progId="Equation.3">
                  <p:embed/>
                  <p:pic>
                    <p:nvPicPr>
                      <p:cNvPr id="1537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990600"/>
                        <a:ext cx="47498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14"/>
          <p:cNvGraphicFramePr>
            <a:graphicFrameLocks noChangeAspect="1"/>
          </p:cNvGraphicFramePr>
          <p:nvPr/>
        </p:nvGraphicFramePr>
        <p:xfrm>
          <a:off x="5715000" y="990600"/>
          <a:ext cx="83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r:id="rId19" imgW="838564" imgH="838564" progId="Equation.3">
                  <p:embed/>
                </p:oleObj>
              </mc:Choice>
              <mc:Fallback>
                <p:oleObj r:id="rId19" imgW="838564" imgH="838564" progId="Equation.3">
                  <p:embed/>
                  <p:pic>
                    <p:nvPicPr>
                      <p:cNvPr id="1537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990600"/>
                        <a:ext cx="8382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5" name="Object 15"/>
          <p:cNvGraphicFramePr>
            <a:graphicFrameLocks noChangeAspect="1"/>
          </p:cNvGraphicFramePr>
          <p:nvPr/>
        </p:nvGraphicFramePr>
        <p:xfrm>
          <a:off x="914400" y="2133600"/>
          <a:ext cx="1790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r:id="rId21" imgW="1791478" imgH="838564" progId="Equation.3">
                  <p:embed/>
                </p:oleObj>
              </mc:Choice>
              <mc:Fallback>
                <p:oleObj r:id="rId21" imgW="1791478" imgH="838564" progId="Equation.3">
                  <p:embed/>
                  <p:pic>
                    <p:nvPicPr>
                      <p:cNvPr id="153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133600"/>
                        <a:ext cx="17907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914400" y="990600"/>
            <a:ext cx="898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b="1"/>
              <a:t>从而</a:t>
            </a:r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1752600" y="1828800"/>
          <a:ext cx="5257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r:id="rId3" imgW="5257800" imgH="914400" progId="Equation.3">
                  <p:embed/>
                </p:oleObj>
              </mc:Choice>
              <mc:Fallback>
                <p:oleObj r:id="rId3" imgW="5257800" imgH="914400" progId="Equation.3">
                  <p:embed/>
                  <p:pic>
                    <p:nvPicPr>
                      <p:cNvPr id="163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828800"/>
                        <a:ext cx="5257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1752600" y="3124200"/>
          <a:ext cx="5461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r:id="rId5" imgW="5458631" imgH="901309" progId="Equation.3">
                  <p:embed/>
                </p:oleObj>
              </mc:Choice>
              <mc:Fallback>
                <p:oleObj r:id="rId5" imgW="5458631" imgH="901309" progId="Equation.3">
                  <p:embed/>
                  <p:pic>
                    <p:nvPicPr>
                      <p:cNvPr id="163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124200"/>
                        <a:ext cx="54610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1752600" y="4495800"/>
          <a:ext cx="812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r:id="rId7" imgW="812800" imgH="838200" progId="Equation.3">
                  <p:embed/>
                </p:oleObj>
              </mc:Choice>
              <mc:Fallback>
                <p:oleObj r:id="rId7" imgW="812800" imgH="838200" progId="Equation.3">
                  <p:embed/>
                  <p:pic>
                    <p:nvPicPr>
                      <p:cNvPr id="163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495800"/>
                        <a:ext cx="812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ldLvl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827584" y="404664"/>
                <a:ext cx="7272808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FF0000"/>
                    </a:solidFill>
                    <a:latin typeface="楷体" pitchFamily="49" charset="-122"/>
                    <a:ea typeface="楷体" pitchFamily="49" charset="-122"/>
                  </a:rPr>
                  <a:t>例</a:t>
                </a:r>
                <a:r>
                  <a:rPr lang="zh-CN" altLang="en-US" sz="3200" b="1" dirty="0"/>
                  <a:t>   设随机变量</a:t>
                </a:r>
                <a:r>
                  <a:rPr lang="en-US" altLang="zh-CN" sz="3200" b="1" dirty="0"/>
                  <a:t>X</a:t>
                </a:r>
                <a:r>
                  <a:rPr lang="zh-CN" altLang="en-US" sz="3200" b="1" dirty="0"/>
                  <a:t>的概率分布为</a:t>
                </a:r>
                <a:endParaRPr lang="en-US" altLang="zh-CN" sz="3200" b="1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3200" b="1" dirty="0"/>
                  <a:t>P{X=1}=P{X=2}= 1/2</a:t>
                </a:r>
                <a:r>
                  <a:rPr lang="zh-CN" altLang="en-US" sz="3200" b="1" dirty="0"/>
                  <a:t>，</a:t>
                </a:r>
                <a:endParaRPr lang="en-US" altLang="zh-CN" sz="3200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3200" b="1" dirty="0"/>
                  <a:t>在给定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𝑿</m:t>
                    </m:r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r>
                      <a:rPr lang="en-US" altLang="zh-CN" sz="3200" b="1" i="1" smtClean="0">
                        <a:latin typeface="Cambria Math"/>
                      </a:rPr>
                      <m:t>𝒊</m:t>
                    </m:r>
                  </m:oMath>
                </a14:m>
                <a:r>
                  <a:rPr lang="zh-CN" altLang="en-US" sz="3200" b="1" dirty="0"/>
                  <a:t> 的条件下，随机变量</a:t>
                </a:r>
                <a:r>
                  <a:rPr lang="en-US" altLang="zh-CN" sz="3200" b="1" dirty="0"/>
                  <a:t>Y</a:t>
                </a:r>
                <a:r>
                  <a:rPr lang="zh-CN" altLang="en-US" sz="3200" b="1" dirty="0"/>
                  <a:t>服从均匀分布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𝑼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𝟎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𝒊</m:t>
                        </m:r>
                      </m:e>
                    </m:d>
                    <m:r>
                      <a:rPr lang="en-US" altLang="zh-CN" sz="3200" b="1" i="1" smtClean="0">
                        <a:latin typeface="Cambria Math"/>
                      </a:rPr>
                      <m:t> (</m:t>
                    </m:r>
                    <m:r>
                      <a:rPr lang="en-US" altLang="zh-CN" sz="3200" b="1" i="1" smtClean="0">
                        <a:latin typeface="Cambria Math"/>
                      </a:rPr>
                      <m:t>𝒊</m:t>
                    </m:r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r>
                      <a:rPr lang="en-US" altLang="zh-CN" sz="3200" b="1" i="1" smtClean="0">
                        <a:latin typeface="Cambria Math"/>
                      </a:rPr>
                      <m:t>𝟏</m:t>
                    </m:r>
                    <m:r>
                      <a:rPr lang="en-US" altLang="zh-CN" sz="3200" b="1" i="1" smtClean="0">
                        <a:latin typeface="Cambria Math"/>
                      </a:rPr>
                      <m:t>,</m:t>
                    </m:r>
                    <m:r>
                      <a:rPr lang="en-US" altLang="zh-CN" sz="3200" b="1" i="1" smtClean="0">
                        <a:latin typeface="Cambria Math"/>
                      </a:rPr>
                      <m:t>𝟐</m:t>
                    </m:r>
                    <m:r>
                      <a:rPr lang="en-US" altLang="zh-CN" sz="3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3200" b="1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3200" b="1" dirty="0"/>
                  <a:t>求</a:t>
                </a:r>
                <a:r>
                  <a:rPr lang="en-US" altLang="zh-CN" sz="3200" b="1" dirty="0"/>
                  <a:t>Y</a:t>
                </a:r>
                <a:r>
                  <a:rPr lang="zh-CN" altLang="en-US" sz="3200" b="1" dirty="0"/>
                  <a:t>的分布函数 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04664"/>
                <a:ext cx="7272808" cy="3785652"/>
              </a:xfrm>
              <a:prstGeom prst="rect">
                <a:avLst/>
              </a:prstGeom>
              <a:blipFill rotWithShape="1">
                <a:blip r:embed="rId2"/>
                <a:stretch>
                  <a:fillRect l="-2179" b="-19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857" y="3573016"/>
            <a:ext cx="3795850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472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899592" y="548680"/>
                <a:ext cx="6840760" cy="29980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3200" b="1" dirty="0"/>
                  <a:t> </a:t>
                </a:r>
                <a:r>
                  <a:rPr lang="zh-CN" altLang="en-US" sz="3200" b="1" dirty="0">
                    <a:solidFill>
                      <a:srgbClr val="FF0000"/>
                    </a:solidFill>
                  </a:rPr>
                  <a:t>例</a:t>
                </a:r>
                <a:r>
                  <a:rPr lang="zh-CN" altLang="en-US" sz="3200" b="1" dirty="0"/>
                  <a:t>    随机变量</a:t>
                </a:r>
                <a:r>
                  <a:rPr lang="en-US" altLang="zh-CN" sz="3200" b="1" dirty="0"/>
                  <a:t>X</a:t>
                </a:r>
                <a:r>
                  <a:rPr lang="zh-CN" altLang="en-US" sz="3200" b="1" dirty="0"/>
                  <a:t> 的概率密度为 </a:t>
                </a:r>
                <a:endParaRPr lang="en-US" altLang="zh-CN" sz="3200" b="1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altLang="zh-CN" sz="3200" b="1" i="1" smtClean="0">
                                <a:latin typeface="Cambria Math"/>
                              </a:rPr>
                              <m:t>      −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&lt;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&lt;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f>
                              <m:fPr>
                                <m:ctrlP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𝟒</m:t>
                                </m:r>
                              </m:den>
                            </m:f>
                            <m:r>
                              <a:rPr lang="en-US" altLang="zh-CN" sz="3200" b="1" i="1" smtClean="0">
                                <a:latin typeface="Cambria Math"/>
                              </a:rPr>
                              <m:t>           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𝟎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≤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&lt;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𝟐</m:t>
                            </m:r>
                          </m:e>
                          <m:e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𝟎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                    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𝒐𝒕𝒉𝒆𝒓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3200" b="1" dirty="0"/>
                  <a:t>  </a:t>
                </a:r>
              </a:p>
              <a:p>
                <a:r>
                  <a:rPr lang="zh-CN" altLang="en-US" sz="3200" b="1" dirty="0"/>
                  <a:t> 设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𝒀</m:t>
                    </m:r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𝑿</m:t>
                        </m:r>
                      </m:e>
                      <m:sup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3200" b="1" i="1" smtClean="0">
                        <a:latin typeface="Cambria Math"/>
                      </a:rPr>
                      <m:t>     </m:t>
                    </m:r>
                  </m:oMath>
                </a14:m>
                <a:r>
                  <a:rPr lang="zh-CN" altLang="en-US" sz="3200" b="1" dirty="0"/>
                  <a:t>求</a:t>
                </a:r>
                <a:r>
                  <a:rPr lang="en-US" altLang="zh-CN" sz="3200" b="1" dirty="0"/>
                  <a:t>Y</a:t>
                </a:r>
                <a:r>
                  <a:rPr lang="zh-CN" altLang="en-US" sz="3200" b="1" dirty="0"/>
                  <a:t>的概率密度 </a:t>
                </a:r>
                <a:r>
                  <a:rPr lang="en-US" altLang="zh-CN" sz="3200" b="1" dirty="0"/>
                  <a:t>; </a:t>
                </a:r>
                <a:endParaRPr lang="zh-CN" altLang="en-US" sz="3200" b="1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548680"/>
                <a:ext cx="6840760" cy="2998065"/>
              </a:xfrm>
              <a:prstGeom prst="rect">
                <a:avLst/>
              </a:prstGeom>
              <a:blipFill rotWithShape="1">
                <a:blip r:embed="rId3"/>
                <a:stretch>
                  <a:fillRect l="-713" t="-3252" b="-5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000568"/>
              </p:ext>
            </p:extLst>
          </p:nvPr>
        </p:nvGraphicFramePr>
        <p:xfrm>
          <a:off x="251520" y="4191858"/>
          <a:ext cx="5217403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r:id="rId4" imgW="3606800" imgH="1295400" progId="Equation.3">
                  <p:embed/>
                </p:oleObj>
              </mc:Choice>
              <mc:Fallback>
                <p:oleObj r:id="rId4" imgW="3606800" imgH="1295400" progId="Equation.3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191858"/>
                        <a:ext cx="5217403" cy="18722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248581"/>
            <a:ext cx="2929960" cy="1741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439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927100" y="749300"/>
          <a:ext cx="5562600" cy="270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r:id="rId3" imgW="5562600" imgH="2705100" progId="Equation.3">
                  <p:embed/>
                </p:oleObj>
              </mc:Choice>
              <mc:Fallback>
                <p:oleObj r:id="rId3" imgW="5562600" imgH="2705100" progId="Equation.3">
                  <p:embed/>
                  <p:pic>
                    <p:nvPicPr>
                      <p:cNvPr id="194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749300"/>
                        <a:ext cx="5562600" cy="270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914400" y="3581400"/>
            <a:ext cx="53816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b="1">
                <a:solidFill>
                  <a:srgbClr val="CC0000"/>
                </a:solidFill>
                <a:ea typeface="楷体" pitchFamily="49" charset="-122"/>
              </a:rPr>
              <a:t>解</a:t>
            </a: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1676400" y="3657600"/>
          <a:ext cx="3810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r:id="rId5" imgW="3808347" imgH="444307" progId="Equation.3">
                  <p:embed/>
                </p:oleObj>
              </mc:Choice>
              <mc:Fallback>
                <p:oleObj r:id="rId5" imgW="3808347" imgH="444307" progId="Equation.3">
                  <p:embed/>
                  <p:pic>
                    <p:nvPicPr>
                      <p:cNvPr id="20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657600"/>
                        <a:ext cx="3810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1371600" y="4102100"/>
          <a:ext cx="4445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r:id="rId7" imgW="4445000" imgH="698500" progId="Equation.3">
                  <p:embed/>
                </p:oleObj>
              </mc:Choice>
              <mc:Fallback>
                <p:oleObj r:id="rId7" imgW="4445000" imgH="698500" progId="Equation.3">
                  <p:embed/>
                  <p:pic>
                    <p:nvPicPr>
                      <p:cNvPr id="204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102100"/>
                        <a:ext cx="4445000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5892800" y="4102100"/>
          <a:ext cx="2260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r:id="rId9" imgW="2260600" imgH="698500" progId="Equation.3">
                  <p:embed/>
                </p:oleObj>
              </mc:Choice>
              <mc:Fallback>
                <p:oleObj r:id="rId9" imgW="2260600" imgH="698500" progId="Equation.3">
                  <p:embed/>
                  <p:pic>
                    <p:nvPicPr>
                      <p:cNvPr id="204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800" y="4102100"/>
                        <a:ext cx="2260600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1524000" y="4953000"/>
          <a:ext cx="863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r:id="rId11" imgW="863600" imgH="368300" progId="Equation.3">
                  <p:embed/>
                </p:oleObj>
              </mc:Choice>
              <mc:Fallback>
                <p:oleObj r:id="rId11" imgW="863600" imgH="368300" progId="Equation.3">
                  <p:embed/>
                  <p:pic>
                    <p:nvPicPr>
                      <p:cNvPr id="204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953000"/>
                        <a:ext cx="8636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1524000" y="5410200"/>
          <a:ext cx="1663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r:id="rId13" imgW="1664422" imgH="825858" progId="Equation.3">
                  <p:embed/>
                </p:oleObj>
              </mc:Choice>
              <mc:Fallback>
                <p:oleObj r:id="rId13" imgW="1664422" imgH="825858" progId="Equation.3">
                  <p:embed/>
                  <p:pic>
                    <p:nvPicPr>
                      <p:cNvPr id="204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410200"/>
                        <a:ext cx="16637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914400" y="679450"/>
            <a:ext cx="53816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b="1">
                <a:solidFill>
                  <a:srgbClr val="CC0000"/>
                </a:solidFill>
                <a:latin typeface="黑体" pitchFamily="49" charset="-122"/>
                <a:ea typeface="楷体" pitchFamily="49" charset="-122"/>
              </a:rPr>
              <a:t>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920750" y="685800"/>
          <a:ext cx="3492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r:id="rId3" imgW="3492500" imgH="825500" progId="Equation.3">
                  <p:embed/>
                </p:oleObj>
              </mc:Choice>
              <mc:Fallback>
                <p:oleObj r:id="rId3" imgW="3492500" imgH="825500" progId="Equation.3">
                  <p:embed/>
                  <p:pic>
                    <p:nvPicPr>
                      <p:cNvPr id="215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685800"/>
                        <a:ext cx="34925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914400" y="1905000"/>
          <a:ext cx="2082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r:id="rId5" imgW="2082800" imgH="431800" progId="Equation.3">
                  <p:embed/>
                </p:oleObj>
              </mc:Choice>
              <mc:Fallback>
                <p:oleObj r:id="rId5" imgW="2082800" imgH="431800" progId="Equation.3">
                  <p:embed/>
                  <p:pic>
                    <p:nvPicPr>
                      <p:cNvPr id="215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05000"/>
                        <a:ext cx="2082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2965450" y="1676400"/>
          <a:ext cx="2578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r:id="rId7" imgW="2578100" imgH="825500" progId="Equation.3">
                  <p:embed/>
                </p:oleObj>
              </mc:Choice>
              <mc:Fallback>
                <p:oleObj r:id="rId7" imgW="2578100" imgH="825500" progId="Equation.3">
                  <p:embed/>
                  <p:pic>
                    <p:nvPicPr>
                      <p:cNvPr id="21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1676400"/>
                        <a:ext cx="25781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5556250" y="1676400"/>
          <a:ext cx="990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r:id="rId9" imgW="990600" imgH="825500" progId="Equation.3">
                  <p:embed/>
                </p:oleObj>
              </mc:Choice>
              <mc:Fallback>
                <p:oleObj r:id="rId9" imgW="990600" imgH="825500" progId="Equation.3">
                  <p:embed/>
                  <p:pic>
                    <p:nvPicPr>
                      <p:cNvPr id="21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1676400"/>
                        <a:ext cx="9906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774700" y="3048000"/>
          <a:ext cx="2362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r:id="rId11" imgW="2362200" imgH="431800" progId="Equation.3">
                  <p:embed/>
                </p:oleObj>
              </mc:Choice>
              <mc:Fallback>
                <p:oleObj r:id="rId11" imgW="2362200" imgH="431800" progId="Equation.3">
                  <p:embed/>
                  <p:pic>
                    <p:nvPicPr>
                      <p:cNvPr id="21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3048000"/>
                        <a:ext cx="23622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2952750" y="2819400"/>
          <a:ext cx="4305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r:id="rId13" imgW="4406900" imgH="825500" progId="Equation.3">
                  <p:embed/>
                </p:oleObj>
              </mc:Choice>
              <mc:Fallback>
                <p:oleObj r:id="rId13" imgW="4406900" imgH="825500" progId="Equation.3">
                  <p:embed/>
                  <p:pic>
                    <p:nvPicPr>
                      <p:cNvPr id="215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2819400"/>
                        <a:ext cx="43053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7292975" y="2819400"/>
          <a:ext cx="14700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r:id="rId15" imgW="1600895" imgH="825858" progId="Equation.3">
                  <p:embed/>
                </p:oleObj>
              </mc:Choice>
              <mc:Fallback>
                <p:oleObj r:id="rId15" imgW="1600895" imgH="825858" progId="Equation.3">
                  <p:embed/>
                  <p:pic>
                    <p:nvPicPr>
                      <p:cNvPr id="215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2975" y="2819400"/>
                        <a:ext cx="1470025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762000" y="3733800"/>
            <a:ext cx="3544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 b="1"/>
              <a:t> </a:t>
            </a:r>
            <a:r>
              <a:rPr lang="zh-CN" b="1"/>
              <a:t>所以 </a:t>
            </a:r>
            <a:r>
              <a:rPr lang="zh-CN" altLang="zh-CN" b="1" i="1"/>
              <a:t>X </a:t>
            </a:r>
            <a:r>
              <a:rPr lang="zh-CN" b="1"/>
              <a:t>的分布函数为</a:t>
            </a:r>
          </a:p>
        </p:txBody>
      </p:sp>
      <p:graphicFrame>
        <p:nvGraphicFramePr>
          <p:cNvPr id="21514" name="Object 10"/>
          <p:cNvGraphicFramePr>
            <a:graphicFrameLocks noChangeAspect="1"/>
          </p:cNvGraphicFramePr>
          <p:nvPr/>
        </p:nvGraphicFramePr>
        <p:xfrm>
          <a:off x="2508250" y="4292600"/>
          <a:ext cx="35179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r:id="rId17" imgW="3517900" imgH="1689100" progId="Equation.3">
                  <p:embed/>
                </p:oleObj>
              </mc:Choice>
              <mc:Fallback>
                <p:oleObj r:id="rId17" imgW="3517900" imgH="1689100" progId="Equation.3">
                  <p:embed/>
                  <p:pic>
                    <p:nvPicPr>
                      <p:cNvPr id="215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4292600"/>
                        <a:ext cx="3517900" cy="168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876300" y="762000"/>
          <a:ext cx="299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r:id="rId3" imgW="2997200" imgH="457200" progId="Equation.3">
                  <p:embed/>
                </p:oleObj>
              </mc:Choice>
              <mc:Fallback>
                <p:oleObj r:id="rId3" imgW="2997200" imgH="457200" progId="Equation.3">
                  <p:embed/>
                  <p:pic>
                    <p:nvPicPr>
                      <p:cNvPr id="225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762000"/>
                        <a:ext cx="2997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914400" y="1524000"/>
          <a:ext cx="576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r:id="rId5" imgW="5763299" imgH="431613" progId="Equation.3">
                  <p:embed/>
                </p:oleObj>
              </mc:Choice>
              <mc:Fallback>
                <p:oleObj r:id="rId5" imgW="5763299" imgH="431613" progId="Equation.3">
                  <p:embed/>
                  <p:pic>
                    <p:nvPicPr>
                      <p:cNvPr id="225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524000"/>
                        <a:ext cx="5765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914400" y="2209800"/>
          <a:ext cx="2057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r:id="rId7" imgW="2057400" imgH="431800" progId="Equation.3">
                  <p:embed/>
                </p:oleObj>
              </mc:Choice>
              <mc:Fallback>
                <p:oleObj r:id="rId7" imgW="2057400" imgH="431800" progId="Equation.3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09800"/>
                        <a:ext cx="2057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1600200" y="2895600"/>
          <a:ext cx="463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r:id="rId9" imgW="4635500" imgH="457200" progId="Equation.3">
                  <p:embed/>
                </p:oleObj>
              </mc:Choice>
              <mc:Fallback>
                <p:oleObj r:id="rId9" imgW="4635500" imgH="457200" progId="Equation.3">
                  <p:embed/>
                  <p:pic>
                    <p:nvPicPr>
                      <p:cNvPr id="22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895600"/>
                        <a:ext cx="4635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2667000" y="3657600"/>
          <a:ext cx="3048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r:id="rId11" imgW="3048000" imgH="469900" progId="Equation.3">
                  <p:embed/>
                </p:oleObj>
              </mc:Choice>
              <mc:Fallback>
                <p:oleObj r:id="rId11" imgW="3048000" imgH="469900" progId="Equation.3">
                  <p:embed/>
                  <p:pic>
                    <p:nvPicPr>
                      <p:cNvPr id="225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657600"/>
                        <a:ext cx="3048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2692400" y="4419600"/>
          <a:ext cx="2184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r:id="rId13" imgW="2184400" imgH="825500" progId="Equation.3">
                  <p:embed/>
                </p:oleObj>
              </mc:Choice>
              <mc:Fallback>
                <p:oleObj r:id="rId13" imgW="2184400" imgH="825500" progId="Equation.3">
                  <p:embed/>
                  <p:pic>
                    <p:nvPicPr>
                      <p:cNvPr id="225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4419600"/>
                        <a:ext cx="21844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5003800" y="4419600"/>
          <a:ext cx="2311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r:id="rId15" imgW="2311400" imgH="825500" progId="Equation.3">
                  <p:embed/>
                </p:oleObj>
              </mc:Choice>
              <mc:Fallback>
                <p:oleObj r:id="rId15" imgW="2311400" imgH="825500" progId="Equation.3">
                  <p:embed/>
                  <p:pic>
                    <p:nvPicPr>
                      <p:cNvPr id="225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419600"/>
                        <a:ext cx="23114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914400" y="5435600"/>
          <a:ext cx="3035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r:id="rId17" imgW="3033983" imgH="431613" progId="Equation.3">
                  <p:embed/>
                </p:oleObj>
              </mc:Choice>
              <mc:Fallback>
                <p:oleObj r:id="rId17" imgW="3033983" imgH="431613" progId="Equation.3">
                  <p:embed/>
                  <p:pic>
                    <p:nvPicPr>
                      <p:cNvPr id="225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435600"/>
                        <a:ext cx="30353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901700" y="838200"/>
          <a:ext cx="2552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r:id="rId3" imgW="2551593" imgH="431613" progId="Equation.3">
                  <p:embed/>
                </p:oleObj>
              </mc:Choice>
              <mc:Fallback>
                <p:oleObj r:id="rId3" imgW="2551593" imgH="431613" progId="Equation.3">
                  <p:embed/>
                  <p:pic>
                    <p:nvPicPr>
                      <p:cNvPr id="235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838200"/>
                        <a:ext cx="2552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1727200" y="1524000"/>
          <a:ext cx="3962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r:id="rId5" imgW="3962400" imgH="914400" progId="Equation.3">
                  <p:embed/>
                </p:oleObj>
              </mc:Choice>
              <mc:Fallback>
                <p:oleObj r:id="rId5" imgW="3962400" imgH="914400" progId="Equation.3">
                  <p:embed/>
                  <p:pic>
                    <p:nvPicPr>
                      <p:cNvPr id="235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1524000"/>
                        <a:ext cx="39624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3175000" y="2743200"/>
          <a:ext cx="1955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r:id="rId7" imgW="1956649" imgH="927503" progId="Equation.3">
                  <p:embed/>
                </p:oleObj>
              </mc:Choice>
              <mc:Fallback>
                <p:oleObj r:id="rId7" imgW="1956649" imgH="927503" progId="Equation.3">
                  <p:embed/>
                  <p:pic>
                    <p:nvPicPr>
                      <p:cNvPr id="23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2743200"/>
                        <a:ext cx="1955800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819150" y="3962400"/>
          <a:ext cx="3670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r:id="rId9" imgW="3668708" imgH="444307" progId="Equation.3">
                  <p:embed/>
                </p:oleObj>
              </mc:Choice>
              <mc:Fallback>
                <p:oleObj r:id="rId9" imgW="3668708" imgH="444307" progId="Equation.3">
                  <p:embed/>
                  <p:pic>
                    <p:nvPicPr>
                      <p:cNvPr id="23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50" y="3962400"/>
                        <a:ext cx="36703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1746250" y="4437063"/>
          <a:ext cx="37338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r:id="rId11" imgW="3733800" imgH="1485900" progId="Equation.3">
                  <p:embed/>
                </p:oleObj>
              </mc:Choice>
              <mc:Fallback>
                <p:oleObj r:id="rId11" imgW="3733800" imgH="1485900" progId="Equation.3">
                  <p:embed/>
                  <p:pic>
                    <p:nvPicPr>
                      <p:cNvPr id="23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4437063"/>
                        <a:ext cx="3733800" cy="148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684213" y="692150"/>
            <a:ext cx="508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00025" indent="-200025"/>
            <a:r>
              <a:rPr lang="zh-CN" altLang="en-US" b="1">
                <a:solidFill>
                  <a:srgbClr val="CC0000"/>
                </a:solidFill>
                <a:latin typeface="宋体" pitchFamily="2" charset="-122"/>
                <a:ea typeface="楷体" pitchFamily="49" charset="-122"/>
                <a:sym typeface="宋体" pitchFamily="2" charset="-122"/>
              </a:rPr>
              <a:t>例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  设随机变量</a:t>
            </a:r>
            <a:r>
              <a:rPr lang="zh-CN" altLang="en-US" b="1" i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X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的密度函数</a:t>
            </a:r>
            <a:endParaRPr lang="zh-CN" altLang="en-US"/>
          </a:p>
        </p:txBody>
      </p:sp>
      <p:pic>
        <p:nvPicPr>
          <p:cNvPr id="23555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975" y="1412875"/>
            <a:ext cx="2520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1476375" y="2781300"/>
            <a:ext cx="72009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00025" indent="-200025"/>
            <a:r>
              <a:rPr lang="zh-CN" b="1">
                <a:latin typeface="宋体" pitchFamily="2" charset="-122"/>
                <a:sym typeface="宋体" pitchFamily="2" charset="-122"/>
              </a:rPr>
              <a:t>用</a:t>
            </a:r>
            <a:r>
              <a:rPr lang="zh-CN" altLang="zh-CN" b="1" i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Y</a:t>
            </a:r>
            <a:r>
              <a:rPr lang="zh-CN" b="1">
                <a:latin typeface="宋体" pitchFamily="2" charset="-122"/>
                <a:sym typeface="宋体" pitchFamily="2" charset="-122"/>
              </a:rPr>
              <a:t>表示对</a:t>
            </a:r>
            <a:r>
              <a:rPr lang="zh-CN" altLang="zh-CN" b="1" i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X</a:t>
            </a:r>
            <a:r>
              <a:rPr lang="zh-CN" b="1">
                <a:latin typeface="宋体" pitchFamily="2" charset="-122"/>
                <a:sym typeface="宋体" pitchFamily="2" charset="-122"/>
              </a:rPr>
              <a:t>的三次独立重复观察中事件</a:t>
            </a:r>
            <a:endParaRPr lang="zh-CN"/>
          </a:p>
        </p:txBody>
      </p:sp>
      <p:grpSp>
        <p:nvGrpSpPr>
          <p:cNvPr id="23557" name="Group 5"/>
          <p:cNvGrpSpPr>
            <a:grpSpLocks/>
          </p:cNvGrpSpPr>
          <p:nvPr/>
        </p:nvGrpSpPr>
        <p:grpSpPr bwMode="auto">
          <a:xfrm>
            <a:off x="2916238" y="3357563"/>
            <a:ext cx="3744912" cy="719137"/>
            <a:chOff x="0" y="0"/>
            <a:chExt cx="5897" cy="1134"/>
          </a:xfrm>
        </p:grpSpPr>
        <p:pic>
          <p:nvPicPr>
            <p:cNvPr id="23559" name="Picture 6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701" cy="1134"/>
            </a:xfrm>
            <a:prstGeom prst="rect">
              <a:avLst/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23560" name="Text Box 7"/>
            <p:cNvSpPr txBox="1">
              <a:spLocks noChangeArrowheads="1"/>
            </p:cNvSpPr>
            <p:nvPr/>
          </p:nvSpPr>
          <p:spPr bwMode="auto">
            <a:xfrm>
              <a:off x="1589" y="114"/>
              <a:ext cx="4308" cy="816"/>
            </a:xfrm>
            <a:prstGeom prst="rect">
              <a:avLst/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00025" indent="-200025"/>
              <a:r>
                <a:rPr lang="zh-CN" b="1">
                  <a:latin typeface="宋体" pitchFamily="2" charset="-122"/>
                  <a:sym typeface="宋体" pitchFamily="2" charset="-122"/>
                </a:rPr>
                <a:t>出现的次数，</a:t>
              </a:r>
              <a:endParaRPr lang="zh-CN"/>
            </a:p>
          </p:txBody>
        </p:sp>
      </p:grpSp>
      <p:sp>
        <p:nvSpPr>
          <p:cNvPr id="23558" name="Text Box 8"/>
          <p:cNvSpPr txBox="1">
            <a:spLocks noChangeArrowheads="1"/>
          </p:cNvSpPr>
          <p:nvPr/>
        </p:nvSpPr>
        <p:spPr bwMode="auto">
          <a:xfrm>
            <a:off x="1619250" y="4437063"/>
            <a:ext cx="4937125" cy="94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b="1">
                <a:sym typeface="宋体" pitchFamily="2" charset="-122"/>
              </a:rPr>
              <a:t>求（</a:t>
            </a:r>
            <a:r>
              <a:rPr lang="zh-CN" altLang="zh-CN" b="1">
                <a:sym typeface="Times New Roman" pitchFamily="18" charset="0"/>
              </a:rPr>
              <a:t>1</a:t>
            </a:r>
            <a:r>
              <a:rPr lang="zh-CN" b="1">
                <a:sym typeface="宋体" pitchFamily="2" charset="-122"/>
              </a:rPr>
              <a:t>）</a:t>
            </a:r>
            <a:r>
              <a:rPr lang="zh-CN" altLang="zh-CN" b="1" i="1">
                <a:sym typeface="Times New Roman" pitchFamily="18" charset="0"/>
              </a:rPr>
              <a:t>P</a:t>
            </a:r>
            <a:r>
              <a:rPr lang="zh-CN" altLang="zh-CN" b="1">
                <a:sym typeface="Times New Roman" pitchFamily="18" charset="0"/>
              </a:rPr>
              <a:t>{</a:t>
            </a:r>
            <a:r>
              <a:rPr lang="zh-CN" altLang="zh-CN" b="1" i="1">
                <a:sym typeface="Times New Roman" pitchFamily="18" charset="0"/>
              </a:rPr>
              <a:t>Y</a:t>
            </a:r>
            <a:r>
              <a:rPr lang="zh-CN" altLang="zh-CN" b="1">
                <a:sym typeface="Times New Roman" pitchFamily="18" charset="0"/>
              </a:rPr>
              <a:t>=2}</a:t>
            </a:r>
            <a:r>
              <a:rPr lang="zh-CN" b="1">
                <a:sym typeface="宋体" pitchFamily="2" charset="-122"/>
              </a:rPr>
              <a:t>；（</a:t>
            </a:r>
            <a:r>
              <a:rPr lang="zh-CN" altLang="zh-CN" b="1">
                <a:sym typeface="Times New Roman" pitchFamily="18" charset="0"/>
              </a:rPr>
              <a:t>2</a:t>
            </a:r>
            <a:r>
              <a:rPr lang="zh-CN" b="1">
                <a:sym typeface="宋体" pitchFamily="2" charset="-122"/>
              </a:rPr>
              <a:t>）</a:t>
            </a:r>
            <a:r>
              <a:rPr lang="zh-CN" altLang="zh-CN" b="1" i="1">
                <a:sym typeface="Times New Roman" pitchFamily="18" charset="0"/>
              </a:rPr>
              <a:t>P</a:t>
            </a:r>
            <a:r>
              <a:rPr lang="zh-CN" altLang="zh-CN" b="1">
                <a:sym typeface="Times New Roman" pitchFamily="18" charset="0"/>
              </a:rPr>
              <a:t>{</a:t>
            </a:r>
            <a:r>
              <a:rPr lang="zh-CN" altLang="zh-CN" b="1" i="1">
                <a:sym typeface="Times New Roman" pitchFamily="18" charset="0"/>
              </a:rPr>
              <a:t>Y</a:t>
            </a:r>
            <a:r>
              <a:rPr lang="zh-CN" altLang="zh-CN" b="1">
                <a:sym typeface="Times New Roman" pitchFamily="18" charset="0"/>
              </a:rPr>
              <a:t>≥1}</a:t>
            </a:r>
            <a:endParaRPr lang="zh-CN" altLang="zh-CN"/>
          </a:p>
          <a:p>
            <a:endParaRPr lang="zh-CN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539750" y="765175"/>
            <a:ext cx="6477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b="1">
                <a:solidFill>
                  <a:srgbClr val="CC0000"/>
                </a:solidFill>
                <a:latin typeface="宋体" pitchFamily="2" charset="-122"/>
                <a:ea typeface="楷体" pitchFamily="49" charset="-122"/>
                <a:sym typeface="宋体" pitchFamily="2" charset="-122"/>
              </a:rPr>
              <a:t>解：</a:t>
            </a:r>
          </a:p>
        </p:txBody>
      </p:sp>
      <p:pic>
        <p:nvPicPr>
          <p:cNvPr id="25603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03350" y="1341438"/>
            <a:ext cx="5473700" cy="935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2339975" y="2420938"/>
            <a:ext cx="3240088" cy="51911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    </a:t>
            </a:r>
            <a:r>
              <a:rPr lang="zh-CN" altLang="en-US" b="1" i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Y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～</a:t>
            </a:r>
            <a:r>
              <a:rPr lang="zh-CN" altLang="en-US" b="1" i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b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（</a:t>
            </a:r>
            <a:r>
              <a:rPr lang="zh-CN" altLang="en-US" b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3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，3/4）</a:t>
            </a:r>
            <a:endParaRPr lang="zh-CN" altLang="en-US"/>
          </a:p>
        </p:txBody>
      </p:sp>
      <p:pic>
        <p:nvPicPr>
          <p:cNvPr id="25605" name="Picture 5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3713" y="3429000"/>
            <a:ext cx="3529012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2032000" y="4189413"/>
            <a:ext cx="50800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04800"/>
            <a:r>
              <a:rPr lang="zh-CN" altLang="zh-CN" b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   </a:t>
            </a:r>
          </a:p>
        </p:txBody>
      </p:sp>
      <p:pic>
        <p:nvPicPr>
          <p:cNvPr id="25607" name="Picture 7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93863" y="4724400"/>
            <a:ext cx="5399087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ldLvl="0" autoUpdateAnimBg="0"/>
      <p:bldP spid="25604" grpId="0" bldLvl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755576" y="769828"/>
                <a:ext cx="7920880" cy="39250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3200" b="1" dirty="0">
                    <a:solidFill>
                      <a:srgbClr val="FF0000"/>
                    </a:solidFill>
                    <a:latin typeface="楷体" pitchFamily="49" charset="-122"/>
                    <a:ea typeface="楷体" pitchFamily="49" charset="-122"/>
                  </a:rPr>
                  <a:t>例</a:t>
                </a:r>
                <a:r>
                  <a:rPr lang="zh-CN" altLang="en-US" sz="3200" dirty="0"/>
                  <a:t>  </a:t>
                </a:r>
                <a:r>
                  <a:rPr lang="zh-CN" altLang="en-US" sz="3200" b="1" dirty="0"/>
                  <a:t>设随机变量 </a:t>
                </a:r>
                <a:r>
                  <a:rPr lang="en-US" altLang="zh-CN" sz="3200" b="1" dirty="0"/>
                  <a:t>X </a:t>
                </a:r>
                <a:r>
                  <a:rPr lang="zh-CN" altLang="en-US" sz="3200" b="1" dirty="0"/>
                  <a:t>的概率密度为</a:t>
                </a:r>
                <a:endParaRPr lang="en-US" altLang="zh-CN" sz="3200" b="1" dirty="0"/>
              </a:p>
              <a:p>
                <a:endParaRPr lang="zh-CN" altLang="en-US" sz="3200" b="1" dirty="0"/>
              </a:p>
              <a:p>
                <a:pPr algn="ctr"/>
                <a:r>
                  <a:rPr lang="zh-CN" alt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CN" sz="3200" b="1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𝒙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altLang="zh-CN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3200" b="1" i="0" smtClean="0">
                                    <a:latin typeface="Cambria Math"/>
                                  </a:rPr>
                                  <m:t>𝐥𝐧</m:t>
                                </m:r>
                              </m:fName>
                              <m:e>
                                <m:r>
                                  <a:rPr lang="en-US" altLang="zh-CN" sz="3200" b="1" i="1" smtClean="0">
                                    <a:latin typeface="Cambria Math"/>
                                  </a:rPr>
                                  <m:t>𝟐</m:t>
                                </m:r>
                              </m:e>
                            </m:func>
                            <m:r>
                              <a:rPr lang="en-US" altLang="zh-CN" sz="3200" b="1" i="1" smtClean="0">
                                <a:latin typeface="Cambria Math"/>
                              </a:rPr>
                              <m:t>      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&gt;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𝟎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                   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≤</m:t>
                            </m:r>
                            <m:r>
                              <a:rPr lang="en-US" altLang="zh-CN" sz="3200" b="1" i="1" smtClean="0">
                                <a:latin typeface="Cambria Math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3200" b="1" dirty="0"/>
              </a:p>
              <a:p>
                <a:pPr algn="ctr"/>
                <a:endParaRPr lang="zh-CN" altLang="en-US" sz="3200" b="1" dirty="0"/>
              </a:p>
              <a:p>
                <a:r>
                  <a:rPr lang="zh-CN" altLang="en-US" sz="3200" b="1" dirty="0"/>
                  <a:t>对 </a:t>
                </a:r>
                <a:r>
                  <a:rPr lang="en-US" altLang="zh-CN" sz="3200" b="1" dirty="0"/>
                  <a:t>X</a:t>
                </a:r>
                <a:r>
                  <a:rPr lang="zh-CN" altLang="en-US" sz="3200" b="1" dirty="0"/>
                  <a:t> 进行独立重复的观测，直到第</a:t>
                </a:r>
                <a:r>
                  <a:rPr lang="en-US" altLang="zh-CN" sz="3200" b="1" dirty="0"/>
                  <a:t>2</a:t>
                </a:r>
                <a:r>
                  <a:rPr lang="zh-CN" altLang="en-US" sz="3200" b="1" dirty="0"/>
                  <a:t>个大于</a:t>
                </a:r>
                <a:r>
                  <a:rPr lang="en-US" altLang="zh-CN" sz="3200" b="1" dirty="0"/>
                  <a:t>3</a:t>
                </a:r>
                <a:r>
                  <a:rPr lang="zh-CN" altLang="en-US" sz="3200" b="1" dirty="0"/>
                  <a:t>的观测值出现时停止</a:t>
                </a:r>
                <a:r>
                  <a:rPr lang="en-US" altLang="zh-CN" sz="3200" b="1" dirty="0"/>
                  <a:t>.</a:t>
                </a:r>
              </a:p>
              <a:p>
                <a:r>
                  <a:rPr lang="zh-CN" altLang="en-US" sz="3200" b="1" dirty="0"/>
                  <a:t>记</a:t>
                </a:r>
                <a:r>
                  <a:rPr lang="en-US" altLang="zh-CN" sz="3200" b="1" dirty="0"/>
                  <a:t>Y</a:t>
                </a:r>
                <a:r>
                  <a:rPr lang="zh-CN" altLang="en-US" sz="3200" b="1" dirty="0"/>
                  <a:t> 为观测次数，</a:t>
                </a:r>
                <a:r>
                  <a:rPr lang="en-US" altLang="zh-CN" sz="3200" b="1" dirty="0"/>
                  <a:t>   </a:t>
                </a:r>
                <a:r>
                  <a:rPr lang="zh-CN" altLang="en-US" sz="3200" b="1" dirty="0"/>
                  <a:t>求 </a:t>
                </a:r>
                <a:r>
                  <a:rPr lang="en-US" altLang="zh-CN" sz="3200" b="1" dirty="0"/>
                  <a:t>Y</a:t>
                </a:r>
                <a:r>
                  <a:rPr lang="zh-CN" altLang="en-US" sz="3200" b="1" dirty="0"/>
                  <a:t> 的概率分布；</a:t>
                </a: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769828"/>
                <a:ext cx="7920880" cy="3925049"/>
              </a:xfrm>
              <a:prstGeom prst="rect">
                <a:avLst/>
              </a:prstGeom>
              <a:blipFill rotWithShape="1">
                <a:blip r:embed="rId2"/>
                <a:stretch>
                  <a:fillRect l="-2002" t="-2484" r="-1155" b="-41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37320" y="4967590"/>
                <a:ext cx="27620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&gt;3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=1/8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20" y="4967590"/>
                <a:ext cx="2762038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05085" y="5218185"/>
                <a:ext cx="4876271" cy="1145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−1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1 </m:t>
                          </m:r>
                        </m:sup>
                      </m:sSub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0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0" smtClean="0">
                                      <a:latin typeface="Cambria Math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b="0" i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0" smtClean="0">
                                      <a:latin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altLang="zh-CN" b="0" i="0" smtClean="0">
                                      <a:latin typeface="Cambria Math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085" y="5218185"/>
                <a:ext cx="4876271" cy="11455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486047" y="553499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非几何分布</a:t>
            </a:r>
          </a:p>
        </p:txBody>
      </p:sp>
    </p:spTree>
    <p:extLst>
      <p:ext uri="{BB962C8B-B14F-4D97-AF65-F5344CB8AC3E}">
        <p14:creationId xmlns:p14="http://schemas.microsoft.com/office/powerpoint/2010/main" val="233542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468313" y="404813"/>
            <a:ext cx="8496300" cy="179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00025" indent="-200025"/>
            <a:r>
              <a:rPr lang="zh-CN" altLang="en-US" b="1">
                <a:solidFill>
                  <a:srgbClr val="CC0000"/>
                </a:solidFill>
                <a:latin typeface="楷体" pitchFamily="49" charset="-122"/>
                <a:ea typeface="楷体" pitchFamily="49" charset="-122"/>
                <a:sym typeface="Times New Roman" pitchFamily="18" charset="0"/>
              </a:rPr>
              <a:t>例 </a:t>
            </a:r>
            <a:r>
              <a:rPr lang="zh-CN" altLang="en-US" b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 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假设一设备开机后</a:t>
            </a:r>
            <a:r>
              <a:rPr lang="zh-CN" altLang="en-US" b="1">
                <a:solidFill>
                  <a:schemeClr val="accent2"/>
                </a:solidFill>
                <a:latin typeface="宋体" pitchFamily="2" charset="-122"/>
                <a:sym typeface="宋体" pitchFamily="2" charset="-122"/>
              </a:rPr>
              <a:t>无故障工作的时间</a:t>
            </a:r>
            <a:r>
              <a:rPr lang="zh-CN" alt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X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服从参数为</a:t>
            </a:r>
            <a:r>
              <a:rPr lang="zh-CN" altLang="en-US" b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5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的指数分布。设备定时开机，</a:t>
            </a:r>
            <a:r>
              <a:rPr lang="zh-CN" altLang="en-US" b="1">
                <a:solidFill>
                  <a:schemeClr val="accent2"/>
                </a:solidFill>
                <a:latin typeface="宋体" pitchFamily="2" charset="-122"/>
                <a:sym typeface="宋体" pitchFamily="2" charset="-122"/>
              </a:rPr>
              <a:t>出现故障时自动关机，而在无故障的情况下工作两小时便关机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。试求该设备每次开机</a:t>
            </a:r>
            <a:r>
              <a:rPr lang="zh-CN" altLang="en-US" b="1" u="sng">
                <a:solidFill>
                  <a:srgbClr val="CC0000"/>
                </a:solidFill>
                <a:latin typeface="宋体" pitchFamily="2" charset="-122"/>
                <a:sym typeface="宋体" pitchFamily="2" charset="-122"/>
              </a:rPr>
              <a:t>无故障工作时间</a:t>
            </a:r>
            <a:r>
              <a:rPr lang="zh-CN" altLang="en-US" b="1" i="1" u="sng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Y</a:t>
            </a:r>
            <a:r>
              <a:rPr lang="zh-CN" altLang="en-US" b="1">
                <a:latin typeface="宋体" pitchFamily="2" charset="-122"/>
                <a:sym typeface="宋体" pitchFamily="2" charset="-122"/>
              </a:rPr>
              <a:t>的分布函数。</a:t>
            </a:r>
            <a:endParaRPr lang="zh-CN" altLang="en-US"/>
          </a:p>
        </p:txBody>
      </p:sp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466725" y="2478088"/>
            <a:ext cx="5545138" cy="590550"/>
            <a:chOff x="0" y="0"/>
            <a:chExt cx="8732" cy="930"/>
          </a:xfrm>
        </p:grpSpPr>
        <p:sp>
          <p:nvSpPr>
            <p:cNvPr id="25611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8000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b="1">
                  <a:solidFill>
                    <a:srgbClr val="CC0000"/>
                  </a:solidFill>
                  <a:latin typeface="宋体" pitchFamily="2" charset="-122"/>
                  <a:ea typeface="楷体" pitchFamily="49" charset="-122"/>
                  <a:sym typeface="宋体" pitchFamily="2" charset="-122"/>
                </a:rPr>
                <a:t>解</a:t>
              </a:r>
              <a:r>
                <a:rPr lang="zh-CN" b="1">
                  <a:latin typeface="宋体" pitchFamily="2" charset="-122"/>
                  <a:sym typeface="宋体" pitchFamily="2" charset="-122"/>
                </a:rPr>
                <a:t>：由题意得</a:t>
              </a:r>
              <a:endParaRPr lang="zh-CN"/>
            </a:p>
          </p:txBody>
        </p:sp>
        <p:pic>
          <p:nvPicPr>
            <p:cNvPr id="25612" name="Picture 5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742" y="136"/>
              <a:ext cx="2721" cy="7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13" name="Text Box 6"/>
            <p:cNvSpPr txBox="1">
              <a:spLocks noChangeArrowheads="1"/>
            </p:cNvSpPr>
            <p:nvPr/>
          </p:nvSpPr>
          <p:spPr bwMode="auto">
            <a:xfrm>
              <a:off x="6578" y="23"/>
              <a:ext cx="2154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b="1">
                  <a:latin typeface="宋体" pitchFamily="2" charset="-122"/>
                  <a:sym typeface="宋体" pitchFamily="2" charset="-122"/>
                </a:rPr>
                <a:t>于是</a:t>
              </a:r>
            </a:p>
          </p:txBody>
        </p:sp>
      </p:grpSp>
      <p:pic>
        <p:nvPicPr>
          <p:cNvPr id="26631" name="Picture 7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0475" y="3213100"/>
            <a:ext cx="7345363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900113" y="3860800"/>
            <a:ext cx="935037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66700"/>
            <a:r>
              <a:rPr lang="zh-CN" b="1">
                <a:latin typeface="宋体" pitchFamily="2" charset="-122"/>
                <a:sym typeface="宋体" pitchFamily="2" charset="-122"/>
              </a:rPr>
              <a:t>又</a:t>
            </a:r>
          </a:p>
        </p:txBody>
      </p:sp>
      <p:pic>
        <p:nvPicPr>
          <p:cNvPr id="26633" name="Picture 9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24075" y="3860800"/>
            <a:ext cx="3095625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755650" y="4854575"/>
            <a:ext cx="12239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66700"/>
            <a:r>
              <a:rPr lang="zh-CN" b="1">
                <a:latin typeface="宋体" pitchFamily="2" charset="-122"/>
                <a:sym typeface="宋体" pitchFamily="2" charset="-122"/>
              </a:rPr>
              <a:t>因此</a:t>
            </a:r>
          </a:p>
        </p:txBody>
      </p:sp>
      <p:pic>
        <p:nvPicPr>
          <p:cNvPr id="26635" name="Picture 11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52638" y="5014913"/>
            <a:ext cx="6408737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6" name="Picture 12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051050" y="5734050"/>
            <a:ext cx="61214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10" name="Picture 13"/>
          <p:cNvPicPr>
            <a:picLocks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032000" y="6237288"/>
            <a:ext cx="1952625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2" grpId="0" bldLvl="0" autoUpdateAnimBg="0"/>
      <p:bldP spid="26634" grpId="0" bldLvl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611188" y="1123950"/>
            <a:ext cx="1800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zh-CN" b="1">
                <a:latin typeface="宋体" pitchFamily="2" charset="-122"/>
                <a:sym typeface="宋体" pitchFamily="2" charset="-122"/>
              </a:rPr>
              <a:t>   </a:t>
            </a:r>
            <a:r>
              <a:rPr lang="zh-CN" b="1">
                <a:latin typeface="宋体" pitchFamily="2" charset="-122"/>
                <a:sym typeface="宋体" pitchFamily="2" charset="-122"/>
              </a:rPr>
              <a:t>即</a:t>
            </a:r>
          </a:p>
        </p:txBody>
      </p:sp>
      <p:pic>
        <p:nvPicPr>
          <p:cNvPr id="27651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6738" y="1630363"/>
            <a:ext cx="5832475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32000" y="2994025"/>
            <a:ext cx="1952625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1187450" y="3429000"/>
            <a:ext cx="11001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66700"/>
            <a:r>
              <a:rPr lang="zh-CN" b="1">
                <a:latin typeface="宋体" pitchFamily="2" charset="-122"/>
                <a:sym typeface="宋体" pitchFamily="2" charset="-122"/>
              </a:rPr>
              <a:t>故</a:t>
            </a:r>
            <a:r>
              <a:rPr lang="zh-CN" b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</a:t>
            </a:r>
            <a:endParaRPr lang="zh-CN"/>
          </a:p>
        </p:txBody>
      </p:sp>
      <p:pic>
        <p:nvPicPr>
          <p:cNvPr id="27654" name="Picture 6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39975" y="4005263"/>
            <a:ext cx="3744913" cy="151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ldLvl="0" autoUpdateAnimBg="0"/>
      <p:bldP spid="27653" grpId="0" bldLvl="0" autoUpdateAnimBg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Default Design">
      <a:majorFont>
        <a:latin typeface="新宋体"/>
        <a:ea typeface="新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_3">
  <a:themeElements>
    <a:clrScheme name="Default Design_3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Default Design_3">
      <a:majorFont>
        <a:latin typeface="新宋体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_3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_3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_3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157255319</TotalTime>
  <Pages>0</Pages>
  <Words>1167</Words>
  <Characters>0</Characters>
  <Application>Microsoft Office PowerPoint</Application>
  <DocSecurity>0</DocSecurity>
  <PresentationFormat>全屏显示(4:3)</PresentationFormat>
  <Lines>0</Lines>
  <Paragraphs>204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9" baseType="lpstr">
      <vt:lpstr>Arial Symbol</vt:lpstr>
      <vt:lpstr>黑体</vt:lpstr>
      <vt:lpstr>楷体</vt:lpstr>
      <vt:lpstr>隶书</vt:lpstr>
      <vt:lpstr>宋体</vt:lpstr>
      <vt:lpstr>新宋体</vt:lpstr>
      <vt:lpstr>Arial</vt:lpstr>
      <vt:lpstr>Cambria Math</vt:lpstr>
      <vt:lpstr>Tahoma</vt:lpstr>
      <vt:lpstr>Times New Roman</vt:lpstr>
      <vt:lpstr>Wingdings</vt:lpstr>
      <vt:lpstr>Default Design</vt:lpstr>
      <vt:lpstr>Default Design_3</vt:lpstr>
      <vt:lpstr>Equation.3</vt:lpstr>
      <vt:lpstr>概率论与数理统计</vt:lpstr>
      <vt:lpstr>第二章 随机变量及其分布</vt:lpstr>
      <vt:lpstr>   本章要点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ubo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概率论与数理统计</dc:title>
  <dc:creator>LIANG Xingang</dc:creator>
  <cp:lastModifiedBy>梁 新刚</cp:lastModifiedBy>
  <cp:revision>12</cp:revision>
  <cp:lastPrinted>1899-12-30T00:00:00Z</cp:lastPrinted>
  <dcterms:created xsi:type="dcterms:W3CDTF">2012-03-26T17:19:15Z</dcterms:created>
  <dcterms:modified xsi:type="dcterms:W3CDTF">2020-03-31T01:55:55Z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2052-6.6.0.2877</vt:lpwstr>
  </property>
</Properties>
</file>