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9" r:id="rId8"/>
    <p:sldId id="270" r:id="rId9"/>
    <p:sldId id="271" r:id="rId10"/>
    <p:sldId id="279" r:id="rId11"/>
    <p:sldId id="280" r:id="rId12"/>
    <p:sldId id="272" r:id="rId13"/>
    <p:sldId id="273" r:id="rId14"/>
    <p:sldId id="274" r:id="rId15"/>
    <p:sldId id="275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75" autoAdjust="0"/>
  </p:normalViewPr>
  <p:slideViewPr>
    <p:cSldViewPr>
      <p:cViewPr varScale="1">
        <p:scale>
          <a:sx n="65" d="100"/>
          <a:sy n="65" d="100"/>
        </p:scale>
        <p:origin x="-8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38.wmf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80808"/>
              </a:solidFill>
            </a:endParaRP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52400" y="381000"/>
            <a:ext cx="6838950" cy="3365500"/>
            <a:chOff x="0" y="0"/>
            <a:chExt cx="4308" cy="2120"/>
          </a:xfrm>
        </p:grpSpPr>
        <p:sp>
          <p:nvSpPr>
            <p:cNvPr id="6" name="未知"/>
            <p:cNvSpPr>
              <a:spLocks/>
            </p:cNvSpPr>
            <p:nvPr/>
          </p:nvSpPr>
          <p:spPr bwMode="auto">
            <a:xfrm>
              <a:off x="79" y="94"/>
              <a:ext cx="1267" cy="1938"/>
            </a:xfrm>
            <a:custGeom>
              <a:avLst/>
              <a:gdLst>
                <a:gd name="T0" fmla="*/ 87 w 1692"/>
                <a:gd name="T1" fmla="*/ 193 h 2586"/>
                <a:gd name="T2" fmla="*/ 240 w 1692"/>
                <a:gd name="T3" fmla="*/ 157 h 2586"/>
                <a:gd name="T4" fmla="*/ 325 w 1692"/>
                <a:gd name="T5" fmla="*/ 180 h 2586"/>
                <a:gd name="T6" fmla="*/ 312 w 1692"/>
                <a:gd name="T7" fmla="*/ 333 h 2586"/>
                <a:gd name="T8" fmla="*/ 204 w 1692"/>
                <a:gd name="T9" fmla="*/ 436 h 2586"/>
                <a:gd name="T10" fmla="*/ 163 w 1692"/>
                <a:gd name="T11" fmla="*/ 535 h 2586"/>
                <a:gd name="T12" fmla="*/ 213 w 1692"/>
                <a:gd name="T13" fmla="*/ 722 h 2586"/>
                <a:gd name="T14" fmla="*/ 237 w 1692"/>
                <a:gd name="T15" fmla="*/ 719 h 2586"/>
                <a:gd name="T16" fmla="*/ 246 w 1692"/>
                <a:gd name="T17" fmla="*/ 679 h 2586"/>
                <a:gd name="T18" fmla="*/ 358 w 1692"/>
                <a:gd name="T19" fmla="*/ 865 h 2586"/>
                <a:gd name="T20" fmla="*/ 487 w 1692"/>
                <a:gd name="T21" fmla="*/ 899 h 2586"/>
                <a:gd name="T22" fmla="*/ 595 w 1692"/>
                <a:gd name="T23" fmla="*/ 1012 h 2586"/>
                <a:gd name="T24" fmla="*/ 639 w 1692"/>
                <a:gd name="T25" fmla="*/ 1066 h 2586"/>
                <a:gd name="T26" fmla="*/ 577 w 1692"/>
                <a:gd name="T27" fmla="*/ 1205 h 2586"/>
                <a:gd name="T28" fmla="*/ 686 w 1692"/>
                <a:gd name="T29" fmla="*/ 1335 h 2586"/>
                <a:gd name="T30" fmla="*/ 774 w 1692"/>
                <a:gd name="T31" fmla="*/ 1515 h 2586"/>
                <a:gd name="T32" fmla="*/ 819 w 1692"/>
                <a:gd name="T33" fmla="*/ 1731 h 2586"/>
                <a:gd name="T34" fmla="*/ 894 w 1692"/>
                <a:gd name="T35" fmla="*/ 1904 h 2586"/>
                <a:gd name="T36" fmla="*/ 958 w 1692"/>
                <a:gd name="T37" fmla="*/ 1889 h 2586"/>
                <a:gd name="T38" fmla="*/ 932 w 1692"/>
                <a:gd name="T39" fmla="*/ 1794 h 2586"/>
                <a:gd name="T40" fmla="*/ 964 w 1692"/>
                <a:gd name="T41" fmla="*/ 1728 h 2586"/>
                <a:gd name="T42" fmla="*/ 1024 w 1692"/>
                <a:gd name="T43" fmla="*/ 1670 h 2586"/>
                <a:gd name="T44" fmla="*/ 1084 w 1692"/>
                <a:gd name="T45" fmla="*/ 1556 h 2586"/>
                <a:gd name="T46" fmla="*/ 1174 w 1692"/>
                <a:gd name="T47" fmla="*/ 1461 h 2586"/>
                <a:gd name="T48" fmla="*/ 1215 w 1692"/>
                <a:gd name="T49" fmla="*/ 1308 h 2586"/>
                <a:gd name="T50" fmla="*/ 1162 w 1692"/>
                <a:gd name="T51" fmla="*/ 1153 h 2586"/>
                <a:gd name="T52" fmla="*/ 1030 w 1692"/>
                <a:gd name="T53" fmla="*/ 1057 h 2586"/>
                <a:gd name="T54" fmla="*/ 827 w 1692"/>
                <a:gd name="T55" fmla="*/ 959 h 2586"/>
                <a:gd name="T56" fmla="*/ 729 w 1692"/>
                <a:gd name="T57" fmla="*/ 944 h 2586"/>
                <a:gd name="T58" fmla="*/ 677 w 1692"/>
                <a:gd name="T59" fmla="*/ 950 h 2586"/>
                <a:gd name="T60" fmla="*/ 595 w 1692"/>
                <a:gd name="T61" fmla="*/ 980 h 2586"/>
                <a:gd name="T62" fmla="*/ 568 w 1692"/>
                <a:gd name="T63" fmla="*/ 880 h 2586"/>
                <a:gd name="T64" fmla="*/ 551 w 1692"/>
                <a:gd name="T65" fmla="*/ 796 h 2586"/>
                <a:gd name="T66" fmla="*/ 473 w 1692"/>
                <a:gd name="T67" fmla="*/ 827 h 2586"/>
                <a:gd name="T68" fmla="*/ 425 w 1692"/>
                <a:gd name="T69" fmla="*/ 712 h 2586"/>
                <a:gd name="T70" fmla="*/ 554 w 1692"/>
                <a:gd name="T71" fmla="*/ 683 h 2586"/>
                <a:gd name="T72" fmla="*/ 631 w 1692"/>
                <a:gd name="T73" fmla="*/ 679 h 2586"/>
                <a:gd name="T74" fmla="*/ 671 w 1692"/>
                <a:gd name="T75" fmla="*/ 674 h 2586"/>
                <a:gd name="T76" fmla="*/ 792 w 1692"/>
                <a:gd name="T77" fmla="*/ 562 h 2586"/>
                <a:gd name="T78" fmla="*/ 887 w 1692"/>
                <a:gd name="T79" fmla="*/ 508 h 2586"/>
                <a:gd name="T80" fmla="*/ 957 w 1692"/>
                <a:gd name="T81" fmla="*/ 477 h 2586"/>
                <a:gd name="T82" fmla="*/ 1003 w 1692"/>
                <a:gd name="T83" fmla="*/ 403 h 2586"/>
                <a:gd name="T84" fmla="*/ 964 w 1692"/>
                <a:gd name="T85" fmla="*/ 384 h 2586"/>
                <a:gd name="T86" fmla="*/ 1143 w 1692"/>
                <a:gd name="T87" fmla="*/ 342 h 2586"/>
                <a:gd name="T88" fmla="*/ 1053 w 1692"/>
                <a:gd name="T89" fmla="*/ 256 h 2586"/>
                <a:gd name="T90" fmla="*/ 994 w 1692"/>
                <a:gd name="T91" fmla="*/ 198 h 2586"/>
                <a:gd name="T92" fmla="*/ 915 w 1692"/>
                <a:gd name="T93" fmla="*/ 273 h 2586"/>
                <a:gd name="T94" fmla="*/ 831 w 1692"/>
                <a:gd name="T95" fmla="*/ 333 h 2586"/>
                <a:gd name="T96" fmla="*/ 765 w 1692"/>
                <a:gd name="T97" fmla="*/ 228 h 2586"/>
                <a:gd name="T98" fmla="*/ 908 w 1692"/>
                <a:gd name="T99" fmla="*/ 180 h 2586"/>
                <a:gd name="T100" fmla="*/ 948 w 1692"/>
                <a:gd name="T101" fmla="*/ 148 h 2586"/>
                <a:gd name="T102" fmla="*/ 994 w 1692"/>
                <a:gd name="T103" fmla="*/ 129 h 2586"/>
                <a:gd name="T104" fmla="*/ 963 w 1692"/>
                <a:gd name="T105" fmla="*/ 108 h 2586"/>
                <a:gd name="T106" fmla="*/ 945 w 1692"/>
                <a:gd name="T107" fmla="*/ 90 h 2586"/>
                <a:gd name="T108" fmla="*/ 900 w 1692"/>
                <a:gd name="T109" fmla="*/ 76 h 2586"/>
                <a:gd name="T110" fmla="*/ 828 w 1692"/>
                <a:gd name="T111" fmla="*/ 102 h 2586"/>
                <a:gd name="T112" fmla="*/ 711 w 1692"/>
                <a:gd name="T113" fmla="*/ 90 h 2586"/>
                <a:gd name="T114" fmla="*/ 412 w 1692"/>
                <a:gd name="T115" fmla="*/ 0 h 2586"/>
                <a:gd name="T116" fmla="*/ 258 w 1692"/>
                <a:gd name="T117" fmla="*/ 24 h 2586"/>
                <a:gd name="T118" fmla="*/ 217 w 1692"/>
                <a:gd name="T119" fmla="*/ 76 h 2586"/>
                <a:gd name="T120" fmla="*/ 96 w 1692"/>
                <a:gd name="T121" fmla="*/ 130 h 2586"/>
                <a:gd name="T122" fmla="*/ 96 w 1692"/>
                <a:gd name="T123" fmla="*/ 162 h 2586"/>
                <a:gd name="T124" fmla="*/ 1 w 1692"/>
                <a:gd name="T125" fmla="*/ 189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" name="未知"/>
            <p:cNvSpPr>
              <a:spLocks/>
            </p:cNvSpPr>
            <p:nvPr/>
          </p:nvSpPr>
          <p:spPr bwMode="auto">
            <a:xfrm>
              <a:off x="39" y="279"/>
              <a:ext cx="34" cy="28"/>
            </a:xfrm>
            <a:custGeom>
              <a:avLst/>
              <a:gdLst>
                <a:gd name="T0" fmla="*/ 12 w 46"/>
                <a:gd name="T1" fmla="*/ 3 h 38"/>
                <a:gd name="T2" fmla="*/ 0 w 46"/>
                <a:gd name="T3" fmla="*/ 16 h 38"/>
                <a:gd name="T4" fmla="*/ 16 w 46"/>
                <a:gd name="T5" fmla="*/ 28 h 38"/>
                <a:gd name="T6" fmla="*/ 34 w 46"/>
                <a:gd name="T7" fmla="*/ 19 h 38"/>
                <a:gd name="T8" fmla="*/ 22 w 46"/>
                <a:gd name="T9" fmla="*/ 0 h 38"/>
                <a:gd name="T10" fmla="*/ 12 w 46"/>
                <a:gd name="T11" fmla="*/ 3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" name="未知"/>
            <p:cNvSpPr>
              <a:spLocks/>
            </p:cNvSpPr>
            <p:nvPr/>
          </p:nvSpPr>
          <p:spPr bwMode="auto">
            <a:xfrm>
              <a:off x="346" y="402"/>
              <a:ext cx="39" cy="32"/>
            </a:xfrm>
            <a:custGeom>
              <a:avLst/>
              <a:gdLst>
                <a:gd name="T0" fmla="*/ 9 w 52"/>
                <a:gd name="T1" fmla="*/ 0 h 44"/>
                <a:gd name="T2" fmla="*/ 20 w 52"/>
                <a:gd name="T3" fmla="*/ 32 h 44"/>
                <a:gd name="T4" fmla="*/ 32 w 52"/>
                <a:gd name="T5" fmla="*/ 31 h 44"/>
                <a:gd name="T6" fmla="*/ 29 w 52"/>
                <a:gd name="T7" fmla="*/ 12 h 44"/>
                <a:gd name="T8" fmla="*/ 20 w 52"/>
                <a:gd name="T9" fmla="*/ 1 h 44"/>
                <a:gd name="T10" fmla="*/ 9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" name="未知"/>
            <p:cNvSpPr>
              <a:spLocks/>
            </p:cNvSpPr>
            <p:nvPr/>
          </p:nvSpPr>
          <p:spPr bwMode="auto">
            <a:xfrm>
              <a:off x="1128" y="458"/>
              <a:ext cx="98" cy="74"/>
            </a:xfrm>
            <a:custGeom>
              <a:avLst/>
              <a:gdLst>
                <a:gd name="T0" fmla="*/ 73 w 131"/>
                <a:gd name="T1" fmla="*/ 0 h 98"/>
                <a:gd name="T2" fmla="*/ 59 w 131"/>
                <a:gd name="T3" fmla="*/ 6 h 98"/>
                <a:gd name="T4" fmla="*/ 40 w 131"/>
                <a:gd name="T5" fmla="*/ 18 h 98"/>
                <a:gd name="T6" fmla="*/ 29 w 131"/>
                <a:gd name="T7" fmla="*/ 30 h 98"/>
                <a:gd name="T8" fmla="*/ 16 w 131"/>
                <a:gd name="T9" fmla="*/ 39 h 98"/>
                <a:gd name="T10" fmla="*/ 47 w 131"/>
                <a:gd name="T11" fmla="*/ 62 h 98"/>
                <a:gd name="T12" fmla="*/ 59 w 131"/>
                <a:gd name="T13" fmla="*/ 71 h 98"/>
                <a:gd name="T14" fmla="*/ 64 w 131"/>
                <a:gd name="T15" fmla="*/ 69 h 98"/>
                <a:gd name="T16" fmla="*/ 67 w 131"/>
                <a:gd name="T17" fmla="*/ 65 h 98"/>
                <a:gd name="T18" fmla="*/ 73 w 131"/>
                <a:gd name="T19" fmla="*/ 74 h 98"/>
                <a:gd name="T20" fmla="*/ 92 w 131"/>
                <a:gd name="T21" fmla="*/ 65 h 98"/>
                <a:gd name="T22" fmla="*/ 97 w 131"/>
                <a:gd name="T23" fmla="*/ 56 h 98"/>
                <a:gd name="T24" fmla="*/ 76 w 131"/>
                <a:gd name="T25" fmla="*/ 30 h 98"/>
                <a:gd name="T26" fmla="*/ 86 w 131"/>
                <a:gd name="T27" fmla="*/ 18 h 98"/>
                <a:gd name="T28" fmla="*/ 83 w 131"/>
                <a:gd name="T29" fmla="*/ 3 h 98"/>
                <a:gd name="T30" fmla="*/ 73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" name="未知"/>
            <p:cNvSpPr>
              <a:spLocks/>
            </p:cNvSpPr>
            <p:nvPr/>
          </p:nvSpPr>
          <p:spPr bwMode="auto">
            <a:xfrm>
              <a:off x="654" y="842"/>
              <a:ext cx="158" cy="84"/>
            </a:xfrm>
            <a:custGeom>
              <a:avLst/>
              <a:gdLst>
                <a:gd name="T0" fmla="*/ 35 w 212"/>
                <a:gd name="T1" fmla="*/ 9 h 112"/>
                <a:gd name="T2" fmla="*/ 13 w 212"/>
                <a:gd name="T3" fmla="*/ 9 h 112"/>
                <a:gd name="T4" fmla="*/ 4 w 212"/>
                <a:gd name="T5" fmla="*/ 12 h 112"/>
                <a:gd name="T6" fmla="*/ 19 w 212"/>
                <a:gd name="T7" fmla="*/ 39 h 112"/>
                <a:gd name="T8" fmla="*/ 38 w 212"/>
                <a:gd name="T9" fmla="*/ 33 h 112"/>
                <a:gd name="T10" fmla="*/ 69 w 212"/>
                <a:gd name="T11" fmla="*/ 41 h 112"/>
                <a:gd name="T12" fmla="*/ 83 w 212"/>
                <a:gd name="T13" fmla="*/ 45 h 112"/>
                <a:gd name="T14" fmla="*/ 99 w 212"/>
                <a:gd name="T15" fmla="*/ 66 h 112"/>
                <a:gd name="T16" fmla="*/ 105 w 212"/>
                <a:gd name="T17" fmla="*/ 84 h 112"/>
                <a:gd name="T18" fmla="*/ 117 w 212"/>
                <a:gd name="T19" fmla="*/ 75 h 112"/>
                <a:gd name="T20" fmla="*/ 126 w 212"/>
                <a:gd name="T21" fmla="*/ 72 h 112"/>
                <a:gd name="T22" fmla="*/ 139 w 212"/>
                <a:gd name="T23" fmla="*/ 77 h 112"/>
                <a:gd name="T24" fmla="*/ 145 w 212"/>
                <a:gd name="T25" fmla="*/ 60 h 112"/>
                <a:gd name="T26" fmla="*/ 114 w 212"/>
                <a:gd name="T27" fmla="*/ 41 h 112"/>
                <a:gd name="T28" fmla="*/ 78 w 212"/>
                <a:gd name="T29" fmla="*/ 15 h 112"/>
                <a:gd name="T30" fmla="*/ 40 w 212"/>
                <a:gd name="T31" fmla="*/ 20 h 112"/>
                <a:gd name="T32" fmla="*/ 35 w 212"/>
                <a:gd name="T33" fmla="*/ 9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1" name="未知"/>
            <p:cNvSpPr>
              <a:spLocks/>
            </p:cNvSpPr>
            <p:nvPr/>
          </p:nvSpPr>
          <p:spPr bwMode="auto">
            <a:xfrm>
              <a:off x="784" y="906"/>
              <a:ext cx="99" cy="41"/>
            </a:xfrm>
            <a:custGeom>
              <a:avLst/>
              <a:gdLst>
                <a:gd name="T0" fmla="*/ 42 w 133"/>
                <a:gd name="T1" fmla="*/ 0 h 54"/>
                <a:gd name="T2" fmla="*/ 32 w 133"/>
                <a:gd name="T3" fmla="*/ 5 h 54"/>
                <a:gd name="T4" fmla="*/ 23 w 133"/>
                <a:gd name="T5" fmla="*/ 23 h 54"/>
                <a:gd name="T6" fmla="*/ 11 w 133"/>
                <a:gd name="T7" fmla="*/ 26 h 54"/>
                <a:gd name="T8" fmla="*/ 2 w 133"/>
                <a:gd name="T9" fmla="*/ 32 h 54"/>
                <a:gd name="T10" fmla="*/ 10 w 133"/>
                <a:gd name="T11" fmla="*/ 41 h 54"/>
                <a:gd name="T12" fmla="*/ 99 w 133"/>
                <a:gd name="T13" fmla="*/ 26 h 54"/>
                <a:gd name="T14" fmla="*/ 92 w 133"/>
                <a:gd name="T15" fmla="*/ 12 h 54"/>
                <a:gd name="T16" fmla="*/ 78 w 133"/>
                <a:gd name="T17" fmla="*/ 6 h 54"/>
                <a:gd name="T18" fmla="*/ 75 w 133"/>
                <a:gd name="T19" fmla="*/ 18 h 54"/>
                <a:gd name="T20" fmla="*/ 66 w 133"/>
                <a:gd name="T21" fmla="*/ 14 h 54"/>
                <a:gd name="T22" fmla="*/ 50 w 133"/>
                <a:gd name="T23" fmla="*/ 11 h 54"/>
                <a:gd name="T24" fmla="*/ 4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2" name="未知"/>
            <p:cNvSpPr>
              <a:spLocks/>
            </p:cNvSpPr>
            <p:nvPr/>
          </p:nvSpPr>
          <p:spPr bwMode="auto">
            <a:xfrm>
              <a:off x="889" y="932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3" name="未知"/>
            <p:cNvSpPr>
              <a:spLocks/>
            </p:cNvSpPr>
            <p:nvPr/>
          </p:nvSpPr>
          <p:spPr bwMode="auto">
            <a:xfrm>
              <a:off x="945" y="935"/>
              <a:ext cx="12" cy="25"/>
            </a:xfrm>
            <a:custGeom>
              <a:avLst/>
              <a:gdLst>
                <a:gd name="T0" fmla="*/ 11 w 16"/>
                <a:gd name="T1" fmla="*/ 0 h 34"/>
                <a:gd name="T2" fmla="*/ 0 w 16"/>
                <a:gd name="T3" fmla="*/ 10 h 34"/>
                <a:gd name="T4" fmla="*/ 12 w 16"/>
                <a:gd name="T5" fmla="*/ 25 h 34"/>
                <a:gd name="T6" fmla="*/ 9 w 16"/>
                <a:gd name="T7" fmla="*/ 13 h 34"/>
                <a:gd name="T8" fmla="*/ 12 w 16"/>
                <a:gd name="T9" fmla="*/ 4 h 34"/>
                <a:gd name="T10" fmla="*/ 11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4" name="未知"/>
            <p:cNvSpPr>
              <a:spLocks/>
            </p:cNvSpPr>
            <p:nvPr/>
          </p:nvSpPr>
          <p:spPr bwMode="auto">
            <a:xfrm>
              <a:off x="762" y="89"/>
              <a:ext cx="180" cy="88"/>
            </a:xfrm>
            <a:custGeom>
              <a:avLst/>
              <a:gdLst>
                <a:gd name="T0" fmla="*/ 48 w 240"/>
                <a:gd name="T1" fmla="*/ 1 h 117"/>
                <a:gd name="T2" fmla="*/ 18 w 240"/>
                <a:gd name="T3" fmla="*/ 23 h 117"/>
                <a:gd name="T4" fmla="*/ 5 w 240"/>
                <a:gd name="T5" fmla="*/ 28 h 117"/>
                <a:gd name="T6" fmla="*/ 0 w 240"/>
                <a:gd name="T7" fmla="*/ 29 h 117"/>
                <a:gd name="T8" fmla="*/ 20 w 240"/>
                <a:gd name="T9" fmla="*/ 44 h 117"/>
                <a:gd name="T10" fmla="*/ 29 w 240"/>
                <a:gd name="T11" fmla="*/ 47 h 117"/>
                <a:gd name="T12" fmla="*/ 51 w 240"/>
                <a:gd name="T13" fmla="*/ 35 h 117"/>
                <a:gd name="T14" fmla="*/ 60 w 240"/>
                <a:gd name="T15" fmla="*/ 32 h 117"/>
                <a:gd name="T16" fmla="*/ 62 w 240"/>
                <a:gd name="T17" fmla="*/ 41 h 117"/>
                <a:gd name="T18" fmla="*/ 48 w 240"/>
                <a:gd name="T19" fmla="*/ 46 h 117"/>
                <a:gd name="T20" fmla="*/ 54 w 240"/>
                <a:gd name="T21" fmla="*/ 55 h 117"/>
                <a:gd name="T22" fmla="*/ 30 w 240"/>
                <a:gd name="T23" fmla="*/ 65 h 117"/>
                <a:gd name="T24" fmla="*/ 53 w 240"/>
                <a:gd name="T25" fmla="*/ 82 h 117"/>
                <a:gd name="T26" fmla="*/ 62 w 240"/>
                <a:gd name="T27" fmla="*/ 85 h 117"/>
                <a:gd name="T28" fmla="*/ 89 w 240"/>
                <a:gd name="T29" fmla="*/ 77 h 117"/>
                <a:gd name="T30" fmla="*/ 113 w 240"/>
                <a:gd name="T31" fmla="*/ 79 h 117"/>
                <a:gd name="T32" fmla="*/ 126 w 240"/>
                <a:gd name="T33" fmla="*/ 88 h 117"/>
                <a:gd name="T34" fmla="*/ 153 w 240"/>
                <a:gd name="T35" fmla="*/ 82 h 117"/>
                <a:gd name="T36" fmla="*/ 168 w 240"/>
                <a:gd name="T37" fmla="*/ 77 h 117"/>
                <a:gd name="T38" fmla="*/ 167 w 240"/>
                <a:gd name="T39" fmla="*/ 58 h 117"/>
                <a:gd name="T40" fmla="*/ 176 w 240"/>
                <a:gd name="T41" fmla="*/ 52 h 117"/>
                <a:gd name="T42" fmla="*/ 179 w 240"/>
                <a:gd name="T43" fmla="*/ 35 h 117"/>
                <a:gd name="T44" fmla="*/ 158 w 240"/>
                <a:gd name="T45" fmla="*/ 43 h 117"/>
                <a:gd name="T46" fmla="*/ 150 w 240"/>
                <a:gd name="T47" fmla="*/ 32 h 117"/>
                <a:gd name="T48" fmla="*/ 129 w 240"/>
                <a:gd name="T49" fmla="*/ 34 h 117"/>
                <a:gd name="T50" fmla="*/ 101 w 240"/>
                <a:gd name="T51" fmla="*/ 7 h 117"/>
                <a:gd name="T52" fmla="*/ 71 w 240"/>
                <a:gd name="T53" fmla="*/ 8 h 117"/>
                <a:gd name="T54" fmla="*/ 62 w 240"/>
                <a:gd name="T55" fmla="*/ 1 h 117"/>
                <a:gd name="T56" fmla="*/ 48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5" name="未知"/>
            <p:cNvSpPr>
              <a:spLocks/>
            </p:cNvSpPr>
            <p:nvPr/>
          </p:nvSpPr>
          <p:spPr bwMode="auto">
            <a:xfrm>
              <a:off x="842" y="48"/>
              <a:ext cx="146" cy="60"/>
            </a:xfrm>
            <a:custGeom>
              <a:avLst/>
              <a:gdLst>
                <a:gd name="T0" fmla="*/ 73 w 194"/>
                <a:gd name="T1" fmla="*/ 8 h 80"/>
                <a:gd name="T2" fmla="*/ 10 w 194"/>
                <a:gd name="T3" fmla="*/ 18 h 80"/>
                <a:gd name="T4" fmla="*/ 7 w 194"/>
                <a:gd name="T5" fmla="*/ 26 h 80"/>
                <a:gd name="T6" fmla="*/ 43 w 194"/>
                <a:gd name="T7" fmla="*/ 39 h 80"/>
                <a:gd name="T8" fmla="*/ 102 w 194"/>
                <a:gd name="T9" fmla="*/ 56 h 80"/>
                <a:gd name="T10" fmla="*/ 132 w 194"/>
                <a:gd name="T11" fmla="*/ 51 h 80"/>
                <a:gd name="T12" fmla="*/ 141 w 194"/>
                <a:gd name="T13" fmla="*/ 48 h 80"/>
                <a:gd name="T14" fmla="*/ 132 w 194"/>
                <a:gd name="T15" fmla="*/ 33 h 80"/>
                <a:gd name="T16" fmla="*/ 123 w 194"/>
                <a:gd name="T17" fmla="*/ 27 h 80"/>
                <a:gd name="T18" fmla="*/ 97 w 194"/>
                <a:gd name="T19" fmla="*/ 20 h 80"/>
                <a:gd name="T20" fmla="*/ 73 w 194"/>
                <a:gd name="T21" fmla="*/ 8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6" name="未知"/>
            <p:cNvSpPr>
              <a:spLocks/>
            </p:cNvSpPr>
            <p:nvPr/>
          </p:nvSpPr>
          <p:spPr bwMode="auto">
            <a:xfrm>
              <a:off x="1047" y="118"/>
              <a:ext cx="233" cy="190"/>
            </a:xfrm>
            <a:custGeom>
              <a:avLst/>
              <a:gdLst>
                <a:gd name="T0" fmla="*/ 50 w 310"/>
                <a:gd name="T1" fmla="*/ 7 h 254"/>
                <a:gd name="T2" fmla="*/ 38 w 310"/>
                <a:gd name="T3" fmla="*/ 17 h 254"/>
                <a:gd name="T4" fmla="*/ 16 w 310"/>
                <a:gd name="T5" fmla="*/ 29 h 254"/>
                <a:gd name="T6" fmla="*/ 40 w 310"/>
                <a:gd name="T7" fmla="*/ 58 h 254"/>
                <a:gd name="T8" fmla="*/ 59 w 310"/>
                <a:gd name="T9" fmla="*/ 64 h 254"/>
                <a:gd name="T10" fmla="*/ 77 w 310"/>
                <a:gd name="T11" fmla="*/ 74 h 254"/>
                <a:gd name="T12" fmla="*/ 95 w 310"/>
                <a:gd name="T13" fmla="*/ 64 h 254"/>
                <a:gd name="T14" fmla="*/ 107 w 310"/>
                <a:gd name="T15" fmla="*/ 76 h 254"/>
                <a:gd name="T16" fmla="*/ 112 w 310"/>
                <a:gd name="T17" fmla="*/ 95 h 254"/>
                <a:gd name="T18" fmla="*/ 86 w 310"/>
                <a:gd name="T19" fmla="*/ 113 h 254"/>
                <a:gd name="T20" fmla="*/ 67 w 310"/>
                <a:gd name="T21" fmla="*/ 129 h 254"/>
                <a:gd name="T22" fmla="*/ 52 w 310"/>
                <a:gd name="T23" fmla="*/ 126 h 254"/>
                <a:gd name="T24" fmla="*/ 43 w 310"/>
                <a:gd name="T25" fmla="*/ 123 h 254"/>
                <a:gd name="T26" fmla="*/ 32 w 310"/>
                <a:gd name="T27" fmla="*/ 140 h 254"/>
                <a:gd name="T28" fmla="*/ 29 w 310"/>
                <a:gd name="T29" fmla="*/ 149 h 254"/>
                <a:gd name="T30" fmla="*/ 55 w 310"/>
                <a:gd name="T31" fmla="*/ 153 h 254"/>
                <a:gd name="T32" fmla="*/ 71 w 310"/>
                <a:gd name="T33" fmla="*/ 152 h 254"/>
                <a:gd name="T34" fmla="*/ 86 w 310"/>
                <a:gd name="T35" fmla="*/ 173 h 254"/>
                <a:gd name="T36" fmla="*/ 95 w 310"/>
                <a:gd name="T37" fmla="*/ 176 h 254"/>
                <a:gd name="T38" fmla="*/ 104 w 310"/>
                <a:gd name="T39" fmla="*/ 179 h 254"/>
                <a:gd name="T40" fmla="*/ 117 w 310"/>
                <a:gd name="T41" fmla="*/ 188 h 254"/>
                <a:gd name="T42" fmla="*/ 136 w 310"/>
                <a:gd name="T43" fmla="*/ 177 h 254"/>
                <a:gd name="T44" fmla="*/ 153 w 310"/>
                <a:gd name="T45" fmla="*/ 176 h 254"/>
                <a:gd name="T46" fmla="*/ 172 w 310"/>
                <a:gd name="T47" fmla="*/ 159 h 254"/>
                <a:gd name="T48" fmla="*/ 169 w 310"/>
                <a:gd name="T49" fmla="*/ 138 h 254"/>
                <a:gd name="T50" fmla="*/ 163 w 310"/>
                <a:gd name="T51" fmla="*/ 129 h 254"/>
                <a:gd name="T52" fmla="*/ 175 w 310"/>
                <a:gd name="T53" fmla="*/ 125 h 254"/>
                <a:gd name="T54" fmla="*/ 184 w 310"/>
                <a:gd name="T55" fmla="*/ 137 h 254"/>
                <a:gd name="T56" fmla="*/ 186 w 310"/>
                <a:gd name="T57" fmla="*/ 147 h 254"/>
                <a:gd name="T58" fmla="*/ 196 w 310"/>
                <a:gd name="T59" fmla="*/ 144 h 254"/>
                <a:gd name="T60" fmla="*/ 228 w 310"/>
                <a:gd name="T61" fmla="*/ 126 h 254"/>
                <a:gd name="T62" fmla="*/ 220 w 310"/>
                <a:gd name="T63" fmla="*/ 110 h 254"/>
                <a:gd name="T64" fmla="*/ 195 w 310"/>
                <a:gd name="T65" fmla="*/ 92 h 254"/>
                <a:gd name="T66" fmla="*/ 199 w 310"/>
                <a:gd name="T67" fmla="*/ 80 h 254"/>
                <a:gd name="T68" fmla="*/ 208 w 310"/>
                <a:gd name="T69" fmla="*/ 77 h 254"/>
                <a:gd name="T70" fmla="*/ 190 w 310"/>
                <a:gd name="T71" fmla="*/ 47 h 254"/>
                <a:gd name="T72" fmla="*/ 175 w 310"/>
                <a:gd name="T73" fmla="*/ 44 h 254"/>
                <a:gd name="T74" fmla="*/ 166 w 310"/>
                <a:gd name="T75" fmla="*/ 41 h 254"/>
                <a:gd name="T76" fmla="*/ 151 w 310"/>
                <a:gd name="T77" fmla="*/ 25 h 254"/>
                <a:gd name="T78" fmla="*/ 117 w 310"/>
                <a:gd name="T79" fmla="*/ 34 h 254"/>
                <a:gd name="T80" fmla="*/ 126 w 310"/>
                <a:gd name="T81" fmla="*/ 19 h 254"/>
                <a:gd name="T82" fmla="*/ 104 w 310"/>
                <a:gd name="T83" fmla="*/ 13 h 254"/>
                <a:gd name="T84" fmla="*/ 89 w 310"/>
                <a:gd name="T85" fmla="*/ 14 h 254"/>
                <a:gd name="T86" fmla="*/ 50 w 310"/>
                <a:gd name="T87" fmla="*/ 7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7" name="未知"/>
            <p:cNvSpPr>
              <a:spLocks/>
            </p:cNvSpPr>
            <p:nvPr/>
          </p:nvSpPr>
          <p:spPr bwMode="auto">
            <a:xfrm>
              <a:off x="1045" y="36"/>
              <a:ext cx="44" cy="37"/>
            </a:xfrm>
            <a:custGeom>
              <a:avLst/>
              <a:gdLst>
                <a:gd name="T0" fmla="*/ 19 w 59"/>
                <a:gd name="T1" fmla="*/ 0 h 50"/>
                <a:gd name="T2" fmla="*/ 0 w 59"/>
                <a:gd name="T3" fmla="*/ 7 h 50"/>
                <a:gd name="T4" fmla="*/ 22 w 59"/>
                <a:gd name="T5" fmla="*/ 30 h 50"/>
                <a:gd name="T6" fmla="*/ 36 w 59"/>
                <a:gd name="T7" fmla="*/ 37 h 50"/>
                <a:gd name="T8" fmla="*/ 43 w 59"/>
                <a:gd name="T9" fmla="*/ 21 h 50"/>
                <a:gd name="T10" fmla="*/ 33 w 59"/>
                <a:gd name="T11" fmla="*/ 6 h 50"/>
                <a:gd name="T12" fmla="*/ 19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8" name="未知"/>
            <p:cNvSpPr>
              <a:spLocks/>
            </p:cNvSpPr>
            <p:nvPr/>
          </p:nvSpPr>
          <p:spPr bwMode="auto">
            <a:xfrm>
              <a:off x="961" y="106"/>
              <a:ext cx="65" cy="42"/>
            </a:xfrm>
            <a:custGeom>
              <a:avLst/>
              <a:gdLst>
                <a:gd name="T0" fmla="*/ 33 w 86"/>
                <a:gd name="T1" fmla="*/ 5 h 57"/>
                <a:gd name="T2" fmla="*/ 18 w 86"/>
                <a:gd name="T3" fmla="*/ 18 h 57"/>
                <a:gd name="T4" fmla="*/ 3 w 86"/>
                <a:gd name="T5" fmla="*/ 20 h 57"/>
                <a:gd name="T6" fmla="*/ 12 w 86"/>
                <a:gd name="T7" fmla="*/ 42 h 57"/>
                <a:gd name="T8" fmla="*/ 56 w 86"/>
                <a:gd name="T9" fmla="*/ 26 h 57"/>
                <a:gd name="T10" fmla="*/ 65 w 86"/>
                <a:gd name="T11" fmla="*/ 13 h 57"/>
                <a:gd name="T12" fmla="*/ 42 w 86"/>
                <a:gd name="T13" fmla="*/ 5 h 57"/>
                <a:gd name="T14" fmla="*/ 33 w 86"/>
                <a:gd name="T15" fmla="*/ 5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9" name="未知"/>
            <p:cNvSpPr>
              <a:spLocks/>
            </p:cNvSpPr>
            <p:nvPr/>
          </p:nvSpPr>
          <p:spPr bwMode="auto">
            <a:xfrm>
              <a:off x="1029" y="114"/>
              <a:ext cx="54" cy="25"/>
            </a:xfrm>
            <a:custGeom>
              <a:avLst/>
              <a:gdLst>
                <a:gd name="T0" fmla="*/ 30 w 73"/>
                <a:gd name="T1" fmla="*/ 0 h 34"/>
                <a:gd name="T2" fmla="*/ 7 w 73"/>
                <a:gd name="T3" fmla="*/ 12 h 34"/>
                <a:gd name="T4" fmla="*/ 18 w 73"/>
                <a:gd name="T5" fmla="*/ 25 h 34"/>
                <a:gd name="T6" fmla="*/ 38 w 73"/>
                <a:gd name="T7" fmla="*/ 21 h 34"/>
                <a:gd name="T8" fmla="*/ 47 w 73"/>
                <a:gd name="T9" fmla="*/ 15 h 34"/>
                <a:gd name="T10" fmla="*/ 30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0" name="未知"/>
            <p:cNvSpPr>
              <a:spLocks/>
            </p:cNvSpPr>
            <p:nvPr/>
          </p:nvSpPr>
          <p:spPr bwMode="auto">
            <a:xfrm>
              <a:off x="1000" y="78"/>
              <a:ext cx="64" cy="34"/>
            </a:xfrm>
            <a:custGeom>
              <a:avLst/>
              <a:gdLst>
                <a:gd name="T0" fmla="*/ 44 w 85"/>
                <a:gd name="T1" fmla="*/ 8 h 45"/>
                <a:gd name="T2" fmla="*/ 21 w 85"/>
                <a:gd name="T3" fmla="*/ 3 h 45"/>
                <a:gd name="T4" fmla="*/ 0 w 85"/>
                <a:gd name="T5" fmla="*/ 14 h 45"/>
                <a:gd name="T6" fmla="*/ 30 w 85"/>
                <a:gd name="T7" fmla="*/ 24 h 45"/>
                <a:gd name="T8" fmla="*/ 48 w 85"/>
                <a:gd name="T9" fmla="*/ 30 h 45"/>
                <a:gd name="T10" fmla="*/ 63 w 85"/>
                <a:gd name="T11" fmla="*/ 14 h 45"/>
                <a:gd name="T12" fmla="*/ 62 w 85"/>
                <a:gd name="T13" fmla="*/ 5 h 45"/>
                <a:gd name="T14" fmla="*/ 48 w 85"/>
                <a:gd name="T15" fmla="*/ 0 h 45"/>
                <a:gd name="T16" fmla="*/ 44 w 85"/>
                <a:gd name="T17" fmla="*/ 8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1" name="未知"/>
            <p:cNvSpPr>
              <a:spLocks/>
            </p:cNvSpPr>
            <p:nvPr/>
          </p:nvSpPr>
          <p:spPr bwMode="auto">
            <a:xfrm>
              <a:off x="973" y="46"/>
              <a:ext cx="44" cy="24"/>
            </a:xfrm>
            <a:custGeom>
              <a:avLst/>
              <a:gdLst>
                <a:gd name="T0" fmla="*/ 12 w 58"/>
                <a:gd name="T1" fmla="*/ 3 h 31"/>
                <a:gd name="T2" fmla="*/ 0 w 58"/>
                <a:gd name="T3" fmla="*/ 14 h 31"/>
                <a:gd name="T4" fmla="*/ 15 w 58"/>
                <a:gd name="T5" fmla="*/ 22 h 31"/>
                <a:gd name="T6" fmla="*/ 21 w 58"/>
                <a:gd name="T7" fmla="*/ 15 h 31"/>
                <a:gd name="T8" fmla="*/ 39 w 58"/>
                <a:gd name="T9" fmla="*/ 9 h 31"/>
                <a:gd name="T10" fmla="*/ 33 w 58"/>
                <a:gd name="T11" fmla="*/ 0 h 31"/>
                <a:gd name="T12" fmla="*/ 12 w 58"/>
                <a:gd name="T13" fmla="*/ 3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2" name="未知"/>
            <p:cNvSpPr>
              <a:spLocks/>
            </p:cNvSpPr>
            <p:nvPr/>
          </p:nvSpPr>
          <p:spPr bwMode="auto">
            <a:xfrm>
              <a:off x="1087" y="49"/>
              <a:ext cx="114" cy="77"/>
            </a:xfrm>
            <a:custGeom>
              <a:avLst/>
              <a:gdLst>
                <a:gd name="T0" fmla="*/ 29 w 152"/>
                <a:gd name="T1" fmla="*/ 0 h 102"/>
                <a:gd name="T2" fmla="*/ 11 w 152"/>
                <a:gd name="T3" fmla="*/ 5 h 102"/>
                <a:gd name="T4" fmla="*/ 3 w 152"/>
                <a:gd name="T5" fmla="*/ 29 h 102"/>
                <a:gd name="T6" fmla="*/ 9 w 152"/>
                <a:gd name="T7" fmla="*/ 42 h 102"/>
                <a:gd name="T8" fmla="*/ 0 w 152"/>
                <a:gd name="T9" fmla="*/ 54 h 102"/>
                <a:gd name="T10" fmla="*/ 42 w 152"/>
                <a:gd name="T11" fmla="*/ 65 h 102"/>
                <a:gd name="T12" fmla="*/ 62 w 152"/>
                <a:gd name="T13" fmla="*/ 69 h 102"/>
                <a:gd name="T14" fmla="*/ 114 w 152"/>
                <a:gd name="T15" fmla="*/ 65 h 102"/>
                <a:gd name="T16" fmla="*/ 57 w 152"/>
                <a:gd name="T17" fmla="*/ 53 h 102"/>
                <a:gd name="T18" fmla="*/ 41 w 152"/>
                <a:gd name="T19" fmla="*/ 47 h 102"/>
                <a:gd name="T20" fmla="*/ 33 w 152"/>
                <a:gd name="T21" fmla="*/ 39 h 102"/>
                <a:gd name="T22" fmla="*/ 38 w 152"/>
                <a:gd name="T23" fmla="*/ 26 h 102"/>
                <a:gd name="T24" fmla="*/ 29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3" name="未知"/>
            <p:cNvSpPr>
              <a:spLocks/>
            </p:cNvSpPr>
            <p:nvPr/>
          </p:nvSpPr>
          <p:spPr bwMode="auto">
            <a:xfrm>
              <a:off x="0" y="294"/>
              <a:ext cx="25" cy="15"/>
            </a:xfrm>
            <a:custGeom>
              <a:avLst/>
              <a:gdLst>
                <a:gd name="T0" fmla="*/ 25 w 34"/>
                <a:gd name="T1" fmla="*/ 0 h 20"/>
                <a:gd name="T2" fmla="*/ 18 w 34"/>
                <a:gd name="T3" fmla="*/ 15 h 20"/>
                <a:gd name="T4" fmla="*/ 3 w 34"/>
                <a:gd name="T5" fmla="*/ 14 h 20"/>
                <a:gd name="T6" fmla="*/ 3 w 34"/>
                <a:gd name="T7" fmla="*/ 5 h 20"/>
                <a:gd name="T8" fmla="*/ 25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4" name="未知"/>
            <p:cNvSpPr>
              <a:spLocks/>
            </p:cNvSpPr>
            <p:nvPr/>
          </p:nvSpPr>
          <p:spPr bwMode="auto">
            <a:xfrm>
              <a:off x="757" y="805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10 w 21"/>
                <a:gd name="T3" fmla="*/ 1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5" name="未知"/>
            <p:cNvSpPr>
              <a:spLocks/>
            </p:cNvSpPr>
            <p:nvPr/>
          </p:nvSpPr>
          <p:spPr bwMode="auto">
            <a:xfrm>
              <a:off x="760" y="830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10 w 21"/>
                <a:gd name="T3" fmla="*/ 1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6" name="未知"/>
            <p:cNvSpPr>
              <a:spLocks/>
            </p:cNvSpPr>
            <p:nvPr/>
          </p:nvSpPr>
          <p:spPr bwMode="auto">
            <a:xfrm>
              <a:off x="964" y="962"/>
              <a:ext cx="15" cy="12"/>
            </a:xfrm>
            <a:custGeom>
              <a:avLst/>
              <a:gdLst>
                <a:gd name="T0" fmla="*/ 2 w 21"/>
                <a:gd name="T1" fmla="*/ 0 h 16"/>
                <a:gd name="T2" fmla="*/ 9 w 21"/>
                <a:gd name="T3" fmla="*/ 1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7" name="未知"/>
            <p:cNvSpPr>
              <a:spLocks/>
            </p:cNvSpPr>
            <p:nvPr/>
          </p:nvSpPr>
          <p:spPr bwMode="auto">
            <a:xfrm>
              <a:off x="1088" y="478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8" name="未知"/>
            <p:cNvSpPr>
              <a:spLocks/>
            </p:cNvSpPr>
            <p:nvPr/>
          </p:nvSpPr>
          <p:spPr bwMode="auto">
            <a:xfrm>
              <a:off x="988" y="273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29" name="未知"/>
            <p:cNvSpPr>
              <a:spLocks/>
            </p:cNvSpPr>
            <p:nvPr/>
          </p:nvSpPr>
          <p:spPr bwMode="auto">
            <a:xfrm>
              <a:off x="1053" y="94"/>
              <a:ext cx="39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1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0" name="未知"/>
            <p:cNvSpPr>
              <a:spLocks/>
            </p:cNvSpPr>
            <p:nvPr/>
          </p:nvSpPr>
          <p:spPr bwMode="auto">
            <a:xfrm>
              <a:off x="1116" y="202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1" name="未知"/>
            <p:cNvSpPr>
              <a:spLocks/>
            </p:cNvSpPr>
            <p:nvPr/>
          </p:nvSpPr>
          <p:spPr bwMode="auto">
            <a:xfrm>
              <a:off x="1132" y="0"/>
              <a:ext cx="696" cy="346"/>
            </a:xfrm>
            <a:custGeom>
              <a:avLst/>
              <a:gdLst>
                <a:gd name="T0" fmla="*/ 21 w 929"/>
                <a:gd name="T1" fmla="*/ 42 h 462"/>
                <a:gd name="T2" fmla="*/ 4 w 929"/>
                <a:gd name="T3" fmla="*/ 69 h 462"/>
                <a:gd name="T4" fmla="*/ 27 w 929"/>
                <a:gd name="T5" fmla="*/ 75 h 462"/>
                <a:gd name="T6" fmla="*/ 12 w 929"/>
                <a:gd name="T7" fmla="*/ 87 h 462"/>
                <a:gd name="T8" fmla="*/ 78 w 929"/>
                <a:gd name="T9" fmla="*/ 102 h 462"/>
                <a:gd name="T10" fmla="*/ 106 w 929"/>
                <a:gd name="T11" fmla="*/ 97 h 462"/>
                <a:gd name="T12" fmla="*/ 187 w 929"/>
                <a:gd name="T13" fmla="*/ 58 h 462"/>
                <a:gd name="T14" fmla="*/ 225 w 929"/>
                <a:gd name="T15" fmla="*/ 49 h 462"/>
                <a:gd name="T16" fmla="*/ 243 w 929"/>
                <a:gd name="T17" fmla="*/ 60 h 462"/>
                <a:gd name="T18" fmla="*/ 204 w 929"/>
                <a:gd name="T19" fmla="*/ 66 h 462"/>
                <a:gd name="T20" fmla="*/ 181 w 929"/>
                <a:gd name="T21" fmla="*/ 84 h 462"/>
                <a:gd name="T22" fmla="*/ 190 w 929"/>
                <a:gd name="T23" fmla="*/ 90 h 462"/>
                <a:gd name="T24" fmla="*/ 195 w 929"/>
                <a:gd name="T25" fmla="*/ 118 h 462"/>
                <a:gd name="T26" fmla="*/ 262 w 929"/>
                <a:gd name="T27" fmla="*/ 144 h 462"/>
                <a:gd name="T28" fmla="*/ 252 w 929"/>
                <a:gd name="T29" fmla="*/ 157 h 462"/>
                <a:gd name="T30" fmla="*/ 276 w 929"/>
                <a:gd name="T31" fmla="*/ 184 h 462"/>
                <a:gd name="T32" fmla="*/ 261 w 929"/>
                <a:gd name="T33" fmla="*/ 199 h 462"/>
                <a:gd name="T34" fmla="*/ 243 w 929"/>
                <a:gd name="T35" fmla="*/ 220 h 462"/>
                <a:gd name="T36" fmla="*/ 220 w 929"/>
                <a:gd name="T37" fmla="*/ 243 h 462"/>
                <a:gd name="T38" fmla="*/ 219 w 929"/>
                <a:gd name="T39" fmla="*/ 315 h 462"/>
                <a:gd name="T40" fmla="*/ 249 w 929"/>
                <a:gd name="T41" fmla="*/ 334 h 462"/>
                <a:gd name="T42" fmla="*/ 291 w 929"/>
                <a:gd name="T43" fmla="*/ 336 h 462"/>
                <a:gd name="T44" fmla="*/ 309 w 929"/>
                <a:gd name="T45" fmla="*/ 316 h 462"/>
                <a:gd name="T46" fmla="*/ 379 w 929"/>
                <a:gd name="T47" fmla="*/ 267 h 462"/>
                <a:gd name="T48" fmla="*/ 429 w 929"/>
                <a:gd name="T49" fmla="*/ 250 h 462"/>
                <a:gd name="T50" fmla="*/ 484 w 929"/>
                <a:gd name="T51" fmla="*/ 231 h 462"/>
                <a:gd name="T52" fmla="*/ 539 w 929"/>
                <a:gd name="T53" fmla="*/ 217 h 462"/>
                <a:gd name="T54" fmla="*/ 571 w 929"/>
                <a:gd name="T55" fmla="*/ 195 h 462"/>
                <a:gd name="T56" fmla="*/ 599 w 929"/>
                <a:gd name="T57" fmla="*/ 150 h 462"/>
                <a:gd name="T58" fmla="*/ 601 w 929"/>
                <a:gd name="T59" fmla="*/ 115 h 462"/>
                <a:gd name="T60" fmla="*/ 601 w 929"/>
                <a:gd name="T61" fmla="*/ 93 h 462"/>
                <a:gd name="T62" fmla="*/ 623 w 929"/>
                <a:gd name="T63" fmla="*/ 67 h 462"/>
                <a:gd name="T64" fmla="*/ 656 w 929"/>
                <a:gd name="T65" fmla="*/ 70 h 462"/>
                <a:gd name="T66" fmla="*/ 691 w 929"/>
                <a:gd name="T67" fmla="*/ 39 h 462"/>
                <a:gd name="T68" fmla="*/ 665 w 929"/>
                <a:gd name="T69" fmla="*/ 42 h 462"/>
                <a:gd name="T70" fmla="*/ 635 w 929"/>
                <a:gd name="T71" fmla="*/ 34 h 462"/>
                <a:gd name="T72" fmla="*/ 595 w 929"/>
                <a:gd name="T73" fmla="*/ 16 h 462"/>
                <a:gd name="T74" fmla="*/ 481 w 929"/>
                <a:gd name="T75" fmla="*/ 19 h 462"/>
                <a:gd name="T76" fmla="*/ 438 w 929"/>
                <a:gd name="T77" fmla="*/ 28 h 462"/>
                <a:gd name="T78" fmla="*/ 417 w 929"/>
                <a:gd name="T79" fmla="*/ 28 h 462"/>
                <a:gd name="T80" fmla="*/ 387 w 929"/>
                <a:gd name="T81" fmla="*/ 40 h 462"/>
                <a:gd name="T82" fmla="*/ 358 w 929"/>
                <a:gd name="T83" fmla="*/ 22 h 462"/>
                <a:gd name="T84" fmla="*/ 324 w 929"/>
                <a:gd name="T85" fmla="*/ 30 h 462"/>
                <a:gd name="T86" fmla="*/ 274 w 929"/>
                <a:gd name="T87" fmla="*/ 39 h 462"/>
                <a:gd name="T88" fmla="*/ 307 w 929"/>
                <a:gd name="T89" fmla="*/ 28 h 462"/>
                <a:gd name="T90" fmla="*/ 264 w 929"/>
                <a:gd name="T91" fmla="*/ 6 h 462"/>
                <a:gd name="T92" fmla="*/ 250 w 929"/>
                <a:gd name="T93" fmla="*/ 1 h 462"/>
                <a:gd name="T94" fmla="*/ 235 w 929"/>
                <a:gd name="T95" fmla="*/ 6 h 462"/>
                <a:gd name="T96" fmla="*/ 180 w 929"/>
                <a:gd name="T97" fmla="*/ 12 h 462"/>
                <a:gd name="T98" fmla="*/ 120 w 929"/>
                <a:gd name="T99" fmla="*/ 21 h 462"/>
                <a:gd name="T100" fmla="*/ 81 w 929"/>
                <a:gd name="T101" fmla="*/ 19 h 462"/>
                <a:gd name="T102" fmla="*/ 85 w 929"/>
                <a:gd name="T103" fmla="*/ 51 h 462"/>
                <a:gd name="T104" fmla="*/ 78 w 929"/>
                <a:gd name="T105" fmla="*/ 39 h 462"/>
                <a:gd name="T106" fmla="*/ 45 w 929"/>
                <a:gd name="T107" fmla="*/ 3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2" name="未知"/>
            <p:cNvSpPr>
              <a:spLocks/>
            </p:cNvSpPr>
            <p:nvPr/>
          </p:nvSpPr>
          <p:spPr bwMode="auto">
            <a:xfrm>
              <a:off x="1345" y="184"/>
              <a:ext cx="39" cy="24"/>
            </a:xfrm>
            <a:custGeom>
              <a:avLst/>
              <a:gdLst>
                <a:gd name="T0" fmla="*/ 26 w 52"/>
                <a:gd name="T1" fmla="*/ 0 h 32"/>
                <a:gd name="T2" fmla="*/ 6 w 52"/>
                <a:gd name="T3" fmla="*/ 15 h 32"/>
                <a:gd name="T4" fmla="*/ 18 w 52"/>
                <a:gd name="T5" fmla="*/ 24 h 32"/>
                <a:gd name="T6" fmla="*/ 32 w 52"/>
                <a:gd name="T7" fmla="*/ 23 h 32"/>
                <a:gd name="T8" fmla="*/ 26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3" name="未知"/>
            <p:cNvSpPr>
              <a:spLocks/>
            </p:cNvSpPr>
            <p:nvPr/>
          </p:nvSpPr>
          <p:spPr bwMode="auto">
            <a:xfrm>
              <a:off x="1628" y="250"/>
              <a:ext cx="128" cy="54"/>
            </a:xfrm>
            <a:custGeom>
              <a:avLst/>
              <a:gdLst>
                <a:gd name="T0" fmla="*/ 76 w 172"/>
                <a:gd name="T1" fmla="*/ 6 h 72"/>
                <a:gd name="T2" fmla="*/ 49 w 172"/>
                <a:gd name="T3" fmla="*/ 3 h 72"/>
                <a:gd name="T4" fmla="*/ 40 w 172"/>
                <a:gd name="T5" fmla="*/ 0 h 72"/>
                <a:gd name="T6" fmla="*/ 0 w 172"/>
                <a:gd name="T7" fmla="*/ 21 h 72"/>
                <a:gd name="T8" fmla="*/ 21 w 172"/>
                <a:gd name="T9" fmla="*/ 30 h 72"/>
                <a:gd name="T10" fmla="*/ 31 w 172"/>
                <a:gd name="T11" fmla="*/ 45 h 72"/>
                <a:gd name="T12" fmla="*/ 49 w 172"/>
                <a:gd name="T13" fmla="*/ 51 h 72"/>
                <a:gd name="T14" fmla="*/ 58 w 172"/>
                <a:gd name="T15" fmla="*/ 54 h 72"/>
                <a:gd name="T16" fmla="*/ 97 w 172"/>
                <a:gd name="T17" fmla="*/ 45 h 72"/>
                <a:gd name="T18" fmla="*/ 128 w 172"/>
                <a:gd name="T19" fmla="*/ 33 h 72"/>
                <a:gd name="T20" fmla="*/ 110 w 172"/>
                <a:gd name="T21" fmla="*/ 14 h 72"/>
                <a:gd name="T22" fmla="*/ 101 w 172"/>
                <a:gd name="T23" fmla="*/ 3 h 72"/>
                <a:gd name="T24" fmla="*/ 76 w 172"/>
                <a:gd name="T25" fmla="*/ 6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4" name="未知"/>
            <p:cNvSpPr>
              <a:spLocks/>
            </p:cNvSpPr>
            <p:nvPr/>
          </p:nvSpPr>
          <p:spPr bwMode="auto">
            <a:xfrm>
              <a:off x="1729" y="87"/>
              <a:ext cx="39" cy="24"/>
            </a:xfrm>
            <a:custGeom>
              <a:avLst/>
              <a:gdLst>
                <a:gd name="T0" fmla="*/ 26 w 52"/>
                <a:gd name="T1" fmla="*/ 0 h 32"/>
                <a:gd name="T2" fmla="*/ 6 w 52"/>
                <a:gd name="T3" fmla="*/ 15 h 32"/>
                <a:gd name="T4" fmla="*/ 18 w 52"/>
                <a:gd name="T5" fmla="*/ 24 h 32"/>
                <a:gd name="T6" fmla="*/ 32 w 52"/>
                <a:gd name="T7" fmla="*/ 23 h 32"/>
                <a:gd name="T8" fmla="*/ 26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5" name="未知"/>
            <p:cNvSpPr>
              <a:spLocks/>
            </p:cNvSpPr>
            <p:nvPr/>
          </p:nvSpPr>
          <p:spPr bwMode="auto">
            <a:xfrm>
              <a:off x="1998" y="55"/>
              <a:ext cx="155" cy="63"/>
            </a:xfrm>
            <a:custGeom>
              <a:avLst/>
              <a:gdLst>
                <a:gd name="T0" fmla="*/ 144 w 206"/>
                <a:gd name="T1" fmla="*/ 5 h 85"/>
                <a:gd name="T2" fmla="*/ 78 w 206"/>
                <a:gd name="T3" fmla="*/ 7 h 85"/>
                <a:gd name="T4" fmla="*/ 82 w 206"/>
                <a:gd name="T5" fmla="*/ 19 h 85"/>
                <a:gd name="T6" fmla="*/ 81 w 206"/>
                <a:gd name="T7" fmla="*/ 24 h 85"/>
                <a:gd name="T8" fmla="*/ 67 w 206"/>
                <a:gd name="T9" fmla="*/ 20 h 85"/>
                <a:gd name="T10" fmla="*/ 58 w 206"/>
                <a:gd name="T11" fmla="*/ 14 h 85"/>
                <a:gd name="T12" fmla="*/ 17 w 206"/>
                <a:gd name="T13" fmla="*/ 20 h 85"/>
                <a:gd name="T14" fmla="*/ 23 w 206"/>
                <a:gd name="T15" fmla="*/ 36 h 85"/>
                <a:gd name="T16" fmla="*/ 41 w 206"/>
                <a:gd name="T17" fmla="*/ 39 h 85"/>
                <a:gd name="T18" fmla="*/ 56 w 206"/>
                <a:gd name="T19" fmla="*/ 54 h 85"/>
                <a:gd name="T20" fmla="*/ 67 w 206"/>
                <a:gd name="T21" fmla="*/ 63 h 85"/>
                <a:gd name="T22" fmla="*/ 82 w 206"/>
                <a:gd name="T23" fmla="*/ 50 h 85"/>
                <a:gd name="T24" fmla="*/ 91 w 206"/>
                <a:gd name="T25" fmla="*/ 44 h 85"/>
                <a:gd name="T26" fmla="*/ 96 w 206"/>
                <a:gd name="T27" fmla="*/ 35 h 85"/>
                <a:gd name="T28" fmla="*/ 126 w 206"/>
                <a:gd name="T29" fmla="*/ 26 h 85"/>
                <a:gd name="T30" fmla="*/ 141 w 206"/>
                <a:gd name="T31" fmla="*/ 23 h 85"/>
                <a:gd name="T32" fmla="*/ 150 w 206"/>
                <a:gd name="T33" fmla="*/ 20 h 85"/>
                <a:gd name="T34" fmla="*/ 144 w 206"/>
                <a:gd name="T35" fmla="*/ 5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6" name="未知"/>
            <p:cNvSpPr>
              <a:spLocks/>
            </p:cNvSpPr>
            <p:nvPr/>
          </p:nvSpPr>
          <p:spPr bwMode="auto">
            <a:xfrm>
              <a:off x="2095" y="88"/>
              <a:ext cx="48" cy="21"/>
            </a:xfrm>
            <a:custGeom>
              <a:avLst/>
              <a:gdLst>
                <a:gd name="T0" fmla="*/ 27 w 64"/>
                <a:gd name="T1" fmla="*/ 5 h 28"/>
                <a:gd name="T2" fmla="*/ 6 w 64"/>
                <a:gd name="T3" fmla="*/ 3 h 28"/>
                <a:gd name="T4" fmla="*/ 18 w 64"/>
                <a:gd name="T5" fmla="*/ 21 h 28"/>
                <a:gd name="T6" fmla="*/ 41 w 64"/>
                <a:gd name="T7" fmla="*/ 11 h 28"/>
                <a:gd name="T8" fmla="*/ 27 w 64"/>
                <a:gd name="T9" fmla="*/ 5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7" name="未知"/>
            <p:cNvSpPr>
              <a:spLocks/>
            </p:cNvSpPr>
            <p:nvPr/>
          </p:nvSpPr>
          <p:spPr bwMode="auto">
            <a:xfrm>
              <a:off x="1803" y="360"/>
              <a:ext cx="109" cy="132"/>
            </a:xfrm>
            <a:custGeom>
              <a:avLst/>
              <a:gdLst>
                <a:gd name="T0" fmla="*/ 18 w 146"/>
                <a:gd name="T1" fmla="*/ 14 h 176"/>
                <a:gd name="T2" fmla="*/ 0 w 146"/>
                <a:gd name="T3" fmla="*/ 19 h 176"/>
                <a:gd name="T4" fmla="*/ 10 w 146"/>
                <a:gd name="T5" fmla="*/ 32 h 176"/>
                <a:gd name="T6" fmla="*/ 25 w 146"/>
                <a:gd name="T7" fmla="*/ 65 h 176"/>
                <a:gd name="T8" fmla="*/ 39 w 146"/>
                <a:gd name="T9" fmla="*/ 68 h 176"/>
                <a:gd name="T10" fmla="*/ 37 w 146"/>
                <a:gd name="T11" fmla="*/ 80 h 176"/>
                <a:gd name="T12" fmla="*/ 21 w 146"/>
                <a:gd name="T13" fmla="*/ 85 h 176"/>
                <a:gd name="T14" fmla="*/ 12 w 146"/>
                <a:gd name="T15" fmla="*/ 98 h 176"/>
                <a:gd name="T16" fmla="*/ 13 w 146"/>
                <a:gd name="T17" fmla="*/ 103 h 176"/>
                <a:gd name="T18" fmla="*/ 22 w 146"/>
                <a:gd name="T19" fmla="*/ 106 h 176"/>
                <a:gd name="T20" fmla="*/ 13 w 146"/>
                <a:gd name="T21" fmla="*/ 127 h 176"/>
                <a:gd name="T22" fmla="*/ 15 w 146"/>
                <a:gd name="T23" fmla="*/ 131 h 176"/>
                <a:gd name="T24" fmla="*/ 25 w 146"/>
                <a:gd name="T25" fmla="*/ 128 h 176"/>
                <a:gd name="T26" fmla="*/ 43 w 146"/>
                <a:gd name="T27" fmla="*/ 127 h 176"/>
                <a:gd name="T28" fmla="*/ 69 w 146"/>
                <a:gd name="T29" fmla="*/ 128 h 176"/>
                <a:gd name="T30" fmla="*/ 82 w 146"/>
                <a:gd name="T31" fmla="*/ 127 h 176"/>
                <a:gd name="T32" fmla="*/ 91 w 146"/>
                <a:gd name="T33" fmla="*/ 124 h 176"/>
                <a:gd name="T34" fmla="*/ 96 w 146"/>
                <a:gd name="T35" fmla="*/ 106 h 176"/>
                <a:gd name="T36" fmla="*/ 109 w 146"/>
                <a:gd name="T37" fmla="*/ 100 h 176"/>
                <a:gd name="T38" fmla="*/ 82 w 146"/>
                <a:gd name="T39" fmla="*/ 82 h 176"/>
                <a:gd name="T40" fmla="*/ 66 w 146"/>
                <a:gd name="T41" fmla="*/ 62 h 176"/>
                <a:gd name="T42" fmla="*/ 61 w 146"/>
                <a:gd name="T43" fmla="*/ 52 h 176"/>
                <a:gd name="T44" fmla="*/ 48 w 146"/>
                <a:gd name="T45" fmla="*/ 46 h 176"/>
                <a:gd name="T46" fmla="*/ 64 w 146"/>
                <a:gd name="T47" fmla="*/ 34 h 176"/>
                <a:gd name="T48" fmla="*/ 48 w 146"/>
                <a:gd name="T49" fmla="*/ 23 h 176"/>
                <a:gd name="T50" fmla="*/ 52 w 146"/>
                <a:gd name="T51" fmla="*/ 10 h 176"/>
                <a:gd name="T52" fmla="*/ 34 w 146"/>
                <a:gd name="T53" fmla="*/ 1 h 176"/>
                <a:gd name="T54" fmla="*/ 22 w 146"/>
                <a:gd name="T55" fmla="*/ 7 h 176"/>
                <a:gd name="T56" fmla="*/ 18 w 146"/>
                <a:gd name="T57" fmla="*/ 14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8" name="未知"/>
            <p:cNvSpPr>
              <a:spLocks/>
            </p:cNvSpPr>
            <p:nvPr/>
          </p:nvSpPr>
          <p:spPr bwMode="auto">
            <a:xfrm>
              <a:off x="1749" y="408"/>
              <a:ext cx="69" cy="68"/>
            </a:xfrm>
            <a:custGeom>
              <a:avLst/>
              <a:gdLst>
                <a:gd name="T0" fmla="*/ 44 w 92"/>
                <a:gd name="T1" fmla="*/ 4 h 92"/>
                <a:gd name="T2" fmla="*/ 62 w 92"/>
                <a:gd name="T3" fmla="*/ 6 h 92"/>
                <a:gd name="T4" fmla="*/ 69 w 92"/>
                <a:gd name="T5" fmla="*/ 19 h 92"/>
                <a:gd name="T6" fmla="*/ 59 w 92"/>
                <a:gd name="T7" fmla="*/ 35 h 92"/>
                <a:gd name="T8" fmla="*/ 35 w 92"/>
                <a:gd name="T9" fmla="*/ 56 h 92"/>
                <a:gd name="T10" fmla="*/ 14 w 92"/>
                <a:gd name="T11" fmla="*/ 68 h 92"/>
                <a:gd name="T12" fmla="*/ 6 w 92"/>
                <a:gd name="T13" fmla="*/ 53 h 92"/>
                <a:gd name="T14" fmla="*/ 15 w 92"/>
                <a:gd name="T15" fmla="*/ 47 h 92"/>
                <a:gd name="T16" fmla="*/ 11 w 92"/>
                <a:gd name="T17" fmla="*/ 34 h 92"/>
                <a:gd name="T18" fmla="*/ 30 w 92"/>
                <a:gd name="T19" fmla="*/ 21 h 92"/>
                <a:gd name="T20" fmla="*/ 44 w 92"/>
                <a:gd name="T21" fmla="*/ 4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39" name="未知"/>
            <p:cNvSpPr>
              <a:spLocks/>
            </p:cNvSpPr>
            <p:nvPr/>
          </p:nvSpPr>
          <p:spPr bwMode="auto">
            <a:xfrm>
              <a:off x="3435" y="1551"/>
              <a:ext cx="474" cy="495"/>
            </a:xfrm>
            <a:custGeom>
              <a:avLst/>
              <a:gdLst>
                <a:gd name="T0" fmla="*/ 159 w 633"/>
                <a:gd name="T1" fmla="*/ 8 h 660"/>
                <a:gd name="T2" fmla="*/ 132 w 633"/>
                <a:gd name="T3" fmla="*/ 14 h 660"/>
                <a:gd name="T4" fmla="*/ 108 w 633"/>
                <a:gd name="T5" fmla="*/ 38 h 660"/>
                <a:gd name="T6" fmla="*/ 78 w 633"/>
                <a:gd name="T7" fmla="*/ 44 h 660"/>
                <a:gd name="T8" fmla="*/ 63 w 633"/>
                <a:gd name="T9" fmla="*/ 56 h 660"/>
                <a:gd name="T10" fmla="*/ 51 w 633"/>
                <a:gd name="T11" fmla="*/ 86 h 660"/>
                <a:gd name="T12" fmla="*/ 27 w 633"/>
                <a:gd name="T13" fmla="*/ 125 h 660"/>
                <a:gd name="T14" fmla="*/ 0 w 633"/>
                <a:gd name="T15" fmla="*/ 134 h 660"/>
                <a:gd name="T16" fmla="*/ 54 w 633"/>
                <a:gd name="T17" fmla="*/ 242 h 660"/>
                <a:gd name="T18" fmla="*/ 90 w 633"/>
                <a:gd name="T19" fmla="*/ 320 h 660"/>
                <a:gd name="T20" fmla="*/ 108 w 633"/>
                <a:gd name="T21" fmla="*/ 332 h 660"/>
                <a:gd name="T22" fmla="*/ 126 w 633"/>
                <a:gd name="T23" fmla="*/ 338 h 660"/>
                <a:gd name="T24" fmla="*/ 171 w 633"/>
                <a:gd name="T25" fmla="*/ 323 h 660"/>
                <a:gd name="T26" fmla="*/ 189 w 633"/>
                <a:gd name="T27" fmla="*/ 317 h 660"/>
                <a:gd name="T28" fmla="*/ 225 w 633"/>
                <a:gd name="T29" fmla="*/ 338 h 660"/>
                <a:gd name="T30" fmla="*/ 243 w 633"/>
                <a:gd name="T31" fmla="*/ 395 h 660"/>
                <a:gd name="T32" fmla="*/ 252 w 633"/>
                <a:gd name="T33" fmla="*/ 392 h 660"/>
                <a:gd name="T34" fmla="*/ 258 w 633"/>
                <a:gd name="T35" fmla="*/ 383 h 660"/>
                <a:gd name="T36" fmla="*/ 276 w 633"/>
                <a:gd name="T37" fmla="*/ 410 h 660"/>
                <a:gd name="T38" fmla="*/ 303 w 633"/>
                <a:gd name="T39" fmla="*/ 428 h 660"/>
                <a:gd name="T40" fmla="*/ 326 w 633"/>
                <a:gd name="T41" fmla="*/ 452 h 660"/>
                <a:gd name="T42" fmla="*/ 332 w 633"/>
                <a:gd name="T43" fmla="*/ 461 h 660"/>
                <a:gd name="T44" fmla="*/ 341 w 633"/>
                <a:gd name="T45" fmla="*/ 467 h 660"/>
                <a:gd name="T46" fmla="*/ 362 w 633"/>
                <a:gd name="T47" fmla="*/ 491 h 660"/>
                <a:gd name="T48" fmla="*/ 368 w 633"/>
                <a:gd name="T49" fmla="*/ 473 h 660"/>
                <a:gd name="T50" fmla="*/ 404 w 633"/>
                <a:gd name="T51" fmla="*/ 494 h 660"/>
                <a:gd name="T52" fmla="*/ 440 w 633"/>
                <a:gd name="T53" fmla="*/ 491 h 660"/>
                <a:gd name="T54" fmla="*/ 461 w 633"/>
                <a:gd name="T55" fmla="*/ 398 h 660"/>
                <a:gd name="T56" fmla="*/ 473 w 633"/>
                <a:gd name="T57" fmla="*/ 347 h 660"/>
                <a:gd name="T58" fmla="*/ 464 w 633"/>
                <a:gd name="T59" fmla="*/ 275 h 660"/>
                <a:gd name="T60" fmla="*/ 401 w 633"/>
                <a:gd name="T61" fmla="*/ 203 h 660"/>
                <a:gd name="T62" fmla="*/ 395 w 633"/>
                <a:gd name="T63" fmla="*/ 176 h 660"/>
                <a:gd name="T64" fmla="*/ 344 w 633"/>
                <a:gd name="T65" fmla="*/ 134 h 660"/>
                <a:gd name="T66" fmla="*/ 353 w 633"/>
                <a:gd name="T67" fmla="*/ 116 h 660"/>
                <a:gd name="T68" fmla="*/ 341 w 633"/>
                <a:gd name="T69" fmla="*/ 98 h 660"/>
                <a:gd name="T70" fmla="*/ 312 w 633"/>
                <a:gd name="T71" fmla="*/ 59 h 660"/>
                <a:gd name="T72" fmla="*/ 294 w 633"/>
                <a:gd name="T73" fmla="*/ 23 h 660"/>
                <a:gd name="T74" fmla="*/ 291 w 633"/>
                <a:gd name="T75" fmla="*/ 14 h 660"/>
                <a:gd name="T76" fmla="*/ 273 w 633"/>
                <a:gd name="T77" fmla="*/ 113 h 660"/>
                <a:gd name="T78" fmla="*/ 243 w 633"/>
                <a:gd name="T79" fmla="*/ 86 h 660"/>
                <a:gd name="T80" fmla="*/ 219 w 633"/>
                <a:gd name="T81" fmla="*/ 83 h 660"/>
                <a:gd name="T82" fmla="*/ 204 w 633"/>
                <a:gd name="T83" fmla="*/ 65 h 660"/>
                <a:gd name="T84" fmla="*/ 198 w 633"/>
                <a:gd name="T85" fmla="*/ 47 h 660"/>
                <a:gd name="T86" fmla="*/ 207 w 633"/>
                <a:gd name="T87" fmla="*/ 41 h 660"/>
                <a:gd name="T88" fmla="*/ 180 w 633"/>
                <a:gd name="T89" fmla="*/ 14 h 660"/>
                <a:gd name="T90" fmla="*/ 162 w 633"/>
                <a:gd name="T91" fmla="*/ 8 h 660"/>
                <a:gd name="T92" fmla="*/ 153 w 633"/>
                <a:gd name="T93" fmla="*/ 5 h 660"/>
                <a:gd name="T94" fmla="*/ 159 w 633"/>
                <a:gd name="T95" fmla="*/ 8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0" name="未知"/>
            <p:cNvSpPr>
              <a:spLocks/>
            </p:cNvSpPr>
            <p:nvPr/>
          </p:nvSpPr>
          <p:spPr bwMode="auto">
            <a:xfrm>
              <a:off x="3582" y="1290"/>
              <a:ext cx="319" cy="210"/>
            </a:xfrm>
            <a:custGeom>
              <a:avLst/>
              <a:gdLst>
                <a:gd name="T0" fmla="*/ 63 w 426"/>
                <a:gd name="T1" fmla="*/ 45 h 280"/>
                <a:gd name="T2" fmla="*/ 51 w 426"/>
                <a:gd name="T3" fmla="*/ 27 h 280"/>
                <a:gd name="T4" fmla="*/ 48 w 426"/>
                <a:gd name="T5" fmla="*/ 12 h 280"/>
                <a:gd name="T6" fmla="*/ 39 w 426"/>
                <a:gd name="T7" fmla="*/ 9 h 280"/>
                <a:gd name="T8" fmla="*/ 12 w 426"/>
                <a:gd name="T9" fmla="*/ 12 h 280"/>
                <a:gd name="T10" fmla="*/ 33 w 426"/>
                <a:gd name="T11" fmla="*/ 30 h 280"/>
                <a:gd name="T12" fmla="*/ 36 w 426"/>
                <a:gd name="T13" fmla="*/ 39 h 280"/>
                <a:gd name="T14" fmla="*/ 18 w 426"/>
                <a:gd name="T15" fmla="*/ 51 h 280"/>
                <a:gd name="T16" fmla="*/ 66 w 426"/>
                <a:gd name="T17" fmla="*/ 69 h 280"/>
                <a:gd name="T18" fmla="*/ 93 w 426"/>
                <a:gd name="T19" fmla="*/ 84 h 280"/>
                <a:gd name="T20" fmla="*/ 96 w 426"/>
                <a:gd name="T21" fmla="*/ 93 h 280"/>
                <a:gd name="T22" fmla="*/ 105 w 426"/>
                <a:gd name="T23" fmla="*/ 99 h 280"/>
                <a:gd name="T24" fmla="*/ 111 w 426"/>
                <a:gd name="T25" fmla="*/ 117 h 280"/>
                <a:gd name="T26" fmla="*/ 99 w 426"/>
                <a:gd name="T27" fmla="*/ 147 h 280"/>
                <a:gd name="T28" fmla="*/ 135 w 426"/>
                <a:gd name="T29" fmla="*/ 141 h 280"/>
                <a:gd name="T30" fmla="*/ 144 w 426"/>
                <a:gd name="T31" fmla="*/ 162 h 280"/>
                <a:gd name="T32" fmla="*/ 162 w 426"/>
                <a:gd name="T33" fmla="*/ 168 h 280"/>
                <a:gd name="T34" fmla="*/ 171 w 426"/>
                <a:gd name="T35" fmla="*/ 171 h 280"/>
                <a:gd name="T36" fmla="*/ 189 w 426"/>
                <a:gd name="T37" fmla="*/ 168 h 280"/>
                <a:gd name="T38" fmla="*/ 207 w 426"/>
                <a:gd name="T39" fmla="*/ 147 h 280"/>
                <a:gd name="T40" fmla="*/ 252 w 426"/>
                <a:gd name="T41" fmla="*/ 189 h 280"/>
                <a:gd name="T42" fmla="*/ 273 w 426"/>
                <a:gd name="T43" fmla="*/ 210 h 280"/>
                <a:gd name="T44" fmla="*/ 270 w 426"/>
                <a:gd name="T45" fmla="*/ 168 h 280"/>
                <a:gd name="T46" fmla="*/ 252 w 426"/>
                <a:gd name="T47" fmla="*/ 150 h 280"/>
                <a:gd name="T48" fmla="*/ 279 w 426"/>
                <a:gd name="T49" fmla="*/ 126 h 280"/>
                <a:gd name="T50" fmla="*/ 306 w 426"/>
                <a:gd name="T51" fmla="*/ 117 h 280"/>
                <a:gd name="T52" fmla="*/ 315 w 426"/>
                <a:gd name="T53" fmla="*/ 114 h 280"/>
                <a:gd name="T54" fmla="*/ 318 w 426"/>
                <a:gd name="T55" fmla="*/ 105 h 280"/>
                <a:gd name="T56" fmla="*/ 267 w 426"/>
                <a:gd name="T57" fmla="*/ 111 h 280"/>
                <a:gd name="T58" fmla="*/ 228 w 426"/>
                <a:gd name="T59" fmla="*/ 105 h 280"/>
                <a:gd name="T60" fmla="*/ 225 w 426"/>
                <a:gd name="T61" fmla="*/ 96 h 280"/>
                <a:gd name="T62" fmla="*/ 219 w 426"/>
                <a:gd name="T63" fmla="*/ 87 h 280"/>
                <a:gd name="T64" fmla="*/ 165 w 426"/>
                <a:gd name="T65" fmla="*/ 60 h 280"/>
                <a:gd name="T66" fmla="*/ 120 w 426"/>
                <a:gd name="T67" fmla="*/ 45 h 280"/>
                <a:gd name="T68" fmla="*/ 102 w 426"/>
                <a:gd name="T69" fmla="*/ 39 h 280"/>
                <a:gd name="T70" fmla="*/ 60 w 426"/>
                <a:gd name="T71" fmla="*/ 39 h 280"/>
                <a:gd name="T72" fmla="*/ 51 w 426"/>
                <a:gd name="T73" fmla="*/ 24 h 280"/>
                <a:gd name="T74" fmla="*/ 5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algn="ctr" rotWithShape="0">
                      <a:srgbClr val="989898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1" name="未知"/>
            <p:cNvSpPr>
              <a:spLocks/>
            </p:cNvSpPr>
            <p:nvPr/>
          </p:nvSpPr>
          <p:spPr bwMode="auto">
            <a:xfrm>
              <a:off x="3591" y="1292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15 w 416"/>
                <a:gd name="T3" fmla="*/ 28 h 282"/>
                <a:gd name="T4" fmla="*/ 21 w 416"/>
                <a:gd name="T5" fmla="*/ 37 h 282"/>
                <a:gd name="T6" fmla="*/ 63 w 416"/>
                <a:gd name="T7" fmla="*/ 67 h 282"/>
                <a:gd name="T8" fmla="*/ 90 w 416"/>
                <a:gd name="T9" fmla="*/ 85 h 282"/>
                <a:gd name="T10" fmla="*/ 99 w 416"/>
                <a:gd name="T11" fmla="*/ 91 h 282"/>
                <a:gd name="T12" fmla="*/ 102 w 416"/>
                <a:gd name="T13" fmla="*/ 126 h 282"/>
                <a:gd name="T14" fmla="*/ 87 w 416"/>
                <a:gd name="T15" fmla="*/ 150 h 282"/>
                <a:gd name="T16" fmla="*/ 102 w 416"/>
                <a:gd name="T17" fmla="*/ 147 h 282"/>
                <a:gd name="T18" fmla="*/ 111 w 416"/>
                <a:gd name="T19" fmla="*/ 141 h 282"/>
                <a:gd name="T20" fmla="*/ 120 w 416"/>
                <a:gd name="T21" fmla="*/ 150 h 282"/>
                <a:gd name="T22" fmla="*/ 138 w 416"/>
                <a:gd name="T23" fmla="*/ 162 h 282"/>
                <a:gd name="T24" fmla="*/ 156 w 416"/>
                <a:gd name="T25" fmla="*/ 174 h 282"/>
                <a:gd name="T26" fmla="*/ 179 w 416"/>
                <a:gd name="T27" fmla="*/ 165 h 282"/>
                <a:gd name="T28" fmla="*/ 185 w 416"/>
                <a:gd name="T29" fmla="*/ 147 h 282"/>
                <a:gd name="T30" fmla="*/ 200 w 416"/>
                <a:gd name="T31" fmla="*/ 150 h 282"/>
                <a:gd name="T32" fmla="*/ 218 w 416"/>
                <a:gd name="T33" fmla="*/ 156 h 282"/>
                <a:gd name="T34" fmla="*/ 254 w 416"/>
                <a:gd name="T35" fmla="*/ 210 h 282"/>
                <a:gd name="T36" fmla="*/ 266 w 416"/>
                <a:gd name="T37" fmla="*/ 207 h 282"/>
                <a:gd name="T38" fmla="*/ 263 w 416"/>
                <a:gd name="T39" fmla="*/ 189 h 282"/>
                <a:gd name="T40" fmla="*/ 236 w 416"/>
                <a:gd name="T41" fmla="*/ 147 h 282"/>
                <a:gd name="T42" fmla="*/ 269 w 416"/>
                <a:gd name="T43" fmla="*/ 129 h 282"/>
                <a:gd name="T44" fmla="*/ 305 w 416"/>
                <a:gd name="T45" fmla="*/ 108 h 282"/>
                <a:gd name="T46" fmla="*/ 306 w 416"/>
                <a:gd name="T47" fmla="*/ 90 h 282"/>
                <a:gd name="T48" fmla="*/ 274 w 416"/>
                <a:gd name="T49" fmla="*/ 103 h 282"/>
                <a:gd name="T50" fmla="*/ 230 w 416"/>
                <a:gd name="T51" fmla="*/ 103 h 282"/>
                <a:gd name="T52" fmla="*/ 197 w 416"/>
                <a:gd name="T53" fmla="*/ 73 h 282"/>
                <a:gd name="T54" fmla="*/ 135 w 416"/>
                <a:gd name="T55" fmla="*/ 46 h 282"/>
                <a:gd name="T56" fmla="*/ 99 w 416"/>
                <a:gd name="T57" fmla="*/ 25 h 282"/>
                <a:gd name="T58" fmla="*/ 69 w 416"/>
                <a:gd name="T59" fmla="*/ 31 h 282"/>
                <a:gd name="T60" fmla="*/ 57 w 416"/>
                <a:gd name="T61" fmla="*/ 43 h 282"/>
                <a:gd name="T62" fmla="*/ 42 w 416"/>
                <a:gd name="T63" fmla="*/ 13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2" name="未知"/>
            <p:cNvSpPr>
              <a:spLocks/>
            </p:cNvSpPr>
            <p:nvPr/>
          </p:nvSpPr>
          <p:spPr bwMode="auto">
            <a:xfrm>
              <a:off x="3821" y="2062"/>
              <a:ext cx="45" cy="58"/>
            </a:xfrm>
            <a:custGeom>
              <a:avLst/>
              <a:gdLst>
                <a:gd name="T0" fmla="*/ 24 w 60"/>
                <a:gd name="T1" fmla="*/ 13 h 78"/>
                <a:gd name="T2" fmla="*/ 0 w 60"/>
                <a:gd name="T3" fmla="*/ 13 h 78"/>
                <a:gd name="T4" fmla="*/ 15 w 60"/>
                <a:gd name="T5" fmla="*/ 31 h 78"/>
                <a:gd name="T6" fmla="*/ 21 w 60"/>
                <a:gd name="T7" fmla="*/ 49 h 78"/>
                <a:gd name="T8" fmla="*/ 24 w 60"/>
                <a:gd name="T9" fmla="*/ 58 h 78"/>
                <a:gd name="T10" fmla="*/ 45 w 60"/>
                <a:gd name="T11" fmla="*/ 37 h 78"/>
                <a:gd name="T12" fmla="*/ 24 w 60"/>
                <a:gd name="T13" fmla="*/ 13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3" name="未知"/>
            <p:cNvSpPr>
              <a:spLocks/>
            </p:cNvSpPr>
            <p:nvPr/>
          </p:nvSpPr>
          <p:spPr bwMode="auto">
            <a:xfrm>
              <a:off x="3957" y="1972"/>
              <a:ext cx="164" cy="85"/>
            </a:xfrm>
            <a:custGeom>
              <a:avLst/>
              <a:gdLst>
                <a:gd name="T0" fmla="*/ 35 w 219"/>
                <a:gd name="T1" fmla="*/ 55 h 113"/>
                <a:gd name="T2" fmla="*/ 29 w 219"/>
                <a:gd name="T3" fmla="*/ 46 h 113"/>
                <a:gd name="T4" fmla="*/ 11 w 219"/>
                <a:gd name="T5" fmla="*/ 52 h 113"/>
                <a:gd name="T6" fmla="*/ 29 w 219"/>
                <a:gd name="T7" fmla="*/ 85 h 113"/>
                <a:gd name="T8" fmla="*/ 92 w 219"/>
                <a:gd name="T9" fmla="*/ 67 h 113"/>
                <a:gd name="T10" fmla="*/ 110 w 219"/>
                <a:gd name="T11" fmla="*/ 55 h 113"/>
                <a:gd name="T12" fmla="*/ 128 w 219"/>
                <a:gd name="T13" fmla="*/ 49 h 113"/>
                <a:gd name="T14" fmla="*/ 164 w 219"/>
                <a:gd name="T15" fmla="*/ 14 h 113"/>
                <a:gd name="T16" fmla="*/ 157 w 219"/>
                <a:gd name="T17" fmla="*/ 0 h 113"/>
                <a:gd name="T18" fmla="*/ 134 w 219"/>
                <a:gd name="T19" fmla="*/ 13 h 113"/>
                <a:gd name="T20" fmla="*/ 80 w 219"/>
                <a:gd name="T21" fmla="*/ 31 h 113"/>
                <a:gd name="T22" fmla="*/ 62 w 219"/>
                <a:gd name="T23" fmla="*/ 34 h 113"/>
                <a:gd name="T24" fmla="*/ 44 w 219"/>
                <a:gd name="T25" fmla="*/ 40 h 113"/>
                <a:gd name="T26" fmla="*/ 35 w 219"/>
                <a:gd name="T27" fmla="*/ 55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4" name="未知"/>
            <p:cNvSpPr>
              <a:spLocks/>
            </p:cNvSpPr>
            <p:nvPr/>
          </p:nvSpPr>
          <p:spPr bwMode="auto">
            <a:xfrm>
              <a:off x="4127" y="1922"/>
              <a:ext cx="104" cy="92"/>
            </a:xfrm>
            <a:custGeom>
              <a:avLst/>
              <a:gdLst>
                <a:gd name="T0" fmla="*/ 9 w 139"/>
                <a:gd name="T1" fmla="*/ 45 h 122"/>
                <a:gd name="T2" fmla="*/ 6 w 139"/>
                <a:gd name="T3" fmla="*/ 63 h 122"/>
                <a:gd name="T4" fmla="*/ 0 w 139"/>
                <a:gd name="T5" fmla="*/ 81 h 122"/>
                <a:gd name="T6" fmla="*/ 27 w 139"/>
                <a:gd name="T7" fmla="*/ 87 h 122"/>
                <a:gd name="T8" fmla="*/ 39 w 139"/>
                <a:gd name="T9" fmla="*/ 72 h 122"/>
                <a:gd name="T10" fmla="*/ 93 w 139"/>
                <a:gd name="T11" fmla="*/ 51 h 122"/>
                <a:gd name="T12" fmla="*/ 102 w 139"/>
                <a:gd name="T13" fmla="*/ 33 h 122"/>
                <a:gd name="T14" fmla="*/ 84 w 139"/>
                <a:gd name="T15" fmla="*/ 21 h 122"/>
                <a:gd name="T16" fmla="*/ 75 w 139"/>
                <a:gd name="T17" fmla="*/ 15 h 122"/>
                <a:gd name="T18" fmla="*/ 48 w 139"/>
                <a:gd name="T19" fmla="*/ 9 h 122"/>
                <a:gd name="T20" fmla="*/ 39 w 139"/>
                <a:gd name="T21" fmla="*/ 27 h 122"/>
                <a:gd name="T22" fmla="*/ 9 w 139"/>
                <a:gd name="T23" fmla="*/ 45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5" name="未知"/>
            <p:cNvSpPr>
              <a:spLocks/>
            </p:cNvSpPr>
            <p:nvPr/>
          </p:nvSpPr>
          <p:spPr bwMode="auto">
            <a:xfrm>
              <a:off x="4182" y="1881"/>
              <a:ext cx="37" cy="26"/>
            </a:xfrm>
            <a:custGeom>
              <a:avLst/>
              <a:gdLst>
                <a:gd name="T0" fmla="*/ 22 w 49"/>
                <a:gd name="T1" fmla="*/ 0 h 35"/>
                <a:gd name="T2" fmla="*/ 6 w 49"/>
                <a:gd name="T3" fmla="*/ 8 h 35"/>
                <a:gd name="T4" fmla="*/ 18 w 49"/>
                <a:gd name="T5" fmla="*/ 26 h 35"/>
                <a:gd name="T6" fmla="*/ 29 w 49"/>
                <a:gd name="T7" fmla="*/ 19 h 35"/>
                <a:gd name="T8" fmla="*/ 22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6" name="未知"/>
            <p:cNvSpPr>
              <a:spLocks/>
            </p:cNvSpPr>
            <p:nvPr/>
          </p:nvSpPr>
          <p:spPr bwMode="auto">
            <a:xfrm>
              <a:off x="2459" y="1395"/>
              <a:ext cx="123" cy="201"/>
            </a:xfrm>
            <a:custGeom>
              <a:avLst/>
              <a:gdLst>
                <a:gd name="T0" fmla="*/ 96 w 164"/>
                <a:gd name="T1" fmla="*/ 0 h 268"/>
                <a:gd name="T2" fmla="*/ 78 w 164"/>
                <a:gd name="T3" fmla="*/ 21 h 268"/>
                <a:gd name="T4" fmla="*/ 66 w 164"/>
                <a:gd name="T5" fmla="*/ 48 h 268"/>
                <a:gd name="T6" fmla="*/ 27 w 164"/>
                <a:gd name="T7" fmla="*/ 63 h 268"/>
                <a:gd name="T8" fmla="*/ 21 w 164"/>
                <a:gd name="T9" fmla="*/ 72 h 268"/>
                <a:gd name="T10" fmla="*/ 12 w 164"/>
                <a:gd name="T11" fmla="*/ 75 h 268"/>
                <a:gd name="T12" fmla="*/ 15 w 164"/>
                <a:gd name="T13" fmla="*/ 99 h 268"/>
                <a:gd name="T14" fmla="*/ 21 w 164"/>
                <a:gd name="T15" fmla="*/ 117 h 268"/>
                <a:gd name="T16" fmla="*/ 0 w 164"/>
                <a:gd name="T17" fmla="*/ 150 h 268"/>
                <a:gd name="T18" fmla="*/ 21 w 164"/>
                <a:gd name="T19" fmla="*/ 195 h 268"/>
                <a:gd name="T20" fmla="*/ 39 w 164"/>
                <a:gd name="T21" fmla="*/ 201 h 268"/>
                <a:gd name="T22" fmla="*/ 66 w 164"/>
                <a:gd name="T23" fmla="*/ 162 h 268"/>
                <a:gd name="T24" fmla="*/ 78 w 164"/>
                <a:gd name="T25" fmla="*/ 144 h 268"/>
                <a:gd name="T26" fmla="*/ 96 w 164"/>
                <a:gd name="T27" fmla="*/ 87 h 268"/>
                <a:gd name="T28" fmla="*/ 105 w 164"/>
                <a:gd name="T29" fmla="*/ 57 h 268"/>
                <a:gd name="T30" fmla="*/ 123 w 164"/>
                <a:gd name="T31" fmla="*/ 54 h 268"/>
                <a:gd name="T32" fmla="*/ 96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7" name="未知"/>
            <p:cNvSpPr>
              <a:spLocks/>
            </p:cNvSpPr>
            <p:nvPr/>
          </p:nvSpPr>
          <p:spPr bwMode="auto">
            <a:xfrm>
              <a:off x="2991" y="1083"/>
              <a:ext cx="49" cy="61"/>
            </a:xfrm>
            <a:custGeom>
              <a:avLst/>
              <a:gdLst>
                <a:gd name="T0" fmla="*/ 22 w 66"/>
                <a:gd name="T1" fmla="*/ 0 h 81"/>
                <a:gd name="T2" fmla="*/ 19 w 66"/>
                <a:gd name="T3" fmla="*/ 45 h 81"/>
                <a:gd name="T4" fmla="*/ 22 w 66"/>
                <a:gd name="T5" fmla="*/ 57 h 81"/>
                <a:gd name="T6" fmla="*/ 30 w 66"/>
                <a:gd name="T7" fmla="*/ 60 h 81"/>
                <a:gd name="T8" fmla="*/ 42 w 66"/>
                <a:gd name="T9" fmla="*/ 57 h 81"/>
                <a:gd name="T10" fmla="*/ 2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8" name="未知"/>
            <p:cNvSpPr>
              <a:spLocks/>
            </p:cNvSpPr>
            <p:nvPr/>
          </p:nvSpPr>
          <p:spPr bwMode="auto">
            <a:xfrm>
              <a:off x="3324" y="1149"/>
              <a:ext cx="111" cy="183"/>
            </a:xfrm>
            <a:custGeom>
              <a:avLst/>
              <a:gdLst>
                <a:gd name="T0" fmla="*/ 72 w 148"/>
                <a:gd name="T1" fmla="*/ 0 h 244"/>
                <a:gd name="T2" fmla="*/ 45 w 148"/>
                <a:gd name="T3" fmla="*/ 63 h 244"/>
                <a:gd name="T4" fmla="*/ 27 w 148"/>
                <a:gd name="T5" fmla="*/ 69 h 244"/>
                <a:gd name="T6" fmla="*/ 9 w 148"/>
                <a:gd name="T7" fmla="*/ 81 h 244"/>
                <a:gd name="T8" fmla="*/ 30 w 148"/>
                <a:gd name="T9" fmla="*/ 141 h 244"/>
                <a:gd name="T10" fmla="*/ 39 w 148"/>
                <a:gd name="T11" fmla="*/ 168 h 244"/>
                <a:gd name="T12" fmla="*/ 45 w 148"/>
                <a:gd name="T13" fmla="*/ 177 h 244"/>
                <a:gd name="T14" fmla="*/ 63 w 148"/>
                <a:gd name="T15" fmla="*/ 183 h 244"/>
                <a:gd name="T16" fmla="*/ 72 w 148"/>
                <a:gd name="T17" fmla="*/ 147 h 244"/>
                <a:gd name="T18" fmla="*/ 93 w 148"/>
                <a:gd name="T19" fmla="*/ 126 h 244"/>
                <a:gd name="T20" fmla="*/ 84 w 148"/>
                <a:gd name="T21" fmla="*/ 51 h 244"/>
                <a:gd name="T22" fmla="*/ 105 w 148"/>
                <a:gd name="T23" fmla="*/ 36 h 244"/>
                <a:gd name="T24" fmla="*/ 84 w 148"/>
                <a:gd name="T25" fmla="*/ 15 h 244"/>
                <a:gd name="T26" fmla="*/ 7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49" name="未知"/>
            <p:cNvSpPr>
              <a:spLocks/>
            </p:cNvSpPr>
            <p:nvPr/>
          </p:nvSpPr>
          <p:spPr bwMode="auto">
            <a:xfrm>
              <a:off x="3230" y="1092"/>
              <a:ext cx="72" cy="137"/>
            </a:xfrm>
            <a:custGeom>
              <a:avLst/>
              <a:gdLst>
                <a:gd name="T0" fmla="*/ 36 w 96"/>
                <a:gd name="T1" fmla="*/ 1 h 183"/>
                <a:gd name="T2" fmla="*/ 38 w 96"/>
                <a:gd name="T3" fmla="*/ 26 h 183"/>
                <a:gd name="T4" fmla="*/ 45 w 96"/>
                <a:gd name="T5" fmla="*/ 46 h 183"/>
                <a:gd name="T6" fmla="*/ 47 w 96"/>
                <a:gd name="T7" fmla="*/ 69 h 183"/>
                <a:gd name="T8" fmla="*/ 51 w 96"/>
                <a:gd name="T9" fmla="*/ 79 h 183"/>
                <a:gd name="T10" fmla="*/ 53 w 96"/>
                <a:gd name="T11" fmla="*/ 94 h 183"/>
                <a:gd name="T12" fmla="*/ 43 w 96"/>
                <a:gd name="T13" fmla="*/ 70 h 183"/>
                <a:gd name="T14" fmla="*/ 26 w 96"/>
                <a:gd name="T15" fmla="*/ 58 h 183"/>
                <a:gd name="T16" fmla="*/ 4 w 96"/>
                <a:gd name="T17" fmla="*/ 62 h 183"/>
                <a:gd name="T18" fmla="*/ 6 w 96"/>
                <a:gd name="T19" fmla="*/ 76 h 183"/>
                <a:gd name="T20" fmla="*/ 31 w 96"/>
                <a:gd name="T21" fmla="*/ 85 h 183"/>
                <a:gd name="T22" fmla="*/ 43 w 96"/>
                <a:gd name="T23" fmla="*/ 101 h 183"/>
                <a:gd name="T24" fmla="*/ 53 w 96"/>
                <a:gd name="T25" fmla="*/ 101 h 183"/>
                <a:gd name="T26" fmla="*/ 59 w 96"/>
                <a:gd name="T27" fmla="*/ 112 h 183"/>
                <a:gd name="T28" fmla="*/ 72 w 96"/>
                <a:gd name="T29" fmla="*/ 134 h 183"/>
                <a:gd name="T30" fmla="*/ 61 w 96"/>
                <a:gd name="T31" fmla="*/ 94 h 183"/>
                <a:gd name="T32" fmla="*/ 60 w 96"/>
                <a:gd name="T33" fmla="*/ 70 h 183"/>
                <a:gd name="T34" fmla="*/ 53 w 96"/>
                <a:gd name="T35" fmla="*/ 47 h 183"/>
                <a:gd name="T36" fmla="*/ 47 w 96"/>
                <a:gd name="T37" fmla="*/ 31 h 183"/>
                <a:gd name="T38" fmla="*/ 43 w 96"/>
                <a:gd name="T39" fmla="*/ 15 h 183"/>
                <a:gd name="T40" fmla="*/ 36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0" name="未知"/>
            <p:cNvSpPr>
              <a:spLocks/>
            </p:cNvSpPr>
            <p:nvPr/>
          </p:nvSpPr>
          <p:spPr bwMode="auto">
            <a:xfrm>
              <a:off x="3279" y="1202"/>
              <a:ext cx="40" cy="131"/>
            </a:xfrm>
            <a:custGeom>
              <a:avLst/>
              <a:gdLst>
                <a:gd name="T0" fmla="*/ 4 w 54"/>
                <a:gd name="T1" fmla="*/ 0 h 175"/>
                <a:gd name="T2" fmla="*/ 0 w 54"/>
                <a:gd name="T3" fmla="*/ 19 h 175"/>
                <a:gd name="T4" fmla="*/ 7 w 54"/>
                <a:gd name="T5" fmla="*/ 40 h 175"/>
                <a:gd name="T6" fmla="*/ 13 w 54"/>
                <a:gd name="T7" fmla="*/ 70 h 175"/>
                <a:gd name="T8" fmla="*/ 25 w 54"/>
                <a:gd name="T9" fmla="*/ 97 h 175"/>
                <a:gd name="T10" fmla="*/ 40 w 54"/>
                <a:gd name="T11" fmla="*/ 131 h 175"/>
                <a:gd name="T12" fmla="*/ 30 w 54"/>
                <a:gd name="T13" fmla="*/ 86 h 175"/>
                <a:gd name="T14" fmla="*/ 25 w 54"/>
                <a:gd name="T15" fmla="*/ 70 h 175"/>
                <a:gd name="T16" fmla="*/ 21 w 54"/>
                <a:gd name="T17" fmla="*/ 46 h 175"/>
                <a:gd name="T18" fmla="*/ 19 w 54"/>
                <a:gd name="T19" fmla="*/ 34 h 175"/>
                <a:gd name="T20" fmla="*/ 12 w 54"/>
                <a:gd name="T21" fmla="*/ 28 h 175"/>
                <a:gd name="T22" fmla="*/ 4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1" name="未知"/>
            <p:cNvSpPr>
              <a:spLocks/>
            </p:cNvSpPr>
            <p:nvPr/>
          </p:nvSpPr>
          <p:spPr bwMode="auto">
            <a:xfrm>
              <a:off x="3324" y="1339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6 w 86"/>
                <a:gd name="T3" fmla="*/ 25 h 73"/>
                <a:gd name="T4" fmla="*/ 17 w 86"/>
                <a:gd name="T5" fmla="*/ 32 h 73"/>
                <a:gd name="T6" fmla="*/ 36 w 86"/>
                <a:gd name="T7" fmla="*/ 36 h 73"/>
                <a:gd name="T8" fmla="*/ 47 w 86"/>
                <a:gd name="T9" fmla="*/ 42 h 73"/>
                <a:gd name="T10" fmla="*/ 56 w 86"/>
                <a:gd name="T11" fmla="*/ 49 h 73"/>
                <a:gd name="T12" fmla="*/ 65 w 86"/>
                <a:gd name="T13" fmla="*/ 51 h 73"/>
                <a:gd name="T14" fmla="*/ 54 w 86"/>
                <a:gd name="T15" fmla="*/ 29 h 73"/>
                <a:gd name="T16" fmla="*/ 48 w 86"/>
                <a:gd name="T17" fmla="*/ 16 h 73"/>
                <a:gd name="T18" fmla="*/ 27 w 86"/>
                <a:gd name="T19" fmla="*/ 18 h 73"/>
                <a:gd name="T20" fmla="*/ 18 w 86"/>
                <a:gd name="T21" fmla="*/ 14 h 73"/>
                <a:gd name="T22" fmla="*/ 5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2" name="未知"/>
            <p:cNvSpPr>
              <a:spLocks/>
            </p:cNvSpPr>
            <p:nvPr/>
          </p:nvSpPr>
          <p:spPr bwMode="auto">
            <a:xfrm>
              <a:off x="3428" y="1244"/>
              <a:ext cx="83" cy="117"/>
            </a:xfrm>
            <a:custGeom>
              <a:avLst/>
              <a:gdLst>
                <a:gd name="T0" fmla="*/ 73 w 111"/>
                <a:gd name="T1" fmla="*/ 0 h 156"/>
                <a:gd name="T2" fmla="*/ 56 w 111"/>
                <a:gd name="T3" fmla="*/ 8 h 156"/>
                <a:gd name="T4" fmla="*/ 17 w 111"/>
                <a:gd name="T5" fmla="*/ 11 h 156"/>
                <a:gd name="T6" fmla="*/ 10 w 111"/>
                <a:gd name="T7" fmla="*/ 25 h 156"/>
                <a:gd name="T8" fmla="*/ 8 w 111"/>
                <a:gd name="T9" fmla="*/ 46 h 156"/>
                <a:gd name="T10" fmla="*/ 10 w 111"/>
                <a:gd name="T11" fmla="*/ 56 h 156"/>
                <a:gd name="T12" fmla="*/ 2 w 111"/>
                <a:gd name="T13" fmla="*/ 66 h 156"/>
                <a:gd name="T14" fmla="*/ 10 w 111"/>
                <a:gd name="T15" fmla="*/ 82 h 156"/>
                <a:gd name="T16" fmla="*/ 17 w 111"/>
                <a:gd name="T17" fmla="*/ 93 h 156"/>
                <a:gd name="T18" fmla="*/ 11 w 111"/>
                <a:gd name="T19" fmla="*/ 108 h 156"/>
                <a:gd name="T20" fmla="*/ 18 w 111"/>
                <a:gd name="T21" fmla="*/ 117 h 156"/>
                <a:gd name="T22" fmla="*/ 31 w 111"/>
                <a:gd name="T23" fmla="*/ 108 h 156"/>
                <a:gd name="T24" fmla="*/ 37 w 111"/>
                <a:gd name="T25" fmla="*/ 70 h 156"/>
                <a:gd name="T26" fmla="*/ 42 w 111"/>
                <a:gd name="T27" fmla="*/ 95 h 156"/>
                <a:gd name="T28" fmla="*/ 49 w 111"/>
                <a:gd name="T29" fmla="*/ 109 h 156"/>
                <a:gd name="T30" fmla="*/ 46 w 111"/>
                <a:gd name="T31" fmla="*/ 84 h 156"/>
                <a:gd name="T32" fmla="*/ 54 w 111"/>
                <a:gd name="T33" fmla="*/ 55 h 156"/>
                <a:gd name="T34" fmla="*/ 52 w 111"/>
                <a:gd name="T35" fmla="*/ 38 h 156"/>
                <a:gd name="T36" fmla="*/ 40 w 111"/>
                <a:gd name="T37" fmla="*/ 45 h 156"/>
                <a:gd name="T38" fmla="*/ 26 w 111"/>
                <a:gd name="T39" fmla="*/ 41 h 156"/>
                <a:gd name="T40" fmla="*/ 31 w 111"/>
                <a:gd name="T41" fmla="*/ 27 h 156"/>
                <a:gd name="T42" fmla="*/ 46 w 111"/>
                <a:gd name="T43" fmla="*/ 26 h 156"/>
                <a:gd name="T44" fmla="*/ 58 w 111"/>
                <a:gd name="T45" fmla="*/ 29 h 156"/>
                <a:gd name="T46" fmla="*/ 73 w 111"/>
                <a:gd name="T47" fmla="*/ 23 h 156"/>
                <a:gd name="T48" fmla="*/ 83 w 111"/>
                <a:gd name="T49" fmla="*/ 10 h 156"/>
                <a:gd name="T50" fmla="*/ 73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3" name="未知"/>
            <p:cNvSpPr>
              <a:spLocks/>
            </p:cNvSpPr>
            <p:nvPr/>
          </p:nvSpPr>
          <p:spPr bwMode="auto">
            <a:xfrm>
              <a:off x="3400" y="826"/>
              <a:ext cx="22" cy="71"/>
            </a:xfrm>
            <a:custGeom>
              <a:avLst/>
              <a:gdLst>
                <a:gd name="T0" fmla="*/ 9 w 30"/>
                <a:gd name="T1" fmla="*/ 0 h 94"/>
                <a:gd name="T2" fmla="*/ 0 w 30"/>
                <a:gd name="T3" fmla="*/ 12 h 94"/>
                <a:gd name="T4" fmla="*/ 4 w 30"/>
                <a:gd name="T5" fmla="*/ 28 h 94"/>
                <a:gd name="T6" fmla="*/ 1 w 30"/>
                <a:gd name="T7" fmla="*/ 46 h 94"/>
                <a:gd name="T8" fmla="*/ 12 w 30"/>
                <a:gd name="T9" fmla="*/ 71 h 94"/>
                <a:gd name="T10" fmla="*/ 22 w 30"/>
                <a:gd name="T11" fmla="*/ 62 h 94"/>
                <a:gd name="T12" fmla="*/ 16 w 30"/>
                <a:gd name="T13" fmla="*/ 46 h 94"/>
                <a:gd name="T14" fmla="*/ 9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4" name="未知"/>
            <p:cNvSpPr>
              <a:spLocks/>
            </p:cNvSpPr>
            <p:nvPr/>
          </p:nvSpPr>
          <p:spPr bwMode="auto">
            <a:xfrm>
              <a:off x="3414" y="945"/>
              <a:ext cx="61" cy="118"/>
            </a:xfrm>
            <a:custGeom>
              <a:avLst/>
              <a:gdLst>
                <a:gd name="T0" fmla="*/ 9 w 81"/>
                <a:gd name="T1" fmla="*/ 1 h 158"/>
                <a:gd name="T2" fmla="*/ 0 w 81"/>
                <a:gd name="T3" fmla="*/ 15 h 158"/>
                <a:gd name="T4" fmla="*/ 6 w 81"/>
                <a:gd name="T5" fmla="*/ 37 h 158"/>
                <a:gd name="T6" fmla="*/ 5 w 81"/>
                <a:gd name="T7" fmla="*/ 80 h 158"/>
                <a:gd name="T8" fmla="*/ 13 w 81"/>
                <a:gd name="T9" fmla="*/ 77 h 158"/>
                <a:gd name="T10" fmla="*/ 15 w 81"/>
                <a:gd name="T11" fmla="*/ 86 h 158"/>
                <a:gd name="T12" fmla="*/ 22 w 81"/>
                <a:gd name="T13" fmla="*/ 91 h 158"/>
                <a:gd name="T14" fmla="*/ 29 w 81"/>
                <a:gd name="T15" fmla="*/ 105 h 158"/>
                <a:gd name="T16" fmla="*/ 36 w 81"/>
                <a:gd name="T17" fmla="*/ 96 h 158"/>
                <a:gd name="T18" fmla="*/ 49 w 81"/>
                <a:gd name="T19" fmla="*/ 100 h 158"/>
                <a:gd name="T20" fmla="*/ 47 w 81"/>
                <a:gd name="T21" fmla="*/ 81 h 158"/>
                <a:gd name="T22" fmla="*/ 36 w 81"/>
                <a:gd name="T23" fmla="*/ 78 h 158"/>
                <a:gd name="T24" fmla="*/ 29 w 81"/>
                <a:gd name="T25" fmla="*/ 68 h 158"/>
                <a:gd name="T26" fmla="*/ 25 w 81"/>
                <a:gd name="T27" fmla="*/ 55 h 158"/>
                <a:gd name="T28" fmla="*/ 31 w 81"/>
                <a:gd name="T29" fmla="*/ 40 h 158"/>
                <a:gd name="T30" fmla="*/ 26 w 81"/>
                <a:gd name="T31" fmla="*/ 26 h 158"/>
                <a:gd name="T32" fmla="*/ 32 w 81"/>
                <a:gd name="T33" fmla="*/ 15 h 158"/>
                <a:gd name="T34" fmla="*/ 22 w 81"/>
                <a:gd name="T35" fmla="*/ 3 h 158"/>
                <a:gd name="T36" fmla="*/ 14 w 81"/>
                <a:gd name="T37" fmla="*/ 5 h 158"/>
                <a:gd name="T38" fmla="*/ 9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5" name="未知"/>
            <p:cNvSpPr>
              <a:spLocks/>
            </p:cNvSpPr>
            <p:nvPr/>
          </p:nvSpPr>
          <p:spPr bwMode="auto">
            <a:xfrm>
              <a:off x="3457" y="1101"/>
              <a:ext cx="64" cy="79"/>
            </a:xfrm>
            <a:custGeom>
              <a:avLst/>
              <a:gdLst>
                <a:gd name="T0" fmla="*/ 39 w 85"/>
                <a:gd name="T1" fmla="*/ 0 h 105"/>
                <a:gd name="T2" fmla="*/ 33 w 85"/>
                <a:gd name="T3" fmla="*/ 14 h 105"/>
                <a:gd name="T4" fmla="*/ 24 w 85"/>
                <a:gd name="T5" fmla="*/ 23 h 105"/>
                <a:gd name="T6" fmla="*/ 12 w 85"/>
                <a:gd name="T7" fmla="*/ 26 h 105"/>
                <a:gd name="T8" fmla="*/ 6 w 85"/>
                <a:gd name="T9" fmla="*/ 36 h 105"/>
                <a:gd name="T10" fmla="*/ 3 w 85"/>
                <a:gd name="T11" fmla="*/ 56 h 105"/>
                <a:gd name="T12" fmla="*/ 10 w 85"/>
                <a:gd name="T13" fmla="*/ 53 h 105"/>
                <a:gd name="T14" fmla="*/ 19 w 85"/>
                <a:gd name="T15" fmla="*/ 47 h 105"/>
                <a:gd name="T16" fmla="*/ 26 w 85"/>
                <a:gd name="T17" fmla="*/ 52 h 105"/>
                <a:gd name="T18" fmla="*/ 44 w 85"/>
                <a:gd name="T19" fmla="*/ 74 h 105"/>
                <a:gd name="T20" fmla="*/ 53 w 85"/>
                <a:gd name="T21" fmla="*/ 54 h 105"/>
                <a:gd name="T22" fmla="*/ 64 w 85"/>
                <a:gd name="T23" fmla="*/ 51 h 105"/>
                <a:gd name="T24" fmla="*/ 56 w 85"/>
                <a:gd name="T25" fmla="*/ 29 h 105"/>
                <a:gd name="T26" fmla="*/ 39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6" name="未知"/>
            <p:cNvSpPr>
              <a:spLocks/>
            </p:cNvSpPr>
            <p:nvPr/>
          </p:nvSpPr>
          <p:spPr bwMode="auto">
            <a:xfrm>
              <a:off x="3533" y="1242"/>
              <a:ext cx="29" cy="49"/>
            </a:xfrm>
            <a:custGeom>
              <a:avLst/>
              <a:gdLst>
                <a:gd name="T0" fmla="*/ 5 w 38"/>
                <a:gd name="T1" fmla="*/ 20 h 66"/>
                <a:gd name="T2" fmla="*/ 20 w 38"/>
                <a:gd name="T3" fmla="*/ 49 h 66"/>
                <a:gd name="T4" fmla="*/ 23 w 38"/>
                <a:gd name="T5" fmla="*/ 39 h 66"/>
                <a:gd name="T6" fmla="*/ 29 w 38"/>
                <a:gd name="T7" fmla="*/ 30 h 66"/>
                <a:gd name="T8" fmla="*/ 23 w 38"/>
                <a:gd name="T9" fmla="*/ 19 h 66"/>
                <a:gd name="T10" fmla="*/ 15 w 38"/>
                <a:gd name="T11" fmla="*/ 10 h 66"/>
                <a:gd name="T12" fmla="*/ 8 w 38"/>
                <a:gd name="T13" fmla="*/ 1 h 66"/>
                <a:gd name="T14" fmla="*/ 2 w 38"/>
                <a:gd name="T15" fmla="*/ 9 h 66"/>
                <a:gd name="T16" fmla="*/ 5 w 38"/>
                <a:gd name="T17" fmla="*/ 20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7" name="未知"/>
            <p:cNvSpPr>
              <a:spLocks/>
            </p:cNvSpPr>
            <p:nvPr/>
          </p:nvSpPr>
          <p:spPr bwMode="auto">
            <a:xfrm>
              <a:off x="3517" y="1324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5 w 24"/>
                <a:gd name="T3" fmla="*/ 17 h 23"/>
                <a:gd name="T4" fmla="*/ 18 w 24"/>
                <a:gd name="T5" fmla="*/ 8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8" name="未知"/>
            <p:cNvSpPr>
              <a:spLocks/>
            </p:cNvSpPr>
            <p:nvPr/>
          </p:nvSpPr>
          <p:spPr bwMode="auto">
            <a:xfrm>
              <a:off x="3544" y="1314"/>
              <a:ext cx="45" cy="37"/>
            </a:xfrm>
            <a:custGeom>
              <a:avLst/>
              <a:gdLst>
                <a:gd name="T0" fmla="*/ 7 w 60"/>
                <a:gd name="T1" fmla="*/ 0 h 49"/>
                <a:gd name="T2" fmla="*/ 0 w 60"/>
                <a:gd name="T3" fmla="*/ 14 h 49"/>
                <a:gd name="T4" fmla="*/ 21 w 60"/>
                <a:gd name="T5" fmla="*/ 25 h 49"/>
                <a:gd name="T6" fmla="*/ 32 w 60"/>
                <a:gd name="T7" fmla="*/ 35 h 49"/>
                <a:gd name="T8" fmla="*/ 45 w 60"/>
                <a:gd name="T9" fmla="*/ 32 h 49"/>
                <a:gd name="T10" fmla="*/ 37 w 60"/>
                <a:gd name="T11" fmla="*/ 18 h 49"/>
                <a:gd name="T12" fmla="*/ 21 w 60"/>
                <a:gd name="T13" fmla="*/ 2 h 49"/>
                <a:gd name="T14" fmla="*/ 14 w 60"/>
                <a:gd name="T15" fmla="*/ 12 h 49"/>
                <a:gd name="T16" fmla="*/ 7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9" name="未知"/>
            <p:cNvSpPr>
              <a:spLocks/>
            </p:cNvSpPr>
            <p:nvPr/>
          </p:nvSpPr>
          <p:spPr bwMode="auto">
            <a:xfrm>
              <a:off x="3613" y="1384"/>
              <a:ext cx="24" cy="33"/>
            </a:xfrm>
            <a:custGeom>
              <a:avLst/>
              <a:gdLst>
                <a:gd name="T0" fmla="*/ 21 w 32"/>
                <a:gd name="T1" fmla="*/ 0 h 44"/>
                <a:gd name="T2" fmla="*/ 8 w 32"/>
                <a:gd name="T3" fmla="*/ 8 h 44"/>
                <a:gd name="T4" fmla="*/ 9 w 32"/>
                <a:gd name="T5" fmla="*/ 24 h 44"/>
                <a:gd name="T6" fmla="*/ 18 w 32"/>
                <a:gd name="T7" fmla="*/ 27 h 44"/>
                <a:gd name="T8" fmla="*/ 21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0" name="未知"/>
            <p:cNvSpPr>
              <a:spLocks/>
            </p:cNvSpPr>
            <p:nvPr/>
          </p:nvSpPr>
          <p:spPr bwMode="auto">
            <a:xfrm>
              <a:off x="3880" y="1342"/>
              <a:ext cx="46" cy="47"/>
            </a:xfrm>
            <a:custGeom>
              <a:avLst/>
              <a:gdLst>
                <a:gd name="T0" fmla="*/ 5 w 61"/>
                <a:gd name="T1" fmla="*/ 0 h 63"/>
                <a:gd name="T2" fmla="*/ 0 w 61"/>
                <a:gd name="T3" fmla="*/ 10 h 63"/>
                <a:gd name="T4" fmla="*/ 18 w 61"/>
                <a:gd name="T5" fmla="*/ 26 h 63"/>
                <a:gd name="T6" fmla="*/ 27 w 61"/>
                <a:gd name="T7" fmla="*/ 40 h 63"/>
                <a:gd name="T8" fmla="*/ 35 w 61"/>
                <a:gd name="T9" fmla="*/ 47 h 63"/>
                <a:gd name="T10" fmla="*/ 46 w 61"/>
                <a:gd name="T11" fmla="*/ 42 h 63"/>
                <a:gd name="T12" fmla="*/ 25 w 61"/>
                <a:gd name="T13" fmla="*/ 13 h 63"/>
                <a:gd name="T14" fmla="*/ 5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1" name="未知"/>
            <p:cNvSpPr>
              <a:spLocks/>
            </p:cNvSpPr>
            <p:nvPr/>
          </p:nvSpPr>
          <p:spPr bwMode="auto">
            <a:xfrm>
              <a:off x="3483" y="1401"/>
              <a:ext cx="46" cy="50"/>
            </a:xfrm>
            <a:custGeom>
              <a:avLst/>
              <a:gdLst>
                <a:gd name="T0" fmla="*/ 21 w 61"/>
                <a:gd name="T1" fmla="*/ 5 h 67"/>
                <a:gd name="T2" fmla="*/ 23 w 61"/>
                <a:gd name="T3" fmla="*/ 25 h 67"/>
                <a:gd name="T4" fmla="*/ 12 w 61"/>
                <a:gd name="T5" fmla="*/ 32 h 67"/>
                <a:gd name="T6" fmla="*/ 17 w 61"/>
                <a:gd name="T7" fmla="*/ 50 h 67"/>
                <a:gd name="T8" fmla="*/ 36 w 61"/>
                <a:gd name="T9" fmla="*/ 43 h 67"/>
                <a:gd name="T10" fmla="*/ 45 w 61"/>
                <a:gd name="T11" fmla="*/ 35 h 67"/>
                <a:gd name="T12" fmla="*/ 38 w 61"/>
                <a:gd name="T13" fmla="*/ 21 h 67"/>
                <a:gd name="T14" fmla="*/ 43 w 61"/>
                <a:gd name="T15" fmla="*/ 10 h 67"/>
                <a:gd name="T16" fmla="*/ 41 w 61"/>
                <a:gd name="T17" fmla="*/ 1 h 67"/>
                <a:gd name="T18" fmla="*/ 35 w 61"/>
                <a:gd name="T19" fmla="*/ 3 h 67"/>
                <a:gd name="T20" fmla="*/ 38 w 61"/>
                <a:gd name="T21" fmla="*/ 4 h 67"/>
                <a:gd name="T22" fmla="*/ 37 w 61"/>
                <a:gd name="T23" fmla="*/ 12 h 67"/>
                <a:gd name="T24" fmla="*/ 32 w 61"/>
                <a:gd name="T25" fmla="*/ 17 h 67"/>
                <a:gd name="T26" fmla="*/ 21 w 61"/>
                <a:gd name="T27" fmla="*/ 5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2" name="未知"/>
            <p:cNvSpPr>
              <a:spLocks/>
            </p:cNvSpPr>
            <p:nvPr/>
          </p:nvSpPr>
          <p:spPr bwMode="auto">
            <a:xfrm>
              <a:off x="3434" y="1420"/>
              <a:ext cx="32" cy="27"/>
            </a:xfrm>
            <a:custGeom>
              <a:avLst/>
              <a:gdLst>
                <a:gd name="T0" fmla="*/ 16 w 43"/>
                <a:gd name="T1" fmla="*/ 2 h 36"/>
                <a:gd name="T2" fmla="*/ 4 w 43"/>
                <a:gd name="T3" fmla="*/ 5 h 36"/>
                <a:gd name="T4" fmla="*/ 25 w 43"/>
                <a:gd name="T5" fmla="*/ 27 h 36"/>
                <a:gd name="T6" fmla="*/ 31 w 43"/>
                <a:gd name="T7" fmla="*/ 23 h 36"/>
                <a:gd name="T8" fmla="*/ 16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3" name="未知"/>
            <p:cNvSpPr>
              <a:spLocks/>
            </p:cNvSpPr>
            <p:nvPr/>
          </p:nvSpPr>
          <p:spPr bwMode="auto">
            <a:xfrm>
              <a:off x="3413" y="1391"/>
              <a:ext cx="24" cy="31"/>
            </a:xfrm>
            <a:custGeom>
              <a:avLst/>
              <a:gdLst>
                <a:gd name="T0" fmla="*/ 16 w 32"/>
                <a:gd name="T1" fmla="*/ 0 h 41"/>
                <a:gd name="T2" fmla="*/ 0 w 32"/>
                <a:gd name="T3" fmla="*/ 20 h 41"/>
                <a:gd name="T4" fmla="*/ 12 w 32"/>
                <a:gd name="T5" fmla="*/ 18 h 41"/>
                <a:gd name="T6" fmla="*/ 14 w 32"/>
                <a:gd name="T7" fmla="*/ 22 h 41"/>
                <a:gd name="T8" fmla="*/ 12 w 32"/>
                <a:gd name="T9" fmla="*/ 26 h 41"/>
                <a:gd name="T10" fmla="*/ 23 w 32"/>
                <a:gd name="T11" fmla="*/ 16 h 41"/>
                <a:gd name="T12" fmla="*/ 18 w 32"/>
                <a:gd name="T13" fmla="*/ 7 h 41"/>
                <a:gd name="T14" fmla="*/ 16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4" name="未知"/>
            <p:cNvSpPr>
              <a:spLocks/>
            </p:cNvSpPr>
            <p:nvPr/>
          </p:nvSpPr>
          <p:spPr bwMode="auto">
            <a:xfrm>
              <a:off x="3447" y="1402"/>
              <a:ext cx="34" cy="24"/>
            </a:xfrm>
            <a:custGeom>
              <a:avLst/>
              <a:gdLst>
                <a:gd name="T0" fmla="*/ 16 w 45"/>
                <a:gd name="T1" fmla="*/ 0 h 32"/>
                <a:gd name="T2" fmla="*/ 0 w 45"/>
                <a:gd name="T3" fmla="*/ 5 h 32"/>
                <a:gd name="T4" fmla="*/ 20 w 45"/>
                <a:gd name="T5" fmla="*/ 23 h 32"/>
                <a:gd name="T6" fmla="*/ 34 w 45"/>
                <a:gd name="T7" fmla="*/ 18 h 32"/>
                <a:gd name="T8" fmla="*/ 17 w 45"/>
                <a:gd name="T9" fmla="*/ 8 h 32"/>
                <a:gd name="T10" fmla="*/ 16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5" name="未知"/>
            <p:cNvSpPr>
              <a:spLocks/>
            </p:cNvSpPr>
            <p:nvPr/>
          </p:nvSpPr>
          <p:spPr bwMode="auto">
            <a:xfrm>
              <a:off x="3398" y="1070"/>
              <a:ext cx="27" cy="55"/>
            </a:xfrm>
            <a:custGeom>
              <a:avLst/>
              <a:gdLst>
                <a:gd name="T0" fmla="*/ 23 w 35"/>
                <a:gd name="T1" fmla="*/ 0 h 74"/>
                <a:gd name="T2" fmla="*/ 16 w 35"/>
                <a:gd name="T3" fmla="*/ 11 h 74"/>
                <a:gd name="T4" fmla="*/ 7 w 35"/>
                <a:gd name="T5" fmla="*/ 27 h 74"/>
                <a:gd name="T6" fmla="*/ 0 w 35"/>
                <a:gd name="T7" fmla="*/ 44 h 74"/>
                <a:gd name="T8" fmla="*/ 6 w 35"/>
                <a:gd name="T9" fmla="*/ 55 h 74"/>
                <a:gd name="T10" fmla="*/ 15 w 35"/>
                <a:gd name="T11" fmla="*/ 44 h 74"/>
                <a:gd name="T12" fmla="*/ 27 w 35"/>
                <a:gd name="T13" fmla="*/ 24 h 74"/>
                <a:gd name="T14" fmla="*/ 23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6" name="未知"/>
            <p:cNvSpPr>
              <a:spLocks/>
            </p:cNvSpPr>
            <p:nvPr/>
          </p:nvSpPr>
          <p:spPr bwMode="auto">
            <a:xfrm>
              <a:off x="3449" y="1061"/>
              <a:ext cx="19" cy="55"/>
            </a:xfrm>
            <a:custGeom>
              <a:avLst/>
              <a:gdLst>
                <a:gd name="T0" fmla="*/ 10 w 25"/>
                <a:gd name="T1" fmla="*/ 5 h 73"/>
                <a:gd name="T2" fmla="*/ 3 w 25"/>
                <a:gd name="T3" fmla="*/ 6 h 73"/>
                <a:gd name="T4" fmla="*/ 0 w 25"/>
                <a:gd name="T5" fmla="*/ 17 h 73"/>
                <a:gd name="T6" fmla="*/ 11 w 25"/>
                <a:gd name="T7" fmla="*/ 31 h 73"/>
                <a:gd name="T8" fmla="*/ 19 w 25"/>
                <a:gd name="T9" fmla="*/ 42 h 73"/>
                <a:gd name="T10" fmla="*/ 12 w 25"/>
                <a:gd name="T11" fmla="*/ 15 h 73"/>
                <a:gd name="T12" fmla="*/ 10 w 25"/>
                <a:gd name="T13" fmla="*/ 5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7" name="未知"/>
            <p:cNvSpPr>
              <a:spLocks/>
            </p:cNvSpPr>
            <p:nvPr/>
          </p:nvSpPr>
          <p:spPr bwMode="auto">
            <a:xfrm>
              <a:off x="3471" y="1044"/>
              <a:ext cx="10" cy="25"/>
            </a:xfrm>
            <a:custGeom>
              <a:avLst/>
              <a:gdLst>
                <a:gd name="T0" fmla="*/ 8 w 14"/>
                <a:gd name="T1" fmla="*/ 0 h 33"/>
                <a:gd name="T2" fmla="*/ 1 w 14"/>
                <a:gd name="T3" fmla="*/ 8 h 33"/>
                <a:gd name="T4" fmla="*/ 8 w 14"/>
                <a:gd name="T5" fmla="*/ 19 h 33"/>
                <a:gd name="T6" fmla="*/ 8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8" name="未知"/>
            <p:cNvSpPr>
              <a:spLocks/>
            </p:cNvSpPr>
            <p:nvPr/>
          </p:nvSpPr>
          <p:spPr bwMode="auto">
            <a:xfrm>
              <a:off x="3481" y="1056"/>
              <a:ext cx="21" cy="48"/>
            </a:xfrm>
            <a:custGeom>
              <a:avLst/>
              <a:gdLst>
                <a:gd name="T0" fmla="*/ 4 w 28"/>
                <a:gd name="T1" fmla="*/ 0 h 64"/>
                <a:gd name="T2" fmla="*/ 8 w 28"/>
                <a:gd name="T3" fmla="*/ 11 h 64"/>
                <a:gd name="T4" fmla="*/ 15 w 28"/>
                <a:gd name="T5" fmla="*/ 16 h 64"/>
                <a:gd name="T6" fmla="*/ 6 w 28"/>
                <a:gd name="T7" fmla="*/ 29 h 64"/>
                <a:gd name="T8" fmla="*/ 0 w 28"/>
                <a:gd name="T9" fmla="*/ 42 h 64"/>
                <a:gd name="T10" fmla="*/ 8 w 28"/>
                <a:gd name="T11" fmla="*/ 43 h 64"/>
                <a:gd name="T12" fmla="*/ 20 w 28"/>
                <a:gd name="T13" fmla="*/ 20 h 64"/>
                <a:gd name="T14" fmla="*/ 4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69" name="未知"/>
            <p:cNvSpPr>
              <a:spLocks/>
            </p:cNvSpPr>
            <p:nvPr/>
          </p:nvSpPr>
          <p:spPr bwMode="auto">
            <a:xfrm>
              <a:off x="3212" y="1125"/>
              <a:ext cx="12" cy="27"/>
            </a:xfrm>
            <a:custGeom>
              <a:avLst/>
              <a:gdLst>
                <a:gd name="T0" fmla="*/ 11 w 16"/>
                <a:gd name="T1" fmla="*/ 2 h 36"/>
                <a:gd name="T2" fmla="*/ 0 w 16"/>
                <a:gd name="T3" fmla="*/ 5 h 36"/>
                <a:gd name="T4" fmla="*/ 6 w 16"/>
                <a:gd name="T5" fmla="*/ 17 h 36"/>
                <a:gd name="T6" fmla="*/ 11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0" name="未知"/>
            <p:cNvSpPr>
              <a:spLocks/>
            </p:cNvSpPr>
            <p:nvPr/>
          </p:nvSpPr>
          <p:spPr bwMode="auto">
            <a:xfrm>
              <a:off x="3202" y="1102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1" name="未知"/>
            <p:cNvSpPr>
              <a:spLocks/>
            </p:cNvSpPr>
            <p:nvPr/>
          </p:nvSpPr>
          <p:spPr bwMode="auto">
            <a:xfrm>
              <a:off x="3198" y="1084"/>
              <a:ext cx="12" cy="14"/>
            </a:xfrm>
            <a:custGeom>
              <a:avLst/>
              <a:gdLst>
                <a:gd name="T0" fmla="*/ 8 w 16"/>
                <a:gd name="T1" fmla="*/ 4 h 19"/>
                <a:gd name="T2" fmla="*/ 0 w 16"/>
                <a:gd name="T3" fmla="*/ 7 h 19"/>
                <a:gd name="T4" fmla="*/ 9 w 16"/>
                <a:gd name="T5" fmla="*/ 14 h 19"/>
                <a:gd name="T6" fmla="*/ 8 w 16"/>
                <a:gd name="T7" fmla="*/ 4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2" name="未知"/>
            <p:cNvSpPr>
              <a:spLocks/>
            </p:cNvSpPr>
            <p:nvPr/>
          </p:nvSpPr>
          <p:spPr bwMode="auto">
            <a:xfrm>
              <a:off x="3186" y="1044"/>
              <a:ext cx="11" cy="19"/>
            </a:xfrm>
            <a:custGeom>
              <a:avLst/>
              <a:gdLst>
                <a:gd name="T0" fmla="*/ 5 w 14"/>
                <a:gd name="T1" fmla="*/ 0 h 25"/>
                <a:gd name="T2" fmla="*/ 0 w 14"/>
                <a:gd name="T3" fmla="*/ 10 h 25"/>
                <a:gd name="T4" fmla="*/ 9 w 14"/>
                <a:gd name="T5" fmla="*/ 18 h 25"/>
                <a:gd name="T6" fmla="*/ 5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3" name="未知"/>
            <p:cNvSpPr>
              <a:spLocks/>
            </p:cNvSpPr>
            <p:nvPr/>
          </p:nvSpPr>
          <p:spPr bwMode="auto">
            <a:xfrm>
              <a:off x="3188" y="1069"/>
              <a:ext cx="16" cy="13"/>
            </a:xfrm>
            <a:custGeom>
              <a:avLst/>
              <a:gdLst>
                <a:gd name="T0" fmla="*/ 9 w 22"/>
                <a:gd name="T1" fmla="*/ 0 h 18"/>
                <a:gd name="T2" fmla="*/ 14 w 22"/>
                <a:gd name="T3" fmla="*/ 13 h 18"/>
                <a:gd name="T4" fmla="*/ 10 w 22"/>
                <a:gd name="T5" fmla="*/ 4 h 18"/>
                <a:gd name="T6" fmla="*/ 9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4" name="未知"/>
            <p:cNvSpPr>
              <a:spLocks/>
            </p:cNvSpPr>
            <p:nvPr/>
          </p:nvSpPr>
          <p:spPr bwMode="auto">
            <a:xfrm>
              <a:off x="4024" y="1692"/>
              <a:ext cx="45" cy="60"/>
            </a:xfrm>
            <a:custGeom>
              <a:avLst/>
              <a:gdLst>
                <a:gd name="T0" fmla="*/ 8 w 60"/>
                <a:gd name="T1" fmla="*/ 5 h 81"/>
                <a:gd name="T2" fmla="*/ 2 w 60"/>
                <a:gd name="T3" fmla="*/ 13 h 81"/>
                <a:gd name="T4" fmla="*/ 11 w 60"/>
                <a:gd name="T5" fmla="*/ 29 h 81"/>
                <a:gd name="T6" fmla="*/ 20 w 60"/>
                <a:gd name="T7" fmla="*/ 40 h 81"/>
                <a:gd name="T8" fmla="*/ 30 w 60"/>
                <a:gd name="T9" fmla="*/ 47 h 81"/>
                <a:gd name="T10" fmla="*/ 38 w 60"/>
                <a:gd name="T11" fmla="*/ 60 h 81"/>
                <a:gd name="T12" fmla="*/ 39 w 60"/>
                <a:gd name="T13" fmla="*/ 42 h 81"/>
                <a:gd name="T14" fmla="*/ 32 w 60"/>
                <a:gd name="T15" fmla="*/ 27 h 81"/>
                <a:gd name="T16" fmla="*/ 19 w 60"/>
                <a:gd name="T17" fmla="*/ 13 h 81"/>
                <a:gd name="T18" fmla="*/ 8 w 60"/>
                <a:gd name="T19" fmla="*/ 5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5" name="未知"/>
            <p:cNvSpPr>
              <a:spLocks/>
            </p:cNvSpPr>
            <p:nvPr/>
          </p:nvSpPr>
          <p:spPr bwMode="auto">
            <a:xfrm>
              <a:off x="4255" y="1643"/>
              <a:ext cx="53" cy="46"/>
            </a:xfrm>
            <a:custGeom>
              <a:avLst/>
              <a:gdLst>
                <a:gd name="T0" fmla="*/ 21 w 71"/>
                <a:gd name="T1" fmla="*/ 17 h 61"/>
                <a:gd name="T2" fmla="*/ 10 w 71"/>
                <a:gd name="T3" fmla="*/ 24 h 61"/>
                <a:gd name="T4" fmla="*/ 1 w 71"/>
                <a:gd name="T5" fmla="*/ 33 h 61"/>
                <a:gd name="T6" fmla="*/ 10 w 71"/>
                <a:gd name="T7" fmla="*/ 44 h 61"/>
                <a:gd name="T8" fmla="*/ 21 w 71"/>
                <a:gd name="T9" fmla="*/ 33 h 61"/>
                <a:gd name="T10" fmla="*/ 30 w 71"/>
                <a:gd name="T11" fmla="*/ 17 h 61"/>
                <a:gd name="T12" fmla="*/ 41 w 71"/>
                <a:gd name="T13" fmla="*/ 0 h 61"/>
                <a:gd name="T14" fmla="*/ 53 w 71"/>
                <a:gd name="T15" fmla="*/ 8 h 61"/>
                <a:gd name="T16" fmla="*/ 26 w 71"/>
                <a:gd name="T17" fmla="*/ 17 h 61"/>
                <a:gd name="T18" fmla="*/ 21 w 71"/>
                <a:gd name="T19" fmla="*/ 17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6" name="未知"/>
            <p:cNvSpPr>
              <a:spLocks/>
            </p:cNvSpPr>
            <p:nvPr/>
          </p:nvSpPr>
          <p:spPr bwMode="auto">
            <a:xfrm>
              <a:off x="4095" y="1618"/>
              <a:ext cx="17" cy="23"/>
            </a:xfrm>
            <a:custGeom>
              <a:avLst/>
              <a:gdLst>
                <a:gd name="T0" fmla="*/ 7 w 23"/>
                <a:gd name="T1" fmla="*/ 0 h 30"/>
                <a:gd name="T2" fmla="*/ 0 w 23"/>
                <a:gd name="T3" fmla="*/ 11 h 30"/>
                <a:gd name="T4" fmla="*/ 9 w 23"/>
                <a:gd name="T5" fmla="*/ 23 h 30"/>
                <a:gd name="T6" fmla="*/ 7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7" name="未知"/>
            <p:cNvSpPr>
              <a:spLocks/>
            </p:cNvSpPr>
            <p:nvPr/>
          </p:nvSpPr>
          <p:spPr bwMode="auto">
            <a:xfrm>
              <a:off x="4087" y="1596"/>
              <a:ext cx="20" cy="17"/>
            </a:xfrm>
            <a:custGeom>
              <a:avLst/>
              <a:gdLst>
                <a:gd name="T0" fmla="*/ 15 w 26"/>
                <a:gd name="T1" fmla="*/ 0 h 23"/>
                <a:gd name="T2" fmla="*/ 0 w 26"/>
                <a:gd name="T3" fmla="*/ 10 h 23"/>
                <a:gd name="T4" fmla="*/ 16 w 26"/>
                <a:gd name="T5" fmla="*/ 15 h 23"/>
                <a:gd name="T6" fmla="*/ 15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8" name="未知"/>
            <p:cNvSpPr>
              <a:spLocks/>
            </p:cNvSpPr>
            <p:nvPr/>
          </p:nvSpPr>
          <p:spPr bwMode="auto">
            <a:xfrm>
              <a:off x="3934" y="1402"/>
              <a:ext cx="24" cy="33"/>
            </a:xfrm>
            <a:custGeom>
              <a:avLst/>
              <a:gdLst>
                <a:gd name="T0" fmla="*/ 21 w 32"/>
                <a:gd name="T1" fmla="*/ 0 h 44"/>
                <a:gd name="T2" fmla="*/ 8 w 32"/>
                <a:gd name="T3" fmla="*/ 8 h 44"/>
                <a:gd name="T4" fmla="*/ 9 w 32"/>
                <a:gd name="T5" fmla="*/ 24 h 44"/>
                <a:gd name="T6" fmla="*/ 18 w 32"/>
                <a:gd name="T7" fmla="*/ 27 h 44"/>
                <a:gd name="T8" fmla="*/ 21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79" name="未知"/>
            <p:cNvSpPr>
              <a:spLocks/>
            </p:cNvSpPr>
            <p:nvPr/>
          </p:nvSpPr>
          <p:spPr bwMode="auto">
            <a:xfrm>
              <a:off x="3968" y="1445"/>
              <a:ext cx="26" cy="33"/>
            </a:xfrm>
            <a:custGeom>
              <a:avLst/>
              <a:gdLst>
                <a:gd name="T0" fmla="*/ 23 w 34"/>
                <a:gd name="T1" fmla="*/ 0 h 44"/>
                <a:gd name="T2" fmla="*/ 8 w 34"/>
                <a:gd name="T3" fmla="*/ 7 h 44"/>
                <a:gd name="T4" fmla="*/ 11 w 34"/>
                <a:gd name="T5" fmla="*/ 24 h 44"/>
                <a:gd name="T6" fmla="*/ 20 w 34"/>
                <a:gd name="T7" fmla="*/ 27 h 44"/>
                <a:gd name="T8" fmla="*/ 23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0" name="未知"/>
            <p:cNvSpPr>
              <a:spLocks/>
            </p:cNvSpPr>
            <p:nvPr/>
          </p:nvSpPr>
          <p:spPr bwMode="auto">
            <a:xfrm>
              <a:off x="3995" y="1508"/>
              <a:ext cx="28" cy="28"/>
            </a:xfrm>
            <a:custGeom>
              <a:avLst/>
              <a:gdLst>
                <a:gd name="T0" fmla="*/ 25 w 38"/>
                <a:gd name="T1" fmla="*/ 2 h 37"/>
                <a:gd name="T2" fmla="*/ 7 w 38"/>
                <a:gd name="T3" fmla="*/ 2 h 37"/>
                <a:gd name="T4" fmla="*/ 10 w 38"/>
                <a:gd name="T5" fmla="*/ 19 h 37"/>
                <a:gd name="T6" fmla="*/ 19 w 38"/>
                <a:gd name="T7" fmla="*/ 22 h 37"/>
                <a:gd name="T8" fmla="*/ 25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1" name="未知"/>
            <p:cNvSpPr>
              <a:spLocks/>
            </p:cNvSpPr>
            <p:nvPr/>
          </p:nvSpPr>
          <p:spPr bwMode="auto">
            <a:xfrm>
              <a:off x="4029" y="1498"/>
              <a:ext cx="28" cy="26"/>
            </a:xfrm>
            <a:custGeom>
              <a:avLst/>
              <a:gdLst>
                <a:gd name="T0" fmla="*/ 25 w 38"/>
                <a:gd name="T1" fmla="*/ 2 h 34"/>
                <a:gd name="T2" fmla="*/ 7 w 38"/>
                <a:gd name="T3" fmla="*/ 2 h 34"/>
                <a:gd name="T4" fmla="*/ 12 w 38"/>
                <a:gd name="T5" fmla="*/ 17 h 34"/>
                <a:gd name="T6" fmla="*/ 20 w 38"/>
                <a:gd name="T7" fmla="*/ 17 h 34"/>
                <a:gd name="T8" fmla="*/ 25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2" name="未知"/>
            <p:cNvSpPr>
              <a:spLocks/>
            </p:cNvSpPr>
            <p:nvPr/>
          </p:nvSpPr>
          <p:spPr bwMode="auto">
            <a:xfrm>
              <a:off x="4019" y="1462"/>
              <a:ext cx="26" cy="20"/>
            </a:xfrm>
            <a:custGeom>
              <a:avLst/>
              <a:gdLst>
                <a:gd name="T0" fmla="*/ 23 w 35"/>
                <a:gd name="T1" fmla="*/ 1 h 27"/>
                <a:gd name="T2" fmla="*/ 7 w 35"/>
                <a:gd name="T3" fmla="*/ 1 h 27"/>
                <a:gd name="T4" fmla="*/ 10 w 35"/>
                <a:gd name="T5" fmla="*/ 11 h 27"/>
                <a:gd name="T6" fmla="*/ 19 w 35"/>
                <a:gd name="T7" fmla="*/ 14 h 27"/>
                <a:gd name="T8" fmla="*/ 23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3" name="未知"/>
            <p:cNvSpPr>
              <a:spLocks/>
            </p:cNvSpPr>
            <p:nvPr/>
          </p:nvSpPr>
          <p:spPr bwMode="auto">
            <a:xfrm>
              <a:off x="3993" y="1437"/>
              <a:ext cx="26" cy="35"/>
            </a:xfrm>
            <a:custGeom>
              <a:avLst/>
              <a:gdLst>
                <a:gd name="T0" fmla="*/ 21 w 35"/>
                <a:gd name="T1" fmla="*/ 12 h 47"/>
                <a:gd name="T2" fmla="*/ 14 w 35"/>
                <a:gd name="T3" fmla="*/ 1 h 47"/>
                <a:gd name="T4" fmla="*/ 7 w 35"/>
                <a:gd name="T5" fmla="*/ 19 h 47"/>
                <a:gd name="T6" fmla="*/ 14 w 35"/>
                <a:gd name="T7" fmla="*/ 26 h 47"/>
                <a:gd name="T8" fmla="*/ 20 w 35"/>
                <a:gd name="T9" fmla="*/ 22 h 47"/>
                <a:gd name="T10" fmla="*/ 21 w 35"/>
                <a:gd name="T11" fmla="*/ 12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4" name="未知"/>
            <p:cNvSpPr>
              <a:spLocks/>
            </p:cNvSpPr>
            <p:nvPr/>
          </p:nvSpPr>
          <p:spPr bwMode="auto">
            <a:xfrm>
              <a:off x="3961" y="1421"/>
              <a:ext cx="24" cy="26"/>
            </a:xfrm>
            <a:custGeom>
              <a:avLst/>
              <a:gdLst>
                <a:gd name="T0" fmla="*/ 17 w 32"/>
                <a:gd name="T1" fmla="*/ 7 h 35"/>
                <a:gd name="T2" fmla="*/ 8 w 32"/>
                <a:gd name="T3" fmla="*/ 1 h 35"/>
                <a:gd name="T4" fmla="*/ 9 w 32"/>
                <a:gd name="T5" fmla="*/ 17 h 35"/>
                <a:gd name="T6" fmla="*/ 18 w 32"/>
                <a:gd name="T7" fmla="*/ 20 h 35"/>
                <a:gd name="T8" fmla="*/ 17 w 32"/>
                <a:gd name="T9" fmla="*/ 7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5" name="未知"/>
            <p:cNvSpPr>
              <a:spLocks/>
            </p:cNvSpPr>
            <p:nvPr/>
          </p:nvSpPr>
          <p:spPr bwMode="auto">
            <a:xfrm>
              <a:off x="4001" y="1474"/>
              <a:ext cx="24" cy="26"/>
            </a:xfrm>
            <a:custGeom>
              <a:avLst/>
              <a:gdLst>
                <a:gd name="T0" fmla="*/ 17 w 32"/>
                <a:gd name="T1" fmla="*/ 7 h 35"/>
                <a:gd name="T2" fmla="*/ 8 w 32"/>
                <a:gd name="T3" fmla="*/ 1 h 35"/>
                <a:gd name="T4" fmla="*/ 9 w 32"/>
                <a:gd name="T5" fmla="*/ 17 h 35"/>
                <a:gd name="T6" fmla="*/ 18 w 32"/>
                <a:gd name="T7" fmla="*/ 20 h 35"/>
                <a:gd name="T8" fmla="*/ 17 w 32"/>
                <a:gd name="T9" fmla="*/ 7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6" name="未知"/>
            <p:cNvSpPr>
              <a:spLocks/>
            </p:cNvSpPr>
            <p:nvPr/>
          </p:nvSpPr>
          <p:spPr bwMode="auto">
            <a:xfrm>
              <a:off x="2391" y="100"/>
              <a:ext cx="141" cy="108"/>
            </a:xfrm>
            <a:custGeom>
              <a:avLst/>
              <a:gdLst>
                <a:gd name="T0" fmla="*/ 128 w 189"/>
                <a:gd name="T1" fmla="*/ 3 h 144"/>
                <a:gd name="T2" fmla="*/ 138 w 189"/>
                <a:gd name="T3" fmla="*/ 3 h 144"/>
                <a:gd name="T4" fmla="*/ 141 w 189"/>
                <a:gd name="T5" fmla="*/ 12 h 144"/>
                <a:gd name="T6" fmla="*/ 140 w 189"/>
                <a:gd name="T7" fmla="*/ 18 h 144"/>
                <a:gd name="T8" fmla="*/ 98 w 189"/>
                <a:gd name="T9" fmla="*/ 33 h 144"/>
                <a:gd name="T10" fmla="*/ 81 w 189"/>
                <a:gd name="T11" fmla="*/ 44 h 144"/>
                <a:gd name="T12" fmla="*/ 72 w 189"/>
                <a:gd name="T13" fmla="*/ 47 h 144"/>
                <a:gd name="T14" fmla="*/ 53 w 189"/>
                <a:gd name="T15" fmla="*/ 62 h 144"/>
                <a:gd name="T16" fmla="*/ 56 w 189"/>
                <a:gd name="T17" fmla="*/ 69 h 144"/>
                <a:gd name="T18" fmla="*/ 62 w 189"/>
                <a:gd name="T19" fmla="*/ 87 h 144"/>
                <a:gd name="T20" fmla="*/ 80 w 189"/>
                <a:gd name="T21" fmla="*/ 95 h 144"/>
                <a:gd name="T22" fmla="*/ 69 w 189"/>
                <a:gd name="T23" fmla="*/ 105 h 144"/>
                <a:gd name="T24" fmla="*/ 62 w 189"/>
                <a:gd name="T25" fmla="*/ 98 h 144"/>
                <a:gd name="T26" fmla="*/ 53 w 189"/>
                <a:gd name="T27" fmla="*/ 101 h 144"/>
                <a:gd name="T28" fmla="*/ 16 w 189"/>
                <a:gd name="T29" fmla="*/ 92 h 144"/>
                <a:gd name="T30" fmla="*/ 14 w 189"/>
                <a:gd name="T31" fmla="*/ 80 h 144"/>
                <a:gd name="T32" fmla="*/ 35 w 189"/>
                <a:gd name="T33" fmla="*/ 68 h 144"/>
                <a:gd name="T34" fmla="*/ 38 w 189"/>
                <a:gd name="T35" fmla="*/ 57 h 144"/>
                <a:gd name="T36" fmla="*/ 35 w 189"/>
                <a:gd name="T37" fmla="*/ 48 h 144"/>
                <a:gd name="T38" fmla="*/ 54 w 189"/>
                <a:gd name="T39" fmla="*/ 35 h 144"/>
                <a:gd name="T40" fmla="*/ 72 w 189"/>
                <a:gd name="T41" fmla="*/ 27 h 144"/>
                <a:gd name="T42" fmla="*/ 84 w 189"/>
                <a:gd name="T43" fmla="*/ 18 h 144"/>
                <a:gd name="T44" fmla="*/ 128 w 189"/>
                <a:gd name="T45" fmla="*/ 3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7" name="未知"/>
            <p:cNvSpPr>
              <a:spLocks/>
            </p:cNvSpPr>
            <p:nvPr/>
          </p:nvSpPr>
          <p:spPr bwMode="auto">
            <a:xfrm>
              <a:off x="2475" y="204"/>
              <a:ext cx="40" cy="12"/>
            </a:xfrm>
            <a:custGeom>
              <a:avLst/>
              <a:gdLst>
                <a:gd name="T0" fmla="*/ 18 w 53"/>
                <a:gd name="T1" fmla="*/ 0 h 17"/>
                <a:gd name="T2" fmla="*/ 9 w 53"/>
                <a:gd name="T3" fmla="*/ 1 h 17"/>
                <a:gd name="T4" fmla="*/ 24 w 53"/>
                <a:gd name="T5" fmla="*/ 11 h 17"/>
                <a:gd name="T6" fmla="*/ 33 w 53"/>
                <a:gd name="T7" fmla="*/ 10 h 17"/>
                <a:gd name="T8" fmla="*/ 18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8" name="未知"/>
            <p:cNvSpPr>
              <a:spLocks/>
            </p:cNvSpPr>
            <p:nvPr/>
          </p:nvSpPr>
          <p:spPr bwMode="auto">
            <a:xfrm>
              <a:off x="2680" y="48"/>
              <a:ext cx="42" cy="28"/>
            </a:xfrm>
            <a:custGeom>
              <a:avLst/>
              <a:gdLst>
                <a:gd name="T0" fmla="*/ 42 w 57"/>
                <a:gd name="T1" fmla="*/ 3 h 37"/>
                <a:gd name="T2" fmla="*/ 18 w 57"/>
                <a:gd name="T3" fmla="*/ 18 h 37"/>
                <a:gd name="T4" fmla="*/ 8 w 57"/>
                <a:gd name="T5" fmla="*/ 26 h 37"/>
                <a:gd name="T6" fmla="*/ 7 w 57"/>
                <a:gd name="T7" fmla="*/ 3 h 37"/>
                <a:gd name="T8" fmla="*/ 15 w 57"/>
                <a:gd name="T9" fmla="*/ 0 h 37"/>
                <a:gd name="T10" fmla="*/ 42 w 57"/>
                <a:gd name="T11" fmla="*/ 3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89" name="未知"/>
            <p:cNvSpPr>
              <a:spLocks/>
            </p:cNvSpPr>
            <p:nvPr/>
          </p:nvSpPr>
          <p:spPr bwMode="auto">
            <a:xfrm>
              <a:off x="2710" y="61"/>
              <a:ext cx="50" cy="20"/>
            </a:xfrm>
            <a:custGeom>
              <a:avLst/>
              <a:gdLst>
                <a:gd name="T0" fmla="*/ 21 w 68"/>
                <a:gd name="T1" fmla="*/ 0 h 26"/>
                <a:gd name="T2" fmla="*/ 8 w 68"/>
                <a:gd name="T3" fmla="*/ 5 h 26"/>
                <a:gd name="T4" fmla="*/ 42 w 68"/>
                <a:gd name="T5" fmla="*/ 20 h 26"/>
                <a:gd name="T6" fmla="*/ 46 w 68"/>
                <a:gd name="T7" fmla="*/ 18 h 26"/>
                <a:gd name="T8" fmla="*/ 2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0" name="未知"/>
            <p:cNvSpPr>
              <a:spLocks/>
            </p:cNvSpPr>
            <p:nvPr/>
          </p:nvSpPr>
          <p:spPr bwMode="auto">
            <a:xfrm>
              <a:off x="2764" y="64"/>
              <a:ext cx="50" cy="32"/>
            </a:xfrm>
            <a:custGeom>
              <a:avLst/>
              <a:gdLst>
                <a:gd name="T0" fmla="*/ 38 w 66"/>
                <a:gd name="T1" fmla="*/ 7 h 43"/>
                <a:gd name="T2" fmla="*/ 20 w 66"/>
                <a:gd name="T3" fmla="*/ 7 h 43"/>
                <a:gd name="T4" fmla="*/ 8 w 66"/>
                <a:gd name="T5" fmla="*/ 7 h 43"/>
                <a:gd name="T6" fmla="*/ 6 w 66"/>
                <a:gd name="T7" fmla="*/ 26 h 43"/>
                <a:gd name="T8" fmla="*/ 24 w 66"/>
                <a:gd name="T9" fmla="*/ 32 h 43"/>
                <a:gd name="T10" fmla="*/ 47 w 66"/>
                <a:gd name="T11" fmla="*/ 20 h 43"/>
                <a:gd name="T12" fmla="*/ 38 w 66"/>
                <a:gd name="T13" fmla="*/ 7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1" name="未知"/>
            <p:cNvSpPr>
              <a:spLocks/>
            </p:cNvSpPr>
            <p:nvPr/>
          </p:nvSpPr>
          <p:spPr bwMode="auto">
            <a:xfrm>
              <a:off x="3113" y="91"/>
              <a:ext cx="88" cy="31"/>
            </a:xfrm>
            <a:custGeom>
              <a:avLst/>
              <a:gdLst>
                <a:gd name="T0" fmla="*/ 11 w 117"/>
                <a:gd name="T1" fmla="*/ 0 h 41"/>
                <a:gd name="T2" fmla="*/ 6 w 117"/>
                <a:gd name="T3" fmla="*/ 12 h 41"/>
                <a:gd name="T4" fmla="*/ 38 w 117"/>
                <a:gd name="T5" fmla="*/ 23 h 41"/>
                <a:gd name="T6" fmla="*/ 57 w 117"/>
                <a:gd name="T7" fmla="*/ 27 h 41"/>
                <a:gd name="T8" fmla="*/ 84 w 117"/>
                <a:gd name="T9" fmla="*/ 17 h 41"/>
                <a:gd name="T10" fmla="*/ 59 w 117"/>
                <a:gd name="T11" fmla="*/ 3 h 41"/>
                <a:gd name="T12" fmla="*/ 11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2" name="未知"/>
            <p:cNvSpPr>
              <a:spLocks/>
            </p:cNvSpPr>
            <p:nvPr/>
          </p:nvSpPr>
          <p:spPr bwMode="auto">
            <a:xfrm>
              <a:off x="3203" y="90"/>
              <a:ext cx="46" cy="24"/>
            </a:xfrm>
            <a:custGeom>
              <a:avLst/>
              <a:gdLst>
                <a:gd name="T0" fmla="*/ 24 w 62"/>
                <a:gd name="T1" fmla="*/ 3 h 32"/>
                <a:gd name="T2" fmla="*/ 46 w 62"/>
                <a:gd name="T3" fmla="*/ 8 h 32"/>
                <a:gd name="T4" fmla="*/ 22 w 62"/>
                <a:gd name="T5" fmla="*/ 24 h 32"/>
                <a:gd name="T6" fmla="*/ 4 w 62"/>
                <a:gd name="T7" fmla="*/ 17 h 32"/>
                <a:gd name="T8" fmla="*/ 24 w 62"/>
                <a:gd name="T9" fmla="*/ 3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3" name="未知"/>
            <p:cNvSpPr>
              <a:spLocks/>
            </p:cNvSpPr>
            <p:nvPr/>
          </p:nvSpPr>
          <p:spPr bwMode="auto">
            <a:xfrm>
              <a:off x="3182" y="119"/>
              <a:ext cx="37" cy="17"/>
            </a:xfrm>
            <a:custGeom>
              <a:avLst/>
              <a:gdLst>
                <a:gd name="T0" fmla="*/ 15 w 49"/>
                <a:gd name="T1" fmla="*/ 1 h 23"/>
                <a:gd name="T2" fmla="*/ 5 w 49"/>
                <a:gd name="T3" fmla="*/ 4 h 23"/>
                <a:gd name="T4" fmla="*/ 29 w 49"/>
                <a:gd name="T5" fmla="*/ 17 h 23"/>
                <a:gd name="T6" fmla="*/ 15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4" name="未知"/>
            <p:cNvSpPr>
              <a:spLocks/>
            </p:cNvSpPr>
            <p:nvPr/>
          </p:nvSpPr>
          <p:spPr bwMode="auto">
            <a:xfrm>
              <a:off x="3434" y="343"/>
              <a:ext cx="76" cy="114"/>
            </a:xfrm>
            <a:custGeom>
              <a:avLst/>
              <a:gdLst>
                <a:gd name="T0" fmla="*/ 4 w 102"/>
                <a:gd name="T1" fmla="*/ 0 h 152"/>
                <a:gd name="T2" fmla="*/ 0 w 102"/>
                <a:gd name="T3" fmla="*/ 14 h 152"/>
                <a:gd name="T4" fmla="*/ 10 w 102"/>
                <a:gd name="T5" fmla="*/ 32 h 152"/>
                <a:gd name="T6" fmla="*/ 24 w 102"/>
                <a:gd name="T7" fmla="*/ 54 h 152"/>
                <a:gd name="T8" fmla="*/ 27 w 102"/>
                <a:gd name="T9" fmla="*/ 78 h 152"/>
                <a:gd name="T10" fmla="*/ 60 w 102"/>
                <a:gd name="T11" fmla="*/ 114 h 152"/>
                <a:gd name="T12" fmla="*/ 64 w 102"/>
                <a:gd name="T13" fmla="*/ 93 h 152"/>
                <a:gd name="T14" fmla="*/ 55 w 102"/>
                <a:gd name="T15" fmla="*/ 77 h 152"/>
                <a:gd name="T16" fmla="*/ 46 w 102"/>
                <a:gd name="T17" fmla="*/ 69 h 152"/>
                <a:gd name="T18" fmla="*/ 39 w 102"/>
                <a:gd name="T19" fmla="*/ 56 h 152"/>
                <a:gd name="T20" fmla="*/ 31 w 102"/>
                <a:gd name="T21" fmla="*/ 33 h 152"/>
                <a:gd name="T22" fmla="*/ 3 w 102"/>
                <a:gd name="T23" fmla="*/ 9 h 152"/>
                <a:gd name="T24" fmla="*/ 4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5" name="未知"/>
            <p:cNvSpPr>
              <a:spLocks/>
            </p:cNvSpPr>
            <p:nvPr/>
          </p:nvSpPr>
          <p:spPr bwMode="auto">
            <a:xfrm>
              <a:off x="3495" y="461"/>
              <a:ext cx="55" cy="78"/>
            </a:xfrm>
            <a:custGeom>
              <a:avLst/>
              <a:gdLst>
                <a:gd name="T0" fmla="*/ 48 w 74"/>
                <a:gd name="T1" fmla="*/ 17 h 103"/>
                <a:gd name="T2" fmla="*/ 55 w 74"/>
                <a:gd name="T3" fmla="*/ 30 h 103"/>
                <a:gd name="T4" fmla="*/ 22 w 74"/>
                <a:gd name="T5" fmla="*/ 64 h 103"/>
                <a:gd name="T6" fmla="*/ 24 w 74"/>
                <a:gd name="T7" fmla="*/ 76 h 103"/>
                <a:gd name="T8" fmla="*/ 15 w 74"/>
                <a:gd name="T9" fmla="*/ 71 h 103"/>
                <a:gd name="T10" fmla="*/ 4 w 74"/>
                <a:gd name="T11" fmla="*/ 64 h 103"/>
                <a:gd name="T12" fmla="*/ 0 w 74"/>
                <a:gd name="T13" fmla="*/ 62 h 103"/>
                <a:gd name="T14" fmla="*/ 7 w 74"/>
                <a:gd name="T15" fmla="*/ 44 h 103"/>
                <a:gd name="T16" fmla="*/ 9 w 74"/>
                <a:gd name="T17" fmla="*/ 39 h 103"/>
                <a:gd name="T18" fmla="*/ 1 w 74"/>
                <a:gd name="T19" fmla="*/ 18 h 103"/>
                <a:gd name="T20" fmla="*/ 3 w 74"/>
                <a:gd name="T21" fmla="*/ 11 h 103"/>
                <a:gd name="T22" fmla="*/ 19 w 74"/>
                <a:gd name="T23" fmla="*/ 17 h 103"/>
                <a:gd name="T24" fmla="*/ 27 w 74"/>
                <a:gd name="T25" fmla="*/ 27 h 103"/>
                <a:gd name="T26" fmla="*/ 48 w 74"/>
                <a:gd name="T27" fmla="*/ 17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6" name="未知"/>
            <p:cNvSpPr>
              <a:spLocks/>
            </p:cNvSpPr>
            <p:nvPr/>
          </p:nvSpPr>
          <p:spPr bwMode="auto">
            <a:xfrm>
              <a:off x="3459" y="541"/>
              <a:ext cx="109" cy="189"/>
            </a:xfrm>
            <a:custGeom>
              <a:avLst/>
              <a:gdLst>
                <a:gd name="T0" fmla="*/ 61 w 146"/>
                <a:gd name="T1" fmla="*/ 75 h 252"/>
                <a:gd name="T2" fmla="*/ 49 w 146"/>
                <a:gd name="T3" fmla="*/ 80 h 252"/>
                <a:gd name="T4" fmla="*/ 48 w 146"/>
                <a:gd name="T5" fmla="*/ 99 h 252"/>
                <a:gd name="T6" fmla="*/ 16 w 146"/>
                <a:gd name="T7" fmla="*/ 110 h 252"/>
                <a:gd name="T8" fmla="*/ 6 w 146"/>
                <a:gd name="T9" fmla="*/ 126 h 252"/>
                <a:gd name="T10" fmla="*/ 15 w 146"/>
                <a:gd name="T11" fmla="*/ 137 h 252"/>
                <a:gd name="T12" fmla="*/ 6 w 146"/>
                <a:gd name="T13" fmla="*/ 149 h 252"/>
                <a:gd name="T14" fmla="*/ 18 w 146"/>
                <a:gd name="T15" fmla="*/ 189 h 252"/>
                <a:gd name="T16" fmla="*/ 21 w 146"/>
                <a:gd name="T17" fmla="*/ 161 h 252"/>
                <a:gd name="T18" fmla="*/ 16 w 146"/>
                <a:gd name="T19" fmla="*/ 144 h 252"/>
                <a:gd name="T20" fmla="*/ 31 w 146"/>
                <a:gd name="T21" fmla="*/ 132 h 252"/>
                <a:gd name="T22" fmla="*/ 39 w 146"/>
                <a:gd name="T23" fmla="*/ 119 h 252"/>
                <a:gd name="T24" fmla="*/ 49 w 146"/>
                <a:gd name="T25" fmla="*/ 131 h 252"/>
                <a:gd name="T26" fmla="*/ 33 w 146"/>
                <a:gd name="T27" fmla="*/ 143 h 252"/>
                <a:gd name="T28" fmla="*/ 42 w 146"/>
                <a:gd name="T29" fmla="*/ 150 h 252"/>
                <a:gd name="T30" fmla="*/ 51 w 146"/>
                <a:gd name="T31" fmla="*/ 134 h 252"/>
                <a:gd name="T32" fmla="*/ 63 w 146"/>
                <a:gd name="T33" fmla="*/ 138 h 252"/>
                <a:gd name="T34" fmla="*/ 78 w 146"/>
                <a:gd name="T35" fmla="*/ 111 h 252"/>
                <a:gd name="T36" fmla="*/ 85 w 146"/>
                <a:gd name="T37" fmla="*/ 117 h 252"/>
                <a:gd name="T38" fmla="*/ 102 w 146"/>
                <a:gd name="T39" fmla="*/ 111 h 252"/>
                <a:gd name="T40" fmla="*/ 109 w 146"/>
                <a:gd name="T41" fmla="*/ 98 h 252"/>
                <a:gd name="T42" fmla="*/ 106 w 146"/>
                <a:gd name="T43" fmla="*/ 83 h 252"/>
                <a:gd name="T44" fmla="*/ 100 w 146"/>
                <a:gd name="T45" fmla="*/ 74 h 252"/>
                <a:gd name="T46" fmla="*/ 91 w 146"/>
                <a:gd name="T47" fmla="*/ 30 h 252"/>
                <a:gd name="T48" fmla="*/ 70 w 146"/>
                <a:gd name="T49" fmla="*/ 0 h 252"/>
                <a:gd name="T50" fmla="*/ 58 w 146"/>
                <a:gd name="T51" fmla="*/ 9 h 252"/>
                <a:gd name="T52" fmla="*/ 72 w 146"/>
                <a:gd name="T53" fmla="*/ 26 h 252"/>
                <a:gd name="T54" fmla="*/ 72 w 146"/>
                <a:gd name="T55" fmla="*/ 48 h 252"/>
                <a:gd name="T56" fmla="*/ 61 w 146"/>
                <a:gd name="T57" fmla="*/ 75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7" name="未知"/>
            <p:cNvSpPr>
              <a:spLocks/>
            </p:cNvSpPr>
            <p:nvPr/>
          </p:nvSpPr>
          <p:spPr bwMode="auto">
            <a:xfrm>
              <a:off x="2398" y="37"/>
              <a:ext cx="52" cy="30"/>
            </a:xfrm>
            <a:custGeom>
              <a:avLst/>
              <a:gdLst>
                <a:gd name="T0" fmla="*/ 44 w 70"/>
                <a:gd name="T1" fmla="*/ 0 h 40"/>
                <a:gd name="T2" fmla="*/ 48 w 70"/>
                <a:gd name="T3" fmla="*/ 15 h 40"/>
                <a:gd name="T4" fmla="*/ 30 w 70"/>
                <a:gd name="T5" fmla="*/ 18 h 40"/>
                <a:gd name="T6" fmla="*/ 23 w 70"/>
                <a:gd name="T7" fmla="*/ 30 h 40"/>
                <a:gd name="T8" fmla="*/ 5 w 70"/>
                <a:gd name="T9" fmla="*/ 29 h 40"/>
                <a:gd name="T10" fmla="*/ 1 w 70"/>
                <a:gd name="T11" fmla="*/ 27 h 40"/>
                <a:gd name="T12" fmla="*/ 25 w 70"/>
                <a:gd name="T13" fmla="*/ 15 h 40"/>
                <a:gd name="T14" fmla="*/ 44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8" name="未知"/>
            <p:cNvSpPr>
              <a:spLocks/>
            </p:cNvSpPr>
            <p:nvPr/>
          </p:nvSpPr>
          <p:spPr bwMode="auto">
            <a:xfrm>
              <a:off x="2291" y="46"/>
              <a:ext cx="19" cy="22"/>
            </a:xfrm>
            <a:custGeom>
              <a:avLst/>
              <a:gdLst>
                <a:gd name="T0" fmla="*/ 13 w 26"/>
                <a:gd name="T1" fmla="*/ 0 h 29"/>
                <a:gd name="T2" fmla="*/ 0 w 26"/>
                <a:gd name="T3" fmla="*/ 14 h 29"/>
                <a:gd name="T4" fmla="*/ 13 w 26"/>
                <a:gd name="T5" fmla="*/ 20 h 29"/>
                <a:gd name="T6" fmla="*/ 13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99" name="未知"/>
            <p:cNvSpPr>
              <a:spLocks/>
            </p:cNvSpPr>
            <p:nvPr/>
          </p:nvSpPr>
          <p:spPr bwMode="auto">
            <a:xfrm>
              <a:off x="2315" y="45"/>
              <a:ext cx="37" cy="27"/>
            </a:xfrm>
            <a:custGeom>
              <a:avLst/>
              <a:gdLst>
                <a:gd name="T0" fmla="*/ 11 w 49"/>
                <a:gd name="T1" fmla="*/ 5 h 36"/>
                <a:gd name="T2" fmla="*/ 0 w 49"/>
                <a:gd name="T3" fmla="*/ 14 h 36"/>
                <a:gd name="T4" fmla="*/ 5 w 49"/>
                <a:gd name="T5" fmla="*/ 24 h 36"/>
                <a:gd name="T6" fmla="*/ 14 w 49"/>
                <a:gd name="T7" fmla="*/ 27 h 36"/>
                <a:gd name="T8" fmla="*/ 30 w 49"/>
                <a:gd name="T9" fmla="*/ 20 h 36"/>
                <a:gd name="T10" fmla="*/ 11 w 49"/>
                <a:gd name="T11" fmla="*/ 5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0" name="未知"/>
            <p:cNvSpPr>
              <a:spLocks/>
            </p:cNvSpPr>
            <p:nvPr/>
          </p:nvSpPr>
          <p:spPr bwMode="auto">
            <a:xfrm>
              <a:off x="2376" y="36"/>
              <a:ext cx="20" cy="16"/>
            </a:xfrm>
            <a:custGeom>
              <a:avLst/>
              <a:gdLst>
                <a:gd name="T0" fmla="*/ 8 w 27"/>
                <a:gd name="T1" fmla="*/ 0 h 22"/>
                <a:gd name="T2" fmla="*/ 2 w 27"/>
                <a:gd name="T3" fmla="*/ 9 h 22"/>
                <a:gd name="T4" fmla="*/ 14 w 27"/>
                <a:gd name="T5" fmla="*/ 16 h 22"/>
                <a:gd name="T6" fmla="*/ 8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1" name="未知"/>
            <p:cNvSpPr>
              <a:spLocks/>
            </p:cNvSpPr>
            <p:nvPr/>
          </p:nvSpPr>
          <p:spPr bwMode="auto">
            <a:xfrm>
              <a:off x="2358" y="54"/>
              <a:ext cx="15" cy="13"/>
            </a:xfrm>
            <a:custGeom>
              <a:avLst/>
              <a:gdLst>
                <a:gd name="T0" fmla="*/ 8 w 20"/>
                <a:gd name="T1" fmla="*/ 0 h 18"/>
                <a:gd name="T2" fmla="*/ 7 w 20"/>
                <a:gd name="T3" fmla="*/ 13 h 18"/>
                <a:gd name="T4" fmla="*/ 8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2" name="未知"/>
            <p:cNvSpPr>
              <a:spLocks/>
            </p:cNvSpPr>
            <p:nvPr/>
          </p:nvSpPr>
          <p:spPr bwMode="auto">
            <a:xfrm>
              <a:off x="3498" y="70"/>
              <a:ext cx="18" cy="33"/>
            </a:xfrm>
            <a:custGeom>
              <a:avLst/>
              <a:gdLst>
                <a:gd name="T0" fmla="*/ 18 w 24"/>
                <a:gd name="T1" fmla="*/ 0 h 44"/>
                <a:gd name="T2" fmla="*/ 6 w 24"/>
                <a:gd name="T3" fmla="*/ 12 h 44"/>
                <a:gd name="T4" fmla="*/ 0 w 24"/>
                <a:gd name="T5" fmla="*/ 26 h 44"/>
                <a:gd name="T6" fmla="*/ 12 w 24"/>
                <a:gd name="T7" fmla="*/ 30 h 44"/>
                <a:gd name="T8" fmla="*/ 18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3" name="未知"/>
            <p:cNvSpPr>
              <a:spLocks/>
            </p:cNvSpPr>
            <p:nvPr/>
          </p:nvSpPr>
          <p:spPr bwMode="auto">
            <a:xfrm>
              <a:off x="2614" y="1522"/>
              <a:ext cx="31" cy="18"/>
            </a:xfrm>
            <a:custGeom>
              <a:avLst/>
              <a:gdLst>
                <a:gd name="T0" fmla="*/ 23 w 41"/>
                <a:gd name="T1" fmla="*/ 0 h 24"/>
                <a:gd name="T2" fmla="*/ 20 w 41"/>
                <a:gd name="T3" fmla="*/ 18 h 24"/>
                <a:gd name="T4" fmla="*/ 23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4" name="未知"/>
            <p:cNvSpPr>
              <a:spLocks/>
            </p:cNvSpPr>
            <p:nvPr/>
          </p:nvSpPr>
          <p:spPr bwMode="auto">
            <a:xfrm>
              <a:off x="2654" y="1515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5" name="未知"/>
            <p:cNvSpPr>
              <a:spLocks/>
            </p:cNvSpPr>
            <p:nvPr/>
          </p:nvSpPr>
          <p:spPr bwMode="auto">
            <a:xfrm>
              <a:off x="2587" y="1361"/>
              <a:ext cx="9" cy="15"/>
            </a:xfrm>
            <a:custGeom>
              <a:avLst/>
              <a:gdLst>
                <a:gd name="T0" fmla="*/ 7 w 13"/>
                <a:gd name="T1" fmla="*/ 4 h 20"/>
                <a:gd name="T2" fmla="*/ 1 w 13"/>
                <a:gd name="T3" fmla="*/ 8 h 20"/>
                <a:gd name="T4" fmla="*/ 6 w 13"/>
                <a:gd name="T5" fmla="*/ 15 h 20"/>
                <a:gd name="T6" fmla="*/ 7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6" name="未知"/>
            <p:cNvSpPr>
              <a:spLocks/>
            </p:cNvSpPr>
            <p:nvPr/>
          </p:nvSpPr>
          <p:spPr bwMode="auto">
            <a:xfrm>
              <a:off x="2647" y="1288"/>
              <a:ext cx="11" cy="19"/>
            </a:xfrm>
            <a:custGeom>
              <a:avLst/>
              <a:gdLst>
                <a:gd name="T0" fmla="*/ 5 w 14"/>
                <a:gd name="T1" fmla="*/ 0 h 25"/>
                <a:gd name="T2" fmla="*/ 0 w 14"/>
                <a:gd name="T3" fmla="*/ 10 h 25"/>
                <a:gd name="T4" fmla="*/ 9 w 14"/>
                <a:gd name="T5" fmla="*/ 18 h 25"/>
                <a:gd name="T6" fmla="*/ 5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7" name="未知"/>
            <p:cNvSpPr>
              <a:spLocks/>
            </p:cNvSpPr>
            <p:nvPr/>
          </p:nvSpPr>
          <p:spPr bwMode="auto">
            <a:xfrm>
              <a:off x="2623" y="1287"/>
              <a:ext cx="11" cy="19"/>
            </a:xfrm>
            <a:custGeom>
              <a:avLst/>
              <a:gdLst>
                <a:gd name="T0" fmla="*/ 5 w 14"/>
                <a:gd name="T1" fmla="*/ 0 h 25"/>
                <a:gd name="T2" fmla="*/ 0 w 14"/>
                <a:gd name="T3" fmla="*/ 10 h 25"/>
                <a:gd name="T4" fmla="*/ 9 w 14"/>
                <a:gd name="T5" fmla="*/ 18 h 25"/>
                <a:gd name="T6" fmla="*/ 5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8" name="未知"/>
            <p:cNvSpPr>
              <a:spLocks/>
            </p:cNvSpPr>
            <p:nvPr/>
          </p:nvSpPr>
          <p:spPr bwMode="auto">
            <a:xfrm>
              <a:off x="2612" y="1309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09" name="未知"/>
            <p:cNvSpPr>
              <a:spLocks/>
            </p:cNvSpPr>
            <p:nvPr/>
          </p:nvSpPr>
          <p:spPr bwMode="auto">
            <a:xfrm>
              <a:off x="2587" y="1343"/>
              <a:ext cx="9" cy="15"/>
            </a:xfrm>
            <a:custGeom>
              <a:avLst/>
              <a:gdLst>
                <a:gd name="T0" fmla="*/ 7 w 13"/>
                <a:gd name="T1" fmla="*/ 4 h 20"/>
                <a:gd name="T2" fmla="*/ 1 w 13"/>
                <a:gd name="T3" fmla="*/ 8 h 20"/>
                <a:gd name="T4" fmla="*/ 6 w 13"/>
                <a:gd name="T5" fmla="*/ 15 h 20"/>
                <a:gd name="T6" fmla="*/ 7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10" name="未知"/>
            <p:cNvSpPr>
              <a:spLocks/>
            </p:cNvSpPr>
            <p:nvPr/>
          </p:nvSpPr>
          <p:spPr bwMode="auto">
            <a:xfrm>
              <a:off x="2606" y="1330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11" name="未知"/>
            <p:cNvSpPr>
              <a:spLocks/>
            </p:cNvSpPr>
            <p:nvPr/>
          </p:nvSpPr>
          <p:spPr bwMode="auto">
            <a:xfrm>
              <a:off x="1873" y="342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12" name="未知"/>
            <p:cNvSpPr>
              <a:spLocks/>
            </p:cNvSpPr>
            <p:nvPr/>
          </p:nvSpPr>
          <p:spPr bwMode="auto">
            <a:xfrm>
              <a:off x="1812" y="308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113" name="未知"/>
            <p:cNvSpPr>
              <a:spLocks/>
            </p:cNvSpPr>
            <p:nvPr/>
          </p:nvSpPr>
          <p:spPr bwMode="auto">
            <a:xfrm>
              <a:off x="1574" y="91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</p:grpSp>
      <p:pic>
        <p:nvPicPr>
          <p:cNvPr id="114" name="Picture 112" descr="artplus_nature_naturalcity42_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450" y="3167063"/>
            <a:ext cx="4425950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" name="Picture 113" descr="artplus_nature_naturalcity42_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6425" y="3352800"/>
            <a:ext cx="165417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" name="Picture 114" descr="artplus_nature_naturalcity42_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2895600"/>
            <a:ext cx="111283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" name="Picture 115" descr="artplus_nature_naturalcity42_f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4594225"/>
            <a:ext cx="4911725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" name="Picture 118" descr="artplus_nature_naturalcity42_b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888" y="3097213"/>
            <a:ext cx="29718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" name="Picture 119" descr="artplus_nature_naturalcity42_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993900"/>
            <a:ext cx="154622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" name="Picture 120" descr="artplus_nature_naturalcity42_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100" y="2862263"/>
            <a:ext cx="6238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" name="Picture 121" descr="a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9900" y="95250"/>
            <a:ext cx="1803400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" name="Picture 122" descr="b_1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450" y="1968500"/>
            <a:ext cx="10795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" name="Picture 123" descr="aa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188913"/>
            <a:ext cx="26384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88" name="Rectangle 116"/>
          <p:cNvSpPr>
            <a:spLocks noGrp="1" noChangeArrowheads="1"/>
          </p:cNvSpPr>
          <p:nvPr>
            <p:ph type="ctrTitle"/>
          </p:nvPr>
        </p:nvSpPr>
        <p:spPr>
          <a:xfrm>
            <a:off x="304800" y="4419600"/>
            <a:ext cx="6400800" cy="1143000"/>
          </a:xfrm>
        </p:spPr>
        <p:txBody>
          <a:bodyPr/>
          <a:lstStyle>
            <a:lvl1pPr>
              <a:defRPr sz="4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zh-CN" noProof="0" smtClean="0"/>
              <a:t>Click to edit Master title style</a:t>
            </a:r>
          </a:p>
        </p:txBody>
      </p:sp>
      <p:sp>
        <p:nvSpPr>
          <p:cNvPr id="3189" name="Rectangle 117"/>
          <p:cNvSpPr>
            <a:spLocks noGrp="1" noChangeArrowheads="1"/>
          </p:cNvSpPr>
          <p:nvPr>
            <p:ph type="subTitle" idx="1"/>
          </p:nvPr>
        </p:nvSpPr>
        <p:spPr>
          <a:xfrm>
            <a:off x="304800" y="5715000"/>
            <a:ext cx="4340225" cy="381000"/>
          </a:xfrm>
        </p:spPr>
        <p:txBody>
          <a:bodyPr/>
          <a:lstStyle>
            <a:lvl1pPr marL="0" indent="0" algn="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zh-CN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70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37743E-6 L -0.21076 0.0478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8200" y="240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3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81481E-6 C -0.08906 0.01505 -0.38802 0.03033 -0.53472 0.09075 C -0.68142 0.15116 -0.81198 0.322 -0.88055 0.36297 C -0.94913 0.40394 -0.93229 0.34237 -0.94583 0.33704 " pathEditMode="relative" rAng="0" ptsTypes="aaaa">
                                      <p:cBhvr>
                                        <p:cTn id="39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45200" y="202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4629 C -0.07778 0.05393 -0.34948 0.0956 -0.46667 0.09166 C -0.58385 0.08773 -0.63611 -0.0007 -0.70278 0.02314 C -0.76944 0.04699 -0.83247 0.19027 -0.86667 0.23426 " pathEditMode="relative" rAng="0" ptsTypes="aaaa">
                                      <p:cBhvr>
                                        <p:cTn id="41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41000" y="7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1800"/>
                            </p:stCondLst>
                            <p:childTnLst>
                              <p:par>
                                <p:cTn id="4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grpSp>
        <p:nvGrpSpPr>
          <p:cNvPr id="3" name="Group 11"/>
          <p:cNvGrpSpPr>
            <a:grpSpLocks/>
          </p:cNvGrpSpPr>
          <p:nvPr userDrawn="1"/>
        </p:nvGrpSpPr>
        <p:grpSpPr bwMode="auto">
          <a:xfrm>
            <a:off x="257175" y="561975"/>
            <a:ext cx="3384550" cy="600075"/>
            <a:chOff x="0" y="0"/>
            <a:chExt cx="7484" cy="1474"/>
          </a:xfrm>
        </p:grpSpPr>
        <p:sp>
          <p:nvSpPr>
            <p:cNvPr id="4" name="Line 12"/>
            <p:cNvSpPr>
              <a:spLocks noChangeShapeType="1"/>
            </p:cNvSpPr>
            <p:nvPr userDrawn="1"/>
          </p:nvSpPr>
          <p:spPr bwMode="auto">
            <a:xfrm>
              <a:off x="418" y="0"/>
              <a:ext cx="1" cy="1475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  <p:sp>
          <p:nvSpPr>
            <p:cNvPr id="5" name="Line 13"/>
            <p:cNvSpPr>
              <a:spLocks noChangeShapeType="1"/>
            </p:cNvSpPr>
            <p:nvPr userDrawn="1"/>
          </p:nvSpPr>
          <p:spPr bwMode="auto">
            <a:xfrm flipV="1">
              <a:off x="0" y="1021"/>
              <a:ext cx="7485" cy="1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8080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4639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608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61"/>
          <a:stretch>
            <a:fillRect/>
          </a:stretch>
        </p:blipFill>
        <p:spPr bwMode="auto">
          <a:xfrm>
            <a:off x="0" y="6340475"/>
            <a:ext cx="91440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0"/>
            <a:ext cx="9144000" cy="1219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80808"/>
              </a:solidFill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aa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86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Click to edit Master title style</a:t>
            </a:r>
          </a:p>
        </p:txBody>
      </p:sp>
      <p:sp>
        <p:nvSpPr>
          <p:cNvPr id="2054" name="Text Box 6"/>
          <p:cNvSpPr txBox="1">
            <a:spLocks noChangeArrowheads="1"/>
          </p:cNvSpPr>
          <p:nvPr userDrawn="1"/>
        </p:nvSpPr>
        <p:spPr bwMode="auto">
          <a:xfrm>
            <a:off x="838200" y="6491288"/>
            <a:ext cx="7010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zh-CN" altLang="en-US">
              <a:solidFill>
                <a:srgbClr val="080808"/>
              </a:solidFill>
            </a:endParaRPr>
          </a:p>
        </p:txBody>
      </p:sp>
      <p:grpSp>
        <p:nvGrpSpPr>
          <p:cNvPr id="2055" name="Group 7"/>
          <p:cNvGrpSpPr>
            <a:grpSpLocks/>
          </p:cNvGrpSpPr>
          <p:nvPr userDrawn="1"/>
        </p:nvGrpSpPr>
        <p:grpSpPr bwMode="auto">
          <a:xfrm>
            <a:off x="457200" y="6564313"/>
            <a:ext cx="8229600" cy="476250"/>
            <a:chOff x="0" y="0"/>
            <a:chExt cx="12960" cy="750"/>
          </a:xfrm>
        </p:grpSpPr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336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fld id="{3B4D7BD5-0F63-4A0A-8B89-257C78EE11E5}" type="datetime1">
                <a:rPr lang="zh-CN" altLang="en-US" sz="1200" b="1">
                  <a:solidFill>
                    <a:srgbClr val="FFFFFF"/>
                  </a:solidFill>
                  <a:latin typeface="新宋体" pitchFamily="49" charset="-122"/>
                  <a:ea typeface="新宋体" pitchFamily="49" charset="-122"/>
                </a:rPr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t>2014/5/26</a:t>
              </a:fld>
              <a:endParaRPr lang="en-US" altLang="zh-CN" sz="1200" b="1">
                <a:solidFill>
                  <a:srgbClr val="FFFFFF"/>
                </a:solidFill>
                <a:latin typeface="新宋体" pitchFamily="49" charset="-122"/>
                <a:ea typeface="新宋体" pitchFamily="49" charset="-122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9600" y="0"/>
              <a:ext cx="336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fld id="{F229ACA4-D2AF-4D81-A036-9767F717FC41}" type="slidenum">
                <a:rPr lang="zh-CN" altLang="en-US" sz="1200" b="1">
                  <a:solidFill>
                    <a:srgbClr val="FFFFFF"/>
                  </a:solidFill>
                  <a:latin typeface="新宋体" pitchFamily="49" charset="-122"/>
                  <a:ea typeface="新宋体" pitchFamily="49" charset="-122"/>
                </a:rPr>
                <a:pPr algn="r" fontAlgn="base">
                  <a:spcBef>
                    <a:spcPct val="0"/>
                  </a:spcBef>
                  <a:spcAft>
                    <a:spcPct val="0"/>
                  </a:spcAft>
                </a:pPr>
                <a:t>‹#›</a:t>
              </a:fld>
              <a:r>
                <a:rPr lang="en-US" altLang="zh-CN" sz="1200" b="1">
                  <a:solidFill>
                    <a:srgbClr val="FFFFFF"/>
                  </a:solidFill>
                  <a:latin typeface="新宋体" pitchFamily="49" charset="-122"/>
                  <a:ea typeface="新宋体" pitchFamily="49" charset="-122"/>
                </a:rPr>
                <a:t> / 54</a:t>
              </a: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4200" y="0"/>
              <a:ext cx="456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b="1" dirty="0" smtClean="0">
                  <a:solidFill>
                    <a:srgbClr val="FFFFFF"/>
                  </a:solidFill>
                  <a:latin typeface="新宋体" pitchFamily="49" charset="-122"/>
                  <a:ea typeface="新宋体" pitchFamily="49" charset="-122"/>
                </a:rPr>
                <a:t>第五章  大数定律和中心极限定理</a:t>
              </a:r>
              <a:endParaRPr lang="en-US" sz="1200" b="1" dirty="0">
                <a:solidFill>
                  <a:srgbClr val="FFFFFF"/>
                </a:solidFill>
                <a:latin typeface="新宋体" pitchFamily="49" charset="-122"/>
                <a:ea typeface="新宋体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7909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75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29.png"/><Relationship Id="rId7" Type="http://schemas.openxmlformats.org/officeDocument/2006/relationships/image" Target="../media/image27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2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6.wmf"/><Relationship Id="rId11" Type="http://schemas.openxmlformats.org/officeDocument/2006/relationships/image" Target="../media/image39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概率论与数理统计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2011-2012-2    </a:t>
            </a:r>
          </a:p>
          <a:p>
            <a:pPr eaLnBrk="1" hangingPunct="1"/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95376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066800" y="1143000"/>
            <a:ext cx="8077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3600" b="1" dirty="0">
                <a:latin typeface="隶书" pitchFamily="49" charset="-122"/>
                <a:ea typeface="隶书" pitchFamily="49" charset="-122"/>
              </a:rPr>
              <a:t>第五章 大数定律及中心极限定理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209800" y="2513013"/>
            <a:ext cx="487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6272E6"/>
                </a:solidFill>
                <a:latin typeface="Times New Roman" pitchFamily="18" charset="0"/>
                <a:ea typeface="隶书" pitchFamily="49" charset="-122"/>
              </a:rPr>
              <a:t>§1   大数定律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209800" y="3579813"/>
            <a:ext cx="5181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600" b="1">
                <a:solidFill>
                  <a:srgbClr val="6272E6"/>
                </a:solidFill>
                <a:latin typeface="Times New Roman" pitchFamily="18" charset="0"/>
                <a:ea typeface="隶书" pitchFamily="49" charset="-122"/>
              </a:rPr>
              <a:t>§2   中心极限定理</a:t>
            </a:r>
          </a:p>
        </p:txBody>
      </p:sp>
    </p:spTree>
    <p:extLst>
      <p:ext uri="{BB962C8B-B14F-4D97-AF65-F5344CB8AC3E}">
        <p14:creationId xmlns:p14="http://schemas.microsoft.com/office/powerpoint/2010/main" val="200134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黑体"/>
                <a:ea typeface="黑体"/>
              </a:rPr>
              <a:t>§5.1 </a:t>
            </a:r>
            <a:r>
              <a:rPr lang="zh-CN" altLang="en-US" dirty="0" smtClean="0">
                <a:latin typeface="黑体"/>
                <a:ea typeface="黑体"/>
              </a:rPr>
              <a:t>大数定律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11560" y="1617226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引入</a:t>
            </a:r>
            <a:endParaRPr lang="zh-CN" altLang="en-US" sz="3200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7704" y="1617226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+mn-ea"/>
              </a:rPr>
              <a:t>多次测量取平均值</a:t>
            </a:r>
            <a:endParaRPr lang="zh-CN" altLang="en-US" sz="2800" b="1" dirty="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817874" y="2453796"/>
                <a:ext cx="3924536" cy="8989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altLang="zh-CN" sz="280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</a:rPr>
                        <m:t>⟶</m:t>
                      </m:r>
                      <m:r>
                        <a:rPr lang="en-US" altLang="zh-CN" sz="2800" b="0" i="1" smtClean="0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US" altLang="zh-CN" sz="28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zh-CN" alt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874" y="2453796"/>
                <a:ext cx="3924536" cy="8989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11560" y="3780329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引入</a:t>
            </a:r>
            <a:endParaRPr lang="zh-CN" altLang="en-US" sz="3200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7704" y="3780329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+mn-ea"/>
              </a:rPr>
              <a:t>频率的稳定值</a:t>
            </a:r>
            <a:r>
              <a:rPr lang="en-US" altLang="zh-CN" sz="2800" b="1" dirty="0" smtClean="0">
                <a:latin typeface="+mn-ea"/>
              </a:rPr>
              <a:t>---</a:t>
            </a:r>
            <a:r>
              <a:rPr lang="zh-CN" altLang="en-US" sz="2800" b="1" dirty="0" smtClean="0">
                <a:latin typeface="+mn-ea"/>
              </a:rPr>
              <a:t>概率</a:t>
            </a:r>
            <a:endParaRPr lang="zh-CN" altLang="en-US" sz="2800" b="1" dirty="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697635" y="4618332"/>
                <a:ext cx="1569532" cy="8302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altLang="zh-CN" sz="2800" i="1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</a:rPr>
                        <m:t>⟶</m:t>
                      </m:r>
                      <m:r>
                        <a:rPr lang="en-US" altLang="zh-CN" sz="2800" b="0" i="1" smtClean="0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</a:rPr>
                        <m:t>𝑝</m:t>
                      </m:r>
                      <m:r>
                        <a:rPr lang="en-US" altLang="zh-CN" sz="28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zh-CN" alt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635" y="4618332"/>
                <a:ext cx="1569532" cy="83022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245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503094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19672" y="503094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  <a:latin typeface="+mn-ea"/>
              </a:rPr>
              <a:t>依</a:t>
            </a:r>
            <a:r>
              <a:rPr lang="zh-CN" altLang="en-US" sz="3200" b="1" dirty="0" smtClean="0">
                <a:solidFill>
                  <a:srgbClr val="7030A0"/>
                </a:solidFill>
                <a:latin typeface="+mn-ea"/>
              </a:rPr>
              <a:t>概率收敛</a:t>
            </a:r>
            <a:endParaRPr lang="zh-CN" altLang="en-US" sz="3200" b="1" dirty="0">
              <a:solidFill>
                <a:srgbClr val="7030A0"/>
              </a:solidFill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11560" y="1124744"/>
                <a:ext cx="698477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zh-CN" altLang="en-US" sz="2800" b="1" dirty="0" smtClean="0"/>
                  <a:t>为随机变量序列，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𝒂</m:t>
                    </m:r>
                  </m:oMath>
                </a14:m>
                <a:r>
                  <a:rPr lang="zh-CN" altLang="en-US" sz="2800" b="1" dirty="0" smtClean="0"/>
                  <a:t>为常数。</a:t>
                </a:r>
                <a:endParaRPr lang="en-US" altLang="zh-CN" sz="2800" b="1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/>
                  <a:t>如果对任意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𝝐</m:t>
                    </m:r>
                    <m:r>
                      <a:rPr lang="en-US" altLang="zh-CN" sz="2800" b="1" i="1" smtClean="0">
                        <a:latin typeface="Cambria Math"/>
                      </a:rPr>
                      <m:t>&gt;</m:t>
                    </m:r>
                    <m:r>
                      <a:rPr lang="en-US" altLang="zh-CN" sz="2800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sz="2800" b="1" dirty="0" smtClean="0"/>
                  <a:t>，有</a:t>
                </a:r>
                <a:endParaRPr lang="en-US" altLang="zh-CN" sz="2800" b="1" dirty="0" smtClean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124744"/>
                <a:ext cx="6984776" cy="1384995"/>
              </a:xfrm>
              <a:prstGeom prst="rect">
                <a:avLst/>
              </a:prstGeom>
              <a:blipFill rotWithShape="1">
                <a:blip r:embed="rId2"/>
                <a:stretch>
                  <a:fillRect l="-1745" b="-4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325324" y="2538482"/>
                <a:ext cx="4118884" cy="6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a:rPr lang="en-US" altLang="zh-CN" sz="2800" b="1" i="0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𝐥𝐢𝐦</m:t>
                              </m:r>
                            </m:e>
                            <m:lim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</m:d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&lt;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𝝐</m:t>
                              </m:r>
                            </m:e>
                          </m:d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𝟏</m:t>
                          </m:r>
                        </m:e>
                      </m:func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324" y="2538482"/>
                <a:ext cx="4118884" cy="652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11560" y="3186554"/>
                <a:ext cx="698477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/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zh-CN" altLang="en-US" sz="2800" b="1" dirty="0" smtClean="0"/>
                  <a:t>依概率收敛到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𝒂</m:t>
                    </m:r>
                  </m:oMath>
                </a14:m>
                <a:r>
                  <a:rPr lang="zh-CN" altLang="en-US" sz="2800" b="1" dirty="0" smtClean="0"/>
                  <a:t>，记作</a:t>
                </a:r>
                <a:endParaRPr lang="en-US" altLang="zh-CN" sz="2800" b="1" dirty="0" smtClean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186554"/>
                <a:ext cx="6984776" cy="738664"/>
              </a:xfrm>
              <a:prstGeom prst="rect">
                <a:avLst/>
              </a:prstGeom>
              <a:blipFill rotWithShape="1">
                <a:blip r:embed="rId4"/>
                <a:stretch>
                  <a:fillRect l="-1745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868156" y="3140968"/>
                <a:ext cx="1808300" cy="679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𝒀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      </m:t>
                          </m:r>
                          <m:r>
                            <m:rPr>
                              <m:brk m:alnAt="2"/>
                            </m:r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𝑷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     </m:t>
                          </m:r>
                        </m:e>
                      </m:groupCh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156" y="3140968"/>
                <a:ext cx="1808300" cy="6799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11560" y="4711285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性质</a:t>
            </a:r>
            <a:endParaRPr lang="zh-CN" altLang="en-US" sz="2800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547664" y="4653136"/>
                <a:ext cx="6840760" cy="634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800" b="1" i="1" smtClean="0">
                            <a:latin typeface="Cambria Math"/>
                          </a:rPr>
                          <m:t>𝒑</m:t>
                        </m:r>
                      </m:e>
                    </m:groupChr>
                    <m:r>
                      <a:rPr lang="en-US" altLang="zh-CN" sz="2800" b="1" i="1" smtClean="0">
                        <a:latin typeface="Cambria Math"/>
                      </a:rPr>
                      <m:t>𝒂</m:t>
                    </m:r>
                    <m:r>
                      <a:rPr lang="en-US" altLang="zh-CN" sz="2800" b="1" i="1" smtClean="0">
                        <a:latin typeface="Cambria Math"/>
                      </a:rPr>
                      <m:t>,   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800" b="1" i="1" smtClean="0">
                            <a:latin typeface="Cambria Math"/>
                          </a:rPr>
                          <m:t>𝒑</m:t>
                        </m:r>
                      </m:e>
                    </m:groupChr>
                    <m:r>
                      <a:rPr lang="en-US" altLang="zh-CN" sz="2800" b="1" i="1" smtClean="0">
                        <a:latin typeface="Cambria Math"/>
                      </a:rPr>
                      <m:t>𝒃</m:t>
                    </m:r>
                  </m:oMath>
                </a14:m>
                <a:r>
                  <a:rPr lang="zh-CN" altLang="en-US" sz="2800" b="1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/>
                      </a:rPr>
                      <m:t>𝒈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(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𝒙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,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𝒚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800" b="1" dirty="0" smtClean="0"/>
                  <a:t>连续，则</a:t>
                </a:r>
                <a:endParaRPr lang="zh-CN" altLang="en-US" sz="2800" b="1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4653136"/>
                <a:ext cx="6840760" cy="634213"/>
              </a:xfrm>
              <a:prstGeom prst="rect">
                <a:avLst/>
              </a:prstGeom>
              <a:blipFill rotWithShape="1">
                <a:blip r:embed="rId6"/>
                <a:stretch>
                  <a:fillRect l="-1872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627784" y="5431365"/>
                <a:ext cx="3341812" cy="6342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𝒈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𝒀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)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</m:groupCh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𝒈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,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5431365"/>
                <a:ext cx="3341812" cy="63421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485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503094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  <a:latin typeface="+mn-ea"/>
              </a:rPr>
              <a:t>大数</a:t>
            </a:r>
            <a:r>
              <a:rPr lang="zh-CN" altLang="en-US" sz="3200" b="1" dirty="0" smtClean="0">
                <a:solidFill>
                  <a:srgbClr val="7030A0"/>
                </a:solidFill>
                <a:latin typeface="+mn-ea"/>
              </a:rPr>
              <a:t>定律（契比雪夫）</a:t>
            </a:r>
            <a:endParaRPr lang="zh-CN" altLang="en-US" sz="3200" b="1" dirty="0">
              <a:solidFill>
                <a:srgbClr val="7030A0"/>
              </a:solidFill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971600" y="1340768"/>
                <a:ext cx="64807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独立</a:t>
                </a:r>
                <a:r>
                  <a:rPr lang="zh-CN" altLang="en-US" sz="2800" b="1" dirty="0" smtClean="0"/>
                  <a:t>，且</a:t>
                </a:r>
                <a:endParaRPr lang="zh-CN" altLang="en-US" sz="2800" b="1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340768"/>
                <a:ext cx="6480720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881"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699792" y="2132856"/>
                <a:ext cx="4060406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𝑬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𝝁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         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𝑫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𝝈</m:t>
                          </m:r>
                        </m:e>
                        <m:sup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2132856"/>
                <a:ext cx="4060406" cy="53296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971600" y="3140968"/>
                <a:ext cx="64807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/>
                  <a:t>则对于任意的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𝝐</m:t>
                    </m:r>
                    <m:r>
                      <a:rPr lang="en-US" altLang="zh-CN" sz="2800" b="1" i="1" smtClean="0">
                        <a:latin typeface="Cambria Math"/>
                      </a:rPr>
                      <m:t>&gt;</m:t>
                    </m:r>
                    <m:r>
                      <a:rPr lang="en-US" altLang="zh-CN" sz="2800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sz="2800" b="1" dirty="0" smtClean="0"/>
                  <a:t>，算术平均</a:t>
                </a:r>
                <a:endParaRPr lang="zh-CN" altLang="en-US" sz="2800" b="1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140968"/>
                <a:ext cx="6480720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1881"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6285483" y="2769263"/>
                <a:ext cx="2283638" cy="12666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𝑿</m:t>
                          </m:r>
                        </m:e>
                      </m:acc>
                      <m:r>
                        <a:rPr lang="en-US" altLang="zh-CN" sz="2800" b="1" i="1" dirty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dirty="0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dirty="0" smtClean="0">
                              <a:latin typeface="Cambria Math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b="1" i="1" dirty="0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dirty="0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sz="2800" b="1" i="1" dirty="0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800" b="1" i="1" dirty="0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dirty="0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dirty="0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800" b="1" i="1" dirty="0" smtClean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483" y="2769263"/>
                <a:ext cx="2283638" cy="126662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043608" y="4169155"/>
            <a:ext cx="1656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满足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29902" y="4941168"/>
                <a:ext cx="8533426" cy="12666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a:rPr lang="en-US" altLang="zh-CN" sz="2800" b="1" i="0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𝐥𝐢𝐦</m:t>
                              </m:r>
                            </m:e>
                            <m:lim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𝑿</m:t>
                                      </m:r>
                                    </m:e>
                                  </m:acc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𝝁</m:t>
                                  </m:r>
                                </m:e>
                              </m:d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&lt;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𝝐</m:t>
                              </m:r>
                            </m:e>
                          </m:d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limLowPr>
                                <m:e>
                                  <m:r>
                                    <a:rPr lang="en-US" altLang="zh-CN" sz="2800" b="1" i="0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𝐥𝐢𝐦</m:t>
                                  </m:r>
                                </m:e>
                                <m:lim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𝑷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𝟏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𝒏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𝒌</m:t>
                                          </m:r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=</m:t>
                                          </m:r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𝟏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𝒏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800" b="1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b="1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b="1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/>
                                                </a:rPr>
                                                <m:t>𝒌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𝝁</m:t>
                                          </m:r>
                                        </m:e>
                                      </m:nary>
                                    </m:e>
                                  </m:d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&lt;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𝝐</m:t>
                                  </m:r>
                                </m:e>
                              </m:d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02" y="4941168"/>
                <a:ext cx="8533426" cy="126662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5736" y="4090800"/>
                <a:ext cx="1808300" cy="679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</m:acc>
                      <m:groupChr>
                        <m:groupChrPr>
                          <m:chr m:val="→"/>
                          <m:vertJc m:val="bot"/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      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𝑷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       </m:t>
                          </m:r>
                        </m:e>
                      </m:groupCh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𝝁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4090800"/>
                <a:ext cx="1808300" cy="67993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34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503094"/>
            <a:ext cx="8011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  <a:latin typeface="+mn-ea"/>
              </a:rPr>
              <a:t>大数</a:t>
            </a:r>
            <a:r>
              <a:rPr lang="zh-CN" altLang="en-US" sz="3200" b="1" dirty="0" smtClean="0">
                <a:solidFill>
                  <a:srgbClr val="7030A0"/>
                </a:solidFill>
                <a:latin typeface="+mn-ea"/>
              </a:rPr>
              <a:t>定律（</a:t>
            </a:r>
            <a:r>
              <a:rPr lang="zh-CN" altLang="en-US" sz="3200" b="1" dirty="0">
                <a:solidFill>
                  <a:srgbClr val="7030A0"/>
                </a:solidFill>
                <a:latin typeface="+mn-ea"/>
              </a:rPr>
              <a:t>伯努利</a:t>
            </a:r>
            <a:r>
              <a:rPr lang="zh-CN" altLang="en-US" sz="3200" b="1" dirty="0" smtClean="0">
                <a:solidFill>
                  <a:srgbClr val="7030A0"/>
                </a:solidFill>
                <a:latin typeface="+mn-ea"/>
              </a:rPr>
              <a:t>）</a:t>
            </a:r>
            <a:r>
              <a:rPr lang="en-US" altLang="zh-CN" sz="3200" b="1" dirty="0" smtClean="0">
                <a:solidFill>
                  <a:srgbClr val="7030A0"/>
                </a:solidFill>
                <a:latin typeface="+mn-ea"/>
              </a:rPr>
              <a:t>--</a:t>
            </a:r>
            <a:r>
              <a:rPr lang="zh-CN" altLang="en-US" sz="2800" b="1" dirty="0" smtClean="0">
                <a:solidFill>
                  <a:srgbClr val="000066"/>
                </a:solidFill>
                <a:latin typeface="+mn-ea"/>
              </a:rPr>
              <a:t>概率的统计定义</a:t>
            </a:r>
            <a:endParaRPr lang="zh-CN" altLang="en-US" sz="2800" b="1" dirty="0">
              <a:solidFill>
                <a:srgbClr val="000066"/>
              </a:solidFill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806387" y="1367190"/>
                <a:ext cx="76328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/>
                  <a:t>对于任意的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𝝐</m:t>
                    </m:r>
                    <m:r>
                      <a:rPr lang="en-US" altLang="zh-CN" sz="2800" b="1" i="1" smtClean="0">
                        <a:latin typeface="Cambria Math"/>
                      </a:rPr>
                      <m:t>&gt;</m:t>
                    </m:r>
                    <m:r>
                      <a:rPr lang="en-US" altLang="zh-CN" sz="2800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sz="2800" b="1" dirty="0" smtClean="0"/>
                  <a:t>，有</a:t>
                </a:r>
                <a:endParaRPr lang="zh-CN" altLang="en-US" sz="2800" b="1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87" y="1367190"/>
                <a:ext cx="7632848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597"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547664" y="2330117"/>
                <a:ext cx="1899238" cy="8363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𝑨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𝒏</m:t>
                          </m:r>
                        </m:den>
                      </m:f>
                      <m:groupChr>
                        <m:groupChrPr>
                          <m:chr m:val="→"/>
                          <m:vertJc m:val="bot"/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      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𝑷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      </m:t>
                          </m:r>
                        </m:e>
                      </m:groupCh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2330117"/>
                <a:ext cx="1899238" cy="83638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622811" y="2330116"/>
                <a:ext cx="4216091" cy="8363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a:rPr lang="en-US" altLang="zh-CN" sz="2800" b="1" i="0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𝐥𝐢𝐦</m:t>
                              </m:r>
                            </m:e>
                            <m:lim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𝒏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𝑨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𝒏</m:t>
                                      </m:r>
                                    </m:den>
                                  </m:f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</m:d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&lt;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𝝐</m:t>
                              </m:r>
                            </m:e>
                          </m:d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𝟏</m:t>
                          </m:r>
                        </m:e>
                      </m:func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811" y="2330116"/>
                <a:ext cx="4216091" cy="83638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684638"/>
              </p:ext>
            </p:extLst>
          </p:nvPr>
        </p:nvGraphicFramePr>
        <p:xfrm>
          <a:off x="1803400" y="4005064"/>
          <a:ext cx="73406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Equation" r:id="rId6" imgW="7334293" imgH="990656" progId="Equation.3">
                  <p:embed/>
                </p:oleObj>
              </mc:Choice>
              <mc:Fallback>
                <p:oleObj name="Equation" r:id="rId6" imgW="7334293" imgH="99065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4005064"/>
                        <a:ext cx="73406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0058" y="4213050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证明</a:t>
            </a:r>
            <a:endParaRPr lang="zh-CN" altLang="en-US" sz="2800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000008"/>
              </p:ext>
            </p:extLst>
          </p:nvPr>
        </p:nvGraphicFramePr>
        <p:xfrm>
          <a:off x="1907704" y="5373216"/>
          <a:ext cx="3530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Equation" r:id="rId8" imgW="3530600" imgH="431800" progId="Equation.3">
                  <p:embed/>
                </p:oleObj>
              </mc:Choice>
              <mc:Fallback>
                <p:oleObj name="Equation" r:id="rId8" imgW="35306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5373216"/>
                        <a:ext cx="3530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407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503094"/>
            <a:ext cx="8011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  <a:latin typeface="+mn-ea"/>
              </a:rPr>
              <a:t>大数</a:t>
            </a:r>
            <a:r>
              <a:rPr lang="zh-CN" altLang="en-US" sz="3200" b="1" dirty="0" smtClean="0">
                <a:solidFill>
                  <a:srgbClr val="7030A0"/>
                </a:solidFill>
                <a:latin typeface="+mn-ea"/>
              </a:rPr>
              <a:t>定律（辛钦）</a:t>
            </a:r>
            <a:endParaRPr lang="zh-CN" altLang="en-US" sz="2800" b="1" dirty="0">
              <a:solidFill>
                <a:srgbClr val="000066"/>
              </a:solidFill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83568" y="1484784"/>
                <a:ext cx="74168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zh-CN" altLang="en-US" sz="2800" b="1" dirty="0" smtClean="0"/>
                  <a:t>独立，且同一分布，且</a:t>
                </a:r>
                <a:endParaRPr lang="zh-CN" altLang="en-US" sz="2800" b="1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84784"/>
                <a:ext cx="741682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643" t="-15294" b="-2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270136" y="2247962"/>
                <a:ext cx="17167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𝑬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𝝁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136" y="2247962"/>
                <a:ext cx="1716752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971600" y="3140968"/>
                <a:ext cx="64807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/>
                  <a:t>则对于任意的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𝝐</m:t>
                    </m:r>
                    <m:r>
                      <a:rPr lang="en-US" altLang="zh-CN" sz="2800" b="1" i="1" smtClean="0">
                        <a:latin typeface="Cambria Math"/>
                      </a:rPr>
                      <m:t>&gt;</m:t>
                    </m:r>
                    <m:r>
                      <a:rPr lang="en-US" altLang="zh-CN" sz="2800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sz="2800" b="1" dirty="0" smtClean="0"/>
                  <a:t>，算术平均</a:t>
                </a:r>
                <a:endParaRPr lang="zh-CN" altLang="en-US" sz="2800" b="1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140968"/>
                <a:ext cx="6480720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1881"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6285483" y="2769263"/>
                <a:ext cx="2283638" cy="12666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𝑿</m:t>
                          </m:r>
                        </m:e>
                      </m:acc>
                      <m:r>
                        <a:rPr lang="en-US" altLang="zh-CN" sz="2800" b="1" i="1" dirty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dirty="0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dirty="0" smtClean="0">
                              <a:latin typeface="Cambria Math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b="1" i="1" dirty="0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dirty="0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sz="2800" b="1" i="1" dirty="0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800" b="1" i="1" dirty="0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dirty="0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dirty="0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800" b="1" i="1" dirty="0" smtClean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483" y="2769263"/>
                <a:ext cx="2283638" cy="126662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043608" y="4169155"/>
            <a:ext cx="1656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满足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29902" y="4941168"/>
                <a:ext cx="8533426" cy="12666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a:rPr lang="en-US" altLang="zh-CN" sz="2800" b="1" i="0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𝐥𝐢𝐦</m:t>
                              </m:r>
                            </m:e>
                            <m:lim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𝑿</m:t>
                                      </m:r>
                                    </m:e>
                                  </m:acc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𝝁</m:t>
                                  </m:r>
                                </m:e>
                              </m:d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&lt;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𝝐</m:t>
                              </m:r>
                            </m:e>
                          </m:d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limLowPr>
                                <m:e>
                                  <m:r>
                                    <a:rPr lang="en-US" altLang="zh-CN" sz="2800" b="1" i="0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𝐥𝐢𝐦</m:t>
                                  </m:r>
                                </m:e>
                                <m:lim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𝑷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𝟏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𝒏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𝒌</m:t>
                                          </m:r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=</m:t>
                                          </m:r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𝟏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𝒏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800" b="1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b="1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b="1" i="1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/>
                                                </a:rPr>
                                                <m:t>𝒌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𝝁</m:t>
                                          </m:r>
                                        </m:e>
                                      </m:nary>
                                    </m:e>
                                  </m:d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&lt;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𝝐</m:t>
                                  </m:r>
                                </m:e>
                              </m:d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02" y="4941168"/>
                <a:ext cx="8533426" cy="126662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5736" y="4090800"/>
                <a:ext cx="1808300" cy="679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</m:acc>
                      <m:groupChr>
                        <m:groupChrPr>
                          <m:chr m:val="→"/>
                          <m:vertJc m:val="bot"/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      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𝑷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       </m:t>
                          </m:r>
                        </m:e>
                      </m:groupCh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𝝁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4090800"/>
                <a:ext cx="1808300" cy="67993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98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7624" y="1431940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7030A0"/>
                </a:solidFill>
              </a:rPr>
              <a:t>关于辛钦定理</a:t>
            </a:r>
            <a:endParaRPr lang="zh-CN" altLang="en-US" sz="3200" b="1" dirty="0">
              <a:solidFill>
                <a:srgbClr val="7030A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7624" y="2348880"/>
            <a:ext cx="6840760" cy="1678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2800" b="1" dirty="0" smtClean="0"/>
              <a:t>与契比雪夫定理相比，不需要方差存在；</a:t>
            </a:r>
            <a:endParaRPr lang="en-US" altLang="zh-CN" sz="2800" b="1" dirty="0" smtClean="0"/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2800" b="1" dirty="0" smtClean="0"/>
              <a:t>伯努利定理是该定理的特殊情形。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1944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1560" y="1386393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引入</a:t>
            </a:r>
            <a:endParaRPr lang="zh-CN" altLang="en-US" sz="3200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7704" y="1386393"/>
            <a:ext cx="5976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+mn-ea"/>
              </a:rPr>
              <a:t>射击命中点与靶心距离的偏差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黑体"/>
                <a:ea typeface="黑体"/>
              </a:rPr>
              <a:t>§5.2 </a:t>
            </a:r>
            <a:r>
              <a:rPr lang="zh-CN" altLang="en-US" dirty="0" smtClean="0">
                <a:latin typeface="黑体"/>
                <a:ea typeface="黑体"/>
              </a:rPr>
              <a:t>中心极限定理</a:t>
            </a:r>
            <a:endParaRPr lang="zh-CN" altLang="en-US" dirty="0"/>
          </a:p>
        </p:txBody>
      </p:sp>
      <p:pic>
        <p:nvPicPr>
          <p:cNvPr id="6" name="Picture 11" descr="4[12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213" y="504825"/>
            <a:ext cx="1474787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22378" y="1971168"/>
            <a:ext cx="75438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        这种偏差是大量微小的偶然因素造成的微小误差的总和, 这些因素包括: 瞄准误差、测量误差、子弹制造过程方面 (如外形、重量等) 的误差以及射击时武器的振动、气象因素(如风速、风向、能见度、温度等) 的作用, 所有这些不同因素所引起的微小误差是相互独立的, 并且它们中每一个对总和产生的影响不大.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857250" y="5229200"/>
            <a:ext cx="775335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问题 </a:t>
            </a:r>
            <a:r>
              <a:rPr lang="zh-CN" altLang="en-US" sz="2800" b="1" dirty="0" smtClean="0"/>
              <a:t>    </a:t>
            </a:r>
            <a:r>
              <a:rPr lang="zh-CN" altLang="en-US" sz="2800" b="1" dirty="0"/>
              <a:t>某个随机变量是由大量相互独立且均匀小的随机变量相加而成的, 研究其概率分布情况.</a:t>
            </a:r>
          </a:p>
        </p:txBody>
      </p:sp>
    </p:spTree>
    <p:extLst>
      <p:ext uri="{BB962C8B-B14F-4D97-AF65-F5344CB8AC3E}">
        <p14:creationId xmlns:p14="http://schemas.microsoft.com/office/powerpoint/2010/main" val="338699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 autoUpdateAnimBg="0"/>
      <p:bldP spid="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 txBox="1">
            <a:spLocks noChangeArrowheads="1"/>
          </p:cNvSpPr>
          <p:nvPr/>
        </p:nvSpPr>
        <p:spPr bwMode="auto">
          <a:xfrm>
            <a:off x="467544" y="476672"/>
            <a:ext cx="266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新宋体" pitchFamily="49" charset="-122"/>
                <a:ea typeface="新宋体" pitchFamily="49" charset="-122"/>
              </a:defRPr>
            </a:lvl9pPr>
          </a:lstStyle>
          <a:p>
            <a:pPr eaLnBrk="1" hangingPunct="1"/>
            <a:r>
              <a:rPr lang="zh-CN" altLang="en-US" sz="3200" dirty="0" smtClean="0">
                <a:solidFill>
                  <a:srgbClr val="CC0000"/>
                </a:solidFill>
                <a:ea typeface="楷体" pitchFamily="49" charset="-122"/>
              </a:rPr>
              <a:t>泊松定理</a:t>
            </a:r>
          </a:p>
        </p:txBody>
      </p:sp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963588"/>
              </p:ext>
            </p:extLst>
          </p:nvPr>
        </p:nvGraphicFramePr>
        <p:xfrm>
          <a:off x="683568" y="1094858"/>
          <a:ext cx="7637462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公式" r:id="rId3" imgW="3403440" imgH="457200" progId="Equation.3">
                  <p:embed/>
                </p:oleObj>
              </mc:Choice>
              <mc:Fallback>
                <p:oleObj name="公式" r:id="rId3" imgW="34034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094858"/>
                        <a:ext cx="7637462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153433"/>
              </p:ext>
            </p:extLst>
          </p:nvPr>
        </p:nvGraphicFramePr>
        <p:xfrm>
          <a:off x="2694807" y="2348335"/>
          <a:ext cx="2408237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r:id="rId5" imgW="1003736" imgH="279521" progId="Equation.3">
                  <p:embed/>
                </p:oleObj>
              </mc:Choice>
              <mc:Fallback>
                <p:oleObj r:id="rId5" imgW="1003736" imgH="279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4807" y="2348335"/>
                        <a:ext cx="2408237" cy="671512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219954"/>
              </p:ext>
            </p:extLst>
          </p:nvPr>
        </p:nvGraphicFramePr>
        <p:xfrm>
          <a:off x="1475656" y="3284984"/>
          <a:ext cx="5535613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r:id="rId7" imgW="2375931" imgH="419282" progId="Equation.3">
                  <p:embed/>
                </p:oleObj>
              </mc:Choice>
              <mc:Fallback>
                <p:oleObj r:id="rId7" imgW="2375931" imgH="4192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284984"/>
                        <a:ext cx="5535613" cy="981075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"/>
          <p:cNvGrpSpPr>
            <a:grpSpLocks/>
          </p:cNvGrpSpPr>
          <p:nvPr/>
        </p:nvGrpSpPr>
        <p:grpSpPr bwMode="auto">
          <a:xfrm>
            <a:off x="1331640" y="4869160"/>
            <a:ext cx="6499225" cy="639763"/>
            <a:chOff x="0" y="0"/>
            <a:chExt cx="4094" cy="403"/>
          </a:xfrm>
        </p:grpSpPr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0" y="76"/>
              <a:ext cx="40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0000FF"/>
                  </a:solidFill>
                  <a:latin typeface="Times New Roman" pitchFamily="18" charset="0"/>
                  <a:ea typeface="黑体" pitchFamily="2" charset="-122"/>
                </a:rPr>
                <a:t>二项分布</a:t>
              </a:r>
              <a:r>
                <a:rPr lang="zh-CN" altLang="en-US" sz="2800" b="1" i="1">
                  <a:solidFill>
                    <a:srgbClr val="0000FF"/>
                  </a:solidFill>
                  <a:latin typeface="Times New Roman" pitchFamily="18" charset="0"/>
                </a:rPr>
                <a:t>  </a:t>
              </a:r>
              <a:r>
                <a:rPr lang="zh-CN" altLang="en-US" sz="2400" b="1" i="1">
                  <a:solidFill>
                    <a:srgbClr val="0000FF"/>
                  </a:solidFill>
                  <a:latin typeface="Times New Roman" pitchFamily="18" charset="0"/>
                </a:rPr>
                <a:t>                </a:t>
              </a:r>
              <a:r>
                <a:rPr lang="zh-CN" altLang="en-US" sz="2400" b="1">
                  <a:solidFill>
                    <a:srgbClr val="0000FF"/>
                  </a:solidFill>
                  <a:latin typeface="Times New Roman" pitchFamily="18" charset="0"/>
                </a:rPr>
                <a:t>                    </a:t>
              </a:r>
              <a:r>
                <a:rPr lang="zh-CN" altLang="en-US" sz="2800" b="1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泊松分布</a:t>
              </a:r>
            </a:p>
          </p:txBody>
        </p:sp>
        <p:sp>
          <p:nvSpPr>
            <p:cNvPr id="9" name="AutoShape 5"/>
            <p:cNvSpPr>
              <a:spLocks noChangeArrowheads="1"/>
            </p:cNvSpPr>
            <p:nvPr/>
          </p:nvSpPr>
          <p:spPr bwMode="auto">
            <a:xfrm>
              <a:off x="1072" y="231"/>
              <a:ext cx="1460" cy="81"/>
            </a:xfrm>
            <a:prstGeom prst="rightArrow">
              <a:avLst>
                <a:gd name="adj1" fmla="val 50000"/>
                <a:gd name="adj2" fmla="val 450617"/>
              </a:avLst>
            </a:prstGeom>
            <a:solidFill>
              <a:srgbClr val="008000"/>
            </a:solidFill>
            <a:ln w="19050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10" name="Object 6"/>
            <p:cNvGraphicFramePr>
              <a:graphicFrameLocks noChangeAspect="1"/>
            </p:cNvGraphicFramePr>
            <p:nvPr/>
          </p:nvGraphicFramePr>
          <p:xfrm>
            <a:off x="1056" y="0"/>
            <a:ext cx="17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4" r:id="rId9" imgW="2805482" imgH="393529" progId="Equation.3">
                    <p:embed/>
                  </p:oleObj>
                </mc:Choice>
                <mc:Fallback>
                  <p:oleObj r:id="rId9" imgW="2805482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0"/>
                          <a:ext cx="176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755576" y="5805264"/>
                <a:ext cx="77768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𝒏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→∞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，但是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𝒑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保持不变，怎么计算呢？</a:t>
                </a:r>
                <a:endParaRPr lang="en-US" altLang="zh-CN" sz="28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805264"/>
                <a:ext cx="7776864" cy="523220"/>
              </a:xfrm>
              <a:prstGeom prst="rect">
                <a:avLst/>
              </a:prstGeom>
              <a:blipFill rotWithShape="1">
                <a:blip r:embed="rId11"/>
                <a:stretch>
                  <a:fillRect l="-1646"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677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503094"/>
            <a:ext cx="8011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7030A0"/>
                </a:solidFill>
                <a:latin typeface="+mn-ea"/>
              </a:rPr>
              <a:t>中心极限定理（德莫佛－拉普拉斯）</a:t>
            </a:r>
            <a:endParaRPr lang="zh-CN" altLang="en-US" sz="2800" b="1" dirty="0">
              <a:solidFill>
                <a:srgbClr val="000066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148478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043608" y="1484784"/>
                <a:ext cx="69847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∼</m:t>
                    </m:r>
                    <m:r>
                      <a:rPr lang="en-US" altLang="zh-CN" sz="2800" b="1" i="1" smtClean="0">
                        <a:latin typeface="Cambria Math"/>
                      </a:rPr>
                      <m:t>𝑩</m:t>
                    </m:r>
                    <m:r>
                      <a:rPr lang="en-US" altLang="zh-CN" sz="2800" b="1" i="1" smtClean="0">
                        <a:latin typeface="Cambria Math"/>
                      </a:rPr>
                      <m:t>(</m:t>
                    </m:r>
                    <m:r>
                      <a:rPr lang="en-US" altLang="zh-CN" sz="2800" b="1" i="1" smtClean="0">
                        <a:latin typeface="Cambria Math"/>
                      </a:rPr>
                      <m:t>𝒏</m:t>
                    </m:r>
                    <m:r>
                      <a:rPr lang="en-US" altLang="zh-CN" sz="2800" b="1" i="1" smtClean="0">
                        <a:latin typeface="Cambria Math"/>
                      </a:rPr>
                      <m:t>,</m:t>
                    </m:r>
                    <m:r>
                      <a:rPr lang="en-US" altLang="zh-CN" sz="2800" b="1" i="1" smtClean="0">
                        <a:latin typeface="Cambria Math"/>
                      </a:rPr>
                      <m:t>𝒑</m:t>
                    </m:r>
                    <m:r>
                      <a:rPr lang="en-US" altLang="zh-CN" sz="28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800" b="1" dirty="0" smtClean="0"/>
                  <a:t>，则对任意的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/>
                      </a:rPr>
                      <m:t> </m:t>
                    </m:r>
                    <m:r>
                      <a:rPr lang="en-US" altLang="zh-CN" sz="2800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zh-CN" altLang="en-US" sz="2800" b="1" dirty="0" smtClean="0"/>
                  <a:t>，</a:t>
                </a:r>
                <a:endParaRPr lang="zh-CN" altLang="en-US" sz="2800" b="1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484784"/>
                <a:ext cx="6984776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745" t="-15294" b="-2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979712" y="2636912"/>
                <a:ext cx="5391028" cy="12114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𝒏𝒑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𝒏𝒑</m:t>
                                      </m:r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𝟏</m:t>
                                      </m:r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𝒑</m:t>
                                      </m:r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altLang="zh-CN" sz="2800" b="1" i="0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𝚽</m:t>
                          </m:r>
                          <m:r>
                            <a:rPr lang="en-US" altLang="zh-CN" sz="2800" b="1" i="0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US" altLang="zh-CN" sz="2800" b="1" i="0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2636912"/>
                <a:ext cx="5391028" cy="121142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979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503094"/>
            <a:ext cx="8011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7030A0"/>
                </a:solidFill>
                <a:latin typeface="+mn-ea"/>
              </a:rPr>
              <a:t>中心极限定理（独立同分布）</a:t>
            </a:r>
            <a:endParaRPr lang="zh-CN" altLang="en-US" sz="2800" b="1" dirty="0">
              <a:solidFill>
                <a:srgbClr val="000066"/>
              </a:solidFill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043608" y="1484784"/>
                <a:ext cx="69847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独立</a:t>
                </a:r>
                <a:r>
                  <a:rPr lang="zh-CN" altLang="en-US" sz="2800" b="1" dirty="0" smtClean="0"/>
                  <a:t>，服从</a:t>
                </a:r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同一分布</a:t>
                </a:r>
                <a:r>
                  <a:rPr lang="zh-CN" altLang="en-US" sz="2800" b="1" dirty="0" smtClean="0"/>
                  <a:t>，且</a:t>
                </a:r>
                <a:endParaRPr lang="en-US" altLang="zh-CN" sz="2800" b="1" dirty="0" smtClean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484784"/>
                <a:ext cx="6984776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745" t="-15294" b="-2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699792" y="2172408"/>
                <a:ext cx="4744056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𝑬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𝝁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         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𝑫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𝝈</m:t>
                          </m:r>
                        </m:e>
                        <m:sup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&gt;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2172408"/>
                <a:ext cx="4744056" cy="53296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1187624" y="2924944"/>
                <a:ext cx="443743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 dirty="0" smtClean="0"/>
                  <a:t>则对任意的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/>
                      </a:rPr>
                      <m:t> </m:t>
                    </m:r>
                    <m:r>
                      <a:rPr lang="en-US" altLang="zh-CN" sz="2800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zh-CN" altLang="en-US" sz="2800" b="1" dirty="0" smtClean="0"/>
                  <a:t>，标准化变量</a:t>
                </a:r>
                <a:endParaRPr lang="zh-CN" altLang="en-US" sz="2800" b="1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924944"/>
                <a:ext cx="4437433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2885" t="-15116" r="-2198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463172" y="3645024"/>
                <a:ext cx="7217296" cy="1472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𝒀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𝑬</m:t>
                          </m:r>
                          <m:d>
                            <m:d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𝑫</m:t>
                              </m:r>
                              <m:d>
                                <m:dPr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=</m:t>
                                      </m:r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𝒏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zh-CN" sz="2800" b="1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𝝁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e>
                          </m:rad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𝝈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172" y="3645024"/>
                <a:ext cx="7217296" cy="147264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187624" y="5210036"/>
            <a:ext cx="59554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/>
              <a:t>的分布函数趋向于</a:t>
            </a:r>
            <a:r>
              <a:rPr lang="zh-CN" altLang="en-US" sz="2800" b="1" dirty="0" smtClean="0">
                <a:solidFill>
                  <a:srgbClr val="002060"/>
                </a:solidFill>
              </a:rPr>
              <a:t>标准正态分布</a:t>
            </a:r>
            <a:r>
              <a:rPr lang="zh-CN" altLang="en-US" sz="2800" b="1" dirty="0" smtClean="0"/>
              <a:t>，即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3069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475656" y="1124744"/>
                <a:ext cx="5728748" cy="3113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a:rPr lang="en-US" altLang="zh-CN" sz="2800" b="1" i="0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𝐥𝐢𝐦</m:t>
                              </m:r>
                            </m:e>
                            <m:lim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=</m:t>
                          </m:r>
                        </m:e>
                      </m:func>
                      <m:limLow>
                        <m:limLow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limLowPr>
                        <m:e>
                          <m:r>
                            <a:rPr lang="en-US" altLang="zh-CN" sz="2800" b="1" i="0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𝐥𝐢𝐦</m:t>
                          </m:r>
                        </m:e>
                        <m:lim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→∞</m:t>
                          </m:r>
                        </m:lim>
                      </m:limLow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≤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altLang="zh-CN" sz="2800" b="1" dirty="0" smtClean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 smtClean="0">
                    <a:solidFill>
                      <a:srgbClr val="002060"/>
                    </a:solidFill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=</m:t>
                    </m:r>
                    <m:limLow>
                      <m:limLowPr>
                        <m:ctrlP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limLowPr>
                      <m:e>
                        <m:r>
                          <a:rPr lang="en-US" altLang="zh-CN" sz="2800" b="1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𝐥𝐢𝐦</m:t>
                        </m:r>
                      </m:e>
                      <m:lim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→∞</m:t>
                        </m:r>
                      </m:lim>
                    </m:limLow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𝝁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e>
                            </m:rad>
                            <m: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𝝈</m:t>
                            </m:r>
                          </m:den>
                        </m:f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≤</m:t>
                        </m:r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endParaRPr lang="en-US" altLang="zh-CN" sz="2800" b="1" dirty="0" smtClean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 smtClean="0">
                    <a:solidFill>
                      <a:srgbClr val="002060"/>
                    </a:solidFill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∞</m:t>
                        </m:r>
                      </m:sub>
                      <m:sup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𝒙</m:t>
                        </m:r>
                      </m:sup>
                      <m:e>
                        <m:f>
                          <m:fPr>
                            <m:ctrlP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𝝅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800" b="1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𝒕</m:t>
                                    </m:r>
                                  </m:e>
                                  <m:sup>
                                    <m:r>
                                      <a:rPr lang="en-US" altLang="zh-CN" sz="2800" b="1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𝒅𝒕</m:t>
                        </m:r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altLang="zh-CN" sz="2800" b="1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𝚽</m:t>
                        </m:r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1124744"/>
                <a:ext cx="5728748" cy="311373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496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503094"/>
            <a:ext cx="8011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7030A0"/>
                </a:solidFill>
                <a:latin typeface="+mn-ea"/>
              </a:rPr>
              <a:t>中心极限定理（李雅普诺夫）</a:t>
            </a:r>
            <a:endParaRPr lang="zh-CN" altLang="en-US" sz="2800" b="1" dirty="0">
              <a:solidFill>
                <a:srgbClr val="000066"/>
              </a:solidFill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043608" y="1484784"/>
                <a:ext cx="69847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zh-CN" altLang="en-US" sz="2800" b="1" dirty="0" smtClean="0">
                    <a:solidFill>
                      <a:srgbClr val="002060"/>
                    </a:solidFill>
                  </a:rPr>
                  <a:t>独立</a:t>
                </a:r>
                <a:r>
                  <a:rPr lang="zh-CN" altLang="en-US" sz="2800" b="1" dirty="0" smtClean="0"/>
                  <a:t>，且</a:t>
                </a:r>
                <a:endParaRPr lang="en-US" altLang="zh-CN" sz="2800" b="1" dirty="0" smtClean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484784"/>
                <a:ext cx="6984776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745" t="-15294" b="-2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699792" y="2172408"/>
            <a:ext cx="5096716" cy="532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286039" y="2176803"/>
                <a:ext cx="4922438" cy="5595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𝑬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         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𝑫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𝝈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  <m:sup>
                          <m:r>
                            <a:rPr lang="en-US" altLang="zh-CN" sz="2800" b="1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bSup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&gt;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39" y="2176803"/>
                <a:ext cx="4922438" cy="5595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043608" y="2977788"/>
            <a:ext cx="792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记</a:t>
            </a:r>
            <a:endParaRPr lang="en-US" altLang="zh-CN" sz="2800" b="1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265354" y="3061607"/>
                <a:ext cx="2188869" cy="1268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/>
                            </a:rPr>
                            <m:t>𝟐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 </m:t>
                          </m:r>
                        </m:sup>
                      </m:sSubSup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354" y="3061607"/>
                <a:ext cx="2188869" cy="12685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043608" y="4345940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如果</a:t>
            </a:r>
            <a:endParaRPr lang="en-US" altLang="zh-CN" sz="2800" b="1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651813" y="4909981"/>
                <a:ext cx="4911857" cy="12666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𝜹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𝑬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800" b="1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800" b="1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b="1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b="1" i="1" smtClean="0">
                                      <a:latin typeface="Cambria Math"/>
                                    </a:rPr>
                                    <m:t>𝟐</m:t>
                                  </m:r>
                                  <m:r>
                                    <a:rPr lang="en-US" altLang="zh-CN" sz="2800" b="1" i="1" smtClean="0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altLang="zh-CN" sz="2800" b="1" i="1" smtClean="0">
                                      <a:latin typeface="Cambria Math"/>
                                    </a:rPr>
                                    <m:t>𝜹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2800" b="1" i="1" smtClean="0">
                              <a:latin typeface="Cambria Math"/>
                            </a:rPr>
                            <m:t>→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𝟎</m:t>
                          </m:r>
                        </m:e>
                      </m:nary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813" y="4909981"/>
                <a:ext cx="4911857" cy="126662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162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2918" y="470639"/>
            <a:ext cx="4835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则标准化变量</a:t>
            </a:r>
            <a:endParaRPr lang="en-US" altLang="zh-CN" sz="2800" b="1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187624" y="1354816"/>
                <a:ext cx="7217296" cy="1472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𝒀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𝑬</m:t>
                          </m:r>
                          <m:d>
                            <m:d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𝑫</m:t>
                              </m:r>
                              <m:d>
                                <m:dPr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=</m:t>
                                      </m:r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𝒏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zh-CN" sz="2800" b="1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𝝁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1354816"/>
                <a:ext cx="7217296" cy="147264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912076" y="2919828"/>
            <a:ext cx="59554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/>
              <a:t>的分布函数趋向于</a:t>
            </a:r>
            <a:r>
              <a:rPr lang="zh-CN" altLang="en-US" sz="2800" b="1" dirty="0" smtClean="0">
                <a:solidFill>
                  <a:srgbClr val="002060"/>
                </a:solidFill>
              </a:rPr>
              <a:t>标准正态分布</a:t>
            </a:r>
            <a:r>
              <a:rPr lang="zh-CN" altLang="en-US" sz="2800" b="1" dirty="0" smtClean="0"/>
              <a:t>，即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583020" y="3717032"/>
                <a:ext cx="6426503" cy="2172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a:rPr lang="en-US" altLang="zh-CN" sz="2800" b="1" i="0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𝐥𝐢𝐦</m:t>
                              </m:r>
                            </m:e>
                            <m:lim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=</m:t>
                          </m:r>
                        </m:e>
                      </m:func>
                      <m:limLow>
                        <m:limLowPr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limLowPr>
                        <m:e>
                          <m:r>
                            <a:rPr lang="en-US" altLang="zh-CN" sz="2800" b="1" i="0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𝐥𝐢𝐦</m:t>
                          </m:r>
                        </m:e>
                        <m:lim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→∞</m:t>
                          </m:r>
                        </m:lim>
                      </m:limLow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𝝁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</m:rad>
                              <m:r>
                                <a:rPr lang="en-US" altLang="zh-CN" sz="28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𝝈</m:t>
                              </m:r>
                            </m:den>
                          </m:f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≤</m:t>
                          </m:r>
                          <m:r>
                            <a:rPr lang="en-US" altLang="zh-CN" sz="28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altLang="zh-CN" sz="2800" b="1" dirty="0" smtClean="0">
                  <a:solidFill>
                    <a:srgbClr val="00206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2800" b="1" dirty="0" smtClean="0">
                    <a:solidFill>
                      <a:srgbClr val="002060"/>
                    </a:solidFill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∞</m:t>
                        </m:r>
                      </m:sub>
                      <m:sup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𝒙</m:t>
                        </m:r>
                      </m:sup>
                      <m:e>
                        <m:f>
                          <m:fPr>
                            <m:ctrlP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𝝅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8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800" b="1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𝒕</m:t>
                                    </m:r>
                                  </m:e>
                                  <m:sup>
                                    <m:r>
                                      <a:rPr lang="en-US" altLang="zh-CN" sz="2800" b="1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8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𝒅𝒕</m:t>
                        </m:r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altLang="zh-CN" sz="2800" b="1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𝚽</m:t>
                        </m:r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zh-CN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zh-CN" alt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020" y="3717032"/>
                <a:ext cx="6426503" cy="217258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59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Default Design">
      <a:majorFont>
        <a:latin typeface="新宋体"/>
        <a:ea typeface="新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1085</Words>
  <Application>Microsoft Office PowerPoint</Application>
  <PresentationFormat>全屏显示(4:3)</PresentationFormat>
  <Paragraphs>78</Paragraphs>
  <Slides>15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Default Design</vt:lpstr>
      <vt:lpstr>Equation</vt:lpstr>
      <vt:lpstr>公式</vt:lpstr>
      <vt:lpstr>Microsoft 公式 3.0</vt:lpstr>
      <vt:lpstr>概率论与数理统计</vt:lpstr>
      <vt:lpstr>PowerPoint 演示文稿</vt:lpstr>
      <vt:lpstr>§5.1 大数定律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§5.2 中心极限定理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BTBU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概率论与数理统计</dc:title>
  <dc:creator>liang</dc:creator>
  <cp:lastModifiedBy>liang</cp:lastModifiedBy>
  <cp:revision>12</cp:revision>
  <dcterms:created xsi:type="dcterms:W3CDTF">2014-05-25T16:35:18Z</dcterms:created>
  <dcterms:modified xsi:type="dcterms:W3CDTF">2014-05-25T18:09:41Z</dcterms:modified>
</cp:coreProperties>
</file>