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e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e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e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61.e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10" Type="http://schemas.openxmlformats.org/officeDocument/2006/relationships/image" Target="../media/image100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5" Type="http://schemas.openxmlformats.org/officeDocument/2006/relationships/image" Target="../media/image105.wmf"/><Relationship Id="rId4" Type="http://schemas.openxmlformats.org/officeDocument/2006/relationships/image" Target="../media/image104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1.wmf"/><Relationship Id="rId7" Type="http://schemas.openxmlformats.org/officeDocument/2006/relationships/image" Target="../media/image134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3.wmf"/><Relationship Id="rId5" Type="http://schemas.openxmlformats.org/officeDocument/2006/relationships/image" Target="../media/image119.wmf"/><Relationship Id="rId10" Type="http://schemas.openxmlformats.org/officeDocument/2006/relationships/image" Target="../media/image137.wmf"/><Relationship Id="rId4" Type="http://schemas.openxmlformats.org/officeDocument/2006/relationships/image" Target="../media/image132.wmf"/><Relationship Id="rId9" Type="http://schemas.openxmlformats.org/officeDocument/2006/relationships/image" Target="../media/image13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4" Type="http://schemas.openxmlformats.org/officeDocument/2006/relationships/image" Target="../media/image14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4" Type="http://schemas.openxmlformats.org/officeDocument/2006/relationships/image" Target="../media/image14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emf"/><Relationship Id="rId5" Type="http://schemas.openxmlformats.org/officeDocument/2006/relationships/image" Target="../media/image156.wmf"/><Relationship Id="rId4" Type="http://schemas.openxmlformats.org/officeDocument/2006/relationships/image" Target="../media/image155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4" Type="http://schemas.openxmlformats.org/officeDocument/2006/relationships/image" Target="../media/image16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emf"/><Relationship Id="rId1" Type="http://schemas.openxmlformats.org/officeDocument/2006/relationships/image" Target="../media/image162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8.wmf"/><Relationship Id="rId7" Type="http://schemas.openxmlformats.org/officeDocument/2006/relationships/image" Target="../media/image172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Relationship Id="rId9" Type="http://schemas.openxmlformats.org/officeDocument/2006/relationships/image" Target="../media/image17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9" Type="http://schemas.openxmlformats.org/officeDocument/2006/relationships/image" Target="../media/image183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image" Target="../media/image186.wmf"/><Relationship Id="rId6" Type="http://schemas.openxmlformats.org/officeDocument/2006/relationships/image" Target="../media/image191.e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emf"/><Relationship Id="rId1" Type="http://schemas.openxmlformats.org/officeDocument/2006/relationships/image" Target="../media/image197.emf"/><Relationship Id="rId6" Type="http://schemas.openxmlformats.org/officeDocument/2006/relationships/image" Target="../media/image202.emf"/><Relationship Id="rId5" Type="http://schemas.openxmlformats.org/officeDocument/2006/relationships/image" Target="../media/image201.emf"/><Relationship Id="rId4" Type="http://schemas.openxmlformats.org/officeDocument/2006/relationships/image" Target="../media/image20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emf"/><Relationship Id="rId2" Type="http://schemas.openxmlformats.org/officeDocument/2006/relationships/image" Target="../media/image204.emf"/><Relationship Id="rId1" Type="http://schemas.openxmlformats.org/officeDocument/2006/relationships/image" Target="../media/image203.wmf"/><Relationship Id="rId4" Type="http://schemas.openxmlformats.org/officeDocument/2006/relationships/image" Target="../media/image206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5" Type="http://schemas.openxmlformats.org/officeDocument/2006/relationships/image" Target="../media/image212.emf"/><Relationship Id="rId4" Type="http://schemas.openxmlformats.org/officeDocument/2006/relationships/image" Target="../media/image211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emf"/><Relationship Id="rId3" Type="http://schemas.openxmlformats.org/officeDocument/2006/relationships/image" Target="../media/image215.wmf"/><Relationship Id="rId7" Type="http://schemas.openxmlformats.org/officeDocument/2006/relationships/image" Target="../media/image218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7.emf"/><Relationship Id="rId11" Type="http://schemas.openxmlformats.org/officeDocument/2006/relationships/image" Target="../media/image222.wmf"/><Relationship Id="rId5" Type="http://schemas.openxmlformats.org/officeDocument/2006/relationships/image" Target="../media/image216.wmf"/><Relationship Id="rId10" Type="http://schemas.openxmlformats.org/officeDocument/2006/relationships/image" Target="../media/image221.wmf"/><Relationship Id="rId4" Type="http://schemas.openxmlformats.org/officeDocument/2006/relationships/image" Target="../media/image119.wmf"/><Relationship Id="rId9" Type="http://schemas.openxmlformats.org/officeDocument/2006/relationships/image" Target="../media/image220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6" Type="http://schemas.openxmlformats.org/officeDocument/2006/relationships/image" Target="../media/image228.wmf"/><Relationship Id="rId5" Type="http://schemas.openxmlformats.org/officeDocument/2006/relationships/image" Target="../media/image227.wmf"/><Relationship Id="rId4" Type="http://schemas.openxmlformats.org/officeDocument/2006/relationships/image" Target="../media/image226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emf"/><Relationship Id="rId2" Type="http://schemas.openxmlformats.org/officeDocument/2006/relationships/image" Target="../media/image231.emf"/><Relationship Id="rId1" Type="http://schemas.openxmlformats.org/officeDocument/2006/relationships/image" Target="../media/image230.e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emf"/><Relationship Id="rId2" Type="http://schemas.openxmlformats.org/officeDocument/2006/relationships/image" Target="../media/image236.emf"/><Relationship Id="rId1" Type="http://schemas.openxmlformats.org/officeDocument/2006/relationships/image" Target="../media/image235.emf"/><Relationship Id="rId6" Type="http://schemas.openxmlformats.org/officeDocument/2006/relationships/image" Target="../media/image240.e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5" Type="http://schemas.openxmlformats.org/officeDocument/2006/relationships/image" Target="../media/image245.wmf"/><Relationship Id="rId4" Type="http://schemas.openxmlformats.org/officeDocument/2006/relationships/image" Target="../media/image244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emf"/><Relationship Id="rId2" Type="http://schemas.openxmlformats.org/officeDocument/2006/relationships/image" Target="../media/image247.emf"/><Relationship Id="rId1" Type="http://schemas.openxmlformats.org/officeDocument/2006/relationships/image" Target="../media/image246.emf"/><Relationship Id="rId4" Type="http://schemas.openxmlformats.org/officeDocument/2006/relationships/image" Target="../media/image249.e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image" Target="../media/image252.emf"/><Relationship Id="rId7" Type="http://schemas.openxmlformats.org/officeDocument/2006/relationships/image" Target="../media/image256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Relationship Id="rId6" Type="http://schemas.openxmlformats.org/officeDocument/2006/relationships/image" Target="../media/image255.wmf"/><Relationship Id="rId11" Type="http://schemas.openxmlformats.org/officeDocument/2006/relationships/image" Target="../media/image260.wmf"/><Relationship Id="rId5" Type="http://schemas.openxmlformats.org/officeDocument/2006/relationships/image" Target="../media/image254.wmf"/><Relationship Id="rId10" Type="http://schemas.openxmlformats.org/officeDocument/2006/relationships/image" Target="../media/image259.wmf"/><Relationship Id="rId4" Type="http://schemas.openxmlformats.org/officeDocument/2006/relationships/image" Target="../media/image253.wmf"/><Relationship Id="rId9" Type="http://schemas.openxmlformats.org/officeDocument/2006/relationships/image" Target="../media/image258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wmf"/><Relationship Id="rId2" Type="http://schemas.openxmlformats.org/officeDocument/2006/relationships/image" Target="../media/image262.wmf"/><Relationship Id="rId1" Type="http://schemas.openxmlformats.org/officeDocument/2006/relationships/image" Target="../media/image261.wmf"/><Relationship Id="rId6" Type="http://schemas.openxmlformats.org/officeDocument/2006/relationships/image" Target="../media/image266.wmf"/><Relationship Id="rId5" Type="http://schemas.openxmlformats.org/officeDocument/2006/relationships/image" Target="../media/image265.wmf"/><Relationship Id="rId4" Type="http://schemas.openxmlformats.org/officeDocument/2006/relationships/image" Target="../media/image264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3" Type="http://schemas.openxmlformats.org/officeDocument/2006/relationships/image" Target="../media/image269.wmf"/><Relationship Id="rId7" Type="http://schemas.openxmlformats.org/officeDocument/2006/relationships/image" Target="../media/image273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e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80.wmf"/><Relationship Id="rId5" Type="http://schemas.openxmlformats.org/officeDocument/2006/relationships/image" Target="../media/image279.emf"/><Relationship Id="rId4" Type="http://schemas.openxmlformats.org/officeDocument/2006/relationships/image" Target="../media/image278.e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emf"/><Relationship Id="rId3" Type="http://schemas.openxmlformats.org/officeDocument/2006/relationships/image" Target="../media/image283.emf"/><Relationship Id="rId7" Type="http://schemas.openxmlformats.org/officeDocument/2006/relationships/image" Target="../media/image287.emf"/><Relationship Id="rId2" Type="http://schemas.openxmlformats.org/officeDocument/2006/relationships/image" Target="../media/image282.emf"/><Relationship Id="rId1" Type="http://schemas.openxmlformats.org/officeDocument/2006/relationships/image" Target="../media/image281.emf"/><Relationship Id="rId6" Type="http://schemas.openxmlformats.org/officeDocument/2006/relationships/image" Target="../media/image286.emf"/><Relationship Id="rId5" Type="http://schemas.openxmlformats.org/officeDocument/2006/relationships/image" Target="../media/image285.emf"/><Relationship Id="rId4" Type="http://schemas.openxmlformats.org/officeDocument/2006/relationships/image" Target="../media/image284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emf"/><Relationship Id="rId7" Type="http://schemas.openxmlformats.org/officeDocument/2006/relationships/image" Target="../media/image295.emf"/><Relationship Id="rId2" Type="http://schemas.openxmlformats.org/officeDocument/2006/relationships/image" Target="../media/image290.emf"/><Relationship Id="rId1" Type="http://schemas.openxmlformats.org/officeDocument/2006/relationships/image" Target="../media/image289.emf"/><Relationship Id="rId6" Type="http://schemas.openxmlformats.org/officeDocument/2006/relationships/image" Target="../media/image294.emf"/><Relationship Id="rId5" Type="http://schemas.openxmlformats.org/officeDocument/2006/relationships/image" Target="../media/image293.emf"/><Relationship Id="rId4" Type="http://schemas.openxmlformats.org/officeDocument/2006/relationships/image" Target="../media/image292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emf"/><Relationship Id="rId2" Type="http://schemas.openxmlformats.org/officeDocument/2006/relationships/image" Target="../media/image297.emf"/><Relationship Id="rId1" Type="http://schemas.openxmlformats.org/officeDocument/2006/relationships/image" Target="../media/image296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Relationship Id="rId4" Type="http://schemas.openxmlformats.org/officeDocument/2006/relationships/image" Target="../media/image303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79" y="94"/>
              <a:ext cx="1267" cy="1938"/>
            </a:xfrm>
            <a:custGeom>
              <a:avLst/>
              <a:gdLst>
                <a:gd name="T0" fmla="*/ 87 w 1692"/>
                <a:gd name="T1" fmla="*/ 193 h 2586"/>
                <a:gd name="T2" fmla="*/ 240 w 1692"/>
                <a:gd name="T3" fmla="*/ 157 h 2586"/>
                <a:gd name="T4" fmla="*/ 325 w 1692"/>
                <a:gd name="T5" fmla="*/ 180 h 2586"/>
                <a:gd name="T6" fmla="*/ 312 w 1692"/>
                <a:gd name="T7" fmla="*/ 333 h 2586"/>
                <a:gd name="T8" fmla="*/ 204 w 1692"/>
                <a:gd name="T9" fmla="*/ 436 h 2586"/>
                <a:gd name="T10" fmla="*/ 163 w 1692"/>
                <a:gd name="T11" fmla="*/ 535 h 2586"/>
                <a:gd name="T12" fmla="*/ 213 w 1692"/>
                <a:gd name="T13" fmla="*/ 722 h 2586"/>
                <a:gd name="T14" fmla="*/ 237 w 1692"/>
                <a:gd name="T15" fmla="*/ 719 h 2586"/>
                <a:gd name="T16" fmla="*/ 246 w 1692"/>
                <a:gd name="T17" fmla="*/ 679 h 2586"/>
                <a:gd name="T18" fmla="*/ 358 w 1692"/>
                <a:gd name="T19" fmla="*/ 865 h 2586"/>
                <a:gd name="T20" fmla="*/ 487 w 1692"/>
                <a:gd name="T21" fmla="*/ 899 h 2586"/>
                <a:gd name="T22" fmla="*/ 595 w 1692"/>
                <a:gd name="T23" fmla="*/ 1012 h 2586"/>
                <a:gd name="T24" fmla="*/ 639 w 1692"/>
                <a:gd name="T25" fmla="*/ 1066 h 2586"/>
                <a:gd name="T26" fmla="*/ 577 w 1692"/>
                <a:gd name="T27" fmla="*/ 1205 h 2586"/>
                <a:gd name="T28" fmla="*/ 686 w 1692"/>
                <a:gd name="T29" fmla="*/ 1335 h 2586"/>
                <a:gd name="T30" fmla="*/ 774 w 1692"/>
                <a:gd name="T31" fmla="*/ 1515 h 2586"/>
                <a:gd name="T32" fmla="*/ 819 w 1692"/>
                <a:gd name="T33" fmla="*/ 1731 h 2586"/>
                <a:gd name="T34" fmla="*/ 894 w 1692"/>
                <a:gd name="T35" fmla="*/ 1904 h 2586"/>
                <a:gd name="T36" fmla="*/ 958 w 1692"/>
                <a:gd name="T37" fmla="*/ 1889 h 2586"/>
                <a:gd name="T38" fmla="*/ 932 w 1692"/>
                <a:gd name="T39" fmla="*/ 1794 h 2586"/>
                <a:gd name="T40" fmla="*/ 964 w 1692"/>
                <a:gd name="T41" fmla="*/ 1728 h 2586"/>
                <a:gd name="T42" fmla="*/ 1024 w 1692"/>
                <a:gd name="T43" fmla="*/ 1670 h 2586"/>
                <a:gd name="T44" fmla="*/ 1084 w 1692"/>
                <a:gd name="T45" fmla="*/ 1556 h 2586"/>
                <a:gd name="T46" fmla="*/ 1174 w 1692"/>
                <a:gd name="T47" fmla="*/ 1461 h 2586"/>
                <a:gd name="T48" fmla="*/ 1215 w 1692"/>
                <a:gd name="T49" fmla="*/ 1308 h 2586"/>
                <a:gd name="T50" fmla="*/ 1162 w 1692"/>
                <a:gd name="T51" fmla="*/ 1153 h 2586"/>
                <a:gd name="T52" fmla="*/ 1030 w 1692"/>
                <a:gd name="T53" fmla="*/ 1057 h 2586"/>
                <a:gd name="T54" fmla="*/ 827 w 1692"/>
                <a:gd name="T55" fmla="*/ 959 h 2586"/>
                <a:gd name="T56" fmla="*/ 729 w 1692"/>
                <a:gd name="T57" fmla="*/ 944 h 2586"/>
                <a:gd name="T58" fmla="*/ 677 w 1692"/>
                <a:gd name="T59" fmla="*/ 950 h 2586"/>
                <a:gd name="T60" fmla="*/ 595 w 1692"/>
                <a:gd name="T61" fmla="*/ 980 h 2586"/>
                <a:gd name="T62" fmla="*/ 568 w 1692"/>
                <a:gd name="T63" fmla="*/ 880 h 2586"/>
                <a:gd name="T64" fmla="*/ 551 w 1692"/>
                <a:gd name="T65" fmla="*/ 796 h 2586"/>
                <a:gd name="T66" fmla="*/ 473 w 1692"/>
                <a:gd name="T67" fmla="*/ 827 h 2586"/>
                <a:gd name="T68" fmla="*/ 425 w 1692"/>
                <a:gd name="T69" fmla="*/ 712 h 2586"/>
                <a:gd name="T70" fmla="*/ 554 w 1692"/>
                <a:gd name="T71" fmla="*/ 683 h 2586"/>
                <a:gd name="T72" fmla="*/ 631 w 1692"/>
                <a:gd name="T73" fmla="*/ 679 h 2586"/>
                <a:gd name="T74" fmla="*/ 671 w 1692"/>
                <a:gd name="T75" fmla="*/ 674 h 2586"/>
                <a:gd name="T76" fmla="*/ 792 w 1692"/>
                <a:gd name="T77" fmla="*/ 562 h 2586"/>
                <a:gd name="T78" fmla="*/ 887 w 1692"/>
                <a:gd name="T79" fmla="*/ 508 h 2586"/>
                <a:gd name="T80" fmla="*/ 957 w 1692"/>
                <a:gd name="T81" fmla="*/ 477 h 2586"/>
                <a:gd name="T82" fmla="*/ 1003 w 1692"/>
                <a:gd name="T83" fmla="*/ 403 h 2586"/>
                <a:gd name="T84" fmla="*/ 964 w 1692"/>
                <a:gd name="T85" fmla="*/ 384 h 2586"/>
                <a:gd name="T86" fmla="*/ 1143 w 1692"/>
                <a:gd name="T87" fmla="*/ 342 h 2586"/>
                <a:gd name="T88" fmla="*/ 1053 w 1692"/>
                <a:gd name="T89" fmla="*/ 256 h 2586"/>
                <a:gd name="T90" fmla="*/ 994 w 1692"/>
                <a:gd name="T91" fmla="*/ 198 h 2586"/>
                <a:gd name="T92" fmla="*/ 915 w 1692"/>
                <a:gd name="T93" fmla="*/ 273 h 2586"/>
                <a:gd name="T94" fmla="*/ 831 w 1692"/>
                <a:gd name="T95" fmla="*/ 333 h 2586"/>
                <a:gd name="T96" fmla="*/ 765 w 1692"/>
                <a:gd name="T97" fmla="*/ 228 h 2586"/>
                <a:gd name="T98" fmla="*/ 908 w 1692"/>
                <a:gd name="T99" fmla="*/ 180 h 2586"/>
                <a:gd name="T100" fmla="*/ 948 w 1692"/>
                <a:gd name="T101" fmla="*/ 148 h 2586"/>
                <a:gd name="T102" fmla="*/ 994 w 1692"/>
                <a:gd name="T103" fmla="*/ 129 h 2586"/>
                <a:gd name="T104" fmla="*/ 963 w 1692"/>
                <a:gd name="T105" fmla="*/ 108 h 2586"/>
                <a:gd name="T106" fmla="*/ 945 w 1692"/>
                <a:gd name="T107" fmla="*/ 90 h 2586"/>
                <a:gd name="T108" fmla="*/ 900 w 1692"/>
                <a:gd name="T109" fmla="*/ 76 h 2586"/>
                <a:gd name="T110" fmla="*/ 828 w 1692"/>
                <a:gd name="T111" fmla="*/ 102 h 2586"/>
                <a:gd name="T112" fmla="*/ 711 w 1692"/>
                <a:gd name="T113" fmla="*/ 90 h 2586"/>
                <a:gd name="T114" fmla="*/ 412 w 1692"/>
                <a:gd name="T115" fmla="*/ 0 h 2586"/>
                <a:gd name="T116" fmla="*/ 258 w 1692"/>
                <a:gd name="T117" fmla="*/ 24 h 2586"/>
                <a:gd name="T118" fmla="*/ 217 w 1692"/>
                <a:gd name="T119" fmla="*/ 76 h 2586"/>
                <a:gd name="T120" fmla="*/ 96 w 1692"/>
                <a:gd name="T121" fmla="*/ 130 h 2586"/>
                <a:gd name="T122" fmla="*/ 96 w 1692"/>
                <a:gd name="T123" fmla="*/ 162 h 2586"/>
                <a:gd name="T124" fmla="*/ 1 w 1692"/>
                <a:gd name="T125" fmla="*/ 189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9" y="279"/>
              <a:ext cx="34" cy="28"/>
            </a:xfrm>
            <a:custGeom>
              <a:avLst/>
              <a:gdLst>
                <a:gd name="T0" fmla="*/ 12 w 46"/>
                <a:gd name="T1" fmla="*/ 3 h 38"/>
                <a:gd name="T2" fmla="*/ 0 w 46"/>
                <a:gd name="T3" fmla="*/ 16 h 38"/>
                <a:gd name="T4" fmla="*/ 16 w 46"/>
                <a:gd name="T5" fmla="*/ 28 h 38"/>
                <a:gd name="T6" fmla="*/ 34 w 46"/>
                <a:gd name="T7" fmla="*/ 19 h 38"/>
                <a:gd name="T8" fmla="*/ 22 w 46"/>
                <a:gd name="T9" fmla="*/ 0 h 38"/>
                <a:gd name="T10" fmla="*/ 12 w 46"/>
                <a:gd name="T11" fmla="*/ 3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46" y="402"/>
              <a:ext cx="39" cy="32"/>
            </a:xfrm>
            <a:custGeom>
              <a:avLst/>
              <a:gdLst>
                <a:gd name="T0" fmla="*/ 9 w 52"/>
                <a:gd name="T1" fmla="*/ 0 h 44"/>
                <a:gd name="T2" fmla="*/ 20 w 52"/>
                <a:gd name="T3" fmla="*/ 32 h 44"/>
                <a:gd name="T4" fmla="*/ 32 w 52"/>
                <a:gd name="T5" fmla="*/ 31 h 44"/>
                <a:gd name="T6" fmla="*/ 29 w 52"/>
                <a:gd name="T7" fmla="*/ 12 h 44"/>
                <a:gd name="T8" fmla="*/ 20 w 52"/>
                <a:gd name="T9" fmla="*/ 1 h 44"/>
                <a:gd name="T10" fmla="*/ 9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1128" y="458"/>
              <a:ext cx="98" cy="74"/>
            </a:xfrm>
            <a:custGeom>
              <a:avLst/>
              <a:gdLst>
                <a:gd name="T0" fmla="*/ 73 w 131"/>
                <a:gd name="T1" fmla="*/ 0 h 98"/>
                <a:gd name="T2" fmla="*/ 59 w 131"/>
                <a:gd name="T3" fmla="*/ 6 h 98"/>
                <a:gd name="T4" fmla="*/ 40 w 131"/>
                <a:gd name="T5" fmla="*/ 18 h 98"/>
                <a:gd name="T6" fmla="*/ 29 w 131"/>
                <a:gd name="T7" fmla="*/ 30 h 98"/>
                <a:gd name="T8" fmla="*/ 16 w 131"/>
                <a:gd name="T9" fmla="*/ 39 h 98"/>
                <a:gd name="T10" fmla="*/ 47 w 131"/>
                <a:gd name="T11" fmla="*/ 62 h 98"/>
                <a:gd name="T12" fmla="*/ 59 w 131"/>
                <a:gd name="T13" fmla="*/ 71 h 98"/>
                <a:gd name="T14" fmla="*/ 64 w 131"/>
                <a:gd name="T15" fmla="*/ 69 h 98"/>
                <a:gd name="T16" fmla="*/ 67 w 131"/>
                <a:gd name="T17" fmla="*/ 65 h 98"/>
                <a:gd name="T18" fmla="*/ 73 w 131"/>
                <a:gd name="T19" fmla="*/ 74 h 98"/>
                <a:gd name="T20" fmla="*/ 92 w 131"/>
                <a:gd name="T21" fmla="*/ 65 h 98"/>
                <a:gd name="T22" fmla="*/ 97 w 131"/>
                <a:gd name="T23" fmla="*/ 56 h 98"/>
                <a:gd name="T24" fmla="*/ 76 w 131"/>
                <a:gd name="T25" fmla="*/ 30 h 98"/>
                <a:gd name="T26" fmla="*/ 86 w 131"/>
                <a:gd name="T27" fmla="*/ 18 h 98"/>
                <a:gd name="T28" fmla="*/ 83 w 131"/>
                <a:gd name="T29" fmla="*/ 3 h 98"/>
                <a:gd name="T30" fmla="*/ 7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654" y="842"/>
              <a:ext cx="158" cy="84"/>
            </a:xfrm>
            <a:custGeom>
              <a:avLst/>
              <a:gdLst>
                <a:gd name="T0" fmla="*/ 35 w 212"/>
                <a:gd name="T1" fmla="*/ 9 h 112"/>
                <a:gd name="T2" fmla="*/ 13 w 212"/>
                <a:gd name="T3" fmla="*/ 9 h 112"/>
                <a:gd name="T4" fmla="*/ 4 w 212"/>
                <a:gd name="T5" fmla="*/ 12 h 112"/>
                <a:gd name="T6" fmla="*/ 19 w 212"/>
                <a:gd name="T7" fmla="*/ 39 h 112"/>
                <a:gd name="T8" fmla="*/ 38 w 212"/>
                <a:gd name="T9" fmla="*/ 33 h 112"/>
                <a:gd name="T10" fmla="*/ 69 w 212"/>
                <a:gd name="T11" fmla="*/ 41 h 112"/>
                <a:gd name="T12" fmla="*/ 83 w 212"/>
                <a:gd name="T13" fmla="*/ 45 h 112"/>
                <a:gd name="T14" fmla="*/ 99 w 212"/>
                <a:gd name="T15" fmla="*/ 66 h 112"/>
                <a:gd name="T16" fmla="*/ 105 w 212"/>
                <a:gd name="T17" fmla="*/ 84 h 112"/>
                <a:gd name="T18" fmla="*/ 117 w 212"/>
                <a:gd name="T19" fmla="*/ 75 h 112"/>
                <a:gd name="T20" fmla="*/ 126 w 212"/>
                <a:gd name="T21" fmla="*/ 72 h 112"/>
                <a:gd name="T22" fmla="*/ 139 w 212"/>
                <a:gd name="T23" fmla="*/ 77 h 112"/>
                <a:gd name="T24" fmla="*/ 145 w 212"/>
                <a:gd name="T25" fmla="*/ 60 h 112"/>
                <a:gd name="T26" fmla="*/ 114 w 212"/>
                <a:gd name="T27" fmla="*/ 41 h 112"/>
                <a:gd name="T28" fmla="*/ 78 w 212"/>
                <a:gd name="T29" fmla="*/ 15 h 112"/>
                <a:gd name="T30" fmla="*/ 40 w 212"/>
                <a:gd name="T31" fmla="*/ 20 h 112"/>
                <a:gd name="T32" fmla="*/ 35 w 212"/>
                <a:gd name="T33" fmla="*/ 9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784" y="906"/>
              <a:ext cx="99" cy="41"/>
            </a:xfrm>
            <a:custGeom>
              <a:avLst/>
              <a:gdLst>
                <a:gd name="T0" fmla="*/ 42 w 133"/>
                <a:gd name="T1" fmla="*/ 0 h 54"/>
                <a:gd name="T2" fmla="*/ 32 w 133"/>
                <a:gd name="T3" fmla="*/ 5 h 54"/>
                <a:gd name="T4" fmla="*/ 23 w 133"/>
                <a:gd name="T5" fmla="*/ 23 h 54"/>
                <a:gd name="T6" fmla="*/ 11 w 133"/>
                <a:gd name="T7" fmla="*/ 26 h 54"/>
                <a:gd name="T8" fmla="*/ 2 w 133"/>
                <a:gd name="T9" fmla="*/ 32 h 54"/>
                <a:gd name="T10" fmla="*/ 10 w 133"/>
                <a:gd name="T11" fmla="*/ 41 h 54"/>
                <a:gd name="T12" fmla="*/ 99 w 133"/>
                <a:gd name="T13" fmla="*/ 26 h 54"/>
                <a:gd name="T14" fmla="*/ 92 w 133"/>
                <a:gd name="T15" fmla="*/ 12 h 54"/>
                <a:gd name="T16" fmla="*/ 78 w 133"/>
                <a:gd name="T17" fmla="*/ 6 h 54"/>
                <a:gd name="T18" fmla="*/ 75 w 133"/>
                <a:gd name="T19" fmla="*/ 18 h 54"/>
                <a:gd name="T20" fmla="*/ 66 w 133"/>
                <a:gd name="T21" fmla="*/ 14 h 54"/>
                <a:gd name="T22" fmla="*/ 50 w 133"/>
                <a:gd name="T23" fmla="*/ 11 h 54"/>
                <a:gd name="T24" fmla="*/ 4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889" y="93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945" y="935"/>
              <a:ext cx="12" cy="25"/>
            </a:xfrm>
            <a:custGeom>
              <a:avLst/>
              <a:gdLst>
                <a:gd name="T0" fmla="*/ 11 w 16"/>
                <a:gd name="T1" fmla="*/ 0 h 34"/>
                <a:gd name="T2" fmla="*/ 0 w 16"/>
                <a:gd name="T3" fmla="*/ 10 h 34"/>
                <a:gd name="T4" fmla="*/ 12 w 16"/>
                <a:gd name="T5" fmla="*/ 25 h 34"/>
                <a:gd name="T6" fmla="*/ 9 w 16"/>
                <a:gd name="T7" fmla="*/ 13 h 34"/>
                <a:gd name="T8" fmla="*/ 12 w 16"/>
                <a:gd name="T9" fmla="*/ 4 h 34"/>
                <a:gd name="T10" fmla="*/ 11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762" y="89"/>
              <a:ext cx="180" cy="88"/>
            </a:xfrm>
            <a:custGeom>
              <a:avLst/>
              <a:gdLst>
                <a:gd name="T0" fmla="*/ 48 w 240"/>
                <a:gd name="T1" fmla="*/ 1 h 117"/>
                <a:gd name="T2" fmla="*/ 18 w 240"/>
                <a:gd name="T3" fmla="*/ 23 h 117"/>
                <a:gd name="T4" fmla="*/ 5 w 240"/>
                <a:gd name="T5" fmla="*/ 28 h 117"/>
                <a:gd name="T6" fmla="*/ 0 w 240"/>
                <a:gd name="T7" fmla="*/ 29 h 117"/>
                <a:gd name="T8" fmla="*/ 20 w 240"/>
                <a:gd name="T9" fmla="*/ 44 h 117"/>
                <a:gd name="T10" fmla="*/ 29 w 240"/>
                <a:gd name="T11" fmla="*/ 47 h 117"/>
                <a:gd name="T12" fmla="*/ 51 w 240"/>
                <a:gd name="T13" fmla="*/ 35 h 117"/>
                <a:gd name="T14" fmla="*/ 60 w 240"/>
                <a:gd name="T15" fmla="*/ 32 h 117"/>
                <a:gd name="T16" fmla="*/ 62 w 240"/>
                <a:gd name="T17" fmla="*/ 41 h 117"/>
                <a:gd name="T18" fmla="*/ 48 w 240"/>
                <a:gd name="T19" fmla="*/ 46 h 117"/>
                <a:gd name="T20" fmla="*/ 54 w 240"/>
                <a:gd name="T21" fmla="*/ 55 h 117"/>
                <a:gd name="T22" fmla="*/ 30 w 240"/>
                <a:gd name="T23" fmla="*/ 65 h 117"/>
                <a:gd name="T24" fmla="*/ 53 w 240"/>
                <a:gd name="T25" fmla="*/ 82 h 117"/>
                <a:gd name="T26" fmla="*/ 62 w 240"/>
                <a:gd name="T27" fmla="*/ 85 h 117"/>
                <a:gd name="T28" fmla="*/ 89 w 240"/>
                <a:gd name="T29" fmla="*/ 77 h 117"/>
                <a:gd name="T30" fmla="*/ 113 w 240"/>
                <a:gd name="T31" fmla="*/ 79 h 117"/>
                <a:gd name="T32" fmla="*/ 126 w 240"/>
                <a:gd name="T33" fmla="*/ 88 h 117"/>
                <a:gd name="T34" fmla="*/ 153 w 240"/>
                <a:gd name="T35" fmla="*/ 82 h 117"/>
                <a:gd name="T36" fmla="*/ 168 w 240"/>
                <a:gd name="T37" fmla="*/ 77 h 117"/>
                <a:gd name="T38" fmla="*/ 167 w 240"/>
                <a:gd name="T39" fmla="*/ 58 h 117"/>
                <a:gd name="T40" fmla="*/ 176 w 240"/>
                <a:gd name="T41" fmla="*/ 52 h 117"/>
                <a:gd name="T42" fmla="*/ 179 w 240"/>
                <a:gd name="T43" fmla="*/ 35 h 117"/>
                <a:gd name="T44" fmla="*/ 158 w 240"/>
                <a:gd name="T45" fmla="*/ 43 h 117"/>
                <a:gd name="T46" fmla="*/ 150 w 240"/>
                <a:gd name="T47" fmla="*/ 32 h 117"/>
                <a:gd name="T48" fmla="*/ 129 w 240"/>
                <a:gd name="T49" fmla="*/ 34 h 117"/>
                <a:gd name="T50" fmla="*/ 101 w 240"/>
                <a:gd name="T51" fmla="*/ 7 h 117"/>
                <a:gd name="T52" fmla="*/ 71 w 240"/>
                <a:gd name="T53" fmla="*/ 8 h 117"/>
                <a:gd name="T54" fmla="*/ 62 w 240"/>
                <a:gd name="T55" fmla="*/ 1 h 117"/>
                <a:gd name="T56" fmla="*/ 4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842" y="48"/>
              <a:ext cx="146" cy="60"/>
            </a:xfrm>
            <a:custGeom>
              <a:avLst/>
              <a:gdLst>
                <a:gd name="T0" fmla="*/ 73 w 194"/>
                <a:gd name="T1" fmla="*/ 8 h 80"/>
                <a:gd name="T2" fmla="*/ 10 w 194"/>
                <a:gd name="T3" fmla="*/ 18 h 80"/>
                <a:gd name="T4" fmla="*/ 7 w 194"/>
                <a:gd name="T5" fmla="*/ 26 h 80"/>
                <a:gd name="T6" fmla="*/ 43 w 194"/>
                <a:gd name="T7" fmla="*/ 39 h 80"/>
                <a:gd name="T8" fmla="*/ 102 w 194"/>
                <a:gd name="T9" fmla="*/ 56 h 80"/>
                <a:gd name="T10" fmla="*/ 132 w 194"/>
                <a:gd name="T11" fmla="*/ 51 h 80"/>
                <a:gd name="T12" fmla="*/ 141 w 194"/>
                <a:gd name="T13" fmla="*/ 48 h 80"/>
                <a:gd name="T14" fmla="*/ 132 w 194"/>
                <a:gd name="T15" fmla="*/ 33 h 80"/>
                <a:gd name="T16" fmla="*/ 123 w 194"/>
                <a:gd name="T17" fmla="*/ 27 h 80"/>
                <a:gd name="T18" fmla="*/ 97 w 194"/>
                <a:gd name="T19" fmla="*/ 20 h 80"/>
                <a:gd name="T20" fmla="*/ 73 w 194"/>
                <a:gd name="T21" fmla="*/ 8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6" name="未知"/>
            <p:cNvSpPr>
              <a:spLocks/>
            </p:cNvSpPr>
            <p:nvPr/>
          </p:nvSpPr>
          <p:spPr bwMode="auto">
            <a:xfrm>
              <a:off x="1047" y="118"/>
              <a:ext cx="233" cy="190"/>
            </a:xfrm>
            <a:custGeom>
              <a:avLst/>
              <a:gdLst>
                <a:gd name="T0" fmla="*/ 50 w 310"/>
                <a:gd name="T1" fmla="*/ 7 h 254"/>
                <a:gd name="T2" fmla="*/ 38 w 310"/>
                <a:gd name="T3" fmla="*/ 17 h 254"/>
                <a:gd name="T4" fmla="*/ 16 w 310"/>
                <a:gd name="T5" fmla="*/ 29 h 254"/>
                <a:gd name="T6" fmla="*/ 40 w 310"/>
                <a:gd name="T7" fmla="*/ 58 h 254"/>
                <a:gd name="T8" fmla="*/ 59 w 310"/>
                <a:gd name="T9" fmla="*/ 64 h 254"/>
                <a:gd name="T10" fmla="*/ 77 w 310"/>
                <a:gd name="T11" fmla="*/ 74 h 254"/>
                <a:gd name="T12" fmla="*/ 95 w 310"/>
                <a:gd name="T13" fmla="*/ 64 h 254"/>
                <a:gd name="T14" fmla="*/ 107 w 310"/>
                <a:gd name="T15" fmla="*/ 76 h 254"/>
                <a:gd name="T16" fmla="*/ 112 w 310"/>
                <a:gd name="T17" fmla="*/ 95 h 254"/>
                <a:gd name="T18" fmla="*/ 86 w 310"/>
                <a:gd name="T19" fmla="*/ 113 h 254"/>
                <a:gd name="T20" fmla="*/ 67 w 310"/>
                <a:gd name="T21" fmla="*/ 129 h 254"/>
                <a:gd name="T22" fmla="*/ 52 w 310"/>
                <a:gd name="T23" fmla="*/ 126 h 254"/>
                <a:gd name="T24" fmla="*/ 43 w 310"/>
                <a:gd name="T25" fmla="*/ 123 h 254"/>
                <a:gd name="T26" fmla="*/ 32 w 310"/>
                <a:gd name="T27" fmla="*/ 140 h 254"/>
                <a:gd name="T28" fmla="*/ 29 w 310"/>
                <a:gd name="T29" fmla="*/ 149 h 254"/>
                <a:gd name="T30" fmla="*/ 55 w 310"/>
                <a:gd name="T31" fmla="*/ 153 h 254"/>
                <a:gd name="T32" fmla="*/ 71 w 310"/>
                <a:gd name="T33" fmla="*/ 152 h 254"/>
                <a:gd name="T34" fmla="*/ 86 w 310"/>
                <a:gd name="T35" fmla="*/ 173 h 254"/>
                <a:gd name="T36" fmla="*/ 95 w 310"/>
                <a:gd name="T37" fmla="*/ 176 h 254"/>
                <a:gd name="T38" fmla="*/ 104 w 310"/>
                <a:gd name="T39" fmla="*/ 179 h 254"/>
                <a:gd name="T40" fmla="*/ 117 w 310"/>
                <a:gd name="T41" fmla="*/ 188 h 254"/>
                <a:gd name="T42" fmla="*/ 136 w 310"/>
                <a:gd name="T43" fmla="*/ 177 h 254"/>
                <a:gd name="T44" fmla="*/ 153 w 310"/>
                <a:gd name="T45" fmla="*/ 176 h 254"/>
                <a:gd name="T46" fmla="*/ 172 w 310"/>
                <a:gd name="T47" fmla="*/ 159 h 254"/>
                <a:gd name="T48" fmla="*/ 169 w 310"/>
                <a:gd name="T49" fmla="*/ 138 h 254"/>
                <a:gd name="T50" fmla="*/ 163 w 310"/>
                <a:gd name="T51" fmla="*/ 129 h 254"/>
                <a:gd name="T52" fmla="*/ 175 w 310"/>
                <a:gd name="T53" fmla="*/ 125 h 254"/>
                <a:gd name="T54" fmla="*/ 184 w 310"/>
                <a:gd name="T55" fmla="*/ 137 h 254"/>
                <a:gd name="T56" fmla="*/ 186 w 310"/>
                <a:gd name="T57" fmla="*/ 147 h 254"/>
                <a:gd name="T58" fmla="*/ 196 w 310"/>
                <a:gd name="T59" fmla="*/ 144 h 254"/>
                <a:gd name="T60" fmla="*/ 228 w 310"/>
                <a:gd name="T61" fmla="*/ 126 h 254"/>
                <a:gd name="T62" fmla="*/ 220 w 310"/>
                <a:gd name="T63" fmla="*/ 110 h 254"/>
                <a:gd name="T64" fmla="*/ 195 w 310"/>
                <a:gd name="T65" fmla="*/ 92 h 254"/>
                <a:gd name="T66" fmla="*/ 199 w 310"/>
                <a:gd name="T67" fmla="*/ 80 h 254"/>
                <a:gd name="T68" fmla="*/ 208 w 310"/>
                <a:gd name="T69" fmla="*/ 77 h 254"/>
                <a:gd name="T70" fmla="*/ 190 w 310"/>
                <a:gd name="T71" fmla="*/ 47 h 254"/>
                <a:gd name="T72" fmla="*/ 175 w 310"/>
                <a:gd name="T73" fmla="*/ 44 h 254"/>
                <a:gd name="T74" fmla="*/ 166 w 310"/>
                <a:gd name="T75" fmla="*/ 41 h 254"/>
                <a:gd name="T76" fmla="*/ 151 w 310"/>
                <a:gd name="T77" fmla="*/ 25 h 254"/>
                <a:gd name="T78" fmla="*/ 117 w 310"/>
                <a:gd name="T79" fmla="*/ 34 h 254"/>
                <a:gd name="T80" fmla="*/ 126 w 310"/>
                <a:gd name="T81" fmla="*/ 19 h 254"/>
                <a:gd name="T82" fmla="*/ 104 w 310"/>
                <a:gd name="T83" fmla="*/ 13 h 254"/>
                <a:gd name="T84" fmla="*/ 89 w 310"/>
                <a:gd name="T85" fmla="*/ 14 h 254"/>
                <a:gd name="T86" fmla="*/ 50 w 310"/>
                <a:gd name="T87" fmla="*/ 7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7" name="未知"/>
            <p:cNvSpPr>
              <a:spLocks/>
            </p:cNvSpPr>
            <p:nvPr/>
          </p:nvSpPr>
          <p:spPr bwMode="auto">
            <a:xfrm>
              <a:off x="1045" y="36"/>
              <a:ext cx="44" cy="37"/>
            </a:xfrm>
            <a:custGeom>
              <a:avLst/>
              <a:gdLst>
                <a:gd name="T0" fmla="*/ 19 w 59"/>
                <a:gd name="T1" fmla="*/ 0 h 50"/>
                <a:gd name="T2" fmla="*/ 0 w 59"/>
                <a:gd name="T3" fmla="*/ 7 h 50"/>
                <a:gd name="T4" fmla="*/ 22 w 59"/>
                <a:gd name="T5" fmla="*/ 30 h 50"/>
                <a:gd name="T6" fmla="*/ 36 w 59"/>
                <a:gd name="T7" fmla="*/ 37 h 50"/>
                <a:gd name="T8" fmla="*/ 43 w 59"/>
                <a:gd name="T9" fmla="*/ 21 h 50"/>
                <a:gd name="T10" fmla="*/ 33 w 59"/>
                <a:gd name="T11" fmla="*/ 6 h 50"/>
                <a:gd name="T12" fmla="*/ 19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961" y="106"/>
              <a:ext cx="65" cy="42"/>
            </a:xfrm>
            <a:custGeom>
              <a:avLst/>
              <a:gdLst>
                <a:gd name="T0" fmla="*/ 33 w 86"/>
                <a:gd name="T1" fmla="*/ 5 h 57"/>
                <a:gd name="T2" fmla="*/ 18 w 86"/>
                <a:gd name="T3" fmla="*/ 18 h 57"/>
                <a:gd name="T4" fmla="*/ 3 w 86"/>
                <a:gd name="T5" fmla="*/ 20 h 57"/>
                <a:gd name="T6" fmla="*/ 12 w 86"/>
                <a:gd name="T7" fmla="*/ 42 h 57"/>
                <a:gd name="T8" fmla="*/ 56 w 86"/>
                <a:gd name="T9" fmla="*/ 26 h 57"/>
                <a:gd name="T10" fmla="*/ 65 w 86"/>
                <a:gd name="T11" fmla="*/ 13 h 57"/>
                <a:gd name="T12" fmla="*/ 42 w 86"/>
                <a:gd name="T13" fmla="*/ 5 h 57"/>
                <a:gd name="T14" fmla="*/ 33 w 86"/>
                <a:gd name="T15" fmla="*/ 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1029" y="114"/>
              <a:ext cx="54" cy="25"/>
            </a:xfrm>
            <a:custGeom>
              <a:avLst/>
              <a:gdLst>
                <a:gd name="T0" fmla="*/ 30 w 73"/>
                <a:gd name="T1" fmla="*/ 0 h 34"/>
                <a:gd name="T2" fmla="*/ 7 w 73"/>
                <a:gd name="T3" fmla="*/ 12 h 34"/>
                <a:gd name="T4" fmla="*/ 18 w 73"/>
                <a:gd name="T5" fmla="*/ 25 h 34"/>
                <a:gd name="T6" fmla="*/ 38 w 73"/>
                <a:gd name="T7" fmla="*/ 21 h 34"/>
                <a:gd name="T8" fmla="*/ 47 w 73"/>
                <a:gd name="T9" fmla="*/ 15 h 34"/>
                <a:gd name="T10" fmla="*/ 30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1000" y="78"/>
              <a:ext cx="64" cy="34"/>
            </a:xfrm>
            <a:custGeom>
              <a:avLst/>
              <a:gdLst>
                <a:gd name="T0" fmla="*/ 44 w 85"/>
                <a:gd name="T1" fmla="*/ 8 h 45"/>
                <a:gd name="T2" fmla="*/ 21 w 85"/>
                <a:gd name="T3" fmla="*/ 3 h 45"/>
                <a:gd name="T4" fmla="*/ 0 w 85"/>
                <a:gd name="T5" fmla="*/ 14 h 45"/>
                <a:gd name="T6" fmla="*/ 30 w 85"/>
                <a:gd name="T7" fmla="*/ 24 h 45"/>
                <a:gd name="T8" fmla="*/ 48 w 85"/>
                <a:gd name="T9" fmla="*/ 30 h 45"/>
                <a:gd name="T10" fmla="*/ 63 w 85"/>
                <a:gd name="T11" fmla="*/ 14 h 45"/>
                <a:gd name="T12" fmla="*/ 62 w 85"/>
                <a:gd name="T13" fmla="*/ 5 h 45"/>
                <a:gd name="T14" fmla="*/ 48 w 85"/>
                <a:gd name="T15" fmla="*/ 0 h 45"/>
                <a:gd name="T16" fmla="*/ 44 w 85"/>
                <a:gd name="T17" fmla="*/ 8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973" y="46"/>
              <a:ext cx="44" cy="24"/>
            </a:xfrm>
            <a:custGeom>
              <a:avLst/>
              <a:gdLst>
                <a:gd name="T0" fmla="*/ 12 w 58"/>
                <a:gd name="T1" fmla="*/ 3 h 31"/>
                <a:gd name="T2" fmla="*/ 0 w 58"/>
                <a:gd name="T3" fmla="*/ 14 h 31"/>
                <a:gd name="T4" fmla="*/ 15 w 58"/>
                <a:gd name="T5" fmla="*/ 22 h 31"/>
                <a:gd name="T6" fmla="*/ 21 w 58"/>
                <a:gd name="T7" fmla="*/ 15 h 31"/>
                <a:gd name="T8" fmla="*/ 39 w 58"/>
                <a:gd name="T9" fmla="*/ 9 h 31"/>
                <a:gd name="T10" fmla="*/ 33 w 58"/>
                <a:gd name="T11" fmla="*/ 0 h 31"/>
                <a:gd name="T12" fmla="*/ 12 w 58"/>
                <a:gd name="T13" fmla="*/ 3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1087" y="49"/>
              <a:ext cx="114" cy="77"/>
            </a:xfrm>
            <a:custGeom>
              <a:avLst/>
              <a:gdLst>
                <a:gd name="T0" fmla="*/ 29 w 152"/>
                <a:gd name="T1" fmla="*/ 0 h 102"/>
                <a:gd name="T2" fmla="*/ 11 w 152"/>
                <a:gd name="T3" fmla="*/ 5 h 102"/>
                <a:gd name="T4" fmla="*/ 3 w 152"/>
                <a:gd name="T5" fmla="*/ 29 h 102"/>
                <a:gd name="T6" fmla="*/ 9 w 152"/>
                <a:gd name="T7" fmla="*/ 42 h 102"/>
                <a:gd name="T8" fmla="*/ 0 w 152"/>
                <a:gd name="T9" fmla="*/ 54 h 102"/>
                <a:gd name="T10" fmla="*/ 42 w 152"/>
                <a:gd name="T11" fmla="*/ 65 h 102"/>
                <a:gd name="T12" fmla="*/ 62 w 152"/>
                <a:gd name="T13" fmla="*/ 69 h 102"/>
                <a:gd name="T14" fmla="*/ 114 w 152"/>
                <a:gd name="T15" fmla="*/ 65 h 102"/>
                <a:gd name="T16" fmla="*/ 57 w 152"/>
                <a:gd name="T17" fmla="*/ 53 h 102"/>
                <a:gd name="T18" fmla="*/ 41 w 152"/>
                <a:gd name="T19" fmla="*/ 47 h 102"/>
                <a:gd name="T20" fmla="*/ 33 w 152"/>
                <a:gd name="T21" fmla="*/ 39 h 102"/>
                <a:gd name="T22" fmla="*/ 38 w 152"/>
                <a:gd name="T23" fmla="*/ 26 h 102"/>
                <a:gd name="T24" fmla="*/ 29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0" y="294"/>
              <a:ext cx="25" cy="15"/>
            </a:xfrm>
            <a:custGeom>
              <a:avLst/>
              <a:gdLst>
                <a:gd name="T0" fmla="*/ 25 w 34"/>
                <a:gd name="T1" fmla="*/ 0 h 20"/>
                <a:gd name="T2" fmla="*/ 18 w 34"/>
                <a:gd name="T3" fmla="*/ 15 h 20"/>
                <a:gd name="T4" fmla="*/ 3 w 34"/>
                <a:gd name="T5" fmla="*/ 14 h 20"/>
                <a:gd name="T6" fmla="*/ 3 w 34"/>
                <a:gd name="T7" fmla="*/ 5 h 20"/>
                <a:gd name="T8" fmla="*/ 25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757" y="805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760" y="830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964" y="962"/>
              <a:ext cx="15" cy="12"/>
            </a:xfrm>
            <a:custGeom>
              <a:avLst/>
              <a:gdLst>
                <a:gd name="T0" fmla="*/ 2 w 21"/>
                <a:gd name="T1" fmla="*/ 0 h 16"/>
                <a:gd name="T2" fmla="*/ 9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1088" y="478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8" name="未知"/>
            <p:cNvSpPr>
              <a:spLocks/>
            </p:cNvSpPr>
            <p:nvPr/>
          </p:nvSpPr>
          <p:spPr bwMode="auto">
            <a:xfrm>
              <a:off x="988" y="273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9" name="未知"/>
            <p:cNvSpPr>
              <a:spLocks/>
            </p:cNvSpPr>
            <p:nvPr/>
          </p:nvSpPr>
          <p:spPr bwMode="auto">
            <a:xfrm>
              <a:off x="1053" y="94"/>
              <a:ext cx="39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1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1116" y="20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1132" y="0"/>
              <a:ext cx="696" cy="346"/>
            </a:xfrm>
            <a:custGeom>
              <a:avLst/>
              <a:gdLst>
                <a:gd name="T0" fmla="*/ 21 w 929"/>
                <a:gd name="T1" fmla="*/ 42 h 462"/>
                <a:gd name="T2" fmla="*/ 4 w 929"/>
                <a:gd name="T3" fmla="*/ 69 h 462"/>
                <a:gd name="T4" fmla="*/ 27 w 929"/>
                <a:gd name="T5" fmla="*/ 75 h 462"/>
                <a:gd name="T6" fmla="*/ 12 w 929"/>
                <a:gd name="T7" fmla="*/ 87 h 462"/>
                <a:gd name="T8" fmla="*/ 78 w 929"/>
                <a:gd name="T9" fmla="*/ 102 h 462"/>
                <a:gd name="T10" fmla="*/ 106 w 929"/>
                <a:gd name="T11" fmla="*/ 97 h 462"/>
                <a:gd name="T12" fmla="*/ 187 w 929"/>
                <a:gd name="T13" fmla="*/ 58 h 462"/>
                <a:gd name="T14" fmla="*/ 225 w 929"/>
                <a:gd name="T15" fmla="*/ 49 h 462"/>
                <a:gd name="T16" fmla="*/ 243 w 929"/>
                <a:gd name="T17" fmla="*/ 60 h 462"/>
                <a:gd name="T18" fmla="*/ 204 w 929"/>
                <a:gd name="T19" fmla="*/ 66 h 462"/>
                <a:gd name="T20" fmla="*/ 181 w 929"/>
                <a:gd name="T21" fmla="*/ 84 h 462"/>
                <a:gd name="T22" fmla="*/ 190 w 929"/>
                <a:gd name="T23" fmla="*/ 90 h 462"/>
                <a:gd name="T24" fmla="*/ 195 w 929"/>
                <a:gd name="T25" fmla="*/ 118 h 462"/>
                <a:gd name="T26" fmla="*/ 262 w 929"/>
                <a:gd name="T27" fmla="*/ 144 h 462"/>
                <a:gd name="T28" fmla="*/ 252 w 929"/>
                <a:gd name="T29" fmla="*/ 157 h 462"/>
                <a:gd name="T30" fmla="*/ 276 w 929"/>
                <a:gd name="T31" fmla="*/ 184 h 462"/>
                <a:gd name="T32" fmla="*/ 261 w 929"/>
                <a:gd name="T33" fmla="*/ 199 h 462"/>
                <a:gd name="T34" fmla="*/ 243 w 929"/>
                <a:gd name="T35" fmla="*/ 220 h 462"/>
                <a:gd name="T36" fmla="*/ 220 w 929"/>
                <a:gd name="T37" fmla="*/ 243 h 462"/>
                <a:gd name="T38" fmla="*/ 219 w 929"/>
                <a:gd name="T39" fmla="*/ 315 h 462"/>
                <a:gd name="T40" fmla="*/ 249 w 929"/>
                <a:gd name="T41" fmla="*/ 334 h 462"/>
                <a:gd name="T42" fmla="*/ 291 w 929"/>
                <a:gd name="T43" fmla="*/ 336 h 462"/>
                <a:gd name="T44" fmla="*/ 309 w 929"/>
                <a:gd name="T45" fmla="*/ 316 h 462"/>
                <a:gd name="T46" fmla="*/ 379 w 929"/>
                <a:gd name="T47" fmla="*/ 267 h 462"/>
                <a:gd name="T48" fmla="*/ 429 w 929"/>
                <a:gd name="T49" fmla="*/ 250 h 462"/>
                <a:gd name="T50" fmla="*/ 484 w 929"/>
                <a:gd name="T51" fmla="*/ 231 h 462"/>
                <a:gd name="T52" fmla="*/ 539 w 929"/>
                <a:gd name="T53" fmla="*/ 217 h 462"/>
                <a:gd name="T54" fmla="*/ 571 w 929"/>
                <a:gd name="T55" fmla="*/ 195 h 462"/>
                <a:gd name="T56" fmla="*/ 599 w 929"/>
                <a:gd name="T57" fmla="*/ 150 h 462"/>
                <a:gd name="T58" fmla="*/ 601 w 929"/>
                <a:gd name="T59" fmla="*/ 115 h 462"/>
                <a:gd name="T60" fmla="*/ 601 w 929"/>
                <a:gd name="T61" fmla="*/ 93 h 462"/>
                <a:gd name="T62" fmla="*/ 623 w 929"/>
                <a:gd name="T63" fmla="*/ 67 h 462"/>
                <a:gd name="T64" fmla="*/ 656 w 929"/>
                <a:gd name="T65" fmla="*/ 70 h 462"/>
                <a:gd name="T66" fmla="*/ 691 w 929"/>
                <a:gd name="T67" fmla="*/ 39 h 462"/>
                <a:gd name="T68" fmla="*/ 665 w 929"/>
                <a:gd name="T69" fmla="*/ 42 h 462"/>
                <a:gd name="T70" fmla="*/ 635 w 929"/>
                <a:gd name="T71" fmla="*/ 34 h 462"/>
                <a:gd name="T72" fmla="*/ 595 w 929"/>
                <a:gd name="T73" fmla="*/ 16 h 462"/>
                <a:gd name="T74" fmla="*/ 481 w 929"/>
                <a:gd name="T75" fmla="*/ 19 h 462"/>
                <a:gd name="T76" fmla="*/ 438 w 929"/>
                <a:gd name="T77" fmla="*/ 28 h 462"/>
                <a:gd name="T78" fmla="*/ 417 w 929"/>
                <a:gd name="T79" fmla="*/ 28 h 462"/>
                <a:gd name="T80" fmla="*/ 387 w 929"/>
                <a:gd name="T81" fmla="*/ 40 h 462"/>
                <a:gd name="T82" fmla="*/ 358 w 929"/>
                <a:gd name="T83" fmla="*/ 22 h 462"/>
                <a:gd name="T84" fmla="*/ 324 w 929"/>
                <a:gd name="T85" fmla="*/ 30 h 462"/>
                <a:gd name="T86" fmla="*/ 274 w 929"/>
                <a:gd name="T87" fmla="*/ 39 h 462"/>
                <a:gd name="T88" fmla="*/ 307 w 929"/>
                <a:gd name="T89" fmla="*/ 28 h 462"/>
                <a:gd name="T90" fmla="*/ 264 w 929"/>
                <a:gd name="T91" fmla="*/ 6 h 462"/>
                <a:gd name="T92" fmla="*/ 250 w 929"/>
                <a:gd name="T93" fmla="*/ 1 h 462"/>
                <a:gd name="T94" fmla="*/ 235 w 929"/>
                <a:gd name="T95" fmla="*/ 6 h 462"/>
                <a:gd name="T96" fmla="*/ 180 w 929"/>
                <a:gd name="T97" fmla="*/ 12 h 462"/>
                <a:gd name="T98" fmla="*/ 120 w 929"/>
                <a:gd name="T99" fmla="*/ 21 h 462"/>
                <a:gd name="T100" fmla="*/ 81 w 929"/>
                <a:gd name="T101" fmla="*/ 19 h 462"/>
                <a:gd name="T102" fmla="*/ 85 w 929"/>
                <a:gd name="T103" fmla="*/ 51 h 462"/>
                <a:gd name="T104" fmla="*/ 78 w 929"/>
                <a:gd name="T105" fmla="*/ 39 h 462"/>
                <a:gd name="T106" fmla="*/ 45 w 929"/>
                <a:gd name="T107" fmla="*/ 3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2" name="未知"/>
            <p:cNvSpPr>
              <a:spLocks/>
            </p:cNvSpPr>
            <p:nvPr/>
          </p:nvSpPr>
          <p:spPr bwMode="auto">
            <a:xfrm>
              <a:off x="1345" y="184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1628" y="250"/>
              <a:ext cx="128" cy="54"/>
            </a:xfrm>
            <a:custGeom>
              <a:avLst/>
              <a:gdLst>
                <a:gd name="T0" fmla="*/ 76 w 172"/>
                <a:gd name="T1" fmla="*/ 6 h 72"/>
                <a:gd name="T2" fmla="*/ 49 w 172"/>
                <a:gd name="T3" fmla="*/ 3 h 72"/>
                <a:gd name="T4" fmla="*/ 40 w 172"/>
                <a:gd name="T5" fmla="*/ 0 h 72"/>
                <a:gd name="T6" fmla="*/ 0 w 172"/>
                <a:gd name="T7" fmla="*/ 21 h 72"/>
                <a:gd name="T8" fmla="*/ 21 w 172"/>
                <a:gd name="T9" fmla="*/ 30 h 72"/>
                <a:gd name="T10" fmla="*/ 31 w 172"/>
                <a:gd name="T11" fmla="*/ 45 h 72"/>
                <a:gd name="T12" fmla="*/ 49 w 172"/>
                <a:gd name="T13" fmla="*/ 51 h 72"/>
                <a:gd name="T14" fmla="*/ 58 w 172"/>
                <a:gd name="T15" fmla="*/ 54 h 72"/>
                <a:gd name="T16" fmla="*/ 97 w 172"/>
                <a:gd name="T17" fmla="*/ 45 h 72"/>
                <a:gd name="T18" fmla="*/ 128 w 172"/>
                <a:gd name="T19" fmla="*/ 33 h 72"/>
                <a:gd name="T20" fmla="*/ 110 w 172"/>
                <a:gd name="T21" fmla="*/ 14 h 72"/>
                <a:gd name="T22" fmla="*/ 101 w 172"/>
                <a:gd name="T23" fmla="*/ 3 h 72"/>
                <a:gd name="T24" fmla="*/ 76 w 172"/>
                <a:gd name="T25" fmla="*/ 6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1729" y="87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1998" y="55"/>
              <a:ext cx="155" cy="63"/>
            </a:xfrm>
            <a:custGeom>
              <a:avLst/>
              <a:gdLst>
                <a:gd name="T0" fmla="*/ 144 w 206"/>
                <a:gd name="T1" fmla="*/ 5 h 85"/>
                <a:gd name="T2" fmla="*/ 78 w 206"/>
                <a:gd name="T3" fmla="*/ 7 h 85"/>
                <a:gd name="T4" fmla="*/ 82 w 206"/>
                <a:gd name="T5" fmla="*/ 19 h 85"/>
                <a:gd name="T6" fmla="*/ 81 w 206"/>
                <a:gd name="T7" fmla="*/ 24 h 85"/>
                <a:gd name="T8" fmla="*/ 67 w 206"/>
                <a:gd name="T9" fmla="*/ 20 h 85"/>
                <a:gd name="T10" fmla="*/ 58 w 206"/>
                <a:gd name="T11" fmla="*/ 14 h 85"/>
                <a:gd name="T12" fmla="*/ 17 w 206"/>
                <a:gd name="T13" fmla="*/ 20 h 85"/>
                <a:gd name="T14" fmla="*/ 23 w 206"/>
                <a:gd name="T15" fmla="*/ 36 h 85"/>
                <a:gd name="T16" fmla="*/ 41 w 206"/>
                <a:gd name="T17" fmla="*/ 39 h 85"/>
                <a:gd name="T18" fmla="*/ 56 w 206"/>
                <a:gd name="T19" fmla="*/ 54 h 85"/>
                <a:gd name="T20" fmla="*/ 67 w 206"/>
                <a:gd name="T21" fmla="*/ 63 h 85"/>
                <a:gd name="T22" fmla="*/ 82 w 206"/>
                <a:gd name="T23" fmla="*/ 50 h 85"/>
                <a:gd name="T24" fmla="*/ 91 w 206"/>
                <a:gd name="T25" fmla="*/ 44 h 85"/>
                <a:gd name="T26" fmla="*/ 96 w 206"/>
                <a:gd name="T27" fmla="*/ 35 h 85"/>
                <a:gd name="T28" fmla="*/ 126 w 206"/>
                <a:gd name="T29" fmla="*/ 26 h 85"/>
                <a:gd name="T30" fmla="*/ 141 w 206"/>
                <a:gd name="T31" fmla="*/ 23 h 85"/>
                <a:gd name="T32" fmla="*/ 150 w 206"/>
                <a:gd name="T33" fmla="*/ 20 h 85"/>
                <a:gd name="T34" fmla="*/ 144 w 206"/>
                <a:gd name="T35" fmla="*/ 5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2095" y="88"/>
              <a:ext cx="48" cy="21"/>
            </a:xfrm>
            <a:custGeom>
              <a:avLst/>
              <a:gdLst>
                <a:gd name="T0" fmla="*/ 27 w 64"/>
                <a:gd name="T1" fmla="*/ 5 h 28"/>
                <a:gd name="T2" fmla="*/ 6 w 64"/>
                <a:gd name="T3" fmla="*/ 3 h 28"/>
                <a:gd name="T4" fmla="*/ 18 w 64"/>
                <a:gd name="T5" fmla="*/ 21 h 28"/>
                <a:gd name="T6" fmla="*/ 41 w 64"/>
                <a:gd name="T7" fmla="*/ 11 h 28"/>
                <a:gd name="T8" fmla="*/ 27 w 64"/>
                <a:gd name="T9" fmla="*/ 5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1803" y="360"/>
              <a:ext cx="109" cy="132"/>
            </a:xfrm>
            <a:custGeom>
              <a:avLst/>
              <a:gdLst>
                <a:gd name="T0" fmla="*/ 18 w 146"/>
                <a:gd name="T1" fmla="*/ 14 h 176"/>
                <a:gd name="T2" fmla="*/ 0 w 146"/>
                <a:gd name="T3" fmla="*/ 19 h 176"/>
                <a:gd name="T4" fmla="*/ 10 w 146"/>
                <a:gd name="T5" fmla="*/ 32 h 176"/>
                <a:gd name="T6" fmla="*/ 25 w 146"/>
                <a:gd name="T7" fmla="*/ 65 h 176"/>
                <a:gd name="T8" fmla="*/ 39 w 146"/>
                <a:gd name="T9" fmla="*/ 68 h 176"/>
                <a:gd name="T10" fmla="*/ 37 w 146"/>
                <a:gd name="T11" fmla="*/ 80 h 176"/>
                <a:gd name="T12" fmla="*/ 21 w 146"/>
                <a:gd name="T13" fmla="*/ 85 h 176"/>
                <a:gd name="T14" fmla="*/ 12 w 146"/>
                <a:gd name="T15" fmla="*/ 98 h 176"/>
                <a:gd name="T16" fmla="*/ 13 w 146"/>
                <a:gd name="T17" fmla="*/ 103 h 176"/>
                <a:gd name="T18" fmla="*/ 22 w 146"/>
                <a:gd name="T19" fmla="*/ 106 h 176"/>
                <a:gd name="T20" fmla="*/ 13 w 146"/>
                <a:gd name="T21" fmla="*/ 127 h 176"/>
                <a:gd name="T22" fmla="*/ 15 w 146"/>
                <a:gd name="T23" fmla="*/ 131 h 176"/>
                <a:gd name="T24" fmla="*/ 25 w 146"/>
                <a:gd name="T25" fmla="*/ 128 h 176"/>
                <a:gd name="T26" fmla="*/ 43 w 146"/>
                <a:gd name="T27" fmla="*/ 127 h 176"/>
                <a:gd name="T28" fmla="*/ 69 w 146"/>
                <a:gd name="T29" fmla="*/ 128 h 176"/>
                <a:gd name="T30" fmla="*/ 82 w 146"/>
                <a:gd name="T31" fmla="*/ 127 h 176"/>
                <a:gd name="T32" fmla="*/ 91 w 146"/>
                <a:gd name="T33" fmla="*/ 124 h 176"/>
                <a:gd name="T34" fmla="*/ 96 w 146"/>
                <a:gd name="T35" fmla="*/ 106 h 176"/>
                <a:gd name="T36" fmla="*/ 109 w 146"/>
                <a:gd name="T37" fmla="*/ 100 h 176"/>
                <a:gd name="T38" fmla="*/ 82 w 146"/>
                <a:gd name="T39" fmla="*/ 82 h 176"/>
                <a:gd name="T40" fmla="*/ 66 w 146"/>
                <a:gd name="T41" fmla="*/ 62 h 176"/>
                <a:gd name="T42" fmla="*/ 61 w 146"/>
                <a:gd name="T43" fmla="*/ 52 h 176"/>
                <a:gd name="T44" fmla="*/ 48 w 146"/>
                <a:gd name="T45" fmla="*/ 46 h 176"/>
                <a:gd name="T46" fmla="*/ 64 w 146"/>
                <a:gd name="T47" fmla="*/ 34 h 176"/>
                <a:gd name="T48" fmla="*/ 48 w 146"/>
                <a:gd name="T49" fmla="*/ 23 h 176"/>
                <a:gd name="T50" fmla="*/ 52 w 146"/>
                <a:gd name="T51" fmla="*/ 10 h 176"/>
                <a:gd name="T52" fmla="*/ 34 w 146"/>
                <a:gd name="T53" fmla="*/ 1 h 176"/>
                <a:gd name="T54" fmla="*/ 22 w 146"/>
                <a:gd name="T55" fmla="*/ 7 h 176"/>
                <a:gd name="T56" fmla="*/ 18 w 146"/>
                <a:gd name="T57" fmla="*/ 14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1749" y="408"/>
              <a:ext cx="69" cy="68"/>
            </a:xfrm>
            <a:custGeom>
              <a:avLst/>
              <a:gdLst>
                <a:gd name="T0" fmla="*/ 44 w 92"/>
                <a:gd name="T1" fmla="*/ 4 h 92"/>
                <a:gd name="T2" fmla="*/ 62 w 92"/>
                <a:gd name="T3" fmla="*/ 6 h 92"/>
                <a:gd name="T4" fmla="*/ 69 w 92"/>
                <a:gd name="T5" fmla="*/ 19 h 92"/>
                <a:gd name="T6" fmla="*/ 59 w 92"/>
                <a:gd name="T7" fmla="*/ 35 h 92"/>
                <a:gd name="T8" fmla="*/ 35 w 92"/>
                <a:gd name="T9" fmla="*/ 56 h 92"/>
                <a:gd name="T10" fmla="*/ 14 w 92"/>
                <a:gd name="T11" fmla="*/ 68 h 92"/>
                <a:gd name="T12" fmla="*/ 6 w 92"/>
                <a:gd name="T13" fmla="*/ 53 h 92"/>
                <a:gd name="T14" fmla="*/ 15 w 92"/>
                <a:gd name="T15" fmla="*/ 47 h 92"/>
                <a:gd name="T16" fmla="*/ 11 w 92"/>
                <a:gd name="T17" fmla="*/ 34 h 92"/>
                <a:gd name="T18" fmla="*/ 30 w 92"/>
                <a:gd name="T19" fmla="*/ 21 h 92"/>
                <a:gd name="T20" fmla="*/ 44 w 92"/>
                <a:gd name="T21" fmla="*/ 4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3435" y="1551"/>
              <a:ext cx="474" cy="495"/>
            </a:xfrm>
            <a:custGeom>
              <a:avLst/>
              <a:gdLst>
                <a:gd name="T0" fmla="*/ 159 w 633"/>
                <a:gd name="T1" fmla="*/ 8 h 660"/>
                <a:gd name="T2" fmla="*/ 132 w 633"/>
                <a:gd name="T3" fmla="*/ 14 h 660"/>
                <a:gd name="T4" fmla="*/ 108 w 633"/>
                <a:gd name="T5" fmla="*/ 38 h 660"/>
                <a:gd name="T6" fmla="*/ 78 w 633"/>
                <a:gd name="T7" fmla="*/ 44 h 660"/>
                <a:gd name="T8" fmla="*/ 63 w 633"/>
                <a:gd name="T9" fmla="*/ 56 h 660"/>
                <a:gd name="T10" fmla="*/ 51 w 633"/>
                <a:gd name="T11" fmla="*/ 86 h 660"/>
                <a:gd name="T12" fmla="*/ 27 w 633"/>
                <a:gd name="T13" fmla="*/ 125 h 660"/>
                <a:gd name="T14" fmla="*/ 0 w 633"/>
                <a:gd name="T15" fmla="*/ 134 h 660"/>
                <a:gd name="T16" fmla="*/ 54 w 633"/>
                <a:gd name="T17" fmla="*/ 242 h 660"/>
                <a:gd name="T18" fmla="*/ 90 w 633"/>
                <a:gd name="T19" fmla="*/ 320 h 660"/>
                <a:gd name="T20" fmla="*/ 108 w 633"/>
                <a:gd name="T21" fmla="*/ 332 h 660"/>
                <a:gd name="T22" fmla="*/ 126 w 633"/>
                <a:gd name="T23" fmla="*/ 338 h 660"/>
                <a:gd name="T24" fmla="*/ 171 w 633"/>
                <a:gd name="T25" fmla="*/ 323 h 660"/>
                <a:gd name="T26" fmla="*/ 189 w 633"/>
                <a:gd name="T27" fmla="*/ 317 h 660"/>
                <a:gd name="T28" fmla="*/ 225 w 633"/>
                <a:gd name="T29" fmla="*/ 338 h 660"/>
                <a:gd name="T30" fmla="*/ 243 w 633"/>
                <a:gd name="T31" fmla="*/ 395 h 660"/>
                <a:gd name="T32" fmla="*/ 252 w 633"/>
                <a:gd name="T33" fmla="*/ 392 h 660"/>
                <a:gd name="T34" fmla="*/ 258 w 633"/>
                <a:gd name="T35" fmla="*/ 383 h 660"/>
                <a:gd name="T36" fmla="*/ 276 w 633"/>
                <a:gd name="T37" fmla="*/ 410 h 660"/>
                <a:gd name="T38" fmla="*/ 303 w 633"/>
                <a:gd name="T39" fmla="*/ 428 h 660"/>
                <a:gd name="T40" fmla="*/ 326 w 633"/>
                <a:gd name="T41" fmla="*/ 452 h 660"/>
                <a:gd name="T42" fmla="*/ 332 w 633"/>
                <a:gd name="T43" fmla="*/ 461 h 660"/>
                <a:gd name="T44" fmla="*/ 341 w 633"/>
                <a:gd name="T45" fmla="*/ 467 h 660"/>
                <a:gd name="T46" fmla="*/ 362 w 633"/>
                <a:gd name="T47" fmla="*/ 491 h 660"/>
                <a:gd name="T48" fmla="*/ 368 w 633"/>
                <a:gd name="T49" fmla="*/ 473 h 660"/>
                <a:gd name="T50" fmla="*/ 404 w 633"/>
                <a:gd name="T51" fmla="*/ 494 h 660"/>
                <a:gd name="T52" fmla="*/ 440 w 633"/>
                <a:gd name="T53" fmla="*/ 491 h 660"/>
                <a:gd name="T54" fmla="*/ 461 w 633"/>
                <a:gd name="T55" fmla="*/ 398 h 660"/>
                <a:gd name="T56" fmla="*/ 473 w 633"/>
                <a:gd name="T57" fmla="*/ 347 h 660"/>
                <a:gd name="T58" fmla="*/ 464 w 633"/>
                <a:gd name="T59" fmla="*/ 275 h 660"/>
                <a:gd name="T60" fmla="*/ 401 w 633"/>
                <a:gd name="T61" fmla="*/ 203 h 660"/>
                <a:gd name="T62" fmla="*/ 395 w 633"/>
                <a:gd name="T63" fmla="*/ 176 h 660"/>
                <a:gd name="T64" fmla="*/ 344 w 633"/>
                <a:gd name="T65" fmla="*/ 134 h 660"/>
                <a:gd name="T66" fmla="*/ 353 w 633"/>
                <a:gd name="T67" fmla="*/ 116 h 660"/>
                <a:gd name="T68" fmla="*/ 341 w 633"/>
                <a:gd name="T69" fmla="*/ 98 h 660"/>
                <a:gd name="T70" fmla="*/ 312 w 633"/>
                <a:gd name="T71" fmla="*/ 59 h 660"/>
                <a:gd name="T72" fmla="*/ 294 w 633"/>
                <a:gd name="T73" fmla="*/ 23 h 660"/>
                <a:gd name="T74" fmla="*/ 291 w 633"/>
                <a:gd name="T75" fmla="*/ 14 h 660"/>
                <a:gd name="T76" fmla="*/ 273 w 633"/>
                <a:gd name="T77" fmla="*/ 113 h 660"/>
                <a:gd name="T78" fmla="*/ 243 w 633"/>
                <a:gd name="T79" fmla="*/ 86 h 660"/>
                <a:gd name="T80" fmla="*/ 219 w 633"/>
                <a:gd name="T81" fmla="*/ 83 h 660"/>
                <a:gd name="T82" fmla="*/ 204 w 633"/>
                <a:gd name="T83" fmla="*/ 65 h 660"/>
                <a:gd name="T84" fmla="*/ 198 w 633"/>
                <a:gd name="T85" fmla="*/ 47 h 660"/>
                <a:gd name="T86" fmla="*/ 207 w 633"/>
                <a:gd name="T87" fmla="*/ 41 h 660"/>
                <a:gd name="T88" fmla="*/ 180 w 633"/>
                <a:gd name="T89" fmla="*/ 14 h 660"/>
                <a:gd name="T90" fmla="*/ 162 w 633"/>
                <a:gd name="T91" fmla="*/ 8 h 660"/>
                <a:gd name="T92" fmla="*/ 153 w 633"/>
                <a:gd name="T93" fmla="*/ 5 h 660"/>
                <a:gd name="T94" fmla="*/ 159 w 633"/>
                <a:gd name="T95" fmla="*/ 8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3582" y="1290"/>
              <a:ext cx="319" cy="210"/>
            </a:xfrm>
            <a:custGeom>
              <a:avLst/>
              <a:gdLst>
                <a:gd name="T0" fmla="*/ 63 w 426"/>
                <a:gd name="T1" fmla="*/ 45 h 280"/>
                <a:gd name="T2" fmla="*/ 51 w 426"/>
                <a:gd name="T3" fmla="*/ 27 h 280"/>
                <a:gd name="T4" fmla="*/ 48 w 426"/>
                <a:gd name="T5" fmla="*/ 12 h 280"/>
                <a:gd name="T6" fmla="*/ 39 w 426"/>
                <a:gd name="T7" fmla="*/ 9 h 280"/>
                <a:gd name="T8" fmla="*/ 12 w 426"/>
                <a:gd name="T9" fmla="*/ 12 h 280"/>
                <a:gd name="T10" fmla="*/ 33 w 426"/>
                <a:gd name="T11" fmla="*/ 30 h 280"/>
                <a:gd name="T12" fmla="*/ 36 w 426"/>
                <a:gd name="T13" fmla="*/ 39 h 280"/>
                <a:gd name="T14" fmla="*/ 18 w 426"/>
                <a:gd name="T15" fmla="*/ 51 h 280"/>
                <a:gd name="T16" fmla="*/ 66 w 426"/>
                <a:gd name="T17" fmla="*/ 69 h 280"/>
                <a:gd name="T18" fmla="*/ 93 w 426"/>
                <a:gd name="T19" fmla="*/ 84 h 280"/>
                <a:gd name="T20" fmla="*/ 96 w 426"/>
                <a:gd name="T21" fmla="*/ 93 h 280"/>
                <a:gd name="T22" fmla="*/ 105 w 426"/>
                <a:gd name="T23" fmla="*/ 99 h 280"/>
                <a:gd name="T24" fmla="*/ 111 w 426"/>
                <a:gd name="T25" fmla="*/ 117 h 280"/>
                <a:gd name="T26" fmla="*/ 99 w 426"/>
                <a:gd name="T27" fmla="*/ 147 h 280"/>
                <a:gd name="T28" fmla="*/ 135 w 426"/>
                <a:gd name="T29" fmla="*/ 141 h 280"/>
                <a:gd name="T30" fmla="*/ 144 w 426"/>
                <a:gd name="T31" fmla="*/ 162 h 280"/>
                <a:gd name="T32" fmla="*/ 162 w 426"/>
                <a:gd name="T33" fmla="*/ 168 h 280"/>
                <a:gd name="T34" fmla="*/ 171 w 426"/>
                <a:gd name="T35" fmla="*/ 171 h 280"/>
                <a:gd name="T36" fmla="*/ 189 w 426"/>
                <a:gd name="T37" fmla="*/ 168 h 280"/>
                <a:gd name="T38" fmla="*/ 207 w 426"/>
                <a:gd name="T39" fmla="*/ 147 h 280"/>
                <a:gd name="T40" fmla="*/ 252 w 426"/>
                <a:gd name="T41" fmla="*/ 189 h 280"/>
                <a:gd name="T42" fmla="*/ 273 w 426"/>
                <a:gd name="T43" fmla="*/ 210 h 280"/>
                <a:gd name="T44" fmla="*/ 270 w 426"/>
                <a:gd name="T45" fmla="*/ 168 h 280"/>
                <a:gd name="T46" fmla="*/ 252 w 426"/>
                <a:gd name="T47" fmla="*/ 150 h 280"/>
                <a:gd name="T48" fmla="*/ 279 w 426"/>
                <a:gd name="T49" fmla="*/ 126 h 280"/>
                <a:gd name="T50" fmla="*/ 306 w 426"/>
                <a:gd name="T51" fmla="*/ 117 h 280"/>
                <a:gd name="T52" fmla="*/ 315 w 426"/>
                <a:gd name="T53" fmla="*/ 114 h 280"/>
                <a:gd name="T54" fmla="*/ 318 w 426"/>
                <a:gd name="T55" fmla="*/ 105 h 280"/>
                <a:gd name="T56" fmla="*/ 267 w 426"/>
                <a:gd name="T57" fmla="*/ 111 h 280"/>
                <a:gd name="T58" fmla="*/ 228 w 426"/>
                <a:gd name="T59" fmla="*/ 105 h 280"/>
                <a:gd name="T60" fmla="*/ 225 w 426"/>
                <a:gd name="T61" fmla="*/ 96 h 280"/>
                <a:gd name="T62" fmla="*/ 219 w 426"/>
                <a:gd name="T63" fmla="*/ 87 h 280"/>
                <a:gd name="T64" fmla="*/ 165 w 426"/>
                <a:gd name="T65" fmla="*/ 60 h 280"/>
                <a:gd name="T66" fmla="*/ 120 w 426"/>
                <a:gd name="T67" fmla="*/ 45 h 280"/>
                <a:gd name="T68" fmla="*/ 102 w 426"/>
                <a:gd name="T69" fmla="*/ 39 h 280"/>
                <a:gd name="T70" fmla="*/ 60 w 426"/>
                <a:gd name="T71" fmla="*/ 39 h 280"/>
                <a:gd name="T72" fmla="*/ 51 w 426"/>
                <a:gd name="T73" fmla="*/ 24 h 280"/>
                <a:gd name="T74" fmla="*/ 5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1" name="未知"/>
            <p:cNvSpPr>
              <a:spLocks/>
            </p:cNvSpPr>
            <p:nvPr/>
          </p:nvSpPr>
          <p:spPr bwMode="auto">
            <a:xfrm>
              <a:off x="3591" y="1292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15 w 416"/>
                <a:gd name="T3" fmla="*/ 28 h 282"/>
                <a:gd name="T4" fmla="*/ 21 w 416"/>
                <a:gd name="T5" fmla="*/ 37 h 282"/>
                <a:gd name="T6" fmla="*/ 63 w 416"/>
                <a:gd name="T7" fmla="*/ 67 h 282"/>
                <a:gd name="T8" fmla="*/ 90 w 416"/>
                <a:gd name="T9" fmla="*/ 85 h 282"/>
                <a:gd name="T10" fmla="*/ 99 w 416"/>
                <a:gd name="T11" fmla="*/ 91 h 282"/>
                <a:gd name="T12" fmla="*/ 102 w 416"/>
                <a:gd name="T13" fmla="*/ 126 h 282"/>
                <a:gd name="T14" fmla="*/ 87 w 416"/>
                <a:gd name="T15" fmla="*/ 150 h 282"/>
                <a:gd name="T16" fmla="*/ 102 w 416"/>
                <a:gd name="T17" fmla="*/ 147 h 282"/>
                <a:gd name="T18" fmla="*/ 111 w 416"/>
                <a:gd name="T19" fmla="*/ 141 h 282"/>
                <a:gd name="T20" fmla="*/ 120 w 416"/>
                <a:gd name="T21" fmla="*/ 150 h 282"/>
                <a:gd name="T22" fmla="*/ 138 w 416"/>
                <a:gd name="T23" fmla="*/ 162 h 282"/>
                <a:gd name="T24" fmla="*/ 156 w 416"/>
                <a:gd name="T25" fmla="*/ 174 h 282"/>
                <a:gd name="T26" fmla="*/ 179 w 416"/>
                <a:gd name="T27" fmla="*/ 165 h 282"/>
                <a:gd name="T28" fmla="*/ 185 w 416"/>
                <a:gd name="T29" fmla="*/ 147 h 282"/>
                <a:gd name="T30" fmla="*/ 200 w 416"/>
                <a:gd name="T31" fmla="*/ 150 h 282"/>
                <a:gd name="T32" fmla="*/ 218 w 416"/>
                <a:gd name="T33" fmla="*/ 156 h 282"/>
                <a:gd name="T34" fmla="*/ 254 w 416"/>
                <a:gd name="T35" fmla="*/ 210 h 282"/>
                <a:gd name="T36" fmla="*/ 266 w 416"/>
                <a:gd name="T37" fmla="*/ 207 h 282"/>
                <a:gd name="T38" fmla="*/ 263 w 416"/>
                <a:gd name="T39" fmla="*/ 189 h 282"/>
                <a:gd name="T40" fmla="*/ 236 w 416"/>
                <a:gd name="T41" fmla="*/ 147 h 282"/>
                <a:gd name="T42" fmla="*/ 269 w 416"/>
                <a:gd name="T43" fmla="*/ 129 h 282"/>
                <a:gd name="T44" fmla="*/ 305 w 416"/>
                <a:gd name="T45" fmla="*/ 108 h 282"/>
                <a:gd name="T46" fmla="*/ 306 w 416"/>
                <a:gd name="T47" fmla="*/ 90 h 282"/>
                <a:gd name="T48" fmla="*/ 274 w 416"/>
                <a:gd name="T49" fmla="*/ 103 h 282"/>
                <a:gd name="T50" fmla="*/ 230 w 416"/>
                <a:gd name="T51" fmla="*/ 103 h 282"/>
                <a:gd name="T52" fmla="*/ 197 w 416"/>
                <a:gd name="T53" fmla="*/ 73 h 282"/>
                <a:gd name="T54" fmla="*/ 135 w 416"/>
                <a:gd name="T55" fmla="*/ 46 h 282"/>
                <a:gd name="T56" fmla="*/ 99 w 416"/>
                <a:gd name="T57" fmla="*/ 25 h 282"/>
                <a:gd name="T58" fmla="*/ 69 w 416"/>
                <a:gd name="T59" fmla="*/ 31 h 282"/>
                <a:gd name="T60" fmla="*/ 57 w 416"/>
                <a:gd name="T61" fmla="*/ 43 h 282"/>
                <a:gd name="T62" fmla="*/ 42 w 416"/>
                <a:gd name="T63" fmla="*/ 13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3821" y="2062"/>
              <a:ext cx="45" cy="58"/>
            </a:xfrm>
            <a:custGeom>
              <a:avLst/>
              <a:gdLst>
                <a:gd name="T0" fmla="*/ 24 w 60"/>
                <a:gd name="T1" fmla="*/ 13 h 78"/>
                <a:gd name="T2" fmla="*/ 0 w 60"/>
                <a:gd name="T3" fmla="*/ 13 h 78"/>
                <a:gd name="T4" fmla="*/ 15 w 60"/>
                <a:gd name="T5" fmla="*/ 31 h 78"/>
                <a:gd name="T6" fmla="*/ 21 w 60"/>
                <a:gd name="T7" fmla="*/ 49 h 78"/>
                <a:gd name="T8" fmla="*/ 24 w 60"/>
                <a:gd name="T9" fmla="*/ 58 h 78"/>
                <a:gd name="T10" fmla="*/ 45 w 60"/>
                <a:gd name="T11" fmla="*/ 37 h 78"/>
                <a:gd name="T12" fmla="*/ 24 w 60"/>
                <a:gd name="T13" fmla="*/ 13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3957" y="1972"/>
              <a:ext cx="164" cy="85"/>
            </a:xfrm>
            <a:custGeom>
              <a:avLst/>
              <a:gdLst>
                <a:gd name="T0" fmla="*/ 35 w 219"/>
                <a:gd name="T1" fmla="*/ 55 h 113"/>
                <a:gd name="T2" fmla="*/ 29 w 219"/>
                <a:gd name="T3" fmla="*/ 46 h 113"/>
                <a:gd name="T4" fmla="*/ 11 w 219"/>
                <a:gd name="T5" fmla="*/ 52 h 113"/>
                <a:gd name="T6" fmla="*/ 29 w 219"/>
                <a:gd name="T7" fmla="*/ 85 h 113"/>
                <a:gd name="T8" fmla="*/ 92 w 219"/>
                <a:gd name="T9" fmla="*/ 67 h 113"/>
                <a:gd name="T10" fmla="*/ 110 w 219"/>
                <a:gd name="T11" fmla="*/ 55 h 113"/>
                <a:gd name="T12" fmla="*/ 128 w 219"/>
                <a:gd name="T13" fmla="*/ 49 h 113"/>
                <a:gd name="T14" fmla="*/ 164 w 219"/>
                <a:gd name="T15" fmla="*/ 14 h 113"/>
                <a:gd name="T16" fmla="*/ 157 w 219"/>
                <a:gd name="T17" fmla="*/ 0 h 113"/>
                <a:gd name="T18" fmla="*/ 134 w 219"/>
                <a:gd name="T19" fmla="*/ 13 h 113"/>
                <a:gd name="T20" fmla="*/ 80 w 219"/>
                <a:gd name="T21" fmla="*/ 31 h 113"/>
                <a:gd name="T22" fmla="*/ 62 w 219"/>
                <a:gd name="T23" fmla="*/ 34 h 113"/>
                <a:gd name="T24" fmla="*/ 44 w 219"/>
                <a:gd name="T25" fmla="*/ 40 h 113"/>
                <a:gd name="T26" fmla="*/ 35 w 219"/>
                <a:gd name="T27" fmla="*/ 55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4127" y="1922"/>
              <a:ext cx="104" cy="92"/>
            </a:xfrm>
            <a:custGeom>
              <a:avLst/>
              <a:gdLst>
                <a:gd name="T0" fmla="*/ 9 w 139"/>
                <a:gd name="T1" fmla="*/ 45 h 122"/>
                <a:gd name="T2" fmla="*/ 6 w 139"/>
                <a:gd name="T3" fmla="*/ 63 h 122"/>
                <a:gd name="T4" fmla="*/ 0 w 139"/>
                <a:gd name="T5" fmla="*/ 81 h 122"/>
                <a:gd name="T6" fmla="*/ 27 w 139"/>
                <a:gd name="T7" fmla="*/ 87 h 122"/>
                <a:gd name="T8" fmla="*/ 39 w 139"/>
                <a:gd name="T9" fmla="*/ 72 h 122"/>
                <a:gd name="T10" fmla="*/ 93 w 139"/>
                <a:gd name="T11" fmla="*/ 51 h 122"/>
                <a:gd name="T12" fmla="*/ 102 w 139"/>
                <a:gd name="T13" fmla="*/ 33 h 122"/>
                <a:gd name="T14" fmla="*/ 84 w 139"/>
                <a:gd name="T15" fmla="*/ 21 h 122"/>
                <a:gd name="T16" fmla="*/ 75 w 139"/>
                <a:gd name="T17" fmla="*/ 15 h 122"/>
                <a:gd name="T18" fmla="*/ 48 w 139"/>
                <a:gd name="T19" fmla="*/ 9 h 122"/>
                <a:gd name="T20" fmla="*/ 39 w 139"/>
                <a:gd name="T21" fmla="*/ 27 h 122"/>
                <a:gd name="T22" fmla="*/ 9 w 139"/>
                <a:gd name="T23" fmla="*/ 45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4182" y="1881"/>
              <a:ext cx="37" cy="26"/>
            </a:xfrm>
            <a:custGeom>
              <a:avLst/>
              <a:gdLst>
                <a:gd name="T0" fmla="*/ 22 w 49"/>
                <a:gd name="T1" fmla="*/ 0 h 35"/>
                <a:gd name="T2" fmla="*/ 6 w 49"/>
                <a:gd name="T3" fmla="*/ 8 h 35"/>
                <a:gd name="T4" fmla="*/ 18 w 49"/>
                <a:gd name="T5" fmla="*/ 26 h 35"/>
                <a:gd name="T6" fmla="*/ 29 w 49"/>
                <a:gd name="T7" fmla="*/ 19 h 35"/>
                <a:gd name="T8" fmla="*/ 22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2459" y="1395"/>
              <a:ext cx="123" cy="201"/>
            </a:xfrm>
            <a:custGeom>
              <a:avLst/>
              <a:gdLst>
                <a:gd name="T0" fmla="*/ 96 w 164"/>
                <a:gd name="T1" fmla="*/ 0 h 268"/>
                <a:gd name="T2" fmla="*/ 78 w 164"/>
                <a:gd name="T3" fmla="*/ 21 h 268"/>
                <a:gd name="T4" fmla="*/ 66 w 164"/>
                <a:gd name="T5" fmla="*/ 48 h 268"/>
                <a:gd name="T6" fmla="*/ 27 w 164"/>
                <a:gd name="T7" fmla="*/ 63 h 268"/>
                <a:gd name="T8" fmla="*/ 21 w 164"/>
                <a:gd name="T9" fmla="*/ 72 h 268"/>
                <a:gd name="T10" fmla="*/ 12 w 164"/>
                <a:gd name="T11" fmla="*/ 75 h 268"/>
                <a:gd name="T12" fmla="*/ 15 w 164"/>
                <a:gd name="T13" fmla="*/ 99 h 268"/>
                <a:gd name="T14" fmla="*/ 21 w 164"/>
                <a:gd name="T15" fmla="*/ 117 h 268"/>
                <a:gd name="T16" fmla="*/ 0 w 164"/>
                <a:gd name="T17" fmla="*/ 150 h 268"/>
                <a:gd name="T18" fmla="*/ 21 w 164"/>
                <a:gd name="T19" fmla="*/ 195 h 268"/>
                <a:gd name="T20" fmla="*/ 39 w 164"/>
                <a:gd name="T21" fmla="*/ 201 h 268"/>
                <a:gd name="T22" fmla="*/ 66 w 164"/>
                <a:gd name="T23" fmla="*/ 162 h 268"/>
                <a:gd name="T24" fmla="*/ 78 w 164"/>
                <a:gd name="T25" fmla="*/ 144 h 268"/>
                <a:gd name="T26" fmla="*/ 96 w 164"/>
                <a:gd name="T27" fmla="*/ 87 h 268"/>
                <a:gd name="T28" fmla="*/ 105 w 164"/>
                <a:gd name="T29" fmla="*/ 57 h 268"/>
                <a:gd name="T30" fmla="*/ 123 w 164"/>
                <a:gd name="T31" fmla="*/ 54 h 268"/>
                <a:gd name="T32" fmla="*/ 96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7" name="未知"/>
            <p:cNvSpPr>
              <a:spLocks/>
            </p:cNvSpPr>
            <p:nvPr/>
          </p:nvSpPr>
          <p:spPr bwMode="auto">
            <a:xfrm>
              <a:off x="2991" y="1083"/>
              <a:ext cx="49" cy="61"/>
            </a:xfrm>
            <a:custGeom>
              <a:avLst/>
              <a:gdLst>
                <a:gd name="T0" fmla="*/ 22 w 66"/>
                <a:gd name="T1" fmla="*/ 0 h 81"/>
                <a:gd name="T2" fmla="*/ 19 w 66"/>
                <a:gd name="T3" fmla="*/ 45 h 81"/>
                <a:gd name="T4" fmla="*/ 22 w 66"/>
                <a:gd name="T5" fmla="*/ 57 h 81"/>
                <a:gd name="T6" fmla="*/ 30 w 66"/>
                <a:gd name="T7" fmla="*/ 60 h 81"/>
                <a:gd name="T8" fmla="*/ 42 w 66"/>
                <a:gd name="T9" fmla="*/ 57 h 81"/>
                <a:gd name="T10" fmla="*/ 2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8" name="未知"/>
            <p:cNvSpPr>
              <a:spLocks/>
            </p:cNvSpPr>
            <p:nvPr/>
          </p:nvSpPr>
          <p:spPr bwMode="auto">
            <a:xfrm>
              <a:off x="3324" y="1149"/>
              <a:ext cx="111" cy="183"/>
            </a:xfrm>
            <a:custGeom>
              <a:avLst/>
              <a:gdLst>
                <a:gd name="T0" fmla="*/ 72 w 148"/>
                <a:gd name="T1" fmla="*/ 0 h 244"/>
                <a:gd name="T2" fmla="*/ 45 w 148"/>
                <a:gd name="T3" fmla="*/ 63 h 244"/>
                <a:gd name="T4" fmla="*/ 27 w 148"/>
                <a:gd name="T5" fmla="*/ 69 h 244"/>
                <a:gd name="T6" fmla="*/ 9 w 148"/>
                <a:gd name="T7" fmla="*/ 81 h 244"/>
                <a:gd name="T8" fmla="*/ 30 w 148"/>
                <a:gd name="T9" fmla="*/ 141 h 244"/>
                <a:gd name="T10" fmla="*/ 39 w 148"/>
                <a:gd name="T11" fmla="*/ 168 h 244"/>
                <a:gd name="T12" fmla="*/ 45 w 148"/>
                <a:gd name="T13" fmla="*/ 177 h 244"/>
                <a:gd name="T14" fmla="*/ 63 w 148"/>
                <a:gd name="T15" fmla="*/ 183 h 244"/>
                <a:gd name="T16" fmla="*/ 72 w 148"/>
                <a:gd name="T17" fmla="*/ 147 h 244"/>
                <a:gd name="T18" fmla="*/ 93 w 148"/>
                <a:gd name="T19" fmla="*/ 126 h 244"/>
                <a:gd name="T20" fmla="*/ 84 w 148"/>
                <a:gd name="T21" fmla="*/ 51 h 244"/>
                <a:gd name="T22" fmla="*/ 105 w 148"/>
                <a:gd name="T23" fmla="*/ 36 h 244"/>
                <a:gd name="T24" fmla="*/ 84 w 148"/>
                <a:gd name="T25" fmla="*/ 15 h 244"/>
                <a:gd name="T26" fmla="*/ 7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9" name="未知"/>
            <p:cNvSpPr>
              <a:spLocks/>
            </p:cNvSpPr>
            <p:nvPr/>
          </p:nvSpPr>
          <p:spPr bwMode="auto">
            <a:xfrm>
              <a:off x="3230" y="1092"/>
              <a:ext cx="72" cy="137"/>
            </a:xfrm>
            <a:custGeom>
              <a:avLst/>
              <a:gdLst>
                <a:gd name="T0" fmla="*/ 36 w 96"/>
                <a:gd name="T1" fmla="*/ 1 h 183"/>
                <a:gd name="T2" fmla="*/ 38 w 96"/>
                <a:gd name="T3" fmla="*/ 26 h 183"/>
                <a:gd name="T4" fmla="*/ 45 w 96"/>
                <a:gd name="T5" fmla="*/ 46 h 183"/>
                <a:gd name="T6" fmla="*/ 47 w 96"/>
                <a:gd name="T7" fmla="*/ 69 h 183"/>
                <a:gd name="T8" fmla="*/ 51 w 96"/>
                <a:gd name="T9" fmla="*/ 79 h 183"/>
                <a:gd name="T10" fmla="*/ 53 w 96"/>
                <a:gd name="T11" fmla="*/ 94 h 183"/>
                <a:gd name="T12" fmla="*/ 43 w 96"/>
                <a:gd name="T13" fmla="*/ 70 h 183"/>
                <a:gd name="T14" fmla="*/ 26 w 96"/>
                <a:gd name="T15" fmla="*/ 58 h 183"/>
                <a:gd name="T16" fmla="*/ 4 w 96"/>
                <a:gd name="T17" fmla="*/ 62 h 183"/>
                <a:gd name="T18" fmla="*/ 6 w 96"/>
                <a:gd name="T19" fmla="*/ 76 h 183"/>
                <a:gd name="T20" fmla="*/ 31 w 96"/>
                <a:gd name="T21" fmla="*/ 85 h 183"/>
                <a:gd name="T22" fmla="*/ 43 w 96"/>
                <a:gd name="T23" fmla="*/ 101 h 183"/>
                <a:gd name="T24" fmla="*/ 53 w 96"/>
                <a:gd name="T25" fmla="*/ 101 h 183"/>
                <a:gd name="T26" fmla="*/ 59 w 96"/>
                <a:gd name="T27" fmla="*/ 112 h 183"/>
                <a:gd name="T28" fmla="*/ 72 w 96"/>
                <a:gd name="T29" fmla="*/ 134 h 183"/>
                <a:gd name="T30" fmla="*/ 61 w 96"/>
                <a:gd name="T31" fmla="*/ 94 h 183"/>
                <a:gd name="T32" fmla="*/ 60 w 96"/>
                <a:gd name="T33" fmla="*/ 70 h 183"/>
                <a:gd name="T34" fmla="*/ 53 w 96"/>
                <a:gd name="T35" fmla="*/ 47 h 183"/>
                <a:gd name="T36" fmla="*/ 47 w 96"/>
                <a:gd name="T37" fmla="*/ 31 h 183"/>
                <a:gd name="T38" fmla="*/ 43 w 96"/>
                <a:gd name="T39" fmla="*/ 15 h 183"/>
                <a:gd name="T40" fmla="*/ 3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0" name="未知"/>
            <p:cNvSpPr>
              <a:spLocks/>
            </p:cNvSpPr>
            <p:nvPr/>
          </p:nvSpPr>
          <p:spPr bwMode="auto">
            <a:xfrm>
              <a:off x="3279" y="1202"/>
              <a:ext cx="40" cy="131"/>
            </a:xfrm>
            <a:custGeom>
              <a:avLst/>
              <a:gdLst>
                <a:gd name="T0" fmla="*/ 4 w 54"/>
                <a:gd name="T1" fmla="*/ 0 h 175"/>
                <a:gd name="T2" fmla="*/ 0 w 54"/>
                <a:gd name="T3" fmla="*/ 19 h 175"/>
                <a:gd name="T4" fmla="*/ 7 w 54"/>
                <a:gd name="T5" fmla="*/ 40 h 175"/>
                <a:gd name="T6" fmla="*/ 13 w 54"/>
                <a:gd name="T7" fmla="*/ 70 h 175"/>
                <a:gd name="T8" fmla="*/ 25 w 54"/>
                <a:gd name="T9" fmla="*/ 97 h 175"/>
                <a:gd name="T10" fmla="*/ 40 w 54"/>
                <a:gd name="T11" fmla="*/ 131 h 175"/>
                <a:gd name="T12" fmla="*/ 30 w 54"/>
                <a:gd name="T13" fmla="*/ 86 h 175"/>
                <a:gd name="T14" fmla="*/ 25 w 54"/>
                <a:gd name="T15" fmla="*/ 70 h 175"/>
                <a:gd name="T16" fmla="*/ 21 w 54"/>
                <a:gd name="T17" fmla="*/ 46 h 175"/>
                <a:gd name="T18" fmla="*/ 19 w 54"/>
                <a:gd name="T19" fmla="*/ 34 h 175"/>
                <a:gd name="T20" fmla="*/ 12 w 54"/>
                <a:gd name="T21" fmla="*/ 28 h 175"/>
                <a:gd name="T22" fmla="*/ 4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1" name="未知"/>
            <p:cNvSpPr>
              <a:spLocks/>
            </p:cNvSpPr>
            <p:nvPr/>
          </p:nvSpPr>
          <p:spPr bwMode="auto">
            <a:xfrm>
              <a:off x="3324" y="1339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6 w 86"/>
                <a:gd name="T3" fmla="*/ 25 h 73"/>
                <a:gd name="T4" fmla="*/ 17 w 86"/>
                <a:gd name="T5" fmla="*/ 32 h 73"/>
                <a:gd name="T6" fmla="*/ 36 w 86"/>
                <a:gd name="T7" fmla="*/ 36 h 73"/>
                <a:gd name="T8" fmla="*/ 47 w 86"/>
                <a:gd name="T9" fmla="*/ 42 h 73"/>
                <a:gd name="T10" fmla="*/ 56 w 86"/>
                <a:gd name="T11" fmla="*/ 49 h 73"/>
                <a:gd name="T12" fmla="*/ 65 w 86"/>
                <a:gd name="T13" fmla="*/ 51 h 73"/>
                <a:gd name="T14" fmla="*/ 54 w 86"/>
                <a:gd name="T15" fmla="*/ 29 h 73"/>
                <a:gd name="T16" fmla="*/ 48 w 86"/>
                <a:gd name="T17" fmla="*/ 16 h 73"/>
                <a:gd name="T18" fmla="*/ 27 w 86"/>
                <a:gd name="T19" fmla="*/ 18 h 73"/>
                <a:gd name="T20" fmla="*/ 18 w 86"/>
                <a:gd name="T21" fmla="*/ 14 h 73"/>
                <a:gd name="T22" fmla="*/ 5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2" name="未知"/>
            <p:cNvSpPr>
              <a:spLocks/>
            </p:cNvSpPr>
            <p:nvPr/>
          </p:nvSpPr>
          <p:spPr bwMode="auto">
            <a:xfrm>
              <a:off x="3428" y="1244"/>
              <a:ext cx="83" cy="117"/>
            </a:xfrm>
            <a:custGeom>
              <a:avLst/>
              <a:gdLst>
                <a:gd name="T0" fmla="*/ 73 w 111"/>
                <a:gd name="T1" fmla="*/ 0 h 156"/>
                <a:gd name="T2" fmla="*/ 56 w 111"/>
                <a:gd name="T3" fmla="*/ 8 h 156"/>
                <a:gd name="T4" fmla="*/ 17 w 111"/>
                <a:gd name="T5" fmla="*/ 11 h 156"/>
                <a:gd name="T6" fmla="*/ 10 w 111"/>
                <a:gd name="T7" fmla="*/ 25 h 156"/>
                <a:gd name="T8" fmla="*/ 8 w 111"/>
                <a:gd name="T9" fmla="*/ 46 h 156"/>
                <a:gd name="T10" fmla="*/ 10 w 111"/>
                <a:gd name="T11" fmla="*/ 56 h 156"/>
                <a:gd name="T12" fmla="*/ 2 w 111"/>
                <a:gd name="T13" fmla="*/ 66 h 156"/>
                <a:gd name="T14" fmla="*/ 10 w 111"/>
                <a:gd name="T15" fmla="*/ 82 h 156"/>
                <a:gd name="T16" fmla="*/ 17 w 111"/>
                <a:gd name="T17" fmla="*/ 93 h 156"/>
                <a:gd name="T18" fmla="*/ 11 w 111"/>
                <a:gd name="T19" fmla="*/ 108 h 156"/>
                <a:gd name="T20" fmla="*/ 18 w 111"/>
                <a:gd name="T21" fmla="*/ 117 h 156"/>
                <a:gd name="T22" fmla="*/ 31 w 111"/>
                <a:gd name="T23" fmla="*/ 108 h 156"/>
                <a:gd name="T24" fmla="*/ 37 w 111"/>
                <a:gd name="T25" fmla="*/ 70 h 156"/>
                <a:gd name="T26" fmla="*/ 42 w 111"/>
                <a:gd name="T27" fmla="*/ 95 h 156"/>
                <a:gd name="T28" fmla="*/ 49 w 111"/>
                <a:gd name="T29" fmla="*/ 109 h 156"/>
                <a:gd name="T30" fmla="*/ 46 w 111"/>
                <a:gd name="T31" fmla="*/ 84 h 156"/>
                <a:gd name="T32" fmla="*/ 54 w 111"/>
                <a:gd name="T33" fmla="*/ 55 h 156"/>
                <a:gd name="T34" fmla="*/ 52 w 111"/>
                <a:gd name="T35" fmla="*/ 38 h 156"/>
                <a:gd name="T36" fmla="*/ 40 w 111"/>
                <a:gd name="T37" fmla="*/ 45 h 156"/>
                <a:gd name="T38" fmla="*/ 26 w 111"/>
                <a:gd name="T39" fmla="*/ 41 h 156"/>
                <a:gd name="T40" fmla="*/ 31 w 111"/>
                <a:gd name="T41" fmla="*/ 27 h 156"/>
                <a:gd name="T42" fmla="*/ 46 w 111"/>
                <a:gd name="T43" fmla="*/ 26 h 156"/>
                <a:gd name="T44" fmla="*/ 58 w 111"/>
                <a:gd name="T45" fmla="*/ 29 h 156"/>
                <a:gd name="T46" fmla="*/ 73 w 111"/>
                <a:gd name="T47" fmla="*/ 23 h 156"/>
                <a:gd name="T48" fmla="*/ 83 w 111"/>
                <a:gd name="T49" fmla="*/ 10 h 156"/>
                <a:gd name="T50" fmla="*/ 7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3" name="未知"/>
            <p:cNvSpPr>
              <a:spLocks/>
            </p:cNvSpPr>
            <p:nvPr/>
          </p:nvSpPr>
          <p:spPr bwMode="auto">
            <a:xfrm>
              <a:off x="3400" y="826"/>
              <a:ext cx="22" cy="71"/>
            </a:xfrm>
            <a:custGeom>
              <a:avLst/>
              <a:gdLst>
                <a:gd name="T0" fmla="*/ 9 w 30"/>
                <a:gd name="T1" fmla="*/ 0 h 94"/>
                <a:gd name="T2" fmla="*/ 0 w 30"/>
                <a:gd name="T3" fmla="*/ 12 h 94"/>
                <a:gd name="T4" fmla="*/ 4 w 30"/>
                <a:gd name="T5" fmla="*/ 28 h 94"/>
                <a:gd name="T6" fmla="*/ 1 w 30"/>
                <a:gd name="T7" fmla="*/ 46 h 94"/>
                <a:gd name="T8" fmla="*/ 12 w 30"/>
                <a:gd name="T9" fmla="*/ 71 h 94"/>
                <a:gd name="T10" fmla="*/ 22 w 30"/>
                <a:gd name="T11" fmla="*/ 62 h 94"/>
                <a:gd name="T12" fmla="*/ 16 w 30"/>
                <a:gd name="T13" fmla="*/ 46 h 94"/>
                <a:gd name="T14" fmla="*/ 9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4" name="未知"/>
            <p:cNvSpPr>
              <a:spLocks/>
            </p:cNvSpPr>
            <p:nvPr/>
          </p:nvSpPr>
          <p:spPr bwMode="auto">
            <a:xfrm>
              <a:off x="3414" y="945"/>
              <a:ext cx="61" cy="118"/>
            </a:xfrm>
            <a:custGeom>
              <a:avLst/>
              <a:gdLst>
                <a:gd name="T0" fmla="*/ 9 w 81"/>
                <a:gd name="T1" fmla="*/ 1 h 158"/>
                <a:gd name="T2" fmla="*/ 0 w 81"/>
                <a:gd name="T3" fmla="*/ 15 h 158"/>
                <a:gd name="T4" fmla="*/ 6 w 81"/>
                <a:gd name="T5" fmla="*/ 37 h 158"/>
                <a:gd name="T6" fmla="*/ 5 w 81"/>
                <a:gd name="T7" fmla="*/ 80 h 158"/>
                <a:gd name="T8" fmla="*/ 13 w 81"/>
                <a:gd name="T9" fmla="*/ 77 h 158"/>
                <a:gd name="T10" fmla="*/ 15 w 81"/>
                <a:gd name="T11" fmla="*/ 86 h 158"/>
                <a:gd name="T12" fmla="*/ 22 w 81"/>
                <a:gd name="T13" fmla="*/ 91 h 158"/>
                <a:gd name="T14" fmla="*/ 29 w 81"/>
                <a:gd name="T15" fmla="*/ 105 h 158"/>
                <a:gd name="T16" fmla="*/ 36 w 81"/>
                <a:gd name="T17" fmla="*/ 96 h 158"/>
                <a:gd name="T18" fmla="*/ 49 w 81"/>
                <a:gd name="T19" fmla="*/ 100 h 158"/>
                <a:gd name="T20" fmla="*/ 47 w 81"/>
                <a:gd name="T21" fmla="*/ 81 h 158"/>
                <a:gd name="T22" fmla="*/ 36 w 81"/>
                <a:gd name="T23" fmla="*/ 78 h 158"/>
                <a:gd name="T24" fmla="*/ 29 w 81"/>
                <a:gd name="T25" fmla="*/ 68 h 158"/>
                <a:gd name="T26" fmla="*/ 25 w 81"/>
                <a:gd name="T27" fmla="*/ 55 h 158"/>
                <a:gd name="T28" fmla="*/ 31 w 81"/>
                <a:gd name="T29" fmla="*/ 40 h 158"/>
                <a:gd name="T30" fmla="*/ 26 w 81"/>
                <a:gd name="T31" fmla="*/ 26 h 158"/>
                <a:gd name="T32" fmla="*/ 32 w 81"/>
                <a:gd name="T33" fmla="*/ 15 h 158"/>
                <a:gd name="T34" fmla="*/ 22 w 81"/>
                <a:gd name="T35" fmla="*/ 3 h 158"/>
                <a:gd name="T36" fmla="*/ 14 w 81"/>
                <a:gd name="T37" fmla="*/ 5 h 158"/>
                <a:gd name="T38" fmla="*/ 9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5" name="未知"/>
            <p:cNvSpPr>
              <a:spLocks/>
            </p:cNvSpPr>
            <p:nvPr/>
          </p:nvSpPr>
          <p:spPr bwMode="auto">
            <a:xfrm>
              <a:off x="3457" y="1101"/>
              <a:ext cx="64" cy="79"/>
            </a:xfrm>
            <a:custGeom>
              <a:avLst/>
              <a:gdLst>
                <a:gd name="T0" fmla="*/ 39 w 85"/>
                <a:gd name="T1" fmla="*/ 0 h 105"/>
                <a:gd name="T2" fmla="*/ 33 w 85"/>
                <a:gd name="T3" fmla="*/ 14 h 105"/>
                <a:gd name="T4" fmla="*/ 24 w 85"/>
                <a:gd name="T5" fmla="*/ 23 h 105"/>
                <a:gd name="T6" fmla="*/ 12 w 85"/>
                <a:gd name="T7" fmla="*/ 26 h 105"/>
                <a:gd name="T8" fmla="*/ 6 w 85"/>
                <a:gd name="T9" fmla="*/ 36 h 105"/>
                <a:gd name="T10" fmla="*/ 3 w 85"/>
                <a:gd name="T11" fmla="*/ 56 h 105"/>
                <a:gd name="T12" fmla="*/ 10 w 85"/>
                <a:gd name="T13" fmla="*/ 53 h 105"/>
                <a:gd name="T14" fmla="*/ 19 w 85"/>
                <a:gd name="T15" fmla="*/ 47 h 105"/>
                <a:gd name="T16" fmla="*/ 26 w 85"/>
                <a:gd name="T17" fmla="*/ 52 h 105"/>
                <a:gd name="T18" fmla="*/ 44 w 85"/>
                <a:gd name="T19" fmla="*/ 74 h 105"/>
                <a:gd name="T20" fmla="*/ 53 w 85"/>
                <a:gd name="T21" fmla="*/ 54 h 105"/>
                <a:gd name="T22" fmla="*/ 64 w 85"/>
                <a:gd name="T23" fmla="*/ 51 h 105"/>
                <a:gd name="T24" fmla="*/ 56 w 85"/>
                <a:gd name="T25" fmla="*/ 29 h 105"/>
                <a:gd name="T26" fmla="*/ 39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6" name="未知"/>
            <p:cNvSpPr>
              <a:spLocks/>
            </p:cNvSpPr>
            <p:nvPr/>
          </p:nvSpPr>
          <p:spPr bwMode="auto">
            <a:xfrm>
              <a:off x="3533" y="1242"/>
              <a:ext cx="29" cy="49"/>
            </a:xfrm>
            <a:custGeom>
              <a:avLst/>
              <a:gdLst>
                <a:gd name="T0" fmla="*/ 5 w 38"/>
                <a:gd name="T1" fmla="*/ 20 h 66"/>
                <a:gd name="T2" fmla="*/ 20 w 38"/>
                <a:gd name="T3" fmla="*/ 49 h 66"/>
                <a:gd name="T4" fmla="*/ 23 w 38"/>
                <a:gd name="T5" fmla="*/ 39 h 66"/>
                <a:gd name="T6" fmla="*/ 29 w 38"/>
                <a:gd name="T7" fmla="*/ 30 h 66"/>
                <a:gd name="T8" fmla="*/ 23 w 38"/>
                <a:gd name="T9" fmla="*/ 19 h 66"/>
                <a:gd name="T10" fmla="*/ 15 w 38"/>
                <a:gd name="T11" fmla="*/ 10 h 66"/>
                <a:gd name="T12" fmla="*/ 8 w 38"/>
                <a:gd name="T13" fmla="*/ 1 h 66"/>
                <a:gd name="T14" fmla="*/ 2 w 38"/>
                <a:gd name="T15" fmla="*/ 9 h 66"/>
                <a:gd name="T16" fmla="*/ 5 w 38"/>
                <a:gd name="T17" fmla="*/ 20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7" name="未知"/>
            <p:cNvSpPr>
              <a:spLocks/>
            </p:cNvSpPr>
            <p:nvPr/>
          </p:nvSpPr>
          <p:spPr bwMode="auto">
            <a:xfrm>
              <a:off x="3517" y="1324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5 w 24"/>
                <a:gd name="T3" fmla="*/ 17 h 23"/>
                <a:gd name="T4" fmla="*/ 18 w 24"/>
                <a:gd name="T5" fmla="*/ 8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8" name="未知"/>
            <p:cNvSpPr>
              <a:spLocks/>
            </p:cNvSpPr>
            <p:nvPr/>
          </p:nvSpPr>
          <p:spPr bwMode="auto">
            <a:xfrm>
              <a:off x="3544" y="1314"/>
              <a:ext cx="45" cy="37"/>
            </a:xfrm>
            <a:custGeom>
              <a:avLst/>
              <a:gdLst>
                <a:gd name="T0" fmla="*/ 7 w 60"/>
                <a:gd name="T1" fmla="*/ 0 h 49"/>
                <a:gd name="T2" fmla="*/ 0 w 60"/>
                <a:gd name="T3" fmla="*/ 14 h 49"/>
                <a:gd name="T4" fmla="*/ 21 w 60"/>
                <a:gd name="T5" fmla="*/ 25 h 49"/>
                <a:gd name="T6" fmla="*/ 32 w 60"/>
                <a:gd name="T7" fmla="*/ 35 h 49"/>
                <a:gd name="T8" fmla="*/ 45 w 60"/>
                <a:gd name="T9" fmla="*/ 32 h 49"/>
                <a:gd name="T10" fmla="*/ 37 w 60"/>
                <a:gd name="T11" fmla="*/ 18 h 49"/>
                <a:gd name="T12" fmla="*/ 21 w 60"/>
                <a:gd name="T13" fmla="*/ 2 h 49"/>
                <a:gd name="T14" fmla="*/ 14 w 60"/>
                <a:gd name="T15" fmla="*/ 12 h 49"/>
                <a:gd name="T16" fmla="*/ 7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9" name="未知"/>
            <p:cNvSpPr>
              <a:spLocks/>
            </p:cNvSpPr>
            <p:nvPr/>
          </p:nvSpPr>
          <p:spPr bwMode="auto">
            <a:xfrm>
              <a:off x="3613" y="1384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0" name="未知"/>
            <p:cNvSpPr>
              <a:spLocks/>
            </p:cNvSpPr>
            <p:nvPr/>
          </p:nvSpPr>
          <p:spPr bwMode="auto">
            <a:xfrm>
              <a:off x="3880" y="1342"/>
              <a:ext cx="46" cy="47"/>
            </a:xfrm>
            <a:custGeom>
              <a:avLst/>
              <a:gdLst>
                <a:gd name="T0" fmla="*/ 5 w 61"/>
                <a:gd name="T1" fmla="*/ 0 h 63"/>
                <a:gd name="T2" fmla="*/ 0 w 61"/>
                <a:gd name="T3" fmla="*/ 10 h 63"/>
                <a:gd name="T4" fmla="*/ 18 w 61"/>
                <a:gd name="T5" fmla="*/ 26 h 63"/>
                <a:gd name="T6" fmla="*/ 27 w 61"/>
                <a:gd name="T7" fmla="*/ 40 h 63"/>
                <a:gd name="T8" fmla="*/ 35 w 61"/>
                <a:gd name="T9" fmla="*/ 47 h 63"/>
                <a:gd name="T10" fmla="*/ 46 w 61"/>
                <a:gd name="T11" fmla="*/ 42 h 63"/>
                <a:gd name="T12" fmla="*/ 25 w 61"/>
                <a:gd name="T13" fmla="*/ 13 h 63"/>
                <a:gd name="T14" fmla="*/ 5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1" name="未知"/>
            <p:cNvSpPr>
              <a:spLocks/>
            </p:cNvSpPr>
            <p:nvPr/>
          </p:nvSpPr>
          <p:spPr bwMode="auto">
            <a:xfrm>
              <a:off x="3483" y="1401"/>
              <a:ext cx="46" cy="50"/>
            </a:xfrm>
            <a:custGeom>
              <a:avLst/>
              <a:gdLst>
                <a:gd name="T0" fmla="*/ 21 w 61"/>
                <a:gd name="T1" fmla="*/ 5 h 67"/>
                <a:gd name="T2" fmla="*/ 23 w 61"/>
                <a:gd name="T3" fmla="*/ 25 h 67"/>
                <a:gd name="T4" fmla="*/ 12 w 61"/>
                <a:gd name="T5" fmla="*/ 32 h 67"/>
                <a:gd name="T6" fmla="*/ 17 w 61"/>
                <a:gd name="T7" fmla="*/ 50 h 67"/>
                <a:gd name="T8" fmla="*/ 36 w 61"/>
                <a:gd name="T9" fmla="*/ 43 h 67"/>
                <a:gd name="T10" fmla="*/ 45 w 61"/>
                <a:gd name="T11" fmla="*/ 35 h 67"/>
                <a:gd name="T12" fmla="*/ 38 w 61"/>
                <a:gd name="T13" fmla="*/ 21 h 67"/>
                <a:gd name="T14" fmla="*/ 43 w 61"/>
                <a:gd name="T15" fmla="*/ 10 h 67"/>
                <a:gd name="T16" fmla="*/ 41 w 61"/>
                <a:gd name="T17" fmla="*/ 1 h 67"/>
                <a:gd name="T18" fmla="*/ 35 w 61"/>
                <a:gd name="T19" fmla="*/ 3 h 67"/>
                <a:gd name="T20" fmla="*/ 38 w 61"/>
                <a:gd name="T21" fmla="*/ 4 h 67"/>
                <a:gd name="T22" fmla="*/ 37 w 61"/>
                <a:gd name="T23" fmla="*/ 12 h 67"/>
                <a:gd name="T24" fmla="*/ 32 w 61"/>
                <a:gd name="T25" fmla="*/ 17 h 67"/>
                <a:gd name="T26" fmla="*/ 21 w 61"/>
                <a:gd name="T27" fmla="*/ 5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2" name="未知"/>
            <p:cNvSpPr>
              <a:spLocks/>
            </p:cNvSpPr>
            <p:nvPr/>
          </p:nvSpPr>
          <p:spPr bwMode="auto">
            <a:xfrm>
              <a:off x="3434" y="1420"/>
              <a:ext cx="32" cy="27"/>
            </a:xfrm>
            <a:custGeom>
              <a:avLst/>
              <a:gdLst>
                <a:gd name="T0" fmla="*/ 16 w 43"/>
                <a:gd name="T1" fmla="*/ 2 h 36"/>
                <a:gd name="T2" fmla="*/ 4 w 43"/>
                <a:gd name="T3" fmla="*/ 5 h 36"/>
                <a:gd name="T4" fmla="*/ 25 w 43"/>
                <a:gd name="T5" fmla="*/ 27 h 36"/>
                <a:gd name="T6" fmla="*/ 31 w 43"/>
                <a:gd name="T7" fmla="*/ 23 h 36"/>
                <a:gd name="T8" fmla="*/ 16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3" name="未知"/>
            <p:cNvSpPr>
              <a:spLocks/>
            </p:cNvSpPr>
            <p:nvPr/>
          </p:nvSpPr>
          <p:spPr bwMode="auto">
            <a:xfrm>
              <a:off x="3413" y="1391"/>
              <a:ext cx="24" cy="31"/>
            </a:xfrm>
            <a:custGeom>
              <a:avLst/>
              <a:gdLst>
                <a:gd name="T0" fmla="*/ 16 w 32"/>
                <a:gd name="T1" fmla="*/ 0 h 41"/>
                <a:gd name="T2" fmla="*/ 0 w 32"/>
                <a:gd name="T3" fmla="*/ 20 h 41"/>
                <a:gd name="T4" fmla="*/ 12 w 32"/>
                <a:gd name="T5" fmla="*/ 18 h 41"/>
                <a:gd name="T6" fmla="*/ 14 w 32"/>
                <a:gd name="T7" fmla="*/ 22 h 41"/>
                <a:gd name="T8" fmla="*/ 12 w 32"/>
                <a:gd name="T9" fmla="*/ 26 h 41"/>
                <a:gd name="T10" fmla="*/ 23 w 32"/>
                <a:gd name="T11" fmla="*/ 16 h 41"/>
                <a:gd name="T12" fmla="*/ 18 w 32"/>
                <a:gd name="T13" fmla="*/ 7 h 41"/>
                <a:gd name="T14" fmla="*/ 16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4" name="未知"/>
            <p:cNvSpPr>
              <a:spLocks/>
            </p:cNvSpPr>
            <p:nvPr/>
          </p:nvSpPr>
          <p:spPr bwMode="auto">
            <a:xfrm>
              <a:off x="3447" y="1402"/>
              <a:ext cx="34" cy="24"/>
            </a:xfrm>
            <a:custGeom>
              <a:avLst/>
              <a:gdLst>
                <a:gd name="T0" fmla="*/ 16 w 45"/>
                <a:gd name="T1" fmla="*/ 0 h 32"/>
                <a:gd name="T2" fmla="*/ 0 w 45"/>
                <a:gd name="T3" fmla="*/ 5 h 32"/>
                <a:gd name="T4" fmla="*/ 20 w 45"/>
                <a:gd name="T5" fmla="*/ 23 h 32"/>
                <a:gd name="T6" fmla="*/ 34 w 45"/>
                <a:gd name="T7" fmla="*/ 18 h 32"/>
                <a:gd name="T8" fmla="*/ 17 w 45"/>
                <a:gd name="T9" fmla="*/ 8 h 32"/>
                <a:gd name="T10" fmla="*/ 16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5" name="未知"/>
            <p:cNvSpPr>
              <a:spLocks/>
            </p:cNvSpPr>
            <p:nvPr/>
          </p:nvSpPr>
          <p:spPr bwMode="auto">
            <a:xfrm>
              <a:off x="3398" y="1070"/>
              <a:ext cx="27" cy="55"/>
            </a:xfrm>
            <a:custGeom>
              <a:avLst/>
              <a:gdLst>
                <a:gd name="T0" fmla="*/ 23 w 35"/>
                <a:gd name="T1" fmla="*/ 0 h 74"/>
                <a:gd name="T2" fmla="*/ 16 w 35"/>
                <a:gd name="T3" fmla="*/ 11 h 74"/>
                <a:gd name="T4" fmla="*/ 7 w 35"/>
                <a:gd name="T5" fmla="*/ 27 h 74"/>
                <a:gd name="T6" fmla="*/ 0 w 35"/>
                <a:gd name="T7" fmla="*/ 44 h 74"/>
                <a:gd name="T8" fmla="*/ 6 w 35"/>
                <a:gd name="T9" fmla="*/ 55 h 74"/>
                <a:gd name="T10" fmla="*/ 15 w 35"/>
                <a:gd name="T11" fmla="*/ 44 h 74"/>
                <a:gd name="T12" fmla="*/ 27 w 35"/>
                <a:gd name="T13" fmla="*/ 24 h 74"/>
                <a:gd name="T14" fmla="*/ 23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6" name="未知"/>
            <p:cNvSpPr>
              <a:spLocks/>
            </p:cNvSpPr>
            <p:nvPr/>
          </p:nvSpPr>
          <p:spPr bwMode="auto">
            <a:xfrm>
              <a:off x="3449" y="1061"/>
              <a:ext cx="19" cy="55"/>
            </a:xfrm>
            <a:custGeom>
              <a:avLst/>
              <a:gdLst>
                <a:gd name="T0" fmla="*/ 10 w 25"/>
                <a:gd name="T1" fmla="*/ 5 h 73"/>
                <a:gd name="T2" fmla="*/ 3 w 25"/>
                <a:gd name="T3" fmla="*/ 6 h 73"/>
                <a:gd name="T4" fmla="*/ 0 w 25"/>
                <a:gd name="T5" fmla="*/ 17 h 73"/>
                <a:gd name="T6" fmla="*/ 11 w 25"/>
                <a:gd name="T7" fmla="*/ 31 h 73"/>
                <a:gd name="T8" fmla="*/ 19 w 25"/>
                <a:gd name="T9" fmla="*/ 42 h 73"/>
                <a:gd name="T10" fmla="*/ 12 w 25"/>
                <a:gd name="T11" fmla="*/ 15 h 73"/>
                <a:gd name="T12" fmla="*/ 10 w 25"/>
                <a:gd name="T13" fmla="*/ 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7" name="未知"/>
            <p:cNvSpPr>
              <a:spLocks/>
            </p:cNvSpPr>
            <p:nvPr/>
          </p:nvSpPr>
          <p:spPr bwMode="auto">
            <a:xfrm>
              <a:off x="3471" y="1044"/>
              <a:ext cx="10" cy="25"/>
            </a:xfrm>
            <a:custGeom>
              <a:avLst/>
              <a:gdLst>
                <a:gd name="T0" fmla="*/ 8 w 14"/>
                <a:gd name="T1" fmla="*/ 0 h 33"/>
                <a:gd name="T2" fmla="*/ 1 w 14"/>
                <a:gd name="T3" fmla="*/ 8 h 33"/>
                <a:gd name="T4" fmla="*/ 8 w 14"/>
                <a:gd name="T5" fmla="*/ 19 h 33"/>
                <a:gd name="T6" fmla="*/ 8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8" name="未知"/>
            <p:cNvSpPr>
              <a:spLocks/>
            </p:cNvSpPr>
            <p:nvPr/>
          </p:nvSpPr>
          <p:spPr bwMode="auto">
            <a:xfrm>
              <a:off x="3481" y="1056"/>
              <a:ext cx="21" cy="48"/>
            </a:xfrm>
            <a:custGeom>
              <a:avLst/>
              <a:gdLst>
                <a:gd name="T0" fmla="*/ 4 w 28"/>
                <a:gd name="T1" fmla="*/ 0 h 64"/>
                <a:gd name="T2" fmla="*/ 8 w 28"/>
                <a:gd name="T3" fmla="*/ 11 h 64"/>
                <a:gd name="T4" fmla="*/ 15 w 28"/>
                <a:gd name="T5" fmla="*/ 16 h 64"/>
                <a:gd name="T6" fmla="*/ 6 w 28"/>
                <a:gd name="T7" fmla="*/ 29 h 64"/>
                <a:gd name="T8" fmla="*/ 0 w 28"/>
                <a:gd name="T9" fmla="*/ 42 h 64"/>
                <a:gd name="T10" fmla="*/ 8 w 28"/>
                <a:gd name="T11" fmla="*/ 43 h 64"/>
                <a:gd name="T12" fmla="*/ 20 w 28"/>
                <a:gd name="T13" fmla="*/ 20 h 64"/>
                <a:gd name="T14" fmla="*/ 4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9" name="未知"/>
            <p:cNvSpPr>
              <a:spLocks/>
            </p:cNvSpPr>
            <p:nvPr/>
          </p:nvSpPr>
          <p:spPr bwMode="auto">
            <a:xfrm>
              <a:off x="3212" y="1125"/>
              <a:ext cx="12" cy="27"/>
            </a:xfrm>
            <a:custGeom>
              <a:avLst/>
              <a:gdLst>
                <a:gd name="T0" fmla="*/ 11 w 16"/>
                <a:gd name="T1" fmla="*/ 2 h 36"/>
                <a:gd name="T2" fmla="*/ 0 w 16"/>
                <a:gd name="T3" fmla="*/ 5 h 36"/>
                <a:gd name="T4" fmla="*/ 6 w 16"/>
                <a:gd name="T5" fmla="*/ 17 h 36"/>
                <a:gd name="T6" fmla="*/ 11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0" name="未知"/>
            <p:cNvSpPr>
              <a:spLocks/>
            </p:cNvSpPr>
            <p:nvPr/>
          </p:nvSpPr>
          <p:spPr bwMode="auto">
            <a:xfrm>
              <a:off x="3202" y="110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1" name="未知"/>
            <p:cNvSpPr>
              <a:spLocks/>
            </p:cNvSpPr>
            <p:nvPr/>
          </p:nvSpPr>
          <p:spPr bwMode="auto">
            <a:xfrm>
              <a:off x="3198" y="1084"/>
              <a:ext cx="12" cy="14"/>
            </a:xfrm>
            <a:custGeom>
              <a:avLst/>
              <a:gdLst>
                <a:gd name="T0" fmla="*/ 8 w 16"/>
                <a:gd name="T1" fmla="*/ 4 h 19"/>
                <a:gd name="T2" fmla="*/ 0 w 16"/>
                <a:gd name="T3" fmla="*/ 7 h 19"/>
                <a:gd name="T4" fmla="*/ 9 w 16"/>
                <a:gd name="T5" fmla="*/ 14 h 19"/>
                <a:gd name="T6" fmla="*/ 8 w 16"/>
                <a:gd name="T7" fmla="*/ 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2" name="未知"/>
            <p:cNvSpPr>
              <a:spLocks/>
            </p:cNvSpPr>
            <p:nvPr/>
          </p:nvSpPr>
          <p:spPr bwMode="auto">
            <a:xfrm>
              <a:off x="3186" y="1044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3" name="未知"/>
            <p:cNvSpPr>
              <a:spLocks/>
            </p:cNvSpPr>
            <p:nvPr/>
          </p:nvSpPr>
          <p:spPr bwMode="auto">
            <a:xfrm>
              <a:off x="3188" y="1069"/>
              <a:ext cx="16" cy="13"/>
            </a:xfrm>
            <a:custGeom>
              <a:avLst/>
              <a:gdLst>
                <a:gd name="T0" fmla="*/ 9 w 22"/>
                <a:gd name="T1" fmla="*/ 0 h 18"/>
                <a:gd name="T2" fmla="*/ 14 w 22"/>
                <a:gd name="T3" fmla="*/ 13 h 18"/>
                <a:gd name="T4" fmla="*/ 10 w 22"/>
                <a:gd name="T5" fmla="*/ 4 h 18"/>
                <a:gd name="T6" fmla="*/ 9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4" name="未知"/>
            <p:cNvSpPr>
              <a:spLocks/>
            </p:cNvSpPr>
            <p:nvPr/>
          </p:nvSpPr>
          <p:spPr bwMode="auto">
            <a:xfrm>
              <a:off x="4024" y="1692"/>
              <a:ext cx="45" cy="60"/>
            </a:xfrm>
            <a:custGeom>
              <a:avLst/>
              <a:gdLst>
                <a:gd name="T0" fmla="*/ 8 w 60"/>
                <a:gd name="T1" fmla="*/ 5 h 81"/>
                <a:gd name="T2" fmla="*/ 2 w 60"/>
                <a:gd name="T3" fmla="*/ 13 h 81"/>
                <a:gd name="T4" fmla="*/ 11 w 60"/>
                <a:gd name="T5" fmla="*/ 29 h 81"/>
                <a:gd name="T6" fmla="*/ 20 w 60"/>
                <a:gd name="T7" fmla="*/ 40 h 81"/>
                <a:gd name="T8" fmla="*/ 30 w 60"/>
                <a:gd name="T9" fmla="*/ 47 h 81"/>
                <a:gd name="T10" fmla="*/ 38 w 60"/>
                <a:gd name="T11" fmla="*/ 60 h 81"/>
                <a:gd name="T12" fmla="*/ 39 w 60"/>
                <a:gd name="T13" fmla="*/ 42 h 81"/>
                <a:gd name="T14" fmla="*/ 32 w 60"/>
                <a:gd name="T15" fmla="*/ 27 h 81"/>
                <a:gd name="T16" fmla="*/ 19 w 60"/>
                <a:gd name="T17" fmla="*/ 13 h 81"/>
                <a:gd name="T18" fmla="*/ 8 w 60"/>
                <a:gd name="T19" fmla="*/ 5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5" name="未知"/>
            <p:cNvSpPr>
              <a:spLocks/>
            </p:cNvSpPr>
            <p:nvPr/>
          </p:nvSpPr>
          <p:spPr bwMode="auto">
            <a:xfrm>
              <a:off x="4255" y="1643"/>
              <a:ext cx="53" cy="46"/>
            </a:xfrm>
            <a:custGeom>
              <a:avLst/>
              <a:gdLst>
                <a:gd name="T0" fmla="*/ 21 w 71"/>
                <a:gd name="T1" fmla="*/ 17 h 61"/>
                <a:gd name="T2" fmla="*/ 10 w 71"/>
                <a:gd name="T3" fmla="*/ 24 h 61"/>
                <a:gd name="T4" fmla="*/ 1 w 71"/>
                <a:gd name="T5" fmla="*/ 33 h 61"/>
                <a:gd name="T6" fmla="*/ 10 w 71"/>
                <a:gd name="T7" fmla="*/ 44 h 61"/>
                <a:gd name="T8" fmla="*/ 21 w 71"/>
                <a:gd name="T9" fmla="*/ 33 h 61"/>
                <a:gd name="T10" fmla="*/ 30 w 71"/>
                <a:gd name="T11" fmla="*/ 17 h 61"/>
                <a:gd name="T12" fmla="*/ 41 w 71"/>
                <a:gd name="T13" fmla="*/ 0 h 61"/>
                <a:gd name="T14" fmla="*/ 53 w 71"/>
                <a:gd name="T15" fmla="*/ 8 h 61"/>
                <a:gd name="T16" fmla="*/ 26 w 71"/>
                <a:gd name="T17" fmla="*/ 17 h 61"/>
                <a:gd name="T18" fmla="*/ 21 w 71"/>
                <a:gd name="T19" fmla="*/ 17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6" name="未知"/>
            <p:cNvSpPr>
              <a:spLocks/>
            </p:cNvSpPr>
            <p:nvPr/>
          </p:nvSpPr>
          <p:spPr bwMode="auto">
            <a:xfrm>
              <a:off x="4095" y="1618"/>
              <a:ext cx="17" cy="23"/>
            </a:xfrm>
            <a:custGeom>
              <a:avLst/>
              <a:gdLst>
                <a:gd name="T0" fmla="*/ 7 w 23"/>
                <a:gd name="T1" fmla="*/ 0 h 30"/>
                <a:gd name="T2" fmla="*/ 0 w 23"/>
                <a:gd name="T3" fmla="*/ 11 h 30"/>
                <a:gd name="T4" fmla="*/ 9 w 23"/>
                <a:gd name="T5" fmla="*/ 23 h 30"/>
                <a:gd name="T6" fmla="*/ 7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7" name="未知"/>
            <p:cNvSpPr>
              <a:spLocks/>
            </p:cNvSpPr>
            <p:nvPr/>
          </p:nvSpPr>
          <p:spPr bwMode="auto">
            <a:xfrm>
              <a:off x="4087" y="1596"/>
              <a:ext cx="20" cy="17"/>
            </a:xfrm>
            <a:custGeom>
              <a:avLst/>
              <a:gdLst>
                <a:gd name="T0" fmla="*/ 15 w 26"/>
                <a:gd name="T1" fmla="*/ 0 h 23"/>
                <a:gd name="T2" fmla="*/ 0 w 26"/>
                <a:gd name="T3" fmla="*/ 10 h 23"/>
                <a:gd name="T4" fmla="*/ 16 w 26"/>
                <a:gd name="T5" fmla="*/ 15 h 23"/>
                <a:gd name="T6" fmla="*/ 15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8" name="未知"/>
            <p:cNvSpPr>
              <a:spLocks/>
            </p:cNvSpPr>
            <p:nvPr/>
          </p:nvSpPr>
          <p:spPr bwMode="auto">
            <a:xfrm>
              <a:off x="3934" y="1402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9" name="未知"/>
            <p:cNvSpPr>
              <a:spLocks/>
            </p:cNvSpPr>
            <p:nvPr/>
          </p:nvSpPr>
          <p:spPr bwMode="auto">
            <a:xfrm>
              <a:off x="3968" y="1445"/>
              <a:ext cx="26" cy="33"/>
            </a:xfrm>
            <a:custGeom>
              <a:avLst/>
              <a:gdLst>
                <a:gd name="T0" fmla="*/ 23 w 34"/>
                <a:gd name="T1" fmla="*/ 0 h 44"/>
                <a:gd name="T2" fmla="*/ 8 w 34"/>
                <a:gd name="T3" fmla="*/ 7 h 44"/>
                <a:gd name="T4" fmla="*/ 11 w 34"/>
                <a:gd name="T5" fmla="*/ 24 h 44"/>
                <a:gd name="T6" fmla="*/ 20 w 34"/>
                <a:gd name="T7" fmla="*/ 27 h 44"/>
                <a:gd name="T8" fmla="*/ 23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0" name="未知"/>
            <p:cNvSpPr>
              <a:spLocks/>
            </p:cNvSpPr>
            <p:nvPr/>
          </p:nvSpPr>
          <p:spPr bwMode="auto">
            <a:xfrm>
              <a:off x="3995" y="1508"/>
              <a:ext cx="28" cy="28"/>
            </a:xfrm>
            <a:custGeom>
              <a:avLst/>
              <a:gdLst>
                <a:gd name="T0" fmla="*/ 25 w 38"/>
                <a:gd name="T1" fmla="*/ 2 h 37"/>
                <a:gd name="T2" fmla="*/ 7 w 38"/>
                <a:gd name="T3" fmla="*/ 2 h 37"/>
                <a:gd name="T4" fmla="*/ 10 w 38"/>
                <a:gd name="T5" fmla="*/ 19 h 37"/>
                <a:gd name="T6" fmla="*/ 19 w 38"/>
                <a:gd name="T7" fmla="*/ 22 h 37"/>
                <a:gd name="T8" fmla="*/ 25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1" name="未知"/>
            <p:cNvSpPr>
              <a:spLocks/>
            </p:cNvSpPr>
            <p:nvPr/>
          </p:nvSpPr>
          <p:spPr bwMode="auto">
            <a:xfrm>
              <a:off x="4029" y="1498"/>
              <a:ext cx="28" cy="26"/>
            </a:xfrm>
            <a:custGeom>
              <a:avLst/>
              <a:gdLst>
                <a:gd name="T0" fmla="*/ 25 w 38"/>
                <a:gd name="T1" fmla="*/ 2 h 34"/>
                <a:gd name="T2" fmla="*/ 7 w 38"/>
                <a:gd name="T3" fmla="*/ 2 h 34"/>
                <a:gd name="T4" fmla="*/ 12 w 38"/>
                <a:gd name="T5" fmla="*/ 17 h 34"/>
                <a:gd name="T6" fmla="*/ 20 w 38"/>
                <a:gd name="T7" fmla="*/ 17 h 34"/>
                <a:gd name="T8" fmla="*/ 25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2" name="未知"/>
            <p:cNvSpPr>
              <a:spLocks/>
            </p:cNvSpPr>
            <p:nvPr/>
          </p:nvSpPr>
          <p:spPr bwMode="auto">
            <a:xfrm>
              <a:off x="4019" y="1462"/>
              <a:ext cx="26" cy="20"/>
            </a:xfrm>
            <a:custGeom>
              <a:avLst/>
              <a:gdLst>
                <a:gd name="T0" fmla="*/ 23 w 35"/>
                <a:gd name="T1" fmla="*/ 1 h 27"/>
                <a:gd name="T2" fmla="*/ 7 w 35"/>
                <a:gd name="T3" fmla="*/ 1 h 27"/>
                <a:gd name="T4" fmla="*/ 10 w 35"/>
                <a:gd name="T5" fmla="*/ 11 h 27"/>
                <a:gd name="T6" fmla="*/ 19 w 35"/>
                <a:gd name="T7" fmla="*/ 14 h 27"/>
                <a:gd name="T8" fmla="*/ 23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3" name="未知"/>
            <p:cNvSpPr>
              <a:spLocks/>
            </p:cNvSpPr>
            <p:nvPr/>
          </p:nvSpPr>
          <p:spPr bwMode="auto">
            <a:xfrm>
              <a:off x="3993" y="1437"/>
              <a:ext cx="26" cy="35"/>
            </a:xfrm>
            <a:custGeom>
              <a:avLst/>
              <a:gdLst>
                <a:gd name="T0" fmla="*/ 21 w 35"/>
                <a:gd name="T1" fmla="*/ 12 h 47"/>
                <a:gd name="T2" fmla="*/ 14 w 35"/>
                <a:gd name="T3" fmla="*/ 1 h 47"/>
                <a:gd name="T4" fmla="*/ 7 w 35"/>
                <a:gd name="T5" fmla="*/ 19 h 47"/>
                <a:gd name="T6" fmla="*/ 14 w 35"/>
                <a:gd name="T7" fmla="*/ 26 h 47"/>
                <a:gd name="T8" fmla="*/ 20 w 35"/>
                <a:gd name="T9" fmla="*/ 22 h 47"/>
                <a:gd name="T10" fmla="*/ 21 w 35"/>
                <a:gd name="T11" fmla="*/ 1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4" name="未知"/>
            <p:cNvSpPr>
              <a:spLocks/>
            </p:cNvSpPr>
            <p:nvPr/>
          </p:nvSpPr>
          <p:spPr bwMode="auto">
            <a:xfrm>
              <a:off x="3961" y="1421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5" name="未知"/>
            <p:cNvSpPr>
              <a:spLocks/>
            </p:cNvSpPr>
            <p:nvPr/>
          </p:nvSpPr>
          <p:spPr bwMode="auto">
            <a:xfrm>
              <a:off x="4001" y="1474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6" name="未知"/>
            <p:cNvSpPr>
              <a:spLocks/>
            </p:cNvSpPr>
            <p:nvPr/>
          </p:nvSpPr>
          <p:spPr bwMode="auto">
            <a:xfrm>
              <a:off x="2391" y="100"/>
              <a:ext cx="141" cy="108"/>
            </a:xfrm>
            <a:custGeom>
              <a:avLst/>
              <a:gdLst>
                <a:gd name="T0" fmla="*/ 128 w 189"/>
                <a:gd name="T1" fmla="*/ 3 h 144"/>
                <a:gd name="T2" fmla="*/ 138 w 189"/>
                <a:gd name="T3" fmla="*/ 3 h 144"/>
                <a:gd name="T4" fmla="*/ 141 w 189"/>
                <a:gd name="T5" fmla="*/ 12 h 144"/>
                <a:gd name="T6" fmla="*/ 140 w 189"/>
                <a:gd name="T7" fmla="*/ 18 h 144"/>
                <a:gd name="T8" fmla="*/ 98 w 189"/>
                <a:gd name="T9" fmla="*/ 33 h 144"/>
                <a:gd name="T10" fmla="*/ 81 w 189"/>
                <a:gd name="T11" fmla="*/ 44 h 144"/>
                <a:gd name="T12" fmla="*/ 72 w 189"/>
                <a:gd name="T13" fmla="*/ 47 h 144"/>
                <a:gd name="T14" fmla="*/ 53 w 189"/>
                <a:gd name="T15" fmla="*/ 62 h 144"/>
                <a:gd name="T16" fmla="*/ 56 w 189"/>
                <a:gd name="T17" fmla="*/ 69 h 144"/>
                <a:gd name="T18" fmla="*/ 62 w 189"/>
                <a:gd name="T19" fmla="*/ 87 h 144"/>
                <a:gd name="T20" fmla="*/ 80 w 189"/>
                <a:gd name="T21" fmla="*/ 95 h 144"/>
                <a:gd name="T22" fmla="*/ 69 w 189"/>
                <a:gd name="T23" fmla="*/ 105 h 144"/>
                <a:gd name="T24" fmla="*/ 62 w 189"/>
                <a:gd name="T25" fmla="*/ 98 h 144"/>
                <a:gd name="T26" fmla="*/ 53 w 189"/>
                <a:gd name="T27" fmla="*/ 101 h 144"/>
                <a:gd name="T28" fmla="*/ 16 w 189"/>
                <a:gd name="T29" fmla="*/ 92 h 144"/>
                <a:gd name="T30" fmla="*/ 14 w 189"/>
                <a:gd name="T31" fmla="*/ 80 h 144"/>
                <a:gd name="T32" fmla="*/ 35 w 189"/>
                <a:gd name="T33" fmla="*/ 68 h 144"/>
                <a:gd name="T34" fmla="*/ 38 w 189"/>
                <a:gd name="T35" fmla="*/ 57 h 144"/>
                <a:gd name="T36" fmla="*/ 35 w 189"/>
                <a:gd name="T37" fmla="*/ 48 h 144"/>
                <a:gd name="T38" fmla="*/ 54 w 189"/>
                <a:gd name="T39" fmla="*/ 35 h 144"/>
                <a:gd name="T40" fmla="*/ 72 w 189"/>
                <a:gd name="T41" fmla="*/ 27 h 144"/>
                <a:gd name="T42" fmla="*/ 84 w 189"/>
                <a:gd name="T43" fmla="*/ 18 h 144"/>
                <a:gd name="T44" fmla="*/ 128 w 189"/>
                <a:gd name="T45" fmla="*/ 3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7" name="未知"/>
            <p:cNvSpPr>
              <a:spLocks/>
            </p:cNvSpPr>
            <p:nvPr/>
          </p:nvSpPr>
          <p:spPr bwMode="auto">
            <a:xfrm>
              <a:off x="2475" y="204"/>
              <a:ext cx="40" cy="12"/>
            </a:xfrm>
            <a:custGeom>
              <a:avLst/>
              <a:gdLst>
                <a:gd name="T0" fmla="*/ 18 w 53"/>
                <a:gd name="T1" fmla="*/ 0 h 17"/>
                <a:gd name="T2" fmla="*/ 9 w 53"/>
                <a:gd name="T3" fmla="*/ 1 h 17"/>
                <a:gd name="T4" fmla="*/ 24 w 53"/>
                <a:gd name="T5" fmla="*/ 11 h 17"/>
                <a:gd name="T6" fmla="*/ 33 w 53"/>
                <a:gd name="T7" fmla="*/ 10 h 17"/>
                <a:gd name="T8" fmla="*/ 18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8" name="未知"/>
            <p:cNvSpPr>
              <a:spLocks/>
            </p:cNvSpPr>
            <p:nvPr/>
          </p:nvSpPr>
          <p:spPr bwMode="auto">
            <a:xfrm>
              <a:off x="2680" y="48"/>
              <a:ext cx="42" cy="28"/>
            </a:xfrm>
            <a:custGeom>
              <a:avLst/>
              <a:gdLst>
                <a:gd name="T0" fmla="*/ 42 w 57"/>
                <a:gd name="T1" fmla="*/ 3 h 37"/>
                <a:gd name="T2" fmla="*/ 18 w 57"/>
                <a:gd name="T3" fmla="*/ 18 h 37"/>
                <a:gd name="T4" fmla="*/ 8 w 57"/>
                <a:gd name="T5" fmla="*/ 26 h 37"/>
                <a:gd name="T6" fmla="*/ 7 w 57"/>
                <a:gd name="T7" fmla="*/ 3 h 37"/>
                <a:gd name="T8" fmla="*/ 15 w 57"/>
                <a:gd name="T9" fmla="*/ 0 h 37"/>
                <a:gd name="T10" fmla="*/ 42 w 57"/>
                <a:gd name="T11" fmla="*/ 3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9" name="未知"/>
            <p:cNvSpPr>
              <a:spLocks/>
            </p:cNvSpPr>
            <p:nvPr/>
          </p:nvSpPr>
          <p:spPr bwMode="auto">
            <a:xfrm>
              <a:off x="2710" y="61"/>
              <a:ext cx="50" cy="20"/>
            </a:xfrm>
            <a:custGeom>
              <a:avLst/>
              <a:gdLst>
                <a:gd name="T0" fmla="*/ 21 w 68"/>
                <a:gd name="T1" fmla="*/ 0 h 26"/>
                <a:gd name="T2" fmla="*/ 8 w 68"/>
                <a:gd name="T3" fmla="*/ 5 h 26"/>
                <a:gd name="T4" fmla="*/ 42 w 68"/>
                <a:gd name="T5" fmla="*/ 20 h 26"/>
                <a:gd name="T6" fmla="*/ 46 w 68"/>
                <a:gd name="T7" fmla="*/ 18 h 26"/>
                <a:gd name="T8" fmla="*/ 2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0" name="未知"/>
            <p:cNvSpPr>
              <a:spLocks/>
            </p:cNvSpPr>
            <p:nvPr/>
          </p:nvSpPr>
          <p:spPr bwMode="auto">
            <a:xfrm>
              <a:off x="2764" y="64"/>
              <a:ext cx="50" cy="32"/>
            </a:xfrm>
            <a:custGeom>
              <a:avLst/>
              <a:gdLst>
                <a:gd name="T0" fmla="*/ 38 w 66"/>
                <a:gd name="T1" fmla="*/ 7 h 43"/>
                <a:gd name="T2" fmla="*/ 20 w 66"/>
                <a:gd name="T3" fmla="*/ 7 h 43"/>
                <a:gd name="T4" fmla="*/ 8 w 66"/>
                <a:gd name="T5" fmla="*/ 7 h 43"/>
                <a:gd name="T6" fmla="*/ 6 w 66"/>
                <a:gd name="T7" fmla="*/ 26 h 43"/>
                <a:gd name="T8" fmla="*/ 24 w 66"/>
                <a:gd name="T9" fmla="*/ 32 h 43"/>
                <a:gd name="T10" fmla="*/ 47 w 66"/>
                <a:gd name="T11" fmla="*/ 20 h 43"/>
                <a:gd name="T12" fmla="*/ 38 w 66"/>
                <a:gd name="T13" fmla="*/ 7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1" name="未知"/>
            <p:cNvSpPr>
              <a:spLocks/>
            </p:cNvSpPr>
            <p:nvPr/>
          </p:nvSpPr>
          <p:spPr bwMode="auto">
            <a:xfrm>
              <a:off x="3113" y="91"/>
              <a:ext cx="88" cy="31"/>
            </a:xfrm>
            <a:custGeom>
              <a:avLst/>
              <a:gdLst>
                <a:gd name="T0" fmla="*/ 11 w 117"/>
                <a:gd name="T1" fmla="*/ 0 h 41"/>
                <a:gd name="T2" fmla="*/ 6 w 117"/>
                <a:gd name="T3" fmla="*/ 12 h 41"/>
                <a:gd name="T4" fmla="*/ 38 w 117"/>
                <a:gd name="T5" fmla="*/ 23 h 41"/>
                <a:gd name="T6" fmla="*/ 57 w 117"/>
                <a:gd name="T7" fmla="*/ 27 h 41"/>
                <a:gd name="T8" fmla="*/ 84 w 117"/>
                <a:gd name="T9" fmla="*/ 17 h 41"/>
                <a:gd name="T10" fmla="*/ 59 w 117"/>
                <a:gd name="T11" fmla="*/ 3 h 41"/>
                <a:gd name="T12" fmla="*/ 11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2" name="未知"/>
            <p:cNvSpPr>
              <a:spLocks/>
            </p:cNvSpPr>
            <p:nvPr/>
          </p:nvSpPr>
          <p:spPr bwMode="auto">
            <a:xfrm>
              <a:off x="3203" y="90"/>
              <a:ext cx="46" cy="24"/>
            </a:xfrm>
            <a:custGeom>
              <a:avLst/>
              <a:gdLst>
                <a:gd name="T0" fmla="*/ 24 w 62"/>
                <a:gd name="T1" fmla="*/ 3 h 32"/>
                <a:gd name="T2" fmla="*/ 46 w 62"/>
                <a:gd name="T3" fmla="*/ 8 h 32"/>
                <a:gd name="T4" fmla="*/ 22 w 62"/>
                <a:gd name="T5" fmla="*/ 24 h 32"/>
                <a:gd name="T6" fmla="*/ 4 w 62"/>
                <a:gd name="T7" fmla="*/ 17 h 32"/>
                <a:gd name="T8" fmla="*/ 24 w 62"/>
                <a:gd name="T9" fmla="*/ 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3" name="未知"/>
            <p:cNvSpPr>
              <a:spLocks/>
            </p:cNvSpPr>
            <p:nvPr/>
          </p:nvSpPr>
          <p:spPr bwMode="auto">
            <a:xfrm>
              <a:off x="3182" y="119"/>
              <a:ext cx="37" cy="17"/>
            </a:xfrm>
            <a:custGeom>
              <a:avLst/>
              <a:gdLst>
                <a:gd name="T0" fmla="*/ 15 w 49"/>
                <a:gd name="T1" fmla="*/ 1 h 23"/>
                <a:gd name="T2" fmla="*/ 5 w 49"/>
                <a:gd name="T3" fmla="*/ 4 h 23"/>
                <a:gd name="T4" fmla="*/ 29 w 49"/>
                <a:gd name="T5" fmla="*/ 17 h 23"/>
                <a:gd name="T6" fmla="*/ 15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3434" y="343"/>
              <a:ext cx="76" cy="114"/>
            </a:xfrm>
            <a:custGeom>
              <a:avLst/>
              <a:gdLst>
                <a:gd name="T0" fmla="*/ 4 w 102"/>
                <a:gd name="T1" fmla="*/ 0 h 152"/>
                <a:gd name="T2" fmla="*/ 0 w 102"/>
                <a:gd name="T3" fmla="*/ 14 h 152"/>
                <a:gd name="T4" fmla="*/ 10 w 102"/>
                <a:gd name="T5" fmla="*/ 32 h 152"/>
                <a:gd name="T6" fmla="*/ 24 w 102"/>
                <a:gd name="T7" fmla="*/ 54 h 152"/>
                <a:gd name="T8" fmla="*/ 27 w 102"/>
                <a:gd name="T9" fmla="*/ 78 h 152"/>
                <a:gd name="T10" fmla="*/ 60 w 102"/>
                <a:gd name="T11" fmla="*/ 114 h 152"/>
                <a:gd name="T12" fmla="*/ 64 w 102"/>
                <a:gd name="T13" fmla="*/ 93 h 152"/>
                <a:gd name="T14" fmla="*/ 55 w 102"/>
                <a:gd name="T15" fmla="*/ 77 h 152"/>
                <a:gd name="T16" fmla="*/ 46 w 102"/>
                <a:gd name="T17" fmla="*/ 69 h 152"/>
                <a:gd name="T18" fmla="*/ 39 w 102"/>
                <a:gd name="T19" fmla="*/ 56 h 152"/>
                <a:gd name="T20" fmla="*/ 31 w 102"/>
                <a:gd name="T21" fmla="*/ 33 h 152"/>
                <a:gd name="T22" fmla="*/ 3 w 102"/>
                <a:gd name="T23" fmla="*/ 9 h 152"/>
                <a:gd name="T24" fmla="*/ 4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5" name="未知"/>
            <p:cNvSpPr>
              <a:spLocks/>
            </p:cNvSpPr>
            <p:nvPr/>
          </p:nvSpPr>
          <p:spPr bwMode="auto">
            <a:xfrm>
              <a:off x="3495" y="461"/>
              <a:ext cx="55" cy="78"/>
            </a:xfrm>
            <a:custGeom>
              <a:avLst/>
              <a:gdLst>
                <a:gd name="T0" fmla="*/ 48 w 74"/>
                <a:gd name="T1" fmla="*/ 17 h 103"/>
                <a:gd name="T2" fmla="*/ 55 w 74"/>
                <a:gd name="T3" fmla="*/ 30 h 103"/>
                <a:gd name="T4" fmla="*/ 22 w 74"/>
                <a:gd name="T5" fmla="*/ 64 h 103"/>
                <a:gd name="T6" fmla="*/ 24 w 74"/>
                <a:gd name="T7" fmla="*/ 76 h 103"/>
                <a:gd name="T8" fmla="*/ 15 w 74"/>
                <a:gd name="T9" fmla="*/ 71 h 103"/>
                <a:gd name="T10" fmla="*/ 4 w 74"/>
                <a:gd name="T11" fmla="*/ 64 h 103"/>
                <a:gd name="T12" fmla="*/ 0 w 74"/>
                <a:gd name="T13" fmla="*/ 62 h 103"/>
                <a:gd name="T14" fmla="*/ 7 w 74"/>
                <a:gd name="T15" fmla="*/ 44 h 103"/>
                <a:gd name="T16" fmla="*/ 9 w 74"/>
                <a:gd name="T17" fmla="*/ 39 h 103"/>
                <a:gd name="T18" fmla="*/ 1 w 74"/>
                <a:gd name="T19" fmla="*/ 18 h 103"/>
                <a:gd name="T20" fmla="*/ 3 w 74"/>
                <a:gd name="T21" fmla="*/ 11 h 103"/>
                <a:gd name="T22" fmla="*/ 19 w 74"/>
                <a:gd name="T23" fmla="*/ 17 h 103"/>
                <a:gd name="T24" fmla="*/ 27 w 74"/>
                <a:gd name="T25" fmla="*/ 27 h 103"/>
                <a:gd name="T26" fmla="*/ 48 w 74"/>
                <a:gd name="T27" fmla="*/ 17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6" name="未知"/>
            <p:cNvSpPr>
              <a:spLocks/>
            </p:cNvSpPr>
            <p:nvPr/>
          </p:nvSpPr>
          <p:spPr bwMode="auto">
            <a:xfrm>
              <a:off x="3459" y="541"/>
              <a:ext cx="109" cy="189"/>
            </a:xfrm>
            <a:custGeom>
              <a:avLst/>
              <a:gdLst>
                <a:gd name="T0" fmla="*/ 61 w 146"/>
                <a:gd name="T1" fmla="*/ 75 h 252"/>
                <a:gd name="T2" fmla="*/ 49 w 146"/>
                <a:gd name="T3" fmla="*/ 80 h 252"/>
                <a:gd name="T4" fmla="*/ 48 w 146"/>
                <a:gd name="T5" fmla="*/ 99 h 252"/>
                <a:gd name="T6" fmla="*/ 16 w 146"/>
                <a:gd name="T7" fmla="*/ 110 h 252"/>
                <a:gd name="T8" fmla="*/ 6 w 146"/>
                <a:gd name="T9" fmla="*/ 126 h 252"/>
                <a:gd name="T10" fmla="*/ 15 w 146"/>
                <a:gd name="T11" fmla="*/ 137 h 252"/>
                <a:gd name="T12" fmla="*/ 6 w 146"/>
                <a:gd name="T13" fmla="*/ 149 h 252"/>
                <a:gd name="T14" fmla="*/ 18 w 146"/>
                <a:gd name="T15" fmla="*/ 189 h 252"/>
                <a:gd name="T16" fmla="*/ 21 w 146"/>
                <a:gd name="T17" fmla="*/ 161 h 252"/>
                <a:gd name="T18" fmla="*/ 16 w 146"/>
                <a:gd name="T19" fmla="*/ 144 h 252"/>
                <a:gd name="T20" fmla="*/ 31 w 146"/>
                <a:gd name="T21" fmla="*/ 132 h 252"/>
                <a:gd name="T22" fmla="*/ 39 w 146"/>
                <a:gd name="T23" fmla="*/ 119 h 252"/>
                <a:gd name="T24" fmla="*/ 49 w 146"/>
                <a:gd name="T25" fmla="*/ 131 h 252"/>
                <a:gd name="T26" fmla="*/ 33 w 146"/>
                <a:gd name="T27" fmla="*/ 143 h 252"/>
                <a:gd name="T28" fmla="*/ 42 w 146"/>
                <a:gd name="T29" fmla="*/ 150 h 252"/>
                <a:gd name="T30" fmla="*/ 51 w 146"/>
                <a:gd name="T31" fmla="*/ 134 h 252"/>
                <a:gd name="T32" fmla="*/ 63 w 146"/>
                <a:gd name="T33" fmla="*/ 138 h 252"/>
                <a:gd name="T34" fmla="*/ 78 w 146"/>
                <a:gd name="T35" fmla="*/ 111 h 252"/>
                <a:gd name="T36" fmla="*/ 85 w 146"/>
                <a:gd name="T37" fmla="*/ 117 h 252"/>
                <a:gd name="T38" fmla="*/ 102 w 146"/>
                <a:gd name="T39" fmla="*/ 111 h 252"/>
                <a:gd name="T40" fmla="*/ 109 w 146"/>
                <a:gd name="T41" fmla="*/ 98 h 252"/>
                <a:gd name="T42" fmla="*/ 106 w 146"/>
                <a:gd name="T43" fmla="*/ 83 h 252"/>
                <a:gd name="T44" fmla="*/ 100 w 146"/>
                <a:gd name="T45" fmla="*/ 74 h 252"/>
                <a:gd name="T46" fmla="*/ 91 w 146"/>
                <a:gd name="T47" fmla="*/ 30 h 252"/>
                <a:gd name="T48" fmla="*/ 70 w 146"/>
                <a:gd name="T49" fmla="*/ 0 h 252"/>
                <a:gd name="T50" fmla="*/ 58 w 146"/>
                <a:gd name="T51" fmla="*/ 9 h 252"/>
                <a:gd name="T52" fmla="*/ 72 w 146"/>
                <a:gd name="T53" fmla="*/ 26 h 252"/>
                <a:gd name="T54" fmla="*/ 72 w 146"/>
                <a:gd name="T55" fmla="*/ 48 h 252"/>
                <a:gd name="T56" fmla="*/ 61 w 146"/>
                <a:gd name="T57" fmla="*/ 75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7" name="未知"/>
            <p:cNvSpPr>
              <a:spLocks/>
            </p:cNvSpPr>
            <p:nvPr/>
          </p:nvSpPr>
          <p:spPr bwMode="auto">
            <a:xfrm>
              <a:off x="2398" y="37"/>
              <a:ext cx="52" cy="30"/>
            </a:xfrm>
            <a:custGeom>
              <a:avLst/>
              <a:gdLst>
                <a:gd name="T0" fmla="*/ 44 w 70"/>
                <a:gd name="T1" fmla="*/ 0 h 40"/>
                <a:gd name="T2" fmla="*/ 48 w 70"/>
                <a:gd name="T3" fmla="*/ 15 h 40"/>
                <a:gd name="T4" fmla="*/ 30 w 70"/>
                <a:gd name="T5" fmla="*/ 18 h 40"/>
                <a:gd name="T6" fmla="*/ 23 w 70"/>
                <a:gd name="T7" fmla="*/ 30 h 40"/>
                <a:gd name="T8" fmla="*/ 5 w 70"/>
                <a:gd name="T9" fmla="*/ 29 h 40"/>
                <a:gd name="T10" fmla="*/ 1 w 70"/>
                <a:gd name="T11" fmla="*/ 27 h 40"/>
                <a:gd name="T12" fmla="*/ 25 w 70"/>
                <a:gd name="T13" fmla="*/ 15 h 40"/>
                <a:gd name="T14" fmla="*/ 44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8" name="未知"/>
            <p:cNvSpPr>
              <a:spLocks/>
            </p:cNvSpPr>
            <p:nvPr/>
          </p:nvSpPr>
          <p:spPr bwMode="auto">
            <a:xfrm>
              <a:off x="2291" y="46"/>
              <a:ext cx="19" cy="22"/>
            </a:xfrm>
            <a:custGeom>
              <a:avLst/>
              <a:gdLst>
                <a:gd name="T0" fmla="*/ 13 w 26"/>
                <a:gd name="T1" fmla="*/ 0 h 29"/>
                <a:gd name="T2" fmla="*/ 0 w 26"/>
                <a:gd name="T3" fmla="*/ 14 h 29"/>
                <a:gd name="T4" fmla="*/ 13 w 26"/>
                <a:gd name="T5" fmla="*/ 20 h 29"/>
                <a:gd name="T6" fmla="*/ 13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9" name="未知"/>
            <p:cNvSpPr>
              <a:spLocks/>
            </p:cNvSpPr>
            <p:nvPr/>
          </p:nvSpPr>
          <p:spPr bwMode="auto">
            <a:xfrm>
              <a:off x="2315" y="45"/>
              <a:ext cx="37" cy="27"/>
            </a:xfrm>
            <a:custGeom>
              <a:avLst/>
              <a:gdLst>
                <a:gd name="T0" fmla="*/ 11 w 49"/>
                <a:gd name="T1" fmla="*/ 5 h 36"/>
                <a:gd name="T2" fmla="*/ 0 w 49"/>
                <a:gd name="T3" fmla="*/ 14 h 36"/>
                <a:gd name="T4" fmla="*/ 5 w 49"/>
                <a:gd name="T5" fmla="*/ 24 h 36"/>
                <a:gd name="T6" fmla="*/ 14 w 49"/>
                <a:gd name="T7" fmla="*/ 27 h 36"/>
                <a:gd name="T8" fmla="*/ 30 w 49"/>
                <a:gd name="T9" fmla="*/ 20 h 36"/>
                <a:gd name="T10" fmla="*/ 11 w 49"/>
                <a:gd name="T11" fmla="*/ 5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0" name="未知"/>
            <p:cNvSpPr>
              <a:spLocks/>
            </p:cNvSpPr>
            <p:nvPr/>
          </p:nvSpPr>
          <p:spPr bwMode="auto">
            <a:xfrm>
              <a:off x="2376" y="36"/>
              <a:ext cx="20" cy="16"/>
            </a:xfrm>
            <a:custGeom>
              <a:avLst/>
              <a:gdLst>
                <a:gd name="T0" fmla="*/ 8 w 27"/>
                <a:gd name="T1" fmla="*/ 0 h 22"/>
                <a:gd name="T2" fmla="*/ 2 w 27"/>
                <a:gd name="T3" fmla="*/ 9 h 22"/>
                <a:gd name="T4" fmla="*/ 14 w 27"/>
                <a:gd name="T5" fmla="*/ 16 h 22"/>
                <a:gd name="T6" fmla="*/ 8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1" name="未知"/>
            <p:cNvSpPr>
              <a:spLocks/>
            </p:cNvSpPr>
            <p:nvPr/>
          </p:nvSpPr>
          <p:spPr bwMode="auto">
            <a:xfrm>
              <a:off x="2358" y="54"/>
              <a:ext cx="15" cy="13"/>
            </a:xfrm>
            <a:custGeom>
              <a:avLst/>
              <a:gdLst>
                <a:gd name="T0" fmla="*/ 8 w 20"/>
                <a:gd name="T1" fmla="*/ 0 h 18"/>
                <a:gd name="T2" fmla="*/ 7 w 20"/>
                <a:gd name="T3" fmla="*/ 13 h 18"/>
                <a:gd name="T4" fmla="*/ 8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498" y="70"/>
              <a:ext cx="18" cy="33"/>
            </a:xfrm>
            <a:custGeom>
              <a:avLst/>
              <a:gdLst>
                <a:gd name="T0" fmla="*/ 18 w 24"/>
                <a:gd name="T1" fmla="*/ 0 h 44"/>
                <a:gd name="T2" fmla="*/ 6 w 24"/>
                <a:gd name="T3" fmla="*/ 12 h 44"/>
                <a:gd name="T4" fmla="*/ 0 w 24"/>
                <a:gd name="T5" fmla="*/ 26 h 44"/>
                <a:gd name="T6" fmla="*/ 12 w 24"/>
                <a:gd name="T7" fmla="*/ 30 h 44"/>
                <a:gd name="T8" fmla="*/ 18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3" name="未知"/>
            <p:cNvSpPr>
              <a:spLocks/>
            </p:cNvSpPr>
            <p:nvPr/>
          </p:nvSpPr>
          <p:spPr bwMode="auto">
            <a:xfrm>
              <a:off x="2614" y="1522"/>
              <a:ext cx="31" cy="18"/>
            </a:xfrm>
            <a:custGeom>
              <a:avLst/>
              <a:gdLst>
                <a:gd name="T0" fmla="*/ 23 w 41"/>
                <a:gd name="T1" fmla="*/ 0 h 24"/>
                <a:gd name="T2" fmla="*/ 20 w 41"/>
                <a:gd name="T3" fmla="*/ 18 h 24"/>
                <a:gd name="T4" fmla="*/ 23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4" name="未知"/>
            <p:cNvSpPr>
              <a:spLocks/>
            </p:cNvSpPr>
            <p:nvPr/>
          </p:nvSpPr>
          <p:spPr bwMode="auto">
            <a:xfrm>
              <a:off x="2654" y="1515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5" name="未知"/>
            <p:cNvSpPr>
              <a:spLocks/>
            </p:cNvSpPr>
            <p:nvPr/>
          </p:nvSpPr>
          <p:spPr bwMode="auto">
            <a:xfrm>
              <a:off x="2587" y="1361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6" name="未知"/>
            <p:cNvSpPr>
              <a:spLocks/>
            </p:cNvSpPr>
            <p:nvPr/>
          </p:nvSpPr>
          <p:spPr bwMode="auto">
            <a:xfrm>
              <a:off x="2647" y="1288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7" name="未知"/>
            <p:cNvSpPr>
              <a:spLocks/>
            </p:cNvSpPr>
            <p:nvPr/>
          </p:nvSpPr>
          <p:spPr bwMode="auto">
            <a:xfrm>
              <a:off x="2623" y="1287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8" name="未知"/>
            <p:cNvSpPr>
              <a:spLocks/>
            </p:cNvSpPr>
            <p:nvPr/>
          </p:nvSpPr>
          <p:spPr bwMode="auto">
            <a:xfrm>
              <a:off x="2612" y="1309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9" name="未知"/>
            <p:cNvSpPr>
              <a:spLocks/>
            </p:cNvSpPr>
            <p:nvPr/>
          </p:nvSpPr>
          <p:spPr bwMode="auto">
            <a:xfrm>
              <a:off x="2587" y="1343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0" name="未知"/>
            <p:cNvSpPr>
              <a:spLocks/>
            </p:cNvSpPr>
            <p:nvPr/>
          </p:nvSpPr>
          <p:spPr bwMode="auto">
            <a:xfrm>
              <a:off x="2606" y="1330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1" name="未知"/>
            <p:cNvSpPr>
              <a:spLocks/>
            </p:cNvSpPr>
            <p:nvPr/>
          </p:nvSpPr>
          <p:spPr bwMode="auto">
            <a:xfrm>
              <a:off x="1873" y="34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2" name="未知"/>
            <p:cNvSpPr>
              <a:spLocks/>
            </p:cNvSpPr>
            <p:nvPr/>
          </p:nvSpPr>
          <p:spPr bwMode="auto">
            <a:xfrm>
              <a:off x="1812" y="308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3" name="未知"/>
            <p:cNvSpPr>
              <a:spLocks/>
            </p:cNvSpPr>
            <p:nvPr/>
          </p:nvSpPr>
          <p:spPr bwMode="auto">
            <a:xfrm>
              <a:off x="1574" y="91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3167063"/>
            <a:ext cx="442595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425" y="3352800"/>
            <a:ext cx="16541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895600"/>
            <a:ext cx="111283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4594225"/>
            <a:ext cx="4911725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88" y="3097213"/>
            <a:ext cx="2971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993900"/>
            <a:ext cx="15462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2862263"/>
            <a:ext cx="623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0" y="95250"/>
            <a:ext cx="18034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0" y="1968500"/>
            <a:ext cx="10795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" name="Picture 123" descr="a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88913"/>
            <a:ext cx="26384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64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304800" y="4419600"/>
            <a:ext cx="6400800" cy="114300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title style</a:t>
            </a:r>
          </a:p>
        </p:txBody>
      </p:sp>
      <p:sp>
        <p:nvSpPr>
          <p:cNvPr id="2165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4340225" cy="381000"/>
          </a:xfrm>
        </p:spPr>
        <p:txBody>
          <a:bodyPr/>
          <a:lstStyle>
            <a:lvl1pPr marL="0" indent="0" algn="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09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7800" y="24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3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4800" y="202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0600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8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 userDrawn="1"/>
        </p:nvGrpSpPr>
        <p:grpSpPr bwMode="auto">
          <a:xfrm>
            <a:off x="257175" y="561975"/>
            <a:ext cx="3384550" cy="600075"/>
            <a:chOff x="0" y="0"/>
            <a:chExt cx="7484" cy="1474"/>
          </a:xfrm>
        </p:grpSpPr>
        <p:sp>
          <p:nvSpPr>
            <p:cNvPr id="4" name="Line 12"/>
            <p:cNvSpPr>
              <a:spLocks noChangeShapeType="1"/>
            </p:cNvSpPr>
            <p:nvPr userDrawn="1"/>
          </p:nvSpPr>
          <p:spPr bwMode="auto">
            <a:xfrm>
              <a:off x="418" y="0"/>
              <a:ext cx="1" cy="1475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" name="Line 13"/>
            <p:cNvSpPr>
              <a:spLocks noChangeShapeType="1"/>
            </p:cNvSpPr>
            <p:nvPr userDrawn="1"/>
          </p:nvSpPr>
          <p:spPr bwMode="auto">
            <a:xfrm flipV="1">
              <a:off x="0" y="1021"/>
              <a:ext cx="7485" cy="1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7772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500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80808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aa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title style</a:t>
            </a:r>
          </a:p>
        </p:txBody>
      </p:sp>
      <p:sp>
        <p:nvSpPr>
          <p:cNvPr id="1030" name="Text Box 6"/>
          <p:cNvSpPr txBox="1">
            <a:spLocks noChangeArrowheads="1"/>
          </p:cNvSpPr>
          <p:nvPr userDrawn="1"/>
        </p:nvSpPr>
        <p:spPr bwMode="auto">
          <a:xfrm>
            <a:off x="838200" y="6491288"/>
            <a:ext cx="701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zh-CN" altLang="zh-CN">
              <a:solidFill>
                <a:srgbClr val="080808"/>
              </a:solidFill>
            </a:endParaRPr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fld id="{F70CC315-5273-4CD4-BF50-086A308C6118}" type="datetime1"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t>2015/6/15</a:t>
              </a:fld>
              <a:endParaRPr lang="zh-CN" altLang="zh-CN" sz="1200" b="1">
                <a:solidFill>
                  <a:srgbClr val="FFFFFF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fld id="{A0D84BE7-7431-434A-BFEF-C66CBDA9FE9D}" type="slidenum"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pPr algn="r" fontAlgn="base">
                  <a:spcBef>
                    <a:spcPct val="0"/>
                  </a:spcBef>
                  <a:spcAft>
                    <a:spcPct val="0"/>
                  </a:spcAft>
                </a:pPr>
                <a:t>‹#›</a:t>
              </a:fld>
              <a:r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t> / 53</a:t>
              </a: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t>第七章 参数估计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507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1" r:id="rId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1.w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8.w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4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7.wmf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1.wmf"/><Relationship Id="rId9" Type="http://schemas.openxmlformats.org/officeDocument/2006/relationships/image" Target="../media/image5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61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6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7.wmf"/><Relationship Id="rId9" Type="http://schemas.openxmlformats.org/officeDocument/2006/relationships/image" Target="../media/image70.gi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5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76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8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80.e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8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90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87.wmf"/><Relationship Id="rId17" Type="http://schemas.openxmlformats.org/officeDocument/2006/relationships/image" Target="../media/image89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7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88.wmf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70.bin"/><Relationship Id="rId14" Type="http://schemas.openxmlformats.org/officeDocument/2006/relationships/oleObject" Target="../embeddings/oleObject7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98.e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97.wmf"/><Relationship Id="rId20" Type="http://schemas.openxmlformats.org/officeDocument/2006/relationships/image" Target="../media/image99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96.wmf"/><Relationship Id="rId22" Type="http://schemas.openxmlformats.org/officeDocument/2006/relationships/image" Target="../media/image10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13" Type="http://schemas.openxmlformats.org/officeDocument/2006/relationships/image" Target="../media/image106.gi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104.e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111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11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9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9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23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2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0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35.w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2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26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2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34.bin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5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e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5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55.e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57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6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4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63.e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62.emf"/><Relationship Id="rId9" Type="http://schemas.openxmlformats.org/officeDocument/2006/relationships/image" Target="../media/image1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73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69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7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82.w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81.wmf"/><Relationship Id="rId20" Type="http://schemas.openxmlformats.org/officeDocument/2006/relationships/image" Target="../media/image183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8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84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oleObject" Target="../embeddings/oleObject173.bin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9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87.e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0" Type="http://schemas.openxmlformats.org/officeDocument/2006/relationships/image" Target="../media/image189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9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9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7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18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201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98.e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200.wmf"/><Relationship Id="rId4" Type="http://schemas.openxmlformats.org/officeDocument/2006/relationships/image" Target="../media/image197.e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202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04.emf"/><Relationship Id="rId11" Type="http://schemas.openxmlformats.org/officeDocument/2006/relationships/image" Target="../media/image207.gif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206.emf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18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212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211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192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219.emf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216.w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18.wmf"/><Relationship Id="rId20" Type="http://schemas.openxmlformats.org/officeDocument/2006/relationships/image" Target="../media/image220.e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198.bin"/><Relationship Id="rId24" Type="http://schemas.openxmlformats.org/officeDocument/2006/relationships/image" Target="../media/image222.wmf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23" Type="http://schemas.openxmlformats.org/officeDocument/2006/relationships/oleObject" Target="../embeddings/oleObject204.bin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202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217.emf"/><Relationship Id="rId22" Type="http://schemas.openxmlformats.org/officeDocument/2006/relationships/image" Target="../media/image22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27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29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10" Type="http://schemas.openxmlformats.org/officeDocument/2006/relationships/image" Target="../media/image226.emf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2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e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34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31.e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233.wmf"/><Relationship Id="rId4" Type="http://schemas.openxmlformats.org/officeDocument/2006/relationships/image" Target="../media/image230.emf"/><Relationship Id="rId9" Type="http://schemas.openxmlformats.org/officeDocument/2006/relationships/oleObject" Target="../embeddings/oleObject21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emf"/><Relationship Id="rId13" Type="http://schemas.openxmlformats.org/officeDocument/2006/relationships/oleObject" Target="../embeddings/oleObject222.bin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39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36.emf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8.bin"/><Relationship Id="rId10" Type="http://schemas.openxmlformats.org/officeDocument/2006/relationships/image" Target="../media/image238.wmf"/><Relationship Id="rId4" Type="http://schemas.openxmlformats.org/officeDocument/2006/relationships/image" Target="../media/image235.e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40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4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0" Type="http://schemas.openxmlformats.org/officeDocument/2006/relationships/image" Target="../media/image244.wmf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226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e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47.emf"/><Relationship Id="rId5" Type="http://schemas.openxmlformats.org/officeDocument/2006/relationships/oleObject" Target="../embeddings/oleObject229.bin"/><Relationship Id="rId10" Type="http://schemas.openxmlformats.org/officeDocument/2006/relationships/image" Target="../media/image249.emf"/><Relationship Id="rId4" Type="http://schemas.openxmlformats.org/officeDocument/2006/relationships/image" Target="../media/image246.emf"/><Relationship Id="rId9" Type="http://schemas.openxmlformats.org/officeDocument/2006/relationships/oleObject" Target="../embeddings/oleObject23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emf"/><Relationship Id="rId13" Type="http://schemas.openxmlformats.org/officeDocument/2006/relationships/oleObject" Target="../embeddings/oleObject237.bin"/><Relationship Id="rId18" Type="http://schemas.openxmlformats.org/officeDocument/2006/relationships/image" Target="../media/image257.wmf"/><Relationship Id="rId3" Type="http://schemas.openxmlformats.org/officeDocument/2006/relationships/oleObject" Target="../embeddings/oleObject232.bin"/><Relationship Id="rId21" Type="http://schemas.openxmlformats.org/officeDocument/2006/relationships/oleObject" Target="../embeddings/oleObject241.bin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54.wmf"/><Relationship Id="rId17" Type="http://schemas.openxmlformats.org/officeDocument/2006/relationships/oleObject" Target="../embeddings/oleObject239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56.wmf"/><Relationship Id="rId20" Type="http://schemas.openxmlformats.org/officeDocument/2006/relationships/image" Target="../media/image258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51.wmf"/><Relationship Id="rId11" Type="http://schemas.openxmlformats.org/officeDocument/2006/relationships/oleObject" Target="../embeddings/oleObject236.bin"/><Relationship Id="rId24" Type="http://schemas.openxmlformats.org/officeDocument/2006/relationships/image" Target="../media/image260.wmf"/><Relationship Id="rId5" Type="http://schemas.openxmlformats.org/officeDocument/2006/relationships/oleObject" Target="../embeddings/oleObject233.bin"/><Relationship Id="rId15" Type="http://schemas.openxmlformats.org/officeDocument/2006/relationships/oleObject" Target="../embeddings/oleObject238.bin"/><Relationship Id="rId23" Type="http://schemas.openxmlformats.org/officeDocument/2006/relationships/oleObject" Target="../embeddings/oleObject242.bin"/><Relationship Id="rId10" Type="http://schemas.openxmlformats.org/officeDocument/2006/relationships/image" Target="../media/image253.wmf"/><Relationship Id="rId19" Type="http://schemas.openxmlformats.org/officeDocument/2006/relationships/oleObject" Target="../embeddings/oleObject240.bin"/><Relationship Id="rId4" Type="http://schemas.openxmlformats.org/officeDocument/2006/relationships/image" Target="../media/image250.w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55.wmf"/><Relationship Id="rId22" Type="http://schemas.openxmlformats.org/officeDocument/2006/relationships/image" Target="../media/image259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oleObject" Target="../embeddings/oleObject248.bin"/><Relationship Id="rId3" Type="http://schemas.openxmlformats.org/officeDocument/2006/relationships/oleObject" Target="../embeddings/oleObject243.bin"/><Relationship Id="rId7" Type="http://schemas.openxmlformats.org/officeDocument/2006/relationships/oleObject" Target="../embeddings/oleObject245.bin"/><Relationship Id="rId12" Type="http://schemas.openxmlformats.org/officeDocument/2006/relationships/image" Target="../media/image26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47.bin"/><Relationship Id="rId5" Type="http://schemas.openxmlformats.org/officeDocument/2006/relationships/oleObject" Target="../embeddings/oleObject244.bin"/><Relationship Id="rId10" Type="http://schemas.openxmlformats.org/officeDocument/2006/relationships/image" Target="../media/image264.emf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46.bin"/><Relationship Id="rId14" Type="http://schemas.openxmlformats.org/officeDocument/2006/relationships/image" Target="../media/image26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274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71.wmf"/><Relationship Id="rId17" Type="http://schemas.openxmlformats.org/officeDocument/2006/relationships/oleObject" Target="../embeddings/oleObject256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73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10" Type="http://schemas.openxmlformats.org/officeDocument/2006/relationships/image" Target="../media/image270.wmf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7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emf"/><Relationship Id="rId13" Type="http://schemas.openxmlformats.org/officeDocument/2006/relationships/oleObject" Target="../embeddings/oleObject262.bin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79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78.emf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8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emf"/><Relationship Id="rId13" Type="http://schemas.openxmlformats.org/officeDocument/2006/relationships/oleObject" Target="../embeddings/oleObject268.bin"/><Relationship Id="rId18" Type="http://schemas.openxmlformats.org/officeDocument/2006/relationships/image" Target="../media/image288.emf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85.emf"/><Relationship Id="rId17" Type="http://schemas.openxmlformats.org/officeDocument/2006/relationships/oleObject" Target="../embeddings/oleObject270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87.e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82.emf"/><Relationship Id="rId11" Type="http://schemas.openxmlformats.org/officeDocument/2006/relationships/oleObject" Target="../embeddings/oleObject267.bin"/><Relationship Id="rId5" Type="http://schemas.openxmlformats.org/officeDocument/2006/relationships/oleObject" Target="../embeddings/oleObject264.bin"/><Relationship Id="rId15" Type="http://schemas.openxmlformats.org/officeDocument/2006/relationships/oleObject" Target="../embeddings/oleObject269.bin"/><Relationship Id="rId10" Type="http://schemas.openxmlformats.org/officeDocument/2006/relationships/image" Target="../media/image284.emf"/><Relationship Id="rId4" Type="http://schemas.openxmlformats.org/officeDocument/2006/relationships/image" Target="../media/image281.e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86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emf"/><Relationship Id="rId13" Type="http://schemas.openxmlformats.org/officeDocument/2006/relationships/oleObject" Target="../embeddings/oleObject276.bin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93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95.e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90.e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292.emf"/><Relationship Id="rId4" Type="http://schemas.openxmlformats.org/officeDocument/2006/relationships/image" Target="../media/image289.e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94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emf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97.emf"/><Relationship Id="rId5" Type="http://schemas.openxmlformats.org/officeDocument/2006/relationships/oleObject" Target="../embeddings/oleObject279.bin"/><Relationship Id="rId4" Type="http://schemas.openxmlformats.org/officeDocument/2006/relationships/image" Target="../media/image296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8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282.bin"/><Relationship Id="rId4" Type="http://schemas.openxmlformats.org/officeDocument/2006/relationships/image" Target="../media/image299.wmf"/><Relationship Id="rId9" Type="http://schemas.openxmlformats.org/officeDocument/2006/relationships/slide" Target="slide55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285.bin"/><Relationship Id="rId4" Type="http://schemas.openxmlformats.org/officeDocument/2006/relationships/image" Target="../media/image299.wmf"/><Relationship Id="rId9" Type="http://schemas.openxmlformats.org/officeDocument/2006/relationships/slide" Target="slide5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89.bin"/><Relationship Id="rId12" Type="http://schemas.openxmlformats.org/officeDocument/2006/relationships/slide" Target="slide5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00.wmf"/><Relationship Id="rId11" Type="http://schemas.openxmlformats.org/officeDocument/2006/relationships/image" Target="../media/image303.wmf"/><Relationship Id="rId5" Type="http://schemas.openxmlformats.org/officeDocument/2006/relationships/oleObject" Target="../embeddings/oleObject288.bin"/><Relationship Id="rId10" Type="http://schemas.openxmlformats.org/officeDocument/2006/relationships/oleObject" Target="../embeddings/oleObject291.bin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29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293.bin"/><Relationship Id="rId4" Type="http://schemas.openxmlformats.org/officeDocument/2006/relationships/image" Target="../media/image299.wmf"/><Relationship Id="rId9" Type="http://schemas.openxmlformats.org/officeDocument/2006/relationships/slide" Target="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4851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t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§</a:t>
            </a:r>
            <a:r>
              <a:rPr lang="en-US" altLang="zh-CN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7.4  </a:t>
            </a:r>
            <a:r>
              <a:rPr lang="zh-CN" altLang="en-US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区</a:t>
            </a:r>
            <a:r>
              <a:rPr lang="zh-CN" altLang="en-US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间估</a:t>
            </a:r>
            <a:r>
              <a:rPr lang="zh-CN" altLang="en-US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计</a:t>
            </a:r>
            <a:endParaRPr lang="en-US" altLang="zh-CN" dirty="0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822325" y="1214438"/>
            <a:ext cx="57356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</a:rPr>
              <a:t>1.</a:t>
            </a:r>
            <a:r>
              <a:rPr kumimoji="1" lang="zh-CN" altLang="en-US" sz="3200" b="1">
                <a:solidFill>
                  <a:srgbClr val="3333CC"/>
                </a:solidFill>
              </a:rPr>
              <a:t> </a:t>
            </a:r>
            <a:r>
              <a:rPr kumimoji="1" lang="zh-CN" altLang="en-US" sz="3200" b="1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置信区间的定义</a:t>
            </a:r>
            <a:endParaRPr kumimoji="1" lang="zh-CN" altLang="en-US" sz="3200" b="1">
              <a:solidFill>
                <a:srgbClr val="3333CC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914400" y="1817688"/>
          <a:ext cx="767080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7670520" imgH="2692080" progId="Equation.3">
                  <p:embed/>
                </p:oleObj>
              </mc:Choice>
              <mc:Fallback>
                <p:oleObj name="Equation" r:id="rId3" imgW="7670520" imgH="269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17688"/>
                        <a:ext cx="7670800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5"/>
          <p:cNvGraphicFramePr>
            <a:graphicFrameLocks noChangeAspect="1"/>
          </p:cNvGraphicFramePr>
          <p:nvPr/>
        </p:nvGraphicFramePr>
        <p:xfrm>
          <a:off x="908050" y="4635500"/>
          <a:ext cx="78486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7848360" imgH="1536480" progId="Equation.3">
                  <p:embed/>
                </p:oleObj>
              </mc:Choice>
              <mc:Fallback>
                <p:oleObj name="Equation" r:id="rId5" imgW="7848360" imgH="1536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635500"/>
                        <a:ext cx="78486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66447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842963" y="7620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关于定义的说明</a:t>
            </a:r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/>
        </p:nvGraphicFramePr>
        <p:xfrm>
          <a:off x="895350" y="1524000"/>
          <a:ext cx="7734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3" imgW="7734240" imgH="990360" progId="Equation.3">
                  <p:embed/>
                </p:oleObj>
              </mc:Choice>
              <mc:Fallback>
                <p:oleObj name="Equation" r:id="rId3" imgW="773424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524000"/>
                        <a:ext cx="7734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/>
          <p:cNvGraphicFramePr>
            <a:graphicFrameLocks noChangeAspect="1"/>
          </p:cNvGraphicFramePr>
          <p:nvPr/>
        </p:nvGraphicFramePr>
        <p:xfrm>
          <a:off x="889000" y="2743200"/>
          <a:ext cx="77597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5" imgW="7759440" imgH="1511280" progId="Equation.3">
                  <p:embed/>
                </p:oleObj>
              </mc:Choice>
              <mc:Fallback>
                <p:oleObj name="Equation" r:id="rId5" imgW="7759440" imgH="1511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2743200"/>
                        <a:ext cx="77597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/>
          <p:cNvGraphicFramePr>
            <a:graphicFrameLocks noChangeAspect="1"/>
          </p:cNvGraphicFramePr>
          <p:nvPr/>
        </p:nvGraphicFramePr>
        <p:xfrm>
          <a:off x="908050" y="4495800"/>
          <a:ext cx="7683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7" imgW="7683480" imgH="1015920" progId="Equation.3">
                  <p:embed/>
                </p:oleObj>
              </mc:Choice>
              <mc:Fallback>
                <p:oleObj name="Equation" r:id="rId7" imgW="768348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495800"/>
                        <a:ext cx="7683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36491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68" name="Object 16"/>
          <p:cNvGraphicFramePr>
            <a:graphicFrameLocks noChangeAspect="1"/>
          </p:cNvGraphicFramePr>
          <p:nvPr/>
        </p:nvGraphicFramePr>
        <p:xfrm>
          <a:off x="892175" y="749300"/>
          <a:ext cx="80010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公式" r:id="rId3" imgW="8001000" imgH="1536480" progId="Equation.3">
                  <p:embed/>
                </p:oleObj>
              </mc:Choice>
              <mc:Fallback>
                <p:oleObj name="公式" r:id="rId3" imgW="8001000" imgH="1536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749300"/>
                        <a:ext cx="80010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811213" y="2425700"/>
            <a:ext cx="8332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若反复抽样多次(各次得到的样本容量相等,都是</a:t>
            </a:r>
            <a:r>
              <a:rPr kumimoji="1" lang="en-US" altLang="zh-CN" sz="2800" b="1" i="1">
                <a:solidFill>
                  <a:srgbClr val="000000"/>
                </a:solidFill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23570" name="Object 18"/>
          <p:cNvGraphicFramePr>
            <a:graphicFrameLocks noChangeAspect="1"/>
          </p:cNvGraphicFramePr>
          <p:nvPr/>
        </p:nvGraphicFramePr>
        <p:xfrm>
          <a:off x="895350" y="3048000"/>
          <a:ext cx="4965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5" imgW="4965480" imgH="457200" progId="Equation.3">
                  <p:embed/>
                </p:oleObj>
              </mc:Choice>
              <mc:Fallback>
                <p:oleObj name="Equation" r:id="rId5" imgW="4965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048000"/>
                        <a:ext cx="4965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831850" y="4211638"/>
            <a:ext cx="746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按</a:t>
            </a:r>
            <a:r>
              <a:rPr kumimoji="1" lang="zh-CN" altLang="en-US" sz="2800" b="1">
                <a:solidFill>
                  <a:srgbClr val="FF0000"/>
                </a:solidFill>
                <a:ea typeface="黑体" pitchFamily="2" charset="-122"/>
              </a:rPr>
              <a:t>伯努利大数定理</a:t>
            </a:r>
            <a:r>
              <a:rPr kumimoji="1" lang="zh-CN" altLang="en-US" sz="2800" b="1">
                <a:solidFill>
                  <a:srgbClr val="000000"/>
                </a:solidFill>
              </a:rPr>
              <a:t>, 在这样多的区间中,</a:t>
            </a:r>
          </a:p>
        </p:txBody>
      </p:sp>
      <p:graphicFrame>
        <p:nvGraphicFramePr>
          <p:cNvPr id="23573" name="Object 21"/>
          <p:cNvGraphicFramePr>
            <a:graphicFrameLocks noChangeAspect="1"/>
          </p:cNvGraphicFramePr>
          <p:nvPr/>
        </p:nvGraphicFramePr>
        <p:xfrm>
          <a:off x="908050" y="4938713"/>
          <a:ext cx="80565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7" imgW="8216640" imgH="431640" progId="Equation.3">
                  <p:embed/>
                </p:oleObj>
              </mc:Choice>
              <mc:Fallback>
                <p:oleObj name="Equation" r:id="rId7" imgW="8216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938713"/>
                        <a:ext cx="80565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4" name="Object 22"/>
          <p:cNvGraphicFramePr>
            <a:graphicFrameLocks noChangeAspect="1"/>
          </p:cNvGraphicFramePr>
          <p:nvPr/>
        </p:nvGraphicFramePr>
        <p:xfrm>
          <a:off x="912813" y="3692525"/>
          <a:ext cx="805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9" imgW="8292960" imgH="431640" progId="Equation.3">
                  <p:embed/>
                </p:oleObj>
              </mc:Choice>
              <mc:Fallback>
                <p:oleObj name="Equation" r:id="rId9" imgW="8292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3692525"/>
                        <a:ext cx="805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75752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9" grpId="0" autoUpdateAnimBg="0"/>
      <p:bldP spid="2357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871538" y="928688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例如</a:t>
            </a:r>
          </a:p>
        </p:txBody>
      </p:sp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2057400" y="993775"/>
          <a:ext cx="485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3" imgW="4851360" imgH="406080" progId="Equation.3">
                  <p:embed/>
                </p:oleObj>
              </mc:Choice>
              <mc:Fallback>
                <p:oleObj name="Equation" r:id="rId3" imgW="4851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993775"/>
                        <a:ext cx="4851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942975" y="1484313"/>
          <a:ext cx="775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公式" r:id="rId5" imgW="7759440" imgH="419040" progId="Equation.3">
                  <p:embed/>
                </p:oleObj>
              </mc:Choice>
              <mc:Fallback>
                <p:oleObj name="公式" r:id="rId5" imgW="7759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1484313"/>
                        <a:ext cx="7759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16113"/>
            <a:ext cx="768985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22906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893763" y="876300"/>
            <a:ext cx="71834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</a:rPr>
              <a:t>2.</a:t>
            </a:r>
            <a:r>
              <a:rPr kumimoji="1" lang="zh-CN" altLang="en-US" sz="3200" b="1">
                <a:solidFill>
                  <a:srgbClr val="3333CC"/>
                </a:solidFill>
              </a:rPr>
              <a:t> </a:t>
            </a:r>
            <a:r>
              <a:rPr kumimoji="1" lang="zh-CN" altLang="en-US" sz="3200" b="1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求置信区间的一般步骤</a:t>
            </a:r>
            <a:r>
              <a:rPr kumimoji="1" lang="zh-CN" altLang="en-US"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(共</a:t>
            </a:r>
            <a:r>
              <a:rPr kumimoji="1" lang="zh-CN" altLang="en-US" sz="3200" b="1">
                <a:solidFill>
                  <a:srgbClr val="FF0000"/>
                </a:solidFill>
                <a:ea typeface="黑体" pitchFamily="2" charset="-122"/>
              </a:rPr>
              <a:t>3</a:t>
            </a:r>
            <a:r>
              <a:rPr kumimoji="1" lang="zh-CN" altLang="en-US"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步)</a:t>
            </a:r>
            <a:endParaRPr kumimoji="1" lang="zh-CN" altLang="en-US" sz="3200" b="1">
              <a:solidFill>
                <a:srgbClr val="3333CC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4591" name="Object 15"/>
          <p:cNvGraphicFramePr>
            <a:graphicFrameLocks noChangeAspect="1"/>
          </p:cNvGraphicFramePr>
          <p:nvPr/>
        </p:nvGraphicFramePr>
        <p:xfrm>
          <a:off x="781050" y="1600200"/>
          <a:ext cx="75565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3" imgW="7556400" imgH="2095200" progId="Equation.3">
                  <p:embed/>
                </p:oleObj>
              </mc:Choice>
              <mc:Fallback>
                <p:oleObj name="Equation" r:id="rId3" imgW="7556400" imgH="209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1600200"/>
                        <a:ext cx="75565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/>
        </p:nvGraphicFramePr>
        <p:xfrm>
          <a:off x="762000" y="4122738"/>
          <a:ext cx="7645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5" imgW="7645320" imgH="1002960" progId="Equation.3">
                  <p:embed/>
                </p:oleObj>
              </mc:Choice>
              <mc:Fallback>
                <p:oleObj name="Equation" r:id="rId5" imgW="764532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22738"/>
                        <a:ext cx="76454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48311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901700" y="920750"/>
          <a:ext cx="78613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3" imgW="7860960" imgH="2145960" progId="Equation.3">
                  <p:embed/>
                </p:oleObj>
              </mc:Choice>
              <mc:Fallback>
                <p:oleObj name="Equation" r:id="rId3" imgW="7860960" imgH="2145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920750"/>
                        <a:ext cx="78613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88172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525657"/>
              </p:ext>
            </p:extLst>
          </p:nvPr>
        </p:nvGraphicFramePr>
        <p:xfrm>
          <a:off x="827584" y="1268760"/>
          <a:ext cx="7721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3" imgW="7721280" imgH="977760" progId="Equation.3">
                  <p:embed/>
                </p:oleObj>
              </mc:Choice>
              <mc:Fallback>
                <p:oleObj name="Equation" r:id="rId3" imgW="77212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268760"/>
                        <a:ext cx="7721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600140"/>
              </p:ext>
            </p:extLst>
          </p:nvPr>
        </p:nvGraphicFramePr>
        <p:xfrm>
          <a:off x="683568" y="3501008"/>
          <a:ext cx="7721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5" imgW="7721280" imgH="977760" progId="Equation.3">
                  <p:embed/>
                </p:oleObj>
              </mc:Choice>
              <mc:Fallback>
                <p:oleObj name="Equation" r:id="rId5" imgW="77212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501008"/>
                        <a:ext cx="7721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03782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82738" y="636588"/>
            <a:ext cx="7561262" cy="701675"/>
          </a:xfrm>
          <a:noFill/>
          <a:ln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二、典型例题</a:t>
            </a:r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714375" y="1589088"/>
          <a:ext cx="78994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3" imgW="7899120" imgH="1549080" progId="Equation.3">
                  <p:embed/>
                </p:oleObj>
              </mc:Choice>
              <mc:Fallback>
                <p:oleObj name="Equation" r:id="rId3" imgW="7899120" imgH="1549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589088"/>
                        <a:ext cx="78994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852488" y="3284538"/>
            <a:ext cx="1281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8208" name="Object 16"/>
          <p:cNvGraphicFramePr>
            <a:graphicFrameLocks noChangeAspect="1"/>
          </p:cNvGraphicFramePr>
          <p:nvPr/>
        </p:nvGraphicFramePr>
        <p:xfrm>
          <a:off x="1828800" y="3352800"/>
          <a:ext cx="436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5" imgW="4368600" imgH="457200" progId="Equation.3">
                  <p:embed/>
                </p:oleObj>
              </mc:Choice>
              <mc:Fallback>
                <p:oleObj name="Equation" r:id="rId5" imgW="4368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352800"/>
                        <a:ext cx="436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776288" y="40386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由上节例4可知,</a:t>
            </a:r>
          </a:p>
        </p:txBody>
      </p:sp>
      <p:graphicFrame>
        <p:nvGraphicFramePr>
          <p:cNvPr id="8210" name="Object 18"/>
          <p:cNvGraphicFramePr>
            <a:graphicFrameLocks noChangeAspect="1"/>
          </p:cNvGraphicFramePr>
          <p:nvPr/>
        </p:nvGraphicFramePr>
        <p:xfrm>
          <a:off x="3619500" y="3886200"/>
          <a:ext cx="420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7" imgW="4203360" imgH="838080" progId="Equation.3">
                  <p:embed/>
                </p:oleObj>
              </mc:Choice>
              <mc:Fallback>
                <p:oleObj name="Equation" r:id="rId7" imgW="4203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886200"/>
                        <a:ext cx="4203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1" name="Object 19"/>
          <p:cNvGraphicFramePr>
            <a:graphicFrameLocks noChangeAspect="1"/>
          </p:cNvGraphicFramePr>
          <p:nvPr/>
        </p:nvGraphicFramePr>
        <p:xfrm>
          <a:off x="920750" y="5070475"/>
          <a:ext cx="370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9" imgW="3708360" imgH="457200" progId="Equation.3">
                  <p:embed/>
                </p:oleObj>
              </mc:Choice>
              <mc:Fallback>
                <p:oleObj name="Equation" r:id="rId9" imgW="37083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5070475"/>
                        <a:ext cx="3708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" name="Object 20"/>
          <p:cNvGraphicFramePr>
            <a:graphicFrameLocks noChangeAspect="1"/>
          </p:cNvGraphicFramePr>
          <p:nvPr/>
        </p:nvGraphicFramePr>
        <p:xfrm>
          <a:off x="4267200" y="4565650"/>
          <a:ext cx="40513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11" imgW="4051080" imgH="1460160" progId="Equation.3">
                  <p:embed/>
                </p:oleObj>
              </mc:Choice>
              <mc:Fallback>
                <p:oleObj name="Equation" r:id="rId11" imgW="4051080" imgH="1460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565650"/>
                        <a:ext cx="40513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838200" y="15240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513265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 autoUpdateAnimBg="0"/>
      <p:bldP spid="8209" grpId="0" autoUpdateAnimBg="0"/>
      <p:bldP spid="820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50" name="Object 34"/>
          <p:cNvGraphicFramePr>
            <a:graphicFrameLocks noChangeAspect="1"/>
          </p:cNvGraphicFramePr>
          <p:nvPr/>
        </p:nvGraphicFramePr>
        <p:xfrm>
          <a:off x="6115050" y="782638"/>
          <a:ext cx="125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3" imgW="1257120" imgH="838080" progId="Equation.3">
                  <p:embed/>
                </p:oleObj>
              </mc:Choice>
              <mc:Fallback>
                <p:oleObj name="Equation" r:id="rId3" imgW="1257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782638"/>
                        <a:ext cx="1257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1" name="Object 35"/>
          <p:cNvGraphicFramePr>
            <a:graphicFrameLocks noChangeAspect="1"/>
          </p:cNvGraphicFramePr>
          <p:nvPr/>
        </p:nvGraphicFramePr>
        <p:xfrm>
          <a:off x="3206750" y="1614488"/>
          <a:ext cx="3721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5" imgW="3720960" imgH="1028520" progId="Equation.3">
                  <p:embed/>
                </p:oleObj>
              </mc:Choice>
              <mc:Fallback>
                <p:oleObj name="Equation" r:id="rId5" imgW="372096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1614488"/>
                        <a:ext cx="37211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2" name="Rectangle 36"/>
          <p:cNvSpPr>
            <a:spLocks noChangeArrowheads="1"/>
          </p:cNvSpPr>
          <p:nvPr/>
        </p:nvSpPr>
        <p:spPr bwMode="auto">
          <a:xfrm>
            <a:off x="873125" y="1828800"/>
            <a:ext cx="296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sym typeface="Math1" pitchFamily="2" charset="2"/>
              </a:rPr>
              <a:t>其概率密度为</a:t>
            </a:r>
          </a:p>
        </p:txBody>
      </p:sp>
      <p:graphicFrame>
        <p:nvGraphicFramePr>
          <p:cNvPr id="9253" name="Object 37"/>
          <p:cNvGraphicFramePr>
            <a:graphicFrameLocks noChangeAspect="1"/>
          </p:cNvGraphicFramePr>
          <p:nvPr/>
        </p:nvGraphicFramePr>
        <p:xfrm>
          <a:off x="862013" y="2895600"/>
          <a:ext cx="789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quation" r:id="rId7" imgW="7899120" imgH="431640" progId="Equation.3">
                  <p:embed/>
                </p:oleObj>
              </mc:Choice>
              <mc:Fallback>
                <p:oleObj name="Equation" r:id="rId7" imgW="7899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2895600"/>
                        <a:ext cx="789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4" name="Object 38"/>
          <p:cNvGraphicFramePr>
            <a:graphicFrameLocks noChangeAspect="1"/>
          </p:cNvGraphicFramePr>
          <p:nvPr/>
        </p:nvGraphicFramePr>
        <p:xfrm>
          <a:off x="884238" y="3467100"/>
          <a:ext cx="487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Equation" r:id="rId9" imgW="4876560" imgH="914400" progId="Equation.3">
                  <p:embed/>
                </p:oleObj>
              </mc:Choice>
              <mc:Fallback>
                <p:oleObj name="Equation" r:id="rId9" imgW="4876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3467100"/>
                        <a:ext cx="4876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5" name="Object 39"/>
          <p:cNvGraphicFramePr>
            <a:graphicFrameLocks noChangeAspect="1"/>
          </p:cNvGraphicFramePr>
          <p:nvPr/>
        </p:nvGraphicFramePr>
        <p:xfrm>
          <a:off x="931863" y="4483100"/>
          <a:ext cx="463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11" imgW="4635360" imgH="698400" progId="Equation.3">
                  <p:embed/>
                </p:oleObj>
              </mc:Choice>
              <mc:Fallback>
                <p:oleObj name="Equation" r:id="rId11" imgW="46353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4483100"/>
                        <a:ext cx="463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6" name="Object 40"/>
          <p:cNvGraphicFramePr>
            <a:graphicFrameLocks noChangeAspect="1"/>
          </p:cNvGraphicFramePr>
          <p:nvPr/>
        </p:nvGraphicFramePr>
        <p:xfrm>
          <a:off x="877888" y="5176838"/>
          <a:ext cx="411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13" imgW="4114800" imgH="914400" progId="Equation.3">
                  <p:embed/>
                </p:oleObj>
              </mc:Choice>
              <mc:Fallback>
                <p:oleObj name="Equation" r:id="rId13" imgW="4114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5176838"/>
                        <a:ext cx="4114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8" name="Object 42"/>
          <p:cNvGraphicFramePr>
            <a:graphicFrameLocks noChangeAspect="1"/>
          </p:cNvGraphicFramePr>
          <p:nvPr/>
        </p:nvGraphicFramePr>
        <p:xfrm>
          <a:off x="5076825" y="5180013"/>
          <a:ext cx="3403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公式" r:id="rId15" imgW="3403440" imgH="927000" progId="Equation.3">
                  <p:embed/>
                </p:oleObj>
              </mc:Choice>
              <mc:Fallback>
                <p:oleObj name="公式" r:id="rId15" imgW="340344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180013"/>
                        <a:ext cx="3403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9" name="Object 43"/>
          <p:cNvGraphicFramePr>
            <a:graphicFrameLocks noChangeAspect="1"/>
          </p:cNvGraphicFramePr>
          <p:nvPr/>
        </p:nvGraphicFramePr>
        <p:xfrm>
          <a:off x="935038" y="990600"/>
          <a:ext cx="529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17" imgW="5295600" imgH="406080" progId="Equation.3">
                  <p:embed/>
                </p:oleObj>
              </mc:Choice>
              <mc:Fallback>
                <p:oleObj name="Equation" r:id="rId17" imgW="5295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990600"/>
                        <a:ext cx="529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6578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831850" y="2817813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20504" name="Object 24"/>
          <p:cNvGraphicFramePr>
            <a:graphicFrameLocks noChangeAspect="1"/>
          </p:cNvGraphicFramePr>
          <p:nvPr/>
        </p:nvGraphicFramePr>
        <p:xfrm>
          <a:off x="904875" y="965200"/>
          <a:ext cx="78232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3" imgW="7823160" imgH="1612800" progId="Equation.3">
                  <p:embed/>
                </p:oleObj>
              </mc:Choice>
              <mc:Fallback>
                <p:oleObj name="Equation" r:id="rId3" imgW="7823160" imgH="16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965200"/>
                        <a:ext cx="78232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6" name="Object 26"/>
          <p:cNvGraphicFramePr>
            <a:graphicFrameLocks noChangeAspect="1"/>
          </p:cNvGraphicFramePr>
          <p:nvPr/>
        </p:nvGraphicFramePr>
        <p:xfrm>
          <a:off x="1485900" y="2909888"/>
          <a:ext cx="391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5" imgW="3911400" imgH="431640" progId="Equation.3">
                  <p:embed/>
                </p:oleObj>
              </mc:Choice>
              <mc:Fallback>
                <p:oleObj name="Equation" r:id="rId5" imgW="3911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2909888"/>
                        <a:ext cx="3911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1581150" y="3505200"/>
          <a:ext cx="3467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7" imgW="3466800" imgH="850680" progId="Equation.3">
                  <p:embed/>
                </p:oleObj>
              </mc:Choice>
              <mc:Fallback>
                <p:oleObj name="Equation" r:id="rId7" imgW="34668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3505200"/>
                        <a:ext cx="3467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8" name="Object 28"/>
          <p:cNvGraphicFramePr>
            <a:graphicFrameLocks noChangeAspect="1"/>
          </p:cNvGraphicFramePr>
          <p:nvPr/>
        </p:nvGraphicFramePr>
        <p:xfrm>
          <a:off x="1555750" y="4559300"/>
          <a:ext cx="6997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9" imgW="6997680" imgH="850680" progId="Equation.3">
                  <p:embed/>
                </p:oleObj>
              </mc:Choice>
              <mc:Fallback>
                <p:oleObj name="Equation" r:id="rId9" imgW="69976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4559300"/>
                        <a:ext cx="6997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831850" y="95408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053934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003300" y="4114800"/>
          <a:ext cx="4025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3" imgW="4025880" imgH="939600" progId="Equation.3">
                  <p:embed/>
                </p:oleObj>
              </mc:Choice>
              <mc:Fallback>
                <p:oleObj name="Equation" r:id="rId3" imgW="402588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4114800"/>
                        <a:ext cx="4025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922338" y="5149850"/>
          <a:ext cx="6756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5" imgW="6756120" imgH="914400" progId="Equation.3">
                  <p:embed/>
                </p:oleObj>
              </mc:Choice>
              <mc:Fallback>
                <p:oleObj name="Equation" r:id="rId5" imgW="6756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5149850"/>
                        <a:ext cx="6756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933450" y="765175"/>
          <a:ext cx="6362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7" imgW="6362640" imgH="393480" progId="Equation.3">
                  <p:embed/>
                </p:oleObj>
              </mc:Choice>
              <mc:Fallback>
                <p:oleObj name="Equation" r:id="rId7" imgW="6362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765175"/>
                        <a:ext cx="6362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4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25538"/>
            <a:ext cx="7689850" cy="295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4269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914400" y="1179513"/>
          <a:ext cx="73152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3" imgW="7315200" imgH="1460160" progId="Equation.3">
                  <p:embed/>
                </p:oleObj>
              </mc:Choice>
              <mc:Fallback>
                <p:oleObj name="Equation" r:id="rId3" imgW="7315200" imgH="1460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79513"/>
                        <a:ext cx="73152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873125" y="2979738"/>
            <a:ext cx="472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这样的置信区间常写成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4724400" y="2827338"/>
          <a:ext cx="218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5" imgW="2184120" imgH="914400" progId="Equation.3">
                  <p:embed/>
                </p:oleObj>
              </mc:Choice>
              <mc:Fallback>
                <p:oleObj name="Equation" r:id="rId5" imgW="2184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27338"/>
                        <a:ext cx="218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852488" y="4005263"/>
            <a:ext cx="4710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其置信区间的长度为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4260850" y="3873500"/>
          <a:ext cx="1727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7" imgW="1726920" imgH="850680" progId="Equation.3">
                  <p:embed/>
                </p:oleObj>
              </mc:Choice>
              <mc:Fallback>
                <p:oleObj name="Equation" r:id="rId7" imgW="172692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3873500"/>
                        <a:ext cx="1727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59" name="Picture 11" descr="人物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505200"/>
            <a:ext cx="12065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46333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utoUpdateAnimBg="0"/>
      <p:bldP spid="5325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920750" y="1590675"/>
          <a:ext cx="603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3" imgW="6032160" imgH="431640" progId="Equation.3">
                  <p:embed/>
                </p:oleObj>
              </mc:Choice>
              <mc:Fallback>
                <p:oleObj name="Equation" r:id="rId3" imgW="6032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1590675"/>
                        <a:ext cx="603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908050" y="2330450"/>
          <a:ext cx="4279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5" imgW="4279680" imgH="444240" progId="Equation.3">
                  <p:embed/>
                </p:oleObj>
              </mc:Choice>
              <mc:Fallback>
                <p:oleObj name="Equation" r:id="rId5" imgW="4279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2330450"/>
                        <a:ext cx="4279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863600" y="3044825"/>
          <a:ext cx="7975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7" imgW="7975440" imgH="901440" progId="Equation.3">
                  <p:embed/>
                </p:oleObj>
              </mc:Choice>
              <mc:Fallback>
                <p:oleObj name="Equation" r:id="rId7" imgW="797544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044825"/>
                        <a:ext cx="7975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811213" y="4181475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由一个样本值算得样本均值的观察值</a:t>
            </a: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6781800" y="4298950"/>
          <a:ext cx="1333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9" imgW="1333440" imgH="368280" progId="Equation.3">
                  <p:embed/>
                </p:oleObj>
              </mc:Choice>
              <mc:Fallback>
                <p:oleObj name="Equation" r:id="rId9" imgW="13334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298950"/>
                        <a:ext cx="1333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838200" y="5095875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则置信区间为</a:t>
            </a: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3082925" y="5213350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11" imgW="1930320" imgH="393480" progId="Equation.3">
                  <p:embed/>
                </p:oleObj>
              </mc:Choice>
              <mc:Fallback>
                <p:oleObj name="Equation" r:id="rId11" imgW="1930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5213350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5189538" y="5219700"/>
          <a:ext cx="248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13" imgW="2489040" imgH="419040" progId="Equation.3">
                  <p:embed/>
                </p:oleObj>
              </mc:Choice>
              <mc:Fallback>
                <p:oleObj name="Equation" r:id="rId13" imgW="2489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5219700"/>
                        <a:ext cx="2489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914400" y="895350"/>
          <a:ext cx="769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15" imgW="7696080" imgH="431640" progId="Equation.3">
                  <p:embed/>
                </p:oleObj>
              </mc:Choice>
              <mc:Fallback>
                <p:oleObj name="Equation" r:id="rId15" imgW="7696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95350"/>
                        <a:ext cx="7696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069035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autoUpdateAnimBg="0"/>
      <p:bldP spid="5427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908050" y="935038"/>
          <a:ext cx="425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3" imgW="4254480" imgH="431640" progId="Equation.3">
                  <p:embed/>
                </p:oleObj>
              </mc:Choice>
              <mc:Fallback>
                <p:oleObj name="Equation" r:id="rId3" imgW="4254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935038"/>
                        <a:ext cx="4254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938213" y="1538288"/>
          <a:ext cx="6337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5" imgW="6337080" imgH="914400" progId="Equation.3">
                  <p:embed/>
                </p:oleObj>
              </mc:Choice>
              <mc:Fallback>
                <p:oleObj name="Equation" r:id="rId5" imgW="63370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1538288"/>
                        <a:ext cx="6337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889000" y="2590800"/>
          <a:ext cx="6489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7" imgW="6489360" imgH="850680" progId="Equation.3">
                  <p:embed/>
                </p:oleObj>
              </mc:Choice>
              <mc:Fallback>
                <p:oleObj name="Equation" r:id="rId7" imgW="648936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2590800"/>
                        <a:ext cx="6489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850900" y="3600450"/>
          <a:ext cx="75311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9" imgW="7530840" imgH="1460160" progId="Equation.3">
                  <p:embed/>
                </p:oleObj>
              </mc:Choice>
              <mc:Fallback>
                <p:oleObj name="Equation" r:id="rId9" imgW="7530840" imgH="1460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3600450"/>
                        <a:ext cx="75311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852488" y="5376863"/>
            <a:ext cx="4710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其置信区间的长度为</a:t>
            </a:r>
          </a:p>
        </p:txBody>
      </p:sp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4191000" y="5245100"/>
          <a:ext cx="2387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11" imgW="2387520" imgH="850680" progId="Equation.3">
                  <p:embed/>
                </p:oleObj>
              </mc:Choice>
              <mc:Fallback>
                <p:oleObj name="Equation" r:id="rId11" imgW="238752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245100"/>
                        <a:ext cx="2387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0276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873125" y="98425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比较两个置信区间的长度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996950" y="2667000"/>
          <a:ext cx="4864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3" imgW="4863960" imgH="850680" progId="Equation.3">
                  <p:embed/>
                </p:oleObj>
              </mc:Choice>
              <mc:Fallback>
                <p:oleObj name="Equation" r:id="rId3" imgW="486396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667000"/>
                        <a:ext cx="4864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990600" y="1635125"/>
          <a:ext cx="4432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5" imgW="4431960" imgH="850680" progId="Equation.3">
                  <p:embed/>
                </p:oleObj>
              </mc:Choice>
              <mc:Fallback>
                <p:oleObj name="Equation" r:id="rId5" imgW="443196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35125"/>
                        <a:ext cx="4432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990600" y="3733800"/>
          <a:ext cx="193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7" imgW="1930320" imgH="431640" progId="Equation.3">
                  <p:embed/>
                </p:oleObj>
              </mc:Choice>
              <mc:Fallback>
                <p:oleObj name="Equation" r:id="rId7" imgW="1930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1930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3084513" y="3686175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置信区间短表示估计的精度高</a:t>
            </a:r>
            <a:r>
              <a:rPr kumimoji="1" lang="zh-CN" altLang="en-US" sz="2800" b="1">
                <a:solidFill>
                  <a:srgbClr val="FF0000"/>
                </a:solidFill>
                <a:ea typeface="黑体" pitchFamily="2" charset="-122"/>
              </a:rPr>
              <a:t>.</a:t>
            </a:r>
          </a:p>
        </p:txBody>
      </p: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873125" y="4267200"/>
            <a:ext cx="76962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</a:rPr>
              <a:t>说明:</a:t>
            </a:r>
            <a:r>
              <a:rPr kumimoji="1" lang="zh-CN" altLang="en-US" sz="2800" b="1">
                <a:solidFill>
                  <a:srgbClr val="3333CC"/>
                </a:solidFill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</a:rPr>
              <a:t>对于概率密度的图形是单峰且关于纵坐标轴对称的情况, 易证取</a:t>
            </a:r>
            <a:r>
              <a:rPr kumimoji="1" lang="en-US" altLang="zh-CN" sz="2800" b="1" i="1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>
                <a:solidFill>
                  <a:srgbClr val="000000"/>
                </a:solidFill>
              </a:rPr>
              <a:t>和</a:t>
            </a:r>
            <a:r>
              <a:rPr kumimoji="1" lang="en-US" altLang="zh-CN" sz="2800" b="1" i="1">
                <a:solidFill>
                  <a:srgbClr val="000000"/>
                </a:solidFill>
                <a:cs typeface="Times New Roman" pitchFamily="18" charset="0"/>
              </a:rPr>
              <a:t>b</a:t>
            </a:r>
            <a:r>
              <a:rPr kumimoji="1" lang="zh-CN" altLang="en-US" sz="2800" b="1">
                <a:solidFill>
                  <a:srgbClr val="000000"/>
                </a:solidFill>
              </a:rPr>
              <a:t>关于原点对称时,能使置信区间长度最小.</a:t>
            </a:r>
          </a:p>
        </p:txBody>
      </p:sp>
      <p:pic>
        <p:nvPicPr>
          <p:cNvPr id="56329" name="Picture 9" descr="卡通人22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219200"/>
            <a:ext cx="11176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6940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autoUpdateAnimBg="0"/>
      <p:bldP spid="5632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852488" y="1219200"/>
            <a:ext cx="75295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sym typeface="Math1" pitchFamily="2" charset="2"/>
              </a:rPr>
              <a:t>今抽9件测量其长度, 得数据如下(单位:</a:t>
            </a:r>
            <a:r>
              <a:rPr kumimoji="1" lang="en-US" altLang="zh-CN" sz="2800" b="1">
                <a:solidFill>
                  <a:srgbClr val="000000"/>
                </a:solidFill>
                <a:sym typeface="Math1" pitchFamily="2" charset="2"/>
              </a:rPr>
              <a:t>mm): 142, 138, 150, 165, 156, 148, 132, 135, 160. </a:t>
            </a:r>
            <a:endParaRPr kumimoji="1" lang="zh-CN" altLang="en-US" sz="2800" b="1" i="1">
              <a:solidFill>
                <a:srgbClr val="000000"/>
              </a:solidFill>
            </a:endParaRPr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852488" y="2809875"/>
            <a:ext cx="1031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18476" name="Object 44"/>
          <p:cNvGraphicFramePr>
            <a:graphicFrameLocks noChangeAspect="1"/>
          </p:cNvGraphicFramePr>
          <p:nvPr/>
        </p:nvGraphicFramePr>
        <p:xfrm>
          <a:off x="1651000" y="2901950"/>
          <a:ext cx="64897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3" imgW="6489360" imgH="1447560" progId="Equation.3">
                  <p:embed/>
                </p:oleObj>
              </mc:Choice>
              <mc:Fallback>
                <p:oleObj name="Equation" r:id="rId3" imgW="648936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2901950"/>
                        <a:ext cx="64897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7" name="Object 45"/>
          <p:cNvGraphicFramePr>
            <a:graphicFrameLocks noChangeAspect="1"/>
          </p:cNvGraphicFramePr>
          <p:nvPr/>
        </p:nvGraphicFramePr>
        <p:xfrm>
          <a:off x="900113" y="4611688"/>
          <a:ext cx="750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5" imgW="7505640" imgH="444240" progId="Equation.3">
                  <p:embed/>
                </p:oleObj>
              </mc:Choice>
              <mc:Fallback>
                <p:oleObj name="Equation" r:id="rId5" imgW="75056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611688"/>
                        <a:ext cx="7505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8" name="Object 46"/>
          <p:cNvGraphicFramePr>
            <a:graphicFrameLocks noChangeAspect="1"/>
          </p:cNvGraphicFramePr>
          <p:nvPr/>
        </p:nvGraphicFramePr>
        <p:xfrm>
          <a:off x="901700" y="5360988"/>
          <a:ext cx="779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7" imgW="7797600" imgH="444240" progId="Equation.3">
                  <p:embed/>
                </p:oleObj>
              </mc:Choice>
              <mc:Fallback>
                <p:oleObj name="Equation" r:id="rId7" imgW="7797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5360988"/>
                        <a:ext cx="779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9" name="Object 47"/>
          <p:cNvGraphicFramePr>
            <a:graphicFrameLocks noChangeAspect="1"/>
          </p:cNvGraphicFramePr>
          <p:nvPr/>
        </p:nvGraphicFramePr>
        <p:xfrm>
          <a:off x="1690688" y="830263"/>
          <a:ext cx="690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9" imgW="6908760" imgH="444240" progId="Equation.3">
                  <p:embed/>
                </p:oleObj>
              </mc:Choice>
              <mc:Fallback>
                <p:oleObj name="Equation" r:id="rId9" imgW="6908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830263"/>
                        <a:ext cx="6908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0" name="Object 48"/>
          <p:cNvGraphicFramePr>
            <a:graphicFrameLocks noChangeAspect="1"/>
          </p:cNvGraphicFramePr>
          <p:nvPr/>
        </p:nvGraphicFramePr>
        <p:xfrm>
          <a:off x="927100" y="2362200"/>
          <a:ext cx="692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11" imgW="6921360" imgH="444240" progId="Equation.3">
                  <p:embed/>
                </p:oleObj>
              </mc:Choice>
              <mc:Fallback>
                <p:oleObj name="Equation" r:id="rId11" imgW="6921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362200"/>
                        <a:ext cx="6921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852488" y="7620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07060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0013" y="669925"/>
            <a:ext cx="7773987" cy="7016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t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三、小结</a:t>
            </a: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873125" y="1600200"/>
            <a:ext cx="7543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</a:rPr>
              <a:t>        点估计不能反映估计的精度, 故而本节引入了区间估计.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1601788" y="4633913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求置信区间的一般步骤(分三步).</a:t>
            </a:r>
          </a:p>
        </p:txBody>
      </p:sp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1071563" y="2874963"/>
          <a:ext cx="73914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3" imgW="7391160" imgH="1523880" progId="Equation.3">
                  <p:embed/>
                </p:oleObj>
              </mc:Choice>
              <mc:Fallback>
                <p:oleObj name="Equation" r:id="rId3" imgW="7391160" imgH="1523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874963"/>
                        <a:ext cx="73914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13013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/>
      <p:bldP spid="6246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0262" y="2353251"/>
            <a:ext cx="7870825" cy="1446550"/>
          </a:xfrm>
          <a:noFill/>
          <a:ln/>
        </p:spPr>
        <p:txBody>
          <a:bodyPr>
            <a:spAutoFit/>
          </a:bodyPr>
          <a:lstStyle/>
          <a:p>
            <a:pPr algn="ctr"/>
            <a:r>
              <a:rPr lang="zh-CN" altLang="en-US" sz="440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第五节  正态总体均值与方差</a:t>
            </a:r>
            <a:r>
              <a:rPr lang="zh-CN" altLang="en-US" sz="4400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的区</a:t>
            </a:r>
            <a:r>
              <a:rPr lang="zh-CN" altLang="en-US" sz="440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间估计</a:t>
            </a:r>
          </a:p>
        </p:txBody>
      </p:sp>
      <p:sp>
        <p:nvSpPr>
          <p:cNvPr id="5128" name="AutoShape 8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305800" y="6143625"/>
            <a:ext cx="381000" cy="4572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50076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876300" y="1654175"/>
          <a:ext cx="78867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3" imgW="7886520" imgH="1536480" progId="Equation.3">
                  <p:embed/>
                </p:oleObj>
              </mc:Choice>
              <mc:Fallback>
                <p:oleObj name="Equation" r:id="rId3" imgW="7886520" imgH="1536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654175"/>
                        <a:ext cx="78867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9616"/>
            <a:ext cx="8229600" cy="646331"/>
          </a:xfrm>
          <a:noFill/>
          <a:ln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一、单个总体          </a:t>
            </a:r>
            <a:r>
              <a:rPr lang="zh-CN" altLang="en-US" dirty="0" smtClean="0">
                <a:solidFill>
                  <a:srgbClr val="7030A0"/>
                </a:solidFill>
              </a:rPr>
              <a:t>的</a:t>
            </a:r>
            <a:r>
              <a:rPr lang="zh-CN" altLang="en-US" dirty="0">
                <a:solidFill>
                  <a:srgbClr val="7030A0"/>
                </a:solidFill>
              </a:rPr>
              <a:t>情况</a:t>
            </a:r>
            <a:endParaRPr lang="en-US" altLang="zh-CN" dirty="0">
              <a:solidFill>
                <a:srgbClr val="7030A0"/>
              </a:solidFill>
            </a:endParaRPr>
          </a:p>
        </p:txBody>
      </p:sp>
      <p:graphicFrame>
        <p:nvGraphicFramePr>
          <p:cNvPr id="71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037214"/>
              </p:ext>
            </p:extLst>
          </p:nvPr>
        </p:nvGraphicFramePr>
        <p:xfrm>
          <a:off x="3563888" y="404664"/>
          <a:ext cx="17081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5" imgW="1396800" imgH="469800" progId="Equation.3">
                  <p:embed/>
                </p:oleObj>
              </mc:Choice>
              <mc:Fallback>
                <p:oleObj name="Equation" r:id="rId5" imgW="13968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04664"/>
                        <a:ext cx="17081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8"/>
          <p:cNvGraphicFramePr>
            <a:graphicFrameLocks noChangeAspect="1"/>
          </p:cNvGraphicFramePr>
          <p:nvPr/>
        </p:nvGraphicFramePr>
        <p:xfrm>
          <a:off x="895350" y="4092575"/>
          <a:ext cx="229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7" imgW="2298600" imgH="469800" progId="Equation.3">
                  <p:embed/>
                </p:oleObj>
              </mc:Choice>
              <mc:Fallback>
                <p:oleObj name="Equation" r:id="rId7" imgW="2298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4092575"/>
                        <a:ext cx="229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3051175" y="4086225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由上节例2可知:</a:t>
            </a:r>
          </a:p>
        </p:txBody>
      </p:sp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635000" y="4965700"/>
          <a:ext cx="622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9" imgW="6222960" imgH="444240" progId="Equation.3">
                  <p:embed/>
                </p:oleObj>
              </mc:Choice>
              <mc:Fallback>
                <p:oleObj name="Equation" r:id="rId9" imgW="6222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965700"/>
                        <a:ext cx="6223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21"/>
          <p:cNvGraphicFramePr>
            <a:graphicFrameLocks noChangeAspect="1"/>
          </p:cNvGraphicFramePr>
          <p:nvPr/>
        </p:nvGraphicFramePr>
        <p:xfrm>
          <a:off x="6654800" y="4722813"/>
          <a:ext cx="218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11" imgW="2184120" imgH="914400" progId="Equation.3">
                  <p:embed/>
                </p:oleObj>
              </mc:Choice>
              <mc:Fallback>
                <p:oleObj name="Equation" r:id="rId11" imgW="2184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0" y="4722813"/>
                        <a:ext cx="218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93" name="Group 25"/>
          <p:cNvGrpSpPr>
            <a:grpSpLocks/>
          </p:cNvGrpSpPr>
          <p:nvPr/>
        </p:nvGrpSpPr>
        <p:grpSpPr bwMode="auto">
          <a:xfrm>
            <a:off x="827088" y="3313113"/>
            <a:ext cx="4103687" cy="579437"/>
            <a:chOff x="521" y="2087"/>
            <a:chExt cx="2585" cy="365"/>
          </a:xfrm>
        </p:grpSpPr>
        <p:graphicFrame>
          <p:nvGraphicFramePr>
            <p:cNvPr id="7190" name="Object 22"/>
            <p:cNvGraphicFramePr>
              <a:graphicFrameLocks noChangeAspect="1"/>
            </p:cNvGraphicFramePr>
            <p:nvPr/>
          </p:nvGraphicFramePr>
          <p:xfrm>
            <a:off x="807" y="2132"/>
            <a:ext cx="229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1" name="公式" r:id="rId13" imgW="3213000" imgH="419040" progId="Equation.3">
                    <p:embed/>
                  </p:oleObj>
                </mc:Choice>
                <mc:Fallback>
                  <p:oleObj name="公式" r:id="rId13" imgW="32130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7" y="2132"/>
                          <a:ext cx="2299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2" name="Text Box 24"/>
            <p:cNvSpPr txBox="1">
              <a:spLocks noChangeArrowheads="1"/>
            </p:cNvSpPr>
            <p:nvPr/>
          </p:nvSpPr>
          <p:spPr bwMode="auto">
            <a:xfrm>
              <a:off x="521" y="2087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</a:rPr>
                <a:t>1.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92595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852488" y="762000"/>
            <a:ext cx="7543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     包糖机某日开工包了12包糖,称得质量(单位:克)分别为506,500,495,488,504,486,505,</a:t>
            </a:r>
            <a:endParaRPr kumimoji="1" lang="zh-CN" altLang="en-US" sz="2800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852488" y="1851025"/>
            <a:ext cx="7910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513,521,520,512,485. 假设重量服从正态分布,</a:t>
            </a:r>
            <a:endParaRPr kumimoji="1" lang="zh-CN" altLang="en-US" sz="2800" b="1">
              <a:solidFill>
                <a:srgbClr val="000000"/>
              </a:solidFill>
              <a:latin typeface="宋体" charset="-122"/>
              <a:sym typeface="Math1" pitchFamily="2" charset="2"/>
            </a:endParaRP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852488" y="3595688"/>
            <a:ext cx="1281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1900238" y="3671888"/>
          <a:ext cx="2387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3" imgW="2387520" imgH="393480" progId="Equation.3">
                  <p:embed/>
                </p:oleObj>
              </mc:Choice>
              <mc:Fallback>
                <p:oleObj name="Equation" r:id="rId3" imgW="2387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3671888"/>
                        <a:ext cx="2387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908050" y="4305300"/>
          <a:ext cx="292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5" imgW="2920680" imgH="419040" progId="Equation.3">
                  <p:embed/>
                </p:oleObj>
              </mc:Choice>
              <mc:Fallback>
                <p:oleObj name="Equation" r:id="rId5" imgW="2920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305300"/>
                        <a:ext cx="292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831850" y="4994275"/>
          <a:ext cx="309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7" imgW="3098520" imgH="431640" progId="Equation.3">
                  <p:embed/>
                </p:oleObj>
              </mc:Choice>
              <mc:Fallback>
                <p:oleObj name="Equation" r:id="rId7" imgW="3098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4994275"/>
                        <a:ext cx="3098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914400" y="5638800"/>
          <a:ext cx="294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9" imgW="2946240" imgH="444240" progId="Equation.3">
                  <p:embed/>
                </p:oleObj>
              </mc:Choice>
              <mc:Fallback>
                <p:oleObj name="Equation" r:id="rId9" imgW="2946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38800"/>
                        <a:ext cx="294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3" name="Object 19"/>
          <p:cNvGraphicFramePr>
            <a:graphicFrameLocks noChangeAspect="1"/>
          </p:cNvGraphicFramePr>
          <p:nvPr/>
        </p:nvGraphicFramePr>
        <p:xfrm>
          <a:off x="893763" y="2430463"/>
          <a:ext cx="7962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11" imgW="7962840" imgH="977760" progId="Equation.3">
                  <p:embed/>
                </p:oleObj>
              </mc:Choice>
              <mc:Fallback>
                <p:oleObj name="Equation" r:id="rId11" imgW="796284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2430463"/>
                        <a:ext cx="7962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44" name="Picture 20" descr="HM00361_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524250"/>
            <a:ext cx="17526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48" name="AutoShape 2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943600" y="5583238"/>
            <a:ext cx="1295400" cy="457200"/>
          </a:xfrm>
          <a:prstGeom prst="actionButtonBlank">
            <a:avLst/>
          </a:prstGeom>
          <a:solidFill>
            <a:srgbClr val="3399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52249" name="Rectangle 2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103938" y="5638800"/>
            <a:ext cx="992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附表2-1</a:t>
            </a:r>
          </a:p>
        </p:txBody>
      </p:sp>
      <p:graphicFrame>
        <p:nvGraphicFramePr>
          <p:cNvPr id="52252" name="Object 28"/>
          <p:cNvGraphicFramePr>
            <a:graphicFrameLocks noChangeAspect="1"/>
          </p:cNvGraphicFramePr>
          <p:nvPr/>
        </p:nvGraphicFramePr>
        <p:xfrm>
          <a:off x="3746500" y="4764088"/>
          <a:ext cx="219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Equation" r:id="rId14" imgW="2197080" imgH="838080" progId="Equation.3">
                  <p:embed/>
                </p:oleObj>
              </mc:Choice>
              <mc:Fallback>
                <p:oleObj name="Equation" r:id="rId14" imgW="2197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4764088"/>
                        <a:ext cx="2197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3" name="Object 29"/>
          <p:cNvGraphicFramePr>
            <a:graphicFrameLocks noChangeAspect="1"/>
          </p:cNvGraphicFramePr>
          <p:nvPr/>
        </p:nvGraphicFramePr>
        <p:xfrm>
          <a:off x="3954463" y="5694363"/>
          <a:ext cx="901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16" imgW="901440" imgH="368280" progId="Equation.3">
                  <p:embed/>
                </p:oleObj>
              </mc:Choice>
              <mc:Fallback>
                <p:oleObj name="Equation" r:id="rId16" imgW="9014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3" y="5694363"/>
                        <a:ext cx="901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4" name="Rectangle 30"/>
          <p:cNvSpPr>
            <a:spLocks noChangeArrowheads="1"/>
          </p:cNvSpPr>
          <p:nvPr/>
        </p:nvSpPr>
        <p:spPr bwMode="auto">
          <a:xfrm>
            <a:off x="842963" y="852488"/>
            <a:ext cx="719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238591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 autoUpdateAnimBg="0"/>
      <p:bldP spid="52248" grpId="0" animBg="1"/>
      <p:bldP spid="5224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3074"/>
          <p:cNvGraphicFramePr>
            <a:graphicFrameLocks noChangeAspect="1"/>
          </p:cNvGraphicFramePr>
          <p:nvPr/>
        </p:nvGraphicFramePr>
        <p:xfrm>
          <a:off x="1038225" y="2143125"/>
          <a:ext cx="1968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3" imgW="1968480" imgH="850680" progId="Equation.3">
                  <p:embed/>
                </p:oleObj>
              </mc:Choice>
              <mc:Fallback>
                <p:oleObj name="Equation" r:id="rId3" imgW="19684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2143125"/>
                        <a:ext cx="1968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3075"/>
          <p:cNvGraphicFramePr>
            <a:graphicFrameLocks noChangeAspect="1"/>
          </p:cNvGraphicFramePr>
          <p:nvPr/>
        </p:nvGraphicFramePr>
        <p:xfrm>
          <a:off x="3024188" y="2184400"/>
          <a:ext cx="3009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5" imgW="3009600" imgH="850680" progId="Equation.3">
                  <p:embed/>
                </p:oleObj>
              </mc:Choice>
              <mc:Fallback>
                <p:oleObj name="Equation" r:id="rId5" imgW="30096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2184400"/>
                        <a:ext cx="3009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3076"/>
          <p:cNvGraphicFramePr>
            <a:graphicFrameLocks noChangeAspect="1"/>
          </p:cNvGraphicFramePr>
          <p:nvPr/>
        </p:nvGraphicFramePr>
        <p:xfrm>
          <a:off x="6083300" y="2427288"/>
          <a:ext cx="1384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7" imgW="1384200" imgH="368280" progId="Equation.3">
                  <p:embed/>
                </p:oleObj>
              </mc:Choice>
              <mc:Fallback>
                <p:oleObj name="Equation" r:id="rId7" imgW="13842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2427288"/>
                        <a:ext cx="1384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3077"/>
          <p:cNvGraphicFramePr>
            <a:graphicFrameLocks noChangeAspect="1"/>
          </p:cNvGraphicFramePr>
          <p:nvPr/>
        </p:nvGraphicFramePr>
        <p:xfrm>
          <a:off x="996950" y="1066800"/>
          <a:ext cx="1955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9" imgW="1955520" imgH="850680" progId="Equation.3">
                  <p:embed/>
                </p:oleObj>
              </mc:Choice>
              <mc:Fallback>
                <p:oleObj name="Equation" r:id="rId9" imgW="195552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066800"/>
                        <a:ext cx="1955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3078"/>
          <p:cNvGraphicFramePr>
            <a:graphicFrameLocks noChangeAspect="1"/>
          </p:cNvGraphicFramePr>
          <p:nvPr/>
        </p:nvGraphicFramePr>
        <p:xfrm>
          <a:off x="3009900" y="1108075"/>
          <a:ext cx="3009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Equation" r:id="rId11" imgW="3009600" imgH="850680" progId="Equation.3">
                  <p:embed/>
                </p:oleObj>
              </mc:Choice>
              <mc:Fallback>
                <p:oleObj name="Equation" r:id="rId11" imgW="30096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1108075"/>
                        <a:ext cx="3009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3079"/>
          <p:cNvGraphicFramePr>
            <a:graphicFrameLocks noChangeAspect="1"/>
          </p:cNvGraphicFramePr>
          <p:nvPr/>
        </p:nvGraphicFramePr>
        <p:xfrm>
          <a:off x="6083300" y="1330325"/>
          <a:ext cx="1384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13" imgW="1384200" imgH="368280" progId="Equation.3">
                  <p:embed/>
                </p:oleObj>
              </mc:Choice>
              <mc:Fallback>
                <p:oleObj name="Equation" r:id="rId13" imgW="13842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1330325"/>
                        <a:ext cx="1384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3082"/>
          <p:cNvGraphicFramePr>
            <a:graphicFrameLocks noChangeAspect="1"/>
          </p:cNvGraphicFramePr>
          <p:nvPr/>
        </p:nvGraphicFramePr>
        <p:xfrm>
          <a:off x="1066800" y="3352800"/>
          <a:ext cx="5740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15" imgW="5740200" imgH="444240" progId="Equation.3">
                  <p:embed/>
                </p:oleObj>
              </mc:Choice>
              <mc:Fallback>
                <p:oleObj name="Equation" r:id="rId15" imgW="5740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52800"/>
                        <a:ext cx="5740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3083"/>
          <p:cNvGraphicFramePr>
            <a:graphicFrameLocks noChangeAspect="1"/>
          </p:cNvGraphicFramePr>
          <p:nvPr/>
        </p:nvGraphicFramePr>
        <p:xfrm>
          <a:off x="2965450" y="4102100"/>
          <a:ext cx="259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17" imgW="2590560" imgH="393480" progId="Equation.3">
                  <p:embed/>
                </p:oleObj>
              </mc:Choice>
              <mc:Fallback>
                <p:oleObj name="Equation" r:id="rId17" imgW="2590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102100"/>
                        <a:ext cx="2590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3084"/>
          <p:cNvGraphicFramePr>
            <a:graphicFrameLocks noChangeAspect="1"/>
          </p:cNvGraphicFramePr>
          <p:nvPr/>
        </p:nvGraphicFramePr>
        <p:xfrm>
          <a:off x="825500" y="4902200"/>
          <a:ext cx="313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19" imgW="3136680" imgH="431640" progId="Equation.3">
                  <p:embed/>
                </p:oleObj>
              </mc:Choice>
              <mc:Fallback>
                <p:oleObj name="Equation" r:id="rId19" imgW="3136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4902200"/>
                        <a:ext cx="3136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3085"/>
          <p:cNvGraphicFramePr>
            <a:graphicFrameLocks noChangeAspect="1"/>
          </p:cNvGraphicFramePr>
          <p:nvPr/>
        </p:nvGraphicFramePr>
        <p:xfrm>
          <a:off x="3949700" y="4702175"/>
          <a:ext cx="237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21" imgW="2374560" imgH="838080" progId="Equation.3">
                  <p:embed/>
                </p:oleObj>
              </mc:Choice>
              <mc:Fallback>
                <p:oleObj name="Equation" r:id="rId21" imgW="2374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4702175"/>
                        <a:ext cx="237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55754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96" name="Object 20"/>
          <p:cNvGraphicFramePr>
            <a:graphicFrameLocks noChangeAspect="1"/>
          </p:cNvGraphicFramePr>
          <p:nvPr/>
        </p:nvGraphicFramePr>
        <p:xfrm>
          <a:off x="2260600" y="1377950"/>
          <a:ext cx="193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3" imgW="1930320" imgH="431640" progId="Equation.3">
                  <p:embed/>
                </p:oleObj>
              </mc:Choice>
              <mc:Fallback>
                <p:oleObj name="Equation" r:id="rId3" imgW="1930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377950"/>
                        <a:ext cx="1930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3" name="Object 27"/>
          <p:cNvGraphicFramePr>
            <a:graphicFrameLocks noChangeAspect="1"/>
          </p:cNvGraphicFramePr>
          <p:nvPr/>
        </p:nvGraphicFramePr>
        <p:xfrm>
          <a:off x="793750" y="2197100"/>
          <a:ext cx="694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5" imgW="6946560" imgH="444240" progId="Equation.3">
                  <p:embed/>
                </p:oleObj>
              </mc:Choice>
              <mc:Fallback>
                <p:oleObj name="Equation" r:id="rId5" imgW="69465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2197100"/>
                        <a:ext cx="6946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28"/>
          <p:cNvGraphicFramePr>
            <a:graphicFrameLocks noChangeAspect="1"/>
          </p:cNvGraphicFramePr>
          <p:nvPr/>
        </p:nvGraphicFramePr>
        <p:xfrm>
          <a:off x="3097213" y="2959100"/>
          <a:ext cx="257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7" imgW="2577960" imgH="393480" progId="Equation.3">
                  <p:embed/>
                </p:oleObj>
              </mc:Choice>
              <mc:Fallback>
                <p:oleObj name="Equation" r:id="rId7" imgW="2577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2959100"/>
                        <a:ext cx="257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29"/>
          <p:cNvGraphicFramePr>
            <a:graphicFrameLocks noChangeAspect="1"/>
          </p:cNvGraphicFramePr>
          <p:nvPr/>
        </p:nvGraphicFramePr>
        <p:xfrm>
          <a:off x="788988" y="3746500"/>
          <a:ext cx="69723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9" imgW="6972120" imgH="1511280" progId="Equation.3">
                  <p:embed/>
                </p:oleObj>
              </mc:Choice>
              <mc:Fallback>
                <p:oleObj name="Equation" r:id="rId9" imgW="6972120" imgH="1511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3746500"/>
                        <a:ext cx="69723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6" name="AutoShape 3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078663" y="1239838"/>
            <a:ext cx="1295400" cy="457200"/>
          </a:xfrm>
          <a:prstGeom prst="actionButtonBlank">
            <a:avLst/>
          </a:prstGeom>
          <a:solidFill>
            <a:srgbClr val="3399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4607" name="Rectangle 3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239000" y="1295400"/>
            <a:ext cx="992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附表2-2</a:t>
            </a:r>
          </a:p>
        </p:txBody>
      </p:sp>
      <p:graphicFrame>
        <p:nvGraphicFramePr>
          <p:cNvPr id="24608" name="Object 32"/>
          <p:cNvGraphicFramePr>
            <a:graphicFrameLocks noChangeAspect="1"/>
          </p:cNvGraphicFramePr>
          <p:nvPr/>
        </p:nvGraphicFramePr>
        <p:xfrm>
          <a:off x="4191000" y="1427163"/>
          <a:ext cx="723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11" imgW="723600" imgH="368280" progId="Equation.3">
                  <p:embed/>
                </p:oleObj>
              </mc:Choice>
              <mc:Fallback>
                <p:oleObj name="Equation" r:id="rId11" imgW="7236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427163"/>
                        <a:ext cx="723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611" name="Picture 35" descr="打电脑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971800"/>
            <a:ext cx="1447800" cy="132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12" name="Rectangle 36"/>
          <p:cNvSpPr>
            <a:spLocks noChangeArrowheads="1"/>
          </p:cNvSpPr>
          <p:nvPr/>
        </p:nvSpPr>
        <p:spPr bwMode="auto">
          <a:xfrm>
            <a:off x="838200" y="7762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查表得</a:t>
            </a:r>
          </a:p>
        </p:txBody>
      </p:sp>
    </p:spTree>
    <p:extLst>
      <p:ext uri="{BB962C8B-B14F-4D97-AF65-F5344CB8AC3E}">
        <p14:creationId xmlns:p14="http://schemas.microsoft.com/office/powerpoint/2010/main" val="306615676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23" name="Object 19"/>
          <p:cNvGraphicFramePr>
            <a:graphicFrameLocks noChangeAspect="1"/>
          </p:cNvGraphicFramePr>
          <p:nvPr/>
        </p:nvGraphicFramePr>
        <p:xfrm>
          <a:off x="895350" y="914400"/>
          <a:ext cx="2336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3" imgW="2336760" imgH="469800" progId="Equation.3">
                  <p:embed/>
                </p:oleObj>
              </mc:Choice>
              <mc:Fallback>
                <p:oleObj name="Equation" r:id="rId3" imgW="2336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914400"/>
                        <a:ext cx="2336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20"/>
          <p:cNvGraphicFramePr>
            <a:graphicFrameLocks noChangeAspect="1"/>
          </p:cNvGraphicFramePr>
          <p:nvPr/>
        </p:nvGraphicFramePr>
        <p:xfrm>
          <a:off x="895350" y="3194050"/>
          <a:ext cx="75565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5" imgW="7556400" imgH="1434960" progId="Equation.3">
                  <p:embed/>
                </p:oleObj>
              </mc:Choice>
              <mc:Fallback>
                <p:oleObj name="Equation" r:id="rId5" imgW="7556400" imgH="1434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194050"/>
                        <a:ext cx="7556500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1"/>
          <p:cNvGraphicFramePr>
            <a:graphicFrameLocks noChangeAspect="1"/>
          </p:cNvGraphicFramePr>
          <p:nvPr/>
        </p:nvGraphicFramePr>
        <p:xfrm>
          <a:off x="747713" y="4940300"/>
          <a:ext cx="796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7" imgW="7962840" imgH="507960" progId="Equation.3">
                  <p:embed/>
                </p:oleObj>
              </mc:Choice>
              <mc:Fallback>
                <p:oleObj name="Equation" r:id="rId7" imgW="79628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4940300"/>
                        <a:ext cx="7962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/>
          <p:cNvGraphicFramePr>
            <a:graphicFrameLocks noChangeAspect="1"/>
          </p:cNvGraphicFramePr>
          <p:nvPr/>
        </p:nvGraphicFramePr>
        <p:xfrm>
          <a:off x="920750" y="1822450"/>
          <a:ext cx="4902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9" imgW="4902120" imgH="444240" progId="Equation.3">
                  <p:embed/>
                </p:oleObj>
              </mc:Choice>
              <mc:Fallback>
                <p:oleObj name="Equation" r:id="rId9" imgW="49021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1822450"/>
                        <a:ext cx="4902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6"/>
          <p:cNvGraphicFramePr>
            <a:graphicFrameLocks noChangeAspect="1"/>
          </p:cNvGraphicFramePr>
          <p:nvPr/>
        </p:nvGraphicFramePr>
        <p:xfrm>
          <a:off x="5562600" y="1600200"/>
          <a:ext cx="306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11" imgW="3060360" imgH="914400" progId="Equation.3">
                  <p:embed/>
                </p:oleObj>
              </mc:Choice>
              <mc:Fallback>
                <p:oleObj name="Equation" r:id="rId11" imgW="30603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00200"/>
                        <a:ext cx="306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838200" y="25146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推导过程如下:</a:t>
            </a:r>
          </a:p>
        </p:txBody>
      </p:sp>
    </p:spTree>
    <p:extLst>
      <p:ext uri="{BB962C8B-B14F-4D97-AF65-F5344CB8AC3E}">
        <p14:creationId xmlns:p14="http://schemas.microsoft.com/office/powerpoint/2010/main" val="24158685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74" name="Object 22"/>
          <p:cNvGraphicFramePr>
            <a:graphicFrameLocks noChangeAspect="1"/>
          </p:cNvGraphicFramePr>
          <p:nvPr/>
        </p:nvGraphicFramePr>
        <p:xfrm>
          <a:off x="884238" y="2971800"/>
          <a:ext cx="78517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3" imgW="8369280" imgH="914400" progId="Equation.3">
                  <p:embed/>
                </p:oleObj>
              </mc:Choice>
              <mc:Fallback>
                <p:oleObj name="Equation" r:id="rId3" imgW="83692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2971800"/>
                        <a:ext cx="78517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Object 23"/>
          <p:cNvGraphicFramePr>
            <a:graphicFrameLocks noChangeAspect="1"/>
          </p:cNvGraphicFramePr>
          <p:nvPr/>
        </p:nvGraphicFramePr>
        <p:xfrm>
          <a:off x="896938" y="4108450"/>
          <a:ext cx="6121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5" imgW="6121080" imgH="444240" progId="Equation.3">
                  <p:embed/>
                </p:oleObj>
              </mc:Choice>
              <mc:Fallback>
                <p:oleObj name="Equation" r:id="rId5" imgW="6121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4108450"/>
                        <a:ext cx="6121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5"/>
          <p:cNvGraphicFramePr>
            <a:graphicFrameLocks noChangeAspect="1"/>
          </p:cNvGraphicFramePr>
          <p:nvPr/>
        </p:nvGraphicFramePr>
        <p:xfrm>
          <a:off x="2514600" y="4800600"/>
          <a:ext cx="306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7" imgW="3060360" imgH="914400" progId="Equation.3">
                  <p:embed/>
                </p:oleObj>
              </mc:Choice>
              <mc:Fallback>
                <p:oleObj name="Equation" r:id="rId7" imgW="30603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800600"/>
                        <a:ext cx="306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6"/>
          <p:cNvGraphicFramePr>
            <a:graphicFrameLocks noChangeAspect="1"/>
          </p:cNvGraphicFramePr>
          <p:nvPr/>
        </p:nvGraphicFramePr>
        <p:xfrm>
          <a:off x="914400" y="838200"/>
          <a:ext cx="6553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9" imgW="6553080" imgH="850680" progId="Equation.3">
                  <p:embed/>
                </p:oleObj>
              </mc:Choice>
              <mc:Fallback>
                <p:oleObj name="Equation" r:id="rId9" imgW="65530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38200"/>
                        <a:ext cx="6553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9" name="Object 27"/>
          <p:cNvGraphicFramePr>
            <a:graphicFrameLocks noChangeAspect="1"/>
          </p:cNvGraphicFramePr>
          <p:nvPr/>
        </p:nvGraphicFramePr>
        <p:xfrm>
          <a:off x="933450" y="1905000"/>
          <a:ext cx="745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11" imgW="7454880" imgH="914400" progId="Equation.3">
                  <p:embed/>
                </p:oleObj>
              </mc:Choice>
              <mc:Fallback>
                <p:oleObj name="Equation" r:id="rId11" imgW="74548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1905000"/>
                        <a:ext cx="7454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47331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852488" y="3913188"/>
            <a:ext cx="1031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831850" y="658813"/>
            <a:ext cx="7696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         有一大批糖果,现从中随机地取16袋, 称得重量(克)如下: </a:t>
            </a: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1371600" y="1793875"/>
          <a:ext cx="6591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3" imgW="6591240" imgH="939600" progId="Equation.3">
                  <p:embed/>
                </p:oleObj>
              </mc:Choice>
              <mc:Fallback>
                <p:oleObj name="Equation" r:id="rId3" imgW="65912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93875"/>
                        <a:ext cx="6591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831850" y="2784475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设袋装糖果的重量服从正态分布, 试求总体均值</a:t>
            </a:r>
          </a:p>
        </p:txBody>
      </p:sp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1697038" y="4010025"/>
          <a:ext cx="3035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5" imgW="3035160" imgH="368280" progId="Equation.3">
                  <p:embed/>
                </p:oleObj>
              </mc:Choice>
              <mc:Fallback>
                <p:oleObj name="Equation" r:id="rId5" imgW="30351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4010025"/>
                        <a:ext cx="3035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914400" y="4624388"/>
          <a:ext cx="367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7" imgW="3670200" imgH="431640" progId="Equation.3">
                  <p:embed/>
                </p:oleObj>
              </mc:Choice>
              <mc:Fallback>
                <p:oleObj name="Equation" r:id="rId7" imgW="3670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24388"/>
                        <a:ext cx="367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4800600" y="4610100"/>
          <a:ext cx="153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9" imgW="1536480" imgH="431640" progId="Equation.3">
                  <p:embed/>
                </p:oleObj>
              </mc:Choice>
              <mc:Fallback>
                <p:oleObj name="Equation" r:id="rId9" imgW="1536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610100"/>
                        <a:ext cx="1536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/>
          <p:cNvGraphicFramePr>
            <a:graphicFrameLocks noChangeAspect="1"/>
          </p:cNvGraphicFramePr>
          <p:nvPr/>
        </p:nvGraphicFramePr>
        <p:xfrm>
          <a:off x="914400" y="5270500"/>
          <a:ext cx="4838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11" imgW="4838400" imgH="444240" progId="Equation.3">
                  <p:embed/>
                </p:oleObj>
              </mc:Choice>
              <mc:Fallback>
                <p:oleObj name="Equation" r:id="rId11" imgW="4838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70500"/>
                        <a:ext cx="4838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963613" y="3421063"/>
          <a:ext cx="502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13" imgW="5029200" imgH="444240" progId="Equation.3">
                  <p:embed/>
                </p:oleObj>
              </mc:Choice>
              <mc:Fallback>
                <p:oleObj name="Equation" r:id="rId13" imgW="5029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3421063"/>
                        <a:ext cx="5029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AutoShape 12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045325" y="3962400"/>
            <a:ext cx="1295400" cy="457200"/>
          </a:xfrm>
          <a:prstGeom prst="actionButtonBlank">
            <a:avLst/>
          </a:prstGeom>
          <a:solidFill>
            <a:srgbClr val="3399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65549" name="Rectangle 1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205663" y="4017963"/>
            <a:ext cx="992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附表3-1</a:t>
            </a:r>
          </a:p>
        </p:txBody>
      </p:sp>
      <p:graphicFrame>
        <p:nvGraphicFramePr>
          <p:cNvPr id="65550" name="Object 14"/>
          <p:cNvGraphicFramePr>
            <a:graphicFrameLocks noChangeAspect="1"/>
          </p:cNvGraphicFramePr>
          <p:nvPr/>
        </p:nvGraphicFramePr>
        <p:xfrm>
          <a:off x="6400800" y="4648200"/>
          <a:ext cx="1104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Equation" r:id="rId15" imgW="1104840" imgH="368280" progId="Equation.3">
                  <p:embed/>
                </p:oleObj>
              </mc:Choice>
              <mc:Fallback>
                <p:oleObj name="Equation" r:id="rId15" imgW="11048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48200"/>
                        <a:ext cx="1104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2" name="Rectangle 16"/>
          <p:cNvSpPr>
            <a:spLocks noChangeArrowheads="1"/>
          </p:cNvSpPr>
          <p:nvPr/>
        </p:nvSpPr>
        <p:spPr bwMode="auto">
          <a:xfrm>
            <a:off x="838200" y="733425"/>
            <a:ext cx="719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93562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autoUpdateAnimBg="0"/>
      <p:bldP spid="65548" grpId="0" animBg="1"/>
      <p:bldP spid="6554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949325" y="976313"/>
          <a:ext cx="5397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3" imgW="5397480" imgH="444240" progId="Equation.3">
                  <p:embed/>
                </p:oleObj>
              </mc:Choice>
              <mc:Fallback>
                <p:oleObj name="Equation" r:id="rId3" imgW="5397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976313"/>
                        <a:ext cx="5397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1103313" y="1593850"/>
          <a:ext cx="393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5" imgW="3936960" imgH="914400" progId="Equation.3">
                  <p:embed/>
                </p:oleObj>
              </mc:Choice>
              <mc:Fallback>
                <p:oleObj name="Equation" r:id="rId5" imgW="39369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1593850"/>
                        <a:ext cx="3937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257800" y="1828800"/>
          <a:ext cx="3009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7" imgW="3009600" imgH="419040" progId="Equation.3">
                  <p:embed/>
                </p:oleObj>
              </mc:Choice>
              <mc:Fallback>
                <p:oleObj name="Equation" r:id="rId7" imgW="3009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828800"/>
                        <a:ext cx="3009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914400" y="2590800"/>
            <a:ext cx="7467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</a:rPr>
              <a:t>就是说估计袋装糖果重量的均值在500.4克与507.1克之间, 这个估计的可信程度为95%.</a:t>
            </a:r>
          </a:p>
        </p:txBody>
      </p:sp>
      <p:graphicFrame>
        <p:nvGraphicFramePr>
          <p:cNvPr id="66567" name="Object 7"/>
          <p:cNvGraphicFramePr>
            <a:graphicFrameLocks noChangeAspect="1"/>
          </p:cNvGraphicFramePr>
          <p:nvPr/>
        </p:nvGraphicFramePr>
        <p:xfrm>
          <a:off x="1025525" y="4495800"/>
          <a:ext cx="7035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9" imgW="7035480" imgH="850680" progId="Equation.3">
                  <p:embed/>
                </p:oleObj>
              </mc:Choice>
              <mc:Fallback>
                <p:oleObj name="Equation" r:id="rId9" imgW="70354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4495800"/>
                        <a:ext cx="7035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1" name="Object 11"/>
          <p:cNvGraphicFramePr>
            <a:graphicFrameLocks noChangeAspect="1"/>
          </p:cNvGraphicFramePr>
          <p:nvPr/>
        </p:nvGraphicFramePr>
        <p:xfrm>
          <a:off x="1004888" y="3898900"/>
          <a:ext cx="629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11" imgW="6298920" imgH="444240" progId="Equation.3">
                  <p:embed/>
                </p:oleObj>
              </mc:Choice>
              <mc:Fallback>
                <p:oleObj name="Equation" r:id="rId11" imgW="6298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3898900"/>
                        <a:ext cx="6299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2" name="Rectangle 12"/>
          <p:cNvSpPr>
            <a:spLocks noChangeArrowheads="1"/>
          </p:cNvSpPr>
          <p:nvPr/>
        </p:nvSpPr>
        <p:spPr bwMode="auto">
          <a:xfrm>
            <a:off x="949325" y="542448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sym typeface="Math1" pitchFamily="2" charset="2"/>
              </a:rPr>
              <a:t>这个误差的可信度为95%.</a:t>
            </a:r>
          </a:p>
        </p:txBody>
      </p:sp>
    </p:spTree>
    <p:extLst>
      <p:ext uri="{BB962C8B-B14F-4D97-AF65-F5344CB8AC3E}">
        <p14:creationId xmlns:p14="http://schemas.microsoft.com/office/powerpoint/2010/main" val="4350879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 autoUpdateAnimBg="0"/>
      <p:bldP spid="6657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914400" y="1435100"/>
          <a:ext cx="732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Equation" r:id="rId3" imgW="7327800" imgH="469800" progId="Equation.3">
                  <p:embed/>
                </p:oleObj>
              </mc:Choice>
              <mc:Fallback>
                <p:oleObj name="Equation" r:id="rId3" imgW="73278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35100"/>
                        <a:ext cx="732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852488" y="2063750"/>
            <a:ext cx="1031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1600200" y="2119313"/>
          <a:ext cx="317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Equation" r:id="rId5" imgW="3174840" imgH="431640" progId="Equation.3">
                  <p:embed/>
                </p:oleObj>
              </mc:Choice>
              <mc:Fallback>
                <p:oleObj name="Equation" r:id="rId5" imgW="3174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119313"/>
                        <a:ext cx="317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914400" y="2805113"/>
          <a:ext cx="323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Equation" r:id="rId7" imgW="3238200" imgH="368280" progId="Equation.3">
                  <p:embed/>
                </p:oleObj>
              </mc:Choice>
              <mc:Fallback>
                <p:oleObj name="Equation" r:id="rId7" imgW="32382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05113"/>
                        <a:ext cx="3238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4481513" y="2805113"/>
          <a:ext cx="142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9" imgW="1422360" imgH="368280" progId="Equation.3">
                  <p:embed/>
                </p:oleObj>
              </mc:Choice>
              <mc:Fallback>
                <p:oleObj name="Equation" r:id="rId9" imgW="14223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2805113"/>
                        <a:ext cx="1422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/>
        </p:nvGraphicFramePr>
        <p:xfrm>
          <a:off x="914400" y="3525838"/>
          <a:ext cx="367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0" name="Equation" r:id="rId11" imgW="3670200" imgH="431640" progId="Equation.3">
                  <p:embed/>
                </p:oleObj>
              </mc:Choice>
              <mc:Fallback>
                <p:oleObj name="Equation" r:id="rId11" imgW="3670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25838"/>
                        <a:ext cx="367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4800600" y="3490913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Equation" r:id="rId13" imgW="1523880" imgH="431640" progId="Equation.3">
                  <p:embed/>
                </p:oleObj>
              </mc:Choice>
              <mc:Fallback>
                <p:oleObj name="Equation" r:id="rId13" imgW="1523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490913"/>
                        <a:ext cx="152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2" name="Object 10"/>
          <p:cNvGraphicFramePr>
            <a:graphicFrameLocks noChangeAspect="1"/>
          </p:cNvGraphicFramePr>
          <p:nvPr/>
        </p:nvGraphicFramePr>
        <p:xfrm>
          <a:off x="908050" y="4176713"/>
          <a:ext cx="6172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2" name="Equation" r:id="rId15" imgW="6172200" imgH="850680" progId="Equation.3">
                  <p:embed/>
                </p:oleObj>
              </mc:Choice>
              <mc:Fallback>
                <p:oleObj name="Equation" r:id="rId15" imgW="61722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176713"/>
                        <a:ext cx="6172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3" name="Object 11"/>
          <p:cNvGraphicFramePr>
            <a:graphicFrameLocks noChangeAspect="1"/>
          </p:cNvGraphicFramePr>
          <p:nvPr/>
        </p:nvGraphicFramePr>
        <p:xfrm>
          <a:off x="908050" y="5237163"/>
          <a:ext cx="525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name="Equation" r:id="rId17" imgW="5257800" imgH="444240" progId="Equation.3">
                  <p:embed/>
                </p:oleObj>
              </mc:Choice>
              <mc:Fallback>
                <p:oleObj name="Equation" r:id="rId17" imgW="52578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5237163"/>
                        <a:ext cx="525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4" name="Object 12"/>
          <p:cNvGraphicFramePr>
            <a:graphicFrameLocks noChangeAspect="1"/>
          </p:cNvGraphicFramePr>
          <p:nvPr/>
        </p:nvGraphicFramePr>
        <p:xfrm>
          <a:off x="5881688" y="5264150"/>
          <a:ext cx="259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4" name="Equation" r:id="rId19" imgW="2590560" imgH="393480" progId="Equation.3">
                  <p:embed/>
                </p:oleObj>
              </mc:Choice>
              <mc:Fallback>
                <p:oleObj name="Equation" r:id="rId19" imgW="2590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5264150"/>
                        <a:ext cx="2590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13"/>
          <p:cNvGraphicFramePr>
            <a:graphicFrameLocks noChangeAspect="1"/>
          </p:cNvGraphicFramePr>
          <p:nvPr/>
        </p:nvGraphicFramePr>
        <p:xfrm>
          <a:off x="6324600" y="3532188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5" name="Equation" r:id="rId21" imgW="914400" imgH="368280" progId="Equation.3">
                  <p:embed/>
                </p:oleObj>
              </mc:Choice>
              <mc:Fallback>
                <p:oleObj name="Equation" r:id="rId21" imgW="914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32188"/>
                        <a:ext cx="914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6" name="AutoShape 1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002463" y="2749550"/>
            <a:ext cx="1295400" cy="457200"/>
          </a:xfrm>
          <a:prstGeom prst="actionButtonBlank">
            <a:avLst/>
          </a:prstGeom>
          <a:solidFill>
            <a:srgbClr val="3399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64527" name="Rectangle 1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162800" y="2805113"/>
            <a:ext cx="1066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附表3-2</a:t>
            </a:r>
          </a:p>
        </p:txBody>
      </p:sp>
      <p:sp>
        <p:nvSpPr>
          <p:cNvPr id="64529" name="Rectangle 17"/>
          <p:cNvSpPr>
            <a:spLocks noChangeArrowheads="1"/>
          </p:cNvSpPr>
          <p:nvPr/>
        </p:nvSpPr>
        <p:spPr bwMode="auto">
          <a:xfrm>
            <a:off x="838200" y="776288"/>
            <a:ext cx="719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3</a:t>
            </a:r>
            <a:endParaRPr kumimoji="1" lang="zh-CN" altLang="en-US" sz="2800" b="1">
              <a:solidFill>
                <a:srgbClr val="000000"/>
              </a:solidFill>
              <a:latin typeface="宋体" charset="-122"/>
              <a:ea typeface="黑体" pitchFamily="2" charset="-122"/>
            </a:endParaRPr>
          </a:p>
        </p:txBody>
      </p:sp>
      <p:sp>
        <p:nvSpPr>
          <p:cNvPr id="64530" name="Rectangle 18"/>
          <p:cNvSpPr>
            <a:spLocks noChangeArrowheads="1"/>
          </p:cNvSpPr>
          <p:nvPr/>
        </p:nvSpPr>
        <p:spPr bwMode="auto">
          <a:xfrm>
            <a:off x="1443038" y="739775"/>
            <a:ext cx="7151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(续例1)如果只假设糖包的重量服从正态分布</a:t>
            </a:r>
          </a:p>
        </p:txBody>
      </p:sp>
    </p:spTree>
    <p:extLst>
      <p:ext uri="{BB962C8B-B14F-4D97-AF65-F5344CB8AC3E}">
        <p14:creationId xmlns:p14="http://schemas.microsoft.com/office/powerpoint/2010/main" val="20882357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utoUpdateAnimBg="0"/>
      <p:bldP spid="64526" grpId="0" animBg="1"/>
      <p:bldP spid="6452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873125" y="268763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822325" y="863600"/>
          <a:ext cx="79756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3" imgW="7975440" imgH="1650960" progId="Equation.3">
                  <p:embed/>
                </p:oleObj>
              </mc:Choice>
              <mc:Fallback>
                <p:oleObj name="Equation" r:id="rId3" imgW="7975440" imgH="1650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863600"/>
                        <a:ext cx="79756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1776413" y="2736850"/>
          <a:ext cx="228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5" imgW="2286000" imgH="444240" progId="Equation.3">
                  <p:embed/>
                </p:oleObj>
              </mc:Choice>
              <mc:Fallback>
                <p:oleObj name="Equation" r:id="rId5" imgW="22860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2736850"/>
                        <a:ext cx="228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1689100" y="3422650"/>
          <a:ext cx="5549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7" imgW="5549760" imgH="1460160" progId="Equation.3">
                  <p:embed/>
                </p:oleObj>
              </mc:Choice>
              <mc:Fallback>
                <p:oleObj name="Equation" r:id="rId7" imgW="5549760" imgH="1460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3422650"/>
                        <a:ext cx="5549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663700" y="5016500"/>
          <a:ext cx="5270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9" imgW="5270400" imgH="850680" progId="Equation.3">
                  <p:embed/>
                </p:oleObj>
              </mc:Choice>
              <mc:Fallback>
                <p:oleObj name="Equation" r:id="rId9" imgW="52704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5016500"/>
                        <a:ext cx="5270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831850" y="80962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807577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2178050" y="838200"/>
          <a:ext cx="3746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3" imgW="3746160" imgH="888840" progId="Equation.3">
                  <p:embed/>
                </p:oleObj>
              </mc:Choice>
              <mc:Fallback>
                <p:oleObj name="Equation" r:id="rId3" imgW="37461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838200"/>
                        <a:ext cx="3746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244600" y="1822450"/>
          <a:ext cx="5080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5" imgW="5079960" imgH="977760" progId="Equation.3">
                  <p:embed/>
                </p:oleObj>
              </mc:Choice>
              <mc:Fallback>
                <p:oleObj name="Equation" r:id="rId5" imgW="507996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1822450"/>
                        <a:ext cx="5080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2743200" y="3124200"/>
          <a:ext cx="3937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7" imgW="3936960" imgH="990360" progId="Equation.3">
                  <p:embed/>
                </p:oleObj>
              </mc:Choice>
              <mc:Fallback>
                <p:oleObj name="Equation" r:id="rId7" imgW="393696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124200"/>
                        <a:ext cx="3937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2743200" y="4521200"/>
          <a:ext cx="4406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9" imgW="4406760" imgH="965160" progId="Equation.3">
                  <p:embed/>
                </p:oleObj>
              </mc:Choice>
              <mc:Fallback>
                <p:oleObj name="Equation" r:id="rId9" imgW="44067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21200"/>
                        <a:ext cx="4406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75995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933450" y="863600"/>
          <a:ext cx="7391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3" imgW="7391160" imgH="965160" progId="Equation.3">
                  <p:embed/>
                </p:oleObj>
              </mc:Choice>
              <mc:Fallback>
                <p:oleObj name="Equation" r:id="rId3" imgW="73911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863600"/>
                        <a:ext cx="7391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928688" y="2095500"/>
          <a:ext cx="5257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5" imgW="5257800" imgH="1041120" progId="Equation.3">
                  <p:embed/>
                </p:oleObj>
              </mc:Choice>
              <mc:Fallback>
                <p:oleObj name="Equation" r:id="rId5" imgW="525780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095500"/>
                        <a:ext cx="5257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6192838" y="2362200"/>
          <a:ext cx="81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7" imgW="812520" imgH="444240" progId="Equation.3">
                  <p:embed/>
                </p:oleObj>
              </mc:Choice>
              <mc:Fallback>
                <p:oleObj name="Equation" r:id="rId7" imgW="812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2362200"/>
                        <a:ext cx="812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920750" y="3408363"/>
          <a:ext cx="5600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9" imgW="5600520" imgH="1015920" progId="Equation.3">
                  <p:embed/>
                </p:oleObj>
              </mc:Choice>
              <mc:Fallback>
                <p:oleObj name="Equation" r:id="rId9" imgW="560052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3408363"/>
                        <a:ext cx="5600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1084263" y="4572000"/>
          <a:ext cx="335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11" imgW="3352680" imgH="838080" progId="Equation.3">
                  <p:embed/>
                </p:oleObj>
              </mc:Choice>
              <mc:Fallback>
                <p:oleObj name="Equation" r:id="rId11" imgW="3352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4572000"/>
                        <a:ext cx="3352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4470400" y="4567238"/>
          <a:ext cx="292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13" imgW="2920680" imgH="838080" progId="Equation.3">
                  <p:embed/>
                </p:oleObj>
              </mc:Choice>
              <mc:Fallback>
                <p:oleObj name="Equation" r:id="rId13" imgW="2920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4567238"/>
                        <a:ext cx="292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19219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852488" y="383063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推导过程如下:</a:t>
            </a: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927100" y="4508500"/>
          <a:ext cx="414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3" imgW="4140000" imgH="444240" progId="Equation.3">
                  <p:embed/>
                </p:oleObj>
              </mc:Choice>
              <mc:Fallback>
                <p:oleObj name="Equation" r:id="rId3" imgW="41400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4508500"/>
                        <a:ext cx="414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/>
        </p:nvGraphicFramePr>
        <p:xfrm>
          <a:off x="5260975" y="5105400"/>
          <a:ext cx="3162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5" imgW="3162240" imgH="888840" progId="Equation.3">
                  <p:embed/>
                </p:oleObj>
              </mc:Choice>
              <mc:Fallback>
                <p:oleObj name="Equation" r:id="rId5" imgW="31622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975" y="5105400"/>
                        <a:ext cx="3162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852488" y="52578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根据第六章第二节定理二知</a:t>
            </a:r>
          </a:p>
        </p:txBody>
      </p:sp>
      <p:graphicFrame>
        <p:nvGraphicFramePr>
          <p:cNvPr id="67594" name="Object 10"/>
          <p:cNvGraphicFramePr>
            <a:graphicFrameLocks noChangeAspect="1"/>
          </p:cNvGraphicFramePr>
          <p:nvPr/>
        </p:nvGraphicFramePr>
        <p:xfrm>
          <a:off x="800100" y="1962150"/>
          <a:ext cx="612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7" imgW="6121080" imgH="469800" progId="Equation.3">
                  <p:embed/>
                </p:oleObj>
              </mc:Choice>
              <mc:Fallback>
                <p:oleObj name="Equation" r:id="rId7" imgW="6121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1962150"/>
                        <a:ext cx="612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5" name="Object 11"/>
          <p:cNvGraphicFramePr>
            <a:graphicFrameLocks noChangeAspect="1"/>
          </p:cNvGraphicFramePr>
          <p:nvPr/>
        </p:nvGraphicFramePr>
        <p:xfrm>
          <a:off x="1879600" y="2590800"/>
          <a:ext cx="443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9" imgW="4431960" imgH="1015920" progId="Equation.3">
                  <p:embed/>
                </p:oleObj>
              </mc:Choice>
              <mc:Fallback>
                <p:oleObj name="Equation" r:id="rId9" imgW="44319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590800"/>
                        <a:ext cx="4432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969963" y="1474788"/>
          <a:ext cx="609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Equation" r:id="rId11" imgW="6095880" imgH="444240" progId="Equation.3">
                  <p:embed/>
                </p:oleObj>
              </mc:Choice>
              <mc:Fallback>
                <p:oleObj name="Equation" r:id="rId11" imgW="6095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1474788"/>
                        <a:ext cx="609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99" name="Group 15"/>
          <p:cNvGrpSpPr>
            <a:grpSpLocks/>
          </p:cNvGrpSpPr>
          <p:nvPr/>
        </p:nvGrpSpPr>
        <p:grpSpPr bwMode="auto">
          <a:xfrm>
            <a:off x="842963" y="720725"/>
            <a:ext cx="4641850" cy="579438"/>
            <a:chOff x="531" y="454"/>
            <a:chExt cx="2924" cy="365"/>
          </a:xfrm>
        </p:grpSpPr>
        <p:graphicFrame>
          <p:nvGraphicFramePr>
            <p:cNvPr id="67596" name="Object 12"/>
            <p:cNvGraphicFramePr>
              <a:graphicFrameLocks noChangeAspect="1"/>
            </p:cNvGraphicFramePr>
            <p:nvPr/>
          </p:nvGraphicFramePr>
          <p:xfrm>
            <a:off x="866" y="463"/>
            <a:ext cx="2589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3" name="公式" r:id="rId13" imgW="3390840" imgH="419040" progId="Equation.3">
                    <p:embed/>
                  </p:oleObj>
                </mc:Choice>
                <mc:Fallback>
                  <p:oleObj name="公式" r:id="rId13" imgW="339084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6" y="463"/>
                          <a:ext cx="2589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8" name="Text Box 14"/>
            <p:cNvSpPr txBox="1">
              <a:spLocks noChangeArrowheads="1"/>
            </p:cNvSpPr>
            <p:nvPr/>
          </p:nvSpPr>
          <p:spPr bwMode="auto">
            <a:xfrm>
              <a:off x="531" y="454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2172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utoUpdateAnimBg="0"/>
      <p:bldP spid="6759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909638" y="3511550"/>
          <a:ext cx="703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3" imgW="7035480" imgH="469800" progId="Equation.3">
                  <p:embed/>
                </p:oleObj>
              </mc:Choice>
              <mc:Fallback>
                <p:oleObj name="Equation" r:id="rId3" imgW="7035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3511550"/>
                        <a:ext cx="7035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863600" y="914400"/>
          <a:ext cx="8089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5" imgW="8089560" imgH="1015920" progId="Equation.3">
                  <p:embed/>
                </p:oleObj>
              </mc:Choice>
              <mc:Fallback>
                <p:oleObj name="Equation" r:id="rId5" imgW="80895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914400"/>
                        <a:ext cx="8089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904875" y="2133600"/>
          <a:ext cx="7175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7" imgW="7175160" imgH="1015920" progId="Equation.3">
                  <p:embed/>
                </p:oleObj>
              </mc:Choice>
              <mc:Fallback>
                <p:oleObj name="Equation" r:id="rId7" imgW="71751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2133600"/>
                        <a:ext cx="7175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2260600" y="4318000"/>
          <a:ext cx="443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9" imgW="4431960" imgH="1015920" progId="Equation.3">
                  <p:embed/>
                </p:oleObj>
              </mc:Choice>
              <mc:Fallback>
                <p:oleObj name="Equation" r:id="rId9" imgW="44319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318000"/>
                        <a:ext cx="4432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9777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979488" y="1260475"/>
          <a:ext cx="688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3" imgW="6883200" imgH="444240" progId="Equation.3">
                  <p:embed/>
                </p:oleObj>
              </mc:Choice>
              <mc:Fallback>
                <p:oleObj name="Equation" r:id="rId3" imgW="6883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1260475"/>
                        <a:ext cx="6883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2025650" y="1828800"/>
          <a:ext cx="48387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5" imgW="4838400" imgH="1091880" progId="Equation.3">
                  <p:embed/>
                </p:oleObj>
              </mc:Choice>
              <mc:Fallback>
                <p:oleObj name="Equation" r:id="rId5" imgW="483840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1828800"/>
                        <a:ext cx="48387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914400" y="6858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进一步可得: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873125" y="3213100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0000"/>
                </a:solidFill>
                <a:ea typeface="黑体" pitchFamily="2" charset="-122"/>
              </a:rPr>
              <a:t>注意</a:t>
            </a:r>
            <a:r>
              <a:rPr kumimoji="1" lang="zh-CN" altLang="en-US" sz="2800" b="1">
                <a:solidFill>
                  <a:srgbClr val="000000"/>
                </a:solidFill>
              </a:rPr>
              <a:t>: 在密度函数不对称时, </a:t>
            </a:r>
            <a:endParaRPr kumimoji="1" lang="zh-CN" altLang="en-US" sz="2800" b="1" i="1">
              <a:solidFill>
                <a:srgbClr val="000000"/>
              </a:solidFill>
            </a:endParaRPr>
          </a:p>
        </p:txBody>
      </p:sp>
      <p:graphicFrame>
        <p:nvGraphicFramePr>
          <p:cNvPr id="70664" name="Object 8"/>
          <p:cNvGraphicFramePr>
            <a:graphicFrameLocks noChangeAspect="1"/>
          </p:cNvGraphicFramePr>
          <p:nvPr/>
        </p:nvGraphicFramePr>
        <p:xfrm>
          <a:off x="990600" y="3748088"/>
          <a:ext cx="326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7" imgW="3263760" imgH="469800" progId="Equation.3">
                  <p:embed/>
                </p:oleObj>
              </mc:Choice>
              <mc:Fallback>
                <p:oleObj name="Equation" r:id="rId7" imgW="3263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48088"/>
                        <a:ext cx="326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914400" y="4156075"/>
            <a:ext cx="4495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习惯上仍取对称的分位点来确定置信区间(如图).</a:t>
            </a:r>
          </a:p>
        </p:txBody>
      </p:sp>
      <p:pic>
        <p:nvPicPr>
          <p:cNvPr id="70667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105150"/>
            <a:ext cx="3240087" cy="298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7495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autoUpdateAnimBg="0"/>
      <p:bldP spid="7066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831850" y="685800"/>
            <a:ext cx="76263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     </a:t>
            </a:r>
            <a:r>
              <a:rPr kumimoji="1" lang="zh-CN" altLang="en-US" sz="2800" b="1">
                <a:solidFill>
                  <a:srgbClr val="000000"/>
                </a:solidFill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续例</a:t>
            </a:r>
            <a:r>
              <a:rPr kumimoji="1" lang="zh-CN" altLang="en-US" sz="2800" b="1">
                <a:solidFill>
                  <a:srgbClr val="000000"/>
                </a:solidFill>
              </a:rPr>
              <a:t>2)</a:t>
            </a: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 求例2中总体标准差</a:t>
            </a: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  <a:sym typeface="Math1" pitchFamily="2" charset="2"/>
              </a:rPr>
              <a:t>  </a:t>
            </a: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的置信度为0.95的置信区间.</a:t>
            </a:r>
            <a:endParaRPr kumimoji="1" lang="zh-CN" altLang="en-US" sz="2800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831850" y="20081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1670050" y="1844675"/>
          <a:ext cx="626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3" imgW="6260760" imgH="838080" progId="Equation.3">
                  <p:embed/>
                </p:oleObj>
              </mc:Choice>
              <mc:Fallback>
                <p:oleObj name="Equation" r:id="rId3" imgW="6260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1844675"/>
                        <a:ext cx="6261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1562100" y="2846388"/>
          <a:ext cx="3949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Equation" r:id="rId5" imgW="3949560" imgH="469800" progId="Equation.3">
                  <p:embed/>
                </p:oleObj>
              </mc:Choice>
              <mc:Fallback>
                <p:oleObj name="Equation" r:id="rId5" imgW="39495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2846388"/>
                        <a:ext cx="3949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1585913" y="3608388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Equation" r:id="rId7" imgW="1663560" imgH="482400" progId="Equation.3">
                  <p:embed/>
                </p:oleObj>
              </mc:Choice>
              <mc:Fallback>
                <p:oleObj name="Equation" r:id="rId7" imgW="1663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3608388"/>
                        <a:ext cx="1663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1614488" y="4471988"/>
          <a:ext cx="284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Equation" r:id="rId9" imgW="2844720" imgH="419040" progId="Equation.3">
                  <p:embed/>
                </p:oleObj>
              </mc:Choice>
              <mc:Fallback>
                <p:oleObj name="Equation" r:id="rId9" imgW="28447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4471988"/>
                        <a:ext cx="284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5092700" y="3608388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7" name="Equation" r:id="rId11" imgW="1663560" imgH="482400" progId="Equation.3">
                  <p:embed/>
                </p:oleObj>
              </mc:Choice>
              <mc:Fallback>
                <p:oleObj name="Equation" r:id="rId11" imgW="1663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3608388"/>
                        <a:ext cx="1663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990600" y="5119688"/>
            <a:ext cx="5645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代入公式得标准差的置信区间</a:t>
            </a:r>
          </a:p>
        </p:txBody>
      </p:sp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5753100" y="5229225"/>
          <a:ext cx="1866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Equation" r:id="rId13" imgW="1866600" imgH="393480" progId="Equation.3">
                  <p:embed/>
                </p:oleObj>
              </mc:Choice>
              <mc:Fallback>
                <p:oleObj name="Equation" r:id="rId13" imgW="1866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5229225"/>
                        <a:ext cx="1866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3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486400" y="2852738"/>
            <a:ext cx="1295400" cy="457200"/>
          </a:xfrm>
          <a:prstGeom prst="actionButtonBlank">
            <a:avLst/>
          </a:prstGeom>
          <a:solidFill>
            <a:srgbClr val="3399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69644" name="Rectangle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646738" y="290830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附表4-1</a:t>
            </a:r>
          </a:p>
        </p:txBody>
      </p:sp>
      <p:graphicFrame>
        <p:nvGraphicFramePr>
          <p:cNvPr id="69646" name="Object 14"/>
          <p:cNvGraphicFramePr>
            <a:graphicFrameLocks noChangeAspect="1"/>
          </p:cNvGraphicFramePr>
          <p:nvPr/>
        </p:nvGraphicFramePr>
        <p:xfrm>
          <a:off x="6324600" y="955675"/>
          <a:ext cx="292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9" name="Equation" r:id="rId15" imgW="291960" imgH="228600" progId="Equation.3">
                  <p:embed/>
                </p:oleObj>
              </mc:Choice>
              <mc:Fallback>
                <p:oleObj name="Equation" r:id="rId15" imgW="291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955675"/>
                        <a:ext cx="2921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7" name="Object 15"/>
          <p:cNvGraphicFramePr>
            <a:graphicFrameLocks noChangeAspect="1"/>
          </p:cNvGraphicFramePr>
          <p:nvPr/>
        </p:nvGraphicFramePr>
        <p:xfrm>
          <a:off x="3235325" y="3705225"/>
          <a:ext cx="1104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0" name="Equation" r:id="rId17" imgW="1104840" imgH="368280" progId="Equation.3">
                  <p:embed/>
                </p:oleObj>
              </mc:Choice>
              <mc:Fallback>
                <p:oleObj name="Equation" r:id="rId17" imgW="11048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3705225"/>
                        <a:ext cx="1104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8" name="Object 16"/>
          <p:cNvGraphicFramePr>
            <a:graphicFrameLocks noChangeAspect="1"/>
          </p:cNvGraphicFramePr>
          <p:nvPr/>
        </p:nvGraphicFramePr>
        <p:xfrm>
          <a:off x="6781800" y="3684588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19" imgW="914400" imgH="368280" progId="Equation.3">
                  <p:embed/>
                </p:oleObj>
              </mc:Choice>
              <mc:Fallback>
                <p:oleObj name="Equation" r:id="rId19" imgW="914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684588"/>
                        <a:ext cx="914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9" name="AutoShape 1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010400" y="2846388"/>
            <a:ext cx="1295400" cy="457200"/>
          </a:xfrm>
          <a:prstGeom prst="actionButtonBlank">
            <a:avLst/>
          </a:prstGeom>
          <a:solidFill>
            <a:srgbClr val="3399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69650" name="Rectangle 1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170738" y="290195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附表4-2</a:t>
            </a:r>
          </a:p>
        </p:txBody>
      </p:sp>
      <p:sp>
        <p:nvSpPr>
          <p:cNvPr id="69651" name="Rectangle 19"/>
          <p:cNvSpPr>
            <a:spLocks noChangeArrowheads="1"/>
          </p:cNvSpPr>
          <p:nvPr/>
        </p:nvSpPr>
        <p:spPr bwMode="auto">
          <a:xfrm>
            <a:off x="842963" y="776288"/>
            <a:ext cx="719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917851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  <p:bldP spid="69641" grpId="0" autoUpdateAnimBg="0"/>
      <p:bldP spid="69643" grpId="0" animBg="1"/>
      <p:bldP spid="69644" grpId="0" autoUpdateAnimBg="0"/>
      <p:bldP spid="69649" grpId="0" animBg="1"/>
      <p:bldP spid="6965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831850" y="2057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1676400" y="1893888"/>
          <a:ext cx="6248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Equation" r:id="rId3" imgW="6248160" imgH="838080" progId="Equation.3">
                  <p:embed/>
                </p:oleObj>
              </mc:Choice>
              <mc:Fallback>
                <p:oleObj name="Equation" r:id="rId3" imgW="6248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93888"/>
                        <a:ext cx="6248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8"/>
          <p:cNvGraphicFramePr>
            <a:graphicFrameLocks noChangeAspect="1"/>
          </p:cNvGraphicFramePr>
          <p:nvPr/>
        </p:nvGraphicFramePr>
        <p:xfrm>
          <a:off x="4357688" y="4689475"/>
          <a:ext cx="242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5" imgW="2425680" imgH="393480" progId="Equation.3">
                  <p:embed/>
                </p:oleObj>
              </mc:Choice>
              <mc:Fallback>
                <p:oleObj name="Equation" r:id="rId5" imgW="2425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4689475"/>
                        <a:ext cx="242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Object 10"/>
          <p:cNvGraphicFramePr>
            <a:graphicFrameLocks noChangeAspect="1"/>
          </p:cNvGraphicFramePr>
          <p:nvPr/>
        </p:nvGraphicFramePr>
        <p:xfrm>
          <a:off x="4572000" y="5541963"/>
          <a:ext cx="205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Equation" r:id="rId7" imgW="2057400" imgH="393480" progId="Equation.3">
                  <p:embed/>
                </p:oleObj>
              </mc:Choice>
              <mc:Fallback>
                <p:oleObj name="Equation" r:id="rId7" imgW="2057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541963"/>
                        <a:ext cx="2057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11"/>
          <p:cNvGraphicFramePr>
            <a:graphicFrameLocks noChangeAspect="1"/>
          </p:cNvGraphicFramePr>
          <p:nvPr/>
        </p:nvGraphicFramePr>
        <p:xfrm>
          <a:off x="914400" y="838200"/>
          <a:ext cx="7797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Equation" r:id="rId9" imgW="7797600" imgH="977760" progId="Equation.3">
                  <p:embed/>
                </p:oleObj>
              </mc:Choice>
              <mc:Fallback>
                <p:oleObj name="Equation" r:id="rId9" imgW="77976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38200"/>
                        <a:ext cx="7797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2" name="Object 12"/>
          <p:cNvGraphicFramePr>
            <a:graphicFrameLocks noChangeAspect="1"/>
          </p:cNvGraphicFramePr>
          <p:nvPr/>
        </p:nvGraphicFramePr>
        <p:xfrm>
          <a:off x="966788" y="4648200"/>
          <a:ext cx="328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name="Equation" r:id="rId11" imgW="3288960" imgH="419040" progId="Equation.3">
                  <p:embed/>
                </p:oleObj>
              </mc:Choice>
              <mc:Fallback>
                <p:oleObj name="Equation" r:id="rId11" imgW="3288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4648200"/>
                        <a:ext cx="3289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Object 13"/>
          <p:cNvGraphicFramePr>
            <a:graphicFrameLocks noChangeAspect="1"/>
          </p:cNvGraphicFramePr>
          <p:nvPr/>
        </p:nvGraphicFramePr>
        <p:xfrm>
          <a:off x="1025525" y="5548313"/>
          <a:ext cx="350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2" name="Equation" r:id="rId13" imgW="3504960" imgH="380880" progId="Equation.3">
                  <p:embed/>
                </p:oleObj>
              </mc:Choice>
              <mc:Fallback>
                <p:oleObj name="Equation" r:id="rId13" imgW="35049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5548313"/>
                        <a:ext cx="3505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831850" y="801688"/>
            <a:ext cx="3359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6</a:t>
            </a:r>
            <a:r>
              <a:rPr kumimoji="1"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1" lang="zh-CN" altLang="en-US" sz="2800" b="1">
                <a:solidFill>
                  <a:srgbClr val="000000"/>
                </a:solidFill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宋体" charset="-122"/>
              </a:rPr>
              <a:t>续例</a:t>
            </a:r>
            <a:r>
              <a:rPr kumimoji="1" lang="zh-CN" altLang="en-US" sz="2800" b="1">
                <a:solidFill>
                  <a:srgbClr val="000000"/>
                </a:solidFill>
              </a:rPr>
              <a:t>1)</a:t>
            </a:r>
          </a:p>
        </p:txBody>
      </p:sp>
      <p:sp>
        <p:nvSpPr>
          <p:cNvPr id="71696" name="Rectangle 16"/>
          <p:cNvSpPr>
            <a:spLocks noChangeArrowheads="1"/>
          </p:cNvSpPr>
          <p:nvPr/>
        </p:nvSpPr>
        <p:spPr bwMode="auto">
          <a:xfrm>
            <a:off x="3290888" y="3190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71697" name="Object 17"/>
          <p:cNvGraphicFramePr>
            <a:graphicFrameLocks noChangeAspect="1"/>
          </p:cNvGraphicFramePr>
          <p:nvPr/>
        </p:nvGraphicFramePr>
        <p:xfrm>
          <a:off x="952500" y="2908300"/>
          <a:ext cx="392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3" name="Equation" r:id="rId15" imgW="3924000" imgH="520560" progId="Equation.3">
                  <p:embed/>
                </p:oleObj>
              </mc:Choice>
              <mc:Fallback>
                <p:oleObj name="Equation" r:id="rId15" imgW="39240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908300"/>
                        <a:ext cx="3924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8" name="Object 18"/>
          <p:cNvGraphicFramePr>
            <a:graphicFrameLocks noChangeAspect="1"/>
          </p:cNvGraphicFramePr>
          <p:nvPr/>
        </p:nvGraphicFramePr>
        <p:xfrm>
          <a:off x="4267200" y="3733800"/>
          <a:ext cx="2616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4" name="Equation" r:id="rId17" imgW="2616120" imgH="482400" progId="Equation.3">
                  <p:embed/>
                </p:oleObj>
              </mc:Choice>
              <mc:Fallback>
                <p:oleObj name="Equation" r:id="rId17" imgW="26161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733800"/>
                        <a:ext cx="2616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9" name="Object 19"/>
          <p:cNvGraphicFramePr>
            <a:graphicFrameLocks noChangeAspect="1"/>
          </p:cNvGraphicFramePr>
          <p:nvPr/>
        </p:nvGraphicFramePr>
        <p:xfrm>
          <a:off x="838200" y="3733800"/>
          <a:ext cx="279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5" name="Equation" r:id="rId19" imgW="2793960" imgH="482400" progId="Equation.3">
                  <p:embed/>
                </p:oleObj>
              </mc:Choice>
              <mc:Fallback>
                <p:oleObj name="Equation" r:id="rId19" imgW="27939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2794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16451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9616"/>
            <a:ext cx="8229600" cy="646331"/>
          </a:xfrm>
          <a:noFill/>
          <a:ln/>
        </p:spPr>
        <p:txBody>
          <a:bodyPr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二、两个总</a:t>
            </a:r>
            <a:r>
              <a:rPr lang="zh-CN" altLang="en-US" sz="3600" dirty="0" smtClean="0">
                <a:solidFill>
                  <a:schemeClr val="tx1"/>
                </a:solidFill>
              </a:rPr>
              <a:t>体                 </a:t>
            </a:r>
            <a:r>
              <a:rPr lang="zh-CN" altLang="en-US" sz="3600" dirty="0">
                <a:solidFill>
                  <a:schemeClr val="tx1"/>
                </a:solidFill>
              </a:rPr>
              <a:t>的情况</a:t>
            </a:r>
          </a:p>
        </p:txBody>
      </p:sp>
      <p:graphicFrame>
        <p:nvGraphicFramePr>
          <p:cNvPr id="821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397205"/>
              </p:ext>
            </p:extLst>
          </p:nvPr>
        </p:nvGraphicFramePr>
        <p:xfrm>
          <a:off x="3563888" y="404664"/>
          <a:ext cx="34861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3" imgW="3149280" imgH="469800" progId="Equation.3">
                  <p:embed/>
                </p:oleObj>
              </mc:Choice>
              <mc:Fallback>
                <p:oleObj name="Equation" r:id="rId3" imgW="3149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04664"/>
                        <a:ext cx="34861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914400" y="1828800"/>
          <a:ext cx="81661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5" imgW="8165880" imgH="2819160" progId="Equation.3">
                  <p:embed/>
                </p:oleObj>
              </mc:Choice>
              <mc:Fallback>
                <p:oleObj name="Equation" r:id="rId5" imgW="8165880" imgH="281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8166100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Text Box 24"/>
          <p:cNvSpPr txBox="1">
            <a:spLocks noChangeArrowheads="1"/>
          </p:cNvSpPr>
          <p:nvPr/>
        </p:nvSpPr>
        <p:spPr bwMode="auto">
          <a:xfrm>
            <a:off x="831850" y="502920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</a:rPr>
              <a:t>讨论两个整体总体均值差和方差比的估计问题.</a:t>
            </a:r>
          </a:p>
        </p:txBody>
      </p:sp>
    </p:spTree>
    <p:extLst>
      <p:ext uri="{BB962C8B-B14F-4D97-AF65-F5344CB8AC3E}">
        <p14:creationId xmlns:p14="http://schemas.microsoft.com/office/powerpoint/2010/main" val="37709263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61" name="Object 45"/>
          <p:cNvGraphicFramePr>
            <a:graphicFrameLocks noChangeAspect="1"/>
          </p:cNvGraphicFramePr>
          <p:nvPr/>
        </p:nvGraphicFramePr>
        <p:xfrm>
          <a:off x="966788" y="1454150"/>
          <a:ext cx="3657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Equation" r:id="rId3" imgW="3657600" imgH="495000" progId="Equation.3">
                  <p:embed/>
                </p:oleObj>
              </mc:Choice>
              <mc:Fallback>
                <p:oleObj name="Equation" r:id="rId3" imgW="36576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1454150"/>
                        <a:ext cx="3657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2" name="Object 46"/>
          <p:cNvGraphicFramePr>
            <a:graphicFrameLocks noChangeAspect="1"/>
          </p:cNvGraphicFramePr>
          <p:nvPr/>
        </p:nvGraphicFramePr>
        <p:xfrm>
          <a:off x="990600" y="2203450"/>
          <a:ext cx="643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5" imgW="6438600" imgH="444240" progId="Equation.3">
                  <p:embed/>
                </p:oleObj>
              </mc:Choice>
              <mc:Fallback>
                <p:oleObj name="Equation" r:id="rId5" imgW="6438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3450"/>
                        <a:ext cx="643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3" name="Object 47"/>
          <p:cNvGraphicFramePr>
            <a:graphicFrameLocks noChangeAspect="1"/>
          </p:cNvGraphicFramePr>
          <p:nvPr/>
        </p:nvGraphicFramePr>
        <p:xfrm>
          <a:off x="2495550" y="2895600"/>
          <a:ext cx="38989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7" imgW="3898800" imgH="1117440" progId="Equation.3">
                  <p:embed/>
                </p:oleObj>
              </mc:Choice>
              <mc:Fallback>
                <p:oleObj name="Equation" r:id="rId7" imgW="389880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895600"/>
                        <a:ext cx="38989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6" name="Object 50"/>
          <p:cNvGraphicFramePr>
            <a:graphicFrameLocks noChangeAspect="1"/>
          </p:cNvGraphicFramePr>
          <p:nvPr/>
        </p:nvGraphicFramePr>
        <p:xfrm>
          <a:off x="914400" y="4800600"/>
          <a:ext cx="605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9" imgW="6057720" imgH="431640" progId="Equation.3">
                  <p:embed/>
                </p:oleObj>
              </mc:Choice>
              <mc:Fallback>
                <p:oleObj name="Equation" r:id="rId9" imgW="60577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00600"/>
                        <a:ext cx="6057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838200" y="41290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推导过程如下:</a:t>
            </a:r>
          </a:p>
        </p:txBody>
      </p:sp>
      <p:graphicFrame>
        <p:nvGraphicFramePr>
          <p:cNvPr id="9268" name="Object 52"/>
          <p:cNvGraphicFramePr>
            <a:graphicFrameLocks noChangeAspect="1"/>
          </p:cNvGraphicFramePr>
          <p:nvPr/>
        </p:nvGraphicFramePr>
        <p:xfrm>
          <a:off x="935038" y="5461000"/>
          <a:ext cx="560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11" imgW="5600520" imgH="431640" progId="Equation.3">
                  <p:embed/>
                </p:oleObj>
              </mc:Choice>
              <mc:Fallback>
                <p:oleObj name="Equation" r:id="rId11" imgW="5600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5461000"/>
                        <a:ext cx="5600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70" name="Group 54"/>
          <p:cNvGrpSpPr>
            <a:grpSpLocks/>
          </p:cNvGrpSpPr>
          <p:nvPr/>
        </p:nvGrpSpPr>
        <p:grpSpPr bwMode="auto">
          <a:xfrm>
            <a:off x="812800" y="765175"/>
            <a:ext cx="6756400" cy="579438"/>
            <a:chOff x="512" y="482"/>
            <a:chExt cx="4256" cy="365"/>
          </a:xfrm>
        </p:grpSpPr>
        <p:graphicFrame>
          <p:nvGraphicFramePr>
            <p:cNvPr id="9260" name="Object 44"/>
            <p:cNvGraphicFramePr>
              <a:graphicFrameLocks noChangeAspect="1"/>
            </p:cNvGraphicFramePr>
            <p:nvPr/>
          </p:nvGraphicFramePr>
          <p:xfrm>
            <a:off x="874" y="528"/>
            <a:ext cx="389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" name="公式" r:id="rId13" imgW="5689440" imgH="431640" progId="Equation.3">
                    <p:embed/>
                  </p:oleObj>
                </mc:Choice>
                <mc:Fallback>
                  <p:oleObj name="公式" r:id="rId13" imgW="56894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4" y="528"/>
                          <a:ext cx="3894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9" name="Text Box 53"/>
            <p:cNvSpPr txBox="1">
              <a:spLocks noChangeArrowheads="1"/>
            </p:cNvSpPr>
            <p:nvPr/>
          </p:nvSpPr>
          <p:spPr bwMode="auto">
            <a:xfrm>
              <a:off x="512" y="482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</a:rPr>
                <a:t>1.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50289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12" name="Object 32"/>
          <p:cNvGraphicFramePr>
            <a:graphicFrameLocks noChangeAspect="1"/>
          </p:cNvGraphicFramePr>
          <p:nvPr/>
        </p:nvGraphicFramePr>
        <p:xfrm>
          <a:off x="1358900" y="914400"/>
          <a:ext cx="347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Equation" r:id="rId3" imgW="3479760" imgH="406080" progId="Equation.3">
                  <p:embed/>
                </p:oleObj>
              </mc:Choice>
              <mc:Fallback>
                <p:oleObj name="Equation" r:id="rId3" imgW="3479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914400"/>
                        <a:ext cx="3479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3" name="Object 33"/>
          <p:cNvGraphicFramePr>
            <a:graphicFrameLocks noChangeAspect="1"/>
          </p:cNvGraphicFramePr>
          <p:nvPr/>
        </p:nvGraphicFramePr>
        <p:xfrm>
          <a:off x="1314450" y="1625600"/>
          <a:ext cx="2514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quation" r:id="rId5" imgW="2514600" imgH="1066680" progId="Equation.3">
                  <p:embed/>
                </p:oleObj>
              </mc:Choice>
              <mc:Fallback>
                <p:oleObj name="Equation" r:id="rId5" imgW="251460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1625600"/>
                        <a:ext cx="2514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4" name="Object 34"/>
          <p:cNvGraphicFramePr>
            <a:graphicFrameLocks noChangeAspect="1"/>
          </p:cNvGraphicFramePr>
          <p:nvPr/>
        </p:nvGraphicFramePr>
        <p:xfrm>
          <a:off x="4445000" y="1625600"/>
          <a:ext cx="2501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7" imgW="2501640" imgH="1066680" progId="Equation.3">
                  <p:embed/>
                </p:oleObj>
              </mc:Choice>
              <mc:Fallback>
                <p:oleObj name="Equation" r:id="rId7" imgW="250164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1625600"/>
                        <a:ext cx="25019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5" name="Object 35"/>
          <p:cNvGraphicFramePr>
            <a:graphicFrameLocks noChangeAspect="1"/>
          </p:cNvGraphicFramePr>
          <p:nvPr/>
        </p:nvGraphicFramePr>
        <p:xfrm>
          <a:off x="1365250" y="2895600"/>
          <a:ext cx="560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9" imgW="5600520" imgH="1066680" progId="Equation.3">
                  <p:embed/>
                </p:oleObj>
              </mc:Choice>
              <mc:Fallback>
                <p:oleObj name="Equation" r:id="rId9" imgW="560052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2895600"/>
                        <a:ext cx="5600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6" name="Object 36"/>
          <p:cNvGraphicFramePr>
            <a:graphicFrameLocks noChangeAspect="1"/>
          </p:cNvGraphicFramePr>
          <p:nvPr/>
        </p:nvGraphicFramePr>
        <p:xfrm>
          <a:off x="1428750" y="4343400"/>
          <a:ext cx="48895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9" name="Equation" r:id="rId11" imgW="4889160" imgH="1485720" progId="Equation.3">
                  <p:embed/>
                </p:oleObj>
              </mc:Choice>
              <mc:Fallback>
                <p:oleObj name="Equation" r:id="rId11" imgW="4889160" imgH="1485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343400"/>
                        <a:ext cx="48895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58826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914400" y="865188"/>
          <a:ext cx="7531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3" imgW="7530840" imgH="444240" progId="Equation.3">
                  <p:embed/>
                </p:oleObj>
              </mc:Choice>
              <mc:Fallback>
                <p:oleObj name="Equation" r:id="rId3" imgW="7530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65188"/>
                        <a:ext cx="7531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2343150" y="1524000"/>
          <a:ext cx="38989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name="Equation" r:id="rId5" imgW="3898800" imgH="1117440" progId="Equation.3">
                  <p:embed/>
                </p:oleObj>
              </mc:Choice>
              <mc:Fallback>
                <p:oleObj name="Equation" r:id="rId5" imgW="389880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1524000"/>
                        <a:ext cx="38989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/>
        </p:nvGraphicFramePr>
        <p:xfrm>
          <a:off x="927100" y="2827338"/>
          <a:ext cx="3644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name="Equation" r:id="rId7" imgW="3644640" imgH="507960" progId="Equation.3">
                  <p:embed/>
                </p:oleObj>
              </mc:Choice>
              <mc:Fallback>
                <p:oleObj name="Equation" r:id="rId7" imgW="36446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827338"/>
                        <a:ext cx="3644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/>
          <p:cNvGraphicFramePr>
            <a:graphicFrameLocks noChangeAspect="1"/>
          </p:cNvGraphicFramePr>
          <p:nvPr/>
        </p:nvGraphicFramePr>
        <p:xfrm>
          <a:off x="914400" y="3575050"/>
          <a:ext cx="6515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3" name="Equation" r:id="rId9" imgW="6514920" imgH="444240" progId="Equation.3">
                  <p:embed/>
                </p:oleObj>
              </mc:Choice>
              <mc:Fallback>
                <p:oleObj name="Equation" r:id="rId9" imgW="6514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75050"/>
                        <a:ext cx="6515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2"/>
          <p:cNvGraphicFramePr>
            <a:graphicFrameLocks noChangeAspect="1"/>
          </p:cNvGraphicFramePr>
          <p:nvPr/>
        </p:nvGraphicFramePr>
        <p:xfrm>
          <a:off x="914400" y="4251325"/>
          <a:ext cx="712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4" name="Equation" r:id="rId11" imgW="7124400" imgH="444240" progId="Equation.3">
                  <p:embed/>
                </p:oleObj>
              </mc:Choice>
              <mc:Fallback>
                <p:oleObj name="Equation" r:id="rId11" imgW="7124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51325"/>
                        <a:ext cx="7124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2508250" y="4797425"/>
          <a:ext cx="3873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Equation" r:id="rId13" imgW="3873240" imgH="1117440" progId="Equation.3">
                  <p:embed/>
                </p:oleObj>
              </mc:Choice>
              <mc:Fallback>
                <p:oleObj name="Equation" r:id="rId13" imgW="387324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4797425"/>
                        <a:ext cx="38735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487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922338" y="844550"/>
          <a:ext cx="516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3" imgW="5168880" imgH="507960" progId="Equation.3">
                  <p:embed/>
                </p:oleObj>
              </mc:Choice>
              <mc:Fallback>
                <p:oleObj name="Equation" r:id="rId3" imgW="51688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844550"/>
                        <a:ext cx="5168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/>
          <p:cNvGraphicFramePr>
            <a:graphicFrameLocks noChangeAspect="1"/>
          </p:cNvGraphicFramePr>
          <p:nvPr/>
        </p:nvGraphicFramePr>
        <p:xfrm>
          <a:off x="1001713" y="1676400"/>
          <a:ext cx="643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Equation" r:id="rId5" imgW="6438600" imgH="444240" progId="Equation.3">
                  <p:embed/>
                </p:oleObj>
              </mc:Choice>
              <mc:Fallback>
                <p:oleObj name="Equation" r:id="rId5" imgW="6438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1676400"/>
                        <a:ext cx="643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1333500" y="2336800"/>
          <a:ext cx="5651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4" name="Equation" r:id="rId7" imgW="5651280" imgH="1015920" progId="Equation.3">
                  <p:embed/>
                </p:oleObj>
              </mc:Choice>
              <mc:Fallback>
                <p:oleObj name="Equation" r:id="rId7" imgW="565128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2336800"/>
                        <a:ext cx="5651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6" name="Object 14"/>
          <p:cNvGraphicFramePr>
            <a:graphicFrameLocks noChangeAspect="1"/>
          </p:cNvGraphicFramePr>
          <p:nvPr/>
        </p:nvGraphicFramePr>
        <p:xfrm>
          <a:off x="927100" y="3644900"/>
          <a:ext cx="7226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5" name="Equation" r:id="rId9" imgW="7226280" imgH="1002960" progId="Equation.3">
                  <p:embed/>
                </p:oleObj>
              </mc:Choice>
              <mc:Fallback>
                <p:oleObj name="Equation" r:id="rId9" imgW="722628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3644900"/>
                        <a:ext cx="7226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290" name="Picture 18" descr="头像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914400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2030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24" name="Group 28"/>
          <p:cNvGrpSpPr>
            <a:grpSpLocks/>
          </p:cNvGrpSpPr>
          <p:nvPr/>
        </p:nvGrpSpPr>
        <p:grpSpPr bwMode="auto">
          <a:xfrm>
            <a:off x="830263" y="735013"/>
            <a:ext cx="8313737" cy="4508500"/>
            <a:chOff x="523" y="463"/>
            <a:chExt cx="5237" cy="2840"/>
          </a:xfrm>
        </p:grpSpPr>
        <p:sp>
          <p:nvSpPr>
            <p:cNvPr id="55305" name="Rectangle 9"/>
            <p:cNvSpPr>
              <a:spLocks noChangeArrowheads="1"/>
            </p:cNvSpPr>
            <p:nvPr/>
          </p:nvSpPr>
          <p:spPr bwMode="auto">
            <a:xfrm>
              <a:off x="537" y="463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kumimoji="1" lang="zh-CN" altLang="en-US" sz="2800" b="1">
                  <a:solidFill>
                    <a:srgbClr val="000000"/>
                  </a:solidFill>
                  <a:ea typeface="黑体" pitchFamily="2" charset="-122"/>
                </a:rPr>
                <a:t>7</a:t>
              </a:r>
            </a:p>
          </p:txBody>
        </p:sp>
        <p:sp>
          <p:nvSpPr>
            <p:cNvPr id="55306" name="Text Box 10"/>
            <p:cNvSpPr txBox="1">
              <a:spLocks noChangeArrowheads="1"/>
            </p:cNvSpPr>
            <p:nvPr/>
          </p:nvSpPr>
          <p:spPr bwMode="auto">
            <a:xfrm>
              <a:off x="1169" y="476"/>
              <a:ext cx="43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为比较</a:t>
              </a:r>
              <a:r>
                <a:rPr kumimoji="1" lang="en-US" altLang="zh-CN" sz="2800">
                  <a:solidFill>
                    <a:srgbClr val="000000"/>
                  </a:solidFill>
                  <a:sym typeface="Math3" pitchFamily="2" charset="2"/>
                </a:rPr>
                <a:t>І</a:t>
              </a:r>
              <a:r>
                <a:rPr kumimoji="1" lang="en-US" altLang="zh-CN" sz="2800" b="1">
                  <a:solidFill>
                    <a:srgbClr val="000000"/>
                  </a:solidFill>
                </a:rPr>
                <a:t>, </a:t>
              </a:r>
              <a:r>
                <a:rPr kumimoji="1" lang="en-US" altLang="zh-CN" sz="2800">
                  <a:solidFill>
                    <a:srgbClr val="000000"/>
                  </a:solidFill>
                  <a:sym typeface="Math3" pitchFamily="2" charset="2"/>
                </a:rPr>
                <a:t>ІІ</a:t>
              </a: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两种型号步枪子弹的枪口速度,</a:t>
              </a:r>
            </a:p>
          </p:txBody>
        </p:sp>
        <p:sp>
          <p:nvSpPr>
            <p:cNvPr id="55308" name="Text Box 12"/>
            <p:cNvSpPr txBox="1">
              <a:spLocks noChangeArrowheads="1"/>
            </p:cNvSpPr>
            <p:nvPr/>
          </p:nvSpPr>
          <p:spPr bwMode="auto">
            <a:xfrm>
              <a:off x="576" y="816"/>
              <a:ext cx="51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随机地取</a:t>
              </a:r>
              <a:r>
                <a:rPr kumimoji="1" lang="en-US" altLang="zh-CN" sz="2800">
                  <a:solidFill>
                    <a:srgbClr val="000000"/>
                  </a:solidFill>
                  <a:sym typeface="Math3" pitchFamily="2" charset="2"/>
                </a:rPr>
                <a:t>І</a:t>
              </a: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型子弹10发, 得到枪口速度的平均值为</a:t>
              </a:r>
            </a:p>
          </p:txBody>
        </p:sp>
        <p:graphicFrame>
          <p:nvGraphicFramePr>
            <p:cNvPr id="55309" name="Object 13"/>
            <p:cNvGraphicFramePr>
              <a:graphicFrameLocks noChangeAspect="1"/>
            </p:cNvGraphicFramePr>
            <p:nvPr/>
          </p:nvGraphicFramePr>
          <p:xfrm>
            <a:off x="588" y="1227"/>
            <a:ext cx="14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7" name="公式" r:id="rId3" imgW="2273040" imgH="419040" progId="Equation.3">
                    <p:embed/>
                  </p:oleObj>
                </mc:Choice>
                <mc:Fallback>
                  <p:oleObj name="公式" r:id="rId3" imgW="227304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" y="1227"/>
                          <a:ext cx="14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0" name="Object 14"/>
            <p:cNvGraphicFramePr>
              <a:graphicFrameLocks noChangeAspect="1"/>
            </p:cNvGraphicFramePr>
            <p:nvPr/>
          </p:nvGraphicFramePr>
          <p:xfrm>
            <a:off x="1991" y="1235"/>
            <a:ext cx="21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8" name="公式" r:id="rId5" imgW="3416040" imgH="431640" progId="Equation.3">
                    <p:embed/>
                  </p:oleObj>
                </mc:Choice>
                <mc:Fallback>
                  <p:oleObj name="公式" r:id="rId5" imgW="34160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1" y="1235"/>
                          <a:ext cx="21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1" name="Rectangle 15"/>
            <p:cNvSpPr>
              <a:spLocks noChangeArrowheads="1"/>
            </p:cNvSpPr>
            <p:nvPr/>
          </p:nvSpPr>
          <p:spPr bwMode="auto">
            <a:xfrm>
              <a:off x="4120" y="1191"/>
              <a:ext cx="11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随机地取</a:t>
              </a:r>
              <a:r>
                <a:rPr kumimoji="1" lang="en-US" altLang="zh-CN" sz="2800">
                  <a:solidFill>
                    <a:srgbClr val="000000"/>
                  </a:solidFill>
                  <a:sym typeface="Math3" pitchFamily="2" charset="2"/>
                </a:rPr>
                <a:t>ІІ</a:t>
              </a:r>
              <a:endParaRPr kumimoji="1" lang="zh-CN" altLang="en-US" sz="2800">
                <a:solidFill>
                  <a:srgbClr val="000000"/>
                </a:solidFill>
                <a:sym typeface="Math3" pitchFamily="2" charset="2"/>
              </a:endParaRPr>
            </a:p>
          </p:txBody>
        </p:sp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550" y="1536"/>
              <a:ext cx="33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型子弹20发, 得枪口速度平均值为</a:t>
              </a:r>
            </a:p>
          </p:txBody>
        </p:sp>
        <p:graphicFrame>
          <p:nvGraphicFramePr>
            <p:cNvPr id="55313" name="Object 17"/>
            <p:cNvGraphicFramePr>
              <a:graphicFrameLocks noChangeAspect="1"/>
            </p:cNvGraphicFramePr>
            <p:nvPr/>
          </p:nvGraphicFramePr>
          <p:xfrm>
            <a:off x="3888" y="1575"/>
            <a:ext cx="144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9" name="公式" r:id="rId7" imgW="2298600" imgH="419040" progId="Equation.3">
                    <p:embed/>
                  </p:oleObj>
                </mc:Choice>
                <mc:Fallback>
                  <p:oleObj name="公式" r:id="rId7" imgW="22986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575"/>
                          <a:ext cx="144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4" name="Object 18"/>
            <p:cNvGraphicFramePr>
              <a:graphicFrameLocks noChangeAspect="1"/>
            </p:cNvGraphicFramePr>
            <p:nvPr/>
          </p:nvGraphicFramePr>
          <p:xfrm>
            <a:off x="590" y="1920"/>
            <a:ext cx="2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0" name="公式" r:id="rId9" imgW="3441600" imgH="431640" progId="Equation.3">
                    <p:embed/>
                  </p:oleObj>
                </mc:Choice>
                <mc:Fallback>
                  <p:oleObj name="公式" r:id="rId9" imgW="34416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1920"/>
                          <a:ext cx="216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5" name="Text Box 19"/>
            <p:cNvSpPr txBox="1">
              <a:spLocks noChangeArrowheads="1"/>
            </p:cNvSpPr>
            <p:nvPr/>
          </p:nvSpPr>
          <p:spPr bwMode="auto">
            <a:xfrm>
              <a:off x="2728" y="1864"/>
              <a:ext cx="27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假设两总体都可认为近似</a:t>
              </a:r>
            </a:p>
          </p:txBody>
        </p:sp>
        <p:sp>
          <p:nvSpPr>
            <p:cNvPr id="55316" name="Text Box 20"/>
            <p:cNvSpPr txBox="1">
              <a:spLocks noChangeArrowheads="1"/>
            </p:cNvSpPr>
            <p:nvPr/>
          </p:nvSpPr>
          <p:spPr bwMode="auto">
            <a:xfrm>
              <a:off x="523" y="2256"/>
              <a:ext cx="50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地服从正态分布,且由生产过程可认为它们的方差</a:t>
              </a:r>
            </a:p>
          </p:txBody>
        </p:sp>
        <p:sp>
          <p:nvSpPr>
            <p:cNvPr id="55317" name="Rectangle 21"/>
            <p:cNvSpPr>
              <a:spLocks noChangeArrowheads="1"/>
            </p:cNvSpPr>
            <p:nvPr/>
          </p:nvSpPr>
          <p:spPr bwMode="auto">
            <a:xfrm>
              <a:off x="524" y="2605"/>
              <a:ext cx="2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相等, 求两总体均值差</a:t>
              </a:r>
            </a:p>
          </p:txBody>
        </p:sp>
        <p:graphicFrame>
          <p:nvGraphicFramePr>
            <p:cNvPr id="55318" name="Object 22"/>
            <p:cNvGraphicFramePr>
              <a:graphicFrameLocks noChangeAspect="1"/>
            </p:cNvGraphicFramePr>
            <p:nvPr/>
          </p:nvGraphicFramePr>
          <p:xfrm>
            <a:off x="2678" y="2627"/>
            <a:ext cx="29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1" name="Equation" r:id="rId11" imgW="4622760" imgH="444240" progId="Equation.3">
                    <p:embed/>
                  </p:oleObj>
                </mc:Choice>
                <mc:Fallback>
                  <p:oleObj name="Equation" r:id="rId11" imgW="462276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2627"/>
                          <a:ext cx="29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0" name="Text Box 24"/>
            <p:cNvSpPr txBox="1">
              <a:spLocks noChangeArrowheads="1"/>
            </p:cNvSpPr>
            <p:nvPr/>
          </p:nvSpPr>
          <p:spPr bwMode="auto">
            <a:xfrm>
              <a:off x="524" y="2976"/>
              <a:ext cx="24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信区间.</a:t>
              </a:r>
            </a:p>
          </p:txBody>
        </p:sp>
      </p:grpSp>
      <p:sp>
        <p:nvSpPr>
          <p:cNvPr id="55322" name="Text Box 26"/>
          <p:cNvSpPr txBox="1">
            <a:spLocks noChangeArrowheads="1"/>
          </p:cNvSpPr>
          <p:nvPr/>
        </p:nvSpPr>
        <p:spPr bwMode="auto">
          <a:xfrm>
            <a:off x="831850" y="53482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sp>
        <p:nvSpPr>
          <p:cNvPr id="55323" name="Text Box 27"/>
          <p:cNvSpPr txBox="1">
            <a:spLocks noChangeArrowheads="1"/>
          </p:cNvSpPr>
          <p:nvPr/>
        </p:nvSpPr>
        <p:spPr bwMode="auto">
          <a:xfrm>
            <a:off x="1338263" y="5368925"/>
            <a:ext cx="7542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由题意, 两总体样本独立且方差相等(但未知),</a:t>
            </a:r>
          </a:p>
        </p:txBody>
      </p:sp>
    </p:spTree>
    <p:extLst>
      <p:ext uri="{BB962C8B-B14F-4D97-AF65-F5344CB8AC3E}">
        <p14:creationId xmlns:p14="http://schemas.microsoft.com/office/powerpoint/2010/main" val="33200547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2" grpId="0" autoUpdateAnimBg="0"/>
      <p:bldP spid="5532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/>
          <p:cNvGraphicFramePr>
            <a:graphicFrameLocks noChangeAspect="1"/>
          </p:cNvGraphicFramePr>
          <p:nvPr/>
        </p:nvGraphicFramePr>
        <p:xfrm>
          <a:off x="908050" y="685800"/>
          <a:ext cx="172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3" imgW="1726920" imgH="838080" progId="Equation.3">
                  <p:embed/>
                </p:oleObj>
              </mc:Choice>
              <mc:Fallback>
                <p:oleObj name="Equation" r:id="rId3" imgW="1726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685800"/>
                        <a:ext cx="1727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2895600" y="879475"/>
          <a:ext cx="260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5" imgW="2603160" imgH="419040" progId="Equation.3">
                  <p:embed/>
                </p:oleObj>
              </mc:Choice>
              <mc:Fallback>
                <p:oleObj name="Equation" r:id="rId5" imgW="2603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879475"/>
                        <a:ext cx="2603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5867400" y="873125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7" imgW="2311200" imgH="419040" progId="Equation.3">
                  <p:embed/>
                </p:oleObj>
              </mc:Choice>
              <mc:Fallback>
                <p:oleObj name="Equation" r:id="rId7" imgW="2311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873125"/>
                        <a:ext cx="2311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914400" y="1614488"/>
          <a:ext cx="367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Equation" r:id="rId9" imgW="3670200" imgH="431640" progId="Equation.3">
                  <p:embed/>
                </p:oleObj>
              </mc:Choice>
              <mc:Fallback>
                <p:oleObj name="Equation" r:id="rId9" imgW="3670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14488"/>
                        <a:ext cx="367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4595813" y="1600200"/>
          <a:ext cx="270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1" name="Equation" r:id="rId11" imgW="2705040" imgH="431640" progId="Equation.3">
                  <p:embed/>
                </p:oleObj>
              </mc:Choice>
              <mc:Fallback>
                <p:oleObj name="Equation" r:id="rId11" imgW="27050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3" y="1600200"/>
                        <a:ext cx="2705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850900" y="2282825"/>
          <a:ext cx="441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Equation" r:id="rId13" imgW="4419360" imgH="888840" progId="Equation.3">
                  <p:embed/>
                </p:oleObj>
              </mc:Choice>
              <mc:Fallback>
                <p:oleObj name="Equation" r:id="rId13" imgW="44193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282825"/>
                        <a:ext cx="4419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2" name="Object 8"/>
          <p:cNvGraphicFramePr>
            <a:graphicFrameLocks noChangeAspect="1"/>
          </p:cNvGraphicFramePr>
          <p:nvPr/>
        </p:nvGraphicFramePr>
        <p:xfrm>
          <a:off x="5110163" y="2462213"/>
          <a:ext cx="2971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Equation" r:id="rId15" imgW="2971800" imgH="558720" progId="Equation.3">
                  <p:embed/>
                </p:oleObj>
              </mc:Choice>
              <mc:Fallback>
                <p:oleObj name="Equation" r:id="rId15" imgW="297180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2462213"/>
                        <a:ext cx="2971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892175" y="3417888"/>
          <a:ext cx="745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name="Equation" r:id="rId17" imgW="7454880" imgH="444240" progId="Equation.3">
                  <p:embed/>
                </p:oleObj>
              </mc:Choice>
              <mc:Fallback>
                <p:oleObj name="Equation" r:id="rId17" imgW="7454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3417888"/>
                        <a:ext cx="7454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1028700" y="4179888"/>
          <a:ext cx="4991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5" name="Equation" r:id="rId19" imgW="4991040" imgH="965160" progId="Equation.3">
                  <p:embed/>
                </p:oleObj>
              </mc:Choice>
              <mc:Fallback>
                <p:oleObj name="Equation" r:id="rId19" imgW="49910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4179888"/>
                        <a:ext cx="4991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6054725" y="4460875"/>
          <a:ext cx="176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Equation" r:id="rId21" imgW="1765080" imgH="393480" progId="Equation.3">
                  <p:embed/>
                </p:oleObj>
              </mc:Choice>
              <mc:Fallback>
                <p:oleObj name="Equation" r:id="rId21" imgW="1765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4460875"/>
                        <a:ext cx="1765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909638" y="5435600"/>
          <a:ext cx="5041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7" name="Equation" r:id="rId23" imgW="5041800" imgH="431640" progId="Equation.3">
                  <p:embed/>
                </p:oleObj>
              </mc:Choice>
              <mc:Fallback>
                <p:oleObj name="Equation" r:id="rId23" imgW="5041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5435600"/>
                        <a:ext cx="5041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97701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831850" y="53340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1338263" y="5354638"/>
            <a:ext cx="7542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由题意, 两总体样本独立且方差相等(但未知),</a:t>
            </a:r>
          </a:p>
        </p:txBody>
      </p:sp>
      <p:grpSp>
        <p:nvGrpSpPr>
          <p:cNvPr id="73760" name="Group 32"/>
          <p:cNvGrpSpPr>
            <a:grpSpLocks/>
          </p:cNvGrpSpPr>
          <p:nvPr/>
        </p:nvGrpSpPr>
        <p:grpSpPr bwMode="auto">
          <a:xfrm>
            <a:off x="811213" y="735013"/>
            <a:ext cx="8332787" cy="4354512"/>
            <a:chOff x="511" y="463"/>
            <a:chExt cx="5249" cy="2743"/>
          </a:xfrm>
        </p:grpSpPr>
        <p:sp>
          <p:nvSpPr>
            <p:cNvPr id="73733" name="Rectangle 5"/>
            <p:cNvSpPr>
              <a:spLocks noChangeArrowheads="1"/>
            </p:cNvSpPr>
            <p:nvPr/>
          </p:nvSpPr>
          <p:spPr bwMode="auto">
            <a:xfrm>
              <a:off x="537" y="463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kumimoji="1" lang="zh-CN" altLang="en-US" sz="2800" b="1">
                  <a:solidFill>
                    <a:srgbClr val="000000"/>
                  </a:solidFill>
                  <a:ea typeface="黑体" pitchFamily="2" charset="-122"/>
                </a:rPr>
                <a:t>8</a:t>
              </a:r>
            </a:p>
          </p:txBody>
        </p:sp>
        <p:sp>
          <p:nvSpPr>
            <p:cNvPr id="73734" name="Text Box 6"/>
            <p:cNvSpPr txBox="1">
              <a:spLocks noChangeArrowheads="1"/>
            </p:cNvSpPr>
            <p:nvPr/>
          </p:nvSpPr>
          <p:spPr bwMode="auto">
            <a:xfrm>
              <a:off x="1104" y="476"/>
              <a:ext cx="43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为提高某一化学生产过程的得率</a:t>
              </a: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, 试图采用</a:t>
              </a:r>
            </a:p>
          </p:txBody>
        </p:sp>
        <p:sp>
          <p:nvSpPr>
            <p:cNvPr id="73735" name="Text Box 7"/>
            <p:cNvSpPr txBox="1">
              <a:spLocks noChangeArrowheads="1"/>
            </p:cNvSpPr>
            <p:nvPr/>
          </p:nvSpPr>
          <p:spPr bwMode="auto">
            <a:xfrm>
              <a:off x="550" y="816"/>
              <a:ext cx="4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一种新的催化剂</a:t>
              </a: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, 为慎重起见, 在试验工厂先进行</a:t>
              </a:r>
            </a:p>
          </p:txBody>
        </p:sp>
        <p:graphicFrame>
          <p:nvGraphicFramePr>
            <p:cNvPr id="73736" name="Object 8"/>
            <p:cNvGraphicFramePr>
              <a:graphicFrameLocks noChangeAspect="1"/>
            </p:cNvGraphicFramePr>
            <p:nvPr/>
          </p:nvGraphicFramePr>
          <p:xfrm>
            <a:off x="3827" y="1187"/>
            <a:ext cx="5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7" name="Equation" r:id="rId3" imgW="876240" imgH="419040" progId="Equation.3">
                    <p:embed/>
                  </p:oleObj>
                </mc:Choice>
                <mc:Fallback>
                  <p:oleObj name="Equation" r:id="rId3" imgW="87624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7" y="1187"/>
                          <a:ext cx="5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37" name="Object 9"/>
            <p:cNvGraphicFramePr>
              <a:graphicFrameLocks noChangeAspect="1"/>
            </p:cNvGraphicFramePr>
            <p:nvPr/>
          </p:nvGraphicFramePr>
          <p:xfrm>
            <a:off x="2413" y="1549"/>
            <a:ext cx="101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" name="Equation" r:id="rId5" imgW="1612800" imgH="419040" progId="Equation.3">
                    <p:embed/>
                  </p:oleObj>
                </mc:Choice>
                <mc:Fallback>
                  <p:oleObj name="Equation" r:id="rId5" imgW="16128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1549"/>
                          <a:ext cx="101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40" name="Object 12"/>
            <p:cNvGraphicFramePr>
              <a:graphicFrameLocks noChangeAspect="1"/>
            </p:cNvGraphicFramePr>
            <p:nvPr/>
          </p:nvGraphicFramePr>
          <p:xfrm>
            <a:off x="1475" y="2230"/>
            <a:ext cx="10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" name="Equation" r:id="rId7" imgW="1638000" imgH="419040" progId="Equation.3">
                    <p:embed/>
                  </p:oleObj>
                </mc:Choice>
                <mc:Fallback>
                  <p:oleObj name="Equation" r:id="rId7" imgW="16380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2230"/>
                          <a:ext cx="10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3" name="Text Box 15"/>
            <p:cNvSpPr txBox="1">
              <a:spLocks noChangeArrowheads="1"/>
            </p:cNvSpPr>
            <p:nvPr/>
          </p:nvSpPr>
          <p:spPr bwMode="auto">
            <a:xfrm>
              <a:off x="523" y="2544"/>
              <a:ext cx="50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体都可认为近似地服从正态分布, 且方差相等, 求</a:t>
              </a:r>
            </a:p>
          </p:txBody>
        </p:sp>
        <p:sp>
          <p:nvSpPr>
            <p:cNvPr id="73744" name="Rectangle 16"/>
            <p:cNvSpPr>
              <a:spLocks noChangeArrowheads="1"/>
            </p:cNvSpPr>
            <p:nvPr/>
          </p:nvSpPr>
          <p:spPr bwMode="auto">
            <a:xfrm>
              <a:off x="524" y="2879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两总体均值差</a:t>
              </a:r>
            </a:p>
          </p:txBody>
        </p:sp>
        <p:graphicFrame>
          <p:nvGraphicFramePr>
            <p:cNvPr id="73745" name="Object 17"/>
            <p:cNvGraphicFramePr>
              <a:graphicFrameLocks noChangeAspect="1"/>
            </p:cNvGraphicFramePr>
            <p:nvPr/>
          </p:nvGraphicFramePr>
          <p:xfrm>
            <a:off x="1920" y="2915"/>
            <a:ext cx="384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0" name="Equation" r:id="rId9" imgW="6095880" imgH="444240" progId="Equation.3">
                    <p:embed/>
                  </p:oleObj>
                </mc:Choice>
                <mc:Fallback>
                  <p:oleObj name="Equation" r:id="rId9" imgW="609588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915"/>
                          <a:ext cx="3840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7" name="Rectangle 19"/>
            <p:cNvSpPr>
              <a:spLocks noChangeArrowheads="1"/>
            </p:cNvSpPr>
            <p:nvPr/>
          </p:nvSpPr>
          <p:spPr bwMode="auto">
            <a:xfrm>
              <a:off x="528" y="1152"/>
              <a:ext cx="36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试验. 设采用原来的催化剂进行了</a:t>
              </a:r>
            </a:p>
          </p:txBody>
        </p:sp>
        <p:sp>
          <p:nvSpPr>
            <p:cNvPr id="73748" name="Rectangle 20"/>
            <p:cNvSpPr>
              <a:spLocks noChangeArrowheads="1"/>
            </p:cNvSpPr>
            <p:nvPr/>
          </p:nvSpPr>
          <p:spPr bwMode="auto">
            <a:xfrm>
              <a:off x="4360" y="1153"/>
              <a:ext cx="9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次试验,</a:t>
              </a:r>
            </a:p>
          </p:txBody>
        </p:sp>
        <p:sp>
          <p:nvSpPr>
            <p:cNvPr id="73749" name="Rectangle 21"/>
            <p:cNvSpPr>
              <a:spLocks noChangeArrowheads="1"/>
            </p:cNvSpPr>
            <p:nvPr/>
          </p:nvSpPr>
          <p:spPr bwMode="auto">
            <a:xfrm>
              <a:off x="550" y="1488"/>
              <a:ext cx="24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得到得率的平均值</a:t>
              </a:r>
            </a:p>
          </p:txBody>
        </p:sp>
        <p:graphicFrame>
          <p:nvGraphicFramePr>
            <p:cNvPr id="73750" name="Object 22"/>
            <p:cNvGraphicFramePr>
              <a:graphicFrameLocks noChangeAspect="1"/>
            </p:cNvGraphicFramePr>
            <p:nvPr/>
          </p:nvGraphicFramePr>
          <p:xfrm>
            <a:off x="3469" y="1501"/>
            <a:ext cx="188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1" name="Equation" r:id="rId11" imgW="2997000" imgH="507960" progId="Equation.3">
                    <p:embed/>
                  </p:oleObj>
                </mc:Choice>
                <mc:Fallback>
                  <p:oleObj name="Equation" r:id="rId11" imgW="2997000" imgH="507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9" y="1501"/>
                          <a:ext cx="188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1" name="Rectangle 23"/>
            <p:cNvSpPr>
              <a:spLocks noChangeArrowheads="1"/>
            </p:cNvSpPr>
            <p:nvPr/>
          </p:nvSpPr>
          <p:spPr bwMode="auto">
            <a:xfrm>
              <a:off x="511" y="1833"/>
              <a:ext cx="25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又采用新的催化剂进行了</a:t>
              </a:r>
            </a:p>
          </p:txBody>
        </p:sp>
        <p:graphicFrame>
          <p:nvGraphicFramePr>
            <p:cNvPr id="73752" name="Object 24"/>
            <p:cNvGraphicFramePr>
              <a:graphicFrameLocks noChangeAspect="1"/>
            </p:cNvGraphicFramePr>
            <p:nvPr/>
          </p:nvGraphicFramePr>
          <p:xfrm>
            <a:off x="3016" y="1885"/>
            <a:ext cx="56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2" name="Equation" r:id="rId13" imgW="901440" imgH="419040" progId="Equation.3">
                    <p:embed/>
                  </p:oleObj>
                </mc:Choice>
                <mc:Fallback>
                  <p:oleObj name="Equation" r:id="rId13" imgW="90144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1885"/>
                          <a:ext cx="56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3" name="Rectangle 25"/>
            <p:cNvSpPr>
              <a:spLocks noChangeArrowheads="1"/>
            </p:cNvSpPr>
            <p:nvPr/>
          </p:nvSpPr>
          <p:spPr bwMode="auto">
            <a:xfrm>
              <a:off x="3548" y="1850"/>
              <a:ext cx="9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次试验,</a:t>
              </a:r>
            </a:p>
          </p:txBody>
        </p:sp>
        <p:sp>
          <p:nvSpPr>
            <p:cNvPr id="73754" name="Rectangle 26"/>
            <p:cNvSpPr>
              <a:spLocks noChangeArrowheads="1"/>
            </p:cNvSpPr>
            <p:nvPr/>
          </p:nvSpPr>
          <p:spPr bwMode="auto">
            <a:xfrm>
              <a:off x="4333" y="1837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得到得率</a:t>
              </a:r>
            </a:p>
          </p:txBody>
        </p:sp>
        <p:sp>
          <p:nvSpPr>
            <p:cNvPr id="73755" name="Rectangle 27"/>
            <p:cNvSpPr>
              <a:spLocks noChangeArrowheads="1"/>
            </p:cNvSpPr>
            <p:nvPr/>
          </p:nvSpPr>
          <p:spPr bwMode="auto">
            <a:xfrm>
              <a:off x="524" y="216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的平均值</a:t>
              </a:r>
            </a:p>
          </p:txBody>
        </p:sp>
        <p:graphicFrame>
          <p:nvGraphicFramePr>
            <p:cNvPr id="73756" name="Object 28"/>
            <p:cNvGraphicFramePr>
              <a:graphicFrameLocks noChangeAspect="1"/>
            </p:cNvGraphicFramePr>
            <p:nvPr/>
          </p:nvGraphicFramePr>
          <p:xfrm>
            <a:off x="2558" y="2182"/>
            <a:ext cx="189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3" name="Equation" r:id="rId15" imgW="3009600" imgH="507960" progId="Equation.3">
                    <p:embed/>
                  </p:oleObj>
                </mc:Choice>
                <mc:Fallback>
                  <p:oleObj name="Equation" r:id="rId15" imgW="3009600" imgH="507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8" y="2182"/>
                          <a:ext cx="189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7" name="Rectangle 29"/>
            <p:cNvSpPr>
              <a:spLocks noChangeArrowheads="1"/>
            </p:cNvSpPr>
            <p:nvPr/>
          </p:nvSpPr>
          <p:spPr bwMode="auto">
            <a:xfrm>
              <a:off x="4389" y="2182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假设两总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20879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1295400" y="920750"/>
          <a:ext cx="5994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3" imgW="5994360" imgH="990360" progId="Equation.3">
                  <p:embed/>
                </p:oleObj>
              </mc:Choice>
              <mc:Fallback>
                <p:oleObj name="Equation" r:id="rId3" imgW="599436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20750"/>
                        <a:ext cx="5994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952500" y="2097088"/>
          <a:ext cx="7810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0" name="Equation" r:id="rId5" imgW="7810200" imgH="444240" progId="Equation.3">
                  <p:embed/>
                </p:oleObj>
              </mc:Choice>
              <mc:Fallback>
                <p:oleObj name="Equation" r:id="rId5" imgW="7810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097088"/>
                        <a:ext cx="7810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1225550" y="2859088"/>
          <a:ext cx="4610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1" name="Equation" r:id="rId7" imgW="4609800" imgH="965160" progId="Equation.3">
                  <p:embed/>
                </p:oleObj>
              </mc:Choice>
              <mc:Fallback>
                <p:oleObj name="Equation" r:id="rId7" imgW="460980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2859088"/>
                        <a:ext cx="4610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5880100" y="3140075"/>
          <a:ext cx="242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2" name="Equation" r:id="rId9" imgW="2425680" imgH="393480" progId="Equation.3">
                  <p:embed/>
                </p:oleObj>
              </mc:Choice>
              <mc:Fallback>
                <p:oleObj name="Equation" r:id="rId9" imgW="2425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3140075"/>
                        <a:ext cx="242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1181100" y="4114800"/>
          <a:ext cx="521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3" name="Equation" r:id="rId11" imgW="5219640" imgH="431640" progId="Equation.3">
                  <p:embed/>
                </p:oleObj>
              </mc:Choice>
              <mc:Fallback>
                <p:oleObj name="Equation" r:id="rId11" imgW="5219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114800"/>
                        <a:ext cx="5219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51846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82" name="Object 6"/>
          <p:cNvGraphicFramePr>
            <a:graphicFrameLocks noChangeAspect="1"/>
          </p:cNvGraphicFramePr>
          <p:nvPr/>
        </p:nvGraphicFramePr>
        <p:xfrm>
          <a:off x="914400" y="1641475"/>
          <a:ext cx="624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" name="Equation" r:id="rId3" imgW="6248160" imgH="431640" progId="Equation.3">
                  <p:embed/>
                </p:oleObj>
              </mc:Choice>
              <mc:Fallback>
                <p:oleObj name="Equation" r:id="rId3" imgW="6248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41475"/>
                        <a:ext cx="6248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8" name="Object 12"/>
          <p:cNvGraphicFramePr>
            <a:graphicFrameLocks noChangeAspect="1"/>
          </p:cNvGraphicFramePr>
          <p:nvPr/>
        </p:nvGraphicFramePr>
        <p:xfrm>
          <a:off x="863600" y="2057400"/>
          <a:ext cx="6299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5" name="Equation" r:id="rId5" imgW="6298920" imgH="1028520" progId="Equation.3">
                  <p:embed/>
                </p:oleObj>
              </mc:Choice>
              <mc:Fallback>
                <p:oleObj name="Equation" r:id="rId5" imgW="629892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2057400"/>
                        <a:ext cx="62992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9" name="Object 13"/>
          <p:cNvGraphicFramePr>
            <a:graphicFrameLocks noChangeAspect="1"/>
          </p:cNvGraphicFramePr>
          <p:nvPr/>
        </p:nvGraphicFramePr>
        <p:xfrm>
          <a:off x="922338" y="3200400"/>
          <a:ext cx="7581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Equation" r:id="rId7" imgW="7581600" imgH="1066680" progId="Equation.3">
                  <p:embed/>
                </p:oleObj>
              </mc:Choice>
              <mc:Fallback>
                <p:oleObj name="Equation" r:id="rId7" imgW="758160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3200400"/>
                        <a:ext cx="75819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838200" y="44338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推导过程如下:</a:t>
            </a:r>
          </a:p>
        </p:txBody>
      </p:sp>
      <p:graphicFrame>
        <p:nvGraphicFramePr>
          <p:cNvPr id="75791" name="Object 15"/>
          <p:cNvGraphicFramePr>
            <a:graphicFrameLocks noChangeAspect="1"/>
          </p:cNvGraphicFramePr>
          <p:nvPr/>
        </p:nvGraphicFramePr>
        <p:xfrm>
          <a:off x="908050" y="5014913"/>
          <a:ext cx="44450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7" name="Equation" r:id="rId9" imgW="4444920" imgH="1091880" progId="Equation.3">
                  <p:embed/>
                </p:oleObj>
              </mc:Choice>
              <mc:Fallback>
                <p:oleObj name="Equation" r:id="rId9" imgW="444492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5014913"/>
                        <a:ext cx="44450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2" name="Object 16"/>
          <p:cNvGraphicFramePr>
            <a:graphicFrameLocks noChangeAspect="1"/>
          </p:cNvGraphicFramePr>
          <p:nvPr/>
        </p:nvGraphicFramePr>
        <p:xfrm>
          <a:off x="5232400" y="5024438"/>
          <a:ext cx="37846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8" name="Equation" r:id="rId11" imgW="3784320" imgH="1091880" progId="Equation.3">
                  <p:embed/>
                </p:oleObj>
              </mc:Choice>
              <mc:Fallback>
                <p:oleObj name="Equation" r:id="rId11" imgW="378432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5024438"/>
                        <a:ext cx="37846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795" name="Group 19"/>
          <p:cNvGrpSpPr>
            <a:grpSpLocks/>
          </p:cNvGrpSpPr>
          <p:nvPr/>
        </p:nvGrpSpPr>
        <p:grpSpPr bwMode="auto">
          <a:xfrm>
            <a:off x="850900" y="549275"/>
            <a:ext cx="6107113" cy="1165225"/>
            <a:chOff x="536" y="346"/>
            <a:chExt cx="3847" cy="734"/>
          </a:xfrm>
        </p:grpSpPr>
        <p:graphicFrame>
          <p:nvGraphicFramePr>
            <p:cNvPr id="75780" name="Object 4"/>
            <p:cNvGraphicFramePr>
              <a:graphicFrameLocks noChangeAspect="1"/>
            </p:cNvGraphicFramePr>
            <p:nvPr/>
          </p:nvGraphicFramePr>
          <p:xfrm>
            <a:off x="740" y="346"/>
            <a:ext cx="3643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69" name="公式" r:id="rId13" imgW="5232240" imgH="1054080" progId="Equation.3">
                    <p:embed/>
                  </p:oleObj>
                </mc:Choice>
                <mc:Fallback>
                  <p:oleObj name="公式" r:id="rId13" imgW="5232240" imgH="1054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346"/>
                          <a:ext cx="3643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94" name="Text Box 18"/>
            <p:cNvSpPr txBox="1">
              <a:spLocks noChangeArrowheads="1"/>
            </p:cNvSpPr>
            <p:nvPr/>
          </p:nvSpPr>
          <p:spPr bwMode="auto">
            <a:xfrm>
              <a:off x="536" y="506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291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90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31" name="Object 1031"/>
          <p:cNvGraphicFramePr>
            <a:graphicFrameLocks noChangeAspect="1"/>
          </p:cNvGraphicFramePr>
          <p:nvPr/>
        </p:nvGraphicFramePr>
        <p:xfrm>
          <a:off x="914400" y="838200"/>
          <a:ext cx="7391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Equation" r:id="rId3" imgW="7391160" imgH="1091880" progId="Equation.3">
                  <p:embed/>
                </p:oleObj>
              </mc:Choice>
              <mc:Fallback>
                <p:oleObj name="Equation" r:id="rId3" imgW="739116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38200"/>
                        <a:ext cx="73914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2" name="Text Box 1032"/>
          <p:cNvSpPr txBox="1">
            <a:spLocks noChangeArrowheads="1"/>
          </p:cNvSpPr>
          <p:nvPr/>
        </p:nvSpPr>
        <p:spPr bwMode="auto">
          <a:xfrm>
            <a:off x="852488" y="224313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</a:rPr>
              <a:t>根据</a:t>
            </a:r>
            <a:r>
              <a:rPr kumimoji="1" lang="en-US" altLang="zh-CN" sz="2800" b="1" i="1">
                <a:solidFill>
                  <a:srgbClr val="000000"/>
                </a:solidFill>
              </a:rPr>
              <a:t>F</a:t>
            </a:r>
            <a:r>
              <a:rPr kumimoji="1" lang="zh-CN" altLang="en-US" sz="2800" b="1">
                <a:solidFill>
                  <a:srgbClr val="000000"/>
                </a:solidFill>
              </a:rPr>
              <a:t>分布的定义, 知</a:t>
            </a:r>
            <a:endParaRPr kumimoji="1" lang="zh-CN" altLang="en-US" sz="2800" b="1" i="1">
              <a:solidFill>
                <a:srgbClr val="000000"/>
              </a:solidFill>
            </a:endParaRPr>
          </a:p>
        </p:txBody>
      </p:sp>
      <p:graphicFrame>
        <p:nvGraphicFramePr>
          <p:cNvPr id="77833" name="Object 1033"/>
          <p:cNvGraphicFramePr>
            <a:graphicFrameLocks noChangeAspect="1"/>
          </p:cNvGraphicFramePr>
          <p:nvPr/>
        </p:nvGraphicFramePr>
        <p:xfrm>
          <a:off x="4337050" y="1966913"/>
          <a:ext cx="4203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Equation" r:id="rId5" imgW="4203360" imgH="1143000" progId="Equation.3">
                  <p:embed/>
                </p:oleObj>
              </mc:Choice>
              <mc:Fallback>
                <p:oleObj name="Equation" r:id="rId5" imgW="420336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1966913"/>
                        <a:ext cx="42037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4" name="Object 1034"/>
          <p:cNvGraphicFramePr>
            <a:graphicFrameLocks noChangeAspect="1"/>
          </p:cNvGraphicFramePr>
          <p:nvPr/>
        </p:nvGraphicFramePr>
        <p:xfrm>
          <a:off x="838200" y="3884613"/>
          <a:ext cx="21717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9" name="Equation" r:id="rId7" imgW="2171520" imgH="1155600" progId="Equation.3">
                  <p:embed/>
                </p:oleObj>
              </mc:Choice>
              <mc:Fallback>
                <p:oleObj name="Equation" r:id="rId7" imgW="2171520" imgH="11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4613"/>
                        <a:ext cx="21717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5" name="Object 1035"/>
          <p:cNvGraphicFramePr>
            <a:graphicFrameLocks noChangeAspect="1"/>
          </p:cNvGraphicFramePr>
          <p:nvPr/>
        </p:nvGraphicFramePr>
        <p:xfrm>
          <a:off x="2828925" y="3378200"/>
          <a:ext cx="32131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0" name="Equation" r:id="rId9" imgW="3213000" imgH="2184120" progId="Equation.3">
                  <p:embed/>
                </p:oleObj>
              </mc:Choice>
              <mc:Fallback>
                <p:oleObj name="Equation" r:id="rId9" imgW="3213000" imgH="218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3378200"/>
                        <a:ext cx="32131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1036"/>
          <p:cNvGraphicFramePr>
            <a:graphicFrameLocks noChangeAspect="1"/>
          </p:cNvGraphicFramePr>
          <p:nvPr/>
        </p:nvGraphicFramePr>
        <p:xfrm>
          <a:off x="5842000" y="4271963"/>
          <a:ext cx="292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1" name="Equation" r:id="rId11" imgW="2920680" imgH="419040" progId="Equation.3">
                  <p:embed/>
                </p:oleObj>
              </mc:Choice>
              <mc:Fallback>
                <p:oleObj name="Equation" r:id="rId11" imgW="2920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4271963"/>
                        <a:ext cx="292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56788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903288" y="762000"/>
          <a:ext cx="7872412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0" name="Equation" r:id="rId3" imgW="8267400" imgH="1574640" progId="Equation.3">
                  <p:embed/>
                </p:oleObj>
              </mc:Choice>
              <mc:Fallback>
                <p:oleObj name="Equation" r:id="rId3" imgW="8267400" imgH="1574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762000"/>
                        <a:ext cx="7872412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890588" y="2438400"/>
          <a:ext cx="8101012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1" name="Equation" r:id="rId5" imgW="8483400" imgH="1574640" progId="Equation.3">
                  <p:embed/>
                </p:oleObj>
              </mc:Choice>
              <mc:Fallback>
                <p:oleObj name="Equation" r:id="rId5" imgW="8483400" imgH="1574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2438400"/>
                        <a:ext cx="8101012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762000" y="3967163"/>
          <a:ext cx="7340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2" name="Equation" r:id="rId7" imgW="7340400" imgH="1028520" progId="Equation.3">
                  <p:embed/>
                </p:oleObj>
              </mc:Choice>
              <mc:Fallback>
                <p:oleObj name="Equation" r:id="rId7" imgW="734040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967163"/>
                        <a:ext cx="7340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914400" y="4953000"/>
          <a:ext cx="7594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3" name="Equation" r:id="rId9" imgW="7594560" imgH="1066680" progId="Equation.3">
                  <p:embed/>
                </p:oleObj>
              </mc:Choice>
              <mc:Fallback>
                <p:oleObj name="Equation" r:id="rId9" imgW="759456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953000"/>
                        <a:ext cx="7594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78948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831850" y="5105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78856" name="Object 8"/>
          <p:cNvGraphicFramePr>
            <a:graphicFrameLocks noChangeAspect="1"/>
          </p:cNvGraphicFramePr>
          <p:nvPr/>
        </p:nvGraphicFramePr>
        <p:xfrm>
          <a:off x="1625600" y="5222875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1" name="Equation" r:id="rId3" imgW="1130040" imgH="419040" progId="Equation.3">
                  <p:embed/>
                </p:oleObj>
              </mc:Choice>
              <mc:Fallback>
                <p:oleObj name="Equation" r:id="rId3" imgW="1130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5222875"/>
                        <a:ext cx="1130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/>
          <p:cNvGraphicFramePr>
            <a:graphicFrameLocks noChangeAspect="1"/>
          </p:cNvGraphicFramePr>
          <p:nvPr/>
        </p:nvGraphicFramePr>
        <p:xfrm>
          <a:off x="3187700" y="5237163"/>
          <a:ext cx="115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2" name="Equation" r:id="rId5" imgW="1155600" imgH="419040" progId="Equation.3">
                  <p:embed/>
                </p:oleObj>
              </mc:Choice>
              <mc:Fallback>
                <p:oleObj name="Equation" r:id="rId5" imgW="1155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5237163"/>
                        <a:ext cx="1155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889" name="Group 41"/>
          <p:cNvGrpSpPr>
            <a:grpSpLocks/>
          </p:cNvGrpSpPr>
          <p:nvPr/>
        </p:nvGrpSpPr>
        <p:grpSpPr bwMode="auto">
          <a:xfrm>
            <a:off x="838200" y="735013"/>
            <a:ext cx="8153400" cy="4473575"/>
            <a:chOff x="528" y="463"/>
            <a:chExt cx="5136" cy="2818"/>
          </a:xfrm>
        </p:grpSpPr>
        <p:sp>
          <p:nvSpPr>
            <p:cNvPr id="78853" name="Rectangle 5"/>
            <p:cNvSpPr>
              <a:spLocks noChangeArrowheads="1"/>
            </p:cNvSpPr>
            <p:nvPr/>
          </p:nvSpPr>
          <p:spPr bwMode="auto">
            <a:xfrm>
              <a:off x="537" y="463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kumimoji="1" lang="zh-CN" altLang="en-US" sz="2800" b="1">
                  <a:solidFill>
                    <a:srgbClr val="000000"/>
                  </a:solidFill>
                  <a:ea typeface="黑体" pitchFamily="2" charset="-122"/>
                </a:rPr>
                <a:t>9</a:t>
              </a:r>
            </a:p>
          </p:txBody>
        </p:sp>
        <p:sp>
          <p:nvSpPr>
            <p:cNvPr id="78854" name="Text Box 6"/>
            <p:cNvSpPr txBox="1">
              <a:spLocks noChangeArrowheads="1"/>
            </p:cNvSpPr>
            <p:nvPr/>
          </p:nvSpPr>
          <p:spPr bwMode="auto">
            <a:xfrm>
              <a:off x="1039" y="476"/>
              <a:ext cx="44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研究由机器 </a:t>
              </a:r>
              <a:r>
                <a:rPr kumimoji="1" lang="en-US" altLang="zh-CN" sz="2800" b="1" i="1">
                  <a:solidFill>
                    <a:srgbClr val="000000"/>
                  </a:solidFill>
                </a:rPr>
                <a:t>A </a:t>
              </a:r>
              <a:r>
                <a:rPr kumimoji="1" lang="zh-CN" altLang="en-US" sz="2800" b="1">
                  <a:solidFill>
                    <a:srgbClr val="000000"/>
                  </a:solidFill>
                </a:rPr>
                <a:t>和机器 </a:t>
              </a:r>
              <a:r>
                <a:rPr kumimoji="1" lang="en-US" altLang="zh-CN" sz="2800" b="1" i="1">
                  <a:solidFill>
                    <a:srgbClr val="000000"/>
                  </a:solidFill>
                </a:rPr>
                <a:t>B </a:t>
              </a:r>
              <a:r>
                <a:rPr kumimoji="1" lang="zh-CN" altLang="en-US" sz="2800" b="1">
                  <a:solidFill>
                    <a:srgbClr val="000000"/>
                  </a:solidFill>
                </a:rPr>
                <a:t>生产的钢管内径, 随</a:t>
              </a:r>
              <a:endParaRPr kumimoji="1" lang="zh-CN" altLang="en-US" sz="2800" b="1">
                <a:solidFill>
                  <a:srgbClr val="000000"/>
                </a:solidFill>
                <a:sym typeface="Math3" pitchFamily="2" charset="2"/>
              </a:endParaRPr>
            </a:p>
          </p:txBody>
        </p:sp>
        <p:sp>
          <p:nvSpPr>
            <p:cNvPr id="78855" name="Text Box 7"/>
            <p:cNvSpPr txBox="1">
              <a:spLocks noChangeArrowheads="1"/>
            </p:cNvSpPr>
            <p:nvPr/>
          </p:nvSpPr>
          <p:spPr bwMode="auto">
            <a:xfrm>
              <a:off x="550" y="816"/>
              <a:ext cx="4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机抽取机器 </a:t>
              </a:r>
              <a:r>
                <a:rPr kumimoji="1" lang="en-US" altLang="zh-CN" sz="2800" b="1" i="1">
                  <a:solidFill>
                    <a:srgbClr val="000000"/>
                  </a:solidFill>
                </a:rPr>
                <a:t>A </a:t>
              </a:r>
              <a:r>
                <a:rPr kumimoji="1" lang="zh-CN" altLang="en-US" sz="2800" b="1">
                  <a:solidFill>
                    <a:srgbClr val="000000"/>
                  </a:solidFill>
                </a:rPr>
                <a:t>生产的管子 18 只, 测得样本方差为</a:t>
              </a:r>
            </a:p>
          </p:txBody>
        </p:sp>
        <p:sp>
          <p:nvSpPr>
            <p:cNvPr id="78860" name="Rectangle 12"/>
            <p:cNvSpPr>
              <a:spLocks noChangeArrowheads="1"/>
            </p:cNvSpPr>
            <p:nvPr/>
          </p:nvSpPr>
          <p:spPr bwMode="auto">
            <a:xfrm>
              <a:off x="550" y="2606"/>
              <a:ext cx="19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均未知, 求方差比</a:t>
              </a:r>
            </a:p>
          </p:txBody>
        </p:sp>
        <p:graphicFrame>
          <p:nvGraphicFramePr>
            <p:cNvPr id="78861" name="Object 13"/>
            <p:cNvGraphicFramePr>
              <a:graphicFrameLocks noChangeAspect="1"/>
            </p:cNvGraphicFramePr>
            <p:nvPr/>
          </p:nvGraphicFramePr>
          <p:xfrm>
            <a:off x="3104" y="2641"/>
            <a:ext cx="232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3" name="Equation" r:id="rId7" imgW="3682800" imgH="444240" progId="Equation.3">
                    <p:embed/>
                  </p:oleObj>
                </mc:Choice>
                <mc:Fallback>
                  <p:oleObj name="Equation" r:id="rId7" imgW="368280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4" y="2641"/>
                          <a:ext cx="2320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62" name="Text Box 14"/>
            <p:cNvSpPr txBox="1">
              <a:spLocks noChangeArrowheads="1"/>
            </p:cNvSpPr>
            <p:nvPr/>
          </p:nvSpPr>
          <p:spPr bwMode="auto">
            <a:xfrm>
              <a:off x="537" y="2954"/>
              <a:ext cx="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区间.</a:t>
              </a:r>
            </a:p>
          </p:txBody>
        </p:sp>
        <p:sp>
          <p:nvSpPr>
            <p:cNvPr id="78864" name="Rectangle 16"/>
            <p:cNvSpPr>
              <a:spLocks noChangeArrowheads="1"/>
            </p:cNvSpPr>
            <p:nvPr/>
          </p:nvSpPr>
          <p:spPr bwMode="auto">
            <a:xfrm>
              <a:off x="3648" y="1497"/>
              <a:ext cx="2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设两样本相互独</a:t>
              </a:r>
            </a:p>
          </p:txBody>
        </p:sp>
        <p:graphicFrame>
          <p:nvGraphicFramePr>
            <p:cNvPr id="78866" name="Object 18"/>
            <p:cNvGraphicFramePr>
              <a:graphicFrameLocks noChangeAspect="1"/>
            </p:cNvGraphicFramePr>
            <p:nvPr/>
          </p:nvGraphicFramePr>
          <p:xfrm>
            <a:off x="548" y="1156"/>
            <a:ext cx="16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4" name="公式" r:id="rId9" imgW="2679480" imgH="495000" progId="Equation.3">
                    <p:embed/>
                  </p:oleObj>
                </mc:Choice>
                <mc:Fallback>
                  <p:oleObj name="公式" r:id="rId9" imgW="2679480" imgH="49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" y="1156"/>
                          <a:ext cx="168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72" name="Object 24"/>
            <p:cNvGraphicFramePr>
              <a:graphicFrameLocks noChangeAspect="1"/>
            </p:cNvGraphicFramePr>
            <p:nvPr/>
          </p:nvGraphicFramePr>
          <p:xfrm>
            <a:off x="1960" y="1505"/>
            <a:ext cx="16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5" name="公式" r:id="rId11" imgW="2679480" imgH="495000" progId="Equation.3">
                    <p:embed/>
                  </p:oleObj>
                </mc:Choice>
                <mc:Fallback>
                  <p:oleObj name="公式" r:id="rId11" imgW="2679480" imgH="49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0" y="1505"/>
                          <a:ext cx="168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74" name="Rectangle 26"/>
            <p:cNvSpPr>
              <a:spLocks noChangeArrowheads="1"/>
            </p:cNvSpPr>
            <p:nvPr/>
          </p:nvSpPr>
          <p:spPr bwMode="auto">
            <a:xfrm>
              <a:off x="2208" y="1152"/>
              <a:ext cx="33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抽取机器</a:t>
              </a:r>
              <a:r>
                <a:rPr kumimoji="1" lang="en-US" altLang="zh-CN" sz="2800" b="1" i="1">
                  <a:solidFill>
                    <a:srgbClr val="000000"/>
                  </a:solidFill>
                </a:rPr>
                <a:t>B</a:t>
              </a:r>
              <a:r>
                <a:rPr kumimoji="1" lang="zh-CN" altLang="en-US" sz="2800" b="1">
                  <a:solidFill>
                    <a:srgbClr val="000000"/>
                  </a:solidFill>
                </a:rPr>
                <a:t>生产的管子 13 只,  测</a:t>
              </a:r>
            </a:p>
          </p:txBody>
        </p:sp>
        <p:sp>
          <p:nvSpPr>
            <p:cNvPr id="78875" name="Rectangle 27"/>
            <p:cNvSpPr>
              <a:spLocks noChangeArrowheads="1"/>
            </p:cNvSpPr>
            <p:nvPr/>
          </p:nvSpPr>
          <p:spPr bwMode="auto">
            <a:xfrm>
              <a:off x="550" y="1488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得样本方差为</a:t>
              </a:r>
            </a:p>
          </p:txBody>
        </p:sp>
        <p:sp>
          <p:nvSpPr>
            <p:cNvPr id="78876" name="Rectangle 28"/>
            <p:cNvSpPr>
              <a:spLocks noChangeArrowheads="1"/>
            </p:cNvSpPr>
            <p:nvPr/>
          </p:nvSpPr>
          <p:spPr bwMode="auto">
            <a:xfrm>
              <a:off x="528" y="1872"/>
              <a:ext cx="5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立,且设由机器 </a:t>
              </a:r>
              <a:r>
                <a:rPr kumimoji="1" lang="en-US" altLang="zh-CN" sz="2800" b="1" i="1">
                  <a:solidFill>
                    <a:srgbClr val="000000"/>
                  </a:solidFill>
                </a:rPr>
                <a:t>A </a:t>
              </a:r>
              <a:r>
                <a:rPr kumimoji="1" lang="zh-CN" altLang="en-US" sz="2800" b="1">
                  <a:solidFill>
                    <a:srgbClr val="000000"/>
                  </a:solidFill>
                </a:rPr>
                <a:t>和机器 </a:t>
              </a:r>
              <a:r>
                <a:rPr kumimoji="1" lang="en-US" altLang="zh-CN" sz="2800" b="1" i="1">
                  <a:solidFill>
                    <a:srgbClr val="000000"/>
                  </a:solidFill>
                </a:rPr>
                <a:t>B </a:t>
              </a:r>
              <a:r>
                <a:rPr kumimoji="1" lang="zh-CN" altLang="en-US" sz="2800" b="1">
                  <a:solidFill>
                    <a:srgbClr val="000000"/>
                  </a:solidFill>
                </a:rPr>
                <a:t>生产的钢管内径分别服</a:t>
              </a:r>
            </a:p>
          </p:txBody>
        </p:sp>
        <p:sp>
          <p:nvSpPr>
            <p:cNvPr id="78877" name="Rectangle 29"/>
            <p:cNvSpPr>
              <a:spLocks noChangeArrowheads="1"/>
            </p:cNvSpPr>
            <p:nvPr/>
          </p:nvSpPr>
          <p:spPr bwMode="auto">
            <a:xfrm>
              <a:off x="537" y="2207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从正态分布</a:t>
              </a:r>
            </a:p>
          </p:txBody>
        </p:sp>
        <p:graphicFrame>
          <p:nvGraphicFramePr>
            <p:cNvPr id="78878" name="Object 30"/>
            <p:cNvGraphicFramePr>
              <a:graphicFrameLocks noChangeAspect="1"/>
            </p:cNvGraphicFramePr>
            <p:nvPr/>
          </p:nvGraphicFramePr>
          <p:xfrm>
            <a:off x="1792" y="2230"/>
            <a:ext cx="2048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6" name="Equation" r:id="rId13" imgW="3238200" imgH="469800" progId="Equation.3">
                    <p:embed/>
                  </p:oleObj>
                </mc:Choice>
                <mc:Fallback>
                  <p:oleObj name="Equation" r:id="rId13" imgW="323820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2" y="2230"/>
                          <a:ext cx="2048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79" name="Object 31"/>
            <p:cNvGraphicFramePr>
              <a:graphicFrameLocks noChangeAspect="1"/>
            </p:cNvGraphicFramePr>
            <p:nvPr/>
          </p:nvGraphicFramePr>
          <p:xfrm>
            <a:off x="3896" y="2195"/>
            <a:ext cx="133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7" name="Equation" r:id="rId15" imgW="2120760" imgH="520560" progId="Equation.3">
                    <p:embed/>
                  </p:oleObj>
                </mc:Choice>
                <mc:Fallback>
                  <p:oleObj name="Equation" r:id="rId15" imgW="2120760" imgH="520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6" y="2195"/>
                          <a:ext cx="1336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80" name="Object 32"/>
            <p:cNvGraphicFramePr>
              <a:graphicFrameLocks noChangeAspect="1"/>
            </p:cNvGraphicFramePr>
            <p:nvPr/>
          </p:nvGraphicFramePr>
          <p:xfrm>
            <a:off x="2312" y="2592"/>
            <a:ext cx="76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8" name="Equation" r:id="rId17" imgW="1206360" imgH="507960" progId="Equation.3">
                    <p:embed/>
                  </p:oleObj>
                </mc:Choice>
                <mc:Fallback>
                  <p:oleObj name="Equation" r:id="rId17" imgW="1206360" imgH="507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2" y="2592"/>
                          <a:ext cx="76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81" name="Rectangle 33"/>
            <p:cNvSpPr>
              <a:spLocks noChangeArrowheads="1"/>
            </p:cNvSpPr>
            <p:nvPr/>
          </p:nvSpPr>
          <p:spPr bwMode="auto">
            <a:xfrm>
              <a:off x="5136" y="259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信</a:t>
              </a:r>
            </a:p>
          </p:txBody>
        </p:sp>
      </p:grpSp>
      <p:graphicFrame>
        <p:nvGraphicFramePr>
          <p:cNvPr id="78883" name="Object 35"/>
          <p:cNvGraphicFramePr>
            <a:graphicFrameLocks noChangeAspect="1"/>
          </p:cNvGraphicFramePr>
          <p:nvPr/>
        </p:nvGraphicFramePr>
        <p:xfrm>
          <a:off x="4946650" y="5257800"/>
          <a:ext cx="1346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9" name="Equation" r:id="rId19" imgW="1346040" imgH="368280" progId="Equation.3">
                  <p:embed/>
                </p:oleObj>
              </mc:Choice>
              <mc:Fallback>
                <p:oleObj name="Equation" r:id="rId19" imgW="13460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5257800"/>
                        <a:ext cx="1346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4" name="Object 36"/>
          <p:cNvGraphicFramePr>
            <a:graphicFrameLocks noChangeAspect="1"/>
          </p:cNvGraphicFramePr>
          <p:nvPr/>
        </p:nvGraphicFramePr>
        <p:xfrm>
          <a:off x="1479550" y="5753100"/>
          <a:ext cx="2667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0" name="公式" r:id="rId21" imgW="2666880" imgH="495000" progId="Equation.3">
                  <p:embed/>
                </p:oleObj>
              </mc:Choice>
              <mc:Fallback>
                <p:oleObj name="公式" r:id="rId21" imgW="26668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5753100"/>
                        <a:ext cx="2667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5" name="Object 37"/>
          <p:cNvGraphicFramePr>
            <a:graphicFrameLocks noChangeAspect="1"/>
          </p:cNvGraphicFramePr>
          <p:nvPr/>
        </p:nvGraphicFramePr>
        <p:xfrm>
          <a:off x="4591050" y="5753100"/>
          <a:ext cx="2692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name="公式" r:id="rId23" imgW="2692080" imgH="495000" progId="Equation.3">
                  <p:embed/>
                </p:oleObj>
              </mc:Choice>
              <mc:Fallback>
                <p:oleObj name="公式" r:id="rId23" imgW="26920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5753100"/>
                        <a:ext cx="2692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16901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914400" y="838200"/>
          <a:ext cx="579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0" name="Equation" r:id="rId3" imgW="5790960" imgH="431640" progId="Equation.3">
                  <p:embed/>
                </p:oleObj>
              </mc:Choice>
              <mc:Fallback>
                <p:oleObj name="Equation" r:id="rId3" imgW="5790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38200"/>
                        <a:ext cx="5791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914400" y="1752600"/>
          <a:ext cx="407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1" name="Equation" r:id="rId5" imgW="4076640" imgH="431640" progId="Equation.3">
                  <p:embed/>
                </p:oleObj>
              </mc:Choice>
              <mc:Fallback>
                <p:oleObj name="Equation" r:id="rId5" imgW="4076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52600"/>
                        <a:ext cx="4076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5029200" y="1489075"/>
          <a:ext cx="3200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2" name="Equation" r:id="rId7" imgW="3200400" imgH="927000" progId="Equation.3">
                  <p:embed/>
                </p:oleObj>
              </mc:Choice>
              <mc:Fallback>
                <p:oleObj name="Equation" r:id="rId7" imgW="32004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489075"/>
                        <a:ext cx="3200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768350" y="2590800"/>
          <a:ext cx="7239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3" name="Equation" r:id="rId9" imgW="7238880" imgH="1028520" progId="Equation.3">
                  <p:embed/>
                </p:oleObj>
              </mc:Choice>
              <mc:Fallback>
                <p:oleObj name="Equation" r:id="rId9" imgW="723888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2590800"/>
                        <a:ext cx="72390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8"/>
          <p:cNvGraphicFramePr>
            <a:graphicFrameLocks noChangeAspect="1"/>
          </p:cNvGraphicFramePr>
          <p:nvPr/>
        </p:nvGraphicFramePr>
        <p:xfrm>
          <a:off x="1012825" y="3810000"/>
          <a:ext cx="3810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4" name="Equation" r:id="rId11" imgW="3809880" imgH="914400" progId="Equation.3">
                  <p:embed/>
                </p:oleObj>
              </mc:Choice>
              <mc:Fallback>
                <p:oleObj name="Equation" r:id="rId11" imgW="38098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3810000"/>
                        <a:ext cx="3810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Object 9"/>
          <p:cNvGraphicFramePr>
            <a:graphicFrameLocks noChangeAspect="1"/>
          </p:cNvGraphicFramePr>
          <p:nvPr/>
        </p:nvGraphicFramePr>
        <p:xfrm>
          <a:off x="4876800" y="4073525"/>
          <a:ext cx="213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Equation" r:id="rId13" imgW="2133360" imgH="419040" progId="Equation.3">
                  <p:embed/>
                </p:oleObj>
              </mc:Choice>
              <mc:Fallback>
                <p:oleObj name="Equation" r:id="rId13" imgW="2133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073525"/>
                        <a:ext cx="2133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55662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831850" y="48260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80902" name="Object 6"/>
          <p:cNvGraphicFramePr>
            <a:graphicFrameLocks noChangeAspect="1"/>
          </p:cNvGraphicFramePr>
          <p:nvPr/>
        </p:nvGraphicFramePr>
        <p:xfrm>
          <a:off x="1708150" y="4881563"/>
          <a:ext cx="96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Equation" r:id="rId3" imgW="965160" imgH="419040" progId="Equation.3">
                  <p:embed/>
                </p:oleObj>
              </mc:Choice>
              <mc:Fallback>
                <p:oleObj name="Equation" r:id="rId3" imgW="965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4881563"/>
                        <a:ext cx="965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3270250" y="4895850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7" name="Equation" r:id="rId5" imgW="990360" imgH="419040" progId="Equation.3">
                  <p:embed/>
                </p:oleObj>
              </mc:Choice>
              <mc:Fallback>
                <p:oleObj name="Equation" r:id="rId5" imgW="990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4895850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8" name="Object 22"/>
          <p:cNvGraphicFramePr>
            <a:graphicFrameLocks noChangeAspect="1"/>
          </p:cNvGraphicFramePr>
          <p:nvPr/>
        </p:nvGraphicFramePr>
        <p:xfrm>
          <a:off x="4946650" y="4916488"/>
          <a:ext cx="1346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Equation" r:id="rId7" imgW="1346040" imgH="368280" progId="Equation.3">
                  <p:embed/>
                </p:oleObj>
              </mc:Choice>
              <mc:Fallback>
                <p:oleObj name="Equation" r:id="rId7" imgW="13460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4916488"/>
                        <a:ext cx="1346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22" name="Group 26"/>
          <p:cNvGrpSpPr>
            <a:grpSpLocks/>
          </p:cNvGrpSpPr>
          <p:nvPr/>
        </p:nvGrpSpPr>
        <p:grpSpPr bwMode="auto">
          <a:xfrm>
            <a:off x="831850" y="735013"/>
            <a:ext cx="8027988" cy="3984625"/>
            <a:chOff x="524" y="463"/>
            <a:chExt cx="5057" cy="2510"/>
          </a:xfrm>
        </p:grpSpPr>
        <p:sp>
          <p:nvSpPr>
            <p:cNvPr id="80899" name="Rectangle 3"/>
            <p:cNvSpPr>
              <a:spLocks noChangeArrowheads="1"/>
            </p:cNvSpPr>
            <p:nvPr/>
          </p:nvSpPr>
          <p:spPr bwMode="auto">
            <a:xfrm>
              <a:off x="537" y="463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kumimoji="1" lang="zh-CN" altLang="en-US" sz="2800" b="1">
                  <a:solidFill>
                    <a:srgbClr val="000000"/>
                  </a:solidFill>
                  <a:ea typeface="黑体" pitchFamily="2" charset="-122"/>
                </a:rPr>
                <a:t>10</a:t>
              </a:r>
            </a:p>
          </p:txBody>
        </p:sp>
        <p:sp>
          <p:nvSpPr>
            <p:cNvPr id="80900" name="Text Box 4"/>
            <p:cNvSpPr txBox="1">
              <a:spLocks noChangeArrowheads="1"/>
            </p:cNvSpPr>
            <p:nvPr/>
          </p:nvSpPr>
          <p:spPr bwMode="auto">
            <a:xfrm>
              <a:off x="1117" y="476"/>
              <a:ext cx="44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甲、乙两台机床加工同一种零件, 在机床甲</a:t>
              </a:r>
              <a:endParaRPr kumimoji="1" lang="zh-CN" altLang="en-US" sz="2800" b="1">
                <a:solidFill>
                  <a:srgbClr val="000000"/>
                </a:solidFill>
                <a:sym typeface="Math3" pitchFamily="2" charset="2"/>
              </a:endParaRPr>
            </a:p>
          </p:txBody>
        </p:sp>
        <p:sp>
          <p:nvSpPr>
            <p:cNvPr id="80901" name="Text Box 5"/>
            <p:cNvSpPr txBox="1">
              <a:spLocks noChangeArrowheads="1"/>
            </p:cNvSpPr>
            <p:nvPr/>
          </p:nvSpPr>
          <p:spPr bwMode="auto">
            <a:xfrm>
              <a:off x="550" y="816"/>
              <a:ext cx="4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加工的零件中抽取9个样品, 在机床乙加工的零件</a:t>
              </a:r>
            </a:p>
          </p:txBody>
        </p:sp>
        <p:sp>
          <p:nvSpPr>
            <p:cNvPr id="80903" name="Rectangle 7"/>
            <p:cNvSpPr>
              <a:spLocks noChangeArrowheads="1"/>
            </p:cNvSpPr>
            <p:nvPr/>
          </p:nvSpPr>
          <p:spPr bwMode="auto">
            <a:xfrm>
              <a:off x="537" y="2291"/>
              <a:ext cx="4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信区间. 假定测量值都服从正态分布, 方差分别为</a:t>
              </a:r>
            </a:p>
          </p:txBody>
        </p:sp>
        <p:sp>
          <p:nvSpPr>
            <p:cNvPr id="80905" name="Text Box 9"/>
            <p:cNvSpPr txBox="1">
              <a:spLocks noChangeArrowheads="1"/>
            </p:cNvSpPr>
            <p:nvPr/>
          </p:nvSpPr>
          <p:spPr bwMode="auto">
            <a:xfrm>
              <a:off x="4822" y="1907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的置</a:t>
              </a:r>
            </a:p>
          </p:txBody>
        </p:sp>
        <p:sp>
          <p:nvSpPr>
            <p:cNvPr id="80906" name="Rectangle 10"/>
            <p:cNvSpPr>
              <a:spLocks noChangeArrowheads="1"/>
            </p:cNvSpPr>
            <p:nvPr/>
          </p:nvSpPr>
          <p:spPr bwMode="auto">
            <a:xfrm>
              <a:off x="4364" y="1558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sym typeface="Math3" pitchFamily="2" charset="2"/>
                </a:rPr>
                <a:t>在置信度</a:t>
              </a:r>
            </a:p>
          </p:txBody>
        </p:sp>
        <p:graphicFrame>
          <p:nvGraphicFramePr>
            <p:cNvPr id="80907" name="Object 11"/>
            <p:cNvGraphicFramePr>
              <a:graphicFrameLocks noChangeAspect="1"/>
            </p:cNvGraphicFramePr>
            <p:nvPr/>
          </p:nvGraphicFramePr>
          <p:xfrm>
            <a:off x="2130" y="1567"/>
            <a:ext cx="111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89" name="Equation" r:id="rId9" imgW="1765080" imgH="507960" progId="Equation.3">
                    <p:embed/>
                  </p:oleObj>
                </mc:Choice>
                <mc:Fallback>
                  <p:oleObj name="Equation" r:id="rId9" imgW="1765080" imgH="507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" y="1567"/>
                          <a:ext cx="111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9" name="Object 13"/>
            <p:cNvGraphicFramePr>
              <a:graphicFrameLocks noChangeAspect="1"/>
            </p:cNvGraphicFramePr>
            <p:nvPr/>
          </p:nvGraphicFramePr>
          <p:xfrm>
            <a:off x="3291" y="1571"/>
            <a:ext cx="112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0" name="Equation" r:id="rId11" imgW="1790640" imgH="507960" progId="Equation.3">
                    <p:embed/>
                  </p:oleObj>
                </mc:Choice>
                <mc:Fallback>
                  <p:oleObj name="Equation" r:id="rId11" imgW="1790640" imgH="507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1571"/>
                          <a:ext cx="112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10" name="Rectangle 14"/>
            <p:cNvSpPr>
              <a:spLocks noChangeArrowheads="1"/>
            </p:cNvSpPr>
            <p:nvPr/>
          </p:nvSpPr>
          <p:spPr bwMode="auto">
            <a:xfrm>
              <a:off x="524" y="1571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由所给数据算得</a:t>
              </a:r>
            </a:p>
          </p:txBody>
        </p:sp>
        <p:sp>
          <p:nvSpPr>
            <p:cNvPr id="80912" name="Rectangle 16"/>
            <p:cNvSpPr>
              <a:spLocks noChangeArrowheads="1"/>
            </p:cNvSpPr>
            <p:nvPr/>
          </p:nvSpPr>
          <p:spPr bwMode="auto">
            <a:xfrm>
              <a:off x="576" y="1920"/>
              <a:ext cx="4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0.98下, 试求这两台机床加工精度之比</a:t>
              </a:r>
            </a:p>
          </p:txBody>
        </p:sp>
        <p:graphicFrame>
          <p:nvGraphicFramePr>
            <p:cNvPr id="80914" name="Object 18"/>
            <p:cNvGraphicFramePr>
              <a:graphicFrameLocks noChangeAspect="1"/>
            </p:cNvGraphicFramePr>
            <p:nvPr/>
          </p:nvGraphicFramePr>
          <p:xfrm>
            <a:off x="548" y="2675"/>
            <a:ext cx="699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1" name="Equation" r:id="rId13" imgW="1104840" imgH="469800" progId="Equation.3">
                    <p:embed/>
                  </p:oleObj>
                </mc:Choice>
                <mc:Fallback>
                  <p:oleObj name="Equation" r:id="rId13" imgW="110484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" y="2675"/>
                          <a:ext cx="699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6" name="Object 20"/>
            <p:cNvGraphicFramePr>
              <a:graphicFrameLocks noChangeAspect="1"/>
            </p:cNvGraphicFramePr>
            <p:nvPr/>
          </p:nvGraphicFramePr>
          <p:xfrm>
            <a:off x="4299" y="1955"/>
            <a:ext cx="59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2" name="Equation" r:id="rId15" imgW="939600" imgH="419040" progId="Equation.3">
                    <p:embed/>
                  </p:oleObj>
                </mc:Choice>
                <mc:Fallback>
                  <p:oleObj name="Equation" r:id="rId15" imgW="9396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9" y="1955"/>
                          <a:ext cx="59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19" name="Rectangle 23"/>
            <p:cNvSpPr>
              <a:spLocks noChangeArrowheads="1"/>
            </p:cNvSpPr>
            <p:nvPr/>
          </p:nvSpPr>
          <p:spPr bwMode="auto">
            <a:xfrm>
              <a:off x="537" y="1200"/>
              <a:ext cx="4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</a:rPr>
                <a:t>中抽取6个样品,并分别测得它们的长度(单位:</a:t>
              </a:r>
              <a:r>
                <a:rPr kumimoji="1" lang="en-US" altLang="zh-CN" sz="2800" b="1">
                  <a:solidFill>
                    <a:srgbClr val="000000"/>
                  </a:solidFill>
                  <a:cs typeface="Times New Roman" pitchFamily="18" charset="0"/>
                </a:rPr>
                <a:t>mm</a:t>
              </a:r>
              <a:r>
                <a:rPr kumimoji="1" lang="en-US" altLang="zh-CN" sz="2800" b="1">
                  <a:solidFill>
                    <a:srgbClr val="000000"/>
                  </a:solidFill>
                </a:rPr>
                <a:t>),</a:t>
              </a:r>
            </a:p>
          </p:txBody>
        </p:sp>
      </p:grpSp>
      <p:graphicFrame>
        <p:nvGraphicFramePr>
          <p:cNvPr id="80920" name="Object 24"/>
          <p:cNvGraphicFramePr>
            <a:graphicFrameLocks noChangeAspect="1"/>
          </p:cNvGraphicFramePr>
          <p:nvPr/>
        </p:nvGraphicFramePr>
        <p:xfrm>
          <a:off x="1663700" y="5511800"/>
          <a:ext cx="5664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3" name="Equation" r:id="rId17" imgW="5663880" imgH="431640" progId="Equation.3">
                  <p:embed/>
                </p:oleObj>
              </mc:Choice>
              <mc:Fallback>
                <p:oleObj name="Equation" r:id="rId17" imgW="5663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5511800"/>
                        <a:ext cx="5664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67169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990600" y="1177925"/>
          <a:ext cx="318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8" name="Equation" r:id="rId3" imgW="3187440" imgH="431640" progId="Equation.3">
                  <p:embed/>
                </p:oleObj>
              </mc:Choice>
              <mc:Fallback>
                <p:oleObj name="Equation" r:id="rId3" imgW="3187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177925"/>
                        <a:ext cx="318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4279900" y="914400"/>
          <a:ext cx="2857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9" name="Equation" r:id="rId5" imgW="2857320" imgH="927000" progId="Equation.3">
                  <p:embed/>
                </p:oleObj>
              </mc:Choice>
              <mc:Fallback>
                <p:oleObj name="Equation" r:id="rId5" imgW="285732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914400"/>
                        <a:ext cx="2857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768350" y="1911350"/>
          <a:ext cx="711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Equation" r:id="rId7" imgW="7111800" imgH="914400" progId="Equation.3">
                  <p:embed/>
                </p:oleObj>
              </mc:Choice>
              <mc:Fallback>
                <p:oleObj name="Equation" r:id="rId7" imgW="7111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1911350"/>
                        <a:ext cx="711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/>
          <p:cNvGraphicFramePr>
            <a:graphicFrameLocks noChangeAspect="1"/>
          </p:cNvGraphicFramePr>
          <p:nvPr/>
        </p:nvGraphicFramePr>
        <p:xfrm>
          <a:off x="908050" y="2921000"/>
          <a:ext cx="7988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1" name="Equation" r:id="rId9" imgW="7988040" imgH="1117440" progId="Equation.3">
                  <p:embed/>
                </p:oleObj>
              </mc:Choice>
              <mc:Fallback>
                <p:oleObj name="Equation" r:id="rId9" imgW="798804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2921000"/>
                        <a:ext cx="79883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925513" y="4445000"/>
          <a:ext cx="5143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2" name="Equation" r:id="rId11" imgW="5143320" imgH="965160" progId="Equation.3">
                  <p:embed/>
                </p:oleObj>
              </mc:Choice>
              <mc:Fallback>
                <p:oleObj name="Equation" r:id="rId11" imgW="514332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4445000"/>
                        <a:ext cx="5143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7"/>
          <p:cNvGraphicFramePr>
            <a:graphicFrameLocks noChangeAspect="1"/>
          </p:cNvGraphicFramePr>
          <p:nvPr/>
        </p:nvGraphicFramePr>
        <p:xfrm>
          <a:off x="5816600" y="4694238"/>
          <a:ext cx="248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Equation" r:id="rId13" imgW="2489040" imgH="419040" progId="Equation.3">
                  <p:embed/>
                </p:oleObj>
              </mc:Choice>
              <mc:Fallback>
                <p:oleObj name="Equation" r:id="rId13" imgW="2489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4694238"/>
                        <a:ext cx="2489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30178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00088"/>
            <a:ext cx="6697663" cy="701675"/>
          </a:xfrm>
          <a:noFill/>
          <a:ln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三、小结</a:t>
            </a: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952500" y="1676400"/>
          <a:ext cx="4991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Equation" r:id="rId3" imgW="4991040" imgH="444240" progId="Equation.3">
                  <p:embed/>
                </p:oleObj>
              </mc:Choice>
              <mc:Fallback>
                <p:oleObj name="Equation" r:id="rId3" imgW="4991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1676400"/>
                        <a:ext cx="4991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1087438" y="2687638"/>
          <a:ext cx="381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5" name="Equation" r:id="rId5" imgW="380880" imgH="965160" progId="Equation.3">
                  <p:embed/>
                </p:oleObj>
              </mc:Choice>
              <mc:Fallback>
                <p:oleObj name="Equation" r:id="rId5" imgW="3808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2687638"/>
                        <a:ext cx="381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1311275" y="2438400"/>
          <a:ext cx="229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6" name="Equation" r:id="rId7" imgW="2298600" imgH="469800" progId="Equation.3">
                  <p:embed/>
                </p:oleObj>
              </mc:Choice>
              <mc:Fallback>
                <p:oleObj name="Equation" r:id="rId7" imgW="2298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2438400"/>
                        <a:ext cx="229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3521075" y="2209800"/>
          <a:ext cx="218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7" name="Equation" r:id="rId9" imgW="2184120" imgH="914400" progId="Equation.3">
                  <p:embed/>
                </p:oleObj>
              </mc:Choice>
              <mc:Fallback>
                <p:oleObj name="Equation" r:id="rId9" imgW="2184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2209800"/>
                        <a:ext cx="218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7"/>
          <p:cNvGraphicFramePr>
            <a:graphicFrameLocks noChangeAspect="1"/>
          </p:cNvGraphicFramePr>
          <p:nvPr/>
        </p:nvGraphicFramePr>
        <p:xfrm>
          <a:off x="1311275" y="3365500"/>
          <a:ext cx="2336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8" name="Equation" r:id="rId11" imgW="2336760" imgH="469800" progId="Equation.3">
                  <p:embed/>
                </p:oleObj>
              </mc:Choice>
              <mc:Fallback>
                <p:oleObj name="Equation" r:id="rId11" imgW="2336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3365500"/>
                        <a:ext cx="2336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8"/>
          <p:cNvGraphicFramePr>
            <a:graphicFrameLocks noChangeAspect="1"/>
          </p:cNvGraphicFramePr>
          <p:nvPr/>
        </p:nvGraphicFramePr>
        <p:xfrm>
          <a:off x="3535363" y="3159125"/>
          <a:ext cx="306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9" name="Equation" r:id="rId13" imgW="3060360" imgH="914400" progId="Equation.3">
                  <p:embed/>
                </p:oleObj>
              </mc:Choice>
              <mc:Fallback>
                <p:oleObj name="Equation" r:id="rId13" imgW="30603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3159125"/>
                        <a:ext cx="306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974725" y="4248150"/>
          <a:ext cx="515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0" name="Equation" r:id="rId15" imgW="5155920" imgH="469800" progId="Equation.3">
                  <p:embed/>
                </p:oleObj>
              </mc:Choice>
              <mc:Fallback>
                <p:oleObj name="Equation" r:id="rId15" imgW="51559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4248150"/>
                        <a:ext cx="5156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10"/>
          <p:cNvGraphicFramePr>
            <a:graphicFrameLocks noChangeAspect="1"/>
          </p:cNvGraphicFramePr>
          <p:nvPr/>
        </p:nvGraphicFramePr>
        <p:xfrm>
          <a:off x="1879600" y="4953000"/>
          <a:ext cx="443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1" name="Equation" r:id="rId17" imgW="4431960" imgH="1015920" progId="Equation.3">
                  <p:embed/>
                </p:oleObj>
              </mc:Choice>
              <mc:Fallback>
                <p:oleObj name="Equation" r:id="rId17" imgW="44319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953000"/>
                        <a:ext cx="4432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37617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952500" y="838200"/>
          <a:ext cx="598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7" name="Equation" r:id="rId3" imgW="5981400" imgH="431640" progId="Equation.3">
                  <p:embed/>
                </p:oleObj>
              </mc:Choice>
              <mc:Fallback>
                <p:oleObj name="Equation" r:id="rId3" imgW="5981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838200"/>
                        <a:ext cx="5981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1019175" y="1593850"/>
          <a:ext cx="3149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Equation" r:id="rId5" imgW="3149280" imgH="507960" progId="Equation.3">
                  <p:embed/>
                </p:oleObj>
              </mc:Choice>
              <mc:Fallback>
                <p:oleObj name="Equation" r:id="rId5" imgW="31492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593850"/>
                        <a:ext cx="3149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4171950" y="1419225"/>
          <a:ext cx="38989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9" name="Equation" r:id="rId7" imgW="3898800" imgH="1117440" progId="Equation.3">
                  <p:embed/>
                </p:oleObj>
              </mc:Choice>
              <mc:Fallback>
                <p:oleObj name="Equation" r:id="rId7" imgW="389880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1419225"/>
                        <a:ext cx="38989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6"/>
          <p:cNvGraphicFramePr>
            <a:graphicFrameLocks noChangeAspect="1"/>
          </p:cNvGraphicFramePr>
          <p:nvPr/>
        </p:nvGraphicFramePr>
        <p:xfrm>
          <a:off x="1060450" y="2917825"/>
          <a:ext cx="3035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0" name="Equation" r:id="rId9" imgW="3035160" imgH="507960" progId="Equation.3">
                  <p:embed/>
                </p:oleObj>
              </mc:Choice>
              <mc:Fallback>
                <p:oleObj name="Equation" r:id="rId9" imgW="30351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2917825"/>
                        <a:ext cx="3035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4184650" y="2717800"/>
          <a:ext cx="3873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1" name="Equation" r:id="rId11" imgW="3873240" imgH="1117440" progId="Equation.3">
                  <p:embed/>
                </p:oleObj>
              </mc:Choice>
              <mc:Fallback>
                <p:oleObj name="Equation" r:id="rId11" imgW="387324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2717800"/>
                        <a:ext cx="38735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1136650" y="4089400"/>
          <a:ext cx="457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2" name="Equation" r:id="rId13" imgW="4572000" imgH="507960" progId="Equation.3">
                  <p:embed/>
                </p:oleObj>
              </mc:Choice>
              <mc:Fallback>
                <p:oleObj name="Equation" r:id="rId13" imgW="4572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4089400"/>
                        <a:ext cx="457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5" name="Object 9"/>
          <p:cNvGraphicFramePr>
            <a:graphicFrameLocks noChangeAspect="1"/>
          </p:cNvGraphicFramePr>
          <p:nvPr/>
        </p:nvGraphicFramePr>
        <p:xfrm>
          <a:off x="1192213" y="4927600"/>
          <a:ext cx="5651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3" name="Equation" r:id="rId15" imgW="5651280" imgH="1015920" progId="Equation.3">
                  <p:embed/>
                </p:oleObj>
              </mc:Choice>
              <mc:Fallback>
                <p:oleObj name="Equation" r:id="rId15" imgW="565128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4927600"/>
                        <a:ext cx="5651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75094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Object 1026"/>
          <p:cNvGraphicFramePr>
            <a:graphicFrameLocks noChangeAspect="1"/>
          </p:cNvGraphicFramePr>
          <p:nvPr/>
        </p:nvGraphicFramePr>
        <p:xfrm>
          <a:off x="914400" y="762000"/>
          <a:ext cx="5461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name="Equation" r:id="rId3" imgW="5460840" imgH="1028520" progId="Equation.3">
                  <p:embed/>
                </p:oleObj>
              </mc:Choice>
              <mc:Fallback>
                <p:oleObj name="Equation" r:id="rId3" imgW="546084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0"/>
                        <a:ext cx="54610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1027"/>
          <p:cNvGraphicFramePr>
            <a:graphicFrameLocks noChangeAspect="1"/>
          </p:cNvGraphicFramePr>
          <p:nvPr/>
        </p:nvGraphicFramePr>
        <p:xfrm>
          <a:off x="977900" y="1946275"/>
          <a:ext cx="397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name="Equation" r:id="rId5" imgW="3974760" imgH="431640" progId="Equation.3">
                  <p:embed/>
                </p:oleObj>
              </mc:Choice>
              <mc:Fallback>
                <p:oleObj name="Equation" r:id="rId5" imgW="3974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946275"/>
                        <a:ext cx="3975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1028"/>
          <p:cNvGraphicFramePr>
            <a:graphicFrameLocks noChangeAspect="1"/>
          </p:cNvGraphicFramePr>
          <p:nvPr/>
        </p:nvGraphicFramePr>
        <p:xfrm>
          <a:off x="1028700" y="2667000"/>
          <a:ext cx="7581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Equation" r:id="rId7" imgW="7581600" imgH="1066680" progId="Equation.3">
                  <p:embed/>
                </p:oleObj>
              </mc:Choice>
              <mc:Fallback>
                <p:oleObj name="Equation" r:id="rId7" imgW="758160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2667000"/>
                        <a:ext cx="75819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11457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2373313" cy="519113"/>
          </a:xfrm>
          <a:noFill/>
          <a:ln/>
        </p:spPr>
        <p:txBody>
          <a:bodyPr>
            <a:spAutoFit/>
          </a:bodyPr>
          <a:lstStyle/>
          <a:p>
            <a:r>
              <a:rPr lang="zh-CN" altLang="en-US" sz="2800">
                <a:latin typeface="黑体" pitchFamily="2" charset="-122"/>
              </a:rPr>
              <a:t>附表2-1</a:t>
            </a: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4160838" y="5838825"/>
            <a:ext cx="1371600" cy="277813"/>
          </a:xfrm>
          <a:prstGeom prst="rect">
            <a:avLst/>
          </a:prstGeom>
          <a:solidFill>
            <a:srgbClr val="66FFFF"/>
          </a:solidFill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3840163" y="792163"/>
            <a:ext cx="3176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标准正态分布表</a:t>
            </a:r>
          </a:p>
        </p:txBody>
      </p:sp>
      <p:graphicFrame>
        <p:nvGraphicFramePr>
          <p:cNvPr id="85053" name="Group 61"/>
          <p:cNvGraphicFramePr>
            <a:graphicFrameLocks noGrp="1"/>
          </p:cNvGraphicFramePr>
          <p:nvPr/>
        </p:nvGraphicFramePr>
        <p:xfrm>
          <a:off x="309563" y="1447800"/>
          <a:ext cx="8502650" cy="4725988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92162"/>
                <a:gridCol w="792163"/>
                <a:gridCol w="792162"/>
                <a:gridCol w="792163"/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1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0.5398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0.5793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0.6179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0.6554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0.7257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0.7580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0.7881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0.8159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0.8413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0.8643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0.8849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0.9192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0.5040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0.5438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0.5832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0.6217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0.6591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0.7291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0.7611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0.7910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0.8186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0.8438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0.8665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0.8869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0.5080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0.5478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0.5871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0.6255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0.6628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0.6985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0.7324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0.7642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0.7939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0.8212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0.8461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0.8686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0.8888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0.9066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0.5120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0.5517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0.5910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0.6293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0.6664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0.7357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0.7673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0.7967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0.8238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0.8485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0.8708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0.8907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0.9082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0.9236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0.5160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0.5557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0.5948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0.6331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0.6700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0.7389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0.7703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0.7995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0.8264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0.8508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0.8729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0.8925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0.9382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0.5199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0.5596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0.5987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0.6368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0.6736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0.7422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0.7734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0.8023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0.8289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0.8531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0.8749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0.8944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0.9115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0.9394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0.5239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0.5636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0.6026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0.6406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0.6772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0.7454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0.7764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0.8051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0.8315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0.8554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0.8770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0.8962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0.9131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0.5279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0.5675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0.6064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0.6443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0.6808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0.7486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0.7794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0.8078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0.8340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0.8577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0.8790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0.8980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0.9147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0.9292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0.5319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0.5714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0.6103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0.6480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0.6844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0.7517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0.7823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0.8106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0.8365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0.8599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0.8810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0.8997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0.9162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0.5359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0.5753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0.6141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0.6517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0.6879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0.7224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0.7549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0.8133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0.8389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0.8621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0.8830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0.9177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0.9319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036" name="Line 44"/>
          <p:cNvSpPr>
            <a:spLocks noChangeShapeType="1"/>
          </p:cNvSpPr>
          <p:nvPr/>
        </p:nvSpPr>
        <p:spPr bwMode="auto">
          <a:xfrm flipH="1">
            <a:off x="863600" y="5964238"/>
            <a:ext cx="3290888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85037" name="Line 45"/>
          <p:cNvSpPr>
            <a:spLocks noChangeShapeType="1"/>
          </p:cNvSpPr>
          <p:nvPr/>
        </p:nvSpPr>
        <p:spPr bwMode="auto">
          <a:xfrm flipV="1">
            <a:off x="4881563" y="1600200"/>
            <a:ext cx="0" cy="426720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85038" name="Text Box 46"/>
          <p:cNvSpPr txBox="1">
            <a:spLocks noChangeArrowheads="1"/>
          </p:cNvSpPr>
          <p:nvPr/>
        </p:nvSpPr>
        <p:spPr bwMode="auto">
          <a:xfrm>
            <a:off x="2062163" y="3086100"/>
            <a:ext cx="2133600" cy="862013"/>
          </a:xfrm>
          <a:prstGeom prst="rect">
            <a:avLst/>
          </a:prstGeom>
          <a:solidFill>
            <a:srgbClr val="FFFF00"/>
          </a:solidFill>
          <a:ln w="38100" cmpd="dbl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4800" b="1">
                <a:solidFill>
                  <a:srgbClr val="000000"/>
                </a:solidFill>
              </a:rPr>
              <a:t>1.645</a:t>
            </a:r>
          </a:p>
        </p:txBody>
      </p:sp>
      <p:sp>
        <p:nvSpPr>
          <p:cNvPr id="85054" name="Oval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3416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nimBg="1"/>
      <p:bldP spid="85036" grpId="0" animBg="1"/>
      <p:bldP spid="85037" grpId="0" animBg="1"/>
      <p:bldP spid="85038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5737225" y="2763838"/>
            <a:ext cx="650875" cy="257175"/>
          </a:xfrm>
          <a:prstGeom prst="rect">
            <a:avLst/>
          </a:prstGeom>
          <a:solidFill>
            <a:srgbClr val="66FFFF"/>
          </a:solidFill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86078" name="Group 62"/>
          <p:cNvGraphicFramePr>
            <a:graphicFrameLocks noGrp="1"/>
          </p:cNvGraphicFramePr>
          <p:nvPr/>
        </p:nvGraphicFramePr>
        <p:xfrm>
          <a:off x="423863" y="1676400"/>
          <a:ext cx="8348662" cy="4194048"/>
        </p:xfrm>
        <a:graphic>
          <a:graphicData uri="http://schemas.openxmlformats.org/drawingml/2006/table">
            <a:tbl>
              <a:tblPr/>
              <a:tblGrid>
                <a:gridCol w="649287"/>
                <a:gridCol w="769938"/>
                <a:gridCol w="769937"/>
                <a:gridCol w="769938"/>
                <a:gridCol w="769937"/>
                <a:gridCol w="769938"/>
                <a:gridCol w="769937"/>
                <a:gridCol w="769938"/>
                <a:gridCol w="769937"/>
                <a:gridCol w="769938"/>
                <a:gridCol w="769937"/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4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0.9772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0.9821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0.9861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0.9463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0.9896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0.9573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0.9656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0.9783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0.9582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0.9495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0.9591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0.9505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0.9744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0.9842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0.9929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0.9756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0.9887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0.9633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0.9858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0.9936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060" name="Line 44"/>
          <p:cNvSpPr>
            <a:spLocks noChangeShapeType="1"/>
          </p:cNvSpPr>
          <p:nvPr/>
        </p:nvSpPr>
        <p:spPr bwMode="auto">
          <a:xfrm flipH="1">
            <a:off x="977900" y="2895600"/>
            <a:ext cx="4759325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86061" name="Line 45"/>
          <p:cNvSpPr>
            <a:spLocks noChangeShapeType="1"/>
          </p:cNvSpPr>
          <p:nvPr/>
        </p:nvSpPr>
        <p:spPr bwMode="auto">
          <a:xfrm flipV="1">
            <a:off x="6042025" y="1905000"/>
            <a:ext cx="0" cy="858838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86062" name="Text Box 46"/>
          <p:cNvSpPr txBox="1">
            <a:spLocks noChangeArrowheads="1"/>
          </p:cNvSpPr>
          <p:nvPr/>
        </p:nvSpPr>
        <p:spPr bwMode="auto">
          <a:xfrm>
            <a:off x="3090863" y="3124200"/>
            <a:ext cx="2133600" cy="862013"/>
          </a:xfrm>
          <a:prstGeom prst="rect">
            <a:avLst/>
          </a:prstGeom>
          <a:solidFill>
            <a:srgbClr val="FFFF00"/>
          </a:solidFill>
          <a:ln w="38100" cmpd="dbl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4800" b="1">
                <a:solidFill>
                  <a:srgbClr val="000000"/>
                </a:solidFill>
              </a:rPr>
              <a:t>1.96</a:t>
            </a:r>
          </a:p>
        </p:txBody>
      </p:sp>
      <p:sp>
        <p:nvSpPr>
          <p:cNvPr id="86075" name="Rectangle 5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2373313" cy="51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r>
              <a:rPr lang="zh-CN" altLang="en-US" sz="2800">
                <a:latin typeface="黑体" pitchFamily="2" charset="-122"/>
              </a:rPr>
              <a:t>附表2-</a:t>
            </a:r>
            <a:r>
              <a:rPr lang="en-US" altLang="zh-CN" sz="2800">
                <a:latin typeface="黑体" pitchFamily="2" charset="-122"/>
              </a:rPr>
              <a:t>2</a:t>
            </a:r>
          </a:p>
        </p:txBody>
      </p:sp>
      <p:sp>
        <p:nvSpPr>
          <p:cNvPr id="86076" name="Text Box 60"/>
          <p:cNvSpPr txBox="1">
            <a:spLocks noChangeArrowheads="1"/>
          </p:cNvSpPr>
          <p:nvPr/>
        </p:nvSpPr>
        <p:spPr bwMode="auto">
          <a:xfrm>
            <a:off x="3840163" y="792163"/>
            <a:ext cx="3176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标准正态分布表</a:t>
            </a:r>
          </a:p>
        </p:txBody>
      </p:sp>
      <p:sp>
        <p:nvSpPr>
          <p:cNvPr id="86079" name="Oval 6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85816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animBg="1"/>
      <p:bldP spid="86060" grpId="0" animBg="1"/>
      <p:bldP spid="86061" grpId="0" animBg="1"/>
      <p:bldP spid="86062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2374900" cy="519113"/>
          </a:xfrm>
          <a:noFill/>
          <a:ln/>
        </p:spPr>
        <p:txBody>
          <a:bodyPr>
            <a:spAutoFit/>
          </a:bodyPr>
          <a:lstStyle/>
          <a:p>
            <a:r>
              <a:rPr lang="zh-CN" altLang="en-US" sz="2800">
                <a:latin typeface="黑体" pitchFamily="2" charset="-122"/>
              </a:rPr>
              <a:t>附表3-1</a:t>
            </a: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5341938" y="1571625"/>
            <a:ext cx="1230312" cy="4454525"/>
          </a:xfrm>
          <a:prstGeom prst="rect">
            <a:avLst/>
          </a:prstGeom>
          <a:solidFill>
            <a:srgbClr val="66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476250" y="5486400"/>
            <a:ext cx="8305800" cy="22860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88070" name="Group 6"/>
          <p:cNvGraphicFramePr>
            <a:graphicFrameLocks noGrp="1"/>
          </p:cNvGraphicFramePr>
          <p:nvPr/>
        </p:nvGraphicFramePr>
        <p:xfrm>
          <a:off x="476250" y="1577975"/>
          <a:ext cx="8305800" cy="445008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95400"/>
                <a:gridCol w="1295400"/>
                <a:gridCol w="1219200"/>
                <a:gridCol w="1219200"/>
                <a:gridCol w="9906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=0.25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7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0.8165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0.7649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0.7407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0.7267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3.0777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1.8856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1.6377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1.5332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1.4759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1.4398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1.4149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1.3968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1.3830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1.3722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1.3634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1.3562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1.3502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1.3450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1.3406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1.3368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6.3138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2.9200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2.3534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2.1318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2.0150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1.9432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1.8946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1.8595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1.8331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1.8125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1.7959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1.7823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1.7709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1.7613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1.7531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1.7459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12.7062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4.3027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3.1824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2.7764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2.5706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2.4469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2.3646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2.3060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2.2622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2.2281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2.2010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2.1788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2.1604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2.1448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2.1315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31.8207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6.9646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4.5407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3.7469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3.3649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3.1427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2.9980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2.8965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2.8214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2.7638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2.7181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2.6810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2.6503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2.6245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2.6025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2.5835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63.6574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9.9248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5.8409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4.6041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4.0322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3.7074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3.4995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3.3554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3.2498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3.1693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3.1058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3.0545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3.0123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2.9768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2.9467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2.9208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096" name="Object 32"/>
          <p:cNvGraphicFramePr>
            <a:graphicFrameLocks noChangeAspect="1"/>
          </p:cNvGraphicFramePr>
          <p:nvPr/>
        </p:nvGraphicFramePr>
        <p:xfrm>
          <a:off x="1692275" y="1612900"/>
          <a:ext cx="190500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1" name="Equation" r:id="rId3" imgW="139680" imgH="139680" progId="Equation.3">
                  <p:embed/>
                </p:oleObj>
              </mc:Choice>
              <mc:Fallback>
                <p:oleObj name="Equation" r:id="rId3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612900"/>
                        <a:ext cx="190500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7" name="Object 33"/>
          <p:cNvGraphicFramePr>
            <a:graphicFrameLocks noChangeAspect="1"/>
          </p:cNvGraphicFramePr>
          <p:nvPr/>
        </p:nvGraphicFramePr>
        <p:xfrm>
          <a:off x="857250" y="1654175"/>
          <a:ext cx="158750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2" name="Equation" r:id="rId5" imgW="126720" imgH="139680" progId="Equation.3">
                  <p:embed/>
                </p:oleObj>
              </mc:Choice>
              <mc:Fallback>
                <p:oleObj name="Equation" r:id="rId5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654175"/>
                        <a:ext cx="158750" cy="17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8" name="Object 34"/>
          <p:cNvGraphicFramePr>
            <a:graphicFrameLocks noChangeAspect="1"/>
          </p:cNvGraphicFramePr>
          <p:nvPr/>
        </p:nvGraphicFramePr>
        <p:xfrm>
          <a:off x="3997325" y="914400"/>
          <a:ext cx="18097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Equation" r:id="rId7" imgW="164880" imgH="279360" progId="Equation.3">
                  <p:embed/>
                </p:oleObj>
              </mc:Choice>
              <mc:Fallback>
                <p:oleObj name="Equation" r:id="rId7" imgW="164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914400"/>
                        <a:ext cx="18097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99" name="Text Box 35"/>
          <p:cNvSpPr txBox="1">
            <a:spLocks noChangeArrowheads="1"/>
          </p:cNvSpPr>
          <p:nvPr/>
        </p:nvSpPr>
        <p:spPr bwMode="auto">
          <a:xfrm>
            <a:off x="4119563" y="79375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分布表</a:t>
            </a:r>
          </a:p>
        </p:txBody>
      </p:sp>
      <p:sp>
        <p:nvSpPr>
          <p:cNvPr id="88100" name="AutoShape 36"/>
          <p:cNvSpPr>
            <a:spLocks noChangeArrowheads="1"/>
          </p:cNvSpPr>
          <p:nvPr/>
        </p:nvSpPr>
        <p:spPr bwMode="auto">
          <a:xfrm>
            <a:off x="2457450" y="3733800"/>
            <a:ext cx="2971800" cy="990600"/>
          </a:xfrm>
          <a:prstGeom prst="wedgeRoundRectCallout">
            <a:avLst>
              <a:gd name="adj1" fmla="val 55556"/>
              <a:gd name="adj2" fmla="val 131412"/>
              <a:gd name="adj3" fmla="val 16667"/>
            </a:avLst>
          </a:prstGeom>
          <a:solidFill>
            <a:srgbClr val="FFFF00"/>
          </a:solidFill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>
                <a:solidFill>
                  <a:srgbClr val="000000"/>
                </a:solidFill>
              </a:rPr>
              <a:t>2.1315</a:t>
            </a:r>
          </a:p>
        </p:txBody>
      </p:sp>
      <p:sp>
        <p:nvSpPr>
          <p:cNvPr id="88103" name="Oval 39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1161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nimBg="1"/>
      <p:bldP spid="88068" grpId="0" animBg="1"/>
      <p:bldP spid="88100" grpId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5357813" y="1571625"/>
            <a:ext cx="1214437" cy="4433888"/>
          </a:xfrm>
          <a:prstGeom prst="rect">
            <a:avLst/>
          </a:prstGeom>
          <a:solidFill>
            <a:srgbClr val="66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476250" y="4475163"/>
            <a:ext cx="8305800" cy="22860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90120" name="Group 8"/>
          <p:cNvGraphicFramePr>
            <a:graphicFrameLocks noGrp="1"/>
          </p:cNvGraphicFramePr>
          <p:nvPr/>
        </p:nvGraphicFramePr>
        <p:xfrm>
          <a:off x="476250" y="1577975"/>
          <a:ext cx="8305800" cy="445008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95400"/>
                <a:gridCol w="1295400"/>
                <a:gridCol w="1219200"/>
                <a:gridCol w="1219200"/>
                <a:gridCol w="9906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=0.25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7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0.8165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0.7649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0.7407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0.7267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0.7027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0.6901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3.0777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1.8856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1.6377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1.5332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1.4759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1.4398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1.4149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1.3968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1.3830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1.3722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1.3634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1.3562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1.3502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1.3450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1.3406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1.3368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6.3138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2.9200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2.3534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2.1318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2.0150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1.9432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1.8946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1.8595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1.8331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1.8125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1.7959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1.7823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1.7709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1.7613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1.7531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1.7459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12.7062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4.3027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3.1824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2.7764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2.5706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2.4469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2.3646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2.3060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2.2622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2.2281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2.2010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2.1788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2.1604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2.1448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2.1315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2.1199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31.8207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6.9646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4.5407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3.7469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3.3649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3.1427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2.9980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2.8965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2.8214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2.7638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2.7181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2.6810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2.6503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2.6245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2.6025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2.5835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63.6574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9.9248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5.8409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4.6041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4.0322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3.7074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3.4995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3.3554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3.2498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3.1693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3.1058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3.0545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3.0123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2.9768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2.9467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2.9208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146" name="Object 34"/>
          <p:cNvGraphicFramePr>
            <a:graphicFrameLocks noChangeAspect="1"/>
          </p:cNvGraphicFramePr>
          <p:nvPr/>
        </p:nvGraphicFramePr>
        <p:xfrm>
          <a:off x="1712913" y="1612900"/>
          <a:ext cx="190500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" name="Equation" r:id="rId3" imgW="139680" imgH="139680" progId="Equation.3">
                  <p:embed/>
                </p:oleObj>
              </mc:Choice>
              <mc:Fallback>
                <p:oleObj name="Equation" r:id="rId3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1612900"/>
                        <a:ext cx="190500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47" name="Object 35"/>
          <p:cNvGraphicFramePr>
            <a:graphicFrameLocks noChangeAspect="1"/>
          </p:cNvGraphicFramePr>
          <p:nvPr/>
        </p:nvGraphicFramePr>
        <p:xfrm>
          <a:off x="857250" y="1654175"/>
          <a:ext cx="158750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name="Equation" r:id="rId5" imgW="126720" imgH="139680" progId="Equation.3">
                  <p:embed/>
                </p:oleObj>
              </mc:Choice>
              <mc:Fallback>
                <p:oleObj name="Equation" r:id="rId5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654175"/>
                        <a:ext cx="158750" cy="17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48" name="AutoShape 36"/>
          <p:cNvSpPr>
            <a:spLocks noChangeArrowheads="1"/>
          </p:cNvSpPr>
          <p:nvPr/>
        </p:nvSpPr>
        <p:spPr bwMode="auto">
          <a:xfrm>
            <a:off x="3524250" y="3124200"/>
            <a:ext cx="2209800" cy="838200"/>
          </a:xfrm>
          <a:prstGeom prst="wedgeRoundRectCallout">
            <a:avLst>
              <a:gd name="adj1" fmla="val 45759"/>
              <a:gd name="adj2" fmla="val 127463"/>
              <a:gd name="adj3" fmla="val 16667"/>
            </a:avLst>
          </a:prstGeom>
          <a:solidFill>
            <a:srgbClr val="FFFF00"/>
          </a:solidFill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>
                <a:solidFill>
                  <a:srgbClr val="000000"/>
                </a:solidFill>
              </a:rPr>
              <a:t>2.2010</a:t>
            </a:r>
          </a:p>
        </p:txBody>
      </p:sp>
      <p:sp>
        <p:nvSpPr>
          <p:cNvPr id="90152" name="Rectangle 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2374900" cy="51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r>
              <a:rPr lang="zh-CN" altLang="en-US" sz="2800">
                <a:latin typeface="黑体" pitchFamily="2" charset="-122"/>
              </a:rPr>
              <a:t>附表3-</a:t>
            </a:r>
            <a:r>
              <a:rPr lang="en-US" altLang="zh-CN" sz="2800">
                <a:latin typeface="黑体" pitchFamily="2" charset="-122"/>
              </a:rPr>
              <a:t>2</a:t>
            </a:r>
          </a:p>
        </p:txBody>
      </p:sp>
      <p:graphicFrame>
        <p:nvGraphicFramePr>
          <p:cNvPr id="90153" name="Object 41"/>
          <p:cNvGraphicFramePr>
            <a:graphicFrameLocks noChangeAspect="1"/>
          </p:cNvGraphicFramePr>
          <p:nvPr/>
        </p:nvGraphicFramePr>
        <p:xfrm>
          <a:off x="3997325" y="914400"/>
          <a:ext cx="18097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Equation" r:id="rId7" imgW="164880" imgH="279360" progId="Equation.3">
                  <p:embed/>
                </p:oleObj>
              </mc:Choice>
              <mc:Fallback>
                <p:oleObj name="Equation" r:id="rId7" imgW="164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914400"/>
                        <a:ext cx="18097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4" name="Text Box 42"/>
          <p:cNvSpPr txBox="1">
            <a:spLocks noChangeArrowheads="1"/>
          </p:cNvSpPr>
          <p:nvPr/>
        </p:nvSpPr>
        <p:spPr bwMode="auto">
          <a:xfrm>
            <a:off x="4119563" y="79375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分布表</a:t>
            </a:r>
          </a:p>
        </p:txBody>
      </p:sp>
      <p:sp>
        <p:nvSpPr>
          <p:cNvPr id="90155" name="Oval 43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846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8" grpId="0" animBg="1"/>
      <p:bldP spid="90119" grpId="0" animBg="1"/>
      <p:bldP spid="90148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2349500" cy="519113"/>
          </a:xfrm>
          <a:noFill/>
          <a:ln/>
        </p:spPr>
        <p:txBody>
          <a:bodyPr>
            <a:spAutoFit/>
          </a:bodyPr>
          <a:lstStyle/>
          <a:p>
            <a:r>
              <a:rPr lang="zh-CN" altLang="en-US" sz="2800">
                <a:latin typeface="黑体" pitchFamily="2" charset="-122"/>
              </a:rPr>
              <a:t>附表4-2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4129088" y="1571625"/>
            <a:ext cx="1276350" cy="4433888"/>
          </a:xfrm>
          <a:prstGeom prst="rect">
            <a:avLst/>
          </a:prstGeom>
          <a:solidFill>
            <a:srgbClr val="66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519113" y="5486400"/>
            <a:ext cx="8305800" cy="22860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93190" name="Group 6"/>
          <p:cNvGraphicFramePr>
            <a:graphicFrameLocks noGrp="1"/>
          </p:cNvGraphicFramePr>
          <p:nvPr/>
        </p:nvGraphicFramePr>
        <p:xfrm>
          <a:off x="533400" y="1577975"/>
          <a:ext cx="8305800" cy="445008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95400"/>
                <a:gridCol w="1295400"/>
                <a:gridCol w="1219200"/>
                <a:gridCol w="1219200"/>
                <a:gridCol w="9906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=0.995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3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0.072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0.207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0.412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0.989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1.344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1.735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2.156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2.603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3.074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3.565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4.075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4.601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5.142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0.297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0.872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1.239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2.088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2.558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3.053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3.571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4.107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4.660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5.229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5.812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0.216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0.484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1.237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2.180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2.700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3.247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3.816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4.404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5.009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5.629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6.262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6.908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0.352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0.711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1.145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2.167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2.733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3.325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3.940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4.575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5.226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5.892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6.571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7.261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7.962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0.211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1.064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1.610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2.204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2.833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3.490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4.168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4.865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5.578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6.304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7.042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7.790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8.547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9.312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1.213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1.923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2.675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3.455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4.255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5.071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5.899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6.737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7.584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8.438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9.299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10.165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11.037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11.912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3216" name="Object 32"/>
          <p:cNvGraphicFramePr>
            <a:graphicFrameLocks noChangeAspect="1"/>
          </p:cNvGraphicFramePr>
          <p:nvPr/>
        </p:nvGraphicFramePr>
        <p:xfrm>
          <a:off x="1676400" y="1654175"/>
          <a:ext cx="190500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name="Equation" r:id="rId3" imgW="139680" imgH="139680" progId="Equation.3">
                  <p:embed/>
                </p:oleObj>
              </mc:Choice>
              <mc:Fallback>
                <p:oleObj name="Equation" r:id="rId3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54175"/>
                        <a:ext cx="190500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7" name="Object 33"/>
          <p:cNvGraphicFramePr>
            <a:graphicFrameLocks noChangeAspect="1"/>
          </p:cNvGraphicFramePr>
          <p:nvPr/>
        </p:nvGraphicFramePr>
        <p:xfrm>
          <a:off x="914400" y="1654175"/>
          <a:ext cx="138113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2" name="Equation" r:id="rId5" imgW="126720" imgH="139680" progId="Equation.3">
                  <p:embed/>
                </p:oleObj>
              </mc:Choice>
              <mc:Fallback>
                <p:oleObj name="Equation" r:id="rId5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54175"/>
                        <a:ext cx="138113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8" name="Object 34"/>
          <p:cNvGraphicFramePr>
            <a:graphicFrameLocks noChangeAspect="1"/>
          </p:cNvGraphicFramePr>
          <p:nvPr/>
        </p:nvGraphicFramePr>
        <p:xfrm>
          <a:off x="2082800" y="2035175"/>
          <a:ext cx="127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Equation" r:id="rId7" imgW="126720" imgH="75960" progId="Equation.3">
                  <p:embed/>
                </p:oleObj>
              </mc:Choice>
              <mc:Fallback>
                <p:oleObj name="Equation" r:id="rId7" imgW="126720" imgH="75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2035175"/>
                        <a:ext cx="127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9" name="Object 35"/>
          <p:cNvGraphicFramePr>
            <a:graphicFrameLocks noChangeAspect="1"/>
          </p:cNvGraphicFramePr>
          <p:nvPr/>
        </p:nvGraphicFramePr>
        <p:xfrm>
          <a:off x="3429000" y="2035175"/>
          <a:ext cx="127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Equation" r:id="rId9" imgW="126720" imgH="75960" progId="Equation.3">
                  <p:embed/>
                </p:oleObj>
              </mc:Choice>
              <mc:Fallback>
                <p:oleObj name="Equation" r:id="rId9" imgW="126720" imgH="75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035175"/>
                        <a:ext cx="127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20" name="Object 36"/>
          <p:cNvGraphicFramePr>
            <a:graphicFrameLocks noChangeAspect="1"/>
          </p:cNvGraphicFramePr>
          <p:nvPr/>
        </p:nvGraphicFramePr>
        <p:xfrm>
          <a:off x="4445000" y="728663"/>
          <a:ext cx="45878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5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728663"/>
                        <a:ext cx="458788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21" name="Text Box 37"/>
          <p:cNvSpPr txBox="1">
            <a:spLocks noChangeArrowheads="1"/>
          </p:cNvSpPr>
          <p:nvPr/>
        </p:nvSpPr>
        <p:spPr bwMode="auto">
          <a:xfrm>
            <a:off x="4748213" y="766763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分布表</a:t>
            </a:r>
          </a:p>
        </p:txBody>
      </p:sp>
      <p:sp>
        <p:nvSpPr>
          <p:cNvPr id="93222" name="AutoShape 38"/>
          <p:cNvSpPr>
            <a:spLocks noChangeArrowheads="1"/>
          </p:cNvSpPr>
          <p:nvPr/>
        </p:nvSpPr>
        <p:spPr bwMode="auto">
          <a:xfrm flipH="1">
            <a:off x="1905000" y="4267200"/>
            <a:ext cx="2590800" cy="990600"/>
          </a:xfrm>
          <a:prstGeom prst="wedgeRoundRectCallout">
            <a:avLst>
              <a:gd name="adj1" fmla="val -48162"/>
              <a:gd name="adj2" fmla="val 84773"/>
              <a:gd name="adj3" fmla="val 16667"/>
            </a:avLst>
          </a:prstGeom>
          <a:solidFill>
            <a:srgbClr val="FFFF00"/>
          </a:solidFill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>
                <a:solidFill>
                  <a:srgbClr val="000000"/>
                </a:solidFill>
              </a:rPr>
              <a:t>6.262</a:t>
            </a:r>
          </a:p>
        </p:txBody>
      </p:sp>
      <p:sp>
        <p:nvSpPr>
          <p:cNvPr id="93225" name="Oval 41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8769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animBg="1"/>
      <p:bldP spid="93188" grpId="0" animBg="1"/>
      <p:bldP spid="93222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2386013" cy="519113"/>
          </a:xfrm>
          <a:noFill/>
          <a:ln/>
        </p:spPr>
        <p:txBody>
          <a:bodyPr>
            <a:spAutoFit/>
          </a:bodyPr>
          <a:lstStyle/>
          <a:p>
            <a:r>
              <a:rPr lang="zh-CN" altLang="en-US" sz="2800">
                <a:latin typeface="黑体" pitchFamily="2" charset="-122"/>
              </a:rPr>
              <a:t>附表4-1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5319713" y="1447800"/>
            <a:ext cx="1219200" cy="4433888"/>
          </a:xfrm>
          <a:prstGeom prst="rect">
            <a:avLst/>
          </a:prstGeom>
          <a:solidFill>
            <a:srgbClr val="66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423863" y="5334000"/>
            <a:ext cx="8305800" cy="228600"/>
          </a:xfrm>
          <a:prstGeom prst="rect">
            <a:avLst/>
          </a:prstGeom>
          <a:solidFill>
            <a:srgbClr val="FFBFFF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94214" name="Group 6"/>
          <p:cNvGraphicFramePr>
            <a:graphicFrameLocks noGrp="1"/>
          </p:cNvGraphicFramePr>
          <p:nvPr/>
        </p:nvGraphicFramePr>
        <p:xfrm>
          <a:off x="438150" y="1447800"/>
          <a:ext cx="8305800" cy="4450080"/>
        </p:xfrm>
        <a:graphic>
          <a:graphicData uri="http://schemas.openxmlformats.org/drawingml/2006/table">
            <a:tbl>
              <a:tblPr/>
              <a:tblGrid>
                <a:gridCol w="914400"/>
                <a:gridCol w="1295400"/>
                <a:gridCol w="1371600"/>
                <a:gridCol w="1295400"/>
                <a:gridCol w="1219200"/>
                <a:gridCol w="1219200"/>
                <a:gridCol w="9906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=0.25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1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1.323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2.773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4.108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5.385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6.626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7.841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9.037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10.219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11.389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12.549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13.701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14.845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15.984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17.117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18.245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19.369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2.706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4.605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6.251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7.779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9.236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10.645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12.017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13.362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14.684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15.987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17.275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18.549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19.812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20.064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22.307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23.542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3.841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5.991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7.815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9.488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11.071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12.592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14.067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15.507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16.919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18.307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19.675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21.026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22.362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23.685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24.996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26.296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5.024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7.378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9.348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11.143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12.833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14.449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16.013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17.535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19.023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20.483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21.920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23.337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24.736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26.119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27.488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28.845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6.635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9.210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11.345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13.277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15.086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16.812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18.475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20.090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21.666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23.209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24.725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26.217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27.688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29.141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30.578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32.000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7.879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10.597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12.838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14.860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16.750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18.548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20.278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21.955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23.589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25.188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26.757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28.299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29.891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31.319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32.801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34.267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240" name="Object 32"/>
          <p:cNvGraphicFramePr>
            <a:graphicFrameLocks noChangeAspect="1"/>
          </p:cNvGraphicFramePr>
          <p:nvPr/>
        </p:nvGraphicFramePr>
        <p:xfrm>
          <a:off x="1604963" y="1516063"/>
          <a:ext cx="1905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3" name="Equation" r:id="rId3" imgW="139680" imgH="139680" progId="Equation.3">
                  <p:embed/>
                </p:oleObj>
              </mc:Choice>
              <mc:Fallback>
                <p:oleObj name="Equation" r:id="rId3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1516063"/>
                        <a:ext cx="190500" cy="18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41" name="Object 33"/>
          <p:cNvGraphicFramePr>
            <a:graphicFrameLocks noChangeAspect="1"/>
          </p:cNvGraphicFramePr>
          <p:nvPr/>
        </p:nvGraphicFramePr>
        <p:xfrm>
          <a:off x="819150" y="1504950"/>
          <a:ext cx="176213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4" name="Equation" r:id="rId5" imgW="126720" imgH="139680" progId="Equation.3">
                  <p:embed/>
                </p:oleObj>
              </mc:Choice>
              <mc:Fallback>
                <p:oleObj name="Equation" r:id="rId5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1504950"/>
                        <a:ext cx="176213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42" name="Object 34"/>
          <p:cNvGraphicFramePr>
            <a:graphicFrameLocks noChangeAspect="1"/>
          </p:cNvGraphicFramePr>
          <p:nvPr/>
        </p:nvGraphicFramePr>
        <p:xfrm>
          <a:off x="4445000" y="728663"/>
          <a:ext cx="45878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5" name="Equation" r:id="rId7" imgW="419040" imgH="469800" progId="Equation.3">
                  <p:embed/>
                </p:oleObj>
              </mc:Choice>
              <mc:Fallback>
                <p:oleObj name="Equation" r:id="rId7" imgW="419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728663"/>
                        <a:ext cx="458788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3" name="Text Box 35"/>
          <p:cNvSpPr txBox="1">
            <a:spLocks noChangeArrowheads="1"/>
          </p:cNvSpPr>
          <p:nvPr/>
        </p:nvSpPr>
        <p:spPr bwMode="auto">
          <a:xfrm>
            <a:off x="4748213" y="766763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a typeface="黑体" pitchFamily="2" charset="-122"/>
              </a:rPr>
              <a:t>分布表</a:t>
            </a:r>
          </a:p>
        </p:txBody>
      </p:sp>
      <p:sp>
        <p:nvSpPr>
          <p:cNvPr id="94244" name="AutoShape 36"/>
          <p:cNvSpPr>
            <a:spLocks noChangeArrowheads="1"/>
          </p:cNvSpPr>
          <p:nvPr/>
        </p:nvSpPr>
        <p:spPr bwMode="auto">
          <a:xfrm flipH="1">
            <a:off x="3352800" y="4267200"/>
            <a:ext cx="2209800" cy="838200"/>
          </a:xfrm>
          <a:prstGeom prst="wedgeRoundRectCallout">
            <a:avLst>
              <a:gd name="adj1" fmla="val -47847"/>
              <a:gd name="adj2" fmla="val 91662"/>
              <a:gd name="adj3" fmla="val 16667"/>
            </a:avLst>
          </a:prstGeom>
          <a:solidFill>
            <a:srgbClr val="FFFF00"/>
          </a:solidFill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>
                <a:solidFill>
                  <a:srgbClr val="000000"/>
                </a:solidFill>
              </a:rPr>
              <a:t>27.488</a:t>
            </a:r>
          </a:p>
        </p:txBody>
      </p:sp>
      <p:sp>
        <p:nvSpPr>
          <p:cNvPr id="94247" name="Oval 39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3837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animBg="1"/>
      <p:bldP spid="94212" grpId="0" animBg="1"/>
      <p:bldP spid="94244" grpId="0" animBg="1" autoUpdateAnimBg="0"/>
    </p:bldLst>
  </p:timing>
</p:sld>
</file>

<file path=ppt/theme/theme1.xml><?xml version="1.0" encoding="utf-8"?>
<a:theme xmlns:a="http://schemas.openxmlformats.org/drawingml/2006/main" name="1_Default Design_2">
  <a:themeElements>
    <a:clrScheme name="Default Design_2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_2">
      <a:majorFont>
        <a:latin typeface="新宋体"/>
        <a:ea typeface="新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_2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_2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_2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2233</Words>
  <Application>Microsoft Office PowerPoint</Application>
  <PresentationFormat>全屏显示(4:3)</PresentationFormat>
  <Paragraphs>987</Paragraphs>
  <Slides>60</Slides>
  <Notes>0</Notes>
  <HiddenSlides>16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2" baseType="lpstr">
      <vt:lpstr>1_Default Design_2</vt:lpstr>
      <vt:lpstr>Microsoft 公式 3.0</vt:lpstr>
      <vt:lpstr>§7.4  区间估计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二、典型例题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第五节  正态总体均值与方差的区间估计</vt:lpstr>
      <vt:lpstr>一、单个总体          的情况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二、两个总体                 的情况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PowerPoint 演示文稿</vt:lpstr>
      <vt:lpstr>PowerPoint 演示文稿</vt:lpstr>
      <vt:lpstr>附表2-1</vt:lpstr>
      <vt:lpstr>附表2-2</vt:lpstr>
      <vt:lpstr>附表3-1</vt:lpstr>
      <vt:lpstr>附表3-2</vt:lpstr>
      <vt:lpstr>附表4-2</vt:lpstr>
      <vt:lpstr>附表4-1</vt:lpstr>
    </vt:vector>
  </TitlesOfParts>
  <Company>BTBU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第四节   区间估计</dc:title>
  <dc:creator>echo</dc:creator>
  <cp:lastModifiedBy>echo</cp:lastModifiedBy>
  <cp:revision>3</cp:revision>
  <dcterms:created xsi:type="dcterms:W3CDTF">2015-06-14T16:24:46Z</dcterms:created>
  <dcterms:modified xsi:type="dcterms:W3CDTF">2015-06-14T16:52:38Z</dcterms:modified>
</cp:coreProperties>
</file>