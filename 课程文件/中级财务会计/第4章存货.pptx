
<file path=[Content_Types].xml><?xml version="1.0" encoding="utf-8"?>
<Types xmlns="http://schemas.openxmlformats.org/package/2006/content-types">
  <Default Extension="bin" ContentType="application/vnd.openxmlformats-officedocument.oleObject"/>
  <Default Extension="gif" ContentType="image/gif"/>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3"/>
  </p:notesMasterIdLst>
  <p:handoutMasterIdLst>
    <p:handoutMasterId r:id="rId94"/>
  </p:handoutMasterIdLst>
  <p:sldIdLst>
    <p:sldId id="264" r:id="rId2"/>
    <p:sldId id="548" r:id="rId3"/>
    <p:sldId id="549" r:id="rId4"/>
    <p:sldId id="550" r:id="rId5"/>
    <p:sldId id="551" r:id="rId6"/>
    <p:sldId id="552" r:id="rId7"/>
    <p:sldId id="553" r:id="rId8"/>
    <p:sldId id="554" r:id="rId9"/>
    <p:sldId id="555" r:id="rId10"/>
    <p:sldId id="556" r:id="rId11"/>
    <p:sldId id="557" r:id="rId12"/>
    <p:sldId id="558" r:id="rId13"/>
    <p:sldId id="571" r:id="rId14"/>
    <p:sldId id="572" r:id="rId15"/>
    <p:sldId id="573" r:id="rId16"/>
    <p:sldId id="574" r:id="rId17"/>
    <p:sldId id="575" r:id="rId18"/>
    <p:sldId id="576" r:id="rId19"/>
    <p:sldId id="577" r:id="rId20"/>
    <p:sldId id="589" r:id="rId21"/>
    <p:sldId id="590" r:id="rId22"/>
    <p:sldId id="591" r:id="rId23"/>
    <p:sldId id="592" r:id="rId24"/>
    <p:sldId id="593" r:id="rId25"/>
    <p:sldId id="594" r:id="rId26"/>
    <p:sldId id="595" r:id="rId27"/>
    <p:sldId id="596" r:id="rId28"/>
    <p:sldId id="597" r:id="rId29"/>
    <p:sldId id="598" r:id="rId30"/>
    <p:sldId id="599" r:id="rId31"/>
    <p:sldId id="600" r:id="rId32"/>
    <p:sldId id="601" r:id="rId33"/>
    <p:sldId id="602" r:id="rId34"/>
    <p:sldId id="603" r:id="rId35"/>
    <p:sldId id="604" r:id="rId36"/>
    <p:sldId id="605" r:id="rId37"/>
    <p:sldId id="606" r:id="rId38"/>
    <p:sldId id="607" r:id="rId39"/>
    <p:sldId id="608" r:id="rId40"/>
    <p:sldId id="609" r:id="rId41"/>
    <p:sldId id="660" r:id="rId42"/>
    <p:sldId id="611" r:id="rId43"/>
    <p:sldId id="612" r:id="rId44"/>
    <p:sldId id="613" r:id="rId45"/>
    <p:sldId id="614" r:id="rId46"/>
    <p:sldId id="615" r:id="rId47"/>
    <p:sldId id="616" r:id="rId48"/>
    <p:sldId id="617" r:id="rId49"/>
    <p:sldId id="618" r:id="rId50"/>
    <p:sldId id="619" r:id="rId51"/>
    <p:sldId id="620" r:id="rId52"/>
    <p:sldId id="621" r:id="rId53"/>
    <p:sldId id="622" r:id="rId54"/>
    <p:sldId id="623" r:id="rId55"/>
    <p:sldId id="624" r:id="rId56"/>
    <p:sldId id="625" r:id="rId57"/>
    <p:sldId id="626" r:id="rId58"/>
    <p:sldId id="627" r:id="rId59"/>
    <p:sldId id="628" r:id="rId60"/>
    <p:sldId id="629" r:id="rId61"/>
    <p:sldId id="630" r:id="rId62"/>
    <p:sldId id="631" r:id="rId63"/>
    <p:sldId id="632" r:id="rId64"/>
    <p:sldId id="633" r:id="rId65"/>
    <p:sldId id="634" r:id="rId66"/>
    <p:sldId id="635" r:id="rId67"/>
    <p:sldId id="636" r:id="rId68"/>
    <p:sldId id="637" r:id="rId69"/>
    <p:sldId id="638" r:id="rId70"/>
    <p:sldId id="639" r:id="rId71"/>
    <p:sldId id="640" r:id="rId72"/>
    <p:sldId id="641" r:id="rId73"/>
    <p:sldId id="642" r:id="rId74"/>
    <p:sldId id="643" r:id="rId75"/>
    <p:sldId id="644" r:id="rId76"/>
    <p:sldId id="645" r:id="rId77"/>
    <p:sldId id="646" r:id="rId78"/>
    <p:sldId id="647" r:id="rId79"/>
    <p:sldId id="648" r:id="rId80"/>
    <p:sldId id="649" r:id="rId81"/>
    <p:sldId id="650" r:id="rId82"/>
    <p:sldId id="651" r:id="rId83"/>
    <p:sldId id="652" r:id="rId84"/>
    <p:sldId id="653" r:id="rId85"/>
    <p:sldId id="654" r:id="rId86"/>
    <p:sldId id="655" r:id="rId87"/>
    <p:sldId id="656" r:id="rId88"/>
    <p:sldId id="657" r:id="rId89"/>
    <p:sldId id="658" r:id="rId90"/>
    <p:sldId id="659" r:id="rId91"/>
    <p:sldId id="266" r:id="rId9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6">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3333FF"/>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71" autoAdjust="0"/>
    <p:restoredTop sz="94649" autoAdjust="0"/>
  </p:normalViewPr>
  <p:slideViewPr>
    <p:cSldViewPr snapToGrid="0">
      <p:cViewPr varScale="1">
        <p:scale>
          <a:sx n="83" d="100"/>
          <a:sy n="83" d="100"/>
        </p:scale>
        <p:origin x="838" y="34"/>
      </p:cViewPr>
      <p:guideLst>
        <p:guide orient="horz" pos="2196"/>
        <p:guide pos="3840"/>
      </p:guideLst>
    </p:cSldViewPr>
  </p:slideViewPr>
  <p:notesTextViewPr>
    <p:cViewPr>
      <p:scale>
        <a:sx n="3" d="2"/>
        <a:sy n="3" d="2"/>
      </p:scale>
      <p:origin x="0" y="0"/>
    </p:cViewPr>
  </p:notesTextViewPr>
  <p:notesViewPr>
    <p:cSldViewPr snapToGrid="0">
      <p:cViewPr varScale="1">
        <p:scale>
          <a:sx n="66" d="100"/>
          <a:sy n="66" d="100"/>
        </p:scale>
        <p:origin x="3134" y="3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notesMaster" Target="notesMasters/notesMaster1.xml"/><Relationship Id="rId98"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t>2020-5-6</a:t>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4052001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t>2020-5-6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t>‹#›</a:t>
            </a:fld>
            <a:endParaRPr lang="zh-CN" altLang="en-US"/>
          </a:p>
        </p:txBody>
      </p:sp>
    </p:spTree>
    <p:extLst>
      <p:ext uri="{BB962C8B-B14F-4D97-AF65-F5344CB8AC3E}">
        <p14:creationId xmlns:p14="http://schemas.microsoft.com/office/powerpoint/2010/main" val="114362750"/>
      </p:ext>
    </p:extLst>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5"/>
          <p:cNvSpPr>
            <a:spLocks noGrp="1" noChangeArrowheads="1"/>
          </p:cNvSpPr>
          <p:nvPr>
            <p:ph type="sldNum" sz="quarter" idx="5"/>
          </p:nvPr>
        </p:nvSpPr>
        <p:spPr>
          <a:noFill/>
        </p:spPr>
        <p:txBody>
          <a:bodyPr/>
          <a:lstStyle/>
          <a:p>
            <a:fld id="{FA0190D4-73A4-4CAD-B5AA-D8FA5A66FA71}" type="slidenum">
              <a:rPr lang="en-US" altLang="zh-CN" smtClean="0"/>
              <a:pPr/>
              <a:t>23</a:t>
            </a:fld>
            <a:endParaRPr lang="en-US" altLang="zh-CN"/>
          </a:p>
        </p:txBody>
      </p:sp>
      <p:sp>
        <p:nvSpPr>
          <p:cNvPr id="10240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eaLnBrk="1" hangingPunct="1"/>
            <a:fld id="{EFF18A98-AF06-49D0-9287-199ADB83E5A5}" type="slidenum">
              <a:rPr kumimoji="1" lang="en-US" altLang="zh-CN" sz="1200">
                <a:solidFill>
                  <a:schemeClr val="tx1"/>
                </a:solidFill>
                <a:effectLst/>
                <a:latin typeface="Times New Roman" pitchFamily="18" charset="0"/>
              </a:rPr>
              <a:pPr algn="r" eaLnBrk="1" hangingPunct="1"/>
              <a:t>23</a:t>
            </a:fld>
            <a:endParaRPr kumimoji="1" lang="en-US" altLang="zh-CN" sz="1200">
              <a:solidFill>
                <a:schemeClr val="tx1"/>
              </a:solidFill>
              <a:effectLst/>
              <a:latin typeface="Times New Roman" pitchFamily="18" charset="0"/>
            </a:endParaRPr>
          </a:p>
        </p:txBody>
      </p:sp>
      <p:sp>
        <p:nvSpPr>
          <p:cNvPr id="102404" name="Rectangle 2"/>
          <p:cNvSpPr>
            <a:spLocks noGrp="1" noRot="1" noChangeAspect="1" noChangeArrowheads="1" noTextEdit="1"/>
          </p:cNvSpPr>
          <p:nvPr>
            <p:ph type="sldImg"/>
          </p:nvPr>
        </p:nvSpPr>
        <p:spPr>
          <a:xfrm>
            <a:off x="381000" y="685800"/>
            <a:ext cx="6096000" cy="3429000"/>
          </a:xfrm>
          <a:ln/>
        </p:spPr>
      </p:sp>
      <p:sp>
        <p:nvSpPr>
          <p:cNvPr id="102405" name="Rectangle 3"/>
          <p:cNvSpPr>
            <a:spLocks noGrp="1" noChangeArrowheads="1"/>
          </p:cNvSpPr>
          <p:nvPr>
            <p:ph type="body" idx="1"/>
          </p:nvPr>
        </p:nvSpPr>
        <p:spPr>
          <a:noFill/>
          <a:ln/>
        </p:spPr>
        <p:txBody>
          <a:bodyPr lIns="91440" tIns="45720" rIns="91440" bIns="45720"/>
          <a:lstStyle/>
          <a:p>
            <a:pPr defTabSz="914400"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5"/>
          <p:cNvSpPr>
            <a:spLocks noGrp="1" noChangeArrowheads="1"/>
          </p:cNvSpPr>
          <p:nvPr>
            <p:ph type="sldNum" sz="quarter" idx="5"/>
          </p:nvPr>
        </p:nvSpPr>
        <p:spPr>
          <a:noFill/>
        </p:spPr>
        <p:txBody>
          <a:bodyPr/>
          <a:lstStyle/>
          <a:p>
            <a:fld id="{6703EEC8-F194-401D-9682-772332F8D5FB}" type="slidenum">
              <a:rPr lang="en-US" altLang="zh-CN" smtClean="0"/>
              <a:pPr/>
              <a:t>26</a:t>
            </a:fld>
            <a:endParaRPr lang="en-US" altLang="zh-CN"/>
          </a:p>
        </p:txBody>
      </p:sp>
      <p:sp>
        <p:nvSpPr>
          <p:cNvPr id="104451" name="Rectangle 2"/>
          <p:cNvSpPr>
            <a:spLocks noGrp="1" noRot="1" noChangeAspect="1" noChangeArrowheads="1" noTextEdit="1"/>
          </p:cNvSpPr>
          <p:nvPr>
            <p:ph type="sldImg"/>
          </p:nvPr>
        </p:nvSpPr>
        <p:spPr>
          <a:xfrm>
            <a:off x="381000" y="685800"/>
            <a:ext cx="6096000" cy="3429000"/>
          </a:xfrm>
          <a:ln/>
        </p:spPr>
      </p:sp>
      <p:sp>
        <p:nvSpPr>
          <p:cNvPr id="104452"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5"/>
          <p:cNvSpPr>
            <a:spLocks noGrp="1" noChangeArrowheads="1"/>
          </p:cNvSpPr>
          <p:nvPr>
            <p:ph type="sldNum" sz="quarter" idx="5"/>
          </p:nvPr>
        </p:nvSpPr>
        <p:spPr>
          <a:noFill/>
        </p:spPr>
        <p:txBody>
          <a:bodyPr/>
          <a:lstStyle/>
          <a:p>
            <a:fld id="{B35C7980-6605-47B3-8069-CCB119CA0528}" type="slidenum">
              <a:rPr lang="en-US" altLang="zh-CN" smtClean="0"/>
              <a:pPr/>
              <a:t>27</a:t>
            </a:fld>
            <a:endParaRPr lang="en-US" altLang="zh-CN"/>
          </a:p>
        </p:txBody>
      </p:sp>
      <p:sp>
        <p:nvSpPr>
          <p:cNvPr id="105475" name="Rectangle 2"/>
          <p:cNvSpPr>
            <a:spLocks noGrp="1" noRot="1" noChangeAspect="1" noChangeArrowheads="1" noTextEdit="1"/>
          </p:cNvSpPr>
          <p:nvPr>
            <p:ph type="sldImg"/>
          </p:nvPr>
        </p:nvSpPr>
        <p:spPr>
          <a:xfrm>
            <a:off x="381000" y="685800"/>
            <a:ext cx="6096000" cy="3429000"/>
          </a:xfrm>
          <a:ln/>
        </p:spPr>
      </p:sp>
      <p:sp>
        <p:nvSpPr>
          <p:cNvPr id="105476"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5"/>
          <p:cNvSpPr>
            <a:spLocks noGrp="1" noChangeArrowheads="1"/>
          </p:cNvSpPr>
          <p:nvPr>
            <p:ph type="sldNum" sz="quarter" idx="5"/>
          </p:nvPr>
        </p:nvSpPr>
        <p:spPr>
          <a:noFill/>
        </p:spPr>
        <p:txBody>
          <a:bodyPr/>
          <a:lstStyle/>
          <a:p>
            <a:fld id="{798FB167-02F2-4368-A3C5-13E609EE6523}" type="slidenum">
              <a:rPr lang="en-US" altLang="zh-CN" smtClean="0"/>
              <a:pPr/>
              <a:t>28</a:t>
            </a:fld>
            <a:endParaRPr lang="en-US" altLang="zh-CN"/>
          </a:p>
        </p:txBody>
      </p:sp>
      <p:sp>
        <p:nvSpPr>
          <p:cNvPr id="106499" name="Rectangle 2"/>
          <p:cNvSpPr>
            <a:spLocks noGrp="1" noRot="1" noChangeAspect="1" noChangeArrowheads="1" noTextEdit="1"/>
          </p:cNvSpPr>
          <p:nvPr>
            <p:ph type="sldImg"/>
          </p:nvPr>
        </p:nvSpPr>
        <p:spPr>
          <a:xfrm>
            <a:off x="381000" y="685800"/>
            <a:ext cx="6096000" cy="3429000"/>
          </a:xfrm>
          <a:ln/>
        </p:spPr>
      </p:sp>
      <p:sp>
        <p:nvSpPr>
          <p:cNvPr id="106500"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5"/>
          <p:cNvSpPr>
            <a:spLocks noGrp="1" noChangeArrowheads="1"/>
          </p:cNvSpPr>
          <p:nvPr>
            <p:ph type="sldNum" sz="quarter" idx="5"/>
          </p:nvPr>
        </p:nvSpPr>
        <p:spPr>
          <a:noFill/>
        </p:spPr>
        <p:txBody>
          <a:bodyPr/>
          <a:lstStyle/>
          <a:p>
            <a:fld id="{E910D79B-3DBE-46DA-9D7D-B09D104990DA}" type="slidenum">
              <a:rPr lang="en-US" altLang="zh-CN" smtClean="0"/>
              <a:pPr/>
              <a:t>31</a:t>
            </a:fld>
            <a:endParaRPr lang="en-US" altLang="zh-CN"/>
          </a:p>
        </p:txBody>
      </p:sp>
      <p:sp>
        <p:nvSpPr>
          <p:cNvPr id="107523" name="Rectangle 2"/>
          <p:cNvSpPr>
            <a:spLocks noGrp="1" noRot="1" noChangeAspect="1" noChangeArrowheads="1" noTextEdit="1"/>
          </p:cNvSpPr>
          <p:nvPr>
            <p:ph type="sldImg"/>
          </p:nvPr>
        </p:nvSpPr>
        <p:spPr>
          <a:xfrm>
            <a:off x="381000" y="685800"/>
            <a:ext cx="6096000" cy="3429000"/>
          </a:xfrm>
          <a:ln/>
        </p:spPr>
      </p:sp>
      <p:sp>
        <p:nvSpPr>
          <p:cNvPr id="107524"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5"/>
          <p:cNvSpPr>
            <a:spLocks noGrp="1" noChangeArrowheads="1"/>
          </p:cNvSpPr>
          <p:nvPr>
            <p:ph type="sldNum" sz="quarter" idx="5"/>
          </p:nvPr>
        </p:nvSpPr>
        <p:spPr>
          <a:noFill/>
        </p:spPr>
        <p:txBody>
          <a:bodyPr/>
          <a:lstStyle/>
          <a:p>
            <a:fld id="{A68CA912-81B0-4D74-9DCD-1A492B077686}" type="slidenum">
              <a:rPr lang="en-US" altLang="zh-CN" smtClean="0"/>
              <a:pPr/>
              <a:t>33</a:t>
            </a:fld>
            <a:endParaRPr lang="en-US" altLang="zh-CN"/>
          </a:p>
        </p:txBody>
      </p:sp>
      <p:sp>
        <p:nvSpPr>
          <p:cNvPr id="108547" name="Rectangle 2"/>
          <p:cNvSpPr>
            <a:spLocks noGrp="1" noRot="1" noChangeAspect="1" noChangeArrowheads="1" noTextEdit="1"/>
          </p:cNvSpPr>
          <p:nvPr>
            <p:ph type="sldImg"/>
          </p:nvPr>
        </p:nvSpPr>
        <p:spPr>
          <a:xfrm>
            <a:off x="381000" y="685800"/>
            <a:ext cx="6096000" cy="3429000"/>
          </a:xfrm>
          <a:ln/>
        </p:spPr>
      </p:sp>
      <p:sp>
        <p:nvSpPr>
          <p:cNvPr id="108548"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5"/>
          <p:cNvSpPr>
            <a:spLocks noGrp="1" noChangeArrowheads="1"/>
          </p:cNvSpPr>
          <p:nvPr>
            <p:ph type="sldNum" sz="quarter" idx="5"/>
          </p:nvPr>
        </p:nvSpPr>
        <p:spPr>
          <a:noFill/>
        </p:spPr>
        <p:txBody>
          <a:bodyPr/>
          <a:lstStyle/>
          <a:p>
            <a:fld id="{8D5C5F9A-21D7-42F1-80C4-0D318447F1DA}" type="slidenum">
              <a:rPr lang="en-US" altLang="zh-CN" smtClean="0"/>
              <a:pPr/>
              <a:t>35</a:t>
            </a:fld>
            <a:endParaRPr lang="en-US" altLang="zh-CN"/>
          </a:p>
        </p:txBody>
      </p:sp>
      <p:sp>
        <p:nvSpPr>
          <p:cNvPr id="109571" name="Rectangle 2"/>
          <p:cNvSpPr>
            <a:spLocks noGrp="1" noRot="1" noChangeAspect="1" noChangeArrowheads="1" noTextEdit="1"/>
          </p:cNvSpPr>
          <p:nvPr>
            <p:ph type="sldImg"/>
          </p:nvPr>
        </p:nvSpPr>
        <p:spPr>
          <a:xfrm>
            <a:off x="381000" y="685800"/>
            <a:ext cx="6096000" cy="3429000"/>
          </a:xfrm>
          <a:ln/>
        </p:spPr>
      </p:sp>
      <p:sp>
        <p:nvSpPr>
          <p:cNvPr id="109572"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5"/>
          <p:cNvSpPr>
            <a:spLocks noGrp="1" noChangeArrowheads="1"/>
          </p:cNvSpPr>
          <p:nvPr>
            <p:ph type="sldNum" sz="quarter" idx="5"/>
          </p:nvPr>
        </p:nvSpPr>
        <p:spPr>
          <a:noFill/>
        </p:spPr>
        <p:txBody>
          <a:bodyPr/>
          <a:lstStyle/>
          <a:p>
            <a:fld id="{D3412A19-ABAD-49B7-A1FD-A7539CC94366}" type="slidenum">
              <a:rPr lang="en-US" altLang="zh-CN" smtClean="0"/>
              <a:pPr/>
              <a:t>37</a:t>
            </a:fld>
            <a:endParaRPr lang="en-US" altLang="zh-CN"/>
          </a:p>
        </p:txBody>
      </p:sp>
      <p:sp>
        <p:nvSpPr>
          <p:cNvPr id="110595" name="Rectangle 2"/>
          <p:cNvSpPr>
            <a:spLocks noGrp="1" noRot="1" noChangeAspect="1" noChangeArrowheads="1" noTextEdit="1"/>
          </p:cNvSpPr>
          <p:nvPr>
            <p:ph type="sldImg"/>
          </p:nvPr>
        </p:nvSpPr>
        <p:spPr>
          <a:xfrm>
            <a:off x="381000" y="685800"/>
            <a:ext cx="6096000" cy="3429000"/>
          </a:xfrm>
          <a:ln/>
        </p:spPr>
      </p:sp>
      <p:sp>
        <p:nvSpPr>
          <p:cNvPr id="110596"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5"/>
          <p:cNvSpPr>
            <a:spLocks noGrp="1" noChangeArrowheads="1"/>
          </p:cNvSpPr>
          <p:nvPr>
            <p:ph type="sldNum" sz="quarter" idx="5"/>
          </p:nvPr>
        </p:nvSpPr>
        <p:spPr>
          <a:noFill/>
        </p:spPr>
        <p:txBody>
          <a:bodyPr/>
          <a:lstStyle/>
          <a:p>
            <a:fld id="{6CB621B8-D593-4C34-9635-A588BCE4F696}" type="slidenum">
              <a:rPr lang="en-US" altLang="zh-CN" smtClean="0"/>
              <a:pPr/>
              <a:t>38</a:t>
            </a:fld>
            <a:endParaRPr lang="en-US" altLang="zh-CN"/>
          </a:p>
        </p:txBody>
      </p:sp>
      <p:sp>
        <p:nvSpPr>
          <p:cNvPr id="111619" name="Rectangle 2"/>
          <p:cNvSpPr>
            <a:spLocks noGrp="1" noRot="1" noChangeAspect="1" noChangeArrowheads="1" noTextEdit="1"/>
          </p:cNvSpPr>
          <p:nvPr>
            <p:ph type="sldImg"/>
          </p:nvPr>
        </p:nvSpPr>
        <p:spPr>
          <a:xfrm>
            <a:off x="381000" y="685800"/>
            <a:ext cx="6096000" cy="3429000"/>
          </a:xfrm>
          <a:ln/>
        </p:spPr>
      </p:sp>
      <p:sp>
        <p:nvSpPr>
          <p:cNvPr id="111620"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5"/>
          <p:cNvSpPr>
            <a:spLocks noGrp="1" noChangeArrowheads="1"/>
          </p:cNvSpPr>
          <p:nvPr>
            <p:ph type="sldNum" sz="quarter" idx="5"/>
          </p:nvPr>
        </p:nvSpPr>
        <p:spPr>
          <a:noFill/>
        </p:spPr>
        <p:txBody>
          <a:bodyPr/>
          <a:lstStyle/>
          <a:p>
            <a:fld id="{B95B206E-6E57-453A-885B-802E02987CDA}" type="slidenum">
              <a:rPr lang="en-US" altLang="zh-CN" smtClean="0"/>
              <a:pPr/>
              <a:t>39</a:t>
            </a:fld>
            <a:endParaRPr lang="en-US" altLang="zh-CN"/>
          </a:p>
        </p:txBody>
      </p:sp>
      <p:sp>
        <p:nvSpPr>
          <p:cNvPr id="112643" name="Rectangle 2"/>
          <p:cNvSpPr>
            <a:spLocks noGrp="1" noRot="1" noChangeAspect="1" noChangeArrowheads="1" noTextEdit="1"/>
          </p:cNvSpPr>
          <p:nvPr>
            <p:ph type="sldImg"/>
          </p:nvPr>
        </p:nvSpPr>
        <p:spPr>
          <a:xfrm>
            <a:off x="381000" y="685800"/>
            <a:ext cx="6096000" cy="3429000"/>
          </a:xfrm>
          <a:ln/>
        </p:spPr>
      </p:sp>
      <p:sp>
        <p:nvSpPr>
          <p:cNvPr id="112644"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5"/>
          <p:cNvSpPr>
            <a:spLocks noGrp="1" noChangeArrowheads="1"/>
          </p:cNvSpPr>
          <p:nvPr>
            <p:ph type="sldNum" sz="quarter" idx="5"/>
          </p:nvPr>
        </p:nvSpPr>
        <p:spPr>
          <a:noFill/>
        </p:spPr>
        <p:txBody>
          <a:bodyPr/>
          <a:lstStyle/>
          <a:p>
            <a:fld id="{69A141BE-392F-41EA-9656-664D357BD53C}" type="slidenum">
              <a:rPr lang="en-US" altLang="zh-CN" smtClean="0"/>
              <a:pPr/>
              <a:t>40</a:t>
            </a:fld>
            <a:endParaRPr lang="en-US" altLang="zh-CN"/>
          </a:p>
        </p:txBody>
      </p:sp>
      <p:sp>
        <p:nvSpPr>
          <p:cNvPr id="113667" name="Rectangle 2"/>
          <p:cNvSpPr>
            <a:spLocks noGrp="1" noRot="1" noChangeAspect="1" noChangeArrowheads="1" noTextEdit="1"/>
          </p:cNvSpPr>
          <p:nvPr>
            <p:ph type="sldImg"/>
          </p:nvPr>
        </p:nvSpPr>
        <p:spPr>
          <a:xfrm>
            <a:off x="381000" y="685800"/>
            <a:ext cx="6096000" cy="3429000"/>
          </a:xfrm>
          <a:ln/>
        </p:spPr>
      </p:sp>
      <p:sp>
        <p:nvSpPr>
          <p:cNvPr id="113668"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5"/>
          <p:cNvSpPr>
            <a:spLocks noGrp="1" noChangeArrowheads="1"/>
          </p:cNvSpPr>
          <p:nvPr>
            <p:ph type="sldNum" sz="quarter" idx="5"/>
          </p:nvPr>
        </p:nvSpPr>
        <p:spPr>
          <a:noFill/>
        </p:spPr>
        <p:txBody>
          <a:bodyPr/>
          <a:lstStyle/>
          <a:p>
            <a:fld id="{A6A27611-6AB4-4ACE-9AB1-E6B0036499BF}" type="slidenum">
              <a:rPr lang="en-US" altLang="zh-CN" smtClean="0"/>
              <a:pPr/>
              <a:t>42</a:t>
            </a:fld>
            <a:endParaRPr lang="en-US" altLang="zh-CN"/>
          </a:p>
        </p:txBody>
      </p:sp>
      <p:sp>
        <p:nvSpPr>
          <p:cNvPr id="114691" name="Rectangle 2"/>
          <p:cNvSpPr>
            <a:spLocks noGrp="1" noRot="1" noChangeAspect="1" noChangeArrowheads="1" noTextEdit="1"/>
          </p:cNvSpPr>
          <p:nvPr>
            <p:ph type="sldImg"/>
          </p:nvPr>
        </p:nvSpPr>
        <p:spPr>
          <a:xfrm>
            <a:off x="381000" y="685800"/>
            <a:ext cx="6096000" cy="3429000"/>
          </a:xfrm>
          <a:ln/>
        </p:spPr>
      </p:sp>
      <p:sp>
        <p:nvSpPr>
          <p:cNvPr id="114692"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5"/>
          <p:cNvSpPr>
            <a:spLocks noGrp="1" noChangeArrowheads="1"/>
          </p:cNvSpPr>
          <p:nvPr>
            <p:ph type="sldNum" sz="quarter" idx="5"/>
          </p:nvPr>
        </p:nvSpPr>
        <p:spPr>
          <a:noFill/>
        </p:spPr>
        <p:txBody>
          <a:bodyPr/>
          <a:lstStyle/>
          <a:p>
            <a:fld id="{8F6B8B53-4F60-4089-8021-C0448E8BADF0}" type="slidenum">
              <a:rPr lang="en-US" altLang="zh-CN" smtClean="0"/>
              <a:pPr/>
              <a:t>43</a:t>
            </a:fld>
            <a:endParaRPr lang="en-US" altLang="zh-CN"/>
          </a:p>
        </p:txBody>
      </p:sp>
      <p:sp>
        <p:nvSpPr>
          <p:cNvPr id="115715" name="Rectangle 2"/>
          <p:cNvSpPr>
            <a:spLocks noGrp="1" noRot="1" noChangeAspect="1" noChangeArrowheads="1" noTextEdit="1"/>
          </p:cNvSpPr>
          <p:nvPr>
            <p:ph type="sldImg"/>
          </p:nvPr>
        </p:nvSpPr>
        <p:spPr>
          <a:xfrm>
            <a:off x="381000" y="685800"/>
            <a:ext cx="6096000" cy="3429000"/>
          </a:xfrm>
          <a:ln/>
        </p:spPr>
      </p:sp>
      <p:sp>
        <p:nvSpPr>
          <p:cNvPr id="115716"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93700" y="692150"/>
            <a:ext cx="6070600" cy="3416300"/>
          </a:xfrm>
        </p:spPr>
      </p:sp>
      <p:sp>
        <p:nvSpPr>
          <p:cNvPr id="3" name="备注占位符 2"/>
          <p:cNvSpPr>
            <a:spLocks noGrp="1"/>
          </p:cNvSpPr>
          <p:nvPr>
            <p:ph type="body" idx="1"/>
          </p:nvPr>
        </p:nvSpPr>
        <p:spPr/>
        <p:txBody>
          <a:bodyPr>
            <a:normAutofit/>
          </a:bodyPr>
          <a:lstStyle/>
          <a:p>
            <a:r>
              <a:rPr lang="zh-CN" altLang="en-US" dirty="0"/>
              <a:t>进价金额核算，平时不登记发出数量和结转成本，月末盘点，倒挤发出数量，乘以进价结转成本。</a:t>
            </a:r>
          </a:p>
        </p:txBody>
      </p:sp>
      <p:sp>
        <p:nvSpPr>
          <p:cNvPr id="4" name="灯片编号占位符 3"/>
          <p:cNvSpPr>
            <a:spLocks noGrp="1"/>
          </p:cNvSpPr>
          <p:nvPr>
            <p:ph type="sldNum" sz="quarter" idx="10"/>
          </p:nvPr>
        </p:nvSpPr>
        <p:spPr/>
        <p:txBody>
          <a:bodyPr/>
          <a:lstStyle/>
          <a:p>
            <a:pPr>
              <a:defRPr/>
            </a:pPr>
            <a:fld id="{171BF345-45B8-473D-A9F7-1C34DB018DF9}" type="slidenum">
              <a:rPr lang="en-US" altLang="zh-CN" smtClean="0"/>
              <a:pPr>
                <a:defRPr/>
              </a:pPr>
              <a:t>56</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5"/>
          <p:cNvSpPr>
            <a:spLocks noGrp="1" noChangeArrowheads="1"/>
          </p:cNvSpPr>
          <p:nvPr>
            <p:ph type="sldNum" sz="quarter" idx="5"/>
          </p:nvPr>
        </p:nvSpPr>
        <p:spPr>
          <a:noFill/>
        </p:spPr>
        <p:txBody>
          <a:bodyPr/>
          <a:lstStyle/>
          <a:p>
            <a:fld id="{4D4FC453-5ECB-46E1-8B9A-4779E46641B5}" type="slidenum">
              <a:rPr lang="en-US" altLang="zh-CN" smtClean="0"/>
              <a:pPr/>
              <a:t>57</a:t>
            </a:fld>
            <a:endParaRPr lang="en-US" altLang="zh-CN"/>
          </a:p>
        </p:txBody>
      </p:sp>
      <p:sp>
        <p:nvSpPr>
          <p:cNvPr id="116739" name="Rectangle 2"/>
          <p:cNvSpPr>
            <a:spLocks noGrp="1" noRot="1" noChangeAspect="1" noChangeArrowheads="1" noTextEdit="1"/>
          </p:cNvSpPr>
          <p:nvPr>
            <p:ph type="sldImg"/>
          </p:nvPr>
        </p:nvSpPr>
        <p:spPr>
          <a:xfrm>
            <a:off x="381000" y="685800"/>
            <a:ext cx="6096000" cy="3429000"/>
          </a:xfrm>
          <a:ln/>
        </p:spPr>
      </p:sp>
      <p:sp>
        <p:nvSpPr>
          <p:cNvPr id="116740"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5"/>
          <p:cNvSpPr>
            <a:spLocks noGrp="1" noChangeArrowheads="1"/>
          </p:cNvSpPr>
          <p:nvPr>
            <p:ph type="sldNum" sz="quarter" idx="5"/>
          </p:nvPr>
        </p:nvSpPr>
        <p:spPr>
          <a:noFill/>
        </p:spPr>
        <p:txBody>
          <a:bodyPr/>
          <a:lstStyle/>
          <a:p>
            <a:fld id="{2131579F-9B4F-4CB4-8BAE-60B8A305947B}" type="slidenum">
              <a:rPr lang="en-US" altLang="zh-CN" smtClean="0"/>
              <a:pPr/>
              <a:t>67</a:t>
            </a:fld>
            <a:endParaRPr lang="en-US" altLang="zh-CN"/>
          </a:p>
        </p:txBody>
      </p:sp>
      <p:sp>
        <p:nvSpPr>
          <p:cNvPr id="117763" name="Rectangle 2"/>
          <p:cNvSpPr>
            <a:spLocks noGrp="1" noRot="1" noChangeAspect="1" noChangeArrowheads="1" noTextEdit="1"/>
          </p:cNvSpPr>
          <p:nvPr>
            <p:ph type="sldImg"/>
          </p:nvPr>
        </p:nvSpPr>
        <p:spPr>
          <a:xfrm>
            <a:off x="381000" y="685800"/>
            <a:ext cx="6096000" cy="3429000"/>
          </a:xfrm>
          <a:ln/>
        </p:spPr>
      </p:sp>
      <p:sp>
        <p:nvSpPr>
          <p:cNvPr id="117764"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5"/>
          <p:cNvSpPr>
            <a:spLocks noGrp="1" noChangeArrowheads="1"/>
          </p:cNvSpPr>
          <p:nvPr>
            <p:ph type="sldNum" sz="quarter" idx="5"/>
          </p:nvPr>
        </p:nvSpPr>
        <p:spPr>
          <a:noFill/>
        </p:spPr>
        <p:txBody>
          <a:bodyPr/>
          <a:lstStyle/>
          <a:p>
            <a:fld id="{EE65C410-617D-493D-8152-71D2E174C513}" type="slidenum">
              <a:rPr lang="en-US" altLang="zh-CN" smtClean="0"/>
              <a:pPr/>
              <a:t>72</a:t>
            </a:fld>
            <a:endParaRPr lang="en-US" altLang="zh-CN"/>
          </a:p>
        </p:txBody>
      </p:sp>
      <p:sp>
        <p:nvSpPr>
          <p:cNvPr id="11878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eaLnBrk="1" hangingPunct="1"/>
            <a:fld id="{ACFE4EB1-C7F0-4C4A-ABD0-13C0A76F0797}" type="slidenum">
              <a:rPr kumimoji="1" lang="en-US" altLang="zh-CN" sz="1200">
                <a:solidFill>
                  <a:schemeClr val="tx1"/>
                </a:solidFill>
                <a:effectLst/>
                <a:latin typeface="Times New Roman" pitchFamily="18" charset="0"/>
              </a:rPr>
              <a:pPr algn="r" eaLnBrk="1" hangingPunct="1"/>
              <a:t>72</a:t>
            </a:fld>
            <a:endParaRPr kumimoji="1" lang="en-US" altLang="zh-CN" sz="1200">
              <a:solidFill>
                <a:schemeClr val="tx1"/>
              </a:solidFill>
              <a:effectLst/>
              <a:latin typeface="Times New Roman" pitchFamily="18" charset="0"/>
            </a:endParaRPr>
          </a:p>
        </p:txBody>
      </p:sp>
      <p:sp>
        <p:nvSpPr>
          <p:cNvPr id="118788" name="Rectangle 2"/>
          <p:cNvSpPr>
            <a:spLocks noGrp="1" noRot="1" noChangeAspect="1" noChangeArrowheads="1" noTextEdit="1"/>
          </p:cNvSpPr>
          <p:nvPr>
            <p:ph type="sldImg"/>
          </p:nvPr>
        </p:nvSpPr>
        <p:spPr>
          <a:xfrm>
            <a:off x="381000" y="685800"/>
            <a:ext cx="6096000" cy="3429000"/>
          </a:xfrm>
          <a:ln/>
        </p:spPr>
      </p:sp>
      <p:sp>
        <p:nvSpPr>
          <p:cNvPr id="118789" name="Rectangle 3"/>
          <p:cNvSpPr>
            <a:spLocks noGrp="1" noChangeArrowheads="1"/>
          </p:cNvSpPr>
          <p:nvPr>
            <p:ph type="body" idx="1"/>
          </p:nvPr>
        </p:nvSpPr>
        <p:spPr>
          <a:noFill/>
          <a:ln/>
        </p:spPr>
        <p:txBody>
          <a:bodyPr lIns="91440" tIns="45720" rIns="91440" bIns="45720"/>
          <a:lstStyle/>
          <a:p>
            <a:pPr defTabSz="914400"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12012084"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289804" name="Rectangle 12"/>
          <p:cNvSpPr>
            <a:spLocks noGrp="1" noChangeArrowheads="1"/>
          </p:cNvSpPr>
          <p:nvPr>
            <p:ph type="ctrTitle"/>
          </p:nvPr>
        </p:nvSpPr>
        <p:spPr>
          <a:xfrm>
            <a:off x="1320800" y="1676400"/>
            <a:ext cx="10363200" cy="1462088"/>
          </a:xfrm>
        </p:spPr>
        <p:txBody>
          <a:bodyPr/>
          <a:lstStyle>
            <a:lvl1pPr>
              <a:defRPr/>
            </a:lvl1pPr>
          </a:lstStyle>
          <a:p>
            <a:r>
              <a:rPr lang="zh-CN" altLang="en-US"/>
              <a:t>单击此处编辑母版标题样式</a:t>
            </a:r>
          </a:p>
        </p:txBody>
      </p:sp>
      <p:sp>
        <p:nvSpPr>
          <p:cNvPr id="289805" name="Rectangle 13"/>
          <p:cNvSpPr>
            <a:spLocks noGrp="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1320800" y="6248400"/>
            <a:ext cx="2540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4572000" y="6248400"/>
            <a:ext cx="38608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9144000" y="6248400"/>
            <a:ext cx="2540000" cy="457200"/>
          </a:xfrm>
        </p:spPr>
        <p:txBody>
          <a:bodyPr/>
          <a:lstStyle>
            <a:lvl1pPr>
              <a:defRPr>
                <a:solidFill>
                  <a:schemeClr val="bg2"/>
                </a:solidFill>
              </a:defRPr>
            </a:lvl1pPr>
          </a:lstStyle>
          <a:p>
            <a:pPr>
              <a:defRPr/>
            </a:pPr>
            <a:fld id="{9F92B998-A2DC-4F41-889D-C6CB4729C698}"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2pPr>
              <a:defRPr>
                <a:latin typeface="楷体_GB2312" panose="02010609030101010101" pitchFamily="49" charset="-122"/>
                <a:ea typeface="楷体_GB2312" panose="02010609030101010101" pitchFamily="49" charset="-122"/>
              </a:defRPr>
            </a:lvl2pPr>
            <a:lvl3pPr>
              <a:defRPr>
                <a:latin typeface="+mn-ea"/>
                <a:ea typeface="+mn-ea"/>
              </a:defRPr>
            </a:lvl3pPr>
            <a:lvl4pPr>
              <a:defRPr>
                <a:latin typeface="仿宋_GB2312" panose="02010609030101010101" pitchFamily="49" charset="-122"/>
                <a:ea typeface="仿宋_GB2312" panose="02010609030101010101" pitchFamily="49" charset="-122"/>
              </a:defRPr>
            </a:lvl4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9809D457-C68E-4415-BCD6-0DACC2CA6E90}"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AC47AC02-CB5B-4DC0-A033-9D9DA82B6201}"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5769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8601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D89AE388-8C2C-462D-9593-091708BC042E}"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DA8D6EB4-AA2B-4808-8898-EAD9D1D1FD9F}"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BFE6002F-4D45-4133-AA53-CC4A0BC03789}"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7D7E3319-0428-46F8-A5F7-DE06FFEB837A}"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DBA5D1A8-464E-4A2A-BD2C-ADAC0148C2AD}"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B3A884BF-60FC-45BC-A3D7-1770559A18D7}"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EE19E60E-BE9F-4B9E-A5B7-D2A6A2C395BF}"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38733" y="214313"/>
            <a:ext cx="2601384"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534584" y="214313"/>
            <a:ext cx="7600949"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50445634-673E-4219-8F58-72A0A76C1DDB}"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34584" y="214313"/>
            <a:ext cx="10390716" cy="1462087"/>
          </a:xfrm>
        </p:spPr>
        <p:txBody>
          <a:bodyPr/>
          <a:lstStyle/>
          <a:p>
            <a:r>
              <a:rPr lang="zh-CN" altLang="en-US"/>
              <a:t>单击此处编辑母版标题样式</a:t>
            </a:r>
          </a:p>
        </p:txBody>
      </p:sp>
      <p:sp>
        <p:nvSpPr>
          <p:cNvPr id="3" name="表格占位符 2"/>
          <p:cNvSpPr>
            <a:spLocks noGrp="1"/>
          </p:cNvSpPr>
          <p:nvPr>
            <p:ph type="tbl" idx="1"/>
          </p:nvPr>
        </p:nvSpPr>
        <p:spPr>
          <a:xfrm>
            <a:off x="1576917" y="2017713"/>
            <a:ext cx="10363200" cy="4114800"/>
          </a:xfrm>
        </p:spPr>
        <p:txBody>
          <a:bodyPr/>
          <a:lstStyle/>
          <a:p>
            <a:pPr lvl="0"/>
            <a:endParaRPr lang="zh-CN" altLang="en-US" noProof="0"/>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B6196AC5-FAC5-49FC-82CE-5E0035DF16EA}"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34584" y="214313"/>
            <a:ext cx="10390716"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576917" y="2017713"/>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860117" y="2017713"/>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9D9FA020-0644-4E30-9FA1-3BB2E488C7C2}"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556684" y="1098550"/>
            <a:ext cx="584200" cy="474663"/>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27" name="Rectangle 3"/>
          <p:cNvSpPr>
            <a:spLocks noChangeArrowheads="1"/>
          </p:cNvSpPr>
          <p:nvPr/>
        </p:nvSpPr>
        <p:spPr bwMode="ltGray">
          <a:xfrm>
            <a:off x="1066800" y="1098550"/>
            <a:ext cx="438151"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28" name="Rectangle 4"/>
          <p:cNvSpPr>
            <a:spLocks noChangeArrowheads="1"/>
          </p:cNvSpPr>
          <p:nvPr/>
        </p:nvSpPr>
        <p:spPr bwMode="ltGray">
          <a:xfrm>
            <a:off x="721784" y="1520825"/>
            <a:ext cx="563033" cy="474663"/>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29" name="Rectangle 5"/>
          <p:cNvSpPr>
            <a:spLocks noChangeArrowheads="1"/>
          </p:cNvSpPr>
          <p:nvPr/>
        </p:nvSpPr>
        <p:spPr bwMode="ltGray">
          <a:xfrm>
            <a:off x="1214967" y="1520825"/>
            <a:ext cx="491067"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0" name="Rectangle 6"/>
          <p:cNvSpPr>
            <a:spLocks noChangeArrowheads="1"/>
          </p:cNvSpPr>
          <p:nvPr/>
        </p:nvSpPr>
        <p:spPr bwMode="ltGray">
          <a:xfrm>
            <a:off x="169333" y="1447800"/>
            <a:ext cx="747184"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1" name="Rectangle 7"/>
          <p:cNvSpPr>
            <a:spLocks noChangeArrowheads="1"/>
          </p:cNvSpPr>
          <p:nvPr/>
        </p:nvSpPr>
        <p:spPr bwMode="gray">
          <a:xfrm>
            <a:off x="1016000" y="990600"/>
            <a:ext cx="42333" cy="105251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2" name="Rectangle 8"/>
          <p:cNvSpPr>
            <a:spLocks noChangeArrowheads="1"/>
          </p:cNvSpPr>
          <p:nvPr/>
        </p:nvSpPr>
        <p:spPr bwMode="gray">
          <a:xfrm>
            <a:off x="590551" y="1781175"/>
            <a:ext cx="10968567"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3" name="Rectangle 9"/>
          <p:cNvSpPr>
            <a:spLocks noGrp="1" noChangeArrowheads="1"/>
          </p:cNvSpPr>
          <p:nvPr>
            <p:ph type="title"/>
          </p:nvPr>
        </p:nvSpPr>
        <p:spPr bwMode="auto">
          <a:xfrm>
            <a:off x="1534584" y="214313"/>
            <a:ext cx="10390716"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34" name="Rectangle 10"/>
          <p:cNvSpPr>
            <a:spLocks noGrp="1" noChangeArrowheads="1"/>
          </p:cNvSpPr>
          <p:nvPr>
            <p:ph type="body" idx="1"/>
          </p:nvPr>
        </p:nvSpPr>
        <p:spPr bwMode="auto">
          <a:xfrm>
            <a:off x="1576917" y="20177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88779" name="Rectangle 11"/>
          <p:cNvSpPr>
            <a:spLocks noGrp="1" noChangeArrowheads="1"/>
          </p:cNvSpPr>
          <p:nvPr>
            <p:ph type="dt" sz="half" idx="2"/>
          </p:nvPr>
        </p:nvSpPr>
        <p:spPr bwMode="auto">
          <a:xfrm>
            <a:off x="1549400" y="6243638"/>
            <a:ext cx="2540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a:lvl1pPr>
          </a:lstStyle>
          <a:p>
            <a:pPr>
              <a:defRPr/>
            </a:pPr>
            <a:endParaRPr lang="en-US" altLang="zh-CN"/>
          </a:p>
        </p:txBody>
      </p:sp>
      <p:sp>
        <p:nvSpPr>
          <p:cNvPr id="288780" name="Rectangle 12"/>
          <p:cNvSpPr>
            <a:spLocks noGrp="1" noChangeArrowheads="1"/>
          </p:cNvSpPr>
          <p:nvPr>
            <p:ph type="ftr" sz="quarter" idx="3"/>
          </p:nvPr>
        </p:nvSpPr>
        <p:spPr bwMode="auto">
          <a:xfrm>
            <a:off x="4876800" y="6243638"/>
            <a:ext cx="38608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a:lvl1pPr>
          </a:lstStyle>
          <a:p>
            <a:pPr>
              <a:defRPr/>
            </a:pPr>
            <a:endParaRPr lang="en-US" altLang="zh-CN"/>
          </a:p>
        </p:txBody>
      </p:sp>
      <p:sp>
        <p:nvSpPr>
          <p:cNvPr id="288781" name="Rectangle 13"/>
          <p:cNvSpPr>
            <a:spLocks noGrp="1" noChangeArrowheads="1"/>
          </p:cNvSpPr>
          <p:nvPr>
            <p:ph type="sldNum" sz="quarter" idx="4"/>
          </p:nvPr>
        </p:nvSpPr>
        <p:spPr bwMode="auto">
          <a:xfrm>
            <a:off x="9389533" y="6243638"/>
            <a:ext cx="2540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a:lvl1pPr>
          </a:lstStyle>
          <a:p>
            <a:pPr>
              <a:defRPr/>
            </a:pPr>
            <a:fld id="{81FC81BC-D6D4-4452-8C53-E68B79F6DBA1}"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5pPr>
      <a:lvl6pPr marL="457200" algn="l" rtl="0" fontAlgn="base">
        <a:spcBef>
          <a:spcPct val="0"/>
        </a:spcBef>
        <a:spcAft>
          <a:spcPct val="0"/>
        </a:spcAft>
        <a:defRPr sz="4400" b="1">
          <a:solidFill>
            <a:schemeClr val="tx2"/>
          </a:solidFill>
          <a:latin typeface="Tahoma" panose="020B0604030504040204" pitchFamily="34" charset="0"/>
          <a:ea typeface="华文中宋" pitchFamily="2" charset="-122"/>
        </a:defRPr>
      </a:lvl6pPr>
      <a:lvl7pPr marL="914400" algn="l" rtl="0" fontAlgn="base">
        <a:spcBef>
          <a:spcPct val="0"/>
        </a:spcBef>
        <a:spcAft>
          <a:spcPct val="0"/>
        </a:spcAft>
        <a:defRPr sz="4400" b="1">
          <a:solidFill>
            <a:schemeClr val="tx2"/>
          </a:solidFill>
          <a:latin typeface="Tahoma" panose="020B0604030504040204" pitchFamily="34" charset="0"/>
          <a:ea typeface="华文中宋" pitchFamily="2" charset="-122"/>
        </a:defRPr>
      </a:lvl7pPr>
      <a:lvl8pPr marL="1371600" algn="l" rtl="0" fontAlgn="base">
        <a:spcBef>
          <a:spcPct val="0"/>
        </a:spcBef>
        <a:spcAft>
          <a:spcPct val="0"/>
        </a:spcAft>
        <a:defRPr sz="4400" b="1">
          <a:solidFill>
            <a:schemeClr val="tx2"/>
          </a:solidFill>
          <a:latin typeface="Tahoma" panose="020B0604030504040204" pitchFamily="34" charset="0"/>
          <a:ea typeface="华文中宋" pitchFamily="2" charset="-122"/>
        </a:defRPr>
      </a:lvl8pPr>
      <a:lvl9pPr marL="1828800" algn="l" rtl="0" fontAlgn="base">
        <a:spcBef>
          <a:spcPct val="0"/>
        </a:spcBef>
        <a:spcAft>
          <a:spcPct val="0"/>
        </a:spcAft>
        <a:defRPr sz="4400" b="1">
          <a:solidFill>
            <a:schemeClr val="tx2"/>
          </a:solidFill>
          <a:latin typeface="Tahoma" panose="020B0604030504040204" pitchFamily="34" charset="0"/>
          <a:ea typeface="华文中宋"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a:solidFill>
            <a:schemeClr val="tx1"/>
          </a:solidFill>
          <a:latin typeface="楷体_GB2312" panose="02010609030101010101" pitchFamily="49" charset="-122"/>
          <a:ea typeface="楷体_GB2312" panose="02010609030101010101" pitchFamily="49"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a:solidFill>
            <a:schemeClr val="tx1"/>
          </a:solidFill>
          <a:latin typeface="楷体_GB2312" panose="02010609030101010101" pitchFamily="49" charset="-122"/>
          <a:ea typeface="楷体_GB2312" panose="02010609030101010101" pitchFamily="49"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a:solidFill>
            <a:schemeClr val="tx1"/>
          </a:solidFill>
          <a:latin typeface="黑体" panose="02010609060101010101" pitchFamily="49" charset="-122"/>
          <a:ea typeface="黑体" panose="02010609060101010101" pitchFamily="49"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黑体" panose="02010609060101010101" pitchFamily="49" charset="-122"/>
          <a:ea typeface="黑体" panose="02010609060101010101" pitchFamily="49"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31034;&#20363;4-1&#65306;&#22806;&#36141;&#23384;&#36135;&#23384;&#22312;&#25439;&#32791;&#26102;&#30340;&#21021;&#22987;&#35745;&#37327;.pp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2424430" y="1561465"/>
            <a:ext cx="7772400" cy="4428490"/>
          </a:xfrm>
        </p:spPr>
        <p:txBody>
          <a:bodyPr/>
          <a:lstStyle/>
          <a:p>
            <a:pPr eaLnBrk="1" hangingPunct="1"/>
            <a:endParaRPr lang="en-US" altLang="zh-CN" dirty="0"/>
          </a:p>
          <a:p>
            <a:pPr eaLnBrk="1" hangingPunct="1"/>
            <a:endParaRPr lang="en-US" altLang="zh-CN" dirty="0"/>
          </a:p>
          <a:p>
            <a:pPr marL="0" indent="0" algn="ctr" eaLnBrk="1" hangingPunct="1">
              <a:buNone/>
            </a:pPr>
            <a:r>
              <a:rPr lang="zh-CN" altLang="en-US" sz="4400" dirty="0">
                <a:latin typeface="黑体" panose="02010609060101010101" pitchFamily="2" charset="-122"/>
                <a:ea typeface="黑体" panose="02010609060101010101" pitchFamily="2" charset="-122"/>
                <a:cs typeface="黑体" panose="02010609060101010101" pitchFamily="2" charset="-122"/>
              </a:rPr>
              <a:t>第</a:t>
            </a:r>
            <a:r>
              <a:rPr lang="en-US" altLang="zh-CN" sz="4400" dirty="0">
                <a:latin typeface="黑体" panose="02010609060101010101" pitchFamily="2" charset="-122"/>
                <a:ea typeface="黑体" panose="02010609060101010101" pitchFamily="2" charset="-122"/>
                <a:cs typeface="黑体" panose="02010609060101010101" pitchFamily="2" charset="-122"/>
              </a:rPr>
              <a:t>4</a:t>
            </a:r>
            <a:r>
              <a:rPr lang="zh-CN" altLang="en-US" sz="4400" dirty="0">
                <a:latin typeface="黑体" panose="02010609060101010101" pitchFamily="2" charset="-122"/>
                <a:ea typeface="黑体" panose="02010609060101010101" pitchFamily="2" charset="-122"/>
                <a:cs typeface="黑体" panose="02010609060101010101" pitchFamily="2" charset="-122"/>
              </a:rPr>
              <a:t>章  存货</a:t>
            </a:r>
          </a:p>
        </p:txBody>
      </p:sp>
      <p:pic>
        <p:nvPicPr>
          <p:cNvPr id="4" name="图片 3">
            <a:extLst>
              <a:ext uri="{FF2B5EF4-FFF2-40B4-BE49-F238E27FC236}">
                <a16:creationId xmlns:a16="http://schemas.microsoft.com/office/drawing/2014/main" id="{D2E728C5-9070-403C-A7CD-BA09CA1471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76510" y="3695049"/>
            <a:ext cx="2304256" cy="2986290"/>
          </a:xfrm>
          <a:prstGeom prst="rect">
            <a:avLst/>
          </a:prstGeom>
        </p:spPr>
      </p:pic>
      <p:sp>
        <p:nvSpPr>
          <p:cNvPr id="5" name="矩形 4">
            <a:extLst>
              <a:ext uri="{FF2B5EF4-FFF2-40B4-BE49-F238E27FC236}">
                <a16:creationId xmlns:a16="http://schemas.microsoft.com/office/drawing/2014/main" id="{2A02E22F-B561-41B9-8BA4-987623F0A8E0}"/>
              </a:ext>
            </a:extLst>
          </p:cNvPr>
          <p:cNvSpPr/>
          <p:nvPr/>
        </p:nvSpPr>
        <p:spPr>
          <a:xfrm>
            <a:off x="3627264" y="4547117"/>
            <a:ext cx="2992593" cy="923330"/>
          </a:xfrm>
          <a:prstGeom prst="rect">
            <a:avLst/>
          </a:prstGeom>
        </p:spPr>
        <p:txBody>
          <a:bodyPr wrap="square">
            <a:spAutoFit/>
          </a:bodyPr>
          <a:lstStyle/>
          <a:p>
            <a:pPr eaLnBrk="1" hangingPunct="1"/>
            <a:r>
              <a:rPr lang="zh-CN" altLang="en-US" dirty="0"/>
              <a:t>配套教材</a:t>
            </a:r>
            <a:endParaRPr lang="en-US" altLang="zh-CN" dirty="0"/>
          </a:p>
          <a:p>
            <a:pPr eaLnBrk="1" hangingPunct="1"/>
            <a:r>
              <a:rPr lang="zh-CN" altLang="en-US" dirty="0"/>
              <a:t>纸质版：天猫、京东、当当</a:t>
            </a:r>
            <a:endParaRPr lang="en-US" altLang="zh-CN" dirty="0"/>
          </a:p>
          <a:p>
            <a:pPr eaLnBrk="1" hangingPunct="1"/>
            <a:r>
              <a:rPr lang="zh-CN" altLang="en-US" dirty="0"/>
              <a:t>电子版及教辅：文泉学堂</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四川长虹</a:t>
            </a:r>
            <a:r>
              <a:rPr lang="en-US" altLang="zh-CN" dirty="0"/>
              <a:t>2014-2018</a:t>
            </a:r>
            <a:r>
              <a:rPr lang="zh-CN" altLang="en-US" dirty="0"/>
              <a:t>年年报选摘</a:t>
            </a:r>
          </a:p>
        </p:txBody>
      </p:sp>
      <p:graphicFrame>
        <p:nvGraphicFramePr>
          <p:cNvPr id="6" name="表格 5"/>
          <p:cNvGraphicFramePr>
            <a:graphicFrameLocks noGrp="1"/>
          </p:cNvGraphicFramePr>
          <p:nvPr>
            <p:extLst>
              <p:ext uri="{D42A27DB-BD31-4B8C-83A1-F6EECF244321}">
                <p14:modId xmlns:p14="http://schemas.microsoft.com/office/powerpoint/2010/main" val="1527073817"/>
              </p:ext>
            </p:extLst>
          </p:nvPr>
        </p:nvGraphicFramePr>
        <p:xfrm>
          <a:off x="1089211" y="1874974"/>
          <a:ext cx="9284499" cy="4719206"/>
        </p:xfrm>
        <a:graphic>
          <a:graphicData uri="http://schemas.openxmlformats.org/drawingml/2006/table">
            <a:tbl>
              <a:tblPr>
                <a:tableStyleId>{7E9639D4-E3E2-4D34-9284-5A2195B3D0D7}</a:tableStyleId>
              </a:tblPr>
              <a:tblGrid>
                <a:gridCol w="4525359">
                  <a:extLst>
                    <a:ext uri="{9D8B030D-6E8A-4147-A177-3AD203B41FA5}">
                      <a16:colId xmlns:a16="http://schemas.microsoft.com/office/drawing/2014/main" val="20000"/>
                    </a:ext>
                  </a:extLst>
                </a:gridCol>
                <a:gridCol w="960935">
                  <a:extLst>
                    <a:ext uri="{9D8B030D-6E8A-4147-A177-3AD203B41FA5}">
                      <a16:colId xmlns:a16="http://schemas.microsoft.com/office/drawing/2014/main" val="20001"/>
                    </a:ext>
                  </a:extLst>
                </a:gridCol>
                <a:gridCol w="942721">
                  <a:extLst>
                    <a:ext uri="{9D8B030D-6E8A-4147-A177-3AD203B41FA5}">
                      <a16:colId xmlns:a16="http://schemas.microsoft.com/office/drawing/2014/main" val="20002"/>
                    </a:ext>
                  </a:extLst>
                </a:gridCol>
                <a:gridCol w="951828">
                  <a:extLst>
                    <a:ext uri="{9D8B030D-6E8A-4147-A177-3AD203B41FA5}">
                      <a16:colId xmlns:a16="http://schemas.microsoft.com/office/drawing/2014/main" val="20003"/>
                    </a:ext>
                  </a:extLst>
                </a:gridCol>
                <a:gridCol w="951828">
                  <a:extLst>
                    <a:ext uri="{9D8B030D-6E8A-4147-A177-3AD203B41FA5}">
                      <a16:colId xmlns:a16="http://schemas.microsoft.com/office/drawing/2014/main" val="20004"/>
                    </a:ext>
                  </a:extLst>
                </a:gridCol>
                <a:gridCol w="951828">
                  <a:extLst>
                    <a:ext uri="{9D8B030D-6E8A-4147-A177-3AD203B41FA5}">
                      <a16:colId xmlns:a16="http://schemas.microsoft.com/office/drawing/2014/main" val="20005"/>
                    </a:ext>
                  </a:extLst>
                </a:gridCol>
              </a:tblGrid>
              <a:tr h="462722">
                <a:tc gridSpan="6">
                  <a:txBody>
                    <a:bodyPr/>
                    <a:lstStyle/>
                    <a:p>
                      <a:pPr algn="l" fontAlgn="ctr"/>
                      <a:r>
                        <a:rPr lang="zh-CN" altLang="en-US" sz="1800" u="none" strike="noStrike" dirty="0">
                          <a:effectLst/>
                        </a:rPr>
                        <a:t>资产负债表</a:t>
                      </a:r>
                      <a:r>
                        <a:rPr lang="en-US" altLang="zh-CN" sz="1800" u="none" strike="noStrike" dirty="0">
                          <a:effectLst/>
                        </a:rPr>
                        <a:t>(</a:t>
                      </a:r>
                      <a:r>
                        <a:rPr lang="zh-CN" altLang="en-US" sz="1800" u="none" strike="noStrike" dirty="0">
                          <a:effectLst/>
                        </a:rPr>
                        <a:t>证券代码：</a:t>
                      </a:r>
                      <a:r>
                        <a:rPr lang="en-US" altLang="zh-CN" sz="1800" u="none" strike="noStrike" dirty="0">
                          <a:effectLst/>
                        </a:rPr>
                        <a:t>600839.SH </a:t>
                      </a:r>
                      <a:r>
                        <a:rPr lang="zh-CN" altLang="en-US" sz="1800" u="none" strike="noStrike" dirty="0">
                          <a:effectLst/>
                        </a:rPr>
                        <a:t>名称：四川长虹</a:t>
                      </a:r>
                      <a:r>
                        <a:rPr lang="en-US" altLang="zh-CN" sz="1800" u="none" strike="noStrike" dirty="0">
                          <a:effectLst/>
                        </a:rPr>
                        <a:t>)</a:t>
                      </a:r>
                      <a:endParaRPr lang="en-US" altLang="zh-CN" sz="1800" b="1"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68150">
                <a:tc>
                  <a:txBody>
                    <a:bodyPr/>
                    <a:lstStyle/>
                    <a:p>
                      <a:pPr algn="l" fontAlgn="ctr"/>
                      <a:r>
                        <a:rPr lang="zh-CN" altLang="en-US" sz="1800" u="none" strike="noStrike" dirty="0">
                          <a:effectLst/>
                        </a:rPr>
                        <a:t>（单位：亿元，</a:t>
                      </a:r>
                      <a:r>
                        <a:rPr lang="en-US" altLang="zh-CN" sz="1800" u="none" strike="noStrike" dirty="0">
                          <a:effectLst/>
                        </a:rPr>
                        <a:t>CNY</a:t>
                      </a:r>
                      <a:r>
                        <a:rPr lang="zh-CN" altLang="en-US" sz="1800" u="none" strike="noStrike" dirty="0">
                          <a:effectLst/>
                        </a:rPr>
                        <a:t>）</a:t>
                      </a:r>
                      <a:endParaRPr lang="zh-CN" altLang="en-US" sz="1800" b="1"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800" u="none" strike="noStrike">
                          <a:effectLst/>
                        </a:rPr>
                        <a:t>　</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800" u="none" strike="noStrike">
                          <a:effectLst/>
                        </a:rPr>
                        <a:t>　</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800" u="none" strike="noStrike" dirty="0">
                          <a:effectLst/>
                        </a:rPr>
                        <a:t>　</a:t>
                      </a: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800" u="none" strike="noStrike">
                          <a:effectLst/>
                        </a:rPr>
                        <a:t>　</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800" u="none" strike="noStrike">
                          <a:effectLst/>
                        </a:rPr>
                        <a:t>　</a:t>
                      </a:r>
                      <a:endParaRPr lang="zh-CN" altLang="en-US" sz="18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31264">
                <a:tc>
                  <a:txBody>
                    <a:bodyPr/>
                    <a:lstStyle/>
                    <a:p>
                      <a:pPr algn="l" fontAlgn="ctr"/>
                      <a:r>
                        <a:rPr lang="zh-CN" altLang="en-US" sz="1400" u="none" strike="noStrike" dirty="0">
                          <a:effectLst/>
                        </a:rPr>
                        <a:t> </a:t>
                      </a:r>
                      <a:endParaRPr lang="zh-CN" altLang="en-US" sz="1400" b="1"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2018 </a:t>
                      </a:r>
                      <a:r>
                        <a:rPr lang="zh-CN" altLang="en-US" sz="1400" u="none" strike="noStrike" dirty="0">
                          <a:effectLst/>
                        </a:rPr>
                        <a:t>年报</a:t>
                      </a:r>
                      <a:endParaRPr lang="zh-CN" altLang="en-US" sz="1400" b="1"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2017 </a:t>
                      </a:r>
                      <a:r>
                        <a:rPr lang="zh-CN" altLang="en-US" sz="1400" u="none" strike="noStrike">
                          <a:effectLst/>
                        </a:rPr>
                        <a:t>年报</a:t>
                      </a:r>
                      <a:endParaRPr lang="zh-CN" altLang="en-US" sz="1400" b="1"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2016 </a:t>
                      </a:r>
                      <a:r>
                        <a:rPr lang="zh-CN" altLang="en-US" sz="1400" u="none" strike="noStrike">
                          <a:effectLst/>
                        </a:rPr>
                        <a:t>年报</a:t>
                      </a:r>
                      <a:endParaRPr lang="zh-CN" altLang="en-US" sz="1400" b="1"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2015 </a:t>
                      </a:r>
                      <a:r>
                        <a:rPr lang="zh-CN" altLang="en-US" sz="1400" u="none" strike="noStrike">
                          <a:effectLst/>
                        </a:rPr>
                        <a:t>年报</a:t>
                      </a:r>
                      <a:endParaRPr lang="zh-CN" altLang="en-US" sz="1400" b="1"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2014 </a:t>
                      </a:r>
                      <a:r>
                        <a:rPr lang="zh-CN" altLang="en-US" sz="1400" u="none" strike="noStrike">
                          <a:effectLst/>
                        </a:rPr>
                        <a:t>年报</a:t>
                      </a:r>
                      <a:endParaRPr lang="zh-CN" altLang="en-US" sz="1400" b="1"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31264">
                <a:tc>
                  <a:txBody>
                    <a:bodyPr/>
                    <a:lstStyle/>
                    <a:p>
                      <a:pPr algn="l" fontAlgn="ctr"/>
                      <a:r>
                        <a:rPr lang="zh-CN" altLang="en-US" sz="1400" u="none" strike="noStrike" dirty="0">
                          <a:effectLst/>
                        </a:rPr>
                        <a:t>报表类型</a:t>
                      </a:r>
                      <a:endParaRPr lang="zh-CN" altLang="en-US"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合并</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合并</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合并</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合并</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合并</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31264">
                <a:tc>
                  <a:txBody>
                    <a:bodyPr/>
                    <a:lstStyle/>
                    <a:p>
                      <a:pPr algn="l" fontAlgn="ctr"/>
                      <a:r>
                        <a:rPr lang="zh-CN" altLang="en-US" sz="1400" u="none" strike="noStrike" dirty="0">
                          <a:effectLst/>
                        </a:rPr>
                        <a:t>流动资产：</a:t>
                      </a:r>
                      <a:endParaRPr lang="zh-CN" altLang="en-US" sz="1400" b="1"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　</a:t>
                      </a:r>
                      <a:endParaRPr lang="zh-CN" altLang="en-US" sz="1400" b="1"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　</a:t>
                      </a:r>
                      <a:endParaRPr lang="zh-CN" altLang="en-US" sz="1400" b="1"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　</a:t>
                      </a:r>
                      <a:endParaRPr lang="zh-CN" altLang="en-US" sz="1400" b="1"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　</a:t>
                      </a:r>
                      <a:endParaRPr lang="zh-CN" altLang="en-US" sz="1400" b="1"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　</a:t>
                      </a:r>
                      <a:endParaRPr lang="zh-CN" altLang="en-US" sz="1400" b="1"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31264">
                <a:tc>
                  <a:txBody>
                    <a:bodyPr/>
                    <a:lstStyle/>
                    <a:p>
                      <a:pPr algn="l" fontAlgn="ctr"/>
                      <a:r>
                        <a:rPr lang="zh-CN" altLang="en-US" sz="1400" u="none" strike="noStrike" dirty="0">
                          <a:effectLst/>
                        </a:rPr>
                        <a:t>        货币资金</a:t>
                      </a:r>
                      <a:endParaRPr lang="zh-CN" altLang="en-US"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168.71</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150.48</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119.55</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102.54</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140.00</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31264">
                <a:tc>
                  <a:txBody>
                    <a:bodyPr/>
                    <a:lstStyle/>
                    <a:p>
                      <a:pPr algn="l" fontAlgn="ctr"/>
                      <a:r>
                        <a:rPr lang="zh-CN" altLang="en-US" sz="1400" u="none" strike="noStrike" dirty="0">
                          <a:effectLst/>
                        </a:rPr>
                        <a:t>        以公允价值计量且其变动计入当期损益的金融资产</a:t>
                      </a:r>
                      <a:endParaRPr lang="zh-CN" altLang="en-US"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2.72</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1.22</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2.41</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0.52</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0.86</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31264">
                <a:tc>
                  <a:txBody>
                    <a:bodyPr/>
                    <a:lstStyle/>
                    <a:p>
                      <a:pPr algn="l" fontAlgn="ctr"/>
                      <a:r>
                        <a:rPr lang="zh-CN" altLang="en-US" sz="1400" u="none" strike="noStrike" dirty="0">
                          <a:effectLst/>
                        </a:rPr>
                        <a:t>        应收票据及应收账款</a:t>
                      </a:r>
                      <a:endParaRPr lang="zh-CN" altLang="en-US"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145.27</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134.45</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133.79</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143.51</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173.46</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31264">
                <a:tc>
                  <a:txBody>
                    <a:bodyPr/>
                    <a:lstStyle/>
                    <a:p>
                      <a:pPr algn="l" fontAlgn="ctr"/>
                      <a:r>
                        <a:rPr lang="zh-CN" altLang="en-US" sz="1400" u="none" strike="noStrike">
                          <a:effectLst/>
                        </a:rPr>
                        <a:t>        其中：应收票据</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61.02</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53.72</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55.91</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63.18</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88.72</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31264">
                <a:tc>
                  <a:txBody>
                    <a:bodyPr/>
                    <a:lstStyle/>
                    <a:p>
                      <a:pPr algn="l" fontAlgn="ctr"/>
                      <a:r>
                        <a:rPr lang="zh-CN" altLang="en-US" sz="1400" u="none" strike="noStrike">
                          <a:effectLst/>
                        </a:rPr>
                        <a:t>                    应收账款</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84.25</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80.73</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77.89</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80.33</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84.74</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31264">
                <a:tc>
                  <a:txBody>
                    <a:bodyPr/>
                    <a:lstStyle/>
                    <a:p>
                      <a:pPr algn="l" fontAlgn="ctr"/>
                      <a:r>
                        <a:rPr lang="zh-CN" altLang="en-US" sz="1400" u="none" strike="noStrike">
                          <a:effectLst/>
                        </a:rPr>
                        <a:t>        预付款项</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20.98</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17.07</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16.77</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17.02</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16.46</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31264">
                <a:tc>
                  <a:txBody>
                    <a:bodyPr/>
                    <a:lstStyle/>
                    <a:p>
                      <a:pPr algn="l" fontAlgn="ctr"/>
                      <a:r>
                        <a:rPr lang="zh-CN" altLang="en-US" sz="1400" u="none" strike="noStrike">
                          <a:effectLst/>
                        </a:rPr>
                        <a:t>        其他应收款合计</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5.85</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4.85</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5.33</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5.87</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32.22</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31264">
                <a:tc>
                  <a:txBody>
                    <a:bodyPr/>
                    <a:lstStyle/>
                    <a:p>
                      <a:pPr algn="l" fontAlgn="ctr"/>
                      <a:r>
                        <a:rPr lang="zh-CN" altLang="en-US" sz="1400" u="none" strike="noStrike">
                          <a:effectLst/>
                        </a:rPr>
                        <a:t>        其中：应收利息</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1.29</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0.36</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0.27</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0.71</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1.27</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31264">
                <a:tc>
                  <a:txBody>
                    <a:bodyPr/>
                    <a:lstStyle/>
                    <a:p>
                      <a:pPr algn="l" fontAlgn="ctr"/>
                      <a:r>
                        <a:rPr lang="zh-CN" altLang="en-US" sz="1400" u="none" strike="noStrike">
                          <a:effectLst/>
                        </a:rPr>
                        <a:t>                    应收股利</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0.11</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31264">
                <a:tc>
                  <a:txBody>
                    <a:bodyPr/>
                    <a:lstStyle/>
                    <a:p>
                      <a:pPr algn="l" fontAlgn="ctr"/>
                      <a:r>
                        <a:rPr lang="zh-CN" altLang="en-US" sz="1400" u="none" strike="noStrike" dirty="0">
                          <a:effectLst/>
                        </a:rPr>
                        <a:t>                    其他应收款</a:t>
                      </a:r>
                      <a:endParaRPr lang="zh-CN" altLang="en-US"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4.45</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4.49</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5.06</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5.15</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30.95</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8150">
                <a:tc>
                  <a:txBody>
                    <a:bodyPr/>
                    <a:lstStyle/>
                    <a:p>
                      <a:pPr algn="l" fontAlgn="ctr"/>
                      <a:r>
                        <a:rPr lang="zh-CN" altLang="en-US" sz="1800" u="none" strike="noStrike" dirty="0">
                          <a:solidFill>
                            <a:srgbClr val="3333FF"/>
                          </a:solidFill>
                          <a:effectLst/>
                        </a:rPr>
                        <a:t>        存货</a:t>
                      </a:r>
                      <a:endParaRPr lang="zh-CN" altLang="en-US" sz="1800" b="1" i="0" u="none" strike="noStrike" dirty="0">
                        <a:solidFill>
                          <a:srgbClr val="3333FF"/>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u="none" strike="noStrike" dirty="0">
                          <a:solidFill>
                            <a:srgbClr val="3333FF"/>
                          </a:solidFill>
                          <a:effectLst/>
                        </a:rPr>
                        <a:t>141.13</a:t>
                      </a:r>
                      <a:endParaRPr lang="en-US" altLang="zh-CN" sz="1800" b="1" i="0" u="none" strike="noStrike" dirty="0">
                        <a:solidFill>
                          <a:srgbClr val="3333FF"/>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u="none" strike="noStrike" dirty="0">
                          <a:solidFill>
                            <a:srgbClr val="3333FF"/>
                          </a:solidFill>
                          <a:effectLst/>
                        </a:rPr>
                        <a:t>148.59</a:t>
                      </a:r>
                      <a:endParaRPr lang="en-US" altLang="zh-CN" sz="1800" b="1" i="0" u="none" strike="noStrike" dirty="0">
                        <a:solidFill>
                          <a:srgbClr val="3333FF"/>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u="none" strike="noStrike" dirty="0">
                          <a:solidFill>
                            <a:srgbClr val="3333FF"/>
                          </a:solidFill>
                          <a:effectLst/>
                        </a:rPr>
                        <a:t>120.45</a:t>
                      </a:r>
                      <a:endParaRPr lang="en-US" altLang="zh-CN" sz="1800" b="1" i="0" u="none" strike="noStrike" dirty="0">
                        <a:solidFill>
                          <a:srgbClr val="3333FF"/>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u="none" strike="noStrike" dirty="0">
                          <a:solidFill>
                            <a:srgbClr val="3333FF"/>
                          </a:solidFill>
                          <a:effectLst/>
                        </a:rPr>
                        <a:t>117.46</a:t>
                      </a:r>
                      <a:endParaRPr lang="en-US" altLang="zh-CN" sz="1800" b="1" i="0" u="none" strike="noStrike" dirty="0">
                        <a:solidFill>
                          <a:srgbClr val="3333FF"/>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u="none" strike="noStrike" dirty="0">
                          <a:solidFill>
                            <a:srgbClr val="3333FF"/>
                          </a:solidFill>
                          <a:effectLst/>
                        </a:rPr>
                        <a:t>119.17</a:t>
                      </a:r>
                      <a:endParaRPr lang="en-US" altLang="zh-CN" sz="1800" b="1" i="0" u="none" strike="noStrike" dirty="0">
                        <a:solidFill>
                          <a:srgbClr val="3333FF"/>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31264">
                <a:tc>
                  <a:txBody>
                    <a:bodyPr/>
                    <a:lstStyle/>
                    <a:p>
                      <a:pPr algn="l" fontAlgn="ctr"/>
                      <a:r>
                        <a:rPr lang="zh-CN" altLang="en-US" sz="1400" u="none" strike="noStrike">
                          <a:effectLst/>
                        </a:rPr>
                        <a:t>        一年内到期的非流动资产</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0.44</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0.13</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
                  </a:ext>
                </a:extLst>
              </a:tr>
              <a:tr h="231264">
                <a:tc>
                  <a:txBody>
                    <a:bodyPr/>
                    <a:lstStyle/>
                    <a:p>
                      <a:pPr algn="l" fontAlgn="ctr"/>
                      <a:r>
                        <a:rPr lang="zh-CN" altLang="en-US" sz="1400" u="none" strike="noStrike">
                          <a:effectLst/>
                        </a:rPr>
                        <a:t>        其他流动资产</a:t>
                      </a:r>
                      <a:endParaRPr lang="zh-CN" altLang="en-US"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19.78</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25.74</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27.57</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18.39</a:t>
                      </a:r>
                      <a:endParaRPr lang="en-US" altLang="zh-CN" sz="1400" b="0"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2.78</a:t>
                      </a:r>
                      <a:endParaRPr lang="en-US" altLang="zh-CN" sz="1400" b="0"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231264">
                <a:tc>
                  <a:txBody>
                    <a:bodyPr/>
                    <a:lstStyle/>
                    <a:p>
                      <a:pPr algn="l" fontAlgn="ctr"/>
                      <a:r>
                        <a:rPr lang="zh-CN" altLang="en-US" sz="1400" u="none" strike="noStrike" dirty="0">
                          <a:effectLst/>
                        </a:rPr>
                        <a:t>        流动资产合计</a:t>
                      </a:r>
                      <a:endParaRPr lang="zh-CN" altLang="en-US" sz="1400" b="1"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504.44</a:t>
                      </a:r>
                      <a:endParaRPr lang="en-US" altLang="zh-CN" sz="1400" b="1"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482.84</a:t>
                      </a:r>
                      <a:endParaRPr lang="en-US" altLang="zh-CN" sz="1400" b="1"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rPr>
                        <a:t>426.00</a:t>
                      </a:r>
                      <a:endParaRPr lang="en-US" altLang="zh-CN" sz="1400" b="1" i="0" u="none" strike="noStrike">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405.30</a:t>
                      </a:r>
                      <a:endParaRPr lang="en-US" altLang="zh-CN" sz="1400" b="1"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dirty="0">
                          <a:effectLst/>
                        </a:rPr>
                        <a:t>484.95</a:t>
                      </a:r>
                      <a:endParaRPr lang="en-US" altLang="zh-CN" sz="1400" b="1" i="0" u="none" strike="noStrike" dirty="0">
                        <a:solidFill>
                          <a:srgbClr val="000000"/>
                        </a:solidFill>
                        <a:effectLst/>
                        <a:latin typeface="Arial" panose="020B0604020202020204" pitchFamily="34" charset="0"/>
                        <a:ea typeface="宋体" panose="02010600030101010101" pitchFamily="2" charset="-122"/>
                      </a:endParaRPr>
                    </a:p>
                  </a:txBody>
                  <a:tcPr marL="3810" marR="3810" marT="38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bl>
          </a:graphicData>
        </a:graphic>
      </p:graphicFrame>
    </p:spTree>
    <p:extLst>
      <p:ext uri="{BB962C8B-B14F-4D97-AF65-F5344CB8AC3E}">
        <p14:creationId xmlns:p14="http://schemas.microsoft.com/office/powerpoint/2010/main" val="3231416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四川长虹：</a:t>
            </a:r>
            <a:r>
              <a:rPr lang="en-US" altLang="zh-CN" dirty="0"/>
              <a:t>2018</a:t>
            </a:r>
            <a:r>
              <a:rPr lang="zh-CN" altLang="en-US" dirty="0"/>
              <a:t>年年报附注选摘</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694048" y="2033479"/>
            <a:ext cx="10363200" cy="4114800"/>
          </a:xfrm>
        </p:spPr>
        <p:txBody>
          <a:bodyPr/>
          <a:lstStyle/>
          <a:p>
            <a:r>
              <a:rPr lang="en-US" altLang="zh-CN" dirty="0"/>
              <a:t>12.</a:t>
            </a:r>
            <a:r>
              <a:rPr lang="zh-CN" altLang="en-US" dirty="0"/>
              <a:t>存货</a:t>
            </a:r>
            <a:endParaRPr lang="en-US" altLang="zh-CN" dirty="0"/>
          </a:p>
          <a:p>
            <a:pPr lvl="1"/>
            <a:r>
              <a:rPr lang="zh-CN" altLang="en-US" dirty="0"/>
              <a:t>√适用□不适用</a:t>
            </a:r>
            <a:endParaRPr lang="en-US" altLang="zh-CN" dirty="0"/>
          </a:p>
          <a:p>
            <a:pPr lvl="2"/>
            <a:r>
              <a:rPr lang="zh-CN" altLang="en-US" dirty="0"/>
              <a:t>（</a:t>
            </a:r>
            <a:r>
              <a:rPr lang="en-US" altLang="zh-CN" dirty="0"/>
              <a:t>1</a:t>
            </a:r>
            <a:r>
              <a:rPr lang="zh-CN" altLang="en-US" dirty="0"/>
              <a:t>）分类、确认和计量：存货分房地产开发类存货和家电与电子类存货两大类。房地产开发类存货包括已完工开发产品、在建开发产品和拟开发土地。家电与电子类存货包括原材料、库存商品、在产品、自制半成品、委托加工材料、低值易耗品、周转材料等。存货为永续盘存制。已完工开发产品是指已建成、待出售的物业；在建开发产品是指尚未建成、以出售或经营为开发目的的物业；拟开发土地是指购入的、已决定将之发展为出售或出租物业的土地。</a:t>
            </a:r>
            <a:r>
              <a:rPr lang="en-US" altLang="zh-CN" dirty="0"/>
              <a:t>……</a:t>
            </a:r>
          </a:p>
        </p:txBody>
      </p:sp>
    </p:spTree>
    <p:extLst>
      <p:ext uri="{BB962C8B-B14F-4D97-AF65-F5344CB8AC3E}">
        <p14:creationId xmlns:p14="http://schemas.microsoft.com/office/powerpoint/2010/main" val="119329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四川长虹：</a:t>
            </a:r>
            <a:r>
              <a:rPr lang="en-US" altLang="zh-CN" dirty="0"/>
              <a:t>2018</a:t>
            </a:r>
            <a:r>
              <a:rPr lang="zh-CN" altLang="en-US" dirty="0"/>
              <a:t>年年报选摘</a:t>
            </a:r>
          </a:p>
        </p:txBody>
      </p:sp>
      <p:pic>
        <p:nvPicPr>
          <p:cNvPr id="5" name="图片 4">
            <a:extLst>
              <a:ext uri="{FF2B5EF4-FFF2-40B4-BE49-F238E27FC236}">
                <a16:creationId xmlns:a16="http://schemas.microsoft.com/office/drawing/2014/main" id="{FC61D3E4-9A10-4333-A659-F60C78166F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217" y="1925182"/>
            <a:ext cx="9904316" cy="4333728"/>
          </a:xfrm>
          <a:prstGeom prst="rect">
            <a:avLst/>
          </a:prstGeom>
        </p:spPr>
      </p:pic>
    </p:spTree>
    <p:extLst>
      <p:ext uri="{BB962C8B-B14F-4D97-AF65-F5344CB8AC3E}">
        <p14:creationId xmlns:p14="http://schemas.microsoft.com/office/powerpoint/2010/main" val="3195160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本章内容逻辑安排</a:t>
            </a:r>
          </a:p>
        </p:txBody>
      </p:sp>
      <p:grpSp>
        <p:nvGrpSpPr>
          <p:cNvPr id="129" name="组合 128"/>
          <p:cNvGrpSpPr/>
          <p:nvPr/>
        </p:nvGrpSpPr>
        <p:grpSpPr>
          <a:xfrm>
            <a:off x="980566" y="2033752"/>
            <a:ext cx="9603350" cy="4456950"/>
            <a:chOff x="980566" y="2033752"/>
            <a:chExt cx="9603350" cy="4456950"/>
          </a:xfrm>
        </p:grpSpPr>
        <p:sp>
          <p:nvSpPr>
            <p:cNvPr id="63" name="TextBox 62"/>
            <p:cNvSpPr txBox="1"/>
            <p:nvPr/>
          </p:nvSpPr>
          <p:spPr>
            <a:xfrm>
              <a:off x="4899491" y="2033752"/>
              <a:ext cx="2103502" cy="461665"/>
            </a:xfrm>
            <a:prstGeom prst="rect">
              <a:avLst/>
            </a:prstGeom>
            <a:noFill/>
            <a:ln>
              <a:solidFill>
                <a:schemeClr val="tx1"/>
              </a:solidFill>
            </a:ln>
          </p:spPr>
          <p:txBody>
            <a:bodyPr wrap="square" rtlCol="0">
              <a:spAutoFit/>
            </a:bodyPr>
            <a:lstStyle/>
            <a:p>
              <a:pPr algn="ctr"/>
              <a:r>
                <a:rPr lang="zh-CN" altLang="en-US" sz="2400" dirty="0"/>
                <a:t>存货</a:t>
              </a:r>
            </a:p>
          </p:txBody>
        </p:sp>
        <p:grpSp>
          <p:nvGrpSpPr>
            <p:cNvPr id="128" name="组合 127"/>
            <p:cNvGrpSpPr/>
            <p:nvPr/>
          </p:nvGrpSpPr>
          <p:grpSpPr>
            <a:xfrm>
              <a:off x="980566" y="2495417"/>
              <a:ext cx="9603350" cy="3995285"/>
              <a:chOff x="980566" y="2495417"/>
              <a:chExt cx="9603350" cy="3995285"/>
            </a:xfrm>
          </p:grpSpPr>
          <p:sp>
            <p:nvSpPr>
              <p:cNvPr id="64" name="TextBox 63"/>
              <p:cNvSpPr txBox="1"/>
              <p:nvPr/>
            </p:nvSpPr>
            <p:spPr>
              <a:xfrm>
                <a:off x="2144110" y="2932386"/>
                <a:ext cx="1361090" cy="461665"/>
              </a:xfrm>
              <a:prstGeom prst="rect">
                <a:avLst/>
              </a:prstGeom>
              <a:noFill/>
              <a:ln>
                <a:solidFill>
                  <a:schemeClr val="tx1"/>
                </a:solidFill>
              </a:ln>
            </p:spPr>
            <p:txBody>
              <a:bodyPr wrap="square" rtlCol="0">
                <a:spAutoFit/>
              </a:bodyPr>
              <a:lstStyle/>
              <a:p>
                <a:pPr algn="ctr"/>
                <a:r>
                  <a:rPr lang="zh-CN" altLang="en-US" sz="2400" dirty="0"/>
                  <a:t>概述</a:t>
                </a:r>
              </a:p>
            </p:txBody>
          </p:sp>
          <p:sp>
            <p:nvSpPr>
              <p:cNvPr id="65" name="TextBox 64"/>
              <p:cNvSpPr txBox="1"/>
              <p:nvPr/>
            </p:nvSpPr>
            <p:spPr>
              <a:xfrm>
                <a:off x="3704897" y="2932386"/>
                <a:ext cx="1749972" cy="461665"/>
              </a:xfrm>
              <a:prstGeom prst="rect">
                <a:avLst/>
              </a:prstGeom>
              <a:noFill/>
              <a:ln>
                <a:solidFill>
                  <a:schemeClr val="tx1"/>
                </a:solidFill>
              </a:ln>
            </p:spPr>
            <p:txBody>
              <a:bodyPr wrap="square" rtlCol="0">
                <a:spAutoFit/>
              </a:bodyPr>
              <a:lstStyle/>
              <a:p>
                <a:pPr algn="ctr"/>
                <a:r>
                  <a:rPr lang="zh-CN" altLang="en-US" sz="2400" dirty="0"/>
                  <a:t>取得和发出</a:t>
                </a:r>
              </a:p>
            </p:txBody>
          </p:sp>
          <p:sp>
            <p:nvSpPr>
              <p:cNvPr id="66" name="TextBox 65"/>
              <p:cNvSpPr txBox="1"/>
              <p:nvPr/>
            </p:nvSpPr>
            <p:spPr>
              <a:xfrm>
                <a:off x="5801711" y="2932385"/>
                <a:ext cx="1909060" cy="461665"/>
              </a:xfrm>
              <a:prstGeom prst="rect">
                <a:avLst/>
              </a:prstGeom>
              <a:noFill/>
              <a:ln>
                <a:solidFill>
                  <a:schemeClr val="tx1"/>
                </a:solidFill>
              </a:ln>
            </p:spPr>
            <p:txBody>
              <a:bodyPr wrap="square" rtlCol="0">
                <a:spAutoFit/>
              </a:bodyPr>
              <a:lstStyle/>
              <a:p>
                <a:pPr algn="ctr"/>
                <a:r>
                  <a:rPr lang="zh-CN" altLang="en-US" sz="2400" dirty="0"/>
                  <a:t>期末计价</a:t>
                </a:r>
              </a:p>
            </p:txBody>
          </p:sp>
          <p:sp>
            <p:nvSpPr>
              <p:cNvPr id="67" name="TextBox 66"/>
              <p:cNvSpPr txBox="1"/>
              <p:nvPr/>
            </p:nvSpPr>
            <p:spPr>
              <a:xfrm>
                <a:off x="8056178" y="2932386"/>
                <a:ext cx="2527738" cy="461665"/>
              </a:xfrm>
              <a:prstGeom prst="rect">
                <a:avLst/>
              </a:prstGeom>
              <a:noFill/>
              <a:ln>
                <a:solidFill>
                  <a:schemeClr val="tx1"/>
                </a:solidFill>
              </a:ln>
            </p:spPr>
            <p:txBody>
              <a:bodyPr wrap="square" rtlCol="0">
                <a:spAutoFit/>
              </a:bodyPr>
              <a:lstStyle/>
              <a:p>
                <a:pPr algn="ctr"/>
                <a:r>
                  <a:rPr lang="zh-CN" altLang="en-US" sz="2400" dirty="0"/>
                  <a:t>清查、列报</a:t>
                </a:r>
              </a:p>
            </p:txBody>
          </p:sp>
          <p:sp>
            <p:nvSpPr>
              <p:cNvPr id="68" name="TextBox 67"/>
              <p:cNvSpPr txBox="1"/>
              <p:nvPr/>
            </p:nvSpPr>
            <p:spPr>
              <a:xfrm>
                <a:off x="980566" y="4182380"/>
                <a:ext cx="680544" cy="1200329"/>
              </a:xfrm>
              <a:prstGeom prst="rect">
                <a:avLst/>
              </a:prstGeom>
              <a:noFill/>
              <a:ln>
                <a:solidFill>
                  <a:schemeClr val="tx1"/>
                </a:solidFill>
              </a:ln>
            </p:spPr>
            <p:txBody>
              <a:bodyPr wrap="square" rtlCol="0">
                <a:spAutoFit/>
              </a:bodyPr>
              <a:lstStyle/>
              <a:p>
                <a:pPr algn="ctr"/>
                <a:r>
                  <a:rPr lang="zh-CN" altLang="en-US" sz="2400" dirty="0"/>
                  <a:t>原材料</a:t>
                </a:r>
              </a:p>
            </p:txBody>
          </p:sp>
          <p:sp>
            <p:nvSpPr>
              <p:cNvPr id="69" name="TextBox 68"/>
              <p:cNvSpPr txBox="1"/>
              <p:nvPr/>
            </p:nvSpPr>
            <p:spPr>
              <a:xfrm>
                <a:off x="2066355" y="4182380"/>
                <a:ext cx="618677" cy="1569660"/>
              </a:xfrm>
              <a:prstGeom prst="rect">
                <a:avLst/>
              </a:prstGeom>
              <a:noFill/>
              <a:ln>
                <a:solidFill>
                  <a:schemeClr val="tx1"/>
                </a:solidFill>
              </a:ln>
            </p:spPr>
            <p:txBody>
              <a:bodyPr wrap="square" rtlCol="0">
                <a:spAutoFit/>
              </a:bodyPr>
              <a:lstStyle/>
              <a:p>
                <a:pPr algn="ctr"/>
                <a:r>
                  <a:rPr lang="zh-CN" altLang="en-US" sz="2400" dirty="0"/>
                  <a:t>库存商品</a:t>
                </a:r>
                <a:endParaRPr lang="en-US" altLang="zh-CN" sz="2400" dirty="0"/>
              </a:p>
            </p:txBody>
          </p:sp>
          <p:sp>
            <p:nvSpPr>
              <p:cNvPr id="70" name="TextBox 69"/>
              <p:cNvSpPr txBox="1"/>
              <p:nvPr/>
            </p:nvSpPr>
            <p:spPr>
              <a:xfrm>
                <a:off x="3203862" y="4182379"/>
                <a:ext cx="371205" cy="1569660"/>
              </a:xfrm>
              <a:prstGeom prst="rect">
                <a:avLst/>
              </a:prstGeom>
              <a:noFill/>
              <a:ln>
                <a:solidFill>
                  <a:schemeClr val="tx1"/>
                </a:solidFill>
              </a:ln>
            </p:spPr>
            <p:txBody>
              <a:bodyPr wrap="square" rtlCol="0">
                <a:spAutoFit/>
              </a:bodyPr>
              <a:lstStyle/>
              <a:p>
                <a:pPr algn="ctr"/>
                <a:r>
                  <a:rPr lang="zh-CN" altLang="en-US" sz="2400" dirty="0"/>
                  <a:t>代销商品</a:t>
                </a:r>
                <a:endParaRPr lang="en-US" altLang="zh-CN" sz="2400" dirty="0"/>
              </a:p>
            </p:txBody>
          </p:sp>
          <p:sp>
            <p:nvSpPr>
              <p:cNvPr id="71" name="TextBox 70"/>
              <p:cNvSpPr txBox="1"/>
              <p:nvPr/>
            </p:nvSpPr>
            <p:spPr>
              <a:xfrm>
                <a:off x="4214049" y="4182378"/>
                <a:ext cx="335853" cy="1569660"/>
              </a:xfrm>
              <a:prstGeom prst="rect">
                <a:avLst/>
              </a:prstGeom>
              <a:noFill/>
              <a:ln>
                <a:solidFill>
                  <a:schemeClr val="tx1"/>
                </a:solidFill>
              </a:ln>
            </p:spPr>
            <p:txBody>
              <a:bodyPr wrap="square" rtlCol="0">
                <a:spAutoFit/>
              </a:bodyPr>
              <a:lstStyle/>
              <a:p>
                <a:pPr algn="ctr"/>
                <a:r>
                  <a:rPr lang="zh-CN" altLang="en-US" sz="2400" dirty="0"/>
                  <a:t>周转材料</a:t>
                </a:r>
              </a:p>
            </p:txBody>
          </p:sp>
          <p:sp>
            <p:nvSpPr>
              <p:cNvPr id="72" name="TextBox 71"/>
              <p:cNvSpPr txBox="1"/>
              <p:nvPr/>
            </p:nvSpPr>
            <p:spPr>
              <a:xfrm>
                <a:off x="5083664" y="4202661"/>
                <a:ext cx="371205" cy="1200329"/>
              </a:xfrm>
              <a:prstGeom prst="rect">
                <a:avLst/>
              </a:prstGeom>
              <a:noFill/>
              <a:ln>
                <a:solidFill>
                  <a:schemeClr val="tx1"/>
                </a:solidFill>
              </a:ln>
            </p:spPr>
            <p:txBody>
              <a:bodyPr wrap="square" rtlCol="0">
                <a:spAutoFit/>
              </a:bodyPr>
              <a:lstStyle/>
              <a:p>
                <a:pPr algn="ctr"/>
                <a:r>
                  <a:rPr lang="zh-CN" altLang="en-US" sz="2400" dirty="0"/>
                  <a:t>在产品</a:t>
                </a:r>
              </a:p>
            </p:txBody>
          </p:sp>
          <p:sp>
            <p:nvSpPr>
              <p:cNvPr id="73" name="TextBox 72"/>
              <p:cNvSpPr txBox="1"/>
              <p:nvPr/>
            </p:nvSpPr>
            <p:spPr>
              <a:xfrm>
                <a:off x="6023263" y="4182378"/>
                <a:ext cx="406558" cy="1938992"/>
              </a:xfrm>
              <a:prstGeom prst="rect">
                <a:avLst/>
              </a:prstGeom>
              <a:noFill/>
              <a:ln>
                <a:solidFill>
                  <a:schemeClr val="tx1"/>
                </a:solidFill>
              </a:ln>
            </p:spPr>
            <p:txBody>
              <a:bodyPr wrap="square" rtlCol="0">
                <a:spAutoFit/>
              </a:bodyPr>
              <a:lstStyle/>
              <a:p>
                <a:pPr algn="ctr"/>
                <a:r>
                  <a:rPr lang="zh-CN" altLang="en-US" sz="2400" dirty="0"/>
                  <a:t>自制半成品</a:t>
                </a:r>
              </a:p>
            </p:txBody>
          </p:sp>
          <p:sp>
            <p:nvSpPr>
              <p:cNvPr id="74" name="TextBox 73"/>
              <p:cNvSpPr txBox="1"/>
              <p:nvPr/>
            </p:nvSpPr>
            <p:spPr>
              <a:xfrm>
                <a:off x="7002993" y="4182378"/>
                <a:ext cx="450751" cy="2308324"/>
              </a:xfrm>
              <a:prstGeom prst="rect">
                <a:avLst/>
              </a:prstGeom>
              <a:noFill/>
              <a:ln>
                <a:solidFill>
                  <a:schemeClr val="tx1"/>
                </a:solidFill>
              </a:ln>
            </p:spPr>
            <p:txBody>
              <a:bodyPr wrap="square" rtlCol="0">
                <a:spAutoFit/>
              </a:bodyPr>
              <a:lstStyle/>
              <a:p>
                <a:pPr algn="ctr"/>
                <a:r>
                  <a:rPr lang="zh-CN" altLang="en-US" sz="2400" dirty="0"/>
                  <a:t>委托加工材料</a:t>
                </a:r>
              </a:p>
            </p:txBody>
          </p:sp>
          <p:cxnSp>
            <p:nvCxnSpPr>
              <p:cNvPr id="84" name="直接连接符 83"/>
              <p:cNvCxnSpPr/>
              <p:nvPr/>
            </p:nvCxnSpPr>
            <p:spPr bwMode="auto">
              <a:xfrm>
                <a:off x="2824655" y="2743200"/>
                <a:ext cx="6495392" cy="0"/>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86" name="直接连接符 85"/>
              <p:cNvCxnSpPr>
                <a:endCxn id="64" idx="0"/>
              </p:cNvCxnSpPr>
              <p:nvPr/>
            </p:nvCxnSpPr>
            <p:spPr bwMode="auto">
              <a:xfrm>
                <a:off x="2824655" y="2743200"/>
                <a:ext cx="0" cy="189186"/>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92" name="直接连接符 91"/>
              <p:cNvCxnSpPr>
                <a:stCxn id="66" idx="0"/>
                <a:endCxn id="66" idx="0"/>
              </p:cNvCxnSpPr>
              <p:nvPr/>
            </p:nvCxnSpPr>
            <p:spPr bwMode="auto">
              <a:xfrm>
                <a:off x="6756241" y="2932385"/>
                <a:ext cx="0" cy="0"/>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94" name="直接连接符 93"/>
              <p:cNvCxnSpPr>
                <a:stCxn id="66" idx="0"/>
              </p:cNvCxnSpPr>
              <p:nvPr/>
            </p:nvCxnSpPr>
            <p:spPr bwMode="auto">
              <a:xfrm flipV="1">
                <a:off x="6756241" y="2743200"/>
                <a:ext cx="0" cy="189185"/>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98" name="直接连接符 97"/>
              <p:cNvCxnSpPr>
                <a:stCxn id="67" idx="0"/>
              </p:cNvCxnSpPr>
              <p:nvPr/>
            </p:nvCxnSpPr>
            <p:spPr bwMode="auto">
              <a:xfrm flipV="1">
                <a:off x="9320047" y="2743200"/>
                <a:ext cx="0" cy="189186"/>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101" name="直接连接符 100"/>
              <p:cNvCxnSpPr>
                <a:stCxn id="65" idx="0"/>
              </p:cNvCxnSpPr>
              <p:nvPr/>
            </p:nvCxnSpPr>
            <p:spPr bwMode="auto">
              <a:xfrm flipV="1">
                <a:off x="4579883" y="2743200"/>
                <a:ext cx="0" cy="189186"/>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103" name="直接连接符 102"/>
              <p:cNvCxnSpPr>
                <a:stCxn id="63" idx="2"/>
              </p:cNvCxnSpPr>
              <p:nvPr/>
            </p:nvCxnSpPr>
            <p:spPr bwMode="auto">
              <a:xfrm>
                <a:off x="5951242" y="2495417"/>
                <a:ext cx="0" cy="247783"/>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105" name="直接连接符 104"/>
              <p:cNvCxnSpPr/>
              <p:nvPr/>
            </p:nvCxnSpPr>
            <p:spPr bwMode="auto">
              <a:xfrm>
                <a:off x="1320838" y="3957145"/>
                <a:ext cx="5907530" cy="0"/>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107" name="直接连接符 106"/>
              <p:cNvCxnSpPr>
                <a:stCxn id="68" idx="0"/>
              </p:cNvCxnSpPr>
              <p:nvPr/>
            </p:nvCxnSpPr>
            <p:spPr bwMode="auto">
              <a:xfrm flipV="1">
                <a:off x="1320838" y="3957145"/>
                <a:ext cx="0" cy="225235"/>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109" name="直接连接符 108"/>
              <p:cNvCxnSpPr>
                <a:stCxn id="69" idx="0"/>
              </p:cNvCxnSpPr>
              <p:nvPr/>
            </p:nvCxnSpPr>
            <p:spPr bwMode="auto">
              <a:xfrm flipH="1" flipV="1">
                <a:off x="2375693" y="3957145"/>
                <a:ext cx="1" cy="225235"/>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111" name="直接连接符 110"/>
              <p:cNvCxnSpPr>
                <a:stCxn id="70" idx="0"/>
              </p:cNvCxnSpPr>
              <p:nvPr/>
            </p:nvCxnSpPr>
            <p:spPr bwMode="auto">
              <a:xfrm flipH="1" flipV="1">
                <a:off x="3389464" y="3957145"/>
                <a:ext cx="1" cy="225234"/>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115" name="直接连接符 114"/>
              <p:cNvCxnSpPr>
                <a:stCxn id="71" idx="0"/>
              </p:cNvCxnSpPr>
              <p:nvPr/>
            </p:nvCxnSpPr>
            <p:spPr bwMode="auto">
              <a:xfrm flipH="1" flipV="1">
                <a:off x="4381975" y="3957145"/>
                <a:ext cx="1" cy="225233"/>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117" name="直接连接符 116"/>
              <p:cNvCxnSpPr>
                <a:stCxn id="72" idx="0"/>
              </p:cNvCxnSpPr>
              <p:nvPr/>
            </p:nvCxnSpPr>
            <p:spPr bwMode="auto">
              <a:xfrm flipH="1" flipV="1">
                <a:off x="5269266" y="3957145"/>
                <a:ext cx="1" cy="245516"/>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121" name="直接连接符 120"/>
              <p:cNvCxnSpPr>
                <a:stCxn id="73" idx="0"/>
              </p:cNvCxnSpPr>
              <p:nvPr/>
            </p:nvCxnSpPr>
            <p:spPr bwMode="auto">
              <a:xfrm flipV="1">
                <a:off x="6226542" y="3957145"/>
                <a:ext cx="0" cy="225233"/>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124" name="直接连接符 123"/>
              <p:cNvCxnSpPr>
                <a:stCxn id="74" idx="0"/>
              </p:cNvCxnSpPr>
              <p:nvPr/>
            </p:nvCxnSpPr>
            <p:spPr bwMode="auto">
              <a:xfrm flipH="1" flipV="1">
                <a:off x="7228368" y="3957145"/>
                <a:ext cx="1" cy="225233"/>
              </a:xfrm>
              <a:prstGeom prst="line">
                <a:avLst/>
              </a:prstGeom>
              <a:solidFill>
                <a:schemeClr val="accent1"/>
              </a:solidFill>
              <a:ln w="9525" cap="flat" cmpd="sng" algn="ctr">
                <a:solidFill>
                  <a:schemeClr val="tx1"/>
                </a:solidFill>
                <a:prstDash val="solid"/>
                <a:miter lim="800000"/>
                <a:headEnd type="none" w="med" len="med"/>
                <a:tailEnd type="none" w="med" len="med"/>
              </a:ln>
            </p:spPr>
          </p:cxnSp>
          <p:cxnSp>
            <p:nvCxnSpPr>
              <p:cNvPr id="127" name="直接连接符 126"/>
              <p:cNvCxnSpPr>
                <a:stCxn id="64" idx="2"/>
              </p:cNvCxnSpPr>
              <p:nvPr/>
            </p:nvCxnSpPr>
            <p:spPr bwMode="auto">
              <a:xfrm>
                <a:off x="2824655" y="3394051"/>
                <a:ext cx="0" cy="563094"/>
              </a:xfrm>
              <a:prstGeom prst="line">
                <a:avLst/>
              </a:prstGeom>
              <a:solidFill>
                <a:schemeClr val="accent1"/>
              </a:solidFill>
              <a:ln w="9525" cap="flat" cmpd="sng" algn="ctr">
                <a:solidFill>
                  <a:schemeClr val="tx1"/>
                </a:solidFill>
                <a:prstDash val="solid"/>
                <a:miter lim="800000"/>
                <a:headEnd type="none" w="med" len="med"/>
                <a:tailEnd type="none" w="med" len="med"/>
              </a:ln>
            </p:spPr>
          </p:cxnSp>
        </p:grpSp>
      </p:grpSp>
    </p:spTree>
    <p:extLst>
      <p:ext uri="{BB962C8B-B14F-4D97-AF65-F5344CB8AC3E}">
        <p14:creationId xmlns:p14="http://schemas.microsoft.com/office/powerpoint/2010/main" val="2404376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一、存货概述</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（一）存货的定义</a:t>
            </a:r>
            <a:endParaRPr lang="en-US" altLang="zh-CN" dirty="0"/>
          </a:p>
          <a:p>
            <a:r>
              <a:rPr lang="zh-CN" altLang="en-US" dirty="0"/>
              <a:t>（二）存货的内容</a:t>
            </a:r>
          </a:p>
        </p:txBody>
      </p:sp>
    </p:spTree>
    <p:extLst>
      <p:ext uri="{BB962C8B-B14F-4D97-AF65-F5344CB8AC3E}">
        <p14:creationId xmlns:p14="http://schemas.microsoft.com/office/powerpoint/2010/main" val="2404376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（一）存货的定义</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b="0" dirty="0"/>
              <a:t>企业在日常活动中持有以备出售的产成品或商品，处在生产过程中的在产品，在生产过程或提供劳务过程耗用的材料、物料等。</a:t>
            </a:r>
            <a:endParaRPr lang="en-US" altLang="zh-CN" b="0" dirty="0"/>
          </a:p>
          <a:p>
            <a:endParaRPr lang="en-US" altLang="zh-CN" b="0" dirty="0"/>
          </a:p>
          <a:p>
            <a:r>
              <a:rPr lang="zh-CN" altLang="en-US" b="0" dirty="0"/>
              <a:t>最终目的是为了</a:t>
            </a:r>
            <a:r>
              <a:rPr lang="zh-CN" altLang="en-US" dirty="0">
                <a:solidFill>
                  <a:srgbClr val="FF0000"/>
                </a:solidFill>
              </a:rPr>
              <a:t>出售</a:t>
            </a:r>
          </a:p>
          <a:p>
            <a:r>
              <a:rPr lang="zh-CN" altLang="en-US" b="0" dirty="0"/>
              <a:t>思考：存货是否必须是有形的？</a:t>
            </a:r>
          </a:p>
        </p:txBody>
      </p:sp>
    </p:spTree>
    <p:extLst>
      <p:ext uri="{BB962C8B-B14F-4D97-AF65-F5344CB8AC3E}">
        <p14:creationId xmlns:p14="http://schemas.microsoft.com/office/powerpoint/2010/main" val="2404376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（二）存货的内容</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b="0" dirty="0"/>
              <a:t>原材料</a:t>
            </a:r>
            <a:endParaRPr lang="en-US" altLang="zh-CN" b="0" dirty="0"/>
          </a:p>
          <a:p>
            <a:r>
              <a:rPr lang="zh-CN" altLang="en-US" b="0" dirty="0"/>
              <a:t>在产品</a:t>
            </a:r>
            <a:endParaRPr lang="en-US" altLang="zh-CN" b="0" dirty="0"/>
          </a:p>
          <a:p>
            <a:r>
              <a:rPr lang="zh-CN" altLang="en-US" b="0" dirty="0"/>
              <a:t>半成品</a:t>
            </a:r>
            <a:endParaRPr lang="en-US" altLang="zh-CN" b="0" dirty="0"/>
          </a:p>
          <a:p>
            <a:r>
              <a:rPr lang="zh-CN" altLang="en-US" b="0" dirty="0"/>
              <a:t>产成品</a:t>
            </a:r>
            <a:endParaRPr lang="en-US" altLang="zh-CN" b="0" dirty="0"/>
          </a:p>
          <a:p>
            <a:r>
              <a:rPr lang="zh-CN" altLang="en-US" b="0" dirty="0"/>
              <a:t>商品</a:t>
            </a:r>
            <a:endParaRPr lang="en-US" altLang="zh-CN" b="0" dirty="0"/>
          </a:p>
          <a:p>
            <a:r>
              <a:rPr lang="zh-CN" altLang="en-US" b="0" dirty="0"/>
              <a:t>周转材料</a:t>
            </a:r>
          </a:p>
        </p:txBody>
      </p:sp>
    </p:spTree>
    <p:extLst>
      <p:ext uri="{BB962C8B-B14F-4D97-AF65-F5344CB8AC3E}">
        <p14:creationId xmlns:p14="http://schemas.microsoft.com/office/powerpoint/2010/main" val="2404376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存货范围的界定</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b="0" dirty="0"/>
              <a:t>企业应以所有权的归属而不以物品的存放地点为依据来界定企业的存货范围</a:t>
            </a:r>
            <a:endParaRPr lang="en-US" altLang="zh-CN" dirty="0"/>
          </a:p>
          <a:p>
            <a:pPr lvl="1"/>
            <a:r>
              <a:rPr lang="zh-CN" altLang="en-US" dirty="0"/>
              <a:t>第一，在途商品和在途物资</a:t>
            </a:r>
            <a:endParaRPr lang="en-US" altLang="zh-CN" dirty="0"/>
          </a:p>
          <a:p>
            <a:pPr marL="1200150" lvl="2" indent="-342900"/>
            <a:r>
              <a:rPr lang="zh-CN" altLang="en-US" dirty="0">
                <a:latin typeface="+mn-ea"/>
                <a:ea typeface="+mn-ea"/>
              </a:rPr>
              <a:t>起运点交货、目的地交货</a:t>
            </a:r>
            <a:endParaRPr lang="en-US" altLang="zh-CN" dirty="0">
              <a:latin typeface="+mn-ea"/>
              <a:ea typeface="+mn-ea"/>
            </a:endParaRPr>
          </a:p>
          <a:p>
            <a:pPr lvl="1"/>
            <a:r>
              <a:rPr lang="zh-CN" altLang="en-US" dirty="0"/>
              <a:t>第二，受托代销商品</a:t>
            </a:r>
            <a:endParaRPr lang="en-US" altLang="zh-CN" dirty="0"/>
          </a:p>
          <a:p>
            <a:pPr lvl="1"/>
            <a:r>
              <a:rPr lang="zh-CN" altLang="en-US" dirty="0"/>
              <a:t>第三，购货约定</a:t>
            </a:r>
            <a:endParaRPr lang="en-US" altLang="zh-CN" dirty="0"/>
          </a:p>
        </p:txBody>
      </p:sp>
    </p:spTree>
    <p:extLst>
      <p:ext uri="{BB962C8B-B14F-4D97-AF65-F5344CB8AC3E}">
        <p14:creationId xmlns:p14="http://schemas.microsoft.com/office/powerpoint/2010/main" val="3389415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练习题</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576916" y="2017713"/>
            <a:ext cx="10615083" cy="4114800"/>
          </a:xfrm>
        </p:spPr>
        <p:txBody>
          <a:bodyPr/>
          <a:lstStyle/>
          <a:p>
            <a:r>
              <a:rPr lang="en-US" altLang="zh-CN" b="0" dirty="0"/>
              <a:t>1.</a:t>
            </a:r>
            <a:r>
              <a:rPr lang="zh-CN" altLang="en-US" b="0" dirty="0"/>
              <a:t>下列各种物资中，应当作为企业存货核算的有（ ）。 </a:t>
            </a:r>
          </a:p>
          <a:p>
            <a:r>
              <a:rPr lang="zh-CN" altLang="en-US" b="0" dirty="0"/>
              <a:t> </a:t>
            </a:r>
            <a:r>
              <a:rPr lang="en-US" altLang="zh-CN" b="0" dirty="0"/>
              <a:t>A</a:t>
            </a:r>
            <a:r>
              <a:rPr lang="zh-CN" altLang="en-US" b="0" dirty="0"/>
              <a:t>、委托加工物资　   </a:t>
            </a:r>
            <a:r>
              <a:rPr lang="en-US" altLang="zh-CN" b="0" dirty="0"/>
              <a:t>B</a:t>
            </a:r>
            <a:r>
              <a:rPr lang="zh-CN" altLang="en-US" b="0" dirty="0"/>
              <a:t>、发出商品</a:t>
            </a:r>
          </a:p>
          <a:p>
            <a:r>
              <a:rPr lang="zh-CN" altLang="en-US" b="0" dirty="0"/>
              <a:t> </a:t>
            </a:r>
            <a:r>
              <a:rPr lang="en-US" altLang="zh-CN" b="0" dirty="0"/>
              <a:t>C</a:t>
            </a:r>
            <a:r>
              <a:rPr lang="zh-CN" altLang="en-US" b="0" dirty="0"/>
              <a:t>、委托代销商品     </a:t>
            </a:r>
            <a:r>
              <a:rPr lang="en-US" altLang="zh-CN" b="0" dirty="0"/>
              <a:t>D</a:t>
            </a:r>
            <a:r>
              <a:rPr lang="zh-CN" altLang="en-US" b="0" dirty="0"/>
              <a:t>、受托代销商品 </a:t>
            </a:r>
          </a:p>
          <a:p>
            <a:r>
              <a:rPr lang="zh-CN" altLang="en-US" b="0" dirty="0"/>
              <a:t> </a:t>
            </a:r>
            <a:r>
              <a:rPr lang="en-US" altLang="zh-CN" b="0" dirty="0"/>
              <a:t>E</a:t>
            </a:r>
            <a:r>
              <a:rPr lang="zh-CN" altLang="en-US" b="0" dirty="0"/>
              <a:t>、工程物资</a:t>
            </a:r>
          </a:p>
          <a:p>
            <a:r>
              <a:rPr lang="zh-CN" altLang="en-US" b="0" dirty="0"/>
              <a:t>答案：</a:t>
            </a:r>
            <a:r>
              <a:rPr lang="en-US" altLang="zh-CN" b="0" dirty="0"/>
              <a:t>ABCD</a:t>
            </a:r>
          </a:p>
        </p:txBody>
      </p:sp>
    </p:spTree>
    <p:extLst>
      <p:ext uri="{BB962C8B-B14F-4D97-AF65-F5344CB8AC3E}">
        <p14:creationId xmlns:p14="http://schemas.microsoft.com/office/powerpoint/2010/main" val="338941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练习题</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en-US" altLang="zh-CN" b="0" dirty="0"/>
              <a:t>2.</a:t>
            </a:r>
            <a:r>
              <a:rPr lang="zh-CN" altLang="en-US" b="0" dirty="0"/>
              <a:t>下列各项物品中，属于企业的存货的有（ ）。 </a:t>
            </a:r>
          </a:p>
          <a:p>
            <a:r>
              <a:rPr lang="en-US" altLang="zh-CN" b="0" dirty="0"/>
              <a:t>A</a:t>
            </a:r>
            <a:r>
              <a:rPr lang="zh-CN" altLang="en-US" b="0" dirty="0"/>
              <a:t>、在途物资　　 </a:t>
            </a:r>
            <a:r>
              <a:rPr lang="en-US" altLang="zh-CN" b="0" dirty="0"/>
              <a:t>B</a:t>
            </a:r>
            <a:r>
              <a:rPr lang="zh-CN" altLang="en-US" b="0" dirty="0"/>
              <a:t>、委托加工物资</a:t>
            </a:r>
          </a:p>
          <a:p>
            <a:r>
              <a:rPr lang="en-US" altLang="zh-CN" b="0" dirty="0"/>
              <a:t>C</a:t>
            </a:r>
            <a:r>
              <a:rPr lang="zh-CN" altLang="en-US" b="0" dirty="0"/>
              <a:t>、自制半成品　 </a:t>
            </a:r>
            <a:r>
              <a:rPr lang="en-US" altLang="zh-CN" b="0" dirty="0"/>
              <a:t>D</a:t>
            </a:r>
            <a:r>
              <a:rPr lang="zh-CN" altLang="en-US" b="0" dirty="0"/>
              <a:t>、特种储备物资</a:t>
            </a:r>
          </a:p>
          <a:p>
            <a:r>
              <a:rPr lang="en-US" altLang="zh-CN" b="0" dirty="0"/>
              <a:t>E</a:t>
            </a:r>
            <a:r>
              <a:rPr lang="zh-CN" altLang="en-US" b="0" dirty="0"/>
              <a:t>、受托加工物资</a:t>
            </a:r>
          </a:p>
          <a:p>
            <a:r>
              <a:rPr lang="zh-CN" altLang="en-US" b="0" dirty="0"/>
              <a:t>答案：</a:t>
            </a:r>
            <a:r>
              <a:rPr lang="en-US" altLang="zh-CN" b="0" dirty="0"/>
              <a:t>ABC</a:t>
            </a:r>
          </a:p>
        </p:txBody>
      </p:sp>
    </p:spTree>
    <p:extLst>
      <p:ext uri="{BB962C8B-B14F-4D97-AF65-F5344CB8AC3E}">
        <p14:creationId xmlns:p14="http://schemas.microsoft.com/office/powerpoint/2010/main" val="338941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二、存货的取得和发出</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en-US" altLang="zh-CN" b="0" dirty="0"/>
              <a:t>1.</a:t>
            </a:r>
            <a:r>
              <a:rPr lang="zh-CN" altLang="en-US" b="0" dirty="0"/>
              <a:t>取得存货确认和计量原则</a:t>
            </a:r>
            <a:endParaRPr lang="en-US" altLang="zh-CN" b="0" dirty="0"/>
          </a:p>
          <a:p>
            <a:r>
              <a:rPr lang="en-US" altLang="zh-CN" b="0" dirty="0"/>
              <a:t>2.</a:t>
            </a:r>
            <a:r>
              <a:rPr lang="zh-CN" altLang="en-US" b="0" dirty="0"/>
              <a:t>取得和发出商品按实际、售价核算</a:t>
            </a:r>
          </a:p>
          <a:p>
            <a:r>
              <a:rPr lang="en-US" altLang="zh-CN" b="0" dirty="0"/>
              <a:t>3.</a:t>
            </a:r>
            <a:r>
              <a:rPr lang="zh-CN" altLang="en-US" b="0" dirty="0"/>
              <a:t>发出存货的计量方法</a:t>
            </a:r>
            <a:endParaRPr lang="en-US" altLang="zh-CN" b="0" dirty="0"/>
          </a:p>
          <a:p>
            <a:r>
              <a:rPr lang="en-US" altLang="zh-CN" b="0" dirty="0"/>
              <a:t>4.</a:t>
            </a:r>
            <a:r>
              <a:rPr lang="zh-CN" altLang="en-US" b="0" dirty="0"/>
              <a:t>取得和发出原材料按实际、计划成本核算</a:t>
            </a:r>
          </a:p>
        </p:txBody>
      </p:sp>
    </p:spTree>
    <p:extLst>
      <p:ext uri="{BB962C8B-B14F-4D97-AF65-F5344CB8AC3E}">
        <p14:creationId xmlns:p14="http://schemas.microsoft.com/office/powerpoint/2010/main" val="3389415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（一）取得存货的确认和计量原则</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b="0" dirty="0"/>
              <a:t>确认：当与存货有关的经济利益很可能流入企业，且其成本能够可靠地计量时，应当对取得存货进行确认。</a:t>
            </a:r>
          </a:p>
          <a:p>
            <a:r>
              <a:rPr lang="zh-CN" altLang="en-US" b="0" dirty="0"/>
              <a:t>计量：企业取得存货应当以成本进行计量。取得存货的方式不同，其成本构成也不同。</a:t>
            </a:r>
          </a:p>
          <a:p>
            <a:pPr lvl="1"/>
            <a:r>
              <a:rPr lang="zh-CN" altLang="en-US" dirty="0"/>
              <a:t>取得存货的方式包括外购存货、加工制造取得存货和其他方式取得的存货。</a:t>
            </a:r>
          </a:p>
        </p:txBody>
      </p:sp>
    </p:spTree>
    <p:extLst>
      <p:ext uri="{BB962C8B-B14F-4D97-AF65-F5344CB8AC3E}">
        <p14:creationId xmlns:p14="http://schemas.microsoft.com/office/powerpoint/2010/main" val="1470792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en-US" altLang="zh-CN" dirty="0"/>
              <a:t>1.</a:t>
            </a:r>
            <a:r>
              <a:rPr lang="zh-CN" altLang="en-US" dirty="0"/>
              <a:t>外购存货成本的确定</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576917" y="2017713"/>
            <a:ext cx="7976986" cy="4114800"/>
          </a:xfrm>
        </p:spPr>
        <p:txBody>
          <a:bodyPr/>
          <a:lstStyle/>
          <a:p>
            <a:r>
              <a:rPr lang="zh-CN" altLang="en-US" sz="2400" b="0" dirty="0"/>
              <a:t>购买价款</a:t>
            </a:r>
            <a:endParaRPr lang="en-US" altLang="zh-CN" sz="2400" b="0" dirty="0"/>
          </a:p>
          <a:p>
            <a:endParaRPr lang="en-US" altLang="zh-CN" sz="2400" b="0" dirty="0"/>
          </a:p>
          <a:p>
            <a:r>
              <a:rPr lang="zh-CN" altLang="en-US" sz="2400" b="0" dirty="0"/>
              <a:t>采购费用</a:t>
            </a:r>
            <a:endParaRPr lang="en-US" altLang="zh-CN" sz="2400" b="0" dirty="0"/>
          </a:p>
          <a:p>
            <a:endParaRPr lang="en-US" altLang="zh-CN" sz="2400" b="0" dirty="0"/>
          </a:p>
          <a:p>
            <a:r>
              <a:rPr lang="zh-CN" altLang="en-US" sz="2400" b="0" dirty="0"/>
              <a:t>税费</a:t>
            </a:r>
            <a:endParaRPr lang="en-US" altLang="zh-CN" sz="2400" b="0" dirty="0"/>
          </a:p>
          <a:p>
            <a:endParaRPr lang="en-US" altLang="zh-CN" sz="2400" b="0" dirty="0"/>
          </a:p>
          <a:p>
            <a:r>
              <a:rPr lang="zh-CN" altLang="en-US" sz="2400" b="0" dirty="0"/>
              <a:t>其他费用</a:t>
            </a:r>
            <a:endParaRPr lang="en-US" altLang="zh-CN" sz="2400" b="0" dirty="0"/>
          </a:p>
          <a:p>
            <a:endParaRPr lang="en-US" altLang="zh-CN" sz="2400" b="0" dirty="0"/>
          </a:p>
          <a:p>
            <a:endParaRPr lang="en-US" altLang="zh-CN" sz="2400" b="0" dirty="0"/>
          </a:p>
          <a:p>
            <a:r>
              <a:rPr lang="zh-CN" altLang="en-US" sz="2400" b="0" dirty="0"/>
              <a:t>采购人员的差旅费、专设采购机构的经费等的处理？</a:t>
            </a:r>
          </a:p>
          <a:p>
            <a:endParaRPr lang="en-US" altLang="zh-CN" sz="2400" b="0" dirty="0"/>
          </a:p>
        </p:txBody>
      </p:sp>
      <p:sp>
        <p:nvSpPr>
          <p:cNvPr id="5" name="内容占位符 2">
            <a:extLst>
              <a:ext uri="{FF2B5EF4-FFF2-40B4-BE49-F238E27FC236}">
                <a16:creationId xmlns:a16="http://schemas.microsoft.com/office/drawing/2014/main" id="{12614669-5CDB-47E7-8896-E111995D6225}"/>
              </a:ext>
            </a:extLst>
          </p:cNvPr>
          <p:cNvSpPr txBox="1">
            <a:spLocks/>
          </p:cNvSpPr>
          <p:nvPr/>
        </p:nvSpPr>
        <p:spPr bwMode="auto">
          <a:xfrm>
            <a:off x="4267565" y="2038459"/>
            <a:ext cx="66526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a:solidFill>
                  <a:schemeClr val="tx1"/>
                </a:solidFill>
                <a:latin typeface="楷体_GB2312" panose="02010609030101010101" pitchFamily="49" charset="-122"/>
                <a:ea typeface="楷体_GB2312" panose="02010609030101010101" pitchFamily="49"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a:solidFill>
                  <a:schemeClr val="tx1"/>
                </a:solidFill>
                <a:latin typeface="+mn-ea"/>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a:solidFill>
                  <a:schemeClr val="tx1"/>
                </a:solidFill>
                <a:latin typeface="仿宋_GB2312" panose="02010609030101010101" pitchFamily="49" charset="-122"/>
                <a:ea typeface="仿宋_GB2312" panose="02010609030101010101" pitchFamily="49"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黑体" panose="02010609060101010101" pitchFamily="49" charset="-122"/>
                <a:ea typeface="黑体" panose="02010609060101010101" pitchFamily="49"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9pPr>
          </a:lstStyle>
          <a:p>
            <a:pPr lvl="1"/>
            <a:r>
              <a:rPr lang="zh-CN" altLang="en-US" sz="2000" dirty="0"/>
              <a:t>企业购入材料或商品的发票账单上列明的价款</a:t>
            </a:r>
            <a:r>
              <a:rPr lang="en-US" altLang="zh-CN" sz="2000" dirty="0"/>
              <a:t>(</a:t>
            </a:r>
            <a:r>
              <a:rPr lang="zh-CN" altLang="en-US" sz="2000" dirty="0"/>
              <a:t>注意商业和现金折扣</a:t>
            </a:r>
            <a:r>
              <a:rPr lang="en-US" altLang="zh-CN" sz="2000" dirty="0"/>
              <a:t>)</a:t>
            </a:r>
          </a:p>
          <a:p>
            <a:pPr lvl="1"/>
            <a:endParaRPr lang="en-US" altLang="zh-CN" sz="1050" dirty="0"/>
          </a:p>
          <a:p>
            <a:pPr lvl="1"/>
            <a:r>
              <a:rPr lang="zh-CN" altLang="en-US" sz="2000" dirty="0"/>
              <a:t>包括：运输费、装卸费、保险费等</a:t>
            </a:r>
            <a:endParaRPr lang="en-US" altLang="zh-CN" sz="2000" dirty="0"/>
          </a:p>
          <a:p>
            <a:pPr marL="457200" lvl="1" indent="0">
              <a:buNone/>
            </a:pPr>
            <a:endParaRPr lang="en-US" altLang="zh-CN" sz="2000" dirty="0"/>
          </a:p>
          <a:p>
            <a:pPr lvl="1"/>
            <a:r>
              <a:rPr lang="zh-CN" altLang="en-US" sz="2000" dirty="0"/>
              <a:t>计存货成本：消费税、资源税、关税等</a:t>
            </a:r>
          </a:p>
          <a:p>
            <a:pPr lvl="1"/>
            <a:r>
              <a:rPr lang="zh-CN" altLang="en-US" sz="2000" dirty="0"/>
              <a:t>不计入存货成本：增值税</a:t>
            </a:r>
            <a:endParaRPr lang="en-US" altLang="zh-CN" sz="2000" dirty="0"/>
          </a:p>
          <a:p>
            <a:pPr marL="457200" lvl="1" indent="0">
              <a:buNone/>
            </a:pPr>
            <a:endParaRPr lang="en-US" altLang="zh-CN" sz="1000" dirty="0"/>
          </a:p>
          <a:p>
            <a:pPr lvl="1"/>
            <a:r>
              <a:rPr lang="zh-CN" altLang="en-US" sz="2000" dirty="0"/>
              <a:t>可归属于存货采购成本的费用，如入库前的整理挑选费用</a:t>
            </a:r>
          </a:p>
        </p:txBody>
      </p:sp>
      <p:grpSp>
        <p:nvGrpSpPr>
          <p:cNvPr id="12" name="组合 11"/>
          <p:cNvGrpSpPr/>
          <p:nvPr/>
        </p:nvGrpSpPr>
        <p:grpSpPr>
          <a:xfrm>
            <a:off x="3731535" y="2215056"/>
            <a:ext cx="972506" cy="2692202"/>
            <a:chOff x="3731535" y="2215055"/>
            <a:chExt cx="966588" cy="3239814"/>
          </a:xfrm>
        </p:grpSpPr>
        <p:grpSp>
          <p:nvGrpSpPr>
            <p:cNvPr id="10" name="组合 9"/>
            <p:cNvGrpSpPr/>
            <p:nvPr/>
          </p:nvGrpSpPr>
          <p:grpSpPr>
            <a:xfrm>
              <a:off x="3731535" y="2215055"/>
              <a:ext cx="966588" cy="1229710"/>
              <a:chOff x="3815255" y="2222938"/>
              <a:chExt cx="882869" cy="1450428"/>
            </a:xfrm>
          </p:grpSpPr>
          <p:sp>
            <p:nvSpPr>
              <p:cNvPr id="6" name="右箭头 5"/>
              <p:cNvSpPr/>
              <p:nvPr/>
            </p:nvSpPr>
            <p:spPr bwMode="auto">
              <a:xfrm>
                <a:off x="3815255" y="2222938"/>
                <a:ext cx="882869" cy="236483"/>
              </a:xfrm>
              <a:prstGeom prst="rightArrow">
                <a:avLst/>
              </a:prstGeom>
              <a:solidFill>
                <a:schemeClr val="accent1"/>
              </a:solidFill>
              <a:ln w="9525" cap="flat" cmpd="sng" algn="ctr">
                <a:solidFill>
                  <a:schemeClr val="tx1"/>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7" name="右箭头 6"/>
              <p:cNvSpPr/>
              <p:nvPr/>
            </p:nvSpPr>
            <p:spPr bwMode="auto">
              <a:xfrm>
                <a:off x="3815255" y="3452648"/>
                <a:ext cx="882869" cy="220718"/>
              </a:xfrm>
              <a:prstGeom prst="rightArrow">
                <a:avLst/>
              </a:prstGeom>
              <a:solidFill>
                <a:schemeClr val="accent1"/>
              </a:solidFill>
              <a:ln w="9525" cap="flat" cmpd="sng" algn="ctr">
                <a:solidFill>
                  <a:schemeClr val="tx1"/>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grpSp>
        <p:sp>
          <p:nvSpPr>
            <p:cNvPr id="8" name="右箭头 7"/>
            <p:cNvSpPr/>
            <p:nvPr/>
          </p:nvSpPr>
          <p:spPr bwMode="auto">
            <a:xfrm>
              <a:off x="3731535" y="4225159"/>
              <a:ext cx="966588" cy="236482"/>
            </a:xfrm>
            <a:prstGeom prst="rightArrow">
              <a:avLst/>
            </a:prstGeom>
            <a:solidFill>
              <a:schemeClr val="accent1"/>
            </a:solidFill>
            <a:ln w="9525" cap="flat" cmpd="sng" algn="ctr">
              <a:solidFill>
                <a:schemeClr val="tx1"/>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9" name="右箭头 8"/>
            <p:cNvSpPr/>
            <p:nvPr/>
          </p:nvSpPr>
          <p:spPr bwMode="auto">
            <a:xfrm>
              <a:off x="3731535" y="5297213"/>
              <a:ext cx="966588" cy="157656"/>
            </a:xfrm>
            <a:prstGeom prst="rightArrow">
              <a:avLst/>
            </a:prstGeom>
            <a:solidFill>
              <a:schemeClr val="accent1"/>
            </a:solidFill>
            <a:ln w="9525" cap="flat" cmpd="sng" algn="ctr">
              <a:solidFill>
                <a:schemeClr val="tx1"/>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grpSp>
    </p:spTree>
    <p:extLst>
      <p:ext uri="{BB962C8B-B14F-4D97-AF65-F5344CB8AC3E}">
        <p14:creationId xmlns:p14="http://schemas.microsoft.com/office/powerpoint/2010/main" val="4262531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en-US" altLang="zh-CN" dirty="0"/>
              <a:t>2.</a:t>
            </a:r>
            <a:r>
              <a:rPr lang="zh-CN" altLang="en-US" dirty="0"/>
              <a:t>加工取得存货的成本</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sz="2800" dirty="0"/>
              <a:t>什么是加工取得的存货？</a:t>
            </a:r>
          </a:p>
          <a:p>
            <a:r>
              <a:rPr lang="zh-CN" altLang="en-US" sz="2800" dirty="0"/>
              <a:t>加工取得的存货成本包括哪些项目？</a:t>
            </a:r>
          </a:p>
          <a:p>
            <a:pPr lvl="1"/>
            <a:r>
              <a:rPr lang="zh-CN" altLang="en-US" sz="2400" dirty="0"/>
              <a:t>采购成本（购买价款、采购费用和相关税费等）</a:t>
            </a:r>
          </a:p>
          <a:p>
            <a:pPr lvl="1"/>
            <a:r>
              <a:rPr lang="zh-CN" altLang="en-US" sz="2400" dirty="0"/>
              <a:t>加工成本</a:t>
            </a:r>
          </a:p>
          <a:p>
            <a:r>
              <a:rPr lang="zh-CN" altLang="en-US" sz="2800" dirty="0"/>
              <a:t>存货的加工成本包括哪些项目？</a:t>
            </a:r>
          </a:p>
          <a:p>
            <a:pPr lvl="1"/>
            <a:r>
              <a:rPr lang="zh-CN" altLang="en-US" sz="2400" dirty="0"/>
              <a:t>定义：企业为加工生产某产品而消耗的除原材料以外应计入加工产品成本的支出，主要包括直接人工及按一定方法分配的制造费用 </a:t>
            </a:r>
          </a:p>
          <a:p>
            <a:pPr lvl="1"/>
            <a:r>
              <a:rPr lang="zh-CN" altLang="en-US" sz="2400" dirty="0"/>
              <a:t>直接费用和间接费用</a:t>
            </a:r>
          </a:p>
          <a:p>
            <a:pPr lvl="1"/>
            <a:r>
              <a:rPr lang="zh-CN" altLang="en-US" sz="2400" dirty="0"/>
              <a:t>费用分配方法</a:t>
            </a:r>
          </a:p>
        </p:txBody>
      </p:sp>
    </p:spTree>
    <p:extLst>
      <p:ext uri="{BB962C8B-B14F-4D97-AF65-F5344CB8AC3E}">
        <p14:creationId xmlns:p14="http://schemas.microsoft.com/office/powerpoint/2010/main" val="487586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en-US" altLang="zh-CN" dirty="0"/>
              <a:t>3.</a:t>
            </a:r>
            <a:r>
              <a:rPr lang="zh-CN" altLang="en-US" dirty="0"/>
              <a:t>其他方式取得存货的成本</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其他方式主要包括</a:t>
            </a:r>
            <a:endParaRPr lang="en-US" altLang="zh-CN" dirty="0"/>
          </a:p>
          <a:p>
            <a:pPr lvl="1"/>
            <a:r>
              <a:rPr lang="zh-CN" altLang="en-US" dirty="0"/>
              <a:t>接受投资者投资</a:t>
            </a:r>
          </a:p>
          <a:p>
            <a:pPr lvl="1"/>
            <a:r>
              <a:rPr lang="zh-CN" altLang="en-US" dirty="0"/>
              <a:t>盘盈</a:t>
            </a:r>
          </a:p>
          <a:p>
            <a:pPr lvl="1"/>
            <a:r>
              <a:rPr lang="zh-CN" altLang="en-US" dirty="0"/>
              <a:t>非货币性资产交换</a:t>
            </a:r>
          </a:p>
          <a:p>
            <a:pPr lvl="1"/>
            <a:r>
              <a:rPr lang="zh-CN" altLang="en-US" dirty="0"/>
              <a:t>债务重组</a:t>
            </a:r>
          </a:p>
          <a:p>
            <a:pPr lvl="1"/>
            <a:r>
              <a:rPr lang="zh-CN" altLang="en-US" dirty="0"/>
              <a:t>企业合并</a:t>
            </a:r>
          </a:p>
        </p:txBody>
      </p:sp>
    </p:spTree>
    <p:extLst>
      <p:ext uri="{BB962C8B-B14F-4D97-AF65-F5344CB8AC3E}">
        <p14:creationId xmlns:p14="http://schemas.microsoft.com/office/powerpoint/2010/main" val="3843300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en-US" altLang="zh-CN" dirty="0"/>
              <a:t>4.</a:t>
            </a:r>
            <a:r>
              <a:rPr lang="zh-CN" altLang="en-US" dirty="0"/>
              <a:t>不计入存货成本的相关费用</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lnSpc>
                <a:spcPct val="150000"/>
              </a:lnSpc>
            </a:pPr>
            <a:r>
              <a:rPr lang="zh-CN" altLang="en-US" sz="2800" dirty="0"/>
              <a:t>（</a:t>
            </a:r>
            <a:r>
              <a:rPr lang="en-US" altLang="zh-CN" sz="2800" dirty="0"/>
              <a:t>1</a:t>
            </a:r>
            <a:r>
              <a:rPr lang="zh-CN" altLang="en-US" sz="2800" dirty="0"/>
              <a:t>）非正常损耗</a:t>
            </a:r>
            <a:endParaRPr lang="en-US" altLang="zh-CN" sz="2800" dirty="0"/>
          </a:p>
          <a:p>
            <a:pPr lvl="1">
              <a:lnSpc>
                <a:spcPct val="150000"/>
              </a:lnSpc>
            </a:pPr>
            <a:r>
              <a:rPr lang="zh-CN" altLang="en-US" sz="2400" dirty="0"/>
              <a:t>例如，原材料</a:t>
            </a:r>
            <a:r>
              <a:rPr lang="en-US" altLang="zh-CN" sz="2400" dirty="0"/>
              <a:t>1 000</a:t>
            </a:r>
            <a:r>
              <a:rPr lang="zh-CN" altLang="en-US" sz="2400" dirty="0"/>
              <a:t>千克，成本是</a:t>
            </a:r>
            <a:r>
              <a:rPr lang="en-US" altLang="zh-CN" sz="2400" dirty="0"/>
              <a:t>1</a:t>
            </a:r>
            <a:r>
              <a:rPr lang="zh-CN" altLang="en-US" sz="2400" dirty="0"/>
              <a:t>万元，合理损耗是</a:t>
            </a:r>
            <a:r>
              <a:rPr lang="en-US" altLang="zh-CN" sz="2400" dirty="0"/>
              <a:t>1%</a:t>
            </a:r>
            <a:r>
              <a:rPr lang="zh-CN" altLang="en-US" sz="2400" dirty="0"/>
              <a:t>（</a:t>
            </a:r>
            <a:r>
              <a:rPr lang="en-US" altLang="zh-CN" sz="2400" dirty="0"/>
              <a:t>10</a:t>
            </a:r>
            <a:r>
              <a:rPr lang="zh-CN" altLang="en-US" sz="2400" dirty="0"/>
              <a:t>千克），假定损失了</a:t>
            </a:r>
            <a:r>
              <a:rPr lang="en-US" altLang="zh-CN" sz="2400" dirty="0"/>
              <a:t>10</a:t>
            </a:r>
            <a:r>
              <a:rPr lang="zh-CN" altLang="en-US" sz="2400" dirty="0"/>
              <a:t>千克？假定损失了</a:t>
            </a:r>
            <a:r>
              <a:rPr lang="en-US" altLang="zh-CN" sz="2400" dirty="0"/>
              <a:t>20</a:t>
            </a:r>
            <a:r>
              <a:rPr lang="zh-CN" altLang="en-US" sz="2400" dirty="0"/>
              <a:t>千克？</a:t>
            </a:r>
          </a:p>
          <a:p>
            <a:pPr>
              <a:lnSpc>
                <a:spcPct val="150000"/>
              </a:lnSpc>
            </a:pPr>
            <a:r>
              <a:rPr lang="zh-CN" altLang="en-US" sz="2800" dirty="0"/>
              <a:t>（</a:t>
            </a:r>
            <a:r>
              <a:rPr lang="en-US" altLang="zh-CN" sz="2800" dirty="0"/>
              <a:t>2</a:t>
            </a:r>
            <a:r>
              <a:rPr lang="zh-CN" altLang="en-US" sz="2800" dirty="0"/>
              <a:t>）入库后发生的挑选费、存储费用，但是为达到下一生产阶段所必须的储存费用除外</a:t>
            </a:r>
          </a:p>
          <a:p>
            <a:pPr>
              <a:lnSpc>
                <a:spcPct val="150000"/>
              </a:lnSpc>
            </a:pPr>
            <a:r>
              <a:rPr lang="zh-CN" altLang="en-US" sz="2800" dirty="0"/>
              <a:t>（</a:t>
            </a:r>
            <a:r>
              <a:rPr lang="en-US" altLang="zh-CN" sz="2800" dirty="0"/>
              <a:t>3</a:t>
            </a:r>
            <a:r>
              <a:rPr lang="zh-CN" altLang="en-US" sz="2800" dirty="0"/>
              <a:t>）不能归属于使存货达到目前场所和状态的其他支出</a:t>
            </a:r>
          </a:p>
        </p:txBody>
      </p:sp>
    </p:spTree>
    <p:extLst>
      <p:ext uri="{BB962C8B-B14F-4D97-AF65-F5344CB8AC3E}">
        <p14:creationId xmlns:p14="http://schemas.microsoft.com/office/powerpoint/2010/main" val="82733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练习题：商品流通企业存货成本的确定 </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308901" y="2049244"/>
            <a:ext cx="10883099" cy="4114800"/>
          </a:xfrm>
        </p:spPr>
        <p:txBody>
          <a:bodyPr/>
          <a:lstStyle/>
          <a:p>
            <a:r>
              <a:rPr lang="en-US" altLang="zh-CN" sz="2400" b="0" dirty="0"/>
              <a:t>3.</a:t>
            </a:r>
            <a:r>
              <a:rPr lang="zh-CN" altLang="en-US" sz="2400" b="0" dirty="0"/>
              <a:t>某商品流通企业购进商品，买价</a:t>
            </a:r>
            <a:r>
              <a:rPr lang="en-US" altLang="zh-CN" sz="2400" b="0" dirty="0"/>
              <a:t>1000</a:t>
            </a:r>
            <a:r>
              <a:rPr lang="zh-CN" altLang="en-US" sz="2400" b="0" dirty="0"/>
              <a:t>万元，增值税为</a:t>
            </a:r>
            <a:r>
              <a:rPr lang="en-US" altLang="zh-CN" sz="2400" b="0" dirty="0"/>
              <a:t>170</a:t>
            </a:r>
            <a:r>
              <a:rPr lang="zh-CN" altLang="en-US" sz="2400" b="0" dirty="0"/>
              <a:t>万元，发生运费</a:t>
            </a:r>
            <a:r>
              <a:rPr lang="en-US" altLang="zh-CN" sz="2400" b="0" dirty="0"/>
              <a:t>30</a:t>
            </a:r>
            <a:r>
              <a:rPr lang="zh-CN" altLang="en-US" sz="2400" b="0" dirty="0"/>
              <a:t>万元、包装费</a:t>
            </a:r>
            <a:r>
              <a:rPr lang="en-US" altLang="zh-CN" sz="2400" b="0" dirty="0"/>
              <a:t>5</a:t>
            </a:r>
            <a:r>
              <a:rPr lang="zh-CN" altLang="en-US" sz="2400" b="0" dirty="0"/>
              <a:t>万元，则该企业购进商品时，存货的入账价值（    ）万元 </a:t>
            </a:r>
          </a:p>
          <a:p>
            <a:r>
              <a:rPr lang="en-US" altLang="zh-CN" sz="2400" b="0" dirty="0"/>
              <a:t>A.1005       B.1000      C.1035       D.1045 </a:t>
            </a:r>
          </a:p>
          <a:p>
            <a:r>
              <a:rPr lang="zh-CN" altLang="en-US" sz="2400" b="0" dirty="0"/>
              <a:t>答案： </a:t>
            </a:r>
            <a:r>
              <a:rPr lang="en-US" altLang="zh-CN" sz="2400" b="0" dirty="0"/>
              <a:t>C</a:t>
            </a:r>
            <a:r>
              <a:rPr lang="zh-CN" altLang="en-US" sz="2400" b="0" dirty="0"/>
              <a:t>或</a:t>
            </a:r>
            <a:r>
              <a:rPr lang="en-US" altLang="zh-CN" sz="2400" b="0" dirty="0"/>
              <a:t>B</a:t>
            </a:r>
          </a:p>
          <a:p>
            <a:endParaRPr lang="en-US" altLang="zh-CN" sz="2400" b="0" dirty="0"/>
          </a:p>
          <a:p>
            <a:r>
              <a:rPr lang="zh-CN" altLang="en-US" sz="2400" b="0" dirty="0"/>
              <a:t>分析：商品流通企业购进商品而发生的运输费、装卸费、 保险费、包装费、仓储费等费用，运输途中的合理损耗，入库前的挑选整理费用等，应计入存货成本，也可以先归集，期末进行分配</a:t>
            </a:r>
            <a:endParaRPr lang="zh-CN" altLang="en-US" sz="2400" dirty="0"/>
          </a:p>
        </p:txBody>
      </p:sp>
    </p:spTree>
    <p:extLst>
      <p:ext uri="{BB962C8B-B14F-4D97-AF65-F5344CB8AC3E}">
        <p14:creationId xmlns:p14="http://schemas.microsoft.com/office/powerpoint/2010/main" val="832344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wipe(down)">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（二）发出存货的计量方法</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buClr>
                <a:srgbClr val="3333FF"/>
              </a:buClr>
            </a:pPr>
            <a:r>
              <a:rPr lang="en-US" altLang="zh-CN" dirty="0"/>
              <a:t>1.</a:t>
            </a:r>
            <a:r>
              <a:rPr lang="zh-CN" altLang="en-US" dirty="0"/>
              <a:t>确定发出原材料、商品存货的计量方法</a:t>
            </a:r>
          </a:p>
          <a:p>
            <a:r>
              <a:rPr lang="zh-CN" altLang="en-US" dirty="0"/>
              <a:t>顺算法：</a:t>
            </a:r>
            <a:endParaRPr lang="en-US" altLang="zh-CN" dirty="0"/>
          </a:p>
          <a:p>
            <a:endParaRPr lang="zh-CN" altLang="en-US" sz="1800" dirty="0"/>
          </a:p>
          <a:p>
            <a:endParaRPr lang="en-US" altLang="zh-CN" dirty="0"/>
          </a:p>
          <a:p>
            <a:endParaRPr lang="en-US" altLang="zh-CN" dirty="0"/>
          </a:p>
          <a:p>
            <a:r>
              <a:rPr lang="zh-CN" altLang="en-US" dirty="0"/>
              <a:t>倒挤法：</a:t>
            </a:r>
          </a:p>
        </p:txBody>
      </p:sp>
      <p:sp>
        <p:nvSpPr>
          <p:cNvPr id="4" name="Text Box 1031"/>
          <p:cNvSpPr txBox="1">
            <a:spLocks noChangeArrowheads="1"/>
          </p:cNvSpPr>
          <p:nvPr/>
        </p:nvSpPr>
        <p:spPr bwMode="auto">
          <a:xfrm>
            <a:off x="2093476" y="3270469"/>
            <a:ext cx="5899642" cy="1200329"/>
          </a:xfrm>
          <a:prstGeom prst="rect">
            <a:avLst/>
          </a:prstGeom>
          <a:ln>
            <a:solidFill>
              <a:schemeClr val="tx1"/>
            </a:solidFill>
            <a:headEnd/>
            <a:tailEnd/>
          </a:ln>
        </p:spPr>
        <p:style>
          <a:lnRef idx="2">
            <a:schemeClr val="accent3"/>
          </a:lnRef>
          <a:fillRef idx="1">
            <a:schemeClr val="lt1"/>
          </a:fillRef>
          <a:effectRef idx="0">
            <a:schemeClr val="accent3"/>
          </a:effectRef>
          <a:fontRef idx="minor">
            <a:schemeClr val="dk1"/>
          </a:fontRef>
        </p:style>
        <p:txBody>
          <a:bodyPr wrap="square">
            <a:spAutoFit/>
          </a:bodyPr>
          <a:lstStyle/>
          <a:p>
            <a:pPr algn="l" eaLnBrk="1" hangingPunct="1">
              <a:defRPr/>
            </a:pPr>
            <a:r>
              <a:rPr kumimoji="1" lang="zh-CN" altLang="en-US" sz="2400" b="1" dirty="0">
                <a:solidFill>
                  <a:schemeClr val="tx2"/>
                </a:solidFill>
                <a:effectLst/>
                <a:latin typeface="华文新魏" pitchFamily="2" charset="-122"/>
                <a:ea typeface="华文新魏" pitchFamily="2" charset="-122"/>
              </a:rPr>
              <a:t>本期发出金额 ＝ 发出</a:t>
            </a:r>
            <a:r>
              <a:rPr kumimoji="1" lang="zh-CN" altLang="en-US" sz="2400" b="1" dirty="0">
                <a:solidFill>
                  <a:srgbClr val="FF0000"/>
                </a:solidFill>
                <a:effectLst/>
                <a:latin typeface="华文新魏" pitchFamily="2" charset="-122"/>
                <a:ea typeface="华文新魏" pitchFamily="2" charset="-122"/>
              </a:rPr>
              <a:t>数量 </a:t>
            </a:r>
            <a:r>
              <a:rPr kumimoji="1" lang="en-US" altLang="zh-CN" sz="2400" b="1" dirty="0">
                <a:solidFill>
                  <a:schemeClr val="tx2"/>
                </a:solidFill>
                <a:effectLst/>
                <a:latin typeface="华文新魏" pitchFamily="2" charset="-122"/>
                <a:ea typeface="华文新魏" pitchFamily="2" charset="-122"/>
              </a:rPr>
              <a:t>× </a:t>
            </a:r>
            <a:r>
              <a:rPr kumimoji="1" lang="zh-CN" altLang="en-US" sz="2400" b="1" dirty="0">
                <a:solidFill>
                  <a:srgbClr val="FF0000"/>
                </a:solidFill>
                <a:effectLst/>
                <a:latin typeface="华文新魏" pitchFamily="2" charset="-122"/>
                <a:ea typeface="华文新魏" pitchFamily="2" charset="-122"/>
              </a:rPr>
              <a:t>单价</a:t>
            </a:r>
            <a:br>
              <a:rPr kumimoji="1" lang="zh-CN" altLang="en-US" sz="2400" b="1" dirty="0">
                <a:solidFill>
                  <a:srgbClr val="FF0000"/>
                </a:solidFill>
                <a:effectLst/>
                <a:latin typeface="华文新魏" pitchFamily="2" charset="-122"/>
                <a:ea typeface="华文新魏" pitchFamily="2" charset="-122"/>
              </a:rPr>
            </a:br>
            <a:r>
              <a:rPr kumimoji="1" lang="zh-CN" altLang="en-US" sz="2400" b="1" dirty="0">
                <a:solidFill>
                  <a:schemeClr val="tx2"/>
                </a:solidFill>
                <a:effectLst/>
                <a:latin typeface="华文新魏" pitchFamily="2" charset="-122"/>
                <a:ea typeface="华文新魏" pitchFamily="2" charset="-122"/>
              </a:rPr>
              <a:t>结  存  金    额 ＝ 期初余额 </a:t>
            </a:r>
            <a:r>
              <a:rPr kumimoji="1" lang="en-US" altLang="zh-CN" sz="2400" b="1" dirty="0">
                <a:solidFill>
                  <a:schemeClr val="tx2"/>
                </a:solidFill>
                <a:effectLst/>
                <a:latin typeface="华文新魏" pitchFamily="2" charset="-122"/>
                <a:ea typeface="华文新魏" pitchFamily="2" charset="-122"/>
              </a:rPr>
              <a:t>+ </a:t>
            </a:r>
            <a:r>
              <a:rPr kumimoji="1" lang="zh-CN" altLang="en-US" sz="2400" b="1" dirty="0">
                <a:solidFill>
                  <a:schemeClr val="tx2"/>
                </a:solidFill>
                <a:effectLst/>
                <a:latin typeface="华文新魏" pitchFamily="2" charset="-122"/>
                <a:ea typeface="华文新魏" pitchFamily="2" charset="-122"/>
              </a:rPr>
              <a:t>本期增加额 </a:t>
            </a:r>
            <a:br>
              <a:rPr kumimoji="1" lang="zh-CN" altLang="en-US" sz="2400" b="1" dirty="0">
                <a:solidFill>
                  <a:schemeClr val="tx2"/>
                </a:solidFill>
                <a:effectLst/>
                <a:latin typeface="华文新魏" pitchFamily="2" charset="-122"/>
                <a:ea typeface="华文新魏" pitchFamily="2" charset="-122"/>
              </a:rPr>
            </a:br>
            <a:r>
              <a:rPr kumimoji="1" lang="zh-CN" altLang="en-US" sz="2400" b="1" dirty="0">
                <a:solidFill>
                  <a:schemeClr val="tx2"/>
                </a:solidFill>
                <a:effectLst/>
                <a:latin typeface="华文新魏" pitchFamily="2" charset="-122"/>
                <a:ea typeface="华文新魏" pitchFamily="2" charset="-122"/>
              </a:rPr>
              <a:t>                                                </a:t>
            </a:r>
            <a:r>
              <a:rPr kumimoji="1" lang="en-US" altLang="zh-CN" sz="2400" b="1" dirty="0">
                <a:solidFill>
                  <a:schemeClr val="tx2"/>
                </a:solidFill>
                <a:effectLst/>
                <a:latin typeface="华文新魏" pitchFamily="2" charset="-122"/>
                <a:ea typeface="华文新魏" pitchFamily="2" charset="-122"/>
              </a:rPr>
              <a:t>-</a:t>
            </a:r>
            <a:r>
              <a:rPr kumimoji="1" lang="zh-CN" altLang="en-US" sz="2400" b="1" dirty="0">
                <a:solidFill>
                  <a:schemeClr val="tx2"/>
                </a:solidFill>
                <a:effectLst/>
                <a:latin typeface="华文新魏" pitchFamily="2" charset="-122"/>
                <a:ea typeface="华文新魏" pitchFamily="2" charset="-122"/>
              </a:rPr>
              <a:t>本期发出金额</a:t>
            </a:r>
            <a:endParaRPr kumimoji="1" lang="zh-CN" altLang="en-US" sz="2400" b="1" dirty="0">
              <a:solidFill>
                <a:schemeClr val="tx2"/>
              </a:solidFill>
              <a:effectLst>
                <a:outerShdw blurRad="38100" dist="38100" dir="2700000" algn="tl">
                  <a:srgbClr val="FFFFFF"/>
                </a:outerShdw>
              </a:effectLst>
              <a:latin typeface="华文新魏" pitchFamily="2" charset="-122"/>
              <a:ea typeface="华文新魏" pitchFamily="2" charset="-122"/>
            </a:endParaRPr>
          </a:p>
        </p:txBody>
      </p:sp>
      <p:sp>
        <p:nvSpPr>
          <p:cNvPr id="5" name="Text Box 1032"/>
          <p:cNvSpPr txBox="1">
            <a:spLocks noChangeArrowheads="1"/>
          </p:cNvSpPr>
          <p:nvPr/>
        </p:nvSpPr>
        <p:spPr bwMode="auto">
          <a:xfrm>
            <a:off x="2093477" y="5304495"/>
            <a:ext cx="5899641" cy="1200329"/>
          </a:xfrm>
          <a:prstGeom prst="rect">
            <a:avLst/>
          </a:prstGeom>
          <a:ln>
            <a:solidFill>
              <a:schemeClr val="tx1"/>
            </a:solidFill>
            <a:headEnd/>
            <a:tailEnd/>
          </a:ln>
        </p:spPr>
        <p:style>
          <a:lnRef idx="2">
            <a:schemeClr val="accent3"/>
          </a:lnRef>
          <a:fillRef idx="1">
            <a:schemeClr val="lt1"/>
          </a:fillRef>
          <a:effectRef idx="0">
            <a:schemeClr val="accent3"/>
          </a:effectRef>
          <a:fontRef idx="minor">
            <a:schemeClr val="dk1"/>
          </a:fontRef>
        </p:style>
        <p:txBody>
          <a:bodyPr wrap="square">
            <a:spAutoFit/>
          </a:bodyPr>
          <a:lstStyle>
            <a:defPPr>
              <a:defRPr lang="zh-CN"/>
            </a:defPPr>
            <a:lvl1pPr>
              <a:defRPr kumimoji="1" b="1">
                <a:solidFill>
                  <a:schemeClr val="tx2"/>
                </a:solidFill>
                <a:effectLst/>
                <a:latin typeface="华文新魏" pitchFamily="2" charset="-122"/>
                <a:ea typeface="华文新魏" pitchFamily="2"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CN" altLang="en-US" sz="2400" dirty="0"/>
              <a:t>结  存  金   额 ＝ 结存</a:t>
            </a:r>
            <a:r>
              <a:rPr lang="zh-CN" altLang="en-US" sz="2400" dirty="0">
                <a:solidFill>
                  <a:srgbClr val="FF0000"/>
                </a:solidFill>
              </a:rPr>
              <a:t>数量</a:t>
            </a:r>
            <a:r>
              <a:rPr lang="zh-CN" altLang="en-US" sz="2400" dirty="0"/>
              <a:t> </a:t>
            </a:r>
            <a:r>
              <a:rPr lang="en-US" altLang="zh-CN" sz="2400" dirty="0"/>
              <a:t>× </a:t>
            </a:r>
            <a:r>
              <a:rPr lang="zh-CN" altLang="en-US" sz="2400" dirty="0">
                <a:solidFill>
                  <a:srgbClr val="FF0000"/>
                </a:solidFill>
              </a:rPr>
              <a:t>单价</a:t>
            </a:r>
          </a:p>
          <a:p>
            <a:r>
              <a:rPr lang="zh-CN" altLang="en-US" sz="2400" dirty="0"/>
              <a:t>本期发出金额＝ 期初余额 </a:t>
            </a:r>
            <a:r>
              <a:rPr lang="en-US" altLang="zh-CN" sz="2400" dirty="0"/>
              <a:t>+ </a:t>
            </a:r>
            <a:r>
              <a:rPr lang="zh-CN" altLang="en-US" sz="2400" dirty="0"/>
              <a:t>本期增加额 </a:t>
            </a:r>
          </a:p>
          <a:p>
            <a:r>
              <a:rPr lang="zh-CN" altLang="en-US" sz="2400" dirty="0"/>
              <a:t>                                               </a:t>
            </a:r>
            <a:r>
              <a:rPr lang="en-US" altLang="zh-CN" sz="2400" dirty="0"/>
              <a:t>-</a:t>
            </a:r>
            <a:r>
              <a:rPr lang="zh-CN" altLang="en-US" sz="2400" dirty="0"/>
              <a:t>结存金额</a:t>
            </a:r>
          </a:p>
        </p:txBody>
      </p:sp>
    </p:spTree>
    <p:extLst>
      <p:ext uri="{BB962C8B-B14F-4D97-AF65-F5344CB8AC3E}">
        <p14:creationId xmlns:p14="http://schemas.microsoft.com/office/powerpoint/2010/main" val="152068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wipe(down)">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ox(in)">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Text Box 2"/>
          <p:cNvSpPr txBox="1">
            <a:spLocks noChangeArrowheads="1"/>
          </p:cNvSpPr>
          <p:nvPr/>
        </p:nvSpPr>
        <p:spPr bwMode="auto">
          <a:xfrm>
            <a:off x="1178984" y="4956175"/>
            <a:ext cx="10871200" cy="1058863"/>
          </a:xfrm>
          <a:prstGeom prst="rect">
            <a:avLst/>
          </a:prstGeom>
          <a:noFill/>
          <a:ln w="12700">
            <a:noFill/>
            <a:miter lim="800000"/>
            <a:headEnd/>
            <a:tailEnd/>
          </a:ln>
          <a:effectLst/>
        </p:spPr>
        <p:txBody>
          <a:bodyPr/>
          <a:lstStyle/>
          <a:p>
            <a:pPr algn="l" defTabSz="762000">
              <a:defRPr/>
            </a:pPr>
            <a:r>
              <a:rPr kumimoji="1" lang="zh-CN" altLang="en-US" sz="2400" b="1" dirty="0">
                <a:solidFill>
                  <a:schemeClr val="tx2"/>
                </a:solidFill>
                <a:latin typeface="华文新魏" pitchFamily="2" charset="-122"/>
                <a:ea typeface="华文新魏" pitchFamily="2" charset="-122"/>
              </a:rPr>
              <a:t>期末实际结存金额</a:t>
            </a:r>
            <a:r>
              <a:rPr kumimoji="1" lang="en-US" altLang="zh-CN" sz="2400" b="1" dirty="0">
                <a:solidFill>
                  <a:schemeClr val="tx2"/>
                </a:solidFill>
                <a:latin typeface="华文新魏" pitchFamily="2" charset="-122"/>
                <a:ea typeface="华文新魏" pitchFamily="2" charset="-122"/>
              </a:rPr>
              <a:t>=</a:t>
            </a:r>
            <a:r>
              <a:rPr kumimoji="1" lang="zh-CN" altLang="en-US" sz="2400" b="1" dirty="0">
                <a:solidFill>
                  <a:schemeClr val="tx2"/>
                </a:solidFill>
                <a:latin typeface="华文新魏" pitchFamily="2" charset="-122"/>
                <a:ea typeface="华文新魏" pitchFamily="2" charset="-122"/>
              </a:rPr>
              <a:t>期末实地盘存数量</a:t>
            </a:r>
            <a:r>
              <a:rPr kumimoji="1" lang="en-US" altLang="zh-CN" sz="2400" b="1" dirty="0">
                <a:solidFill>
                  <a:schemeClr val="tx2"/>
                </a:solidFill>
                <a:latin typeface="华文新魏" pitchFamily="2" charset="-122"/>
                <a:ea typeface="华文新魏" pitchFamily="2" charset="-122"/>
              </a:rPr>
              <a:t>×</a:t>
            </a:r>
            <a:r>
              <a:rPr kumimoji="1" lang="zh-CN" altLang="en-US" sz="2400" b="1" dirty="0">
                <a:solidFill>
                  <a:schemeClr val="tx2"/>
                </a:solidFill>
                <a:latin typeface="华文新魏" pitchFamily="2" charset="-122"/>
                <a:ea typeface="华文新魏" pitchFamily="2" charset="-122"/>
              </a:rPr>
              <a:t>单价</a:t>
            </a:r>
          </a:p>
          <a:p>
            <a:pPr algn="l" defTabSz="762000">
              <a:defRPr/>
            </a:pPr>
            <a:r>
              <a:rPr kumimoji="1" lang="zh-CN" altLang="en-US" sz="2400" b="1" dirty="0">
                <a:solidFill>
                  <a:schemeClr val="tx2"/>
                </a:solidFill>
                <a:latin typeface="华文新魏" pitchFamily="2" charset="-122"/>
                <a:ea typeface="华文新魏" pitchFamily="2" charset="-122"/>
              </a:rPr>
              <a:t>本期发出金额</a:t>
            </a:r>
            <a:r>
              <a:rPr kumimoji="1" lang="en-US" altLang="zh-CN" sz="2400" b="1" dirty="0">
                <a:solidFill>
                  <a:schemeClr val="tx2"/>
                </a:solidFill>
                <a:latin typeface="华文新魏" pitchFamily="2" charset="-122"/>
                <a:ea typeface="华文新魏" pitchFamily="2" charset="-122"/>
              </a:rPr>
              <a:t>=</a:t>
            </a:r>
            <a:r>
              <a:rPr kumimoji="1" lang="zh-CN" altLang="en-US" sz="2400" b="1" dirty="0">
                <a:solidFill>
                  <a:schemeClr val="tx2"/>
                </a:solidFill>
                <a:latin typeface="华文新魏" pitchFamily="2" charset="-122"/>
                <a:ea typeface="华文新魏" pitchFamily="2" charset="-122"/>
              </a:rPr>
              <a:t>期初结存数</a:t>
            </a:r>
            <a:r>
              <a:rPr kumimoji="1" lang="en-US" altLang="zh-CN" sz="2400" b="1" dirty="0">
                <a:solidFill>
                  <a:schemeClr val="tx2"/>
                </a:solidFill>
                <a:latin typeface="华文新魏" pitchFamily="2" charset="-122"/>
                <a:ea typeface="华文新魏" pitchFamily="2" charset="-122"/>
              </a:rPr>
              <a:t>×</a:t>
            </a:r>
            <a:r>
              <a:rPr kumimoji="1" lang="zh-CN" altLang="en-US" sz="2400" b="1" dirty="0">
                <a:solidFill>
                  <a:schemeClr val="tx2"/>
                </a:solidFill>
                <a:latin typeface="华文新魏" pitchFamily="2" charset="-122"/>
                <a:ea typeface="华文新魏" pitchFamily="2" charset="-122"/>
              </a:rPr>
              <a:t>单价</a:t>
            </a:r>
            <a:r>
              <a:rPr kumimoji="1" lang="en-US" altLang="zh-CN" sz="2400" b="1" dirty="0">
                <a:solidFill>
                  <a:schemeClr val="tx2"/>
                </a:solidFill>
                <a:latin typeface="华文新魏" pitchFamily="2" charset="-122"/>
                <a:ea typeface="华文新魏" pitchFamily="2" charset="-122"/>
              </a:rPr>
              <a:t>+</a:t>
            </a:r>
            <a:r>
              <a:rPr kumimoji="1" lang="zh-CN" altLang="en-US" sz="2400" b="1" dirty="0">
                <a:solidFill>
                  <a:schemeClr val="tx2"/>
                </a:solidFill>
                <a:latin typeface="华文新魏" pitchFamily="2" charset="-122"/>
                <a:ea typeface="华文新魏" pitchFamily="2" charset="-122"/>
              </a:rPr>
              <a:t>本期收入数</a:t>
            </a:r>
            <a:r>
              <a:rPr kumimoji="1" lang="en-US" altLang="zh-CN" sz="2400" b="1" dirty="0">
                <a:solidFill>
                  <a:schemeClr val="tx2"/>
                </a:solidFill>
                <a:latin typeface="华文新魏" pitchFamily="2" charset="-122"/>
                <a:ea typeface="华文新魏" pitchFamily="2" charset="-122"/>
              </a:rPr>
              <a:t>×</a:t>
            </a:r>
            <a:r>
              <a:rPr kumimoji="1" lang="zh-CN" altLang="en-US" sz="2400" b="1" dirty="0">
                <a:solidFill>
                  <a:schemeClr val="tx2"/>
                </a:solidFill>
                <a:latin typeface="华文新魏" pitchFamily="2" charset="-122"/>
                <a:ea typeface="华文新魏" pitchFamily="2" charset="-122"/>
              </a:rPr>
              <a:t>单价</a:t>
            </a:r>
            <a:r>
              <a:rPr kumimoji="1" lang="en-US" altLang="zh-CN" sz="2400" b="1" dirty="0">
                <a:solidFill>
                  <a:schemeClr val="tx2"/>
                </a:solidFill>
                <a:latin typeface="华文新魏" pitchFamily="2" charset="-122"/>
                <a:ea typeface="华文新魏" pitchFamily="2" charset="-122"/>
              </a:rPr>
              <a:t>-</a:t>
            </a:r>
            <a:r>
              <a:rPr kumimoji="1" lang="zh-CN" altLang="en-US" sz="2400" b="1" dirty="0">
                <a:solidFill>
                  <a:schemeClr val="tx2"/>
                </a:solidFill>
                <a:latin typeface="华文新魏" pitchFamily="2" charset="-122"/>
                <a:ea typeface="华文新魏" pitchFamily="2" charset="-122"/>
              </a:rPr>
              <a:t>期末实际结存金额</a:t>
            </a:r>
          </a:p>
        </p:txBody>
      </p:sp>
      <p:sp>
        <p:nvSpPr>
          <p:cNvPr id="26629" name="Rectangle 5"/>
          <p:cNvSpPr>
            <a:spLocks noChangeArrowheads="1"/>
          </p:cNvSpPr>
          <p:nvPr/>
        </p:nvSpPr>
        <p:spPr bwMode="auto">
          <a:xfrm>
            <a:off x="1439589" y="954637"/>
            <a:ext cx="7734300" cy="769441"/>
          </a:xfrm>
          <a:prstGeom prst="rect">
            <a:avLst/>
          </a:prstGeom>
          <a:noFill/>
          <a:ln w="12700">
            <a:noFill/>
            <a:miter lim="800000"/>
            <a:headEnd type="none" w="sm" len="sm"/>
            <a:tailEnd type="none" w="sm" len="sm"/>
          </a:ln>
        </p:spPr>
        <p:txBody>
          <a:bodyPr>
            <a:spAutoFit/>
          </a:bodyPr>
          <a:lstStyle/>
          <a:p>
            <a:pPr defTabSz="762000" eaLnBrk="0" fontAlgn="base" hangingPunct="0">
              <a:spcBef>
                <a:spcPct val="0"/>
              </a:spcBef>
              <a:spcAft>
                <a:spcPct val="0"/>
              </a:spcAft>
            </a:pPr>
            <a:r>
              <a:rPr lang="zh-CN" altLang="en-US" sz="4400" b="1" dirty="0">
                <a:solidFill>
                  <a:schemeClr val="tx2"/>
                </a:solidFill>
                <a:latin typeface="+mj-lt"/>
                <a:ea typeface="+mj-ea"/>
                <a:cs typeface="+mj-cs"/>
              </a:rPr>
              <a:t>（</a:t>
            </a:r>
            <a:r>
              <a:rPr lang="en-US" altLang="zh-CN" sz="4400" b="1" dirty="0">
                <a:solidFill>
                  <a:schemeClr val="tx2"/>
                </a:solidFill>
                <a:latin typeface="+mj-lt"/>
                <a:ea typeface="+mj-ea"/>
                <a:cs typeface="+mj-cs"/>
              </a:rPr>
              <a:t>1</a:t>
            </a:r>
            <a:r>
              <a:rPr lang="zh-CN" altLang="en-US" sz="4400" b="1" dirty="0">
                <a:solidFill>
                  <a:schemeClr val="tx2"/>
                </a:solidFill>
                <a:latin typeface="+mj-lt"/>
                <a:ea typeface="+mj-ea"/>
                <a:cs typeface="+mj-cs"/>
              </a:rPr>
              <a:t>）存货数量的盘存方法</a:t>
            </a:r>
          </a:p>
        </p:txBody>
      </p:sp>
      <p:sp>
        <p:nvSpPr>
          <p:cNvPr id="374790" name="Rectangle 6"/>
          <p:cNvSpPr>
            <a:spLocks noChangeArrowheads="1"/>
          </p:cNvSpPr>
          <p:nvPr/>
        </p:nvSpPr>
        <p:spPr bwMode="auto">
          <a:xfrm>
            <a:off x="1178984" y="2686844"/>
            <a:ext cx="10392833" cy="917575"/>
          </a:xfrm>
          <a:prstGeom prst="rect">
            <a:avLst/>
          </a:prstGeom>
          <a:noFill/>
          <a:ln w="12700">
            <a:noFill/>
            <a:miter lim="800000"/>
            <a:headEnd type="none" w="sm" len="sm"/>
            <a:tailEnd type="none" w="sm" len="sm"/>
          </a:ln>
          <a:effectLst/>
        </p:spPr>
        <p:txBody>
          <a:bodyPr>
            <a:flatTx/>
          </a:bodyPr>
          <a:lstStyle/>
          <a:p>
            <a:pPr algn="l" defTabSz="762000">
              <a:defRPr/>
            </a:pPr>
            <a:r>
              <a:rPr kumimoji="1" lang="zh-CN" altLang="en-US" sz="2400" b="1" dirty="0">
                <a:solidFill>
                  <a:schemeClr val="tx2"/>
                </a:solidFill>
                <a:latin typeface="华文新魏" pitchFamily="2" charset="-122"/>
                <a:ea typeface="华文新魏" pitchFamily="2" charset="-122"/>
              </a:rPr>
              <a:t>期末账面结存金额</a:t>
            </a:r>
            <a:r>
              <a:rPr kumimoji="1" lang="en-US" altLang="zh-CN" sz="2400" b="1" dirty="0">
                <a:solidFill>
                  <a:schemeClr val="tx2"/>
                </a:solidFill>
                <a:latin typeface="华文新魏" pitchFamily="2" charset="-122"/>
                <a:ea typeface="华文新魏" pitchFamily="2" charset="-122"/>
              </a:rPr>
              <a:t>=</a:t>
            </a:r>
          </a:p>
          <a:p>
            <a:pPr algn="l" defTabSz="762000">
              <a:defRPr/>
            </a:pPr>
            <a:r>
              <a:rPr kumimoji="1" lang="zh-CN" altLang="en-US" sz="2400" b="1" dirty="0">
                <a:solidFill>
                  <a:schemeClr val="tx2"/>
                </a:solidFill>
                <a:latin typeface="华文新魏" pitchFamily="2" charset="-122"/>
                <a:ea typeface="华文新魏" pitchFamily="2" charset="-122"/>
              </a:rPr>
              <a:t>期初结存数</a:t>
            </a:r>
            <a:r>
              <a:rPr kumimoji="1" lang="en-US" altLang="zh-CN" sz="2400" b="1" dirty="0">
                <a:solidFill>
                  <a:schemeClr val="tx2"/>
                </a:solidFill>
                <a:latin typeface="华文新魏" pitchFamily="2" charset="-122"/>
                <a:ea typeface="华文新魏" pitchFamily="2" charset="-122"/>
              </a:rPr>
              <a:t>×</a:t>
            </a:r>
            <a:r>
              <a:rPr kumimoji="1" lang="zh-CN" altLang="en-US" sz="2400" b="1" dirty="0">
                <a:solidFill>
                  <a:schemeClr val="tx2"/>
                </a:solidFill>
                <a:latin typeface="华文新魏" pitchFamily="2" charset="-122"/>
                <a:ea typeface="华文新魏" pitchFamily="2" charset="-122"/>
              </a:rPr>
              <a:t>单价</a:t>
            </a:r>
            <a:r>
              <a:rPr kumimoji="1" lang="en-US" altLang="zh-CN" sz="2400" b="1" dirty="0">
                <a:solidFill>
                  <a:schemeClr val="tx2"/>
                </a:solidFill>
                <a:latin typeface="华文新魏" pitchFamily="2" charset="-122"/>
                <a:ea typeface="华文新魏" pitchFamily="2" charset="-122"/>
              </a:rPr>
              <a:t>+</a:t>
            </a:r>
            <a:r>
              <a:rPr kumimoji="1" lang="zh-CN" altLang="en-US" sz="2400" b="1" dirty="0">
                <a:solidFill>
                  <a:schemeClr val="tx2"/>
                </a:solidFill>
                <a:latin typeface="华文新魏" pitchFamily="2" charset="-122"/>
                <a:ea typeface="华文新魏" pitchFamily="2" charset="-122"/>
              </a:rPr>
              <a:t>本期收入数</a:t>
            </a:r>
            <a:r>
              <a:rPr kumimoji="1" lang="en-US" altLang="zh-CN" sz="2400" b="1" dirty="0">
                <a:solidFill>
                  <a:schemeClr val="tx2"/>
                </a:solidFill>
                <a:latin typeface="华文新魏" pitchFamily="2" charset="-122"/>
                <a:ea typeface="华文新魏" pitchFamily="2" charset="-122"/>
              </a:rPr>
              <a:t>×</a:t>
            </a:r>
            <a:r>
              <a:rPr kumimoji="1" lang="zh-CN" altLang="en-US" sz="2400" b="1" dirty="0">
                <a:solidFill>
                  <a:schemeClr val="tx2"/>
                </a:solidFill>
                <a:latin typeface="华文新魏" pitchFamily="2" charset="-122"/>
                <a:ea typeface="华文新魏" pitchFamily="2" charset="-122"/>
              </a:rPr>
              <a:t>单价</a:t>
            </a:r>
            <a:r>
              <a:rPr kumimoji="1" lang="en-US" altLang="zh-CN" sz="2400" b="1" dirty="0">
                <a:solidFill>
                  <a:schemeClr val="tx2"/>
                </a:solidFill>
                <a:latin typeface="华文新魏" pitchFamily="2" charset="-122"/>
                <a:ea typeface="华文新魏" pitchFamily="2" charset="-122"/>
              </a:rPr>
              <a:t>-</a:t>
            </a:r>
            <a:r>
              <a:rPr kumimoji="1" lang="zh-CN" altLang="en-US" sz="2400" b="1" dirty="0">
                <a:solidFill>
                  <a:schemeClr val="tx2"/>
                </a:solidFill>
                <a:latin typeface="华文新魏" pitchFamily="2" charset="-122"/>
                <a:ea typeface="华文新魏" pitchFamily="2" charset="-122"/>
              </a:rPr>
              <a:t>本期发出数</a:t>
            </a:r>
            <a:r>
              <a:rPr kumimoji="1" lang="en-US" altLang="zh-CN" sz="2400" b="1" dirty="0">
                <a:solidFill>
                  <a:schemeClr val="tx2"/>
                </a:solidFill>
                <a:latin typeface="华文新魏" pitchFamily="2" charset="-122"/>
                <a:ea typeface="华文新魏" pitchFamily="2" charset="-122"/>
              </a:rPr>
              <a:t>×</a:t>
            </a:r>
            <a:r>
              <a:rPr kumimoji="1" lang="zh-CN" altLang="en-US" sz="2400" b="1" dirty="0">
                <a:solidFill>
                  <a:schemeClr val="tx2"/>
                </a:solidFill>
                <a:latin typeface="华文新魏" pitchFamily="2" charset="-122"/>
                <a:ea typeface="华文新魏" pitchFamily="2" charset="-122"/>
              </a:rPr>
              <a:t>单价</a:t>
            </a:r>
          </a:p>
        </p:txBody>
      </p:sp>
      <p:sp>
        <p:nvSpPr>
          <p:cNvPr id="418835" name="AutoShape 1043"/>
          <p:cNvSpPr>
            <a:spLocks noChangeArrowheads="1"/>
          </p:cNvSpPr>
          <p:nvPr/>
        </p:nvSpPr>
        <p:spPr bwMode="auto">
          <a:xfrm>
            <a:off x="6481235" y="4956175"/>
            <a:ext cx="5568949" cy="1428859"/>
          </a:xfrm>
          <a:prstGeom prst="wedgeRoundRectCallout">
            <a:avLst>
              <a:gd name="adj1" fmla="val -85310"/>
              <a:gd name="adj2" fmla="val -62713"/>
              <a:gd name="adj3" fmla="val 16667"/>
            </a:avLst>
          </a:prstGeom>
          <a:solidFill>
            <a:schemeClr val="accent1"/>
          </a:solidFill>
          <a:ln w="9525">
            <a:solidFill>
              <a:schemeClr val="tx1"/>
            </a:solidFill>
            <a:miter lim="800000"/>
            <a:headEnd/>
            <a:tailEnd/>
          </a:ln>
        </p:spPr>
        <p:txBody>
          <a:bodyPr/>
          <a:lstStyle/>
          <a:p>
            <a:pPr algn="l" eaLnBrk="1" hangingPunct="1"/>
            <a:r>
              <a:rPr kumimoji="1" lang="zh-CN" altLang="en-US" sz="2400" b="1">
                <a:solidFill>
                  <a:schemeClr val="tx1"/>
                </a:solidFill>
                <a:effectLst/>
                <a:latin typeface="Times New Roman" pitchFamily="18" charset="0"/>
                <a:ea typeface="华文细黑" pitchFamily="2" charset="-122"/>
              </a:rPr>
              <a:t>是在期末通过对存货的的盘点来确定期末存货结存数量，并据以推算出本期发出存货数量的一种方法</a:t>
            </a:r>
            <a:endParaRPr kumimoji="1" lang="zh-CN" altLang="en-US" sz="2400">
              <a:solidFill>
                <a:schemeClr val="tx1"/>
              </a:solidFill>
              <a:effectLst/>
              <a:latin typeface="Times New Roman" pitchFamily="18" charset="0"/>
            </a:endParaRPr>
          </a:p>
        </p:txBody>
      </p:sp>
      <p:sp>
        <p:nvSpPr>
          <p:cNvPr id="418831" name="AutoShape 1039"/>
          <p:cNvSpPr>
            <a:spLocks noChangeArrowheads="1"/>
          </p:cNvSpPr>
          <p:nvPr/>
        </p:nvSpPr>
        <p:spPr bwMode="auto">
          <a:xfrm>
            <a:off x="4212166" y="2705584"/>
            <a:ext cx="8161867" cy="1519576"/>
          </a:xfrm>
          <a:prstGeom prst="wedgeRoundRectCallout">
            <a:avLst>
              <a:gd name="adj1" fmla="val -49898"/>
              <a:gd name="adj2" fmla="val -69509"/>
              <a:gd name="adj3" fmla="val 16667"/>
            </a:avLst>
          </a:prstGeom>
          <a:solidFill>
            <a:schemeClr val="accent1"/>
          </a:solidFill>
          <a:ln w="9525">
            <a:solidFill>
              <a:schemeClr val="tx1"/>
            </a:solidFill>
            <a:miter lim="800000"/>
            <a:headEnd/>
            <a:tailEnd/>
          </a:ln>
        </p:spPr>
        <p:txBody>
          <a:bodyPr/>
          <a:lstStyle/>
          <a:p>
            <a:pPr algn="l" eaLnBrk="1" hangingPunct="1"/>
            <a:r>
              <a:rPr kumimoji="1" lang="zh-CN" altLang="en-US" sz="2400" b="1">
                <a:solidFill>
                  <a:schemeClr val="tx1"/>
                </a:solidFill>
                <a:effectLst/>
                <a:latin typeface="Times New Roman" pitchFamily="18" charset="0"/>
                <a:ea typeface="华文细黑" pitchFamily="2" charset="-122"/>
              </a:rPr>
              <a:t>亦称</a:t>
            </a:r>
            <a:r>
              <a:rPr kumimoji="1" lang="zh-CN" altLang="en-US" sz="2400" b="1">
                <a:solidFill>
                  <a:schemeClr val="tx1"/>
                </a:solidFill>
                <a:effectLst/>
                <a:latin typeface="华文细黑" pitchFamily="2" charset="-122"/>
                <a:ea typeface="华文细黑" pitchFamily="2" charset="-122"/>
              </a:rPr>
              <a:t>“</a:t>
            </a:r>
            <a:r>
              <a:rPr kumimoji="1" lang="zh-CN" altLang="en-US" sz="2400" b="1">
                <a:solidFill>
                  <a:schemeClr val="tx1"/>
                </a:solidFill>
                <a:effectLst/>
                <a:latin typeface="Times New Roman" pitchFamily="18" charset="0"/>
                <a:ea typeface="华文细黑" pitchFamily="2" charset="-122"/>
              </a:rPr>
              <a:t>账面盘存法</a:t>
            </a:r>
            <a:r>
              <a:rPr kumimoji="1" lang="zh-CN" altLang="en-US" sz="2400" b="1">
                <a:solidFill>
                  <a:schemeClr val="tx1"/>
                </a:solidFill>
                <a:effectLst/>
                <a:latin typeface="华文细黑" pitchFamily="2" charset="-122"/>
                <a:ea typeface="华文细黑" pitchFamily="2" charset="-122"/>
              </a:rPr>
              <a:t>”</a:t>
            </a:r>
            <a:r>
              <a:rPr kumimoji="1" lang="zh-CN" altLang="en-US" sz="2400" b="1">
                <a:solidFill>
                  <a:schemeClr val="tx1"/>
                </a:solidFill>
                <a:effectLst/>
                <a:latin typeface="Times New Roman" pitchFamily="18" charset="0"/>
                <a:ea typeface="华文细黑" pitchFamily="2" charset="-122"/>
              </a:rPr>
              <a:t>。它是对于资产的增加和减少，根据各种有关凭证，在账簿中逐日逐笔进行登记，并随时结算出各种资产账面结存数额的一种方法</a:t>
            </a:r>
            <a:r>
              <a:rPr kumimoji="1" lang="zh-CN" altLang="en-US" sz="2400">
                <a:solidFill>
                  <a:schemeClr val="tx1"/>
                </a:solidFill>
                <a:effectLst/>
                <a:latin typeface="Times New Roman" pitchFamily="18" charset="0"/>
              </a:rPr>
              <a:t> </a:t>
            </a:r>
          </a:p>
        </p:txBody>
      </p:sp>
      <p:sp>
        <p:nvSpPr>
          <p:cNvPr id="2" name="TextBox 1"/>
          <p:cNvSpPr txBox="1"/>
          <p:nvPr/>
        </p:nvSpPr>
        <p:spPr>
          <a:xfrm>
            <a:off x="1236133" y="1843809"/>
            <a:ext cx="3651177" cy="861774"/>
          </a:xfrm>
          <a:prstGeom prst="rect">
            <a:avLst/>
          </a:prstGeom>
          <a:noFill/>
        </p:spPr>
        <p:txBody>
          <a:bodyPr wrap="square" rtlCol="0">
            <a:spAutoFit/>
          </a:bodyPr>
          <a:lstStyle/>
          <a:p>
            <a:pPr marL="457200" indent="-457200">
              <a:buClr>
                <a:srgbClr val="3333FF"/>
              </a:buClr>
              <a:buSzPct val="60000"/>
              <a:buFont typeface="Wingdings" pitchFamily="2" charset="2"/>
              <a:buChar char="n"/>
            </a:pPr>
            <a:r>
              <a:rPr lang="zh-CN" altLang="en-US" sz="3200" b="1" dirty="0">
                <a:latin typeface="黑体" panose="02010609060101010101" pitchFamily="49" charset="-122"/>
                <a:ea typeface="黑体" panose="02010609060101010101" pitchFamily="49" charset="-122"/>
              </a:rPr>
              <a:t>在永续盘存法下：</a:t>
            </a:r>
          </a:p>
          <a:p>
            <a:endParaRPr lang="zh-CN" altLang="en-US" dirty="0"/>
          </a:p>
        </p:txBody>
      </p:sp>
      <p:sp>
        <p:nvSpPr>
          <p:cNvPr id="10" name="TextBox 9"/>
          <p:cNvSpPr txBox="1"/>
          <p:nvPr/>
        </p:nvSpPr>
        <p:spPr>
          <a:xfrm>
            <a:off x="1236133" y="4074002"/>
            <a:ext cx="3651177" cy="861774"/>
          </a:xfrm>
          <a:prstGeom prst="rect">
            <a:avLst/>
          </a:prstGeom>
          <a:noFill/>
        </p:spPr>
        <p:txBody>
          <a:bodyPr wrap="square" rtlCol="0">
            <a:spAutoFit/>
          </a:bodyPr>
          <a:lstStyle/>
          <a:p>
            <a:pPr marL="457200" indent="-457200">
              <a:buClr>
                <a:srgbClr val="3333FF"/>
              </a:buClr>
              <a:buSzPct val="60000"/>
              <a:buFont typeface="Wingdings" pitchFamily="2" charset="2"/>
              <a:buChar char="n"/>
            </a:pPr>
            <a:r>
              <a:rPr lang="zh-CN" altLang="en-US" sz="3200" b="1" dirty="0">
                <a:latin typeface="黑体" panose="02010609060101010101" pitchFamily="49" charset="-122"/>
                <a:ea typeface="黑体" panose="02010609060101010101" pitchFamily="49" charset="-122"/>
              </a:rPr>
              <a:t>在实地盘存法下：</a:t>
            </a:r>
          </a:p>
          <a:p>
            <a:endParaRPr lang="zh-CN" altLang="en-US" dirty="0"/>
          </a:p>
        </p:txBody>
      </p:sp>
    </p:spTree>
    <p:extLst>
      <p:ext uri="{BB962C8B-B14F-4D97-AF65-F5344CB8AC3E}">
        <p14:creationId xmlns:p14="http://schemas.microsoft.com/office/powerpoint/2010/main" val="2236732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1" nodeType="clickEffect">
                                  <p:stCondLst>
                                    <p:cond delay="0"/>
                                  </p:stCondLst>
                                  <p:childTnLst>
                                    <p:set>
                                      <p:cBhvr>
                                        <p:cTn id="6" dur="1" fill="hold">
                                          <p:stCondLst>
                                            <p:cond delay="0"/>
                                          </p:stCondLst>
                                        </p:cTn>
                                        <p:tgtEl>
                                          <p:spTgt spid="418831"/>
                                        </p:tgtEl>
                                        <p:attrNameLst>
                                          <p:attrName>style.visibility</p:attrName>
                                        </p:attrNameLst>
                                      </p:cBhvr>
                                      <p:to>
                                        <p:strVal val="visible"/>
                                      </p:to>
                                    </p:set>
                                    <p:animEffect transition="in" filter="box(in)">
                                      <p:cBhvr>
                                        <p:cTn id="7" dur="500"/>
                                        <p:tgtEl>
                                          <p:spTgt spid="41883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grpId="0" nodeType="clickEffect">
                                  <p:stCondLst>
                                    <p:cond delay="0"/>
                                  </p:stCondLst>
                                  <p:childTnLst>
                                    <p:anim calcmode="lin" valueType="num">
                                      <p:cBhvr additive="base">
                                        <p:cTn id="11" dur="500"/>
                                        <p:tgtEl>
                                          <p:spTgt spid="418831"/>
                                        </p:tgtEl>
                                        <p:attrNameLst>
                                          <p:attrName>ppt_x</p:attrName>
                                        </p:attrNameLst>
                                      </p:cBhvr>
                                      <p:tavLst>
                                        <p:tav tm="0">
                                          <p:val>
                                            <p:strVal val="ppt_x"/>
                                          </p:val>
                                        </p:tav>
                                        <p:tav tm="100000">
                                          <p:val>
                                            <p:strVal val="ppt_x"/>
                                          </p:val>
                                        </p:tav>
                                      </p:tavLst>
                                    </p:anim>
                                    <p:anim calcmode="lin" valueType="num">
                                      <p:cBhvr additive="base">
                                        <p:cTn id="12" dur="500"/>
                                        <p:tgtEl>
                                          <p:spTgt spid="418831"/>
                                        </p:tgtEl>
                                        <p:attrNameLst>
                                          <p:attrName>ppt_y</p:attrName>
                                        </p:attrNameLst>
                                      </p:cBhvr>
                                      <p:tavLst>
                                        <p:tav tm="0">
                                          <p:val>
                                            <p:strVal val="ppt_y"/>
                                          </p:val>
                                        </p:tav>
                                        <p:tav tm="100000">
                                          <p:val>
                                            <p:strVal val="1+ppt_h/2"/>
                                          </p:val>
                                        </p:tav>
                                      </p:tavLst>
                                    </p:anim>
                                    <p:set>
                                      <p:cBhvr>
                                        <p:cTn id="13" dur="1" fill="hold">
                                          <p:stCondLst>
                                            <p:cond delay="499"/>
                                          </p:stCondLst>
                                        </p:cTn>
                                        <p:tgtEl>
                                          <p:spTgt spid="418831"/>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374790"/>
                                        </p:tgtEl>
                                        <p:attrNameLst>
                                          <p:attrName>style.visibility</p:attrName>
                                        </p:attrNameLst>
                                      </p:cBhvr>
                                      <p:to>
                                        <p:strVal val="visible"/>
                                      </p:to>
                                    </p:set>
                                    <p:animEffect transition="in" filter="box(in)">
                                      <p:cBhvr>
                                        <p:cTn id="18" dur="500"/>
                                        <p:tgtEl>
                                          <p:spTgt spid="374790"/>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418835"/>
                                        </p:tgtEl>
                                        <p:attrNameLst>
                                          <p:attrName>style.visibility</p:attrName>
                                        </p:attrNameLst>
                                      </p:cBhvr>
                                      <p:to>
                                        <p:strVal val="visible"/>
                                      </p:to>
                                    </p:set>
                                    <p:animEffect transition="in" filter="box(in)">
                                      <p:cBhvr>
                                        <p:cTn id="23" dur="500"/>
                                        <p:tgtEl>
                                          <p:spTgt spid="418835"/>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xit" presetSubtype="4" fill="hold" grpId="1" nodeType="clickEffect">
                                  <p:stCondLst>
                                    <p:cond delay="0"/>
                                  </p:stCondLst>
                                  <p:childTnLst>
                                    <p:anim calcmode="lin" valueType="num">
                                      <p:cBhvr additive="base">
                                        <p:cTn id="27" dur="500"/>
                                        <p:tgtEl>
                                          <p:spTgt spid="418835"/>
                                        </p:tgtEl>
                                        <p:attrNameLst>
                                          <p:attrName>ppt_x</p:attrName>
                                        </p:attrNameLst>
                                      </p:cBhvr>
                                      <p:tavLst>
                                        <p:tav tm="0">
                                          <p:val>
                                            <p:strVal val="ppt_x"/>
                                          </p:val>
                                        </p:tav>
                                        <p:tav tm="100000">
                                          <p:val>
                                            <p:strVal val="ppt_x"/>
                                          </p:val>
                                        </p:tav>
                                      </p:tavLst>
                                    </p:anim>
                                    <p:anim calcmode="lin" valueType="num">
                                      <p:cBhvr additive="base">
                                        <p:cTn id="28" dur="500"/>
                                        <p:tgtEl>
                                          <p:spTgt spid="418835"/>
                                        </p:tgtEl>
                                        <p:attrNameLst>
                                          <p:attrName>ppt_y</p:attrName>
                                        </p:attrNameLst>
                                      </p:cBhvr>
                                      <p:tavLst>
                                        <p:tav tm="0">
                                          <p:val>
                                            <p:strVal val="ppt_y"/>
                                          </p:val>
                                        </p:tav>
                                        <p:tav tm="100000">
                                          <p:val>
                                            <p:strVal val="1+ppt_h/2"/>
                                          </p:val>
                                        </p:tav>
                                      </p:tavLst>
                                    </p:anim>
                                    <p:set>
                                      <p:cBhvr>
                                        <p:cTn id="29" dur="1" fill="hold">
                                          <p:stCondLst>
                                            <p:cond delay="499"/>
                                          </p:stCondLst>
                                        </p:cTn>
                                        <p:tgtEl>
                                          <p:spTgt spid="418835"/>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8" presetClass="entr" presetSubtype="16" fill="hold" grpId="0" nodeType="clickEffect">
                                  <p:stCondLst>
                                    <p:cond delay="0"/>
                                  </p:stCondLst>
                                  <p:childTnLst>
                                    <p:set>
                                      <p:cBhvr>
                                        <p:cTn id="33" dur="1" fill="hold">
                                          <p:stCondLst>
                                            <p:cond delay="0"/>
                                          </p:stCondLst>
                                        </p:cTn>
                                        <p:tgtEl>
                                          <p:spTgt spid="374786"/>
                                        </p:tgtEl>
                                        <p:attrNameLst>
                                          <p:attrName>style.visibility</p:attrName>
                                        </p:attrNameLst>
                                      </p:cBhvr>
                                      <p:to>
                                        <p:strVal val="visible"/>
                                      </p:to>
                                    </p:set>
                                    <p:animEffect transition="in" filter="diamond(in)">
                                      <p:cBhvr>
                                        <p:cTn id="34" dur="2000"/>
                                        <p:tgtEl>
                                          <p:spTgt spid="374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6" grpId="0"/>
      <p:bldP spid="374790" grpId="0"/>
      <p:bldP spid="418835" grpId="0" animBg="1"/>
      <p:bldP spid="418835" grpId="1" animBg="1"/>
      <p:bldP spid="418831" grpId="0" animBg="1"/>
      <p:bldP spid="418831"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a:extLst>
              <a:ext uri="{FF2B5EF4-FFF2-40B4-BE49-F238E27FC236}">
                <a16:creationId xmlns:a16="http://schemas.microsoft.com/office/drawing/2014/main" id="{12614669-5CDB-47E7-8896-E111995D6225}"/>
              </a:ext>
            </a:extLst>
          </p:cNvPr>
          <p:cNvSpPr txBox="1">
            <a:spLocks/>
          </p:cNvSpPr>
          <p:nvPr/>
        </p:nvSpPr>
        <p:spPr>
          <a:xfrm>
            <a:off x="1576917" y="2017713"/>
            <a:ext cx="10363200" cy="411480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a:solidFill>
                  <a:schemeClr val="tx1"/>
                </a:solidFill>
                <a:latin typeface="楷体_GB2312" panose="02010609030101010101" pitchFamily="49" charset="-122"/>
                <a:ea typeface="楷体_GB2312" panose="02010609030101010101" pitchFamily="49"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a:solidFill>
                  <a:schemeClr val="tx1"/>
                </a:solidFill>
                <a:latin typeface="楷体_GB2312" panose="02010609030101010101" pitchFamily="49" charset="-122"/>
                <a:ea typeface="楷体_GB2312" panose="02010609030101010101" pitchFamily="49"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a:solidFill>
                  <a:schemeClr val="tx1"/>
                </a:solidFill>
                <a:latin typeface="黑体" panose="02010609060101010101" pitchFamily="49" charset="-122"/>
                <a:ea typeface="黑体" panose="02010609060101010101" pitchFamily="49"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黑体" panose="02010609060101010101" pitchFamily="49" charset="-122"/>
                <a:ea typeface="黑体" panose="02010609060101010101" pitchFamily="49"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9pPr>
          </a:lstStyle>
          <a:p>
            <a:r>
              <a:rPr lang="zh-CN" altLang="en-US" dirty="0"/>
              <a:t>个别计价法</a:t>
            </a:r>
            <a:endParaRPr lang="en-US" altLang="zh-CN" dirty="0"/>
          </a:p>
          <a:p>
            <a:pPr lvl="1"/>
            <a:r>
              <a:rPr lang="zh-CN" altLang="en-US" dirty="0"/>
              <a:t>假设实物流转与成本流转一致</a:t>
            </a:r>
            <a:endParaRPr lang="en-US" altLang="zh-CN" dirty="0"/>
          </a:p>
          <a:p>
            <a:pPr lvl="1"/>
            <a:endParaRPr lang="en-US" altLang="zh-CN" dirty="0"/>
          </a:p>
          <a:p>
            <a:r>
              <a:rPr lang="zh-CN" altLang="en-US" dirty="0"/>
              <a:t>先进先出法</a:t>
            </a:r>
            <a:endParaRPr lang="en-US" altLang="zh-CN" dirty="0"/>
          </a:p>
          <a:p>
            <a:pPr lvl="1"/>
            <a:r>
              <a:rPr lang="zh-CN" altLang="en-US" dirty="0"/>
              <a:t>假设先收到的货物先发出</a:t>
            </a:r>
            <a:endParaRPr lang="en-US" altLang="zh-CN" dirty="0"/>
          </a:p>
          <a:p>
            <a:pPr lvl="1"/>
            <a:endParaRPr lang="en-US" altLang="zh-CN" dirty="0"/>
          </a:p>
          <a:p>
            <a:r>
              <a:rPr lang="zh-CN" altLang="en-US" dirty="0"/>
              <a:t>后进先出法（不允许使用）</a:t>
            </a:r>
            <a:endParaRPr lang="en-US" altLang="zh-CN" dirty="0"/>
          </a:p>
          <a:p>
            <a:pPr lvl="1"/>
            <a:r>
              <a:rPr lang="zh-CN" altLang="en-US" dirty="0"/>
              <a:t>假设后收到的货物先发出</a:t>
            </a:r>
            <a:endParaRPr lang="en-US" altLang="zh-CN" dirty="0"/>
          </a:p>
        </p:txBody>
      </p:sp>
      <p:sp>
        <p:nvSpPr>
          <p:cNvPr id="375811" name="Text Box 3"/>
          <p:cNvSpPr txBox="1">
            <a:spLocks noChangeArrowheads="1"/>
          </p:cNvSpPr>
          <p:nvPr/>
        </p:nvSpPr>
        <p:spPr bwMode="auto">
          <a:xfrm>
            <a:off x="1320800" y="927101"/>
            <a:ext cx="9753600" cy="837152"/>
          </a:xfrm>
          <a:prstGeom prst="rect">
            <a:avLst/>
          </a:prstGeom>
          <a:noFill/>
          <a:ln w="9525">
            <a:noFill/>
            <a:miter lim="800000"/>
            <a:headEnd/>
            <a:tailEnd/>
          </a:ln>
          <a:effectLst/>
        </p:spPr>
        <p:txBody>
          <a:bodyPr>
            <a:spAutoFit/>
          </a:bodyPr>
          <a:lstStyle/>
          <a:p>
            <a:pPr algn="l" eaLnBrk="1" hangingPunct="1">
              <a:lnSpc>
                <a:spcPct val="110000"/>
              </a:lnSpc>
              <a:spcBef>
                <a:spcPct val="50000"/>
              </a:spcBef>
              <a:defRPr/>
            </a:pPr>
            <a:r>
              <a:rPr lang="zh-CN" altLang="en-US" sz="4400" b="1" dirty="0">
                <a:solidFill>
                  <a:schemeClr val="tx2"/>
                </a:solidFill>
                <a:latin typeface="+mj-lt"/>
                <a:ea typeface="+mj-ea"/>
                <a:cs typeface="+mj-cs"/>
              </a:rPr>
              <a:t>（</a:t>
            </a:r>
            <a:r>
              <a:rPr lang="en-US" altLang="zh-CN" sz="4400" b="1" dirty="0">
                <a:solidFill>
                  <a:schemeClr val="tx2"/>
                </a:solidFill>
                <a:latin typeface="+mj-lt"/>
                <a:ea typeface="+mj-ea"/>
                <a:cs typeface="+mj-cs"/>
              </a:rPr>
              <a:t>2</a:t>
            </a:r>
            <a:r>
              <a:rPr lang="zh-CN" altLang="en-US" sz="4400" b="1" dirty="0">
                <a:solidFill>
                  <a:schemeClr val="tx2"/>
                </a:solidFill>
                <a:latin typeface="+mj-lt"/>
                <a:ea typeface="+mj-ea"/>
                <a:cs typeface="+mj-cs"/>
              </a:rPr>
              <a:t>）发出和结存存货单价的确定方法</a:t>
            </a:r>
          </a:p>
        </p:txBody>
      </p:sp>
    </p:spTree>
    <p:extLst>
      <p:ext uri="{BB962C8B-B14F-4D97-AF65-F5344CB8AC3E}">
        <p14:creationId xmlns:p14="http://schemas.microsoft.com/office/powerpoint/2010/main" val="1803753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5811"/>
                                        </p:tgtEl>
                                        <p:attrNameLst>
                                          <p:attrName>style.visibility</p:attrName>
                                        </p:attrNameLst>
                                      </p:cBhvr>
                                      <p:to>
                                        <p:strVal val="visible"/>
                                      </p:to>
                                    </p:set>
                                    <p:anim calcmode="lin" valueType="num">
                                      <p:cBhvr additive="base">
                                        <p:cTn id="7" dur="500" fill="hold"/>
                                        <p:tgtEl>
                                          <p:spTgt spid="375811"/>
                                        </p:tgtEl>
                                        <p:attrNameLst>
                                          <p:attrName>ppt_x</p:attrName>
                                        </p:attrNameLst>
                                      </p:cBhvr>
                                      <p:tavLst>
                                        <p:tav tm="0">
                                          <p:val>
                                            <p:strVal val="0-#ppt_w/2"/>
                                          </p:val>
                                        </p:tav>
                                        <p:tav tm="100000">
                                          <p:val>
                                            <p:strVal val="#ppt_x"/>
                                          </p:val>
                                        </p:tav>
                                      </p:tavLst>
                                    </p:anim>
                                    <p:anim calcmode="lin" valueType="num">
                                      <p:cBhvr additive="base">
                                        <p:cTn id="8" dur="500" fill="hold"/>
                                        <p:tgtEl>
                                          <p:spTgt spid="3758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12614669-5CDB-47E7-8896-E111995D6225}"/>
              </a:ext>
            </a:extLst>
          </p:cNvPr>
          <p:cNvSpPr txBox="1">
            <a:spLocks/>
          </p:cNvSpPr>
          <p:nvPr/>
        </p:nvSpPr>
        <p:spPr>
          <a:xfrm>
            <a:off x="1576917" y="2017713"/>
            <a:ext cx="10363200" cy="411480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a:solidFill>
                  <a:schemeClr val="tx1"/>
                </a:solidFill>
                <a:latin typeface="楷体_GB2312" panose="02010609030101010101" pitchFamily="49" charset="-122"/>
                <a:ea typeface="楷体_GB2312" panose="02010609030101010101" pitchFamily="49"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a:solidFill>
                  <a:schemeClr val="tx1"/>
                </a:solidFill>
                <a:latin typeface="楷体_GB2312" panose="02010609030101010101" pitchFamily="49" charset="-122"/>
                <a:ea typeface="楷体_GB2312" panose="02010609030101010101" pitchFamily="49"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a:solidFill>
                  <a:schemeClr val="tx1"/>
                </a:solidFill>
                <a:latin typeface="黑体" panose="02010609060101010101" pitchFamily="49" charset="-122"/>
                <a:ea typeface="黑体" panose="02010609060101010101" pitchFamily="49"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黑体" panose="02010609060101010101" pitchFamily="49" charset="-122"/>
                <a:ea typeface="黑体" panose="02010609060101010101" pitchFamily="49"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9pPr>
          </a:lstStyle>
          <a:p>
            <a:r>
              <a:rPr lang="zh-CN" altLang="en-US" dirty="0"/>
              <a:t>加权平均法</a:t>
            </a:r>
            <a:endParaRPr lang="en-US" altLang="zh-CN" dirty="0"/>
          </a:p>
          <a:p>
            <a:pPr lvl="1"/>
            <a:r>
              <a:rPr lang="zh-CN" altLang="en-US" dirty="0"/>
              <a:t>期末以期初结存和收入存货数量为权数计算出单价</a:t>
            </a:r>
            <a:endParaRPr lang="en-US" altLang="zh-CN" dirty="0"/>
          </a:p>
          <a:p>
            <a:pPr lvl="1"/>
            <a:endParaRPr lang="zh-CN" altLang="en-US" dirty="0"/>
          </a:p>
          <a:p>
            <a:r>
              <a:rPr lang="zh-CN" altLang="en-US" dirty="0"/>
              <a:t>移动平均法</a:t>
            </a:r>
          </a:p>
          <a:p>
            <a:pPr lvl="1"/>
            <a:r>
              <a:rPr lang="zh-CN" altLang="en-US" dirty="0"/>
              <a:t>收入一次存货重新确定一次加权平均发出单价</a:t>
            </a:r>
          </a:p>
        </p:txBody>
      </p:sp>
    </p:spTree>
    <p:extLst>
      <p:ext uri="{BB962C8B-B14F-4D97-AF65-F5344CB8AC3E}">
        <p14:creationId xmlns:p14="http://schemas.microsoft.com/office/powerpoint/2010/main" val="1470460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050"/>
          <p:cNvSpPr txBox="1">
            <a:spLocks noChangeArrowheads="1"/>
          </p:cNvSpPr>
          <p:nvPr/>
        </p:nvSpPr>
        <p:spPr bwMode="auto">
          <a:xfrm>
            <a:off x="1669539" y="783456"/>
            <a:ext cx="5812367" cy="769441"/>
          </a:xfrm>
          <a:prstGeom prst="rect">
            <a:avLst/>
          </a:prstGeom>
          <a:noFill/>
          <a:ln w="9525">
            <a:noFill/>
            <a:miter lim="800000"/>
            <a:headEnd/>
            <a:tailEnd/>
          </a:ln>
        </p:spPr>
        <p:txBody>
          <a:bodyPr>
            <a:spAutoFit/>
          </a:bodyPr>
          <a:lstStyle/>
          <a:p>
            <a:pPr algn="l" eaLnBrk="1" hangingPunct="1">
              <a:spcBef>
                <a:spcPct val="20000"/>
              </a:spcBef>
            </a:pPr>
            <a:r>
              <a:rPr lang="zh-CN" altLang="en-US" sz="4400" b="1" dirty="0">
                <a:solidFill>
                  <a:schemeClr val="tx2"/>
                </a:solidFill>
                <a:latin typeface="+mj-lt"/>
                <a:ea typeface="+mj-ea"/>
                <a:cs typeface="+mj-cs"/>
              </a:rPr>
              <a:t>各种计价方法的比较</a:t>
            </a:r>
          </a:p>
        </p:txBody>
      </p:sp>
      <p:graphicFrame>
        <p:nvGraphicFramePr>
          <p:cNvPr id="484382" name="Group 30"/>
          <p:cNvGraphicFramePr>
            <a:graphicFrameLocks noGrp="1"/>
          </p:cNvGraphicFramePr>
          <p:nvPr>
            <p:extLst>
              <p:ext uri="{D42A27DB-BD31-4B8C-83A1-F6EECF244321}">
                <p14:modId xmlns:p14="http://schemas.microsoft.com/office/powerpoint/2010/main" val="3422396392"/>
              </p:ext>
            </p:extLst>
          </p:nvPr>
        </p:nvGraphicFramePr>
        <p:xfrm>
          <a:off x="977680" y="1871059"/>
          <a:ext cx="11074401" cy="4829285"/>
        </p:xfrm>
        <a:graphic>
          <a:graphicData uri="http://schemas.openxmlformats.org/drawingml/2006/table">
            <a:tbl>
              <a:tblPr/>
              <a:tblGrid>
                <a:gridCol w="2336800">
                  <a:extLst>
                    <a:ext uri="{9D8B030D-6E8A-4147-A177-3AD203B41FA5}">
                      <a16:colId xmlns:a16="http://schemas.microsoft.com/office/drawing/2014/main" val="20000"/>
                    </a:ext>
                  </a:extLst>
                </a:gridCol>
                <a:gridCol w="2751667">
                  <a:extLst>
                    <a:ext uri="{9D8B030D-6E8A-4147-A177-3AD203B41FA5}">
                      <a16:colId xmlns:a16="http://schemas.microsoft.com/office/drawing/2014/main" val="20001"/>
                    </a:ext>
                  </a:extLst>
                </a:gridCol>
                <a:gridCol w="3168651">
                  <a:extLst>
                    <a:ext uri="{9D8B030D-6E8A-4147-A177-3AD203B41FA5}">
                      <a16:colId xmlns:a16="http://schemas.microsoft.com/office/drawing/2014/main" val="20002"/>
                    </a:ext>
                  </a:extLst>
                </a:gridCol>
                <a:gridCol w="2817283">
                  <a:extLst>
                    <a:ext uri="{9D8B030D-6E8A-4147-A177-3AD203B41FA5}">
                      <a16:colId xmlns:a16="http://schemas.microsoft.com/office/drawing/2014/main" val="20003"/>
                    </a:ext>
                  </a:extLst>
                </a:gridCol>
              </a:tblGrid>
              <a:tr h="747822">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2"/>
                          </a:solidFill>
                          <a:effectLst/>
                          <a:latin typeface="华文中宋" pitchFamily="2" charset="-122"/>
                          <a:ea typeface="华文中宋" pitchFamily="2" charset="-122"/>
                        </a:rPr>
                        <a:t>  </a:t>
                      </a:r>
                      <a:r>
                        <a:rPr kumimoji="0" lang="zh-CN" altLang="en-US" sz="2400" b="1" i="0" u="none" strike="noStrike" cap="none" normalizeH="0" baseline="0" dirty="0">
                          <a:ln>
                            <a:noFill/>
                          </a:ln>
                          <a:solidFill>
                            <a:srgbClr val="CC0000"/>
                          </a:solidFill>
                          <a:effectLst/>
                          <a:latin typeface="华文中宋" pitchFamily="2" charset="-122"/>
                          <a:ea typeface="华文中宋" pitchFamily="2" charset="-122"/>
                        </a:rPr>
                        <a:t>方 法</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rgbClr val="CC0000"/>
                          </a:solidFill>
                          <a:effectLst/>
                          <a:latin typeface="华文中宋" pitchFamily="2" charset="-122"/>
                          <a:ea typeface="华文中宋" pitchFamily="2" charset="-122"/>
                        </a:rPr>
                        <a:t>   </a:t>
                      </a:r>
                      <a:r>
                        <a:rPr kumimoji="0" lang="zh-CN" altLang="en-US" sz="2400" b="1" i="0" u="none" strike="noStrike" cap="none" normalizeH="0" baseline="0">
                          <a:ln>
                            <a:noFill/>
                          </a:ln>
                          <a:solidFill>
                            <a:srgbClr val="CC0000"/>
                          </a:solidFill>
                          <a:effectLst/>
                          <a:latin typeface="华文中宋" pitchFamily="2" charset="-122"/>
                          <a:ea typeface="华文中宋" pitchFamily="2" charset="-122"/>
                        </a:rPr>
                        <a:t>优 点</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rgbClr val="CC0000"/>
                          </a:solidFill>
                          <a:effectLst/>
                          <a:latin typeface="华文中宋" pitchFamily="2" charset="-122"/>
                          <a:ea typeface="华文中宋" pitchFamily="2" charset="-122"/>
                        </a:rPr>
                        <a:t>   </a:t>
                      </a:r>
                      <a:r>
                        <a:rPr kumimoji="0" lang="zh-CN" altLang="en-US" sz="2400" b="1" i="0" u="none" strike="noStrike" cap="none" normalizeH="0" baseline="0" dirty="0">
                          <a:ln>
                            <a:noFill/>
                          </a:ln>
                          <a:solidFill>
                            <a:srgbClr val="CC0000"/>
                          </a:solidFill>
                          <a:effectLst/>
                          <a:latin typeface="华文中宋" pitchFamily="2" charset="-122"/>
                          <a:ea typeface="华文中宋" pitchFamily="2" charset="-122"/>
                        </a:rPr>
                        <a:t>缺 点</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rgbClr val="CC0000"/>
                          </a:solidFill>
                          <a:effectLst/>
                          <a:latin typeface="华文中宋" pitchFamily="2" charset="-122"/>
                          <a:ea typeface="华文中宋" pitchFamily="2" charset="-122"/>
                        </a:rPr>
                        <a:t>  </a:t>
                      </a:r>
                      <a:r>
                        <a:rPr kumimoji="0" lang="zh-CN" altLang="en-US" sz="2400" b="1" i="0" u="none" strike="noStrike" cap="none" normalizeH="0" baseline="0">
                          <a:ln>
                            <a:noFill/>
                          </a:ln>
                          <a:solidFill>
                            <a:srgbClr val="CC0000"/>
                          </a:solidFill>
                          <a:effectLst/>
                          <a:latin typeface="华文中宋" pitchFamily="2" charset="-122"/>
                          <a:ea typeface="华文中宋" pitchFamily="2" charset="-122"/>
                        </a:rPr>
                        <a:t>适用范围</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1811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1" i="0" u="none" strike="noStrike" cap="none" normalizeH="0" baseline="0" dirty="0">
                          <a:ln>
                            <a:noFill/>
                          </a:ln>
                          <a:solidFill>
                            <a:srgbClr val="E94CFE"/>
                          </a:solidFill>
                          <a:effectLst/>
                          <a:latin typeface="黑体" pitchFamily="2" charset="-122"/>
                          <a:ea typeface="黑体" pitchFamily="2" charset="-122"/>
                        </a:rPr>
                        <a:t>个别计价法</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lang="zh-CN" altLang="en-US" sz="2000" b="1" dirty="0">
                          <a:solidFill>
                            <a:schemeClr val="tx1"/>
                          </a:solidFill>
                          <a:latin typeface="楷体_GB2312" panose="02010609030101010101" pitchFamily="49" charset="-122"/>
                          <a:ea typeface="楷体_GB2312" panose="02010609030101010101" pitchFamily="49" charset="-122"/>
                        </a:rPr>
                        <a:t>计算简单、准确</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lang="zh-CN" altLang="en-US" sz="2000" b="1" dirty="0">
                          <a:solidFill>
                            <a:schemeClr val="tx1"/>
                          </a:solidFill>
                          <a:latin typeface="楷体_GB2312" panose="02010609030101010101" pitchFamily="49" charset="-122"/>
                          <a:ea typeface="楷体_GB2312" panose="02010609030101010101" pitchFamily="49" charset="-122"/>
                        </a:rPr>
                        <a:t>受条件限制，易操纵</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lang="zh-CN" altLang="en-US" sz="2000" b="1">
                          <a:solidFill>
                            <a:schemeClr val="tx1"/>
                          </a:solidFill>
                          <a:latin typeface="楷体_GB2312" panose="02010609030101010101" pitchFamily="49" charset="-122"/>
                          <a:ea typeface="楷体_GB2312" panose="02010609030101010101" pitchFamily="49" charset="-122"/>
                        </a:rPr>
                        <a:t>价值高、易鉴别的存货</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28905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1" i="0" u="none" strike="noStrike" cap="none" normalizeH="0" baseline="0">
                          <a:ln>
                            <a:noFill/>
                          </a:ln>
                          <a:solidFill>
                            <a:srgbClr val="E94CFE"/>
                          </a:solidFill>
                          <a:effectLst/>
                          <a:latin typeface="黑体" pitchFamily="2" charset="-122"/>
                          <a:ea typeface="黑体" pitchFamily="2" charset="-122"/>
                        </a:rPr>
                        <a:t>先进先出法</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lang="zh-CN" altLang="en-US" sz="2000" b="1" dirty="0">
                          <a:solidFill>
                            <a:schemeClr val="tx1"/>
                          </a:solidFill>
                          <a:latin typeface="楷体_GB2312" panose="02010609030101010101" pitchFamily="49" charset="-122"/>
                          <a:ea typeface="楷体_GB2312" panose="02010609030101010101" pitchFamily="49" charset="-122"/>
                        </a:rPr>
                        <a:t>期末存货价值接近近期取得成本</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lang="zh-CN" altLang="en-US" sz="2000" b="1" dirty="0">
                          <a:solidFill>
                            <a:schemeClr val="tx1"/>
                          </a:solidFill>
                          <a:latin typeface="楷体_GB2312" panose="02010609030101010101" pitchFamily="49" charset="-122"/>
                          <a:ea typeface="楷体_GB2312" panose="02010609030101010101" pitchFamily="49" charset="-122"/>
                        </a:rPr>
                        <a:t>计算麻烦，发出成本不准确</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lang="zh-CN" altLang="en-US" sz="2000" b="1" dirty="0">
                          <a:solidFill>
                            <a:schemeClr val="tx1"/>
                          </a:solidFill>
                          <a:latin typeface="楷体_GB2312" panose="02010609030101010101" pitchFamily="49" charset="-122"/>
                          <a:ea typeface="楷体_GB2312" panose="02010609030101010101" pitchFamily="49" charset="-122"/>
                        </a:rPr>
                        <a:t>存货按先进先出顺序流转</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61131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1" i="0" u="none" strike="noStrike" cap="none" normalizeH="0" baseline="0">
                          <a:ln>
                            <a:noFill/>
                          </a:ln>
                          <a:solidFill>
                            <a:srgbClr val="E94CFE"/>
                          </a:solidFill>
                          <a:effectLst/>
                          <a:latin typeface="黑体" pitchFamily="2" charset="-122"/>
                          <a:ea typeface="黑体" pitchFamily="2" charset="-122"/>
                        </a:rPr>
                        <a:t>加权平均法</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lang="zh-CN" altLang="en-US" sz="2000" b="1">
                          <a:solidFill>
                            <a:schemeClr val="tx1"/>
                          </a:solidFill>
                          <a:latin typeface="楷体_GB2312" panose="02010609030101010101" pitchFamily="49" charset="-122"/>
                          <a:ea typeface="楷体_GB2312" panose="02010609030101010101" pitchFamily="49" charset="-122"/>
                        </a:rPr>
                        <a:t>核算简单，单一价格考虑的权数</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lang="zh-CN" altLang="en-US" sz="2000" b="1" dirty="0">
                          <a:solidFill>
                            <a:schemeClr val="tx1"/>
                          </a:solidFill>
                          <a:latin typeface="楷体_GB2312" panose="02010609030101010101" pitchFamily="49" charset="-122"/>
                          <a:ea typeface="楷体_GB2312" panose="02010609030101010101" pitchFamily="49" charset="-122"/>
                        </a:rPr>
                        <a:t>物价不稳定时，不能反映现时成本，不能随时转成本</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lang="zh-CN" altLang="en-US" sz="2000" b="1" dirty="0">
                          <a:solidFill>
                            <a:schemeClr val="tx1"/>
                          </a:solidFill>
                          <a:latin typeface="楷体_GB2312" panose="02010609030101010101" pitchFamily="49" charset="-122"/>
                          <a:ea typeface="楷体_GB2312" panose="02010609030101010101" pitchFamily="49" charset="-122"/>
                        </a:rPr>
                        <a:t>定期盘存制及物价稳定的环境</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65668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a:xfrm>
            <a:off x="1672094" y="923543"/>
            <a:ext cx="7484533" cy="784225"/>
          </a:xfrm>
        </p:spPr>
        <p:txBody>
          <a:bodyPr/>
          <a:lstStyle/>
          <a:p>
            <a:pPr algn="just" eaLnBrk="1" hangingPunct="1"/>
            <a:r>
              <a:rPr lang="zh-CN" altLang="en-US" dirty="0"/>
              <a:t>思考：</a:t>
            </a:r>
          </a:p>
        </p:txBody>
      </p:sp>
      <p:sp>
        <p:nvSpPr>
          <p:cNvPr id="6" name="内容占位符 2">
            <a:extLst>
              <a:ext uri="{FF2B5EF4-FFF2-40B4-BE49-F238E27FC236}">
                <a16:creationId xmlns:a16="http://schemas.microsoft.com/office/drawing/2014/main" id="{12614669-5CDB-47E7-8896-E111995D6225}"/>
              </a:ext>
            </a:extLst>
          </p:cNvPr>
          <p:cNvSpPr>
            <a:spLocks noGrp="1"/>
          </p:cNvSpPr>
          <p:nvPr>
            <p:ph idx="1"/>
          </p:nvPr>
        </p:nvSpPr>
        <p:spPr>
          <a:xfrm>
            <a:off x="1576917" y="2017713"/>
            <a:ext cx="10363200" cy="4114800"/>
          </a:xfrm>
        </p:spPr>
        <p:txBody>
          <a:bodyPr/>
          <a:lstStyle/>
          <a:p>
            <a:r>
              <a:rPr lang="zh-CN" altLang="en-US" sz="2800" dirty="0">
                <a:latin typeface="楷体_GB2312" panose="02010609030101010101" pitchFamily="49" charset="-122"/>
                <a:ea typeface="楷体_GB2312" panose="02010609030101010101" pitchFamily="49" charset="-122"/>
              </a:rPr>
              <a:t>不同的存货计价方法对期末资产价值有何影响？</a:t>
            </a:r>
          </a:p>
          <a:p>
            <a:r>
              <a:rPr lang="zh-CN" altLang="en-US" sz="2800" dirty="0">
                <a:latin typeface="楷体_GB2312" panose="02010609030101010101" pitchFamily="49" charset="-122"/>
                <a:ea typeface="楷体_GB2312" panose="02010609030101010101" pitchFamily="49" charset="-122"/>
              </a:rPr>
              <a:t>对本期损益又有何影响？</a:t>
            </a:r>
          </a:p>
          <a:p>
            <a:r>
              <a:rPr lang="zh-CN" altLang="en-US" sz="2800" dirty="0">
                <a:latin typeface="楷体_GB2312" panose="02010609030101010101" pitchFamily="49" charset="-122"/>
                <a:ea typeface="楷体_GB2312" panose="02010609030101010101" pitchFamily="49" charset="-122"/>
              </a:rPr>
              <a:t>各种存货计价方法的优缺点及适用范围有何不同？</a:t>
            </a:r>
          </a:p>
          <a:p>
            <a:r>
              <a:rPr lang="zh-CN" altLang="en-US" sz="2800" dirty="0">
                <a:latin typeface="楷体_GB2312" panose="02010609030101010101" pitchFamily="49" charset="-122"/>
                <a:ea typeface="楷体_GB2312" panose="02010609030101010101" pitchFamily="49" charset="-122"/>
              </a:rPr>
              <a:t>物联网的发展对发出存货计价的影响？</a:t>
            </a:r>
          </a:p>
        </p:txBody>
      </p:sp>
    </p:spTree>
    <p:extLst>
      <p:ext uri="{BB962C8B-B14F-4D97-AF65-F5344CB8AC3E}">
        <p14:creationId xmlns:p14="http://schemas.microsoft.com/office/powerpoint/2010/main" val="67468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7858"/>
                                        </p:tgtEl>
                                        <p:attrNameLst>
                                          <p:attrName>style.visibility</p:attrName>
                                        </p:attrNameLst>
                                      </p:cBhvr>
                                      <p:to>
                                        <p:strVal val="visible"/>
                                      </p:to>
                                    </p:set>
                                    <p:anim calcmode="lin" valueType="num">
                                      <p:cBhvr additive="base">
                                        <p:cTn id="7" dur="500" fill="hold"/>
                                        <p:tgtEl>
                                          <p:spTgt spid="377858"/>
                                        </p:tgtEl>
                                        <p:attrNameLst>
                                          <p:attrName>ppt_x</p:attrName>
                                        </p:attrNameLst>
                                      </p:cBhvr>
                                      <p:tavLst>
                                        <p:tav tm="0">
                                          <p:val>
                                            <p:strVal val="0-#ppt_w/2"/>
                                          </p:val>
                                        </p:tav>
                                        <p:tav tm="100000">
                                          <p:val>
                                            <p:strVal val="#ppt_x"/>
                                          </p:val>
                                        </p:tav>
                                      </p:tavLst>
                                    </p:anim>
                                    <p:anim calcmode="lin" valueType="num">
                                      <p:cBhvr additive="base">
                                        <p:cTn id="8" dur="500" fill="hold"/>
                                        <p:tgtEl>
                                          <p:spTgt spid="3778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58"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1630334" y="679499"/>
            <a:ext cx="9436979" cy="838200"/>
          </a:xfrm>
        </p:spPr>
        <p:txBody>
          <a:bodyPr/>
          <a:lstStyle/>
          <a:p>
            <a:r>
              <a:rPr lang="en-US" altLang="zh-CN" dirty="0"/>
              <a:t>2.</a:t>
            </a:r>
            <a:r>
              <a:rPr lang="zh-CN" altLang="en-US" dirty="0"/>
              <a:t>确定发出周转材料成本的计量方法 </a:t>
            </a:r>
          </a:p>
        </p:txBody>
      </p:sp>
      <p:sp>
        <p:nvSpPr>
          <p:cNvPr id="31747" name="内容占位符 2"/>
          <p:cNvSpPr>
            <a:spLocks noGrp="1"/>
          </p:cNvSpPr>
          <p:nvPr>
            <p:ph idx="1"/>
          </p:nvPr>
        </p:nvSpPr>
        <p:spPr/>
        <p:txBody>
          <a:bodyPr/>
          <a:lstStyle/>
          <a:p>
            <a:r>
              <a:rPr lang="zh-CN" altLang="en-US" dirty="0"/>
              <a:t>周转材料的概念</a:t>
            </a:r>
            <a:endParaRPr lang="en-US" altLang="zh-CN" dirty="0"/>
          </a:p>
          <a:p>
            <a:endParaRPr lang="en-US" altLang="zh-CN" dirty="0"/>
          </a:p>
          <a:p>
            <a:r>
              <a:rPr lang="zh-CN" altLang="en-US" dirty="0"/>
              <a:t>发出周转材料的成本计量</a:t>
            </a:r>
            <a:endParaRPr lang="en-US" altLang="zh-CN" dirty="0"/>
          </a:p>
          <a:p>
            <a:pPr lvl="1"/>
            <a:r>
              <a:rPr lang="zh-CN" altLang="en-US" dirty="0"/>
              <a:t>（</a:t>
            </a:r>
            <a:r>
              <a:rPr lang="en-US" altLang="zh-CN" dirty="0"/>
              <a:t>1</a:t>
            </a:r>
            <a:r>
              <a:rPr lang="zh-CN" altLang="en-US" dirty="0"/>
              <a:t>）一次摊销法</a:t>
            </a:r>
            <a:endParaRPr lang="en-US" altLang="zh-CN" dirty="0"/>
          </a:p>
          <a:p>
            <a:pPr lvl="1"/>
            <a:r>
              <a:rPr lang="zh-CN" altLang="en-US" dirty="0"/>
              <a:t>（</a:t>
            </a:r>
            <a:r>
              <a:rPr lang="en-US" altLang="zh-CN" dirty="0"/>
              <a:t>2</a:t>
            </a:r>
            <a:r>
              <a:rPr lang="zh-CN" altLang="en-US" dirty="0"/>
              <a:t>）五五摊销法</a:t>
            </a:r>
          </a:p>
        </p:txBody>
      </p:sp>
    </p:spTree>
    <p:extLst>
      <p:ext uri="{BB962C8B-B14F-4D97-AF65-F5344CB8AC3E}">
        <p14:creationId xmlns:p14="http://schemas.microsoft.com/office/powerpoint/2010/main" val="25871033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7074" name="Rectangle 2"/>
          <p:cNvSpPr>
            <a:spLocks noGrp="1" noChangeArrowheads="1"/>
          </p:cNvSpPr>
          <p:nvPr>
            <p:ph type="body" idx="1"/>
          </p:nvPr>
        </p:nvSpPr>
        <p:spPr>
          <a:xfrm>
            <a:off x="1556366" y="1786813"/>
            <a:ext cx="9687983" cy="4622800"/>
          </a:xfrm>
        </p:spPr>
        <p:txBody>
          <a:bodyPr/>
          <a:lstStyle/>
          <a:p>
            <a:pPr eaLnBrk="1" hangingPunct="1">
              <a:buSzPct val="90000"/>
            </a:pPr>
            <a:endParaRPr lang="en-US" altLang="zh-CN" dirty="0"/>
          </a:p>
          <a:p>
            <a:pPr eaLnBrk="1" hangingPunct="1">
              <a:buSzPct val="90000"/>
            </a:pPr>
            <a:r>
              <a:rPr lang="zh-CN" altLang="en-US" dirty="0"/>
              <a:t>（一）账户的设置 </a:t>
            </a:r>
          </a:p>
          <a:p>
            <a:pPr lvl="1" indent="-342900" eaLnBrk="1" hangingPunct="1">
              <a:buSzPct val="90000"/>
            </a:pPr>
            <a:r>
              <a:rPr lang="zh-CN" altLang="en-US" sz="2400" dirty="0">
                <a:latin typeface="楷体_GB2312" panose="02010609030101010101" pitchFamily="49" charset="-122"/>
                <a:ea typeface="楷体_GB2312" panose="02010609030101010101" pitchFamily="49" charset="-122"/>
              </a:rPr>
              <a:t>“原材料” 账户（实际成本）</a:t>
            </a:r>
          </a:p>
          <a:p>
            <a:pPr lvl="1" indent="-342900" eaLnBrk="1" hangingPunct="1">
              <a:buSzPct val="90000"/>
            </a:pPr>
            <a:r>
              <a:rPr lang="zh-CN" altLang="en-US" sz="2400" dirty="0">
                <a:latin typeface="楷体_GB2312" panose="02010609030101010101" pitchFamily="49" charset="-122"/>
                <a:ea typeface="楷体_GB2312" panose="02010609030101010101" pitchFamily="49" charset="-122"/>
              </a:rPr>
              <a:t>“在途物资”账户（实际成本）</a:t>
            </a:r>
          </a:p>
          <a:p>
            <a:pPr eaLnBrk="1" hangingPunct="1">
              <a:buSzPct val="90000"/>
            </a:pPr>
            <a:endParaRPr lang="zh-CN" altLang="en-US" sz="2400" dirty="0"/>
          </a:p>
          <a:p>
            <a:pPr eaLnBrk="1" hangingPunct="1">
              <a:buSzPct val="90000"/>
            </a:pPr>
            <a:r>
              <a:rPr lang="zh-CN" altLang="en-US" dirty="0"/>
              <a:t>（二）账务处理</a:t>
            </a:r>
          </a:p>
          <a:p>
            <a:pPr lvl="1" indent="-342900" eaLnBrk="1" hangingPunct="1">
              <a:buSzPct val="90000"/>
            </a:pPr>
            <a:r>
              <a:rPr lang="zh-CN" altLang="en-US" sz="2400" dirty="0">
                <a:latin typeface="楷体_GB2312" panose="02010609030101010101" pitchFamily="49" charset="-122"/>
                <a:ea typeface="楷体_GB2312" panose="02010609030101010101" pitchFamily="49" charset="-122"/>
              </a:rPr>
              <a:t>１．取得原材料</a:t>
            </a:r>
          </a:p>
          <a:p>
            <a:pPr lvl="2" eaLnBrk="1" hangingPunct="1">
              <a:buSzPct val="90000"/>
            </a:pPr>
            <a:r>
              <a:rPr lang="zh-CN" altLang="en-US" dirty="0"/>
              <a:t>（</a:t>
            </a:r>
            <a:r>
              <a:rPr lang="en-US" altLang="zh-CN" dirty="0"/>
              <a:t>1</a:t>
            </a:r>
            <a:r>
              <a:rPr lang="zh-CN" altLang="en-US" dirty="0"/>
              <a:t>）外购原材料</a:t>
            </a:r>
          </a:p>
        </p:txBody>
      </p:sp>
      <p:sp>
        <p:nvSpPr>
          <p:cNvPr id="49155" name="Rectangle 5"/>
          <p:cNvSpPr>
            <a:spLocks noChangeArrowheads="1"/>
          </p:cNvSpPr>
          <p:nvPr/>
        </p:nvSpPr>
        <p:spPr bwMode="auto">
          <a:xfrm>
            <a:off x="1229712" y="817826"/>
            <a:ext cx="10341293" cy="769441"/>
          </a:xfrm>
          <a:prstGeom prst="rect">
            <a:avLst/>
          </a:prstGeom>
          <a:noFill/>
          <a:ln w="12700" algn="ctr">
            <a:noFill/>
            <a:miter lim="800000"/>
            <a:headEnd type="none" w="sm" len="sm"/>
            <a:tailEnd type="none" w="sm" len="sm"/>
          </a:ln>
        </p:spPr>
        <p:txBody>
          <a:bodyPr wrap="none">
            <a:spAutoFit/>
          </a:bodyPr>
          <a:lstStyle/>
          <a:p>
            <a:pPr eaLnBrk="1" hangingPunct="1">
              <a:spcBef>
                <a:spcPct val="20000"/>
              </a:spcBef>
              <a:buClr>
                <a:schemeClr val="hlink"/>
              </a:buClr>
              <a:buSzPct val="90000"/>
              <a:buFont typeface="Wingdings" pitchFamily="2" charset="2"/>
              <a:buNone/>
            </a:pPr>
            <a:r>
              <a:rPr lang="zh-CN" altLang="en-US" sz="4400" b="1" dirty="0">
                <a:solidFill>
                  <a:schemeClr val="tx2"/>
                </a:solidFill>
                <a:latin typeface="+mj-lt"/>
                <a:ea typeface="+mj-ea"/>
                <a:cs typeface="+mj-cs"/>
              </a:rPr>
              <a:t>（三）取得和发出原材料按实际成本核算</a:t>
            </a:r>
          </a:p>
        </p:txBody>
      </p:sp>
    </p:spTree>
    <p:extLst>
      <p:ext uri="{BB962C8B-B14F-4D97-AF65-F5344CB8AC3E}">
        <p14:creationId xmlns:p14="http://schemas.microsoft.com/office/powerpoint/2010/main" val="50884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387074">
                                            <p:txEl>
                                              <p:pRg st="1" end="1"/>
                                            </p:txEl>
                                          </p:spTgt>
                                        </p:tgtEl>
                                        <p:attrNameLst>
                                          <p:attrName>style.visibility</p:attrName>
                                        </p:attrNameLst>
                                      </p:cBhvr>
                                      <p:to>
                                        <p:strVal val="visible"/>
                                      </p:to>
                                    </p:set>
                                    <p:anim to="" calcmode="lin" valueType="num">
                                      <p:cBhvr>
                                        <p:cTn id="7" dur="1" fill="hold"/>
                                        <p:tgtEl>
                                          <p:spTgt spid="387074">
                                            <p:txEl>
                                              <p:pRg st="1" end="1"/>
                                            </p:txEl>
                                          </p:spTgt>
                                        </p:tgtEl>
                                        <p:attrNameLst>
                                          <p:attrName/>
                                        </p:attrNameLst>
                                      </p:cBhvr>
                                    </p:anim>
                                  </p:childTnLst>
                                </p:cTn>
                              </p:par>
                              <p:par>
                                <p:cTn id="8" presetID="24" presetClass="entr" presetSubtype="0" fill="hold" grpId="0" nodeType="withEffect">
                                  <p:stCondLst>
                                    <p:cond delay="0"/>
                                  </p:stCondLst>
                                  <p:childTnLst>
                                    <p:set>
                                      <p:cBhvr>
                                        <p:cTn id="9" dur="1" fill="hold">
                                          <p:stCondLst>
                                            <p:cond delay="499"/>
                                          </p:stCondLst>
                                        </p:cTn>
                                        <p:tgtEl>
                                          <p:spTgt spid="387074">
                                            <p:txEl>
                                              <p:pRg st="2" end="2"/>
                                            </p:txEl>
                                          </p:spTgt>
                                        </p:tgtEl>
                                        <p:attrNameLst>
                                          <p:attrName>style.visibility</p:attrName>
                                        </p:attrNameLst>
                                      </p:cBhvr>
                                      <p:to>
                                        <p:strVal val="visible"/>
                                      </p:to>
                                    </p:set>
                                    <p:anim to="" calcmode="lin" valueType="num">
                                      <p:cBhvr>
                                        <p:cTn id="10" dur="1" fill="hold"/>
                                        <p:tgtEl>
                                          <p:spTgt spid="387074">
                                            <p:txEl>
                                              <p:pRg st="2" end="2"/>
                                            </p:txEl>
                                          </p:spTgt>
                                        </p:tgtEl>
                                        <p:attrNameLst>
                                          <p:attrName/>
                                        </p:attrNameLst>
                                      </p:cBhvr>
                                    </p:anim>
                                  </p:childTnLst>
                                </p:cTn>
                              </p:par>
                              <p:par>
                                <p:cTn id="11" presetID="24" presetClass="entr" presetSubtype="0" fill="hold" grpId="0" nodeType="withEffect">
                                  <p:stCondLst>
                                    <p:cond delay="0"/>
                                  </p:stCondLst>
                                  <p:childTnLst>
                                    <p:set>
                                      <p:cBhvr>
                                        <p:cTn id="12" dur="1" fill="hold">
                                          <p:stCondLst>
                                            <p:cond delay="499"/>
                                          </p:stCondLst>
                                        </p:cTn>
                                        <p:tgtEl>
                                          <p:spTgt spid="387074">
                                            <p:txEl>
                                              <p:pRg st="3" end="3"/>
                                            </p:txEl>
                                          </p:spTgt>
                                        </p:tgtEl>
                                        <p:attrNameLst>
                                          <p:attrName>style.visibility</p:attrName>
                                        </p:attrNameLst>
                                      </p:cBhvr>
                                      <p:to>
                                        <p:strVal val="visible"/>
                                      </p:to>
                                    </p:set>
                                    <p:anim to="" calcmode="lin" valueType="num">
                                      <p:cBhvr>
                                        <p:cTn id="13" dur="1" fill="hold"/>
                                        <p:tgtEl>
                                          <p:spTgt spid="387074">
                                            <p:txEl>
                                              <p:pRg st="3" end="3"/>
                                            </p:txEl>
                                          </p:spTgt>
                                        </p:tgtEl>
                                        <p:attrNameLst>
                                          <p:attrName/>
                                        </p:attrNameLst>
                                      </p:cBhvr>
                                    </p:anim>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grpId="0" nodeType="clickEffect">
                                  <p:stCondLst>
                                    <p:cond delay="0"/>
                                  </p:stCondLst>
                                  <p:childTnLst>
                                    <p:set>
                                      <p:cBhvr>
                                        <p:cTn id="17" dur="1" fill="hold">
                                          <p:stCondLst>
                                            <p:cond delay="499"/>
                                          </p:stCondLst>
                                        </p:cTn>
                                        <p:tgtEl>
                                          <p:spTgt spid="387074">
                                            <p:txEl>
                                              <p:pRg st="5" end="5"/>
                                            </p:txEl>
                                          </p:spTgt>
                                        </p:tgtEl>
                                        <p:attrNameLst>
                                          <p:attrName>style.visibility</p:attrName>
                                        </p:attrNameLst>
                                      </p:cBhvr>
                                      <p:to>
                                        <p:strVal val="visible"/>
                                      </p:to>
                                    </p:set>
                                    <p:anim to="" calcmode="lin" valueType="num">
                                      <p:cBhvr>
                                        <p:cTn id="18" dur="1" fill="hold"/>
                                        <p:tgtEl>
                                          <p:spTgt spid="387074">
                                            <p:txEl>
                                              <p:pRg st="5" end="5"/>
                                            </p:txEl>
                                          </p:spTgt>
                                        </p:tgtEl>
                                        <p:attrNameLst>
                                          <p:attrName/>
                                        </p:attrNameLst>
                                      </p:cBhvr>
                                    </p:anim>
                                  </p:childTnLst>
                                </p:cTn>
                              </p:par>
                              <p:par>
                                <p:cTn id="19" presetID="24" presetClass="entr" presetSubtype="0" fill="hold" grpId="0" nodeType="withEffect">
                                  <p:stCondLst>
                                    <p:cond delay="0"/>
                                  </p:stCondLst>
                                  <p:childTnLst>
                                    <p:set>
                                      <p:cBhvr>
                                        <p:cTn id="20" dur="1" fill="hold">
                                          <p:stCondLst>
                                            <p:cond delay="499"/>
                                          </p:stCondLst>
                                        </p:cTn>
                                        <p:tgtEl>
                                          <p:spTgt spid="387074">
                                            <p:txEl>
                                              <p:pRg st="6" end="6"/>
                                            </p:txEl>
                                          </p:spTgt>
                                        </p:tgtEl>
                                        <p:attrNameLst>
                                          <p:attrName>style.visibility</p:attrName>
                                        </p:attrNameLst>
                                      </p:cBhvr>
                                      <p:to>
                                        <p:strVal val="visible"/>
                                      </p:to>
                                    </p:set>
                                    <p:anim to="" calcmode="lin" valueType="num">
                                      <p:cBhvr>
                                        <p:cTn id="21" dur="1" fill="hold"/>
                                        <p:tgtEl>
                                          <p:spTgt spid="387074">
                                            <p:txEl>
                                              <p:pRg st="6" end="6"/>
                                            </p:txEl>
                                          </p:spTgt>
                                        </p:tgtEl>
                                        <p:attrNameLst>
                                          <p:attrName/>
                                        </p:attrNameLst>
                                      </p:cBhvr>
                                    </p:anim>
                                  </p:childTnLst>
                                </p:cTn>
                              </p:par>
                              <p:par>
                                <p:cTn id="22" presetID="24" presetClass="entr" presetSubtype="0" fill="hold" grpId="0" nodeType="withEffect">
                                  <p:stCondLst>
                                    <p:cond delay="0"/>
                                  </p:stCondLst>
                                  <p:childTnLst>
                                    <p:set>
                                      <p:cBhvr>
                                        <p:cTn id="23" dur="1" fill="hold">
                                          <p:stCondLst>
                                            <p:cond delay="499"/>
                                          </p:stCondLst>
                                        </p:cTn>
                                        <p:tgtEl>
                                          <p:spTgt spid="387074">
                                            <p:txEl>
                                              <p:pRg st="7" end="7"/>
                                            </p:txEl>
                                          </p:spTgt>
                                        </p:tgtEl>
                                        <p:attrNameLst>
                                          <p:attrName>style.visibility</p:attrName>
                                        </p:attrNameLst>
                                      </p:cBhvr>
                                      <p:to>
                                        <p:strVal val="visible"/>
                                      </p:to>
                                    </p:set>
                                    <p:anim to="" calcmode="lin" valueType="num">
                                      <p:cBhvr>
                                        <p:cTn id="24" dur="1" fill="hold"/>
                                        <p:tgtEl>
                                          <p:spTgt spid="387074">
                                            <p:txEl>
                                              <p:pRg st="7" end="7"/>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4"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22" name="Rectangle 2"/>
          <p:cNvSpPr>
            <a:spLocks noGrp="1" noChangeArrowheads="1"/>
          </p:cNvSpPr>
          <p:nvPr>
            <p:ph type="body" idx="1"/>
          </p:nvPr>
        </p:nvSpPr>
        <p:spPr>
          <a:xfrm>
            <a:off x="1519768" y="4635063"/>
            <a:ext cx="10458449" cy="1492250"/>
          </a:xfrm>
        </p:spPr>
        <p:txBody>
          <a:bodyPr/>
          <a:lstStyle/>
          <a:p>
            <a:pPr defTabSz="762000" eaLnBrk="1" hangingPunct="1">
              <a:lnSpc>
                <a:spcPct val="90000"/>
              </a:lnSpc>
              <a:spcBef>
                <a:spcPct val="50000"/>
              </a:spcBef>
              <a:buClr>
                <a:srgbClr val="3333FF"/>
              </a:buClr>
            </a:pPr>
            <a:r>
              <a:rPr lang="zh-CN" altLang="en-US" sz="2800" kern="1200" dirty="0"/>
              <a:t>单到料未到：</a:t>
            </a:r>
            <a:endParaRPr lang="en-US" altLang="zh-CN" sz="2800" kern="1200" dirty="0"/>
          </a:p>
          <a:p>
            <a:pPr marL="0" indent="0" eaLnBrk="1" hangingPunct="1">
              <a:buNone/>
            </a:pPr>
            <a:r>
              <a:rPr lang="en-US" altLang="zh-CN" sz="2400" dirty="0">
                <a:latin typeface="黑体" pitchFamily="2" charset="-122"/>
              </a:rPr>
              <a:t> </a:t>
            </a:r>
            <a:r>
              <a:rPr lang="zh-CN" altLang="en-US" sz="2000" dirty="0">
                <a:latin typeface="楷体_GB2312" panose="02010609030101010101" pitchFamily="49" charset="-122"/>
                <a:ea typeface="楷体_GB2312" panose="02010609030101010101" pitchFamily="49" charset="-122"/>
              </a:rPr>
              <a:t>借：在途物资</a:t>
            </a:r>
          </a:p>
          <a:p>
            <a:pPr marL="0" indent="0" algn="just" eaLnBrk="1" hangingPunct="1">
              <a:buNone/>
            </a:pPr>
            <a:r>
              <a:rPr lang="zh-CN" altLang="en-US" sz="2000" dirty="0">
                <a:latin typeface="楷体_GB2312" panose="02010609030101010101" pitchFamily="49" charset="-122"/>
                <a:ea typeface="楷体_GB2312" panose="02010609030101010101" pitchFamily="49" charset="-122"/>
              </a:rPr>
              <a:t>     应交税费</a:t>
            </a:r>
            <a:r>
              <a:rPr lang="en-US" altLang="zh-CN" sz="2000" dirty="0">
                <a:latin typeface="楷体_GB2312" panose="02010609030101010101" pitchFamily="49" charset="-122"/>
                <a:ea typeface="楷体_GB2312" panose="02010609030101010101" pitchFamily="49" charset="-122"/>
              </a:rPr>
              <a:t>—</a:t>
            </a:r>
            <a:r>
              <a:rPr lang="zh-CN" altLang="en-US" sz="2000" dirty="0">
                <a:latin typeface="楷体_GB2312" panose="02010609030101010101" pitchFamily="49" charset="-122"/>
                <a:ea typeface="楷体_GB2312" panose="02010609030101010101" pitchFamily="49" charset="-122"/>
              </a:rPr>
              <a:t>应交增值税（进项税额）</a:t>
            </a:r>
          </a:p>
          <a:p>
            <a:pPr marL="0" indent="0" algn="just" eaLnBrk="1" hangingPunct="1">
              <a:buNone/>
            </a:pPr>
            <a:r>
              <a:rPr lang="zh-CN" altLang="en-US" sz="2000" dirty="0">
                <a:latin typeface="楷体_GB2312" panose="02010609030101010101" pitchFamily="49" charset="-122"/>
                <a:ea typeface="楷体_GB2312" panose="02010609030101010101" pitchFamily="49" charset="-122"/>
              </a:rPr>
              <a:t>     贷：银行存款（应付账款等）</a:t>
            </a:r>
          </a:p>
        </p:txBody>
      </p:sp>
      <p:sp>
        <p:nvSpPr>
          <p:cNvPr id="389125" name="Rectangle 5"/>
          <p:cNvSpPr>
            <a:spLocks noChangeArrowheads="1"/>
          </p:cNvSpPr>
          <p:nvPr/>
        </p:nvSpPr>
        <p:spPr bwMode="auto">
          <a:xfrm>
            <a:off x="1519768" y="1795464"/>
            <a:ext cx="8919633" cy="2792302"/>
          </a:xfrm>
          <a:prstGeom prst="rect">
            <a:avLst/>
          </a:prstGeom>
          <a:noFill/>
          <a:ln w="12700">
            <a:noFill/>
            <a:miter lim="800000"/>
            <a:headEnd type="none" w="sm" len="sm"/>
            <a:tailEnd type="none" w="sm" len="sm"/>
          </a:ln>
        </p:spPr>
        <p:txBody>
          <a:bodyPr/>
          <a:lstStyle/>
          <a:p>
            <a:pPr marL="457200" indent="-457200" defTabSz="762000">
              <a:lnSpc>
                <a:spcPct val="90000"/>
              </a:lnSpc>
              <a:spcBef>
                <a:spcPct val="50000"/>
              </a:spcBef>
              <a:buClr>
                <a:srgbClr val="3333FF"/>
              </a:buClr>
              <a:buSzPct val="60000"/>
              <a:buFont typeface="Wingdings" pitchFamily="2" charset="2"/>
              <a:buChar char="n"/>
            </a:pPr>
            <a:r>
              <a:rPr lang="zh-CN" altLang="en-US" sz="2800" b="1" dirty="0">
                <a:latin typeface="黑体" panose="02010609060101010101" pitchFamily="49" charset="-122"/>
                <a:ea typeface="黑体" panose="02010609060101010101" pitchFamily="49" charset="-122"/>
              </a:rPr>
              <a:t>料单（原材料和单据）同时到：</a:t>
            </a:r>
            <a:endParaRPr lang="en-US" altLang="zh-CN" sz="2800" b="1" dirty="0">
              <a:latin typeface="黑体" panose="02010609060101010101" pitchFamily="49" charset="-122"/>
              <a:ea typeface="黑体" panose="02010609060101010101" pitchFamily="49" charset="-122"/>
            </a:endParaRPr>
          </a:p>
          <a:p>
            <a:pPr algn="l" defTabSz="762000" eaLnBrk="1" hangingPunct="1">
              <a:lnSpc>
                <a:spcPct val="90000"/>
              </a:lnSpc>
              <a:spcBef>
                <a:spcPct val="50000"/>
              </a:spcBef>
              <a:buClr>
                <a:schemeClr val="hlink"/>
              </a:buClr>
              <a:buFont typeface="Wingdings" pitchFamily="2" charset="2"/>
              <a:buNone/>
            </a:pPr>
            <a:r>
              <a:rPr lang="zh-CN" altLang="en-US" sz="2000" b="1" dirty="0">
                <a:latin typeface="楷体_GB2312" panose="02010609030101010101" pitchFamily="49" charset="-122"/>
                <a:ea typeface="楷体_GB2312" panose="02010609030101010101" pitchFamily="49" charset="-122"/>
              </a:rPr>
              <a:t>借：在途物资</a:t>
            </a:r>
          </a:p>
          <a:p>
            <a:pPr algn="l" defTabSz="762000" eaLnBrk="1" hangingPunct="1">
              <a:lnSpc>
                <a:spcPct val="90000"/>
              </a:lnSpc>
              <a:spcBef>
                <a:spcPct val="50000"/>
              </a:spcBef>
              <a:buClr>
                <a:schemeClr val="hlink"/>
              </a:buClr>
              <a:buFont typeface="Wingdings" pitchFamily="2" charset="2"/>
              <a:buNone/>
            </a:pPr>
            <a:r>
              <a:rPr lang="zh-CN" altLang="en-US" sz="2000" b="1" dirty="0">
                <a:latin typeface="楷体_GB2312" panose="02010609030101010101" pitchFamily="49" charset="-122"/>
                <a:ea typeface="楷体_GB2312" panose="02010609030101010101" pitchFamily="49" charset="-122"/>
              </a:rPr>
              <a:t>    应交税费</a:t>
            </a:r>
            <a:r>
              <a:rPr lang="en-US" altLang="zh-CN" sz="2000" b="1" dirty="0">
                <a:latin typeface="楷体_GB2312" panose="02010609030101010101" pitchFamily="49" charset="-122"/>
                <a:ea typeface="楷体_GB2312" panose="02010609030101010101" pitchFamily="49" charset="-122"/>
              </a:rPr>
              <a:t>—</a:t>
            </a:r>
            <a:r>
              <a:rPr lang="zh-CN" altLang="en-US" sz="2000" b="1" dirty="0">
                <a:latin typeface="楷体_GB2312" panose="02010609030101010101" pitchFamily="49" charset="-122"/>
                <a:ea typeface="楷体_GB2312" panose="02010609030101010101" pitchFamily="49" charset="-122"/>
              </a:rPr>
              <a:t>应交增值税（进项税额）</a:t>
            </a:r>
          </a:p>
          <a:p>
            <a:pPr algn="l" defTabSz="762000" eaLnBrk="1" hangingPunct="1">
              <a:lnSpc>
                <a:spcPct val="90000"/>
              </a:lnSpc>
              <a:spcBef>
                <a:spcPct val="50000"/>
              </a:spcBef>
              <a:buClr>
                <a:schemeClr val="hlink"/>
              </a:buClr>
              <a:buFont typeface="Wingdings" pitchFamily="2" charset="2"/>
              <a:buNone/>
            </a:pPr>
            <a:r>
              <a:rPr lang="zh-CN" altLang="en-US" sz="2000" b="1" dirty="0">
                <a:latin typeface="楷体_GB2312" panose="02010609030101010101" pitchFamily="49" charset="-122"/>
                <a:ea typeface="楷体_GB2312" panose="02010609030101010101" pitchFamily="49" charset="-122"/>
              </a:rPr>
              <a:t>    贷：银行存款（应付账款等）</a:t>
            </a:r>
          </a:p>
          <a:p>
            <a:pPr algn="l" defTabSz="762000" eaLnBrk="1" hangingPunct="1">
              <a:lnSpc>
                <a:spcPct val="90000"/>
              </a:lnSpc>
              <a:spcBef>
                <a:spcPct val="50000"/>
              </a:spcBef>
              <a:buClr>
                <a:schemeClr val="hlink"/>
              </a:buClr>
              <a:buFont typeface="Wingdings" pitchFamily="2" charset="2"/>
              <a:buNone/>
            </a:pPr>
            <a:r>
              <a:rPr lang="zh-CN" altLang="en-US" sz="2000" b="1" dirty="0">
                <a:latin typeface="楷体_GB2312" panose="02010609030101010101" pitchFamily="49" charset="-122"/>
                <a:ea typeface="楷体_GB2312" panose="02010609030101010101" pitchFamily="49" charset="-122"/>
              </a:rPr>
              <a:t>  借：原材料</a:t>
            </a:r>
          </a:p>
          <a:p>
            <a:pPr algn="l" defTabSz="762000" eaLnBrk="1" hangingPunct="1">
              <a:lnSpc>
                <a:spcPct val="90000"/>
              </a:lnSpc>
              <a:spcBef>
                <a:spcPct val="50000"/>
              </a:spcBef>
              <a:buClr>
                <a:schemeClr val="hlink"/>
              </a:buClr>
              <a:buFont typeface="Wingdings" pitchFamily="2" charset="2"/>
              <a:buNone/>
            </a:pPr>
            <a:r>
              <a:rPr lang="zh-CN" altLang="en-US" sz="2000" b="1" dirty="0">
                <a:latin typeface="楷体_GB2312" panose="02010609030101010101" pitchFamily="49" charset="-122"/>
                <a:ea typeface="楷体_GB2312" panose="02010609030101010101" pitchFamily="49" charset="-122"/>
              </a:rPr>
              <a:t>      贷：在途物资</a:t>
            </a:r>
            <a:endParaRPr lang="en-US" altLang="zh-CN" sz="2000" b="1" dirty="0">
              <a:latin typeface="楷体_GB2312" panose="02010609030101010101" pitchFamily="49" charset="-122"/>
              <a:ea typeface="楷体_GB2312" panose="02010609030101010101" pitchFamily="49" charset="-122"/>
            </a:endParaRPr>
          </a:p>
          <a:p>
            <a:pPr algn="l" defTabSz="762000" eaLnBrk="1" hangingPunct="1">
              <a:lnSpc>
                <a:spcPct val="90000"/>
              </a:lnSpc>
              <a:spcBef>
                <a:spcPct val="50000"/>
              </a:spcBef>
              <a:buClr>
                <a:schemeClr val="hlink"/>
              </a:buClr>
              <a:buFont typeface="Wingdings" pitchFamily="2" charset="2"/>
              <a:buNone/>
            </a:pPr>
            <a:endParaRPr lang="zh-CN" altLang="en-US" sz="2800" b="1" dirty="0">
              <a:latin typeface="楷体_GB2312" panose="02010609030101010101" pitchFamily="49" charset="-122"/>
              <a:ea typeface="楷体_GB2312" panose="02010609030101010101" pitchFamily="49" charset="-122"/>
            </a:endParaRPr>
          </a:p>
        </p:txBody>
      </p:sp>
      <p:pic>
        <p:nvPicPr>
          <p:cNvPr id="50182" name="Picture 6" descr="BD07153_"/>
          <p:cNvPicPr>
            <a:picLocks noChangeAspect="1" noChangeArrowheads="1"/>
          </p:cNvPicPr>
          <p:nvPr/>
        </p:nvPicPr>
        <p:blipFill>
          <a:blip r:embed="rId3" cstate="print"/>
          <a:srcRect/>
          <a:stretch>
            <a:fillRect/>
          </a:stretch>
        </p:blipFill>
        <p:spPr bwMode="auto">
          <a:xfrm>
            <a:off x="9370483" y="3588319"/>
            <a:ext cx="1682749" cy="1381125"/>
          </a:xfrm>
          <a:prstGeom prst="rect">
            <a:avLst/>
          </a:prstGeom>
          <a:noFill/>
          <a:ln w="9525">
            <a:noFill/>
            <a:miter lim="800000"/>
            <a:headEnd/>
            <a:tailEnd/>
          </a:ln>
        </p:spPr>
      </p:pic>
      <p:sp>
        <p:nvSpPr>
          <p:cNvPr id="2" name="矩形: 圆角 1">
            <a:extLst>
              <a:ext uri="{FF2B5EF4-FFF2-40B4-BE49-F238E27FC236}">
                <a16:creationId xmlns:a16="http://schemas.microsoft.com/office/drawing/2014/main" id="{1A3C363F-BD3A-4BB0-A4ED-8F72322FA64A}"/>
              </a:ext>
            </a:extLst>
          </p:cNvPr>
          <p:cNvSpPr/>
          <p:nvPr/>
        </p:nvSpPr>
        <p:spPr bwMode="auto">
          <a:xfrm>
            <a:off x="8251162" y="2065907"/>
            <a:ext cx="2238644" cy="919401"/>
          </a:xfrm>
          <a:prstGeom prst="roundRect">
            <a:avLst/>
          </a:prstGeom>
          <a:solidFill>
            <a:schemeClr val="accent1"/>
          </a:solidFill>
          <a:ln w="12700" cap="flat" cmpd="sng" algn="ctr">
            <a:noFill/>
            <a:prstDash val="solid"/>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FF8000"/>
                </a:solidFill>
                <a:effectLst>
                  <a:outerShdw blurRad="38100" dist="38100" dir="2700000" algn="tl">
                    <a:srgbClr val="000000">
                      <a:alpha val="43137"/>
                    </a:srgbClr>
                  </a:outerShdw>
                </a:effectLst>
                <a:latin typeface="Arial" charset="0"/>
                <a:ea typeface="宋体" charset="-122"/>
              </a:rPr>
              <a:t>也可以合并为一笔</a:t>
            </a:r>
          </a:p>
        </p:txBody>
      </p:sp>
    </p:spTree>
    <p:extLst>
      <p:ext uri="{BB962C8B-B14F-4D97-AF65-F5344CB8AC3E}">
        <p14:creationId xmlns:p14="http://schemas.microsoft.com/office/powerpoint/2010/main" val="1949379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25"/>
                                        </p:tgtEl>
                                        <p:attrNameLst>
                                          <p:attrName>style.visibility</p:attrName>
                                        </p:attrNameLst>
                                      </p:cBhvr>
                                      <p:to>
                                        <p:strVal val="visible"/>
                                      </p:to>
                                    </p:set>
                                    <p:anim calcmode="lin" valueType="num">
                                      <p:cBhvr additive="base">
                                        <p:cTn id="7" dur="500" fill="hold"/>
                                        <p:tgtEl>
                                          <p:spTgt spid="389125"/>
                                        </p:tgtEl>
                                        <p:attrNameLst>
                                          <p:attrName>ppt_x</p:attrName>
                                        </p:attrNameLst>
                                      </p:cBhvr>
                                      <p:tavLst>
                                        <p:tav tm="0">
                                          <p:val>
                                            <p:strVal val="#ppt_x"/>
                                          </p:val>
                                        </p:tav>
                                        <p:tav tm="100000">
                                          <p:val>
                                            <p:strVal val="#ppt_x"/>
                                          </p:val>
                                        </p:tav>
                                      </p:tavLst>
                                    </p:anim>
                                    <p:anim calcmode="lin" valueType="num">
                                      <p:cBhvr additive="base">
                                        <p:cTn id="8" dur="500" fill="hold"/>
                                        <p:tgtEl>
                                          <p:spTgt spid="3891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8912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9122">
                                            <p:txEl>
                                              <p:pRg st="1" end="1"/>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389122">
                                            <p:txEl>
                                              <p:pRg st="2" end="2"/>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38912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2" grpId="0" build="p"/>
      <p:bldP spid="389125"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1170" name="Rectangle 2"/>
          <p:cNvSpPr>
            <a:spLocks noGrp="1" noChangeArrowheads="1"/>
          </p:cNvSpPr>
          <p:nvPr>
            <p:ph type="body" idx="1"/>
          </p:nvPr>
        </p:nvSpPr>
        <p:spPr>
          <a:xfrm>
            <a:off x="1066801" y="1922464"/>
            <a:ext cx="7522633" cy="2828925"/>
          </a:xfrm>
        </p:spPr>
        <p:txBody>
          <a:bodyPr/>
          <a:lstStyle/>
          <a:p>
            <a:pPr eaLnBrk="1" hangingPunct="1"/>
            <a:r>
              <a:rPr lang="zh-CN" altLang="en-US" sz="2800" kern="1200" dirty="0"/>
              <a:t>料到单未到：</a:t>
            </a:r>
            <a:endParaRPr lang="en-US" altLang="zh-CN" sz="2800" kern="1200" dirty="0"/>
          </a:p>
          <a:p>
            <a:pPr marL="0" indent="0" eaLnBrk="1" hangingPunct="1">
              <a:buNone/>
            </a:pPr>
            <a:r>
              <a:rPr lang="zh-CN" altLang="en-US" sz="2000" dirty="0">
                <a:solidFill>
                  <a:schemeClr val="tx2"/>
                </a:solidFill>
                <a:ea typeface="楷体_GB2312"/>
              </a:rPr>
              <a:t>月内不做账务处理</a:t>
            </a:r>
          </a:p>
          <a:p>
            <a:pPr marL="0" indent="0" eaLnBrk="1" hangingPunct="1">
              <a:buNone/>
            </a:pPr>
            <a:r>
              <a:rPr lang="zh-CN" altLang="en-US" sz="2000" dirty="0">
                <a:solidFill>
                  <a:schemeClr val="tx2"/>
                </a:solidFill>
                <a:ea typeface="楷体_GB2312"/>
              </a:rPr>
              <a:t>若月末仍未到</a:t>
            </a:r>
          </a:p>
          <a:p>
            <a:pPr marL="0" indent="0" eaLnBrk="1" hangingPunct="1">
              <a:buNone/>
            </a:pPr>
            <a:r>
              <a:rPr lang="zh-CN" altLang="en-US" sz="2000" dirty="0">
                <a:ea typeface="楷体_GB2312"/>
              </a:rPr>
              <a:t>  借：原材料         暂估价（货款）</a:t>
            </a:r>
          </a:p>
          <a:p>
            <a:pPr marL="0" indent="0" eaLnBrk="1" hangingPunct="1">
              <a:buNone/>
            </a:pPr>
            <a:r>
              <a:rPr lang="zh-CN" altLang="en-US" sz="2000" dirty="0">
                <a:ea typeface="楷体_GB2312"/>
              </a:rPr>
              <a:t>      贷：应付账款</a:t>
            </a:r>
          </a:p>
          <a:p>
            <a:pPr marL="0" indent="0" eaLnBrk="1" hangingPunct="1">
              <a:buNone/>
            </a:pPr>
            <a:r>
              <a:rPr lang="zh-CN" altLang="en-US" sz="2000" dirty="0">
                <a:solidFill>
                  <a:schemeClr val="tx2"/>
                </a:solidFill>
                <a:ea typeface="楷体_GB2312"/>
              </a:rPr>
              <a:t>下月初红字冲回</a:t>
            </a:r>
          </a:p>
          <a:p>
            <a:pPr marL="0" indent="0" eaLnBrk="1" hangingPunct="1">
              <a:buNone/>
            </a:pPr>
            <a:r>
              <a:rPr lang="zh-CN" altLang="en-US" sz="2000" dirty="0">
                <a:solidFill>
                  <a:srgbClr val="CC3300"/>
                </a:solidFill>
                <a:ea typeface="楷体_GB2312"/>
              </a:rPr>
              <a:t>  借：原材料        </a:t>
            </a:r>
          </a:p>
          <a:p>
            <a:pPr marL="0" indent="0" eaLnBrk="1" hangingPunct="1">
              <a:buNone/>
            </a:pPr>
            <a:r>
              <a:rPr lang="zh-CN" altLang="en-US" sz="2000" dirty="0">
                <a:solidFill>
                  <a:srgbClr val="CC3300"/>
                </a:solidFill>
                <a:ea typeface="楷体_GB2312"/>
              </a:rPr>
              <a:t>      贷：应付账款</a:t>
            </a:r>
          </a:p>
        </p:txBody>
      </p:sp>
      <p:sp>
        <p:nvSpPr>
          <p:cNvPr id="3" name="矩形 2"/>
          <p:cNvSpPr/>
          <p:nvPr/>
        </p:nvSpPr>
        <p:spPr>
          <a:xfrm>
            <a:off x="1236395" y="5593396"/>
            <a:ext cx="7932941" cy="461665"/>
          </a:xfrm>
          <a:prstGeom prst="rect">
            <a:avLst/>
          </a:prstGeom>
        </p:spPr>
        <p:txBody>
          <a:bodyPr wrap="none">
            <a:spAutoFit/>
          </a:bodyPr>
          <a:lstStyle/>
          <a:p>
            <a:pPr marL="228600" indent="-228600">
              <a:spcBef>
                <a:spcPct val="20000"/>
              </a:spcBef>
              <a:buClr>
                <a:schemeClr val="hlink"/>
              </a:buClr>
              <a:buSzPct val="150000"/>
              <a:buBlip>
                <a:blip r:embed="rId3"/>
              </a:buBlip>
              <a:defRPr/>
            </a:pPr>
            <a:r>
              <a:rPr lang="zh-CN" altLang="en-US" sz="2400" b="1" dirty="0">
                <a:latin typeface="楷体_GB2312" panose="02010609030101010101" pitchFamily="49" charset="-122"/>
                <a:ea typeface="楷体_GB2312" panose="02010609030101010101" pitchFamily="49" charset="-122"/>
              </a:rPr>
              <a:t>下月单到时，做料单同时到达的账务处理，做法同上。</a:t>
            </a:r>
          </a:p>
        </p:txBody>
      </p:sp>
    </p:spTree>
    <p:extLst>
      <p:ext uri="{BB962C8B-B14F-4D97-AF65-F5344CB8AC3E}">
        <p14:creationId xmlns:p14="http://schemas.microsoft.com/office/powerpoint/2010/main" val="6244493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dirty="0"/>
              <a:t>外购原材料账务处理举例</a:t>
            </a:r>
          </a:p>
        </p:txBody>
      </p:sp>
      <p:sp>
        <p:nvSpPr>
          <p:cNvPr id="52227" name="内容占位符 2"/>
          <p:cNvSpPr>
            <a:spLocks noGrp="1"/>
          </p:cNvSpPr>
          <p:nvPr>
            <p:ph idx="1"/>
          </p:nvPr>
        </p:nvSpPr>
        <p:spPr>
          <a:xfrm>
            <a:off x="1466559" y="2001948"/>
            <a:ext cx="10531000" cy="4114800"/>
          </a:xfrm>
        </p:spPr>
        <p:txBody>
          <a:bodyPr/>
          <a:lstStyle/>
          <a:p>
            <a:r>
              <a:rPr lang="zh-CN" altLang="en-US" sz="2400" b="0" dirty="0"/>
              <a:t>甲公司采用委托收款方式从外埠购进的材料已于</a:t>
            </a:r>
            <a:r>
              <a:rPr lang="en-US" altLang="zh-CN" sz="2400" b="0" dirty="0"/>
              <a:t>3</a:t>
            </a:r>
            <a:r>
              <a:rPr lang="zh-CN" altLang="en-US" sz="2400" b="0" dirty="0"/>
              <a:t>月</a:t>
            </a:r>
            <a:r>
              <a:rPr lang="en-US" altLang="zh-CN" sz="2400" b="0" dirty="0"/>
              <a:t>24</a:t>
            </a:r>
            <a:r>
              <a:rPr lang="zh-CN" altLang="en-US" sz="2400" b="0" dirty="0"/>
              <a:t>日收到并验收入库。</a:t>
            </a:r>
            <a:r>
              <a:rPr lang="en-US" altLang="zh-CN" sz="2400" b="0" dirty="0"/>
              <a:t>3</a:t>
            </a:r>
            <a:r>
              <a:rPr lang="zh-CN" altLang="en-US" sz="2400" b="0" dirty="0"/>
              <a:t>月</a:t>
            </a:r>
            <a:r>
              <a:rPr lang="en-US" altLang="zh-CN" sz="2400" b="0" dirty="0"/>
              <a:t>28</a:t>
            </a:r>
            <a:r>
              <a:rPr lang="zh-CN" altLang="en-US" sz="2400" b="0" dirty="0"/>
              <a:t>日结算凭证到达，货款计</a:t>
            </a:r>
            <a:r>
              <a:rPr lang="en-US" altLang="zh-CN" sz="2400" b="0" dirty="0"/>
              <a:t>113 000</a:t>
            </a:r>
            <a:r>
              <a:rPr lang="zh-CN" altLang="en-US" sz="2400" b="0" dirty="0"/>
              <a:t>元（其中，材料价款</a:t>
            </a:r>
            <a:r>
              <a:rPr lang="en-US" altLang="zh-CN" sz="2400" b="0" dirty="0"/>
              <a:t>100 000</a:t>
            </a:r>
            <a:r>
              <a:rPr lang="zh-CN" altLang="en-US" sz="2400" b="0" dirty="0"/>
              <a:t>元，增值税</a:t>
            </a:r>
            <a:r>
              <a:rPr lang="en-US" altLang="zh-CN" sz="2400" b="0" dirty="0"/>
              <a:t>13 000</a:t>
            </a:r>
            <a:r>
              <a:rPr lang="zh-CN" altLang="en-US" sz="2400" b="0" dirty="0"/>
              <a:t>元），购进材料支付进货运费</a:t>
            </a:r>
            <a:r>
              <a:rPr lang="en-US" altLang="zh-CN" sz="2400" b="0" dirty="0"/>
              <a:t>1 090</a:t>
            </a:r>
            <a:r>
              <a:rPr lang="zh-CN" altLang="en-US" sz="2400" b="0" dirty="0"/>
              <a:t>元（其中，价款</a:t>
            </a:r>
            <a:r>
              <a:rPr lang="en-US" altLang="zh-CN" sz="2400" b="0" dirty="0"/>
              <a:t>1 000</a:t>
            </a:r>
            <a:r>
              <a:rPr lang="zh-CN" altLang="en-US" sz="2400" b="0" dirty="0"/>
              <a:t>元，按规定准予扣除进项税</a:t>
            </a:r>
            <a:r>
              <a:rPr lang="en-US" altLang="zh-CN" sz="2400" b="0" dirty="0"/>
              <a:t>90</a:t>
            </a:r>
            <a:r>
              <a:rPr lang="zh-CN" altLang="en-US" sz="2400" b="0" dirty="0"/>
              <a:t>元）、装卸费和运输保险费</a:t>
            </a:r>
            <a:r>
              <a:rPr lang="en-US" altLang="zh-CN" sz="2400" b="0" dirty="0"/>
              <a:t>530</a:t>
            </a:r>
            <a:r>
              <a:rPr lang="zh-CN" altLang="en-US" sz="2400" b="0" dirty="0"/>
              <a:t>元（其中价款</a:t>
            </a:r>
            <a:r>
              <a:rPr lang="en-US" altLang="zh-CN" sz="2400" b="0" dirty="0"/>
              <a:t>500</a:t>
            </a:r>
            <a:r>
              <a:rPr lang="zh-CN" altLang="en-US" sz="2400" b="0" dirty="0"/>
              <a:t>元，准予抵扣增值税</a:t>
            </a:r>
            <a:r>
              <a:rPr lang="en-US" altLang="zh-CN" sz="2400" b="0" dirty="0"/>
              <a:t>30</a:t>
            </a:r>
            <a:r>
              <a:rPr lang="zh-CN" altLang="en-US" sz="2400" b="0" dirty="0"/>
              <a:t>元）。结算凭证到达，支付全部货款及运费、装卸费。 </a:t>
            </a:r>
          </a:p>
          <a:p>
            <a:r>
              <a:rPr lang="zh-CN" altLang="en-US" sz="2400" b="0" dirty="0"/>
              <a:t>甲公司应如何进行账务处理？</a:t>
            </a:r>
          </a:p>
        </p:txBody>
      </p:sp>
    </p:spTree>
    <p:extLst>
      <p:ext uri="{BB962C8B-B14F-4D97-AF65-F5344CB8AC3E}">
        <p14:creationId xmlns:p14="http://schemas.microsoft.com/office/powerpoint/2010/main" val="2681510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endParaRPr lang="zh-CN" altLang="en-US"/>
          </a:p>
        </p:txBody>
      </p:sp>
      <p:sp>
        <p:nvSpPr>
          <p:cNvPr id="53251" name="内容占位符 2"/>
          <p:cNvSpPr>
            <a:spLocks noGrp="1"/>
          </p:cNvSpPr>
          <p:nvPr>
            <p:ph idx="1"/>
          </p:nvPr>
        </p:nvSpPr>
        <p:spPr>
          <a:xfrm>
            <a:off x="1576917" y="2017713"/>
            <a:ext cx="9648131" cy="4114800"/>
          </a:xfrm>
        </p:spPr>
        <p:txBody>
          <a:bodyPr/>
          <a:lstStyle/>
          <a:p>
            <a:r>
              <a:rPr lang="zh-CN" altLang="en-US" sz="2400" b="0" dirty="0"/>
              <a:t>分析：</a:t>
            </a:r>
            <a:endParaRPr lang="en-US" altLang="zh-CN" sz="2400" b="0" dirty="0"/>
          </a:p>
          <a:p>
            <a:r>
              <a:rPr lang="zh-CN" altLang="en-US" sz="2400" b="0" dirty="0"/>
              <a:t>原材料实际成本</a:t>
            </a:r>
            <a:r>
              <a:rPr lang="en-US" altLang="zh-CN" sz="2400" b="0" dirty="0"/>
              <a:t>=</a:t>
            </a:r>
            <a:r>
              <a:rPr lang="zh-CN" altLang="en-US" sz="2400" b="0" dirty="0"/>
              <a:t>材料价款</a:t>
            </a:r>
            <a:r>
              <a:rPr lang="en-US" altLang="zh-CN" sz="2400" b="0" dirty="0"/>
              <a:t>+</a:t>
            </a:r>
            <a:r>
              <a:rPr lang="zh-CN" altLang="en-US" sz="2400" b="0" dirty="0"/>
              <a:t>进货运费价款</a:t>
            </a:r>
            <a:r>
              <a:rPr lang="en-US" altLang="zh-CN" sz="2400" b="0" dirty="0"/>
              <a:t>+</a:t>
            </a:r>
            <a:r>
              <a:rPr lang="zh-CN" altLang="en-US" sz="2400" b="0" dirty="0"/>
              <a:t>装卸费和运输保险费价款 </a:t>
            </a:r>
          </a:p>
          <a:p>
            <a:pPr marL="0" indent="0">
              <a:buNone/>
            </a:pPr>
            <a:r>
              <a:rPr lang="en-US" altLang="zh-CN" sz="2400" b="0" dirty="0"/>
              <a:t>  =100 000+1 000+500=101 500</a:t>
            </a:r>
            <a:r>
              <a:rPr lang="zh-CN" altLang="en-US" sz="2400" b="0" dirty="0"/>
              <a:t>（元） </a:t>
            </a:r>
          </a:p>
          <a:p>
            <a:r>
              <a:rPr lang="zh-CN" altLang="en-US" sz="2400" b="0" dirty="0"/>
              <a:t>增值税进项税额</a:t>
            </a:r>
            <a:r>
              <a:rPr lang="en-US" altLang="zh-CN" sz="2400" b="0" dirty="0"/>
              <a:t>=13 000+90+30=13 120</a:t>
            </a:r>
            <a:r>
              <a:rPr lang="zh-CN" altLang="en-US" sz="2400" b="0" dirty="0"/>
              <a:t>（元） </a:t>
            </a:r>
          </a:p>
        </p:txBody>
      </p:sp>
    </p:spTree>
    <p:extLst>
      <p:ext uri="{BB962C8B-B14F-4D97-AF65-F5344CB8AC3E}">
        <p14:creationId xmlns:p14="http://schemas.microsoft.com/office/powerpoint/2010/main" val="31876512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3218" name="Rectangle 2"/>
          <p:cNvSpPr>
            <a:spLocks noGrp="1" noChangeArrowheads="1"/>
          </p:cNvSpPr>
          <p:nvPr>
            <p:ph type="body" idx="1"/>
          </p:nvPr>
        </p:nvSpPr>
        <p:spPr>
          <a:xfrm>
            <a:off x="1602684" y="1908941"/>
            <a:ext cx="11305117" cy="5295900"/>
          </a:xfrm>
        </p:spPr>
        <p:txBody>
          <a:bodyPr/>
          <a:lstStyle/>
          <a:p>
            <a:pPr eaLnBrk="1" hangingPunct="1"/>
            <a:r>
              <a:rPr lang="zh-CN" altLang="en-US" sz="2800" kern="1200" dirty="0"/>
              <a:t>购进原材料发生短缺和损耗</a:t>
            </a:r>
            <a:endParaRPr lang="en-US" altLang="zh-CN" sz="2400" dirty="0">
              <a:solidFill>
                <a:srgbClr val="BD15C1"/>
              </a:solidFill>
              <a:latin typeface="黑体" pitchFamily="2" charset="-122"/>
            </a:endParaRPr>
          </a:p>
          <a:p>
            <a:pPr eaLnBrk="1" hangingPunct="1"/>
            <a:r>
              <a:rPr lang="en-US" altLang="zh-CN" sz="2400" dirty="0">
                <a:solidFill>
                  <a:srgbClr val="BD15C1"/>
                </a:solidFill>
                <a:latin typeface="黑体" pitchFamily="2" charset="-122"/>
              </a:rPr>
              <a:t> </a:t>
            </a:r>
            <a:r>
              <a:rPr lang="zh-CN" altLang="en-US" sz="2000" dirty="0">
                <a:solidFill>
                  <a:schemeClr val="tx2"/>
                </a:solidFill>
                <a:ea typeface="楷体_GB2312"/>
              </a:rPr>
              <a:t>批准前：</a:t>
            </a:r>
            <a:endParaRPr lang="en-US" altLang="zh-CN" sz="2000" dirty="0">
              <a:solidFill>
                <a:schemeClr val="tx2"/>
              </a:solidFill>
              <a:ea typeface="楷体_GB2312"/>
            </a:endParaRPr>
          </a:p>
          <a:p>
            <a:pPr marL="0" indent="0" eaLnBrk="1" hangingPunct="1">
              <a:buNone/>
            </a:pPr>
            <a:r>
              <a:rPr lang="zh-CN" altLang="en-US" sz="2000" dirty="0">
                <a:ea typeface="楷体_GB2312"/>
              </a:rPr>
              <a:t>借：待处理财产损溢</a:t>
            </a:r>
          </a:p>
          <a:p>
            <a:pPr marL="0" indent="0" eaLnBrk="1" hangingPunct="1">
              <a:buNone/>
            </a:pPr>
            <a:r>
              <a:rPr lang="zh-CN" altLang="en-US" sz="2000" dirty="0">
                <a:ea typeface="楷体_GB2312"/>
              </a:rPr>
              <a:t>    贷：在途物资</a:t>
            </a:r>
            <a:r>
              <a:rPr lang="zh-CN" altLang="en-US" sz="2400" dirty="0"/>
              <a:t>         </a:t>
            </a:r>
          </a:p>
          <a:p>
            <a:pPr eaLnBrk="1" hangingPunct="1"/>
            <a:r>
              <a:rPr lang="zh-CN" altLang="en-US" sz="2400" dirty="0">
                <a:solidFill>
                  <a:srgbClr val="BD15C1"/>
                </a:solidFill>
              </a:rPr>
              <a:t>   </a:t>
            </a:r>
            <a:r>
              <a:rPr lang="zh-CN" altLang="en-US" sz="2000" dirty="0">
                <a:solidFill>
                  <a:schemeClr val="tx2"/>
                </a:solidFill>
                <a:ea typeface="楷体_GB2312"/>
              </a:rPr>
              <a:t>批准后：</a:t>
            </a:r>
            <a:endParaRPr lang="en-US" altLang="zh-CN" sz="2000" dirty="0">
              <a:solidFill>
                <a:schemeClr val="tx2"/>
              </a:solidFill>
              <a:ea typeface="楷体_GB2312"/>
            </a:endParaRPr>
          </a:p>
          <a:p>
            <a:pPr marL="0" indent="0" eaLnBrk="1" hangingPunct="1">
              <a:buNone/>
            </a:pPr>
            <a:r>
              <a:rPr lang="zh-CN" altLang="en-US" sz="2000" dirty="0">
                <a:ea typeface="楷体_GB2312"/>
              </a:rPr>
              <a:t>借：原材料（定额内）</a:t>
            </a:r>
          </a:p>
          <a:p>
            <a:pPr marL="0" indent="0" eaLnBrk="1" hangingPunct="1">
              <a:buNone/>
            </a:pPr>
            <a:r>
              <a:rPr lang="zh-CN" altLang="en-US" sz="2000" dirty="0">
                <a:ea typeface="楷体_GB2312"/>
              </a:rPr>
              <a:t>    管理费用（超定额）</a:t>
            </a:r>
          </a:p>
          <a:p>
            <a:pPr marL="0" indent="0" eaLnBrk="1" hangingPunct="1">
              <a:buNone/>
            </a:pPr>
            <a:r>
              <a:rPr lang="zh-CN" altLang="en-US" sz="2000" dirty="0">
                <a:ea typeface="楷体_GB2312"/>
              </a:rPr>
              <a:t>    其他应收款、应收账款（能获得赔偿）</a:t>
            </a:r>
          </a:p>
          <a:p>
            <a:pPr marL="0" indent="0" eaLnBrk="1" hangingPunct="1">
              <a:buNone/>
            </a:pPr>
            <a:r>
              <a:rPr lang="zh-CN" altLang="en-US" sz="2000" dirty="0">
                <a:ea typeface="楷体_GB2312"/>
              </a:rPr>
              <a:t>    营业外支出（非常损失）</a:t>
            </a:r>
          </a:p>
          <a:p>
            <a:pPr marL="0" indent="0" eaLnBrk="1" hangingPunct="1">
              <a:buNone/>
            </a:pPr>
            <a:r>
              <a:rPr lang="zh-CN" altLang="en-US" sz="2000" dirty="0">
                <a:ea typeface="楷体_GB2312"/>
              </a:rPr>
              <a:t>    贷：待处理财产损溢</a:t>
            </a:r>
            <a:endParaRPr lang="en-US" altLang="zh-CN" sz="2000" dirty="0">
              <a:ea typeface="楷体_GB2312"/>
            </a:endParaRPr>
          </a:p>
          <a:p>
            <a:pPr marL="0" indent="0" eaLnBrk="1" hangingPunct="1">
              <a:buNone/>
            </a:pPr>
            <a:r>
              <a:rPr lang="zh-CN" altLang="en-US" sz="2000" dirty="0">
                <a:ea typeface="楷体_GB2312"/>
              </a:rPr>
              <a:t>        应交税费</a:t>
            </a:r>
            <a:r>
              <a:rPr lang="en-US" altLang="zh-CN" sz="2000" dirty="0">
                <a:ea typeface="楷体_GB2312"/>
              </a:rPr>
              <a:t>—</a:t>
            </a:r>
            <a:r>
              <a:rPr lang="zh-CN" altLang="en-US" sz="2000" dirty="0">
                <a:ea typeface="楷体_GB2312"/>
              </a:rPr>
              <a:t>应交增值税（进项税额转出）</a:t>
            </a:r>
          </a:p>
          <a:p>
            <a:pPr eaLnBrk="1" hangingPunct="1"/>
            <a:r>
              <a:rPr lang="zh-CN" altLang="en-US" sz="2400" dirty="0">
                <a:hlinkClick r:id="rId3" action="ppaction://hlinkpres?slideindex=1&amp;slidetitle="/>
              </a:rPr>
              <a:t>示例：外购存货存在损耗时的初始计量</a:t>
            </a:r>
            <a:endParaRPr lang="zh-CN" altLang="en-US" sz="2400" dirty="0"/>
          </a:p>
        </p:txBody>
      </p:sp>
    </p:spTree>
    <p:extLst>
      <p:ext uri="{BB962C8B-B14F-4D97-AF65-F5344CB8AC3E}">
        <p14:creationId xmlns:p14="http://schemas.microsoft.com/office/powerpoint/2010/main" val="56883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3218">
                                            <p:txEl>
                                              <p:pRg st="2" end="2"/>
                                            </p:txEl>
                                          </p:spTgt>
                                        </p:tgtEl>
                                        <p:attrNameLst>
                                          <p:attrName>style.visibility</p:attrName>
                                        </p:attrNameLst>
                                      </p:cBhvr>
                                      <p:to>
                                        <p:strVal val="visible"/>
                                      </p:to>
                                    </p:set>
                                    <p:animEffect transition="in" filter="blinds(horizontal)">
                                      <p:cBhvr>
                                        <p:cTn id="7" dur="500"/>
                                        <p:tgtEl>
                                          <p:spTgt spid="393218">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93218">
                                            <p:txEl>
                                              <p:pRg st="3" end="3"/>
                                            </p:txEl>
                                          </p:spTgt>
                                        </p:tgtEl>
                                        <p:attrNameLst>
                                          <p:attrName>style.visibility</p:attrName>
                                        </p:attrNameLst>
                                      </p:cBhvr>
                                      <p:to>
                                        <p:strVal val="visible"/>
                                      </p:to>
                                    </p:set>
                                    <p:animEffect transition="in" filter="blinds(horizontal)">
                                      <p:cBhvr>
                                        <p:cTn id="10" dur="500"/>
                                        <p:tgtEl>
                                          <p:spTgt spid="393218">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93218">
                                            <p:txEl>
                                              <p:pRg st="5" end="5"/>
                                            </p:txEl>
                                          </p:spTgt>
                                        </p:tgtEl>
                                        <p:attrNameLst>
                                          <p:attrName>style.visibility</p:attrName>
                                        </p:attrNameLst>
                                      </p:cBhvr>
                                      <p:to>
                                        <p:strVal val="visible"/>
                                      </p:to>
                                    </p:set>
                                    <p:animEffect transition="in" filter="blinds(horizontal)">
                                      <p:cBhvr>
                                        <p:cTn id="15" dur="500"/>
                                        <p:tgtEl>
                                          <p:spTgt spid="393218">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93218">
                                            <p:txEl>
                                              <p:pRg st="6" end="6"/>
                                            </p:txEl>
                                          </p:spTgt>
                                        </p:tgtEl>
                                        <p:attrNameLst>
                                          <p:attrName>style.visibility</p:attrName>
                                        </p:attrNameLst>
                                      </p:cBhvr>
                                      <p:to>
                                        <p:strVal val="visible"/>
                                      </p:to>
                                    </p:set>
                                    <p:animEffect transition="in" filter="blinds(horizontal)">
                                      <p:cBhvr>
                                        <p:cTn id="18" dur="500"/>
                                        <p:tgtEl>
                                          <p:spTgt spid="393218">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93218">
                                            <p:txEl>
                                              <p:pRg st="7" end="7"/>
                                            </p:txEl>
                                          </p:spTgt>
                                        </p:tgtEl>
                                        <p:attrNameLst>
                                          <p:attrName>style.visibility</p:attrName>
                                        </p:attrNameLst>
                                      </p:cBhvr>
                                      <p:to>
                                        <p:strVal val="visible"/>
                                      </p:to>
                                    </p:set>
                                    <p:animEffect transition="in" filter="blinds(horizontal)">
                                      <p:cBhvr>
                                        <p:cTn id="21" dur="500"/>
                                        <p:tgtEl>
                                          <p:spTgt spid="393218">
                                            <p:txEl>
                                              <p:pRg st="7" end="7"/>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93218">
                                            <p:txEl>
                                              <p:pRg st="8" end="8"/>
                                            </p:txEl>
                                          </p:spTgt>
                                        </p:tgtEl>
                                        <p:attrNameLst>
                                          <p:attrName>style.visibility</p:attrName>
                                        </p:attrNameLst>
                                      </p:cBhvr>
                                      <p:to>
                                        <p:strVal val="visible"/>
                                      </p:to>
                                    </p:set>
                                    <p:animEffect transition="in" filter="blinds(horizontal)">
                                      <p:cBhvr>
                                        <p:cTn id="24" dur="500"/>
                                        <p:tgtEl>
                                          <p:spTgt spid="393218">
                                            <p:txEl>
                                              <p:pRg st="8" end="8"/>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393218">
                                            <p:txEl>
                                              <p:pRg st="9" end="9"/>
                                            </p:txEl>
                                          </p:spTgt>
                                        </p:tgtEl>
                                        <p:attrNameLst>
                                          <p:attrName>style.visibility</p:attrName>
                                        </p:attrNameLst>
                                      </p:cBhvr>
                                      <p:to>
                                        <p:strVal val="visible"/>
                                      </p:to>
                                    </p:set>
                                    <p:animEffect transition="in" filter="blinds(horizontal)">
                                      <p:cBhvr>
                                        <p:cTn id="27" dur="500"/>
                                        <p:tgtEl>
                                          <p:spTgt spid="393218">
                                            <p:txEl>
                                              <p:pRg st="9" end="9"/>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93218">
                                            <p:txEl>
                                              <p:pRg st="10" end="10"/>
                                            </p:txEl>
                                          </p:spTgt>
                                        </p:tgtEl>
                                        <p:attrNameLst>
                                          <p:attrName>style.visibility</p:attrName>
                                        </p:attrNameLst>
                                      </p:cBhvr>
                                      <p:to>
                                        <p:strVal val="visible"/>
                                      </p:to>
                                    </p:set>
                                    <p:animEffect transition="in" filter="blinds(horizontal)">
                                      <p:cBhvr>
                                        <p:cTn id="30" dur="500"/>
                                        <p:tgtEl>
                                          <p:spTgt spid="393218">
                                            <p:txEl>
                                              <p:pRg st="10" end="1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93218">
                                            <p:txEl>
                                              <p:pRg st="11" end="11"/>
                                            </p:txEl>
                                          </p:spTgt>
                                        </p:tgtEl>
                                        <p:attrNameLst>
                                          <p:attrName>style.visibility</p:attrName>
                                        </p:attrNameLst>
                                      </p:cBhvr>
                                      <p:to>
                                        <p:strVal val="visible"/>
                                      </p:to>
                                    </p:set>
                                    <p:animEffect transition="in" filter="blinds(horizontal)">
                                      <p:cBhvr>
                                        <p:cTn id="35" dur="500"/>
                                        <p:tgtEl>
                                          <p:spTgt spid="39321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endParaRPr lang="zh-CN" altLang="zh-CN"/>
          </a:p>
        </p:txBody>
      </p:sp>
      <p:sp>
        <p:nvSpPr>
          <p:cNvPr id="55299" name="Rectangle 3"/>
          <p:cNvSpPr>
            <a:spLocks noGrp="1" noChangeArrowheads="1"/>
          </p:cNvSpPr>
          <p:nvPr>
            <p:ph type="body" idx="1"/>
          </p:nvPr>
        </p:nvSpPr>
        <p:spPr/>
        <p:txBody>
          <a:bodyPr/>
          <a:lstStyle/>
          <a:p>
            <a:pPr eaLnBrk="1" hangingPunct="1">
              <a:lnSpc>
                <a:spcPct val="90000"/>
              </a:lnSpc>
            </a:pPr>
            <a:r>
              <a:rPr lang="zh-CN" altLang="en-US" sz="2400" dirty="0">
                <a:latin typeface="+mn-ea"/>
                <a:ea typeface="+mn-ea"/>
              </a:rPr>
              <a:t>（</a:t>
            </a:r>
            <a:r>
              <a:rPr lang="en-US" altLang="zh-CN" sz="2400" dirty="0">
                <a:latin typeface="+mn-ea"/>
                <a:ea typeface="+mn-ea"/>
              </a:rPr>
              <a:t>2</a:t>
            </a:r>
            <a:r>
              <a:rPr lang="zh-CN" altLang="en-US" sz="2400" dirty="0">
                <a:latin typeface="+mn-ea"/>
                <a:ea typeface="+mn-ea"/>
              </a:rPr>
              <a:t>）自制原材料</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借：原材料</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贷：生产成本</a:t>
            </a:r>
          </a:p>
          <a:p>
            <a:pPr eaLnBrk="1" hangingPunct="1">
              <a:lnSpc>
                <a:spcPct val="90000"/>
              </a:lnSpc>
            </a:pPr>
            <a:r>
              <a:rPr lang="zh-CN" altLang="en-US" sz="2400" dirty="0">
                <a:latin typeface="+mn-ea"/>
                <a:ea typeface="+mn-ea"/>
              </a:rPr>
              <a:t>（</a:t>
            </a:r>
            <a:r>
              <a:rPr lang="en-US" altLang="zh-CN" sz="2400" dirty="0">
                <a:latin typeface="+mn-ea"/>
                <a:ea typeface="+mn-ea"/>
              </a:rPr>
              <a:t>3</a:t>
            </a:r>
            <a:r>
              <a:rPr lang="zh-CN" altLang="en-US" sz="2400" dirty="0">
                <a:latin typeface="+mn-ea"/>
                <a:ea typeface="+mn-ea"/>
              </a:rPr>
              <a:t>）委托外单位加工的原材料</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借：原材料</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贷：委托加工物资</a:t>
            </a:r>
          </a:p>
          <a:p>
            <a:pPr eaLnBrk="1" hangingPunct="1">
              <a:lnSpc>
                <a:spcPct val="90000"/>
              </a:lnSpc>
            </a:pPr>
            <a:r>
              <a:rPr lang="zh-CN" altLang="en-US" sz="2400" dirty="0">
                <a:latin typeface="+mn-ea"/>
                <a:ea typeface="+mn-ea"/>
              </a:rPr>
              <a:t>（</a:t>
            </a:r>
            <a:r>
              <a:rPr lang="en-US" altLang="zh-CN" sz="2400" dirty="0">
                <a:latin typeface="+mn-ea"/>
                <a:ea typeface="+mn-ea"/>
              </a:rPr>
              <a:t>4</a:t>
            </a:r>
            <a:r>
              <a:rPr lang="zh-CN" altLang="en-US" sz="2400" dirty="0">
                <a:latin typeface="+mn-ea"/>
                <a:ea typeface="+mn-ea"/>
              </a:rPr>
              <a:t>）投资者投入的原材料</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借：原材料（投资合同或协议约定价格）</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应交税费</a:t>
            </a:r>
            <a:r>
              <a:rPr lang="en-US" altLang="zh-CN" sz="2000" kern="1200" dirty="0">
                <a:latin typeface="楷体_GB2312" panose="02010609030101010101" pitchFamily="49" charset="-122"/>
                <a:ea typeface="楷体_GB2312" panose="02010609030101010101" pitchFamily="49" charset="-122"/>
                <a:cs typeface="+mn-cs"/>
              </a:rPr>
              <a:t>—</a:t>
            </a:r>
            <a:r>
              <a:rPr lang="zh-CN" altLang="en-US" sz="2000" kern="1200" dirty="0">
                <a:latin typeface="楷体_GB2312" panose="02010609030101010101" pitchFamily="49" charset="-122"/>
                <a:ea typeface="楷体_GB2312" panose="02010609030101010101" pitchFamily="49" charset="-122"/>
                <a:cs typeface="+mn-cs"/>
              </a:rPr>
              <a:t>应交增值税（进项税额）</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贷：实收资本</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资本公积       </a:t>
            </a:r>
          </a:p>
        </p:txBody>
      </p:sp>
    </p:spTree>
    <p:extLst>
      <p:ext uri="{BB962C8B-B14F-4D97-AF65-F5344CB8AC3E}">
        <p14:creationId xmlns:p14="http://schemas.microsoft.com/office/powerpoint/2010/main" val="51739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5266" name="Rectangle 2"/>
          <p:cNvSpPr>
            <a:spLocks noGrp="1" noChangeArrowheads="1"/>
          </p:cNvSpPr>
          <p:nvPr>
            <p:ph type="body" idx="1"/>
          </p:nvPr>
        </p:nvSpPr>
        <p:spPr>
          <a:xfrm>
            <a:off x="1359483" y="1907627"/>
            <a:ext cx="7687733" cy="4211639"/>
          </a:xfrm>
        </p:spPr>
        <p:txBody>
          <a:bodyPr/>
          <a:lstStyle/>
          <a:p>
            <a:pPr lvl="1" indent="-342900" eaLnBrk="1" hangingPunct="1">
              <a:buSzPct val="90000"/>
            </a:pPr>
            <a:r>
              <a:rPr lang="en-US" altLang="zh-CN" dirty="0"/>
              <a:t>2</a:t>
            </a:r>
            <a:r>
              <a:rPr lang="zh-CN" altLang="en-US" dirty="0"/>
              <a:t>、发出原材料</a:t>
            </a:r>
            <a:endParaRPr lang="zh-CN" altLang="en-US" dirty="0">
              <a:latin typeface="黑体" pitchFamily="2" charset="-122"/>
            </a:endParaRPr>
          </a:p>
          <a:p>
            <a:pPr marL="800100" lvl="2" indent="0" defTabSz="762000" eaLnBrk="1" hangingPunct="1">
              <a:lnSpc>
                <a:spcPct val="90000"/>
              </a:lnSpc>
              <a:spcBef>
                <a:spcPct val="50000"/>
              </a:spcBef>
              <a:buNone/>
            </a:pPr>
            <a:r>
              <a:rPr lang="zh-CN" altLang="en-US" sz="2800" dirty="0"/>
              <a:t>   </a:t>
            </a:r>
            <a:r>
              <a:rPr lang="zh-CN" altLang="en-US" kern="1200" dirty="0">
                <a:latin typeface="楷体_GB2312" panose="02010609030101010101" pitchFamily="49" charset="-122"/>
                <a:ea typeface="楷体_GB2312" panose="02010609030101010101" pitchFamily="49" charset="-122"/>
                <a:cs typeface="+mn-cs"/>
              </a:rPr>
              <a:t>借：生产成本（产品生产）</a:t>
            </a:r>
          </a:p>
          <a:p>
            <a:pPr marL="800100" lvl="2" indent="0" defTabSz="762000" eaLnBrk="1" hangingPunct="1">
              <a:lnSpc>
                <a:spcPct val="90000"/>
              </a:lnSpc>
              <a:spcBef>
                <a:spcPct val="50000"/>
              </a:spcBef>
              <a:buNone/>
            </a:pPr>
            <a:r>
              <a:rPr lang="zh-CN" altLang="en-US" kern="1200" dirty="0">
                <a:latin typeface="楷体_GB2312" panose="02010609030101010101" pitchFamily="49" charset="-122"/>
                <a:ea typeface="楷体_GB2312" panose="02010609030101010101" pitchFamily="49" charset="-122"/>
                <a:cs typeface="+mn-cs"/>
              </a:rPr>
              <a:t>      制造费用（生产车间）</a:t>
            </a:r>
          </a:p>
          <a:p>
            <a:pPr marL="800100" lvl="2" indent="0" defTabSz="762000" eaLnBrk="1" hangingPunct="1">
              <a:lnSpc>
                <a:spcPct val="90000"/>
              </a:lnSpc>
              <a:spcBef>
                <a:spcPct val="50000"/>
              </a:spcBef>
              <a:buNone/>
            </a:pPr>
            <a:r>
              <a:rPr lang="zh-CN" altLang="en-US" kern="1200" dirty="0">
                <a:latin typeface="楷体_GB2312" panose="02010609030101010101" pitchFamily="49" charset="-122"/>
                <a:ea typeface="楷体_GB2312" panose="02010609030101010101" pitchFamily="49" charset="-122"/>
                <a:cs typeface="+mn-cs"/>
              </a:rPr>
              <a:t>      销售费用（销售部门）</a:t>
            </a:r>
          </a:p>
          <a:p>
            <a:pPr marL="800100" lvl="2" indent="0" defTabSz="762000" eaLnBrk="1" hangingPunct="1">
              <a:lnSpc>
                <a:spcPct val="90000"/>
              </a:lnSpc>
              <a:spcBef>
                <a:spcPct val="50000"/>
              </a:spcBef>
              <a:buNone/>
            </a:pPr>
            <a:r>
              <a:rPr lang="zh-CN" altLang="en-US" kern="1200" dirty="0">
                <a:latin typeface="楷体_GB2312" panose="02010609030101010101" pitchFamily="49" charset="-122"/>
                <a:ea typeface="楷体_GB2312" panose="02010609030101010101" pitchFamily="49" charset="-122"/>
                <a:cs typeface="+mn-cs"/>
              </a:rPr>
              <a:t>      管理费用（管理部门）</a:t>
            </a:r>
          </a:p>
          <a:p>
            <a:pPr marL="800100" lvl="2" indent="0" defTabSz="762000" eaLnBrk="1" hangingPunct="1">
              <a:lnSpc>
                <a:spcPct val="90000"/>
              </a:lnSpc>
              <a:spcBef>
                <a:spcPct val="50000"/>
              </a:spcBef>
              <a:buNone/>
            </a:pPr>
            <a:r>
              <a:rPr lang="zh-CN" altLang="en-US" kern="1200" dirty="0">
                <a:latin typeface="楷体_GB2312" panose="02010609030101010101" pitchFamily="49" charset="-122"/>
                <a:ea typeface="楷体_GB2312" panose="02010609030101010101" pitchFamily="49" charset="-122"/>
                <a:cs typeface="+mn-cs"/>
              </a:rPr>
              <a:t>      在建工程（工程建设）</a:t>
            </a:r>
          </a:p>
          <a:p>
            <a:pPr marL="800100" lvl="2" indent="0" defTabSz="762000" eaLnBrk="1" hangingPunct="1">
              <a:lnSpc>
                <a:spcPct val="90000"/>
              </a:lnSpc>
              <a:spcBef>
                <a:spcPct val="50000"/>
              </a:spcBef>
              <a:buNone/>
            </a:pPr>
            <a:r>
              <a:rPr lang="zh-CN" altLang="en-US" kern="1200" dirty="0">
                <a:latin typeface="楷体_GB2312" panose="02010609030101010101" pitchFamily="49" charset="-122"/>
                <a:ea typeface="楷体_GB2312" panose="02010609030101010101" pitchFamily="49" charset="-122"/>
                <a:cs typeface="+mn-cs"/>
              </a:rPr>
              <a:t>      其他业务成本（售出）</a:t>
            </a:r>
          </a:p>
          <a:p>
            <a:pPr marL="800100" lvl="2" indent="0" defTabSz="762000" eaLnBrk="1" hangingPunct="1">
              <a:lnSpc>
                <a:spcPct val="90000"/>
              </a:lnSpc>
              <a:spcBef>
                <a:spcPct val="50000"/>
              </a:spcBef>
              <a:buNone/>
            </a:pPr>
            <a:r>
              <a:rPr lang="zh-CN" altLang="en-US" kern="1200" dirty="0">
                <a:latin typeface="楷体_GB2312" panose="02010609030101010101" pitchFamily="49" charset="-122"/>
                <a:ea typeface="楷体_GB2312" panose="02010609030101010101" pitchFamily="49" charset="-122"/>
                <a:cs typeface="+mn-cs"/>
              </a:rPr>
              <a:t>      贷：原材料</a:t>
            </a:r>
          </a:p>
        </p:txBody>
      </p:sp>
    </p:spTree>
    <p:extLst>
      <p:ext uri="{BB962C8B-B14F-4D97-AF65-F5344CB8AC3E}">
        <p14:creationId xmlns:p14="http://schemas.microsoft.com/office/powerpoint/2010/main" val="1177627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414883" y="813184"/>
            <a:ext cx="9380118" cy="869950"/>
          </a:xfrm>
        </p:spPr>
        <p:txBody>
          <a:bodyPr/>
          <a:lstStyle/>
          <a:p>
            <a:pPr algn="just" eaLnBrk="1" hangingPunct="1"/>
            <a:r>
              <a:rPr lang="zh-CN" altLang="en-US" dirty="0"/>
              <a:t>二、按计划成本计价的原材料核算</a:t>
            </a:r>
          </a:p>
        </p:txBody>
      </p:sp>
      <p:sp>
        <p:nvSpPr>
          <p:cNvPr id="397315" name="Rectangle 3"/>
          <p:cNvSpPr>
            <a:spLocks noGrp="1" noChangeArrowheads="1"/>
          </p:cNvSpPr>
          <p:nvPr>
            <p:ph type="body" idx="1"/>
          </p:nvPr>
        </p:nvSpPr>
        <p:spPr>
          <a:xfrm>
            <a:off x="1167927" y="2137295"/>
            <a:ext cx="9687984" cy="4233863"/>
          </a:xfrm>
        </p:spPr>
        <p:txBody>
          <a:bodyPr/>
          <a:lstStyle/>
          <a:p>
            <a:pPr algn="just" eaLnBrk="1" hangingPunct="1"/>
            <a:r>
              <a:rPr lang="zh-CN" altLang="en-US" sz="2800" dirty="0"/>
              <a:t>主要特点：从材料的收付凭证到明细账和总分类账，全部按计划成本计价。</a:t>
            </a:r>
          </a:p>
          <a:p>
            <a:pPr algn="just" eaLnBrk="1" hangingPunct="1">
              <a:buFont typeface="Wingdings" pitchFamily="2" charset="2"/>
              <a:buChar char="v"/>
            </a:pPr>
            <a:endParaRPr lang="zh-CN" altLang="en-US" sz="2400" dirty="0">
              <a:latin typeface="黑体" pitchFamily="2" charset="-122"/>
            </a:endParaRPr>
          </a:p>
          <a:p>
            <a:pPr algn="just" eaLnBrk="1" hangingPunct="1"/>
            <a:r>
              <a:rPr lang="zh-CN" altLang="en-US" dirty="0"/>
              <a:t>（一）账户的设置</a:t>
            </a:r>
          </a:p>
          <a:p>
            <a:pPr marL="0" indent="0" algn="just" eaLnBrk="1" hangingPunct="1">
              <a:buNone/>
            </a:pPr>
            <a:endParaRPr lang="zh-CN" altLang="en-US" sz="1800" dirty="0"/>
          </a:p>
          <a:p>
            <a:pPr algn="just" eaLnBrk="1" hangingPunct="1"/>
            <a:r>
              <a:rPr lang="zh-CN" altLang="en-US" sz="2400" dirty="0">
                <a:latin typeface="黑体" pitchFamily="2" charset="-122"/>
              </a:rPr>
              <a:t>    </a:t>
            </a:r>
            <a:r>
              <a:rPr lang="zh-CN" altLang="en-US" sz="2400" dirty="0">
                <a:solidFill>
                  <a:srgbClr val="FF00FF"/>
                </a:solidFill>
                <a:latin typeface="黑体" pitchFamily="2" charset="-122"/>
              </a:rPr>
              <a:t>“原材料”账户</a:t>
            </a:r>
          </a:p>
          <a:p>
            <a:pPr algn="just" eaLnBrk="1" hangingPunct="1">
              <a:lnSpc>
                <a:spcPct val="90000"/>
              </a:lnSpc>
            </a:pPr>
            <a:r>
              <a:rPr lang="zh-CN" altLang="en-US" sz="2400" dirty="0">
                <a:solidFill>
                  <a:srgbClr val="FF00FF"/>
                </a:solidFill>
                <a:latin typeface="黑体" pitchFamily="2" charset="-122"/>
              </a:rPr>
              <a:t>    “材料采购”账户</a:t>
            </a:r>
          </a:p>
          <a:p>
            <a:pPr algn="just" eaLnBrk="1" hangingPunct="1">
              <a:lnSpc>
                <a:spcPct val="110000"/>
              </a:lnSpc>
            </a:pPr>
            <a:endParaRPr lang="zh-CN" altLang="en-US" sz="2400" dirty="0">
              <a:latin typeface="黑体" pitchFamily="2" charset="-122"/>
            </a:endParaRPr>
          </a:p>
          <a:p>
            <a:pPr algn="just" eaLnBrk="1" hangingPunct="1">
              <a:lnSpc>
                <a:spcPct val="110000"/>
              </a:lnSpc>
            </a:pPr>
            <a:r>
              <a:rPr lang="zh-CN" altLang="en-US" sz="2400" dirty="0">
                <a:latin typeface="黑体" pitchFamily="2" charset="-122"/>
              </a:rPr>
              <a:t>    “材料成本差异”账户</a:t>
            </a:r>
          </a:p>
        </p:txBody>
      </p:sp>
      <p:grpSp>
        <p:nvGrpSpPr>
          <p:cNvPr id="2" name="Group 16"/>
          <p:cNvGrpSpPr>
            <a:grpSpLocks/>
          </p:cNvGrpSpPr>
          <p:nvPr/>
        </p:nvGrpSpPr>
        <p:grpSpPr bwMode="auto">
          <a:xfrm>
            <a:off x="5459515" y="4304864"/>
            <a:ext cx="5287433" cy="822325"/>
            <a:chOff x="2642" y="1629"/>
            <a:chExt cx="2498" cy="518"/>
          </a:xfrm>
        </p:grpSpPr>
        <p:grpSp>
          <p:nvGrpSpPr>
            <p:cNvPr id="57349" name="Group 7"/>
            <p:cNvGrpSpPr>
              <a:grpSpLocks/>
            </p:cNvGrpSpPr>
            <p:nvPr/>
          </p:nvGrpSpPr>
          <p:grpSpPr bwMode="auto">
            <a:xfrm>
              <a:off x="3217" y="1667"/>
              <a:ext cx="1923" cy="480"/>
              <a:chOff x="2372" y="2225"/>
              <a:chExt cx="2680" cy="695"/>
            </a:xfrm>
          </p:grpSpPr>
          <p:pic>
            <p:nvPicPr>
              <p:cNvPr id="57352" name="Picture 8" descr="40-green"/>
              <p:cNvPicPr>
                <a:picLocks noChangeAspect="1" noChangeArrowheads="1"/>
              </p:cNvPicPr>
              <p:nvPr/>
            </p:nvPicPr>
            <p:blipFill>
              <a:blip r:embed="rId2" cstate="print"/>
              <a:srcRect/>
              <a:stretch>
                <a:fillRect/>
              </a:stretch>
            </p:blipFill>
            <p:spPr bwMode="auto">
              <a:xfrm>
                <a:off x="2372" y="2225"/>
                <a:ext cx="2680" cy="695"/>
              </a:xfrm>
              <a:prstGeom prst="rect">
                <a:avLst/>
              </a:prstGeom>
              <a:noFill/>
              <a:ln w="9525">
                <a:noFill/>
                <a:miter lim="800000"/>
                <a:headEnd/>
                <a:tailEnd/>
              </a:ln>
            </p:spPr>
          </p:pic>
          <p:sp>
            <p:nvSpPr>
              <p:cNvPr id="57353" name="Text Box 9"/>
              <p:cNvSpPr txBox="1">
                <a:spLocks noChangeArrowheads="1"/>
              </p:cNvSpPr>
              <p:nvPr/>
            </p:nvSpPr>
            <p:spPr bwMode="auto">
              <a:xfrm>
                <a:off x="2550" y="2341"/>
                <a:ext cx="2336" cy="393"/>
              </a:xfrm>
              <a:prstGeom prst="rect">
                <a:avLst/>
              </a:prstGeom>
              <a:noFill/>
              <a:ln w="12700">
                <a:noFill/>
                <a:miter lim="800000"/>
                <a:headEnd/>
                <a:tailEnd/>
              </a:ln>
            </p:spPr>
            <p:txBody>
              <a:bodyPr>
                <a:spAutoFit/>
              </a:bodyPr>
              <a:lstStyle/>
              <a:p>
                <a:pPr eaLnBrk="1" hangingPunct="1">
                  <a:spcBef>
                    <a:spcPct val="50000"/>
                  </a:spcBef>
                </a:pPr>
                <a:r>
                  <a:rPr kumimoji="1" lang="zh-CN" altLang="en-US" sz="2200" b="1">
                    <a:solidFill>
                      <a:schemeClr val="tx2"/>
                    </a:solidFill>
                    <a:effectLst/>
                    <a:latin typeface="宋体" charset="-122"/>
                  </a:rPr>
                  <a:t>与实际成本的区别</a:t>
                </a:r>
              </a:p>
            </p:txBody>
          </p:sp>
        </p:grpSp>
        <p:pic>
          <p:nvPicPr>
            <p:cNvPr id="57350" name="Picture 14" descr="GEL Freestyle Arrow MS-red"/>
            <p:cNvPicPr>
              <a:picLocks noChangeAspect="1" noChangeArrowheads="1"/>
            </p:cNvPicPr>
            <p:nvPr/>
          </p:nvPicPr>
          <p:blipFill>
            <a:blip r:embed="rId3" cstate="print"/>
            <a:srcRect/>
            <a:stretch>
              <a:fillRect/>
            </a:stretch>
          </p:blipFill>
          <p:spPr bwMode="auto">
            <a:xfrm rot="4258882">
              <a:off x="2699" y="1572"/>
              <a:ext cx="267" cy="382"/>
            </a:xfrm>
            <a:prstGeom prst="rect">
              <a:avLst/>
            </a:prstGeom>
            <a:noFill/>
            <a:ln w="9525">
              <a:noFill/>
              <a:miter lim="800000"/>
              <a:headEnd/>
              <a:tailEnd/>
            </a:ln>
          </p:spPr>
        </p:pic>
        <p:pic>
          <p:nvPicPr>
            <p:cNvPr id="57351" name="Picture 15" descr="GEL Freestyle Arrow MS-red"/>
            <p:cNvPicPr>
              <a:picLocks noChangeAspect="1" noChangeArrowheads="1"/>
            </p:cNvPicPr>
            <p:nvPr/>
          </p:nvPicPr>
          <p:blipFill>
            <a:blip r:embed="rId3" cstate="print"/>
            <a:srcRect/>
            <a:stretch>
              <a:fillRect/>
            </a:stretch>
          </p:blipFill>
          <p:spPr bwMode="auto">
            <a:xfrm rot="3112464">
              <a:off x="2855" y="1809"/>
              <a:ext cx="267" cy="382"/>
            </a:xfrm>
            <a:prstGeom prst="rect">
              <a:avLst/>
            </a:prstGeom>
            <a:noFill/>
            <a:ln w="9525">
              <a:noFill/>
              <a:miter lim="800000"/>
              <a:headEnd/>
              <a:tailEnd/>
            </a:ln>
          </p:spPr>
        </p:pic>
      </p:grpSp>
    </p:spTree>
    <p:extLst>
      <p:ext uri="{BB962C8B-B14F-4D97-AF65-F5344CB8AC3E}">
        <p14:creationId xmlns:p14="http://schemas.microsoft.com/office/powerpoint/2010/main" val="1196052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97315">
                                            <p:txEl>
                                              <p:pRg st="0" end="0"/>
                                            </p:txEl>
                                          </p:spTgt>
                                        </p:tgtEl>
                                        <p:attrNameLst>
                                          <p:attrName>style.visibility</p:attrName>
                                        </p:attrNameLst>
                                      </p:cBhvr>
                                      <p:to>
                                        <p:strVal val="visible"/>
                                      </p:to>
                                    </p:set>
                                    <p:anim calcmode="lin" valueType="num">
                                      <p:cBhvr>
                                        <p:cTn id="7" dur="500" fill="hold"/>
                                        <p:tgtEl>
                                          <p:spTgt spid="39731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97315">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397315">
                                            <p:txEl>
                                              <p:pRg st="2" end="2"/>
                                            </p:txEl>
                                          </p:spTgt>
                                        </p:tgtEl>
                                        <p:attrNameLst>
                                          <p:attrName>style.visibility</p:attrName>
                                        </p:attrNameLst>
                                      </p:cBhvr>
                                      <p:to>
                                        <p:strVal val="visible"/>
                                      </p:to>
                                    </p:set>
                                    <p:anim calcmode="lin" valueType="num">
                                      <p:cBhvr>
                                        <p:cTn id="13" dur="500" fill="hold"/>
                                        <p:tgtEl>
                                          <p:spTgt spid="397315">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397315">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397315">
                                            <p:txEl>
                                              <p:pRg st="4" end="4"/>
                                            </p:txEl>
                                          </p:spTgt>
                                        </p:tgtEl>
                                        <p:attrNameLst>
                                          <p:attrName>style.visibility</p:attrName>
                                        </p:attrNameLst>
                                      </p:cBhvr>
                                      <p:to>
                                        <p:strVal val="visible"/>
                                      </p:to>
                                    </p:set>
                                    <p:anim calcmode="lin" valueType="num">
                                      <p:cBhvr>
                                        <p:cTn id="19" dur="500" fill="hold"/>
                                        <p:tgtEl>
                                          <p:spTgt spid="397315">
                                            <p:txEl>
                                              <p:pRg st="4" end="4"/>
                                            </p:txEl>
                                          </p:spTgt>
                                        </p:tgtEl>
                                        <p:attrNameLst>
                                          <p:attrName>ppt_w</p:attrName>
                                        </p:attrNameLst>
                                      </p:cBhvr>
                                      <p:tavLst>
                                        <p:tav tm="0">
                                          <p:val>
                                            <p:fltVal val="0"/>
                                          </p:val>
                                        </p:tav>
                                        <p:tav tm="100000">
                                          <p:val>
                                            <p:strVal val="#ppt_w"/>
                                          </p:val>
                                        </p:tav>
                                      </p:tavLst>
                                    </p:anim>
                                    <p:anim calcmode="lin" valueType="num">
                                      <p:cBhvr>
                                        <p:cTn id="20" dur="500" fill="hold"/>
                                        <p:tgtEl>
                                          <p:spTgt spid="397315">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397315">
                                            <p:txEl>
                                              <p:pRg st="5" end="5"/>
                                            </p:txEl>
                                          </p:spTgt>
                                        </p:tgtEl>
                                        <p:attrNameLst>
                                          <p:attrName>style.visibility</p:attrName>
                                        </p:attrNameLst>
                                      </p:cBhvr>
                                      <p:to>
                                        <p:strVal val="visible"/>
                                      </p:to>
                                    </p:set>
                                    <p:anim calcmode="lin" valueType="num">
                                      <p:cBhvr>
                                        <p:cTn id="25" dur="500" fill="hold"/>
                                        <p:tgtEl>
                                          <p:spTgt spid="397315">
                                            <p:txEl>
                                              <p:pRg st="5" end="5"/>
                                            </p:txEl>
                                          </p:spTgt>
                                        </p:tgtEl>
                                        <p:attrNameLst>
                                          <p:attrName>ppt_w</p:attrName>
                                        </p:attrNameLst>
                                      </p:cBhvr>
                                      <p:tavLst>
                                        <p:tav tm="0">
                                          <p:val>
                                            <p:fltVal val="0"/>
                                          </p:val>
                                        </p:tav>
                                        <p:tav tm="100000">
                                          <p:val>
                                            <p:strVal val="#ppt_w"/>
                                          </p:val>
                                        </p:tav>
                                      </p:tavLst>
                                    </p:anim>
                                    <p:anim calcmode="lin" valueType="num">
                                      <p:cBhvr>
                                        <p:cTn id="26" dur="500" fill="hold"/>
                                        <p:tgtEl>
                                          <p:spTgt spid="397315">
                                            <p:txEl>
                                              <p:pRg st="5" end="5"/>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397315">
                                            <p:txEl>
                                              <p:pRg st="7" end="7"/>
                                            </p:txEl>
                                          </p:spTgt>
                                        </p:tgtEl>
                                        <p:attrNameLst>
                                          <p:attrName>style.visibility</p:attrName>
                                        </p:attrNameLst>
                                      </p:cBhvr>
                                      <p:to>
                                        <p:strVal val="visible"/>
                                      </p:to>
                                    </p:set>
                                    <p:anim calcmode="lin" valueType="num">
                                      <p:cBhvr>
                                        <p:cTn id="31" dur="500" fill="hold"/>
                                        <p:tgtEl>
                                          <p:spTgt spid="397315">
                                            <p:txEl>
                                              <p:pRg st="7" end="7"/>
                                            </p:txEl>
                                          </p:spTgt>
                                        </p:tgtEl>
                                        <p:attrNameLst>
                                          <p:attrName>ppt_w</p:attrName>
                                        </p:attrNameLst>
                                      </p:cBhvr>
                                      <p:tavLst>
                                        <p:tav tm="0">
                                          <p:val>
                                            <p:fltVal val="0"/>
                                          </p:val>
                                        </p:tav>
                                        <p:tav tm="100000">
                                          <p:val>
                                            <p:strVal val="#ppt_w"/>
                                          </p:val>
                                        </p:tav>
                                      </p:tavLst>
                                    </p:anim>
                                    <p:anim calcmode="lin" valueType="num">
                                      <p:cBhvr>
                                        <p:cTn id="32" dur="500" fill="hold"/>
                                        <p:tgtEl>
                                          <p:spTgt spid="397315">
                                            <p:txEl>
                                              <p:pRg st="7" end="7"/>
                                            </p:txEl>
                                          </p:spTgt>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diamond(in)">
                                      <p:cBhvr>
                                        <p:cTn id="3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5"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38"/>
          <p:cNvGrpSpPr>
            <a:grpSpLocks/>
          </p:cNvGrpSpPr>
          <p:nvPr/>
        </p:nvGrpSpPr>
        <p:grpSpPr bwMode="auto">
          <a:xfrm>
            <a:off x="6926924" y="1822450"/>
            <a:ext cx="3729566" cy="2176463"/>
            <a:chOff x="3228" y="726"/>
            <a:chExt cx="1762" cy="1371"/>
          </a:xfrm>
        </p:grpSpPr>
        <p:sp>
          <p:nvSpPr>
            <p:cNvPr id="398348" name="Text Box 12"/>
            <p:cNvSpPr txBox="1">
              <a:spLocks noChangeArrowheads="1"/>
            </p:cNvSpPr>
            <p:nvPr/>
          </p:nvSpPr>
          <p:spPr bwMode="auto">
            <a:xfrm>
              <a:off x="4041" y="1042"/>
              <a:ext cx="949" cy="510"/>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出库材料</a:t>
              </a:r>
            </a:p>
            <a:p>
              <a:pPr algn="l" eaLnBrk="1" hangingPunct="1">
                <a:lnSpc>
                  <a:spcPct val="40000"/>
                </a:lnSpc>
                <a:spcBef>
                  <a:spcPct val="50000"/>
                </a:spcBef>
                <a:defRPr/>
              </a:pPr>
              <a:r>
                <a:rPr lang="zh-CN" altLang="en-US" sz="2400" b="1" dirty="0">
                  <a:latin typeface="楷体_GB2312" panose="02010609030101010101" pitchFamily="49" charset="-122"/>
                  <a:ea typeface="楷体_GB2312" panose="02010609030101010101" pitchFamily="49" charset="-122"/>
                </a:rPr>
                <a:t>计划成本</a:t>
              </a:r>
            </a:p>
          </p:txBody>
        </p:sp>
        <p:sp>
          <p:nvSpPr>
            <p:cNvPr id="398338" name="Line 2"/>
            <p:cNvSpPr>
              <a:spLocks noChangeShapeType="1"/>
            </p:cNvSpPr>
            <p:nvPr/>
          </p:nvSpPr>
          <p:spPr bwMode="auto">
            <a:xfrm>
              <a:off x="3338" y="1007"/>
              <a:ext cx="1406" cy="0"/>
            </a:xfrm>
            <a:prstGeom prst="line">
              <a:avLst/>
            </a:prstGeom>
            <a:noFill/>
            <a:ln w="38100">
              <a:solidFill>
                <a:srgbClr val="FF0000"/>
              </a:solidFill>
              <a:round/>
              <a:headEnd/>
              <a:tailEnd/>
            </a:ln>
            <a:effectLst/>
          </p:spPr>
          <p:txBody>
            <a:bodyPr wrap="none" anchor="ctr"/>
            <a:lstStyle/>
            <a:p>
              <a:pPr>
                <a:defRPr/>
              </a:pPr>
              <a:endParaRPr lang="zh-CN" altLang="en-US"/>
            </a:p>
          </p:txBody>
        </p:sp>
        <p:sp>
          <p:nvSpPr>
            <p:cNvPr id="398341" name="Line 5"/>
            <p:cNvSpPr>
              <a:spLocks noChangeShapeType="1"/>
            </p:cNvSpPr>
            <p:nvPr/>
          </p:nvSpPr>
          <p:spPr bwMode="auto">
            <a:xfrm>
              <a:off x="4006" y="1007"/>
              <a:ext cx="0" cy="1090"/>
            </a:xfrm>
            <a:prstGeom prst="line">
              <a:avLst/>
            </a:prstGeom>
            <a:noFill/>
            <a:ln w="38100">
              <a:solidFill>
                <a:srgbClr val="FF0000"/>
              </a:solidFill>
              <a:round/>
              <a:headEnd/>
              <a:tailEnd/>
            </a:ln>
            <a:effectLst/>
          </p:spPr>
          <p:txBody>
            <a:bodyPr wrap="none" anchor="ctr"/>
            <a:lstStyle/>
            <a:p>
              <a:pPr>
                <a:defRPr/>
              </a:pPr>
              <a:endParaRPr lang="zh-CN" altLang="en-US"/>
            </a:p>
          </p:txBody>
        </p:sp>
        <p:sp>
          <p:nvSpPr>
            <p:cNvPr id="398342" name="Text Box 6"/>
            <p:cNvSpPr txBox="1">
              <a:spLocks noChangeArrowheads="1"/>
            </p:cNvSpPr>
            <p:nvPr/>
          </p:nvSpPr>
          <p:spPr bwMode="auto">
            <a:xfrm>
              <a:off x="3764" y="726"/>
              <a:ext cx="773" cy="252"/>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000" b="1" dirty="0">
                  <a:solidFill>
                    <a:schemeClr val="tx2"/>
                  </a:solidFill>
                  <a:latin typeface="黑体" panose="02010609060101010101" pitchFamily="49" charset="-122"/>
                  <a:ea typeface="楷体_GB2312"/>
                </a:rPr>
                <a:t>原材料</a:t>
              </a:r>
            </a:p>
          </p:txBody>
        </p:sp>
        <p:sp>
          <p:nvSpPr>
            <p:cNvPr id="398347" name="Text Box 11"/>
            <p:cNvSpPr txBox="1">
              <a:spLocks noChangeArrowheads="1"/>
            </p:cNvSpPr>
            <p:nvPr/>
          </p:nvSpPr>
          <p:spPr bwMode="auto">
            <a:xfrm>
              <a:off x="3228" y="1042"/>
              <a:ext cx="949" cy="510"/>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入库材料</a:t>
              </a:r>
            </a:p>
            <a:p>
              <a:pPr algn="l" eaLnBrk="1" hangingPunct="1">
                <a:lnSpc>
                  <a:spcPct val="40000"/>
                </a:lnSpc>
                <a:spcBef>
                  <a:spcPct val="50000"/>
                </a:spcBef>
                <a:defRPr/>
              </a:pPr>
              <a:r>
                <a:rPr lang="zh-CN" altLang="en-US" sz="2400" b="1" dirty="0">
                  <a:latin typeface="楷体_GB2312" panose="02010609030101010101" pitchFamily="49" charset="-122"/>
                  <a:ea typeface="楷体_GB2312" panose="02010609030101010101" pitchFamily="49" charset="-122"/>
                </a:rPr>
                <a:t>计划成本</a:t>
              </a:r>
            </a:p>
          </p:txBody>
        </p:sp>
        <p:sp>
          <p:nvSpPr>
            <p:cNvPr id="398349" name="Line 13"/>
            <p:cNvSpPr>
              <a:spLocks noChangeShapeType="1"/>
            </p:cNvSpPr>
            <p:nvPr/>
          </p:nvSpPr>
          <p:spPr bwMode="auto">
            <a:xfrm>
              <a:off x="3373" y="1570"/>
              <a:ext cx="1406" cy="0"/>
            </a:xfrm>
            <a:prstGeom prst="line">
              <a:avLst/>
            </a:prstGeom>
            <a:noFill/>
            <a:ln w="38100">
              <a:solidFill>
                <a:srgbClr val="FF0000"/>
              </a:solidFill>
              <a:round/>
              <a:headEnd/>
              <a:tailEnd/>
            </a:ln>
            <a:effectLst/>
          </p:spPr>
          <p:txBody>
            <a:bodyPr wrap="none" anchor="ctr"/>
            <a:lstStyle/>
            <a:p>
              <a:pPr>
                <a:defRPr/>
              </a:pPr>
              <a:endParaRPr lang="zh-CN" altLang="en-US"/>
            </a:p>
          </p:txBody>
        </p:sp>
        <p:sp>
          <p:nvSpPr>
            <p:cNvPr id="398350" name="Text Box 14"/>
            <p:cNvSpPr txBox="1">
              <a:spLocks noChangeArrowheads="1"/>
            </p:cNvSpPr>
            <p:nvPr/>
          </p:nvSpPr>
          <p:spPr bwMode="auto">
            <a:xfrm>
              <a:off x="3228" y="1570"/>
              <a:ext cx="949" cy="510"/>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库存材料</a:t>
              </a:r>
            </a:p>
            <a:p>
              <a:pPr algn="l" eaLnBrk="1" hangingPunct="1">
                <a:lnSpc>
                  <a:spcPct val="40000"/>
                </a:lnSpc>
                <a:spcBef>
                  <a:spcPct val="50000"/>
                </a:spcBef>
                <a:defRPr/>
              </a:pPr>
              <a:r>
                <a:rPr lang="zh-CN" altLang="en-US" sz="2400" b="1" dirty="0">
                  <a:latin typeface="楷体_GB2312" panose="02010609030101010101" pitchFamily="49" charset="-122"/>
                  <a:ea typeface="楷体_GB2312" panose="02010609030101010101" pitchFamily="49" charset="-122"/>
                </a:rPr>
                <a:t>计划成本</a:t>
              </a:r>
            </a:p>
          </p:txBody>
        </p:sp>
      </p:grpSp>
      <p:grpSp>
        <p:nvGrpSpPr>
          <p:cNvPr id="58371" name="Group 37"/>
          <p:cNvGrpSpPr>
            <a:grpSpLocks/>
          </p:cNvGrpSpPr>
          <p:nvPr/>
        </p:nvGrpSpPr>
        <p:grpSpPr bwMode="auto">
          <a:xfrm>
            <a:off x="1469571" y="1868487"/>
            <a:ext cx="4497917" cy="2241550"/>
            <a:chOff x="877" y="720"/>
            <a:chExt cx="1933" cy="1412"/>
          </a:xfrm>
        </p:grpSpPr>
        <p:sp>
          <p:nvSpPr>
            <p:cNvPr id="398339" name="Line 3"/>
            <p:cNvSpPr>
              <a:spLocks noChangeShapeType="1"/>
            </p:cNvSpPr>
            <p:nvPr/>
          </p:nvSpPr>
          <p:spPr bwMode="auto">
            <a:xfrm>
              <a:off x="1158" y="1007"/>
              <a:ext cx="1407" cy="0"/>
            </a:xfrm>
            <a:prstGeom prst="line">
              <a:avLst/>
            </a:prstGeom>
            <a:noFill/>
            <a:ln w="38100">
              <a:solidFill>
                <a:srgbClr val="FF0000"/>
              </a:solidFill>
              <a:round/>
              <a:headEnd/>
              <a:tailEnd/>
            </a:ln>
            <a:effectLst/>
          </p:spPr>
          <p:txBody>
            <a:bodyPr wrap="none" anchor="ctr"/>
            <a:lstStyle/>
            <a:p>
              <a:pPr>
                <a:defRPr/>
              </a:pPr>
              <a:endParaRPr lang="zh-CN" altLang="en-US"/>
            </a:p>
          </p:txBody>
        </p:sp>
        <p:sp>
          <p:nvSpPr>
            <p:cNvPr id="398343" name="Text Box 7"/>
            <p:cNvSpPr txBox="1">
              <a:spLocks noChangeArrowheads="1"/>
            </p:cNvSpPr>
            <p:nvPr/>
          </p:nvSpPr>
          <p:spPr bwMode="auto">
            <a:xfrm>
              <a:off x="1555" y="720"/>
              <a:ext cx="949" cy="252"/>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000" b="1" dirty="0">
                  <a:solidFill>
                    <a:schemeClr val="tx2"/>
                  </a:solidFill>
                  <a:latin typeface="黑体" panose="02010609060101010101" pitchFamily="49" charset="-122"/>
                  <a:ea typeface="楷体_GB2312"/>
                </a:rPr>
                <a:t>材料采购</a:t>
              </a:r>
            </a:p>
          </p:txBody>
        </p:sp>
        <p:sp>
          <p:nvSpPr>
            <p:cNvPr id="398344" name="Line 8"/>
            <p:cNvSpPr>
              <a:spLocks noChangeShapeType="1"/>
            </p:cNvSpPr>
            <p:nvPr/>
          </p:nvSpPr>
          <p:spPr bwMode="auto">
            <a:xfrm>
              <a:off x="1826" y="1007"/>
              <a:ext cx="0" cy="1055"/>
            </a:xfrm>
            <a:prstGeom prst="line">
              <a:avLst/>
            </a:prstGeom>
            <a:noFill/>
            <a:ln w="38100">
              <a:solidFill>
                <a:srgbClr val="FF0000"/>
              </a:solidFill>
              <a:round/>
              <a:headEnd/>
              <a:tailEnd/>
            </a:ln>
            <a:effectLst/>
          </p:spPr>
          <p:txBody>
            <a:bodyPr wrap="none" anchor="ctr"/>
            <a:lstStyle/>
            <a:p>
              <a:pPr>
                <a:defRPr/>
              </a:pPr>
              <a:endParaRPr lang="zh-CN" altLang="en-US"/>
            </a:p>
          </p:txBody>
        </p:sp>
        <p:sp>
          <p:nvSpPr>
            <p:cNvPr id="398345" name="Line 9"/>
            <p:cNvSpPr>
              <a:spLocks noChangeShapeType="1"/>
            </p:cNvSpPr>
            <p:nvPr/>
          </p:nvSpPr>
          <p:spPr bwMode="auto">
            <a:xfrm>
              <a:off x="1123" y="1675"/>
              <a:ext cx="1406" cy="0"/>
            </a:xfrm>
            <a:prstGeom prst="line">
              <a:avLst/>
            </a:prstGeom>
            <a:noFill/>
            <a:ln w="38100">
              <a:solidFill>
                <a:srgbClr val="FF0000"/>
              </a:solidFill>
              <a:round/>
              <a:headEnd/>
              <a:tailEnd/>
            </a:ln>
            <a:effectLst/>
          </p:spPr>
          <p:txBody>
            <a:bodyPr wrap="none" anchor="ctr"/>
            <a:lstStyle/>
            <a:p>
              <a:pPr>
                <a:defRPr/>
              </a:pPr>
              <a:endParaRPr lang="zh-CN" altLang="en-US"/>
            </a:p>
          </p:txBody>
        </p:sp>
        <p:sp>
          <p:nvSpPr>
            <p:cNvPr id="398346" name="Text Box 10"/>
            <p:cNvSpPr txBox="1">
              <a:spLocks noChangeArrowheads="1"/>
            </p:cNvSpPr>
            <p:nvPr/>
          </p:nvSpPr>
          <p:spPr bwMode="auto">
            <a:xfrm>
              <a:off x="1158" y="1640"/>
              <a:ext cx="951" cy="492"/>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在途材料</a:t>
              </a:r>
            </a:p>
            <a:p>
              <a:pPr algn="l" eaLnBrk="1" hangingPunct="1">
                <a:lnSpc>
                  <a:spcPct val="30000"/>
                </a:lnSpc>
                <a:spcBef>
                  <a:spcPct val="50000"/>
                </a:spcBef>
                <a:defRPr/>
              </a:pPr>
              <a:r>
                <a:rPr lang="zh-CN" altLang="en-US" sz="2400" b="1" dirty="0">
                  <a:latin typeface="楷体_GB2312" panose="02010609030101010101" pitchFamily="49" charset="-122"/>
                  <a:ea typeface="楷体_GB2312" panose="02010609030101010101" pitchFamily="49" charset="-122"/>
                </a:rPr>
                <a:t>实际成本</a:t>
              </a:r>
            </a:p>
          </p:txBody>
        </p:sp>
        <p:sp>
          <p:nvSpPr>
            <p:cNvPr id="398351" name="Text Box 15"/>
            <p:cNvSpPr txBox="1">
              <a:spLocks noChangeArrowheads="1"/>
            </p:cNvSpPr>
            <p:nvPr/>
          </p:nvSpPr>
          <p:spPr bwMode="auto">
            <a:xfrm>
              <a:off x="1150" y="1007"/>
              <a:ext cx="951" cy="477"/>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购买材料</a:t>
              </a:r>
            </a:p>
            <a:p>
              <a:pPr algn="l" eaLnBrk="1" hangingPunct="1">
                <a:lnSpc>
                  <a:spcPct val="30000"/>
                </a:lnSpc>
                <a:spcBef>
                  <a:spcPct val="50000"/>
                </a:spcBef>
                <a:defRPr/>
              </a:pPr>
              <a:r>
                <a:rPr lang="zh-CN" altLang="en-US" sz="2400" b="1" dirty="0">
                  <a:latin typeface="楷体_GB2312" panose="02010609030101010101" pitchFamily="49" charset="-122"/>
                  <a:ea typeface="楷体_GB2312" panose="02010609030101010101" pitchFamily="49" charset="-122"/>
                </a:rPr>
                <a:t>实际成本</a:t>
              </a:r>
            </a:p>
          </p:txBody>
        </p:sp>
        <p:sp>
          <p:nvSpPr>
            <p:cNvPr id="398352" name="Text Box 16"/>
            <p:cNvSpPr txBox="1">
              <a:spLocks noChangeArrowheads="1"/>
            </p:cNvSpPr>
            <p:nvPr/>
          </p:nvSpPr>
          <p:spPr bwMode="auto">
            <a:xfrm>
              <a:off x="1861" y="1007"/>
              <a:ext cx="949" cy="492"/>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入库材料</a:t>
              </a:r>
            </a:p>
            <a:p>
              <a:pPr algn="l" eaLnBrk="1" hangingPunct="1">
                <a:lnSpc>
                  <a:spcPct val="30000"/>
                </a:lnSpc>
                <a:spcBef>
                  <a:spcPct val="50000"/>
                </a:spcBef>
                <a:defRPr/>
              </a:pPr>
              <a:r>
                <a:rPr lang="zh-CN" altLang="en-US" sz="2400" b="1" dirty="0">
                  <a:latin typeface="楷体_GB2312" panose="02010609030101010101" pitchFamily="49" charset="-122"/>
                  <a:ea typeface="楷体_GB2312" panose="02010609030101010101" pitchFamily="49" charset="-122"/>
                </a:rPr>
                <a:t>实际成本</a:t>
              </a:r>
            </a:p>
          </p:txBody>
        </p:sp>
        <p:sp>
          <p:nvSpPr>
            <p:cNvPr id="398355" name="Text Box 19"/>
            <p:cNvSpPr txBox="1">
              <a:spLocks noChangeArrowheads="1"/>
            </p:cNvSpPr>
            <p:nvPr/>
          </p:nvSpPr>
          <p:spPr bwMode="auto">
            <a:xfrm>
              <a:off x="877" y="1429"/>
              <a:ext cx="949" cy="248"/>
            </a:xfrm>
            <a:prstGeom prst="rect">
              <a:avLst/>
            </a:prstGeom>
            <a:noFill/>
            <a:ln w="9525">
              <a:noFill/>
              <a:miter lim="800000"/>
              <a:headEnd/>
              <a:tailEnd/>
            </a:ln>
            <a:effectLst/>
          </p:spPr>
          <p:txBody>
            <a:bodyPr>
              <a:spAutoFit/>
            </a:bodyPr>
            <a:lstStyle/>
            <a:p>
              <a:pPr algn="l" eaLnBrk="1" hangingPunct="1">
                <a:lnSpc>
                  <a:spcPct val="90000"/>
                </a:lnSpc>
                <a:spcBef>
                  <a:spcPct val="50000"/>
                </a:spcBef>
                <a:defRPr/>
              </a:pPr>
              <a:endParaRPr kumimoji="1" lang="zh-CN" altLang="zh-CN" sz="2200" b="1">
                <a:solidFill>
                  <a:schemeClr val="tx2"/>
                </a:solidFill>
                <a:effectLst>
                  <a:outerShdw blurRad="38100" dist="38100" dir="2700000" algn="tl">
                    <a:srgbClr val="000000"/>
                  </a:outerShdw>
                </a:effectLst>
                <a:latin typeface="Times New Roman" pitchFamily="18" charset="0"/>
              </a:endParaRPr>
            </a:p>
          </p:txBody>
        </p:sp>
        <p:sp>
          <p:nvSpPr>
            <p:cNvPr id="398356" name="Text Box 20"/>
            <p:cNvSpPr txBox="1">
              <a:spLocks noChangeArrowheads="1"/>
            </p:cNvSpPr>
            <p:nvPr/>
          </p:nvSpPr>
          <p:spPr bwMode="auto">
            <a:xfrm>
              <a:off x="1791" y="1429"/>
              <a:ext cx="949" cy="248"/>
            </a:xfrm>
            <a:prstGeom prst="rect">
              <a:avLst/>
            </a:prstGeom>
            <a:noFill/>
            <a:ln w="9525">
              <a:noFill/>
              <a:miter lim="800000"/>
              <a:headEnd/>
              <a:tailEnd/>
            </a:ln>
            <a:effectLst/>
          </p:spPr>
          <p:txBody>
            <a:bodyPr>
              <a:spAutoFit/>
            </a:bodyPr>
            <a:lstStyle/>
            <a:p>
              <a:pPr algn="l" eaLnBrk="1" hangingPunct="1">
                <a:lnSpc>
                  <a:spcPct val="90000"/>
                </a:lnSpc>
                <a:spcBef>
                  <a:spcPct val="50000"/>
                </a:spcBef>
                <a:defRPr/>
              </a:pPr>
              <a:endParaRPr kumimoji="1" lang="zh-CN" altLang="zh-CN" sz="2200" b="1">
                <a:solidFill>
                  <a:schemeClr val="tx2"/>
                </a:solidFill>
                <a:effectLst>
                  <a:outerShdw blurRad="38100" dist="38100" dir="2700000" algn="tl">
                    <a:srgbClr val="000000"/>
                  </a:outerShdw>
                </a:effectLst>
                <a:latin typeface="Times New Roman" pitchFamily="18" charset="0"/>
              </a:endParaRPr>
            </a:p>
          </p:txBody>
        </p:sp>
      </p:grpSp>
      <p:grpSp>
        <p:nvGrpSpPr>
          <p:cNvPr id="58373" name="Group 41"/>
          <p:cNvGrpSpPr>
            <a:grpSpLocks/>
          </p:cNvGrpSpPr>
          <p:nvPr/>
        </p:nvGrpSpPr>
        <p:grpSpPr bwMode="auto">
          <a:xfrm>
            <a:off x="1403677" y="4331056"/>
            <a:ext cx="6919383" cy="2273876"/>
            <a:chOff x="720" y="2377"/>
            <a:chExt cx="3264" cy="1655"/>
          </a:xfrm>
        </p:grpSpPr>
        <p:sp>
          <p:nvSpPr>
            <p:cNvPr id="398340" name="Line 4"/>
            <p:cNvSpPr>
              <a:spLocks noChangeShapeType="1"/>
            </p:cNvSpPr>
            <p:nvPr/>
          </p:nvSpPr>
          <p:spPr bwMode="auto">
            <a:xfrm>
              <a:off x="864" y="2736"/>
              <a:ext cx="2112" cy="0"/>
            </a:xfrm>
            <a:prstGeom prst="line">
              <a:avLst/>
            </a:prstGeom>
            <a:noFill/>
            <a:ln w="38100">
              <a:solidFill>
                <a:srgbClr val="FF0000"/>
              </a:solidFill>
              <a:round/>
              <a:headEnd/>
              <a:tailEnd/>
            </a:ln>
            <a:effectLst/>
          </p:spPr>
          <p:txBody>
            <a:bodyPr wrap="none" anchor="ctr"/>
            <a:lstStyle/>
            <a:p>
              <a:pPr>
                <a:defRPr/>
              </a:pPr>
              <a:endParaRPr lang="zh-CN" altLang="en-US"/>
            </a:p>
          </p:txBody>
        </p:sp>
        <p:sp>
          <p:nvSpPr>
            <p:cNvPr id="398353" name="Text Box 17"/>
            <p:cNvSpPr txBox="1">
              <a:spLocks noChangeArrowheads="1"/>
            </p:cNvSpPr>
            <p:nvPr/>
          </p:nvSpPr>
          <p:spPr bwMode="auto">
            <a:xfrm>
              <a:off x="1583" y="2377"/>
              <a:ext cx="1720" cy="291"/>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000" b="1" dirty="0">
                  <a:solidFill>
                    <a:schemeClr val="tx2"/>
                  </a:solidFill>
                  <a:latin typeface="黑体" panose="02010609060101010101" pitchFamily="49" charset="-122"/>
                  <a:ea typeface="楷体_GB2312"/>
                </a:rPr>
                <a:t>材料成本差异</a:t>
              </a:r>
            </a:p>
          </p:txBody>
        </p:sp>
        <p:sp>
          <p:nvSpPr>
            <p:cNvPr id="398354" name="Line 18"/>
            <p:cNvSpPr>
              <a:spLocks noChangeShapeType="1"/>
            </p:cNvSpPr>
            <p:nvPr/>
          </p:nvSpPr>
          <p:spPr bwMode="auto">
            <a:xfrm>
              <a:off x="2016" y="2736"/>
              <a:ext cx="0" cy="1296"/>
            </a:xfrm>
            <a:prstGeom prst="line">
              <a:avLst/>
            </a:prstGeom>
            <a:noFill/>
            <a:ln w="38100">
              <a:solidFill>
                <a:srgbClr val="FF0000"/>
              </a:solidFill>
              <a:round/>
              <a:headEnd/>
              <a:tailEnd/>
            </a:ln>
            <a:effectLst/>
          </p:spPr>
          <p:txBody>
            <a:bodyPr wrap="none" anchor="ctr"/>
            <a:lstStyle/>
            <a:p>
              <a:pPr>
                <a:defRPr/>
              </a:pPr>
              <a:endParaRPr lang="zh-CN" altLang="en-US"/>
            </a:p>
          </p:txBody>
        </p:sp>
        <p:sp>
          <p:nvSpPr>
            <p:cNvPr id="398357" name="Text Box 21"/>
            <p:cNvSpPr txBox="1">
              <a:spLocks noChangeArrowheads="1"/>
            </p:cNvSpPr>
            <p:nvPr/>
          </p:nvSpPr>
          <p:spPr bwMode="auto">
            <a:xfrm>
              <a:off x="784" y="2880"/>
              <a:ext cx="1157" cy="333"/>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入库超支差</a:t>
              </a:r>
            </a:p>
          </p:txBody>
        </p:sp>
        <p:sp>
          <p:nvSpPr>
            <p:cNvPr id="398358" name="Text Box 22"/>
            <p:cNvSpPr txBox="1">
              <a:spLocks noChangeArrowheads="1"/>
            </p:cNvSpPr>
            <p:nvPr/>
          </p:nvSpPr>
          <p:spPr bwMode="auto">
            <a:xfrm>
              <a:off x="2016" y="2734"/>
              <a:ext cx="1440" cy="334"/>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入库节约差</a:t>
              </a:r>
            </a:p>
          </p:txBody>
        </p:sp>
        <p:sp>
          <p:nvSpPr>
            <p:cNvPr id="398359" name="Text Box 23"/>
            <p:cNvSpPr txBox="1">
              <a:spLocks noChangeArrowheads="1"/>
            </p:cNvSpPr>
            <p:nvPr/>
          </p:nvSpPr>
          <p:spPr bwMode="auto">
            <a:xfrm>
              <a:off x="2016" y="3024"/>
              <a:ext cx="1968" cy="333"/>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出库分配差异</a:t>
              </a:r>
            </a:p>
          </p:txBody>
        </p:sp>
        <p:sp>
          <p:nvSpPr>
            <p:cNvPr id="398362" name="Line 26"/>
            <p:cNvSpPr>
              <a:spLocks noChangeShapeType="1"/>
            </p:cNvSpPr>
            <p:nvPr/>
          </p:nvSpPr>
          <p:spPr bwMode="auto">
            <a:xfrm>
              <a:off x="864" y="3408"/>
              <a:ext cx="2112" cy="0"/>
            </a:xfrm>
            <a:prstGeom prst="line">
              <a:avLst/>
            </a:prstGeom>
            <a:noFill/>
            <a:ln w="38100">
              <a:solidFill>
                <a:srgbClr val="FF0000"/>
              </a:solidFill>
              <a:round/>
              <a:headEnd/>
              <a:tailEnd/>
            </a:ln>
            <a:effectLst/>
          </p:spPr>
          <p:txBody>
            <a:bodyPr wrap="none" anchor="ctr"/>
            <a:lstStyle/>
            <a:p>
              <a:pPr>
                <a:defRPr/>
              </a:pPr>
              <a:endParaRPr lang="zh-CN" altLang="en-US"/>
            </a:p>
          </p:txBody>
        </p:sp>
        <p:sp>
          <p:nvSpPr>
            <p:cNvPr id="398363" name="Text Box 27"/>
            <p:cNvSpPr txBox="1">
              <a:spLocks noChangeArrowheads="1"/>
            </p:cNvSpPr>
            <p:nvPr/>
          </p:nvSpPr>
          <p:spPr bwMode="auto">
            <a:xfrm>
              <a:off x="720" y="3504"/>
              <a:ext cx="1375" cy="336"/>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未分配超支差</a:t>
              </a:r>
            </a:p>
          </p:txBody>
        </p:sp>
        <p:sp>
          <p:nvSpPr>
            <p:cNvPr id="398364" name="Text Box 28"/>
            <p:cNvSpPr txBox="1">
              <a:spLocks noChangeArrowheads="1"/>
            </p:cNvSpPr>
            <p:nvPr/>
          </p:nvSpPr>
          <p:spPr bwMode="auto">
            <a:xfrm>
              <a:off x="2016" y="3504"/>
              <a:ext cx="1309" cy="336"/>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未分配节约差</a:t>
              </a:r>
            </a:p>
          </p:txBody>
        </p:sp>
      </p:grpSp>
      <p:grpSp>
        <p:nvGrpSpPr>
          <p:cNvPr id="2" name="组合 1"/>
          <p:cNvGrpSpPr/>
          <p:nvPr/>
        </p:nvGrpSpPr>
        <p:grpSpPr>
          <a:xfrm>
            <a:off x="6272234" y="4731048"/>
            <a:ext cx="3424766" cy="977900"/>
            <a:chOff x="6794501" y="4565650"/>
            <a:chExt cx="3424766" cy="977900"/>
          </a:xfrm>
        </p:grpSpPr>
        <p:sp>
          <p:nvSpPr>
            <p:cNvPr id="398361" name="Text Box 25"/>
            <p:cNvSpPr txBox="1">
              <a:spLocks noChangeArrowheads="1"/>
            </p:cNvSpPr>
            <p:nvPr/>
          </p:nvSpPr>
          <p:spPr bwMode="auto">
            <a:xfrm>
              <a:off x="7321551" y="4565650"/>
              <a:ext cx="2897716" cy="977900"/>
            </a:xfrm>
            <a:prstGeom prst="rect">
              <a:avLst/>
            </a:prstGeom>
            <a:noFill/>
            <a:ln w="9525">
              <a:noFill/>
              <a:miter lim="800000"/>
              <a:headEnd/>
              <a:tailEnd/>
            </a:ln>
            <a:effectLst/>
          </p:spPr>
          <p:txBody>
            <a:bodyPr/>
            <a:lstStyle/>
            <a:p>
              <a:pPr algn="l" eaLnBrk="1" hangingPunct="1">
                <a:spcBef>
                  <a:spcPct val="50000"/>
                </a:spcBef>
                <a:defRPr/>
              </a:pPr>
              <a:r>
                <a:rPr kumimoji="1" lang="zh-CN" altLang="en-US" sz="2200" b="1" dirty="0">
                  <a:solidFill>
                    <a:schemeClr val="tx2"/>
                  </a:solidFill>
                  <a:effectLst>
                    <a:outerShdw blurRad="38100" dist="38100" dir="2700000" algn="tl">
                      <a:srgbClr val="000000"/>
                    </a:outerShdw>
                  </a:effectLst>
                  <a:latin typeface="Times New Roman" pitchFamily="18" charset="0"/>
                </a:rPr>
                <a:t>超支差：</a:t>
              </a:r>
              <a:r>
                <a:rPr kumimoji="1" lang="zh-CN" altLang="en-US" sz="2200" b="1" dirty="0">
                  <a:solidFill>
                    <a:schemeClr val="accent2"/>
                  </a:solidFill>
                  <a:effectLst>
                    <a:outerShdw blurRad="38100" dist="38100" dir="2700000" algn="tl">
                      <a:srgbClr val="000000"/>
                    </a:outerShdw>
                  </a:effectLst>
                  <a:latin typeface="Times New Roman" pitchFamily="18" charset="0"/>
                </a:rPr>
                <a:t>蓝字</a:t>
              </a:r>
            </a:p>
            <a:p>
              <a:pPr algn="l" eaLnBrk="1" hangingPunct="1">
                <a:spcBef>
                  <a:spcPct val="50000"/>
                </a:spcBef>
                <a:defRPr/>
              </a:pPr>
              <a:r>
                <a:rPr kumimoji="1" lang="zh-CN" altLang="en-US" sz="2200" b="1" dirty="0">
                  <a:solidFill>
                    <a:schemeClr val="tx2"/>
                  </a:solidFill>
                  <a:effectLst>
                    <a:outerShdw blurRad="38100" dist="38100" dir="2700000" algn="tl">
                      <a:srgbClr val="000000"/>
                    </a:outerShdw>
                  </a:effectLst>
                  <a:latin typeface="Times New Roman" pitchFamily="18" charset="0"/>
                </a:rPr>
                <a:t>节约差：</a:t>
              </a:r>
              <a:r>
                <a:rPr kumimoji="1" lang="zh-CN" altLang="en-US" sz="2200" b="1" dirty="0">
                  <a:solidFill>
                    <a:srgbClr val="FF0000"/>
                  </a:solidFill>
                  <a:effectLst>
                    <a:outerShdw blurRad="38100" dist="38100" dir="2700000" algn="tl">
                      <a:srgbClr val="000000"/>
                    </a:outerShdw>
                  </a:effectLst>
                  <a:latin typeface="Times New Roman" pitchFamily="18" charset="0"/>
                </a:rPr>
                <a:t>红字</a:t>
              </a:r>
            </a:p>
          </p:txBody>
        </p:sp>
        <p:sp>
          <p:nvSpPr>
            <p:cNvPr id="398384" name="AutoShape 48"/>
            <p:cNvSpPr>
              <a:spLocks noChangeArrowheads="1"/>
            </p:cNvSpPr>
            <p:nvPr/>
          </p:nvSpPr>
          <p:spPr bwMode="auto">
            <a:xfrm rot="-1691510">
              <a:off x="6794501" y="4703763"/>
              <a:ext cx="579967" cy="381000"/>
            </a:xfrm>
            <a:prstGeom prst="rightArrow">
              <a:avLst>
                <a:gd name="adj1" fmla="val 29167"/>
                <a:gd name="adj2" fmla="val 28674"/>
              </a:avLst>
            </a:prstGeom>
            <a:gradFill rotWithShape="1">
              <a:gsLst>
                <a:gs pos="0">
                  <a:schemeClr val="hlink"/>
                </a:gs>
                <a:gs pos="100000">
                  <a:schemeClr val="hlink">
                    <a:gamma/>
                    <a:shade val="46275"/>
                    <a:invGamma/>
                  </a:schemeClr>
                </a:gs>
              </a:gsLst>
              <a:lin ang="2700000" scaled="1"/>
            </a:gradFill>
            <a:ln w="9525" algn="ctr">
              <a:solidFill>
                <a:schemeClr val="tx1"/>
              </a:solidFill>
              <a:miter lim="800000"/>
              <a:headEnd/>
              <a:tailEnd/>
            </a:ln>
            <a:effectLst/>
          </p:spPr>
          <p:txBody>
            <a:bodyPr wrap="none" anchor="ctr"/>
            <a:lstStyle/>
            <a:p>
              <a:pPr>
                <a:defRPr/>
              </a:pPr>
              <a:endParaRPr lang="zh-CN" altLang="en-US"/>
            </a:p>
          </p:txBody>
        </p:sp>
        <p:sp>
          <p:nvSpPr>
            <p:cNvPr id="398385" name="AutoShape 49"/>
            <p:cNvSpPr>
              <a:spLocks noChangeArrowheads="1"/>
            </p:cNvSpPr>
            <p:nvPr/>
          </p:nvSpPr>
          <p:spPr bwMode="auto">
            <a:xfrm rot="1077997">
              <a:off x="6836834" y="4995863"/>
              <a:ext cx="539751" cy="381000"/>
            </a:xfrm>
            <a:prstGeom prst="rightArrow">
              <a:avLst>
                <a:gd name="adj1" fmla="val 29167"/>
                <a:gd name="adj2" fmla="val 26686"/>
              </a:avLst>
            </a:prstGeom>
            <a:gradFill rotWithShape="1">
              <a:gsLst>
                <a:gs pos="0">
                  <a:schemeClr val="hlink"/>
                </a:gs>
                <a:gs pos="100000">
                  <a:schemeClr val="hlink">
                    <a:gamma/>
                    <a:shade val="46275"/>
                    <a:invGamma/>
                  </a:schemeClr>
                </a:gs>
              </a:gsLst>
              <a:lin ang="2700000" scaled="1"/>
            </a:gradFill>
            <a:ln w="9525" algn="ctr">
              <a:solidFill>
                <a:schemeClr val="tx1"/>
              </a:solidFill>
              <a:miter lim="800000"/>
              <a:headEnd/>
              <a:tailEnd/>
            </a:ln>
            <a:effectLst/>
          </p:spPr>
          <p:txBody>
            <a:bodyPr wrap="none" anchor="ctr"/>
            <a:lstStyle/>
            <a:p>
              <a:pPr>
                <a:defRPr/>
              </a:pPr>
              <a:endParaRPr lang="zh-CN" altLang="en-US"/>
            </a:p>
          </p:txBody>
        </p:sp>
      </p:grpSp>
    </p:spTree>
    <p:extLst>
      <p:ext uri="{BB962C8B-B14F-4D97-AF65-F5344CB8AC3E}">
        <p14:creationId xmlns:p14="http://schemas.microsoft.com/office/powerpoint/2010/main" val="34207233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200151" y="1089026"/>
            <a:ext cx="8043333" cy="746125"/>
          </a:xfrm>
        </p:spPr>
        <p:txBody>
          <a:bodyPr/>
          <a:lstStyle/>
          <a:p>
            <a:pPr algn="just" eaLnBrk="1" hangingPunct="1"/>
            <a:r>
              <a:rPr lang="zh-CN" altLang="en-US" dirty="0"/>
              <a:t>（二）账务处理</a:t>
            </a:r>
            <a:r>
              <a:rPr lang="en-US" altLang="zh-CN" dirty="0"/>
              <a:t>——</a:t>
            </a:r>
            <a:r>
              <a:rPr lang="zh-CN" altLang="en-US" dirty="0"/>
              <a:t>举例</a:t>
            </a:r>
          </a:p>
        </p:txBody>
      </p:sp>
      <p:sp>
        <p:nvSpPr>
          <p:cNvPr id="6" name="内容占位符 2">
            <a:extLst>
              <a:ext uri="{FF2B5EF4-FFF2-40B4-BE49-F238E27FC236}">
                <a16:creationId xmlns:a16="http://schemas.microsoft.com/office/drawing/2014/main" id="{12614669-5CDB-47E7-8896-E111995D6225}"/>
              </a:ext>
            </a:extLst>
          </p:cNvPr>
          <p:cNvSpPr>
            <a:spLocks noGrp="1"/>
          </p:cNvSpPr>
          <p:nvPr>
            <p:ph idx="1"/>
          </p:nvPr>
        </p:nvSpPr>
        <p:spPr>
          <a:xfrm>
            <a:off x="1576917" y="2017713"/>
            <a:ext cx="10363200" cy="4114800"/>
          </a:xfrm>
        </p:spPr>
        <p:txBody>
          <a:bodyPr/>
          <a:lstStyle/>
          <a:p>
            <a:pPr>
              <a:lnSpc>
                <a:spcPct val="150000"/>
              </a:lnSpc>
            </a:pPr>
            <a:r>
              <a:rPr lang="zh-CN" altLang="en-US" dirty="0"/>
              <a:t>１．取得原材料</a:t>
            </a:r>
          </a:p>
          <a:p>
            <a:pPr lvl="1">
              <a:lnSpc>
                <a:spcPct val="150000"/>
              </a:lnSpc>
            </a:pPr>
            <a:r>
              <a:rPr lang="zh-CN" altLang="en-US" dirty="0"/>
              <a:t>按实际成本结算材料货款</a:t>
            </a:r>
          </a:p>
          <a:p>
            <a:pPr lvl="1">
              <a:lnSpc>
                <a:spcPct val="150000"/>
              </a:lnSpc>
            </a:pPr>
            <a:r>
              <a:rPr lang="zh-CN" altLang="en-US" dirty="0"/>
              <a:t>按计划成本原材料入库</a:t>
            </a:r>
          </a:p>
          <a:p>
            <a:pPr lvl="1">
              <a:lnSpc>
                <a:spcPct val="150000"/>
              </a:lnSpc>
            </a:pPr>
            <a:r>
              <a:rPr lang="zh-CN" altLang="en-US" dirty="0"/>
              <a:t>按实际成本与计划成本的差额 ，结转材料成本差异</a:t>
            </a:r>
          </a:p>
        </p:txBody>
      </p:sp>
    </p:spTree>
    <p:extLst>
      <p:ext uri="{BB962C8B-B14F-4D97-AF65-F5344CB8AC3E}">
        <p14:creationId xmlns:p14="http://schemas.microsoft.com/office/powerpoint/2010/main" val="41953126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1410" name="Rectangle 2"/>
          <p:cNvSpPr>
            <a:spLocks noGrp="1" noChangeArrowheads="1"/>
          </p:cNvSpPr>
          <p:nvPr>
            <p:ph type="body" idx="1"/>
          </p:nvPr>
        </p:nvSpPr>
        <p:spPr>
          <a:xfrm>
            <a:off x="2147029" y="5258580"/>
            <a:ext cx="7918451" cy="1252537"/>
          </a:xfrm>
        </p:spPr>
        <p:txBody>
          <a:bodyPr/>
          <a:lstStyle/>
          <a:p>
            <a:pPr marL="0" lvl="2" indent="-457200" defTabSz="762000" eaLnBrk="1" hangingPunct="1">
              <a:lnSpc>
                <a:spcPct val="90000"/>
              </a:lnSpc>
              <a:spcBef>
                <a:spcPct val="50000"/>
              </a:spcBef>
            </a:pPr>
            <a:r>
              <a:rPr lang="zh-CN" altLang="en-US" kern="1200" dirty="0">
                <a:latin typeface="黑体" panose="02010609060101010101" pitchFamily="49" charset="-122"/>
                <a:ea typeface="黑体" panose="02010609060101010101" pitchFamily="49" charset="-122"/>
                <a:cs typeface="+mn-cs"/>
              </a:rPr>
              <a:t>单到料未到：</a:t>
            </a:r>
            <a:endParaRPr lang="en-US" altLang="zh-CN" kern="1200" dirty="0">
              <a:latin typeface="黑体" panose="02010609060101010101" pitchFamily="49" charset="-122"/>
              <a:ea typeface="黑体" panose="02010609060101010101" pitchFamily="49" charset="-122"/>
              <a:cs typeface="+mn-cs"/>
            </a:endParaRPr>
          </a:p>
          <a:p>
            <a:pPr marL="0" lvl="2" indent="0" defTabSz="762000" eaLnBrk="1" hangingPunct="1">
              <a:lnSpc>
                <a:spcPct val="90000"/>
              </a:lnSpc>
              <a:spcBef>
                <a:spcPct val="50000"/>
              </a:spcBef>
              <a:buNone/>
            </a:pPr>
            <a:r>
              <a:rPr lang="zh-CN" altLang="en-US" sz="1800" kern="1200" dirty="0">
                <a:latin typeface="楷体_GB2312" panose="02010609030101010101" pitchFamily="49" charset="-122"/>
                <a:ea typeface="楷体_GB2312" panose="02010609030101010101" pitchFamily="49" charset="-122"/>
                <a:cs typeface="+mn-cs"/>
              </a:rPr>
              <a:t>借：材料采购（实际成本）</a:t>
            </a:r>
          </a:p>
          <a:p>
            <a:pPr marL="0" lvl="2" indent="0" defTabSz="762000" eaLnBrk="1" hangingPunct="1">
              <a:lnSpc>
                <a:spcPct val="90000"/>
              </a:lnSpc>
              <a:spcBef>
                <a:spcPct val="50000"/>
              </a:spcBef>
              <a:buNone/>
            </a:pPr>
            <a:r>
              <a:rPr lang="zh-CN" altLang="en-US" sz="1800" kern="1200" dirty="0">
                <a:latin typeface="楷体_GB2312" panose="02010609030101010101" pitchFamily="49" charset="-122"/>
                <a:ea typeface="楷体_GB2312" panose="02010609030101010101" pitchFamily="49" charset="-122"/>
                <a:cs typeface="+mn-cs"/>
              </a:rPr>
              <a:t>    应交税费</a:t>
            </a:r>
            <a:r>
              <a:rPr lang="en-US" altLang="zh-CN" sz="1800" kern="1200" dirty="0">
                <a:latin typeface="楷体_GB2312" panose="02010609030101010101" pitchFamily="49" charset="-122"/>
                <a:ea typeface="楷体_GB2312" panose="02010609030101010101" pitchFamily="49" charset="-122"/>
                <a:cs typeface="+mn-cs"/>
              </a:rPr>
              <a:t>—</a:t>
            </a:r>
            <a:r>
              <a:rPr lang="zh-CN" altLang="en-US" sz="1800" kern="1200" dirty="0">
                <a:latin typeface="楷体_GB2312" panose="02010609030101010101" pitchFamily="49" charset="-122"/>
                <a:ea typeface="楷体_GB2312" panose="02010609030101010101" pitchFamily="49" charset="-122"/>
                <a:cs typeface="+mn-cs"/>
              </a:rPr>
              <a:t>应交增值税（进项税额）</a:t>
            </a:r>
          </a:p>
          <a:p>
            <a:pPr marL="0" lvl="2" indent="0" defTabSz="762000" eaLnBrk="1" hangingPunct="1">
              <a:lnSpc>
                <a:spcPct val="90000"/>
              </a:lnSpc>
              <a:spcBef>
                <a:spcPct val="50000"/>
              </a:spcBef>
              <a:buNone/>
            </a:pPr>
            <a:r>
              <a:rPr lang="zh-CN" altLang="en-US" sz="1800" kern="1200" dirty="0">
                <a:latin typeface="楷体_GB2312" panose="02010609030101010101" pitchFamily="49" charset="-122"/>
                <a:ea typeface="楷体_GB2312" panose="02010609030101010101" pitchFamily="49" charset="-122"/>
                <a:cs typeface="+mn-cs"/>
              </a:rPr>
              <a:t>    贷：应付账款等</a:t>
            </a:r>
          </a:p>
        </p:txBody>
      </p:sp>
      <p:sp>
        <p:nvSpPr>
          <p:cNvPr id="401413" name="Rectangle 5"/>
          <p:cNvSpPr>
            <a:spLocks noChangeArrowheads="1"/>
          </p:cNvSpPr>
          <p:nvPr/>
        </p:nvSpPr>
        <p:spPr bwMode="auto">
          <a:xfrm>
            <a:off x="1294671" y="1835479"/>
            <a:ext cx="9931400" cy="3139321"/>
          </a:xfrm>
          <a:prstGeom prst="rect">
            <a:avLst/>
          </a:prstGeom>
          <a:noFill/>
          <a:ln w="12700">
            <a:noFill/>
            <a:miter lim="800000"/>
            <a:headEnd type="none" w="sm" len="sm"/>
            <a:tailEnd type="none" w="sm" len="sm"/>
          </a:ln>
          <a:effectLst/>
        </p:spPr>
        <p:txBody>
          <a:bodyPr>
            <a:spAutoFit/>
            <a:flatTx/>
          </a:bodyPr>
          <a:lstStyle/>
          <a:p>
            <a:pPr marL="1257300" lvl="2" indent="-457200" defTabSz="762000" fontAlgn="base">
              <a:lnSpc>
                <a:spcPct val="90000"/>
              </a:lnSpc>
              <a:spcBef>
                <a:spcPct val="50000"/>
              </a:spcBef>
              <a:spcAft>
                <a:spcPct val="0"/>
              </a:spcAft>
              <a:buClr>
                <a:schemeClr val="folHlink"/>
              </a:buClr>
              <a:buSzPct val="50000"/>
              <a:buFont typeface="Wingdings" pitchFamily="2" charset="2"/>
              <a:buChar char="n"/>
              <a:defRPr/>
            </a:pPr>
            <a:r>
              <a:rPr lang="zh-CN" altLang="en-US" sz="2400" b="1" dirty="0">
                <a:latin typeface="黑体" panose="02010609060101010101" pitchFamily="49" charset="-122"/>
                <a:ea typeface="黑体" panose="02010609060101010101" pitchFamily="49" charset="-122"/>
              </a:rPr>
              <a:t>料单（原材料和单据）同时到：</a:t>
            </a:r>
            <a:endParaRPr lang="en-US" altLang="zh-CN" b="1" dirty="0">
              <a:solidFill>
                <a:schemeClr val="tx2"/>
              </a:solidFill>
              <a:effectLst>
                <a:outerShdw blurRad="38100" dist="38100" dir="2700000" algn="tl">
                  <a:srgbClr val="000000"/>
                </a:outerShdw>
              </a:effectLst>
              <a:latin typeface="华文细黑" pitchFamily="2" charset="-122"/>
              <a:ea typeface="华文细黑" pitchFamily="2" charset="-122"/>
            </a:endParaRPr>
          </a:p>
          <a:p>
            <a:pPr marL="800100" lvl="2" defTabSz="762000" fontAlgn="base">
              <a:lnSpc>
                <a:spcPct val="90000"/>
              </a:lnSpc>
              <a:spcBef>
                <a:spcPct val="50000"/>
              </a:spcBef>
              <a:spcAft>
                <a:spcPct val="0"/>
              </a:spcAft>
              <a:buClr>
                <a:schemeClr val="folHlink"/>
              </a:buClr>
              <a:buSzPct val="50000"/>
              <a:defRPr/>
            </a:pPr>
            <a:r>
              <a:rPr lang="zh-CN" altLang="en-US" b="1" dirty="0">
                <a:latin typeface="楷体_GB2312" panose="02010609030101010101" pitchFamily="49" charset="-122"/>
                <a:ea typeface="楷体_GB2312" panose="02010609030101010101" pitchFamily="49" charset="-122"/>
              </a:rPr>
              <a:t>借：材料采购（实际成本）</a:t>
            </a:r>
          </a:p>
          <a:p>
            <a:pPr marL="800100" lvl="2" defTabSz="762000" fontAlgn="base">
              <a:lnSpc>
                <a:spcPct val="90000"/>
              </a:lnSpc>
              <a:spcBef>
                <a:spcPct val="50000"/>
              </a:spcBef>
              <a:spcAft>
                <a:spcPct val="0"/>
              </a:spcAft>
              <a:buClr>
                <a:schemeClr val="folHlink"/>
              </a:buClr>
              <a:buSzPct val="50000"/>
              <a:defRPr/>
            </a:pPr>
            <a:r>
              <a:rPr lang="zh-CN" altLang="en-US" b="1" dirty="0">
                <a:latin typeface="楷体_GB2312" panose="02010609030101010101" pitchFamily="49" charset="-122"/>
                <a:ea typeface="楷体_GB2312" panose="02010609030101010101" pitchFamily="49" charset="-122"/>
              </a:rPr>
              <a:t>    应交税费</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应交增值税（进项税额）</a:t>
            </a:r>
          </a:p>
          <a:p>
            <a:pPr marL="800100" lvl="2" defTabSz="762000" fontAlgn="base">
              <a:lnSpc>
                <a:spcPct val="90000"/>
              </a:lnSpc>
              <a:spcBef>
                <a:spcPct val="50000"/>
              </a:spcBef>
              <a:spcAft>
                <a:spcPct val="0"/>
              </a:spcAft>
              <a:buClr>
                <a:schemeClr val="folHlink"/>
              </a:buClr>
              <a:buSzPct val="50000"/>
              <a:defRPr/>
            </a:pPr>
            <a:r>
              <a:rPr lang="zh-CN" altLang="en-US" b="1" dirty="0">
                <a:latin typeface="楷体_GB2312" panose="02010609030101010101" pitchFamily="49" charset="-122"/>
                <a:ea typeface="楷体_GB2312" panose="02010609030101010101" pitchFamily="49" charset="-122"/>
              </a:rPr>
              <a:t>    贷：银行存款等</a:t>
            </a:r>
          </a:p>
          <a:p>
            <a:pPr marL="800100" lvl="2" defTabSz="762000" fontAlgn="base">
              <a:lnSpc>
                <a:spcPct val="90000"/>
              </a:lnSpc>
              <a:spcBef>
                <a:spcPct val="50000"/>
              </a:spcBef>
              <a:spcAft>
                <a:spcPct val="0"/>
              </a:spcAft>
              <a:buClr>
                <a:schemeClr val="folHlink"/>
              </a:buClr>
              <a:buSzPct val="50000"/>
              <a:defRPr/>
            </a:pPr>
            <a:r>
              <a:rPr lang="zh-CN" altLang="en-US" b="1" dirty="0">
                <a:latin typeface="楷体_GB2312" panose="02010609030101010101" pitchFamily="49" charset="-122"/>
                <a:ea typeface="楷体_GB2312" panose="02010609030101010101" pitchFamily="49" charset="-122"/>
              </a:rPr>
              <a:t>  借：原材料（计划成本）</a:t>
            </a:r>
          </a:p>
          <a:p>
            <a:pPr marL="800100" lvl="2" defTabSz="762000" fontAlgn="base">
              <a:lnSpc>
                <a:spcPct val="90000"/>
              </a:lnSpc>
              <a:spcBef>
                <a:spcPct val="50000"/>
              </a:spcBef>
              <a:spcAft>
                <a:spcPct val="0"/>
              </a:spcAft>
              <a:buClr>
                <a:schemeClr val="folHlink"/>
              </a:buClr>
              <a:buSzPct val="50000"/>
              <a:defRPr/>
            </a:pPr>
            <a:r>
              <a:rPr lang="zh-CN" altLang="en-US" b="1" dirty="0">
                <a:latin typeface="楷体_GB2312" panose="02010609030101010101" pitchFamily="49" charset="-122"/>
                <a:ea typeface="楷体_GB2312" panose="02010609030101010101" pitchFamily="49" charset="-122"/>
              </a:rPr>
              <a:t>      （材料成本差异）</a:t>
            </a:r>
          </a:p>
          <a:p>
            <a:pPr marL="800100" lvl="2" defTabSz="762000" fontAlgn="base">
              <a:lnSpc>
                <a:spcPct val="90000"/>
              </a:lnSpc>
              <a:spcBef>
                <a:spcPct val="50000"/>
              </a:spcBef>
              <a:spcAft>
                <a:spcPct val="0"/>
              </a:spcAft>
              <a:buClr>
                <a:schemeClr val="folHlink"/>
              </a:buClr>
              <a:buSzPct val="50000"/>
              <a:defRPr/>
            </a:pPr>
            <a:r>
              <a:rPr lang="zh-CN" altLang="en-US" b="1" dirty="0">
                <a:latin typeface="楷体_GB2312" panose="02010609030101010101" pitchFamily="49" charset="-122"/>
                <a:ea typeface="楷体_GB2312" panose="02010609030101010101" pitchFamily="49" charset="-122"/>
              </a:rPr>
              <a:t>       贷：材料采购（实际成本）</a:t>
            </a:r>
          </a:p>
          <a:p>
            <a:pPr marL="800100" lvl="2" defTabSz="762000" fontAlgn="base">
              <a:lnSpc>
                <a:spcPct val="90000"/>
              </a:lnSpc>
              <a:spcBef>
                <a:spcPct val="50000"/>
              </a:spcBef>
              <a:spcAft>
                <a:spcPct val="0"/>
              </a:spcAft>
              <a:buClr>
                <a:schemeClr val="folHlink"/>
              </a:buClr>
              <a:buSzPct val="50000"/>
              <a:defRPr/>
            </a:pPr>
            <a:r>
              <a:rPr lang="zh-CN" altLang="en-US" b="1" dirty="0">
                <a:latin typeface="楷体_GB2312" panose="02010609030101010101" pitchFamily="49" charset="-122"/>
                <a:ea typeface="楷体_GB2312" panose="02010609030101010101" pitchFamily="49" charset="-122"/>
              </a:rPr>
              <a:t>           （材料成本差异）（月末一次结转）</a:t>
            </a:r>
          </a:p>
        </p:txBody>
      </p:sp>
    </p:spTree>
    <p:extLst>
      <p:ext uri="{BB962C8B-B14F-4D97-AF65-F5344CB8AC3E}">
        <p14:creationId xmlns:p14="http://schemas.microsoft.com/office/powerpoint/2010/main" val="1978937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1413"/>
                                        </p:tgtEl>
                                        <p:attrNameLst>
                                          <p:attrName>style.visibility</p:attrName>
                                        </p:attrNameLst>
                                      </p:cBhvr>
                                      <p:to>
                                        <p:strVal val="visible"/>
                                      </p:to>
                                    </p:set>
                                    <p:animEffect transition="in" filter="blinds(horizontal)">
                                      <p:cBhvr>
                                        <p:cTn id="7" dur="500"/>
                                        <p:tgtEl>
                                          <p:spTgt spid="401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3"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3458" name="Rectangle 2"/>
          <p:cNvSpPr>
            <a:spLocks noGrp="1" noChangeArrowheads="1"/>
          </p:cNvSpPr>
          <p:nvPr>
            <p:ph type="body" idx="1"/>
          </p:nvPr>
        </p:nvSpPr>
        <p:spPr>
          <a:xfrm>
            <a:off x="1769533" y="1889126"/>
            <a:ext cx="9687984" cy="3910013"/>
          </a:xfrm>
        </p:spPr>
        <p:txBody>
          <a:bodyPr/>
          <a:lstStyle/>
          <a:p>
            <a:pPr eaLnBrk="1" hangingPunct="1">
              <a:lnSpc>
                <a:spcPct val="110000"/>
              </a:lnSpc>
            </a:pPr>
            <a:r>
              <a:rPr lang="zh-CN" altLang="en-US" sz="2800" kern="1200" dirty="0"/>
              <a:t>料到单未到：</a:t>
            </a:r>
            <a:endParaRPr lang="en-US" altLang="zh-CN" sz="2200" dirty="0">
              <a:solidFill>
                <a:srgbClr val="FF9900"/>
              </a:solidFill>
            </a:endParaRPr>
          </a:p>
          <a:p>
            <a:pPr marL="0" indent="0" eaLnBrk="1" hangingPunct="1">
              <a:lnSpc>
                <a:spcPct val="110000"/>
              </a:lnSpc>
              <a:buNone/>
            </a:pPr>
            <a:r>
              <a:rPr lang="en-US" altLang="zh-CN" sz="2200" dirty="0">
                <a:solidFill>
                  <a:srgbClr val="FF9900"/>
                </a:solidFill>
              </a:rPr>
              <a:t>  </a:t>
            </a:r>
            <a:r>
              <a:rPr lang="zh-CN" altLang="en-US" sz="2000" dirty="0">
                <a:solidFill>
                  <a:schemeClr val="tx2"/>
                </a:solidFill>
                <a:ea typeface="楷体_GB2312"/>
              </a:rPr>
              <a:t>月内不做账务处理。月末仍未到</a:t>
            </a:r>
          </a:p>
          <a:p>
            <a:pPr marL="800100" lvl="2" indent="0" defTabSz="762000" eaLnBrk="1" hangingPunct="1">
              <a:lnSpc>
                <a:spcPct val="90000"/>
              </a:lnSpc>
              <a:spcBef>
                <a:spcPct val="50000"/>
              </a:spcBef>
              <a:buNone/>
            </a:pPr>
            <a:r>
              <a:rPr lang="zh-CN" altLang="en-US" sz="2200" dirty="0"/>
              <a:t>  </a:t>
            </a:r>
            <a:r>
              <a:rPr lang="zh-CN" altLang="en-US" sz="2000" kern="1200" dirty="0">
                <a:latin typeface="楷体_GB2312" panose="02010609030101010101" pitchFamily="49" charset="-122"/>
                <a:ea typeface="楷体_GB2312" panose="02010609030101010101" pitchFamily="49" charset="-122"/>
                <a:cs typeface="+mn-cs"/>
              </a:rPr>
              <a:t>借：原材料（计划成本）</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贷：应付账款</a:t>
            </a:r>
          </a:p>
          <a:p>
            <a:pPr marL="0" indent="0" eaLnBrk="1" hangingPunct="1">
              <a:lnSpc>
                <a:spcPct val="110000"/>
              </a:lnSpc>
              <a:buNone/>
            </a:pPr>
            <a:r>
              <a:rPr lang="zh-CN" altLang="en-US" sz="2200" dirty="0"/>
              <a:t>  </a:t>
            </a:r>
            <a:r>
              <a:rPr lang="zh-CN" altLang="en-US" sz="2000" dirty="0">
                <a:solidFill>
                  <a:schemeClr val="tx2"/>
                </a:solidFill>
                <a:ea typeface="楷体_GB2312"/>
              </a:rPr>
              <a:t>下月初红字冲回</a:t>
            </a:r>
          </a:p>
          <a:p>
            <a:pPr marL="800100" lvl="2" indent="0" defTabSz="762000" eaLnBrk="1" hangingPunct="1">
              <a:lnSpc>
                <a:spcPct val="90000"/>
              </a:lnSpc>
              <a:spcBef>
                <a:spcPct val="50000"/>
              </a:spcBef>
              <a:buNone/>
            </a:pPr>
            <a:r>
              <a:rPr lang="zh-CN" altLang="en-US" sz="2200" dirty="0"/>
              <a:t>  </a:t>
            </a:r>
            <a:r>
              <a:rPr lang="zh-CN" altLang="en-US" sz="2000" kern="1200" dirty="0">
                <a:solidFill>
                  <a:srgbClr val="C00000"/>
                </a:solidFill>
                <a:latin typeface="楷体_GB2312" panose="02010609030101010101" pitchFamily="49" charset="-122"/>
                <a:ea typeface="楷体_GB2312" panose="02010609030101010101" pitchFamily="49" charset="-122"/>
                <a:cs typeface="+mn-cs"/>
              </a:rPr>
              <a:t>借：原材料        </a:t>
            </a:r>
          </a:p>
          <a:p>
            <a:pPr marL="800100" lvl="2" indent="0" defTabSz="762000" eaLnBrk="1" hangingPunct="1">
              <a:lnSpc>
                <a:spcPct val="90000"/>
              </a:lnSpc>
              <a:spcBef>
                <a:spcPct val="50000"/>
              </a:spcBef>
              <a:buNone/>
            </a:pPr>
            <a:r>
              <a:rPr lang="zh-CN" altLang="en-US" sz="2000" kern="1200" dirty="0">
                <a:solidFill>
                  <a:srgbClr val="C00000"/>
                </a:solidFill>
                <a:latin typeface="楷体_GB2312" panose="02010609030101010101" pitchFamily="49" charset="-122"/>
                <a:ea typeface="楷体_GB2312" panose="02010609030101010101" pitchFamily="49" charset="-122"/>
                <a:cs typeface="+mn-cs"/>
              </a:rPr>
              <a:t>      贷：应付账款</a:t>
            </a:r>
            <a:endParaRPr lang="en-US" altLang="zh-CN" sz="2000" kern="1200" dirty="0">
              <a:solidFill>
                <a:srgbClr val="C00000"/>
              </a:solidFill>
              <a:latin typeface="楷体_GB2312" panose="02010609030101010101" pitchFamily="49" charset="-122"/>
              <a:ea typeface="楷体_GB2312" panose="02010609030101010101" pitchFamily="49" charset="-122"/>
              <a:cs typeface="+mn-cs"/>
            </a:endParaRPr>
          </a:p>
          <a:p>
            <a:pPr marL="800100" lvl="2" indent="0" defTabSz="762000" eaLnBrk="1" hangingPunct="1">
              <a:lnSpc>
                <a:spcPct val="90000"/>
              </a:lnSpc>
              <a:spcBef>
                <a:spcPct val="50000"/>
              </a:spcBef>
              <a:buNone/>
            </a:pPr>
            <a:endParaRPr lang="en-US" altLang="zh-CN" sz="2000" kern="1200" dirty="0">
              <a:solidFill>
                <a:srgbClr val="C00000"/>
              </a:solidFill>
              <a:latin typeface="楷体_GB2312" panose="02010609030101010101" pitchFamily="49" charset="-122"/>
              <a:ea typeface="楷体_GB2312" panose="02010609030101010101" pitchFamily="49" charset="-122"/>
              <a:cs typeface="+mn-cs"/>
            </a:endParaRPr>
          </a:p>
          <a:p>
            <a:pPr marL="0" lvl="2" indent="0" defTabSz="762000" eaLnBrk="1" hangingPunct="1">
              <a:lnSpc>
                <a:spcPct val="90000"/>
              </a:lnSpc>
              <a:spcBef>
                <a:spcPct val="50000"/>
              </a:spcBef>
              <a:buNone/>
            </a:pPr>
            <a:r>
              <a:rPr lang="zh-CN" altLang="en-US" kern="1200" dirty="0">
                <a:latin typeface="楷体_GB2312" panose="02010609030101010101" pitchFamily="49" charset="-122"/>
                <a:ea typeface="楷体_GB2312" panose="02010609030101010101" pitchFamily="49" charset="-122"/>
                <a:cs typeface="+mn-cs"/>
              </a:rPr>
              <a:t>下月单到时，做料单同时到达的账务处理，做法同上。</a:t>
            </a:r>
          </a:p>
          <a:p>
            <a:pPr marL="800100" lvl="2" indent="0" defTabSz="762000" eaLnBrk="1" hangingPunct="1">
              <a:lnSpc>
                <a:spcPct val="90000"/>
              </a:lnSpc>
              <a:spcBef>
                <a:spcPct val="50000"/>
              </a:spcBef>
              <a:buNone/>
            </a:pPr>
            <a:endParaRPr lang="zh-CN" altLang="en-US" sz="2000" kern="1200" dirty="0">
              <a:solidFill>
                <a:srgbClr val="C00000"/>
              </a:solidFill>
              <a:latin typeface="楷体_GB2312" panose="02010609030101010101" pitchFamily="49" charset="-122"/>
              <a:ea typeface="楷体_GB2312" panose="02010609030101010101" pitchFamily="49" charset="-122"/>
              <a:cs typeface="+mn-cs"/>
            </a:endParaRPr>
          </a:p>
        </p:txBody>
      </p:sp>
      <p:pic>
        <p:nvPicPr>
          <p:cNvPr id="61446" name="Picture 8" descr="lists"/>
          <p:cNvPicPr>
            <a:picLocks noChangeAspect="1" noChangeArrowheads="1"/>
          </p:cNvPicPr>
          <p:nvPr/>
        </p:nvPicPr>
        <p:blipFill>
          <a:blip r:embed="rId3" cstate="print"/>
          <a:srcRect b="45833"/>
          <a:stretch>
            <a:fillRect/>
          </a:stretch>
        </p:blipFill>
        <p:spPr bwMode="auto">
          <a:xfrm>
            <a:off x="10064749" y="5451475"/>
            <a:ext cx="1325033" cy="800100"/>
          </a:xfrm>
          <a:prstGeom prst="rect">
            <a:avLst/>
          </a:prstGeom>
          <a:noFill/>
          <a:ln w="9525">
            <a:noFill/>
            <a:miter lim="800000"/>
            <a:headEnd/>
            <a:tailEnd/>
          </a:ln>
        </p:spPr>
      </p:pic>
    </p:spTree>
    <p:extLst>
      <p:ext uri="{BB962C8B-B14F-4D97-AF65-F5344CB8AC3E}">
        <p14:creationId xmlns:p14="http://schemas.microsoft.com/office/powerpoint/2010/main" val="27445346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5506" name="Rectangle 2"/>
          <p:cNvSpPr>
            <a:spLocks noGrp="1" noChangeArrowheads="1"/>
          </p:cNvSpPr>
          <p:nvPr>
            <p:ph type="body" idx="1"/>
          </p:nvPr>
        </p:nvSpPr>
        <p:spPr>
          <a:xfrm>
            <a:off x="2243448" y="1949560"/>
            <a:ext cx="7972607" cy="3281363"/>
          </a:xfrm>
        </p:spPr>
        <p:txBody>
          <a:bodyPr/>
          <a:lstStyle/>
          <a:p>
            <a:pPr eaLnBrk="1" hangingPunct="1"/>
            <a:r>
              <a:rPr lang="zh-CN" altLang="en-US" sz="2800" kern="1200" dirty="0"/>
              <a:t>购进原材料发生短缺和损耗</a:t>
            </a:r>
          </a:p>
          <a:p>
            <a:pPr marL="400050" lvl="1" indent="0" eaLnBrk="1" hangingPunct="1">
              <a:spcBef>
                <a:spcPct val="50000"/>
              </a:spcBef>
              <a:buNone/>
            </a:pPr>
            <a:r>
              <a:rPr lang="zh-CN" altLang="en-US" sz="2000" dirty="0">
                <a:solidFill>
                  <a:schemeClr val="tx2"/>
                </a:solidFill>
                <a:latin typeface="黑体" panose="02010609060101010101" pitchFamily="49" charset="-122"/>
                <a:ea typeface="楷体_GB2312"/>
                <a:cs typeface="+mn-cs"/>
              </a:rPr>
              <a:t>批准前：</a:t>
            </a:r>
          </a:p>
          <a:p>
            <a:pPr marL="800100" lvl="2" indent="0" defTabSz="762000" eaLnBrk="1" hangingPunct="1">
              <a:lnSpc>
                <a:spcPct val="90000"/>
              </a:lnSpc>
              <a:spcBef>
                <a:spcPct val="50000"/>
              </a:spcBef>
              <a:buNone/>
            </a:pPr>
            <a:r>
              <a:rPr lang="zh-CN" altLang="en-US" kern="1200" dirty="0">
                <a:latin typeface="楷体_GB2312" panose="02010609030101010101" pitchFamily="49" charset="-122"/>
                <a:ea typeface="楷体_GB2312" panose="02010609030101010101" pitchFamily="49" charset="-122"/>
                <a:cs typeface="+mn-cs"/>
              </a:rPr>
              <a:t>借：待处理财产损溢</a:t>
            </a:r>
          </a:p>
          <a:p>
            <a:pPr marL="800100" lvl="2" indent="0" defTabSz="762000" eaLnBrk="1" hangingPunct="1">
              <a:lnSpc>
                <a:spcPct val="90000"/>
              </a:lnSpc>
              <a:spcBef>
                <a:spcPct val="50000"/>
              </a:spcBef>
              <a:buNone/>
            </a:pPr>
            <a:r>
              <a:rPr lang="zh-CN" altLang="en-US" kern="1200" dirty="0">
                <a:latin typeface="楷体_GB2312" panose="02010609030101010101" pitchFamily="49" charset="-122"/>
                <a:ea typeface="楷体_GB2312" panose="02010609030101010101" pitchFamily="49" charset="-122"/>
                <a:cs typeface="+mn-cs"/>
              </a:rPr>
              <a:t>        贷：材料采购（实际成本）</a:t>
            </a:r>
            <a:r>
              <a:rPr lang="zh-CN" altLang="en-US" dirty="0"/>
              <a:t>         </a:t>
            </a:r>
          </a:p>
        </p:txBody>
      </p:sp>
      <p:pic>
        <p:nvPicPr>
          <p:cNvPr id="62468" name="Picture 5" descr="BD05515_"/>
          <p:cNvPicPr>
            <a:picLocks noChangeAspect="1" noChangeArrowheads="1"/>
          </p:cNvPicPr>
          <p:nvPr/>
        </p:nvPicPr>
        <p:blipFill>
          <a:blip r:embed="rId3" cstate="print"/>
          <a:srcRect/>
          <a:stretch>
            <a:fillRect/>
          </a:stretch>
        </p:blipFill>
        <p:spPr bwMode="auto">
          <a:xfrm>
            <a:off x="319618" y="4519614"/>
            <a:ext cx="2279649" cy="1838325"/>
          </a:xfrm>
          <a:prstGeom prst="rect">
            <a:avLst/>
          </a:prstGeom>
          <a:noFill/>
          <a:ln w="9525">
            <a:noFill/>
            <a:miter lim="800000"/>
            <a:headEnd/>
            <a:tailEnd/>
          </a:ln>
        </p:spPr>
      </p:pic>
    </p:spTree>
    <p:extLst>
      <p:ext uri="{BB962C8B-B14F-4D97-AF65-F5344CB8AC3E}">
        <p14:creationId xmlns:p14="http://schemas.microsoft.com/office/powerpoint/2010/main" val="1104095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405506">
                                            <p:txEl>
                                              <p:pRg st="0" end="0"/>
                                            </p:txEl>
                                          </p:spTgt>
                                        </p:tgtEl>
                                        <p:attrNameLst>
                                          <p:attrName>style.visibility</p:attrName>
                                        </p:attrNameLst>
                                      </p:cBhvr>
                                      <p:to>
                                        <p:strVal val="visible"/>
                                      </p:to>
                                    </p:set>
                                    <p:anim to="" calcmode="lin" valueType="num">
                                      <p:cBhvr>
                                        <p:cTn id="7" dur="1" fill="hold"/>
                                        <p:tgtEl>
                                          <p:spTgt spid="405506">
                                            <p:txEl>
                                              <p:pRg st="0" end="0"/>
                                            </p:txEl>
                                          </p:spTgt>
                                        </p:tgtEl>
                                        <p:attrNameLst>
                                          <p:attrName/>
                                        </p:attrNameLst>
                                      </p:cBhvr>
                                    </p:anim>
                                  </p:childTnLst>
                                </p:cTn>
                              </p:par>
                              <p:par>
                                <p:cTn id="8" presetID="24" presetClass="entr" presetSubtype="0" fill="hold" grpId="0" nodeType="withEffect">
                                  <p:stCondLst>
                                    <p:cond delay="0"/>
                                  </p:stCondLst>
                                  <p:childTnLst>
                                    <p:set>
                                      <p:cBhvr>
                                        <p:cTn id="9" dur="1" fill="hold">
                                          <p:stCondLst>
                                            <p:cond delay="499"/>
                                          </p:stCondLst>
                                        </p:cTn>
                                        <p:tgtEl>
                                          <p:spTgt spid="405506">
                                            <p:txEl>
                                              <p:pRg st="1" end="1"/>
                                            </p:txEl>
                                          </p:spTgt>
                                        </p:tgtEl>
                                        <p:attrNameLst>
                                          <p:attrName>style.visibility</p:attrName>
                                        </p:attrNameLst>
                                      </p:cBhvr>
                                      <p:to>
                                        <p:strVal val="visible"/>
                                      </p:to>
                                    </p:set>
                                    <p:anim to="" calcmode="lin" valueType="num">
                                      <p:cBhvr>
                                        <p:cTn id="10" dur="1" fill="hold"/>
                                        <p:tgtEl>
                                          <p:spTgt spid="405506">
                                            <p:txEl>
                                              <p:pRg st="1" end="1"/>
                                            </p:txEl>
                                          </p:spTgt>
                                        </p:tgtEl>
                                        <p:attrNameLst>
                                          <p:attrName/>
                                        </p:attrNameLst>
                                      </p:cBhvr>
                                    </p:anim>
                                  </p:childTnLst>
                                </p:cTn>
                              </p:par>
                              <p:par>
                                <p:cTn id="11" presetID="24" presetClass="entr" presetSubtype="0" fill="hold" grpId="0" nodeType="withEffect">
                                  <p:stCondLst>
                                    <p:cond delay="0"/>
                                  </p:stCondLst>
                                  <p:childTnLst>
                                    <p:set>
                                      <p:cBhvr>
                                        <p:cTn id="12" dur="1" fill="hold">
                                          <p:stCondLst>
                                            <p:cond delay="499"/>
                                          </p:stCondLst>
                                        </p:cTn>
                                        <p:tgtEl>
                                          <p:spTgt spid="405506">
                                            <p:txEl>
                                              <p:pRg st="2" end="2"/>
                                            </p:txEl>
                                          </p:spTgt>
                                        </p:tgtEl>
                                        <p:attrNameLst>
                                          <p:attrName>style.visibility</p:attrName>
                                        </p:attrNameLst>
                                      </p:cBhvr>
                                      <p:to>
                                        <p:strVal val="visible"/>
                                      </p:to>
                                    </p:set>
                                    <p:anim to="" calcmode="lin" valueType="num">
                                      <p:cBhvr>
                                        <p:cTn id="13" dur="1" fill="hold"/>
                                        <p:tgtEl>
                                          <p:spTgt spid="405506">
                                            <p:txEl>
                                              <p:pRg st="2" end="2"/>
                                            </p:txEl>
                                          </p:spTgt>
                                        </p:tgtEl>
                                        <p:attrNameLst>
                                          <p:attrName/>
                                        </p:attrNameLst>
                                      </p:cBhvr>
                                    </p:anim>
                                  </p:childTnLst>
                                </p:cTn>
                              </p:par>
                              <p:par>
                                <p:cTn id="14" presetID="24" presetClass="entr" presetSubtype="0" fill="hold" grpId="0" nodeType="withEffect">
                                  <p:stCondLst>
                                    <p:cond delay="0"/>
                                  </p:stCondLst>
                                  <p:childTnLst>
                                    <p:set>
                                      <p:cBhvr>
                                        <p:cTn id="15" dur="1" fill="hold">
                                          <p:stCondLst>
                                            <p:cond delay="499"/>
                                          </p:stCondLst>
                                        </p:cTn>
                                        <p:tgtEl>
                                          <p:spTgt spid="405506">
                                            <p:txEl>
                                              <p:pRg st="3" end="3"/>
                                            </p:txEl>
                                          </p:spTgt>
                                        </p:tgtEl>
                                        <p:attrNameLst>
                                          <p:attrName>style.visibility</p:attrName>
                                        </p:attrNameLst>
                                      </p:cBhvr>
                                      <p:to>
                                        <p:strVal val="visible"/>
                                      </p:to>
                                    </p:set>
                                    <p:anim to="" calcmode="lin" valueType="num">
                                      <p:cBhvr>
                                        <p:cTn id="16" dur="1" fill="hold"/>
                                        <p:tgtEl>
                                          <p:spTgt spid="405506">
                                            <p:txEl>
                                              <p:pRg st="3" end="3"/>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6"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7554" name="Rectangle 2"/>
          <p:cNvSpPr>
            <a:spLocks noGrp="1" noChangeArrowheads="1"/>
          </p:cNvSpPr>
          <p:nvPr>
            <p:ph type="body" idx="1"/>
          </p:nvPr>
        </p:nvSpPr>
        <p:spPr>
          <a:xfrm>
            <a:off x="2023242" y="1833235"/>
            <a:ext cx="11146367" cy="4038600"/>
          </a:xfrm>
        </p:spPr>
        <p:txBody>
          <a:bodyPr/>
          <a:lstStyle/>
          <a:p>
            <a:pPr eaLnBrk="1" hangingPunct="1">
              <a:lnSpc>
                <a:spcPct val="80000"/>
              </a:lnSpc>
            </a:pPr>
            <a:r>
              <a:rPr lang="zh-CN" altLang="en-US" sz="2800" kern="1200" dirty="0"/>
              <a:t>购进原材料发生短缺和损耗</a:t>
            </a:r>
          </a:p>
          <a:p>
            <a:pPr eaLnBrk="1" hangingPunct="1">
              <a:lnSpc>
                <a:spcPct val="80000"/>
              </a:lnSpc>
            </a:pPr>
            <a:endParaRPr lang="en-US" altLang="zh-CN" dirty="0">
              <a:solidFill>
                <a:srgbClr val="FF00FF"/>
              </a:solidFill>
              <a:latin typeface="黑体" pitchFamily="2" charset="-122"/>
            </a:endParaRPr>
          </a:p>
          <a:p>
            <a:pPr marL="0" indent="0" eaLnBrk="1" hangingPunct="1">
              <a:lnSpc>
                <a:spcPct val="80000"/>
              </a:lnSpc>
              <a:buNone/>
            </a:pPr>
            <a:r>
              <a:rPr lang="zh-CN" altLang="en-US" sz="2000" dirty="0">
                <a:solidFill>
                  <a:schemeClr val="tx2"/>
                </a:solidFill>
                <a:ea typeface="楷体_GB2312"/>
              </a:rPr>
              <a:t>   批准后：</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借：原材料（定额内） </a:t>
            </a:r>
            <a:r>
              <a:rPr lang="zh-CN" altLang="en-US" sz="2000" kern="1200" dirty="0">
                <a:solidFill>
                  <a:srgbClr val="C00000"/>
                </a:solidFill>
                <a:latin typeface="楷体_GB2312" panose="02010609030101010101" pitchFamily="49" charset="-122"/>
                <a:ea typeface="楷体_GB2312" panose="02010609030101010101" pitchFamily="49" charset="-122"/>
                <a:cs typeface="+mn-cs"/>
              </a:rPr>
              <a:t>（计划成本）</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管理费用（超定额）</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其他应收款、应收账款（能获得赔偿）</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营业外支出（非常损失）</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a:t>
            </a:r>
            <a:r>
              <a:rPr lang="zh-CN" altLang="en-US" sz="2000" kern="1200" dirty="0">
                <a:solidFill>
                  <a:srgbClr val="C00000"/>
                </a:solidFill>
                <a:latin typeface="楷体_GB2312" panose="02010609030101010101" pitchFamily="49" charset="-122"/>
                <a:ea typeface="楷体_GB2312" panose="02010609030101010101" pitchFamily="49" charset="-122"/>
                <a:cs typeface="+mn-cs"/>
              </a:rPr>
              <a:t>（材料成本差异）</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贷：待处理财产损溢（实际成本）</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a:t>
            </a:r>
            <a:r>
              <a:rPr lang="zh-CN" altLang="en-US" sz="2000" kern="1200" dirty="0">
                <a:solidFill>
                  <a:srgbClr val="C00000"/>
                </a:solidFill>
                <a:latin typeface="楷体_GB2312" panose="02010609030101010101" pitchFamily="49" charset="-122"/>
                <a:ea typeface="楷体_GB2312" panose="02010609030101010101" pitchFamily="49" charset="-122"/>
                <a:cs typeface="+mn-cs"/>
              </a:rPr>
              <a:t>（材料成本差异）</a:t>
            </a:r>
            <a:endParaRPr lang="en-US" altLang="zh-CN" sz="2000" kern="1200" dirty="0">
              <a:solidFill>
                <a:srgbClr val="C00000"/>
              </a:solidFill>
              <a:latin typeface="楷体_GB2312" panose="02010609030101010101" pitchFamily="49" charset="-122"/>
              <a:ea typeface="楷体_GB2312" panose="02010609030101010101" pitchFamily="49" charset="-122"/>
              <a:cs typeface="+mn-cs"/>
            </a:endParaRP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应交税费</a:t>
            </a:r>
            <a:r>
              <a:rPr lang="en-US" altLang="zh-CN" sz="2000" kern="1200" dirty="0">
                <a:latin typeface="楷体_GB2312" panose="02010609030101010101" pitchFamily="49" charset="-122"/>
                <a:ea typeface="楷体_GB2312" panose="02010609030101010101" pitchFamily="49" charset="-122"/>
                <a:cs typeface="+mn-cs"/>
              </a:rPr>
              <a:t>—</a:t>
            </a:r>
            <a:r>
              <a:rPr lang="zh-CN" altLang="en-US" sz="2000" kern="1200" dirty="0">
                <a:latin typeface="楷体_GB2312" panose="02010609030101010101" pitchFamily="49" charset="-122"/>
                <a:ea typeface="楷体_GB2312" panose="02010609030101010101" pitchFamily="49" charset="-122"/>
                <a:cs typeface="+mn-cs"/>
              </a:rPr>
              <a:t>应交增值税（进项税额转出）</a:t>
            </a:r>
          </a:p>
          <a:p>
            <a:pPr marL="0" indent="0" eaLnBrk="1" hangingPunct="1">
              <a:lnSpc>
                <a:spcPct val="60000"/>
              </a:lnSpc>
              <a:buNone/>
            </a:pPr>
            <a:r>
              <a:rPr lang="zh-CN" altLang="en-US" sz="2400" dirty="0">
                <a:solidFill>
                  <a:srgbClr val="009999"/>
                </a:solidFill>
                <a:latin typeface="黑体" pitchFamily="2" charset="-122"/>
              </a:rPr>
              <a:t> </a:t>
            </a:r>
          </a:p>
        </p:txBody>
      </p:sp>
      <p:pic>
        <p:nvPicPr>
          <p:cNvPr id="63491" name="Picture 3" descr="BS00823_"/>
          <p:cNvPicPr>
            <a:picLocks noChangeAspect="1" noChangeArrowheads="1"/>
          </p:cNvPicPr>
          <p:nvPr/>
        </p:nvPicPr>
        <p:blipFill>
          <a:blip r:embed="rId3" cstate="print"/>
          <a:srcRect/>
          <a:stretch>
            <a:fillRect/>
          </a:stretch>
        </p:blipFill>
        <p:spPr bwMode="auto">
          <a:xfrm>
            <a:off x="359905" y="4772430"/>
            <a:ext cx="2203451" cy="1406525"/>
          </a:xfrm>
          <a:prstGeom prst="rect">
            <a:avLst/>
          </a:prstGeom>
          <a:noFill/>
          <a:ln w="9525">
            <a:noFill/>
            <a:miter lim="800000"/>
            <a:headEnd/>
            <a:tailEnd/>
          </a:ln>
        </p:spPr>
      </p:pic>
    </p:spTree>
    <p:extLst>
      <p:ext uri="{BB962C8B-B14F-4D97-AF65-F5344CB8AC3E}">
        <p14:creationId xmlns:p14="http://schemas.microsoft.com/office/powerpoint/2010/main" val="17840661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２．发出原材料</a:t>
            </a:r>
          </a:p>
          <a:p>
            <a:pPr lvl="1"/>
            <a:r>
              <a:rPr lang="zh-CN" altLang="en-US" dirty="0"/>
              <a:t>按计划成本发出原材料</a:t>
            </a:r>
          </a:p>
          <a:p>
            <a:pPr lvl="1"/>
            <a:r>
              <a:rPr lang="zh-CN" altLang="en-US" dirty="0"/>
              <a:t>分配发出材料应负担的成本差异</a:t>
            </a:r>
            <a:endParaRPr lang="en-US" altLang="zh-CN" dirty="0"/>
          </a:p>
          <a:p>
            <a:pPr lvl="2"/>
            <a:r>
              <a:rPr lang="zh-CN" altLang="en-US" dirty="0"/>
              <a:t>发出材料应负担的材料成本差异</a:t>
            </a:r>
          </a:p>
          <a:p>
            <a:pPr marL="914400" lvl="2" indent="0">
              <a:buNone/>
            </a:pPr>
            <a:r>
              <a:rPr lang="en-US" altLang="zh-CN" dirty="0"/>
              <a:t>   =</a:t>
            </a:r>
            <a:r>
              <a:rPr lang="zh-CN" altLang="en-US" dirty="0"/>
              <a:t>发出材料的计划成本</a:t>
            </a:r>
            <a:r>
              <a:rPr lang="en-US" altLang="zh-CN" dirty="0"/>
              <a:t>×</a:t>
            </a:r>
            <a:r>
              <a:rPr lang="zh-CN" altLang="en-US" dirty="0"/>
              <a:t>材料成本差异率</a:t>
            </a:r>
            <a:endParaRPr lang="en-US" altLang="zh-CN" dirty="0"/>
          </a:p>
          <a:p>
            <a:pPr lvl="2"/>
            <a:r>
              <a:rPr lang="zh-CN" altLang="en-US" dirty="0"/>
              <a:t>材料成本差异率</a:t>
            </a:r>
          </a:p>
          <a:p>
            <a:pPr lvl="2"/>
            <a:r>
              <a:rPr lang="zh-CN" altLang="en-US" dirty="0"/>
              <a:t>本月和上月，  适用范围</a:t>
            </a:r>
          </a:p>
          <a:p>
            <a:pPr lvl="2"/>
            <a:r>
              <a:rPr lang="zh-CN" altLang="en-US" dirty="0"/>
              <a:t>注意事项（不包括暂估入账、不随意变更等）</a:t>
            </a:r>
          </a:p>
          <a:p>
            <a:pPr lvl="1"/>
            <a:endParaRPr lang="zh-CN" altLang="en-US" dirty="0"/>
          </a:p>
          <a:p>
            <a:pPr lvl="1"/>
            <a:endParaRPr lang="zh-CN" altLang="en-US" dirty="0"/>
          </a:p>
        </p:txBody>
      </p:sp>
    </p:spTree>
    <p:extLst>
      <p:ext uri="{BB962C8B-B14F-4D97-AF65-F5344CB8AC3E}">
        <p14:creationId xmlns:p14="http://schemas.microsoft.com/office/powerpoint/2010/main" val="37656847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p:cNvSpPr>
            <a:spLocks noGrp="1" noChangeArrowheads="1"/>
          </p:cNvSpPr>
          <p:nvPr>
            <p:ph type="body" idx="1"/>
          </p:nvPr>
        </p:nvSpPr>
        <p:spPr>
          <a:xfrm>
            <a:off x="1837121" y="2146737"/>
            <a:ext cx="7001933" cy="4503738"/>
          </a:xfrm>
        </p:spPr>
        <p:txBody>
          <a:bodyPr/>
          <a:lstStyle/>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借：生产成本（产品生产）</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制造费用（生产车间）</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销售费用（销售部门）</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管理费用（管理部门）</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在建工程（工程建设）</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其他业务成本（售出）</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贷：原材料（计划成本）</a:t>
            </a:r>
          </a:p>
        </p:txBody>
      </p:sp>
      <p:sp>
        <p:nvSpPr>
          <p:cNvPr id="65539" name="Rectangle 3"/>
          <p:cNvSpPr>
            <a:spLocks noGrp="1" noChangeArrowheads="1"/>
          </p:cNvSpPr>
          <p:nvPr>
            <p:ph type="title"/>
          </p:nvPr>
        </p:nvSpPr>
        <p:spPr>
          <a:xfrm>
            <a:off x="1509477" y="923543"/>
            <a:ext cx="8475133" cy="869950"/>
          </a:xfrm>
          <a:noFill/>
        </p:spPr>
        <p:txBody>
          <a:bodyPr/>
          <a:lstStyle/>
          <a:p>
            <a:pPr algn="just" eaLnBrk="1" hangingPunct="1"/>
            <a:r>
              <a:rPr lang="zh-CN" altLang="en-US" dirty="0"/>
              <a:t>按计划成本结转成本</a:t>
            </a:r>
          </a:p>
        </p:txBody>
      </p:sp>
    </p:spTree>
    <p:extLst>
      <p:ext uri="{BB962C8B-B14F-4D97-AF65-F5344CB8AC3E}">
        <p14:creationId xmlns:p14="http://schemas.microsoft.com/office/powerpoint/2010/main" val="154378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410626">
                                            <p:txEl>
                                              <p:pRg st="0" end="0"/>
                                            </p:txEl>
                                          </p:spTgt>
                                        </p:tgtEl>
                                        <p:attrNameLst>
                                          <p:attrName>style.visibility</p:attrName>
                                        </p:attrNameLst>
                                      </p:cBhvr>
                                      <p:to>
                                        <p:strVal val="visible"/>
                                      </p:to>
                                    </p:set>
                                    <p:anim to="" calcmode="lin" valueType="num">
                                      <p:cBhvr>
                                        <p:cTn id="7" dur="1" fill="hold"/>
                                        <p:tgtEl>
                                          <p:spTgt spid="410626">
                                            <p:txEl>
                                              <p:pRg st="0" end="0"/>
                                            </p:txEl>
                                          </p:spTgt>
                                        </p:tgtEl>
                                        <p:attrNameLst>
                                          <p:attrName/>
                                        </p:attrNameLst>
                                      </p:cBhvr>
                                    </p:anim>
                                  </p:childTnLst>
                                </p:cTn>
                              </p:par>
                              <p:par>
                                <p:cTn id="8" presetID="24" presetClass="entr" presetSubtype="0" fill="hold" grpId="0" nodeType="withEffect">
                                  <p:stCondLst>
                                    <p:cond delay="0"/>
                                  </p:stCondLst>
                                  <p:childTnLst>
                                    <p:set>
                                      <p:cBhvr>
                                        <p:cTn id="9" dur="1" fill="hold">
                                          <p:stCondLst>
                                            <p:cond delay="499"/>
                                          </p:stCondLst>
                                        </p:cTn>
                                        <p:tgtEl>
                                          <p:spTgt spid="410626">
                                            <p:txEl>
                                              <p:pRg st="1" end="1"/>
                                            </p:txEl>
                                          </p:spTgt>
                                        </p:tgtEl>
                                        <p:attrNameLst>
                                          <p:attrName>style.visibility</p:attrName>
                                        </p:attrNameLst>
                                      </p:cBhvr>
                                      <p:to>
                                        <p:strVal val="visible"/>
                                      </p:to>
                                    </p:set>
                                    <p:anim to="" calcmode="lin" valueType="num">
                                      <p:cBhvr>
                                        <p:cTn id="10" dur="1" fill="hold"/>
                                        <p:tgtEl>
                                          <p:spTgt spid="410626">
                                            <p:txEl>
                                              <p:pRg st="1" end="1"/>
                                            </p:txEl>
                                          </p:spTgt>
                                        </p:tgtEl>
                                        <p:attrNameLst>
                                          <p:attrName/>
                                        </p:attrNameLst>
                                      </p:cBhvr>
                                    </p:anim>
                                  </p:childTnLst>
                                </p:cTn>
                              </p:par>
                              <p:par>
                                <p:cTn id="11" presetID="24" presetClass="entr" presetSubtype="0" fill="hold" grpId="0" nodeType="withEffect">
                                  <p:stCondLst>
                                    <p:cond delay="0"/>
                                  </p:stCondLst>
                                  <p:childTnLst>
                                    <p:set>
                                      <p:cBhvr>
                                        <p:cTn id="12" dur="1" fill="hold">
                                          <p:stCondLst>
                                            <p:cond delay="499"/>
                                          </p:stCondLst>
                                        </p:cTn>
                                        <p:tgtEl>
                                          <p:spTgt spid="410626">
                                            <p:txEl>
                                              <p:pRg st="2" end="2"/>
                                            </p:txEl>
                                          </p:spTgt>
                                        </p:tgtEl>
                                        <p:attrNameLst>
                                          <p:attrName>style.visibility</p:attrName>
                                        </p:attrNameLst>
                                      </p:cBhvr>
                                      <p:to>
                                        <p:strVal val="visible"/>
                                      </p:to>
                                    </p:set>
                                    <p:anim to="" calcmode="lin" valueType="num">
                                      <p:cBhvr>
                                        <p:cTn id="13" dur="1" fill="hold"/>
                                        <p:tgtEl>
                                          <p:spTgt spid="410626">
                                            <p:txEl>
                                              <p:pRg st="2" end="2"/>
                                            </p:txEl>
                                          </p:spTgt>
                                        </p:tgtEl>
                                        <p:attrNameLst>
                                          <p:attrName/>
                                        </p:attrNameLst>
                                      </p:cBhvr>
                                    </p:anim>
                                  </p:childTnLst>
                                </p:cTn>
                              </p:par>
                              <p:par>
                                <p:cTn id="14" presetID="24" presetClass="entr" presetSubtype="0" fill="hold" grpId="0" nodeType="withEffect">
                                  <p:stCondLst>
                                    <p:cond delay="0"/>
                                  </p:stCondLst>
                                  <p:childTnLst>
                                    <p:set>
                                      <p:cBhvr>
                                        <p:cTn id="15" dur="1" fill="hold">
                                          <p:stCondLst>
                                            <p:cond delay="499"/>
                                          </p:stCondLst>
                                        </p:cTn>
                                        <p:tgtEl>
                                          <p:spTgt spid="410626">
                                            <p:txEl>
                                              <p:pRg st="3" end="3"/>
                                            </p:txEl>
                                          </p:spTgt>
                                        </p:tgtEl>
                                        <p:attrNameLst>
                                          <p:attrName>style.visibility</p:attrName>
                                        </p:attrNameLst>
                                      </p:cBhvr>
                                      <p:to>
                                        <p:strVal val="visible"/>
                                      </p:to>
                                    </p:set>
                                    <p:anim to="" calcmode="lin" valueType="num">
                                      <p:cBhvr>
                                        <p:cTn id="16" dur="1" fill="hold"/>
                                        <p:tgtEl>
                                          <p:spTgt spid="410626">
                                            <p:txEl>
                                              <p:pRg st="3" end="3"/>
                                            </p:txEl>
                                          </p:spTgt>
                                        </p:tgtEl>
                                        <p:attrNameLst>
                                          <p:attrName/>
                                        </p:attrNameLst>
                                      </p:cBhvr>
                                    </p:anim>
                                  </p:childTnLst>
                                </p:cTn>
                              </p:par>
                              <p:par>
                                <p:cTn id="17" presetID="24" presetClass="entr" presetSubtype="0" fill="hold" grpId="0" nodeType="withEffect">
                                  <p:stCondLst>
                                    <p:cond delay="0"/>
                                  </p:stCondLst>
                                  <p:childTnLst>
                                    <p:set>
                                      <p:cBhvr>
                                        <p:cTn id="18" dur="1" fill="hold">
                                          <p:stCondLst>
                                            <p:cond delay="499"/>
                                          </p:stCondLst>
                                        </p:cTn>
                                        <p:tgtEl>
                                          <p:spTgt spid="410626">
                                            <p:txEl>
                                              <p:pRg st="4" end="4"/>
                                            </p:txEl>
                                          </p:spTgt>
                                        </p:tgtEl>
                                        <p:attrNameLst>
                                          <p:attrName>style.visibility</p:attrName>
                                        </p:attrNameLst>
                                      </p:cBhvr>
                                      <p:to>
                                        <p:strVal val="visible"/>
                                      </p:to>
                                    </p:set>
                                    <p:anim to="" calcmode="lin" valueType="num">
                                      <p:cBhvr>
                                        <p:cTn id="19" dur="1" fill="hold"/>
                                        <p:tgtEl>
                                          <p:spTgt spid="410626">
                                            <p:txEl>
                                              <p:pRg st="4" end="4"/>
                                            </p:txEl>
                                          </p:spTgt>
                                        </p:tgtEl>
                                        <p:attrNameLst>
                                          <p:attrName/>
                                        </p:attrNameLst>
                                      </p:cBhvr>
                                    </p:anim>
                                  </p:childTnLst>
                                </p:cTn>
                              </p:par>
                              <p:par>
                                <p:cTn id="20" presetID="24" presetClass="entr" presetSubtype="0" fill="hold" grpId="0" nodeType="withEffect">
                                  <p:stCondLst>
                                    <p:cond delay="0"/>
                                  </p:stCondLst>
                                  <p:childTnLst>
                                    <p:set>
                                      <p:cBhvr>
                                        <p:cTn id="21" dur="1" fill="hold">
                                          <p:stCondLst>
                                            <p:cond delay="499"/>
                                          </p:stCondLst>
                                        </p:cTn>
                                        <p:tgtEl>
                                          <p:spTgt spid="410626">
                                            <p:txEl>
                                              <p:pRg st="5" end="5"/>
                                            </p:txEl>
                                          </p:spTgt>
                                        </p:tgtEl>
                                        <p:attrNameLst>
                                          <p:attrName>style.visibility</p:attrName>
                                        </p:attrNameLst>
                                      </p:cBhvr>
                                      <p:to>
                                        <p:strVal val="visible"/>
                                      </p:to>
                                    </p:set>
                                    <p:anim to="" calcmode="lin" valueType="num">
                                      <p:cBhvr>
                                        <p:cTn id="22" dur="1" fill="hold"/>
                                        <p:tgtEl>
                                          <p:spTgt spid="410626">
                                            <p:txEl>
                                              <p:pRg st="5" end="5"/>
                                            </p:txEl>
                                          </p:spTgt>
                                        </p:tgtEl>
                                        <p:attrNameLst>
                                          <p:attrName/>
                                        </p:attrNameLst>
                                      </p:cBhvr>
                                    </p:anim>
                                  </p:childTnLst>
                                </p:cTn>
                              </p:par>
                              <p:par>
                                <p:cTn id="23" presetID="24" presetClass="entr" presetSubtype="0" fill="hold" grpId="0" nodeType="withEffect">
                                  <p:stCondLst>
                                    <p:cond delay="0"/>
                                  </p:stCondLst>
                                  <p:childTnLst>
                                    <p:set>
                                      <p:cBhvr>
                                        <p:cTn id="24" dur="1" fill="hold">
                                          <p:stCondLst>
                                            <p:cond delay="499"/>
                                          </p:stCondLst>
                                        </p:cTn>
                                        <p:tgtEl>
                                          <p:spTgt spid="410626">
                                            <p:txEl>
                                              <p:pRg st="6" end="6"/>
                                            </p:txEl>
                                          </p:spTgt>
                                        </p:tgtEl>
                                        <p:attrNameLst>
                                          <p:attrName>style.visibility</p:attrName>
                                        </p:attrNameLst>
                                      </p:cBhvr>
                                      <p:to>
                                        <p:strVal val="visible"/>
                                      </p:to>
                                    </p:set>
                                    <p:anim to="" calcmode="lin" valueType="num">
                                      <p:cBhvr>
                                        <p:cTn id="25" dur="1" fill="hold"/>
                                        <p:tgtEl>
                                          <p:spTgt spid="410626">
                                            <p:txEl>
                                              <p:pRg st="6" end="6"/>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6"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2674" name="Rectangle 2"/>
          <p:cNvSpPr>
            <a:spLocks noGrp="1" noChangeArrowheads="1"/>
          </p:cNvSpPr>
          <p:nvPr>
            <p:ph type="body" idx="1"/>
          </p:nvPr>
        </p:nvSpPr>
        <p:spPr>
          <a:xfrm>
            <a:off x="1660635" y="2176518"/>
            <a:ext cx="9256184" cy="4449763"/>
          </a:xfrm>
        </p:spPr>
        <p:txBody>
          <a:bodyPr/>
          <a:lstStyle/>
          <a:p>
            <a:pPr marL="800100" lvl="2" indent="0" defTabSz="762000" eaLnBrk="1" hangingPunct="1">
              <a:lnSpc>
                <a:spcPct val="90000"/>
              </a:lnSpc>
              <a:spcBef>
                <a:spcPct val="50000"/>
              </a:spcBef>
              <a:buNone/>
            </a:pPr>
            <a:r>
              <a:rPr lang="en-US" altLang="zh-CN" dirty="0">
                <a:solidFill>
                  <a:srgbClr val="009999"/>
                </a:solidFill>
                <a:latin typeface="黑体" pitchFamily="2" charset="-122"/>
              </a:rPr>
              <a:t>  </a:t>
            </a:r>
            <a:r>
              <a:rPr lang="zh-CN" altLang="en-US" sz="2000" kern="1200" dirty="0">
                <a:latin typeface="楷体_GB2312" panose="02010609030101010101" pitchFamily="49" charset="-122"/>
                <a:ea typeface="楷体_GB2312" panose="02010609030101010101" pitchFamily="49" charset="-122"/>
                <a:cs typeface="+mn-cs"/>
              </a:rPr>
              <a:t>借：生产成本（产品生产）</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制造费用（生产车间）</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销售费用（销售部门）</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管理费用（管理部门）</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在建工程（工程建设）</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其他业务成本（售出）</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贷：材料成本差异</a:t>
            </a:r>
            <a:r>
              <a:rPr lang="zh-CN" altLang="en-US" dirty="0"/>
              <a:t>（</a:t>
            </a:r>
            <a:r>
              <a:rPr lang="zh-CN" altLang="en-US" dirty="0">
                <a:solidFill>
                  <a:srgbClr val="0066FF"/>
                </a:solidFill>
              </a:rPr>
              <a:t>超支差蓝字</a:t>
            </a:r>
            <a:r>
              <a:rPr lang="zh-CN" altLang="en-US" dirty="0"/>
              <a:t>）                                                            </a:t>
            </a:r>
            <a:endParaRPr lang="en-US" altLang="zh-CN" dirty="0"/>
          </a:p>
          <a:p>
            <a:pPr marL="800100" lvl="2" indent="0" defTabSz="762000" eaLnBrk="1" hangingPunct="1">
              <a:lnSpc>
                <a:spcPct val="90000"/>
              </a:lnSpc>
              <a:spcBef>
                <a:spcPct val="50000"/>
              </a:spcBef>
              <a:buNone/>
            </a:pPr>
            <a:r>
              <a:rPr lang="en-US" altLang="zh-CN" dirty="0"/>
              <a:t>                                      </a:t>
            </a:r>
            <a:r>
              <a:rPr lang="zh-CN" altLang="en-US" dirty="0"/>
              <a:t>（</a:t>
            </a:r>
            <a:r>
              <a:rPr lang="zh-CN" altLang="en-US" dirty="0">
                <a:solidFill>
                  <a:srgbClr val="FF0000"/>
                </a:solidFill>
              </a:rPr>
              <a:t>节约差红字</a:t>
            </a:r>
            <a:r>
              <a:rPr lang="zh-CN" altLang="en-US" dirty="0"/>
              <a:t>）</a:t>
            </a:r>
          </a:p>
        </p:txBody>
      </p:sp>
      <p:sp>
        <p:nvSpPr>
          <p:cNvPr id="66563" name="Rectangle 3"/>
          <p:cNvSpPr>
            <a:spLocks noGrp="1" noChangeArrowheads="1"/>
          </p:cNvSpPr>
          <p:nvPr>
            <p:ph type="title"/>
          </p:nvPr>
        </p:nvSpPr>
        <p:spPr>
          <a:xfrm>
            <a:off x="1462180" y="876246"/>
            <a:ext cx="8475133" cy="869950"/>
          </a:xfrm>
          <a:noFill/>
        </p:spPr>
        <p:txBody>
          <a:bodyPr/>
          <a:lstStyle/>
          <a:p>
            <a:pPr algn="just" eaLnBrk="1" hangingPunct="1"/>
            <a:r>
              <a:rPr lang="zh-CN" altLang="en-US" dirty="0"/>
              <a:t>结转成本中的材料成本差异</a:t>
            </a:r>
          </a:p>
        </p:txBody>
      </p:sp>
    </p:spTree>
    <p:extLst>
      <p:ext uri="{BB962C8B-B14F-4D97-AF65-F5344CB8AC3E}">
        <p14:creationId xmlns:p14="http://schemas.microsoft.com/office/powerpoint/2010/main" val="344734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412674">
                                            <p:txEl>
                                              <p:pRg st="0" end="0"/>
                                            </p:txEl>
                                          </p:spTgt>
                                        </p:tgtEl>
                                        <p:attrNameLst>
                                          <p:attrName>style.visibility</p:attrName>
                                        </p:attrNameLst>
                                      </p:cBhvr>
                                      <p:to>
                                        <p:strVal val="visible"/>
                                      </p:to>
                                    </p:set>
                                    <p:anim to="" calcmode="lin" valueType="num">
                                      <p:cBhvr>
                                        <p:cTn id="7" dur="1" fill="hold"/>
                                        <p:tgtEl>
                                          <p:spTgt spid="412674">
                                            <p:txEl>
                                              <p:pRg st="0" end="0"/>
                                            </p:txEl>
                                          </p:spTgt>
                                        </p:tgtEl>
                                        <p:attrNameLst>
                                          <p:attrName/>
                                        </p:attrNameLst>
                                      </p:cBhvr>
                                    </p:anim>
                                  </p:childTnLst>
                                </p:cTn>
                              </p:par>
                              <p:par>
                                <p:cTn id="8" presetID="24" presetClass="entr" presetSubtype="0" fill="hold" grpId="0" nodeType="withEffect">
                                  <p:stCondLst>
                                    <p:cond delay="0"/>
                                  </p:stCondLst>
                                  <p:childTnLst>
                                    <p:set>
                                      <p:cBhvr>
                                        <p:cTn id="9" dur="1" fill="hold">
                                          <p:stCondLst>
                                            <p:cond delay="499"/>
                                          </p:stCondLst>
                                        </p:cTn>
                                        <p:tgtEl>
                                          <p:spTgt spid="412674">
                                            <p:txEl>
                                              <p:pRg st="1" end="1"/>
                                            </p:txEl>
                                          </p:spTgt>
                                        </p:tgtEl>
                                        <p:attrNameLst>
                                          <p:attrName>style.visibility</p:attrName>
                                        </p:attrNameLst>
                                      </p:cBhvr>
                                      <p:to>
                                        <p:strVal val="visible"/>
                                      </p:to>
                                    </p:set>
                                    <p:anim to="" calcmode="lin" valueType="num">
                                      <p:cBhvr>
                                        <p:cTn id="10" dur="1" fill="hold"/>
                                        <p:tgtEl>
                                          <p:spTgt spid="412674">
                                            <p:txEl>
                                              <p:pRg st="1" end="1"/>
                                            </p:txEl>
                                          </p:spTgt>
                                        </p:tgtEl>
                                        <p:attrNameLst>
                                          <p:attrName/>
                                        </p:attrNameLst>
                                      </p:cBhvr>
                                    </p:anim>
                                  </p:childTnLst>
                                </p:cTn>
                              </p:par>
                              <p:par>
                                <p:cTn id="11" presetID="24" presetClass="entr" presetSubtype="0" fill="hold" grpId="0" nodeType="withEffect">
                                  <p:stCondLst>
                                    <p:cond delay="0"/>
                                  </p:stCondLst>
                                  <p:childTnLst>
                                    <p:set>
                                      <p:cBhvr>
                                        <p:cTn id="12" dur="1" fill="hold">
                                          <p:stCondLst>
                                            <p:cond delay="499"/>
                                          </p:stCondLst>
                                        </p:cTn>
                                        <p:tgtEl>
                                          <p:spTgt spid="412674">
                                            <p:txEl>
                                              <p:pRg st="2" end="2"/>
                                            </p:txEl>
                                          </p:spTgt>
                                        </p:tgtEl>
                                        <p:attrNameLst>
                                          <p:attrName>style.visibility</p:attrName>
                                        </p:attrNameLst>
                                      </p:cBhvr>
                                      <p:to>
                                        <p:strVal val="visible"/>
                                      </p:to>
                                    </p:set>
                                    <p:anim to="" calcmode="lin" valueType="num">
                                      <p:cBhvr>
                                        <p:cTn id="13" dur="1" fill="hold"/>
                                        <p:tgtEl>
                                          <p:spTgt spid="412674">
                                            <p:txEl>
                                              <p:pRg st="2" end="2"/>
                                            </p:txEl>
                                          </p:spTgt>
                                        </p:tgtEl>
                                        <p:attrNameLst>
                                          <p:attrName/>
                                        </p:attrNameLst>
                                      </p:cBhvr>
                                    </p:anim>
                                  </p:childTnLst>
                                </p:cTn>
                              </p:par>
                              <p:par>
                                <p:cTn id="14" presetID="24" presetClass="entr" presetSubtype="0" fill="hold" grpId="0" nodeType="withEffect">
                                  <p:stCondLst>
                                    <p:cond delay="0"/>
                                  </p:stCondLst>
                                  <p:childTnLst>
                                    <p:set>
                                      <p:cBhvr>
                                        <p:cTn id="15" dur="1" fill="hold">
                                          <p:stCondLst>
                                            <p:cond delay="499"/>
                                          </p:stCondLst>
                                        </p:cTn>
                                        <p:tgtEl>
                                          <p:spTgt spid="412674">
                                            <p:txEl>
                                              <p:pRg st="3" end="3"/>
                                            </p:txEl>
                                          </p:spTgt>
                                        </p:tgtEl>
                                        <p:attrNameLst>
                                          <p:attrName>style.visibility</p:attrName>
                                        </p:attrNameLst>
                                      </p:cBhvr>
                                      <p:to>
                                        <p:strVal val="visible"/>
                                      </p:to>
                                    </p:set>
                                    <p:anim to="" calcmode="lin" valueType="num">
                                      <p:cBhvr>
                                        <p:cTn id="16" dur="1" fill="hold"/>
                                        <p:tgtEl>
                                          <p:spTgt spid="412674">
                                            <p:txEl>
                                              <p:pRg st="3" end="3"/>
                                            </p:txEl>
                                          </p:spTgt>
                                        </p:tgtEl>
                                        <p:attrNameLst>
                                          <p:attrName/>
                                        </p:attrNameLst>
                                      </p:cBhvr>
                                    </p:anim>
                                  </p:childTnLst>
                                </p:cTn>
                              </p:par>
                              <p:par>
                                <p:cTn id="17" presetID="24" presetClass="entr" presetSubtype="0" fill="hold" grpId="0" nodeType="withEffect">
                                  <p:stCondLst>
                                    <p:cond delay="0"/>
                                  </p:stCondLst>
                                  <p:childTnLst>
                                    <p:set>
                                      <p:cBhvr>
                                        <p:cTn id="18" dur="1" fill="hold">
                                          <p:stCondLst>
                                            <p:cond delay="499"/>
                                          </p:stCondLst>
                                        </p:cTn>
                                        <p:tgtEl>
                                          <p:spTgt spid="412674">
                                            <p:txEl>
                                              <p:pRg st="4" end="4"/>
                                            </p:txEl>
                                          </p:spTgt>
                                        </p:tgtEl>
                                        <p:attrNameLst>
                                          <p:attrName>style.visibility</p:attrName>
                                        </p:attrNameLst>
                                      </p:cBhvr>
                                      <p:to>
                                        <p:strVal val="visible"/>
                                      </p:to>
                                    </p:set>
                                    <p:anim to="" calcmode="lin" valueType="num">
                                      <p:cBhvr>
                                        <p:cTn id="19" dur="1" fill="hold"/>
                                        <p:tgtEl>
                                          <p:spTgt spid="412674">
                                            <p:txEl>
                                              <p:pRg st="4" end="4"/>
                                            </p:txEl>
                                          </p:spTgt>
                                        </p:tgtEl>
                                        <p:attrNameLst>
                                          <p:attrName/>
                                        </p:attrNameLst>
                                      </p:cBhvr>
                                    </p:anim>
                                  </p:childTnLst>
                                </p:cTn>
                              </p:par>
                              <p:par>
                                <p:cTn id="20" presetID="24" presetClass="entr" presetSubtype="0" fill="hold" grpId="0" nodeType="withEffect">
                                  <p:stCondLst>
                                    <p:cond delay="0"/>
                                  </p:stCondLst>
                                  <p:childTnLst>
                                    <p:set>
                                      <p:cBhvr>
                                        <p:cTn id="21" dur="1" fill="hold">
                                          <p:stCondLst>
                                            <p:cond delay="499"/>
                                          </p:stCondLst>
                                        </p:cTn>
                                        <p:tgtEl>
                                          <p:spTgt spid="412674">
                                            <p:txEl>
                                              <p:pRg st="5" end="5"/>
                                            </p:txEl>
                                          </p:spTgt>
                                        </p:tgtEl>
                                        <p:attrNameLst>
                                          <p:attrName>style.visibility</p:attrName>
                                        </p:attrNameLst>
                                      </p:cBhvr>
                                      <p:to>
                                        <p:strVal val="visible"/>
                                      </p:to>
                                    </p:set>
                                    <p:anim to="" calcmode="lin" valueType="num">
                                      <p:cBhvr>
                                        <p:cTn id="22" dur="1" fill="hold"/>
                                        <p:tgtEl>
                                          <p:spTgt spid="412674">
                                            <p:txEl>
                                              <p:pRg st="5" end="5"/>
                                            </p:txEl>
                                          </p:spTgt>
                                        </p:tgtEl>
                                        <p:attrNameLst>
                                          <p:attrName/>
                                        </p:attrNameLst>
                                      </p:cBhvr>
                                    </p:anim>
                                  </p:childTnLst>
                                </p:cTn>
                              </p:par>
                              <p:par>
                                <p:cTn id="23" presetID="24" presetClass="entr" presetSubtype="0" fill="hold" grpId="0" nodeType="withEffect">
                                  <p:stCondLst>
                                    <p:cond delay="0"/>
                                  </p:stCondLst>
                                  <p:childTnLst>
                                    <p:set>
                                      <p:cBhvr>
                                        <p:cTn id="24" dur="1" fill="hold">
                                          <p:stCondLst>
                                            <p:cond delay="499"/>
                                          </p:stCondLst>
                                        </p:cTn>
                                        <p:tgtEl>
                                          <p:spTgt spid="412674">
                                            <p:txEl>
                                              <p:pRg st="6" end="6"/>
                                            </p:txEl>
                                          </p:spTgt>
                                        </p:tgtEl>
                                        <p:attrNameLst>
                                          <p:attrName>style.visibility</p:attrName>
                                        </p:attrNameLst>
                                      </p:cBhvr>
                                      <p:to>
                                        <p:strVal val="visible"/>
                                      </p:to>
                                    </p:set>
                                    <p:anim to="" calcmode="lin" valueType="num">
                                      <p:cBhvr>
                                        <p:cTn id="25" dur="1" fill="hold"/>
                                        <p:tgtEl>
                                          <p:spTgt spid="412674">
                                            <p:txEl>
                                              <p:pRg st="6" end="6"/>
                                            </p:txEl>
                                          </p:spTgt>
                                        </p:tgtEl>
                                        <p:attrNameLst>
                                          <p:attrName/>
                                        </p:attrNameLst>
                                      </p:cBhvr>
                                    </p:anim>
                                  </p:childTnLst>
                                </p:cTn>
                              </p:par>
                              <p:par>
                                <p:cTn id="26" presetID="24" presetClass="entr" presetSubtype="0" fill="hold" grpId="0" nodeType="withEffect">
                                  <p:stCondLst>
                                    <p:cond delay="0"/>
                                  </p:stCondLst>
                                  <p:childTnLst>
                                    <p:set>
                                      <p:cBhvr>
                                        <p:cTn id="27" dur="1" fill="hold">
                                          <p:stCondLst>
                                            <p:cond delay="499"/>
                                          </p:stCondLst>
                                        </p:cTn>
                                        <p:tgtEl>
                                          <p:spTgt spid="412674">
                                            <p:txEl>
                                              <p:pRg st="7" end="7"/>
                                            </p:txEl>
                                          </p:spTgt>
                                        </p:tgtEl>
                                        <p:attrNameLst>
                                          <p:attrName>style.visibility</p:attrName>
                                        </p:attrNameLst>
                                      </p:cBhvr>
                                      <p:to>
                                        <p:strVal val="visible"/>
                                      </p:to>
                                    </p:set>
                                    <p:anim to="" calcmode="lin" valueType="num">
                                      <p:cBhvr>
                                        <p:cTn id="28" dur="1" fill="hold"/>
                                        <p:tgtEl>
                                          <p:spTgt spid="412674">
                                            <p:txEl>
                                              <p:pRg st="7" end="7"/>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4"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540496" y="975109"/>
            <a:ext cx="8481484" cy="619125"/>
          </a:xfrm>
        </p:spPr>
        <p:txBody>
          <a:bodyPr/>
          <a:lstStyle/>
          <a:p>
            <a:pPr eaLnBrk="1" hangingPunct="1"/>
            <a:r>
              <a:rPr lang="zh-CN" altLang="en-US" dirty="0"/>
              <a:t>练习题  </a:t>
            </a:r>
          </a:p>
        </p:txBody>
      </p:sp>
      <p:sp>
        <p:nvSpPr>
          <p:cNvPr id="67587" name="Rectangle 3"/>
          <p:cNvSpPr>
            <a:spLocks noGrp="1" noChangeArrowheads="1"/>
          </p:cNvSpPr>
          <p:nvPr>
            <p:ph type="body" idx="1"/>
          </p:nvPr>
        </p:nvSpPr>
        <p:spPr>
          <a:xfrm>
            <a:off x="1011913" y="2027237"/>
            <a:ext cx="10733397" cy="4830763"/>
          </a:xfrm>
        </p:spPr>
        <p:txBody>
          <a:bodyPr/>
          <a:lstStyle/>
          <a:p>
            <a:r>
              <a:rPr lang="en-US" altLang="zh-CN" sz="2400" b="0" dirty="0"/>
              <a:t>1.</a:t>
            </a:r>
            <a:r>
              <a:rPr lang="zh-CN" altLang="en-US" sz="2400" b="0" dirty="0"/>
              <a:t>某工业公司为增值税一般纳税企业，材料收发日常核算按计划成本计价，</a:t>
            </a:r>
            <a:r>
              <a:rPr lang="en-US" altLang="zh-CN" sz="2400" b="0" dirty="0"/>
              <a:t>2×20</a:t>
            </a:r>
            <a:r>
              <a:rPr lang="zh-CN" altLang="en-US" sz="2400" b="0" dirty="0"/>
              <a:t>年</a:t>
            </a:r>
            <a:r>
              <a:rPr lang="en-US" altLang="zh-CN" sz="2400" b="0" dirty="0"/>
              <a:t>8</a:t>
            </a:r>
            <a:r>
              <a:rPr lang="zh-CN" altLang="en-US" sz="2400" b="0" dirty="0"/>
              <a:t>月份发生以下经济业务： </a:t>
            </a:r>
          </a:p>
          <a:p>
            <a:r>
              <a:rPr lang="zh-CN" altLang="en-US" sz="2400" b="0" dirty="0"/>
              <a:t>（</a:t>
            </a:r>
            <a:r>
              <a:rPr lang="en-US" altLang="zh-CN" sz="2400" b="0" dirty="0"/>
              <a:t>1</a:t>
            </a:r>
            <a:r>
              <a:rPr lang="zh-CN" altLang="en-US" sz="2400" b="0" dirty="0"/>
              <a:t>）</a:t>
            </a:r>
            <a:r>
              <a:rPr lang="en-US" altLang="zh-CN" sz="2400" b="0" dirty="0"/>
              <a:t>8</a:t>
            </a:r>
            <a:r>
              <a:rPr lang="zh-CN" altLang="en-US" sz="2400" b="0" dirty="0"/>
              <a:t>月</a:t>
            </a:r>
            <a:r>
              <a:rPr lang="en-US" altLang="zh-CN" sz="2400" b="0" dirty="0"/>
              <a:t>2</a:t>
            </a:r>
            <a:r>
              <a:rPr lang="zh-CN" altLang="en-US" sz="2400" b="0" dirty="0"/>
              <a:t>日，从本市购进</a:t>
            </a:r>
            <a:r>
              <a:rPr lang="en-US" altLang="zh-CN" sz="2400" b="0" dirty="0"/>
              <a:t>A</a:t>
            </a:r>
            <a:r>
              <a:rPr lang="zh-CN" altLang="en-US" sz="2400" b="0" dirty="0"/>
              <a:t>材料</a:t>
            </a:r>
            <a:r>
              <a:rPr lang="en-US" altLang="zh-CN" sz="2400" b="0" dirty="0"/>
              <a:t>300</a:t>
            </a:r>
            <a:r>
              <a:rPr lang="zh-CN" altLang="en-US" sz="2400" b="0" dirty="0"/>
              <a:t>吨，单价</a:t>
            </a:r>
            <a:r>
              <a:rPr lang="en-US" altLang="zh-CN" sz="2400" b="0" dirty="0"/>
              <a:t>200</a:t>
            </a:r>
            <a:r>
              <a:rPr lang="zh-CN" altLang="en-US" sz="2400" b="0" dirty="0"/>
              <a:t>元，专用发票注明增值税款</a:t>
            </a:r>
            <a:r>
              <a:rPr lang="en-US" altLang="zh-CN" sz="2400" b="0" dirty="0"/>
              <a:t>7 800</a:t>
            </a:r>
            <a:r>
              <a:rPr lang="zh-CN" altLang="en-US" sz="2400" b="0" dirty="0"/>
              <a:t>元，款已用转账支票支付，材料已验收入库，计划单价</a:t>
            </a:r>
            <a:r>
              <a:rPr lang="en-US" altLang="zh-CN" sz="2400" b="0" dirty="0"/>
              <a:t>210</a:t>
            </a:r>
            <a:r>
              <a:rPr lang="zh-CN" altLang="en-US" sz="2400" b="0" dirty="0"/>
              <a:t>元。</a:t>
            </a:r>
          </a:p>
          <a:p>
            <a:r>
              <a:rPr lang="zh-CN" altLang="en-US" sz="2400" b="0" dirty="0"/>
              <a:t>（</a:t>
            </a:r>
            <a:r>
              <a:rPr lang="en-US" altLang="zh-CN" sz="2400" b="0" dirty="0"/>
              <a:t>2</a:t>
            </a:r>
            <a:r>
              <a:rPr lang="zh-CN" altLang="en-US" sz="2400" b="0" dirty="0"/>
              <a:t>）</a:t>
            </a:r>
            <a:r>
              <a:rPr lang="en-US" altLang="zh-CN" sz="2400" b="0" dirty="0"/>
              <a:t>8</a:t>
            </a:r>
            <a:r>
              <a:rPr lang="zh-CN" altLang="en-US" sz="2400" b="0" dirty="0"/>
              <a:t>月</a:t>
            </a:r>
            <a:r>
              <a:rPr lang="en-US" altLang="zh-CN" sz="2400" b="0" dirty="0"/>
              <a:t>3</a:t>
            </a:r>
            <a:r>
              <a:rPr lang="zh-CN" altLang="en-US" sz="2400" b="0" dirty="0"/>
              <a:t>日，从华阳机电公司购进</a:t>
            </a:r>
            <a:r>
              <a:rPr lang="en-US" altLang="zh-CN" sz="2400" b="0" dirty="0"/>
              <a:t>B</a:t>
            </a:r>
            <a:r>
              <a:rPr lang="zh-CN" altLang="en-US" sz="2400" b="0" dirty="0"/>
              <a:t>材料</a:t>
            </a:r>
            <a:r>
              <a:rPr lang="en-US" altLang="zh-CN" sz="2400" b="0" dirty="0"/>
              <a:t>1 000</a:t>
            </a:r>
            <a:r>
              <a:rPr lang="zh-CN" altLang="en-US" sz="2400" b="0" dirty="0"/>
              <a:t>件，单价</a:t>
            </a:r>
            <a:r>
              <a:rPr lang="en-US" altLang="zh-CN" sz="2400" b="0" dirty="0"/>
              <a:t>40</a:t>
            </a:r>
            <a:r>
              <a:rPr lang="zh-CN" altLang="en-US" sz="2400" b="0" dirty="0"/>
              <a:t>元，专用发票注明增值税款</a:t>
            </a:r>
            <a:r>
              <a:rPr lang="en-US" altLang="zh-CN" sz="2400" b="0" dirty="0"/>
              <a:t>5 200</a:t>
            </a:r>
            <a:r>
              <a:rPr lang="zh-CN" altLang="en-US" sz="2400" b="0" dirty="0"/>
              <a:t>元，运费</a:t>
            </a:r>
            <a:r>
              <a:rPr lang="en-US" altLang="zh-CN" sz="2400" b="0" dirty="0"/>
              <a:t>160</a:t>
            </a:r>
            <a:r>
              <a:rPr lang="zh-CN" altLang="en-US" sz="2400" b="0" dirty="0"/>
              <a:t>元，装卸费</a:t>
            </a:r>
            <a:r>
              <a:rPr lang="en-US" altLang="zh-CN" sz="2400" b="0" dirty="0"/>
              <a:t>40</a:t>
            </a:r>
            <a:r>
              <a:rPr lang="zh-CN" altLang="en-US" sz="2400" b="0" dirty="0"/>
              <a:t>元，材料已验收入库，计划单价</a:t>
            </a:r>
            <a:r>
              <a:rPr lang="en-US" altLang="zh-CN" sz="2400" b="0" dirty="0"/>
              <a:t>39.50</a:t>
            </a:r>
            <a:r>
              <a:rPr lang="zh-CN" altLang="en-US" sz="2400" b="0" dirty="0"/>
              <a:t>元，货款及运杂费（由销售方垫付）尚未支付</a:t>
            </a:r>
          </a:p>
        </p:txBody>
      </p:sp>
    </p:spTree>
    <p:extLst>
      <p:ext uri="{BB962C8B-B14F-4D97-AF65-F5344CB8AC3E}">
        <p14:creationId xmlns:p14="http://schemas.microsoft.com/office/powerpoint/2010/main" val="2670566987"/>
      </p:ext>
    </p:extLst>
  </p:cSld>
  <p:clrMapOvr>
    <a:masterClrMapping/>
  </p:clrMapOvr>
  <p:transition spd="slow">
    <p:strips dir="l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1745448" y="898472"/>
            <a:ext cx="8481484" cy="725487"/>
          </a:xfrm>
        </p:spPr>
        <p:txBody>
          <a:bodyPr/>
          <a:lstStyle/>
          <a:p>
            <a:pPr eaLnBrk="1" hangingPunct="1"/>
            <a:r>
              <a:rPr lang="zh-CN" altLang="en-US" dirty="0"/>
              <a:t>练习题（接上页）</a:t>
            </a:r>
          </a:p>
        </p:txBody>
      </p:sp>
      <p:sp>
        <p:nvSpPr>
          <p:cNvPr id="68611" name="Rectangle 3"/>
          <p:cNvSpPr>
            <a:spLocks noGrp="1" noChangeArrowheads="1"/>
          </p:cNvSpPr>
          <p:nvPr>
            <p:ph type="body" idx="1"/>
          </p:nvPr>
        </p:nvSpPr>
        <p:spPr>
          <a:xfrm>
            <a:off x="654052" y="2074041"/>
            <a:ext cx="11217382" cy="4967288"/>
          </a:xfrm>
        </p:spPr>
        <p:txBody>
          <a:bodyPr/>
          <a:lstStyle/>
          <a:p>
            <a:r>
              <a:rPr lang="zh-CN" altLang="en-US" sz="2400" b="0" dirty="0"/>
              <a:t>（</a:t>
            </a:r>
            <a:r>
              <a:rPr lang="en-US" altLang="zh-CN" sz="2400" b="0" dirty="0"/>
              <a:t>3</a:t>
            </a:r>
            <a:r>
              <a:rPr lang="zh-CN" altLang="en-US" sz="2400" b="0" dirty="0"/>
              <a:t>）</a:t>
            </a:r>
            <a:r>
              <a:rPr lang="en-US" altLang="zh-CN" sz="2400" b="0" dirty="0"/>
              <a:t>8</a:t>
            </a:r>
            <a:r>
              <a:rPr lang="zh-CN" altLang="en-US" sz="2400" b="0" dirty="0"/>
              <a:t>月</a:t>
            </a:r>
            <a:r>
              <a:rPr lang="en-US" altLang="zh-CN" sz="2400" b="0" dirty="0"/>
              <a:t>6</a:t>
            </a:r>
            <a:r>
              <a:rPr lang="zh-CN" altLang="en-US" sz="2400" b="0" dirty="0"/>
              <a:t>日，企业采取预付款方式购买材料，用银行存款预付锦华物资公司材料款</a:t>
            </a:r>
            <a:r>
              <a:rPr lang="en-US" altLang="zh-CN" sz="2400" b="0" dirty="0"/>
              <a:t>12000</a:t>
            </a:r>
            <a:r>
              <a:rPr lang="zh-CN" altLang="en-US" sz="2400" b="0" dirty="0"/>
              <a:t>元。</a:t>
            </a:r>
          </a:p>
          <a:p>
            <a:r>
              <a:rPr lang="zh-CN" altLang="en-US" sz="2400" b="0" dirty="0"/>
              <a:t>（</a:t>
            </a:r>
            <a:r>
              <a:rPr lang="en-US" altLang="zh-CN" sz="2400" b="0" dirty="0"/>
              <a:t>4</a:t>
            </a:r>
            <a:r>
              <a:rPr lang="zh-CN" altLang="en-US" sz="2400" b="0" dirty="0"/>
              <a:t>）</a:t>
            </a:r>
            <a:r>
              <a:rPr lang="en-US" altLang="zh-CN" sz="2400" b="0" dirty="0"/>
              <a:t>8</a:t>
            </a:r>
            <a:r>
              <a:rPr lang="zh-CN" altLang="en-US" sz="2400" b="0" dirty="0"/>
              <a:t>月</a:t>
            </a:r>
            <a:r>
              <a:rPr lang="en-US" altLang="zh-CN" sz="2400" b="0" dirty="0"/>
              <a:t>8</a:t>
            </a:r>
            <a:r>
              <a:rPr lang="zh-CN" altLang="en-US" sz="2400" b="0" dirty="0"/>
              <a:t>日，企业收到锦华物资公司发来的</a:t>
            </a:r>
            <a:r>
              <a:rPr lang="en-US" altLang="zh-CN" sz="2400" b="0" dirty="0"/>
              <a:t>C</a:t>
            </a:r>
            <a:r>
              <a:rPr lang="zh-CN" altLang="en-US" sz="2400" b="0" dirty="0"/>
              <a:t>材料</a:t>
            </a:r>
            <a:r>
              <a:rPr lang="en-US" altLang="zh-CN" sz="2400" b="0" dirty="0"/>
              <a:t>1 000</a:t>
            </a:r>
            <a:r>
              <a:rPr lang="zh-CN" altLang="en-US" sz="2400" b="0" dirty="0"/>
              <a:t>件，单价</a:t>
            </a:r>
            <a:r>
              <a:rPr lang="en-US" altLang="zh-CN" sz="2400" b="0" dirty="0"/>
              <a:t>10</a:t>
            </a:r>
            <a:r>
              <a:rPr lang="zh-CN" altLang="en-US" sz="2400" b="0" dirty="0"/>
              <a:t>元，增值税</a:t>
            </a:r>
            <a:endParaRPr lang="en-US" altLang="zh-CN" sz="2400" b="0" dirty="0"/>
          </a:p>
          <a:p>
            <a:pPr marL="0" indent="0">
              <a:buNone/>
            </a:pPr>
            <a:r>
              <a:rPr lang="en-US" altLang="zh-CN" sz="2400" b="0" dirty="0"/>
              <a:t>  1 300</a:t>
            </a:r>
            <a:r>
              <a:rPr lang="zh-CN" altLang="en-US" sz="2400" b="0" dirty="0"/>
              <a:t>元，计划单价</a:t>
            </a:r>
            <a:r>
              <a:rPr lang="en-US" altLang="zh-CN" sz="2400" b="0" dirty="0"/>
              <a:t>10.30</a:t>
            </a:r>
            <a:r>
              <a:rPr lang="zh-CN" altLang="en-US" sz="2400" b="0" dirty="0"/>
              <a:t>元，代垫运费</a:t>
            </a:r>
            <a:r>
              <a:rPr lang="en-US" altLang="zh-CN" sz="2400" b="0" dirty="0"/>
              <a:t>160</a:t>
            </a:r>
            <a:r>
              <a:rPr lang="zh-CN" altLang="en-US" sz="2400" b="0" dirty="0"/>
              <a:t>元，装卸费</a:t>
            </a:r>
            <a:r>
              <a:rPr lang="en-US" altLang="zh-CN" sz="2400" b="0" dirty="0"/>
              <a:t>40</a:t>
            </a:r>
            <a:r>
              <a:rPr lang="zh-CN" altLang="en-US" sz="2400" b="0" dirty="0"/>
              <a:t>元，材料已入库。</a:t>
            </a:r>
          </a:p>
          <a:p>
            <a:r>
              <a:rPr lang="zh-CN" altLang="en-US" sz="2400" b="0" dirty="0"/>
              <a:t> </a:t>
            </a:r>
            <a:r>
              <a:rPr lang="en-US" altLang="zh-CN" sz="2400" b="0" dirty="0"/>
              <a:t>(5</a:t>
            </a:r>
            <a:r>
              <a:rPr lang="zh-CN" altLang="en-US" sz="2400" b="0" dirty="0"/>
              <a:t>）</a:t>
            </a:r>
            <a:r>
              <a:rPr lang="en-US" altLang="zh-CN" sz="2400" b="0" dirty="0"/>
              <a:t>8</a:t>
            </a:r>
            <a:r>
              <a:rPr lang="zh-CN" altLang="en-US" sz="2400" b="0" dirty="0"/>
              <a:t>月</a:t>
            </a:r>
            <a:r>
              <a:rPr lang="en-US" altLang="zh-CN" sz="2400" b="0" dirty="0"/>
              <a:t>30</a:t>
            </a:r>
            <a:r>
              <a:rPr lang="zh-CN" altLang="en-US" sz="2400" b="0" dirty="0"/>
              <a:t>日，财会部门编制的本月发出材料汇总表，其计划总成本为</a:t>
            </a:r>
            <a:r>
              <a:rPr lang="en-US" altLang="zh-CN" sz="2400" b="0" dirty="0"/>
              <a:t>50 000</a:t>
            </a:r>
            <a:r>
              <a:rPr lang="zh-CN" altLang="en-US" sz="2400" b="0" dirty="0"/>
              <a:t>元，其中：生产甲产品领用</a:t>
            </a:r>
            <a:r>
              <a:rPr lang="en-US" altLang="zh-CN" sz="2400" b="0" dirty="0"/>
              <a:t>40 000</a:t>
            </a:r>
            <a:r>
              <a:rPr lang="zh-CN" altLang="en-US" sz="2400" b="0" dirty="0"/>
              <a:t>元，车间一般耗用</a:t>
            </a:r>
            <a:r>
              <a:rPr lang="en-US" altLang="zh-CN" sz="2400" b="0" dirty="0"/>
              <a:t>6 000</a:t>
            </a:r>
            <a:r>
              <a:rPr lang="zh-CN" altLang="en-US" sz="2400" b="0" dirty="0"/>
              <a:t>元，管理部门耗用</a:t>
            </a:r>
            <a:r>
              <a:rPr lang="en-US" altLang="zh-CN" sz="2400" b="0" dirty="0"/>
              <a:t>4 000</a:t>
            </a:r>
            <a:r>
              <a:rPr lang="zh-CN" altLang="en-US" sz="2400" b="0" dirty="0"/>
              <a:t>元，本月材料成本差异率为</a:t>
            </a:r>
            <a:r>
              <a:rPr lang="en-US" altLang="zh-CN" sz="2400" b="0" dirty="0"/>
              <a:t>1.5</a:t>
            </a:r>
            <a:r>
              <a:rPr lang="zh-CN" altLang="en-US" sz="2400" b="0" dirty="0"/>
              <a:t>％。</a:t>
            </a:r>
          </a:p>
        </p:txBody>
      </p:sp>
    </p:spTree>
    <p:extLst>
      <p:ext uri="{BB962C8B-B14F-4D97-AF65-F5344CB8AC3E}">
        <p14:creationId xmlns:p14="http://schemas.microsoft.com/office/powerpoint/2010/main" val="308524509"/>
      </p:ext>
    </p:extLst>
  </p:cSld>
  <p:clrMapOvr>
    <a:masterClrMapping/>
  </p:clrMapOvr>
  <p:transition spd="slow">
    <p:strips dir="l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496484" y="1001439"/>
            <a:ext cx="8481483" cy="685800"/>
          </a:xfrm>
        </p:spPr>
        <p:txBody>
          <a:bodyPr/>
          <a:lstStyle/>
          <a:p>
            <a:pPr eaLnBrk="1" hangingPunct="1"/>
            <a:r>
              <a:rPr lang="zh-CN" altLang="en-US" dirty="0"/>
              <a:t>练习题（接上页）</a:t>
            </a:r>
          </a:p>
        </p:txBody>
      </p:sp>
      <p:sp>
        <p:nvSpPr>
          <p:cNvPr id="69635" name="Rectangle 3"/>
          <p:cNvSpPr>
            <a:spLocks noGrp="1" noChangeArrowheads="1"/>
          </p:cNvSpPr>
          <p:nvPr>
            <p:ph type="body" idx="1"/>
          </p:nvPr>
        </p:nvSpPr>
        <p:spPr>
          <a:xfrm>
            <a:off x="400051" y="2200603"/>
            <a:ext cx="11391900" cy="4902200"/>
          </a:xfrm>
        </p:spPr>
        <p:txBody>
          <a:bodyPr/>
          <a:lstStyle/>
          <a:p>
            <a:r>
              <a:rPr lang="zh-CN" altLang="en-US" sz="2400" b="0" dirty="0"/>
              <a:t>（</a:t>
            </a:r>
            <a:r>
              <a:rPr lang="en-US" altLang="zh-CN" sz="2400" b="0" dirty="0"/>
              <a:t>6</a:t>
            </a:r>
            <a:r>
              <a:rPr lang="zh-CN" altLang="en-US" sz="2400" b="0" dirty="0"/>
              <a:t>）</a:t>
            </a:r>
            <a:r>
              <a:rPr lang="en-US" altLang="zh-CN" sz="2400" b="0" dirty="0"/>
              <a:t>8</a:t>
            </a:r>
            <a:r>
              <a:rPr lang="zh-CN" altLang="en-US" sz="2400" b="0" dirty="0"/>
              <a:t>月</a:t>
            </a:r>
            <a:r>
              <a:rPr lang="en-US" altLang="zh-CN" sz="2400" b="0" dirty="0"/>
              <a:t>30</a:t>
            </a:r>
            <a:r>
              <a:rPr lang="zh-CN" altLang="en-US" sz="2400" b="0" dirty="0"/>
              <a:t>日，假设财会部门编制的本月发出材料汇总表，其计划总成本为</a:t>
            </a:r>
            <a:r>
              <a:rPr lang="en-US" altLang="zh-CN" sz="2400" b="0" dirty="0"/>
              <a:t>60 000</a:t>
            </a:r>
            <a:r>
              <a:rPr lang="zh-CN" altLang="en-US" sz="2400" b="0" dirty="0"/>
              <a:t>元，其中：生产甲产品领用</a:t>
            </a:r>
            <a:r>
              <a:rPr lang="en-US" altLang="zh-CN" sz="2400" b="0" dirty="0"/>
              <a:t>50 000</a:t>
            </a:r>
            <a:r>
              <a:rPr lang="zh-CN" altLang="en-US" sz="2400" b="0" dirty="0"/>
              <a:t>元，车间一般耗用</a:t>
            </a:r>
            <a:r>
              <a:rPr lang="en-US" altLang="zh-CN" sz="2400" b="0" dirty="0"/>
              <a:t>8 000</a:t>
            </a:r>
            <a:r>
              <a:rPr lang="zh-CN" altLang="en-US" sz="2400" b="0" dirty="0"/>
              <a:t>元，管理部门耗用</a:t>
            </a:r>
            <a:r>
              <a:rPr lang="en-US" altLang="zh-CN" sz="2400" b="0" dirty="0"/>
              <a:t>2 000</a:t>
            </a:r>
            <a:r>
              <a:rPr lang="zh-CN" altLang="en-US" sz="2400" b="0" dirty="0"/>
              <a:t>元，本月材料成本差异率为</a:t>
            </a:r>
            <a:r>
              <a:rPr lang="en-US" altLang="zh-CN" sz="2400" b="0" dirty="0"/>
              <a:t>-1</a:t>
            </a:r>
            <a:r>
              <a:rPr lang="zh-CN" altLang="en-US" sz="2400" b="0" dirty="0"/>
              <a:t>％。</a:t>
            </a:r>
          </a:p>
          <a:p>
            <a:r>
              <a:rPr lang="zh-CN" altLang="en-US" sz="2400" b="0" dirty="0"/>
              <a:t> 要求：根据上述经济业务，编制有关的会计分录（各种材料验收入库时，应结转材料成本差异和材料采购成本，可编制一笔分录，也可编制两笔分录）。 </a:t>
            </a:r>
          </a:p>
        </p:txBody>
      </p:sp>
    </p:spTree>
    <p:extLst>
      <p:ext uri="{BB962C8B-B14F-4D97-AF65-F5344CB8AC3E}">
        <p14:creationId xmlns:p14="http://schemas.microsoft.com/office/powerpoint/2010/main" val="533940258"/>
      </p:ext>
    </p:extLst>
  </p:cSld>
  <p:clrMapOvr>
    <a:masterClrMapping/>
  </p:clrMapOvr>
  <p:transition spd="slow">
    <p:strips dir="l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endParaRPr lang="zh-CN" altLang="zh-CN"/>
          </a:p>
        </p:txBody>
      </p:sp>
      <p:sp>
        <p:nvSpPr>
          <p:cNvPr id="522243" name="Rectangle 3"/>
          <p:cNvSpPr>
            <a:spLocks noGrp="1" noChangeArrowheads="1"/>
          </p:cNvSpPr>
          <p:nvPr>
            <p:ph type="body" idx="1"/>
          </p:nvPr>
        </p:nvSpPr>
        <p:spPr/>
        <p:txBody>
          <a:bodyPr/>
          <a:lstStyle/>
          <a:p>
            <a:r>
              <a:rPr lang="zh-CN" altLang="en-US" sz="2400" b="0" dirty="0"/>
              <a:t>（</a:t>
            </a:r>
            <a:r>
              <a:rPr lang="en-US" altLang="zh-CN" sz="2400" b="0" dirty="0"/>
              <a:t>1</a:t>
            </a:r>
            <a:r>
              <a:rPr lang="zh-CN" altLang="en-US" sz="2400" b="0" dirty="0"/>
              <a:t>）</a:t>
            </a:r>
            <a:r>
              <a:rPr lang="en-US" altLang="zh-CN" sz="2400" b="0" dirty="0"/>
              <a:t>8</a:t>
            </a:r>
            <a:r>
              <a:rPr lang="zh-CN" altLang="en-US" sz="2400" b="0" dirty="0"/>
              <a:t>月</a:t>
            </a:r>
            <a:r>
              <a:rPr lang="en-US" altLang="zh-CN" sz="2400" b="0" dirty="0"/>
              <a:t>2</a:t>
            </a:r>
            <a:r>
              <a:rPr lang="zh-CN" altLang="en-US" sz="2400" b="0" dirty="0"/>
              <a:t>日，从本市购进</a:t>
            </a:r>
            <a:r>
              <a:rPr lang="en-US" altLang="zh-CN" sz="2400" b="0" dirty="0"/>
              <a:t>A</a:t>
            </a:r>
            <a:r>
              <a:rPr lang="zh-CN" altLang="en-US" sz="2400" b="0" dirty="0"/>
              <a:t>材料</a:t>
            </a:r>
            <a:r>
              <a:rPr lang="en-US" altLang="zh-CN" sz="2400" b="0" dirty="0"/>
              <a:t>300</a:t>
            </a:r>
            <a:r>
              <a:rPr lang="zh-CN" altLang="en-US" sz="2400" b="0" dirty="0"/>
              <a:t>吨，单价</a:t>
            </a:r>
            <a:r>
              <a:rPr lang="en-US" altLang="zh-CN" sz="2400" b="0" dirty="0"/>
              <a:t>200</a:t>
            </a:r>
            <a:r>
              <a:rPr lang="zh-CN" altLang="en-US" sz="2400" b="0" dirty="0"/>
              <a:t>元，专用发票注明增值税款</a:t>
            </a:r>
            <a:r>
              <a:rPr lang="en-US" altLang="zh-CN" sz="2400" b="0" dirty="0"/>
              <a:t>7 800</a:t>
            </a:r>
            <a:r>
              <a:rPr lang="zh-CN" altLang="en-US" sz="2400" b="0" dirty="0"/>
              <a:t>元，款已用转账支票支付，材料已验收入库，计划单价</a:t>
            </a:r>
            <a:r>
              <a:rPr lang="en-US" altLang="zh-CN" sz="2400" b="0" dirty="0"/>
              <a:t>210</a:t>
            </a:r>
            <a:r>
              <a:rPr lang="zh-CN" altLang="en-US" sz="2400" b="0" dirty="0"/>
              <a:t>元。</a:t>
            </a:r>
          </a:p>
          <a:p>
            <a:pPr marL="400050" lvl="1" indent="0">
              <a:buNone/>
            </a:pPr>
            <a:r>
              <a:rPr lang="zh-CN" altLang="en-US" sz="2400" b="0" dirty="0">
                <a:latin typeface="黑体" panose="02010609060101010101" pitchFamily="49" charset="-122"/>
                <a:ea typeface="黑体" panose="02010609060101010101" pitchFamily="49" charset="-122"/>
                <a:cs typeface="+mn-cs"/>
              </a:rPr>
              <a:t>借：材料采购       </a:t>
            </a:r>
            <a:r>
              <a:rPr lang="en-US" altLang="zh-CN" sz="2400" b="0" dirty="0">
                <a:latin typeface="黑体" panose="02010609060101010101" pitchFamily="49" charset="-122"/>
                <a:ea typeface="黑体" panose="02010609060101010101" pitchFamily="49" charset="-122"/>
                <a:cs typeface="+mn-cs"/>
              </a:rPr>
              <a:t>60 000</a:t>
            </a:r>
          </a:p>
          <a:p>
            <a:pPr marL="400050" lvl="1" indent="0">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应交税费</a:t>
            </a:r>
            <a:r>
              <a:rPr lang="en-US" altLang="zh-CN" sz="2400" b="0" dirty="0">
                <a:latin typeface="黑体" panose="02010609060101010101" pitchFamily="49" charset="-122"/>
                <a:ea typeface="黑体" panose="02010609060101010101" pitchFamily="49" charset="-122"/>
                <a:cs typeface="+mn-cs"/>
              </a:rPr>
              <a:t>—</a:t>
            </a:r>
            <a:r>
              <a:rPr lang="zh-CN" altLang="en-US" sz="2400" b="0" dirty="0">
                <a:latin typeface="黑体" panose="02010609060101010101" pitchFamily="49" charset="-122"/>
                <a:ea typeface="黑体" panose="02010609060101010101" pitchFamily="49" charset="-122"/>
                <a:cs typeface="+mn-cs"/>
              </a:rPr>
              <a:t>应交增值税（进项税额）</a:t>
            </a:r>
            <a:r>
              <a:rPr lang="en-US" altLang="zh-CN" sz="2400" b="0" dirty="0">
                <a:latin typeface="黑体" panose="02010609060101010101" pitchFamily="49" charset="-122"/>
                <a:ea typeface="黑体" panose="02010609060101010101" pitchFamily="49" charset="-122"/>
                <a:cs typeface="+mn-cs"/>
              </a:rPr>
              <a:t>7 800</a:t>
            </a:r>
          </a:p>
          <a:p>
            <a:pPr marL="400050" lvl="1" indent="0">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贷：银行存款                           </a:t>
            </a:r>
            <a:r>
              <a:rPr lang="en-US" altLang="zh-CN" sz="2400" b="0" dirty="0">
                <a:latin typeface="黑体" panose="02010609060101010101" pitchFamily="49" charset="-122"/>
                <a:ea typeface="黑体" panose="02010609060101010101" pitchFamily="49" charset="-122"/>
                <a:cs typeface="+mn-cs"/>
              </a:rPr>
              <a:t>67 800</a:t>
            </a:r>
          </a:p>
          <a:p>
            <a:pPr marL="400050" lvl="1" indent="0">
              <a:buNone/>
            </a:pPr>
            <a:r>
              <a:rPr lang="zh-CN" altLang="en-US" sz="2400" b="0" dirty="0">
                <a:latin typeface="黑体" panose="02010609060101010101" pitchFamily="49" charset="-122"/>
                <a:ea typeface="黑体" panose="02010609060101010101" pitchFamily="49" charset="-122"/>
                <a:cs typeface="+mn-cs"/>
              </a:rPr>
              <a:t>借：原材料</a:t>
            </a:r>
            <a:r>
              <a:rPr lang="en-US" altLang="zh-CN" sz="2400" b="0" dirty="0">
                <a:latin typeface="黑体" panose="02010609060101010101" pitchFamily="49" charset="-122"/>
                <a:ea typeface="黑体" panose="02010609060101010101" pitchFamily="49" charset="-122"/>
                <a:cs typeface="+mn-cs"/>
              </a:rPr>
              <a:t>—A</a:t>
            </a:r>
            <a:r>
              <a:rPr lang="zh-CN" altLang="en-US" sz="2400" b="0" dirty="0">
                <a:latin typeface="黑体" panose="02010609060101010101" pitchFamily="49" charset="-122"/>
                <a:ea typeface="黑体" panose="02010609060101010101" pitchFamily="49" charset="-122"/>
                <a:cs typeface="+mn-cs"/>
              </a:rPr>
              <a:t>材料  </a:t>
            </a:r>
            <a:r>
              <a:rPr lang="en-US" altLang="zh-CN" sz="2400" b="0" dirty="0">
                <a:latin typeface="黑体" panose="02010609060101010101" pitchFamily="49" charset="-122"/>
                <a:ea typeface="黑体" panose="02010609060101010101" pitchFamily="49" charset="-122"/>
                <a:cs typeface="+mn-cs"/>
              </a:rPr>
              <a:t>63 000</a:t>
            </a:r>
          </a:p>
          <a:p>
            <a:pPr marL="400050" lvl="1" indent="0">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贷：材料采购                </a:t>
            </a:r>
            <a:r>
              <a:rPr lang="en-US" altLang="zh-CN" sz="2400" b="0" dirty="0">
                <a:latin typeface="黑体" panose="02010609060101010101" pitchFamily="49" charset="-122"/>
                <a:ea typeface="黑体" panose="02010609060101010101" pitchFamily="49" charset="-122"/>
                <a:cs typeface="+mn-cs"/>
              </a:rPr>
              <a:t>60 000</a:t>
            </a:r>
          </a:p>
          <a:p>
            <a:pPr marL="400050" lvl="1" indent="0">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材料成本差异             </a:t>
            </a:r>
            <a:r>
              <a:rPr lang="en-US" altLang="zh-CN" sz="2400" b="0" dirty="0">
                <a:latin typeface="黑体" panose="02010609060101010101" pitchFamily="49" charset="-122"/>
                <a:ea typeface="黑体" panose="02010609060101010101" pitchFamily="49" charset="-122"/>
                <a:cs typeface="+mn-cs"/>
              </a:rPr>
              <a:t>3 000</a:t>
            </a:r>
          </a:p>
        </p:txBody>
      </p:sp>
    </p:spTree>
    <p:extLst>
      <p:ext uri="{BB962C8B-B14F-4D97-AF65-F5344CB8AC3E}">
        <p14:creationId xmlns:p14="http://schemas.microsoft.com/office/powerpoint/2010/main" val="268141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2243">
                                            <p:txEl>
                                              <p:pRg st="1" end="1"/>
                                            </p:txEl>
                                          </p:spTgt>
                                        </p:tgtEl>
                                        <p:attrNameLst>
                                          <p:attrName>style.visibility</p:attrName>
                                        </p:attrNameLst>
                                      </p:cBhvr>
                                      <p:to>
                                        <p:strVal val="visible"/>
                                      </p:to>
                                    </p:set>
                                    <p:animEffect transition="in" filter="blinds(horizontal)">
                                      <p:cBhvr>
                                        <p:cTn id="7" dur="500"/>
                                        <p:tgtEl>
                                          <p:spTgt spid="52224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22243">
                                            <p:txEl>
                                              <p:pRg st="2" end="2"/>
                                            </p:txEl>
                                          </p:spTgt>
                                        </p:tgtEl>
                                        <p:attrNameLst>
                                          <p:attrName>style.visibility</p:attrName>
                                        </p:attrNameLst>
                                      </p:cBhvr>
                                      <p:to>
                                        <p:strVal val="visible"/>
                                      </p:to>
                                    </p:set>
                                    <p:animEffect transition="in" filter="blinds(horizontal)">
                                      <p:cBhvr>
                                        <p:cTn id="10" dur="500"/>
                                        <p:tgtEl>
                                          <p:spTgt spid="52224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22243">
                                            <p:txEl>
                                              <p:pRg st="3" end="3"/>
                                            </p:txEl>
                                          </p:spTgt>
                                        </p:tgtEl>
                                        <p:attrNameLst>
                                          <p:attrName>style.visibility</p:attrName>
                                        </p:attrNameLst>
                                      </p:cBhvr>
                                      <p:to>
                                        <p:strVal val="visible"/>
                                      </p:to>
                                    </p:set>
                                    <p:animEffect transition="in" filter="blinds(horizontal)">
                                      <p:cBhvr>
                                        <p:cTn id="13" dur="500"/>
                                        <p:tgtEl>
                                          <p:spTgt spid="52224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22243">
                                            <p:txEl>
                                              <p:pRg st="4" end="4"/>
                                            </p:txEl>
                                          </p:spTgt>
                                        </p:tgtEl>
                                        <p:attrNameLst>
                                          <p:attrName>style.visibility</p:attrName>
                                        </p:attrNameLst>
                                      </p:cBhvr>
                                      <p:to>
                                        <p:strVal val="visible"/>
                                      </p:to>
                                    </p:set>
                                    <p:animEffect transition="in" filter="blinds(horizontal)">
                                      <p:cBhvr>
                                        <p:cTn id="16" dur="500"/>
                                        <p:tgtEl>
                                          <p:spTgt spid="52224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22243">
                                            <p:txEl>
                                              <p:pRg st="5" end="5"/>
                                            </p:txEl>
                                          </p:spTgt>
                                        </p:tgtEl>
                                        <p:attrNameLst>
                                          <p:attrName>style.visibility</p:attrName>
                                        </p:attrNameLst>
                                      </p:cBhvr>
                                      <p:to>
                                        <p:strVal val="visible"/>
                                      </p:to>
                                    </p:set>
                                    <p:animEffect transition="in" filter="blinds(horizontal)">
                                      <p:cBhvr>
                                        <p:cTn id="19" dur="500"/>
                                        <p:tgtEl>
                                          <p:spTgt spid="522243">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522243">
                                            <p:txEl>
                                              <p:pRg st="6" end="6"/>
                                            </p:txEl>
                                          </p:spTgt>
                                        </p:tgtEl>
                                        <p:attrNameLst>
                                          <p:attrName>style.visibility</p:attrName>
                                        </p:attrNameLst>
                                      </p:cBhvr>
                                      <p:to>
                                        <p:strVal val="visible"/>
                                      </p:to>
                                    </p:set>
                                    <p:animEffect transition="in" filter="blinds(horizontal)">
                                      <p:cBhvr>
                                        <p:cTn id="22" dur="500"/>
                                        <p:tgtEl>
                                          <p:spTgt spid="5222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endParaRPr lang="zh-CN" altLang="zh-CN"/>
          </a:p>
        </p:txBody>
      </p:sp>
      <p:sp>
        <p:nvSpPr>
          <p:cNvPr id="524291" name="Rectangle 3"/>
          <p:cNvSpPr>
            <a:spLocks noGrp="1" noChangeArrowheads="1"/>
          </p:cNvSpPr>
          <p:nvPr>
            <p:ph type="body" idx="1"/>
          </p:nvPr>
        </p:nvSpPr>
        <p:spPr>
          <a:xfrm>
            <a:off x="932066" y="1971776"/>
            <a:ext cx="10972800" cy="5399087"/>
          </a:xfrm>
        </p:spPr>
        <p:txBody>
          <a:bodyPr/>
          <a:lstStyle/>
          <a:p>
            <a:pPr>
              <a:lnSpc>
                <a:spcPct val="90000"/>
              </a:lnSpc>
            </a:pPr>
            <a:r>
              <a:rPr lang="zh-CN" altLang="en-US" sz="2400" b="0" dirty="0"/>
              <a:t>（</a:t>
            </a:r>
            <a:r>
              <a:rPr lang="en-US" altLang="zh-CN" sz="2400" b="0" dirty="0"/>
              <a:t>2</a:t>
            </a:r>
            <a:r>
              <a:rPr lang="zh-CN" altLang="en-US" sz="2400" b="0" dirty="0"/>
              <a:t>）</a:t>
            </a:r>
            <a:r>
              <a:rPr lang="en-US" altLang="zh-CN" sz="2400" b="0" dirty="0"/>
              <a:t>8</a:t>
            </a:r>
            <a:r>
              <a:rPr lang="zh-CN" altLang="en-US" sz="2400" b="0" dirty="0"/>
              <a:t>月</a:t>
            </a:r>
            <a:r>
              <a:rPr lang="en-US" altLang="zh-CN" sz="2400" b="0" dirty="0"/>
              <a:t>3</a:t>
            </a:r>
            <a:r>
              <a:rPr lang="zh-CN" altLang="en-US" sz="2400" b="0" dirty="0"/>
              <a:t>日，从华阳机电公司购进</a:t>
            </a:r>
            <a:r>
              <a:rPr lang="en-US" altLang="zh-CN" sz="2400" b="0" dirty="0"/>
              <a:t>B</a:t>
            </a:r>
            <a:r>
              <a:rPr lang="zh-CN" altLang="en-US" sz="2400" b="0" dirty="0"/>
              <a:t>材料</a:t>
            </a:r>
            <a:r>
              <a:rPr lang="en-US" altLang="zh-CN" sz="2400" b="0" dirty="0"/>
              <a:t>1 000</a:t>
            </a:r>
            <a:r>
              <a:rPr lang="zh-CN" altLang="en-US" sz="2400" b="0" dirty="0"/>
              <a:t>件，单价</a:t>
            </a:r>
            <a:r>
              <a:rPr lang="en-US" altLang="zh-CN" sz="2400" b="0" dirty="0"/>
              <a:t>40</a:t>
            </a:r>
            <a:r>
              <a:rPr lang="zh-CN" altLang="en-US" sz="2400" b="0" dirty="0"/>
              <a:t>元，专用发票注明增值税款</a:t>
            </a:r>
            <a:r>
              <a:rPr lang="en-US" altLang="zh-CN" sz="2400" b="0" dirty="0"/>
              <a:t>5 200</a:t>
            </a:r>
            <a:r>
              <a:rPr lang="zh-CN" altLang="en-US" sz="2400" b="0" dirty="0"/>
              <a:t>元，运费</a:t>
            </a:r>
            <a:r>
              <a:rPr lang="en-US" altLang="zh-CN" sz="2400" b="0" dirty="0"/>
              <a:t>160</a:t>
            </a:r>
            <a:r>
              <a:rPr lang="zh-CN" altLang="en-US" sz="2400" b="0" dirty="0"/>
              <a:t>元，装卸费</a:t>
            </a:r>
            <a:r>
              <a:rPr lang="en-US" altLang="zh-CN" sz="2400" b="0" dirty="0"/>
              <a:t>40</a:t>
            </a:r>
            <a:r>
              <a:rPr lang="zh-CN" altLang="en-US" sz="2400" b="0" dirty="0"/>
              <a:t>元，材料已验收入库，计划单价</a:t>
            </a:r>
            <a:r>
              <a:rPr lang="en-US" altLang="zh-CN" sz="2400" b="0" dirty="0"/>
              <a:t>39</a:t>
            </a:r>
            <a:r>
              <a:rPr lang="zh-CN" altLang="en-US" sz="2400" b="0" dirty="0"/>
              <a:t>．</a:t>
            </a:r>
            <a:r>
              <a:rPr lang="en-US" altLang="zh-CN" sz="2400" b="0" dirty="0"/>
              <a:t>50</a:t>
            </a:r>
            <a:r>
              <a:rPr lang="zh-CN" altLang="en-US" sz="2400" b="0" dirty="0"/>
              <a:t>元，货款及运杂费（由销售方垫付）尚未支付</a:t>
            </a:r>
          </a:p>
          <a:p>
            <a:pPr>
              <a:lnSpc>
                <a:spcPct val="90000"/>
              </a:lnSpc>
            </a:pPr>
            <a:endParaRPr lang="zh-CN" altLang="en-US" sz="2400" b="0" dirty="0"/>
          </a:p>
          <a:p>
            <a:pPr marL="400050" lvl="1" indent="0">
              <a:lnSpc>
                <a:spcPct val="90000"/>
              </a:lnSpc>
              <a:buNone/>
            </a:pPr>
            <a:r>
              <a:rPr lang="zh-CN" altLang="en-US" sz="2400" b="0" dirty="0">
                <a:latin typeface="黑体" panose="02010609060101010101" pitchFamily="49" charset="-122"/>
                <a:ea typeface="黑体" panose="02010609060101010101" pitchFamily="49" charset="-122"/>
                <a:cs typeface="+mn-cs"/>
              </a:rPr>
              <a:t>借：材料采购       </a:t>
            </a:r>
            <a:r>
              <a:rPr lang="en-US" altLang="zh-CN" sz="2400" b="0" dirty="0">
                <a:latin typeface="黑体" panose="02010609060101010101" pitchFamily="49" charset="-122"/>
                <a:ea typeface="黑体" panose="02010609060101010101" pitchFamily="49" charset="-122"/>
                <a:cs typeface="+mn-cs"/>
              </a:rPr>
              <a:t>40 200</a:t>
            </a:r>
          </a:p>
          <a:p>
            <a:pPr marL="400050" lvl="1" indent="0">
              <a:lnSpc>
                <a:spcPct val="9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应交税费</a:t>
            </a:r>
            <a:r>
              <a:rPr lang="en-US" altLang="zh-CN" sz="2400" b="0" dirty="0">
                <a:latin typeface="黑体" panose="02010609060101010101" pitchFamily="49" charset="-122"/>
                <a:ea typeface="黑体" panose="02010609060101010101" pitchFamily="49" charset="-122"/>
                <a:cs typeface="+mn-cs"/>
              </a:rPr>
              <a:t>—</a:t>
            </a:r>
            <a:r>
              <a:rPr lang="zh-CN" altLang="en-US" sz="2400" b="0" dirty="0">
                <a:latin typeface="黑体" panose="02010609060101010101" pitchFamily="49" charset="-122"/>
                <a:ea typeface="黑体" panose="02010609060101010101" pitchFamily="49" charset="-122"/>
                <a:cs typeface="+mn-cs"/>
              </a:rPr>
              <a:t>应交增值税（进项税额）</a:t>
            </a:r>
            <a:r>
              <a:rPr lang="en-US" altLang="zh-CN" sz="2400" b="0" dirty="0">
                <a:latin typeface="黑体" panose="02010609060101010101" pitchFamily="49" charset="-122"/>
                <a:ea typeface="黑体" panose="02010609060101010101" pitchFamily="49" charset="-122"/>
                <a:cs typeface="+mn-cs"/>
              </a:rPr>
              <a:t>5 200</a:t>
            </a:r>
          </a:p>
          <a:p>
            <a:pPr marL="400050" lvl="1" indent="0">
              <a:lnSpc>
                <a:spcPct val="9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贷：应付账款                                     </a:t>
            </a:r>
            <a:r>
              <a:rPr lang="en-US" altLang="zh-CN" sz="2400" b="0" dirty="0">
                <a:latin typeface="黑体" panose="02010609060101010101" pitchFamily="49" charset="-122"/>
                <a:ea typeface="黑体" panose="02010609060101010101" pitchFamily="49" charset="-122"/>
                <a:cs typeface="+mn-cs"/>
              </a:rPr>
              <a:t>45 400</a:t>
            </a:r>
          </a:p>
          <a:p>
            <a:pPr marL="400050" lvl="1" indent="0">
              <a:lnSpc>
                <a:spcPct val="90000"/>
              </a:lnSpc>
              <a:buNone/>
            </a:pPr>
            <a:r>
              <a:rPr lang="zh-CN" altLang="en-US" sz="2400" b="0" dirty="0">
                <a:latin typeface="黑体" panose="02010609060101010101" pitchFamily="49" charset="-122"/>
                <a:ea typeface="黑体" panose="02010609060101010101" pitchFamily="49" charset="-122"/>
                <a:cs typeface="+mn-cs"/>
              </a:rPr>
              <a:t>借：原材料</a:t>
            </a:r>
            <a:r>
              <a:rPr lang="en-US" altLang="zh-CN" sz="2400" b="0" dirty="0">
                <a:latin typeface="黑体" panose="02010609060101010101" pitchFamily="49" charset="-122"/>
                <a:ea typeface="黑体" panose="02010609060101010101" pitchFamily="49" charset="-122"/>
                <a:cs typeface="+mn-cs"/>
              </a:rPr>
              <a:t>—B</a:t>
            </a:r>
            <a:r>
              <a:rPr lang="zh-CN" altLang="en-US" sz="2400" b="0" dirty="0">
                <a:latin typeface="黑体" panose="02010609060101010101" pitchFamily="49" charset="-122"/>
                <a:ea typeface="黑体" panose="02010609060101010101" pitchFamily="49" charset="-122"/>
                <a:cs typeface="+mn-cs"/>
              </a:rPr>
              <a:t>材料     </a:t>
            </a:r>
            <a:r>
              <a:rPr lang="en-US" altLang="zh-CN" sz="2400" b="0" dirty="0">
                <a:latin typeface="黑体" panose="02010609060101010101" pitchFamily="49" charset="-122"/>
                <a:ea typeface="黑体" panose="02010609060101010101" pitchFamily="49" charset="-122"/>
                <a:cs typeface="+mn-cs"/>
              </a:rPr>
              <a:t>39 500</a:t>
            </a:r>
          </a:p>
          <a:p>
            <a:pPr marL="400050" lvl="1" indent="0">
              <a:lnSpc>
                <a:spcPct val="9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材料成本差异             </a:t>
            </a:r>
            <a:r>
              <a:rPr lang="en-US" altLang="zh-CN" sz="2400" b="0" dirty="0">
                <a:latin typeface="黑体" panose="02010609060101010101" pitchFamily="49" charset="-122"/>
                <a:ea typeface="黑体" panose="02010609060101010101" pitchFamily="49" charset="-122"/>
                <a:cs typeface="+mn-cs"/>
              </a:rPr>
              <a:t>700</a:t>
            </a:r>
          </a:p>
          <a:p>
            <a:pPr marL="400050" lvl="1" indent="0">
              <a:lnSpc>
                <a:spcPct val="9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贷：材料采购                </a:t>
            </a:r>
            <a:r>
              <a:rPr lang="en-US" altLang="zh-CN" sz="2400" b="0" dirty="0">
                <a:latin typeface="黑体" panose="02010609060101010101" pitchFamily="49" charset="-122"/>
                <a:ea typeface="黑体" panose="02010609060101010101" pitchFamily="49" charset="-122"/>
                <a:cs typeface="+mn-cs"/>
              </a:rPr>
              <a:t>40 200</a:t>
            </a:r>
          </a:p>
          <a:p>
            <a:pPr>
              <a:lnSpc>
                <a:spcPct val="90000"/>
              </a:lnSpc>
            </a:pPr>
            <a:endParaRPr lang="en-US" altLang="zh-CN" sz="2400" b="0" dirty="0"/>
          </a:p>
          <a:p>
            <a:pPr marL="0" indent="0">
              <a:lnSpc>
                <a:spcPct val="90000"/>
              </a:lnSpc>
              <a:buNone/>
            </a:pPr>
            <a:r>
              <a:rPr lang="en-US" altLang="zh-CN" sz="2400" b="0" dirty="0"/>
              <a:t>           </a:t>
            </a:r>
          </a:p>
        </p:txBody>
      </p:sp>
    </p:spTree>
    <p:extLst>
      <p:ext uri="{BB962C8B-B14F-4D97-AF65-F5344CB8AC3E}">
        <p14:creationId xmlns:p14="http://schemas.microsoft.com/office/powerpoint/2010/main" val="338858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4291">
                                            <p:txEl>
                                              <p:pRg st="2" end="2"/>
                                            </p:txEl>
                                          </p:spTgt>
                                        </p:tgtEl>
                                        <p:attrNameLst>
                                          <p:attrName>style.visibility</p:attrName>
                                        </p:attrNameLst>
                                      </p:cBhvr>
                                      <p:to>
                                        <p:strVal val="visible"/>
                                      </p:to>
                                    </p:set>
                                    <p:animEffect transition="in" filter="blinds(horizontal)">
                                      <p:cBhvr>
                                        <p:cTn id="7" dur="500"/>
                                        <p:tgtEl>
                                          <p:spTgt spid="52429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24291">
                                            <p:txEl>
                                              <p:pRg st="3" end="3"/>
                                            </p:txEl>
                                          </p:spTgt>
                                        </p:tgtEl>
                                        <p:attrNameLst>
                                          <p:attrName>style.visibility</p:attrName>
                                        </p:attrNameLst>
                                      </p:cBhvr>
                                      <p:to>
                                        <p:strVal val="visible"/>
                                      </p:to>
                                    </p:set>
                                    <p:animEffect transition="in" filter="blinds(horizontal)">
                                      <p:cBhvr>
                                        <p:cTn id="10" dur="500"/>
                                        <p:tgtEl>
                                          <p:spTgt spid="524291">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24291">
                                            <p:txEl>
                                              <p:pRg st="4" end="4"/>
                                            </p:txEl>
                                          </p:spTgt>
                                        </p:tgtEl>
                                        <p:attrNameLst>
                                          <p:attrName>style.visibility</p:attrName>
                                        </p:attrNameLst>
                                      </p:cBhvr>
                                      <p:to>
                                        <p:strVal val="visible"/>
                                      </p:to>
                                    </p:set>
                                    <p:animEffect transition="in" filter="blinds(horizontal)">
                                      <p:cBhvr>
                                        <p:cTn id="13" dur="500"/>
                                        <p:tgtEl>
                                          <p:spTgt spid="524291">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24291">
                                            <p:txEl>
                                              <p:pRg st="5" end="5"/>
                                            </p:txEl>
                                          </p:spTgt>
                                        </p:tgtEl>
                                        <p:attrNameLst>
                                          <p:attrName>style.visibility</p:attrName>
                                        </p:attrNameLst>
                                      </p:cBhvr>
                                      <p:to>
                                        <p:strVal val="visible"/>
                                      </p:to>
                                    </p:set>
                                    <p:animEffect transition="in" filter="blinds(horizontal)">
                                      <p:cBhvr>
                                        <p:cTn id="16" dur="500"/>
                                        <p:tgtEl>
                                          <p:spTgt spid="524291">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24291">
                                            <p:txEl>
                                              <p:pRg st="6" end="6"/>
                                            </p:txEl>
                                          </p:spTgt>
                                        </p:tgtEl>
                                        <p:attrNameLst>
                                          <p:attrName>style.visibility</p:attrName>
                                        </p:attrNameLst>
                                      </p:cBhvr>
                                      <p:to>
                                        <p:strVal val="visible"/>
                                      </p:to>
                                    </p:set>
                                    <p:animEffect transition="in" filter="blinds(horizontal)">
                                      <p:cBhvr>
                                        <p:cTn id="19" dur="500"/>
                                        <p:tgtEl>
                                          <p:spTgt spid="524291">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524291">
                                            <p:txEl>
                                              <p:pRg st="7" end="7"/>
                                            </p:txEl>
                                          </p:spTgt>
                                        </p:tgtEl>
                                        <p:attrNameLst>
                                          <p:attrName>style.visibility</p:attrName>
                                        </p:attrNameLst>
                                      </p:cBhvr>
                                      <p:to>
                                        <p:strVal val="visible"/>
                                      </p:to>
                                    </p:set>
                                    <p:animEffect transition="in" filter="blinds(horizontal)">
                                      <p:cBhvr>
                                        <p:cTn id="22" dur="500"/>
                                        <p:tgtEl>
                                          <p:spTgt spid="5242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endParaRPr lang="zh-CN" altLang="zh-CN"/>
          </a:p>
        </p:txBody>
      </p:sp>
      <p:sp>
        <p:nvSpPr>
          <p:cNvPr id="526339" name="Rectangle 3"/>
          <p:cNvSpPr>
            <a:spLocks noGrp="1" noChangeArrowheads="1"/>
          </p:cNvSpPr>
          <p:nvPr>
            <p:ph type="body" idx="1"/>
          </p:nvPr>
        </p:nvSpPr>
        <p:spPr/>
        <p:txBody>
          <a:bodyPr/>
          <a:lstStyle/>
          <a:p>
            <a:r>
              <a:rPr lang="zh-CN" altLang="en-US" sz="2400" b="0" dirty="0"/>
              <a:t>（</a:t>
            </a:r>
            <a:r>
              <a:rPr lang="en-US" altLang="zh-CN" sz="2400" b="0" dirty="0"/>
              <a:t>3</a:t>
            </a:r>
            <a:r>
              <a:rPr lang="zh-CN" altLang="en-US" sz="2400" b="0" dirty="0"/>
              <a:t>）</a:t>
            </a:r>
            <a:r>
              <a:rPr lang="en-US" altLang="zh-CN" sz="2400" b="0" dirty="0"/>
              <a:t>8</a:t>
            </a:r>
            <a:r>
              <a:rPr lang="zh-CN" altLang="en-US" sz="2400" b="0" dirty="0"/>
              <a:t>月</a:t>
            </a:r>
            <a:r>
              <a:rPr lang="en-US" altLang="zh-CN" sz="2400" b="0" dirty="0"/>
              <a:t>6</a:t>
            </a:r>
            <a:r>
              <a:rPr lang="zh-CN" altLang="en-US" sz="2400" b="0" dirty="0"/>
              <a:t>日，企业采取预付款方式购买材料，用银行存款预付锦华物资公司材料款</a:t>
            </a:r>
            <a:r>
              <a:rPr lang="en-US" altLang="zh-CN" sz="2400" b="0" dirty="0"/>
              <a:t>12000</a:t>
            </a:r>
            <a:r>
              <a:rPr lang="zh-CN" altLang="en-US" sz="2400" b="0" dirty="0"/>
              <a:t>元。</a:t>
            </a:r>
          </a:p>
          <a:p>
            <a:pPr marL="0" indent="0">
              <a:buNone/>
            </a:pPr>
            <a:r>
              <a:rPr lang="zh-CN" altLang="en-US" sz="2400" b="0" dirty="0"/>
              <a:t>  借：预付账款       </a:t>
            </a:r>
            <a:r>
              <a:rPr lang="en-US" altLang="zh-CN" sz="2400" b="0" dirty="0"/>
              <a:t>12 000</a:t>
            </a:r>
          </a:p>
          <a:p>
            <a:pPr marL="0" indent="0">
              <a:buNone/>
            </a:pPr>
            <a:r>
              <a:rPr lang="en-US" altLang="zh-CN" sz="2400" b="0" dirty="0"/>
              <a:t>      </a:t>
            </a:r>
            <a:r>
              <a:rPr lang="zh-CN" altLang="en-US" sz="2400" b="0" dirty="0"/>
              <a:t>贷：银行存款             </a:t>
            </a:r>
            <a:r>
              <a:rPr lang="en-US" altLang="zh-CN" sz="2400" b="0" dirty="0"/>
              <a:t>12 000</a:t>
            </a:r>
          </a:p>
          <a:p>
            <a:endParaRPr lang="en-US" altLang="zh-CN" sz="2400" b="0" dirty="0"/>
          </a:p>
        </p:txBody>
      </p:sp>
    </p:spTree>
    <p:extLst>
      <p:ext uri="{BB962C8B-B14F-4D97-AF65-F5344CB8AC3E}">
        <p14:creationId xmlns:p14="http://schemas.microsoft.com/office/powerpoint/2010/main" val="1504600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6339">
                                            <p:txEl>
                                              <p:pRg st="1" end="1"/>
                                            </p:txEl>
                                          </p:spTgt>
                                        </p:tgtEl>
                                        <p:attrNameLst>
                                          <p:attrName>style.visibility</p:attrName>
                                        </p:attrNameLst>
                                      </p:cBhvr>
                                      <p:to>
                                        <p:strVal val="visible"/>
                                      </p:to>
                                    </p:set>
                                    <p:animEffect transition="in" filter="blinds(horizontal)">
                                      <p:cBhvr>
                                        <p:cTn id="7" dur="500"/>
                                        <p:tgtEl>
                                          <p:spTgt spid="52633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26339">
                                            <p:txEl>
                                              <p:pRg st="2" end="2"/>
                                            </p:txEl>
                                          </p:spTgt>
                                        </p:tgtEl>
                                        <p:attrNameLst>
                                          <p:attrName>style.visibility</p:attrName>
                                        </p:attrNameLst>
                                      </p:cBhvr>
                                      <p:to>
                                        <p:strVal val="visible"/>
                                      </p:to>
                                    </p:set>
                                    <p:animEffect transition="in" filter="blinds(horizontal)">
                                      <p:cBhvr>
                                        <p:cTn id="10" dur="500"/>
                                        <p:tgtEl>
                                          <p:spTgt spid="5263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endParaRPr lang="zh-CN" altLang="zh-CN"/>
          </a:p>
        </p:txBody>
      </p:sp>
      <p:sp>
        <p:nvSpPr>
          <p:cNvPr id="523267" name="Rectangle 3"/>
          <p:cNvSpPr>
            <a:spLocks noGrp="1" noChangeArrowheads="1"/>
          </p:cNvSpPr>
          <p:nvPr>
            <p:ph type="body" idx="1"/>
          </p:nvPr>
        </p:nvSpPr>
        <p:spPr/>
        <p:txBody>
          <a:bodyPr/>
          <a:lstStyle/>
          <a:p>
            <a:pPr>
              <a:lnSpc>
                <a:spcPct val="90000"/>
              </a:lnSpc>
            </a:pPr>
            <a:r>
              <a:rPr lang="en-US" altLang="zh-CN" sz="2400" b="0" dirty="0"/>
              <a:t> </a:t>
            </a:r>
            <a:r>
              <a:rPr lang="zh-CN" altLang="en-US" sz="2400" b="0" dirty="0"/>
              <a:t>（</a:t>
            </a:r>
            <a:r>
              <a:rPr lang="en-US" altLang="zh-CN" sz="2400" b="0" dirty="0"/>
              <a:t>4</a:t>
            </a:r>
            <a:r>
              <a:rPr lang="zh-CN" altLang="en-US" sz="2400" b="0" dirty="0"/>
              <a:t>）</a:t>
            </a:r>
            <a:r>
              <a:rPr lang="en-US" altLang="zh-CN" sz="2400" b="0" dirty="0"/>
              <a:t>8</a:t>
            </a:r>
            <a:r>
              <a:rPr lang="zh-CN" altLang="en-US" sz="2400" b="0" dirty="0"/>
              <a:t>月</a:t>
            </a:r>
            <a:r>
              <a:rPr lang="en-US" altLang="zh-CN" sz="2400" b="0" dirty="0"/>
              <a:t>8</a:t>
            </a:r>
            <a:r>
              <a:rPr lang="zh-CN" altLang="en-US" sz="2400" b="0" dirty="0"/>
              <a:t>日，企业收到锦华物资公司发来的</a:t>
            </a:r>
            <a:r>
              <a:rPr lang="en-US" altLang="zh-CN" sz="2400" b="0" dirty="0"/>
              <a:t>C</a:t>
            </a:r>
            <a:r>
              <a:rPr lang="zh-CN" altLang="en-US" sz="2400" b="0" dirty="0"/>
              <a:t>材料</a:t>
            </a:r>
            <a:r>
              <a:rPr lang="en-US" altLang="zh-CN" sz="2400" b="0" dirty="0"/>
              <a:t>1 000</a:t>
            </a:r>
            <a:r>
              <a:rPr lang="zh-CN" altLang="en-US" sz="2400" b="0" dirty="0"/>
              <a:t>件，单价</a:t>
            </a:r>
            <a:r>
              <a:rPr lang="en-US" altLang="zh-CN" sz="2400" b="0" dirty="0"/>
              <a:t>10</a:t>
            </a:r>
            <a:r>
              <a:rPr lang="zh-CN" altLang="en-US" sz="2400" b="0" dirty="0"/>
              <a:t>元，增值税</a:t>
            </a:r>
            <a:r>
              <a:rPr lang="en-US" altLang="zh-CN" sz="2400" b="0" dirty="0"/>
              <a:t>1 300</a:t>
            </a:r>
            <a:r>
              <a:rPr lang="zh-CN" altLang="en-US" sz="2400" b="0" dirty="0"/>
              <a:t>元，计划单价</a:t>
            </a:r>
            <a:r>
              <a:rPr lang="en-US" altLang="zh-CN" sz="2400" b="0" dirty="0"/>
              <a:t>10.30</a:t>
            </a:r>
            <a:r>
              <a:rPr lang="zh-CN" altLang="en-US" sz="2400" b="0" dirty="0"/>
              <a:t>元，代垫运费</a:t>
            </a:r>
            <a:r>
              <a:rPr lang="en-US" altLang="zh-CN" sz="2400" b="0" dirty="0"/>
              <a:t>160</a:t>
            </a:r>
            <a:r>
              <a:rPr lang="zh-CN" altLang="en-US" sz="2400" b="0" dirty="0"/>
              <a:t>元，装卸费</a:t>
            </a:r>
            <a:r>
              <a:rPr lang="en-US" altLang="zh-CN" sz="2400" b="0" dirty="0"/>
              <a:t>40</a:t>
            </a:r>
            <a:r>
              <a:rPr lang="zh-CN" altLang="en-US" sz="2400" b="0" dirty="0"/>
              <a:t>元，材料已入库。</a:t>
            </a:r>
          </a:p>
          <a:p>
            <a:pPr>
              <a:lnSpc>
                <a:spcPct val="90000"/>
              </a:lnSpc>
            </a:pPr>
            <a:endParaRPr lang="zh-CN" altLang="en-US" sz="2400" b="0" dirty="0"/>
          </a:p>
          <a:p>
            <a:pPr marL="400050" lvl="1" indent="0">
              <a:lnSpc>
                <a:spcPct val="90000"/>
              </a:lnSpc>
              <a:buNone/>
            </a:pPr>
            <a:r>
              <a:rPr lang="zh-CN" altLang="en-US" sz="2400" b="0" dirty="0">
                <a:latin typeface="黑体" panose="02010609060101010101" pitchFamily="49" charset="-122"/>
                <a:ea typeface="黑体" panose="02010609060101010101" pitchFamily="49" charset="-122"/>
                <a:cs typeface="+mn-cs"/>
              </a:rPr>
              <a:t>借：材料采购       </a:t>
            </a:r>
            <a:r>
              <a:rPr lang="en-US" altLang="zh-CN" sz="2400" b="0" dirty="0">
                <a:latin typeface="黑体" panose="02010609060101010101" pitchFamily="49" charset="-122"/>
                <a:ea typeface="黑体" panose="02010609060101010101" pitchFamily="49" charset="-122"/>
                <a:cs typeface="+mn-cs"/>
              </a:rPr>
              <a:t>10 200</a:t>
            </a:r>
          </a:p>
          <a:p>
            <a:pPr marL="400050" lvl="1" indent="0">
              <a:lnSpc>
                <a:spcPct val="9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应交税费</a:t>
            </a:r>
            <a:r>
              <a:rPr lang="en-US" altLang="zh-CN" sz="2400" b="0" dirty="0">
                <a:latin typeface="黑体" panose="02010609060101010101" pitchFamily="49" charset="-122"/>
                <a:ea typeface="黑体" panose="02010609060101010101" pitchFamily="49" charset="-122"/>
                <a:cs typeface="+mn-cs"/>
              </a:rPr>
              <a:t>—</a:t>
            </a:r>
            <a:r>
              <a:rPr lang="zh-CN" altLang="en-US" sz="2400" b="0" dirty="0">
                <a:latin typeface="黑体" panose="02010609060101010101" pitchFamily="49" charset="-122"/>
                <a:ea typeface="黑体" panose="02010609060101010101" pitchFamily="49" charset="-122"/>
                <a:cs typeface="+mn-cs"/>
              </a:rPr>
              <a:t>应交增值税（进项税额）</a:t>
            </a:r>
            <a:r>
              <a:rPr lang="en-US" altLang="zh-CN" sz="2400" b="0" dirty="0">
                <a:latin typeface="黑体" panose="02010609060101010101" pitchFamily="49" charset="-122"/>
                <a:ea typeface="黑体" panose="02010609060101010101" pitchFamily="49" charset="-122"/>
                <a:cs typeface="+mn-cs"/>
              </a:rPr>
              <a:t>1 300</a:t>
            </a:r>
          </a:p>
          <a:p>
            <a:pPr marL="400050" lvl="1" indent="0">
              <a:lnSpc>
                <a:spcPct val="9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贷：预付账款                                      </a:t>
            </a:r>
            <a:r>
              <a:rPr lang="en-US" altLang="zh-CN" sz="2400" b="0" dirty="0">
                <a:latin typeface="黑体" panose="02010609060101010101" pitchFamily="49" charset="-122"/>
                <a:ea typeface="黑体" panose="02010609060101010101" pitchFamily="49" charset="-122"/>
                <a:cs typeface="+mn-cs"/>
              </a:rPr>
              <a:t>11 500</a:t>
            </a:r>
          </a:p>
          <a:p>
            <a:pPr marL="400050" lvl="1" indent="0">
              <a:lnSpc>
                <a:spcPct val="90000"/>
              </a:lnSpc>
              <a:buNone/>
            </a:pPr>
            <a:r>
              <a:rPr lang="zh-CN" altLang="en-US" sz="2400" b="0" dirty="0">
                <a:latin typeface="黑体" panose="02010609060101010101" pitchFamily="49" charset="-122"/>
                <a:ea typeface="黑体" panose="02010609060101010101" pitchFamily="49" charset="-122"/>
                <a:cs typeface="+mn-cs"/>
              </a:rPr>
              <a:t>借：原材料</a:t>
            </a:r>
            <a:r>
              <a:rPr lang="en-US" altLang="zh-CN" sz="2400" b="0" dirty="0">
                <a:latin typeface="黑体" panose="02010609060101010101" pitchFamily="49" charset="-122"/>
                <a:ea typeface="黑体" panose="02010609060101010101" pitchFamily="49" charset="-122"/>
                <a:cs typeface="+mn-cs"/>
              </a:rPr>
              <a:t>—A</a:t>
            </a:r>
            <a:r>
              <a:rPr lang="zh-CN" altLang="en-US" sz="2400" b="0" dirty="0">
                <a:latin typeface="黑体" panose="02010609060101010101" pitchFamily="49" charset="-122"/>
                <a:ea typeface="黑体" panose="02010609060101010101" pitchFamily="49" charset="-122"/>
                <a:cs typeface="+mn-cs"/>
              </a:rPr>
              <a:t>材料  </a:t>
            </a:r>
            <a:r>
              <a:rPr lang="en-US" altLang="zh-CN" sz="2400" b="0" dirty="0">
                <a:latin typeface="黑体" panose="02010609060101010101" pitchFamily="49" charset="-122"/>
                <a:ea typeface="黑体" panose="02010609060101010101" pitchFamily="49" charset="-122"/>
                <a:cs typeface="+mn-cs"/>
              </a:rPr>
              <a:t>10 300</a:t>
            </a:r>
          </a:p>
          <a:p>
            <a:pPr marL="400050" lvl="1" indent="0">
              <a:lnSpc>
                <a:spcPct val="9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贷：材料采购                </a:t>
            </a:r>
            <a:r>
              <a:rPr lang="en-US" altLang="zh-CN" sz="2400" b="0" dirty="0">
                <a:latin typeface="黑体" panose="02010609060101010101" pitchFamily="49" charset="-122"/>
                <a:ea typeface="黑体" panose="02010609060101010101" pitchFamily="49" charset="-122"/>
                <a:cs typeface="+mn-cs"/>
              </a:rPr>
              <a:t>10 200</a:t>
            </a:r>
          </a:p>
          <a:p>
            <a:pPr marL="400050" lvl="1" indent="0">
              <a:lnSpc>
                <a:spcPct val="9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材料成本差异             </a:t>
            </a:r>
            <a:r>
              <a:rPr lang="en-US" altLang="zh-CN" sz="2400" b="0" dirty="0">
                <a:latin typeface="黑体" panose="02010609060101010101" pitchFamily="49" charset="-122"/>
                <a:ea typeface="黑体" panose="02010609060101010101" pitchFamily="49" charset="-122"/>
                <a:cs typeface="+mn-cs"/>
              </a:rPr>
              <a:t>100</a:t>
            </a:r>
          </a:p>
          <a:p>
            <a:pPr eaLnBrk="1" hangingPunct="1">
              <a:lnSpc>
                <a:spcPct val="90000"/>
              </a:lnSpc>
            </a:pPr>
            <a:endParaRPr lang="en-US" altLang="zh-CN" b="0" dirty="0">
              <a:latin typeface="黑体" pitchFamily="2" charset="-122"/>
              <a:ea typeface="黑体" pitchFamily="2" charset="-122"/>
            </a:endParaRPr>
          </a:p>
        </p:txBody>
      </p:sp>
    </p:spTree>
    <p:extLst>
      <p:ext uri="{BB962C8B-B14F-4D97-AF65-F5344CB8AC3E}">
        <p14:creationId xmlns:p14="http://schemas.microsoft.com/office/powerpoint/2010/main" val="152952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3267">
                                            <p:txEl>
                                              <p:pRg st="2" end="2"/>
                                            </p:txEl>
                                          </p:spTgt>
                                        </p:tgtEl>
                                        <p:attrNameLst>
                                          <p:attrName>style.visibility</p:attrName>
                                        </p:attrNameLst>
                                      </p:cBhvr>
                                      <p:to>
                                        <p:strVal val="visible"/>
                                      </p:to>
                                    </p:set>
                                    <p:animEffect transition="in" filter="blinds(horizontal)">
                                      <p:cBhvr>
                                        <p:cTn id="7" dur="500"/>
                                        <p:tgtEl>
                                          <p:spTgt spid="523267">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23267">
                                            <p:txEl>
                                              <p:pRg st="3" end="3"/>
                                            </p:txEl>
                                          </p:spTgt>
                                        </p:tgtEl>
                                        <p:attrNameLst>
                                          <p:attrName>style.visibility</p:attrName>
                                        </p:attrNameLst>
                                      </p:cBhvr>
                                      <p:to>
                                        <p:strVal val="visible"/>
                                      </p:to>
                                    </p:set>
                                    <p:animEffect transition="in" filter="blinds(horizontal)">
                                      <p:cBhvr>
                                        <p:cTn id="10" dur="500"/>
                                        <p:tgtEl>
                                          <p:spTgt spid="523267">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23267">
                                            <p:txEl>
                                              <p:pRg st="4" end="4"/>
                                            </p:txEl>
                                          </p:spTgt>
                                        </p:tgtEl>
                                        <p:attrNameLst>
                                          <p:attrName>style.visibility</p:attrName>
                                        </p:attrNameLst>
                                      </p:cBhvr>
                                      <p:to>
                                        <p:strVal val="visible"/>
                                      </p:to>
                                    </p:set>
                                    <p:animEffect transition="in" filter="blinds(horizontal)">
                                      <p:cBhvr>
                                        <p:cTn id="13" dur="500"/>
                                        <p:tgtEl>
                                          <p:spTgt spid="523267">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23267">
                                            <p:txEl>
                                              <p:pRg st="5" end="5"/>
                                            </p:txEl>
                                          </p:spTgt>
                                        </p:tgtEl>
                                        <p:attrNameLst>
                                          <p:attrName>style.visibility</p:attrName>
                                        </p:attrNameLst>
                                      </p:cBhvr>
                                      <p:to>
                                        <p:strVal val="visible"/>
                                      </p:to>
                                    </p:set>
                                    <p:animEffect transition="in" filter="blinds(horizontal)">
                                      <p:cBhvr>
                                        <p:cTn id="16" dur="500"/>
                                        <p:tgtEl>
                                          <p:spTgt spid="523267">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23267">
                                            <p:txEl>
                                              <p:pRg st="6" end="6"/>
                                            </p:txEl>
                                          </p:spTgt>
                                        </p:tgtEl>
                                        <p:attrNameLst>
                                          <p:attrName>style.visibility</p:attrName>
                                        </p:attrNameLst>
                                      </p:cBhvr>
                                      <p:to>
                                        <p:strVal val="visible"/>
                                      </p:to>
                                    </p:set>
                                    <p:animEffect transition="in" filter="blinds(horizontal)">
                                      <p:cBhvr>
                                        <p:cTn id="19" dur="500"/>
                                        <p:tgtEl>
                                          <p:spTgt spid="523267">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523267">
                                            <p:txEl>
                                              <p:pRg st="7" end="7"/>
                                            </p:txEl>
                                          </p:spTgt>
                                        </p:tgtEl>
                                        <p:attrNameLst>
                                          <p:attrName>style.visibility</p:attrName>
                                        </p:attrNameLst>
                                      </p:cBhvr>
                                      <p:to>
                                        <p:strVal val="visible"/>
                                      </p:to>
                                    </p:set>
                                    <p:animEffect transition="in" filter="blinds(horizontal)">
                                      <p:cBhvr>
                                        <p:cTn id="22" dur="500"/>
                                        <p:tgtEl>
                                          <p:spTgt spid="5232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endParaRPr lang="zh-CN" altLang="zh-CN"/>
          </a:p>
        </p:txBody>
      </p:sp>
      <p:sp>
        <p:nvSpPr>
          <p:cNvPr id="525315" name="Rectangle 3"/>
          <p:cNvSpPr>
            <a:spLocks noGrp="1" noChangeArrowheads="1"/>
          </p:cNvSpPr>
          <p:nvPr>
            <p:ph type="body" idx="1"/>
          </p:nvPr>
        </p:nvSpPr>
        <p:spPr/>
        <p:txBody>
          <a:bodyPr/>
          <a:lstStyle/>
          <a:p>
            <a:r>
              <a:rPr lang="en-US" altLang="zh-CN" sz="2400" b="0" dirty="0"/>
              <a:t>(5</a:t>
            </a:r>
            <a:r>
              <a:rPr lang="zh-CN" altLang="en-US" sz="2400" b="0" dirty="0"/>
              <a:t>）</a:t>
            </a:r>
            <a:r>
              <a:rPr lang="en-US" altLang="zh-CN" sz="2400" b="0" dirty="0"/>
              <a:t>8</a:t>
            </a:r>
            <a:r>
              <a:rPr lang="zh-CN" altLang="en-US" sz="2400" b="0" dirty="0"/>
              <a:t>月</a:t>
            </a:r>
            <a:r>
              <a:rPr lang="en-US" altLang="zh-CN" sz="2400" b="0" dirty="0"/>
              <a:t>30</a:t>
            </a:r>
            <a:r>
              <a:rPr lang="zh-CN" altLang="en-US" sz="2400" b="0" dirty="0"/>
              <a:t>日，财会部门编制的本月发出材料汇总表，其计划总成本为</a:t>
            </a:r>
            <a:r>
              <a:rPr lang="en-US" altLang="zh-CN" sz="2400" b="0" dirty="0"/>
              <a:t>50 000</a:t>
            </a:r>
            <a:r>
              <a:rPr lang="zh-CN" altLang="en-US" sz="2400" b="0" dirty="0"/>
              <a:t>元，其中：生产甲产品领用</a:t>
            </a:r>
            <a:r>
              <a:rPr lang="en-US" altLang="zh-CN" sz="2400" b="0" dirty="0"/>
              <a:t>40 000</a:t>
            </a:r>
            <a:r>
              <a:rPr lang="zh-CN" altLang="en-US" sz="2400" b="0" dirty="0"/>
              <a:t>元，车间一般耗用</a:t>
            </a:r>
            <a:r>
              <a:rPr lang="en-US" altLang="zh-CN" sz="2400" b="0" dirty="0"/>
              <a:t>6 000</a:t>
            </a:r>
            <a:r>
              <a:rPr lang="zh-CN" altLang="en-US" sz="2400" b="0" dirty="0"/>
              <a:t>元，管理部门耗用</a:t>
            </a:r>
            <a:r>
              <a:rPr lang="en-US" altLang="zh-CN" sz="2400" b="0" dirty="0"/>
              <a:t>4 000</a:t>
            </a:r>
            <a:r>
              <a:rPr lang="zh-CN" altLang="en-US" sz="2400" b="0" dirty="0"/>
              <a:t>元，本月材料成本差异率为</a:t>
            </a:r>
            <a:r>
              <a:rPr lang="en-US" altLang="zh-CN" sz="2400" b="0" dirty="0"/>
              <a:t>1.5</a:t>
            </a:r>
            <a:r>
              <a:rPr lang="zh-CN" altLang="en-US" sz="2400" b="0" dirty="0"/>
              <a:t>％。</a:t>
            </a:r>
          </a:p>
          <a:p>
            <a:pPr marL="400050" lvl="1" indent="0">
              <a:buNone/>
            </a:pPr>
            <a:r>
              <a:rPr lang="zh-CN" altLang="en-US" sz="2400" b="0" dirty="0">
                <a:latin typeface="黑体" panose="02010609060101010101" pitchFamily="49" charset="-122"/>
                <a:ea typeface="黑体" panose="02010609060101010101" pitchFamily="49" charset="-122"/>
                <a:cs typeface="+mn-cs"/>
              </a:rPr>
              <a:t>借：生成成本    </a:t>
            </a:r>
            <a:r>
              <a:rPr lang="en-US" altLang="zh-CN" sz="2400" b="0" dirty="0">
                <a:latin typeface="黑体" panose="02010609060101010101" pitchFamily="49" charset="-122"/>
                <a:ea typeface="黑体" panose="02010609060101010101" pitchFamily="49" charset="-122"/>
                <a:cs typeface="+mn-cs"/>
              </a:rPr>
              <a:t>40 000</a:t>
            </a:r>
          </a:p>
          <a:p>
            <a:pPr marL="400050" lvl="1" indent="0">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制造费用     </a:t>
            </a:r>
            <a:r>
              <a:rPr lang="en-US" altLang="zh-CN" sz="2400" b="0" dirty="0">
                <a:latin typeface="黑体" panose="02010609060101010101" pitchFamily="49" charset="-122"/>
                <a:ea typeface="黑体" panose="02010609060101010101" pitchFamily="49" charset="-122"/>
                <a:cs typeface="+mn-cs"/>
              </a:rPr>
              <a:t>6 000</a:t>
            </a:r>
          </a:p>
          <a:p>
            <a:pPr marL="400050" lvl="1" indent="0">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管理费用     </a:t>
            </a:r>
            <a:r>
              <a:rPr lang="en-US" altLang="zh-CN" sz="2400" b="0" dirty="0">
                <a:latin typeface="黑体" panose="02010609060101010101" pitchFamily="49" charset="-122"/>
                <a:ea typeface="黑体" panose="02010609060101010101" pitchFamily="49" charset="-122"/>
                <a:cs typeface="+mn-cs"/>
              </a:rPr>
              <a:t>4 000</a:t>
            </a:r>
          </a:p>
          <a:p>
            <a:pPr marL="400050" lvl="1" indent="0">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贷：原材料        </a:t>
            </a:r>
            <a:r>
              <a:rPr lang="en-US" altLang="zh-CN" sz="2400" b="0" dirty="0">
                <a:latin typeface="黑体" panose="02010609060101010101" pitchFamily="49" charset="-122"/>
                <a:ea typeface="黑体" panose="02010609060101010101" pitchFamily="49" charset="-122"/>
                <a:cs typeface="+mn-cs"/>
              </a:rPr>
              <a:t>50 000</a:t>
            </a:r>
          </a:p>
          <a:p>
            <a:pPr marL="400050" lvl="1" indent="0">
              <a:buNone/>
            </a:pPr>
            <a:r>
              <a:rPr lang="zh-CN" altLang="en-US" sz="2400" b="0" dirty="0">
                <a:latin typeface="黑体" panose="02010609060101010101" pitchFamily="49" charset="-122"/>
                <a:ea typeface="黑体" panose="02010609060101010101" pitchFamily="49" charset="-122"/>
                <a:cs typeface="+mn-cs"/>
              </a:rPr>
              <a:t>借：生成成本    </a:t>
            </a:r>
            <a:r>
              <a:rPr lang="en-US" altLang="zh-CN" sz="2400" b="0" dirty="0">
                <a:latin typeface="黑体" panose="02010609060101010101" pitchFamily="49" charset="-122"/>
                <a:ea typeface="黑体" panose="02010609060101010101" pitchFamily="49" charset="-122"/>
                <a:cs typeface="+mn-cs"/>
              </a:rPr>
              <a:t>600</a:t>
            </a:r>
          </a:p>
          <a:p>
            <a:pPr marL="400050" lvl="1" indent="0">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制造费用      </a:t>
            </a:r>
            <a:r>
              <a:rPr lang="en-US" altLang="zh-CN" sz="2400" b="0" dirty="0">
                <a:latin typeface="黑体" panose="02010609060101010101" pitchFamily="49" charset="-122"/>
                <a:ea typeface="黑体" panose="02010609060101010101" pitchFamily="49" charset="-122"/>
                <a:cs typeface="+mn-cs"/>
              </a:rPr>
              <a:t>90</a:t>
            </a:r>
          </a:p>
          <a:p>
            <a:pPr marL="400050" lvl="1" indent="0">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管理费用      </a:t>
            </a:r>
            <a:r>
              <a:rPr lang="en-US" altLang="zh-CN" sz="2400" b="0" dirty="0">
                <a:latin typeface="黑体" panose="02010609060101010101" pitchFamily="49" charset="-122"/>
                <a:ea typeface="黑体" panose="02010609060101010101" pitchFamily="49" charset="-122"/>
                <a:cs typeface="+mn-cs"/>
              </a:rPr>
              <a:t>60</a:t>
            </a:r>
          </a:p>
          <a:p>
            <a:pPr marL="400050" lvl="1" indent="0">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贷：材料成本差异    </a:t>
            </a:r>
            <a:r>
              <a:rPr lang="en-US" altLang="zh-CN" sz="2400" b="0" dirty="0">
                <a:latin typeface="黑体" panose="02010609060101010101" pitchFamily="49" charset="-122"/>
                <a:ea typeface="黑体" panose="02010609060101010101" pitchFamily="49" charset="-122"/>
                <a:cs typeface="+mn-cs"/>
              </a:rPr>
              <a:t>750  </a:t>
            </a:r>
          </a:p>
        </p:txBody>
      </p:sp>
    </p:spTree>
    <p:extLst>
      <p:ext uri="{BB962C8B-B14F-4D97-AF65-F5344CB8AC3E}">
        <p14:creationId xmlns:p14="http://schemas.microsoft.com/office/powerpoint/2010/main" val="93771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5315">
                                            <p:txEl>
                                              <p:pRg st="1" end="1"/>
                                            </p:txEl>
                                          </p:spTgt>
                                        </p:tgtEl>
                                        <p:attrNameLst>
                                          <p:attrName>style.visibility</p:attrName>
                                        </p:attrNameLst>
                                      </p:cBhvr>
                                      <p:to>
                                        <p:strVal val="visible"/>
                                      </p:to>
                                    </p:set>
                                    <p:animEffect transition="in" filter="blinds(horizontal)">
                                      <p:cBhvr>
                                        <p:cTn id="7" dur="500"/>
                                        <p:tgtEl>
                                          <p:spTgt spid="52531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25315">
                                            <p:txEl>
                                              <p:pRg st="2" end="2"/>
                                            </p:txEl>
                                          </p:spTgt>
                                        </p:tgtEl>
                                        <p:attrNameLst>
                                          <p:attrName>style.visibility</p:attrName>
                                        </p:attrNameLst>
                                      </p:cBhvr>
                                      <p:to>
                                        <p:strVal val="visible"/>
                                      </p:to>
                                    </p:set>
                                    <p:animEffect transition="in" filter="blinds(horizontal)">
                                      <p:cBhvr>
                                        <p:cTn id="10" dur="500"/>
                                        <p:tgtEl>
                                          <p:spTgt spid="52531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25315">
                                            <p:txEl>
                                              <p:pRg st="3" end="3"/>
                                            </p:txEl>
                                          </p:spTgt>
                                        </p:tgtEl>
                                        <p:attrNameLst>
                                          <p:attrName>style.visibility</p:attrName>
                                        </p:attrNameLst>
                                      </p:cBhvr>
                                      <p:to>
                                        <p:strVal val="visible"/>
                                      </p:to>
                                    </p:set>
                                    <p:animEffect transition="in" filter="blinds(horizontal)">
                                      <p:cBhvr>
                                        <p:cTn id="13" dur="500"/>
                                        <p:tgtEl>
                                          <p:spTgt spid="525315">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25315">
                                            <p:txEl>
                                              <p:pRg st="4" end="4"/>
                                            </p:txEl>
                                          </p:spTgt>
                                        </p:tgtEl>
                                        <p:attrNameLst>
                                          <p:attrName>style.visibility</p:attrName>
                                        </p:attrNameLst>
                                      </p:cBhvr>
                                      <p:to>
                                        <p:strVal val="visible"/>
                                      </p:to>
                                    </p:set>
                                    <p:animEffect transition="in" filter="blinds(horizontal)">
                                      <p:cBhvr>
                                        <p:cTn id="16" dur="500"/>
                                        <p:tgtEl>
                                          <p:spTgt spid="525315">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25315">
                                            <p:txEl>
                                              <p:pRg st="5" end="5"/>
                                            </p:txEl>
                                          </p:spTgt>
                                        </p:tgtEl>
                                        <p:attrNameLst>
                                          <p:attrName>style.visibility</p:attrName>
                                        </p:attrNameLst>
                                      </p:cBhvr>
                                      <p:to>
                                        <p:strVal val="visible"/>
                                      </p:to>
                                    </p:set>
                                    <p:animEffect transition="in" filter="blinds(horizontal)">
                                      <p:cBhvr>
                                        <p:cTn id="19" dur="500"/>
                                        <p:tgtEl>
                                          <p:spTgt spid="525315">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525315">
                                            <p:txEl>
                                              <p:pRg st="6" end="6"/>
                                            </p:txEl>
                                          </p:spTgt>
                                        </p:tgtEl>
                                        <p:attrNameLst>
                                          <p:attrName>style.visibility</p:attrName>
                                        </p:attrNameLst>
                                      </p:cBhvr>
                                      <p:to>
                                        <p:strVal val="visible"/>
                                      </p:to>
                                    </p:set>
                                    <p:animEffect transition="in" filter="blinds(horizontal)">
                                      <p:cBhvr>
                                        <p:cTn id="22" dur="500"/>
                                        <p:tgtEl>
                                          <p:spTgt spid="525315">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525315">
                                            <p:txEl>
                                              <p:pRg st="7" end="7"/>
                                            </p:txEl>
                                          </p:spTgt>
                                        </p:tgtEl>
                                        <p:attrNameLst>
                                          <p:attrName>style.visibility</p:attrName>
                                        </p:attrNameLst>
                                      </p:cBhvr>
                                      <p:to>
                                        <p:strVal val="visible"/>
                                      </p:to>
                                    </p:set>
                                    <p:animEffect transition="in" filter="blinds(horizontal)">
                                      <p:cBhvr>
                                        <p:cTn id="25" dur="500"/>
                                        <p:tgtEl>
                                          <p:spTgt spid="525315">
                                            <p:txEl>
                                              <p:pRg st="7" end="7"/>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525315">
                                            <p:txEl>
                                              <p:pRg st="8" end="8"/>
                                            </p:txEl>
                                          </p:spTgt>
                                        </p:tgtEl>
                                        <p:attrNameLst>
                                          <p:attrName>style.visibility</p:attrName>
                                        </p:attrNameLst>
                                      </p:cBhvr>
                                      <p:to>
                                        <p:strVal val="visible"/>
                                      </p:to>
                                    </p:set>
                                    <p:animEffect transition="in" filter="blinds(horizontal)">
                                      <p:cBhvr>
                                        <p:cTn id="28" dur="500"/>
                                        <p:tgtEl>
                                          <p:spTgt spid="5253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endParaRPr lang="zh-CN" altLang="zh-CN"/>
          </a:p>
        </p:txBody>
      </p:sp>
      <p:sp>
        <p:nvSpPr>
          <p:cNvPr id="527363" name="Rectangle 3"/>
          <p:cNvSpPr>
            <a:spLocks noGrp="1" noChangeArrowheads="1"/>
          </p:cNvSpPr>
          <p:nvPr>
            <p:ph type="body" idx="1"/>
          </p:nvPr>
        </p:nvSpPr>
        <p:spPr/>
        <p:txBody>
          <a:bodyPr/>
          <a:lstStyle/>
          <a:p>
            <a:pPr>
              <a:lnSpc>
                <a:spcPct val="80000"/>
              </a:lnSpc>
            </a:pPr>
            <a:r>
              <a:rPr lang="zh-CN" altLang="en-US" sz="2400" b="0" dirty="0"/>
              <a:t>（</a:t>
            </a:r>
            <a:r>
              <a:rPr lang="en-US" altLang="zh-CN" sz="2400" b="0" dirty="0"/>
              <a:t>6</a:t>
            </a:r>
            <a:r>
              <a:rPr lang="zh-CN" altLang="en-US" sz="2400" b="0" dirty="0"/>
              <a:t>）</a:t>
            </a:r>
            <a:r>
              <a:rPr lang="en-US" altLang="zh-CN" sz="2400" b="0" dirty="0"/>
              <a:t>8</a:t>
            </a:r>
            <a:r>
              <a:rPr lang="zh-CN" altLang="en-US" sz="2400" b="0" dirty="0"/>
              <a:t>月</a:t>
            </a:r>
            <a:r>
              <a:rPr lang="en-US" altLang="zh-CN" sz="2400" b="0" dirty="0"/>
              <a:t>30</a:t>
            </a:r>
            <a:r>
              <a:rPr lang="zh-CN" altLang="en-US" sz="2400" b="0" dirty="0"/>
              <a:t>日，假设财会部门编制的本月发出材料汇总表，其计划总成本为</a:t>
            </a:r>
            <a:r>
              <a:rPr lang="en-US" altLang="zh-CN" sz="2400" b="0" dirty="0"/>
              <a:t>60 000</a:t>
            </a:r>
            <a:r>
              <a:rPr lang="zh-CN" altLang="en-US" sz="2400" b="0" dirty="0"/>
              <a:t>元，其中：生产甲产品领用</a:t>
            </a:r>
            <a:r>
              <a:rPr lang="en-US" altLang="zh-CN" sz="2400" b="0" dirty="0"/>
              <a:t>50 000</a:t>
            </a:r>
            <a:r>
              <a:rPr lang="zh-CN" altLang="en-US" sz="2400" b="0" dirty="0"/>
              <a:t>元，车间一般耗用</a:t>
            </a:r>
            <a:r>
              <a:rPr lang="en-US" altLang="zh-CN" sz="2400" b="0" dirty="0"/>
              <a:t>8 000</a:t>
            </a:r>
            <a:r>
              <a:rPr lang="zh-CN" altLang="en-US" sz="2400" b="0" dirty="0"/>
              <a:t>元，管理部门耗用</a:t>
            </a:r>
            <a:r>
              <a:rPr lang="en-US" altLang="zh-CN" sz="2400" b="0" dirty="0"/>
              <a:t>2 000</a:t>
            </a:r>
            <a:r>
              <a:rPr lang="zh-CN" altLang="en-US" sz="2400" b="0" dirty="0"/>
              <a:t>元，本月材料成本差异率为</a:t>
            </a:r>
            <a:r>
              <a:rPr lang="en-US" altLang="zh-CN" sz="2400" b="0" dirty="0"/>
              <a:t>-1</a:t>
            </a:r>
            <a:r>
              <a:rPr lang="zh-CN" altLang="en-US" sz="2400" b="0" dirty="0"/>
              <a:t>％。</a:t>
            </a:r>
          </a:p>
          <a:p>
            <a:pPr marL="400050" lvl="1" indent="0">
              <a:lnSpc>
                <a:spcPct val="80000"/>
              </a:lnSpc>
              <a:buNone/>
            </a:pPr>
            <a:r>
              <a:rPr lang="zh-CN" altLang="en-US" sz="2400" b="0" dirty="0">
                <a:latin typeface="黑体" panose="02010609060101010101" pitchFamily="49" charset="-122"/>
                <a:ea typeface="黑体" panose="02010609060101010101" pitchFamily="49" charset="-122"/>
                <a:cs typeface="+mn-cs"/>
              </a:rPr>
              <a:t>借：生成成本    </a:t>
            </a:r>
            <a:r>
              <a:rPr lang="en-US" altLang="zh-CN" sz="2400" b="0" dirty="0">
                <a:latin typeface="黑体" panose="02010609060101010101" pitchFamily="49" charset="-122"/>
                <a:ea typeface="黑体" panose="02010609060101010101" pitchFamily="49" charset="-122"/>
                <a:cs typeface="+mn-cs"/>
              </a:rPr>
              <a:t>50 000</a:t>
            </a:r>
          </a:p>
          <a:p>
            <a:pPr marL="400050" lvl="1" indent="0">
              <a:lnSpc>
                <a:spcPct val="8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制造费用     </a:t>
            </a:r>
            <a:r>
              <a:rPr lang="en-US" altLang="zh-CN" sz="2400" b="0" dirty="0">
                <a:latin typeface="黑体" panose="02010609060101010101" pitchFamily="49" charset="-122"/>
                <a:ea typeface="黑体" panose="02010609060101010101" pitchFamily="49" charset="-122"/>
                <a:cs typeface="+mn-cs"/>
              </a:rPr>
              <a:t>8 000</a:t>
            </a:r>
          </a:p>
          <a:p>
            <a:pPr marL="400050" lvl="1" indent="0">
              <a:lnSpc>
                <a:spcPct val="8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管理费用     </a:t>
            </a:r>
            <a:r>
              <a:rPr lang="en-US" altLang="zh-CN" sz="2400" b="0" dirty="0">
                <a:latin typeface="黑体" panose="02010609060101010101" pitchFamily="49" charset="-122"/>
                <a:ea typeface="黑体" panose="02010609060101010101" pitchFamily="49" charset="-122"/>
                <a:cs typeface="+mn-cs"/>
              </a:rPr>
              <a:t>2 000</a:t>
            </a:r>
          </a:p>
          <a:p>
            <a:pPr marL="400050" lvl="1" indent="0">
              <a:lnSpc>
                <a:spcPct val="8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贷：原材料        </a:t>
            </a:r>
            <a:r>
              <a:rPr lang="en-US" altLang="zh-CN" sz="2400" b="0" dirty="0">
                <a:latin typeface="黑体" panose="02010609060101010101" pitchFamily="49" charset="-122"/>
                <a:ea typeface="黑体" panose="02010609060101010101" pitchFamily="49" charset="-122"/>
                <a:cs typeface="+mn-cs"/>
              </a:rPr>
              <a:t>60 000</a:t>
            </a:r>
          </a:p>
          <a:p>
            <a:pPr marL="400050" lvl="1" indent="0">
              <a:lnSpc>
                <a:spcPct val="80000"/>
              </a:lnSpc>
              <a:buNone/>
            </a:pPr>
            <a:endParaRPr lang="en-US" altLang="zh-CN" sz="2400" b="0" dirty="0">
              <a:latin typeface="黑体" panose="02010609060101010101" pitchFamily="49" charset="-122"/>
              <a:ea typeface="黑体" panose="02010609060101010101" pitchFamily="49" charset="-122"/>
              <a:cs typeface="+mn-cs"/>
            </a:endParaRPr>
          </a:p>
          <a:p>
            <a:pPr marL="400050" lvl="1" indent="0">
              <a:lnSpc>
                <a:spcPct val="80000"/>
              </a:lnSpc>
              <a:buNone/>
            </a:pPr>
            <a:r>
              <a:rPr lang="zh-CN" altLang="en-US" sz="2400" b="0" dirty="0">
                <a:latin typeface="黑体" panose="02010609060101010101" pitchFamily="49" charset="-122"/>
                <a:ea typeface="黑体" panose="02010609060101010101" pitchFamily="49" charset="-122"/>
                <a:cs typeface="+mn-cs"/>
              </a:rPr>
              <a:t>借：生成成本     </a:t>
            </a:r>
            <a:r>
              <a:rPr lang="en-US" altLang="zh-CN" sz="2400" b="0" dirty="0">
                <a:latin typeface="黑体" panose="02010609060101010101" pitchFamily="49" charset="-122"/>
                <a:ea typeface="黑体" panose="02010609060101010101" pitchFamily="49" charset="-122"/>
                <a:cs typeface="+mn-cs"/>
              </a:rPr>
              <a:t>500</a:t>
            </a:r>
          </a:p>
          <a:p>
            <a:pPr marL="400050" lvl="1" indent="0">
              <a:lnSpc>
                <a:spcPct val="8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制造费用      </a:t>
            </a:r>
            <a:r>
              <a:rPr lang="en-US" altLang="zh-CN" sz="2400" b="0" dirty="0">
                <a:latin typeface="黑体" panose="02010609060101010101" pitchFamily="49" charset="-122"/>
                <a:ea typeface="黑体" panose="02010609060101010101" pitchFamily="49" charset="-122"/>
                <a:cs typeface="+mn-cs"/>
              </a:rPr>
              <a:t>80</a:t>
            </a:r>
          </a:p>
          <a:p>
            <a:pPr marL="400050" lvl="1" indent="0">
              <a:lnSpc>
                <a:spcPct val="8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管理费用      </a:t>
            </a:r>
            <a:r>
              <a:rPr lang="en-US" altLang="zh-CN" sz="2400" b="0" dirty="0">
                <a:latin typeface="黑体" panose="02010609060101010101" pitchFamily="49" charset="-122"/>
                <a:ea typeface="黑体" panose="02010609060101010101" pitchFamily="49" charset="-122"/>
                <a:cs typeface="+mn-cs"/>
              </a:rPr>
              <a:t>20</a:t>
            </a:r>
          </a:p>
          <a:p>
            <a:pPr marL="400050" lvl="1" indent="0">
              <a:lnSpc>
                <a:spcPct val="80000"/>
              </a:lnSpc>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贷：材料成本差异 </a:t>
            </a:r>
            <a:r>
              <a:rPr lang="en-US" altLang="zh-CN" sz="2400" b="0" dirty="0">
                <a:latin typeface="黑体" panose="02010609060101010101" pitchFamily="49" charset="-122"/>
                <a:ea typeface="黑体" panose="02010609060101010101" pitchFamily="49" charset="-122"/>
                <a:cs typeface="+mn-cs"/>
              </a:rPr>
              <a:t>600</a:t>
            </a:r>
          </a:p>
          <a:p>
            <a:pPr marL="0" indent="0">
              <a:lnSpc>
                <a:spcPct val="80000"/>
              </a:lnSpc>
              <a:buNone/>
            </a:pPr>
            <a:r>
              <a:rPr lang="en-US" altLang="zh-CN" sz="2400" b="0" dirty="0"/>
              <a:t>   </a:t>
            </a:r>
          </a:p>
        </p:txBody>
      </p:sp>
    </p:spTree>
    <p:extLst>
      <p:ext uri="{BB962C8B-B14F-4D97-AF65-F5344CB8AC3E}">
        <p14:creationId xmlns:p14="http://schemas.microsoft.com/office/powerpoint/2010/main" val="1094600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7363">
                                            <p:txEl>
                                              <p:pRg st="1" end="1"/>
                                            </p:txEl>
                                          </p:spTgt>
                                        </p:tgtEl>
                                        <p:attrNameLst>
                                          <p:attrName>style.visibility</p:attrName>
                                        </p:attrNameLst>
                                      </p:cBhvr>
                                      <p:to>
                                        <p:strVal val="visible"/>
                                      </p:to>
                                    </p:set>
                                    <p:animEffect transition="in" filter="blinds(horizontal)">
                                      <p:cBhvr>
                                        <p:cTn id="7" dur="500"/>
                                        <p:tgtEl>
                                          <p:spTgt spid="52736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27363">
                                            <p:txEl>
                                              <p:pRg st="2" end="2"/>
                                            </p:txEl>
                                          </p:spTgt>
                                        </p:tgtEl>
                                        <p:attrNameLst>
                                          <p:attrName>style.visibility</p:attrName>
                                        </p:attrNameLst>
                                      </p:cBhvr>
                                      <p:to>
                                        <p:strVal val="visible"/>
                                      </p:to>
                                    </p:set>
                                    <p:animEffect transition="in" filter="blinds(horizontal)">
                                      <p:cBhvr>
                                        <p:cTn id="10" dur="500"/>
                                        <p:tgtEl>
                                          <p:spTgt spid="52736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27363">
                                            <p:txEl>
                                              <p:pRg st="3" end="3"/>
                                            </p:txEl>
                                          </p:spTgt>
                                        </p:tgtEl>
                                        <p:attrNameLst>
                                          <p:attrName>style.visibility</p:attrName>
                                        </p:attrNameLst>
                                      </p:cBhvr>
                                      <p:to>
                                        <p:strVal val="visible"/>
                                      </p:to>
                                    </p:set>
                                    <p:animEffect transition="in" filter="blinds(horizontal)">
                                      <p:cBhvr>
                                        <p:cTn id="13" dur="500"/>
                                        <p:tgtEl>
                                          <p:spTgt spid="52736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27363">
                                            <p:txEl>
                                              <p:pRg st="4" end="4"/>
                                            </p:txEl>
                                          </p:spTgt>
                                        </p:tgtEl>
                                        <p:attrNameLst>
                                          <p:attrName>style.visibility</p:attrName>
                                        </p:attrNameLst>
                                      </p:cBhvr>
                                      <p:to>
                                        <p:strVal val="visible"/>
                                      </p:to>
                                    </p:set>
                                    <p:animEffect transition="in" filter="blinds(horizontal)">
                                      <p:cBhvr>
                                        <p:cTn id="16" dur="500"/>
                                        <p:tgtEl>
                                          <p:spTgt spid="52736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27363">
                                            <p:txEl>
                                              <p:pRg st="6" end="6"/>
                                            </p:txEl>
                                          </p:spTgt>
                                        </p:tgtEl>
                                        <p:attrNameLst>
                                          <p:attrName>style.visibility</p:attrName>
                                        </p:attrNameLst>
                                      </p:cBhvr>
                                      <p:to>
                                        <p:strVal val="visible"/>
                                      </p:to>
                                    </p:set>
                                    <p:animEffect transition="in" filter="blinds(horizontal)">
                                      <p:cBhvr>
                                        <p:cTn id="19" dur="500"/>
                                        <p:tgtEl>
                                          <p:spTgt spid="527363">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527363">
                                            <p:txEl>
                                              <p:pRg st="7" end="7"/>
                                            </p:txEl>
                                          </p:spTgt>
                                        </p:tgtEl>
                                        <p:attrNameLst>
                                          <p:attrName>style.visibility</p:attrName>
                                        </p:attrNameLst>
                                      </p:cBhvr>
                                      <p:to>
                                        <p:strVal val="visible"/>
                                      </p:to>
                                    </p:set>
                                    <p:animEffect transition="in" filter="blinds(horizontal)">
                                      <p:cBhvr>
                                        <p:cTn id="22" dur="500"/>
                                        <p:tgtEl>
                                          <p:spTgt spid="527363">
                                            <p:txEl>
                                              <p:pRg st="7" end="7"/>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527363">
                                            <p:txEl>
                                              <p:pRg st="8" end="8"/>
                                            </p:txEl>
                                          </p:spTgt>
                                        </p:tgtEl>
                                        <p:attrNameLst>
                                          <p:attrName>style.visibility</p:attrName>
                                        </p:attrNameLst>
                                      </p:cBhvr>
                                      <p:to>
                                        <p:strVal val="visible"/>
                                      </p:to>
                                    </p:set>
                                    <p:animEffect transition="in" filter="blinds(horizontal)">
                                      <p:cBhvr>
                                        <p:cTn id="25" dur="500"/>
                                        <p:tgtEl>
                                          <p:spTgt spid="527363">
                                            <p:txEl>
                                              <p:pRg st="8" end="8"/>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527363">
                                            <p:txEl>
                                              <p:pRg st="9" end="9"/>
                                            </p:txEl>
                                          </p:spTgt>
                                        </p:tgtEl>
                                        <p:attrNameLst>
                                          <p:attrName>style.visibility</p:attrName>
                                        </p:attrNameLst>
                                      </p:cBhvr>
                                      <p:to>
                                        <p:strVal val="visible"/>
                                      </p:to>
                                    </p:set>
                                    <p:animEffect transition="in" filter="blinds(horizontal)">
                                      <p:cBhvr>
                                        <p:cTn id="28" dur="500"/>
                                        <p:tgtEl>
                                          <p:spTgt spid="52736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a:xfrm>
            <a:off x="1706691" y="770924"/>
            <a:ext cx="5899149" cy="838200"/>
          </a:xfrm>
        </p:spPr>
        <p:txBody>
          <a:bodyPr/>
          <a:lstStyle/>
          <a:p>
            <a:pPr algn="just" eaLnBrk="1" hangingPunct="1"/>
            <a:r>
              <a:rPr lang="zh-CN" altLang="en-US" dirty="0"/>
              <a:t>思考：</a:t>
            </a:r>
          </a:p>
        </p:txBody>
      </p:sp>
      <p:graphicFrame>
        <p:nvGraphicFramePr>
          <p:cNvPr id="1026" name="Object 4"/>
          <p:cNvGraphicFramePr>
            <a:graphicFrameLocks noChangeAspect="1"/>
          </p:cNvGraphicFramePr>
          <p:nvPr/>
        </p:nvGraphicFramePr>
        <p:xfrm>
          <a:off x="1316568" y="4078289"/>
          <a:ext cx="1132417" cy="1547813"/>
        </p:xfrm>
        <a:graphic>
          <a:graphicData uri="http://schemas.openxmlformats.org/presentationml/2006/ole">
            <mc:AlternateContent xmlns:mc="http://schemas.openxmlformats.org/markup-compatibility/2006">
              <mc:Choice xmlns:v="urn:schemas-microsoft-com:vml" Requires="v">
                <p:oleObj spid="_x0000_s1070" name="剪辑" r:id="rId3" imgW="1857600" imgH="3995640" progId="">
                  <p:embed/>
                </p:oleObj>
              </mc:Choice>
              <mc:Fallback>
                <p:oleObj name="剪辑" r:id="rId3" imgW="1857600" imgH="399564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6568" y="4078289"/>
                        <a:ext cx="1132417" cy="1547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3048000" y="2925786"/>
            <a:ext cx="6096000" cy="1930337"/>
          </a:xfrm>
          <a:prstGeom prst="rect">
            <a:avLst/>
          </a:prstGeom>
        </p:spPr>
        <p:txBody>
          <a:bodyPr>
            <a:spAutoFit/>
          </a:bodyPr>
          <a:lstStyle/>
          <a:p>
            <a:pPr marL="342900" indent="-342900" eaLnBrk="0" fontAlgn="base" hangingPunct="0">
              <a:lnSpc>
                <a:spcPct val="110000"/>
              </a:lnSpc>
              <a:spcBef>
                <a:spcPct val="20000"/>
              </a:spcBef>
              <a:spcAft>
                <a:spcPct val="0"/>
              </a:spcAft>
              <a:buClr>
                <a:schemeClr val="folHlink"/>
              </a:buClr>
              <a:buSzPct val="60000"/>
              <a:buFont typeface="Wingdings" panose="05000000000000000000" pitchFamily="2" charset="2"/>
              <a:buChar char="n"/>
              <a:defRPr/>
            </a:pPr>
            <a:r>
              <a:rPr lang="zh-CN" altLang="en-US" sz="2800" b="1" dirty="0">
                <a:latin typeface="楷体_GB2312" panose="02010609030101010101" pitchFamily="49" charset="-122"/>
                <a:ea typeface="楷体_GB2312" panose="02010609030101010101" pitchFamily="49" charset="-122"/>
              </a:rPr>
              <a:t>原材料按实际成本计价的核算与按计划成本计价的核算的优缺点各是什么？两种计价方法分别适用于什么样的企业？</a:t>
            </a:r>
          </a:p>
        </p:txBody>
      </p:sp>
    </p:spTree>
    <p:extLst>
      <p:ext uri="{BB962C8B-B14F-4D97-AF65-F5344CB8AC3E}">
        <p14:creationId xmlns:p14="http://schemas.microsoft.com/office/powerpoint/2010/main" val="999996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4722"/>
                                        </p:tgtEl>
                                        <p:attrNameLst>
                                          <p:attrName>style.visibility</p:attrName>
                                        </p:attrNameLst>
                                      </p:cBhvr>
                                      <p:to>
                                        <p:strVal val="visible"/>
                                      </p:to>
                                    </p:set>
                                    <p:anim calcmode="lin" valueType="num">
                                      <p:cBhvr additive="base">
                                        <p:cTn id="7" dur="500" fill="hold"/>
                                        <p:tgtEl>
                                          <p:spTgt spid="414722"/>
                                        </p:tgtEl>
                                        <p:attrNameLst>
                                          <p:attrName>ppt_x</p:attrName>
                                        </p:attrNameLst>
                                      </p:cBhvr>
                                      <p:tavLst>
                                        <p:tav tm="0">
                                          <p:val>
                                            <p:strVal val="0-#ppt_w/2"/>
                                          </p:val>
                                        </p:tav>
                                        <p:tav tm="100000">
                                          <p:val>
                                            <p:strVal val="#ppt_x"/>
                                          </p:val>
                                        </p:tav>
                                      </p:tavLst>
                                    </p:anim>
                                    <p:anim calcmode="lin" valueType="num">
                                      <p:cBhvr additive="base">
                                        <p:cTn id="8" dur="500" fill="hold"/>
                                        <p:tgtEl>
                                          <p:spTgt spid="4147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2"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2959101" y="1727200"/>
            <a:ext cx="8066617" cy="1143000"/>
          </a:xfrm>
        </p:spPr>
        <p:txBody>
          <a:bodyPr/>
          <a:lstStyle/>
          <a:p>
            <a:pPr eaLnBrk="1" hangingPunct="1"/>
            <a:r>
              <a:rPr lang="zh-CN" altLang="en-US">
                <a:latin typeface="黑体" pitchFamily="2" charset="-122"/>
                <a:ea typeface="黑体" pitchFamily="2" charset="-122"/>
              </a:rPr>
              <a:t>第四节   库存商品</a:t>
            </a:r>
          </a:p>
        </p:txBody>
      </p:sp>
      <p:sp>
        <p:nvSpPr>
          <p:cNvPr id="415748" name="AutoShape 4"/>
          <p:cNvSpPr>
            <a:spLocks noChangeArrowheads="1"/>
          </p:cNvSpPr>
          <p:nvPr/>
        </p:nvSpPr>
        <p:spPr bwMode="auto">
          <a:xfrm rot="5400000">
            <a:off x="3109383" y="1814513"/>
            <a:ext cx="1079500" cy="4318000"/>
          </a:xfrm>
          <a:prstGeom prst="homePlate">
            <a:avLst>
              <a:gd name="adj" fmla="val 25000"/>
            </a:avLst>
          </a:prstGeom>
          <a:gradFill rotWithShape="1">
            <a:gsLst>
              <a:gs pos="0">
                <a:srgbClr val="008080"/>
              </a:gs>
              <a:gs pos="100000">
                <a:srgbClr val="008080">
                  <a:gamma/>
                  <a:tint val="38039"/>
                  <a:invGamma/>
                </a:srgbClr>
              </a:gs>
            </a:gsLst>
            <a:lin ang="0" scaled="1"/>
          </a:gradFill>
          <a:ln w="9525" algn="ctr">
            <a:solidFill>
              <a:srgbClr val="339966"/>
            </a:solidFill>
            <a:miter lim="800000"/>
            <a:headEnd/>
            <a:tailEnd/>
          </a:ln>
          <a:effectLst>
            <a:outerShdw dist="35921" dir="2700000" algn="ctr" rotWithShape="0">
              <a:schemeClr val="tx1"/>
            </a:outerShdw>
          </a:effectLst>
        </p:spPr>
        <p:txBody>
          <a:bodyPr rot="10800000" vert="eaVert" wrap="none" anchor="ctr"/>
          <a:lstStyle/>
          <a:p>
            <a:pPr marL="233363" indent="-233363" defTabSz="623888" eaLnBrk="1" hangingPunct="1">
              <a:spcBef>
                <a:spcPct val="20000"/>
              </a:spcBef>
              <a:defRPr/>
            </a:pPr>
            <a:r>
              <a:rPr lang="zh-CN" altLang="en-US" sz="2000" b="1" dirty="0">
                <a:solidFill>
                  <a:srgbClr val="FFFF00"/>
                </a:solidFill>
                <a:effectLst/>
                <a:ea typeface="宋体" pitchFamily="2" charset="-122"/>
              </a:rPr>
              <a:t>一、实际成本</a:t>
            </a:r>
            <a:endParaRPr lang="en-US" altLang="zh-CN" sz="2000" b="1" dirty="0">
              <a:solidFill>
                <a:srgbClr val="FFFF00"/>
              </a:solidFill>
              <a:effectLst/>
              <a:ea typeface="宋体" pitchFamily="2" charset="-122"/>
            </a:endParaRPr>
          </a:p>
          <a:p>
            <a:pPr marL="233363" indent="-233363" defTabSz="623888" eaLnBrk="1" hangingPunct="1">
              <a:spcBef>
                <a:spcPct val="20000"/>
              </a:spcBef>
              <a:defRPr/>
            </a:pPr>
            <a:r>
              <a:rPr lang="zh-CN" altLang="en-US" sz="2000" b="1" dirty="0">
                <a:solidFill>
                  <a:srgbClr val="FFFF00"/>
                </a:solidFill>
                <a:effectLst/>
                <a:ea typeface="宋体" pitchFamily="2" charset="-122"/>
              </a:rPr>
              <a:t>（数量进价金额核算法）</a:t>
            </a:r>
          </a:p>
        </p:txBody>
      </p:sp>
      <p:sp>
        <p:nvSpPr>
          <p:cNvPr id="415749" name="AutoShape 5"/>
          <p:cNvSpPr>
            <a:spLocks noChangeArrowheads="1"/>
          </p:cNvSpPr>
          <p:nvPr/>
        </p:nvSpPr>
        <p:spPr bwMode="auto">
          <a:xfrm rot="5400000">
            <a:off x="7757583" y="1808163"/>
            <a:ext cx="1079500" cy="4318000"/>
          </a:xfrm>
          <a:prstGeom prst="homePlate">
            <a:avLst>
              <a:gd name="adj" fmla="val 25000"/>
            </a:avLst>
          </a:prstGeom>
          <a:gradFill rotWithShape="1">
            <a:gsLst>
              <a:gs pos="0">
                <a:srgbClr val="008080"/>
              </a:gs>
              <a:gs pos="100000">
                <a:srgbClr val="008080">
                  <a:gamma/>
                  <a:tint val="38039"/>
                  <a:invGamma/>
                </a:srgbClr>
              </a:gs>
            </a:gsLst>
            <a:lin ang="0" scaled="1"/>
          </a:gradFill>
          <a:ln w="9525" algn="ctr">
            <a:solidFill>
              <a:srgbClr val="339966"/>
            </a:solidFill>
            <a:miter lim="800000"/>
            <a:headEnd/>
            <a:tailEnd/>
          </a:ln>
          <a:effectLst>
            <a:outerShdw dist="35921" dir="2700000" algn="ctr" rotWithShape="0">
              <a:schemeClr val="tx1"/>
            </a:outerShdw>
          </a:effectLst>
        </p:spPr>
        <p:txBody>
          <a:bodyPr rot="10800000" vert="eaVert" wrap="none" anchor="ctr"/>
          <a:lstStyle/>
          <a:p>
            <a:pPr marL="233363" indent="-233363" defTabSz="623888" eaLnBrk="1" hangingPunct="1">
              <a:defRPr/>
            </a:pPr>
            <a:r>
              <a:rPr lang="zh-CN" altLang="en-US" sz="2000" b="1">
                <a:solidFill>
                  <a:srgbClr val="FFFF00"/>
                </a:solidFill>
                <a:effectLst/>
                <a:ea typeface="宋体" pitchFamily="2" charset="-122"/>
              </a:rPr>
              <a:t>二、售价金额核算法</a:t>
            </a:r>
            <a:endParaRPr lang="zh-CN" altLang="en-US" sz="2400">
              <a:solidFill>
                <a:srgbClr val="FFFF00"/>
              </a:solidFill>
              <a:effectLst/>
              <a:ea typeface="宋体" pitchFamily="2" charset="-122"/>
            </a:endParaRPr>
          </a:p>
        </p:txBody>
      </p:sp>
    </p:spTree>
    <p:extLst>
      <p:ext uri="{BB962C8B-B14F-4D97-AF65-F5344CB8AC3E}">
        <p14:creationId xmlns:p14="http://schemas.microsoft.com/office/powerpoint/2010/main" val="146447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15748"/>
                                        </p:tgtEl>
                                        <p:attrNameLst>
                                          <p:attrName>style.visibility</p:attrName>
                                        </p:attrNameLst>
                                      </p:cBhvr>
                                      <p:to>
                                        <p:strVal val="visible"/>
                                      </p:to>
                                    </p:set>
                                    <p:anim to="" calcmode="lin" valueType="num">
                                      <p:cBhvr>
                                        <p:cTn id="7" dur="1" fill="hold"/>
                                        <p:tgtEl>
                                          <p:spTgt spid="415748"/>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415749"/>
                                        </p:tgtEl>
                                        <p:attrNameLst>
                                          <p:attrName>style.visibility</p:attrName>
                                        </p:attrNameLst>
                                      </p:cBhvr>
                                      <p:to>
                                        <p:strVal val="visible"/>
                                      </p:to>
                                    </p:set>
                                    <p:anim to="" calcmode="lin" valueType="num">
                                      <p:cBhvr>
                                        <p:cTn id="12" dur="1" fill="hold"/>
                                        <p:tgtEl>
                                          <p:spTgt spid="415749"/>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48" grpId="0" animBg="1"/>
      <p:bldP spid="415749"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a:xfrm>
            <a:off x="1579033" y="524586"/>
            <a:ext cx="10363200" cy="1143001"/>
          </a:xfrm>
        </p:spPr>
        <p:txBody>
          <a:bodyPr/>
          <a:lstStyle/>
          <a:p>
            <a:pPr eaLnBrk="1" hangingPunct="1"/>
            <a:r>
              <a:rPr lang="zh-CN" altLang="en-US" dirty="0"/>
              <a:t>一、库存商品概述</a:t>
            </a:r>
          </a:p>
        </p:txBody>
      </p:sp>
      <p:sp>
        <p:nvSpPr>
          <p:cNvPr id="416771" name="Text Box 1027"/>
          <p:cNvSpPr txBox="1">
            <a:spLocks noChangeArrowheads="1"/>
          </p:cNvSpPr>
          <p:nvPr/>
        </p:nvSpPr>
        <p:spPr bwMode="auto">
          <a:xfrm>
            <a:off x="355601" y="3248025"/>
            <a:ext cx="1824567" cy="427038"/>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库存商品</a:t>
            </a:r>
            <a:endParaRPr kumimoji="1" lang="zh-CN" altLang="en-US" sz="2200">
              <a:solidFill>
                <a:srgbClr val="0000FF"/>
              </a:solidFill>
              <a:effectLst/>
              <a:latin typeface="Times New Roman" pitchFamily="18" charset="0"/>
              <a:ea typeface="宋体" pitchFamily="2" charset="-122"/>
            </a:endParaRPr>
          </a:p>
        </p:txBody>
      </p:sp>
      <p:sp>
        <p:nvSpPr>
          <p:cNvPr id="416772" name="Line 1028"/>
          <p:cNvSpPr>
            <a:spLocks noChangeShapeType="1"/>
          </p:cNvSpPr>
          <p:nvPr/>
        </p:nvSpPr>
        <p:spPr bwMode="auto">
          <a:xfrm>
            <a:off x="2180167" y="3457575"/>
            <a:ext cx="575733" cy="0"/>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774" name="Line 1030"/>
          <p:cNvSpPr>
            <a:spLocks noChangeShapeType="1"/>
          </p:cNvSpPr>
          <p:nvPr/>
        </p:nvSpPr>
        <p:spPr bwMode="auto">
          <a:xfrm>
            <a:off x="2755900" y="2760663"/>
            <a:ext cx="670984"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6775" name="Line 1031"/>
          <p:cNvSpPr>
            <a:spLocks noChangeShapeType="1"/>
          </p:cNvSpPr>
          <p:nvPr/>
        </p:nvSpPr>
        <p:spPr bwMode="auto">
          <a:xfrm>
            <a:off x="2755900" y="4710113"/>
            <a:ext cx="575733"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6776" name="Text Box 1032"/>
          <p:cNvSpPr txBox="1">
            <a:spLocks noChangeArrowheads="1"/>
          </p:cNvSpPr>
          <p:nvPr/>
        </p:nvSpPr>
        <p:spPr bwMode="auto">
          <a:xfrm>
            <a:off x="3139017" y="2552700"/>
            <a:ext cx="1056216" cy="427038"/>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范围</a:t>
            </a:r>
            <a:endParaRPr kumimoji="1" lang="zh-CN" altLang="en-US" sz="2200">
              <a:solidFill>
                <a:srgbClr val="0000FF"/>
              </a:solidFill>
              <a:effectLst/>
              <a:latin typeface="Times New Roman" pitchFamily="18" charset="0"/>
              <a:ea typeface="宋体" pitchFamily="2" charset="-122"/>
            </a:endParaRPr>
          </a:p>
        </p:txBody>
      </p:sp>
      <p:sp>
        <p:nvSpPr>
          <p:cNvPr id="416777" name="Text Box 1033"/>
          <p:cNvSpPr txBox="1">
            <a:spLocks noChangeArrowheads="1"/>
          </p:cNvSpPr>
          <p:nvPr/>
        </p:nvSpPr>
        <p:spPr bwMode="auto">
          <a:xfrm>
            <a:off x="3139017" y="4500564"/>
            <a:ext cx="1056216" cy="427037"/>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核算</a:t>
            </a:r>
            <a:endParaRPr kumimoji="1" lang="zh-CN" altLang="en-US" sz="2200">
              <a:solidFill>
                <a:srgbClr val="0000FF"/>
              </a:solidFill>
              <a:effectLst/>
              <a:latin typeface="Times New Roman" pitchFamily="18" charset="0"/>
              <a:ea typeface="宋体" pitchFamily="2" charset="-122"/>
            </a:endParaRPr>
          </a:p>
        </p:txBody>
      </p:sp>
      <p:sp>
        <p:nvSpPr>
          <p:cNvPr id="416778" name="Line 1034"/>
          <p:cNvSpPr>
            <a:spLocks noChangeShapeType="1"/>
          </p:cNvSpPr>
          <p:nvPr/>
        </p:nvSpPr>
        <p:spPr bwMode="auto">
          <a:xfrm>
            <a:off x="4195234" y="2760663"/>
            <a:ext cx="480484" cy="0"/>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779" name="Line 1035"/>
          <p:cNvSpPr>
            <a:spLocks noChangeShapeType="1"/>
          </p:cNvSpPr>
          <p:nvPr/>
        </p:nvSpPr>
        <p:spPr bwMode="auto">
          <a:xfrm>
            <a:off x="4675717" y="2343151"/>
            <a:ext cx="0" cy="766763"/>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780" name="Line 1036"/>
          <p:cNvSpPr>
            <a:spLocks noChangeShapeType="1"/>
          </p:cNvSpPr>
          <p:nvPr/>
        </p:nvSpPr>
        <p:spPr bwMode="auto">
          <a:xfrm>
            <a:off x="4675718" y="2343150"/>
            <a:ext cx="385233"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6781" name="Text Box 1037"/>
          <p:cNvSpPr txBox="1">
            <a:spLocks noChangeArrowheads="1"/>
          </p:cNvSpPr>
          <p:nvPr/>
        </p:nvSpPr>
        <p:spPr bwMode="auto">
          <a:xfrm>
            <a:off x="4963584" y="2135189"/>
            <a:ext cx="3361267" cy="427037"/>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工业企业库存商品</a:t>
            </a:r>
          </a:p>
        </p:txBody>
      </p:sp>
      <p:sp>
        <p:nvSpPr>
          <p:cNvPr id="416782" name="Line 1038"/>
          <p:cNvSpPr>
            <a:spLocks noChangeShapeType="1"/>
          </p:cNvSpPr>
          <p:nvPr/>
        </p:nvSpPr>
        <p:spPr bwMode="auto">
          <a:xfrm>
            <a:off x="8324851" y="2343150"/>
            <a:ext cx="575733"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6783" name="Text Box 1039"/>
          <p:cNvSpPr txBox="1">
            <a:spLocks noChangeArrowheads="1"/>
          </p:cNvSpPr>
          <p:nvPr/>
        </p:nvSpPr>
        <p:spPr bwMode="auto">
          <a:xfrm>
            <a:off x="8900584" y="2135189"/>
            <a:ext cx="1439333" cy="427037"/>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产成品</a:t>
            </a:r>
            <a:endParaRPr kumimoji="1" lang="zh-CN" altLang="en-US" sz="2200">
              <a:solidFill>
                <a:srgbClr val="0000FF"/>
              </a:solidFill>
              <a:effectLst/>
              <a:latin typeface="Times New Roman" pitchFamily="18" charset="0"/>
              <a:ea typeface="宋体" pitchFamily="2" charset="-122"/>
            </a:endParaRPr>
          </a:p>
        </p:txBody>
      </p:sp>
      <p:sp>
        <p:nvSpPr>
          <p:cNvPr id="416784" name="Line 1040"/>
          <p:cNvSpPr>
            <a:spLocks noChangeShapeType="1"/>
          </p:cNvSpPr>
          <p:nvPr/>
        </p:nvSpPr>
        <p:spPr bwMode="auto">
          <a:xfrm>
            <a:off x="4195234" y="4710113"/>
            <a:ext cx="385233" cy="0"/>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785" name="Line 1041"/>
          <p:cNvSpPr>
            <a:spLocks noChangeShapeType="1"/>
          </p:cNvSpPr>
          <p:nvPr/>
        </p:nvSpPr>
        <p:spPr bwMode="auto">
          <a:xfrm>
            <a:off x="4580467" y="4292600"/>
            <a:ext cx="0" cy="903288"/>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786" name="Line 1042"/>
          <p:cNvSpPr>
            <a:spLocks noChangeShapeType="1"/>
          </p:cNvSpPr>
          <p:nvPr/>
        </p:nvSpPr>
        <p:spPr bwMode="auto">
          <a:xfrm>
            <a:off x="4675717" y="3040063"/>
            <a:ext cx="0" cy="138112"/>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787" name="Line 1043"/>
          <p:cNvSpPr>
            <a:spLocks noChangeShapeType="1"/>
          </p:cNvSpPr>
          <p:nvPr/>
        </p:nvSpPr>
        <p:spPr bwMode="auto">
          <a:xfrm>
            <a:off x="4675717" y="3178175"/>
            <a:ext cx="480483"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6788" name="Text Box 1044"/>
          <p:cNvSpPr txBox="1">
            <a:spLocks noChangeArrowheads="1"/>
          </p:cNvSpPr>
          <p:nvPr/>
        </p:nvSpPr>
        <p:spPr bwMode="auto">
          <a:xfrm>
            <a:off x="4963584" y="2900364"/>
            <a:ext cx="4224867" cy="427037"/>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商品流通企业库存商品</a:t>
            </a:r>
            <a:endParaRPr kumimoji="1" lang="zh-CN" altLang="en-US" sz="2200">
              <a:solidFill>
                <a:srgbClr val="0000FF"/>
              </a:solidFill>
              <a:effectLst/>
              <a:latin typeface="Times New Roman" pitchFamily="18" charset="0"/>
              <a:ea typeface="宋体" pitchFamily="2" charset="-122"/>
            </a:endParaRPr>
          </a:p>
        </p:txBody>
      </p:sp>
      <p:sp>
        <p:nvSpPr>
          <p:cNvPr id="416789" name="Line 1045"/>
          <p:cNvSpPr>
            <a:spLocks noChangeShapeType="1"/>
          </p:cNvSpPr>
          <p:nvPr/>
        </p:nvSpPr>
        <p:spPr bwMode="auto">
          <a:xfrm>
            <a:off x="9188451" y="3109913"/>
            <a:ext cx="480483"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6790" name="Text Box 1046"/>
          <p:cNvSpPr txBox="1">
            <a:spLocks noChangeArrowheads="1"/>
          </p:cNvSpPr>
          <p:nvPr/>
        </p:nvSpPr>
        <p:spPr bwMode="auto">
          <a:xfrm>
            <a:off x="9668934" y="2900364"/>
            <a:ext cx="1056217" cy="427037"/>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商品</a:t>
            </a:r>
            <a:endParaRPr kumimoji="1" lang="zh-CN" altLang="en-US" sz="2200">
              <a:solidFill>
                <a:srgbClr val="0000FF"/>
              </a:solidFill>
              <a:effectLst/>
              <a:latin typeface="Times New Roman" pitchFamily="18" charset="0"/>
              <a:ea typeface="宋体" pitchFamily="2" charset="-122"/>
            </a:endParaRPr>
          </a:p>
        </p:txBody>
      </p:sp>
      <p:sp>
        <p:nvSpPr>
          <p:cNvPr id="416791" name="Line 1047"/>
          <p:cNvSpPr>
            <a:spLocks noChangeShapeType="1"/>
          </p:cNvSpPr>
          <p:nvPr/>
        </p:nvSpPr>
        <p:spPr bwMode="auto">
          <a:xfrm>
            <a:off x="4580467" y="4292600"/>
            <a:ext cx="287867"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6792" name="Text Box 1048"/>
          <p:cNvSpPr txBox="1">
            <a:spLocks noChangeArrowheads="1"/>
          </p:cNvSpPr>
          <p:nvPr/>
        </p:nvSpPr>
        <p:spPr bwMode="auto">
          <a:xfrm>
            <a:off x="4773084" y="4083050"/>
            <a:ext cx="1439333" cy="427038"/>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产成品</a:t>
            </a:r>
            <a:endParaRPr kumimoji="1" lang="zh-CN" altLang="en-US" sz="2200">
              <a:solidFill>
                <a:srgbClr val="0000FF"/>
              </a:solidFill>
              <a:effectLst/>
              <a:latin typeface="Times New Roman" pitchFamily="18" charset="0"/>
              <a:ea typeface="宋体" pitchFamily="2" charset="-122"/>
            </a:endParaRPr>
          </a:p>
        </p:txBody>
      </p:sp>
      <p:sp>
        <p:nvSpPr>
          <p:cNvPr id="416793" name="Line 1049"/>
          <p:cNvSpPr>
            <a:spLocks noChangeShapeType="1"/>
          </p:cNvSpPr>
          <p:nvPr/>
        </p:nvSpPr>
        <p:spPr bwMode="auto">
          <a:xfrm>
            <a:off x="6212417" y="4292600"/>
            <a:ext cx="192616" cy="0"/>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794" name="Line 1050"/>
          <p:cNvSpPr>
            <a:spLocks noChangeShapeType="1"/>
          </p:cNvSpPr>
          <p:nvPr/>
        </p:nvSpPr>
        <p:spPr bwMode="auto">
          <a:xfrm>
            <a:off x="6405033" y="3944939"/>
            <a:ext cx="0" cy="695325"/>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795" name="Text Box 1051"/>
          <p:cNvSpPr txBox="1">
            <a:spLocks noChangeArrowheads="1"/>
          </p:cNvSpPr>
          <p:nvPr/>
        </p:nvSpPr>
        <p:spPr bwMode="auto">
          <a:xfrm>
            <a:off x="6500285" y="3735389"/>
            <a:ext cx="2976033" cy="427037"/>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按实际成本核算</a:t>
            </a:r>
            <a:endParaRPr kumimoji="1" lang="zh-CN" altLang="en-US" sz="2200">
              <a:solidFill>
                <a:srgbClr val="0000FF"/>
              </a:solidFill>
              <a:effectLst/>
              <a:latin typeface="Times New Roman" pitchFamily="18" charset="0"/>
              <a:ea typeface="宋体" pitchFamily="2" charset="-122"/>
            </a:endParaRPr>
          </a:p>
        </p:txBody>
      </p:sp>
      <p:sp>
        <p:nvSpPr>
          <p:cNvPr id="416796" name="Line 1052"/>
          <p:cNvSpPr>
            <a:spLocks noChangeShapeType="1"/>
          </p:cNvSpPr>
          <p:nvPr/>
        </p:nvSpPr>
        <p:spPr bwMode="auto">
          <a:xfrm>
            <a:off x="9476317" y="3944938"/>
            <a:ext cx="192616"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6797" name="Text Box 1053"/>
          <p:cNvSpPr txBox="1">
            <a:spLocks noChangeArrowheads="1"/>
          </p:cNvSpPr>
          <p:nvPr/>
        </p:nvSpPr>
        <p:spPr bwMode="auto">
          <a:xfrm>
            <a:off x="9668934" y="3735389"/>
            <a:ext cx="1919817" cy="427037"/>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同原材料</a:t>
            </a:r>
            <a:endParaRPr kumimoji="1" lang="zh-CN" altLang="en-US" sz="2200">
              <a:solidFill>
                <a:srgbClr val="0000FF"/>
              </a:solidFill>
              <a:effectLst/>
              <a:latin typeface="Times New Roman" pitchFamily="18" charset="0"/>
              <a:ea typeface="宋体" pitchFamily="2" charset="-122"/>
            </a:endParaRPr>
          </a:p>
        </p:txBody>
      </p:sp>
      <p:sp>
        <p:nvSpPr>
          <p:cNvPr id="416798" name="Line 1054"/>
          <p:cNvSpPr>
            <a:spLocks noChangeShapeType="1"/>
          </p:cNvSpPr>
          <p:nvPr/>
        </p:nvSpPr>
        <p:spPr bwMode="auto">
          <a:xfrm>
            <a:off x="6405034" y="4640263"/>
            <a:ext cx="190500"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6799" name="Text Box 1055"/>
          <p:cNvSpPr txBox="1">
            <a:spLocks noChangeArrowheads="1"/>
          </p:cNvSpPr>
          <p:nvPr/>
        </p:nvSpPr>
        <p:spPr bwMode="auto">
          <a:xfrm>
            <a:off x="6500285" y="4430714"/>
            <a:ext cx="2976033" cy="427037"/>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按计划成本核算</a:t>
            </a:r>
            <a:endParaRPr kumimoji="1" lang="zh-CN" altLang="en-US" sz="2200">
              <a:solidFill>
                <a:srgbClr val="0000FF"/>
              </a:solidFill>
              <a:effectLst/>
              <a:latin typeface="Times New Roman" pitchFamily="18" charset="0"/>
              <a:ea typeface="宋体" pitchFamily="2" charset="-122"/>
            </a:endParaRPr>
          </a:p>
        </p:txBody>
      </p:sp>
      <p:sp>
        <p:nvSpPr>
          <p:cNvPr id="416800" name="Text Box 1056"/>
          <p:cNvSpPr txBox="1">
            <a:spLocks noChangeArrowheads="1"/>
          </p:cNvSpPr>
          <p:nvPr/>
        </p:nvSpPr>
        <p:spPr bwMode="auto">
          <a:xfrm>
            <a:off x="9668934" y="4430714"/>
            <a:ext cx="1919817" cy="427037"/>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同原材料</a:t>
            </a:r>
          </a:p>
        </p:txBody>
      </p:sp>
      <p:sp>
        <p:nvSpPr>
          <p:cNvPr id="416801" name="Line 1057"/>
          <p:cNvSpPr>
            <a:spLocks noChangeShapeType="1"/>
          </p:cNvSpPr>
          <p:nvPr/>
        </p:nvSpPr>
        <p:spPr bwMode="auto">
          <a:xfrm>
            <a:off x="4580467" y="5127626"/>
            <a:ext cx="0" cy="277813"/>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802" name="Line 1058"/>
          <p:cNvSpPr>
            <a:spLocks noChangeShapeType="1"/>
          </p:cNvSpPr>
          <p:nvPr/>
        </p:nvSpPr>
        <p:spPr bwMode="auto">
          <a:xfrm>
            <a:off x="4580467" y="5405438"/>
            <a:ext cx="287867"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6803" name="Text Box 1059"/>
          <p:cNvSpPr txBox="1">
            <a:spLocks noChangeArrowheads="1"/>
          </p:cNvSpPr>
          <p:nvPr/>
        </p:nvSpPr>
        <p:spPr bwMode="auto">
          <a:xfrm>
            <a:off x="4773085" y="5195889"/>
            <a:ext cx="1054100" cy="427037"/>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商品</a:t>
            </a:r>
            <a:endParaRPr kumimoji="1" lang="zh-CN" altLang="en-US" sz="2200">
              <a:solidFill>
                <a:srgbClr val="0000FF"/>
              </a:solidFill>
              <a:effectLst/>
              <a:latin typeface="Times New Roman" pitchFamily="18" charset="0"/>
              <a:ea typeface="宋体" pitchFamily="2" charset="-122"/>
            </a:endParaRPr>
          </a:p>
        </p:txBody>
      </p:sp>
      <p:sp>
        <p:nvSpPr>
          <p:cNvPr id="416804" name="Line 1060"/>
          <p:cNvSpPr>
            <a:spLocks noChangeShapeType="1"/>
          </p:cNvSpPr>
          <p:nvPr/>
        </p:nvSpPr>
        <p:spPr bwMode="auto">
          <a:xfrm>
            <a:off x="5827184" y="5405438"/>
            <a:ext cx="192616" cy="0"/>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805" name="Line 1061"/>
          <p:cNvSpPr>
            <a:spLocks noChangeShapeType="1"/>
          </p:cNvSpPr>
          <p:nvPr/>
        </p:nvSpPr>
        <p:spPr bwMode="auto">
          <a:xfrm>
            <a:off x="6019800" y="5265738"/>
            <a:ext cx="0" cy="487362"/>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806" name="Line 1062"/>
          <p:cNvSpPr>
            <a:spLocks noChangeShapeType="1"/>
          </p:cNvSpPr>
          <p:nvPr/>
        </p:nvSpPr>
        <p:spPr bwMode="auto">
          <a:xfrm>
            <a:off x="6019800" y="5127626"/>
            <a:ext cx="0" cy="138113"/>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807" name="Line 1063"/>
          <p:cNvSpPr>
            <a:spLocks noChangeShapeType="1"/>
          </p:cNvSpPr>
          <p:nvPr/>
        </p:nvSpPr>
        <p:spPr bwMode="auto">
          <a:xfrm>
            <a:off x="6019800" y="5127625"/>
            <a:ext cx="863600"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6808" name="Text Box 1064"/>
          <p:cNvSpPr txBox="1">
            <a:spLocks noChangeArrowheads="1"/>
          </p:cNvSpPr>
          <p:nvPr/>
        </p:nvSpPr>
        <p:spPr bwMode="auto">
          <a:xfrm>
            <a:off x="6883399" y="4989514"/>
            <a:ext cx="3676748" cy="430887"/>
          </a:xfrm>
          <a:prstGeom prst="rect">
            <a:avLst/>
          </a:prstGeom>
          <a:solidFill>
            <a:srgbClr val="FFCCFF"/>
          </a:solidFill>
          <a:ln w="9525">
            <a:noFill/>
            <a:miter lim="800000"/>
            <a:headEnd/>
            <a:tailEnd/>
          </a:ln>
          <a:effectLst>
            <a:outerShdw dist="107763" dir="18900000" algn="ctr" rotWithShape="0">
              <a:srgbClr val="808080"/>
            </a:outerShdw>
          </a:effectLst>
        </p:spPr>
        <p:txBody>
          <a:bodyPr wrap="square">
            <a:spAutoFit/>
          </a:bodyPr>
          <a:lstStyle/>
          <a:p>
            <a:pPr algn="l" eaLnBrk="1" hangingPunct="1">
              <a:spcBef>
                <a:spcPct val="50000"/>
              </a:spcBef>
              <a:defRPr/>
            </a:pPr>
            <a:r>
              <a:rPr kumimoji="1" lang="zh-CN" altLang="en-US" sz="2200" b="1" dirty="0">
                <a:solidFill>
                  <a:srgbClr val="0000FF"/>
                </a:solidFill>
                <a:effectLst/>
                <a:latin typeface="Times New Roman" pitchFamily="18" charset="0"/>
                <a:ea typeface="宋体" pitchFamily="2" charset="-122"/>
              </a:rPr>
              <a:t>按成本</a:t>
            </a:r>
            <a:r>
              <a:rPr kumimoji="1" lang="en-US" altLang="zh-CN" sz="2200" b="1" dirty="0">
                <a:solidFill>
                  <a:srgbClr val="0000FF"/>
                </a:solidFill>
                <a:effectLst/>
                <a:latin typeface="Times New Roman" pitchFamily="18" charset="0"/>
                <a:ea typeface="宋体" pitchFamily="2" charset="-122"/>
              </a:rPr>
              <a:t>/</a:t>
            </a:r>
            <a:r>
              <a:rPr kumimoji="1" lang="zh-CN" altLang="en-US" sz="2200" b="1" dirty="0">
                <a:solidFill>
                  <a:srgbClr val="0000FF"/>
                </a:solidFill>
                <a:effectLst/>
                <a:latin typeface="Times New Roman" pitchFamily="18" charset="0"/>
                <a:ea typeface="宋体" pitchFamily="2" charset="-122"/>
              </a:rPr>
              <a:t>进价核算</a:t>
            </a:r>
          </a:p>
        </p:txBody>
      </p:sp>
      <p:sp>
        <p:nvSpPr>
          <p:cNvPr id="416809" name="Line 1065"/>
          <p:cNvSpPr>
            <a:spLocks noChangeShapeType="1"/>
          </p:cNvSpPr>
          <p:nvPr/>
        </p:nvSpPr>
        <p:spPr bwMode="auto">
          <a:xfrm>
            <a:off x="6019800" y="5753100"/>
            <a:ext cx="863600"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6810" name="Text Box 1066"/>
          <p:cNvSpPr txBox="1">
            <a:spLocks noChangeArrowheads="1"/>
          </p:cNvSpPr>
          <p:nvPr/>
        </p:nvSpPr>
        <p:spPr bwMode="auto">
          <a:xfrm>
            <a:off x="6883400" y="5545138"/>
            <a:ext cx="2209800" cy="430887"/>
          </a:xfrm>
          <a:prstGeom prst="rect">
            <a:avLst/>
          </a:prstGeom>
          <a:solidFill>
            <a:srgbClr val="FFC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按售价核算</a:t>
            </a:r>
          </a:p>
        </p:txBody>
      </p:sp>
      <p:grpSp>
        <p:nvGrpSpPr>
          <p:cNvPr id="77866" name="Group 1071"/>
          <p:cNvGrpSpPr>
            <a:grpSpLocks/>
          </p:cNvGrpSpPr>
          <p:nvPr/>
        </p:nvGrpSpPr>
        <p:grpSpPr bwMode="auto">
          <a:xfrm>
            <a:off x="2755900" y="2760663"/>
            <a:ext cx="0" cy="1949450"/>
            <a:chOff x="1302" y="1739"/>
            <a:chExt cx="0" cy="1228"/>
          </a:xfrm>
        </p:grpSpPr>
        <p:sp>
          <p:nvSpPr>
            <p:cNvPr id="416773" name="Line 1029"/>
            <p:cNvSpPr>
              <a:spLocks noChangeShapeType="1"/>
            </p:cNvSpPr>
            <p:nvPr/>
          </p:nvSpPr>
          <p:spPr bwMode="auto">
            <a:xfrm>
              <a:off x="1302" y="1739"/>
              <a:ext cx="0" cy="965"/>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6811" name="Line 1067"/>
            <p:cNvSpPr>
              <a:spLocks noChangeShapeType="1"/>
            </p:cNvSpPr>
            <p:nvPr/>
          </p:nvSpPr>
          <p:spPr bwMode="auto">
            <a:xfrm>
              <a:off x="1302" y="2572"/>
              <a:ext cx="0" cy="395"/>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grpSp>
      <p:sp>
        <p:nvSpPr>
          <p:cNvPr id="416812" name="Line 1068"/>
          <p:cNvSpPr>
            <a:spLocks noChangeShapeType="1"/>
          </p:cNvSpPr>
          <p:nvPr/>
        </p:nvSpPr>
        <p:spPr bwMode="auto">
          <a:xfrm>
            <a:off x="6405033" y="3944938"/>
            <a:ext cx="95251" cy="0"/>
          </a:xfrm>
          <a:prstGeom prst="line">
            <a:avLst/>
          </a:prstGeom>
          <a:noFill/>
          <a:ln w="9525">
            <a:solidFill>
              <a:schemeClr val="tx1"/>
            </a:solidFill>
            <a:round/>
            <a:headEnd/>
            <a:tailEnd/>
          </a:ln>
          <a:effectLst/>
        </p:spPr>
        <p:txBody>
          <a:bodyPr/>
          <a:lstStyle/>
          <a:p>
            <a:pPr>
              <a:defRPr/>
            </a:pPr>
            <a:endParaRPr lang="zh-CN" altLang="en-US">
              <a:ea typeface="宋体" pitchFamily="2" charset="-122"/>
            </a:endParaRPr>
          </a:p>
        </p:txBody>
      </p:sp>
      <p:sp>
        <p:nvSpPr>
          <p:cNvPr id="416813" name="Line 1069"/>
          <p:cNvSpPr>
            <a:spLocks noChangeShapeType="1"/>
          </p:cNvSpPr>
          <p:nvPr/>
        </p:nvSpPr>
        <p:spPr bwMode="auto">
          <a:xfrm>
            <a:off x="9476317" y="4640263"/>
            <a:ext cx="192616"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Tree>
    <p:extLst>
      <p:ext uri="{BB962C8B-B14F-4D97-AF65-F5344CB8AC3E}">
        <p14:creationId xmlns:p14="http://schemas.microsoft.com/office/powerpoint/2010/main" val="8071694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1673769" y="485118"/>
            <a:ext cx="10363200" cy="1143000"/>
          </a:xfrm>
        </p:spPr>
        <p:txBody>
          <a:bodyPr/>
          <a:lstStyle/>
          <a:p>
            <a:pPr eaLnBrk="1" hangingPunct="1"/>
            <a:r>
              <a:rPr lang="zh-CN" altLang="en-US" dirty="0"/>
              <a:t>库存商品的核算方法</a:t>
            </a:r>
          </a:p>
        </p:txBody>
      </p:sp>
      <p:grpSp>
        <p:nvGrpSpPr>
          <p:cNvPr id="2" name="Group 31"/>
          <p:cNvGrpSpPr>
            <a:grpSpLocks/>
          </p:cNvGrpSpPr>
          <p:nvPr/>
        </p:nvGrpSpPr>
        <p:grpSpPr bwMode="auto">
          <a:xfrm>
            <a:off x="863481" y="2226469"/>
            <a:ext cx="10655420" cy="3563938"/>
            <a:chOff x="331" y="1296"/>
            <a:chExt cx="5429" cy="2346"/>
          </a:xfrm>
        </p:grpSpPr>
        <p:sp>
          <p:nvSpPr>
            <p:cNvPr id="417795" name="Line 3"/>
            <p:cNvSpPr>
              <a:spLocks noChangeShapeType="1"/>
            </p:cNvSpPr>
            <p:nvPr/>
          </p:nvSpPr>
          <p:spPr bwMode="auto">
            <a:xfrm>
              <a:off x="576" y="2256"/>
              <a:ext cx="336" cy="0"/>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7796" name="Line 4"/>
            <p:cNvSpPr>
              <a:spLocks noChangeShapeType="1"/>
            </p:cNvSpPr>
            <p:nvPr/>
          </p:nvSpPr>
          <p:spPr bwMode="auto">
            <a:xfrm>
              <a:off x="912" y="1728"/>
              <a:ext cx="0" cy="1392"/>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7797" name="Line 5"/>
            <p:cNvSpPr>
              <a:spLocks noChangeShapeType="1"/>
            </p:cNvSpPr>
            <p:nvPr/>
          </p:nvSpPr>
          <p:spPr bwMode="auto">
            <a:xfrm>
              <a:off x="912" y="1728"/>
              <a:ext cx="332"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7798" name="Line 6"/>
            <p:cNvSpPr>
              <a:spLocks noChangeShapeType="1"/>
            </p:cNvSpPr>
            <p:nvPr/>
          </p:nvSpPr>
          <p:spPr bwMode="auto">
            <a:xfrm>
              <a:off x="912" y="3120"/>
              <a:ext cx="288"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7799" name="Line 7"/>
            <p:cNvSpPr>
              <a:spLocks noChangeShapeType="1"/>
            </p:cNvSpPr>
            <p:nvPr/>
          </p:nvSpPr>
          <p:spPr bwMode="auto">
            <a:xfrm>
              <a:off x="1968" y="1728"/>
              <a:ext cx="238" cy="0"/>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7800" name="Line 8"/>
            <p:cNvSpPr>
              <a:spLocks noChangeShapeType="1"/>
            </p:cNvSpPr>
            <p:nvPr/>
          </p:nvSpPr>
          <p:spPr bwMode="auto">
            <a:xfrm>
              <a:off x="2208" y="1488"/>
              <a:ext cx="0" cy="528"/>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7801" name="Line 9"/>
            <p:cNvSpPr>
              <a:spLocks noChangeShapeType="1"/>
            </p:cNvSpPr>
            <p:nvPr/>
          </p:nvSpPr>
          <p:spPr bwMode="auto">
            <a:xfrm>
              <a:off x="2208" y="1488"/>
              <a:ext cx="192"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7802" name="Text Box 10"/>
            <p:cNvSpPr txBox="1">
              <a:spLocks noChangeArrowheads="1"/>
            </p:cNvSpPr>
            <p:nvPr/>
          </p:nvSpPr>
          <p:spPr bwMode="auto">
            <a:xfrm>
              <a:off x="2400" y="1296"/>
              <a:ext cx="2160" cy="281"/>
            </a:xfrm>
            <a:prstGeom prst="rect">
              <a:avLst/>
            </a:prstGeom>
            <a:solidFill>
              <a:srgbClr val="FFFFCC"/>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chemeClr val="accent1"/>
                  </a:solidFill>
                  <a:effectLst/>
                  <a:latin typeface="Times New Roman" pitchFamily="18" charset="0"/>
                  <a:ea typeface="宋体" pitchFamily="2" charset="-122"/>
                </a:rPr>
                <a:t>数量进价金额核算法</a:t>
              </a:r>
            </a:p>
          </p:txBody>
        </p:sp>
        <p:sp>
          <p:nvSpPr>
            <p:cNvPr id="417803" name="Line 11"/>
            <p:cNvSpPr>
              <a:spLocks noChangeShapeType="1"/>
            </p:cNvSpPr>
            <p:nvPr/>
          </p:nvSpPr>
          <p:spPr bwMode="auto">
            <a:xfrm>
              <a:off x="2016" y="3072"/>
              <a:ext cx="240" cy="0"/>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7804" name="Line 12"/>
            <p:cNvSpPr>
              <a:spLocks noChangeShapeType="1"/>
            </p:cNvSpPr>
            <p:nvPr/>
          </p:nvSpPr>
          <p:spPr bwMode="auto">
            <a:xfrm>
              <a:off x="2256" y="2784"/>
              <a:ext cx="0" cy="624"/>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7805" name="Line 13"/>
            <p:cNvSpPr>
              <a:spLocks noChangeShapeType="1"/>
            </p:cNvSpPr>
            <p:nvPr/>
          </p:nvSpPr>
          <p:spPr bwMode="auto">
            <a:xfrm>
              <a:off x="2208" y="2016"/>
              <a:ext cx="192"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7806" name="Line 14"/>
            <p:cNvSpPr>
              <a:spLocks noChangeShapeType="1"/>
            </p:cNvSpPr>
            <p:nvPr/>
          </p:nvSpPr>
          <p:spPr bwMode="auto">
            <a:xfrm>
              <a:off x="4560" y="1488"/>
              <a:ext cx="96"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7807" name="Line 15"/>
            <p:cNvSpPr>
              <a:spLocks noChangeShapeType="1"/>
            </p:cNvSpPr>
            <p:nvPr/>
          </p:nvSpPr>
          <p:spPr bwMode="auto">
            <a:xfrm>
              <a:off x="2256" y="2784"/>
              <a:ext cx="192"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7808" name="Text Box 16"/>
            <p:cNvSpPr txBox="1">
              <a:spLocks noChangeArrowheads="1"/>
            </p:cNvSpPr>
            <p:nvPr/>
          </p:nvSpPr>
          <p:spPr bwMode="auto">
            <a:xfrm>
              <a:off x="4656" y="1296"/>
              <a:ext cx="1104" cy="281"/>
            </a:xfrm>
            <a:prstGeom prst="rect">
              <a:avLst/>
            </a:prstGeom>
            <a:solidFill>
              <a:srgbClr val="FFFFCC"/>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chemeClr val="accent1"/>
                  </a:solidFill>
                  <a:effectLst/>
                  <a:latin typeface="Times New Roman" pitchFamily="18" charset="0"/>
                  <a:ea typeface="宋体" pitchFamily="2" charset="-122"/>
                </a:rPr>
                <a:t>商业批发</a:t>
              </a:r>
            </a:p>
          </p:txBody>
        </p:sp>
        <p:sp>
          <p:nvSpPr>
            <p:cNvPr id="417809" name="Line 17"/>
            <p:cNvSpPr>
              <a:spLocks noChangeShapeType="1"/>
            </p:cNvSpPr>
            <p:nvPr/>
          </p:nvSpPr>
          <p:spPr bwMode="auto">
            <a:xfrm>
              <a:off x="4512" y="2784"/>
              <a:ext cx="141"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7810" name="Line 18"/>
            <p:cNvSpPr>
              <a:spLocks noChangeShapeType="1"/>
            </p:cNvSpPr>
            <p:nvPr/>
          </p:nvSpPr>
          <p:spPr bwMode="auto">
            <a:xfrm>
              <a:off x="2256" y="3360"/>
              <a:ext cx="0" cy="192"/>
            </a:xfrm>
            <a:prstGeom prst="line">
              <a:avLst/>
            </a:prstGeom>
            <a:noFill/>
            <a:ln w="9525">
              <a:solidFill>
                <a:schemeClr val="tx1"/>
              </a:solidFill>
              <a:round/>
              <a:headEnd/>
              <a:tailEnd/>
            </a:ln>
            <a:effectLst/>
          </p:spPr>
          <p:txBody>
            <a:bodyPr wrap="none" anchor="ctr"/>
            <a:lstStyle/>
            <a:p>
              <a:pPr>
                <a:defRPr/>
              </a:pPr>
              <a:endParaRPr lang="zh-CN" altLang="en-US">
                <a:ea typeface="宋体" pitchFamily="2" charset="-122"/>
              </a:endParaRPr>
            </a:p>
          </p:txBody>
        </p:sp>
        <p:sp>
          <p:nvSpPr>
            <p:cNvPr id="417811" name="Line 19"/>
            <p:cNvSpPr>
              <a:spLocks noChangeShapeType="1"/>
            </p:cNvSpPr>
            <p:nvPr/>
          </p:nvSpPr>
          <p:spPr bwMode="auto">
            <a:xfrm>
              <a:off x="2256" y="3552"/>
              <a:ext cx="192"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7812" name="Line 20"/>
            <p:cNvSpPr>
              <a:spLocks noChangeShapeType="1"/>
            </p:cNvSpPr>
            <p:nvPr/>
          </p:nvSpPr>
          <p:spPr bwMode="auto">
            <a:xfrm>
              <a:off x="4080" y="1968"/>
              <a:ext cx="432"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7813" name="Text Box 21"/>
            <p:cNvSpPr txBox="1">
              <a:spLocks noChangeArrowheads="1"/>
            </p:cNvSpPr>
            <p:nvPr/>
          </p:nvSpPr>
          <p:spPr bwMode="auto">
            <a:xfrm>
              <a:off x="1248" y="1440"/>
              <a:ext cx="884" cy="389"/>
            </a:xfrm>
            <a:prstGeom prst="rect">
              <a:avLst/>
            </a:prstGeom>
            <a:solidFill>
              <a:srgbClr val="FFFFCC"/>
            </a:solidFill>
            <a:ln w="9525">
              <a:noFill/>
              <a:miter lim="800000"/>
              <a:headEnd/>
              <a:tailEnd/>
            </a:ln>
            <a:effectLst>
              <a:outerShdw dist="107763" dir="18900000" algn="ctr" rotWithShape="0">
                <a:srgbClr val="808080"/>
              </a:outerShdw>
            </a:effectLst>
          </p:spPr>
          <p:txBody>
            <a:bodyPr wrap="square">
              <a:spAutoFit/>
            </a:bodyPr>
            <a:lstStyle/>
            <a:p>
              <a:pPr algn="l" eaLnBrk="1" hangingPunct="1">
                <a:spcBef>
                  <a:spcPct val="50000"/>
                </a:spcBef>
                <a:defRPr/>
              </a:pPr>
              <a:r>
                <a:rPr kumimoji="1" lang="zh-CN" altLang="en-US" sz="1800" b="1" dirty="0">
                  <a:solidFill>
                    <a:schemeClr val="accent1"/>
                  </a:solidFill>
                  <a:effectLst/>
                  <a:latin typeface="Times New Roman" pitchFamily="18" charset="0"/>
                  <a:ea typeface="宋体" pitchFamily="2" charset="-122"/>
                </a:rPr>
                <a:t>按进价</a:t>
              </a:r>
            </a:p>
            <a:p>
              <a:pPr algn="l" eaLnBrk="1" hangingPunct="1">
                <a:lnSpc>
                  <a:spcPct val="30000"/>
                </a:lnSpc>
                <a:spcBef>
                  <a:spcPct val="50000"/>
                </a:spcBef>
                <a:defRPr/>
              </a:pPr>
              <a:r>
                <a:rPr kumimoji="1" lang="zh-CN" altLang="en-US" sz="1800" b="1" dirty="0">
                  <a:solidFill>
                    <a:schemeClr val="accent1"/>
                  </a:solidFill>
                  <a:effectLst/>
                  <a:latin typeface="Times New Roman" pitchFamily="18" charset="0"/>
                  <a:ea typeface="宋体" pitchFamily="2" charset="-122"/>
                </a:rPr>
                <a:t>  </a:t>
              </a:r>
              <a:r>
                <a:rPr kumimoji="1" lang="en-US" altLang="zh-CN" sz="1800" b="1" dirty="0">
                  <a:solidFill>
                    <a:schemeClr val="accent1"/>
                  </a:solidFill>
                  <a:effectLst/>
                  <a:latin typeface="Times New Roman" pitchFamily="18" charset="0"/>
                  <a:ea typeface="宋体" pitchFamily="2" charset="-122"/>
                </a:rPr>
                <a:t>/</a:t>
              </a:r>
              <a:r>
                <a:rPr kumimoji="1" lang="zh-CN" altLang="en-US" sz="1800" b="1" dirty="0">
                  <a:solidFill>
                    <a:schemeClr val="accent1"/>
                  </a:solidFill>
                  <a:effectLst/>
                  <a:latin typeface="Times New Roman" pitchFamily="18" charset="0"/>
                  <a:ea typeface="宋体" pitchFamily="2" charset="-122"/>
                </a:rPr>
                <a:t>成本核算</a:t>
              </a:r>
            </a:p>
          </p:txBody>
        </p:sp>
        <p:sp>
          <p:nvSpPr>
            <p:cNvPr id="417814" name="Text Box 22"/>
            <p:cNvSpPr txBox="1">
              <a:spLocks noChangeArrowheads="1"/>
            </p:cNvSpPr>
            <p:nvPr/>
          </p:nvSpPr>
          <p:spPr bwMode="auto">
            <a:xfrm>
              <a:off x="1200" y="2832"/>
              <a:ext cx="814" cy="480"/>
            </a:xfrm>
            <a:prstGeom prst="rect">
              <a:avLst/>
            </a:prstGeom>
            <a:solidFill>
              <a:srgbClr val="FFFFCC"/>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chemeClr val="accent1"/>
                  </a:solidFill>
                  <a:effectLst/>
                  <a:latin typeface="Times New Roman" pitchFamily="18" charset="0"/>
                  <a:ea typeface="宋体" pitchFamily="2" charset="-122"/>
                </a:rPr>
                <a:t>按售价</a:t>
              </a:r>
            </a:p>
            <a:p>
              <a:pPr algn="l" eaLnBrk="1" hangingPunct="1">
                <a:lnSpc>
                  <a:spcPct val="40000"/>
                </a:lnSpc>
                <a:spcBef>
                  <a:spcPct val="50000"/>
                </a:spcBef>
                <a:defRPr/>
              </a:pPr>
              <a:r>
                <a:rPr kumimoji="1" lang="zh-CN" altLang="en-US" sz="2200" b="1">
                  <a:solidFill>
                    <a:schemeClr val="accent1"/>
                  </a:solidFill>
                  <a:effectLst/>
                  <a:latin typeface="Times New Roman" pitchFamily="18" charset="0"/>
                  <a:ea typeface="宋体" pitchFamily="2" charset="-122"/>
                </a:rPr>
                <a:t>  核算</a:t>
              </a:r>
            </a:p>
          </p:txBody>
        </p:sp>
        <p:sp>
          <p:nvSpPr>
            <p:cNvPr id="417815" name="Text Box 23"/>
            <p:cNvSpPr txBox="1">
              <a:spLocks noChangeArrowheads="1"/>
            </p:cNvSpPr>
            <p:nvPr/>
          </p:nvSpPr>
          <p:spPr bwMode="auto">
            <a:xfrm>
              <a:off x="331" y="1872"/>
              <a:ext cx="301" cy="1008"/>
            </a:xfrm>
            <a:prstGeom prst="rect">
              <a:avLst/>
            </a:prstGeom>
            <a:solidFill>
              <a:srgbClr val="FFFFCC"/>
            </a:solidFill>
            <a:ln w="9525">
              <a:noFill/>
              <a:miter lim="800000"/>
              <a:headEnd/>
              <a:tailEnd/>
            </a:ln>
            <a:effectLst>
              <a:outerShdw dist="107763" dir="18900000" algn="ctr" rotWithShape="0">
                <a:srgbClr val="808080"/>
              </a:outerShdw>
            </a:effectLst>
          </p:spPr>
          <p:txBody>
            <a:bodyPr vert="eaVert">
              <a:spAutoFit/>
            </a:bodyPr>
            <a:lstStyle/>
            <a:p>
              <a:pPr algn="l" eaLnBrk="1" hangingPunct="1">
                <a:lnSpc>
                  <a:spcPct val="120000"/>
                </a:lnSpc>
                <a:spcBef>
                  <a:spcPct val="50000"/>
                </a:spcBef>
                <a:defRPr/>
              </a:pPr>
              <a:r>
                <a:rPr kumimoji="1" lang="zh-CN" altLang="en-US" sz="2200" b="1">
                  <a:solidFill>
                    <a:schemeClr val="accent1"/>
                  </a:solidFill>
                  <a:effectLst/>
                  <a:latin typeface="Times New Roman" pitchFamily="18" charset="0"/>
                  <a:ea typeface="宋体" pitchFamily="2" charset="-122"/>
                </a:rPr>
                <a:t>库存商品</a:t>
              </a:r>
            </a:p>
          </p:txBody>
        </p:sp>
        <p:sp>
          <p:nvSpPr>
            <p:cNvPr id="417816" name="Text Box 24"/>
            <p:cNvSpPr txBox="1">
              <a:spLocks noChangeArrowheads="1"/>
            </p:cNvSpPr>
            <p:nvPr/>
          </p:nvSpPr>
          <p:spPr bwMode="auto">
            <a:xfrm>
              <a:off x="2400" y="1824"/>
              <a:ext cx="1732" cy="281"/>
            </a:xfrm>
            <a:prstGeom prst="rect">
              <a:avLst/>
            </a:prstGeom>
            <a:solidFill>
              <a:srgbClr val="FFFFCC"/>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chemeClr val="accent1"/>
                  </a:solidFill>
                  <a:effectLst/>
                  <a:latin typeface="Times New Roman" pitchFamily="18" charset="0"/>
                  <a:ea typeface="宋体" pitchFamily="2" charset="-122"/>
                </a:rPr>
                <a:t>进价金额核算法</a:t>
              </a:r>
            </a:p>
          </p:txBody>
        </p:sp>
        <p:sp>
          <p:nvSpPr>
            <p:cNvPr id="417817" name="Text Box 25"/>
            <p:cNvSpPr txBox="1">
              <a:spLocks noChangeArrowheads="1"/>
            </p:cNvSpPr>
            <p:nvPr/>
          </p:nvSpPr>
          <p:spPr bwMode="auto">
            <a:xfrm>
              <a:off x="4512" y="1824"/>
              <a:ext cx="1103" cy="281"/>
            </a:xfrm>
            <a:prstGeom prst="rect">
              <a:avLst/>
            </a:prstGeom>
            <a:solidFill>
              <a:srgbClr val="FFFFCC"/>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chemeClr val="accent1"/>
                  </a:solidFill>
                  <a:effectLst/>
                  <a:latin typeface="Times New Roman" pitchFamily="18" charset="0"/>
                  <a:ea typeface="宋体" pitchFamily="2" charset="-122"/>
                </a:rPr>
                <a:t>鲜活商品</a:t>
              </a:r>
            </a:p>
          </p:txBody>
        </p:sp>
        <p:sp>
          <p:nvSpPr>
            <p:cNvPr id="417818" name="Text Box 26"/>
            <p:cNvSpPr txBox="1">
              <a:spLocks noChangeArrowheads="1"/>
            </p:cNvSpPr>
            <p:nvPr/>
          </p:nvSpPr>
          <p:spPr bwMode="auto">
            <a:xfrm>
              <a:off x="2352" y="2640"/>
              <a:ext cx="2160" cy="281"/>
            </a:xfrm>
            <a:prstGeom prst="rect">
              <a:avLst/>
            </a:prstGeom>
            <a:solidFill>
              <a:srgbClr val="FFFFCC"/>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chemeClr val="accent1"/>
                  </a:solidFill>
                  <a:effectLst/>
                  <a:latin typeface="Times New Roman" pitchFamily="18" charset="0"/>
                  <a:ea typeface="宋体" pitchFamily="2" charset="-122"/>
                </a:rPr>
                <a:t>数量售价金额核算法</a:t>
              </a:r>
            </a:p>
          </p:txBody>
        </p:sp>
        <p:sp>
          <p:nvSpPr>
            <p:cNvPr id="417819" name="Text Box 27"/>
            <p:cNvSpPr txBox="1">
              <a:spLocks noChangeArrowheads="1"/>
            </p:cNvSpPr>
            <p:nvPr/>
          </p:nvSpPr>
          <p:spPr bwMode="auto">
            <a:xfrm>
              <a:off x="4656" y="2640"/>
              <a:ext cx="1104" cy="281"/>
            </a:xfrm>
            <a:prstGeom prst="rect">
              <a:avLst/>
            </a:prstGeom>
            <a:solidFill>
              <a:srgbClr val="FFFFCC"/>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chemeClr val="accent1"/>
                  </a:solidFill>
                  <a:effectLst/>
                  <a:latin typeface="Times New Roman" pitchFamily="18" charset="0"/>
                  <a:ea typeface="宋体" pitchFamily="2" charset="-122"/>
                </a:rPr>
                <a:t>贵重商品</a:t>
              </a:r>
            </a:p>
          </p:txBody>
        </p:sp>
        <p:sp>
          <p:nvSpPr>
            <p:cNvPr id="417820" name="Text Box 28"/>
            <p:cNvSpPr txBox="1">
              <a:spLocks noChangeArrowheads="1"/>
            </p:cNvSpPr>
            <p:nvPr/>
          </p:nvSpPr>
          <p:spPr bwMode="auto">
            <a:xfrm>
              <a:off x="2352" y="3360"/>
              <a:ext cx="1728" cy="281"/>
            </a:xfrm>
            <a:prstGeom prst="rect">
              <a:avLst/>
            </a:prstGeom>
            <a:solidFill>
              <a:srgbClr val="FFFFCC"/>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chemeClr val="accent1"/>
                  </a:solidFill>
                  <a:effectLst/>
                  <a:latin typeface="Times New Roman" pitchFamily="18" charset="0"/>
                  <a:ea typeface="宋体" pitchFamily="2" charset="-122"/>
                </a:rPr>
                <a:t>售价金额核算法</a:t>
              </a:r>
            </a:p>
          </p:txBody>
        </p:sp>
        <p:sp>
          <p:nvSpPr>
            <p:cNvPr id="417821" name="Line 29"/>
            <p:cNvSpPr>
              <a:spLocks noChangeShapeType="1"/>
            </p:cNvSpPr>
            <p:nvPr/>
          </p:nvSpPr>
          <p:spPr bwMode="auto">
            <a:xfrm>
              <a:off x="4080" y="3504"/>
              <a:ext cx="432" cy="0"/>
            </a:xfrm>
            <a:prstGeom prst="line">
              <a:avLst/>
            </a:prstGeom>
            <a:noFill/>
            <a:ln w="9525">
              <a:solidFill>
                <a:schemeClr val="tx1"/>
              </a:solidFill>
              <a:round/>
              <a:headEnd/>
              <a:tailEnd type="triangle" w="med" len="med"/>
            </a:ln>
            <a:effectLst/>
          </p:spPr>
          <p:txBody>
            <a:bodyPr wrap="none" anchor="ctr"/>
            <a:lstStyle/>
            <a:p>
              <a:pPr>
                <a:defRPr/>
              </a:pPr>
              <a:endParaRPr lang="zh-CN" altLang="en-US">
                <a:ea typeface="宋体" pitchFamily="2" charset="-122"/>
              </a:endParaRPr>
            </a:p>
          </p:txBody>
        </p:sp>
        <p:sp>
          <p:nvSpPr>
            <p:cNvPr id="417822" name="Text Box 30"/>
            <p:cNvSpPr txBox="1">
              <a:spLocks noChangeArrowheads="1"/>
            </p:cNvSpPr>
            <p:nvPr/>
          </p:nvSpPr>
          <p:spPr bwMode="auto">
            <a:xfrm>
              <a:off x="4512" y="3360"/>
              <a:ext cx="1103" cy="282"/>
            </a:xfrm>
            <a:prstGeom prst="rect">
              <a:avLst/>
            </a:prstGeom>
            <a:solidFill>
              <a:srgbClr val="FFFFCC"/>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chemeClr val="accent1"/>
                  </a:solidFill>
                  <a:effectLst/>
                  <a:latin typeface="Times New Roman" pitchFamily="18" charset="0"/>
                  <a:ea typeface="宋体" pitchFamily="2" charset="-122"/>
                </a:rPr>
                <a:t>商业零售</a:t>
              </a:r>
            </a:p>
          </p:txBody>
        </p:sp>
      </p:grpSp>
      <p:sp>
        <p:nvSpPr>
          <p:cNvPr id="32" name="椭圆 31"/>
          <p:cNvSpPr/>
          <p:nvPr/>
        </p:nvSpPr>
        <p:spPr bwMode="auto">
          <a:xfrm>
            <a:off x="3867005" y="2096814"/>
            <a:ext cx="4898114" cy="785930"/>
          </a:xfrm>
          <a:prstGeom prst="ellipse">
            <a:avLst/>
          </a:prstGeom>
          <a:noFill/>
          <a:ln w="12700" cap="flat" cmpd="sng" algn="ctr">
            <a:solidFill>
              <a:srgbClr val="FF6600"/>
            </a:solidFill>
            <a:prstDash val="solid"/>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square">
            <a:spAutoFit/>
          </a:bodyPr>
          <a:lstStyle/>
          <a:p>
            <a:pPr>
              <a:defRPr/>
            </a:pPr>
            <a:endParaRPr lang="zh-CN" altLang="en-US">
              <a:ea typeface="宋体" pitchFamily="2" charset="-122"/>
            </a:endParaRPr>
          </a:p>
        </p:txBody>
      </p:sp>
      <p:sp>
        <p:nvSpPr>
          <p:cNvPr id="33" name="椭圆 32"/>
          <p:cNvSpPr/>
          <p:nvPr/>
        </p:nvSpPr>
        <p:spPr bwMode="auto">
          <a:xfrm>
            <a:off x="3530771" y="5253038"/>
            <a:ext cx="5234347" cy="785155"/>
          </a:xfrm>
          <a:prstGeom prst="ellipse">
            <a:avLst/>
          </a:prstGeom>
          <a:noFill/>
          <a:ln w="12700" cap="flat" cmpd="sng" algn="ctr">
            <a:solidFill>
              <a:srgbClr val="FF6600"/>
            </a:solidFill>
            <a:prstDash val="solid"/>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square">
            <a:spAutoFit/>
          </a:bodyPr>
          <a:lstStyle/>
          <a:p>
            <a:pPr>
              <a:defRPr/>
            </a:pPr>
            <a:endParaRPr lang="zh-CN" altLang="en-US">
              <a:ea typeface="宋体" pitchFamily="2" charset="-122"/>
            </a:endParaRPr>
          </a:p>
        </p:txBody>
      </p:sp>
    </p:spTree>
    <p:extLst>
      <p:ext uri="{BB962C8B-B14F-4D97-AF65-F5344CB8AC3E}">
        <p14:creationId xmlns:p14="http://schemas.microsoft.com/office/powerpoint/2010/main" val="147060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blinds(horizontal)">
                                      <p:cBhvr>
                                        <p:cTn id="12" dur="500"/>
                                        <p:tgtEl>
                                          <p:spTgt spid="3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linds(horizontal)">
                                      <p:cBhvr>
                                        <p:cTn id="1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1473200" y="829874"/>
            <a:ext cx="8618024" cy="769441"/>
          </a:xfrm>
          <a:prstGeom prst="rect">
            <a:avLst/>
          </a:prstGeom>
          <a:noFill/>
          <a:ln w="9525">
            <a:noFill/>
            <a:miter lim="800000"/>
            <a:headEnd/>
            <a:tailEnd/>
          </a:ln>
        </p:spPr>
        <p:txBody>
          <a:bodyPr wrap="square">
            <a:spAutoFit/>
          </a:bodyPr>
          <a:lstStyle/>
          <a:p>
            <a:pPr algn="l" eaLnBrk="1" hangingPunct="1"/>
            <a:r>
              <a:rPr lang="zh-CN" altLang="en-US" sz="4400" b="1" dirty="0">
                <a:solidFill>
                  <a:schemeClr val="tx2"/>
                </a:solidFill>
                <a:latin typeface="+mj-lt"/>
                <a:ea typeface="+mj-ea"/>
                <a:cs typeface="+mj-cs"/>
              </a:rPr>
              <a:t>二、成本</a:t>
            </a:r>
            <a:r>
              <a:rPr lang="en-US" altLang="zh-CN" sz="4400" b="1" dirty="0">
                <a:solidFill>
                  <a:schemeClr val="tx2"/>
                </a:solidFill>
                <a:latin typeface="+mj-lt"/>
                <a:ea typeface="+mj-ea"/>
                <a:cs typeface="+mj-cs"/>
              </a:rPr>
              <a:t>/</a:t>
            </a:r>
            <a:r>
              <a:rPr lang="zh-CN" altLang="en-US" sz="4400" b="1" dirty="0">
                <a:solidFill>
                  <a:schemeClr val="tx2"/>
                </a:solidFill>
                <a:latin typeface="+mj-lt"/>
                <a:ea typeface="+mj-ea"/>
                <a:cs typeface="+mj-cs"/>
              </a:rPr>
              <a:t>数量进价金额核算法</a:t>
            </a:r>
          </a:p>
        </p:txBody>
      </p:sp>
      <p:grpSp>
        <p:nvGrpSpPr>
          <p:cNvPr id="6" name="组合 5"/>
          <p:cNvGrpSpPr/>
          <p:nvPr/>
        </p:nvGrpSpPr>
        <p:grpSpPr>
          <a:xfrm>
            <a:off x="846668" y="2453024"/>
            <a:ext cx="10460566" cy="4189412"/>
            <a:chOff x="846668" y="2078039"/>
            <a:chExt cx="10460566" cy="4189412"/>
          </a:xfrm>
        </p:grpSpPr>
        <p:sp>
          <p:nvSpPr>
            <p:cNvPr id="418819" name="Text Box 3"/>
            <p:cNvSpPr txBox="1">
              <a:spLocks noChangeArrowheads="1"/>
            </p:cNvSpPr>
            <p:nvPr/>
          </p:nvSpPr>
          <p:spPr bwMode="auto">
            <a:xfrm>
              <a:off x="846668" y="3611563"/>
              <a:ext cx="776817" cy="430887"/>
            </a:xfrm>
            <a:prstGeom prst="rect">
              <a:avLst/>
            </a:prstGeom>
            <a:solidFill>
              <a:srgbClr val="CCE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dirty="0">
                  <a:solidFill>
                    <a:srgbClr val="0000FF"/>
                  </a:solidFill>
                  <a:effectLst/>
                  <a:latin typeface="Times New Roman" pitchFamily="18" charset="0"/>
                  <a:ea typeface="宋体" pitchFamily="2" charset="-122"/>
                </a:rPr>
                <a:t>概述</a:t>
              </a:r>
              <a:endParaRPr kumimoji="1" lang="zh-CN" altLang="en-US" sz="2200" dirty="0">
                <a:solidFill>
                  <a:srgbClr val="0000FF"/>
                </a:solidFill>
                <a:effectLst/>
                <a:latin typeface="Times New Roman" pitchFamily="18" charset="0"/>
                <a:ea typeface="宋体" pitchFamily="2" charset="-122"/>
              </a:endParaRPr>
            </a:p>
          </p:txBody>
        </p:sp>
        <p:grpSp>
          <p:nvGrpSpPr>
            <p:cNvPr id="2" name="Group 16"/>
            <p:cNvGrpSpPr>
              <a:grpSpLocks/>
            </p:cNvGrpSpPr>
            <p:nvPr/>
          </p:nvGrpSpPr>
          <p:grpSpPr bwMode="auto">
            <a:xfrm>
              <a:off x="1799167" y="2146301"/>
              <a:ext cx="2425700" cy="3478213"/>
              <a:chOff x="858" y="1421"/>
              <a:chExt cx="1146" cy="2191"/>
            </a:xfrm>
          </p:grpSpPr>
          <p:sp>
            <p:nvSpPr>
              <p:cNvPr id="418820" name="Text Box 4"/>
              <p:cNvSpPr txBox="1">
                <a:spLocks noChangeArrowheads="1"/>
              </p:cNvSpPr>
              <p:nvPr/>
            </p:nvSpPr>
            <p:spPr bwMode="auto">
              <a:xfrm>
                <a:off x="996" y="1421"/>
                <a:ext cx="1008" cy="269"/>
              </a:xfrm>
              <a:prstGeom prst="rect">
                <a:avLst/>
              </a:prstGeom>
              <a:solidFill>
                <a:srgbClr val="CCE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适用范围</a:t>
                </a:r>
              </a:p>
            </p:txBody>
          </p:sp>
          <p:sp>
            <p:nvSpPr>
              <p:cNvPr id="418821" name="Text Box 5"/>
              <p:cNvSpPr txBox="1">
                <a:spLocks noChangeArrowheads="1"/>
              </p:cNvSpPr>
              <p:nvPr/>
            </p:nvSpPr>
            <p:spPr bwMode="auto">
              <a:xfrm>
                <a:off x="996" y="2190"/>
                <a:ext cx="1008" cy="269"/>
              </a:xfrm>
              <a:prstGeom prst="rect">
                <a:avLst/>
              </a:prstGeom>
              <a:solidFill>
                <a:srgbClr val="CCE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dirty="0">
                    <a:solidFill>
                      <a:srgbClr val="0000FF"/>
                    </a:solidFill>
                    <a:effectLst/>
                    <a:latin typeface="Times New Roman" pitchFamily="18" charset="0"/>
                    <a:ea typeface="宋体" pitchFamily="2" charset="-122"/>
                  </a:rPr>
                  <a:t>业务特点</a:t>
                </a:r>
              </a:p>
            </p:txBody>
          </p:sp>
          <p:sp>
            <p:nvSpPr>
              <p:cNvPr id="418822" name="Text Box 6"/>
              <p:cNvSpPr txBox="1">
                <a:spLocks noChangeArrowheads="1"/>
              </p:cNvSpPr>
              <p:nvPr/>
            </p:nvSpPr>
            <p:spPr bwMode="auto">
              <a:xfrm>
                <a:off x="996" y="3343"/>
                <a:ext cx="1008" cy="269"/>
              </a:xfrm>
              <a:prstGeom prst="rect">
                <a:avLst/>
              </a:prstGeom>
              <a:solidFill>
                <a:srgbClr val="CCE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核算特点</a:t>
                </a:r>
              </a:p>
            </p:txBody>
          </p:sp>
          <p:sp>
            <p:nvSpPr>
              <p:cNvPr id="418823" name="AutoShape 7"/>
              <p:cNvSpPr>
                <a:spLocks/>
              </p:cNvSpPr>
              <p:nvPr/>
            </p:nvSpPr>
            <p:spPr bwMode="auto">
              <a:xfrm>
                <a:off x="858" y="1592"/>
                <a:ext cx="138" cy="1879"/>
              </a:xfrm>
              <a:prstGeom prst="leftBrace">
                <a:avLst>
                  <a:gd name="adj1" fmla="val 113466"/>
                  <a:gd name="adj2" fmla="val 50000"/>
                </a:avLst>
              </a:prstGeom>
              <a:noFill/>
              <a:ln w="38100">
                <a:solidFill>
                  <a:schemeClr val="tx2"/>
                </a:solidFill>
                <a:round/>
                <a:headEnd/>
                <a:tailEnd/>
              </a:ln>
              <a:effectLst/>
            </p:spPr>
            <p:txBody>
              <a:bodyPr wrap="none" anchor="ctr"/>
              <a:lstStyle/>
              <a:p>
                <a:pPr>
                  <a:defRPr/>
                </a:pPr>
                <a:endParaRPr lang="zh-CN" altLang="en-US">
                  <a:ea typeface="宋体" pitchFamily="2" charset="-122"/>
                </a:endParaRPr>
              </a:p>
            </p:txBody>
          </p:sp>
        </p:grpSp>
        <p:grpSp>
          <p:nvGrpSpPr>
            <p:cNvPr id="3" name="Group 17"/>
            <p:cNvGrpSpPr>
              <a:grpSpLocks/>
            </p:cNvGrpSpPr>
            <p:nvPr/>
          </p:nvGrpSpPr>
          <p:grpSpPr bwMode="auto">
            <a:xfrm>
              <a:off x="4241800" y="2078039"/>
              <a:ext cx="4364567" cy="427037"/>
              <a:chOff x="2004" y="1421"/>
              <a:chExt cx="2062" cy="269"/>
            </a:xfrm>
          </p:grpSpPr>
          <p:sp>
            <p:nvSpPr>
              <p:cNvPr id="418824" name="Line 8"/>
              <p:cNvSpPr>
                <a:spLocks noChangeShapeType="1"/>
              </p:cNvSpPr>
              <p:nvPr/>
            </p:nvSpPr>
            <p:spPr bwMode="auto">
              <a:xfrm>
                <a:off x="2004" y="1549"/>
                <a:ext cx="554" cy="0"/>
              </a:xfrm>
              <a:prstGeom prst="line">
                <a:avLst/>
              </a:prstGeom>
              <a:noFill/>
              <a:ln w="28575">
                <a:solidFill>
                  <a:schemeClr val="tx2"/>
                </a:solidFill>
                <a:round/>
                <a:headEnd/>
                <a:tailEnd type="triangle" w="med" len="med"/>
              </a:ln>
              <a:effectLst/>
            </p:spPr>
            <p:txBody>
              <a:bodyPr wrap="none" anchor="ctr"/>
              <a:lstStyle/>
              <a:p>
                <a:pPr>
                  <a:defRPr/>
                </a:pPr>
                <a:endParaRPr lang="zh-CN" altLang="en-US">
                  <a:ea typeface="宋体" pitchFamily="2" charset="-122"/>
                </a:endParaRPr>
              </a:p>
            </p:txBody>
          </p:sp>
          <p:sp>
            <p:nvSpPr>
              <p:cNvPr id="418825" name="Text Box 9"/>
              <p:cNvSpPr txBox="1">
                <a:spLocks noChangeArrowheads="1"/>
              </p:cNvSpPr>
              <p:nvPr/>
            </p:nvSpPr>
            <p:spPr bwMode="auto">
              <a:xfrm>
                <a:off x="2554" y="1421"/>
                <a:ext cx="1512" cy="269"/>
              </a:xfrm>
              <a:prstGeom prst="rect">
                <a:avLst/>
              </a:prstGeom>
              <a:solidFill>
                <a:srgbClr val="CCE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商业批发企业</a:t>
                </a:r>
              </a:p>
            </p:txBody>
          </p:sp>
        </p:grpSp>
        <p:grpSp>
          <p:nvGrpSpPr>
            <p:cNvPr id="4" name="Group 18"/>
            <p:cNvGrpSpPr>
              <a:grpSpLocks/>
            </p:cNvGrpSpPr>
            <p:nvPr/>
          </p:nvGrpSpPr>
          <p:grpSpPr bwMode="auto">
            <a:xfrm>
              <a:off x="4423833" y="2798763"/>
              <a:ext cx="6800851" cy="1636712"/>
              <a:chOff x="2090" y="1763"/>
              <a:chExt cx="3213" cy="1031"/>
            </a:xfrm>
          </p:grpSpPr>
          <p:sp>
            <p:nvSpPr>
              <p:cNvPr id="418826" name="Text Box 10"/>
              <p:cNvSpPr txBox="1">
                <a:spLocks noChangeArrowheads="1"/>
              </p:cNvSpPr>
              <p:nvPr/>
            </p:nvSpPr>
            <p:spPr bwMode="auto">
              <a:xfrm>
                <a:off x="2279" y="1763"/>
                <a:ext cx="3024" cy="1031"/>
              </a:xfrm>
              <a:prstGeom prst="rect">
                <a:avLst/>
              </a:prstGeom>
              <a:solidFill>
                <a:srgbClr val="CCE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buFontTx/>
                  <a:buChar char="•"/>
                  <a:defRPr/>
                </a:pPr>
                <a:r>
                  <a:rPr kumimoji="1" lang="zh-CN" altLang="en-US" sz="2200" b="1" dirty="0">
                    <a:solidFill>
                      <a:srgbClr val="0000FF"/>
                    </a:solidFill>
                    <a:effectLst/>
                    <a:latin typeface="Times New Roman" pitchFamily="18" charset="0"/>
                    <a:ea typeface="宋体" pitchFamily="2" charset="-122"/>
                  </a:rPr>
                  <a:t>商品购销量大，企业规模大</a:t>
                </a:r>
              </a:p>
              <a:p>
                <a:pPr algn="l" eaLnBrk="1" hangingPunct="1">
                  <a:lnSpc>
                    <a:spcPct val="70000"/>
                  </a:lnSpc>
                  <a:spcBef>
                    <a:spcPct val="50000"/>
                  </a:spcBef>
                  <a:buFontTx/>
                  <a:buChar char="•"/>
                  <a:defRPr/>
                </a:pPr>
                <a:r>
                  <a:rPr kumimoji="1" lang="zh-CN" altLang="en-US" sz="2200" b="1" dirty="0">
                    <a:solidFill>
                      <a:srgbClr val="0000FF"/>
                    </a:solidFill>
                    <a:effectLst/>
                    <a:latin typeface="Times New Roman" pitchFamily="18" charset="0"/>
                    <a:ea typeface="宋体" pitchFamily="2" charset="-122"/>
                  </a:rPr>
                  <a:t>库存商品量大，储存地点多处</a:t>
                </a:r>
              </a:p>
              <a:p>
                <a:pPr algn="l" eaLnBrk="1" hangingPunct="1">
                  <a:lnSpc>
                    <a:spcPct val="70000"/>
                  </a:lnSpc>
                  <a:spcBef>
                    <a:spcPct val="50000"/>
                  </a:spcBef>
                  <a:buFontTx/>
                  <a:buChar char="•"/>
                  <a:defRPr/>
                </a:pPr>
                <a:r>
                  <a:rPr kumimoji="1" lang="zh-CN" altLang="en-US" sz="2200" b="1" dirty="0">
                    <a:solidFill>
                      <a:srgbClr val="0000FF"/>
                    </a:solidFill>
                    <a:effectLst/>
                    <a:latin typeface="Times New Roman" pitchFamily="18" charset="0"/>
                    <a:ea typeface="宋体" pitchFamily="2" charset="-122"/>
                  </a:rPr>
                  <a:t>以生产和零售企业为交易对象</a:t>
                </a:r>
              </a:p>
              <a:p>
                <a:pPr algn="l" eaLnBrk="1" hangingPunct="1">
                  <a:lnSpc>
                    <a:spcPct val="70000"/>
                  </a:lnSpc>
                  <a:spcBef>
                    <a:spcPct val="50000"/>
                  </a:spcBef>
                  <a:buFontTx/>
                  <a:buChar char="•"/>
                  <a:defRPr/>
                </a:pPr>
                <a:r>
                  <a:rPr kumimoji="1" lang="zh-CN" altLang="en-US" sz="2200" b="1" dirty="0">
                    <a:solidFill>
                      <a:srgbClr val="0000FF"/>
                    </a:solidFill>
                    <a:effectLst/>
                    <a:latin typeface="Times New Roman" pitchFamily="18" charset="0"/>
                    <a:ea typeface="宋体" pitchFamily="2" charset="-122"/>
                  </a:rPr>
                  <a:t>异地交易比重大</a:t>
                </a:r>
              </a:p>
            </p:txBody>
          </p:sp>
          <p:sp>
            <p:nvSpPr>
              <p:cNvPr id="418827" name="AutoShape 11"/>
              <p:cNvSpPr>
                <a:spLocks/>
              </p:cNvSpPr>
              <p:nvPr/>
            </p:nvSpPr>
            <p:spPr bwMode="auto">
              <a:xfrm>
                <a:off x="2090" y="1867"/>
                <a:ext cx="137" cy="854"/>
              </a:xfrm>
              <a:prstGeom prst="leftBrace">
                <a:avLst>
                  <a:gd name="adj1" fmla="val 51946"/>
                  <a:gd name="adj2" fmla="val 50000"/>
                </a:avLst>
              </a:prstGeom>
              <a:noFill/>
              <a:ln w="38100">
                <a:solidFill>
                  <a:schemeClr val="tx2"/>
                </a:solidFill>
                <a:round/>
                <a:headEnd/>
                <a:tailEnd/>
              </a:ln>
              <a:effectLst/>
            </p:spPr>
            <p:txBody>
              <a:bodyPr wrap="none" anchor="ctr"/>
              <a:lstStyle/>
              <a:p>
                <a:pPr>
                  <a:defRPr/>
                </a:pPr>
                <a:endParaRPr lang="zh-CN" altLang="en-US">
                  <a:ea typeface="宋体" pitchFamily="2" charset="-122"/>
                </a:endParaRPr>
              </a:p>
            </p:txBody>
          </p:sp>
        </p:grpSp>
        <p:grpSp>
          <p:nvGrpSpPr>
            <p:cNvPr id="5" name="Group 19"/>
            <p:cNvGrpSpPr>
              <a:grpSpLocks/>
            </p:cNvGrpSpPr>
            <p:nvPr/>
          </p:nvGrpSpPr>
          <p:grpSpPr bwMode="auto">
            <a:xfrm>
              <a:off x="4394201" y="4765676"/>
              <a:ext cx="6913033" cy="1501775"/>
              <a:chOff x="2076" y="3002"/>
              <a:chExt cx="3266" cy="946"/>
            </a:xfrm>
          </p:grpSpPr>
          <p:sp>
            <p:nvSpPr>
              <p:cNvPr id="418828" name="Text Box 12"/>
              <p:cNvSpPr txBox="1">
                <a:spLocks noChangeArrowheads="1"/>
              </p:cNvSpPr>
              <p:nvPr/>
            </p:nvSpPr>
            <p:spPr bwMode="auto">
              <a:xfrm>
                <a:off x="2297" y="3002"/>
                <a:ext cx="3045" cy="946"/>
              </a:xfrm>
              <a:prstGeom prst="rect">
                <a:avLst/>
              </a:prstGeom>
              <a:solidFill>
                <a:srgbClr val="CCECFF"/>
              </a:solidFill>
              <a:ln w="9525">
                <a:noFill/>
                <a:miter lim="800000"/>
                <a:headEnd/>
                <a:tailEnd/>
              </a:ln>
              <a:effectLst>
                <a:outerShdw dist="107763" dir="18900000" algn="ctr" rotWithShape="0">
                  <a:srgbClr val="808080"/>
                </a:outerShdw>
              </a:effectLst>
            </p:spPr>
            <p:txBody>
              <a:bodyPr>
                <a:spAutoFit/>
              </a:bodyPr>
              <a:lstStyle/>
              <a:p>
                <a:pPr algn="l" eaLnBrk="1" hangingPunct="1">
                  <a:spcBef>
                    <a:spcPct val="50000"/>
                  </a:spcBef>
                  <a:buFontTx/>
                  <a:buChar char="•"/>
                  <a:defRPr/>
                </a:pPr>
                <a:r>
                  <a:rPr kumimoji="1" lang="en-US" altLang="zh-CN" sz="2200" b="1">
                    <a:solidFill>
                      <a:srgbClr val="0000FF"/>
                    </a:solidFill>
                    <a:effectLst/>
                    <a:latin typeface="Times New Roman" pitchFamily="18" charset="0"/>
                    <a:ea typeface="宋体" pitchFamily="2" charset="-122"/>
                  </a:rPr>
                  <a:t>“</a:t>
                </a:r>
                <a:r>
                  <a:rPr kumimoji="1" lang="zh-CN" altLang="en-US" sz="2200" b="1">
                    <a:solidFill>
                      <a:srgbClr val="0000FF"/>
                    </a:solidFill>
                    <a:effectLst/>
                    <a:latin typeface="Times New Roman" pitchFamily="18" charset="0"/>
                    <a:ea typeface="宋体" pitchFamily="2" charset="-122"/>
                  </a:rPr>
                  <a:t>库存商品”总账和明细账均     </a:t>
                </a:r>
              </a:p>
              <a:p>
                <a:pPr algn="l" eaLnBrk="1" hangingPunct="1">
                  <a:lnSpc>
                    <a:spcPct val="30000"/>
                  </a:lnSpc>
                  <a:spcBef>
                    <a:spcPct val="50000"/>
                  </a:spcBef>
                  <a:defRPr/>
                </a:pPr>
                <a:r>
                  <a:rPr kumimoji="1" lang="zh-CN" altLang="en-US" sz="2200" b="1">
                    <a:solidFill>
                      <a:srgbClr val="0000FF"/>
                    </a:solidFill>
                    <a:effectLst/>
                    <a:latin typeface="Times New Roman" pitchFamily="18" charset="0"/>
                    <a:ea typeface="宋体" pitchFamily="2" charset="-122"/>
                  </a:rPr>
                  <a:t>   以商品进价计价</a:t>
                </a:r>
              </a:p>
              <a:p>
                <a:pPr algn="l" eaLnBrk="1" hangingPunct="1">
                  <a:lnSpc>
                    <a:spcPct val="70000"/>
                  </a:lnSpc>
                  <a:spcBef>
                    <a:spcPct val="50000"/>
                  </a:spcBef>
                  <a:buFontTx/>
                  <a:buChar char="•"/>
                  <a:defRPr/>
                </a:pPr>
                <a:r>
                  <a:rPr kumimoji="1" lang="zh-CN" altLang="en-US" sz="2200" b="1">
                    <a:solidFill>
                      <a:srgbClr val="0000FF"/>
                    </a:solidFill>
                    <a:effectLst/>
                    <a:latin typeface="Times New Roman" pitchFamily="18" charset="0"/>
                    <a:ea typeface="宋体" pitchFamily="2" charset="-122"/>
                  </a:rPr>
                  <a:t>建立一套完整的商品账体系</a:t>
                </a:r>
              </a:p>
              <a:p>
                <a:pPr algn="l" eaLnBrk="1" hangingPunct="1">
                  <a:lnSpc>
                    <a:spcPct val="70000"/>
                  </a:lnSpc>
                  <a:spcBef>
                    <a:spcPct val="50000"/>
                  </a:spcBef>
                  <a:defRPr/>
                </a:pPr>
                <a:r>
                  <a:rPr kumimoji="1" lang="zh-CN" altLang="en-US" sz="2200" b="1">
                    <a:solidFill>
                      <a:srgbClr val="0000FF"/>
                    </a:solidFill>
                    <a:effectLst/>
                    <a:latin typeface="Times New Roman" pitchFamily="18" charset="0"/>
                    <a:ea typeface="宋体" pitchFamily="2" charset="-122"/>
                  </a:rPr>
                  <a:t>（总账、类目账、明细账）</a:t>
                </a:r>
              </a:p>
            </p:txBody>
          </p:sp>
          <p:sp>
            <p:nvSpPr>
              <p:cNvPr id="418829" name="AutoShape 13"/>
              <p:cNvSpPr>
                <a:spLocks/>
              </p:cNvSpPr>
              <p:nvPr/>
            </p:nvSpPr>
            <p:spPr bwMode="auto">
              <a:xfrm>
                <a:off x="2076" y="3058"/>
                <a:ext cx="183" cy="854"/>
              </a:xfrm>
              <a:prstGeom prst="leftBrace">
                <a:avLst>
                  <a:gd name="adj1" fmla="val 38889"/>
                  <a:gd name="adj2" fmla="val 50000"/>
                </a:avLst>
              </a:prstGeom>
              <a:noFill/>
              <a:ln w="38100">
                <a:solidFill>
                  <a:schemeClr val="tx2"/>
                </a:solidFill>
                <a:round/>
                <a:headEnd/>
                <a:tailEnd/>
              </a:ln>
              <a:effectLst/>
            </p:spPr>
            <p:txBody>
              <a:bodyPr wrap="none" anchor="ctr"/>
              <a:lstStyle/>
              <a:p>
                <a:pPr>
                  <a:defRPr/>
                </a:pPr>
                <a:endParaRPr lang="zh-CN" altLang="en-US">
                  <a:ea typeface="宋体" pitchFamily="2" charset="-122"/>
                </a:endParaRPr>
              </a:p>
            </p:txBody>
          </p:sp>
        </p:grpSp>
      </p:grpSp>
      <p:sp>
        <p:nvSpPr>
          <p:cNvPr id="418831" name="Rectangle 15"/>
          <p:cNvSpPr>
            <a:spLocks noChangeArrowheads="1"/>
          </p:cNvSpPr>
          <p:nvPr/>
        </p:nvSpPr>
        <p:spPr bwMode="auto">
          <a:xfrm>
            <a:off x="1160565" y="1938919"/>
            <a:ext cx="5290231" cy="461665"/>
          </a:xfrm>
          <a:prstGeom prst="rect">
            <a:avLst/>
          </a:prstGeom>
          <a:noFill/>
          <a:ln w="12700">
            <a:noFill/>
            <a:miter lim="800000"/>
            <a:headEnd type="none" w="sm" len="sm"/>
            <a:tailEnd type="none" w="sm" len="sm"/>
          </a:ln>
        </p:spPr>
        <p:txBody>
          <a:bodyPr wrap="none">
            <a:spAutoFit/>
          </a:bodyPr>
          <a:lstStyle/>
          <a:p>
            <a:pPr defTabSz="762000"/>
            <a:r>
              <a:rPr lang="zh-CN" altLang="en-US" sz="2400" b="1" dirty="0">
                <a:latin typeface="黑体" panose="02010609060101010101" pitchFamily="49" charset="-122"/>
                <a:ea typeface="黑体" panose="02010609060101010101" pitchFamily="49" charset="-122"/>
              </a:rPr>
              <a:t>（一）成本</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数量进价金额核算法概述</a:t>
            </a:r>
          </a:p>
        </p:txBody>
      </p:sp>
    </p:spTree>
    <p:extLst>
      <p:ext uri="{BB962C8B-B14F-4D97-AF65-F5344CB8AC3E}">
        <p14:creationId xmlns:p14="http://schemas.microsoft.com/office/powerpoint/2010/main" val="1553047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88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31" grpId="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0866" name="Rectangle 2"/>
          <p:cNvSpPr>
            <a:spLocks noGrp="1" noChangeArrowheads="1"/>
          </p:cNvSpPr>
          <p:nvPr>
            <p:ph type="body" idx="1"/>
          </p:nvPr>
        </p:nvSpPr>
        <p:spPr>
          <a:xfrm>
            <a:off x="867573" y="2615709"/>
            <a:ext cx="10388600" cy="4117975"/>
          </a:xfrm>
        </p:spPr>
        <p:txBody>
          <a:bodyPr/>
          <a:lstStyle/>
          <a:p>
            <a:pPr eaLnBrk="1" hangingPunct="1">
              <a:lnSpc>
                <a:spcPct val="130000"/>
              </a:lnSpc>
            </a:pPr>
            <a:r>
              <a:rPr lang="en-US" altLang="zh-CN" sz="2800" dirty="0">
                <a:latin typeface="楷体_GB2312" panose="02010609030101010101" pitchFamily="49" charset="-122"/>
                <a:ea typeface="楷体_GB2312" panose="02010609030101010101" pitchFamily="49" charset="-122"/>
              </a:rPr>
              <a:t>1</a:t>
            </a:r>
            <a:r>
              <a:rPr lang="zh-CN" altLang="en-US" sz="2800" dirty="0">
                <a:latin typeface="楷体_GB2312" panose="02010609030101010101" pitchFamily="49" charset="-122"/>
                <a:ea typeface="楷体_GB2312" panose="02010609030101010101" pitchFamily="49" charset="-122"/>
              </a:rPr>
              <a:t>、账户的设置 </a:t>
            </a:r>
          </a:p>
          <a:p>
            <a:pPr marL="0" indent="0" eaLnBrk="1" hangingPunct="1">
              <a:lnSpc>
                <a:spcPct val="130000"/>
              </a:lnSpc>
              <a:buNone/>
            </a:pPr>
            <a:r>
              <a:rPr lang="zh-CN" altLang="en-US" sz="2600" dirty="0">
                <a:latin typeface="黑体" pitchFamily="2" charset="-122"/>
              </a:rPr>
              <a:t>   </a:t>
            </a:r>
            <a:r>
              <a:rPr lang="zh-CN" altLang="en-US" sz="2600" dirty="0">
                <a:latin typeface="Times New Roman" pitchFamily="18" charset="0"/>
              </a:rPr>
              <a:t>“</a:t>
            </a:r>
            <a:r>
              <a:rPr lang="zh-CN" altLang="en-US" sz="2600" dirty="0">
                <a:latin typeface="黑体" pitchFamily="2" charset="-122"/>
              </a:rPr>
              <a:t>在途物资”账户</a:t>
            </a:r>
          </a:p>
          <a:p>
            <a:pPr marL="0" indent="0" eaLnBrk="1" hangingPunct="1">
              <a:lnSpc>
                <a:spcPct val="130000"/>
              </a:lnSpc>
              <a:buNone/>
            </a:pPr>
            <a:r>
              <a:rPr lang="zh-CN" altLang="en-US" sz="2600" dirty="0">
                <a:latin typeface="黑体" pitchFamily="2" charset="-122"/>
              </a:rPr>
              <a:t>   </a:t>
            </a:r>
            <a:r>
              <a:rPr lang="zh-CN" altLang="en-US" sz="2600" dirty="0">
                <a:latin typeface="Times New Roman" pitchFamily="18" charset="0"/>
              </a:rPr>
              <a:t>“</a:t>
            </a:r>
            <a:r>
              <a:rPr lang="zh-CN" altLang="en-US" sz="2600" dirty="0">
                <a:latin typeface="黑体" pitchFamily="2" charset="-122"/>
              </a:rPr>
              <a:t>库存商品</a:t>
            </a:r>
            <a:r>
              <a:rPr lang="zh-CN" altLang="en-US" sz="2600" dirty="0">
                <a:latin typeface="Times New Roman" pitchFamily="18" charset="0"/>
              </a:rPr>
              <a:t>”</a:t>
            </a:r>
            <a:r>
              <a:rPr lang="zh-CN" altLang="en-US" sz="2600" dirty="0">
                <a:latin typeface="黑体" pitchFamily="2" charset="-122"/>
              </a:rPr>
              <a:t> 账户（进价）</a:t>
            </a:r>
          </a:p>
          <a:p>
            <a:pPr eaLnBrk="1" hangingPunct="1">
              <a:lnSpc>
                <a:spcPct val="130000"/>
              </a:lnSpc>
            </a:pPr>
            <a:r>
              <a:rPr lang="en-US" altLang="zh-CN" sz="2800" dirty="0">
                <a:latin typeface="楷体_GB2312" panose="02010609030101010101" pitchFamily="49" charset="-122"/>
                <a:ea typeface="楷体_GB2312" panose="02010609030101010101" pitchFamily="49" charset="-122"/>
              </a:rPr>
              <a:t>2</a:t>
            </a:r>
            <a:r>
              <a:rPr lang="zh-CN" altLang="en-US" sz="2800" dirty="0">
                <a:latin typeface="楷体_GB2312" panose="02010609030101010101" pitchFamily="49" charset="-122"/>
                <a:ea typeface="楷体_GB2312" panose="02010609030101010101" pitchFamily="49" charset="-122"/>
              </a:rPr>
              <a:t>、账务处理</a:t>
            </a:r>
          </a:p>
          <a:p>
            <a:pPr marL="0" indent="0" eaLnBrk="1" hangingPunct="1">
              <a:lnSpc>
                <a:spcPct val="130000"/>
              </a:lnSpc>
              <a:buNone/>
            </a:pPr>
            <a:r>
              <a:rPr lang="zh-CN" altLang="en-US" sz="2600" dirty="0">
                <a:latin typeface="黑体" pitchFamily="2" charset="-122"/>
              </a:rPr>
              <a:t>    商品购入和销售的会计处理</a:t>
            </a:r>
          </a:p>
        </p:txBody>
      </p:sp>
      <p:sp>
        <p:nvSpPr>
          <p:cNvPr id="420867" name="Rectangle 3"/>
          <p:cNvSpPr>
            <a:spLocks noChangeArrowheads="1"/>
          </p:cNvSpPr>
          <p:nvPr/>
        </p:nvSpPr>
        <p:spPr bwMode="auto">
          <a:xfrm>
            <a:off x="792948" y="2111265"/>
            <a:ext cx="10159479" cy="685800"/>
          </a:xfrm>
          <a:prstGeom prst="rect">
            <a:avLst/>
          </a:prstGeom>
          <a:noFill/>
          <a:ln w="9525">
            <a:noFill/>
            <a:miter lim="800000"/>
            <a:headEnd/>
            <a:tailEnd/>
          </a:ln>
        </p:spPr>
        <p:txBody>
          <a:bodyPr/>
          <a:lstStyle/>
          <a:p>
            <a:pPr algn="just" eaLnBrk="1" hangingPunct="1"/>
            <a:r>
              <a:rPr lang="zh-CN" altLang="en-US" sz="2400" b="1" dirty="0">
                <a:latin typeface="黑体" panose="02010609060101010101" pitchFamily="49" charset="-122"/>
                <a:ea typeface="黑体" panose="02010609060101010101" pitchFamily="49" charset="-122"/>
              </a:rPr>
              <a:t>（二）成本</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数量进价金额核算法的账务处理</a:t>
            </a:r>
          </a:p>
        </p:txBody>
      </p:sp>
      <p:pic>
        <p:nvPicPr>
          <p:cNvPr id="80900" name="Picture 5" descr="MCj00791180000[1]"/>
          <p:cNvPicPr>
            <a:picLocks noChangeAspect="1" noChangeArrowheads="1"/>
          </p:cNvPicPr>
          <p:nvPr/>
        </p:nvPicPr>
        <p:blipFill>
          <a:blip r:embed="rId2" cstate="print"/>
          <a:srcRect/>
          <a:stretch>
            <a:fillRect/>
          </a:stretch>
        </p:blipFill>
        <p:spPr bwMode="auto">
          <a:xfrm>
            <a:off x="8153400" y="3408363"/>
            <a:ext cx="1534584" cy="1770062"/>
          </a:xfrm>
          <a:prstGeom prst="rect">
            <a:avLst/>
          </a:prstGeom>
          <a:noFill/>
          <a:ln w="9525">
            <a:noFill/>
            <a:miter lim="800000"/>
            <a:headEnd/>
            <a:tailEnd/>
          </a:ln>
        </p:spPr>
      </p:pic>
      <p:sp>
        <p:nvSpPr>
          <p:cNvPr id="80901" name="Text Box 6"/>
          <p:cNvSpPr txBox="1">
            <a:spLocks noChangeArrowheads="1"/>
          </p:cNvSpPr>
          <p:nvPr/>
        </p:nvSpPr>
        <p:spPr bwMode="auto">
          <a:xfrm>
            <a:off x="1599323" y="798343"/>
            <a:ext cx="8242887" cy="769441"/>
          </a:xfrm>
          <a:prstGeom prst="rect">
            <a:avLst/>
          </a:prstGeom>
          <a:noFill/>
          <a:ln w="9525">
            <a:noFill/>
            <a:miter lim="800000"/>
            <a:headEnd/>
            <a:tailEnd/>
          </a:ln>
        </p:spPr>
        <p:txBody>
          <a:bodyPr wrap="square">
            <a:spAutoFit/>
          </a:bodyPr>
          <a:lstStyle/>
          <a:p>
            <a:pPr algn="l" eaLnBrk="1" hangingPunct="1"/>
            <a:r>
              <a:rPr lang="zh-CN" altLang="en-US" sz="4400" b="1" dirty="0">
                <a:solidFill>
                  <a:schemeClr val="tx2"/>
                </a:solidFill>
                <a:latin typeface="+mj-lt"/>
                <a:ea typeface="+mj-ea"/>
                <a:cs typeface="+mj-cs"/>
              </a:rPr>
              <a:t>二、成本</a:t>
            </a:r>
            <a:r>
              <a:rPr lang="en-US" altLang="zh-CN" sz="4400" b="1" dirty="0">
                <a:solidFill>
                  <a:schemeClr val="tx2"/>
                </a:solidFill>
                <a:latin typeface="+mj-lt"/>
                <a:ea typeface="+mj-ea"/>
                <a:cs typeface="+mj-cs"/>
              </a:rPr>
              <a:t>/</a:t>
            </a:r>
            <a:r>
              <a:rPr lang="zh-CN" altLang="en-US" sz="4400" b="1" dirty="0">
                <a:solidFill>
                  <a:schemeClr val="tx2"/>
                </a:solidFill>
                <a:latin typeface="+mj-lt"/>
                <a:ea typeface="+mj-ea"/>
                <a:cs typeface="+mj-cs"/>
              </a:rPr>
              <a:t>数量进价金额核算法</a:t>
            </a:r>
          </a:p>
        </p:txBody>
      </p:sp>
    </p:spTree>
    <p:extLst>
      <p:ext uri="{BB962C8B-B14F-4D97-AF65-F5344CB8AC3E}">
        <p14:creationId xmlns:p14="http://schemas.microsoft.com/office/powerpoint/2010/main" val="194750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20867">
                                            <p:txEl>
                                              <p:pRg st="0" end="0"/>
                                            </p:txEl>
                                          </p:spTgt>
                                        </p:tgtEl>
                                        <p:attrNameLst>
                                          <p:attrName>style.visibility</p:attrName>
                                        </p:attrNameLst>
                                      </p:cBhvr>
                                      <p:to>
                                        <p:strVal val="visible"/>
                                      </p:to>
                                    </p:set>
                                    <p:anim calcmode="lin" valueType="num">
                                      <p:cBhvr additive="base">
                                        <p:cTn id="7" dur="500" fill="hold"/>
                                        <p:tgtEl>
                                          <p:spTgt spid="4208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208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37" fill="hold" grpId="0" nodeType="clickEffect">
                                  <p:stCondLst>
                                    <p:cond delay="0"/>
                                  </p:stCondLst>
                                  <p:childTnLst>
                                    <p:set>
                                      <p:cBhvr>
                                        <p:cTn id="12" dur="1" fill="hold">
                                          <p:stCondLst>
                                            <p:cond delay="0"/>
                                          </p:stCondLst>
                                        </p:cTn>
                                        <p:tgtEl>
                                          <p:spTgt spid="420866">
                                            <p:txEl>
                                              <p:pRg st="0" end="0"/>
                                            </p:txEl>
                                          </p:spTgt>
                                        </p:tgtEl>
                                        <p:attrNameLst>
                                          <p:attrName>style.visibility</p:attrName>
                                        </p:attrNameLst>
                                      </p:cBhvr>
                                      <p:to>
                                        <p:strVal val="visible"/>
                                      </p:to>
                                    </p:set>
                                    <p:animEffect transition="in" filter="barn(outVertical)">
                                      <p:cBhvr>
                                        <p:cTn id="13" dur="500"/>
                                        <p:tgtEl>
                                          <p:spTgt spid="420866">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420866">
                                            <p:txEl>
                                              <p:pRg st="1" end="1"/>
                                            </p:txEl>
                                          </p:spTgt>
                                        </p:tgtEl>
                                        <p:attrNameLst>
                                          <p:attrName>style.visibility</p:attrName>
                                        </p:attrNameLst>
                                      </p:cBhvr>
                                      <p:to>
                                        <p:strVal val="visible"/>
                                      </p:to>
                                    </p:set>
                                    <p:animEffect transition="in" filter="barn(outVertical)">
                                      <p:cBhvr>
                                        <p:cTn id="18" dur="500"/>
                                        <p:tgtEl>
                                          <p:spTgt spid="420866">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37" fill="hold" grpId="0" nodeType="clickEffect">
                                  <p:stCondLst>
                                    <p:cond delay="0"/>
                                  </p:stCondLst>
                                  <p:childTnLst>
                                    <p:set>
                                      <p:cBhvr>
                                        <p:cTn id="22" dur="1" fill="hold">
                                          <p:stCondLst>
                                            <p:cond delay="0"/>
                                          </p:stCondLst>
                                        </p:cTn>
                                        <p:tgtEl>
                                          <p:spTgt spid="420866">
                                            <p:txEl>
                                              <p:pRg st="2" end="2"/>
                                            </p:txEl>
                                          </p:spTgt>
                                        </p:tgtEl>
                                        <p:attrNameLst>
                                          <p:attrName>style.visibility</p:attrName>
                                        </p:attrNameLst>
                                      </p:cBhvr>
                                      <p:to>
                                        <p:strVal val="visible"/>
                                      </p:to>
                                    </p:set>
                                    <p:animEffect transition="in" filter="barn(outVertical)">
                                      <p:cBhvr>
                                        <p:cTn id="23" dur="500"/>
                                        <p:tgtEl>
                                          <p:spTgt spid="42086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grpId="0" nodeType="clickEffect">
                                  <p:stCondLst>
                                    <p:cond delay="0"/>
                                  </p:stCondLst>
                                  <p:childTnLst>
                                    <p:set>
                                      <p:cBhvr>
                                        <p:cTn id="27" dur="1" fill="hold">
                                          <p:stCondLst>
                                            <p:cond delay="0"/>
                                          </p:stCondLst>
                                        </p:cTn>
                                        <p:tgtEl>
                                          <p:spTgt spid="420866">
                                            <p:txEl>
                                              <p:pRg st="3" end="3"/>
                                            </p:txEl>
                                          </p:spTgt>
                                        </p:tgtEl>
                                        <p:attrNameLst>
                                          <p:attrName>style.visibility</p:attrName>
                                        </p:attrNameLst>
                                      </p:cBhvr>
                                      <p:to>
                                        <p:strVal val="visible"/>
                                      </p:to>
                                    </p:set>
                                    <p:animEffect transition="in" filter="barn(outVertical)">
                                      <p:cBhvr>
                                        <p:cTn id="28" dur="500"/>
                                        <p:tgtEl>
                                          <p:spTgt spid="420866">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37" fill="hold" grpId="0" nodeType="clickEffect">
                                  <p:stCondLst>
                                    <p:cond delay="0"/>
                                  </p:stCondLst>
                                  <p:childTnLst>
                                    <p:set>
                                      <p:cBhvr>
                                        <p:cTn id="32" dur="1" fill="hold">
                                          <p:stCondLst>
                                            <p:cond delay="0"/>
                                          </p:stCondLst>
                                        </p:cTn>
                                        <p:tgtEl>
                                          <p:spTgt spid="420866">
                                            <p:txEl>
                                              <p:pRg st="4" end="4"/>
                                            </p:txEl>
                                          </p:spTgt>
                                        </p:tgtEl>
                                        <p:attrNameLst>
                                          <p:attrName>style.visibility</p:attrName>
                                        </p:attrNameLst>
                                      </p:cBhvr>
                                      <p:to>
                                        <p:strVal val="visible"/>
                                      </p:to>
                                    </p:set>
                                    <p:animEffect transition="in" filter="barn(outVertical)">
                                      <p:cBhvr>
                                        <p:cTn id="33" dur="500"/>
                                        <p:tgtEl>
                                          <p:spTgt spid="42086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66" grpId="0" build="p" autoUpdateAnimBg="0"/>
      <p:bldP spid="420867"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1890" name="Rectangle 2"/>
          <p:cNvSpPr>
            <a:spLocks noGrp="1" noChangeArrowheads="1"/>
          </p:cNvSpPr>
          <p:nvPr>
            <p:ph type="body" idx="1"/>
          </p:nvPr>
        </p:nvSpPr>
        <p:spPr>
          <a:xfrm>
            <a:off x="1531036" y="2644837"/>
            <a:ext cx="10130367" cy="3032125"/>
          </a:xfrm>
        </p:spPr>
        <p:txBody>
          <a:bodyPr/>
          <a:lstStyle/>
          <a:p>
            <a:pPr eaLnBrk="1" hangingPunct="1">
              <a:lnSpc>
                <a:spcPct val="105000"/>
              </a:lnSpc>
            </a:pPr>
            <a:endParaRPr lang="en-US" altLang="zh-CN" dirty="0">
              <a:latin typeface="Times New Roman" pitchFamily="18" charset="0"/>
            </a:endParaRPr>
          </a:p>
          <a:p>
            <a:pPr marL="0" indent="0" eaLnBrk="1" hangingPunct="1">
              <a:lnSpc>
                <a:spcPct val="110000"/>
              </a:lnSpc>
              <a:buNone/>
            </a:pPr>
            <a:r>
              <a:rPr lang="en-US" altLang="zh-CN" sz="2400" dirty="0">
                <a:latin typeface="Times New Roman" pitchFamily="18" charset="0"/>
              </a:rPr>
              <a:t>                                                </a:t>
            </a:r>
            <a:r>
              <a:rPr lang="zh-CN" altLang="en-US" sz="2400" dirty="0"/>
              <a:t>借：在途物资（包括购买价款和采购费用）</a:t>
            </a:r>
          </a:p>
          <a:p>
            <a:pPr marL="0" indent="0" eaLnBrk="1" hangingPunct="1">
              <a:lnSpc>
                <a:spcPct val="110000"/>
              </a:lnSpc>
              <a:buNone/>
            </a:pPr>
            <a:r>
              <a:rPr lang="zh-CN" altLang="en-US" sz="2400" dirty="0"/>
              <a:t>                            应交税费</a:t>
            </a:r>
            <a:r>
              <a:rPr lang="en-US" altLang="zh-CN" sz="2400" dirty="0"/>
              <a:t>—</a:t>
            </a:r>
            <a:r>
              <a:rPr lang="zh-CN" altLang="en-US" sz="2400" dirty="0"/>
              <a:t>应交增值税（进项税额）</a:t>
            </a:r>
          </a:p>
          <a:p>
            <a:pPr marL="0" indent="0" eaLnBrk="1" hangingPunct="1">
              <a:lnSpc>
                <a:spcPct val="80000"/>
              </a:lnSpc>
              <a:buNone/>
            </a:pPr>
            <a:r>
              <a:rPr lang="zh-CN" altLang="en-US" sz="2400" dirty="0"/>
              <a:t>                            贷：应付账款、银行存款等</a:t>
            </a:r>
          </a:p>
          <a:p>
            <a:pPr marL="0" indent="0" eaLnBrk="1" hangingPunct="1">
              <a:lnSpc>
                <a:spcPct val="80000"/>
              </a:lnSpc>
              <a:buNone/>
            </a:pPr>
            <a:endParaRPr lang="zh-CN" altLang="en-US" sz="2400" dirty="0"/>
          </a:p>
          <a:p>
            <a:pPr marL="0" indent="0" eaLnBrk="1" hangingPunct="1">
              <a:lnSpc>
                <a:spcPct val="80000"/>
              </a:lnSpc>
              <a:buNone/>
            </a:pPr>
            <a:r>
              <a:rPr lang="zh-CN" altLang="en-US" sz="2400" dirty="0"/>
              <a:t>                        借：库存商品（进价）</a:t>
            </a:r>
          </a:p>
          <a:p>
            <a:pPr marL="0" indent="0" eaLnBrk="1" hangingPunct="1">
              <a:lnSpc>
                <a:spcPct val="80000"/>
              </a:lnSpc>
              <a:buNone/>
            </a:pPr>
            <a:r>
              <a:rPr lang="zh-CN" altLang="en-US" sz="2400" dirty="0"/>
              <a:t>                            贷：在途物资</a:t>
            </a:r>
          </a:p>
          <a:p>
            <a:pPr eaLnBrk="1" hangingPunct="1">
              <a:lnSpc>
                <a:spcPct val="80000"/>
              </a:lnSpc>
            </a:pPr>
            <a:endParaRPr lang="zh-CN" altLang="en-US" sz="2400" dirty="0"/>
          </a:p>
          <a:p>
            <a:pPr eaLnBrk="1" hangingPunct="1">
              <a:lnSpc>
                <a:spcPct val="80000"/>
              </a:lnSpc>
            </a:pPr>
            <a:r>
              <a:rPr lang="zh-CN" altLang="en-US" sz="2400" dirty="0"/>
              <a:t>注：商品流通企业购货发生的采购费用也可以先归集，然后在已销商品和期末商品存货间分配</a:t>
            </a:r>
          </a:p>
          <a:p>
            <a:pPr marL="0" indent="0" eaLnBrk="1" hangingPunct="1">
              <a:lnSpc>
                <a:spcPct val="80000"/>
              </a:lnSpc>
              <a:buNone/>
            </a:pPr>
            <a:r>
              <a:rPr lang="zh-CN" altLang="en-US" sz="2400" dirty="0"/>
              <a:t>                    </a:t>
            </a:r>
          </a:p>
        </p:txBody>
      </p:sp>
      <p:grpSp>
        <p:nvGrpSpPr>
          <p:cNvPr id="4" name="组合 3"/>
          <p:cNvGrpSpPr/>
          <p:nvPr/>
        </p:nvGrpSpPr>
        <p:grpSpPr>
          <a:xfrm>
            <a:off x="2153394" y="3133561"/>
            <a:ext cx="2895599" cy="2651125"/>
            <a:chOff x="1248834" y="1920875"/>
            <a:chExt cx="2895599" cy="2651125"/>
          </a:xfrm>
        </p:grpSpPr>
        <p:grpSp>
          <p:nvGrpSpPr>
            <p:cNvPr id="2" name="Group 11"/>
            <p:cNvGrpSpPr>
              <a:grpSpLocks/>
            </p:cNvGrpSpPr>
            <p:nvPr/>
          </p:nvGrpSpPr>
          <p:grpSpPr bwMode="auto">
            <a:xfrm>
              <a:off x="1248834" y="1920875"/>
              <a:ext cx="2861733" cy="1079500"/>
              <a:chOff x="709" y="1729"/>
              <a:chExt cx="1245" cy="1206"/>
            </a:xfrm>
          </p:grpSpPr>
          <p:sp>
            <p:nvSpPr>
              <p:cNvPr id="421900" name="Freeform 12"/>
              <p:cNvSpPr>
                <a:spLocks/>
              </p:cNvSpPr>
              <p:nvPr/>
            </p:nvSpPr>
            <p:spPr bwMode="blackWhite">
              <a:xfrm>
                <a:off x="709" y="1729"/>
                <a:ext cx="1245" cy="1206"/>
              </a:xfrm>
              <a:custGeom>
                <a:avLst/>
                <a:gdLst/>
                <a:ahLst/>
                <a:cxnLst>
                  <a:cxn ang="0">
                    <a:pos x="0" y="215"/>
                  </a:cxn>
                  <a:cxn ang="0">
                    <a:pos x="768" y="215"/>
                  </a:cxn>
                  <a:cxn ang="0">
                    <a:pos x="768" y="0"/>
                  </a:cxn>
                  <a:cxn ang="0">
                    <a:pos x="1079" y="543"/>
                  </a:cxn>
                  <a:cxn ang="0">
                    <a:pos x="768" y="1078"/>
                  </a:cxn>
                  <a:cxn ang="0">
                    <a:pos x="768" y="862"/>
                  </a:cxn>
                  <a:cxn ang="0">
                    <a:pos x="0" y="862"/>
                  </a:cxn>
                  <a:cxn ang="0">
                    <a:pos x="0" y="543"/>
                  </a:cxn>
                  <a:cxn ang="0">
                    <a:pos x="0" y="215"/>
                  </a:cxn>
                </a:cxnLst>
                <a:rect l="0" t="0" r="r" b="b"/>
                <a:pathLst>
                  <a:path w="1080" h="1079">
                    <a:moveTo>
                      <a:pt x="0" y="215"/>
                    </a:moveTo>
                    <a:lnTo>
                      <a:pt x="768" y="215"/>
                    </a:lnTo>
                    <a:lnTo>
                      <a:pt x="768" y="0"/>
                    </a:lnTo>
                    <a:lnTo>
                      <a:pt x="1079" y="543"/>
                    </a:lnTo>
                    <a:lnTo>
                      <a:pt x="768" y="1078"/>
                    </a:lnTo>
                    <a:lnTo>
                      <a:pt x="768" y="862"/>
                    </a:lnTo>
                    <a:lnTo>
                      <a:pt x="0" y="862"/>
                    </a:lnTo>
                    <a:lnTo>
                      <a:pt x="0" y="543"/>
                    </a:lnTo>
                    <a:lnTo>
                      <a:pt x="0" y="215"/>
                    </a:lnTo>
                  </a:path>
                </a:pathLst>
              </a:custGeom>
              <a:gradFill rotWithShape="1">
                <a:gsLst>
                  <a:gs pos="0">
                    <a:schemeClr val="accent1"/>
                  </a:gs>
                  <a:gs pos="100000">
                    <a:schemeClr val="tx2"/>
                  </a:gs>
                </a:gsLst>
                <a:lin ang="2700000" scaled="1"/>
              </a:gradFill>
              <a:ln w="12700" cap="rnd" cmpd="sng">
                <a:prstDash val="solid"/>
                <a:round/>
                <a:headEnd type="none" w="med" len="med"/>
                <a:tailEnd type="none" w="med" len="med"/>
              </a:ln>
              <a:effectLst/>
              <a:scene3d>
                <a:camera prst="legacyObliqueTopLeft"/>
                <a:lightRig rig="legacyFlat2" dir="t"/>
              </a:scene3d>
              <a:sp3d extrusionH="303200" prstMaterial="legacyMatte">
                <a:bevelT w="13500" h="13500" prst="angle"/>
                <a:bevelB w="13500" h="13500" prst="angle"/>
                <a:extrusionClr>
                  <a:schemeClr val="accent1"/>
                </a:extrusionClr>
              </a:sp3d>
            </p:spPr>
            <p:txBody>
              <a:bodyPr>
                <a:flatTx/>
              </a:bodyPr>
              <a:lstStyle/>
              <a:p>
                <a:pPr>
                  <a:defRPr/>
                </a:pPr>
                <a:endParaRPr lang="zh-CN" altLang="en-US">
                  <a:ea typeface="宋体" pitchFamily="2" charset="-122"/>
                </a:endParaRPr>
              </a:p>
            </p:txBody>
          </p:sp>
          <p:sp>
            <p:nvSpPr>
              <p:cNvPr id="81930" name="Rectangle 13"/>
              <p:cNvSpPr>
                <a:spLocks noChangeArrowheads="1"/>
              </p:cNvSpPr>
              <p:nvPr/>
            </p:nvSpPr>
            <p:spPr bwMode="auto">
              <a:xfrm>
                <a:off x="777" y="2121"/>
                <a:ext cx="954" cy="413"/>
              </a:xfrm>
              <a:prstGeom prst="rect">
                <a:avLst/>
              </a:prstGeom>
              <a:noFill/>
              <a:ln w="9525">
                <a:noFill/>
                <a:miter lim="800000"/>
                <a:headEnd/>
                <a:tailEnd/>
              </a:ln>
            </p:spPr>
            <p:txBody>
              <a:bodyPr lIns="0" tIns="0" rIns="0" bIns="0" anchor="ctr" anchorCtr="1">
                <a:spAutoFit/>
              </a:bodyPr>
              <a:lstStyle/>
              <a:p>
                <a:pPr defTabSz="787400" eaLnBrk="1" hangingPunct="1"/>
                <a:r>
                  <a:rPr lang="zh-CN" altLang="en-US" sz="2400" b="1" dirty="0">
                    <a:solidFill>
                      <a:srgbClr val="000000"/>
                    </a:solidFill>
                    <a:effectLst/>
                    <a:latin typeface="Times New Roman" pitchFamily="18" charset="0"/>
                    <a:ea typeface="华文细黑" pitchFamily="2" charset="-122"/>
                  </a:rPr>
                  <a:t>采购商品：</a:t>
                </a:r>
              </a:p>
            </p:txBody>
          </p:sp>
        </p:grpSp>
        <p:grpSp>
          <p:nvGrpSpPr>
            <p:cNvPr id="3" name="Group 20"/>
            <p:cNvGrpSpPr>
              <a:grpSpLocks/>
            </p:cNvGrpSpPr>
            <p:nvPr/>
          </p:nvGrpSpPr>
          <p:grpSpPr bwMode="auto">
            <a:xfrm>
              <a:off x="1282700" y="3492500"/>
              <a:ext cx="2861733" cy="1079500"/>
              <a:chOff x="709" y="1729"/>
              <a:chExt cx="1245" cy="1206"/>
            </a:xfrm>
          </p:grpSpPr>
          <p:sp>
            <p:nvSpPr>
              <p:cNvPr id="421909" name="Freeform 21"/>
              <p:cNvSpPr>
                <a:spLocks/>
              </p:cNvSpPr>
              <p:nvPr/>
            </p:nvSpPr>
            <p:spPr bwMode="blackWhite">
              <a:xfrm>
                <a:off x="709" y="1729"/>
                <a:ext cx="1245" cy="1206"/>
              </a:xfrm>
              <a:custGeom>
                <a:avLst/>
                <a:gdLst/>
                <a:ahLst/>
                <a:cxnLst>
                  <a:cxn ang="0">
                    <a:pos x="0" y="215"/>
                  </a:cxn>
                  <a:cxn ang="0">
                    <a:pos x="768" y="215"/>
                  </a:cxn>
                  <a:cxn ang="0">
                    <a:pos x="768" y="0"/>
                  </a:cxn>
                  <a:cxn ang="0">
                    <a:pos x="1079" y="543"/>
                  </a:cxn>
                  <a:cxn ang="0">
                    <a:pos x="768" y="1078"/>
                  </a:cxn>
                  <a:cxn ang="0">
                    <a:pos x="768" y="862"/>
                  </a:cxn>
                  <a:cxn ang="0">
                    <a:pos x="0" y="862"/>
                  </a:cxn>
                  <a:cxn ang="0">
                    <a:pos x="0" y="543"/>
                  </a:cxn>
                  <a:cxn ang="0">
                    <a:pos x="0" y="215"/>
                  </a:cxn>
                </a:cxnLst>
                <a:rect l="0" t="0" r="r" b="b"/>
                <a:pathLst>
                  <a:path w="1080" h="1079">
                    <a:moveTo>
                      <a:pt x="0" y="215"/>
                    </a:moveTo>
                    <a:lnTo>
                      <a:pt x="768" y="215"/>
                    </a:lnTo>
                    <a:lnTo>
                      <a:pt x="768" y="0"/>
                    </a:lnTo>
                    <a:lnTo>
                      <a:pt x="1079" y="543"/>
                    </a:lnTo>
                    <a:lnTo>
                      <a:pt x="768" y="1078"/>
                    </a:lnTo>
                    <a:lnTo>
                      <a:pt x="768" y="862"/>
                    </a:lnTo>
                    <a:lnTo>
                      <a:pt x="0" y="862"/>
                    </a:lnTo>
                    <a:lnTo>
                      <a:pt x="0" y="543"/>
                    </a:lnTo>
                    <a:lnTo>
                      <a:pt x="0" y="215"/>
                    </a:lnTo>
                  </a:path>
                </a:pathLst>
              </a:custGeom>
              <a:gradFill rotWithShape="1">
                <a:gsLst>
                  <a:gs pos="0">
                    <a:schemeClr val="accent1"/>
                  </a:gs>
                  <a:gs pos="100000">
                    <a:schemeClr val="tx2"/>
                  </a:gs>
                </a:gsLst>
                <a:lin ang="2700000" scaled="1"/>
              </a:gradFill>
              <a:ln w="12700" cap="rnd" cmpd="sng">
                <a:prstDash val="solid"/>
                <a:round/>
                <a:headEnd type="none" w="med" len="med"/>
                <a:tailEnd type="none" w="med" len="med"/>
              </a:ln>
              <a:effectLst/>
              <a:scene3d>
                <a:camera prst="legacyObliqueTopLeft"/>
                <a:lightRig rig="legacyFlat2" dir="t"/>
              </a:scene3d>
              <a:sp3d extrusionH="303200" prstMaterial="legacyMatte">
                <a:bevelT w="13500" h="13500" prst="angle"/>
                <a:bevelB w="13500" h="13500" prst="angle"/>
                <a:extrusionClr>
                  <a:schemeClr val="accent1"/>
                </a:extrusionClr>
              </a:sp3d>
            </p:spPr>
            <p:txBody>
              <a:bodyPr>
                <a:flatTx/>
              </a:bodyPr>
              <a:lstStyle/>
              <a:p>
                <a:pPr>
                  <a:defRPr/>
                </a:pPr>
                <a:endParaRPr lang="zh-CN" altLang="en-US">
                  <a:ea typeface="宋体" pitchFamily="2" charset="-122"/>
                </a:endParaRPr>
              </a:p>
            </p:txBody>
          </p:sp>
          <p:sp>
            <p:nvSpPr>
              <p:cNvPr id="81928" name="Rectangle 22"/>
              <p:cNvSpPr>
                <a:spLocks noChangeArrowheads="1"/>
              </p:cNvSpPr>
              <p:nvPr/>
            </p:nvSpPr>
            <p:spPr bwMode="auto">
              <a:xfrm>
                <a:off x="777" y="2121"/>
                <a:ext cx="954" cy="413"/>
              </a:xfrm>
              <a:prstGeom prst="rect">
                <a:avLst/>
              </a:prstGeom>
              <a:noFill/>
              <a:ln w="9525">
                <a:noFill/>
                <a:miter lim="800000"/>
                <a:headEnd/>
                <a:tailEnd/>
              </a:ln>
            </p:spPr>
            <p:txBody>
              <a:bodyPr lIns="0" tIns="0" rIns="0" bIns="0" anchor="ctr" anchorCtr="1">
                <a:spAutoFit/>
              </a:bodyPr>
              <a:lstStyle/>
              <a:p>
                <a:pPr defTabSz="787400" eaLnBrk="1" hangingPunct="1"/>
                <a:r>
                  <a:rPr lang="zh-CN" altLang="en-US" sz="2400" b="1" dirty="0">
                    <a:solidFill>
                      <a:srgbClr val="000000"/>
                    </a:solidFill>
                    <a:effectLst/>
                    <a:latin typeface="Times New Roman" pitchFamily="18" charset="0"/>
                    <a:ea typeface="华文细黑" pitchFamily="2" charset="-122"/>
                  </a:rPr>
                  <a:t>商品入库：</a:t>
                </a:r>
              </a:p>
            </p:txBody>
          </p:sp>
        </p:grpSp>
      </p:grpSp>
      <p:sp>
        <p:nvSpPr>
          <p:cNvPr id="81926" name="Text Box 27"/>
          <p:cNvSpPr txBox="1">
            <a:spLocks noChangeArrowheads="1"/>
          </p:cNvSpPr>
          <p:nvPr/>
        </p:nvSpPr>
        <p:spPr bwMode="auto">
          <a:xfrm>
            <a:off x="1531036" y="997664"/>
            <a:ext cx="9293273" cy="769441"/>
          </a:xfrm>
          <a:prstGeom prst="rect">
            <a:avLst/>
          </a:prstGeom>
          <a:noFill/>
          <a:ln w="9525">
            <a:noFill/>
            <a:miter lim="800000"/>
            <a:headEnd/>
            <a:tailEnd/>
          </a:ln>
        </p:spPr>
        <p:txBody>
          <a:bodyPr wrap="square">
            <a:spAutoFit/>
          </a:bodyPr>
          <a:lstStyle/>
          <a:p>
            <a:pPr algn="l" eaLnBrk="1" hangingPunct="1"/>
            <a:r>
              <a:rPr lang="zh-CN" altLang="en-US" sz="4400" b="1" dirty="0">
                <a:solidFill>
                  <a:schemeClr val="tx2"/>
                </a:solidFill>
                <a:latin typeface="+mj-lt"/>
                <a:ea typeface="+mj-ea"/>
                <a:cs typeface="+mj-cs"/>
              </a:rPr>
              <a:t>二、成本</a:t>
            </a:r>
            <a:r>
              <a:rPr lang="en-US" altLang="zh-CN" sz="4400" b="1" dirty="0">
                <a:solidFill>
                  <a:schemeClr val="tx2"/>
                </a:solidFill>
                <a:latin typeface="+mj-lt"/>
                <a:ea typeface="+mj-ea"/>
                <a:cs typeface="+mj-cs"/>
              </a:rPr>
              <a:t>/</a:t>
            </a:r>
            <a:r>
              <a:rPr lang="zh-CN" altLang="en-US" sz="4400" b="1" dirty="0">
                <a:solidFill>
                  <a:schemeClr val="tx2"/>
                </a:solidFill>
                <a:latin typeface="+mj-lt"/>
                <a:ea typeface="+mj-ea"/>
                <a:cs typeface="+mj-cs"/>
              </a:rPr>
              <a:t>数量进价金额核算法</a:t>
            </a:r>
          </a:p>
        </p:txBody>
      </p:sp>
      <p:sp>
        <p:nvSpPr>
          <p:cNvPr id="5" name="矩形 4"/>
          <p:cNvSpPr/>
          <p:nvPr/>
        </p:nvSpPr>
        <p:spPr>
          <a:xfrm>
            <a:off x="1919686" y="1954601"/>
            <a:ext cx="3892412" cy="523220"/>
          </a:xfrm>
          <a:prstGeom prst="rect">
            <a:avLst/>
          </a:prstGeom>
        </p:spPr>
        <p:txBody>
          <a:bodyPr wrap="none">
            <a:spAutoFit/>
          </a:bodyPr>
          <a:lstStyle/>
          <a:p>
            <a:pPr marL="457200" indent="-457200">
              <a:spcBef>
                <a:spcPct val="50000"/>
              </a:spcBef>
              <a:buClr>
                <a:srgbClr val="3333FF"/>
              </a:buClr>
              <a:buSzPct val="60000"/>
              <a:buFont typeface="Wingdings" pitchFamily="2" charset="2"/>
              <a:buChar char="n"/>
              <a:defRPr/>
            </a:pPr>
            <a:r>
              <a:rPr lang="zh-CN" altLang="en-US" sz="2800" b="1" dirty="0">
                <a:latin typeface="楷体_GB2312" panose="02010609030101010101" pitchFamily="49" charset="-122"/>
                <a:ea typeface="楷体_GB2312" panose="02010609030101010101" pitchFamily="49" charset="-122"/>
              </a:rPr>
              <a:t>商品购入的会计处理</a:t>
            </a:r>
          </a:p>
        </p:txBody>
      </p:sp>
    </p:spTree>
    <p:extLst>
      <p:ext uri="{BB962C8B-B14F-4D97-AF65-F5344CB8AC3E}">
        <p14:creationId xmlns:p14="http://schemas.microsoft.com/office/powerpoint/2010/main" val="225300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421890">
                                            <p:txEl>
                                              <p:pRg st="1" end="1"/>
                                            </p:txEl>
                                          </p:spTgt>
                                        </p:tgtEl>
                                        <p:attrNameLst>
                                          <p:attrName>style.visibility</p:attrName>
                                        </p:attrNameLst>
                                      </p:cBhvr>
                                      <p:to>
                                        <p:strVal val="visible"/>
                                      </p:to>
                                    </p:set>
                                    <p:animEffect transition="in" filter="barn(outVertical)">
                                      <p:cBhvr>
                                        <p:cTn id="7" dur="500"/>
                                        <p:tgtEl>
                                          <p:spTgt spid="421890">
                                            <p:txEl>
                                              <p:pRg st="1" end="1"/>
                                            </p:txEl>
                                          </p:spTgt>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21890">
                                            <p:txEl>
                                              <p:pRg st="2" end="2"/>
                                            </p:txEl>
                                          </p:spTgt>
                                        </p:tgtEl>
                                        <p:attrNameLst>
                                          <p:attrName>style.visibility</p:attrName>
                                        </p:attrNameLst>
                                      </p:cBhvr>
                                      <p:to>
                                        <p:strVal val="visible"/>
                                      </p:to>
                                    </p:set>
                                    <p:animEffect transition="in" filter="barn(outVertical)">
                                      <p:cBhvr>
                                        <p:cTn id="11" dur="500"/>
                                        <p:tgtEl>
                                          <p:spTgt spid="421890">
                                            <p:txEl>
                                              <p:pRg st="2" end="2"/>
                                            </p:txEl>
                                          </p:spTgt>
                                        </p:tgtEl>
                                      </p:cBhvr>
                                    </p:animEffect>
                                  </p:childTnLst>
                                </p:cTn>
                              </p:par>
                            </p:childTnLst>
                          </p:cTn>
                        </p:par>
                        <p:par>
                          <p:cTn id="12" fill="hold">
                            <p:stCondLst>
                              <p:cond delay="1000"/>
                            </p:stCondLst>
                            <p:childTnLst>
                              <p:par>
                                <p:cTn id="13" presetID="16" presetClass="entr" presetSubtype="37" fill="hold" grpId="0" nodeType="afterEffect">
                                  <p:stCondLst>
                                    <p:cond delay="0"/>
                                  </p:stCondLst>
                                  <p:childTnLst>
                                    <p:set>
                                      <p:cBhvr>
                                        <p:cTn id="14" dur="1" fill="hold">
                                          <p:stCondLst>
                                            <p:cond delay="0"/>
                                          </p:stCondLst>
                                        </p:cTn>
                                        <p:tgtEl>
                                          <p:spTgt spid="421890">
                                            <p:txEl>
                                              <p:pRg st="3" end="3"/>
                                            </p:txEl>
                                          </p:spTgt>
                                        </p:tgtEl>
                                        <p:attrNameLst>
                                          <p:attrName>style.visibility</p:attrName>
                                        </p:attrNameLst>
                                      </p:cBhvr>
                                      <p:to>
                                        <p:strVal val="visible"/>
                                      </p:to>
                                    </p:set>
                                    <p:animEffect transition="in" filter="barn(outVertical)">
                                      <p:cBhvr>
                                        <p:cTn id="15" dur="500"/>
                                        <p:tgtEl>
                                          <p:spTgt spid="421890">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37" fill="hold" grpId="0" nodeType="clickEffect">
                                  <p:stCondLst>
                                    <p:cond delay="0"/>
                                  </p:stCondLst>
                                  <p:childTnLst>
                                    <p:set>
                                      <p:cBhvr>
                                        <p:cTn id="19" dur="1" fill="hold">
                                          <p:stCondLst>
                                            <p:cond delay="0"/>
                                          </p:stCondLst>
                                        </p:cTn>
                                        <p:tgtEl>
                                          <p:spTgt spid="421890">
                                            <p:txEl>
                                              <p:pRg st="5" end="5"/>
                                            </p:txEl>
                                          </p:spTgt>
                                        </p:tgtEl>
                                        <p:attrNameLst>
                                          <p:attrName>style.visibility</p:attrName>
                                        </p:attrNameLst>
                                      </p:cBhvr>
                                      <p:to>
                                        <p:strVal val="visible"/>
                                      </p:to>
                                    </p:set>
                                    <p:animEffect transition="in" filter="barn(outVertical)">
                                      <p:cBhvr>
                                        <p:cTn id="20" dur="500"/>
                                        <p:tgtEl>
                                          <p:spTgt spid="421890">
                                            <p:txEl>
                                              <p:pRg st="5" end="5"/>
                                            </p:txEl>
                                          </p:spTgt>
                                        </p:tgtEl>
                                      </p:cBhvr>
                                    </p:animEffect>
                                  </p:childTnLst>
                                </p:cTn>
                              </p:par>
                            </p:childTnLst>
                          </p:cTn>
                        </p:par>
                        <p:par>
                          <p:cTn id="21" fill="hold">
                            <p:stCondLst>
                              <p:cond delay="500"/>
                            </p:stCondLst>
                            <p:childTnLst>
                              <p:par>
                                <p:cTn id="22" presetID="16" presetClass="entr" presetSubtype="37" fill="hold" grpId="0" nodeType="afterEffect">
                                  <p:stCondLst>
                                    <p:cond delay="0"/>
                                  </p:stCondLst>
                                  <p:childTnLst>
                                    <p:set>
                                      <p:cBhvr>
                                        <p:cTn id="23" dur="1" fill="hold">
                                          <p:stCondLst>
                                            <p:cond delay="0"/>
                                          </p:stCondLst>
                                        </p:cTn>
                                        <p:tgtEl>
                                          <p:spTgt spid="421890">
                                            <p:txEl>
                                              <p:pRg st="6" end="6"/>
                                            </p:txEl>
                                          </p:spTgt>
                                        </p:tgtEl>
                                        <p:attrNameLst>
                                          <p:attrName>style.visibility</p:attrName>
                                        </p:attrNameLst>
                                      </p:cBhvr>
                                      <p:to>
                                        <p:strVal val="visible"/>
                                      </p:to>
                                    </p:set>
                                    <p:animEffect transition="in" filter="barn(outVertical)">
                                      <p:cBhvr>
                                        <p:cTn id="24" dur="500"/>
                                        <p:tgtEl>
                                          <p:spTgt spid="421890">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37" fill="hold" grpId="0" nodeType="clickEffect">
                                  <p:stCondLst>
                                    <p:cond delay="0"/>
                                  </p:stCondLst>
                                  <p:childTnLst>
                                    <p:set>
                                      <p:cBhvr>
                                        <p:cTn id="28" dur="1" fill="hold">
                                          <p:stCondLst>
                                            <p:cond delay="0"/>
                                          </p:stCondLst>
                                        </p:cTn>
                                        <p:tgtEl>
                                          <p:spTgt spid="421890">
                                            <p:txEl>
                                              <p:pRg st="8" end="8"/>
                                            </p:txEl>
                                          </p:spTgt>
                                        </p:tgtEl>
                                        <p:attrNameLst>
                                          <p:attrName>style.visibility</p:attrName>
                                        </p:attrNameLst>
                                      </p:cBhvr>
                                      <p:to>
                                        <p:strVal val="visible"/>
                                      </p:to>
                                    </p:set>
                                    <p:animEffect transition="in" filter="barn(outVertical)">
                                      <p:cBhvr>
                                        <p:cTn id="29" dur="500"/>
                                        <p:tgtEl>
                                          <p:spTgt spid="42189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0"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2914" name="Rectangle 2"/>
          <p:cNvSpPr>
            <a:spLocks noGrp="1" noChangeArrowheads="1"/>
          </p:cNvSpPr>
          <p:nvPr>
            <p:ph type="body" idx="1"/>
          </p:nvPr>
        </p:nvSpPr>
        <p:spPr>
          <a:xfrm>
            <a:off x="5034675" y="2671207"/>
            <a:ext cx="7924800" cy="4468813"/>
          </a:xfrm>
        </p:spPr>
        <p:txBody>
          <a:bodyPr/>
          <a:lstStyle/>
          <a:p>
            <a:pPr marL="0" indent="0" eaLnBrk="1" hangingPunct="1">
              <a:lnSpc>
                <a:spcPct val="105000"/>
              </a:lnSpc>
              <a:buNone/>
            </a:pPr>
            <a:r>
              <a:rPr lang="zh-CN" altLang="en-US" sz="2200" dirty="0">
                <a:latin typeface="Times New Roman" pitchFamily="18" charset="0"/>
              </a:rPr>
              <a:t>借：应收账款等</a:t>
            </a:r>
          </a:p>
          <a:p>
            <a:pPr marL="0" indent="0" eaLnBrk="1" hangingPunct="1">
              <a:lnSpc>
                <a:spcPct val="105000"/>
              </a:lnSpc>
              <a:buNone/>
            </a:pPr>
            <a:r>
              <a:rPr lang="zh-CN" altLang="en-US" sz="2200" dirty="0">
                <a:latin typeface="Times New Roman" pitchFamily="18" charset="0"/>
              </a:rPr>
              <a:t>        贷：主营业务收入</a:t>
            </a:r>
          </a:p>
          <a:p>
            <a:pPr marL="0" indent="0" eaLnBrk="1" hangingPunct="1">
              <a:lnSpc>
                <a:spcPct val="105000"/>
              </a:lnSpc>
              <a:buNone/>
            </a:pPr>
            <a:r>
              <a:rPr lang="zh-CN" altLang="en-US" sz="2200" dirty="0">
                <a:latin typeface="Times New Roman" pitchFamily="18" charset="0"/>
              </a:rPr>
              <a:t>                应交税费</a:t>
            </a:r>
            <a:r>
              <a:rPr lang="en-US" altLang="zh-CN" sz="2200" dirty="0">
                <a:latin typeface="Times New Roman" pitchFamily="18" charset="0"/>
              </a:rPr>
              <a:t>—</a:t>
            </a:r>
            <a:r>
              <a:rPr lang="zh-CN" altLang="en-US" sz="2200" dirty="0">
                <a:latin typeface="Times New Roman" pitchFamily="18" charset="0"/>
              </a:rPr>
              <a:t>应交增值税（销项税额）</a:t>
            </a:r>
          </a:p>
          <a:p>
            <a:pPr marL="0" indent="0" eaLnBrk="1" hangingPunct="1">
              <a:lnSpc>
                <a:spcPct val="105000"/>
              </a:lnSpc>
              <a:buNone/>
            </a:pPr>
            <a:endParaRPr lang="zh-CN" altLang="en-US" sz="2200" dirty="0">
              <a:latin typeface="Times New Roman" pitchFamily="18" charset="0"/>
            </a:endParaRPr>
          </a:p>
          <a:p>
            <a:pPr marL="0" indent="0" eaLnBrk="1" hangingPunct="1">
              <a:lnSpc>
                <a:spcPct val="105000"/>
              </a:lnSpc>
              <a:buNone/>
            </a:pPr>
            <a:r>
              <a:rPr lang="zh-CN" altLang="en-US" sz="2200" dirty="0">
                <a:latin typeface="Times New Roman" pitchFamily="18" charset="0"/>
              </a:rPr>
              <a:t>借：主营业务成本</a:t>
            </a:r>
          </a:p>
          <a:p>
            <a:pPr marL="0" indent="0" eaLnBrk="1" hangingPunct="1">
              <a:lnSpc>
                <a:spcPct val="105000"/>
              </a:lnSpc>
              <a:buNone/>
            </a:pPr>
            <a:r>
              <a:rPr lang="zh-CN" altLang="en-US" sz="2200" dirty="0">
                <a:latin typeface="Times New Roman" pitchFamily="18" charset="0"/>
              </a:rPr>
              <a:t>         贷：库存商品（进价</a:t>
            </a:r>
            <a:r>
              <a:rPr lang="en-US" altLang="zh-CN" sz="2200" dirty="0">
                <a:latin typeface="Times New Roman" pitchFamily="18" charset="0"/>
              </a:rPr>
              <a:t>/</a:t>
            </a:r>
            <a:r>
              <a:rPr lang="zh-CN" altLang="en-US" sz="2200" dirty="0">
                <a:latin typeface="Times New Roman" pitchFamily="18" charset="0"/>
              </a:rPr>
              <a:t>成本）</a:t>
            </a:r>
          </a:p>
          <a:p>
            <a:pPr marL="0" indent="0" eaLnBrk="1" hangingPunct="1">
              <a:lnSpc>
                <a:spcPct val="105000"/>
              </a:lnSpc>
              <a:buNone/>
            </a:pPr>
            <a:endParaRPr lang="zh-CN" altLang="en-US" sz="2200" dirty="0">
              <a:latin typeface="Times New Roman" pitchFamily="18" charset="0"/>
            </a:endParaRPr>
          </a:p>
          <a:p>
            <a:pPr marL="0" indent="0" eaLnBrk="1" hangingPunct="1">
              <a:lnSpc>
                <a:spcPct val="105000"/>
              </a:lnSpc>
              <a:buNone/>
            </a:pPr>
            <a:r>
              <a:rPr lang="zh-CN" altLang="en-US" sz="2200" dirty="0">
                <a:latin typeface="Times New Roman" pitchFamily="18" charset="0"/>
              </a:rPr>
              <a:t>借：销售费用</a:t>
            </a:r>
          </a:p>
          <a:p>
            <a:pPr marL="0" indent="0" eaLnBrk="1" hangingPunct="1">
              <a:lnSpc>
                <a:spcPct val="105000"/>
              </a:lnSpc>
              <a:buNone/>
            </a:pPr>
            <a:r>
              <a:rPr lang="zh-CN" altLang="en-US" sz="2200" dirty="0">
                <a:latin typeface="Times New Roman" pitchFamily="18" charset="0"/>
              </a:rPr>
              <a:t>         贷：银行存款等</a:t>
            </a:r>
          </a:p>
          <a:p>
            <a:pPr marL="0" indent="0" eaLnBrk="1" hangingPunct="1">
              <a:lnSpc>
                <a:spcPct val="60000"/>
              </a:lnSpc>
              <a:buNone/>
            </a:pPr>
            <a:endParaRPr lang="en-US" altLang="zh-CN" sz="2200" dirty="0">
              <a:latin typeface="Times New Roman" pitchFamily="18" charset="0"/>
            </a:endParaRPr>
          </a:p>
        </p:txBody>
      </p:sp>
      <p:grpSp>
        <p:nvGrpSpPr>
          <p:cNvPr id="5" name="组合 4"/>
          <p:cNvGrpSpPr/>
          <p:nvPr/>
        </p:nvGrpSpPr>
        <p:grpSpPr>
          <a:xfrm>
            <a:off x="1531919" y="2815140"/>
            <a:ext cx="3068889" cy="3562748"/>
            <a:chOff x="406400" y="1835787"/>
            <a:chExt cx="3425170" cy="4068000"/>
          </a:xfrm>
        </p:grpSpPr>
        <p:grpSp>
          <p:nvGrpSpPr>
            <p:cNvPr id="2" name="Group 7"/>
            <p:cNvGrpSpPr>
              <a:grpSpLocks/>
            </p:cNvGrpSpPr>
            <p:nvPr/>
          </p:nvGrpSpPr>
          <p:grpSpPr bwMode="auto">
            <a:xfrm>
              <a:off x="497819" y="1835787"/>
              <a:ext cx="3333751" cy="1100137"/>
              <a:chOff x="1610" y="1236"/>
              <a:chExt cx="1659" cy="1385"/>
            </a:xfrm>
          </p:grpSpPr>
          <p:sp>
            <p:nvSpPr>
              <p:cNvPr id="422920" name="Freeform 8"/>
              <p:cNvSpPr>
                <a:spLocks/>
              </p:cNvSpPr>
              <p:nvPr/>
            </p:nvSpPr>
            <p:spPr bwMode="blackWhite">
              <a:xfrm>
                <a:off x="1610" y="1236"/>
                <a:ext cx="1659" cy="1385"/>
              </a:xfrm>
              <a:custGeom>
                <a:avLst/>
                <a:gdLst/>
                <a:ahLst/>
                <a:cxnLst>
                  <a:cxn ang="0">
                    <a:pos x="0" y="184"/>
                  </a:cxn>
                  <a:cxn ang="0">
                    <a:pos x="1079" y="184"/>
                  </a:cxn>
                  <a:cxn ang="0">
                    <a:pos x="1079" y="0"/>
                  </a:cxn>
                  <a:cxn ang="0">
                    <a:pos x="1439" y="615"/>
                  </a:cxn>
                  <a:cxn ang="0">
                    <a:pos x="1079" y="1238"/>
                  </a:cxn>
                  <a:cxn ang="0">
                    <a:pos x="1079" y="1054"/>
                  </a:cxn>
                  <a:cxn ang="0">
                    <a:pos x="0" y="1054"/>
                  </a:cxn>
                  <a:cxn ang="0">
                    <a:pos x="0" y="615"/>
                  </a:cxn>
                  <a:cxn ang="0">
                    <a:pos x="0" y="184"/>
                  </a:cxn>
                </a:cxnLst>
                <a:rect l="0" t="0" r="r" b="b"/>
                <a:pathLst>
                  <a:path w="1440" h="1239">
                    <a:moveTo>
                      <a:pt x="0" y="184"/>
                    </a:moveTo>
                    <a:lnTo>
                      <a:pt x="1079" y="184"/>
                    </a:lnTo>
                    <a:lnTo>
                      <a:pt x="1079" y="0"/>
                    </a:lnTo>
                    <a:lnTo>
                      <a:pt x="1439" y="615"/>
                    </a:lnTo>
                    <a:lnTo>
                      <a:pt x="1079" y="1238"/>
                    </a:lnTo>
                    <a:lnTo>
                      <a:pt x="1079" y="1054"/>
                    </a:lnTo>
                    <a:lnTo>
                      <a:pt x="0" y="1054"/>
                    </a:lnTo>
                    <a:lnTo>
                      <a:pt x="0" y="615"/>
                    </a:lnTo>
                    <a:lnTo>
                      <a:pt x="0" y="184"/>
                    </a:lnTo>
                  </a:path>
                </a:pathLst>
              </a:custGeom>
              <a:gradFill rotWithShape="1">
                <a:gsLst>
                  <a:gs pos="0">
                    <a:schemeClr val="hlink"/>
                  </a:gs>
                  <a:gs pos="100000">
                    <a:srgbClr val="FFFFFF"/>
                  </a:gs>
                </a:gsLst>
                <a:lin ang="2700000" scaled="1"/>
              </a:gradFill>
              <a:ln w="12700" cap="rnd" cmpd="sng">
                <a:prstDash val="solid"/>
                <a:round/>
                <a:headEnd type="none" w="med" len="med"/>
                <a:tailEnd type="none" w="med" len="med"/>
              </a:ln>
              <a:effectLst/>
              <a:scene3d>
                <a:camera prst="legacyObliqueTopLeft"/>
                <a:lightRig rig="legacyFlat2" dir="t"/>
              </a:scene3d>
              <a:sp3d extrusionH="303200" prstMaterial="legacyMatte">
                <a:bevelT w="13500" h="13500" prst="angle"/>
                <a:bevelB w="13500" h="13500" prst="angle"/>
                <a:extrusionClr>
                  <a:schemeClr val="hlink"/>
                </a:extrusionClr>
              </a:sp3d>
            </p:spPr>
            <p:txBody>
              <a:bodyPr>
                <a:flatTx/>
              </a:bodyPr>
              <a:lstStyle/>
              <a:p>
                <a:pPr>
                  <a:defRPr/>
                </a:pPr>
                <a:endParaRPr lang="zh-CN" altLang="en-US">
                  <a:ea typeface="宋体" pitchFamily="2" charset="-122"/>
                </a:endParaRPr>
              </a:p>
            </p:txBody>
          </p:sp>
          <p:sp>
            <p:nvSpPr>
              <p:cNvPr id="82957" name="Rectangle 9"/>
              <p:cNvSpPr>
                <a:spLocks noChangeArrowheads="1"/>
              </p:cNvSpPr>
              <p:nvPr/>
            </p:nvSpPr>
            <p:spPr bwMode="auto">
              <a:xfrm>
                <a:off x="1948" y="1715"/>
                <a:ext cx="951" cy="426"/>
              </a:xfrm>
              <a:prstGeom prst="rect">
                <a:avLst/>
              </a:prstGeom>
              <a:noFill/>
              <a:ln w="9525">
                <a:noFill/>
                <a:miter lim="800000"/>
                <a:headEnd/>
                <a:tailEnd/>
              </a:ln>
            </p:spPr>
            <p:txBody>
              <a:bodyPr lIns="0" tIns="0" rIns="0" bIns="0" anchor="ctr" anchorCtr="1">
                <a:spAutoFit/>
              </a:bodyPr>
              <a:lstStyle/>
              <a:p>
                <a:pPr algn="l" defTabSz="787400" eaLnBrk="1" hangingPunct="1"/>
                <a:r>
                  <a:rPr lang="zh-CN" altLang="en-US" sz="2200" b="1" dirty="0">
                    <a:solidFill>
                      <a:srgbClr val="000000"/>
                    </a:solidFill>
                    <a:effectLst/>
                    <a:latin typeface="Times New Roman" pitchFamily="18" charset="0"/>
                    <a:ea typeface="华文细黑" pitchFamily="2" charset="-122"/>
                  </a:rPr>
                  <a:t>销售商品：</a:t>
                </a:r>
              </a:p>
            </p:txBody>
          </p:sp>
        </p:grpSp>
        <p:grpSp>
          <p:nvGrpSpPr>
            <p:cNvPr id="3" name="Group 10"/>
            <p:cNvGrpSpPr>
              <a:grpSpLocks/>
            </p:cNvGrpSpPr>
            <p:nvPr/>
          </p:nvGrpSpPr>
          <p:grpSpPr bwMode="auto">
            <a:xfrm>
              <a:off x="406400" y="3475039"/>
              <a:ext cx="3246967" cy="1100137"/>
              <a:chOff x="1594" y="1513"/>
              <a:chExt cx="1659" cy="1385"/>
            </a:xfrm>
          </p:grpSpPr>
          <p:sp>
            <p:nvSpPr>
              <p:cNvPr id="422923" name="Freeform 11"/>
              <p:cNvSpPr>
                <a:spLocks/>
              </p:cNvSpPr>
              <p:nvPr/>
            </p:nvSpPr>
            <p:spPr bwMode="blackWhite">
              <a:xfrm>
                <a:off x="1594" y="1513"/>
                <a:ext cx="1659" cy="1385"/>
              </a:xfrm>
              <a:custGeom>
                <a:avLst/>
                <a:gdLst/>
                <a:ahLst/>
                <a:cxnLst>
                  <a:cxn ang="0">
                    <a:pos x="0" y="184"/>
                  </a:cxn>
                  <a:cxn ang="0">
                    <a:pos x="1079" y="184"/>
                  </a:cxn>
                  <a:cxn ang="0">
                    <a:pos x="1079" y="0"/>
                  </a:cxn>
                  <a:cxn ang="0">
                    <a:pos x="1439" y="615"/>
                  </a:cxn>
                  <a:cxn ang="0">
                    <a:pos x="1079" y="1238"/>
                  </a:cxn>
                  <a:cxn ang="0">
                    <a:pos x="1079" y="1054"/>
                  </a:cxn>
                  <a:cxn ang="0">
                    <a:pos x="0" y="1054"/>
                  </a:cxn>
                  <a:cxn ang="0">
                    <a:pos x="0" y="615"/>
                  </a:cxn>
                  <a:cxn ang="0">
                    <a:pos x="0" y="184"/>
                  </a:cxn>
                </a:cxnLst>
                <a:rect l="0" t="0" r="r" b="b"/>
                <a:pathLst>
                  <a:path w="1440" h="1239">
                    <a:moveTo>
                      <a:pt x="0" y="184"/>
                    </a:moveTo>
                    <a:lnTo>
                      <a:pt x="1079" y="184"/>
                    </a:lnTo>
                    <a:lnTo>
                      <a:pt x="1079" y="0"/>
                    </a:lnTo>
                    <a:lnTo>
                      <a:pt x="1439" y="615"/>
                    </a:lnTo>
                    <a:lnTo>
                      <a:pt x="1079" y="1238"/>
                    </a:lnTo>
                    <a:lnTo>
                      <a:pt x="1079" y="1054"/>
                    </a:lnTo>
                    <a:lnTo>
                      <a:pt x="0" y="1054"/>
                    </a:lnTo>
                    <a:lnTo>
                      <a:pt x="0" y="615"/>
                    </a:lnTo>
                    <a:lnTo>
                      <a:pt x="0" y="184"/>
                    </a:lnTo>
                  </a:path>
                </a:pathLst>
              </a:custGeom>
              <a:gradFill rotWithShape="1">
                <a:gsLst>
                  <a:gs pos="0">
                    <a:schemeClr val="hlink"/>
                  </a:gs>
                  <a:gs pos="100000">
                    <a:srgbClr val="FFFFFF"/>
                  </a:gs>
                </a:gsLst>
                <a:lin ang="2700000" scaled="1"/>
              </a:gradFill>
              <a:ln w="12700" cap="rnd" cmpd="sng">
                <a:prstDash val="solid"/>
                <a:round/>
                <a:headEnd type="none" w="med" len="med"/>
                <a:tailEnd type="none" w="med" len="med"/>
              </a:ln>
              <a:effectLst/>
              <a:scene3d>
                <a:camera prst="legacyObliqueTopLeft"/>
                <a:lightRig rig="legacyFlat2" dir="t"/>
              </a:scene3d>
              <a:sp3d extrusionH="303200" prstMaterial="legacyMatte">
                <a:bevelT w="13500" h="13500" prst="angle"/>
                <a:bevelB w="13500" h="13500" prst="angle"/>
                <a:extrusionClr>
                  <a:schemeClr val="hlink"/>
                </a:extrusionClr>
              </a:sp3d>
            </p:spPr>
            <p:txBody>
              <a:bodyPr>
                <a:flatTx/>
              </a:bodyPr>
              <a:lstStyle/>
              <a:p>
                <a:pPr>
                  <a:defRPr/>
                </a:pPr>
                <a:endParaRPr lang="zh-CN" altLang="en-US">
                  <a:ea typeface="宋体" pitchFamily="2" charset="-122"/>
                </a:endParaRPr>
              </a:p>
            </p:txBody>
          </p:sp>
          <p:sp>
            <p:nvSpPr>
              <p:cNvPr id="82955" name="Rectangle 12"/>
              <p:cNvSpPr>
                <a:spLocks noChangeArrowheads="1"/>
              </p:cNvSpPr>
              <p:nvPr/>
            </p:nvSpPr>
            <p:spPr bwMode="auto">
              <a:xfrm>
                <a:off x="2077" y="1986"/>
                <a:ext cx="952" cy="426"/>
              </a:xfrm>
              <a:prstGeom prst="rect">
                <a:avLst/>
              </a:prstGeom>
              <a:noFill/>
              <a:ln w="9525">
                <a:noFill/>
                <a:miter lim="800000"/>
                <a:headEnd/>
                <a:tailEnd/>
              </a:ln>
            </p:spPr>
            <p:txBody>
              <a:bodyPr lIns="0" tIns="0" rIns="0" bIns="0" anchor="ctr" anchorCtr="1">
                <a:spAutoFit/>
              </a:bodyPr>
              <a:lstStyle/>
              <a:p>
                <a:pPr defTabSz="787400" eaLnBrk="1" hangingPunct="1"/>
                <a:r>
                  <a:rPr lang="zh-CN" altLang="en-US" sz="2200" b="1" dirty="0">
                    <a:solidFill>
                      <a:srgbClr val="000000"/>
                    </a:solidFill>
                    <a:effectLst/>
                    <a:latin typeface="Times New Roman" pitchFamily="18" charset="0"/>
                    <a:ea typeface="华文细黑" pitchFamily="2" charset="-122"/>
                  </a:rPr>
                  <a:t>结转成本：</a:t>
                </a:r>
              </a:p>
            </p:txBody>
          </p:sp>
        </p:grpSp>
        <p:grpSp>
          <p:nvGrpSpPr>
            <p:cNvPr id="4" name="Group 13"/>
            <p:cNvGrpSpPr>
              <a:grpSpLocks/>
            </p:cNvGrpSpPr>
            <p:nvPr/>
          </p:nvGrpSpPr>
          <p:grpSpPr bwMode="auto">
            <a:xfrm>
              <a:off x="482009" y="4803649"/>
              <a:ext cx="3299883" cy="1100138"/>
              <a:chOff x="1665" y="1293"/>
              <a:chExt cx="1659" cy="1385"/>
            </a:xfrm>
          </p:grpSpPr>
          <p:sp>
            <p:nvSpPr>
              <p:cNvPr id="422926" name="Freeform 14"/>
              <p:cNvSpPr>
                <a:spLocks/>
              </p:cNvSpPr>
              <p:nvPr/>
            </p:nvSpPr>
            <p:spPr bwMode="blackWhite">
              <a:xfrm>
                <a:off x="1665" y="1293"/>
                <a:ext cx="1659" cy="1385"/>
              </a:xfrm>
              <a:custGeom>
                <a:avLst/>
                <a:gdLst/>
                <a:ahLst/>
                <a:cxnLst>
                  <a:cxn ang="0">
                    <a:pos x="0" y="184"/>
                  </a:cxn>
                  <a:cxn ang="0">
                    <a:pos x="1079" y="184"/>
                  </a:cxn>
                  <a:cxn ang="0">
                    <a:pos x="1079" y="0"/>
                  </a:cxn>
                  <a:cxn ang="0">
                    <a:pos x="1439" y="615"/>
                  </a:cxn>
                  <a:cxn ang="0">
                    <a:pos x="1079" y="1238"/>
                  </a:cxn>
                  <a:cxn ang="0">
                    <a:pos x="1079" y="1054"/>
                  </a:cxn>
                  <a:cxn ang="0">
                    <a:pos x="0" y="1054"/>
                  </a:cxn>
                  <a:cxn ang="0">
                    <a:pos x="0" y="615"/>
                  </a:cxn>
                  <a:cxn ang="0">
                    <a:pos x="0" y="184"/>
                  </a:cxn>
                </a:cxnLst>
                <a:rect l="0" t="0" r="r" b="b"/>
                <a:pathLst>
                  <a:path w="1440" h="1239">
                    <a:moveTo>
                      <a:pt x="0" y="184"/>
                    </a:moveTo>
                    <a:lnTo>
                      <a:pt x="1079" y="184"/>
                    </a:lnTo>
                    <a:lnTo>
                      <a:pt x="1079" y="0"/>
                    </a:lnTo>
                    <a:lnTo>
                      <a:pt x="1439" y="615"/>
                    </a:lnTo>
                    <a:lnTo>
                      <a:pt x="1079" y="1238"/>
                    </a:lnTo>
                    <a:lnTo>
                      <a:pt x="1079" y="1054"/>
                    </a:lnTo>
                    <a:lnTo>
                      <a:pt x="0" y="1054"/>
                    </a:lnTo>
                    <a:lnTo>
                      <a:pt x="0" y="615"/>
                    </a:lnTo>
                    <a:lnTo>
                      <a:pt x="0" y="184"/>
                    </a:lnTo>
                  </a:path>
                </a:pathLst>
              </a:custGeom>
              <a:gradFill rotWithShape="1">
                <a:gsLst>
                  <a:gs pos="0">
                    <a:schemeClr val="hlink"/>
                  </a:gs>
                  <a:gs pos="100000">
                    <a:srgbClr val="FFFFFF"/>
                  </a:gs>
                </a:gsLst>
                <a:lin ang="2700000" scaled="1"/>
              </a:gradFill>
              <a:ln w="12700" cap="rnd" cmpd="sng">
                <a:prstDash val="solid"/>
                <a:round/>
                <a:headEnd type="none" w="med" len="med"/>
                <a:tailEnd type="none" w="med" len="med"/>
              </a:ln>
              <a:effectLst/>
              <a:scene3d>
                <a:camera prst="legacyObliqueTopLeft"/>
                <a:lightRig rig="legacyFlat2" dir="t"/>
              </a:scene3d>
              <a:sp3d extrusionH="303200" prstMaterial="legacyMatte">
                <a:bevelT w="13500" h="13500" prst="angle"/>
                <a:bevelB w="13500" h="13500" prst="angle"/>
                <a:extrusionClr>
                  <a:schemeClr val="hlink"/>
                </a:extrusionClr>
              </a:sp3d>
            </p:spPr>
            <p:txBody>
              <a:bodyPr>
                <a:flatTx/>
              </a:bodyPr>
              <a:lstStyle/>
              <a:p>
                <a:pPr>
                  <a:defRPr/>
                </a:pPr>
                <a:endParaRPr lang="zh-CN" altLang="en-US">
                  <a:ea typeface="宋体" pitchFamily="2" charset="-122"/>
                </a:endParaRPr>
              </a:p>
            </p:txBody>
          </p:sp>
          <p:sp>
            <p:nvSpPr>
              <p:cNvPr id="82953" name="Rectangle 15"/>
              <p:cNvSpPr>
                <a:spLocks noChangeArrowheads="1"/>
              </p:cNvSpPr>
              <p:nvPr/>
            </p:nvSpPr>
            <p:spPr bwMode="auto">
              <a:xfrm>
                <a:off x="2078" y="1773"/>
                <a:ext cx="952" cy="426"/>
              </a:xfrm>
              <a:prstGeom prst="rect">
                <a:avLst/>
              </a:prstGeom>
              <a:noFill/>
              <a:ln w="9525">
                <a:noFill/>
                <a:miter lim="800000"/>
                <a:headEnd/>
                <a:tailEnd/>
              </a:ln>
            </p:spPr>
            <p:txBody>
              <a:bodyPr lIns="0" tIns="0" rIns="0" bIns="0" anchor="ctr" anchorCtr="1">
                <a:spAutoFit/>
              </a:bodyPr>
              <a:lstStyle/>
              <a:p>
                <a:pPr defTabSz="787400" eaLnBrk="1" hangingPunct="1"/>
                <a:r>
                  <a:rPr lang="zh-CN" altLang="en-US" sz="2200" b="1" dirty="0">
                    <a:solidFill>
                      <a:srgbClr val="000000"/>
                    </a:solidFill>
                    <a:effectLst/>
                    <a:latin typeface="Times New Roman" pitchFamily="18" charset="0"/>
                    <a:ea typeface="华文细黑" pitchFamily="2" charset="-122"/>
                  </a:rPr>
                  <a:t>销售费用：</a:t>
                </a:r>
              </a:p>
            </p:txBody>
          </p:sp>
        </p:grpSp>
      </p:grpSp>
      <p:sp>
        <p:nvSpPr>
          <p:cNvPr id="82951" name="Text Box 17"/>
          <p:cNvSpPr txBox="1">
            <a:spLocks noChangeArrowheads="1"/>
          </p:cNvSpPr>
          <p:nvPr/>
        </p:nvSpPr>
        <p:spPr bwMode="auto">
          <a:xfrm>
            <a:off x="1473128" y="1064393"/>
            <a:ext cx="8711809" cy="584775"/>
          </a:xfrm>
          <a:prstGeom prst="rect">
            <a:avLst/>
          </a:prstGeom>
          <a:noFill/>
          <a:ln w="9525">
            <a:noFill/>
            <a:miter lim="800000"/>
            <a:headEnd/>
            <a:tailEnd/>
          </a:ln>
        </p:spPr>
        <p:txBody>
          <a:bodyPr wrap="square">
            <a:spAutoFit/>
          </a:bodyPr>
          <a:lstStyle/>
          <a:p>
            <a:pPr algn="l" eaLnBrk="1" hangingPunct="1"/>
            <a:r>
              <a:rPr lang="zh-CN" altLang="en-US" sz="3200" b="1" dirty="0">
                <a:solidFill>
                  <a:schemeClr val="tx2"/>
                </a:solidFill>
                <a:effectLst/>
                <a:latin typeface="黑体" pitchFamily="2" charset="-122"/>
                <a:ea typeface="黑体" pitchFamily="2" charset="-122"/>
              </a:rPr>
              <a:t>二、成本</a:t>
            </a:r>
            <a:r>
              <a:rPr lang="en-US" altLang="zh-CN" sz="3200" b="1" dirty="0">
                <a:solidFill>
                  <a:schemeClr val="tx2"/>
                </a:solidFill>
                <a:effectLst/>
                <a:latin typeface="黑体" pitchFamily="2" charset="-122"/>
                <a:ea typeface="黑体" pitchFamily="2" charset="-122"/>
              </a:rPr>
              <a:t>/</a:t>
            </a:r>
            <a:r>
              <a:rPr lang="zh-CN" altLang="en-US" sz="3200" b="1" dirty="0">
                <a:solidFill>
                  <a:schemeClr val="tx2"/>
                </a:solidFill>
                <a:effectLst/>
                <a:latin typeface="黑体" pitchFamily="2" charset="-122"/>
                <a:ea typeface="黑体" pitchFamily="2" charset="-122"/>
              </a:rPr>
              <a:t>数量进价金额核算法</a:t>
            </a:r>
          </a:p>
        </p:txBody>
      </p:sp>
      <p:sp>
        <p:nvSpPr>
          <p:cNvPr id="6" name="矩形 5"/>
          <p:cNvSpPr/>
          <p:nvPr/>
        </p:nvSpPr>
        <p:spPr>
          <a:xfrm>
            <a:off x="1614142" y="1863032"/>
            <a:ext cx="3892412" cy="523220"/>
          </a:xfrm>
          <a:prstGeom prst="rect">
            <a:avLst/>
          </a:prstGeom>
        </p:spPr>
        <p:txBody>
          <a:bodyPr wrap="none">
            <a:spAutoFit/>
          </a:bodyPr>
          <a:lstStyle/>
          <a:p>
            <a:pPr marL="457200" indent="-457200">
              <a:spcBef>
                <a:spcPct val="50000"/>
              </a:spcBef>
              <a:buClr>
                <a:srgbClr val="3333FF"/>
              </a:buClr>
              <a:buSzPct val="60000"/>
              <a:buFont typeface="Wingdings" pitchFamily="2" charset="2"/>
              <a:buChar char="n"/>
              <a:defRPr/>
            </a:pPr>
            <a:r>
              <a:rPr lang="zh-CN" altLang="en-US" sz="2800" b="1" dirty="0">
                <a:latin typeface="楷体_GB2312" panose="02010609030101010101" pitchFamily="49" charset="-122"/>
                <a:ea typeface="楷体_GB2312" panose="02010609030101010101" pitchFamily="49" charset="-122"/>
              </a:rPr>
              <a:t>商品销售的会计处理</a:t>
            </a:r>
          </a:p>
        </p:txBody>
      </p:sp>
    </p:spTree>
    <p:extLst>
      <p:ext uri="{BB962C8B-B14F-4D97-AF65-F5344CB8AC3E}">
        <p14:creationId xmlns:p14="http://schemas.microsoft.com/office/powerpoint/2010/main" val="841902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422914">
                                            <p:txEl>
                                              <p:pRg st="0" end="0"/>
                                            </p:txEl>
                                          </p:spTgt>
                                        </p:tgtEl>
                                        <p:attrNameLst>
                                          <p:attrName>style.visibility</p:attrName>
                                        </p:attrNameLst>
                                      </p:cBhvr>
                                      <p:to>
                                        <p:strVal val="visible"/>
                                      </p:to>
                                    </p:set>
                                    <p:animEffect transition="in" filter="barn(outVertical)">
                                      <p:cBhvr>
                                        <p:cTn id="7" dur="500"/>
                                        <p:tgtEl>
                                          <p:spTgt spid="422914">
                                            <p:txEl>
                                              <p:pRg st="0" end="0"/>
                                            </p:txEl>
                                          </p:spTgt>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22914">
                                            <p:txEl>
                                              <p:pRg st="1" end="1"/>
                                            </p:txEl>
                                          </p:spTgt>
                                        </p:tgtEl>
                                        <p:attrNameLst>
                                          <p:attrName>style.visibility</p:attrName>
                                        </p:attrNameLst>
                                      </p:cBhvr>
                                      <p:to>
                                        <p:strVal val="visible"/>
                                      </p:to>
                                    </p:set>
                                    <p:animEffect transition="in" filter="barn(outVertical)">
                                      <p:cBhvr>
                                        <p:cTn id="11" dur="500"/>
                                        <p:tgtEl>
                                          <p:spTgt spid="422914">
                                            <p:txEl>
                                              <p:pRg st="1" end="1"/>
                                            </p:txEl>
                                          </p:spTgt>
                                        </p:tgtEl>
                                      </p:cBhvr>
                                    </p:animEffect>
                                  </p:childTnLst>
                                </p:cTn>
                              </p:par>
                            </p:childTnLst>
                          </p:cTn>
                        </p:par>
                        <p:par>
                          <p:cTn id="12" fill="hold">
                            <p:stCondLst>
                              <p:cond delay="1000"/>
                            </p:stCondLst>
                            <p:childTnLst>
                              <p:par>
                                <p:cTn id="13" presetID="16" presetClass="entr" presetSubtype="37" fill="hold" grpId="0" nodeType="afterEffect">
                                  <p:stCondLst>
                                    <p:cond delay="0"/>
                                  </p:stCondLst>
                                  <p:childTnLst>
                                    <p:set>
                                      <p:cBhvr>
                                        <p:cTn id="14" dur="1" fill="hold">
                                          <p:stCondLst>
                                            <p:cond delay="0"/>
                                          </p:stCondLst>
                                        </p:cTn>
                                        <p:tgtEl>
                                          <p:spTgt spid="422914">
                                            <p:txEl>
                                              <p:pRg st="2" end="2"/>
                                            </p:txEl>
                                          </p:spTgt>
                                        </p:tgtEl>
                                        <p:attrNameLst>
                                          <p:attrName>style.visibility</p:attrName>
                                        </p:attrNameLst>
                                      </p:cBhvr>
                                      <p:to>
                                        <p:strVal val="visible"/>
                                      </p:to>
                                    </p:set>
                                    <p:animEffect transition="in" filter="barn(outVertical)">
                                      <p:cBhvr>
                                        <p:cTn id="15" dur="500"/>
                                        <p:tgtEl>
                                          <p:spTgt spid="42291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37" fill="hold" grpId="0" nodeType="clickEffect">
                                  <p:stCondLst>
                                    <p:cond delay="0"/>
                                  </p:stCondLst>
                                  <p:childTnLst>
                                    <p:set>
                                      <p:cBhvr>
                                        <p:cTn id="19" dur="1" fill="hold">
                                          <p:stCondLst>
                                            <p:cond delay="0"/>
                                          </p:stCondLst>
                                        </p:cTn>
                                        <p:tgtEl>
                                          <p:spTgt spid="422914">
                                            <p:txEl>
                                              <p:pRg st="4" end="4"/>
                                            </p:txEl>
                                          </p:spTgt>
                                        </p:tgtEl>
                                        <p:attrNameLst>
                                          <p:attrName>style.visibility</p:attrName>
                                        </p:attrNameLst>
                                      </p:cBhvr>
                                      <p:to>
                                        <p:strVal val="visible"/>
                                      </p:to>
                                    </p:set>
                                    <p:animEffect transition="in" filter="barn(outVertical)">
                                      <p:cBhvr>
                                        <p:cTn id="20" dur="500"/>
                                        <p:tgtEl>
                                          <p:spTgt spid="422914">
                                            <p:txEl>
                                              <p:pRg st="4" end="4"/>
                                            </p:txEl>
                                          </p:spTgt>
                                        </p:tgtEl>
                                      </p:cBhvr>
                                    </p:animEffect>
                                  </p:childTnLst>
                                </p:cTn>
                              </p:par>
                            </p:childTnLst>
                          </p:cTn>
                        </p:par>
                        <p:par>
                          <p:cTn id="21" fill="hold">
                            <p:stCondLst>
                              <p:cond delay="500"/>
                            </p:stCondLst>
                            <p:childTnLst>
                              <p:par>
                                <p:cTn id="22" presetID="16" presetClass="entr" presetSubtype="37" fill="hold" grpId="0" nodeType="afterEffect">
                                  <p:stCondLst>
                                    <p:cond delay="0"/>
                                  </p:stCondLst>
                                  <p:childTnLst>
                                    <p:set>
                                      <p:cBhvr>
                                        <p:cTn id="23" dur="1" fill="hold">
                                          <p:stCondLst>
                                            <p:cond delay="0"/>
                                          </p:stCondLst>
                                        </p:cTn>
                                        <p:tgtEl>
                                          <p:spTgt spid="422914">
                                            <p:txEl>
                                              <p:pRg st="5" end="5"/>
                                            </p:txEl>
                                          </p:spTgt>
                                        </p:tgtEl>
                                        <p:attrNameLst>
                                          <p:attrName>style.visibility</p:attrName>
                                        </p:attrNameLst>
                                      </p:cBhvr>
                                      <p:to>
                                        <p:strVal val="visible"/>
                                      </p:to>
                                    </p:set>
                                    <p:animEffect transition="in" filter="barn(outVertical)">
                                      <p:cBhvr>
                                        <p:cTn id="24" dur="500"/>
                                        <p:tgtEl>
                                          <p:spTgt spid="42291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37" fill="hold" grpId="0" nodeType="clickEffect">
                                  <p:stCondLst>
                                    <p:cond delay="0"/>
                                  </p:stCondLst>
                                  <p:childTnLst>
                                    <p:set>
                                      <p:cBhvr>
                                        <p:cTn id="28" dur="1" fill="hold">
                                          <p:stCondLst>
                                            <p:cond delay="0"/>
                                          </p:stCondLst>
                                        </p:cTn>
                                        <p:tgtEl>
                                          <p:spTgt spid="422914">
                                            <p:txEl>
                                              <p:pRg st="7" end="7"/>
                                            </p:txEl>
                                          </p:spTgt>
                                        </p:tgtEl>
                                        <p:attrNameLst>
                                          <p:attrName>style.visibility</p:attrName>
                                        </p:attrNameLst>
                                      </p:cBhvr>
                                      <p:to>
                                        <p:strVal val="visible"/>
                                      </p:to>
                                    </p:set>
                                    <p:animEffect transition="in" filter="barn(outVertical)">
                                      <p:cBhvr>
                                        <p:cTn id="29" dur="500"/>
                                        <p:tgtEl>
                                          <p:spTgt spid="422914">
                                            <p:txEl>
                                              <p:pRg st="7" end="7"/>
                                            </p:txEl>
                                          </p:spTgt>
                                        </p:tgtEl>
                                      </p:cBhvr>
                                    </p:animEffect>
                                  </p:childTnLst>
                                </p:cTn>
                              </p:par>
                            </p:childTnLst>
                          </p:cTn>
                        </p:par>
                        <p:par>
                          <p:cTn id="30" fill="hold">
                            <p:stCondLst>
                              <p:cond delay="500"/>
                            </p:stCondLst>
                            <p:childTnLst>
                              <p:par>
                                <p:cTn id="31" presetID="16" presetClass="entr" presetSubtype="37" fill="hold" grpId="0" nodeType="afterEffect">
                                  <p:stCondLst>
                                    <p:cond delay="0"/>
                                  </p:stCondLst>
                                  <p:childTnLst>
                                    <p:set>
                                      <p:cBhvr>
                                        <p:cTn id="32" dur="1" fill="hold">
                                          <p:stCondLst>
                                            <p:cond delay="0"/>
                                          </p:stCondLst>
                                        </p:cTn>
                                        <p:tgtEl>
                                          <p:spTgt spid="422914">
                                            <p:txEl>
                                              <p:pRg st="8" end="8"/>
                                            </p:txEl>
                                          </p:spTgt>
                                        </p:tgtEl>
                                        <p:attrNameLst>
                                          <p:attrName>style.visibility</p:attrName>
                                        </p:attrNameLst>
                                      </p:cBhvr>
                                      <p:to>
                                        <p:strVal val="visible"/>
                                      </p:to>
                                    </p:set>
                                    <p:animEffect transition="in" filter="barn(outVertical)">
                                      <p:cBhvr>
                                        <p:cTn id="33" dur="500"/>
                                        <p:tgtEl>
                                          <p:spTgt spid="42291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14"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p:txBody>
          <a:bodyPr/>
          <a:lstStyle/>
          <a:p>
            <a:r>
              <a:rPr lang="zh-CN" altLang="en-US"/>
              <a:t>数量金价金额和算法举例</a:t>
            </a:r>
          </a:p>
        </p:txBody>
      </p:sp>
      <p:sp>
        <p:nvSpPr>
          <p:cNvPr id="83971" name="内容占位符 2"/>
          <p:cNvSpPr>
            <a:spLocks noGrp="1"/>
          </p:cNvSpPr>
          <p:nvPr>
            <p:ph idx="1"/>
          </p:nvPr>
        </p:nvSpPr>
        <p:spPr>
          <a:xfrm>
            <a:off x="747183" y="1380140"/>
            <a:ext cx="11444817" cy="5619750"/>
          </a:xfrm>
        </p:spPr>
        <p:txBody>
          <a:bodyPr/>
          <a:lstStyle/>
          <a:p>
            <a:pPr>
              <a:buFont typeface="Arial" charset="0"/>
              <a:buChar char="•"/>
            </a:pPr>
            <a:endParaRPr lang="en-US" altLang="zh-CN" sz="4400" dirty="0">
              <a:solidFill>
                <a:schemeClr val="tx2"/>
              </a:solidFill>
              <a:latin typeface="+mj-lt"/>
              <a:ea typeface="+mj-ea"/>
              <a:cs typeface="+mj-cs"/>
            </a:endParaRPr>
          </a:p>
          <a:p>
            <a:r>
              <a:rPr lang="en-US" altLang="zh-CN" sz="2400" b="0" dirty="0"/>
              <a:t>【</a:t>
            </a:r>
            <a:r>
              <a:rPr lang="zh-CN" altLang="en-US" sz="2400" b="0" dirty="0"/>
              <a:t>示例</a:t>
            </a:r>
            <a:r>
              <a:rPr lang="en-US" altLang="zh-CN" sz="2400" b="0" dirty="0"/>
              <a:t>】</a:t>
            </a:r>
            <a:r>
              <a:rPr lang="zh-CN" altLang="en-US" sz="2400" b="0" dirty="0"/>
              <a:t>甲公司是一家批发企业。公司</a:t>
            </a:r>
            <a:r>
              <a:rPr lang="en-US" altLang="zh-CN" sz="2400" b="0" dirty="0"/>
              <a:t>2×19</a:t>
            </a:r>
            <a:r>
              <a:rPr lang="zh-CN" altLang="en-US" sz="2400" b="0" dirty="0"/>
              <a:t>年采用托收承付结算方式从外埠购进的商品已于</a:t>
            </a:r>
            <a:r>
              <a:rPr lang="en-US" altLang="zh-CN" sz="2400" b="0" dirty="0"/>
              <a:t>11</a:t>
            </a:r>
            <a:r>
              <a:rPr lang="zh-CN" altLang="en-US" sz="2400" b="0" dirty="0"/>
              <a:t>月</a:t>
            </a:r>
            <a:r>
              <a:rPr lang="en-US" altLang="zh-CN" sz="2400" b="0" dirty="0"/>
              <a:t>25</a:t>
            </a:r>
            <a:r>
              <a:rPr lang="zh-CN" altLang="en-US" sz="2400" b="0" dirty="0"/>
              <a:t>日收到并验收入库。</a:t>
            </a:r>
            <a:r>
              <a:rPr lang="en-US" altLang="zh-CN" sz="2400" b="0" dirty="0"/>
              <a:t>12</a:t>
            </a:r>
            <a:r>
              <a:rPr lang="zh-CN" altLang="en-US" sz="2400" b="0" dirty="0"/>
              <a:t>月</a:t>
            </a:r>
            <a:r>
              <a:rPr lang="en-US" altLang="zh-CN" sz="2400" b="0" dirty="0"/>
              <a:t>7</a:t>
            </a:r>
            <a:r>
              <a:rPr lang="zh-CN" altLang="en-US" sz="2400" b="0" dirty="0"/>
              <a:t>日结算凭证到达，货款共计</a:t>
            </a:r>
            <a:r>
              <a:rPr lang="en-US" altLang="zh-CN" sz="2400" b="0" dirty="0"/>
              <a:t>135 600</a:t>
            </a:r>
            <a:r>
              <a:rPr lang="zh-CN" altLang="en-US" sz="2400" b="0" dirty="0"/>
              <a:t>元</a:t>
            </a:r>
            <a:r>
              <a:rPr lang="en-US" altLang="zh-CN" sz="2400" b="0" dirty="0"/>
              <a:t>(</a:t>
            </a:r>
            <a:r>
              <a:rPr lang="zh-CN" altLang="en-US" sz="2400" b="0" dirty="0"/>
              <a:t>其中</a:t>
            </a:r>
            <a:r>
              <a:rPr lang="en-US" altLang="zh-CN" sz="2400" b="0" dirty="0"/>
              <a:t>,</a:t>
            </a:r>
            <a:r>
              <a:rPr lang="zh-CN" altLang="en-US" sz="2400" b="0" dirty="0"/>
              <a:t>商品价款</a:t>
            </a:r>
            <a:r>
              <a:rPr lang="en-US" altLang="zh-CN" sz="2400" b="0" dirty="0"/>
              <a:t>120 000</a:t>
            </a:r>
            <a:r>
              <a:rPr lang="zh-CN" altLang="en-US" sz="2400" b="0" dirty="0"/>
              <a:t>元，增值税</a:t>
            </a:r>
            <a:r>
              <a:rPr lang="en-US" altLang="zh-CN" sz="2400" b="0" dirty="0"/>
              <a:t>15 600</a:t>
            </a:r>
            <a:r>
              <a:rPr lang="zh-CN" altLang="en-US" sz="2400" b="0" dirty="0"/>
              <a:t>元</a:t>
            </a:r>
            <a:r>
              <a:rPr lang="en-US" altLang="zh-CN" sz="2400" b="0" dirty="0"/>
              <a:t>)</a:t>
            </a:r>
            <a:r>
              <a:rPr lang="zh-CN" altLang="en-US" sz="2400" b="0" dirty="0"/>
              <a:t>，购进商品支付进货运费</a:t>
            </a:r>
            <a:r>
              <a:rPr lang="en-US" altLang="zh-CN" sz="2400" b="0" dirty="0"/>
              <a:t>2 180</a:t>
            </a:r>
            <a:r>
              <a:rPr lang="zh-CN" altLang="en-US" sz="2400" b="0" dirty="0"/>
              <a:t>元</a:t>
            </a:r>
            <a:r>
              <a:rPr lang="en-US" altLang="zh-CN" sz="2400" b="0" dirty="0"/>
              <a:t>(</a:t>
            </a:r>
            <a:r>
              <a:rPr lang="zh-CN" altLang="en-US" sz="2400" b="0" dirty="0"/>
              <a:t>其中价款</a:t>
            </a:r>
            <a:r>
              <a:rPr lang="en-US" altLang="zh-CN" sz="2400" b="0" dirty="0"/>
              <a:t>2 000</a:t>
            </a:r>
            <a:r>
              <a:rPr lang="zh-CN" altLang="en-US" sz="2400" b="0" dirty="0"/>
              <a:t>元，增值税</a:t>
            </a:r>
            <a:r>
              <a:rPr lang="en-US" altLang="zh-CN" sz="2400" b="0" dirty="0"/>
              <a:t>180</a:t>
            </a:r>
            <a:r>
              <a:rPr lang="zh-CN" altLang="en-US" sz="2400" b="0" dirty="0"/>
              <a:t>元</a:t>
            </a:r>
            <a:r>
              <a:rPr lang="en-US" altLang="zh-CN" sz="2400" b="0" dirty="0"/>
              <a:t>)</a:t>
            </a:r>
            <a:r>
              <a:rPr lang="zh-CN" altLang="en-US" sz="2400" b="0" dirty="0"/>
              <a:t>、装卸费和运输保险费</a:t>
            </a:r>
            <a:r>
              <a:rPr lang="en-US" altLang="zh-CN" sz="2400" b="0" dirty="0"/>
              <a:t>1 272</a:t>
            </a:r>
            <a:r>
              <a:rPr lang="zh-CN" altLang="en-US" sz="2400" b="0" dirty="0"/>
              <a:t>元（其中价款</a:t>
            </a:r>
            <a:r>
              <a:rPr lang="en-US" altLang="zh-CN" sz="2400" b="0" dirty="0"/>
              <a:t>1200</a:t>
            </a:r>
            <a:r>
              <a:rPr lang="zh-CN" altLang="en-US" sz="2400" b="0" dirty="0"/>
              <a:t>元，增值税</a:t>
            </a:r>
            <a:r>
              <a:rPr lang="en-US" altLang="zh-CN" sz="2400" b="0" dirty="0"/>
              <a:t>72</a:t>
            </a:r>
            <a:r>
              <a:rPr lang="zh-CN" altLang="en-US" sz="2400" b="0" dirty="0"/>
              <a:t>元）。</a:t>
            </a:r>
          </a:p>
          <a:p>
            <a:r>
              <a:rPr lang="en-US" altLang="zh-CN" sz="2400" b="0" dirty="0"/>
              <a:t>2×19</a:t>
            </a:r>
            <a:r>
              <a:rPr lang="zh-CN" altLang="en-US" sz="2400" b="0" dirty="0"/>
              <a:t>年</a:t>
            </a:r>
            <a:r>
              <a:rPr lang="en-US" altLang="zh-CN" sz="2400" b="0" dirty="0"/>
              <a:t>11</a:t>
            </a:r>
            <a:r>
              <a:rPr lang="zh-CN" altLang="en-US" sz="2400" b="0" dirty="0"/>
              <a:t>月</a:t>
            </a:r>
            <a:r>
              <a:rPr lang="en-US" altLang="zh-CN" sz="2400" b="0" dirty="0"/>
              <a:t>30</a:t>
            </a:r>
            <a:r>
              <a:rPr lang="zh-CN" altLang="en-US" sz="2400" b="0" dirty="0"/>
              <a:t>日结算凭证未到，估计的商品成本为</a:t>
            </a:r>
            <a:r>
              <a:rPr lang="en-US" altLang="zh-CN" sz="2400" b="0" dirty="0"/>
              <a:t>123 200</a:t>
            </a:r>
            <a:r>
              <a:rPr lang="zh-CN" altLang="en-US" sz="2400" b="0" dirty="0"/>
              <a:t>元。</a:t>
            </a:r>
            <a:endParaRPr lang="en-US" altLang="zh-CN" sz="2400" b="0" dirty="0"/>
          </a:p>
          <a:p>
            <a:r>
              <a:rPr lang="en-US" altLang="zh-CN" sz="2400" b="0" dirty="0"/>
              <a:t>2×20</a:t>
            </a:r>
            <a:r>
              <a:rPr lang="zh-CN" altLang="en-US" sz="2400" b="0" dirty="0"/>
              <a:t>年</a:t>
            </a:r>
            <a:r>
              <a:rPr lang="en-US" altLang="zh-CN" sz="2400" b="0" dirty="0"/>
              <a:t>1</a:t>
            </a:r>
            <a:r>
              <a:rPr lang="zh-CN" altLang="en-US" sz="2400" b="0" dirty="0"/>
              <a:t>月</a:t>
            </a:r>
            <a:r>
              <a:rPr lang="en-US" altLang="zh-CN" sz="2400" b="0" dirty="0"/>
              <a:t>15</a:t>
            </a:r>
            <a:r>
              <a:rPr lang="zh-CN" altLang="en-US" sz="2400" b="0" dirty="0"/>
              <a:t>日，甲公司出售了该批商品，售价为</a:t>
            </a:r>
            <a:r>
              <a:rPr lang="en-US" altLang="zh-CN" sz="2400" b="0" dirty="0"/>
              <a:t>140 000</a:t>
            </a:r>
            <a:r>
              <a:rPr lang="zh-CN" altLang="en-US" sz="2400" b="0" dirty="0"/>
              <a:t>元，增值税</a:t>
            </a:r>
            <a:r>
              <a:rPr lang="en-US" altLang="zh-CN" sz="2400" b="0" dirty="0"/>
              <a:t>18 200</a:t>
            </a:r>
            <a:r>
              <a:rPr lang="zh-CN" altLang="en-US" sz="2400" b="0" dirty="0"/>
              <a:t>元。</a:t>
            </a:r>
            <a:endParaRPr lang="en-US" altLang="zh-CN" sz="2400" b="0" dirty="0"/>
          </a:p>
          <a:p>
            <a:r>
              <a:rPr lang="zh-CN" altLang="en-US" sz="2400" b="0" dirty="0"/>
              <a:t>甲公司应如何进行账务处理？</a:t>
            </a:r>
          </a:p>
        </p:txBody>
      </p:sp>
    </p:spTree>
    <p:extLst>
      <p:ext uri="{BB962C8B-B14F-4D97-AF65-F5344CB8AC3E}">
        <p14:creationId xmlns:p14="http://schemas.microsoft.com/office/powerpoint/2010/main" val="33412170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endParaRPr lang="zh-CN" altLang="en-US"/>
          </a:p>
        </p:txBody>
      </p:sp>
      <p:sp>
        <p:nvSpPr>
          <p:cNvPr id="84995" name="内容占位符 2"/>
          <p:cNvSpPr>
            <a:spLocks noGrp="1"/>
          </p:cNvSpPr>
          <p:nvPr>
            <p:ph idx="1"/>
          </p:nvPr>
        </p:nvSpPr>
        <p:spPr/>
        <p:txBody>
          <a:bodyPr/>
          <a:lstStyle/>
          <a:p>
            <a:endParaRPr lang="en-US" altLang="zh-CN" dirty="0"/>
          </a:p>
          <a:p>
            <a:r>
              <a:rPr lang="en-US" altLang="zh-CN" sz="2400" b="0" dirty="0"/>
              <a:t>11</a:t>
            </a:r>
            <a:r>
              <a:rPr lang="zh-CN" altLang="en-US" sz="2400" b="0" dirty="0"/>
              <a:t>月</a:t>
            </a:r>
            <a:r>
              <a:rPr lang="en-US" altLang="zh-CN" sz="2400" b="0" dirty="0"/>
              <a:t>25</a:t>
            </a:r>
            <a:r>
              <a:rPr lang="zh-CN" altLang="en-US" sz="2400" b="0" dirty="0"/>
              <a:t>日不作账务处理</a:t>
            </a:r>
            <a:endParaRPr lang="en-US" altLang="zh-CN" sz="2400" b="0" dirty="0"/>
          </a:p>
          <a:p>
            <a:r>
              <a:rPr lang="en-US" altLang="zh-CN" sz="2400" b="0" dirty="0"/>
              <a:t>11</a:t>
            </a:r>
            <a:r>
              <a:rPr lang="zh-CN" altLang="en-US" sz="2400" b="0" dirty="0"/>
              <a:t>月</a:t>
            </a:r>
            <a:r>
              <a:rPr lang="en-US" altLang="zh-CN" sz="2400" b="0" dirty="0"/>
              <a:t>30</a:t>
            </a:r>
            <a:r>
              <a:rPr lang="zh-CN" altLang="en-US" sz="2400" b="0" dirty="0"/>
              <a:t>日结算凭证未到，估计的商品成本为</a:t>
            </a:r>
            <a:r>
              <a:rPr lang="en-US" altLang="zh-CN" sz="2400" b="0" dirty="0"/>
              <a:t>123 200</a:t>
            </a:r>
            <a:r>
              <a:rPr lang="zh-CN" altLang="en-US" sz="2400" b="0" dirty="0"/>
              <a:t>元。</a:t>
            </a:r>
          </a:p>
          <a:p>
            <a:pPr marL="400050" lvl="1" indent="0">
              <a:buNone/>
            </a:pPr>
            <a:r>
              <a:rPr lang="zh-CN" altLang="en-US" sz="2400" b="0" dirty="0">
                <a:latin typeface="黑体" panose="02010609060101010101" pitchFamily="49" charset="-122"/>
                <a:ea typeface="黑体" panose="02010609060101010101" pitchFamily="49" charset="-122"/>
                <a:cs typeface="+mn-cs"/>
              </a:rPr>
              <a:t>借：库存商品  </a:t>
            </a:r>
            <a:r>
              <a:rPr lang="en-US" altLang="zh-CN" sz="2400" b="0" dirty="0">
                <a:latin typeface="黑体" panose="02010609060101010101" pitchFamily="49" charset="-122"/>
                <a:ea typeface="黑体" panose="02010609060101010101" pitchFamily="49" charset="-122"/>
                <a:cs typeface="+mn-cs"/>
              </a:rPr>
              <a:t>123 200</a:t>
            </a:r>
          </a:p>
          <a:p>
            <a:pPr marL="400050" lvl="1" indent="0">
              <a:buNone/>
            </a:pPr>
            <a:r>
              <a:rPr lang="zh-CN" altLang="en-US" sz="2400" b="0" dirty="0">
                <a:latin typeface="黑体" panose="02010609060101010101" pitchFamily="49" charset="-122"/>
                <a:ea typeface="黑体" panose="02010609060101010101" pitchFamily="49" charset="-122"/>
                <a:cs typeface="+mn-cs"/>
              </a:rPr>
              <a:t>    贷：应付账款   </a:t>
            </a:r>
            <a:r>
              <a:rPr lang="en-US" altLang="zh-CN" sz="2400" b="0" dirty="0">
                <a:latin typeface="黑体" panose="02010609060101010101" pitchFamily="49" charset="-122"/>
                <a:ea typeface="黑体" panose="02010609060101010101" pitchFamily="49" charset="-122"/>
                <a:cs typeface="+mn-cs"/>
              </a:rPr>
              <a:t>123 200</a:t>
            </a:r>
          </a:p>
          <a:p>
            <a:r>
              <a:rPr lang="en-US" altLang="zh-CN" sz="2400" b="0" dirty="0"/>
              <a:t>12</a:t>
            </a:r>
            <a:r>
              <a:rPr lang="zh-CN" altLang="en-US" sz="2400" b="0" dirty="0"/>
              <a:t>月</a:t>
            </a:r>
            <a:r>
              <a:rPr lang="en-US" altLang="zh-CN" sz="2400" b="0" dirty="0"/>
              <a:t>1</a:t>
            </a:r>
            <a:r>
              <a:rPr lang="zh-CN" altLang="en-US" sz="2400" b="0" dirty="0"/>
              <a:t>日将估价入账的商品以红字冲回：</a:t>
            </a:r>
          </a:p>
          <a:p>
            <a:pPr marL="400050" lvl="1" indent="0">
              <a:buNone/>
            </a:pPr>
            <a:r>
              <a:rPr lang="zh-CN" altLang="en-US" sz="2400" b="0" dirty="0">
                <a:solidFill>
                  <a:srgbClr val="C00000"/>
                </a:solidFill>
                <a:latin typeface="黑体" panose="02010609060101010101" pitchFamily="49" charset="-122"/>
                <a:ea typeface="黑体" panose="02010609060101010101" pitchFamily="49" charset="-122"/>
                <a:cs typeface="+mn-cs"/>
              </a:rPr>
              <a:t>借：库存商品</a:t>
            </a:r>
            <a:r>
              <a:rPr lang="en-US" altLang="zh-CN" sz="2400" b="0" dirty="0">
                <a:solidFill>
                  <a:srgbClr val="C00000"/>
                </a:solidFill>
                <a:latin typeface="黑体" panose="02010609060101010101" pitchFamily="49" charset="-122"/>
                <a:ea typeface="黑体" panose="02010609060101010101" pitchFamily="49" charset="-122"/>
                <a:cs typeface="+mn-cs"/>
              </a:rPr>
              <a:t>123 200</a:t>
            </a:r>
          </a:p>
          <a:p>
            <a:pPr marL="400050" lvl="1" indent="0">
              <a:buNone/>
            </a:pPr>
            <a:r>
              <a:rPr lang="zh-CN" altLang="en-US" sz="2400" b="0" dirty="0">
                <a:solidFill>
                  <a:srgbClr val="C00000"/>
                </a:solidFill>
                <a:latin typeface="黑体" panose="02010609060101010101" pitchFamily="49" charset="-122"/>
                <a:ea typeface="黑体" panose="02010609060101010101" pitchFamily="49" charset="-122"/>
                <a:cs typeface="+mn-cs"/>
              </a:rPr>
              <a:t>    贷：应付账款</a:t>
            </a:r>
            <a:r>
              <a:rPr lang="en-US" altLang="zh-CN" sz="2400" b="0" dirty="0">
                <a:solidFill>
                  <a:srgbClr val="C00000"/>
                </a:solidFill>
                <a:latin typeface="黑体" panose="02010609060101010101" pitchFamily="49" charset="-122"/>
                <a:ea typeface="黑体" panose="02010609060101010101" pitchFamily="49" charset="-122"/>
                <a:cs typeface="+mn-cs"/>
              </a:rPr>
              <a:t>123 200</a:t>
            </a:r>
            <a:endParaRPr lang="zh-CN" altLang="en-US" sz="2400" b="0" dirty="0">
              <a:solidFill>
                <a:srgbClr val="C00000"/>
              </a:solidFill>
              <a:latin typeface="黑体" panose="02010609060101010101" pitchFamily="49" charset="-122"/>
              <a:ea typeface="黑体" panose="02010609060101010101" pitchFamily="49" charset="-122"/>
              <a:cs typeface="+mn-cs"/>
            </a:endParaRPr>
          </a:p>
        </p:txBody>
      </p:sp>
    </p:spTree>
    <p:extLst>
      <p:ext uri="{BB962C8B-B14F-4D97-AF65-F5344CB8AC3E}">
        <p14:creationId xmlns:p14="http://schemas.microsoft.com/office/powerpoint/2010/main" val="12420949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endParaRPr lang="zh-CN" altLang="en-US"/>
          </a:p>
        </p:txBody>
      </p:sp>
      <p:sp>
        <p:nvSpPr>
          <p:cNvPr id="86019" name="内容占位符 2"/>
          <p:cNvSpPr>
            <a:spLocks noGrp="1"/>
          </p:cNvSpPr>
          <p:nvPr>
            <p:ph idx="1"/>
          </p:nvPr>
        </p:nvSpPr>
        <p:spPr/>
        <p:txBody>
          <a:bodyPr/>
          <a:lstStyle/>
          <a:p>
            <a:r>
              <a:rPr lang="en-US" altLang="zh-CN" sz="2400" b="0" dirty="0"/>
              <a:t>12</a:t>
            </a:r>
            <a:r>
              <a:rPr lang="zh-CN" altLang="en-US" sz="2400" b="0" dirty="0"/>
              <a:t>月</a:t>
            </a:r>
            <a:r>
              <a:rPr lang="en-US" altLang="zh-CN" sz="2400" b="0" dirty="0"/>
              <a:t>7</a:t>
            </a:r>
            <a:r>
              <a:rPr lang="zh-CN" altLang="en-US" sz="2400" b="0" dirty="0"/>
              <a:t>日结算凭证到达，办理付款手续：</a:t>
            </a:r>
          </a:p>
          <a:p>
            <a:pPr marL="400050" lvl="1" indent="0">
              <a:buNone/>
            </a:pPr>
            <a:r>
              <a:rPr lang="zh-CN" altLang="en-US" sz="2400" b="0" dirty="0">
                <a:latin typeface="黑体" panose="02010609060101010101" pitchFamily="49" charset="-122"/>
                <a:ea typeface="黑体" panose="02010609060101010101" pitchFamily="49" charset="-122"/>
                <a:cs typeface="+mn-cs"/>
              </a:rPr>
              <a:t>商品进价</a:t>
            </a:r>
            <a:r>
              <a:rPr lang="en-US" altLang="zh-CN" sz="2400" b="0" dirty="0">
                <a:latin typeface="黑体" panose="02010609060101010101" pitchFamily="49" charset="-122"/>
                <a:ea typeface="黑体" panose="02010609060101010101" pitchFamily="49" charset="-122"/>
                <a:cs typeface="+mn-cs"/>
              </a:rPr>
              <a:t>=120 000(</a:t>
            </a:r>
            <a:r>
              <a:rPr lang="zh-CN" altLang="en-US" sz="2400" b="0" dirty="0">
                <a:latin typeface="黑体" panose="02010609060101010101" pitchFamily="49" charset="-122"/>
                <a:ea typeface="黑体" panose="02010609060101010101" pitchFamily="49" charset="-122"/>
                <a:cs typeface="+mn-cs"/>
              </a:rPr>
              <a:t>元</a:t>
            </a:r>
            <a:r>
              <a:rPr lang="en-US" altLang="zh-CN" sz="2400" b="0" dirty="0">
                <a:latin typeface="黑体" panose="02010609060101010101" pitchFamily="49" charset="-122"/>
                <a:ea typeface="黑体" panose="02010609060101010101" pitchFamily="49" charset="-122"/>
                <a:cs typeface="+mn-cs"/>
              </a:rPr>
              <a:t>)</a:t>
            </a:r>
          </a:p>
          <a:p>
            <a:pPr marL="400050" lvl="1" indent="0">
              <a:buNone/>
            </a:pPr>
            <a:r>
              <a:rPr lang="zh-CN" altLang="en-US" sz="2400" b="0" dirty="0">
                <a:latin typeface="黑体" panose="02010609060101010101" pitchFamily="49" charset="-122"/>
                <a:ea typeface="黑体" panose="02010609060101010101" pitchFamily="49" charset="-122"/>
                <a:cs typeface="+mn-cs"/>
              </a:rPr>
              <a:t>进货运杂费</a:t>
            </a:r>
            <a:r>
              <a:rPr lang="en-US" altLang="zh-CN" sz="2400" b="0" dirty="0">
                <a:latin typeface="黑体" panose="02010609060101010101" pitchFamily="49" charset="-122"/>
                <a:ea typeface="黑体" panose="02010609060101010101" pitchFamily="49" charset="-122"/>
                <a:cs typeface="+mn-cs"/>
              </a:rPr>
              <a:t>=2 000+1 200=3 200(</a:t>
            </a:r>
            <a:r>
              <a:rPr lang="zh-CN" altLang="en-US" sz="2400" b="0" dirty="0">
                <a:latin typeface="黑体" panose="02010609060101010101" pitchFamily="49" charset="-122"/>
                <a:ea typeface="黑体" panose="02010609060101010101" pitchFamily="49" charset="-122"/>
                <a:cs typeface="+mn-cs"/>
              </a:rPr>
              <a:t>元</a:t>
            </a:r>
            <a:r>
              <a:rPr lang="en-US" altLang="zh-CN" sz="2400" b="0" dirty="0">
                <a:latin typeface="黑体" panose="02010609060101010101" pitchFamily="49" charset="-122"/>
                <a:ea typeface="黑体" panose="02010609060101010101" pitchFamily="49" charset="-122"/>
                <a:cs typeface="+mn-cs"/>
              </a:rPr>
              <a:t>)</a:t>
            </a:r>
          </a:p>
          <a:p>
            <a:pPr marL="400050" lvl="1" indent="0">
              <a:buNone/>
            </a:pPr>
            <a:r>
              <a:rPr lang="zh-CN" altLang="en-US" sz="2400" b="0" dirty="0">
                <a:latin typeface="黑体" panose="02010609060101010101" pitchFamily="49" charset="-122"/>
                <a:ea typeface="黑体" panose="02010609060101010101" pitchFamily="49" charset="-122"/>
                <a:cs typeface="+mn-cs"/>
              </a:rPr>
              <a:t>商品成本</a:t>
            </a:r>
            <a:r>
              <a:rPr lang="en-US" altLang="zh-CN" sz="2400" b="0" dirty="0">
                <a:latin typeface="黑体" panose="02010609060101010101" pitchFamily="49" charset="-122"/>
                <a:ea typeface="黑体" panose="02010609060101010101" pitchFamily="49" charset="-122"/>
                <a:cs typeface="+mn-cs"/>
              </a:rPr>
              <a:t>=120 000+3 200=123  200</a:t>
            </a:r>
            <a:r>
              <a:rPr lang="zh-CN" altLang="en-US" sz="2400" b="0" dirty="0">
                <a:latin typeface="黑体" panose="02010609060101010101" pitchFamily="49" charset="-122"/>
                <a:ea typeface="黑体" panose="02010609060101010101" pitchFamily="49" charset="-122"/>
                <a:cs typeface="+mn-cs"/>
              </a:rPr>
              <a:t>（元）</a:t>
            </a:r>
          </a:p>
          <a:p>
            <a:pPr marL="400050" lvl="1" indent="0">
              <a:buNone/>
            </a:pPr>
            <a:r>
              <a:rPr lang="zh-CN" altLang="en-US" sz="2400" b="0" dirty="0">
                <a:latin typeface="黑体" panose="02010609060101010101" pitchFamily="49" charset="-122"/>
                <a:ea typeface="黑体" panose="02010609060101010101" pitchFamily="49" charset="-122"/>
                <a:cs typeface="+mn-cs"/>
              </a:rPr>
              <a:t>进项税额</a:t>
            </a:r>
            <a:r>
              <a:rPr lang="en-US" altLang="zh-CN" sz="2400" b="0" dirty="0">
                <a:latin typeface="黑体" panose="02010609060101010101" pitchFamily="49" charset="-122"/>
                <a:ea typeface="黑体" panose="02010609060101010101" pitchFamily="49" charset="-122"/>
                <a:cs typeface="+mn-cs"/>
              </a:rPr>
              <a:t>=15 600+180+72=15 852(</a:t>
            </a:r>
            <a:r>
              <a:rPr lang="zh-CN" altLang="en-US" sz="2400" b="0" dirty="0">
                <a:latin typeface="黑体" panose="02010609060101010101" pitchFamily="49" charset="-122"/>
                <a:ea typeface="黑体" panose="02010609060101010101" pitchFamily="49" charset="-122"/>
                <a:cs typeface="+mn-cs"/>
              </a:rPr>
              <a:t>元</a:t>
            </a:r>
            <a:r>
              <a:rPr lang="en-US" altLang="zh-CN" sz="2400" b="0" dirty="0">
                <a:latin typeface="黑体" panose="02010609060101010101" pitchFamily="49" charset="-122"/>
                <a:ea typeface="黑体" panose="02010609060101010101" pitchFamily="49" charset="-122"/>
                <a:cs typeface="+mn-cs"/>
              </a:rPr>
              <a:t>)</a:t>
            </a:r>
          </a:p>
          <a:p>
            <a:pPr marL="400050" lvl="1" indent="0">
              <a:buNone/>
            </a:pPr>
            <a:r>
              <a:rPr lang="zh-CN" altLang="en-US" sz="2400" b="0" dirty="0">
                <a:latin typeface="黑体" panose="02010609060101010101" pitchFamily="49" charset="-122"/>
                <a:ea typeface="黑体" panose="02010609060101010101" pitchFamily="49" charset="-122"/>
                <a:cs typeface="+mn-cs"/>
              </a:rPr>
              <a:t>借：库存商品 </a:t>
            </a:r>
            <a:r>
              <a:rPr lang="en-US" altLang="zh-CN" sz="2400" b="0" dirty="0">
                <a:latin typeface="黑体" panose="02010609060101010101" pitchFamily="49" charset="-122"/>
                <a:ea typeface="黑体" panose="02010609060101010101" pitchFamily="49" charset="-122"/>
                <a:cs typeface="+mn-cs"/>
              </a:rPr>
              <a:t>123 200</a:t>
            </a:r>
          </a:p>
          <a:p>
            <a:pPr marL="400050" lvl="1" indent="0">
              <a:buNone/>
            </a:pPr>
            <a:r>
              <a:rPr lang="zh-CN" altLang="en-US" sz="2400" b="0" dirty="0">
                <a:latin typeface="黑体" panose="02010609060101010101" pitchFamily="49" charset="-122"/>
                <a:ea typeface="黑体" panose="02010609060101010101" pitchFamily="49" charset="-122"/>
                <a:cs typeface="+mn-cs"/>
              </a:rPr>
              <a:t>    应交税费</a:t>
            </a:r>
            <a:r>
              <a:rPr lang="en-US" altLang="zh-CN" sz="2400" b="0" dirty="0">
                <a:latin typeface="黑体" panose="02010609060101010101" pitchFamily="49" charset="-122"/>
                <a:ea typeface="黑体" panose="02010609060101010101" pitchFamily="49" charset="-122"/>
                <a:cs typeface="+mn-cs"/>
              </a:rPr>
              <a:t>—</a:t>
            </a:r>
            <a:r>
              <a:rPr lang="zh-CN" altLang="en-US" sz="2400" b="0" dirty="0">
                <a:latin typeface="黑体" panose="02010609060101010101" pitchFamily="49" charset="-122"/>
                <a:ea typeface="黑体" panose="02010609060101010101" pitchFamily="49" charset="-122"/>
                <a:cs typeface="+mn-cs"/>
              </a:rPr>
              <a:t>应交增值税（进项税额） </a:t>
            </a:r>
            <a:r>
              <a:rPr lang="en-US" altLang="zh-CN" sz="2400" b="0" dirty="0">
                <a:latin typeface="黑体" panose="02010609060101010101" pitchFamily="49" charset="-122"/>
                <a:ea typeface="黑体" panose="02010609060101010101" pitchFamily="49" charset="-122"/>
                <a:cs typeface="+mn-cs"/>
              </a:rPr>
              <a:t>15 852</a:t>
            </a:r>
          </a:p>
          <a:p>
            <a:pPr marL="400050" lvl="1" indent="0">
              <a:buNone/>
            </a:pPr>
            <a:r>
              <a:rPr lang="zh-CN" altLang="en-US" sz="2400" b="0" dirty="0">
                <a:latin typeface="黑体" panose="02010609060101010101" pitchFamily="49" charset="-122"/>
                <a:ea typeface="黑体" panose="02010609060101010101" pitchFamily="49" charset="-122"/>
                <a:cs typeface="+mn-cs"/>
              </a:rPr>
              <a:t>    贷：银行存款</a:t>
            </a:r>
            <a:r>
              <a:rPr lang="en-US" altLang="zh-CN" sz="2400" b="0" dirty="0">
                <a:latin typeface="黑体" panose="02010609060101010101" pitchFamily="49" charset="-122"/>
                <a:ea typeface="黑体" panose="02010609060101010101" pitchFamily="49" charset="-122"/>
                <a:cs typeface="+mn-cs"/>
              </a:rPr>
              <a:t>  139 052</a:t>
            </a:r>
          </a:p>
          <a:p>
            <a:endParaRPr lang="zh-CN" altLang="en-US" dirty="0"/>
          </a:p>
        </p:txBody>
      </p:sp>
    </p:spTree>
    <p:extLst>
      <p:ext uri="{BB962C8B-B14F-4D97-AF65-F5344CB8AC3E}">
        <p14:creationId xmlns:p14="http://schemas.microsoft.com/office/powerpoint/2010/main" val="39978117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endParaRPr lang="zh-CN" altLang="en-US"/>
          </a:p>
        </p:txBody>
      </p:sp>
      <p:sp>
        <p:nvSpPr>
          <p:cNvPr id="87043" name="内容占位符 2"/>
          <p:cNvSpPr>
            <a:spLocks noGrp="1"/>
          </p:cNvSpPr>
          <p:nvPr>
            <p:ph idx="1"/>
          </p:nvPr>
        </p:nvSpPr>
        <p:spPr/>
        <p:txBody>
          <a:bodyPr/>
          <a:lstStyle/>
          <a:p>
            <a:pPr eaLnBrk="1" hangingPunct="1"/>
            <a:r>
              <a:rPr lang="en-US" altLang="zh-CN" sz="2400" b="0" dirty="0"/>
              <a:t>2×20</a:t>
            </a:r>
            <a:r>
              <a:rPr lang="zh-CN" altLang="en-US" sz="2400" b="0" dirty="0"/>
              <a:t>年</a:t>
            </a:r>
            <a:r>
              <a:rPr lang="en-US" altLang="zh-CN" sz="2400" b="0" dirty="0"/>
              <a:t>1</a:t>
            </a:r>
            <a:r>
              <a:rPr lang="zh-CN" altLang="en-US" sz="2400" b="0" dirty="0"/>
              <a:t>月</a:t>
            </a:r>
            <a:r>
              <a:rPr lang="en-US" altLang="zh-CN" sz="2400" b="0" dirty="0"/>
              <a:t>15</a:t>
            </a:r>
            <a:r>
              <a:rPr lang="zh-CN" altLang="en-US" sz="2400" b="0" dirty="0"/>
              <a:t>日：</a:t>
            </a:r>
            <a:endParaRPr lang="en-US" altLang="zh-CN" sz="2400" b="0" dirty="0"/>
          </a:p>
          <a:p>
            <a:pPr marL="400050" lvl="1" indent="0" eaLnBrk="1" hangingPunct="1">
              <a:buNone/>
            </a:pPr>
            <a:r>
              <a:rPr lang="zh-CN" altLang="en-US" sz="2400" b="0" dirty="0">
                <a:latin typeface="黑体" panose="02010609060101010101" pitchFamily="49" charset="-122"/>
                <a:ea typeface="黑体" panose="02010609060101010101" pitchFamily="49" charset="-122"/>
                <a:cs typeface="+mn-cs"/>
              </a:rPr>
              <a:t>借：银行存款      </a:t>
            </a:r>
            <a:r>
              <a:rPr lang="en-US" altLang="zh-CN" sz="2400" b="0" dirty="0">
                <a:latin typeface="黑体" panose="02010609060101010101" pitchFamily="49" charset="-122"/>
                <a:ea typeface="黑体" panose="02010609060101010101" pitchFamily="49" charset="-122"/>
                <a:cs typeface="+mn-cs"/>
              </a:rPr>
              <a:t>158 200</a:t>
            </a:r>
          </a:p>
          <a:p>
            <a:pPr marL="400050" lvl="1" indent="0" eaLnBrk="1" hangingPunct="1">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贷：主营业务收入            </a:t>
            </a:r>
            <a:r>
              <a:rPr lang="en-US" altLang="zh-CN" sz="2400" b="0" dirty="0">
                <a:latin typeface="黑体" panose="02010609060101010101" pitchFamily="49" charset="-122"/>
                <a:ea typeface="黑体" panose="02010609060101010101" pitchFamily="49" charset="-122"/>
                <a:cs typeface="+mn-cs"/>
              </a:rPr>
              <a:t>140 000</a:t>
            </a:r>
          </a:p>
          <a:p>
            <a:pPr marL="400050" lvl="1" indent="0" eaLnBrk="1" hangingPunct="1">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应交税费</a:t>
            </a:r>
            <a:r>
              <a:rPr lang="en-US" altLang="zh-CN" sz="2400" b="0" dirty="0">
                <a:latin typeface="黑体" panose="02010609060101010101" pitchFamily="49" charset="-122"/>
                <a:ea typeface="黑体" panose="02010609060101010101" pitchFamily="49" charset="-122"/>
                <a:cs typeface="+mn-cs"/>
              </a:rPr>
              <a:t>——</a:t>
            </a:r>
            <a:r>
              <a:rPr lang="zh-CN" altLang="en-US" sz="2400" b="0" dirty="0">
                <a:latin typeface="黑体" panose="02010609060101010101" pitchFamily="49" charset="-122"/>
                <a:ea typeface="黑体" panose="02010609060101010101" pitchFamily="49" charset="-122"/>
                <a:cs typeface="+mn-cs"/>
              </a:rPr>
              <a:t>应交增值税（销项税额）</a:t>
            </a:r>
            <a:r>
              <a:rPr lang="en-US" altLang="zh-CN" sz="2400" b="0" dirty="0">
                <a:latin typeface="黑体" panose="02010609060101010101" pitchFamily="49" charset="-122"/>
                <a:ea typeface="黑体" panose="02010609060101010101" pitchFamily="49" charset="-122"/>
                <a:cs typeface="+mn-cs"/>
              </a:rPr>
              <a:t>18 200</a:t>
            </a:r>
          </a:p>
          <a:p>
            <a:pPr marL="400050" lvl="1" indent="0" eaLnBrk="1" hangingPunct="1">
              <a:buNone/>
            </a:pPr>
            <a:r>
              <a:rPr lang="zh-CN" altLang="en-US" sz="2400" b="0" dirty="0">
                <a:latin typeface="黑体" panose="02010609060101010101" pitchFamily="49" charset="-122"/>
                <a:ea typeface="黑体" panose="02010609060101010101" pitchFamily="49" charset="-122"/>
                <a:cs typeface="+mn-cs"/>
              </a:rPr>
              <a:t>借：主营业务成本  </a:t>
            </a:r>
            <a:r>
              <a:rPr lang="en-US" altLang="zh-CN" sz="2400" b="0" dirty="0">
                <a:latin typeface="黑体" panose="02010609060101010101" pitchFamily="49" charset="-122"/>
                <a:ea typeface="黑体" panose="02010609060101010101" pitchFamily="49" charset="-122"/>
                <a:cs typeface="+mn-cs"/>
              </a:rPr>
              <a:t>123 200</a:t>
            </a:r>
          </a:p>
          <a:p>
            <a:pPr marL="400050" lvl="1" indent="0" eaLnBrk="1" hangingPunct="1">
              <a:buNone/>
            </a:pPr>
            <a:r>
              <a:rPr lang="en-US" altLang="zh-CN" sz="2400" b="0" dirty="0">
                <a:latin typeface="黑体" panose="02010609060101010101" pitchFamily="49" charset="-122"/>
                <a:ea typeface="黑体" panose="02010609060101010101" pitchFamily="49" charset="-122"/>
                <a:cs typeface="+mn-cs"/>
              </a:rPr>
              <a:t>    </a:t>
            </a:r>
            <a:r>
              <a:rPr lang="zh-CN" altLang="en-US" sz="2400" b="0" dirty="0">
                <a:latin typeface="黑体" panose="02010609060101010101" pitchFamily="49" charset="-122"/>
                <a:ea typeface="黑体" panose="02010609060101010101" pitchFamily="49" charset="-122"/>
                <a:cs typeface="+mn-cs"/>
              </a:rPr>
              <a:t>贷：库存商品       </a:t>
            </a:r>
            <a:r>
              <a:rPr lang="en-US" altLang="zh-CN" sz="2400" b="0" dirty="0">
                <a:latin typeface="黑体" panose="02010609060101010101" pitchFamily="49" charset="-122"/>
                <a:ea typeface="黑体" panose="02010609060101010101" pitchFamily="49" charset="-122"/>
                <a:cs typeface="+mn-cs"/>
              </a:rPr>
              <a:t>123 200</a:t>
            </a:r>
          </a:p>
          <a:p>
            <a:endParaRPr lang="zh-CN" altLang="en-US" dirty="0"/>
          </a:p>
        </p:txBody>
      </p:sp>
    </p:spTree>
    <p:extLst>
      <p:ext uri="{BB962C8B-B14F-4D97-AF65-F5344CB8AC3E}">
        <p14:creationId xmlns:p14="http://schemas.microsoft.com/office/powerpoint/2010/main" val="29739929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
          <p:cNvGrpSpPr>
            <a:grpSpLocks/>
          </p:cNvGrpSpPr>
          <p:nvPr/>
        </p:nvGrpSpPr>
        <p:grpSpPr bwMode="auto">
          <a:xfrm>
            <a:off x="766745" y="2372645"/>
            <a:ext cx="10797117" cy="4408488"/>
            <a:chOff x="312" y="1138"/>
            <a:chExt cx="5101" cy="2777"/>
          </a:xfrm>
        </p:grpSpPr>
        <p:sp>
          <p:nvSpPr>
            <p:cNvPr id="423938" name="Text Box 2"/>
            <p:cNvSpPr txBox="1">
              <a:spLocks noChangeArrowheads="1"/>
            </p:cNvSpPr>
            <p:nvPr/>
          </p:nvSpPr>
          <p:spPr bwMode="auto">
            <a:xfrm>
              <a:off x="312" y="2073"/>
              <a:ext cx="352" cy="271"/>
            </a:xfrm>
            <a:prstGeom prst="rect">
              <a:avLst/>
            </a:prstGeom>
            <a:solidFill>
              <a:srgbClr val="FFFFCC"/>
            </a:solidFill>
            <a:ln w="9525">
              <a:noFill/>
              <a:miter lim="800000"/>
              <a:headEnd/>
              <a:tailEnd/>
            </a:ln>
            <a:effectLst>
              <a:outerShdw dist="107763" dir="18900000" algn="ctr" rotWithShape="0">
                <a:schemeClr val="bg2"/>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概述</a:t>
              </a:r>
              <a:endParaRPr kumimoji="1" lang="zh-CN" altLang="en-US" sz="2200">
                <a:solidFill>
                  <a:srgbClr val="0000FF"/>
                </a:solidFill>
                <a:effectLst/>
                <a:latin typeface="Times New Roman" pitchFamily="18" charset="0"/>
                <a:ea typeface="宋体" pitchFamily="2" charset="-122"/>
              </a:endParaRPr>
            </a:p>
          </p:txBody>
        </p:sp>
        <p:sp>
          <p:nvSpPr>
            <p:cNvPr id="423939" name="Text Box 3"/>
            <p:cNvSpPr txBox="1">
              <a:spLocks noChangeArrowheads="1"/>
            </p:cNvSpPr>
            <p:nvPr/>
          </p:nvSpPr>
          <p:spPr bwMode="auto">
            <a:xfrm>
              <a:off x="951" y="1182"/>
              <a:ext cx="967" cy="269"/>
            </a:xfrm>
            <a:prstGeom prst="rect">
              <a:avLst/>
            </a:prstGeom>
            <a:solidFill>
              <a:srgbClr val="FFFFCC"/>
            </a:solidFill>
            <a:ln w="9525">
              <a:noFill/>
              <a:miter lim="800000"/>
              <a:headEnd/>
              <a:tailEnd/>
            </a:ln>
            <a:effectLst>
              <a:outerShdw dist="107763" dir="18900000" algn="ctr" rotWithShape="0">
                <a:schemeClr val="bg2"/>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适用范围</a:t>
              </a:r>
            </a:p>
          </p:txBody>
        </p:sp>
        <p:sp>
          <p:nvSpPr>
            <p:cNvPr id="423940" name="Text Box 4"/>
            <p:cNvSpPr txBox="1">
              <a:spLocks noChangeArrowheads="1"/>
            </p:cNvSpPr>
            <p:nvPr/>
          </p:nvSpPr>
          <p:spPr bwMode="auto">
            <a:xfrm>
              <a:off x="911" y="2013"/>
              <a:ext cx="967" cy="271"/>
            </a:xfrm>
            <a:prstGeom prst="rect">
              <a:avLst/>
            </a:prstGeom>
            <a:solidFill>
              <a:srgbClr val="FFFFCC"/>
            </a:solidFill>
            <a:ln w="9525">
              <a:noFill/>
              <a:miter lim="800000"/>
              <a:headEnd/>
              <a:tailEnd/>
            </a:ln>
            <a:effectLst>
              <a:outerShdw dist="107763" dir="18900000" algn="ctr" rotWithShape="0">
                <a:schemeClr val="bg2"/>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业务特点</a:t>
              </a:r>
            </a:p>
          </p:txBody>
        </p:sp>
        <p:sp>
          <p:nvSpPr>
            <p:cNvPr id="423941" name="Text Box 5"/>
            <p:cNvSpPr txBox="1">
              <a:spLocks noChangeArrowheads="1"/>
            </p:cNvSpPr>
            <p:nvPr/>
          </p:nvSpPr>
          <p:spPr bwMode="auto">
            <a:xfrm>
              <a:off x="911" y="3233"/>
              <a:ext cx="967" cy="269"/>
            </a:xfrm>
            <a:prstGeom prst="rect">
              <a:avLst/>
            </a:prstGeom>
            <a:solidFill>
              <a:srgbClr val="FFFFCC"/>
            </a:solidFill>
            <a:ln w="9525">
              <a:noFill/>
              <a:miter lim="800000"/>
              <a:headEnd/>
              <a:tailEnd/>
            </a:ln>
            <a:effectLst>
              <a:outerShdw dist="107763" dir="18900000" algn="ctr" rotWithShape="0">
                <a:schemeClr val="bg2"/>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核算特点</a:t>
              </a:r>
            </a:p>
          </p:txBody>
        </p:sp>
        <p:sp>
          <p:nvSpPr>
            <p:cNvPr id="423942" name="AutoShape 6"/>
            <p:cNvSpPr>
              <a:spLocks/>
            </p:cNvSpPr>
            <p:nvPr/>
          </p:nvSpPr>
          <p:spPr bwMode="auto">
            <a:xfrm>
              <a:off x="723" y="1400"/>
              <a:ext cx="176" cy="1881"/>
            </a:xfrm>
            <a:prstGeom prst="leftBrace">
              <a:avLst>
                <a:gd name="adj1" fmla="val 89063"/>
                <a:gd name="adj2" fmla="val 50000"/>
              </a:avLst>
            </a:prstGeom>
            <a:noFill/>
            <a:ln w="38100">
              <a:solidFill>
                <a:schemeClr val="tx2"/>
              </a:solidFill>
              <a:round/>
              <a:headEnd/>
              <a:tailEnd/>
            </a:ln>
            <a:effectLst/>
          </p:spPr>
          <p:txBody>
            <a:bodyPr wrap="none" anchor="ctr"/>
            <a:lstStyle/>
            <a:p>
              <a:pPr>
                <a:defRPr/>
              </a:pPr>
              <a:endParaRPr lang="zh-CN" altLang="en-US">
                <a:ea typeface="宋体" pitchFamily="2" charset="-122"/>
              </a:endParaRPr>
            </a:p>
          </p:txBody>
        </p:sp>
        <p:sp>
          <p:nvSpPr>
            <p:cNvPr id="423943" name="Line 7"/>
            <p:cNvSpPr>
              <a:spLocks noChangeShapeType="1"/>
            </p:cNvSpPr>
            <p:nvPr/>
          </p:nvSpPr>
          <p:spPr bwMode="auto">
            <a:xfrm>
              <a:off x="1913" y="1313"/>
              <a:ext cx="580" cy="0"/>
            </a:xfrm>
            <a:prstGeom prst="line">
              <a:avLst/>
            </a:prstGeom>
            <a:noFill/>
            <a:ln w="28575">
              <a:solidFill>
                <a:schemeClr val="tx2"/>
              </a:solidFill>
              <a:round/>
              <a:headEnd/>
              <a:tailEnd type="triangle" w="med" len="med"/>
            </a:ln>
            <a:effectLst/>
          </p:spPr>
          <p:txBody>
            <a:bodyPr wrap="none" anchor="ctr"/>
            <a:lstStyle/>
            <a:p>
              <a:pPr>
                <a:defRPr/>
              </a:pPr>
              <a:endParaRPr lang="zh-CN" altLang="en-US">
                <a:ea typeface="宋体" pitchFamily="2" charset="-122"/>
              </a:endParaRPr>
            </a:p>
          </p:txBody>
        </p:sp>
        <p:sp>
          <p:nvSpPr>
            <p:cNvPr id="423944" name="Text Box 8"/>
            <p:cNvSpPr txBox="1">
              <a:spLocks noChangeArrowheads="1"/>
            </p:cNvSpPr>
            <p:nvPr/>
          </p:nvSpPr>
          <p:spPr bwMode="auto">
            <a:xfrm>
              <a:off x="2493" y="1138"/>
              <a:ext cx="1406" cy="269"/>
            </a:xfrm>
            <a:prstGeom prst="rect">
              <a:avLst/>
            </a:prstGeom>
            <a:solidFill>
              <a:srgbClr val="FFFFCC"/>
            </a:solidFill>
            <a:ln w="9525">
              <a:noFill/>
              <a:miter lim="800000"/>
              <a:headEnd/>
              <a:tailEnd/>
            </a:ln>
            <a:effectLst>
              <a:outerShdw dist="107763" dir="18900000" algn="ctr" rotWithShape="0">
                <a:schemeClr val="bg2"/>
              </a:outerShdw>
            </a:effectLst>
          </p:spPr>
          <p:txBody>
            <a:bodyPr>
              <a:spAutoFit/>
            </a:bodyPr>
            <a:lstStyle/>
            <a:p>
              <a:pPr algn="l" eaLnBrk="1" hangingPunct="1">
                <a:spcBef>
                  <a:spcPct val="50000"/>
                </a:spcBef>
                <a:defRPr/>
              </a:pPr>
              <a:r>
                <a:rPr kumimoji="1" lang="zh-CN" altLang="en-US" sz="2200" b="1">
                  <a:solidFill>
                    <a:srgbClr val="0000FF"/>
                  </a:solidFill>
                  <a:effectLst/>
                  <a:latin typeface="Times New Roman" pitchFamily="18" charset="0"/>
                  <a:ea typeface="宋体" pitchFamily="2" charset="-122"/>
                </a:rPr>
                <a:t>商业零售企业</a:t>
              </a:r>
            </a:p>
          </p:txBody>
        </p:sp>
        <p:sp>
          <p:nvSpPr>
            <p:cNvPr id="423945" name="Text Box 9"/>
            <p:cNvSpPr txBox="1">
              <a:spLocks noChangeArrowheads="1"/>
            </p:cNvSpPr>
            <p:nvPr/>
          </p:nvSpPr>
          <p:spPr bwMode="auto">
            <a:xfrm>
              <a:off x="2118" y="1572"/>
              <a:ext cx="3295" cy="1089"/>
            </a:xfrm>
            <a:prstGeom prst="rect">
              <a:avLst/>
            </a:prstGeom>
            <a:solidFill>
              <a:srgbClr val="FFFFCC"/>
            </a:solidFill>
            <a:ln w="9525">
              <a:noFill/>
              <a:miter lim="800000"/>
              <a:headEnd/>
              <a:tailEnd/>
            </a:ln>
            <a:effectLst>
              <a:outerShdw dist="107763" dir="18900000" algn="ctr" rotWithShape="0">
                <a:schemeClr val="bg2"/>
              </a:outerShdw>
            </a:effectLst>
          </p:spPr>
          <p:txBody>
            <a:bodyPr>
              <a:spAutoFit/>
            </a:bodyPr>
            <a:lstStyle/>
            <a:p>
              <a:pPr algn="l" eaLnBrk="1" hangingPunct="1">
                <a:spcBef>
                  <a:spcPct val="50000"/>
                </a:spcBef>
                <a:buFontTx/>
                <a:buChar char="•"/>
                <a:defRPr/>
              </a:pPr>
              <a:r>
                <a:rPr kumimoji="1" lang="zh-CN" altLang="en-US" sz="2200" b="1" dirty="0">
                  <a:solidFill>
                    <a:srgbClr val="0000FF"/>
                  </a:solidFill>
                  <a:effectLst/>
                  <a:latin typeface="Times New Roman" pitchFamily="18" charset="0"/>
                  <a:ea typeface="宋体" pitchFamily="2" charset="-122"/>
                </a:rPr>
                <a:t>交易次数频繁</a:t>
              </a:r>
            </a:p>
            <a:p>
              <a:pPr algn="l" eaLnBrk="1" hangingPunct="1">
                <a:lnSpc>
                  <a:spcPct val="30000"/>
                </a:lnSpc>
                <a:spcBef>
                  <a:spcPct val="50000"/>
                </a:spcBef>
                <a:buFontTx/>
                <a:buChar char="•"/>
                <a:defRPr/>
              </a:pPr>
              <a:r>
                <a:rPr kumimoji="1" lang="zh-CN" altLang="en-US" sz="2200" b="1" dirty="0">
                  <a:solidFill>
                    <a:srgbClr val="0000FF"/>
                  </a:solidFill>
                  <a:effectLst/>
                  <a:latin typeface="Times New Roman" pitchFamily="18" charset="0"/>
                  <a:ea typeface="宋体" pitchFamily="2" charset="-122"/>
                </a:rPr>
                <a:t>商品品种和规格复杂</a:t>
              </a:r>
            </a:p>
            <a:p>
              <a:pPr algn="l" eaLnBrk="1" hangingPunct="1">
                <a:lnSpc>
                  <a:spcPct val="50000"/>
                </a:lnSpc>
                <a:spcBef>
                  <a:spcPct val="50000"/>
                </a:spcBef>
                <a:buFontTx/>
                <a:buChar char="•"/>
                <a:defRPr/>
              </a:pPr>
              <a:r>
                <a:rPr kumimoji="1" lang="zh-CN" altLang="en-US" sz="2200" b="1" dirty="0">
                  <a:solidFill>
                    <a:srgbClr val="0000FF"/>
                  </a:solidFill>
                  <a:effectLst/>
                  <a:latin typeface="Times New Roman" pitchFamily="18" charset="0"/>
                  <a:ea typeface="宋体" pitchFamily="2" charset="-122"/>
                </a:rPr>
                <a:t>以消费者为服务对象</a:t>
              </a:r>
            </a:p>
            <a:p>
              <a:pPr algn="l" eaLnBrk="1" hangingPunct="1">
                <a:lnSpc>
                  <a:spcPct val="40000"/>
                </a:lnSpc>
                <a:spcBef>
                  <a:spcPct val="50000"/>
                </a:spcBef>
                <a:buFontTx/>
                <a:buChar char="•"/>
                <a:defRPr/>
              </a:pPr>
              <a:r>
                <a:rPr kumimoji="1" lang="zh-CN" altLang="en-US" sz="2200" b="1" dirty="0">
                  <a:solidFill>
                    <a:srgbClr val="0000FF"/>
                  </a:solidFill>
                  <a:effectLst/>
                  <a:latin typeface="Times New Roman" pitchFamily="18" charset="0"/>
                  <a:ea typeface="宋体" pitchFamily="2" charset="-122"/>
                </a:rPr>
                <a:t>库存商品量一般不大</a:t>
              </a:r>
            </a:p>
            <a:p>
              <a:pPr algn="l" eaLnBrk="1" hangingPunct="1">
                <a:lnSpc>
                  <a:spcPct val="60000"/>
                </a:lnSpc>
                <a:spcBef>
                  <a:spcPct val="50000"/>
                </a:spcBef>
                <a:buFontTx/>
                <a:buChar char="•"/>
                <a:defRPr/>
              </a:pPr>
              <a:r>
                <a:rPr kumimoji="1" lang="zh-CN" altLang="en-US" sz="2200" b="1" dirty="0">
                  <a:solidFill>
                    <a:srgbClr val="0000FF"/>
                  </a:solidFill>
                  <a:effectLst/>
                  <a:latin typeface="Times New Roman" pitchFamily="18" charset="0"/>
                  <a:ea typeface="宋体" pitchFamily="2" charset="-122"/>
                </a:rPr>
                <a:t>凡购进的商品都要立即订明售价</a:t>
              </a:r>
            </a:p>
          </p:txBody>
        </p:sp>
        <p:sp>
          <p:nvSpPr>
            <p:cNvPr id="423946" name="AutoShape 10"/>
            <p:cNvSpPr>
              <a:spLocks/>
            </p:cNvSpPr>
            <p:nvPr/>
          </p:nvSpPr>
          <p:spPr bwMode="auto">
            <a:xfrm>
              <a:off x="1902" y="1619"/>
              <a:ext cx="176" cy="1006"/>
            </a:xfrm>
            <a:prstGeom prst="leftBrace">
              <a:avLst>
                <a:gd name="adj1" fmla="val 47633"/>
                <a:gd name="adj2" fmla="val 50000"/>
              </a:avLst>
            </a:prstGeom>
            <a:noFill/>
            <a:ln w="38100">
              <a:solidFill>
                <a:schemeClr val="tx2"/>
              </a:solidFill>
              <a:round/>
              <a:headEnd/>
              <a:tailEnd/>
            </a:ln>
            <a:effectLst/>
          </p:spPr>
          <p:txBody>
            <a:bodyPr wrap="none" anchor="ctr"/>
            <a:lstStyle/>
            <a:p>
              <a:pPr>
                <a:defRPr/>
              </a:pPr>
              <a:endParaRPr lang="zh-CN" altLang="en-US">
                <a:ea typeface="宋体" pitchFamily="2" charset="-122"/>
              </a:endParaRPr>
            </a:p>
          </p:txBody>
        </p:sp>
        <p:sp>
          <p:nvSpPr>
            <p:cNvPr id="423947" name="Text Box 11"/>
            <p:cNvSpPr txBox="1">
              <a:spLocks noChangeArrowheads="1"/>
            </p:cNvSpPr>
            <p:nvPr/>
          </p:nvSpPr>
          <p:spPr bwMode="auto">
            <a:xfrm>
              <a:off x="2126" y="2885"/>
              <a:ext cx="2900" cy="1030"/>
            </a:xfrm>
            <a:prstGeom prst="rect">
              <a:avLst/>
            </a:prstGeom>
            <a:solidFill>
              <a:srgbClr val="FFFFCC"/>
            </a:solidFill>
            <a:ln w="9525">
              <a:noFill/>
              <a:miter lim="800000"/>
              <a:headEnd/>
              <a:tailEnd/>
            </a:ln>
            <a:effectLst>
              <a:outerShdw dist="107763" dir="18900000" algn="ctr" rotWithShape="0">
                <a:schemeClr val="bg2"/>
              </a:outerShdw>
            </a:effectLst>
          </p:spPr>
          <p:txBody>
            <a:bodyPr>
              <a:spAutoFit/>
            </a:bodyPr>
            <a:lstStyle/>
            <a:p>
              <a:pPr algn="l" eaLnBrk="1" hangingPunct="1">
                <a:spcBef>
                  <a:spcPct val="50000"/>
                </a:spcBef>
                <a:buFontTx/>
                <a:buChar char="•"/>
                <a:defRPr/>
              </a:pPr>
              <a:r>
                <a:rPr kumimoji="1" lang="zh-CN" altLang="en-US" sz="2200" b="1">
                  <a:solidFill>
                    <a:srgbClr val="0000FF"/>
                  </a:solidFill>
                  <a:effectLst/>
                  <a:latin typeface="Times New Roman" pitchFamily="18" charset="0"/>
                  <a:ea typeface="宋体" pitchFamily="2" charset="-122"/>
                </a:rPr>
                <a:t>建立实物负责制     </a:t>
              </a:r>
            </a:p>
            <a:p>
              <a:pPr algn="l" eaLnBrk="1" hangingPunct="1">
                <a:lnSpc>
                  <a:spcPct val="40000"/>
                </a:lnSpc>
                <a:spcBef>
                  <a:spcPct val="50000"/>
                </a:spcBef>
                <a:buFontTx/>
                <a:buChar char="•"/>
                <a:defRPr/>
              </a:pPr>
              <a:r>
                <a:rPr kumimoji="1" lang="zh-CN" altLang="en-US" sz="2200" b="1">
                  <a:solidFill>
                    <a:srgbClr val="0000FF"/>
                  </a:solidFill>
                  <a:effectLst/>
                  <a:latin typeface="Times New Roman" pitchFamily="18" charset="0"/>
                  <a:ea typeface="宋体" pitchFamily="2" charset="-122"/>
                </a:rPr>
                <a:t>售价记账，金额控制</a:t>
              </a:r>
            </a:p>
            <a:p>
              <a:pPr algn="l" eaLnBrk="1" hangingPunct="1">
                <a:lnSpc>
                  <a:spcPct val="40000"/>
                </a:lnSpc>
                <a:spcBef>
                  <a:spcPct val="50000"/>
                </a:spcBef>
                <a:buFontTx/>
                <a:buChar char="•"/>
                <a:defRPr/>
              </a:pPr>
              <a:r>
                <a:rPr kumimoji="1" lang="zh-CN" altLang="en-US" sz="2200" b="1">
                  <a:solidFill>
                    <a:srgbClr val="0000FF"/>
                  </a:solidFill>
                  <a:effectLst/>
                  <a:latin typeface="Times New Roman" pitchFamily="18" charset="0"/>
                  <a:ea typeface="宋体" pitchFamily="2" charset="-122"/>
                </a:rPr>
                <a:t>定期实地盘点商品</a:t>
              </a:r>
            </a:p>
            <a:p>
              <a:pPr algn="l" eaLnBrk="1" hangingPunct="1">
                <a:lnSpc>
                  <a:spcPct val="40000"/>
                </a:lnSpc>
                <a:spcBef>
                  <a:spcPct val="50000"/>
                </a:spcBef>
                <a:buFontTx/>
                <a:buChar char="•"/>
                <a:defRPr/>
              </a:pPr>
              <a:r>
                <a:rPr kumimoji="1" lang="zh-CN" altLang="en-US" sz="2200" b="1">
                  <a:solidFill>
                    <a:srgbClr val="0000FF"/>
                  </a:solidFill>
                  <a:effectLst/>
                  <a:latin typeface="Times New Roman" pitchFamily="18" charset="0"/>
                  <a:ea typeface="宋体" pitchFamily="2" charset="-122"/>
                </a:rPr>
                <a:t>实行明码标价制度</a:t>
              </a:r>
            </a:p>
            <a:p>
              <a:pPr algn="l" eaLnBrk="1" hangingPunct="1">
                <a:lnSpc>
                  <a:spcPct val="40000"/>
                </a:lnSpc>
                <a:spcBef>
                  <a:spcPct val="50000"/>
                </a:spcBef>
                <a:buFontTx/>
                <a:buChar char="•"/>
                <a:defRPr/>
              </a:pPr>
              <a:r>
                <a:rPr kumimoji="1" lang="zh-CN" altLang="en-US" sz="2200" b="1">
                  <a:solidFill>
                    <a:srgbClr val="0000FF"/>
                  </a:solidFill>
                  <a:effectLst/>
                  <a:latin typeface="Times New Roman" pitchFamily="18" charset="0"/>
                  <a:ea typeface="宋体" pitchFamily="2" charset="-122"/>
                </a:rPr>
                <a:t>健全进货验收和销货收款制度</a:t>
              </a:r>
            </a:p>
          </p:txBody>
        </p:sp>
        <p:sp>
          <p:nvSpPr>
            <p:cNvPr id="423948" name="AutoShape 12"/>
            <p:cNvSpPr>
              <a:spLocks/>
            </p:cNvSpPr>
            <p:nvPr/>
          </p:nvSpPr>
          <p:spPr bwMode="auto">
            <a:xfrm>
              <a:off x="1902" y="2931"/>
              <a:ext cx="176" cy="918"/>
            </a:xfrm>
            <a:prstGeom prst="leftBrace">
              <a:avLst>
                <a:gd name="adj1" fmla="val 43466"/>
                <a:gd name="adj2" fmla="val 50000"/>
              </a:avLst>
            </a:prstGeom>
            <a:noFill/>
            <a:ln w="38100">
              <a:solidFill>
                <a:schemeClr val="tx2"/>
              </a:solidFill>
              <a:round/>
              <a:headEnd/>
              <a:tailEnd/>
            </a:ln>
            <a:effectLst/>
          </p:spPr>
          <p:txBody>
            <a:bodyPr wrap="none" anchor="ctr"/>
            <a:lstStyle/>
            <a:p>
              <a:pPr>
                <a:defRPr/>
              </a:pPr>
              <a:endParaRPr lang="zh-CN" altLang="en-US">
                <a:ea typeface="宋体" pitchFamily="2" charset="-122"/>
              </a:endParaRPr>
            </a:p>
          </p:txBody>
        </p:sp>
      </p:grpSp>
      <p:sp>
        <p:nvSpPr>
          <p:cNvPr id="88067" name="Text Box 13"/>
          <p:cNvSpPr txBox="1">
            <a:spLocks noChangeArrowheads="1"/>
          </p:cNvSpPr>
          <p:nvPr/>
        </p:nvSpPr>
        <p:spPr bwMode="auto">
          <a:xfrm>
            <a:off x="1582028" y="868965"/>
            <a:ext cx="8039100" cy="769441"/>
          </a:xfrm>
          <a:prstGeom prst="rect">
            <a:avLst/>
          </a:prstGeom>
          <a:noFill/>
          <a:ln w="9525">
            <a:noFill/>
            <a:miter lim="800000"/>
            <a:headEnd/>
            <a:tailEnd/>
          </a:ln>
        </p:spPr>
        <p:txBody>
          <a:bodyPr>
            <a:spAutoFit/>
          </a:bodyPr>
          <a:lstStyle/>
          <a:p>
            <a:pPr algn="l" eaLnBrk="1" hangingPunct="1"/>
            <a:r>
              <a:rPr lang="zh-CN" altLang="en-US" sz="4400" b="1" dirty="0">
                <a:solidFill>
                  <a:schemeClr val="tx2"/>
                </a:solidFill>
                <a:latin typeface="+mj-lt"/>
                <a:ea typeface="+mj-ea"/>
                <a:cs typeface="+mj-cs"/>
              </a:rPr>
              <a:t>三、售价金额核算法</a:t>
            </a:r>
          </a:p>
        </p:txBody>
      </p:sp>
      <p:sp>
        <p:nvSpPr>
          <p:cNvPr id="423950" name="Rectangle 14"/>
          <p:cNvSpPr>
            <a:spLocks noChangeArrowheads="1"/>
          </p:cNvSpPr>
          <p:nvPr/>
        </p:nvSpPr>
        <p:spPr bwMode="auto">
          <a:xfrm>
            <a:off x="1504950" y="1862685"/>
            <a:ext cx="3897221" cy="461665"/>
          </a:xfrm>
          <a:prstGeom prst="rect">
            <a:avLst/>
          </a:prstGeom>
          <a:noFill/>
          <a:ln w="12700">
            <a:noFill/>
            <a:miter lim="800000"/>
            <a:headEnd type="none" w="sm" len="sm"/>
            <a:tailEnd type="none" w="sm" len="sm"/>
          </a:ln>
        </p:spPr>
        <p:txBody>
          <a:bodyPr wrap="none">
            <a:spAutoFit/>
          </a:bodyPr>
          <a:lstStyle/>
          <a:p>
            <a:pPr defTabSz="762000" eaLnBrk="1" hangingPunct="1"/>
            <a:r>
              <a:rPr lang="zh-CN" altLang="en-US" sz="2400" b="1" dirty="0">
                <a:latin typeface="黑体" panose="02010609060101010101" pitchFamily="49" charset="-122"/>
                <a:ea typeface="黑体" panose="02010609060101010101" pitchFamily="49" charset="-122"/>
              </a:rPr>
              <a:t>（一）售价金额核算法概述</a:t>
            </a:r>
          </a:p>
        </p:txBody>
      </p:sp>
    </p:spTree>
    <p:extLst>
      <p:ext uri="{BB962C8B-B14F-4D97-AF65-F5344CB8AC3E}">
        <p14:creationId xmlns:p14="http://schemas.microsoft.com/office/powerpoint/2010/main" val="4100062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39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50" grpId="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4962" name="Rectangle 2"/>
          <p:cNvSpPr>
            <a:spLocks noGrp="1" noChangeArrowheads="1"/>
          </p:cNvSpPr>
          <p:nvPr>
            <p:ph type="body" idx="1"/>
          </p:nvPr>
        </p:nvSpPr>
        <p:spPr>
          <a:xfrm>
            <a:off x="1796321" y="2533705"/>
            <a:ext cx="8570383" cy="3816350"/>
          </a:xfrm>
        </p:spPr>
        <p:txBody>
          <a:bodyPr/>
          <a:lstStyle/>
          <a:p>
            <a:pPr eaLnBrk="1" hangingPunct="1">
              <a:lnSpc>
                <a:spcPct val="150000"/>
              </a:lnSpc>
            </a:pPr>
            <a:r>
              <a:rPr lang="en-US" altLang="zh-CN" sz="2800" dirty="0">
                <a:solidFill>
                  <a:schemeClr val="tx2"/>
                </a:solidFill>
                <a:ea typeface="楷体_GB2312"/>
              </a:rPr>
              <a:t>1</a:t>
            </a:r>
            <a:r>
              <a:rPr lang="zh-CN" altLang="en-US" sz="2800" dirty="0">
                <a:solidFill>
                  <a:schemeClr val="tx2"/>
                </a:solidFill>
                <a:ea typeface="楷体_GB2312"/>
              </a:rPr>
              <a:t>、账户的设置 </a:t>
            </a:r>
          </a:p>
          <a:p>
            <a:pPr marL="0" indent="0" eaLnBrk="1" hangingPunct="1">
              <a:lnSpc>
                <a:spcPct val="150000"/>
              </a:lnSpc>
              <a:buClr>
                <a:srgbClr val="00CC00"/>
              </a:buClr>
              <a:buNone/>
            </a:pPr>
            <a:r>
              <a:rPr lang="zh-CN" altLang="en-US" dirty="0"/>
              <a:t> </a:t>
            </a:r>
            <a:r>
              <a:rPr lang="zh-CN" altLang="en-US" sz="2400" dirty="0"/>
              <a:t>“在途物资”账户</a:t>
            </a:r>
          </a:p>
          <a:p>
            <a:pPr marL="0" indent="0" eaLnBrk="1" hangingPunct="1">
              <a:lnSpc>
                <a:spcPct val="150000"/>
              </a:lnSpc>
              <a:buClr>
                <a:srgbClr val="00CC00"/>
              </a:buClr>
              <a:buNone/>
            </a:pPr>
            <a:r>
              <a:rPr lang="zh-CN" altLang="en-US" sz="2400" dirty="0"/>
              <a:t> “库存商品” 账户（含税售价）</a:t>
            </a:r>
          </a:p>
          <a:p>
            <a:pPr marL="0" indent="0" eaLnBrk="1" hangingPunct="1">
              <a:lnSpc>
                <a:spcPct val="150000"/>
              </a:lnSpc>
              <a:buClr>
                <a:srgbClr val="00CC00"/>
              </a:buClr>
              <a:buNone/>
            </a:pPr>
            <a:r>
              <a:rPr lang="zh-CN" altLang="en-US" sz="2400" dirty="0"/>
              <a:t> “商品进销差价”账户</a:t>
            </a:r>
          </a:p>
          <a:p>
            <a:pPr marL="0" indent="0" eaLnBrk="1" hangingPunct="1">
              <a:lnSpc>
                <a:spcPct val="80000"/>
              </a:lnSpc>
              <a:buNone/>
            </a:pPr>
            <a:endParaRPr lang="zh-CN" altLang="en-US" sz="3200" dirty="0"/>
          </a:p>
        </p:txBody>
      </p:sp>
      <p:sp>
        <p:nvSpPr>
          <p:cNvPr id="424963" name="Rectangle 3"/>
          <p:cNvSpPr>
            <a:spLocks noChangeArrowheads="1"/>
          </p:cNvSpPr>
          <p:nvPr/>
        </p:nvSpPr>
        <p:spPr bwMode="auto">
          <a:xfrm>
            <a:off x="1415977" y="2011528"/>
            <a:ext cx="7878233" cy="685800"/>
          </a:xfrm>
          <a:prstGeom prst="rect">
            <a:avLst/>
          </a:prstGeom>
          <a:noFill/>
          <a:ln w="9525">
            <a:noFill/>
            <a:miter lim="800000"/>
            <a:headEnd/>
            <a:tailEnd/>
          </a:ln>
        </p:spPr>
        <p:txBody>
          <a:bodyPr/>
          <a:lstStyle/>
          <a:p>
            <a:pPr algn="just" eaLnBrk="1" hangingPunct="1"/>
            <a:r>
              <a:rPr lang="zh-CN" altLang="en-US" sz="2400" b="1" dirty="0">
                <a:latin typeface="黑体" panose="02010609060101010101" pitchFamily="49" charset="-122"/>
                <a:ea typeface="黑体" panose="02010609060101010101" pitchFamily="49" charset="-122"/>
              </a:rPr>
              <a:t>（二）售价金额核算法的账务处理</a:t>
            </a:r>
          </a:p>
        </p:txBody>
      </p:sp>
      <p:sp>
        <p:nvSpPr>
          <p:cNvPr id="89092" name="Text Box 7"/>
          <p:cNvSpPr txBox="1">
            <a:spLocks noChangeArrowheads="1"/>
          </p:cNvSpPr>
          <p:nvPr/>
        </p:nvSpPr>
        <p:spPr bwMode="auto">
          <a:xfrm>
            <a:off x="1572611" y="884730"/>
            <a:ext cx="8039100" cy="769441"/>
          </a:xfrm>
          <a:prstGeom prst="rect">
            <a:avLst/>
          </a:prstGeom>
          <a:noFill/>
          <a:ln w="9525">
            <a:noFill/>
            <a:miter lim="800000"/>
            <a:headEnd/>
            <a:tailEnd/>
          </a:ln>
        </p:spPr>
        <p:txBody>
          <a:bodyPr>
            <a:spAutoFit/>
          </a:bodyPr>
          <a:lstStyle/>
          <a:p>
            <a:pPr algn="l" eaLnBrk="1" hangingPunct="1"/>
            <a:r>
              <a:rPr lang="zh-CN" altLang="en-US" sz="4400" b="1" dirty="0">
                <a:solidFill>
                  <a:schemeClr val="tx2"/>
                </a:solidFill>
                <a:latin typeface="+mj-lt"/>
                <a:ea typeface="+mj-ea"/>
                <a:cs typeface="+mj-cs"/>
              </a:rPr>
              <a:t>三、售价金额核算法</a:t>
            </a:r>
          </a:p>
        </p:txBody>
      </p:sp>
    </p:spTree>
    <p:extLst>
      <p:ext uri="{BB962C8B-B14F-4D97-AF65-F5344CB8AC3E}">
        <p14:creationId xmlns:p14="http://schemas.microsoft.com/office/powerpoint/2010/main" val="12427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24963">
                                            <p:txEl>
                                              <p:pRg st="0" end="0"/>
                                            </p:txEl>
                                          </p:spTgt>
                                        </p:tgtEl>
                                        <p:attrNameLst>
                                          <p:attrName>style.visibility</p:attrName>
                                        </p:attrNameLst>
                                      </p:cBhvr>
                                      <p:to>
                                        <p:strVal val="visible"/>
                                      </p:to>
                                    </p:set>
                                    <p:anim calcmode="lin" valueType="num">
                                      <p:cBhvr additive="base">
                                        <p:cTn id="7" dur="500" fill="hold"/>
                                        <p:tgtEl>
                                          <p:spTgt spid="42496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249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37" fill="hold" grpId="0" nodeType="clickEffect">
                                  <p:stCondLst>
                                    <p:cond delay="0"/>
                                  </p:stCondLst>
                                  <p:childTnLst>
                                    <p:set>
                                      <p:cBhvr>
                                        <p:cTn id="12" dur="1" fill="hold">
                                          <p:stCondLst>
                                            <p:cond delay="0"/>
                                          </p:stCondLst>
                                        </p:cTn>
                                        <p:tgtEl>
                                          <p:spTgt spid="424962">
                                            <p:txEl>
                                              <p:pRg st="0" end="0"/>
                                            </p:txEl>
                                          </p:spTgt>
                                        </p:tgtEl>
                                        <p:attrNameLst>
                                          <p:attrName>style.visibility</p:attrName>
                                        </p:attrNameLst>
                                      </p:cBhvr>
                                      <p:to>
                                        <p:strVal val="visible"/>
                                      </p:to>
                                    </p:set>
                                    <p:animEffect transition="in" filter="barn(outVertical)">
                                      <p:cBhvr>
                                        <p:cTn id="13" dur="500"/>
                                        <p:tgtEl>
                                          <p:spTgt spid="42496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424962">
                                            <p:txEl>
                                              <p:pRg st="1" end="1"/>
                                            </p:txEl>
                                          </p:spTgt>
                                        </p:tgtEl>
                                        <p:attrNameLst>
                                          <p:attrName>style.visibility</p:attrName>
                                        </p:attrNameLst>
                                      </p:cBhvr>
                                      <p:to>
                                        <p:strVal val="visible"/>
                                      </p:to>
                                    </p:set>
                                    <p:animEffect transition="in" filter="barn(outVertical)">
                                      <p:cBhvr>
                                        <p:cTn id="18" dur="500"/>
                                        <p:tgtEl>
                                          <p:spTgt spid="42496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37" fill="hold" grpId="0" nodeType="clickEffect">
                                  <p:stCondLst>
                                    <p:cond delay="0"/>
                                  </p:stCondLst>
                                  <p:childTnLst>
                                    <p:set>
                                      <p:cBhvr>
                                        <p:cTn id="22" dur="1" fill="hold">
                                          <p:stCondLst>
                                            <p:cond delay="0"/>
                                          </p:stCondLst>
                                        </p:cTn>
                                        <p:tgtEl>
                                          <p:spTgt spid="424962">
                                            <p:txEl>
                                              <p:pRg st="2" end="2"/>
                                            </p:txEl>
                                          </p:spTgt>
                                        </p:tgtEl>
                                        <p:attrNameLst>
                                          <p:attrName>style.visibility</p:attrName>
                                        </p:attrNameLst>
                                      </p:cBhvr>
                                      <p:to>
                                        <p:strVal val="visible"/>
                                      </p:to>
                                    </p:set>
                                    <p:animEffect transition="in" filter="barn(outVertical)">
                                      <p:cBhvr>
                                        <p:cTn id="23" dur="500"/>
                                        <p:tgtEl>
                                          <p:spTgt spid="42496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grpId="0" nodeType="clickEffect">
                                  <p:stCondLst>
                                    <p:cond delay="0"/>
                                  </p:stCondLst>
                                  <p:childTnLst>
                                    <p:set>
                                      <p:cBhvr>
                                        <p:cTn id="27" dur="1" fill="hold">
                                          <p:stCondLst>
                                            <p:cond delay="0"/>
                                          </p:stCondLst>
                                        </p:cTn>
                                        <p:tgtEl>
                                          <p:spTgt spid="424962">
                                            <p:txEl>
                                              <p:pRg st="3" end="3"/>
                                            </p:txEl>
                                          </p:spTgt>
                                        </p:tgtEl>
                                        <p:attrNameLst>
                                          <p:attrName>style.visibility</p:attrName>
                                        </p:attrNameLst>
                                      </p:cBhvr>
                                      <p:to>
                                        <p:strVal val="visible"/>
                                      </p:to>
                                    </p:set>
                                    <p:animEffect transition="in" filter="barn(outVertical)">
                                      <p:cBhvr>
                                        <p:cTn id="28" dur="500"/>
                                        <p:tgtEl>
                                          <p:spTgt spid="42496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2" grpId="0" build="p" autoUpdateAnimBg="0"/>
      <p:bldP spid="424963"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18780" y="2013744"/>
            <a:ext cx="9876366" cy="4716464"/>
            <a:chOff x="772585" y="1284288"/>
            <a:chExt cx="9876366" cy="4716464"/>
          </a:xfrm>
        </p:grpSpPr>
        <p:grpSp>
          <p:nvGrpSpPr>
            <p:cNvPr id="90114" name="Group 32"/>
            <p:cNvGrpSpPr>
              <a:grpSpLocks/>
            </p:cNvGrpSpPr>
            <p:nvPr/>
          </p:nvGrpSpPr>
          <p:grpSpPr bwMode="auto">
            <a:xfrm>
              <a:off x="6656918" y="1374775"/>
              <a:ext cx="3992033" cy="2406650"/>
              <a:chOff x="3145" y="866"/>
              <a:chExt cx="1886" cy="1516"/>
            </a:xfrm>
          </p:grpSpPr>
          <p:sp>
            <p:nvSpPr>
              <p:cNvPr id="425986" name="Line 2"/>
              <p:cNvSpPr>
                <a:spLocks noChangeShapeType="1"/>
              </p:cNvSpPr>
              <p:nvPr/>
            </p:nvSpPr>
            <p:spPr bwMode="auto">
              <a:xfrm>
                <a:off x="3152" y="1176"/>
                <a:ext cx="1600" cy="0"/>
              </a:xfrm>
              <a:prstGeom prst="line">
                <a:avLst/>
              </a:prstGeom>
              <a:noFill/>
              <a:ln w="38100">
                <a:solidFill>
                  <a:srgbClr val="FF0000"/>
                </a:solidFill>
                <a:round/>
                <a:headEnd/>
                <a:tailEnd/>
              </a:ln>
              <a:effectLst/>
            </p:spPr>
            <p:txBody>
              <a:bodyPr wrap="none" anchor="ctr"/>
              <a:lstStyle/>
              <a:p>
                <a:pPr>
                  <a:defRPr/>
                </a:pPr>
                <a:endParaRPr lang="zh-CN" altLang="en-US">
                  <a:ea typeface="宋体" pitchFamily="2" charset="-122"/>
                </a:endParaRPr>
              </a:p>
            </p:txBody>
          </p:sp>
          <p:sp>
            <p:nvSpPr>
              <p:cNvPr id="425989" name="Line 5"/>
              <p:cNvSpPr>
                <a:spLocks noChangeShapeType="1"/>
              </p:cNvSpPr>
              <p:nvPr/>
            </p:nvSpPr>
            <p:spPr bwMode="auto">
              <a:xfrm>
                <a:off x="3911" y="1176"/>
                <a:ext cx="0" cy="1206"/>
              </a:xfrm>
              <a:prstGeom prst="line">
                <a:avLst/>
              </a:prstGeom>
              <a:noFill/>
              <a:ln w="38100">
                <a:solidFill>
                  <a:srgbClr val="FF0000"/>
                </a:solidFill>
                <a:round/>
                <a:headEnd/>
                <a:tailEnd/>
              </a:ln>
              <a:effectLst/>
            </p:spPr>
            <p:txBody>
              <a:bodyPr wrap="none" anchor="ctr"/>
              <a:lstStyle/>
              <a:p>
                <a:pPr>
                  <a:defRPr/>
                </a:pPr>
                <a:endParaRPr lang="zh-CN" altLang="en-US">
                  <a:ea typeface="宋体" pitchFamily="2" charset="-122"/>
                </a:endParaRPr>
              </a:p>
            </p:txBody>
          </p:sp>
          <p:sp>
            <p:nvSpPr>
              <p:cNvPr id="425990" name="Text Box 6"/>
              <p:cNvSpPr txBox="1">
                <a:spLocks noChangeArrowheads="1"/>
              </p:cNvSpPr>
              <p:nvPr/>
            </p:nvSpPr>
            <p:spPr bwMode="auto">
              <a:xfrm>
                <a:off x="3673" y="866"/>
                <a:ext cx="999" cy="252"/>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000" b="1" dirty="0">
                    <a:solidFill>
                      <a:schemeClr val="tx2"/>
                    </a:solidFill>
                    <a:latin typeface="黑体" panose="02010609060101010101" pitchFamily="49" charset="-122"/>
                    <a:ea typeface="楷体_GB2312"/>
                  </a:rPr>
                  <a:t>库存商品</a:t>
                </a:r>
              </a:p>
            </p:txBody>
          </p:sp>
          <p:sp>
            <p:nvSpPr>
              <p:cNvPr id="425995" name="Text Box 11"/>
              <p:cNvSpPr txBox="1">
                <a:spLocks noChangeArrowheads="1"/>
              </p:cNvSpPr>
              <p:nvPr/>
            </p:nvSpPr>
            <p:spPr bwMode="auto">
              <a:xfrm>
                <a:off x="3145" y="1216"/>
                <a:ext cx="698" cy="510"/>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入库商</a:t>
                </a:r>
              </a:p>
              <a:p>
                <a:pPr algn="l" eaLnBrk="1" hangingPunct="1">
                  <a:lnSpc>
                    <a:spcPct val="40000"/>
                  </a:lnSpc>
                  <a:spcBef>
                    <a:spcPct val="50000"/>
                  </a:spcBef>
                  <a:defRPr/>
                </a:pPr>
                <a:r>
                  <a:rPr lang="zh-CN" altLang="en-US" sz="2400" b="1" dirty="0">
                    <a:latin typeface="楷体_GB2312" panose="02010609030101010101" pitchFamily="49" charset="-122"/>
                    <a:ea typeface="楷体_GB2312" panose="02010609030101010101" pitchFamily="49" charset="-122"/>
                  </a:rPr>
                  <a:t>品售价</a:t>
                </a:r>
              </a:p>
            </p:txBody>
          </p:sp>
          <p:sp>
            <p:nvSpPr>
              <p:cNvPr id="425996" name="Text Box 12"/>
              <p:cNvSpPr txBox="1">
                <a:spLocks noChangeArrowheads="1"/>
              </p:cNvSpPr>
              <p:nvPr/>
            </p:nvSpPr>
            <p:spPr bwMode="auto">
              <a:xfrm>
                <a:off x="3952" y="1216"/>
                <a:ext cx="1079" cy="510"/>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出库商</a:t>
                </a:r>
              </a:p>
              <a:p>
                <a:pPr algn="l" eaLnBrk="1" hangingPunct="1">
                  <a:lnSpc>
                    <a:spcPct val="40000"/>
                  </a:lnSpc>
                  <a:spcBef>
                    <a:spcPct val="50000"/>
                  </a:spcBef>
                  <a:defRPr/>
                </a:pPr>
                <a:r>
                  <a:rPr lang="zh-CN" altLang="en-US" sz="2400" b="1" dirty="0">
                    <a:latin typeface="楷体_GB2312" panose="02010609030101010101" pitchFamily="49" charset="-122"/>
                    <a:ea typeface="楷体_GB2312" panose="02010609030101010101" pitchFamily="49" charset="-122"/>
                  </a:rPr>
                  <a:t>品售价</a:t>
                </a:r>
              </a:p>
            </p:txBody>
          </p:sp>
          <p:sp>
            <p:nvSpPr>
              <p:cNvPr id="425997" name="Line 13"/>
              <p:cNvSpPr>
                <a:spLocks noChangeShapeType="1"/>
              </p:cNvSpPr>
              <p:nvPr/>
            </p:nvSpPr>
            <p:spPr bwMode="auto">
              <a:xfrm>
                <a:off x="3158" y="1798"/>
                <a:ext cx="1633" cy="0"/>
              </a:xfrm>
              <a:prstGeom prst="line">
                <a:avLst/>
              </a:prstGeom>
              <a:noFill/>
              <a:ln w="38100">
                <a:solidFill>
                  <a:srgbClr val="FF0000"/>
                </a:solidFill>
                <a:round/>
                <a:headEnd/>
                <a:tailEnd/>
              </a:ln>
              <a:effectLst/>
            </p:spPr>
            <p:txBody>
              <a:bodyPr wrap="none" anchor="ctr"/>
              <a:lstStyle/>
              <a:p>
                <a:pPr>
                  <a:defRPr/>
                </a:pPr>
                <a:endParaRPr lang="zh-CN" altLang="en-US">
                  <a:ea typeface="宋体" pitchFamily="2" charset="-122"/>
                </a:endParaRPr>
              </a:p>
            </p:txBody>
          </p:sp>
          <p:sp>
            <p:nvSpPr>
              <p:cNvPr id="425998" name="Text Box 14"/>
              <p:cNvSpPr txBox="1">
                <a:spLocks noChangeArrowheads="1"/>
              </p:cNvSpPr>
              <p:nvPr/>
            </p:nvSpPr>
            <p:spPr bwMode="auto">
              <a:xfrm>
                <a:off x="3153" y="1837"/>
                <a:ext cx="750" cy="510"/>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库存商</a:t>
                </a:r>
              </a:p>
              <a:p>
                <a:pPr algn="l" eaLnBrk="1" hangingPunct="1">
                  <a:lnSpc>
                    <a:spcPct val="40000"/>
                  </a:lnSpc>
                  <a:spcBef>
                    <a:spcPct val="50000"/>
                  </a:spcBef>
                  <a:defRPr/>
                </a:pPr>
                <a:r>
                  <a:rPr lang="zh-CN" altLang="en-US" sz="2400" b="1" dirty="0">
                    <a:latin typeface="楷体_GB2312" panose="02010609030101010101" pitchFamily="49" charset="-122"/>
                    <a:ea typeface="楷体_GB2312" panose="02010609030101010101" pitchFamily="49" charset="-122"/>
                  </a:rPr>
                  <a:t>品售价</a:t>
                </a:r>
              </a:p>
            </p:txBody>
          </p:sp>
        </p:grpSp>
        <p:grpSp>
          <p:nvGrpSpPr>
            <p:cNvPr id="90115" name="Group 33"/>
            <p:cNvGrpSpPr>
              <a:grpSpLocks/>
            </p:cNvGrpSpPr>
            <p:nvPr/>
          </p:nvGrpSpPr>
          <p:grpSpPr bwMode="auto">
            <a:xfrm>
              <a:off x="772585" y="1284288"/>
              <a:ext cx="5412316" cy="2590800"/>
              <a:chOff x="520" y="827"/>
              <a:chExt cx="2273" cy="1632"/>
            </a:xfrm>
          </p:grpSpPr>
          <p:sp>
            <p:nvSpPr>
              <p:cNvPr id="425987" name="Line 3"/>
              <p:cNvSpPr>
                <a:spLocks noChangeShapeType="1"/>
              </p:cNvSpPr>
              <p:nvPr/>
            </p:nvSpPr>
            <p:spPr bwMode="auto">
              <a:xfrm>
                <a:off x="713" y="1176"/>
                <a:ext cx="1799" cy="0"/>
              </a:xfrm>
              <a:prstGeom prst="line">
                <a:avLst/>
              </a:prstGeom>
              <a:noFill/>
              <a:ln w="38100">
                <a:solidFill>
                  <a:srgbClr val="FF0000"/>
                </a:solidFill>
                <a:round/>
                <a:headEnd/>
                <a:tailEnd/>
              </a:ln>
              <a:effectLst/>
            </p:spPr>
            <p:txBody>
              <a:bodyPr wrap="none" anchor="ctr"/>
              <a:lstStyle/>
              <a:p>
                <a:pPr>
                  <a:defRPr/>
                </a:pPr>
                <a:endParaRPr lang="zh-CN" altLang="en-US">
                  <a:ea typeface="宋体" pitchFamily="2" charset="-122"/>
                </a:endParaRPr>
              </a:p>
            </p:txBody>
          </p:sp>
          <p:sp>
            <p:nvSpPr>
              <p:cNvPr id="425991" name="Text Box 7"/>
              <p:cNvSpPr txBox="1">
                <a:spLocks noChangeArrowheads="1"/>
              </p:cNvSpPr>
              <p:nvPr/>
            </p:nvSpPr>
            <p:spPr bwMode="auto">
              <a:xfrm>
                <a:off x="1349" y="827"/>
                <a:ext cx="1079" cy="252"/>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000" b="1" dirty="0">
                    <a:solidFill>
                      <a:schemeClr val="tx2"/>
                    </a:solidFill>
                    <a:latin typeface="黑体" panose="02010609060101010101" pitchFamily="49" charset="-122"/>
                    <a:ea typeface="楷体_GB2312"/>
                  </a:rPr>
                  <a:t>在途物资</a:t>
                </a:r>
              </a:p>
            </p:txBody>
          </p:sp>
          <p:sp>
            <p:nvSpPr>
              <p:cNvPr id="425992" name="Line 8"/>
              <p:cNvSpPr>
                <a:spLocks noChangeShapeType="1"/>
              </p:cNvSpPr>
              <p:nvPr/>
            </p:nvSpPr>
            <p:spPr bwMode="auto">
              <a:xfrm>
                <a:off x="1673" y="1176"/>
                <a:ext cx="0" cy="1283"/>
              </a:xfrm>
              <a:prstGeom prst="line">
                <a:avLst/>
              </a:prstGeom>
              <a:noFill/>
              <a:ln w="38100">
                <a:solidFill>
                  <a:srgbClr val="FF0000"/>
                </a:solidFill>
                <a:round/>
                <a:headEnd/>
                <a:tailEnd/>
              </a:ln>
              <a:effectLst/>
            </p:spPr>
            <p:txBody>
              <a:bodyPr wrap="none" anchor="ctr"/>
              <a:lstStyle/>
              <a:p>
                <a:pPr>
                  <a:defRPr/>
                </a:pPr>
                <a:endParaRPr lang="zh-CN" altLang="en-US">
                  <a:ea typeface="宋体" pitchFamily="2" charset="-122"/>
                </a:endParaRPr>
              </a:p>
            </p:txBody>
          </p:sp>
          <p:sp>
            <p:nvSpPr>
              <p:cNvPr id="425993" name="Line 9"/>
              <p:cNvSpPr>
                <a:spLocks noChangeShapeType="1"/>
              </p:cNvSpPr>
              <p:nvPr/>
            </p:nvSpPr>
            <p:spPr bwMode="auto">
              <a:xfrm>
                <a:off x="717" y="1954"/>
                <a:ext cx="1755" cy="0"/>
              </a:xfrm>
              <a:prstGeom prst="line">
                <a:avLst/>
              </a:prstGeom>
              <a:noFill/>
              <a:ln w="38100">
                <a:solidFill>
                  <a:srgbClr val="FF0000"/>
                </a:solidFill>
                <a:round/>
                <a:headEnd/>
                <a:tailEnd/>
              </a:ln>
              <a:effectLst/>
            </p:spPr>
            <p:txBody>
              <a:bodyPr wrap="none" anchor="ctr"/>
              <a:lstStyle/>
              <a:p>
                <a:pPr>
                  <a:defRPr/>
                </a:pPr>
                <a:endParaRPr lang="zh-CN" altLang="en-US">
                  <a:ea typeface="宋体" pitchFamily="2" charset="-122"/>
                </a:endParaRPr>
              </a:p>
            </p:txBody>
          </p:sp>
          <p:sp>
            <p:nvSpPr>
              <p:cNvPr id="425994" name="Text Box 10"/>
              <p:cNvSpPr txBox="1">
                <a:spLocks noChangeArrowheads="1"/>
              </p:cNvSpPr>
              <p:nvPr/>
            </p:nvSpPr>
            <p:spPr bwMode="auto">
              <a:xfrm>
                <a:off x="873" y="1954"/>
                <a:ext cx="1079" cy="492"/>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在途商</a:t>
                </a:r>
              </a:p>
              <a:p>
                <a:pPr algn="l" eaLnBrk="1" hangingPunct="1">
                  <a:lnSpc>
                    <a:spcPct val="30000"/>
                  </a:lnSpc>
                  <a:spcBef>
                    <a:spcPct val="50000"/>
                  </a:spcBef>
                  <a:defRPr/>
                </a:pPr>
                <a:r>
                  <a:rPr lang="zh-CN" altLang="en-US" sz="2400" b="1" dirty="0">
                    <a:latin typeface="楷体_GB2312" panose="02010609030101010101" pitchFamily="49" charset="-122"/>
                    <a:ea typeface="楷体_GB2312" panose="02010609030101010101" pitchFamily="49" charset="-122"/>
                  </a:rPr>
                  <a:t>品进价</a:t>
                </a:r>
              </a:p>
            </p:txBody>
          </p:sp>
          <p:sp>
            <p:nvSpPr>
              <p:cNvPr id="425999" name="Text Box 15"/>
              <p:cNvSpPr txBox="1">
                <a:spLocks noChangeArrowheads="1"/>
              </p:cNvSpPr>
              <p:nvPr/>
            </p:nvSpPr>
            <p:spPr bwMode="auto">
              <a:xfrm>
                <a:off x="873" y="1176"/>
                <a:ext cx="690" cy="492"/>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购买商</a:t>
                </a:r>
              </a:p>
              <a:p>
                <a:pPr algn="l" eaLnBrk="1" hangingPunct="1">
                  <a:lnSpc>
                    <a:spcPct val="30000"/>
                  </a:lnSpc>
                  <a:spcBef>
                    <a:spcPct val="50000"/>
                  </a:spcBef>
                  <a:defRPr/>
                </a:pPr>
                <a:r>
                  <a:rPr lang="zh-CN" altLang="en-US" sz="2400" b="1" dirty="0">
                    <a:latin typeface="楷体_GB2312" panose="02010609030101010101" pitchFamily="49" charset="-122"/>
                    <a:ea typeface="楷体_GB2312" panose="02010609030101010101" pitchFamily="49" charset="-122"/>
                  </a:rPr>
                  <a:t>品进价</a:t>
                </a:r>
              </a:p>
            </p:txBody>
          </p:sp>
          <p:sp>
            <p:nvSpPr>
              <p:cNvPr id="426000" name="Text Box 16"/>
              <p:cNvSpPr txBox="1">
                <a:spLocks noChangeArrowheads="1"/>
              </p:cNvSpPr>
              <p:nvPr/>
            </p:nvSpPr>
            <p:spPr bwMode="auto">
              <a:xfrm>
                <a:off x="1713" y="1293"/>
                <a:ext cx="1080" cy="469"/>
              </a:xfrm>
              <a:prstGeom prst="rect">
                <a:avLst/>
              </a:prstGeom>
              <a:noFill/>
              <a:ln w="9525">
                <a:noFill/>
                <a:miter lim="800000"/>
                <a:headEnd/>
                <a:tailEnd/>
              </a:ln>
              <a:effectLst/>
            </p:spPr>
            <p:txBody>
              <a:bodyPr>
                <a:spAutoFit/>
              </a:bodyPr>
              <a:lstStyle/>
              <a:p>
                <a:pPr algn="l" eaLnBrk="1" hangingPunct="1">
                  <a:lnSpc>
                    <a:spcPct val="90000"/>
                  </a:lnSpc>
                  <a:spcBef>
                    <a:spcPct val="50000"/>
                  </a:spcBef>
                  <a:defRPr/>
                </a:pPr>
                <a:r>
                  <a:rPr lang="zh-CN" altLang="en-US" sz="2400" b="1" dirty="0">
                    <a:latin typeface="楷体_GB2312" panose="02010609030101010101" pitchFamily="49" charset="-122"/>
                    <a:ea typeface="楷体_GB2312" panose="02010609030101010101" pitchFamily="49" charset="-122"/>
                  </a:rPr>
                  <a:t>入库商</a:t>
                </a:r>
              </a:p>
              <a:p>
                <a:pPr algn="l" eaLnBrk="1" hangingPunct="1">
                  <a:lnSpc>
                    <a:spcPct val="30000"/>
                  </a:lnSpc>
                  <a:spcBef>
                    <a:spcPct val="50000"/>
                  </a:spcBef>
                  <a:defRPr/>
                </a:pPr>
                <a:r>
                  <a:rPr lang="zh-CN" altLang="en-US" sz="2400" b="1" dirty="0">
                    <a:latin typeface="楷体_GB2312" panose="02010609030101010101" pitchFamily="49" charset="-122"/>
                    <a:ea typeface="楷体_GB2312" panose="02010609030101010101" pitchFamily="49" charset="-122"/>
                  </a:rPr>
                  <a:t>品进价</a:t>
                </a:r>
              </a:p>
            </p:txBody>
          </p:sp>
          <p:sp>
            <p:nvSpPr>
              <p:cNvPr id="426003" name="Text Box 19"/>
              <p:cNvSpPr txBox="1">
                <a:spLocks noChangeArrowheads="1"/>
              </p:cNvSpPr>
              <p:nvPr/>
            </p:nvSpPr>
            <p:spPr bwMode="auto">
              <a:xfrm>
                <a:off x="520" y="1682"/>
                <a:ext cx="1110" cy="248"/>
              </a:xfrm>
              <a:prstGeom prst="rect">
                <a:avLst/>
              </a:prstGeom>
              <a:noFill/>
              <a:ln w="9525">
                <a:noFill/>
                <a:miter lim="800000"/>
                <a:headEnd/>
                <a:tailEnd/>
              </a:ln>
              <a:effectLst/>
            </p:spPr>
            <p:txBody>
              <a:bodyPr>
                <a:spAutoFit/>
              </a:bodyPr>
              <a:lstStyle/>
              <a:p>
                <a:pPr algn="l" eaLnBrk="1" hangingPunct="1">
                  <a:lnSpc>
                    <a:spcPct val="90000"/>
                  </a:lnSpc>
                  <a:spcBef>
                    <a:spcPct val="50000"/>
                  </a:spcBef>
                  <a:defRPr/>
                </a:pPr>
                <a:endParaRPr kumimoji="1" lang="zh-CN" altLang="zh-CN" sz="2200" b="1">
                  <a:solidFill>
                    <a:schemeClr val="tx2"/>
                  </a:solidFill>
                  <a:effectLst>
                    <a:outerShdw blurRad="38100" dist="38100" dir="2700000" algn="tl">
                      <a:srgbClr val="000000"/>
                    </a:outerShdw>
                  </a:effectLst>
                  <a:latin typeface="Times New Roman" pitchFamily="18" charset="0"/>
                  <a:ea typeface="宋体" pitchFamily="2" charset="-122"/>
                </a:endParaRPr>
              </a:p>
            </p:txBody>
          </p:sp>
        </p:grpSp>
        <p:grpSp>
          <p:nvGrpSpPr>
            <p:cNvPr id="90116" name="Group 34"/>
            <p:cNvGrpSpPr>
              <a:grpSpLocks/>
            </p:cNvGrpSpPr>
            <p:nvPr/>
          </p:nvGrpSpPr>
          <p:grpSpPr bwMode="auto">
            <a:xfrm>
              <a:off x="2863851" y="4110039"/>
              <a:ext cx="6263216" cy="1890713"/>
              <a:chOff x="1353" y="2589"/>
              <a:chExt cx="2959" cy="1191"/>
            </a:xfrm>
          </p:grpSpPr>
          <p:sp>
            <p:nvSpPr>
              <p:cNvPr id="425988" name="Line 4"/>
              <p:cNvSpPr>
                <a:spLocks noChangeShapeType="1"/>
              </p:cNvSpPr>
              <p:nvPr/>
            </p:nvSpPr>
            <p:spPr bwMode="auto">
              <a:xfrm>
                <a:off x="1353" y="3003"/>
                <a:ext cx="2679" cy="0"/>
              </a:xfrm>
              <a:prstGeom prst="line">
                <a:avLst/>
              </a:prstGeom>
              <a:noFill/>
              <a:ln w="38100">
                <a:solidFill>
                  <a:srgbClr val="FF0000"/>
                </a:solidFill>
                <a:round/>
                <a:headEnd/>
                <a:tailEnd/>
              </a:ln>
              <a:effectLst/>
            </p:spPr>
            <p:txBody>
              <a:bodyPr wrap="none" anchor="ctr"/>
              <a:lstStyle/>
              <a:p>
                <a:pPr>
                  <a:defRPr/>
                </a:pPr>
                <a:endParaRPr lang="zh-CN" altLang="en-US">
                  <a:ea typeface="宋体" pitchFamily="2" charset="-122"/>
                </a:endParaRPr>
              </a:p>
            </p:txBody>
          </p:sp>
          <p:sp>
            <p:nvSpPr>
              <p:cNvPr id="426001" name="Text Box 17"/>
              <p:cNvSpPr txBox="1">
                <a:spLocks noChangeArrowheads="1"/>
              </p:cNvSpPr>
              <p:nvPr/>
            </p:nvSpPr>
            <p:spPr bwMode="auto">
              <a:xfrm>
                <a:off x="2203" y="2589"/>
                <a:ext cx="1438" cy="252"/>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000" b="1" dirty="0">
                    <a:solidFill>
                      <a:schemeClr val="tx2"/>
                    </a:solidFill>
                    <a:latin typeface="黑体" panose="02010609060101010101" pitchFamily="49" charset="-122"/>
                    <a:ea typeface="楷体_GB2312"/>
                  </a:rPr>
                  <a:t>商品进销差价</a:t>
                </a:r>
              </a:p>
            </p:txBody>
          </p:sp>
          <p:sp>
            <p:nvSpPr>
              <p:cNvPr id="426002" name="Line 18"/>
              <p:cNvSpPr>
                <a:spLocks noChangeShapeType="1"/>
              </p:cNvSpPr>
              <p:nvPr/>
            </p:nvSpPr>
            <p:spPr bwMode="auto">
              <a:xfrm>
                <a:off x="2633" y="3003"/>
                <a:ext cx="0" cy="777"/>
              </a:xfrm>
              <a:prstGeom prst="line">
                <a:avLst/>
              </a:prstGeom>
              <a:noFill/>
              <a:ln w="38100">
                <a:solidFill>
                  <a:srgbClr val="FF0000"/>
                </a:solidFill>
                <a:round/>
                <a:headEnd/>
                <a:tailEnd/>
              </a:ln>
              <a:effectLst/>
            </p:spPr>
            <p:txBody>
              <a:bodyPr wrap="none" anchor="ctr"/>
              <a:lstStyle/>
              <a:p>
                <a:pPr>
                  <a:defRPr/>
                </a:pPr>
                <a:endParaRPr lang="zh-CN" altLang="en-US">
                  <a:ea typeface="宋体" pitchFamily="2" charset="-122"/>
                </a:endParaRPr>
              </a:p>
            </p:txBody>
          </p:sp>
          <p:sp>
            <p:nvSpPr>
              <p:cNvPr id="426004" name="Text Box 20"/>
              <p:cNvSpPr txBox="1">
                <a:spLocks noChangeArrowheads="1"/>
              </p:cNvSpPr>
              <p:nvPr/>
            </p:nvSpPr>
            <p:spPr bwMode="auto">
              <a:xfrm>
                <a:off x="2672" y="3041"/>
                <a:ext cx="1640" cy="291"/>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入库进销差价</a:t>
                </a:r>
              </a:p>
            </p:txBody>
          </p:sp>
          <p:sp>
            <p:nvSpPr>
              <p:cNvPr id="426005" name="Text Box 21"/>
              <p:cNvSpPr txBox="1">
                <a:spLocks noChangeArrowheads="1"/>
              </p:cNvSpPr>
              <p:nvPr/>
            </p:nvSpPr>
            <p:spPr bwMode="auto">
              <a:xfrm>
                <a:off x="1375" y="3041"/>
                <a:ext cx="1299" cy="291"/>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出库分配差价</a:t>
                </a:r>
              </a:p>
            </p:txBody>
          </p:sp>
          <p:sp>
            <p:nvSpPr>
              <p:cNvPr id="426006" name="Line 22"/>
              <p:cNvSpPr>
                <a:spLocks noChangeShapeType="1"/>
              </p:cNvSpPr>
              <p:nvPr/>
            </p:nvSpPr>
            <p:spPr bwMode="auto">
              <a:xfrm>
                <a:off x="1353" y="3391"/>
                <a:ext cx="2679" cy="0"/>
              </a:xfrm>
              <a:prstGeom prst="line">
                <a:avLst/>
              </a:prstGeom>
              <a:noFill/>
              <a:ln w="38100">
                <a:solidFill>
                  <a:srgbClr val="FF0000"/>
                </a:solidFill>
                <a:round/>
                <a:headEnd/>
                <a:tailEnd/>
              </a:ln>
              <a:effectLst/>
            </p:spPr>
            <p:txBody>
              <a:bodyPr wrap="none" anchor="ctr"/>
              <a:lstStyle/>
              <a:p>
                <a:pPr>
                  <a:defRPr/>
                </a:pPr>
                <a:endParaRPr lang="zh-CN" altLang="en-US">
                  <a:ea typeface="宋体" pitchFamily="2" charset="-122"/>
                </a:endParaRPr>
              </a:p>
            </p:txBody>
          </p:sp>
          <p:sp>
            <p:nvSpPr>
              <p:cNvPr id="426007" name="Text Box 23"/>
              <p:cNvSpPr txBox="1">
                <a:spLocks noChangeArrowheads="1"/>
              </p:cNvSpPr>
              <p:nvPr/>
            </p:nvSpPr>
            <p:spPr bwMode="auto">
              <a:xfrm>
                <a:off x="2672" y="3431"/>
                <a:ext cx="1640" cy="291"/>
              </a:xfrm>
              <a:prstGeom prst="rect">
                <a:avLst/>
              </a:prstGeom>
              <a:noFill/>
              <a:ln w="9525">
                <a:noFill/>
                <a:miter lim="800000"/>
                <a:headEnd/>
                <a:tailEnd/>
              </a:ln>
              <a:effectLst/>
            </p:spPr>
            <p:txBody>
              <a:bodyPr>
                <a:spAutoFit/>
              </a:bodyPr>
              <a:lstStyle/>
              <a:p>
                <a:pPr algn="l" eaLnBrk="1" hangingPunct="1">
                  <a:spcBef>
                    <a:spcPct val="50000"/>
                  </a:spcBef>
                  <a:defRPr/>
                </a:pPr>
                <a:r>
                  <a:rPr lang="zh-CN" altLang="en-US" sz="2400" b="1" dirty="0">
                    <a:latin typeface="楷体_GB2312" panose="02010609030101010101" pitchFamily="49" charset="-122"/>
                    <a:ea typeface="楷体_GB2312" panose="02010609030101010101" pitchFamily="49" charset="-122"/>
                  </a:rPr>
                  <a:t>尚未分配差价</a:t>
                </a:r>
              </a:p>
            </p:txBody>
          </p:sp>
        </p:grpSp>
      </p:grpSp>
      <p:sp>
        <p:nvSpPr>
          <p:cNvPr id="90117" name="Text Box 35"/>
          <p:cNvSpPr txBox="1">
            <a:spLocks noChangeArrowheads="1"/>
          </p:cNvSpPr>
          <p:nvPr/>
        </p:nvSpPr>
        <p:spPr bwMode="auto">
          <a:xfrm>
            <a:off x="1475541" y="790137"/>
            <a:ext cx="8039100" cy="769441"/>
          </a:xfrm>
          <a:prstGeom prst="rect">
            <a:avLst/>
          </a:prstGeom>
          <a:noFill/>
          <a:ln w="9525">
            <a:noFill/>
            <a:miter lim="800000"/>
            <a:headEnd/>
            <a:tailEnd/>
          </a:ln>
        </p:spPr>
        <p:txBody>
          <a:bodyPr>
            <a:spAutoFit/>
          </a:bodyPr>
          <a:lstStyle/>
          <a:p>
            <a:pPr algn="l" eaLnBrk="1" hangingPunct="1"/>
            <a:r>
              <a:rPr lang="zh-CN" altLang="en-US" sz="4400" b="1" dirty="0">
                <a:solidFill>
                  <a:schemeClr val="tx2"/>
                </a:solidFill>
                <a:latin typeface="+mj-lt"/>
                <a:ea typeface="+mj-ea"/>
                <a:cs typeface="+mj-cs"/>
              </a:rPr>
              <a:t>三、售价金额核算法</a:t>
            </a:r>
          </a:p>
        </p:txBody>
      </p:sp>
    </p:spTree>
    <p:extLst>
      <p:ext uri="{BB962C8B-B14F-4D97-AF65-F5344CB8AC3E}">
        <p14:creationId xmlns:p14="http://schemas.microsoft.com/office/powerpoint/2010/main" val="21556839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8034" name="Rectangle 2"/>
          <p:cNvSpPr>
            <a:spLocks noGrp="1" noChangeArrowheads="1"/>
          </p:cNvSpPr>
          <p:nvPr>
            <p:ph type="body" idx="1"/>
          </p:nvPr>
        </p:nvSpPr>
        <p:spPr>
          <a:xfrm>
            <a:off x="1556846" y="2820987"/>
            <a:ext cx="10382249" cy="4037013"/>
          </a:xfrm>
        </p:spPr>
        <p:txBody>
          <a:bodyPr/>
          <a:lstStyle/>
          <a:p>
            <a:pPr eaLnBrk="1" hangingPunct="1">
              <a:lnSpc>
                <a:spcPct val="120000"/>
              </a:lnSpc>
              <a:buClr>
                <a:srgbClr val="FF0000"/>
              </a:buClr>
            </a:pPr>
            <a:r>
              <a:rPr lang="zh-CN" altLang="en-US" sz="2800" dirty="0">
                <a:solidFill>
                  <a:schemeClr val="tx2"/>
                </a:solidFill>
                <a:ea typeface="楷体_GB2312"/>
              </a:rPr>
              <a:t>购入商品：</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借：在途物资（包括进价和采购费用）</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应交税费</a:t>
            </a:r>
            <a:r>
              <a:rPr lang="en-US" altLang="zh-CN" sz="2000" kern="1200" dirty="0">
                <a:latin typeface="楷体_GB2312" panose="02010609030101010101" pitchFamily="49" charset="-122"/>
                <a:ea typeface="楷体_GB2312" panose="02010609030101010101" pitchFamily="49" charset="-122"/>
                <a:cs typeface="+mn-cs"/>
              </a:rPr>
              <a:t>—</a:t>
            </a:r>
            <a:r>
              <a:rPr lang="zh-CN" altLang="en-US" sz="2000" kern="1200" dirty="0">
                <a:latin typeface="楷体_GB2312" panose="02010609030101010101" pitchFamily="49" charset="-122"/>
                <a:ea typeface="楷体_GB2312" panose="02010609030101010101" pitchFamily="49" charset="-122"/>
                <a:cs typeface="+mn-cs"/>
              </a:rPr>
              <a:t>应交增值税（进项税额）</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贷：应付账款、银行存款等</a:t>
            </a:r>
          </a:p>
          <a:p>
            <a:pPr eaLnBrk="1" hangingPunct="1">
              <a:lnSpc>
                <a:spcPct val="95000"/>
              </a:lnSpc>
              <a:buClr>
                <a:srgbClr val="FF0000"/>
              </a:buClr>
            </a:pPr>
            <a:r>
              <a:rPr lang="zh-CN" altLang="en-US" sz="2800" dirty="0">
                <a:solidFill>
                  <a:schemeClr val="tx2"/>
                </a:solidFill>
                <a:ea typeface="楷体_GB2312"/>
              </a:rPr>
              <a:t>商品入库：</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借：库存商品（含税售价）</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贷：在途物资（包括进价和采购费用）</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商品进销差价</a:t>
            </a:r>
          </a:p>
        </p:txBody>
      </p:sp>
      <p:sp>
        <p:nvSpPr>
          <p:cNvPr id="91140" name="Text Box 8"/>
          <p:cNvSpPr txBox="1">
            <a:spLocks noChangeArrowheads="1"/>
          </p:cNvSpPr>
          <p:nvPr/>
        </p:nvSpPr>
        <p:spPr bwMode="auto">
          <a:xfrm>
            <a:off x="1556846" y="1042386"/>
            <a:ext cx="8039100" cy="579438"/>
          </a:xfrm>
          <a:prstGeom prst="rect">
            <a:avLst/>
          </a:prstGeom>
          <a:noFill/>
          <a:ln w="9525">
            <a:noFill/>
            <a:miter lim="800000"/>
            <a:headEnd/>
            <a:tailEnd/>
          </a:ln>
        </p:spPr>
        <p:txBody>
          <a:bodyPr>
            <a:spAutoFit/>
          </a:bodyPr>
          <a:lstStyle/>
          <a:p>
            <a:pPr algn="l" eaLnBrk="1" hangingPunct="1"/>
            <a:r>
              <a:rPr lang="zh-CN" altLang="en-US" sz="3200" b="1" dirty="0">
                <a:solidFill>
                  <a:schemeClr val="tx2"/>
                </a:solidFill>
                <a:effectLst/>
                <a:latin typeface="黑体" pitchFamily="2" charset="-122"/>
                <a:ea typeface="黑体" pitchFamily="2" charset="-122"/>
              </a:rPr>
              <a:t>三、售价金额核算法</a:t>
            </a:r>
          </a:p>
        </p:txBody>
      </p:sp>
      <p:sp>
        <p:nvSpPr>
          <p:cNvPr id="2" name="矩形 1"/>
          <p:cNvSpPr/>
          <p:nvPr/>
        </p:nvSpPr>
        <p:spPr>
          <a:xfrm>
            <a:off x="1275790" y="2172278"/>
            <a:ext cx="2969083" cy="461665"/>
          </a:xfrm>
          <a:prstGeom prst="rect">
            <a:avLst/>
          </a:prstGeom>
        </p:spPr>
        <p:txBody>
          <a:bodyPr wrap="none">
            <a:spAutoFit/>
          </a:bodyPr>
          <a:lstStyle/>
          <a:p>
            <a:pPr>
              <a:spcBef>
                <a:spcPct val="50000"/>
              </a:spcBef>
              <a:defRPr/>
            </a:pPr>
            <a:r>
              <a:rPr lang="zh-CN" altLang="en-US" sz="2400" b="1" dirty="0">
                <a:latin typeface="黑体" panose="02010609060101010101" pitchFamily="49" charset="-122"/>
                <a:ea typeface="黑体" panose="02010609060101010101" pitchFamily="49" charset="-122"/>
              </a:rPr>
              <a:t>商品购入的会计处理</a:t>
            </a:r>
          </a:p>
        </p:txBody>
      </p:sp>
    </p:spTree>
    <p:extLst>
      <p:ext uri="{BB962C8B-B14F-4D97-AF65-F5344CB8AC3E}">
        <p14:creationId xmlns:p14="http://schemas.microsoft.com/office/powerpoint/2010/main" val="232181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428034">
                                            <p:txEl>
                                              <p:pRg st="0" end="0"/>
                                            </p:txEl>
                                          </p:spTgt>
                                        </p:tgtEl>
                                        <p:attrNameLst>
                                          <p:attrName>style.visibility</p:attrName>
                                        </p:attrNameLst>
                                      </p:cBhvr>
                                      <p:to>
                                        <p:strVal val="visible"/>
                                      </p:to>
                                    </p:set>
                                    <p:animEffect transition="in" filter="barn(outVertical)">
                                      <p:cBhvr>
                                        <p:cTn id="7" dur="500"/>
                                        <p:tgtEl>
                                          <p:spTgt spid="428034">
                                            <p:txEl>
                                              <p:pRg st="0" end="0"/>
                                            </p:txEl>
                                          </p:spTgt>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428034">
                                            <p:txEl>
                                              <p:pRg st="1" end="1"/>
                                            </p:txEl>
                                          </p:spTgt>
                                        </p:tgtEl>
                                        <p:attrNameLst>
                                          <p:attrName>style.visibility</p:attrName>
                                        </p:attrNameLst>
                                      </p:cBhvr>
                                      <p:to>
                                        <p:strVal val="visible"/>
                                      </p:to>
                                    </p:set>
                                    <p:animEffect transition="in" filter="barn(outVertical)">
                                      <p:cBhvr>
                                        <p:cTn id="10" dur="500"/>
                                        <p:tgtEl>
                                          <p:spTgt spid="428034">
                                            <p:txEl>
                                              <p:pRg st="1" end="1"/>
                                            </p:txEl>
                                          </p:spTgt>
                                        </p:tgtEl>
                                      </p:cBhvr>
                                    </p:animEffect>
                                  </p:childTnLst>
                                </p:cTn>
                              </p:par>
                              <p:par>
                                <p:cTn id="11" presetID="16" presetClass="entr" presetSubtype="37" fill="hold" grpId="0" nodeType="withEffect">
                                  <p:stCondLst>
                                    <p:cond delay="0"/>
                                  </p:stCondLst>
                                  <p:childTnLst>
                                    <p:set>
                                      <p:cBhvr>
                                        <p:cTn id="12" dur="1" fill="hold">
                                          <p:stCondLst>
                                            <p:cond delay="0"/>
                                          </p:stCondLst>
                                        </p:cTn>
                                        <p:tgtEl>
                                          <p:spTgt spid="428034">
                                            <p:txEl>
                                              <p:pRg st="2" end="2"/>
                                            </p:txEl>
                                          </p:spTgt>
                                        </p:tgtEl>
                                        <p:attrNameLst>
                                          <p:attrName>style.visibility</p:attrName>
                                        </p:attrNameLst>
                                      </p:cBhvr>
                                      <p:to>
                                        <p:strVal val="visible"/>
                                      </p:to>
                                    </p:set>
                                    <p:animEffect transition="in" filter="barn(outVertical)">
                                      <p:cBhvr>
                                        <p:cTn id="13" dur="500"/>
                                        <p:tgtEl>
                                          <p:spTgt spid="428034">
                                            <p:txEl>
                                              <p:pRg st="2" end="2"/>
                                            </p:txEl>
                                          </p:spTgt>
                                        </p:tgtEl>
                                      </p:cBhvr>
                                    </p:animEffect>
                                  </p:childTnLst>
                                </p:cTn>
                              </p:par>
                              <p:par>
                                <p:cTn id="14" presetID="16" presetClass="entr" presetSubtype="37" fill="hold" grpId="0" nodeType="withEffect">
                                  <p:stCondLst>
                                    <p:cond delay="0"/>
                                  </p:stCondLst>
                                  <p:childTnLst>
                                    <p:set>
                                      <p:cBhvr>
                                        <p:cTn id="15" dur="1" fill="hold">
                                          <p:stCondLst>
                                            <p:cond delay="0"/>
                                          </p:stCondLst>
                                        </p:cTn>
                                        <p:tgtEl>
                                          <p:spTgt spid="428034">
                                            <p:txEl>
                                              <p:pRg st="3" end="3"/>
                                            </p:txEl>
                                          </p:spTgt>
                                        </p:tgtEl>
                                        <p:attrNameLst>
                                          <p:attrName>style.visibility</p:attrName>
                                        </p:attrNameLst>
                                      </p:cBhvr>
                                      <p:to>
                                        <p:strVal val="visible"/>
                                      </p:to>
                                    </p:set>
                                    <p:animEffect transition="in" filter="barn(outVertical)">
                                      <p:cBhvr>
                                        <p:cTn id="16" dur="500"/>
                                        <p:tgtEl>
                                          <p:spTgt spid="42803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grpId="0" nodeType="clickEffect">
                                  <p:stCondLst>
                                    <p:cond delay="0"/>
                                  </p:stCondLst>
                                  <p:childTnLst>
                                    <p:set>
                                      <p:cBhvr>
                                        <p:cTn id="20" dur="1" fill="hold">
                                          <p:stCondLst>
                                            <p:cond delay="0"/>
                                          </p:stCondLst>
                                        </p:cTn>
                                        <p:tgtEl>
                                          <p:spTgt spid="428034">
                                            <p:txEl>
                                              <p:pRg st="4" end="4"/>
                                            </p:txEl>
                                          </p:spTgt>
                                        </p:tgtEl>
                                        <p:attrNameLst>
                                          <p:attrName>style.visibility</p:attrName>
                                        </p:attrNameLst>
                                      </p:cBhvr>
                                      <p:to>
                                        <p:strVal val="visible"/>
                                      </p:to>
                                    </p:set>
                                    <p:animEffect transition="in" filter="barn(outVertical)">
                                      <p:cBhvr>
                                        <p:cTn id="21" dur="500"/>
                                        <p:tgtEl>
                                          <p:spTgt spid="428034">
                                            <p:txEl>
                                              <p:pRg st="4" end="4"/>
                                            </p:txEl>
                                          </p:spTgt>
                                        </p:tgtEl>
                                      </p:cBhvr>
                                    </p:animEffect>
                                  </p:childTnLst>
                                </p:cTn>
                              </p:par>
                              <p:par>
                                <p:cTn id="22" presetID="16" presetClass="entr" presetSubtype="37" fill="hold" grpId="0" nodeType="withEffect">
                                  <p:stCondLst>
                                    <p:cond delay="0"/>
                                  </p:stCondLst>
                                  <p:childTnLst>
                                    <p:set>
                                      <p:cBhvr>
                                        <p:cTn id="23" dur="1" fill="hold">
                                          <p:stCondLst>
                                            <p:cond delay="0"/>
                                          </p:stCondLst>
                                        </p:cTn>
                                        <p:tgtEl>
                                          <p:spTgt spid="428034">
                                            <p:txEl>
                                              <p:pRg st="5" end="5"/>
                                            </p:txEl>
                                          </p:spTgt>
                                        </p:tgtEl>
                                        <p:attrNameLst>
                                          <p:attrName>style.visibility</p:attrName>
                                        </p:attrNameLst>
                                      </p:cBhvr>
                                      <p:to>
                                        <p:strVal val="visible"/>
                                      </p:to>
                                    </p:set>
                                    <p:animEffect transition="in" filter="barn(outVertical)">
                                      <p:cBhvr>
                                        <p:cTn id="24" dur="500"/>
                                        <p:tgtEl>
                                          <p:spTgt spid="428034">
                                            <p:txEl>
                                              <p:pRg st="5" end="5"/>
                                            </p:txEl>
                                          </p:spTgt>
                                        </p:tgtEl>
                                      </p:cBhvr>
                                    </p:animEffect>
                                  </p:childTnLst>
                                </p:cTn>
                              </p:par>
                              <p:par>
                                <p:cTn id="25" presetID="16" presetClass="entr" presetSubtype="37" fill="hold" grpId="0" nodeType="withEffect">
                                  <p:stCondLst>
                                    <p:cond delay="0"/>
                                  </p:stCondLst>
                                  <p:childTnLst>
                                    <p:set>
                                      <p:cBhvr>
                                        <p:cTn id="26" dur="1" fill="hold">
                                          <p:stCondLst>
                                            <p:cond delay="0"/>
                                          </p:stCondLst>
                                        </p:cTn>
                                        <p:tgtEl>
                                          <p:spTgt spid="428034">
                                            <p:txEl>
                                              <p:pRg st="6" end="6"/>
                                            </p:txEl>
                                          </p:spTgt>
                                        </p:tgtEl>
                                        <p:attrNameLst>
                                          <p:attrName>style.visibility</p:attrName>
                                        </p:attrNameLst>
                                      </p:cBhvr>
                                      <p:to>
                                        <p:strVal val="visible"/>
                                      </p:to>
                                    </p:set>
                                    <p:animEffect transition="in" filter="barn(outVertical)">
                                      <p:cBhvr>
                                        <p:cTn id="27" dur="500"/>
                                        <p:tgtEl>
                                          <p:spTgt spid="428034">
                                            <p:txEl>
                                              <p:pRg st="6" end="6"/>
                                            </p:txEl>
                                          </p:spTgt>
                                        </p:tgtEl>
                                      </p:cBhvr>
                                    </p:animEffect>
                                  </p:childTnLst>
                                </p:cTn>
                              </p:par>
                              <p:par>
                                <p:cTn id="28" presetID="16" presetClass="entr" presetSubtype="37" fill="hold" grpId="0" nodeType="withEffect">
                                  <p:stCondLst>
                                    <p:cond delay="0"/>
                                  </p:stCondLst>
                                  <p:childTnLst>
                                    <p:set>
                                      <p:cBhvr>
                                        <p:cTn id="29" dur="1" fill="hold">
                                          <p:stCondLst>
                                            <p:cond delay="0"/>
                                          </p:stCondLst>
                                        </p:cTn>
                                        <p:tgtEl>
                                          <p:spTgt spid="428034">
                                            <p:txEl>
                                              <p:pRg st="7" end="7"/>
                                            </p:txEl>
                                          </p:spTgt>
                                        </p:tgtEl>
                                        <p:attrNameLst>
                                          <p:attrName>style.visibility</p:attrName>
                                        </p:attrNameLst>
                                      </p:cBhvr>
                                      <p:to>
                                        <p:strVal val="visible"/>
                                      </p:to>
                                    </p:set>
                                    <p:animEffect transition="in" filter="barn(outVertical)">
                                      <p:cBhvr>
                                        <p:cTn id="30" dur="500"/>
                                        <p:tgtEl>
                                          <p:spTgt spid="42803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4"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9058" name="Rectangle 2"/>
          <p:cNvSpPr>
            <a:spLocks noGrp="1" noChangeArrowheads="1"/>
          </p:cNvSpPr>
          <p:nvPr>
            <p:ph type="body" idx="1"/>
          </p:nvPr>
        </p:nvSpPr>
        <p:spPr>
          <a:xfrm>
            <a:off x="1583267" y="2304394"/>
            <a:ext cx="9592733" cy="4384675"/>
          </a:xfrm>
        </p:spPr>
        <p:txBody>
          <a:bodyPr/>
          <a:lstStyle/>
          <a:p>
            <a:pPr eaLnBrk="1" hangingPunct="1">
              <a:buClr>
                <a:srgbClr val="FF0000"/>
              </a:buClr>
            </a:pPr>
            <a:r>
              <a:rPr lang="zh-CN" altLang="en-US" sz="2800" dirty="0">
                <a:solidFill>
                  <a:schemeClr val="tx2"/>
                </a:solidFill>
                <a:ea typeface="楷体_GB2312"/>
              </a:rPr>
              <a:t>销售商品：</a:t>
            </a:r>
            <a:endParaRPr lang="en-US" altLang="zh-CN" sz="2800" dirty="0">
              <a:solidFill>
                <a:schemeClr val="tx2"/>
              </a:solidFill>
              <a:ea typeface="楷体_GB2312"/>
            </a:endParaRP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借：银行存款</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贷：主营业务收入（含税售价）</a:t>
            </a:r>
          </a:p>
          <a:p>
            <a:pPr eaLnBrk="1" hangingPunct="1">
              <a:buClr>
                <a:srgbClr val="FF0000"/>
              </a:buClr>
            </a:pPr>
            <a:r>
              <a:rPr lang="zh-CN" altLang="en-US" sz="2800" dirty="0">
                <a:solidFill>
                  <a:schemeClr val="tx2"/>
                </a:solidFill>
                <a:ea typeface="楷体_GB2312"/>
              </a:rPr>
              <a:t>结转成本：</a:t>
            </a:r>
            <a:endParaRPr lang="en-US" altLang="zh-CN" sz="2800" dirty="0">
              <a:solidFill>
                <a:schemeClr val="tx2"/>
              </a:solidFill>
              <a:ea typeface="楷体_GB2312"/>
            </a:endParaRP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借：主营业务成本</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贷：库存商品（含税售价）</a:t>
            </a:r>
          </a:p>
          <a:p>
            <a:pPr eaLnBrk="1" hangingPunct="1">
              <a:buClr>
                <a:srgbClr val="FF0000"/>
              </a:buClr>
            </a:pPr>
            <a:r>
              <a:rPr lang="zh-CN" altLang="en-US" sz="2800" dirty="0">
                <a:solidFill>
                  <a:schemeClr val="tx2"/>
                </a:solidFill>
                <a:ea typeface="楷体_GB2312"/>
              </a:rPr>
              <a:t>销售费用：</a:t>
            </a:r>
            <a:endParaRPr lang="en-US" altLang="zh-CN" sz="2800" dirty="0">
              <a:solidFill>
                <a:schemeClr val="tx2"/>
              </a:solidFill>
              <a:ea typeface="楷体_GB2312"/>
            </a:endParaRP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借：销售费用</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贷：银行存款等</a:t>
            </a:r>
          </a:p>
          <a:p>
            <a:pPr eaLnBrk="1" hangingPunct="1">
              <a:lnSpc>
                <a:spcPct val="60000"/>
              </a:lnSpc>
            </a:pPr>
            <a:endParaRPr lang="en-US" altLang="zh-CN" sz="2400" dirty="0">
              <a:latin typeface="Times New Roman" pitchFamily="18" charset="0"/>
            </a:endParaRPr>
          </a:p>
        </p:txBody>
      </p:sp>
      <p:sp>
        <p:nvSpPr>
          <p:cNvPr id="92164" name="Text Box 7"/>
          <p:cNvSpPr txBox="1">
            <a:spLocks noChangeArrowheads="1"/>
          </p:cNvSpPr>
          <p:nvPr/>
        </p:nvSpPr>
        <p:spPr bwMode="auto">
          <a:xfrm>
            <a:off x="1591100" y="843781"/>
            <a:ext cx="8039100" cy="769441"/>
          </a:xfrm>
          <a:prstGeom prst="rect">
            <a:avLst/>
          </a:prstGeom>
          <a:noFill/>
          <a:ln w="9525">
            <a:noFill/>
            <a:miter lim="800000"/>
            <a:headEnd/>
            <a:tailEnd/>
          </a:ln>
        </p:spPr>
        <p:txBody>
          <a:bodyPr>
            <a:spAutoFit/>
          </a:bodyPr>
          <a:lstStyle/>
          <a:p>
            <a:pPr algn="l" eaLnBrk="1" hangingPunct="1"/>
            <a:r>
              <a:rPr lang="zh-CN" altLang="en-US" sz="4400" b="1" dirty="0">
                <a:solidFill>
                  <a:schemeClr val="tx2"/>
                </a:solidFill>
                <a:latin typeface="+mj-lt"/>
                <a:ea typeface="+mj-ea"/>
                <a:cs typeface="+mj-cs"/>
              </a:rPr>
              <a:t>三、售价金额核算法</a:t>
            </a:r>
          </a:p>
        </p:txBody>
      </p:sp>
      <p:sp>
        <p:nvSpPr>
          <p:cNvPr id="2" name="矩形 1"/>
          <p:cNvSpPr/>
          <p:nvPr/>
        </p:nvSpPr>
        <p:spPr>
          <a:xfrm>
            <a:off x="1591100" y="1841203"/>
            <a:ext cx="2969083" cy="461665"/>
          </a:xfrm>
          <a:prstGeom prst="rect">
            <a:avLst/>
          </a:prstGeom>
        </p:spPr>
        <p:txBody>
          <a:bodyPr wrap="none">
            <a:spAutoFit/>
          </a:bodyPr>
          <a:lstStyle/>
          <a:p>
            <a:pPr>
              <a:spcBef>
                <a:spcPct val="50000"/>
              </a:spcBef>
              <a:defRPr/>
            </a:pPr>
            <a:r>
              <a:rPr lang="zh-CN" altLang="en-US" sz="2400" b="1" dirty="0">
                <a:latin typeface="黑体" panose="02010609060101010101" pitchFamily="49" charset="-122"/>
                <a:ea typeface="黑体" panose="02010609060101010101" pitchFamily="49" charset="-122"/>
              </a:rPr>
              <a:t>商品销售的会计处理</a:t>
            </a:r>
          </a:p>
        </p:txBody>
      </p:sp>
    </p:spTree>
    <p:extLst>
      <p:ext uri="{BB962C8B-B14F-4D97-AF65-F5344CB8AC3E}">
        <p14:creationId xmlns:p14="http://schemas.microsoft.com/office/powerpoint/2010/main" val="2311647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429058">
                                            <p:txEl>
                                              <p:pRg st="0" end="0"/>
                                            </p:txEl>
                                          </p:spTgt>
                                        </p:tgtEl>
                                        <p:attrNameLst>
                                          <p:attrName>style.visibility</p:attrName>
                                        </p:attrNameLst>
                                      </p:cBhvr>
                                      <p:to>
                                        <p:strVal val="visible"/>
                                      </p:to>
                                    </p:set>
                                    <p:animEffect transition="in" filter="barn(outVertical)">
                                      <p:cBhvr>
                                        <p:cTn id="7" dur="500"/>
                                        <p:tgtEl>
                                          <p:spTgt spid="429058">
                                            <p:txEl>
                                              <p:pRg st="0" end="0"/>
                                            </p:txEl>
                                          </p:spTgt>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429058">
                                            <p:txEl>
                                              <p:pRg st="1" end="1"/>
                                            </p:txEl>
                                          </p:spTgt>
                                        </p:tgtEl>
                                        <p:attrNameLst>
                                          <p:attrName>style.visibility</p:attrName>
                                        </p:attrNameLst>
                                      </p:cBhvr>
                                      <p:to>
                                        <p:strVal val="visible"/>
                                      </p:to>
                                    </p:set>
                                    <p:animEffect transition="in" filter="barn(outVertical)">
                                      <p:cBhvr>
                                        <p:cTn id="10" dur="500"/>
                                        <p:tgtEl>
                                          <p:spTgt spid="429058">
                                            <p:txEl>
                                              <p:pRg st="1" end="1"/>
                                            </p:txEl>
                                          </p:spTgt>
                                        </p:tgtEl>
                                      </p:cBhvr>
                                    </p:animEffect>
                                  </p:childTnLst>
                                </p:cTn>
                              </p:par>
                              <p:par>
                                <p:cTn id="11" presetID="16" presetClass="entr" presetSubtype="37" fill="hold" grpId="0" nodeType="withEffect">
                                  <p:stCondLst>
                                    <p:cond delay="0"/>
                                  </p:stCondLst>
                                  <p:childTnLst>
                                    <p:set>
                                      <p:cBhvr>
                                        <p:cTn id="12" dur="1" fill="hold">
                                          <p:stCondLst>
                                            <p:cond delay="0"/>
                                          </p:stCondLst>
                                        </p:cTn>
                                        <p:tgtEl>
                                          <p:spTgt spid="429058">
                                            <p:txEl>
                                              <p:pRg st="2" end="2"/>
                                            </p:txEl>
                                          </p:spTgt>
                                        </p:tgtEl>
                                        <p:attrNameLst>
                                          <p:attrName>style.visibility</p:attrName>
                                        </p:attrNameLst>
                                      </p:cBhvr>
                                      <p:to>
                                        <p:strVal val="visible"/>
                                      </p:to>
                                    </p:set>
                                    <p:animEffect transition="in" filter="barn(outVertical)">
                                      <p:cBhvr>
                                        <p:cTn id="13" dur="500"/>
                                        <p:tgtEl>
                                          <p:spTgt spid="42905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429058">
                                            <p:txEl>
                                              <p:pRg st="3" end="3"/>
                                            </p:txEl>
                                          </p:spTgt>
                                        </p:tgtEl>
                                        <p:attrNameLst>
                                          <p:attrName>style.visibility</p:attrName>
                                        </p:attrNameLst>
                                      </p:cBhvr>
                                      <p:to>
                                        <p:strVal val="visible"/>
                                      </p:to>
                                    </p:set>
                                    <p:animEffect transition="in" filter="barn(outVertical)">
                                      <p:cBhvr>
                                        <p:cTn id="18" dur="500"/>
                                        <p:tgtEl>
                                          <p:spTgt spid="429058">
                                            <p:txEl>
                                              <p:pRg st="3" end="3"/>
                                            </p:txEl>
                                          </p:spTgt>
                                        </p:tgtEl>
                                      </p:cBhvr>
                                    </p:animEffect>
                                  </p:childTnLst>
                                </p:cTn>
                              </p:par>
                              <p:par>
                                <p:cTn id="19" presetID="16" presetClass="entr" presetSubtype="37" fill="hold" grpId="0" nodeType="withEffect">
                                  <p:stCondLst>
                                    <p:cond delay="0"/>
                                  </p:stCondLst>
                                  <p:childTnLst>
                                    <p:set>
                                      <p:cBhvr>
                                        <p:cTn id="20" dur="1" fill="hold">
                                          <p:stCondLst>
                                            <p:cond delay="0"/>
                                          </p:stCondLst>
                                        </p:cTn>
                                        <p:tgtEl>
                                          <p:spTgt spid="429058">
                                            <p:txEl>
                                              <p:pRg st="4" end="4"/>
                                            </p:txEl>
                                          </p:spTgt>
                                        </p:tgtEl>
                                        <p:attrNameLst>
                                          <p:attrName>style.visibility</p:attrName>
                                        </p:attrNameLst>
                                      </p:cBhvr>
                                      <p:to>
                                        <p:strVal val="visible"/>
                                      </p:to>
                                    </p:set>
                                    <p:animEffect transition="in" filter="barn(outVertical)">
                                      <p:cBhvr>
                                        <p:cTn id="21" dur="500"/>
                                        <p:tgtEl>
                                          <p:spTgt spid="429058">
                                            <p:txEl>
                                              <p:pRg st="4" end="4"/>
                                            </p:txEl>
                                          </p:spTgt>
                                        </p:tgtEl>
                                      </p:cBhvr>
                                    </p:animEffect>
                                  </p:childTnLst>
                                </p:cTn>
                              </p:par>
                              <p:par>
                                <p:cTn id="22" presetID="16" presetClass="entr" presetSubtype="37" fill="hold" grpId="0" nodeType="withEffect">
                                  <p:stCondLst>
                                    <p:cond delay="0"/>
                                  </p:stCondLst>
                                  <p:childTnLst>
                                    <p:set>
                                      <p:cBhvr>
                                        <p:cTn id="23" dur="1" fill="hold">
                                          <p:stCondLst>
                                            <p:cond delay="0"/>
                                          </p:stCondLst>
                                        </p:cTn>
                                        <p:tgtEl>
                                          <p:spTgt spid="429058">
                                            <p:txEl>
                                              <p:pRg st="5" end="5"/>
                                            </p:txEl>
                                          </p:spTgt>
                                        </p:tgtEl>
                                        <p:attrNameLst>
                                          <p:attrName>style.visibility</p:attrName>
                                        </p:attrNameLst>
                                      </p:cBhvr>
                                      <p:to>
                                        <p:strVal val="visible"/>
                                      </p:to>
                                    </p:set>
                                    <p:animEffect transition="in" filter="barn(outVertical)">
                                      <p:cBhvr>
                                        <p:cTn id="24" dur="500"/>
                                        <p:tgtEl>
                                          <p:spTgt spid="429058">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37" fill="hold" grpId="0" nodeType="clickEffect">
                                  <p:stCondLst>
                                    <p:cond delay="0"/>
                                  </p:stCondLst>
                                  <p:childTnLst>
                                    <p:set>
                                      <p:cBhvr>
                                        <p:cTn id="28" dur="1" fill="hold">
                                          <p:stCondLst>
                                            <p:cond delay="0"/>
                                          </p:stCondLst>
                                        </p:cTn>
                                        <p:tgtEl>
                                          <p:spTgt spid="429058">
                                            <p:txEl>
                                              <p:pRg st="6" end="6"/>
                                            </p:txEl>
                                          </p:spTgt>
                                        </p:tgtEl>
                                        <p:attrNameLst>
                                          <p:attrName>style.visibility</p:attrName>
                                        </p:attrNameLst>
                                      </p:cBhvr>
                                      <p:to>
                                        <p:strVal val="visible"/>
                                      </p:to>
                                    </p:set>
                                    <p:animEffect transition="in" filter="barn(outVertical)">
                                      <p:cBhvr>
                                        <p:cTn id="29" dur="500"/>
                                        <p:tgtEl>
                                          <p:spTgt spid="429058">
                                            <p:txEl>
                                              <p:pRg st="6" end="6"/>
                                            </p:txEl>
                                          </p:spTgt>
                                        </p:tgtEl>
                                      </p:cBhvr>
                                    </p:animEffect>
                                  </p:childTnLst>
                                </p:cTn>
                              </p:par>
                              <p:par>
                                <p:cTn id="30" presetID="16" presetClass="entr" presetSubtype="37" fill="hold" grpId="0" nodeType="withEffect">
                                  <p:stCondLst>
                                    <p:cond delay="0"/>
                                  </p:stCondLst>
                                  <p:childTnLst>
                                    <p:set>
                                      <p:cBhvr>
                                        <p:cTn id="31" dur="1" fill="hold">
                                          <p:stCondLst>
                                            <p:cond delay="0"/>
                                          </p:stCondLst>
                                        </p:cTn>
                                        <p:tgtEl>
                                          <p:spTgt spid="429058">
                                            <p:txEl>
                                              <p:pRg st="7" end="7"/>
                                            </p:txEl>
                                          </p:spTgt>
                                        </p:tgtEl>
                                        <p:attrNameLst>
                                          <p:attrName>style.visibility</p:attrName>
                                        </p:attrNameLst>
                                      </p:cBhvr>
                                      <p:to>
                                        <p:strVal val="visible"/>
                                      </p:to>
                                    </p:set>
                                    <p:animEffect transition="in" filter="barn(outVertical)">
                                      <p:cBhvr>
                                        <p:cTn id="32" dur="500"/>
                                        <p:tgtEl>
                                          <p:spTgt spid="429058">
                                            <p:txEl>
                                              <p:pRg st="7" end="7"/>
                                            </p:txEl>
                                          </p:spTgt>
                                        </p:tgtEl>
                                      </p:cBhvr>
                                    </p:animEffect>
                                  </p:childTnLst>
                                </p:cTn>
                              </p:par>
                              <p:par>
                                <p:cTn id="33" presetID="16" presetClass="entr" presetSubtype="37" fill="hold" grpId="0" nodeType="withEffect">
                                  <p:stCondLst>
                                    <p:cond delay="0"/>
                                  </p:stCondLst>
                                  <p:childTnLst>
                                    <p:set>
                                      <p:cBhvr>
                                        <p:cTn id="34" dur="1" fill="hold">
                                          <p:stCondLst>
                                            <p:cond delay="0"/>
                                          </p:stCondLst>
                                        </p:cTn>
                                        <p:tgtEl>
                                          <p:spTgt spid="429058">
                                            <p:txEl>
                                              <p:pRg st="8" end="8"/>
                                            </p:txEl>
                                          </p:spTgt>
                                        </p:tgtEl>
                                        <p:attrNameLst>
                                          <p:attrName>style.visibility</p:attrName>
                                        </p:attrNameLst>
                                      </p:cBhvr>
                                      <p:to>
                                        <p:strVal val="visible"/>
                                      </p:to>
                                    </p:set>
                                    <p:animEffect transition="in" filter="barn(outVertical)">
                                      <p:cBhvr>
                                        <p:cTn id="35" dur="500"/>
                                        <p:tgtEl>
                                          <p:spTgt spid="42905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58"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082" name="Rectangle 2"/>
          <p:cNvSpPr>
            <a:spLocks noGrp="1" noChangeArrowheads="1"/>
          </p:cNvSpPr>
          <p:nvPr>
            <p:ph type="body" idx="1"/>
          </p:nvPr>
        </p:nvSpPr>
        <p:spPr>
          <a:xfrm>
            <a:off x="2067985" y="2144110"/>
            <a:ext cx="6477000" cy="4114800"/>
          </a:xfrm>
        </p:spPr>
        <p:txBody>
          <a:bodyPr/>
          <a:lstStyle/>
          <a:p>
            <a:pPr eaLnBrk="1" hangingPunct="1">
              <a:lnSpc>
                <a:spcPct val="105000"/>
              </a:lnSpc>
            </a:pPr>
            <a:r>
              <a:rPr lang="zh-CN" altLang="en-US" sz="2800" dirty="0">
                <a:solidFill>
                  <a:schemeClr val="tx2"/>
                </a:solidFill>
                <a:ea typeface="楷体_GB2312"/>
              </a:rPr>
              <a:t>月末：</a:t>
            </a:r>
          </a:p>
          <a:p>
            <a:pPr lvl="1" eaLnBrk="1" hangingPunct="1">
              <a:lnSpc>
                <a:spcPct val="105000"/>
              </a:lnSpc>
            </a:pPr>
            <a:r>
              <a:rPr lang="zh-CN" altLang="en-US" sz="2400" dirty="0">
                <a:solidFill>
                  <a:schemeClr val="tx2"/>
                </a:solidFill>
                <a:ea typeface="楷体_GB2312"/>
              </a:rPr>
              <a:t>增值税调整</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借：主营业务收入（销项税额）</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贷：应交税费</a:t>
            </a:r>
            <a:r>
              <a:rPr lang="en-US" altLang="zh-CN" sz="2000" kern="1200" dirty="0">
                <a:latin typeface="楷体_GB2312" panose="02010609030101010101" pitchFamily="49" charset="-122"/>
                <a:ea typeface="楷体_GB2312" panose="02010609030101010101" pitchFamily="49" charset="-122"/>
                <a:cs typeface="+mn-cs"/>
              </a:rPr>
              <a:t>—</a:t>
            </a:r>
            <a:r>
              <a:rPr lang="zh-CN" altLang="en-US" sz="2000" kern="1200" dirty="0">
                <a:latin typeface="楷体_GB2312" panose="02010609030101010101" pitchFamily="49" charset="-122"/>
                <a:ea typeface="楷体_GB2312" panose="02010609030101010101" pitchFamily="49" charset="-122"/>
                <a:cs typeface="+mn-cs"/>
              </a:rPr>
              <a:t>应交增值税</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（销项税额）</a:t>
            </a:r>
          </a:p>
          <a:p>
            <a:pPr lvl="1" eaLnBrk="1" hangingPunct="1">
              <a:lnSpc>
                <a:spcPct val="105000"/>
              </a:lnSpc>
            </a:pPr>
            <a:r>
              <a:rPr lang="zh-CN" altLang="en-US" sz="2400" dirty="0">
                <a:solidFill>
                  <a:schemeClr val="tx2"/>
                </a:solidFill>
                <a:ea typeface="楷体_GB2312"/>
              </a:rPr>
              <a:t>结转商品进销差价</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借：商品进销差价</a:t>
            </a:r>
          </a:p>
          <a:p>
            <a:pPr marL="800100" lvl="2" indent="0" defTabSz="762000" eaLnBrk="1" hangingPunct="1">
              <a:lnSpc>
                <a:spcPct val="90000"/>
              </a:lnSpc>
              <a:spcBef>
                <a:spcPct val="50000"/>
              </a:spcBef>
              <a:buNone/>
            </a:pPr>
            <a:r>
              <a:rPr lang="zh-CN" altLang="en-US" sz="2000" kern="1200" dirty="0">
                <a:latin typeface="楷体_GB2312" panose="02010609030101010101" pitchFamily="49" charset="-122"/>
                <a:ea typeface="楷体_GB2312" panose="02010609030101010101" pitchFamily="49" charset="-122"/>
                <a:cs typeface="+mn-cs"/>
              </a:rPr>
              <a:t>        贷：主营业务成本</a:t>
            </a:r>
          </a:p>
        </p:txBody>
      </p:sp>
      <p:sp>
        <p:nvSpPr>
          <p:cNvPr id="93188" name="Text Box 6"/>
          <p:cNvSpPr txBox="1">
            <a:spLocks noChangeArrowheads="1"/>
          </p:cNvSpPr>
          <p:nvPr/>
        </p:nvSpPr>
        <p:spPr bwMode="auto">
          <a:xfrm>
            <a:off x="1625601" y="900496"/>
            <a:ext cx="8039100" cy="769441"/>
          </a:xfrm>
          <a:prstGeom prst="rect">
            <a:avLst/>
          </a:prstGeom>
          <a:noFill/>
          <a:ln w="9525">
            <a:noFill/>
            <a:miter lim="800000"/>
            <a:headEnd/>
            <a:tailEnd/>
          </a:ln>
        </p:spPr>
        <p:txBody>
          <a:bodyPr>
            <a:spAutoFit/>
          </a:bodyPr>
          <a:lstStyle/>
          <a:p>
            <a:pPr algn="l" eaLnBrk="1" hangingPunct="1"/>
            <a:r>
              <a:rPr lang="zh-CN" altLang="en-US" sz="4400" b="1" dirty="0">
                <a:solidFill>
                  <a:schemeClr val="tx2"/>
                </a:solidFill>
                <a:latin typeface="+mj-lt"/>
                <a:ea typeface="+mj-ea"/>
                <a:cs typeface="+mj-cs"/>
              </a:rPr>
              <a:t>三、售价金额核算法</a:t>
            </a:r>
          </a:p>
        </p:txBody>
      </p:sp>
    </p:spTree>
    <p:extLst>
      <p:ext uri="{BB962C8B-B14F-4D97-AF65-F5344CB8AC3E}">
        <p14:creationId xmlns:p14="http://schemas.microsoft.com/office/powerpoint/2010/main" val="343158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430082">
                                            <p:txEl>
                                              <p:pRg st="0" end="0"/>
                                            </p:txEl>
                                          </p:spTgt>
                                        </p:tgtEl>
                                        <p:attrNameLst>
                                          <p:attrName>style.visibility</p:attrName>
                                        </p:attrNameLst>
                                      </p:cBhvr>
                                      <p:to>
                                        <p:strVal val="visible"/>
                                      </p:to>
                                    </p:set>
                                    <p:animEffect transition="in" filter="barn(outVertical)">
                                      <p:cBhvr>
                                        <p:cTn id="7" dur="500"/>
                                        <p:tgtEl>
                                          <p:spTgt spid="430082">
                                            <p:txEl>
                                              <p:pRg st="0" end="0"/>
                                            </p:txEl>
                                          </p:spTgt>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430082">
                                            <p:txEl>
                                              <p:pRg st="1" end="1"/>
                                            </p:txEl>
                                          </p:spTgt>
                                        </p:tgtEl>
                                        <p:attrNameLst>
                                          <p:attrName>style.visibility</p:attrName>
                                        </p:attrNameLst>
                                      </p:cBhvr>
                                      <p:to>
                                        <p:strVal val="visible"/>
                                      </p:to>
                                    </p:set>
                                    <p:animEffect transition="in" filter="barn(outVertical)">
                                      <p:cBhvr>
                                        <p:cTn id="10" dur="500"/>
                                        <p:tgtEl>
                                          <p:spTgt spid="430082">
                                            <p:txEl>
                                              <p:pRg st="1" end="1"/>
                                            </p:txEl>
                                          </p:spTgt>
                                        </p:tgtEl>
                                      </p:cBhvr>
                                    </p:animEffect>
                                  </p:childTnLst>
                                </p:cTn>
                              </p:par>
                              <p:par>
                                <p:cTn id="11" presetID="16" presetClass="entr" presetSubtype="37" fill="hold" grpId="0" nodeType="withEffect">
                                  <p:stCondLst>
                                    <p:cond delay="0"/>
                                  </p:stCondLst>
                                  <p:childTnLst>
                                    <p:set>
                                      <p:cBhvr>
                                        <p:cTn id="12" dur="1" fill="hold">
                                          <p:stCondLst>
                                            <p:cond delay="0"/>
                                          </p:stCondLst>
                                        </p:cTn>
                                        <p:tgtEl>
                                          <p:spTgt spid="430082">
                                            <p:txEl>
                                              <p:pRg st="2" end="2"/>
                                            </p:txEl>
                                          </p:spTgt>
                                        </p:tgtEl>
                                        <p:attrNameLst>
                                          <p:attrName>style.visibility</p:attrName>
                                        </p:attrNameLst>
                                      </p:cBhvr>
                                      <p:to>
                                        <p:strVal val="visible"/>
                                      </p:to>
                                    </p:set>
                                    <p:animEffect transition="in" filter="barn(outVertical)">
                                      <p:cBhvr>
                                        <p:cTn id="13" dur="500"/>
                                        <p:tgtEl>
                                          <p:spTgt spid="430082">
                                            <p:txEl>
                                              <p:pRg st="2" end="2"/>
                                            </p:txEl>
                                          </p:spTgt>
                                        </p:tgtEl>
                                      </p:cBhvr>
                                    </p:animEffect>
                                  </p:childTnLst>
                                </p:cTn>
                              </p:par>
                              <p:par>
                                <p:cTn id="14" presetID="16" presetClass="entr" presetSubtype="37" fill="hold" grpId="0" nodeType="withEffect">
                                  <p:stCondLst>
                                    <p:cond delay="0"/>
                                  </p:stCondLst>
                                  <p:childTnLst>
                                    <p:set>
                                      <p:cBhvr>
                                        <p:cTn id="15" dur="1" fill="hold">
                                          <p:stCondLst>
                                            <p:cond delay="0"/>
                                          </p:stCondLst>
                                        </p:cTn>
                                        <p:tgtEl>
                                          <p:spTgt spid="430082">
                                            <p:txEl>
                                              <p:pRg st="3" end="3"/>
                                            </p:txEl>
                                          </p:spTgt>
                                        </p:tgtEl>
                                        <p:attrNameLst>
                                          <p:attrName>style.visibility</p:attrName>
                                        </p:attrNameLst>
                                      </p:cBhvr>
                                      <p:to>
                                        <p:strVal val="visible"/>
                                      </p:to>
                                    </p:set>
                                    <p:animEffect transition="in" filter="barn(outVertical)">
                                      <p:cBhvr>
                                        <p:cTn id="16" dur="500"/>
                                        <p:tgtEl>
                                          <p:spTgt spid="430082">
                                            <p:txEl>
                                              <p:pRg st="3" end="3"/>
                                            </p:txEl>
                                          </p:spTgt>
                                        </p:tgtEl>
                                      </p:cBhvr>
                                    </p:animEffect>
                                  </p:childTnLst>
                                </p:cTn>
                              </p:par>
                              <p:par>
                                <p:cTn id="17" presetID="16" presetClass="entr" presetSubtype="37" fill="hold" grpId="0" nodeType="withEffect">
                                  <p:stCondLst>
                                    <p:cond delay="0"/>
                                  </p:stCondLst>
                                  <p:childTnLst>
                                    <p:set>
                                      <p:cBhvr>
                                        <p:cTn id="18" dur="1" fill="hold">
                                          <p:stCondLst>
                                            <p:cond delay="0"/>
                                          </p:stCondLst>
                                        </p:cTn>
                                        <p:tgtEl>
                                          <p:spTgt spid="430082">
                                            <p:txEl>
                                              <p:pRg st="4" end="4"/>
                                            </p:txEl>
                                          </p:spTgt>
                                        </p:tgtEl>
                                        <p:attrNameLst>
                                          <p:attrName>style.visibility</p:attrName>
                                        </p:attrNameLst>
                                      </p:cBhvr>
                                      <p:to>
                                        <p:strVal val="visible"/>
                                      </p:to>
                                    </p:set>
                                    <p:animEffect transition="in" filter="barn(outVertical)">
                                      <p:cBhvr>
                                        <p:cTn id="19" dur="500"/>
                                        <p:tgtEl>
                                          <p:spTgt spid="430082">
                                            <p:txEl>
                                              <p:pRg st="4" end="4"/>
                                            </p:txEl>
                                          </p:spTgt>
                                        </p:tgtEl>
                                      </p:cBhvr>
                                    </p:animEffect>
                                  </p:childTnLst>
                                </p:cTn>
                              </p:par>
                              <p:par>
                                <p:cTn id="20" presetID="16" presetClass="entr" presetSubtype="37" fill="hold" grpId="0" nodeType="withEffect">
                                  <p:stCondLst>
                                    <p:cond delay="0"/>
                                  </p:stCondLst>
                                  <p:childTnLst>
                                    <p:set>
                                      <p:cBhvr>
                                        <p:cTn id="21" dur="1" fill="hold">
                                          <p:stCondLst>
                                            <p:cond delay="0"/>
                                          </p:stCondLst>
                                        </p:cTn>
                                        <p:tgtEl>
                                          <p:spTgt spid="430082">
                                            <p:txEl>
                                              <p:pRg st="5" end="5"/>
                                            </p:txEl>
                                          </p:spTgt>
                                        </p:tgtEl>
                                        <p:attrNameLst>
                                          <p:attrName>style.visibility</p:attrName>
                                        </p:attrNameLst>
                                      </p:cBhvr>
                                      <p:to>
                                        <p:strVal val="visible"/>
                                      </p:to>
                                    </p:set>
                                    <p:animEffect transition="in" filter="barn(outVertical)">
                                      <p:cBhvr>
                                        <p:cTn id="22" dur="500"/>
                                        <p:tgtEl>
                                          <p:spTgt spid="430082">
                                            <p:txEl>
                                              <p:pRg st="5" end="5"/>
                                            </p:txEl>
                                          </p:spTgt>
                                        </p:tgtEl>
                                      </p:cBhvr>
                                    </p:animEffect>
                                  </p:childTnLst>
                                </p:cTn>
                              </p:par>
                              <p:par>
                                <p:cTn id="23" presetID="16" presetClass="entr" presetSubtype="37" fill="hold" grpId="0" nodeType="withEffect">
                                  <p:stCondLst>
                                    <p:cond delay="0"/>
                                  </p:stCondLst>
                                  <p:childTnLst>
                                    <p:set>
                                      <p:cBhvr>
                                        <p:cTn id="24" dur="1" fill="hold">
                                          <p:stCondLst>
                                            <p:cond delay="0"/>
                                          </p:stCondLst>
                                        </p:cTn>
                                        <p:tgtEl>
                                          <p:spTgt spid="430082">
                                            <p:txEl>
                                              <p:pRg st="6" end="6"/>
                                            </p:txEl>
                                          </p:spTgt>
                                        </p:tgtEl>
                                        <p:attrNameLst>
                                          <p:attrName>style.visibility</p:attrName>
                                        </p:attrNameLst>
                                      </p:cBhvr>
                                      <p:to>
                                        <p:strVal val="visible"/>
                                      </p:to>
                                    </p:set>
                                    <p:animEffect transition="in" filter="barn(outVertical)">
                                      <p:cBhvr>
                                        <p:cTn id="25" dur="500"/>
                                        <p:tgtEl>
                                          <p:spTgt spid="430082">
                                            <p:txEl>
                                              <p:pRg st="6" end="6"/>
                                            </p:txEl>
                                          </p:spTgt>
                                        </p:tgtEl>
                                      </p:cBhvr>
                                    </p:animEffect>
                                  </p:childTnLst>
                                </p:cTn>
                              </p:par>
                              <p:par>
                                <p:cTn id="26" presetID="16" presetClass="entr" presetSubtype="37" fill="hold" grpId="0" nodeType="withEffect">
                                  <p:stCondLst>
                                    <p:cond delay="0"/>
                                  </p:stCondLst>
                                  <p:childTnLst>
                                    <p:set>
                                      <p:cBhvr>
                                        <p:cTn id="27" dur="1" fill="hold">
                                          <p:stCondLst>
                                            <p:cond delay="0"/>
                                          </p:stCondLst>
                                        </p:cTn>
                                        <p:tgtEl>
                                          <p:spTgt spid="430082">
                                            <p:txEl>
                                              <p:pRg st="7" end="7"/>
                                            </p:txEl>
                                          </p:spTgt>
                                        </p:tgtEl>
                                        <p:attrNameLst>
                                          <p:attrName>style.visibility</p:attrName>
                                        </p:attrNameLst>
                                      </p:cBhvr>
                                      <p:to>
                                        <p:strVal val="visible"/>
                                      </p:to>
                                    </p:set>
                                    <p:animEffect transition="in" filter="barn(outVertical)">
                                      <p:cBhvr>
                                        <p:cTn id="28" dur="500"/>
                                        <p:tgtEl>
                                          <p:spTgt spid="43008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2" grpId="0" build="p"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812800" y="381000"/>
            <a:ext cx="10566400"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a:solidFill>
                <a:srgbClr val="0000FF"/>
              </a:solidFill>
              <a:effectLst/>
              <a:latin typeface="Times New Roman" pitchFamily="18" charset="0"/>
            </a:endParaRPr>
          </a:p>
        </p:txBody>
      </p:sp>
      <p:sp>
        <p:nvSpPr>
          <p:cNvPr id="431110" name="Text Box 6"/>
          <p:cNvSpPr txBox="1">
            <a:spLocks noChangeArrowheads="1"/>
          </p:cNvSpPr>
          <p:nvPr/>
        </p:nvSpPr>
        <p:spPr bwMode="auto">
          <a:xfrm>
            <a:off x="1206500" y="3181350"/>
            <a:ext cx="10659533" cy="2813050"/>
          </a:xfrm>
          <a:prstGeom prst="rect">
            <a:avLst/>
          </a:prstGeom>
          <a:noFill/>
          <a:ln w="9525">
            <a:noFill/>
            <a:miter lim="800000"/>
            <a:headEnd/>
            <a:tailEnd/>
          </a:ln>
          <a:effectLst/>
        </p:spPr>
        <p:txBody>
          <a:bodyPr/>
          <a:lstStyle/>
          <a:p>
            <a:pPr marL="342900" indent="-342900" algn="l" eaLnBrk="1" hangingPunct="1">
              <a:lnSpc>
                <a:spcPct val="110000"/>
              </a:lnSpc>
              <a:buClr>
                <a:srgbClr val="0066FF"/>
              </a:buClr>
              <a:buFont typeface="Wingdings" pitchFamily="2" charset="2"/>
              <a:buChar char="n"/>
              <a:defRPr/>
            </a:pPr>
            <a:r>
              <a:rPr lang="zh-CN" altLang="en-US" sz="2400" b="1" dirty="0">
                <a:solidFill>
                  <a:schemeClr val="tx2"/>
                </a:solidFill>
                <a:latin typeface="楷体_GB2312" panose="02010609030101010101" pitchFamily="49" charset="-122"/>
                <a:ea typeface="楷体_GB2312"/>
              </a:rPr>
              <a:t>本月商品进销差价率</a:t>
            </a:r>
          </a:p>
          <a:p>
            <a:pPr algn="l" eaLnBrk="1" hangingPunct="1">
              <a:lnSpc>
                <a:spcPct val="160000"/>
              </a:lnSpc>
              <a:defRPr/>
            </a:pPr>
            <a:r>
              <a:rPr kumimoji="1" lang="zh-CN" altLang="en-US" sz="2400" b="1" dirty="0">
                <a:solidFill>
                  <a:schemeClr val="tx2"/>
                </a:solidFill>
                <a:effectLst/>
                <a:latin typeface="华文细黑" pitchFamily="2" charset="-122"/>
                <a:ea typeface="华文细黑" pitchFamily="2" charset="-122"/>
              </a:rPr>
              <a:t>  </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月初结存商品的进销差价</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本月收入商品的进销差</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月初结存商品的售价</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本月收入商品的售价</a:t>
            </a:r>
            <a:r>
              <a:rPr lang="en-US" altLang="zh-CN" sz="2400" b="1" dirty="0">
                <a:latin typeface="黑体" panose="02010609060101010101" pitchFamily="49" charset="-122"/>
                <a:ea typeface="黑体" panose="02010609060101010101" pitchFamily="49" charset="-122"/>
              </a:rPr>
              <a:t>)</a:t>
            </a:r>
          </a:p>
          <a:p>
            <a:pPr algn="l" eaLnBrk="1" hangingPunct="1">
              <a:lnSpc>
                <a:spcPct val="160000"/>
              </a:lnSpc>
              <a:defRPr/>
            </a:pPr>
            <a:r>
              <a:rPr lang="zh-CN" altLang="en-US" sz="2400" b="1" dirty="0">
                <a:latin typeface="黑体" panose="02010609060101010101" pitchFamily="49" charset="-122"/>
                <a:ea typeface="黑体" panose="02010609060101010101" pitchFamily="49" charset="-122"/>
              </a:rPr>
              <a:t> </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月初结存商品的进销差价</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本月收入商品的进销差</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库存商品期末余额</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本月主营业务成本科目借方发生额</a:t>
            </a:r>
            <a:r>
              <a:rPr lang="en-US" altLang="zh-CN" sz="2400" b="1" dirty="0">
                <a:latin typeface="黑体" panose="02010609060101010101" pitchFamily="49" charset="-122"/>
                <a:ea typeface="黑体" panose="02010609060101010101" pitchFamily="49" charset="-122"/>
              </a:rPr>
              <a:t>)</a:t>
            </a:r>
          </a:p>
        </p:txBody>
      </p:sp>
      <p:sp>
        <p:nvSpPr>
          <p:cNvPr id="431112" name="Rectangle 8"/>
          <p:cNvSpPr>
            <a:spLocks noChangeArrowheads="1"/>
          </p:cNvSpPr>
          <p:nvPr/>
        </p:nvSpPr>
        <p:spPr bwMode="auto">
          <a:xfrm>
            <a:off x="1206500" y="1944622"/>
            <a:ext cx="7882467" cy="1089529"/>
          </a:xfrm>
          <a:prstGeom prst="rect">
            <a:avLst/>
          </a:prstGeom>
          <a:noFill/>
          <a:ln w="12700">
            <a:noFill/>
            <a:miter lim="800000"/>
            <a:headEnd type="none" w="sm" len="sm"/>
            <a:tailEnd type="none" w="sm" len="sm"/>
          </a:ln>
          <a:effectLst/>
        </p:spPr>
        <p:txBody>
          <a:bodyPr>
            <a:spAutoFit/>
            <a:flatTx/>
          </a:bodyPr>
          <a:lstStyle/>
          <a:p>
            <a:pPr marL="342900" indent="-342900" algn="l" defTabSz="762000" eaLnBrk="1" hangingPunct="1">
              <a:lnSpc>
                <a:spcPct val="110000"/>
              </a:lnSpc>
              <a:spcBef>
                <a:spcPct val="50000"/>
              </a:spcBef>
              <a:buClr>
                <a:srgbClr val="0066FF"/>
              </a:buClr>
              <a:buFont typeface="Wingdings" pitchFamily="2" charset="2"/>
              <a:buChar char="n"/>
              <a:defRPr/>
            </a:pPr>
            <a:r>
              <a:rPr lang="zh-CN" altLang="en-US" sz="2400" b="1" dirty="0">
                <a:solidFill>
                  <a:schemeClr val="tx2"/>
                </a:solidFill>
                <a:latin typeface="楷体_GB2312" panose="02010609030101010101" pitchFamily="49" charset="-122"/>
                <a:ea typeface="楷体_GB2312"/>
              </a:rPr>
              <a:t>发出商品应摊销的进销差价</a:t>
            </a:r>
            <a:r>
              <a:rPr lang="en-US" altLang="zh-CN" sz="2400" b="1" dirty="0">
                <a:solidFill>
                  <a:schemeClr val="tx2"/>
                </a:solidFill>
                <a:latin typeface="楷体_GB2312" panose="02010609030101010101" pitchFamily="49" charset="-122"/>
                <a:ea typeface="楷体_GB2312"/>
              </a:rPr>
              <a:t>= </a:t>
            </a:r>
          </a:p>
          <a:p>
            <a:pPr algn="l" defTabSz="762000" eaLnBrk="1" hangingPunct="1">
              <a:lnSpc>
                <a:spcPct val="110000"/>
              </a:lnSpc>
              <a:spcBef>
                <a:spcPct val="50000"/>
              </a:spcBef>
              <a:defRPr/>
            </a:pPr>
            <a:r>
              <a:rPr kumimoji="1" lang="en-US" altLang="zh-CN" sz="2400" b="1" dirty="0">
                <a:solidFill>
                  <a:schemeClr val="tx2"/>
                </a:solidFill>
                <a:effectLst>
                  <a:outerShdw blurRad="38100" dist="38100" dir="2700000" algn="tl">
                    <a:srgbClr val="000000"/>
                  </a:outerShdw>
                </a:effectLst>
                <a:latin typeface="华文细黑" pitchFamily="2" charset="-122"/>
                <a:ea typeface="华文细黑" pitchFamily="2" charset="-122"/>
              </a:rPr>
              <a:t>   </a:t>
            </a:r>
            <a:r>
              <a:rPr lang="zh-CN" altLang="en-US" sz="2400" b="1" dirty="0">
                <a:latin typeface="黑体" panose="02010609060101010101" pitchFamily="49" charset="-122"/>
                <a:ea typeface="黑体" panose="02010609060101010101" pitchFamily="49" charset="-122"/>
              </a:rPr>
              <a:t>发出商品的售价</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商品进销差价率</a:t>
            </a:r>
          </a:p>
        </p:txBody>
      </p:sp>
    </p:spTree>
    <p:extLst>
      <p:ext uri="{BB962C8B-B14F-4D97-AF65-F5344CB8AC3E}">
        <p14:creationId xmlns:p14="http://schemas.microsoft.com/office/powerpoint/2010/main" val="3137112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11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6" fill="hold" grpId="0" nodeType="clickEffect">
                                  <p:stCondLst>
                                    <p:cond delay="0"/>
                                  </p:stCondLst>
                                  <p:childTnLst>
                                    <p:set>
                                      <p:cBhvr>
                                        <p:cTn id="10" dur="1" fill="hold">
                                          <p:stCondLst>
                                            <p:cond delay="0"/>
                                          </p:stCondLst>
                                        </p:cTn>
                                        <p:tgtEl>
                                          <p:spTgt spid="431110"/>
                                        </p:tgtEl>
                                        <p:attrNameLst>
                                          <p:attrName>style.visibility</p:attrName>
                                        </p:attrNameLst>
                                      </p:cBhvr>
                                      <p:to>
                                        <p:strVal val="visible"/>
                                      </p:to>
                                    </p:set>
                                    <p:animEffect transition="in" filter="barn(inHorizontal)">
                                      <p:cBhvr>
                                        <p:cTn id="11" dur="500"/>
                                        <p:tgtEl>
                                          <p:spTgt spid="431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10" grpId="0" autoUpdateAnimBg="0"/>
      <p:bldP spid="43111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Text Box 2"/>
          <p:cNvSpPr txBox="1">
            <a:spLocks noChangeArrowheads="1"/>
          </p:cNvSpPr>
          <p:nvPr/>
        </p:nvSpPr>
        <p:spPr bwMode="auto">
          <a:xfrm>
            <a:off x="1296276" y="1556271"/>
            <a:ext cx="11684000" cy="5189113"/>
          </a:xfrm>
          <a:prstGeom prst="rect">
            <a:avLst/>
          </a:prstGeom>
          <a:noFill/>
          <a:ln w="9525">
            <a:noFill/>
            <a:miter lim="800000"/>
            <a:headEnd/>
            <a:tailEnd/>
          </a:ln>
          <a:effectLst/>
        </p:spPr>
        <p:txBody>
          <a:bodyPr>
            <a:spAutoFit/>
          </a:bodyPr>
          <a:lstStyle/>
          <a:p>
            <a:pPr algn="just" eaLnBrk="1" hangingPunct="1">
              <a:lnSpc>
                <a:spcPct val="120000"/>
              </a:lnSpc>
              <a:defRPr/>
            </a:pPr>
            <a:r>
              <a:rPr kumimoji="1" lang="en-US" altLang="zh-CN" sz="2400" dirty="0">
                <a:solidFill>
                  <a:schemeClr val="tx1"/>
                </a:solidFill>
                <a:effectLst/>
                <a:latin typeface="华文细黑" pitchFamily="2" charset="-122"/>
                <a:ea typeface="华文细黑" pitchFamily="2" charset="-122"/>
              </a:rPr>
              <a:t>                                      </a:t>
            </a:r>
            <a:endParaRPr kumimoji="1" lang="zh-CN" altLang="en-US" b="1" dirty="0">
              <a:solidFill>
                <a:srgbClr val="FF0000"/>
              </a:solidFill>
              <a:effectLst>
                <a:outerShdw blurRad="38100" dist="38100" dir="2700000" algn="tl">
                  <a:srgbClr val="000000"/>
                </a:outerShdw>
              </a:effectLst>
              <a:latin typeface="华文细黑" pitchFamily="2" charset="-122"/>
              <a:ea typeface="华文细黑" pitchFamily="2" charset="-122"/>
            </a:endParaRPr>
          </a:p>
          <a:p>
            <a:pPr marL="342900" indent="-342900" eaLnBrk="0" fontAlgn="base" hangingPunct="0">
              <a:lnSpc>
                <a:spcPct val="120000"/>
              </a:lnSpc>
              <a:spcBef>
                <a:spcPct val="20000"/>
              </a:spcBef>
              <a:spcAft>
                <a:spcPct val="0"/>
              </a:spcAft>
              <a:buClr>
                <a:schemeClr val="folHlink"/>
              </a:buClr>
              <a:buSzPct val="60000"/>
              <a:buFont typeface="Wingdings" panose="05000000000000000000" pitchFamily="2" charset="2"/>
              <a:buChar char="n"/>
              <a:defRPr/>
            </a:pPr>
            <a:r>
              <a:rPr lang="zh-CN" altLang="en-US" dirty="0">
                <a:latin typeface="黑体" panose="02010609060101010101" pitchFamily="49" charset="-122"/>
                <a:ea typeface="黑体" panose="02010609060101010101" pitchFamily="49" charset="-122"/>
              </a:rPr>
              <a:t>一、目的：练习售价金额核算法</a:t>
            </a:r>
          </a:p>
          <a:p>
            <a:pPr marL="342900" indent="-342900" eaLnBrk="0" fontAlgn="base" hangingPunct="0">
              <a:lnSpc>
                <a:spcPct val="120000"/>
              </a:lnSpc>
              <a:spcBef>
                <a:spcPct val="20000"/>
              </a:spcBef>
              <a:spcAft>
                <a:spcPct val="0"/>
              </a:spcAft>
              <a:buClr>
                <a:schemeClr val="folHlink"/>
              </a:buClr>
              <a:buSzPct val="60000"/>
              <a:buFont typeface="Wingdings" panose="05000000000000000000" pitchFamily="2" charset="2"/>
              <a:buChar char="n"/>
              <a:defRPr/>
            </a:pPr>
            <a:r>
              <a:rPr lang="zh-CN" altLang="en-US" dirty="0">
                <a:latin typeface="黑体" panose="02010609060101010101" pitchFamily="49" charset="-122"/>
                <a:ea typeface="黑体" panose="02010609060101010101" pitchFamily="49" charset="-122"/>
              </a:rPr>
              <a:t>二、资料：乙零售企业采用售价金额核算法，按分类差价率计</a:t>
            </a:r>
          </a:p>
          <a:p>
            <a:pPr marL="342900" indent="-342900" eaLnBrk="0" fontAlgn="base" hangingPunct="0">
              <a:lnSpc>
                <a:spcPct val="120000"/>
              </a:lnSpc>
              <a:spcBef>
                <a:spcPct val="20000"/>
              </a:spcBef>
              <a:spcAft>
                <a:spcPct val="0"/>
              </a:spcAft>
              <a:buClr>
                <a:schemeClr val="folHlink"/>
              </a:buClr>
              <a:buSzPct val="60000"/>
              <a:buFont typeface="Wingdings" panose="05000000000000000000" pitchFamily="2" charset="2"/>
              <a:buChar char="n"/>
              <a:defRPr/>
            </a:pPr>
            <a:r>
              <a:rPr lang="zh-CN" altLang="en-US" dirty="0">
                <a:latin typeface="黑体" panose="02010609060101010101" pitchFamily="49" charset="-122"/>
                <a:ea typeface="黑体" panose="02010609060101010101" pitchFamily="49" charset="-122"/>
              </a:rPr>
              <a:t>          算已销商品进销差价；销项增值税于期末一次计算结转  </a:t>
            </a:r>
          </a:p>
          <a:p>
            <a:pPr marL="342900" indent="-342900" eaLnBrk="0" fontAlgn="base" hangingPunct="0">
              <a:lnSpc>
                <a:spcPct val="120000"/>
              </a:lnSpc>
              <a:spcBef>
                <a:spcPct val="20000"/>
              </a:spcBef>
              <a:spcAft>
                <a:spcPct val="0"/>
              </a:spcAft>
              <a:buClr>
                <a:schemeClr val="folHlink"/>
              </a:buClr>
              <a:buSzPct val="60000"/>
              <a:buFont typeface="Wingdings" panose="05000000000000000000" pitchFamily="2" charset="2"/>
              <a:buChar char="n"/>
              <a:defRPr/>
            </a:pPr>
            <a:r>
              <a:rPr lang="zh-CN" altLang="en-US" dirty="0">
                <a:latin typeface="黑体" panose="02010609060101010101" pitchFamily="49" charset="-122"/>
                <a:ea typeface="黑体" panose="02010609060101010101" pitchFamily="49" charset="-122"/>
              </a:rPr>
              <a:t>          ３月末结账前有关账户的余额如下（金额单位：元）：</a:t>
            </a:r>
          </a:p>
          <a:p>
            <a:pPr marL="342900" indent="-342900" eaLnBrk="0" fontAlgn="base" hangingPunct="0">
              <a:lnSpc>
                <a:spcPct val="120000"/>
              </a:lnSpc>
              <a:spcBef>
                <a:spcPct val="20000"/>
              </a:spcBef>
              <a:spcAft>
                <a:spcPct val="0"/>
              </a:spcAft>
              <a:buClr>
                <a:schemeClr val="folHlink"/>
              </a:buClr>
              <a:buSzPct val="60000"/>
              <a:buFont typeface="Wingdings" panose="05000000000000000000" pitchFamily="2" charset="2"/>
              <a:buChar char="n"/>
              <a:defRPr/>
            </a:pPr>
            <a:r>
              <a:rPr lang="zh-CN" altLang="en-US" dirty="0">
                <a:latin typeface="黑体" panose="02010609060101010101" pitchFamily="49" charset="-122"/>
                <a:ea typeface="黑体" panose="02010609060101010101" pitchFamily="49" charset="-122"/>
              </a:rPr>
              <a:t>                            针织组         服装组          百货组     </a:t>
            </a:r>
          </a:p>
          <a:p>
            <a:pPr marL="342900" indent="-342900" eaLnBrk="0" fontAlgn="base" hangingPunct="0">
              <a:lnSpc>
                <a:spcPct val="120000"/>
              </a:lnSpc>
              <a:spcBef>
                <a:spcPct val="20000"/>
              </a:spcBef>
              <a:spcAft>
                <a:spcPct val="0"/>
              </a:spcAft>
              <a:buClr>
                <a:schemeClr val="folHlink"/>
              </a:buClr>
              <a:buSzPct val="60000"/>
              <a:buFont typeface="Wingdings" panose="05000000000000000000" pitchFamily="2" charset="2"/>
              <a:buChar char="n"/>
              <a:defRPr/>
            </a:pPr>
            <a:r>
              <a:rPr lang="zh-CN" altLang="en-US" dirty="0">
                <a:latin typeface="黑体" panose="02010609060101010101" pitchFamily="49" charset="-122"/>
                <a:ea typeface="黑体" panose="02010609060101010101" pitchFamily="49" charset="-122"/>
              </a:rPr>
              <a:t>  “商品进销差价”账户     </a:t>
            </a:r>
            <a:r>
              <a:rPr lang="en-US" altLang="zh-CN" dirty="0">
                <a:latin typeface="黑体" panose="02010609060101010101" pitchFamily="49" charset="-122"/>
                <a:ea typeface="黑体" panose="02010609060101010101" pitchFamily="49" charset="-122"/>
              </a:rPr>
              <a:t>180 000        150 000          92 000   </a:t>
            </a:r>
          </a:p>
          <a:p>
            <a:pPr marL="342900" indent="-342900" eaLnBrk="0" fontAlgn="base" hangingPunct="0">
              <a:lnSpc>
                <a:spcPct val="120000"/>
              </a:lnSpc>
              <a:spcBef>
                <a:spcPct val="20000"/>
              </a:spcBef>
              <a:spcAft>
                <a:spcPct val="0"/>
              </a:spcAft>
              <a:buClr>
                <a:schemeClr val="folHlink"/>
              </a:buClr>
              <a:buSzPct val="60000"/>
              <a:buFont typeface="Wingdings" panose="05000000000000000000" pitchFamily="2" charset="2"/>
              <a:buChar char="n"/>
              <a:defRPr/>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主营业务收入”账户     </a:t>
            </a:r>
            <a:r>
              <a:rPr lang="en-US" altLang="zh-CN" dirty="0">
                <a:latin typeface="黑体" panose="02010609060101010101" pitchFamily="49" charset="-122"/>
                <a:ea typeface="黑体" panose="02010609060101010101" pitchFamily="49" charset="-122"/>
              </a:rPr>
              <a:t>450 000        380 000         300 000</a:t>
            </a:r>
          </a:p>
          <a:p>
            <a:pPr marL="342900" indent="-342900" eaLnBrk="0" fontAlgn="base" hangingPunct="0">
              <a:lnSpc>
                <a:spcPct val="120000"/>
              </a:lnSpc>
              <a:spcBef>
                <a:spcPct val="20000"/>
              </a:spcBef>
              <a:spcAft>
                <a:spcPct val="0"/>
              </a:spcAft>
              <a:buClr>
                <a:schemeClr val="folHlink"/>
              </a:buClr>
              <a:buSzPct val="60000"/>
              <a:buFont typeface="Wingdings" panose="05000000000000000000" pitchFamily="2" charset="2"/>
              <a:buChar char="n"/>
              <a:defRPr/>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主营业务成本”账户     </a:t>
            </a:r>
            <a:r>
              <a:rPr lang="en-US" altLang="zh-CN" dirty="0">
                <a:latin typeface="黑体" panose="02010609060101010101" pitchFamily="49" charset="-122"/>
                <a:ea typeface="黑体" panose="02010609060101010101" pitchFamily="49" charset="-122"/>
              </a:rPr>
              <a:t>450 000        380 000         300 000</a:t>
            </a:r>
          </a:p>
          <a:p>
            <a:pPr marL="342900" indent="-342900" eaLnBrk="0" fontAlgn="base" hangingPunct="0">
              <a:lnSpc>
                <a:spcPct val="120000"/>
              </a:lnSpc>
              <a:spcBef>
                <a:spcPct val="20000"/>
              </a:spcBef>
              <a:spcAft>
                <a:spcPct val="0"/>
              </a:spcAft>
              <a:buClr>
                <a:schemeClr val="folHlink"/>
              </a:buClr>
              <a:buSzPct val="60000"/>
              <a:buFont typeface="Wingdings" panose="05000000000000000000" pitchFamily="2" charset="2"/>
              <a:buChar char="n"/>
              <a:defRPr/>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库存商品”账户         </a:t>
            </a:r>
            <a:r>
              <a:rPr lang="en-US" altLang="zh-CN" dirty="0">
                <a:latin typeface="黑体" panose="02010609060101010101" pitchFamily="49" charset="-122"/>
                <a:ea typeface="黑体" panose="02010609060101010101" pitchFamily="49" charset="-122"/>
              </a:rPr>
              <a:t>150 000        120 000         100 000</a:t>
            </a:r>
          </a:p>
          <a:p>
            <a:pPr marL="342900" indent="-342900" eaLnBrk="0" fontAlgn="base" hangingPunct="0">
              <a:lnSpc>
                <a:spcPct val="120000"/>
              </a:lnSpc>
              <a:spcBef>
                <a:spcPct val="20000"/>
              </a:spcBef>
              <a:spcAft>
                <a:spcPct val="0"/>
              </a:spcAft>
              <a:buClr>
                <a:schemeClr val="folHlink"/>
              </a:buClr>
              <a:buSzPct val="60000"/>
              <a:buFont typeface="Wingdings" panose="05000000000000000000" pitchFamily="2" charset="2"/>
              <a:buChar char="n"/>
              <a:defRPr/>
            </a:pPr>
            <a:r>
              <a:rPr lang="zh-CN" altLang="en-US" dirty="0">
                <a:latin typeface="黑体" panose="02010609060101010101" pitchFamily="49" charset="-122"/>
                <a:ea typeface="黑体" panose="02010609060101010101" pitchFamily="49" charset="-122"/>
              </a:rPr>
              <a:t>三、要求：</a:t>
            </a:r>
          </a:p>
          <a:p>
            <a:pPr marL="342900" indent="-342900" eaLnBrk="0" fontAlgn="base" hangingPunct="0">
              <a:lnSpc>
                <a:spcPct val="120000"/>
              </a:lnSpc>
              <a:spcBef>
                <a:spcPct val="20000"/>
              </a:spcBef>
              <a:spcAft>
                <a:spcPct val="0"/>
              </a:spcAft>
              <a:buClr>
                <a:schemeClr val="folHlink"/>
              </a:buClr>
              <a:buSzPct val="60000"/>
              <a:buFont typeface="Wingdings" panose="05000000000000000000" pitchFamily="2" charset="2"/>
              <a:buChar char="n"/>
              <a:defRPr/>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1   </a:t>
            </a:r>
            <a:r>
              <a:rPr lang="zh-CN" altLang="en-US" dirty="0">
                <a:latin typeface="黑体" panose="02010609060101010101" pitchFamily="49" charset="-122"/>
                <a:ea typeface="黑体" panose="02010609060101010101" pitchFamily="49" charset="-122"/>
              </a:rPr>
              <a:t>计算并结转本月已销商品的销项增值税。</a:t>
            </a:r>
          </a:p>
          <a:p>
            <a:pPr marL="342900" indent="-342900" eaLnBrk="0" fontAlgn="base" hangingPunct="0">
              <a:lnSpc>
                <a:spcPct val="120000"/>
              </a:lnSpc>
              <a:spcBef>
                <a:spcPct val="20000"/>
              </a:spcBef>
              <a:spcAft>
                <a:spcPct val="0"/>
              </a:spcAft>
              <a:buClr>
                <a:schemeClr val="folHlink"/>
              </a:buClr>
              <a:buSzPct val="60000"/>
              <a:buFont typeface="Wingdings" panose="05000000000000000000" pitchFamily="2" charset="2"/>
              <a:buChar char="n"/>
              <a:defRPr/>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2   </a:t>
            </a:r>
            <a:r>
              <a:rPr lang="zh-CN" altLang="en-US" dirty="0">
                <a:latin typeface="黑体" panose="02010609060101010101" pitchFamily="49" charset="-122"/>
                <a:ea typeface="黑体" panose="02010609060101010101" pitchFamily="49" charset="-122"/>
              </a:rPr>
              <a:t>计算并结转本月已销商品的进销差价。</a:t>
            </a:r>
          </a:p>
        </p:txBody>
      </p:sp>
      <p:sp>
        <p:nvSpPr>
          <p:cNvPr id="2" name="TextBox 1"/>
          <p:cNvSpPr txBox="1"/>
          <p:nvPr/>
        </p:nvSpPr>
        <p:spPr>
          <a:xfrm>
            <a:off x="1734207" y="930977"/>
            <a:ext cx="1891862" cy="769441"/>
          </a:xfrm>
          <a:prstGeom prst="rect">
            <a:avLst/>
          </a:prstGeom>
          <a:noFill/>
        </p:spPr>
        <p:txBody>
          <a:bodyPr wrap="square" rtlCol="0">
            <a:spAutoFit/>
          </a:bodyPr>
          <a:lstStyle/>
          <a:p>
            <a:r>
              <a:rPr lang="zh-CN" altLang="en-US" sz="4400" b="1" dirty="0">
                <a:solidFill>
                  <a:schemeClr val="tx2"/>
                </a:solidFill>
                <a:latin typeface="+mj-lt"/>
                <a:ea typeface="+mj-ea"/>
                <a:cs typeface="+mj-cs"/>
              </a:rPr>
              <a:t>练习题</a:t>
            </a:r>
          </a:p>
        </p:txBody>
      </p:sp>
    </p:spTree>
    <p:extLst>
      <p:ext uri="{BB962C8B-B14F-4D97-AF65-F5344CB8AC3E}">
        <p14:creationId xmlns:p14="http://schemas.microsoft.com/office/powerpoint/2010/main" val="25939178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endParaRPr lang="zh-CN" altLang="zh-CN"/>
          </a:p>
        </p:txBody>
      </p:sp>
      <p:sp>
        <p:nvSpPr>
          <p:cNvPr id="96259" name="Rectangle 3"/>
          <p:cNvSpPr>
            <a:spLocks noGrp="1" noChangeArrowheads="1"/>
          </p:cNvSpPr>
          <p:nvPr>
            <p:ph type="body" idx="1"/>
          </p:nvPr>
        </p:nvSpPr>
        <p:spPr>
          <a:xfrm>
            <a:off x="912285" y="2017713"/>
            <a:ext cx="11027833" cy="4114800"/>
          </a:xfrm>
        </p:spPr>
        <p:txBody>
          <a:bodyPr/>
          <a:lstStyle/>
          <a:p>
            <a:r>
              <a:rPr lang="zh-CN" altLang="en-US" dirty="0"/>
              <a:t>商品进销差价率</a:t>
            </a:r>
          </a:p>
          <a:p>
            <a:r>
              <a:rPr lang="en-US" altLang="zh-CN" dirty="0"/>
              <a:t>=   </a:t>
            </a:r>
            <a:r>
              <a:rPr lang="en-US" altLang="zh-CN" dirty="0">
                <a:latin typeface="Arial" charset="0"/>
              </a:rPr>
              <a:t>“</a:t>
            </a:r>
            <a:r>
              <a:rPr lang="zh-CN" altLang="en-US" dirty="0"/>
              <a:t>商品进销差价</a:t>
            </a:r>
            <a:r>
              <a:rPr lang="zh-CN" altLang="en-US" dirty="0">
                <a:latin typeface="Arial" charset="0"/>
              </a:rPr>
              <a:t>”</a:t>
            </a:r>
            <a:r>
              <a:rPr lang="zh-CN" altLang="en-US" dirty="0"/>
              <a:t>科目余额</a:t>
            </a:r>
          </a:p>
          <a:p>
            <a:r>
              <a:rPr lang="zh-CN" altLang="en-US" dirty="0"/>
              <a:t>      库存商品期初余额</a:t>
            </a:r>
            <a:r>
              <a:rPr lang="en-US" altLang="zh-CN" dirty="0"/>
              <a:t>+</a:t>
            </a:r>
            <a:r>
              <a:rPr lang="zh-CN" altLang="en-US" dirty="0"/>
              <a:t>本期购进库存商品</a:t>
            </a:r>
          </a:p>
          <a:p>
            <a:r>
              <a:rPr lang="en-US" altLang="zh-CN" dirty="0"/>
              <a:t>=   </a:t>
            </a:r>
            <a:r>
              <a:rPr lang="en-US" altLang="zh-CN" dirty="0">
                <a:latin typeface="Arial" charset="0"/>
              </a:rPr>
              <a:t>“</a:t>
            </a:r>
            <a:r>
              <a:rPr lang="zh-CN" altLang="en-US" dirty="0"/>
              <a:t>商品进销差价</a:t>
            </a:r>
            <a:r>
              <a:rPr lang="zh-CN" altLang="en-US" dirty="0">
                <a:latin typeface="Arial" charset="0"/>
              </a:rPr>
              <a:t>”</a:t>
            </a:r>
            <a:r>
              <a:rPr lang="zh-CN" altLang="en-US" dirty="0"/>
              <a:t>科目余额</a:t>
            </a:r>
          </a:p>
          <a:p>
            <a:r>
              <a:rPr lang="zh-CN" altLang="en-US" dirty="0"/>
              <a:t>      库存商品期末余额</a:t>
            </a:r>
            <a:r>
              <a:rPr lang="en-US" altLang="zh-CN" dirty="0"/>
              <a:t>+</a:t>
            </a:r>
            <a:r>
              <a:rPr lang="zh-CN" altLang="en-US" dirty="0"/>
              <a:t>主营业务成本借方额</a:t>
            </a:r>
          </a:p>
          <a:p>
            <a:r>
              <a:rPr lang="zh-CN" altLang="en-US" dirty="0"/>
              <a:t>期初</a:t>
            </a:r>
            <a:r>
              <a:rPr lang="en-US" altLang="zh-CN" dirty="0"/>
              <a:t>+</a:t>
            </a:r>
            <a:r>
              <a:rPr lang="zh-CN" altLang="en-US" dirty="0"/>
              <a:t>本期购进</a:t>
            </a:r>
            <a:r>
              <a:rPr lang="en-US" altLang="zh-CN" dirty="0"/>
              <a:t>-</a:t>
            </a:r>
            <a:r>
              <a:rPr lang="zh-CN" altLang="en-US" dirty="0"/>
              <a:t>本期减少</a:t>
            </a:r>
            <a:r>
              <a:rPr lang="en-US" altLang="zh-CN" dirty="0"/>
              <a:t>=</a:t>
            </a:r>
            <a:r>
              <a:rPr lang="zh-CN" altLang="en-US" dirty="0"/>
              <a:t>期末</a:t>
            </a:r>
          </a:p>
          <a:p>
            <a:r>
              <a:rPr lang="zh-CN" altLang="en-US" dirty="0"/>
              <a:t>期初</a:t>
            </a:r>
            <a:r>
              <a:rPr lang="en-US" altLang="zh-CN" dirty="0"/>
              <a:t>+</a:t>
            </a:r>
            <a:r>
              <a:rPr lang="zh-CN" altLang="en-US" dirty="0"/>
              <a:t>本期购进</a:t>
            </a:r>
            <a:r>
              <a:rPr lang="en-US" altLang="zh-CN" dirty="0"/>
              <a:t>=</a:t>
            </a:r>
            <a:r>
              <a:rPr lang="zh-CN" altLang="en-US" dirty="0"/>
              <a:t>期末</a:t>
            </a:r>
            <a:r>
              <a:rPr lang="en-US" altLang="zh-CN" dirty="0"/>
              <a:t>+</a:t>
            </a:r>
            <a:r>
              <a:rPr lang="zh-CN" altLang="en-US" dirty="0"/>
              <a:t>本期减少（成本）</a:t>
            </a:r>
          </a:p>
        </p:txBody>
      </p:sp>
      <p:sp>
        <p:nvSpPr>
          <p:cNvPr id="552964" name="Line 4"/>
          <p:cNvSpPr>
            <a:spLocks noChangeShapeType="1"/>
          </p:cNvSpPr>
          <p:nvPr/>
        </p:nvSpPr>
        <p:spPr bwMode="auto">
          <a:xfrm>
            <a:off x="1691640" y="3106420"/>
            <a:ext cx="9601200" cy="0"/>
          </a:xfrm>
          <a:prstGeom prst="line">
            <a:avLst/>
          </a:prstGeom>
          <a:noFill/>
          <a:ln w="9525">
            <a:solidFill>
              <a:schemeClr val="tx1"/>
            </a:solidFill>
            <a:miter lim="800000"/>
            <a:headEnd/>
            <a:tailEnd/>
          </a:ln>
          <a:effectLst/>
        </p:spPr>
        <p:txBody>
          <a:bodyPr wrap="none"/>
          <a:lstStyle/>
          <a:p>
            <a:pPr>
              <a:defRPr/>
            </a:pPr>
            <a:endParaRPr lang="zh-CN" altLang="en-US">
              <a:latin typeface="Arial" pitchFamily="34" charset="0"/>
              <a:ea typeface="宋体" pitchFamily="2" charset="-122"/>
            </a:endParaRPr>
          </a:p>
        </p:txBody>
      </p:sp>
      <p:sp>
        <p:nvSpPr>
          <p:cNvPr id="552965" name="Line 5"/>
          <p:cNvSpPr>
            <a:spLocks noChangeShapeType="1"/>
          </p:cNvSpPr>
          <p:nvPr/>
        </p:nvSpPr>
        <p:spPr bwMode="auto">
          <a:xfrm>
            <a:off x="1697991" y="4343027"/>
            <a:ext cx="9793816" cy="0"/>
          </a:xfrm>
          <a:prstGeom prst="line">
            <a:avLst/>
          </a:prstGeom>
          <a:noFill/>
          <a:ln w="9525">
            <a:solidFill>
              <a:schemeClr val="tx1"/>
            </a:solidFill>
            <a:miter lim="800000"/>
            <a:headEnd/>
            <a:tailEnd/>
          </a:ln>
          <a:effectLst/>
        </p:spPr>
        <p:txBody>
          <a:bodyPr wrap="none"/>
          <a:lstStyle/>
          <a:p>
            <a:pPr>
              <a:defRPr/>
            </a:pPr>
            <a:endParaRPr lang="zh-CN" altLang="en-US">
              <a:latin typeface="Arial" pitchFamily="34" charset="0"/>
              <a:ea typeface="宋体" pitchFamily="2" charset="-122"/>
            </a:endParaRPr>
          </a:p>
        </p:txBody>
      </p:sp>
    </p:spTree>
    <p:extLst>
      <p:ext uri="{BB962C8B-B14F-4D97-AF65-F5344CB8AC3E}">
        <p14:creationId xmlns:p14="http://schemas.microsoft.com/office/powerpoint/2010/main" val="23348813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endParaRPr lang="zh-CN" altLang="zh-CN"/>
          </a:p>
        </p:txBody>
      </p:sp>
      <p:sp>
        <p:nvSpPr>
          <p:cNvPr id="97283" name="Rectangle 3"/>
          <p:cNvSpPr>
            <a:spLocks noGrp="1" noChangeArrowheads="1"/>
          </p:cNvSpPr>
          <p:nvPr>
            <p:ph type="body" idx="1"/>
          </p:nvPr>
        </p:nvSpPr>
        <p:spPr/>
        <p:txBody>
          <a:bodyPr/>
          <a:lstStyle/>
          <a:p>
            <a:r>
              <a:rPr lang="zh-CN" altLang="en-US" sz="2400" b="0" dirty="0"/>
              <a:t>针织组的商品进销差价率</a:t>
            </a:r>
          </a:p>
          <a:p>
            <a:pPr marL="400050" lvl="1" indent="0">
              <a:buNone/>
            </a:pPr>
            <a:r>
              <a:rPr lang="en-US" altLang="zh-CN" sz="2400" b="0" dirty="0">
                <a:latin typeface="黑体" panose="02010609060101010101" pitchFamily="49" charset="-122"/>
                <a:ea typeface="黑体" panose="02010609060101010101" pitchFamily="49" charset="-122"/>
                <a:cs typeface="+mn-cs"/>
              </a:rPr>
              <a:t>=180 000/</a:t>
            </a:r>
            <a:r>
              <a:rPr lang="zh-CN" altLang="en-US" sz="2400" b="0" dirty="0">
                <a:latin typeface="黑体" panose="02010609060101010101" pitchFamily="49" charset="-122"/>
                <a:ea typeface="黑体" panose="02010609060101010101" pitchFamily="49" charset="-122"/>
                <a:cs typeface="+mn-cs"/>
              </a:rPr>
              <a:t>（</a:t>
            </a:r>
            <a:r>
              <a:rPr lang="en-US" altLang="zh-CN" sz="2400" b="0" dirty="0">
                <a:latin typeface="黑体" panose="02010609060101010101" pitchFamily="49" charset="-122"/>
                <a:ea typeface="黑体" panose="02010609060101010101" pitchFamily="49" charset="-122"/>
                <a:cs typeface="+mn-cs"/>
              </a:rPr>
              <a:t>450 000+150 000</a:t>
            </a:r>
            <a:r>
              <a:rPr lang="zh-CN" altLang="en-US" sz="2400" b="0" dirty="0">
                <a:latin typeface="黑体" panose="02010609060101010101" pitchFamily="49" charset="-122"/>
                <a:ea typeface="黑体" panose="02010609060101010101" pitchFamily="49" charset="-122"/>
                <a:cs typeface="+mn-cs"/>
              </a:rPr>
              <a:t>）</a:t>
            </a:r>
          </a:p>
          <a:p>
            <a:pPr marL="400050" lvl="1" indent="0">
              <a:buNone/>
            </a:pPr>
            <a:r>
              <a:rPr lang="en-US" altLang="zh-CN" sz="2400" b="0" dirty="0">
                <a:latin typeface="黑体" panose="02010609060101010101" pitchFamily="49" charset="-122"/>
                <a:ea typeface="黑体" panose="02010609060101010101" pitchFamily="49" charset="-122"/>
                <a:cs typeface="+mn-cs"/>
              </a:rPr>
              <a:t>=30%</a:t>
            </a:r>
          </a:p>
          <a:p>
            <a:r>
              <a:rPr lang="zh-CN" altLang="en-US" sz="2400" b="0" dirty="0"/>
              <a:t>已销商品的进销差价</a:t>
            </a:r>
          </a:p>
          <a:p>
            <a:pPr marL="400050" lvl="1" indent="0">
              <a:buNone/>
            </a:pPr>
            <a:r>
              <a:rPr lang="en-US" altLang="zh-CN" sz="2400" b="0" dirty="0">
                <a:latin typeface="黑体" panose="02010609060101010101" pitchFamily="49" charset="-122"/>
                <a:ea typeface="黑体" panose="02010609060101010101" pitchFamily="49" charset="-122"/>
                <a:cs typeface="+mn-cs"/>
              </a:rPr>
              <a:t>=450 000×30%</a:t>
            </a:r>
          </a:p>
          <a:p>
            <a:pPr marL="400050" lvl="1" indent="0">
              <a:buNone/>
            </a:pPr>
            <a:r>
              <a:rPr lang="en-US" altLang="zh-CN" sz="2400" b="0" dirty="0">
                <a:latin typeface="黑体" panose="02010609060101010101" pitchFamily="49" charset="-122"/>
                <a:ea typeface="黑体" panose="02010609060101010101" pitchFamily="49" charset="-122"/>
                <a:cs typeface="+mn-cs"/>
              </a:rPr>
              <a:t>=135 000</a:t>
            </a:r>
          </a:p>
          <a:p>
            <a:endParaRPr lang="en-US" altLang="zh-CN" dirty="0"/>
          </a:p>
        </p:txBody>
      </p:sp>
    </p:spTree>
    <p:extLst>
      <p:ext uri="{BB962C8B-B14F-4D97-AF65-F5344CB8AC3E}">
        <p14:creationId xmlns:p14="http://schemas.microsoft.com/office/powerpoint/2010/main" val="23645608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2130" name="Rectangle 2"/>
          <p:cNvSpPr>
            <a:spLocks noGrp="1" noChangeArrowheads="1"/>
          </p:cNvSpPr>
          <p:nvPr>
            <p:ph type="title"/>
          </p:nvPr>
        </p:nvSpPr>
        <p:spPr>
          <a:xfrm>
            <a:off x="1619250" y="504553"/>
            <a:ext cx="2660649" cy="1196975"/>
          </a:xfrm>
        </p:spPr>
        <p:txBody>
          <a:bodyPr/>
          <a:lstStyle/>
          <a:p>
            <a:pPr algn="just" eaLnBrk="1" hangingPunct="1"/>
            <a:r>
              <a:rPr lang="zh-CN" altLang="en-US" dirty="0"/>
              <a:t>思考：</a:t>
            </a:r>
          </a:p>
        </p:txBody>
      </p:sp>
      <p:sp>
        <p:nvSpPr>
          <p:cNvPr id="12" name="内容占位符 2">
            <a:extLst>
              <a:ext uri="{FF2B5EF4-FFF2-40B4-BE49-F238E27FC236}">
                <a16:creationId xmlns:a16="http://schemas.microsoft.com/office/drawing/2014/main" id="{12614669-5CDB-47E7-8896-E111995D6225}"/>
              </a:ext>
            </a:extLst>
          </p:cNvPr>
          <p:cNvSpPr>
            <a:spLocks noGrp="1"/>
          </p:cNvSpPr>
          <p:nvPr>
            <p:ph idx="1"/>
          </p:nvPr>
        </p:nvSpPr>
        <p:spPr>
          <a:xfrm>
            <a:off x="1435027" y="2301492"/>
            <a:ext cx="10363200" cy="4114800"/>
          </a:xfrm>
        </p:spPr>
        <p:txBody>
          <a:bodyPr/>
          <a:lstStyle/>
          <a:p>
            <a:r>
              <a:rPr lang="zh-CN" altLang="en-US" sz="2800" dirty="0">
                <a:latin typeface="楷体_GB2312" panose="02010609030101010101" pitchFamily="49" charset="-122"/>
                <a:ea typeface="楷体_GB2312" panose="02010609030101010101" pitchFamily="49" charset="-122"/>
              </a:rPr>
              <a:t>比较数量进价金额核算法和售价金额核算法的异同？</a:t>
            </a:r>
          </a:p>
          <a:p>
            <a:r>
              <a:rPr lang="zh-CN" altLang="en-US" sz="2800" dirty="0">
                <a:latin typeface="楷体_GB2312" panose="02010609030101010101" pitchFamily="49" charset="-122"/>
                <a:ea typeface="楷体_GB2312" panose="02010609030101010101" pitchFamily="49" charset="-122"/>
              </a:rPr>
              <a:t>说明材料成本差异率与商品进销差价率的异同点？</a:t>
            </a:r>
          </a:p>
        </p:txBody>
      </p:sp>
    </p:spTree>
    <p:extLst>
      <p:ext uri="{BB962C8B-B14F-4D97-AF65-F5344CB8AC3E}">
        <p14:creationId xmlns:p14="http://schemas.microsoft.com/office/powerpoint/2010/main" val="2699126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32130"/>
                                        </p:tgtEl>
                                        <p:attrNameLst>
                                          <p:attrName>style.visibility</p:attrName>
                                        </p:attrNameLst>
                                      </p:cBhvr>
                                      <p:to>
                                        <p:strVal val="visible"/>
                                      </p:to>
                                    </p:set>
                                    <p:animEffect transition="in" filter="slide(fromBottom)">
                                      <p:cBhvr>
                                        <p:cTn id="7" dur="500"/>
                                        <p:tgtEl>
                                          <p:spTgt spid="432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0"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883" name="Rectangle 3"/>
          <p:cNvSpPr>
            <a:spLocks noGrp="1" noChangeArrowheads="1"/>
          </p:cNvSpPr>
          <p:nvPr>
            <p:ph type="body" idx="1"/>
          </p:nvPr>
        </p:nvSpPr>
        <p:spPr>
          <a:xfrm>
            <a:off x="1522323" y="2093119"/>
            <a:ext cx="9501716" cy="741362"/>
          </a:xfrm>
        </p:spPr>
        <p:txBody>
          <a:bodyPr/>
          <a:lstStyle/>
          <a:p>
            <a:pPr algn="just" eaLnBrk="1" hangingPunct="1">
              <a:lnSpc>
                <a:spcPct val="90000"/>
              </a:lnSpc>
            </a:pPr>
            <a:r>
              <a:rPr lang="zh-CN" altLang="en-US" dirty="0"/>
              <a:t>（一）成本与可变现净值孰低法 </a:t>
            </a:r>
            <a:endParaRPr lang="en-US" altLang="zh-CN" dirty="0"/>
          </a:p>
          <a:p>
            <a:pPr lvl="1" indent="-342900">
              <a:lnSpc>
                <a:spcPct val="150000"/>
              </a:lnSpc>
              <a:spcBef>
                <a:spcPct val="15000"/>
              </a:spcBef>
              <a:buClr>
                <a:srgbClr val="FF0000"/>
              </a:buClr>
              <a:buSzPct val="65000"/>
            </a:pPr>
            <a:r>
              <a:rPr lang="zh-CN" altLang="en-US" dirty="0"/>
              <a:t>成本（指实际成本）</a:t>
            </a:r>
            <a:endParaRPr lang="en-US" altLang="zh-CN" dirty="0"/>
          </a:p>
          <a:p>
            <a:pPr lvl="1" indent="-342900">
              <a:lnSpc>
                <a:spcPct val="150000"/>
              </a:lnSpc>
              <a:spcBef>
                <a:spcPct val="15000"/>
              </a:spcBef>
              <a:buClr>
                <a:srgbClr val="FF0000"/>
              </a:buClr>
              <a:buSzPct val="65000"/>
            </a:pPr>
            <a:r>
              <a:rPr lang="zh-CN" altLang="en-US" dirty="0"/>
              <a:t>可变现净值</a:t>
            </a:r>
            <a:endParaRPr lang="en-US" altLang="zh-CN" dirty="0"/>
          </a:p>
          <a:p>
            <a:pPr lvl="1" indent="-342900">
              <a:lnSpc>
                <a:spcPct val="150000"/>
              </a:lnSpc>
              <a:spcBef>
                <a:spcPct val="15000"/>
              </a:spcBef>
              <a:buClr>
                <a:srgbClr val="FF0000"/>
              </a:buClr>
              <a:buSzPct val="65000"/>
            </a:pPr>
            <a:r>
              <a:rPr lang="zh-CN" altLang="en-US" dirty="0"/>
              <a:t>为什么期末存货要按此方法计价</a:t>
            </a:r>
          </a:p>
          <a:p>
            <a:pPr lvl="2" indent="-342900">
              <a:lnSpc>
                <a:spcPct val="150000"/>
              </a:lnSpc>
              <a:defRPr/>
            </a:pPr>
            <a:r>
              <a:rPr lang="zh-CN" altLang="en-US" dirty="0"/>
              <a:t>使资产符合定义</a:t>
            </a:r>
          </a:p>
          <a:p>
            <a:pPr lvl="2" indent="-342900">
              <a:lnSpc>
                <a:spcPct val="150000"/>
              </a:lnSpc>
              <a:defRPr/>
            </a:pPr>
            <a:r>
              <a:rPr lang="zh-CN" altLang="en-US" dirty="0"/>
              <a:t>贯彻谨慎性原则</a:t>
            </a:r>
          </a:p>
          <a:p>
            <a:pPr marL="0" indent="0" algn="just" eaLnBrk="1" hangingPunct="1">
              <a:lnSpc>
                <a:spcPct val="90000"/>
              </a:lnSpc>
              <a:buNone/>
            </a:pPr>
            <a:r>
              <a:rPr lang="zh-CN" altLang="en-US" dirty="0"/>
              <a:t>  </a:t>
            </a:r>
          </a:p>
        </p:txBody>
      </p:sp>
      <p:sp>
        <p:nvSpPr>
          <p:cNvPr id="32772" name="Rectangle 2"/>
          <p:cNvSpPr>
            <a:spLocks noGrp="1" noChangeArrowheads="1"/>
          </p:cNvSpPr>
          <p:nvPr>
            <p:ph type="title"/>
          </p:nvPr>
        </p:nvSpPr>
        <p:spPr bwMode="auto">
          <a:xfrm>
            <a:off x="1581445" y="914785"/>
            <a:ext cx="5561138" cy="769441"/>
          </a:xfrm>
          <a:noFill/>
        </p:spPr>
        <p:txBody>
          <a:bodyPr wrap="none" anchor="t">
            <a:spAutoFit/>
          </a:bodyPr>
          <a:lstStyle/>
          <a:p>
            <a:pPr algn="ctr" defTabSz="762000"/>
            <a:r>
              <a:rPr lang="en-US" altLang="zh-CN" dirty="0">
                <a:latin typeface="黑体" pitchFamily="2" charset="-122"/>
                <a:ea typeface="黑体" pitchFamily="2" charset="-122"/>
              </a:rPr>
              <a:t> </a:t>
            </a:r>
            <a:r>
              <a:rPr lang="zh-CN" altLang="en-US" dirty="0"/>
              <a:t>三、期末存货的计量</a:t>
            </a:r>
          </a:p>
        </p:txBody>
      </p:sp>
      <p:sp>
        <p:nvSpPr>
          <p:cNvPr id="6" name="矩形 5"/>
          <p:cNvSpPr/>
          <p:nvPr/>
        </p:nvSpPr>
        <p:spPr>
          <a:xfrm>
            <a:off x="2174424" y="2809556"/>
            <a:ext cx="184731" cy="974113"/>
          </a:xfrm>
          <a:prstGeom prst="rect">
            <a:avLst/>
          </a:prstGeom>
        </p:spPr>
        <p:txBody>
          <a:bodyPr wrap="none">
            <a:spAutoFit/>
          </a:bodyPr>
          <a:lstStyle/>
          <a:p>
            <a:pPr marL="228600" indent="-228600">
              <a:lnSpc>
                <a:spcPct val="85000"/>
              </a:lnSpc>
              <a:spcBef>
                <a:spcPct val="15000"/>
              </a:spcBef>
              <a:buClr>
                <a:srgbClr val="FFCC29"/>
              </a:buClr>
              <a:buSzPct val="65000"/>
            </a:pPr>
            <a:endParaRPr lang="zh-CN" altLang="en-US" b="1" dirty="0">
              <a:solidFill>
                <a:srgbClr val="000000"/>
              </a:solidFill>
              <a:latin typeface="Times New Roman" pitchFamily="18" charset="0"/>
              <a:cs typeface="Arial" charset="0"/>
            </a:endParaRPr>
          </a:p>
          <a:p>
            <a:pPr marL="228600" indent="-228600">
              <a:lnSpc>
                <a:spcPct val="85000"/>
              </a:lnSpc>
              <a:spcBef>
                <a:spcPct val="15000"/>
              </a:spcBef>
              <a:buClr>
                <a:srgbClr val="FFCC29"/>
              </a:buClr>
              <a:buSzPct val="65000"/>
            </a:pPr>
            <a:endParaRPr lang="en-US" altLang="zh-CN" sz="2400" b="1" dirty="0">
              <a:latin typeface="+mn-ea"/>
            </a:endParaRPr>
          </a:p>
          <a:p>
            <a:pPr marL="228600" indent="-228600">
              <a:lnSpc>
                <a:spcPct val="85000"/>
              </a:lnSpc>
              <a:spcBef>
                <a:spcPct val="15000"/>
              </a:spcBef>
              <a:buClr>
                <a:srgbClr val="FFCC29"/>
              </a:buClr>
              <a:buSzPct val="65000"/>
            </a:pPr>
            <a:endParaRPr lang="zh-CN" altLang="en-US" b="1" dirty="0">
              <a:solidFill>
                <a:srgbClr val="000000"/>
              </a:solidFill>
              <a:latin typeface="Times New Roman" pitchFamily="18" charset="0"/>
              <a:cs typeface="Arial" charset="0"/>
            </a:endParaRPr>
          </a:p>
        </p:txBody>
      </p:sp>
    </p:spTree>
    <p:extLst>
      <p:ext uri="{BB962C8B-B14F-4D97-AF65-F5344CB8AC3E}">
        <p14:creationId xmlns:p14="http://schemas.microsoft.com/office/powerpoint/2010/main" val="378723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8883">
                                            <p:txEl>
                                              <p:pRg st="0" end="0"/>
                                            </p:txEl>
                                          </p:spTgt>
                                        </p:tgtEl>
                                        <p:attrNameLst>
                                          <p:attrName>style.visibility</p:attrName>
                                        </p:attrNameLst>
                                      </p:cBhvr>
                                      <p:to>
                                        <p:strVal val="visible"/>
                                      </p:to>
                                    </p:set>
                                    <p:animEffect transition="in" filter="checkerboard(across)">
                                      <p:cBhvr>
                                        <p:cTn id="7" dur="500"/>
                                        <p:tgtEl>
                                          <p:spTgt spid="378883">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78883">
                                            <p:txEl>
                                              <p:pRg st="1" end="1"/>
                                            </p:txEl>
                                          </p:spTgt>
                                        </p:tgtEl>
                                        <p:attrNameLst>
                                          <p:attrName>style.visibility</p:attrName>
                                        </p:attrNameLst>
                                      </p:cBhvr>
                                      <p:to>
                                        <p:strVal val="visible"/>
                                      </p:to>
                                    </p:set>
                                    <p:animEffect transition="in" filter="checkerboard(across)">
                                      <p:cBhvr>
                                        <p:cTn id="10" dur="500"/>
                                        <p:tgtEl>
                                          <p:spTgt spid="378883">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378883">
                                            <p:txEl>
                                              <p:pRg st="2" end="2"/>
                                            </p:txEl>
                                          </p:spTgt>
                                        </p:tgtEl>
                                        <p:attrNameLst>
                                          <p:attrName>style.visibility</p:attrName>
                                        </p:attrNameLst>
                                      </p:cBhvr>
                                      <p:to>
                                        <p:strVal val="visible"/>
                                      </p:to>
                                    </p:set>
                                    <p:animEffect transition="in" filter="checkerboard(across)">
                                      <p:cBhvr>
                                        <p:cTn id="13" dur="500"/>
                                        <p:tgtEl>
                                          <p:spTgt spid="378883">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378883">
                                            <p:txEl>
                                              <p:pRg st="3" end="3"/>
                                            </p:txEl>
                                          </p:spTgt>
                                        </p:tgtEl>
                                        <p:attrNameLst>
                                          <p:attrName>style.visibility</p:attrName>
                                        </p:attrNameLst>
                                      </p:cBhvr>
                                      <p:to>
                                        <p:strVal val="visible"/>
                                      </p:to>
                                    </p:set>
                                    <p:animEffect transition="in" filter="checkerboard(across)">
                                      <p:cBhvr>
                                        <p:cTn id="16" dur="500"/>
                                        <p:tgtEl>
                                          <p:spTgt spid="378883">
                                            <p:txEl>
                                              <p:pRg st="3" end="3"/>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378883">
                                            <p:txEl>
                                              <p:pRg st="4" end="4"/>
                                            </p:txEl>
                                          </p:spTgt>
                                        </p:tgtEl>
                                        <p:attrNameLst>
                                          <p:attrName>style.visibility</p:attrName>
                                        </p:attrNameLst>
                                      </p:cBhvr>
                                      <p:to>
                                        <p:strVal val="visible"/>
                                      </p:to>
                                    </p:set>
                                    <p:animEffect transition="in" filter="checkerboard(across)">
                                      <p:cBhvr>
                                        <p:cTn id="19" dur="500"/>
                                        <p:tgtEl>
                                          <p:spTgt spid="378883">
                                            <p:txEl>
                                              <p:pRg st="4" end="4"/>
                                            </p:txEl>
                                          </p:spTgt>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378883">
                                            <p:txEl>
                                              <p:pRg st="5" end="5"/>
                                            </p:txEl>
                                          </p:spTgt>
                                        </p:tgtEl>
                                        <p:attrNameLst>
                                          <p:attrName>style.visibility</p:attrName>
                                        </p:attrNameLst>
                                      </p:cBhvr>
                                      <p:to>
                                        <p:strVal val="visible"/>
                                      </p:to>
                                    </p:set>
                                    <p:animEffect transition="in" filter="checkerboard(across)">
                                      <p:cBhvr>
                                        <p:cTn id="22" dur="500"/>
                                        <p:tgtEl>
                                          <p:spTgt spid="37888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78883">
                                            <p:txEl>
                                              <p:pRg st="6" end="6"/>
                                            </p:txEl>
                                          </p:spTgt>
                                        </p:tgtEl>
                                        <p:attrNameLst>
                                          <p:attrName>style.visibility</p:attrName>
                                        </p:attrNameLst>
                                      </p:cBhvr>
                                      <p:to>
                                        <p:strVal val="visible"/>
                                      </p:to>
                                    </p:set>
                                    <p:animEffect transition="in" filter="checkerboard(across)">
                                      <p:cBhvr>
                                        <p:cTn id="27" dur="500"/>
                                        <p:tgtEl>
                                          <p:spTgt spid="3788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3"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dirty="0"/>
              <a:t>（二）存货的可变现净值</a:t>
            </a:r>
          </a:p>
        </p:txBody>
      </p:sp>
      <p:sp>
        <p:nvSpPr>
          <p:cNvPr id="33795" name="Rectangle 3"/>
          <p:cNvSpPr>
            <a:spLocks noGrp="1" noChangeArrowheads="1"/>
          </p:cNvSpPr>
          <p:nvPr>
            <p:ph type="body" idx="1"/>
          </p:nvPr>
        </p:nvSpPr>
        <p:spPr>
          <a:xfrm>
            <a:off x="873309" y="2089972"/>
            <a:ext cx="10972800" cy="5078412"/>
          </a:xfrm>
        </p:spPr>
        <p:txBody>
          <a:bodyPr/>
          <a:lstStyle/>
          <a:p>
            <a:pPr eaLnBrk="1" hangingPunct="1"/>
            <a:r>
              <a:rPr lang="zh-CN" altLang="en-US" dirty="0"/>
              <a:t>可变现净值</a:t>
            </a:r>
          </a:p>
          <a:p>
            <a:pPr eaLnBrk="1" hangingPunct="1"/>
            <a:r>
              <a:rPr lang="zh-CN" altLang="en-US" dirty="0"/>
              <a:t>在日常活动中，存货的估计售价减去至完工时估计将要发生的成本、估计的销售费用以及相关税金后的金额</a:t>
            </a:r>
          </a:p>
          <a:p>
            <a:pPr lvl="1" eaLnBrk="1" hangingPunct="1"/>
            <a:r>
              <a:rPr lang="zh-CN" altLang="en-US" dirty="0"/>
              <a:t>估计售价</a:t>
            </a:r>
          </a:p>
          <a:p>
            <a:pPr lvl="1" eaLnBrk="1" hangingPunct="1"/>
            <a:r>
              <a:rPr lang="zh-CN" altLang="en-US" dirty="0"/>
              <a:t>至完工时估计将要发生的成本（如果已完工呢？）</a:t>
            </a:r>
          </a:p>
          <a:p>
            <a:pPr lvl="1" eaLnBrk="1" hangingPunct="1"/>
            <a:r>
              <a:rPr lang="zh-CN" altLang="en-US" dirty="0"/>
              <a:t>估计的销售费用</a:t>
            </a:r>
          </a:p>
          <a:p>
            <a:pPr lvl="1" eaLnBrk="1" hangingPunct="1"/>
            <a:r>
              <a:rPr lang="zh-CN" altLang="en-US" dirty="0"/>
              <a:t>相关税费</a:t>
            </a:r>
          </a:p>
          <a:p>
            <a:pPr eaLnBrk="1" hangingPunct="1">
              <a:buFont typeface="Wingdings" pitchFamily="2" charset="2"/>
              <a:buChar char="v"/>
            </a:pPr>
            <a:endParaRPr lang="en-US" altLang="zh-CN" dirty="0"/>
          </a:p>
        </p:txBody>
      </p:sp>
    </p:spTree>
    <p:extLst>
      <p:ext uri="{BB962C8B-B14F-4D97-AF65-F5344CB8AC3E}">
        <p14:creationId xmlns:p14="http://schemas.microsoft.com/office/powerpoint/2010/main" val="42864531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a:t>可变现净值的确定</a:t>
            </a:r>
          </a:p>
        </p:txBody>
      </p:sp>
      <p:sp>
        <p:nvSpPr>
          <p:cNvPr id="34819" name="Rectangle 3"/>
          <p:cNvSpPr>
            <a:spLocks noGrp="1" noChangeArrowheads="1"/>
          </p:cNvSpPr>
          <p:nvPr>
            <p:ph type="body" idx="1"/>
          </p:nvPr>
        </p:nvSpPr>
        <p:spPr>
          <a:xfrm>
            <a:off x="980089" y="1175571"/>
            <a:ext cx="11338984" cy="5307012"/>
          </a:xfrm>
        </p:spPr>
        <p:txBody>
          <a:bodyPr/>
          <a:lstStyle/>
          <a:p>
            <a:pPr eaLnBrk="1" hangingPunct="1">
              <a:lnSpc>
                <a:spcPct val="90000"/>
              </a:lnSpc>
              <a:buFont typeface="Wingdings" pitchFamily="2" charset="2"/>
              <a:buChar char="v"/>
            </a:pPr>
            <a:endParaRPr lang="en-US" altLang="zh-CN" sz="4400" dirty="0">
              <a:solidFill>
                <a:schemeClr val="tx2"/>
              </a:solidFill>
              <a:latin typeface="+mj-lt"/>
              <a:ea typeface="+mj-ea"/>
              <a:cs typeface="+mj-cs"/>
            </a:endParaRPr>
          </a:p>
          <a:p>
            <a:pPr eaLnBrk="1" hangingPunct="1">
              <a:lnSpc>
                <a:spcPct val="90000"/>
              </a:lnSpc>
            </a:pPr>
            <a:r>
              <a:rPr lang="zh-CN" altLang="en-US" sz="2800" dirty="0"/>
              <a:t>存货类型不同，可变现净值计算的方法存在差异</a:t>
            </a:r>
          </a:p>
          <a:p>
            <a:pPr eaLnBrk="1" hangingPunct="1">
              <a:lnSpc>
                <a:spcPct val="90000"/>
              </a:lnSpc>
            </a:pPr>
            <a:endParaRPr lang="zh-CN" altLang="en-US" sz="2800" dirty="0"/>
          </a:p>
          <a:p>
            <a:pPr eaLnBrk="1" hangingPunct="1">
              <a:lnSpc>
                <a:spcPct val="90000"/>
              </a:lnSpc>
            </a:pPr>
            <a:r>
              <a:rPr lang="zh-CN" altLang="en-US" sz="2800" dirty="0">
                <a:solidFill>
                  <a:srgbClr val="FF0000"/>
                </a:solidFill>
              </a:rPr>
              <a:t>商品存货</a:t>
            </a:r>
            <a:r>
              <a:rPr lang="zh-CN" altLang="en-US" sz="2800" dirty="0"/>
              <a:t>，如产成品、商品、用于出售的材料等</a:t>
            </a:r>
          </a:p>
          <a:p>
            <a:pPr lvl="1" eaLnBrk="1" hangingPunct="1">
              <a:lnSpc>
                <a:spcPct val="90000"/>
              </a:lnSpc>
            </a:pPr>
            <a:r>
              <a:rPr lang="zh-CN" altLang="en-US" sz="2400" dirty="0"/>
              <a:t>可变现净值</a:t>
            </a:r>
            <a:r>
              <a:rPr lang="en-US" altLang="zh-CN" sz="2400" dirty="0"/>
              <a:t>=</a:t>
            </a:r>
            <a:r>
              <a:rPr lang="zh-CN" altLang="en-US" sz="2400" dirty="0"/>
              <a:t>该</a:t>
            </a:r>
            <a:r>
              <a:rPr lang="zh-CN" altLang="en-US" sz="2400" dirty="0">
                <a:solidFill>
                  <a:srgbClr val="FF0000"/>
                </a:solidFill>
              </a:rPr>
              <a:t>商品存货</a:t>
            </a:r>
            <a:r>
              <a:rPr lang="zh-CN" altLang="en-US" sz="2400" dirty="0"/>
              <a:t>的估计售价</a:t>
            </a:r>
            <a:r>
              <a:rPr lang="en-US" altLang="zh-CN" sz="2400" dirty="0"/>
              <a:t>-</a:t>
            </a:r>
            <a:r>
              <a:rPr lang="zh-CN" altLang="en-US" sz="2400" dirty="0"/>
              <a:t>估计的销售费用</a:t>
            </a:r>
            <a:r>
              <a:rPr lang="en-US" altLang="zh-CN" sz="2400" dirty="0"/>
              <a:t>-</a:t>
            </a:r>
            <a:r>
              <a:rPr lang="zh-CN" altLang="en-US" sz="2400" dirty="0"/>
              <a:t>相关税费</a:t>
            </a:r>
          </a:p>
          <a:p>
            <a:pPr marL="914400" lvl="2" indent="0" eaLnBrk="1" hangingPunct="1">
              <a:lnSpc>
                <a:spcPct val="90000"/>
              </a:lnSpc>
              <a:buNone/>
            </a:pPr>
            <a:endParaRPr lang="zh-CN" altLang="en-US" dirty="0">
              <a:latin typeface="楷体_GB2312" panose="02010609030101010101" pitchFamily="49" charset="-122"/>
              <a:ea typeface="楷体_GB2312" panose="02010609030101010101" pitchFamily="49" charset="-122"/>
            </a:endParaRPr>
          </a:p>
          <a:p>
            <a:pPr eaLnBrk="1" hangingPunct="1">
              <a:lnSpc>
                <a:spcPct val="90000"/>
              </a:lnSpc>
            </a:pPr>
            <a:r>
              <a:rPr lang="zh-CN" altLang="en-US" sz="2800" dirty="0">
                <a:solidFill>
                  <a:srgbClr val="FF0000"/>
                </a:solidFill>
              </a:rPr>
              <a:t>材料存货</a:t>
            </a:r>
            <a:r>
              <a:rPr lang="zh-CN" altLang="en-US" sz="2800" dirty="0"/>
              <a:t>，如需要经过加工的材料</a:t>
            </a:r>
          </a:p>
          <a:p>
            <a:pPr lvl="1" eaLnBrk="1" hangingPunct="1">
              <a:lnSpc>
                <a:spcPct val="90000"/>
              </a:lnSpc>
            </a:pPr>
            <a:r>
              <a:rPr lang="zh-CN" altLang="en-US" sz="2400" dirty="0"/>
              <a:t>可变现净值</a:t>
            </a:r>
            <a:r>
              <a:rPr lang="en-US" altLang="zh-CN" sz="2400" dirty="0"/>
              <a:t>=</a:t>
            </a:r>
            <a:r>
              <a:rPr lang="zh-CN" altLang="en-US" sz="2400" dirty="0"/>
              <a:t>用该</a:t>
            </a:r>
            <a:r>
              <a:rPr lang="zh-CN" altLang="en-US" sz="2400" dirty="0">
                <a:solidFill>
                  <a:srgbClr val="FF0000"/>
                </a:solidFill>
              </a:rPr>
              <a:t>材料存货</a:t>
            </a:r>
            <a:r>
              <a:rPr lang="zh-CN" altLang="en-US" sz="2400" dirty="0"/>
              <a:t>所生产的</a:t>
            </a:r>
            <a:r>
              <a:rPr lang="zh-CN" altLang="en-US" sz="2400" dirty="0">
                <a:solidFill>
                  <a:srgbClr val="FF0000"/>
                </a:solidFill>
              </a:rPr>
              <a:t>产成品</a:t>
            </a:r>
            <a:r>
              <a:rPr lang="zh-CN" altLang="en-US" sz="2400" dirty="0"/>
              <a:t>的估计售价</a:t>
            </a:r>
            <a:r>
              <a:rPr lang="en-US" altLang="zh-CN" sz="2400" dirty="0"/>
              <a:t>-</a:t>
            </a:r>
            <a:r>
              <a:rPr lang="zh-CN" altLang="en-US" sz="2400" dirty="0"/>
              <a:t>至完工时估计将要发生的成本</a:t>
            </a:r>
            <a:r>
              <a:rPr lang="en-US" altLang="zh-CN" sz="2400" dirty="0"/>
              <a:t>-</a:t>
            </a:r>
            <a:r>
              <a:rPr lang="zh-CN" altLang="en-US" sz="2400" dirty="0"/>
              <a:t>估计的销售费用</a:t>
            </a:r>
            <a:r>
              <a:rPr lang="en-US" altLang="zh-CN" sz="2400" dirty="0"/>
              <a:t>-</a:t>
            </a:r>
            <a:r>
              <a:rPr lang="zh-CN" altLang="en-US" sz="2400" dirty="0"/>
              <a:t>相关税费</a:t>
            </a:r>
          </a:p>
          <a:p>
            <a:pPr lvl="1" eaLnBrk="1" hangingPunct="1">
              <a:lnSpc>
                <a:spcPct val="90000"/>
              </a:lnSpc>
              <a:buFont typeface="Wingdings" pitchFamily="2" charset="2"/>
              <a:buChar char="§"/>
            </a:pPr>
            <a:endParaRPr lang="zh-CN" altLang="en-US" sz="1600" dirty="0">
              <a:latin typeface="黑体" panose="02010609060101010101" pitchFamily="49" charset="-122"/>
              <a:ea typeface="黑体" panose="02010609060101010101" pitchFamily="49" charset="-122"/>
              <a:cs typeface="+mn-cs"/>
            </a:endParaRPr>
          </a:p>
          <a:p>
            <a:pPr eaLnBrk="1" hangingPunct="1">
              <a:lnSpc>
                <a:spcPct val="90000"/>
              </a:lnSpc>
            </a:pPr>
            <a:r>
              <a:rPr lang="zh-CN" altLang="en-US" sz="2800" dirty="0"/>
              <a:t>估计售价应如何确定呢？</a:t>
            </a:r>
          </a:p>
        </p:txBody>
      </p:sp>
    </p:spTree>
    <p:extLst>
      <p:ext uri="{BB962C8B-B14F-4D97-AF65-F5344CB8AC3E}">
        <p14:creationId xmlns:p14="http://schemas.microsoft.com/office/powerpoint/2010/main" val="11353989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dirty="0"/>
              <a:t>估计售价的确定</a:t>
            </a:r>
          </a:p>
        </p:txBody>
      </p:sp>
      <p:sp>
        <p:nvSpPr>
          <p:cNvPr id="35843" name="Rectangle 3"/>
          <p:cNvSpPr>
            <a:spLocks noGrp="1" noChangeArrowheads="1"/>
          </p:cNvSpPr>
          <p:nvPr>
            <p:ph type="body" idx="1"/>
          </p:nvPr>
        </p:nvSpPr>
        <p:spPr>
          <a:xfrm>
            <a:off x="1151248" y="2017713"/>
            <a:ext cx="10363200" cy="4114800"/>
          </a:xfrm>
        </p:spPr>
        <p:txBody>
          <a:bodyPr/>
          <a:lstStyle/>
          <a:p>
            <a:pPr eaLnBrk="1" hangingPunct="1">
              <a:lnSpc>
                <a:spcPct val="90000"/>
              </a:lnSpc>
            </a:pPr>
            <a:r>
              <a:rPr lang="zh-CN" altLang="en-US" dirty="0"/>
              <a:t>商品存货</a:t>
            </a:r>
          </a:p>
          <a:p>
            <a:pPr eaLnBrk="1" hangingPunct="1">
              <a:lnSpc>
                <a:spcPct val="90000"/>
              </a:lnSpc>
              <a:buFont typeface="Wingdings" pitchFamily="2" charset="2"/>
              <a:buChar char="v"/>
            </a:pPr>
            <a:endParaRPr lang="zh-CN" altLang="en-US" dirty="0"/>
          </a:p>
          <a:p>
            <a:pPr lvl="1" eaLnBrk="1" hangingPunct="1">
              <a:lnSpc>
                <a:spcPct val="90000"/>
              </a:lnSpc>
            </a:pP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1</a:t>
            </a:r>
            <a:r>
              <a:rPr lang="zh-CN" altLang="en-US" sz="2400" dirty="0">
                <a:latin typeface="楷体_GB2312" panose="02010609030101010101" pitchFamily="49" charset="-122"/>
                <a:ea typeface="楷体_GB2312" panose="02010609030101010101" pitchFamily="49" charset="-122"/>
              </a:rPr>
              <a:t>）为执行销售合同或者劳务合同而持有的</a:t>
            </a:r>
            <a:r>
              <a:rPr lang="zh-CN" altLang="en-US" sz="2400" dirty="0">
                <a:solidFill>
                  <a:srgbClr val="FF0000"/>
                </a:solidFill>
                <a:latin typeface="楷体_GB2312" panose="02010609030101010101" pitchFamily="49" charset="-122"/>
                <a:ea typeface="楷体_GB2312" panose="02010609030101010101" pitchFamily="49" charset="-122"/>
              </a:rPr>
              <a:t>商品或产成品</a:t>
            </a:r>
            <a:r>
              <a:rPr lang="zh-CN" altLang="en-US" sz="2400" dirty="0">
                <a:latin typeface="楷体_GB2312" panose="02010609030101010101" pitchFamily="49" charset="-122"/>
                <a:ea typeface="楷体_GB2312" panose="02010609030101010101" pitchFamily="49" charset="-122"/>
              </a:rPr>
              <a:t>，应当以该商品存货的</a:t>
            </a:r>
            <a:r>
              <a:rPr lang="zh-CN" altLang="en-US" sz="2400" dirty="0">
                <a:solidFill>
                  <a:srgbClr val="FF0000"/>
                </a:solidFill>
                <a:latin typeface="楷体_GB2312" panose="02010609030101010101" pitchFamily="49" charset="-122"/>
                <a:ea typeface="楷体_GB2312" panose="02010609030101010101" pitchFamily="49" charset="-122"/>
              </a:rPr>
              <a:t>合同价格</a:t>
            </a:r>
            <a:r>
              <a:rPr lang="zh-CN" altLang="en-US" sz="2400" dirty="0">
                <a:latin typeface="楷体_GB2312" panose="02010609030101010101" pitchFamily="49" charset="-122"/>
                <a:ea typeface="楷体_GB2312" panose="02010609030101010101" pitchFamily="49" charset="-122"/>
              </a:rPr>
              <a:t>作为估计售价</a:t>
            </a:r>
          </a:p>
          <a:p>
            <a:pPr lvl="1" eaLnBrk="1" hangingPunct="1">
              <a:lnSpc>
                <a:spcPct val="90000"/>
              </a:lnSpc>
            </a:pPr>
            <a:endParaRPr lang="zh-CN" altLang="en-US" sz="2400" dirty="0">
              <a:latin typeface="楷体_GB2312" panose="02010609030101010101" pitchFamily="49" charset="-122"/>
              <a:ea typeface="楷体_GB2312" panose="02010609030101010101" pitchFamily="49" charset="-122"/>
            </a:endParaRPr>
          </a:p>
          <a:p>
            <a:pPr lvl="1" eaLnBrk="1" hangingPunct="1">
              <a:lnSpc>
                <a:spcPct val="90000"/>
              </a:lnSpc>
            </a:pP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2</a:t>
            </a:r>
            <a:r>
              <a:rPr lang="zh-CN" altLang="en-US" sz="2400" dirty="0">
                <a:latin typeface="楷体_GB2312" panose="02010609030101010101" pitchFamily="49" charset="-122"/>
                <a:ea typeface="楷体_GB2312" panose="02010609030101010101" pitchFamily="49" charset="-122"/>
              </a:rPr>
              <a:t>）没有签订合同约定的</a:t>
            </a:r>
            <a:r>
              <a:rPr lang="zh-CN" altLang="en-US" sz="2400" dirty="0">
                <a:solidFill>
                  <a:srgbClr val="FF0000"/>
                </a:solidFill>
                <a:latin typeface="楷体_GB2312" panose="02010609030101010101" pitchFamily="49" charset="-122"/>
                <a:ea typeface="楷体_GB2312" panose="02010609030101010101" pitchFamily="49" charset="-122"/>
              </a:rPr>
              <a:t>商品或产成品</a:t>
            </a:r>
            <a:r>
              <a:rPr lang="zh-CN" altLang="en-US" sz="2400" dirty="0">
                <a:latin typeface="楷体_GB2312" panose="02010609030101010101" pitchFamily="49" charset="-122"/>
                <a:ea typeface="楷体_GB2312" panose="02010609030101010101" pitchFamily="49" charset="-122"/>
              </a:rPr>
              <a:t>，按</a:t>
            </a:r>
            <a:r>
              <a:rPr lang="zh-CN" altLang="en-US" sz="2400" dirty="0">
                <a:solidFill>
                  <a:srgbClr val="FF0000"/>
                </a:solidFill>
                <a:latin typeface="楷体_GB2312" panose="02010609030101010101" pitchFamily="49" charset="-122"/>
                <a:ea typeface="楷体_GB2312" panose="02010609030101010101" pitchFamily="49" charset="-122"/>
              </a:rPr>
              <a:t>一般销售价格</a:t>
            </a:r>
            <a:r>
              <a:rPr lang="zh-CN" altLang="en-US" sz="2400" dirty="0">
                <a:latin typeface="楷体_GB2312" panose="02010609030101010101" pitchFamily="49" charset="-122"/>
                <a:ea typeface="楷体_GB2312" panose="02010609030101010101" pitchFamily="49" charset="-122"/>
              </a:rPr>
              <a:t>作为估计售价</a:t>
            </a:r>
          </a:p>
          <a:p>
            <a:pPr lvl="1" eaLnBrk="1" hangingPunct="1">
              <a:lnSpc>
                <a:spcPct val="90000"/>
              </a:lnSpc>
            </a:pPr>
            <a:endParaRPr lang="zh-CN" altLang="en-US" sz="2400" dirty="0">
              <a:latin typeface="楷体_GB2312" panose="02010609030101010101" pitchFamily="49" charset="-122"/>
              <a:ea typeface="楷体_GB2312" panose="02010609030101010101" pitchFamily="49" charset="-122"/>
            </a:endParaRPr>
          </a:p>
          <a:p>
            <a:pPr lvl="1" eaLnBrk="1" hangingPunct="1">
              <a:lnSpc>
                <a:spcPct val="90000"/>
              </a:lnSpc>
            </a:pP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3</a:t>
            </a:r>
            <a:r>
              <a:rPr lang="zh-CN" altLang="en-US" sz="2400" dirty="0">
                <a:latin typeface="楷体_GB2312" panose="02010609030101010101" pitchFamily="49" charset="-122"/>
                <a:ea typeface="楷体_GB2312" panose="02010609030101010101" pitchFamily="49" charset="-122"/>
              </a:rPr>
              <a:t>）用于</a:t>
            </a:r>
            <a:r>
              <a:rPr lang="zh-CN" altLang="en-US" sz="2400" dirty="0">
                <a:solidFill>
                  <a:srgbClr val="FF0000"/>
                </a:solidFill>
                <a:latin typeface="楷体_GB2312" panose="02010609030101010101" pitchFamily="49" charset="-122"/>
                <a:ea typeface="楷体_GB2312" panose="02010609030101010101" pitchFamily="49" charset="-122"/>
              </a:rPr>
              <a:t>出售的材料</a:t>
            </a:r>
            <a:r>
              <a:rPr lang="zh-CN" altLang="en-US" sz="2400" dirty="0">
                <a:latin typeface="楷体_GB2312" panose="02010609030101010101" pitchFamily="49" charset="-122"/>
                <a:ea typeface="楷体_GB2312" panose="02010609030101010101" pitchFamily="49" charset="-122"/>
              </a:rPr>
              <a:t>，一般以</a:t>
            </a:r>
            <a:r>
              <a:rPr lang="zh-CN" altLang="en-US" sz="2400" dirty="0">
                <a:solidFill>
                  <a:srgbClr val="FF0000"/>
                </a:solidFill>
                <a:latin typeface="楷体_GB2312" panose="02010609030101010101" pitchFamily="49" charset="-122"/>
                <a:ea typeface="楷体_GB2312" panose="02010609030101010101" pitchFamily="49" charset="-122"/>
              </a:rPr>
              <a:t>市场价格</a:t>
            </a:r>
            <a:r>
              <a:rPr lang="zh-CN" altLang="en-US" sz="2400" dirty="0">
                <a:latin typeface="楷体_GB2312" panose="02010609030101010101" pitchFamily="49" charset="-122"/>
                <a:ea typeface="楷体_GB2312" panose="02010609030101010101" pitchFamily="49" charset="-122"/>
              </a:rPr>
              <a:t>作为估计售价，有合同约定的按合同价格确定</a:t>
            </a:r>
          </a:p>
        </p:txBody>
      </p:sp>
    </p:spTree>
    <p:extLst>
      <p:ext uri="{BB962C8B-B14F-4D97-AF65-F5344CB8AC3E}">
        <p14:creationId xmlns:p14="http://schemas.microsoft.com/office/powerpoint/2010/main" val="14428031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dirty="0"/>
              <a:t>估计售价的确定</a:t>
            </a:r>
          </a:p>
        </p:txBody>
      </p:sp>
      <p:sp>
        <p:nvSpPr>
          <p:cNvPr id="489475" name="Rectangle 3"/>
          <p:cNvSpPr>
            <a:spLocks noGrp="1" noChangeArrowheads="1"/>
          </p:cNvSpPr>
          <p:nvPr>
            <p:ph type="body" idx="1"/>
          </p:nvPr>
        </p:nvSpPr>
        <p:spPr>
          <a:xfrm>
            <a:off x="778716" y="2557811"/>
            <a:ext cx="10972800" cy="5006975"/>
          </a:xfrm>
        </p:spPr>
        <p:txBody>
          <a:bodyPr/>
          <a:lstStyle/>
          <a:p>
            <a:pPr lvl="1" eaLnBrk="1" hangingPunct="1">
              <a:lnSpc>
                <a:spcPct val="90000"/>
              </a:lnSpc>
            </a:pP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1</a:t>
            </a:r>
            <a:r>
              <a:rPr lang="zh-CN" altLang="en-US" sz="2400" dirty="0">
                <a:latin typeface="楷体_GB2312" panose="02010609030101010101" pitchFamily="49" charset="-122"/>
                <a:ea typeface="楷体_GB2312" panose="02010609030101010101" pitchFamily="49" charset="-122"/>
              </a:rPr>
              <a:t>）对于为生产而持有的材料，如果用其生产的产成品的可变现净值高于成本，则该材料仍然按成本计量</a:t>
            </a:r>
          </a:p>
          <a:p>
            <a:pPr lvl="1" eaLnBrk="1" hangingPunct="1">
              <a:lnSpc>
                <a:spcPct val="90000"/>
              </a:lnSpc>
            </a:pP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2</a:t>
            </a:r>
            <a:r>
              <a:rPr lang="zh-CN" altLang="en-US" sz="2400" dirty="0">
                <a:latin typeface="楷体_GB2312" panose="02010609030101010101" pitchFamily="49" charset="-122"/>
                <a:ea typeface="楷体_GB2312" panose="02010609030101010101" pitchFamily="49" charset="-122"/>
              </a:rPr>
              <a:t>）如果材料价格的下降表明产成品的可变现净值低于成本，则该材料应当按可变现净值计量</a:t>
            </a:r>
          </a:p>
          <a:p>
            <a:pPr lvl="2" eaLnBrk="1" hangingPunct="1">
              <a:lnSpc>
                <a:spcPct val="90000"/>
              </a:lnSpc>
            </a:pPr>
            <a:r>
              <a:rPr lang="zh-CN" altLang="en-US" dirty="0">
                <a:solidFill>
                  <a:srgbClr val="FF0000"/>
                </a:solidFill>
              </a:rPr>
              <a:t>判断：用其生产的产成品</a:t>
            </a:r>
            <a:r>
              <a:rPr lang="zh-CN" altLang="en-US" dirty="0"/>
              <a:t>的成本与可变现净值比较</a:t>
            </a:r>
          </a:p>
          <a:p>
            <a:pPr marL="914400" lvl="2" indent="0" eaLnBrk="1" hangingPunct="1">
              <a:lnSpc>
                <a:spcPct val="90000"/>
              </a:lnSpc>
              <a:buNone/>
            </a:pPr>
            <a:r>
              <a:rPr lang="zh-CN" altLang="en-US" dirty="0"/>
              <a:t>用其生产的产成品的可变现净值</a:t>
            </a:r>
            <a:r>
              <a:rPr lang="en-US" altLang="zh-CN" dirty="0"/>
              <a:t>=</a:t>
            </a:r>
            <a:r>
              <a:rPr lang="zh-CN" altLang="en-US" dirty="0"/>
              <a:t>估计售价</a:t>
            </a:r>
            <a:r>
              <a:rPr lang="en-US" altLang="zh-CN" dirty="0"/>
              <a:t>-</a:t>
            </a:r>
            <a:r>
              <a:rPr lang="zh-CN" altLang="en-US" dirty="0"/>
              <a:t>估计销售费用</a:t>
            </a:r>
            <a:r>
              <a:rPr lang="en-US" altLang="zh-CN" dirty="0"/>
              <a:t>-</a:t>
            </a:r>
            <a:r>
              <a:rPr lang="zh-CN" altLang="en-US" dirty="0"/>
              <a:t>相关税费</a:t>
            </a:r>
          </a:p>
          <a:p>
            <a:pPr lvl="2" eaLnBrk="1" hangingPunct="1">
              <a:lnSpc>
                <a:spcPct val="90000"/>
              </a:lnSpc>
            </a:pPr>
            <a:r>
              <a:rPr lang="zh-CN" altLang="en-US" dirty="0">
                <a:solidFill>
                  <a:srgbClr val="FF0000"/>
                </a:solidFill>
              </a:rPr>
              <a:t>计量：材料</a:t>
            </a:r>
            <a:r>
              <a:rPr lang="zh-CN" altLang="en-US" dirty="0"/>
              <a:t>的可变现净值与其成本的比较</a:t>
            </a:r>
          </a:p>
          <a:p>
            <a:pPr marL="914400" lvl="2" indent="0" eaLnBrk="1" hangingPunct="1">
              <a:lnSpc>
                <a:spcPct val="90000"/>
              </a:lnSpc>
              <a:buNone/>
            </a:pPr>
            <a:r>
              <a:rPr lang="zh-CN" altLang="en-US" dirty="0"/>
              <a:t>材料的可变现净值</a:t>
            </a:r>
            <a:r>
              <a:rPr lang="en-US" altLang="zh-CN" dirty="0"/>
              <a:t>=</a:t>
            </a:r>
            <a:r>
              <a:rPr lang="zh-CN" altLang="en-US" dirty="0"/>
              <a:t>用其生产的产成品的估计售价</a:t>
            </a:r>
            <a:r>
              <a:rPr lang="en-US" altLang="zh-CN" dirty="0"/>
              <a:t>-</a:t>
            </a:r>
            <a:r>
              <a:rPr lang="zh-CN" altLang="en-US" dirty="0"/>
              <a:t>至完工尚需发生的成本</a:t>
            </a:r>
            <a:r>
              <a:rPr lang="en-US" altLang="zh-CN" dirty="0"/>
              <a:t>-</a:t>
            </a:r>
            <a:r>
              <a:rPr lang="zh-CN" altLang="en-US" dirty="0"/>
              <a:t>估计销售费用</a:t>
            </a:r>
            <a:r>
              <a:rPr lang="en-US" altLang="zh-CN" dirty="0"/>
              <a:t>-</a:t>
            </a:r>
            <a:r>
              <a:rPr lang="zh-CN" altLang="en-US" dirty="0"/>
              <a:t>相关税费</a:t>
            </a:r>
          </a:p>
        </p:txBody>
      </p:sp>
      <p:sp>
        <p:nvSpPr>
          <p:cNvPr id="4" name="矩形 3"/>
          <p:cNvSpPr/>
          <p:nvPr/>
        </p:nvSpPr>
        <p:spPr>
          <a:xfrm>
            <a:off x="1166283" y="2004492"/>
            <a:ext cx="2294218" cy="535531"/>
          </a:xfrm>
          <a:prstGeom prst="rect">
            <a:avLst/>
          </a:prstGeom>
        </p:spPr>
        <p:txBody>
          <a:bodyPr wrap="none">
            <a:spAutoFit/>
          </a:bodyPr>
          <a:lstStyle/>
          <a:p>
            <a:pPr marL="457200" indent="-457200" eaLnBrk="1" hangingPunct="1">
              <a:lnSpc>
                <a:spcPct val="90000"/>
              </a:lnSpc>
              <a:buClr>
                <a:srgbClr val="3333FF"/>
              </a:buClr>
              <a:buSzPct val="60000"/>
              <a:buFont typeface="Wingdings" pitchFamily="2" charset="2"/>
              <a:buChar char="n"/>
              <a:defRPr/>
            </a:pPr>
            <a:r>
              <a:rPr lang="zh-CN" altLang="en-US" sz="3200" b="1" dirty="0">
                <a:latin typeface="黑体" panose="02010609060101010101" pitchFamily="49" charset="-122"/>
                <a:ea typeface="黑体" panose="02010609060101010101" pitchFamily="49" charset="-122"/>
              </a:rPr>
              <a:t>材料存货</a:t>
            </a:r>
          </a:p>
        </p:txBody>
      </p:sp>
    </p:spTree>
    <p:extLst>
      <p:ext uri="{BB962C8B-B14F-4D97-AF65-F5344CB8AC3E}">
        <p14:creationId xmlns:p14="http://schemas.microsoft.com/office/powerpoint/2010/main" val="1355532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9475">
                                            <p:txEl>
                                              <p:pRg st="0" end="0"/>
                                            </p:txEl>
                                          </p:spTgt>
                                        </p:tgtEl>
                                        <p:attrNameLst>
                                          <p:attrName>style.visibility</p:attrName>
                                        </p:attrNameLst>
                                      </p:cBhvr>
                                      <p:to>
                                        <p:strVal val="visible"/>
                                      </p:to>
                                    </p:set>
                                    <p:animEffect transition="in" filter="blinds(horizontal)">
                                      <p:cBhvr>
                                        <p:cTn id="7" dur="500"/>
                                        <p:tgtEl>
                                          <p:spTgt spid="4894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89475">
                                            <p:txEl>
                                              <p:pRg st="1" end="1"/>
                                            </p:txEl>
                                          </p:spTgt>
                                        </p:tgtEl>
                                        <p:attrNameLst>
                                          <p:attrName>style.visibility</p:attrName>
                                        </p:attrNameLst>
                                      </p:cBhvr>
                                      <p:to>
                                        <p:strVal val="visible"/>
                                      </p:to>
                                    </p:set>
                                    <p:animEffect transition="in" filter="box(in)">
                                      <p:cBhvr>
                                        <p:cTn id="12" dur="500"/>
                                        <p:tgtEl>
                                          <p:spTgt spid="4894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89475">
                                            <p:txEl>
                                              <p:pRg st="2" end="2"/>
                                            </p:txEl>
                                          </p:spTgt>
                                        </p:tgtEl>
                                        <p:attrNameLst>
                                          <p:attrName>style.visibility</p:attrName>
                                        </p:attrNameLst>
                                      </p:cBhvr>
                                      <p:to>
                                        <p:strVal val="visible"/>
                                      </p:to>
                                    </p:set>
                                    <p:animEffect transition="in" filter="box(in)">
                                      <p:cBhvr>
                                        <p:cTn id="17" dur="500"/>
                                        <p:tgtEl>
                                          <p:spTgt spid="489475">
                                            <p:txEl>
                                              <p:pRg st="2" end="2"/>
                                            </p:txEl>
                                          </p:spTgt>
                                        </p:tgtEl>
                                      </p:cBhvr>
                                    </p:animEffect>
                                  </p:childTnLst>
                                </p:cTn>
                              </p:par>
                              <p:par>
                                <p:cTn id="18" presetID="4" presetClass="entr" presetSubtype="16" fill="hold" nodeType="withEffect">
                                  <p:stCondLst>
                                    <p:cond delay="0"/>
                                  </p:stCondLst>
                                  <p:childTnLst>
                                    <p:set>
                                      <p:cBhvr>
                                        <p:cTn id="19" dur="1" fill="hold">
                                          <p:stCondLst>
                                            <p:cond delay="0"/>
                                          </p:stCondLst>
                                        </p:cTn>
                                        <p:tgtEl>
                                          <p:spTgt spid="489475">
                                            <p:txEl>
                                              <p:pRg st="3" end="3"/>
                                            </p:txEl>
                                          </p:spTgt>
                                        </p:tgtEl>
                                        <p:attrNameLst>
                                          <p:attrName>style.visibility</p:attrName>
                                        </p:attrNameLst>
                                      </p:cBhvr>
                                      <p:to>
                                        <p:strVal val="visible"/>
                                      </p:to>
                                    </p:set>
                                    <p:animEffect transition="in" filter="box(in)">
                                      <p:cBhvr>
                                        <p:cTn id="20" dur="500"/>
                                        <p:tgtEl>
                                          <p:spTgt spid="48947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nodeType="clickEffect">
                                  <p:stCondLst>
                                    <p:cond delay="0"/>
                                  </p:stCondLst>
                                  <p:childTnLst>
                                    <p:set>
                                      <p:cBhvr>
                                        <p:cTn id="24" dur="1" fill="hold">
                                          <p:stCondLst>
                                            <p:cond delay="0"/>
                                          </p:stCondLst>
                                        </p:cTn>
                                        <p:tgtEl>
                                          <p:spTgt spid="489475">
                                            <p:txEl>
                                              <p:pRg st="4" end="4"/>
                                            </p:txEl>
                                          </p:spTgt>
                                        </p:tgtEl>
                                        <p:attrNameLst>
                                          <p:attrName>style.visibility</p:attrName>
                                        </p:attrNameLst>
                                      </p:cBhvr>
                                      <p:to>
                                        <p:strVal val="visible"/>
                                      </p:to>
                                    </p:set>
                                    <p:animEffect transition="in" filter="diamond(in)">
                                      <p:cBhvr>
                                        <p:cTn id="25" dur="2000"/>
                                        <p:tgtEl>
                                          <p:spTgt spid="489475">
                                            <p:txEl>
                                              <p:pRg st="4" end="4"/>
                                            </p:txEl>
                                          </p:spTgt>
                                        </p:tgtEl>
                                      </p:cBhvr>
                                    </p:animEffect>
                                  </p:childTnLst>
                                </p:cTn>
                              </p:par>
                              <p:par>
                                <p:cTn id="26" presetID="8" presetClass="entr" presetSubtype="16" fill="hold" nodeType="withEffect">
                                  <p:stCondLst>
                                    <p:cond delay="0"/>
                                  </p:stCondLst>
                                  <p:childTnLst>
                                    <p:set>
                                      <p:cBhvr>
                                        <p:cTn id="27" dur="1" fill="hold">
                                          <p:stCondLst>
                                            <p:cond delay="0"/>
                                          </p:stCondLst>
                                        </p:cTn>
                                        <p:tgtEl>
                                          <p:spTgt spid="489475">
                                            <p:txEl>
                                              <p:pRg st="5" end="5"/>
                                            </p:txEl>
                                          </p:spTgt>
                                        </p:tgtEl>
                                        <p:attrNameLst>
                                          <p:attrName>style.visibility</p:attrName>
                                        </p:attrNameLst>
                                      </p:cBhvr>
                                      <p:to>
                                        <p:strVal val="visible"/>
                                      </p:to>
                                    </p:set>
                                    <p:animEffect transition="in" filter="diamond(in)">
                                      <p:cBhvr>
                                        <p:cTn id="28" dur="2000"/>
                                        <p:tgtEl>
                                          <p:spTgt spid="4894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dirty="0"/>
              <a:t>思考题</a:t>
            </a:r>
          </a:p>
        </p:txBody>
      </p:sp>
      <p:sp>
        <p:nvSpPr>
          <p:cNvPr id="490499" name="Rectangle 3"/>
          <p:cNvSpPr>
            <a:spLocks noGrp="1" noChangeArrowheads="1"/>
          </p:cNvSpPr>
          <p:nvPr>
            <p:ph type="body" idx="1"/>
          </p:nvPr>
        </p:nvSpPr>
        <p:spPr>
          <a:xfrm>
            <a:off x="1308903" y="2033478"/>
            <a:ext cx="10363200" cy="4114800"/>
          </a:xfrm>
        </p:spPr>
        <p:txBody>
          <a:bodyPr/>
          <a:lstStyle/>
          <a:p>
            <a:r>
              <a:rPr lang="en-US" altLang="zh-CN" sz="2400" b="0" dirty="0"/>
              <a:t>1</a:t>
            </a:r>
            <a:r>
              <a:rPr lang="zh-CN" altLang="en-US" sz="2400" b="0" dirty="0"/>
              <a:t>）年末某企业库存原材料－</a:t>
            </a:r>
            <a:r>
              <a:rPr lang="en-US" altLang="zh-CN" sz="2400" b="0" dirty="0"/>
              <a:t>A</a:t>
            </a:r>
            <a:r>
              <a:rPr lang="zh-CN" altLang="en-US" sz="2400" b="0" dirty="0"/>
              <a:t>材料的账面价值为</a:t>
            </a:r>
            <a:r>
              <a:rPr lang="en-US" altLang="zh-CN" sz="2400" b="0" dirty="0"/>
              <a:t>30,000</a:t>
            </a:r>
            <a:r>
              <a:rPr lang="zh-CN" altLang="en-US" sz="2400" b="0" dirty="0"/>
              <a:t>元，市场购买价格为</a:t>
            </a:r>
            <a:r>
              <a:rPr lang="en-US" altLang="zh-CN" sz="2400" b="0" dirty="0"/>
              <a:t>28,000</a:t>
            </a:r>
            <a:r>
              <a:rPr lang="zh-CN" altLang="en-US" sz="2400" b="0" dirty="0"/>
              <a:t>元，假设不发生其它购买费用；用</a:t>
            </a:r>
            <a:r>
              <a:rPr lang="en-US" altLang="zh-CN" sz="2400" b="0" dirty="0"/>
              <a:t>A</a:t>
            </a:r>
            <a:r>
              <a:rPr lang="zh-CN" altLang="en-US" sz="2400" b="0" dirty="0"/>
              <a:t>材料生产的产成品－甲机器的可变现净值高于成本，是否应对</a:t>
            </a:r>
            <a:r>
              <a:rPr lang="en-US" altLang="zh-CN" sz="2400" b="0" dirty="0"/>
              <a:t>A</a:t>
            </a:r>
            <a:r>
              <a:rPr lang="zh-CN" altLang="en-US" sz="2400" b="0" dirty="0"/>
              <a:t>材料计提存货跌价准备？</a:t>
            </a:r>
          </a:p>
          <a:p>
            <a:endParaRPr lang="zh-CN" altLang="en-US" sz="2400" b="0" dirty="0"/>
          </a:p>
          <a:p>
            <a:r>
              <a:rPr lang="zh-CN" altLang="en-US" sz="2400" b="0" dirty="0"/>
              <a:t>分析：对于为生产而持有的材料，如果用其生产的产成品的可变现净值高于成本，则该材料仍然按成本计量，因此，无需对</a:t>
            </a:r>
            <a:r>
              <a:rPr lang="en-US" altLang="zh-CN" sz="2400" b="0" dirty="0"/>
              <a:t>A</a:t>
            </a:r>
            <a:r>
              <a:rPr lang="zh-CN" altLang="en-US" sz="2400" b="0" dirty="0"/>
              <a:t>材料计提存货跌价准备</a:t>
            </a:r>
          </a:p>
          <a:p>
            <a:endParaRPr lang="en-US" altLang="zh-CN" sz="2400" b="0" dirty="0"/>
          </a:p>
        </p:txBody>
      </p:sp>
    </p:spTree>
    <p:extLst>
      <p:ext uri="{BB962C8B-B14F-4D97-AF65-F5344CB8AC3E}">
        <p14:creationId xmlns:p14="http://schemas.microsoft.com/office/powerpoint/2010/main" val="1003557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0499">
                                            <p:txEl>
                                              <p:pRg st="0" end="0"/>
                                            </p:txEl>
                                          </p:spTgt>
                                        </p:tgtEl>
                                        <p:attrNameLst>
                                          <p:attrName>style.visibility</p:attrName>
                                        </p:attrNameLst>
                                      </p:cBhvr>
                                      <p:to>
                                        <p:strVal val="visible"/>
                                      </p:to>
                                    </p:set>
                                    <p:animEffect transition="in" filter="blinds(horizontal)">
                                      <p:cBhvr>
                                        <p:cTn id="7" dur="500"/>
                                        <p:tgtEl>
                                          <p:spTgt spid="4904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90499">
                                            <p:txEl>
                                              <p:pRg st="2" end="2"/>
                                            </p:txEl>
                                          </p:spTgt>
                                        </p:tgtEl>
                                        <p:attrNameLst>
                                          <p:attrName>style.visibility</p:attrName>
                                        </p:attrNameLst>
                                      </p:cBhvr>
                                      <p:to>
                                        <p:strVal val="visible"/>
                                      </p:to>
                                    </p:set>
                                    <p:animEffect transition="in" filter="box(in)">
                                      <p:cBhvr>
                                        <p:cTn id="12" dur="500"/>
                                        <p:tgtEl>
                                          <p:spTgt spid="4904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dirty="0"/>
              <a:t>思考题</a:t>
            </a:r>
          </a:p>
        </p:txBody>
      </p:sp>
      <p:sp>
        <p:nvSpPr>
          <p:cNvPr id="491523" name="Rectangle 3"/>
          <p:cNvSpPr>
            <a:spLocks noGrp="1" noChangeArrowheads="1"/>
          </p:cNvSpPr>
          <p:nvPr>
            <p:ph type="body" idx="1"/>
          </p:nvPr>
        </p:nvSpPr>
        <p:spPr>
          <a:xfrm>
            <a:off x="831560" y="2148326"/>
            <a:ext cx="10724564" cy="5307012"/>
          </a:xfrm>
        </p:spPr>
        <p:txBody>
          <a:bodyPr/>
          <a:lstStyle/>
          <a:p>
            <a:r>
              <a:rPr lang="en-US" altLang="zh-CN" sz="2400" b="0" dirty="0"/>
              <a:t>2</a:t>
            </a:r>
            <a:r>
              <a:rPr lang="zh-CN" altLang="en-US" sz="2400" b="0" dirty="0"/>
              <a:t>）年末某企业库存原材料－</a:t>
            </a:r>
            <a:r>
              <a:rPr lang="en-US" altLang="zh-CN" sz="2400" b="0" dirty="0"/>
              <a:t>B</a:t>
            </a:r>
            <a:r>
              <a:rPr lang="zh-CN" altLang="en-US" sz="2400" b="0" dirty="0"/>
              <a:t>材料的账面价值为</a:t>
            </a:r>
            <a:r>
              <a:rPr lang="en-US" altLang="zh-CN" sz="2400" b="0" dirty="0"/>
              <a:t>12 000</a:t>
            </a:r>
            <a:r>
              <a:rPr lang="zh-CN" altLang="en-US" sz="2400" b="0" dirty="0"/>
              <a:t>元，市场购买价格为</a:t>
            </a:r>
            <a:r>
              <a:rPr lang="en-US" altLang="zh-CN" sz="2400" b="0" dirty="0"/>
              <a:t>11 000</a:t>
            </a:r>
            <a:r>
              <a:rPr lang="zh-CN" altLang="en-US" sz="2400" b="0" dirty="0"/>
              <a:t>元，假设不发生其它购买费用；用</a:t>
            </a:r>
            <a:r>
              <a:rPr lang="en-US" altLang="zh-CN" sz="2400" b="0" dirty="0"/>
              <a:t>B</a:t>
            </a:r>
            <a:r>
              <a:rPr lang="zh-CN" altLang="en-US" sz="2400" b="0" dirty="0"/>
              <a:t>材料生产的产成品－乙机器的售价从</a:t>
            </a:r>
            <a:r>
              <a:rPr lang="en-US" altLang="zh-CN" sz="2400" b="0" dirty="0"/>
              <a:t>30 000</a:t>
            </a:r>
            <a:r>
              <a:rPr lang="zh-CN" altLang="en-US" sz="2400" b="0" dirty="0"/>
              <a:t>元下降到</a:t>
            </a:r>
            <a:r>
              <a:rPr lang="en-US" altLang="zh-CN" sz="2400" b="0" dirty="0"/>
              <a:t>27 000</a:t>
            </a:r>
            <a:r>
              <a:rPr lang="zh-CN" altLang="en-US" sz="2400" b="0" dirty="0"/>
              <a:t>元，将</a:t>
            </a:r>
            <a:r>
              <a:rPr lang="en-US" altLang="zh-CN" sz="2400" b="0" dirty="0"/>
              <a:t>B</a:t>
            </a:r>
            <a:r>
              <a:rPr lang="zh-CN" altLang="en-US" sz="2400" b="0" dirty="0"/>
              <a:t>材料加工成乙机器尚需投入</a:t>
            </a:r>
            <a:r>
              <a:rPr lang="en-US" altLang="zh-CN" sz="2400" b="0" dirty="0"/>
              <a:t>16 000</a:t>
            </a:r>
            <a:r>
              <a:rPr lang="zh-CN" altLang="en-US" sz="2400" b="0" dirty="0"/>
              <a:t>元，估计销售费用及税费为</a:t>
            </a:r>
            <a:r>
              <a:rPr lang="en-US" altLang="zh-CN" sz="2400" b="0" dirty="0"/>
              <a:t>1 000</a:t>
            </a:r>
            <a:r>
              <a:rPr lang="zh-CN" altLang="en-US" sz="2400" b="0" dirty="0"/>
              <a:t>元，是否应对</a:t>
            </a:r>
            <a:r>
              <a:rPr lang="en-US" altLang="zh-CN" sz="2400" b="0" dirty="0"/>
              <a:t>B</a:t>
            </a:r>
            <a:r>
              <a:rPr lang="zh-CN" altLang="en-US" sz="2400" b="0" dirty="0"/>
              <a:t>材料计提准备</a:t>
            </a:r>
          </a:p>
          <a:p>
            <a:r>
              <a:rPr lang="zh-CN" altLang="en-US" sz="2400" b="0" dirty="0"/>
              <a:t>判断：乙机器的可变现净值</a:t>
            </a:r>
            <a:r>
              <a:rPr lang="en-US" altLang="zh-CN" sz="2400" b="0" dirty="0"/>
              <a:t>=27 000-1 000=26 000</a:t>
            </a:r>
            <a:r>
              <a:rPr lang="zh-CN" altLang="en-US" sz="2400" b="0" dirty="0"/>
              <a:t>元，</a:t>
            </a:r>
            <a:endParaRPr lang="en-US" altLang="zh-CN" sz="2400" b="0" dirty="0"/>
          </a:p>
          <a:p>
            <a:pPr marL="0" indent="0">
              <a:buNone/>
            </a:pPr>
            <a:r>
              <a:rPr lang="en-US" altLang="zh-CN" sz="2400" b="0" dirty="0"/>
              <a:t>  </a:t>
            </a:r>
            <a:r>
              <a:rPr lang="zh-CN" altLang="en-US" sz="2400" b="0" dirty="0"/>
              <a:t>乙机器的成本</a:t>
            </a:r>
            <a:r>
              <a:rPr lang="en-US" altLang="zh-CN" sz="2400" b="0" dirty="0"/>
              <a:t>=12 000+16 000=28 000</a:t>
            </a:r>
            <a:r>
              <a:rPr lang="zh-CN" altLang="en-US" sz="2400" b="0" dirty="0"/>
              <a:t>元，故</a:t>
            </a:r>
            <a:r>
              <a:rPr lang="en-US" altLang="zh-CN" sz="2400" b="0" dirty="0"/>
              <a:t>B</a:t>
            </a:r>
            <a:r>
              <a:rPr lang="zh-CN" altLang="en-US" sz="2400" b="0" dirty="0"/>
              <a:t>材料应当按可变现净值计量。</a:t>
            </a:r>
          </a:p>
          <a:p>
            <a:r>
              <a:rPr lang="zh-CN" altLang="en-US" sz="2400" b="0" dirty="0"/>
              <a:t>计量：</a:t>
            </a:r>
            <a:r>
              <a:rPr lang="en-US" altLang="zh-CN" sz="2400" b="0" dirty="0"/>
              <a:t>B</a:t>
            </a:r>
            <a:r>
              <a:rPr lang="zh-CN" altLang="en-US" sz="2400" b="0" dirty="0"/>
              <a:t>材料可变现净值＝</a:t>
            </a:r>
            <a:r>
              <a:rPr lang="en-US" altLang="zh-CN" sz="2400" b="0" dirty="0"/>
              <a:t>27000-16000-1000</a:t>
            </a:r>
            <a:r>
              <a:rPr lang="zh-CN" altLang="en-US" sz="2400" b="0" dirty="0"/>
              <a:t>＝</a:t>
            </a:r>
            <a:r>
              <a:rPr lang="en-US" altLang="zh-CN" sz="2400" b="0" dirty="0"/>
              <a:t>10 000</a:t>
            </a:r>
            <a:r>
              <a:rPr lang="zh-CN" altLang="en-US" sz="2400" b="0" dirty="0"/>
              <a:t>元，成本</a:t>
            </a:r>
            <a:r>
              <a:rPr lang="en-US" altLang="zh-CN" sz="2400" b="0" dirty="0"/>
              <a:t>=12 000</a:t>
            </a:r>
            <a:r>
              <a:rPr lang="zh-CN" altLang="en-US" sz="2400" b="0" dirty="0"/>
              <a:t>，需计提跌价准备</a:t>
            </a:r>
            <a:r>
              <a:rPr lang="en-US" altLang="zh-CN" sz="2400" b="0" dirty="0"/>
              <a:t>2 000</a:t>
            </a:r>
            <a:r>
              <a:rPr lang="zh-CN" altLang="en-US" sz="2400" b="0" dirty="0"/>
              <a:t>元</a:t>
            </a:r>
          </a:p>
        </p:txBody>
      </p:sp>
    </p:spTree>
    <p:extLst>
      <p:ext uri="{BB962C8B-B14F-4D97-AF65-F5344CB8AC3E}">
        <p14:creationId xmlns:p14="http://schemas.microsoft.com/office/powerpoint/2010/main" val="165421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1523">
                                            <p:txEl>
                                              <p:pRg st="0" end="0"/>
                                            </p:txEl>
                                          </p:spTgt>
                                        </p:tgtEl>
                                        <p:attrNameLst>
                                          <p:attrName>style.visibility</p:attrName>
                                        </p:attrNameLst>
                                      </p:cBhvr>
                                      <p:to>
                                        <p:strVal val="visible"/>
                                      </p:to>
                                    </p:set>
                                    <p:animEffect transition="in" filter="blinds(horizontal)">
                                      <p:cBhvr>
                                        <p:cTn id="7" dur="500"/>
                                        <p:tgtEl>
                                          <p:spTgt spid="4915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91523">
                                            <p:txEl>
                                              <p:pRg st="1" end="1"/>
                                            </p:txEl>
                                          </p:spTgt>
                                        </p:tgtEl>
                                        <p:attrNameLst>
                                          <p:attrName>style.visibility</p:attrName>
                                        </p:attrNameLst>
                                      </p:cBhvr>
                                      <p:to>
                                        <p:strVal val="visible"/>
                                      </p:to>
                                    </p:set>
                                    <p:animEffect transition="in" filter="box(in)">
                                      <p:cBhvr>
                                        <p:cTn id="12" dur="500"/>
                                        <p:tgtEl>
                                          <p:spTgt spid="4915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91523">
                                            <p:txEl>
                                              <p:pRg st="2" end="2"/>
                                            </p:txEl>
                                          </p:spTgt>
                                        </p:tgtEl>
                                        <p:attrNameLst>
                                          <p:attrName>style.visibility</p:attrName>
                                        </p:attrNameLst>
                                      </p:cBhvr>
                                      <p:to>
                                        <p:strVal val="visible"/>
                                      </p:to>
                                    </p:set>
                                    <p:animEffect transition="in" filter="box(in)">
                                      <p:cBhvr>
                                        <p:cTn id="17" dur="500"/>
                                        <p:tgtEl>
                                          <p:spTgt spid="4915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91523">
                                            <p:txEl>
                                              <p:pRg st="3" end="3"/>
                                            </p:txEl>
                                          </p:spTgt>
                                        </p:tgtEl>
                                        <p:attrNameLst>
                                          <p:attrName>style.visibility</p:attrName>
                                        </p:attrNameLst>
                                      </p:cBhvr>
                                      <p:to>
                                        <p:strVal val="visible"/>
                                      </p:to>
                                    </p:set>
                                    <p:animEffect transition="in" filter="checkerboard(across)">
                                      <p:cBhvr>
                                        <p:cTn id="22" dur="500"/>
                                        <p:tgtEl>
                                          <p:spTgt spid="4915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a:xfrm>
            <a:off x="1469697" y="978995"/>
            <a:ext cx="8638117" cy="687388"/>
          </a:xfrm>
        </p:spPr>
        <p:txBody>
          <a:bodyPr/>
          <a:lstStyle/>
          <a:p>
            <a:pPr eaLnBrk="1" hangingPunct="1"/>
            <a:r>
              <a:rPr lang="zh-CN" altLang="en-US" dirty="0"/>
              <a:t>练习题</a:t>
            </a:r>
          </a:p>
        </p:txBody>
      </p:sp>
      <p:sp>
        <p:nvSpPr>
          <p:cNvPr id="508931" name="Rectangle 3"/>
          <p:cNvSpPr>
            <a:spLocks noGrp="1" noChangeArrowheads="1"/>
          </p:cNvSpPr>
          <p:nvPr>
            <p:ph type="body" idx="1"/>
          </p:nvPr>
        </p:nvSpPr>
        <p:spPr>
          <a:xfrm>
            <a:off x="824262" y="1806575"/>
            <a:ext cx="11167605" cy="5051425"/>
          </a:xfrm>
        </p:spPr>
        <p:txBody>
          <a:bodyPr/>
          <a:lstStyle/>
          <a:p>
            <a:pPr defTabSz="1543050"/>
            <a:r>
              <a:rPr lang="en-US" altLang="zh-CN" sz="2400" b="0" dirty="0"/>
              <a:t>4. </a:t>
            </a:r>
            <a:r>
              <a:rPr lang="zh-CN" altLang="en-US" sz="2400" b="0" dirty="0"/>
              <a:t>年末某企业库存半成品成本</a:t>
            </a:r>
            <a:r>
              <a:rPr lang="en-US" altLang="zh-CN" sz="2400" b="0" dirty="0"/>
              <a:t>500</a:t>
            </a:r>
            <a:r>
              <a:rPr lang="zh-CN" altLang="en-US" sz="2400" b="0" dirty="0"/>
              <a:t>万元，预计进一步加工所需成本</a:t>
            </a:r>
            <a:r>
              <a:rPr lang="en-US" altLang="zh-CN" sz="2400" b="0" dirty="0"/>
              <a:t>100</a:t>
            </a:r>
            <a:r>
              <a:rPr lang="zh-CN" altLang="en-US" sz="2400" b="0" dirty="0"/>
              <a:t>万元，预计销售所须交纳税金、费用</a:t>
            </a:r>
            <a:r>
              <a:rPr lang="en-US" altLang="zh-CN" sz="2400" b="0" dirty="0"/>
              <a:t>150</a:t>
            </a:r>
            <a:r>
              <a:rPr lang="zh-CN" altLang="en-US" sz="2400" b="0" dirty="0"/>
              <a:t>万元，预计售价</a:t>
            </a:r>
            <a:r>
              <a:rPr lang="en-US" altLang="zh-CN" sz="2400" b="0" dirty="0"/>
              <a:t>700</a:t>
            </a:r>
            <a:r>
              <a:rPr lang="zh-CN" altLang="en-US" sz="2400" b="0" dirty="0"/>
              <a:t>万元。半成品主要用于加工成产成品后出售。判断该半成品是否减值？</a:t>
            </a:r>
          </a:p>
          <a:p>
            <a:pPr defTabSz="1543050"/>
            <a:r>
              <a:rPr lang="zh-CN" altLang="en-US" sz="2400" b="0" dirty="0"/>
              <a:t>分析</a:t>
            </a:r>
            <a:endParaRPr lang="en-US" altLang="zh-CN" sz="2400" b="0" dirty="0"/>
          </a:p>
          <a:p>
            <a:pPr defTabSz="1543050"/>
            <a:r>
              <a:rPr lang="zh-CN" altLang="en-US" sz="2400" b="0" dirty="0"/>
              <a:t>判断：产成品成本（</a:t>
            </a:r>
            <a:r>
              <a:rPr lang="en-US" altLang="zh-CN" sz="2400" b="0" dirty="0"/>
              <a:t>500+100</a:t>
            </a:r>
            <a:r>
              <a:rPr lang="zh-CN" altLang="en-US" sz="2400" b="0" dirty="0"/>
              <a:t>）大于可变现净值（</a:t>
            </a:r>
            <a:r>
              <a:rPr lang="en-US" altLang="zh-CN" sz="2400" b="0" dirty="0"/>
              <a:t>700-150</a:t>
            </a:r>
            <a:r>
              <a:rPr lang="zh-CN" altLang="en-US" sz="2400" b="0" dirty="0"/>
              <a:t>），用于生产的产成品已减值</a:t>
            </a:r>
          </a:p>
          <a:p>
            <a:pPr defTabSz="1543050"/>
            <a:r>
              <a:rPr lang="zh-CN" altLang="en-US" sz="2400" b="0" dirty="0"/>
              <a:t>库存半成品成本</a:t>
            </a:r>
            <a:r>
              <a:rPr lang="en-US" altLang="zh-CN" sz="2400" b="0" dirty="0"/>
              <a:t>=500</a:t>
            </a:r>
            <a:r>
              <a:rPr lang="zh-CN" altLang="en-US" sz="2400" b="0" dirty="0"/>
              <a:t>（万元）</a:t>
            </a:r>
          </a:p>
          <a:p>
            <a:pPr defTabSz="1543050"/>
            <a:r>
              <a:rPr lang="zh-CN" altLang="en-US" sz="2400" b="0" dirty="0"/>
              <a:t>可变现净值</a:t>
            </a:r>
            <a:r>
              <a:rPr lang="en-US" altLang="zh-CN" sz="2400" b="0" dirty="0"/>
              <a:t>=700</a:t>
            </a:r>
            <a:r>
              <a:rPr lang="zh-CN" altLang="en-US" sz="2400" b="0" dirty="0"/>
              <a:t>－</a:t>
            </a:r>
            <a:r>
              <a:rPr lang="en-US" altLang="zh-CN" sz="2400" b="0" dirty="0"/>
              <a:t>100</a:t>
            </a:r>
            <a:r>
              <a:rPr lang="zh-CN" altLang="en-US" sz="2400" b="0" dirty="0"/>
              <a:t>－</a:t>
            </a:r>
            <a:r>
              <a:rPr lang="en-US" altLang="zh-CN" sz="2400" b="0" dirty="0"/>
              <a:t>150=450</a:t>
            </a:r>
            <a:r>
              <a:rPr lang="zh-CN" altLang="en-US" sz="2400" b="0" dirty="0"/>
              <a:t>（万元）</a:t>
            </a:r>
          </a:p>
          <a:p>
            <a:pPr defTabSz="1543050"/>
            <a:r>
              <a:rPr lang="zh-CN" altLang="en-US" sz="2400" b="0" dirty="0"/>
              <a:t>可变现净值低于成本</a:t>
            </a:r>
            <a:r>
              <a:rPr lang="en-US" altLang="zh-CN" sz="2400" b="0" dirty="0"/>
              <a:t>=500</a:t>
            </a:r>
            <a:r>
              <a:rPr lang="zh-CN" altLang="en-US" sz="2400" b="0" dirty="0"/>
              <a:t>－</a:t>
            </a:r>
            <a:r>
              <a:rPr lang="en-US" altLang="zh-CN" sz="2400" b="0" dirty="0"/>
              <a:t>450=50</a:t>
            </a:r>
            <a:r>
              <a:rPr lang="zh-CN" altLang="en-US" sz="2400" b="0" dirty="0"/>
              <a:t>（万元）</a:t>
            </a:r>
          </a:p>
          <a:p>
            <a:pPr defTabSz="1543050"/>
            <a:r>
              <a:rPr lang="zh-CN" altLang="en-US" sz="2400" b="0" dirty="0"/>
              <a:t>应计提存货跌价准备</a:t>
            </a:r>
            <a:r>
              <a:rPr lang="en-US" altLang="zh-CN" sz="2400" b="0" dirty="0"/>
              <a:t>50</a:t>
            </a:r>
            <a:r>
              <a:rPr lang="zh-CN" altLang="en-US" sz="2400" b="0" dirty="0"/>
              <a:t>万元</a:t>
            </a:r>
          </a:p>
        </p:txBody>
      </p:sp>
    </p:spTree>
    <p:extLst>
      <p:ext uri="{BB962C8B-B14F-4D97-AF65-F5344CB8AC3E}">
        <p14:creationId xmlns:p14="http://schemas.microsoft.com/office/powerpoint/2010/main" val="7588099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08930"/>
                                        </p:tgtEl>
                                        <p:attrNameLst>
                                          <p:attrName>style.visibility</p:attrName>
                                        </p:attrNameLst>
                                      </p:cBhvr>
                                      <p:to>
                                        <p:strVal val="visible"/>
                                      </p:to>
                                    </p:set>
                                    <p:animEffect transition="in" filter="fade">
                                      <p:cBhvr>
                                        <p:cTn id="7" dur="2000"/>
                                        <p:tgtEl>
                                          <p:spTgt spid="5089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8931">
                                            <p:txEl>
                                              <p:pRg st="0" end="0"/>
                                            </p:txEl>
                                          </p:spTgt>
                                        </p:tgtEl>
                                        <p:attrNameLst>
                                          <p:attrName>style.visibility</p:attrName>
                                        </p:attrNameLst>
                                      </p:cBhvr>
                                      <p:to>
                                        <p:strVal val="visible"/>
                                      </p:to>
                                    </p:set>
                                    <p:animEffect transition="in" filter="wipe(left)">
                                      <p:cBhvr>
                                        <p:cTn id="12" dur="500"/>
                                        <p:tgtEl>
                                          <p:spTgt spid="50893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8931">
                                            <p:txEl>
                                              <p:pRg st="1" end="1"/>
                                            </p:txEl>
                                          </p:spTgt>
                                        </p:tgtEl>
                                        <p:attrNameLst>
                                          <p:attrName>style.visibility</p:attrName>
                                        </p:attrNameLst>
                                      </p:cBhvr>
                                      <p:to>
                                        <p:strVal val="visible"/>
                                      </p:to>
                                    </p:set>
                                    <p:animEffect transition="in" filter="wipe(left)">
                                      <p:cBhvr>
                                        <p:cTn id="17" dur="500"/>
                                        <p:tgtEl>
                                          <p:spTgt spid="50893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8931">
                                            <p:txEl>
                                              <p:pRg st="2" end="2"/>
                                            </p:txEl>
                                          </p:spTgt>
                                        </p:tgtEl>
                                        <p:attrNameLst>
                                          <p:attrName>style.visibility</p:attrName>
                                        </p:attrNameLst>
                                      </p:cBhvr>
                                      <p:to>
                                        <p:strVal val="visible"/>
                                      </p:to>
                                    </p:set>
                                    <p:animEffect transition="in" filter="wipe(left)">
                                      <p:cBhvr>
                                        <p:cTn id="22" dur="500"/>
                                        <p:tgtEl>
                                          <p:spTgt spid="50893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08931">
                                            <p:txEl>
                                              <p:pRg st="3" end="3"/>
                                            </p:txEl>
                                          </p:spTgt>
                                        </p:tgtEl>
                                        <p:attrNameLst>
                                          <p:attrName>style.visibility</p:attrName>
                                        </p:attrNameLst>
                                      </p:cBhvr>
                                      <p:to>
                                        <p:strVal val="visible"/>
                                      </p:to>
                                    </p:set>
                                    <p:animEffect transition="in" filter="wipe(left)">
                                      <p:cBhvr>
                                        <p:cTn id="27" dur="500"/>
                                        <p:tgtEl>
                                          <p:spTgt spid="50893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08931">
                                            <p:txEl>
                                              <p:pRg st="4" end="4"/>
                                            </p:txEl>
                                          </p:spTgt>
                                        </p:tgtEl>
                                        <p:attrNameLst>
                                          <p:attrName>style.visibility</p:attrName>
                                        </p:attrNameLst>
                                      </p:cBhvr>
                                      <p:to>
                                        <p:strVal val="visible"/>
                                      </p:to>
                                    </p:set>
                                    <p:animEffect transition="in" filter="wipe(left)">
                                      <p:cBhvr>
                                        <p:cTn id="32" dur="500"/>
                                        <p:tgtEl>
                                          <p:spTgt spid="50893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08931">
                                            <p:txEl>
                                              <p:pRg st="5" end="5"/>
                                            </p:txEl>
                                          </p:spTgt>
                                        </p:tgtEl>
                                        <p:attrNameLst>
                                          <p:attrName>style.visibility</p:attrName>
                                        </p:attrNameLst>
                                      </p:cBhvr>
                                      <p:to>
                                        <p:strVal val="visible"/>
                                      </p:to>
                                    </p:set>
                                    <p:animEffect transition="in" filter="wipe(left)">
                                      <p:cBhvr>
                                        <p:cTn id="37" dur="500"/>
                                        <p:tgtEl>
                                          <p:spTgt spid="50893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08931">
                                            <p:txEl>
                                              <p:pRg st="6" end="6"/>
                                            </p:txEl>
                                          </p:spTgt>
                                        </p:tgtEl>
                                        <p:attrNameLst>
                                          <p:attrName>style.visibility</p:attrName>
                                        </p:attrNameLst>
                                      </p:cBhvr>
                                      <p:to>
                                        <p:strVal val="visible"/>
                                      </p:to>
                                    </p:set>
                                    <p:animEffect transition="in" filter="wipe(left)">
                                      <p:cBhvr>
                                        <p:cTn id="42" dur="500"/>
                                        <p:tgtEl>
                                          <p:spTgt spid="5089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0" grpId="0"/>
      <p:bldP spid="508931" grpId="0" build="p"/>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9906" name="Rectangle 2"/>
          <p:cNvSpPr>
            <a:spLocks noGrp="1" noChangeArrowheads="1"/>
          </p:cNvSpPr>
          <p:nvPr>
            <p:ph type="body" idx="1"/>
          </p:nvPr>
        </p:nvSpPr>
        <p:spPr>
          <a:xfrm>
            <a:off x="1268068" y="986332"/>
            <a:ext cx="9501716" cy="1077913"/>
          </a:xfrm>
          <a:noFill/>
        </p:spPr>
        <p:txBody>
          <a:bodyPr/>
          <a:lstStyle/>
          <a:p>
            <a:pPr marL="0" indent="0" algn="just" eaLnBrk="1" hangingPunct="1">
              <a:buNone/>
            </a:pPr>
            <a:r>
              <a:rPr lang="zh-CN" altLang="en-US" sz="4400" dirty="0">
                <a:solidFill>
                  <a:schemeClr val="tx2"/>
                </a:solidFill>
                <a:latin typeface="+mj-lt"/>
                <a:ea typeface="+mj-ea"/>
                <a:cs typeface="+mj-cs"/>
              </a:rPr>
              <a:t>（三）存货跌价准备的核算</a:t>
            </a:r>
          </a:p>
        </p:txBody>
      </p:sp>
      <p:grpSp>
        <p:nvGrpSpPr>
          <p:cNvPr id="10" name="组合 9"/>
          <p:cNvGrpSpPr/>
          <p:nvPr/>
        </p:nvGrpSpPr>
        <p:grpSpPr>
          <a:xfrm>
            <a:off x="1638357" y="2903859"/>
            <a:ext cx="8136467" cy="2943225"/>
            <a:chOff x="1568451" y="2476500"/>
            <a:chExt cx="8136467" cy="2943225"/>
          </a:xfrm>
        </p:grpSpPr>
        <p:grpSp>
          <p:nvGrpSpPr>
            <p:cNvPr id="2" name="Group 27"/>
            <p:cNvGrpSpPr>
              <a:grpSpLocks/>
            </p:cNvGrpSpPr>
            <p:nvPr/>
          </p:nvGrpSpPr>
          <p:grpSpPr bwMode="auto">
            <a:xfrm>
              <a:off x="1568451" y="2476500"/>
              <a:ext cx="8136467" cy="914400"/>
              <a:chOff x="741" y="1560"/>
              <a:chExt cx="3844" cy="576"/>
            </a:xfrm>
          </p:grpSpPr>
          <p:sp>
            <p:nvSpPr>
              <p:cNvPr id="379909" name="AutoShape 5"/>
              <p:cNvSpPr>
                <a:spLocks noChangeArrowheads="1"/>
              </p:cNvSpPr>
              <p:nvPr/>
            </p:nvSpPr>
            <p:spPr bwMode="auto">
              <a:xfrm>
                <a:off x="2278" y="1785"/>
                <a:ext cx="1521"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a:effectLst/>
            </p:spPr>
            <p:txBody>
              <a:bodyPr wrap="none" anchor="ctr"/>
              <a:lstStyle/>
              <a:p>
                <a:pPr>
                  <a:defRPr/>
                </a:pPr>
                <a:endParaRPr lang="zh-CN" altLang="en-US"/>
              </a:p>
            </p:txBody>
          </p:sp>
          <p:grpSp>
            <p:nvGrpSpPr>
              <p:cNvPr id="3" name="Group 12"/>
              <p:cNvGrpSpPr>
                <a:grpSpLocks/>
              </p:cNvGrpSpPr>
              <p:nvPr/>
            </p:nvGrpSpPr>
            <p:grpSpPr bwMode="auto">
              <a:xfrm>
                <a:off x="3961" y="1560"/>
                <a:ext cx="624" cy="576"/>
                <a:chOff x="650" y="2184"/>
                <a:chExt cx="1193" cy="858"/>
              </a:xfrm>
            </p:grpSpPr>
            <p:pic>
              <p:nvPicPr>
                <p:cNvPr id="40979" name="Picture 13" descr="box2_slide21"/>
                <p:cNvPicPr>
                  <a:picLocks noChangeAspect="1" noChangeArrowheads="1"/>
                </p:cNvPicPr>
                <p:nvPr/>
              </p:nvPicPr>
              <p:blipFill>
                <a:blip r:embed="rId2" cstate="print"/>
                <a:srcRect/>
                <a:stretch>
                  <a:fillRect/>
                </a:stretch>
              </p:blipFill>
              <p:spPr bwMode="auto">
                <a:xfrm>
                  <a:off x="650" y="2184"/>
                  <a:ext cx="1193" cy="858"/>
                </a:xfrm>
                <a:prstGeom prst="rect">
                  <a:avLst/>
                </a:prstGeom>
                <a:noFill/>
                <a:ln w="9525">
                  <a:noFill/>
                  <a:miter lim="800000"/>
                  <a:headEnd/>
                  <a:tailEnd/>
                </a:ln>
              </p:spPr>
            </p:pic>
            <p:sp>
              <p:nvSpPr>
                <p:cNvPr id="40980" name="Rectangle 14"/>
                <p:cNvSpPr>
                  <a:spLocks noChangeArrowheads="1"/>
                </p:cNvSpPr>
                <p:nvPr/>
              </p:nvSpPr>
              <p:spPr bwMode="auto">
                <a:xfrm>
                  <a:off x="658" y="2192"/>
                  <a:ext cx="1136" cy="786"/>
                </a:xfrm>
                <a:prstGeom prst="rect">
                  <a:avLst/>
                </a:prstGeom>
                <a:noFill/>
                <a:ln w="9525" algn="ctr">
                  <a:noFill/>
                  <a:miter lim="800000"/>
                  <a:headEnd type="none" w="sm" len="sm"/>
                  <a:tailEnd type="none" w="sm" len="sm"/>
                </a:ln>
              </p:spPr>
              <p:txBody>
                <a:bodyPr lIns="92075" tIns="46038" rIns="92075" bIns="46038" anchor="ctr"/>
                <a:lstStyle/>
                <a:p>
                  <a:pPr eaLnBrk="1" hangingPunct="1"/>
                  <a:r>
                    <a:rPr lang="zh-CN" altLang="en-US" sz="2400" b="1">
                      <a:solidFill>
                        <a:srgbClr val="00CC00"/>
                      </a:solidFill>
                      <a:effectLst/>
                      <a:latin typeface="Times New Roman" pitchFamily="18" charset="0"/>
                      <a:cs typeface="Arial" charset="0"/>
                    </a:rPr>
                    <a:t>每种存货</a:t>
                  </a:r>
                </a:p>
              </p:txBody>
            </p:sp>
          </p:grpSp>
          <p:sp>
            <p:nvSpPr>
              <p:cNvPr id="379921" name="AutoShape 17"/>
              <p:cNvSpPr>
                <a:spLocks noChangeArrowheads="1"/>
              </p:cNvSpPr>
              <p:nvPr/>
            </p:nvSpPr>
            <p:spPr bwMode="auto">
              <a:xfrm>
                <a:off x="741" y="1676"/>
                <a:ext cx="1420" cy="412"/>
              </a:xfrm>
              <a:prstGeom prst="can">
                <a:avLst>
                  <a:gd name="adj" fmla="val 25000"/>
                </a:avLst>
              </a:prstGeom>
              <a:gradFill rotWithShape="0">
                <a:gsLst>
                  <a:gs pos="0">
                    <a:schemeClr val="accent2">
                      <a:gamma/>
                      <a:shade val="56078"/>
                      <a:invGamma/>
                    </a:schemeClr>
                  </a:gs>
                  <a:gs pos="50000">
                    <a:schemeClr val="accent2"/>
                  </a:gs>
                  <a:gs pos="100000">
                    <a:schemeClr val="accent2">
                      <a:gamma/>
                      <a:shade val="56078"/>
                      <a:invGamma/>
                    </a:schemeClr>
                  </a:gs>
                </a:gsLst>
                <a:lin ang="2700000" scaled="1"/>
              </a:gradFill>
              <a:ln w="12700">
                <a:solidFill>
                  <a:schemeClr val="accent2"/>
                </a:solidFill>
                <a:round/>
                <a:headEnd/>
                <a:tailEnd/>
              </a:ln>
              <a:effectLst/>
            </p:spPr>
            <p:txBody>
              <a:bodyPr wrap="none" anchor="ctr"/>
              <a:lstStyle/>
              <a:p>
                <a:pPr defTabSz="762000">
                  <a:defRPr/>
                </a:pPr>
                <a:r>
                  <a:rPr lang="zh-CN" altLang="en-US" b="1">
                    <a:solidFill>
                      <a:srgbClr val="000000"/>
                    </a:solidFill>
                    <a:effectLst/>
                    <a:latin typeface="Times New Roman" pitchFamily="18" charset="0"/>
                  </a:rPr>
                  <a:t>单项比较法</a:t>
                </a:r>
              </a:p>
            </p:txBody>
          </p:sp>
        </p:grpSp>
        <p:grpSp>
          <p:nvGrpSpPr>
            <p:cNvPr id="4" name="Group 25"/>
            <p:cNvGrpSpPr>
              <a:grpSpLocks/>
            </p:cNvGrpSpPr>
            <p:nvPr/>
          </p:nvGrpSpPr>
          <p:grpSpPr bwMode="auto">
            <a:xfrm>
              <a:off x="1864784" y="3487738"/>
              <a:ext cx="7433733" cy="914400"/>
              <a:chOff x="881" y="2197"/>
              <a:chExt cx="3512" cy="576"/>
            </a:xfrm>
          </p:grpSpPr>
          <p:sp>
            <p:nvSpPr>
              <p:cNvPr id="379910" name="AutoShape 6"/>
              <p:cNvSpPr>
                <a:spLocks noChangeArrowheads="1"/>
              </p:cNvSpPr>
              <p:nvPr/>
            </p:nvSpPr>
            <p:spPr bwMode="auto">
              <a:xfrm>
                <a:off x="2411" y="2379"/>
                <a:ext cx="1226"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a:effectLst/>
            </p:spPr>
            <p:txBody>
              <a:bodyPr wrap="none" anchor="ctr"/>
              <a:lstStyle/>
              <a:p>
                <a:pPr>
                  <a:defRPr/>
                </a:pPr>
                <a:endParaRPr lang="zh-CN" altLang="en-US"/>
              </a:p>
            </p:txBody>
          </p:sp>
          <p:sp>
            <p:nvSpPr>
              <p:cNvPr id="379920" name="AutoShape 16"/>
              <p:cNvSpPr>
                <a:spLocks noChangeArrowheads="1"/>
              </p:cNvSpPr>
              <p:nvPr/>
            </p:nvSpPr>
            <p:spPr bwMode="auto">
              <a:xfrm>
                <a:off x="881" y="2270"/>
                <a:ext cx="1420" cy="412"/>
              </a:xfrm>
              <a:prstGeom prst="can">
                <a:avLst>
                  <a:gd name="adj" fmla="val 25000"/>
                </a:avLst>
              </a:prstGeom>
              <a:gradFill rotWithShape="0">
                <a:gsLst>
                  <a:gs pos="0">
                    <a:schemeClr val="accent2">
                      <a:gamma/>
                      <a:shade val="56078"/>
                      <a:invGamma/>
                    </a:schemeClr>
                  </a:gs>
                  <a:gs pos="50000">
                    <a:schemeClr val="accent2"/>
                  </a:gs>
                  <a:gs pos="100000">
                    <a:schemeClr val="accent2">
                      <a:gamma/>
                      <a:shade val="56078"/>
                      <a:invGamma/>
                    </a:schemeClr>
                  </a:gs>
                </a:gsLst>
                <a:lin ang="2700000" scaled="1"/>
              </a:gradFill>
              <a:ln w="12700">
                <a:solidFill>
                  <a:schemeClr val="accent2"/>
                </a:solidFill>
                <a:round/>
                <a:headEnd/>
                <a:tailEnd/>
              </a:ln>
              <a:effectLst/>
            </p:spPr>
            <p:txBody>
              <a:bodyPr wrap="none" anchor="ctr"/>
              <a:lstStyle/>
              <a:p>
                <a:pPr defTabSz="762000" eaLnBrk="1" hangingPunct="1">
                  <a:defRPr/>
                </a:pPr>
                <a:r>
                  <a:rPr lang="zh-CN" altLang="en-US" b="1">
                    <a:solidFill>
                      <a:srgbClr val="000000"/>
                    </a:solidFill>
                    <a:effectLst/>
                    <a:latin typeface="Times New Roman" pitchFamily="18" charset="0"/>
                  </a:rPr>
                  <a:t>分类比较法</a:t>
                </a:r>
                <a:endParaRPr lang="zh-CN" altLang="en-US" b="1">
                  <a:solidFill>
                    <a:srgbClr val="000000"/>
                  </a:solidFill>
                  <a:effectLst>
                    <a:outerShdw blurRad="38100" dist="38100" dir="2700000" algn="tl">
                      <a:srgbClr val="FFFFFF"/>
                    </a:outerShdw>
                  </a:effectLst>
                </a:endParaRPr>
              </a:p>
            </p:txBody>
          </p:sp>
          <p:grpSp>
            <p:nvGrpSpPr>
              <p:cNvPr id="5" name="Group 18"/>
              <p:cNvGrpSpPr>
                <a:grpSpLocks/>
              </p:cNvGrpSpPr>
              <p:nvPr/>
            </p:nvGrpSpPr>
            <p:grpSpPr bwMode="auto">
              <a:xfrm>
                <a:off x="3769" y="2197"/>
                <a:ext cx="624" cy="576"/>
                <a:chOff x="650" y="2184"/>
                <a:chExt cx="1193" cy="858"/>
              </a:xfrm>
            </p:grpSpPr>
            <p:pic>
              <p:nvPicPr>
                <p:cNvPr id="40974" name="Picture 19" descr="box2_slide21"/>
                <p:cNvPicPr>
                  <a:picLocks noChangeAspect="1" noChangeArrowheads="1"/>
                </p:cNvPicPr>
                <p:nvPr/>
              </p:nvPicPr>
              <p:blipFill>
                <a:blip r:embed="rId2" cstate="print"/>
                <a:srcRect/>
                <a:stretch>
                  <a:fillRect/>
                </a:stretch>
              </p:blipFill>
              <p:spPr bwMode="auto">
                <a:xfrm>
                  <a:off x="650" y="2184"/>
                  <a:ext cx="1193" cy="858"/>
                </a:xfrm>
                <a:prstGeom prst="rect">
                  <a:avLst/>
                </a:prstGeom>
                <a:noFill/>
                <a:ln w="9525">
                  <a:noFill/>
                  <a:miter lim="800000"/>
                  <a:headEnd/>
                  <a:tailEnd/>
                </a:ln>
              </p:spPr>
            </p:pic>
            <p:sp>
              <p:nvSpPr>
                <p:cNvPr id="40975" name="Rectangle 20"/>
                <p:cNvSpPr>
                  <a:spLocks noChangeArrowheads="1"/>
                </p:cNvSpPr>
                <p:nvPr/>
              </p:nvSpPr>
              <p:spPr bwMode="auto">
                <a:xfrm>
                  <a:off x="658" y="2192"/>
                  <a:ext cx="1136" cy="786"/>
                </a:xfrm>
                <a:prstGeom prst="rect">
                  <a:avLst/>
                </a:prstGeom>
                <a:noFill/>
                <a:ln w="9525" algn="ctr">
                  <a:noFill/>
                  <a:miter lim="800000"/>
                  <a:headEnd type="none" w="sm" len="sm"/>
                  <a:tailEnd type="none" w="sm" len="sm"/>
                </a:ln>
              </p:spPr>
              <p:txBody>
                <a:bodyPr lIns="92075" tIns="46038" rIns="92075" bIns="46038" anchor="ctr"/>
                <a:lstStyle/>
                <a:p>
                  <a:pPr eaLnBrk="1" hangingPunct="1"/>
                  <a:r>
                    <a:rPr lang="zh-CN" altLang="en-US" sz="2400" b="1">
                      <a:solidFill>
                        <a:srgbClr val="00CC00"/>
                      </a:solidFill>
                      <a:effectLst/>
                      <a:latin typeface="Times New Roman" pitchFamily="18" charset="0"/>
                      <a:cs typeface="Arial" charset="0"/>
                    </a:rPr>
                    <a:t>每类存货</a:t>
                  </a:r>
                </a:p>
              </p:txBody>
            </p:sp>
          </p:grpSp>
        </p:grpSp>
        <p:grpSp>
          <p:nvGrpSpPr>
            <p:cNvPr id="6" name="Group 26"/>
            <p:cNvGrpSpPr>
              <a:grpSpLocks/>
            </p:cNvGrpSpPr>
            <p:nvPr/>
          </p:nvGrpSpPr>
          <p:grpSpPr bwMode="auto">
            <a:xfrm>
              <a:off x="2182285" y="4505325"/>
              <a:ext cx="6675967" cy="914400"/>
              <a:chOff x="1031" y="2838"/>
              <a:chExt cx="3154" cy="576"/>
            </a:xfrm>
          </p:grpSpPr>
          <p:sp>
            <p:nvSpPr>
              <p:cNvPr id="379911" name="AutoShape 7"/>
              <p:cNvSpPr>
                <a:spLocks noChangeArrowheads="1"/>
              </p:cNvSpPr>
              <p:nvPr/>
            </p:nvSpPr>
            <p:spPr bwMode="auto">
              <a:xfrm>
                <a:off x="2535" y="2936"/>
                <a:ext cx="912"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a:effectLst/>
            </p:spPr>
            <p:txBody>
              <a:bodyPr wrap="none" anchor="ctr"/>
              <a:lstStyle/>
              <a:p>
                <a:pPr>
                  <a:defRPr/>
                </a:pPr>
                <a:endParaRPr lang="zh-CN" altLang="en-US"/>
              </a:p>
            </p:txBody>
          </p:sp>
          <p:sp>
            <p:nvSpPr>
              <p:cNvPr id="379919" name="AutoShape 15"/>
              <p:cNvSpPr>
                <a:spLocks noChangeArrowheads="1"/>
              </p:cNvSpPr>
              <p:nvPr/>
            </p:nvSpPr>
            <p:spPr bwMode="auto">
              <a:xfrm>
                <a:off x="1031" y="2840"/>
                <a:ext cx="1420" cy="412"/>
              </a:xfrm>
              <a:prstGeom prst="can">
                <a:avLst>
                  <a:gd name="adj" fmla="val 25000"/>
                </a:avLst>
              </a:prstGeom>
              <a:gradFill rotWithShape="0">
                <a:gsLst>
                  <a:gs pos="0">
                    <a:schemeClr val="accent2">
                      <a:gamma/>
                      <a:shade val="56078"/>
                      <a:invGamma/>
                    </a:schemeClr>
                  </a:gs>
                  <a:gs pos="50000">
                    <a:schemeClr val="accent2"/>
                  </a:gs>
                  <a:gs pos="100000">
                    <a:schemeClr val="accent2">
                      <a:gamma/>
                      <a:shade val="56078"/>
                      <a:invGamma/>
                    </a:schemeClr>
                  </a:gs>
                </a:gsLst>
                <a:lin ang="2700000" scaled="1"/>
              </a:gradFill>
              <a:ln w="12700">
                <a:solidFill>
                  <a:schemeClr val="accent2"/>
                </a:solidFill>
                <a:round/>
                <a:headEnd/>
                <a:tailEnd/>
              </a:ln>
              <a:effectLst/>
            </p:spPr>
            <p:txBody>
              <a:bodyPr wrap="none" anchor="ctr"/>
              <a:lstStyle/>
              <a:p>
                <a:pPr defTabSz="762000">
                  <a:defRPr/>
                </a:pPr>
                <a:r>
                  <a:rPr lang="zh-CN" altLang="en-US" b="1">
                    <a:solidFill>
                      <a:srgbClr val="000000"/>
                    </a:solidFill>
                    <a:effectLst/>
                    <a:latin typeface="Times New Roman" pitchFamily="18" charset="0"/>
                  </a:rPr>
                  <a:t>总额比较法</a:t>
                </a:r>
              </a:p>
            </p:txBody>
          </p:sp>
          <p:grpSp>
            <p:nvGrpSpPr>
              <p:cNvPr id="7" name="Group 21"/>
              <p:cNvGrpSpPr>
                <a:grpSpLocks/>
              </p:cNvGrpSpPr>
              <p:nvPr/>
            </p:nvGrpSpPr>
            <p:grpSpPr bwMode="auto">
              <a:xfrm>
                <a:off x="3561" y="2838"/>
                <a:ext cx="624" cy="576"/>
                <a:chOff x="650" y="2184"/>
                <a:chExt cx="1193" cy="858"/>
              </a:xfrm>
            </p:grpSpPr>
            <p:pic>
              <p:nvPicPr>
                <p:cNvPr id="40969" name="Picture 22" descr="box2_slide21"/>
                <p:cNvPicPr>
                  <a:picLocks noChangeAspect="1" noChangeArrowheads="1"/>
                </p:cNvPicPr>
                <p:nvPr/>
              </p:nvPicPr>
              <p:blipFill>
                <a:blip r:embed="rId2" cstate="print"/>
                <a:srcRect/>
                <a:stretch>
                  <a:fillRect/>
                </a:stretch>
              </p:blipFill>
              <p:spPr bwMode="auto">
                <a:xfrm>
                  <a:off x="650" y="2184"/>
                  <a:ext cx="1193" cy="858"/>
                </a:xfrm>
                <a:prstGeom prst="rect">
                  <a:avLst/>
                </a:prstGeom>
                <a:noFill/>
                <a:ln w="9525">
                  <a:noFill/>
                  <a:miter lim="800000"/>
                  <a:headEnd/>
                  <a:tailEnd/>
                </a:ln>
              </p:spPr>
            </p:pic>
            <p:sp>
              <p:nvSpPr>
                <p:cNvPr id="40970" name="Rectangle 23"/>
                <p:cNvSpPr>
                  <a:spLocks noChangeArrowheads="1"/>
                </p:cNvSpPr>
                <p:nvPr/>
              </p:nvSpPr>
              <p:spPr bwMode="auto">
                <a:xfrm>
                  <a:off x="658" y="2192"/>
                  <a:ext cx="1136" cy="786"/>
                </a:xfrm>
                <a:prstGeom prst="rect">
                  <a:avLst/>
                </a:prstGeom>
                <a:noFill/>
                <a:ln w="9525" algn="ctr">
                  <a:noFill/>
                  <a:miter lim="800000"/>
                  <a:headEnd type="none" w="sm" len="sm"/>
                  <a:tailEnd type="none" w="sm" len="sm"/>
                </a:ln>
              </p:spPr>
              <p:txBody>
                <a:bodyPr lIns="92075" tIns="46038" rIns="92075" bIns="46038" anchor="ctr"/>
                <a:lstStyle/>
                <a:p>
                  <a:pPr eaLnBrk="1" hangingPunct="1"/>
                  <a:r>
                    <a:rPr lang="zh-CN" altLang="en-US" sz="2400" b="1">
                      <a:solidFill>
                        <a:srgbClr val="00CC00"/>
                      </a:solidFill>
                      <a:effectLst/>
                      <a:latin typeface="Times New Roman" pitchFamily="18" charset="0"/>
                      <a:cs typeface="Arial" charset="0"/>
                    </a:rPr>
                    <a:t>全部存货</a:t>
                  </a:r>
                </a:p>
              </p:txBody>
            </p:sp>
          </p:grpSp>
        </p:grpSp>
      </p:grpSp>
      <p:sp>
        <p:nvSpPr>
          <p:cNvPr id="9" name="矩形 8"/>
          <p:cNvSpPr/>
          <p:nvPr/>
        </p:nvSpPr>
        <p:spPr>
          <a:xfrm>
            <a:off x="1841620" y="2094765"/>
            <a:ext cx="3793026" cy="523220"/>
          </a:xfrm>
          <a:prstGeom prst="rect">
            <a:avLst/>
          </a:prstGeom>
        </p:spPr>
        <p:txBody>
          <a:bodyPr wrap="none">
            <a:spAutoFit/>
          </a:bodyPr>
          <a:lstStyle/>
          <a:p>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存货跌价准备的计提</a:t>
            </a:r>
          </a:p>
        </p:txBody>
      </p:sp>
    </p:spTree>
    <p:extLst>
      <p:ext uri="{BB962C8B-B14F-4D97-AF65-F5344CB8AC3E}">
        <p14:creationId xmlns:p14="http://schemas.microsoft.com/office/powerpoint/2010/main" val="143860010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312116" y="762603"/>
            <a:ext cx="10606615" cy="865187"/>
          </a:xfrm>
        </p:spPr>
        <p:txBody>
          <a:bodyPr/>
          <a:lstStyle/>
          <a:p>
            <a:pPr eaLnBrk="1" hangingPunct="1"/>
            <a:r>
              <a:rPr lang="zh-CN" altLang="en-US" sz="2700" b="0" dirty="0">
                <a:latin typeface="黑体" pitchFamily="2" charset="-122"/>
                <a:ea typeface="黑体" pitchFamily="2" charset="-122"/>
              </a:rPr>
              <a:t>举例：在单项、分类和总额比较法下，哪些存货应计提跌价准备？</a:t>
            </a:r>
          </a:p>
        </p:txBody>
      </p:sp>
      <p:graphicFrame>
        <p:nvGraphicFramePr>
          <p:cNvPr id="493626" name="Group 58"/>
          <p:cNvGraphicFramePr>
            <a:graphicFrameLocks noGrp="1"/>
          </p:cNvGraphicFramePr>
          <p:nvPr>
            <p:ph idx="1"/>
            <p:extLst>
              <p:ext uri="{D42A27DB-BD31-4B8C-83A1-F6EECF244321}">
                <p14:modId xmlns:p14="http://schemas.microsoft.com/office/powerpoint/2010/main" val="1145926237"/>
              </p:ext>
            </p:extLst>
          </p:nvPr>
        </p:nvGraphicFramePr>
        <p:xfrm>
          <a:off x="313120" y="1799265"/>
          <a:ext cx="11595100" cy="4822252"/>
        </p:xfrm>
        <a:graphic>
          <a:graphicData uri="http://schemas.openxmlformats.org/drawingml/2006/table">
            <a:tbl>
              <a:tblPr/>
              <a:tblGrid>
                <a:gridCol w="1485900">
                  <a:extLst>
                    <a:ext uri="{9D8B030D-6E8A-4147-A177-3AD203B41FA5}">
                      <a16:colId xmlns:a16="http://schemas.microsoft.com/office/drawing/2014/main" val="20000"/>
                    </a:ext>
                  </a:extLst>
                </a:gridCol>
                <a:gridCol w="1102784">
                  <a:extLst>
                    <a:ext uri="{9D8B030D-6E8A-4147-A177-3AD203B41FA5}">
                      <a16:colId xmlns:a16="http://schemas.microsoft.com/office/drawing/2014/main" val="20001"/>
                    </a:ext>
                  </a:extLst>
                </a:gridCol>
                <a:gridCol w="1121833">
                  <a:extLst>
                    <a:ext uri="{9D8B030D-6E8A-4147-A177-3AD203B41FA5}">
                      <a16:colId xmlns:a16="http://schemas.microsoft.com/office/drawing/2014/main" val="20002"/>
                    </a:ext>
                  </a:extLst>
                </a:gridCol>
                <a:gridCol w="1420283">
                  <a:extLst>
                    <a:ext uri="{9D8B030D-6E8A-4147-A177-3AD203B41FA5}">
                      <a16:colId xmlns:a16="http://schemas.microsoft.com/office/drawing/2014/main" val="20003"/>
                    </a:ext>
                  </a:extLst>
                </a:gridCol>
                <a:gridCol w="980017">
                  <a:extLst>
                    <a:ext uri="{9D8B030D-6E8A-4147-A177-3AD203B41FA5}">
                      <a16:colId xmlns:a16="http://schemas.microsoft.com/office/drawing/2014/main" val="20004"/>
                    </a:ext>
                  </a:extLst>
                </a:gridCol>
                <a:gridCol w="1329267">
                  <a:extLst>
                    <a:ext uri="{9D8B030D-6E8A-4147-A177-3AD203B41FA5}">
                      <a16:colId xmlns:a16="http://schemas.microsoft.com/office/drawing/2014/main" val="20005"/>
                    </a:ext>
                  </a:extLst>
                </a:gridCol>
                <a:gridCol w="1384300">
                  <a:extLst>
                    <a:ext uri="{9D8B030D-6E8A-4147-A177-3AD203B41FA5}">
                      <a16:colId xmlns:a16="http://schemas.microsoft.com/office/drawing/2014/main" val="20006"/>
                    </a:ext>
                  </a:extLst>
                </a:gridCol>
                <a:gridCol w="1384300">
                  <a:extLst>
                    <a:ext uri="{9D8B030D-6E8A-4147-A177-3AD203B41FA5}">
                      <a16:colId xmlns:a16="http://schemas.microsoft.com/office/drawing/2014/main" val="20007"/>
                    </a:ext>
                  </a:extLst>
                </a:gridCol>
                <a:gridCol w="1386416">
                  <a:extLst>
                    <a:ext uri="{9D8B030D-6E8A-4147-A177-3AD203B41FA5}">
                      <a16:colId xmlns:a16="http://schemas.microsoft.com/office/drawing/2014/main" val="20008"/>
                    </a:ext>
                  </a:extLst>
                </a:gridCol>
              </a:tblGrid>
              <a:tr h="566738">
                <a:tc rowSpan="2">
                  <a:txBody>
                    <a:bodyPr/>
                    <a:lstStyle/>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项目</a:t>
                      </a:r>
                    </a:p>
                  </a:txBody>
                  <a:tcPr marL="60195" marR="60195" marT="22573" marB="225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数量</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成本</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可变现净值</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rowSpan="2">
                  <a:txBody>
                    <a:bodyPr/>
                    <a:lstStyle/>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单项比</a:t>
                      </a:r>
                    </a:p>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较   法</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分类比</a:t>
                      </a:r>
                    </a:p>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较   法</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总额比</a:t>
                      </a:r>
                    </a:p>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较    法</a:t>
                      </a:r>
                    </a:p>
                  </a:txBody>
                  <a:tcPr marL="60195" marR="60195" marT="22573" marB="225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2438">
                <a:tc vMerge="1">
                  <a:txBody>
                    <a:bodyPr/>
                    <a:lstStyle/>
                    <a:p>
                      <a:endParaRPr lang="zh-CN" altLang="en-US"/>
                    </a:p>
                  </a:txBody>
                  <a:tcPr/>
                </a:tc>
                <a:tc vMerge="1">
                  <a:txBody>
                    <a:bodyPr/>
                    <a:lstStyle/>
                    <a:p>
                      <a:endParaRPr lang="zh-CN" altLang="en-US"/>
                    </a:p>
                  </a:txBody>
                  <a:tcPr/>
                </a:tc>
                <a:tc>
                  <a:txBody>
                    <a:bodyPr/>
                    <a:lstStyle/>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单价</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总额</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单价</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总额</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3033713">
                <a:tc>
                  <a:txBody>
                    <a:bodyPr/>
                    <a:lstStyle/>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甲类存货</a:t>
                      </a:r>
                    </a:p>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A</a:t>
                      </a:r>
                    </a:p>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B</a:t>
                      </a:r>
                    </a:p>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合计</a:t>
                      </a:r>
                    </a:p>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乙类存货</a:t>
                      </a:r>
                    </a:p>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C</a:t>
                      </a:r>
                    </a:p>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D</a:t>
                      </a:r>
                    </a:p>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合计</a:t>
                      </a:r>
                    </a:p>
                  </a:txBody>
                  <a:tcPr marL="60195" marR="60195" marT="22573" marB="225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50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80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120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320</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260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450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200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210</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13000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36000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49000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24000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67200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91200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250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455</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185</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227</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12500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36400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48900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22200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72640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94840</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12500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36000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22200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67200</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48900</a:t>
                      </a: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000" b="0" i="0" u="none" strike="noStrike" cap="none" normalizeH="0" baseline="0">
                        <a:ln>
                          <a:noFill/>
                        </a:ln>
                        <a:solidFill>
                          <a:schemeClr val="tx2"/>
                        </a:solidFill>
                        <a:effectLst/>
                        <a:latin typeface="华文细黑" pitchFamily="2" charset="-122"/>
                        <a:ea typeface="黑体" pitchFamily="2" charset="-122"/>
                      </a:endParaRPr>
                    </a:p>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91200</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a:ln>
                          <a:noFill/>
                        </a:ln>
                        <a:solidFill>
                          <a:schemeClr val="tx2"/>
                        </a:solidFill>
                        <a:effectLst/>
                        <a:latin typeface="华文细黑" pitchFamily="2" charset="-122"/>
                        <a:ea typeface="黑体" pitchFamily="2" charset="-122"/>
                      </a:endParaRPr>
                    </a:p>
                  </a:txBody>
                  <a:tcPr marL="60195" marR="60195" marT="22573" marB="225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7050">
                <a:tc>
                  <a:txBody>
                    <a:bodyPr/>
                    <a:lstStyle/>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000" b="0" i="0" u="none" strike="noStrike" cap="none" normalizeH="0" baseline="0">
                          <a:ln>
                            <a:noFill/>
                          </a:ln>
                          <a:solidFill>
                            <a:schemeClr val="tx2"/>
                          </a:solidFill>
                          <a:effectLst/>
                          <a:latin typeface="华文细黑" pitchFamily="2" charset="-122"/>
                          <a:ea typeface="黑体" pitchFamily="2" charset="-122"/>
                        </a:rPr>
                        <a:t>总计</a:t>
                      </a:r>
                    </a:p>
                  </a:txBody>
                  <a:tcPr marL="60195" marR="60195" marT="22573" marB="225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a:ln>
                          <a:noFill/>
                        </a:ln>
                        <a:solidFill>
                          <a:schemeClr val="tx2"/>
                        </a:solidFill>
                        <a:effectLst/>
                        <a:latin typeface="华文细黑" pitchFamily="2" charset="-122"/>
                        <a:ea typeface="黑体" pitchFamily="2" charset="-122"/>
                      </a:endParaRP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a:ln>
                          <a:noFill/>
                        </a:ln>
                        <a:solidFill>
                          <a:schemeClr val="tx2"/>
                        </a:solidFill>
                        <a:effectLst/>
                        <a:latin typeface="华文细黑" pitchFamily="2" charset="-122"/>
                        <a:ea typeface="黑体" pitchFamily="2" charset="-122"/>
                      </a:endParaRP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140200</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a:ln>
                          <a:noFill/>
                        </a:ln>
                        <a:solidFill>
                          <a:schemeClr val="tx2"/>
                        </a:solidFill>
                        <a:effectLst/>
                        <a:latin typeface="华文细黑" pitchFamily="2" charset="-122"/>
                        <a:ea typeface="黑体" pitchFamily="2" charset="-122"/>
                      </a:endParaRP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143740</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137900</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a:ln>
                            <a:noFill/>
                          </a:ln>
                          <a:solidFill>
                            <a:schemeClr val="tx2"/>
                          </a:solidFill>
                          <a:effectLst/>
                          <a:latin typeface="华文细黑" pitchFamily="2" charset="-122"/>
                          <a:ea typeface="黑体" pitchFamily="2" charset="-122"/>
                        </a:rPr>
                        <a:t>140100</a:t>
                      </a:r>
                    </a:p>
                  </a:txBody>
                  <a:tcPr marL="60195" marR="60195" marT="22573" marB="225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154305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2"/>
                          </a:solidFill>
                          <a:effectLst/>
                          <a:latin typeface="华文细黑" pitchFamily="2" charset="-122"/>
                          <a:ea typeface="黑体" pitchFamily="2" charset="-122"/>
                        </a:rPr>
                        <a:t>140200</a:t>
                      </a:r>
                    </a:p>
                  </a:txBody>
                  <a:tcPr marL="60195" marR="60195" marT="22573" marB="225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35388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69686" y="984632"/>
            <a:ext cx="10851131" cy="5648691"/>
            <a:chOff x="931334" y="1103314"/>
            <a:chExt cx="10985140" cy="5158036"/>
          </a:xfrm>
          <a:effectLst/>
        </p:grpSpPr>
        <p:sp>
          <p:nvSpPr>
            <p:cNvPr id="381954" name="Text Box 2"/>
            <p:cNvSpPr txBox="1">
              <a:spLocks noChangeArrowheads="1"/>
            </p:cNvSpPr>
            <p:nvPr/>
          </p:nvSpPr>
          <p:spPr bwMode="auto">
            <a:xfrm>
              <a:off x="2510367" y="1138239"/>
              <a:ext cx="1143000" cy="365356"/>
            </a:xfrm>
            <a:prstGeom prst="rect">
              <a:avLst/>
            </a:prstGeom>
            <a:noFill/>
            <a:ln w="28575">
              <a:solidFill>
                <a:schemeClr val="tx1"/>
              </a:solidFill>
              <a:miter lim="800000"/>
              <a:headEnd/>
              <a:tailEnd/>
            </a:ln>
            <a:effectLst/>
          </p:spPr>
          <p:txBody>
            <a:bodyPr>
              <a:spAutoFit/>
            </a:bodyPr>
            <a:lstStyle/>
            <a:p>
              <a:pPr algn="l" eaLnBrk="1" hangingPunct="1">
                <a:spcBef>
                  <a:spcPct val="50000"/>
                </a:spcBef>
                <a:defRPr/>
              </a:pPr>
              <a:r>
                <a:rPr kumimoji="1" lang="en-US" altLang="zh-CN" sz="2000" dirty="0">
                  <a:solidFill>
                    <a:schemeClr val="tx2"/>
                  </a:solidFill>
                  <a:effectLst/>
                  <a:latin typeface="Times New Roman" pitchFamily="18" charset="0"/>
                </a:rPr>
                <a:t> </a:t>
              </a:r>
              <a:r>
                <a:rPr kumimoji="1" lang="zh-CN" altLang="en-US" sz="2000" b="1" dirty="0">
                  <a:solidFill>
                    <a:schemeClr val="tx2"/>
                  </a:solidFill>
                  <a:effectLst/>
                  <a:latin typeface="Times New Roman" pitchFamily="18" charset="0"/>
                </a:rPr>
                <a:t>成本</a:t>
              </a:r>
              <a:endParaRPr kumimoji="1" lang="zh-CN" altLang="en-US" sz="2000" dirty="0">
                <a:solidFill>
                  <a:schemeClr val="tx2"/>
                </a:solidFill>
                <a:effectLst/>
                <a:latin typeface="Times New Roman" pitchFamily="18" charset="0"/>
              </a:endParaRPr>
            </a:p>
          </p:txBody>
        </p:sp>
        <p:sp>
          <p:nvSpPr>
            <p:cNvPr id="381955" name="Text Box 3"/>
            <p:cNvSpPr txBox="1">
              <a:spLocks noChangeArrowheads="1"/>
            </p:cNvSpPr>
            <p:nvPr/>
          </p:nvSpPr>
          <p:spPr bwMode="auto">
            <a:xfrm>
              <a:off x="5759451" y="1138239"/>
              <a:ext cx="2019300" cy="365356"/>
            </a:xfrm>
            <a:prstGeom prst="rect">
              <a:avLst/>
            </a:prstGeom>
            <a:noFill/>
            <a:ln w="28575">
              <a:solidFill>
                <a:schemeClr val="tx1"/>
              </a:solidFill>
              <a:miter lim="800000"/>
              <a:headEnd/>
              <a:tailEnd/>
            </a:ln>
            <a:effectLst/>
          </p:spPr>
          <p:txBody>
            <a:bodyPr>
              <a:spAutoFit/>
            </a:bodyPr>
            <a:lstStyle/>
            <a:p>
              <a:pPr algn="l" eaLnBrk="1" hangingPunct="1">
                <a:spcBef>
                  <a:spcPct val="50000"/>
                </a:spcBef>
                <a:defRPr/>
              </a:pPr>
              <a:r>
                <a:rPr kumimoji="1" lang="zh-CN" altLang="en-US" sz="2000" b="1" dirty="0">
                  <a:solidFill>
                    <a:schemeClr val="tx2"/>
                  </a:solidFill>
                  <a:effectLst/>
                  <a:latin typeface="Times New Roman" pitchFamily="18" charset="0"/>
                </a:rPr>
                <a:t>可变现净值</a:t>
              </a:r>
              <a:endParaRPr kumimoji="1" lang="zh-CN" altLang="en-US" sz="2000" dirty="0">
                <a:solidFill>
                  <a:schemeClr val="tx2"/>
                </a:solidFill>
                <a:effectLst/>
                <a:latin typeface="Times New Roman" pitchFamily="18" charset="0"/>
              </a:endParaRPr>
            </a:p>
          </p:txBody>
        </p:sp>
        <p:sp>
          <p:nvSpPr>
            <p:cNvPr id="381956" name="Line 4"/>
            <p:cNvSpPr>
              <a:spLocks noChangeShapeType="1"/>
            </p:cNvSpPr>
            <p:nvPr/>
          </p:nvSpPr>
          <p:spPr bwMode="auto">
            <a:xfrm>
              <a:off x="3653367" y="1338264"/>
              <a:ext cx="2106084" cy="1587"/>
            </a:xfrm>
            <a:prstGeom prst="line">
              <a:avLst/>
            </a:prstGeom>
            <a:noFill/>
            <a:ln w="28575">
              <a:solidFill>
                <a:schemeClr val="tx1"/>
              </a:solidFill>
              <a:round/>
              <a:headEnd type="triangle" w="med" len="med"/>
              <a:tailEnd type="triangle" w="med" len="med"/>
            </a:ln>
            <a:effectLst/>
          </p:spPr>
          <p:txBody>
            <a:bodyPr wrap="none" anchor="ctr"/>
            <a:lstStyle/>
            <a:p>
              <a:pPr>
                <a:defRPr/>
              </a:pPr>
              <a:endParaRPr lang="zh-CN" altLang="en-US">
                <a:solidFill>
                  <a:schemeClr val="tx2"/>
                </a:solidFill>
              </a:endParaRPr>
            </a:p>
          </p:txBody>
        </p:sp>
        <p:sp>
          <p:nvSpPr>
            <p:cNvPr id="381957" name="Line 5"/>
            <p:cNvSpPr>
              <a:spLocks noChangeShapeType="1"/>
            </p:cNvSpPr>
            <p:nvPr/>
          </p:nvSpPr>
          <p:spPr bwMode="auto">
            <a:xfrm>
              <a:off x="4618567" y="1338264"/>
              <a:ext cx="2117" cy="668337"/>
            </a:xfrm>
            <a:prstGeom prst="line">
              <a:avLst/>
            </a:prstGeom>
            <a:noFill/>
            <a:ln w="28575">
              <a:solidFill>
                <a:schemeClr val="tx1"/>
              </a:solidFill>
              <a:round/>
              <a:headEnd/>
              <a:tailEnd/>
            </a:ln>
            <a:effectLst/>
          </p:spPr>
          <p:txBody>
            <a:bodyPr wrap="none" anchor="ctr"/>
            <a:lstStyle/>
            <a:p>
              <a:pPr>
                <a:defRPr/>
              </a:pPr>
              <a:endParaRPr lang="zh-CN" altLang="en-US">
                <a:solidFill>
                  <a:schemeClr val="tx2"/>
                </a:solidFill>
              </a:endParaRPr>
            </a:p>
          </p:txBody>
        </p:sp>
        <p:sp>
          <p:nvSpPr>
            <p:cNvPr id="381958" name="Line 6"/>
            <p:cNvSpPr>
              <a:spLocks noChangeShapeType="1"/>
            </p:cNvSpPr>
            <p:nvPr/>
          </p:nvSpPr>
          <p:spPr bwMode="auto">
            <a:xfrm>
              <a:off x="1809751" y="2006600"/>
              <a:ext cx="5001683" cy="0"/>
            </a:xfrm>
            <a:prstGeom prst="line">
              <a:avLst/>
            </a:prstGeom>
            <a:noFill/>
            <a:ln w="28575">
              <a:solidFill>
                <a:schemeClr val="tx1"/>
              </a:solidFill>
              <a:round/>
              <a:headEnd/>
              <a:tailEnd/>
            </a:ln>
            <a:effectLst/>
          </p:spPr>
          <p:txBody>
            <a:bodyPr wrap="none" anchor="ctr"/>
            <a:lstStyle/>
            <a:p>
              <a:pPr>
                <a:defRPr/>
              </a:pPr>
              <a:endParaRPr lang="zh-CN" altLang="en-US">
                <a:solidFill>
                  <a:schemeClr val="tx2"/>
                </a:solidFill>
              </a:endParaRPr>
            </a:p>
          </p:txBody>
        </p:sp>
        <p:sp>
          <p:nvSpPr>
            <p:cNvPr id="381959" name="Line 7"/>
            <p:cNvSpPr>
              <a:spLocks noChangeShapeType="1"/>
            </p:cNvSpPr>
            <p:nvPr/>
          </p:nvSpPr>
          <p:spPr bwMode="auto">
            <a:xfrm>
              <a:off x="1809751" y="2006601"/>
              <a:ext cx="0" cy="600075"/>
            </a:xfrm>
            <a:prstGeom prst="line">
              <a:avLst/>
            </a:prstGeom>
            <a:noFill/>
            <a:ln w="28575">
              <a:solidFill>
                <a:schemeClr val="tx1"/>
              </a:solidFill>
              <a:round/>
              <a:headEnd/>
              <a:tailEnd type="triangle" w="med" len="med"/>
            </a:ln>
            <a:effectLst/>
          </p:spPr>
          <p:txBody>
            <a:bodyPr wrap="none" anchor="ctr"/>
            <a:lstStyle/>
            <a:p>
              <a:pPr>
                <a:defRPr/>
              </a:pPr>
              <a:endParaRPr lang="zh-CN" altLang="en-US">
                <a:solidFill>
                  <a:schemeClr val="tx2"/>
                </a:solidFill>
              </a:endParaRPr>
            </a:p>
          </p:txBody>
        </p:sp>
        <p:sp>
          <p:nvSpPr>
            <p:cNvPr id="44040" name="Text Box 8"/>
            <p:cNvSpPr txBox="1">
              <a:spLocks noChangeArrowheads="1"/>
            </p:cNvSpPr>
            <p:nvPr/>
          </p:nvSpPr>
          <p:spPr bwMode="auto">
            <a:xfrm>
              <a:off x="1896533" y="2073276"/>
              <a:ext cx="3160184" cy="365356"/>
            </a:xfrm>
            <a:prstGeom prst="rect">
              <a:avLst/>
            </a:prstGeom>
            <a:solidFill>
              <a:srgbClr val="FFFFCC"/>
            </a:solidFill>
            <a:ln w="28575">
              <a:solidFill>
                <a:schemeClr val="tx1"/>
              </a:solidFill>
              <a:miter lim="800000"/>
              <a:headEnd/>
              <a:tailEnd/>
            </a:ln>
            <a:effectLst>
              <a:prstShdw prst="shdw17" dist="17961" dir="2700000">
                <a:srgbClr val="99997A"/>
              </a:prstShdw>
            </a:effectLst>
          </p:spPr>
          <p:txBody>
            <a:bodyPr>
              <a:spAutoFit/>
            </a:bodyPr>
            <a:lstStyle/>
            <a:p>
              <a:pPr algn="l" eaLnBrk="1" hangingPunct="1">
                <a:spcBef>
                  <a:spcPct val="50000"/>
                </a:spcBef>
              </a:pPr>
              <a:r>
                <a:rPr kumimoji="1" lang="zh-CN" altLang="en-US" sz="2000" b="1" dirty="0">
                  <a:solidFill>
                    <a:schemeClr val="tx2"/>
                  </a:solidFill>
                  <a:effectLst/>
                  <a:latin typeface="Times New Roman" pitchFamily="18" charset="0"/>
                </a:rPr>
                <a:t>成本＜可变现净值</a:t>
              </a:r>
              <a:endParaRPr kumimoji="1" lang="zh-CN" altLang="en-US" sz="2000" dirty="0">
                <a:solidFill>
                  <a:schemeClr val="tx2"/>
                </a:solidFill>
                <a:effectLst/>
                <a:latin typeface="Times New Roman" pitchFamily="18" charset="0"/>
              </a:endParaRPr>
            </a:p>
          </p:txBody>
        </p:sp>
        <p:sp>
          <p:nvSpPr>
            <p:cNvPr id="381961" name="Text Box 9"/>
            <p:cNvSpPr txBox="1">
              <a:spLocks noChangeArrowheads="1"/>
            </p:cNvSpPr>
            <p:nvPr/>
          </p:nvSpPr>
          <p:spPr bwMode="auto">
            <a:xfrm>
              <a:off x="931334" y="2606676"/>
              <a:ext cx="2546351" cy="365356"/>
            </a:xfrm>
            <a:prstGeom prst="rect">
              <a:avLst/>
            </a:prstGeom>
            <a:noFill/>
            <a:ln w="28575">
              <a:solidFill>
                <a:schemeClr val="tx1"/>
              </a:solidFill>
              <a:miter lim="800000"/>
              <a:headEnd/>
              <a:tailEnd/>
            </a:ln>
            <a:effectLst/>
          </p:spPr>
          <p:txBody>
            <a:bodyPr>
              <a:spAutoFit/>
            </a:bodyPr>
            <a:lstStyle/>
            <a:p>
              <a:pPr algn="l" eaLnBrk="1" hangingPunct="1">
                <a:spcBef>
                  <a:spcPct val="50000"/>
                </a:spcBef>
                <a:defRPr/>
              </a:pPr>
              <a:r>
                <a:rPr kumimoji="1" lang="en-US" altLang="zh-CN" sz="2000" b="1">
                  <a:solidFill>
                    <a:schemeClr val="tx2"/>
                  </a:solidFill>
                  <a:effectLst/>
                  <a:latin typeface="Times New Roman" pitchFamily="18" charset="0"/>
                </a:rPr>
                <a:t> </a:t>
              </a:r>
              <a:r>
                <a:rPr kumimoji="1" lang="zh-CN" altLang="en-US" sz="2000" b="1">
                  <a:solidFill>
                    <a:schemeClr val="tx2"/>
                  </a:solidFill>
                  <a:effectLst/>
                  <a:latin typeface="Times New Roman" pitchFamily="18" charset="0"/>
                </a:rPr>
                <a:t>不作账务处理</a:t>
              </a:r>
              <a:endParaRPr kumimoji="1" lang="zh-CN" altLang="en-US" sz="2000">
                <a:solidFill>
                  <a:schemeClr val="tx2"/>
                </a:solidFill>
                <a:effectLst/>
                <a:latin typeface="Times New Roman" pitchFamily="18" charset="0"/>
              </a:endParaRPr>
            </a:p>
          </p:txBody>
        </p:sp>
        <p:sp>
          <p:nvSpPr>
            <p:cNvPr id="44042" name="Text Box 10"/>
            <p:cNvSpPr txBox="1">
              <a:spLocks noChangeArrowheads="1"/>
            </p:cNvSpPr>
            <p:nvPr/>
          </p:nvSpPr>
          <p:spPr bwMode="auto">
            <a:xfrm>
              <a:off x="6900333" y="2073276"/>
              <a:ext cx="3160184" cy="365356"/>
            </a:xfrm>
            <a:prstGeom prst="rect">
              <a:avLst/>
            </a:prstGeom>
            <a:solidFill>
              <a:srgbClr val="FFFFCC"/>
            </a:solidFill>
            <a:ln w="28575">
              <a:solidFill>
                <a:schemeClr val="tx1"/>
              </a:solidFill>
              <a:miter lim="800000"/>
              <a:headEnd/>
              <a:tailEnd/>
            </a:ln>
            <a:effectLst>
              <a:prstShdw prst="shdw17" dist="17961" dir="2700000">
                <a:srgbClr val="99997A"/>
              </a:prstShdw>
            </a:effectLst>
          </p:spPr>
          <p:txBody>
            <a:bodyPr>
              <a:spAutoFit/>
            </a:bodyPr>
            <a:lstStyle/>
            <a:p>
              <a:pPr algn="l" eaLnBrk="1" hangingPunct="1">
                <a:spcBef>
                  <a:spcPct val="50000"/>
                </a:spcBef>
              </a:pPr>
              <a:r>
                <a:rPr kumimoji="1" lang="zh-CN" altLang="en-US" sz="2000" b="1" dirty="0">
                  <a:solidFill>
                    <a:schemeClr val="tx2"/>
                  </a:solidFill>
                  <a:effectLst/>
                  <a:latin typeface="Times New Roman" pitchFamily="18" charset="0"/>
                </a:rPr>
                <a:t>成本＞可变现净值</a:t>
              </a:r>
              <a:endParaRPr kumimoji="1" lang="zh-CN" altLang="en-US" sz="2000" dirty="0">
                <a:solidFill>
                  <a:schemeClr val="tx2"/>
                </a:solidFill>
                <a:effectLst/>
                <a:latin typeface="Times New Roman" pitchFamily="18" charset="0"/>
              </a:endParaRPr>
            </a:p>
          </p:txBody>
        </p:sp>
        <p:sp>
          <p:nvSpPr>
            <p:cNvPr id="381963" name="Line 11"/>
            <p:cNvSpPr>
              <a:spLocks noChangeShapeType="1"/>
            </p:cNvSpPr>
            <p:nvPr/>
          </p:nvSpPr>
          <p:spPr bwMode="auto">
            <a:xfrm>
              <a:off x="6811434" y="2006600"/>
              <a:ext cx="2117" cy="533400"/>
            </a:xfrm>
            <a:prstGeom prst="line">
              <a:avLst/>
            </a:prstGeom>
            <a:noFill/>
            <a:ln w="28575">
              <a:solidFill>
                <a:schemeClr val="tx1"/>
              </a:solidFill>
              <a:round/>
              <a:headEnd/>
              <a:tailEnd type="triangle" w="med" len="med"/>
            </a:ln>
            <a:effectLst/>
          </p:spPr>
          <p:txBody>
            <a:bodyPr wrap="none" anchor="ctr"/>
            <a:lstStyle/>
            <a:p>
              <a:pPr>
                <a:defRPr/>
              </a:pPr>
              <a:endParaRPr lang="zh-CN" altLang="en-US">
                <a:solidFill>
                  <a:schemeClr val="tx2"/>
                </a:solidFill>
              </a:endParaRPr>
            </a:p>
          </p:txBody>
        </p:sp>
        <p:sp>
          <p:nvSpPr>
            <p:cNvPr id="381965" name="Line 13"/>
            <p:cNvSpPr>
              <a:spLocks noChangeShapeType="1"/>
            </p:cNvSpPr>
            <p:nvPr/>
          </p:nvSpPr>
          <p:spPr bwMode="auto">
            <a:xfrm>
              <a:off x="6811434" y="2936876"/>
              <a:ext cx="2117" cy="403225"/>
            </a:xfrm>
            <a:prstGeom prst="line">
              <a:avLst/>
            </a:prstGeom>
            <a:noFill/>
            <a:ln w="28575">
              <a:solidFill>
                <a:schemeClr val="tx1"/>
              </a:solidFill>
              <a:round/>
              <a:headEnd/>
              <a:tailEnd/>
            </a:ln>
            <a:effectLst/>
          </p:spPr>
          <p:txBody>
            <a:bodyPr wrap="none" anchor="ctr"/>
            <a:lstStyle/>
            <a:p>
              <a:pPr>
                <a:defRPr/>
              </a:pPr>
              <a:endParaRPr lang="zh-CN" altLang="en-US">
                <a:solidFill>
                  <a:schemeClr val="tx2"/>
                </a:solidFill>
              </a:endParaRPr>
            </a:p>
          </p:txBody>
        </p:sp>
        <p:sp>
          <p:nvSpPr>
            <p:cNvPr id="381966" name="Line 14"/>
            <p:cNvSpPr>
              <a:spLocks noChangeShapeType="1"/>
            </p:cNvSpPr>
            <p:nvPr/>
          </p:nvSpPr>
          <p:spPr bwMode="auto">
            <a:xfrm>
              <a:off x="4353984" y="3340100"/>
              <a:ext cx="4917016" cy="1588"/>
            </a:xfrm>
            <a:prstGeom prst="line">
              <a:avLst/>
            </a:prstGeom>
            <a:noFill/>
            <a:ln w="28575">
              <a:solidFill>
                <a:schemeClr val="tx1"/>
              </a:solidFill>
              <a:round/>
              <a:headEnd/>
              <a:tailEnd/>
            </a:ln>
            <a:effectLst/>
          </p:spPr>
          <p:txBody>
            <a:bodyPr wrap="none" anchor="ctr"/>
            <a:lstStyle/>
            <a:p>
              <a:pPr>
                <a:defRPr/>
              </a:pPr>
              <a:endParaRPr lang="zh-CN" altLang="en-US">
                <a:solidFill>
                  <a:schemeClr val="tx2"/>
                </a:solidFill>
              </a:endParaRPr>
            </a:p>
          </p:txBody>
        </p:sp>
        <p:sp>
          <p:nvSpPr>
            <p:cNvPr id="381967" name="Line 15"/>
            <p:cNvSpPr>
              <a:spLocks noChangeShapeType="1"/>
            </p:cNvSpPr>
            <p:nvPr/>
          </p:nvSpPr>
          <p:spPr bwMode="auto">
            <a:xfrm>
              <a:off x="4353985" y="3340100"/>
              <a:ext cx="2116" cy="400050"/>
            </a:xfrm>
            <a:prstGeom prst="line">
              <a:avLst/>
            </a:prstGeom>
            <a:noFill/>
            <a:ln w="28575">
              <a:solidFill>
                <a:schemeClr val="tx1"/>
              </a:solidFill>
              <a:round/>
              <a:headEnd/>
              <a:tailEnd type="triangle" w="med" len="med"/>
            </a:ln>
            <a:effectLst/>
          </p:spPr>
          <p:txBody>
            <a:bodyPr wrap="none" anchor="ctr"/>
            <a:lstStyle/>
            <a:p>
              <a:pPr>
                <a:defRPr/>
              </a:pPr>
              <a:endParaRPr lang="zh-CN" altLang="en-US">
                <a:solidFill>
                  <a:schemeClr val="tx2"/>
                </a:solidFill>
              </a:endParaRPr>
            </a:p>
          </p:txBody>
        </p:sp>
        <p:sp>
          <p:nvSpPr>
            <p:cNvPr id="381968" name="Line 16"/>
            <p:cNvSpPr>
              <a:spLocks noChangeShapeType="1"/>
            </p:cNvSpPr>
            <p:nvPr/>
          </p:nvSpPr>
          <p:spPr bwMode="auto">
            <a:xfrm>
              <a:off x="9271000" y="3340100"/>
              <a:ext cx="0" cy="400050"/>
            </a:xfrm>
            <a:prstGeom prst="line">
              <a:avLst/>
            </a:prstGeom>
            <a:noFill/>
            <a:ln w="28575">
              <a:solidFill>
                <a:schemeClr val="tx1"/>
              </a:solidFill>
              <a:round/>
              <a:headEnd/>
              <a:tailEnd type="triangle" w="med" len="med"/>
            </a:ln>
            <a:effectLst/>
          </p:spPr>
          <p:txBody>
            <a:bodyPr wrap="none" anchor="ctr"/>
            <a:lstStyle/>
            <a:p>
              <a:pPr>
                <a:defRPr/>
              </a:pPr>
              <a:endParaRPr lang="zh-CN" altLang="en-US">
                <a:solidFill>
                  <a:schemeClr val="tx2"/>
                </a:solidFill>
              </a:endParaRPr>
            </a:p>
          </p:txBody>
        </p:sp>
        <p:sp>
          <p:nvSpPr>
            <p:cNvPr id="381969" name="Text Box 17"/>
            <p:cNvSpPr txBox="1">
              <a:spLocks noChangeArrowheads="1"/>
            </p:cNvSpPr>
            <p:nvPr/>
          </p:nvSpPr>
          <p:spPr bwMode="auto">
            <a:xfrm>
              <a:off x="1961935" y="3771035"/>
              <a:ext cx="4521628" cy="618293"/>
            </a:xfrm>
            <a:prstGeom prst="rect">
              <a:avLst/>
            </a:prstGeom>
            <a:noFill/>
            <a:ln w="28575">
              <a:solidFill>
                <a:schemeClr val="tx1"/>
              </a:solidFill>
              <a:miter lim="800000"/>
              <a:headEnd/>
              <a:tailEnd/>
            </a:ln>
            <a:effectLst/>
          </p:spPr>
          <p:txBody>
            <a:bodyPr wrap="square">
              <a:spAutoFit/>
            </a:bodyPr>
            <a:lstStyle/>
            <a:p>
              <a:pPr algn="l" eaLnBrk="1" hangingPunct="1">
                <a:spcBef>
                  <a:spcPct val="50000"/>
                </a:spcBef>
                <a:defRPr/>
              </a:pPr>
              <a:r>
                <a:rPr kumimoji="1" lang="zh-CN" altLang="en-US" sz="2000" b="1" dirty="0">
                  <a:solidFill>
                    <a:schemeClr val="tx2"/>
                  </a:solidFill>
                  <a:effectLst/>
                  <a:latin typeface="Times New Roman" pitchFamily="18" charset="0"/>
                </a:rPr>
                <a:t>存货跌价准备的应有余额</a:t>
              </a:r>
            </a:p>
            <a:p>
              <a:pPr algn="l" eaLnBrk="1" hangingPunct="1">
                <a:lnSpc>
                  <a:spcPct val="40000"/>
                </a:lnSpc>
                <a:spcBef>
                  <a:spcPct val="50000"/>
                </a:spcBef>
                <a:defRPr/>
              </a:pPr>
              <a:r>
                <a:rPr kumimoji="1" lang="en-US" altLang="zh-CN" sz="2000" b="1" dirty="0">
                  <a:solidFill>
                    <a:schemeClr val="tx2"/>
                  </a:solidFill>
                  <a:effectLst/>
                  <a:latin typeface="Times New Roman" pitchFamily="18" charset="0"/>
                </a:rPr>
                <a:t>(</a:t>
              </a:r>
              <a:r>
                <a:rPr kumimoji="1" lang="zh-CN" altLang="en-US" sz="2000" b="1" dirty="0">
                  <a:solidFill>
                    <a:schemeClr val="tx2"/>
                  </a:solidFill>
                  <a:effectLst/>
                  <a:latin typeface="Times New Roman" pitchFamily="18" charset="0"/>
                </a:rPr>
                <a:t>成本</a:t>
              </a:r>
              <a:r>
                <a:rPr kumimoji="1" lang="en-US" altLang="zh-CN" sz="2000" b="1" dirty="0">
                  <a:solidFill>
                    <a:schemeClr val="tx2"/>
                  </a:solidFill>
                  <a:effectLst/>
                  <a:latin typeface="Times New Roman" pitchFamily="18" charset="0"/>
                </a:rPr>
                <a:t>—</a:t>
              </a:r>
              <a:r>
                <a:rPr kumimoji="1" lang="zh-CN" altLang="en-US" sz="2000" b="1" dirty="0">
                  <a:solidFill>
                    <a:schemeClr val="tx2"/>
                  </a:solidFill>
                  <a:effectLst/>
                  <a:latin typeface="Times New Roman" pitchFamily="18" charset="0"/>
                </a:rPr>
                <a:t>可变现净值</a:t>
              </a:r>
              <a:r>
                <a:rPr kumimoji="1" lang="en-US" altLang="zh-CN" sz="2000" b="1" dirty="0">
                  <a:solidFill>
                    <a:schemeClr val="tx2"/>
                  </a:solidFill>
                  <a:effectLst/>
                  <a:latin typeface="Times New Roman" pitchFamily="18" charset="0"/>
                </a:rPr>
                <a:t>)</a:t>
              </a:r>
            </a:p>
          </p:txBody>
        </p:sp>
        <p:sp>
          <p:nvSpPr>
            <p:cNvPr id="381970" name="Text Box 18"/>
            <p:cNvSpPr txBox="1">
              <a:spLocks noChangeArrowheads="1"/>
            </p:cNvSpPr>
            <p:nvPr/>
          </p:nvSpPr>
          <p:spPr bwMode="auto">
            <a:xfrm>
              <a:off x="7514166" y="3740150"/>
              <a:ext cx="4402308" cy="618293"/>
            </a:xfrm>
            <a:prstGeom prst="rect">
              <a:avLst/>
            </a:prstGeom>
            <a:noFill/>
            <a:ln w="28575">
              <a:solidFill>
                <a:schemeClr val="tx1"/>
              </a:solidFill>
              <a:miter lim="800000"/>
              <a:headEnd/>
              <a:tailEnd/>
            </a:ln>
            <a:effectLst/>
          </p:spPr>
          <p:txBody>
            <a:bodyPr wrap="square">
              <a:spAutoFit/>
            </a:bodyPr>
            <a:lstStyle/>
            <a:p>
              <a:pPr algn="l" eaLnBrk="1" hangingPunct="1">
                <a:spcBef>
                  <a:spcPct val="50000"/>
                </a:spcBef>
                <a:defRPr/>
              </a:pPr>
              <a:r>
                <a:rPr kumimoji="1" lang="zh-CN" altLang="en-US" sz="2000" b="1" dirty="0">
                  <a:solidFill>
                    <a:schemeClr val="tx2"/>
                  </a:solidFill>
                  <a:effectLst/>
                  <a:latin typeface="Times New Roman" pitchFamily="18" charset="0"/>
                </a:rPr>
                <a:t>存货跌价准备的已有余额</a:t>
              </a:r>
            </a:p>
            <a:p>
              <a:pPr algn="l" eaLnBrk="1" hangingPunct="1">
                <a:lnSpc>
                  <a:spcPct val="40000"/>
                </a:lnSpc>
                <a:spcBef>
                  <a:spcPct val="50000"/>
                </a:spcBef>
                <a:defRPr/>
              </a:pPr>
              <a:r>
                <a:rPr kumimoji="1" lang="zh-CN" altLang="en-US" sz="2000" b="1" dirty="0">
                  <a:solidFill>
                    <a:schemeClr val="tx2"/>
                  </a:solidFill>
                  <a:effectLst/>
                  <a:latin typeface="Times New Roman" pitchFamily="18" charset="0"/>
                </a:rPr>
                <a:t>即“存货跌价准备”余额</a:t>
              </a:r>
            </a:p>
          </p:txBody>
        </p:sp>
        <p:sp>
          <p:nvSpPr>
            <p:cNvPr id="44050" name="Text Box 19"/>
            <p:cNvSpPr txBox="1">
              <a:spLocks noChangeArrowheads="1"/>
            </p:cNvSpPr>
            <p:nvPr/>
          </p:nvSpPr>
          <p:spPr bwMode="auto">
            <a:xfrm>
              <a:off x="4108451" y="1103314"/>
              <a:ext cx="1054100" cy="365356"/>
            </a:xfrm>
            <a:prstGeom prst="rect">
              <a:avLst/>
            </a:prstGeom>
            <a:solidFill>
              <a:srgbClr val="FFFFCC"/>
            </a:solidFill>
            <a:ln w="9525">
              <a:solidFill>
                <a:schemeClr val="tx1"/>
              </a:solidFill>
              <a:miter lim="800000"/>
              <a:headEnd/>
              <a:tailEnd/>
            </a:ln>
            <a:effectLst>
              <a:prstShdw prst="shdw17" dist="17961" dir="2700000">
                <a:srgbClr val="99997A"/>
              </a:prstShdw>
            </a:effectLst>
          </p:spPr>
          <p:txBody>
            <a:bodyPr>
              <a:spAutoFit/>
            </a:bodyPr>
            <a:lstStyle/>
            <a:p>
              <a:pPr algn="l" eaLnBrk="1" hangingPunct="1">
                <a:spcBef>
                  <a:spcPct val="50000"/>
                </a:spcBef>
              </a:pPr>
              <a:r>
                <a:rPr kumimoji="1" lang="zh-CN" altLang="en-US" sz="2000" b="1" dirty="0">
                  <a:solidFill>
                    <a:schemeClr val="tx2"/>
                  </a:solidFill>
                  <a:effectLst/>
                  <a:latin typeface="Times New Roman" pitchFamily="18" charset="0"/>
                </a:rPr>
                <a:t>比较</a:t>
              </a:r>
            </a:p>
          </p:txBody>
        </p:sp>
        <p:sp>
          <p:nvSpPr>
            <p:cNvPr id="381972" name="Line 20"/>
            <p:cNvSpPr>
              <a:spLocks noChangeShapeType="1"/>
            </p:cNvSpPr>
            <p:nvPr/>
          </p:nvSpPr>
          <p:spPr bwMode="auto">
            <a:xfrm>
              <a:off x="4353985" y="4359276"/>
              <a:ext cx="2116" cy="449263"/>
            </a:xfrm>
            <a:prstGeom prst="line">
              <a:avLst/>
            </a:prstGeom>
            <a:noFill/>
            <a:ln w="28575">
              <a:solidFill>
                <a:schemeClr val="tx1"/>
              </a:solidFill>
              <a:round/>
              <a:headEnd/>
              <a:tailEnd/>
            </a:ln>
            <a:effectLst/>
          </p:spPr>
          <p:txBody>
            <a:bodyPr wrap="none" anchor="ctr"/>
            <a:lstStyle/>
            <a:p>
              <a:pPr>
                <a:defRPr/>
              </a:pPr>
              <a:endParaRPr lang="zh-CN" altLang="en-US">
                <a:solidFill>
                  <a:schemeClr val="tx2"/>
                </a:solidFill>
              </a:endParaRPr>
            </a:p>
          </p:txBody>
        </p:sp>
        <p:sp>
          <p:nvSpPr>
            <p:cNvPr id="381973" name="Line 21"/>
            <p:cNvSpPr>
              <a:spLocks noChangeShapeType="1"/>
            </p:cNvSpPr>
            <p:nvPr/>
          </p:nvSpPr>
          <p:spPr bwMode="auto">
            <a:xfrm>
              <a:off x="9271000" y="4357688"/>
              <a:ext cx="0" cy="450850"/>
            </a:xfrm>
            <a:prstGeom prst="line">
              <a:avLst/>
            </a:prstGeom>
            <a:noFill/>
            <a:ln w="28575">
              <a:solidFill>
                <a:schemeClr val="tx1"/>
              </a:solidFill>
              <a:round/>
              <a:headEnd/>
              <a:tailEnd/>
            </a:ln>
            <a:effectLst/>
          </p:spPr>
          <p:txBody>
            <a:bodyPr wrap="none" anchor="ctr"/>
            <a:lstStyle/>
            <a:p>
              <a:pPr>
                <a:defRPr/>
              </a:pPr>
              <a:endParaRPr lang="zh-CN" altLang="en-US">
                <a:solidFill>
                  <a:schemeClr val="tx2"/>
                </a:solidFill>
              </a:endParaRPr>
            </a:p>
          </p:txBody>
        </p:sp>
        <p:sp>
          <p:nvSpPr>
            <p:cNvPr id="381974" name="Line 22"/>
            <p:cNvSpPr>
              <a:spLocks noChangeShapeType="1"/>
            </p:cNvSpPr>
            <p:nvPr/>
          </p:nvSpPr>
          <p:spPr bwMode="auto">
            <a:xfrm>
              <a:off x="4353984" y="4808539"/>
              <a:ext cx="4917016" cy="1587"/>
            </a:xfrm>
            <a:prstGeom prst="line">
              <a:avLst/>
            </a:prstGeom>
            <a:noFill/>
            <a:ln w="28575">
              <a:solidFill>
                <a:schemeClr val="tx1"/>
              </a:solidFill>
              <a:round/>
              <a:headEnd/>
              <a:tailEnd/>
            </a:ln>
            <a:effectLst/>
          </p:spPr>
          <p:txBody>
            <a:bodyPr wrap="none" anchor="ctr"/>
            <a:lstStyle/>
            <a:p>
              <a:pPr>
                <a:defRPr/>
              </a:pPr>
              <a:endParaRPr lang="zh-CN" altLang="en-US">
                <a:solidFill>
                  <a:schemeClr val="tx2"/>
                </a:solidFill>
              </a:endParaRPr>
            </a:p>
          </p:txBody>
        </p:sp>
        <p:sp>
          <p:nvSpPr>
            <p:cNvPr id="381975" name="Line 23"/>
            <p:cNvSpPr>
              <a:spLocks noChangeShapeType="1"/>
            </p:cNvSpPr>
            <p:nvPr/>
          </p:nvSpPr>
          <p:spPr bwMode="auto">
            <a:xfrm>
              <a:off x="6900334" y="4808538"/>
              <a:ext cx="2117" cy="400050"/>
            </a:xfrm>
            <a:prstGeom prst="line">
              <a:avLst/>
            </a:prstGeom>
            <a:noFill/>
            <a:ln w="28575">
              <a:solidFill>
                <a:schemeClr val="tx1"/>
              </a:solidFill>
              <a:round/>
              <a:headEnd/>
              <a:tailEnd/>
            </a:ln>
            <a:effectLst/>
          </p:spPr>
          <p:txBody>
            <a:bodyPr wrap="none" anchor="ctr"/>
            <a:lstStyle/>
            <a:p>
              <a:pPr>
                <a:defRPr/>
              </a:pPr>
              <a:endParaRPr lang="zh-CN" altLang="en-US">
                <a:solidFill>
                  <a:schemeClr val="tx2"/>
                </a:solidFill>
              </a:endParaRPr>
            </a:p>
          </p:txBody>
        </p:sp>
        <p:sp>
          <p:nvSpPr>
            <p:cNvPr id="44055" name="Text Box 24"/>
            <p:cNvSpPr txBox="1">
              <a:spLocks noChangeArrowheads="1"/>
            </p:cNvSpPr>
            <p:nvPr/>
          </p:nvSpPr>
          <p:spPr bwMode="auto">
            <a:xfrm>
              <a:off x="6373285" y="4494214"/>
              <a:ext cx="1054100" cy="365356"/>
            </a:xfrm>
            <a:prstGeom prst="rect">
              <a:avLst/>
            </a:prstGeom>
            <a:solidFill>
              <a:srgbClr val="FFFFCC"/>
            </a:solidFill>
            <a:ln w="9525">
              <a:solidFill>
                <a:schemeClr val="tx1"/>
              </a:solidFill>
              <a:miter lim="800000"/>
              <a:headEnd/>
              <a:tailEnd/>
            </a:ln>
            <a:effectLst>
              <a:prstShdw prst="shdw17" dist="17961" dir="2700000">
                <a:srgbClr val="99997A"/>
              </a:prstShdw>
            </a:effectLst>
          </p:spPr>
          <p:txBody>
            <a:bodyPr>
              <a:spAutoFit/>
            </a:bodyPr>
            <a:lstStyle/>
            <a:p>
              <a:pPr algn="l" eaLnBrk="1" hangingPunct="1">
                <a:spcBef>
                  <a:spcPct val="50000"/>
                </a:spcBef>
              </a:pPr>
              <a:r>
                <a:rPr kumimoji="1" lang="zh-CN" altLang="en-US" sz="2000" b="1">
                  <a:solidFill>
                    <a:schemeClr val="tx2"/>
                  </a:solidFill>
                  <a:effectLst/>
                  <a:latin typeface="Times New Roman" pitchFamily="18" charset="0"/>
                </a:rPr>
                <a:t>比较</a:t>
              </a:r>
            </a:p>
          </p:txBody>
        </p:sp>
        <p:sp>
          <p:nvSpPr>
            <p:cNvPr id="381977" name="Line 25"/>
            <p:cNvSpPr>
              <a:spLocks noChangeShapeType="1"/>
            </p:cNvSpPr>
            <p:nvPr/>
          </p:nvSpPr>
          <p:spPr bwMode="auto">
            <a:xfrm flipV="1">
              <a:off x="3326970" y="5194301"/>
              <a:ext cx="7784527" cy="30957"/>
            </a:xfrm>
            <a:prstGeom prst="line">
              <a:avLst/>
            </a:prstGeom>
            <a:noFill/>
            <a:ln w="28575">
              <a:solidFill>
                <a:schemeClr val="tx1"/>
              </a:solidFill>
              <a:round/>
              <a:headEnd/>
              <a:tailEnd/>
            </a:ln>
            <a:effectLst/>
          </p:spPr>
          <p:txBody>
            <a:bodyPr wrap="none" anchor="ctr"/>
            <a:lstStyle/>
            <a:p>
              <a:pPr>
                <a:defRPr/>
              </a:pPr>
              <a:endParaRPr lang="zh-CN" altLang="en-US">
                <a:solidFill>
                  <a:schemeClr val="tx2"/>
                </a:solidFill>
              </a:endParaRPr>
            </a:p>
          </p:txBody>
        </p:sp>
        <p:sp>
          <p:nvSpPr>
            <p:cNvPr id="381978" name="Line 26"/>
            <p:cNvSpPr>
              <a:spLocks noChangeShapeType="1"/>
            </p:cNvSpPr>
            <p:nvPr/>
          </p:nvSpPr>
          <p:spPr bwMode="auto">
            <a:xfrm flipH="1">
              <a:off x="3324852" y="5218597"/>
              <a:ext cx="2117" cy="666750"/>
            </a:xfrm>
            <a:prstGeom prst="line">
              <a:avLst/>
            </a:prstGeom>
            <a:noFill/>
            <a:ln w="28575">
              <a:solidFill>
                <a:schemeClr val="tx1"/>
              </a:solidFill>
              <a:round/>
              <a:headEnd/>
              <a:tailEnd type="triangle" w="med" len="med"/>
            </a:ln>
            <a:effectLst/>
          </p:spPr>
          <p:txBody>
            <a:bodyPr wrap="none" anchor="ctr"/>
            <a:lstStyle/>
            <a:p>
              <a:pPr>
                <a:defRPr/>
              </a:pPr>
              <a:endParaRPr lang="zh-CN" altLang="en-US">
                <a:solidFill>
                  <a:schemeClr val="tx2"/>
                </a:solidFill>
              </a:endParaRPr>
            </a:p>
          </p:txBody>
        </p:sp>
        <p:sp>
          <p:nvSpPr>
            <p:cNvPr id="44058" name="Text Box 27"/>
            <p:cNvSpPr txBox="1">
              <a:spLocks noChangeArrowheads="1"/>
            </p:cNvSpPr>
            <p:nvPr/>
          </p:nvSpPr>
          <p:spPr bwMode="auto">
            <a:xfrm>
              <a:off x="7607625" y="5334711"/>
              <a:ext cx="3462112" cy="365356"/>
            </a:xfrm>
            <a:prstGeom prst="rect">
              <a:avLst/>
            </a:prstGeom>
            <a:solidFill>
              <a:srgbClr val="FFFFCC"/>
            </a:solidFill>
            <a:ln w="28575">
              <a:solidFill>
                <a:schemeClr val="tx1"/>
              </a:solidFill>
              <a:miter lim="800000"/>
              <a:headEnd/>
              <a:tailEnd/>
            </a:ln>
            <a:effectLst>
              <a:prstShdw prst="shdw17" dist="17961" dir="2700000">
                <a:srgbClr val="99997A"/>
              </a:prstShdw>
            </a:effectLst>
          </p:spPr>
          <p:txBody>
            <a:bodyPr wrap="square">
              <a:spAutoFit/>
            </a:bodyPr>
            <a:lstStyle/>
            <a:p>
              <a:pPr algn="l" eaLnBrk="1" hangingPunct="1">
                <a:spcBef>
                  <a:spcPct val="50000"/>
                </a:spcBef>
              </a:pPr>
              <a:r>
                <a:rPr kumimoji="1" lang="zh-CN" altLang="en-US" sz="2000" b="1" dirty="0">
                  <a:solidFill>
                    <a:schemeClr val="tx2"/>
                  </a:solidFill>
                  <a:effectLst/>
                  <a:latin typeface="Times New Roman" pitchFamily="18" charset="0"/>
                </a:rPr>
                <a:t>应有余额＜已有余额</a:t>
              </a:r>
              <a:endParaRPr kumimoji="1" lang="zh-CN" altLang="en-US" sz="2000" dirty="0">
                <a:solidFill>
                  <a:schemeClr val="tx2"/>
                </a:solidFill>
                <a:effectLst/>
                <a:latin typeface="Times New Roman" pitchFamily="18" charset="0"/>
              </a:endParaRPr>
            </a:p>
          </p:txBody>
        </p:sp>
        <p:sp>
          <p:nvSpPr>
            <p:cNvPr id="44059" name="Text Box 28"/>
            <p:cNvSpPr txBox="1">
              <a:spLocks noChangeArrowheads="1"/>
            </p:cNvSpPr>
            <p:nvPr/>
          </p:nvSpPr>
          <p:spPr bwMode="auto">
            <a:xfrm>
              <a:off x="3476626" y="5328414"/>
              <a:ext cx="3594100" cy="365356"/>
            </a:xfrm>
            <a:prstGeom prst="rect">
              <a:avLst/>
            </a:prstGeom>
            <a:solidFill>
              <a:srgbClr val="FFFFCC"/>
            </a:solidFill>
            <a:ln w="28575">
              <a:solidFill>
                <a:schemeClr val="tx1"/>
              </a:solidFill>
              <a:miter lim="800000"/>
              <a:headEnd/>
              <a:tailEnd/>
            </a:ln>
            <a:effectLst>
              <a:prstShdw prst="shdw17" dist="17961" dir="2700000">
                <a:srgbClr val="99997A"/>
              </a:prstShdw>
            </a:effectLst>
          </p:spPr>
          <p:txBody>
            <a:bodyPr wrap="square">
              <a:spAutoFit/>
            </a:bodyPr>
            <a:lstStyle/>
            <a:p>
              <a:pPr algn="l" eaLnBrk="1" hangingPunct="1">
                <a:spcBef>
                  <a:spcPct val="50000"/>
                </a:spcBef>
              </a:pPr>
              <a:r>
                <a:rPr kumimoji="1" lang="zh-CN" altLang="en-US" sz="2000" b="1" dirty="0">
                  <a:solidFill>
                    <a:schemeClr val="tx2"/>
                  </a:solidFill>
                  <a:effectLst/>
                  <a:latin typeface="Times New Roman" pitchFamily="18" charset="0"/>
                </a:rPr>
                <a:t>应有余额＞已有余额</a:t>
              </a:r>
            </a:p>
          </p:txBody>
        </p:sp>
        <p:sp>
          <p:nvSpPr>
            <p:cNvPr id="381981" name="Text Box 29"/>
            <p:cNvSpPr txBox="1">
              <a:spLocks noChangeArrowheads="1"/>
            </p:cNvSpPr>
            <p:nvPr/>
          </p:nvSpPr>
          <p:spPr bwMode="auto">
            <a:xfrm>
              <a:off x="1755686" y="5890339"/>
              <a:ext cx="3246967" cy="365356"/>
            </a:xfrm>
            <a:prstGeom prst="rect">
              <a:avLst/>
            </a:prstGeom>
            <a:noFill/>
            <a:ln w="28575">
              <a:solidFill>
                <a:schemeClr val="tx1"/>
              </a:solidFill>
              <a:miter lim="800000"/>
              <a:headEnd/>
              <a:tailEnd/>
            </a:ln>
            <a:effectLst/>
          </p:spPr>
          <p:txBody>
            <a:bodyPr>
              <a:spAutoFit/>
            </a:bodyPr>
            <a:lstStyle/>
            <a:p>
              <a:pPr algn="l" eaLnBrk="1" hangingPunct="1">
                <a:spcBef>
                  <a:spcPct val="50000"/>
                </a:spcBef>
                <a:defRPr/>
              </a:pPr>
              <a:r>
                <a:rPr kumimoji="1" lang="zh-CN" altLang="en-US" sz="2000" b="1" dirty="0">
                  <a:solidFill>
                    <a:schemeClr val="tx2"/>
                  </a:solidFill>
                  <a:effectLst/>
                  <a:latin typeface="Times New Roman" pitchFamily="18" charset="0"/>
                </a:rPr>
                <a:t>计提存货跌价准备</a:t>
              </a:r>
              <a:endParaRPr kumimoji="1" lang="zh-CN" altLang="en-US" sz="2000" dirty="0">
                <a:solidFill>
                  <a:schemeClr val="tx2"/>
                </a:solidFill>
                <a:effectLst/>
                <a:latin typeface="Times New Roman" pitchFamily="18" charset="0"/>
              </a:endParaRPr>
            </a:p>
          </p:txBody>
        </p:sp>
        <p:sp>
          <p:nvSpPr>
            <p:cNvPr id="381982" name="Line 30"/>
            <p:cNvSpPr>
              <a:spLocks noChangeShapeType="1"/>
            </p:cNvSpPr>
            <p:nvPr/>
          </p:nvSpPr>
          <p:spPr bwMode="auto">
            <a:xfrm>
              <a:off x="11113613" y="5208588"/>
              <a:ext cx="0" cy="666750"/>
            </a:xfrm>
            <a:prstGeom prst="line">
              <a:avLst/>
            </a:prstGeom>
            <a:noFill/>
            <a:ln w="28575">
              <a:solidFill>
                <a:schemeClr val="tx1"/>
              </a:solidFill>
              <a:round/>
              <a:headEnd/>
              <a:tailEnd type="triangle" w="med" len="med"/>
            </a:ln>
            <a:effectLst/>
          </p:spPr>
          <p:txBody>
            <a:bodyPr wrap="none" anchor="ctr"/>
            <a:lstStyle/>
            <a:p>
              <a:pPr>
                <a:defRPr/>
              </a:pPr>
              <a:endParaRPr lang="zh-CN" altLang="en-US">
                <a:solidFill>
                  <a:schemeClr val="tx2"/>
                </a:solidFill>
              </a:endParaRPr>
            </a:p>
          </p:txBody>
        </p:sp>
        <p:sp>
          <p:nvSpPr>
            <p:cNvPr id="381983" name="Text Box 31"/>
            <p:cNvSpPr txBox="1">
              <a:spLocks noChangeArrowheads="1"/>
            </p:cNvSpPr>
            <p:nvPr/>
          </p:nvSpPr>
          <p:spPr bwMode="auto">
            <a:xfrm>
              <a:off x="8669507" y="5895994"/>
              <a:ext cx="3246967" cy="365356"/>
            </a:xfrm>
            <a:prstGeom prst="rect">
              <a:avLst/>
            </a:prstGeom>
            <a:noFill/>
            <a:ln w="28575">
              <a:solidFill>
                <a:schemeClr val="tx1"/>
              </a:solidFill>
              <a:miter lim="800000"/>
              <a:headEnd/>
              <a:tailEnd/>
            </a:ln>
            <a:effectLst/>
          </p:spPr>
          <p:txBody>
            <a:bodyPr>
              <a:spAutoFit/>
            </a:bodyPr>
            <a:lstStyle/>
            <a:p>
              <a:pPr algn="l" eaLnBrk="1" hangingPunct="1">
                <a:spcBef>
                  <a:spcPct val="50000"/>
                </a:spcBef>
                <a:defRPr/>
              </a:pPr>
              <a:r>
                <a:rPr kumimoji="1" lang="en-US" altLang="zh-CN" sz="2000" b="1" dirty="0">
                  <a:solidFill>
                    <a:schemeClr val="tx2"/>
                  </a:solidFill>
                  <a:effectLst/>
                  <a:latin typeface="Times New Roman" pitchFamily="18" charset="0"/>
                </a:rPr>
                <a:t> </a:t>
              </a:r>
              <a:r>
                <a:rPr kumimoji="1" lang="zh-CN" altLang="en-US" sz="2000" b="1" dirty="0">
                  <a:solidFill>
                    <a:schemeClr val="tx2"/>
                  </a:solidFill>
                  <a:effectLst/>
                  <a:latin typeface="Times New Roman" pitchFamily="18" charset="0"/>
                </a:rPr>
                <a:t>冲销存货跌价准备</a:t>
              </a:r>
              <a:endParaRPr kumimoji="1" lang="zh-CN" altLang="en-US" sz="2000" dirty="0">
                <a:solidFill>
                  <a:schemeClr val="tx2"/>
                </a:solidFill>
                <a:effectLst/>
                <a:latin typeface="Times New Roman" pitchFamily="18" charset="0"/>
              </a:endParaRPr>
            </a:p>
          </p:txBody>
        </p:sp>
        <p:sp>
          <p:nvSpPr>
            <p:cNvPr id="381964" name="Text Box 12"/>
            <p:cNvSpPr txBox="1">
              <a:spLocks noChangeArrowheads="1"/>
            </p:cNvSpPr>
            <p:nvPr/>
          </p:nvSpPr>
          <p:spPr bwMode="auto">
            <a:xfrm>
              <a:off x="5670551" y="2573339"/>
              <a:ext cx="2283883" cy="365356"/>
            </a:xfrm>
            <a:prstGeom prst="rect">
              <a:avLst/>
            </a:prstGeom>
            <a:noFill/>
            <a:ln w="28575">
              <a:solidFill>
                <a:schemeClr val="tx1"/>
              </a:solidFill>
              <a:miter lim="800000"/>
              <a:headEnd/>
              <a:tailEnd/>
            </a:ln>
            <a:effectLst/>
          </p:spPr>
          <p:txBody>
            <a:bodyPr>
              <a:spAutoFit/>
            </a:bodyPr>
            <a:lstStyle/>
            <a:p>
              <a:pPr algn="l" eaLnBrk="1" hangingPunct="1">
                <a:spcBef>
                  <a:spcPct val="50000"/>
                </a:spcBef>
                <a:defRPr/>
              </a:pPr>
              <a:r>
                <a:rPr kumimoji="1" lang="en-US" altLang="zh-CN" sz="2000" b="1" dirty="0">
                  <a:solidFill>
                    <a:schemeClr val="tx2"/>
                  </a:solidFill>
                  <a:effectLst/>
                  <a:latin typeface="Times New Roman" pitchFamily="18" charset="0"/>
                </a:rPr>
                <a:t> </a:t>
              </a:r>
              <a:r>
                <a:rPr kumimoji="1" lang="zh-CN" altLang="en-US" sz="2000" b="1" dirty="0">
                  <a:solidFill>
                    <a:schemeClr val="tx2"/>
                  </a:solidFill>
                  <a:effectLst/>
                  <a:latin typeface="Times New Roman" pitchFamily="18" charset="0"/>
                </a:rPr>
                <a:t>作账务处理</a:t>
              </a:r>
              <a:endParaRPr kumimoji="1" lang="zh-CN" altLang="en-US" sz="2000" dirty="0">
                <a:solidFill>
                  <a:schemeClr val="tx2"/>
                </a:solidFill>
                <a:effectLst/>
                <a:latin typeface="Times New Roman" pitchFamily="18" charset="0"/>
              </a:endParaRPr>
            </a:p>
          </p:txBody>
        </p:sp>
      </p:grpSp>
      <p:sp>
        <p:nvSpPr>
          <p:cNvPr id="44064" name="Rectangle 33"/>
          <p:cNvSpPr>
            <a:spLocks noChangeArrowheads="1"/>
          </p:cNvSpPr>
          <p:nvPr/>
        </p:nvSpPr>
        <p:spPr bwMode="auto">
          <a:xfrm>
            <a:off x="1837267" y="274639"/>
            <a:ext cx="4716356" cy="584775"/>
          </a:xfrm>
          <a:prstGeom prst="rect">
            <a:avLst/>
          </a:prstGeom>
          <a:noFill/>
          <a:ln w="12700" algn="ctr">
            <a:noFill/>
            <a:miter lim="800000"/>
            <a:headEnd type="none" w="sm" len="sm"/>
            <a:tailEnd type="none" w="sm" len="sm"/>
          </a:ln>
        </p:spPr>
        <p:txBody>
          <a:bodyPr wrap="none">
            <a:spAutoFit/>
          </a:bodyPr>
          <a:lstStyle/>
          <a:p>
            <a:r>
              <a:rPr lang="zh-CN" altLang="en-US" sz="3200" b="1" dirty="0">
                <a:solidFill>
                  <a:schemeClr val="tx2"/>
                </a:solidFill>
                <a:effectLst/>
                <a:ea typeface="黑体" pitchFamily="2" charset="-122"/>
              </a:rPr>
              <a:t>计提存货跌价准备的程序</a:t>
            </a:r>
          </a:p>
        </p:txBody>
      </p:sp>
    </p:spTree>
    <p:extLst>
      <p:ext uri="{BB962C8B-B14F-4D97-AF65-F5344CB8AC3E}">
        <p14:creationId xmlns:p14="http://schemas.microsoft.com/office/powerpoint/2010/main" val="19837403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2978" name="Rectangle 2"/>
          <p:cNvSpPr>
            <a:spLocks noGrp="1" noChangeArrowheads="1"/>
          </p:cNvSpPr>
          <p:nvPr>
            <p:ph type="body" idx="1"/>
          </p:nvPr>
        </p:nvSpPr>
        <p:spPr>
          <a:xfrm>
            <a:off x="4785784" y="4627564"/>
            <a:ext cx="6102349" cy="1265237"/>
          </a:xfrm>
        </p:spPr>
        <p:txBody>
          <a:bodyPr/>
          <a:lstStyle/>
          <a:p>
            <a:pPr marL="0" indent="0" algn="just" eaLnBrk="1" hangingPunct="1">
              <a:lnSpc>
                <a:spcPct val="90000"/>
              </a:lnSpc>
              <a:buNone/>
            </a:pPr>
            <a:r>
              <a:rPr lang="zh-CN" altLang="en-US" sz="2400" dirty="0">
                <a:solidFill>
                  <a:srgbClr val="FF0000"/>
                </a:solidFill>
              </a:rPr>
              <a:t>借：主营业务成本</a:t>
            </a:r>
            <a:endParaRPr lang="en-US" altLang="zh-CN" sz="2400" dirty="0">
              <a:solidFill>
                <a:srgbClr val="FF0000"/>
              </a:solidFill>
            </a:endParaRPr>
          </a:p>
          <a:p>
            <a:pPr marL="0" indent="0" algn="just" eaLnBrk="1" hangingPunct="1">
              <a:lnSpc>
                <a:spcPct val="90000"/>
              </a:lnSpc>
              <a:buNone/>
            </a:pPr>
            <a:r>
              <a:rPr lang="en-US" altLang="zh-CN" sz="2400" dirty="0">
                <a:solidFill>
                  <a:srgbClr val="FF0000"/>
                </a:solidFill>
              </a:rPr>
              <a:t>    </a:t>
            </a:r>
            <a:r>
              <a:rPr lang="zh-CN" altLang="en-US" sz="2400" dirty="0">
                <a:solidFill>
                  <a:srgbClr val="FF0000"/>
                </a:solidFill>
              </a:rPr>
              <a:t>存货跌价准备</a:t>
            </a:r>
          </a:p>
          <a:p>
            <a:pPr marL="0" indent="0" eaLnBrk="1" hangingPunct="1">
              <a:lnSpc>
                <a:spcPct val="90000"/>
              </a:lnSpc>
              <a:buNone/>
            </a:pPr>
            <a:r>
              <a:rPr lang="zh-CN" altLang="en-US" sz="2400" dirty="0">
                <a:solidFill>
                  <a:srgbClr val="FF0000"/>
                </a:solidFill>
              </a:rPr>
              <a:t>    贷：库存商品</a:t>
            </a:r>
          </a:p>
        </p:txBody>
      </p:sp>
      <p:sp>
        <p:nvSpPr>
          <p:cNvPr id="45059" name="Text Box 3"/>
          <p:cNvSpPr txBox="1">
            <a:spLocks noChangeArrowheads="1"/>
          </p:cNvSpPr>
          <p:nvPr/>
        </p:nvSpPr>
        <p:spPr bwMode="auto">
          <a:xfrm>
            <a:off x="1320800" y="762000"/>
            <a:ext cx="9855200"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a:solidFill>
                <a:schemeClr val="tx1"/>
              </a:solidFill>
              <a:effectLst/>
              <a:latin typeface="Times New Roman" pitchFamily="18" charset="0"/>
            </a:endParaRPr>
          </a:p>
        </p:txBody>
      </p:sp>
      <p:sp>
        <p:nvSpPr>
          <p:cNvPr id="382982" name="Rectangle 6"/>
          <p:cNvSpPr>
            <a:spLocks noChangeArrowheads="1"/>
          </p:cNvSpPr>
          <p:nvPr/>
        </p:nvSpPr>
        <p:spPr bwMode="auto">
          <a:xfrm>
            <a:off x="1658372" y="762000"/>
            <a:ext cx="8443337" cy="769441"/>
          </a:xfrm>
          <a:prstGeom prst="rect">
            <a:avLst/>
          </a:prstGeom>
          <a:noFill/>
          <a:ln w="12700" algn="ctr">
            <a:noFill/>
            <a:miter lim="800000"/>
            <a:headEnd type="none" w="sm" len="sm"/>
            <a:tailEnd type="none" w="sm" len="sm"/>
          </a:ln>
          <a:effectLst/>
        </p:spPr>
        <p:txBody>
          <a:bodyPr wrap="none">
            <a:spAutoFit/>
            <a:flatTx/>
          </a:bodyPr>
          <a:lstStyle/>
          <a:p>
            <a:pPr eaLnBrk="1" hangingPunct="1">
              <a:spcBef>
                <a:spcPct val="50000"/>
              </a:spcBef>
              <a:defRPr/>
            </a:pPr>
            <a:r>
              <a:rPr lang="en-US" altLang="zh-CN" sz="4400" b="1" dirty="0">
                <a:solidFill>
                  <a:schemeClr val="tx2"/>
                </a:solidFill>
                <a:latin typeface="+mj-lt"/>
                <a:ea typeface="+mj-ea"/>
                <a:cs typeface="+mj-cs"/>
              </a:rPr>
              <a:t>3</a:t>
            </a:r>
            <a:r>
              <a:rPr lang="zh-CN" altLang="en-US" sz="4400" b="1" dirty="0">
                <a:solidFill>
                  <a:schemeClr val="tx2"/>
                </a:solidFill>
                <a:latin typeface="+mj-lt"/>
                <a:ea typeface="+mj-ea"/>
                <a:cs typeface="+mj-cs"/>
              </a:rPr>
              <a:t>．计提存货跌价准备的账务处理</a:t>
            </a:r>
          </a:p>
        </p:txBody>
      </p:sp>
      <p:grpSp>
        <p:nvGrpSpPr>
          <p:cNvPr id="2" name="Group 7"/>
          <p:cNvGrpSpPr>
            <a:grpSpLocks/>
          </p:cNvGrpSpPr>
          <p:nvPr/>
        </p:nvGrpSpPr>
        <p:grpSpPr bwMode="auto">
          <a:xfrm>
            <a:off x="1380067" y="2179638"/>
            <a:ext cx="3086100" cy="658812"/>
            <a:chOff x="225" y="3091"/>
            <a:chExt cx="5310" cy="654"/>
          </a:xfrm>
        </p:grpSpPr>
        <p:pic>
          <p:nvPicPr>
            <p:cNvPr id="45070" name="Picture 8" descr="12-yellow"/>
            <p:cNvPicPr>
              <a:picLocks noChangeAspect="1" noChangeArrowheads="1"/>
            </p:cNvPicPr>
            <p:nvPr/>
          </p:nvPicPr>
          <p:blipFill>
            <a:blip r:embed="rId2" cstate="print"/>
            <a:srcRect/>
            <a:stretch>
              <a:fillRect/>
            </a:stretch>
          </p:blipFill>
          <p:spPr bwMode="auto">
            <a:xfrm>
              <a:off x="225" y="3091"/>
              <a:ext cx="5310" cy="654"/>
            </a:xfrm>
            <a:prstGeom prst="rect">
              <a:avLst/>
            </a:prstGeom>
            <a:solidFill>
              <a:srgbClr val="FF9900"/>
            </a:solidFill>
            <a:ln w="9525">
              <a:noFill/>
              <a:miter lim="800000"/>
              <a:headEnd/>
              <a:tailEnd/>
            </a:ln>
          </p:spPr>
        </p:pic>
        <p:sp>
          <p:nvSpPr>
            <p:cNvPr id="45071" name="AutoShape 9"/>
            <p:cNvSpPr>
              <a:spLocks noChangeArrowheads="1"/>
            </p:cNvSpPr>
            <p:nvPr/>
          </p:nvSpPr>
          <p:spPr bwMode="auto">
            <a:xfrm>
              <a:off x="240" y="3130"/>
              <a:ext cx="5278" cy="576"/>
            </a:xfrm>
            <a:prstGeom prst="bevel">
              <a:avLst>
                <a:gd name="adj" fmla="val 12500"/>
              </a:avLst>
            </a:prstGeom>
            <a:solidFill>
              <a:srgbClr val="FF9900"/>
            </a:solidFill>
            <a:ln w="9525">
              <a:noFill/>
              <a:miter lim="800000"/>
              <a:headEnd/>
              <a:tailEnd/>
            </a:ln>
          </p:spPr>
          <p:txBody>
            <a:bodyPr anchor="ctr"/>
            <a:lstStyle/>
            <a:p>
              <a:pPr>
                <a:lnSpc>
                  <a:spcPct val="85000"/>
                </a:lnSpc>
              </a:pPr>
              <a:r>
                <a:rPr lang="zh-CN" altLang="en-US" b="1">
                  <a:solidFill>
                    <a:schemeClr val="tx2"/>
                  </a:solidFill>
                  <a:effectLst/>
                </a:rPr>
                <a:t>计提：</a:t>
              </a:r>
            </a:p>
          </p:txBody>
        </p:sp>
      </p:grpSp>
      <p:grpSp>
        <p:nvGrpSpPr>
          <p:cNvPr id="3" name="Group 10"/>
          <p:cNvGrpSpPr>
            <a:grpSpLocks/>
          </p:cNvGrpSpPr>
          <p:nvPr/>
        </p:nvGrpSpPr>
        <p:grpSpPr bwMode="auto">
          <a:xfrm>
            <a:off x="1399118" y="3475038"/>
            <a:ext cx="3033183" cy="658812"/>
            <a:chOff x="225" y="3091"/>
            <a:chExt cx="5310" cy="654"/>
          </a:xfrm>
        </p:grpSpPr>
        <p:pic>
          <p:nvPicPr>
            <p:cNvPr id="45068" name="Picture 11" descr="12-yellow"/>
            <p:cNvPicPr>
              <a:picLocks noChangeAspect="1" noChangeArrowheads="1"/>
            </p:cNvPicPr>
            <p:nvPr/>
          </p:nvPicPr>
          <p:blipFill>
            <a:blip r:embed="rId2" cstate="print"/>
            <a:srcRect/>
            <a:stretch>
              <a:fillRect/>
            </a:stretch>
          </p:blipFill>
          <p:spPr bwMode="auto">
            <a:xfrm>
              <a:off x="225" y="3091"/>
              <a:ext cx="5310" cy="654"/>
            </a:xfrm>
            <a:prstGeom prst="rect">
              <a:avLst/>
            </a:prstGeom>
            <a:solidFill>
              <a:srgbClr val="FF9900"/>
            </a:solidFill>
            <a:ln w="9525">
              <a:noFill/>
              <a:miter lim="800000"/>
              <a:headEnd/>
              <a:tailEnd/>
            </a:ln>
          </p:spPr>
        </p:pic>
        <p:sp>
          <p:nvSpPr>
            <p:cNvPr id="45069" name="AutoShape 12"/>
            <p:cNvSpPr>
              <a:spLocks noChangeArrowheads="1"/>
            </p:cNvSpPr>
            <p:nvPr/>
          </p:nvSpPr>
          <p:spPr bwMode="auto">
            <a:xfrm>
              <a:off x="240" y="3130"/>
              <a:ext cx="5278" cy="576"/>
            </a:xfrm>
            <a:prstGeom prst="bevel">
              <a:avLst>
                <a:gd name="adj" fmla="val 12500"/>
              </a:avLst>
            </a:prstGeom>
            <a:solidFill>
              <a:srgbClr val="FF9900"/>
            </a:solidFill>
            <a:ln w="9525">
              <a:noFill/>
              <a:miter lim="800000"/>
              <a:headEnd/>
              <a:tailEnd/>
            </a:ln>
          </p:spPr>
          <p:txBody>
            <a:bodyPr anchor="ctr"/>
            <a:lstStyle/>
            <a:p>
              <a:pPr>
                <a:lnSpc>
                  <a:spcPct val="85000"/>
                </a:lnSpc>
              </a:pPr>
              <a:r>
                <a:rPr lang="zh-CN" altLang="en-US" b="1">
                  <a:solidFill>
                    <a:schemeClr val="tx2"/>
                  </a:solidFill>
                  <a:effectLst/>
                </a:rPr>
                <a:t>冲销</a:t>
              </a:r>
              <a:r>
                <a:rPr lang="en-US" altLang="zh-CN" b="1">
                  <a:solidFill>
                    <a:schemeClr val="tx2"/>
                  </a:solidFill>
                  <a:effectLst/>
                </a:rPr>
                <a:t>/</a:t>
              </a:r>
              <a:r>
                <a:rPr lang="zh-CN" altLang="en-US" b="1">
                  <a:solidFill>
                    <a:schemeClr val="tx2"/>
                  </a:solidFill>
                  <a:effectLst/>
                </a:rPr>
                <a:t>转回：</a:t>
              </a:r>
            </a:p>
          </p:txBody>
        </p:sp>
      </p:grpSp>
      <p:grpSp>
        <p:nvGrpSpPr>
          <p:cNvPr id="4" name="Group 13"/>
          <p:cNvGrpSpPr>
            <a:grpSpLocks/>
          </p:cNvGrpSpPr>
          <p:nvPr/>
        </p:nvGrpSpPr>
        <p:grpSpPr bwMode="auto">
          <a:xfrm>
            <a:off x="1397000" y="4746626"/>
            <a:ext cx="3031067" cy="658813"/>
            <a:chOff x="225" y="3091"/>
            <a:chExt cx="5310" cy="654"/>
          </a:xfrm>
        </p:grpSpPr>
        <p:pic>
          <p:nvPicPr>
            <p:cNvPr id="45066" name="Picture 14" descr="12-yellow"/>
            <p:cNvPicPr>
              <a:picLocks noChangeAspect="1" noChangeArrowheads="1"/>
            </p:cNvPicPr>
            <p:nvPr/>
          </p:nvPicPr>
          <p:blipFill>
            <a:blip r:embed="rId2" cstate="print"/>
            <a:srcRect/>
            <a:stretch>
              <a:fillRect/>
            </a:stretch>
          </p:blipFill>
          <p:spPr bwMode="auto">
            <a:xfrm>
              <a:off x="225" y="3091"/>
              <a:ext cx="5310" cy="654"/>
            </a:xfrm>
            <a:prstGeom prst="rect">
              <a:avLst/>
            </a:prstGeom>
            <a:solidFill>
              <a:srgbClr val="FF9900"/>
            </a:solidFill>
            <a:ln w="9525">
              <a:noFill/>
              <a:miter lim="800000"/>
              <a:headEnd/>
              <a:tailEnd/>
            </a:ln>
          </p:spPr>
        </p:pic>
        <p:sp>
          <p:nvSpPr>
            <p:cNvPr id="45067" name="AutoShape 15"/>
            <p:cNvSpPr>
              <a:spLocks noChangeArrowheads="1"/>
            </p:cNvSpPr>
            <p:nvPr/>
          </p:nvSpPr>
          <p:spPr bwMode="auto">
            <a:xfrm>
              <a:off x="240" y="3130"/>
              <a:ext cx="5278" cy="576"/>
            </a:xfrm>
            <a:prstGeom prst="bevel">
              <a:avLst>
                <a:gd name="adj" fmla="val 12500"/>
              </a:avLst>
            </a:prstGeom>
            <a:solidFill>
              <a:srgbClr val="FF9900"/>
            </a:solidFill>
            <a:ln w="9525">
              <a:noFill/>
              <a:miter lim="800000"/>
              <a:headEnd/>
              <a:tailEnd/>
            </a:ln>
          </p:spPr>
          <p:txBody>
            <a:bodyPr anchor="ctr"/>
            <a:lstStyle/>
            <a:p>
              <a:pPr>
                <a:lnSpc>
                  <a:spcPct val="85000"/>
                </a:lnSpc>
              </a:pPr>
              <a:r>
                <a:rPr lang="zh-CN" altLang="en-US" b="1">
                  <a:solidFill>
                    <a:schemeClr val="tx2"/>
                  </a:solidFill>
                  <a:effectLst/>
                </a:rPr>
                <a:t>出售结转：</a:t>
              </a:r>
            </a:p>
          </p:txBody>
        </p:sp>
      </p:grpSp>
      <p:sp>
        <p:nvSpPr>
          <p:cNvPr id="382992" name="Rectangle 16"/>
          <p:cNvSpPr>
            <a:spLocks noChangeArrowheads="1"/>
          </p:cNvSpPr>
          <p:nvPr/>
        </p:nvSpPr>
        <p:spPr bwMode="auto">
          <a:xfrm>
            <a:off x="4845051" y="2144714"/>
            <a:ext cx="6096000" cy="830997"/>
          </a:xfrm>
          <a:prstGeom prst="rect">
            <a:avLst/>
          </a:prstGeom>
          <a:noFill/>
          <a:ln w="12700" algn="ctr">
            <a:noFill/>
            <a:miter lim="800000"/>
            <a:headEnd type="none" w="sm" len="sm"/>
            <a:tailEnd type="none" w="sm" len="sm"/>
          </a:ln>
        </p:spPr>
        <p:txBody>
          <a:bodyPr>
            <a:spAutoFit/>
          </a:bodyPr>
          <a:lstStyle/>
          <a:p>
            <a:pPr algn="l"/>
            <a:r>
              <a:rPr lang="zh-CN" altLang="en-US" sz="2400" b="1" dirty="0">
                <a:solidFill>
                  <a:schemeClr val="tx2"/>
                </a:solidFill>
                <a:effectLst/>
                <a:latin typeface="华文细黑" pitchFamily="2" charset="-122"/>
                <a:ea typeface="华文细黑" pitchFamily="2" charset="-122"/>
              </a:rPr>
              <a:t>借：资产减值损失</a:t>
            </a:r>
          </a:p>
          <a:p>
            <a:pPr algn="l"/>
            <a:r>
              <a:rPr lang="zh-CN" altLang="en-US" sz="2400" b="1" dirty="0">
                <a:solidFill>
                  <a:schemeClr val="tx2"/>
                </a:solidFill>
                <a:effectLst/>
                <a:latin typeface="华文细黑" pitchFamily="2" charset="-122"/>
                <a:ea typeface="华文细黑" pitchFamily="2" charset="-122"/>
              </a:rPr>
              <a:t>        贷：存货跌价准备</a:t>
            </a:r>
          </a:p>
        </p:txBody>
      </p:sp>
      <p:sp>
        <p:nvSpPr>
          <p:cNvPr id="382993" name="Rectangle 17"/>
          <p:cNvSpPr>
            <a:spLocks noChangeArrowheads="1"/>
          </p:cNvSpPr>
          <p:nvPr/>
        </p:nvSpPr>
        <p:spPr bwMode="auto">
          <a:xfrm>
            <a:off x="4847167" y="3427414"/>
            <a:ext cx="6096000" cy="830997"/>
          </a:xfrm>
          <a:prstGeom prst="rect">
            <a:avLst/>
          </a:prstGeom>
          <a:noFill/>
          <a:ln w="12700" algn="ctr">
            <a:noFill/>
            <a:miter lim="800000"/>
            <a:headEnd type="none" w="sm" len="sm"/>
            <a:tailEnd type="none" w="sm" len="sm"/>
          </a:ln>
        </p:spPr>
        <p:txBody>
          <a:bodyPr>
            <a:spAutoFit/>
          </a:bodyPr>
          <a:lstStyle/>
          <a:p>
            <a:pPr algn="l"/>
            <a:r>
              <a:rPr lang="zh-CN" altLang="en-US" sz="2400" b="1" dirty="0">
                <a:solidFill>
                  <a:schemeClr val="tx2"/>
                </a:solidFill>
                <a:effectLst/>
                <a:latin typeface="华文细黑" pitchFamily="2" charset="-122"/>
                <a:ea typeface="华文细黑" pitchFamily="2" charset="-122"/>
              </a:rPr>
              <a:t>借：存货跌价准备</a:t>
            </a:r>
          </a:p>
          <a:p>
            <a:pPr algn="l"/>
            <a:r>
              <a:rPr lang="zh-CN" altLang="en-US" sz="2400" b="1" dirty="0">
                <a:solidFill>
                  <a:schemeClr val="tx2"/>
                </a:solidFill>
                <a:effectLst/>
                <a:latin typeface="华文细黑" pitchFamily="2" charset="-122"/>
                <a:ea typeface="华文细黑" pitchFamily="2" charset="-122"/>
              </a:rPr>
              <a:t>        贷：资产减值损失</a:t>
            </a:r>
          </a:p>
        </p:txBody>
      </p:sp>
    </p:spTree>
    <p:extLst>
      <p:ext uri="{BB962C8B-B14F-4D97-AF65-F5344CB8AC3E}">
        <p14:creationId xmlns:p14="http://schemas.microsoft.com/office/powerpoint/2010/main" val="415569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29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299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299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382978">
                                            <p:txEl>
                                              <p:pRg st="0" end="0"/>
                                            </p:txEl>
                                          </p:spTgt>
                                        </p:tgtEl>
                                        <p:attrNameLst>
                                          <p:attrName>style.visibility</p:attrName>
                                        </p:attrNameLst>
                                      </p:cBhvr>
                                      <p:to>
                                        <p:strVal val="visible"/>
                                      </p:to>
                                    </p:set>
                                    <p:animEffect transition="in" filter="barn(outVertical)">
                                      <p:cBhvr>
                                        <p:cTn id="37" dur="500"/>
                                        <p:tgtEl>
                                          <p:spTgt spid="38297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grpId="0" nodeType="clickEffect">
                                  <p:stCondLst>
                                    <p:cond delay="0"/>
                                  </p:stCondLst>
                                  <p:childTnLst>
                                    <p:set>
                                      <p:cBhvr>
                                        <p:cTn id="41" dur="1" fill="hold">
                                          <p:stCondLst>
                                            <p:cond delay="0"/>
                                          </p:stCondLst>
                                        </p:cTn>
                                        <p:tgtEl>
                                          <p:spTgt spid="382978">
                                            <p:txEl>
                                              <p:pRg st="1" end="1"/>
                                            </p:txEl>
                                          </p:spTgt>
                                        </p:tgtEl>
                                        <p:attrNameLst>
                                          <p:attrName>style.visibility</p:attrName>
                                        </p:attrNameLst>
                                      </p:cBhvr>
                                      <p:to>
                                        <p:strVal val="visible"/>
                                      </p:to>
                                    </p:set>
                                    <p:animEffect transition="in" filter="barn(outVertical)">
                                      <p:cBhvr>
                                        <p:cTn id="42" dur="500"/>
                                        <p:tgtEl>
                                          <p:spTgt spid="382978">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37" fill="hold" grpId="0" nodeType="clickEffect">
                                  <p:stCondLst>
                                    <p:cond delay="0"/>
                                  </p:stCondLst>
                                  <p:childTnLst>
                                    <p:set>
                                      <p:cBhvr>
                                        <p:cTn id="46" dur="1" fill="hold">
                                          <p:stCondLst>
                                            <p:cond delay="0"/>
                                          </p:stCondLst>
                                        </p:cTn>
                                        <p:tgtEl>
                                          <p:spTgt spid="382978">
                                            <p:txEl>
                                              <p:pRg st="2" end="2"/>
                                            </p:txEl>
                                          </p:spTgt>
                                        </p:tgtEl>
                                        <p:attrNameLst>
                                          <p:attrName>style.visibility</p:attrName>
                                        </p:attrNameLst>
                                      </p:cBhvr>
                                      <p:to>
                                        <p:strVal val="visible"/>
                                      </p:to>
                                    </p:set>
                                    <p:animEffect transition="in" filter="barn(outVertical)">
                                      <p:cBhvr>
                                        <p:cTn id="47" dur="500"/>
                                        <p:tgtEl>
                                          <p:spTgt spid="38297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78" grpId="0" build="p" autoUpdateAnimBg="0"/>
      <p:bldP spid="382982" grpId="0"/>
      <p:bldP spid="382992" grpId="0"/>
      <p:bldP spid="38299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zh-CN" altLang="en-US" dirty="0"/>
              <a:t>存货跌价准备计提举例</a:t>
            </a:r>
          </a:p>
        </p:txBody>
      </p:sp>
      <p:sp>
        <p:nvSpPr>
          <p:cNvPr id="46083" name="Rectangle 3"/>
          <p:cNvSpPr>
            <a:spLocks noGrp="1" noChangeArrowheads="1"/>
          </p:cNvSpPr>
          <p:nvPr>
            <p:ph type="body" idx="1"/>
          </p:nvPr>
        </p:nvSpPr>
        <p:spPr>
          <a:xfrm>
            <a:off x="1214309" y="2033478"/>
            <a:ext cx="10830546" cy="4114800"/>
          </a:xfrm>
        </p:spPr>
        <p:txBody>
          <a:bodyPr/>
          <a:lstStyle/>
          <a:p>
            <a:pPr eaLnBrk="1" hangingPunct="1">
              <a:lnSpc>
                <a:spcPct val="90000"/>
              </a:lnSpc>
              <a:buFont typeface="Arial" charset="0"/>
              <a:buChar char="•"/>
            </a:pPr>
            <a:endParaRPr lang="en-US" altLang="zh-CN" dirty="0"/>
          </a:p>
          <a:p>
            <a:pPr>
              <a:lnSpc>
                <a:spcPct val="90000"/>
              </a:lnSpc>
            </a:pPr>
            <a:r>
              <a:rPr lang="en-US" altLang="zh-CN" sz="2400" b="0" dirty="0"/>
              <a:t>【</a:t>
            </a:r>
            <a:r>
              <a:rPr lang="zh-CN" altLang="en-US" sz="2400" b="0" dirty="0"/>
              <a:t>示例</a:t>
            </a:r>
            <a:r>
              <a:rPr lang="en-US" altLang="zh-CN" sz="2400" b="0" dirty="0"/>
              <a:t>】</a:t>
            </a:r>
            <a:r>
              <a:rPr lang="zh-CN" altLang="en-US" sz="2400" b="0" dirty="0"/>
              <a:t>某股份有限公司对存货的期末计价采用成本与可变现净值孰低法。该公司存货有关资料如下：</a:t>
            </a:r>
          </a:p>
          <a:p>
            <a:pPr>
              <a:lnSpc>
                <a:spcPct val="90000"/>
              </a:lnSpc>
            </a:pPr>
            <a:r>
              <a:rPr lang="zh-CN" altLang="en-US" sz="2400" b="0" dirty="0"/>
              <a:t>（</a:t>
            </a:r>
            <a:r>
              <a:rPr lang="en-US" altLang="zh-CN" sz="2400" b="0" dirty="0"/>
              <a:t>1</a:t>
            </a:r>
            <a:r>
              <a:rPr lang="zh-CN" altLang="en-US" sz="2400" b="0" dirty="0"/>
              <a:t>）</a:t>
            </a:r>
            <a:r>
              <a:rPr lang="en-US" altLang="zh-CN" sz="2400" b="0" dirty="0"/>
              <a:t>2×19</a:t>
            </a:r>
            <a:r>
              <a:rPr lang="zh-CN" altLang="en-US" sz="2400" b="0" dirty="0"/>
              <a:t>年末，库存商品甲的账面成本为</a:t>
            </a:r>
            <a:r>
              <a:rPr lang="en-US" altLang="zh-CN" sz="2400" b="0" dirty="0"/>
              <a:t>50 000</a:t>
            </a:r>
            <a:r>
              <a:rPr lang="zh-CN" altLang="en-US" sz="2400" b="0" dirty="0"/>
              <a:t>元，可变现净值为</a:t>
            </a:r>
            <a:r>
              <a:rPr lang="en-US" altLang="zh-CN" sz="2400" b="0" dirty="0"/>
              <a:t>45 000</a:t>
            </a:r>
            <a:r>
              <a:rPr lang="zh-CN" altLang="en-US" sz="2400" b="0" dirty="0"/>
              <a:t>元。</a:t>
            </a:r>
          </a:p>
          <a:p>
            <a:pPr>
              <a:lnSpc>
                <a:spcPct val="90000"/>
              </a:lnSpc>
            </a:pPr>
            <a:r>
              <a:rPr lang="zh-CN" altLang="en-US" sz="2400" b="0" dirty="0"/>
              <a:t>（</a:t>
            </a:r>
            <a:r>
              <a:rPr lang="en-US" altLang="zh-CN" sz="2400" b="0" dirty="0"/>
              <a:t>2</a:t>
            </a:r>
            <a:r>
              <a:rPr lang="zh-CN" altLang="en-US" sz="2400" b="0" dirty="0"/>
              <a:t>）</a:t>
            </a:r>
            <a:r>
              <a:rPr lang="en-US" altLang="zh-CN" sz="2400" b="0" dirty="0"/>
              <a:t>2×19</a:t>
            </a:r>
            <a:r>
              <a:rPr lang="zh-CN" altLang="en-US" sz="2400" b="0" dirty="0"/>
              <a:t>年末的库存商品甲在</a:t>
            </a:r>
            <a:r>
              <a:rPr lang="en-US" altLang="zh-CN" sz="2400" b="0" dirty="0"/>
              <a:t>2×20</a:t>
            </a:r>
            <a:r>
              <a:rPr lang="zh-CN" altLang="en-US" sz="2400" b="0" dirty="0"/>
              <a:t>年销售了</a:t>
            </a:r>
            <a:r>
              <a:rPr lang="en-US" altLang="zh-CN" sz="2400" b="0" dirty="0"/>
              <a:t>50%</a:t>
            </a:r>
            <a:r>
              <a:rPr lang="zh-CN" altLang="en-US" sz="2400" b="0" dirty="0"/>
              <a:t>，取得收入</a:t>
            </a:r>
            <a:r>
              <a:rPr lang="en-US" altLang="zh-CN" sz="2400" b="0" dirty="0"/>
              <a:t>26 000</a:t>
            </a:r>
            <a:r>
              <a:rPr lang="zh-CN" altLang="en-US" sz="2400" b="0" dirty="0"/>
              <a:t>元，销项税额</a:t>
            </a:r>
            <a:r>
              <a:rPr lang="en-US" altLang="zh-CN" sz="2400" b="0" dirty="0"/>
              <a:t>3 380</a:t>
            </a:r>
            <a:r>
              <a:rPr lang="zh-CN" altLang="en-US" sz="2400" b="0" dirty="0"/>
              <a:t>元，款项已收到。</a:t>
            </a:r>
            <a:r>
              <a:rPr lang="en-US" altLang="zh-CN" sz="2400" b="0" dirty="0"/>
              <a:t> 2×20</a:t>
            </a:r>
            <a:r>
              <a:rPr lang="zh-CN" altLang="en-US" sz="2400" b="0" dirty="0"/>
              <a:t>年末，库存商品的账面成本为</a:t>
            </a:r>
            <a:r>
              <a:rPr lang="en-US" altLang="zh-CN" sz="2400" b="0" dirty="0"/>
              <a:t>75 000</a:t>
            </a:r>
            <a:r>
              <a:rPr lang="zh-CN" altLang="en-US" sz="2400" b="0" dirty="0"/>
              <a:t>元，可变现净值为</a:t>
            </a:r>
            <a:r>
              <a:rPr lang="en-US" altLang="zh-CN" sz="2400" b="0" dirty="0"/>
              <a:t>67 000</a:t>
            </a:r>
            <a:r>
              <a:rPr lang="zh-CN" altLang="en-US" sz="2400" b="0" dirty="0"/>
              <a:t>元。</a:t>
            </a:r>
          </a:p>
          <a:p>
            <a:pPr>
              <a:lnSpc>
                <a:spcPct val="90000"/>
              </a:lnSpc>
            </a:pPr>
            <a:r>
              <a:rPr lang="zh-CN" altLang="en-US" sz="2400" b="0" dirty="0"/>
              <a:t>要求：根据上述资料编制存货期末计提跌价准备业务的会计分录。</a:t>
            </a:r>
          </a:p>
        </p:txBody>
      </p:sp>
    </p:spTree>
    <p:extLst>
      <p:ext uri="{BB962C8B-B14F-4D97-AF65-F5344CB8AC3E}">
        <p14:creationId xmlns:p14="http://schemas.microsoft.com/office/powerpoint/2010/main" val="52555888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endParaRPr lang="zh-CN" altLang="zh-CN"/>
          </a:p>
        </p:txBody>
      </p:sp>
      <p:sp>
        <p:nvSpPr>
          <p:cNvPr id="47107" name="Rectangle 3"/>
          <p:cNvSpPr>
            <a:spLocks noGrp="1" noChangeArrowheads="1"/>
          </p:cNvSpPr>
          <p:nvPr>
            <p:ph type="body" idx="1"/>
          </p:nvPr>
        </p:nvSpPr>
        <p:spPr>
          <a:xfrm>
            <a:off x="987313" y="1954104"/>
            <a:ext cx="11204687" cy="4541290"/>
          </a:xfrm>
        </p:spPr>
        <p:txBody>
          <a:bodyPr/>
          <a:lstStyle/>
          <a:p>
            <a:r>
              <a:rPr lang="zh-CN" altLang="en-US" sz="1800" b="0" dirty="0"/>
              <a:t>会计分录</a:t>
            </a:r>
          </a:p>
          <a:p>
            <a:r>
              <a:rPr lang="en-US" altLang="zh-CN" sz="1800" b="0" dirty="0"/>
              <a:t>2×19</a:t>
            </a:r>
            <a:r>
              <a:rPr lang="zh-CN" altLang="en-US" sz="1800" b="0" dirty="0"/>
              <a:t>年末：</a:t>
            </a:r>
          </a:p>
          <a:p>
            <a:pPr marL="400050" lvl="1" indent="0">
              <a:buNone/>
            </a:pPr>
            <a:r>
              <a:rPr lang="zh-CN" altLang="en-US" sz="1800" b="0" dirty="0">
                <a:latin typeface="黑体" panose="02010609060101010101" pitchFamily="49" charset="-122"/>
                <a:ea typeface="黑体" panose="02010609060101010101" pitchFamily="49" charset="-122"/>
                <a:cs typeface="+mn-cs"/>
              </a:rPr>
              <a:t>借：资产减值损失</a:t>
            </a:r>
            <a:r>
              <a:rPr lang="en-US" altLang="zh-CN" sz="1800" b="0" dirty="0">
                <a:latin typeface="黑体" panose="02010609060101010101" pitchFamily="49" charset="-122"/>
                <a:ea typeface="黑体" panose="02010609060101010101" pitchFamily="49" charset="-122"/>
                <a:cs typeface="+mn-cs"/>
              </a:rPr>
              <a:t>——</a:t>
            </a:r>
            <a:r>
              <a:rPr lang="zh-CN" altLang="en-US" sz="1800" b="0" dirty="0">
                <a:latin typeface="黑体" panose="02010609060101010101" pitchFamily="49" charset="-122"/>
                <a:ea typeface="黑体" panose="02010609060101010101" pitchFamily="49" charset="-122"/>
                <a:cs typeface="+mn-cs"/>
              </a:rPr>
              <a:t>存货跌价损失           </a:t>
            </a:r>
            <a:r>
              <a:rPr lang="en-US" altLang="zh-CN" sz="1800" b="0" dirty="0">
                <a:latin typeface="黑体" panose="02010609060101010101" pitchFamily="49" charset="-122"/>
                <a:ea typeface="黑体" panose="02010609060101010101" pitchFamily="49" charset="-122"/>
                <a:cs typeface="+mn-cs"/>
              </a:rPr>
              <a:t>5000</a:t>
            </a:r>
          </a:p>
          <a:p>
            <a:pPr marL="400050" lvl="1" indent="0">
              <a:buNone/>
            </a:pPr>
            <a:r>
              <a:rPr lang="en-US" altLang="zh-CN" sz="1800" b="0" dirty="0">
                <a:latin typeface="黑体" panose="02010609060101010101" pitchFamily="49" charset="-122"/>
                <a:ea typeface="黑体" panose="02010609060101010101" pitchFamily="49" charset="-122"/>
                <a:cs typeface="+mn-cs"/>
              </a:rPr>
              <a:t>    </a:t>
            </a:r>
            <a:r>
              <a:rPr lang="zh-CN" altLang="en-US" sz="1800" b="0" dirty="0">
                <a:latin typeface="黑体" panose="02010609060101010101" pitchFamily="49" charset="-122"/>
                <a:ea typeface="黑体" panose="02010609060101010101" pitchFamily="49" charset="-122"/>
                <a:cs typeface="+mn-cs"/>
              </a:rPr>
              <a:t>贷：存货跌价准备                              </a:t>
            </a:r>
            <a:r>
              <a:rPr lang="en-US" altLang="zh-CN" sz="1800" b="0" dirty="0">
                <a:latin typeface="黑体" panose="02010609060101010101" pitchFamily="49" charset="-122"/>
                <a:ea typeface="黑体" panose="02010609060101010101" pitchFamily="49" charset="-122"/>
                <a:cs typeface="+mn-cs"/>
              </a:rPr>
              <a:t>5000</a:t>
            </a:r>
          </a:p>
          <a:p>
            <a:r>
              <a:rPr lang="en-US" altLang="zh-CN" sz="1800" b="0" dirty="0"/>
              <a:t>2×20</a:t>
            </a:r>
            <a:r>
              <a:rPr lang="zh-CN" altLang="en-US" sz="1800" b="0" dirty="0"/>
              <a:t>年：</a:t>
            </a:r>
            <a:endParaRPr lang="en-US" altLang="zh-CN" sz="1800" b="0" dirty="0"/>
          </a:p>
          <a:p>
            <a:pPr marL="400050" lvl="1" indent="0">
              <a:buNone/>
            </a:pPr>
            <a:r>
              <a:rPr lang="zh-CN" altLang="en-US" sz="1800" b="0" dirty="0">
                <a:latin typeface="黑体" panose="02010609060101010101" pitchFamily="49" charset="-122"/>
                <a:ea typeface="黑体" panose="02010609060101010101" pitchFamily="49" charset="-122"/>
                <a:cs typeface="+mn-cs"/>
              </a:rPr>
              <a:t>借：银行存款      </a:t>
            </a:r>
            <a:r>
              <a:rPr lang="en-US" altLang="zh-CN" sz="1800" b="0" dirty="0">
                <a:latin typeface="黑体" panose="02010609060101010101" pitchFamily="49" charset="-122"/>
                <a:ea typeface="黑体" panose="02010609060101010101" pitchFamily="49" charset="-122"/>
                <a:cs typeface="+mn-cs"/>
              </a:rPr>
              <a:t>29 380</a:t>
            </a:r>
          </a:p>
          <a:p>
            <a:pPr marL="400050" lvl="1" indent="0">
              <a:buNone/>
            </a:pPr>
            <a:r>
              <a:rPr lang="en-US" altLang="zh-CN" sz="1800" b="0" dirty="0">
                <a:latin typeface="黑体" panose="02010609060101010101" pitchFamily="49" charset="-122"/>
                <a:ea typeface="黑体" panose="02010609060101010101" pitchFamily="49" charset="-122"/>
                <a:cs typeface="+mn-cs"/>
              </a:rPr>
              <a:t>    </a:t>
            </a:r>
            <a:r>
              <a:rPr lang="zh-CN" altLang="en-US" sz="1800" b="0" dirty="0">
                <a:latin typeface="黑体" panose="02010609060101010101" pitchFamily="49" charset="-122"/>
                <a:ea typeface="黑体" panose="02010609060101010101" pitchFamily="49" charset="-122"/>
                <a:cs typeface="+mn-cs"/>
              </a:rPr>
              <a:t>贷：主营业务收入                     </a:t>
            </a:r>
            <a:r>
              <a:rPr lang="en-US" altLang="zh-CN" sz="1800" b="0" dirty="0">
                <a:latin typeface="黑体" panose="02010609060101010101" pitchFamily="49" charset="-122"/>
                <a:ea typeface="黑体" panose="02010609060101010101" pitchFamily="49" charset="-122"/>
                <a:cs typeface="+mn-cs"/>
              </a:rPr>
              <a:t>26 000</a:t>
            </a:r>
          </a:p>
          <a:p>
            <a:pPr marL="400050" lvl="1" indent="0">
              <a:buNone/>
            </a:pPr>
            <a:r>
              <a:rPr lang="en-US" altLang="zh-CN" sz="1800" b="0" dirty="0">
                <a:latin typeface="黑体" panose="02010609060101010101" pitchFamily="49" charset="-122"/>
                <a:ea typeface="黑体" panose="02010609060101010101" pitchFamily="49" charset="-122"/>
                <a:cs typeface="+mn-cs"/>
              </a:rPr>
              <a:t>        </a:t>
            </a:r>
            <a:r>
              <a:rPr lang="zh-CN" altLang="en-US" sz="1800" b="0" dirty="0">
                <a:latin typeface="黑体" panose="02010609060101010101" pitchFamily="49" charset="-122"/>
                <a:ea typeface="黑体" panose="02010609060101010101" pitchFamily="49" charset="-122"/>
                <a:cs typeface="+mn-cs"/>
              </a:rPr>
              <a:t>应交税费</a:t>
            </a:r>
            <a:r>
              <a:rPr lang="en-US" altLang="zh-CN" sz="1800" b="0" dirty="0">
                <a:latin typeface="黑体" panose="02010609060101010101" pitchFamily="49" charset="-122"/>
                <a:ea typeface="黑体" panose="02010609060101010101" pitchFamily="49" charset="-122"/>
                <a:cs typeface="+mn-cs"/>
              </a:rPr>
              <a:t>——</a:t>
            </a:r>
            <a:r>
              <a:rPr lang="zh-CN" altLang="en-US" sz="1800" b="0" dirty="0">
                <a:latin typeface="黑体" panose="02010609060101010101" pitchFamily="49" charset="-122"/>
                <a:ea typeface="黑体" panose="02010609060101010101" pitchFamily="49" charset="-122"/>
                <a:cs typeface="+mn-cs"/>
              </a:rPr>
              <a:t>应交增值税（销项税额）</a:t>
            </a:r>
            <a:r>
              <a:rPr lang="en-US" altLang="zh-CN" sz="1800" b="0" dirty="0">
                <a:latin typeface="黑体" panose="02010609060101010101" pitchFamily="49" charset="-122"/>
                <a:ea typeface="黑体" panose="02010609060101010101" pitchFamily="49" charset="-122"/>
                <a:cs typeface="+mn-cs"/>
              </a:rPr>
              <a:t>3 380</a:t>
            </a:r>
          </a:p>
          <a:p>
            <a:pPr marL="400050" lvl="1" indent="0">
              <a:buNone/>
            </a:pPr>
            <a:r>
              <a:rPr lang="zh-CN" altLang="en-US" sz="1800" b="0" dirty="0">
                <a:latin typeface="黑体" panose="02010609060101010101" pitchFamily="49" charset="-122"/>
                <a:ea typeface="黑体" panose="02010609060101010101" pitchFamily="49" charset="-122"/>
                <a:cs typeface="+mn-cs"/>
              </a:rPr>
              <a:t>借：主营业务成本  </a:t>
            </a:r>
            <a:r>
              <a:rPr lang="en-US" altLang="zh-CN" sz="1800" b="0" dirty="0">
                <a:latin typeface="黑体" panose="02010609060101010101" pitchFamily="49" charset="-122"/>
                <a:ea typeface="黑体" panose="02010609060101010101" pitchFamily="49" charset="-122"/>
                <a:cs typeface="+mn-cs"/>
              </a:rPr>
              <a:t>22 500</a:t>
            </a:r>
          </a:p>
          <a:p>
            <a:pPr marL="400050" lvl="1" indent="0">
              <a:buNone/>
            </a:pPr>
            <a:r>
              <a:rPr lang="en-US" altLang="zh-CN" sz="1800" b="0" dirty="0">
                <a:latin typeface="黑体" panose="02010609060101010101" pitchFamily="49" charset="-122"/>
                <a:ea typeface="黑体" panose="02010609060101010101" pitchFamily="49" charset="-122"/>
                <a:cs typeface="+mn-cs"/>
              </a:rPr>
              <a:t>    </a:t>
            </a:r>
            <a:r>
              <a:rPr lang="zh-CN" altLang="en-US" sz="1800" b="0" dirty="0">
                <a:latin typeface="黑体" panose="02010609060101010101" pitchFamily="49" charset="-122"/>
                <a:ea typeface="黑体" panose="02010609060101010101" pitchFamily="49" charset="-122"/>
                <a:cs typeface="+mn-cs"/>
              </a:rPr>
              <a:t>存货跌价准备   </a:t>
            </a:r>
            <a:r>
              <a:rPr lang="en-US" altLang="zh-CN" sz="1800" b="0" dirty="0">
                <a:latin typeface="黑体" panose="02010609060101010101" pitchFamily="49" charset="-122"/>
                <a:ea typeface="黑体" panose="02010609060101010101" pitchFamily="49" charset="-122"/>
                <a:cs typeface="+mn-cs"/>
              </a:rPr>
              <a:t>2 500</a:t>
            </a:r>
          </a:p>
          <a:p>
            <a:pPr marL="400050" lvl="1" indent="0">
              <a:buNone/>
            </a:pPr>
            <a:r>
              <a:rPr lang="en-US" altLang="zh-CN" sz="1800" b="0" dirty="0">
                <a:latin typeface="黑体" panose="02010609060101010101" pitchFamily="49" charset="-122"/>
                <a:ea typeface="黑体" panose="02010609060101010101" pitchFamily="49" charset="-122"/>
                <a:cs typeface="+mn-cs"/>
              </a:rPr>
              <a:t>    </a:t>
            </a:r>
            <a:r>
              <a:rPr lang="zh-CN" altLang="en-US" sz="1800" b="0" dirty="0">
                <a:latin typeface="黑体" panose="02010609060101010101" pitchFamily="49" charset="-122"/>
                <a:ea typeface="黑体" panose="02010609060101010101" pitchFamily="49" charset="-122"/>
                <a:cs typeface="+mn-cs"/>
              </a:rPr>
              <a:t>贷：库存商品    </a:t>
            </a:r>
            <a:r>
              <a:rPr lang="en-US" altLang="zh-CN" sz="1800" b="0" dirty="0">
                <a:latin typeface="黑体" panose="02010609060101010101" pitchFamily="49" charset="-122"/>
                <a:ea typeface="黑体" panose="02010609060101010101" pitchFamily="49" charset="-122"/>
                <a:cs typeface="+mn-cs"/>
              </a:rPr>
              <a:t>25 000</a:t>
            </a:r>
          </a:p>
          <a:p>
            <a:r>
              <a:rPr lang="en-US" altLang="zh-CN" sz="1800" b="0" dirty="0"/>
              <a:t>2×20</a:t>
            </a:r>
            <a:r>
              <a:rPr lang="zh-CN" altLang="en-US" sz="1800" b="0" dirty="0"/>
              <a:t>年末存货跌价准备的应有余额为</a:t>
            </a:r>
            <a:r>
              <a:rPr lang="en-US" altLang="zh-CN" sz="1800" b="0" dirty="0"/>
              <a:t>8 000</a:t>
            </a:r>
            <a:r>
              <a:rPr lang="zh-CN" altLang="en-US" sz="1800" b="0" dirty="0"/>
              <a:t>元，存货跌价准备账户的实际余额为</a:t>
            </a:r>
            <a:r>
              <a:rPr lang="en-US" altLang="zh-CN" sz="1800" b="0" dirty="0"/>
              <a:t>2 500</a:t>
            </a:r>
            <a:r>
              <a:rPr lang="zh-CN" altLang="en-US" sz="1800" b="0" dirty="0"/>
              <a:t>元，应计提</a:t>
            </a:r>
            <a:r>
              <a:rPr lang="en-US" altLang="zh-CN" sz="1800" b="0" dirty="0"/>
              <a:t>5 500</a:t>
            </a:r>
            <a:r>
              <a:rPr lang="zh-CN" altLang="en-US" sz="1800" b="0" dirty="0"/>
              <a:t>元</a:t>
            </a:r>
          </a:p>
          <a:p>
            <a:pPr marL="400050" lvl="1" indent="0">
              <a:buNone/>
            </a:pPr>
            <a:r>
              <a:rPr lang="zh-CN" altLang="en-US" sz="1800" b="0" dirty="0">
                <a:latin typeface="黑体" panose="02010609060101010101" pitchFamily="49" charset="-122"/>
                <a:ea typeface="黑体" panose="02010609060101010101" pitchFamily="49" charset="-122"/>
                <a:cs typeface="+mn-cs"/>
              </a:rPr>
              <a:t>借：资产减值损失</a:t>
            </a:r>
            <a:r>
              <a:rPr lang="en-US" altLang="zh-CN" sz="1800" b="0" dirty="0">
                <a:latin typeface="黑体" panose="02010609060101010101" pitchFamily="49" charset="-122"/>
                <a:ea typeface="黑体" panose="02010609060101010101" pitchFamily="49" charset="-122"/>
                <a:cs typeface="+mn-cs"/>
              </a:rPr>
              <a:t>——</a:t>
            </a:r>
            <a:r>
              <a:rPr lang="zh-CN" altLang="en-US" sz="1800" b="0" dirty="0">
                <a:latin typeface="黑体" panose="02010609060101010101" pitchFamily="49" charset="-122"/>
                <a:ea typeface="黑体" panose="02010609060101010101" pitchFamily="49" charset="-122"/>
                <a:cs typeface="+mn-cs"/>
              </a:rPr>
              <a:t>存货跌价损失          </a:t>
            </a:r>
            <a:r>
              <a:rPr lang="en-US" altLang="zh-CN" sz="1800" b="0" dirty="0">
                <a:latin typeface="黑体" panose="02010609060101010101" pitchFamily="49" charset="-122"/>
                <a:ea typeface="黑体" panose="02010609060101010101" pitchFamily="49" charset="-122"/>
                <a:cs typeface="+mn-cs"/>
              </a:rPr>
              <a:t>5 500</a:t>
            </a:r>
          </a:p>
          <a:p>
            <a:pPr marL="400050" lvl="1" indent="0">
              <a:buNone/>
            </a:pPr>
            <a:r>
              <a:rPr lang="en-US" altLang="zh-CN" sz="1800" b="0" dirty="0">
                <a:latin typeface="黑体" panose="02010609060101010101" pitchFamily="49" charset="-122"/>
                <a:ea typeface="黑体" panose="02010609060101010101" pitchFamily="49" charset="-122"/>
                <a:cs typeface="+mn-cs"/>
              </a:rPr>
              <a:t>    </a:t>
            </a:r>
            <a:r>
              <a:rPr lang="zh-CN" altLang="en-US" sz="1800" b="0" dirty="0">
                <a:latin typeface="黑体" panose="02010609060101010101" pitchFamily="49" charset="-122"/>
                <a:ea typeface="黑体" panose="02010609060101010101" pitchFamily="49" charset="-122"/>
                <a:cs typeface="+mn-cs"/>
              </a:rPr>
              <a:t>贷：存货跌价准备                            </a:t>
            </a:r>
            <a:r>
              <a:rPr lang="en-US" altLang="zh-CN" sz="1800" b="0" dirty="0">
                <a:latin typeface="黑体" panose="02010609060101010101" pitchFamily="49" charset="-122"/>
                <a:ea typeface="黑体" panose="02010609060101010101" pitchFamily="49" charset="-122"/>
                <a:cs typeface="+mn-cs"/>
              </a:rPr>
              <a:t>5 500</a:t>
            </a:r>
          </a:p>
        </p:txBody>
      </p:sp>
    </p:spTree>
    <p:extLst>
      <p:ext uri="{BB962C8B-B14F-4D97-AF65-F5344CB8AC3E}">
        <p14:creationId xmlns:p14="http://schemas.microsoft.com/office/powerpoint/2010/main" val="3537502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存货清查</a:t>
            </a:r>
            <a:endParaRPr lang="en-US" altLang="zh-CN" dirty="0"/>
          </a:p>
          <a:p>
            <a:endParaRPr lang="en-US" altLang="zh-CN" dirty="0"/>
          </a:p>
          <a:p>
            <a:r>
              <a:rPr lang="zh-CN" altLang="en-US" dirty="0"/>
              <a:t>存货的列报和披露</a:t>
            </a:r>
          </a:p>
        </p:txBody>
      </p:sp>
    </p:spTree>
    <p:extLst>
      <p:ext uri="{BB962C8B-B14F-4D97-AF65-F5344CB8AC3E}">
        <p14:creationId xmlns:p14="http://schemas.microsoft.com/office/powerpoint/2010/main" val="227846067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354B1-6824-4315-A9A7-29109DC3BA2C}"/>
              </a:ext>
            </a:extLst>
          </p:cNvPr>
          <p:cNvSpPr>
            <a:spLocks noGrp="1"/>
          </p:cNvSpPr>
          <p:nvPr>
            <p:ph type="title"/>
          </p:nvPr>
        </p:nvSpPr>
        <p:spPr/>
        <p:txBody>
          <a:bodyPr/>
          <a:lstStyle/>
          <a:p>
            <a:endParaRPr lang="zh-CN" altLang="en-US"/>
          </a:p>
        </p:txBody>
      </p:sp>
      <p:sp>
        <p:nvSpPr>
          <p:cNvPr id="4" name="WordArt 5">
            <a:extLst>
              <a:ext uri="{FF2B5EF4-FFF2-40B4-BE49-F238E27FC236}">
                <a16:creationId xmlns:a16="http://schemas.microsoft.com/office/drawing/2014/main" id="{9551CCB5-FD62-4020-BEAB-1EAC01525DFC}"/>
              </a:ext>
            </a:extLst>
          </p:cNvPr>
          <p:cNvSpPr>
            <a:spLocks noChangeArrowheads="1" noChangeShapeType="1" noTextEdit="1"/>
          </p:cNvSpPr>
          <p:nvPr/>
        </p:nvSpPr>
        <p:spPr bwMode="auto">
          <a:xfrm>
            <a:off x="3889375" y="2896235"/>
            <a:ext cx="4613275" cy="2183765"/>
          </a:xfrm>
          <a:prstGeom prst="rect">
            <a:avLst/>
          </a:prstGeom>
        </p:spPr>
        <p:txBody>
          <a:bodyPr wrap="none" fromWordArt="1">
            <a:scene3d>
              <a:camera prst="orthographicFront"/>
              <a:lightRig rig="threePt" dir="t"/>
            </a:scene3d>
          </a:bodyPr>
          <a:lstStyle/>
          <a:p>
            <a:pPr algn="ctr"/>
            <a:r>
              <a:rPr lang="zh-CN" altLang="en-US" sz="5400" kern="10" dirty="0">
                <a:ln w="25400">
                  <a:gradFill>
                    <a:gsLst>
                      <a:gs pos="31000">
                        <a:srgbClr val="6D6E85"/>
                      </a:gs>
                      <a:gs pos="66000">
                        <a:srgbClr val="A2C6FF"/>
                      </a:gs>
                      <a:gs pos="45000">
                        <a:srgbClr val="97B8F2"/>
                      </a:gs>
                      <a:gs pos="11000">
                        <a:srgbClr val="ED7D31">
                          <a:lumMod val="20000"/>
                          <a:lumOff val="80000"/>
                        </a:srgbClr>
                      </a:gs>
                      <a:gs pos="100000">
                        <a:srgbClr val="7E6760"/>
                      </a:gs>
                      <a:gs pos="91000">
                        <a:schemeClr val="bg1">
                          <a:lumMod val="50000"/>
                        </a:schemeClr>
                      </a:gs>
                      <a:gs pos="56000">
                        <a:srgbClr val="455C85"/>
                      </a:gs>
                      <a:gs pos="81000">
                        <a:srgbClr val="F8D8CF"/>
                      </a:gs>
                    </a:gsLst>
                  </a:gradFill>
                </a:ln>
                <a:solidFill>
                  <a:schemeClr val="tx2"/>
                </a:solidFill>
                <a:effectLst>
                  <a:outerShdw blurRad="38100" dist="25400" dir="5400000" algn="ctr" rotWithShape="0">
                    <a:srgbClr val="6E747A">
                      <a:alpha val="43000"/>
                    </a:srgbClr>
                  </a:outerShdw>
                </a:effectLst>
                <a:latin typeface="黑体" panose="02010609060101010101" pitchFamily="2" charset="-122"/>
                <a:ea typeface="黑体" panose="02010609060101010101" pitchFamily="2" charset="-122"/>
              </a:rPr>
              <a:t>谢谢大家！</a:t>
            </a:r>
          </a:p>
        </p:txBody>
      </p:sp>
    </p:spTree>
    <p:extLst>
      <p:ext uri="{BB962C8B-B14F-4D97-AF65-F5344CB8AC3E}">
        <p14:creationId xmlns:p14="http://schemas.microsoft.com/office/powerpoint/2010/main" val="3669170656"/>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华文中宋"/>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656</TotalTime>
  <Words>6652</Words>
  <Application>Microsoft Office PowerPoint</Application>
  <PresentationFormat>宽屏</PresentationFormat>
  <Paragraphs>952</Paragraphs>
  <Slides>91</Slides>
  <Notes>17</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91</vt:i4>
      </vt:variant>
    </vt:vector>
  </HeadingPairs>
  <TitlesOfParts>
    <vt:vector size="105" baseType="lpstr">
      <vt:lpstr>仿宋_GB2312</vt:lpstr>
      <vt:lpstr>黑体</vt:lpstr>
      <vt:lpstr>华文细黑</vt:lpstr>
      <vt:lpstr>华文新魏</vt:lpstr>
      <vt:lpstr>华文中宋</vt:lpstr>
      <vt:lpstr>楷体_GB2312</vt:lpstr>
      <vt:lpstr>宋体</vt:lpstr>
      <vt:lpstr>微软雅黑</vt:lpstr>
      <vt:lpstr>Arial</vt:lpstr>
      <vt:lpstr>Tahoma</vt:lpstr>
      <vt:lpstr>Times New Roman</vt:lpstr>
      <vt:lpstr>Wingdings</vt:lpstr>
      <vt:lpstr>Blends</vt:lpstr>
      <vt:lpstr>剪辑</vt:lpstr>
      <vt:lpstr>PowerPoint 演示文稿</vt:lpstr>
      <vt:lpstr>四川长虹2014-2018年年报选摘</vt:lpstr>
      <vt:lpstr>四川长虹：2018年年报附注选摘</vt:lpstr>
      <vt:lpstr>四川长虹：2018年年报选摘</vt:lpstr>
      <vt:lpstr>本章内容逻辑安排</vt:lpstr>
      <vt:lpstr>一、存货概述</vt:lpstr>
      <vt:lpstr>（一）存货的定义</vt:lpstr>
      <vt:lpstr>（二）存货的内容</vt:lpstr>
      <vt:lpstr>存货范围的界定</vt:lpstr>
      <vt:lpstr>练习题</vt:lpstr>
      <vt:lpstr>练习题</vt:lpstr>
      <vt:lpstr>二、存货的取得和发出</vt:lpstr>
      <vt:lpstr>（一）取得存货的确认和计量原则</vt:lpstr>
      <vt:lpstr>1.外购存货成本的确定</vt:lpstr>
      <vt:lpstr>2.加工取得存货的成本</vt:lpstr>
      <vt:lpstr>3.其他方式取得存货的成本</vt:lpstr>
      <vt:lpstr>4.不计入存货成本的相关费用</vt:lpstr>
      <vt:lpstr>练习题：商品流通企业存货成本的确定 </vt:lpstr>
      <vt:lpstr>（二）发出存货的计量方法</vt:lpstr>
      <vt:lpstr>PowerPoint 演示文稿</vt:lpstr>
      <vt:lpstr>PowerPoint 演示文稿</vt:lpstr>
      <vt:lpstr>PowerPoint 演示文稿</vt:lpstr>
      <vt:lpstr>PowerPoint 演示文稿</vt:lpstr>
      <vt:lpstr>思考：</vt:lpstr>
      <vt:lpstr>2.确定发出周转材料成本的计量方法 </vt:lpstr>
      <vt:lpstr>PowerPoint 演示文稿</vt:lpstr>
      <vt:lpstr>PowerPoint 演示文稿</vt:lpstr>
      <vt:lpstr>PowerPoint 演示文稿</vt:lpstr>
      <vt:lpstr>外购原材料账务处理举例</vt:lpstr>
      <vt:lpstr>PowerPoint 演示文稿</vt:lpstr>
      <vt:lpstr>PowerPoint 演示文稿</vt:lpstr>
      <vt:lpstr>PowerPoint 演示文稿</vt:lpstr>
      <vt:lpstr>PowerPoint 演示文稿</vt:lpstr>
      <vt:lpstr>二、按计划成本计价的原材料核算</vt:lpstr>
      <vt:lpstr>PowerPoint 演示文稿</vt:lpstr>
      <vt:lpstr>（二）账务处理——举例</vt:lpstr>
      <vt:lpstr>PowerPoint 演示文稿</vt:lpstr>
      <vt:lpstr>PowerPoint 演示文稿</vt:lpstr>
      <vt:lpstr>PowerPoint 演示文稿</vt:lpstr>
      <vt:lpstr>PowerPoint 演示文稿</vt:lpstr>
      <vt:lpstr>PowerPoint 演示文稿</vt:lpstr>
      <vt:lpstr>按计划成本结转成本</vt:lpstr>
      <vt:lpstr>结转成本中的材料成本差异</vt:lpstr>
      <vt:lpstr>练习题  </vt:lpstr>
      <vt:lpstr>练习题（接上页）</vt:lpstr>
      <vt:lpstr>练习题（接上页）</vt:lpstr>
      <vt:lpstr>PowerPoint 演示文稿</vt:lpstr>
      <vt:lpstr>PowerPoint 演示文稿</vt:lpstr>
      <vt:lpstr>PowerPoint 演示文稿</vt:lpstr>
      <vt:lpstr>PowerPoint 演示文稿</vt:lpstr>
      <vt:lpstr>PowerPoint 演示文稿</vt:lpstr>
      <vt:lpstr>PowerPoint 演示文稿</vt:lpstr>
      <vt:lpstr>思考：</vt:lpstr>
      <vt:lpstr>第四节   库存商品</vt:lpstr>
      <vt:lpstr>一、库存商品概述</vt:lpstr>
      <vt:lpstr>库存商品的核算方法</vt:lpstr>
      <vt:lpstr>PowerPoint 演示文稿</vt:lpstr>
      <vt:lpstr>PowerPoint 演示文稿</vt:lpstr>
      <vt:lpstr>PowerPoint 演示文稿</vt:lpstr>
      <vt:lpstr>PowerPoint 演示文稿</vt:lpstr>
      <vt:lpstr>数量金价金额和算法举例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思考：</vt:lpstr>
      <vt:lpstr> 三、期末存货的计量</vt:lpstr>
      <vt:lpstr>（二）存货的可变现净值</vt:lpstr>
      <vt:lpstr>可变现净值的确定</vt:lpstr>
      <vt:lpstr>估计售价的确定</vt:lpstr>
      <vt:lpstr>估计售价的确定</vt:lpstr>
      <vt:lpstr>思考题</vt:lpstr>
      <vt:lpstr>思考题</vt:lpstr>
      <vt:lpstr>练习题</vt:lpstr>
      <vt:lpstr>PowerPoint 演示文稿</vt:lpstr>
      <vt:lpstr>举例：在单项、分类和总额比较法下，哪些存货应计提跌价准备？</vt:lpstr>
      <vt:lpstr>PowerPoint 演示文稿</vt:lpstr>
      <vt:lpstr>PowerPoint 演示文稿</vt:lpstr>
      <vt:lpstr>存货跌价准备计提举例</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郭鑫</dc:creator>
  <cp:lastModifiedBy>毛 新述</cp:lastModifiedBy>
  <cp:revision>82</cp:revision>
  <dcterms:created xsi:type="dcterms:W3CDTF">2020-04-15T04:21:00Z</dcterms:created>
  <dcterms:modified xsi:type="dcterms:W3CDTF">2020-05-06T03:37:58Z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