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122"/>
  </p:notesMasterIdLst>
  <p:handoutMasterIdLst>
    <p:handoutMasterId r:id="rId123"/>
  </p:handoutMasterIdLst>
  <p:sldIdLst>
    <p:sldId id="797" r:id="rId3"/>
    <p:sldId id="512" r:id="rId4"/>
    <p:sldId id="684" r:id="rId5"/>
    <p:sldId id="913" r:id="rId6"/>
    <p:sldId id="261" r:id="rId7"/>
    <p:sldId id="262" r:id="rId8"/>
    <p:sldId id="260" r:id="rId9"/>
    <p:sldId id="547" r:id="rId10"/>
    <p:sldId id="441" r:id="rId11"/>
    <p:sldId id="442" r:id="rId12"/>
    <p:sldId id="617" r:id="rId13"/>
    <p:sldId id="629" r:id="rId14"/>
    <p:sldId id="914" r:id="rId15"/>
    <p:sldId id="543" r:id="rId16"/>
    <p:sldId id="414" r:id="rId17"/>
    <p:sldId id="531" r:id="rId18"/>
    <p:sldId id="413" r:id="rId19"/>
    <p:sldId id="519" r:id="rId20"/>
    <p:sldId id="444" r:id="rId21"/>
    <p:sldId id="443" r:id="rId22"/>
    <p:sldId id="448" r:id="rId23"/>
    <p:sldId id="446" r:id="rId24"/>
    <p:sldId id="449" r:id="rId25"/>
    <p:sldId id="415" r:id="rId26"/>
    <p:sldId id="450" r:id="rId27"/>
    <p:sldId id="417" r:id="rId28"/>
    <p:sldId id="447" r:id="rId29"/>
    <p:sldId id="544" r:id="rId30"/>
    <p:sldId id="452" r:id="rId31"/>
    <p:sldId id="622" r:id="rId32"/>
    <p:sldId id="456" r:id="rId33"/>
    <p:sldId id="457" r:id="rId34"/>
    <p:sldId id="555" r:id="rId35"/>
    <p:sldId id="556" r:id="rId36"/>
    <p:sldId id="558" r:id="rId37"/>
    <p:sldId id="560" r:id="rId38"/>
    <p:sldId id="561" r:id="rId39"/>
    <p:sldId id="562" r:id="rId40"/>
    <p:sldId id="563" r:id="rId41"/>
    <p:sldId id="564" r:id="rId42"/>
    <p:sldId id="565" r:id="rId43"/>
    <p:sldId id="566" r:id="rId44"/>
    <p:sldId id="567" r:id="rId45"/>
    <p:sldId id="568" r:id="rId46"/>
    <p:sldId id="569" r:id="rId47"/>
    <p:sldId id="570" r:id="rId48"/>
    <p:sldId id="571" r:id="rId49"/>
    <p:sldId id="623" r:id="rId50"/>
    <p:sldId id="574" r:id="rId51"/>
    <p:sldId id="624" r:id="rId52"/>
    <p:sldId id="572" r:id="rId53"/>
    <p:sldId id="573" r:id="rId54"/>
    <p:sldId id="575" r:id="rId55"/>
    <p:sldId id="576" r:id="rId56"/>
    <p:sldId id="577" r:id="rId57"/>
    <p:sldId id="578" r:id="rId58"/>
    <p:sldId id="579" r:id="rId59"/>
    <p:sldId id="580" r:id="rId60"/>
    <p:sldId id="581" r:id="rId61"/>
    <p:sldId id="582" r:id="rId62"/>
    <p:sldId id="583" r:id="rId63"/>
    <p:sldId id="584" r:id="rId64"/>
    <p:sldId id="585" r:id="rId65"/>
    <p:sldId id="586" r:id="rId66"/>
    <p:sldId id="587" r:id="rId67"/>
    <p:sldId id="588" r:id="rId68"/>
    <p:sldId id="589" r:id="rId69"/>
    <p:sldId id="590" r:id="rId70"/>
    <p:sldId id="591" r:id="rId71"/>
    <p:sldId id="595" r:id="rId72"/>
    <p:sldId id="915" r:id="rId73"/>
    <p:sldId id="628" r:id="rId74"/>
    <p:sldId id="627" r:id="rId75"/>
    <p:sldId id="554" r:id="rId76"/>
    <p:sldId id="532" r:id="rId77"/>
    <p:sldId id="545" r:id="rId78"/>
    <p:sldId id="534" r:id="rId79"/>
    <p:sldId id="618" r:id="rId80"/>
    <p:sldId id="620" r:id="rId81"/>
    <p:sldId id="621" r:id="rId82"/>
    <p:sldId id="535" r:id="rId83"/>
    <p:sldId id="536" r:id="rId84"/>
    <p:sldId id="537" r:id="rId85"/>
    <p:sldId id="538" r:id="rId86"/>
    <p:sldId id="539" r:id="rId87"/>
    <p:sldId id="540" r:id="rId88"/>
    <p:sldId id="541" r:id="rId89"/>
    <p:sldId id="542" r:id="rId90"/>
    <p:sldId id="525" r:id="rId91"/>
    <p:sldId id="526" r:id="rId92"/>
    <p:sldId id="527" r:id="rId93"/>
    <p:sldId id="528" r:id="rId94"/>
    <p:sldId id="529" r:id="rId95"/>
    <p:sldId id="530" r:id="rId96"/>
    <p:sldId id="916" r:id="rId97"/>
    <p:sldId id="625" r:id="rId98"/>
    <p:sldId id="917" r:id="rId99"/>
    <p:sldId id="626" r:id="rId100"/>
    <p:sldId id="616" r:id="rId101"/>
    <p:sldId id="597" r:id="rId102"/>
    <p:sldId id="598" r:id="rId103"/>
    <p:sldId id="599" r:id="rId104"/>
    <p:sldId id="600" r:id="rId105"/>
    <p:sldId id="601" r:id="rId106"/>
    <p:sldId id="602" r:id="rId107"/>
    <p:sldId id="603" r:id="rId108"/>
    <p:sldId id="604" r:id="rId109"/>
    <p:sldId id="605" r:id="rId110"/>
    <p:sldId id="606" r:id="rId111"/>
    <p:sldId id="607" r:id="rId112"/>
    <p:sldId id="608" r:id="rId113"/>
    <p:sldId id="609" r:id="rId114"/>
    <p:sldId id="610" r:id="rId115"/>
    <p:sldId id="611" r:id="rId116"/>
    <p:sldId id="612" r:id="rId117"/>
    <p:sldId id="613" r:id="rId118"/>
    <p:sldId id="614" r:id="rId119"/>
    <p:sldId id="615" r:id="rId120"/>
    <p:sldId id="1029" r:id="rId121"/>
  </p:sldIdLst>
  <p:sldSz cx="9144000" cy="6858000" type="screen4x3"/>
  <p:notesSz cx="6797675" cy="9926638"/>
  <p:defaultTextStyle>
    <a:defPPr>
      <a:defRPr lang="zh-CN"/>
    </a:defPPr>
    <a:lvl1pPr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3333FF"/>
    <a:srgbClr val="66FF66"/>
    <a:srgbClr val="FFFF00"/>
    <a:srgbClr val="FF6600"/>
    <a:srgbClr val="CC00CC"/>
    <a:srgbClr val="FF33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1" autoAdjust="0"/>
    <p:restoredTop sz="94727" autoAdjust="0"/>
  </p:normalViewPr>
  <p:slideViewPr>
    <p:cSldViewPr>
      <p:cViewPr varScale="1">
        <p:scale>
          <a:sx n="83" d="100"/>
          <a:sy n="83" d="100"/>
        </p:scale>
        <p:origin x="1445" y="34"/>
      </p:cViewPr>
      <p:guideLst>
        <p:guide orient="horz" pos="210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042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handoutMaster" Target="handoutMasters/handout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slide" Target="slides/slide116.xml"/><Relationship Id="rId12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82947" name="Rectangle 3"/>
          <p:cNvSpPr>
            <a:spLocks noGrp="1" noChangeArrowheads="1"/>
          </p:cNvSpPr>
          <p:nvPr>
            <p:ph type="dt" sz="quarter"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defRPr>
            </a:lvl1pPr>
          </a:lstStyle>
          <a:p>
            <a:pPr>
              <a:defRPr/>
            </a:pPr>
            <a:endParaRPr lang="en-US" altLang="zh-CN"/>
          </a:p>
        </p:txBody>
      </p:sp>
      <p:sp>
        <p:nvSpPr>
          <p:cNvPr id="82948" name="Rectangle 4"/>
          <p:cNvSpPr>
            <a:spLocks noGrp="1" noChangeArrowheads="1"/>
          </p:cNvSpPr>
          <p:nvPr>
            <p:ph type="ftr" sz="quarter" idx="2"/>
          </p:nvPr>
        </p:nvSpPr>
        <p:spPr bwMode="auto">
          <a:xfrm>
            <a:off x="0" y="9429750"/>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82949" name="Rectangle 5"/>
          <p:cNvSpPr>
            <a:spLocks noGrp="1" noChangeArrowheads="1"/>
          </p:cNvSpPr>
          <p:nvPr>
            <p:ph type="sldNum" sz="quarter" idx="3"/>
          </p:nvPr>
        </p:nvSpPr>
        <p:spPr bwMode="auto">
          <a:xfrm>
            <a:off x="3851275" y="9429750"/>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Times New Roman" panose="02020603050405020304" pitchFamily="18" charset="0"/>
              </a:defRPr>
            </a:lvl1pPr>
          </a:lstStyle>
          <a:p>
            <a:pPr>
              <a:defRPr/>
            </a:pPr>
            <a:fld id="{0A785D5B-12D1-4D03-87CC-B13DEA89648E}"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4546"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364547" name="Rectangle 3"/>
          <p:cNvSpPr>
            <a:spLocks noGrp="1" noChangeArrowheads="1"/>
          </p:cNvSpPr>
          <p:nvPr>
            <p:ph type="dt"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defRPr>
            </a:lvl1pPr>
          </a:lstStyle>
          <a:p>
            <a:pPr>
              <a:defRPr/>
            </a:pPr>
            <a:endParaRPr lang="en-US" altLang="zh-CN"/>
          </a:p>
        </p:txBody>
      </p:sp>
      <p:sp>
        <p:nvSpPr>
          <p:cNvPr id="18436"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64549" name="Rectangle 5"/>
          <p:cNvSpPr>
            <a:spLocks noGrp="1" noChangeArrowheads="1"/>
          </p:cNvSpPr>
          <p:nvPr>
            <p:ph type="body" sz="quarter" idx="3"/>
          </p:nvPr>
        </p:nvSpPr>
        <p:spPr bwMode="auto">
          <a:xfrm>
            <a:off x="679450" y="4714875"/>
            <a:ext cx="5438775"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64550" name="Rectangle 6"/>
          <p:cNvSpPr>
            <a:spLocks noGrp="1" noChangeArrowheads="1"/>
          </p:cNvSpPr>
          <p:nvPr>
            <p:ph type="ftr" sz="quarter" idx="4"/>
          </p:nvPr>
        </p:nvSpPr>
        <p:spPr bwMode="auto">
          <a:xfrm>
            <a:off x="0" y="9428163"/>
            <a:ext cx="294640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364551" name="Rectangle 7"/>
          <p:cNvSpPr>
            <a:spLocks noGrp="1" noChangeArrowheads="1"/>
          </p:cNvSpPr>
          <p:nvPr>
            <p:ph type="sldNum" sz="quarter" idx="5"/>
          </p:nvPr>
        </p:nvSpPr>
        <p:spPr bwMode="auto">
          <a:xfrm>
            <a:off x="3849688" y="9428163"/>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Times New Roman" panose="02020603050405020304" pitchFamily="18" charset="0"/>
              </a:defRPr>
            </a:lvl1pPr>
          </a:lstStyle>
          <a:p>
            <a:pPr>
              <a:defRPr/>
            </a:pPr>
            <a:fld id="{547C2EA8-2A10-4437-A902-FD520BD5EEB8}"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2B6BF7D-CEE6-4277-9F22-387881F088CD}" type="slidenum">
              <a:rPr lang="en-US" altLang="zh-CN"/>
              <a:t>5</a:t>
            </a:fld>
            <a:endParaRPr lang="en-US" altLang="zh-CN"/>
          </a:p>
        </p:txBody>
      </p:sp>
      <p:sp>
        <p:nvSpPr>
          <p:cNvPr id="20482" name="Rectangle 2"/>
          <p:cNvSpPr>
            <a:spLocks noGrp="1" noRot="1" noChangeAspect="1" noChangeArrowheads="1" noTextEdit="1"/>
          </p:cNvSpPr>
          <p:nvPr>
            <p:ph type="sldImg"/>
          </p:nvPr>
        </p:nvSpPr>
        <p:spPr/>
      </p:sp>
      <p:sp>
        <p:nvSpPr>
          <p:cNvPr id="20483" name="Rectangle 3"/>
          <p:cNvSpPr>
            <a:spLocks noGrp="1" noChangeArrowheads="1"/>
          </p:cNvSpPr>
          <p:nvPr>
            <p:ph type="body" idx="1"/>
          </p:nvPr>
        </p:nvSpPr>
        <p:spPr>
          <a:xfrm>
            <a:off x="914400" y="4343400"/>
            <a:ext cx="5029200" cy="4114800"/>
          </a:xfrm>
        </p:spPr>
        <p:txBody>
          <a:bodyPr/>
          <a:lstStyle/>
          <a:p>
            <a:pPr>
              <a:lnSpc>
                <a:spcPct val="90000"/>
              </a:lnSpc>
            </a:pPr>
            <a:r>
              <a:rPr lang="zh-CN" altLang="en-US" dirty="0"/>
              <a:t>现金是否是金融工具？贵金属是否是金融工具？</a:t>
            </a:r>
          </a:p>
          <a:p>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EB3F75C-A613-4B09-A67B-E9D6D138B5D3}" type="slidenum">
              <a:rPr lang="en-US" altLang="zh-CN"/>
              <a:t>7</a:t>
            </a:fld>
            <a:endParaRPr lang="en-US" altLang="zh-CN"/>
          </a:p>
        </p:txBody>
      </p:sp>
      <p:sp>
        <p:nvSpPr>
          <p:cNvPr id="12290" name="Rectangle 2"/>
          <p:cNvSpPr>
            <a:spLocks noGrp="1" noRot="1" noChangeAspect="1" noChangeArrowheads="1" noTextEdit="1"/>
          </p:cNvSpPr>
          <p:nvPr>
            <p:ph type="sldImg"/>
          </p:nvPr>
        </p:nvSpPr>
        <p:spPr/>
      </p:sp>
      <p:sp>
        <p:nvSpPr>
          <p:cNvPr id="12291"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78CE7BC-B2B5-48A4-9A4F-4FC53914087D}" type="slidenum">
              <a:rPr lang="en-US" altLang="zh-CN" smtClean="0">
                <a:solidFill>
                  <a:srgbClr val="000000"/>
                </a:solidFill>
              </a:rPr>
              <a:t>34</a:t>
            </a:fld>
            <a:endParaRPr lang="en-US" altLang="zh-CN">
              <a:solidFill>
                <a:srgbClr val="000000"/>
              </a:solidFill>
            </a:endParaRPr>
          </a:p>
        </p:txBody>
      </p:sp>
      <p:sp>
        <p:nvSpPr>
          <p:cNvPr id="48131" name="幻灯片图像占位符 1"/>
          <p:cNvSpPr>
            <a:spLocks noGrp="1" noRot="1" noChangeAspect="1" noChangeArrowheads="1" noTextEdit="1"/>
          </p:cNvSpPr>
          <p:nvPr>
            <p:ph type="sldImg"/>
          </p:nvPr>
        </p:nvSpPr>
        <p:spPr/>
      </p:sp>
      <p:sp>
        <p:nvSpPr>
          <p:cNvPr id="48132" name="备注占位符 2"/>
          <p:cNvSpPr>
            <a:spLocks noGrp="1"/>
          </p:cNvSpPr>
          <p:nvPr>
            <p:ph type="body" idx="1"/>
          </p:nvPr>
        </p:nvSpPr>
        <p:spPr>
          <a:xfrm>
            <a:off x="906463" y="4714875"/>
            <a:ext cx="4984750"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
        <p:nvSpPr>
          <p:cNvPr id="48133" name="灯片编号占位符 3"/>
          <p:cNvSpPr txBox="1">
            <a:spLocks noGrp="1"/>
          </p:cNvSpPr>
          <p:nvPr/>
        </p:nvSpPr>
        <p:spPr bwMode="auto">
          <a:xfrm>
            <a:off x="3851275"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A66C606B-29C2-48E0-8251-38A98659061B}" type="slidenum">
              <a:rPr kumimoji="1" lang="en-US" altLang="zh-CN">
                <a:solidFill>
                  <a:srgbClr val="000000"/>
                </a:solidFill>
              </a:rPr>
              <a:t>34</a:t>
            </a:fld>
            <a:endParaRPr kumimoji="1" lang="en-US" altLang="zh-CN">
              <a:solidFill>
                <a:srgbClr val="0000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ChangeArrowheads="1" noTextEdit="1"/>
          </p:cNvSpPr>
          <p:nvPr>
            <p:ph type="sldImg"/>
          </p:nvPr>
        </p:nvSpPr>
        <p:spPr/>
      </p:sp>
      <p:sp>
        <p:nvSpPr>
          <p:cNvPr id="6758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摊余成本的直观含义是根据实际利率计算的某一时点的债券价值</a:t>
            </a:r>
          </a:p>
        </p:txBody>
      </p:sp>
      <p:sp>
        <p:nvSpPr>
          <p:cNvPr id="6758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A0241ECC-4207-4AC9-9B98-75EDE8BF0F1C}" type="slidenum">
              <a:rPr lang="en-US" altLang="zh-CN" smtClean="0">
                <a:latin typeface="Times New Roman" panose="02020603050405020304" pitchFamily="18" charset="0"/>
              </a:rPr>
              <a:t>52</a:t>
            </a:fld>
            <a:endParaRPr lang="en-US" altLang="zh-CN">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ChangeArrowheads="1" noTextEdit="1"/>
          </p:cNvSpPr>
          <p:nvPr>
            <p:ph type="sldImg"/>
          </p:nvPr>
        </p:nvSpPr>
        <p:spPr/>
      </p:sp>
      <p:sp>
        <p:nvSpPr>
          <p:cNvPr id="13312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312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35DF2E8-621E-4B44-BCB5-62ADC5114239}" type="slidenum">
              <a:rPr lang="en-US" altLang="zh-CN" smtClean="0">
                <a:latin typeface="Times New Roman" panose="02020603050405020304" pitchFamily="18" charset="0"/>
              </a:rPr>
              <a:t>116</a:t>
            </a:fld>
            <a:endParaRPr lang="en-US" altLang="zh-CN">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solidFill>
                    <a:srgbClr val="000000"/>
                  </a:solidFill>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solidFill>
                    <a:srgbClr val="000000"/>
                  </a:solidFill>
                </a:endParaRPr>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solidFill>
                    <a:srgbClr val="000000"/>
                  </a:solidFill>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solidFill>
                    <a:srgbClr val="000000"/>
                  </a:solidFill>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solidFill>
                  <a:srgbClr val="000000"/>
                </a:solidFill>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solidFill>
                  <a:srgbClr val="000000"/>
                </a:solidFill>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solidFill>
                  <a:srgbClr val="000000"/>
                </a:solidFill>
              </a:endParaRPr>
            </a:p>
          </p:txBody>
        </p:sp>
      </p:grpSp>
      <p:sp>
        <p:nvSpPr>
          <p:cNvPr id="289804"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p>
        </p:txBody>
      </p:sp>
      <p:sp>
        <p:nvSpPr>
          <p:cNvPr id="28980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8C837C65-7C27-4DCD-A89C-98D003A172D5}"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21FF42E0-4387-4C8A-B49A-F8CAA9799D58}"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8058" y="906145"/>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0A89E9EE-1640-4FB5-BC92-82707FE6F357}"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69D6BAB2-9510-4A68-A3E2-CA3003771BAC}"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089C5B57-2B4B-40A7-8BEF-517E1A6E5DA3}"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0511FF94-D2FD-4EAF-8621-5F789CB2F1DF}"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250B0815-C04A-4E32-B5F1-F522D574055A}"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8B8CB782-623F-4FC9-A76A-5C1DAAFBA149}"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EAB0FD68-C08F-418D-ABAF-37DF1167830A}"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EAB0FD68-C08F-418D-ABAF-37DF1167830A}"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solidFill>
                    <a:srgbClr val="000000"/>
                  </a:solidFill>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solidFill>
                    <a:srgbClr val="000000"/>
                  </a:solidFill>
                </a:endParaRPr>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solidFill>
                    <a:srgbClr val="000000"/>
                  </a:solidFill>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solidFill>
                    <a:srgbClr val="000000"/>
                  </a:solidFill>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solidFill>
                  <a:srgbClr val="000000"/>
                </a:solidFill>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solidFill>
                  <a:srgbClr val="000000"/>
                </a:solidFill>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solidFill>
                  <a:srgbClr val="000000"/>
                </a:solidFill>
              </a:endParaRPr>
            </a:p>
          </p:txBody>
        </p:sp>
      </p:grpSp>
      <p:sp>
        <p:nvSpPr>
          <p:cNvPr id="289804"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p>
        </p:txBody>
      </p:sp>
      <p:sp>
        <p:nvSpPr>
          <p:cNvPr id="28980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8C837C65-7C27-4DCD-A89C-98D003A172D5}"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21FF42E0-4387-4C8A-B49A-F8CAA9799D58}"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8058" y="906145"/>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0A89E9EE-1640-4FB5-BC92-82707FE6F357}" type="slidenum">
              <a:rPr lang="en-US"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69D6BAB2-9510-4A68-A3E2-CA3003771BAC}" type="slidenum">
              <a:rPr lang="en-US" altLang="zh-CN"/>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089C5B57-2B4B-40A7-8BEF-517E1A6E5DA3}" type="slidenum">
              <a:rPr lang="en-US" altLang="zh-CN"/>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0511FF94-D2FD-4EAF-8621-5F789CB2F1DF}" type="slidenum">
              <a:rPr lang="en-US" altLang="zh-CN"/>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250B0815-C04A-4E32-B5F1-F522D574055A}" type="slidenum">
              <a:rPr lang="en-US" altLang="zh-CN"/>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8B8CB782-623F-4FC9-A76A-5C1DAAFBA149}" type="slidenum">
              <a:rPr lang="en-US" altLang="zh-CN"/>
              <a:t>‹#›</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EAB0FD68-C08F-418D-ABAF-37DF1167830A}" type="slidenum">
              <a:rPr lang="en-US" altLang="zh-CN"/>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EAB0FD68-C08F-418D-ABAF-37DF1167830A}"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solidFill>
                <a:srgbClr val="000000"/>
              </a:solidFill>
            </a:endParaRPr>
          </a:p>
        </p:txBody>
      </p:sp>
      <p:sp>
        <p:nvSpPr>
          <p:cNvPr id="3075"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solidFill>
                <a:srgbClr val="000000"/>
              </a:solidFill>
            </a:endParaRPr>
          </a:p>
        </p:txBody>
      </p:sp>
      <p:sp>
        <p:nvSpPr>
          <p:cNvPr id="3076"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solidFill>
                <a:srgbClr val="000000"/>
              </a:solidFill>
            </a:endParaRPr>
          </a:p>
        </p:txBody>
      </p:sp>
      <p:sp>
        <p:nvSpPr>
          <p:cNvPr id="3077"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solidFill>
                <a:srgbClr val="000000"/>
              </a:solidFill>
            </a:endParaRPr>
          </a:p>
        </p:txBody>
      </p:sp>
      <p:sp>
        <p:nvSpPr>
          <p:cNvPr id="3078"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solidFill>
                <a:srgbClr val="000000"/>
              </a:solidFill>
            </a:endParaRPr>
          </a:p>
        </p:txBody>
      </p:sp>
      <p:sp>
        <p:nvSpPr>
          <p:cNvPr id="3079"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solidFill>
                <a:srgbClr val="000000"/>
              </a:solidFill>
            </a:endParaRPr>
          </a:p>
        </p:txBody>
      </p:sp>
      <p:sp>
        <p:nvSpPr>
          <p:cNvPr id="3080"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solidFill>
                <a:srgbClr val="000000"/>
              </a:solidFill>
            </a:endParaRPr>
          </a:p>
        </p:txBody>
      </p:sp>
      <p:sp>
        <p:nvSpPr>
          <p:cNvPr id="3081" name="Rectangle 9"/>
          <p:cNvSpPr>
            <a:spLocks noGrp="1" noChangeArrowheads="1"/>
          </p:cNvSpPr>
          <p:nvPr>
            <p:ph type="title"/>
          </p:nvPr>
        </p:nvSpPr>
        <p:spPr bwMode="auto">
          <a:xfrm>
            <a:off x="1150938" y="214313"/>
            <a:ext cx="7793037"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3082" name="Rectangle 10"/>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8779"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a:solidFill>
                  <a:srgbClr val="000000"/>
                </a:solidFill>
              </a:defRPr>
            </a:lvl1pPr>
          </a:lstStyle>
          <a:p>
            <a:pPr>
              <a:defRPr/>
            </a:pPr>
            <a:endParaRPr lang="en-US" altLang="zh-CN"/>
          </a:p>
        </p:txBody>
      </p:sp>
      <p:sp>
        <p:nvSpPr>
          <p:cNvPr id="288780"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400">
                <a:solidFill>
                  <a:srgbClr val="000000"/>
                </a:solidFill>
              </a:defRPr>
            </a:lvl1pPr>
          </a:lstStyle>
          <a:p>
            <a:pPr>
              <a:defRPr/>
            </a:pPr>
            <a:endParaRPr lang="en-US" altLang="zh-CN"/>
          </a:p>
        </p:txBody>
      </p:sp>
      <p:sp>
        <p:nvSpPr>
          <p:cNvPr id="288781"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a:solidFill>
                  <a:srgbClr val="000000"/>
                </a:solidFill>
              </a:defRPr>
            </a:lvl1pPr>
          </a:lstStyle>
          <a:p>
            <a:pPr>
              <a:defRPr/>
            </a:pPr>
            <a:fld id="{EAB0FD68-C08F-418D-ABAF-37DF1167830A}"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5pPr>
      <a:lvl6pPr marL="457200" algn="l" rtl="0" fontAlgn="base">
        <a:spcBef>
          <a:spcPct val="0"/>
        </a:spcBef>
        <a:spcAft>
          <a:spcPct val="0"/>
        </a:spcAft>
        <a:defRPr sz="4400" b="1">
          <a:solidFill>
            <a:schemeClr val="tx2"/>
          </a:solidFill>
          <a:latin typeface="Tahoma" panose="020B0604030504040204" pitchFamily="34" charset="0"/>
          <a:ea typeface="华文中宋" pitchFamily="2" charset="-122"/>
        </a:defRPr>
      </a:lvl6pPr>
      <a:lvl7pPr marL="914400" algn="l" rtl="0" fontAlgn="base">
        <a:spcBef>
          <a:spcPct val="0"/>
        </a:spcBef>
        <a:spcAft>
          <a:spcPct val="0"/>
        </a:spcAft>
        <a:defRPr sz="4400" b="1">
          <a:solidFill>
            <a:schemeClr val="tx2"/>
          </a:solidFill>
          <a:latin typeface="Tahoma" panose="020B0604030504040204" pitchFamily="34" charset="0"/>
          <a:ea typeface="华文中宋" pitchFamily="2" charset="-122"/>
        </a:defRPr>
      </a:lvl7pPr>
      <a:lvl8pPr marL="1371600" algn="l" rtl="0" fontAlgn="base">
        <a:spcBef>
          <a:spcPct val="0"/>
        </a:spcBef>
        <a:spcAft>
          <a:spcPct val="0"/>
        </a:spcAft>
        <a:defRPr sz="4400" b="1">
          <a:solidFill>
            <a:schemeClr val="tx2"/>
          </a:solidFill>
          <a:latin typeface="Tahoma" panose="020B0604030504040204" pitchFamily="34" charset="0"/>
          <a:ea typeface="华文中宋" pitchFamily="2" charset="-122"/>
        </a:defRPr>
      </a:lvl8pPr>
      <a:lvl9pPr marL="1828800" algn="l" rtl="0" fontAlgn="base">
        <a:spcBef>
          <a:spcPct val="0"/>
        </a:spcBef>
        <a:spcAft>
          <a:spcPct val="0"/>
        </a:spcAft>
        <a:defRPr sz="4400" b="1">
          <a:solidFill>
            <a:schemeClr val="tx2"/>
          </a:solidFill>
          <a:latin typeface="Tahoma" panose="020B0604030504040204" pitchFamily="34" charset="0"/>
          <a:ea typeface="华文中宋"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1800">
          <a:solidFill>
            <a:schemeClr val="tx1"/>
          </a:solidFill>
          <a:latin typeface="黑体" panose="02010609060101010101" pitchFamily="2" charset="-122"/>
          <a:ea typeface="黑体" panose="0201060906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solidFill>
                <a:srgbClr val="000000"/>
              </a:solidFill>
            </a:endParaRPr>
          </a:p>
        </p:txBody>
      </p:sp>
      <p:sp>
        <p:nvSpPr>
          <p:cNvPr id="3075"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solidFill>
                <a:srgbClr val="000000"/>
              </a:solidFill>
            </a:endParaRPr>
          </a:p>
        </p:txBody>
      </p:sp>
      <p:sp>
        <p:nvSpPr>
          <p:cNvPr id="3076"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solidFill>
                <a:srgbClr val="000000"/>
              </a:solidFill>
            </a:endParaRPr>
          </a:p>
        </p:txBody>
      </p:sp>
      <p:sp>
        <p:nvSpPr>
          <p:cNvPr id="3077"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solidFill>
                <a:srgbClr val="000000"/>
              </a:solidFill>
            </a:endParaRPr>
          </a:p>
        </p:txBody>
      </p:sp>
      <p:sp>
        <p:nvSpPr>
          <p:cNvPr id="3078"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solidFill>
                <a:srgbClr val="000000"/>
              </a:solidFill>
            </a:endParaRPr>
          </a:p>
        </p:txBody>
      </p:sp>
      <p:sp>
        <p:nvSpPr>
          <p:cNvPr id="3079"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solidFill>
                <a:srgbClr val="000000"/>
              </a:solidFill>
            </a:endParaRPr>
          </a:p>
        </p:txBody>
      </p:sp>
      <p:sp>
        <p:nvSpPr>
          <p:cNvPr id="3080"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solidFill>
                <a:srgbClr val="000000"/>
              </a:solidFill>
            </a:endParaRPr>
          </a:p>
        </p:txBody>
      </p:sp>
      <p:sp>
        <p:nvSpPr>
          <p:cNvPr id="3081" name="Rectangle 9"/>
          <p:cNvSpPr>
            <a:spLocks noGrp="1" noChangeArrowheads="1"/>
          </p:cNvSpPr>
          <p:nvPr>
            <p:ph type="title"/>
          </p:nvPr>
        </p:nvSpPr>
        <p:spPr bwMode="auto">
          <a:xfrm>
            <a:off x="1150938" y="214313"/>
            <a:ext cx="7793037"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3082" name="Rectangle 10"/>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8779"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a:solidFill>
                  <a:srgbClr val="000000"/>
                </a:solidFill>
              </a:defRPr>
            </a:lvl1pPr>
          </a:lstStyle>
          <a:p>
            <a:pPr>
              <a:defRPr/>
            </a:pPr>
            <a:endParaRPr lang="en-US" altLang="zh-CN"/>
          </a:p>
        </p:txBody>
      </p:sp>
      <p:sp>
        <p:nvSpPr>
          <p:cNvPr id="288780"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400">
                <a:solidFill>
                  <a:srgbClr val="000000"/>
                </a:solidFill>
              </a:defRPr>
            </a:lvl1pPr>
          </a:lstStyle>
          <a:p>
            <a:pPr>
              <a:defRPr/>
            </a:pPr>
            <a:endParaRPr lang="en-US" altLang="zh-CN"/>
          </a:p>
        </p:txBody>
      </p:sp>
      <p:sp>
        <p:nvSpPr>
          <p:cNvPr id="288781"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a:solidFill>
                  <a:srgbClr val="000000"/>
                </a:solidFill>
              </a:defRPr>
            </a:lvl1pPr>
          </a:lstStyle>
          <a:p>
            <a:pPr>
              <a:defRPr/>
            </a:pPr>
            <a:fld id="{EAB0FD68-C08F-418D-ABAF-37DF1167830A}"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5pPr>
      <a:lvl6pPr marL="457200" algn="l" rtl="0" fontAlgn="base">
        <a:spcBef>
          <a:spcPct val="0"/>
        </a:spcBef>
        <a:spcAft>
          <a:spcPct val="0"/>
        </a:spcAft>
        <a:defRPr sz="4400" b="1">
          <a:solidFill>
            <a:schemeClr val="tx2"/>
          </a:solidFill>
          <a:latin typeface="Tahoma" panose="020B0604030504040204" pitchFamily="34" charset="0"/>
          <a:ea typeface="华文中宋" pitchFamily="2" charset="-122"/>
        </a:defRPr>
      </a:lvl6pPr>
      <a:lvl7pPr marL="914400" algn="l" rtl="0" fontAlgn="base">
        <a:spcBef>
          <a:spcPct val="0"/>
        </a:spcBef>
        <a:spcAft>
          <a:spcPct val="0"/>
        </a:spcAft>
        <a:defRPr sz="4400" b="1">
          <a:solidFill>
            <a:schemeClr val="tx2"/>
          </a:solidFill>
          <a:latin typeface="Tahoma" panose="020B0604030504040204" pitchFamily="34" charset="0"/>
          <a:ea typeface="华文中宋" pitchFamily="2" charset="-122"/>
        </a:defRPr>
      </a:lvl7pPr>
      <a:lvl8pPr marL="1371600" algn="l" rtl="0" fontAlgn="base">
        <a:spcBef>
          <a:spcPct val="0"/>
        </a:spcBef>
        <a:spcAft>
          <a:spcPct val="0"/>
        </a:spcAft>
        <a:defRPr sz="4400" b="1">
          <a:solidFill>
            <a:schemeClr val="tx2"/>
          </a:solidFill>
          <a:latin typeface="Tahoma" panose="020B0604030504040204" pitchFamily="34" charset="0"/>
          <a:ea typeface="华文中宋" pitchFamily="2" charset="-122"/>
        </a:defRPr>
      </a:lvl8pPr>
      <a:lvl9pPr marL="1828800" algn="l" rtl="0" fontAlgn="base">
        <a:spcBef>
          <a:spcPct val="0"/>
        </a:spcBef>
        <a:spcAft>
          <a:spcPct val="0"/>
        </a:spcAft>
        <a:defRPr sz="4400" b="1">
          <a:solidFill>
            <a:schemeClr val="tx2"/>
          </a:solidFill>
          <a:latin typeface="Tahoma" panose="020B0604030504040204" pitchFamily="34" charset="0"/>
          <a:ea typeface="华文中宋"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1800">
          <a:solidFill>
            <a:schemeClr val="tx1"/>
          </a:solidFill>
          <a:latin typeface="黑体" panose="02010609060101010101" pitchFamily="2" charset="-122"/>
          <a:ea typeface="黑体" panose="0201060906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8.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8.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8.xml"/><Relationship Id="rId1" Type="http://schemas.openxmlformats.org/officeDocument/2006/relationships/vmlDrawing" Target="../drawings/vmlDrawing3.vml"/><Relationship Id="rId4" Type="http://schemas.openxmlformats.org/officeDocument/2006/relationships/image" Target="../media/image4.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8.xml"/><Relationship Id="rId1" Type="http://schemas.openxmlformats.org/officeDocument/2006/relationships/vmlDrawing" Target="../drawings/vmlDrawing4.vml"/><Relationship Id="rId4" Type="http://schemas.openxmlformats.org/officeDocument/2006/relationships/image" Target="../media/image5.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8.xml"/><Relationship Id="rId1" Type="http://schemas.openxmlformats.org/officeDocument/2006/relationships/vmlDrawing" Target="../drawings/vmlDrawing5.vml"/><Relationship Id="rId4" Type="http://schemas.openxmlformats.org/officeDocument/2006/relationships/image" Target="../media/image6.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8.xml"/><Relationship Id="rId1" Type="http://schemas.openxmlformats.org/officeDocument/2006/relationships/vmlDrawing" Target="../drawings/vmlDrawing6.vml"/><Relationship Id="rId4" Type="http://schemas.openxmlformats.org/officeDocument/2006/relationships/image" Target="../media/image7.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8.xml"/><Relationship Id="rId1" Type="http://schemas.openxmlformats.org/officeDocument/2006/relationships/vmlDrawing" Target="../drawings/vmlDrawing7.vml"/><Relationship Id="rId4" Type="http://schemas.openxmlformats.org/officeDocument/2006/relationships/image" Target="../media/image8.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8.xml"/><Relationship Id="rId1" Type="http://schemas.openxmlformats.org/officeDocument/2006/relationships/vmlDrawing" Target="../drawings/vmlDrawing8.vml"/><Relationship Id="rId4" Type="http://schemas.openxmlformats.org/officeDocument/2006/relationships/image" Target="../media/image11.wmf"/></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0483" name="Rectangle 3"/>
          <p:cNvSpPr>
            <a:spLocks noGrp="1" noChangeArrowheads="1"/>
          </p:cNvSpPr>
          <p:nvPr>
            <p:ph idx="1"/>
          </p:nvPr>
        </p:nvSpPr>
        <p:spPr/>
        <p:txBody>
          <a:bodyPr/>
          <a:lstStyle/>
          <a:p>
            <a:pPr eaLnBrk="1" hangingPunct="1"/>
            <a:endParaRPr lang="en-US" altLang="zh-CN" dirty="0"/>
          </a:p>
          <a:p>
            <a:pPr marL="0" indent="0" algn="ctr" eaLnBrk="1" hangingPunct="1">
              <a:buNone/>
            </a:pPr>
            <a:r>
              <a:rPr lang="zh-CN" altLang="en-US" sz="3300" dirty="0">
                <a:latin typeface="黑体" panose="02010609060101010101" pitchFamily="2" charset="-122"/>
                <a:ea typeface="黑体" panose="02010609060101010101" pitchFamily="2" charset="-122"/>
                <a:cs typeface="黑体" panose="02010609060101010101" pitchFamily="2" charset="-122"/>
              </a:rPr>
              <a:t>第</a:t>
            </a:r>
            <a:r>
              <a:rPr lang="en-US" altLang="zh-CN" sz="3300" dirty="0">
                <a:latin typeface="黑体" panose="02010609060101010101" pitchFamily="2" charset="-122"/>
                <a:ea typeface="黑体" panose="02010609060101010101" pitchFamily="2" charset="-122"/>
                <a:cs typeface="黑体" panose="02010609060101010101" pitchFamily="2" charset="-122"/>
              </a:rPr>
              <a:t>5</a:t>
            </a:r>
            <a:r>
              <a:rPr lang="zh-CN" altLang="en-US" sz="3300" dirty="0">
                <a:latin typeface="黑体" panose="02010609060101010101" pitchFamily="2" charset="-122"/>
                <a:ea typeface="黑体" panose="02010609060101010101" pitchFamily="2" charset="-122"/>
                <a:cs typeface="黑体" panose="02010609060101010101" pitchFamily="2" charset="-122"/>
              </a:rPr>
              <a:t>章  基础金融资产</a:t>
            </a:r>
          </a:p>
        </p:txBody>
      </p:sp>
      <p:pic>
        <p:nvPicPr>
          <p:cNvPr id="5" name="图片 4">
            <a:extLst>
              <a:ext uri="{FF2B5EF4-FFF2-40B4-BE49-F238E27FC236}">
                <a16:creationId xmlns:a16="http://schemas.microsoft.com/office/drawing/2014/main" id="{A6CB4273-7655-4BC2-BF7D-69A29A49AF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61006" y="3695049"/>
            <a:ext cx="2304256" cy="2986290"/>
          </a:xfrm>
          <a:prstGeom prst="rect">
            <a:avLst/>
          </a:prstGeom>
        </p:spPr>
      </p:pic>
      <p:sp>
        <p:nvSpPr>
          <p:cNvPr id="6" name="矩形 5">
            <a:extLst>
              <a:ext uri="{FF2B5EF4-FFF2-40B4-BE49-F238E27FC236}">
                <a16:creationId xmlns:a16="http://schemas.microsoft.com/office/drawing/2014/main" id="{7248D528-2F6D-426B-9429-FBD3AA6A15BA}"/>
              </a:ext>
            </a:extLst>
          </p:cNvPr>
          <p:cNvSpPr/>
          <p:nvPr/>
        </p:nvSpPr>
        <p:spPr>
          <a:xfrm>
            <a:off x="2411760" y="4547117"/>
            <a:ext cx="2992593" cy="923330"/>
          </a:xfrm>
          <a:prstGeom prst="rect">
            <a:avLst/>
          </a:prstGeom>
        </p:spPr>
        <p:txBody>
          <a:bodyPr wrap="square">
            <a:spAutoFit/>
          </a:bodyPr>
          <a:lstStyle/>
          <a:p>
            <a:pPr eaLnBrk="1" hangingPunct="1"/>
            <a:r>
              <a:rPr lang="zh-CN" altLang="en-US" dirty="0"/>
              <a:t>配套教材</a:t>
            </a:r>
            <a:endParaRPr lang="en-US" altLang="zh-CN" dirty="0"/>
          </a:p>
          <a:p>
            <a:pPr eaLnBrk="1" hangingPunct="1"/>
            <a:r>
              <a:rPr lang="zh-CN" altLang="en-US" dirty="0"/>
              <a:t>纸质版：天猫、京东</a:t>
            </a:r>
            <a:endParaRPr lang="en-US" altLang="zh-CN" dirty="0"/>
          </a:p>
          <a:p>
            <a:pPr eaLnBrk="1" hangingPunct="1"/>
            <a:r>
              <a:rPr lang="zh-CN" altLang="en-US" dirty="0"/>
              <a:t>电子版及教辅：文泉学堂</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099" name="Rectangle 3"/>
          <p:cNvSpPr>
            <a:spLocks noGrp="1" noChangeArrowheads="1"/>
          </p:cNvSpPr>
          <p:nvPr>
            <p:ph idx="1"/>
          </p:nvPr>
        </p:nvSpPr>
        <p:spPr/>
        <p:txBody>
          <a:bodyPr/>
          <a:lstStyle/>
          <a:p>
            <a:pPr eaLnBrk="1" hangingPunct="1"/>
            <a:r>
              <a:rPr lang="zh-CN" altLang="en-US" sz="2600" b="0">
                <a:solidFill>
                  <a:schemeClr val="hlink"/>
                </a:solidFill>
                <a:latin typeface="黑体" panose="02010609060101010101" pitchFamily="2" charset="-122"/>
                <a:ea typeface="黑体" panose="02010609060101010101" pitchFamily="2" charset="-122"/>
              </a:rPr>
              <a:t>当您的钱越来越多的时候，您会选择消费还是投资呢？</a:t>
            </a:r>
          </a:p>
          <a:p>
            <a:pPr marL="0" indent="0" eaLnBrk="1" hangingPunct="1">
              <a:lnSpc>
                <a:spcPct val="140000"/>
              </a:lnSpc>
              <a:buNone/>
            </a:pPr>
            <a:r>
              <a:rPr lang="zh-CN" altLang="en-US" sz="2400" b="1">
                <a:latin typeface="楷体_GB2312" panose="02010609030101010101" pitchFamily="49" charset="-122"/>
                <a:ea typeface="楷体_GB2312" panose="02010609030101010101" pitchFamily="49" charset="-122"/>
                <a:cs typeface="+mn-ea"/>
              </a:rPr>
              <a:t>是买企业、买房？还是买证券？</a:t>
            </a:r>
            <a:endParaRPr lang="zh-CN" altLang="en-US" sz="2400" b="0">
              <a:latin typeface="隶书" panose="02010509060101010101" pitchFamily="49" charset="-122"/>
              <a:ea typeface="隶书" panose="02010509060101010101" pitchFamily="49" charset="-122"/>
            </a:endParaRPr>
          </a:p>
          <a:p>
            <a:pPr marL="0" indent="0" eaLnBrk="1" hangingPunct="1">
              <a:lnSpc>
                <a:spcPct val="140000"/>
              </a:lnSpc>
              <a:buNone/>
            </a:pPr>
            <a:r>
              <a:rPr lang="zh-CN" altLang="en-US" sz="2400" b="1">
                <a:latin typeface="楷体_GB2312" panose="02010609030101010101" pitchFamily="49" charset="-122"/>
                <a:ea typeface="楷体_GB2312" panose="02010609030101010101" pitchFamily="49" charset="-122"/>
                <a:cs typeface="+mn-ea"/>
              </a:rPr>
              <a:t>买证券是买股票还是买债券？</a:t>
            </a:r>
            <a:endParaRPr lang="zh-CN" altLang="en-US" sz="2400" b="0">
              <a:latin typeface="隶书" panose="02010509060101010101" pitchFamily="49" charset="-122"/>
              <a:ea typeface="隶书" panose="02010509060101010101" pitchFamily="49" charset="-122"/>
            </a:endParaRPr>
          </a:p>
          <a:p>
            <a:pPr marL="0" indent="0" eaLnBrk="1" hangingPunct="1">
              <a:lnSpc>
                <a:spcPct val="140000"/>
              </a:lnSpc>
              <a:buNone/>
            </a:pPr>
            <a:r>
              <a:rPr lang="zh-CN" altLang="en-US" sz="2400" b="1">
                <a:latin typeface="楷体_GB2312" panose="02010609030101010101" pitchFamily="49" charset="-122"/>
                <a:ea typeface="楷体_GB2312" panose="02010609030101010101" pitchFamily="49" charset="-122"/>
                <a:cs typeface="+mn-ea"/>
              </a:rPr>
              <a:t>买证券是长期持有还是准备随时出售？</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noChangeArrowheads="1"/>
          </p:cNvSpPr>
          <p:nvPr>
            <p:ph type="title"/>
          </p:nvPr>
        </p:nvSpPr>
        <p:spPr/>
        <p:txBody>
          <a:bodyPr/>
          <a:lstStyle/>
          <a:p>
            <a:r>
              <a:rPr lang="zh-CN" altLang="en-US" sz="4000"/>
              <a:t>浦发银行</a:t>
            </a:r>
            <a:r>
              <a:rPr lang="en-US" altLang="zh-CN" sz="4000">
                <a:latin typeface="Times New Roman" panose="02020603050405020304" pitchFamily="18" charset="0"/>
                <a:cs typeface="Times New Roman" panose="02020603050405020304" pitchFamily="18" charset="0"/>
              </a:rPr>
              <a:t>2014-2019</a:t>
            </a:r>
            <a:r>
              <a:rPr lang="zh-CN" altLang="en-US" sz="4000"/>
              <a:t>年报表选摘</a:t>
            </a:r>
          </a:p>
        </p:txBody>
      </p:sp>
      <p:graphicFrame>
        <p:nvGraphicFramePr>
          <p:cNvPr id="4" name="内容占位符 3"/>
          <p:cNvGraphicFramePr>
            <a:graphicFrameLocks noGrp="1"/>
          </p:cNvGraphicFramePr>
          <p:nvPr>
            <p:ph idx="1"/>
            <p:custDataLst>
              <p:tags r:id="rId1"/>
            </p:custDataLst>
          </p:nvPr>
        </p:nvGraphicFramePr>
        <p:xfrm>
          <a:off x="1182688" y="2017713"/>
          <a:ext cx="7772400" cy="4359695"/>
        </p:xfrm>
        <a:graphic>
          <a:graphicData uri="http://schemas.openxmlformats.org/drawingml/2006/table">
            <a:tbl>
              <a:tblPr/>
              <a:tblGrid>
                <a:gridCol w="2590800">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64235">
                  <a:extLst>
                    <a:ext uri="{9D8B030D-6E8A-4147-A177-3AD203B41FA5}">
                      <a16:colId xmlns:a16="http://schemas.microsoft.com/office/drawing/2014/main" val="20003"/>
                    </a:ext>
                  </a:extLst>
                </a:gridCol>
                <a:gridCol w="862965">
                  <a:extLst>
                    <a:ext uri="{9D8B030D-6E8A-4147-A177-3AD203B41FA5}">
                      <a16:colId xmlns:a16="http://schemas.microsoft.com/office/drawing/2014/main" val="20004"/>
                    </a:ext>
                  </a:extLst>
                </a:gridCol>
                <a:gridCol w="864235">
                  <a:extLst>
                    <a:ext uri="{9D8B030D-6E8A-4147-A177-3AD203B41FA5}">
                      <a16:colId xmlns:a16="http://schemas.microsoft.com/office/drawing/2014/main" val="20005"/>
                    </a:ext>
                  </a:extLst>
                </a:gridCol>
                <a:gridCol w="862965">
                  <a:extLst>
                    <a:ext uri="{9D8B030D-6E8A-4147-A177-3AD203B41FA5}">
                      <a16:colId xmlns:a16="http://schemas.microsoft.com/office/drawing/2014/main" val="20006"/>
                    </a:ext>
                  </a:extLst>
                </a:gridCol>
              </a:tblGrid>
              <a:tr h="497840">
                <a:tc gridSpan="7">
                  <a:txBody>
                    <a:bodyPr/>
                    <a:lstStyle/>
                    <a:p>
                      <a:pPr algn="l" fontAlgn="ctr"/>
                      <a:r>
                        <a:rPr lang="zh-CN" altLang="en-US" sz="1800" b="1" i="0" u="none" strike="noStrike" dirty="0">
                          <a:solidFill>
                            <a:srgbClr val="000000"/>
                          </a:solidFill>
                          <a:effectLst/>
                          <a:latin typeface="+mn-ea"/>
                          <a:ea typeface="+mn-ea"/>
                        </a:rPr>
                        <a:t>资产负债表</a:t>
                      </a:r>
                      <a:r>
                        <a:rPr lang="en-US" altLang="zh-CN" sz="1800" b="1" i="0" u="none" strike="noStrike" dirty="0">
                          <a:solidFill>
                            <a:srgbClr val="000000"/>
                          </a:solidFill>
                          <a:effectLst/>
                          <a:latin typeface="+mn-ea"/>
                          <a:ea typeface="+mn-ea"/>
                        </a:rPr>
                        <a:t>(</a:t>
                      </a:r>
                      <a:r>
                        <a:rPr lang="zh-CN" altLang="en-US" sz="1800" b="1" i="0" u="none" strike="noStrike" dirty="0">
                          <a:solidFill>
                            <a:srgbClr val="000000"/>
                          </a:solidFill>
                          <a:effectLst/>
                          <a:latin typeface="+mn-ea"/>
                          <a:ea typeface="+mn-ea"/>
                        </a:rPr>
                        <a:t>证券代码：</a:t>
                      </a:r>
                      <a:r>
                        <a:rPr lang="en-US" altLang="zh-CN" sz="1800" b="1" i="0" u="none" strike="noStrike" dirty="0">
                          <a:solidFill>
                            <a:srgbClr val="000000"/>
                          </a:solidFill>
                          <a:effectLst/>
                          <a:latin typeface="Times New Roman" panose="02020603050405020304" pitchFamily="18" charset="0"/>
                          <a:ea typeface="+mn-ea"/>
                          <a:cs typeface="Times New Roman" panose="02020603050405020304" pitchFamily="18" charset="0"/>
                        </a:rPr>
                        <a:t>600000.SH</a:t>
                      </a:r>
                      <a:r>
                        <a:rPr lang="en-US" altLang="zh-CN" sz="1800" b="1" i="0" u="none" strike="noStrike" dirty="0">
                          <a:solidFill>
                            <a:srgbClr val="000000"/>
                          </a:solidFill>
                          <a:effectLst/>
                          <a:latin typeface="+mn-ea"/>
                          <a:ea typeface="+mn-ea"/>
                        </a:rPr>
                        <a:t> </a:t>
                      </a:r>
                      <a:r>
                        <a:rPr lang="zh-CN" altLang="en-US" sz="1800" b="1" i="0" u="none" strike="noStrike" dirty="0">
                          <a:solidFill>
                            <a:srgbClr val="000000"/>
                          </a:solidFill>
                          <a:effectLst/>
                          <a:latin typeface="+mn-ea"/>
                          <a:ea typeface="+mn-ea"/>
                        </a:rPr>
                        <a:t>名称：浦发银行</a:t>
                      </a:r>
                      <a:r>
                        <a:rPr lang="en-US" altLang="zh-CN" sz="1800" b="1" i="0" u="none" strike="noStrike" dirty="0">
                          <a:solidFill>
                            <a:srgbClr val="000000"/>
                          </a:solidFill>
                          <a:effectLst/>
                          <a:latin typeface="+mn-ea"/>
                          <a:ea typeface="+mn-ea"/>
                        </a:rPr>
                        <a:t>)</a:t>
                      </a:r>
                      <a:r>
                        <a:rPr lang="zh-CN" altLang="en-US" sz="1800" b="0" i="0" u="none" strike="noStrike" dirty="0">
                          <a:solidFill>
                            <a:srgbClr val="000000"/>
                          </a:solidFill>
                          <a:effectLst/>
                          <a:latin typeface="+mn-ea"/>
                          <a:ea typeface="+mn-ea"/>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8130">
                <a:tc>
                  <a:txBody>
                    <a:bodyPr/>
                    <a:lstStyle/>
                    <a:p>
                      <a:pPr algn="l" fontAlgn="ctr"/>
                      <a:r>
                        <a:rPr lang="zh-CN" altLang="en-US" sz="1800" b="1" i="0" u="none" strike="noStrike">
                          <a:solidFill>
                            <a:srgbClr val="000000"/>
                          </a:solidFill>
                          <a:effectLst/>
                          <a:latin typeface="+mn-ea"/>
                          <a:ea typeface="+mn-ea"/>
                        </a:rPr>
                        <a:t>（单位：亿元，</a:t>
                      </a:r>
                      <a:r>
                        <a:rPr lang="en-US" altLang="zh-CN" sz="1800" b="1" i="0" u="none" strike="noStrike">
                          <a:solidFill>
                            <a:srgbClr val="000000"/>
                          </a:solidFill>
                          <a:effectLst/>
                          <a:latin typeface="Times New Roman" panose="02020603050405020304" pitchFamily="18" charset="0"/>
                          <a:ea typeface="+mn-ea"/>
                          <a:cs typeface="Times New Roman" panose="02020603050405020304" pitchFamily="18" charset="0"/>
                        </a:rPr>
                        <a:t>CNY</a:t>
                      </a:r>
                      <a:r>
                        <a:rPr lang="zh-CN" altLang="en-US" sz="1800" b="1" i="0" u="none" strike="noStrike">
                          <a:solidFill>
                            <a:srgbClr val="000000"/>
                          </a:solidFill>
                          <a:effectLst/>
                          <a:latin typeface="+mn-ea"/>
                          <a:ea typeface="+mn-ea"/>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800" b="0" i="0" u="none" strike="noStrike">
                          <a:solidFill>
                            <a:srgbClr val="000000"/>
                          </a:solidFill>
                          <a:effectLst/>
                          <a:latin typeface="宋体" panose="02010600030101010101" pitchFamily="2" charset="-122"/>
                          <a:ea typeface="宋体" panose="02010600030101010101" pitchFamily="2" charset="-122"/>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800" b="0" i="0" u="none" strike="noStrike">
                          <a:solidFill>
                            <a:srgbClr val="000000"/>
                          </a:solidFill>
                          <a:effectLst/>
                          <a:latin typeface="宋体" panose="02010600030101010101" pitchFamily="2" charset="-122"/>
                          <a:ea typeface="宋体" panose="02010600030101010101" pitchFamily="2" charset="-122"/>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800" b="0" i="0" u="none" strike="noStrike">
                          <a:solidFill>
                            <a:srgbClr val="000000"/>
                          </a:solidFill>
                          <a:effectLst/>
                          <a:latin typeface="宋体" panose="02010600030101010101" pitchFamily="2" charset="-122"/>
                          <a:ea typeface="宋体" panose="02010600030101010101" pitchFamily="2" charset="-122"/>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800" b="0" i="0" u="none" strike="noStrike">
                          <a:solidFill>
                            <a:srgbClr val="000000"/>
                          </a:solidFill>
                          <a:effectLst/>
                          <a:latin typeface="宋体" panose="02010600030101010101" pitchFamily="2" charset="-122"/>
                          <a:ea typeface="宋体" panose="02010600030101010101" pitchFamily="2" charset="-122"/>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800" b="0" i="0" u="none" strike="noStrike">
                          <a:solidFill>
                            <a:srgbClr val="000000"/>
                          </a:solidFill>
                          <a:effectLst/>
                          <a:latin typeface="宋体" panose="02010600030101010101" pitchFamily="2" charset="-122"/>
                          <a:ea typeface="宋体" panose="02010600030101010101" pitchFamily="2" charset="-122"/>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800" b="0" i="0" u="none" strike="noStrike">
                          <a:solidFill>
                            <a:srgbClr val="000000"/>
                          </a:solidFill>
                          <a:effectLst/>
                          <a:latin typeface="宋体" panose="02010600030101010101" pitchFamily="2" charset="-122"/>
                          <a:ea typeface="宋体" panose="02010600030101010101" pitchFamily="2" charset="-122"/>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30530">
                <a:tc>
                  <a:txBody>
                    <a:bodyPr/>
                    <a:lstStyle/>
                    <a:p>
                      <a:pPr algn="l" fontAlgn="ctr"/>
                      <a:r>
                        <a:rPr lang="zh-CN" altLang="en-US" sz="1400" b="1" i="0" u="none" strike="noStrike">
                          <a:solidFill>
                            <a:srgbClr val="000000"/>
                          </a:solidFill>
                          <a:effectLst/>
                          <a:latin typeface="+mn-ea"/>
                          <a:ea typeface="+mn-ea"/>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1"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2019</a:t>
                      </a:r>
                      <a:r>
                        <a:rPr lang="en-US" altLang="zh-CN" sz="1400" b="1" i="0" u="none" strike="noStrike">
                          <a:solidFill>
                            <a:srgbClr val="000000"/>
                          </a:solidFill>
                          <a:effectLst/>
                          <a:latin typeface="Arial" panose="020B0604020202020204" pitchFamily="34" charset="0"/>
                          <a:ea typeface="宋体" panose="02010600030101010101" pitchFamily="2" charset="-122"/>
                        </a:rPr>
                        <a:t> </a:t>
                      </a:r>
                      <a:r>
                        <a:rPr lang="zh-CN" altLang="en-US" sz="1400" b="1" i="0" u="none" strike="noStrike">
                          <a:solidFill>
                            <a:srgbClr val="000000"/>
                          </a:solidFill>
                          <a:effectLst/>
                          <a:latin typeface="Arial" panose="020B0604020202020204" pitchFamily="34" charset="0"/>
                          <a:ea typeface="宋体" panose="02010600030101010101" pitchFamily="2" charset="-122"/>
                        </a:rPr>
                        <a:t>三季报</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1"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2018</a:t>
                      </a:r>
                      <a:r>
                        <a:rPr lang="en-US" altLang="zh-CN" sz="1400" b="1" i="0" u="none" strike="noStrike">
                          <a:solidFill>
                            <a:srgbClr val="000000"/>
                          </a:solidFill>
                          <a:effectLst/>
                          <a:latin typeface="Arial" panose="020B0604020202020204" pitchFamily="34" charset="0"/>
                          <a:ea typeface="宋体" panose="02010600030101010101" pitchFamily="2" charset="-122"/>
                        </a:rPr>
                        <a:t> </a:t>
                      </a:r>
                      <a:r>
                        <a:rPr lang="zh-CN" altLang="en-US" sz="1400" b="1" i="0" u="none" strike="noStrike">
                          <a:solidFill>
                            <a:srgbClr val="000000"/>
                          </a:solidFill>
                          <a:effectLst/>
                          <a:latin typeface="Arial" panose="020B0604020202020204" pitchFamily="34" charset="0"/>
                          <a:ea typeface="宋体" panose="02010600030101010101" pitchFamily="2" charset="-122"/>
                        </a:rPr>
                        <a:t>年报</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1"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2017</a:t>
                      </a:r>
                      <a:r>
                        <a:rPr lang="en-US" altLang="zh-CN" sz="1400" b="1" i="0" u="none" strike="noStrike">
                          <a:solidFill>
                            <a:srgbClr val="000000"/>
                          </a:solidFill>
                          <a:effectLst/>
                          <a:latin typeface="Arial" panose="020B0604020202020204" pitchFamily="34" charset="0"/>
                          <a:ea typeface="宋体" panose="02010600030101010101" pitchFamily="2" charset="-122"/>
                        </a:rPr>
                        <a:t> </a:t>
                      </a:r>
                      <a:r>
                        <a:rPr lang="zh-CN" altLang="en-US" sz="1400" b="1" i="0" u="none" strike="noStrike">
                          <a:solidFill>
                            <a:srgbClr val="000000"/>
                          </a:solidFill>
                          <a:effectLst/>
                          <a:latin typeface="Arial" panose="020B0604020202020204" pitchFamily="34" charset="0"/>
                          <a:ea typeface="宋体" panose="02010600030101010101" pitchFamily="2" charset="-122"/>
                        </a:rPr>
                        <a:t>年报</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1"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2016 </a:t>
                      </a:r>
                      <a:r>
                        <a:rPr lang="zh-CN" altLang="en-US" sz="1400" b="1" i="0" u="none" strike="noStrike" dirty="0">
                          <a:solidFill>
                            <a:srgbClr val="000000"/>
                          </a:solidFill>
                          <a:effectLst/>
                          <a:latin typeface="Arial" panose="020B0604020202020204" pitchFamily="34" charset="0"/>
                          <a:ea typeface="宋体" panose="02010600030101010101" pitchFamily="2" charset="-122"/>
                        </a:rPr>
                        <a:t>年报</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1"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2015 </a:t>
                      </a:r>
                      <a:r>
                        <a:rPr lang="zh-CN" altLang="en-US" sz="1400" b="1" i="0" u="none" strike="noStrike">
                          <a:solidFill>
                            <a:srgbClr val="000000"/>
                          </a:solidFill>
                          <a:effectLst/>
                          <a:latin typeface="Arial" panose="020B0604020202020204" pitchFamily="34" charset="0"/>
                          <a:ea typeface="宋体" panose="02010600030101010101" pitchFamily="2" charset="-122"/>
                        </a:rPr>
                        <a:t>年报</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1"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2014</a:t>
                      </a:r>
                      <a:r>
                        <a:rPr lang="en-US" altLang="zh-CN" sz="1400" b="1" i="0" u="none" strike="noStrike">
                          <a:solidFill>
                            <a:srgbClr val="000000"/>
                          </a:solidFill>
                          <a:effectLst/>
                          <a:latin typeface="Arial" panose="020B0604020202020204" pitchFamily="34" charset="0"/>
                          <a:ea typeface="宋体" panose="02010600030101010101" pitchFamily="2" charset="-122"/>
                        </a:rPr>
                        <a:t> </a:t>
                      </a:r>
                      <a:r>
                        <a:rPr lang="zh-CN" altLang="en-US" sz="1400" b="1" i="0" u="none" strike="noStrike">
                          <a:solidFill>
                            <a:srgbClr val="000000"/>
                          </a:solidFill>
                          <a:effectLst/>
                          <a:latin typeface="Arial" panose="020B0604020202020204" pitchFamily="34" charset="0"/>
                          <a:ea typeface="宋体" panose="02010600030101010101" pitchFamily="2" charset="-122"/>
                        </a:rPr>
                        <a:t>年报</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2755">
                <a:tc>
                  <a:txBody>
                    <a:bodyPr/>
                    <a:lstStyle/>
                    <a:p>
                      <a:pPr algn="l" fontAlgn="ctr"/>
                      <a:r>
                        <a:rPr lang="zh-CN" altLang="en-US" sz="1400" b="0" i="0" u="none" strike="noStrike">
                          <a:solidFill>
                            <a:srgbClr val="000000"/>
                          </a:solidFill>
                          <a:effectLst/>
                          <a:latin typeface="+mn-ea"/>
                          <a:ea typeface="+mn-ea"/>
                        </a:rPr>
                        <a:t>上市前</a:t>
                      </a:r>
                      <a:r>
                        <a:rPr lang="en-US" altLang="zh-CN" sz="1400" b="0" i="0" u="none" strike="noStrike">
                          <a:solidFill>
                            <a:srgbClr val="000000"/>
                          </a:solidFill>
                          <a:effectLst/>
                          <a:latin typeface="+mn-ea"/>
                          <a:ea typeface="+mn-ea"/>
                        </a:rPr>
                        <a:t>/</a:t>
                      </a:r>
                      <a:r>
                        <a:rPr lang="zh-CN" altLang="en-US" sz="1400" b="0" i="0" u="none" strike="noStrike">
                          <a:solidFill>
                            <a:srgbClr val="000000"/>
                          </a:solidFill>
                          <a:effectLst/>
                          <a:latin typeface="+mn-ea"/>
                          <a:ea typeface="+mn-ea"/>
                        </a:rPr>
                        <a:t>上市后</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上市后</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上市后</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上市后</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上市后</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上市后</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上市后</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62755">
                <a:tc>
                  <a:txBody>
                    <a:bodyPr/>
                    <a:lstStyle/>
                    <a:p>
                      <a:pPr algn="l" fontAlgn="ctr"/>
                      <a:r>
                        <a:rPr lang="zh-CN" altLang="en-US" sz="1400" b="0" i="0" u="none" strike="noStrike">
                          <a:solidFill>
                            <a:srgbClr val="000000"/>
                          </a:solidFill>
                          <a:effectLst/>
                          <a:latin typeface="+mn-ea"/>
                          <a:ea typeface="+mn-ea"/>
                        </a:rPr>
                        <a:t>报表格式</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商业银行</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商业银行</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商业银行</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商业银行</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商业银行</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商业银行</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62755">
                <a:tc>
                  <a:txBody>
                    <a:bodyPr/>
                    <a:lstStyle/>
                    <a:p>
                      <a:pPr algn="l" fontAlgn="ctr"/>
                      <a:r>
                        <a:rPr lang="zh-CN" altLang="en-US" sz="1400" b="0" i="0" u="none" strike="noStrike">
                          <a:solidFill>
                            <a:srgbClr val="000000"/>
                          </a:solidFill>
                          <a:effectLst/>
                          <a:latin typeface="+mn-ea"/>
                          <a:ea typeface="+mn-ea"/>
                        </a:rPr>
                        <a:t>报表类型</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合并</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合并</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合并</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合并</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合并</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Arial" panose="020B0604020202020204" pitchFamily="34" charset="0"/>
                          <a:ea typeface="宋体" panose="02010600030101010101" pitchFamily="2" charset="-122"/>
                        </a:rPr>
                        <a:t>合并</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62755">
                <a:tc>
                  <a:txBody>
                    <a:bodyPr/>
                    <a:lstStyle/>
                    <a:p>
                      <a:pPr algn="l" fontAlgn="ctr"/>
                      <a:r>
                        <a:rPr lang="zh-CN" altLang="en-US" sz="1400" b="1" i="0" u="none" strike="noStrike">
                          <a:solidFill>
                            <a:srgbClr val="000000"/>
                          </a:solidFill>
                          <a:effectLst/>
                          <a:latin typeface="+mn-ea"/>
                          <a:ea typeface="+mn-ea"/>
                        </a:rPr>
                        <a:t>资产：</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1" i="0" u="none" strike="noStrike">
                          <a:solidFill>
                            <a:srgbClr val="000000"/>
                          </a:solidFill>
                          <a:effectLst/>
                          <a:latin typeface="Times New Roman" panose="02020603050405020304" pitchFamily="18" charset="0"/>
                          <a:ea typeface="宋体" panose="02010600030101010101" pitchFamily="2" charset="-122"/>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1" i="0" u="none" strike="noStrike">
                          <a:solidFill>
                            <a:srgbClr val="000000"/>
                          </a:solidFill>
                          <a:effectLst/>
                          <a:latin typeface="Times New Roman" panose="02020603050405020304" pitchFamily="18" charset="0"/>
                          <a:ea typeface="宋体" panose="02010600030101010101" pitchFamily="2" charset="-122"/>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1" i="0" u="none" strike="noStrike">
                          <a:solidFill>
                            <a:srgbClr val="000000"/>
                          </a:solidFill>
                          <a:effectLst/>
                          <a:latin typeface="Times New Roman" panose="02020603050405020304" pitchFamily="18" charset="0"/>
                          <a:ea typeface="宋体" panose="02010600030101010101" pitchFamily="2" charset="-122"/>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1" i="0" u="none" strike="noStrike">
                          <a:solidFill>
                            <a:srgbClr val="000000"/>
                          </a:solidFill>
                          <a:effectLst/>
                          <a:latin typeface="Times New Roman" panose="02020603050405020304" pitchFamily="18" charset="0"/>
                          <a:ea typeface="宋体" panose="02010600030101010101" pitchFamily="2" charset="-122"/>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1" i="0" u="none" strike="noStrike">
                          <a:solidFill>
                            <a:srgbClr val="000000"/>
                          </a:solidFill>
                          <a:effectLst/>
                          <a:latin typeface="Times New Roman" panose="02020603050405020304" pitchFamily="18" charset="0"/>
                          <a:ea typeface="宋体" panose="02010600030101010101" pitchFamily="2" charset="-122"/>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1" i="0" u="none" strike="noStrike">
                          <a:solidFill>
                            <a:srgbClr val="000000"/>
                          </a:solidFill>
                          <a:effectLst/>
                          <a:latin typeface="Times New Roman" panose="02020603050405020304" pitchFamily="18" charset="0"/>
                          <a:ea typeface="宋体" panose="02010600030101010101" pitchFamily="2" charset="-122"/>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62755">
                <a:tc>
                  <a:txBody>
                    <a:bodyPr/>
                    <a:lstStyle/>
                    <a:p>
                      <a:pPr algn="l" fontAlgn="ctr"/>
                      <a:r>
                        <a:rPr lang="zh-CN" altLang="en-US" sz="1400" b="1" i="0" u="none" strike="noStrike">
                          <a:solidFill>
                            <a:srgbClr val="000000"/>
                          </a:solidFill>
                          <a:effectLst/>
                          <a:latin typeface="+mn-ea"/>
                          <a:ea typeface="+mn-ea"/>
                        </a:rPr>
                        <a:t>        交易性金融资产</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1"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4 592.39</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1"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3 956.68</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1 628.66</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1 772.03</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637.46</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328.41</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62755">
                <a:tc>
                  <a:txBody>
                    <a:bodyPr/>
                    <a:lstStyle/>
                    <a:p>
                      <a:pPr algn="l" fontAlgn="ctr"/>
                      <a:r>
                        <a:rPr lang="zh-CN" altLang="en-US" sz="1400" b="1" i="0" u="none" strike="noStrike">
                          <a:solidFill>
                            <a:srgbClr val="000000"/>
                          </a:solidFill>
                          <a:effectLst/>
                          <a:latin typeface="+mn-ea"/>
                          <a:ea typeface="+mn-ea"/>
                        </a:rPr>
                        <a:t>        债权投资</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1"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10 690.65</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1"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11 442.49</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62755">
                <a:tc>
                  <a:txBody>
                    <a:bodyPr/>
                    <a:lstStyle/>
                    <a:p>
                      <a:pPr algn="l" fontAlgn="ctr"/>
                      <a:r>
                        <a:rPr lang="zh-CN" altLang="en-US" sz="1400" b="1" i="0" u="none" strike="noStrike">
                          <a:solidFill>
                            <a:srgbClr val="000000"/>
                          </a:solidFill>
                          <a:effectLst/>
                          <a:latin typeface="+mn-ea"/>
                          <a:ea typeface="+mn-ea"/>
                        </a:rPr>
                        <a:t>        其他债权投资</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1"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4 651.52</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1"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3 788.60</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62890">
                <a:tc>
                  <a:txBody>
                    <a:bodyPr/>
                    <a:lstStyle/>
                    <a:p>
                      <a:pPr algn="l" fontAlgn="ctr"/>
                      <a:r>
                        <a:rPr lang="zh-CN" altLang="en-US" sz="1400" b="1" i="0" u="none" strike="noStrike">
                          <a:solidFill>
                            <a:srgbClr val="000000"/>
                          </a:solidFill>
                          <a:effectLst/>
                          <a:latin typeface="+mn-ea"/>
                          <a:ea typeface="+mn-ea"/>
                        </a:rPr>
                        <a:t>        其他权益工具投资</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1"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46.54</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1"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40.38</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62755">
                <a:tc>
                  <a:txBody>
                    <a:bodyPr/>
                    <a:lstStyle/>
                    <a:p>
                      <a:pPr algn="l" fontAlgn="ctr"/>
                      <a:r>
                        <a:rPr lang="zh-CN" altLang="en-US" sz="1400" b="0" i="0" u="none" strike="noStrike" dirty="0">
                          <a:solidFill>
                            <a:schemeClr val="tx1"/>
                          </a:solidFill>
                          <a:effectLst/>
                          <a:latin typeface="+mn-ea"/>
                          <a:ea typeface="+mn-ea"/>
                        </a:rPr>
                        <a:t>        长期股权投资</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20.89</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19.68</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10.06</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9.49</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15.99</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14.75</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62755">
                <a:tc>
                  <a:txBody>
                    <a:bodyPr/>
                    <a:lstStyle/>
                    <a:p>
                      <a:pPr algn="l" fontAlgn="ctr"/>
                      <a:r>
                        <a:rPr lang="zh-CN" altLang="en-US" sz="1400" b="0" i="0" u="none" strike="noStrike" dirty="0">
                          <a:solidFill>
                            <a:srgbClr val="000000"/>
                          </a:solidFill>
                          <a:effectLst/>
                          <a:latin typeface="+mn-ea"/>
                          <a:ea typeface="+mn-ea"/>
                        </a:rPr>
                        <a:t>        可供出售金融资产</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6 645.08</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6 204.63</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2 548.46</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2 222.08</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62755">
                <a:tc>
                  <a:txBody>
                    <a:bodyPr/>
                    <a:lstStyle/>
                    <a:p>
                      <a:pPr algn="l" fontAlgn="ctr"/>
                      <a:r>
                        <a:rPr lang="zh-CN" altLang="en-US" sz="1400" b="0" i="0" u="none" strike="noStrike">
                          <a:solidFill>
                            <a:srgbClr val="000000"/>
                          </a:solidFill>
                          <a:effectLst/>
                          <a:latin typeface="+mn-ea"/>
                          <a:ea typeface="+mn-ea"/>
                        </a:rPr>
                        <a:t>        持有至到期投资</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4 447.26</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3 269.50</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2 397.03</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1 216.98</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62755">
                <a:tc>
                  <a:txBody>
                    <a:bodyPr/>
                    <a:lstStyle/>
                    <a:p>
                      <a:pPr algn="l" fontAlgn="ctr"/>
                      <a:r>
                        <a:rPr lang="zh-CN" altLang="en-US" sz="1400" b="0" i="0" u="none" strike="noStrike" dirty="0">
                          <a:solidFill>
                            <a:srgbClr val="000000"/>
                          </a:solidFill>
                          <a:effectLst/>
                          <a:latin typeface="+mn-ea"/>
                          <a:ea typeface="+mn-ea"/>
                        </a:rPr>
                        <a:t>        应收款项类投资</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8 325.98</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10 104.72</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13 250.32</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4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358265" y="3429635"/>
            <a:ext cx="6426835" cy="1083945"/>
          </a:xfrm>
        </p:spPr>
        <p:txBody>
          <a:bodyPr/>
          <a:lstStyle/>
          <a:p>
            <a:pPr eaLnBrk="1" hangingPunct="1"/>
            <a:r>
              <a:rPr lang="zh-CN" altLang="en-US" dirty="0">
                <a:effectLst>
                  <a:outerShdw blurRad="38100" dist="38100" dir="2700000" algn="tl">
                    <a:srgbClr val="C0C0C0"/>
                  </a:outerShdw>
                </a:effectLst>
                <a:latin typeface="黑体" panose="02010609060101010101" pitchFamily="2" charset="-122"/>
                <a:sym typeface="+mn-ea"/>
              </a:rPr>
              <a:t>一、基础</a:t>
            </a:r>
            <a:r>
              <a:rPr lang="zh-CN" altLang="zh-CN" dirty="0">
                <a:sym typeface="+mn-ea"/>
              </a:rPr>
              <a:t>金融资产的概述</a:t>
            </a:r>
            <a:br>
              <a:rPr lang="zh-CN" altLang="en-US" b="1" dirty="0">
                <a:effectLst>
                  <a:outerShdw blurRad="38100" dist="38100" dir="2700000" algn="tl">
                    <a:srgbClr val="C0C0C0"/>
                  </a:outerShdw>
                </a:effectLst>
                <a:latin typeface="黑体" panose="02010609060101010101" pitchFamily="2" charset="-122"/>
              </a:rPr>
            </a:br>
            <a:endParaRPr lang="zh-CN"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28065" y="1417955"/>
            <a:ext cx="7569200" cy="1014730"/>
          </a:xfrm>
        </p:spPr>
        <p:txBody>
          <a:bodyPr/>
          <a:lstStyle/>
          <a:p>
            <a:r>
              <a:rPr lang="zh-CN" altLang="en-US" dirty="0">
                <a:effectLst>
                  <a:outerShdw blurRad="38100" dist="38100" dir="2700000" algn="tl">
                    <a:srgbClr val="C0C0C0"/>
                  </a:outerShdw>
                </a:effectLst>
                <a:latin typeface="黑体" panose="02010609060101010101" pitchFamily="2" charset="-122"/>
                <a:sym typeface="+mn-ea"/>
              </a:rPr>
              <a:t>一、基础</a:t>
            </a:r>
            <a:r>
              <a:rPr lang="zh-CN" altLang="zh-CN" dirty="0">
                <a:sym typeface="+mn-ea"/>
              </a:rPr>
              <a:t>金融资产的概述</a:t>
            </a:r>
            <a:br>
              <a:rPr lang="zh-CN" altLang="en-US" dirty="0">
                <a:effectLst>
                  <a:outerShdw blurRad="38100" dist="38100" dir="2700000" algn="tl">
                    <a:srgbClr val="C0C0C0"/>
                  </a:outerShdw>
                </a:effectLst>
                <a:latin typeface="黑体" panose="02010609060101010101" pitchFamily="2" charset="-122"/>
                <a:sym typeface="+mn-ea"/>
              </a:rPr>
            </a:br>
            <a:endParaRPr lang="zh-CN" altLang="en-US"/>
          </a:p>
        </p:txBody>
      </p:sp>
      <p:sp>
        <p:nvSpPr>
          <p:cNvPr id="19458" name="Rectangle 2"/>
          <p:cNvSpPr>
            <a:spLocks noGrp="1" noChangeArrowheads="1"/>
          </p:cNvSpPr>
          <p:nvPr>
            <p:ph idx="1"/>
          </p:nvPr>
        </p:nvSpPr>
        <p:spPr>
          <a:xfrm>
            <a:off x="748030" y="3233420"/>
            <a:ext cx="7772400" cy="2051685"/>
          </a:xfrm>
        </p:spPr>
        <p:txBody>
          <a:bodyPr/>
          <a:lstStyle/>
          <a:p>
            <a:pPr>
              <a:buFontTx/>
              <a:buNone/>
            </a:pPr>
            <a:r>
              <a:rPr lang="zh-CN" altLang="en-US" sz="2800" dirty="0">
                <a:latin typeface="黑体" panose="02010609060101010101" pitchFamily="2" charset="-122"/>
              </a:rPr>
              <a:t>    </a:t>
            </a:r>
            <a:r>
              <a:rPr lang="zh-CN" altLang="en-US" sz="2800" dirty="0">
                <a:solidFill>
                  <a:srgbClr val="3333FF"/>
                </a:solidFill>
                <a:latin typeface="黑体" panose="02010609060101010101" pitchFamily="2" charset="-122"/>
              </a:rPr>
              <a:t>甲公司：            乙公司：</a:t>
            </a:r>
          </a:p>
          <a:p>
            <a:pPr>
              <a:buFontTx/>
              <a:buNone/>
            </a:pPr>
            <a:endParaRPr lang="zh-CN" altLang="en-US" sz="2800" dirty="0">
              <a:solidFill>
                <a:srgbClr val="3333FF"/>
              </a:solidFill>
              <a:latin typeface="黑体" panose="02010609060101010101" pitchFamily="2" charset="-122"/>
            </a:endParaRPr>
          </a:p>
          <a:p>
            <a:pPr>
              <a:buFontTx/>
              <a:buNone/>
            </a:pPr>
            <a:r>
              <a:rPr lang="zh-CN" altLang="en-US" sz="2800" dirty="0">
                <a:latin typeface="黑体" panose="02010609060101010101" pitchFamily="2" charset="-122"/>
              </a:rPr>
              <a:t>   发行公司债券         债券投资</a:t>
            </a:r>
          </a:p>
          <a:p>
            <a:pPr>
              <a:buFontTx/>
              <a:buNone/>
            </a:pPr>
            <a:r>
              <a:rPr lang="zh-CN" altLang="en-US" sz="2800" dirty="0">
                <a:latin typeface="黑体" panose="02010609060101010101" pitchFamily="2" charset="-122"/>
              </a:rPr>
              <a:t>   </a:t>
            </a:r>
            <a:r>
              <a:rPr lang="zh-CN" altLang="en-US" sz="2800" dirty="0">
                <a:solidFill>
                  <a:srgbClr val="3333FF"/>
                </a:solidFill>
                <a:latin typeface="华文新魏" pitchFamily="2" charset="-122"/>
                <a:ea typeface="华文新魏" pitchFamily="2" charset="-122"/>
              </a:rPr>
              <a:t>（金融负债）       （金融资产）</a:t>
            </a:r>
          </a:p>
          <a:p>
            <a:pPr>
              <a:buFontTx/>
              <a:buNone/>
            </a:pPr>
            <a:r>
              <a:rPr lang="zh-CN" altLang="en-US" sz="2800" dirty="0">
                <a:latin typeface="黑体" panose="02010609060101010101" pitchFamily="2" charset="-122"/>
              </a:rPr>
              <a:t>   发行公司普通股       股权投资</a:t>
            </a:r>
          </a:p>
          <a:p>
            <a:pPr>
              <a:buFontTx/>
              <a:buNone/>
            </a:pPr>
            <a:r>
              <a:rPr lang="zh-CN" altLang="en-US" sz="2800" dirty="0">
                <a:solidFill>
                  <a:srgbClr val="FFFF00"/>
                </a:solidFill>
                <a:latin typeface="黑体" panose="02010609060101010101" pitchFamily="2" charset="-122"/>
              </a:rPr>
              <a:t>   </a:t>
            </a:r>
            <a:r>
              <a:rPr lang="zh-CN" altLang="en-US" sz="2800" dirty="0">
                <a:solidFill>
                  <a:srgbClr val="3333FF"/>
                </a:solidFill>
                <a:latin typeface="华文新魏" pitchFamily="2" charset="-122"/>
                <a:ea typeface="华文新魏" pitchFamily="2" charset="-122"/>
              </a:rPr>
              <a:t>（权益工具）        （金融资产）</a:t>
            </a:r>
          </a:p>
        </p:txBody>
      </p:sp>
      <p:sp>
        <p:nvSpPr>
          <p:cNvPr id="19459" name="AutoShape 3"/>
          <p:cNvSpPr>
            <a:spLocks noChangeArrowheads="1"/>
          </p:cNvSpPr>
          <p:nvPr/>
        </p:nvSpPr>
        <p:spPr bwMode="auto">
          <a:xfrm>
            <a:off x="2024380" y="3703320"/>
            <a:ext cx="226060" cy="500380"/>
          </a:xfrm>
          <a:prstGeom prst="downArrow">
            <a:avLst>
              <a:gd name="adj1" fmla="val 50000"/>
              <a:gd name="adj2" fmla="val 56250"/>
            </a:avLst>
          </a:prstGeom>
          <a:solidFill>
            <a:schemeClr val="accent1"/>
          </a:solidFill>
          <a:ln w="12700" cap="sq">
            <a:solidFill>
              <a:schemeClr val="tx1"/>
            </a:solidFill>
            <a:miter lim="800000"/>
          </a:ln>
          <a:effectLst/>
        </p:spPr>
        <p:txBody>
          <a:bodyPr wrap="none" anchor="ctr"/>
          <a:lstStyle/>
          <a:p>
            <a:endParaRPr lang="zh-CN" altLang="en-US"/>
          </a:p>
        </p:txBody>
      </p:sp>
      <p:sp>
        <p:nvSpPr>
          <p:cNvPr id="19461" name="Line 5"/>
          <p:cNvSpPr>
            <a:spLocks noChangeShapeType="1"/>
          </p:cNvSpPr>
          <p:nvPr/>
        </p:nvSpPr>
        <p:spPr bwMode="auto">
          <a:xfrm>
            <a:off x="3635896" y="4509120"/>
            <a:ext cx="1371600" cy="0"/>
          </a:xfrm>
          <a:prstGeom prst="line">
            <a:avLst/>
          </a:prstGeom>
          <a:noFill/>
          <a:ln w="28575" cap="sq">
            <a:solidFill>
              <a:schemeClr val="tx1"/>
            </a:solidFill>
            <a:round/>
            <a:tailEnd type="triangle" w="med" len="med"/>
          </a:ln>
          <a:effectLst/>
        </p:spPr>
        <p:txBody>
          <a:bodyPr wrap="none" anchor="ctr"/>
          <a:lstStyle/>
          <a:p>
            <a:endParaRPr lang="zh-CN" altLang="en-US"/>
          </a:p>
        </p:txBody>
      </p:sp>
      <p:sp>
        <p:nvSpPr>
          <p:cNvPr id="19462" name="Line 6"/>
          <p:cNvSpPr>
            <a:spLocks noChangeShapeType="1"/>
          </p:cNvSpPr>
          <p:nvPr/>
        </p:nvSpPr>
        <p:spPr bwMode="auto">
          <a:xfrm>
            <a:off x="3923928" y="5517232"/>
            <a:ext cx="1143000" cy="0"/>
          </a:xfrm>
          <a:prstGeom prst="line">
            <a:avLst/>
          </a:prstGeom>
          <a:noFill/>
          <a:ln w="38100">
            <a:solidFill>
              <a:schemeClr val="tx1"/>
            </a:solidFill>
            <a:prstDash val="dash"/>
            <a:round/>
            <a:tailEnd type="triangle" w="med" len="med"/>
          </a:ln>
          <a:effectLst/>
        </p:spPr>
        <p:txBody>
          <a:bodyPr wrap="none" anchor="ctr"/>
          <a:lstStyle/>
          <a:p>
            <a:endParaRPr lang="zh-CN" altLang="en-US"/>
          </a:p>
        </p:txBody>
      </p:sp>
      <p:sp>
        <p:nvSpPr>
          <p:cNvPr id="3" name="AutoShape 3"/>
          <p:cNvSpPr>
            <a:spLocks noChangeArrowheads="1"/>
          </p:cNvSpPr>
          <p:nvPr/>
        </p:nvSpPr>
        <p:spPr bwMode="auto">
          <a:xfrm>
            <a:off x="5585460" y="3703320"/>
            <a:ext cx="226060" cy="500380"/>
          </a:xfrm>
          <a:prstGeom prst="downArrow">
            <a:avLst>
              <a:gd name="adj1" fmla="val 50000"/>
              <a:gd name="adj2" fmla="val 56250"/>
            </a:avLst>
          </a:prstGeom>
          <a:solidFill>
            <a:schemeClr val="accent1"/>
          </a:solidFill>
          <a:ln w="12700" cap="sq">
            <a:solidFill>
              <a:schemeClr val="tx1"/>
            </a:solidFill>
            <a:miter lim="800000"/>
          </a:ln>
          <a:effectLst/>
        </p:spPr>
        <p:txBody>
          <a:bodyPr wrap="none" anchor="ctr"/>
          <a:lstStyle/>
          <a:p>
            <a:endParaRPr lang="zh-CN" altLang="en-US"/>
          </a:p>
        </p:txBody>
      </p:sp>
      <p:sp>
        <p:nvSpPr>
          <p:cNvPr id="4" name="文本框 3"/>
          <p:cNvSpPr txBox="1"/>
          <p:nvPr/>
        </p:nvSpPr>
        <p:spPr>
          <a:xfrm>
            <a:off x="2319655" y="2209165"/>
            <a:ext cx="6200775" cy="891540"/>
          </a:xfrm>
          <a:prstGeom prst="rect">
            <a:avLst/>
          </a:prstGeom>
          <a:noFill/>
        </p:spPr>
        <p:txBody>
          <a:bodyPr wrap="square" rtlCol="0">
            <a:spAutoFit/>
          </a:bodyPr>
          <a:lstStyle/>
          <a:p>
            <a:pPr>
              <a:buFontTx/>
              <a:buNone/>
            </a:pPr>
            <a:r>
              <a:rPr lang="zh-CN" altLang="en-US" sz="2600" dirty="0">
                <a:latin typeface="黑体" panose="02010609060101010101" pitchFamily="2" charset="-122"/>
                <a:ea typeface="黑体" panose="02010609060101010101" pitchFamily="2" charset="-122"/>
                <a:cs typeface="黑体" panose="02010609060101010101" pitchFamily="2" charset="-122"/>
                <a:sym typeface="+mn-ea"/>
              </a:rPr>
              <a:t>：指形成一个企业的金融资产，并形成其  他地方的金融负债或权益工具的</a:t>
            </a:r>
            <a:r>
              <a:rPr lang="zh-CN" altLang="en-US" sz="2600" b="1"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合同。</a:t>
            </a:r>
            <a:endParaRPr lang="zh-CN" altLang="en-US" sz="2600">
              <a:latin typeface="黑体" panose="02010609060101010101" pitchFamily="2" charset="-122"/>
              <a:ea typeface="黑体" panose="02010609060101010101" pitchFamily="2" charset="-122"/>
              <a:cs typeface="黑体" panose="02010609060101010101" pitchFamily="2" charset="-122"/>
            </a:endParaRPr>
          </a:p>
        </p:txBody>
      </p:sp>
      <p:sp>
        <p:nvSpPr>
          <p:cNvPr id="5" name="文本框 4"/>
          <p:cNvSpPr txBox="1"/>
          <p:nvPr/>
        </p:nvSpPr>
        <p:spPr>
          <a:xfrm>
            <a:off x="887095" y="2209165"/>
            <a:ext cx="1601470" cy="491490"/>
          </a:xfrm>
          <a:prstGeom prst="rect">
            <a:avLst/>
          </a:prstGeom>
          <a:noFill/>
        </p:spPr>
        <p:txBody>
          <a:bodyPr wrap="square" rtlCol="0">
            <a:spAutoFit/>
          </a:bodyPr>
          <a:lstStyle/>
          <a:p>
            <a:r>
              <a:rPr lang="zh-CN" altLang="en-US" sz="2600" dirty="0">
                <a:solidFill>
                  <a:srgbClr val="FF0000"/>
                </a:solidFill>
                <a:latin typeface="黑体" panose="02010609060101010101" pitchFamily="2" charset="-122"/>
                <a:ea typeface="黑体" panose="02010609060101010101" pitchFamily="2" charset="-122"/>
                <a:sym typeface="+mn-ea"/>
              </a:rPr>
              <a:t>金融工具</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162368" y="223203"/>
            <a:ext cx="7793037" cy="1462087"/>
          </a:xfrm>
        </p:spPr>
        <p:txBody>
          <a:bodyPr/>
          <a:lstStyle/>
          <a:p>
            <a:r>
              <a:rPr lang="zh-CN" altLang="en-US" dirty="0">
                <a:effectLst>
                  <a:outerShdw blurRad="38100" dist="38100" dir="2700000" algn="tl">
                    <a:srgbClr val="C0C0C0"/>
                  </a:outerShdw>
                </a:effectLst>
                <a:latin typeface="黑体" panose="02010609060101010101" pitchFamily="2" charset="-122"/>
                <a:sym typeface="+mn-ea"/>
              </a:rPr>
              <a:t>一、基础</a:t>
            </a:r>
            <a:r>
              <a:rPr lang="zh-CN" altLang="zh-CN" dirty="0">
                <a:sym typeface="+mn-ea"/>
              </a:rPr>
              <a:t>金融资产的概述</a:t>
            </a:r>
            <a:endParaRPr lang="zh-CN" altLang="en-US" dirty="0"/>
          </a:p>
        </p:txBody>
      </p:sp>
      <p:sp>
        <p:nvSpPr>
          <p:cNvPr id="22531" name="Rectangle 3"/>
          <p:cNvSpPr>
            <a:spLocks noGrp="1" noChangeArrowheads="1"/>
          </p:cNvSpPr>
          <p:nvPr>
            <p:ph idx="1"/>
          </p:nvPr>
        </p:nvSpPr>
        <p:spPr/>
        <p:txBody>
          <a:bodyPr/>
          <a:lstStyle/>
          <a:p>
            <a:pPr>
              <a:lnSpc>
                <a:spcPct val="90000"/>
              </a:lnSpc>
              <a:buFont typeface="Wingdings" panose="05000000000000000000" pitchFamily="2" charset="2"/>
              <a:buChar char="n"/>
            </a:pPr>
            <a:endParaRPr lang="en-US" altLang="zh-CN" dirty="0"/>
          </a:p>
          <a:p>
            <a:pPr>
              <a:lnSpc>
                <a:spcPct val="90000"/>
              </a:lnSpc>
              <a:buFont typeface="Wingdings" panose="05000000000000000000" pitchFamily="2" charset="2"/>
              <a:buChar char="n"/>
            </a:pPr>
            <a:r>
              <a:rPr lang="zh-CN" altLang="en-US" sz="2600" dirty="0">
                <a:latin typeface="黑体" panose="02010609060101010101" pitchFamily="2" charset="-122"/>
                <a:ea typeface="黑体" panose="02010609060101010101" pitchFamily="2" charset="-122"/>
              </a:rPr>
              <a:t>理解金融工具的涵义，应注意以下几点</a:t>
            </a:r>
          </a:p>
          <a:p>
            <a:pPr>
              <a:lnSpc>
                <a:spcPct val="90000"/>
              </a:lnSpc>
            </a:pPr>
            <a:r>
              <a:rPr lang="zh-CN" altLang="en-US" sz="2600" dirty="0">
                <a:latin typeface="黑体" panose="02010609060101010101" pitchFamily="2" charset="-122"/>
                <a:ea typeface="黑体" panose="02010609060101010101" pitchFamily="2" charset="-122"/>
              </a:rPr>
              <a:t>金融工具本质上是一项合同</a:t>
            </a:r>
          </a:p>
          <a:p>
            <a:pPr lvl="2">
              <a:lnSpc>
                <a:spcPct val="90000"/>
              </a:lnSpc>
              <a:buFont typeface="Wingdings" panose="05000000000000000000" pitchFamily="2" charset="2"/>
              <a:buChar char="Ø"/>
            </a:pPr>
            <a:r>
              <a:rPr lang="zh-CN" altLang="en-US" sz="2600" dirty="0">
                <a:latin typeface="黑体" panose="02010609060101010101" pitchFamily="2" charset="-122"/>
                <a:ea typeface="黑体" panose="02010609060101010101" pitchFamily="2" charset="-122"/>
              </a:rPr>
              <a:t>具有法律约束力</a:t>
            </a:r>
          </a:p>
          <a:p>
            <a:pPr lvl="2">
              <a:lnSpc>
                <a:spcPct val="90000"/>
              </a:lnSpc>
              <a:buFont typeface="Wingdings" panose="05000000000000000000" pitchFamily="2" charset="2"/>
              <a:buChar char="Ø"/>
            </a:pPr>
            <a:r>
              <a:rPr lang="zh-CN" altLang="en-US" sz="2600" dirty="0">
                <a:latin typeface="黑体" panose="02010609060101010101" pitchFamily="2" charset="-122"/>
                <a:ea typeface="黑体" panose="02010609060101010101" pitchFamily="2" charset="-122"/>
              </a:rPr>
              <a:t>通常是双向的，享有权利并承担义务，因此应从发行方和持有方两方面来理解</a:t>
            </a:r>
          </a:p>
          <a:p>
            <a:pPr lvl="2">
              <a:lnSpc>
                <a:spcPct val="90000"/>
              </a:lnSpc>
              <a:buFont typeface="Wingdings" panose="05000000000000000000" pitchFamily="2" charset="2"/>
              <a:buChar char="Ø"/>
            </a:pPr>
            <a:r>
              <a:rPr lang="zh-CN" altLang="en-US" sz="2600" dirty="0">
                <a:latin typeface="黑体" panose="02010609060101010101" pitchFamily="2" charset="-122"/>
                <a:ea typeface="黑体" panose="02010609060101010101" pitchFamily="2" charset="-122"/>
              </a:rPr>
              <a:t>可以是多种形式，不一定是书面的</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ffectLst>
                  <a:outerShdw blurRad="38100" dist="38100" dir="2700000" algn="tl">
                    <a:srgbClr val="C0C0C0"/>
                  </a:outerShdw>
                </a:effectLst>
                <a:latin typeface="黑体" panose="02010609060101010101" pitchFamily="2" charset="-122"/>
                <a:sym typeface="+mn-ea"/>
              </a:rPr>
              <a:t>一、基础</a:t>
            </a:r>
            <a:r>
              <a:rPr lang="zh-CN" altLang="zh-CN" dirty="0">
                <a:sym typeface="+mn-ea"/>
              </a:rPr>
              <a:t>金融资产的概述</a:t>
            </a:r>
            <a:endParaRPr lang="zh-CN" altLang="en-US"/>
          </a:p>
        </p:txBody>
      </p:sp>
      <p:sp>
        <p:nvSpPr>
          <p:cNvPr id="10242" name="Rectangle 2"/>
          <p:cNvSpPr>
            <a:spLocks noGrp="1" noChangeArrowheads="1"/>
          </p:cNvSpPr>
          <p:nvPr>
            <p:ph idx="1"/>
          </p:nvPr>
        </p:nvSpPr>
        <p:spPr/>
        <p:txBody>
          <a:bodyPr/>
          <a:lstStyle/>
          <a:p>
            <a:pPr>
              <a:buFontTx/>
              <a:buNone/>
            </a:pPr>
            <a:r>
              <a:rPr lang="zh-CN" altLang="en-US" dirty="0">
                <a:latin typeface="黑体" panose="02010609060101010101" pitchFamily="2" charset="-122"/>
                <a:ea typeface="黑体" panose="02010609060101010101" pitchFamily="2" charset="-122"/>
              </a:rPr>
              <a:t>金融工具的分类</a:t>
            </a:r>
          </a:p>
          <a:p>
            <a:pPr>
              <a:buFontTx/>
              <a:buNone/>
            </a:pPr>
            <a:endParaRPr lang="zh-CN" altLang="en-US" dirty="0">
              <a:latin typeface="黑体" panose="02010609060101010101" pitchFamily="2" charset="-122"/>
            </a:endParaRPr>
          </a:p>
          <a:p>
            <a:pPr>
              <a:buFontTx/>
              <a:buNone/>
            </a:pPr>
            <a:r>
              <a:rPr lang="zh-CN" altLang="en-US" dirty="0">
                <a:latin typeface="黑体" panose="02010609060101010101" pitchFamily="2" charset="-122"/>
              </a:rPr>
              <a:t>           基础金融工具</a:t>
            </a:r>
          </a:p>
          <a:p>
            <a:pPr>
              <a:buFontTx/>
              <a:buNone/>
            </a:pPr>
            <a:endParaRPr lang="zh-CN" altLang="en-US" dirty="0">
              <a:latin typeface="黑体" panose="02010609060101010101" pitchFamily="2" charset="-122"/>
            </a:endParaRPr>
          </a:p>
          <a:p>
            <a:pPr>
              <a:buFontTx/>
              <a:buNone/>
            </a:pPr>
            <a:r>
              <a:rPr lang="zh-CN" altLang="en-US" dirty="0">
                <a:latin typeface="黑体" panose="02010609060101010101" pitchFamily="2" charset="-122"/>
              </a:rPr>
              <a:t>金融工具 </a:t>
            </a:r>
          </a:p>
          <a:p>
            <a:pPr>
              <a:buFontTx/>
              <a:buNone/>
            </a:pPr>
            <a:r>
              <a:rPr lang="zh-CN" altLang="en-US" dirty="0">
                <a:latin typeface="黑体" panose="02010609060101010101" pitchFamily="2" charset="-122"/>
              </a:rPr>
              <a:t>                     </a:t>
            </a:r>
          </a:p>
          <a:p>
            <a:pPr>
              <a:buFontTx/>
              <a:buNone/>
            </a:pPr>
            <a:r>
              <a:rPr lang="zh-CN" altLang="en-US" dirty="0">
                <a:latin typeface="黑体" panose="02010609060101010101" pitchFamily="2" charset="-122"/>
              </a:rPr>
              <a:t>           </a:t>
            </a:r>
            <a:r>
              <a:rPr lang="zh-CN" altLang="en-US" dirty="0">
                <a:solidFill>
                  <a:srgbClr val="3333FF"/>
                </a:solidFill>
                <a:latin typeface="黑体" panose="02010609060101010101" pitchFamily="2" charset="-122"/>
              </a:rPr>
              <a:t>衍生工具</a:t>
            </a:r>
          </a:p>
        </p:txBody>
      </p:sp>
      <p:sp>
        <p:nvSpPr>
          <p:cNvPr id="10243" name="AutoShape 3"/>
          <p:cNvSpPr/>
          <p:nvPr/>
        </p:nvSpPr>
        <p:spPr bwMode="auto">
          <a:xfrm>
            <a:off x="2771775" y="3223895"/>
            <a:ext cx="219075" cy="1819275"/>
          </a:xfrm>
          <a:prstGeom prst="leftBrace">
            <a:avLst>
              <a:gd name="adj1" fmla="val 75000"/>
              <a:gd name="adj2" fmla="val 50000"/>
            </a:avLst>
          </a:prstGeom>
          <a:noFill/>
          <a:ln w="28575" cap="sq">
            <a:solidFill>
              <a:schemeClr val="tx1"/>
            </a:solidFill>
            <a:round/>
          </a:ln>
          <a:effectLst/>
        </p:spPr>
        <p:txBody>
          <a:bodyPr wrap="none" anchor="ctr"/>
          <a:lstStyle/>
          <a:p>
            <a:endParaRPr lang="zh-CN" altLang="en-US"/>
          </a:p>
        </p:txBody>
      </p:sp>
      <p:sp>
        <p:nvSpPr>
          <p:cNvPr id="10244" name="Text Box 4"/>
          <p:cNvSpPr txBox="1">
            <a:spLocks noChangeArrowheads="1"/>
          </p:cNvSpPr>
          <p:nvPr/>
        </p:nvSpPr>
        <p:spPr bwMode="auto">
          <a:xfrm>
            <a:off x="6400927" y="2149505"/>
            <a:ext cx="2508250" cy="2245360"/>
          </a:xfrm>
          <a:prstGeom prst="rect">
            <a:avLst/>
          </a:prstGeom>
          <a:noFill/>
          <a:ln w="12700" cap="sq">
            <a:solidFill>
              <a:schemeClr val="tx1"/>
            </a:solidFill>
            <a:miter lim="800000"/>
          </a:ln>
          <a:effectLst/>
        </p:spPr>
        <p:txBody>
          <a:bodyPr wrap="square">
            <a:spAutoFit/>
          </a:bodyPr>
          <a:lstStyle/>
          <a:p>
            <a:r>
              <a:rPr kumimoji="1" lang="zh-CN" altLang="en-US" sz="2000" b="1" dirty="0">
                <a:solidFill>
                  <a:srgbClr val="3333FF"/>
                </a:solidFill>
                <a:latin typeface="Times New Roman" panose="02020603050405020304" pitchFamily="18" charset="0"/>
                <a:ea typeface="黑体" panose="02010609060101010101" pitchFamily="2" charset="-122"/>
              </a:rPr>
              <a:t>基础金融资产</a:t>
            </a:r>
            <a:endParaRPr kumimoji="1" lang="en-US" altLang="zh-CN" sz="2000" b="1" dirty="0">
              <a:solidFill>
                <a:srgbClr val="3333FF"/>
              </a:solidFill>
              <a:latin typeface="Times New Roman" panose="02020603050405020304" pitchFamily="18" charset="0"/>
              <a:ea typeface="黑体" panose="02010609060101010101" pitchFamily="2" charset="-122"/>
            </a:endParaRPr>
          </a:p>
          <a:p>
            <a:r>
              <a:rPr kumimoji="1" lang="zh-CN" altLang="en-US" sz="2000" dirty="0">
                <a:solidFill>
                  <a:srgbClr val="3333FF"/>
                </a:solidFill>
                <a:latin typeface="Times New Roman" panose="02020603050405020304" pitchFamily="18" charset="0"/>
                <a:ea typeface="黑体" panose="02010609060101010101" pitchFamily="2" charset="-122"/>
              </a:rPr>
              <a:t>    应收款项</a:t>
            </a:r>
          </a:p>
          <a:p>
            <a:r>
              <a:rPr kumimoji="1" lang="zh-CN" altLang="en-US" sz="2000" dirty="0">
                <a:solidFill>
                  <a:srgbClr val="3333FF"/>
                </a:solidFill>
                <a:latin typeface="Times New Roman" panose="02020603050405020304" pitchFamily="18" charset="0"/>
                <a:ea typeface="黑体" panose="02010609060101010101" pitchFamily="2" charset="-122"/>
              </a:rPr>
              <a:t>    债券投资</a:t>
            </a:r>
          </a:p>
          <a:p>
            <a:r>
              <a:rPr kumimoji="1" lang="zh-CN" altLang="en-US" sz="2000" dirty="0">
                <a:solidFill>
                  <a:srgbClr val="3333FF"/>
                </a:solidFill>
                <a:latin typeface="Times New Roman" panose="02020603050405020304" pitchFamily="18" charset="0"/>
                <a:ea typeface="黑体" panose="02010609060101010101" pitchFamily="2" charset="-122"/>
              </a:rPr>
              <a:t>    股权投资等</a:t>
            </a:r>
            <a:endParaRPr kumimoji="1" lang="en-US" altLang="zh-CN" sz="2000" dirty="0">
              <a:solidFill>
                <a:srgbClr val="3333FF"/>
              </a:solidFill>
              <a:latin typeface="Times New Roman" panose="02020603050405020304" pitchFamily="18" charset="0"/>
              <a:ea typeface="黑体" panose="02010609060101010101" pitchFamily="2" charset="-122"/>
            </a:endParaRPr>
          </a:p>
          <a:p>
            <a:r>
              <a:rPr kumimoji="1" lang="zh-CN" altLang="en-US" sz="2000" dirty="0">
                <a:latin typeface="Times New Roman" panose="02020603050405020304" pitchFamily="18" charset="0"/>
                <a:ea typeface="黑体" panose="02010609060101010101" pitchFamily="2" charset="-122"/>
              </a:rPr>
              <a:t>基础金融负债</a:t>
            </a:r>
            <a:endParaRPr kumimoji="1" lang="en-US" altLang="zh-CN" sz="2000" dirty="0">
              <a:latin typeface="Times New Roman" panose="02020603050405020304" pitchFamily="18" charset="0"/>
              <a:ea typeface="黑体" panose="02010609060101010101" pitchFamily="2" charset="-122"/>
            </a:endParaRPr>
          </a:p>
          <a:p>
            <a:r>
              <a:rPr kumimoji="1" lang="zh-CN" altLang="en-US" sz="2000" dirty="0">
                <a:latin typeface="Times New Roman" panose="02020603050405020304" pitchFamily="18" charset="0"/>
                <a:ea typeface="黑体" panose="02010609060101010101" pitchFamily="2" charset="-122"/>
              </a:rPr>
              <a:t>    应付款项</a:t>
            </a:r>
            <a:endParaRPr kumimoji="1" lang="en-US" altLang="zh-CN" sz="2000" dirty="0">
              <a:latin typeface="Times New Roman" panose="02020603050405020304" pitchFamily="18" charset="0"/>
              <a:ea typeface="黑体" panose="02010609060101010101" pitchFamily="2" charset="-122"/>
            </a:endParaRPr>
          </a:p>
          <a:p>
            <a:r>
              <a:rPr kumimoji="1" lang="en-US" altLang="zh-CN" sz="2000" dirty="0">
                <a:latin typeface="Times New Roman" panose="02020603050405020304" pitchFamily="18" charset="0"/>
                <a:ea typeface="黑体" panose="02010609060101010101" pitchFamily="2" charset="-122"/>
              </a:rPr>
              <a:t>    </a:t>
            </a:r>
            <a:r>
              <a:rPr kumimoji="1" lang="zh-CN" altLang="en-US" sz="2000" dirty="0">
                <a:latin typeface="Times New Roman" panose="02020603050405020304" pitchFamily="18" charset="0"/>
                <a:ea typeface="黑体" panose="02010609060101010101" pitchFamily="2" charset="-122"/>
              </a:rPr>
              <a:t>应付债券</a:t>
            </a:r>
          </a:p>
        </p:txBody>
      </p:sp>
      <p:sp>
        <p:nvSpPr>
          <p:cNvPr id="10245" name="AutoShape 5"/>
          <p:cNvSpPr>
            <a:spLocks noChangeArrowheads="1"/>
          </p:cNvSpPr>
          <p:nvPr/>
        </p:nvSpPr>
        <p:spPr bwMode="auto">
          <a:xfrm flipH="1">
            <a:off x="5435600" y="3081685"/>
            <a:ext cx="762000" cy="3810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12700" cap="sq">
            <a:solidFill>
              <a:schemeClr val="tx1"/>
            </a:solidFill>
            <a:miter lim="800000"/>
          </a:ln>
          <a:effectLst/>
        </p:spPr>
        <p:txBody>
          <a:bodyPr wrap="none" anchor="ctr"/>
          <a:lstStyle/>
          <a:p>
            <a:endParaRPr lang="zh-CN" altLang="en-US"/>
          </a:p>
        </p:txBody>
      </p:sp>
      <p:sp>
        <p:nvSpPr>
          <p:cNvPr id="10246" name="Text Box 6"/>
          <p:cNvSpPr txBox="1">
            <a:spLocks noChangeArrowheads="1"/>
          </p:cNvSpPr>
          <p:nvPr/>
        </p:nvSpPr>
        <p:spPr bwMode="auto">
          <a:xfrm>
            <a:off x="6400801" y="4524191"/>
            <a:ext cx="2508250" cy="1630045"/>
          </a:xfrm>
          <a:prstGeom prst="rect">
            <a:avLst/>
          </a:prstGeom>
          <a:noFill/>
          <a:ln w="12700" cap="sq">
            <a:solidFill>
              <a:schemeClr val="tx1"/>
            </a:solidFill>
            <a:miter lim="800000"/>
          </a:ln>
          <a:effectLst/>
        </p:spPr>
        <p:txBody>
          <a:bodyPr wrap="square">
            <a:spAutoFit/>
          </a:bodyPr>
          <a:lstStyle/>
          <a:p>
            <a:r>
              <a:rPr kumimoji="1" lang="zh-CN" altLang="en-US" sz="2000" dirty="0">
                <a:latin typeface="Times New Roman" panose="02020603050405020304" pitchFamily="18" charset="0"/>
                <a:ea typeface="黑体" panose="02010609060101010101" pitchFamily="2" charset="-122"/>
              </a:rPr>
              <a:t>期货</a:t>
            </a:r>
          </a:p>
          <a:p>
            <a:r>
              <a:rPr kumimoji="1" lang="zh-CN" altLang="en-US" sz="2000" dirty="0">
                <a:latin typeface="Times New Roman" panose="02020603050405020304" pitchFamily="18" charset="0"/>
                <a:ea typeface="黑体" panose="02010609060101010101" pitchFamily="2" charset="-122"/>
              </a:rPr>
              <a:t>期权</a:t>
            </a:r>
          </a:p>
          <a:p>
            <a:r>
              <a:rPr kumimoji="1" lang="zh-CN" altLang="en-US" sz="2000" dirty="0">
                <a:latin typeface="Times New Roman" panose="02020603050405020304" pitchFamily="18" charset="0"/>
                <a:ea typeface="黑体" panose="02010609060101010101" pitchFamily="2" charset="-122"/>
              </a:rPr>
              <a:t>互换</a:t>
            </a:r>
          </a:p>
          <a:p>
            <a:r>
              <a:rPr kumimoji="1" lang="zh-CN" altLang="en-US" sz="2000" dirty="0">
                <a:latin typeface="Times New Roman" panose="02020603050405020304" pitchFamily="18" charset="0"/>
                <a:ea typeface="黑体" panose="02010609060101010101" pitchFamily="2" charset="-122"/>
              </a:rPr>
              <a:t>远期</a:t>
            </a:r>
          </a:p>
          <a:p>
            <a:r>
              <a:rPr kumimoji="1" lang="zh-CN" altLang="en-US" sz="2000" dirty="0">
                <a:latin typeface="Times New Roman" panose="02020603050405020304" pitchFamily="18" charset="0"/>
                <a:ea typeface="黑体" panose="02010609060101010101" pitchFamily="2" charset="-122"/>
              </a:rPr>
              <a:t>其他等</a:t>
            </a:r>
          </a:p>
        </p:txBody>
      </p:sp>
      <p:sp>
        <p:nvSpPr>
          <p:cNvPr id="10247" name="AutoShape 7"/>
          <p:cNvSpPr>
            <a:spLocks noChangeArrowheads="1"/>
          </p:cNvSpPr>
          <p:nvPr/>
        </p:nvSpPr>
        <p:spPr bwMode="auto">
          <a:xfrm>
            <a:off x="5321300" y="5148293"/>
            <a:ext cx="762000" cy="381000"/>
          </a:xfrm>
          <a:prstGeom prst="leftArrow">
            <a:avLst>
              <a:gd name="adj1" fmla="val 50000"/>
              <a:gd name="adj2" fmla="val 50000"/>
            </a:avLst>
          </a:prstGeom>
          <a:solidFill>
            <a:schemeClr val="accent1"/>
          </a:solidFill>
          <a:ln w="12700" cap="sq">
            <a:solidFill>
              <a:schemeClr val="tx1"/>
            </a:solidFill>
            <a:miter lim="800000"/>
          </a:ln>
          <a:effectLst/>
        </p:spPr>
        <p:txBody>
          <a:bodyPr wrap="none" anchor="ctr"/>
          <a:lstStyle/>
          <a:p>
            <a:pPr algn="ctr"/>
            <a:endParaRPr kumimoji="1" lang="zh-CN" altLang="zh-CN" sz="2000" b="1">
              <a:latin typeface="Times New Roman" panose="02020603050405020304" pitchFamily="18" charset="0"/>
              <a:ea typeface="黑体" panose="0201060906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noChangeArrowheads="1"/>
          </p:cNvSpPr>
          <p:nvPr>
            <p:ph type="title"/>
          </p:nvPr>
        </p:nvSpPr>
        <p:spPr/>
        <p:txBody>
          <a:bodyPr/>
          <a:lstStyle/>
          <a:p>
            <a:r>
              <a:rPr lang="zh-CN" altLang="en-US"/>
              <a:t>一、基础金融资产概述</a:t>
            </a:r>
          </a:p>
        </p:txBody>
      </p:sp>
      <p:sp>
        <p:nvSpPr>
          <p:cNvPr id="22531" name="内容占位符 2"/>
          <p:cNvSpPr>
            <a:spLocks noGrp="1" noChangeArrowheads="1"/>
          </p:cNvSpPr>
          <p:nvPr>
            <p:ph idx="1"/>
          </p:nvPr>
        </p:nvSpPr>
        <p:spPr/>
        <p:txBody>
          <a:bodyPr/>
          <a:lstStyle/>
          <a:p>
            <a:pPr>
              <a:lnSpc>
                <a:spcPct val="90000"/>
              </a:lnSpc>
            </a:pPr>
            <a:r>
              <a:rPr lang="zh-CN" altLang="en-US" sz="2400">
                <a:latin typeface="黑体" panose="02010609060101010101" pitchFamily="2" charset="-122"/>
                <a:ea typeface="黑体" panose="02010609060101010101" pitchFamily="2" charset="-122"/>
              </a:rPr>
              <a:t>在金融市场中购买证券会形成金融资产</a:t>
            </a:r>
            <a:endParaRPr lang="en-US" altLang="zh-CN" sz="2400"/>
          </a:p>
          <a:p>
            <a:pPr>
              <a:lnSpc>
                <a:spcPct val="90000"/>
              </a:lnSpc>
            </a:pPr>
            <a:endParaRPr lang="en-US" altLang="zh-CN" sz="2400"/>
          </a:p>
          <a:p>
            <a:r>
              <a:rPr lang="zh-CN" altLang="zh-CN" sz="2400"/>
              <a:t>金融资产可以分为基础金融资产和衍生金融资产</a:t>
            </a:r>
            <a:endParaRPr lang="en-US" altLang="zh-CN" sz="2400"/>
          </a:p>
          <a:p>
            <a:pPr lvl="1">
              <a:lnSpc>
                <a:spcPct val="120000"/>
              </a:lnSpc>
            </a:pPr>
            <a:r>
              <a:rPr lang="zh-CN" altLang="zh-CN" sz="2200"/>
              <a:t>基础金融资产主要包括货币资金、应收</a:t>
            </a:r>
            <a:r>
              <a:rPr lang="zh-CN" altLang="en-US" sz="2200"/>
              <a:t>款项以及</a:t>
            </a:r>
            <a:r>
              <a:rPr lang="zh-CN" altLang="en-US" sz="2200">
                <a:solidFill>
                  <a:srgbClr val="FF0000"/>
                </a:solidFill>
              </a:rPr>
              <a:t>证券投资</a:t>
            </a:r>
            <a:r>
              <a:rPr lang="zh-CN" altLang="en-US" sz="2200"/>
              <a:t>形成的资产</a:t>
            </a:r>
            <a:endParaRPr lang="zh-CN" altLang="zh-CN" sz="2200"/>
          </a:p>
          <a:p>
            <a:pPr lvl="1">
              <a:lnSpc>
                <a:spcPct val="120000"/>
              </a:lnSpc>
            </a:pPr>
            <a:r>
              <a:rPr lang="zh-CN" altLang="zh-CN" sz="2200"/>
              <a:t>衍生金融资产主要指因持有衍生工具（如远期合同、期货合同、期权合同和互换合同）而形成的资产</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zh-CN" altLang="en-US" dirty="0">
                <a:effectLst>
                  <a:outerShdw blurRad="38100" dist="38100" dir="2700000" algn="tl">
                    <a:srgbClr val="C0C0C0"/>
                  </a:outerShdw>
                </a:effectLst>
                <a:latin typeface="黑体" panose="02010609060101010101" pitchFamily="2" charset="-122"/>
                <a:sym typeface="+mn-ea"/>
              </a:rPr>
              <a:t>一、基础</a:t>
            </a:r>
            <a:r>
              <a:rPr lang="zh-CN" altLang="zh-CN" dirty="0">
                <a:sym typeface="+mn-ea"/>
              </a:rPr>
              <a:t>金融资产的概述</a:t>
            </a:r>
            <a:endParaRPr lang="zh-CN" altLang="en-US" dirty="0"/>
          </a:p>
        </p:txBody>
      </p:sp>
      <p:sp>
        <p:nvSpPr>
          <p:cNvPr id="23555" name="Rectangle 3"/>
          <p:cNvSpPr>
            <a:spLocks noGrp="1" noChangeArrowheads="1"/>
          </p:cNvSpPr>
          <p:nvPr>
            <p:ph idx="1"/>
          </p:nvPr>
        </p:nvSpPr>
        <p:spPr>
          <a:xfrm>
            <a:off x="1150938" y="2542223"/>
            <a:ext cx="7772400" cy="4114800"/>
          </a:xfrm>
        </p:spPr>
        <p:txBody>
          <a:bodyPr/>
          <a:lstStyle/>
          <a:p>
            <a:pPr eaLnBrk="1" hangingPunct="1"/>
            <a:r>
              <a:rPr lang="zh-CN" altLang="en-US"/>
              <a:t>（一）按证券投资性质分</a:t>
            </a:r>
          </a:p>
          <a:p>
            <a:pPr lvl="1" eaLnBrk="1" hangingPunct="1"/>
            <a:r>
              <a:rPr lang="zh-CN" altLang="en-US"/>
              <a:t>股权投资（权益性投资</a:t>
            </a:r>
            <a:r>
              <a:rPr lang="en-US" altLang="zh-CN"/>
              <a:t>)</a:t>
            </a:r>
          </a:p>
          <a:p>
            <a:pPr lvl="1" eaLnBrk="1" hangingPunct="1"/>
            <a:r>
              <a:rPr lang="zh-CN" altLang="en-US"/>
              <a:t>债权投资（债权性投资</a:t>
            </a:r>
            <a:r>
              <a:rPr lang="en-US" altLang="zh-CN"/>
              <a:t>)</a:t>
            </a:r>
          </a:p>
          <a:p>
            <a:pPr lvl="1" eaLnBrk="1" hangingPunct="1"/>
            <a:r>
              <a:rPr lang="zh-CN" altLang="en-US"/>
              <a:t>混合投资</a:t>
            </a:r>
            <a:endParaRPr lang="en-US" altLang="zh-CN"/>
          </a:p>
          <a:p>
            <a:pPr eaLnBrk="1" hangingPunct="1">
              <a:lnSpc>
                <a:spcPct val="120000"/>
              </a:lnSpc>
            </a:pPr>
            <a:r>
              <a:rPr lang="zh-CN" altLang="en-US"/>
              <a:t>（二）按投资期限分</a:t>
            </a:r>
          </a:p>
          <a:p>
            <a:pPr lvl="1" algn="just" eaLnBrk="1" hangingPunct="1">
              <a:lnSpc>
                <a:spcPct val="120000"/>
              </a:lnSpc>
            </a:pPr>
            <a:r>
              <a:rPr lang="zh-CN" altLang="en-US"/>
              <a:t>短期投资</a:t>
            </a:r>
          </a:p>
          <a:p>
            <a:pPr lvl="1" algn="just" eaLnBrk="1" hangingPunct="1">
              <a:lnSpc>
                <a:spcPct val="120000"/>
              </a:lnSpc>
            </a:pPr>
            <a:r>
              <a:rPr lang="zh-CN" altLang="en-US"/>
              <a:t>长期投资</a:t>
            </a:r>
          </a:p>
        </p:txBody>
      </p:sp>
      <p:sp>
        <p:nvSpPr>
          <p:cNvPr id="2" name="文本框 1"/>
          <p:cNvSpPr txBox="1"/>
          <p:nvPr/>
        </p:nvSpPr>
        <p:spPr>
          <a:xfrm>
            <a:off x="1321435" y="1932940"/>
            <a:ext cx="2945130" cy="521970"/>
          </a:xfrm>
          <a:prstGeom prst="rect">
            <a:avLst/>
          </a:prstGeom>
          <a:noFill/>
        </p:spPr>
        <p:txBody>
          <a:bodyPr wrap="square" rtlCol="0">
            <a:spAutoFit/>
          </a:bodyPr>
          <a:lstStyle/>
          <a:p>
            <a:r>
              <a:rPr lang="zh-CN" altLang="en-US" sz="2800">
                <a:latin typeface="黑体" panose="02010609060101010101" pitchFamily="2" charset="-122"/>
                <a:ea typeface="黑体" panose="02010609060101010101" pitchFamily="2" charset="-122"/>
              </a:rPr>
              <a:t>金融资产的分类</a:t>
            </a:r>
            <a:r>
              <a:rPr lang="en-US" altLang="zh-CN" sz="2800">
                <a:latin typeface="黑体" panose="02010609060101010101" pitchFamily="2" charset="-122"/>
                <a:ea typeface="黑体" panose="02010609060101010101" pitchFamily="2" charset="-122"/>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sz="4000" dirty="0"/>
              <a:t>金融资产的分类（续）</a:t>
            </a:r>
          </a:p>
        </p:txBody>
      </p:sp>
      <p:sp>
        <p:nvSpPr>
          <p:cNvPr id="24579" name="Rectangle 3"/>
          <p:cNvSpPr>
            <a:spLocks noGrp="1" noChangeArrowheads="1"/>
          </p:cNvSpPr>
          <p:nvPr>
            <p:ph idx="1"/>
          </p:nvPr>
        </p:nvSpPr>
        <p:spPr/>
        <p:txBody>
          <a:bodyPr/>
          <a:lstStyle/>
          <a:p>
            <a:pPr eaLnBrk="1" hangingPunct="1">
              <a:lnSpc>
                <a:spcPct val="120000"/>
              </a:lnSpc>
            </a:pPr>
            <a:r>
              <a:rPr lang="zh-CN" altLang="en-US" b="0">
                <a:latin typeface="黑体" panose="02010609060101010101" pitchFamily="2" charset="-122"/>
              </a:rPr>
              <a:t>（三）按管理意图分</a:t>
            </a:r>
          </a:p>
          <a:p>
            <a:pPr lvl="1" eaLnBrk="1" hangingPunct="1"/>
            <a:r>
              <a:rPr lang="zh-CN" altLang="en-US" b="0">
                <a:latin typeface="黑体" panose="02010609060101010101" pitchFamily="2" charset="-122"/>
              </a:rPr>
              <a:t>交易性金融资产</a:t>
            </a:r>
            <a:endParaRPr lang="en-US" altLang="zh-CN" b="0">
              <a:latin typeface="黑体" panose="02010609060101010101" pitchFamily="2" charset="-122"/>
            </a:endParaRPr>
          </a:p>
          <a:p>
            <a:pPr lvl="1" eaLnBrk="1" hangingPunct="1"/>
            <a:r>
              <a:rPr lang="zh-CN" altLang="en-US" b="0">
                <a:latin typeface="黑体" panose="02010609060101010101" pitchFamily="2" charset="-122"/>
              </a:rPr>
              <a:t>持有至到期投资</a:t>
            </a:r>
          </a:p>
          <a:p>
            <a:pPr lvl="1" eaLnBrk="1" hangingPunct="1"/>
            <a:r>
              <a:rPr lang="zh-CN" altLang="en-US" b="0">
                <a:latin typeface="黑体" panose="02010609060101010101" pitchFamily="2" charset="-122"/>
              </a:rPr>
              <a:t>长期股权投资</a:t>
            </a:r>
            <a:endParaRPr lang="en-US" altLang="zh-CN" b="0">
              <a:latin typeface="黑体" panose="02010609060101010101" pitchFamily="2" charset="-122"/>
            </a:endParaRPr>
          </a:p>
          <a:p>
            <a:pPr lvl="1" eaLnBrk="1" hangingPunct="1"/>
            <a:r>
              <a:rPr lang="zh-CN" altLang="en-US" b="0">
                <a:latin typeface="黑体" panose="02010609060101010101" pitchFamily="2" charset="-122"/>
              </a:rPr>
              <a:t>可供出售金融资产</a:t>
            </a:r>
          </a:p>
          <a:p>
            <a:pPr eaLnBrk="1" hangingPunct="1"/>
            <a:endParaRPr lang="en-US" altLang="zh-CN">
              <a:latin typeface="黑体" panose="0201060906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zh-CN" altLang="en-US" sz="4000" dirty="0"/>
              <a:t>金融资产的分类（续）</a:t>
            </a:r>
          </a:p>
        </p:txBody>
      </p:sp>
      <p:sp>
        <p:nvSpPr>
          <p:cNvPr id="25603" name="Rectangle 3"/>
          <p:cNvSpPr>
            <a:spLocks noGrp="1" noChangeArrowheads="1"/>
          </p:cNvSpPr>
          <p:nvPr>
            <p:ph idx="1"/>
          </p:nvPr>
        </p:nvSpPr>
        <p:spPr/>
        <p:txBody>
          <a:bodyPr/>
          <a:lstStyle/>
          <a:p>
            <a:pPr eaLnBrk="1" hangingPunct="1">
              <a:lnSpc>
                <a:spcPct val="120000"/>
              </a:lnSpc>
            </a:pPr>
            <a:r>
              <a:rPr lang="zh-CN" altLang="en-US" b="0">
                <a:latin typeface="黑体" panose="02010609060101010101" pitchFamily="2" charset="-122"/>
              </a:rPr>
              <a:t>（四）</a:t>
            </a:r>
            <a:r>
              <a:rPr lang="zh-CN" altLang="zh-CN"/>
              <a:t>按业务模式和金融资产的合同现金流量特征分类</a:t>
            </a:r>
            <a:endParaRPr lang="en-US" altLang="zh-CN"/>
          </a:p>
          <a:p>
            <a:pPr lvl="1"/>
            <a:r>
              <a:rPr lang="zh-CN" altLang="zh-CN"/>
              <a:t>以公允价值计量且其变动计入当期损益的金融资产 </a:t>
            </a:r>
            <a:endParaRPr lang="zh-CN" altLang="zh-CN" sz="3600"/>
          </a:p>
          <a:p>
            <a:pPr lvl="1"/>
            <a:r>
              <a:rPr lang="zh-CN" altLang="zh-CN"/>
              <a:t>以摊余成本计量的金融资产 </a:t>
            </a:r>
            <a:endParaRPr lang="zh-CN" altLang="zh-CN" sz="3600"/>
          </a:p>
          <a:p>
            <a:pPr lvl="1"/>
            <a:r>
              <a:rPr lang="zh-CN" altLang="zh-CN"/>
              <a:t>以公允价值计量且其变动计入其他综合收益的金融资产</a:t>
            </a:r>
            <a:endParaRPr lang="en-US" altLang="zh-CN">
              <a:latin typeface="黑体" panose="0201060906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金融资产的分类</a:t>
            </a:r>
          </a:p>
        </p:txBody>
      </p:sp>
      <p:sp>
        <p:nvSpPr>
          <p:cNvPr id="4" name="矩形 3"/>
          <p:cNvSpPr/>
          <p:nvPr/>
        </p:nvSpPr>
        <p:spPr bwMode="auto">
          <a:xfrm>
            <a:off x="107504" y="2733556"/>
            <a:ext cx="1368152" cy="432048"/>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股权投资</a:t>
            </a:r>
          </a:p>
        </p:txBody>
      </p:sp>
      <p:sp>
        <p:nvSpPr>
          <p:cNvPr id="5" name="文本框 4"/>
          <p:cNvSpPr txBox="1"/>
          <p:nvPr/>
        </p:nvSpPr>
        <p:spPr>
          <a:xfrm>
            <a:off x="2135700" y="1971990"/>
            <a:ext cx="1440160" cy="368300"/>
          </a:xfrm>
          <a:prstGeom prst="rect">
            <a:avLst/>
          </a:prstGeom>
          <a:noFill/>
        </p:spPr>
        <p:txBody>
          <a:bodyPr wrap="square" rtlCol="0">
            <a:spAutoFit/>
          </a:bodyPr>
          <a:lstStyle/>
          <a:p>
            <a:r>
              <a:rPr lang="zh-CN" altLang="en-US" dirty="0">
                <a:latin typeface="黑体" panose="02010609060101010101" pitchFamily="2" charset="-122"/>
                <a:ea typeface="黑体" panose="02010609060101010101" pitchFamily="2" charset="-122"/>
              </a:rPr>
              <a:t>业务模式</a:t>
            </a:r>
          </a:p>
        </p:txBody>
      </p:sp>
      <p:sp>
        <p:nvSpPr>
          <p:cNvPr id="6" name="文本框 5"/>
          <p:cNvSpPr txBox="1"/>
          <p:nvPr/>
        </p:nvSpPr>
        <p:spPr>
          <a:xfrm>
            <a:off x="4032374" y="1970172"/>
            <a:ext cx="1728192" cy="368300"/>
          </a:xfrm>
          <a:prstGeom prst="rect">
            <a:avLst/>
          </a:prstGeom>
          <a:noFill/>
        </p:spPr>
        <p:txBody>
          <a:bodyPr wrap="square" rtlCol="0">
            <a:spAutoFit/>
          </a:bodyPr>
          <a:lstStyle/>
          <a:p>
            <a:r>
              <a:rPr lang="zh-CN" altLang="en-US" dirty="0">
                <a:latin typeface="黑体" panose="02010609060101010101" pitchFamily="2" charset="-122"/>
                <a:ea typeface="黑体" panose="02010609060101010101" pitchFamily="2" charset="-122"/>
              </a:rPr>
              <a:t>金融资产分类</a:t>
            </a:r>
          </a:p>
        </p:txBody>
      </p:sp>
      <p:sp>
        <p:nvSpPr>
          <p:cNvPr id="7" name="左大括号 6"/>
          <p:cNvSpPr/>
          <p:nvPr/>
        </p:nvSpPr>
        <p:spPr bwMode="auto">
          <a:xfrm>
            <a:off x="1691680" y="2409076"/>
            <a:ext cx="216024" cy="1080120"/>
          </a:xfrm>
          <a:prstGeom prst="leftBrac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8" name="矩形 7"/>
          <p:cNvSpPr/>
          <p:nvPr/>
        </p:nvSpPr>
        <p:spPr bwMode="auto">
          <a:xfrm>
            <a:off x="2195736" y="3140968"/>
            <a:ext cx="1368152" cy="432048"/>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非交易性</a:t>
            </a:r>
          </a:p>
        </p:txBody>
      </p:sp>
      <p:sp>
        <p:nvSpPr>
          <p:cNvPr id="9" name="矩形 8"/>
          <p:cNvSpPr/>
          <p:nvPr/>
        </p:nvSpPr>
        <p:spPr bwMode="auto">
          <a:xfrm>
            <a:off x="2195736" y="2409360"/>
            <a:ext cx="1368152" cy="432048"/>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交易性</a:t>
            </a:r>
          </a:p>
        </p:txBody>
      </p:sp>
      <p:sp>
        <p:nvSpPr>
          <p:cNvPr id="10" name="矩形 9"/>
          <p:cNvSpPr/>
          <p:nvPr/>
        </p:nvSpPr>
        <p:spPr bwMode="auto">
          <a:xfrm>
            <a:off x="3995936" y="2420888"/>
            <a:ext cx="5112568" cy="432048"/>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eaLnBrk="1" hangingPunct="1"/>
            <a:r>
              <a:rPr lang="zh-CN" altLang="zh-CN" dirty="0"/>
              <a:t>以公允价值计量且其变动计入当期损益的金融资产</a:t>
            </a:r>
            <a:endPar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11" name="矩形 10"/>
          <p:cNvSpPr/>
          <p:nvPr/>
        </p:nvSpPr>
        <p:spPr bwMode="auto">
          <a:xfrm>
            <a:off x="4031940" y="2996952"/>
            <a:ext cx="5094566" cy="720080"/>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eaLnBrk="1" hangingPunct="1"/>
            <a:r>
              <a:rPr lang="zh-CN" altLang="en-US" dirty="0"/>
              <a:t>指定为</a:t>
            </a:r>
            <a:r>
              <a:rPr lang="zh-CN" altLang="zh-CN" dirty="0"/>
              <a:t>以公允价值计量且其变动计入</a:t>
            </a:r>
            <a:r>
              <a:rPr lang="zh-CN" altLang="en-US" dirty="0"/>
              <a:t>其他综合收益</a:t>
            </a:r>
            <a:endParaRPr lang="en-US" altLang="zh-CN" dirty="0"/>
          </a:p>
          <a:p>
            <a:pPr eaLnBrk="1" hangingPunct="1"/>
            <a:r>
              <a:rPr lang="zh-CN" altLang="zh-CN" dirty="0"/>
              <a:t>的金融资产</a:t>
            </a:r>
            <a:endPar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12" name="矩形 11"/>
          <p:cNvSpPr/>
          <p:nvPr/>
        </p:nvSpPr>
        <p:spPr bwMode="auto">
          <a:xfrm>
            <a:off x="91629" y="4449022"/>
            <a:ext cx="1368152" cy="432048"/>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债权投资</a:t>
            </a:r>
          </a:p>
        </p:txBody>
      </p:sp>
      <p:sp>
        <p:nvSpPr>
          <p:cNvPr id="13" name="左大括号 12"/>
          <p:cNvSpPr/>
          <p:nvPr/>
        </p:nvSpPr>
        <p:spPr bwMode="auto">
          <a:xfrm>
            <a:off x="1691680" y="4016592"/>
            <a:ext cx="144016" cy="1440160"/>
          </a:xfrm>
          <a:prstGeom prst="leftBrac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14" name="矩形 13"/>
          <p:cNvSpPr/>
          <p:nvPr/>
        </p:nvSpPr>
        <p:spPr bwMode="auto">
          <a:xfrm>
            <a:off x="2195736" y="5024704"/>
            <a:ext cx="1368152" cy="648072"/>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交易性或</a:t>
            </a:r>
            <a:endParaRPr kumimoji="0" lang="en-US" altLang="zh-CN"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持有收回</a:t>
            </a:r>
          </a:p>
        </p:txBody>
      </p:sp>
      <p:sp>
        <p:nvSpPr>
          <p:cNvPr id="15" name="矩形 14"/>
          <p:cNvSpPr/>
          <p:nvPr/>
        </p:nvSpPr>
        <p:spPr bwMode="auto">
          <a:xfrm>
            <a:off x="2195736" y="3933056"/>
            <a:ext cx="1368152" cy="432048"/>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交易性</a:t>
            </a:r>
          </a:p>
        </p:txBody>
      </p:sp>
      <p:sp>
        <p:nvSpPr>
          <p:cNvPr id="16" name="矩形 15"/>
          <p:cNvSpPr/>
          <p:nvPr/>
        </p:nvSpPr>
        <p:spPr bwMode="auto">
          <a:xfrm>
            <a:off x="3995936" y="3944584"/>
            <a:ext cx="5112568" cy="432048"/>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eaLnBrk="1" hangingPunct="1"/>
            <a:r>
              <a:rPr lang="zh-CN" altLang="zh-CN" dirty="0"/>
              <a:t>以公允价值计量且其变动计入当期损益的金融资产</a:t>
            </a:r>
            <a:endPar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17" name="矩形 16"/>
          <p:cNvSpPr/>
          <p:nvPr/>
        </p:nvSpPr>
        <p:spPr bwMode="auto">
          <a:xfrm>
            <a:off x="3977934" y="4952696"/>
            <a:ext cx="5148572" cy="720080"/>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eaLnBrk="1" hangingPunct="1"/>
            <a:r>
              <a:rPr lang="zh-CN" altLang="en-US" dirty="0"/>
              <a:t>分类为</a:t>
            </a:r>
            <a:r>
              <a:rPr lang="zh-CN" altLang="zh-CN" dirty="0"/>
              <a:t>以公允价值计量且其变动计入</a:t>
            </a:r>
            <a:r>
              <a:rPr lang="zh-CN" altLang="en-US" dirty="0"/>
              <a:t>其他综合收益</a:t>
            </a:r>
            <a:endParaRPr lang="en-US" altLang="zh-CN" dirty="0"/>
          </a:p>
          <a:p>
            <a:pPr eaLnBrk="1" hangingPunct="1"/>
            <a:r>
              <a:rPr lang="zh-CN" altLang="zh-CN" dirty="0"/>
              <a:t>的金融资产</a:t>
            </a:r>
            <a:endPar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18" name="矩形 17"/>
          <p:cNvSpPr/>
          <p:nvPr/>
        </p:nvSpPr>
        <p:spPr bwMode="auto">
          <a:xfrm>
            <a:off x="2195736" y="4448640"/>
            <a:ext cx="1368152" cy="432048"/>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持有收回</a:t>
            </a:r>
          </a:p>
        </p:txBody>
      </p:sp>
      <p:sp>
        <p:nvSpPr>
          <p:cNvPr id="19" name="矩形 18"/>
          <p:cNvSpPr/>
          <p:nvPr/>
        </p:nvSpPr>
        <p:spPr bwMode="auto">
          <a:xfrm>
            <a:off x="3995936" y="4460168"/>
            <a:ext cx="5112568" cy="432048"/>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eaLnBrk="1" hangingPunct="1"/>
            <a:r>
              <a:rPr lang="zh-CN" altLang="zh-CN" dirty="0"/>
              <a:t>以</a:t>
            </a:r>
            <a:r>
              <a:rPr lang="zh-CN" altLang="en-US" dirty="0"/>
              <a:t>摊余成本计量</a:t>
            </a:r>
            <a:r>
              <a:rPr lang="zh-CN" altLang="zh-CN" dirty="0"/>
              <a:t>的金融资产</a:t>
            </a:r>
            <a:endPar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20" name="文本框 19"/>
          <p:cNvSpPr txBox="1"/>
          <p:nvPr/>
        </p:nvSpPr>
        <p:spPr>
          <a:xfrm>
            <a:off x="2135699" y="5661248"/>
            <a:ext cx="6808275" cy="368300"/>
          </a:xfrm>
          <a:prstGeom prst="rect">
            <a:avLst/>
          </a:prstGeom>
          <a:noFill/>
        </p:spPr>
        <p:txBody>
          <a:bodyPr wrap="square" rtlCol="0">
            <a:spAutoFit/>
          </a:bodyPr>
          <a:lstStyle/>
          <a:p>
            <a:r>
              <a:rPr lang="zh-CN" altLang="en-US" dirty="0">
                <a:solidFill>
                  <a:srgbClr val="FF0000"/>
                </a:solidFill>
                <a:latin typeface="黑体" panose="02010609060101010101" pitchFamily="2" charset="-122"/>
                <a:ea typeface="黑体" panose="02010609060101010101" pitchFamily="2" charset="-122"/>
              </a:rPr>
              <a:t>涉及持有收回的，还需考虑金融工具合同现金流特征</a:t>
            </a:r>
          </a:p>
        </p:txBody>
      </p:sp>
      <p:cxnSp>
        <p:nvCxnSpPr>
          <p:cNvPr id="22" name="直接箭头连接符 21"/>
          <p:cNvCxnSpPr/>
          <p:nvPr/>
        </p:nvCxnSpPr>
        <p:spPr bwMode="auto">
          <a:xfrm>
            <a:off x="3635896" y="2636912"/>
            <a:ext cx="28803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cxnSp>
        <p:nvCxnSpPr>
          <p:cNvPr id="23" name="直接箭头连接符 22"/>
          <p:cNvCxnSpPr/>
          <p:nvPr/>
        </p:nvCxnSpPr>
        <p:spPr bwMode="auto">
          <a:xfrm>
            <a:off x="3635896" y="3356992"/>
            <a:ext cx="28803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cxnSp>
        <p:nvCxnSpPr>
          <p:cNvPr id="24" name="直接箭头连接符 23"/>
          <p:cNvCxnSpPr/>
          <p:nvPr/>
        </p:nvCxnSpPr>
        <p:spPr bwMode="auto">
          <a:xfrm>
            <a:off x="3635896" y="4160608"/>
            <a:ext cx="28803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cxnSp>
        <p:nvCxnSpPr>
          <p:cNvPr id="25" name="直接箭头连接符 24"/>
          <p:cNvCxnSpPr/>
          <p:nvPr/>
        </p:nvCxnSpPr>
        <p:spPr bwMode="auto">
          <a:xfrm>
            <a:off x="3635896" y="4664664"/>
            <a:ext cx="28803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cxnSp>
        <p:nvCxnSpPr>
          <p:cNvPr id="26" name="直接箭头连接符 25"/>
          <p:cNvCxnSpPr/>
          <p:nvPr/>
        </p:nvCxnSpPr>
        <p:spPr bwMode="auto">
          <a:xfrm>
            <a:off x="3635896" y="5312736"/>
            <a:ext cx="28803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sp>
        <p:nvSpPr>
          <p:cNvPr id="27" name="矩形 26"/>
          <p:cNvSpPr/>
          <p:nvPr/>
        </p:nvSpPr>
        <p:spPr bwMode="auto">
          <a:xfrm>
            <a:off x="91318" y="6160931"/>
            <a:ext cx="1368152" cy="432048"/>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混合投资</a:t>
            </a:r>
          </a:p>
        </p:txBody>
      </p:sp>
      <p:sp>
        <p:nvSpPr>
          <p:cNvPr id="28" name="左大括号 27"/>
          <p:cNvSpPr/>
          <p:nvPr/>
        </p:nvSpPr>
        <p:spPr bwMode="auto">
          <a:xfrm>
            <a:off x="1655676" y="6061938"/>
            <a:ext cx="144016" cy="679430"/>
          </a:xfrm>
          <a:prstGeom prst="leftBrac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29" name="矩形 28"/>
          <p:cNvSpPr/>
          <p:nvPr/>
        </p:nvSpPr>
        <p:spPr bwMode="auto">
          <a:xfrm>
            <a:off x="2171704" y="6093296"/>
            <a:ext cx="1368152" cy="432048"/>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a:t>
            </a:r>
            <a:endParaRPr kumimoji="0" lang="zh-CN" altLang="en-US"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5210" y="1863090"/>
            <a:ext cx="7772400" cy="3745865"/>
          </a:xfrm>
        </p:spPr>
        <p:txBody>
          <a:bodyPr/>
          <a:lstStyle/>
          <a:p>
            <a:pPr marL="0" indent="0">
              <a:buNone/>
            </a:pPr>
            <a:endParaRPr lang="zh-CN" altLang="en-US" sz="4400" b="1">
              <a:solidFill>
                <a:schemeClr val="tx2"/>
              </a:solidFill>
              <a:effectLst>
                <a:outerShdw blurRad="38100" dist="38100" dir="2700000" algn="tl">
                  <a:srgbClr val="C0C0C0"/>
                </a:outerShdw>
              </a:effectLst>
              <a:ea typeface="+mj-ea"/>
              <a:cs typeface="+mj-cs"/>
            </a:endParaRPr>
          </a:p>
          <a:p>
            <a:pPr marL="0" indent="0">
              <a:buNone/>
            </a:pPr>
            <a:endParaRPr lang="zh-CN" altLang="en-US" sz="4400" b="1">
              <a:solidFill>
                <a:schemeClr val="tx2"/>
              </a:solidFill>
              <a:effectLst>
                <a:outerShdw blurRad="38100" dist="38100" dir="2700000" algn="tl">
                  <a:srgbClr val="C0C0C0"/>
                </a:outerShdw>
              </a:effectLst>
              <a:ea typeface="+mj-ea"/>
              <a:cs typeface="+mj-cs"/>
            </a:endParaRPr>
          </a:p>
          <a:p>
            <a:pPr marL="0" indent="0">
              <a:buNone/>
            </a:pPr>
            <a:r>
              <a:rPr lang="zh-CN" altLang="en-US" sz="4400" b="1">
                <a:solidFill>
                  <a:schemeClr val="tx2"/>
                </a:solidFill>
                <a:effectLst>
                  <a:outerShdw blurRad="38100" dist="38100" dir="2700000" algn="tl">
                    <a:srgbClr val="C0C0C0"/>
                  </a:outerShdw>
                </a:effectLst>
                <a:ea typeface="+mj-ea"/>
                <a:cs typeface="+mj-cs"/>
              </a:rPr>
              <a:t>二、以公允价值计量且其变动计入当期损益的金融资产</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sz="3600" b="0">
                <a:latin typeface="华文中宋" pitchFamily="2" charset="-122"/>
              </a:rPr>
              <a:t>二、</a:t>
            </a:r>
            <a:r>
              <a:rPr lang="zh-CN" altLang="zh-CN" sz="3600" b="0">
                <a:latin typeface="华文中宋" pitchFamily="2" charset="-122"/>
              </a:rPr>
              <a:t>以公允价值计量且其变动计入当期损益的金融资产</a:t>
            </a:r>
            <a:endParaRPr lang="zh-CN" altLang="en-US" sz="3600"/>
          </a:p>
        </p:txBody>
      </p:sp>
      <p:sp>
        <p:nvSpPr>
          <p:cNvPr id="26627" name="Rectangle 3"/>
          <p:cNvSpPr>
            <a:spLocks noGrp="1" noChangeArrowheads="1"/>
          </p:cNvSpPr>
          <p:nvPr>
            <p:ph idx="1"/>
          </p:nvPr>
        </p:nvSpPr>
        <p:spPr/>
        <p:txBody>
          <a:bodyPr/>
          <a:lstStyle/>
          <a:p>
            <a:r>
              <a:rPr lang="zh-CN" altLang="en-US" dirty="0"/>
              <a:t>涉及的问题</a:t>
            </a:r>
            <a:endParaRPr lang="en-US" altLang="zh-CN" dirty="0"/>
          </a:p>
          <a:p>
            <a:pPr lvl="1"/>
            <a:r>
              <a:rPr lang="zh-CN" altLang="en-US" dirty="0"/>
              <a:t>定义</a:t>
            </a:r>
          </a:p>
          <a:p>
            <a:pPr lvl="1"/>
            <a:r>
              <a:rPr lang="zh-CN" altLang="en-US" dirty="0"/>
              <a:t>初始计量</a:t>
            </a:r>
          </a:p>
          <a:p>
            <a:pPr lvl="1"/>
            <a:r>
              <a:rPr lang="zh-CN" altLang="en-US" dirty="0"/>
              <a:t>后续计量</a:t>
            </a:r>
          </a:p>
          <a:p>
            <a:pPr lvl="2"/>
            <a:r>
              <a:rPr lang="zh-CN" altLang="en-US" dirty="0"/>
              <a:t>收到股利或利息</a:t>
            </a:r>
          </a:p>
          <a:p>
            <a:pPr lvl="2"/>
            <a:r>
              <a:rPr lang="zh-CN" altLang="en-US" dirty="0"/>
              <a:t>期末计价</a:t>
            </a:r>
          </a:p>
          <a:p>
            <a:pPr lvl="1"/>
            <a:r>
              <a:rPr lang="zh-CN" altLang="en-US" dirty="0"/>
              <a:t>处置</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pPr eaLnBrk="1" hangingPunct="1">
              <a:defRPr/>
            </a:pPr>
            <a:r>
              <a:rPr lang="en-US" altLang="zh-CN">
                <a:latin typeface="幼圆" pitchFamily="49" charset="-122"/>
              </a:rPr>
              <a:t>1.</a:t>
            </a:r>
            <a:r>
              <a:rPr lang="zh-CN" altLang="en-US">
                <a:latin typeface="幼圆" pitchFamily="49" charset="-122"/>
              </a:rPr>
              <a:t>交易性</a:t>
            </a:r>
            <a:r>
              <a:rPr lang="zh-CN" altLang="en-US">
                <a:effectLst>
                  <a:outerShdw blurRad="38100" dist="38100" dir="2700000" algn="tl">
                    <a:srgbClr val="C0C0C0"/>
                  </a:outerShdw>
                </a:effectLst>
                <a:latin typeface="幼圆" pitchFamily="49" charset="-122"/>
              </a:rPr>
              <a:t>金融资产</a:t>
            </a:r>
          </a:p>
        </p:txBody>
      </p:sp>
      <p:sp>
        <p:nvSpPr>
          <p:cNvPr id="13315" name="Rectangle 3"/>
          <p:cNvSpPr>
            <a:spLocks noGrp="1" noChangeArrowheads="1"/>
          </p:cNvSpPr>
          <p:nvPr>
            <p:ph idx="1"/>
          </p:nvPr>
        </p:nvSpPr>
        <p:spPr/>
        <p:txBody>
          <a:bodyPr/>
          <a:lstStyle/>
          <a:p>
            <a:pPr eaLnBrk="1" hangingPunct="1"/>
            <a:r>
              <a:rPr lang="zh-CN" altLang="zh-CN" b="0"/>
              <a:t>以公允价值计量且其变动计入当期损益的金融资产</a:t>
            </a:r>
            <a:r>
              <a:rPr lang="zh-CN" altLang="en-US" b="0"/>
              <a:t>主要为交易性金融资产</a:t>
            </a:r>
            <a:endParaRPr lang="en-US" altLang="zh-CN" sz="2800"/>
          </a:p>
          <a:p>
            <a:pPr eaLnBrk="1" hangingPunct="1"/>
            <a:r>
              <a:rPr lang="zh-CN" altLang="en-US"/>
              <a:t>主要特征：以</a:t>
            </a:r>
            <a:r>
              <a:rPr lang="zh-CN" altLang="en-US">
                <a:solidFill>
                  <a:srgbClr val="FF0000"/>
                </a:solidFill>
              </a:rPr>
              <a:t>近期</a:t>
            </a:r>
            <a:r>
              <a:rPr lang="zh-CN" altLang="en-US"/>
              <a:t>出售获取价差为目的</a:t>
            </a:r>
          </a:p>
          <a:p>
            <a:pPr lvl="1" eaLnBrk="1" hangingPunct="1"/>
            <a:r>
              <a:rPr lang="zh-CN" altLang="en-US" sz="2400"/>
              <a:t>股票</a:t>
            </a:r>
          </a:p>
          <a:p>
            <a:pPr lvl="1" eaLnBrk="1" hangingPunct="1"/>
            <a:r>
              <a:rPr lang="zh-CN" altLang="en-US" sz="2400"/>
              <a:t>债券</a:t>
            </a:r>
          </a:p>
          <a:p>
            <a:pPr lvl="1" eaLnBrk="1" hangingPunct="1"/>
            <a:r>
              <a:rPr lang="zh-CN" altLang="en-US" sz="2400"/>
              <a:t>基金</a:t>
            </a:r>
            <a:endParaRPr lang="en-US" altLang="zh-CN" sz="2400"/>
          </a:p>
          <a:p>
            <a:pPr lvl="1" eaLnBrk="1" hangingPunct="1"/>
            <a:endParaRPr lang="en-US" altLang="zh-CN" sz="2400"/>
          </a:p>
          <a:p>
            <a:pPr eaLnBrk="1" hangingPunct="1"/>
            <a:r>
              <a:rPr lang="zh-CN" altLang="en-US"/>
              <a:t>思考：近期应该是指在多长时间内呢？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315">
                                            <p:txEl>
                                              <p:pRg st="6" end="6"/>
                                            </p:txEl>
                                          </p:spTgt>
                                        </p:tgtEl>
                                        <p:attrNameLst>
                                          <p:attrName>style.visibility</p:attrName>
                                        </p:attrNameLst>
                                      </p:cBhvr>
                                      <p:to>
                                        <p:strVal val="visible"/>
                                      </p:to>
                                    </p:set>
                                    <p:animEffect transition="in" filter="blinds(horizontal)">
                                      <p:cBhvr>
                                        <p:cTn id="7" dur="500"/>
                                        <p:tgtEl>
                                          <p:spTgt spid="133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noChangeArrowheads="1"/>
          </p:cNvSpPr>
          <p:nvPr>
            <p:ph type="title"/>
          </p:nvPr>
        </p:nvSpPr>
        <p:spPr/>
        <p:txBody>
          <a:bodyPr/>
          <a:lstStyle/>
          <a:p>
            <a:r>
              <a:rPr lang="zh-CN" altLang="en-US" sz="3600"/>
              <a:t>（</a:t>
            </a:r>
            <a:r>
              <a:rPr lang="en-US" altLang="zh-CN" sz="3600"/>
              <a:t>1</a:t>
            </a:r>
            <a:r>
              <a:rPr lang="zh-CN" altLang="en-US" sz="3600"/>
              <a:t>）交易性金融资产的确认和计量</a:t>
            </a:r>
          </a:p>
        </p:txBody>
      </p:sp>
      <p:sp>
        <p:nvSpPr>
          <p:cNvPr id="3" name="内容占位符 2"/>
          <p:cNvSpPr>
            <a:spLocks noGrp="1" noChangeArrowheads="1"/>
          </p:cNvSpPr>
          <p:nvPr>
            <p:ph idx="1"/>
          </p:nvPr>
        </p:nvSpPr>
        <p:spPr/>
        <p:txBody>
          <a:bodyPr/>
          <a:lstStyle/>
          <a:p>
            <a:pPr>
              <a:spcBef>
                <a:spcPct val="0"/>
              </a:spcBef>
            </a:pPr>
            <a:r>
              <a:rPr lang="zh-CN" altLang="en-US"/>
              <a:t>主要环节</a:t>
            </a:r>
            <a:endParaRPr lang="en-US" altLang="zh-CN"/>
          </a:p>
          <a:p>
            <a:pPr lvl="1">
              <a:spcBef>
                <a:spcPct val="0"/>
              </a:spcBef>
            </a:pPr>
            <a:r>
              <a:rPr lang="zh-CN" altLang="en-US"/>
              <a:t>初始计量</a:t>
            </a:r>
            <a:endParaRPr lang="en-US" altLang="zh-CN"/>
          </a:p>
          <a:p>
            <a:pPr lvl="2">
              <a:spcBef>
                <a:spcPct val="0"/>
              </a:spcBef>
            </a:pPr>
            <a:r>
              <a:rPr lang="zh-CN" altLang="en-US"/>
              <a:t>取得</a:t>
            </a:r>
          </a:p>
          <a:p>
            <a:pPr lvl="1">
              <a:spcBef>
                <a:spcPct val="0"/>
              </a:spcBef>
            </a:pPr>
            <a:r>
              <a:rPr lang="zh-CN" altLang="en-US"/>
              <a:t>后续计量</a:t>
            </a:r>
          </a:p>
          <a:p>
            <a:pPr lvl="2">
              <a:spcBef>
                <a:spcPct val="0"/>
              </a:spcBef>
            </a:pPr>
            <a:r>
              <a:rPr lang="zh-CN" altLang="en-US"/>
              <a:t>收到股利或利息</a:t>
            </a:r>
          </a:p>
          <a:p>
            <a:pPr lvl="2">
              <a:spcBef>
                <a:spcPct val="0"/>
              </a:spcBef>
            </a:pPr>
            <a:r>
              <a:rPr lang="zh-CN" altLang="en-US"/>
              <a:t>期末计价</a:t>
            </a:r>
          </a:p>
          <a:p>
            <a:pPr lvl="1">
              <a:spcBef>
                <a:spcPct val="0"/>
              </a:spcBef>
            </a:pPr>
            <a:r>
              <a:rPr lang="zh-CN" altLang="en-US"/>
              <a:t>处置</a:t>
            </a:r>
          </a:p>
          <a:p>
            <a:pPr eaLnBrk="1" hangingPunct="1">
              <a:spcBef>
                <a:spcPct val="0"/>
              </a:spcBef>
            </a:pPr>
            <a:r>
              <a:rPr lang="zh-CN" altLang="en-US"/>
              <a:t>账户设置</a:t>
            </a:r>
            <a:endParaRPr lang="en-US" altLang="zh-CN"/>
          </a:p>
          <a:p>
            <a:pPr lvl="1" eaLnBrk="1" hangingPunct="1">
              <a:spcBef>
                <a:spcPct val="0"/>
              </a:spcBef>
            </a:pPr>
            <a:r>
              <a:rPr lang="zh-CN" altLang="en-US" sz="2400"/>
              <a:t>交易性金融资产通过</a:t>
            </a:r>
            <a:r>
              <a:rPr lang="zh-CN" altLang="en-US" sz="2400">
                <a:latin typeface="Arial" panose="020B0604020202020204" pitchFamily="34" charset="0"/>
              </a:rPr>
              <a:t>“</a:t>
            </a:r>
            <a:r>
              <a:rPr lang="zh-CN" altLang="en-US" sz="2400"/>
              <a:t>交易性金融资产</a:t>
            </a:r>
            <a:r>
              <a:rPr lang="zh-CN" altLang="en-US" sz="2400">
                <a:latin typeface="Arial" panose="020B0604020202020204" pitchFamily="34" charset="0"/>
              </a:rPr>
              <a:t>”</a:t>
            </a:r>
            <a:r>
              <a:rPr lang="zh-CN" altLang="en-US" sz="2400"/>
              <a:t>进行核算，并按类别设置如下明细科目：</a:t>
            </a:r>
          </a:p>
          <a:p>
            <a:pPr lvl="2" eaLnBrk="1" hangingPunct="1">
              <a:spcBef>
                <a:spcPct val="0"/>
              </a:spcBef>
            </a:pPr>
            <a:r>
              <a:rPr lang="en-US" altLang="zh-CN" sz="2000">
                <a:latin typeface="Arial" panose="020B0604020202020204" pitchFamily="34" charset="0"/>
              </a:rPr>
              <a:t>——“</a:t>
            </a:r>
            <a:r>
              <a:rPr lang="zh-CN" altLang="en-US" sz="2000"/>
              <a:t>成本</a:t>
            </a:r>
            <a:r>
              <a:rPr lang="zh-CN" altLang="en-US" sz="2000">
                <a:latin typeface="Arial" panose="020B0604020202020204" pitchFamily="34" charset="0"/>
              </a:rPr>
              <a:t>”</a:t>
            </a:r>
            <a:r>
              <a:rPr lang="zh-CN" altLang="en-US" sz="2000"/>
              <a:t>（核算取得时的公允价值）</a:t>
            </a:r>
          </a:p>
          <a:p>
            <a:pPr lvl="2" eaLnBrk="1" hangingPunct="1">
              <a:spcBef>
                <a:spcPct val="0"/>
              </a:spcBef>
            </a:pPr>
            <a:r>
              <a:rPr lang="en-US" altLang="zh-CN" sz="2000">
                <a:latin typeface="Arial" panose="020B0604020202020204" pitchFamily="34" charset="0"/>
              </a:rPr>
              <a:t>——“</a:t>
            </a:r>
            <a:r>
              <a:rPr lang="zh-CN" altLang="en-US" sz="2000"/>
              <a:t>公允价值变动</a:t>
            </a:r>
            <a:r>
              <a:rPr lang="zh-CN" altLang="en-US" sz="2000">
                <a:latin typeface="Arial" panose="020B0604020202020204" pitchFamily="34" charset="0"/>
              </a:rPr>
              <a:t>”</a:t>
            </a:r>
            <a:r>
              <a:rPr lang="zh-CN" altLang="en-US" sz="2000"/>
              <a:t>（核算后续公允价值变动）</a:t>
            </a:r>
          </a:p>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linds(horizontal)">
                                      <p:cBhvr>
                                        <p:cTn id="16" dur="500"/>
                                        <p:tgtEl>
                                          <p:spTgt spid="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linds(horizontal)">
                                      <p:cBhvr>
                                        <p:cTn id="19" dur="500"/>
                                        <p:tgtEl>
                                          <p:spTgt spid="3">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linds(horizontal)">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blinds(horizontal)">
                                      <p:cBhvr>
                                        <p:cTn id="27" dur="500"/>
                                        <p:tgtEl>
                                          <p:spTgt spid="3">
                                            <p:txEl>
                                              <p:pRg st="8" end="8"/>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blinds(horizontal)">
                                      <p:cBhvr>
                                        <p:cTn id="30" dur="500"/>
                                        <p:tgtEl>
                                          <p:spTgt spid="3">
                                            <p:txEl>
                                              <p:pRg st="9" end="9"/>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Effect transition="in" filter="blinds(horizontal)">
                                      <p:cBhvr>
                                        <p:cTn id="3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zh-CN" altLang="en-US"/>
              <a:t>（</a:t>
            </a:r>
            <a:r>
              <a:rPr lang="en-US" altLang="zh-CN"/>
              <a:t>2</a:t>
            </a:r>
            <a:r>
              <a:rPr lang="zh-CN" altLang="en-US"/>
              <a:t>）购入交易性金融资产</a:t>
            </a:r>
          </a:p>
        </p:txBody>
      </p:sp>
      <p:sp>
        <p:nvSpPr>
          <p:cNvPr id="14339" name="Rectangle 3"/>
          <p:cNvSpPr>
            <a:spLocks noGrp="1" noChangeArrowheads="1"/>
          </p:cNvSpPr>
          <p:nvPr>
            <p:ph idx="1"/>
          </p:nvPr>
        </p:nvSpPr>
        <p:spPr/>
        <p:txBody>
          <a:bodyPr/>
          <a:lstStyle/>
          <a:p>
            <a:pPr eaLnBrk="1" hangingPunct="1"/>
            <a:r>
              <a:rPr lang="zh-CN" altLang="en-US" b="0"/>
              <a:t>购入交易性金融资产时</a:t>
            </a:r>
            <a:r>
              <a:rPr lang="zh-CN" altLang="en-US" sz="2800" b="0"/>
              <a:t>：</a:t>
            </a:r>
          </a:p>
          <a:p>
            <a:pPr eaLnBrk="1" hangingPunct="1"/>
            <a:r>
              <a:rPr lang="zh-CN" altLang="en-US" b="0"/>
              <a:t>原则：</a:t>
            </a:r>
            <a:endParaRPr lang="en-US" altLang="zh-CN" b="0"/>
          </a:p>
          <a:p>
            <a:pPr lvl="1" eaLnBrk="1" hangingPunct="1"/>
            <a:r>
              <a:rPr lang="zh-CN" altLang="en-US" sz="2400" b="0"/>
              <a:t>按公允价值计量</a:t>
            </a:r>
            <a:endParaRPr lang="en-US" altLang="zh-CN" sz="2400" b="0"/>
          </a:p>
          <a:p>
            <a:pPr lvl="2" eaLnBrk="1" hangingPunct="1"/>
            <a:r>
              <a:rPr lang="zh-CN" altLang="en-US" sz="2000" b="0">
                <a:latin typeface="宋体" panose="02010600030101010101" pitchFamily="2" charset="-122"/>
              </a:rPr>
              <a:t>市场报价</a:t>
            </a:r>
            <a:r>
              <a:rPr lang="en-US" altLang="zh-CN" sz="2000" b="0">
                <a:latin typeface="宋体" panose="02010600030101010101" pitchFamily="2" charset="-122"/>
              </a:rPr>
              <a:t>×</a:t>
            </a:r>
            <a:r>
              <a:rPr lang="zh-CN" altLang="en-US" sz="2000" b="0">
                <a:latin typeface="宋体" panose="02010600030101010101" pitchFamily="2" charset="-122"/>
              </a:rPr>
              <a:t>交易量</a:t>
            </a:r>
          </a:p>
          <a:p>
            <a:pPr eaLnBrk="1" hangingPunct="1"/>
            <a:r>
              <a:rPr lang="zh-CN" altLang="en-US" b="0"/>
              <a:t>购买时涉及的主要事项</a:t>
            </a:r>
            <a:r>
              <a:rPr lang="zh-CN" altLang="en-US" sz="2800" b="0"/>
              <a:t>：</a:t>
            </a:r>
          </a:p>
          <a:p>
            <a:pPr lvl="1" eaLnBrk="1" hangingPunct="1"/>
            <a:r>
              <a:rPr lang="zh-CN" altLang="en-US" sz="2400" b="0">
                <a:latin typeface="宋体" panose="02010600030101010101" pitchFamily="2" charset="-122"/>
              </a:rPr>
              <a:t>购买时发生的交易费用，如手续费佣金、印花税，直接计入当期损益（投资收益）</a:t>
            </a:r>
          </a:p>
          <a:p>
            <a:pPr lvl="1" eaLnBrk="1" hangingPunct="1"/>
            <a:r>
              <a:rPr lang="zh-CN" altLang="en-US" sz="2400" b="0">
                <a:latin typeface="宋体" panose="02010600030101010101" pitchFamily="2" charset="-122"/>
              </a:rPr>
              <a:t>支付价款中包含的</a:t>
            </a:r>
            <a:r>
              <a:rPr lang="zh-CN" altLang="en-US" sz="2400" b="0"/>
              <a:t>已到付息期但尚未领取的利息或已宣告但尚未发放的现金股利（如果有的话），</a:t>
            </a:r>
            <a:r>
              <a:rPr lang="zh-CN" altLang="en-US" sz="2400">
                <a:solidFill>
                  <a:srgbClr val="FF0000"/>
                </a:solidFill>
                <a:latin typeface="黑体" panose="02010609060101010101" pitchFamily="2" charset="-122"/>
                <a:ea typeface="黑体" panose="02010609060101010101" pitchFamily="2" charset="-122"/>
              </a:rPr>
              <a:t>单独确认为一项资产（应收股利或应收利息）</a:t>
            </a:r>
            <a:endParaRPr lang="en-US" altLang="zh-CN" sz="2400">
              <a:solidFill>
                <a:srgbClr val="FF0000"/>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7" dur="500"/>
                                        <p:tgtEl>
                                          <p:spTgt spid="14339">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339">
                                            <p:txEl>
                                              <p:pRg st="5" end="5"/>
                                            </p:txEl>
                                          </p:spTgt>
                                        </p:tgtEl>
                                        <p:attrNameLst>
                                          <p:attrName>style.visibility</p:attrName>
                                        </p:attrNameLst>
                                      </p:cBhvr>
                                      <p:to>
                                        <p:strVal val="visible"/>
                                      </p:to>
                                    </p:set>
                                    <p:animEffect transition="in" filter="blinds(horizontal)">
                                      <p:cBhvr>
                                        <p:cTn id="10" dur="500"/>
                                        <p:tgtEl>
                                          <p:spTgt spid="14339">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4339">
                                            <p:txEl>
                                              <p:pRg st="6" end="6"/>
                                            </p:txEl>
                                          </p:spTgt>
                                        </p:tgtEl>
                                        <p:attrNameLst>
                                          <p:attrName>style.visibility</p:attrName>
                                        </p:attrNameLst>
                                      </p:cBhvr>
                                      <p:to>
                                        <p:strVal val="visible"/>
                                      </p:to>
                                    </p:set>
                                    <p:animEffect transition="in" filter="blinds(horizontal)">
                                      <p:cBhvr>
                                        <p:cTn id="13" dur="500"/>
                                        <p:tgtEl>
                                          <p:spTgt spid="143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a:t>示例：取得交易性金融资产</a:t>
            </a:r>
          </a:p>
        </p:txBody>
      </p:sp>
      <p:sp>
        <p:nvSpPr>
          <p:cNvPr id="30723" name="Rectangle 3"/>
          <p:cNvSpPr>
            <a:spLocks noGrp="1" noChangeArrowheads="1"/>
          </p:cNvSpPr>
          <p:nvPr>
            <p:ph idx="1"/>
          </p:nvPr>
        </p:nvSpPr>
        <p:spPr/>
        <p:txBody>
          <a:bodyPr/>
          <a:lstStyle/>
          <a:p>
            <a:pPr marL="609600" indent="-609600" eaLnBrk="1" hangingPunct="1">
              <a:lnSpc>
                <a:spcPct val="80000"/>
              </a:lnSpc>
            </a:pPr>
            <a:r>
              <a:rPr lang="zh-CN" altLang="en-US"/>
              <a:t>示例，甲企业购入</a:t>
            </a:r>
            <a:r>
              <a:rPr lang="en-US" altLang="zh-CN">
                <a:latin typeface="Times New Roman" panose="02020603050405020304" pitchFamily="18" charset="0"/>
                <a:cs typeface="Times New Roman" panose="02020603050405020304" pitchFamily="18" charset="0"/>
              </a:rPr>
              <a:t>A</a:t>
            </a:r>
            <a:r>
              <a:rPr lang="zh-CN" altLang="en-US"/>
              <a:t>股票</a:t>
            </a:r>
            <a:r>
              <a:rPr lang="en-US" altLang="zh-CN">
                <a:latin typeface="Times New Roman" panose="02020603050405020304" pitchFamily="18" charset="0"/>
                <a:cs typeface="Times New Roman" panose="02020603050405020304" pitchFamily="18" charset="0"/>
              </a:rPr>
              <a:t>10</a:t>
            </a:r>
            <a:r>
              <a:rPr lang="zh-CN" altLang="en-US"/>
              <a:t>万股，支付的价款为</a:t>
            </a:r>
            <a:r>
              <a:rPr lang="en-US" altLang="zh-CN">
                <a:latin typeface="Times New Roman" panose="02020603050405020304" pitchFamily="18" charset="0"/>
                <a:cs typeface="Times New Roman" panose="02020603050405020304" pitchFamily="18" charset="0"/>
              </a:rPr>
              <a:t>103</a:t>
            </a:r>
            <a:r>
              <a:rPr lang="zh-CN" altLang="en-US"/>
              <a:t>万元，其中包含已宣告发放的现金股利</a:t>
            </a:r>
            <a:r>
              <a:rPr lang="en-US" altLang="zh-CN">
                <a:latin typeface="Times New Roman" panose="02020603050405020304" pitchFamily="18" charset="0"/>
                <a:cs typeface="Times New Roman" panose="02020603050405020304" pitchFamily="18" charset="0"/>
              </a:rPr>
              <a:t>3</a:t>
            </a:r>
            <a:r>
              <a:rPr lang="zh-CN" altLang="en-US"/>
              <a:t>万元。另支付交易费用</a:t>
            </a:r>
            <a:r>
              <a:rPr lang="en-US" altLang="zh-CN">
                <a:latin typeface="Times New Roman" panose="02020603050405020304" pitchFamily="18" charset="0"/>
                <a:cs typeface="Times New Roman" panose="02020603050405020304" pitchFamily="18" charset="0"/>
              </a:rPr>
              <a:t>2</a:t>
            </a:r>
            <a:r>
              <a:rPr lang="zh-CN" altLang="en-US"/>
              <a:t>万元。甲企业将其划分为交易性金融资产，该项交易性金融资产的入账金额为（</a:t>
            </a:r>
            <a:r>
              <a:rPr lang="zh-CN" altLang="en-US">
                <a:latin typeface="Arial" panose="020B0604020202020204" pitchFamily="34" charset="0"/>
              </a:rPr>
              <a:t>  </a:t>
            </a:r>
            <a:r>
              <a:rPr lang="zh-CN" altLang="en-US"/>
              <a:t> ）万元。</a:t>
            </a:r>
            <a:endParaRPr lang="zh-CN" altLang="en-US" sz="2800"/>
          </a:p>
          <a:p>
            <a:pPr marL="609600" indent="-609600" eaLnBrk="1" hangingPunct="1">
              <a:lnSpc>
                <a:spcPct val="80000"/>
              </a:lnSpc>
            </a:pPr>
            <a:r>
              <a:rPr lang="en-US" altLang="zh-CN" sz="2600">
                <a:latin typeface="Times New Roman" panose="02020603050405020304" pitchFamily="18" charset="0"/>
                <a:cs typeface="Times New Roman" panose="02020603050405020304" pitchFamily="18" charset="0"/>
              </a:rPr>
              <a:t>A.103</a:t>
            </a:r>
          </a:p>
          <a:p>
            <a:pPr marL="609600" indent="-609600" eaLnBrk="1" hangingPunct="1">
              <a:lnSpc>
                <a:spcPct val="80000"/>
              </a:lnSpc>
            </a:pPr>
            <a:r>
              <a:rPr lang="en-US" altLang="zh-CN" sz="2600">
                <a:latin typeface="Times New Roman" panose="02020603050405020304" pitchFamily="18" charset="0"/>
                <a:cs typeface="Times New Roman" panose="02020603050405020304" pitchFamily="18" charset="0"/>
              </a:rPr>
              <a:t>B.100</a:t>
            </a:r>
          </a:p>
          <a:p>
            <a:pPr marL="609600" indent="-609600" eaLnBrk="1" hangingPunct="1">
              <a:lnSpc>
                <a:spcPct val="80000"/>
              </a:lnSpc>
            </a:pPr>
            <a:r>
              <a:rPr lang="en-US" altLang="zh-CN" sz="2600">
                <a:latin typeface="Times New Roman" panose="02020603050405020304" pitchFamily="18" charset="0"/>
                <a:cs typeface="Times New Roman" panose="02020603050405020304" pitchFamily="18" charset="0"/>
              </a:rPr>
              <a:t>C.98 </a:t>
            </a:r>
          </a:p>
          <a:p>
            <a:pPr marL="609600" indent="-609600" eaLnBrk="1" hangingPunct="1">
              <a:lnSpc>
                <a:spcPct val="80000"/>
              </a:lnSpc>
            </a:pPr>
            <a:r>
              <a:rPr lang="en-US" altLang="zh-CN" sz="2600">
                <a:latin typeface="Times New Roman" panose="02020603050405020304" pitchFamily="18" charset="0"/>
                <a:cs typeface="Times New Roman" panose="02020603050405020304" pitchFamily="18" charset="0"/>
              </a:rPr>
              <a:t>D.105</a:t>
            </a:r>
          </a:p>
          <a:p>
            <a:pPr marL="609600" indent="-609600" eaLnBrk="1" hangingPunct="1">
              <a:lnSpc>
                <a:spcPct val="80000"/>
              </a:lnSpc>
            </a:pPr>
            <a:r>
              <a:rPr lang="en-US" altLang="zh-CN" sz="2600">
                <a:latin typeface="Times New Roman" panose="02020603050405020304" pitchFamily="18" charset="0"/>
                <a:cs typeface="Times New Roman" panose="02020603050405020304" pitchFamily="18" charset="0"/>
              </a:rPr>
              <a:t>E.102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a:t>（</a:t>
            </a:r>
            <a:r>
              <a:rPr lang="en-US" altLang="zh-CN"/>
              <a:t>2</a:t>
            </a:r>
            <a:r>
              <a:rPr lang="zh-CN" altLang="en-US"/>
              <a:t>）购入交易性金融资产</a:t>
            </a:r>
          </a:p>
        </p:txBody>
      </p:sp>
      <p:sp>
        <p:nvSpPr>
          <p:cNvPr id="31747" name="Rectangle 3"/>
          <p:cNvSpPr>
            <a:spLocks noGrp="1" noChangeArrowheads="1"/>
          </p:cNvSpPr>
          <p:nvPr>
            <p:ph idx="1"/>
          </p:nvPr>
        </p:nvSpPr>
        <p:spPr/>
        <p:txBody>
          <a:bodyPr/>
          <a:lstStyle/>
          <a:p>
            <a:pPr eaLnBrk="1" hangingPunct="1">
              <a:lnSpc>
                <a:spcPct val="90000"/>
              </a:lnSpc>
            </a:pPr>
            <a:r>
              <a:rPr lang="zh-CN" altLang="en-US" b="0" dirty="0"/>
              <a:t>购入交易性金融资产时的会计处理：</a:t>
            </a:r>
          </a:p>
          <a:p>
            <a:pPr lvl="1" eaLnBrk="1" hangingPunct="1">
              <a:lnSpc>
                <a:spcPct val="90000"/>
              </a:lnSpc>
            </a:pPr>
            <a:r>
              <a:rPr lang="zh-CN" altLang="en-US" b="0" dirty="0">
                <a:latin typeface="宋体" panose="02010600030101010101" pitchFamily="2" charset="-122"/>
              </a:rPr>
              <a:t>按取得</a:t>
            </a:r>
            <a:r>
              <a:rPr lang="zh-CN" altLang="en-US" dirty="0">
                <a:solidFill>
                  <a:srgbClr val="FF0000"/>
                </a:solidFill>
                <a:latin typeface="黑体" panose="02010609060101010101" pitchFamily="2" charset="-122"/>
                <a:ea typeface="黑体" panose="02010609060101010101" pitchFamily="2" charset="-122"/>
              </a:rPr>
              <a:t>交易性金融资产</a:t>
            </a:r>
            <a:r>
              <a:rPr lang="zh-CN" altLang="en-US" b="0" dirty="0">
                <a:latin typeface="宋体" panose="02010600030101010101" pitchFamily="2" charset="-122"/>
              </a:rPr>
              <a:t>的公允价值借记</a:t>
            </a:r>
            <a:r>
              <a:rPr lang="zh-CN" altLang="en-US" b="0" dirty="0">
                <a:latin typeface="Arial" panose="020B0604020202020204" pitchFamily="34" charset="0"/>
              </a:rPr>
              <a:t>“</a:t>
            </a:r>
            <a:r>
              <a:rPr lang="zh-CN" altLang="en-US" b="0" dirty="0">
                <a:latin typeface="宋体" panose="02010600030101010101" pitchFamily="2" charset="-122"/>
              </a:rPr>
              <a:t>交易性金融资产</a:t>
            </a:r>
            <a:r>
              <a:rPr lang="en-US" altLang="zh-CN" b="0" dirty="0">
                <a:latin typeface="Arial" panose="020B0604020202020204" pitchFamily="34" charset="0"/>
              </a:rPr>
              <a:t>——</a:t>
            </a:r>
            <a:r>
              <a:rPr lang="zh-CN" altLang="en-US" b="0" dirty="0">
                <a:latin typeface="宋体" panose="02010600030101010101" pitchFamily="2" charset="-122"/>
              </a:rPr>
              <a:t>成本</a:t>
            </a:r>
            <a:r>
              <a:rPr lang="zh-CN" altLang="en-US" b="0" dirty="0">
                <a:latin typeface="Arial" panose="020B0604020202020204" pitchFamily="34" charset="0"/>
              </a:rPr>
              <a:t>”</a:t>
            </a:r>
            <a:endParaRPr lang="zh-CN" altLang="en-US" b="0" dirty="0">
              <a:latin typeface="宋体" panose="02010600030101010101" pitchFamily="2" charset="-122"/>
            </a:endParaRPr>
          </a:p>
          <a:p>
            <a:pPr lvl="1" eaLnBrk="1" hangingPunct="1">
              <a:lnSpc>
                <a:spcPct val="90000"/>
              </a:lnSpc>
            </a:pPr>
            <a:r>
              <a:rPr lang="zh-CN" altLang="en-US" b="0" dirty="0"/>
              <a:t>支付的</a:t>
            </a:r>
            <a:r>
              <a:rPr lang="zh-CN" altLang="en-US" b="0" dirty="0">
                <a:latin typeface="宋体" panose="02010600030101010101" pitchFamily="2" charset="-122"/>
              </a:rPr>
              <a:t>相关交易费用计入当期损益，借记</a:t>
            </a:r>
            <a:r>
              <a:rPr lang="zh-CN" altLang="en-US" b="0" dirty="0">
                <a:latin typeface="Arial" panose="020B0604020202020204" pitchFamily="34" charset="0"/>
              </a:rPr>
              <a:t>“</a:t>
            </a:r>
            <a:r>
              <a:rPr lang="zh-CN" altLang="en-US" b="0" dirty="0">
                <a:latin typeface="宋体" panose="02010600030101010101" pitchFamily="2" charset="-122"/>
              </a:rPr>
              <a:t>投资收益</a:t>
            </a:r>
            <a:r>
              <a:rPr lang="zh-CN" altLang="en-US" b="0" dirty="0">
                <a:latin typeface="Arial" panose="020B0604020202020204" pitchFamily="34" charset="0"/>
              </a:rPr>
              <a:t>”</a:t>
            </a:r>
            <a:endParaRPr lang="zh-CN" altLang="en-US" b="0" dirty="0">
              <a:latin typeface="宋体" panose="02010600030101010101" pitchFamily="2" charset="-122"/>
            </a:endParaRPr>
          </a:p>
          <a:p>
            <a:pPr lvl="1" eaLnBrk="1" hangingPunct="1">
              <a:lnSpc>
                <a:spcPct val="90000"/>
              </a:lnSpc>
            </a:pPr>
            <a:r>
              <a:rPr lang="zh-CN" altLang="en-US" b="0" dirty="0"/>
              <a:t>已到付息期但尚未领取的利息或已宣告但尚未发放的现金股利借记</a:t>
            </a:r>
            <a:r>
              <a:rPr lang="zh-CN" altLang="en-US" b="0" dirty="0">
                <a:latin typeface="Arial" panose="020B0604020202020204" pitchFamily="34" charset="0"/>
              </a:rPr>
              <a:t>“</a:t>
            </a:r>
            <a:r>
              <a:rPr lang="zh-CN" altLang="en-US" b="0" dirty="0"/>
              <a:t>应收股利</a:t>
            </a:r>
            <a:r>
              <a:rPr lang="zh-CN" altLang="en-US" b="0" dirty="0">
                <a:latin typeface="Arial" panose="020B0604020202020204" pitchFamily="34" charset="0"/>
              </a:rPr>
              <a:t>”</a:t>
            </a:r>
            <a:r>
              <a:rPr lang="zh-CN" altLang="en-US" b="0" dirty="0"/>
              <a:t>或</a:t>
            </a:r>
            <a:r>
              <a:rPr lang="zh-CN" altLang="en-US" b="0" dirty="0">
                <a:latin typeface="Arial" panose="020B0604020202020204" pitchFamily="34" charset="0"/>
              </a:rPr>
              <a:t>“</a:t>
            </a:r>
            <a:r>
              <a:rPr lang="zh-CN" altLang="en-US" b="0" dirty="0"/>
              <a:t>应收利息</a:t>
            </a:r>
            <a:r>
              <a:rPr lang="zh-CN" altLang="en-US" b="0" dirty="0">
                <a:latin typeface="Arial" panose="020B0604020202020204" pitchFamily="34" charset="0"/>
              </a:rPr>
              <a:t>”</a:t>
            </a:r>
            <a:endParaRPr lang="zh-CN" altLang="en-US" b="0" dirty="0"/>
          </a:p>
          <a:p>
            <a:pPr lvl="1" eaLnBrk="1" hangingPunct="1">
              <a:lnSpc>
                <a:spcPct val="90000"/>
              </a:lnSpc>
            </a:pPr>
            <a:r>
              <a:rPr lang="zh-CN" altLang="en-US" b="0" dirty="0"/>
              <a:t>支付相关款项贷记</a:t>
            </a:r>
            <a:r>
              <a:rPr lang="zh-CN" altLang="en-US" b="0" dirty="0">
                <a:latin typeface="Arial" panose="020B0604020202020204" pitchFamily="34" charset="0"/>
              </a:rPr>
              <a:t>“</a:t>
            </a:r>
            <a:r>
              <a:rPr lang="zh-CN" altLang="en-US" b="0" dirty="0"/>
              <a:t>其他货币资金</a:t>
            </a:r>
            <a:r>
              <a:rPr lang="en-US" altLang="zh-CN" b="0" dirty="0"/>
              <a:t>——</a:t>
            </a:r>
            <a:r>
              <a:rPr lang="zh-CN" altLang="en-US" b="0" dirty="0"/>
              <a:t>存出投资款</a:t>
            </a:r>
            <a:r>
              <a:rPr lang="zh-CN" altLang="en-US" b="0" dirty="0">
                <a:latin typeface="Arial" panose="020B0604020202020204" pitchFamily="34" charset="0"/>
              </a:rPr>
              <a:t>”（为简化处理，直接记银行存款）</a:t>
            </a:r>
            <a:endParaRPr lang="zh-CN" altLang="en-US" b="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a:t>（</a:t>
            </a:r>
            <a:r>
              <a:rPr lang="en-US" altLang="zh-CN"/>
              <a:t>2</a:t>
            </a:r>
            <a:r>
              <a:rPr lang="zh-CN" altLang="en-US"/>
              <a:t>）购入交易性金融资产</a:t>
            </a:r>
          </a:p>
        </p:txBody>
      </p:sp>
      <p:sp>
        <p:nvSpPr>
          <p:cNvPr id="32771" name="Rectangle 3"/>
          <p:cNvSpPr>
            <a:spLocks noGrp="1" noChangeArrowheads="1"/>
          </p:cNvSpPr>
          <p:nvPr>
            <p:ph idx="1"/>
          </p:nvPr>
        </p:nvSpPr>
        <p:spPr/>
        <p:txBody>
          <a:bodyPr/>
          <a:lstStyle/>
          <a:p>
            <a:pPr marL="0" indent="0" eaLnBrk="1" hangingPunct="1">
              <a:buNone/>
            </a:pPr>
            <a:r>
              <a:rPr lang="zh-CN" altLang="en-US" b="0"/>
              <a:t>购入交易性金融资产时，应进行如下账务处理：</a:t>
            </a:r>
          </a:p>
          <a:p>
            <a:pPr marL="0" indent="0" eaLnBrk="1" hangingPunct="1">
              <a:buNone/>
            </a:pPr>
            <a:r>
              <a:rPr lang="zh-CN" altLang="en-US" b="0"/>
              <a:t>借：</a:t>
            </a:r>
            <a:r>
              <a:rPr lang="zh-CN" altLang="en-US" b="0">
                <a:latin typeface="宋体" panose="02010600030101010101" pitchFamily="2" charset="-122"/>
              </a:rPr>
              <a:t>交易性金融资产</a:t>
            </a:r>
            <a:r>
              <a:rPr lang="en-US" altLang="zh-CN" b="0">
                <a:latin typeface="Arial" panose="020B0604020202020204" pitchFamily="34" charset="0"/>
              </a:rPr>
              <a:t>——</a:t>
            </a:r>
            <a:r>
              <a:rPr lang="zh-CN" altLang="en-US" b="0">
                <a:latin typeface="宋体" panose="02010600030101010101" pitchFamily="2" charset="-122"/>
              </a:rPr>
              <a:t>成本</a:t>
            </a:r>
          </a:p>
          <a:p>
            <a:pPr marL="0" indent="0" eaLnBrk="1" hangingPunct="1">
              <a:buNone/>
            </a:pPr>
            <a:r>
              <a:rPr lang="zh-CN" altLang="en-US" b="0"/>
              <a:t>      应收股利</a:t>
            </a:r>
            <a:r>
              <a:rPr lang="en-US" altLang="zh-CN" b="0"/>
              <a:t>/</a:t>
            </a:r>
            <a:r>
              <a:rPr lang="zh-CN" altLang="en-US" b="0"/>
              <a:t>应收利息</a:t>
            </a:r>
          </a:p>
          <a:p>
            <a:pPr marL="0" indent="0" eaLnBrk="1" hangingPunct="1">
              <a:buNone/>
            </a:pPr>
            <a:r>
              <a:rPr lang="zh-CN" altLang="en-US" b="0"/>
              <a:t>      投资收益</a:t>
            </a:r>
          </a:p>
          <a:p>
            <a:pPr marL="0" indent="0" eaLnBrk="1" hangingPunct="1">
              <a:buNone/>
            </a:pPr>
            <a:r>
              <a:rPr lang="zh-CN" altLang="en-US" b="0"/>
              <a:t>    贷：其他货币资金</a:t>
            </a:r>
            <a:r>
              <a:rPr lang="en-US" altLang="zh-CN" b="0"/>
              <a:t>——</a:t>
            </a:r>
            <a:r>
              <a:rPr lang="zh-CN" altLang="en-US" b="0"/>
              <a:t>存出投资款</a:t>
            </a:r>
          </a:p>
          <a:p>
            <a:pPr marL="0" indent="0" eaLnBrk="1" hangingPunct="1">
              <a:buNone/>
            </a:pPr>
            <a:r>
              <a:rPr lang="zh-CN" altLang="en-US">
                <a:solidFill>
                  <a:srgbClr val="FF0000"/>
                </a:solidFill>
              </a:rPr>
              <a:t>注意</a:t>
            </a:r>
            <a:r>
              <a:rPr lang="zh-CN" altLang="en-US"/>
              <a:t>：交易费用单独核算</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a:t>举例</a:t>
            </a:r>
          </a:p>
        </p:txBody>
      </p:sp>
      <p:sp>
        <p:nvSpPr>
          <p:cNvPr id="274435" name="Rectangle 3"/>
          <p:cNvSpPr>
            <a:spLocks noGrp="1" noChangeArrowheads="1"/>
          </p:cNvSpPr>
          <p:nvPr>
            <p:ph idx="1"/>
          </p:nvPr>
        </p:nvSpPr>
        <p:spPr/>
        <p:txBody>
          <a:bodyPr/>
          <a:lstStyle/>
          <a:p>
            <a:pPr eaLnBrk="1" hangingPunct="1"/>
            <a:r>
              <a:rPr lang="en-US" altLang="zh-CN" b="0"/>
              <a:t>【</a:t>
            </a:r>
            <a:r>
              <a:rPr lang="zh-CN" altLang="en-US" b="0"/>
              <a:t>例</a:t>
            </a:r>
            <a:r>
              <a:rPr lang="en-US" altLang="zh-CN" b="0">
                <a:latin typeface="Times New Roman" panose="02020603050405020304" pitchFamily="18" charset="0"/>
                <a:cs typeface="Times New Roman" panose="02020603050405020304" pitchFamily="18" charset="0"/>
              </a:rPr>
              <a:t>5-1</a:t>
            </a:r>
            <a:r>
              <a:rPr lang="en-US" altLang="zh-CN" b="0"/>
              <a:t>】</a:t>
            </a:r>
            <a:r>
              <a:rPr lang="zh-CN" altLang="en-US" b="0"/>
              <a:t>华峰公司</a:t>
            </a:r>
            <a:r>
              <a:rPr lang="en-US" altLang="zh-CN" b="0">
                <a:latin typeface="Times New Roman" panose="02020603050405020304" pitchFamily="18" charset="0"/>
                <a:cs typeface="Times New Roman" panose="02020603050405020304" pitchFamily="18" charset="0"/>
              </a:rPr>
              <a:t>2</a:t>
            </a:r>
            <a:r>
              <a:rPr lang="zh-CN" altLang="en-US" b="0"/>
              <a:t>月</a:t>
            </a:r>
            <a:r>
              <a:rPr lang="en-US" altLang="zh-CN" b="0">
                <a:latin typeface="Times New Roman" panose="02020603050405020304" pitchFamily="18" charset="0"/>
                <a:cs typeface="Times New Roman" panose="02020603050405020304" pitchFamily="18" charset="0"/>
              </a:rPr>
              <a:t>10</a:t>
            </a:r>
            <a:r>
              <a:rPr lang="zh-CN" altLang="en-US" b="0"/>
              <a:t>日从</a:t>
            </a:r>
            <a:r>
              <a:rPr lang="en-US" altLang="zh-CN" b="0">
                <a:latin typeface="Times New Roman" panose="02020603050405020304" pitchFamily="18" charset="0"/>
                <a:cs typeface="Times New Roman" panose="02020603050405020304" pitchFamily="18" charset="0"/>
              </a:rPr>
              <a:t>A</a:t>
            </a:r>
            <a:r>
              <a:rPr lang="zh-CN" altLang="en-US" b="0"/>
              <a:t>股票市场购入</a:t>
            </a:r>
            <a:r>
              <a:rPr lang="en-US" altLang="zh-CN" b="0">
                <a:latin typeface="Times New Roman" panose="02020603050405020304" pitchFamily="18" charset="0"/>
                <a:cs typeface="Times New Roman" panose="02020603050405020304" pitchFamily="18" charset="0"/>
              </a:rPr>
              <a:t>S</a:t>
            </a:r>
            <a:r>
              <a:rPr lang="zh-CN" altLang="en-US" b="0"/>
              <a:t>公司股票</a:t>
            </a:r>
            <a:r>
              <a:rPr lang="en-US" altLang="zh-CN" b="0">
                <a:latin typeface="Times New Roman" panose="02020603050405020304" pitchFamily="18" charset="0"/>
                <a:cs typeface="Times New Roman" panose="02020603050405020304" pitchFamily="18" charset="0"/>
              </a:rPr>
              <a:t>3 000</a:t>
            </a:r>
            <a:r>
              <a:rPr lang="zh-CN" altLang="en-US" b="0"/>
              <a:t>股，每股购买价格</a:t>
            </a:r>
            <a:r>
              <a:rPr lang="en-US" altLang="zh-CN" b="0">
                <a:latin typeface="Times New Roman" panose="02020603050405020304" pitchFamily="18" charset="0"/>
                <a:cs typeface="Times New Roman" panose="02020603050405020304" pitchFamily="18" charset="0"/>
              </a:rPr>
              <a:t>10</a:t>
            </a:r>
            <a:r>
              <a:rPr lang="zh-CN" altLang="en-US" b="0"/>
              <a:t>元，另支付交易手续费及印花税等计</a:t>
            </a:r>
            <a:r>
              <a:rPr lang="en-US" altLang="zh-CN" b="0">
                <a:latin typeface="Times New Roman" panose="02020603050405020304" pitchFamily="18" charset="0"/>
                <a:cs typeface="Times New Roman" panose="02020603050405020304" pitchFamily="18" charset="0"/>
              </a:rPr>
              <a:t>180</a:t>
            </a:r>
            <a:r>
              <a:rPr lang="zh-CN" altLang="en-US" b="0"/>
              <a:t>元，款项以存入证券公司投资款支付。购入的股票主要是为近期出售而获取差价的。</a:t>
            </a:r>
          </a:p>
          <a:p>
            <a:pPr marL="0" indent="0" eaLnBrk="1" hangingPunct="1">
              <a:buNone/>
            </a:pPr>
            <a:r>
              <a:rPr lang="zh-CN" altLang="en-US" b="1">
                <a:latin typeface="楷体_GB2312" panose="02010609030101010101" pitchFamily="49" charset="-122"/>
                <a:ea typeface="楷体_GB2312" panose="02010609030101010101" pitchFamily="49" charset="-122"/>
                <a:cs typeface="+mn-ea"/>
              </a:rPr>
              <a:t>借：交易性金融资产</a:t>
            </a:r>
            <a:r>
              <a:rPr b="1">
                <a:latin typeface="楷体_GB2312" panose="02010609030101010101" pitchFamily="49" charset="-122"/>
                <a:ea typeface="楷体_GB2312" panose="02010609030101010101" pitchFamily="49" charset="-122"/>
                <a:cs typeface="+mn-ea"/>
              </a:rPr>
              <a:t>—</a:t>
            </a:r>
            <a:r>
              <a:rPr lang="zh-CN" altLang="en-US" b="1">
                <a:latin typeface="楷体_GB2312" panose="02010609030101010101" pitchFamily="49" charset="-122"/>
                <a:ea typeface="楷体_GB2312" panose="02010609030101010101" pitchFamily="49" charset="-122"/>
                <a:cs typeface="+mn-ea"/>
              </a:rPr>
              <a:t>成本</a:t>
            </a:r>
            <a:r>
              <a:rPr lang="zh-CN" altLang="en-US" sz="2800" b="1">
                <a:latin typeface="楷体_GB2312" panose="02010609030101010101" pitchFamily="49" charset="-122"/>
                <a:ea typeface="楷体_GB2312" panose="02010609030101010101" pitchFamily="49" charset="-122"/>
                <a:cs typeface="+mn-ea"/>
              </a:rPr>
              <a:t>  </a:t>
            </a:r>
            <a:r>
              <a:rPr lang="zh-CN" altLang="en-US" b="0"/>
              <a:t>          </a:t>
            </a:r>
            <a:r>
              <a:rPr lang="en-US" altLang="zh-CN" b="0">
                <a:latin typeface="Times New Roman" panose="02020603050405020304" pitchFamily="18" charset="0"/>
                <a:cs typeface="Times New Roman" panose="02020603050405020304" pitchFamily="18" charset="0"/>
              </a:rPr>
              <a:t>30 000</a:t>
            </a:r>
            <a:endParaRPr lang="en-US" altLang="zh-CN" b="0"/>
          </a:p>
          <a:p>
            <a:pPr marL="0" indent="0" eaLnBrk="1" hangingPunct="1">
              <a:buNone/>
            </a:pPr>
            <a:r>
              <a:rPr lang="en-US" altLang="zh-CN" b="0"/>
              <a:t>    </a:t>
            </a:r>
            <a:r>
              <a:rPr lang="zh-CN" altLang="en-US" sz="2600" b="1">
                <a:latin typeface="楷体_GB2312" panose="02010609030101010101" pitchFamily="49" charset="-122"/>
                <a:ea typeface="楷体_GB2312" panose="02010609030101010101" pitchFamily="49" charset="-122"/>
                <a:cs typeface="+mn-ea"/>
              </a:rPr>
              <a:t>投资收益 </a:t>
            </a:r>
            <a:r>
              <a:rPr lang="zh-CN" altLang="en-US" b="0"/>
              <a:t>                          </a:t>
            </a:r>
            <a:r>
              <a:rPr lang="en-US" altLang="zh-CN" b="0">
                <a:latin typeface="Times New Roman" panose="02020603050405020304" pitchFamily="18" charset="0"/>
                <a:cs typeface="Times New Roman" panose="02020603050405020304" pitchFamily="18" charset="0"/>
              </a:rPr>
              <a:t>180</a:t>
            </a:r>
            <a:endParaRPr lang="en-US" altLang="zh-CN" b="0"/>
          </a:p>
          <a:p>
            <a:pPr marL="0" indent="0" eaLnBrk="1" hangingPunct="1">
              <a:buNone/>
            </a:pPr>
            <a:r>
              <a:rPr lang="en-US" altLang="zh-CN" b="0"/>
              <a:t>    </a:t>
            </a:r>
            <a:r>
              <a:rPr lang="zh-CN" altLang="en-US" sz="2600" b="1">
                <a:latin typeface="楷体_GB2312" panose="02010609030101010101" pitchFamily="49" charset="-122"/>
                <a:ea typeface="楷体_GB2312" panose="02010609030101010101" pitchFamily="49" charset="-122"/>
                <a:cs typeface="+mn-ea"/>
              </a:rPr>
              <a:t>贷：其他货币资金</a:t>
            </a:r>
            <a:r>
              <a:rPr sz="2600" b="1">
                <a:latin typeface="楷体_GB2312" panose="02010609030101010101" pitchFamily="49" charset="-122"/>
                <a:ea typeface="楷体_GB2312" panose="02010609030101010101" pitchFamily="49" charset="-122"/>
                <a:cs typeface="+mn-ea"/>
              </a:rPr>
              <a:t>—</a:t>
            </a:r>
            <a:r>
              <a:rPr lang="zh-CN" altLang="en-US" sz="2600" b="1">
                <a:latin typeface="楷体_GB2312" panose="02010609030101010101" pitchFamily="49" charset="-122"/>
                <a:ea typeface="楷体_GB2312" panose="02010609030101010101" pitchFamily="49" charset="-122"/>
                <a:cs typeface="+mn-ea"/>
              </a:rPr>
              <a:t>存出投资款</a:t>
            </a:r>
            <a:r>
              <a:rPr lang="zh-CN" altLang="en-US" b="0"/>
              <a:t>     </a:t>
            </a:r>
            <a:r>
              <a:rPr lang="en-US" altLang="zh-CN" b="0">
                <a:latin typeface="Times New Roman" panose="02020603050405020304" pitchFamily="18" charset="0"/>
                <a:cs typeface="Times New Roman" panose="02020603050405020304" pitchFamily="18" charset="0"/>
              </a:rPr>
              <a:t> 30 180</a:t>
            </a:r>
            <a:endParaRPr lang="en-US" altLang="zh-CN">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74435">
                                            <p:txEl>
                                              <p:pRg st="1" end="1"/>
                                            </p:txEl>
                                          </p:spTgt>
                                        </p:tgtEl>
                                        <p:attrNameLst>
                                          <p:attrName>style.visibility</p:attrName>
                                        </p:attrNameLst>
                                      </p:cBhvr>
                                      <p:to>
                                        <p:strVal val="visible"/>
                                      </p:to>
                                    </p:set>
                                    <p:animEffect transition="in" filter="box(in)">
                                      <p:cBhvr>
                                        <p:cTn id="7" dur="500"/>
                                        <p:tgtEl>
                                          <p:spTgt spid="274435">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74435">
                                            <p:txEl>
                                              <p:pRg st="2" end="2"/>
                                            </p:txEl>
                                          </p:spTgt>
                                        </p:tgtEl>
                                        <p:attrNameLst>
                                          <p:attrName>style.visibility</p:attrName>
                                        </p:attrNameLst>
                                      </p:cBhvr>
                                      <p:to>
                                        <p:strVal val="visible"/>
                                      </p:to>
                                    </p:set>
                                    <p:animEffect transition="in" filter="box(in)">
                                      <p:cBhvr>
                                        <p:cTn id="10" dur="500"/>
                                        <p:tgtEl>
                                          <p:spTgt spid="274435">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74435">
                                            <p:txEl>
                                              <p:pRg st="3" end="3"/>
                                            </p:txEl>
                                          </p:spTgt>
                                        </p:tgtEl>
                                        <p:attrNameLst>
                                          <p:attrName>style.visibility</p:attrName>
                                        </p:attrNameLst>
                                      </p:cBhvr>
                                      <p:to>
                                        <p:strVal val="visible"/>
                                      </p:to>
                                    </p:set>
                                    <p:animEffect transition="in" filter="box(in)">
                                      <p:cBhvr>
                                        <p:cTn id="13" dur="500"/>
                                        <p:tgtEl>
                                          <p:spTgt spid="2744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sz="3600"/>
              <a:t>（</a:t>
            </a:r>
            <a:r>
              <a:rPr lang="en-US" altLang="zh-CN" sz="3600"/>
              <a:t>3</a:t>
            </a:r>
            <a:r>
              <a:rPr lang="zh-CN" altLang="en-US" sz="3600"/>
              <a:t>）交易性金融资产出售前的现金股利或利息</a:t>
            </a:r>
          </a:p>
        </p:txBody>
      </p:sp>
      <p:sp>
        <p:nvSpPr>
          <p:cNvPr id="34819" name="Rectangle 3"/>
          <p:cNvSpPr>
            <a:spLocks noGrp="1" noChangeArrowheads="1"/>
          </p:cNvSpPr>
          <p:nvPr>
            <p:ph idx="1"/>
          </p:nvPr>
        </p:nvSpPr>
        <p:spPr>
          <a:xfrm>
            <a:off x="941388" y="2189163"/>
            <a:ext cx="7772400" cy="4114800"/>
          </a:xfrm>
        </p:spPr>
        <p:txBody>
          <a:bodyPr/>
          <a:lstStyle/>
          <a:p>
            <a:pPr eaLnBrk="1" hangingPunct="1">
              <a:lnSpc>
                <a:spcPct val="90000"/>
              </a:lnSpc>
            </a:pPr>
            <a:r>
              <a:rPr lang="zh-CN" altLang="en-US" dirty="0"/>
              <a:t>交易性金融资产持有期间被投资单位发放的</a:t>
            </a:r>
            <a:r>
              <a:rPr lang="zh-CN" altLang="en-US" dirty="0">
                <a:solidFill>
                  <a:srgbClr val="FF0000"/>
                </a:solidFill>
              </a:rPr>
              <a:t>现金股利、应收利息</a:t>
            </a:r>
            <a:r>
              <a:rPr lang="zh-CN" altLang="en-US" dirty="0"/>
              <a:t>等，应作为交易性金融资产持有期间实际实现的</a:t>
            </a:r>
            <a:r>
              <a:rPr lang="zh-CN" altLang="en-US" dirty="0">
                <a:solidFill>
                  <a:srgbClr val="FF0000"/>
                </a:solidFill>
              </a:rPr>
              <a:t>投资收益</a:t>
            </a:r>
            <a:r>
              <a:rPr lang="zh-CN" altLang="en-US" dirty="0"/>
              <a:t>。相应地，借记</a:t>
            </a:r>
            <a:r>
              <a:rPr lang="zh-CN" altLang="en-US" dirty="0">
                <a:latin typeface="Arial" panose="020B0604020202020204" pitchFamily="34" charset="0"/>
              </a:rPr>
              <a:t> “</a:t>
            </a:r>
            <a:r>
              <a:rPr lang="zh-CN" altLang="en-US" dirty="0"/>
              <a:t>应收股利</a:t>
            </a:r>
            <a:r>
              <a:rPr lang="zh-CN" altLang="en-US" dirty="0">
                <a:latin typeface="Arial" panose="020B0604020202020204" pitchFamily="34" charset="0"/>
              </a:rPr>
              <a:t>”“应收利息”等</a:t>
            </a:r>
            <a:r>
              <a:rPr lang="zh-CN" altLang="en-US" dirty="0"/>
              <a:t>，贷记</a:t>
            </a:r>
            <a:r>
              <a:rPr lang="zh-CN" altLang="en-US" dirty="0">
                <a:latin typeface="Arial" panose="020B0604020202020204" pitchFamily="34" charset="0"/>
              </a:rPr>
              <a:t>“</a:t>
            </a:r>
            <a:r>
              <a:rPr lang="zh-CN" altLang="en-US" dirty="0"/>
              <a:t>投资收益</a:t>
            </a:r>
            <a:r>
              <a:rPr lang="zh-CN" altLang="en-US" dirty="0">
                <a:latin typeface="Arial" panose="020B0604020202020204" pitchFamily="34" charset="0"/>
              </a:rPr>
              <a:t>”</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a:t>举例（续）</a:t>
            </a:r>
          </a:p>
        </p:txBody>
      </p:sp>
      <p:sp>
        <p:nvSpPr>
          <p:cNvPr id="275459" name="Rectangle 3"/>
          <p:cNvSpPr>
            <a:spLocks noGrp="1" noChangeArrowheads="1"/>
          </p:cNvSpPr>
          <p:nvPr>
            <p:ph idx="1"/>
          </p:nvPr>
        </p:nvSpPr>
        <p:spPr/>
        <p:txBody>
          <a:bodyPr/>
          <a:lstStyle/>
          <a:p>
            <a:pPr marL="0" indent="0" eaLnBrk="1" hangingPunct="1">
              <a:lnSpc>
                <a:spcPct val="90000"/>
              </a:lnSpc>
              <a:buNone/>
            </a:pPr>
            <a:r>
              <a:rPr lang="en-US" altLang="zh-CN"/>
              <a:t>【</a:t>
            </a:r>
            <a:r>
              <a:rPr lang="zh-CN" altLang="en-US"/>
              <a:t>例</a:t>
            </a:r>
            <a:r>
              <a:rPr lang="en-US" altLang="zh-CN">
                <a:latin typeface="Times New Roman" panose="02020603050405020304" pitchFamily="18" charset="0"/>
                <a:cs typeface="Times New Roman" panose="02020603050405020304" pitchFamily="18" charset="0"/>
              </a:rPr>
              <a:t>5-2</a:t>
            </a:r>
            <a:r>
              <a:rPr lang="en-US" altLang="zh-CN"/>
              <a:t>】</a:t>
            </a:r>
            <a:r>
              <a:rPr lang="en-US" altLang="zh-CN">
                <a:latin typeface="Times New Roman" panose="02020603050405020304" pitchFamily="18" charset="0"/>
                <a:cs typeface="Times New Roman" panose="02020603050405020304" pitchFamily="18" charset="0"/>
              </a:rPr>
              <a:t>S</a:t>
            </a:r>
            <a:r>
              <a:rPr lang="zh-CN" altLang="en-US"/>
              <a:t>公司于</a:t>
            </a:r>
            <a:r>
              <a:rPr lang="en-US" altLang="zh-CN">
                <a:latin typeface="Times New Roman" panose="02020603050405020304" pitchFamily="18" charset="0"/>
                <a:cs typeface="Times New Roman" panose="02020603050405020304" pitchFamily="18" charset="0"/>
              </a:rPr>
              <a:t>3</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日宣告发放股利，每股</a:t>
            </a:r>
            <a:r>
              <a:rPr lang="en-US" altLang="zh-CN"/>
              <a:t>1</a:t>
            </a:r>
            <a:r>
              <a:rPr lang="zh-CN" altLang="en-US"/>
              <a:t>元。华峰公司持有</a:t>
            </a:r>
            <a:r>
              <a:rPr lang="en-US" altLang="zh-CN">
                <a:latin typeface="Times New Roman" panose="02020603050405020304" pitchFamily="18" charset="0"/>
                <a:cs typeface="Times New Roman" panose="02020603050405020304" pitchFamily="18" charset="0"/>
              </a:rPr>
              <a:t>S</a:t>
            </a:r>
            <a:r>
              <a:rPr lang="zh-CN" altLang="en-US"/>
              <a:t>公司股票</a:t>
            </a:r>
            <a:r>
              <a:rPr lang="en-US" altLang="zh-CN">
                <a:latin typeface="Times New Roman" panose="02020603050405020304" pitchFamily="18" charset="0"/>
                <a:cs typeface="Times New Roman" panose="02020603050405020304" pitchFamily="18" charset="0"/>
              </a:rPr>
              <a:t>3000</a:t>
            </a:r>
            <a:r>
              <a:rPr lang="zh-CN" altLang="en-US"/>
              <a:t>股，应收股利</a:t>
            </a:r>
            <a:r>
              <a:rPr lang="en-US" altLang="zh-CN">
                <a:latin typeface="Times New Roman" panose="02020603050405020304" pitchFamily="18" charset="0"/>
                <a:cs typeface="Times New Roman" panose="02020603050405020304" pitchFamily="18" charset="0"/>
              </a:rPr>
              <a:t>3000</a:t>
            </a:r>
            <a:r>
              <a:rPr lang="zh-CN" altLang="en-US"/>
              <a:t>元，该股利于</a:t>
            </a:r>
            <a:r>
              <a:rPr lang="en-US" altLang="zh-CN">
                <a:latin typeface="Times New Roman" panose="02020603050405020304" pitchFamily="18" charset="0"/>
                <a:cs typeface="Times New Roman" panose="02020603050405020304" pitchFamily="18" charset="0"/>
              </a:rPr>
              <a:t>3</a:t>
            </a:r>
            <a:r>
              <a:rPr lang="zh-CN" altLang="en-US"/>
              <a:t>月</a:t>
            </a:r>
            <a:r>
              <a:rPr lang="en-US" altLang="zh-CN">
                <a:latin typeface="Times New Roman" panose="02020603050405020304" pitchFamily="18" charset="0"/>
                <a:cs typeface="Times New Roman" panose="02020603050405020304" pitchFamily="18" charset="0"/>
              </a:rPr>
              <a:t>15</a:t>
            </a:r>
            <a:r>
              <a:rPr lang="zh-CN" altLang="en-US"/>
              <a:t>日实际收到。</a:t>
            </a:r>
          </a:p>
          <a:p>
            <a:pPr marL="0" indent="0" eaLnBrk="1" hangingPunct="1">
              <a:lnSpc>
                <a:spcPct val="90000"/>
              </a:lnSpc>
              <a:buNone/>
            </a:pPr>
            <a:r>
              <a:rPr lang="en-US" altLang="zh-CN">
                <a:latin typeface="Times New Roman" panose="02020603050405020304" pitchFamily="18" charset="0"/>
                <a:cs typeface="Times New Roman" panose="02020603050405020304" pitchFamily="18" charset="0"/>
              </a:rPr>
              <a:t>3</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a:t>
            </a:r>
          </a:p>
          <a:p>
            <a:pPr marL="0" indent="0" eaLnBrk="1" hangingPunct="1">
              <a:lnSpc>
                <a:spcPct val="90000"/>
              </a:lnSpc>
              <a:buNone/>
            </a:pPr>
            <a:r>
              <a:rPr lang="zh-CN" altLang="en-US" b="1">
                <a:latin typeface="楷体_GB2312" panose="02010609030101010101" pitchFamily="49" charset="-122"/>
                <a:ea typeface="楷体_GB2312" panose="02010609030101010101" pitchFamily="49" charset="-122"/>
                <a:cs typeface="+mn-ea"/>
              </a:rPr>
              <a:t>借：应收股利</a:t>
            </a:r>
            <a:r>
              <a:rPr b="1">
                <a:latin typeface="楷体_GB2312" panose="02010609030101010101" pitchFamily="49" charset="-122"/>
                <a:ea typeface="楷体_GB2312" panose="02010609030101010101" pitchFamily="49" charset="-122"/>
                <a:cs typeface="+mn-ea"/>
              </a:rPr>
              <a:t>——</a:t>
            </a:r>
            <a:r>
              <a:rPr b="1">
                <a:latin typeface="Times New Roman" panose="02020603050405020304" pitchFamily="18" charset="0"/>
                <a:ea typeface="楷体_GB2312" panose="02010609030101010101" pitchFamily="49" charset="-122"/>
                <a:cs typeface="Times New Roman" panose="02020603050405020304" pitchFamily="18" charset="0"/>
              </a:rPr>
              <a:t>S</a:t>
            </a:r>
            <a:r>
              <a:rPr lang="zh-CN" altLang="en-US" b="1">
                <a:latin typeface="楷体_GB2312" panose="02010609030101010101" pitchFamily="49" charset="-122"/>
                <a:ea typeface="楷体_GB2312" panose="02010609030101010101" pitchFamily="49" charset="-122"/>
                <a:cs typeface="+mn-ea"/>
              </a:rPr>
              <a:t>公司</a:t>
            </a:r>
            <a:r>
              <a:rPr lang="zh-CN" altLang="en-US"/>
              <a:t>      </a:t>
            </a:r>
            <a:r>
              <a:rPr lang="en-US" altLang="zh-CN">
                <a:latin typeface="Times New Roman" panose="02020603050405020304" pitchFamily="18" charset="0"/>
                <a:cs typeface="Times New Roman" panose="02020603050405020304" pitchFamily="18" charset="0"/>
              </a:rPr>
              <a:t> 3 000</a:t>
            </a:r>
            <a:endParaRPr lang="en-US" altLang="zh-CN"/>
          </a:p>
          <a:p>
            <a:pPr marL="0" indent="0" eaLnBrk="1" hangingPunct="1">
              <a:lnSpc>
                <a:spcPct val="90000"/>
              </a:lnSpc>
              <a:buNone/>
            </a:pPr>
            <a:r>
              <a:rPr lang="en-US" altLang="zh-CN"/>
              <a:t>   </a:t>
            </a:r>
            <a:r>
              <a:rPr b="1">
                <a:latin typeface="楷体_GB2312" panose="02010609030101010101" pitchFamily="49" charset="-122"/>
                <a:ea typeface="楷体_GB2312" panose="02010609030101010101" pitchFamily="49" charset="-122"/>
                <a:cs typeface="+mn-ea"/>
              </a:rPr>
              <a:t> </a:t>
            </a:r>
            <a:r>
              <a:rPr lang="zh-CN" altLang="en-US" b="1">
                <a:latin typeface="楷体_GB2312" panose="02010609030101010101" pitchFamily="49" charset="-122"/>
                <a:ea typeface="楷体_GB2312" panose="02010609030101010101" pitchFamily="49" charset="-122"/>
                <a:cs typeface="+mn-ea"/>
              </a:rPr>
              <a:t>贷：投资收益</a:t>
            </a:r>
            <a:r>
              <a:rPr lang="zh-CN" altLang="en-US"/>
              <a:t>                    </a:t>
            </a:r>
            <a:r>
              <a:rPr lang="en-US" altLang="zh-CN">
                <a:latin typeface="Times New Roman" panose="02020603050405020304" pitchFamily="18" charset="0"/>
                <a:cs typeface="Times New Roman" panose="02020603050405020304" pitchFamily="18" charset="0"/>
              </a:rPr>
              <a:t>3 000</a:t>
            </a:r>
            <a:endParaRPr lang="en-US" altLang="zh-CN"/>
          </a:p>
          <a:p>
            <a:pPr marL="0" indent="0" eaLnBrk="1" hangingPunct="1">
              <a:lnSpc>
                <a:spcPct val="90000"/>
              </a:lnSpc>
              <a:buNone/>
            </a:pPr>
            <a:r>
              <a:rPr lang="en-US" altLang="zh-CN">
                <a:latin typeface="Times New Roman" panose="02020603050405020304" pitchFamily="18" charset="0"/>
                <a:cs typeface="Times New Roman" panose="02020603050405020304" pitchFamily="18" charset="0"/>
              </a:rPr>
              <a:t>3</a:t>
            </a:r>
            <a:r>
              <a:rPr lang="zh-CN" altLang="en-US"/>
              <a:t>月</a:t>
            </a:r>
            <a:r>
              <a:rPr lang="en-US" altLang="zh-CN">
                <a:latin typeface="Times New Roman" panose="02020603050405020304" pitchFamily="18" charset="0"/>
                <a:cs typeface="Times New Roman" panose="02020603050405020304" pitchFamily="18" charset="0"/>
              </a:rPr>
              <a:t>15</a:t>
            </a:r>
            <a:r>
              <a:rPr lang="zh-CN" altLang="en-US"/>
              <a:t>日：</a:t>
            </a:r>
          </a:p>
          <a:p>
            <a:pPr marL="0" indent="0" eaLnBrk="1" hangingPunct="1">
              <a:lnSpc>
                <a:spcPct val="90000"/>
              </a:lnSpc>
              <a:buNone/>
            </a:pPr>
            <a:r>
              <a:rPr lang="zh-CN" altLang="en-US" b="1">
                <a:latin typeface="楷体_GB2312" panose="02010609030101010101" pitchFamily="49" charset="-122"/>
                <a:ea typeface="楷体_GB2312" panose="02010609030101010101" pitchFamily="49" charset="-122"/>
                <a:cs typeface="+mn-ea"/>
              </a:rPr>
              <a:t>借：其他货币资金</a:t>
            </a:r>
            <a:r>
              <a:rPr b="1">
                <a:latin typeface="楷体_GB2312" panose="02010609030101010101" pitchFamily="49" charset="-122"/>
                <a:ea typeface="楷体_GB2312" panose="02010609030101010101" pitchFamily="49" charset="-122"/>
                <a:cs typeface="+mn-ea"/>
              </a:rPr>
              <a:t>——</a:t>
            </a:r>
            <a:r>
              <a:rPr lang="zh-CN" altLang="en-US" b="1">
                <a:latin typeface="楷体_GB2312" panose="02010609030101010101" pitchFamily="49" charset="-122"/>
                <a:ea typeface="楷体_GB2312" panose="02010609030101010101" pitchFamily="49" charset="-122"/>
                <a:cs typeface="+mn-ea"/>
              </a:rPr>
              <a:t>存出投资款</a:t>
            </a:r>
            <a:r>
              <a:rPr lang="zh-CN" altLang="en-US"/>
              <a:t>   </a:t>
            </a:r>
            <a:r>
              <a:rPr lang="en-US" altLang="zh-CN">
                <a:latin typeface="Times New Roman" panose="02020603050405020304" pitchFamily="18" charset="0"/>
                <a:cs typeface="Times New Roman" panose="02020603050405020304" pitchFamily="18" charset="0"/>
              </a:rPr>
              <a:t>3 000</a:t>
            </a:r>
            <a:endParaRPr lang="en-US" altLang="zh-CN"/>
          </a:p>
          <a:p>
            <a:pPr marL="0" indent="0" eaLnBrk="1" hangingPunct="1">
              <a:lnSpc>
                <a:spcPct val="90000"/>
              </a:lnSpc>
              <a:buNone/>
            </a:pPr>
            <a:r>
              <a:rPr lang="en-US" altLang="zh-CN"/>
              <a:t>   </a:t>
            </a:r>
            <a:r>
              <a:rPr b="1">
                <a:latin typeface="楷体_GB2312" panose="02010609030101010101" pitchFamily="49" charset="-122"/>
                <a:ea typeface="楷体_GB2312" panose="02010609030101010101" pitchFamily="49" charset="-122"/>
                <a:cs typeface="+mn-ea"/>
              </a:rPr>
              <a:t> </a:t>
            </a:r>
            <a:r>
              <a:rPr lang="zh-CN" altLang="en-US" b="1">
                <a:latin typeface="楷体_GB2312" panose="02010609030101010101" pitchFamily="49" charset="-122"/>
                <a:ea typeface="楷体_GB2312" panose="02010609030101010101" pitchFamily="49" charset="-122"/>
                <a:cs typeface="+mn-ea"/>
              </a:rPr>
              <a:t>贷：应收股利</a:t>
            </a:r>
            <a:r>
              <a:rPr b="1">
                <a:latin typeface="楷体_GB2312" panose="02010609030101010101" pitchFamily="49" charset="-122"/>
                <a:ea typeface="楷体_GB2312" panose="02010609030101010101" pitchFamily="49" charset="-122"/>
                <a:cs typeface="+mn-ea"/>
              </a:rPr>
              <a:t>——</a:t>
            </a:r>
            <a:r>
              <a:rPr lang="en-US" altLang="zh-CN">
                <a:latin typeface="Times New Roman" panose="02020603050405020304" pitchFamily="18" charset="0"/>
                <a:cs typeface="Times New Roman" panose="02020603050405020304" pitchFamily="18" charset="0"/>
              </a:rPr>
              <a:t>S</a:t>
            </a:r>
            <a:r>
              <a:rPr lang="zh-CN" altLang="en-US" b="1">
                <a:latin typeface="楷体_GB2312" panose="02010609030101010101" pitchFamily="49" charset="-122"/>
                <a:ea typeface="楷体_GB2312" panose="02010609030101010101" pitchFamily="49" charset="-122"/>
                <a:cs typeface="+mn-ea"/>
              </a:rPr>
              <a:t>公司股票</a:t>
            </a:r>
            <a:r>
              <a:rPr lang="zh-CN" altLang="en-US"/>
              <a:t>       </a:t>
            </a:r>
            <a:r>
              <a:rPr lang="en-US" altLang="zh-CN">
                <a:latin typeface="Times New Roman" panose="02020603050405020304" pitchFamily="18" charset="0"/>
                <a:cs typeface="Times New Roman" panose="02020603050405020304" pitchFamily="18" charset="0"/>
              </a:rPr>
              <a:t>3 000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75459">
                                            <p:txEl>
                                              <p:pRg st="1" end="1"/>
                                            </p:txEl>
                                          </p:spTgt>
                                        </p:tgtEl>
                                        <p:attrNameLst>
                                          <p:attrName>style.visibility</p:attrName>
                                        </p:attrNameLst>
                                      </p:cBhvr>
                                      <p:to>
                                        <p:strVal val="visible"/>
                                      </p:to>
                                    </p:set>
                                    <p:animEffect transition="in" filter="box(in)">
                                      <p:cBhvr>
                                        <p:cTn id="7" dur="500"/>
                                        <p:tgtEl>
                                          <p:spTgt spid="275459">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75459">
                                            <p:txEl>
                                              <p:pRg st="2" end="2"/>
                                            </p:txEl>
                                          </p:spTgt>
                                        </p:tgtEl>
                                        <p:attrNameLst>
                                          <p:attrName>style.visibility</p:attrName>
                                        </p:attrNameLst>
                                      </p:cBhvr>
                                      <p:to>
                                        <p:strVal val="visible"/>
                                      </p:to>
                                    </p:set>
                                    <p:animEffect transition="in" filter="box(in)">
                                      <p:cBhvr>
                                        <p:cTn id="10" dur="500"/>
                                        <p:tgtEl>
                                          <p:spTgt spid="275459">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75459">
                                            <p:txEl>
                                              <p:pRg st="3" end="3"/>
                                            </p:txEl>
                                          </p:spTgt>
                                        </p:tgtEl>
                                        <p:attrNameLst>
                                          <p:attrName>style.visibility</p:attrName>
                                        </p:attrNameLst>
                                      </p:cBhvr>
                                      <p:to>
                                        <p:strVal val="visible"/>
                                      </p:to>
                                    </p:set>
                                    <p:animEffect transition="in" filter="box(in)">
                                      <p:cBhvr>
                                        <p:cTn id="13" dur="500"/>
                                        <p:tgtEl>
                                          <p:spTgt spid="275459">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275459">
                                            <p:txEl>
                                              <p:pRg st="4" end="4"/>
                                            </p:txEl>
                                          </p:spTgt>
                                        </p:tgtEl>
                                        <p:attrNameLst>
                                          <p:attrName>style.visibility</p:attrName>
                                        </p:attrNameLst>
                                      </p:cBhvr>
                                      <p:to>
                                        <p:strVal val="visible"/>
                                      </p:to>
                                    </p:set>
                                    <p:animEffect transition="in" filter="box(in)">
                                      <p:cBhvr>
                                        <p:cTn id="18" dur="500"/>
                                        <p:tgtEl>
                                          <p:spTgt spid="275459">
                                            <p:txEl>
                                              <p:pRg st="4" end="4"/>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275459">
                                            <p:txEl>
                                              <p:pRg st="5" end="5"/>
                                            </p:txEl>
                                          </p:spTgt>
                                        </p:tgtEl>
                                        <p:attrNameLst>
                                          <p:attrName>style.visibility</p:attrName>
                                        </p:attrNameLst>
                                      </p:cBhvr>
                                      <p:to>
                                        <p:strVal val="visible"/>
                                      </p:to>
                                    </p:set>
                                    <p:animEffect transition="in" filter="box(in)">
                                      <p:cBhvr>
                                        <p:cTn id="21" dur="500"/>
                                        <p:tgtEl>
                                          <p:spTgt spid="275459">
                                            <p:txEl>
                                              <p:pRg st="5" end="5"/>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275459">
                                            <p:txEl>
                                              <p:pRg st="6" end="6"/>
                                            </p:txEl>
                                          </p:spTgt>
                                        </p:tgtEl>
                                        <p:attrNameLst>
                                          <p:attrName>style.visibility</p:attrName>
                                        </p:attrNameLst>
                                      </p:cBhvr>
                                      <p:to>
                                        <p:strVal val="visible"/>
                                      </p:to>
                                    </p:set>
                                    <p:animEffect transition="in" filter="box(in)">
                                      <p:cBhvr>
                                        <p:cTn id="24" dur="500"/>
                                        <p:tgtEl>
                                          <p:spTgt spid="2754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sz="3600"/>
              <a:t>（</a:t>
            </a:r>
            <a:r>
              <a:rPr lang="en-US" altLang="zh-CN" sz="3600"/>
              <a:t>4</a:t>
            </a:r>
            <a:r>
              <a:rPr lang="zh-CN" altLang="en-US" sz="3600"/>
              <a:t>）交易性金融资产的期末计价</a:t>
            </a:r>
          </a:p>
        </p:txBody>
      </p:sp>
      <p:sp>
        <p:nvSpPr>
          <p:cNvPr id="36867" name="Rectangle 3"/>
          <p:cNvSpPr>
            <a:spLocks noGrp="1" noChangeArrowheads="1"/>
          </p:cNvSpPr>
          <p:nvPr>
            <p:ph idx="1"/>
          </p:nvPr>
        </p:nvSpPr>
        <p:spPr>
          <a:xfrm>
            <a:off x="856298" y="2104073"/>
            <a:ext cx="7772400" cy="4114800"/>
          </a:xfrm>
        </p:spPr>
        <p:txBody>
          <a:bodyPr/>
          <a:lstStyle/>
          <a:p>
            <a:pPr marL="0" indent="0" eaLnBrk="1" hangingPunct="1">
              <a:buNone/>
            </a:pPr>
            <a:r>
              <a:rPr lang="zh-CN" altLang="en-US" b="0" dirty="0">
                <a:latin typeface="宋体" panose="02010600030101010101" pitchFamily="2" charset="-122"/>
              </a:rPr>
              <a:t>原则：按价值计量</a:t>
            </a:r>
            <a:endParaRPr lang="en-US" altLang="zh-CN" b="0" dirty="0">
              <a:latin typeface="宋体" panose="02010600030101010101" pitchFamily="2" charset="-122"/>
            </a:endParaRPr>
          </a:p>
          <a:p>
            <a:pPr marL="0" indent="0" eaLnBrk="1" hangingPunct="1">
              <a:buNone/>
            </a:pPr>
            <a:r>
              <a:rPr lang="zh-CN" altLang="en-US" b="0" dirty="0">
                <a:latin typeface="宋体" panose="02010600030101010101" pitchFamily="2" charset="-122"/>
              </a:rPr>
              <a:t>交易性金融资产，取得时以公允价值计量，期末按照其公允价值调整，对于公允价值与账面价值之间的差额调整交易性金融资产帐面价值并</a:t>
            </a:r>
            <a:r>
              <a:rPr lang="zh-CN" altLang="en-US" b="0" u="sng" dirty="0">
                <a:solidFill>
                  <a:srgbClr val="FF0000"/>
                </a:solidFill>
                <a:latin typeface="宋体" panose="02010600030101010101" pitchFamily="2" charset="-122"/>
              </a:rPr>
              <a:t>计入当期损益（公允价值变动损益）</a:t>
            </a:r>
            <a:endParaRPr lang="en-US" altLang="zh-CN" b="0" u="sng" dirty="0">
              <a:solidFill>
                <a:srgbClr val="FF0000"/>
              </a:solidFill>
              <a:latin typeface="宋体" panose="02010600030101010101" pitchFamily="2" charset="-122"/>
            </a:endParaRPr>
          </a:p>
          <a:p>
            <a:pPr marL="0" indent="0" eaLnBrk="1" hangingPunct="1">
              <a:buNone/>
            </a:pPr>
            <a:r>
              <a:rPr lang="zh-CN" altLang="en-US" b="0" dirty="0">
                <a:latin typeface="宋体" panose="02010600030101010101" pitchFamily="2" charset="-122"/>
              </a:rPr>
              <a:t>（</a:t>
            </a:r>
            <a:r>
              <a:rPr lang="en-US" altLang="zh-CN" b="0" dirty="0">
                <a:latin typeface="Times New Roman" panose="02020603050405020304" pitchFamily="18" charset="0"/>
                <a:cs typeface="Times New Roman" panose="02020603050405020304" pitchFamily="18" charset="0"/>
              </a:rPr>
              <a:t>1</a:t>
            </a:r>
            <a:r>
              <a:rPr lang="zh-CN" altLang="en-US" b="0" dirty="0">
                <a:latin typeface="宋体" panose="02010600030101010101" pitchFamily="2" charset="-122"/>
              </a:rPr>
              <a:t>）期末公允价值</a:t>
            </a:r>
            <a:r>
              <a:rPr lang="en-US" altLang="zh-CN" b="0" dirty="0">
                <a:latin typeface="宋体" panose="02010600030101010101" pitchFamily="2" charset="-122"/>
              </a:rPr>
              <a:t>&gt;</a:t>
            </a:r>
            <a:r>
              <a:rPr lang="zh-CN" altLang="en-US" b="0" dirty="0">
                <a:latin typeface="宋体" panose="02010600030101010101" pitchFamily="2" charset="-122"/>
              </a:rPr>
              <a:t>账面价值</a:t>
            </a:r>
          </a:p>
          <a:p>
            <a:pPr marL="0" indent="0" eaLnBrk="1" hangingPunct="1">
              <a:buNone/>
            </a:pPr>
            <a:r>
              <a:rPr lang="zh-CN" altLang="en-US" b="1" dirty="0">
                <a:latin typeface="楷体_GB2312" panose="02010609030101010101" pitchFamily="49" charset="-122"/>
                <a:ea typeface="楷体_GB2312" panose="02010609030101010101" pitchFamily="49" charset="-122"/>
                <a:cs typeface="+mn-ea"/>
              </a:rPr>
              <a:t>借：交易性金融资产</a:t>
            </a:r>
            <a:r>
              <a:rPr b="1" dirty="0">
                <a:latin typeface="楷体_GB2312" panose="02010609030101010101" pitchFamily="49" charset="-122"/>
                <a:ea typeface="楷体_GB2312" panose="02010609030101010101" pitchFamily="49" charset="-122"/>
                <a:cs typeface="+mn-ea"/>
              </a:rPr>
              <a:t>——</a:t>
            </a:r>
            <a:r>
              <a:rPr lang="zh-CN" altLang="en-US" b="1" dirty="0">
                <a:latin typeface="楷体_GB2312" panose="02010609030101010101" pitchFamily="49" charset="-122"/>
                <a:ea typeface="楷体_GB2312" panose="02010609030101010101" pitchFamily="49" charset="-122"/>
                <a:cs typeface="+mn-ea"/>
              </a:rPr>
              <a:t>公允价值变动</a:t>
            </a:r>
          </a:p>
          <a:p>
            <a:pPr marL="0" indent="0" eaLnBrk="1" hangingPunct="1">
              <a:buNone/>
            </a:pPr>
            <a:r>
              <a:rPr lang="zh-CN" altLang="en-US" b="1" dirty="0">
                <a:latin typeface="楷体_GB2312" panose="02010609030101010101" pitchFamily="49" charset="-122"/>
                <a:ea typeface="楷体_GB2312" panose="02010609030101010101" pitchFamily="49" charset="-122"/>
                <a:cs typeface="+mn-ea"/>
              </a:rPr>
              <a:t>    贷：公允价值变动损益</a:t>
            </a:r>
          </a:p>
          <a:p>
            <a:pPr marL="0" indent="0" eaLnBrk="1" hangingPunct="1">
              <a:buNone/>
            </a:pPr>
            <a:r>
              <a:rPr lang="zh-CN" altLang="en-US" b="0" dirty="0">
                <a:latin typeface="宋体" panose="02010600030101010101" pitchFamily="2" charset="-122"/>
              </a:rPr>
              <a:t>（</a:t>
            </a:r>
            <a:r>
              <a:rPr lang="en-US" altLang="zh-CN" b="0" dirty="0">
                <a:latin typeface="Times New Roman" panose="02020603050405020304" pitchFamily="18" charset="0"/>
                <a:cs typeface="Times New Roman" panose="02020603050405020304" pitchFamily="18" charset="0"/>
              </a:rPr>
              <a:t>2</a:t>
            </a:r>
            <a:r>
              <a:rPr lang="zh-CN" altLang="en-US" b="0" dirty="0">
                <a:latin typeface="宋体" panose="02010600030101010101" pitchFamily="2" charset="-122"/>
              </a:rPr>
              <a:t>）期末公允价值</a:t>
            </a:r>
            <a:r>
              <a:rPr lang="en-US" altLang="zh-CN" b="0" dirty="0">
                <a:latin typeface="宋体" panose="02010600030101010101" pitchFamily="2" charset="-122"/>
              </a:rPr>
              <a:t>&lt;</a:t>
            </a:r>
            <a:r>
              <a:rPr lang="zh-CN" altLang="en-US" b="0" dirty="0">
                <a:latin typeface="宋体" panose="02010600030101010101" pitchFamily="2" charset="-122"/>
              </a:rPr>
              <a:t>账面价值</a:t>
            </a:r>
          </a:p>
          <a:p>
            <a:pPr marL="0" indent="0" eaLnBrk="1" hangingPunct="1">
              <a:buNone/>
            </a:pPr>
            <a:r>
              <a:rPr lang="zh-CN" altLang="en-US" b="0" dirty="0">
                <a:latin typeface="宋体" panose="02010600030101010101" pitchFamily="2" charset="-122"/>
              </a:rPr>
              <a:t>做相反分录</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a:t>举例（续）</a:t>
            </a:r>
          </a:p>
        </p:txBody>
      </p:sp>
      <p:sp>
        <p:nvSpPr>
          <p:cNvPr id="276483" name="Rectangle 3"/>
          <p:cNvSpPr>
            <a:spLocks noGrp="1" noChangeArrowheads="1"/>
          </p:cNvSpPr>
          <p:nvPr>
            <p:ph idx="1"/>
          </p:nvPr>
        </p:nvSpPr>
        <p:spPr/>
        <p:txBody>
          <a:bodyPr/>
          <a:lstStyle/>
          <a:p>
            <a:pPr marL="0" indent="0" eaLnBrk="1" hangingPunct="1">
              <a:buNone/>
            </a:pPr>
            <a:r>
              <a:rPr lang="en-US" altLang="zh-CN"/>
              <a:t>【</a:t>
            </a:r>
            <a:r>
              <a:rPr lang="zh-CN" altLang="en-US"/>
              <a:t>例</a:t>
            </a:r>
            <a:r>
              <a:rPr lang="en-US" altLang="zh-CN">
                <a:latin typeface="Times New Roman" panose="02020603050405020304" pitchFamily="18" charset="0"/>
                <a:cs typeface="Times New Roman" panose="02020603050405020304" pitchFamily="18" charset="0"/>
              </a:rPr>
              <a:t>5-3</a:t>
            </a:r>
            <a:r>
              <a:rPr lang="en-US" altLang="zh-CN"/>
              <a:t>】</a:t>
            </a:r>
            <a:r>
              <a:rPr lang="zh-CN" altLang="en-US"/>
              <a:t>华峰公司</a:t>
            </a:r>
            <a:r>
              <a:rPr lang="en-US" altLang="zh-CN">
                <a:latin typeface="Times New Roman" panose="02020603050405020304" pitchFamily="18" charset="0"/>
                <a:cs typeface="Times New Roman" panose="02020603050405020304" pitchFamily="18" charset="0"/>
              </a:rPr>
              <a:t>3</a:t>
            </a:r>
            <a:r>
              <a:rPr lang="zh-CN" altLang="en-US"/>
              <a:t>月</a:t>
            </a:r>
            <a:r>
              <a:rPr lang="en-US" altLang="zh-CN">
                <a:latin typeface="Times New Roman" panose="02020603050405020304" pitchFamily="18" charset="0"/>
                <a:cs typeface="Times New Roman" panose="02020603050405020304" pitchFamily="18" charset="0"/>
              </a:rPr>
              <a:t>31</a:t>
            </a:r>
            <a:r>
              <a:rPr lang="zh-CN" altLang="en-US"/>
              <a:t>日记录的持有</a:t>
            </a:r>
            <a:r>
              <a:rPr lang="en-US" altLang="zh-CN">
                <a:latin typeface="Times New Roman" panose="02020603050405020304" pitchFamily="18" charset="0"/>
                <a:cs typeface="Times New Roman" panose="02020603050405020304" pitchFamily="18" charset="0"/>
              </a:rPr>
              <a:t>S</a:t>
            </a:r>
            <a:r>
              <a:rPr lang="zh-CN" altLang="en-US"/>
              <a:t>公司</a:t>
            </a:r>
            <a:r>
              <a:rPr lang="en-US" altLang="zh-CN">
                <a:latin typeface="Times New Roman" panose="02020603050405020304" pitchFamily="18" charset="0"/>
                <a:cs typeface="Times New Roman" panose="02020603050405020304" pitchFamily="18" charset="0"/>
              </a:rPr>
              <a:t>3 000</a:t>
            </a:r>
            <a:r>
              <a:rPr lang="zh-CN" altLang="en-US"/>
              <a:t>股股票的账面价值为</a:t>
            </a:r>
            <a:r>
              <a:rPr lang="en-US" altLang="zh-CN">
                <a:latin typeface="Times New Roman" panose="02020603050405020304" pitchFamily="18" charset="0"/>
                <a:cs typeface="Times New Roman" panose="02020603050405020304" pitchFamily="18" charset="0"/>
              </a:rPr>
              <a:t>30 000</a:t>
            </a:r>
            <a:r>
              <a:rPr lang="zh-CN" altLang="en-US"/>
              <a:t>元（借方余额）</a:t>
            </a:r>
          </a:p>
          <a:p>
            <a:pPr marL="0" indent="0" eaLnBrk="1" hangingPunct="1">
              <a:buNone/>
            </a:pPr>
            <a:r>
              <a:rPr lang="en-US" altLang="zh-CN" sz="2800">
                <a:latin typeface="Times New Roman" panose="02020603050405020304" pitchFamily="18" charset="0"/>
                <a:cs typeface="Times New Roman" panose="02020603050405020304" pitchFamily="18" charset="0"/>
              </a:rPr>
              <a:t>3</a:t>
            </a:r>
            <a:r>
              <a:rPr lang="zh-CN" altLang="en-US"/>
              <a:t>月</a:t>
            </a:r>
            <a:r>
              <a:rPr lang="en-US" altLang="zh-CN" sz="2800">
                <a:latin typeface="Times New Roman" panose="02020603050405020304" pitchFamily="18" charset="0"/>
                <a:cs typeface="Times New Roman" panose="02020603050405020304" pitchFamily="18" charset="0"/>
              </a:rPr>
              <a:t>31</a:t>
            </a:r>
            <a:r>
              <a:rPr lang="zh-CN" altLang="en-US"/>
              <a:t>日该股票当日收盘价为每股</a:t>
            </a:r>
            <a:r>
              <a:rPr lang="en-US" altLang="zh-CN">
                <a:latin typeface="Times New Roman" panose="02020603050405020304" pitchFamily="18" charset="0"/>
                <a:cs typeface="Times New Roman" panose="02020603050405020304" pitchFamily="18" charset="0"/>
              </a:rPr>
              <a:t>8</a:t>
            </a:r>
            <a:r>
              <a:rPr lang="zh-CN" altLang="en-US"/>
              <a:t>元，购买的</a:t>
            </a:r>
            <a:r>
              <a:rPr lang="en-US" altLang="zh-CN">
                <a:latin typeface="Times New Roman" panose="02020603050405020304" pitchFamily="18" charset="0"/>
                <a:cs typeface="Times New Roman" panose="02020603050405020304" pitchFamily="18" charset="0"/>
              </a:rPr>
              <a:t>S</a:t>
            </a:r>
            <a:r>
              <a:rPr lang="zh-CN" altLang="en-US"/>
              <a:t>公司</a:t>
            </a:r>
            <a:r>
              <a:rPr lang="en-US" altLang="zh-CN">
                <a:latin typeface="Times New Roman" panose="02020603050405020304" pitchFamily="18" charset="0"/>
                <a:cs typeface="Times New Roman" panose="02020603050405020304" pitchFamily="18" charset="0"/>
              </a:rPr>
              <a:t>3 000</a:t>
            </a:r>
            <a:r>
              <a:rPr lang="zh-CN" altLang="en-US"/>
              <a:t>股股票当日公允价值为</a:t>
            </a:r>
            <a:r>
              <a:rPr lang="en-US" altLang="zh-CN">
                <a:latin typeface="Times New Roman" panose="02020603050405020304" pitchFamily="18" charset="0"/>
                <a:cs typeface="Times New Roman" panose="02020603050405020304" pitchFamily="18" charset="0"/>
              </a:rPr>
              <a:t>24 000</a:t>
            </a:r>
            <a:r>
              <a:rPr lang="zh-CN" altLang="en-US"/>
              <a:t>元，</a:t>
            </a:r>
            <a:r>
              <a:rPr lang="en-US" altLang="zh-CN">
                <a:latin typeface="Times New Roman" panose="02020603050405020304" pitchFamily="18" charset="0"/>
                <a:cs typeface="Times New Roman" panose="02020603050405020304" pitchFamily="18" charset="0"/>
              </a:rPr>
              <a:t>3</a:t>
            </a:r>
            <a:r>
              <a:rPr lang="zh-CN" altLang="en-US"/>
              <a:t>月</a:t>
            </a:r>
            <a:r>
              <a:rPr lang="en-US" altLang="zh-CN">
                <a:latin typeface="Times New Roman" panose="02020603050405020304" pitchFamily="18" charset="0"/>
                <a:cs typeface="Times New Roman" panose="02020603050405020304" pitchFamily="18" charset="0"/>
              </a:rPr>
              <a:t>31</a:t>
            </a:r>
            <a:r>
              <a:rPr lang="zh-CN" altLang="en-US"/>
              <a:t>日华峰公司应如何进行账务处理？</a:t>
            </a:r>
          </a:p>
          <a:p>
            <a:pPr marL="0" indent="0" eaLnBrk="1" hangingPunct="1">
              <a:buNone/>
            </a:pPr>
            <a:r>
              <a:rPr lang="zh-CN" altLang="en-US"/>
              <a:t>分析：应调低该股票账面价值</a:t>
            </a:r>
            <a:r>
              <a:rPr lang="en-US" altLang="zh-CN">
                <a:latin typeface="Times New Roman" panose="02020603050405020304" pitchFamily="18" charset="0"/>
                <a:cs typeface="Times New Roman" panose="02020603050405020304" pitchFamily="18" charset="0"/>
              </a:rPr>
              <a:t>6 000</a:t>
            </a:r>
            <a:r>
              <a:rPr lang="zh-CN" altLang="en-US"/>
              <a:t>元。</a:t>
            </a:r>
          </a:p>
          <a:p>
            <a:pPr marL="0" indent="0" eaLnBrk="1" hangingPunct="1">
              <a:buNone/>
            </a:pPr>
            <a:r>
              <a:rPr lang="zh-CN" altLang="en-US" b="1">
                <a:latin typeface="楷体_GB2312" panose="02010609030101010101" pitchFamily="49" charset="-122"/>
                <a:ea typeface="楷体_GB2312" panose="02010609030101010101" pitchFamily="49" charset="-122"/>
                <a:cs typeface="+mn-ea"/>
              </a:rPr>
              <a:t>借：公允价值变动损益 </a:t>
            </a:r>
            <a:r>
              <a:rPr lang="zh-CN" altLang="en-US"/>
              <a:t>         </a:t>
            </a:r>
            <a:r>
              <a:rPr lang="en-US" altLang="zh-CN">
                <a:latin typeface="Times New Roman" panose="02020603050405020304" pitchFamily="18" charset="0"/>
                <a:cs typeface="Times New Roman" panose="02020603050405020304" pitchFamily="18" charset="0"/>
              </a:rPr>
              <a:t> 6 000</a:t>
            </a:r>
            <a:endParaRPr lang="en-US" altLang="zh-CN"/>
          </a:p>
          <a:p>
            <a:pPr marL="0" indent="0" eaLnBrk="1" hangingPunct="1">
              <a:buNone/>
            </a:pPr>
            <a:r>
              <a:rPr lang="en-US" altLang="zh-CN"/>
              <a:t>    </a:t>
            </a:r>
            <a:r>
              <a:rPr lang="zh-CN" altLang="en-US" b="1">
                <a:latin typeface="楷体_GB2312" panose="02010609030101010101" pitchFamily="49" charset="-122"/>
                <a:ea typeface="楷体_GB2312" panose="02010609030101010101" pitchFamily="49" charset="-122"/>
                <a:cs typeface="+mn-ea"/>
              </a:rPr>
              <a:t>贷：交易性金融资产</a:t>
            </a:r>
            <a:r>
              <a:rPr b="1">
                <a:latin typeface="楷体_GB2312" panose="02010609030101010101" pitchFamily="49" charset="-122"/>
                <a:ea typeface="楷体_GB2312" panose="02010609030101010101" pitchFamily="49" charset="-122"/>
                <a:cs typeface="+mn-ea"/>
              </a:rPr>
              <a:t>——</a:t>
            </a:r>
            <a:r>
              <a:rPr lang="zh-CN" altLang="en-US" b="1">
                <a:latin typeface="楷体_GB2312" panose="02010609030101010101" pitchFamily="49" charset="-122"/>
                <a:ea typeface="楷体_GB2312" panose="02010609030101010101" pitchFamily="49" charset="-122"/>
                <a:cs typeface="+mn-ea"/>
              </a:rPr>
              <a:t>公允价值变动 </a:t>
            </a:r>
            <a:r>
              <a:rPr lang="zh-CN" altLang="en-US"/>
              <a:t>  </a:t>
            </a:r>
            <a:r>
              <a:rPr lang="en-US" altLang="zh-CN">
                <a:latin typeface="Times New Roman" panose="02020603050405020304" pitchFamily="18" charset="0"/>
                <a:cs typeface="Times New Roman" panose="02020603050405020304" pitchFamily="18" charset="0"/>
              </a:rPr>
              <a:t>6 000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76483">
                                            <p:txEl>
                                              <p:pRg st="2" end="2"/>
                                            </p:txEl>
                                          </p:spTgt>
                                        </p:tgtEl>
                                        <p:attrNameLst>
                                          <p:attrName>style.visibility</p:attrName>
                                        </p:attrNameLst>
                                      </p:cBhvr>
                                      <p:to>
                                        <p:strVal val="visible"/>
                                      </p:to>
                                    </p:set>
                                    <p:animEffect transition="in" filter="diamond(in)">
                                      <p:cBhvr>
                                        <p:cTn id="7" dur="2000"/>
                                        <p:tgtEl>
                                          <p:spTgt spid="27648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76483">
                                            <p:txEl>
                                              <p:pRg st="3" end="3"/>
                                            </p:txEl>
                                          </p:spTgt>
                                        </p:tgtEl>
                                        <p:attrNameLst>
                                          <p:attrName>style.visibility</p:attrName>
                                        </p:attrNameLst>
                                      </p:cBhvr>
                                      <p:to>
                                        <p:strVal val="visible"/>
                                      </p:to>
                                    </p:set>
                                    <p:animEffect transition="in" filter="box(in)">
                                      <p:cBhvr>
                                        <p:cTn id="12" dur="500"/>
                                        <p:tgtEl>
                                          <p:spTgt spid="276483">
                                            <p:txEl>
                                              <p:pRg st="3" end="3"/>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276483">
                                            <p:txEl>
                                              <p:pRg st="4" end="4"/>
                                            </p:txEl>
                                          </p:spTgt>
                                        </p:tgtEl>
                                        <p:attrNameLst>
                                          <p:attrName>style.visibility</p:attrName>
                                        </p:attrNameLst>
                                      </p:cBhvr>
                                      <p:to>
                                        <p:strVal val="visible"/>
                                      </p:to>
                                    </p:set>
                                    <p:animEffect transition="in" filter="box(in)">
                                      <p:cBhvr>
                                        <p:cTn id="15" dur="500"/>
                                        <p:tgtEl>
                                          <p:spTgt spid="2764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a:t>（</a:t>
            </a:r>
            <a:r>
              <a:rPr lang="en-US" altLang="zh-CN"/>
              <a:t>4</a:t>
            </a:r>
            <a:r>
              <a:rPr lang="zh-CN" altLang="en-US"/>
              <a:t>）交易性金融资产的出售</a:t>
            </a:r>
          </a:p>
        </p:txBody>
      </p:sp>
      <p:sp>
        <p:nvSpPr>
          <p:cNvPr id="38915" name="Rectangle 3"/>
          <p:cNvSpPr>
            <a:spLocks noGrp="1" noChangeArrowheads="1"/>
          </p:cNvSpPr>
          <p:nvPr>
            <p:ph idx="1"/>
          </p:nvPr>
        </p:nvSpPr>
        <p:spPr/>
        <p:txBody>
          <a:bodyPr/>
          <a:lstStyle/>
          <a:p>
            <a:r>
              <a:rPr lang="zh-CN" altLang="en-US">
                <a:latin typeface="宋体" panose="02010600030101010101" pitchFamily="2" charset="-122"/>
              </a:rPr>
              <a:t>确认取得的款项、转销交易性金融资产账面价值</a:t>
            </a:r>
          </a:p>
          <a:p>
            <a:r>
              <a:rPr lang="zh-CN" altLang="en-US">
                <a:latin typeface="宋体" panose="02010600030101010101" pitchFamily="2" charset="-122"/>
              </a:rPr>
              <a:t>实际取得收入扣除账面价值及相关费用的差额，确认为当期投资损益；</a:t>
            </a:r>
          </a:p>
          <a:p>
            <a:r>
              <a:rPr lang="zh-CN" altLang="en-US"/>
              <a:t>原确认的公允价值变动损益转入</a:t>
            </a:r>
            <a:r>
              <a:rPr lang="zh-CN" altLang="en-US">
                <a:latin typeface="Arial" panose="020B0604020202020204" pitchFamily="34" charset="0"/>
              </a:rPr>
              <a:t>“</a:t>
            </a:r>
            <a:r>
              <a:rPr lang="zh-CN" altLang="en-US"/>
              <a:t>投资收益</a:t>
            </a:r>
            <a:r>
              <a:rPr lang="zh-CN" altLang="en-US">
                <a:latin typeface="Arial" panose="020B0604020202020204" pitchFamily="34" charset="0"/>
              </a:rPr>
              <a:t>”</a:t>
            </a:r>
            <a:endParaRPr lang="zh-CN" altLang="en-US"/>
          </a:p>
          <a:p>
            <a:pPr eaLnBrk="1" hangingPunct="1"/>
            <a:endParaRPr lang="zh-CN" altLang="en-US" b="0"/>
          </a:p>
          <a:p>
            <a:pPr eaLnBrk="1" hangingPunct="1"/>
            <a:r>
              <a:rPr lang="zh-CN" altLang="en-US" b="0"/>
              <a:t>出售时投资收益</a:t>
            </a:r>
            <a:r>
              <a:rPr lang="en-US" altLang="zh-CN" b="0"/>
              <a:t>=</a:t>
            </a:r>
            <a:r>
              <a:rPr lang="zh-CN" altLang="en-US" b="0"/>
              <a:t>出售时收到价款</a:t>
            </a:r>
            <a:r>
              <a:rPr lang="en-US" altLang="zh-CN" b="0"/>
              <a:t>-</a:t>
            </a:r>
            <a:r>
              <a:rPr lang="zh-CN" altLang="en-US" b="0"/>
              <a:t>购买时的公允价值</a:t>
            </a:r>
            <a:r>
              <a:rPr lang="en-US" altLang="zh-CN" b="0"/>
              <a:t>-</a:t>
            </a:r>
            <a:r>
              <a:rPr lang="zh-CN" altLang="en-US" b="0"/>
              <a:t>出售时的交易费用</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zh-CN" altLang="en-US"/>
              <a:t>（</a:t>
            </a:r>
            <a:r>
              <a:rPr lang="en-US" altLang="zh-CN"/>
              <a:t>4</a:t>
            </a:r>
            <a:r>
              <a:rPr lang="zh-CN" altLang="en-US"/>
              <a:t>）交易性金融资产的出售</a:t>
            </a:r>
          </a:p>
        </p:txBody>
      </p:sp>
      <p:sp>
        <p:nvSpPr>
          <p:cNvPr id="39939" name="Rectangle 3"/>
          <p:cNvSpPr>
            <a:spLocks noGrp="1" noChangeArrowheads="1"/>
          </p:cNvSpPr>
          <p:nvPr>
            <p:ph idx="1"/>
          </p:nvPr>
        </p:nvSpPr>
        <p:spPr/>
        <p:txBody>
          <a:bodyPr/>
          <a:lstStyle/>
          <a:p>
            <a:pPr marL="0" indent="0" eaLnBrk="1" hangingPunct="1">
              <a:lnSpc>
                <a:spcPct val="90000"/>
              </a:lnSpc>
              <a:buNone/>
            </a:pPr>
            <a:r>
              <a:rPr lang="zh-CN" altLang="en-US"/>
              <a:t>会计处理：</a:t>
            </a:r>
          </a:p>
          <a:p>
            <a:pPr marL="0" indent="0" eaLnBrk="1" hangingPunct="1">
              <a:lnSpc>
                <a:spcPct val="90000"/>
              </a:lnSpc>
              <a:buNone/>
            </a:pPr>
            <a:r>
              <a:rPr lang="zh-CN" altLang="en-US"/>
              <a:t>    按实际收到的金额，借记</a:t>
            </a:r>
            <a:r>
              <a:rPr lang="zh-CN" altLang="en-US">
                <a:solidFill>
                  <a:schemeClr val="folHlink"/>
                </a:solidFill>
                <a:latin typeface="Arial" panose="020B0604020202020204" pitchFamily="34" charset="0"/>
              </a:rPr>
              <a:t>“</a:t>
            </a:r>
            <a:r>
              <a:rPr lang="zh-CN" altLang="en-US">
                <a:solidFill>
                  <a:srgbClr val="3333FF"/>
                </a:solidFill>
              </a:rPr>
              <a:t>其他货币资金</a:t>
            </a:r>
            <a:r>
              <a:rPr lang="zh-CN" altLang="en-US">
                <a:solidFill>
                  <a:schemeClr val="folHlink"/>
                </a:solidFill>
                <a:latin typeface="Arial" panose="020B0604020202020204" pitchFamily="34" charset="0"/>
              </a:rPr>
              <a:t>”</a:t>
            </a:r>
            <a:r>
              <a:rPr lang="zh-CN" altLang="en-US"/>
              <a:t>等科目按该金融资产的账面余额，贷记</a:t>
            </a:r>
            <a:r>
              <a:rPr lang="zh-CN" altLang="en-US">
                <a:solidFill>
                  <a:schemeClr val="folHlink"/>
                </a:solidFill>
                <a:latin typeface="Arial" panose="020B0604020202020204" pitchFamily="34" charset="0"/>
              </a:rPr>
              <a:t>“</a:t>
            </a:r>
            <a:r>
              <a:rPr lang="zh-CN" altLang="en-US">
                <a:solidFill>
                  <a:schemeClr val="folHlink"/>
                </a:solidFill>
              </a:rPr>
              <a:t>交易性金融资产</a:t>
            </a:r>
            <a:r>
              <a:rPr lang="en-US" altLang="zh-CN">
                <a:solidFill>
                  <a:schemeClr val="folHlink"/>
                </a:solidFill>
                <a:latin typeface="Arial" panose="020B0604020202020204" pitchFamily="34" charset="0"/>
              </a:rPr>
              <a:t>—</a:t>
            </a:r>
            <a:r>
              <a:rPr lang="zh-CN" altLang="en-US">
                <a:solidFill>
                  <a:schemeClr val="folHlink"/>
                </a:solidFill>
              </a:rPr>
              <a:t>成本</a:t>
            </a:r>
            <a:r>
              <a:rPr lang="zh-CN" altLang="en-US">
                <a:solidFill>
                  <a:schemeClr val="folHlink"/>
                </a:solidFill>
                <a:latin typeface="Arial" panose="020B0604020202020204" pitchFamily="34" charset="0"/>
              </a:rPr>
              <a:t>”</a:t>
            </a:r>
            <a:r>
              <a:rPr lang="zh-CN" altLang="en-US"/>
              <a:t>，借记或贷记</a:t>
            </a:r>
            <a:r>
              <a:rPr lang="zh-CN" altLang="en-US">
                <a:solidFill>
                  <a:schemeClr val="folHlink"/>
                </a:solidFill>
                <a:latin typeface="Arial" panose="020B0604020202020204" pitchFamily="34" charset="0"/>
              </a:rPr>
              <a:t>“</a:t>
            </a:r>
            <a:r>
              <a:rPr lang="zh-CN" altLang="en-US">
                <a:solidFill>
                  <a:schemeClr val="folHlink"/>
                </a:solidFill>
              </a:rPr>
              <a:t>交易性金融资产</a:t>
            </a:r>
            <a:r>
              <a:rPr lang="en-US" altLang="zh-CN">
                <a:solidFill>
                  <a:schemeClr val="folHlink"/>
                </a:solidFill>
                <a:latin typeface="Arial" panose="020B0604020202020204" pitchFamily="34" charset="0"/>
              </a:rPr>
              <a:t>—</a:t>
            </a:r>
            <a:r>
              <a:rPr lang="zh-CN" altLang="en-US">
                <a:solidFill>
                  <a:schemeClr val="folHlink"/>
                </a:solidFill>
              </a:rPr>
              <a:t>公允价值变动</a:t>
            </a:r>
            <a:r>
              <a:rPr lang="zh-CN" altLang="en-US">
                <a:solidFill>
                  <a:schemeClr val="folHlink"/>
                </a:solidFill>
                <a:latin typeface="Arial" panose="020B0604020202020204" pitchFamily="34" charset="0"/>
              </a:rPr>
              <a:t>”</a:t>
            </a:r>
            <a:endParaRPr lang="zh-CN" altLang="en-US">
              <a:solidFill>
                <a:schemeClr val="folHlink"/>
              </a:solidFill>
            </a:endParaRPr>
          </a:p>
          <a:p>
            <a:pPr marL="0" indent="0" eaLnBrk="1" hangingPunct="1">
              <a:lnSpc>
                <a:spcPct val="90000"/>
              </a:lnSpc>
              <a:buNone/>
            </a:pPr>
            <a:r>
              <a:rPr lang="zh-CN" altLang="en-US"/>
              <a:t>    转销以前确认的</a:t>
            </a:r>
            <a:r>
              <a:rPr lang="zh-CN" altLang="en-US">
                <a:solidFill>
                  <a:schemeClr val="folHlink"/>
                </a:solidFill>
                <a:latin typeface="Arial" panose="020B0604020202020204" pitchFamily="34" charset="0"/>
              </a:rPr>
              <a:t>“</a:t>
            </a:r>
            <a:r>
              <a:rPr lang="zh-CN" altLang="en-US">
                <a:solidFill>
                  <a:schemeClr val="folHlink"/>
                </a:solidFill>
              </a:rPr>
              <a:t>公允价值变动损益</a:t>
            </a:r>
            <a:r>
              <a:rPr lang="zh-CN" altLang="en-US">
                <a:solidFill>
                  <a:schemeClr val="folHlink"/>
                </a:solidFill>
                <a:latin typeface="Arial" panose="020B0604020202020204" pitchFamily="34" charset="0"/>
              </a:rPr>
              <a:t>”</a:t>
            </a:r>
            <a:endParaRPr lang="zh-CN" altLang="en-US">
              <a:solidFill>
                <a:schemeClr val="folHlink"/>
              </a:solidFill>
            </a:endParaRPr>
          </a:p>
          <a:p>
            <a:pPr marL="0" indent="0" eaLnBrk="1" hangingPunct="1">
              <a:lnSpc>
                <a:spcPct val="90000"/>
              </a:lnSpc>
              <a:buNone/>
            </a:pPr>
            <a:r>
              <a:rPr lang="zh-CN" altLang="en-US"/>
              <a:t>    差额确认为</a:t>
            </a:r>
            <a:r>
              <a:rPr lang="zh-CN" altLang="en-US">
                <a:solidFill>
                  <a:schemeClr val="folHlink"/>
                </a:solidFill>
                <a:latin typeface="Arial" panose="020B0604020202020204" pitchFamily="34" charset="0"/>
              </a:rPr>
              <a:t>“</a:t>
            </a:r>
            <a:r>
              <a:rPr lang="zh-CN" altLang="en-US">
                <a:solidFill>
                  <a:schemeClr val="folHlink"/>
                </a:solidFill>
              </a:rPr>
              <a:t>投资收益</a:t>
            </a:r>
            <a:r>
              <a:rPr lang="zh-CN" altLang="en-US">
                <a:solidFill>
                  <a:schemeClr val="folHlink"/>
                </a:solidFill>
                <a:latin typeface="Arial" panose="020B0604020202020204" pitchFamily="34" charset="0"/>
              </a:rPr>
              <a:t>”</a:t>
            </a:r>
            <a:endParaRPr lang="zh-CN" altLang="en-US">
              <a:solidFill>
                <a:schemeClr val="folHlink"/>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a:t>举例（续）</a:t>
            </a:r>
          </a:p>
        </p:txBody>
      </p:sp>
      <p:sp>
        <p:nvSpPr>
          <p:cNvPr id="25603" name="Rectangle 3"/>
          <p:cNvSpPr>
            <a:spLocks noGrp="1" noChangeArrowheads="1"/>
          </p:cNvSpPr>
          <p:nvPr>
            <p:ph idx="1"/>
          </p:nvPr>
        </p:nvSpPr>
        <p:spPr/>
        <p:txBody>
          <a:bodyPr/>
          <a:lstStyle/>
          <a:p>
            <a:pPr marL="0" indent="0" eaLnBrk="1" hangingPunct="1">
              <a:lnSpc>
                <a:spcPct val="90000"/>
              </a:lnSpc>
              <a:buNone/>
            </a:pPr>
            <a:r>
              <a:rPr lang="en-US" altLang="zh-CN"/>
              <a:t>【</a:t>
            </a:r>
            <a:r>
              <a:rPr lang="zh-CN" altLang="en-US"/>
              <a:t>例</a:t>
            </a:r>
            <a:r>
              <a:rPr lang="en-US" altLang="zh-CN">
                <a:latin typeface="Times New Roman" panose="02020603050405020304" pitchFamily="18" charset="0"/>
                <a:cs typeface="Times New Roman" panose="02020603050405020304" pitchFamily="18" charset="0"/>
              </a:rPr>
              <a:t>5-4</a:t>
            </a:r>
            <a:r>
              <a:rPr lang="en-US" altLang="zh-CN"/>
              <a:t>】</a:t>
            </a:r>
            <a:r>
              <a:rPr lang="en-US" altLang="zh-CN">
                <a:latin typeface="Times New Roman" panose="02020603050405020304" pitchFamily="18" charset="0"/>
                <a:cs typeface="Times New Roman" panose="02020603050405020304" pitchFamily="18" charset="0"/>
              </a:rPr>
              <a:t>4</a:t>
            </a:r>
            <a:r>
              <a:rPr lang="zh-CN" altLang="en-US"/>
              <a:t>月</a:t>
            </a:r>
            <a:r>
              <a:rPr lang="en-US" altLang="zh-CN">
                <a:latin typeface="Times New Roman" panose="02020603050405020304" pitchFamily="18" charset="0"/>
                <a:cs typeface="Times New Roman" panose="02020603050405020304" pitchFamily="18" charset="0"/>
              </a:rPr>
              <a:t>30</a:t>
            </a:r>
            <a:r>
              <a:rPr lang="zh-CN" altLang="en-US"/>
              <a:t>日，华峰公司将其记录的持有</a:t>
            </a:r>
            <a:r>
              <a:rPr lang="en-US" altLang="zh-CN">
                <a:latin typeface="Times New Roman" panose="02020603050405020304" pitchFamily="18" charset="0"/>
                <a:cs typeface="Times New Roman" panose="02020603050405020304" pitchFamily="18" charset="0"/>
              </a:rPr>
              <a:t>S</a:t>
            </a:r>
            <a:r>
              <a:rPr lang="zh-CN" altLang="en-US"/>
              <a:t>公司</a:t>
            </a:r>
            <a:r>
              <a:rPr lang="en-US" altLang="zh-CN">
                <a:latin typeface="Times New Roman" panose="02020603050405020304" pitchFamily="18" charset="0"/>
                <a:cs typeface="Times New Roman" panose="02020603050405020304" pitchFamily="18" charset="0"/>
              </a:rPr>
              <a:t>3 000</a:t>
            </a:r>
            <a:r>
              <a:rPr lang="zh-CN" altLang="en-US"/>
              <a:t>股股票出售，售价</a:t>
            </a:r>
            <a:r>
              <a:rPr lang="en-US" altLang="zh-CN">
                <a:latin typeface="Times New Roman" panose="02020603050405020304" pitchFamily="18" charset="0"/>
                <a:cs typeface="Times New Roman" panose="02020603050405020304" pitchFamily="18" charset="0"/>
              </a:rPr>
              <a:t>18 000</a:t>
            </a:r>
            <a:r>
              <a:rPr lang="zh-CN" altLang="en-US"/>
              <a:t>元。应如何进行会计处理？ </a:t>
            </a:r>
          </a:p>
          <a:p>
            <a:pPr marL="0" indent="0" eaLnBrk="1" hangingPunct="1">
              <a:lnSpc>
                <a:spcPct val="90000"/>
              </a:lnSpc>
              <a:buNone/>
            </a:pPr>
            <a:r>
              <a:rPr lang="zh-CN" altLang="en-US" sz="2400" b="1">
                <a:latin typeface="楷体_GB2312" panose="02010609030101010101" pitchFamily="49" charset="-122"/>
                <a:ea typeface="楷体_GB2312" panose="02010609030101010101" pitchFamily="49" charset="-122"/>
                <a:cs typeface="+mn-ea"/>
              </a:rPr>
              <a:t>借：其他货币资金</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存出投资款  </a:t>
            </a:r>
            <a:r>
              <a:rPr lang="zh-CN" altLang="en-US" sz="2400"/>
              <a:t>    </a:t>
            </a:r>
            <a:r>
              <a:rPr lang="en-US" altLang="zh-CN" sz="2600">
                <a:latin typeface="Times New Roman" panose="02020603050405020304" pitchFamily="18" charset="0"/>
                <a:cs typeface="Times New Roman" panose="02020603050405020304" pitchFamily="18" charset="0"/>
              </a:rPr>
              <a:t> 18 000</a:t>
            </a:r>
            <a:endParaRPr lang="en-US" altLang="zh-CN" sz="2400"/>
          </a:p>
          <a:p>
            <a:pPr marL="0" indent="0" eaLnBrk="1" hangingPunct="1">
              <a:lnSpc>
                <a:spcPct val="90000"/>
              </a:lnSpc>
              <a:buNone/>
            </a:pPr>
            <a:r>
              <a:rPr lang="en-US" altLang="zh-CN" sz="2400"/>
              <a:t>    </a:t>
            </a:r>
            <a:r>
              <a:rPr lang="zh-CN" altLang="en-US" sz="2400" b="1">
                <a:latin typeface="楷体_GB2312" panose="02010609030101010101" pitchFamily="49" charset="-122"/>
                <a:ea typeface="楷体_GB2312" panose="02010609030101010101" pitchFamily="49" charset="-122"/>
                <a:cs typeface="+mn-ea"/>
              </a:rPr>
              <a:t>交易性金融资产</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公允价值变动</a:t>
            </a:r>
            <a:r>
              <a:rPr lang="zh-CN" altLang="en-US" sz="2400"/>
              <a:t>    </a:t>
            </a:r>
            <a:r>
              <a:rPr lang="en-US" altLang="zh-CN" sz="2600">
                <a:latin typeface="Times New Roman" panose="02020603050405020304" pitchFamily="18" charset="0"/>
                <a:cs typeface="Times New Roman" panose="02020603050405020304" pitchFamily="18" charset="0"/>
              </a:rPr>
              <a:t>6 000</a:t>
            </a:r>
            <a:endParaRPr lang="en-US" altLang="zh-CN" sz="2400"/>
          </a:p>
          <a:p>
            <a:pPr marL="0" indent="0" eaLnBrk="1" hangingPunct="1">
              <a:lnSpc>
                <a:spcPct val="90000"/>
              </a:lnSpc>
              <a:buNone/>
            </a:pPr>
            <a:r>
              <a:rPr lang="en-US" altLang="zh-CN" sz="2400"/>
              <a:t>   </a:t>
            </a:r>
            <a:r>
              <a:rPr sz="2400" b="1">
                <a:latin typeface="楷体_GB2312" panose="02010609030101010101" pitchFamily="49" charset="-122"/>
                <a:ea typeface="楷体_GB2312" panose="02010609030101010101" pitchFamily="49" charset="-122"/>
                <a:cs typeface="+mn-ea"/>
              </a:rPr>
              <a:t> </a:t>
            </a:r>
            <a:r>
              <a:rPr lang="zh-CN" altLang="en-US" sz="2400" b="1">
                <a:latin typeface="楷体_GB2312" panose="02010609030101010101" pitchFamily="49" charset="-122"/>
                <a:ea typeface="楷体_GB2312" panose="02010609030101010101" pitchFamily="49" charset="-122"/>
                <a:cs typeface="+mn-ea"/>
              </a:rPr>
              <a:t>投资收益   </a:t>
            </a:r>
            <a:r>
              <a:rPr lang="zh-CN" altLang="en-US" sz="2400"/>
              <a:t>                      </a:t>
            </a:r>
            <a:r>
              <a:rPr lang="en-US" altLang="zh-CN" sz="2600">
                <a:latin typeface="Times New Roman" panose="02020603050405020304" pitchFamily="18" charset="0"/>
                <a:cs typeface="Times New Roman" panose="02020603050405020304" pitchFamily="18" charset="0"/>
              </a:rPr>
              <a:t> 12 000</a:t>
            </a:r>
            <a:endParaRPr lang="en-US" altLang="zh-CN" sz="2400"/>
          </a:p>
          <a:p>
            <a:pPr marL="0" indent="0" eaLnBrk="1" hangingPunct="1">
              <a:lnSpc>
                <a:spcPct val="90000"/>
              </a:lnSpc>
              <a:buNone/>
            </a:pPr>
            <a:r>
              <a:rPr lang="en-US" altLang="zh-CN" sz="2400"/>
              <a:t>    </a:t>
            </a:r>
            <a:r>
              <a:rPr lang="zh-CN" altLang="en-US" sz="2400" b="1">
                <a:latin typeface="楷体_GB2312" panose="02010609030101010101" pitchFamily="49" charset="-122"/>
                <a:ea typeface="楷体_GB2312" panose="02010609030101010101" pitchFamily="49" charset="-122"/>
                <a:cs typeface="+mn-ea"/>
              </a:rPr>
              <a:t>贷：交易性金融资产</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成本 </a:t>
            </a:r>
            <a:r>
              <a:rPr lang="zh-CN" altLang="en-US" sz="2400"/>
              <a:t>        </a:t>
            </a:r>
            <a:r>
              <a:rPr lang="en-US" altLang="zh-CN" sz="2600">
                <a:latin typeface="Times New Roman" panose="02020603050405020304" pitchFamily="18" charset="0"/>
                <a:cs typeface="Times New Roman" panose="02020603050405020304" pitchFamily="18" charset="0"/>
              </a:rPr>
              <a:t>30 000  </a:t>
            </a:r>
            <a:endParaRPr lang="en-US" altLang="zh-CN" sz="2400"/>
          </a:p>
          <a:p>
            <a:pPr marL="0" indent="0" eaLnBrk="1" hangingPunct="1">
              <a:lnSpc>
                <a:spcPct val="90000"/>
              </a:lnSpc>
              <a:buNone/>
            </a:pPr>
            <a:r>
              <a:rPr lang="en-US" altLang="zh-CN" sz="2400"/>
              <a:t>       </a:t>
            </a:r>
            <a:r>
              <a:rPr sz="2400" b="1">
                <a:latin typeface="楷体_GB2312" panose="02010609030101010101" pitchFamily="49" charset="-122"/>
                <a:ea typeface="楷体_GB2312" panose="02010609030101010101" pitchFamily="49" charset="-122"/>
                <a:cs typeface="+mn-ea"/>
              </a:rPr>
              <a:t> </a:t>
            </a:r>
            <a:r>
              <a:rPr lang="zh-CN" altLang="en-US" sz="2400" b="1">
                <a:latin typeface="楷体_GB2312" panose="02010609030101010101" pitchFamily="49" charset="-122"/>
                <a:ea typeface="楷体_GB2312" panose="02010609030101010101" pitchFamily="49" charset="-122"/>
                <a:cs typeface="+mn-ea"/>
              </a:rPr>
              <a:t>公允价值变动损益 </a:t>
            </a:r>
            <a:r>
              <a:rPr lang="zh-CN" altLang="en-US" sz="2400"/>
              <a:t>     </a:t>
            </a:r>
            <a:r>
              <a:rPr lang="zh-CN" altLang="en-US"/>
              <a:t>         </a:t>
            </a:r>
            <a:r>
              <a:rPr lang="en-US" altLang="zh-CN">
                <a:latin typeface="Times New Roman" panose="02020603050405020304" pitchFamily="18" charset="0"/>
                <a:cs typeface="Times New Roman" panose="02020603050405020304" pitchFamily="18" charset="0"/>
              </a:rPr>
              <a:t>6 000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7" dur="500"/>
                                        <p:tgtEl>
                                          <p:spTgt spid="2560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0" dur="500"/>
                                        <p:tgtEl>
                                          <p:spTgt spid="2560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13" dur="500"/>
                                        <p:tgtEl>
                                          <p:spTgt spid="2560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16" dur="500"/>
                                        <p:tgtEl>
                                          <p:spTgt spid="2560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5603">
                                            <p:txEl>
                                              <p:pRg st="5" end="5"/>
                                            </p:txEl>
                                          </p:spTgt>
                                        </p:tgtEl>
                                        <p:attrNameLst>
                                          <p:attrName>style.visibility</p:attrName>
                                        </p:attrNameLst>
                                      </p:cBhvr>
                                      <p:to>
                                        <p:strVal val="visible"/>
                                      </p:to>
                                    </p:set>
                                    <p:animEffect transition="in" filter="blinds(horizontal)">
                                      <p:cBhvr>
                                        <p:cTn id="19" dur="500"/>
                                        <p:tgtEl>
                                          <p:spTgt spid="256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zh-CN" altLang="en-US"/>
              <a:t>思考</a:t>
            </a:r>
          </a:p>
        </p:txBody>
      </p:sp>
      <p:sp>
        <p:nvSpPr>
          <p:cNvPr id="25603" name="Rectangle 3"/>
          <p:cNvSpPr>
            <a:spLocks noGrp="1" noChangeArrowheads="1"/>
          </p:cNvSpPr>
          <p:nvPr>
            <p:ph idx="1"/>
          </p:nvPr>
        </p:nvSpPr>
        <p:spPr/>
        <p:txBody>
          <a:bodyPr/>
          <a:lstStyle/>
          <a:p>
            <a:pPr eaLnBrk="1" hangingPunct="1">
              <a:lnSpc>
                <a:spcPct val="90000"/>
              </a:lnSpc>
            </a:pPr>
            <a:r>
              <a:rPr lang="zh-CN" altLang="en-US"/>
              <a:t>如果</a:t>
            </a:r>
            <a:r>
              <a:rPr lang="en-US" altLang="zh-CN">
                <a:latin typeface="Times New Roman" panose="02020603050405020304" pitchFamily="18" charset="0"/>
                <a:cs typeface="Times New Roman" panose="02020603050405020304" pitchFamily="18" charset="0"/>
              </a:rPr>
              <a:t>4</a:t>
            </a:r>
            <a:r>
              <a:rPr lang="zh-CN" altLang="en-US"/>
              <a:t>月</a:t>
            </a:r>
            <a:r>
              <a:rPr lang="en-US" altLang="zh-CN">
                <a:latin typeface="Times New Roman" panose="02020603050405020304" pitchFamily="18" charset="0"/>
                <a:cs typeface="Times New Roman" panose="02020603050405020304" pitchFamily="18" charset="0"/>
              </a:rPr>
              <a:t>30</a:t>
            </a:r>
            <a:r>
              <a:rPr lang="zh-CN" altLang="en-US"/>
              <a:t>日，华峰公司将其记录的持有</a:t>
            </a:r>
            <a:r>
              <a:rPr lang="en-US" altLang="zh-CN">
                <a:latin typeface="Times New Roman" panose="02020603050405020304" pitchFamily="18" charset="0"/>
                <a:cs typeface="Times New Roman" panose="02020603050405020304" pitchFamily="18" charset="0"/>
              </a:rPr>
              <a:t>S</a:t>
            </a:r>
            <a:r>
              <a:rPr lang="zh-CN" altLang="en-US"/>
              <a:t>公司</a:t>
            </a:r>
            <a:r>
              <a:rPr lang="en-US" altLang="zh-CN">
                <a:latin typeface="Times New Roman" panose="02020603050405020304" pitchFamily="18" charset="0"/>
                <a:cs typeface="Times New Roman" panose="02020603050405020304" pitchFamily="18" charset="0"/>
              </a:rPr>
              <a:t>3 000</a:t>
            </a:r>
            <a:r>
              <a:rPr lang="zh-CN" altLang="en-US"/>
              <a:t>股股票出售了</a:t>
            </a:r>
            <a:r>
              <a:rPr lang="en-US" altLang="zh-CN">
                <a:latin typeface="Times New Roman" panose="02020603050405020304" pitchFamily="18" charset="0"/>
                <a:cs typeface="Times New Roman" panose="02020603050405020304" pitchFamily="18" charset="0"/>
              </a:rPr>
              <a:t>1 000</a:t>
            </a:r>
            <a:r>
              <a:rPr lang="zh-CN" altLang="en-US"/>
              <a:t>股，售价</a:t>
            </a:r>
            <a:r>
              <a:rPr lang="en-US" altLang="zh-CN">
                <a:latin typeface="Times New Roman" panose="02020603050405020304" pitchFamily="18" charset="0"/>
                <a:cs typeface="Times New Roman" panose="02020603050405020304" pitchFamily="18" charset="0"/>
              </a:rPr>
              <a:t>6 000</a:t>
            </a:r>
            <a:r>
              <a:rPr lang="zh-CN" altLang="en-US"/>
              <a:t>元。应如何进行会计处理？ </a:t>
            </a:r>
          </a:p>
          <a:p>
            <a:pPr eaLnBrk="1" hangingPunct="1">
              <a:lnSpc>
                <a:spcPct val="90000"/>
              </a:lnSpc>
            </a:pPr>
            <a:endParaRPr lang="zh-CN" altLang="en-US"/>
          </a:p>
          <a:p>
            <a:pPr marL="0" indent="0" eaLnBrk="1" hangingPunct="1">
              <a:lnSpc>
                <a:spcPct val="90000"/>
              </a:lnSpc>
              <a:buNone/>
            </a:pPr>
            <a:r>
              <a:rPr lang="zh-CN" altLang="en-US" sz="2400" b="1">
                <a:latin typeface="楷体_GB2312" panose="02010609030101010101" pitchFamily="49" charset="-122"/>
                <a:ea typeface="楷体_GB2312" panose="02010609030101010101" pitchFamily="49" charset="-122"/>
                <a:cs typeface="+mn-ea"/>
              </a:rPr>
              <a:t>借：其他货币资金</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存出投资款</a:t>
            </a:r>
            <a:r>
              <a:rPr lang="zh-CN" altLang="en-US" sz="2400"/>
              <a:t>       </a:t>
            </a:r>
            <a:r>
              <a:rPr lang="en-US" altLang="zh-CN" sz="2600">
                <a:latin typeface="Times New Roman" panose="02020603050405020304" pitchFamily="18" charset="0"/>
                <a:cs typeface="Times New Roman" panose="02020603050405020304" pitchFamily="18" charset="0"/>
              </a:rPr>
              <a:t>6 000</a:t>
            </a:r>
            <a:endParaRPr lang="en-US" altLang="zh-CN" sz="2400"/>
          </a:p>
          <a:p>
            <a:pPr marL="0" indent="0" eaLnBrk="1" hangingPunct="1">
              <a:lnSpc>
                <a:spcPct val="90000"/>
              </a:lnSpc>
              <a:buNone/>
            </a:pPr>
            <a:r>
              <a:rPr lang="en-US" altLang="zh-CN" sz="2400"/>
              <a:t>    </a:t>
            </a:r>
            <a:r>
              <a:rPr lang="zh-CN" altLang="en-US" sz="2400" b="1">
                <a:latin typeface="楷体_GB2312" panose="02010609030101010101" pitchFamily="49" charset="-122"/>
                <a:ea typeface="楷体_GB2312" panose="02010609030101010101" pitchFamily="49" charset="-122"/>
                <a:cs typeface="+mn-ea"/>
              </a:rPr>
              <a:t>交易性金融资产</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公允价值变动</a:t>
            </a:r>
            <a:r>
              <a:rPr lang="zh-CN" altLang="en-US" sz="2400"/>
              <a:t>  </a:t>
            </a:r>
            <a:r>
              <a:rPr lang="en-US" altLang="zh-CN" sz="2600">
                <a:latin typeface="Times New Roman" panose="02020603050405020304" pitchFamily="18" charset="0"/>
                <a:cs typeface="Times New Roman" panose="02020603050405020304" pitchFamily="18" charset="0"/>
              </a:rPr>
              <a:t>  2 000</a:t>
            </a:r>
            <a:endParaRPr lang="en-US" altLang="zh-CN" sz="2400"/>
          </a:p>
          <a:p>
            <a:pPr marL="0" indent="0" eaLnBrk="1" hangingPunct="1">
              <a:lnSpc>
                <a:spcPct val="90000"/>
              </a:lnSpc>
              <a:buNone/>
            </a:pPr>
            <a:r>
              <a:rPr lang="en-US" altLang="zh-CN" sz="2400"/>
              <a:t>    </a:t>
            </a:r>
            <a:r>
              <a:rPr lang="zh-CN" altLang="en-US" sz="2400" b="1">
                <a:latin typeface="楷体_GB2312" panose="02010609030101010101" pitchFamily="49" charset="-122"/>
                <a:ea typeface="楷体_GB2312" panose="02010609030101010101" pitchFamily="49" charset="-122"/>
                <a:cs typeface="+mn-ea"/>
              </a:rPr>
              <a:t>投资收益</a:t>
            </a:r>
            <a:r>
              <a:rPr lang="zh-CN" altLang="en-US" sz="2400"/>
              <a:t>                        </a:t>
            </a:r>
            <a:r>
              <a:rPr lang="en-US" altLang="zh-CN" sz="2600">
                <a:latin typeface="Times New Roman" panose="02020603050405020304" pitchFamily="18" charset="0"/>
                <a:cs typeface="Times New Roman" panose="02020603050405020304" pitchFamily="18" charset="0"/>
              </a:rPr>
              <a:t>  4 000</a:t>
            </a:r>
            <a:endParaRPr lang="en-US" altLang="zh-CN" sz="2400"/>
          </a:p>
          <a:p>
            <a:pPr marL="0" indent="0" eaLnBrk="1" hangingPunct="1">
              <a:lnSpc>
                <a:spcPct val="90000"/>
              </a:lnSpc>
              <a:buNone/>
            </a:pPr>
            <a:r>
              <a:rPr lang="en-US" altLang="zh-CN" sz="2400"/>
              <a:t>    </a:t>
            </a:r>
            <a:r>
              <a:rPr lang="zh-CN" altLang="en-US" sz="2400" b="1">
                <a:latin typeface="楷体_GB2312" panose="02010609030101010101" pitchFamily="49" charset="-122"/>
                <a:ea typeface="楷体_GB2312" panose="02010609030101010101" pitchFamily="49" charset="-122"/>
                <a:cs typeface="+mn-ea"/>
              </a:rPr>
              <a:t>贷：交易性金融资产</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成本</a:t>
            </a:r>
            <a:r>
              <a:rPr lang="zh-CN" altLang="en-US" sz="2400"/>
              <a:t>        </a:t>
            </a:r>
            <a:r>
              <a:rPr lang="en-US" altLang="zh-CN" sz="2600">
                <a:latin typeface="Times New Roman" panose="02020603050405020304" pitchFamily="18" charset="0"/>
                <a:cs typeface="Times New Roman" panose="02020603050405020304" pitchFamily="18" charset="0"/>
              </a:rPr>
              <a:t>10 000  </a:t>
            </a:r>
            <a:endParaRPr lang="en-US" altLang="zh-CN" sz="2400"/>
          </a:p>
          <a:p>
            <a:pPr marL="0" indent="0" eaLnBrk="1" hangingPunct="1">
              <a:lnSpc>
                <a:spcPct val="90000"/>
              </a:lnSpc>
              <a:buNone/>
            </a:pPr>
            <a:r>
              <a:rPr lang="en-US" altLang="zh-CN" sz="2400"/>
              <a:t>        </a:t>
            </a:r>
            <a:r>
              <a:rPr lang="zh-CN" altLang="en-US" sz="2400" b="1">
                <a:latin typeface="楷体_GB2312" panose="02010609030101010101" pitchFamily="49" charset="-122"/>
                <a:ea typeface="楷体_GB2312" panose="02010609030101010101" pitchFamily="49" charset="-122"/>
                <a:cs typeface="+mn-ea"/>
              </a:rPr>
              <a:t>公允价值变动损益</a:t>
            </a:r>
            <a:r>
              <a:rPr lang="zh-CN" altLang="en-US" sz="2400"/>
              <a:t>               </a:t>
            </a:r>
            <a:r>
              <a:rPr lang="en-US" altLang="zh-CN" sz="2600">
                <a:latin typeface="Times New Roman" panose="02020603050405020304" pitchFamily="18" charset="0"/>
                <a:cs typeface="Times New Roman" panose="02020603050405020304" pitchFamily="18" charset="0"/>
              </a:rPr>
              <a:t>2 000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7" dur="500"/>
                                        <p:tgtEl>
                                          <p:spTgt spid="2560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10" dur="500"/>
                                        <p:tgtEl>
                                          <p:spTgt spid="25603">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13" dur="500"/>
                                        <p:tgtEl>
                                          <p:spTgt spid="25603">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5603">
                                            <p:txEl>
                                              <p:pRg st="5" end="5"/>
                                            </p:txEl>
                                          </p:spTgt>
                                        </p:tgtEl>
                                        <p:attrNameLst>
                                          <p:attrName>style.visibility</p:attrName>
                                        </p:attrNameLst>
                                      </p:cBhvr>
                                      <p:to>
                                        <p:strVal val="visible"/>
                                      </p:to>
                                    </p:set>
                                    <p:animEffect transition="in" filter="blinds(horizontal)">
                                      <p:cBhvr>
                                        <p:cTn id="16" dur="500"/>
                                        <p:tgtEl>
                                          <p:spTgt spid="25603">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5603">
                                            <p:txEl>
                                              <p:pRg st="6" end="6"/>
                                            </p:txEl>
                                          </p:spTgt>
                                        </p:tgtEl>
                                        <p:attrNameLst>
                                          <p:attrName>style.visibility</p:attrName>
                                        </p:attrNameLst>
                                      </p:cBhvr>
                                      <p:to>
                                        <p:strVal val="visible"/>
                                      </p:to>
                                    </p:set>
                                    <p:animEffect transition="in" filter="blinds(horizontal)">
                                      <p:cBhvr>
                                        <p:cTn id="19" dur="500"/>
                                        <p:tgtEl>
                                          <p:spTgt spid="2560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noChangeArrowheads="1"/>
          </p:cNvSpPr>
          <p:nvPr>
            <p:ph type="title"/>
          </p:nvPr>
        </p:nvSpPr>
        <p:spPr/>
        <p:txBody>
          <a:bodyPr/>
          <a:lstStyle/>
          <a:p>
            <a:r>
              <a:rPr lang="zh-CN" altLang="en-US"/>
              <a:t>练习题</a:t>
            </a:r>
            <a:r>
              <a:rPr lang="en-US" altLang="zh-CN"/>
              <a:t>1</a:t>
            </a:r>
            <a:endParaRPr lang="zh-CN" altLang="en-US"/>
          </a:p>
        </p:txBody>
      </p:sp>
      <p:sp>
        <p:nvSpPr>
          <p:cNvPr id="43011" name="内容占位符 2"/>
          <p:cNvSpPr>
            <a:spLocks noGrp="1" noChangeArrowheads="1"/>
          </p:cNvSpPr>
          <p:nvPr>
            <p:ph idx="1"/>
          </p:nvPr>
        </p:nvSpPr>
        <p:spPr/>
        <p:txBody>
          <a:bodyPr/>
          <a:lstStyle/>
          <a:p>
            <a:r>
              <a:rPr lang="en-US" altLang="zh-CN" sz="2400">
                <a:latin typeface="Times New Roman" panose="02020603050405020304" pitchFamily="18" charset="0"/>
                <a:cs typeface="Times New Roman" panose="02020603050405020304" pitchFamily="18" charset="0"/>
              </a:rPr>
              <a:t>2×20</a:t>
            </a:r>
            <a:r>
              <a:rPr lang="zh-CN" altLang="en-US" sz="2400"/>
              <a:t>年</a:t>
            </a:r>
            <a:r>
              <a:rPr lang="en-US" altLang="zh-CN" sz="2400">
                <a:latin typeface="Times New Roman" panose="02020603050405020304" pitchFamily="18" charset="0"/>
                <a:cs typeface="Times New Roman" panose="02020603050405020304" pitchFamily="18" charset="0"/>
              </a:rPr>
              <a:t>1</a:t>
            </a:r>
            <a:r>
              <a:rPr lang="zh-CN" altLang="en-US" sz="2400"/>
              <a:t>月</a:t>
            </a:r>
            <a:r>
              <a:rPr lang="en-US" altLang="zh-CN" sz="2400">
                <a:latin typeface="Times New Roman" panose="02020603050405020304" pitchFamily="18" charset="0"/>
                <a:cs typeface="Times New Roman" panose="02020603050405020304" pitchFamily="18" charset="0"/>
              </a:rPr>
              <a:t>5</a:t>
            </a:r>
            <a:r>
              <a:rPr lang="zh-CN" altLang="en-US" sz="2400"/>
              <a:t>月</a:t>
            </a:r>
            <a:r>
              <a:rPr lang="en-US" altLang="zh-CN" sz="2400">
                <a:latin typeface="Times New Roman" panose="02020603050405020304" pitchFamily="18" charset="0"/>
                <a:cs typeface="Times New Roman" panose="02020603050405020304" pitchFamily="18" charset="0"/>
              </a:rPr>
              <a:t>P</a:t>
            </a:r>
            <a:r>
              <a:rPr lang="zh-CN" altLang="en-US" sz="2400"/>
              <a:t>公司以每股</a:t>
            </a:r>
            <a:r>
              <a:rPr lang="en-US" altLang="zh-CN" sz="2400">
                <a:latin typeface="Times New Roman" panose="02020603050405020304" pitchFamily="18" charset="0"/>
                <a:cs typeface="Times New Roman" panose="02020603050405020304" pitchFamily="18" charset="0"/>
              </a:rPr>
              <a:t>10</a:t>
            </a:r>
            <a:r>
              <a:rPr lang="zh-CN" altLang="en-US" sz="2400"/>
              <a:t>元的价格购入</a:t>
            </a:r>
            <a:r>
              <a:rPr lang="en-US" altLang="zh-CN" sz="2400">
                <a:latin typeface="Times New Roman" panose="02020603050405020304" pitchFamily="18" charset="0"/>
                <a:cs typeface="Times New Roman" panose="02020603050405020304" pitchFamily="18" charset="0"/>
              </a:rPr>
              <a:t>S</a:t>
            </a:r>
            <a:r>
              <a:rPr lang="zh-CN" altLang="en-US" sz="2400"/>
              <a:t>公司</a:t>
            </a:r>
            <a:r>
              <a:rPr lang="en-US" altLang="zh-CN" sz="2400">
                <a:latin typeface="Times New Roman" panose="02020603050405020304" pitchFamily="18" charset="0"/>
                <a:cs typeface="Times New Roman" panose="02020603050405020304" pitchFamily="18" charset="0"/>
              </a:rPr>
              <a:t>10</a:t>
            </a:r>
            <a:r>
              <a:rPr lang="en-US" altLang="zh-CN" sz="2400"/>
              <a:t> </a:t>
            </a:r>
            <a:r>
              <a:rPr lang="en-US" altLang="zh-CN" sz="2400">
                <a:latin typeface="Times New Roman" panose="02020603050405020304" pitchFamily="18" charset="0"/>
                <a:cs typeface="Times New Roman" panose="02020603050405020304" pitchFamily="18" charset="0"/>
              </a:rPr>
              <a:t>000</a:t>
            </a:r>
            <a:r>
              <a:rPr lang="zh-CN" altLang="en-US" sz="2400"/>
              <a:t>股，支付手续费佣金等</a:t>
            </a:r>
            <a:r>
              <a:rPr lang="en-US" altLang="zh-CN" sz="2400">
                <a:latin typeface="Times New Roman" panose="02020603050405020304" pitchFamily="18" charset="0"/>
                <a:cs typeface="Times New Roman" panose="02020603050405020304" pitchFamily="18" charset="0"/>
              </a:rPr>
              <a:t>150</a:t>
            </a:r>
            <a:r>
              <a:rPr lang="zh-CN" altLang="en-US" sz="2400"/>
              <a:t>元。</a:t>
            </a:r>
            <a:endParaRPr lang="en-US" altLang="zh-CN" sz="2400"/>
          </a:p>
          <a:p>
            <a:r>
              <a:rPr lang="en-US" altLang="zh-CN" sz="2400">
                <a:latin typeface="Times New Roman" panose="02020603050405020304" pitchFamily="18" charset="0"/>
                <a:cs typeface="Times New Roman" panose="02020603050405020304" pitchFamily="18" charset="0"/>
                <a:sym typeface="+mn-ea"/>
              </a:rPr>
              <a:t>2×20</a:t>
            </a:r>
            <a:r>
              <a:rPr lang="zh-CN" altLang="en-US" sz="2400"/>
              <a:t>年</a:t>
            </a:r>
            <a:r>
              <a:rPr lang="en-US" altLang="zh-CN" sz="2400">
                <a:latin typeface="Times New Roman" panose="02020603050405020304" pitchFamily="18" charset="0"/>
                <a:cs typeface="Times New Roman" panose="02020603050405020304" pitchFamily="18" charset="0"/>
              </a:rPr>
              <a:t>3</a:t>
            </a:r>
            <a:r>
              <a:rPr lang="zh-CN" altLang="en-US" sz="2400"/>
              <a:t>月</a:t>
            </a:r>
            <a:r>
              <a:rPr lang="en-US" altLang="zh-CN" sz="2400">
                <a:latin typeface="Times New Roman" panose="02020603050405020304" pitchFamily="18" charset="0"/>
                <a:cs typeface="Times New Roman" panose="02020603050405020304" pitchFamily="18" charset="0"/>
              </a:rPr>
              <a:t>31</a:t>
            </a:r>
            <a:r>
              <a:rPr lang="zh-CN" altLang="en-US" sz="2400"/>
              <a:t>月，</a:t>
            </a:r>
            <a:r>
              <a:rPr lang="en-US" altLang="zh-CN" sz="2400">
                <a:latin typeface="Times New Roman" panose="02020603050405020304" pitchFamily="18" charset="0"/>
                <a:cs typeface="Times New Roman" panose="02020603050405020304" pitchFamily="18" charset="0"/>
              </a:rPr>
              <a:t>S</a:t>
            </a:r>
            <a:r>
              <a:rPr lang="zh-CN" altLang="en-US" sz="2400"/>
              <a:t>公司股价为</a:t>
            </a:r>
            <a:r>
              <a:rPr lang="en-US" altLang="zh-CN" sz="2400">
                <a:latin typeface="Times New Roman" panose="02020603050405020304" pitchFamily="18" charset="0"/>
                <a:cs typeface="Times New Roman" panose="02020603050405020304" pitchFamily="18" charset="0"/>
              </a:rPr>
              <a:t>8</a:t>
            </a:r>
            <a:r>
              <a:rPr lang="zh-CN" altLang="en-US" sz="2400"/>
              <a:t>元</a:t>
            </a:r>
            <a:r>
              <a:rPr lang="en-US" altLang="zh-CN" sz="2400"/>
              <a:t>/</a:t>
            </a:r>
            <a:r>
              <a:rPr lang="zh-CN" altLang="en-US" sz="2400"/>
              <a:t>股。</a:t>
            </a:r>
            <a:endParaRPr lang="en-US" altLang="zh-CN" sz="2400"/>
          </a:p>
          <a:p>
            <a:r>
              <a:rPr lang="en-US" altLang="zh-CN" sz="2400">
                <a:latin typeface="Times New Roman" panose="02020603050405020304" pitchFamily="18" charset="0"/>
                <a:cs typeface="Times New Roman" panose="02020603050405020304" pitchFamily="18" charset="0"/>
                <a:sym typeface="+mn-ea"/>
              </a:rPr>
              <a:t>2×20</a:t>
            </a:r>
            <a:r>
              <a:rPr lang="zh-CN" altLang="en-US" sz="2400"/>
              <a:t>年</a:t>
            </a:r>
            <a:r>
              <a:rPr lang="en-US" altLang="zh-CN" sz="2400">
                <a:latin typeface="Times New Roman" panose="02020603050405020304" pitchFamily="18" charset="0"/>
                <a:cs typeface="Times New Roman" panose="02020603050405020304" pitchFamily="18" charset="0"/>
              </a:rPr>
              <a:t>6</a:t>
            </a:r>
            <a:r>
              <a:rPr lang="zh-CN" altLang="en-US" sz="2400"/>
              <a:t>月</a:t>
            </a:r>
            <a:r>
              <a:rPr lang="en-US" altLang="zh-CN" sz="2400">
                <a:latin typeface="Times New Roman" panose="02020603050405020304" pitchFamily="18" charset="0"/>
                <a:cs typeface="Times New Roman" panose="02020603050405020304" pitchFamily="18" charset="0"/>
              </a:rPr>
              <a:t>30</a:t>
            </a:r>
            <a:r>
              <a:rPr lang="zh-CN" altLang="en-US" sz="2400"/>
              <a:t>月，</a:t>
            </a:r>
            <a:r>
              <a:rPr lang="en-US" altLang="zh-CN" sz="2400">
                <a:latin typeface="Times New Roman" panose="02020603050405020304" pitchFamily="18" charset="0"/>
                <a:cs typeface="Times New Roman" panose="02020603050405020304" pitchFamily="18" charset="0"/>
              </a:rPr>
              <a:t>S</a:t>
            </a:r>
            <a:r>
              <a:rPr lang="zh-CN" altLang="en-US" sz="2400"/>
              <a:t>公司股价为</a:t>
            </a:r>
            <a:r>
              <a:rPr lang="en-US" altLang="zh-CN" sz="2400">
                <a:latin typeface="Times New Roman" panose="02020603050405020304" pitchFamily="18" charset="0"/>
                <a:cs typeface="Times New Roman" panose="02020603050405020304" pitchFamily="18" charset="0"/>
              </a:rPr>
              <a:t>12</a:t>
            </a:r>
            <a:r>
              <a:rPr lang="zh-CN" altLang="en-US" sz="2400"/>
              <a:t>元</a:t>
            </a:r>
            <a:r>
              <a:rPr lang="en-US" altLang="zh-CN" sz="2400"/>
              <a:t>/</a:t>
            </a:r>
            <a:r>
              <a:rPr lang="zh-CN" altLang="en-US" sz="2400"/>
              <a:t>股。</a:t>
            </a:r>
          </a:p>
          <a:p>
            <a:r>
              <a:rPr lang="en-US" altLang="zh-CN" sz="2400">
                <a:latin typeface="Times New Roman" panose="02020603050405020304" pitchFamily="18" charset="0"/>
                <a:cs typeface="Times New Roman" panose="02020603050405020304" pitchFamily="18" charset="0"/>
                <a:sym typeface="+mn-ea"/>
              </a:rPr>
              <a:t>2×20</a:t>
            </a:r>
            <a:r>
              <a:rPr lang="zh-CN" altLang="en-US" sz="2400"/>
              <a:t>年</a:t>
            </a:r>
            <a:r>
              <a:rPr lang="en-US" altLang="zh-CN" sz="2400">
                <a:latin typeface="Times New Roman" panose="02020603050405020304" pitchFamily="18" charset="0"/>
                <a:cs typeface="Times New Roman" panose="02020603050405020304" pitchFamily="18" charset="0"/>
              </a:rPr>
              <a:t>7</a:t>
            </a:r>
            <a:r>
              <a:rPr lang="zh-CN" altLang="en-US" sz="2400"/>
              <a:t>月</a:t>
            </a:r>
            <a:r>
              <a:rPr lang="en-US" altLang="zh-CN" sz="2400">
                <a:latin typeface="Times New Roman" panose="02020603050405020304" pitchFamily="18" charset="0"/>
                <a:cs typeface="Times New Roman" panose="02020603050405020304" pitchFamily="18" charset="0"/>
              </a:rPr>
              <a:t>30</a:t>
            </a:r>
            <a:r>
              <a:rPr lang="zh-CN" altLang="en-US" sz="2400"/>
              <a:t>月，</a:t>
            </a:r>
            <a:r>
              <a:rPr lang="en-US" altLang="zh-CN" sz="2400">
                <a:latin typeface="Times New Roman" panose="02020603050405020304" pitchFamily="18" charset="0"/>
                <a:cs typeface="Times New Roman" panose="02020603050405020304" pitchFamily="18" charset="0"/>
              </a:rPr>
              <a:t>S</a:t>
            </a:r>
            <a:r>
              <a:rPr lang="zh-CN" altLang="en-US" sz="2400"/>
              <a:t>公司以每股</a:t>
            </a:r>
            <a:r>
              <a:rPr lang="en-US" altLang="zh-CN" sz="2400">
                <a:latin typeface="Times New Roman" panose="02020603050405020304" pitchFamily="18" charset="0"/>
                <a:cs typeface="Times New Roman" panose="02020603050405020304" pitchFamily="18" charset="0"/>
              </a:rPr>
              <a:t>11</a:t>
            </a:r>
            <a:r>
              <a:rPr lang="zh-CN" altLang="en-US" sz="2400"/>
              <a:t>元的价格出售了全部股份，支付手续费佣金</a:t>
            </a:r>
            <a:r>
              <a:rPr lang="en-US" altLang="zh-CN" sz="2400">
                <a:latin typeface="Times New Roman" panose="02020603050405020304" pitchFamily="18" charset="0"/>
                <a:cs typeface="Times New Roman" panose="02020603050405020304" pitchFamily="18" charset="0"/>
              </a:rPr>
              <a:t>220</a:t>
            </a:r>
            <a:r>
              <a:rPr lang="zh-CN" altLang="en-US" sz="2400"/>
              <a:t>元。</a:t>
            </a:r>
          </a:p>
          <a:p>
            <a:r>
              <a:rPr lang="en-US" altLang="zh-CN" sz="2400">
                <a:latin typeface="Times New Roman" panose="02020603050405020304" pitchFamily="18" charset="0"/>
                <a:cs typeface="Times New Roman" panose="02020603050405020304" pitchFamily="18" charset="0"/>
              </a:rPr>
              <a:t>1.P</a:t>
            </a:r>
            <a:r>
              <a:rPr lang="zh-CN" altLang="en-US" sz="2400"/>
              <a:t>公司出售</a:t>
            </a:r>
            <a:r>
              <a:rPr lang="en-US" altLang="zh-CN" sz="2400">
                <a:latin typeface="Times New Roman" panose="02020603050405020304" pitchFamily="18" charset="0"/>
                <a:cs typeface="Times New Roman" panose="02020603050405020304" pitchFamily="18" charset="0"/>
              </a:rPr>
              <a:t>S</a:t>
            </a:r>
            <a:r>
              <a:rPr lang="zh-CN" altLang="en-US" sz="2400"/>
              <a:t>公司股票时获取的收益是多少？</a:t>
            </a:r>
            <a:endParaRPr lang="en-US" altLang="zh-CN" sz="2400"/>
          </a:p>
          <a:p>
            <a:r>
              <a:rPr lang="en-US" altLang="zh-CN" sz="2400">
                <a:latin typeface="Times New Roman" panose="02020603050405020304" pitchFamily="18" charset="0"/>
                <a:cs typeface="Times New Roman" panose="02020603050405020304" pitchFamily="18" charset="0"/>
              </a:rPr>
              <a:t>2.</a:t>
            </a:r>
            <a:r>
              <a:rPr lang="zh-CN" altLang="en-US" sz="2400"/>
              <a:t>如何进行会计处理？</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zh-CN" altLang="en-US"/>
              <a:t>练习题</a:t>
            </a:r>
            <a:r>
              <a:rPr lang="en-US" altLang="zh-CN"/>
              <a:t>2</a:t>
            </a:r>
            <a:endParaRPr lang="zh-CN" altLang="en-US"/>
          </a:p>
        </p:txBody>
      </p:sp>
      <p:sp>
        <p:nvSpPr>
          <p:cNvPr id="44035" name="Rectangle 3"/>
          <p:cNvSpPr>
            <a:spLocks noGrp="1" noChangeArrowheads="1"/>
          </p:cNvSpPr>
          <p:nvPr>
            <p:ph idx="1"/>
          </p:nvPr>
        </p:nvSpPr>
        <p:spPr/>
        <p:txBody>
          <a:bodyPr/>
          <a:lstStyle/>
          <a:p>
            <a:pPr eaLnBrk="1" hangingPunct="1"/>
            <a:r>
              <a:rPr lang="en-US" altLang="zh-CN">
                <a:latin typeface="Times New Roman" panose="02020603050405020304" pitchFamily="18" charset="0"/>
                <a:cs typeface="Times New Roman" panose="02020603050405020304" pitchFamily="18" charset="0"/>
                <a:sym typeface="+mn-ea"/>
              </a:rPr>
              <a:t>2×19</a:t>
            </a:r>
            <a:r>
              <a:rPr lang="zh-CN" altLang="en-US"/>
              <a:t>年</a:t>
            </a:r>
            <a:r>
              <a:rPr lang="en-US" altLang="zh-CN">
                <a:latin typeface="Times New Roman" panose="02020603050405020304" pitchFamily="18" charset="0"/>
                <a:cs typeface="Times New Roman" panose="02020603050405020304" pitchFamily="18" charset="0"/>
              </a:rPr>
              <a:t>1</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a:t>
            </a:r>
            <a:r>
              <a:rPr lang="en-US" altLang="zh-CN">
                <a:latin typeface="Times New Roman" panose="02020603050405020304" pitchFamily="18" charset="0"/>
                <a:cs typeface="Times New Roman" panose="02020603050405020304" pitchFamily="18" charset="0"/>
              </a:rPr>
              <a:t>ABC</a:t>
            </a:r>
            <a:r>
              <a:rPr lang="zh-CN" altLang="en-US"/>
              <a:t>企业从二级市场支付价款</a:t>
            </a:r>
            <a:r>
              <a:rPr lang="en-US" altLang="zh-CN">
                <a:latin typeface="Times New Roman" panose="02020603050405020304" pitchFamily="18" charset="0"/>
                <a:cs typeface="Times New Roman" panose="02020603050405020304" pitchFamily="18" charset="0"/>
              </a:rPr>
              <a:t>1 020 000</a:t>
            </a:r>
            <a:r>
              <a:rPr lang="zh-CN" altLang="en-US"/>
              <a:t>元</a:t>
            </a:r>
            <a:r>
              <a:rPr lang="en-US" altLang="zh-CN"/>
              <a:t>(</a:t>
            </a:r>
            <a:r>
              <a:rPr lang="zh-CN" altLang="en-US"/>
              <a:t>含已到付息但尚未领取的利息</a:t>
            </a:r>
            <a:r>
              <a:rPr lang="en-US" altLang="zh-CN">
                <a:latin typeface="Times New Roman" panose="02020603050405020304" pitchFamily="18" charset="0"/>
                <a:cs typeface="Times New Roman" panose="02020603050405020304" pitchFamily="18" charset="0"/>
              </a:rPr>
              <a:t>20 000</a:t>
            </a:r>
            <a:r>
              <a:rPr lang="zh-CN" altLang="en-US"/>
              <a:t>元</a:t>
            </a:r>
            <a:r>
              <a:rPr lang="en-US" altLang="zh-CN"/>
              <a:t>)</a:t>
            </a:r>
            <a:r>
              <a:rPr lang="zh-CN" altLang="en-US"/>
              <a:t>购入某公司发行的债券，另发生交易费用</a:t>
            </a:r>
            <a:r>
              <a:rPr lang="en-US" altLang="zh-CN">
                <a:latin typeface="Times New Roman" panose="02020603050405020304" pitchFamily="18" charset="0"/>
                <a:cs typeface="Times New Roman" panose="02020603050405020304" pitchFamily="18" charset="0"/>
              </a:rPr>
              <a:t>20 000</a:t>
            </a:r>
            <a:r>
              <a:rPr lang="zh-CN" altLang="en-US"/>
              <a:t>元。该债券面值</a:t>
            </a:r>
            <a:r>
              <a:rPr lang="en-US" altLang="zh-CN">
                <a:latin typeface="Times New Roman" panose="02020603050405020304" pitchFamily="18" charset="0"/>
                <a:cs typeface="Times New Roman" panose="02020603050405020304" pitchFamily="18" charset="0"/>
              </a:rPr>
              <a:t>1 000 000</a:t>
            </a:r>
            <a:r>
              <a:rPr lang="zh-CN" altLang="en-US"/>
              <a:t>元，剩余期限为</a:t>
            </a:r>
            <a:r>
              <a:rPr lang="en-US" altLang="zh-CN">
                <a:latin typeface="Times New Roman" panose="02020603050405020304" pitchFamily="18" charset="0"/>
                <a:cs typeface="Times New Roman" panose="02020603050405020304" pitchFamily="18" charset="0"/>
              </a:rPr>
              <a:t>2</a:t>
            </a:r>
            <a:r>
              <a:rPr lang="zh-CN" altLang="en-US"/>
              <a:t>年，票面年利率为</a:t>
            </a:r>
            <a:r>
              <a:rPr lang="en-US" altLang="zh-CN">
                <a:latin typeface="Times New Roman" panose="02020603050405020304" pitchFamily="18" charset="0"/>
                <a:cs typeface="Times New Roman" panose="02020603050405020304" pitchFamily="18" charset="0"/>
              </a:rPr>
              <a:t>4％</a:t>
            </a:r>
            <a:r>
              <a:rPr lang="zh-CN" altLang="en-US"/>
              <a:t>，每半年付息一次，</a:t>
            </a:r>
            <a:r>
              <a:rPr lang="en-US" altLang="zh-CN">
                <a:latin typeface="Times New Roman" panose="02020603050405020304" pitchFamily="18" charset="0"/>
                <a:cs typeface="Times New Roman" panose="02020603050405020304" pitchFamily="18" charset="0"/>
              </a:rPr>
              <a:t>ABC</a:t>
            </a:r>
            <a:r>
              <a:rPr lang="zh-CN" altLang="en-US"/>
              <a:t>企业将其划分为交易性金融资产。</a:t>
            </a:r>
            <a:r>
              <a:rPr lang="en-US" altLang="zh-CN">
                <a:latin typeface="Times New Roman" panose="02020603050405020304" pitchFamily="18" charset="0"/>
                <a:cs typeface="Times New Roman" panose="02020603050405020304" pitchFamily="18" charset="0"/>
              </a:rPr>
              <a:t>ABC</a:t>
            </a:r>
            <a:r>
              <a:rPr lang="zh-CN" altLang="en-US"/>
              <a:t>企业的其他资料如下：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a:t>练习题（续）</a:t>
            </a:r>
          </a:p>
        </p:txBody>
      </p:sp>
      <p:sp>
        <p:nvSpPr>
          <p:cNvPr id="45059" name="Rectangle 3"/>
          <p:cNvSpPr>
            <a:spLocks noGrp="1" noChangeArrowheads="1"/>
          </p:cNvSpPr>
          <p:nvPr>
            <p:ph idx="1"/>
          </p:nvPr>
        </p:nvSpPr>
        <p:spPr/>
        <p:txBody>
          <a:bodyPr/>
          <a:lstStyle/>
          <a:p>
            <a:pPr eaLnBrk="1" hangingPunct="1">
              <a:lnSpc>
                <a:spcPct val="90000"/>
              </a:lnSpc>
            </a:pPr>
            <a:r>
              <a:rPr lang="en-US" altLang="zh-CN" sz="2400">
                <a:latin typeface="Times New Roman" panose="02020603050405020304" pitchFamily="18" charset="0"/>
                <a:cs typeface="Times New Roman" panose="02020603050405020304" pitchFamily="18" charset="0"/>
              </a:rPr>
              <a:t>(1)2×19</a:t>
            </a:r>
            <a:r>
              <a:rPr lang="zh-CN" altLang="en-US" sz="2400"/>
              <a:t>年</a:t>
            </a:r>
            <a:r>
              <a:rPr lang="en-US" altLang="zh-CN" sz="2400">
                <a:latin typeface="Times New Roman" panose="02020603050405020304" pitchFamily="18" charset="0"/>
                <a:cs typeface="Times New Roman" panose="02020603050405020304" pitchFamily="18" charset="0"/>
              </a:rPr>
              <a:t>1</a:t>
            </a:r>
            <a:r>
              <a:rPr lang="zh-CN" altLang="en-US" sz="2400"/>
              <a:t>月</a:t>
            </a:r>
            <a:r>
              <a:rPr lang="en-US" altLang="zh-CN" sz="2400">
                <a:latin typeface="Times New Roman" panose="02020603050405020304" pitchFamily="18" charset="0"/>
                <a:cs typeface="Times New Roman" panose="02020603050405020304" pitchFamily="18" charset="0"/>
              </a:rPr>
              <a:t>5</a:t>
            </a:r>
            <a:r>
              <a:rPr lang="zh-CN" altLang="en-US" sz="2400"/>
              <a:t>日，收到该债券</a:t>
            </a:r>
            <a:r>
              <a:rPr lang="en-US" altLang="zh-CN" sz="2400">
                <a:latin typeface="Times New Roman" panose="02020603050405020304" pitchFamily="18" charset="0"/>
                <a:cs typeface="Times New Roman" panose="02020603050405020304" pitchFamily="18" charset="0"/>
              </a:rPr>
              <a:t>2×16</a:t>
            </a:r>
            <a:r>
              <a:rPr lang="zh-CN" altLang="en-US" sz="2400"/>
              <a:t>年下半年利息</a:t>
            </a:r>
            <a:r>
              <a:rPr lang="en-US" altLang="zh-CN" sz="2400">
                <a:latin typeface="Times New Roman" panose="02020603050405020304" pitchFamily="18" charset="0"/>
                <a:cs typeface="Times New Roman" panose="02020603050405020304" pitchFamily="18" charset="0"/>
              </a:rPr>
              <a:t>20 000</a:t>
            </a:r>
            <a:r>
              <a:rPr lang="zh-CN" altLang="en-US" sz="2400"/>
              <a:t>元；</a:t>
            </a:r>
          </a:p>
          <a:p>
            <a:pPr eaLnBrk="1" hangingPunct="1">
              <a:lnSpc>
                <a:spcPct val="90000"/>
              </a:lnSpc>
            </a:pPr>
            <a:r>
              <a:rPr lang="en-US" altLang="zh-CN" sz="2400">
                <a:latin typeface="Times New Roman" panose="02020603050405020304" pitchFamily="18" charset="0"/>
                <a:cs typeface="Times New Roman" panose="02020603050405020304" pitchFamily="18" charset="0"/>
              </a:rPr>
              <a:t>(2)2×19</a:t>
            </a:r>
            <a:r>
              <a:rPr lang="zh-CN" altLang="en-US" sz="2400"/>
              <a:t>年</a:t>
            </a:r>
            <a:r>
              <a:rPr lang="en-US" altLang="zh-CN" sz="2400">
                <a:latin typeface="Times New Roman" panose="02020603050405020304" pitchFamily="18" charset="0"/>
                <a:cs typeface="Times New Roman" panose="02020603050405020304" pitchFamily="18" charset="0"/>
              </a:rPr>
              <a:t>6</a:t>
            </a:r>
            <a:r>
              <a:rPr lang="zh-CN" altLang="en-US" sz="2400"/>
              <a:t>月</a:t>
            </a:r>
            <a:r>
              <a:rPr lang="en-US" altLang="zh-CN" sz="2400">
                <a:latin typeface="Times New Roman" panose="02020603050405020304" pitchFamily="18" charset="0"/>
                <a:cs typeface="Times New Roman" panose="02020603050405020304" pitchFamily="18" charset="0"/>
              </a:rPr>
              <a:t>30</a:t>
            </a:r>
            <a:r>
              <a:rPr lang="zh-CN" altLang="en-US" sz="2400"/>
              <a:t>日，该债券的公允价值为</a:t>
            </a:r>
            <a:r>
              <a:rPr lang="en-US" altLang="zh-CN" sz="2400">
                <a:latin typeface="Times New Roman" panose="02020603050405020304" pitchFamily="18" charset="0"/>
                <a:cs typeface="Times New Roman" panose="02020603050405020304" pitchFamily="18" charset="0"/>
              </a:rPr>
              <a:t>1 150 000</a:t>
            </a:r>
            <a:r>
              <a:rPr lang="zh-CN" altLang="en-US" sz="2400"/>
              <a:t>元</a:t>
            </a:r>
            <a:r>
              <a:rPr lang="en-US" altLang="zh-CN" sz="2400"/>
              <a:t>(</a:t>
            </a:r>
            <a:r>
              <a:rPr lang="zh-CN" altLang="en-US" sz="2400"/>
              <a:t>不含利息</a:t>
            </a:r>
            <a:r>
              <a:rPr lang="en-US" altLang="zh-CN" sz="2400"/>
              <a:t>)</a:t>
            </a:r>
            <a:r>
              <a:rPr lang="zh-CN" altLang="en-US" sz="2400"/>
              <a:t>；</a:t>
            </a:r>
          </a:p>
          <a:p>
            <a:pPr eaLnBrk="1" hangingPunct="1">
              <a:lnSpc>
                <a:spcPct val="90000"/>
              </a:lnSpc>
            </a:pPr>
            <a:r>
              <a:rPr lang="en-US" altLang="zh-CN" sz="2400">
                <a:latin typeface="Times New Roman" panose="02020603050405020304" pitchFamily="18" charset="0"/>
                <a:cs typeface="Times New Roman" panose="02020603050405020304" pitchFamily="18" charset="0"/>
              </a:rPr>
              <a:t>(3)2×19</a:t>
            </a:r>
            <a:r>
              <a:rPr lang="zh-CN" altLang="en-US" sz="2400"/>
              <a:t>年</a:t>
            </a:r>
            <a:r>
              <a:rPr lang="en-US" altLang="zh-CN" sz="2400">
                <a:latin typeface="Times New Roman" panose="02020603050405020304" pitchFamily="18" charset="0"/>
                <a:cs typeface="Times New Roman" panose="02020603050405020304" pitchFamily="18" charset="0"/>
              </a:rPr>
              <a:t>7</a:t>
            </a:r>
            <a:r>
              <a:rPr lang="zh-CN" altLang="en-US" sz="2400"/>
              <a:t>月</a:t>
            </a:r>
            <a:r>
              <a:rPr lang="en-US" altLang="zh-CN" sz="2400">
                <a:latin typeface="Times New Roman" panose="02020603050405020304" pitchFamily="18" charset="0"/>
                <a:cs typeface="Times New Roman" panose="02020603050405020304" pitchFamily="18" charset="0"/>
              </a:rPr>
              <a:t>5</a:t>
            </a:r>
            <a:r>
              <a:rPr lang="zh-CN" altLang="en-US" sz="2400"/>
              <a:t>日，收到该债券半年利息；</a:t>
            </a:r>
          </a:p>
          <a:p>
            <a:pPr eaLnBrk="1" hangingPunct="1">
              <a:lnSpc>
                <a:spcPct val="90000"/>
              </a:lnSpc>
            </a:pPr>
            <a:r>
              <a:rPr lang="en-US" altLang="zh-CN" sz="2400">
                <a:latin typeface="Times New Roman" panose="02020603050405020304" pitchFamily="18" charset="0"/>
                <a:cs typeface="Times New Roman" panose="02020603050405020304" pitchFamily="18" charset="0"/>
              </a:rPr>
              <a:t>(4)2×19</a:t>
            </a:r>
            <a:r>
              <a:rPr lang="zh-CN" altLang="en-US" sz="2400"/>
              <a:t>年</a:t>
            </a:r>
            <a:r>
              <a:rPr lang="en-US" altLang="zh-CN" sz="2400">
                <a:latin typeface="Times New Roman" panose="02020603050405020304" pitchFamily="18" charset="0"/>
                <a:cs typeface="Times New Roman" panose="02020603050405020304" pitchFamily="18" charset="0"/>
              </a:rPr>
              <a:t>12</a:t>
            </a:r>
            <a:r>
              <a:rPr lang="zh-CN" altLang="en-US" sz="2400"/>
              <a:t>月</a:t>
            </a:r>
            <a:r>
              <a:rPr lang="en-US" altLang="zh-CN" sz="2400">
                <a:latin typeface="Times New Roman" panose="02020603050405020304" pitchFamily="18" charset="0"/>
                <a:cs typeface="Times New Roman" panose="02020603050405020304" pitchFamily="18" charset="0"/>
              </a:rPr>
              <a:t>31</a:t>
            </a:r>
            <a:r>
              <a:rPr lang="zh-CN" altLang="en-US" sz="2400"/>
              <a:t>日，该债券的公允价值为</a:t>
            </a:r>
            <a:r>
              <a:rPr lang="en-US" altLang="zh-CN" sz="2400">
                <a:latin typeface="Times New Roman" panose="02020603050405020304" pitchFamily="18" charset="0"/>
                <a:cs typeface="Times New Roman" panose="02020603050405020304" pitchFamily="18" charset="0"/>
              </a:rPr>
              <a:t>1 100 000</a:t>
            </a:r>
            <a:r>
              <a:rPr lang="zh-CN" altLang="en-US" sz="2400"/>
              <a:t>元</a:t>
            </a:r>
            <a:r>
              <a:rPr lang="en-US" altLang="zh-CN" sz="2400"/>
              <a:t>(</a:t>
            </a:r>
            <a:r>
              <a:rPr lang="zh-CN" altLang="en-US" sz="2400"/>
              <a:t>不含利息</a:t>
            </a:r>
            <a:r>
              <a:rPr lang="en-US" altLang="zh-CN" sz="2400"/>
              <a:t>)</a:t>
            </a:r>
            <a:r>
              <a:rPr lang="zh-CN" altLang="en-US" sz="2400"/>
              <a:t>；</a:t>
            </a:r>
          </a:p>
          <a:p>
            <a:pPr eaLnBrk="1" hangingPunct="1">
              <a:lnSpc>
                <a:spcPct val="90000"/>
              </a:lnSpc>
            </a:pPr>
            <a:r>
              <a:rPr lang="en-US" altLang="zh-CN" sz="2400">
                <a:latin typeface="Times New Roman" panose="02020603050405020304" pitchFamily="18" charset="0"/>
                <a:cs typeface="Times New Roman" panose="02020603050405020304" pitchFamily="18" charset="0"/>
              </a:rPr>
              <a:t>(5)2×20</a:t>
            </a:r>
            <a:r>
              <a:rPr lang="zh-CN" altLang="en-US" sz="2400"/>
              <a:t>年</a:t>
            </a:r>
            <a:r>
              <a:rPr lang="en-US" altLang="zh-CN" sz="2400">
                <a:latin typeface="Times New Roman" panose="02020603050405020304" pitchFamily="18" charset="0"/>
                <a:cs typeface="Times New Roman" panose="02020603050405020304" pitchFamily="18" charset="0"/>
              </a:rPr>
              <a:t>1</a:t>
            </a:r>
            <a:r>
              <a:rPr lang="zh-CN" altLang="en-US" sz="2400"/>
              <a:t>月</a:t>
            </a:r>
            <a:r>
              <a:rPr lang="en-US" altLang="zh-CN" sz="2400">
                <a:latin typeface="Times New Roman" panose="02020603050405020304" pitchFamily="18" charset="0"/>
                <a:cs typeface="Times New Roman" panose="02020603050405020304" pitchFamily="18" charset="0"/>
              </a:rPr>
              <a:t>5</a:t>
            </a:r>
            <a:r>
              <a:rPr lang="zh-CN" altLang="en-US" sz="2400"/>
              <a:t>日，收到该债券</a:t>
            </a:r>
            <a:r>
              <a:rPr lang="en-US" altLang="zh-CN" sz="2400">
                <a:latin typeface="Times New Roman" panose="02020603050405020304" pitchFamily="18" charset="0"/>
                <a:cs typeface="Times New Roman" panose="02020603050405020304" pitchFamily="18" charset="0"/>
              </a:rPr>
              <a:t>2×19</a:t>
            </a:r>
            <a:r>
              <a:rPr lang="zh-CN" altLang="en-US" sz="2400"/>
              <a:t>年下半年利息；</a:t>
            </a:r>
          </a:p>
          <a:p>
            <a:pPr eaLnBrk="1" hangingPunct="1">
              <a:lnSpc>
                <a:spcPct val="90000"/>
              </a:lnSpc>
            </a:pPr>
            <a:r>
              <a:rPr lang="en-US" altLang="zh-CN" sz="2400">
                <a:latin typeface="Times New Roman" panose="02020603050405020304" pitchFamily="18" charset="0"/>
                <a:cs typeface="Times New Roman" panose="02020603050405020304" pitchFamily="18" charset="0"/>
              </a:rPr>
              <a:t>(6)2×20</a:t>
            </a:r>
            <a:r>
              <a:rPr lang="zh-CN" altLang="en-US" sz="2400"/>
              <a:t>年</a:t>
            </a:r>
            <a:r>
              <a:rPr lang="en-US" altLang="zh-CN" sz="2400">
                <a:latin typeface="Times New Roman" panose="02020603050405020304" pitchFamily="18" charset="0"/>
                <a:cs typeface="Times New Roman" panose="02020603050405020304" pitchFamily="18" charset="0"/>
              </a:rPr>
              <a:t>3</a:t>
            </a:r>
            <a:r>
              <a:rPr lang="zh-CN" altLang="en-US" sz="2400"/>
              <a:t>月</a:t>
            </a:r>
            <a:r>
              <a:rPr lang="en-US" altLang="zh-CN" sz="2400">
                <a:latin typeface="Times New Roman" panose="02020603050405020304" pitchFamily="18" charset="0"/>
                <a:cs typeface="Times New Roman" panose="02020603050405020304" pitchFamily="18" charset="0"/>
              </a:rPr>
              <a:t>31</a:t>
            </a:r>
            <a:r>
              <a:rPr lang="zh-CN" altLang="en-US" sz="2400"/>
              <a:t>日，</a:t>
            </a:r>
            <a:r>
              <a:rPr lang="en-US" altLang="zh-CN" sz="2400">
                <a:latin typeface="Times New Roman" panose="02020603050405020304" pitchFamily="18" charset="0"/>
                <a:cs typeface="Times New Roman" panose="02020603050405020304" pitchFamily="18" charset="0"/>
              </a:rPr>
              <a:t>ABC</a:t>
            </a:r>
            <a:r>
              <a:rPr lang="zh-CN" altLang="en-US" sz="2400"/>
              <a:t>企业将该债券出售，取得价款</a:t>
            </a:r>
            <a:r>
              <a:rPr lang="en-US" altLang="zh-CN" sz="2400">
                <a:latin typeface="Times New Roman" panose="02020603050405020304" pitchFamily="18" charset="0"/>
                <a:cs typeface="Times New Roman" panose="02020603050405020304" pitchFamily="18" charset="0"/>
              </a:rPr>
              <a:t>1 180 000</a:t>
            </a:r>
            <a:r>
              <a:rPr lang="zh-CN" altLang="en-US" sz="2400"/>
              <a:t>元</a:t>
            </a:r>
            <a:r>
              <a:rPr lang="en-US" altLang="zh-CN" sz="2400"/>
              <a:t>(</a:t>
            </a:r>
            <a:r>
              <a:rPr lang="zh-CN" altLang="en-US" sz="2400"/>
              <a:t>含</a:t>
            </a:r>
            <a:r>
              <a:rPr lang="en-US" altLang="zh-CN" sz="2400">
                <a:latin typeface="Times New Roman" panose="02020603050405020304" pitchFamily="18" charset="0"/>
                <a:cs typeface="Times New Roman" panose="02020603050405020304" pitchFamily="18" charset="0"/>
              </a:rPr>
              <a:t>1</a:t>
            </a:r>
            <a:r>
              <a:rPr lang="zh-CN" altLang="en-US" sz="2400"/>
              <a:t>季度利息</a:t>
            </a:r>
            <a:r>
              <a:rPr lang="en-US" altLang="zh-CN" sz="2400">
                <a:latin typeface="Times New Roman" panose="02020603050405020304" pitchFamily="18" charset="0"/>
                <a:cs typeface="Times New Roman" panose="02020603050405020304" pitchFamily="18" charset="0"/>
              </a:rPr>
              <a:t>10 000</a:t>
            </a:r>
            <a:r>
              <a:rPr lang="zh-CN" altLang="en-US" sz="2400"/>
              <a:t>元</a:t>
            </a:r>
            <a:r>
              <a:rPr lang="en-US" altLang="zh-CN" sz="2400"/>
              <a:t>)</a:t>
            </a:r>
            <a:r>
              <a:rPr lang="zh-CN" altLang="en-US" sz="240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892493" y="3368993"/>
            <a:ext cx="7793037" cy="1462087"/>
          </a:xfrm>
        </p:spPr>
        <p:txBody>
          <a:bodyPr/>
          <a:lstStyle/>
          <a:p>
            <a:pPr eaLnBrk="1" hangingPunct="1"/>
            <a:r>
              <a:rPr lang="zh-CN" altLang="en-US" sz="4000" dirty="0">
                <a:effectLst>
                  <a:outerShdw blurRad="38100" dist="38100" dir="2700000" algn="tl">
                    <a:srgbClr val="C0C0C0"/>
                  </a:outerShdw>
                </a:effectLst>
                <a:latin typeface="黑体" panose="02010609060101010101" pitchFamily="2" charset="-122"/>
                <a:sym typeface="+mn-ea"/>
              </a:rPr>
              <a:t>三、</a:t>
            </a:r>
            <a:r>
              <a:rPr lang="zh-CN" altLang="zh-CN" sz="4000" dirty="0">
                <a:sym typeface="+mn-ea"/>
              </a:rPr>
              <a:t>以摊余成本计量的金融资产</a:t>
            </a:r>
            <a:br>
              <a:rPr lang="zh-CN" altLang="en-US" sz="4000" b="1" dirty="0">
                <a:effectLst>
                  <a:outerShdw blurRad="38100" dist="38100" dir="2700000" algn="tl">
                    <a:srgbClr val="C0C0C0"/>
                  </a:outerShdw>
                </a:effectLst>
                <a:latin typeface="黑体" panose="02010609060101010101" pitchFamily="2" charset="-122"/>
              </a:rPr>
            </a:br>
            <a:endParaRPr lang="zh-CN" altLang="zh-CN" sz="4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27355" y="3049270"/>
            <a:ext cx="8409940" cy="3075305"/>
            <a:chOff x="240" y="5086"/>
            <a:chExt cx="13244" cy="4843"/>
          </a:xfrm>
        </p:grpSpPr>
        <p:grpSp>
          <p:nvGrpSpPr>
            <p:cNvPr id="3" name="组合 2"/>
            <p:cNvGrpSpPr/>
            <p:nvPr/>
          </p:nvGrpSpPr>
          <p:grpSpPr>
            <a:xfrm>
              <a:off x="242" y="5086"/>
              <a:ext cx="13242" cy="3052"/>
              <a:chOff x="-80" y="2113"/>
              <a:chExt cx="14480" cy="5392"/>
            </a:xfrm>
          </p:grpSpPr>
          <p:sp>
            <p:nvSpPr>
              <p:cNvPr id="104452" name="Rectangle 4"/>
              <p:cNvSpPr>
                <a:spLocks noChangeArrowheads="1"/>
              </p:cNvSpPr>
              <p:nvPr/>
            </p:nvSpPr>
            <p:spPr bwMode="auto">
              <a:xfrm>
                <a:off x="976" y="2113"/>
                <a:ext cx="13424" cy="5392"/>
              </a:xfrm>
              <a:prstGeom prst="rect">
                <a:avLst/>
              </a:prstGeom>
              <a:noFill/>
              <a:ln w="9525">
                <a:solidFill>
                  <a:srgbClr val="003300"/>
                </a:solidFill>
                <a:miter lim="800000"/>
              </a:ln>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000" b="1" kern="0">
                    <a:latin typeface="楷体_GB2312" panose="02010609030101010101" pitchFamily="49" charset="-122"/>
                    <a:ea typeface="楷体_GB2312" panose="02010609030101010101" pitchFamily="49" charset="-122"/>
                    <a:cs typeface="+mn-ea"/>
                  </a:rPr>
                  <a:t>金融资产同时满足下列条件的，应当分类为以摊余成本计量的金融资产： </a:t>
                </a:r>
              </a:p>
              <a:p>
                <a:pPr>
                  <a:spcBef>
                    <a:spcPct val="0"/>
                  </a:spcBef>
                  <a:buFontTx/>
                  <a:buNone/>
                </a:pPr>
                <a:r>
                  <a:rPr lang="zh-CN" altLang="en-US" sz="2000" b="1" kern="0">
                    <a:latin typeface="楷体_GB2312" panose="02010609030101010101" pitchFamily="49" charset="-122"/>
                    <a:ea typeface="楷体_GB2312" panose="02010609030101010101" pitchFamily="49" charset="-122"/>
                    <a:cs typeface="+mn-ea"/>
                  </a:rPr>
                  <a:t>（</a:t>
                </a:r>
                <a:r>
                  <a:rPr lang="zh-CN" altLang="en-US" sz="2000" b="1" kern="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000" b="1" kern="0">
                    <a:latin typeface="楷体_GB2312" panose="02010609030101010101" pitchFamily="49" charset="-122"/>
                    <a:ea typeface="楷体_GB2312" panose="02010609030101010101" pitchFamily="49" charset="-122"/>
                    <a:cs typeface="+mn-ea"/>
                  </a:rPr>
                  <a:t>）企业管理该金融资产的业务模式是以收取合同现金流量为目标。 </a:t>
                </a:r>
              </a:p>
              <a:p>
                <a:pPr>
                  <a:spcBef>
                    <a:spcPct val="0"/>
                  </a:spcBef>
                  <a:buFontTx/>
                  <a:buNone/>
                </a:pPr>
                <a:r>
                  <a:rPr lang="zh-CN" altLang="en-US" sz="2000" b="1" kern="0">
                    <a:latin typeface="楷体_GB2312" panose="02010609030101010101" pitchFamily="49" charset="-122"/>
                    <a:ea typeface="楷体_GB2312" panose="02010609030101010101" pitchFamily="49" charset="-122"/>
                    <a:cs typeface="+mn-ea"/>
                  </a:rPr>
                  <a:t>（</a:t>
                </a:r>
                <a:r>
                  <a:rPr lang="zh-CN" altLang="en-US" sz="2000" b="1" kern="0">
                    <a:latin typeface="Times New Roman" panose="02020603050405020304" pitchFamily="18" charset="0"/>
                    <a:ea typeface="楷体_GB2312" panose="02010609030101010101" pitchFamily="49" charset="-122"/>
                    <a:cs typeface="Times New Roman" panose="02020603050405020304" pitchFamily="18" charset="0"/>
                  </a:rPr>
                  <a:t>2</a:t>
                </a:r>
                <a:r>
                  <a:rPr lang="zh-CN" altLang="en-US" sz="2000" b="1" kern="0">
                    <a:latin typeface="楷体_GB2312" panose="02010609030101010101" pitchFamily="49" charset="-122"/>
                    <a:ea typeface="楷体_GB2312" panose="02010609030101010101" pitchFamily="49" charset="-122"/>
                    <a:cs typeface="+mn-ea"/>
                  </a:rPr>
                  <a:t>）该金融资产的合同条款规定，在特定日期产生的现金流量，仅为收回的本金和以未偿付本金金额为基础收取的利息。</a:t>
                </a:r>
              </a:p>
            </p:txBody>
          </p:sp>
          <p:sp>
            <p:nvSpPr>
              <p:cNvPr id="104461" name="Text Box 13"/>
              <p:cNvSpPr txBox="1">
                <a:spLocks noChangeArrowheads="1"/>
              </p:cNvSpPr>
              <p:nvPr/>
            </p:nvSpPr>
            <p:spPr bwMode="auto">
              <a:xfrm>
                <a:off x="-80" y="2113"/>
                <a:ext cx="1056" cy="5390"/>
              </a:xfrm>
              <a:prstGeom prst="rect">
                <a:avLst/>
              </a:prstGeom>
              <a:noFill/>
              <a:ln w="28575">
                <a:solidFill>
                  <a:schemeClr val="tx1"/>
                </a:solidFill>
                <a:miter lim="800000"/>
              </a:ln>
            </p:spPr>
            <p:txBody>
              <a:bodyPr vert="eaVert"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000" b="1" kern="0">
                    <a:latin typeface="楷体_GB2312" panose="02010609030101010101" pitchFamily="49" charset="-122"/>
                    <a:ea typeface="楷体_GB2312" panose="02010609030101010101" pitchFamily="49" charset="-122"/>
                    <a:cs typeface="+mn-ea"/>
                  </a:rPr>
                  <a:t>概  念</a:t>
                </a:r>
                <a:endParaRPr kumimoji="1" lang="zh-CN" altLang="en-US" sz="2800" b="1">
                  <a:solidFill>
                    <a:srgbClr val="000000"/>
                  </a:solidFill>
                  <a:latin typeface="Times New Roman" panose="02020603050405020304" pitchFamily="18" charset="0"/>
                  <a:ea typeface="华文隶书" panose="02010800040101010101" pitchFamily="2" charset="-122"/>
                </a:endParaRPr>
              </a:p>
            </p:txBody>
          </p:sp>
        </p:grpSp>
        <p:grpSp>
          <p:nvGrpSpPr>
            <p:cNvPr id="4" name="组合 3"/>
            <p:cNvGrpSpPr/>
            <p:nvPr/>
          </p:nvGrpSpPr>
          <p:grpSpPr>
            <a:xfrm>
              <a:off x="240" y="8138"/>
              <a:ext cx="13244" cy="1791"/>
              <a:chOff x="240" y="6988"/>
              <a:chExt cx="13244" cy="1791"/>
            </a:xfrm>
          </p:grpSpPr>
          <p:sp>
            <p:nvSpPr>
              <p:cNvPr id="104454" name="Rectangle 6"/>
              <p:cNvSpPr>
                <a:spLocks noChangeArrowheads="1"/>
              </p:cNvSpPr>
              <p:nvPr/>
            </p:nvSpPr>
            <p:spPr bwMode="auto">
              <a:xfrm>
                <a:off x="1207" y="6988"/>
                <a:ext cx="12277" cy="1791"/>
              </a:xfrm>
              <a:prstGeom prst="rect">
                <a:avLst/>
              </a:prstGeom>
              <a:noFill/>
              <a:ln w="9525">
                <a:solidFill>
                  <a:srgbClr val="003300"/>
                </a:solidFill>
                <a:miter lim="800000"/>
              </a:ln>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l">
                  <a:buClrTx/>
                  <a:buSzTx/>
                  <a:buFont typeface="Wingdings" panose="05000000000000000000" pitchFamily="2" charset="2"/>
                  <a:buNone/>
                </a:pPr>
                <a:r>
                  <a:rPr kumimoji="1" lang="en-US" altLang="zh-CN" sz="2800" b="1">
                    <a:solidFill>
                      <a:srgbClr val="000066"/>
                    </a:solidFill>
                    <a:latin typeface="Times New Roman" panose="02020603050405020304" pitchFamily="18" charset="0"/>
                    <a:ea typeface="华文细黑" panose="02010600040101010101" pitchFamily="2" charset="-122"/>
                  </a:rPr>
                  <a:t>       </a:t>
                </a:r>
                <a:r>
                  <a:rPr kumimoji="1" lang="en-US" altLang="zh-CN" sz="2000" b="1">
                    <a:solidFill>
                      <a:srgbClr val="000066"/>
                    </a:solidFill>
                    <a:latin typeface="黑体" panose="02010609060101010101" pitchFamily="2" charset="-122"/>
                    <a:ea typeface="黑体" panose="02010609060101010101" pitchFamily="2" charset="-122"/>
                    <a:cs typeface="黑体" panose="02010609060101010101" pitchFamily="2" charset="-122"/>
                  </a:rPr>
                  <a:t> </a:t>
                </a:r>
                <a:r>
                  <a:rPr lang="zh-CN" altLang="en-US" sz="2000" b="1" kern="0">
                    <a:latin typeface="楷体_GB2312" panose="02010609030101010101" pitchFamily="49" charset="-122"/>
                    <a:ea typeface="楷体_GB2312" panose="02010609030101010101" pitchFamily="49" charset="-122"/>
                    <a:cs typeface="+mn-ea"/>
                  </a:rPr>
                  <a:t>企业从二级市场上购入的固定利率三年期国债、浮动利率两年期债券、银行发放的贷款等，如符合以摊余成本计量的金融资产的条件，可以划分为此类</a:t>
                </a:r>
              </a:p>
            </p:txBody>
          </p:sp>
          <p:sp>
            <p:nvSpPr>
              <p:cNvPr id="104462" name="Text Box 14"/>
              <p:cNvSpPr txBox="1">
                <a:spLocks noChangeArrowheads="1"/>
              </p:cNvSpPr>
              <p:nvPr/>
            </p:nvSpPr>
            <p:spPr bwMode="auto">
              <a:xfrm>
                <a:off x="240" y="6988"/>
                <a:ext cx="966" cy="1771"/>
              </a:xfrm>
              <a:prstGeom prst="rect">
                <a:avLst/>
              </a:prstGeom>
              <a:noFill/>
              <a:ln w="28575">
                <a:solidFill>
                  <a:schemeClr val="tx1"/>
                </a:solidFill>
                <a:miter lim="800000"/>
              </a:ln>
            </p:spPr>
            <p:txBody>
              <a:bodyPr vert="eaVert"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000" b="1" kern="0">
                    <a:latin typeface="楷体_GB2312" panose="02010609030101010101" pitchFamily="49" charset="-122"/>
                    <a:ea typeface="楷体_GB2312" panose="02010609030101010101" pitchFamily="49" charset="-122"/>
                    <a:cs typeface="+mn-ea"/>
                  </a:rPr>
                  <a:t>条  件</a:t>
                </a:r>
                <a:endParaRPr kumimoji="1" lang="zh-CN" altLang="en-US" sz="2800" b="1">
                  <a:solidFill>
                    <a:srgbClr val="000000"/>
                  </a:solidFill>
                  <a:latin typeface="Times New Roman" panose="02020603050405020304" pitchFamily="18" charset="0"/>
                  <a:ea typeface="华文隶书" panose="02010800040101010101" pitchFamily="2" charset="-122"/>
                </a:endParaRPr>
              </a:p>
            </p:txBody>
          </p:sp>
        </p:grpSp>
      </p:grpSp>
      <p:sp>
        <p:nvSpPr>
          <p:cNvPr id="2" name="矩形 1"/>
          <p:cNvSpPr/>
          <p:nvPr/>
        </p:nvSpPr>
        <p:spPr>
          <a:xfrm>
            <a:off x="906621" y="1082993"/>
            <a:ext cx="7330440" cy="706755"/>
          </a:xfrm>
          <a:prstGeom prst="rect">
            <a:avLst/>
          </a:prstGeom>
        </p:spPr>
        <p:txBody>
          <a:bodyPr wrap="none">
            <a:spAutoFit/>
          </a:bodyPr>
          <a:lstStyle/>
          <a:p>
            <a:pPr algn="ctr" eaLnBrk="1" hangingPunct="1">
              <a:defRPr/>
            </a:pPr>
            <a:r>
              <a:rPr lang="zh-CN" altLang="en-US" sz="4000" b="1" kern="0" dirty="0">
                <a:solidFill>
                  <a:schemeClr val="tx2"/>
                </a:solidFill>
                <a:effectLst/>
                <a:latin typeface="黑体" panose="02010609060101010101" pitchFamily="2" charset="-122"/>
                <a:ea typeface="+mj-ea"/>
                <a:cs typeface="+mj-cs"/>
              </a:rPr>
              <a:t>三、以摊余成本计量的金融资产</a:t>
            </a:r>
          </a:p>
        </p:txBody>
      </p:sp>
      <p:sp>
        <p:nvSpPr>
          <p:cNvPr id="100" name="文本框 99"/>
          <p:cNvSpPr txBox="1"/>
          <p:nvPr/>
        </p:nvSpPr>
        <p:spPr>
          <a:xfrm>
            <a:off x="726440" y="2185035"/>
            <a:ext cx="6110605" cy="491490"/>
          </a:xfrm>
          <a:prstGeom prst="rect">
            <a:avLst/>
          </a:prstGeom>
          <a:noFill/>
          <a:ln w="9525">
            <a:noFill/>
          </a:ln>
        </p:spPr>
        <p:txBody>
          <a:bodyPr wrap="square">
            <a:spAutoFit/>
          </a:bodyPr>
          <a:lstStyle/>
          <a:p>
            <a:pPr marL="0" indent="0"/>
            <a:r>
              <a:rPr lang="zh-CN" sz="2600" b="0">
                <a:latin typeface="黑体" panose="02010609060101010101" pitchFamily="2" charset="-122"/>
                <a:ea typeface="黑体" panose="02010609060101010101" pitchFamily="2" charset="-122"/>
              </a:rPr>
              <a:t>（一）以摊余成本计量的金融资产概述</a:t>
            </a:r>
            <a:endParaRPr lang="zh-CN" altLang="en-US" sz="2600">
              <a:latin typeface="黑体" panose="02010609060101010101" pitchFamily="2" charset="-122"/>
              <a:ea typeface="黑体" panose="02010609060101010101" pitchFamily="2"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539115" y="896938"/>
            <a:ext cx="8229600" cy="863600"/>
          </a:xfrm>
        </p:spPr>
        <p:txBody>
          <a:bodyPr/>
          <a:lstStyle/>
          <a:p>
            <a:pPr algn="l" eaLnBrk="1" hangingPunct="1"/>
            <a:r>
              <a:rPr lang="zh-CN" altLang="en-US" sz="4000" b="1"/>
              <a:t>（二）会计处理</a:t>
            </a:r>
            <a:endParaRPr lang="zh-CN" altLang="en-US" sz="4000" b="1">
              <a:solidFill>
                <a:srgbClr val="3333FF"/>
              </a:solidFill>
            </a:endParaRPr>
          </a:p>
        </p:txBody>
      </p:sp>
      <p:grpSp>
        <p:nvGrpSpPr>
          <p:cNvPr id="2" name="组合 1"/>
          <p:cNvGrpSpPr/>
          <p:nvPr/>
        </p:nvGrpSpPr>
        <p:grpSpPr>
          <a:xfrm>
            <a:off x="1063625" y="2414905"/>
            <a:ext cx="7623175" cy="1489075"/>
            <a:chOff x="1196" y="1998"/>
            <a:chExt cx="12005" cy="2345"/>
          </a:xfrm>
        </p:grpSpPr>
        <p:sp>
          <p:nvSpPr>
            <p:cNvPr id="49155" name="Text Box 3"/>
            <p:cNvSpPr txBox="1">
              <a:spLocks noChangeArrowheads="1"/>
            </p:cNvSpPr>
            <p:nvPr/>
          </p:nvSpPr>
          <p:spPr bwMode="auto">
            <a:xfrm>
              <a:off x="1196" y="2298"/>
              <a:ext cx="1354" cy="1113"/>
            </a:xfrm>
            <a:prstGeom prst="rect">
              <a:avLst/>
            </a:prstGeom>
            <a:solidFill>
              <a:srgbClr val="CC3300"/>
            </a:solidFill>
            <a:ln w="9525">
              <a:miter lim="800000"/>
            </a:ln>
            <a:scene3d>
              <a:camera prst="legacyPerspectiveBottom"/>
              <a:lightRig rig="legacyFlat3" dir="t"/>
            </a:scene3d>
            <a:sp3d extrusionH="887400" prstMaterial="legacyMatte">
              <a:bevelT w="13500" h="13500" prst="angle"/>
              <a:bevelB w="13500" h="13500" prst="angle"/>
              <a:extrusionClr>
                <a:srgbClr val="CC3300"/>
              </a:extrusionClr>
              <a:contourClr>
                <a:srgbClr val="CC3300"/>
              </a:contourClr>
            </a:sp3d>
          </p:spPr>
          <p:txBody>
            <a:bodyPr wrap="square">
              <a:spAutoFit/>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kern="0" dirty="0">
                  <a:solidFill>
                    <a:schemeClr val="bg1"/>
                  </a:solidFill>
                  <a:latin typeface="楷体_GB2312" panose="02010609030101010101" pitchFamily="49" charset="-122"/>
                  <a:ea typeface="楷体_GB2312" panose="02010609030101010101" pitchFamily="49" charset="-122"/>
                  <a:cs typeface="+mn-ea"/>
                </a:rPr>
                <a:t>初始</a:t>
              </a:r>
            </a:p>
            <a:p>
              <a:pPr algn="ctr" eaLnBrk="1" hangingPunct="1">
                <a:spcBef>
                  <a:spcPct val="0"/>
                </a:spcBef>
                <a:buFontTx/>
                <a:buNone/>
              </a:pPr>
              <a:r>
                <a:rPr lang="zh-CN" altLang="en-US" sz="2000" b="1" kern="0" dirty="0">
                  <a:solidFill>
                    <a:schemeClr val="bg1"/>
                  </a:solidFill>
                  <a:latin typeface="楷体_GB2312" panose="02010609030101010101" pitchFamily="49" charset="-122"/>
                  <a:ea typeface="楷体_GB2312" panose="02010609030101010101" pitchFamily="49" charset="-122"/>
                  <a:cs typeface="+mn-ea"/>
                </a:rPr>
                <a:t>计量</a:t>
              </a:r>
            </a:p>
          </p:txBody>
        </p:sp>
        <p:sp>
          <p:nvSpPr>
            <p:cNvPr id="49156" name="Text Box 4"/>
            <p:cNvSpPr txBox="1">
              <a:spLocks noChangeArrowheads="1"/>
            </p:cNvSpPr>
            <p:nvPr/>
          </p:nvSpPr>
          <p:spPr bwMode="auto">
            <a:xfrm>
              <a:off x="5025" y="1998"/>
              <a:ext cx="3650" cy="628"/>
            </a:xfrm>
            <a:prstGeom prst="rect">
              <a:avLst/>
            </a:prstGeom>
            <a:solidFill>
              <a:srgbClr val="003300"/>
            </a:solidFill>
            <a:ln>
              <a:noFill/>
            </a:ln>
            <a:effectLst>
              <a:prstShdw prst="shdw13" dist="53882" dir="13500000">
                <a:schemeClr val="bg2">
                  <a:alpha val="50000"/>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kern="0" dirty="0">
                  <a:solidFill>
                    <a:schemeClr val="bg1"/>
                  </a:solidFill>
                  <a:latin typeface="楷体_GB2312" panose="02010609030101010101" pitchFamily="49" charset="-122"/>
                  <a:ea typeface="楷体_GB2312" panose="02010609030101010101" pitchFamily="49" charset="-122"/>
                  <a:cs typeface="+mn-ea"/>
                </a:rPr>
                <a:t>取得时的公允价值</a:t>
              </a:r>
            </a:p>
          </p:txBody>
        </p:sp>
        <p:sp>
          <p:nvSpPr>
            <p:cNvPr id="49157" name="Text Box 5"/>
            <p:cNvSpPr txBox="1">
              <a:spLocks noChangeArrowheads="1"/>
            </p:cNvSpPr>
            <p:nvPr/>
          </p:nvSpPr>
          <p:spPr bwMode="auto">
            <a:xfrm>
              <a:off x="4953" y="3395"/>
              <a:ext cx="3005" cy="628"/>
            </a:xfrm>
            <a:prstGeom prst="rect">
              <a:avLst/>
            </a:prstGeom>
            <a:solidFill>
              <a:srgbClr val="003300"/>
            </a:solidFill>
            <a:ln>
              <a:noFill/>
            </a:ln>
            <a:effectLst>
              <a:prstShdw prst="shdw13" dist="53882" dir="13500000">
                <a:schemeClr val="bg2">
                  <a:alpha val="50000"/>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kern="0" dirty="0">
                  <a:solidFill>
                    <a:schemeClr val="bg1"/>
                  </a:solidFill>
                  <a:latin typeface="楷体_GB2312" panose="02010609030101010101" pitchFamily="49" charset="-122"/>
                  <a:ea typeface="楷体_GB2312" panose="02010609030101010101" pitchFamily="49" charset="-122"/>
                  <a:cs typeface="+mn-ea"/>
                </a:rPr>
                <a:t>相关交易费用</a:t>
              </a:r>
            </a:p>
          </p:txBody>
        </p:sp>
        <p:sp>
          <p:nvSpPr>
            <p:cNvPr id="49158" name="Text Box 6"/>
            <p:cNvSpPr txBox="1">
              <a:spLocks noChangeArrowheads="1"/>
            </p:cNvSpPr>
            <p:nvPr/>
          </p:nvSpPr>
          <p:spPr bwMode="auto">
            <a:xfrm>
              <a:off x="9014" y="3095"/>
              <a:ext cx="4187" cy="1113"/>
            </a:xfrm>
            <a:prstGeom prst="rect">
              <a:avLst/>
            </a:prstGeom>
            <a:solidFill>
              <a:srgbClr val="00FF00"/>
            </a:solidFill>
            <a:ln w="9525">
              <a:miter lim="800000"/>
            </a:ln>
            <a:scene3d>
              <a:camera prst="legacyPerspectiveBottom"/>
              <a:lightRig rig="legacyFlat3" dir="t"/>
            </a:scene3d>
            <a:sp3d extrusionH="887400" prstMaterial="legacyMatte">
              <a:bevelT w="13500" h="13500" prst="angle"/>
              <a:bevelB w="13500" h="13500" prst="angle"/>
              <a:extrusionClr>
                <a:srgbClr val="00FF00"/>
              </a:extrusionClr>
              <a:contourClr>
                <a:srgbClr val="00FF00"/>
              </a:contourClr>
            </a:sp3d>
          </p:spPr>
          <p:txBody>
            <a:bodyPr wrap="square">
              <a:spAutoFit/>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kern="0" dirty="0">
                  <a:latin typeface="楷体_GB2312" panose="02010609030101010101" pitchFamily="49" charset="-122"/>
                  <a:ea typeface="楷体_GB2312" panose="02010609030101010101" pitchFamily="49" charset="-122"/>
                  <a:cs typeface="+mn-ea"/>
                </a:rPr>
                <a:t>已到付息期但尚未</a:t>
              </a:r>
            </a:p>
            <a:p>
              <a:pPr algn="ctr" eaLnBrk="1" hangingPunct="1">
                <a:spcBef>
                  <a:spcPct val="0"/>
                </a:spcBef>
                <a:buFontTx/>
                <a:buNone/>
              </a:pPr>
              <a:r>
                <a:rPr lang="zh-CN" altLang="en-US" sz="2000" b="1" kern="0" dirty="0">
                  <a:latin typeface="楷体_GB2312" panose="02010609030101010101" pitchFamily="49" charset="-122"/>
                  <a:ea typeface="楷体_GB2312" panose="02010609030101010101" pitchFamily="49" charset="-122"/>
                  <a:cs typeface="+mn-ea"/>
                </a:rPr>
                <a:t>领取的债券利息 </a:t>
              </a:r>
            </a:p>
          </p:txBody>
        </p:sp>
        <p:sp>
          <p:nvSpPr>
            <p:cNvPr id="49163" name="AutoShape 12"/>
            <p:cNvSpPr>
              <a:spLocks noChangeArrowheads="1"/>
            </p:cNvSpPr>
            <p:nvPr/>
          </p:nvSpPr>
          <p:spPr bwMode="auto">
            <a:xfrm>
              <a:off x="3825" y="2298"/>
              <a:ext cx="800" cy="217"/>
            </a:xfrm>
            <a:prstGeom prst="notchedRightArrow">
              <a:avLst>
                <a:gd name="adj1" fmla="val 50000"/>
                <a:gd name="adj2" fmla="val 91954"/>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000000"/>
                </a:solidFill>
                <a:latin typeface="Tahoma" panose="020B0604030504040204" pitchFamily="34" charset="0"/>
              </a:endParaRPr>
            </a:p>
          </p:txBody>
        </p:sp>
        <p:sp>
          <p:nvSpPr>
            <p:cNvPr id="49164" name="AutoShape 13"/>
            <p:cNvSpPr>
              <a:spLocks noChangeArrowheads="1"/>
            </p:cNvSpPr>
            <p:nvPr/>
          </p:nvSpPr>
          <p:spPr bwMode="auto">
            <a:xfrm>
              <a:off x="3825" y="3695"/>
              <a:ext cx="800" cy="218"/>
            </a:xfrm>
            <a:prstGeom prst="notchedRightArrow">
              <a:avLst>
                <a:gd name="adj1" fmla="val 50000"/>
                <a:gd name="adj2" fmla="val 91954"/>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000000"/>
                </a:solidFill>
                <a:latin typeface="Tahoma" panose="020B0604030504040204" pitchFamily="34" charset="0"/>
              </a:endParaRPr>
            </a:p>
          </p:txBody>
        </p:sp>
        <p:sp>
          <p:nvSpPr>
            <p:cNvPr id="49168" name="Text Box 22"/>
            <p:cNvSpPr txBox="1">
              <a:spLocks noChangeArrowheads="1"/>
            </p:cNvSpPr>
            <p:nvPr/>
          </p:nvSpPr>
          <p:spPr bwMode="auto">
            <a:xfrm>
              <a:off x="2886" y="2188"/>
              <a:ext cx="869" cy="215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kern="0" dirty="0">
                  <a:solidFill>
                    <a:schemeClr val="bg1"/>
                  </a:solidFill>
                  <a:latin typeface="楷体_GB2312" panose="02010609030101010101" pitchFamily="49" charset="-122"/>
                  <a:ea typeface="楷体_GB2312" panose="02010609030101010101" pitchFamily="49" charset="-122"/>
                  <a:cs typeface="+mn-ea"/>
                </a:rPr>
                <a:t>历史成本</a:t>
              </a:r>
            </a:p>
          </p:txBody>
        </p:sp>
        <p:sp>
          <p:nvSpPr>
            <p:cNvPr id="49169" name="AutoShape 23"/>
            <p:cNvSpPr>
              <a:spLocks noChangeArrowheads="1"/>
            </p:cNvSpPr>
            <p:nvPr/>
          </p:nvSpPr>
          <p:spPr bwMode="auto">
            <a:xfrm>
              <a:off x="2550" y="3095"/>
              <a:ext cx="455" cy="115"/>
            </a:xfrm>
            <a:prstGeom prst="rightArrow">
              <a:avLst>
                <a:gd name="adj1" fmla="val 50000"/>
                <a:gd name="adj2" fmla="val 98913"/>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000000"/>
                </a:solidFill>
                <a:latin typeface="Tahoma" panose="020B0604030504040204" pitchFamily="34" charset="0"/>
              </a:endParaRPr>
            </a:p>
          </p:txBody>
        </p:sp>
      </p:grpSp>
      <p:grpSp>
        <p:nvGrpSpPr>
          <p:cNvPr id="3" name="组合 2"/>
          <p:cNvGrpSpPr/>
          <p:nvPr/>
        </p:nvGrpSpPr>
        <p:grpSpPr>
          <a:xfrm>
            <a:off x="1492765" y="4073525"/>
            <a:ext cx="6235185" cy="1251631"/>
            <a:chOff x="782" y="5250"/>
            <a:chExt cx="12923" cy="3162"/>
          </a:xfrm>
        </p:grpSpPr>
        <p:sp>
          <p:nvSpPr>
            <p:cNvPr id="49159" name="AutoShape 7"/>
            <p:cNvSpPr>
              <a:spLocks noChangeArrowheads="1"/>
            </p:cNvSpPr>
            <p:nvPr/>
          </p:nvSpPr>
          <p:spPr bwMode="auto">
            <a:xfrm>
              <a:off x="9240" y="5478"/>
              <a:ext cx="4465" cy="1785"/>
            </a:xfrm>
            <a:prstGeom prst="wedgeEllipseCallout">
              <a:avLst>
                <a:gd name="adj1" fmla="val 39644"/>
                <a:gd name="adj2" fmla="val -80250"/>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kern="0" dirty="0">
                  <a:latin typeface="楷体_GB2312" panose="02010609030101010101" pitchFamily="49" charset="-122"/>
                  <a:ea typeface="楷体_GB2312" panose="02010609030101010101" pitchFamily="49" charset="-122"/>
                  <a:cs typeface="+mn-ea"/>
                </a:rPr>
                <a:t>单独确认为</a:t>
              </a:r>
            </a:p>
            <a:p>
              <a:pPr algn="ctr" eaLnBrk="1" hangingPunct="1">
                <a:spcBef>
                  <a:spcPct val="0"/>
                </a:spcBef>
                <a:buFontTx/>
                <a:buNone/>
              </a:pPr>
              <a:r>
                <a:rPr lang="zh-CN" altLang="en-US" sz="2000" b="1" kern="0" dirty="0">
                  <a:latin typeface="楷体_GB2312" panose="02010609030101010101" pitchFamily="49" charset="-122"/>
                  <a:ea typeface="楷体_GB2312" panose="02010609030101010101" pitchFamily="49" charset="-122"/>
                  <a:cs typeface="+mn-ea"/>
                </a:rPr>
                <a:t>应收项目 </a:t>
              </a:r>
            </a:p>
          </p:txBody>
        </p:sp>
        <p:sp>
          <p:nvSpPr>
            <p:cNvPr id="49160" name="Text Box 9"/>
            <p:cNvSpPr txBox="1">
              <a:spLocks noChangeArrowheads="1"/>
            </p:cNvSpPr>
            <p:nvPr/>
          </p:nvSpPr>
          <p:spPr bwMode="auto">
            <a:xfrm>
              <a:off x="782" y="5882"/>
              <a:ext cx="1573" cy="1785"/>
            </a:xfrm>
            <a:prstGeom prst="rect">
              <a:avLst/>
            </a:prstGeom>
            <a:solidFill>
              <a:srgbClr val="CC6600"/>
            </a:solidFill>
            <a:ln>
              <a:noFill/>
            </a:ln>
            <a:effectLst>
              <a:prstShdw prst="shdw13" dist="53882" dir="13500000">
                <a:schemeClr val="bg2">
                  <a:alpha val="50000"/>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kern="0" dirty="0">
                  <a:latin typeface="楷体_GB2312" panose="02010609030101010101" pitchFamily="49" charset="-122"/>
                  <a:ea typeface="楷体_GB2312" panose="02010609030101010101" pitchFamily="49" charset="-122"/>
                  <a:cs typeface="+mn-ea"/>
                </a:rPr>
                <a:t>后续</a:t>
              </a:r>
            </a:p>
            <a:p>
              <a:pPr algn="ctr" eaLnBrk="1" hangingPunct="1">
                <a:spcBef>
                  <a:spcPct val="0"/>
                </a:spcBef>
                <a:buFontTx/>
                <a:buNone/>
              </a:pPr>
              <a:r>
                <a:rPr lang="zh-CN" altLang="en-US" sz="2000" b="1" kern="0" dirty="0">
                  <a:latin typeface="楷体_GB2312" panose="02010609030101010101" pitchFamily="49" charset="-122"/>
                  <a:ea typeface="楷体_GB2312" panose="02010609030101010101" pitchFamily="49" charset="-122"/>
                  <a:cs typeface="+mn-ea"/>
                </a:rPr>
                <a:t>计量</a:t>
              </a:r>
              <a:endParaRPr lang="en-US" altLang="zh-CN" sz="2000" b="1">
                <a:solidFill>
                  <a:srgbClr val="000000"/>
                </a:solidFill>
              </a:endParaRPr>
            </a:p>
          </p:txBody>
        </p:sp>
        <p:sp>
          <p:nvSpPr>
            <p:cNvPr id="49161" name="Text Box 10"/>
            <p:cNvSpPr txBox="1">
              <a:spLocks noChangeArrowheads="1"/>
            </p:cNvSpPr>
            <p:nvPr/>
          </p:nvSpPr>
          <p:spPr bwMode="auto">
            <a:xfrm>
              <a:off x="4593" y="6270"/>
              <a:ext cx="2835" cy="1007"/>
            </a:xfrm>
            <a:prstGeom prst="rect">
              <a:avLst/>
            </a:prstGeom>
            <a:solidFill>
              <a:srgbClr val="00FF00"/>
            </a:solidFill>
            <a:ln>
              <a:noFill/>
            </a:ln>
            <a:effectLst>
              <a:prstShdw prst="shdw13" dist="53882" dir="13500000">
                <a:schemeClr val="bg2">
                  <a:alpha val="50000"/>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kern="0" dirty="0">
                  <a:latin typeface="楷体_GB2312" panose="02010609030101010101" pitchFamily="49" charset="-122"/>
                  <a:ea typeface="楷体_GB2312" panose="02010609030101010101" pitchFamily="49" charset="-122"/>
                  <a:cs typeface="+mn-ea"/>
                </a:rPr>
                <a:t>摊余成本</a:t>
              </a:r>
            </a:p>
          </p:txBody>
        </p:sp>
        <p:sp>
          <p:nvSpPr>
            <p:cNvPr id="49162" name="AutoShape 11"/>
            <p:cNvSpPr>
              <a:spLocks noChangeArrowheads="1"/>
            </p:cNvSpPr>
            <p:nvPr/>
          </p:nvSpPr>
          <p:spPr bwMode="auto">
            <a:xfrm>
              <a:off x="2550" y="6725"/>
              <a:ext cx="1910" cy="160"/>
            </a:xfrm>
            <a:prstGeom prst="notchedRightArrow">
              <a:avLst>
                <a:gd name="adj1" fmla="val 50000"/>
                <a:gd name="adj2" fmla="val 298438"/>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000000"/>
                </a:solidFill>
                <a:latin typeface="Tahoma" panose="020B0604030504040204" pitchFamily="34" charset="0"/>
              </a:endParaRPr>
            </a:p>
          </p:txBody>
        </p:sp>
        <p:sp>
          <p:nvSpPr>
            <p:cNvPr id="49165" name="AutoShape 19"/>
            <p:cNvSpPr>
              <a:spLocks noChangeArrowheads="1"/>
            </p:cNvSpPr>
            <p:nvPr/>
          </p:nvSpPr>
          <p:spPr bwMode="auto">
            <a:xfrm>
              <a:off x="2550" y="5703"/>
              <a:ext cx="1928" cy="227"/>
            </a:xfrm>
            <a:prstGeom prst="notchedRightArrow">
              <a:avLst>
                <a:gd name="adj1" fmla="val 50000"/>
                <a:gd name="adj2" fmla="val 211814"/>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000000"/>
                </a:solidFill>
                <a:latin typeface="Tahoma" panose="020B0604030504040204" pitchFamily="34" charset="0"/>
              </a:endParaRPr>
            </a:p>
          </p:txBody>
        </p:sp>
        <p:sp>
          <p:nvSpPr>
            <p:cNvPr id="49166" name="Text Box 20"/>
            <p:cNvSpPr txBox="1">
              <a:spLocks noChangeArrowheads="1"/>
            </p:cNvSpPr>
            <p:nvPr/>
          </p:nvSpPr>
          <p:spPr bwMode="auto">
            <a:xfrm>
              <a:off x="4593" y="7405"/>
              <a:ext cx="2835" cy="1007"/>
            </a:xfrm>
            <a:prstGeom prst="rect">
              <a:avLst/>
            </a:prstGeom>
            <a:solidFill>
              <a:srgbClr val="00FF00"/>
            </a:solidFill>
            <a:ln>
              <a:noFill/>
            </a:ln>
            <a:effectLst>
              <a:prstShdw prst="shdw13" dist="53882" dir="13500000">
                <a:schemeClr val="bg2">
                  <a:alpha val="50000"/>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kern="0" dirty="0">
                  <a:latin typeface="楷体_GB2312" panose="02010609030101010101" pitchFamily="49" charset="-122"/>
                  <a:ea typeface="楷体_GB2312" panose="02010609030101010101" pitchFamily="49" charset="-122"/>
                  <a:cs typeface="+mn-ea"/>
                </a:rPr>
                <a:t>减值测试</a:t>
              </a:r>
            </a:p>
          </p:txBody>
        </p:sp>
        <p:sp>
          <p:nvSpPr>
            <p:cNvPr id="49167" name="AutoShape 21"/>
            <p:cNvSpPr>
              <a:spLocks noChangeArrowheads="1"/>
            </p:cNvSpPr>
            <p:nvPr/>
          </p:nvSpPr>
          <p:spPr bwMode="auto">
            <a:xfrm>
              <a:off x="2550" y="7633"/>
              <a:ext cx="1910" cy="160"/>
            </a:xfrm>
            <a:prstGeom prst="notchedRightArrow">
              <a:avLst>
                <a:gd name="adj1" fmla="val 50000"/>
                <a:gd name="adj2" fmla="val 298438"/>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000000"/>
                </a:solidFill>
                <a:latin typeface="Tahoma" panose="020B0604030504040204" pitchFamily="34" charset="0"/>
              </a:endParaRPr>
            </a:p>
          </p:txBody>
        </p:sp>
        <p:sp>
          <p:nvSpPr>
            <p:cNvPr id="49170" name="Text Box 24"/>
            <p:cNvSpPr txBox="1">
              <a:spLocks noChangeArrowheads="1"/>
            </p:cNvSpPr>
            <p:nvPr/>
          </p:nvSpPr>
          <p:spPr bwMode="auto">
            <a:xfrm>
              <a:off x="4593" y="5250"/>
              <a:ext cx="2835" cy="1007"/>
            </a:xfrm>
            <a:prstGeom prst="rect">
              <a:avLst/>
            </a:prstGeom>
            <a:solidFill>
              <a:srgbClr val="00FF00"/>
            </a:solidFill>
            <a:ln>
              <a:noFill/>
            </a:ln>
            <a:effectLst>
              <a:prstShdw prst="shdw13" dist="53882" dir="13500000">
                <a:schemeClr val="bg2">
                  <a:alpha val="50000"/>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kern="0" dirty="0">
                  <a:latin typeface="楷体_GB2312" panose="02010609030101010101" pitchFamily="49" charset="-122"/>
                  <a:ea typeface="楷体_GB2312" panose="02010609030101010101" pitchFamily="49" charset="-122"/>
                  <a:cs typeface="+mn-ea"/>
                </a:rPr>
                <a:t>利息收入</a:t>
              </a:r>
              <a:endParaRPr lang="zh-CN" altLang="en-US" sz="2000" b="1">
                <a:solidFill>
                  <a:srgbClr val="000000"/>
                </a:solidFill>
              </a:endParaRPr>
            </a:p>
          </p:txBody>
        </p:sp>
      </p:grpSp>
      <p:sp>
        <p:nvSpPr>
          <p:cNvPr id="49171" name="矩形 1"/>
          <p:cNvSpPr>
            <a:spLocks noChangeArrowheads="1"/>
          </p:cNvSpPr>
          <p:nvPr/>
        </p:nvSpPr>
        <p:spPr bwMode="auto">
          <a:xfrm>
            <a:off x="1063308" y="5704840"/>
            <a:ext cx="69392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latin typeface="黑体" panose="02010609060101010101" pitchFamily="2" charset="-122"/>
                <a:ea typeface="黑体" panose="02010609060101010101" pitchFamily="2" charset="-122"/>
                <a:cs typeface="黑体" panose="02010609060101010101" pitchFamily="2" charset="-122"/>
              </a:rPr>
              <a:t>通过“债权投资”“贷款”等账户进行核算</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827088" y="214313"/>
            <a:ext cx="8116887" cy="1462087"/>
          </a:xfrm>
        </p:spPr>
        <p:txBody>
          <a:bodyPr/>
          <a:lstStyle/>
          <a:p>
            <a:pPr eaLnBrk="1" hangingPunct="1"/>
            <a:r>
              <a:rPr lang="en-US" altLang="zh-CN" sz="4000"/>
              <a:t>1.</a:t>
            </a:r>
            <a:r>
              <a:rPr lang="zh-CN" altLang="en-US" sz="4000"/>
              <a:t>取得</a:t>
            </a:r>
          </a:p>
        </p:txBody>
      </p:sp>
      <p:sp>
        <p:nvSpPr>
          <p:cNvPr id="50179" name="Rectangle 3"/>
          <p:cNvSpPr>
            <a:spLocks noGrp="1" noChangeArrowheads="1"/>
          </p:cNvSpPr>
          <p:nvPr>
            <p:ph type="body" idx="1"/>
          </p:nvPr>
        </p:nvSpPr>
        <p:spPr/>
        <p:txBody>
          <a:bodyPr/>
          <a:lstStyle/>
          <a:p>
            <a:pPr eaLnBrk="1" hangingPunct="1"/>
            <a:r>
              <a:rPr lang="zh-CN" altLang="en-US"/>
              <a:t>按取得时的成本（公允价值和相关交易费用之和）作为初始入账金额</a:t>
            </a:r>
          </a:p>
          <a:p>
            <a:pPr lvl="1" eaLnBrk="1" hangingPunct="1"/>
            <a:r>
              <a:rPr lang="zh-CN" altLang="en-US"/>
              <a:t>将债券面值金额计入</a:t>
            </a:r>
            <a:r>
              <a:rPr lang="zh-CN" altLang="en-US">
                <a:latin typeface="Arial" panose="020B0604020202020204" pitchFamily="34" charset="0"/>
              </a:rPr>
              <a:t>“</a:t>
            </a:r>
            <a:r>
              <a:rPr lang="zh-CN" altLang="en-US"/>
              <a:t>面值</a:t>
            </a:r>
            <a:r>
              <a:rPr lang="zh-CN" altLang="en-US">
                <a:latin typeface="Arial" panose="020B0604020202020204" pitchFamily="34" charset="0"/>
              </a:rPr>
              <a:t>”</a:t>
            </a:r>
            <a:endParaRPr lang="zh-CN" altLang="en-US"/>
          </a:p>
          <a:p>
            <a:pPr lvl="1" eaLnBrk="1" hangingPunct="1"/>
            <a:r>
              <a:rPr lang="zh-CN" altLang="en-US"/>
              <a:t>将支付金额与面值的差额计入</a:t>
            </a:r>
            <a:r>
              <a:rPr lang="zh-CN" altLang="en-US">
                <a:solidFill>
                  <a:srgbClr val="FF0000"/>
                </a:solidFill>
                <a:latin typeface="Arial" panose="020B0604020202020204" pitchFamily="34" charset="0"/>
              </a:rPr>
              <a:t>“</a:t>
            </a:r>
            <a:r>
              <a:rPr lang="zh-CN" altLang="en-US">
                <a:solidFill>
                  <a:srgbClr val="FF0000"/>
                </a:solidFill>
              </a:rPr>
              <a:t>利息调整</a:t>
            </a:r>
            <a:r>
              <a:rPr lang="zh-CN" altLang="en-US">
                <a:solidFill>
                  <a:srgbClr val="FF0000"/>
                </a:solidFill>
                <a:latin typeface="Arial" panose="020B0604020202020204" pitchFamily="34" charset="0"/>
              </a:rPr>
              <a:t>”</a:t>
            </a:r>
            <a:endParaRPr lang="zh-CN" altLang="en-US">
              <a:solidFill>
                <a:srgbClr val="3333FF"/>
              </a:solidFill>
            </a:endParaRPr>
          </a:p>
          <a:p>
            <a:pPr eaLnBrk="1" hangingPunct="1"/>
            <a:r>
              <a:rPr lang="zh-CN" altLang="en-US"/>
              <a:t>实际支付价款中包括的已到付息期但尚未领取的利息确认为应收利息</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endParaRPr lang="zh-CN" altLang="en-US" sz="3600"/>
          </a:p>
        </p:txBody>
      </p:sp>
      <p:sp>
        <p:nvSpPr>
          <p:cNvPr id="51203" name="Rectangle 3"/>
          <p:cNvSpPr>
            <a:spLocks noGrp="1" noChangeArrowheads="1"/>
          </p:cNvSpPr>
          <p:nvPr>
            <p:ph type="body" idx="1"/>
          </p:nvPr>
        </p:nvSpPr>
        <p:spPr/>
        <p:txBody>
          <a:bodyPr/>
          <a:lstStyle/>
          <a:p>
            <a:pPr eaLnBrk="1" hangingPunct="1">
              <a:lnSpc>
                <a:spcPct val="90000"/>
              </a:lnSpc>
            </a:pPr>
            <a:r>
              <a:rPr lang="zh-CN" altLang="en-US" sz="3600" b="1">
                <a:latin typeface="黑体" panose="02010609060101010101" pitchFamily="2" charset="-122"/>
              </a:rPr>
              <a:t>取得时的会计处理</a:t>
            </a:r>
          </a:p>
          <a:p>
            <a:pPr marL="0" indent="0" eaLnBrk="1" hangingPunct="1">
              <a:lnSpc>
                <a:spcPct val="90000"/>
              </a:lnSpc>
              <a:buNone/>
            </a:pPr>
            <a:r>
              <a:rPr lang="zh-CN" altLang="en-US" sz="2400" b="1">
                <a:latin typeface="楷体_GB2312" panose="02010609030101010101" pitchFamily="49" charset="-122"/>
                <a:ea typeface="楷体_GB2312" panose="02010609030101010101" pitchFamily="49" charset="-122"/>
                <a:cs typeface="+mn-ea"/>
              </a:rPr>
              <a:t>借：债权投资</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面值</a:t>
            </a:r>
          </a:p>
          <a:p>
            <a:pPr marL="0" indent="0" eaLnBrk="1" hangingPunct="1">
              <a:buNone/>
            </a:pPr>
            <a:r>
              <a:rPr lang="zh-CN" altLang="en-US" sz="2400" b="1">
                <a:latin typeface="楷体_GB2312" panose="02010609030101010101" pitchFamily="49" charset="-122"/>
                <a:ea typeface="楷体_GB2312" panose="02010609030101010101" pitchFamily="49" charset="-122"/>
                <a:cs typeface="+mn-ea"/>
              </a:rPr>
              <a:t>    债权投资</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利息调整</a:t>
            </a:r>
          </a:p>
          <a:p>
            <a:pPr marL="0" indent="0" eaLnBrk="1" hangingPunct="1">
              <a:buNone/>
            </a:pPr>
            <a:r>
              <a:rPr lang="zh-CN" altLang="en-US" sz="2400" b="1">
                <a:latin typeface="楷体_GB2312" panose="02010609030101010101" pitchFamily="49" charset="-122"/>
                <a:ea typeface="楷体_GB2312" panose="02010609030101010101" pitchFamily="49" charset="-122"/>
                <a:cs typeface="+mn-ea"/>
              </a:rPr>
              <a:t>    应收利息</a:t>
            </a:r>
            <a:endParaRPr sz="2400" b="1">
              <a:latin typeface="楷体_GB2312" panose="02010609030101010101" pitchFamily="49" charset="-122"/>
              <a:ea typeface="楷体_GB2312" panose="02010609030101010101" pitchFamily="49" charset="-122"/>
              <a:cs typeface="+mn-ea"/>
            </a:endParaRPr>
          </a:p>
          <a:p>
            <a:pPr marL="0" indent="0" eaLnBrk="1" hangingPunct="1">
              <a:buNone/>
            </a:pPr>
            <a:r>
              <a:rPr lang="zh-CN" altLang="en-US" sz="2400" b="1">
                <a:latin typeface="楷体_GB2312" panose="02010609030101010101" pitchFamily="49" charset="-122"/>
                <a:ea typeface="楷体_GB2312" panose="02010609030101010101" pitchFamily="49" charset="-122"/>
                <a:cs typeface="+mn-ea"/>
              </a:rPr>
              <a:t>    贷：其他货币资金等</a:t>
            </a:r>
          </a:p>
          <a:p>
            <a:pPr marL="0" indent="0" eaLnBrk="1" hangingPunct="1">
              <a:buNone/>
            </a:pPr>
            <a:r>
              <a:rPr lang="zh-CN" altLang="en-US" sz="2400" b="1">
                <a:latin typeface="楷体_GB2312" panose="02010609030101010101" pitchFamily="49" charset="-122"/>
                <a:ea typeface="楷体_GB2312" panose="02010609030101010101" pitchFamily="49" charset="-122"/>
                <a:cs typeface="+mn-ea"/>
              </a:rPr>
              <a:t>        债权投资</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利息调整</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zh-CN" altLang="en-US"/>
              <a:t>思考</a:t>
            </a:r>
          </a:p>
        </p:txBody>
      </p:sp>
      <p:sp>
        <p:nvSpPr>
          <p:cNvPr id="52227" name="Rectangle 3"/>
          <p:cNvSpPr>
            <a:spLocks noGrp="1" noChangeArrowheads="1"/>
          </p:cNvSpPr>
          <p:nvPr>
            <p:ph type="body" idx="1"/>
          </p:nvPr>
        </p:nvSpPr>
        <p:spPr>
          <a:xfrm>
            <a:off x="1182688" y="2017713"/>
            <a:ext cx="7637462" cy="4291012"/>
          </a:xfrm>
        </p:spPr>
        <p:txBody>
          <a:bodyPr/>
          <a:lstStyle/>
          <a:p>
            <a:pPr eaLnBrk="1" hangingPunct="1">
              <a:lnSpc>
                <a:spcPct val="90000"/>
              </a:lnSpc>
            </a:pPr>
            <a:r>
              <a:rPr lang="zh-CN" altLang="en-US"/>
              <a:t>为什么将购买价格和面值的差计入</a:t>
            </a:r>
            <a:r>
              <a:rPr lang="zh-CN" altLang="en-US">
                <a:latin typeface="Arial" panose="020B0604020202020204" pitchFamily="34" charset="0"/>
              </a:rPr>
              <a:t>“</a:t>
            </a:r>
            <a:r>
              <a:rPr lang="zh-CN" altLang="en-US"/>
              <a:t>利息调整</a:t>
            </a:r>
            <a:r>
              <a:rPr lang="zh-CN" altLang="en-US">
                <a:latin typeface="Arial" panose="020B0604020202020204" pitchFamily="34" charset="0"/>
              </a:rPr>
              <a:t>”</a:t>
            </a:r>
            <a:r>
              <a:rPr lang="zh-CN" altLang="en-US"/>
              <a:t>项目？</a:t>
            </a:r>
          </a:p>
          <a:p>
            <a:pPr eaLnBrk="1" hangingPunct="1">
              <a:lnSpc>
                <a:spcPct val="90000"/>
              </a:lnSpc>
            </a:pPr>
            <a:r>
              <a:rPr lang="zh-CN" altLang="en-US"/>
              <a:t>为什么债券的购买价格和面值会出现差异（溢折价）？</a:t>
            </a:r>
          </a:p>
          <a:p>
            <a:pPr eaLnBrk="1" hangingPunct="1">
              <a:lnSpc>
                <a:spcPct val="90000"/>
              </a:lnSpc>
            </a:pPr>
            <a:endParaRPr lang="zh-CN" altLang="en-US"/>
          </a:p>
          <a:p>
            <a:pPr eaLnBrk="1" hangingPunct="1">
              <a:lnSpc>
                <a:spcPct val="90000"/>
              </a:lnSpc>
            </a:pPr>
            <a:r>
              <a:rPr lang="zh-CN" altLang="en-US"/>
              <a:t>购入债券的三种情况：</a:t>
            </a:r>
          </a:p>
          <a:p>
            <a:pPr lvl="1" eaLnBrk="1" hangingPunct="1">
              <a:lnSpc>
                <a:spcPct val="90000"/>
              </a:lnSpc>
              <a:spcBef>
                <a:spcPct val="50000"/>
              </a:spcBef>
            </a:pPr>
            <a:r>
              <a:rPr lang="zh-CN" altLang="en-US"/>
              <a:t> 平价购入（购买价格</a:t>
            </a:r>
            <a:r>
              <a:rPr lang="en-US" altLang="zh-CN"/>
              <a:t>=</a:t>
            </a:r>
            <a:r>
              <a:rPr lang="zh-CN" altLang="en-US"/>
              <a:t>面值）</a:t>
            </a:r>
            <a:r>
              <a:rPr lang="en-US" altLang="zh-CN"/>
              <a:t>[</a:t>
            </a:r>
            <a:r>
              <a:rPr lang="en-US" altLang="zh-CN" b="0">
                <a:latin typeface="Times New Roman" panose="02020603050405020304" pitchFamily="18" charset="0"/>
                <a:cs typeface="Times New Roman" panose="02020603050405020304" pitchFamily="18" charset="0"/>
              </a:rPr>
              <a:t>100</a:t>
            </a:r>
            <a:r>
              <a:rPr lang="en-US" altLang="zh-CN"/>
              <a:t>=</a:t>
            </a:r>
            <a:r>
              <a:rPr lang="en-US" altLang="zh-CN" b="0">
                <a:latin typeface="Times New Roman" panose="02020603050405020304" pitchFamily="18" charset="0"/>
                <a:cs typeface="Times New Roman" panose="02020603050405020304" pitchFamily="18" charset="0"/>
              </a:rPr>
              <a:t>100</a:t>
            </a:r>
            <a:r>
              <a:rPr lang="en-US" altLang="zh-CN"/>
              <a:t>]</a:t>
            </a:r>
          </a:p>
          <a:p>
            <a:pPr lvl="1" eaLnBrk="1" hangingPunct="1">
              <a:lnSpc>
                <a:spcPct val="50000"/>
              </a:lnSpc>
              <a:spcBef>
                <a:spcPct val="50000"/>
              </a:spcBef>
            </a:pPr>
            <a:r>
              <a:rPr lang="en-US" altLang="zh-CN"/>
              <a:t> </a:t>
            </a:r>
            <a:r>
              <a:rPr lang="zh-CN" altLang="en-US"/>
              <a:t>溢价购入（购买价格</a:t>
            </a:r>
            <a:r>
              <a:rPr lang="en-US" altLang="zh-CN"/>
              <a:t>&gt;</a:t>
            </a:r>
            <a:r>
              <a:rPr lang="zh-CN" altLang="en-US"/>
              <a:t>面值）</a:t>
            </a:r>
            <a:r>
              <a:rPr lang="en-US" altLang="zh-CN"/>
              <a:t>[</a:t>
            </a:r>
            <a:r>
              <a:rPr lang="en-US" altLang="zh-CN" b="0">
                <a:latin typeface="Times New Roman" panose="02020603050405020304" pitchFamily="18" charset="0"/>
                <a:cs typeface="Times New Roman" panose="02020603050405020304" pitchFamily="18" charset="0"/>
              </a:rPr>
              <a:t>105</a:t>
            </a:r>
            <a:r>
              <a:rPr lang="en-US" altLang="zh-CN"/>
              <a:t>&gt;</a:t>
            </a:r>
            <a:r>
              <a:rPr lang="en-US" altLang="zh-CN" b="0">
                <a:latin typeface="Times New Roman" panose="02020603050405020304" pitchFamily="18" charset="0"/>
                <a:cs typeface="Times New Roman" panose="02020603050405020304" pitchFamily="18" charset="0"/>
              </a:rPr>
              <a:t>100</a:t>
            </a:r>
            <a:r>
              <a:rPr lang="en-US" altLang="zh-CN"/>
              <a:t>]</a:t>
            </a:r>
          </a:p>
          <a:p>
            <a:pPr lvl="1" eaLnBrk="1" hangingPunct="1">
              <a:lnSpc>
                <a:spcPct val="70000"/>
              </a:lnSpc>
              <a:spcBef>
                <a:spcPct val="50000"/>
              </a:spcBef>
            </a:pPr>
            <a:r>
              <a:rPr lang="en-US" altLang="zh-CN"/>
              <a:t> </a:t>
            </a:r>
            <a:r>
              <a:rPr lang="zh-CN" altLang="en-US"/>
              <a:t>折价购入（购买价格</a:t>
            </a:r>
            <a:r>
              <a:rPr lang="en-US" altLang="zh-CN"/>
              <a:t>&lt;</a:t>
            </a:r>
            <a:r>
              <a:rPr lang="zh-CN" altLang="en-US"/>
              <a:t>面值）</a:t>
            </a:r>
            <a:r>
              <a:rPr lang="en-US" altLang="zh-CN"/>
              <a:t>[</a:t>
            </a:r>
            <a:r>
              <a:rPr lang="en-US" altLang="zh-CN" b="0">
                <a:latin typeface="Times New Roman" panose="02020603050405020304" pitchFamily="18" charset="0"/>
                <a:cs typeface="Times New Roman" panose="02020603050405020304" pitchFamily="18" charset="0"/>
              </a:rPr>
              <a:t>95</a:t>
            </a:r>
            <a:r>
              <a:rPr lang="en-US" altLang="zh-CN"/>
              <a:t>&lt;</a:t>
            </a:r>
            <a:r>
              <a:rPr lang="en-US" altLang="zh-CN" b="0">
                <a:latin typeface="Times New Roman" panose="02020603050405020304" pitchFamily="18" charset="0"/>
                <a:cs typeface="Times New Roman" panose="02020603050405020304" pitchFamily="18" charset="0"/>
              </a:rPr>
              <a:t>100</a:t>
            </a:r>
            <a:r>
              <a:rPr lang="en-US" altLang="zh-CN"/>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zh-CN" altLang="en-US"/>
              <a:t>思考</a:t>
            </a:r>
          </a:p>
        </p:txBody>
      </p:sp>
      <p:sp>
        <p:nvSpPr>
          <p:cNvPr id="319491" name="Rectangle 3"/>
          <p:cNvSpPr>
            <a:spLocks noGrp="1" noChangeArrowheads="1"/>
          </p:cNvSpPr>
          <p:nvPr>
            <p:ph type="body" idx="1"/>
          </p:nvPr>
        </p:nvSpPr>
        <p:spPr/>
        <p:txBody>
          <a:bodyPr/>
          <a:lstStyle/>
          <a:p>
            <a:pPr eaLnBrk="1" hangingPunct="1"/>
            <a:r>
              <a:rPr lang="zh-CN" altLang="en-US" sz="2800"/>
              <a:t>为什么会导致上述三种情况的出现呢？</a:t>
            </a:r>
          </a:p>
          <a:p>
            <a:pPr lvl="1" eaLnBrk="1" hangingPunct="1"/>
            <a:r>
              <a:rPr lang="zh-CN" altLang="en-US" sz="2400"/>
              <a:t>债券的溢价、折价，主要是由于金融市场利率与债券票面利率不一致造成的</a:t>
            </a:r>
          </a:p>
          <a:p>
            <a:pPr eaLnBrk="1" hangingPunct="1"/>
            <a:endParaRPr lang="zh-CN" altLang="en-US" sz="2800"/>
          </a:p>
          <a:p>
            <a:pPr eaLnBrk="1" hangingPunct="1"/>
            <a:r>
              <a:rPr lang="zh-CN" altLang="en-US" sz="2800"/>
              <a:t>为什么金融市场利率与债券票面利率会不一致，而且会导致溢折价的出现呢？</a:t>
            </a:r>
          </a:p>
          <a:p>
            <a:pPr lvl="1" eaLnBrk="1" hangingPunct="1"/>
            <a:r>
              <a:rPr lang="zh-CN" altLang="en-US" sz="2400"/>
              <a:t>决定发行和实际发行存在时差，利率会发生变动，重新定价导致了溢折价出现</a:t>
            </a:r>
          </a:p>
          <a:p>
            <a:pPr lvl="1" eaLnBrk="1" hangingPunct="1"/>
            <a:r>
              <a:rPr lang="zh-CN" altLang="en-US" sz="2400"/>
              <a:t>信用损失已经发生，导致大幅度折价发行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9491">
                                            <p:txEl>
                                              <p:pRg st="0" end="0"/>
                                            </p:txEl>
                                          </p:spTgt>
                                        </p:tgtEl>
                                        <p:attrNameLst>
                                          <p:attrName>style.visibility</p:attrName>
                                        </p:attrNameLst>
                                      </p:cBhvr>
                                      <p:to>
                                        <p:strVal val="visible"/>
                                      </p:to>
                                    </p:set>
                                    <p:anim calcmode="lin" valueType="num">
                                      <p:cBhvr additive="base">
                                        <p:cTn id="7" dur="500" fill="hold"/>
                                        <p:tgtEl>
                                          <p:spTgt spid="3194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94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19491">
                                            <p:txEl>
                                              <p:pRg st="1" end="1"/>
                                            </p:txEl>
                                          </p:spTgt>
                                        </p:tgtEl>
                                        <p:attrNameLst>
                                          <p:attrName>style.visibility</p:attrName>
                                        </p:attrNameLst>
                                      </p:cBhvr>
                                      <p:to>
                                        <p:strVal val="visible"/>
                                      </p:to>
                                    </p:set>
                                    <p:animEffect transition="in" filter="blinds(horizontal)">
                                      <p:cBhvr>
                                        <p:cTn id="13" dur="500"/>
                                        <p:tgtEl>
                                          <p:spTgt spid="319491">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19491">
                                            <p:txEl>
                                              <p:pRg st="3" end="3"/>
                                            </p:txEl>
                                          </p:spTgt>
                                        </p:tgtEl>
                                        <p:attrNameLst>
                                          <p:attrName>style.visibility</p:attrName>
                                        </p:attrNameLst>
                                      </p:cBhvr>
                                      <p:to>
                                        <p:strVal val="visible"/>
                                      </p:to>
                                    </p:set>
                                    <p:anim calcmode="lin" valueType="num">
                                      <p:cBhvr additive="base">
                                        <p:cTn id="18" dur="500" fill="hold"/>
                                        <p:tgtEl>
                                          <p:spTgt spid="319491">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194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19491">
                                            <p:txEl>
                                              <p:pRg st="4" end="4"/>
                                            </p:txEl>
                                          </p:spTgt>
                                        </p:tgtEl>
                                        <p:attrNameLst>
                                          <p:attrName>style.visibility</p:attrName>
                                        </p:attrNameLst>
                                      </p:cBhvr>
                                      <p:to>
                                        <p:strVal val="visible"/>
                                      </p:to>
                                    </p:set>
                                    <p:anim calcmode="lin" valueType="num">
                                      <p:cBhvr additive="base">
                                        <p:cTn id="24" dur="500" fill="hold"/>
                                        <p:tgtEl>
                                          <p:spTgt spid="319491">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194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19491">
                                            <p:txEl>
                                              <p:pRg st="5" end="5"/>
                                            </p:txEl>
                                          </p:spTgt>
                                        </p:tgtEl>
                                        <p:attrNameLst>
                                          <p:attrName>style.visibility</p:attrName>
                                        </p:attrNameLst>
                                      </p:cBhvr>
                                      <p:to>
                                        <p:strVal val="visible"/>
                                      </p:to>
                                    </p:set>
                                    <p:anim calcmode="lin" valueType="num">
                                      <p:cBhvr additive="base">
                                        <p:cTn id="30" dur="500" fill="hold"/>
                                        <p:tgtEl>
                                          <p:spTgt spid="319491">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1949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US"/>
              <a:t>溢价购入</a:t>
            </a:r>
          </a:p>
        </p:txBody>
      </p:sp>
      <p:sp>
        <p:nvSpPr>
          <p:cNvPr id="321539" name="Rectangle 3"/>
          <p:cNvSpPr>
            <a:spLocks noGrp="1" noChangeArrowheads="1"/>
          </p:cNvSpPr>
          <p:nvPr>
            <p:ph type="body" idx="1"/>
          </p:nvPr>
        </p:nvSpPr>
        <p:spPr>
          <a:xfrm>
            <a:off x="684213" y="1989138"/>
            <a:ext cx="8208962" cy="4464050"/>
          </a:xfrm>
        </p:spPr>
        <p:txBody>
          <a:bodyPr/>
          <a:lstStyle/>
          <a:p>
            <a:pPr eaLnBrk="1" hangingPunct="1"/>
            <a:r>
              <a:rPr lang="zh-CN" altLang="en-US"/>
              <a:t>例如，</a:t>
            </a:r>
            <a:r>
              <a:rPr lang="en-US" altLang="zh-CN">
                <a:latin typeface="Times New Roman" panose="02020603050405020304" pitchFamily="18" charset="0"/>
                <a:cs typeface="Times New Roman" panose="02020603050405020304" pitchFamily="18" charset="0"/>
              </a:rPr>
              <a:t>2×19</a:t>
            </a:r>
            <a:r>
              <a:rPr lang="zh-CN" altLang="en-US"/>
              <a:t>年</a:t>
            </a:r>
            <a:r>
              <a:rPr lang="en-US" altLang="zh-CN">
                <a:latin typeface="Times New Roman" panose="02020603050405020304" pitchFamily="18" charset="0"/>
                <a:cs typeface="Times New Roman" panose="02020603050405020304" pitchFamily="18" charset="0"/>
              </a:rPr>
              <a:t>12</a:t>
            </a:r>
            <a:r>
              <a:rPr lang="zh-CN" altLang="en-US"/>
              <a:t>月，</a:t>
            </a:r>
            <a:r>
              <a:rPr lang="en-US" altLang="zh-CN">
                <a:latin typeface="Times New Roman" panose="02020603050405020304" pitchFamily="18" charset="0"/>
                <a:cs typeface="Times New Roman" panose="02020603050405020304" pitchFamily="18" charset="0"/>
              </a:rPr>
              <a:t>P</a:t>
            </a:r>
            <a:r>
              <a:rPr lang="zh-CN" altLang="en-US"/>
              <a:t>公司决定于</a:t>
            </a:r>
            <a:r>
              <a:rPr lang="en-US" altLang="zh-CN">
                <a:latin typeface="Times New Roman" panose="02020603050405020304" pitchFamily="18" charset="0"/>
                <a:cs typeface="Times New Roman" panose="02020603050405020304" pitchFamily="18" charset="0"/>
              </a:rPr>
              <a:t>2×20</a:t>
            </a:r>
            <a:r>
              <a:rPr lang="zh-CN" altLang="en-US"/>
              <a:t>年</a:t>
            </a:r>
            <a:r>
              <a:rPr lang="en-US" altLang="zh-CN">
                <a:latin typeface="Times New Roman" panose="02020603050405020304" pitchFamily="18" charset="0"/>
                <a:cs typeface="Times New Roman" panose="02020603050405020304" pitchFamily="18" charset="0"/>
              </a:rPr>
              <a:t>1</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日发行每张面值为</a:t>
            </a:r>
            <a:r>
              <a:rPr lang="en-US" altLang="zh-CN">
                <a:latin typeface="Times New Roman" panose="02020603050405020304" pitchFamily="18" charset="0"/>
                <a:cs typeface="Times New Roman" panose="02020603050405020304" pitchFamily="18" charset="0"/>
              </a:rPr>
              <a:t>100</a:t>
            </a:r>
            <a:r>
              <a:rPr lang="zh-CN" altLang="en-US"/>
              <a:t>元，票面利率为</a:t>
            </a:r>
            <a:r>
              <a:rPr lang="en-US" altLang="zh-CN">
                <a:latin typeface="Times New Roman" panose="02020603050405020304" pitchFamily="18" charset="0"/>
                <a:cs typeface="Times New Roman" panose="02020603050405020304" pitchFamily="18" charset="0"/>
              </a:rPr>
              <a:t>8%</a:t>
            </a:r>
            <a:r>
              <a:rPr lang="zh-CN" altLang="en-US"/>
              <a:t>，期限为</a:t>
            </a:r>
            <a:r>
              <a:rPr lang="en-US" altLang="zh-CN">
                <a:latin typeface="Times New Roman" panose="02020603050405020304" pitchFamily="18" charset="0"/>
                <a:cs typeface="Times New Roman" panose="02020603050405020304" pitchFamily="18" charset="0"/>
              </a:rPr>
              <a:t>2</a:t>
            </a:r>
            <a:r>
              <a:rPr lang="zh-CN" altLang="en-US"/>
              <a:t>年的债券</a:t>
            </a:r>
            <a:r>
              <a:rPr lang="en-US" altLang="zh-CN">
                <a:latin typeface="Times New Roman" panose="02020603050405020304" pitchFamily="18" charset="0"/>
                <a:cs typeface="Times New Roman" panose="02020603050405020304" pitchFamily="18" charset="0"/>
              </a:rPr>
              <a:t>5 000</a:t>
            </a:r>
            <a:r>
              <a:rPr lang="zh-CN" altLang="en-US"/>
              <a:t>万。假定</a:t>
            </a:r>
            <a:r>
              <a:rPr lang="en-US" altLang="zh-CN">
                <a:latin typeface="Times New Roman" panose="02020603050405020304" pitchFamily="18" charset="0"/>
                <a:cs typeface="Times New Roman" panose="02020603050405020304" pitchFamily="18" charset="0"/>
              </a:rPr>
              <a:t>2×20</a:t>
            </a:r>
            <a:r>
              <a:rPr lang="zh-CN" altLang="en-US"/>
              <a:t>年</a:t>
            </a:r>
            <a:r>
              <a:rPr lang="en-US" altLang="zh-CN">
                <a:latin typeface="Times New Roman" panose="02020603050405020304" pitchFamily="18" charset="0"/>
                <a:cs typeface="Times New Roman" panose="02020603050405020304" pitchFamily="18" charset="0"/>
              </a:rPr>
              <a:t>1</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日的市场利率为</a:t>
            </a:r>
            <a:r>
              <a:rPr lang="en-US" altLang="zh-CN">
                <a:latin typeface="Times New Roman" panose="02020603050405020304" pitchFamily="18" charset="0"/>
                <a:cs typeface="Times New Roman" panose="02020603050405020304" pitchFamily="18" charset="0"/>
              </a:rPr>
              <a:t>6%</a:t>
            </a:r>
            <a:r>
              <a:rPr lang="zh-CN" altLang="en-US"/>
              <a:t>。</a:t>
            </a:r>
            <a:r>
              <a:rPr lang="en-US" altLang="zh-CN">
                <a:latin typeface="Times New Roman" panose="02020603050405020304" pitchFamily="18" charset="0"/>
                <a:cs typeface="Times New Roman" panose="02020603050405020304" pitchFamily="18" charset="0"/>
              </a:rPr>
              <a:t>P</a:t>
            </a:r>
            <a:r>
              <a:rPr lang="zh-CN" altLang="en-US"/>
              <a:t>公司还会以每张</a:t>
            </a:r>
            <a:r>
              <a:rPr lang="en-US" altLang="zh-CN">
                <a:latin typeface="Times New Roman" panose="02020603050405020304" pitchFamily="18" charset="0"/>
                <a:cs typeface="Times New Roman" panose="02020603050405020304" pitchFamily="18" charset="0"/>
              </a:rPr>
              <a:t>100</a:t>
            </a:r>
            <a:r>
              <a:rPr lang="zh-CN" altLang="en-US"/>
              <a:t>元的价格发行债券吗？</a:t>
            </a:r>
            <a:r>
              <a:rPr lang="en-US" altLang="zh-CN"/>
              <a:t> </a:t>
            </a:r>
            <a:r>
              <a:rPr lang="zh-CN" altLang="en-US"/>
              <a:t>你会以每张</a:t>
            </a:r>
            <a:r>
              <a:rPr lang="en-US" altLang="zh-CN">
                <a:latin typeface="Times New Roman" panose="02020603050405020304" pitchFamily="18" charset="0"/>
                <a:cs typeface="Times New Roman" panose="02020603050405020304" pitchFamily="18" charset="0"/>
              </a:rPr>
              <a:t>100</a:t>
            </a:r>
            <a:r>
              <a:rPr lang="zh-CN" altLang="en-US"/>
              <a:t>元的价格购买债券吗？</a:t>
            </a:r>
          </a:p>
          <a:p>
            <a:pPr eaLnBrk="1" hangingPunct="1"/>
            <a:r>
              <a:rPr lang="zh-CN" altLang="en-US"/>
              <a:t>投资者需要支付比面值更高的价格来购买债券</a:t>
            </a:r>
            <a:endParaRPr lang="en-US" altLang="zh-CN"/>
          </a:p>
          <a:p>
            <a:pPr eaLnBrk="1" hangingPunct="1"/>
            <a:r>
              <a:rPr lang="zh-CN" altLang="en-US"/>
              <a:t>在这种情况下，就会导致债券</a:t>
            </a:r>
            <a:r>
              <a:rPr lang="zh-CN" altLang="en-US" b="1">
                <a:solidFill>
                  <a:schemeClr val="hlink"/>
                </a:solidFill>
                <a:ea typeface="楷体_GB2312" panose="02010609030101010101" pitchFamily="49" charset="-122"/>
              </a:rPr>
              <a:t>溢价发行</a:t>
            </a:r>
            <a:r>
              <a:rPr lang="zh-CN" altLang="en-US"/>
              <a:t>。这部分溢价差额，属于债券购买者由于日后多获利息而给予债券发行者的</a:t>
            </a:r>
            <a:r>
              <a:rPr lang="zh-CN" altLang="en-US" b="1">
                <a:solidFill>
                  <a:schemeClr val="hlink"/>
                </a:solidFill>
                <a:ea typeface="楷体_GB2312" panose="02010609030101010101" pitchFamily="49" charset="-122"/>
              </a:rPr>
              <a:t>利息返还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1539">
                                            <p:txEl>
                                              <p:pRg st="1" end="1"/>
                                            </p:txEl>
                                          </p:spTgt>
                                        </p:tgtEl>
                                        <p:attrNameLst>
                                          <p:attrName>style.visibility</p:attrName>
                                        </p:attrNameLst>
                                      </p:cBhvr>
                                      <p:to>
                                        <p:strVal val="visible"/>
                                      </p:to>
                                    </p:set>
                                    <p:animEffect transition="in" filter="blinds(horizontal)">
                                      <p:cBhvr>
                                        <p:cTn id="7" dur="500"/>
                                        <p:tgtEl>
                                          <p:spTgt spid="3215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21539">
                                            <p:txEl>
                                              <p:pRg st="2" end="2"/>
                                            </p:txEl>
                                          </p:spTgt>
                                        </p:tgtEl>
                                        <p:attrNameLst>
                                          <p:attrName>style.visibility</p:attrName>
                                        </p:attrNameLst>
                                      </p:cBhvr>
                                      <p:to>
                                        <p:strVal val="visible"/>
                                      </p:to>
                                    </p:set>
                                    <p:animEffect transition="in" filter="blinds(horizontal)">
                                      <p:cBhvr>
                                        <p:cTn id="12" dur="500"/>
                                        <p:tgtEl>
                                          <p:spTgt spid="3215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zh-CN" altLang="en-US"/>
              <a:t>折价购入</a:t>
            </a:r>
          </a:p>
        </p:txBody>
      </p:sp>
      <p:sp>
        <p:nvSpPr>
          <p:cNvPr id="322563" name="Rectangle 3"/>
          <p:cNvSpPr>
            <a:spLocks noGrp="1" noChangeArrowheads="1"/>
          </p:cNvSpPr>
          <p:nvPr>
            <p:ph type="body" idx="1"/>
          </p:nvPr>
        </p:nvSpPr>
        <p:spPr>
          <a:xfrm>
            <a:off x="971550" y="2017713"/>
            <a:ext cx="7983538" cy="4114800"/>
          </a:xfrm>
        </p:spPr>
        <p:txBody>
          <a:bodyPr/>
          <a:lstStyle/>
          <a:p>
            <a:pPr eaLnBrk="1" hangingPunct="1">
              <a:lnSpc>
                <a:spcPct val="90000"/>
              </a:lnSpc>
            </a:pPr>
            <a:r>
              <a:rPr lang="zh-CN" altLang="en-US"/>
              <a:t>例如，</a:t>
            </a:r>
            <a:r>
              <a:rPr lang="en-US" altLang="zh-CN">
                <a:latin typeface="Times New Roman" panose="02020603050405020304" pitchFamily="18" charset="0"/>
                <a:cs typeface="Times New Roman" panose="02020603050405020304" pitchFamily="18" charset="0"/>
              </a:rPr>
              <a:t>2×19</a:t>
            </a:r>
            <a:r>
              <a:rPr lang="zh-CN" altLang="en-US"/>
              <a:t>年</a:t>
            </a:r>
            <a:r>
              <a:rPr lang="en-US" altLang="zh-CN">
                <a:latin typeface="Times New Roman" panose="02020603050405020304" pitchFamily="18" charset="0"/>
                <a:cs typeface="Times New Roman" panose="02020603050405020304" pitchFamily="18" charset="0"/>
              </a:rPr>
              <a:t>12</a:t>
            </a:r>
            <a:r>
              <a:rPr lang="zh-CN" altLang="en-US"/>
              <a:t>月，</a:t>
            </a:r>
            <a:r>
              <a:rPr lang="en-US" altLang="zh-CN">
                <a:latin typeface="Times New Roman" panose="02020603050405020304" pitchFamily="18" charset="0"/>
                <a:cs typeface="Times New Roman" panose="02020603050405020304" pitchFamily="18" charset="0"/>
              </a:rPr>
              <a:t>P</a:t>
            </a:r>
            <a:r>
              <a:rPr lang="zh-CN" altLang="en-US"/>
              <a:t>公司决定于</a:t>
            </a:r>
            <a:r>
              <a:rPr lang="en-US" altLang="zh-CN">
                <a:latin typeface="Times New Roman" panose="02020603050405020304" pitchFamily="18" charset="0"/>
                <a:cs typeface="Times New Roman" panose="02020603050405020304" pitchFamily="18" charset="0"/>
              </a:rPr>
              <a:t>2×20</a:t>
            </a:r>
            <a:r>
              <a:rPr lang="zh-CN" altLang="en-US"/>
              <a:t>年</a:t>
            </a:r>
            <a:r>
              <a:rPr lang="en-US" altLang="zh-CN">
                <a:latin typeface="Times New Roman" panose="02020603050405020304" pitchFamily="18" charset="0"/>
                <a:cs typeface="Times New Roman" panose="02020603050405020304" pitchFamily="18" charset="0"/>
              </a:rPr>
              <a:t>1</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日发行每张面值为</a:t>
            </a:r>
            <a:r>
              <a:rPr lang="en-US" altLang="zh-CN">
                <a:latin typeface="Times New Roman" panose="02020603050405020304" pitchFamily="18" charset="0"/>
                <a:cs typeface="Times New Roman" panose="02020603050405020304" pitchFamily="18" charset="0"/>
              </a:rPr>
              <a:t>100</a:t>
            </a:r>
            <a:r>
              <a:rPr lang="zh-CN" altLang="en-US"/>
              <a:t>元，票面利率为</a:t>
            </a:r>
            <a:r>
              <a:rPr lang="en-US" altLang="zh-CN">
                <a:latin typeface="Times New Roman" panose="02020603050405020304" pitchFamily="18" charset="0"/>
                <a:cs typeface="Times New Roman" panose="02020603050405020304" pitchFamily="18" charset="0"/>
              </a:rPr>
              <a:t>8%</a:t>
            </a:r>
            <a:r>
              <a:rPr lang="zh-CN" altLang="en-US"/>
              <a:t>，期限为</a:t>
            </a:r>
            <a:r>
              <a:rPr lang="en-US" altLang="zh-CN">
                <a:latin typeface="Times New Roman" panose="02020603050405020304" pitchFamily="18" charset="0"/>
                <a:cs typeface="Times New Roman" panose="02020603050405020304" pitchFamily="18" charset="0"/>
              </a:rPr>
              <a:t>2</a:t>
            </a:r>
            <a:r>
              <a:rPr lang="zh-CN" altLang="en-US"/>
              <a:t>年的债券</a:t>
            </a:r>
            <a:r>
              <a:rPr lang="en-US" altLang="zh-CN">
                <a:latin typeface="Times New Roman" panose="02020603050405020304" pitchFamily="18" charset="0"/>
                <a:cs typeface="Times New Roman" panose="02020603050405020304" pitchFamily="18" charset="0"/>
              </a:rPr>
              <a:t>5 000</a:t>
            </a:r>
            <a:r>
              <a:rPr lang="zh-CN" altLang="en-US"/>
              <a:t>万。假定</a:t>
            </a:r>
            <a:r>
              <a:rPr lang="en-US" altLang="zh-CN">
                <a:latin typeface="Times New Roman" panose="02020603050405020304" pitchFamily="18" charset="0"/>
                <a:cs typeface="Times New Roman" panose="02020603050405020304" pitchFamily="18" charset="0"/>
              </a:rPr>
              <a:t>2×20</a:t>
            </a:r>
            <a:r>
              <a:rPr lang="zh-CN" altLang="en-US"/>
              <a:t>年</a:t>
            </a:r>
            <a:r>
              <a:rPr lang="en-US" altLang="zh-CN">
                <a:latin typeface="Times New Roman" panose="02020603050405020304" pitchFamily="18" charset="0"/>
                <a:cs typeface="Times New Roman" panose="02020603050405020304" pitchFamily="18" charset="0"/>
              </a:rPr>
              <a:t>1</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日的市场利率为</a:t>
            </a:r>
            <a:r>
              <a:rPr lang="en-US" altLang="zh-CN">
                <a:latin typeface="Times New Roman" panose="02020603050405020304" pitchFamily="18" charset="0"/>
                <a:cs typeface="Times New Roman" panose="02020603050405020304" pitchFamily="18" charset="0"/>
              </a:rPr>
              <a:t>10%</a:t>
            </a:r>
            <a:r>
              <a:rPr lang="zh-CN" altLang="en-US"/>
              <a:t>。</a:t>
            </a:r>
            <a:r>
              <a:rPr lang="en-US" altLang="zh-CN">
                <a:latin typeface="Times New Roman" panose="02020603050405020304" pitchFamily="18" charset="0"/>
                <a:cs typeface="Times New Roman" panose="02020603050405020304" pitchFamily="18" charset="0"/>
              </a:rPr>
              <a:t>P</a:t>
            </a:r>
            <a:r>
              <a:rPr lang="zh-CN" altLang="en-US"/>
              <a:t>公司愿意按每张</a:t>
            </a:r>
            <a:r>
              <a:rPr lang="en-US" altLang="zh-CN">
                <a:latin typeface="Times New Roman" panose="02020603050405020304" pitchFamily="18" charset="0"/>
                <a:cs typeface="Times New Roman" panose="02020603050405020304" pitchFamily="18" charset="0"/>
              </a:rPr>
              <a:t>100</a:t>
            </a:r>
            <a:r>
              <a:rPr lang="zh-CN" altLang="en-US"/>
              <a:t>元的价格发行吗？你会以每张</a:t>
            </a:r>
            <a:r>
              <a:rPr lang="en-US" altLang="zh-CN">
                <a:latin typeface="Times New Roman" panose="02020603050405020304" pitchFamily="18" charset="0"/>
                <a:cs typeface="Times New Roman" panose="02020603050405020304" pitchFamily="18" charset="0"/>
              </a:rPr>
              <a:t>100</a:t>
            </a:r>
            <a:r>
              <a:rPr lang="zh-CN" altLang="en-US"/>
              <a:t>元的价格购买债券吗？</a:t>
            </a:r>
          </a:p>
          <a:p>
            <a:pPr eaLnBrk="1" hangingPunct="1">
              <a:lnSpc>
                <a:spcPct val="90000"/>
              </a:lnSpc>
            </a:pPr>
            <a:r>
              <a:rPr lang="zh-CN" altLang="en-US"/>
              <a:t>只有支付比面值更低的价格，投资者才会购买债券</a:t>
            </a:r>
            <a:endParaRPr lang="en-US" altLang="zh-CN"/>
          </a:p>
          <a:p>
            <a:pPr eaLnBrk="1" hangingPunct="1">
              <a:lnSpc>
                <a:spcPct val="90000"/>
              </a:lnSpc>
            </a:pPr>
            <a:r>
              <a:rPr lang="zh-CN" altLang="en-US"/>
              <a:t>在这种情况下，就会导致债券</a:t>
            </a:r>
            <a:r>
              <a:rPr lang="zh-CN" altLang="en-US" b="1">
                <a:solidFill>
                  <a:schemeClr val="hlink"/>
                </a:solidFill>
                <a:ea typeface="楷体_GB2312" panose="02010609030101010101" pitchFamily="49" charset="-122"/>
              </a:rPr>
              <a:t>折价发行</a:t>
            </a:r>
            <a:r>
              <a:rPr lang="zh-CN" altLang="en-US"/>
              <a:t>。这部分折价差额，属于债券发行者由于日后少付利息而给予债券购买者的</a:t>
            </a:r>
            <a:r>
              <a:rPr lang="zh-CN" altLang="en-US" b="1">
                <a:solidFill>
                  <a:schemeClr val="hlink"/>
                </a:solidFill>
                <a:ea typeface="楷体_GB2312" panose="02010609030101010101" pitchFamily="49" charset="-122"/>
              </a:rPr>
              <a:t>利息补偿</a:t>
            </a:r>
            <a:r>
              <a:rPr lang="zh-CN" altLang="en-US"/>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2563">
                                            <p:txEl>
                                              <p:pRg st="1" end="1"/>
                                            </p:txEl>
                                          </p:spTgt>
                                        </p:tgtEl>
                                        <p:attrNameLst>
                                          <p:attrName>style.visibility</p:attrName>
                                        </p:attrNameLst>
                                      </p:cBhvr>
                                      <p:to>
                                        <p:strVal val="visible"/>
                                      </p:to>
                                    </p:set>
                                    <p:animEffect transition="in" filter="blinds(horizontal)">
                                      <p:cBhvr>
                                        <p:cTn id="7" dur="500"/>
                                        <p:tgtEl>
                                          <p:spTgt spid="3225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22563">
                                            <p:txEl>
                                              <p:pRg st="2" end="2"/>
                                            </p:txEl>
                                          </p:spTgt>
                                        </p:tgtEl>
                                        <p:attrNameLst>
                                          <p:attrName>style.visibility</p:attrName>
                                        </p:attrNameLst>
                                      </p:cBhvr>
                                      <p:to>
                                        <p:strVal val="visible"/>
                                      </p:to>
                                    </p:set>
                                    <p:animEffect transition="in" filter="blinds(horizontal)">
                                      <p:cBhvr>
                                        <p:cTn id="12" dur="500"/>
                                        <p:tgtEl>
                                          <p:spTgt spid="3225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zh-CN" altLang="en-US"/>
              <a:t>溢折价的计算</a:t>
            </a:r>
          </a:p>
        </p:txBody>
      </p:sp>
      <p:sp>
        <p:nvSpPr>
          <p:cNvPr id="56323" name="Rectangle 3"/>
          <p:cNvSpPr>
            <a:spLocks noGrp="1" noChangeArrowheads="1"/>
          </p:cNvSpPr>
          <p:nvPr>
            <p:ph type="body" sz="half" idx="1"/>
          </p:nvPr>
        </p:nvSpPr>
        <p:spPr>
          <a:xfrm>
            <a:off x="1182688" y="2017713"/>
            <a:ext cx="7350125" cy="4114800"/>
          </a:xfrm>
        </p:spPr>
        <p:txBody>
          <a:bodyPr/>
          <a:lstStyle/>
          <a:p>
            <a:pPr eaLnBrk="1" hangingPunct="1"/>
            <a:r>
              <a:rPr lang="zh-CN" altLang="en-US" sz="2800"/>
              <a:t>你愿意多支付和只愿意少支付的金额是多少？这是如何计算的？</a:t>
            </a:r>
          </a:p>
          <a:p>
            <a:pPr eaLnBrk="1" hangingPunct="1"/>
            <a:r>
              <a:rPr lang="zh-CN" altLang="en-US" sz="2800"/>
              <a:t>取决于债券的价值（未来现金流量现值）</a:t>
            </a:r>
          </a:p>
          <a:p>
            <a:pPr lvl="1" eaLnBrk="1" hangingPunct="1"/>
            <a:r>
              <a:rPr lang="zh-CN" altLang="en-US" sz="2400"/>
              <a:t>未来每期的现金流量（</a:t>
            </a:r>
            <a:r>
              <a:rPr lang="en-US" altLang="zh-CN" sz="2400">
                <a:latin typeface="Times New Roman" panose="02020603050405020304" pitchFamily="18" charset="0"/>
                <a:cs typeface="Times New Roman" panose="02020603050405020304" pitchFamily="18" charset="0"/>
              </a:rPr>
              <a:t>CF</a:t>
            </a:r>
            <a:r>
              <a:rPr lang="zh-CN" altLang="en-US" sz="2400"/>
              <a:t>）</a:t>
            </a:r>
          </a:p>
          <a:p>
            <a:pPr lvl="1" eaLnBrk="1" hangingPunct="1"/>
            <a:r>
              <a:rPr lang="zh-CN" altLang="en-US" sz="2400"/>
              <a:t>折现率</a:t>
            </a:r>
            <a:r>
              <a:rPr lang="en-US" altLang="zh-CN" sz="2400">
                <a:latin typeface="Times New Roman" panose="02020603050405020304" pitchFamily="18" charset="0"/>
                <a:cs typeface="Times New Roman" panose="02020603050405020304" pitchFamily="18" charset="0"/>
              </a:rPr>
              <a:t>(r)</a:t>
            </a:r>
            <a:r>
              <a:rPr lang="zh-CN" altLang="en-US" sz="2400"/>
              <a:t>（要求的报酬率或市场利率）</a:t>
            </a:r>
          </a:p>
          <a:p>
            <a:pPr lvl="1" eaLnBrk="1" hangingPunct="1"/>
            <a:endParaRPr lang="en-US" altLang="zh-CN" sz="2400"/>
          </a:p>
        </p:txBody>
      </p:sp>
      <p:graphicFrame>
        <p:nvGraphicFramePr>
          <p:cNvPr id="56324" name="Object 9"/>
          <p:cNvGraphicFramePr>
            <a:graphicFrameLocks noGrp="1" noChangeAspect="1"/>
          </p:cNvGraphicFramePr>
          <p:nvPr>
            <p:ph sz="half" idx="2"/>
          </p:nvPr>
        </p:nvGraphicFramePr>
        <p:xfrm>
          <a:off x="2003425" y="4508500"/>
          <a:ext cx="3619500" cy="1098550"/>
        </p:xfrm>
        <a:graphic>
          <a:graphicData uri="http://schemas.openxmlformats.org/presentationml/2006/ole">
            <mc:AlternateContent xmlns:mc="http://schemas.openxmlformats.org/markup-compatibility/2006">
              <mc:Choice xmlns:v="urn:schemas-microsoft-com:vml" Requires="v">
                <p:oleObj spid="_x0000_s56356" name="Equation" r:id="rId3" imgW="1422400" imgH="431800" progId="Equation.DSMT4">
                  <p:embed/>
                </p:oleObj>
              </mc:Choice>
              <mc:Fallback>
                <p:oleObj name="Equation" r:id="rId3" imgW="1422400" imgH="431800" progId="Equation.DSMT4">
                  <p:embed/>
                  <p:pic>
                    <p:nvPicPr>
                      <p:cNvPr id="0" name="Object 9"/>
                      <p:cNvPicPr>
                        <a:picLocks noChangeAspect="1" noChangeArrowheads="1"/>
                      </p:cNvPicPr>
                      <p:nvPr/>
                    </p:nvPicPr>
                    <p:blipFill>
                      <a:blip r:embed="rId4"/>
                      <a:srcRect/>
                      <a:stretch>
                        <a:fillRect/>
                      </a:stretch>
                    </p:blipFill>
                    <p:spPr bwMode="auto">
                      <a:xfrm>
                        <a:off x="2003425" y="4508500"/>
                        <a:ext cx="3619500" cy="1098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1</a:t>
            </a:r>
          </a:p>
        </p:txBody>
      </p:sp>
      <p:sp>
        <p:nvSpPr>
          <p:cNvPr id="57347" name="Rectangle 3"/>
          <p:cNvSpPr>
            <a:spLocks noGrp="1" noChangeArrowheads="1"/>
          </p:cNvSpPr>
          <p:nvPr>
            <p:ph type="body" idx="1"/>
          </p:nvPr>
        </p:nvSpPr>
        <p:spPr/>
        <p:txBody>
          <a:bodyPr/>
          <a:lstStyle/>
          <a:p>
            <a:pPr eaLnBrk="1" hangingPunct="1"/>
            <a:r>
              <a:rPr lang="en-US" altLang="zh-CN">
                <a:latin typeface="Times New Roman" panose="02020603050405020304" pitchFamily="18" charset="0"/>
                <a:cs typeface="Times New Roman" panose="02020603050405020304" pitchFamily="18" charset="0"/>
              </a:rPr>
              <a:t>2×19</a:t>
            </a:r>
            <a:r>
              <a:rPr lang="zh-CN" altLang="en-US"/>
              <a:t>年</a:t>
            </a:r>
            <a:r>
              <a:rPr lang="en-US" altLang="zh-CN">
                <a:latin typeface="Times New Roman" panose="02020603050405020304" pitchFamily="18" charset="0"/>
                <a:cs typeface="Times New Roman" panose="02020603050405020304" pitchFamily="18" charset="0"/>
              </a:rPr>
              <a:t>12</a:t>
            </a:r>
            <a:r>
              <a:rPr lang="zh-CN" altLang="en-US"/>
              <a:t>月，</a:t>
            </a:r>
            <a:r>
              <a:rPr lang="en-US" altLang="zh-CN">
                <a:latin typeface="Times New Roman" panose="02020603050405020304" pitchFamily="18" charset="0"/>
                <a:cs typeface="Times New Roman" panose="02020603050405020304" pitchFamily="18" charset="0"/>
              </a:rPr>
              <a:t>P</a:t>
            </a:r>
            <a:r>
              <a:rPr lang="zh-CN" altLang="en-US"/>
              <a:t>公司决定于</a:t>
            </a:r>
            <a:r>
              <a:rPr lang="en-US" altLang="zh-CN">
                <a:latin typeface="Times New Roman" panose="02020603050405020304" pitchFamily="18" charset="0"/>
                <a:ea typeface="楷体_GB2312" panose="02010609030101010101" pitchFamily="49" charset="-122"/>
                <a:cs typeface="Times New Roman" panose="02020603050405020304" pitchFamily="18" charset="0"/>
              </a:rPr>
              <a:t>2×20</a:t>
            </a:r>
            <a:r>
              <a:rPr lang="zh-CN" altLang="en-US"/>
              <a:t>年</a:t>
            </a:r>
            <a:r>
              <a:rPr lang="en-US" altLang="zh-CN">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a:t>月</a:t>
            </a:r>
            <a:r>
              <a:rPr lang="en-US" altLang="zh-CN">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a:t>日发行每张面值为</a:t>
            </a:r>
            <a:r>
              <a:rPr lang="en-US" altLang="zh-CN">
                <a:latin typeface="Times New Roman" panose="02020603050405020304" pitchFamily="18" charset="0"/>
                <a:ea typeface="楷体_GB2312" panose="02010609030101010101" pitchFamily="49" charset="-122"/>
                <a:cs typeface="Times New Roman" panose="02020603050405020304" pitchFamily="18" charset="0"/>
              </a:rPr>
              <a:t>100</a:t>
            </a:r>
            <a:r>
              <a:rPr lang="zh-CN" altLang="en-US"/>
              <a:t>元，票面利率为</a:t>
            </a:r>
            <a:r>
              <a:rPr lang="en-US" altLang="zh-CN">
                <a:latin typeface="Times New Roman" panose="02020603050405020304" pitchFamily="18" charset="0"/>
                <a:ea typeface="楷体_GB2312" panose="02010609030101010101" pitchFamily="49" charset="-122"/>
                <a:cs typeface="Times New Roman" panose="02020603050405020304" pitchFamily="18" charset="0"/>
              </a:rPr>
              <a:t>8%</a:t>
            </a:r>
            <a:r>
              <a:rPr lang="zh-CN" altLang="en-US"/>
              <a:t>，期限为</a:t>
            </a:r>
            <a:r>
              <a:rPr lang="en-US" altLang="zh-CN">
                <a:latin typeface="Times New Roman" panose="02020603050405020304" pitchFamily="18" charset="0"/>
                <a:ea typeface="楷体_GB2312" panose="02010609030101010101" pitchFamily="49" charset="-122"/>
                <a:cs typeface="Times New Roman" panose="02020603050405020304" pitchFamily="18" charset="0"/>
              </a:rPr>
              <a:t>2</a:t>
            </a:r>
            <a:r>
              <a:rPr lang="zh-CN" altLang="en-US"/>
              <a:t>年的债券</a:t>
            </a:r>
            <a:r>
              <a:rPr lang="en-US" altLang="zh-CN">
                <a:latin typeface="Times New Roman" panose="02020603050405020304" pitchFamily="18" charset="0"/>
                <a:ea typeface="楷体_GB2312" panose="02010609030101010101" pitchFamily="49" charset="-122"/>
                <a:cs typeface="Times New Roman" panose="02020603050405020304" pitchFamily="18" charset="0"/>
              </a:rPr>
              <a:t>5 000</a:t>
            </a:r>
            <a:r>
              <a:rPr lang="zh-CN" altLang="en-US"/>
              <a:t>万。每年年末支付利息。</a:t>
            </a:r>
            <a:r>
              <a:rPr lang="en-US" altLang="zh-CN">
                <a:latin typeface="Times New Roman" panose="02020603050405020304" pitchFamily="18" charset="0"/>
                <a:ea typeface="楷体_GB2312" panose="02010609030101010101" pitchFamily="49" charset="-122"/>
                <a:cs typeface="Times New Roman" panose="02020603050405020304" pitchFamily="18" charset="0"/>
              </a:rPr>
              <a:t>2×20</a:t>
            </a:r>
            <a:r>
              <a:rPr lang="zh-CN" altLang="en-US"/>
              <a:t>年</a:t>
            </a:r>
            <a:r>
              <a:rPr lang="en-US" altLang="zh-CN">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a:t>月</a:t>
            </a:r>
            <a:r>
              <a:rPr lang="en-US" altLang="zh-CN"/>
              <a:t>1</a:t>
            </a:r>
            <a:r>
              <a:rPr lang="zh-CN" altLang="en-US"/>
              <a:t>日的市场利率为</a:t>
            </a:r>
            <a:r>
              <a:rPr lang="en-US" altLang="zh-CN">
                <a:latin typeface="Times New Roman" panose="02020603050405020304" pitchFamily="18" charset="0"/>
                <a:cs typeface="Times New Roman" panose="02020603050405020304" pitchFamily="18" charset="0"/>
              </a:rPr>
              <a:t>6%</a:t>
            </a:r>
            <a:r>
              <a:rPr lang="zh-CN" altLang="en-US"/>
              <a:t>。假定你购买了</a:t>
            </a:r>
            <a:r>
              <a:rPr lang="en-US" altLang="zh-CN">
                <a:latin typeface="Times New Roman" panose="02020603050405020304" pitchFamily="18" charset="0"/>
                <a:cs typeface="Times New Roman" panose="02020603050405020304" pitchFamily="18" charset="0"/>
              </a:rPr>
              <a:t>100</a:t>
            </a:r>
            <a:r>
              <a:rPr lang="zh-CN" altLang="en-US"/>
              <a:t>张，则其价值应为多少？</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5"/>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1</a:t>
            </a:r>
            <a:r>
              <a:rPr lang="zh-CN" altLang="en-US"/>
              <a:t>（续）</a:t>
            </a:r>
          </a:p>
        </p:txBody>
      </p:sp>
      <p:sp>
        <p:nvSpPr>
          <p:cNvPr id="58371" name="Rectangle 3"/>
          <p:cNvSpPr>
            <a:spLocks noGrp="1" noChangeArrowheads="1"/>
          </p:cNvSpPr>
          <p:nvPr>
            <p:ph type="body" sz="half" idx="1"/>
          </p:nvPr>
        </p:nvSpPr>
        <p:spPr>
          <a:xfrm>
            <a:off x="1182688" y="2017713"/>
            <a:ext cx="7637462" cy="4114800"/>
          </a:xfrm>
        </p:spPr>
        <p:txBody>
          <a:bodyPr/>
          <a:lstStyle/>
          <a:p>
            <a:pPr marL="0" indent="0" eaLnBrk="1" hangingPunct="1">
              <a:buNone/>
            </a:pPr>
            <a:r>
              <a:rPr lang="en-US" altLang="zh-CN" sz="2800" dirty="0"/>
              <a:t>                    </a:t>
            </a:r>
            <a:r>
              <a:rPr lang="en-US" altLang="zh-CN" dirty="0"/>
              <a:t>       </a:t>
            </a:r>
            <a:r>
              <a:rPr lang="zh-CN" altLang="en-US" dirty="0"/>
              <a:t>未来现金流量</a:t>
            </a:r>
          </a:p>
          <a:p>
            <a:pPr eaLnBrk="1" hangingPunct="1"/>
            <a:r>
              <a:rPr lang="en-US" altLang="zh-CN" dirty="0">
                <a:latin typeface="Times New Roman" panose="02020603050405020304" pitchFamily="18" charset="0"/>
                <a:cs typeface="Times New Roman" panose="02020603050405020304" pitchFamily="18" charset="0"/>
              </a:rPr>
              <a:t>2×20</a:t>
            </a:r>
            <a:r>
              <a:rPr lang="zh-CN" altLang="en-US" dirty="0"/>
              <a:t>年</a:t>
            </a:r>
            <a:r>
              <a:rPr lang="en-US" altLang="zh-CN" dirty="0">
                <a:latin typeface="Times New Roman" panose="02020603050405020304" pitchFamily="18" charset="0"/>
                <a:cs typeface="Times New Roman" panose="02020603050405020304" pitchFamily="18" charset="0"/>
              </a:rPr>
              <a:t>12</a:t>
            </a:r>
            <a:r>
              <a:rPr lang="zh-CN" altLang="en-US" dirty="0"/>
              <a:t>月</a:t>
            </a:r>
            <a:r>
              <a:rPr lang="en-US" altLang="zh-CN" dirty="0">
                <a:latin typeface="Times New Roman" panose="02020603050405020304" pitchFamily="18" charset="0"/>
                <a:cs typeface="Times New Roman" panose="02020603050405020304" pitchFamily="18" charset="0"/>
              </a:rPr>
              <a:t>31</a:t>
            </a:r>
            <a:r>
              <a:rPr lang="zh-CN" altLang="en-US" dirty="0"/>
              <a:t>日                </a:t>
            </a:r>
            <a:r>
              <a:rPr lang="en-US" altLang="zh-CN" dirty="0">
                <a:latin typeface="Times New Roman" panose="02020603050405020304" pitchFamily="18" charset="0"/>
                <a:cs typeface="Times New Roman" panose="02020603050405020304" pitchFamily="18" charset="0"/>
              </a:rPr>
              <a:t> 800 </a:t>
            </a:r>
            <a:endParaRPr lang="en-US" altLang="zh-CN" dirty="0"/>
          </a:p>
          <a:p>
            <a:pPr eaLnBrk="1" hangingPunct="1"/>
            <a:r>
              <a:rPr lang="en-US" altLang="zh-CN" dirty="0">
                <a:latin typeface="Times New Roman" panose="02020603050405020304" pitchFamily="18" charset="0"/>
                <a:cs typeface="Times New Roman" panose="02020603050405020304" pitchFamily="18" charset="0"/>
              </a:rPr>
              <a:t>2×21</a:t>
            </a:r>
            <a:r>
              <a:rPr lang="zh-CN" altLang="en-US" dirty="0"/>
              <a:t>年</a:t>
            </a:r>
            <a:r>
              <a:rPr lang="en-US" altLang="zh-CN" dirty="0">
                <a:latin typeface="Times New Roman" panose="02020603050405020304" pitchFamily="18" charset="0"/>
                <a:cs typeface="Times New Roman" panose="02020603050405020304" pitchFamily="18" charset="0"/>
              </a:rPr>
              <a:t>12</a:t>
            </a:r>
            <a:r>
              <a:rPr lang="zh-CN" altLang="en-US" dirty="0"/>
              <a:t>月</a:t>
            </a:r>
            <a:r>
              <a:rPr lang="en-US" altLang="zh-CN" dirty="0">
                <a:latin typeface="Times New Roman" panose="02020603050405020304" pitchFamily="18" charset="0"/>
                <a:cs typeface="Times New Roman" panose="02020603050405020304" pitchFamily="18" charset="0"/>
              </a:rPr>
              <a:t>31</a:t>
            </a:r>
            <a:r>
              <a:rPr lang="zh-CN" altLang="en-US" dirty="0"/>
              <a:t>日         </a:t>
            </a:r>
            <a:r>
              <a:rPr lang="en-US" altLang="zh-CN" dirty="0">
                <a:latin typeface="Times New Roman" panose="02020603050405020304" pitchFamily="18" charset="0"/>
                <a:cs typeface="Times New Roman" panose="02020603050405020304" pitchFamily="18" charset="0"/>
              </a:rPr>
              <a:t>10 800(10 000+800)</a:t>
            </a:r>
            <a:endParaRPr lang="en-US" altLang="zh-CN" dirty="0"/>
          </a:p>
          <a:p>
            <a:pPr eaLnBrk="1" hangingPunct="1"/>
            <a:r>
              <a:rPr lang="zh-CN" altLang="en-US" dirty="0"/>
              <a:t>折现率：</a:t>
            </a:r>
            <a:r>
              <a:rPr lang="en-US" altLang="zh-CN" dirty="0">
                <a:latin typeface="Times New Roman" panose="02020603050405020304" pitchFamily="18" charset="0"/>
                <a:cs typeface="Times New Roman" panose="02020603050405020304" pitchFamily="18" charset="0"/>
              </a:rPr>
              <a:t>6%</a:t>
            </a:r>
            <a:r>
              <a:rPr lang="zh-CN" altLang="en-US" dirty="0"/>
              <a:t>（为什么不是</a:t>
            </a:r>
            <a:r>
              <a:rPr lang="en-US" altLang="zh-CN" dirty="0">
                <a:latin typeface="Times New Roman" panose="02020603050405020304" pitchFamily="18" charset="0"/>
                <a:cs typeface="Times New Roman" panose="02020603050405020304" pitchFamily="18" charset="0"/>
              </a:rPr>
              <a:t>8%</a:t>
            </a:r>
            <a:r>
              <a:rPr lang="zh-CN" altLang="en-US" dirty="0"/>
              <a:t>？）</a:t>
            </a:r>
          </a:p>
          <a:p>
            <a:pPr eaLnBrk="1" hangingPunct="1"/>
            <a:r>
              <a:rPr lang="zh-CN" altLang="en-US" dirty="0"/>
              <a:t>原因：折现率应为要求的报酬率</a:t>
            </a:r>
          </a:p>
          <a:p>
            <a:pPr eaLnBrk="1" hangingPunct="1"/>
            <a:endParaRPr lang="zh-CN" altLang="en-US" dirty="0"/>
          </a:p>
          <a:p>
            <a:pPr eaLnBrk="1" hangingPunct="1"/>
            <a:endParaRPr lang="zh-CN" altLang="en-US" dirty="0"/>
          </a:p>
          <a:p>
            <a:pPr eaLnBrk="1" hangingPunct="1"/>
            <a:r>
              <a:rPr lang="en-US" altLang="zh-CN" dirty="0">
                <a:latin typeface="Times New Roman" panose="02020603050405020304" pitchFamily="18" charset="0"/>
                <a:cs typeface="Times New Roman" panose="02020603050405020304" pitchFamily="18" charset="0"/>
              </a:rPr>
              <a:t>Value=PV(6%,2,800,10 000)=10 366.68</a:t>
            </a:r>
          </a:p>
        </p:txBody>
      </p:sp>
      <p:graphicFrame>
        <p:nvGraphicFramePr>
          <p:cNvPr id="58372" name="Object 8"/>
          <p:cNvGraphicFramePr>
            <a:graphicFrameLocks noGrp="1" noChangeAspect="1"/>
          </p:cNvGraphicFramePr>
          <p:nvPr>
            <p:ph sz="half" idx="2"/>
          </p:nvPr>
        </p:nvGraphicFramePr>
        <p:xfrm>
          <a:off x="1347788" y="4518978"/>
          <a:ext cx="6121400" cy="863600"/>
        </p:xfrm>
        <a:graphic>
          <a:graphicData uri="http://schemas.openxmlformats.org/presentationml/2006/ole">
            <mc:AlternateContent xmlns:mc="http://schemas.openxmlformats.org/markup-compatibility/2006">
              <mc:Choice xmlns:v="urn:schemas-microsoft-com:vml" Requires="v">
                <p:oleObj spid="_x0000_s58404" name="Equation" r:id="rId3" imgW="2971800" imgH="419100" progId="Equation.DSMT4">
                  <p:embed/>
                </p:oleObj>
              </mc:Choice>
              <mc:Fallback>
                <p:oleObj name="Equation" r:id="rId3" imgW="2971800" imgH="419100" progId="Equation.DSMT4">
                  <p:embed/>
                  <p:pic>
                    <p:nvPicPr>
                      <p:cNvPr id="0" name="Object 8"/>
                      <p:cNvPicPr>
                        <a:picLocks noChangeAspect="1" noChangeArrowheads="1"/>
                      </p:cNvPicPr>
                      <p:nvPr/>
                    </p:nvPicPr>
                    <p:blipFill>
                      <a:blip r:embed="rId4"/>
                      <a:srcRect/>
                      <a:stretch>
                        <a:fillRect/>
                      </a:stretch>
                    </p:blipFill>
                    <p:spPr bwMode="auto">
                      <a:xfrm>
                        <a:off x="1347788" y="4518978"/>
                        <a:ext cx="61214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2</a:t>
            </a:r>
          </a:p>
        </p:txBody>
      </p:sp>
      <p:sp>
        <p:nvSpPr>
          <p:cNvPr id="59395" name="Rectangle 3"/>
          <p:cNvSpPr>
            <a:spLocks noGrp="1" noChangeArrowheads="1"/>
          </p:cNvSpPr>
          <p:nvPr>
            <p:ph type="body" idx="1"/>
          </p:nvPr>
        </p:nvSpPr>
        <p:spPr/>
        <p:txBody>
          <a:bodyPr/>
          <a:lstStyle/>
          <a:p>
            <a:pPr eaLnBrk="1" hangingPunct="1"/>
            <a:r>
              <a:rPr lang="en-US" altLang="zh-CN">
                <a:latin typeface="Times New Roman" panose="02020603050405020304" pitchFamily="18" charset="0"/>
                <a:cs typeface="Times New Roman" panose="02020603050405020304" pitchFamily="18" charset="0"/>
              </a:rPr>
              <a:t>2×19</a:t>
            </a:r>
            <a:r>
              <a:rPr lang="zh-CN" altLang="en-US"/>
              <a:t>年</a:t>
            </a:r>
            <a:r>
              <a:rPr lang="en-US" altLang="zh-CN">
                <a:latin typeface="Times New Roman" panose="02020603050405020304" pitchFamily="18" charset="0"/>
                <a:cs typeface="Times New Roman" panose="02020603050405020304" pitchFamily="18" charset="0"/>
              </a:rPr>
              <a:t>12</a:t>
            </a:r>
            <a:r>
              <a:rPr lang="zh-CN" altLang="en-US"/>
              <a:t>月，</a:t>
            </a:r>
            <a:r>
              <a:rPr lang="en-US" altLang="zh-CN">
                <a:latin typeface="Times New Roman" panose="02020603050405020304" pitchFamily="18" charset="0"/>
                <a:cs typeface="Times New Roman" panose="02020603050405020304" pitchFamily="18" charset="0"/>
              </a:rPr>
              <a:t>P</a:t>
            </a:r>
            <a:r>
              <a:rPr lang="zh-CN" altLang="en-US"/>
              <a:t>公司决定于</a:t>
            </a:r>
            <a:r>
              <a:rPr lang="en-US" altLang="zh-CN">
                <a:latin typeface="Times New Roman" panose="02020603050405020304" pitchFamily="18" charset="0"/>
                <a:cs typeface="Times New Roman" panose="02020603050405020304" pitchFamily="18" charset="0"/>
              </a:rPr>
              <a:t>2×20</a:t>
            </a:r>
            <a:r>
              <a:rPr lang="zh-CN" altLang="en-US"/>
              <a:t>年</a:t>
            </a:r>
            <a:r>
              <a:rPr lang="en-US" altLang="zh-CN">
                <a:latin typeface="Times New Roman" panose="02020603050405020304" pitchFamily="18" charset="0"/>
                <a:cs typeface="Times New Roman" panose="02020603050405020304" pitchFamily="18" charset="0"/>
              </a:rPr>
              <a:t>1</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日发行每张面值为</a:t>
            </a:r>
            <a:r>
              <a:rPr lang="en-US" altLang="zh-CN">
                <a:latin typeface="Times New Roman" panose="02020603050405020304" pitchFamily="18" charset="0"/>
                <a:cs typeface="Times New Roman" panose="02020603050405020304" pitchFamily="18" charset="0"/>
              </a:rPr>
              <a:t>100</a:t>
            </a:r>
            <a:r>
              <a:rPr lang="zh-CN" altLang="en-US"/>
              <a:t>元，票面利率为</a:t>
            </a:r>
            <a:r>
              <a:rPr lang="en-US" altLang="zh-CN">
                <a:latin typeface="Times New Roman" panose="02020603050405020304" pitchFamily="18" charset="0"/>
                <a:cs typeface="Times New Roman" panose="02020603050405020304" pitchFamily="18" charset="0"/>
              </a:rPr>
              <a:t>8%</a:t>
            </a:r>
            <a:r>
              <a:rPr lang="zh-CN" altLang="en-US"/>
              <a:t>，期限为</a:t>
            </a:r>
            <a:r>
              <a:rPr lang="en-US" altLang="zh-CN">
                <a:latin typeface="Times New Roman" panose="02020603050405020304" pitchFamily="18" charset="0"/>
                <a:cs typeface="Times New Roman" panose="02020603050405020304" pitchFamily="18" charset="0"/>
              </a:rPr>
              <a:t>2</a:t>
            </a:r>
            <a:r>
              <a:rPr lang="zh-CN" altLang="en-US"/>
              <a:t>年的债券</a:t>
            </a:r>
            <a:r>
              <a:rPr lang="en-US" altLang="zh-CN">
                <a:latin typeface="Times New Roman" panose="02020603050405020304" pitchFamily="18" charset="0"/>
                <a:cs typeface="Times New Roman" panose="02020603050405020304" pitchFamily="18" charset="0"/>
              </a:rPr>
              <a:t>5 000</a:t>
            </a:r>
            <a:r>
              <a:rPr lang="zh-CN" altLang="en-US"/>
              <a:t>万。每年年末支付利息。</a:t>
            </a:r>
            <a:r>
              <a:rPr lang="en-US" altLang="zh-CN">
                <a:latin typeface="Times New Roman" panose="02020603050405020304" pitchFamily="18" charset="0"/>
                <a:cs typeface="Times New Roman" panose="02020603050405020304" pitchFamily="18" charset="0"/>
              </a:rPr>
              <a:t>2×20</a:t>
            </a:r>
            <a:r>
              <a:rPr lang="zh-CN" altLang="en-US"/>
              <a:t>年</a:t>
            </a:r>
            <a:r>
              <a:rPr lang="en-US" altLang="zh-CN">
                <a:latin typeface="Times New Roman" panose="02020603050405020304" pitchFamily="18" charset="0"/>
                <a:cs typeface="Times New Roman" panose="02020603050405020304" pitchFamily="18" charset="0"/>
              </a:rPr>
              <a:t>1</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日的市场利率为</a:t>
            </a:r>
            <a:r>
              <a:rPr lang="en-US" altLang="zh-CN">
                <a:latin typeface="Times New Roman" panose="02020603050405020304" pitchFamily="18" charset="0"/>
                <a:cs typeface="Times New Roman" panose="02020603050405020304" pitchFamily="18" charset="0"/>
              </a:rPr>
              <a:t>10%</a:t>
            </a:r>
            <a:r>
              <a:rPr lang="zh-CN" altLang="en-US"/>
              <a:t>。假定你购买了</a:t>
            </a:r>
            <a:r>
              <a:rPr lang="en-US" altLang="zh-CN">
                <a:latin typeface="Times New Roman" panose="02020603050405020304" pitchFamily="18" charset="0"/>
                <a:cs typeface="Times New Roman" panose="02020603050405020304" pitchFamily="18" charset="0"/>
              </a:rPr>
              <a:t>100</a:t>
            </a:r>
            <a:r>
              <a:rPr lang="zh-CN" altLang="en-US"/>
              <a:t>张，则其价值应为多少？</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150938" y="620713"/>
            <a:ext cx="7793037" cy="1055687"/>
          </a:xfrm>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2</a:t>
            </a:r>
            <a:r>
              <a:rPr lang="zh-CN" altLang="en-US"/>
              <a:t>（续）</a:t>
            </a:r>
          </a:p>
        </p:txBody>
      </p:sp>
      <p:sp>
        <p:nvSpPr>
          <p:cNvPr id="60419" name="Rectangle 3"/>
          <p:cNvSpPr>
            <a:spLocks noGrp="1" noChangeArrowheads="1"/>
          </p:cNvSpPr>
          <p:nvPr>
            <p:ph type="body" sz="half" idx="1"/>
          </p:nvPr>
        </p:nvSpPr>
        <p:spPr>
          <a:xfrm>
            <a:off x="1182688" y="2017713"/>
            <a:ext cx="7637462" cy="4114800"/>
          </a:xfrm>
        </p:spPr>
        <p:txBody>
          <a:bodyPr/>
          <a:lstStyle/>
          <a:p>
            <a:pPr marL="0" indent="0" eaLnBrk="1" hangingPunct="1">
              <a:buNone/>
            </a:pPr>
            <a:r>
              <a:rPr lang="en-US" altLang="zh-CN" sz="2800" dirty="0"/>
              <a:t> </a:t>
            </a:r>
            <a:r>
              <a:rPr lang="en-US" altLang="zh-CN" dirty="0"/>
              <a:t>                            </a:t>
            </a:r>
            <a:r>
              <a:rPr lang="zh-CN" altLang="en-US" dirty="0"/>
              <a:t>未来现金流量</a:t>
            </a:r>
          </a:p>
          <a:p>
            <a:pPr eaLnBrk="1" hangingPunct="1"/>
            <a:r>
              <a:rPr lang="en-US" altLang="zh-CN" dirty="0">
                <a:latin typeface="Times New Roman" panose="02020603050405020304" pitchFamily="18" charset="0"/>
                <a:cs typeface="Times New Roman" panose="02020603050405020304" pitchFamily="18" charset="0"/>
              </a:rPr>
              <a:t>2×20</a:t>
            </a:r>
            <a:r>
              <a:rPr lang="zh-CN" altLang="en-US" dirty="0"/>
              <a:t>年</a:t>
            </a:r>
            <a:r>
              <a:rPr lang="en-US" altLang="zh-CN" dirty="0">
                <a:latin typeface="Times New Roman" panose="02020603050405020304" pitchFamily="18" charset="0"/>
                <a:cs typeface="Times New Roman" panose="02020603050405020304" pitchFamily="18" charset="0"/>
              </a:rPr>
              <a:t>12</a:t>
            </a:r>
            <a:r>
              <a:rPr lang="zh-CN" altLang="en-US" dirty="0"/>
              <a:t>月</a:t>
            </a:r>
            <a:r>
              <a:rPr lang="en-US" altLang="zh-CN" dirty="0">
                <a:latin typeface="Times New Roman" panose="02020603050405020304" pitchFamily="18" charset="0"/>
                <a:cs typeface="Times New Roman" panose="02020603050405020304" pitchFamily="18" charset="0"/>
              </a:rPr>
              <a:t>31</a:t>
            </a:r>
            <a:r>
              <a:rPr lang="zh-CN" altLang="en-US" dirty="0"/>
              <a:t>日                 </a:t>
            </a:r>
            <a:r>
              <a:rPr lang="en-US" altLang="zh-CN" dirty="0">
                <a:latin typeface="Times New Roman" panose="02020603050405020304" pitchFamily="18" charset="0"/>
                <a:cs typeface="Times New Roman" panose="02020603050405020304" pitchFamily="18" charset="0"/>
              </a:rPr>
              <a:t> 800</a:t>
            </a:r>
            <a:endParaRPr lang="en-US" altLang="zh-CN" dirty="0"/>
          </a:p>
          <a:p>
            <a:pPr eaLnBrk="1" hangingPunct="1"/>
            <a:r>
              <a:rPr lang="en-US" altLang="zh-CN" dirty="0">
                <a:latin typeface="Times New Roman" panose="02020603050405020304" pitchFamily="18" charset="0"/>
                <a:cs typeface="Times New Roman" panose="02020603050405020304" pitchFamily="18" charset="0"/>
              </a:rPr>
              <a:t>2×21</a:t>
            </a:r>
            <a:r>
              <a:rPr lang="zh-CN" altLang="en-US" dirty="0"/>
              <a:t>年</a:t>
            </a:r>
            <a:r>
              <a:rPr lang="en-US" altLang="zh-CN" dirty="0">
                <a:latin typeface="Times New Roman" panose="02020603050405020304" pitchFamily="18" charset="0"/>
                <a:cs typeface="Times New Roman" panose="02020603050405020304" pitchFamily="18" charset="0"/>
              </a:rPr>
              <a:t>12</a:t>
            </a:r>
            <a:r>
              <a:rPr lang="zh-CN" altLang="en-US" dirty="0"/>
              <a:t>月</a:t>
            </a:r>
            <a:r>
              <a:rPr lang="en-US" altLang="zh-CN" dirty="0">
                <a:latin typeface="Times New Roman" panose="02020603050405020304" pitchFamily="18" charset="0"/>
                <a:cs typeface="Times New Roman" panose="02020603050405020304" pitchFamily="18" charset="0"/>
              </a:rPr>
              <a:t>31</a:t>
            </a:r>
            <a:r>
              <a:rPr lang="zh-CN" altLang="en-US" dirty="0"/>
              <a:t>日         </a:t>
            </a:r>
            <a:r>
              <a:rPr lang="en-US" altLang="zh-CN" dirty="0">
                <a:latin typeface="Times New Roman" panose="02020603050405020304" pitchFamily="18" charset="0"/>
                <a:cs typeface="Times New Roman" panose="02020603050405020304" pitchFamily="18" charset="0"/>
              </a:rPr>
              <a:t>10 800(10 000+800)</a:t>
            </a:r>
          </a:p>
          <a:p>
            <a:pPr eaLnBrk="1" hangingPunct="1"/>
            <a:r>
              <a:rPr lang="zh-CN" altLang="en-US" dirty="0"/>
              <a:t>折现率：</a:t>
            </a:r>
            <a:r>
              <a:rPr lang="en-US" altLang="zh-CN" dirty="0">
                <a:latin typeface="Times New Roman" panose="02020603050405020304" pitchFamily="18" charset="0"/>
                <a:cs typeface="Times New Roman" panose="02020603050405020304" pitchFamily="18" charset="0"/>
              </a:rPr>
              <a:t>10%</a:t>
            </a:r>
            <a:r>
              <a:rPr lang="zh-CN" altLang="en-US" dirty="0"/>
              <a:t>（为什么不是</a:t>
            </a:r>
            <a:r>
              <a:rPr lang="en-US" altLang="zh-CN" dirty="0">
                <a:latin typeface="Times New Roman" panose="02020603050405020304" pitchFamily="18" charset="0"/>
                <a:cs typeface="Times New Roman" panose="02020603050405020304" pitchFamily="18" charset="0"/>
              </a:rPr>
              <a:t>8%</a:t>
            </a:r>
            <a:r>
              <a:rPr lang="zh-CN" altLang="en-US" dirty="0"/>
              <a:t>？）</a:t>
            </a:r>
          </a:p>
          <a:p>
            <a:pPr eaLnBrk="1" hangingPunct="1"/>
            <a:r>
              <a:rPr lang="zh-CN" altLang="en-US" dirty="0"/>
              <a:t>折现率应为要求的报酬率</a:t>
            </a:r>
          </a:p>
          <a:p>
            <a:pPr eaLnBrk="1" hangingPunct="1"/>
            <a:endParaRPr lang="zh-CN" altLang="en-US" dirty="0"/>
          </a:p>
          <a:p>
            <a:pPr eaLnBrk="1" hangingPunct="1"/>
            <a:endParaRPr lang="zh-CN" altLang="en-US" dirty="0"/>
          </a:p>
          <a:p>
            <a:pPr eaLnBrk="1" hangingPunct="1"/>
            <a:r>
              <a:rPr lang="en-US" altLang="zh-CN" dirty="0">
                <a:latin typeface="Times New Roman" panose="02020603050405020304" pitchFamily="18" charset="0"/>
                <a:cs typeface="Times New Roman" panose="02020603050405020304" pitchFamily="18" charset="0"/>
              </a:rPr>
              <a:t>Value=PV(10%,2,800,10000)=9652.89</a:t>
            </a:r>
          </a:p>
        </p:txBody>
      </p:sp>
      <p:graphicFrame>
        <p:nvGraphicFramePr>
          <p:cNvPr id="60420" name="Object 4"/>
          <p:cNvGraphicFramePr>
            <a:graphicFrameLocks noGrp="1" noChangeAspect="1"/>
          </p:cNvGraphicFramePr>
          <p:nvPr>
            <p:ph sz="half" idx="2"/>
          </p:nvPr>
        </p:nvGraphicFramePr>
        <p:xfrm>
          <a:off x="1547813" y="4724400"/>
          <a:ext cx="6121400" cy="849313"/>
        </p:xfrm>
        <a:graphic>
          <a:graphicData uri="http://schemas.openxmlformats.org/presentationml/2006/ole">
            <mc:AlternateContent xmlns:mc="http://schemas.openxmlformats.org/markup-compatibility/2006">
              <mc:Choice xmlns:v="urn:schemas-microsoft-com:vml" Requires="v">
                <p:oleObj spid="_x0000_s60452" name="Equation" r:id="rId3" imgW="3022600" imgH="419100" progId="Equation.DSMT4">
                  <p:embed/>
                </p:oleObj>
              </mc:Choice>
              <mc:Fallback>
                <p:oleObj name="Equation" r:id="rId3" imgW="3022600" imgH="4191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4724400"/>
                        <a:ext cx="6121400" cy="849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zh-CN" altLang="en-US"/>
              <a:t>思考</a:t>
            </a:r>
          </a:p>
        </p:txBody>
      </p:sp>
      <p:sp>
        <p:nvSpPr>
          <p:cNvPr id="61443" name="Rectangle 3"/>
          <p:cNvSpPr>
            <a:spLocks noGrp="1" noChangeArrowheads="1"/>
          </p:cNvSpPr>
          <p:nvPr>
            <p:ph type="body" sz="half" idx="1"/>
          </p:nvPr>
        </p:nvSpPr>
        <p:spPr>
          <a:xfrm>
            <a:off x="1182688" y="2017713"/>
            <a:ext cx="7061200" cy="4114800"/>
          </a:xfrm>
        </p:spPr>
        <p:txBody>
          <a:bodyPr/>
          <a:lstStyle/>
          <a:p>
            <a:pPr eaLnBrk="1" hangingPunct="1"/>
            <a:r>
              <a:rPr lang="zh-CN" altLang="en-US" sz="2800"/>
              <a:t>如果</a:t>
            </a:r>
            <a:r>
              <a:rPr lang="en-US" altLang="zh-CN" sz="2800">
                <a:latin typeface="Times New Roman" panose="02020603050405020304" pitchFamily="18" charset="0"/>
                <a:cs typeface="Times New Roman" panose="02020603050405020304" pitchFamily="18" charset="0"/>
              </a:rPr>
              <a:t>2×20</a:t>
            </a:r>
            <a:r>
              <a:rPr lang="zh-CN" altLang="en-US" sz="2800"/>
              <a:t>年</a:t>
            </a:r>
            <a:r>
              <a:rPr lang="en-US" altLang="zh-CN" sz="2800">
                <a:latin typeface="Times New Roman" panose="02020603050405020304" pitchFamily="18" charset="0"/>
                <a:cs typeface="Times New Roman" panose="02020603050405020304" pitchFamily="18" charset="0"/>
              </a:rPr>
              <a:t>1</a:t>
            </a:r>
            <a:r>
              <a:rPr lang="zh-CN" altLang="en-US" sz="2800"/>
              <a:t>月</a:t>
            </a:r>
            <a:r>
              <a:rPr lang="en-US" altLang="zh-CN" sz="2800">
                <a:latin typeface="Times New Roman" panose="02020603050405020304" pitchFamily="18" charset="0"/>
                <a:cs typeface="Times New Roman" panose="02020603050405020304" pitchFamily="18" charset="0"/>
              </a:rPr>
              <a:t>1</a:t>
            </a:r>
            <a:r>
              <a:rPr lang="zh-CN" altLang="en-US" sz="2800"/>
              <a:t>日的市场利率为</a:t>
            </a:r>
            <a:r>
              <a:rPr lang="en-US" altLang="zh-CN" sz="2800">
                <a:latin typeface="Times New Roman" panose="02020603050405020304" pitchFamily="18" charset="0"/>
                <a:cs typeface="Times New Roman" panose="02020603050405020304" pitchFamily="18" charset="0"/>
              </a:rPr>
              <a:t>8%</a:t>
            </a:r>
            <a:r>
              <a:rPr lang="zh-CN" altLang="en-US" sz="2800"/>
              <a:t>，则购入债券的价值为多少？</a:t>
            </a:r>
          </a:p>
          <a:p>
            <a:pPr eaLnBrk="1" hangingPunct="1"/>
            <a:endParaRPr lang="en-US" altLang="zh-CN" sz="2800"/>
          </a:p>
        </p:txBody>
      </p:sp>
      <p:graphicFrame>
        <p:nvGraphicFramePr>
          <p:cNvPr id="61444" name="Object 6"/>
          <p:cNvGraphicFramePr>
            <a:graphicFrameLocks noGrp="1" noChangeAspect="1"/>
          </p:cNvGraphicFramePr>
          <p:nvPr>
            <p:ph sz="half" idx="2"/>
          </p:nvPr>
        </p:nvGraphicFramePr>
        <p:xfrm>
          <a:off x="1619092" y="3500438"/>
          <a:ext cx="5570855" cy="879475"/>
        </p:xfrm>
        <a:graphic>
          <a:graphicData uri="http://schemas.openxmlformats.org/presentationml/2006/ole">
            <mc:AlternateContent xmlns:mc="http://schemas.openxmlformats.org/markup-compatibility/2006">
              <mc:Choice xmlns:v="urn:schemas-microsoft-com:vml" Requires="v">
                <p:oleObj spid="_x0000_s61476" name="Equation" r:id="rId3" imgW="2654300" imgH="419100" progId="Equation.DSMT4">
                  <p:embed/>
                </p:oleObj>
              </mc:Choice>
              <mc:Fallback>
                <p:oleObj name="Equation" r:id="rId3" imgW="2654300" imgH="419100" progId="Equation.DSMT4">
                  <p:embed/>
                  <p:pic>
                    <p:nvPicPr>
                      <p:cNvPr id="0" name="Object 6"/>
                      <p:cNvPicPr>
                        <a:picLocks noChangeAspect="1" noChangeArrowheads="1"/>
                      </p:cNvPicPr>
                      <p:nvPr/>
                    </p:nvPicPr>
                    <p:blipFill>
                      <a:blip r:embed="rId4"/>
                      <a:srcRect/>
                      <a:stretch>
                        <a:fillRect/>
                      </a:stretch>
                    </p:blipFill>
                    <p:spPr bwMode="auto">
                      <a:xfrm>
                        <a:off x="1619092" y="3500438"/>
                        <a:ext cx="5570855" cy="87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noChangeArrowheads="1"/>
          </p:cNvSpPr>
          <p:nvPr>
            <p:ph type="title"/>
          </p:nvPr>
        </p:nvSpPr>
        <p:spPr/>
        <p:txBody>
          <a:bodyPr/>
          <a:lstStyle/>
          <a:p>
            <a:r>
              <a:rPr lang="en-US" altLang="zh-CN">
                <a:latin typeface="Times New Roman" panose="02020603050405020304" pitchFamily="18" charset="0"/>
                <a:cs typeface="Times New Roman" panose="02020603050405020304" pitchFamily="18" charset="0"/>
              </a:rPr>
              <a:t>2.</a:t>
            </a:r>
            <a:r>
              <a:rPr lang="zh-CN" altLang="en-US"/>
              <a:t>期末计价与收益的确定</a:t>
            </a:r>
          </a:p>
        </p:txBody>
      </p:sp>
      <p:sp>
        <p:nvSpPr>
          <p:cNvPr id="62467" name="内容占位符 3"/>
          <p:cNvSpPr>
            <a:spLocks noGrp="1" noChangeArrowheads="1"/>
          </p:cNvSpPr>
          <p:nvPr>
            <p:ph sz="half" idx="2"/>
          </p:nvPr>
        </p:nvSpPr>
        <p:spPr>
          <a:xfrm>
            <a:off x="395288" y="2017713"/>
            <a:ext cx="8559800" cy="4435475"/>
          </a:xfrm>
        </p:spPr>
        <p:txBody>
          <a:bodyPr/>
          <a:lstStyle/>
          <a:p>
            <a:r>
              <a:rPr lang="zh-CN" altLang="en-US" sz="2600">
                <a:latin typeface="黑体" panose="02010609060101010101" pitchFamily="2" charset="-122"/>
                <a:ea typeface="黑体" panose="02010609060101010101" pitchFamily="2" charset="-122"/>
              </a:rPr>
              <a:t>顾名思义，以摊余成本计量的金融资产，即该金融资产期末应当以</a:t>
            </a:r>
            <a:r>
              <a:rPr lang="zh-CN" altLang="en-US" sz="2600" b="1">
                <a:solidFill>
                  <a:srgbClr val="FF0000"/>
                </a:solidFill>
                <a:latin typeface="黑体" panose="02010609060101010101" pitchFamily="2" charset="-122"/>
                <a:ea typeface="黑体" panose="02010609060101010101" pitchFamily="2" charset="-122"/>
              </a:rPr>
              <a:t>摊余成本</a:t>
            </a:r>
            <a:r>
              <a:rPr lang="zh-CN" altLang="en-US" sz="2600">
                <a:latin typeface="黑体" panose="02010609060101010101" pitchFamily="2" charset="-122"/>
                <a:ea typeface="黑体" panose="02010609060101010101" pitchFamily="2" charset="-122"/>
              </a:rPr>
              <a:t>计量</a:t>
            </a:r>
            <a:endParaRPr lang="en-US" altLang="zh-CN" sz="2600"/>
          </a:p>
          <a:p>
            <a:pPr eaLnBrk="1" hangingPunct="1"/>
            <a:r>
              <a:rPr lang="zh-CN" altLang="en-US" sz="2600" b="1">
                <a:solidFill>
                  <a:srgbClr val="FF0000"/>
                </a:solidFill>
                <a:latin typeface="黑体" panose="02010609060101010101" pitchFamily="2" charset="-122"/>
                <a:ea typeface="黑体" panose="02010609060101010101" pitchFamily="2" charset="-122"/>
              </a:rPr>
              <a:t>摊余成本</a:t>
            </a:r>
            <a:r>
              <a:rPr lang="zh-CN" altLang="en-US" sz="2600">
                <a:latin typeface="黑体" panose="02010609060101010101" pitchFamily="2" charset="-122"/>
                <a:ea typeface="黑体" panose="02010609060101010101" pitchFamily="2" charset="-122"/>
              </a:rPr>
              <a:t>是债权投资的初始确认金额经下列调整的结果：</a:t>
            </a:r>
          </a:p>
          <a:p>
            <a:pPr lvl="1" eaLnBrk="1" hangingPunct="1"/>
            <a:r>
              <a:rPr lang="zh-CN" altLang="en-US" sz="2000" b="1" dirty="0">
                <a:latin typeface="楷体_GB2312" panose="02010609030101010101" pitchFamily="49" charset="-122"/>
                <a:ea typeface="楷体_GB2312" panose="02010609030101010101" pitchFamily="49" charset="-122"/>
                <a:cs typeface="+mn-ea"/>
              </a:rPr>
              <a:t>（1）扣除已偿还的本金</a:t>
            </a:r>
          </a:p>
          <a:p>
            <a:pPr lvl="1" eaLnBrk="1" hangingPunct="1"/>
            <a:r>
              <a:rPr lang="zh-CN" altLang="en-US" sz="2000" b="1" dirty="0">
                <a:latin typeface="楷体_GB2312" panose="02010609030101010101" pitchFamily="49" charset="-122"/>
                <a:ea typeface="楷体_GB2312" panose="02010609030101010101" pitchFamily="49" charset="-122"/>
                <a:cs typeface="+mn-ea"/>
              </a:rPr>
              <a:t>（2）加上或减去采用将该初始确认金额与到期日的差额进行摊销形成的累计摊销额</a:t>
            </a:r>
          </a:p>
          <a:p>
            <a:pPr lvl="1" eaLnBrk="1" hangingPunct="1"/>
            <a:r>
              <a:rPr lang="zh-CN" altLang="en-US" sz="2000" b="1" dirty="0">
                <a:latin typeface="楷体_GB2312" panose="02010609030101010101" pitchFamily="49" charset="-122"/>
                <a:ea typeface="楷体_GB2312" panose="02010609030101010101" pitchFamily="49" charset="-122"/>
                <a:cs typeface="+mn-ea"/>
              </a:rPr>
              <a:t>（3）扣除已发生的减值损失</a:t>
            </a:r>
          </a:p>
          <a:p>
            <a:pPr eaLnBrk="1" hangingPunct="1"/>
            <a:r>
              <a:rPr lang="zh-CN" altLang="en-US" sz="2400">
                <a:latin typeface="黑体" panose="02010609060101010101" pitchFamily="2" charset="-122"/>
                <a:ea typeface="黑体" panose="02010609060101010101" pitchFamily="2" charset="-122"/>
              </a:rPr>
              <a:t>问题：如果债券是一次还本分期付息，也没有发生减值，根据上述公式摊余成本如何计算？</a:t>
            </a:r>
            <a:endParaRPr lang="zh-CN" altLang="en-US">
              <a:latin typeface="黑体" panose="02010609060101010101" pitchFamily="2" charset="-122"/>
              <a:ea typeface="黑体" panose="0201060906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ltLang="zh-CN">
                <a:latin typeface="Times New Roman" panose="02020603050405020304" pitchFamily="18" charset="0"/>
                <a:cs typeface="Times New Roman" panose="02020603050405020304" pitchFamily="18" charset="0"/>
              </a:rPr>
              <a:t>2.</a:t>
            </a:r>
            <a:r>
              <a:rPr lang="zh-CN" altLang="en-US"/>
              <a:t>期末计价与收益的确定</a:t>
            </a:r>
          </a:p>
        </p:txBody>
      </p:sp>
      <p:sp>
        <p:nvSpPr>
          <p:cNvPr id="63491" name="Rectangle 3"/>
          <p:cNvSpPr>
            <a:spLocks noGrp="1" noChangeArrowheads="1"/>
          </p:cNvSpPr>
          <p:nvPr>
            <p:ph type="body" idx="1"/>
          </p:nvPr>
        </p:nvSpPr>
        <p:spPr>
          <a:xfrm>
            <a:off x="250825" y="1989138"/>
            <a:ext cx="8693150" cy="4464050"/>
          </a:xfrm>
        </p:spPr>
        <p:txBody>
          <a:bodyPr/>
          <a:lstStyle/>
          <a:p>
            <a:pPr eaLnBrk="1" hangingPunct="1"/>
            <a:r>
              <a:rPr lang="zh-CN" altLang="en-US" sz="2800"/>
              <a:t>简单来说，如果债券是一次还本分期付息，也没有发生减值</a:t>
            </a:r>
            <a:endParaRPr lang="en-US" altLang="zh-CN" sz="2800"/>
          </a:p>
          <a:p>
            <a:pPr eaLnBrk="1" hangingPunct="1"/>
            <a:r>
              <a:rPr lang="zh-CN" altLang="en-US" b="1"/>
              <a:t>摊余成本是债权投资的初始确认金额，加上或减去将该初始确认金额与到期日的</a:t>
            </a:r>
            <a:r>
              <a:rPr lang="zh-CN" altLang="en-US" b="1">
                <a:solidFill>
                  <a:srgbClr val="FF0000"/>
                </a:solidFill>
              </a:rPr>
              <a:t>差额</a:t>
            </a:r>
            <a:r>
              <a:rPr lang="zh-CN" altLang="en-US" b="1"/>
              <a:t>进行摊销形成的累计摊销额</a:t>
            </a:r>
            <a:endParaRPr lang="en-US" altLang="zh-CN" b="1"/>
          </a:p>
          <a:p>
            <a:pPr lvl="1" eaLnBrk="1" hangingPunct="1"/>
            <a:r>
              <a:rPr lang="zh-CN" altLang="en-US" sz="2400" b="1"/>
              <a:t>通过对</a:t>
            </a:r>
            <a:r>
              <a:rPr lang="zh-CN" altLang="en-US" sz="2400" b="1">
                <a:solidFill>
                  <a:srgbClr val="FF0000"/>
                </a:solidFill>
              </a:rPr>
              <a:t>差额</a:t>
            </a:r>
            <a:r>
              <a:rPr lang="zh-CN" altLang="en-US" sz="2400" b="1"/>
              <a:t>摊销，确认“真正”的收益</a:t>
            </a:r>
            <a:endParaRPr lang="en-US" altLang="zh-CN" sz="2400" b="1"/>
          </a:p>
          <a:p>
            <a:pPr lvl="2" eaLnBrk="1" hangingPunct="1"/>
            <a:r>
              <a:rPr lang="zh-CN" altLang="en-US" sz="2000" b="1"/>
              <a:t>溢价购入：</a:t>
            </a:r>
            <a:r>
              <a:rPr lang="zh-CN" altLang="en-US" sz="2000"/>
              <a:t>以</a:t>
            </a:r>
            <a:r>
              <a:rPr lang="en-US" altLang="zh-CN" sz="2000">
                <a:latin typeface="Times New Roman" panose="02020603050405020304" pitchFamily="18" charset="0"/>
                <a:cs typeface="Times New Roman" panose="02020603050405020304" pitchFamily="18" charset="0"/>
              </a:rPr>
              <a:t>10366.68</a:t>
            </a:r>
            <a:r>
              <a:rPr lang="zh-CN" altLang="en-US" sz="2000"/>
              <a:t>元购入面值为</a:t>
            </a:r>
            <a:r>
              <a:rPr lang="en-US" altLang="zh-CN" sz="2000"/>
              <a:t>10 000</a:t>
            </a:r>
            <a:r>
              <a:rPr lang="zh-CN" altLang="en-US" sz="2000"/>
              <a:t>元的债券</a:t>
            </a:r>
            <a:endParaRPr lang="en-US" altLang="zh-CN" sz="2000" b="1"/>
          </a:p>
          <a:p>
            <a:pPr lvl="2" eaLnBrk="1" hangingPunct="1"/>
            <a:r>
              <a:rPr lang="zh-CN" altLang="en-US" sz="2000" b="1"/>
              <a:t>折价购入：</a:t>
            </a:r>
            <a:r>
              <a:rPr lang="zh-CN" altLang="en-US" sz="2000"/>
              <a:t>以</a:t>
            </a:r>
            <a:r>
              <a:rPr lang="en-US" altLang="zh-CN" sz="2000"/>
              <a:t>9652.89</a:t>
            </a:r>
            <a:r>
              <a:rPr lang="zh-CN" altLang="en-US" sz="2000"/>
              <a:t>元购入面值为</a:t>
            </a:r>
            <a:r>
              <a:rPr lang="en-US" altLang="zh-CN" sz="2000"/>
              <a:t>10 000</a:t>
            </a:r>
            <a:r>
              <a:rPr lang="zh-CN" altLang="en-US" sz="2000"/>
              <a:t>元的债券</a:t>
            </a:r>
            <a:endParaRPr lang="en-US" altLang="zh-CN" sz="2000"/>
          </a:p>
          <a:p>
            <a:pPr lvl="1" eaLnBrk="1" hangingPunct="1"/>
            <a:r>
              <a:rPr lang="zh-CN" altLang="en-US" sz="2400" b="1">
                <a:solidFill>
                  <a:srgbClr val="FF0000"/>
                </a:solidFill>
              </a:rPr>
              <a:t>差额</a:t>
            </a:r>
            <a:r>
              <a:rPr lang="zh-CN" altLang="en-US" sz="2400" b="1"/>
              <a:t>摊销完后，摊余成本应为债券的面值（到期收回的金额）</a:t>
            </a:r>
            <a:endParaRPr lang="zh-CN" altLang="en-US" sz="2000" b="1"/>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noChangeArrowheads="1"/>
          </p:cNvSpPr>
          <p:nvPr>
            <p:ph type="title"/>
          </p:nvPr>
        </p:nvSpPr>
        <p:spPr/>
        <p:txBody>
          <a:bodyPr/>
          <a:lstStyle/>
          <a:p>
            <a:r>
              <a:rPr lang="en-US" altLang="zh-CN">
                <a:latin typeface="Times New Roman" panose="02020603050405020304" pitchFamily="18" charset="0"/>
                <a:cs typeface="Times New Roman" panose="02020603050405020304" pitchFamily="18" charset="0"/>
              </a:rPr>
              <a:t>2</a:t>
            </a:r>
            <a:r>
              <a:rPr lang="en-US" altLang="zh-CN"/>
              <a:t>.</a:t>
            </a:r>
            <a:r>
              <a:rPr lang="zh-CN" altLang="en-US"/>
              <a:t>期末计价与收益的确定</a:t>
            </a:r>
          </a:p>
        </p:txBody>
      </p:sp>
      <p:sp>
        <p:nvSpPr>
          <p:cNvPr id="64515" name="内容占位符 2"/>
          <p:cNvSpPr>
            <a:spLocks noGrp="1" noChangeArrowheads="1"/>
          </p:cNvSpPr>
          <p:nvPr>
            <p:ph idx="1"/>
          </p:nvPr>
        </p:nvSpPr>
        <p:spPr>
          <a:xfrm>
            <a:off x="900113" y="2017713"/>
            <a:ext cx="7772400" cy="4506912"/>
          </a:xfrm>
        </p:spPr>
        <p:txBody>
          <a:bodyPr/>
          <a:lstStyle/>
          <a:p>
            <a:r>
              <a:rPr lang="zh-CN" altLang="en-US" b="1"/>
              <a:t>将债券初始确认金额与到期日的</a:t>
            </a:r>
            <a:r>
              <a:rPr lang="zh-CN" altLang="en-US" b="1">
                <a:solidFill>
                  <a:srgbClr val="FF0000"/>
                </a:solidFill>
              </a:rPr>
              <a:t>差额</a:t>
            </a:r>
            <a:r>
              <a:rPr lang="zh-CN" altLang="en-US" b="1"/>
              <a:t>进行摊销的方法主要有两种：</a:t>
            </a:r>
            <a:endParaRPr lang="en-US" altLang="zh-CN" b="1"/>
          </a:p>
          <a:p>
            <a:pPr lvl="1"/>
            <a:r>
              <a:rPr lang="zh-CN" altLang="en-US" b="1"/>
              <a:t>直线法</a:t>
            </a:r>
            <a:endParaRPr lang="en-US" altLang="zh-CN" b="1"/>
          </a:p>
          <a:p>
            <a:pPr lvl="2" eaLnBrk="1" hangingPunct="1"/>
            <a:r>
              <a:rPr lang="zh-CN" altLang="en-US" sz="2000" b="1"/>
              <a:t>溢价购入：</a:t>
            </a:r>
            <a:r>
              <a:rPr lang="zh-CN" altLang="en-US" sz="2000"/>
              <a:t>以</a:t>
            </a:r>
            <a:r>
              <a:rPr lang="en-US" altLang="zh-CN" sz="2000" b="0">
                <a:latin typeface="Times New Roman" panose="02020603050405020304" pitchFamily="18" charset="0"/>
                <a:cs typeface="Times New Roman" panose="02020603050405020304" pitchFamily="18" charset="0"/>
              </a:rPr>
              <a:t>10 366.68</a:t>
            </a:r>
            <a:r>
              <a:rPr lang="zh-CN" altLang="en-US" sz="2000"/>
              <a:t>元购入面值为</a:t>
            </a:r>
            <a:r>
              <a:rPr lang="en-US" altLang="zh-CN" sz="2000" b="0">
                <a:latin typeface="Times New Roman" panose="02020603050405020304" pitchFamily="18" charset="0"/>
                <a:cs typeface="Times New Roman" panose="02020603050405020304" pitchFamily="18" charset="0"/>
              </a:rPr>
              <a:t>10 000</a:t>
            </a:r>
            <a:r>
              <a:rPr lang="zh-CN" altLang="en-US" sz="2000"/>
              <a:t>元的债券，差额每年摊销：</a:t>
            </a:r>
            <a:r>
              <a:rPr lang="en-US" altLang="zh-CN" sz="2000" b="0">
                <a:latin typeface="Times New Roman" panose="02020603050405020304" pitchFamily="18" charset="0"/>
                <a:cs typeface="Times New Roman" panose="02020603050405020304" pitchFamily="18" charset="0"/>
              </a:rPr>
              <a:t>183.34</a:t>
            </a:r>
            <a:r>
              <a:rPr lang="zh-CN" altLang="en-US" sz="2000"/>
              <a:t>元，真正的收益为：</a:t>
            </a:r>
            <a:r>
              <a:rPr lang="en-US" altLang="zh-CN" sz="2000" b="0">
                <a:latin typeface="Times New Roman" panose="02020603050405020304" pitchFamily="18" charset="0"/>
                <a:cs typeface="Times New Roman" panose="02020603050405020304" pitchFamily="18" charset="0"/>
              </a:rPr>
              <a:t>616.66</a:t>
            </a:r>
            <a:r>
              <a:rPr lang="zh-CN" altLang="en-US" sz="2000"/>
              <a:t>元（</a:t>
            </a:r>
            <a:r>
              <a:rPr lang="en-US" altLang="zh-CN" sz="2000" b="0">
                <a:latin typeface="Times New Roman" panose="02020603050405020304" pitchFamily="18" charset="0"/>
                <a:cs typeface="Times New Roman" panose="02020603050405020304" pitchFamily="18" charset="0"/>
              </a:rPr>
              <a:t>800</a:t>
            </a:r>
            <a:r>
              <a:rPr lang="en-US" altLang="zh-CN" sz="2000"/>
              <a:t>-</a:t>
            </a:r>
            <a:r>
              <a:rPr lang="en-US" altLang="zh-CN" sz="2000" b="0">
                <a:latin typeface="Times New Roman" panose="02020603050405020304" pitchFamily="18" charset="0"/>
                <a:cs typeface="Times New Roman" panose="02020603050405020304" pitchFamily="18" charset="0"/>
              </a:rPr>
              <a:t>183.34</a:t>
            </a:r>
            <a:r>
              <a:rPr lang="zh-CN" altLang="en-US" sz="2000"/>
              <a:t>）</a:t>
            </a:r>
            <a:endParaRPr lang="en-US" altLang="zh-CN" sz="2000" b="1"/>
          </a:p>
          <a:p>
            <a:pPr lvl="2" eaLnBrk="1" hangingPunct="1"/>
            <a:r>
              <a:rPr lang="zh-CN" altLang="en-US" sz="2000" b="1"/>
              <a:t>折价购入：</a:t>
            </a:r>
            <a:r>
              <a:rPr lang="zh-CN" altLang="en-US" sz="2000"/>
              <a:t>以</a:t>
            </a:r>
            <a:r>
              <a:rPr lang="en-US" altLang="zh-CN" sz="2000" b="0">
                <a:latin typeface="Times New Roman" panose="02020603050405020304" pitchFamily="18" charset="0"/>
                <a:cs typeface="Times New Roman" panose="02020603050405020304" pitchFamily="18" charset="0"/>
              </a:rPr>
              <a:t>9 652.89</a:t>
            </a:r>
            <a:r>
              <a:rPr lang="zh-CN" altLang="en-US" sz="2000"/>
              <a:t>元购入面值为</a:t>
            </a:r>
            <a:r>
              <a:rPr lang="en-US" altLang="zh-CN" sz="2000" b="0">
                <a:latin typeface="Times New Roman" panose="02020603050405020304" pitchFamily="18" charset="0"/>
                <a:cs typeface="Times New Roman" panose="02020603050405020304" pitchFamily="18" charset="0"/>
              </a:rPr>
              <a:t>10 000</a:t>
            </a:r>
            <a:r>
              <a:rPr lang="zh-CN" altLang="en-US" sz="2000"/>
              <a:t>元的债券，差额每年摊销：</a:t>
            </a:r>
            <a:r>
              <a:rPr lang="en-US" altLang="zh-CN" sz="2000" b="0">
                <a:latin typeface="Times New Roman" panose="02020603050405020304" pitchFamily="18" charset="0"/>
                <a:cs typeface="Times New Roman" panose="02020603050405020304" pitchFamily="18" charset="0"/>
              </a:rPr>
              <a:t>173.555</a:t>
            </a:r>
            <a:r>
              <a:rPr lang="zh-CN" altLang="en-US" sz="2000"/>
              <a:t>元，真正的收益为：</a:t>
            </a:r>
            <a:r>
              <a:rPr lang="en-US" altLang="zh-CN" sz="2000" b="0">
                <a:latin typeface="Times New Roman" panose="02020603050405020304" pitchFamily="18" charset="0"/>
                <a:cs typeface="Times New Roman" panose="02020603050405020304" pitchFamily="18" charset="0"/>
              </a:rPr>
              <a:t>973.555</a:t>
            </a:r>
            <a:r>
              <a:rPr lang="zh-CN" altLang="en-US" sz="2000"/>
              <a:t>元（</a:t>
            </a:r>
            <a:r>
              <a:rPr lang="en-US" altLang="zh-CN" sz="2000" b="0">
                <a:latin typeface="Times New Roman" panose="02020603050405020304" pitchFamily="18" charset="0"/>
                <a:cs typeface="Times New Roman" panose="02020603050405020304" pitchFamily="18" charset="0"/>
              </a:rPr>
              <a:t>800+173.55</a:t>
            </a:r>
            <a:r>
              <a:rPr lang="zh-CN" altLang="en-US" sz="2000"/>
              <a:t>）</a:t>
            </a:r>
            <a:endParaRPr lang="en-US" altLang="zh-CN" sz="2000" b="1"/>
          </a:p>
          <a:p>
            <a:pPr lvl="1"/>
            <a:r>
              <a:rPr lang="zh-CN" altLang="en-US" b="1"/>
              <a:t>实际利率法</a:t>
            </a:r>
            <a:endParaRPr lang="en-US" altLang="zh-CN" b="1"/>
          </a:p>
          <a:p>
            <a:pPr lvl="2"/>
            <a:r>
              <a:rPr lang="zh-CN" altLang="en-US" sz="2000"/>
              <a:t>基于实际利率计算摊余成本和各期投资收益的方法</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altLang="zh-CN">
                <a:latin typeface="Times New Roman" panose="02020603050405020304" pitchFamily="18" charset="0"/>
                <a:cs typeface="Times New Roman" panose="02020603050405020304" pitchFamily="18" charset="0"/>
              </a:rPr>
              <a:t>2</a:t>
            </a:r>
            <a:r>
              <a:rPr lang="en-US" altLang="zh-CN"/>
              <a:t>.</a:t>
            </a:r>
            <a:r>
              <a:rPr lang="zh-CN" altLang="en-US"/>
              <a:t>期末计价与收益的确定</a:t>
            </a:r>
          </a:p>
        </p:txBody>
      </p:sp>
      <p:sp>
        <p:nvSpPr>
          <p:cNvPr id="65539" name="Rectangle 3"/>
          <p:cNvSpPr>
            <a:spLocks noGrp="1" noChangeArrowheads="1"/>
          </p:cNvSpPr>
          <p:nvPr>
            <p:ph type="body" sz="half" idx="1"/>
          </p:nvPr>
        </p:nvSpPr>
        <p:spPr>
          <a:xfrm>
            <a:off x="468313" y="2017713"/>
            <a:ext cx="8351837" cy="4506912"/>
          </a:xfrm>
        </p:spPr>
        <p:txBody>
          <a:bodyPr/>
          <a:lstStyle/>
          <a:p>
            <a:pPr eaLnBrk="1" hangingPunct="1"/>
            <a:r>
              <a:rPr lang="zh-CN" altLang="en-US" sz="2800"/>
              <a:t>对债券投资而言，实际利率就是其内含报酬率</a:t>
            </a:r>
            <a:endParaRPr lang="en-US" altLang="zh-CN" sz="2800"/>
          </a:p>
          <a:p>
            <a:pPr eaLnBrk="1" hangingPunct="1"/>
            <a:endParaRPr lang="zh-CN" altLang="en-US" sz="2800"/>
          </a:p>
          <a:p>
            <a:pPr eaLnBrk="1" hangingPunct="1"/>
            <a:r>
              <a:rPr lang="zh-CN" altLang="en-US" sz="2800"/>
              <a:t>债券投资的</a:t>
            </a:r>
            <a:r>
              <a:rPr lang="zh-CN" altLang="en-US" sz="2800">
                <a:solidFill>
                  <a:srgbClr val="FF0000"/>
                </a:solidFill>
              </a:rPr>
              <a:t>实际收益率</a:t>
            </a:r>
            <a:r>
              <a:rPr lang="en-US" altLang="zh-CN" sz="2800">
                <a:solidFill>
                  <a:srgbClr val="FF0000"/>
                </a:solidFill>
                <a:latin typeface="Times New Roman" panose="02020603050405020304" pitchFamily="18" charset="0"/>
                <a:cs typeface="Times New Roman" panose="02020603050405020304" pitchFamily="18" charset="0"/>
              </a:rPr>
              <a:t>r</a:t>
            </a:r>
            <a:r>
              <a:rPr lang="zh-CN" altLang="en-US" sz="2800"/>
              <a:t>（内含报酬率），即：使购买成本</a:t>
            </a:r>
            <a:r>
              <a:rPr lang="en-US" altLang="zh-CN" sz="2800">
                <a:latin typeface="Times New Roman" panose="02020603050405020304" pitchFamily="18" charset="0"/>
                <a:cs typeface="Times New Roman" panose="02020603050405020304" pitchFamily="18" charset="0"/>
              </a:rPr>
              <a:t>Cost</a:t>
            </a:r>
            <a:r>
              <a:rPr lang="zh-CN" altLang="en-US" sz="2800"/>
              <a:t>等于未来现金流入（</a:t>
            </a:r>
            <a:r>
              <a:rPr lang="en-US" altLang="zh-CN" sz="2800">
                <a:latin typeface="Times New Roman" panose="02020603050405020304" pitchFamily="18" charset="0"/>
                <a:cs typeface="Times New Roman" panose="02020603050405020304" pitchFamily="18" charset="0"/>
              </a:rPr>
              <a:t>CF</a:t>
            </a:r>
            <a:r>
              <a:rPr lang="zh-CN" altLang="en-US" sz="2800"/>
              <a:t>）的报酬率</a:t>
            </a:r>
          </a:p>
          <a:p>
            <a:pPr eaLnBrk="1" hangingPunct="1"/>
            <a:endParaRPr lang="zh-CN" altLang="en-US" sz="2800"/>
          </a:p>
          <a:p>
            <a:pPr eaLnBrk="1" hangingPunct="1"/>
            <a:endParaRPr lang="zh-CN" altLang="en-US" sz="2800"/>
          </a:p>
          <a:p>
            <a:pPr eaLnBrk="1" hangingPunct="1"/>
            <a:r>
              <a:rPr lang="zh-CN" altLang="en-US" sz="2800"/>
              <a:t>这一实际收益率就是准则中所指的实际利率，然后用期初摊余成本乘以实际利率，即为每期的投资收益</a:t>
            </a:r>
            <a:endParaRPr lang="en-US" altLang="zh-CN" sz="2800"/>
          </a:p>
          <a:p>
            <a:pPr eaLnBrk="1" hangingPunct="1"/>
            <a:endParaRPr lang="zh-CN" altLang="en-US" sz="2800"/>
          </a:p>
        </p:txBody>
      </p:sp>
      <p:graphicFrame>
        <p:nvGraphicFramePr>
          <p:cNvPr id="65540" name="Object 6"/>
          <p:cNvGraphicFramePr>
            <a:graphicFrameLocks noGrp="1" noChangeAspect="1"/>
          </p:cNvGraphicFramePr>
          <p:nvPr>
            <p:ph sz="half" idx="2"/>
          </p:nvPr>
        </p:nvGraphicFramePr>
        <p:xfrm>
          <a:off x="2195672" y="4070350"/>
          <a:ext cx="3973195" cy="977900"/>
        </p:xfrm>
        <a:graphic>
          <a:graphicData uri="http://schemas.openxmlformats.org/presentationml/2006/ole">
            <mc:AlternateContent xmlns:mc="http://schemas.openxmlformats.org/markup-compatibility/2006">
              <mc:Choice xmlns:v="urn:schemas-microsoft-com:vml" Requires="v">
                <p:oleObj spid="_x0000_s65572" name="Equation" r:id="rId3" imgW="1701800" imgH="419100" progId="Equation.DSMT4">
                  <p:embed/>
                </p:oleObj>
              </mc:Choice>
              <mc:Fallback>
                <p:oleObj name="Equation" r:id="rId3" imgW="1701800" imgH="419100" progId="Equation.DSMT4">
                  <p:embed/>
                  <p:pic>
                    <p:nvPicPr>
                      <p:cNvPr id="0" name="Object 6"/>
                      <p:cNvPicPr>
                        <a:picLocks noChangeAspect="1" noChangeArrowheads="1"/>
                      </p:cNvPicPr>
                      <p:nvPr/>
                    </p:nvPicPr>
                    <p:blipFill>
                      <a:blip r:embed="rId4"/>
                      <a:srcRect/>
                      <a:stretch>
                        <a:fillRect/>
                      </a:stretch>
                    </p:blipFill>
                    <p:spPr bwMode="auto">
                      <a:xfrm>
                        <a:off x="2195672" y="4070350"/>
                        <a:ext cx="3973195"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zh-CN">
                <a:latin typeface="Times New Roman" panose="02020603050405020304" pitchFamily="18" charset="0"/>
                <a:cs typeface="Times New Roman" panose="02020603050405020304" pitchFamily="18" charset="0"/>
              </a:rPr>
              <a:t>2</a:t>
            </a:r>
            <a:r>
              <a:rPr lang="en-US" altLang="zh-CN"/>
              <a:t>.</a:t>
            </a:r>
            <a:r>
              <a:rPr lang="zh-CN" altLang="en-US"/>
              <a:t>期末计价与收益的确定</a:t>
            </a:r>
          </a:p>
        </p:txBody>
      </p:sp>
      <p:sp>
        <p:nvSpPr>
          <p:cNvPr id="66563" name="Rectangle 3"/>
          <p:cNvSpPr>
            <a:spLocks noGrp="1" noChangeArrowheads="1"/>
          </p:cNvSpPr>
          <p:nvPr>
            <p:ph type="body" idx="1"/>
          </p:nvPr>
        </p:nvSpPr>
        <p:spPr>
          <a:xfrm>
            <a:off x="179388" y="2017713"/>
            <a:ext cx="8775700" cy="4364037"/>
          </a:xfrm>
        </p:spPr>
        <p:txBody>
          <a:bodyPr/>
          <a:lstStyle/>
          <a:p>
            <a:pPr eaLnBrk="1" hangingPunct="1">
              <a:lnSpc>
                <a:spcPct val="120000"/>
              </a:lnSpc>
            </a:pPr>
            <a:r>
              <a:rPr lang="zh-CN" altLang="en-US"/>
              <a:t>计算</a:t>
            </a:r>
            <a:r>
              <a:rPr lang="zh-CN" altLang="en-US">
                <a:solidFill>
                  <a:srgbClr val="FF0000"/>
                </a:solidFill>
              </a:rPr>
              <a:t>实际利率</a:t>
            </a:r>
            <a:r>
              <a:rPr lang="zh-CN" altLang="en-US"/>
              <a:t>后，企业按实际利率确定投资收益（利息收入）和债券的期末摊余成本，具体过程为：</a:t>
            </a:r>
          </a:p>
          <a:p>
            <a:pPr eaLnBrk="1" hangingPunct="1">
              <a:lnSpc>
                <a:spcPct val="120000"/>
              </a:lnSpc>
            </a:pPr>
            <a:r>
              <a:rPr lang="zh-CN" altLang="en-US">
                <a:solidFill>
                  <a:srgbClr val="FF0000"/>
                </a:solidFill>
              </a:rPr>
              <a:t>投资收益</a:t>
            </a:r>
            <a:r>
              <a:rPr lang="en-US" altLang="zh-CN"/>
              <a:t>=</a:t>
            </a:r>
            <a:r>
              <a:rPr lang="zh-CN" altLang="en-US"/>
              <a:t>期初摊余成本</a:t>
            </a:r>
            <a:r>
              <a:rPr lang="en-US" altLang="zh-CN"/>
              <a:t>×</a:t>
            </a:r>
            <a:r>
              <a:rPr lang="zh-CN" altLang="en-US"/>
              <a:t>实际利率</a:t>
            </a:r>
          </a:p>
          <a:p>
            <a:pPr eaLnBrk="1" hangingPunct="1">
              <a:lnSpc>
                <a:spcPct val="120000"/>
              </a:lnSpc>
            </a:pPr>
            <a:r>
              <a:rPr lang="zh-CN" altLang="en-US"/>
              <a:t>应收利息</a:t>
            </a:r>
            <a:r>
              <a:rPr lang="en-US" altLang="zh-CN"/>
              <a:t>=</a:t>
            </a:r>
            <a:r>
              <a:rPr lang="zh-CN" altLang="en-US"/>
              <a:t>票面金额</a:t>
            </a:r>
            <a:r>
              <a:rPr lang="en-US" altLang="zh-CN"/>
              <a:t>×</a:t>
            </a:r>
            <a:r>
              <a:rPr lang="zh-CN" altLang="en-US"/>
              <a:t>票面利率</a:t>
            </a:r>
          </a:p>
          <a:p>
            <a:pPr eaLnBrk="1" hangingPunct="1">
              <a:lnSpc>
                <a:spcPct val="120000"/>
              </a:lnSpc>
            </a:pPr>
            <a:r>
              <a:rPr lang="zh-CN" altLang="en-US">
                <a:solidFill>
                  <a:srgbClr val="FF0000"/>
                </a:solidFill>
              </a:rPr>
              <a:t>期末摊余成本</a:t>
            </a:r>
            <a:r>
              <a:rPr lang="en-US" altLang="zh-CN"/>
              <a:t>=</a:t>
            </a:r>
            <a:r>
              <a:rPr lang="zh-CN" altLang="en-US"/>
              <a:t>期初摊余成本</a:t>
            </a:r>
            <a:r>
              <a:rPr lang="en-US" altLang="zh-CN"/>
              <a:t>+</a:t>
            </a:r>
            <a:r>
              <a:rPr lang="zh-CN" altLang="en-US"/>
              <a:t>投资收益</a:t>
            </a:r>
            <a:r>
              <a:rPr lang="en-US" altLang="zh-CN"/>
              <a:t>-</a:t>
            </a:r>
            <a:r>
              <a:rPr lang="zh-CN" altLang="en-US"/>
              <a:t>应收利息</a:t>
            </a:r>
          </a:p>
          <a:p>
            <a:pPr lvl="1" eaLnBrk="1" hangingPunct="1">
              <a:lnSpc>
                <a:spcPct val="120000"/>
              </a:lnSpc>
            </a:pPr>
            <a:r>
              <a:rPr lang="zh-CN" altLang="en-US"/>
              <a:t>（投资收益</a:t>
            </a:r>
            <a:r>
              <a:rPr lang="en-US" altLang="zh-CN"/>
              <a:t>-</a:t>
            </a:r>
            <a:r>
              <a:rPr lang="zh-CN" altLang="en-US"/>
              <a:t>应收利息）即为每期的摊销额</a:t>
            </a:r>
            <a:endParaRPr lang="en-US" altLang="zh-C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zh-CN" altLang="en-US"/>
              <a:t>期末的会计处理</a:t>
            </a:r>
          </a:p>
        </p:txBody>
      </p:sp>
      <p:sp>
        <p:nvSpPr>
          <p:cNvPr id="68611" name="Rectangle 3"/>
          <p:cNvSpPr>
            <a:spLocks noGrp="1" noChangeArrowheads="1"/>
          </p:cNvSpPr>
          <p:nvPr>
            <p:ph type="body" idx="1"/>
          </p:nvPr>
        </p:nvSpPr>
        <p:spPr>
          <a:xfrm>
            <a:off x="684213" y="2017713"/>
            <a:ext cx="8270875" cy="4435475"/>
          </a:xfrm>
        </p:spPr>
        <p:txBody>
          <a:bodyPr/>
          <a:lstStyle/>
          <a:p>
            <a:pPr eaLnBrk="1" hangingPunct="1">
              <a:lnSpc>
                <a:spcPct val="90000"/>
              </a:lnSpc>
            </a:pPr>
            <a:r>
              <a:rPr lang="zh-CN" altLang="en-US"/>
              <a:t>将根据摊余成本和实际利率计算利息收入确认为</a:t>
            </a:r>
            <a:r>
              <a:rPr lang="zh-CN" altLang="en-US" b="1">
                <a:solidFill>
                  <a:srgbClr val="3333FF"/>
                </a:solidFill>
                <a:latin typeface="Arial" panose="020B0604020202020204" pitchFamily="34" charset="0"/>
              </a:rPr>
              <a:t>“</a:t>
            </a:r>
            <a:r>
              <a:rPr lang="zh-CN" altLang="en-US" b="1">
                <a:solidFill>
                  <a:srgbClr val="3333FF"/>
                </a:solidFill>
              </a:rPr>
              <a:t>投资收益</a:t>
            </a:r>
            <a:r>
              <a:rPr lang="zh-CN" altLang="en-US" b="1">
                <a:solidFill>
                  <a:srgbClr val="3333FF"/>
                </a:solidFill>
                <a:latin typeface="Arial" panose="020B0604020202020204" pitchFamily="34" charset="0"/>
              </a:rPr>
              <a:t>”</a:t>
            </a:r>
            <a:endParaRPr lang="zh-CN" altLang="en-US" b="1">
              <a:solidFill>
                <a:srgbClr val="3333FF"/>
              </a:solidFill>
            </a:endParaRPr>
          </a:p>
          <a:p>
            <a:pPr eaLnBrk="1" hangingPunct="1">
              <a:lnSpc>
                <a:spcPct val="90000"/>
              </a:lnSpc>
            </a:pPr>
            <a:r>
              <a:rPr lang="zh-CN" altLang="en-US"/>
              <a:t>对根据票面金额和票面利率计算的应收利息</a:t>
            </a:r>
          </a:p>
          <a:p>
            <a:pPr lvl="1" eaLnBrk="1" hangingPunct="1">
              <a:lnSpc>
                <a:spcPct val="90000"/>
              </a:lnSpc>
            </a:pPr>
            <a:r>
              <a:rPr lang="zh-CN" altLang="en-US"/>
              <a:t>如果是分期付息、一次还本债券，则确认为</a:t>
            </a:r>
            <a:r>
              <a:rPr lang="zh-CN" altLang="en-US" b="1">
                <a:solidFill>
                  <a:srgbClr val="3333FF"/>
                </a:solidFill>
                <a:latin typeface="Arial" panose="020B0604020202020204" pitchFamily="34" charset="0"/>
              </a:rPr>
              <a:t>“</a:t>
            </a:r>
            <a:r>
              <a:rPr lang="zh-CN" altLang="en-US" b="1">
                <a:solidFill>
                  <a:srgbClr val="3333FF"/>
                </a:solidFill>
              </a:rPr>
              <a:t>应收利息</a:t>
            </a:r>
            <a:r>
              <a:rPr lang="zh-CN" altLang="en-US" b="1">
                <a:solidFill>
                  <a:srgbClr val="3333FF"/>
                </a:solidFill>
                <a:latin typeface="Arial" panose="020B0604020202020204" pitchFamily="34" charset="0"/>
              </a:rPr>
              <a:t>”</a:t>
            </a:r>
            <a:endParaRPr lang="zh-CN" altLang="en-US" b="1">
              <a:solidFill>
                <a:srgbClr val="3333FF"/>
              </a:solidFill>
            </a:endParaRPr>
          </a:p>
          <a:p>
            <a:pPr lvl="1" eaLnBrk="1" hangingPunct="1">
              <a:lnSpc>
                <a:spcPct val="90000"/>
              </a:lnSpc>
            </a:pPr>
            <a:r>
              <a:rPr lang="zh-CN" altLang="en-US"/>
              <a:t>如果是一次还本付息债券，则确认为</a:t>
            </a:r>
            <a:r>
              <a:rPr lang="zh-CN" altLang="en-US" b="1">
                <a:solidFill>
                  <a:srgbClr val="3333FF"/>
                </a:solidFill>
                <a:latin typeface="Arial" panose="020B0604020202020204" pitchFamily="34" charset="0"/>
              </a:rPr>
              <a:t>“</a:t>
            </a:r>
            <a:r>
              <a:rPr lang="zh-CN" altLang="en-US" b="1">
                <a:solidFill>
                  <a:srgbClr val="3333FF"/>
                </a:solidFill>
              </a:rPr>
              <a:t>债权投资</a:t>
            </a:r>
            <a:r>
              <a:rPr lang="en-US" altLang="zh-CN" b="1">
                <a:solidFill>
                  <a:srgbClr val="3333FF"/>
                </a:solidFill>
                <a:latin typeface="Arial" panose="020B0604020202020204" pitchFamily="34" charset="0"/>
              </a:rPr>
              <a:t>——</a:t>
            </a:r>
            <a:r>
              <a:rPr lang="zh-CN" altLang="en-US" b="1">
                <a:solidFill>
                  <a:srgbClr val="3333FF"/>
                </a:solidFill>
              </a:rPr>
              <a:t>应收利息</a:t>
            </a:r>
            <a:r>
              <a:rPr lang="zh-CN" altLang="en-US" b="1">
                <a:solidFill>
                  <a:srgbClr val="3333FF"/>
                </a:solidFill>
                <a:latin typeface="Arial" panose="020B0604020202020204" pitchFamily="34" charset="0"/>
              </a:rPr>
              <a:t>”</a:t>
            </a:r>
            <a:endParaRPr lang="zh-CN" altLang="en-US" b="1">
              <a:solidFill>
                <a:srgbClr val="3333FF"/>
              </a:solidFill>
            </a:endParaRPr>
          </a:p>
          <a:p>
            <a:pPr eaLnBrk="1" hangingPunct="1">
              <a:lnSpc>
                <a:spcPct val="90000"/>
              </a:lnSpc>
            </a:pPr>
            <a:r>
              <a:rPr lang="zh-CN" altLang="en-US"/>
              <a:t>将应收利息和投资收益两者之差确认为</a:t>
            </a:r>
            <a:r>
              <a:rPr lang="zh-CN" altLang="en-US" b="1">
                <a:solidFill>
                  <a:srgbClr val="3333FF"/>
                </a:solidFill>
                <a:latin typeface="Arial" panose="020B0604020202020204" pitchFamily="34" charset="0"/>
              </a:rPr>
              <a:t>“</a:t>
            </a:r>
            <a:r>
              <a:rPr lang="zh-CN" altLang="en-US" b="1">
                <a:solidFill>
                  <a:srgbClr val="3333FF"/>
                </a:solidFill>
              </a:rPr>
              <a:t>债权投资</a:t>
            </a:r>
            <a:r>
              <a:rPr lang="en-US" altLang="zh-CN" b="1">
                <a:solidFill>
                  <a:srgbClr val="3333FF"/>
                </a:solidFill>
                <a:latin typeface="Arial" panose="020B0604020202020204" pitchFamily="34" charset="0"/>
              </a:rPr>
              <a:t>——</a:t>
            </a:r>
            <a:r>
              <a:rPr lang="zh-CN" altLang="en-US" b="1">
                <a:solidFill>
                  <a:srgbClr val="3333FF"/>
                </a:solidFill>
              </a:rPr>
              <a:t>利息调整</a:t>
            </a:r>
            <a:r>
              <a:rPr lang="zh-CN" altLang="en-US" b="1">
                <a:solidFill>
                  <a:srgbClr val="3333FF"/>
                </a:solidFill>
                <a:latin typeface="Arial" panose="020B0604020202020204" pitchFamily="34" charset="0"/>
              </a:rPr>
              <a:t>”</a:t>
            </a:r>
            <a:endParaRPr lang="zh-CN" altLang="en-US" b="1">
              <a:solidFill>
                <a:srgbClr val="3333FF"/>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1</a:t>
            </a:r>
            <a:r>
              <a:rPr lang="en-US" altLang="zh-CN"/>
              <a:t>*</a:t>
            </a:r>
          </a:p>
        </p:txBody>
      </p:sp>
      <p:sp>
        <p:nvSpPr>
          <p:cNvPr id="69635" name="Rectangle 3"/>
          <p:cNvSpPr>
            <a:spLocks noGrp="1" noChangeArrowheads="1"/>
          </p:cNvSpPr>
          <p:nvPr>
            <p:ph type="body" idx="1"/>
          </p:nvPr>
        </p:nvSpPr>
        <p:spPr/>
        <p:txBody>
          <a:bodyPr/>
          <a:lstStyle/>
          <a:p>
            <a:pPr eaLnBrk="1" hangingPunct="1"/>
            <a:r>
              <a:rPr lang="en-US" altLang="zh-CN">
                <a:latin typeface="Times New Roman" panose="02020603050405020304" pitchFamily="18" charset="0"/>
                <a:cs typeface="Times New Roman" panose="02020603050405020304" pitchFamily="18" charset="0"/>
              </a:rPr>
              <a:t>2×19</a:t>
            </a:r>
            <a:r>
              <a:rPr lang="zh-CN" altLang="en-US"/>
              <a:t>年</a:t>
            </a:r>
            <a:r>
              <a:rPr lang="en-US" altLang="zh-CN" sz="2600">
                <a:latin typeface="Times New Roman" panose="02020603050405020304" pitchFamily="18" charset="0"/>
                <a:cs typeface="Times New Roman" panose="02020603050405020304" pitchFamily="18" charset="0"/>
              </a:rPr>
              <a:t>12</a:t>
            </a:r>
            <a:r>
              <a:rPr lang="zh-CN" altLang="en-US"/>
              <a:t>月，</a:t>
            </a:r>
            <a:r>
              <a:rPr lang="en-US" altLang="zh-CN">
                <a:latin typeface="Times New Roman" panose="02020603050405020304" pitchFamily="18" charset="0"/>
                <a:cs typeface="Times New Roman" panose="02020603050405020304" pitchFamily="18" charset="0"/>
              </a:rPr>
              <a:t>P</a:t>
            </a:r>
            <a:r>
              <a:rPr lang="zh-CN" altLang="en-US"/>
              <a:t>公司决定于</a:t>
            </a:r>
            <a:r>
              <a:rPr lang="en-US" altLang="zh-CN">
                <a:latin typeface="Times New Roman" panose="02020603050405020304" pitchFamily="18" charset="0"/>
                <a:cs typeface="Times New Roman" panose="02020603050405020304" pitchFamily="18" charset="0"/>
              </a:rPr>
              <a:t>2×20</a:t>
            </a:r>
            <a:r>
              <a:rPr lang="zh-CN" altLang="en-US"/>
              <a:t>年</a:t>
            </a:r>
            <a:r>
              <a:rPr lang="en-US" altLang="zh-CN">
                <a:latin typeface="Times New Roman" panose="02020603050405020304" pitchFamily="18" charset="0"/>
                <a:cs typeface="Times New Roman" panose="02020603050405020304" pitchFamily="18" charset="0"/>
              </a:rPr>
              <a:t>1</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日发行每张面值为</a:t>
            </a:r>
            <a:r>
              <a:rPr lang="en-US" altLang="zh-CN">
                <a:latin typeface="Times New Roman" panose="02020603050405020304" pitchFamily="18" charset="0"/>
                <a:cs typeface="Times New Roman" panose="02020603050405020304" pitchFamily="18" charset="0"/>
              </a:rPr>
              <a:t>100</a:t>
            </a:r>
            <a:r>
              <a:rPr lang="zh-CN" altLang="en-US"/>
              <a:t>元，票面利率为</a:t>
            </a:r>
            <a:r>
              <a:rPr lang="en-US" altLang="zh-CN">
                <a:latin typeface="Times New Roman" panose="02020603050405020304" pitchFamily="18" charset="0"/>
                <a:cs typeface="Times New Roman" panose="02020603050405020304" pitchFamily="18" charset="0"/>
              </a:rPr>
              <a:t>8%</a:t>
            </a:r>
            <a:r>
              <a:rPr lang="zh-CN" altLang="en-US"/>
              <a:t>，期限为</a:t>
            </a:r>
            <a:r>
              <a:rPr lang="en-US" altLang="zh-CN">
                <a:latin typeface="Times New Roman" panose="02020603050405020304" pitchFamily="18" charset="0"/>
                <a:cs typeface="Times New Roman" panose="02020603050405020304" pitchFamily="18" charset="0"/>
              </a:rPr>
              <a:t>2</a:t>
            </a:r>
            <a:r>
              <a:rPr lang="zh-CN" altLang="en-US"/>
              <a:t>年的债券</a:t>
            </a:r>
            <a:r>
              <a:rPr lang="en-US" altLang="zh-CN">
                <a:latin typeface="Times New Roman" panose="02020603050405020304" pitchFamily="18" charset="0"/>
                <a:cs typeface="Times New Roman" panose="02020603050405020304" pitchFamily="18" charset="0"/>
              </a:rPr>
              <a:t>5 000</a:t>
            </a:r>
            <a:r>
              <a:rPr lang="zh-CN" altLang="en-US"/>
              <a:t>万。每年年末支付利息。假定</a:t>
            </a:r>
            <a:r>
              <a:rPr lang="en-US" altLang="zh-CN">
                <a:latin typeface="Times New Roman" panose="02020603050405020304" pitchFamily="18" charset="0"/>
                <a:cs typeface="Times New Roman" panose="02020603050405020304" pitchFamily="18" charset="0"/>
              </a:rPr>
              <a:t>2×20</a:t>
            </a:r>
            <a:r>
              <a:rPr lang="zh-CN" altLang="en-US"/>
              <a:t>年</a:t>
            </a:r>
            <a:r>
              <a:rPr lang="en-US" altLang="zh-CN">
                <a:latin typeface="Times New Roman" panose="02020603050405020304" pitchFamily="18" charset="0"/>
                <a:cs typeface="Times New Roman" panose="02020603050405020304" pitchFamily="18" charset="0"/>
              </a:rPr>
              <a:t>1</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日你以每张</a:t>
            </a:r>
            <a:r>
              <a:rPr lang="en-US" altLang="zh-CN">
                <a:latin typeface="Times New Roman" panose="02020603050405020304" pitchFamily="18" charset="0"/>
                <a:cs typeface="Times New Roman" panose="02020603050405020304" pitchFamily="18" charset="0"/>
              </a:rPr>
              <a:t>103.7</a:t>
            </a:r>
            <a:r>
              <a:rPr lang="zh-CN" altLang="en-US"/>
              <a:t>元的价格购买</a:t>
            </a:r>
            <a:r>
              <a:rPr lang="en-US" altLang="zh-CN">
                <a:latin typeface="Times New Roman" panose="02020603050405020304" pitchFamily="18" charset="0"/>
                <a:cs typeface="Times New Roman" panose="02020603050405020304" pitchFamily="18" charset="0"/>
              </a:rPr>
              <a:t>100</a:t>
            </a:r>
            <a:r>
              <a:rPr lang="zh-CN" altLang="en-US"/>
              <a:t>张，取得时应如何进行账务处理？整个持有期你的投资收益率（内含报酬率）为多少？</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1</a:t>
            </a:r>
            <a:r>
              <a:rPr lang="en-US" altLang="zh-CN"/>
              <a:t>*</a:t>
            </a:r>
          </a:p>
        </p:txBody>
      </p:sp>
      <p:sp>
        <p:nvSpPr>
          <p:cNvPr id="70659" name="Rectangle 3"/>
          <p:cNvSpPr>
            <a:spLocks noGrp="1" noChangeArrowheads="1"/>
          </p:cNvSpPr>
          <p:nvPr>
            <p:ph type="body" idx="1"/>
          </p:nvPr>
        </p:nvSpPr>
        <p:spPr/>
        <p:txBody>
          <a:bodyPr/>
          <a:lstStyle/>
          <a:p>
            <a:pPr eaLnBrk="1" hangingPunct="1"/>
            <a:r>
              <a:rPr lang="zh-CN" altLang="en-US"/>
              <a:t>取得时的账务处理：</a:t>
            </a:r>
          </a:p>
          <a:p>
            <a:pPr marL="0" indent="0" eaLnBrk="1" hangingPunct="1">
              <a:lnSpc>
                <a:spcPct val="90000"/>
              </a:lnSpc>
              <a:buNone/>
            </a:pPr>
            <a:r>
              <a:rPr lang="zh-CN" altLang="en-US" sz="2400" b="1">
                <a:latin typeface="楷体_GB2312" panose="02010609030101010101" pitchFamily="49" charset="-122"/>
                <a:ea typeface="楷体_GB2312" panose="02010609030101010101" pitchFamily="49" charset="-122"/>
                <a:cs typeface="+mn-ea"/>
              </a:rPr>
              <a:t>借：债权投资</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面值</a:t>
            </a:r>
            <a:r>
              <a:rPr lang="zh-CN" altLang="en-US" b="1">
                <a:latin typeface="黑体" panose="02010609060101010101" pitchFamily="2" charset="-122"/>
              </a:rPr>
              <a:t>            </a:t>
            </a:r>
            <a:r>
              <a:rPr lang="en-US" altLang="zh-CN" sz="2400">
                <a:latin typeface="Times New Roman" panose="02020603050405020304" pitchFamily="18" charset="0"/>
                <a:cs typeface="Times New Roman" panose="02020603050405020304" pitchFamily="18" charset="0"/>
              </a:rPr>
              <a:t>10 000</a:t>
            </a:r>
            <a:endParaRPr lang="en-US" altLang="zh-CN" b="1">
              <a:latin typeface="黑体" panose="02010609060101010101" pitchFamily="2" charset="-122"/>
            </a:endParaRPr>
          </a:p>
          <a:p>
            <a:pPr marL="0" indent="0" eaLnBrk="1" hangingPunct="1">
              <a:buNone/>
            </a:pPr>
            <a:r>
              <a:rPr lang="en-US" altLang="zh-CN" b="1">
                <a:latin typeface="黑体" panose="02010609060101010101" pitchFamily="2" charset="-122"/>
              </a:rPr>
              <a:t>    </a:t>
            </a:r>
            <a:r>
              <a:rPr lang="zh-CN" altLang="en-US" sz="2400" b="1">
                <a:latin typeface="楷体_GB2312" panose="02010609030101010101" pitchFamily="49" charset="-122"/>
                <a:ea typeface="楷体_GB2312" panose="02010609030101010101" pitchFamily="49" charset="-122"/>
                <a:cs typeface="+mn-ea"/>
              </a:rPr>
              <a:t>债权投资</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利息调整           </a:t>
            </a:r>
            <a:r>
              <a:rPr sz="2400" b="1">
                <a:solidFill>
                  <a:srgbClr val="FF0000"/>
                </a:solidFill>
                <a:latin typeface="楷体_GB2312" panose="02010609030101010101" pitchFamily="49" charset="-122"/>
                <a:ea typeface="楷体_GB2312" panose="02010609030101010101" pitchFamily="49" charset="-122"/>
                <a:cs typeface="+mn-ea"/>
              </a:rPr>
              <a:t>370</a:t>
            </a:r>
            <a:endParaRPr lang="en-US" altLang="zh-CN" b="1">
              <a:solidFill>
                <a:schemeClr val="tx2"/>
              </a:solidFill>
              <a:latin typeface="黑体" panose="02010609060101010101" pitchFamily="2" charset="-122"/>
            </a:endParaRPr>
          </a:p>
          <a:p>
            <a:pPr marL="0" indent="0" eaLnBrk="1" hangingPunct="1">
              <a:buNone/>
            </a:pPr>
            <a:r>
              <a:rPr lang="en-US" altLang="zh-CN" b="1">
                <a:latin typeface="黑体" panose="02010609060101010101" pitchFamily="2" charset="-122"/>
              </a:rPr>
              <a:t>   </a:t>
            </a:r>
            <a:r>
              <a:rPr sz="2400" b="1">
                <a:latin typeface="楷体_GB2312" panose="02010609030101010101" pitchFamily="49" charset="-122"/>
                <a:ea typeface="楷体_GB2312" panose="02010609030101010101" pitchFamily="49" charset="-122"/>
                <a:cs typeface="+mn-ea"/>
              </a:rPr>
              <a:t> </a:t>
            </a:r>
            <a:r>
              <a:rPr lang="zh-CN" altLang="en-US" sz="2400" b="1">
                <a:latin typeface="楷体_GB2312" panose="02010609030101010101" pitchFamily="49" charset="-122"/>
                <a:ea typeface="楷体_GB2312" panose="02010609030101010101" pitchFamily="49" charset="-122"/>
                <a:cs typeface="+mn-ea"/>
              </a:rPr>
              <a:t>贷：其他货币资金</a:t>
            </a:r>
            <a:r>
              <a:rPr lang="zh-CN" altLang="en-US" b="1">
                <a:latin typeface="黑体" panose="02010609060101010101" pitchFamily="2" charset="-122"/>
              </a:rPr>
              <a:t>              </a:t>
            </a:r>
            <a:r>
              <a:rPr sz="2400" b="1">
                <a:latin typeface="楷体_GB2312" panose="02010609030101010101" pitchFamily="49" charset="-122"/>
                <a:ea typeface="楷体_GB2312" panose="02010609030101010101" pitchFamily="49" charset="-122"/>
                <a:cs typeface="+mn-ea"/>
              </a:rPr>
              <a:t>10 370</a:t>
            </a:r>
            <a:r>
              <a:rPr lang="en-US" altLang="zh-CN" b="1">
                <a:latin typeface="黑体" panose="02010609060101010101" pitchFamily="2" charset="-122"/>
              </a:rPr>
              <a:t> </a:t>
            </a:r>
          </a:p>
          <a:p>
            <a:pPr eaLnBrk="1" hangingPunct="1"/>
            <a:endParaRPr lang="en-US" altLang="zh-CN" b="1">
              <a:latin typeface="黑体" panose="02010609060101010101" pitchFamily="2" charset="-122"/>
            </a:endParaRPr>
          </a:p>
          <a:p>
            <a:pPr eaLnBrk="1" hangingPunct="1"/>
            <a:r>
              <a:rPr lang="zh-CN" altLang="en-US" b="1">
                <a:latin typeface="黑体" panose="02010609060101010101" pitchFamily="2" charset="-122"/>
              </a:rPr>
              <a:t>购买成本大于债券面值，属于溢价购买</a:t>
            </a:r>
          </a:p>
          <a:p>
            <a:pPr eaLnBrk="1" hangingPunct="1"/>
            <a:r>
              <a:rPr lang="zh-CN" altLang="en-US" b="1">
                <a:latin typeface="黑体" panose="02010609060101010101" pitchFamily="2" charset="-122"/>
              </a:rPr>
              <a:t>整个持有期内你的投资收益率为多少？         </a:t>
            </a:r>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1</a:t>
            </a:r>
            <a:r>
              <a:rPr lang="en-US" altLang="zh-CN"/>
              <a:t>*</a:t>
            </a:r>
            <a:r>
              <a:rPr lang="zh-CN" altLang="en-US"/>
              <a:t>（续）</a:t>
            </a:r>
          </a:p>
        </p:txBody>
      </p:sp>
      <p:sp>
        <p:nvSpPr>
          <p:cNvPr id="71683" name="Rectangle 3"/>
          <p:cNvSpPr>
            <a:spLocks noGrp="1" noChangeArrowheads="1"/>
          </p:cNvSpPr>
          <p:nvPr>
            <p:ph type="body" sz="half" idx="1"/>
          </p:nvPr>
        </p:nvSpPr>
        <p:spPr>
          <a:xfrm>
            <a:off x="1182688" y="2017713"/>
            <a:ext cx="7637462" cy="4114800"/>
          </a:xfrm>
        </p:spPr>
        <p:txBody>
          <a:bodyPr/>
          <a:lstStyle/>
          <a:p>
            <a:pPr marL="0" indent="0" eaLnBrk="1" hangingPunct="1">
              <a:buNone/>
            </a:pPr>
            <a:r>
              <a:rPr lang="zh-CN" altLang="en-US" sz="2600" dirty="0">
                <a:latin typeface="黑体" panose="02010609060101010101" pitchFamily="2" charset="-122"/>
                <a:ea typeface="黑体" panose="02010609060101010101" pitchFamily="2" charset="-122"/>
                <a:cs typeface="黑体" panose="02010609060101010101" pitchFamily="2" charset="-122"/>
              </a:rPr>
              <a:t>你的购买成本是</a:t>
            </a:r>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10 370</a:t>
            </a:r>
            <a:r>
              <a:rPr lang="zh-CN" altLang="en-US" sz="2600" dirty="0">
                <a:latin typeface="黑体" panose="02010609060101010101" pitchFamily="2" charset="-122"/>
                <a:ea typeface="黑体" panose="02010609060101010101" pitchFamily="2" charset="-122"/>
                <a:cs typeface="黑体" panose="02010609060101010101" pitchFamily="2" charset="-122"/>
              </a:rPr>
              <a:t>元</a:t>
            </a:r>
          </a:p>
          <a:p>
            <a:pPr marL="0" indent="0" eaLnBrk="1" hangingPunct="1">
              <a:buNone/>
            </a:pPr>
            <a:r>
              <a:rPr lang="zh-CN" altLang="en-US" sz="2600" dirty="0">
                <a:latin typeface="黑体" panose="02010609060101010101" pitchFamily="2" charset="-122"/>
                <a:ea typeface="黑体" panose="02010609060101010101" pitchFamily="2" charset="-122"/>
                <a:cs typeface="黑体" panose="02010609060101010101" pitchFamily="2" charset="-122"/>
              </a:rPr>
              <a:t>                            未来现金流量                                                        </a:t>
            </a:r>
          </a:p>
          <a:p>
            <a:pPr eaLnBrk="1" hangingPunct="1"/>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2×20</a:t>
            </a:r>
            <a:r>
              <a:rPr lang="zh-CN" altLang="en-US" sz="2600" dirty="0">
                <a:latin typeface="黑体" panose="02010609060101010101" pitchFamily="2" charset="-122"/>
                <a:ea typeface="黑体" panose="02010609060101010101" pitchFamily="2" charset="-122"/>
                <a:cs typeface="黑体" panose="02010609060101010101" pitchFamily="2" charset="-122"/>
              </a:rPr>
              <a:t>年</a:t>
            </a:r>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12</a:t>
            </a:r>
            <a:r>
              <a:rPr lang="zh-CN" altLang="en-US" sz="2600" dirty="0">
                <a:latin typeface="黑体" panose="02010609060101010101" pitchFamily="2" charset="-122"/>
                <a:ea typeface="黑体" panose="02010609060101010101" pitchFamily="2" charset="-122"/>
                <a:cs typeface="黑体" panose="02010609060101010101" pitchFamily="2" charset="-122"/>
              </a:rPr>
              <a:t>月</a:t>
            </a:r>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31</a:t>
            </a:r>
            <a:r>
              <a:rPr lang="zh-CN" altLang="en-US" sz="2600" dirty="0">
                <a:latin typeface="黑体" panose="02010609060101010101" pitchFamily="2" charset="-122"/>
                <a:ea typeface="黑体" panose="02010609060101010101" pitchFamily="2" charset="-122"/>
                <a:cs typeface="黑体" panose="02010609060101010101" pitchFamily="2" charset="-122"/>
              </a:rPr>
              <a:t>日                </a:t>
            </a:r>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800 </a:t>
            </a:r>
            <a:endParaRPr lang="en-US" altLang="zh-CN" sz="2600" dirty="0">
              <a:latin typeface="黑体" panose="02010609060101010101" pitchFamily="2" charset="-122"/>
              <a:ea typeface="黑体" panose="02010609060101010101" pitchFamily="2" charset="-122"/>
              <a:cs typeface="黑体" panose="02010609060101010101" pitchFamily="2" charset="-122"/>
            </a:endParaRPr>
          </a:p>
          <a:p>
            <a:pPr eaLnBrk="1" hangingPunct="1"/>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2×21</a:t>
            </a:r>
            <a:r>
              <a:rPr lang="zh-CN" altLang="en-US" sz="2600" dirty="0">
                <a:latin typeface="黑体" panose="02010609060101010101" pitchFamily="2" charset="-122"/>
                <a:ea typeface="黑体" panose="02010609060101010101" pitchFamily="2" charset="-122"/>
                <a:cs typeface="黑体" panose="02010609060101010101" pitchFamily="2" charset="-122"/>
              </a:rPr>
              <a:t>年</a:t>
            </a:r>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12</a:t>
            </a:r>
            <a:r>
              <a:rPr lang="zh-CN" altLang="en-US" sz="2600" dirty="0">
                <a:latin typeface="黑体" panose="02010609060101010101" pitchFamily="2" charset="-122"/>
                <a:ea typeface="黑体" panose="02010609060101010101" pitchFamily="2" charset="-122"/>
                <a:cs typeface="黑体" panose="02010609060101010101" pitchFamily="2" charset="-122"/>
              </a:rPr>
              <a:t>月</a:t>
            </a:r>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31</a:t>
            </a:r>
            <a:r>
              <a:rPr lang="zh-CN" altLang="en-US" sz="2600" dirty="0">
                <a:latin typeface="黑体" panose="02010609060101010101" pitchFamily="2" charset="-122"/>
                <a:ea typeface="黑体" panose="02010609060101010101" pitchFamily="2" charset="-122"/>
                <a:cs typeface="黑体" panose="02010609060101010101" pitchFamily="2" charset="-122"/>
              </a:rPr>
              <a:t>日    </a:t>
            </a:r>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          10 800(10 000+800)</a:t>
            </a:r>
            <a:endParaRPr lang="en-US" altLang="zh-CN" sz="2600" dirty="0">
              <a:latin typeface="黑体" panose="02010609060101010101" pitchFamily="2" charset="-122"/>
              <a:ea typeface="黑体" panose="02010609060101010101" pitchFamily="2" charset="-122"/>
              <a:cs typeface="黑体" panose="02010609060101010101" pitchFamily="2" charset="-122"/>
            </a:endParaRPr>
          </a:p>
          <a:p>
            <a:pPr eaLnBrk="1" hangingPunct="1"/>
            <a:r>
              <a:rPr lang="zh-CN" altLang="en-US" sz="2600" dirty="0">
                <a:latin typeface="黑体" panose="02010609060101010101" pitchFamily="2" charset="-122"/>
                <a:ea typeface="黑体" panose="02010609060101010101" pitchFamily="2" charset="-122"/>
                <a:cs typeface="黑体" panose="02010609060101010101" pitchFamily="2" charset="-122"/>
              </a:rPr>
              <a:t>则投资收益率（内含报酬率</a:t>
            </a:r>
            <a:r>
              <a:rPr lang="en-US" altLang="zh-CN" sz="2600" dirty="0">
                <a:latin typeface="黑体" panose="02010609060101010101" pitchFamily="2" charset="-122"/>
                <a:ea typeface="黑体" panose="02010609060101010101" pitchFamily="2" charset="-122"/>
                <a:cs typeface="黑体" panose="02010609060101010101" pitchFamily="2" charset="-122"/>
              </a:rPr>
              <a:t>/</a:t>
            </a:r>
            <a:r>
              <a:rPr lang="zh-CN" altLang="en-US" sz="2600" dirty="0">
                <a:latin typeface="黑体" panose="02010609060101010101" pitchFamily="2" charset="-122"/>
                <a:ea typeface="黑体" panose="02010609060101010101" pitchFamily="2" charset="-122"/>
                <a:cs typeface="黑体" panose="02010609060101010101" pitchFamily="2" charset="-122"/>
              </a:rPr>
              <a:t>实际利率）</a:t>
            </a:r>
          </a:p>
          <a:p>
            <a:pPr eaLnBrk="1" hangingPunct="1"/>
            <a:endParaRPr lang="zh-CN" altLang="en-US" sz="2600" dirty="0">
              <a:latin typeface="黑体" panose="02010609060101010101" pitchFamily="2" charset="-122"/>
              <a:ea typeface="黑体" panose="02010609060101010101" pitchFamily="2" charset="-122"/>
              <a:cs typeface="黑体" panose="02010609060101010101" pitchFamily="2" charset="-122"/>
            </a:endParaRPr>
          </a:p>
          <a:p>
            <a:pPr eaLnBrk="1" hangingPunct="1"/>
            <a:endParaRPr lang="zh-CN" altLang="en-US" sz="2600" dirty="0">
              <a:latin typeface="黑体" panose="02010609060101010101" pitchFamily="2" charset="-122"/>
              <a:ea typeface="黑体" panose="02010609060101010101" pitchFamily="2" charset="-122"/>
              <a:cs typeface="黑体" panose="02010609060101010101" pitchFamily="2" charset="-122"/>
            </a:endParaRPr>
          </a:p>
          <a:p>
            <a:pPr eaLnBrk="1" hangingPunct="1"/>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r=6%</a:t>
            </a:r>
          </a:p>
        </p:txBody>
      </p:sp>
      <p:graphicFrame>
        <p:nvGraphicFramePr>
          <p:cNvPr id="71684" name="Object 4"/>
          <p:cNvGraphicFramePr>
            <a:graphicFrameLocks noGrp="1" noChangeAspect="1"/>
          </p:cNvGraphicFramePr>
          <p:nvPr>
            <p:ph sz="half" idx="2"/>
          </p:nvPr>
        </p:nvGraphicFramePr>
        <p:xfrm>
          <a:off x="3011647" y="4725988"/>
          <a:ext cx="3192145" cy="863600"/>
        </p:xfrm>
        <a:graphic>
          <a:graphicData uri="http://schemas.openxmlformats.org/presentationml/2006/ole">
            <mc:AlternateContent xmlns:mc="http://schemas.openxmlformats.org/markup-compatibility/2006">
              <mc:Choice xmlns:v="urn:schemas-microsoft-com:vml" Requires="v">
                <p:oleObj spid="_x0000_s71716" name="Equation" r:id="rId3" imgW="1549400" imgH="419100" progId="Equation.DSMT4">
                  <p:embed/>
                </p:oleObj>
              </mc:Choice>
              <mc:Fallback>
                <p:oleObj name="Equation" r:id="rId3" imgW="1549400" imgH="419100" progId="Equation.DSMT4">
                  <p:embed/>
                  <p:pic>
                    <p:nvPicPr>
                      <p:cNvPr id="0" name="Object 4"/>
                      <p:cNvPicPr>
                        <a:picLocks noChangeAspect="1" noChangeArrowheads="1"/>
                      </p:cNvPicPr>
                      <p:nvPr/>
                    </p:nvPicPr>
                    <p:blipFill>
                      <a:blip r:embed="rId4"/>
                      <a:srcRect/>
                      <a:stretch>
                        <a:fillRect/>
                      </a:stretch>
                    </p:blipFill>
                    <p:spPr bwMode="auto">
                      <a:xfrm>
                        <a:off x="3011647" y="4725988"/>
                        <a:ext cx="3192145"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1</a:t>
            </a:r>
            <a:r>
              <a:rPr lang="en-US" altLang="zh-CN"/>
              <a:t>*</a:t>
            </a:r>
            <a:r>
              <a:rPr lang="zh-CN" altLang="en-US"/>
              <a:t>（续）</a:t>
            </a:r>
          </a:p>
        </p:txBody>
      </p:sp>
      <p:sp>
        <p:nvSpPr>
          <p:cNvPr id="72707" name="Rectangle 3"/>
          <p:cNvSpPr>
            <a:spLocks noGrp="1" noChangeArrowheads="1"/>
          </p:cNvSpPr>
          <p:nvPr>
            <p:ph type="body" sz="half" idx="1"/>
          </p:nvPr>
        </p:nvSpPr>
        <p:spPr>
          <a:xfrm>
            <a:off x="1150938" y="2026603"/>
            <a:ext cx="7637462" cy="4114800"/>
          </a:xfrm>
        </p:spPr>
        <p:txBody>
          <a:bodyPr/>
          <a:lstStyle/>
          <a:p>
            <a:pPr marL="0" indent="0" eaLnBrk="1" hangingPunct="1">
              <a:lnSpc>
                <a:spcPct val="120000"/>
              </a:lnSpc>
              <a:buNone/>
            </a:pPr>
            <a:r>
              <a:rPr lang="zh-CN" altLang="en-US" sz="2800">
                <a:latin typeface="黑体" panose="02010609060101010101" pitchFamily="2" charset="-122"/>
                <a:ea typeface="黑体" panose="02010609060101010101" pitchFamily="2" charset="-122"/>
              </a:rPr>
              <a:t>已知实际利率为</a:t>
            </a:r>
            <a:r>
              <a:rPr lang="en-US" altLang="zh-CN" sz="2800">
                <a:latin typeface="Times New Roman" panose="02020603050405020304" pitchFamily="18" charset="0"/>
                <a:cs typeface="Times New Roman" panose="02020603050405020304" pitchFamily="18" charset="0"/>
              </a:rPr>
              <a:t>6%</a:t>
            </a:r>
            <a:r>
              <a:rPr lang="zh-CN" altLang="en-US" sz="2800"/>
              <a:t>，</a:t>
            </a:r>
            <a:r>
              <a:rPr lang="zh-CN" altLang="en-US" sz="2800">
                <a:latin typeface="黑体" panose="02010609060101010101" pitchFamily="2" charset="-122"/>
                <a:ea typeface="黑体" panose="02010609060101010101" pitchFamily="2" charset="-122"/>
              </a:rPr>
              <a:t>试计算</a:t>
            </a:r>
            <a:r>
              <a:rPr lang="zh-CN" altLang="en-US" sz="2800"/>
              <a:t>：</a:t>
            </a:r>
          </a:p>
          <a:p>
            <a:pPr marL="0" indent="0" eaLnBrk="1" hangingPunct="1">
              <a:lnSpc>
                <a:spcPct val="120000"/>
              </a:lnSpc>
              <a:buNone/>
            </a:pPr>
            <a:r>
              <a:rPr lang="zh-CN" altLang="en-US" sz="2400" b="1" dirty="0">
                <a:latin typeface="楷体_GB2312" panose="02010609030101010101" pitchFamily="49" charset="-122"/>
                <a:ea typeface="楷体_GB2312" panose="02010609030101010101" pitchFamily="49" charset="-122"/>
                <a:cs typeface="+mn-ea"/>
              </a:rPr>
              <a:t>第</a:t>
            </a: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b="1" dirty="0">
                <a:latin typeface="楷体_GB2312" panose="02010609030101010101" pitchFamily="49" charset="-122"/>
                <a:ea typeface="楷体_GB2312" panose="02010609030101010101" pitchFamily="49" charset="-122"/>
                <a:cs typeface="+mn-ea"/>
              </a:rPr>
              <a:t>年的投资收益</a:t>
            </a:r>
          </a:p>
          <a:p>
            <a:pPr marL="0" indent="0" eaLnBrk="1" hangingPunct="1">
              <a:lnSpc>
                <a:spcPct val="120000"/>
              </a:lnSpc>
              <a:buNone/>
            </a:pPr>
            <a:r>
              <a:rPr lang="zh-CN" altLang="en-US" sz="2400" b="1" dirty="0">
                <a:latin typeface="楷体_GB2312" panose="02010609030101010101" pitchFamily="49" charset="-122"/>
                <a:ea typeface="楷体_GB2312" panose="02010609030101010101" pitchFamily="49" charset="-122"/>
                <a:cs typeface="+mn-ea"/>
              </a:rPr>
              <a:t>第</a:t>
            </a: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b="1" dirty="0">
                <a:latin typeface="楷体_GB2312" panose="02010609030101010101" pitchFamily="49" charset="-122"/>
                <a:ea typeface="楷体_GB2312" panose="02010609030101010101" pitchFamily="49" charset="-122"/>
                <a:cs typeface="+mn-ea"/>
              </a:rPr>
              <a:t>年的应收利息</a:t>
            </a:r>
          </a:p>
          <a:p>
            <a:pPr marL="0" indent="0" eaLnBrk="1" hangingPunct="1">
              <a:lnSpc>
                <a:spcPct val="120000"/>
              </a:lnSpc>
              <a:buNone/>
            </a:pPr>
            <a:r>
              <a:rPr lang="zh-CN" altLang="en-US" sz="2400" b="1" dirty="0">
                <a:latin typeface="楷体_GB2312" panose="02010609030101010101" pitchFamily="49" charset="-122"/>
                <a:ea typeface="楷体_GB2312" panose="02010609030101010101" pitchFamily="49" charset="-122"/>
                <a:cs typeface="+mn-ea"/>
              </a:rPr>
              <a:t>第</a:t>
            </a: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b="1" dirty="0">
                <a:latin typeface="楷体_GB2312" panose="02010609030101010101" pitchFamily="49" charset="-122"/>
                <a:ea typeface="楷体_GB2312" panose="02010609030101010101" pitchFamily="49" charset="-122"/>
                <a:cs typeface="+mn-ea"/>
              </a:rPr>
              <a:t>年期初摊余成本</a:t>
            </a:r>
          </a:p>
          <a:p>
            <a:pPr marL="0" indent="0" eaLnBrk="1" hangingPunct="1">
              <a:lnSpc>
                <a:spcPct val="120000"/>
              </a:lnSpc>
              <a:buNone/>
            </a:pPr>
            <a:r>
              <a:rPr lang="zh-CN" altLang="en-US" sz="2400" b="1" dirty="0">
                <a:latin typeface="楷体_GB2312" panose="02010609030101010101" pitchFamily="49" charset="-122"/>
                <a:ea typeface="楷体_GB2312" panose="02010609030101010101" pitchFamily="49" charset="-122"/>
                <a:cs typeface="+mn-ea"/>
              </a:rPr>
              <a:t>第</a:t>
            </a: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b="1" dirty="0">
                <a:latin typeface="楷体_GB2312" panose="02010609030101010101" pitchFamily="49" charset="-122"/>
                <a:ea typeface="楷体_GB2312" panose="02010609030101010101" pitchFamily="49" charset="-122"/>
                <a:cs typeface="+mn-ea"/>
              </a:rPr>
              <a:t>年期末摊余成本</a:t>
            </a:r>
          </a:p>
          <a:p>
            <a:pPr marL="0" indent="0" eaLnBrk="1" hangingPunct="1">
              <a:lnSpc>
                <a:spcPct val="120000"/>
              </a:lnSpc>
              <a:buNone/>
            </a:pPr>
            <a:r>
              <a:rPr lang="zh-CN" altLang="en-US" sz="2400" b="1" dirty="0">
                <a:latin typeface="楷体_GB2312" panose="02010609030101010101" pitchFamily="49" charset="-122"/>
                <a:ea typeface="楷体_GB2312" panose="02010609030101010101" pitchFamily="49" charset="-122"/>
                <a:cs typeface="+mn-ea"/>
              </a:rPr>
              <a:t>并对第</a:t>
            </a: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b="1" dirty="0">
                <a:latin typeface="楷体_GB2312" panose="02010609030101010101" pitchFamily="49" charset="-122"/>
                <a:ea typeface="楷体_GB2312" panose="02010609030101010101" pitchFamily="49" charset="-122"/>
                <a:cs typeface="+mn-ea"/>
              </a:rPr>
              <a:t>年的情况进行会计处理：</a:t>
            </a:r>
            <a:endParaRPr lang="zh-CN" altLang="en-US" sz="28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1</a:t>
            </a:r>
            <a:r>
              <a:rPr lang="en-US" altLang="zh-CN"/>
              <a:t>*</a:t>
            </a:r>
            <a:r>
              <a:rPr lang="zh-CN" altLang="en-US"/>
              <a:t>（续）</a:t>
            </a:r>
          </a:p>
        </p:txBody>
      </p:sp>
      <p:sp>
        <p:nvSpPr>
          <p:cNvPr id="73731" name="Rectangle 3"/>
          <p:cNvSpPr>
            <a:spLocks noGrp="1" noChangeArrowheads="1"/>
          </p:cNvSpPr>
          <p:nvPr>
            <p:ph type="body" sz="half" idx="1"/>
          </p:nvPr>
        </p:nvSpPr>
        <p:spPr>
          <a:xfrm>
            <a:off x="1182688" y="2017713"/>
            <a:ext cx="7637462" cy="4114800"/>
          </a:xfrm>
        </p:spPr>
        <p:txBody>
          <a:bodyPr/>
          <a:lstStyle/>
          <a:p>
            <a:pPr marL="0" indent="0" eaLnBrk="1" hangingPunct="1">
              <a:lnSpc>
                <a:spcPct val="130000"/>
              </a:lnSpc>
              <a:buNone/>
            </a:pP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第</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年的投资收益=</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10 370×6%=622.2</a:t>
            </a:r>
            <a:endPar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endParaRPr>
          </a:p>
          <a:p>
            <a:pPr marL="0" indent="0" eaLnBrk="1" hangingPunct="1">
              <a:lnSpc>
                <a:spcPct val="130000"/>
              </a:lnSpc>
              <a:buNone/>
            </a:pP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第</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年的应收利息=</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10 000×8%=800</a:t>
            </a:r>
            <a:endPar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endParaRPr>
          </a:p>
          <a:p>
            <a:pPr marL="0" indent="0" eaLnBrk="1" hangingPunct="1">
              <a:lnSpc>
                <a:spcPct val="130000"/>
              </a:lnSpc>
              <a:buNone/>
            </a:pP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第</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年期初摊余成本=购买成本</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10 370</a:t>
            </a:r>
            <a:endPar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endParaRPr>
          </a:p>
          <a:p>
            <a:pPr marL="0" indent="0" eaLnBrk="1" hangingPunct="1">
              <a:lnSpc>
                <a:spcPct val="130000"/>
              </a:lnSpc>
              <a:buNone/>
            </a:pP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第</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年期末摊余成本=</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10370+622.2-800=10192.2</a:t>
            </a: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（元）</a:t>
            </a:r>
          </a:p>
          <a:p>
            <a:pPr marL="0" indent="0" eaLnBrk="1" hangingPunct="1">
              <a:lnSpc>
                <a:spcPct val="130000"/>
              </a:lnSpc>
              <a:buNone/>
            </a:pP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借：应收利息/其他货币资金              </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   800</a:t>
            </a:r>
          </a:p>
          <a:p>
            <a:pPr marL="0" indent="0" eaLnBrk="1" hangingPunct="1">
              <a:lnSpc>
                <a:spcPct val="130000"/>
              </a:lnSpc>
              <a:buNone/>
            </a:pP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       贷：投资收益                                    </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   622.2</a:t>
            </a:r>
          </a:p>
          <a:p>
            <a:pPr marL="0" indent="0" eaLnBrk="1" hangingPunct="1">
              <a:lnSpc>
                <a:spcPct val="130000"/>
              </a:lnSpc>
              <a:buNone/>
            </a:pPr>
            <a:r>
              <a:rPr lang="zh-CN" altLang="en-US" sz="2400" b="1" dirty="0">
                <a:latin typeface="Times New Roman" panose="02020603050405020304" pitchFamily="18" charset="0"/>
                <a:ea typeface="楷体_GB2312" panose="02010609030101010101" pitchFamily="49" charset="-122"/>
                <a:cs typeface="Times New Roman" panose="02020603050405020304" pitchFamily="18" charset="0"/>
              </a:rPr>
              <a:t>               债权投资——利息调整               </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 177.8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1</a:t>
            </a:r>
            <a:r>
              <a:rPr lang="en-US" altLang="zh-CN"/>
              <a:t>*</a:t>
            </a:r>
            <a:r>
              <a:rPr lang="zh-CN" altLang="en-US"/>
              <a:t>（续）</a:t>
            </a:r>
          </a:p>
        </p:txBody>
      </p:sp>
      <p:sp>
        <p:nvSpPr>
          <p:cNvPr id="74755" name="Rectangle 3"/>
          <p:cNvSpPr>
            <a:spLocks noGrp="1" noChangeArrowheads="1"/>
          </p:cNvSpPr>
          <p:nvPr>
            <p:ph type="body" sz="half" idx="1"/>
          </p:nvPr>
        </p:nvSpPr>
        <p:spPr>
          <a:xfrm>
            <a:off x="827088" y="2017713"/>
            <a:ext cx="7993062" cy="4114800"/>
          </a:xfrm>
        </p:spPr>
        <p:txBody>
          <a:bodyPr/>
          <a:lstStyle/>
          <a:p>
            <a:pPr marL="0" algn="l" eaLnBrk="1" hangingPunct="1">
              <a:lnSpc>
                <a:spcPct val="120000"/>
              </a:lnSpc>
              <a:buNone/>
            </a:pPr>
            <a:r>
              <a:rPr lang="zh-CN" altLang="en-US" sz="2800">
                <a:latin typeface="黑体" panose="02010609060101010101" pitchFamily="2" charset="-122"/>
                <a:ea typeface="黑体" panose="02010609060101010101" pitchFamily="2" charset="-122"/>
              </a:rPr>
              <a:t>已知实际利率为</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6%</a:t>
            </a:r>
            <a:r>
              <a:rPr lang="zh-CN" altLang="en-US" sz="2800">
                <a:latin typeface="黑体" panose="02010609060101010101" pitchFamily="2" charset="-122"/>
                <a:ea typeface="黑体" panose="02010609060101010101" pitchFamily="2" charset="-122"/>
              </a:rPr>
              <a:t>，根据上述结果，试计算：</a:t>
            </a:r>
          </a:p>
          <a:p>
            <a:pPr marL="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dirty="0">
                <a:latin typeface="Times New Roman" panose="02020603050405020304" pitchFamily="18" charset="0"/>
                <a:ea typeface="楷体_GB2312" panose="02010609030101010101" pitchFamily="49"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年的投资收益</a:t>
            </a:r>
          </a:p>
          <a:p>
            <a:pPr marL="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dirty="0">
                <a:latin typeface="Times New Roman" panose="02020603050405020304" pitchFamily="18" charset="0"/>
                <a:ea typeface="楷体_GB2312" panose="02010609030101010101" pitchFamily="49"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年的应收利息</a:t>
            </a:r>
          </a:p>
          <a:p>
            <a:pPr marL="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dirty="0">
                <a:latin typeface="Times New Roman" panose="02020603050405020304" pitchFamily="18" charset="0"/>
                <a:ea typeface="楷体_GB2312" panose="02010609030101010101" pitchFamily="49"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年期初摊余成本</a:t>
            </a:r>
          </a:p>
          <a:p>
            <a:pPr marL="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dirty="0">
                <a:latin typeface="Times New Roman" panose="02020603050405020304" pitchFamily="18" charset="0"/>
                <a:ea typeface="楷体_GB2312" panose="02010609030101010101" pitchFamily="49"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年期末摊余成本</a:t>
            </a:r>
          </a:p>
          <a:p>
            <a:pPr marL="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并对第</a:t>
            </a:r>
            <a:r>
              <a:rPr lang="en-US" altLang="zh-CN" sz="2400" dirty="0">
                <a:latin typeface="Times New Roman" panose="02020603050405020304" pitchFamily="18" charset="0"/>
                <a:ea typeface="楷体_GB2312" panose="02010609030101010101" pitchFamily="49"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年的情况进行会计处理：</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1</a:t>
            </a:r>
            <a:r>
              <a:rPr lang="en-US" altLang="zh-CN"/>
              <a:t>*</a:t>
            </a:r>
            <a:r>
              <a:rPr lang="zh-CN" altLang="en-US"/>
              <a:t>（续）</a:t>
            </a:r>
          </a:p>
        </p:txBody>
      </p:sp>
      <p:sp>
        <p:nvSpPr>
          <p:cNvPr id="75779" name="Rectangle 3"/>
          <p:cNvSpPr>
            <a:spLocks noGrp="1" noChangeArrowheads="1"/>
          </p:cNvSpPr>
          <p:nvPr>
            <p:ph type="body" sz="half" idx="1"/>
          </p:nvPr>
        </p:nvSpPr>
        <p:spPr>
          <a:xfrm>
            <a:off x="1182688" y="2017713"/>
            <a:ext cx="7637462" cy="4114800"/>
          </a:xfrm>
        </p:spPr>
        <p:txBody>
          <a:bodyPr/>
          <a:lstStyle/>
          <a:p>
            <a:pPr marL="0" indent="0"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年的投资收益</a:t>
            </a:r>
            <a:r>
              <a:rPr lang="en-US" altLang="zh-CN" sz="2400"/>
              <a:t>=</a:t>
            </a:r>
            <a:r>
              <a:rPr lang="en-US" altLang="zh-CN" sz="2400">
                <a:latin typeface="Times New Roman" panose="02020603050405020304" pitchFamily="18" charset="0"/>
                <a:cs typeface="Times New Roman" panose="02020603050405020304" pitchFamily="18" charset="0"/>
              </a:rPr>
              <a:t>10 192.2×6%=</a:t>
            </a:r>
            <a:r>
              <a:rPr lang="en-US" altLang="zh-CN" sz="2400">
                <a:solidFill>
                  <a:srgbClr val="FF0000"/>
                </a:solidFill>
                <a:latin typeface="Times New Roman" panose="02020603050405020304" pitchFamily="18" charset="0"/>
                <a:cs typeface="Times New Roman" panose="02020603050405020304" pitchFamily="18" charset="0"/>
              </a:rPr>
              <a:t>611.5</a:t>
            </a:r>
          </a:p>
          <a:p>
            <a:pPr marL="0" indent="0"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cs typeface="Times New Roman" panose="02020603050405020304" pitchFamily="18" charset="0"/>
              </a:rPr>
              <a:t>2</a:t>
            </a:r>
            <a:r>
              <a:rPr lang="zh-CN" altLang="en-US" sz="2400"/>
              <a:t>年</a:t>
            </a:r>
            <a:r>
              <a:rPr lang="zh-CN" altLang="en-US" sz="2400" dirty="0">
                <a:latin typeface="楷体_GB2312" panose="02010609030101010101" pitchFamily="49" charset="-122"/>
                <a:ea typeface="楷体_GB2312" panose="02010609030101010101" pitchFamily="49" charset="-122"/>
                <a:cs typeface="+mn-ea"/>
              </a:rPr>
              <a:t>的应收利息</a:t>
            </a:r>
            <a:r>
              <a:rPr lang="en-US" altLang="zh-CN" sz="2400"/>
              <a:t>=</a:t>
            </a:r>
            <a:r>
              <a:rPr lang="en-US" altLang="zh-CN" sz="2400">
                <a:latin typeface="Times New Roman" panose="02020603050405020304" pitchFamily="18" charset="0"/>
                <a:cs typeface="Times New Roman" panose="02020603050405020304" pitchFamily="18" charset="0"/>
              </a:rPr>
              <a:t>10 000×8%=800</a:t>
            </a:r>
            <a:endParaRPr lang="en-US" altLang="zh-CN" sz="2400"/>
          </a:p>
          <a:p>
            <a:pPr marL="0" indent="0"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年期初摊余成本=第</a:t>
            </a:r>
            <a:r>
              <a:rPr lang="en-US" altLang="zh-CN" sz="2400">
                <a:latin typeface="Times New Roman" panose="02020603050405020304" pitchFamily="18" charset="0"/>
                <a:cs typeface="Times New Roman" panose="02020603050405020304" pitchFamily="18" charset="0"/>
              </a:rPr>
              <a:t>1</a:t>
            </a:r>
            <a:r>
              <a:rPr lang="zh-CN" altLang="en-US" sz="2400" dirty="0">
                <a:latin typeface="楷体_GB2312" panose="02010609030101010101" pitchFamily="49" charset="-122"/>
                <a:ea typeface="楷体_GB2312" panose="02010609030101010101" pitchFamily="49" charset="-122"/>
                <a:cs typeface="+mn-ea"/>
              </a:rPr>
              <a:t>年期末摊余成本</a:t>
            </a:r>
            <a:endParaRPr lang="zh-CN" altLang="en-US" sz="2400"/>
          </a:p>
          <a:p>
            <a:pPr marL="0" indent="0"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年期末摊余成本</a:t>
            </a:r>
            <a:r>
              <a:rPr lang="en-US" altLang="zh-CN" sz="2400"/>
              <a:t>=</a:t>
            </a:r>
            <a:r>
              <a:rPr lang="en-US" altLang="zh-CN" sz="2400">
                <a:latin typeface="Times New Roman" panose="02020603050405020304" pitchFamily="18" charset="0"/>
                <a:cs typeface="Times New Roman" panose="02020603050405020304" pitchFamily="18" charset="0"/>
              </a:rPr>
              <a:t>10192.2+611.5-800=10004</a:t>
            </a:r>
          </a:p>
          <a:p>
            <a:pPr marL="0" indent="0"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注：由于第</a:t>
            </a:r>
            <a:r>
              <a:rPr lang="en-US" altLang="zh-CN" sz="2400">
                <a:latin typeface="Times New Roman" panose="02020603050405020304" pitchFamily="18" charset="0"/>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期末（债券到期）摊余成本应当为</a:t>
            </a:r>
            <a:r>
              <a:rPr lang="en-US" altLang="zh-CN" sz="2400">
                <a:latin typeface="Times New Roman" panose="02020603050405020304" pitchFamily="18" charset="0"/>
                <a:cs typeface="Times New Roman" panose="02020603050405020304" pitchFamily="18" charset="0"/>
              </a:rPr>
              <a:t>10000</a:t>
            </a:r>
            <a:r>
              <a:rPr lang="zh-CN" altLang="en-US" sz="2400"/>
              <a:t>，</a:t>
            </a:r>
            <a:r>
              <a:rPr lang="zh-CN" altLang="en-US" sz="2400" dirty="0">
                <a:latin typeface="楷体_GB2312" panose="02010609030101010101" pitchFamily="49" charset="-122"/>
                <a:ea typeface="楷体_GB2312" panose="02010609030101010101" pitchFamily="49" charset="-122"/>
                <a:cs typeface="+mn-ea"/>
              </a:rPr>
              <a:t>因此，债券最后</a:t>
            </a:r>
            <a:r>
              <a:rPr lang="en-US" altLang="zh-CN" sz="2400">
                <a:latin typeface="Times New Roman" panose="02020603050405020304" pitchFamily="18" charset="0"/>
                <a:cs typeface="Times New Roman" panose="02020603050405020304" pitchFamily="18" charset="0"/>
              </a:rPr>
              <a:t>1</a:t>
            </a:r>
            <a:r>
              <a:rPr lang="zh-CN" altLang="en-US" sz="2400" dirty="0">
                <a:latin typeface="楷体_GB2312" panose="02010609030101010101" pitchFamily="49" charset="-122"/>
                <a:ea typeface="楷体_GB2312" panose="02010609030101010101" pitchFamily="49" charset="-122"/>
                <a:cs typeface="+mn-ea"/>
              </a:rPr>
              <a:t>期的投资收益常常通过倒挤得出，即投资收益</a:t>
            </a:r>
            <a:r>
              <a:rPr lang="en-US" altLang="zh-CN" sz="2400"/>
              <a:t>=</a:t>
            </a:r>
            <a:r>
              <a:rPr lang="en-US" altLang="zh-CN" sz="2400">
                <a:latin typeface="Times New Roman" panose="02020603050405020304" pitchFamily="18" charset="0"/>
                <a:cs typeface="Times New Roman" panose="02020603050405020304" pitchFamily="18" charset="0"/>
              </a:rPr>
              <a:t>10000-10192.2+800=</a:t>
            </a:r>
            <a:r>
              <a:rPr lang="en-US" altLang="zh-CN" sz="2400">
                <a:solidFill>
                  <a:srgbClr val="FF0000"/>
                </a:solidFill>
                <a:latin typeface="Times New Roman" panose="02020603050405020304" pitchFamily="18" charset="0"/>
                <a:cs typeface="Times New Roman" panose="02020603050405020304" pitchFamily="18" charset="0"/>
              </a:rPr>
              <a:t>607.8</a:t>
            </a:r>
            <a:r>
              <a:rPr lang="zh-CN" altLang="en-US" sz="2400"/>
              <a:t>（</a:t>
            </a:r>
            <a:r>
              <a:rPr lang="zh-CN" altLang="en-US" sz="2400" dirty="0">
                <a:latin typeface="楷体_GB2312" panose="02010609030101010101" pitchFamily="49" charset="-122"/>
                <a:ea typeface="楷体_GB2312" panose="02010609030101010101" pitchFamily="49" charset="-122"/>
                <a:cs typeface="+mn-ea"/>
              </a:rPr>
              <a:t>元</a:t>
            </a:r>
            <a:r>
              <a:rPr lang="zh-CN" altLang="en-US" sz="2400"/>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1</a:t>
            </a:r>
            <a:r>
              <a:rPr lang="en-US" altLang="zh-CN"/>
              <a:t>*</a:t>
            </a:r>
            <a:r>
              <a:rPr lang="zh-CN" altLang="en-US"/>
              <a:t>（续）</a:t>
            </a:r>
          </a:p>
        </p:txBody>
      </p:sp>
      <p:sp>
        <p:nvSpPr>
          <p:cNvPr id="76803" name="Rectangle 3"/>
          <p:cNvSpPr>
            <a:spLocks noGrp="1" noChangeArrowheads="1"/>
          </p:cNvSpPr>
          <p:nvPr>
            <p:ph type="body" idx="1"/>
          </p:nvPr>
        </p:nvSpPr>
        <p:spPr/>
        <p:txBody>
          <a:bodyPr/>
          <a:lstStyle/>
          <a:p>
            <a:pPr marL="0" indent="0" eaLnBrk="1" hangingPunct="1">
              <a:buNone/>
            </a:pPr>
            <a:r>
              <a:rPr lang="zh-CN" altLang="en-US" sz="2800"/>
              <a:t>计算第</a:t>
            </a:r>
            <a:r>
              <a:rPr lang="en-US" altLang="zh-CN" sz="2800">
                <a:latin typeface="Times New Roman" panose="02020603050405020304" pitchFamily="18" charset="0"/>
                <a:cs typeface="Times New Roman" panose="02020603050405020304" pitchFamily="18" charset="0"/>
              </a:rPr>
              <a:t>2</a:t>
            </a:r>
            <a:r>
              <a:rPr lang="zh-CN" altLang="en-US" sz="2800"/>
              <a:t>年的投资收益</a:t>
            </a:r>
          </a:p>
          <a:p>
            <a:pPr marL="0" indent="0" algn="l" eaLnBrk="1" hangingPunct="1">
              <a:buNone/>
            </a:pPr>
            <a:r>
              <a:rPr lang="zh-CN" altLang="en-US" sz="2400" b="1">
                <a:latin typeface="楷体_GB2312" panose="02010609030101010101" pitchFamily="49" charset="-122"/>
                <a:ea typeface="楷体_GB2312" panose="02010609030101010101" pitchFamily="49" charset="-122"/>
                <a:cs typeface="+mn-ea"/>
              </a:rPr>
              <a:t>借：应收利息</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其他货币资金               </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800</a:t>
            </a:r>
            <a:r>
              <a:rPr lang="zh-CN" altLang="en-US" sz="2800"/>
              <a:t>             </a:t>
            </a:r>
            <a:r>
              <a:rPr lang="en-US" altLang="zh-CN" sz="2800"/>
              <a:t>    </a:t>
            </a:r>
            <a:r>
              <a:rPr sz="2400" b="1">
                <a:latin typeface="楷体_GB2312" panose="02010609030101010101" pitchFamily="49" charset="-122"/>
                <a:ea typeface="楷体_GB2312" panose="02010609030101010101" pitchFamily="49" charset="-122"/>
                <a:cs typeface="+mn-ea"/>
              </a:rPr>
              <a:t>      </a:t>
            </a:r>
            <a:r>
              <a:rPr lang="zh-CN" altLang="en-US" sz="2400" b="1">
                <a:latin typeface="楷体_GB2312" panose="02010609030101010101" pitchFamily="49" charset="-122"/>
                <a:ea typeface="楷体_GB2312" panose="02010609030101010101" pitchFamily="49" charset="-122"/>
                <a:cs typeface="+mn-ea"/>
              </a:rPr>
              <a:t>  </a:t>
            </a:r>
            <a:r>
              <a:rPr lang="zh-CN" altLang="en-US" sz="2800"/>
              <a:t>                  </a:t>
            </a:r>
            <a:r>
              <a:rPr sz="2800">
                <a:sym typeface="+mn-ea"/>
              </a:rPr>
              <a:t>                        </a:t>
            </a:r>
            <a:r>
              <a:rPr lang="en-US" altLang="zh-CN" sz="2800">
                <a:solidFill>
                  <a:srgbClr val="FF0000"/>
                </a:solidFill>
                <a:latin typeface="Times New Roman" panose="02020603050405020304" pitchFamily="18" charset="0"/>
                <a:cs typeface="Times New Roman" panose="02020603050405020304" pitchFamily="18" charset="0"/>
                <a:sym typeface="+mn-ea"/>
              </a:rPr>
              <a:t>                                      </a:t>
            </a:r>
            <a:endParaRPr lang="en-US" altLang="zh-CN" sz="2800">
              <a:latin typeface="Times New Roman" panose="02020603050405020304" pitchFamily="18" charset="0"/>
              <a:cs typeface="Times New Roman" panose="02020603050405020304" pitchFamily="18" charset="0"/>
            </a:endParaRPr>
          </a:p>
          <a:p>
            <a:pPr marL="0" indent="0" eaLnBrk="1" hangingPunct="1">
              <a:buNone/>
            </a:pPr>
            <a:r>
              <a:rPr lang="en-US" altLang="zh-CN" sz="2800"/>
              <a:t>   </a:t>
            </a:r>
            <a:r>
              <a:rPr sz="2400" b="1">
                <a:latin typeface="楷体_GB2312" panose="02010609030101010101" pitchFamily="49" charset="-122"/>
                <a:ea typeface="楷体_GB2312" panose="02010609030101010101" pitchFamily="49" charset="-122"/>
                <a:cs typeface="+mn-ea"/>
                <a:sym typeface="+mn-ea"/>
              </a:rPr>
              <a:t>贷：投资收益</a:t>
            </a:r>
            <a:r>
              <a:rPr sz="2800" b="1">
                <a:latin typeface="楷体_GB2312" panose="02010609030101010101" pitchFamily="49" charset="-122"/>
                <a:ea typeface="楷体_GB2312" panose="02010609030101010101" pitchFamily="49" charset="-122"/>
                <a:cs typeface="+mn-ea"/>
                <a:sym typeface="+mn-ea"/>
              </a:rPr>
              <a:t>                   </a:t>
            </a:r>
            <a:r>
              <a:rPr lang="en-US" altLang="zh-CN" sz="2400">
                <a:solidFill>
                  <a:srgbClr val="FF0000"/>
                </a:solidFill>
                <a:latin typeface="Times New Roman" panose="02020603050405020304" pitchFamily="18" charset="0"/>
                <a:cs typeface="Times New Roman" panose="02020603050405020304" pitchFamily="18" charset="0"/>
                <a:sym typeface="+mn-ea"/>
              </a:rPr>
              <a:t>607.8</a:t>
            </a:r>
            <a:endParaRPr lang="en-US" altLang="zh-CN" sz="2400"/>
          </a:p>
          <a:p>
            <a:pPr marL="0" indent="0" eaLnBrk="1" hangingPunct="1">
              <a:buNone/>
            </a:pPr>
            <a:r>
              <a:rPr lang="en-US" altLang="zh-CN" sz="2800"/>
              <a:t>       </a:t>
            </a:r>
            <a:r>
              <a:rPr lang="zh-CN" altLang="en-US" sz="2400" b="1">
                <a:latin typeface="楷体_GB2312" panose="02010609030101010101" pitchFamily="49" charset="-122"/>
                <a:ea typeface="楷体_GB2312" panose="02010609030101010101" pitchFamily="49" charset="-122"/>
                <a:cs typeface="+mn-ea"/>
              </a:rPr>
              <a:t>债权投资</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利息调整           </a:t>
            </a:r>
            <a:r>
              <a:rPr lang="en-US" altLang="zh-CN" sz="2400">
                <a:latin typeface="Times New Roman" panose="02020603050405020304" pitchFamily="18" charset="0"/>
                <a:cs typeface="Times New Roman" panose="02020603050405020304" pitchFamily="18" charset="0"/>
              </a:rPr>
              <a:t>192.2</a:t>
            </a:r>
            <a:endParaRPr lang="en-US" altLang="zh-CN" sz="280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pPr>
            <a:r>
              <a:rPr lang="en-US" altLang="zh-CN" sz="2800"/>
              <a:t>                                     </a:t>
            </a:r>
          </a:p>
          <a:p>
            <a:pPr eaLnBrk="1" hangingPunct="1"/>
            <a:endParaRPr lang="en-US" altLang="zh-CN" sz="28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2</a:t>
            </a:r>
            <a:r>
              <a:rPr lang="en-US" altLang="zh-CN"/>
              <a:t>*</a:t>
            </a:r>
          </a:p>
        </p:txBody>
      </p:sp>
      <p:sp>
        <p:nvSpPr>
          <p:cNvPr id="77827" name="Rectangle 3"/>
          <p:cNvSpPr>
            <a:spLocks noGrp="1" noChangeArrowheads="1"/>
          </p:cNvSpPr>
          <p:nvPr>
            <p:ph type="body" idx="1"/>
          </p:nvPr>
        </p:nvSpPr>
        <p:spPr/>
        <p:txBody>
          <a:bodyPr/>
          <a:lstStyle/>
          <a:p>
            <a:pPr eaLnBrk="1" hangingPunct="1"/>
            <a:r>
              <a:rPr lang="en-US" altLang="zh-CN">
                <a:latin typeface="Times New Roman" panose="02020603050405020304" pitchFamily="18" charset="0"/>
                <a:cs typeface="Times New Roman" panose="02020603050405020304" pitchFamily="18" charset="0"/>
              </a:rPr>
              <a:t>2×19</a:t>
            </a:r>
            <a:r>
              <a:rPr lang="zh-CN" altLang="en-US"/>
              <a:t>年</a:t>
            </a:r>
            <a:r>
              <a:rPr lang="en-US" altLang="zh-CN">
                <a:latin typeface="Times New Roman" panose="02020603050405020304" pitchFamily="18" charset="0"/>
                <a:cs typeface="Times New Roman" panose="02020603050405020304" pitchFamily="18" charset="0"/>
              </a:rPr>
              <a:t>12</a:t>
            </a:r>
            <a:r>
              <a:rPr lang="zh-CN" altLang="en-US"/>
              <a:t>月，</a:t>
            </a:r>
            <a:r>
              <a:rPr lang="en-US" altLang="zh-CN">
                <a:latin typeface="Times New Roman" panose="02020603050405020304" pitchFamily="18" charset="0"/>
                <a:cs typeface="Times New Roman" panose="02020603050405020304" pitchFamily="18" charset="0"/>
              </a:rPr>
              <a:t>P</a:t>
            </a:r>
            <a:r>
              <a:rPr lang="zh-CN" altLang="en-US"/>
              <a:t>公司决定于</a:t>
            </a:r>
            <a:r>
              <a:rPr lang="en-US" altLang="zh-CN">
                <a:latin typeface="Times New Roman" panose="02020603050405020304" pitchFamily="18" charset="0"/>
                <a:cs typeface="Times New Roman" panose="02020603050405020304" pitchFamily="18" charset="0"/>
              </a:rPr>
              <a:t>2×20</a:t>
            </a:r>
            <a:r>
              <a:rPr lang="zh-CN" altLang="en-US"/>
              <a:t>年</a:t>
            </a:r>
            <a:r>
              <a:rPr lang="en-US" altLang="zh-CN">
                <a:latin typeface="Times New Roman" panose="02020603050405020304" pitchFamily="18" charset="0"/>
                <a:cs typeface="Times New Roman" panose="02020603050405020304" pitchFamily="18" charset="0"/>
              </a:rPr>
              <a:t>1</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日发行每张面值为</a:t>
            </a:r>
            <a:r>
              <a:rPr lang="en-US" altLang="zh-CN">
                <a:latin typeface="Times New Roman" panose="02020603050405020304" pitchFamily="18" charset="0"/>
                <a:cs typeface="Times New Roman" panose="02020603050405020304" pitchFamily="18" charset="0"/>
              </a:rPr>
              <a:t>100</a:t>
            </a:r>
            <a:r>
              <a:rPr lang="zh-CN" altLang="en-US"/>
              <a:t>元，票面利率为</a:t>
            </a:r>
            <a:r>
              <a:rPr lang="en-US" altLang="zh-CN">
                <a:latin typeface="Times New Roman" panose="02020603050405020304" pitchFamily="18" charset="0"/>
                <a:cs typeface="Times New Roman" panose="02020603050405020304" pitchFamily="18" charset="0"/>
              </a:rPr>
              <a:t>8%</a:t>
            </a:r>
            <a:r>
              <a:rPr lang="zh-CN" altLang="en-US"/>
              <a:t>，期限为</a:t>
            </a:r>
            <a:r>
              <a:rPr lang="en-US" altLang="zh-CN">
                <a:latin typeface="Times New Roman" panose="02020603050405020304" pitchFamily="18" charset="0"/>
                <a:cs typeface="Times New Roman" panose="02020603050405020304" pitchFamily="18" charset="0"/>
              </a:rPr>
              <a:t>2</a:t>
            </a:r>
            <a:r>
              <a:rPr lang="zh-CN" altLang="en-US"/>
              <a:t>年的债券</a:t>
            </a:r>
            <a:r>
              <a:rPr lang="en-US" altLang="zh-CN">
                <a:latin typeface="Times New Roman" panose="02020603050405020304" pitchFamily="18" charset="0"/>
                <a:cs typeface="Times New Roman" panose="02020603050405020304" pitchFamily="18" charset="0"/>
              </a:rPr>
              <a:t>5 000</a:t>
            </a:r>
            <a:r>
              <a:rPr lang="zh-CN" altLang="en-US"/>
              <a:t>万。每年年末支付利息。假定</a:t>
            </a:r>
            <a:r>
              <a:rPr lang="en-US" altLang="zh-CN">
                <a:latin typeface="Times New Roman" panose="02020603050405020304" pitchFamily="18" charset="0"/>
                <a:cs typeface="Times New Roman" panose="02020603050405020304" pitchFamily="18" charset="0"/>
              </a:rPr>
              <a:t>2×20</a:t>
            </a:r>
            <a:r>
              <a:rPr lang="zh-CN" altLang="en-US"/>
              <a:t>年</a:t>
            </a:r>
            <a:r>
              <a:rPr lang="en-US" altLang="zh-CN">
                <a:latin typeface="Times New Roman" panose="02020603050405020304" pitchFamily="18" charset="0"/>
                <a:cs typeface="Times New Roman" panose="02020603050405020304" pitchFamily="18" charset="0"/>
              </a:rPr>
              <a:t>1</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日你以每张</a:t>
            </a:r>
            <a:r>
              <a:rPr lang="en-US" altLang="zh-CN">
                <a:latin typeface="Times New Roman" panose="02020603050405020304" pitchFamily="18" charset="0"/>
                <a:cs typeface="Times New Roman" panose="02020603050405020304" pitchFamily="18" charset="0"/>
              </a:rPr>
              <a:t>96.5</a:t>
            </a:r>
            <a:r>
              <a:rPr lang="zh-CN" altLang="en-US"/>
              <a:t>元的价格购买</a:t>
            </a:r>
            <a:r>
              <a:rPr lang="en-US" altLang="zh-CN">
                <a:latin typeface="Times New Roman" panose="02020603050405020304" pitchFamily="18" charset="0"/>
                <a:cs typeface="Times New Roman" panose="02020603050405020304" pitchFamily="18" charset="0"/>
              </a:rPr>
              <a:t>100</a:t>
            </a:r>
            <a:r>
              <a:rPr lang="zh-CN" altLang="en-US"/>
              <a:t>张，取得时应如何进行账务处理？整个持有期你的投资收益率（内含报酬率）为多少？</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2</a:t>
            </a:r>
            <a:r>
              <a:rPr lang="en-US" altLang="zh-CN"/>
              <a:t>*</a:t>
            </a:r>
          </a:p>
        </p:txBody>
      </p:sp>
      <p:sp>
        <p:nvSpPr>
          <p:cNvPr id="78851" name="Rectangle 3"/>
          <p:cNvSpPr>
            <a:spLocks noGrp="1" noChangeArrowheads="1"/>
          </p:cNvSpPr>
          <p:nvPr>
            <p:ph type="body" idx="1"/>
          </p:nvPr>
        </p:nvSpPr>
        <p:spPr/>
        <p:txBody>
          <a:bodyPr/>
          <a:lstStyle/>
          <a:p>
            <a:pPr marL="0" indent="0" eaLnBrk="1" hangingPunct="1">
              <a:buNone/>
            </a:pPr>
            <a:r>
              <a:rPr lang="zh-CN" altLang="en-US"/>
              <a:t>取得时的账务处理：</a:t>
            </a:r>
          </a:p>
          <a:p>
            <a:pPr marL="0" indent="0" eaLnBrk="1" hangingPunct="1">
              <a:lnSpc>
                <a:spcPct val="90000"/>
              </a:lnSpc>
              <a:buNone/>
            </a:pPr>
            <a:r>
              <a:rPr lang="zh-CN" altLang="en-US" sz="2400" b="1">
                <a:latin typeface="楷体_GB2312" panose="02010609030101010101" pitchFamily="49" charset="-122"/>
                <a:ea typeface="楷体_GB2312" panose="02010609030101010101" pitchFamily="49" charset="-122"/>
                <a:cs typeface="+mn-ea"/>
              </a:rPr>
              <a:t>借：债权投资</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面值</a:t>
            </a:r>
            <a:r>
              <a:rPr lang="zh-CN" altLang="en-US" sz="2800" b="1">
                <a:latin typeface="黑体" panose="02010609060101010101" pitchFamily="2" charset="-122"/>
              </a:rPr>
              <a:t>  </a:t>
            </a:r>
            <a:r>
              <a:rPr lang="zh-CN" altLang="en-US" sz="2400" b="1">
                <a:latin typeface="黑体" panose="02010609060101010101" pitchFamily="2" charset="-122"/>
              </a:rPr>
              <a:t> </a:t>
            </a:r>
            <a:r>
              <a:rPr lang="en-US" altLang="zh-CN" sz="2400" b="1">
                <a:latin typeface="Times New Roman" panose="02020603050405020304" pitchFamily="18" charset="0"/>
                <a:cs typeface="Times New Roman" panose="02020603050405020304" pitchFamily="18" charset="0"/>
              </a:rPr>
              <a:t>10 000</a:t>
            </a:r>
            <a:endParaRPr lang="en-US" altLang="zh-CN" sz="2400" b="1">
              <a:latin typeface="黑体" panose="02010609060101010101" pitchFamily="2" charset="-122"/>
            </a:endParaRPr>
          </a:p>
          <a:p>
            <a:pPr marL="0" indent="0" eaLnBrk="1" hangingPunct="1">
              <a:buNone/>
            </a:pPr>
            <a:r>
              <a:rPr lang="en-US" altLang="zh-CN" sz="2800" b="1">
                <a:latin typeface="黑体" panose="02010609060101010101" pitchFamily="2" charset="-122"/>
              </a:rPr>
              <a:t>    </a:t>
            </a:r>
            <a:r>
              <a:rPr lang="zh-CN" altLang="en-US" sz="2400" b="1">
                <a:latin typeface="楷体_GB2312" panose="02010609030101010101" pitchFamily="49" charset="-122"/>
                <a:ea typeface="楷体_GB2312" panose="02010609030101010101" pitchFamily="49" charset="-122"/>
                <a:cs typeface="+mn-ea"/>
              </a:rPr>
              <a:t>贷：其他货币资金</a:t>
            </a:r>
            <a:r>
              <a:rPr lang="zh-CN" altLang="en-US" sz="2800" b="1">
                <a:latin typeface="黑体" panose="02010609060101010101" pitchFamily="2" charset="-122"/>
              </a:rPr>
              <a:t>                 </a:t>
            </a:r>
            <a:r>
              <a:rPr lang="en-US" altLang="zh-CN" sz="2400" b="1">
                <a:latin typeface="Times New Roman" panose="02020603050405020304" pitchFamily="18" charset="0"/>
                <a:cs typeface="Times New Roman" panose="02020603050405020304" pitchFamily="18" charset="0"/>
              </a:rPr>
              <a:t>9 650</a:t>
            </a:r>
            <a:endParaRPr lang="en-US" altLang="zh-CN" sz="2800" b="1">
              <a:latin typeface="黑体" panose="02010609060101010101" pitchFamily="2" charset="-122"/>
            </a:endParaRPr>
          </a:p>
          <a:p>
            <a:pPr marL="0" indent="0" eaLnBrk="1" hangingPunct="1">
              <a:buNone/>
            </a:pPr>
            <a:r>
              <a:rPr lang="en-US" altLang="zh-CN" sz="2800" b="1">
                <a:solidFill>
                  <a:schemeClr val="tx2"/>
                </a:solidFill>
                <a:latin typeface="黑体" panose="02010609060101010101" pitchFamily="2" charset="-122"/>
              </a:rPr>
              <a:t>        </a:t>
            </a:r>
            <a:r>
              <a:rPr lang="zh-CN" altLang="en-US" sz="2400" b="1">
                <a:solidFill>
                  <a:srgbClr val="FF0000"/>
                </a:solidFill>
                <a:latin typeface="楷体_GB2312" panose="02010609030101010101" pitchFamily="49" charset="-122"/>
                <a:ea typeface="楷体_GB2312" panose="02010609030101010101" pitchFamily="49" charset="-122"/>
                <a:cs typeface="+mn-ea"/>
              </a:rPr>
              <a:t>债权投资</a:t>
            </a:r>
            <a:r>
              <a:rPr sz="2400" b="1">
                <a:solidFill>
                  <a:srgbClr val="FF0000"/>
                </a:solidFill>
                <a:latin typeface="楷体_GB2312" panose="02010609030101010101" pitchFamily="49" charset="-122"/>
                <a:ea typeface="楷体_GB2312" panose="02010609030101010101" pitchFamily="49" charset="-122"/>
                <a:cs typeface="+mn-ea"/>
              </a:rPr>
              <a:t>—</a:t>
            </a:r>
            <a:r>
              <a:rPr lang="zh-CN" altLang="en-US" sz="2400" b="1">
                <a:solidFill>
                  <a:srgbClr val="FF0000"/>
                </a:solidFill>
                <a:latin typeface="楷体_GB2312" panose="02010609030101010101" pitchFamily="49" charset="-122"/>
                <a:ea typeface="楷体_GB2312" panose="02010609030101010101" pitchFamily="49" charset="-122"/>
                <a:cs typeface="+mn-ea"/>
              </a:rPr>
              <a:t>利息调整</a:t>
            </a:r>
            <a:r>
              <a:rPr lang="zh-CN" altLang="en-US" sz="2800" b="1">
                <a:solidFill>
                  <a:srgbClr val="FF0000"/>
                </a:solidFill>
                <a:latin typeface="黑体" panose="02010609060101010101" pitchFamily="2" charset="-122"/>
              </a:rPr>
              <a:t>             </a:t>
            </a:r>
            <a:r>
              <a:rPr lang="en-US" altLang="zh-CN" sz="2400" b="1">
                <a:solidFill>
                  <a:srgbClr val="FF0000"/>
                </a:solidFill>
                <a:latin typeface="Times New Roman" panose="02020603050405020304" pitchFamily="18" charset="0"/>
                <a:cs typeface="Times New Roman" panose="02020603050405020304" pitchFamily="18" charset="0"/>
              </a:rPr>
              <a:t>350</a:t>
            </a:r>
            <a:endParaRPr lang="en-US" altLang="zh-CN" sz="2800" b="1">
              <a:solidFill>
                <a:srgbClr val="FF0000"/>
              </a:solidFill>
              <a:latin typeface="黑体" panose="02010609060101010101" pitchFamily="2" charset="-122"/>
            </a:endParaRPr>
          </a:p>
          <a:p>
            <a:pPr eaLnBrk="1" hangingPunct="1"/>
            <a:endParaRPr lang="en-US" altLang="zh-CN" sz="2800" b="1">
              <a:latin typeface="黑体" panose="02010609060101010101" pitchFamily="2" charset="-122"/>
            </a:endParaRPr>
          </a:p>
          <a:p>
            <a:pPr eaLnBrk="1" hangingPunct="1"/>
            <a:r>
              <a:rPr lang="zh-CN" altLang="en-US" b="1">
                <a:latin typeface="黑体" panose="02010609060101010101" pitchFamily="2" charset="-122"/>
              </a:rPr>
              <a:t>购买成本小于债券面值，属于折价购买</a:t>
            </a:r>
          </a:p>
          <a:p>
            <a:pPr eaLnBrk="1" hangingPunct="1"/>
            <a:r>
              <a:rPr lang="zh-CN" altLang="en-US" b="1">
                <a:latin typeface="黑体" panose="02010609060101010101" pitchFamily="2" charset="-122"/>
              </a:rPr>
              <a:t>整个持有期内你的投资收益率为多少？ </a:t>
            </a:r>
            <a:r>
              <a:rPr lang="zh-CN" altLang="en-US" sz="2800" b="1">
                <a:latin typeface="黑体" panose="02010609060101010101" pitchFamily="2" charset="-122"/>
              </a:rPr>
              <a:t>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2</a:t>
            </a:r>
            <a:r>
              <a:rPr lang="en-US" altLang="zh-CN"/>
              <a:t>*</a:t>
            </a:r>
            <a:r>
              <a:rPr lang="zh-CN" altLang="en-US"/>
              <a:t>（续）</a:t>
            </a:r>
          </a:p>
        </p:txBody>
      </p:sp>
      <p:sp>
        <p:nvSpPr>
          <p:cNvPr id="79875" name="Rectangle 3"/>
          <p:cNvSpPr>
            <a:spLocks noGrp="1" noChangeArrowheads="1"/>
          </p:cNvSpPr>
          <p:nvPr>
            <p:ph type="body" sz="half" idx="1"/>
          </p:nvPr>
        </p:nvSpPr>
        <p:spPr>
          <a:xfrm>
            <a:off x="1182688" y="2017713"/>
            <a:ext cx="7637462" cy="4114800"/>
          </a:xfrm>
        </p:spPr>
        <p:txBody>
          <a:bodyPr/>
          <a:lstStyle/>
          <a:p>
            <a:pPr marL="0" indent="0" eaLnBrk="1" hangingPunct="1">
              <a:buNone/>
            </a:pPr>
            <a:r>
              <a:rPr lang="zh-CN" altLang="en-US" sz="2600" dirty="0">
                <a:latin typeface="黑体" panose="02010609060101010101" pitchFamily="2" charset="-122"/>
                <a:ea typeface="黑体" panose="02010609060101010101" pitchFamily="2" charset="-122"/>
                <a:cs typeface="黑体" panose="02010609060101010101" pitchFamily="2" charset="-122"/>
              </a:rPr>
              <a:t>你的购买成本是</a:t>
            </a:r>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9 650</a:t>
            </a:r>
            <a:r>
              <a:rPr lang="zh-CN" altLang="en-US" sz="2600" dirty="0">
                <a:latin typeface="黑体" panose="02010609060101010101" pitchFamily="2" charset="-122"/>
                <a:ea typeface="黑体" panose="02010609060101010101" pitchFamily="2" charset="-122"/>
                <a:cs typeface="黑体" panose="02010609060101010101" pitchFamily="2" charset="-122"/>
              </a:rPr>
              <a:t>元</a:t>
            </a:r>
          </a:p>
          <a:p>
            <a:pPr marL="0" indent="0" eaLnBrk="1" hangingPunct="1">
              <a:buNone/>
            </a:pPr>
            <a:r>
              <a:rPr lang="zh-CN" altLang="en-US" sz="2600" dirty="0">
                <a:latin typeface="黑体" panose="02010609060101010101" pitchFamily="2" charset="-122"/>
                <a:ea typeface="黑体" panose="02010609060101010101" pitchFamily="2" charset="-122"/>
                <a:cs typeface="黑体" panose="02010609060101010101" pitchFamily="2" charset="-122"/>
              </a:rPr>
              <a:t>                          未来现金流量           </a:t>
            </a:r>
          </a:p>
          <a:p>
            <a:pPr eaLnBrk="1" hangingPunct="1"/>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2×20</a:t>
            </a:r>
            <a:r>
              <a:rPr lang="zh-CN" altLang="en-US" sz="2600" dirty="0">
                <a:latin typeface="黑体" panose="02010609060101010101" pitchFamily="2" charset="-122"/>
                <a:ea typeface="黑体" panose="02010609060101010101" pitchFamily="2" charset="-122"/>
                <a:cs typeface="黑体" panose="02010609060101010101" pitchFamily="2" charset="-122"/>
              </a:rPr>
              <a:t>年</a:t>
            </a:r>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12</a:t>
            </a:r>
            <a:r>
              <a:rPr lang="zh-CN" altLang="en-US" sz="2600" dirty="0">
                <a:latin typeface="黑体" panose="02010609060101010101" pitchFamily="2" charset="-122"/>
                <a:ea typeface="黑体" panose="02010609060101010101" pitchFamily="2" charset="-122"/>
                <a:cs typeface="黑体" panose="02010609060101010101" pitchFamily="2" charset="-122"/>
              </a:rPr>
              <a:t>月</a:t>
            </a:r>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31</a:t>
            </a:r>
            <a:r>
              <a:rPr lang="zh-CN" altLang="en-US" sz="2600" dirty="0">
                <a:latin typeface="黑体" panose="02010609060101010101" pitchFamily="2" charset="-122"/>
                <a:ea typeface="黑体" panose="02010609060101010101" pitchFamily="2" charset="-122"/>
                <a:cs typeface="黑体" panose="02010609060101010101" pitchFamily="2" charset="-122"/>
              </a:rPr>
              <a:t>日             </a:t>
            </a:r>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800</a:t>
            </a:r>
            <a:r>
              <a:rPr lang="en-US" altLang="zh-CN" sz="2600" dirty="0">
                <a:latin typeface="黑体" panose="02010609060101010101" pitchFamily="2" charset="-122"/>
                <a:ea typeface="黑体" panose="02010609060101010101" pitchFamily="2" charset="-122"/>
                <a:cs typeface="黑体" panose="02010609060101010101" pitchFamily="2" charset="-122"/>
              </a:rPr>
              <a:t> </a:t>
            </a:r>
          </a:p>
          <a:p>
            <a:pPr eaLnBrk="1" hangingPunct="1"/>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2×21</a:t>
            </a:r>
            <a:r>
              <a:rPr lang="zh-CN" altLang="en-US" sz="2600" dirty="0">
                <a:latin typeface="黑体" panose="02010609060101010101" pitchFamily="2" charset="-122"/>
                <a:ea typeface="黑体" panose="02010609060101010101" pitchFamily="2" charset="-122"/>
                <a:cs typeface="黑体" panose="02010609060101010101" pitchFamily="2" charset="-122"/>
              </a:rPr>
              <a:t>年</a:t>
            </a:r>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12</a:t>
            </a:r>
            <a:r>
              <a:rPr lang="zh-CN" altLang="en-US" sz="2600" dirty="0">
                <a:latin typeface="黑体" panose="02010609060101010101" pitchFamily="2" charset="-122"/>
                <a:ea typeface="黑体" panose="02010609060101010101" pitchFamily="2" charset="-122"/>
                <a:cs typeface="黑体" panose="02010609060101010101" pitchFamily="2" charset="-122"/>
              </a:rPr>
              <a:t>月</a:t>
            </a:r>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31</a:t>
            </a:r>
            <a:r>
              <a:rPr lang="zh-CN" altLang="en-US" sz="2600" dirty="0">
                <a:latin typeface="黑体" panose="02010609060101010101" pitchFamily="2" charset="-122"/>
                <a:ea typeface="黑体" panose="02010609060101010101" pitchFamily="2" charset="-122"/>
                <a:cs typeface="黑体" panose="02010609060101010101" pitchFamily="2" charset="-122"/>
              </a:rPr>
              <a:t>日        </a:t>
            </a:r>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10 800(10 000+800)</a:t>
            </a:r>
            <a:endParaRPr lang="en-US" altLang="zh-CN" sz="2600" dirty="0">
              <a:latin typeface="黑体" panose="02010609060101010101" pitchFamily="2" charset="-122"/>
              <a:ea typeface="黑体" panose="02010609060101010101" pitchFamily="2" charset="-122"/>
              <a:cs typeface="黑体" panose="02010609060101010101" pitchFamily="2" charset="-122"/>
            </a:endParaRPr>
          </a:p>
          <a:p>
            <a:pPr eaLnBrk="1" hangingPunct="1"/>
            <a:r>
              <a:rPr lang="zh-CN" altLang="en-US" sz="2600" dirty="0">
                <a:latin typeface="黑体" panose="02010609060101010101" pitchFamily="2" charset="-122"/>
                <a:ea typeface="黑体" panose="02010609060101010101" pitchFamily="2" charset="-122"/>
                <a:cs typeface="黑体" panose="02010609060101010101" pitchFamily="2" charset="-122"/>
              </a:rPr>
              <a:t>则投资收益率（内含报酬率）</a:t>
            </a:r>
          </a:p>
          <a:p>
            <a:pPr eaLnBrk="1" hangingPunct="1"/>
            <a:endParaRPr lang="zh-CN" altLang="en-US" sz="2600" dirty="0">
              <a:latin typeface="黑体" panose="02010609060101010101" pitchFamily="2" charset="-122"/>
              <a:ea typeface="黑体" panose="02010609060101010101" pitchFamily="2" charset="-122"/>
              <a:cs typeface="黑体" panose="02010609060101010101" pitchFamily="2" charset="-122"/>
            </a:endParaRPr>
          </a:p>
          <a:p>
            <a:pPr eaLnBrk="1" hangingPunct="1"/>
            <a:endParaRPr lang="zh-CN" altLang="en-US" sz="2600" dirty="0">
              <a:latin typeface="黑体" panose="02010609060101010101" pitchFamily="2" charset="-122"/>
              <a:ea typeface="黑体" panose="02010609060101010101" pitchFamily="2" charset="-122"/>
              <a:cs typeface="黑体" panose="02010609060101010101" pitchFamily="2" charset="-122"/>
            </a:endParaRPr>
          </a:p>
          <a:p>
            <a:pPr eaLnBrk="1" hangingPunct="1"/>
            <a:r>
              <a:rPr lang="en-US" altLang="zh-CN" sz="2600" dirty="0">
                <a:latin typeface="Times New Roman" panose="02020603050405020304" pitchFamily="18" charset="0"/>
                <a:ea typeface="黑体" panose="02010609060101010101" pitchFamily="2" charset="-122"/>
                <a:cs typeface="Times New Roman" panose="02020603050405020304" pitchFamily="18" charset="0"/>
              </a:rPr>
              <a:t>r=10%</a:t>
            </a:r>
          </a:p>
        </p:txBody>
      </p:sp>
      <p:graphicFrame>
        <p:nvGraphicFramePr>
          <p:cNvPr id="79876" name="Object 4"/>
          <p:cNvGraphicFramePr>
            <a:graphicFrameLocks noGrp="1" noChangeAspect="1"/>
          </p:cNvGraphicFramePr>
          <p:nvPr>
            <p:ph sz="half" idx="2"/>
          </p:nvPr>
        </p:nvGraphicFramePr>
        <p:xfrm>
          <a:off x="3076575" y="4725988"/>
          <a:ext cx="3062288" cy="863600"/>
        </p:xfrm>
        <a:graphic>
          <a:graphicData uri="http://schemas.openxmlformats.org/presentationml/2006/ole">
            <mc:AlternateContent xmlns:mc="http://schemas.openxmlformats.org/markup-compatibility/2006">
              <mc:Choice xmlns:v="urn:schemas-microsoft-com:vml" Requires="v">
                <p:oleObj spid="_x0000_s79908" name="Equation" r:id="rId3" imgW="1485900" imgH="419100" progId="Equation.DSMT4">
                  <p:embed/>
                </p:oleObj>
              </mc:Choice>
              <mc:Fallback>
                <p:oleObj name="Equation" r:id="rId3" imgW="1485900" imgH="4191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6575" y="4725988"/>
                        <a:ext cx="3062288"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a:t>情景</a:t>
            </a:r>
            <a:r>
              <a:rPr lang="en-US" altLang="zh-CN"/>
              <a:t>2*</a:t>
            </a:r>
            <a:r>
              <a:rPr lang="zh-CN" altLang="en-US"/>
              <a:t>（续）</a:t>
            </a:r>
          </a:p>
        </p:txBody>
      </p:sp>
      <p:sp>
        <p:nvSpPr>
          <p:cNvPr id="80899" name="Rectangle 3"/>
          <p:cNvSpPr>
            <a:spLocks noGrp="1" noChangeArrowheads="1"/>
          </p:cNvSpPr>
          <p:nvPr>
            <p:ph type="body" sz="half" idx="1"/>
          </p:nvPr>
        </p:nvSpPr>
        <p:spPr>
          <a:xfrm>
            <a:off x="1182688" y="2017713"/>
            <a:ext cx="7637462" cy="4114800"/>
          </a:xfrm>
        </p:spPr>
        <p:txBody>
          <a:bodyPr/>
          <a:lstStyle/>
          <a:p>
            <a:pPr marL="0" indent="0" eaLnBrk="1" hangingPunct="1">
              <a:lnSpc>
                <a:spcPct val="110000"/>
              </a:lnSpc>
              <a:buNone/>
            </a:pPr>
            <a:r>
              <a:rPr lang="zh-CN" altLang="en-US" sz="2800">
                <a:latin typeface="黑体" panose="02010609060101010101" pitchFamily="2" charset="-122"/>
                <a:ea typeface="黑体" panose="02010609060101010101" pitchFamily="2" charset="-122"/>
                <a:cs typeface="黑体" panose="02010609060101010101" pitchFamily="2" charset="-122"/>
              </a:rPr>
              <a:t>已知实际利率为</a:t>
            </a:r>
            <a:r>
              <a:rPr lang="en-US" altLang="zh-CN" sz="2800">
                <a:latin typeface="Times New Roman" panose="02020603050405020304" pitchFamily="18" charset="0"/>
                <a:ea typeface="黑体" panose="02010609060101010101" pitchFamily="2" charset="-122"/>
                <a:cs typeface="Times New Roman" panose="02020603050405020304" pitchFamily="18" charset="0"/>
              </a:rPr>
              <a:t>10%</a:t>
            </a:r>
            <a:r>
              <a:rPr lang="zh-CN" altLang="en-US" sz="2800">
                <a:latin typeface="黑体" panose="02010609060101010101" pitchFamily="2" charset="-122"/>
                <a:ea typeface="黑体" panose="02010609060101010101" pitchFamily="2" charset="-122"/>
                <a:cs typeface="黑体" panose="02010609060101010101" pitchFamily="2" charset="-122"/>
              </a:rPr>
              <a:t>，试计算：</a:t>
            </a:r>
          </a:p>
          <a:p>
            <a:pPr marL="0" indent="0" eaLnBrk="1" hangingPunct="1">
              <a:lnSpc>
                <a:spcPct val="11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1</a:t>
            </a:r>
            <a:r>
              <a:rPr lang="zh-CN" altLang="en-US" sz="2400" dirty="0">
                <a:latin typeface="楷体_GB2312" panose="02010609030101010101" pitchFamily="49" charset="-122"/>
                <a:ea typeface="楷体_GB2312" panose="02010609030101010101" pitchFamily="49" charset="-122"/>
                <a:cs typeface="+mn-ea"/>
              </a:rPr>
              <a:t>年的投资收益</a:t>
            </a:r>
          </a:p>
          <a:p>
            <a:pPr marL="0" indent="0" eaLnBrk="1" hangingPunct="1">
              <a:lnSpc>
                <a:spcPct val="11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1</a:t>
            </a:r>
            <a:r>
              <a:rPr lang="zh-CN" altLang="en-US" sz="2400" dirty="0">
                <a:latin typeface="楷体_GB2312" panose="02010609030101010101" pitchFamily="49" charset="-122"/>
                <a:ea typeface="楷体_GB2312" panose="02010609030101010101" pitchFamily="49" charset="-122"/>
                <a:cs typeface="+mn-ea"/>
              </a:rPr>
              <a:t>年的应收利息</a:t>
            </a:r>
          </a:p>
          <a:p>
            <a:pPr marL="0" indent="0" eaLnBrk="1" hangingPunct="1">
              <a:lnSpc>
                <a:spcPct val="11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1</a:t>
            </a:r>
            <a:r>
              <a:rPr lang="zh-CN" altLang="en-US" sz="2400" dirty="0">
                <a:latin typeface="楷体_GB2312" panose="02010609030101010101" pitchFamily="49" charset="-122"/>
                <a:ea typeface="楷体_GB2312" panose="02010609030101010101" pitchFamily="49" charset="-122"/>
                <a:cs typeface="+mn-ea"/>
              </a:rPr>
              <a:t>年期初摊余成本</a:t>
            </a:r>
          </a:p>
          <a:p>
            <a:pPr marL="0" indent="0" eaLnBrk="1" hangingPunct="1">
              <a:lnSpc>
                <a:spcPct val="11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1</a:t>
            </a:r>
            <a:r>
              <a:rPr lang="zh-CN" altLang="en-US" sz="2400" dirty="0">
                <a:latin typeface="楷体_GB2312" panose="02010609030101010101" pitchFamily="49" charset="-122"/>
                <a:ea typeface="楷体_GB2312" panose="02010609030101010101" pitchFamily="49" charset="-122"/>
                <a:cs typeface="+mn-ea"/>
              </a:rPr>
              <a:t>年期末摊余成本</a:t>
            </a:r>
          </a:p>
          <a:p>
            <a:pPr marL="0" indent="0" eaLnBrk="1" hangingPunct="1">
              <a:lnSpc>
                <a:spcPct val="110000"/>
              </a:lnSpc>
              <a:buNone/>
            </a:pPr>
            <a:r>
              <a:rPr lang="zh-CN" altLang="en-US" sz="2400" dirty="0">
                <a:latin typeface="楷体_GB2312" panose="02010609030101010101" pitchFamily="49" charset="-122"/>
                <a:ea typeface="楷体_GB2312" panose="02010609030101010101" pitchFamily="49" charset="-122"/>
                <a:cs typeface="+mn-ea"/>
              </a:rPr>
              <a:t>并对第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1</a:t>
            </a:r>
            <a:r>
              <a:rPr lang="zh-CN" altLang="en-US" sz="2400" dirty="0">
                <a:latin typeface="楷体_GB2312" panose="02010609030101010101" pitchFamily="49" charset="-122"/>
                <a:ea typeface="楷体_GB2312" panose="02010609030101010101" pitchFamily="49" charset="-122"/>
                <a:cs typeface="+mn-ea"/>
              </a:rPr>
              <a:t>年的情况进行会计处理：</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2</a:t>
            </a:r>
            <a:r>
              <a:rPr lang="en-US" altLang="zh-CN"/>
              <a:t>*</a:t>
            </a:r>
            <a:r>
              <a:rPr lang="zh-CN" altLang="en-US"/>
              <a:t>（续）</a:t>
            </a:r>
          </a:p>
        </p:txBody>
      </p:sp>
      <p:sp>
        <p:nvSpPr>
          <p:cNvPr id="81923" name="Rectangle 3"/>
          <p:cNvSpPr>
            <a:spLocks noGrp="1" noChangeArrowheads="1"/>
          </p:cNvSpPr>
          <p:nvPr>
            <p:ph type="body" sz="half" idx="1"/>
          </p:nvPr>
        </p:nvSpPr>
        <p:spPr>
          <a:xfrm>
            <a:off x="1182688" y="2017713"/>
            <a:ext cx="7637462" cy="4114800"/>
          </a:xfrm>
        </p:spPr>
        <p:txBody>
          <a:bodyPr/>
          <a:lstStyle/>
          <a:p>
            <a:pPr marL="0" indent="0" eaLnBrk="1" hangingPunct="1">
              <a:lnSpc>
                <a:spcPct val="11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dirty="0">
                <a:latin typeface="Times New Roman" panose="02020603050405020304" pitchFamily="18" charset="0"/>
                <a:ea typeface="黑体" panose="02010609060101010101" pitchFamily="2" charset="-122"/>
                <a:cs typeface="Times New Roman" panose="02020603050405020304" pitchFamily="18" charset="0"/>
              </a:rPr>
              <a:t>1</a:t>
            </a:r>
            <a:r>
              <a:rPr lang="zh-CN" altLang="en-US" sz="2400" dirty="0">
                <a:latin typeface="楷体_GB2312" panose="02010609030101010101" pitchFamily="49" charset="-122"/>
                <a:ea typeface="楷体_GB2312" panose="02010609030101010101" pitchFamily="49" charset="-122"/>
                <a:cs typeface="+mn-ea"/>
              </a:rPr>
              <a:t>年的投资收益=</a:t>
            </a:r>
            <a:r>
              <a:rPr lang="en-US" altLang="zh-CN" sz="2400" dirty="0">
                <a:latin typeface="Times New Roman" panose="02020603050405020304" pitchFamily="18" charset="0"/>
                <a:ea typeface="黑体" panose="02010609060101010101" pitchFamily="2" charset="-122"/>
                <a:cs typeface="Times New Roman" panose="02020603050405020304" pitchFamily="18" charset="0"/>
              </a:rPr>
              <a:t>9 650×10%=965</a:t>
            </a:r>
          </a:p>
          <a:p>
            <a:pPr marL="0" indent="0" eaLnBrk="1" hangingPunct="1">
              <a:lnSpc>
                <a:spcPct val="11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dirty="0">
                <a:latin typeface="Times New Roman" panose="02020603050405020304" pitchFamily="18" charset="0"/>
                <a:ea typeface="黑体" panose="02010609060101010101" pitchFamily="2" charset="-122"/>
                <a:cs typeface="Times New Roman" panose="02020603050405020304" pitchFamily="18" charset="0"/>
              </a:rPr>
              <a:t>1</a:t>
            </a:r>
            <a:r>
              <a:rPr lang="zh-CN" altLang="en-US" sz="2400" dirty="0">
                <a:latin typeface="楷体_GB2312" panose="02010609030101010101" pitchFamily="49" charset="-122"/>
                <a:ea typeface="楷体_GB2312" panose="02010609030101010101" pitchFamily="49" charset="-122"/>
                <a:cs typeface="+mn-ea"/>
              </a:rPr>
              <a:t>年的应收利息=</a:t>
            </a:r>
            <a:r>
              <a:rPr lang="en-US" altLang="zh-CN" sz="2400" dirty="0">
                <a:latin typeface="Times New Roman" panose="02020603050405020304" pitchFamily="18" charset="0"/>
                <a:ea typeface="黑体" panose="02010609060101010101" pitchFamily="2" charset="-122"/>
                <a:cs typeface="Times New Roman" panose="02020603050405020304" pitchFamily="18" charset="0"/>
              </a:rPr>
              <a:t>10 000×8%=800</a:t>
            </a:r>
            <a:endParaRPr lang="zh-CN" altLang="en-US" sz="2400" dirty="0">
              <a:latin typeface="楷体_GB2312" panose="02010609030101010101" pitchFamily="49" charset="-122"/>
              <a:ea typeface="楷体_GB2312" panose="02010609030101010101" pitchFamily="49" charset="-122"/>
              <a:cs typeface="+mn-ea"/>
            </a:endParaRPr>
          </a:p>
          <a:p>
            <a:pPr marL="0" indent="0" eaLnBrk="1" hangingPunct="1">
              <a:lnSpc>
                <a:spcPct val="11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dirty="0">
                <a:latin typeface="Times New Roman" panose="02020603050405020304" pitchFamily="18" charset="0"/>
                <a:ea typeface="黑体" panose="02010609060101010101" pitchFamily="2" charset="-122"/>
                <a:cs typeface="Times New Roman" panose="02020603050405020304" pitchFamily="18" charset="0"/>
              </a:rPr>
              <a:t>1</a:t>
            </a:r>
            <a:r>
              <a:rPr lang="zh-CN" altLang="en-US" sz="2400" dirty="0">
                <a:latin typeface="楷体_GB2312" panose="02010609030101010101" pitchFamily="49" charset="-122"/>
                <a:ea typeface="楷体_GB2312" panose="02010609030101010101" pitchFamily="49" charset="-122"/>
                <a:cs typeface="+mn-ea"/>
              </a:rPr>
              <a:t>年期初摊余成本=购买成本</a:t>
            </a:r>
            <a:r>
              <a:rPr lang="en-US" altLang="zh-CN" sz="2400" dirty="0">
                <a:latin typeface="Times New Roman" panose="02020603050405020304" pitchFamily="18" charset="0"/>
                <a:ea typeface="黑体" panose="02010609060101010101" pitchFamily="2" charset="-122"/>
                <a:cs typeface="Times New Roman" panose="02020603050405020304" pitchFamily="18" charset="0"/>
              </a:rPr>
              <a:t>9 650</a:t>
            </a:r>
            <a:endParaRPr lang="zh-CN" altLang="en-US" sz="2400" dirty="0">
              <a:latin typeface="楷体_GB2312" panose="02010609030101010101" pitchFamily="49" charset="-122"/>
              <a:ea typeface="楷体_GB2312" panose="02010609030101010101" pitchFamily="49" charset="-122"/>
              <a:cs typeface="+mn-ea"/>
            </a:endParaRPr>
          </a:p>
          <a:p>
            <a:pPr marL="0" indent="0" eaLnBrk="1" hangingPunct="1">
              <a:lnSpc>
                <a:spcPct val="11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dirty="0">
                <a:latin typeface="Times New Roman" panose="02020603050405020304" pitchFamily="18" charset="0"/>
                <a:ea typeface="黑体" panose="02010609060101010101" pitchFamily="2" charset="-122"/>
                <a:cs typeface="Times New Roman" panose="02020603050405020304" pitchFamily="18" charset="0"/>
              </a:rPr>
              <a:t>1</a:t>
            </a:r>
            <a:r>
              <a:rPr lang="zh-CN" altLang="en-US" sz="2400" dirty="0">
                <a:latin typeface="楷体_GB2312" panose="02010609030101010101" pitchFamily="49" charset="-122"/>
                <a:ea typeface="楷体_GB2312" panose="02010609030101010101" pitchFamily="49" charset="-122"/>
                <a:cs typeface="+mn-ea"/>
              </a:rPr>
              <a:t>年期末摊余成本=</a:t>
            </a:r>
            <a:r>
              <a:rPr lang="en-US" altLang="zh-CN" sz="2400" dirty="0">
                <a:latin typeface="Times New Roman" panose="02020603050405020304" pitchFamily="18" charset="0"/>
                <a:ea typeface="黑体" panose="02010609060101010101" pitchFamily="2" charset="-122"/>
                <a:cs typeface="Times New Roman" panose="02020603050405020304" pitchFamily="18" charset="0"/>
              </a:rPr>
              <a:t>9 650+965-800=9 815</a:t>
            </a:r>
            <a:r>
              <a:rPr lang="zh-CN" altLang="en-US" sz="2400" dirty="0">
                <a:latin typeface="楷体_GB2312" panose="02010609030101010101" pitchFamily="49" charset="-122"/>
                <a:ea typeface="楷体_GB2312" panose="02010609030101010101" pitchFamily="49" charset="-122"/>
                <a:cs typeface="+mn-ea"/>
              </a:rPr>
              <a:t>（元）</a:t>
            </a:r>
          </a:p>
          <a:p>
            <a:pPr marL="0" indent="0" eaLnBrk="1" hangingPunct="1">
              <a:lnSpc>
                <a:spcPct val="110000"/>
              </a:lnSpc>
              <a:buNone/>
            </a:pPr>
            <a:r>
              <a:rPr lang="zh-CN" altLang="en-US" sz="2400" dirty="0">
                <a:latin typeface="楷体_GB2312" panose="02010609030101010101" pitchFamily="49" charset="-122"/>
                <a:ea typeface="楷体_GB2312" panose="02010609030101010101" pitchFamily="49" charset="-122"/>
                <a:cs typeface="+mn-ea"/>
              </a:rPr>
              <a:t>借：应收利息/其他货币资金          </a:t>
            </a:r>
            <a:r>
              <a:rPr lang="en-US" altLang="zh-CN" sz="2400" dirty="0">
                <a:latin typeface="Times New Roman" panose="02020603050405020304" pitchFamily="18" charset="0"/>
                <a:ea typeface="黑体" panose="02010609060101010101" pitchFamily="2" charset="-122"/>
                <a:cs typeface="Times New Roman" panose="02020603050405020304" pitchFamily="18" charset="0"/>
              </a:rPr>
              <a:t>800</a:t>
            </a:r>
          </a:p>
          <a:p>
            <a:pPr marL="0" indent="0" eaLnBrk="1" hangingPunct="1">
              <a:lnSpc>
                <a:spcPct val="110000"/>
              </a:lnSpc>
              <a:buNone/>
            </a:pPr>
            <a:r>
              <a:rPr lang="zh-CN" altLang="en-US" sz="2400" dirty="0">
                <a:latin typeface="楷体_GB2312" panose="02010609030101010101" pitchFamily="49" charset="-122"/>
                <a:ea typeface="楷体_GB2312" panose="02010609030101010101" pitchFamily="49" charset="-122"/>
                <a:cs typeface="+mn-ea"/>
              </a:rPr>
              <a:t>    债权投资——利息调整          </a:t>
            </a:r>
            <a:r>
              <a:rPr lang="en-US" altLang="zh-CN" sz="2400" dirty="0">
                <a:latin typeface="Times New Roman" panose="02020603050405020304" pitchFamily="18" charset="0"/>
                <a:ea typeface="黑体" panose="02010609060101010101" pitchFamily="2" charset="-122"/>
                <a:cs typeface="Times New Roman" panose="02020603050405020304" pitchFamily="18" charset="0"/>
              </a:rPr>
              <a:t> 165</a:t>
            </a:r>
            <a:endParaRPr lang="zh-CN" altLang="en-US" sz="2400" dirty="0">
              <a:latin typeface="楷体_GB2312" panose="02010609030101010101" pitchFamily="49" charset="-122"/>
              <a:ea typeface="楷体_GB2312" panose="02010609030101010101" pitchFamily="49" charset="-122"/>
              <a:cs typeface="+mn-ea"/>
            </a:endParaRPr>
          </a:p>
          <a:p>
            <a:pPr marL="0" indent="0" eaLnBrk="1" hangingPunct="1">
              <a:lnSpc>
                <a:spcPct val="110000"/>
              </a:lnSpc>
              <a:buNone/>
            </a:pPr>
            <a:r>
              <a:rPr lang="zh-CN" altLang="en-US" sz="2400" dirty="0">
                <a:latin typeface="楷体_GB2312" panose="02010609030101010101" pitchFamily="49" charset="-122"/>
                <a:ea typeface="楷体_GB2312" panose="02010609030101010101" pitchFamily="49" charset="-122"/>
                <a:cs typeface="+mn-ea"/>
              </a:rPr>
              <a:t>      贷：投资收益                  </a:t>
            </a:r>
            <a:r>
              <a:rPr lang="zh-CN" altLang="en-US" sz="2800" dirty="0"/>
              <a:t>  </a:t>
            </a:r>
            <a:r>
              <a:rPr lang="en-US" altLang="zh-CN" sz="2400" dirty="0">
                <a:latin typeface="Times New Roman" panose="02020603050405020304" pitchFamily="18" charset="0"/>
                <a:ea typeface="黑体" panose="02010609060101010101" pitchFamily="2" charset="-122"/>
                <a:cs typeface="Times New Roman" panose="02020603050405020304" pitchFamily="18" charset="0"/>
              </a:rPr>
              <a:t>965  </a:t>
            </a:r>
            <a:r>
              <a:rPr lang="en-US" altLang="zh-CN" sz="2800" dirty="0"/>
              <a:t>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2</a:t>
            </a:r>
            <a:r>
              <a:rPr lang="en-US" altLang="zh-CN"/>
              <a:t>*</a:t>
            </a:r>
            <a:r>
              <a:rPr lang="zh-CN" altLang="en-US"/>
              <a:t>（续）</a:t>
            </a:r>
          </a:p>
        </p:txBody>
      </p:sp>
      <p:sp>
        <p:nvSpPr>
          <p:cNvPr id="82947" name="Rectangle 3"/>
          <p:cNvSpPr>
            <a:spLocks noGrp="1" noChangeArrowheads="1"/>
          </p:cNvSpPr>
          <p:nvPr>
            <p:ph type="body" sz="half" idx="1"/>
          </p:nvPr>
        </p:nvSpPr>
        <p:spPr>
          <a:xfrm>
            <a:off x="611188" y="2017713"/>
            <a:ext cx="8208962" cy="4114800"/>
          </a:xfrm>
        </p:spPr>
        <p:txBody>
          <a:bodyPr/>
          <a:lstStyle/>
          <a:p>
            <a:pPr marL="0" indent="0" eaLnBrk="1" hangingPunct="1">
              <a:lnSpc>
                <a:spcPct val="120000"/>
              </a:lnSpc>
              <a:buNone/>
            </a:pPr>
            <a:r>
              <a:rPr lang="zh-CN" altLang="en-US" sz="2800">
                <a:latin typeface="黑体" panose="02010609060101010101" pitchFamily="2" charset="-122"/>
                <a:ea typeface="黑体" panose="02010609060101010101" pitchFamily="2" charset="-122"/>
              </a:rPr>
              <a:t>已知实际利率为</a:t>
            </a:r>
            <a:r>
              <a:rPr lang="zh-CN" altLang="en-US" sz="2800">
                <a:latin typeface="Times New Roman" panose="02020603050405020304" pitchFamily="18" charset="0"/>
                <a:ea typeface="黑体" panose="02010609060101010101" pitchFamily="2" charset="-122"/>
                <a:cs typeface="Times New Roman" panose="02020603050405020304" pitchFamily="18" charset="0"/>
              </a:rPr>
              <a:t>10%</a:t>
            </a:r>
            <a:r>
              <a:rPr lang="zh-CN" altLang="en-US" sz="2800">
                <a:latin typeface="黑体" panose="02010609060101010101" pitchFamily="2" charset="-122"/>
                <a:ea typeface="黑体" panose="02010609060101010101" pitchFamily="2" charset="-122"/>
              </a:rPr>
              <a:t>，根据上述结果，试计算：</a:t>
            </a:r>
            <a:endParaRPr lang="zh-CN" altLang="en-US" sz="2800"/>
          </a:p>
          <a:p>
            <a:pPr marL="0" indent="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年的投资收益</a:t>
            </a:r>
          </a:p>
          <a:p>
            <a:pPr marL="0" indent="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年的应收利息</a:t>
            </a:r>
          </a:p>
          <a:p>
            <a:pPr marL="0" indent="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年期初摊余成本</a:t>
            </a:r>
          </a:p>
          <a:p>
            <a:pPr marL="0" indent="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年期末摊余成本</a:t>
            </a:r>
          </a:p>
          <a:p>
            <a:pPr marL="0" indent="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并对第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年的情况进行会计处理：</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2</a:t>
            </a:r>
            <a:r>
              <a:rPr lang="en-US" altLang="zh-CN"/>
              <a:t>*</a:t>
            </a:r>
            <a:r>
              <a:rPr lang="zh-CN" altLang="en-US"/>
              <a:t>（续）</a:t>
            </a:r>
          </a:p>
        </p:txBody>
      </p:sp>
      <p:sp>
        <p:nvSpPr>
          <p:cNvPr id="83971" name="Rectangle 3"/>
          <p:cNvSpPr>
            <a:spLocks noGrp="1" noChangeArrowheads="1"/>
          </p:cNvSpPr>
          <p:nvPr>
            <p:ph type="body" sz="half" idx="1"/>
          </p:nvPr>
        </p:nvSpPr>
        <p:spPr>
          <a:xfrm>
            <a:off x="1182688" y="2017713"/>
            <a:ext cx="7637462" cy="4114800"/>
          </a:xfrm>
        </p:spPr>
        <p:txBody>
          <a:bodyPr/>
          <a:lstStyle/>
          <a:p>
            <a:pPr marL="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年的投资收益=</a:t>
            </a:r>
            <a:r>
              <a:rPr lang="en-US" altLang="zh-CN" sz="2400">
                <a:latin typeface="Times New Roman" panose="02020603050405020304" pitchFamily="18" charset="0"/>
                <a:ea typeface="黑体" panose="02010609060101010101" pitchFamily="2" charset="-122"/>
                <a:cs typeface="Times New Roman" panose="02020603050405020304" pitchFamily="18" charset="0"/>
              </a:rPr>
              <a:t>9815×10%=981.5</a:t>
            </a:r>
            <a:endParaRPr lang="zh-CN" altLang="en-US" sz="2400" dirty="0">
              <a:latin typeface="楷体_GB2312" panose="02010609030101010101" pitchFamily="49" charset="-122"/>
              <a:ea typeface="楷体_GB2312" panose="02010609030101010101" pitchFamily="49" charset="-122"/>
              <a:cs typeface="+mn-ea"/>
            </a:endParaRPr>
          </a:p>
          <a:p>
            <a:pPr marL="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年的应收利息=</a:t>
            </a:r>
            <a:r>
              <a:rPr lang="en-US" altLang="zh-CN" sz="2400">
                <a:latin typeface="Times New Roman" panose="02020603050405020304" pitchFamily="18" charset="0"/>
                <a:ea typeface="黑体" panose="02010609060101010101" pitchFamily="2" charset="-122"/>
                <a:cs typeface="Times New Roman" panose="02020603050405020304" pitchFamily="18" charset="0"/>
              </a:rPr>
              <a:t>10 000×8%=800</a:t>
            </a:r>
          </a:p>
          <a:p>
            <a:pPr marL="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年期初摊余成本=第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1</a:t>
            </a:r>
            <a:r>
              <a:rPr lang="zh-CN" altLang="en-US" sz="2400" dirty="0">
                <a:latin typeface="楷体_GB2312" panose="02010609030101010101" pitchFamily="49" charset="-122"/>
                <a:ea typeface="楷体_GB2312" panose="02010609030101010101" pitchFamily="49" charset="-122"/>
                <a:cs typeface="+mn-ea"/>
              </a:rPr>
              <a:t>年期末摊余成本</a:t>
            </a:r>
          </a:p>
          <a:p>
            <a:pPr marL="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年期末摊余成本=</a:t>
            </a:r>
            <a:r>
              <a:rPr lang="en-US" altLang="zh-CN" sz="2400">
                <a:latin typeface="Times New Roman" panose="02020603050405020304" pitchFamily="18" charset="0"/>
                <a:ea typeface="黑体" panose="02010609060101010101" pitchFamily="2" charset="-122"/>
                <a:cs typeface="Times New Roman" panose="02020603050405020304" pitchFamily="18" charset="0"/>
              </a:rPr>
              <a:t>9 815+981.5-800=10 001.5</a:t>
            </a:r>
            <a:endParaRPr lang="zh-CN" altLang="en-US" sz="2400" dirty="0">
              <a:latin typeface="楷体_GB2312" panose="02010609030101010101" pitchFamily="49" charset="-122"/>
              <a:ea typeface="楷体_GB2312" panose="02010609030101010101" pitchFamily="49" charset="-122"/>
              <a:cs typeface="+mn-ea"/>
            </a:endParaRPr>
          </a:p>
          <a:p>
            <a:pPr marL="0" algn="l" eaLnBrk="1" hangingPunct="1">
              <a:lnSpc>
                <a:spcPct val="120000"/>
              </a:lnSpc>
              <a:buNone/>
            </a:pPr>
            <a:r>
              <a:rPr lang="zh-CN" altLang="en-US" sz="2400" dirty="0">
                <a:latin typeface="楷体_GB2312" panose="02010609030101010101" pitchFamily="49" charset="-122"/>
                <a:ea typeface="楷体_GB2312" panose="02010609030101010101" pitchFamily="49" charset="-122"/>
                <a:cs typeface="+mn-ea"/>
              </a:rPr>
              <a:t>注：由于第</a:t>
            </a:r>
            <a:r>
              <a:rPr lang="en-US" altLang="zh-CN" sz="2400">
                <a:latin typeface="Times New Roman" panose="02020603050405020304" pitchFamily="18" charset="0"/>
                <a:ea typeface="黑体" panose="02010609060101010101" pitchFamily="2" charset="-122"/>
                <a:cs typeface="Times New Roman" panose="02020603050405020304" pitchFamily="18" charset="0"/>
              </a:rPr>
              <a:t>2</a:t>
            </a:r>
            <a:r>
              <a:rPr lang="zh-CN" altLang="en-US" sz="2400" dirty="0">
                <a:latin typeface="楷体_GB2312" panose="02010609030101010101" pitchFamily="49" charset="-122"/>
                <a:ea typeface="楷体_GB2312" panose="02010609030101010101" pitchFamily="49" charset="-122"/>
                <a:cs typeface="+mn-ea"/>
              </a:rPr>
              <a:t>期末（债券到期）摊余成本应当为</a:t>
            </a:r>
            <a:r>
              <a:rPr lang="en-US" altLang="zh-CN" sz="2400">
                <a:latin typeface="Times New Roman" panose="02020603050405020304" pitchFamily="18" charset="0"/>
                <a:ea typeface="黑体" panose="02010609060101010101" pitchFamily="2" charset="-122"/>
                <a:cs typeface="Times New Roman" panose="02020603050405020304" pitchFamily="18" charset="0"/>
              </a:rPr>
              <a:t>10 000</a:t>
            </a:r>
            <a:r>
              <a:rPr lang="zh-CN" altLang="en-US" sz="2400" dirty="0">
                <a:latin typeface="楷体_GB2312" panose="02010609030101010101" pitchFamily="49" charset="-122"/>
                <a:ea typeface="楷体_GB2312" panose="02010609030101010101" pitchFamily="49" charset="-122"/>
                <a:cs typeface="+mn-ea"/>
              </a:rPr>
              <a:t>，因此，债券最后</a:t>
            </a:r>
            <a:r>
              <a:rPr lang="en-US" altLang="zh-CN" sz="2400">
                <a:latin typeface="Times New Roman" panose="02020603050405020304" pitchFamily="18" charset="0"/>
                <a:ea typeface="黑体" panose="02010609060101010101" pitchFamily="2" charset="-122"/>
                <a:cs typeface="Times New Roman" panose="02020603050405020304" pitchFamily="18" charset="0"/>
              </a:rPr>
              <a:t>1</a:t>
            </a:r>
            <a:r>
              <a:rPr lang="zh-CN" altLang="en-US" sz="2400" dirty="0">
                <a:latin typeface="楷体_GB2312" panose="02010609030101010101" pitchFamily="49" charset="-122"/>
                <a:ea typeface="楷体_GB2312" panose="02010609030101010101" pitchFamily="49" charset="-122"/>
                <a:cs typeface="+mn-ea"/>
              </a:rPr>
              <a:t>期的投资收益常常通过</a:t>
            </a:r>
            <a:r>
              <a:rPr lang="zh-CN" altLang="en-US" sz="2400" dirty="0">
                <a:solidFill>
                  <a:srgbClr val="FF0000"/>
                </a:solidFill>
                <a:latin typeface="楷体_GB2312" panose="02010609030101010101" pitchFamily="49" charset="-122"/>
                <a:ea typeface="楷体_GB2312" panose="02010609030101010101" pitchFamily="49" charset="-122"/>
                <a:cs typeface="+mn-ea"/>
              </a:rPr>
              <a:t>倒挤</a:t>
            </a:r>
            <a:r>
              <a:rPr lang="zh-CN" altLang="en-US" sz="2400" dirty="0">
                <a:latin typeface="楷体_GB2312" panose="02010609030101010101" pitchFamily="49" charset="-122"/>
                <a:ea typeface="楷体_GB2312" panose="02010609030101010101" pitchFamily="49" charset="-122"/>
                <a:cs typeface="+mn-ea"/>
              </a:rPr>
              <a:t>得出，即投资收益=</a:t>
            </a:r>
            <a:r>
              <a:rPr lang="en-US" altLang="zh-CN" sz="2400">
                <a:latin typeface="Times New Roman" panose="02020603050405020304" pitchFamily="18" charset="0"/>
                <a:ea typeface="黑体" panose="02010609060101010101" pitchFamily="2" charset="-122"/>
                <a:cs typeface="Times New Roman" panose="02020603050405020304" pitchFamily="18" charset="0"/>
              </a:rPr>
              <a:t>10 000-9 815+800=985</a:t>
            </a:r>
            <a:r>
              <a:rPr lang="zh-CN" altLang="en-US" sz="2400" dirty="0">
                <a:latin typeface="楷体_GB2312" panose="02010609030101010101" pitchFamily="49" charset="-122"/>
                <a:ea typeface="楷体_GB2312" panose="02010609030101010101" pitchFamily="49" charset="-122"/>
                <a:cs typeface="+mn-ea"/>
              </a:rPr>
              <a:t>（元）</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CN" altLang="en-US"/>
              <a:t>情景</a:t>
            </a:r>
            <a:r>
              <a:rPr lang="en-US" altLang="zh-CN">
                <a:latin typeface="Times New Roman" panose="02020603050405020304" pitchFamily="18" charset="0"/>
                <a:cs typeface="Times New Roman" panose="02020603050405020304" pitchFamily="18" charset="0"/>
              </a:rPr>
              <a:t>2</a:t>
            </a:r>
            <a:r>
              <a:rPr lang="en-US" altLang="zh-CN"/>
              <a:t>*</a:t>
            </a:r>
            <a:r>
              <a:rPr lang="zh-CN" altLang="en-US"/>
              <a:t>（续）</a:t>
            </a:r>
          </a:p>
        </p:txBody>
      </p:sp>
      <p:sp>
        <p:nvSpPr>
          <p:cNvPr id="84995" name="Rectangle 3"/>
          <p:cNvSpPr>
            <a:spLocks noGrp="1" noChangeArrowheads="1"/>
          </p:cNvSpPr>
          <p:nvPr>
            <p:ph type="body" idx="1"/>
          </p:nvPr>
        </p:nvSpPr>
        <p:spPr/>
        <p:txBody>
          <a:bodyPr/>
          <a:lstStyle/>
          <a:p>
            <a:pPr marL="0" indent="0" eaLnBrk="1" hangingPunct="1">
              <a:buNone/>
            </a:pPr>
            <a:r>
              <a:rPr lang="zh-CN" altLang="en-US" sz="2800" dirty="0"/>
              <a:t>计算第</a:t>
            </a:r>
            <a:r>
              <a:rPr lang="en-US" altLang="zh-CN" sz="2800" dirty="0">
                <a:latin typeface="Times New Roman" panose="02020603050405020304" pitchFamily="18" charset="0"/>
                <a:cs typeface="Times New Roman" panose="02020603050405020304" pitchFamily="18" charset="0"/>
              </a:rPr>
              <a:t>2</a:t>
            </a:r>
            <a:r>
              <a:rPr lang="zh-CN" altLang="en-US" sz="2800" dirty="0"/>
              <a:t>年的投资收益</a:t>
            </a:r>
          </a:p>
          <a:p>
            <a:pPr marL="0" indent="0" eaLnBrk="1" hangingPunct="1">
              <a:buNone/>
            </a:pPr>
            <a:r>
              <a:rPr lang="zh-CN" altLang="en-US" sz="2400" dirty="0">
                <a:latin typeface="楷体_GB2312" panose="02010609030101010101" pitchFamily="49" charset="-122"/>
                <a:ea typeface="楷体_GB2312" panose="02010609030101010101" pitchFamily="49" charset="-122"/>
                <a:cs typeface="+mn-ea"/>
              </a:rPr>
              <a:t>借：应收利息</a:t>
            </a:r>
            <a:r>
              <a:rPr sz="2400" dirty="0">
                <a:latin typeface="楷体_GB2312" panose="02010609030101010101" pitchFamily="49" charset="-122"/>
                <a:ea typeface="楷体_GB2312" panose="02010609030101010101" pitchFamily="49" charset="-122"/>
                <a:cs typeface="+mn-ea"/>
              </a:rPr>
              <a:t>/</a:t>
            </a:r>
            <a:r>
              <a:rPr lang="zh-CN" altLang="en-US" sz="2400" dirty="0">
                <a:latin typeface="楷体_GB2312" panose="02010609030101010101" pitchFamily="49" charset="-122"/>
                <a:ea typeface="楷体_GB2312" panose="02010609030101010101" pitchFamily="49" charset="-122"/>
                <a:cs typeface="+mn-ea"/>
              </a:rPr>
              <a:t>其他货币资金</a:t>
            </a:r>
            <a:r>
              <a:rPr lang="zh-CN" altLang="en-US" sz="2800" dirty="0"/>
              <a:t>           </a:t>
            </a:r>
            <a:r>
              <a:rPr lang="en-US" altLang="zh-CN" sz="2400" dirty="0">
                <a:latin typeface="Times New Roman" panose="02020603050405020304" pitchFamily="18" charset="0"/>
                <a:cs typeface="Times New Roman" panose="02020603050405020304" pitchFamily="18" charset="0"/>
              </a:rPr>
              <a:t>800</a:t>
            </a:r>
          </a:p>
          <a:p>
            <a:pPr marL="0" indent="0" eaLnBrk="1" hangingPunct="1">
              <a:buNone/>
            </a:pPr>
            <a:r>
              <a:rPr lang="zh-CN" altLang="en-US" sz="2800" dirty="0"/>
              <a:t>     </a:t>
            </a:r>
            <a:r>
              <a:rPr lang="zh-CN" altLang="en-US" sz="2400" dirty="0">
                <a:latin typeface="楷体_GB2312" panose="02010609030101010101" pitchFamily="49" charset="-122"/>
                <a:ea typeface="楷体_GB2312" panose="02010609030101010101" pitchFamily="49" charset="-122"/>
                <a:cs typeface="+mn-ea"/>
              </a:rPr>
              <a:t>债权投资</a:t>
            </a:r>
            <a:r>
              <a:rPr sz="2400" dirty="0">
                <a:latin typeface="楷体_GB2312" panose="02010609030101010101" pitchFamily="49" charset="-122"/>
                <a:ea typeface="楷体_GB2312" panose="02010609030101010101" pitchFamily="49" charset="-122"/>
                <a:cs typeface="+mn-ea"/>
              </a:rPr>
              <a:t>——</a:t>
            </a:r>
            <a:r>
              <a:rPr lang="zh-CN" altLang="en-US" sz="2400" dirty="0">
                <a:latin typeface="楷体_GB2312" panose="02010609030101010101" pitchFamily="49" charset="-122"/>
                <a:ea typeface="楷体_GB2312" panose="02010609030101010101" pitchFamily="49" charset="-122"/>
                <a:cs typeface="+mn-ea"/>
              </a:rPr>
              <a:t>利息调整</a:t>
            </a:r>
            <a:r>
              <a:rPr lang="zh-CN" altLang="en-US" sz="2800" dirty="0"/>
              <a:t>             </a:t>
            </a:r>
            <a:r>
              <a:rPr sz="2400" dirty="0">
                <a:latin typeface="Times New Roman" panose="02020603050405020304" pitchFamily="18" charset="0"/>
                <a:cs typeface="Times New Roman" panose="02020603050405020304" pitchFamily="18" charset="0"/>
              </a:rPr>
              <a:t>185</a:t>
            </a:r>
            <a:endParaRPr lang="en-US" altLang="zh-CN" sz="2800" dirty="0"/>
          </a:p>
          <a:p>
            <a:pPr marL="0" indent="0" eaLnBrk="1" hangingPunct="1">
              <a:buNone/>
            </a:pPr>
            <a:r>
              <a:rPr lang="en-US" altLang="zh-CN" sz="2800" dirty="0"/>
              <a:t>     </a:t>
            </a:r>
            <a:r>
              <a:rPr lang="zh-CN" altLang="en-US" sz="2400" dirty="0">
                <a:latin typeface="楷体_GB2312" panose="02010609030101010101" pitchFamily="49" charset="-122"/>
                <a:ea typeface="楷体_GB2312" panose="02010609030101010101" pitchFamily="49" charset="-122"/>
                <a:cs typeface="+mn-ea"/>
              </a:rPr>
              <a:t>贷：投资收益</a:t>
            </a:r>
            <a:r>
              <a:rPr lang="zh-CN" altLang="en-US" sz="2800" dirty="0"/>
              <a:t>                           </a:t>
            </a:r>
            <a:r>
              <a:rPr lang="zh-CN" altLang="en-US" sz="2400" dirty="0"/>
              <a:t> </a:t>
            </a:r>
            <a:r>
              <a:rPr lang="en-US" altLang="zh-CN" sz="2400" dirty="0">
                <a:solidFill>
                  <a:srgbClr val="FF0000"/>
                </a:solidFill>
                <a:latin typeface="Times New Roman" panose="02020603050405020304" pitchFamily="18" charset="0"/>
                <a:cs typeface="Times New Roman" panose="02020603050405020304" pitchFamily="18" charset="0"/>
              </a:rPr>
              <a:t>985</a:t>
            </a:r>
            <a:endParaRPr lang="en-US" altLang="zh-CN" sz="2800" dirty="0">
              <a:solidFill>
                <a:srgbClr val="FF0000"/>
              </a:solidFill>
            </a:endParaRPr>
          </a:p>
          <a:p>
            <a:pPr marL="0" indent="0" eaLnBrk="1" hangingPunct="1">
              <a:buNone/>
            </a:pPr>
            <a:r>
              <a:rPr lang="en-US" altLang="zh-CN" sz="2800" dirty="0"/>
              <a:t>             </a:t>
            </a:r>
          </a:p>
          <a:p>
            <a:pPr eaLnBrk="1" hangingPunct="1">
              <a:buFont typeface="Wingdings" panose="05000000000000000000" pitchFamily="2" charset="2"/>
              <a:buNone/>
            </a:pPr>
            <a:r>
              <a:rPr lang="en-US" altLang="zh-CN" sz="2800" dirty="0"/>
              <a:t>                                     </a:t>
            </a:r>
          </a:p>
          <a:p>
            <a:pPr eaLnBrk="1" hangingPunct="1"/>
            <a:endParaRPr lang="en-US" altLang="zh-CN" sz="2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en-US" altLang="zh-CN">
                <a:latin typeface="Times New Roman" panose="02020603050405020304" pitchFamily="18" charset="0"/>
                <a:cs typeface="Times New Roman" panose="02020603050405020304" pitchFamily="18" charset="0"/>
              </a:rPr>
              <a:t>4</a:t>
            </a:r>
            <a:r>
              <a:rPr lang="en-US" altLang="zh-CN"/>
              <a:t>.</a:t>
            </a:r>
            <a:r>
              <a:rPr lang="zh-CN" altLang="en-US"/>
              <a:t>收回投资</a:t>
            </a:r>
          </a:p>
        </p:txBody>
      </p:sp>
      <p:sp>
        <p:nvSpPr>
          <p:cNvPr id="86019" name="Rectangle 3"/>
          <p:cNvSpPr>
            <a:spLocks noGrp="1" noChangeArrowheads="1"/>
          </p:cNvSpPr>
          <p:nvPr>
            <p:ph type="body" idx="1"/>
          </p:nvPr>
        </p:nvSpPr>
        <p:spPr/>
        <p:txBody>
          <a:bodyPr/>
          <a:lstStyle/>
          <a:p>
            <a:pPr eaLnBrk="1" hangingPunct="1"/>
            <a:r>
              <a:rPr lang="zh-CN" altLang="en-US"/>
              <a:t>出售债权投资时：</a:t>
            </a:r>
          </a:p>
          <a:p>
            <a:pPr lvl="1" eaLnBrk="1" hangingPunct="1"/>
            <a:r>
              <a:rPr lang="zh-CN" altLang="en-US"/>
              <a:t>按实际收到的金额确认</a:t>
            </a:r>
            <a:r>
              <a:rPr lang="zh-CN" altLang="en-US">
                <a:latin typeface="Arial" panose="020B0604020202020204" pitchFamily="34" charset="0"/>
              </a:rPr>
              <a:t>“</a:t>
            </a:r>
            <a:r>
              <a:rPr lang="zh-CN" altLang="en-US"/>
              <a:t>其他货币资金</a:t>
            </a:r>
            <a:r>
              <a:rPr lang="zh-CN" altLang="en-US">
                <a:latin typeface="Arial" panose="020B0604020202020204" pitchFamily="34" charset="0"/>
              </a:rPr>
              <a:t>”</a:t>
            </a:r>
            <a:endParaRPr lang="zh-CN" altLang="en-US"/>
          </a:p>
          <a:p>
            <a:pPr lvl="1" eaLnBrk="1" hangingPunct="1"/>
            <a:r>
              <a:rPr lang="zh-CN" altLang="en-US"/>
              <a:t>转销</a:t>
            </a:r>
            <a:r>
              <a:rPr lang="zh-CN" altLang="en-US">
                <a:latin typeface="Arial" panose="020B0604020202020204" pitchFamily="34" charset="0"/>
              </a:rPr>
              <a:t>“</a:t>
            </a:r>
            <a:r>
              <a:rPr lang="zh-CN" altLang="en-US"/>
              <a:t>债权投资</a:t>
            </a:r>
            <a:r>
              <a:rPr lang="zh-CN" altLang="en-US">
                <a:latin typeface="Arial" panose="020B0604020202020204" pitchFamily="34" charset="0"/>
              </a:rPr>
              <a:t>”</a:t>
            </a:r>
            <a:r>
              <a:rPr lang="zh-CN" altLang="en-US"/>
              <a:t>的账户（包括成本、利息调整和应计利息）余额</a:t>
            </a:r>
          </a:p>
          <a:p>
            <a:pPr lvl="1" eaLnBrk="1" hangingPunct="1"/>
            <a:r>
              <a:rPr lang="zh-CN" altLang="en-US"/>
              <a:t>实际收到的金额与其账面价值的差额计入</a:t>
            </a:r>
            <a:r>
              <a:rPr lang="en-US" altLang="zh-CN"/>
              <a:t>"</a:t>
            </a:r>
            <a:r>
              <a:rPr lang="zh-CN" altLang="en-US"/>
              <a:t>投资收益</a:t>
            </a:r>
            <a:r>
              <a:rPr lang="en-US" altLang="zh-CN"/>
              <a:t>"</a:t>
            </a:r>
          </a:p>
          <a:p>
            <a:pPr eaLnBrk="1" hangingPunct="1"/>
            <a:endParaRPr lang="en-US" altLang="zh-C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eaLnBrk="1" hangingPunct="1">
              <a:buClrTx/>
              <a:buSzTx/>
              <a:buFontTx/>
            </a:pPr>
            <a:r>
              <a:rPr lang="zh-CN" altLang="en-US">
                <a:sym typeface="+mn-ea"/>
              </a:rPr>
              <a:t>债券到期收回</a:t>
            </a:r>
            <a:endParaRPr lang="zh-CN" altLang="en-US"/>
          </a:p>
        </p:txBody>
      </p:sp>
      <p:sp>
        <p:nvSpPr>
          <p:cNvPr id="87042" name="Rectangle 2"/>
          <p:cNvSpPr>
            <a:spLocks noGrp="1" noChangeArrowheads="1"/>
          </p:cNvSpPr>
          <p:nvPr/>
        </p:nvSpPr>
        <p:spPr>
          <a:xfrm>
            <a:off x="671513" y="2048510"/>
            <a:ext cx="7721600" cy="392113"/>
          </a:xfrm>
          <a:prstGeom prst="rect">
            <a:avLst/>
          </a:prstGeom>
          <a:noFill/>
          <a:ln>
            <a:noFill/>
          </a:ln>
        </p:spPr>
        <p:txBody>
          <a:bodyPr vert="horz" wrap="square" lIns="91440" tIns="45720" rIns="91440" bIns="45720" numCol="1" anchor="b" anchorCtr="0" compatLnSpc="1"/>
          <a:lst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5pPr>
            <a:lvl6pPr marL="457200" algn="l" rtl="0" fontAlgn="base">
              <a:spcBef>
                <a:spcPct val="0"/>
              </a:spcBef>
              <a:spcAft>
                <a:spcPct val="0"/>
              </a:spcAft>
              <a:defRPr sz="4400" b="1">
                <a:solidFill>
                  <a:schemeClr val="tx2"/>
                </a:solidFill>
                <a:latin typeface="Tahoma" panose="020B0604030504040204" pitchFamily="34" charset="0"/>
                <a:ea typeface="华文中宋" pitchFamily="2" charset="-122"/>
              </a:defRPr>
            </a:lvl6pPr>
            <a:lvl7pPr marL="914400" algn="l" rtl="0" fontAlgn="base">
              <a:spcBef>
                <a:spcPct val="0"/>
              </a:spcBef>
              <a:spcAft>
                <a:spcPct val="0"/>
              </a:spcAft>
              <a:defRPr sz="4400" b="1">
                <a:solidFill>
                  <a:schemeClr val="tx2"/>
                </a:solidFill>
                <a:latin typeface="Tahoma" panose="020B0604030504040204" pitchFamily="34" charset="0"/>
                <a:ea typeface="华文中宋" pitchFamily="2" charset="-122"/>
              </a:defRPr>
            </a:lvl7pPr>
            <a:lvl8pPr marL="1371600" algn="l" rtl="0" fontAlgn="base">
              <a:spcBef>
                <a:spcPct val="0"/>
              </a:spcBef>
              <a:spcAft>
                <a:spcPct val="0"/>
              </a:spcAft>
              <a:defRPr sz="4400" b="1">
                <a:solidFill>
                  <a:schemeClr val="tx2"/>
                </a:solidFill>
                <a:latin typeface="Tahoma" panose="020B0604030504040204" pitchFamily="34" charset="0"/>
                <a:ea typeface="华文中宋" pitchFamily="2" charset="-122"/>
              </a:defRPr>
            </a:lvl8pPr>
            <a:lvl9pPr marL="1828800" algn="l" rtl="0" fontAlgn="base">
              <a:spcBef>
                <a:spcPct val="0"/>
              </a:spcBef>
              <a:spcAft>
                <a:spcPct val="0"/>
              </a:spcAft>
              <a:defRPr sz="4400" b="1">
                <a:solidFill>
                  <a:schemeClr val="tx2"/>
                </a:solidFill>
                <a:latin typeface="Tahoma" panose="020B0604030504040204" pitchFamily="34" charset="0"/>
                <a:ea typeface="华文中宋" pitchFamily="2" charset="-122"/>
              </a:defRPr>
            </a:lvl9pPr>
          </a:lstStyle>
          <a:p>
            <a:pPr eaLnBrk="1" hangingPunct="1"/>
            <a:br>
              <a:rPr lang="zh-CN" altLang="en-US" sz="4000">
                <a:solidFill>
                  <a:schemeClr val="tx1"/>
                </a:solidFill>
              </a:rPr>
            </a:br>
            <a:r>
              <a:rPr lang="zh-CN" altLang="en-US" sz="2400">
                <a:solidFill>
                  <a:schemeClr val="tx1"/>
                </a:solidFill>
                <a:latin typeface="黑体" panose="02010609060101010101" pitchFamily="2" charset="-122"/>
                <a:ea typeface="黑体" panose="02010609060101010101" pitchFamily="2" charset="-122"/>
              </a:rPr>
              <a:t>分期付息一次还本</a:t>
            </a:r>
          </a:p>
        </p:txBody>
      </p:sp>
      <p:sp>
        <p:nvSpPr>
          <p:cNvPr id="87043" name="Rectangle 4"/>
          <p:cNvSpPr>
            <a:spLocks noChangeArrowheads="1"/>
          </p:cNvSpPr>
          <p:nvPr/>
        </p:nvSpPr>
        <p:spPr bwMode="auto">
          <a:xfrm>
            <a:off x="671830" y="2550795"/>
            <a:ext cx="4874895" cy="1271270"/>
          </a:xfrm>
          <a:prstGeom prst="rect">
            <a:avLst/>
          </a:prstGeom>
          <a:solidFill>
            <a:schemeClr val="accent1"/>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华文新魏"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华文新魏"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华文新魏"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9pPr>
          </a:lstStyle>
          <a:p>
            <a:pPr eaLnBrk="1" hangingPunct="1">
              <a:buClrTx/>
              <a:buSzTx/>
              <a:buFontTx/>
              <a:buNone/>
            </a:pPr>
            <a:r>
              <a:rPr lang="zh-CN" altLang="en-US" sz="2400" b="1" kern="0">
                <a:latin typeface="楷体_GB2312" panose="02010609030101010101" pitchFamily="49" charset="-122"/>
                <a:ea typeface="楷体_GB2312" panose="02010609030101010101" pitchFamily="49" charset="-122"/>
                <a:cs typeface="+mn-ea"/>
              </a:rPr>
              <a:t>借：其他货币资金</a:t>
            </a:r>
          </a:p>
          <a:p>
            <a:pPr eaLnBrk="1" hangingPunct="1">
              <a:buClrTx/>
              <a:buSzTx/>
              <a:buFontTx/>
              <a:buNone/>
            </a:pPr>
            <a:r>
              <a:rPr lang="zh-CN" altLang="en-US" sz="2400" b="1" kern="0">
                <a:latin typeface="楷体_GB2312" panose="02010609030101010101" pitchFamily="49" charset="-122"/>
                <a:ea typeface="楷体_GB2312" panose="02010609030101010101" pitchFamily="49" charset="-122"/>
                <a:cs typeface="+mn-ea"/>
              </a:rPr>
              <a:t>       贷：债权投资——面值</a:t>
            </a:r>
            <a:r>
              <a:rPr kumimoji="1" lang="zh-CN" altLang="en-US" sz="2800" b="1">
                <a:solidFill>
                  <a:srgbClr val="000000"/>
                </a:solidFill>
                <a:latin typeface="华文中宋" pitchFamily="2" charset="-122"/>
                <a:ea typeface="华文中宋" pitchFamily="2" charset="-122"/>
              </a:rPr>
              <a:t>            </a:t>
            </a:r>
            <a:endParaRPr kumimoji="1" lang="en-US" altLang="zh-CN" sz="2000">
              <a:solidFill>
                <a:srgbClr val="000000"/>
              </a:solidFill>
              <a:latin typeface="Times New Roman" panose="02020603050405020304" pitchFamily="18" charset="0"/>
              <a:ea typeface="宋体" panose="02010600030101010101" pitchFamily="2" charset="-122"/>
            </a:endParaRPr>
          </a:p>
        </p:txBody>
      </p:sp>
      <p:sp>
        <p:nvSpPr>
          <p:cNvPr id="87045" name="文本框 1"/>
          <p:cNvSpPr txBox="1">
            <a:spLocks noChangeArrowheads="1"/>
          </p:cNvSpPr>
          <p:nvPr/>
        </p:nvSpPr>
        <p:spPr bwMode="auto">
          <a:xfrm>
            <a:off x="671513" y="4021773"/>
            <a:ext cx="35274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华文新魏"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华文新魏"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华文新魏"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9pPr>
          </a:lstStyle>
          <a:p>
            <a:pPr algn="l" eaLnBrk="1" hangingPunct="1">
              <a:buClrTx/>
              <a:buSzTx/>
              <a:buFontTx/>
              <a:buNone/>
            </a:pPr>
            <a:r>
              <a:rPr lang="zh-CN" altLang="en-US" sz="2400" b="1">
                <a:latin typeface="黑体" panose="02010609060101010101" pitchFamily="2" charset="-122"/>
                <a:ea typeface="黑体" panose="02010609060101010101" pitchFamily="2" charset="-122"/>
                <a:cs typeface="+mj-cs"/>
              </a:rPr>
              <a:t>一次还本付息</a:t>
            </a:r>
          </a:p>
        </p:txBody>
      </p:sp>
      <p:sp>
        <p:nvSpPr>
          <p:cNvPr id="87044" name="Rectangle 4"/>
          <p:cNvSpPr>
            <a:spLocks noChangeArrowheads="1"/>
          </p:cNvSpPr>
          <p:nvPr/>
        </p:nvSpPr>
        <p:spPr bwMode="auto">
          <a:xfrm>
            <a:off x="671830" y="4577080"/>
            <a:ext cx="4935855" cy="1664335"/>
          </a:xfrm>
          <a:prstGeom prst="rect">
            <a:avLst/>
          </a:prstGeom>
          <a:solidFill>
            <a:schemeClr val="accent1"/>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华文新魏"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华文新魏"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华文新魏"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华文新魏" pitchFamily="2" charset="-122"/>
              </a:defRPr>
            </a:lvl9pPr>
          </a:lstStyle>
          <a:p>
            <a:pPr eaLnBrk="1" hangingPunct="1">
              <a:buClrTx/>
              <a:buSzTx/>
              <a:buFontTx/>
              <a:buNone/>
            </a:pPr>
            <a:endParaRPr lang="zh-CN" altLang="en-US" sz="2400" b="1" kern="0" dirty="0">
              <a:latin typeface="楷体_GB2312" panose="02010609030101010101" pitchFamily="49" charset="-122"/>
              <a:ea typeface="楷体_GB2312" panose="02010609030101010101" pitchFamily="49" charset="-122"/>
              <a:cs typeface="+mn-ea"/>
            </a:endParaRPr>
          </a:p>
          <a:p>
            <a:pPr eaLnBrk="1" hangingPunct="1">
              <a:buClrTx/>
              <a:buSzTx/>
              <a:buFontTx/>
              <a:buNone/>
            </a:pPr>
            <a:r>
              <a:rPr lang="zh-CN" altLang="en-US" sz="2400" b="1" kern="0" dirty="0">
                <a:latin typeface="楷体_GB2312" panose="02010609030101010101" pitchFamily="49" charset="-122"/>
                <a:ea typeface="楷体_GB2312" panose="02010609030101010101" pitchFamily="49" charset="-122"/>
                <a:cs typeface="+mn-ea"/>
              </a:rPr>
              <a:t>借：其他货币资金</a:t>
            </a:r>
          </a:p>
          <a:p>
            <a:pPr eaLnBrk="1" hangingPunct="1">
              <a:buClrTx/>
              <a:buSzTx/>
              <a:buFontTx/>
              <a:buNone/>
            </a:pPr>
            <a:r>
              <a:rPr lang="zh-CN" altLang="en-US" sz="2400" b="1" kern="0" dirty="0">
                <a:latin typeface="楷体_GB2312" panose="02010609030101010101" pitchFamily="49" charset="-122"/>
                <a:ea typeface="楷体_GB2312" panose="02010609030101010101" pitchFamily="49" charset="-122"/>
                <a:cs typeface="+mn-ea"/>
              </a:rPr>
              <a:t>       贷：债权投资——面值</a:t>
            </a:r>
          </a:p>
          <a:p>
            <a:pPr eaLnBrk="1" hangingPunct="1">
              <a:buClrTx/>
              <a:buSzTx/>
              <a:buFontTx/>
              <a:buNone/>
            </a:pPr>
            <a:r>
              <a:rPr kumimoji="1" lang="en-US" altLang="zh-CN" sz="2800" b="1" dirty="0">
                <a:solidFill>
                  <a:srgbClr val="000000"/>
                </a:solidFill>
                <a:latin typeface="华文中宋" pitchFamily="2" charset="-122"/>
                <a:ea typeface="华文中宋" pitchFamily="2" charset="-122"/>
              </a:rPr>
              <a:t>                         </a:t>
            </a:r>
            <a:r>
              <a:rPr lang="zh-CN" altLang="en-US" sz="2400" b="1" kern="0" dirty="0">
                <a:latin typeface="楷体_GB2312" panose="02010609030101010101" pitchFamily="49" charset="-122"/>
                <a:ea typeface="楷体_GB2312" panose="02010609030101010101" pitchFamily="49" charset="-122"/>
                <a:cs typeface="+mn-ea"/>
              </a:rPr>
              <a:t>——应计利息</a:t>
            </a:r>
            <a:endParaRPr kumimoji="1" lang="zh-CN" altLang="en-US" sz="2800" b="1" dirty="0">
              <a:solidFill>
                <a:srgbClr val="000000"/>
              </a:solidFill>
              <a:latin typeface="华文中宋" pitchFamily="2" charset="-122"/>
              <a:ea typeface="华文中宋" pitchFamily="2" charset="-122"/>
            </a:endParaRPr>
          </a:p>
          <a:p>
            <a:pPr eaLnBrk="1" hangingPunct="1">
              <a:buClrTx/>
              <a:buSzTx/>
              <a:buFontTx/>
              <a:buNone/>
            </a:pPr>
            <a:endParaRPr kumimoji="1" lang="en-US" altLang="zh-CN" sz="2000"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88067" name="图片 3"/>
          <p:cNvPicPr>
            <a:picLocks noChangeAspect="1" noChangeArrowheads="1"/>
          </p:cNvPicPr>
          <p:nvPr/>
        </p:nvPicPr>
        <p:blipFill>
          <a:blip r:embed="rId2">
            <a:extLst>
              <a:ext uri="{28A0092B-C50C-407E-A947-70E740481C1C}">
                <a14:useLocalDpi xmlns:a14="http://schemas.microsoft.com/office/drawing/2010/main" val="0"/>
              </a:ext>
            </a:extLst>
          </a:blip>
          <a:srcRect r="55" b="-2342"/>
          <a:stretch>
            <a:fillRect/>
          </a:stretch>
        </p:blipFill>
        <p:spPr bwMode="auto">
          <a:xfrm>
            <a:off x="544195" y="1838325"/>
            <a:ext cx="8055610" cy="5106035"/>
          </a:xfrm>
          <a:prstGeom prst="rect">
            <a:avLst/>
          </a:prstGeom>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6" name="标题 1"/>
          <p:cNvSpPr>
            <a:spLocks noGrp="1" noChangeArrowheads="1"/>
          </p:cNvSpPr>
          <p:nvPr>
            <p:ph type="title"/>
          </p:nvPr>
        </p:nvSpPr>
        <p:spPr/>
        <p:txBody>
          <a:bodyPr/>
          <a:lstStyle/>
          <a:p>
            <a:r>
              <a:rPr lang="zh-CN" altLang="en-US"/>
              <a:t>摊余成本计算方法</a:t>
            </a:r>
            <a:r>
              <a:rPr lang="en-US" altLang="zh-CN">
                <a:latin typeface="Times New Roman" panose="02020603050405020304" pitchFamily="18" charset="0"/>
                <a:cs typeface="Times New Roman" panose="02020603050405020304" pitchFamily="18" charset="0"/>
              </a:rPr>
              <a:t>2</a:t>
            </a:r>
            <a:endParaRPr lang="zh-C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noChangeArrowheads="1"/>
          </p:cNvSpPr>
          <p:nvPr>
            <p:ph type="title"/>
          </p:nvPr>
        </p:nvSpPr>
        <p:spPr/>
        <p:txBody>
          <a:bodyPr/>
          <a:lstStyle/>
          <a:p>
            <a:r>
              <a:rPr lang="zh-CN" altLang="en-US"/>
              <a:t>摊余成本计算方法</a:t>
            </a:r>
            <a:r>
              <a:rPr lang="en-US" altLang="zh-CN">
                <a:latin typeface="Times New Roman" panose="02020603050405020304" pitchFamily="18" charset="0"/>
                <a:cs typeface="Times New Roman" panose="02020603050405020304" pitchFamily="18" charset="0"/>
              </a:rPr>
              <a:t>2</a:t>
            </a:r>
            <a:endParaRPr lang="zh-CN" altLang="en-US">
              <a:latin typeface="Times New Roman" panose="02020603050405020304" pitchFamily="18" charset="0"/>
              <a:cs typeface="Times New Roman" panose="02020603050405020304" pitchFamily="18" charset="0"/>
            </a:endParaRPr>
          </a:p>
        </p:txBody>
      </p:sp>
      <p:pic>
        <p:nvPicPr>
          <p:cNvPr id="89091" name="内容占位符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2420938"/>
            <a:ext cx="7772400" cy="3081337"/>
          </a:xfr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053783" y="2017713"/>
            <a:ext cx="7772400" cy="4114800"/>
          </a:xfrm>
        </p:spPr>
        <p:txBody>
          <a:bodyPr/>
          <a:lstStyle/>
          <a:p>
            <a:pPr>
              <a:defRPr/>
            </a:pPr>
            <a:endParaRPr lang="en-US" altLang="zh-CN" dirty="0"/>
          </a:p>
          <a:p>
            <a:pPr>
              <a:defRPr/>
            </a:pPr>
            <a:endParaRPr lang="en-US" altLang="zh-CN" dirty="0"/>
          </a:p>
          <a:p>
            <a:pPr marL="0" indent="0">
              <a:buNone/>
              <a:defRPr/>
            </a:pPr>
            <a:r>
              <a:rPr lang="zh-CN" altLang="en-US" sz="4400" dirty="0">
                <a:solidFill>
                  <a:schemeClr val="tx2"/>
                </a:solidFill>
                <a:latin typeface="+mj-lt"/>
                <a:ea typeface="+mj-ea"/>
                <a:cs typeface="+mj-cs"/>
              </a:rPr>
              <a:t>四、</a:t>
            </a:r>
            <a:r>
              <a:rPr lang="zh-CN" altLang="zh-CN" sz="4400" dirty="0">
                <a:solidFill>
                  <a:schemeClr val="tx2"/>
                </a:solidFill>
                <a:latin typeface="+mj-lt"/>
                <a:ea typeface="+mj-ea"/>
                <a:cs typeface="+mj-cs"/>
              </a:rPr>
              <a:t>以公允价值计量且其变动计入其他综合收益的金融资产</a:t>
            </a:r>
            <a:r>
              <a:rPr lang="zh-CN" altLang="en-US" sz="4400" dirty="0">
                <a:solidFill>
                  <a:schemeClr val="tx2"/>
                </a:solidFill>
                <a:latin typeface="+mj-lt"/>
                <a:ea typeface="+mj-ea"/>
                <a:cs typeface="+mj-cs"/>
              </a:rPr>
              <a:t>（</a:t>
            </a:r>
            <a:r>
              <a:rPr lang="en-US" altLang="zh-CN" sz="4400" dirty="0">
                <a:solidFill>
                  <a:schemeClr val="tx2"/>
                </a:solidFill>
                <a:latin typeface="Times New Roman" panose="02020603050405020304" pitchFamily="18" charset="0"/>
                <a:ea typeface="+mj-ea"/>
                <a:cs typeface="Times New Roman" panose="02020603050405020304" pitchFamily="18" charset="0"/>
              </a:rPr>
              <a:t>FA-OCI</a:t>
            </a:r>
            <a:r>
              <a:rPr lang="zh-CN" altLang="en-US" sz="4400" dirty="0">
                <a:solidFill>
                  <a:schemeClr val="tx2"/>
                </a:solidFill>
                <a:latin typeface="+mj-lt"/>
                <a:ea typeface="+mj-ea"/>
                <a:cs typeface="+mj-cs"/>
              </a:rPr>
              <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zh-CN" altLang="en-US"/>
              <a:t>（一）</a:t>
            </a:r>
            <a:r>
              <a:rPr lang="en-US" altLang="zh-CN">
                <a:latin typeface="Times New Roman" panose="02020603050405020304" pitchFamily="18" charset="0"/>
                <a:cs typeface="Times New Roman" panose="02020603050405020304" pitchFamily="18" charset="0"/>
              </a:rPr>
              <a:t> FA-OCI</a:t>
            </a:r>
            <a:r>
              <a:rPr lang="zh-CN" altLang="en-US"/>
              <a:t>概述 </a:t>
            </a:r>
          </a:p>
        </p:txBody>
      </p:sp>
      <p:sp>
        <p:nvSpPr>
          <p:cNvPr id="91139" name="Rectangle 3"/>
          <p:cNvSpPr>
            <a:spLocks noGrp="1" noChangeArrowheads="1"/>
          </p:cNvSpPr>
          <p:nvPr>
            <p:ph idx="1"/>
          </p:nvPr>
        </p:nvSpPr>
        <p:spPr/>
        <p:txBody>
          <a:bodyPr/>
          <a:lstStyle/>
          <a:p>
            <a:r>
              <a:rPr lang="zh-CN" altLang="zh-CN" sz="2400"/>
              <a:t>金融资产同时符合下列条件的，应当</a:t>
            </a:r>
            <a:r>
              <a:rPr lang="zh-CN" altLang="zh-CN" sz="2400">
                <a:solidFill>
                  <a:srgbClr val="FF0000"/>
                </a:solidFill>
              </a:rPr>
              <a:t>分类为</a:t>
            </a:r>
            <a:r>
              <a:rPr lang="zh-CN" altLang="zh-CN" sz="2400"/>
              <a:t>以公允价值计量且其变动计入其他综合收益的金融资产：</a:t>
            </a:r>
          </a:p>
          <a:p>
            <a:pPr lvl="1"/>
            <a:r>
              <a:rPr lang="zh-CN" altLang="zh-CN" sz="2000"/>
              <a:t>（</a:t>
            </a:r>
            <a:r>
              <a:rPr lang="en-US" altLang="zh-CN" sz="2000">
                <a:latin typeface="Times New Roman" panose="02020603050405020304" pitchFamily="18" charset="0"/>
                <a:cs typeface="Times New Roman" panose="02020603050405020304" pitchFamily="18" charset="0"/>
              </a:rPr>
              <a:t>1</a:t>
            </a:r>
            <a:r>
              <a:rPr lang="zh-CN" altLang="zh-CN" sz="2000"/>
              <a:t>）企业管理该金融资产的业务模式既以收取合同现金流量为目标又以出售该金融资产为目标。</a:t>
            </a:r>
          </a:p>
          <a:p>
            <a:pPr lvl="1"/>
            <a:r>
              <a:rPr lang="zh-CN" altLang="zh-CN" sz="2000"/>
              <a:t>（</a:t>
            </a:r>
            <a:r>
              <a:rPr lang="en-US" altLang="zh-CN" sz="2000">
                <a:latin typeface="Times New Roman" panose="02020603050405020304" pitchFamily="18" charset="0"/>
                <a:cs typeface="Times New Roman" panose="02020603050405020304" pitchFamily="18" charset="0"/>
              </a:rPr>
              <a:t>2</a:t>
            </a:r>
            <a:r>
              <a:rPr lang="zh-CN" altLang="zh-CN" sz="2000"/>
              <a:t>）该金融资产的合同条款规定，在特定日期产生的现金流量，仅为对本金和以未偿付本金金额为基础的利息的支付。</a:t>
            </a:r>
          </a:p>
          <a:p>
            <a:pPr lvl="1"/>
            <a:r>
              <a:rPr lang="zh-CN" altLang="zh-CN" sz="2000"/>
              <a:t>满足上述两个条件的金融资产只能为债券投资或与债券类似的投资</a:t>
            </a:r>
            <a:r>
              <a:rPr lang="zh-CN" altLang="en-US" sz="2000"/>
              <a:t>，通过“其他债权投资”核算</a:t>
            </a:r>
            <a:endParaRPr lang="en-US" altLang="zh-CN" sz="2000"/>
          </a:p>
          <a:p>
            <a:r>
              <a:rPr lang="zh-CN" altLang="zh-CN" sz="2400"/>
              <a:t>在初始确认时，企业可以将非交易性权益工具投资</a:t>
            </a:r>
            <a:r>
              <a:rPr lang="zh-CN" altLang="zh-CN" sz="2400">
                <a:solidFill>
                  <a:srgbClr val="FF0000"/>
                </a:solidFill>
              </a:rPr>
              <a:t>指定为</a:t>
            </a:r>
            <a:r>
              <a:rPr lang="zh-CN" altLang="zh-CN" sz="2400"/>
              <a:t>以公允价值计量且其变动计入其他综合收益的金融资产。</a:t>
            </a:r>
            <a:r>
              <a:rPr lang="zh-CN" altLang="en-US" sz="2400"/>
              <a:t>并</a:t>
            </a:r>
            <a:r>
              <a:rPr lang="zh-CN" altLang="zh-CN" sz="2400"/>
              <a:t>通过“其他权益工具投资”账户进行核算。该指定一经做出，不得撤销。</a:t>
            </a:r>
          </a:p>
          <a:p>
            <a:endParaRPr lang="zh-CN" altLang="zh-CN" sz="24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zh-CN" altLang="en-US" sz="4000"/>
              <a:t>（二）</a:t>
            </a:r>
            <a:r>
              <a:rPr lang="en-US" altLang="zh-CN" sz="4000"/>
              <a:t> </a:t>
            </a:r>
            <a:r>
              <a:rPr lang="zh-CN" altLang="en-US" sz="4000">
                <a:solidFill>
                  <a:srgbClr val="FF0000"/>
                </a:solidFill>
              </a:rPr>
              <a:t>分类为</a:t>
            </a:r>
            <a:r>
              <a:rPr lang="en-US" altLang="zh-CN" sz="4000">
                <a:latin typeface="Times New Roman" panose="02020603050405020304" pitchFamily="18" charset="0"/>
                <a:cs typeface="Times New Roman" panose="02020603050405020304" pitchFamily="18" charset="0"/>
              </a:rPr>
              <a:t>FA-OCI</a:t>
            </a:r>
            <a:r>
              <a:rPr lang="zh-CN" altLang="en-US" sz="4000"/>
              <a:t>的会计处理</a:t>
            </a:r>
          </a:p>
        </p:txBody>
      </p:sp>
      <p:sp>
        <p:nvSpPr>
          <p:cNvPr id="92163" name="Rectangle 3"/>
          <p:cNvSpPr>
            <a:spLocks noGrp="1" noChangeArrowheads="1"/>
          </p:cNvSpPr>
          <p:nvPr>
            <p:ph idx="1"/>
          </p:nvPr>
        </p:nvSpPr>
        <p:spPr/>
        <p:txBody>
          <a:bodyPr/>
          <a:lstStyle/>
          <a:p>
            <a:r>
              <a:rPr lang="zh-CN" altLang="en-US"/>
              <a:t>涉及的问题</a:t>
            </a:r>
            <a:endParaRPr lang="en-US" altLang="zh-CN"/>
          </a:p>
          <a:p>
            <a:r>
              <a:rPr lang="zh-CN" altLang="en-US"/>
              <a:t>初始确认和计量</a:t>
            </a:r>
            <a:endParaRPr lang="en-US" altLang="zh-CN"/>
          </a:p>
          <a:p>
            <a:pPr lvl="1"/>
            <a:r>
              <a:rPr lang="zh-CN" altLang="en-US"/>
              <a:t>取得</a:t>
            </a:r>
          </a:p>
          <a:p>
            <a:r>
              <a:rPr lang="zh-CN" altLang="en-US"/>
              <a:t>后续计量</a:t>
            </a:r>
          </a:p>
          <a:p>
            <a:pPr lvl="1"/>
            <a:r>
              <a:rPr lang="zh-CN" altLang="en-US"/>
              <a:t>收到利息</a:t>
            </a:r>
          </a:p>
          <a:p>
            <a:pPr lvl="1"/>
            <a:r>
              <a:rPr lang="zh-CN" altLang="en-US"/>
              <a:t>期末计价</a:t>
            </a:r>
          </a:p>
          <a:p>
            <a:r>
              <a:rPr lang="zh-CN" altLang="en-US"/>
              <a:t>处置</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979170" y="214630"/>
            <a:ext cx="7964805" cy="1461770"/>
          </a:xfrm>
        </p:spPr>
        <p:txBody>
          <a:bodyPr/>
          <a:lstStyle/>
          <a:p>
            <a:r>
              <a:rPr lang="en-US" altLang="zh-CN" sz="3200">
                <a:latin typeface="Times New Roman" panose="02020603050405020304" pitchFamily="18" charset="0"/>
                <a:cs typeface="Times New Roman" panose="02020603050405020304" pitchFamily="18" charset="0"/>
              </a:rPr>
              <a:t>1</a:t>
            </a:r>
            <a:r>
              <a:rPr lang="en-US" altLang="zh-CN" sz="3200"/>
              <a:t>.</a:t>
            </a:r>
            <a:r>
              <a:rPr lang="zh-CN" altLang="en-US" sz="3200"/>
              <a:t> </a:t>
            </a:r>
            <a:r>
              <a:rPr lang="zh-CN" altLang="en-US" sz="3200">
                <a:solidFill>
                  <a:srgbClr val="FF0000"/>
                </a:solidFill>
              </a:rPr>
              <a:t>分类为</a:t>
            </a:r>
            <a:r>
              <a:rPr lang="en-US" altLang="zh-CN" sz="3200">
                <a:latin typeface="Times New Roman" panose="02020603050405020304" pitchFamily="18" charset="0"/>
                <a:cs typeface="Times New Roman" panose="02020603050405020304" pitchFamily="18" charset="0"/>
              </a:rPr>
              <a:t>FA-OCI</a:t>
            </a:r>
            <a:r>
              <a:rPr lang="zh-CN" altLang="en-US" sz="3200"/>
              <a:t>（其他债权投资）的取得</a:t>
            </a:r>
          </a:p>
        </p:txBody>
      </p:sp>
      <p:sp>
        <p:nvSpPr>
          <p:cNvPr id="93187" name="Rectangle 3"/>
          <p:cNvSpPr>
            <a:spLocks noGrp="1" noChangeArrowheads="1"/>
          </p:cNvSpPr>
          <p:nvPr>
            <p:ph idx="1"/>
          </p:nvPr>
        </p:nvSpPr>
        <p:spPr/>
        <p:txBody>
          <a:bodyPr/>
          <a:lstStyle/>
          <a:p>
            <a:r>
              <a:rPr lang="zh-CN" altLang="zh-CN" dirty="0"/>
              <a:t>取得</a:t>
            </a:r>
            <a:r>
              <a:rPr lang="zh-CN" altLang="en-US" dirty="0"/>
              <a:t>分类为</a:t>
            </a:r>
            <a:r>
              <a:rPr lang="zh-CN" altLang="zh-CN" dirty="0"/>
              <a:t>以公允价值计量且其变动计入其他综合收益的金融资产</a:t>
            </a:r>
            <a:r>
              <a:rPr lang="zh-CN" altLang="en-US" dirty="0"/>
              <a:t>（分类为</a:t>
            </a:r>
            <a:r>
              <a:rPr lang="en-US" altLang="zh-CN" dirty="0">
                <a:latin typeface="Times New Roman" panose="02020603050405020304" pitchFamily="18" charset="0"/>
                <a:cs typeface="Times New Roman" panose="02020603050405020304" pitchFamily="18" charset="0"/>
              </a:rPr>
              <a:t>FA-OCI</a:t>
            </a:r>
            <a:r>
              <a:rPr lang="zh-CN" altLang="en-US" dirty="0"/>
              <a:t>），</a:t>
            </a:r>
            <a:r>
              <a:rPr lang="zh-CN" altLang="zh-CN" dirty="0"/>
              <a:t>应当以</a:t>
            </a:r>
            <a:r>
              <a:rPr lang="zh-CN" altLang="zh-CN" dirty="0">
                <a:solidFill>
                  <a:srgbClr val="FF0000"/>
                </a:solidFill>
              </a:rPr>
              <a:t>取得成本</a:t>
            </a:r>
            <a:r>
              <a:rPr lang="zh-CN" altLang="zh-CN" dirty="0"/>
              <a:t>进行初始计量，取得成本包括购买价格（公允价值）和支付的交易费用</a:t>
            </a:r>
            <a:endParaRPr lang="en-US" altLang="zh-CN" dirty="0"/>
          </a:p>
          <a:p>
            <a:r>
              <a:rPr lang="zh-CN" altLang="zh-CN" dirty="0"/>
              <a:t>企业取得此类金融资产时，按其取得成本，借记“其他债权投资（成本）”账户，贷记“其他货币资金”</a:t>
            </a:r>
            <a:r>
              <a:rPr lang="zh-CN" altLang="en-US" dirty="0"/>
              <a:t>“银行存款”</a:t>
            </a:r>
            <a:r>
              <a:rPr lang="zh-CN" altLang="zh-CN" dirty="0"/>
              <a:t>账户。</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noChangeArrowheads="1"/>
          </p:cNvSpPr>
          <p:nvPr>
            <p:ph type="title"/>
          </p:nvPr>
        </p:nvSpPr>
        <p:spPr>
          <a:xfrm>
            <a:off x="852170" y="428625"/>
            <a:ext cx="8480425" cy="1333500"/>
          </a:xfrm>
        </p:spPr>
        <p:txBody>
          <a:bodyPr/>
          <a:lstStyle/>
          <a:p>
            <a:r>
              <a:rPr lang="zh-CN" altLang="en-US" sz="3000"/>
              <a:t>2. 分类为FA-OCI（其他债权投资）的后续计量</a:t>
            </a:r>
          </a:p>
        </p:txBody>
      </p:sp>
      <p:sp>
        <p:nvSpPr>
          <p:cNvPr id="94211" name="内容占位符 2"/>
          <p:cNvSpPr>
            <a:spLocks noGrp="1" noChangeArrowheads="1"/>
          </p:cNvSpPr>
          <p:nvPr>
            <p:ph idx="1"/>
          </p:nvPr>
        </p:nvSpPr>
        <p:spPr/>
        <p:txBody>
          <a:bodyPr>
            <a:scene3d>
              <a:camera prst="orthographicFront"/>
              <a:lightRig rig="soft" dir="t">
                <a:rot lat="0" lon="0" rev="15600000"/>
              </a:lightRig>
            </a:scene3d>
            <a:sp3d extrusionH="57150" prstMaterial="softEdge">
              <a:bevelT w="25400" h="38100"/>
            </a:sp3d>
          </a:bodyPr>
          <a:lstStyle/>
          <a:p>
            <a:r>
              <a:rPr lang="zh-CN" altLang="en-US" sz="2400">
                <a:solidFill>
                  <a:schemeClr val="accent4"/>
                </a:solidFill>
              </a:rPr>
              <a:t>（</a:t>
            </a:r>
            <a:r>
              <a:rPr lang="en-US" altLang="zh-CN" sz="2400">
                <a:solidFill>
                  <a:schemeClr val="accent4"/>
                </a:solidFill>
                <a:latin typeface="Times New Roman" panose="02020603050405020304" pitchFamily="18" charset="0"/>
                <a:cs typeface="Times New Roman" panose="02020603050405020304" pitchFamily="18" charset="0"/>
              </a:rPr>
              <a:t>1</a:t>
            </a:r>
            <a:r>
              <a:rPr lang="zh-CN" altLang="en-US" sz="2400">
                <a:solidFill>
                  <a:schemeClr val="accent4"/>
                </a:solidFill>
              </a:rPr>
              <a:t>）产生的</a:t>
            </a:r>
            <a:r>
              <a:rPr lang="zh-CN" altLang="en-US" sz="2400">
                <a:solidFill>
                  <a:srgbClr val="FF0000"/>
                </a:solidFill>
              </a:rPr>
              <a:t>公允价值变动</a:t>
            </a:r>
            <a:r>
              <a:rPr lang="zh-CN" altLang="zh-CN" sz="2400">
                <a:solidFill>
                  <a:schemeClr val="accent4"/>
                </a:solidFill>
              </a:rPr>
              <a:t>应当计入其他综合收益，直至该金融资产终止确认或被重分类</a:t>
            </a:r>
            <a:endParaRPr lang="en-US" altLang="zh-CN" sz="2400">
              <a:solidFill>
                <a:schemeClr val="accent4"/>
              </a:solidFill>
            </a:endParaRPr>
          </a:p>
          <a:p>
            <a:r>
              <a:rPr lang="zh-CN" altLang="en-US" sz="2400">
                <a:solidFill>
                  <a:schemeClr val="accent4"/>
                </a:solidFill>
              </a:rPr>
              <a:t>（</a:t>
            </a:r>
            <a:r>
              <a:rPr lang="en-US" altLang="zh-CN" sz="2400">
                <a:solidFill>
                  <a:schemeClr val="accent4"/>
                </a:solidFill>
                <a:latin typeface="Times New Roman" panose="02020603050405020304" pitchFamily="18" charset="0"/>
                <a:cs typeface="Times New Roman" panose="02020603050405020304" pitchFamily="18" charset="0"/>
              </a:rPr>
              <a:t>2</a:t>
            </a:r>
            <a:r>
              <a:rPr lang="zh-CN" altLang="en-US" sz="2400">
                <a:solidFill>
                  <a:schemeClr val="accent4"/>
                </a:solidFill>
              </a:rPr>
              <a:t>）</a:t>
            </a:r>
            <a:r>
              <a:rPr lang="zh-CN" altLang="zh-CN" sz="2400">
                <a:solidFill>
                  <a:schemeClr val="accent4"/>
                </a:solidFill>
              </a:rPr>
              <a:t>采用实际利率法计算的该金融资产的利息应当计入当期损益。该金融资产计入各期损益的金额应当与视同其一直按摊余成本计量而计入各期损益的金额相等</a:t>
            </a:r>
          </a:p>
          <a:p>
            <a:r>
              <a:rPr lang="zh-CN" altLang="en-US" sz="2400">
                <a:solidFill>
                  <a:schemeClr val="accent4"/>
                </a:solidFill>
              </a:rPr>
              <a:t>（</a:t>
            </a:r>
            <a:r>
              <a:rPr lang="en-US" altLang="zh-CN" sz="2400">
                <a:solidFill>
                  <a:schemeClr val="accent4"/>
                </a:solidFill>
                <a:effectLst/>
                <a:latin typeface="Times New Roman" panose="02020603050405020304" pitchFamily="18" charset="0"/>
                <a:cs typeface="Times New Roman" panose="02020603050405020304" pitchFamily="18" charset="0"/>
              </a:rPr>
              <a:t>3</a:t>
            </a:r>
            <a:r>
              <a:rPr lang="zh-CN" altLang="en-US" sz="2400">
                <a:solidFill>
                  <a:schemeClr val="accent4"/>
                </a:solidFill>
              </a:rPr>
              <a:t>）</a:t>
            </a:r>
            <a:r>
              <a:rPr lang="zh-CN" altLang="zh-CN" sz="2400">
                <a:solidFill>
                  <a:schemeClr val="accent4"/>
                </a:solidFill>
              </a:rPr>
              <a:t>该金融资产终止确认时，之前计入其他综合收益的累计利得或损失应当从其他综合收益中转出，计入当期损益</a:t>
            </a:r>
          </a:p>
          <a:p>
            <a:endParaRPr lang="zh-CN" altLang="zh-CN" sz="2400">
              <a:solidFill>
                <a:schemeClr val="accent4"/>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zh-CN" altLang="en-US" sz="4000"/>
              <a:t>（三）</a:t>
            </a:r>
            <a:r>
              <a:rPr lang="en-US" altLang="zh-CN" sz="4000"/>
              <a:t> </a:t>
            </a:r>
            <a:r>
              <a:rPr lang="zh-CN" altLang="en-US" sz="4000">
                <a:solidFill>
                  <a:srgbClr val="FF0000"/>
                </a:solidFill>
              </a:rPr>
              <a:t>指定为</a:t>
            </a:r>
            <a:r>
              <a:rPr lang="en-US" altLang="zh-CN" sz="4000">
                <a:latin typeface="Times New Roman" panose="02020603050405020304" pitchFamily="18" charset="0"/>
                <a:cs typeface="Times New Roman" panose="02020603050405020304" pitchFamily="18" charset="0"/>
              </a:rPr>
              <a:t>FA-OCI</a:t>
            </a:r>
            <a:r>
              <a:rPr lang="zh-CN" altLang="en-US" sz="4000"/>
              <a:t>的会计处理</a:t>
            </a:r>
          </a:p>
        </p:txBody>
      </p:sp>
      <p:sp>
        <p:nvSpPr>
          <p:cNvPr id="95235" name="Rectangle 3"/>
          <p:cNvSpPr>
            <a:spLocks noGrp="1" noChangeArrowheads="1"/>
          </p:cNvSpPr>
          <p:nvPr>
            <p:ph idx="1"/>
          </p:nvPr>
        </p:nvSpPr>
        <p:spPr/>
        <p:txBody>
          <a:bodyPr/>
          <a:lstStyle/>
          <a:p>
            <a:r>
              <a:rPr lang="zh-CN" altLang="en-US"/>
              <a:t>涉及的问题</a:t>
            </a:r>
            <a:endParaRPr lang="en-US" altLang="zh-CN"/>
          </a:p>
          <a:p>
            <a:r>
              <a:rPr lang="zh-CN" altLang="en-US"/>
              <a:t>初始确认和计量</a:t>
            </a:r>
            <a:endParaRPr lang="en-US" altLang="zh-CN"/>
          </a:p>
          <a:p>
            <a:pPr lvl="1"/>
            <a:r>
              <a:rPr lang="zh-CN" altLang="en-US"/>
              <a:t>取得</a:t>
            </a:r>
          </a:p>
          <a:p>
            <a:r>
              <a:rPr lang="zh-CN" altLang="en-US"/>
              <a:t>后续计量</a:t>
            </a:r>
          </a:p>
          <a:p>
            <a:pPr lvl="1"/>
            <a:r>
              <a:rPr lang="zh-CN" altLang="en-US"/>
              <a:t>收到股利</a:t>
            </a:r>
            <a:endParaRPr lang="en-US" altLang="zh-CN"/>
          </a:p>
          <a:p>
            <a:pPr lvl="1"/>
            <a:r>
              <a:rPr lang="zh-CN" altLang="en-US"/>
              <a:t>期末计价</a:t>
            </a:r>
          </a:p>
          <a:p>
            <a:r>
              <a:rPr lang="zh-CN" altLang="en-US"/>
              <a:t>处置</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956945" y="257175"/>
            <a:ext cx="8187055" cy="1461770"/>
          </a:xfrm>
        </p:spPr>
        <p:txBody>
          <a:bodyPr/>
          <a:lstStyle/>
          <a:p>
            <a:r>
              <a:rPr lang="en-US" altLang="zh-CN" sz="3000">
                <a:latin typeface="Times New Roman" panose="02020603050405020304" pitchFamily="18" charset="0"/>
                <a:cs typeface="Times New Roman" panose="02020603050405020304" pitchFamily="18" charset="0"/>
              </a:rPr>
              <a:t>1</a:t>
            </a:r>
            <a:r>
              <a:rPr lang="en-US" altLang="zh-CN" sz="3000"/>
              <a:t>.</a:t>
            </a:r>
            <a:r>
              <a:rPr lang="zh-CN" altLang="en-US" sz="3000"/>
              <a:t> </a:t>
            </a:r>
            <a:r>
              <a:rPr lang="zh-CN" altLang="en-US" sz="3000">
                <a:solidFill>
                  <a:srgbClr val="FF0000"/>
                </a:solidFill>
              </a:rPr>
              <a:t>指定为</a:t>
            </a:r>
            <a:r>
              <a:rPr lang="en-US" altLang="zh-CN" sz="3000">
                <a:latin typeface="Times New Roman" panose="02020603050405020304" pitchFamily="18" charset="0"/>
                <a:cs typeface="Times New Roman" panose="02020603050405020304" pitchFamily="18" charset="0"/>
              </a:rPr>
              <a:t>FA-OCI</a:t>
            </a:r>
            <a:r>
              <a:rPr lang="zh-CN" altLang="en-US" sz="3000"/>
              <a:t>（其他权益工具投资）的取得</a:t>
            </a:r>
          </a:p>
        </p:txBody>
      </p:sp>
      <p:sp>
        <p:nvSpPr>
          <p:cNvPr id="96259" name="Rectangle 3"/>
          <p:cNvSpPr>
            <a:spLocks noGrp="1" noChangeArrowheads="1"/>
          </p:cNvSpPr>
          <p:nvPr>
            <p:ph idx="1"/>
          </p:nvPr>
        </p:nvSpPr>
        <p:spPr/>
        <p:txBody>
          <a:bodyPr/>
          <a:lstStyle/>
          <a:p>
            <a:r>
              <a:rPr lang="zh-CN" altLang="zh-CN" dirty="0"/>
              <a:t>应当以</a:t>
            </a:r>
            <a:r>
              <a:rPr lang="zh-CN" altLang="zh-CN" dirty="0">
                <a:solidFill>
                  <a:srgbClr val="FF0000"/>
                </a:solidFill>
              </a:rPr>
              <a:t>取得成本</a:t>
            </a:r>
            <a:r>
              <a:rPr lang="zh-CN" altLang="zh-CN" dirty="0"/>
              <a:t>进行初始计量，取得成本包括购买价格（公允价值）和支付的交易费用</a:t>
            </a:r>
            <a:endParaRPr lang="en-US" altLang="zh-CN" dirty="0"/>
          </a:p>
          <a:p>
            <a:r>
              <a:rPr lang="zh-CN" altLang="zh-CN" dirty="0"/>
              <a:t>企业取得此类金融资产时，按其取得成本，借记“其他</a:t>
            </a:r>
            <a:r>
              <a:rPr lang="zh-CN" altLang="en-US" dirty="0"/>
              <a:t>权益工具</a:t>
            </a:r>
            <a:r>
              <a:rPr lang="zh-CN" altLang="zh-CN" dirty="0"/>
              <a:t>投资（成本）”账户，贷记“其他货币资金”</a:t>
            </a:r>
            <a:r>
              <a:rPr lang="zh-CN" altLang="en-US" dirty="0"/>
              <a:t>“银行存款”</a:t>
            </a:r>
            <a:r>
              <a:rPr lang="zh-CN" altLang="zh-CN" dirty="0"/>
              <a:t>账户。</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zh-CN" altLang="en-US" sz="3600"/>
              <a:t>示例</a:t>
            </a:r>
          </a:p>
        </p:txBody>
      </p:sp>
      <p:sp>
        <p:nvSpPr>
          <p:cNvPr id="97283" name="Rectangle 3"/>
          <p:cNvSpPr>
            <a:spLocks noGrp="1" noChangeArrowheads="1"/>
          </p:cNvSpPr>
          <p:nvPr>
            <p:ph idx="1"/>
          </p:nvPr>
        </p:nvSpPr>
        <p:spPr/>
        <p:txBody>
          <a:bodyPr/>
          <a:lstStyle/>
          <a:p>
            <a:pPr marL="0" indent="0">
              <a:lnSpc>
                <a:spcPct val="80000"/>
              </a:lnSpc>
              <a:buNone/>
            </a:pPr>
            <a:r>
              <a:rPr lang="zh-CN" altLang="en-US" sz="2800"/>
              <a:t>示例，甲企业购入</a:t>
            </a:r>
            <a:r>
              <a:rPr lang="en-US" altLang="zh-CN" sz="2800">
                <a:latin typeface="Times New Roman" panose="02020603050405020304" pitchFamily="18" charset="0"/>
                <a:cs typeface="Times New Roman" panose="02020603050405020304" pitchFamily="18" charset="0"/>
              </a:rPr>
              <a:t>A</a:t>
            </a:r>
            <a:r>
              <a:rPr lang="zh-CN" altLang="en-US" sz="2800"/>
              <a:t>股票</a:t>
            </a:r>
            <a:r>
              <a:rPr lang="en-US" altLang="zh-CN" sz="2800">
                <a:latin typeface="Times New Roman" panose="02020603050405020304" pitchFamily="18" charset="0"/>
                <a:cs typeface="Times New Roman" panose="02020603050405020304" pitchFamily="18" charset="0"/>
              </a:rPr>
              <a:t>10</a:t>
            </a:r>
            <a:r>
              <a:rPr lang="zh-CN" altLang="en-US" sz="2800"/>
              <a:t>万股，支付的价款为</a:t>
            </a:r>
            <a:r>
              <a:rPr lang="en-US" altLang="zh-CN" sz="2800">
                <a:latin typeface="Times New Roman" panose="02020603050405020304" pitchFamily="18" charset="0"/>
                <a:cs typeface="Times New Roman" panose="02020603050405020304" pitchFamily="18" charset="0"/>
              </a:rPr>
              <a:t>103</a:t>
            </a:r>
            <a:r>
              <a:rPr lang="zh-CN" altLang="en-US" sz="2800"/>
              <a:t>万元，其中包含已宣告发放的现金股利</a:t>
            </a:r>
            <a:r>
              <a:rPr lang="en-US" altLang="zh-CN" sz="2800">
                <a:latin typeface="Times New Roman" panose="02020603050405020304" pitchFamily="18" charset="0"/>
                <a:cs typeface="Times New Roman" panose="02020603050405020304" pitchFamily="18" charset="0"/>
              </a:rPr>
              <a:t>3</a:t>
            </a:r>
            <a:r>
              <a:rPr lang="zh-CN" altLang="en-US" sz="2800"/>
              <a:t>万元。另支付交易费用</a:t>
            </a:r>
            <a:r>
              <a:rPr lang="en-US" altLang="zh-CN" sz="2800">
                <a:latin typeface="Times New Roman" panose="02020603050405020304" pitchFamily="18" charset="0"/>
                <a:cs typeface="Times New Roman" panose="02020603050405020304" pitchFamily="18" charset="0"/>
              </a:rPr>
              <a:t>2</a:t>
            </a:r>
            <a:r>
              <a:rPr lang="zh-CN" altLang="en-US" sz="2800"/>
              <a:t>万元。甲企业将其</a:t>
            </a:r>
            <a:r>
              <a:rPr lang="zh-CN" altLang="en-US" sz="2800">
                <a:solidFill>
                  <a:srgbClr val="FF0000"/>
                </a:solidFill>
              </a:rPr>
              <a:t>指定为</a:t>
            </a:r>
            <a:r>
              <a:rPr lang="zh-CN" altLang="en-US" sz="2800"/>
              <a:t>以公允价值计量且其变动计入其他综合收益的金融资产，该项金融资产的入账金额为（</a:t>
            </a:r>
            <a:r>
              <a:rPr lang="zh-CN" altLang="en-US" sz="2800">
                <a:latin typeface="Arial" panose="020B0604020202020204" pitchFamily="34" charset="0"/>
              </a:rPr>
              <a:t>  </a:t>
            </a:r>
            <a:r>
              <a:rPr lang="zh-CN" altLang="en-US" sz="2800"/>
              <a:t> ）万元。</a:t>
            </a:r>
          </a:p>
          <a:p>
            <a:pPr marL="0" indent="0">
              <a:lnSpc>
                <a:spcPct val="80000"/>
              </a:lnSpc>
              <a:buNone/>
            </a:pPr>
            <a:r>
              <a:rPr lang="en-US" altLang="zh-CN" sz="2800">
                <a:latin typeface="Times New Roman" panose="02020603050405020304" pitchFamily="18" charset="0"/>
                <a:cs typeface="Times New Roman" panose="02020603050405020304" pitchFamily="18" charset="0"/>
              </a:rPr>
              <a:t>A.103</a:t>
            </a:r>
          </a:p>
          <a:p>
            <a:pPr marL="0" indent="0">
              <a:lnSpc>
                <a:spcPct val="80000"/>
              </a:lnSpc>
              <a:buNone/>
            </a:pPr>
            <a:r>
              <a:rPr lang="en-US" altLang="zh-CN" sz="2800">
                <a:latin typeface="Times New Roman" panose="02020603050405020304" pitchFamily="18" charset="0"/>
                <a:cs typeface="Times New Roman" panose="02020603050405020304" pitchFamily="18" charset="0"/>
              </a:rPr>
              <a:t>B.100</a:t>
            </a:r>
          </a:p>
          <a:p>
            <a:pPr marL="0" indent="0">
              <a:lnSpc>
                <a:spcPct val="80000"/>
              </a:lnSpc>
              <a:buNone/>
            </a:pPr>
            <a:r>
              <a:rPr lang="en-US" altLang="zh-CN" sz="2800">
                <a:latin typeface="Times New Roman" panose="02020603050405020304" pitchFamily="18" charset="0"/>
                <a:cs typeface="Times New Roman" panose="02020603050405020304" pitchFamily="18" charset="0"/>
              </a:rPr>
              <a:t>C. 98</a:t>
            </a:r>
            <a:r>
              <a:rPr lang="en-US" altLang="zh-CN" sz="2800">
                <a:latin typeface="Arial" panose="020B0604020202020204" pitchFamily="34" charset="0"/>
              </a:rPr>
              <a:t> </a:t>
            </a:r>
            <a:endParaRPr lang="en-US" altLang="zh-CN" sz="2800"/>
          </a:p>
          <a:p>
            <a:pPr marL="0" indent="0">
              <a:lnSpc>
                <a:spcPct val="80000"/>
              </a:lnSpc>
              <a:buNone/>
            </a:pPr>
            <a:r>
              <a:rPr lang="en-US" altLang="zh-CN" sz="2800">
                <a:latin typeface="Times New Roman" panose="02020603050405020304" pitchFamily="18" charset="0"/>
                <a:cs typeface="Times New Roman" panose="02020603050405020304" pitchFamily="18" charset="0"/>
              </a:rPr>
              <a:t>D.105</a:t>
            </a:r>
          </a:p>
          <a:p>
            <a:pPr marL="0" indent="0">
              <a:lnSpc>
                <a:spcPct val="80000"/>
              </a:lnSpc>
              <a:buNone/>
            </a:pPr>
            <a:r>
              <a:rPr lang="en-US" altLang="zh-CN" sz="2800">
                <a:latin typeface="Times New Roman" panose="02020603050405020304" pitchFamily="18" charset="0"/>
                <a:cs typeface="Times New Roman" panose="02020603050405020304" pitchFamily="18" charset="0"/>
              </a:rPr>
              <a:t>E.102</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1153795" y="231775"/>
            <a:ext cx="7990205" cy="1461770"/>
          </a:xfrm>
        </p:spPr>
        <p:txBody>
          <a:bodyPr/>
          <a:lstStyle/>
          <a:p>
            <a:r>
              <a:rPr lang="en-US" altLang="zh-CN" sz="3000">
                <a:latin typeface="Times New Roman" panose="02020603050405020304" pitchFamily="18" charset="0"/>
                <a:cs typeface="Times New Roman" panose="02020603050405020304" pitchFamily="18" charset="0"/>
              </a:rPr>
              <a:t>1</a:t>
            </a:r>
            <a:r>
              <a:rPr lang="en-US" altLang="zh-CN" sz="3000"/>
              <a:t>.</a:t>
            </a:r>
            <a:r>
              <a:rPr lang="zh-CN" altLang="en-US" sz="3000">
                <a:solidFill>
                  <a:srgbClr val="FF0000"/>
                </a:solidFill>
              </a:rPr>
              <a:t>指定为</a:t>
            </a:r>
            <a:r>
              <a:rPr lang="en-US" altLang="zh-CN" sz="3000">
                <a:latin typeface="Times New Roman" panose="02020603050405020304" pitchFamily="18" charset="0"/>
                <a:cs typeface="Times New Roman" panose="02020603050405020304" pitchFamily="18" charset="0"/>
              </a:rPr>
              <a:t>FA-OCI</a:t>
            </a:r>
            <a:r>
              <a:rPr lang="zh-CN" altLang="en-US" sz="3000"/>
              <a:t>（其他权益工具投资）的取得</a:t>
            </a:r>
          </a:p>
        </p:txBody>
      </p:sp>
      <p:sp>
        <p:nvSpPr>
          <p:cNvPr id="98307" name="Rectangle 3"/>
          <p:cNvSpPr>
            <a:spLocks noGrp="1" noChangeArrowheads="1"/>
          </p:cNvSpPr>
          <p:nvPr>
            <p:ph idx="1"/>
          </p:nvPr>
        </p:nvSpPr>
        <p:spPr/>
        <p:txBody>
          <a:bodyPr/>
          <a:lstStyle/>
          <a:p>
            <a:pPr marL="0" indent="0">
              <a:buNone/>
            </a:pPr>
            <a:r>
              <a:rPr lang="zh-CN" altLang="en-US" dirty="0">
                <a:latin typeface="黑体" panose="02010609060101010101" pitchFamily="2" charset="-122"/>
                <a:ea typeface="黑体" panose="02010609060101010101" pitchFamily="2" charset="-122"/>
              </a:rPr>
              <a:t>取得时的会计处理</a:t>
            </a:r>
          </a:p>
          <a:p>
            <a:endParaRPr lang="zh-CN" altLang="en-US" dirty="0">
              <a:latin typeface="黑体" panose="02010609060101010101" pitchFamily="2" charset="-122"/>
            </a:endParaRPr>
          </a:p>
          <a:p>
            <a:pPr marL="0" indent="0">
              <a:buNone/>
            </a:pPr>
            <a:r>
              <a:rPr lang="zh-CN" altLang="en-US" sz="2400" b="1" dirty="0">
                <a:latin typeface="楷体_GB2312" panose="02010609030101010101" pitchFamily="49" charset="-122"/>
                <a:ea typeface="楷体_GB2312" panose="02010609030101010101" pitchFamily="49" charset="-122"/>
                <a:cs typeface="+mn-ea"/>
              </a:rPr>
              <a:t>借：其他权益工具投资</a:t>
            </a:r>
            <a:r>
              <a:rPr lang="en-US" altLang="zh-CN" sz="2400" b="1" dirty="0">
                <a:latin typeface="楷体_GB2312" panose="02010609030101010101" pitchFamily="49" charset="-122"/>
                <a:ea typeface="楷体_GB2312" panose="02010609030101010101" pitchFamily="49" charset="-122"/>
                <a:cs typeface="+mn-ea"/>
              </a:rPr>
              <a:t>——</a:t>
            </a:r>
            <a:r>
              <a:rPr lang="zh-CN" altLang="en-US" sz="2400" b="1" dirty="0">
                <a:latin typeface="楷体_GB2312" panose="02010609030101010101" pitchFamily="49" charset="-122"/>
                <a:ea typeface="楷体_GB2312" panose="02010609030101010101" pitchFamily="49" charset="-122"/>
                <a:cs typeface="+mn-ea"/>
              </a:rPr>
              <a:t>成本</a:t>
            </a:r>
          </a:p>
          <a:p>
            <a:pPr marL="0" indent="0">
              <a:buNone/>
            </a:pPr>
            <a:r>
              <a:rPr lang="zh-CN" altLang="en-US" sz="2400" b="1" dirty="0">
                <a:latin typeface="楷体_GB2312" panose="02010609030101010101" pitchFamily="49" charset="-122"/>
                <a:ea typeface="楷体_GB2312" panose="02010609030101010101" pitchFamily="49" charset="-122"/>
                <a:cs typeface="+mn-ea"/>
              </a:rPr>
              <a:t>    应收股利</a:t>
            </a:r>
          </a:p>
          <a:p>
            <a:pPr marL="0" indent="0">
              <a:buNone/>
            </a:pPr>
            <a:r>
              <a:rPr lang="zh-CN" altLang="en-US" sz="2400" b="1" dirty="0">
                <a:latin typeface="楷体_GB2312" panose="02010609030101010101" pitchFamily="49" charset="-122"/>
                <a:ea typeface="楷体_GB2312" panose="02010609030101010101" pitchFamily="49" charset="-122"/>
                <a:cs typeface="+mn-ea"/>
              </a:rPr>
              <a:t>    贷：其他货币资金</a:t>
            </a:r>
            <a:r>
              <a:rPr lang="en-US" altLang="zh-CN" sz="2400" b="1" dirty="0">
                <a:latin typeface="楷体_GB2312" panose="02010609030101010101" pitchFamily="49" charset="-122"/>
                <a:ea typeface="楷体_GB2312" panose="02010609030101010101" pitchFamily="49" charset="-122"/>
                <a:cs typeface="+mn-ea"/>
              </a:rPr>
              <a:t>——</a:t>
            </a:r>
            <a:r>
              <a:rPr lang="zh-CN" altLang="en-US" sz="2400" b="1" dirty="0">
                <a:latin typeface="楷体_GB2312" panose="02010609030101010101" pitchFamily="49" charset="-122"/>
                <a:ea typeface="楷体_GB2312" panose="02010609030101010101" pitchFamily="49" charset="-122"/>
                <a:cs typeface="+mn-ea"/>
              </a:rPr>
              <a:t>存出投资款</a:t>
            </a:r>
            <a:r>
              <a:rPr lang="zh-CN" altLang="en-US" dirty="0"/>
              <a:t> </a:t>
            </a:r>
            <a:endParaRPr lang="zh-CN" altLang="en-US" dirty="0">
              <a:latin typeface="黑体" panose="02010609060101010101" pitchFamily="2" charset="-122"/>
            </a:endParaRPr>
          </a:p>
          <a:p>
            <a:endParaRPr lang="zh-CN" altLang="en-US" dirty="0">
              <a:solidFill>
                <a:srgbClr val="FF0000"/>
              </a:solidFill>
              <a:latin typeface="黑体" panose="02010609060101010101" pitchFamily="2" charset="-122"/>
            </a:endParaRPr>
          </a:p>
          <a:p>
            <a:r>
              <a:rPr lang="zh-CN" altLang="en-US" dirty="0">
                <a:solidFill>
                  <a:srgbClr val="FF0000"/>
                </a:solidFill>
                <a:latin typeface="黑体" panose="02010609060101010101" pitchFamily="2" charset="-122"/>
              </a:rPr>
              <a:t>注意：成本包括价款和交易费用</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zh-CN" altLang="en-US"/>
              <a:t>举例</a:t>
            </a:r>
          </a:p>
        </p:txBody>
      </p:sp>
      <p:sp>
        <p:nvSpPr>
          <p:cNvPr id="307203" name="Rectangle 3"/>
          <p:cNvSpPr>
            <a:spLocks noGrp="1" noChangeArrowheads="1"/>
          </p:cNvSpPr>
          <p:nvPr>
            <p:ph idx="1"/>
          </p:nvPr>
        </p:nvSpPr>
        <p:spPr/>
        <p:txBody>
          <a:bodyPr/>
          <a:lstStyle/>
          <a:p>
            <a:pPr marL="0" indent="0">
              <a:buNone/>
            </a:pPr>
            <a:r>
              <a:rPr lang="en-US" altLang="zh-CN"/>
              <a:t>【</a:t>
            </a:r>
            <a:r>
              <a:rPr lang="zh-CN" altLang="en-US"/>
              <a:t>例</a:t>
            </a:r>
            <a:r>
              <a:rPr lang="en-US" altLang="zh-CN">
                <a:latin typeface="Times New Roman" panose="02020603050405020304" pitchFamily="18" charset="0"/>
                <a:cs typeface="Times New Roman" panose="02020603050405020304" pitchFamily="18" charset="0"/>
              </a:rPr>
              <a:t>5-1</a:t>
            </a:r>
            <a:r>
              <a:rPr lang="en-US" altLang="zh-CN"/>
              <a:t>*】</a:t>
            </a:r>
            <a:r>
              <a:rPr lang="zh-CN" altLang="en-US"/>
              <a:t>华峰公司</a:t>
            </a:r>
            <a:r>
              <a:rPr lang="en-US" altLang="zh-CN">
                <a:latin typeface="Times New Roman" panose="02020603050405020304" pitchFamily="18" charset="0"/>
                <a:cs typeface="Times New Roman" panose="02020603050405020304" pitchFamily="18" charset="0"/>
              </a:rPr>
              <a:t>2</a:t>
            </a:r>
            <a:r>
              <a:rPr lang="zh-CN" altLang="en-US"/>
              <a:t>月</a:t>
            </a:r>
            <a:r>
              <a:rPr lang="en-US" altLang="zh-CN">
                <a:latin typeface="Times New Roman" panose="02020603050405020304" pitchFamily="18" charset="0"/>
                <a:cs typeface="Times New Roman" panose="02020603050405020304" pitchFamily="18" charset="0"/>
              </a:rPr>
              <a:t>10</a:t>
            </a:r>
            <a:r>
              <a:rPr lang="zh-CN" altLang="en-US"/>
              <a:t>日从</a:t>
            </a:r>
            <a:r>
              <a:rPr lang="en-US" altLang="zh-CN">
                <a:latin typeface="Times New Roman" panose="02020603050405020304" pitchFamily="18" charset="0"/>
                <a:cs typeface="Times New Roman" panose="02020603050405020304" pitchFamily="18" charset="0"/>
              </a:rPr>
              <a:t>A</a:t>
            </a:r>
            <a:r>
              <a:rPr lang="zh-CN" altLang="en-US"/>
              <a:t>股票市场购入</a:t>
            </a:r>
            <a:r>
              <a:rPr lang="en-US" altLang="zh-CN">
                <a:latin typeface="Times New Roman" panose="02020603050405020304" pitchFamily="18" charset="0"/>
                <a:cs typeface="Times New Roman" panose="02020603050405020304" pitchFamily="18" charset="0"/>
              </a:rPr>
              <a:t>S</a:t>
            </a:r>
            <a:r>
              <a:rPr lang="zh-CN" altLang="en-US"/>
              <a:t>公司股票</a:t>
            </a:r>
            <a:r>
              <a:rPr lang="en-US" altLang="zh-CN">
                <a:latin typeface="Times New Roman" panose="02020603050405020304" pitchFamily="18" charset="0"/>
                <a:cs typeface="Times New Roman" panose="02020603050405020304" pitchFamily="18" charset="0"/>
              </a:rPr>
              <a:t>3 000</a:t>
            </a:r>
            <a:r>
              <a:rPr lang="zh-CN" altLang="en-US"/>
              <a:t>股，每股购买价格</a:t>
            </a:r>
            <a:r>
              <a:rPr lang="en-US" altLang="zh-CN">
                <a:latin typeface="Times New Roman" panose="02020603050405020304" pitchFamily="18" charset="0"/>
                <a:cs typeface="Times New Roman" panose="02020603050405020304" pitchFamily="18" charset="0"/>
              </a:rPr>
              <a:t>10</a:t>
            </a:r>
            <a:r>
              <a:rPr lang="zh-CN" altLang="en-US"/>
              <a:t>元，另支付交易手续费及印花税等计</a:t>
            </a:r>
            <a:r>
              <a:rPr lang="en-US" altLang="zh-CN">
                <a:latin typeface="Times New Roman" panose="02020603050405020304" pitchFamily="18" charset="0"/>
                <a:cs typeface="Times New Roman" panose="02020603050405020304" pitchFamily="18" charset="0"/>
              </a:rPr>
              <a:t>180</a:t>
            </a:r>
            <a:r>
              <a:rPr lang="zh-CN" altLang="en-US"/>
              <a:t>元，款项以存入证券公司投资款支付。华峰公司将购入的股票指定为其他权益工具投资</a:t>
            </a:r>
          </a:p>
          <a:p>
            <a:endParaRPr lang="zh-CN" altLang="en-US"/>
          </a:p>
          <a:p>
            <a:pPr marL="0" indent="0">
              <a:buNone/>
            </a:pPr>
            <a:r>
              <a:rPr lang="zh-CN" altLang="en-US" sz="2400" b="1">
                <a:latin typeface="楷体_GB2312" panose="02010609030101010101" pitchFamily="49" charset="-122"/>
                <a:ea typeface="楷体_GB2312" panose="02010609030101010101" pitchFamily="49" charset="-122"/>
                <a:cs typeface="+mn-ea"/>
              </a:rPr>
              <a:t>借：其他权益工具投资</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成本  </a:t>
            </a:r>
            <a:r>
              <a:rPr lang="zh-CN" altLang="en-US"/>
              <a:t> </a:t>
            </a:r>
            <a:r>
              <a:rPr lang="en-US" altLang="zh-CN" sz="2400">
                <a:latin typeface="Times New Roman" panose="02020603050405020304" pitchFamily="18" charset="0"/>
                <a:cs typeface="Times New Roman" panose="02020603050405020304" pitchFamily="18" charset="0"/>
              </a:rPr>
              <a:t>30 180</a:t>
            </a:r>
            <a:endParaRPr lang="en-US" altLang="zh-CN"/>
          </a:p>
          <a:p>
            <a:pPr marL="0" indent="0">
              <a:buNone/>
            </a:pPr>
            <a:r>
              <a:rPr lang="en-US" altLang="zh-CN"/>
              <a:t>   </a:t>
            </a:r>
            <a:r>
              <a:rPr lang="zh-CN" altLang="en-US" sz="2400" b="1">
                <a:latin typeface="楷体_GB2312" panose="02010609030101010101" pitchFamily="49" charset="-122"/>
                <a:ea typeface="楷体_GB2312" panose="02010609030101010101" pitchFamily="49" charset="-122"/>
                <a:cs typeface="+mn-ea"/>
              </a:rPr>
              <a:t>贷：其他货币资金</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存出投资款 </a:t>
            </a:r>
            <a:r>
              <a:rPr lang="zh-CN" altLang="en-US"/>
              <a:t>  </a:t>
            </a:r>
            <a:r>
              <a:rPr lang="en-US" altLang="zh-CN" sz="2400">
                <a:latin typeface="Times New Roman" panose="02020603050405020304" pitchFamily="18" charset="0"/>
                <a:cs typeface="Times New Roman" panose="02020603050405020304" pitchFamily="18" charset="0"/>
              </a:rPr>
              <a:t>30 180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07203">
                                            <p:txEl>
                                              <p:pRg st="2" end="2"/>
                                            </p:txEl>
                                          </p:spTgt>
                                        </p:tgtEl>
                                        <p:attrNameLst>
                                          <p:attrName>style.visibility</p:attrName>
                                        </p:attrNameLst>
                                      </p:cBhvr>
                                      <p:to>
                                        <p:strVal val="visible"/>
                                      </p:to>
                                    </p:set>
                                    <p:animEffect transition="in" filter="box(in)">
                                      <p:cBhvr>
                                        <p:cTn id="7" dur="500"/>
                                        <p:tgtEl>
                                          <p:spTgt spid="307203">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07203">
                                            <p:txEl>
                                              <p:pRg st="3" end="3"/>
                                            </p:txEl>
                                          </p:spTgt>
                                        </p:tgtEl>
                                        <p:attrNameLst>
                                          <p:attrName>style.visibility</p:attrName>
                                        </p:attrNameLst>
                                      </p:cBhvr>
                                      <p:to>
                                        <p:strVal val="visible"/>
                                      </p:to>
                                    </p:set>
                                    <p:animEffect transition="in" filter="box(in)">
                                      <p:cBhvr>
                                        <p:cTn id="10" dur="500"/>
                                        <p:tgtEl>
                                          <p:spTgt spid="3072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ltLang="zh-CN" sz="3000">
                <a:latin typeface="Times New Roman" panose="02020603050405020304" pitchFamily="18" charset="0"/>
                <a:cs typeface="Times New Roman" panose="02020603050405020304" pitchFamily="18" charset="0"/>
              </a:rPr>
              <a:t>2</a:t>
            </a:r>
            <a:r>
              <a:rPr lang="en-US" altLang="zh-CN" sz="3000"/>
              <a:t>.</a:t>
            </a:r>
            <a:r>
              <a:rPr lang="zh-CN" altLang="en-US" sz="3000">
                <a:solidFill>
                  <a:srgbClr val="FF0000"/>
                </a:solidFill>
              </a:rPr>
              <a:t>指定为</a:t>
            </a:r>
            <a:r>
              <a:rPr lang="en-US" altLang="zh-CN" sz="3000">
                <a:latin typeface="Times New Roman" panose="02020603050405020304" pitchFamily="18" charset="0"/>
                <a:cs typeface="Times New Roman" panose="02020603050405020304" pitchFamily="18" charset="0"/>
              </a:rPr>
              <a:t>FA-OCI</a:t>
            </a:r>
            <a:r>
              <a:rPr lang="zh-CN" altLang="en-US" sz="3000"/>
              <a:t>（其他权益工具投资）的持有期间的股利</a:t>
            </a:r>
          </a:p>
        </p:txBody>
      </p:sp>
      <p:sp>
        <p:nvSpPr>
          <p:cNvPr id="100355" name="Rectangle 3"/>
          <p:cNvSpPr>
            <a:spLocks noGrp="1" noChangeArrowheads="1"/>
          </p:cNvSpPr>
          <p:nvPr>
            <p:ph idx="1"/>
          </p:nvPr>
        </p:nvSpPr>
        <p:spPr/>
        <p:txBody>
          <a:bodyPr/>
          <a:lstStyle/>
          <a:p>
            <a:pPr>
              <a:lnSpc>
                <a:spcPct val="100000"/>
              </a:lnSpc>
            </a:pPr>
            <a:r>
              <a:rPr lang="zh-CN" altLang="en-US"/>
              <a:t>其他权益工具投资持有期间取得的现金股利，应计入当期损益。</a:t>
            </a:r>
          </a:p>
          <a:p>
            <a:pPr>
              <a:lnSpc>
                <a:spcPct val="100000"/>
              </a:lnSpc>
            </a:pPr>
            <a:endParaRPr lang="zh-CN" altLang="en-US"/>
          </a:p>
          <a:p>
            <a:pPr>
              <a:lnSpc>
                <a:spcPct val="100000"/>
              </a:lnSpc>
            </a:pPr>
            <a:r>
              <a:rPr lang="zh-CN" altLang="en-US"/>
              <a:t>相应地，借记</a:t>
            </a:r>
            <a:r>
              <a:rPr lang="zh-CN" altLang="en-US">
                <a:latin typeface="Arial" panose="020B0604020202020204" pitchFamily="34" charset="0"/>
              </a:rPr>
              <a:t> “</a:t>
            </a:r>
            <a:r>
              <a:rPr lang="zh-CN" altLang="en-US"/>
              <a:t>应收股利</a:t>
            </a:r>
            <a:r>
              <a:rPr lang="zh-CN" altLang="en-US">
                <a:latin typeface="Arial" panose="020B0604020202020204" pitchFamily="34" charset="0"/>
              </a:rPr>
              <a:t>”</a:t>
            </a:r>
            <a:r>
              <a:rPr lang="zh-CN" altLang="en-US"/>
              <a:t>，贷记</a:t>
            </a:r>
            <a:r>
              <a:rPr lang="zh-CN" altLang="en-US">
                <a:latin typeface="Arial" panose="020B0604020202020204" pitchFamily="34" charset="0"/>
              </a:rPr>
              <a:t>“</a:t>
            </a:r>
            <a:r>
              <a:rPr lang="zh-CN" altLang="en-US"/>
              <a:t>投资收益</a:t>
            </a:r>
            <a:r>
              <a:rPr lang="zh-CN" altLang="en-US">
                <a:latin typeface="Arial" panose="020B0604020202020204" pitchFamily="34" charset="0"/>
              </a:rPr>
              <a:t>”</a:t>
            </a:r>
            <a:endParaRPr lang="zh-C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zh-CN" altLang="en-US"/>
              <a:t>举例（续）</a:t>
            </a:r>
          </a:p>
        </p:txBody>
      </p:sp>
      <p:sp>
        <p:nvSpPr>
          <p:cNvPr id="308227" name="Rectangle 3"/>
          <p:cNvSpPr>
            <a:spLocks noGrp="1" noChangeArrowheads="1"/>
          </p:cNvSpPr>
          <p:nvPr>
            <p:ph idx="1"/>
          </p:nvPr>
        </p:nvSpPr>
        <p:spPr/>
        <p:txBody>
          <a:bodyPr/>
          <a:lstStyle/>
          <a:p>
            <a:pPr marL="0" indent="0">
              <a:lnSpc>
                <a:spcPct val="90000"/>
              </a:lnSpc>
              <a:buNone/>
            </a:pPr>
            <a:r>
              <a:rPr lang="en-US" altLang="zh-CN" sz="2800"/>
              <a:t>【</a:t>
            </a:r>
            <a:r>
              <a:rPr lang="zh-CN" altLang="en-US" sz="2800"/>
              <a:t>例</a:t>
            </a:r>
            <a:r>
              <a:rPr lang="en-US" altLang="zh-CN" sz="2800">
                <a:latin typeface="Times New Roman" panose="02020603050405020304" pitchFamily="18" charset="0"/>
                <a:cs typeface="Times New Roman" panose="02020603050405020304" pitchFamily="18" charset="0"/>
              </a:rPr>
              <a:t>5-2*</a:t>
            </a:r>
            <a:r>
              <a:rPr lang="en-US" altLang="zh-CN" sz="2800"/>
              <a:t>】</a:t>
            </a:r>
            <a:r>
              <a:rPr lang="en-US" altLang="zh-CN" sz="2800">
                <a:latin typeface="Times New Roman" panose="02020603050405020304" pitchFamily="18" charset="0"/>
                <a:cs typeface="Times New Roman" panose="02020603050405020304" pitchFamily="18" charset="0"/>
              </a:rPr>
              <a:t>S公司</a:t>
            </a:r>
            <a:r>
              <a:rPr lang="zh-CN" altLang="en-US" sz="2800"/>
              <a:t>于</a:t>
            </a:r>
            <a:r>
              <a:rPr lang="en-US" altLang="zh-CN" sz="2800">
                <a:latin typeface="Times New Roman" panose="02020603050405020304" pitchFamily="18" charset="0"/>
                <a:cs typeface="Times New Roman" panose="02020603050405020304" pitchFamily="18" charset="0"/>
              </a:rPr>
              <a:t>3</a:t>
            </a:r>
            <a:r>
              <a:rPr lang="zh-CN" altLang="en-US" sz="2800"/>
              <a:t>月</a:t>
            </a:r>
            <a:r>
              <a:rPr lang="en-US" altLang="zh-CN" sz="2800">
                <a:latin typeface="Times New Roman" panose="02020603050405020304" pitchFamily="18" charset="0"/>
                <a:cs typeface="Times New Roman" panose="02020603050405020304" pitchFamily="18" charset="0"/>
              </a:rPr>
              <a:t>1</a:t>
            </a:r>
            <a:r>
              <a:rPr lang="zh-CN" altLang="en-US" sz="2800"/>
              <a:t>日宣告发放股利，每股</a:t>
            </a:r>
            <a:r>
              <a:rPr lang="en-US" altLang="zh-CN" sz="2800">
                <a:latin typeface="Times New Roman" panose="02020603050405020304" pitchFamily="18" charset="0"/>
                <a:cs typeface="Times New Roman" panose="02020603050405020304" pitchFamily="18" charset="0"/>
              </a:rPr>
              <a:t>1</a:t>
            </a:r>
            <a:r>
              <a:rPr lang="zh-CN" altLang="en-US" sz="2800"/>
              <a:t>元。华峰公司持有</a:t>
            </a:r>
            <a:r>
              <a:rPr lang="en-US" altLang="zh-CN" sz="2800">
                <a:latin typeface="Times New Roman" panose="02020603050405020304" pitchFamily="18" charset="0"/>
                <a:cs typeface="Times New Roman" panose="02020603050405020304" pitchFamily="18" charset="0"/>
              </a:rPr>
              <a:t>S</a:t>
            </a:r>
            <a:r>
              <a:rPr lang="zh-CN" altLang="en-US" sz="2800"/>
              <a:t>公司股票</a:t>
            </a:r>
            <a:r>
              <a:rPr lang="en-US" altLang="zh-CN" sz="2800">
                <a:latin typeface="Times New Roman" panose="02020603050405020304" pitchFamily="18" charset="0"/>
                <a:cs typeface="Times New Roman" panose="02020603050405020304" pitchFamily="18" charset="0"/>
              </a:rPr>
              <a:t>3 000</a:t>
            </a:r>
            <a:r>
              <a:rPr lang="zh-CN" altLang="en-US" sz="2800"/>
              <a:t>股，应收股利</a:t>
            </a:r>
            <a:r>
              <a:rPr lang="en-US" altLang="zh-CN" sz="2800">
                <a:latin typeface="Times New Roman" panose="02020603050405020304" pitchFamily="18" charset="0"/>
                <a:cs typeface="Times New Roman" panose="02020603050405020304" pitchFamily="18" charset="0"/>
              </a:rPr>
              <a:t>3 000</a:t>
            </a:r>
            <a:r>
              <a:rPr lang="zh-CN" altLang="en-US" sz="2800"/>
              <a:t>元，该股利于</a:t>
            </a:r>
            <a:r>
              <a:rPr lang="en-US" altLang="zh-CN" sz="2800">
                <a:latin typeface="Times New Roman" panose="02020603050405020304" pitchFamily="18" charset="0"/>
                <a:cs typeface="Times New Roman" panose="02020603050405020304" pitchFamily="18" charset="0"/>
              </a:rPr>
              <a:t>3月15</a:t>
            </a:r>
            <a:r>
              <a:rPr lang="zh-CN" altLang="en-US" sz="2800"/>
              <a:t>日实际收到。</a:t>
            </a:r>
          </a:p>
          <a:p>
            <a:pPr marL="0" indent="0">
              <a:lnSpc>
                <a:spcPct val="90000"/>
              </a:lnSpc>
              <a:buNone/>
            </a:pPr>
            <a:r>
              <a:rPr lang="en-US" altLang="zh-CN" sz="2800">
                <a:latin typeface="Times New Roman" panose="02020603050405020304" pitchFamily="18" charset="0"/>
                <a:cs typeface="Times New Roman" panose="02020603050405020304" pitchFamily="18" charset="0"/>
              </a:rPr>
              <a:t>3</a:t>
            </a:r>
            <a:r>
              <a:rPr lang="zh-CN" altLang="en-US" sz="2800"/>
              <a:t>月</a:t>
            </a:r>
            <a:r>
              <a:rPr lang="en-US" altLang="zh-CN" sz="2800">
                <a:latin typeface="Times New Roman" panose="02020603050405020304" pitchFamily="18" charset="0"/>
                <a:cs typeface="Times New Roman" panose="02020603050405020304" pitchFamily="18" charset="0"/>
              </a:rPr>
              <a:t>1</a:t>
            </a:r>
            <a:r>
              <a:rPr lang="zh-CN" altLang="en-US" sz="2800"/>
              <a:t>日</a:t>
            </a:r>
            <a:r>
              <a:rPr lang="en-US" altLang="zh-CN" sz="2800"/>
              <a:t>:</a:t>
            </a:r>
            <a:endParaRPr lang="zh-CN" altLang="en-US" sz="2800"/>
          </a:p>
          <a:p>
            <a:pPr marL="0" indent="0">
              <a:lnSpc>
                <a:spcPct val="90000"/>
              </a:lnSpc>
              <a:buNone/>
            </a:pPr>
            <a:r>
              <a:rPr lang="zh-CN" altLang="en-US" sz="2400" b="1">
                <a:latin typeface="楷体_GB2312" panose="02010609030101010101" pitchFamily="49" charset="-122"/>
                <a:ea typeface="楷体_GB2312" panose="02010609030101010101" pitchFamily="49" charset="-122"/>
                <a:cs typeface="+mn-ea"/>
              </a:rPr>
              <a:t>借：应收股利</a:t>
            </a:r>
            <a:r>
              <a:rPr sz="2400" b="1">
                <a:latin typeface="楷体_GB2312" panose="02010609030101010101" pitchFamily="49" charset="-122"/>
                <a:ea typeface="楷体_GB2312" panose="02010609030101010101" pitchFamily="49" charset="-122"/>
                <a:cs typeface="+mn-ea"/>
              </a:rPr>
              <a:t>——S</a:t>
            </a:r>
            <a:r>
              <a:rPr lang="zh-CN" altLang="en-US" sz="2400" b="1">
                <a:latin typeface="楷体_GB2312" panose="02010609030101010101" pitchFamily="49" charset="-122"/>
                <a:ea typeface="楷体_GB2312" panose="02010609030101010101" pitchFamily="49" charset="-122"/>
                <a:cs typeface="+mn-ea"/>
              </a:rPr>
              <a:t>公司</a:t>
            </a:r>
            <a:r>
              <a:rPr lang="zh-CN" altLang="en-US" sz="2400">
                <a:latin typeface="楷体_GB2312" panose="02010609030101010101" pitchFamily="49" charset="-122"/>
                <a:ea typeface="楷体_GB2312" panose="02010609030101010101" pitchFamily="49" charset="-122"/>
                <a:cs typeface="+mn-ea"/>
              </a:rPr>
              <a:t>       </a:t>
            </a:r>
            <a:r>
              <a:rPr sz="2400">
                <a:latin typeface="Times New Roman" panose="02020603050405020304" pitchFamily="18" charset="0"/>
                <a:ea typeface="楷体_GB2312" panose="02010609030101010101" pitchFamily="49" charset="-122"/>
                <a:cs typeface="Times New Roman" panose="02020603050405020304" pitchFamily="18" charset="0"/>
              </a:rPr>
              <a:t>3 000</a:t>
            </a:r>
          </a:p>
          <a:p>
            <a:pPr marL="0" indent="0">
              <a:lnSpc>
                <a:spcPct val="90000"/>
              </a:lnSpc>
              <a:buNone/>
            </a:pPr>
            <a:r>
              <a:rPr sz="2400" b="1">
                <a:latin typeface="楷体_GB2312" panose="02010609030101010101" pitchFamily="49" charset="-122"/>
                <a:ea typeface="楷体_GB2312" panose="02010609030101010101" pitchFamily="49" charset="-122"/>
                <a:cs typeface="+mn-ea"/>
              </a:rPr>
              <a:t>    </a:t>
            </a:r>
            <a:r>
              <a:rPr lang="zh-CN" altLang="en-US" sz="2400" b="1">
                <a:latin typeface="楷体_GB2312" panose="02010609030101010101" pitchFamily="49" charset="-122"/>
                <a:ea typeface="楷体_GB2312" panose="02010609030101010101" pitchFamily="49" charset="-122"/>
                <a:cs typeface="+mn-ea"/>
              </a:rPr>
              <a:t>贷：投资收益     </a:t>
            </a:r>
            <a:r>
              <a:rPr lang="zh-CN" altLang="en-US" sz="2800"/>
              <a:t>              </a:t>
            </a:r>
            <a:r>
              <a:rPr lang="zh-CN" altLang="en-US" sz="2400">
                <a:latin typeface="楷体_GB2312" panose="02010609030101010101" pitchFamily="49" charset="-122"/>
                <a:ea typeface="楷体_GB2312" panose="02010609030101010101" pitchFamily="49" charset="-122"/>
                <a:cs typeface="+mn-ea"/>
              </a:rPr>
              <a:t> </a:t>
            </a:r>
            <a:r>
              <a:rPr sz="2400">
                <a:latin typeface="楷体_GB2312" panose="02010609030101010101" pitchFamily="49" charset="-122"/>
                <a:ea typeface="楷体_GB2312" panose="02010609030101010101" pitchFamily="49" charset="-122"/>
                <a:cs typeface="+mn-ea"/>
              </a:rPr>
              <a:t>3 000</a:t>
            </a:r>
            <a:endParaRPr lang="en-US" altLang="zh-CN" sz="2800"/>
          </a:p>
          <a:p>
            <a:pPr marL="0" indent="0">
              <a:lnSpc>
                <a:spcPct val="90000"/>
              </a:lnSpc>
              <a:buNone/>
            </a:pPr>
            <a:r>
              <a:rPr lang="en-US" altLang="zh-CN" sz="2800">
                <a:latin typeface="Times New Roman" panose="02020603050405020304" pitchFamily="18" charset="0"/>
                <a:cs typeface="Times New Roman" panose="02020603050405020304" pitchFamily="18" charset="0"/>
              </a:rPr>
              <a:t>3</a:t>
            </a:r>
            <a:r>
              <a:rPr lang="zh-CN" altLang="en-US" sz="2800"/>
              <a:t>月</a:t>
            </a:r>
            <a:r>
              <a:rPr lang="en-US" altLang="zh-CN" sz="2800">
                <a:latin typeface="Times New Roman" panose="02020603050405020304" pitchFamily="18" charset="0"/>
                <a:cs typeface="Times New Roman" panose="02020603050405020304" pitchFamily="18" charset="0"/>
              </a:rPr>
              <a:t>15</a:t>
            </a:r>
            <a:r>
              <a:rPr lang="zh-CN" altLang="en-US" sz="2800"/>
              <a:t>日</a:t>
            </a:r>
            <a:r>
              <a:rPr lang="en-US" altLang="zh-CN" sz="2800"/>
              <a:t>:</a:t>
            </a:r>
            <a:endParaRPr lang="zh-CN" altLang="en-US" sz="2800"/>
          </a:p>
          <a:p>
            <a:pPr marL="0" indent="0">
              <a:lnSpc>
                <a:spcPct val="90000"/>
              </a:lnSpc>
              <a:buNone/>
            </a:pPr>
            <a:r>
              <a:rPr lang="zh-CN" altLang="en-US" sz="2400" b="1">
                <a:latin typeface="楷体_GB2312" panose="02010609030101010101" pitchFamily="49" charset="-122"/>
                <a:ea typeface="楷体_GB2312" panose="02010609030101010101" pitchFamily="49" charset="-122"/>
                <a:cs typeface="+mn-ea"/>
              </a:rPr>
              <a:t>借：其他货币资金</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存出投资款    </a:t>
            </a:r>
            <a:r>
              <a:rPr sz="2400">
                <a:latin typeface="楷体_GB2312" panose="02010609030101010101" pitchFamily="49" charset="-122"/>
                <a:ea typeface="楷体_GB2312" panose="02010609030101010101" pitchFamily="49" charset="-122"/>
                <a:cs typeface="+mn-ea"/>
              </a:rPr>
              <a:t>3 000</a:t>
            </a:r>
            <a:endParaRPr sz="2400" b="1">
              <a:latin typeface="楷体_GB2312" panose="02010609030101010101" pitchFamily="49" charset="-122"/>
              <a:ea typeface="楷体_GB2312" panose="02010609030101010101" pitchFamily="49" charset="-122"/>
              <a:cs typeface="+mn-ea"/>
            </a:endParaRPr>
          </a:p>
          <a:p>
            <a:pPr marL="0" indent="0">
              <a:lnSpc>
                <a:spcPct val="90000"/>
              </a:lnSpc>
              <a:buNone/>
            </a:pPr>
            <a:r>
              <a:rPr sz="2400" b="1">
                <a:latin typeface="楷体_GB2312" panose="02010609030101010101" pitchFamily="49" charset="-122"/>
                <a:ea typeface="楷体_GB2312" panose="02010609030101010101" pitchFamily="49" charset="-122"/>
                <a:cs typeface="+mn-ea"/>
              </a:rPr>
              <a:t>    </a:t>
            </a:r>
            <a:r>
              <a:rPr lang="zh-CN" altLang="en-US" sz="2400" b="1">
                <a:latin typeface="楷体_GB2312" panose="02010609030101010101" pitchFamily="49" charset="-122"/>
                <a:ea typeface="楷体_GB2312" panose="02010609030101010101" pitchFamily="49" charset="-122"/>
                <a:cs typeface="+mn-ea"/>
              </a:rPr>
              <a:t>贷：应收股利</a:t>
            </a:r>
            <a:r>
              <a:rPr sz="2400" b="1">
                <a:latin typeface="楷体_GB2312" panose="02010609030101010101" pitchFamily="49" charset="-122"/>
                <a:ea typeface="楷体_GB2312" panose="02010609030101010101" pitchFamily="49" charset="-122"/>
                <a:cs typeface="+mn-ea"/>
              </a:rPr>
              <a:t>——</a:t>
            </a:r>
            <a:r>
              <a:rPr sz="2400">
                <a:latin typeface="Times New Roman" panose="02020603050405020304" pitchFamily="18" charset="0"/>
                <a:ea typeface="楷体_GB2312" panose="02010609030101010101" pitchFamily="49" charset="-122"/>
                <a:cs typeface="Times New Roman" panose="02020603050405020304" pitchFamily="18" charset="0"/>
              </a:rPr>
              <a:t>S</a:t>
            </a:r>
            <a:r>
              <a:rPr lang="zh-CN" altLang="en-US" sz="2400" b="1">
                <a:latin typeface="楷体_GB2312" panose="02010609030101010101" pitchFamily="49" charset="-122"/>
                <a:ea typeface="楷体_GB2312" panose="02010609030101010101" pitchFamily="49" charset="-122"/>
                <a:cs typeface="+mn-ea"/>
              </a:rPr>
              <a:t>公司股票        </a:t>
            </a:r>
            <a:r>
              <a:rPr lang="zh-CN" altLang="en-US" sz="2400">
                <a:latin typeface="楷体_GB2312" panose="02010609030101010101" pitchFamily="49" charset="-122"/>
                <a:ea typeface="楷体_GB2312" panose="02010609030101010101" pitchFamily="49" charset="-122"/>
                <a:cs typeface="+mn-ea"/>
              </a:rPr>
              <a:t>  </a:t>
            </a:r>
            <a:r>
              <a:rPr sz="2400">
                <a:latin typeface="楷体_GB2312" panose="02010609030101010101" pitchFamily="49" charset="-122"/>
                <a:ea typeface="楷体_GB2312" panose="02010609030101010101" pitchFamily="49" charset="-122"/>
                <a:cs typeface="+mn-ea"/>
              </a:rPr>
              <a:t>3 000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08227">
                                            <p:txEl>
                                              <p:pRg st="1" end="1"/>
                                            </p:txEl>
                                          </p:spTgt>
                                        </p:tgtEl>
                                        <p:attrNameLst>
                                          <p:attrName>style.visibility</p:attrName>
                                        </p:attrNameLst>
                                      </p:cBhvr>
                                      <p:to>
                                        <p:strVal val="visible"/>
                                      </p:to>
                                    </p:set>
                                    <p:animEffect transition="in" filter="box(in)">
                                      <p:cBhvr>
                                        <p:cTn id="7" dur="500"/>
                                        <p:tgtEl>
                                          <p:spTgt spid="308227">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08227">
                                            <p:txEl>
                                              <p:pRg st="2" end="2"/>
                                            </p:txEl>
                                          </p:spTgt>
                                        </p:tgtEl>
                                        <p:attrNameLst>
                                          <p:attrName>style.visibility</p:attrName>
                                        </p:attrNameLst>
                                      </p:cBhvr>
                                      <p:to>
                                        <p:strVal val="visible"/>
                                      </p:to>
                                    </p:set>
                                    <p:animEffect transition="in" filter="box(in)">
                                      <p:cBhvr>
                                        <p:cTn id="10" dur="500"/>
                                        <p:tgtEl>
                                          <p:spTgt spid="308227">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08227">
                                            <p:txEl>
                                              <p:pRg st="3" end="3"/>
                                            </p:txEl>
                                          </p:spTgt>
                                        </p:tgtEl>
                                        <p:attrNameLst>
                                          <p:attrName>style.visibility</p:attrName>
                                        </p:attrNameLst>
                                      </p:cBhvr>
                                      <p:to>
                                        <p:strVal val="visible"/>
                                      </p:to>
                                    </p:set>
                                    <p:animEffect transition="in" filter="box(in)">
                                      <p:cBhvr>
                                        <p:cTn id="13" dur="500"/>
                                        <p:tgtEl>
                                          <p:spTgt spid="308227">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308227">
                                            <p:txEl>
                                              <p:pRg st="4" end="4"/>
                                            </p:txEl>
                                          </p:spTgt>
                                        </p:tgtEl>
                                        <p:attrNameLst>
                                          <p:attrName>style.visibility</p:attrName>
                                        </p:attrNameLst>
                                      </p:cBhvr>
                                      <p:to>
                                        <p:strVal val="visible"/>
                                      </p:to>
                                    </p:set>
                                    <p:animEffect transition="in" filter="box(in)">
                                      <p:cBhvr>
                                        <p:cTn id="18" dur="500"/>
                                        <p:tgtEl>
                                          <p:spTgt spid="308227">
                                            <p:txEl>
                                              <p:pRg st="4" end="4"/>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308227">
                                            <p:txEl>
                                              <p:pRg st="5" end="5"/>
                                            </p:txEl>
                                          </p:spTgt>
                                        </p:tgtEl>
                                        <p:attrNameLst>
                                          <p:attrName>style.visibility</p:attrName>
                                        </p:attrNameLst>
                                      </p:cBhvr>
                                      <p:to>
                                        <p:strVal val="visible"/>
                                      </p:to>
                                    </p:set>
                                    <p:animEffect transition="in" filter="box(in)">
                                      <p:cBhvr>
                                        <p:cTn id="21" dur="500"/>
                                        <p:tgtEl>
                                          <p:spTgt spid="308227">
                                            <p:txEl>
                                              <p:pRg st="5" end="5"/>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308227">
                                            <p:txEl>
                                              <p:pRg st="6" end="6"/>
                                            </p:txEl>
                                          </p:spTgt>
                                        </p:tgtEl>
                                        <p:attrNameLst>
                                          <p:attrName>style.visibility</p:attrName>
                                        </p:attrNameLst>
                                      </p:cBhvr>
                                      <p:to>
                                        <p:strVal val="visible"/>
                                      </p:to>
                                    </p:set>
                                    <p:animEffect transition="in" filter="box(in)">
                                      <p:cBhvr>
                                        <p:cTn id="24" dur="500"/>
                                        <p:tgtEl>
                                          <p:spTgt spid="3082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ltLang="zh-CN" sz="3000">
                <a:latin typeface="Times New Roman" panose="02020603050405020304" pitchFamily="18" charset="0"/>
                <a:cs typeface="Times New Roman" panose="02020603050405020304" pitchFamily="18" charset="0"/>
              </a:rPr>
              <a:t>3</a:t>
            </a:r>
            <a:r>
              <a:rPr lang="en-US" altLang="zh-CN" sz="3000"/>
              <a:t>.</a:t>
            </a:r>
            <a:r>
              <a:rPr lang="zh-CN" altLang="en-US" sz="3000"/>
              <a:t>指定为</a:t>
            </a:r>
            <a:r>
              <a:rPr lang="en-US" altLang="zh-CN" sz="3000">
                <a:latin typeface="Times New Roman" panose="02020603050405020304" pitchFamily="18" charset="0"/>
                <a:cs typeface="Times New Roman" panose="02020603050405020304" pitchFamily="18" charset="0"/>
              </a:rPr>
              <a:t>FA-OCI</a:t>
            </a:r>
            <a:r>
              <a:rPr lang="zh-CN" altLang="en-US" sz="3000"/>
              <a:t>（其他权益工具投资）的期末计价</a:t>
            </a:r>
          </a:p>
        </p:txBody>
      </p:sp>
      <p:sp>
        <p:nvSpPr>
          <p:cNvPr id="102403" name="Rectangle 3"/>
          <p:cNvSpPr>
            <a:spLocks noGrp="1" noChangeArrowheads="1"/>
          </p:cNvSpPr>
          <p:nvPr>
            <p:ph idx="1"/>
          </p:nvPr>
        </p:nvSpPr>
        <p:spPr/>
        <p:txBody>
          <a:bodyPr/>
          <a:lstStyle/>
          <a:p>
            <a:pPr>
              <a:lnSpc>
                <a:spcPct val="110000"/>
              </a:lnSpc>
            </a:pPr>
            <a:r>
              <a:rPr lang="zh-CN" altLang="en-US"/>
              <a:t>资产负债表日，其他权益工具投资应当按公允价值计量</a:t>
            </a:r>
          </a:p>
          <a:p>
            <a:pPr>
              <a:lnSpc>
                <a:spcPct val="110000"/>
              </a:lnSpc>
            </a:pPr>
            <a:r>
              <a:rPr lang="zh-CN" altLang="en-US"/>
              <a:t>且应将公允价值变动</a:t>
            </a:r>
            <a:r>
              <a:rPr lang="zh-CN" altLang="en-US">
                <a:solidFill>
                  <a:srgbClr val="CC0000"/>
                </a:solidFill>
              </a:rPr>
              <a:t>计入“其他综合收益” </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altLang="zh-CN" sz="3200">
                <a:latin typeface="Times New Roman" panose="02020603050405020304" pitchFamily="18" charset="0"/>
                <a:cs typeface="Times New Roman" panose="02020603050405020304" pitchFamily="18" charset="0"/>
              </a:rPr>
              <a:t>3.</a:t>
            </a:r>
            <a:r>
              <a:rPr lang="zh-CN" altLang="en-US" sz="3200"/>
              <a:t>指定为</a:t>
            </a:r>
            <a:r>
              <a:rPr lang="en-US" altLang="zh-CN" sz="3200">
                <a:latin typeface="Times New Roman" panose="02020603050405020304" pitchFamily="18" charset="0"/>
                <a:cs typeface="Times New Roman" panose="02020603050405020304" pitchFamily="18" charset="0"/>
              </a:rPr>
              <a:t>FA-OCI</a:t>
            </a:r>
            <a:r>
              <a:rPr lang="zh-CN" altLang="en-US" sz="3200"/>
              <a:t>（其他权益工具投资）的期末计价</a:t>
            </a:r>
          </a:p>
        </p:txBody>
      </p:sp>
      <p:sp>
        <p:nvSpPr>
          <p:cNvPr id="103427" name="Rectangle 3"/>
          <p:cNvSpPr>
            <a:spLocks noGrp="1" noChangeArrowheads="1"/>
          </p:cNvSpPr>
          <p:nvPr>
            <p:ph idx="1"/>
          </p:nvPr>
        </p:nvSpPr>
        <p:spPr/>
        <p:txBody>
          <a:bodyPr/>
          <a:lstStyle/>
          <a:p>
            <a:pPr marL="0" indent="0">
              <a:lnSpc>
                <a:spcPct val="80000"/>
              </a:lnSpc>
              <a:buNone/>
            </a:pPr>
            <a:r>
              <a:rPr lang="zh-CN" altLang="en-US">
                <a:latin typeface="黑体" panose="02010609060101010101" pitchFamily="2" charset="-122"/>
              </a:rPr>
              <a:t>期末调整的会计处理：</a:t>
            </a:r>
          </a:p>
          <a:p>
            <a:pPr>
              <a:lnSpc>
                <a:spcPct val="80000"/>
              </a:lnSpc>
            </a:pPr>
            <a:endParaRPr lang="zh-CN" altLang="en-US" sz="2800">
              <a:latin typeface="黑体" panose="02010609060101010101" pitchFamily="2" charset="-122"/>
            </a:endParaRPr>
          </a:p>
          <a:p>
            <a:pPr marL="0" indent="0">
              <a:lnSpc>
                <a:spcPct val="90000"/>
              </a:lnSpc>
              <a:buNone/>
            </a:pPr>
            <a:r>
              <a:rPr lang="en-US" altLang="zh-CN">
                <a:latin typeface="Times New Roman" panose="02020603050405020304" pitchFamily="18" charset="0"/>
                <a:cs typeface="Times New Roman" panose="02020603050405020304" pitchFamily="18" charset="0"/>
              </a:rPr>
              <a:t>1</a:t>
            </a:r>
            <a:r>
              <a:rPr lang="en-US" altLang="zh-CN">
                <a:latin typeface="黑体" panose="02010609060101010101" pitchFamily="2" charset="-122"/>
              </a:rPr>
              <a:t>.</a:t>
            </a:r>
            <a:r>
              <a:rPr lang="zh-CN" altLang="en-US">
                <a:latin typeface="黑体" panose="02010609060101010101" pitchFamily="2" charset="-122"/>
              </a:rPr>
              <a:t>其他权益工具投资价值</a:t>
            </a:r>
            <a:r>
              <a:rPr lang="zh-CN" altLang="en-US">
                <a:solidFill>
                  <a:srgbClr val="FF0000"/>
                </a:solidFill>
                <a:latin typeface="黑体" panose="02010609060101010101" pitchFamily="2" charset="-122"/>
              </a:rPr>
              <a:t>上升</a:t>
            </a:r>
          </a:p>
          <a:p>
            <a:pPr marL="0" indent="0">
              <a:lnSpc>
                <a:spcPct val="90000"/>
              </a:lnSpc>
              <a:buNone/>
            </a:pPr>
            <a:r>
              <a:rPr lang="zh-CN" altLang="en-US" sz="2400" b="1">
                <a:latin typeface="楷体_GB2312" panose="02010609030101010101" pitchFamily="49" charset="-122"/>
                <a:ea typeface="楷体_GB2312" panose="02010609030101010101" pitchFamily="49" charset="-122"/>
                <a:cs typeface="+mn-ea"/>
              </a:rPr>
              <a:t>借：其他权益工具投资</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公允价值变动</a:t>
            </a:r>
          </a:p>
          <a:p>
            <a:pPr marL="0" indent="0">
              <a:lnSpc>
                <a:spcPct val="90000"/>
              </a:lnSpc>
              <a:buNone/>
            </a:pPr>
            <a:r>
              <a:rPr lang="zh-CN" altLang="en-US" sz="2400" b="1">
                <a:latin typeface="楷体_GB2312" panose="02010609030101010101" pitchFamily="49" charset="-122"/>
                <a:ea typeface="楷体_GB2312" panose="02010609030101010101" pitchFamily="49" charset="-122"/>
                <a:cs typeface="+mn-ea"/>
              </a:rPr>
              <a:t>    贷：其他综合收益</a:t>
            </a:r>
          </a:p>
          <a:p>
            <a:pPr marL="0" indent="0">
              <a:lnSpc>
                <a:spcPct val="90000"/>
              </a:lnSpc>
              <a:buNone/>
            </a:pPr>
            <a:endParaRPr lang="zh-CN" altLang="en-US" sz="2800">
              <a:latin typeface="黑体" panose="02010609060101010101" pitchFamily="2" charset="-122"/>
            </a:endParaRPr>
          </a:p>
          <a:p>
            <a:pPr marL="0" indent="0">
              <a:lnSpc>
                <a:spcPct val="90000"/>
              </a:lnSpc>
              <a:buNone/>
            </a:pPr>
            <a:r>
              <a:rPr lang="en-US" altLang="zh-CN" sz="2600">
                <a:latin typeface="Times New Roman" panose="02020603050405020304" pitchFamily="18" charset="0"/>
                <a:cs typeface="Times New Roman" panose="02020603050405020304" pitchFamily="18" charset="0"/>
              </a:rPr>
              <a:t>2.其他权益工具投资价值</a:t>
            </a:r>
            <a:r>
              <a:rPr lang="en-US" altLang="zh-CN" sz="2600">
                <a:solidFill>
                  <a:srgbClr val="FF0000"/>
                </a:solidFill>
                <a:latin typeface="Times New Roman" panose="02020603050405020304" pitchFamily="18" charset="0"/>
                <a:cs typeface="Times New Roman" panose="02020603050405020304" pitchFamily="18" charset="0"/>
              </a:rPr>
              <a:t>下降</a:t>
            </a:r>
            <a:endParaRPr lang="zh-CN" altLang="en-US" sz="2800">
              <a:solidFill>
                <a:srgbClr val="3333FF"/>
              </a:solidFill>
              <a:latin typeface="黑体" panose="02010609060101010101" pitchFamily="2" charset="-122"/>
            </a:endParaRPr>
          </a:p>
          <a:p>
            <a:pPr marL="0" indent="0" algn="l">
              <a:lnSpc>
                <a:spcPct val="90000"/>
              </a:lnSpc>
              <a:buNone/>
            </a:pPr>
            <a:r>
              <a:rPr lang="zh-CN" altLang="en-US" sz="2400" b="1">
                <a:latin typeface="楷体_GB2312" panose="02010609030101010101" pitchFamily="49" charset="-122"/>
                <a:ea typeface="楷体_GB2312" panose="02010609030101010101" pitchFamily="49" charset="-122"/>
                <a:cs typeface="+mn-ea"/>
              </a:rPr>
              <a:t>借：其他综合收益</a:t>
            </a:r>
          </a:p>
          <a:p>
            <a:pPr marL="0" indent="0" algn="l">
              <a:lnSpc>
                <a:spcPct val="90000"/>
              </a:lnSpc>
              <a:buNone/>
            </a:pPr>
            <a:r>
              <a:rPr lang="zh-CN" altLang="en-US" sz="2400" b="1">
                <a:latin typeface="楷体_GB2312" panose="02010609030101010101" pitchFamily="49" charset="-122"/>
                <a:ea typeface="楷体_GB2312" panose="02010609030101010101" pitchFamily="49" charset="-122"/>
                <a:cs typeface="+mn-ea"/>
              </a:rPr>
              <a:t>    贷：其他权益工具投资</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公允价值变动</a:t>
            </a:r>
            <a:endParaRPr lang="zh-CN" altLang="en-US" sz="2800">
              <a:latin typeface="黑体" panose="02010609060101010101" pitchFamily="2"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zh-CN" altLang="en-US"/>
              <a:t>举例（续）</a:t>
            </a:r>
          </a:p>
        </p:txBody>
      </p:sp>
      <p:sp>
        <p:nvSpPr>
          <p:cNvPr id="309251" name="Rectangle 3"/>
          <p:cNvSpPr>
            <a:spLocks noGrp="1" noChangeArrowheads="1"/>
          </p:cNvSpPr>
          <p:nvPr>
            <p:ph idx="1"/>
          </p:nvPr>
        </p:nvSpPr>
        <p:spPr/>
        <p:txBody>
          <a:bodyPr/>
          <a:lstStyle/>
          <a:p>
            <a:pPr marL="0" indent="0">
              <a:buNone/>
            </a:pPr>
            <a:r>
              <a:rPr lang="en-US" altLang="zh-CN"/>
              <a:t>【</a:t>
            </a:r>
            <a:r>
              <a:rPr lang="zh-CN" altLang="en-US"/>
              <a:t>例</a:t>
            </a:r>
            <a:r>
              <a:rPr lang="en-US" altLang="zh-CN">
                <a:latin typeface="Times New Roman" panose="02020603050405020304" pitchFamily="18" charset="0"/>
                <a:cs typeface="Times New Roman" panose="02020603050405020304" pitchFamily="18" charset="0"/>
              </a:rPr>
              <a:t>5-3</a:t>
            </a:r>
            <a:r>
              <a:rPr lang="en-US" altLang="zh-CN"/>
              <a:t>*】</a:t>
            </a:r>
            <a:r>
              <a:rPr lang="zh-CN" altLang="en-US"/>
              <a:t>华峰公司</a:t>
            </a:r>
            <a:r>
              <a:rPr lang="en-US" altLang="zh-CN">
                <a:latin typeface="Times New Roman" panose="02020603050405020304" pitchFamily="18" charset="0"/>
                <a:cs typeface="Times New Roman" panose="02020603050405020304" pitchFamily="18" charset="0"/>
              </a:rPr>
              <a:t>3</a:t>
            </a:r>
            <a:r>
              <a:rPr lang="zh-CN" altLang="en-US"/>
              <a:t>月</a:t>
            </a:r>
            <a:r>
              <a:rPr lang="en-US" altLang="zh-CN">
                <a:latin typeface="Times New Roman" panose="02020603050405020304" pitchFamily="18" charset="0"/>
                <a:cs typeface="Times New Roman" panose="02020603050405020304" pitchFamily="18" charset="0"/>
              </a:rPr>
              <a:t>31</a:t>
            </a:r>
            <a:r>
              <a:rPr lang="zh-CN" altLang="en-US"/>
              <a:t>日记录的持有</a:t>
            </a:r>
            <a:r>
              <a:rPr lang="en-US" altLang="zh-CN">
                <a:latin typeface="Times New Roman" panose="02020603050405020304" pitchFamily="18" charset="0"/>
                <a:cs typeface="Times New Roman" panose="02020603050405020304" pitchFamily="18" charset="0"/>
              </a:rPr>
              <a:t>S</a:t>
            </a:r>
            <a:r>
              <a:rPr lang="zh-CN" altLang="en-US"/>
              <a:t>公司</a:t>
            </a:r>
            <a:r>
              <a:rPr lang="en-US" altLang="zh-CN">
                <a:latin typeface="Times New Roman" panose="02020603050405020304" pitchFamily="18" charset="0"/>
                <a:cs typeface="Times New Roman" panose="02020603050405020304" pitchFamily="18" charset="0"/>
              </a:rPr>
              <a:t>3 000</a:t>
            </a:r>
            <a:r>
              <a:rPr lang="zh-CN" altLang="en-US"/>
              <a:t>股股票的账面价值为</a:t>
            </a:r>
            <a:r>
              <a:rPr lang="en-US" altLang="zh-CN">
                <a:latin typeface="Times New Roman" panose="02020603050405020304" pitchFamily="18" charset="0"/>
                <a:cs typeface="Times New Roman" panose="02020603050405020304" pitchFamily="18" charset="0"/>
              </a:rPr>
              <a:t>30 180</a:t>
            </a:r>
            <a:r>
              <a:rPr lang="zh-CN" altLang="en-US"/>
              <a:t>元（借方余额）</a:t>
            </a:r>
          </a:p>
          <a:p>
            <a:pPr marL="0" indent="0">
              <a:buNone/>
            </a:pPr>
            <a:r>
              <a:rPr lang="en-US" altLang="zh-CN">
                <a:latin typeface="Times New Roman" panose="02020603050405020304" pitchFamily="18" charset="0"/>
                <a:cs typeface="Times New Roman" panose="02020603050405020304" pitchFamily="18" charset="0"/>
              </a:rPr>
              <a:t>3</a:t>
            </a:r>
            <a:r>
              <a:rPr lang="zh-CN" altLang="en-US"/>
              <a:t>月</a:t>
            </a:r>
            <a:r>
              <a:rPr lang="en-US" altLang="zh-CN">
                <a:latin typeface="Times New Roman" panose="02020603050405020304" pitchFamily="18" charset="0"/>
                <a:cs typeface="Times New Roman" panose="02020603050405020304" pitchFamily="18" charset="0"/>
              </a:rPr>
              <a:t>31</a:t>
            </a:r>
            <a:r>
              <a:rPr lang="zh-CN" altLang="en-US"/>
              <a:t>日该股票当日收盘价为每股</a:t>
            </a:r>
            <a:r>
              <a:rPr lang="en-US" altLang="zh-CN">
                <a:latin typeface="Times New Roman" panose="02020603050405020304" pitchFamily="18" charset="0"/>
                <a:cs typeface="Times New Roman" panose="02020603050405020304" pitchFamily="18" charset="0"/>
              </a:rPr>
              <a:t>8元</a:t>
            </a:r>
            <a:r>
              <a:rPr lang="zh-CN" altLang="en-US"/>
              <a:t>，购买的</a:t>
            </a:r>
            <a:r>
              <a:rPr lang="en-US" altLang="zh-CN">
                <a:latin typeface="Times New Roman" panose="02020603050405020304" pitchFamily="18" charset="0"/>
                <a:cs typeface="Times New Roman" panose="02020603050405020304" pitchFamily="18" charset="0"/>
              </a:rPr>
              <a:t>S</a:t>
            </a:r>
            <a:r>
              <a:rPr lang="zh-CN" altLang="en-US"/>
              <a:t>公司</a:t>
            </a:r>
            <a:r>
              <a:rPr lang="en-US" altLang="zh-CN">
                <a:latin typeface="Times New Roman" panose="02020603050405020304" pitchFamily="18" charset="0"/>
                <a:cs typeface="Times New Roman" panose="02020603050405020304" pitchFamily="18" charset="0"/>
              </a:rPr>
              <a:t>3 000</a:t>
            </a:r>
            <a:r>
              <a:rPr lang="zh-CN" altLang="en-US"/>
              <a:t>股股票当日公允价值为</a:t>
            </a:r>
            <a:r>
              <a:rPr lang="en-US" altLang="zh-CN">
                <a:latin typeface="Times New Roman" panose="02020603050405020304" pitchFamily="18" charset="0"/>
                <a:cs typeface="Times New Roman" panose="02020603050405020304" pitchFamily="18" charset="0"/>
              </a:rPr>
              <a:t>24 000</a:t>
            </a:r>
            <a:r>
              <a:rPr lang="zh-CN" altLang="en-US"/>
              <a:t>元， </a:t>
            </a:r>
            <a:r>
              <a:rPr lang="en-US" altLang="zh-CN">
                <a:latin typeface="Times New Roman" panose="02020603050405020304" pitchFamily="18" charset="0"/>
                <a:cs typeface="Times New Roman" panose="02020603050405020304" pitchFamily="18" charset="0"/>
              </a:rPr>
              <a:t>3</a:t>
            </a:r>
            <a:r>
              <a:rPr lang="zh-CN" altLang="en-US"/>
              <a:t>月</a:t>
            </a:r>
            <a:r>
              <a:rPr lang="en-US" altLang="zh-CN">
                <a:latin typeface="Times New Roman" panose="02020603050405020304" pitchFamily="18" charset="0"/>
                <a:cs typeface="Times New Roman" panose="02020603050405020304" pitchFamily="18" charset="0"/>
              </a:rPr>
              <a:t>31</a:t>
            </a:r>
            <a:r>
              <a:rPr lang="zh-CN" altLang="en-US"/>
              <a:t>日华峰公司应如何进行账务处理？</a:t>
            </a:r>
          </a:p>
          <a:p>
            <a:pPr marL="0" indent="0">
              <a:buNone/>
            </a:pPr>
            <a:r>
              <a:rPr lang="zh-CN" altLang="en-US"/>
              <a:t>分析：应调低该股票账面价值</a:t>
            </a:r>
            <a:r>
              <a:rPr lang="en-US" altLang="zh-CN">
                <a:latin typeface="Times New Roman" panose="02020603050405020304" pitchFamily="18" charset="0"/>
                <a:cs typeface="Times New Roman" panose="02020603050405020304" pitchFamily="18" charset="0"/>
              </a:rPr>
              <a:t>6 180</a:t>
            </a:r>
            <a:r>
              <a:rPr lang="zh-CN" altLang="en-US"/>
              <a:t>元。</a:t>
            </a:r>
            <a:endParaRPr lang="zh-CN" altLang="en-US" sz="2800"/>
          </a:p>
          <a:p>
            <a:pPr marL="0" indent="0">
              <a:buNone/>
            </a:pPr>
            <a:r>
              <a:rPr lang="zh-CN" altLang="en-US" sz="2400" b="1">
                <a:latin typeface="楷体_GB2312" panose="02010609030101010101" pitchFamily="49" charset="-122"/>
                <a:ea typeface="楷体_GB2312" panose="02010609030101010101" pitchFamily="49" charset="-122"/>
                <a:cs typeface="+mn-ea"/>
              </a:rPr>
              <a:t>借：其他综合收益</a:t>
            </a:r>
            <a:r>
              <a:rPr lang="zh-CN" altLang="en-US" sz="2800"/>
              <a:t>      </a:t>
            </a:r>
            <a:r>
              <a:rPr lang="zh-CN" altLang="en-US" sz="2400">
                <a:latin typeface="Times New Roman" panose="02020603050405020304" pitchFamily="18" charset="0"/>
                <a:cs typeface="Times New Roman" panose="02020603050405020304" pitchFamily="18" charset="0"/>
              </a:rPr>
              <a:t>  </a:t>
            </a:r>
            <a:r>
              <a:rPr lang="en-US" altLang="zh-CN" sz="2400">
                <a:latin typeface="Times New Roman" panose="02020603050405020304" pitchFamily="18" charset="0"/>
                <a:cs typeface="Times New Roman" panose="02020603050405020304" pitchFamily="18" charset="0"/>
              </a:rPr>
              <a:t>6 180</a:t>
            </a:r>
          </a:p>
          <a:p>
            <a:pPr marL="0" algn="l">
              <a:buNone/>
            </a:pPr>
            <a:r>
              <a:rPr lang="en-US" altLang="zh-CN" sz="2800"/>
              <a:t>   </a:t>
            </a:r>
            <a:r>
              <a:rPr lang="zh-CN" altLang="en-US" sz="2400" b="1">
                <a:latin typeface="楷体_GB2312" panose="02010609030101010101" pitchFamily="49" charset="-122"/>
                <a:ea typeface="楷体_GB2312" panose="02010609030101010101" pitchFamily="49" charset="-122"/>
                <a:cs typeface="+mn-ea"/>
              </a:rPr>
              <a:t>贷：其他权益工具投资</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公允价值变动</a:t>
            </a:r>
            <a:r>
              <a:rPr lang="zh-CN" altLang="en-US" sz="2800"/>
              <a:t>  </a:t>
            </a:r>
            <a:r>
              <a:rPr lang="zh-CN" alt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6 180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09251">
                                            <p:txEl>
                                              <p:pRg st="2" end="2"/>
                                            </p:txEl>
                                          </p:spTgt>
                                        </p:tgtEl>
                                        <p:attrNameLst>
                                          <p:attrName>style.visibility</p:attrName>
                                        </p:attrNameLst>
                                      </p:cBhvr>
                                      <p:to>
                                        <p:strVal val="visible"/>
                                      </p:to>
                                    </p:set>
                                    <p:animEffect transition="in" filter="diamond(in)">
                                      <p:cBhvr>
                                        <p:cTn id="7" dur="2000"/>
                                        <p:tgtEl>
                                          <p:spTgt spid="30925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09251">
                                            <p:txEl>
                                              <p:pRg st="3" end="3"/>
                                            </p:txEl>
                                          </p:spTgt>
                                        </p:tgtEl>
                                        <p:attrNameLst>
                                          <p:attrName>style.visibility</p:attrName>
                                        </p:attrNameLst>
                                      </p:cBhvr>
                                      <p:to>
                                        <p:strVal val="visible"/>
                                      </p:to>
                                    </p:set>
                                    <p:animEffect transition="in" filter="box(in)">
                                      <p:cBhvr>
                                        <p:cTn id="12" dur="500"/>
                                        <p:tgtEl>
                                          <p:spTgt spid="309251">
                                            <p:txEl>
                                              <p:pRg st="3" end="3"/>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309251">
                                            <p:txEl>
                                              <p:pRg st="4" end="4"/>
                                            </p:txEl>
                                          </p:spTgt>
                                        </p:tgtEl>
                                        <p:attrNameLst>
                                          <p:attrName>style.visibility</p:attrName>
                                        </p:attrNameLst>
                                      </p:cBhvr>
                                      <p:to>
                                        <p:strVal val="visible"/>
                                      </p:to>
                                    </p:set>
                                    <p:animEffect transition="in" filter="box(in)">
                                      <p:cBhvr>
                                        <p:cTn id="15" dur="500"/>
                                        <p:tgtEl>
                                          <p:spTgt spid="3092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1039495" y="214630"/>
            <a:ext cx="8179435" cy="1461770"/>
          </a:xfrm>
        </p:spPr>
        <p:txBody>
          <a:bodyPr/>
          <a:lstStyle/>
          <a:p>
            <a:r>
              <a:rPr lang="en-US" altLang="zh-CN" sz="3000">
                <a:latin typeface="Times New Roman" panose="02020603050405020304" pitchFamily="18" charset="0"/>
                <a:cs typeface="Times New Roman" panose="02020603050405020304" pitchFamily="18" charset="0"/>
              </a:rPr>
              <a:t>4</a:t>
            </a:r>
            <a:r>
              <a:rPr lang="en-US" altLang="zh-CN" sz="3000"/>
              <a:t>.</a:t>
            </a:r>
            <a:r>
              <a:rPr lang="zh-CN" altLang="en-US" sz="3000"/>
              <a:t>指定为</a:t>
            </a:r>
            <a:r>
              <a:rPr lang="en-US" altLang="zh-CN" sz="3000">
                <a:latin typeface="Times New Roman" panose="02020603050405020304" pitchFamily="18" charset="0"/>
                <a:cs typeface="Times New Roman" panose="02020603050405020304" pitchFamily="18" charset="0"/>
              </a:rPr>
              <a:t>FA-OCI</a:t>
            </a:r>
            <a:r>
              <a:rPr lang="zh-CN" altLang="en-US" sz="3000"/>
              <a:t>（其他权益工具投资）的处置</a:t>
            </a:r>
          </a:p>
        </p:txBody>
      </p:sp>
      <p:sp>
        <p:nvSpPr>
          <p:cNvPr id="105475" name="Rectangle 3"/>
          <p:cNvSpPr>
            <a:spLocks noGrp="1" noChangeArrowheads="1"/>
          </p:cNvSpPr>
          <p:nvPr>
            <p:ph idx="1"/>
          </p:nvPr>
        </p:nvSpPr>
        <p:spPr/>
        <p:txBody>
          <a:bodyPr/>
          <a:lstStyle/>
          <a:p>
            <a:r>
              <a:rPr lang="zh-CN" altLang="en-US" sz="2800">
                <a:latin typeface="黑体" panose="02010609060101010101" pitchFamily="2" charset="-122"/>
                <a:ea typeface="黑体" panose="02010609060101010101" pitchFamily="2" charset="-122"/>
              </a:rPr>
              <a:t>出售</a:t>
            </a:r>
          </a:p>
          <a:p>
            <a:pPr lvl="1"/>
            <a:r>
              <a:rPr lang="zh-CN" altLang="en-US" sz="2400">
                <a:latin typeface="宋体" panose="02010600030101010101" pitchFamily="2" charset="-122"/>
              </a:rPr>
              <a:t>确认取得的款项、转销其他权益工具投资账面价值</a:t>
            </a:r>
          </a:p>
          <a:p>
            <a:pPr lvl="1"/>
            <a:r>
              <a:rPr lang="zh-CN" altLang="en-US" sz="2400">
                <a:latin typeface="宋体" panose="02010600030101010101" pitchFamily="2" charset="-122"/>
              </a:rPr>
              <a:t>实际取得收入扣除账面价值及相关费用的差额，计入其他综合收益；</a:t>
            </a:r>
          </a:p>
          <a:p>
            <a:pPr lvl="1"/>
            <a:r>
              <a:rPr lang="zh-CN" altLang="en-US" sz="2400"/>
              <a:t>原确认的计入其他综合收益转入</a:t>
            </a:r>
            <a:r>
              <a:rPr lang="zh-CN" altLang="en-US" sz="2400">
                <a:latin typeface="Arial" panose="020B0604020202020204" pitchFamily="34" charset="0"/>
              </a:rPr>
              <a:t>“</a:t>
            </a:r>
            <a:r>
              <a:rPr lang="zh-CN" altLang="en-US" sz="2400"/>
              <a:t>未分配利润</a:t>
            </a:r>
            <a:r>
              <a:rPr lang="zh-CN" altLang="en-US" sz="2400">
                <a:latin typeface="Arial" panose="020B0604020202020204" pitchFamily="34" charset="0"/>
              </a:rPr>
              <a:t>”</a:t>
            </a:r>
            <a:endParaRPr lang="zh-CN" altLang="en-US" sz="2400"/>
          </a:p>
          <a:p>
            <a:endParaRPr lang="zh-CN" altLang="en-US" sz="280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1072515" y="266065"/>
            <a:ext cx="7993380" cy="1461770"/>
          </a:xfrm>
        </p:spPr>
        <p:txBody>
          <a:bodyPr/>
          <a:lstStyle/>
          <a:p>
            <a:pPr algn="l">
              <a:buClrTx/>
              <a:buSzTx/>
              <a:buFontTx/>
            </a:pPr>
            <a:r>
              <a:rPr lang="en-US" altLang="zh-CN" sz="3000">
                <a:latin typeface="Times New Roman" panose="02020603050405020304" pitchFamily="18" charset="0"/>
                <a:cs typeface="Times New Roman" panose="02020603050405020304" pitchFamily="18" charset="0"/>
              </a:rPr>
              <a:t>4.</a:t>
            </a:r>
            <a:r>
              <a:rPr lang="zh-CN" altLang="en-US" sz="3000"/>
              <a:t>指定为</a:t>
            </a:r>
            <a:r>
              <a:rPr lang="en-US" altLang="zh-CN" sz="3000">
                <a:latin typeface="Times New Roman" panose="02020603050405020304" pitchFamily="18" charset="0"/>
                <a:cs typeface="Times New Roman" panose="02020603050405020304" pitchFamily="18" charset="0"/>
              </a:rPr>
              <a:t>FA-OCI</a:t>
            </a:r>
            <a:r>
              <a:rPr lang="zh-CN" altLang="en-US" sz="3000"/>
              <a:t>（其他权益工具投资）的处置</a:t>
            </a:r>
          </a:p>
        </p:txBody>
      </p:sp>
      <p:sp>
        <p:nvSpPr>
          <p:cNvPr id="106499" name="Rectangle 3"/>
          <p:cNvSpPr>
            <a:spLocks noGrp="1" noChangeArrowheads="1"/>
          </p:cNvSpPr>
          <p:nvPr>
            <p:ph idx="1"/>
          </p:nvPr>
        </p:nvSpPr>
        <p:spPr/>
        <p:txBody>
          <a:bodyPr/>
          <a:lstStyle/>
          <a:p>
            <a:pPr>
              <a:lnSpc>
                <a:spcPct val="90000"/>
              </a:lnSpc>
            </a:pPr>
            <a:r>
              <a:rPr lang="zh-CN" altLang="en-US"/>
              <a:t>出售时的会计处理：</a:t>
            </a:r>
          </a:p>
          <a:p>
            <a:pPr>
              <a:lnSpc>
                <a:spcPct val="90000"/>
              </a:lnSpc>
            </a:pPr>
            <a:endParaRPr lang="zh-CN" altLang="en-US"/>
          </a:p>
          <a:p>
            <a:pPr>
              <a:lnSpc>
                <a:spcPct val="90000"/>
              </a:lnSpc>
            </a:pPr>
            <a:r>
              <a:rPr lang="zh-CN" altLang="en-US"/>
              <a:t>按实际收到的金额，借记</a:t>
            </a:r>
            <a:r>
              <a:rPr lang="zh-CN" altLang="en-US">
                <a:solidFill>
                  <a:srgbClr val="FF0000"/>
                </a:solidFill>
                <a:latin typeface="Arial" panose="020B0604020202020204" pitchFamily="34" charset="0"/>
              </a:rPr>
              <a:t>“其他货币资金”</a:t>
            </a:r>
            <a:r>
              <a:rPr lang="zh-CN" altLang="en-US"/>
              <a:t>等科目</a:t>
            </a:r>
          </a:p>
          <a:p>
            <a:pPr>
              <a:lnSpc>
                <a:spcPct val="90000"/>
              </a:lnSpc>
            </a:pPr>
            <a:r>
              <a:rPr lang="zh-CN" altLang="en-US"/>
              <a:t>按该金融资产的账面余额，贷记</a:t>
            </a:r>
            <a:r>
              <a:rPr lang="zh-CN" altLang="en-US">
                <a:solidFill>
                  <a:srgbClr val="FF0000"/>
                </a:solidFill>
                <a:latin typeface="Arial" panose="020B0604020202020204" pitchFamily="34" charset="0"/>
              </a:rPr>
              <a:t>“</a:t>
            </a:r>
            <a:r>
              <a:rPr lang="zh-CN" altLang="en-US">
                <a:solidFill>
                  <a:srgbClr val="FF0000"/>
                </a:solidFill>
              </a:rPr>
              <a:t>其他权益工具投资</a:t>
            </a:r>
            <a:r>
              <a:rPr lang="en-US" altLang="zh-CN">
                <a:solidFill>
                  <a:srgbClr val="FF0000"/>
                </a:solidFill>
                <a:latin typeface="Arial" panose="020B0604020202020204" pitchFamily="34" charset="0"/>
              </a:rPr>
              <a:t>—</a:t>
            </a:r>
            <a:r>
              <a:rPr lang="zh-CN" altLang="en-US">
                <a:solidFill>
                  <a:srgbClr val="FF0000"/>
                </a:solidFill>
              </a:rPr>
              <a:t>成本</a:t>
            </a:r>
            <a:r>
              <a:rPr lang="zh-CN" altLang="en-US">
                <a:solidFill>
                  <a:srgbClr val="FF0000"/>
                </a:solidFill>
                <a:latin typeface="Arial" panose="020B0604020202020204" pitchFamily="34" charset="0"/>
              </a:rPr>
              <a:t>”</a:t>
            </a:r>
            <a:r>
              <a:rPr lang="zh-CN" altLang="en-US"/>
              <a:t>，借记或贷记</a:t>
            </a:r>
            <a:r>
              <a:rPr lang="zh-CN" altLang="en-US">
                <a:solidFill>
                  <a:srgbClr val="FF0000"/>
                </a:solidFill>
                <a:latin typeface="Arial" panose="020B0604020202020204" pitchFamily="34" charset="0"/>
              </a:rPr>
              <a:t>“</a:t>
            </a:r>
            <a:r>
              <a:rPr lang="zh-CN" altLang="en-US">
                <a:solidFill>
                  <a:srgbClr val="FF0000"/>
                </a:solidFill>
              </a:rPr>
              <a:t>其他权益工具投资</a:t>
            </a:r>
            <a:r>
              <a:rPr lang="en-US" altLang="zh-CN">
                <a:solidFill>
                  <a:srgbClr val="FF0000"/>
                </a:solidFill>
                <a:latin typeface="Arial" panose="020B0604020202020204" pitchFamily="34" charset="0"/>
              </a:rPr>
              <a:t>—</a:t>
            </a:r>
            <a:r>
              <a:rPr lang="zh-CN" altLang="en-US">
                <a:solidFill>
                  <a:srgbClr val="FF0000"/>
                </a:solidFill>
              </a:rPr>
              <a:t>公允价值变动</a:t>
            </a:r>
            <a:r>
              <a:rPr lang="zh-CN" altLang="en-US">
                <a:solidFill>
                  <a:srgbClr val="FF0000"/>
                </a:solidFill>
                <a:latin typeface="Arial" panose="020B0604020202020204" pitchFamily="34" charset="0"/>
              </a:rPr>
              <a:t>”</a:t>
            </a:r>
            <a:endParaRPr lang="zh-CN" altLang="en-US">
              <a:solidFill>
                <a:srgbClr val="FF0000"/>
              </a:solidFill>
            </a:endParaRPr>
          </a:p>
          <a:p>
            <a:pPr>
              <a:lnSpc>
                <a:spcPct val="90000"/>
              </a:lnSpc>
            </a:pPr>
            <a:r>
              <a:rPr lang="zh-CN" altLang="en-US"/>
              <a:t>转销以前确认的</a:t>
            </a:r>
            <a:r>
              <a:rPr lang="zh-CN" altLang="en-US">
                <a:solidFill>
                  <a:srgbClr val="FF0000"/>
                </a:solidFill>
                <a:latin typeface="Arial" panose="020B0604020202020204" pitchFamily="34" charset="0"/>
              </a:rPr>
              <a:t>“</a:t>
            </a:r>
            <a:r>
              <a:rPr lang="zh-CN" altLang="en-US">
                <a:solidFill>
                  <a:srgbClr val="FF0000"/>
                </a:solidFill>
              </a:rPr>
              <a:t>其他综合收益</a:t>
            </a:r>
            <a:r>
              <a:rPr lang="zh-CN" altLang="en-US">
                <a:solidFill>
                  <a:srgbClr val="FF0000"/>
                </a:solidFill>
                <a:latin typeface="Arial" panose="020B0604020202020204" pitchFamily="34" charset="0"/>
              </a:rPr>
              <a:t>”</a:t>
            </a:r>
            <a:endParaRPr lang="zh-CN" altLang="en-US">
              <a:solidFill>
                <a:srgbClr val="3333FF"/>
              </a:solidFill>
            </a:endParaRPr>
          </a:p>
          <a:p>
            <a:pPr>
              <a:lnSpc>
                <a:spcPct val="90000"/>
              </a:lnSpc>
            </a:pPr>
            <a:r>
              <a:rPr lang="zh-CN" altLang="en-US"/>
              <a:t>差额确认为</a:t>
            </a:r>
            <a:r>
              <a:rPr lang="zh-CN" altLang="en-US">
                <a:solidFill>
                  <a:srgbClr val="FF0000"/>
                </a:solidFill>
                <a:latin typeface="Arial" panose="020B0604020202020204" pitchFamily="34" charset="0"/>
              </a:rPr>
              <a:t>“</a:t>
            </a:r>
            <a:r>
              <a:rPr lang="zh-CN" altLang="en-US">
                <a:solidFill>
                  <a:srgbClr val="FF0000"/>
                </a:solidFill>
              </a:rPr>
              <a:t>留存收益</a:t>
            </a:r>
            <a:r>
              <a:rPr lang="zh-CN" altLang="en-US">
                <a:solidFill>
                  <a:srgbClr val="FF0000"/>
                </a:solidFill>
                <a:latin typeface="Arial" panose="020B0604020202020204" pitchFamily="34" charset="0"/>
              </a:rPr>
              <a:t>”</a:t>
            </a:r>
            <a:endParaRPr lang="zh-CN" altLang="en-US">
              <a:solidFill>
                <a:srgbClr val="FF0000"/>
              </a:solidFill>
            </a:endParaRPr>
          </a:p>
          <a:p>
            <a:pPr>
              <a:lnSpc>
                <a:spcPct val="90000"/>
              </a:lnSpc>
            </a:pPr>
            <a:r>
              <a:rPr lang="zh-CN" altLang="en-US">
                <a:solidFill>
                  <a:srgbClr val="FF0000"/>
                </a:solidFill>
              </a:rPr>
              <a:t>部分出售时，其他权益工具投资和其他综合收益的余额应按比例转销</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zh-CN" altLang="en-US"/>
              <a:t>举例（续）</a:t>
            </a:r>
          </a:p>
        </p:txBody>
      </p:sp>
      <p:sp>
        <p:nvSpPr>
          <p:cNvPr id="107523" name="Rectangle 3"/>
          <p:cNvSpPr>
            <a:spLocks noGrp="1" noChangeArrowheads="1"/>
          </p:cNvSpPr>
          <p:nvPr>
            <p:ph idx="1"/>
          </p:nvPr>
        </p:nvSpPr>
        <p:spPr>
          <a:xfrm>
            <a:off x="1150938" y="1803083"/>
            <a:ext cx="7772400" cy="4114800"/>
          </a:xfrm>
        </p:spPr>
        <p:txBody>
          <a:bodyPr/>
          <a:lstStyle/>
          <a:p>
            <a:pPr>
              <a:lnSpc>
                <a:spcPct val="90000"/>
              </a:lnSpc>
            </a:pPr>
            <a:r>
              <a:rPr lang="en-US" altLang="zh-CN"/>
              <a:t>【</a:t>
            </a:r>
            <a:r>
              <a:rPr lang="zh-CN" altLang="en-US">
                <a:latin typeface="黑体" panose="02010609060101010101" pitchFamily="2" charset="-122"/>
                <a:ea typeface="黑体" panose="02010609060101010101" pitchFamily="2" charset="-122"/>
              </a:rPr>
              <a:t>例</a:t>
            </a:r>
            <a:r>
              <a:rPr lang="en-US" altLang="zh-CN">
                <a:latin typeface="Times New Roman" panose="02020603050405020304" pitchFamily="18" charset="0"/>
                <a:cs typeface="Times New Roman" panose="02020603050405020304" pitchFamily="18" charset="0"/>
              </a:rPr>
              <a:t>5-4</a:t>
            </a:r>
            <a:r>
              <a:rPr lang="en-US" altLang="zh-CN"/>
              <a:t>*】</a:t>
            </a:r>
            <a:r>
              <a:rPr lang="en-US" altLang="zh-CN">
                <a:latin typeface="Times New Roman" panose="02020603050405020304" pitchFamily="18" charset="0"/>
                <a:cs typeface="Times New Roman" panose="02020603050405020304" pitchFamily="18" charset="0"/>
              </a:rPr>
              <a:t>4</a:t>
            </a:r>
            <a:r>
              <a:rPr lang="zh-CN" altLang="en-US"/>
              <a:t>月</a:t>
            </a:r>
            <a:r>
              <a:rPr lang="en-US" altLang="zh-CN">
                <a:latin typeface="Times New Roman" panose="02020603050405020304" pitchFamily="18" charset="0"/>
                <a:cs typeface="Times New Roman" panose="02020603050405020304" pitchFamily="18" charset="0"/>
              </a:rPr>
              <a:t>30</a:t>
            </a:r>
            <a:r>
              <a:rPr lang="zh-CN" altLang="en-US"/>
              <a:t>日，股票价格为每股</a:t>
            </a:r>
            <a:r>
              <a:rPr lang="en-US" altLang="zh-CN">
                <a:latin typeface="Times New Roman" panose="02020603050405020304" pitchFamily="18" charset="0"/>
                <a:cs typeface="Times New Roman" panose="02020603050405020304" pitchFamily="18" charset="0"/>
              </a:rPr>
              <a:t>6</a:t>
            </a:r>
            <a:r>
              <a:rPr lang="zh-CN" altLang="en-US"/>
              <a:t>元，华峰公司将其记录的持有</a:t>
            </a:r>
            <a:r>
              <a:rPr lang="en-US" altLang="zh-CN">
                <a:latin typeface="Times New Roman" panose="02020603050405020304" pitchFamily="18" charset="0"/>
                <a:cs typeface="Times New Roman" panose="02020603050405020304" pitchFamily="18" charset="0"/>
              </a:rPr>
              <a:t>S</a:t>
            </a:r>
            <a:r>
              <a:rPr lang="zh-CN" altLang="en-US"/>
              <a:t>公司</a:t>
            </a:r>
            <a:r>
              <a:rPr lang="en-US" altLang="zh-CN">
                <a:latin typeface="Times New Roman" panose="02020603050405020304" pitchFamily="18" charset="0"/>
                <a:cs typeface="Times New Roman" panose="02020603050405020304" pitchFamily="18" charset="0"/>
              </a:rPr>
              <a:t>3 000</a:t>
            </a:r>
            <a:r>
              <a:rPr lang="zh-CN" altLang="en-US"/>
              <a:t>股股票全部出售，售价</a:t>
            </a:r>
            <a:r>
              <a:rPr lang="en-US" altLang="zh-CN">
                <a:latin typeface="Times New Roman" panose="02020603050405020304" pitchFamily="18" charset="0"/>
                <a:cs typeface="Times New Roman" panose="02020603050405020304" pitchFamily="18" charset="0"/>
              </a:rPr>
              <a:t>18 000</a:t>
            </a:r>
            <a:r>
              <a:rPr lang="zh-CN" altLang="en-US"/>
              <a:t>元。应如何进行会计处理？ </a:t>
            </a:r>
          </a:p>
          <a:p>
            <a:pPr lvl="1">
              <a:lnSpc>
                <a:spcPct val="90000"/>
              </a:lnSpc>
            </a:pPr>
            <a:r>
              <a:rPr lang="zh-CN" altLang="en-US" sz="2200"/>
              <a:t>收到价款         </a:t>
            </a:r>
            <a:r>
              <a:rPr lang="zh-CN" altLang="en-US" sz="2200">
                <a:latin typeface="Times New Roman" panose="02020603050405020304" pitchFamily="18" charset="0"/>
                <a:cs typeface="Times New Roman" panose="02020603050405020304" pitchFamily="18" charset="0"/>
              </a:rPr>
              <a:t> </a:t>
            </a:r>
            <a:r>
              <a:rPr lang="en-US" altLang="zh-CN" sz="2200" b="0">
                <a:latin typeface="Times New Roman" panose="02020603050405020304" pitchFamily="18" charset="0"/>
                <a:cs typeface="Times New Roman" panose="02020603050405020304" pitchFamily="18" charset="0"/>
                <a:sym typeface="+mn-ea"/>
              </a:rPr>
              <a:t>18 000</a:t>
            </a:r>
            <a:r>
              <a:rPr lang="zh-CN" altLang="en-US" sz="2200">
                <a:latin typeface="Times New Roman" panose="02020603050405020304" pitchFamily="18" charset="0"/>
                <a:cs typeface="Times New Roman" panose="02020603050405020304" pitchFamily="18" charset="0"/>
              </a:rPr>
              <a:t> </a:t>
            </a:r>
            <a:r>
              <a:rPr lang="zh-CN" altLang="en-US" sz="2200"/>
              <a:t>                                        </a:t>
            </a:r>
            <a:endParaRPr lang="en-US" altLang="zh-CN" sz="2200"/>
          </a:p>
          <a:p>
            <a:pPr lvl="1">
              <a:lnSpc>
                <a:spcPct val="90000"/>
              </a:lnSpc>
            </a:pPr>
            <a:r>
              <a:rPr lang="zh-CN" altLang="en-US" sz="2200"/>
              <a:t>其他权益工具投资</a:t>
            </a:r>
            <a:r>
              <a:rPr lang="en-US" altLang="zh-CN" sz="2200">
                <a:latin typeface="Arial" panose="020B0604020202020204" pitchFamily="34" charset="0"/>
              </a:rPr>
              <a:t>—</a:t>
            </a:r>
            <a:r>
              <a:rPr lang="zh-CN" altLang="en-US" sz="2200"/>
              <a:t>成本（借方）     </a:t>
            </a:r>
            <a:r>
              <a:rPr sz="2200" b="0">
                <a:latin typeface="Times New Roman" panose="02020603050405020304" pitchFamily="18" charset="0"/>
                <a:cs typeface="Times New Roman" panose="02020603050405020304" pitchFamily="18" charset="0"/>
                <a:sym typeface="+mn-ea"/>
              </a:rPr>
              <a:t>30 180</a:t>
            </a:r>
            <a:r>
              <a:rPr lang="zh-CN" altLang="en-US" sz="2200" b="0">
                <a:latin typeface="Times New Roman" panose="02020603050405020304" pitchFamily="18" charset="0"/>
                <a:cs typeface="Times New Roman" panose="02020603050405020304" pitchFamily="18" charset="0"/>
              </a:rPr>
              <a:t> </a:t>
            </a:r>
            <a:r>
              <a:rPr lang="zh-CN" altLang="en-US" sz="2200"/>
              <a:t>       </a:t>
            </a:r>
            <a:endParaRPr lang="en-US" altLang="zh-CN" sz="2200"/>
          </a:p>
          <a:p>
            <a:pPr lvl="1">
              <a:lnSpc>
                <a:spcPct val="90000"/>
              </a:lnSpc>
            </a:pPr>
            <a:r>
              <a:rPr lang="zh-CN" altLang="en-US" sz="2200"/>
              <a:t>其他权益工具投资</a:t>
            </a:r>
            <a:r>
              <a:rPr lang="en-US" altLang="zh-CN" sz="2200">
                <a:latin typeface="Arial" panose="020B0604020202020204" pitchFamily="34" charset="0"/>
              </a:rPr>
              <a:t>—</a:t>
            </a:r>
            <a:r>
              <a:rPr lang="zh-CN" altLang="en-US" sz="2200"/>
              <a:t>公允价值变动（贷方）  </a:t>
            </a:r>
            <a:r>
              <a:rPr sz="2200" b="0">
                <a:latin typeface="Times New Roman" panose="02020603050405020304" pitchFamily="18" charset="0"/>
                <a:cs typeface="Times New Roman" panose="02020603050405020304" pitchFamily="18" charset="0"/>
              </a:rPr>
              <a:t>6 180</a:t>
            </a:r>
            <a:endParaRPr lang="en-US" altLang="zh-CN" sz="2200"/>
          </a:p>
          <a:p>
            <a:pPr lvl="1">
              <a:lnSpc>
                <a:spcPct val="90000"/>
              </a:lnSpc>
            </a:pPr>
            <a:r>
              <a:rPr lang="zh-CN" altLang="en-US" sz="2200"/>
              <a:t>其他综合收益（借方）       </a:t>
            </a:r>
            <a:r>
              <a:rPr lang="zh-CN" altLang="en-US" sz="2200" b="0">
                <a:latin typeface="Times New Roman" panose="02020603050405020304" pitchFamily="18" charset="0"/>
                <a:cs typeface="Times New Roman" panose="02020603050405020304" pitchFamily="18" charset="0"/>
              </a:rPr>
              <a:t> </a:t>
            </a:r>
            <a:r>
              <a:rPr sz="2200" b="0">
                <a:latin typeface="Times New Roman" panose="02020603050405020304" pitchFamily="18" charset="0"/>
                <a:cs typeface="Times New Roman" panose="02020603050405020304" pitchFamily="18" charset="0"/>
                <a:sym typeface="+mn-ea"/>
              </a:rPr>
              <a:t>6 180</a:t>
            </a:r>
            <a:r>
              <a:rPr lang="zh-CN" altLang="en-US" sz="2200"/>
              <a:t>                   </a:t>
            </a:r>
            <a:endParaRPr lang="en-US" altLang="zh-CN" sz="2200"/>
          </a:p>
          <a:p>
            <a:pPr lvl="1">
              <a:lnSpc>
                <a:spcPct val="90000"/>
              </a:lnSpc>
            </a:pPr>
            <a:r>
              <a:rPr lang="zh-CN" altLang="en-US" sz="2200"/>
              <a:t>留存收益</a:t>
            </a:r>
            <a:r>
              <a:rPr lang="en-US" altLang="zh-CN" sz="2200"/>
              <a:t>=</a:t>
            </a:r>
            <a:r>
              <a:rPr lang="zh-CN" altLang="en-US" sz="2200"/>
              <a:t>出售时收到价款</a:t>
            </a:r>
            <a:r>
              <a:rPr lang="en-US" altLang="zh-CN" sz="2200"/>
              <a:t>-</a:t>
            </a:r>
            <a:r>
              <a:rPr lang="zh-CN" altLang="en-US" sz="2200"/>
              <a:t>购买时的成本</a:t>
            </a:r>
            <a:r>
              <a:rPr lang="en-US" altLang="zh-CN" sz="2200"/>
              <a:t>-</a:t>
            </a:r>
            <a:r>
              <a:rPr lang="zh-CN" altLang="en-US" sz="2200"/>
              <a:t>出售时的交易费用</a:t>
            </a:r>
          </a:p>
          <a:p>
            <a:pPr lvl="1">
              <a:lnSpc>
                <a:spcPct val="90000"/>
              </a:lnSpc>
            </a:pPr>
            <a:r>
              <a:rPr lang="en-US" altLang="zh-CN" sz="2200"/>
              <a:t>=</a:t>
            </a:r>
            <a:r>
              <a:rPr sz="2200" b="0">
                <a:latin typeface="Times New Roman" panose="02020603050405020304" pitchFamily="18" charset="0"/>
                <a:cs typeface="Times New Roman" panose="02020603050405020304" pitchFamily="18" charset="0"/>
              </a:rPr>
              <a:t>18 000-30180=12 180</a:t>
            </a:r>
            <a:r>
              <a:rPr lang="zh-CN" altLang="en-US" sz="2200"/>
              <a:t>（元）</a:t>
            </a: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a:t>举例（续）</a:t>
            </a:r>
          </a:p>
        </p:txBody>
      </p:sp>
      <p:sp>
        <p:nvSpPr>
          <p:cNvPr id="108547" name="Rectangle 3"/>
          <p:cNvSpPr>
            <a:spLocks noGrp="1" noChangeArrowheads="1"/>
          </p:cNvSpPr>
          <p:nvPr>
            <p:ph idx="1"/>
          </p:nvPr>
        </p:nvSpPr>
        <p:spPr/>
        <p:txBody>
          <a:bodyPr/>
          <a:lstStyle/>
          <a:p>
            <a:pPr>
              <a:lnSpc>
                <a:spcPct val="90000"/>
              </a:lnSpc>
            </a:pPr>
            <a:r>
              <a:rPr lang="en-US" altLang="zh-CN" dirty="0"/>
              <a:t>【</a:t>
            </a:r>
            <a:r>
              <a:rPr lang="zh-CN" altLang="en-US" dirty="0"/>
              <a:t>例</a:t>
            </a:r>
            <a:r>
              <a:rPr lang="en-US" altLang="zh-CN" dirty="0">
                <a:latin typeface="Times New Roman" panose="02020603050405020304" pitchFamily="18" charset="0"/>
                <a:cs typeface="Times New Roman" panose="02020603050405020304" pitchFamily="18" charset="0"/>
              </a:rPr>
              <a:t>5-4</a:t>
            </a:r>
            <a:r>
              <a:rPr lang="en-US" altLang="zh-CN" dirty="0"/>
              <a:t>*】</a:t>
            </a:r>
            <a:r>
              <a:rPr lang="en-US" altLang="zh-CN" dirty="0">
                <a:latin typeface="Times New Roman" panose="02020603050405020304" pitchFamily="18" charset="0"/>
                <a:cs typeface="Times New Roman" panose="02020603050405020304" pitchFamily="18" charset="0"/>
              </a:rPr>
              <a:t>4</a:t>
            </a:r>
            <a:r>
              <a:rPr lang="zh-CN" altLang="en-US" dirty="0"/>
              <a:t>月</a:t>
            </a:r>
            <a:r>
              <a:rPr lang="en-US" altLang="zh-CN" dirty="0">
                <a:latin typeface="Times New Roman" panose="02020603050405020304" pitchFamily="18" charset="0"/>
                <a:cs typeface="Times New Roman" panose="02020603050405020304" pitchFamily="18" charset="0"/>
              </a:rPr>
              <a:t>30</a:t>
            </a:r>
            <a:r>
              <a:rPr lang="zh-CN" altLang="en-US" dirty="0"/>
              <a:t>日，股票价格为每股</a:t>
            </a:r>
            <a:r>
              <a:rPr lang="en-US" altLang="zh-CN" dirty="0">
                <a:latin typeface="Times New Roman" panose="02020603050405020304" pitchFamily="18" charset="0"/>
                <a:cs typeface="Times New Roman" panose="02020603050405020304" pitchFamily="18" charset="0"/>
              </a:rPr>
              <a:t>6</a:t>
            </a:r>
            <a:r>
              <a:rPr lang="zh-CN" altLang="en-US" dirty="0"/>
              <a:t>元，华峰公司将其记录的持有</a:t>
            </a:r>
            <a:r>
              <a:rPr lang="en-US" altLang="zh-CN" dirty="0">
                <a:latin typeface="Times New Roman" panose="02020603050405020304" pitchFamily="18" charset="0"/>
                <a:cs typeface="Times New Roman" panose="02020603050405020304" pitchFamily="18" charset="0"/>
              </a:rPr>
              <a:t>S</a:t>
            </a:r>
            <a:r>
              <a:rPr lang="zh-CN" altLang="en-US" dirty="0"/>
              <a:t>公司</a:t>
            </a:r>
            <a:r>
              <a:rPr lang="en-US" altLang="zh-CN" dirty="0">
                <a:latin typeface="Times New Roman" panose="02020603050405020304" pitchFamily="18" charset="0"/>
                <a:cs typeface="Times New Roman" panose="02020603050405020304" pitchFamily="18" charset="0"/>
              </a:rPr>
              <a:t>3 000</a:t>
            </a:r>
            <a:r>
              <a:rPr lang="zh-CN" altLang="en-US" dirty="0"/>
              <a:t>股股票全部出售，售价</a:t>
            </a:r>
            <a:r>
              <a:rPr lang="en-US" altLang="zh-CN" dirty="0">
                <a:latin typeface="Times New Roman" panose="02020603050405020304" pitchFamily="18" charset="0"/>
                <a:cs typeface="Times New Roman" panose="02020603050405020304" pitchFamily="18" charset="0"/>
              </a:rPr>
              <a:t>18 000</a:t>
            </a:r>
            <a:r>
              <a:rPr lang="zh-CN" altLang="en-US" dirty="0"/>
              <a:t>元。应如何进行会计处理？ </a:t>
            </a:r>
          </a:p>
          <a:p>
            <a:pPr>
              <a:lnSpc>
                <a:spcPct val="90000"/>
              </a:lnSpc>
            </a:pPr>
            <a:endParaRPr lang="zh-CN" altLang="en-US" dirty="0"/>
          </a:p>
          <a:p>
            <a:pPr marL="0" indent="0">
              <a:lnSpc>
                <a:spcPct val="90000"/>
              </a:lnSpc>
              <a:buNone/>
            </a:pPr>
            <a:r>
              <a:rPr lang="zh-CN" altLang="en-US" sz="2200" b="1" dirty="0">
                <a:latin typeface="楷体_GB2312" panose="02010609030101010101" pitchFamily="49" charset="-122"/>
                <a:ea typeface="楷体_GB2312" panose="02010609030101010101" pitchFamily="49" charset="-122"/>
                <a:cs typeface="+mn-ea"/>
              </a:rPr>
              <a:t>借：其他货币资金</a:t>
            </a:r>
            <a:r>
              <a:rPr sz="2200" b="1" dirty="0">
                <a:latin typeface="楷体_GB2312" panose="02010609030101010101" pitchFamily="49" charset="-122"/>
                <a:ea typeface="楷体_GB2312" panose="02010609030101010101" pitchFamily="49" charset="-122"/>
                <a:cs typeface="+mn-ea"/>
              </a:rPr>
              <a:t>—</a:t>
            </a:r>
            <a:r>
              <a:rPr lang="zh-CN" altLang="en-US" sz="2200" b="1" dirty="0">
                <a:latin typeface="楷体_GB2312" panose="02010609030101010101" pitchFamily="49" charset="-122"/>
                <a:ea typeface="楷体_GB2312" panose="02010609030101010101" pitchFamily="49" charset="-122"/>
                <a:cs typeface="+mn-ea"/>
              </a:rPr>
              <a:t>存出投资款</a:t>
            </a:r>
            <a:r>
              <a:rPr lang="zh-CN" altLang="en-US" sz="2800" dirty="0"/>
              <a:t>          </a:t>
            </a:r>
            <a:r>
              <a:rPr lang="en-US" altLang="zh-CN" sz="2400" dirty="0">
                <a:latin typeface="Times New Roman" panose="02020603050405020304" pitchFamily="18" charset="0"/>
                <a:cs typeface="Times New Roman" panose="02020603050405020304" pitchFamily="18" charset="0"/>
              </a:rPr>
              <a:t>18 000</a:t>
            </a:r>
          </a:p>
          <a:p>
            <a:pPr marL="0" indent="0">
              <a:lnSpc>
                <a:spcPct val="90000"/>
              </a:lnSpc>
              <a:buNone/>
            </a:pPr>
            <a:r>
              <a:rPr lang="en-US" altLang="zh-CN" sz="2800" dirty="0"/>
              <a:t>     </a:t>
            </a:r>
            <a:r>
              <a:rPr lang="zh-CN" altLang="en-US" sz="2200" b="1" dirty="0">
                <a:latin typeface="楷体_GB2312" panose="02010609030101010101" pitchFamily="49" charset="-122"/>
                <a:ea typeface="楷体_GB2312" panose="02010609030101010101" pitchFamily="49" charset="-122"/>
                <a:cs typeface="+mn-ea"/>
              </a:rPr>
              <a:t>其他权益工具投资</a:t>
            </a:r>
            <a:r>
              <a:rPr sz="2200" b="1" dirty="0">
                <a:latin typeface="楷体_GB2312" panose="02010609030101010101" pitchFamily="49" charset="-122"/>
                <a:ea typeface="楷体_GB2312" panose="02010609030101010101" pitchFamily="49" charset="-122"/>
                <a:cs typeface="+mn-ea"/>
              </a:rPr>
              <a:t>—</a:t>
            </a:r>
            <a:r>
              <a:rPr lang="zh-CN" altLang="en-US" sz="2200" b="1" dirty="0">
                <a:latin typeface="楷体_GB2312" panose="02010609030101010101" pitchFamily="49" charset="-122"/>
                <a:ea typeface="楷体_GB2312" panose="02010609030101010101" pitchFamily="49" charset="-122"/>
                <a:cs typeface="+mn-ea"/>
              </a:rPr>
              <a:t>公允价值变动</a:t>
            </a:r>
            <a:r>
              <a:rPr lang="zh-CN" altLang="en-US" sz="2800" dirty="0"/>
              <a:t>    </a:t>
            </a:r>
            <a:r>
              <a:rPr lang="en-US" altLang="zh-CN" sz="2400" dirty="0">
                <a:latin typeface="Times New Roman" panose="02020603050405020304" pitchFamily="18" charset="0"/>
                <a:cs typeface="Times New Roman" panose="02020603050405020304" pitchFamily="18" charset="0"/>
              </a:rPr>
              <a:t>6 180</a:t>
            </a:r>
            <a:endParaRPr lang="en-US" altLang="zh-CN" sz="2800" dirty="0">
              <a:solidFill>
                <a:srgbClr val="3333FF"/>
              </a:solidFill>
            </a:endParaRPr>
          </a:p>
          <a:p>
            <a:pPr marL="0" indent="0">
              <a:lnSpc>
                <a:spcPct val="90000"/>
              </a:lnSpc>
              <a:buNone/>
            </a:pPr>
            <a:r>
              <a:rPr lang="en-US" altLang="zh-CN" sz="2800" dirty="0"/>
              <a:t>     </a:t>
            </a:r>
            <a:r>
              <a:rPr lang="zh-CN" altLang="en-US" sz="2200" b="1" dirty="0">
                <a:latin typeface="楷体_GB2312" panose="02010609030101010101" pitchFamily="49" charset="-122"/>
                <a:ea typeface="楷体_GB2312" panose="02010609030101010101" pitchFamily="49" charset="-122"/>
                <a:cs typeface="+mn-ea"/>
              </a:rPr>
              <a:t>留存收益</a:t>
            </a:r>
            <a:r>
              <a:rPr lang="zh-CN" altLang="en-US" sz="2800" dirty="0"/>
              <a:t>                              </a:t>
            </a:r>
            <a:r>
              <a:rPr lang="en-US" altLang="zh-CN" sz="2400" dirty="0">
                <a:latin typeface="Times New Roman" panose="02020603050405020304" pitchFamily="18" charset="0"/>
                <a:cs typeface="Times New Roman" panose="02020603050405020304" pitchFamily="18" charset="0"/>
                <a:sym typeface="+mn-ea"/>
              </a:rPr>
              <a:t>12 180</a:t>
            </a:r>
            <a:r>
              <a:rPr lang="zh-CN" altLang="en-US" sz="2800" dirty="0"/>
              <a:t>             </a:t>
            </a:r>
            <a:endParaRPr lang="en-US" altLang="zh-CN" sz="2800" dirty="0"/>
          </a:p>
          <a:p>
            <a:pPr marL="0" indent="0">
              <a:lnSpc>
                <a:spcPct val="90000"/>
              </a:lnSpc>
              <a:buNone/>
            </a:pPr>
            <a:r>
              <a:rPr lang="en-US" altLang="zh-CN" sz="2800" dirty="0"/>
              <a:t>     </a:t>
            </a:r>
            <a:r>
              <a:rPr lang="zh-CN" altLang="en-US" sz="2200" b="1" dirty="0">
                <a:latin typeface="楷体_GB2312" panose="02010609030101010101" pitchFamily="49" charset="-122"/>
                <a:ea typeface="楷体_GB2312" panose="02010609030101010101" pitchFamily="49" charset="-122"/>
                <a:cs typeface="+mn-ea"/>
              </a:rPr>
              <a:t>贷：其他权益工具投资</a:t>
            </a:r>
            <a:r>
              <a:rPr sz="2200" b="1" dirty="0">
                <a:latin typeface="楷体_GB2312" panose="02010609030101010101" pitchFamily="49" charset="-122"/>
                <a:ea typeface="楷体_GB2312" panose="02010609030101010101" pitchFamily="49" charset="-122"/>
                <a:cs typeface="+mn-ea"/>
              </a:rPr>
              <a:t>—</a:t>
            </a:r>
            <a:r>
              <a:rPr lang="zh-CN" altLang="en-US" sz="2200" b="1" dirty="0">
                <a:latin typeface="楷体_GB2312" panose="02010609030101010101" pitchFamily="49" charset="-122"/>
                <a:ea typeface="楷体_GB2312" panose="02010609030101010101" pitchFamily="49" charset="-122"/>
                <a:cs typeface="+mn-ea"/>
              </a:rPr>
              <a:t>成本 </a:t>
            </a:r>
            <a:r>
              <a:rPr lang="zh-CN" altLang="en-US" sz="2800" dirty="0"/>
              <a:t>             </a:t>
            </a:r>
            <a:r>
              <a:rPr lang="en-US" altLang="zh-CN" sz="2400" dirty="0">
                <a:latin typeface="Times New Roman" panose="02020603050405020304" pitchFamily="18" charset="0"/>
                <a:cs typeface="Times New Roman" panose="02020603050405020304" pitchFamily="18" charset="0"/>
              </a:rPr>
              <a:t> 30 180 </a:t>
            </a:r>
            <a:r>
              <a:rPr lang="en-US" altLang="zh-CN" sz="2800" dirty="0"/>
              <a:t> </a:t>
            </a:r>
          </a:p>
          <a:p>
            <a:pPr marL="0" indent="0">
              <a:lnSpc>
                <a:spcPct val="90000"/>
              </a:lnSpc>
              <a:buNone/>
            </a:pPr>
            <a:r>
              <a:rPr lang="en-US" altLang="zh-CN" sz="2800" dirty="0"/>
              <a:t>          </a:t>
            </a:r>
            <a:r>
              <a:rPr lang="zh-CN" altLang="en-US" sz="2200" b="1" dirty="0">
                <a:latin typeface="楷体_GB2312" panose="02010609030101010101" pitchFamily="49" charset="-122"/>
                <a:ea typeface="楷体_GB2312" panose="02010609030101010101" pitchFamily="49" charset="-122"/>
                <a:cs typeface="+mn-ea"/>
              </a:rPr>
              <a:t>其他综合收益  </a:t>
            </a:r>
            <a:r>
              <a:rPr lang="zh-CN" altLang="en-US" sz="2800" dirty="0"/>
              <a:t>                          </a:t>
            </a:r>
            <a:r>
              <a:rPr lang="en-US" altLang="zh-CN" sz="2400" dirty="0">
                <a:latin typeface="Times New Roman" panose="02020603050405020304" pitchFamily="18" charset="0"/>
                <a:cs typeface="Times New Roman" panose="02020603050405020304" pitchFamily="18" charset="0"/>
                <a:sym typeface="+mn-ea"/>
              </a:rPr>
              <a:t>6 180</a:t>
            </a:r>
            <a:endParaRPr lang="en-US" altLang="zh-CN" sz="2800" dirty="0">
              <a:solidFill>
                <a:srgbClr val="3333FF"/>
              </a:solidFill>
            </a:endParaRPr>
          </a:p>
          <a:p>
            <a:pPr marL="0" indent="0">
              <a:lnSpc>
                <a:spcPct val="90000"/>
              </a:lnSpc>
              <a:buNone/>
            </a:pPr>
            <a:r>
              <a:rPr lang="zh-CN" altLang="en-US" sz="2800" dirty="0"/>
              <a:t>        </a:t>
            </a:r>
            <a:endParaRPr lang="en-US" altLang="zh-CN" sz="2800" dirty="0">
              <a:solidFill>
                <a:srgbClr val="3333FF"/>
              </a:solidFill>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1"/>
          <p:cNvSpPr>
            <a:spLocks noGrp="1" noChangeArrowheads="1"/>
          </p:cNvSpPr>
          <p:nvPr>
            <p:ph type="title"/>
          </p:nvPr>
        </p:nvSpPr>
        <p:spPr/>
        <p:txBody>
          <a:bodyPr/>
          <a:lstStyle/>
          <a:p>
            <a:r>
              <a:rPr lang="zh-CN" altLang="en-US" sz="3600"/>
              <a:t>交易性金融资产 </a:t>
            </a:r>
            <a:r>
              <a:rPr lang="en-US" altLang="zh-CN" sz="3600">
                <a:latin typeface="Times New Roman" panose="02020603050405020304" pitchFamily="18" charset="0"/>
                <a:cs typeface="Times New Roman" panose="02020603050405020304" pitchFamily="18" charset="0"/>
              </a:rPr>
              <a:t>VS</a:t>
            </a:r>
            <a:r>
              <a:rPr lang="en-US" altLang="zh-CN" sz="3600"/>
              <a:t> </a:t>
            </a:r>
            <a:r>
              <a:rPr lang="zh-CN" altLang="en-US" sz="3600"/>
              <a:t>其他投资</a:t>
            </a:r>
          </a:p>
        </p:txBody>
      </p:sp>
      <p:graphicFrame>
        <p:nvGraphicFramePr>
          <p:cNvPr id="5" name="表格 4"/>
          <p:cNvGraphicFramePr>
            <a:graphicFrameLocks noGrp="1"/>
          </p:cNvGraphicFramePr>
          <p:nvPr>
            <p:custDataLst>
              <p:tags r:id="rId1"/>
            </p:custDataLst>
          </p:nvPr>
        </p:nvGraphicFramePr>
        <p:xfrm>
          <a:off x="494983" y="2240915"/>
          <a:ext cx="7991476" cy="3882920"/>
        </p:xfrm>
        <a:graphic>
          <a:graphicData uri="http://schemas.openxmlformats.org/drawingml/2006/table">
            <a:tbl>
              <a:tblPr/>
              <a:tblGrid>
                <a:gridCol w="1534160">
                  <a:extLst>
                    <a:ext uri="{9D8B030D-6E8A-4147-A177-3AD203B41FA5}">
                      <a16:colId xmlns:a16="http://schemas.microsoft.com/office/drawing/2014/main" val="20000"/>
                    </a:ext>
                  </a:extLst>
                </a:gridCol>
                <a:gridCol w="2269782">
                  <a:extLst>
                    <a:ext uri="{9D8B030D-6E8A-4147-A177-3AD203B41FA5}">
                      <a16:colId xmlns:a16="http://schemas.microsoft.com/office/drawing/2014/main" val="20001"/>
                    </a:ext>
                  </a:extLst>
                </a:gridCol>
                <a:gridCol w="2093767">
                  <a:extLst>
                    <a:ext uri="{9D8B030D-6E8A-4147-A177-3AD203B41FA5}">
                      <a16:colId xmlns:a16="http://schemas.microsoft.com/office/drawing/2014/main" val="20002"/>
                    </a:ext>
                  </a:extLst>
                </a:gridCol>
                <a:gridCol w="2093767">
                  <a:extLst>
                    <a:ext uri="{9D8B030D-6E8A-4147-A177-3AD203B41FA5}">
                      <a16:colId xmlns:a16="http://schemas.microsoft.com/office/drawing/2014/main" val="20003"/>
                    </a:ext>
                  </a:extLst>
                </a:gridCol>
              </a:tblGrid>
              <a:tr h="647065">
                <a:tc>
                  <a:txBody>
                    <a:bodyPr/>
                    <a:lstStyle/>
                    <a:p>
                      <a:pPr algn="l" fontAlgn="ctr"/>
                      <a:r>
                        <a:rPr lang="zh-CN" altLang="en-US" sz="2000" b="0" i="0" u="none" strike="noStrike">
                          <a:solidFill>
                            <a:srgbClr val="000000"/>
                          </a:solidFill>
                          <a:effectLst/>
                          <a:latin typeface="+mn-ea"/>
                          <a:ea typeface="+mn-ea"/>
                        </a:rPr>
                        <a:t>　</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黑体" panose="02010609060101010101" pitchFamily="2" charset="-122"/>
                          <a:ea typeface="黑体" panose="02010609060101010101" pitchFamily="2" charset="-122"/>
                          <a:cs typeface="+mn-ea"/>
                        </a:rPr>
                        <a:t>交易性金融资产</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黑体" panose="02010609060101010101" pitchFamily="2" charset="-122"/>
                          <a:ea typeface="黑体" panose="02010609060101010101" pitchFamily="2" charset="-122"/>
                          <a:cs typeface="+mn-ea"/>
                        </a:rPr>
                        <a:t>其他债权投资</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黑体" panose="02010609060101010101" pitchFamily="2" charset="-122"/>
                          <a:ea typeface="黑体" panose="02010609060101010101" pitchFamily="2" charset="-122"/>
                          <a:cs typeface="+mn-ea"/>
                        </a:rPr>
                        <a:t>其他权益工具投资</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47171">
                <a:tc>
                  <a:txBody>
                    <a:bodyPr/>
                    <a:lstStyle/>
                    <a:p>
                      <a:pPr algn="l" fontAlgn="ctr"/>
                      <a:r>
                        <a:rPr lang="zh-CN" altLang="en-US" sz="2000" b="0" i="0" u="none" strike="noStrike" kern="0">
                          <a:latin typeface="黑体" panose="02010609060101010101" pitchFamily="2" charset="-122"/>
                          <a:ea typeface="黑体" panose="02010609060101010101" pitchFamily="2" charset="-122"/>
                          <a:cs typeface="+mn-ea"/>
                        </a:rPr>
                        <a:t>初始计量</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公允价值，不包括交易费用</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公允价值，包括交易费用</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公允价值，包括交易费用</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7171">
                <a:tc>
                  <a:txBody>
                    <a:bodyPr/>
                    <a:lstStyle/>
                    <a:p>
                      <a:pPr algn="l" fontAlgn="ctr"/>
                      <a:r>
                        <a:rPr lang="zh-CN" altLang="en-US" sz="2000" b="0" i="0" u="none" strike="noStrike" kern="0">
                          <a:latin typeface="黑体" panose="02010609060101010101" pitchFamily="2" charset="-122"/>
                          <a:ea typeface="黑体" panose="02010609060101010101" pitchFamily="2" charset="-122"/>
                          <a:cs typeface="+mn-ea"/>
                        </a:rPr>
                        <a:t>应收股利</a:t>
                      </a:r>
                      <a:r>
                        <a:rPr lang="en-US" altLang="zh-CN" sz="2000" b="0" i="0" u="none" strike="noStrike" kern="0">
                          <a:latin typeface="黑体" panose="02010609060101010101" pitchFamily="2" charset="-122"/>
                          <a:ea typeface="黑体" panose="02010609060101010101" pitchFamily="2" charset="-122"/>
                          <a:cs typeface="+mn-ea"/>
                        </a:rPr>
                        <a:t>/</a:t>
                      </a:r>
                      <a:r>
                        <a:rPr lang="zh-CN" altLang="en-US" sz="2000" b="0" i="0" u="none" strike="noStrike" kern="0">
                          <a:latin typeface="黑体" panose="02010609060101010101" pitchFamily="2" charset="-122"/>
                          <a:ea typeface="黑体" panose="02010609060101010101" pitchFamily="2" charset="-122"/>
                          <a:cs typeface="+mn-ea"/>
                        </a:rPr>
                        <a:t>应收利息</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取得：应收项目</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取得：应收项目</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取得：应收项目</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47171">
                <a:tc>
                  <a:txBody>
                    <a:bodyPr/>
                    <a:lstStyle/>
                    <a:p>
                      <a:pPr algn="l" fontAlgn="ctr"/>
                      <a:r>
                        <a:rPr lang="zh-CN" altLang="en-US" sz="2000" b="0" i="0" u="none" strike="noStrike" kern="0">
                          <a:latin typeface="黑体" panose="02010609060101010101" pitchFamily="2" charset="-122"/>
                          <a:ea typeface="黑体" panose="02010609060101010101" pitchFamily="2" charset="-122"/>
                          <a:cs typeface="+mn-ea"/>
                        </a:rPr>
                        <a:t>　</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持有期：投资收益</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持有期：投资收益</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持有期：投资收益</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47171">
                <a:tc>
                  <a:txBody>
                    <a:bodyPr/>
                    <a:lstStyle/>
                    <a:p>
                      <a:pPr algn="l" fontAlgn="ctr"/>
                      <a:r>
                        <a:rPr lang="zh-CN" altLang="en-US" sz="2000" b="0" i="0" u="none" strike="noStrike" kern="0">
                          <a:latin typeface="黑体" panose="02010609060101010101" pitchFamily="2" charset="-122"/>
                          <a:ea typeface="黑体" panose="02010609060101010101" pitchFamily="2" charset="-122"/>
                          <a:cs typeface="+mn-ea"/>
                        </a:rPr>
                        <a:t>公允价值变动</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公允价值变动损益</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其他综合收益</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其他综合收益</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47171">
                <a:tc>
                  <a:txBody>
                    <a:bodyPr/>
                    <a:lstStyle/>
                    <a:p>
                      <a:pPr algn="l" fontAlgn="ctr"/>
                      <a:r>
                        <a:rPr lang="zh-CN" altLang="en-US" sz="2000" b="0" i="0" u="none" strike="noStrike" kern="0">
                          <a:latin typeface="黑体" panose="02010609060101010101" pitchFamily="2" charset="-122"/>
                          <a:ea typeface="黑体" panose="02010609060101010101" pitchFamily="2" charset="-122"/>
                          <a:cs typeface="+mn-ea"/>
                        </a:rPr>
                        <a:t>公允价值变动结转</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转入投资收益</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转入投资收益</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kern="0">
                          <a:latin typeface="楷体_GB2312" panose="02010609030101010101" pitchFamily="49" charset="-122"/>
                          <a:ea typeface="楷体_GB2312" panose="02010609030101010101" pitchFamily="49" charset="-122"/>
                          <a:cs typeface="+mn-ea"/>
                        </a:rPr>
                        <a:t>直接转入留存收益</a:t>
                      </a:r>
                    </a:p>
                  </a:txBody>
                  <a:tcPr marL="3809" marR="3809"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r>
              <a:rPr lang="zh-CN" altLang="en-US"/>
              <a:t>问题：</a:t>
            </a:r>
          </a:p>
        </p:txBody>
      </p:sp>
      <p:sp>
        <p:nvSpPr>
          <p:cNvPr id="313347" name="Rectangle 3"/>
          <p:cNvSpPr>
            <a:spLocks noGrp="1" noChangeArrowheads="1"/>
          </p:cNvSpPr>
          <p:nvPr>
            <p:ph idx="1"/>
          </p:nvPr>
        </p:nvSpPr>
        <p:spPr/>
        <p:txBody>
          <a:bodyPr/>
          <a:lstStyle/>
          <a:p>
            <a:pPr marL="0" indent="0">
              <a:lnSpc>
                <a:spcPct val="90000"/>
              </a:lnSpc>
              <a:buFont typeface="Wingdings" panose="05000000000000000000" pitchFamily="2" charset="2"/>
              <a:buNone/>
            </a:pPr>
            <a:r>
              <a:rPr lang="en-US" altLang="zh-CN" sz="2400" dirty="0">
                <a:latin typeface="Times New Roman" panose="02020603050405020304" pitchFamily="18" charset="0"/>
                <a:cs typeface="Times New Roman" panose="02020603050405020304" pitchFamily="18" charset="0"/>
              </a:rPr>
              <a:t>1</a:t>
            </a:r>
            <a:r>
              <a:rPr lang="en-US" altLang="zh-CN" sz="2400" dirty="0"/>
              <a:t>.</a:t>
            </a:r>
            <a:r>
              <a:rPr lang="zh-CN" altLang="en-US" sz="2400" dirty="0"/>
              <a:t>为什么对购入的股票既可以划分为交易性金融资产，有可以指定为其他权益工具投资？购入的债券等既可以划分为交易性金融资产，又可以划分为债权投资、其他债券投资？</a:t>
            </a:r>
          </a:p>
          <a:p>
            <a:pPr marL="0" indent="0">
              <a:lnSpc>
                <a:spcPct val="90000"/>
              </a:lnSpc>
              <a:buFont typeface="Wingdings" panose="05000000000000000000" pitchFamily="2" charset="2"/>
              <a:buNone/>
            </a:pPr>
            <a:r>
              <a:rPr lang="en-US" altLang="zh-CN" sz="2400" dirty="0">
                <a:latin typeface="Times New Roman" panose="02020603050405020304" pitchFamily="18" charset="0"/>
                <a:cs typeface="Times New Roman" panose="02020603050405020304" pitchFamily="18" charset="0"/>
              </a:rPr>
              <a:t>2</a:t>
            </a:r>
            <a:r>
              <a:rPr lang="en-US" altLang="zh-CN" sz="2400" dirty="0"/>
              <a:t>.</a:t>
            </a:r>
            <a:r>
              <a:rPr lang="zh-CN" altLang="en-US" sz="2400" dirty="0"/>
              <a:t>对购买金融资产发生的交易费用，为什么将其划分为交易性金融资产时作为当期损益？而将其划分为其他权益工具投资时包括在取得成本中？</a:t>
            </a:r>
          </a:p>
          <a:p>
            <a:pPr marL="0" indent="0">
              <a:lnSpc>
                <a:spcPct val="90000"/>
              </a:lnSpc>
              <a:buFont typeface="Wingdings" panose="05000000000000000000" pitchFamily="2" charset="2"/>
              <a:buNone/>
            </a:pPr>
            <a:r>
              <a:rPr lang="en-US" altLang="zh-CN" sz="2400" dirty="0">
                <a:latin typeface="Times New Roman" panose="02020603050405020304" pitchFamily="18" charset="0"/>
                <a:cs typeface="Times New Roman" panose="02020603050405020304" pitchFamily="18" charset="0"/>
              </a:rPr>
              <a:t>3</a:t>
            </a:r>
            <a:r>
              <a:rPr lang="en-US" altLang="zh-CN" sz="2400">
                <a:sym typeface="+mn-ea"/>
              </a:rPr>
              <a:t>.</a:t>
            </a:r>
            <a:r>
              <a:rPr lang="zh-CN" altLang="en-US" sz="2400" dirty="0"/>
              <a:t>为什么交易性金融资产的公允价值变动作为当期损益，而其他权益工具投资的公允价值变动作为其他综合收益确认？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313347">
                                            <p:txEl>
                                              <p:pRg st="0" end="0"/>
                                            </p:txEl>
                                          </p:spTgt>
                                        </p:tgtEl>
                                        <p:attrNameLst>
                                          <p:attrName>style.visibility</p:attrName>
                                        </p:attrNameLst>
                                      </p:cBhvr>
                                      <p:to>
                                        <p:strVal val="visible"/>
                                      </p:to>
                                    </p:set>
                                    <p:anim calcmode="lin" valueType="num">
                                      <p:cBhvr additive="base">
                                        <p:cTn id="7" dur="500" fill="hold"/>
                                        <p:tgtEl>
                                          <p:spTgt spid="313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3347">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13347">
                                            <p:txEl>
                                              <p:pRg st="1" end="1"/>
                                            </p:txEl>
                                          </p:spTgt>
                                        </p:tgtEl>
                                        <p:attrNameLst>
                                          <p:attrName>style.visibility</p:attrName>
                                        </p:attrNameLst>
                                      </p:cBhvr>
                                      <p:to>
                                        <p:strVal val="visible"/>
                                      </p:to>
                                    </p:set>
                                    <p:anim calcmode="lin" valueType="num">
                                      <p:cBhvr additive="base">
                                        <p:cTn id="13" dur="500" fill="hold"/>
                                        <p:tgtEl>
                                          <p:spTgt spid="3133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133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13347">
                                            <p:txEl>
                                              <p:pRg st="2" end="2"/>
                                            </p:txEl>
                                          </p:spTgt>
                                        </p:tgtEl>
                                        <p:attrNameLst>
                                          <p:attrName>style.visibility</p:attrName>
                                        </p:attrNameLst>
                                      </p:cBhvr>
                                      <p:to>
                                        <p:strVal val="visible"/>
                                      </p:to>
                                    </p:set>
                                    <p:anim calcmode="lin" valueType="num">
                                      <p:cBhvr additive="base">
                                        <p:cTn id="19" dur="500" fill="hold"/>
                                        <p:tgtEl>
                                          <p:spTgt spid="31334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1334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文本框 3"/>
          <p:cNvSpPr txBox="1"/>
          <p:nvPr/>
        </p:nvSpPr>
        <p:spPr>
          <a:xfrm>
            <a:off x="1686560" y="3253740"/>
            <a:ext cx="5463540" cy="768350"/>
          </a:xfrm>
          <a:prstGeom prst="rect">
            <a:avLst/>
          </a:prstGeom>
          <a:noFill/>
        </p:spPr>
        <p:txBody>
          <a:bodyPr wrap="none" rtlCol="0" anchor="t">
            <a:spAutoFit/>
          </a:bodyPr>
          <a:lstStyle/>
          <a:p>
            <a:r>
              <a:rPr lang="zh-CN" altLang="en-US" sz="4400" b="1" kern="0">
                <a:solidFill>
                  <a:schemeClr val="tx2"/>
                </a:solidFill>
                <a:latin typeface="+mj-lt"/>
                <a:ea typeface="+mj-ea"/>
                <a:cs typeface="+mj-cs"/>
                <a:sym typeface="+mn-ea"/>
              </a:rPr>
              <a:t>五、金融资产的重分类</a:t>
            </a:r>
            <a:endParaRPr lang="zh-C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p:cNvSpPr>
            <a:spLocks noGrp="1" noChangeArrowheads="1"/>
          </p:cNvSpPr>
          <p:nvPr>
            <p:ph type="title"/>
          </p:nvPr>
        </p:nvSpPr>
        <p:spPr/>
        <p:txBody>
          <a:bodyPr/>
          <a:lstStyle/>
          <a:p>
            <a:r>
              <a:rPr lang="zh-CN" altLang="en-US"/>
              <a:t>五、金融资产的重分类</a:t>
            </a:r>
          </a:p>
        </p:txBody>
      </p:sp>
      <p:sp>
        <p:nvSpPr>
          <p:cNvPr id="111619" name="内容占位符 2"/>
          <p:cNvSpPr>
            <a:spLocks noGrp="1" noChangeArrowheads="1"/>
          </p:cNvSpPr>
          <p:nvPr>
            <p:ph idx="1"/>
          </p:nvPr>
        </p:nvSpPr>
        <p:spPr/>
        <p:txBody>
          <a:bodyPr/>
          <a:lstStyle/>
          <a:p>
            <a:r>
              <a:rPr lang="zh-CN" altLang="en-US"/>
              <a:t>企业改变其管理金融的业务模式，应当对所有受影响的相关金融资产进行重分类</a:t>
            </a:r>
            <a:endParaRPr lang="en-US" altLang="zh-CN"/>
          </a:p>
          <a:p>
            <a:pPr lvl="1"/>
            <a:r>
              <a:rPr lang="zh-CN" altLang="en-US"/>
              <a:t>出售</a:t>
            </a:r>
            <a:endParaRPr lang="en-US" altLang="zh-CN"/>
          </a:p>
          <a:p>
            <a:pPr lvl="1"/>
            <a:r>
              <a:rPr lang="zh-CN" altLang="en-US"/>
              <a:t>持有收回</a:t>
            </a:r>
            <a:endParaRPr lang="en-US" altLang="zh-CN"/>
          </a:p>
          <a:p>
            <a:pPr lvl="1"/>
            <a:r>
              <a:rPr lang="zh-CN" altLang="en-US"/>
              <a:t>出售或持有收回</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5" name="文本框 4"/>
          <p:cNvSpPr txBox="1"/>
          <p:nvPr/>
        </p:nvSpPr>
        <p:spPr>
          <a:xfrm>
            <a:off x="1112520" y="3044825"/>
            <a:ext cx="6918960" cy="768350"/>
          </a:xfrm>
          <a:prstGeom prst="rect">
            <a:avLst/>
          </a:prstGeom>
          <a:noFill/>
        </p:spPr>
        <p:txBody>
          <a:bodyPr wrap="none" rtlCol="0" anchor="t">
            <a:spAutoFit/>
          </a:bodyPr>
          <a:lstStyle/>
          <a:p>
            <a:r>
              <a:rPr lang="zh-CN" altLang="en-US" sz="4400" b="1">
                <a:solidFill>
                  <a:schemeClr val="tx2"/>
                </a:solidFill>
                <a:latin typeface="+mj-lt"/>
                <a:ea typeface="+mj-ea"/>
                <a:cs typeface="+mj-cs"/>
                <a:sym typeface="+mn-ea"/>
              </a:rPr>
              <a:t>六、金融资产的列报和披露</a:t>
            </a:r>
            <a:endParaRPr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p:cNvSpPr>
            <a:spLocks noGrp="1" noChangeArrowheads="1"/>
          </p:cNvSpPr>
          <p:nvPr>
            <p:ph type="title"/>
          </p:nvPr>
        </p:nvSpPr>
        <p:spPr/>
        <p:txBody>
          <a:bodyPr/>
          <a:lstStyle/>
          <a:p>
            <a:r>
              <a:rPr lang="zh-CN" altLang="en-US"/>
              <a:t>六、金融资产的列报和披露</a:t>
            </a:r>
          </a:p>
        </p:txBody>
      </p:sp>
      <p:graphicFrame>
        <p:nvGraphicFramePr>
          <p:cNvPr id="4" name="表格 3"/>
          <p:cNvGraphicFramePr>
            <a:graphicFrameLocks noGrp="1"/>
          </p:cNvGraphicFramePr>
          <p:nvPr>
            <p:custDataLst>
              <p:tags r:id="rId1"/>
            </p:custDataLst>
          </p:nvPr>
        </p:nvGraphicFramePr>
        <p:xfrm>
          <a:off x="658178" y="2249805"/>
          <a:ext cx="7488237" cy="3820658"/>
        </p:xfrm>
        <a:graphic>
          <a:graphicData uri="http://schemas.openxmlformats.org/drawingml/2006/table">
            <a:tbl>
              <a:tblPr/>
              <a:tblGrid>
                <a:gridCol w="1948160">
                  <a:extLst>
                    <a:ext uri="{9D8B030D-6E8A-4147-A177-3AD203B41FA5}">
                      <a16:colId xmlns:a16="http://schemas.microsoft.com/office/drawing/2014/main" val="20000"/>
                    </a:ext>
                  </a:extLst>
                </a:gridCol>
                <a:gridCol w="2881652">
                  <a:extLst>
                    <a:ext uri="{9D8B030D-6E8A-4147-A177-3AD203B41FA5}">
                      <a16:colId xmlns:a16="http://schemas.microsoft.com/office/drawing/2014/main" val="20001"/>
                    </a:ext>
                  </a:extLst>
                </a:gridCol>
                <a:gridCol w="2658425">
                  <a:extLst>
                    <a:ext uri="{9D8B030D-6E8A-4147-A177-3AD203B41FA5}">
                      <a16:colId xmlns:a16="http://schemas.microsoft.com/office/drawing/2014/main" val="20002"/>
                    </a:ext>
                  </a:extLst>
                </a:gridCol>
              </a:tblGrid>
              <a:tr h="689610">
                <a:tc>
                  <a:txBody>
                    <a:bodyPr/>
                    <a:lstStyle/>
                    <a:p>
                      <a:pPr algn="l" fontAlgn="ctr"/>
                      <a:r>
                        <a:rPr lang="zh-CN" altLang="en-US" sz="2000" b="1" i="0" u="none" strike="noStrike" dirty="0">
                          <a:solidFill>
                            <a:srgbClr val="000000"/>
                          </a:solidFill>
                          <a:effectLst/>
                          <a:latin typeface="黑体" panose="02010609060101010101" pitchFamily="2" charset="-122"/>
                          <a:ea typeface="黑体" panose="02010609060101010101" pitchFamily="2" charset="-122"/>
                        </a:rPr>
                        <a:t>　三分类</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1" i="0" u="none" strike="noStrike" dirty="0">
                          <a:solidFill>
                            <a:srgbClr val="000000"/>
                          </a:solidFill>
                          <a:effectLst/>
                          <a:latin typeface="黑体" panose="02010609060101010101" pitchFamily="2" charset="-122"/>
                          <a:ea typeface="黑体" panose="02010609060101010101" pitchFamily="2" charset="-122"/>
                        </a:rPr>
                        <a:t>细分项</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1" i="0" u="none" strike="noStrike" dirty="0">
                          <a:solidFill>
                            <a:srgbClr val="000000"/>
                          </a:solidFill>
                          <a:effectLst/>
                          <a:latin typeface="黑体" panose="02010609060101010101" pitchFamily="2" charset="-122"/>
                          <a:ea typeface="黑体" panose="02010609060101010101" pitchFamily="2" charset="-122"/>
                        </a:rPr>
                        <a:t>列报项目</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18323">
                <a:tc>
                  <a:txBody>
                    <a:bodyPr/>
                    <a:lstStyle/>
                    <a:p>
                      <a:pPr algn="l" fontAlgn="ctr"/>
                      <a:r>
                        <a:rPr lang="zh-CN" altLang="en-US" sz="2000" b="0" i="0" u="none" strike="noStrike" dirty="0">
                          <a:solidFill>
                            <a:srgbClr val="000000"/>
                          </a:solidFill>
                          <a:effectLst/>
                          <a:latin typeface="+mn-ea"/>
                          <a:ea typeface="+mn-ea"/>
                        </a:rPr>
                        <a:t>以公允价值计量且其变动计入当期损益</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2000" b="0" i="0" u="none" strike="noStrike" dirty="0">
                        <a:solidFill>
                          <a:srgbClr val="000000"/>
                        </a:solidFill>
                        <a:effectLst/>
                        <a:latin typeface="+mn-ea"/>
                        <a:ea typeface="+mn-ea"/>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2000" b="0" i="0" u="none" strike="noStrike" dirty="0">
                          <a:solidFill>
                            <a:srgbClr val="000000"/>
                          </a:solidFill>
                          <a:effectLst/>
                          <a:latin typeface="+mn-ea"/>
                          <a:ea typeface="+mn-ea"/>
                        </a:rPr>
                        <a:t>交易性金融资产</a:t>
                      </a:r>
                    </a:p>
                    <a:p>
                      <a:pPr algn="l" fontAlgn="ctr"/>
                      <a:endParaRPr lang="zh-CN" altLang="en-US" sz="2000" b="0" i="0" u="none" strike="noStrike" dirty="0">
                        <a:solidFill>
                          <a:srgbClr val="000000"/>
                        </a:solidFill>
                        <a:effectLst/>
                        <a:latin typeface="+mn-ea"/>
                        <a:ea typeface="+mn-ea"/>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7201">
                <a:tc rowSpan="2">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2000" b="0" i="0" u="none" strike="noStrike" dirty="0">
                          <a:solidFill>
                            <a:srgbClr val="000000"/>
                          </a:solidFill>
                          <a:effectLst/>
                          <a:latin typeface="+mn-ea"/>
                          <a:ea typeface="+mn-ea"/>
                        </a:rPr>
                        <a:t>以公允价值计量且其变动计入其他综合收益</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2000" b="0" i="0" u="none" strike="noStrike" dirty="0">
                          <a:solidFill>
                            <a:srgbClr val="FF0000"/>
                          </a:solidFill>
                          <a:effectLst/>
                          <a:latin typeface="+mn-ea"/>
                          <a:ea typeface="+mn-ea"/>
                        </a:rPr>
                        <a:t>划分为</a:t>
                      </a:r>
                      <a:r>
                        <a:rPr lang="zh-CN" altLang="en-US" sz="2000" b="0" i="0" u="none" strike="noStrike" dirty="0">
                          <a:solidFill>
                            <a:srgbClr val="000000"/>
                          </a:solidFill>
                          <a:effectLst/>
                          <a:latin typeface="+mn-ea"/>
                          <a:ea typeface="+mn-ea"/>
                        </a:rPr>
                        <a:t>以公允价值计量且其变动计入其他综合收益</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dirty="0">
                          <a:solidFill>
                            <a:srgbClr val="000000"/>
                          </a:solidFill>
                          <a:effectLst/>
                          <a:latin typeface="+mn-ea"/>
                          <a:ea typeface="+mn-ea"/>
                        </a:rPr>
                        <a:t>其他债权投资</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18323">
                <a:tc vMerge="1">
                  <a:txBody>
                    <a:bodyPr/>
                    <a:lstStyle/>
                    <a:p>
                      <a:endParaRPr lang="zh-CN"/>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2000" b="0" i="0" u="none" strike="noStrike" dirty="0">
                          <a:solidFill>
                            <a:srgbClr val="FF0000"/>
                          </a:solidFill>
                          <a:effectLst/>
                          <a:latin typeface="+mn-ea"/>
                          <a:ea typeface="+mn-ea"/>
                        </a:rPr>
                        <a:t>指定为</a:t>
                      </a:r>
                      <a:r>
                        <a:rPr lang="zh-CN" altLang="en-US" sz="2000" b="0" i="0" u="none" strike="noStrike" dirty="0">
                          <a:solidFill>
                            <a:srgbClr val="000000"/>
                          </a:solidFill>
                          <a:effectLst/>
                          <a:latin typeface="+mn-ea"/>
                          <a:ea typeface="+mn-ea"/>
                        </a:rPr>
                        <a:t>以公允价值计量且其变动计入其他综合收益</a:t>
                      </a:r>
                    </a:p>
                    <a:p>
                      <a:pPr algn="l" fontAlgn="ctr"/>
                      <a:endParaRPr lang="zh-CN" altLang="en-US" sz="2000" b="0" i="0" u="none" strike="noStrike" dirty="0">
                        <a:solidFill>
                          <a:srgbClr val="000000"/>
                        </a:solidFill>
                        <a:effectLst/>
                        <a:latin typeface="+mn-ea"/>
                        <a:ea typeface="+mn-ea"/>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dirty="0">
                          <a:solidFill>
                            <a:srgbClr val="000000"/>
                          </a:solidFill>
                          <a:effectLst/>
                          <a:latin typeface="+mn-ea"/>
                          <a:ea typeface="+mn-ea"/>
                        </a:rPr>
                        <a:t>其他权益工具投资</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47201">
                <a:tc>
                  <a:txBody>
                    <a:bodyPr/>
                    <a:lstStyle/>
                    <a:p>
                      <a:pPr algn="l" fontAlgn="ctr"/>
                      <a:r>
                        <a:rPr lang="zh-CN" altLang="en-US" sz="2000" b="0" i="0" u="none" strike="noStrike" dirty="0">
                          <a:solidFill>
                            <a:srgbClr val="000000"/>
                          </a:solidFill>
                          <a:effectLst/>
                          <a:latin typeface="+mn-ea"/>
                          <a:ea typeface="+mn-ea"/>
                        </a:rPr>
                        <a:t>以摊余成本计量的金融资产</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2000" b="0" i="0" u="none" strike="noStrike">
                        <a:solidFill>
                          <a:srgbClr val="000000"/>
                        </a:solidFill>
                        <a:effectLst/>
                        <a:latin typeface="+mn-ea"/>
                        <a:ea typeface="+mn-ea"/>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dirty="0">
                          <a:solidFill>
                            <a:srgbClr val="000000"/>
                          </a:solidFill>
                          <a:effectLst/>
                          <a:latin typeface="+mn-ea"/>
                          <a:ea typeface="+mn-ea"/>
                        </a:rPr>
                        <a:t>债权投资、贷款等</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r>
              <a:rPr lang="zh-CN" altLang="en-US"/>
              <a:t>练习题</a:t>
            </a:r>
            <a:r>
              <a:rPr lang="en-US" altLang="zh-CN">
                <a:latin typeface="Times New Roman" panose="02020603050405020304" pitchFamily="18" charset="0"/>
                <a:cs typeface="Times New Roman" panose="02020603050405020304" pitchFamily="18" charset="0"/>
              </a:rPr>
              <a:t>1</a:t>
            </a:r>
          </a:p>
        </p:txBody>
      </p:sp>
      <p:sp>
        <p:nvSpPr>
          <p:cNvPr id="113667" name="Rectangle 3"/>
          <p:cNvSpPr>
            <a:spLocks noGrp="1" noChangeArrowheads="1"/>
          </p:cNvSpPr>
          <p:nvPr>
            <p:ph idx="1"/>
          </p:nvPr>
        </p:nvSpPr>
        <p:spPr/>
        <p:txBody>
          <a:bodyPr/>
          <a:lstStyle/>
          <a:p>
            <a:pPr marL="0" indent="0" eaLnBrk="1" hangingPunct="1">
              <a:lnSpc>
                <a:spcPct val="90000"/>
              </a:lnSpc>
              <a:buFontTx/>
              <a:buNone/>
            </a:pPr>
            <a:r>
              <a:rPr lang="zh-CN" altLang="en-US" dirty="0">
                <a:latin typeface="黑体" panose="02010609060101010101" pitchFamily="2" charset="-122"/>
                <a:ea typeface="黑体" panose="02010609060101010101" pitchFamily="2" charset="-122"/>
              </a:rPr>
              <a:t>企业从活跃市场购入有报价的债券，可以划分为</a:t>
            </a:r>
            <a:r>
              <a:rPr lang="zh-CN" altLang="en-US" dirty="0"/>
              <a:t>（）。</a:t>
            </a:r>
          </a:p>
          <a:p>
            <a:pPr marL="0" algn="l" eaLnBrk="1" hangingPunct="1">
              <a:lnSpc>
                <a:spcPct val="90000"/>
              </a:lnSpc>
              <a:buNone/>
            </a:pPr>
            <a:r>
              <a:rPr lang="en-US" altLang="zh-CN" dirty="0">
                <a:latin typeface="Times New Roman" panose="02020603050405020304" pitchFamily="18" charset="0"/>
                <a:cs typeface="Times New Roman" panose="02020603050405020304" pitchFamily="18" charset="0"/>
              </a:rPr>
              <a:t>A</a:t>
            </a:r>
            <a:r>
              <a:rPr lang="en-US" altLang="zh-CN" dirty="0"/>
              <a:t>.</a:t>
            </a:r>
            <a:r>
              <a:rPr lang="zh-CN" altLang="en-US" sz="2400" b="1" dirty="0">
                <a:latin typeface="楷体_GB2312" panose="02010609030101010101" pitchFamily="49" charset="-122"/>
                <a:ea typeface="楷体_GB2312" panose="02010609030101010101" pitchFamily="49" charset="-122"/>
                <a:cs typeface="+mn-ea"/>
              </a:rPr>
              <a:t>以公允价值计量且其变动计入当期损益的金融资产</a:t>
            </a:r>
          </a:p>
          <a:p>
            <a:pPr marL="0" indent="0" eaLnBrk="1" hangingPunct="1">
              <a:lnSpc>
                <a:spcPct val="90000"/>
              </a:lnSpc>
              <a:buNone/>
            </a:pPr>
            <a:r>
              <a:rPr lang="en-US" altLang="zh-CN" dirty="0">
                <a:latin typeface="Times New Roman" panose="02020603050405020304" pitchFamily="18" charset="0"/>
                <a:cs typeface="Times New Roman" panose="02020603050405020304" pitchFamily="18" charset="0"/>
              </a:rPr>
              <a:t>B.</a:t>
            </a:r>
            <a:r>
              <a:rPr lang="zh-CN" altLang="en-US" sz="2400" b="1" dirty="0">
                <a:latin typeface="楷体_GB2312" panose="02010609030101010101" pitchFamily="49" charset="-122"/>
                <a:ea typeface="楷体_GB2312" panose="02010609030101010101" pitchFamily="49" charset="-122"/>
                <a:cs typeface="+mn-ea"/>
              </a:rPr>
              <a:t>债权投资</a:t>
            </a:r>
          </a:p>
          <a:p>
            <a:pPr marL="0" indent="0" eaLnBrk="1" hangingPunct="1">
              <a:lnSpc>
                <a:spcPct val="90000"/>
              </a:lnSpc>
              <a:buNone/>
            </a:pPr>
            <a:r>
              <a:rPr lang="en-US" altLang="zh-CN" dirty="0">
                <a:latin typeface="Times New Roman" panose="02020603050405020304" pitchFamily="18" charset="0"/>
                <a:cs typeface="Times New Roman" panose="02020603050405020304" pitchFamily="18" charset="0"/>
              </a:rPr>
              <a:t>C.</a:t>
            </a:r>
            <a:r>
              <a:rPr lang="zh-CN" altLang="en-US" sz="2400" b="1" dirty="0">
                <a:latin typeface="楷体_GB2312" panose="02010609030101010101" pitchFamily="49" charset="-122"/>
                <a:ea typeface="楷体_GB2312" panose="02010609030101010101" pitchFamily="49" charset="-122"/>
                <a:cs typeface="+mn-ea"/>
              </a:rPr>
              <a:t>其他权益工具投资</a:t>
            </a:r>
            <a:endParaRPr lang="en-US" altLang="zh-CN" dirty="0"/>
          </a:p>
          <a:p>
            <a:pPr marL="0" indent="0" eaLnBrk="1" hangingPunct="1">
              <a:lnSpc>
                <a:spcPct val="90000"/>
              </a:lnSpc>
              <a:buNone/>
            </a:pPr>
            <a:r>
              <a:rPr lang="en-US" altLang="zh-CN" dirty="0">
                <a:latin typeface="Times New Roman" panose="02020603050405020304" pitchFamily="18" charset="0"/>
                <a:cs typeface="Times New Roman" panose="02020603050405020304" pitchFamily="18" charset="0"/>
              </a:rPr>
              <a:t>D.</a:t>
            </a:r>
            <a:r>
              <a:rPr lang="zh-CN" altLang="en-US" sz="2400" b="1" dirty="0">
                <a:latin typeface="楷体_GB2312" panose="02010609030101010101" pitchFamily="49" charset="-122"/>
                <a:ea typeface="楷体_GB2312" panose="02010609030101010101" pitchFamily="49" charset="-122"/>
                <a:cs typeface="+mn-ea"/>
              </a:rPr>
              <a:t>其他债券投资</a:t>
            </a:r>
            <a:endParaRPr lang="zh-CN" altLang="en-US" dirty="0"/>
          </a:p>
          <a:p>
            <a:pPr marL="0" indent="0" eaLnBrk="1" hangingPunct="1">
              <a:lnSpc>
                <a:spcPct val="90000"/>
              </a:lnSpc>
              <a:buNone/>
            </a:pPr>
            <a:r>
              <a:rPr lang="en-US" altLang="zh-CN" dirty="0">
                <a:latin typeface="Times New Roman" panose="02020603050405020304" pitchFamily="18" charset="0"/>
                <a:cs typeface="Times New Roman" panose="02020603050405020304" pitchFamily="18" charset="0"/>
              </a:rPr>
              <a:t>E.</a:t>
            </a:r>
            <a:r>
              <a:rPr lang="zh-CN" altLang="en-US" sz="2400" b="1" dirty="0">
                <a:latin typeface="楷体_GB2312" panose="02010609030101010101" pitchFamily="49" charset="-122"/>
                <a:ea typeface="楷体_GB2312" panose="02010609030101010101" pitchFamily="49" charset="-122"/>
                <a:cs typeface="+mn-ea"/>
              </a:rPr>
              <a:t>其他金融负债</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r>
              <a:rPr lang="zh-CN" altLang="en-US"/>
              <a:t>综合例题</a:t>
            </a:r>
          </a:p>
        </p:txBody>
      </p:sp>
      <p:sp>
        <p:nvSpPr>
          <p:cNvPr id="115715" name="Rectangle 3"/>
          <p:cNvSpPr>
            <a:spLocks noGrp="1" noChangeArrowheads="1"/>
          </p:cNvSpPr>
          <p:nvPr>
            <p:ph idx="1"/>
          </p:nvPr>
        </p:nvSpPr>
        <p:spPr/>
        <p:txBody>
          <a:bodyPr/>
          <a:lstStyle/>
          <a:p>
            <a:pPr eaLnBrk="1" hangingPunct="1"/>
            <a:r>
              <a:rPr lang="zh-CN" altLang="en-US"/>
              <a:t>例：</a:t>
            </a:r>
            <a:r>
              <a:rPr lang="en-US" altLang="zh-CN">
                <a:latin typeface="Times New Roman" panose="02020603050405020304" pitchFamily="18" charset="0"/>
                <a:cs typeface="Times New Roman" panose="02020603050405020304" pitchFamily="18" charset="0"/>
              </a:rPr>
              <a:t>A</a:t>
            </a:r>
            <a:r>
              <a:rPr lang="zh-CN" altLang="en-US"/>
              <a:t>企业</a:t>
            </a:r>
            <a:r>
              <a:rPr lang="en-US" altLang="zh-CN">
                <a:latin typeface="Times New Roman" panose="02020603050405020304" pitchFamily="18" charset="0"/>
                <a:cs typeface="Times New Roman" panose="02020603050405020304" pitchFamily="18" charset="0"/>
              </a:rPr>
              <a:t>2×16</a:t>
            </a:r>
            <a:r>
              <a:rPr lang="zh-CN" altLang="en-US"/>
              <a:t>年</a:t>
            </a:r>
            <a:r>
              <a:rPr lang="en-US" altLang="zh-CN">
                <a:latin typeface="Times New Roman" panose="02020603050405020304" pitchFamily="18" charset="0"/>
                <a:cs typeface="Times New Roman" panose="02020603050405020304" pitchFamily="18" charset="0"/>
              </a:rPr>
              <a:t>1</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日购入</a:t>
            </a:r>
            <a:r>
              <a:rPr lang="en-US" altLang="zh-CN">
                <a:latin typeface="Times New Roman" panose="02020603050405020304" pitchFamily="18" charset="0"/>
                <a:cs typeface="Times New Roman" panose="02020603050405020304" pitchFamily="18" charset="0"/>
              </a:rPr>
              <a:t>B</a:t>
            </a:r>
            <a:r>
              <a:rPr lang="zh-CN" altLang="en-US"/>
              <a:t>企业</a:t>
            </a:r>
            <a:r>
              <a:rPr lang="en-US" altLang="zh-CN">
                <a:latin typeface="Times New Roman" panose="02020603050405020304" pitchFamily="18" charset="0"/>
                <a:cs typeface="Times New Roman" panose="02020603050405020304" pitchFamily="18" charset="0"/>
              </a:rPr>
              <a:t>2×15</a:t>
            </a:r>
            <a:r>
              <a:rPr lang="zh-CN" altLang="en-US"/>
              <a:t>年</a:t>
            </a:r>
            <a:r>
              <a:rPr lang="en-US" altLang="zh-CN">
                <a:latin typeface="Times New Roman" panose="02020603050405020304" pitchFamily="18" charset="0"/>
                <a:cs typeface="Times New Roman" panose="02020603050405020304" pitchFamily="18" charset="0"/>
              </a:rPr>
              <a:t>12</a:t>
            </a:r>
            <a:r>
              <a:rPr lang="zh-CN" altLang="en-US"/>
              <a:t>月</a:t>
            </a:r>
            <a:r>
              <a:rPr lang="en-US" altLang="zh-CN">
                <a:latin typeface="Times New Roman" panose="02020603050405020304" pitchFamily="18" charset="0"/>
                <a:cs typeface="Times New Roman" panose="02020603050405020304" pitchFamily="18" charset="0"/>
              </a:rPr>
              <a:t>1</a:t>
            </a:r>
            <a:r>
              <a:rPr lang="zh-CN" altLang="en-US"/>
              <a:t>日发行的五年期债券，票面利率</a:t>
            </a:r>
            <a:r>
              <a:rPr lang="en-US" altLang="zh-CN">
                <a:latin typeface="Times New Roman" panose="02020603050405020304" pitchFamily="18" charset="0"/>
                <a:cs typeface="Times New Roman" panose="02020603050405020304" pitchFamily="18" charset="0"/>
              </a:rPr>
              <a:t>12％</a:t>
            </a:r>
            <a:r>
              <a:rPr lang="zh-CN" altLang="en-US"/>
              <a:t>，债券面值</a:t>
            </a:r>
            <a:r>
              <a:rPr lang="en-US" altLang="zh-CN">
                <a:latin typeface="Times New Roman" panose="02020603050405020304" pitchFamily="18" charset="0"/>
                <a:cs typeface="Times New Roman" panose="02020603050405020304" pitchFamily="18" charset="0"/>
              </a:rPr>
              <a:t>1</a:t>
            </a:r>
            <a:r>
              <a:rPr lang="en-US" altLang="zh-CN"/>
              <a:t> </a:t>
            </a:r>
            <a:r>
              <a:rPr lang="en-US" altLang="zh-CN">
                <a:latin typeface="Times New Roman" panose="02020603050405020304" pitchFamily="18" charset="0"/>
                <a:cs typeface="Times New Roman" panose="02020603050405020304" pitchFamily="18" charset="0"/>
              </a:rPr>
              <a:t>000</a:t>
            </a:r>
            <a:r>
              <a:rPr lang="zh-CN" altLang="en-US"/>
              <a:t>元，企业按</a:t>
            </a:r>
            <a:r>
              <a:rPr lang="en-US" altLang="zh-CN">
                <a:latin typeface="Times New Roman" panose="02020603050405020304" pitchFamily="18" charset="0"/>
                <a:cs typeface="Times New Roman" panose="02020603050405020304" pitchFamily="18" charset="0"/>
              </a:rPr>
              <a:t>1 045</a:t>
            </a:r>
            <a:r>
              <a:rPr lang="zh-CN" altLang="en-US"/>
              <a:t>元的价格购入</a:t>
            </a:r>
            <a:r>
              <a:rPr lang="en-US" altLang="zh-CN">
                <a:latin typeface="Times New Roman" panose="02020603050405020304" pitchFamily="18" charset="0"/>
                <a:cs typeface="Times New Roman" panose="02020603050405020304" pitchFamily="18" charset="0"/>
              </a:rPr>
              <a:t>80</a:t>
            </a:r>
            <a:r>
              <a:rPr lang="zh-CN" altLang="en-US"/>
              <a:t>张，另支付有关税费</a:t>
            </a:r>
            <a:r>
              <a:rPr lang="en-US" altLang="zh-CN">
                <a:latin typeface="Times New Roman" panose="02020603050405020304" pitchFamily="18" charset="0"/>
                <a:cs typeface="Times New Roman" panose="02020603050405020304" pitchFamily="18" charset="0"/>
              </a:rPr>
              <a:t>400</a:t>
            </a:r>
            <a:r>
              <a:rPr lang="zh-CN" altLang="en-US"/>
              <a:t>元，该债券每年付息一次，最后一年还本金并付最后一次利息。假设债券按年计算利息， </a:t>
            </a:r>
            <a:r>
              <a:rPr lang="en-US" altLang="zh-CN"/>
              <a:t>A</a:t>
            </a:r>
            <a:r>
              <a:rPr lang="zh-CN" altLang="en-US"/>
              <a:t>企业将其划分为以摊余成本计量的金融资产，试问：</a:t>
            </a:r>
          </a:p>
          <a:p>
            <a:pPr lvl="1" eaLnBrk="1" hangingPunct="1"/>
            <a:r>
              <a:rPr lang="en-US" altLang="zh-CN" sz="2400" b="0">
                <a:latin typeface="Times New Roman" panose="02020603050405020304" pitchFamily="18" charset="0"/>
                <a:cs typeface="Times New Roman" panose="02020603050405020304" pitchFamily="18" charset="0"/>
              </a:rPr>
              <a:t>A</a:t>
            </a:r>
            <a:r>
              <a:rPr lang="zh-CN" altLang="en-US" sz="2400"/>
              <a:t>企业购入债券属溢价还是折价购入？</a:t>
            </a:r>
          </a:p>
          <a:p>
            <a:pPr lvl="1" eaLnBrk="1" hangingPunct="1"/>
            <a:r>
              <a:rPr lang="zh-CN" altLang="en-US" sz="2400"/>
              <a:t>购入债券时的市场利率比票面利率大还是小？</a:t>
            </a:r>
          </a:p>
          <a:p>
            <a:pPr lvl="1" eaLnBrk="1" hangingPunct="1"/>
            <a:r>
              <a:rPr lang="zh-CN" altLang="en-US" sz="2400"/>
              <a:t>购买时应如何进行账务处理？</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r>
              <a:rPr lang="zh-CN" altLang="en-US"/>
              <a:t>取得投资时</a:t>
            </a:r>
          </a:p>
        </p:txBody>
      </p:sp>
      <p:sp>
        <p:nvSpPr>
          <p:cNvPr id="116739" name="Rectangle 3"/>
          <p:cNvSpPr>
            <a:spLocks noGrp="1" noChangeArrowheads="1"/>
          </p:cNvSpPr>
          <p:nvPr>
            <p:ph idx="1"/>
          </p:nvPr>
        </p:nvSpPr>
        <p:spPr/>
        <p:txBody>
          <a:bodyPr/>
          <a:lstStyle/>
          <a:p>
            <a:pPr marL="0" indent="0" eaLnBrk="1" hangingPunct="1">
              <a:buNone/>
            </a:pPr>
            <a:r>
              <a:rPr lang="zh-CN" altLang="en-US"/>
              <a:t>（</a:t>
            </a:r>
            <a:r>
              <a:rPr lang="en-US" altLang="zh-CN">
                <a:latin typeface="Times New Roman" panose="02020603050405020304" pitchFamily="18" charset="0"/>
                <a:cs typeface="Times New Roman" panose="02020603050405020304" pitchFamily="18" charset="0"/>
              </a:rPr>
              <a:t>1</a:t>
            </a:r>
            <a:r>
              <a:rPr lang="zh-CN" altLang="en-US"/>
              <a:t>）投资成本</a:t>
            </a:r>
            <a:r>
              <a:rPr lang="en-US" altLang="zh-CN"/>
              <a:t>(</a:t>
            </a:r>
            <a:r>
              <a:rPr lang="en-US" altLang="zh-CN">
                <a:latin typeface="Times New Roman" panose="02020603050405020304" pitchFamily="18" charset="0"/>
                <a:cs typeface="Times New Roman" panose="02020603050405020304" pitchFamily="18" charset="0"/>
              </a:rPr>
              <a:t>80×1 045+400</a:t>
            </a:r>
            <a:r>
              <a:rPr lang="en-US" altLang="zh-CN"/>
              <a:t>)        </a:t>
            </a:r>
            <a:r>
              <a:rPr lang="en-US" altLang="zh-CN">
                <a:latin typeface="Times New Roman" panose="02020603050405020304" pitchFamily="18" charset="0"/>
                <a:cs typeface="Times New Roman" panose="02020603050405020304" pitchFamily="18" charset="0"/>
              </a:rPr>
              <a:t>84 000</a:t>
            </a:r>
            <a:endParaRPr lang="en-US" altLang="zh-CN"/>
          </a:p>
          <a:p>
            <a:pPr marL="0" indent="0" eaLnBrk="1" hangingPunct="1">
              <a:buNone/>
            </a:pPr>
            <a:r>
              <a:rPr lang="en-US" altLang="zh-CN"/>
              <a:t>  </a:t>
            </a:r>
            <a:r>
              <a:rPr lang="zh-CN" altLang="en-US"/>
              <a:t>减：债券面值</a:t>
            </a:r>
            <a:r>
              <a:rPr lang="en-US" altLang="zh-CN"/>
              <a:t>(</a:t>
            </a:r>
            <a:r>
              <a:rPr lang="en-US" altLang="zh-CN">
                <a:latin typeface="Times New Roman" panose="02020603050405020304" pitchFamily="18" charset="0"/>
                <a:cs typeface="Times New Roman" panose="02020603050405020304" pitchFamily="18" charset="0"/>
              </a:rPr>
              <a:t>80×1 000</a:t>
            </a:r>
            <a:r>
              <a:rPr lang="en-US" altLang="zh-CN"/>
              <a:t>)         </a:t>
            </a:r>
            <a:r>
              <a:rPr lang="en-US" altLang="zh-CN">
                <a:latin typeface="Times New Roman" panose="02020603050405020304" pitchFamily="18" charset="0"/>
                <a:cs typeface="Times New Roman" panose="02020603050405020304" pitchFamily="18" charset="0"/>
              </a:rPr>
              <a:t>80 000</a:t>
            </a:r>
            <a:endParaRPr lang="en-US" altLang="zh-CN"/>
          </a:p>
          <a:p>
            <a:pPr marL="0" indent="0" eaLnBrk="1" hangingPunct="1">
              <a:buNone/>
            </a:pPr>
            <a:r>
              <a:rPr lang="zh-CN" altLang="en-US"/>
              <a:t>      </a:t>
            </a:r>
            <a:r>
              <a:rPr lang="zh-CN" altLang="en-US">
                <a:solidFill>
                  <a:srgbClr val="FF0000"/>
                </a:solidFill>
              </a:rPr>
              <a:t>债券溢价</a:t>
            </a:r>
            <a:r>
              <a:rPr lang="zh-CN" altLang="en-US"/>
              <a:t>                           </a:t>
            </a:r>
            <a:r>
              <a:rPr lang="en-US" altLang="zh-CN">
                <a:latin typeface="Times New Roman" panose="02020603050405020304" pitchFamily="18" charset="0"/>
                <a:cs typeface="Times New Roman" panose="02020603050405020304" pitchFamily="18" charset="0"/>
                <a:sym typeface="+mn-ea"/>
              </a:rPr>
              <a:t>4 000</a:t>
            </a:r>
            <a:r>
              <a:rPr lang="zh-CN" altLang="en-US"/>
              <a:t>              </a:t>
            </a:r>
            <a:endParaRPr lang="en-US" altLang="zh-CN" u="sng"/>
          </a:p>
          <a:p>
            <a:pPr eaLnBrk="1" hangingPunct="1"/>
            <a:endParaRPr lang="en-US" altLang="zh-CN"/>
          </a:p>
          <a:p>
            <a:pPr marL="0" indent="0" eaLnBrk="1" hangingPunct="1">
              <a:buNone/>
            </a:pPr>
            <a:r>
              <a:rPr lang="zh-CN" altLang="en-US" sz="2400" b="1">
                <a:latin typeface="楷体_GB2312" panose="02010609030101010101" pitchFamily="49" charset="-122"/>
                <a:ea typeface="楷体_GB2312" panose="02010609030101010101" pitchFamily="49" charset="-122"/>
                <a:cs typeface="+mn-ea"/>
              </a:rPr>
              <a:t>借：债权投资</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成本</a:t>
            </a:r>
            <a:r>
              <a:rPr lang="zh-CN" altLang="en-US"/>
              <a:t>         </a:t>
            </a:r>
            <a:r>
              <a:rPr lang="en-US" altLang="zh-CN">
                <a:latin typeface="Times New Roman" panose="02020603050405020304" pitchFamily="18" charset="0"/>
                <a:cs typeface="Times New Roman" panose="02020603050405020304" pitchFamily="18" charset="0"/>
              </a:rPr>
              <a:t>80 000</a:t>
            </a:r>
            <a:r>
              <a:rPr lang="en-US" altLang="zh-CN"/>
              <a:t>     </a:t>
            </a:r>
          </a:p>
          <a:p>
            <a:pPr marL="0" indent="0" eaLnBrk="1" hangingPunct="1">
              <a:buNone/>
            </a:pPr>
            <a:r>
              <a:rPr lang="en-US" altLang="zh-CN"/>
              <a:t>           </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利息调整</a:t>
            </a:r>
            <a:r>
              <a:rPr lang="zh-CN" altLang="en-US"/>
              <a:t>      </a:t>
            </a:r>
            <a:r>
              <a:rPr lang="en-US" altLang="zh-CN">
                <a:latin typeface="Times New Roman" panose="02020603050405020304" pitchFamily="18" charset="0"/>
                <a:cs typeface="Times New Roman" panose="02020603050405020304" pitchFamily="18" charset="0"/>
              </a:rPr>
              <a:t> 4 000</a:t>
            </a:r>
            <a:endParaRPr lang="en-US" altLang="zh-CN"/>
          </a:p>
          <a:p>
            <a:pPr marL="0" indent="0" eaLnBrk="1" hangingPunct="1">
              <a:buNone/>
            </a:pPr>
            <a:r>
              <a:rPr lang="en-US" altLang="zh-CN"/>
              <a:t>      </a:t>
            </a:r>
            <a:r>
              <a:rPr lang="zh-CN" altLang="en-US" sz="2400" b="1">
                <a:latin typeface="楷体_GB2312" panose="02010609030101010101" pitchFamily="49" charset="-122"/>
                <a:ea typeface="楷体_GB2312" panose="02010609030101010101" pitchFamily="49" charset="-122"/>
                <a:cs typeface="+mn-ea"/>
              </a:rPr>
              <a:t>贷：其他货币资金 </a:t>
            </a:r>
            <a:r>
              <a:rPr lang="zh-CN" altLang="en-US"/>
              <a:t>           </a:t>
            </a:r>
            <a:r>
              <a:rPr lang="en-US" altLang="zh-CN">
                <a:latin typeface="Times New Roman" panose="02020603050405020304" pitchFamily="18" charset="0"/>
                <a:cs typeface="Times New Roman" panose="02020603050405020304" pitchFamily="18" charset="0"/>
              </a:rPr>
              <a:t> 84 000</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17763" name="Rectangle 3"/>
          <p:cNvSpPr>
            <a:spLocks noGrp="1" noChangeArrowheads="1"/>
          </p:cNvSpPr>
          <p:nvPr>
            <p:ph idx="1"/>
          </p:nvPr>
        </p:nvSpPr>
        <p:spPr/>
        <p:txBody>
          <a:bodyPr/>
          <a:lstStyle/>
          <a:p>
            <a:pPr marL="0" indent="0" eaLnBrk="1" hangingPunct="1">
              <a:buNone/>
            </a:pPr>
            <a:r>
              <a:rPr lang="zh-CN" altLang="en-US"/>
              <a:t>（</a:t>
            </a:r>
            <a:r>
              <a:rPr lang="en-US" altLang="zh-CN">
                <a:latin typeface="黑体" panose="02010609060101010101" pitchFamily="2" charset="-122"/>
              </a:rPr>
              <a:t>2</a:t>
            </a:r>
            <a:r>
              <a:rPr lang="zh-CN" altLang="en-US">
                <a:latin typeface="黑体" panose="02010609060101010101" pitchFamily="2" charset="-122"/>
              </a:rPr>
              <a:t>）年度终了按实际利率法计算。该债券属于分期收取利息，到期一次收回本金和最后一期利息的，</a:t>
            </a:r>
          </a:p>
          <a:p>
            <a:pPr marL="0" indent="0" eaLnBrk="1" hangingPunct="1">
              <a:buNone/>
            </a:pPr>
            <a:r>
              <a:rPr lang="zh-CN" altLang="en-US">
                <a:latin typeface="黑体" panose="02010609060101010101" pitchFamily="2" charset="-122"/>
              </a:rPr>
              <a:t>应当根据</a:t>
            </a:r>
            <a:r>
              <a:rPr lang="zh-CN" altLang="en-US">
                <a:latin typeface="Arial" panose="020B0604020202020204" pitchFamily="34" charset="0"/>
              </a:rPr>
              <a:t>“</a:t>
            </a:r>
            <a:r>
              <a:rPr lang="zh-CN" altLang="en-US">
                <a:latin typeface="黑体" panose="02010609060101010101" pitchFamily="2" charset="-122"/>
              </a:rPr>
              <a:t>债券投资成本＝债券到期应收本金的贴现值＋各期收取的债券利息的贴现值</a:t>
            </a:r>
            <a:r>
              <a:rPr lang="zh-CN" altLang="en-US">
                <a:latin typeface="Arial" panose="020B0604020202020204" pitchFamily="34" charset="0"/>
              </a:rPr>
              <a:t>”</a:t>
            </a:r>
            <a:r>
              <a:rPr lang="zh-CN" altLang="en-US">
                <a:latin typeface="黑体" panose="02010609060101010101" pitchFamily="2" charset="-122"/>
              </a:rPr>
              <a:t>，并采用</a:t>
            </a:r>
            <a:r>
              <a:rPr lang="zh-CN" altLang="en-US">
                <a:latin typeface="Arial" panose="020B0604020202020204" pitchFamily="34" charset="0"/>
              </a:rPr>
              <a:t>“</a:t>
            </a:r>
            <a:r>
              <a:rPr lang="zh-CN" altLang="en-US">
                <a:latin typeface="黑体" panose="02010609060101010101" pitchFamily="2" charset="-122"/>
              </a:rPr>
              <a:t>插入法</a:t>
            </a:r>
            <a:r>
              <a:rPr lang="zh-CN" altLang="en-US">
                <a:latin typeface="Arial" panose="020B0604020202020204" pitchFamily="34" charset="0"/>
              </a:rPr>
              <a:t>”</a:t>
            </a:r>
            <a:r>
              <a:rPr lang="zh-CN" altLang="en-US">
                <a:latin typeface="黑体" panose="02010609060101010101" pitchFamily="2" charset="-122"/>
              </a:rPr>
              <a:t>计算得出</a:t>
            </a:r>
          </a:p>
          <a:p>
            <a:pPr marL="0" indent="0" eaLnBrk="1" hangingPunct="1">
              <a:buNone/>
            </a:pPr>
            <a:endParaRPr lang="zh-CN" altLang="en-US">
              <a:latin typeface="黑体" panose="02010609060101010101" pitchFamily="2" charset="-122"/>
            </a:endParaRPr>
          </a:p>
          <a:p>
            <a:pPr marL="0" indent="0" eaLnBrk="1" hangingPunct="1">
              <a:buNone/>
            </a:pPr>
            <a:r>
              <a:rPr lang="zh-CN" altLang="en-US">
                <a:latin typeface="黑体" panose="02010609060101010101" pitchFamily="2" charset="-122"/>
              </a:rPr>
              <a:t>猜测：持有期内债券的实际利率应为多少？</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idx="1"/>
          </p:nvPr>
        </p:nvSpPr>
        <p:spPr/>
        <p:txBody>
          <a:bodyPr/>
          <a:lstStyle/>
          <a:p>
            <a:pPr marL="0" indent="0" eaLnBrk="1" hangingPunct="1">
              <a:lnSpc>
                <a:spcPct val="110000"/>
              </a:lnSpc>
              <a:buNone/>
              <a:defRPr/>
            </a:pPr>
            <a:r>
              <a:rPr lang="zh-CN" altLang="en-US" dirty="0">
                <a:latin typeface="黑体" panose="02010609060101010101" pitchFamily="2" charset="-122"/>
                <a:ea typeface="黑体" panose="02010609060101010101" pitchFamily="2" charset="-122"/>
              </a:rPr>
              <a:t>根据上述公式，先按</a:t>
            </a:r>
            <a:r>
              <a:rPr lang="en-US" altLang="zh-CN" dirty="0">
                <a:latin typeface="Times New Roman" panose="02020603050405020304" pitchFamily="18" charset="0"/>
                <a:cs typeface="Times New Roman" panose="02020603050405020304" pitchFamily="18" charset="0"/>
              </a:rPr>
              <a:t>10</a:t>
            </a:r>
            <a:r>
              <a:rPr lang="zh-CN" altLang="en-US" dirty="0">
                <a:latin typeface="Times New Roman" panose="02020603050405020304" pitchFamily="18" charset="0"/>
                <a:cs typeface="Times New Roman" panose="02020603050405020304" pitchFamily="18" charset="0"/>
              </a:rPr>
              <a:t>％</a:t>
            </a:r>
            <a:r>
              <a:rPr lang="zh-CN" altLang="en-US" dirty="0">
                <a:latin typeface="黑体" panose="02010609060101010101" pitchFamily="2" charset="-122"/>
                <a:ea typeface="黑体" panose="02010609060101010101" pitchFamily="2" charset="-122"/>
              </a:rPr>
              <a:t>的利率测试</a:t>
            </a:r>
            <a:r>
              <a:rPr lang="zh-CN" altLang="en-US" dirty="0">
                <a:latin typeface="黑体" panose="02010609060101010101" pitchFamily="2" charset="-122"/>
              </a:rPr>
              <a:t>：</a:t>
            </a:r>
          </a:p>
          <a:p>
            <a:pPr marL="0" indent="0" eaLnBrk="1" hangingPunct="1">
              <a:lnSpc>
                <a:spcPct val="110000"/>
              </a:lnSpc>
              <a:buNone/>
              <a:defRPr/>
            </a:pPr>
            <a:r>
              <a:rPr lang="en-US" altLang="zh-CN" sz="2400" dirty="0">
                <a:latin typeface="Times New Roman" panose="02020603050405020304" pitchFamily="18" charset="0"/>
                <a:cs typeface="Times New Roman" panose="02020603050405020304" pitchFamily="18" charset="0"/>
              </a:rPr>
              <a:t>80 000×0.620921＋9 600×3.790787＝86 065&gt;84 000</a:t>
            </a:r>
            <a:r>
              <a:rPr lang="en-US" altLang="zh-CN" sz="2400" dirty="0">
                <a:latin typeface="黑体" panose="02010609060101010101" pitchFamily="2" charset="-122"/>
              </a:rPr>
              <a:t>(</a:t>
            </a:r>
            <a:r>
              <a:rPr lang="zh-CN" altLang="en-US" sz="2400" dirty="0">
                <a:latin typeface="黑体" panose="02010609060101010101" pitchFamily="2" charset="-122"/>
              </a:rPr>
              <a:t>注</a:t>
            </a:r>
            <a:r>
              <a:rPr lang="en-US" altLang="zh-CN" sz="2400" dirty="0">
                <a:latin typeface="Times New Roman" panose="02020603050405020304" pitchFamily="18" charset="0"/>
                <a:cs typeface="Times New Roman" panose="02020603050405020304" pitchFamily="18" charset="0"/>
              </a:rPr>
              <a:t>1</a:t>
            </a:r>
            <a:r>
              <a:rPr lang="en-US" altLang="zh-CN" sz="2400" dirty="0">
                <a:latin typeface="黑体" panose="02010609060101010101" pitchFamily="2" charset="-122"/>
              </a:rPr>
              <a:t>)</a:t>
            </a:r>
          </a:p>
          <a:p>
            <a:pPr marL="0" indent="0" eaLnBrk="1" hangingPunct="1">
              <a:lnSpc>
                <a:spcPct val="110000"/>
              </a:lnSpc>
              <a:buNone/>
              <a:defRPr/>
            </a:pPr>
            <a:endParaRPr lang="en-US" altLang="zh-CN" dirty="0">
              <a:latin typeface="黑体" panose="02010609060101010101" pitchFamily="2" charset="-122"/>
            </a:endParaRPr>
          </a:p>
          <a:p>
            <a:pPr marL="0" indent="0" eaLnBrk="1" hangingPunct="1">
              <a:lnSpc>
                <a:spcPct val="110000"/>
              </a:lnSpc>
              <a:buNone/>
              <a:defRPr/>
            </a:pPr>
            <a:r>
              <a:rPr lang="zh-CN" altLang="en-US" dirty="0">
                <a:effectLst/>
                <a:latin typeface="黑体" panose="02010609060101010101" pitchFamily="2" charset="-122"/>
                <a:ea typeface="黑体" panose="02010609060101010101" pitchFamily="2" charset="-122"/>
              </a:rPr>
              <a:t>再按</a:t>
            </a:r>
            <a:r>
              <a:rPr lang="en-US" altLang="zh-CN" dirty="0">
                <a:effectLst/>
                <a:latin typeface="Times New Roman" panose="02020603050405020304" pitchFamily="18" charset="0"/>
                <a:cs typeface="Times New Roman" panose="02020603050405020304" pitchFamily="18" charset="0"/>
              </a:rPr>
              <a:t>11％</a:t>
            </a:r>
            <a:r>
              <a:rPr lang="zh-CN" altLang="en-US" dirty="0">
                <a:effectLst/>
                <a:latin typeface="黑体" panose="02010609060101010101" pitchFamily="2" charset="-122"/>
                <a:ea typeface="黑体" panose="02010609060101010101" pitchFamily="2" charset="-122"/>
              </a:rPr>
              <a:t>的利率测试</a:t>
            </a:r>
            <a:r>
              <a:rPr lang="zh-CN" altLang="en-US" dirty="0">
                <a:effectLst/>
                <a:latin typeface="黑体" panose="02010609060101010101" pitchFamily="2" charset="-122"/>
              </a:rPr>
              <a:t>：</a:t>
            </a:r>
            <a:endParaRPr lang="zh-CN" altLang="en-US" dirty="0">
              <a:effectLst>
                <a:outerShdw blurRad="38100" dist="38100" dir="2700000" algn="tl">
                  <a:srgbClr val="C0C0C0"/>
                </a:outerShdw>
              </a:effectLst>
              <a:latin typeface="黑体" panose="02010609060101010101" pitchFamily="2" charset="-122"/>
            </a:endParaRPr>
          </a:p>
          <a:p>
            <a:pPr marL="0" indent="0" eaLnBrk="1" hangingPunct="1">
              <a:lnSpc>
                <a:spcPct val="110000"/>
              </a:lnSpc>
              <a:buNone/>
              <a:defRPr/>
            </a:pPr>
            <a:r>
              <a:rPr lang="en-US" altLang="zh-CN" sz="2400" dirty="0">
                <a:latin typeface="Times New Roman" panose="02020603050405020304" pitchFamily="18" charset="0"/>
                <a:cs typeface="Times New Roman" panose="02020603050405020304" pitchFamily="18" charset="0"/>
              </a:rPr>
              <a:t>80 000×0.593451＋9 600×3.695897＝82 957&lt;84 000(</a:t>
            </a:r>
            <a:r>
              <a:rPr sz="2400" dirty="0"/>
              <a:t>注</a:t>
            </a:r>
            <a:r>
              <a:rPr lang="en-US" altLang="zh-CN" sz="2400" dirty="0">
                <a:latin typeface="Times New Roman" panose="02020603050405020304" pitchFamily="18" charset="0"/>
                <a:cs typeface="Times New Roman" panose="02020603050405020304" pitchFamily="18" charset="0"/>
              </a:rPr>
              <a:t>2)</a:t>
            </a:r>
          </a:p>
        </p:txBody>
      </p:sp>
      <p:sp>
        <p:nvSpPr>
          <p:cNvPr id="118787" name="Rectangle 3"/>
          <p:cNvSpPr>
            <a:spLocks noGrp="1" noChangeArrowheads="1"/>
          </p:cNvSpPr>
          <p:nvPr>
            <p:ph type="title"/>
          </p:nvPr>
        </p:nvSpPr>
        <p:spPr>
          <a:noFill/>
        </p:spPr>
        <p:txBody>
          <a:bodyPr/>
          <a:lstStyle/>
          <a:p>
            <a:pPr eaLnBrk="1" hangingPunct="1"/>
            <a:r>
              <a:rPr lang="zh-CN" altLang="en-US"/>
              <a:t>实际利率的计算</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19810" name="Rectangle 2"/>
          <p:cNvSpPr>
            <a:spLocks noGrp="1" noChangeArrowheads="1"/>
          </p:cNvSpPr>
          <p:nvPr>
            <p:ph idx="1"/>
          </p:nvPr>
        </p:nvSpPr>
        <p:spPr/>
        <p:txBody>
          <a:bodyPr/>
          <a:lstStyle/>
          <a:p>
            <a:pPr eaLnBrk="1" hangingPunct="1">
              <a:lnSpc>
                <a:spcPct val="100000"/>
              </a:lnSpc>
            </a:pPr>
            <a:r>
              <a:rPr lang="zh-CN" altLang="en-US" sz="2400">
                <a:latin typeface="楷体_GB2312" panose="02010609030101010101" pitchFamily="49" charset="-122"/>
                <a:ea typeface="楷体_GB2312" panose="02010609030101010101" pitchFamily="49" charset="-122"/>
              </a:rPr>
              <a:t>注</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0.620921</a:t>
            </a:r>
            <a:r>
              <a:rPr lang="zh-CN" altLang="en-US" sz="2400">
                <a:latin typeface="楷体_GB2312" panose="02010609030101010101" pitchFamily="49" charset="-122"/>
                <a:ea typeface="楷体_GB2312" panose="02010609030101010101" pitchFamily="49" charset="-122"/>
              </a:rPr>
              <a:t>是根据</a:t>
            </a:r>
            <a:r>
              <a:rPr lang="en-US" altLang="zh-CN" sz="2400">
                <a:latin typeface="楷体_GB2312" panose="02010609030101010101" pitchFamily="49" charset="-122"/>
                <a:ea typeface="楷体_GB2312" panose="02010609030101010101" pitchFamily="49" charset="-122"/>
              </a:rPr>
              <a:t>"</a:t>
            </a:r>
            <a:r>
              <a:rPr lang="zh-CN" altLang="en-US" sz="2400">
                <a:latin typeface="楷体_GB2312" panose="02010609030101010101" pitchFamily="49" charset="-122"/>
                <a:ea typeface="楷体_GB2312" panose="02010609030101010101" pitchFamily="49" charset="-122"/>
              </a:rPr>
              <a:t>期终</a:t>
            </a:r>
            <a:r>
              <a:rPr lang="en-US" altLang="zh-CN" sz="2400">
                <a:latin typeface="楷体_GB2312" panose="02010609030101010101" pitchFamily="49" charset="-122"/>
                <a:ea typeface="楷体_GB2312" panose="02010609030101010101" pitchFamily="49" charset="-122"/>
              </a:rPr>
              <a:t>1</a:t>
            </a:r>
            <a:r>
              <a:rPr lang="zh-CN" altLang="en-US" sz="2400">
                <a:latin typeface="楷体_GB2312" panose="02010609030101010101" pitchFamily="49" charset="-122"/>
                <a:ea typeface="楷体_GB2312" panose="02010609030101010101" pitchFamily="49" charset="-122"/>
              </a:rPr>
              <a:t>元的现值表</a:t>
            </a:r>
            <a:r>
              <a:rPr lang="en-US" altLang="zh-CN" sz="2400">
                <a:latin typeface="楷体_GB2312" panose="02010609030101010101" pitchFamily="49" charset="-122"/>
                <a:ea typeface="楷体_GB2312" panose="02010609030101010101" pitchFamily="49" charset="-122"/>
              </a:rPr>
              <a:t>"</a:t>
            </a:r>
            <a:r>
              <a:rPr lang="zh-CN" altLang="en-US" sz="2400">
                <a:latin typeface="楷体_GB2312" panose="02010609030101010101" pitchFamily="49" charset="-122"/>
                <a:ea typeface="楷体_GB2312" panose="02010609030101010101" pitchFamily="49" charset="-122"/>
              </a:rPr>
              <a:t>查得的五年后收取的</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a:latin typeface="楷体_GB2312" panose="02010609030101010101" pitchFamily="49" charset="-122"/>
                <a:ea typeface="楷体_GB2312" panose="02010609030101010101" pitchFamily="49" charset="-122"/>
              </a:rPr>
              <a:t>元按</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10％</a:t>
            </a:r>
            <a:r>
              <a:rPr lang="zh-CN" altLang="en-US" sz="2400">
                <a:latin typeface="楷体_GB2312" panose="02010609030101010101" pitchFamily="49" charset="-122"/>
                <a:ea typeface="楷体_GB2312" panose="02010609030101010101" pitchFamily="49" charset="-122"/>
              </a:rPr>
              <a:t>利率贴现的贴现值；</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3.790787</a:t>
            </a:r>
            <a:r>
              <a:rPr lang="zh-CN" altLang="en-US" sz="2400">
                <a:latin typeface="楷体_GB2312" panose="02010609030101010101" pitchFamily="49" charset="-122"/>
                <a:ea typeface="楷体_GB2312" panose="02010609030101010101" pitchFamily="49" charset="-122"/>
              </a:rPr>
              <a:t>是根据</a:t>
            </a:r>
            <a:r>
              <a:rPr lang="en-US" altLang="zh-CN" sz="2400">
                <a:latin typeface="楷体_GB2312" panose="02010609030101010101" pitchFamily="49" charset="-122"/>
                <a:ea typeface="楷体_GB2312" panose="02010609030101010101" pitchFamily="49" charset="-122"/>
              </a:rPr>
              <a:t>"</a:t>
            </a:r>
            <a:r>
              <a:rPr lang="zh-CN" altLang="en-US" sz="2400">
                <a:latin typeface="楷体_GB2312" panose="02010609030101010101" pitchFamily="49" charset="-122"/>
                <a:ea typeface="楷体_GB2312" panose="02010609030101010101" pitchFamily="49" charset="-122"/>
              </a:rPr>
              <a:t>年金</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1</a:t>
            </a:r>
            <a:r>
              <a:rPr sz="2400">
                <a:latin typeface="楷体_GB2312" panose="02010609030101010101" pitchFamily="49" charset="-122"/>
                <a:ea typeface="楷体_GB2312" panose="02010609030101010101" pitchFamily="49" charset="-122"/>
              </a:rPr>
              <a:t>元</a:t>
            </a:r>
            <a:r>
              <a:rPr lang="zh-CN" altLang="en-US" sz="2400">
                <a:latin typeface="楷体_GB2312" panose="02010609030101010101" pitchFamily="49" charset="-122"/>
                <a:ea typeface="楷体_GB2312" panose="02010609030101010101" pitchFamily="49" charset="-122"/>
              </a:rPr>
              <a:t>的现值表</a:t>
            </a:r>
            <a:r>
              <a:rPr lang="en-US" altLang="zh-CN" sz="2400">
                <a:latin typeface="楷体_GB2312" panose="02010609030101010101" pitchFamily="49" charset="-122"/>
                <a:ea typeface="楷体_GB2312" panose="02010609030101010101" pitchFamily="49" charset="-122"/>
              </a:rPr>
              <a:t>"</a:t>
            </a:r>
            <a:r>
              <a:rPr lang="zh-CN" altLang="en-US" sz="2400">
                <a:latin typeface="楷体_GB2312" panose="02010609030101010101" pitchFamily="49" charset="-122"/>
                <a:ea typeface="楷体_GB2312" panose="02010609030101010101" pitchFamily="49" charset="-122"/>
              </a:rPr>
              <a:t>查得的五年中每年收取的</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a:latin typeface="楷体_GB2312" panose="02010609030101010101" pitchFamily="49" charset="-122"/>
                <a:ea typeface="楷体_GB2312" panose="02010609030101010101" pitchFamily="49" charset="-122"/>
              </a:rPr>
              <a:t>元按</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10％</a:t>
            </a:r>
            <a:r>
              <a:rPr lang="zh-CN" altLang="en-US" sz="2400">
                <a:latin typeface="楷体_GB2312" panose="02010609030101010101" pitchFamily="49" charset="-122"/>
                <a:ea typeface="楷体_GB2312" panose="02010609030101010101" pitchFamily="49" charset="-122"/>
              </a:rPr>
              <a:t>的利率贴现的贴现值</a:t>
            </a:r>
          </a:p>
          <a:p>
            <a:pPr eaLnBrk="1" hangingPunct="1">
              <a:lnSpc>
                <a:spcPct val="100000"/>
              </a:lnSpc>
            </a:pPr>
            <a:r>
              <a:rPr lang="zh-CN" altLang="en-US" sz="2400">
                <a:latin typeface="楷体_GB2312" panose="02010609030101010101" pitchFamily="49" charset="-122"/>
                <a:ea typeface="楷体_GB2312" panose="02010609030101010101" pitchFamily="49" charset="-122"/>
              </a:rPr>
              <a:t>注</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2：0.593451</a:t>
            </a:r>
            <a:r>
              <a:rPr lang="zh-CN" altLang="en-US" sz="2400">
                <a:latin typeface="楷体_GB2312" panose="02010609030101010101" pitchFamily="49" charset="-122"/>
                <a:ea typeface="楷体_GB2312" panose="02010609030101010101" pitchFamily="49" charset="-122"/>
              </a:rPr>
              <a:t>是根据</a:t>
            </a:r>
            <a:r>
              <a:rPr lang="en-US" altLang="zh-CN" sz="2400">
                <a:latin typeface="楷体_GB2312" panose="02010609030101010101" pitchFamily="49" charset="-122"/>
                <a:ea typeface="楷体_GB2312" panose="02010609030101010101" pitchFamily="49" charset="-122"/>
              </a:rPr>
              <a:t>"</a:t>
            </a:r>
            <a:r>
              <a:rPr lang="zh-CN" altLang="en-US" sz="2400">
                <a:latin typeface="楷体_GB2312" panose="02010609030101010101" pitchFamily="49" charset="-122"/>
                <a:ea typeface="楷体_GB2312" panose="02010609030101010101" pitchFamily="49" charset="-122"/>
              </a:rPr>
              <a:t>期终</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a:latin typeface="楷体_GB2312" panose="02010609030101010101" pitchFamily="49" charset="-122"/>
                <a:ea typeface="楷体_GB2312" panose="02010609030101010101" pitchFamily="49" charset="-122"/>
              </a:rPr>
              <a:t>元的现值表</a:t>
            </a:r>
            <a:r>
              <a:rPr lang="en-US" altLang="zh-CN" sz="2400">
                <a:latin typeface="楷体_GB2312" panose="02010609030101010101" pitchFamily="49" charset="-122"/>
                <a:ea typeface="楷体_GB2312" panose="02010609030101010101" pitchFamily="49" charset="-122"/>
              </a:rPr>
              <a:t>"</a:t>
            </a:r>
            <a:r>
              <a:rPr lang="zh-CN" altLang="en-US" sz="2400">
                <a:latin typeface="楷体_GB2312" panose="02010609030101010101" pitchFamily="49" charset="-122"/>
                <a:ea typeface="楷体_GB2312" panose="02010609030101010101" pitchFamily="49" charset="-122"/>
              </a:rPr>
              <a:t>查得的五年后收取的</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a:latin typeface="楷体_GB2312" panose="02010609030101010101" pitchFamily="49" charset="-122"/>
                <a:ea typeface="楷体_GB2312" panose="02010609030101010101" pitchFamily="49" charset="-122"/>
              </a:rPr>
              <a:t>元按</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11％</a:t>
            </a:r>
            <a:r>
              <a:rPr lang="zh-CN" altLang="en-US" sz="2400">
                <a:latin typeface="楷体_GB2312" panose="02010609030101010101" pitchFamily="49" charset="-122"/>
                <a:ea typeface="楷体_GB2312" panose="02010609030101010101" pitchFamily="49" charset="-122"/>
              </a:rPr>
              <a:t>利率贴现的贴现值；</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3.695897</a:t>
            </a:r>
            <a:r>
              <a:rPr lang="zh-CN" altLang="en-US" sz="2400">
                <a:latin typeface="楷体_GB2312" panose="02010609030101010101" pitchFamily="49" charset="-122"/>
                <a:ea typeface="楷体_GB2312" panose="02010609030101010101" pitchFamily="49" charset="-122"/>
              </a:rPr>
              <a:t>是根据</a:t>
            </a:r>
            <a:r>
              <a:rPr lang="en-US" altLang="zh-CN" sz="2400">
                <a:latin typeface="楷体_GB2312" panose="02010609030101010101" pitchFamily="49" charset="-122"/>
                <a:ea typeface="楷体_GB2312" panose="02010609030101010101" pitchFamily="49" charset="-122"/>
              </a:rPr>
              <a:t>"</a:t>
            </a:r>
            <a:r>
              <a:rPr lang="zh-CN" altLang="en-US" sz="2400">
                <a:latin typeface="楷体_GB2312" panose="02010609030101010101" pitchFamily="49" charset="-122"/>
                <a:ea typeface="楷体_GB2312" panose="02010609030101010101" pitchFamily="49" charset="-122"/>
              </a:rPr>
              <a:t>年金</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a:latin typeface="楷体_GB2312" panose="02010609030101010101" pitchFamily="49" charset="-122"/>
                <a:ea typeface="楷体_GB2312" panose="02010609030101010101" pitchFamily="49" charset="-122"/>
              </a:rPr>
              <a:t>元的现值表</a:t>
            </a:r>
            <a:r>
              <a:rPr lang="en-US" altLang="zh-CN" sz="2400">
                <a:latin typeface="楷体_GB2312" panose="02010609030101010101" pitchFamily="49" charset="-122"/>
                <a:ea typeface="楷体_GB2312" panose="02010609030101010101" pitchFamily="49" charset="-122"/>
              </a:rPr>
              <a:t>"</a:t>
            </a:r>
            <a:r>
              <a:rPr lang="zh-CN" altLang="en-US" sz="2400">
                <a:latin typeface="楷体_GB2312" panose="02010609030101010101" pitchFamily="49" charset="-122"/>
                <a:ea typeface="楷体_GB2312" panose="02010609030101010101" pitchFamily="49" charset="-122"/>
              </a:rPr>
              <a:t>查得的五年中每年收取的</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1</a:t>
            </a:r>
            <a:r>
              <a:rPr lang="zh-CN" altLang="en-US" sz="2400">
                <a:latin typeface="楷体_GB2312" panose="02010609030101010101" pitchFamily="49" charset="-122"/>
                <a:ea typeface="楷体_GB2312" panose="02010609030101010101" pitchFamily="49" charset="-122"/>
              </a:rPr>
              <a:t>元按</a:t>
            </a:r>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11％</a:t>
            </a:r>
            <a:r>
              <a:rPr lang="zh-CN" altLang="en-US" sz="2400">
                <a:latin typeface="楷体_GB2312" panose="02010609030101010101" pitchFamily="49" charset="-122"/>
                <a:ea typeface="楷体_GB2312" panose="02010609030101010101" pitchFamily="49" charset="-122"/>
              </a:rPr>
              <a:t>的利率贴现的贴现值</a:t>
            </a:r>
            <a:r>
              <a:rPr lang="zh-CN" altLang="en-US" sz="2400">
                <a:latin typeface="黑体" panose="02010609060101010101" pitchFamily="2" charset="-122"/>
              </a:rPr>
              <a:t>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9"/>
          <p:cNvSpPr>
            <a:spLocks noGrp="1" noChangeArrowheads="1"/>
          </p:cNvSpPr>
          <p:nvPr>
            <p:ph type="title"/>
          </p:nvPr>
        </p:nvSpPr>
        <p:spPr/>
        <p:txBody>
          <a:bodyPr/>
          <a:lstStyle/>
          <a:p>
            <a:pPr eaLnBrk="1" hangingPunct="1"/>
            <a:r>
              <a:rPr lang="zh-CN" altLang="en-US"/>
              <a:t>插值法</a:t>
            </a:r>
          </a:p>
        </p:txBody>
      </p:sp>
      <p:sp>
        <p:nvSpPr>
          <p:cNvPr id="528387" name="Rectangle 3"/>
          <p:cNvSpPr>
            <a:spLocks noGrp="1" noChangeArrowheads="1"/>
          </p:cNvSpPr>
          <p:nvPr>
            <p:ph type="body" sz="half" idx="1"/>
          </p:nvPr>
        </p:nvSpPr>
        <p:spPr>
          <a:xfrm>
            <a:off x="1193483" y="2006283"/>
            <a:ext cx="3810000" cy="4114800"/>
          </a:xfrm>
        </p:spPr>
        <p:txBody>
          <a:bodyPr/>
          <a:lstStyle/>
          <a:p>
            <a:pPr marL="0" indent="0" eaLnBrk="1" hangingPunct="1">
              <a:buNone/>
              <a:defRPr/>
            </a:pPr>
            <a:r>
              <a:rPr lang="en-US" altLang="zh-CN" sz="2800">
                <a:effectLst/>
                <a:latin typeface="Times New Roman" panose="02020603050405020304" pitchFamily="18" charset="0"/>
                <a:cs typeface="Times New Roman" panose="02020603050405020304" pitchFamily="18" charset="0"/>
              </a:rPr>
              <a:t>86065</a:t>
            </a:r>
            <a:r>
              <a:rPr lang="en-US" altLang="zh-CN" sz="2800">
                <a:effectLst>
                  <a:outerShdw blurRad="38100" dist="38100" dir="2700000" algn="tl">
                    <a:srgbClr val="C0C0C0"/>
                  </a:outerShdw>
                </a:effectLst>
                <a:latin typeface="黑体" panose="02010609060101010101" pitchFamily="2" charset="-122"/>
              </a:rPr>
              <a:t>       </a:t>
            </a:r>
            <a:r>
              <a:rPr lang="en-US" altLang="zh-CN" sz="280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800">
                <a:effectLst/>
                <a:latin typeface="Times New Roman" panose="02020603050405020304" pitchFamily="18" charset="0"/>
                <a:cs typeface="Times New Roman" panose="02020603050405020304" pitchFamily="18" charset="0"/>
              </a:rPr>
              <a:t>10%</a:t>
            </a:r>
            <a:endParaRPr lang="en-US" altLang="zh-CN" sz="2800">
              <a:effectLst>
                <a:outerShdw blurRad="38100" dist="38100" dir="2700000" algn="tl">
                  <a:srgbClr val="C0C0C0"/>
                </a:outerShdw>
              </a:effectLst>
              <a:latin typeface="黑体" panose="02010609060101010101" pitchFamily="2" charset="-122"/>
            </a:endParaRPr>
          </a:p>
          <a:p>
            <a:pPr marL="0" indent="0" eaLnBrk="1" hangingPunct="1">
              <a:buNone/>
              <a:defRPr/>
            </a:pPr>
            <a:r>
              <a:rPr lang="en-US" altLang="zh-CN" sz="2800">
                <a:effectLst/>
                <a:latin typeface="Times New Roman" panose="02020603050405020304" pitchFamily="18" charset="0"/>
                <a:cs typeface="Times New Roman" panose="02020603050405020304" pitchFamily="18" charset="0"/>
              </a:rPr>
              <a:t>84000</a:t>
            </a:r>
            <a:r>
              <a:rPr lang="en-US" altLang="zh-CN" sz="2800">
                <a:effectLst>
                  <a:outerShdw blurRad="38100" dist="38100" dir="2700000" algn="tl">
                    <a:srgbClr val="C0C0C0"/>
                  </a:outerShdw>
                </a:effectLst>
                <a:latin typeface="黑体" panose="02010609060101010101" pitchFamily="2" charset="-122"/>
              </a:rPr>
              <a:t>        </a:t>
            </a:r>
            <a:r>
              <a:rPr lang="en-US" altLang="zh-CN" sz="2800">
                <a:effectLst/>
                <a:latin typeface="Times New Roman" panose="02020603050405020304" pitchFamily="18" charset="0"/>
                <a:cs typeface="Times New Roman" panose="02020603050405020304" pitchFamily="18" charset="0"/>
              </a:rPr>
              <a:t> x</a:t>
            </a:r>
            <a:endParaRPr lang="en-US" altLang="zh-CN" sz="2800">
              <a:effectLst/>
              <a:latin typeface="黑体" panose="02010609060101010101" pitchFamily="2" charset="-122"/>
            </a:endParaRPr>
          </a:p>
          <a:p>
            <a:pPr marL="0" indent="0" eaLnBrk="1" hangingPunct="1">
              <a:buNone/>
              <a:defRPr/>
            </a:pPr>
            <a:r>
              <a:rPr lang="en-US" altLang="zh-CN" sz="2800">
                <a:effectLst/>
                <a:latin typeface="Times New Roman" panose="02020603050405020304" pitchFamily="18" charset="0"/>
                <a:cs typeface="Times New Roman" panose="02020603050405020304" pitchFamily="18" charset="0"/>
              </a:rPr>
              <a:t>82957</a:t>
            </a:r>
            <a:r>
              <a:rPr lang="en-US" altLang="zh-CN" sz="2800">
                <a:effectLst>
                  <a:outerShdw blurRad="38100" dist="38100" dir="2700000" algn="tl">
                    <a:srgbClr val="C0C0C0"/>
                  </a:outerShdw>
                </a:effectLst>
                <a:latin typeface="黑体" panose="02010609060101010101" pitchFamily="2" charset="-122"/>
              </a:rPr>
              <a:t>        </a:t>
            </a:r>
            <a:r>
              <a:rPr lang="en-US" altLang="zh-CN" sz="2800">
                <a:effectLst/>
                <a:latin typeface="Times New Roman" panose="02020603050405020304" pitchFamily="18" charset="0"/>
                <a:cs typeface="Times New Roman" panose="02020603050405020304" pitchFamily="18" charset="0"/>
              </a:rPr>
              <a:t>11%</a:t>
            </a:r>
            <a:endParaRPr lang="en-US" altLang="zh-CN" sz="2800">
              <a:effectLst>
                <a:outerShdw blurRad="38100" dist="38100" dir="2700000" algn="tl">
                  <a:srgbClr val="C0C0C0"/>
                </a:outerShdw>
              </a:effectLst>
              <a:latin typeface="黑体" panose="02010609060101010101" pitchFamily="2" charset="-122"/>
            </a:endParaRPr>
          </a:p>
          <a:p>
            <a:pPr eaLnBrk="1" hangingPunct="1">
              <a:defRPr/>
            </a:pPr>
            <a:endParaRPr lang="en-US" altLang="zh-CN" sz="2800">
              <a:effectLst>
                <a:outerShdw blurRad="38100" dist="38100" dir="2700000" algn="tl">
                  <a:srgbClr val="C0C0C0"/>
                </a:outerShdw>
              </a:effectLst>
              <a:latin typeface="黑体" panose="02010609060101010101" pitchFamily="2" charset="-122"/>
            </a:endParaRPr>
          </a:p>
          <a:p>
            <a:pPr eaLnBrk="1" hangingPunct="1">
              <a:defRPr/>
            </a:pPr>
            <a:endParaRPr lang="en-US" altLang="zh-CN" sz="2800">
              <a:effectLst>
                <a:outerShdw blurRad="38100" dist="38100" dir="2700000" algn="tl">
                  <a:srgbClr val="C0C0C0"/>
                </a:outerShdw>
              </a:effectLst>
              <a:latin typeface="黑体" panose="02010609060101010101" pitchFamily="2" charset="-122"/>
            </a:endParaRPr>
          </a:p>
        </p:txBody>
      </p:sp>
      <p:sp>
        <p:nvSpPr>
          <p:cNvPr id="120836" name="AutoShape 4"/>
          <p:cNvSpPr/>
          <p:nvPr/>
        </p:nvSpPr>
        <p:spPr bwMode="auto">
          <a:xfrm>
            <a:off x="2683193" y="2133600"/>
            <a:ext cx="215900" cy="720725"/>
          </a:xfrm>
          <a:prstGeom prst="rightBrace">
            <a:avLst>
              <a:gd name="adj1" fmla="val 27819"/>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华文新魏"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华文新魏"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华文新魏"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9pPr>
          </a:lstStyle>
          <a:p>
            <a:pPr eaLnBrk="1" hangingPunct="1">
              <a:spcBef>
                <a:spcPct val="0"/>
              </a:spcBef>
              <a:buClrTx/>
              <a:buSzTx/>
              <a:buFontTx/>
              <a:buNone/>
            </a:pPr>
            <a:endParaRPr lang="zh-CN" altLang="en-US" sz="1800" b="0">
              <a:solidFill>
                <a:srgbClr val="000000"/>
              </a:solidFill>
              <a:ea typeface="宋体" panose="02010600030101010101" pitchFamily="2" charset="-122"/>
            </a:endParaRPr>
          </a:p>
        </p:txBody>
      </p:sp>
      <p:sp>
        <p:nvSpPr>
          <p:cNvPr id="120837" name="AutoShape 5"/>
          <p:cNvSpPr/>
          <p:nvPr/>
        </p:nvSpPr>
        <p:spPr bwMode="auto">
          <a:xfrm>
            <a:off x="2987675" y="2205038"/>
            <a:ext cx="71438" cy="1439862"/>
          </a:xfrm>
          <a:prstGeom prst="rightBrace">
            <a:avLst>
              <a:gd name="adj1" fmla="val 167962"/>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华文新魏"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华文新魏"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华文新魏"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9pPr>
          </a:lstStyle>
          <a:p>
            <a:pPr eaLnBrk="1" hangingPunct="1">
              <a:spcBef>
                <a:spcPct val="0"/>
              </a:spcBef>
              <a:buClrTx/>
              <a:buSzTx/>
              <a:buFontTx/>
              <a:buNone/>
            </a:pPr>
            <a:endParaRPr lang="zh-CN" altLang="en-US" sz="1800" b="0">
              <a:solidFill>
                <a:srgbClr val="000000"/>
              </a:solidFill>
              <a:ea typeface="宋体" panose="02010600030101010101" pitchFamily="2" charset="-122"/>
            </a:endParaRPr>
          </a:p>
        </p:txBody>
      </p:sp>
      <p:sp>
        <p:nvSpPr>
          <p:cNvPr id="120838" name="AutoShape 6"/>
          <p:cNvSpPr/>
          <p:nvPr/>
        </p:nvSpPr>
        <p:spPr bwMode="auto">
          <a:xfrm>
            <a:off x="5003800" y="2133600"/>
            <a:ext cx="215900" cy="720725"/>
          </a:xfrm>
          <a:prstGeom prst="rightBrace">
            <a:avLst>
              <a:gd name="adj1" fmla="val 27819"/>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华文新魏"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华文新魏"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华文新魏"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9pPr>
          </a:lstStyle>
          <a:p>
            <a:pPr eaLnBrk="1" hangingPunct="1">
              <a:spcBef>
                <a:spcPct val="0"/>
              </a:spcBef>
              <a:buClrTx/>
              <a:buSzTx/>
              <a:buFontTx/>
              <a:buNone/>
            </a:pPr>
            <a:endParaRPr lang="zh-CN" altLang="en-US" sz="1800" b="0">
              <a:solidFill>
                <a:srgbClr val="000000"/>
              </a:solidFill>
              <a:ea typeface="宋体" panose="02010600030101010101" pitchFamily="2" charset="-122"/>
            </a:endParaRPr>
          </a:p>
        </p:txBody>
      </p:sp>
      <p:sp>
        <p:nvSpPr>
          <p:cNvPr id="120839" name="AutoShape 7"/>
          <p:cNvSpPr/>
          <p:nvPr/>
        </p:nvSpPr>
        <p:spPr bwMode="auto">
          <a:xfrm>
            <a:off x="5292725" y="2133600"/>
            <a:ext cx="71438" cy="1439863"/>
          </a:xfrm>
          <a:prstGeom prst="rightBrace">
            <a:avLst>
              <a:gd name="adj1" fmla="val 167962"/>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华文新魏"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华文新魏"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华文新魏"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9pPr>
          </a:lstStyle>
          <a:p>
            <a:pPr eaLnBrk="1" hangingPunct="1">
              <a:spcBef>
                <a:spcPct val="0"/>
              </a:spcBef>
              <a:buClrTx/>
              <a:buSzTx/>
              <a:buFontTx/>
              <a:buNone/>
            </a:pPr>
            <a:endParaRPr lang="zh-CN" altLang="en-US" sz="1800" b="0">
              <a:solidFill>
                <a:srgbClr val="000000"/>
              </a:solidFill>
              <a:ea typeface="宋体" panose="02010600030101010101" pitchFamily="2" charset="-122"/>
            </a:endParaRPr>
          </a:p>
        </p:txBody>
      </p:sp>
      <p:graphicFrame>
        <p:nvGraphicFramePr>
          <p:cNvPr id="120840" name="Object 8"/>
          <p:cNvGraphicFramePr>
            <a:graphicFrameLocks noGrp="1" noChangeAspect="1"/>
          </p:cNvGraphicFramePr>
          <p:nvPr>
            <p:ph sz="half" idx="2"/>
          </p:nvPr>
        </p:nvGraphicFramePr>
        <p:xfrm>
          <a:off x="1554163" y="4331971"/>
          <a:ext cx="3810000" cy="837565"/>
        </p:xfrm>
        <a:graphic>
          <a:graphicData uri="http://schemas.openxmlformats.org/presentationml/2006/ole">
            <mc:AlternateContent xmlns:mc="http://schemas.openxmlformats.org/markup-compatibility/2006">
              <mc:Choice xmlns:v="urn:schemas-microsoft-com:vml" Requires="v">
                <p:oleObj spid="_x0000_s120872" name="Equation" r:id="rId3" imgW="1790700" imgH="393700" progId="Equation.DSMT4">
                  <p:embed/>
                </p:oleObj>
              </mc:Choice>
              <mc:Fallback>
                <p:oleObj name="Equation" r:id="rId3" imgW="1790700" imgH="393700" progId="Equation.DSMT4">
                  <p:embed/>
                  <p:pic>
                    <p:nvPicPr>
                      <p:cNvPr id="0" name="Object 8"/>
                      <p:cNvPicPr>
                        <a:picLocks noChangeAspect="1" noChangeArrowheads="1"/>
                      </p:cNvPicPr>
                      <p:nvPr/>
                    </p:nvPicPr>
                    <p:blipFill>
                      <a:blip r:embed="rId4"/>
                      <a:srcRect/>
                      <a:stretch>
                        <a:fillRect/>
                      </a:stretch>
                    </p:blipFill>
                    <p:spPr bwMode="auto">
                      <a:xfrm>
                        <a:off x="1554163" y="4331971"/>
                        <a:ext cx="38100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pPr eaLnBrk="1" hangingPunct="1"/>
            <a:r>
              <a:rPr lang="zh-CN" altLang="en-US"/>
              <a:t>实际利率</a:t>
            </a:r>
          </a:p>
        </p:txBody>
      </p:sp>
      <p:sp>
        <p:nvSpPr>
          <p:cNvPr id="529411" name="Rectangle 3"/>
          <p:cNvSpPr>
            <a:spLocks noGrp="1" noChangeArrowheads="1"/>
          </p:cNvSpPr>
          <p:nvPr>
            <p:ph idx="1"/>
          </p:nvPr>
        </p:nvSpPr>
        <p:spPr/>
        <p:txBody>
          <a:bodyPr/>
          <a:lstStyle/>
          <a:p>
            <a:pPr marL="0" indent="0" eaLnBrk="1" hangingPunct="1">
              <a:buNone/>
              <a:defRPr/>
            </a:pPr>
            <a:r>
              <a:rPr lang="zh-CN" altLang="en-US">
                <a:effectLst/>
                <a:latin typeface="黑体" panose="02010609060101010101" pitchFamily="2" charset="-122"/>
                <a:ea typeface="黑体" panose="02010609060101010101" pitchFamily="2" charset="-122"/>
              </a:rPr>
              <a:t>根据插入法计算实际利率</a:t>
            </a:r>
          </a:p>
          <a:p>
            <a:pPr marL="0" indent="0" eaLnBrk="1" hangingPunct="1">
              <a:buNone/>
              <a:defRPr/>
            </a:pPr>
            <a:r>
              <a:rPr lang="zh-CN" altLang="en-US">
                <a:effectLst/>
                <a:latin typeface="Times New Roman" panose="02020603050405020304" pitchFamily="18" charset="0"/>
                <a:cs typeface="Times New Roman" panose="02020603050405020304" pitchFamily="18" charset="0"/>
              </a:rPr>
              <a:t>＝</a:t>
            </a:r>
            <a:r>
              <a:rPr lang="en-US" altLang="zh-CN">
                <a:effectLst/>
                <a:latin typeface="Times New Roman" panose="02020603050405020304" pitchFamily="18" charset="0"/>
                <a:cs typeface="Times New Roman" panose="02020603050405020304" pitchFamily="18" charset="0"/>
              </a:rPr>
              <a:t>10</a:t>
            </a:r>
            <a:r>
              <a:rPr lang="zh-CN" altLang="en-US">
                <a:effectLst/>
                <a:latin typeface="Times New Roman" panose="02020603050405020304" pitchFamily="18" charset="0"/>
                <a:cs typeface="Times New Roman" panose="02020603050405020304" pitchFamily="18" charset="0"/>
              </a:rPr>
              <a:t>％＋</a:t>
            </a:r>
            <a:r>
              <a:rPr lang="en-US" altLang="zh-CN">
                <a:effectLst/>
                <a:latin typeface="Times New Roman" panose="02020603050405020304" pitchFamily="18" charset="0"/>
                <a:cs typeface="Times New Roman" panose="02020603050405020304" pitchFamily="18" charset="0"/>
              </a:rPr>
              <a:t>(11</a:t>
            </a:r>
            <a:r>
              <a:rPr lang="zh-CN" altLang="en-US">
                <a:effectLst/>
                <a:latin typeface="Times New Roman" panose="02020603050405020304" pitchFamily="18" charset="0"/>
                <a:cs typeface="Times New Roman" panose="02020603050405020304" pitchFamily="18" charset="0"/>
              </a:rPr>
              <a:t>％－</a:t>
            </a:r>
            <a:r>
              <a:rPr lang="en-US" altLang="zh-CN">
                <a:effectLst/>
                <a:latin typeface="Times New Roman" panose="02020603050405020304" pitchFamily="18" charset="0"/>
                <a:cs typeface="Times New Roman" panose="02020603050405020304" pitchFamily="18" charset="0"/>
              </a:rPr>
              <a:t>10</a:t>
            </a:r>
            <a:r>
              <a:rPr lang="zh-CN" altLang="en-US">
                <a:effectLst/>
                <a:latin typeface="Times New Roman" panose="02020603050405020304" pitchFamily="18" charset="0"/>
                <a:cs typeface="Times New Roman" panose="02020603050405020304" pitchFamily="18" charset="0"/>
              </a:rPr>
              <a:t>％</a:t>
            </a:r>
            <a:r>
              <a:rPr lang="en-US" altLang="zh-CN">
                <a:effectLst/>
                <a:latin typeface="Times New Roman" panose="02020603050405020304" pitchFamily="18" charset="0"/>
                <a:cs typeface="Times New Roman" panose="02020603050405020304" pitchFamily="18" charset="0"/>
              </a:rPr>
              <a:t>)×(86065</a:t>
            </a:r>
            <a:r>
              <a:rPr lang="zh-CN" altLang="en-US">
                <a:effectLst/>
                <a:latin typeface="Times New Roman" panose="02020603050405020304" pitchFamily="18" charset="0"/>
                <a:cs typeface="Times New Roman" panose="02020603050405020304" pitchFamily="18" charset="0"/>
              </a:rPr>
              <a:t>－</a:t>
            </a:r>
            <a:r>
              <a:rPr lang="en-US" altLang="zh-CN">
                <a:effectLst/>
                <a:latin typeface="Times New Roman" panose="02020603050405020304" pitchFamily="18" charset="0"/>
                <a:cs typeface="Times New Roman" panose="02020603050405020304" pitchFamily="18" charset="0"/>
              </a:rPr>
              <a:t>84000)÷(86065</a:t>
            </a:r>
            <a:r>
              <a:rPr lang="zh-CN" altLang="en-US">
                <a:effectLst/>
                <a:latin typeface="Times New Roman" panose="02020603050405020304" pitchFamily="18" charset="0"/>
                <a:cs typeface="Times New Roman" panose="02020603050405020304" pitchFamily="18" charset="0"/>
              </a:rPr>
              <a:t>－</a:t>
            </a:r>
            <a:r>
              <a:rPr lang="en-US" altLang="zh-CN">
                <a:effectLst/>
                <a:latin typeface="Times New Roman" panose="02020603050405020304" pitchFamily="18" charset="0"/>
                <a:cs typeface="Times New Roman" panose="02020603050405020304" pitchFamily="18" charset="0"/>
              </a:rPr>
              <a:t>82957)</a:t>
            </a:r>
          </a:p>
          <a:p>
            <a:pPr marL="0" indent="0" eaLnBrk="1" hangingPunct="1">
              <a:buNone/>
              <a:defRPr/>
            </a:pPr>
            <a:r>
              <a:rPr lang="zh-CN" altLang="en-US">
                <a:effectLst/>
                <a:latin typeface="Times New Roman" panose="02020603050405020304" pitchFamily="18" charset="0"/>
                <a:cs typeface="Times New Roman" panose="02020603050405020304" pitchFamily="18" charset="0"/>
              </a:rPr>
              <a:t>＝</a:t>
            </a:r>
            <a:r>
              <a:rPr lang="en-US" altLang="zh-CN">
                <a:effectLst/>
                <a:latin typeface="Times New Roman" panose="02020603050405020304" pitchFamily="18" charset="0"/>
                <a:cs typeface="Times New Roman" panose="02020603050405020304" pitchFamily="18" charset="0"/>
              </a:rPr>
              <a:t>10.66</a:t>
            </a:r>
            <a:r>
              <a:rPr lang="zh-CN" altLang="en-US">
                <a:effectLst/>
                <a:latin typeface="Times New Roman" panose="02020603050405020304" pitchFamily="18" charset="0"/>
                <a:cs typeface="Times New Roman" panose="02020603050405020304" pitchFamily="18" charset="0"/>
              </a:rPr>
              <a:t>％</a:t>
            </a:r>
          </a:p>
          <a:p>
            <a:pPr eaLnBrk="1" hangingPunct="1">
              <a:defRPr/>
            </a:pPr>
            <a:endParaRPr lang="en-US" altLang="zh-CN">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Grp="1" noChangeArrowheads="1"/>
          </p:cNvSpPr>
          <p:nvPr>
            <p:ph idx="1"/>
          </p:nvPr>
        </p:nvSpPr>
        <p:spPr/>
        <p:txBody>
          <a:bodyPr/>
          <a:lstStyle/>
          <a:p>
            <a:pPr eaLnBrk="1" hangingPunct="1">
              <a:buFont typeface="Wingdings" panose="05000000000000000000" pitchFamily="2" charset="2"/>
              <a:buNone/>
              <a:defRPr/>
            </a:pPr>
            <a:r>
              <a:rPr lang="zh-CN" altLang="en-US">
                <a:effectLst/>
              </a:rPr>
              <a:t>应收利息：</a:t>
            </a:r>
          </a:p>
          <a:p>
            <a:pPr eaLnBrk="1" hangingPunct="1">
              <a:buFont typeface="Wingdings" panose="05000000000000000000" pitchFamily="2" charset="2"/>
              <a:buNone/>
              <a:defRPr/>
            </a:pPr>
            <a:r>
              <a:rPr lang="zh-CN" altLang="en-US">
                <a:effectLst/>
              </a:rPr>
              <a:t>投资收益：</a:t>
            </a:r>
          </a:p>
          <a:p>
            <a:pPr eaLnBrk="1" hangingPunct="1">
              <a:buFont typeface="Wingdings" panose="05000000000000000000" pitchFamily="2" charset="2"/>
              <a:buNone/>
              <a:defRPr/>
            </a:pPr>
            <a:r>
              <a:rPr lang="zh-CN" altLang="en-US">
                <a:effectLst/>
              </a:rPr>
              <a:t>摊余成本：</a:t>
            </a:r>
          </a:p>
          <a:p>
            <a:pPr eaLnBrk="1" hangingPunct="1">
              <a:buFont typeface="Wingdings" panose="05000000000000000000" pitchFamily="2" charset="2"/>
              <a:buNone/>
              <a:defRPr/>
            </a:pPr>
            <a:r>
              <a:rPr lang="zh-CN" altLang="en-US">
                <a:effectLst/>
              </a:rPr>
              <a:t>利息调整：</a:t>
            </a:r>
          </a:p>
          <a:p>
            <a:pPr eaLnBrk="1" hangingPunct="1">
              <a:buFont typeface="Wingdings" panose="05000000000000000000" pitchFamily="2" charset="2"/>
              <a:buNone/>
              <a:defRPr/>
            </a:pPr>
            <a:endParaRPr lang="zh-CN" altLang="en-US">
              <a:effectLst/>
            </a:endParaRPr>
          </a:p>
          <a:p>
            <a:pPr eaLnBrk="1" hangingPunct="1">
              <a:buFont typeface="Wingdings" panose="05000000000000000000" pitchFamily="2" charset="2"/>
              <a:buNone/>
              <a:defRPr/>
            </a:pPr>
            <a:r>
              <a:rPr lang="zh-CN" altLang="en-US">
                <a:effectLst/>
              </a:rPr>
              <a:t>账务处理：</a:t>
            </a:r>
          </a:p>
        </p:txBody>
      </p:sp>
      <p:sp>
        <p:nvSpPr>
          <p:cNvPr id="122883" name="Rectangle 3"/>
          <p:cNvSpPr>
            <a:spLocks noGrp="1" noChangeArrowheads="1"/>
          </p:cNvSpPr>
          <p:nvPr>
            <p:ph type="title"/>
          </p:nvPr>
        </p:nvSpPr>
        <p:spPr>
          <a:noFill/>
        </p:spPr>
        <p:txBody>
          <a:bodyPr/>
          <a:lstStyle/>
          <a:p>
            <a:pPr eaLnBrk="1" hangingPunct="1"/>
            <a:r>
              <a:rPr lang="en-US" altLang="zh-CN">
                <a:latin typeface="Times New Roman" panose="02020603050405020304" pitchFamily="18" charset="0"/>
                <a:cs typeface="Times New Roman" panose="02020603050405020304" pitchFamily="18" charset="0"/>
              </a:rPr>
              <a:t>2×16</a:t>
            </a:r>
            <a:r>
              <a:rPr lang="zh-CN" altLang="en-US"/>
              <a:t>年末（未减值）</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a:spLocks noGrp="1" noChangeArrowheads="1"/>
          </p:cNvSpPr>
          <p:nvPr>
            <p:ph idx="1"/>
          </p:nvPr>
        </p:nvSpPr>
        <p:spPr/>
        <p:txBody>
          <a:bodyPr/>
          <a:lstStyle/>
          <a:p>
            <a:pPr eaLnBrk="1" hangingPunct="1">
              <a:lnSpc>
                <a:spcPct val="90000"/>
              </a:lnSpc>
              <a:buFont typeface="Wingdings" panose="05000000000000000000" pitchFamily="2" charset="2"/>
              <a:buNone/>
              <a:defRPr/>
            </a:pPr>
            <a:r>
              <a:rPr lang="zh-CN" altLang="en-US" dirty="0"/>
              <a:t>应收利息：</a:t>
            </a:r>
            <a:r>
              <a:rPr lang="en-US" altLang="zh-CN" dirty="0">
                <a:effectLst/>
                <a:latin typeface="Times New Roman" panose="02020603050405020304" pitchFamily="18" charset="0"/>
                <a:cs typeface="Times New Roman" panose="02020603050405020304" pitchFamily="18" charset="0"/>
              </a:rPr>
              <a:t>80 000×12</a:t>
            </a:r>
            <a:r>
              <a:rPr lang="zh-CN" altLang="en-US" dirty="0">
                <a:effectLst/>
                <a:latin typeface="Times New Roman" panose="02020603050405020304" pitchFamily="18" charset="0"/>
                <a:cs typeface="Times New Roman" panose="02020603050405020304" pitchFamily="18" charset="0"/>
              </a:rPr>
              <a:t>％ </a:t>
            </a:r>
            <a:r>
              <a:rPr lang="en-US" altLang="zh-CN" dirty="0">
                <a:effectLst/>
                <a:latin typeface="Times New Roman" panose="02020603050405020304" pitchFamily="18" charset="0"/>
                <a:cs typeface="Times New Roman" panose="02020603050405020304" pitchFamily="18" charset="0"/>
              </a:rPr>
              <a:t>=9 600 </a:t>
            </a:r>
            <a:r>
              <a:rPr lang="en-US" altLang="zh-CN" dirty="0">
                <a:latin typeface="Times New Roman" panose="02020603050405020304" pitchFamily="18" charset="0"/>
                <a:cs typeface="Times New Roman" panose="02020603050405020304" pitchFamily="18" charset="0"/>
              </a:rPr>
              <a:t> </a:t>
            </a:r>
            <a:endParaRPr lang="en-US" altLang="zh-CN" dirty="0"/>
          </a:p>
          <a:p>
            <a:pPr eaLnBrk="1" hangingPunct="1">
              <a:lnSpc>
                <a:spcPct val="90000"/>
              </a:lnSpc>
              <a:buFont typeface="Wingdings" panose="05000000000000000000" pitchFamily="2" charset="2"/>
              <a:buNone/>
              <a:defRPr/>
            </a:pPr>
            <a:r>
              <a:rPr lang="zh-CN" altLang="en-US" dirty="0"/>
              <a:t>投资收益：</a:t>
            </a:r>
            <a:r>
              <a:rPr lang="en-US" altLang="zh-CN" dirty="0">
                <a:effectLst/>
                <a:latin typeface="Times New Roman" panose="02020603050405020304" pitchFamily="18" charset="0"/>
                <a:cs typeface="Times New Roman" panose="02020603050405020304" pitchFamily="18" charset="0"/>
              </a:rPr>
              <a:t>84 000×10.66％=8 954.4</a:t>
            </a:r>
          </a:p>
          <a:p>
            <a:pPr algn="l" eaLnBrk="1" hangingPunct="1">
              <a:lnSpc>
                <a:spcPct val="90000"/>
              </a:lnSpc>
              <a:buFont typeface="Wingdings" panose="05000000000000000000" pitchFamily="2" charset="2"/>
              <a:buNone/>
              <a:defRPr/>
            </a:pPr>
            <a:r>
              <a:rPr lang="zh-CN" altLang="en-US" dirty="0"/>
              <a:t>摊余成本：</a:t>
            </a:r>
            <a:r>
              <a:rPr lang="en-US" altLang="zh-CN" dirty="0">
                <a:effectLst/>
                <a:latin typeface="Times New Roman" panose="02020603050405020304" pitchFamily="18" charset="0"/>
                <a:cs typeface="Times New Roman" panose="02020603050405020304" pitchFamily="18" charset="0"/>
              </a:rPr>
              <a:t>84 000+8 954.4-9 600=83 354.4</a:t>
            </a:r>
          </a:p>
          <a:p>
            <a:pPr algn="l" eaLnBrk="1" hangingPunct="1">
              <a:lnSpc>
                <a:spcPct val="90000"/>
              </a:lnSpc>
              <a:buFont typeface="Wingdings" panose="05000000000000000000" pitchFamily="2" charset="2"/>
              <a:buNone/>
              <a:defRPr/>
            </a:pPr>
            <a:r>
              <a:rPr lang="zh-CN" altLang="en-US" dirty="0"/>
              <a:t>利息调整：</a:t>
            </a:r>
            <a:r>
              <a:rPr lang="en-US" altLang="zh-CN" dirty="0">
                <a:effectLst/>
                <a:latin typeface="Times New Roman" panose="02020603050405020304" pitchFamily="18" charset="0"/>
                <a:cs typeface="Times New Roman" panose="02020603050405020304" pitchFamily="18" charset="0"/>
              </a:rPr>
              <a:t>9 600-8 954.4=645.6</a:t>
            </a:r>
          </a:p>
          <a:p>
            <a:pPr eaLnBrk="1" hangingPunct="1">
              <a:lnSpc>
                <a:spcPct val="90000"/>
              </a:lnSpc>
              <a:buFont typeface="Wingdings" panose="05000000000000000000" pitchFamily="2" charset="2"/>
              <a:buNone/>
              <a:defRPr/>
            </a:pPr>
            <a:endParaRPr lang="en-US" altLang="zh-CN" dirty="0"/>
          </a:p>
          <a:p>
            <a:pPr eaLnBrk="1" hangingPunct="1">
              <a:lnSpc>
                <a:spcPct val="90000"/>
              </a:lnSpc>
              <a:buFont typeface="Wingdings" panose="05000000000000000000" pitchFamily="2" charset="2"/>
              <a:buNone/>
              <a:defRPr/>
            </a:pPr>
            <a:r>
              <a:rPr lang="zh-CN" altLang="en-US" sz="2400" b="1">
                <a:latin typeface="楷体_GB2312" panose="02010609030101010101" pitchFamily="49" charset="-122"/>
                <a:ea typeface="楷体_GB2312" panose="02010609030101010101" pitchFamily="49" charset="-122"/>
                <a:cs typeface="+mn-ea"/>
              </a:rPr>
              <a:t>借：应收利息</a:t>
            </a:r>
            <a:r>
              <a:rPr lang="zh-CN" altLang="en-US" dirty="0"/>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9 600</a:t>
            </a:r>
            <a:endParaRPr lang="en-US" altLang="zh-CN" dirty="0"/>
          </a:p>
          <a:p>
            <a:pPr eaLnBrk="1" hangingPunct="1">
              <a:lnSpc>
                <a:spcPct val="90000"/>
              </a:lnSpc>
              <a:buFont typeface="Wingdings" panose="05000000000000000000" pitchFamily="2" charset="2"/>
              <a:buNone/>
              <a:defRPr/>
            </a:pPr>
            <a:r>
              <a:rPr lang="en-US" altLang="zh-CN" dirty="0"/>
              <a:t>   </a:t>
            </a:r>
            <a:r>
              <a:rPr lang="zh-CN" altLang="en-US" sz="2400" b="1">
                <a:latin typeface="楷体_GB2312" panose="02010609030101010101" pitchFamily="49" charset="-122"/>
                <a:ea typeface="楷体_GB2312" panose="02010609030101010101" pitchFamily="49" charset="-122"/>
                <a:cs typeface="+mn-ea"/>
              </a:rPr>
              <a:t>贷：投资收益 </a:t>
            </a:r>
            <a:r>
              <a:rPr lang="zh-CN" altLang="en-US" dirty="0"/>
              <a:t>                </a:t>
            </a:r>
            <a:r>
              <a:rPr sz="2400" dirty="0">
                <a:latin typeface="Times New Roman" panose="02020603050405020304" pitchFamily="18" charset="0"/>
                <a:cs typeface="Times New Roman" panose="02020603050405020304" pitchFamily="18" charset="0"/>
              </a:rPr>
              <a:t>8 954.4</a:t>
            </a:r>
            <a:endParaRPr lang="en-US" altLang="zh-CN" dirty="0"/>
          </a:p>
          <a:p>
            <a:pPr eaLnBrk="1" hangingPunct="1">
              <a:lnSpc>
                <a:spcPct val="90000"/>
              </a:lnSpc>
              <a:buFont typeface="Wingdings" panose="05000000000000000000" pitchFamily="2" charset="2"/>
              <a:buNone/>
              <a:defRPr/>
            </a:pPr>
            <a:r>
              <a:rPr lang="en-US" altLang="zh-CN" dirty="0"/>
              <a:t>       </a:t>
            </a:r>
            <a:r>
              <a:rPr lang="zh-CN" altLang="en-US" sz="2400" b="1">
                <a:latin typeface="楷体_GB2312" panose="02010609030101010101" pitchFamily="49" charset="-122"/>
                <a:ea typeface="楷体_GB2312" panose="02010609030101010101" pitchFamily="49" charset="-122"/>
                <a:cs typeface="+mn-ea"/>
              </a:rPr>
              <a:t>债权投资</a:t>
            </a:r>
            <a:r>
              <a:rPr sz="2400" b="1">
                <a:latin typeface="楷体_GB2312" panose="02010609030101010101" pitchFamily="49" charset="-122"/>
                <a:ea typeface="楷体_GB2312" panose="02010609030101010101" pitchFamily="49" charset="-122"/>
                <a:cs typeface="+mn-ea"/>
              </a:rPr>
              <a:t>—</a:t>
            </a:r>
            <a:r>
              <a:rPr lang="zh-CN" altLang="en-US" sz="2400" b="1">
                <a:latin typeface="楷体_GB2312" panose="02010609030101010101" pitchFamily="49" charset="-122"/>
                <a:ea typeface="楷体_GB2312" panose="02010609030101010101" pitchFamily="49" charset="-122"/>
                <a:cs typeface="+mn-ea"/>
              </a:rPr>
              <a:t>利息调整</a:t>
            </a:r>
            <a:r>
              <a:rPr lang="zh-CN" altLang="en-US" dirty="0"/>
              <a:t>          </a:t>
            </a:r>
            <a:r>
              <a:rPr sz="2400" dirty="0">
                <a:latin typeface="Times New Roman" panose="02020603050405020304" pitchFamily="18" charset="0"/>
                <a:cs typeface="Times New Roman" panose="02020603050405020304" pitchFamily="18" charset="0"/>
              </a:rPr>
              <a:t>645.6</a:t>
            </a:r>
          </a:p>
        </p:txBody>
      </p:sp>
      <p:sp>
        <p:nvSpPr>
          <p:cNvPr id="123907" name="Rectangle 3"/>
          <p:cNvSpPr>
            <a:spLocks noGrp="1" noChangeArrowheads="1"/>
          </p:cNvSpPr>
          <p:nvPr>
            <p:ph type="title"/>
          </p:nvPr>
        </p:nvSpPr>
        <p:spPr>
          <a:noFill/>
        </p:spPr>
        <p:txBody>
          <a:bodyPr/>
          <a:lstStyle/>
          <a:p>
            <a:pPr eaLnBrk="1" hangingPunct="1"/>
            <a:r>
              <a:rPr lang="en-US" altLang="zh-CN"/>
              <a:t>2×16</a:t>
            </a:r>
            <a:r>
              <a:rPr lang="zh-CN" altLang="en-US"/>
              <a:t>年末（未减值）</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Rectangle 2"/>
          <p:cNvSpPr>
            <a:spLocks noGrp="1" noChangeArrowheads="1"/>
          </p:cNvSpPr>
          <p:nvPr>
            <p:ph idx="1"/>
          </p:nvPr>
        </p:nvSpPr>
        <p:spPr/>
        <p:txBody>
          <a:bodyPr/>
          <a:lstStyle/>
          <a:p>
            <a:pPr eaLnBrk="1" hangingPunct="1">
              <a:buFont typeface="Wingdings" panose="05000000000000000000" pitchFamily="2" charset="2"/>
              <a:buNone/>
              <a:defRPr/>
            </a:pPr>
            <a:r>
              <a:rPr lang="zh-CN" altLang="en-US">
                <a:effectLst/>
              </a:rPr>
              <a:t>应收利息：</a:t>
            </a:r>
          </a:p>
          <a:p>
            <a:pPr eaLnBrk="1" hangingPunct="1">
              <a:buFont typeface="Wingdings" panose="05000000000000000000" pitchFamily="2" charset="2"/>
              <a:buNone/>
              <a:defRPr/>
            </a:pPr>
            <a:r>
              <a:rPr lang="zh-CN" altLang="en-US">
                <a:effectLst/>
              </a:rPr>
              <a:t>投资收益：</a:t>
            </a:r>
          </a:p>
          <a:p>
            <a:pPr eaLnBrk="1" hangingPunct="1">
              <a:buFont typeface="Wingdings" panose="05000000000000000000" pitchFamily="2" charset="2"/>
              <a:buNone/>
              <a:defRPr/>
            </a:pPr>
            <a:r>
              <a:rPr lang="zh-CN" altLang="en-US">
                <a:effectLst/>
              </a:rPr>
              <a:t>摊余成本：</a:t>
            </a:r>
          </a:p>
          <a:p>
            <a:pPr eaLnBrk="1" hangingPunct="1">
              <a:buFont typeface="Wingdings" panose="05000000000000000000" pitchFamily="2" charset="2"/>
              <a:buNone/>
              <a:defRPr/>
            </a:pPr>
            <a:r>
              <a:rPr lang="zh-CN" altLang="en-US">
                <a:effectLst/>
              </a:rPr>
              <a:t>利息调整：</a:t>
            </a:r>
          </a:p>
          <a:p>
            <a:pPr eaLnBrk="1" hangingPunct="1">
              <a:buFont typeface="Wingdings" panose="05000000000000000000" pitchFamily="2" charset="2"/>
              <a:buNone/>
              <a:defRPr/>
            </a:pPr>
            <a:endParaRPr lang="zh-CN" altLang="en-US">
              <a:effectLst/>
            </a:endParaRPr>
          </a:p>
          <a:p>
            <a:pPr eaLnBrk="1" hangingPunct="1">
              <a:buFont typeface="Wingdings" panose="05000000000000000000" pitchFamily="2" charset="2"/>
              <a:buNone/>
              <a:defRPr/>
            </a:pPr>
            <a:r>
              <a:rPr lang="zh-CN" altLang="en-US">
                <a:effectLst/>
              </a:rPr>
              <a:t>账务处理：</a:t>
            </a:r>
          </a:p>
        </p:txBody>
      </p:sp>
      <p:sp>
        <p:nvSpPr>
          <p:cNvPr id="124931" name="Rectangle 3"/>
          <p:cNvSpPr>
            <a:spLocks noGrp="1" noChangeArrowheads="1"/>
          </p:cNvSpPr>
          <p:nvPr>
            <p:ph type="title"/>
          </p:nvPr>
        </p:nvSpPr>
        <p:spPr>
          <a:noFill/>
        </p:spPr>
        <p:txBody>
          <a:bodyPr/>
          <a:lstStyle/>
          <a:p>
            <a:pPr eaLnBrk="1" hangingPunct="1"/>
            <a:r>
              <a:rPr lang="en-US" altLang="zh-CN"/>
              <a:t>2×17</a:t>
            </a:r>
            <a:r>
              <a:rPr lang="zh-CN" altLang="en-US"/>
              <a:t>年末（未减值）</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Rot="1" noChangeArrowheads="1"/>
          </p:cNvSpPr>
          <p:nvPr/>
        </p:nvSpPr>
        <p:spPr bwMode="auto">
          <a:xfrm>
            <a:off x="179388" y="1844675"/>
            <a:ext cx="8713787" cy="4679950"/>
          </a:xfrm>
          <a:prstGeom prst="rect">
            <a:avLst/>
          </a:prstGeom>
          <a:noFill/>
          <a:ln w="9525">
            <a:noFill/>
            <a:miter lim="800000"/>
          </a:ln>
          <a:effectLst/>
        </p:spPr>
        <p:txBody>
          <a:bodyPr/>
          <a:lstStyle/>
          <a:p>
            <a:pPr marL="342900" indent="-342900" eaLnBrk="1" hangingPunct="1">
              <a:spcBef>
                <a:spcPct val="20000"/>
              </a:spcBef>
              <a:buClr>
                <a:srgbClr val="3333CC"/>
              </a:buClr>
              <a:buSzPct val="60000"/>
              <a:buFont typeface="Wingdings" panose="05000000000000000000" pitchFamily="2" charset="2"/>
              <a:buNone/>
              <a:defRPr/>
            </a:pPr>
            <a:r>
              <a:rPr lang="zh-CN" altLang="en-US" sz="2600" dirty="0">
                <a:solidFill>
                  <a:srgbClr val="000000"/>
                </a:solidFill>
                <a:effectLst/>
                <a:latin typeface="黑体" panose="02010609060101010101" pitchFamily="2" charset="-122"/>
                <a:ea typeface="黑体" panose="02010609060101010101" pitchFamily="2" charset="-122"/>
                <a:cs typeface="黑体" panose="02010609060101010101" pitchFamily="2" charset="-122"/>
              </a:rPr>
              <a:t>应收利息： </a:t>
            </a:r>
            <a:r>
              <a:rPr lang="en-US" altLang="zh-CN" sz="2600" dirty="0">
                <a:solidFill>
                  <a:srgbClr val="000000"/>
                </a:solidFill>
                <a:effectLst/>
                <a:latin typeface="Times New Roman" panose="02020603050405020304" pitchFamily="18" charset="0"/>
                <a:ea typeface="黑体" panose="02010609060101010101" pitchFamily="2" charset="-122"/>
                <a:cs typeface="Times New Roman" panose="02020603050405020304" pitchFamily="18" charset="0"/>
              </a:rPr>
              <a:t>80 000×12</a:t>
            </a:r>
            <a:r>
              <a:rPr lang="zh-CN" altLang="en-US" sz="2600" dirty="0">
                <a:solidFill>
                  <a:srgbClr val="000000"/>
                </a:solidFill>
                <a:effectLst/>
                <a:latin typeface="Times New Roman" panose="02020603050405020304" pitchFamily="18" charset="0"/>
                <a:ea typeface="黑体" panose="02010609060101010101" pitchFamily="2" charset="-122"/>
                <a:cs typeface="Times New Roman" panose="02020603050405020304" pitchFamily="18" charset="0"/>
              </a:rPr>
              <a:t>％ </a:t>
            </a:r>
            <a:r>
              <a:rPr lang="en-US" altLang="zh-CN" sz="2600" dirty="0">
                <a:solidFill>
                  <a:srgbClr val="000000"/>
                </a:solidFill>
                <a:effectLst/>
                <a:latin typeface="Times New Roman" panose="02020603050405020304" pitchFamily="18" charset="0"/>
                <a:ea typeface="黑体" panose="02010609060101010101" pitchFamily="2" charset="-122"/>
                <a:cs typeface="Times New Roman" panose="02020603050405020304" pitchFamily="18" charset="0"/>
              </a:rPr>
              <a:t>=9 600</a:t>
            </a:r>
          </a:p>
          <a:p>
            <a:pPr marL="342900" indent="-342900" algn="l" eaLnBrk="1" hangingPunct="1">
              <a:spcBef>
                <a:spcPct val="20000"/>
              </a:spcBef>
              <a:buClr>
                <a:srgbClr val="3333CC"/>
              </a:buClr>
              <a:buSzPct val="60000"/>
              <a:buFont typeface="Wingdings" panose="05000000000000000000" pitchFamily="2" charset="2"/>
              <a:buNone/>
              <a:defRPr/>
            </a:pPr>
            <a:r>
              <a:rPr lang="zh-CN" altLang="en-US" sz="2600" dirty="0">
                <a:solidFill>
                  <a:srgbClr val="000000"/>
                </a:solidFill>
                <a:effectLst/>
                <a:latin typeface="黑体" panose="02010609060101010101" pitchFamily="2" charset="-122"/>
                <a:ea typeface="黑体" panose="02010609060101010101" pitchFamily="2" charset="-122"/>
                <a:cs typeface="黑体" panose="02010609060101010101" pitchFamily="2" charset="-122"/>
              </a:rPr>
              <a:t>投资收益：</a:t>
            </a:r>
            <a:r>
              <a:rPr lang="en-US" altLang="zh-CN" sz="2600" dirty="0">
                <a:solidFill>
                  <a:srgbClr val="000000"/>
                </a:solidFill>
                <a:effectLst/>
                <a:latin typeface="Times New Roman" panose="02020603050405020304" pitchFamily="18" charset="0"/>
                <a:ea typeface="黑体" panose="02010609060101010101" pitchFamily="2" charset="-122"/>
                <a:cs typeface="Times New Roman" panose="02020603050405020304" pitchFamily="18" charset="0"/>
              </a:rPr>
              <a:t>（84 000—645.6）×10.66％</a:t>
            </a:r>
          </a:p>
          <a:p>
            <a:pPr marL="342900" indent="-342900" algn="l" eaLnBrk="1" hangingPunct="1">
              <a:spcBef>
                <a:spcPct val="20000"/>
              </a:spcBef>
              <a:buClr>
                <a:srgbClr val="3333CC"/>
              </a:buClr>
              <a:buSzPct val="60000"/>
              <a:buFont typeface="Wingdings" panose="05000000000000000000" pitchFamily="2" charset="2"/>
              <a:buNone/>
              <a:defRPr/>
            </a:pPr>
            <a:r>
              <a:rPr lang="zh-CN" altLang="en-US" sz="2600" dirty="0">
                <a:solidFill>
                  <a:srgbClr val="000000"/>
                </a:solidFill>
                <a:effectLst/>
                <a:latin typeface="黑体" panose="02010609060101010101" pitchFamily="2" charset="-122"/>
                <a:ea typeface="黑体" panose="02010609060101010101" pitchFamily="2" charset="-122"/>
                <a:cs typeface="黑体" panose="02010609060101010101" pitchFamily="2" charset="-122"/>
              </a:rPr>
              <a:t>                </a:t>
            </a:r>
            <a:r>
              <a:rPr lang="en-US" altLang="zh-CN" sz="2600" dirty="0">
                <a:solidFill>
                  <a:srgbClr val="000000"/>
                </a:solidFill>
                <a:effectLst/>
                <a:latin typeface="Times New Roman" panose="02020603050405020304" pitchFamily="18" charset="0"/>
                <a:ea typeface="黑体" panose="02010609060101010101" pitchFamily="2" charset="-122"/>
                <a:cs typeface="Times New Roman" panose="02020603050405020304" pitchFamily="18" charset="0"/>
              </a:rPr>
              <a:t>=83 354.4×10.66％=8 885.58</a:t>
            </a:r>
          </a:p>
          <a:p>
            <a:pPr marL="342900" indent="-342900" eaLnBrk="1" hangingPunct="1">
              <a:spcBef>
                <a:spcPct val="20000"/>
              </a:spcBef>
              <a:buClr>
                <a:srgbClr val="3333CC"/>
              </a:buClr>
              <a:buSzPct val="60000"/>
              <a:buFont typeface="Wingdings" panose="05000000000000000000" pitchFamily="2" charset="2"/>
              <a:buNone/>
              <a:defRPr/>
            </a:pPr>
            <a:r>
              <a:rPr lang="zh-CN" altLang="en-US" sz="2600" dirty="0">
                <a:solidFill>
                  <a:srgbClr val="000000"/>
                </a:solidFill>
                <a:effectLst/>
                <a:latin typeface="黑体" panose="02010609060101010101" pitchFamily="2" charset="-122"/>
                <a:ea typeface="黑体" panose="02010609060101010101" pitchFamily="2" charset="-122"/>
                <a:cs typeface="黑体" panose="02010609060101010101" pitchFamily="2" charset="-122"/>
              </a:rPr>
              <a:t>摊余成本： </a:t>
            </a:r>
            <a:r>
              <a:rPr lang="en-US" altLang="zh-CN" sz="2600" dirty="0">
                <a:solidFill>
                  <a:srgbClr val="000000"/>
                </a:solidFill>
                <a:effectLst/>
                <a:latin typeface="Times New Roman" panose="02020603050405020304" pitchFamily="18" charset="0"/>
                <a:ea typeface="黑体" panose="02010609060101010101" pitchFamily="2" charset="-122"/>
                <a:cs typeface="Times New Roman" panose="02020603050405020304" pitchFamily="18" charset="0"/>
              </a:rPr>
              <a:t>83 354.4+8 885.58-9 600=82 639.98</a:t>
            </a:r>
            <a:endParaRPr lang="en-US" altLang="zh-CN" sz="2600" dirty="0">
              <a:solidFill>
                <a:srgbClr val="000000"/>
              </a:solidFill>
              <a:effectLst/>
              <a:latin typeface="黑体" panose="02010609060101010101" pitchFamily="2" charset="-122"/>
              <a:ea typeface="黑体" panose="02010609060101010101" pitchFamily="2" charset="-122"/>
              <a:cs typeface="黑体" panose="02010609060101010101" pitchFamily="2" charset="-122"/>
            </a:endParaRPr>
          </a:p>
          <a:p>
            <a:pPr marL="342900" indent="-342900" eaLnBrk="1" hangingPunct="1">
              <a:spcBef>
                <a:spcPct val="20000"/>
              </a:spcBef>
              <a:buClr>
                <a:srgbClr val="3333CC"/>
              </a:buClr>
              <a:buSzPct val="60000"/>
              <a:buFont typeface="Wingdings" panose="05000000000000000000" pitchFamily="2" charset="2"/>
              <a:buNone/>
              <a:defRPr/>
            </a:pPr>
            <a:r>
              <a:rPr lang="zh-CN" altLang="en-US" sz="2600" dirty="0">
                <a:solidFill>
                  <a:srgbClr val="000000"/>
                </a:solidFill>
                <a:effectLst/>
                <a:latin typeface="黑体" panose="02010609060101010101" pitchFamily="2" charset="-122"/>
                <a:ea typeface="黑体" panose="02010609060101010101" pitchFamily="2" charset="-122"/>
                <a:cs typeface="黑体" panose="02010609060101010101" pitchFamily="2" charset="-122"/>
              </a:rPr>
              <a:t>利息调整： </a:t>
            </a:r>
            <a:r>
              <a:rPr lang="en-US" altLang="zh-CN" sz="2600" dirty="0">
                <a:solidFill>
                  <a:srgbClr val="000000"/>
                </a:solidFill>
                <a:effectLst/>
                <a:latin typeface="Times New Roman" panose="02020603050405020304" pitchFamily="18" charset="0"/>
                <a:ea typeface="黑体" panose="02010609060101010101" pitchFamily="2" charset="-122"/>
                <a:cs typeface="Times New Roman" panose="02020603050405020304" pitchFamily="18" charset="0"/>
              </a:rPr>
              <a:t>9 600-8 885.58=714.42</a:t>
            </a:r>
          </a:p>
          <a:p>
            <a:pPr marL="342900" indent="-342900" eaLnBrk="1" hangingPunct="1">
              <a:spcBef>
                <a:spcPct val="20000"/>
              </a:spcBef>
              <a:buClr>
                <a:srgbClr val="3333CC"/>
              </a:buClr>
              <a:buSzPct val="60000"/>
              <a:buFont typeface="Wingdings" panose="05000000000000000000" pitchFamily="2" charset="2"/>
              <a:buNone/>
              <a:defRPr/>
            </a:pPr>
            <a:r>
              <a:rPr lang="zh-CN" altLang="en-US" sz="2400" b="1" kern="0">
                <a:latin typeface="楷体_GB2312" panose="02010609030101010101" pitchFamily="49" charset="-122"/>
                <a:ea typeface="楷体_GB2312" panose="02010609030101010101" pitchFamily="49" charset="-122"/>
                <a:cs typeface="+mn-ea"/>
              </a:rPr>
              <a:t>借：应收利息</a:t>
            </a:r>
            <a:r>
              <a:rPr lang="zh-CN" altLang="en-US" sz="2600" dirty="0">
                <a:solidFill>
                  <a:srgbClr val="000000"/>
                </a:solidFill>
                <a:effectLst/>
                <a:latin typeface="黑体" panose="02010609060101010101" pitchFamily="2" charset="-122"/>
                <a:ea typeface="黑体" panose="02010609060101010101" pitchFamily="2" charset="-122"/>
                <a:cs typeface="黑体" panose="02010609060101010101" pitchFamily="2" charset="-122"/>
              </a:rPr>
              <a:t>                        </a:t>
            </a:r>
            <a:r>
              <a:rPr lang="en-US" altLang="zh-CN" sz="2400" dirty="0">
                <a:solidFill>
                  <a:srgbClr val="000000"/>
                </a:solidFill>
                <a:effectLst/>
                <a:latin typeface="Times New Roman" panose="02020603050405020304" pitchFamily="18" charset="0"/>
                <a:ea typeface="黑体" panose="02010609060101010101" pitchFamily="2" charset="-122"/>
                <a:cs typeface="Times New Roman" panose="02020603050405020304" pitchFamily="18" charset="0"/>
              </a:rPr>
              <a:t>9 600</a:t>
            </a:r>
            <a:endParaRPr lang="en-US" altLang="zh-CN" sz="2600" dirty="0">
              <a:solidFill>
                <a:srgbClr val="000000"/>
              </a:solidFill>
              <a:effectLst/>
              <a:latin typeface="黑体" panose="02010609060101010101" pitchFamily="2" charset="-122"/>
              <a:ea typeface="黑体" panose="02010609060101010101" pitchFamily="2" charset="-122"/>
              <a:cs typeface="黑体" panose="02010609060101010101" pitchFamily="2" charset="-122"/>
            </a:endParaRPr>
          </a:p>
          <a:p>
            <a:pPr marL="342900" indent="-342900" eaLnBrk="1" hangingPunct="1">
              <a:spcBef>
                <a:spcPct val="20000"/>
              </a:spcBef>
              <a:buClr>
                <a:srgbClr val="3333CC"/>
              </a:buClr>
              <a:buSzPct val="60000"/>
              <a:buFont typeface="Wingdings" panose="05000000000000000000" pitchFamily="2" charset="2"/>
              <a:buNone/>
              <a:defRPr/>
            </a:pPr>
            <a:r>
              <a:rPr lang="en-US" altLang="zh-CN" sz="2600" dirty="0">
                <a:solidFill>
                  <a:srgbClr val="000000"/>
                </a:solidFill>
                <a:effectLst/>
                <a:latin typeface="黑体" panose="02010609060101010101" pitchFamily="2" charset="-122"/>
                <a:ea typeface="黑体" panose="02010609060101010101" pitchFamily="2" charset="-122"/>
                <a:cs typeface="黑体" panose="02010609060101010101" pitchFamily="2" charset="-122"/>
              </a:rPr>
              <a:t>    </a:t>
            </a:r>
            <a:r>
              <a:rPr lang="zh-CN" altLang="en-US" sz="2400" b="1" kern="0">
                <a:latin typeface="楷体_GB2312" panose="02010609030101010101" pitchFamily="49" charset="-122"/>
                <a:ea typeface="楷体_GB2312" panose="02010609030101010101" pitchFamily="49" charset="-122"/>
                <a:cs typeface="+mn-ea"/>
              </a:rPr>
              <a:t>贷：投资收益</a:t>
            </a:r>
            <a:r>
              <a:rPr lang="zh-CN" altLang="en-US" sz="2600" dirty="0">
                <a:solidFill>
                  <a:srgbClr val="000000"/>
                </a:solidFill>
                <a:effectLst/>
                <a:latin typeface="黑体" panose="02010609060101010101" pitchFamily="2" charset="-122"/>
                <a:ea typeface="黑体" panose="02010609060101010101" pitchFamily="2" charset="-122"/>
                <a:cs typeface="黑体" panose="02010609060101010101" pitchFamily="2" charset="-122"/>
              </a:rPr>
              <a:t>                       </a:t>
            </a:r>
            <a:r>
              <a:rPr lang="en-US" altLang="zh-CN" sz="2400" dirty="0">
                <a:solidFill>
                  <a:srgbClr val="000000"/>
                </a:solidFill>
                <a:effectLst/>
                <a:latin typeface="Times New Roman" panose="02020603050405020304" pitchFamily="18" charset="0"/>
                <a:ea typeface="黑体" panose="02010609060101010101" pitchFamily="2" charset="-122"/>
                <a:cs typeface="Times New Roman" panose="02020603050405020304" pitchFamily="18" charset="0"/>
              </a:rPr>
              <a:t>8 885.58</a:t>
            </a:r>
            <a:endParaRPr lang="en-US" altLang="zh-CN" sz="2600" dirty="0">
              <a:solidFill>
                <a:srgbClr val="000000"/>
              </a:solidFill>
              <a:effectLst/>
              <a:latin typeface="黑体" panose="02010609060101010101" pitchFamily="2" charset="-122"/>
              <a:ea typeface="黑体" panose="02010609060101010101" pitchFamily="2" charset="-122"/>
              <a:cs typeface="黑体" panose="02010609060101010101" pitchFamily="2" charset="-122"/>
            </a:endParaRPr>
          </a:p>
          <a:p>
            <a:pPr marL="342900" indent="-342900" eaLnBrk="1" hangingPunct="1">
              <a:spcBef>
                <a:spcPct val="20000"/>
              </a:spcBef>
              <a:buClr>
                <a:srgbClr val="3333CC"/>
              </a:buClr>
              <a:buSzPct val="60000"/>
              <a:buFont typeface="Wingdings" panose="05000000000000000000" pitchFamily="2" charset="2"/>
              <a:buNone/>
              <a:defRPr/>
            </a:pPr>
            <a:r>
              <a:rPr lang="en-US" altLang="zh-CN" sz="2600" dirty="0">
                <a:solidFill>
                  <a:srgbClr val="000000"/>
                </a:solidFill>
                <a:effectLst/>
                <a:latin typeface="黑体" panose="02010609060101010101" pitchFamily="2" charset="-122"/>
                <a:ea typeface="黑体" panose="02010609060101010101" pitchFamily="2" charset="-122"/>
                <a:cs typeface="黑体" panose="02010609060101010101" pitchFamily="2" charset="-122"/>
              </a:rPr>
              <a:t>        </a:t>
            </a:r>
            <a:r>
              <a:rPr lang="zh-CN" altLang="en-US" sz="2400" b="1" kern="0">
                <a:latin typeface="楷体_GB2312" panose="02010609030101010101" pitchFamily="49" charset="-122"/>
                <a:ea typeface="楷体_GB2312" panose="02010609030101010101" pitchFamily="49" charset="-122"/>
                <a:cs typeface="+mn-ea"/>
              </a:rPr>
              <a:t>债权投资—利息调整</a:t>
            </a:r>
            <a:r>
              <a:rPr lang="zh-CN" altLang="en-US" sz="2600" dirty="0">
                <a:solidFill>
                  <a:srgbClr val="000000"/>
                </a:solidFill>
                <a:effectLst/>
                <a:latin typeface="黑体" panose="02010609060101010101" pitchFamily="2" charset="-122"/>
                <a:ea typeface="黑体" panose="02010609060101010101" pitchFamily="2" charset="-122"/>
                <a:cs typeface="黑体" panose="02010609060101010101" pitchFamily="2" charset="-122"/>
              </a:rPr>
              <a:t>               </a:t>
            </a:r>
            <a:r>
              <a:rPr lang="en-US" altLang="zh-CN" sz="2400" dirty="0">
                <a:solidFill>
                  <a:srgbClr val="000000"/>
                </a:solidFill>
                <a:effectLst/>
                <a:latin typeface="Times New Roman" panose="02020603050405020304" pitchFamily="18" charset="0"/>
                <a:ea typeface="黑体" panose="02010609060101010101" pitchFamily="2" charset="-122"/>
                <a:cs typeface="Times New Roman" panose="02020603050405020304" pitchFamily="18" charset="0"/>
              </a:rPr>
              <a:t>714.42</a:t>
            </a:r>
          </a:p>
        </p:txBody>
      </p:sp>
      <p:sp>
        <p:nvSpPr>
          <p:cNvPr id="125955" name="Rectangle 3"/>
          <p:cNvSpPr>
            <a:spLocks noGrp="1" noChangeArrowheads="1"/>
          </p:cNvSpPr>
          <p:nvPr>
            <p:ph type="title"/>
          </p:nvPr>
        </p:nvSpPr>
        <p:spPr>
          <a:noFill/>
        </p:spPr>
        <p:txBody>
          <a:bodyPr/>
          <a:lstStyle/>
          <a:p>
            <a:pPr eaLnBrk="1" hangingPunct="1"/>
            <a:r>
              <a:rPr lang="en-US" altLang="zh-CN"/>
              <a:t>2×17</a:t>
            </a:r>
            <a:r>
              <a:rPr lang="zh-CN" altLang="en-US"/>
              <a:t>年末（未减值）</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Grp="1" noChangeArrowheads="1"/>
          </p:cNvSpPr>
          <p:nvPr>
            <p:ph idx="1"/>
          </p:nvPr>
        </p:nvSpPr>
        <p:spPr/>
        <p:txBody>
          <a:bodyPr/>
          <a:lstStyle/>
          <a:p>
            <a:pPr eaLnBrk="1" hangingPunct="1">
              <a:buFont typeface="Wingdings" panose="05000000000000000000" pitchFamily="2" charset="2"/>
              <a:buNone/>
              <a:defRPr/>
            </a:pPr>
            <a:r>
              <a:rPr lang="zh-CN" altLang="en-US">
                <a:effectLst/>
                <a:latin typeface="黑体" panose="02010609060101010101" pitchFamily="2" charset="-122"/>
                <a:ea typeface="黑体" panose="02010609060101010101" pitchFamily="2" charset="-122"/>
              </a:rPr>
              <a:t>应收利息：</a:t>
            </a:r>
          </a:p>
          <a:p>
            <a:pPr eaLnBrk="1" hangingPunct="1">
              <a:buFont typeface="Wingdings" panose="05000000000000000000" pitchFamily="2" charset="2"/>
              <a:buNone/>
              <a:defRPr/>
            </a:pPr>
            <a:r>
              <a:rPr lang="zh-CN" altLang="en-US">
                <a:effectLst/>
                <a:latin typeface="黑体" panose="02010609060101010101" pitchFamily="2" charset="-122"/>
                <a:ea typeface="黑体" panose="02010609060101010101" pitchFamily="2" charset="-122"/>
              </a:rPr>
              <a:t>投资收益：</a:t>
            </a:r>
          </a:p>
          <a:p>
            <a:pPr eaLnBrk="1" hangingPunct="1">
              <a:buFont typeface="Wingdings" panose="05000000000000000000" pitchFamily="2" charset="2"/>
              <a:buNone/>
              <a:defRPr/>
            </a:pPr>
            <a:r>
              <a:rPr lang="zh-CN" altLang="en-US">
                <a:effectLst/>
                <a:latin typeface="黑体" panose="02010609060101010101" pitchFamily="2" charset="-122"/>
                <a:ea typeface="黑体" panose="02010609060101010101" pitchFamily="2" charset="-122"/>
              </a:rPr>
              <a:t>摊余成本：</a:t>
            </a:r>
          </a:p>
          <a:p>
            <a:pPr eaLnBrk="1" hangingPunct="1">
              <a:buFont typeface="Wingdings" panose="05000000000000000000" pitchFamily="2" charset="2"/>
              <a:buNone/>
              <a:defRPr/>
            </a:pPr>
            <a:r>
              <a:rPr lang="zh-CN" altLang="en-US">
                <a:effectLst/>
                <a:latin typeface="黑体" panose="02010609060101010101" pitchFamily="2" charset="-122"/>
                <a:ea typeface="黑体" panose="02010609060101010101" pitchFamily="2" charset="-122"/>
              </a:rPr>
              <a:t>利息调整：</a:t>
            </a:r>
          </a:p>
          <a:p>
            <a:pPr eaLnBrk="1" hangingPunct="1">
              <a:buFont typeface="Wingdings" panose="05000000000000000000" pitchFamily="2" charset="2"/>
              <a:buNone/>
              <a:defRPr/>
            </a:pPr>
            <a:endParaRPr lang="zh-CN" altLang="en-US">
              <a:effectLst/>
              <a:latin typeface="黑体" panose="02010609060101010101" pitchFamily="2" charset="-122"/>
              <a:ea typeface="黑体" panose="02010609060101010101" pitchFamily="2" charset="-122"/>
            </a:endParaRPr>
          </a:p>
          <a:p>
            <a:pPr eaLnBrk="1" hangingPunct="1">
              <a:buFont typeface="Wingdings" panose="05000000000000000000" pitchFamily="2" charset="2"/>
              <a:buNone/>
              <a:defRPr/>
            </a:pPr>
            <a:r>
              <a:rPr lang="zh-CN" altLang="en-US">
                <a:effectLst/>
                <a:latin typeface="黑体" panose="02010609060101010101" pitchFamily="2" charset="-122"/>
                <a:ea typeface="黑体" panose="02010609060101010101" pitchFamily="2" charset="-122"/>
              </a:rPr>
              <a:t>账务处理：</a:t>
            </a:r>
          </a:p>
        </p:txBody>
      </p:sp>
      <p:sp>
        <p:nvSpPr>
          <p:cNvPr id="126979" name="Rectangle 3"/>
          <p:cNvSpPr>
            <a:spLocks noGrp="1" noChangeArrowheads="1"/>
          </p:cNvSpPr>
          <p:nvPr>
            <p:ph type="title"/>
          </p:nvPr>
        </p:nvSpPr>
        <p:spPr>
          <a:noFill/>
        </p:spPr>
        <p:txBody>
          <a:bodyPr/>
          <a:lstStyle/>
          <a:p>
            <a:pPr eaLnBrk="1" hangingPunct="1"/>
            <a:r>
              <a:rPr lang="en-US" altLang="zh-CN"/>
              <a:t>2×18</a:t>
            </a:r>
            <a:r>
              <a:rPr lang="zh-CN" altLang="en-US"/>
              <a:t>年末（未减值）</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idx="1"/>
          </p:nvPr>
        </p:nvSpPr>
        <p:spPr/>
        <p:txBody>
          <a:bodyPr/>
          <a:lstStyle/>
          <a:p>
            <a:pPr eaLnBrk="1" hangingPunct="1">
              <a:lnSpc>
                <a:spcPct val="90000"/>
              </a:lnSpc>
              <a:buFont typeface="Wingdings" panose="05000000000000000000" pitchFamily="2" charset="2"/>
              <a:buNone/>
              <a:defRPr/>
            </a:pPr>
            <a:r>
              <a:rPr lang="zh-CN" altLang="en-US" dirty="0"/>
              <a:t>应收利息： </a:t>
            </a:r>
            <a:r>
              <a:rPr lang="en-US" altLang="zh-CN" dirty="0">
                <a:latin typeface="Times New Roman" panose="02020603050405020304" pitchFamily="18" charset="0"/>
                <a:cs typeface="Times New Roman" panose="02020603050405020304" pitchFamily="18" charset="0"/>
              </a:rPr>
              <a:t>80 000</a:t>
            </a:r>
            <a:r>
              <a:rPr lang="en-US" altLang="zh-CN"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12</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=9 600</a:t>
            </a:r>
          </a:p>
          <a:p>
            <a:pPr eaLnBrk="1" hangingPunct="1">
              <a:lnSpc>
                <a:spcPct val="90000"/>
              </a:lnSpc>
              <a:buFont typeface="Wingdings" panose="05000000000000000000" pitchFamily="2" charset="2"/>
              <a:buNone/>
              <a:defRPr/>
            </a:pPr>
            <a:r>
              <a:rPr lang="zh-CN" altLang="en-US" dirty="0"/>
              <a:t>投资收益：</a:t>
            </a:r>
            <a:r>
              <a:rPr lang="en-US" altLang="zh-CN" dirty="0">
                <a:latin typeface="Times New Roman" panose="02020603050405020304" pitchFamily="18" charset="0"/>
                <a:cs typeface="Times New Roman" panose="02020603050405020304" pitchFamily="18" charset="0"/>
              </a:rPr>
              <a:t>（83 354.4—714.42）×10.66％</a:t>
            </a:r>
            <a:endParaRPr lang="zh-CN" altLang="en-US" dirty="0"/>
          </a:p>
          <a:p>
            <a:pPr eaLnBrk="1" hangingPunct="1">
              <a:lnSpc>
                <a:spcPct val="90000"/>
              </a:lnSpc>
              <a:buFont typeface="Wingdings" panose="05000000000000000000" pitchFamily="2" charset="2"/>
              <a:buNone/>
              <a:defRPr/>
            </a:pPr>
            <a:r>
              <a:rPr lang="zh-CN" altLang="en-US" dirty="0"/>
              <a:t>                 </a:t>
            </a:r>
            <a:r>
              <a:rPr lang="en-US" altLang="zh-CN" dirty="0">
                <a:latin typeface="Times New Roman" panose="02020603050405020304" pitchFamily="18" charset="0"/>
                <a:cs typeface="Times New Roman" panose="02020603050405020304" pitchFamily="18" charset="0"/>
              </a:rPr>
              <a:t>=82 639.98×10.66％=8 809.42</a:t>
            </a:r>
            <a:endParaRPr lang="en-US" altLang="zh-CN" dirty="0"/>
          </a:p>
          <a:p>
            <a:pPr eaLnBrk="1" hangingPunct="1">
              <a:lnSpc>
                <a:spcPct val="90000"/>
              </a:lnSpc>
              <a:buFont typeface="Wingdings" panose="05000000000000000000" pitchFamily="2" charset="2"/>
              <a:buNone/>
              <a:defRPr/>
            </a:pPr>
            <a:r>
              <a:rPr lang="zh-CN" altLang="en-US" dirty="0"/>
              <a:t>摊余成本： </a:t>
            </a:r>
            <a:r>
              <a:rPr lang="en-US" altLang="zh-CN" dirty="0">
                <a:latin typeface="Times New Roman" panose="02020603050405020304" pitchFamily="18" charset="0"/>
                <a:cs typeface="Times New Roman" panose="02020603050405020304" pitchFamily="18" charset="0"/>
              </a:rPr>
              <a:t>82 639.98+8 809.42-9600=81 849.40</a:t>
            </a:r>
            <a:r>
              <a:rPr lang="en-US" altLang="zh-CN" dirty="0"/>
              <a:t> </a:t>
            </a:r>
          </a:p>
          <a:p>
            <a:pPr eaLnBrk="1" hangingPunct="1">
              <a:lnSpc>
                <a:spcPct val="90000"/>
              </a:lnSpc>
              <a:buFont typeface="Wingdings" panose="05000000000000000000" pitchFamily="2" charset="2"/>
              <a:buNone/>
              <a:defRPr/>
            </a:pPr>
            <a:r>
              <a:rPr lang="zh-CN" altLang="en-US" dirty="0"/>
              <a:t>利息调整： </a:t>
            </a:r>
            <a:r>
              <a:rPr lang="en-US" altLang="zh-CN" dirty="0">
                <a:latin typeface="Times New Roman" panose="02020603050405020304" pitchFamily="18" charset="0"/>
                <a:cs typeface="Times New Roman" panose="02020603050405020304" pitchFamily="18" charset="0"/>
              </a:rPr>
              <a:t>9 600-8 809.42=790.58</a:t>
            </a:r>
            <a:endParaRPr lang="en-US" altLang="zh-CN" dirty="0"/>
          </a:p>
          <a:p>
            <a:pPr eaLnBrk="1" hangingPunct="1">
              <a:lnSpc>
                <a:spcPct val="90000"/>
              </a:lnSpc>
              <a:buFont typeface="Wingdings" panose="05000000000000000000" pitchFamily="2" charset="2"/>
              <a:buNone/>
              <a:defRPr/>
            </a:pPr>
            <a:endParaRPr lang="zh-CN" altLang="en-US" sz="2400" b="1" dirty="0">
              <a:latin typeface="楷体_GB2312" panose="02010609030101010101" pitchFamily="49" charset="-122"/>
              <a:ea typeface="楷体_GB2312" panose="02010609030101010101" pitchFamily="49" charset="-122"/>
              <a:cs typeface="+mn-ea"/>
            </a:endParaRPr>
          </a:p>
          <a:p>
            <a:pPr eaLnBrk="1" hangingPunct="1">
              <a:lnSpc>
                <a:spcPct val="90000"/>
              </a:lnSpc>
              <a:buFont typeface="Wingdings" panose="05000000000000000000" pitchFamily="2" charset="2"/>
              <a:buNone/>
              <a:defRPr/>
            </a:pPr>
            <a:r>
              <a:rPr lang="zh-CN" altLang="en-US" sz="2400" b="1" dirty="0">
                <a:latin typeface="楷体_GB2312" panose="02010609030101010101" pitchFamily="49" charset="-122"/>
                <a:ea typeface="楷体_GB2312" panose="02010609030101010101" pitchFamily="49" charset="-122"/>
                <a:cs typeface="+mn-ea"/>
              </a:rPr>
              <a:t>借：应收利息 </a:t>
            </a:r>
            <a:r>
              <a:rPr lang="zh-CN" altLang="en-US" sz="2400" dirty="0"/>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9 600</a:t>
            </a:r>
          </a:p>
          <a:p>
            <a:pPr eaLnBrk="1" hangingPunct="1">
              <a:lnSpc>
                <a:spcPct val="90000"/>
              </a:lnSpc>
              <a:buFont typeface="Wingdings" panose="05000000000000000000" pitchFamily="2" charset="2"/>
              <a:buNone/>
              <a:defRPr/>
            </a:pPr>
            <a:r>
              <a:rPr lang="en-US" altLang="zh-CN" sz="2400" dirty="0"/>
              <a:t>   </a:t>
            </a:r>
            <a:r>
              <a:rPr lang="zh-CN" altLang="en-US" sz="2400" b="1" dirty="0">
                <a:latin typeface="楷体_GB2312" panose="02010609030101010101" pitchFamily="49" charset="-122"/>
                <a:ea typeface="楷体_GB2312" panose="02010609030101010101" pitchFamily="49" charset="-122"/>
                <a:cs typeface="+mn-ea"/>
              </a:rPr>
              <a:t>贷：投资收益</a:t>
            </a:r>
            <a:r>
              <a:rPr lang="zh-CN" altLang="en-US" sz="2400" dirty="0"/>
              <a:t>                    </a:t>
            </a:r>
            <a:r>
              <a:rPr sz="2400" dirty="0">
                <a:latin typeface="Times New Roman" panose="02020603050405020304" pitchFamily="18" charset="0"/>
                <a:cs typeface="Times New Roman" panose="02020603050405020304" pitchFamily="18" charset="0"/>
              </a:rPr>
              <a:t>8 809.42</a:t>
            </a:r>
            <a:endParaRPr lang="en-US" altLang="zh-CN" sz="2400" dirty="0"/>
          </a:p>
          <a:p>
            <a:pPr eaLnBrk="1" hangingPunct="1">
              <a:lnSpc>
                <a:spcPct val="90000"/>
              </a:lnSpc>
              <a:buFont typeface="Wingdings" panose="05000000000000000000" pitchFamily="2" charset="2"/>
              <a:buNone/>
              <a:defRPr/>
            </a:pPr>
            <a:r>
              <a:rPr lang="en-US" altLang="zh-CN" sz="2400" dirty="0"/>
              <a:t>      </a:t>
            </a:r>
            <a:r>
              <a:rPr lang="zh-CN" altLang="en-US" sz="2400" b="1" dirty="0">
                <a:latin typeface="楷体_GB2312" panose="02010609030101010101" pitchFamily="49" charset="-122"/>
                <a:ea typeface="楷体_GB2312" panose="02010609030101010101" pitchFamily="49" charset="-122"/>
                <a:cs typeface="+mn-ea"/>
              </a:rPr>
              <a:t>债权投资</a:t>
            </a:r>
            <a:r>
              <a:rPr sz="2400" b="1" dirty="0">
                <a:latin typeface="楷体_GB2312" panose="02010609030101010101" pitchFamily="49" charset="-122"/>
                <a:ea typeface="楷体_GB2312" panose="02010609030101010101" pitchFamily="49" charset="-122"/>
                <a:cs typeface="+mn-ea"/>
              </a:rPr>
              <a:t>—</a:t>
            </a:r>
            <a:r>
              <a:rPr lang="zh-CN" altLang="en-US" sz="2400" b="1" dirty="0">
                <a:latin typeface="楷体_GB2312" panose="02010609030101010101" pitchFamily="49" charset="-122"/>
                <a:ea typeface="楷体_GB2312" panose="02010609030101010101" pitchFamily="49" charset="-122"/>
                <a:cs typeface="+mn-ea"/>
              </a:rPr>
              <a:t>利息调整</a:t>
            </a:r>
            <a:r>
              <a:rPr lang="zh-CN" altLang="en-US" sz="2400" dirty="0"/>
              <a:t>             </a:t>
            </a:r>
            <a:r>
              <a:rPr sz="2400" dirty="0">
                <a:latin typeface="Times New Roman" panose="02020603050405020304" pitchFamily="18" charset="0"/>
                <a:cs typeface="Times New Roman" panose="02020603050405020304" pitchFamily="18" charset="0"/>
              </a:rPr>
              <a:t>790.58</a:t>
            </a:r>
            <a:r>
              <a:rPr lang="en-US" altLang="zh-CN" dirty="0"/>
              <a:t> </a:t>
            </a:r>
          </a:p>
        </p:txBody>
      </p:sp>
      <p:sp>
        <p:nvSpPr>
          <p:cNvPr id="128003" name="Rectangle 3"/>
          <p:cNvSpPr>
            <a:spLocks noGrp="1" noChangeArrowheads="1"/>
          </p:cNvSpPr>
          <p:nvPr>
            <p:ph type="title"/>
          </p:nvPr>
        </p:nvSpPr>
        <p:spPr>
          <a:noFill/>
        </p:spPr>
        <p:txBody>
          <a:bodyPr/>
          <a:lstStyle/>
          <a:p>
            <a:pPr eaLnBrk="1" hangingPunct="1"/>
            <a:r>
              <a:rPr lang="en-US" altLang="zh-CN"/>
              <a:t>2×18</a:t>
            </a:r>
            <a:r>
              <a:rPr lang="zh-CN" altLang="en-US"/>
              <a:t>年末（未减值）</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Grp="1" noChangeArrowheads="1"/>
          </p:cNvSpPr>
          <p:nvPr>
            <p:ph idx="1"/>
          </p:nvPr>
        </p:nvSpPr>
        <p:spPr/>
        <p:txBody>
          <a:bodyPr/>
          <a:lstStyle/>
          <a:p>
            <a:pPr eaLnBrk="1" hangingPunct="1">
              <a:buFont typeface="Wingdings" panose="05000000000000000000" pitchFamily="2" charset="2"/>
              <a:buNone/>
              <a:defRPr/>
            </a:pPr>
            <a:r>
              <a:rPr lang="zh-CN" altLang="en-US">
                <a:effectLst/>
              </a:rPr>
              <a:t>应收利息：</a:t>
            </a:r>
          </a:p>
          <a:p>
            <a:pPr eaLnBrk="1" hangingPunct="1">
              <a:buFont typeface="Wingdings" panose="05000000000000000000" pitchFamily="2" charset="2"/>
              <a:buNone/>
              <a:defRPr/>
            </a:pPr>
            <a:r>
              <a:rPr lang="zh-CN" altLang="en-US">
                <a:effectLst/>
              </a:rPr>
              <a:t>投资收益：</a:t>
            </a:r>
          </a:p>
          <a:p>
            <a:pPr eaLnBrk="1" hangingPunct="1">
              <a:buFont typeface="Wingdings" panose="05000000000000000000" pitchFamily="2" charset="2"/>
              <a:buNone/>
              <a:defRPr/>
            </a:pPr>
            <a:r>
              <a:rPr lang="zh-CN" altLang="en-US">
                <a:effectLst/>
              </a:rPr>
              <a:t>摊余成本：</a:t>
            </a:r>
          </a:p>
          <a:p>
            <a:pPr eaLnBrk="1" hangingPunct="1">
              <a:buFont typeface="Wingdings" panose="05000000000000000000" pitchFamily="2" charset="2"/>
              <a:buNone/>
              <a:defRPr/>
            </a:pPr>
            <a:r>
              <a:rPr lang="zh-CN" altLang="en-US">
                <a:effectLst/>
              </a:rPr>
              <a:t>利息调整：</a:t>
            </a:r>
          </a:p>
          <a:p>
            <a:pPr eaLnBrk="1" hangingPunct="1">
              <a:buFont typeface="Wingdings" panose="05000000000000000000" pitchFamily="2" charset="2"/>
              <a:buNone/>
              <a:defRPr/>
            </a:pPr>
            <a:endParaRPr lang="zh-CN" altLang="en-US">
              <a:effectLst/>
            </a:endParaRPr>
          </a:p>
          <a:p>
            <a:pPr eaLnBrk="1" hangingPunct="1">
              <a:buFont typeface="Wingdings" panose="05000000000000000000" pitchFamily="2" charset="2"/>
              <a:buNone/>
              <a:defRPr/>
            </a:pPr>
            <a:r>
              <a:rPr lang="zh-CN" altLang="en-US">
                <a:effectLst/>
              </a:rPr>
              <a:t>账务处理：</a:t>
            </a:r>
          </a:p>
        </p:txBody>
      </p:sp>
      <p:sp>
        <p:nvSpPr>
          <p:cNvPr id="129027" name="Rectangle 3"/>
          <p:cNvSpPr>
            <a:spLocks noGrp="1" noChangeArrowheads="1"/>
          </p:cNvSpPr>
          <p:nvPr>
            <p:ph type="title"/>
          </p:nvPr>
        </p:nvSpPr>
        <p:spPr>
          <a:noFill/>
        </p:spPr>
        <p:txBody>
          <a:bodyPr/>
          <a:lstStyle/>
          <a:p>
            <a:pPr eaLnBrk="1" hangingPunct="1"/>
            <a:r>
              <a:rPr lang="en-US" altLang="zh-CN"/>
              <a:t>2×19</a:t>
            </a:r>
            <a:r>
              <a:rPr lang="zh-CN" altLang="en-US"/>
              <a:t>年末（未减值）</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idx="1"/>
          </p:nvPr>
        </p:nvSpPr>
        <p:spPr/>
        <p:txBody>
          <a:bodyPr/>
          <a:lstStyle/>
          <a:p>
            <a:pPr eaLnBrk="1" hangingPunct="1">
              <a:buFont typeface="Wingdings" panose="05000000000000000000" pitchFamily="2" charset="2"/>
              <a:buNone/>
              <a:defRPr/>
            </a:pPr>
            <a:r>
              <a:rPr lang="zh-CN" altLang="en-US" dirty="0"/>
              <a:t>应收利息： </a:t>
            </a:r>
            <a:r>
              <a:rPr lang="en-US" altLang="zh-CN" dirty="0">
                <a:latin typeface="Times New Roman" panose="02020603050405020304" pitchFamily="18" charset="0"/>
                <a:cs typeface="Times New Roman" panose="02020603050405020304" pitchFamily="18" charset="0"/>
              </a:rPr>
              <a:t>80 000</a:t>
            </a:r>
            <a:r>
              <a:rPr lang="en-US" altLang="zh-CN"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12</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=9 600</a:t>
            </a:r>
          </a:p>
          <a:p>
            <a:pPr algn="l" eaLnBrk="1" hangingPunct="1">
              <a:buFont typeface="Wingdings" panose="05000000000000000000" pitchFamily="2" charset="2"/>
              <a:buNone/>
              <a:defRPr/>
            </a:pPr>
            <a:r>
              <a:rPr lang="zh-CN" altLang="en-US" dirty="0">
                <a:latin typeface="黑体" panose="02010609060101010101" pitchFamily="2" charset="-122"/>
              </a:rPr>
              <a:t>投资收益：</a:t>
            </a:r>
            <a:r>
              <a:rPr lang="en-US" altLang="zh-CN" dirty="0">
                <a:latin typeface="Times New Roman" panose="02020603050405020304" pitchFamily="18" charset="0"/>
                <a:cs typeface="Times New Roman" panose="02020603050405020304" pitchFamily="18" charset="0"/>
              </a:rPr>
              <a:t>（82 639.98-790.58）×10.66％</a:t>
            </a:r>
          </a:p>
          <a:p>
            <a:pPr algn="l" eaLnBrk="1" hangingPunct="1">
              <a:buFont typeface="Wingdings" panose="05000000000000000000" pitchFamily="2" charset="2"/>
              <a:buNone/>
              <a:defRPr/>
            </a:pPr>
            <a:r>
              <a:rPr lang="en-US" altLang="zh-CN" dirty="0">
                <a:latin typeface="Times New Roman" panose="02020603050405020304" pitchFamily="18" charset="0"/>
                <a:cs typeface="Times New Roman" panose="02020603050405020304" pitchFamily="18" charset="0"/>
              </a:rPr>
              <a:t>                   =81 849.4×10.66％=8725.15</a:t>
            </a:r>
            <a:endParaRPr lang="en-US" altLang="zh-CN" dirty="0">
              <a:latin typeface="黑体" panose="02010609060101010101" pitchFamily="2" charset="-122"/>
            </a:endParaRPr>
          </a:p>
          <a:p>
            <a:pPr eaLnBrk="1" hangingPunct="1">
              <a:buFont typeface="Wingdings" panose="05000000000000000000" pitchFamily="2" charset="2"/>
              <a:buNone/>
              <a:defRPr/>
            </a:pPr>
            <a:r>
              <a:rPr lang="zh-CN" altLang="en-US" dirty="0"/>
              <a:t>摊余成本： </a:t>
            </a:r>
            <a:r>
              <a:rPr lang="en-US" altLang="zh-CN" dirty="0">
                <a:latin typeface="Times New Roman" panose="02020603050405020304" pitchFamily="18" charset="0"/>
                <a:cs typeface="Times New Roman" panose="02020603050405020304" pitchFamily="18" charset="0"/>
              </a:rPr>
              <a:t>81 849.40+8 725.15-9 600=80 974.55</a:t>
            </a:r>
            <a:r>
              <a:rPr lang="en-US" altLang="zh-CN" dirty="0"/>
              <a:t> </a:t>
            </a:r>
          </a:p>
          <a:p>
            <a:pPr eaLnBrk="1" hangingPunct="1">
              <a:buFont typeface="Wingdings" panose="05000000000000000000" pitchFamily="2" charset="2"/>
              <a:buNone/>
              <a:defRPr/>
            </a:pPr>
            <a:r>
              <a:rPr lang="zh-CN" altLang="en-US" dirty="0"/>
              <a:t>利息调整： </a:t>
            </a:r>
            <a:r>
              <a:rPr lang="en-US" altLang="zh-CN" dirty="0">
                <a:latin typeface="Times New Roman" panose="02020603050405020304" pitchFamily="18" charset="0"/>
                <a:cs typeface="Times New Roman" panose="02020603050405020304" pitchFamily="18" charset="0"/>
              </a:rPr>
              <a:t>9 600-8725.15=874.85</a:t>
            </a:r>
          </a:p>
          <a:p>
            <a:pPr eaLnBrk="1" hangingPunct="1">
              <a:buFont typeface="Wingdings" panose="05000000000000000000" pitchFamily="2" charset="2"/>
              <a:buNone/>
              <a:defRPr/>
            </a:pPr>
            <a:endParaRPr lang="zh-CN" altLang="en-US" sz="2400" b="1" dirty="0">
              <a:latin typeface="楷体_GB2312" panose="02010609030101010101" pitchFamily="49" charset="-122"/>
              <a:ea typeface="楷体_GB2312" panose="02010609030101010101" pitchFamily="49" charset="-122"/>
              <a:cs typeface="+mn-ea"/>
            </a:endParaRPr>
          </a:p>
          <a:p>
            <a:pPr eaLnBrk="1" hangingPunct="1">
              <a:buFont typeface="Wingdings" panose="05000000000000000000" pitchFamily="2" charset="2"/>
              <a:buNone/>
              <a:defRPr/>
            </a:pPr>
            <a:r>
              <a:rPr lang="zh-CN" altLang="en-US" sz="2400" b="1" dirty="0">
                <a:latin typeface="楷体_GB2312" panose="02010609030101010101" pitchFamily="49" charset="-122"/>
                <a:ea typeface="楷体_GB2312" panose="02010609030101010101" pitchFamily="49" charset="-122"/>
                <a:cs typeface="+mn-ea"/>
              </a:rPr>
              <a:t>借：应收利息</a:t>
            </a:r>
            <a:r>
              <a:rPr lang="zh-CN" altLang="en-US" sz="2800" dirty="0">
                <a:latin typeface="黑体" panose="02010609060101010101" pitchFamily="2" charset="-122"/>
              </a:rPr>
              <a:t>           </a:t>
            </a:r>
            <a:r>
              <a:rPr lang="zh-CN" altLang="en-US" sz="28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9 600</a:t>
            </a:r>
            <a:endParaRPr lang="en-US" altLang="zh-CN" sz="2800" dirty="0">
              <a:latin typeface="黑体" panose="02010609060101010101" pitchFamily="2" charset="-122"/>
            </a:endParaRPr>
          </a:p>
          <a:p>
            <a:pPr eaLnBrk="1" hangingPunct="1">
              <a:buFont typeface="Wingdings" panose="05000000000000000000" pitchFamily="2" charset="2"/>
              <a:buNone/>
              <a:defRPr/>
            </a:pPr>
            <a:r>
              <a:rPr lang="en-US" altLang="zh-CN" sz="2800" dirty="0">
                <a:latin typeface="黑体" panose="02010609060101010101" pitchFamily="2" charset="-122"/>
              </a:rPr>
              <a:t>   </a:t>
            </a:r>
            <a:r>
              <a:rPr lang="zh-CN" altLang="en-US" sz="2400" b="1" dirty="0">
                <a:latin typeface="楷体_GB2312" panose="02010609030101010101" pitchFamily="49" charset="-122"/>
                <a:ea typeface="楷体_GB2312" panose="02010609030101010101" pitchFamily="49" charset="-122"/>
                <a:cs typeface="+mn-ea"/>
              </a:rPr>
              <a:t>贷：投资收益 </a:t>
            </a:r>
            <a:r>
              <a:rPr lang="zh-CN" altLang="en-US" sz="2800" dirty="0">
                <a:latin typeface="黑体" panose="02010609060101010101" pitchFamily="2" charset="-122"/>
              </a:rPr>
              <a:t>                </a:t>
            </a:r>
            <a:r>
              <a:rPr sz="2800" dirty="0">
                <a:latin typeface="Times New Roman" panose="02020603050405020304" pitchFamily="18" charset="0"/>
                <a:cs typeface="Times New Roman" panose="02020603050405020304" pitchFamily="18" charset="0"/>
              </a:rPr>
              <a:t>8 725.15</a:t>
            </a:r>
            <a:endParaRPr lang="en-US" altLang="zh-CN" sz="2800" dirty="0">
              <a:latin typeface="黑体" panose="02010609060101010101" pitchFamily="2" charset="-122"/>
            </a:endParaRPr>
          </a:p>
          <a:p>
            <a:pPr eaLnBrk="1" hangingPunct="1">
              <a:buFont typeface="Wingdings" panose="05000000000000000000" pitchFamily="2" charset="2"/>
              <a:buNone/>
              <a:defRPr/>
            </a:pPr>
            <a:r>
              <a:rPr lang="en-US" altLang="zh-CN" sz="2800" dirty="0">
                <a:latin typeface="黑体" panose="02010609060101010101" pitchFamily="2" charset="-122"/>
              </a:rPr>
              <a:t>       </a:t>
            </a:r>
            <a:r>
              <a:rPr lang="zh-CN" altLang="en-US" sz="2400" b="1" dirty="0">
                <a:latin typeface="楷体_GB2312" panose="02010609030101010101" pitchFamily="49" charset="-122"/>
                <a:ea typeface="楷体_GB2312" panose="02010609030101010101" pitchFamily="49" charset="-122"/>
                <a:cs typeface="+mn-ea"/>
              </a:rPr>
              <a:t>债权投资</a:t>
            </a:r>
            <a:r>
              <a:rPr sz="2400" b="1" dirty="0">
                <a:latin typeface="楷体_GB2312" panose="02010609030101010101" pitchFamily="49" charset="-122"/>
                <a:ea typeface="楷体_GB2312" panose="02010609030101010101" pitchFamily="49" charset="-122"/>
                <a:cs typeface="+mn-ea"/>
              </a:rPr>
              <a:t>—</a:t>
            </a:r>
            <a:r>
              <a:rPr lang="zh-CN" altLang="en-US" sz="2400" b="1" dirty="0">
                <a:latin typeface="楷体_GB2312" panose="02010609030101010101" pitchFamily="49" charset="-122"/>
                <a:ea typeface="楷体_GB2312" panose="02010609030101010101" pitchFamily="49" charset="-122"/>
                <a:cs typeface="+mn-ea"/>
              </a:rPr>
              <a:t>利息调整</a:t>
            </a:r>
            <a:r>
              <a:rPr lang="zh-CN" altLang="en-US" sz="2800" dirty="0"/>
              <a:t>         </a:t>
            </a:r>
            <a:r>
              <a:rPr sz="2800" dirty="0">
                <a:latin typeface="Times New Roman" panose="02020603050405020304" pitchFamily="18" charset="0"/>
                <a:cs typeface="Times New Roman" panose="02020603050405020304" pitchFamily="18" charset="0"/>
              </a:rPr>
              <a:t>874.85</a:t>
            </a:r>
          </a:p>
        </p:txBody>
      </p:sp>
      <p:sp>
        <p:nvSpPr>
          <p:cNvPr id="130051" name="Rectangle 3"/>
          <p:cNvSpPr>
            <a:spLocks noGrp="1" noChangeArrowheads="1"/>
          </p:cNvSpPr>
          <p:nvPr>
            <p:ph type="title"/>
          </p:nvPr>
        </p:nvSpPr>
        <p:spPr>
          <a:noFill/>
        </p:spPr>
        <p:txBody>
          <a:bodyPr/>
          <a:lstStyle/>
          <a:p>
            <a:pPr eaLnBrk="1" hangingPunct="1"/>
            <a:r>
              <a:rPr lang="en-US" altLang="zh-CN">
                <a:latin typeface="Times New Roman" panose="02020603050405020304" pitchFamily="18" charset="0"/>
                <a:cs typeface="Times New Roman" panose="02020603050405020304" pitchFamily="18" charset="0"/>
              </a:rPr>
              <a:t>2×19</a:t>
            </a:r>
            <a:r>
              <a:rPr lang="zh-CN" altLang="en-US"/>
              <a:t>年末（未减值）</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ChangeArrowheads="1"/>
          </p:cNvSpPr>
          <p:nvPr>
            <p:ph idx="1"/>
          </p:nvPr>
        </p:nvSpPr>
        <p:spPr/>
        <p:txBody>
          <a:bodyPr/>
          <a:lstStyle/>
          <a:p>
            <a:pPr eaLnBrk="1" hangingPunct="1">
              <a:buFont typeface="Wingdings" panose="05000000000000000000" pitchFamily="2" charset="2"/>
              <a:buNone/>
              <a:defRPr/>
            </a:pPr>
            <a:r>
              <a:rPr lang="zh-CN" altLang="en-US">
                <a:effectLst/>
              </a:rPr>
              <a:t>应收利息：</a:t>
            </a:r>
          </a:p>
          <a:p>
            <a:pPr eaLnBrk="1" hangingPunct="1">
              <a:buFont typeface="Wingdings" panose="05000000000000000000" pitchFamily="2" charset="2"/>
              <a:buNone/>
              <a:defRPr/>
            </a:pPr>
            <a:r>
              <a:rPr lang="zh-CN" altLang="en-US">
                <a:effectLst/>
              </a:rPr>
              <a:t>投资收益：</a:t>
            </a:r>
          </a:p>
          <a:p>
            <a:pPr eaLnBrk="1" hangingPunct="1">
              <a:buFont typeface="Wingdings" panose="05000000000000000000" pitchFamily="2" charset="2"/>
              <a:buNone/>
              <a:defRPr/>
            </a:pPr>
            <a:r>
              <a:rPr lang="zh-CN" altLang="en-US">
                <a:effectLst/>
              </a:rPr>
              <a:t>摊余成本：</a:t>
            </a:r>
          </a:p>
          <a:p>
            <a:pPr eaLnBrk="1" hangingPunct="1">
              <a:buFont typeface="Wingdings" panose="05000000000000000000" pitchFamily="2" charset="2"/>
              <a:buNone/>
              <a:defRPr/>
            </a:pPr>
            <a:r>
              <a:rPr lang="zh-CN" altLang="en-US">
                <a:effectLst/>
              </a:rPr>
              <a:t>利息调整：</a:t>
            </a:r>
          </a:p>
          <a:p>
            <a:pPr eaLnBrk="1" hangingPunct="1">
              <a:buFont typeface="Wingdings" panose="05000000000000000000" pitchFamily="2" charset="2"/>
              <a:buNone/>
              <a:defRPr/>
            </a:pPr>
            <a:endParaRPr lang="zh-CN" altLang="en-US">
              <a:effectLst/>
            </a:endParaRPr>
          </a:p>
          <a:p>
            <a:pPr eaLnBrk="1" hangingPunct="1">
              <a:buFont typeface="Wingdings" panose="05000000000000000000" pitchFamily="2" charset="2"/>
              <a:buNone/>
              <a:defRPr/>
            </a:pPr>
            <a:r>
              <a:rPr lang="zh-CN" altLang="en-US">
                <a:effectLst/>
              </a:rPr>
              <a:t>账务处理：</a:t>
            </a:r>
          </a:p>
        </p:txBody>
      </p:sp>
      <p:sp>
        <p:nvSpPr>
          <p:cNvPr id="131075" name="Rectangle 3"/>
          <p:cNvSpPr>
            <a:spLocks noGrp="1" noChangeArrowheads="1"/>
          </p:cNvSpPr>
          <p:nvPr>
            <p:ph type="title"/>
          </p:nvPr>
        </p:nvSpPr>
        <p:spPr>
          <a:noFill/>
        </p:spPr>
        <p:txBody>
          <a:bodyPr/>
          <a:lstStyle/>
          <a:p>
            <a:pPr eaLnBrk="1" hangingPunct="1"/>
            <a:r>
              <a:rPr lang="en-US" altLang="zh-CN">
                <a:latin typeface="Times New Roman" panose="02020603050405020304" pitchFamily="18" charset="0"/>
                <a:cs typeface="Times New Roman" panose="02020603050405020304" pitchFamily="18" charset="0"/>
              </a:rPr>
              <a:t>2×20</a:t>
            </a:r>
            <a:r>
              <a:rPr lang="zh-CN" altLang="en-US"/>
              <a:t>年末（未减值）</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Grp="1" noChangeArrowheads="1"/>
          </p:cNvSpPr>
          <p:nvPr>
            <p:ph idx="1"/>
          </p:nvPr>
        </p:nvSpPr>
        <p:spPr/>
        <p:txBody>
          <a:bodyPr/>
          <a:lstStyle/>
          <a:p>
            <a:pPr eaLnBrk="1" hangingPunct="1">
              <a:lnSpc>
                <a:spcPct val="80000"/>
              </a:lnSpc>
              <a:buFont typeface="Wingdings" panose="05000000000000000000" pitchFamily="2" charset="2"/>
              <a:buNone/>
              <a:defRPr/>
            </a:pPr>
            <a:r>
              <a:rPr lang="zh-CN" altLang="en-US" sz="2400" dirty="0"/>
              <a:t>应收利息：</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80 000</a:t>
            </a:r>
            <a:r>
              <a:rPr lang="en-US" altLang="zh-CN"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12</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=9 600</a:t>
            </a:r>
          </a:p>
          <a:p>
            <a:pPr eaLnBrk="1" hangingPunct="1">
              <a:lnSpc>
                <a:spcPct val="80000"/>
              </a:lnSpc>
              <a:buFont typeface="Wingdings" panose="05000000000000000000" pitchFamily="2" charset="2"/>
              <a:buNone/>
              <a:defRPr/>
            </a:pPr>
            <a:r>
              <a:rPr lang="zh-CN" altLang="en-US" sz="2400" dirty="0"/>
              <a:t>投资收益：</a:t>
            </a:r>
            <a:r>
              <a:rPr lang="zh-CN" altLang="en-US" sz="2400" dirty="0">
                <a:latin typeface="Times New Roman" panose="02020603050405020304" pitchFamily="18" charset="0"/>
                <a:cs typeface="Times New Roman" panose="02020603050405020304" pitchFamily="18" charset="0"/>
              </a:rPr>
              <a:t>（</a:t>
            </a:r>
            <a:r>
              <a:rPr sz="2400" dirty="0">
                <a:latin typeface="Times New Roman" panose="02020603050405020304" pitchFamily="18" charset="0"/>
                <a:cs typeface="Times New Roman" panose="02020603050405020304" pitchFamily="18" charset="0"/>
              </a:rPr>
              <a:t>81 849.4-874.85</a:t>
            </a:r>
            <a:r>
              <a:rPr lang="zh-CN" altLang="en-US" sz="2400" dirty="0">
                <a:latin typeface="Times New Roman" panose="02020603050405020304" pitchFamily="18" charset="0"/>
                <a:cs typeface="Times New Roman" panose="02020603050405020304" pitchFamily="18" charset="0"/>
              </a:rPr>
              <a:t>）</a:t>
            </a:r>
            <a:r>
              <a:rPr sz="2400" dirty="0">
                <a:latin typeface="Times New Roman" panose="02020603050405020304" pitchFamily="18" charset="0"/>
                <a:cs typeface="Times New Roman" panose="02020603050405020304" pitchFamily="18" charset="0"/>
              </a:rPr>
              <a:t>×10.66</a:t>
            </a:r>
            <a:r>
              <a:rPr lang="zh-CN" altLang="en-US" sz="2400" dirty="0">
                <a:latin typeface="Times New Roman" panose="02020603050405020304" pitchFamily="18" charset="0"/>
                <a:cs typeface="Times New Roman" panose="02020603050405020304" pitchFamily="18" charset="0"/>
              </a:rPr>
              <a:t>％</a:t>
            </a:r>
            <a:endParaRPr lang="zh-CN" altLang="en-US" sz="2400" dirty="0"/>
          </a:p>
          <a:p>
            <a:pPr eaLnBrk="1" hangingPunct="1">
              <a:lnSpc>
                <a:spcPct val="80000"/>
              </a:lnSpc>
              <a:buFont typeface="Wingdings" panose="05000000000000000000" pitchFamily="2" charset="2"/>
              <a:buNone/>
              <a:defRPr/>
            </a:pPr>
            <a:r>
              <a:rPr lang="zh-CN" altLang="en-US" sz="2400" dirty="0"/>
              <a:t>           </a:t>
            </a:r>
            <a:r>
              <a:rPr lang="en-US" altLang="zh-CN" sz="2400" dirty="0"/>
              <a:t>=</a:t>
            </a:r>
            <a:r>
              <a:rPr sz="2400" dirty="0">
                <a:latin typeface="Times New Roman" panose="02020603050405020304" pitchFamily="18" charset="0"/>
                <a:cs typeface="Times New Roman" panose="02020603050405020304" pitchFamily="18" charset="0"/>
              </a:rPr>
              <a:t>80 974.55×10.66</a:t>
            </a:r>
            <a:r>
              <a:rPr lang="zh-CN" altLang="en-US" sz="2400" dirty="0">
                <a:latin typeface="Times New Roman" panose="02020603050405020304" pitchFamily="18" charset="0"/>
                <a:cs typeface="Times New Roman" panose="02020603050405020304" pitchFamily="18" charset="0"/>
              </a:rPr>
              <a:t>％</a:t>
            </a:r>
            <a:r>
              <a:rPr sz="2400" dirty="0">
                <a:latin typeface="Times New Roman" panose="02020603050405020304" pitchFamily="18" charset="0"/>
                <a:cs typeface="Times New Roman" panose="02020603050405020304" pitchFamily="18" charset="0"/>
              </a:rPr>
              <a:t>=8 631.89</a:t>
            </a:r>
            <a:r>
              <a:rPr lang="en-US" altLang="zh-CN" sz="2400" dirty="0"/>
              <a:t>   </a:t>
            </a:r>
          </a:p>
          <a:p>
            <a:pPr eaLnBrk="1" hangingPunct="1">
              <a:lnSpc>
                <a:spcPct val="80000"/>
              </a:lnSpc>
              <a:buFont typeface="Wingdings" panose="05000000000000000000" pitchFamily="2" charset="2"/>
              <a:buNone/>
              <a:defRPr/>
            </a:pPr>
            <a:r>
              <a:rPr lang="en-US" altLang="zh-CN" sz="2400" dirty="0"/>
              <a:t> /*</a:t>
            </a:r>
            <a:r>
              <a:rPr lang="zh-CN" altLang="en-US" sz="2400" dirty="0"/>
              <a:t>顺算法*</a:t>
            </a:r>
            <a:r>
              <a:rPr lang="en-US" altLang="zh-CN" sz="2400" dirty="0"/>
              <a:t>/</a:t>
            </a:r>
          </a:p>
          <a:p>
            <a:pPr eaLnBrk="1" hangingPunct="1">
              <a:lnSpc>
                <a:spcPct val="80000"/>
              </a:lnSpc>
              <a:buFont typeface="Wingdings" panose="05000000000000000000" pitchFamily="2" charset="2"/>
              <a:buNone/>
              <a:defRPr/>
            </a:pPr>
            <a:r>
              <a:rPr lang="en-US" altLang="zh-CN" sz="2400" dirty="0"/>
              <a:t>           =</a:t>
            </a:r>
            <a:r>
              <a:rPr sz="2400" dirty="0">
                <a:latin typeface="Times New Roman" panose="02020603050405020304" pitchFamily="18" charset="0"/>
                <a:cs typeface="Times New Roman" panose="02020603050405020304" pitchFamily="18" charset="0"/>
              </a:rPr>
              <a:t>80 000-80 974.55+9 600=8 625.45</a:t>
            </a:r>
          </a:p>
          <a:p>
            <a:pPr eaLnBrk="1" hangingPunct="1">
              <a:lnSpc>
                <a:spcPct val="80000"/>
              </a:lnSpc>
              <a:buFont typeface="Wingdings" panose="05000000000000000000" pitchFamily="2" charset="2"/>
              <a:buNone/>
              <a:defRPr/>
            </a:pPr>
            <a:r>
              <a:rPr lang="en-US" altLang="zh-CN" sz="2400" dirty="0"/>
              <a:t>/*</a:t>
            </a:r>
            <a:r>
              <a:rPr lang="zh-CN" altLang="en-US" sz="2400" dirty="0"/>
              <a:t>倒挤法*</a:t>
            </a:r>
            <a:r>
              <a:rPr lang="en-US" altLang="zh-CN" sz="2400" dirty="0"/>
              <a:t>/</a:t>
            </a:r>
          </a:p>
          <a:p>
            <a:pPr eaLnBrk="1" hangingPunct="1">
              <a:lnSpc>
                <a:spcPct val="80000"/>
              </a:lnSpc>
              <a:buFont typeface="Wingdings" panose="05000000000000000000" pitchFamily="2" charset="2"/>
              <a:buNone/>
              <a:defRPr/>
            </a:pPr>
            <a:r>
              <a:rPr lang="zh-CN" altLang="en-US" sz="2400" dirty="0"/>
              <a:t>摊余成本： </a:t>
            </a:r>
            <a:r>
              <a:rPr lang="en-US" altLang="zh-CN" sz="2400" dirty="0">
                <a:latin typeface="Times New Roman" panose="02020603050405020304" pitchFamily="18" charset="0"/>
                <a:cs typeface="Times New Roman" panose="02020603050405020304" pitchFamily="18" charset="0"/>
              </a:rPr>
              <a:t>80 000</a:t>
            </a:r>
            <a:endParaRPr lang="en-US" altLang="zh-CN" sz="2400" dirty="0"/>
          </a:p>
          <a:p>
            <a:pPr eaLnBrk="1" hangingPunct="1">
              <a:lnSpc>
                <a:spcPct val="80000"/>
              </a:lnSpc>
              <a:buFont typeface="Wingdings" panose="05000000000000000000" pitchFamily="2" charset="2"/>
              <a:buNone/>
              <a:defRPr/>
            </a:pPr>
            <a:r>
              <a:rPr lang="zh-CN" altLang="en-US" sz="2400" dirty="0"/>
              <a:t>利息调整： </a:t>
            </a:r>
            <a:r>
              <a:rPr lang="en-US" altLang="zh-CN" sz="2400" dirty="0">
                <a:latin typeface="Times New Roman" panose="02020603050405020304" pitchFamily="18" charset="0"/>
                <a:cs typeface="Times New Roman" panose="02020603050405020304" pitchFamily="18" charset="0"/>
              </a:rPr>
              <a:t>9 600-8 625.45=974.55</a:t>
            </a:r>
            <a:endParaRPr lang="en-US" altLang="zh-CN" sz="2400" dirty="0"/>
          </a:p>
          <a:p>
            <a:pPr eaLnBrk="1" hangingPunct="1">
              <a:lnSpc>
                <a:spcPct val="80000"/>
              </a:lnSpc>
              <a:buFont typeface="Wingdings" panose="05000000000000000000" pitchFamily="2" charset="2"/>
              <a:buNone/>
              <a:defRPr/>
            </a:pPr>
            <a:endParaRPr lang="en-US" altLang="zh-CN" sz="2400" dirty="0"/>
          </a:p>
          <a:p>
            <a:pPr eaLnBrk="1" hangingPunct="1">
              <a:lnSpc>
                <a:spcPct val="80000"/>
              </a:lnSpc>
              <a:buFont typeface="Wingdings" panose="05000000000000000000" pitchFamily="2" charset="2"/>
              <a:buNone/>
              <a:defRPr/>
            </a:pPr>
            <a:r>
              <a:rPr lang="zh-CN" altLang="en-US" sz="2400" b="1" dirty="0">
                <a:latin typeface="楷体_GB2312" panose="02010609030101010101" pitchFamily="49" charset="-122"/>
                <a:ea typeface="楷体_GB2312" panose="02010609030101010101" pitchFamily="49" charset="-122"/>
                <a:cs typeface="+mn-ea"/>
              </a:rPr>
              <a:t>借</a:t>
            </a:r>
            <a:r>
              <a:rPr lang="zh-CN" altLang="en-US" sz="2400" dirty="0">
                <a:latin typeface="楷体_GB2312" panose="02010609030101010101" pitchFamily="49" charset="-122"/>
                <a:ea typeface="楷体_GB2312" panose="02010609030101010101" pitchFamily="49" charset="-122"/>
                <a:cs typeface="+mn-ea"/>
              </a:rPr>
              <a:t>：</a:t>
            </a:r>
            <a:r>
              <a:rPr lang="zh-CN" altLang="en-US" sz="2400" b="1" dirty="0">
                <a:latin typeface="楷体_GB2312" panose="02010609030101010101" pitchFamily="49" charset="-122"/>
                <a:ea typeface="楷体_GB2312" panose="02010609030101010101" pitchFamily="49" charset="-122"/>
                <a:cs typeface="+mn-ea"/>
              </a:rPr>
              <a:t>应收利息               </a:t>
            </a:r>
            <a:r>
              <a:rPr lang="zh-CN" altLang="en-US" sz="2400" dirty="0"/>
              <a:t> </a:t>
            </a:r>
            <a:r>
              <a:rPr lang="en-US" altLang="zh-CN" sz="2400" dirty="0">
                <a:latin typeface="Times New Roman" panose="02020603050405020304" pitchFamily="18" charset="0"/>
                <a:cs typeface="Times New Roman" panose="02020603050405020304" pitchFamily="18" charset="0"/>
              </a:rPr>
              <a:t>9 600</a:t>
            </a:r>
            <a:endParaRPr lang="en-US" altLang="zh-CN" sz="2400" dirty="0"/>
          </a:p>
          <a:p>
            <a:pPr eaLnBrk="1" hangingPunct="1">
              <a:lnSpc>
                <a:spcPct val="80000"/>
              </a:lnSpc>
              <a:buFont typeface="Wingdings" panose="05000000000000000000" pitchFamily="2" charset="2"/>
              <a:buNone/>
              <a:defRPr/>
            </a:pPr>
            <a:r>
              <a:rPr lang="en-US" altLang="zh-CN" sz="2400" dirty="0"/>
              <a:t>   </a:t>
            </a:r>
            <a:r>
              <a:rPr sz="2400" b="1" dirty="0">
                <a:latin typeface="楷体_GB2312" panose="02010609030101010101" pitchFamily="49" charset="-122"/>
                <a:ea typeface="楷体_GB2312" panose="02010609030101010101" pitchFamily="49" charset="-122"/>
                <a:cs typeface="+mn-ea"/>
              </a:rPr>
              <a:t> </a:t>
            </a:r>
            <a:r>
              <a:rPr lang="zh-CN" altLang="en-US" sz="2400" b="1" dirty="0">
                <a:latin typeface="楷体_GB2312" panose="02010609030101010101" pitchFamily="49" charset="-122"/>
                <a:ea typeface="楷体_GB2312" panose="02010609030101010101" pitchFamily="49" charset="-122"/>
                <a:cs typeface="+mn-ea"/>
              </a:rPr>
              <a:t>贷：投资收益 </a:t>
            </a:r>
            <a:r>
              <a:rPr lang="zh-CN" altLang="en-US" sz="2400" dirty="0"/>
              <a:t>                </a:t>
            </a:r>
            <a:r>
              <a:rPr lang="en-US" altLang="zh-CN" sz="2400" dirty="0">
                <a:latin typeface="Times New Roman" panose="02020603050405020304" pitchFamily="18" charset="0"/>
                <a:cs typeface="Times New Roman" panose="02020603050405020304" pitchFamily="18" charset="0"/>
              </a:rPr>
              <a:t>8 625.45</a:t>
            </a:r>
            <a:endParaRPr lang="en-US" altLang="zh-CN" sz="2400" dirty="0"/>
          </a:p>
          <a:p>
            <a:pPr eaLnBrk="1" hangingPunct="1">
              <a:lnSpc>
                <a:spcPct val="80000"/>
              </a:lnSpc>
              <a:buFont typeface="Wingdings" panose="05000000000000000000" pitchFamily="2" charset="2"/>
              <a:buNone/>
              <a:defRPr/>
            </a:pPr>
            <a:r>
              <a:rPr lang="en-US" altLang="zh-CN" sz="2400" dirty="0"/>
              <a:t>        </a:t>
            </a:r>
            <a:r>
              <a:rPr lang="zh-CN" altLang="en-US" sz="2400" b="1" dirty="0">
                <a:latin typeface="楷体_GB2312" panose="02010609030101010101" pitchFamily="49" charset="-122"/>
                <a:ea typeface="楷体_GB2312" panose="02010609030101010101" pitchFamily="49" charset="-122"/>
                <a:cs typeface="+mn-ea"/>
              </a:rPr>
              <a:t>债权投资</a:t>
            </a:r>
            <a:r>
              <a:rPr sz="2400" b="1" dirty="0">
                <a:latin typeface="楷体_GB2312" panose="02010609030101010101" pitchFamily="49" charset="-122"/>
                <a:ea typeface="楷体_GB2312" panose="02010609030101010101" pitchFamily="49" charset="-122"/>
                <a:cs typeface="+mn-ea"/>
              </a:rPr>
              <a:t>—</a:t>
            </a:r>
            <a:r>
              <a:rPr lang="zh-CN" altLang="en-US" sz="2400" b="1" dirty="0">
                <a:latin typeface="楷体_GB2312" panose="02010609030101010101" pitchFamily="49" charset="-122"/>
                <a:ea typeface="楷体_GB2312" panose="02010609030101010101" pitchFamily="49" charset="-122"/>
                <a:cs typeface="+mn-ea"/>
              </a:rPr>
              <a:t>利息调整 </a:t>
            </a:r>
            <a:r>
              <a:rPr lang="zh-CN" altLang="en-US" sz="2400" dirty="0"/>
              <a:t>        </a:t>
            </a:r>
            <a:r>
              <a:rPr lang="en-US" altLang="zh-CN" sz="2400" dirty="0">
                <a:latin typeface="Times New Roman" panose="02020603050405020304" pitchFamily="18" charset="0"/>
                <a:cs typeface="Times New Roman" panose="02020603050405020304" pitchFamily="18" charset="0"/>
              </a:rPr>
              <a:t>974.55</a:t>
            </a:r>
          </a:p>
        </p:txBody>
      </p:sp>
      <p:sp>
        <p:nvSpPr>
          <p:cNvPr id="132099" name="Rectangle 3"/>
          <p:cNvSpPr>
            <a:spLocks noGrp="1" noChangeArrowheads="1"/>
          </p:cNvSpPr>
          <p:nvPr>
            <p:ph type="title"/>
          </p:nvPr>
        </p:nvSpPr>
        <p:spPr>
          <a:noFill/>
        </p:spPr>
        <p:txBody>
          <a:bodyPr/>
          <a:lstStyle/>
          <a:p>
            <a:pPr eaLnBrk="1" hangingPunct="1"/>
            <a:r>
              <a:rPr lang="en-US" altLang="zh-CN">
                <a:latin typeface="Times New Roman" panose="02020603050405020304" pitchFamily="18" charset="0"/>
                <a:cs typeface="Times New Roman" panose="02020603050405020304" pitchFamily="18" charset="0"/>
              </a:rPr>
              <a:t>2×20</a:t>
            </a:r>
            <a:r>
              <a:rPr lang="zh-CN" altLang="en-US"/>
              <a:t>年末（未减值）</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idx="1"/>
          </p:nvPr>
        </p:nvSpPr>
        <p:spPr/>
        <p:txBody>
          <a:bodyPr/>
          <a:lstStyle/>
          <a:p>
            <a:pPr eaLnBrk="1" hangingPunct="1">
              <a:buFont typeface="Wingdings" panose="05000000000000000000" pitchFamily="2" charset="2"/>
              <a:buNone/>
              <a:defRPr/>
            </a:pPr>
            <a:r>
              <a:rPr lang="zh-CN" altLang="en-US" dirty="0">
                <a:effectLst/>
                <a:latin typeface="黑体" panose="02010609060101010101" pitchFamily="2" charset="-122"/>
              </a:rPr>
              <a:t>此时：债权投资账面余额：</a:t>
            </a:r>
            <a:r>
              <a:rPr lang="en-US" altLang="zh-CN" dirty="0">
                <a:effectLst/>
                <a:latin typeface="Times New Roman" panose="02020603050405020304" pitchFamily="18" charset="0"/>
                <a:cs typeface="Times New Roman" panose="02020603050405020304" pitchFamily="18" charset="0"/>
              </a:rPr>
              <a:t>80 974.55</a:t>
            </a:r>
            <a:r>
              <a:rPr lang="en-US" altLang="zh-CN" dirty="0">
                <a:effectLst/>
                <a:latin typeface="黑体" panose="02010609060101010101" pitchFamily="2" charset="-122"/>
              </a:rPr>
              <a:t>-</a:t>
            </a:r>
            <a:r>
              <a:rPr lang="en-US" altLang="zh-CN" dirty="0">
                <a:effectLst/>
                <a:latin typeface="Times New Roman" panose="02020603050405020304" pitchFamily="18" charset="0"/>
                <a:cs typeface="Times New Roman" panose="02020603050405020304" pitchFamily="18" charset="0"/>
              </a:rPr>
              <a:t>968.11</a:t>
            </a:r>
            <a:r>
              <a:rPr lang="en-US" altLang="zh-CN" dirty="0">
                <a:effectLst/>
                <a:latin typeface="黑体" panose="02010609060101010101" pitchFamily="2" charset="-122"/>
              </a:rPr>
              <a:t>=</a:t>
            </a:r>
            <a:r>
              <a:rPr lang="en-US" altLang="zh-CN" dirty="0">
                <a:effectLst/>
                <a:latin typeface="Times New Roman" panose="02020603050405020304" pitchFamily="18" charset="0"/>
                <a:cs typeface="Times New Roman" panose="02020603050405020304" pitchFamily="18" charset="0"/>
              </a:rPr>
              <a:t>800 064.44</a:t>
            </a:r>
          </a:p>
          <a:p>
            <a:pPr eaLnBrk="1" hangingPunct="1">
              <a:buFont typeface="Wingdings" panose="05000000000000000000" pitchFamily="2" charset="2"/>
              <a:buNone/>
              <a:defRPr/>
            </a:pPr>
            <a:r>
              <a:rPr lang="zh-CN" altLang="en-US" dirty="0">
                <a:effectLst/>
                <a:latin typeface="黑体" panose="02010609060101010101" pitchFamily="2" charset="-122"/>
              </a:rPr>
              <a:t>（注：如果实际利率非常精确和计算时很精确的话，应该是初始成本</a:t>
            </a:r>
            <a:r>
              <a:rPr lang="en-US" altLang="zh-CN" dirty="0">
                <a:effectLst/>
                <a:latin typeface="Times New Roman" panose="02020603050405020304" pitchFamily="18" charset="0"/>
                <a:cs typeface="Times New Roman" panose="02020603050405020304" pitchFamily="18" charset="0"/>
              </a:rPr>
              <a:t>80 000</a:t>
            </a:r>
            <a:r>
              <a:rPr lang="zh-CN" altLang="en-US" dirty="0">
                <a:effectLst/>
                <a:latin typeface="黑体" panose="02010609060101010101" pitchFamily="2" charset="-122"/>
              </a:rPr>
              <a:t>）</a:t>
            </a:r>
          </a:p>
          <a:p>
            <a:pPr eaLnBrk="1" hangingPunct="1">
              <a:buFont typeface="Wingdings" panose="05000000000000000000" pitchFamily="2" charset="2"/>
              <a:buNone/>
              <a:defRPr/>
            </a:pPr>
            <a:r>
              <a:rPr lang="zh-CN" altLang="en-US" dirty="0">
                <a:effectLst/>
                <a:latin typeface="黑体" panose="02010609060101010101" pitchFamily="2" charset="-122"/>
              </a:rPr>
              <a:t>  到期收回本金       </a:t>
            </a:r>
          </a:p>
          <a:p>
            <a:pPr eaLnBrk="1" hangingPunct="1">
              <a:buFont typeface="Wingdings" panose="05000000000000000000" pitchFamily="2" charset="2"/>
              <a:buNone/>
              <a:defRPr/>
            </a:pPr>
            <a:r>
              <a:rPr lang="zh-CN" altLang="en-US" dirty="0">
                <a:effectLst/>
                <a:latin typeface="黑体" panose="02010609060101010101" pitchFamily="2" charset="-122"/>
              </a:rPr>
              <a:t>   </a:t>
            </a:r>
            <a:r>
              <a:rPr lang="zh-CN" altLang="en-US" sz="2400" b="1" dirty="0">
                <a:latin typeface="楷体_GB2312" panose="02010609030101010101" pitchFamily="49" charset="-122"/>
                <a:ea typeface="楷体_GB2312" panose="02010609030101010101" pitchFamily="49" charset="-122"/>
                <a:cs typeface="+mn-ea"/>
              </a:rPr>
              <a:t>借：其他货币资金</a:t>
            </a:r>
            <a:r>
              <a:rPr lang="zh-CN" altLang="en-US" dirty="0">
                <a:effectLst/>
                <a:latin typeface="黑体" panose="02010609060101010101" pitchFamily="2" charset="-122"/>
              </a:rPr>
              <a:t>      </a:t>
            </a:r>
            <a:r>
              <a:rPr lang="zh-CN" altLang="en-US" sz="2400" dirty="0">
                <a:effectLst/>
                <a:latin typeface="Times New Roman" panose="02020603050405020304" pitchFamily="18" charset="0"/>
                <a:cs typeface="Times New Roman" panose="02020603050405020304" pitchFamily="18" charset="0"/>
              </a:rPr>
              <a:t> </a:t>
            </a:r>
            <a:r>
              <a:rPr lang="en-US" altLang="zh-CN" sz="2400" dirty="0">
                <a:effectLst/>
                <a:latin typeface="Times New Roman" panose="02020603050405020304" pitchFamily="18" charset="0"/>
                <a:cs typeface="Times New Roman" panose="02020603050405020304" pitchFamily="18" charset="0"/>
              </a:rPr>
              <a:t>80 000</a:t>
            </a:r>
          </a:p>
          <a:p>
            <a:pPr algn="l" eaLnBrk="1" hangingPunct="1">
              <a:buFont typeface="Wingdings" panose="05000000000000000000" pitchFamily="2" charset="2"/>
              <a:buNone/>
              <a:defRPr/>
            </a:pPr>
            <a:r>
              <a:rPr lang="en-US" altLang="zh-CN" dirty="0">
                <a:effectLst/>
                <a:latin typeface="黑体" panose="02010609060101010101" pitchFamily="2" charset="-122"/>
              </a:rPr>
              <a:t>      </a:t>
            </a:r>
            <a:r>
              <a:rPr lang="zh-CN" altLang="en-US" sz="2400" b="1" dirty="0">
                <a:latin typeface="楷体_GB2312" panose="02010609030101010101" pitchFamily="49" charset="-122"/>
                <a:ea typeface="楷体_GB2312" panose="02010609030101010101" pitchFamily="49" charset="-122"/>
                <a:cs typeface="+mn-ea"/>
              </a:rPr>
              <a:t>贷：债权投资</a:t>
            </a:r>
            <a:r>
              <a:rPr sz="2400" b="1" dirty="0">
                <a:latin typeface="楷体_GB2312" panose="02010609030101010101" pitchFamily="49" charset="-122"/>
                <a:ea typeface="楷体_GB2312" panose="02010609030101010101" pitchFamily="49" charset="-122"/>
                <a:cs typeface="+mn-ea"/>
              </a:rPr>
              <a:t>—</a:t>
            </a:r>
            <a:r>
              <a:rPr lang="zh-CN" altLang="en-US" sz="2400" b="1" dirty="0">
                <a:latin typeface="楷体_GB2312" panose="02010609030101010101" pitchFamily="49" charset="-122"/>
                <a:ea typeface="楷体_GB2312" panose="02010609030101010101" pitchFamily="49" charset="-122"/>
                <a:cs typeface="+mn-ea"/>
              </a:rPr>
              <a:t>成本</a:t>
            </a:r>
            <a:r>
              <a:rPr lang="zh-CN" altLang="en-US" dirty="0">
                <a:effectLst/>
                <a:latin typeface="黑体" panose="02010609060101010101" pitchFamily="2" charset="-122"/>
              </a:rPr>
              <a:t>    </a:t>
            </a:r>
            <a:r>
              <a:rPr sz="2400" dirty="0">
                <a:effectLst/>
                <a:latin typeface="Times New Roman" panose="02020603050405020304" pitchFamily="18" charset="0"/>
                <a:cs typeface="Times New Roman" panose="02020603050405020304" pitchFamily="18" charset="0"/>
              </a:rPr>
              <a:t>80 000</a:t>
            </a:r>
          </a:p>
        </p:txBody>
      </p:sp>
      <p:sp>
        <p:nvSpPr>
          <p:cNvPr id="134147" name="Rectangle 4"/>
          <p:cNvSpPr>
            <a:spLocks noGrp="1" noChangeArrowheads="1"/>
          </p:cNvSpPr>
          <p:nvPr>
            <p:ph type="title"/>
          </p:nvPr>
        </p:nvSpPr>
        <p:spPr>
          <a:noFill/>
        </p:spPr>
        <p:txBody>
          <a:bodyPr/>
          <a:lstStyle/>
          <a:p>
            <a:pPr eaLnBrk="1" hangingPunct="1"/>
            <a:r>
              <a:rPr lang="en-US" altLang="zh-CN">
                <a:latin typeface="Times New Roman" panose="02020603050405020304" pitchFamily="18" charset="0"/>
                <a:cs typeface="Times New Roman" panose="02020603050405020304" pitchFamily="18" charset="0"/>
              </a:rPr>
              <a:t>2×20</a:t>
            </a:r>
            <a:r>
              <a:rPr lang="zh-CN" altLang="en-US"/>
              <a:t>年末（未减值）</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5074" name="Rectangle 2"/>
          <p:cNvSpPr>
            <a:spLocks noGrp="1" noChangeArrowheads="1"/>
          </p:cNvSpPr>
          <p:nvPr>
            <p:ph type="title"/>
          </p:nvPr>
        </p:nvSpPr>
        <p:spPr/>
        <p:txBody>
          <a:bodyPr/>
          <a:lstStyle/>
          <a:p>
            <a:pPr eaLnBrk="1" hangingPunct="1"/>
            <a:r>
              <a:rPr lang="zh-CN" altLang="en-US" sz="3600">
                <a:solidFill>
                  <a:srgbClr val="00FF00"/>
                </a:solidFill>
                <a:ea typeface="华文行楷" panose="02010800040101010101" pitchFamily="2" charset="-122"/>
              </a:rPr>
              <a:t>利息调整计算表（实际利率法）</a:t>
            </a:r>
          </a:p>
        </p:txBody>
      </p:sp>
      <p:sp>
        <p:nvSpPr>
          <p:cNvPr id="135171" name="Text Box 3"/>
          <p:cNvSpPr txBox="1">
            <a:spLocks noChangeArrowheads="1"/>
          </p:cNvSpPr>
          <p:nvPr/>
        </p:nvSpPr>
        <p:spPr bwMode="auto">
          <a:xfrm>
            <a:off x="1465263" y="494665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华文新魏"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华文新魏"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华文新魏"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华文新魏" pitchFamily="2" charset="-122"/>
              </a:defRPr>
            </a:lvl9pPr>
          </a:lstStyle>
          <a:p>
            <a:pPr eaLnBrk="1" hangingPunct="1">
              <a:spcBef>
                <a:spcPct val="0"/>
              </a:spcBef>
              <a:buClrTx/>
              <a:buSzTx/>
              <a:buFontTx/>
              <a:buNone/>
            </a:pPr>
            <a:endParaRPr lang="zh-CN" altLang="zh-CN" sz="1800" b="0">
              <a:solidFill>
                <a:srgbClr val="000000"/>
              </a:solidFill>
              <a:latin typeface="Arial" panose="020B0604020202020204" pitchFamily="34" charset="0"/>
              <a:ea typeface="宋体" panose="02010600030101010101" pitchFamily="2" charset="-122"/>
            </a:endParaRPr>
          </a:p>
        </p:txBody>
      </p:sp>
      <p:graphicFrame>
        <p:nvGraphicFramePr>
          <p:cNvPr id="515076" name="Group 4"/>
          <p:cNvGraphicFramePr>
            <a:graphicFrameLocks noGrp="1"/>
          </p:cNvGraphicFramePr>
          <p:nvPr>
            <p:ph type="tbl" idx="1"/>
            <p:custDataLst>
              <p:tags r:id="rId1"/>
            </p:custDataLst>
          </p:nvPr>
        </p:nvGraphicFramePr>
        <p:xfrm>
          <a:off x="1182688" y="2017713"/>
          <a:ext cx="7772400" cy="4661155"/>
        </p:xfrm>
        <a:graphic>
          <a:graphicData uri="http://schemas.openxmlformats.org/drawingml/2006/table">
            <a:tbl>
              <a:tblPr/>
              <a:tblGrid>
                <a:gridCol w="817245">
                  <a:extLst>
                    <a:ext uri="{9D8B030D-6E8A-4147-A177-3AD203B41FA5}">
                      <a16:colId xmlns:a16="http://schemas.microsoft.com/office/drawing/2014/main" val="20000"/>
                    </a:ext>
                  </a:extLst>
                </a:gridCol>
                <a:gridCol w="1296670">
                  <a:extLst>
                    <a:ext uri="{9D8B030D-6E8A-4147-A177-3AD203B41FA5}">
                      <a16:colId xmlns:a16="http://schemas.microsoft.com/office/drawing/2014/main" val="20001"/>
                    </a:ext>
                  </a:extLst>
                </a:gridCol>
                <a:gridCol w="1294130">
                  <a:extLst>
                    <a:ext uri="{9D8B030D-6E8A-4147-A177-3AD203B41FA5}">
                      <a16:colId xmlns:a16="http://schemas.microsoft.com/office/drawing/2014/main" val="20002"/>
                    </a:ext>
                  </a:extLst>
                </a:gridCol>
                <a:gridCol w="1433830">
                  <a:extLst>
                    <a:ext uri="{9D8B030D-6E8A-4147-A177-3AD203B41FA5}">
                      <a16:colId xmlns:a16="http://schemas.microsoft.com/office/drawing/2014/main" val="20003"/>
                    </a:ext>
                  </a:extLst>
                </a:gridCol>
                <a:gridCol w="1499235">
                  <a:extLst>
                    <a:ext uri="{9D8B030D-6E8A-4147-A177-3AD203B41FA5}">
                      <a16:colId xmlns:a16="http://schemas.microsoft.com/office/drawing/2014/main" val="20004"/>
                    </a:ext>
                  </a:extLst>
                </a:gridCol>
                <a:gridCol w="1431290">
                  <a:extLst>
                    <a:ext uri="{9D8B030D-6E8A-4147-A177-3AD203B41FA5}">
                      <a16:colId xmlns:a16="http://schemas.microsoft.com/office/drawing/2014/main" val="20005"/>
                    </a:ext>
                  </a:extLst>
                </a:gridCol>
              </a:tblGrid>
              <a:tr h="12001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第</a:t>
                      </a: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年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年初摊余成本</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应收利息</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a:t>
                      </a: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面值</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×12%</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投资收益</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a:t>
                      </a: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(1)×10.66%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利息调整 </a:t>
                      </a: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(4)=(2)-(3)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年末摊余成本</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(5)=(1)-(4)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11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84,000.00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9,600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8,954.40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645.60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83,354.40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72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83,354.40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9,600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8,885.58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714.42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82,639.98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4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82,639.98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9,600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8,809.42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790.58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81,849.40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56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81,849.40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9,600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8,725.15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874.85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80,974.55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5403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5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80,974.55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9,600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8,625.45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974.55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80,000.00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556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合 计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48,000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44,000.00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4,000.00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15074"/>
                                        </p:tgtEl>
                                        <p:attrNameLst>
                                          <p:attrName>style.visibility</p:attrName>
                                        </p:attrNameLst>
                                      </p:cBhvr>
                                      <p:to>
                                        <p:strVal val="visible"/>
                                      </p:to>
                                    </p:set>
                                    <p:animEffect transition="in" filter="diamond(in)">
                                      <p:cBhvr>
                                        <p:cTn id="7" dur="500"/>
                                        <p:tgtEl>
                                          <p:spTgt spid="515074"/>
                                        </p:tgtEl>
                                      </p:cBhvr>
                                    </p:animEffect>
                                  </p:childTnLst>
                                </p:cTn>
                              </p:par>
                            </p:childTnLst>
                          </p:cTn>
                        </p:par>
                      </p:childTnLst>
                    </p:cTn>
                  </p:par>
                  <p:par>
                    <p:cTn id="8" fill="hold">
                      <p:stCondLst>
                        <p:cond delay="indefinite"/>
                      </p:stCondLst>
                      <p:childTnLst>
                        <p:par>
                          <p:cTn id="9" fill="hold">
                            <p:stCondLst>
                              <p:cond delay="0"/>
                            </p:stCondLst>
                            <p:childTnLst>
                              <p:par>
                                <p:cTn id="10" presetID="52" presetClass="entr" presetSubtype="0" fill="hold" nodeType="clickEffect">
                                  <p:stCondLst>
                                    <p:cond delay="0"/>
                                  </p:stCondLst>
                                  <p:childTnLst>
                                    <p:set>
                                      <p:cBhvr>
                                        <p:cTn id="11" dur="1" fill="hold">
                                          <p:stCondLst>
                                            <p:cond delay="0"/>
                                          </p:stCondLst>
                                        </p:cTn>
                                        <p:tgtEl>
                                          <p:spTgt spid="515076"/>
                                        </p:tgtEl>
                                        <p:attrNameLst>
                                          <p:attrName>style.visibility</p:attrName>
                                        </p:attrNameLst>
                                      </p:cBhvr>
                                      <p:to>
                                        <p:strVal val="visible"/>
                                      </p:to>
                                    </p:set>
                                    <p:animScale>
                                      <p:cBhvr>
                                        <p:cTn id="12" dur="500" decel="50000" fill="hold">
                                          <p:stCondLst>
                                            <p:cond delay="0"/>
                                          </p:stCondLst>
                                        </p:cTn>
                                        <p:tgtEl>
                                          <p:spTgt spid="51507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500" decel="50000" fill="hold">
                                          <p:stCondLst>
                                            <p:cond delay="0"/>
                                          </p:stCondLst>
                                        </p:cTn>
                                        <p:tgtEl>
                                          <p:spTgt spid="515076"/>
                                        </p:tgtEl>
                                        <p:attrNameLst>
                                          <p:attrName>ppt_x</p:attrName>
                                          <p:attrName>ppt_y</p:attrName>
                                        </p:attrNameLst>
                                      </p:cBhvr>
                                    </p:animMotion>
                                    <p:animEffect transition="in" filter="fade">
                                      <p:cBhvr>
                                        <p:cTn id="14" dur="500"/>
                                        <p:tgtEl>
                                          <p:spTgt spid="515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4"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WordArt 5"/>
          <p:cNvSpPr>
            <a:spLocks noChangeArrowheads="1" noChangeShapeType="1" noTextEdit="1"/>
          </p:cNvSpPr>
          <p:nvPr/>
        </p:nvSpPr>
        <p:spPr bwMode="auto">
          <a:xfrm>
            <a:off x="2917031" y="3029426"/>
            <a:ext cx="3459956" cy="1637824"/>
          </a:xfrm>
          <a:prstGeom prst="rect">
            <a:avLst/>
          </a:prstGeom>
        </p:spPr>
        <p:txBody>
          <a:bodyPr wrap="none" fromWordArt="1">
            <a:scene3d>
              <a:camera prst="orthographicFront"/>
              <a:lightRig rig="threePt" dir="t"/>
            </a:scene3d>
          </a:bodyPr>
          <a:lstStyle/>
          <a:p>
            <a:pPr algn="ctr"/>
            <a:r>
              <a:rPr lang="zh-CN" altLang="en-US" sz="4050" kern="10" dirty="0">
                <a:ln w="25400">
                  <a:gradFill>
                    <a:gsLst>
                      <a:gs pos="31000">
                        <a:srgbClr val="6D6E85"/>
                      </a:gs>
                      <a:gs pos="66000">
                        <a:srgbClr val="A2C6FF"/>
                      </a:gs>
                      <a:gs pos="45000">
                        <a:srgbClr val="97B8F2"/>
                      </a:gs>
                      <a:gs pos="11000">
                        <a:srgbClr val="ED7D31">
                          <a:lumMod val="20000"/>
                          <a:lumOff val="80000"/>
                        </a:srgbClr>
                      </a:gs>
                      <a:gs pos="100000">
                        <a:srgbClr val="7E6760"/>
                      </a:gs>
                      <a:gs pos="91000">
                        <a:schemeClr val="bg1">
                          <a:lumMod val="50000"/>
                        </a:schemeClr>
                      </a:gs>
                      <a:gs pos="56000">
                        <a:srgbClr val="455C85"/>
                      </a:gs>
                      <a:gs pos="81000">
                        <a:srgbClr val="F8D8CF"/>
                      </a:gs>
                    </a:gsLst>
                  </a:gradFill>
                </a:ln>
                <a:solidFill>
                  <a:schemeClr val="tx2"/>
                </a:solidFill>
                <a:effectLst>
                  <a:outerShdw blurRad="38100" dist="25400" dir="5400000" algn="ctr" rotWithShape="0">
                    <a:srgbClr val="6E747A">
                      <a:alpha val="43000"/>
                    </a:srgbClr>
                  </a:outerShdw>
                </a:effectLst>
                <a:latin typeface="黑体" panose="02010609060101010101" pitchFamily="2" charset="-122"/>
                <a:ea typeface="黑体" panose="02010609060101010101" pitchFamily="2" charset="-122"/>
              </a:rPr>
              <a:t>谢谢大家！</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d17fa193-5973-4c88-ae63-cc99d30487cc}"/>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4a10e7d7-8f84-4a57-bb4d-6ce219dd8e34}"/>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0f1b2720-429f-4217-8d72-8d9bc3697ef5}"/>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46412cc2-7403-4e8f-a0b3-945056c18f4e}"/>
</p:tagLst>
</file>

<file path=ppt/theme/theme1.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华文中宋"/>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华文中宋"/>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91</TotalTime>
  <Words>7991</Words>
  <Application>Microsoft Office PowerPoint</Application>
  <PresentationFormat>全屏显示(4:3)</PresentationFormat>
  <Paragraphs>925</Paragraphs>
  <Slides>119</Slides>
  <Notes>5</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119</vt:i4>
      </vt:variant>
    </vt:vector>
  </HeadingPairs>
  <TitlesOfParts>
    <vt:vector size="133" baseType="lpstr">
      <vt:lpstr>黑体</vt:lpstr>
      <vt:lpstr>华文新魏</vt:lpstr>
      <vt:lpstr>华文中宋</vt:lpstr>
      <vt:lpstr>楷体_GB2312</vt:lpstr>
      <vt:lpstr>隶书</vt:lpstr>
      <vt:lpstr>宋体</vt:lpstr>
      <vt:lpstr>幼圆</vt:lpstr>
      <vt:lpstr>Arial</vt:lpstr>
      <vt:lpstr>Tahoma</vt:lpstr>
      <vt:lpstr>Times New Roman</vt:lpstr>
      <vt:lpstr>Wingdings</vt:lpstr>
      <vt:lpstr>1_Blends</vt:lpstr>
      <vt:lpstr>2_Blends</vt:lpstr>
      <vt:lpstr>Equation</vt:lpstr>
      <vt:lpstr>PowerPoint 演示文稿</vt:lpstr>
      <vt:lpstr>PowerPoint 演示文稿</vt:lpstr>
      <vt:lpstr>浦发银行2014-2019年报表选摘</vt:lpstr>
      <vt:lpstr>一、基础金融资产的概述 </vt:lpstr>
      <vt:lpstr>一、基础金融资产的概述 </vt:lpstr>
      <vt:lpstr>一、基础金融资产的概述</vt:lpstr>
      <vt:lpstr>一、基础金融资产的概述</vt:lpstr>
      <vt:lpstr>一、基础金融资产概述</vt:lpstr>
      <vt:lpstr>一、基础金融资产的概述</vt:lpstr>
      <vt:lpstr>金融资产的分类（续）</vt:lpstr>
      <vt:lpstr>金融资产的分类（续）</vt:lpstr>
      <vt:lpstr>金融资产的分类</vt:lpstr>
      <vt:lpstr>PowerPoint 演示文稿</vt:lpstr>
      <vt:lpstr>二、以公允价值计量且其变动计入当期损益的金融资产</vt:lpstr>
      <vt:lpstr>1.交易性金融资产</vt:lpstr>
      <vt:lpstr>（1）交易性金融资产的确认和计量</vt:lpstr>
      <vt:lpstr>（2）购入交易性金融资产</vt:lpstr>
      <vt:lpstr>示例：取得交易性金融资产</vt:lpstr>
      <vt:lpstr>（2）购入交易性金融资产</vt:lpstr>
      <vt:lpstr>（2）购入交易性金融资产</vt:lpstr>
      <vt:lpstr>举例</vt:lpstr>
      <vt:lpstr>（3）交易性金融资产出售前的现金股利或利息</vt:lpstr>
      <vt:lpstr>举例（续）</vt:lpstr>
      <vt:lpstr>（4）交易性金融资产的期末计价</vt:lpstr>
      <vt:lpstr>举例（续）</vt:lpstr>
      <vt:lpstr>（4）交易性金融资产的出售</vt:lpstr>
      <vt:lpstr>（4）交易性金融资产的出售</vt:lpstr>
      <vt:lpstr>举例（续）</vt:lpstr>
      <vt:lpstr>思考</vt:lpstr>
      <vt:lpstr>练习题1</vt:lpstr>
      <vt:lpstr>练习题2</vt:lpstr>
      <vt:lpstr>练习题（续）</vt:lpstr>
      <vt:lpstr>三、以摊余成本计量的金融资产 </vt:lpstr>
      <vt:lpstr>PowerPoint 演示文稿</vt:lpstr>
      <vt:lpstr>（二）会计处理</vt:lpstr>
      <vt:lpstr>1.取得</vt:lpstr>
      <vt:lpstr>PowerPoint 演示文稿</vt:lpstr>
      <vt:lpstr>思考</vt:lpstr>
      <vt:lpstr>思考</vt:lpstr>
      <vt:lpstr>溢价购入</vt:lpstr>
      <vt:lpstr>折价购入</vt:lpstr>
      <vt:lpstr>溢折价的计算</vt:lpstr>
      <vt:lpstr>情景1</vt:lpstr>
      <vt:lpstr>情景1（续）</vt:lpstr>
      <vt:lpstr>情景2</vt:lpstr>
      <vt:lpstr>情景2（续）</vt:lpstr>
      <vt:lpstr>思考</vt:lpstr>
      <vt:lpstr>2.期末计价与收益的确定</vt:lpstr>
      <vt:lpstr>2.期末计价与收益的确定</vt:lpstr>
      <vt:lpstr>2.期末计价与收益的确定</vt:lpstr>
      <vt:lpstr>2.期末计价与收益的确定</vt:lpstr>
      <vt:lpstr>2.期末计价与收益的确定</vt:lpstr>
      <vt:lpstr>期末的会计处理</vt:lpstr>
      <vt:lpstr>情景1*</vt:lpstr>
      <vt:lpstr>情景1*</vt:lpstr>
      <vt:lpstr>情景1*（续）</vt:lpstr>
      <vt:lpstr>情景1*（续）</vt:lpstr>
      <vt:lpstr>情景1*（续）</vt:lpstr>
      <vt:lpstr>情景1*（续）</vt:lpstr>
      <vt:lpstr>情景1*（续）</vt:lpstr>
      <vt:lpstr>情景1*（续）</vt:lpstr>
      <vt:lpstr>情景2*</vt:lpstr>
      <vt:lpstr>情景2*</vt:lpstr>
      <vt:lpstr>情景2*（续）</vt:lpstr>
      <vt:lpstr>情景2*（续）</vt:lpstr>
      <vt:lpstr>情景2*（续）</vt:lpstr>
      <vt:lpstr>情景2*（续）</vt:lpstr>
      <vt:lpstr>情景2*（续）</vt:lpstr>
      <vt:lpstr>情景2*（续）</vt:lpstr>
      <vt:lpstr>4.收回投资</vt:lpstr>
      <vt:lpstr>债券到期收回</vt:lpstr>
      <vt:lpstr>摊余成本计算方法2</vt:lpstr>
      <vt:lpstr>摊余成本计算方法2</vt:lpstr>
      <vt:lpstr>PowerPoint 演示文稿</vt:lpstr>
      <vt:lpstr>（一） FA-OCI概述 </vt:lpstr>
      <vt:lpstr>（二） 分类为FA-OCI的会计处理</vt:lpstr>
      <vt:lpstr>1. 分类为FA-OCI（其他债权投资）的取得</vt:lpstr>
      <vt:lpstr>2. 分类为FA-OCI（其他债权投资）的后续计量</vt:lpstr>
      <vt:lpstr>（三） 指定为FA-OCI的会计处理</vt:lpstr>
      <vt:lpstr>1. 指定为FA-OCI（其他权益工具投资）的取得</vt:lpstr>
      <vt:lpstr>示例</vt:lpstr>
      <vt:lpstr>1.指定为FA-OCI（其他权益工具投资）的取得</vt:lpstr>
      <vt:lpstr>举例</vt:lpstr>
      <vt:lpstr>2.指定为FA-OCI（其他权益工具投资）的持有期间的股利</vt:lpstr>
      <vt:lpstr>举例（续）</vt:lpstr>
      <vt:lpstr>3.指定为FA-OCI（其他权益工具投资）的期末计价</vt:lpstr>
      <vt:lpstr>3.指定为FA-OCI（其他权益工具投资）的期末计价</vt:lpstr>
      <vt:lpstr>举例（续）</vt:lpstr>
      <vt:lpstr>4.指定为FA-OCI（其他权益工具投资）的处置</vt:lpstr>
      <vt:lpstr>4.指定为FA-OCI（其他权益工具投资）的处置</vt:lpstr>
      <vt:lpstr>举例（续）</vt:lpstr>
      <vt:lpstr>举例（续）</vt:lpstr>
      <vt:lpstr>交易性金融资产 VS 其他投资</vt:lpstr>
      <vt:lpstr>问题：</vt:lpstr>
      <vt:lpstr>PowerPoint 演示文稿</vt:lpstr>
      <vt:lpstr>五、金融资产的重分类</vt:lpstr>
      <vt:lpstr>PowerPoint 演示文稿</vt:lpstr>
      <vt:lpstr>六、金融资产的列报和披露</vt:lpstr>
      <vt:lpstr>练习题1</vt:lpstr>
      <vt:lpstr>综合例题</vt:lpstr>
      <vt:lpstr>取得投资时</vt:lpstr>
      <vt:lpstr>PowerPoint 演示文稿</vt:lpstr>
      <vt:lpstr>实际利率的计算</vt:lpstr>
      <vt:lpstr>PowerPoint 演示文稿</vt:lpstr>
      <vt:lpstr>插值法</vt:lpstr>
      <vt:lpstr>实际利率</vt:lpstr>
      <vt:lpstr>2×16年末（未减值）</vt:lpstr>
      <vt:lpstr>2×16年末（未减值）</vt:lpstr>
      <vt:lpstr>2×17年末（未减值）</vt:lpstr>
      <vt:lpstr>2×17年末（未减值）</vt:lpstr>
      <vt:lpstr>2×18年末（未减值）</vt:lpstr>
      <vt:lpstr>2×18年末（未减值）</vt:lpstr>
      <vt:lpstr>2×19年末（未减值）</vt:lpstr>
      <vt:lpstr>2×19年末（未减值）</vt:lpstr>
      <vt:lpstr>2×20年末（未减值）</vt:lpstr>
      <vt:lpstr>2×20年末（未减值）</vt:lpstr>
      <vt:lpstr>2×20年末（未减值）</vt:lpstr>
      <vt:lpstr>利息调整计算表（实际利率法）</vt:lpstr>
      <vt:lpstr>PowerPoint 演示文稿</vt:lpstr>
    </vt:vector>
  </TitlesOfParts>
  <Company>www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长期投资</dc:title>
  <dc:creator>www</dc:creator>
  <cp:lastModifiedBy>毛 新述</cp:lastModifiedBy>
  <cp:revision>703</cp:revision>
  <dcterms:created xsi:type="dcterms:W3CDTF">2002-08-15T07:47:00Z</dcterms:created>
  <dcterms:modified xsi:type="dcterms:W3CDTF">2020-11-24T14:05:42Z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2052-11.1.0.9584</vt:lpwstr>
  </property>
</Properties>
</file>