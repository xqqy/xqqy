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9"/>
  </p:notesMasterIdLst>
  <p:handoutMasterIdLst>
    <p:handoutMasterId r:id="rId60"/>
  </p:handoutMasterIdLst>
  <p:sldIdLst>
    <p:sldId id="760" r:id="rId2"/>
    <p:sldId id="825" r:id="rId3"/>
    <p:sldId id="826" r:id="rId4"/>
    <p:sldId id="827" r:id="rId5"/>
    <p:sldId id="828" r:id="rId6"/>
    <p:sldId id="829" r:id="rId7"/>
    <p:sldId id="830" r:id="rId8"/>
    <p:sldId id="831" r:id="rId9"/>
    <p:sldId id="832" r:id="rId10"/>
    <p:sldId id="833" r:id="rId11"/>
    <p:sldId id="834" r:id="rId12"/>
    <p:sldId id="835" r:id="rId13"/>
    <p:sldId id="836" r:id="rId14"/>
    <p:sldId id="837" r:id="rId15"/>
    <p:sldId id="838" r:id="rId16"/>
    <p:sldId id="839" r:id="rId17"/>
    <p:sldId id="840" r:id="rId18"/>
    <p:sldId id="841" r:id="rId19"/>
    <p:sldId id="842" r:id="rId20"/>
    <p:sldId id="843" r:id="rId21"/>
    <p:sldId id="844" r:id="rId22"/>
    <p:sldId id="846" r:id="rId23"/>
    <p:sldId id="847" r:id="rId24"/>
    <p:sldId id="848" r:id="rId25"/>
    <p:sldId id="849" r:id="rId26"/>
    <p:sldId id="850" r:id="rId27"/>
    <p:sldId id="851" r:id="rId28"/>
    <p:sldId id="852" r:id="rId29"/>
    <p:sldId id="853" r:id="rId30"/>
    <p:sldId id="854" r:id="rId31"/>
    <p:sldId id="855" r:id="rId32"/>
    <p:sldId id="856" r:id="rId33"/>
    <p:sldId id="857" r:id="rId34"/>
    <p:sldId id="858" r:id="rId35"/>
    <p:sldId id="859" r:id="rId36"/>
    <p:sldId id="860" r:id="rId37"/>
    <p:sldId id="861" r:id="rId38"/>
    <p:sldId id="862" r:id="rId39"/>
    <p:sldId id="863" r:id="rId40"/>
    <p:sldId id="864" r:id="rId41"/>
    <p:sldId id="865" r:id="rId42"/>
    <p:sldId id="845" r:id="rId43"/>
    <p:sldId id="866" r:id="rId44"/>
    <p:sldId id="867" r:id="rId45"/>
    <p:sldId id="868" r:id="rId46"/>
    <p:sldId id="869" r:id="rId47"/>
    <p:sldId id="870" r:id="rId48"/>
    <p:sldId id="871" r:id="rId49"/>
    <p:sldId id="872" r:id="rId50"/>
    <p:sldId id="873" r:id="rId51"/>
    <p:sldId id="874" r:id="rId52"/>
    <p:sldId id="875" r:id="rId53"/>
    <p:sldId id="876" r:id="rId54"/>
    <p:sldId id="877" r:id="rId55"/>
    <p:sldId id="878" r:id="rId56"/>
    <p:sldId id="879" r:id="rId57"/>
    <p:sldId id="743" r:id="rId58"/>
  </p:sldIdLst>
  <p:sldSz cx="9144000" cy="6858000" type="screen4x3"/>
  <p:notesSz cx="6797675" cy="9926638"/>
  <p:defaultTextStyle>
    <a:defPPr>
      <a:defRPr lang="zh-CN"/>
    </a:defPPr>
    <a:lvl1pPr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66">
          <p15:clr>
            <a:srgbClr val="A4A3A4"/>
          </p15:clr>
        </p15:guide>
        <p15:guide id="2" pos="291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66"/>
    <a:srgbClr val="FF0000"/>
    <a:srgbClr val="3333FF"/>
    <a:srgbClr val="FFFF00"/>
    <a:srgbClr val="FF6600"/>
    <a:srgbClr val="CC00CC"/>
    <a:srgbClr val="FF33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727" autoAdjust="0"/>
  </p:normalViewPr>
  <p:slideViewPr>
    <p:cSldViewPr>
      <p:cViewPr varScale="1">
        <p:scale>
          <a:sx n="83" d="100"/>
          <a:sy n="83" d="100"/>
        </p:scale>
        <p:origin x="1445" y="34"/>
      </p:cViewPr>
      <p:guideLst>
        <p:guide orient="horz" pos="2066"/>
        <p:guide pos="291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042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946"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a:latin typeface="Times New Roman" panose="02020603050405020304" pitchFamily="18" charset="0"/>
              </a:defRPr>
            </a:lvl1pPr>
          </a:lstStyle>
          <a:p>
            <a:pPr>
              <a:defRPr/>
            </a:pPr>
            <a:endParaRPr lang="en-US" altLang="zh-CN"/>
          </a:p>
        </p:txBody>
      </p:sp>
      <p:sp>
        <p:nvSpPr>
          <p:cNvPr id="82947" name="Rectangle 3"/>
          <p:cNvSpPr>
            <a:spLocks noGrp="1" noChangeArrowheads="1"/>
          </p:cNvSpPr>
          <p:nvPr>
            <p:ph type="dt" sz="quarter" idx="1"/>
          </p:nvPr>
        </p:nvSpPr>
        <p:spPr bwMode="auto">
          <a:xfrm>
            <a:off x="3851275"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a:latin typeface="Times New Roman" panose="02020603050405020304" pitchFamily="18" charset="0"/>
              </a:defRPr>
            </a:lvl1pPr>
          </a:lstStyle>
          <a:p>
            <a:pPr>
              <a:defRPr/>
            </a:pPr>
            <a:endParaRPr lang="en-US" altLang="zh-CN"/>
          </a:p>
        </p:txBody>
      </p:sp>
      <p:sp>
        <p:nvSpPr>
          <p:cNvPr id="82948" name="Rectangle 4"/>
          <p:cNvSpPr>
            <a:spLocks noGrp="1" noChangeArrowheads="1"/>
          </p:cNvSpPr>
          <p:nvPr>
            <p:ph type="ftr" sz="quarter" idx="2"/>
          </p:nvPr>
        </p:nvSpPr>
        <p:spPr bwMode="auto">
          <a:xfrm>
            <a:off x="0" y="9429750"/>
            <a:ext cx="2946400" cy="496888"/>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a:latin typeface="Times New Roman" panose="02020603050405020304" pitchFamily="18" charset="0"/>
              </a:defRPr>
            </a:lvl1pPr>
          </a:lstStyle>
          <a:p>
            <a:pPr>
              <a:defRPr/>
            </a:pPr>
            <a:endParaRPr lang="en-US" altLang="zh-CN"/>
          </a:p>
        </p:txBody>
      </p:sp>
      <p:sp>
        <p:nvSpPr>
          <p:cNvPr id="82949" name="Rectangle 5"/>
          <p:cNvSpPr>
            <a:spLocks noGrp="1" noChangeArrowheads="1"/>
          </p:cNvSpPr>
          <p:nvPr>
            <p:ph type="sldNum" sz="quarter" idx="3"/>
          </p:nvPr>
        </p:nvSpPr>
        <p:spPr bwMode="auto">
          <a:xfrm>
            <a:off x="3851275" y="9429750"/>
            <a:ext cx="2946400" cy="49688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1" sz="1200">
                <a:latin typeface="Times New Roman" panose="02020603050405020304" pitchFamily="18" charset="0"/>
              </a:defRPr>
            </a:lvl1pPr>
          </a:lstStyle>
          <a:p>
            <a:fld id="{FB27EE3E-14A8-4D34-A82A-DF2080991298}" type="slidenum">
              <a:rPr lang="en-US" altLang="zh-CN"/>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2850"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a:latin typeface="Times New Roman" panose="02020603050405020304" pitchFamily="18" charset="0"/>
              </a:defRPr>
            </a:lvl1pPr>
          </a:lstStyle>
          <a:p>
            <a:pPr>
              <a:defRPr/>
            </a:pPr>
            <a:endParaRPr lang="en-US" altLang="zh-CN"/>
          </a:p>
        </p:txBody>
      </p:sp>
      <p:sp>
        <p:nvSpPr>
          <p:cNvPr id="462851" name="Rectangle 3"/>
          <p:cNvSpPr>
            <a:spLocks noGrp="1" noChangeArrowheads="1"/>
          </p:cNvSpPr>
          <p:nvPr>
            <p:ph type="dt" idx="1"/>
          </p:nvPr>
        </p:nvSpPr>
        <p:spPr bwMode="auto">
          <a:xfrm>
            <a:off x="3849688"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a:latin typeface="Times New Roman" panose="02020603050405020304" pitchFamily="18"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462853" name="Rectangle 5"/>
          <p:cNvSpPr>
            <a:spLocks noGrp="1" noChangeArrowheads="1"/>
          </p:cNvSpPr>
          <p:nvPr>
            <p:ph type="body" sz="quarter" idx="3"/>
          </p:nvPr>
        </p:nvSpPr>
        <p:spPr bwMode="auto">
          <a:xfrm>
            <a:off x="679450" y="4714875"/>
            <a:ext cx="5438775" cy="44672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62854" name="Rectangle 6"/>
          <p:cNvSpPr>
            <a:spLocks noGrp="1" noChangeArrowheads="1"/>
          </p:cNvSpPr>
          <p:nvPr>
            <p:ph type="ftr" sz="quarter" idx="4"/>
          </p:nvPr>
        </p:nvSpPr>
        <p:spPr bwMode="auto">
          <a:xfrm>
            <a:off x="0" y="9428163"/>
            <a:ext cx="2946400" cy="496887"/>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a:latin typeface="Times New Roman" panose="02020603050405020304" pitchFamily="18" charset="0"/>
              </a:defRPr>
            </a:lvl1pPr>
          </a:lstStyle>
          <a:p>
            <a:pPr>
              <a:defRPr/>
            </a:pPr>
            <a:endParaRPr lang="en-US" altLang="zh-CN"/>
          </a:p>
        </p:txBody>
      </p:sp>
      <p:sp>
        <p:nvSpPr>
          <p:cNvPr id="462855" name="Rectangle 7"/>
          <p:cNvSpPr>
            <a:spLocks noGrp="1" noChangeArrowheads="1"/>
          </p:cNvSpPr>
          <p:nvPr>
            <p:ph type="sldNum" sz="quarter" idx="5"/>
          </p:nvPr>
        </p:nvSpPr>
        <p:spPr bwMode="auto">
          <a:xfrm>
            <a:off x="3849688" y="9428163"/>
            <a:ext cx="29464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1" sz="1200">
                <a:latin typeface="Times New Roman" panose="02020603050405020304" pitchFamily="18" charset="0"/>
              </a:defRPr>
            </a:lvl1pPr>
          </a:lstStyle>
          <a:p>
            <a:fld id="{0987E587-648A-444E-BF24-AE5A419DDEA9}"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sz="100"/>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sz="100"/>
              </a:p>
            </p:txBody>
          </p:sp>
        </p:grpSp>
        <p:grpSp>
          <p:nvGrpSpPr>
            <p:cNvPr id="6" name="Group 6"/>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sz="100"/>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sz="100"/>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sz="100"/>
            </a:p>
          </p:txBody>
        </p:sp>
        <p:sp>
          <p:nvSpPr>
            <p:cNvPr id="8"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sz="100"/>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sz="100"/>
            </a:p>
          </p:txBody>
        </p:sp>
      </p:grpSp>
      <p:sp>
        <p:nvSpPr>
          <p:cNvPr id="289804" name="Rectangle 12"/>
          <p:cNvSpPr>
            <a:spLocks noGrp="1" noChangeArrowheads="1"/>
          </p:cNvSpPr>
          <p:nvPr>
            <p:ph type="ctrTitle"/>
          </p:nvPr>
        </p:nvSpPr>
        <p:spPr>
          <a:xfrm>
            <a:off x="990600" y="1676400"/>
            <a:ext cx="7772400" cy="1462088"/>
          </a:xfrm>
        </p:spPr>
        <p:txBody>
          <a:bodyPr/>
          <a:lstStyle>
            <a:lvl1pPr>
              <a:defRPr/>
            </a:lvl1pPr>
          </a:lstStyle>
          <a:p>
            <a:r>
              <a:rPr lang="zh-CN" altLang="en-US"/>
              <a:t>单击此处编辑母版标题样式</a:t>
            </a:r>
          </a:p>
        </p:txBody>
      </p:sp>
      <p:sp>
        <p:nvSpPr>
          <p:cNvPr id="28980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F2A38385-79F1-4070-AD82-BB6D08C56F62}" type="slidenum">
              <a:rPr lang="en-US" altLang="zh-CN"/>
              <a:t>‹#›</a:t>
            </a:fld>
            <a:endParaRPr lang="en-US" altLang="zh-CN"/>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400"/>
            </a:lvl1pPr>
          </a:lstStyle>
          <a:p>
            <a:r>
              <a:rPr lang="zh-CN" altLang="en-US"/>
              <a:t>单击此处编辑母版标题样式</a:t>
            </a:r>
          </a:p>
        </p:txBody>
      </p:sp>
      <p:sp>
        <p:nvSpPr>
          <p:cNvPr id="3" name="内容占位符 2"/>
          <p:cNvSpPr>
            <a:spLocks noGrp="1"/>
          </p:cNvSpPr>
          <p:nvPr>
            <p:ph idx="1"/>
          </p:nvPr>
        </p:nvSpPr>
        <p:spPr/>
        <p:txBody>
          <a:bodyPr/>
          <a:lstStyle>
            <a:lvl1pPr>
              <a:defRPr sz="2600" b="0"/>
            </a:lvl1pPr>
            <a:lvl2pPr>
              <a:defRPr sz="2400" b="0">
                <a:latin typeface="楷体_GB2312" panose="02010609030101010101" pitchFamily="49" charset="-122"/>
                <a:ea typeface="楷体_GB2312" panose="02010609030101010101" pitchFamily="49" charset="-122"/>
              </a:defRPr>
            </a:lvl2pPr>
            <a:lvl3pPr>
              <a:defRPr sz="2000" b="0">
                <a:latin typeface="+mn-ea"/>
                <a:ea typeface="+mn-ea"/>
              </a:defRPr>
            </a:lvl3pPr>
            <a:lvl4pPr>
              <a:defRPr sz="1600" b="0">
                <a:latin typeface="仿宋_GB2312" panose="02010609030101010101" pitchFamily="49" charset="-122"/>
                <a:ea typeface="仿宋_GB2312" panose="02010609030101010101" pitchFamily="49" charset="-122"/>
              </a:defRPr>
            </a:lvl4pPr>
            <a:lvl5pPr>
              <a:defRPr b="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fld id="{048EDE34-9A29-47BC-9D16-4DCB49FCD5A3}" type="slidenum">
              <a:rPr lang="en-US" altLang="zh-CN"/>
              <a:t>‹#›</a:t>
            </a:fld>
            <a:endParaRPr lang="en-US" altLang="zh-CN"/>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fld id="{3C69FEE2-C40E-473C-8712-3E075329BABE}" type="slidenum">
              <a:rPr lang="en-US" altLang="zh-CN"/>
              <a:t>‹#›</a:t>
            </a:fld>
            <a:endParaRPr lang="en-US" altLang="zh-CN"/>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fld id="{89EAED15-FAC6-42CA-90D0-2A46DCA32C44}" type="slidenum">
              <a:rPr lang="en-US" altLang="zh-CN"/>
              <a:t>‹#›</a:t>
            </a:fld>
            <a:endParaRPr lang="en-US" altLang="zh-CN"/>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p:txBody>
          <a:bodyPr/>
          <a:lstStyle>
            <a:lvl1pPr>
              <a:defRPr/>
            </a:lvl1pPr>
          </a:lstStyle>
          <a:p>
            <a:fld id="{605E224D-3EF8-4E6C-A49F-42DA1562F367}" type="slidenum">
              <a:rPr lang="en-US" altLang="zh-CN"/>
              <a:t>‹#›</a:t>
            </a:fld>
            <a:endParaRPr lang="en-US" altLang="zh-CN"/>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fld id="{F40EAB64-B8ED-481E-9409-CA159986A864}" type="slidenum">
              <a:rPr lang="en-US" altLang="zh-CN"/>
              <a:t>‹#›</a:t>
            </a:fld>
            <a:endParaRPr lang="en-US" altLang="zh-CN"/>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fld id="{E5F5DC1F-3A28-4D5D-8CB5-022999EE035A}" type="slidenum">
              <a:rPr lang="en-US" altLang="zh-CN"/>
              <a:t>‹#›</a:t>
            </a:fld>
            <a:endParaRPr lang="en-US" altLang="zh-CN"/>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fld id="{F945E6BA-2834-4201-B7BF-49A43504AA3F}" type="slidenum">
              <a:rPr lang="en-US" altLang="zh-CN"/>
              <a:t>‹#›</a:t>
            </a:fld>
            <a:endParaRPr lang="en-US" altLang="zh-CN"/>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fld id="{85F48BEB-9AA5-479D-968D-9CB89F64CE3A}" type="slidenum">
              <a:rPr lang="en-US" altLang="zh-CN"/>
              <a:t>‹#›</a:t>
            </a:fld>
            <a:endParaRPr lang="en-US" altLang="zh-CN"/>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fld id="{47AA717F-B81B-48F2-B135-6322A24D2915}" type="slidenum">
              <a:rPr lang="en-US" altLang="zh-CN"/>
              <a:t>‹#›</a:t>
            </a:fld>
            <a:endParaRPr lang="en-US" altLang="zh-CN"/>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fld id="{C0324653-3E7F-49CA-A3A3-0957CF768160}" type="slidenum">
              <a:rPr lang="en-US" altLang="zh-CN"/>
              <a:t>‹#›</a:t>
            </a:fld>
            <a:endParaRPr lang="en-US" altLang="zh-CN"/>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表格占位符 2"/>
          <p:cNvSpPr>
            <a:spLocks noGrp="1"/>
          </p:cNvSpPr>
          <p:nvPr>
            <p:ph type="tbl" idx="1"/>
          </p:nvPr>
        </p:nvSpPr>
        <p:spPr>
          <a:xfrm>
            <a:off x="1182688" y="2017713"/>
            <a:ext cx="7772400" cy="4114800"/>
          </a:xfrm>
        </p:spPr>
        <p:txBody>
          <a:bodyPr/>
          <a:lstStyle/>
          <a:p>
            <a:pPr lvl="0"/>
            <a:endParaRPr lang="zh-CN" altLang="en-US" noProof="0"/>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B6196AC5-FAC5-49FC-82CE-5E0035DF16EA}" type="slidenum">
              <a:rPr lang="en-US" altLang="zh-CN"/>
              <a:t>‹#›</a:t>
            </a:fld>
            <a:endParaRPr lang="en-US" altLang="zh-CN"/>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9D9FA020-0644-4E30-9FA1-3BB2E488C7C2}" type="slidenum">
              <a:rPr lang="en-US" altLang="zh-CN"/>
              <a:t>‹#›</a:t>
            </a:fld>
            <a:endParaRPr lang="en-US" altLang="zh-CN"/>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1800"/>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1800"/>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1800"/>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1800"/>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1800"/>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1800"/>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kumimoji="1" lang="zh-CN" altLang="zh-CN" sz="1800"/>
          </a:p>
        </p:txBody>
      </p:sp>
      <p:sp>
        <p:nvSpPr>
          <p:cNvPr id="1033" name="Rectangle 9"/>
          <p:cNvSpPr>
            <a:spLocks noGrp="1" noChangeArrowheads="1"/>
          </p:cNvSpPr>
          <p:nvPr>
            <p:ph type="title"/>
          </p:nvPr>
        </p:nvSpPr>
        <p:spPr bwMode="auto">
          <a:xfrm>
            <a:off x="1150938" y="214313"/>
            <a:ext cx="7793037"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1034" name="Rectangle 10"/>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88779" name="Rectangle 11"/>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050"/>
            </a:lvl1pPr>
          </a:lstStyle>
          <a:p>
            <a:pPr>
              <a:defRPr/>
            </a:pPr>
            <a:endParaRPr lang="en-US" altLang="zh-CN"/>
          </a:p>
        </p:txBody>
      </p:sp>
      <p:sp>
        <p:nvSpPr>
          <p:cNvPr id="288780" name="Rectangle 12"/>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050"/>
            </a:lvl1pPr>
          </a:lstStyle>
          <a:p>
            <a:pPr>
              <a:defRPr/>
            </a:pPr>
            <a:endParaRPr lang="en-US" altLang="zh-CN"/>
          </a:p>
        </p:txBody>
      </p:sp>
      <p:sp>
        <p:nvSpPr>
          <p:cNvPr id="288781" name="Rectangle 13"/>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050"/>
            </a:lvl1pPr>
          </a:lstStyle>
          <a:p>
            <a:fld id="{1F083D9A-6E12-4CCE-B5E3-47C5C246FC32}"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33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2pPr>
      <a:lvl3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3pPr>
      <a:lvl4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4pPr>
      <a:lvl5pPr algn="l" rtl="0" eaLnBrk="0" fontAlgn="base" hangingPunct="0">
        <a:spcBef>
          <a:spcPct val="0"/>
        </a:spcBef>
        <a:spcAft>
          <a:spcPct val="0"/>
        </a:spcAft>
        <a:defRPr sz="4400" b="1">
          <a:solidFill>
            <a:schemeClr val="tx2"/>
          </a:solidFill>
          <a:latin typeface="Tahoma" panose="020B0604030504040204" pitchFamily="34" charset="0"/>
          <a:ea typeface="华文中宋" pitchFamily="2" charset="-122"/>
        </a:defRPr>
      </a:lvl5pPr>
      <a:lvl6pPr marL="457200" algn="l" rtl="0" fontAlgn="base">
        <a:spcBef>
          <a:spcPct val="0"/>
        </a:spcBef>
        <a:spcAft>
          <a:spcPct val="0"/>
        </a:spcAft>
        <a:defRPr sz="4400" b="1">
          <a:solidFill>
            <a:schemeClr val="tx2"/>
          </a:solidFill>
          <a:latin typeface="Tahoma" panose="020B0604030504040204" pitchFamily="34" charset="0"/>
          <a:ea typeface="华文中宋" pitchFamily="2" charset="-122"/>
        </a:defRPr>
      </a:lvl6pPr>
      <a:lvl7pPr marL="914400" algn="l" rtl="0" fontAlgn="base">
        <a:spcBef>
          <a:spcPct val="0"/>
        </a:spcBef>
        <a:spcAft>
          <a:spcPct val="0"/>
        </a:spcAft>
        <a:defRPr sz="4400" b="1">
          <a:solidFill>
            <a:schemeClr val="tx2"/>
          </a:solidFill>
          <a:latin typeface="Tahoma" panose="020B0604030504040204" pitchFamily="34" charset="0"/>
          <a:ea typeface="华文中宋" pitchFamily="2" charset="-122"/>
        </a:defRPr>
      </a:lvl7pPr>
      <a:lvl8pPr marL="1371600" algn="l" rtl="0" fontAlgn="base">
        <a:spcBef>
          <a:spcPct val="0"/>
        </a:spcBef>
        <a:spcAft>
          <a:spcPct val="0"/>
        </a:spcAft>
        <a:defRPr sz="4400" b="1">
          <a:solidFill>
            <a:schemeClr val="tx2"/>
          </a:solidFill>
          <a:latin typeface="Tahoma" panose="020B0604030504040204" pitchFamily="34" charset="0"/>
          <a:ea typeface="华文中宋" pitchFamily="2" charset="-122"/>
        </a:defRPr>
      </a:lvl8pPr>
      <a:lvl9pPr marL="1828800" algn="l" rtl="0" fontAlgn="base">
        <a:spcBef>
          <a:spcPct val="0"/>
        </a:spcBef>
        <a:spcAft>
          <a:spcPct val="0"/>
        </a:spcAft>
        <a:defRPr sz="4400" b="1">
          <a:solidFill>
            <a:schemeClr val="tx2"/>
          </a:solidFill>
          <a:latin typeface="Tahoma" panose="020B0604030504040204" pitchFamily="34" charset="0"/>
          <a:ea typeface="华文中宋" pitchFamily="2" charset="-122"/>
        </a:defRPr>
      </a:lvl9pPr>
    </p:titleStyle>
    <p:bodyStyle>
      <a:lvl1pPr marL="257175" indent="-257175" algn="l" rtl="0" eaLnBrk="0" fontAlgn="base" hangingPunct="0">
        <a:spcBef>
          <a:spcPct val="15000"/>
        </a:spcBef>
        <a:spcAft>
          <a:spcPct val="0"/>
        </a:spcAft>
        <a:buClr>
          <a:schemeClr val="folHlink"/>
        </a:buClr>
        <a:buSzPct val="60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cs typeface="+mn-cs"/>
        </a:defRPr>
      </a:lvl1pPr>
      <a:lvl2pPr marL="557530" indent="-213995" algn="l" rtl="0" eaLnBrk="0" fontAlgn="base" hangingPunct="0">
        <a:spcBef>
          <a:spcPct val="15000"/>
        </a:spcBef>
        <a:spcAft>
          <a:spcPct val="0"/>
        </a:spcAft>
        <a:buClr>
          <a:schemeClr val="hlink"/>
        </a:buClr>
        <a:buSzPct val="55000"/>
        <a:buFont typeface="Wingdings" panose="05000000000000000000" pitchFamily="2" charset="2"/>
        <a:buChar char="n"/>
        <a:defRPr sz="2100" b="1">
          <a:solidFill>
            <a:schemeClr val="tx1"/>
          </a:solidFill>
          <a:latin typeface="楷体_GB2312" panose="02010609030101010101" pitchFamily="49" charset="-122"/>
          <a:ea typeface="楷体_GB2312" panose="02010609030101010101" pitchFamily="49" charset="-122"/>
        </a:defRPr>
      </a:lvl2pPr>
      <a:lvl3pPr marL="857250" indent="-171450" algn="l" rtl="0" eaLnBrk="0" fontAlgn="base" hangingPunct="0">
        <a:spcBef>
          <a:spcPct val="15000"/>
        </a:spcBef>
        <a:spcAft>
          <a:spcPct val="0"/>
        </a:spcAft>
        <a:buClr>
          <a:schemeClr val="folHlink"/>
        </a:buClr>
        <a:buSzPct val="50000"/>
        <a:buFont typeface="Wingdings" panose="05000000000000000000" pitchFamily="2" charset="2"/>
        <a:buChar char="n"/>
        <a:defRPr sz="1800" b="1">
          <a:solidFill>
            <a:schemeClr val="tx1"/>
          </a:solidFill>
          <a:latin typeface="楷体_GB2312" panose="02010609030101010101" pitchFamily="49" charset="-122"/>
          <a:ea typeface="楷体_GB2312" panose="02010609030101010101" pitchFamily="49" charset="-122"/>
        </a:defRPr>
      </a:lvl3pPr>
      <a:lvl4pPr marL="1200150" indent="-171450" algn="l" rtl="0" eaLnBrk="0" fontAlgn="base" hangingPunct="0">
        <a:spcBef>
          <a:spcPct val="15000"/>
        </a:spcBef>
        <a:spcAft>
          <a:spcPct val="0"/>
        </a:spcAft>
        <a:buClr>
          <a:schemeClr val="accent2"/>
        </a:buClr>
        <a:buSzPct val="55000"/>
        <a:buFont typeface="Wingdings" panose="05000000000000000000" pitchFamily="2" charset="2"/>
        <a:buChar char="n"/>
        <a:defRPr sz="1500" b="1">
          <a:solidFill>
            <a:schemeClr val="tx1"/>
          </a:solidFill>
          <a:latin typeface="黑体" panose="02010609060101010101" pitchFamily="49" charset="-122"/>
          <a:ea typeface="黑体" panose="02010609060101010101" pitchFamily="49" charset="-122"/>
        </a:defRPr>
      </a:lvl4pPr>
      <a:lvl5pPr marL="1543050" indent="-171450" algn="l" rtl="0" eaLnBrk="0" fontAlgn="base" hangingPunct="0">
        <a:spcBef>
          <a:spcPct val="15000"/>
        </a:spcBef>
        <a:spcAft>
          <a:spcPct val="0"/>
        </a:spcAft>
        <a:buClr>
          <a:schemeClr val="accent1"/>
        </a:buClr>
        <a:buSzPct val="50000"/>
        <a:buFont typeface="Wingdings" panose="05000000000000000000" pitchFamily="2" charset="2"/>
        <a:buChar char="n"/>
        <a:defRPr sz="1500" b="1">
          <a:solidFill>
            <a:schemeClr val="tx1"/>
          </a:solidFill>
          <a:latin typeface="黑体" panose="02010609060101010101" pitchFamily="49" charset="-122"/>
          <a:ea typeface="黑体" panose="02010609060101010101" pitchFamily="49" charset="-122"/>
        </a:defRPr>
      </a:lvl5pPr>
      <a:lvl6pPr marL="18859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6pPr>
      <a:lvl7pPr marL="22288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7pPr>
      <a:lvl8pPr marL="25717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8pPr>
      <a:lvl9pPr marL="29146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23.png"/></Relationships>
</file>

<file path=ppt/slides/_rels/slide4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a:xfrm>
            <a:off x="1619672" y="1844824"/>
            <a:ext cx="5829300" cy="3321368"/>
          </a:xfrm>
        </p:spPr>
        <p:txBody>
          <a:bodyPr/>
          <a:lstStyle/>
          <a:p>
            <a:pPr eaLnBrk="1" hangingPunct="1"/>
            <a:endParaRPr lang="en-US" altLang="zh-CN" dirty="0"/>
          </a:p>
          <a:p>
            <a:pPr eaLnBrk="1" hangingPunct="1"/>
            <a:endParaRPr lang="en-US" altLang="zh-CN" dirty="0"/>
          </a:p>
          <a:p>
            <a:pPr marL="0" indent="0" algn="ctr" eaLnBrk="1" hangingPunct="1">
              <a:buNone/>
            </a:pPr>
            <a:r>
              <a:rPr lang="zh-CN" altLang="en-US" sz="3300" dirty="0">
                <a:latin typeface="黑体" panose="02010609060101010101" pitchFamily="2" charset="-122"/>
                <a:ea typeface="黑体" panose="02010609060101010101" pitchFamily="2" charset="-122"/>
                <a:cs typeface="黑体" panose="02010609060101010101" pitchFamily="2" charset="-122"/>
              </a:rPr>
              <a:t>第</a:t>
            </a:r>
            <a:r>
              <a:rPr lang="en-US" altLang="zh-CN" sz="3300" dirty="0">
                <a:latin typeface="黑体" panose="02010609060101010101" pitchFamily="2" charset="-122"/>
                <a:ea typeface="黑体" panose="02010609060101010101" pitchFamily="2" charset="-122"/>
                <a:cs typeface="黑体" panose="02010609060101010101" pitchFamily="2" charset="-122"/>
              </a:rPr>
              <a:t>8</a:t>
            </a:r>
            <a:r>
              <a:rPr lang="zh-CN" altLang="en-US" sz="3300" dirty="0">
                <a:latin typeface="黑体" panose="02010609060101010101" pitchFamily="2" charset="-122"/>
                <a:ea typeface="黑体" panose="02010609060101010101" pitchFamily="2" charset="-122"/>
                <a:cs typeface="黑体" panose="02010609060101010101" pitchFamily="2" charset="-122"/>
              </a:rPr>
              <a:t>章 无形资产</a:t>
            </a:r>
          </a:p>
        </p:txBody>
      </p:sp>
      <p:pic>
        <p:nvPicPr>
          <p:cNvPr id="4" name="图片 3">
            <a:extLst>
              <a:ext uri="{FF2B5EF4-FFF2-40B4-BE49-F238E27FC236}">
                <a16:creationId xmlns:a16="http://schemas.microsoft.com/office/drawing/2014/main" id="{55CBCA79-10E4-4481-9E61-6DCD70B068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48064" y="3695049"/>
            <a:ext cx="2304256" cy="2986290"/>
          </a:xfrm>
          <a:prstGeom prst="rect">
            <a:avLst/>
          </a:prstGeom>
        </p:spPr>
      </p:pic>
      <p:sp>
        <p:nvSpPr>
          <p:cNvPr id="5" name="矩形 4">
            <a:extLst>
              <a:ext uri="{FF2B5EF4-FFF2-40B4-BE49-F238E27FC236}">
                <a16:creationId xmlns:a16="http://schemas.microsoft.com/office/drawing/2014/main" id="{F1A6DCD4-F174-44DC-AE70-95331294BDD1}"/>
              </a:ext>
            </a:extLst>
          </p:cNvPr>
          <p:cNvSpPr/>
          <p:nvPr/>
        </p:nvSpPr>
        <p:spPr>
          <a:xfrm>
            <a:off x="2098818" y="4547117"/>
            <a:ext cx="2992593" cy="923330"/>
          </a:xfrm>
          <a:prstGeom prst="rect">
            <a:avLst/>
          </a:prstGeom>
        </p:spPr>
        <p:txBody>
          <a:bodyPr wrap="square">
            <a:spAutoFit/>
          </a:bodyPr>
          <a:lstStyle/>
          <a:p>
            <a:pPr eaLnBrk="1" hangingPunct="1"/>
            <a:r>
              <a:rPr lang="zh-CN" altLang="en-US" dirty="0"/>
              <a:t>配套教材</a:t>
            </a:r>
            <a:endParaRPr lang="en-US" altLang="zh-CN" dirty="0"/>
          </a:p>
          <a:p>
            <a:pPr eaLnBrk="1" hangingPunct="1"/>
            <a:r>
              <a:rPr lang="zh-CN" altLang="en-US" dirty="0"/>
              <a:t>纸质版：天猫、京东、当当</a:t>
            </a:r>
            <a:endParaRPr lang="en-US" altLang="zh-CN" dirty="0"/>
          </a:p>
          <a:p>
            <a:pPr eaLnBrk="1" hangingPunct="1"/>
            <a:r>
              <a:rPr lang="zh-CN" altLang="en-US" dirty="0"/>
              <a:t>电子版及教辅：文泉学堂</a:t>
            </a:r>
            <a:endParaRPr lang="en-US" altLang="zh-CN" dirty="0"/>
          </a:p>
        </p:txBody>
      </p:sp>
    </p:spTree>
    <p:extLst>
      <p:ext uri="{BB962C8B-B14F-4D97-AF65-F5344CB8AC3E}">
        <p14:creationId xmlns:p14="http://schemas.microsoft.com/office/powerpoint/2010/main" val="1379908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en-US" altLang="zh-CN" dirty="0"/>
              <a:t>2017</a:t>
            </a:r>
            <a:r>
              <a:rPr lang="zh-CN" altLang="en-US" dirty="0"/>
              <a:t>年四川长虹年度报告</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539552" y="5118711"/>
            <a:ext cx="7772400" cy="1051247"/>
          </a:xfrm>
        </p:spPr>
        <p:txBody>
          <a:bodyPr/>
          <a:lstStyle/>
          <a:p>
            <a:r>
              <a:rPr lang="zh-CN" altLang="en-US" dirty="0"/>
              <a:t>问题：无形资产是什么？主要包括哪些内容？什么是开发支出？</a:t>
            </a:r>
          </a:p>
        </p:txBody>
      </p:sp>
      <p:pic>
        <p:nvPicPr>
          <p:cNvPr id="4" name="图片 3">
            <a:extLst>
              <a:ext uri="{FF2B5EF4-FFF2-40B4-BE49-F238E27FC236}">
                <a16:creationId xmlns:a16="http://schemas.microsoft.com/office/drawing/2014/main" id="{B1E5B7DE-3EEF-4237-90C9-D0F261064FD2}"/>
              </a:ext>
            </a:extLst>
          </p:cNvPr>
          <p:cNvPicPr>
            <a:picLocks noChangeAspect="1"/>
          </p:cNvPicPr>
          <p:nvPr/>
        </p:nvPicPr>
        <p:blipFill>
          <a:blip r:embed="rId2"/>
          <a:stretch>
            <a:fillRect/>
          </a:stretch>
        </p:blipFill>
        <p:spPr>
          <a:xfrm>
            <a:off x="-28610" y="2155118"/>
            <a:ext cx="9144000" cy="1527767"/>
          </a:xfrm>
          <a:prstGeom prst="rect">
            <a:avLst/>
          </a:prstGeom>
        </p:spPr>
      </p:pic>
      <p:pic>
        <p:nvPicPr>
          <p:cNvPr id="5" name="图片 4">
            <a:extLst>
              <a:ext uri="{FF2B5EF4-FFF2-40B4-BE49-F238E27FC236}">
                <a16:creationId xmlns:a16="http://schemas.microsoft.com/office/drawing/2014/main" id="{E765087C-204D-4A35-BF70-56C3674B70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281" y="4131747"/>
            <a:ext cx="8987109" cy="546727"/>
          </a:xfrm>
          <a:prstGeom prst="rect">
            <a:avLst/>
          </a:prstGeom>
        </p:spPr>
      </p:pic>
    </p:spTree>
    <p:extLst>
      <p:ext uri="{BB962C8B-B14F-4D97-AF65-F5344CB8AC3E}">
        <p14:creationId xmlns:p14="http://schemas.microsoft.com/office/powerpoint/2010/main" val="3335835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en-US" altLang="zh-CN" dirty="0"/>
              <a:t>2017</a:t>
            </a:r>
            <a:r>
              <a:rPr lang="zh-CN" altLang="en-US" dirty="0"/>
              <a:t>年四川长虹年度报告</a:t>
            </a:r>
          </a:p>
        </p:txBody>
      </p:sp>
      <p:pic>
        <p:nvPicPr>
          <p:cNvPr id="5" name="图片 4">
            <a:extLst>
              <a:ext uri="{FF2B5EF4-FFF2-40B4-BE49-F238E27FC236}">
                <a16:creationId xmlns:a16="http://schemas.microsoft.com/office/drawing/2014/main" id="{43504531-6745-4EDA-A79B-6264EA7246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55991"/>
            <a:ext cx="9161929" cy="1089389"/>
          </a:xfrm>
          <a:prstGeom prst="rect">
            <a:avLst/>
          </a:prstGeom>
        </p:spPr>
      </p:pic>
      <p:pic>
        <p:nvPicPr>
          <p:cNvPr id="6" name="图片 5">
            <a:extLst>
              <a:ext uri="{FF2B5EF4-FFF2-40B4-BE49-F238E27FC236}">
                <a16:creationId xmlns:a16="http://schemas.microsoft.com/office/drawing/2014/main" id="{5DBED0BD-6C19-43C5-A1C2-6A0857CCAA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48" y="2276872"/>
            <a:ext cx="9161929" cy="1863251"/>
          </a:xfrm>
          <a:prstGeom prst="rect">
            <a:avLst/>
          </a:prstGeom>
        </p:spPr>
      </p:pic>
      <p:pic>
        <p:nvPicPr>
          <p:cNvPr id="7" name="图片 6">
            <a:extLst>
              <a:ext uri="{FF2B5EF4-FFF2-40B4-BE49-F238E27FC236}">
                <a16:creationId xmlns:a16="http://schemas.microsoft.com/office/drawing/2014/main" id="{382C2AE1-5798-49ED-9658-B0B46FAE7A40}"/>
              </a:ext>
            </a:extLst>
          </p:cNvPr>
          <p:cNvPicPr>
            <a:picLocks noChangeAspect="1"/>
          </p:cNvPicPr>
          <p:nvPr/>
        </p:nvPicPr>
        <p:blipFill>
          <a:blip r:embed="rId4"/>
          <a:stretch>
            <a:fillRect/>
          </a:stretch>
        </p:blipFill>
        <p:spPr>
          <a:xfrm>
            <a:off x="0" y="5661248"/>
            <a:ext cx="9144000" cy="610203"/>
          </a:xfrm>
          <a:prstGeom prst="rect">
            <a:avLst/>
          </a:prstGeom>
        </p:spPr>
      </p:pic>
    </p:spTree>
    <p:extLst>
      <p:ext uri="{BB962C8B-B14F-4D97-AF65-F5344CB8AC3E}">
        <p14:creationId xmlns:p14="http://schemas.microsoft.com/office/powerpoint/2010/main" val="2986777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pic>
        <p:nvPicPr>
          <p:cNvPr id="5" name="图片 4">
            <a:extLst>
              <a:ext uri="{FF2B5EF4-FFF2-40B4-BE49-F238E27FC236}">
                <a16:creationId xmlns:a16="http://schemas.microsoft.com/office/drawing/2014/main" id="{E3BDF67B-AA01-4B8B-9439-9FA46EE76B1F}"/>
              </a:ext>
            </a:extLst>
          </p:cNvPr>
          <p:cNvPicPr>
            <a:picLocks noChangeAspect="1"/>
          </p:cNvPicPr>
          <p:nvPr/>
        </p:nvPicPr>
        <p:blipFill>
          <a:blip r:embed="rId2"/>
          <a:stretch>
            <a:fillRect/>
          </a:stretch>
        </p:blipFill>
        <p:spPr>
          <a:xfrm>
            <a:off x="0" y="2348880"/>
            <a:ext cx="9144000" cy="3754019"/>
          </a:xfrm>
          <a:prstGeom prst="rect">
            <a:avLst/>
          </a:prstGeom>
        </p:spPr>
      </p:pic>
    </p:spTree>
    <p:extLst>
      <p:ext uri="{BB962C8B-B14F-4D97-AF65-F5344CB8AC3E}">
        <p14:creationId xmlns:p14="http://schemas.microsoft.com/office/powerpoint/2010/main" val="3713184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案例：燕京啤酒</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82688" y="2017713"/>
            <a:ext cx="7772400" cy="2707431"/>
          </a:xfrm>
        </p:spPr>
        <p:txBody>
          <a:bodyPr/>
          <a:lstStyle/>
          <a:p>
            <a:r>
              <a:rPr lang="en-US" altLang="zh-CN" dirty="0"/>
              <a:t>2019</a:t>
            </a:r>
            <a:r>
              <a:rPr lang="zh-CN" altLang="en-US" dirty="0"/>
              <a:t>年</a:t>
            </a:r>
            <a:r>
              <a:rPr lang="en-US" altLang="zh-CN" dirty="0"/>
              <a:t>6</a:t>
            </a:r>
            <a:r>
              <a:rPr lang="zh-CN" altLang="en-US" dirty="0"/>
              <a:t>月</a:t>
            </a:r>
            <a:r>
              <a:rPr lang="en-US" altLang="zh-CN" dirty="0"/>
              <a:t>26</a:t>
            </a:r>
            <a:r>
              <a:rPr lang="zh-CN" altLang="en-US" dirty="0"/>
              <a:t>日，以“全球领导力与中国品牌重建”为主题，世界品牌实验室（</a:t>
            </a:r>
            <a:r>
              <a:rPr lang="en-US" altLang="zh-CN" dirty="0"/>
              <a:t>World Brand Lab</a:t>
            </a:r>
            <a:r>
              <a:rPr lang="zh-CN" altLang="en-US" dirty="0"/>
              <a:t>）在北京发布了</a:t>
            </a:r>
            <a:r>
              <a:rPr lang="en-US" altLang="zh-CN" dirty="0"/>
              <a:t>2019</a:t>
            </a:r>
            <a:r>
              <a:rPr lang="zh-CN" altLang="en-US" dirty="0"/>
              <a:t>年（第十六届）</a:t>
            </a:r>
            <a:r>
              <a:rPr lang="en-US" altLang="zh-CN" dirty="0"/>
              <a:t>《</a:t>
            </a:r>
            <a:r>
              <a:rPr lang="zh-CN" altLang="en-US" dirty="0"/>
              <a:t>中国</a:t>
            </a:r>
            <a:r>
              <a:rPr lang="en-US" altLang="zh-CN" dirty="0"/>
              <a:t>500</a:t>
            </a:r>
            <a:r>
              <a:rPr lang="zh-CN" altLang="en-US" dirty="0"/>
              <a:t>最具价值品牌</a:t>
            </a:r>
            <a:r>
              <a:rPr lang="en-US" altLang="zh-CN" dirty="0"/>
              <a:t>》</a:t>
            </a:r>
            <a:r>
              <a:rPr lang="zh-CN" altLang="en-US" dirty="0"/>
              <a:t>排行榜，燕京啤酒集团啤酒类产品品牌价值达</a:t>
            </a:r>
            <a:r>
              <a:rPr lang="en-US" altLang="zh-CN" dirty="0"/>
              <a:t>1610.47</a:t>
            </a:r>
            <a:r>
              <a:rPr lang="zh-CN" altLang="en-US" dirty="0"/>
              <a:t>亿元</a:t>
            </a:r>
          </a:p>
          <a:p>
            <a:r>
              <a:rPr lang="en-US" altLang="zh-CN" dirty="0"/>
              <a:t>2001</a:t>
            </a:r>
            <a:r>
              <a:rPr lang="zh-CN" altLang="en-US" dirty="0"/>
              <a:t>年“燕京”品牌的价值为</a:t>
            </a:r>
            <a:r>
              <a:rPr lang="en-US" altLang="zh-CN" dirty="0"/>
              <a:t>55.29</a:t>
            </a:r>
            <a:r>
              <a:rPr lang="zh-CN" altLang="en-US" dirty="0"/>
              <a:t>亿元</a:t>
            </a:r>
          </a:p>
        </p:txBody>
      </p:sp>
      <p:pic>
        <p:nvPicPr>
          <p:cNvPr id="4" name="图片 3">
            <a:extLst>
              <a:ext uri="{FF2B5EF4-FFF2-40B4-BE49-F238E27FC236}">
                <a16:creationId xmlns:a16="http://schemas.microsoft.com/office/drawing/2014/main" id="{8E6A5F0D-7F72-4863-BD74-6DEFCC6E849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47664" y="4731316"/>
            <a:ext cx="2972342" cy="2016224"/>
          </a:xfrm>
          <a:prstGeom prst="rect">
            <a:avLst/>
          </a:prstGeom>
        </p:spPr>
      </p:pic>
    </p:spTree>
    <p:extLst>
      <p:ext uri="{BB962C8B-B14F-4D97-AF65-F5344CB8AC3E}">
        <p14:creationId xmlns:p14="http://schemas.microsoft.com/office/powerpoint/2010/main" val="240704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问题：</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 “燕京”品牌的价值是否应在其资产负债表中反映。如果确认，如何确认？应当确认的金额多少？</a:t>
            </a:r>
          </a:p>
        </p:txBody>
      </p:sp>
    </p:spTree>
    <p:extLst>
      <p:ext uri="{BB962C8B-B14F-4D97-AF65-F5344CB8AC3E}">
        <p14:creationId xmlns:p14="http://schemas.microsoft.com/office/powerpoint/2010/main" val="1081504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一、无形资产概述</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（一）无形资产定义</a:t>
            </a:r>
            <a:endParaRPr lang="en-US" altLang="zh-CN" dirty="0"/>
          </a:p>
          <a:p>
            <a:endParaRPr lang="en-US" altLang="zh-CN" dirty="0"/>
          </a:p>
          <a:p>
            <a:r>
              <a:rPr lang="zh-CN" altLang="en-US" dirty="0"/>
              <a:t>（二）无形资产的分类</a:t>
            </a:r>
          </a:p>
          <a:p>
            <a:endParaRPr lang="zh-CN" altLang="en-US" dirty="0"/>
          </a:p>
        </p:txBody>
      </p:sp>
    </p:spTree>
    <p:extLst>
      <p:ext uri="{BB962C8B-B14F-4D97-AF65-F5344CB8AC3E}">
        <p14:creationId xmlns:p14="http://schemas.microsoft.com/office/powerpoint/2010/main" val="1530288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（一）无形资产的定义</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en-US" altLang="zh-CN" dirty="0"/>
              <a:t>1.</a:t>
            </a:r>
            <a:r>
              <a:rPr lang="zh-CN" altLang="en-US" dirty="0"/>
              <a:t>什么是无形资产？</a:t>
            </a:r>
            <a:endParaRPr lang="en-US" altLang="zh-CN" dirty="0"/>
          </a:p>
          <a:p>
            <a:endParaRPr lang="en-US" altLang="zh-CN" dirty="0"/>
          </a:p>
          <a:p>
            <a:endParaRPr lang="en-US" altLang="zh-CN" dirty="0"/>
          </a:p>
          <a:p>
            <a:r>
              <a:rPr lang="zh-CN" altLang="en-US" dirty="0"/>
              <a:t>企业拥有或者控制的没有实物形态的可辨认非货币性资产</a:t>
            </a:r>
          </a:p>
          <a:p>
            <a:endParaRPr lang="zh-CN" altLang="en-US" dirty="0"/>
          </a:p>
        </p:txBody>
      </p:sp>
    </p:spTree>
    <p:extLst>
      <p:ext uri="{BB962C8B-B14F-4D97-AF65-F5344CB8AC3E}">
        <p14:creationId xmlns:p14="http://schemas.microsoft.com/office/powerpoint/2010/main" val="2495855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２．无形资产的基本特征 </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不具有实物形态</a:t>
            </a:r>
          </a:p>
          <a:p>
            <a:pPr lvl="1"/>
            <a:r>
              <a:rPr lang="zh-CN" altLang="en-US" dirty="0"/>
              <a:t>看不见、摸不着</a:t>
            </a:r>
          </a:p>
          <a:p>
            <a:pPr lvl="1"/>
            <a:r>
              <a:rPr lang="zh-CN" altLang="en-US" dirty="0"/>
              <a:t>不排除依赖于实物载体</a:t>
            </a:r>
          </a:p>
          <a:p>
            <a:pPr lvl="1"/>
            <a:r>
              <a:rPr lang="zh-CN" altLang="en-US" dirty="0"/>
              <a:t>需要专业判断</a:t>
            </a:r>
          </a:p>
          <a:p>
            <a:r>
              <a:rPr lang="zh-CN" altLang="en-US" dirty="0"/>
              <a:t>具有可辨认性</a:t>
            </a:r>
          </a:p>
          <a:p>
            <a:pPr lvl="1"/>
            <a:r>
              <a:rPr lang="zh-CN" altLang="en-US" dirty="0"/>
              <a:t>能够单独分离或划分</a:t>
            </a:r>
          </a:p>
          <a:p>
            <a:pPr lvl="1"/>
            <a:r>
              <a:rPr lang="zh-CN" altLang="en-US" dirty="0"/>
              <a:t>产生于合同性权利或其他法定权利</a:t>
            </a:r>
          </a:p>
          <a:p>
            <a:r>
              <a:rPr lang="zh-CN" altLang="en-US" dirty="0"/>
              <a:t>属于非货币性资产</a:t>
            </a:r>
          </a:p>
          <a:p>
            <a:endParaRPr lang="zh-CN" altLang="en-US" dirty="0"/>
          </a:p>
        </p:txBody>
      </p:sp>
    </p:spTree>
    <p:extLst>
      <p:ext uri="{BB962C8B-B14F-4D97-AF65-F5344CB8AC3E}">
        <p14:creationId xmlns:p14="http://schemas.microsoft.com/office/powerpoint/2010/main" val="3953874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二、无形资产的分类</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82688" y="2017713"/>
            <a:ext cx="7772400" cy="619199"/>
          </a:xfrm>
        </p:spPr>
        <p:txBody>
          <a:bodyPr/>
          <a:lstStyle/>
          <a:p>
            <a:r>
              <a:rPr lang="en-US" altLang="zh-CN" dirty="0"/>
              <a:t>1.</a:t>
            </a:r>
            <a:r>
              <a:rPr lang="zh-CN" altLang="en-US" dirty="0"/>
              <a:t>按经济内容分</a:t>
            </a:r>
          </a:p>
        </p:txBody>
      </p:sp>
      <p:grpSp>
        <p:nvGrpSpPr>
          <p:cNvPr id="27" name="Group 38">
            <a:extLst>
              <a:ext uri="{FF2B5EF4-FFF2-40B4-BE49-F238E27FC236}">
                <a16:creationId xmlns:a16="http://schemas.microsoft.com/office/drawing/2014/main" id="{7B91DC69-37E2-4F51-AE76-6ADAF9A08C82}"/>
              </a:ext>
            </a:extLst>
          </p:cNvPr>
          <p:cNvGrpSpPr>
            <a:grpSpLocks/>
          </p:cNvGrpSpPr>
          <p:nvPr/>
        </p:nvGrpSpPr>
        <p:grpSpPr bwMode="auto">
          <a:xfrm>
            <a:off x="539552" y="3284984"/>
            <a:ext cx="8285163" cy="2324100"/>
            <a:chOff x="394" y="1826"/>
            <a:chExt cx="4883" cy="1464"/>
          </a:xfrm>
        </p:grpSpPr>
        <p:grpSp>
          <p:nvGrpSpPr>
            <p:cNvPr id="28" name="Group 22">
              <a:extLst>
                <a:ext uri="{FF2B5EF4-FFF2-40B4-BE49-F238E27FC236}">
                  <a16:creationId xmlns:a16="http://schemas.microsoft.com/office/drawing/2014/main" id="{E39BF9AF-6DFA-4E89-A213-4B209C705273}"/>
                </a:ext>
              </a:extLst>
            </p:cNvPr>
            <p:cNvGrpSpPr>
              <a:grpSpLocks/>
            </p:cNvGrpSpPr>
            <p:nvPr/>
          </p:nvGrpSpPr>
          <p:grpSpPr bwMode="auto">
            <a:xfrm>
              <a:off x="394" y="1827"/>
              <a:ext cx="1126" cy="523"/>
              <a:chOff x="394" y="1827"/>
              <a:chExt cx="1126" cy="523"/>
            </a:xfrm>
          </p:grpSpPr>
          <p:sp>
            <p:nvSpPr>
              <p:cNvPr id="47" name="Freeform 13">
                <a:extLst>
                  <a:ext uri="{FF2B5EF4-FFF2-40B4-BE49-F238E27FC236}">
                    <a16:creationId xmlns:a16="http://schemas.microsoft.com/office/drawing/2014/main" id="{C9DE6285-2DF3-443F-8F31-24AC9F4EFF3D}"/>
                  </a:ext>
                </a:extLst>
              </p:cNvPr>
              <p:cNvSpPr>
                <a:spLocks/>
              </p:cNvSpPr>
              <p:nvPr/>
            </p:nvSpPr>
            <p:spPr bwMode="auto">
              <a:xfrm>
                <a:off x="394" y="1827"/>
                <a:ext cx="1126" cy="523"/>
              </a:xfrm>
              <a:custGeom>
                <a:avLst/>
                <a:gdLst/>
                <a:ahLst/>
                <a:cxnLst>
                  <a:cxn ang="0">
                    <a:pos x="573" y="376"/>
                  </a:cxn>
                  <a:cxn ang="0">
                    <a:pos x="573" y="0"/>
                  </a:cxn>
                  <a:cxn ang="0">
                    <a:pos x="0" y="0"/>
                  </a:cxn>
                  <a:cxn ang="0">
                    <a:pos x="0" y="574"/>
                  </a:cxn>
                  <a:cxn ang="0">
                    <a:pos x="772" y="574"/>
                  </a:cxn>
                </a:cxnLst>
                <a:rect l="0" t="0" r="r" b="b"/>
                <a:pathLst>
                  <a:path w="772" h="574">
                    <a:moveTo>
                      <a:pt x="573" y="376"/>
                    </a:moveTo>
                    <a:lnTo>
                      <a:pt x="573" y="0"/>
                    </a:lnTo>
                    <a:lnTo>
                      <a:pt x="0" y="0"/>
                    </a:lnTo>
                    <a:lnTo>
                      <a:pt x="0" y="574"/>
                    </a:lnTo>
                    <a:lnTo>
                      <a:pt x="772" y="574"/>
                    </a:lnTo>
                  </a:path>
                </a:pathLst>
              </a:custGeom>
              <a:noFill/>
              <a:ln w="38100" cap="flat" cmpd="sng">
                <a:solidFill>
                  <a:schemeClr val="folHlink"/>
                </a:solidFill>
                <a:prstDash val="solid"/>
                <a:round/>
                <a:headEnd type="none" w="med" len="med"/>
                <a:tailEnd type="triangle" w="med" len="lg"/>
              </a:ln>
              <a:effectLst/>
            </p:spPr>
            <p:txBody>
              <a:bodyPr wrap="none" lIns="0" tIns="0" rIns="0" bIns="0" anchor="ctr"/>
              <a:lstStyle/>
              <a:p>
                <a:pPr>
                  <a:defRPr/>
                </a:pPr>
                <a:endParaRPr lang="zh-CN" altLang="en-US">
                  <a:effectLst>
                    <a:outerShdw blurRad="38100" dist="38100" dir="2700000" algn="tl">
                      <a:srgbClr val="000000">
                        <a:alpha val="43137"/>
                      </a:srgbClr>
                    </a:outerShdw>
                  </a:effectLst>
                  <a:latin typeface="Arial" charset="0"/>
                </a:endParaRPr>
              </a:p>
            </p:txBody>
          </p:sp>
          <p:sp>
            <p:nvSpPr>
              <p:cNvPr id="48" name="Rectangle 18">
                <a:extLst>
                  <a:ext uri="{FF2B5EF4-FFF2-40B4-BE49-F238E27FC236}">
                    <a16:creationId xmlns:a16="http://schemas.microsoft.com/office/drawing/2014/main" id="{89262243-ADC0-4874-B9A5-7744BA28EA4D}"/>
                  </a:ext>
                </a:extLst>
              </p:cNvPr>
              <p:cNvSpPr>
                <a:spLocks noChangeArrowheads="1"/>
              </p:cNvSpPr>
              <p:nvPr/>
            </p:nvSpPr>
            <p:spPr bwMode="auto">
              <a:xfrm>
                <a:off x="533" y="1960"/>
                <a:ext cx="5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r>
                  <a:rPr lang="zh-CN" altLang="en-US" sz="1800">
                    <a:solidFill>
                      <a:srgbClr val="FF0000"/>
                    </a:solidFill>
                  </a:rPr>
                  <a:t>专利权</a:t>
                </a:r>
              </a:p>
            </p:txBody>
          </p:sp>
        </p:grpSp>
        <p:grpSp>
          <p:nvGrpSpPr>
            <p:cNvPr id="29" name="Group 24">
              <a:extLst>
                <a:ext uri="{FF2B5EF4-FFF2-40B4-BE49-F238E27FC236}">
                  <a16:creationId xmlns:a16="http://schemas.microsoft.com/office/drawing/2014/main" id="{D384872D-0269-4BDE-AEA1-D7F38EC34282}"/>
                </a:ext>
              </a:extLst>
            </p:cNvPr>
            <p:cNvGrpSpPr>
              <a:grpSpLocks/>
            </p:cNvGrpSpPr>
            <p:nvPr/>
          </p:nvGrpSpPr>
          <p:grpSpPr bwMode="auto">
            <a:xfrm>
              <a:off x="1609" y="1827"/>
              <a:ext cx="1126" cy="523"/>
              <a:chOff x="1715" y="1827"/>
              <a:chExt cx="1126" cy="523"/>
            </a:xfrm>
          </p:grpSpPr>
          <p:sp>
            <p:nvSpPr>
              <p:cNvPr id="45" name="Freeform 17">
                <a:extLst>
                  <a:ext uri="{FF2B5EF4-FFF2-40B4-BE49-F238E27FC236}">
                    <a16:creationId xmlns:a16="http://schemas.microsoft.com/office/drawing/2014/main" id="{1319929E-C397-4F45-A4B2-BA0CE226A987}"/>
                  </a:ext>
                </a:extLst>
              </p:cNvPr>
              <p:cNvSpPr>
                <a:spLocks/>
              </p:cNvSpPr>
              <p:nvPr/>
            </p:nvSpPr>
            <p:spPr bwMode="auto">
              <a:xfrm>
                <a:off x="1715" y="1827"/>
                <a:ext cx="1126" cy="523"/>
              </a:xfrm>
              <a:custGeom>
                <a:avLst/>
                <a:gdLst/>
                <a:ahLst/>
                <a:cxnLst>
                  <a:cxn ang="0">
                    <a:pos x="573" y="376"/>
                  </a:cxn>
                  <a:cxn ang="0">
                    <a:pos x="573" y="0"/>
                  </a:cxn>
                  <a:cxn ang="0">
                    <a:pos x="0" y="0"/>
                  </a:cxn>
                  <a:cxn ang="0">
                    <a:pos x="0" y="574"/>
                  </a:cxn>
                  <a:cxn ang="0">
                    <a:pos x="772" y="574"/>
                  </a:cxn>
                </a:cxnLst>
                <a:rect l="0" t="0" r="r" b="b"/>
                <a:pathLst>
                  <a:path w="772" h="574">
                    <a:moveTo>
                      <a:pt x="573" y="376"/>
                    </a:moveTo>
                    <a:lnTo>
                      <a:pt x="573" y="0"/>
                    </a:lnTo>
                    <a:lnTo>
                      <a:pt x="0" y="0"/>
                    </a:lnTo>
                    <a:lnTo>
                      <a:pt x="0" y="574"/>
                    </a:lnTo>
                    <a:lnTo>
                      <a:pt x="772" y="574"/>
                    </a:lnTo>
                  </a:path>
                </a:pathLst>
              </a:custGeom>
              <a:noFill/>
              <a:ln w="38100" cap="flat" cmpd="sng">
                <a:solidFill>
                  <a:schemeClr val="folHlink"/>
                </a:solidFill>
                <a:prstDash val="solid"/>
                <a:round/>
                <a:headEnd type="none" w="med" len="med"/>
                <a:tailEnd type="triangle" w="med" len="lg"/>
              </a:ln>
              <a:effectLst/>
            </p:spPr>
            <p:txBody>
              <a:bodyPr wrap="none" lIns="0" tIns="0" rIns="0" bIns="0" anchor="ctr"/>
              <a:lstStyle/>
              <a:p>
                <a:pPr>
                  <a:defRPr/>
                </a:pPr>
                <a:endParaRPr lang="zh-CN" altLang="en-US">
                  <a:effectLst>
                    <a:outerShdw blurRad="38100" dist="38100" dir="2700000" algn="tl">
                      <a:srgbClr val="000000">
                        <a:alpha val="43137"/>
                      </a:srgbClr>
                    </a:outerShdw>
                  </a:effectLst>
                  <a:latin typeface="Arial" charset="0"/>
                </a:endParaRPr>
              </a:p>
            </p:txBody>
          </p:sp>
          <p:sp>
            <p:nvSpPr>
              <p:cNvPr id="46" name="Rectangle 19">
                <a:extLst>
                  <a:ext uri="{FF2B5EF4-FFF2-40B4-BE49-F238E27FC236}">
                    <a16:creationId xmlns:a16="http://schemas.microsoft.com/office/drawing/2014/main" id="{F6661BF1-A420-4A6F-A166-04B043E35DFC}"/>
                  </a:ext>
                </a:extLst>
              </p:cNvPr>
              <p:cNvSpPr>
                <a:spLocks noChangeArrowheads="1"/>
              </p:cNvSpPr>
              <p:nvPr/>
            </p:nvSpPr>
            <p:spPr bwMode="auto">
              <a:xfrm>
                <a:off x="1885" y="1969"/>
                <a:ext cx="5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r>
                  <a:rPr lang="zh-CN" altLang="en-US" sz="1800">
                    <a:solidFill>
                      <a:srgbClr val="FF0000"/>
                    </a:solidFill>
                  </a:rPr>
                  <a:t>商标权</a:t>
                </a:r>
              </a:p>
            </p:txBody>
          </p:sp>
        </p:grpSp>
        <p:grpSp>
          <p:nvGrpSpPr>
            <p:cNvPr id="30" name="Group 21">
              <a:extLst>
                <a:ext uri="{FF2B5EF4-FFF2-40B4-BE49-F238E27FC236}">
                  <a16:creationId xmlns:a16="http://schemas.microsoft.com/office/drawing/2014/main" id="{24C21C76-5DDE-4456-855A-02489EBFDACA}"/>
                </a:ext>
              </a:extLst>
            </p:cNvPr>
            <p:cNvGrpSpPr>
              <a:grpSpLocks/>
            </p:cNvGrpSpPr>
            <p:nvPr/>
          </p:nvGrpSpPr>
          <p:grpSpPr bwMode="auto">
            <a:xfrm>
              <a:off x="2927" y="1826"/>
              <a:ext cx="1126" cy="523"/>
              <a:chOff x="464" y="3165"/>
              <a:chExt cx="1126" cy="523"/>
            </a:xfrm>
          </p:grpSpPr>
          <p:sp>
            <p:nvSpPr>
              <p:cNvPr id="43" name="Freeform 5">
                <a:extLst>
                  <a:ext uri="{FF2B5EF4-FFF2-40B4-BE49-F238E27FC236}">
                    <a16:creationId xmlns:a16="http://schemas.microsoft.com/office/drawing/2014/main" id="{411AF807-40AB-4EA9-9641-D00745F25C47}"/>
                  </a:ext>
                </a:extLst>
              </p:cNvPr>
              <p:cNvSpPr>
                <a:spLocks/>
              </p:cNvSpPr>
              <p:nvPr/>
            </p:nvSpPr>
            <p:spPr bwMode="auto">
              <a:xfrm>
                <a:off x="464" y="3165"/>
                <a:ext cx="1126" cy="523"/>
              </a:xfrm>
              <a:custGeom>
                <a:avLst/>
                <a:gdLst/>
                <a:ahLst/>
                <a:cxnLst>
                  <a:cxn ang="0">
                    <a:pos x="573" y="376"/>
                  </a:cxn>
                  <a:cxn ang="0">
                    <a:pos x="573" y="0"/>
                  </a:cxn>
                  <a:cxn ang="0">
                    <a:pos x="0" y="0"/>
                  </a:cxn>
                  <a:cxn ang="0">
                    <a:pos x="0" y="574"/>
                  </a:cxn>
                  <a:cxn ang="0">
                    <a:pos x="772" y="574"/>
                  </a:cxn>
                </a:cxnLst>
                <a:rect l="0" t="0" r="r" b="b"/>
                <a:pathLst>
                  <a:path w="772" h="574">
                    <a:moveTo>
                      <a:pt x="573" y="376"/>
                    </a:moveTo>
                    <a:lnTo>
                      <a:pt x="573" y="0"/>
                    </a:lnTo>
                    <a:lnTo>
                      <a:pt x="0" y="0"/>
                    </a:lnTo>
                    <a:lnTo>
                      <a:pt x="0" y="574"/>
                    </a:lnTo>
                    <a:lnTo>
                      <a:pt x="772" y="574"/>
                    </a:lnTo>
                  </a:path>
                </a:pathLst>
              </a:custGeom>
              <a:noFill/>
              <a:ln w="38100" cap="flat" cmpd="sng">
                <a:solidFill>
                  <a:schemeClr val="folHlink"/>
                </a:solidFill>
                <a:prstDash val="solid"/>
                <a:round/>
                <a:headEnd type="none" w="med" len="med"/>
                <a:tailEnd type="triangle" w="med" len="lg"/>
              </a:ln>
              <a:effectLst/>
            </p:spPr>
            <p:txBody>
              <a:bodyPr wrap="none" lIns="0" tIns="0" rIns="0" bIns="0" anchor="ctr"/>
              <a:lstStyle/>
              <a:p>
                <a:pPr>
                  <a:defRPr/>
                </a:pPr>
                <a:endParaRPr lang="zh-CN" altLang="en-US">
                  <a:effectLst>
                    <a:outerShdw blurRad="38100" dist="38100" dir="2700000" algn="tl">
                      <a:srgbClr val="000000">
                        <a:alpha val="43137"/>
                      </a:srgbClr>
                    </a:outerShdw>
                  </a:effectLst>
                  <a:latin typeface="Arial" charset="0"/>
                </a:endParaRPr>
              </a:p>
            </p:txBody>
          </p:sp>
          <p:sp>
            <p:nvSpPr>
              <p:cNvPr id="44" name="Rectangle 20">
                <a:extLst>
                  <a:ext uri="{FF2B5EF4-FFF2-40B4-BE49-F238E27FC236}">
                    <a16:creationId xmlns:a16="http://schemas.microsoft.com/office/drawing/2014/main" id="{4C4AF6BE-A566-409A-A46A-95E395521F29}"/>
                  </a:ext>
                </a:extLst>
              </p:cNvPr>
              <p:cNvSpPr>
                <a:spLocks noChangeArrowheads="1"/>
              </p:cNvSpPr>
              <p:nvPr/>
            </p:nvSpPr>
            <p:spPr bwMode="auto">
              <a:xfrm>
                <a:off x="553" y="3307"/>
                <a:ext cx="65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r>
                  <a:rPr lang="zh-CN" altLang="en-US" sz="1800">
                    <a:solidFill>
                      <a:srgbClr val="FF0000"/>
                    </a:solidFill>
                  </a:rPr>
                  <a:t>专有技术</a:t>
                </a:r>
              </a:p>
            </p:txBody>
          </p:sp>
        </p:grpSp>
        <p:grpSp>
          <p:nvGrpSpPr>
            <p:cNvPr id="31" name="Group 26">
              <a:extLst>
                <a:ext uri="{FF2B5EF4-FFF2-40B4-BE49-F238E27FC236}">
                  <a16:creationId xmlns:a16="http://schemas.microsoft.com/office/drawing/2014/main" id="{C6B6E660-7D32-4214-B574-6EF5923DC4CE}"/>
                </a:ext>
              </a:extLst>
            </p:cNvPr>
            <p:cNvGrpSpPr>
              <a:grpSpLocks/>
            </p:cNvGrpSpPr>
            <p:nvPr/>
          </p:nvGrpSpPr>
          <p:grpSpPr bwMode="auto">
            <a:xfrm>
              <a:off x="4151" y="1836"/>
              <a:ext cx="1126" cy="523"/>
              <a:chOff x="4151" y="1836"/>
              <a:chExt cx="1126" cy="523"/>
            </a:xfrm>
          </p:grpSpPr>
          <p:sp>
            <p:nvSpPr>
              <p:cNvPr id="41" name="Freeform 16">
                <a:extLst>
                  <a:ext uri="{FF2B5EF4-FFF2-40B4-BE49-F238E27FC236}">
                    <a16:creationId xmlns:a16="http://schemas.microsoft.com/office/drawing/2014/main" id="{71B23CA1-7F4D-4C76-8C57-6C112F5FA4F1}"/>
                  </a:ext>
                </a:extLst>
              </p:cNvPr>
              <p:cNvSpPr>
                <a:spLocks/>
              </p:cNvSpPr>
              <p:nvPr/>
            </p:nvSpPr>
            <p:spPr bwMode="auto">
              <a:xfrm>
                <a:off x="4151" y="1836"/>
                <a:ext cx="1126" cy="523"/>
              </a:xfrm>
              <a:custGeom>
                <a:avLst/>
                <a:gdLst/>
                <a:ahLst/>
                <a:cxnLst>
                  <a:cxn ang="0">
                    <a:pos x="573" y="376"/>
                  </a:cxn>
                  <a:cxn ang="0">
                    <a:pos x="573" y="0"/>
                  </a:cxn>
                  <a:cxn ang="0">
                    <a:pos x="0" y="0"/>
                  </a:cxn>
                  <a:cxn ang="0">
                    <a:pos x="0" y="574"/>
                  </a:cxn>
                  <a:cxn ang="0">
                    <a:pos x="772" y="574"/>
                  </a:cxn>
                </a:cxnLst>
                <a:rect l="0" t="0" r="r" b="b"/>
                <a:pathLst>
                  <a:path w="772" h="574">
                    <a:moveTo>
                      <a:pt x="573" y="376"/>
                    </a:moveTo>
                    <a:lnTo>
                      <a:pt x="573" y="0"/>
                    </a:lnTo>
                    <a:lnTo>
                      <a:pt x="0" y="0"/>
                    </a:lnTo>
                    <a:lnTo>
                      <a:pt x="0" y="574"/>
                    </a:lnTo>
                    <a:lnTo>
                      <a:pt x="772" y="574"/>
                    </a:lnTo>
                  </a:path>
                </a:pathLst>
              </a:custGeom>
              <a:noFill/>
              <a:ln w="38100" cap="flat" cmpd="sng">
                <a:solidFill>
                  <a:schemeClr val="folHlink"/>
                </a:solidFill>
                <a:prstDash val="solid"/>
                <a:round/>
                <a:headEnd type="none" w="med" len="med"/>
                <a:tailEnd type="triangle" w="med" len="lg"/>
              </a:ln>
              <a:effectLst/>
            </p:spPr>
            <p:txBody>
              <a:bodyPr wrap="none" lIns="0" tIns="0" rIns="0" bIns="0" anchor="ctr"/>
              <a:lstStyle/>
              <a:p>
                <a:pPr>
                  <a:defRPr/>
                </a:pPr>
                <a:endParaRPr lang="zh-CN" altLang="en-US">
                  <a:effectLst>
                    <a:outerShdw blurRad="38100" dist="38100" dir="2700000" algn="tl">
                      <a:srgbClr val="000000">
                        <a:alpha val="43137"/>
                      </a:srgbClr>
                    </a:outerShdw>
                  </a:effectLst>
                  <a:latin typeface="Arial" charset="0"/>
                </a:endParaRPr>
              </a:p>
            </p:txBody>
          </p:sp>
          <p:sp>
            <p:nvSpPr>
              <p:cNvPr id="42" name="Rectangle 25">
                <a:extLst>
                  <a:ext uri="{FF2B5EF4-FFF2-40B4-BE49-F238E27FC236}">
                    <a16:creationId xmlns:a16="http://schemas.microsoft.com/office/drawing/2014/main" id="{82B8722D-672D-496C-A877-64DC78B5D383}"/>
                  </a:ext>
                </a:extLst>
              </p:cNvPr>
              <p:cNvSpPr>
                <a:spLocks noChangeArrowheads="1"/>
              </p:cNvSpPr>
              <p:nvPr/>
            </p:nvSpPr>
            <p:spPr bwMode="auto">
              <a:xfrm>
                <a:off x="4374" y="1978"/>
                <a:ext cx="37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r>
                  <a:rPr lang="en-US" altLang="zh-CN" sz="1800">
                    <a:solidFill>
                      <a:srgbClr val="FF0000"/>
                    </a:solidFill>
                  </a:rPr>
                  <a:t>……</a:t>
                </a:r>
              </a:p>
            </p:txBody>
          </p:sp>
        </p:grpSp>
        <p:grpSp>
          <p:nvGrpSpPr>
            <p:cNvPr id="32" name="Group 36">
              <a:extLst>
                <a:ext uri="{FF2B5EF4-FFF2-40B4-BE49-F238E27FC236}">
                  <a16:creationId xmlns:a16="http://schemas.microsoft.com/office/drawing/2014/main" id="{A1864D46-85A3-4593-BB97-E4A4A84B21EA}"/>
                </a:ext>
              </a:extLst>
            </p:cNvPr>
            <p:cNvGrpSpPr>
              <a:grpSpLocks/>
            </p:cNvGrpSpPr>
            <p:nvPr/>
          </p:nvGrpSpPr>
          <p:grpSpPr bwMode="auto">
            <a:xfrm>
              <a:off x="2176" y="2748"/>
              <a:ext cx="1126" cy="523"/>
              <a:chOff x="2291" y="2748"/>
              <a:chExt cx="1126" cy="523"/>
            </a:xfrm>
          </p:grpSpPr>
          <p:sp>
            <p:nvSpPr>
              <p:cNvPr id="39" name="Freeform 14">
                <a:extLst>
                  <a:ext uri="{FF2B5EF4-FFF2-40B4-BE49-F238E27FC236}">
                    <a16:creationId xmlns:a16="http://schemas.microsoft.com/office/drawing/2014/main" id="{6D12F0A7-2DDD-49CB-B5B1-347B178DBE9B}"/>
                  </a:ext>
                </a:extLst>
              </p:cNvPr>
              <p:cNvSpPr>
                <a:spLocks/>
              </p:cNvSpPr>
              <p:nvPr/>
            </p:nvSpPr>
            <p:spPr bwMode="auto">
              <a:xfrm rot="10800000">
                <a:off x="2291" y="2748"/>
                <a:ext cx="1126" cy="523"/>
              </a:xfrm>
              <a:custGeom>
                <a:avLst/>
                <a:gdLst/>
                <a:ahLst/>
                <a:cxnLst>
                  <a:cxn ang="0">
                    <a:pos x="573" y="376"/>
                  </a:cxn>
                  <a:cxn ang="0">
                    <a:pos x="573" y="0"/>
                  </a:cxn>
                  <a:cxn ang="0">
                    <a:pos x="0" y="0"/>
                  </a:cxn>
                  <a:cxn ang="0">
                    <a:pos x="0" y="574"/>
                  </a:cxn>
                  <a:cxn ang="0">
                    <a:pos x="772" y="574"/>
                  </a:cxn>
                </a:cxnLst>
                <a:rect l="0" t="0" r="r" b="b"/>
                <a:pathLst>
                  <a:path w="772" h="574">
                    <a:moveTo>
                      <a:pt x="573" y="376"/>
                    </a:moveTo>
                    <a:lnTo>
                      <a:pt x="573" y="0"/>
                    </a:lnTo>
                    <a:lnTo>
                      <a:pt x="0" y="0"/>
                    </a:lnTo>
                    <a:lnTo>
                      <a:pt x="0" y="574"/>
                    </a:lnTo>
                    <a:lnTo>
                      <a:pt x="772" y="574"/>
                    </a:lnTo>
                  </a:path>
                </a:pathLst>
              </a:custGeom>
              <a:noFill/>
              <a:ln w="38100" cap="flat" cmpd="sng">
                <a:solidFill>
                  <a:schemeClr val="folHlink"/>
                </a:solidFill>
                <a:prstDash val="solid"/>
                <a:round/>
                <a:headEnd type="none" w="med" len="med"/>
                <a:tailEnd type="triangle" w="med" len="lg"/>
              </a:ln>
              <a:effectLst/>
            </p:spPr>
            <p:txBody>
              <a:bodyPr wrap="none" lIns="0" tIns="0" rIns="0" bIns="0" anchor="ctr"/>
              <a:lstStyle/>
              <a:p>
                <a:pPr>
                  <a:defRPr/>
                </a:pPr>
                <a:endParaRPr lang="zh-CN" altLang="en-US">
                  <a:effectLst>
                    <a:outerShdw blurRad="38100" dist="38100" dir="2700000" algn="tl">
                      <a:srgbClr val="000000">
                        <a:alpha val="43137"/>
                      </a:srgbClr>
                    </a:outerShdw>
                  </a:effectLst>
                  <a:latin typeface="Arial" charset="0"/>
                </a:endParaRPr>
              </a:p>
            </p:txBody>
          </p:sp>
          <p:sp>
            <p:nvSpPr>
              <p:cNvPr id="40" name="Rectangle 28">
                <a:extLst>
                  <a:ext uri="{FF2B5EF4-FFF2-40B4-BE49-F238E27FC236}">
                    <a16:creationId xmlns:a16="http://schemas.microsoft.com/office/drawing/2014/main" id="{82AF1EEA-3489-496A-9AEC-4CBA38B7E17C}"/>
                  </a:ext>
                </a:extLst>
              </p:cNvPr>
              <p:cNvSpPr>
                <a:spLocks noChangeArrowheads="1"/>
              </p:cNvSpPr>
              <p:nvPr/>
            </p:nvSpPr>
            <p:spPr bwMode="auto">
              <a:xfrm>
                <a:off x="2746" y="2907"/>
                <a:ext cx="5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r>
                  <a:rPr lang="zh-CN" altLang="en-US" sz="1800">
                    <a:solidFill>
                      <a:srgbClr val="FF0000"/>
                    </a:solidFill>
                  </a:rPr>
                  <a:t>著作权</a:t>
                </a:r>
              </a:p>
            </p:txBody>
          </p:sp>
        </p:grpSp>
        <p:grpSp>
          <p:nvGrpSpPr>
            <p:cNvPr id="33" name="Group 37">
              <a:extLst>
                <a:ext uri="{FF2B5EF4-FFF2-40B4-BE49-F238E27FC236}">
                  <a16:creationId xmlns:a16="http://schemas.microsoft.com/office/drawing/2014/main" id="{7324E010-2431-4B1E-A859-D80EB3454516}"/>
                </a:ext>
              </a:extLst>
            </p:cNvPr>
            <p:cNvGrpSpPr>
              <a:grpSpLocks/>
            </p:cNvGrpSpPr>
            <p:nvPr/>
          </p:nvGrpSpPr>
          <p:grpSpPr bwMode="auto">
            <a:xfrm>
              <a:off x="3645" y="2765"/>
              <a:ext cx="1126" cy="523"/>
              <a:chOff x="4000" y="2756"/>
              <a:chExt cx="1126" cy="523"/>
            </a:xfrm>
          </p:grpSpPr>
          <p:sp>
            <p:nvSpPr>
              <p:cNvPr id="37" name="Rectangle 27">
                <a:extLst>
                  <a:ext uri="{FF2B5EF4-FFF2-40B4-BE49-F238E27FC236}">
                    <a16:creationId xmlns:a16="http://schemas.microsoft.com/office/drawing/2014/main" id="{59F726EF-D0B2-4FD9-B79E-5FC8A6BE1E2C}"/>
                  </a:ext>
                </a:extLst>
              </p:cNvPr>
              <p:cNvSpPr>
                <a:spLocks noChangeArrowheads="1"/>
              </p:cNvSpPr>
              <p:nvPr/>
            </p:nvSpPr>
            <p:spPr bwMode="auto">
              <a:xfrm>
                <a:off x="4308" y="2891"/>
                <a:ext cx="78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r>
                  <a:rPr lang="zh-CN" altLang="en-US" sz="1800">
                    <a:solidFill>
                      <a:srgbClr val="FF0000"/>
                    </a:solidFill>
                  </a:rPr>
                  <a:t>土地使用权</a:t>
                </a:r>
              </a:p>
            </p:txBody>
          </p:sp>
          <p:sp>
            <p:nvSpPr>
              <p:cNvPr id="38" name="Freeform 15">
                <a:extLst>
                  <a:ext uri="{FF2B5EF4-FFF2-40B4-BE49-F238E27FC236}">
                    <a16:creationId xmlns:a16="http://schemas.microsoft.com/office/drawing/2014/main" id="{9D81E5A2-DDA7-4315-8D78-E47A99516EC2}"/>
                  </a:ext>
                </a:extLst>
              </p:cNvPr>
              <p:cNvSpPr>
                <a:spLocks/>
              </p:cNvSpPr>
              <p:nvPr/>
            </p:nvSpPr>
            <p:spPr bwMode="auto">
              <a:xfrm rot="10800000">
                <a:off x="4000" y="2756"/>
                <a:ext cx="1126" cy="523"/>
              </a:xfrm>
              <a:custGeom>
                <a:avLst/>
                <a:gdLst/>
                <a:ahLst/>
                <a:cxnLst>
                  <a:cxn ang="0">
                    <a:pos x="573" y="376"/>
                  </a:cxn>
                  <a:cxn ang="0">
                    <a:pos x="573" y="0"/>
                  </a:cxn>
                  <a:cxn ang="0">
                    <a:pos x="0" y="0"/>
                  </a:cxn>
                  <a:cxn ang="0">
                    <a:pos x="0" y="574"/>
                  </a:cxn>
                  <a:cxn ang="0">
                    <a:pos x="772" y="574"/>
                  </a:cxn>
                </a:cxnLst>
                <a:rect l="0" t="0" r="r" b="b"/>
                <a:pathLst>
                  <a:path w="772" h="574">
                    <a:moveTo>
                      <a:pt x="573" y="376"/>
                    </a:moveTo>
                    <a:lnTo>
                      <a:pt x="573" y="0"/>
                    </a:lnTo>
                    <a:lnTo>
                      <a:pt x="0" y="0"/>
                    </a:lnTo>
                    <a:lnTo>
                      <a:pt x="0" y="574"/>
                    </a:lnTo>
                    <a:lnTo>
                      <a:pt x="772" y="574"/>
                    </a:lnTo>
                  </a:path>
                </a:pathLst>
              </a:custGeom>
              <a:noFill/>
              <a:ln w="38100" cap="flat" cmpd="sng">
                <a:solidFill>
                  <a:schemeClr val="folHlink"/>
                </a:solidFill>
                <a:prstDash val="solid"/>
                <a:round/>
                <a:headEnd type="none" w="med" len="med"/>
                <a:tailEnd type="triangle" w="med" len="lg"/>
              </a:ln>
              <a:effectLst/>
            </p:spPr>
            <p:txBody>
              <a:bodyPr wrap="none" lIns="0" tIns="0" rIns="0" bIns="0" anchor="ctr"/>
              <a:lstStyle/>
              <a:p>
                <a:pPr>
                  <a:defRPr/>
                </a:pPr>
                <a:endParaRPr lang="zh-CN" altLang="en-US">
                  <a:effectLst>
                    <a:outerShdw blurRad="38100" dist="38100" dir="2700000" algn="tl">
                      <a:srgbClr val="000000">
                        <a:alpha val="43137"/>
                      </a:srgbClr>
                    </a:outerShdw>
                  </a:effectLst>
                  <a:latin typeface="Arial" charset="0"/>
                </a:endParaRPr>
              </a:p>
            </p:txBody>
          </p:sp>
        </p:grpSp>
        <p:grpSp>
          <p:nvGrpSpPr>
            <p:cNvPr id="34" name="Group 35">
              <a:extLst>
                <a:ext uri="{FF2B5EF4-FFF2-40B4-BE49-F238E27FC236}">
                  <a16:creationId xmlns:a16="http://schemas.microsoft.com/office/drawing/2014/main" id="{3EA27551-3AD2-4CE3-96AD-CAA2BCA59837}"/>
                </a:ext>
              </a:extLst>
            </p:cNvPr>
            <p:cNvGrpSpPr>
              <a:grpSpLocks/>
            </p:cNvGrpSpPr>
            <p:nvPr/>
          </p:nvGrpSpPr>
          <p:grpSpPr bwMode="auto">
            <a:xfrm>
              <a:off x="801" y="2767"/>
              <a:ext cx="1126" cy="523"/>
              <a:chOff x="801" y="2767"/>
              <a:chExt cx="1126" cy="523"/>
            </a:xfrm>
          </p:grpSpPr>
          <p:sp>
            <p:nvSpPr>
              <p:cNvPr id="35" name="Freeform 12">
                <a:extLst>
                  <a:ext uri="{FF2B5EF4-FFF2-40B4-BE49-F238E27FC236}">
                    <a16:creationId xmlns:a16="http://schemas.microsoft.com/office/drawing/2014/main" id="{ED7F51D6-F3C1-4CEA-9C2D-5D262959BE54}"/>
                  </a:ext>
                </a:extLst>
              </p:cNvPr>
              <p:cNvSpPr>
                <a:spLocks/>
              </p:cNvSpPr>
              <p:nvPr/>
            </p:nvSpPr>
            <p:spPr bwMode="auto">
              <a:xfrm rot="10800000">
                <a:off x="801" y="2767"/>
                <a:ext cx="1126" cy="523"/>
              </a:xfrm>
              <a:custGeom>
                <a:avLst/>
                <a:gdLst/>
                <a:ahLst/>
                <a:cxnLst>
                  <a:cxn ang="0">
                    <a:pos x="573" y="376"/>
                  </a:cxn>
                  <a:cxn ang="0">
                    <a:pos x="573" y="0"/>
                  </a:cxn>
                  <a:cxn ang="0">
                    <a:pos x="0" y="0"/>
                  </a:cxn>
                  <a:cxn ang="0">
                    <a:pos x="0" y="574"/>
                  </a:cxn>
                  <a:cxn ang="0">
                    <a:pos x="772" y="574"/>
                  </a:cxn>
                </a:cxnLst>
                <a:rect l="0" t="0" r="r" b="b"/>
                <a:pathLst>
                  <a:path w="772" h="574">
                    <a:moveTo>
                      <a:pt x="573" y="376"/>
                    </a:moveTo>
                    <a:lnTo>
                      <a:pt x="573" y="0"/>
                    </a:lnTo>
                    <a:lnTo>
                      <a:pt x="0" y="0"/>
                    </a:lnTo>
                    <a:lnTo>
                      <a:pt x="0" y="574"/>
                    </a:lnTo>
                    <a:lnTo>
                      <a:pt x="772" y="574"/>
                    </a:lnTo>
                  </a:path>
                </a:pathLst>
              </a:custGeom>
              <a:noFill/>
              <a:ln w="38100" cap="flat" cmpd="sng">
                <a:solidFill>
                  <a:schemeClr val="folHlink"/>
                </a:solidFill>
                <a:prstDash val="solid"/>
                <a:round/>
                <a:headEnd type="none" w="med" len="med"/>
                <a:tailEnd type="triangle" w="med" len="lg"/>
              </a:ln>
              <a:effectLst/>
            </p:spPr>
            <p:txBody>
              <a:bodyPr wrap="none" lIns="0" tIns="0" rIns="0" bIns="0" anchor="ctr"/>
              <a:lstStyle/>
              <a:p>
                <a:pPr>
                  <a:defRPr/>
                </a:pPr>
                <a:endParaRPr lang="zh-CN" altLang="en-US">
                  <a:effectLst>
                    <a:outerShdw blurRad="38100" dist="38100" dir="2700000" algn="tl">
                      <a:srgbClr val="000000">
                        <a:alpha val="43137"/>
                      </a:srgbClr>
                    </a:outerShdw>
                  </a:effectLst>
                  <a:latin typeface="Arial" charset="0"/>
                </a:endParaRPr>
              </a:p>
            </p:txBody>
          </p:sp>
          <p:sp>
            <p:nvSpPr>
              <p:cNvPr id="36" name="Rectangle 29">
                <a:extLst>
                  <a:ext uri="{FF2B5EF4-FFF2-40B4-BE49-F238E27FC236}">
                    <a16:creationId xmlns:a16="http://schemas.microsoft.com/office/drawing/2014/main" id="{ACB5FC7D-937E-4E20-8874-81866264D818}"/>
                  </a:ext>
                </a:extLst>
              </p:cNvPr>
              <p:cNvSpPr>
                <a:spLocks noChangeArrowheads="1"/>
              </p:cNvSpPr>
              <p:nvPr/>
            </p:nvSpPr>
            <p:spPr bwMode="auto">
              <a:xfrm>
                <a:off x="1416" y="2930"/>
                <a:ext cx="10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endParaRPr lang="zh-CN" altLang="zh-CN" sz="1800">
                  <a:solidFill>
                    <a:srgbClr val="FF0000"/>
                  </a:solidFill>
                </a:endParaRPr>
              </a:p>
            </p:txBody>
          </p:sp>
        </p:grpSp>
      </p:grpSp>
      <p:sp>
        <p:nvSpPr>
          <p:cNvPr id="49" name="Rectangle 39">
            <a:extLst>
              <a:ext uri="{FF2B5EF4-FFF2-40B4-BE49-F238E27FC236}">
                <a16:creationId xmlns:a16="http://schemas.microsoft.com/office/drawing/2014/main" id="{0A1304B9-2A80-40BD-BFBA-0E07C93E3FE7}"/>
              </a:ext>
            </a:extLst>
          </p:cNvPr>
          <p:cNvSpPr>
            <a:spLocks noChangeArrowheads="1"/>
          </p:cNvSpPr>
          <p:nvPr/>
        </p:nvSpPr>
        <p:spPr bwMode="auto">
          <a:xfrm>
            <a:off x="1958777" y="5034409"/>
            <a:ext cx="914400" cy="368300"/>
          </a:xfrm>
          <a:prstGeom prst="rect">
            <a:avLst/>
          </a:prstGeom>
          <a:noFill/>
          <a:ln w="12700">
            <a:noFill/>
            <a:miter lim="800000"/>
            <a:headEnd type="none" w="sm" len="sm"/>
            <a:tailEnd type="none" w="sm" len="sm"/>
          </a:ln>
          <a:effectLst/>
        </p:spPr>
        <p:txBody>
          <a:bodyPr wrap="none" anchor="ctr"/>
          <a:lstStyle/>
          <a:p>
            <a:pPr>
              <a:defRPr/>
            </a:pPr>
            <a:r>
              <a:rPr lang="zh-CN" altLang="en-US" sz="2000" dirty="0">
                <a:solidFill>
                  <a:srgbClr val="FF0000"/>
                </a:solidFill>
                <a:effectLst>
                  <a:outerShdw blurRad="38100" dist="38100" dir="2700000" algn="tl">
                    <a:srgbClr val="000000"/>
                  </a:outerShdw>
                </a:effectLst>
                <a:latin typeface="Arial" charset="0"/>
              </a:rPr>
              <a:t>特许权</a:t>
            </a:r>
          </a:p>
        </p:txBody>
      </p:sp>
    </p:spTree>
    <p:extLst>
      <p:ext uri="{BB962C8B-B14F-4D97-AF65-F5344CB8AC3E}">
        <p14:creationId xmlns:p14="http://schemas.microsoft.com/office/powerpoint/2010/main" val="1375789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amond(in)">
                                      <p:cBhvr>
                                        <p:cTn id="7" dur="2000"/>
                                        <p:tgtEl>
                                          <p:spTgt spid="27"/>
                                        </p:tgtEl>
                                      </p:cBhvr>
                                    </p:animEffect>
                                  </p:childTnLst>
                                </p:cTn>
                              </p:par>
                            </p:childTnLst>
                          </p:cTn>
                        </p:par>
                        <p:par>
                          <p:cTn id="8" fill="hold">
                            <p:stCondLst>
                              <p:cond delay="2000"/>
                            </p:stCondLst>
                            <p:childTnLst>
                              <p:par>
                                <p:cTn id="9" presetID="3" presetClass="entr" presetSubtype="10"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blinds(horizontal)">
                                      <p:cBhvr>
                                        <p:cTn id="1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82688" y="2017713"/>
            <a:ext cx="7772400" cy="691207"/>
          </a:xfrm>
        </p:spPr>
        <p:txBody>
          <a:bodyPr/>
          <a:lstStyle/>
          <a:p>
            <a:r>
              <a:rPr lang="en-US" altLang="zh-CN" dirty="0"/>
              <a:t>2.</a:t>
            </a:r>
            <a:r>
              <a:rPr lang="zh-CN" altLang="en-US" dirty="0"/>
              <a:t>按使用寿命分</a:t>
            </a:r>
          </a:p>
        </p:txBody>
      </p:sp>
      <p:grpSp>
        <p:nvGrpSpPr>
          <p:cNvPr id="4" name="Group 4">
            <a:extLst>
              <a:ext uri="{FF2B5EF4-FFF2-40B4-BE49-F238E27FC236}">
                <a16:creationId xmlns:a16="http://schemas.microsoft.com/office/drawing/2014/main" id="{D3E28F32-A18E-482E-B89E-9129F9AFD871}"/>
              </a:ext>
            </a:extLst>
          </p:cNvPr>
          <p:cNvGrpSpPr>
            <a:grpSpLocks/>
          </p:cNvGrpSpPr>
          <p:nvPr/>
        </p:nvGrpSpPr>
        <p:grpSpPr bwMode="auto">
          <a:xfrm>
            <a:off x="1076740" y="3702723"/>
            <a:ext cx="2239981" cy="1190625"/>
            <a:chOff x="816" y="1263"/>
            <a:chExt cx="1284" cy="750"/>
          </a:xfrm>
        </p:grpSpPr>
        <p:pic>
          <p:nvPicPr>
            <p:cNvPr id="5" name="Picture 5" descr="45-blue">
              <a:extLst>
                <a:ext uri="{FF2B5EF4-FFF2-40B4-BE49-F238E27FC236}">
                  <a16:creationId xmlns:a16="http://schemas.microsoft.com/office/drawing/2014/main" id="{A1E46283-3999-404A-9C1E-CB6915C76E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6" y="1263"/>
              <a:ext cx="1284"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6">
              <a:extLst>
                <a:ext uri="{FF2B5EF4-FFF2-40B4-BE49-F238E27FC236}">
                  <a16:creationId xmlns:a16="http://schemas.microsoft.com/office/drawing/2014/main" id="{272C4051-774B-4F6D-9774-98E471D9E763}"/>
                </a:ext>
              </a:extLst>
            </p:cNvPr>
            <p:cNvSpPr txBox="1">
              <a:spLocks noChangeArrowheads="1"/>
            </p:cNvSpPr>
            <p:nvPr/>
          </p:nvSpPr>
          <p:spPr bwMode="auto">
            <a:xfrm>
              <a:off x="985" y="1505"/>
              <a:ext cx="94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eaLnBrk="1" hangingPunct="1">
                <a:spcBef>
                  <a:spcPct val="20000"/>
                </a:spcBef>
                <a:buClr>
                  <a:schemeClr val="hlink"/>
                </a:buClr>
                <a:buFont typeface="Wingdings" panose="05000000000000000000" pitchFamily="2" charset="2"/>
                <a:buNone/>
              </a:pPr>
              <a:r>
                <a:rPr lang="zh-CN" altLang="en-US" sz="2200" dirty="0">
                  <a:solidFill>
                    <a:schemeClr val="tx2"/>
                  </a:solidFill>
                </a:rPr>
                <a:t>按有无期限</a:t>
              </a:r>
            </a:p>
          </p:txBody>
        </p:sp>
      </p:grpSp>
      <p:grpSp>
        <p:nvGrpSpPr>
          <p:cNvPr id="7" name="Group 7">
            <a:extLst>
              <a:ext uri="{FF2B5EF4-FFF2-40B4-BE49-F238E27FC236}">
                <a16:creationId xmlns:a16="http://schemas.microsoft.com/office/drawing/2014/main" id="{2E1D6AAA-64AB-4403-80D8-4773C5D826A3}"/>
              </a:ext>
            </a:extLst>
          </p:cNvPr>
          <p:cNvGrpSpPr>
            <a:grpSpLocks/>
          </p:cNvGrpSpPr>
          <p:nvPr/>
        </p:nvGrpSpPr>
        <p:grpSpPr bwMode="auto">
          <a:xfrm>
            <a:off x="4798426" y="2470795"/>
            <a:ext cx="2703611" cy="1158875"/>
            <a:chOff x="777" y="3592"/>
            <a:chExt cx="960" cy="588"/>
          </a:xfrm>
        </p:grpSpPr>
        <p:pic>
          <p:nvPicPr>
            <p:cNvPr id="8" name="Picture 8" descr="45-green">
              <a:extLst>
                <a:ext uri="{FF2B5EF4-FFF2-40B4-BE49-F238E27FC236}">
                  <a16:creationId xmlns:a16="http://schemas.microsoft.com/office/drawing/2014/main" id="{27C32753-5F2C-4C32-AB2B-FDAE3AC9EF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 y="3592"/>
              <a:ext cx="960" cy="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9">
              <a:extLst>
                <a:ext uri="{FF2B5EF4-FFF2-40B4-BE49-F238E27FC236}">
                  <a16:creationId xmlns:a16="http://schemas.microsoft.com/office/drawing/2014/main" id="{668E9131-5DA1-4870-B30D-92E8924D7955}"/>
                </a:ext>
              </a:extLst>
            </p:cNvPr>
            <p:cNvSpPr txBox="1">
              <a:spLocks noChangeArrowheads="1"/>
            </p:cNvSpPr>
            <p:nvPr/>
          </p:nvSpPr>
          <p:spPr bwMode="auto">
            <a:xfrm>
              <a:off x="916" y="3785"/>
              <a:ext cx="76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a:solidFill>
                    <a:schemeClr val="tx2"/>
                  </a:solidFill>
                </a:rPr>
                <a:t>使用寿命有限</a:t>
              </a:r>
            </a:p>
          </p:txBody>
        </p:sp>
      </p:grpSp>
      <p:grpSp>
        <p:nvGrpSpPr>
          <p:cNvPr id="10" name="Group 10">
            <a:extLst>
              <a:ext uri="{FF2B5EF4-FFF2-40B4-BE49-F238E27FC236}">
                <a16:creationId xmlns:a16="http://schemas.microsoft.com/office/drawing/2014/main" id="{6CEBA12E-C884-4C45-AF55-97C197CC6949}"/>
              </a:ext>
            </a:extLst>
          </p:cNvPr>
          <p:cNvGrpSpPr>
            <a:grpSpLocks/>
          </p:cNvGrpSpPr>
          <p:nvPr/>
        </p:nvGrpSpPr>
        <p:grpSpPr bwMode="auto">
          <a:xfrm>
            <a:off x="4842973" y="5035943"/>
            <a:ext cx="2614515" cy="1208116"/>
            <a:chOff x="816" y="3592"/>
            <a:chExt cx="960" cy="588"/>
          </a:xfrm>
        </p:grpSpPr>
        <p:pic>
          <p:nvPicPr>
            <p:cNvPr id="11" name="Picture 11" descr="45-green">
              <a:extLst>
                <a:ext uri="{FF2B5EF4-FFF2-40B4-BE49-F238E27FC236}">
                  <a16:creationId xmlns:a16="http://schemas.microsoft.com/office/drawing/2014/main" id="{74641BFA-4AEA-433D-92D1-4395562D7F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6" y="3592"/>
              <a:ext cx="960" cy="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12">
              <a:extLst>
                <a:ext uri="{FF2B5EF4-FFF2-40B4-BE49-F238E27FC236}">
                  <a16:creationId xmlns:a16="http://schemas.microsoft.com/office/drawing/2014/main" id="{66BC7D54-B66D-4692-91C3-8DDF41FDCA68}"/>
                </a:ext>
              </a:extLst>
            </p:cNvPr>
            <p:cNvSpPr txBox="1">
              <a:spLocks noChangeArrowheads="1"/>
            </p:cNvSpPr>
            <p:nvPr/>
          </p:nvSpPr>
          <p:spPr bwMode="auto">
            <a:xfrm>
              <a:off x="916" y="3785"/>
              <a:ext cx="760"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a:solidFill>
                    <a:schemeClr val="tx2"/>
                  </a:solidFill>
                </a:rPr>
                <a:t>使用寿命不确定</a:t>
              </a:r>
            </a:p>
          </p:txBody>
        </p:sp>
      </p:grpSp>
      <p:pic>
        <p:nvPicPr>
          <p:cNvPr id="13" name="Picture 14" descr="GEL Freestyle Arrow MS-green">
            <a:extLst>
              <a:ext uri="{FF2B5EF4-FFF2-40B4-BE49-F238E27FC236}">
                <a16:creationId xmlns:a16="http://schemas.microsoft.com/office/drawing/2014/main" id="{BD5CF75E-2723-40CD-8C02-9E640E43B6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900079">
            <a:off x="3349536" y="4778113"/>
            <a:ext cx="1294786" cy="903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5" descr="GEL Freestyle Arrow MS-green">
            <a:extLst>
              <a:ext uri="{FF2B5EF4-FFF2-40B4-BE49-F238E27FC236}">
                <a16:creationId xmlns:a16="http://schemas.microsoft.com/office/drawing/2014/main" id="{D8FCD308-336D-4D27-AF44-A52FB5CC0D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61359">
            <a:off x="3387654" y="3119716"/>
            <a:ext cx="1338958" cy="934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5115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1" fill="hold"/>
                                        <p:tgtEl>
                                          <p:spTgt spid="4"/>
                                        </p:tgtEl>
                                        <p:attrNameLst>
                                          <p:attrName/>
                                        </p:attrNameLst>
                                      </p:cBhvr>
                                    </p:anim>
                                  </p:childTnLst>
                                </p:cTn>
                              </p:par>
                            </p:childTnLst>
                          </p:cTn>
                        </p:par>
                        <p:par>
                          <p:cTn id="8" fill="hold">
                            <p:stCondLst>
                              <p:cond delay="0"/>
                            </p:stCondLst>
                            <p:childTnLst>
                              <p:par>
                                <p:cTn id="9" presetID="24"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 to="" calcmode="lin" valueType="num">
                                      <p:cBhvr>
                                        <p:cTn id="11" dur="1" fill="hold"/>
                                        <p:tgtEl>
                                          <p:spTgt spid="14"/>
                                        </p:tgtEl>
                                        <p:attrNameLst>
                                          <p:attrName/>
                                        </p:attrNameLst>
                                      </p:cBhvr>
                                    </p:anim>
                                  </p:childTnLst>
                                </p:cTn>
                              </p:par>
                            </p:childTnLst>
                          </p:cTn>
                        </p:par>
                        <p:par>
                          <p:cTn id="12" fill="hold">
                            <p:stCondLst>
                              <p:cond delay="0"/>
                            </p:stCondLst>
                            <p:childTnLst>
                              <p:par>
                                <p:cTn id="13" presetID="53"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1000" fill="hold"/>
                                        <p:tgtEl>
                                          <p:spTgt spid="7"/>
                                        </p:tgtEl>
                                        <p:attrNameLst>
                                          <p:attrName>ppt_w</p:attrName>
                                        </p:attrNameLst>
                                      </p:cBhvr>
                                      <p:tavLst>
                                        <p:tav tm="0">
                                          <p:val>
                                            <p:fltVal val="0"/>
                                          </p:val>
                                        </p:tav>
                                        <p:tav tm="100000">
                                          <p:val>
                                            <p:strVal val="#ppt_w"/>
                                          </p:val>
                                        </p:tav>
                                      </p:tavLst>
                                    </p:anim>
                                    <p:anim calcmode="lin" valueType="num">
                                      <p:cBhvr>
                                        <p:cTn id="16" dur="1000" fill="hold"/>
                                        <p:tgtEl>
                                          <p:spTgt spid="7"/>
                                        </p:tgtEl>
                                        <p:attrNameLst>
                                          <p:attrName>ppt_h</p:attrName>
                                        </p:attrNameLst>
                                      </p:cBhvr>
                                      <p:tavLst>
                                        <p:tav tm="0">
                                          <p:val>
                                            <p:fltVal val="0"/>
                                          </p:val>
                                        </p:tav>
                                        <p:tav tm="100000">
                                          <p:val>
                                            <p:strVal val="#ppt_h"/>
                                          </p:val>
                                        </p:tav>
                                      </p:tavLst>
                                    </p:anim>
                                    <p:animEffect transition="in" filter="fade">
                                      <p:cBhvr>
                                        <p:cTn id="17" dur="1000"/>
                                        <p:tgtEl>
                                          <p:spTgt spid="7"/>
                                        </p:tgtEl>
                                      </p:cBhvr>
                                    </p:animEffect>
                                  </p:childTnLst>
                                </p:cTn>
                              </p:par>
                            </p:childTnLst>
                          </p:cTn>
                        </p:par>
                        <p:par>
                          <p:cTn id="18" fill="hold">
                            <p:stCondLst>
                              <p:cond delay="1000"/>
                            </p:stCondLst>
                            <p:childTnLst>
                              <p:par>
                                <p:cTn id="19" presetID="24" presetClass="entr" presetSubtype="0"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anim to="" calcmode="lin" valueType="num">
                                      <p:cBhvr>
                                        <p:cTn id="21" dur="1" fill="hold"/>
                                        <p:tgtEl>
                                          <p:spTgt spid="13"/>
                                        </p:tgtEl>
                                        <p:attrNameLst>
                                          <p:attrName/>
                                        </p:attrNameLst>
                                      </p:cBhvr>
                                    </p:anim>
                                  </p:childTnLst>
                                </p:cTn>
                              </p:par>
                            </p:childTnLst>
                          </p:cTn>
                        </p:par>
                        <p:par>
                          <p:cTn id="22" fill="hold">
                            <p:stCondLst>
                              <p:cond delay="1000"/>
                            </p:stCondLst>
                            <p:childTnLst>
                              <p:par>
                                <p:cTn id="23" presetID="53" presetClass="entr" presetSubtype="0"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1000" fill="hold"/>
                                        <p:tgtEl>
                                          <p:spTgt spid="10"/>
                                        </p:tgtEl>
                                        <p:attrNameLst>
                                          <p:attrName>ppt_w</p:attrName>
                                        </p:attrNameLst>
                                      </p:cBhvr>
                                      <p:tavLst>
                                        <p:tav tm="0">
                                          <p:val>
                                            <p:fltVal val="0"/>
                                          </p:val>
                                        </p:tav>
                                        <p:tav tm="100000">
                                          <p:val>
                                            <p:strVal val="#ppt_w"/>
                                          </p:val>
                                        </p:tav>
                                      </p:tavLst>
                                    </p:anim>
                                    <p:anim calcmode="lin" valueType="num">
                                      <p:cBhvr>
                                        <p:cTn id="26" dur="1000" fill="hold"/>
                                        <p:tgtEl>
                                          <p:spTgt spid="10"/>
                                        </p:tgtEl>
                                        <p:attrNameLst>
                                          <p:attrName>ppt_h</p:attrName>
                                        </p:attrNameLst>
                                      </p:cBhvr>
                                      <p:tavLst>
                                        <p:tav tm="0">
                                          <p:val>
                                            <p:fltVal val="0"/>
                                          </p:val>
                                        </p:tav>
                                        <p:tav tm="100000">
                                          <p:val>
                                            <p:strVal val="#ppt_h"/>
                                          </p:val>
                                        </p:tav>
                                      </p:tavLst>
                                    </p:anim>
                                    <p:animEffect transition="in" filter="fade">
                                      <p:cBhvr>
                                        <p:cTn id="2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 二、无形资产的取得</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82688" y="2017713"/>
            <a:ext cx="7772400" cy="619199"/>
          </a:xfrm>
        </p:spPr>
        <p:txBody>
          <a:bodyPr/>
          <a:lstStyle/>
          <a:p>
            <a:r>
              <a:rPr lang="zh-CN" altLang="en-US" dirty="0"/>
              <a:t>取得无形资产的确认标准、计量标准</a:t>
            </a:r>
          </a:p>
        </p:txBody>
      </p:sp>
      <p:grpSp>
        <p:nvGrpSpPr>
          <p:cNvPr id="32" name="Group 22">
            <a:extLst>
              <a:ext uri="{FF2B5EF4-FFF2-40B4-BE49-F238E27FC236}">
                <a16:creationId xmlns:a16="http://schemas.microsoft.com/office/drawing/2014/main" id="{0C9C7D05-815B-4DD7-9171-ABAA156CCCA3}"/>
              </a:ext>
            </a:extLst>
          </p:cNvPr>
          <p:cNvGrpSpPr>
            <a:grpSpLocks/>
          </p:cNvGrpSpPr>
          <p:nvPr/>
        </p:nvGrpSpPr>
        <p:grpSpPr bwMode="auto">
          <a:xfrm>
            <a:off x="2195736" y="2708920"/>
            <a:ext cx="4084637" cy="3455987"/>
            <a:chOff x="1555" y="1471"/>
            <a:chExt cx="2309" cy="2177"/>
          </a:xfrm>
        </p:grpSpPr>
        <p:grpSp>
          <p:nvGrpSpPr>
            <p:cNvPr id="33" name="Group 20">
              <a:extLst>
                <a:ext uri="{FF2B5EF4-FFF2-40B4-BE49-F238E27FC236}">
                  <a16:creationId xmlns:a16="http://schemas.microsoft.com/office/drawing/2014/main" id="{D34C7281-2CC1-47FA-BAD1-DA1E70405E35}"/>
                </a:ext>
              </a:extLst>
            </p:cNvPr>
            <p:cNvGrpSpPr>
              <a:grpSpLocks/>
            </p:cNvGrpSpPr>
            <p:nvPr/>
          </p:nvGrpSpPr>
          <p:grpSpPr bwMode="auto">
            <a:xfrm>
              <a:off x="1555" y="2514"/>
              <a:ext cx="994" cy="1134"/>
              <a:chOff x="1555" y="2514"/>
              <a:chExt cx="994" cy="1134"/>
            </a:xfrm>
          </p:grpSpPr>
          <p:sp>
            <p:nvSpPr>
              <p:cNvPr id="44" name="Arc 10">
                <a:extLst>
                  <a:ext uri="{FF2B5EF4-FFF2-40B4-BE49-F238E27FC236}">
                    <a16:creationId xmlns:a16="http://schemas.microsoft.com/office/drawing/2014/main" id="{4E0DF714-7792-4751-9DA3-3A5CF99659C8}"/>
                  </a:ext>
                </a:extLst>
              </p:cNvPr>
              <p:cNvSpPr>
                <a:spLocks/>
              </p:cNvSpPr>
              <p:nvPr/>
            </p:nvSpPr>
            <p:spPr bwMode="auto">
              <a:xfrm rot="10800000">
                <a:off x="1555" y="2514"/>
                <a:ext cx="905" cy="1134"/>
              </a:xfrm>
              <a:custGeom>
                <a:avLst/>
                <a:gdLst>
                  <a:gd name="G0" fmla="+- 0 0 0"/>
                  <a:gd name="G1" fmla="+- 21385 0 0"/>
                  <a:gd name="G2" fmla="+- 21600 0 0"/>
                  <a:gd name="T0" fmla="*/ 3043 w 21600"/>
                  <a:gd name="T1" fmla="*/ 0 h 26874"/>
                  <a:gd name="T2" fmla="*/ 20891 w 21600"/>
                  <a:gd name="T3" fmla="*/ 26874 h 26874"/>
                  <a:gd name="T4" fmla="*/ 0 w 21600"/>
                  <a:gd name="T5" fmla="*/ 21385 h 26874"/>
                </a:gdLst>
                <a:ahLst/>
                <a:cxnLst>
                  <a:cxn ang="0">
                    <a:pos x="T0" y="T1"/>
                  </a:cxn>
                  <a:cxn ang="0">
                    <a:pos x="T2" y="T3"/>
                  </a:cxn>
                  <a:cxn ang="0">
                    <a:pos x="T4" y="T5"/>
                  </a:cxn>
                </a:cxnLst>
                <a:rect l="0" t="0" r="r" b="b"/>
                <a:pathLst>
                  <a:path w="21600" h="26874" fill="none" extrusionOk="0">
                    <a:moveTo>
                      <a:pt x="3042" y="0"/>
                    </a:moveTo>
                    <a:cubicBezTo>
                      <a:pt x="13689" y="1515"/>
                      <a:pt x="21600" y="10631"/>
                      <a:pt x="21600" y="21385"/>
                    </a:cubicBezTo>
                    <a:cubicBezTo>
                      <a:pt x="21600" y="23237"/>
                      <a:pt x="21361" y="25082"/>
                      <a:pt x="20890" y="26873"/>
                    </a:cubicBezTo>
                  </a:path>
                  <a:path w="21600" h="26874" stroke="0" extrusionOk="0">
                    <a:moveTo>
                      <a:pt x="3042" y="0"/>
                    </a:moveTo>
                    <a:cubicBezTo>
                      <a:pt x="13689" y="1515"/>
                      <a:pt x="21600" y="10631"/>
                      <a:pt x="21600" y="21385"/>
                    </a:cubicBezTo>
                    <a:cubicBezTo>
                      <a:pt x="21600" y="23237"/>
                      <a:pt x="21361" y="25082"/>
                      <a:pt x="20890" y="26873"/>
                    </a:cubicBezTo>
                    <a:lnTo>
                      <a:pt x="0" y="21385"/>
                    </a:lnTo>
                    <a:close/>
                  </a:path>
                </a:pathLst>
              </a:custGeom>
              <a:solidFill>
                <a:srgbClr val="FACF7A"/>
              </a:solidFill>
              <a:ln w="9525">
                <a:solidFill>
                  <a:schemeClr val="bg2"/>
                </a:solidFill>
                <a:round/>
                <a:headEnd/>
                <a:tailEnd/>
              </a:ln>
              <a:effectLst>
                <a:outerShdw dist="35921" dir="2700000" algn="ctr" rotWithShape="0">
                  <a:schemeClr val="tx1"/>
                </a:outerShdw>
              </a:effectLst>
            </p:spPr>
            <p:txBody>
              <a:bodyPr rot="10800000" wrap="none" anchor="ctr"/>
              <a:lstStyle/>
              <a:p>
                <a:pPr>
                  <a:defRPr/>
                </a:pPr>
                <a:endParaRPr lang="zh-CN" altLang="en-US" sz="1600" dirty="0">
                  <a:solidFill>
                    <a:srgbClr val="000000"/>
                  </a:solidFill>
                  <a:latin typeface="Arial" charset="0"/>
                </a:endParaRPr>
              </a:p>
            </p:txBody>
          </p:sp>
          <p:sp>
            <p:nvSpPr>
              <p:cNvPr id="45" name="Oval 12">
                <a:extLst>
                  <a:ext uri="{FF2B5EF4-FFF2-40B4-BE49-F238E27FC236}">
                    <a16:creationId xmlns:a16="http://schemas.microsoft.com/office/drawing/2014/main" id="{13B4A7F5-D87A-41F3-BACF-590E4C781C68}"/>
                  </a:ext>
                </a:extLst>
              </p:cNvPr>
              <p:cNvSpPr>
                <a:spLocks noChangeArrowheads="1"/>
              </p:cNvSpPr>
              <p:nvPr/>
            </p:nvSpPr>
            <p:spPr bwMode="auto">
              <a:xfrm rot="3252128">
                <a:off x="2209" y="2659"/>
                <a:ext cx="453" cy="227"/>
              </a:xfrm>
              <a:prstGeom prst="ellipse">
                <a:avLst/>
              </a:prstGeom>
              <a:gradFill rotWithShape="1">
                <a:gsLst>
                  <a:gs pos="0">
                    <a:srgbClr val="FFDCEA"/>
                  </a:gs>
                  <a:gs pos="100000">
                    <a:srgbClr val="FF0066"/>
                  </a:gs>
                </a:gsLst>
                <a:path path="shape">
                  <a:fillToRect l="50000" t="50000" r="50000" b="50000"/>
                </a:path>
              </a:gradFill>
              <a:ln w="9525" algn="ctr">
                <a:solidFill>
                  <a:srgbClr val="FF0000"/>
                </a:solidFill>
                <a:round/>
                <a:headEnd/>
                <a:tailEnd/>
              </a:ln>
            </p:spPr>
            <p:txBody>
              <a:bodyPr wrap="none" anchor="ctr"/>
              <a:lstStyle>
                <a:lvl1pPr marL="233363" indent="-233363" defTabSz="623888">
                  <a:defRPr sz="3200" b="1">
                    <a:solidFill>
                      <a:srgbClr val="FF8000"/>
                    </a:solidFill>
                    <a:latin typeface="Arial" panose="020B0604020202020204" pitchFamily="34" charset="0"/>
                    <a:ea typeface="宋体" panose="02010600030101010101" pitchFamily="2" charset="-122"/>
                  </a:defRPr>
                </a:lvl1pPr>
                <a:lvl2pPr marL="742950" indent="-285750" defTabSz="623888">
                  <a:defRPr sz="3200" b="1">
                    <a:solidFill>
                      <a:srgbClr val="FF8000"/>
                    </a:solidFill>
                    <a:latin typeface="Arial" panose="020B0604020202020204" pitchFamily="34" charset="0"/>
                    <a:ea typeface="宋体" panose="02010600030101010101" pitchFamily="2" charset="-122"/>
                  </a:defRPr>
                </a:lvl2pPr>
                <a:lvl3pPr marL="1143000" indent="-228600" defTabSz="623888">
                  <a:defRPr sz="3200" b="1">
                    <a:solidFill>
                      <a:srgbClr val="FF8000"/>
                    </a:solidFill>
                    <a:latin typeface="Arial" panose="020B0604020202020204" pitchFamily="34" charset="0"/>
                    <a:ea typeface="宋体" panose="02010600030101010101" pitchFamily="2" charset="-122"/>
                  </a:defRPr>
                </a:lvl3pPr>
                <a:lvl4pPr marL="1600200" indent="-228600" defTabSz="623888">
                  <a:defRPr sz="3200" b="1">
                    <a:solidFill>
                      <a:srgbClr val="FF8000"/>
                    </a:solidFill>
                    <a:latin typeface="Arial" panose="020B0604020202020204" pitchFamily="34" charset="0"/>
                    <a:ea typeface="宋体" panose="02010600030101010101" pitchFamily="2" charset="-122"/>
                  </a:defRPr>
                </a:lvl4pPr>
                <a:lvl5pPr marL="2057400" indent="-228600" defTabSz="623888">
                  <a:defRPr sz="3200" b="1">
                    <a:solidFill>
                      <a:srgbClr val="FF8000"/>
                    </a:solidFill>
                    <a:latin typeface="Arial" panose="020B0604020202020204" pitchFamily="34" charset="0"/>
                    <a:ea typeface="宋体" panose="02010600030101010101" pitchFamily="2" charset="-122"/>
                  </a:defRPr>
                </a:lvl5pPr>
                <a:lvl6pPr marL="2514600" indent="-228600" algn="ctr" defTabSz="623888"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defTabSz="623888"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defTabSz="623888"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defTabSz="623888"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800" b="0">
                    <a:solidFill>
                      <a:schemeClr val="bg1"/>
                    </a:solidFill>
                  </a:rPr>
                  <a:t>2</a:t>
                </a:r>
              </a:p>
            </p:txBody>
          </p:sp>
        </p:grpSp>
        <p:grpSp>
          <p:nvGrpSpPr>
            <p:cNvPr id="34" name="Group 19">
              <a:extLst>
                <a:ext uri="{FF2B5EF4-FFF2-40B4-BE49-F238E27FC236}">
                  <a16:creationId xmlns:a16="http://schemas.microsoft.com/office/drawing/2014/main" id="{AE4B27CD-17A1-48E1-97C8-CF8939AC76AA}"/>
                </a:ext>
              </a:extLst>
            </p:cNvPr>
            <p:cNvGrpSpPr>
              <a:grpSpLocks/>
            </p:cNvGrpSpPr>
            <p:nvPr/>
          </p:nvGrpSpPr>
          <p:grpSpPr bwMode="auto">
            <a:xfrm>
              <a:off x="2051" y="1471"/>
              <a:ext cx="1133" cy="1044"/>
              <a:chOff x="2051" y="1471"/>
              <a:chExt cx="1133" cy="1044"/>
            </a:xfrm>
          </p:grpSpPr>
          <p:grpSp>
            <p:nvGrpSpPr>
              <p:cNvPr id="40" name="Group 15">
                <a:extLst>
                  <a:ext uri="{FF2B5EF4-FFF2-40B4-BE49-F238E27FC236}">
                    <a16:creationId xmlns:a16="http://schemas.microsoft.com/office/drawing/2014/main" id="{A3AF6F5E-0DCF-414F-B967-C4570BDE2979}"/>
                  </a:ext>
                </a:extLst>
              </p:cNvPr>
              <p:cNvGrpSpPr>
                <a:grpSpLocks/>
              </p:cNvGrpSpPr>
              <p:nvPr/>
            </p:nvGrpSpPr>
            <p:grpSpPr bwMode="auto">
              <a:xfrm>
                <a:off x="2051" y="1471"/>
                <a:ext cx="1133" cy="903"/>
                <a:chOff x="2051" y="1471"/>
                <a:chExt cx="1133" cy="903"/>
              </a:xfrm>
            </p:grpSpPr>
            <p:sp>
              <p:nvSpPr>
                <p:cNvPr id="42" name="Arc 8">
                  <a:extLst>
                    <a:ext uri="{FF2B5EF4-FFF2-40B4-BE49-F238E27FC236}">
                      <a16:creationId xmlns:a16="http://schemas.microsoft.com/office/drawing/2014/main" id="{29176C53-C417-421D-B89E-0E21F8953846}"/>
                    </a:ext>
                  </a:extLst>
                </p:cNvPr>
                <p:cNvSpPr>
                  <a:spLocks/>
                </p:cNvSpPr>
                <p:nvPr/>
              </p:nvSpPr>
              <p:spPr bwMode="auto">
                <a:xfrm rot="18369964">
                  <a:off x="2166" y="1356"/>
                  <a:ext cx="903" cy="1133"/>
                </a:xfrm>
                <a:custGeom>
                  <a:avLst/>
                  <a:gdLst>
                    <a:gd name="G0" fmla="+- 0 0 0"/>
                    <a:gd name="G1" fmla="+- 21385 0 0"/>
                    <a:gd name="G2" fmla="+- 21600 0 0"/>
                    <a:gd name="T0" fmla="*/ 3043 w 21600"/>
                    <a:gd name="T1" fmla="*/ 0 h 26874"/>
                    <a:gd name="T2" fmla="*/ 20891 w 21600"/>
                    <a:gd name="T3" fmla="*/ 26874 h 26874"/>
                    <a:gd name="T4" fmla="*/ 0 w 21600"/>
                    <a:gd name="T5" fmla="*/ 21385 h 26874"/>
                  </a:gdLst>
                  <a:ahLst/>
                  <a:cxnLst>
                    <a:cxn ang="0">
                      <a:pos x="T0" y="T1"/>
                    </a:cxn>
                    <a:cxn ang="0">
                      <a:pos x="T2" y="T3"/>
                    </a:cxn>
                    <a:cxn ang="0">
                      <a:pos x="T4" y="T5"/>
                    </a:cxn>
                  </a:cxnLst>
                  <a:rect l="0" t="0" r="r" b="b"/>
                  <a:pathLst>
                    <a:path w="21600" h="26874" fill="none" extrusionOk="0">
                      <a:moveTo>
                        <a:pt x="3042" y="0"/>
                      </a:moveTo>
                      <a:cubicBezTo>
                        <a:pt x="13689" y="1515"/>
                        <a:pt x="21600" y="10631"/>
                        <a:pt x="21600" y="21385"/>
                      </a:cubicBezTo>
                      <a:cubicBezTo>
                        <a:pt x="21600" y="23237"/>
                        <a:pt x="21361" y="25082"/>
                        <a:pt x="20890" y="26873"/>
                      </a:cubicBezTo>
                    </a:path>
                    <a:path w="21600" h="26874" stroke="0" extrusionOk="0">
                      <a:moveTo>
                        <a:pt x="3042" y="0"/>
                      </a:moveTo>
                      <a:cubicBezTo>
                        <a:pt x="13689" y="1515"/>
                        <a:pt x="21600" y="10631"/>
                        <a:pt x="21600" y="21385"/>
                      </a:cubicBezTo>
                      <a:cubicBezTo>
                        <a:pt x="21600" y="23237"/>
                        <a:pt x="21361" y="25082"/>
                        <a:pt x="20890" y="26873"/>
                      </a:cubicBezTo>
                      <a:lnTo>
                        <a:pt x="0" y="21385"/>
                      </a:lnTo>
                      <a:close/>
                    </a:path>
                  </a:pathLst>
                </a:custGeom>
                <a:solidFill>
                  <a:srgbClr val="FACF7A"/>
                </a:solidFill>
                <a:ln w="9525">
                  <a:solidFill>
                    <a:schemeClr val="bg2"/>
                  </a:solidFill>
                  <a:round/>
                  <a:headEnd/>
                  <a:tailEnd/>
                </a:ln>
                <a:effectLst>
                  <a:outerShdw dist="35921" dir="2700000" algn="ctr" rotWithShape="0">
                    <a:schemeClr val="tx1"/>
                  </a:outerShdw>
                </a:effectLst>
              </p:spPr>
              <p:txBody>
                <a:bodyPr vert="eaVert" wrap="none" anchor="ctr"/>
                <a:lstStyle/>
                <a:p>
                  <a:pPr>
                    <a:defRPr/>
                  </a:pPr>
                  <a:endParaRPr lang="en-US" altLang="zh-CN" sz="2200">
                    <a:solidFill>
                      <a:schemeClr val="tx2"/>
                    </a:solidFill>
                    <a:latin typeface="Arial" charset="0"/>
                  </a:endParaRPr>
                </a:p>
                <a:p>
                  <a:pPr>
                    <a:defRPr/>
                  </a:pPr>
                  <a:endParaRPr lang="en-US" altLang="zh-CN" sz="2200">
                    <a:solidFill>
                      <a:schemeClr val="tx2"/>
                    </a:solidFill>
                    <a:latin typeface="Arial" charset="0"/>
                  </a:endParaRPr>
                </a:p>
              </p:txBody>
            </p:sp>
            <p:sp>
              <p:nvSpPr>
                <p:cNvPr id="43" name="Rectangle 14">
                  <a:extLst>
                    <a:ext uri="{FF2B5EF4-FFF2-40B4-BE49-F238E27FC236}">
                      <a16:creationId xmlns:a16="http://schemas.microsoft.com/office/drawing/2014/main" id="{6CE0CDCC-CA36-49F1-8D74-74B5CBFBCC3C}"/>
                    </a:ext>
                  </a:extLst>
                </p:cNvPr>
                <p:cNvSpPr>
                  <a:spLocks noChangeArrowheads="1"/>
                </p:cNvSpPr>
                <p:nvPr/>
              </p:nvSpPr>
              <p:spPr bwMode="auto">
                <a:xfrm>
                  <a:off x="2343" y="1817"/>
                  <a:ext cx="6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r>
                    <a:rPr lang="zh-CN" altLang="en-US" sz="1600" dirty="0">
                      <a:solidFill>
                        <a:srgbClr val="002060"/>
                      </a:solidFill>
                    </a:rPr>
                    <a:t>符合定义</a:t>
                  </a:r>
                </a:p>
              </p:txBody>
            </p:sp>
          </p:grpSp>
          <p:sp>
            <p:nvSpPr>
              <p:cNvPr id="41" name="Oval 11">
                <a:extLst>
                  <a:ext uri="{FF2B5EF4-FFF2-40B4-BE49-F238E27FC236}">
                    <a16:creationId xmlns:a16="http://schemas.microsoft.com/office/drawing/2014/main" id="{813C68FA-E6B2-4CF6-985A-AE15687C8C7D}"/>
                  </a:ext>
                </a:extLst>
              </p:cNvPr>
              <p:cNvSpPr>
                <a:spLocks noChangeArrowheads="1"/>
              </p:cNvSpPr>
              <p:nvPr/>
            </p:nvSpPr>
            <p:spPr bwMode="auto">
              <a:xfrm>
                <a:off x="2413" y="2288"/>
                <a:ext cx="453" cy="227"/>
              </a:xfrm>
              <a:prstGeom prst="ellipse">
                <a:avLst/>
              </a:prstGeom>
              <a:gradFill rotWithShape="1">
                <a:gsLst>
                  <a:gs pos="0">
                    <a:srgbClr val="FFDCEA"/>
                  </a:gs>
                  <a:gs pos="100000">
                    <a:srgbClr val="FF0066"/>
                  </a:gs>
                </a:gsLst>
                <a:path path="shape">
                  <a:fillToRect l="50000" t="50000" r="50000" b="50000"/>
                </a:path>
              </a:gradFill>
              <a:ln w="9525" algn="ctr">
                <a:solidFill>
                  <a:srgbClr val="FF0000"/>
                </a:solidFill>
                <a:round/>
                <a:headEnd/>
                <a:tailEnd/>
              </a:ln>
            </p:spPr>
            <p:txBody>
              <a:bodyPr wrap="none" anchor="ctr"/>
              <a:lstStyle>
                <a:lvl1pPr marL="233363" indent="-233363" defTabSz="623888">
                  <a:defRPr sz="3200" b="1">
                    <a:solidFill>
                      <a:srgbClr val="FF8000"/>
                    </a:solidFill>
                    <a:latin typeface="Arial" panose="020B0604020202020204" pitchFamily="34" charset="0"/>
                    <a:ea typeface="宋体" panose="02010600030101010101" pitchFamily="2" charset="-122"/>
                  </a:defRPr>
                </a:lvl1pPr>
                <a:lvl2pPr marL="742950" indent="-285750" defTabSz="623888">
                  <a:defRPr sz="3200" b="1">
                    <a:solidFill>
                      <a:srgbClr val="FF8000"/>
                    </a:solidFill>
                    <a:latin typeface="Arial" panose="020B0604020202020204" pitchFamily="34" charset="0"/>
                    <a:ea typeface="宋体" panose="02010600030101010101" pitchFamily="2" charset="-122"/>
                  </a:defRPr>
                </a:lvl2pPr>
                <a:lvl3pPr marL="1143000" indent="-228600" defTabSz="623888">
                  <a:defRPr sz="3200" b="1">
                    <a:solidFill>
                      <a:srgbClr val="FF8000"/>
                    </a:solidFill>
                    <a:latin typeface="Arial" panose="020B0604020202020204" pitchFamily="34" charset="0"/>
                    <a:ea typeface="宋体" panose="02010600030101010101" pitchFamily="2" charset="-122"/>
                  </a:defRPr>
                </a:lvl3pPr>
                <a:lvl4pPr marL="1600200" indent="-228600" defTabSz="623888">
                  <a:defRPr sz="3200" b="1">
                    <a:solidFill>
                      <a:srgbClr val="FF8000"/>
                    </a:solidFill>
                    <a:latin typeface="Arial" panose="020B0604020202020204" pitchFamily="34" charset="0"/>
                    <a:ea typeface="宋体" panose="02010600030101010101" pitchFamily="2" charset="-122"/>
                  </a:defRPr>
                </a:lvl4pPr>
                <a:lvl5pPr marL="2057400" indent="-228600" defTabSz="623888">
                  <a:defRPr sz="3200" b="1">
                    <a:solidFill>
                      <a:srgbClr val="FF8000"/>
                    </a:solidFill>
                    <a:latin typeface="Arial" panose="020B0604020202020204" pitchFamily="34" charset="0"/>
                    <a:ea typeface="宋体" panose="02010600030101010101" pitchFamily="2" charset="-122"/>
                  </a:defRPr>
                </a:lvl5pPr>
                <a:lvl6pPr marL="2514600" indent="-228600" algn="ctr" defTabSz="623888"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defTabSz="623888"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defTabSz="623888"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defTabSz="623888"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800" b="0">
                    <a:solidFill>
                      <a:schemeClr val="bg1"/>
                    </a:solidFill>
                  </a:rPr>
                  <a:t>1</a:t>
                </a:r>
              </a:p>
            </p:txBody>
          </p:sp>
        </p:grpSp>
        <p:grpSp>
          <p:nvGrpSpPr>
            <p:cNvPr id="35" name="Group 21">
              <a:extLst>
                <a:ext uri="{FF2B5EF4-FFF2-40B4-BE49-F238E27FC236}">
                  <a16:creationId xmlns:a16="http://schemas.microsoft.com/office/drawing/2014/main" id="{6229946B-4604-4052-8F3D-57480441FC18}"/>
                </a:ext>
              </a:extLst>
            </p:cNvPr>
            <p:cNvGrpSpPr>
              <a:grpSpLocks/>
            </p:cNvGrpSpPr>
            <p:nvPr/>
          </p:nvGrpSpPr>
          <p:grpSpPr bwMode="auto">
            <a:xfrm>
              <a:off x="2730" y="2522"/>
              <a:ext cx="1134" cy="932"/>
              <a:chOff x="2730" y="2522"/>
              <a:chExt cx="1134" cy="932"/>
            </a:xfrm>
          </p:grpSpPr>
          <p:grpSp>
            <p:nvGrpSpPr>
              <p:cNvPr id="36" name="Group 18">
                <a:extLst>
                  <a:ext uri="{FF2B5EF4-FFF2-40B4-BE49-F238E27FC236}">
                    <a16:creationId xmlns:a16="http://schemas.microsoft.com/office/drawing/2014/main" id="{6747BCC7-FCAA-4A9B-A5C5-946EFE5527FE}"/>
                  </a:ext>
                </a:extLst>
              </p:cNvPr>
              <p:cNvGrpSpPr>
                <a:grpSpLocks/>
              </p:cNvGrpSpPr>
              <p:nvPr/>
            </p:nvGrpSpPr>
            <p:grpSpPr bwMode="auto">
              <a:xfrm>
                <a:off x="2730" y="2551"/>
                <a:ext cx="1134" cy="903"/>
                <a:chOff x="2730" y="2551"/>
                <a:chExt cx="1134" cy="903"/>
              </a:xfrm>
            </p:grpSpPr>
            <p:sp>
              <p:nvSpPr>
                <p:cNvPr id="38" name="Arc 9">
                  <a:extLst>
                    <a:ext uri="{FF2B5EF4-FFF2-40B4-BE49-F238E27FC236}">
                      <a16:creationId xmlns:a16="http://schemas.microsoft.com/office/drawing/2014/main" id="{E0629DC9-B449-4250-8E68-33E64E95C6B4}"/>
                    </a:ext>
                  </a:extLst>
                </p:cNvPr>
                <p:cNvSpPr>
                  <a:spLocks/>
                </p:cNvSpPr>
                <p:nvPr/>
              </p:nvSpPr>
              <p:spPr bwMode="auto">
                <a:xfrm rot="25320668">
                  <a:off x="2845" y="2436"/>
                  <a:ext cx="903" cy="1134"/>
                </a:xfrm>
                <a:custGeom>
                  <a:avLst/>
                  <a:gdLst>
                    <a:gd name="G0" fmla="+- 0 0 0"/>
                    <a:gd name="G1" fmla="+- 21385 0 0"/>
                    <a:gd name="G2" fmla="+- 21600 0 0"/>
                    <a:gd name="T0" fmla="*/ 3043 w 21600"/>
                    <a:gd name="T1" fmla="*/ 0 h 26874"/>
                    <a:gd name="T2" fmla="*/ 20891 w 21600"/>
                    <a:gd name="T3" fmla="*/ 26874 h 26874"/>
                    <a:gd name="T4" fmla="*/ 0 w 21600"/>
                    <a:gd name="T5" fmla="*/ 21385 h 26874"/>
                  </a:gdLst>
                  <a:ahLst/>
                  <a:cxnLst>
                    <a:cxn ang="0">
                      <a:pos x="T0" y="T1"/>
                    </a:cxn>
                    <a:cxn ang="0">
                      <a:pos x="T2" y="T3"/>
                    </a:cxn>
                    <a:cxn ang="0">
                      <a:pos x="T4" y="T5"/>
                    </a:cxn>
                  </a:cxnLst>
                  <a:rect l="0" t="0" r="r" b="b"/>
                  <a:pathLst>
                    <a:path w="21600" h="26874" fill="none" extrusionOk="0">
                      <a:moveTo>
                        <a:pt x="3042" y="0"/>
                      </a:moveTo>
                      <a:cubicBezTo>
                        <a:pt x="13689" y="1515"/>
                        <a:pt x="21600" y="10631"/>
                        <a:pt x="21600" y="21385"/>
                      </a:cubicBezTo>
                      <a:cubicBezTo>
                        <a:pt x="21600" y="23237"/>
                        <a:pt x="21361" y="25082"/>
                        <a:pt x="20890" y="26873"/>
                      </a:cubicBezTo>
                    </a:path>
                    <a:path w="21600" h="26874" stroke="0" extrusionOk="0">
                      <a:moveTo>
                        <a:pt x="3042" y="0"/>
                      </a:moveTo>
                      <a:cubicBezTo>
                        <a:pt x="13689" y="1515"/>
                        <a:pt x="21600" y="10631"/>
                        <a:pt x="21600" y="21385"/>
                      </a:cubicBezTo>
                      <a:cubicBezTo>
                        <a:pt x="21600" y="23237"/>
                        <a:pt x="21361" y="25082"/>
                        <a:pt x="20890" y="26873"/>
                      </a:cubicBezTo>
                      <a:lnTo>
                        <a:pt x="0" y="21385"/>
                      </a:lnTo>
                      <a:close/>
                    </a:path>
                  </a:pathLst>
                </a:custGeom>
                <a:solidFill>
                  <a:srgbClr val="FACF7A"/>
                </a:solidFill>
                <a:ln w="9525">
                  <a:solidFill>
                    <a:schemeClr val="bg2"/>
                  </a:solidFill>
                  <a:round/>
                  <a:headEnd/>
                  <a:tailEnd/>
                </a:ln>
                <a:effectLst>
                  <a:outerShdw dist="35921" dir="2700000" algn="ctr" rotWithShape="0">
                    <a:schemeClr val="tx1"/>
                  </a:outerShdw>
                </a:effectLst>
              </p:spPr>
              <p:txBody>
                <a:bodyPr rot="10800000" vert="eaVert" wrap="none" anchor="ctr"/>
                <a:lstStyle/>
                <a:p>
                  <a:pPr eaLnBrk="1" hangingPunct="1">
                    <a:spcBef>
                      <a:spcPct val="20000"/>
                    </a:spcBef>
                    <a:buClr>
                      <a:schemeClr val="hlink"/>
                    </a:buClr>
                    <a:buFont typeface="Wingdings" pitchFamily="2" charset="2"/>
                    <a:buNone/>
                    <a:defRPr/>
                  </a:pPr>
                  <a:endParaRPr lang="zh-CN" altLang="zh-CN" sz="1600">
                    <a:solidFill>
                      <a:srgbClr val="000000"/>
                    </a:solidFill>
                    <a:effectLst>
                      <a:outerShdw blurRad="38100" dist="38100" dir="2700000" algn="tl">
                        <a:srgbClr val="FFFFFF"/>
                      </a:outerShdw>
                    </a:effectLst>
                    <a:latin typeface="Arial" charset="0"/>
                  </a:endParaRPr>
                </a:p>
              </p:txBody>
            </p:sp>
            <p:sp>
              <p:nvSpPr>
                <p:cNvPr id="39" name="Rectangle 17">
                  <a:extLst>
                    <a:ext uri="{FF2B5EF4-FFF2-40B4-BE49-F238E27FC236}">
                      <a16:creationId xmlns:a16="http://schemas.microsoft.com/office/drawing/2014/main" id="{A8FAB5D8-758D-4511-A36E-29614D1F7BCD}"/>
                    </a:ext>
                  </a:extLst>
                </p:cNvPr>
                <p:cNvSpPr>
                  <a:spLocks noChangeArrowheads="1"/>
                </p:cNvSpPr>
                <p:nvPr/>
              </p:nvSpPr>
              <p:spPr bwMode="auto">
                <a:xfrm>
                  <a:off x="2911" y="2848"/>
                  <a:ext cx="823" cy="520"/>
                </a:xfrm>
                <a:prstGeom prst="rect">
                  <a:avLst/>
                </a:prstGeom>
                <a:noFill/>
                <a:ln w="12700">
                  <a:noFill/>
                  <a:miter lim="800000"/>
                  <a:headEnd type="none" w="sm" len="sm"/>
                  <a:tailEnd type="none" w="sm" len="sm"/>
                </a:ln>
                <a:effectLst/>
              </p:spPr>
              <p:txBody>
                <a:bodyPr>
                  <a:spAutoFit/>
                </a:bodyPr>
                <a:lstStyle/>
                <a:p>
                  <a:pPr>
                    <a:defRPr/>
                  </a:pPr>
                  <a:r>
                    <a:rPr lang="en-US" altLang="zh-CN" sz="1600" dirty="0">
                      <a:effectLst>
                        <a:outerShdw blurRad="38100" dist="38100" dir="2700000" algn="tl">
                          <a:srgbClr val="000000"/>
                        </a:outerShdw>
                      </a:effectLst>
                      <a:latin typeface="Arial" charset="0"/>
                    </a:rPr>
                    <a:t> </a:t>
                  </a:r>
                  <a:r>
                    <a:rPr lang="zh-CN" altLang="en-US" sz="1600" b="1" dirty="0">
                      <a:solidFill>
                        <a:srgbClr val="002060"/>
                      </a:solidFill>
                      <a:latin typeface="Arial" charset="0"/>
                    </a:rPr>
                    <a:t>成本能够</a:t>
                  </a:r>
                </a:p>
                <a:p>
                  <a:pPr>
                    <a:defRPr/>
                  </a:pPr>
                  <a:r>
                    <a:rPr lang="zh-CN" altLang="en-US" sz="1600" b="1" dirty="0">
                      <a:solidFill>
                        <a:srgbClr val="002060"/>
                      </a:solidFill>
                      <a:latin typeface="Arial" charset="0"/>
                    </a:rPr>
                    <a:t>可靠地</a:t>
                  </a:r>
                </a:p>
                <a:p>
                  <a:pPr>
                    <a:defRPr/>
                  </a:pPr>
                  <a:r>
                    <a:rPr lang="zh-CN" altLang="en-US" sz="1600" b="1" dirty="0">
                      <a:solidFill>
                        <a:srgbClr val="002060"/>
                      </a:solidFill>
                      <a:latin typeface="Arial" charset="0"/>
                    </a:rPr>
                    <a:t>计量</a:t>
                  </a:r>
                </a:p>
              </p:txBody>
            </p:sp>
          </p:grpSp>
          <p:sp>
            <p:nvSpPr>
              <p:cNvPr id="37" name="Oval 13">
                <a:extLst>
                  <a:ext uri="{FF2B5EF4-FFF2-40B4-BE49-F238E27FC236}">
                    <a16:creationId xmlns:a16="http://schemas.microsoft.com/office/drawing/2014/main" id="{F9B5AE3A-A1C7-4886-8E82-90FE7E18ADEB}"/>
                  </a:ext>
                </a:extLst>
              </p:cNvPr>
              <p:cNvSpPr>
                <a:spLocks noChangeArrowheads="1"/>
              </p:cNvSpPr>
              <p:nvPr/>
            </p:nvSpPr>
            <p:spPr bwMode="auto">
              <a:xfrm rot="-3417466">
                <a:off x="2625" y="2635"/>
                <a:ext cx="453" cy="227"/>
              </a:xfrm>
              <a:prstGeom prst="ellipse">
                <a:avLst/>
              </a:prstGeom>
              <a:gradFill rotWithShape="1">
                <a:gsLst>
                  <a:gs pos="0">
                    <a:srgbClr val="FFDCEA"/>
                  </a:gs>
                  <a:gs pos="100000">
                    <a:srgbClr val="FF0066"/>
                  </a:gs>
                </a:gsLst>
                <a:path path="shape">
                  <a:fillToRect l="50000" t="50000" r="50000" b="50000"/>
                </a:path>
              </a:gradFill>
              <a:ln w="9525" algn="ctr">
                <a:solidFill>
                  <a:srgbClr val="FF0000"/>
                </a:solidFill>
                <a:round/>
                <a:headEnd/>
                <a:tailEnd/>
              </a:ln>
            </p:spPr>
            <p:txBody>
              <a:bodyPr wrap="none" anchor="ctr"/>
              <a:lstStyle>
                <a:lvl1pPr marL="233363" indent="-233363" defTabSz="623888">
                  <a:defRPr sz="3200" b="1">
                    <a:solidFill>
                      <a:srgbClr val="FF8000"/>
                    </a:solidFill>
                    <a:latin typeface="Arial" panose="020B0604020202020204" pitchFamily="34" charset="0"/>
                    <a:ea typeface="宋体" panose="02010600030101010101" pitchFamily="2" charset="-122"/>
                  </a:defRPr>
                </a:lvl1pPr>
                <a:lvl2pPr marL="742950" indent="-285750" defTabSz="623888">
                  <a:defRPr sz="3200" b="1">
                    <a:solidFill>
                      <a:srgbClr val="FF8000"/>
                    </a:solidFill>
                    <a:latin typeface="Arial" panose="020B0604020202020204" pitchFamily="34" charset="0"/>
                    <a:ea typeface="宋体" panose="02010600030101010101" pitchFamily="2" charset="-122"/>
                  </a:defRPr>
                </a:lvl2pPr>
                <a:lvl3pPr marL="1143000" indent="-228600" defTabSz="623888">
                  <a:defRPr sz="3200" b="1">
                    <a:solidFill>
                      <a:srgbClr val="FF8000"/>
                    </a:solidFill>
                    <a:latin typeface="Arial" panose="020B0604020202020204" pitchFamily="34" charset="0"/>
                    <a:ea typeface="宋体" panose="02010600030101010101" pitchFamily="2" charset="-122"/>
                  </a:defRPr>
                </a:lvl3pPr>
                <a:lvl4pPr marL="1600200" indent="-228600" defTabSz="623888">
                  <a:defRPr sz="3200" b="1">
                    <a:solidFill>
                      <a:srgbClr val="FF8000"/>
                    </a:solidFill>
                    <a:latin typeface="Arial" panose="020B0604020202020204" pitchFamily="34" charset="0"/>
                    <a:ea typeface="宋体" panose="02010600030101010101" pitchFamily="2" charset="-122"/>
                  </a:defRPr>
                </a:lvl4pPr>
                <a:lvl5pPr marL="2057400" indent="-228600" defTabSz="623888">
                  <a:defRPr sz="3200" b="1">
                    <a:solidFill>
                      <a:srgbClr val="FF8000"/>
                    </a:solidFill>
                    <a:latin typeface="Arial" panose="020B0604020202020204" pitchFamily="34" charset="0"/>
                    <a:ea typeface="宋体" panose="02010600030101010101" pitchFamily="2" charset="-122"/>
                  </a:defRPr>
                </a:lvl5pPr>
                <a:lvl6pPr marL="2514600" indent="-228600" algn="ctr" defTabSz="623888"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defTabSz="623888"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defTabSz="623888"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defTabSz="623888"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800" b="0">
                    <a:solidFill>
                      <a:schemeClr val="bg1"/>
                    </a:solidFill>
                  </a:rPr>
                  <a:t>3</a:t>
                </a:r>
              </a:p>
            </p:txBody>
          </p:sp>
        </p:grpSp>
      </p:grpSp>
      <p:sp>
        <p:nvSpPr>
          <p:cNvPr id="46" name="Rectangle 17">
            <a:extLst>
              <a:ext uri="{FF2B5EF4-FFF2-40B4-BE49-F238E27FC236}">
                <a16:creationId xmlns:a16="http://schemas.microsoft.com/office/drawing/2014/main" id="{0D5B3FCC-6086-45D2-B2F4-9527D48571F7}"/>
              </a:ext>
            </a:extLst>
          </p:cNvPr>
          <p:cNvSpPr>
            <a:spLocks noChangeArrowheads="1"/>
          </p:cNvSpPr>
          <p:nvPr/>
        </p:nvSpPr>
        <p:spPr bwMode="auto">
          <a:xfrm>
            <a:off x="2458035" y="4705004"/>
            <a:ext cx="1455893" cy="825500"/>
          </a:xfrm>
          <a:prstGeom prst="rect">
            <a:avLst/>
          </a:prstGeom>
          <a:noFill/>
          <a:ln w="12700">
            <a:noFill/>
            <a:miter lim="800000"/>
            <a:headEnd type="none" w="sm" len="sm"/>
            <a:tailEnd type="none" w="sm" len="sm"/>
          </a:ln>
          <a:effectLst/>
        </p:spPr>
        <p:txBody>
          <a:bodyPr>
            <a:spAutoFit/>
          </a:bodyPr>
          <a:lstStyle/>
          <a:p>
            <a:pPr>
              <a:defRPr/>
            </a:pPr>
            <a:r>
              <a:rPr lang="zh-CN" altLang="en-US" sz="1600" b="1" dirty="0">
                <a:solidFill>
                  <a:srgbClr val="002060"/>
                </a:solidFill>
                <a:latin typeface="Arial" charset="0"/>
              </a:rPr>
              <a:t>经济利益</a:t>
            </a:r>
          </a:p>
          <a:p>
            <a:pPr>
              <a:defRPr/>
            </a:pPr>
            <a:r>
              <a:rPr lang="zh-CN" altLang="en-US" sz="1600" b="1" dirty="0">
                <a:solidFill>
                  <a:srgbClr val="002060"/>
                </a:solidFill>
                <a:latin typeface="Arial" charset="0"/>
              </a:rPr>
              <a:t>很可能流</a:t>
            </a:r>
          </a:p>
          <a:p>
            <a:pPr>
              <a:defRPr/>
            </a:pPr>
            <a:r>
              <a:rPr lang="zh-CN" altLang="en-US" sz="1600" b="1" dirty="0">
                <a:solidFill>
                  <a:srgbClr val="002060"/>
                </a:solidFill>
                <a:latin typeface="Arial" charset="0"/>
              </a:rPr>
              <a:t>入企业</a:t>
            </a:r>
          </a:p>
        </p:txBody>
      </p:sp>
    </p:spTree>
    <p:extLst>
      <p:ext uri="{BB962C8B-B14F-4D97-AF65-F5344CB8AC3E}">
        <p14:creationId xmlns:p14="http://schemas.microsoft.com/office/powerpoint/2010/main" val="4150497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linds(horizontal)">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（一）取得无形资产</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主要途径</a:t>
            </a:r>
            <a:endParaRPr lang="en-US" altLang="zh-CN" dirty="0"/>
          </a:p>
          <a:p>
            <a:r>
              <a:rPr lang="zh-CN" altLang="en-US" dirty="0"/>
              <a:t>取得途径不同，计量存在差别</a:t>
            </a:r>
          </a:p>
        </p:txBody>
      </p:sp>
    </p:spTree>
    <p:extLst>
      <p:ext uri="{BB962C8B-B14F-4D97-AF65-F5344CB8AC3E}">
        <p14:creationId xmlns:p14="http://schemas.microsoft.com/office/powerpoint/2010/main" val="144364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外购无形资产</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入账价值</a:t>
            </a:r>
            <a:endParaRPr lang="en-US" altLang="zh-CN" dirty="0"/>
          </a:p>
          <a:p>
            <a:pPr lvl="1"/>
            <a:r>
              <a:rPr lang="zh-CN" altLang="en-US" dirty="0"/>
              <a:t>购买价款</a:t>
            </a:r>
          </a:p>
          <a:p>
            <a:pPr lvl="1"/>
            <a:r>
              <a:rPr lang="zh-CN" altLang="en-US" dirty="0"/>
              <a:t>手续费</a:t>
            </a:r>
          </a:p>
          <a:p>
            <a:pPr lvl="1"/>
            <a:r>
              <a:rPr lang="zh-CN" altLang="en-US" dirty="0"/>
              <a:t>相关费用</a:t>
            </a:r>
          </a:p>
          <a:p>
            <a:pPr lvl="1"/>
            <a:r>
              <a:rPr lang="zh-CN" altLang="en-US" dirty="0"/>
              <a:t>直接归属于使该项资产达到预定用途所发生的其他支出</a:t>
            </a:r>
          </a:p>
          <a:p>
            <a:pPr lvl="2"/>
            <a:r>
              <a:rPr lang="zh-CN" altLang="en-US" dirty="0"/>
              <a:t>主要有哪些费用？</a:t>
            </a:r>
          </a:p>
          <a:p>
            <a:endParaRPr lang="zh-CN" altLang="en-US" dirty="0"/>
          </a:p>
        </p:txBody>
      </p:sp>
    </p:spTree>
    <p:extLst>
      <p:ext uri="{BB962C8B-B14F-4D97-AF65-F5344CB8AC3E}">
        <p14:creationId xmlns:p14="http://schemas.microsoft.com/office/powerpoint/2010/main" val="3829687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82688" y="2017713"/>
            <a:ext cx="7637784" cy="4114800"/>
          </a:xfrm>
        </p:spPr>
        <p:txBody>
          <a:bodyPr/>
          <a:lstStyle/>
          <a:p>
            <a:r>
              <a:rPr lang="en-US" altLang="zh-CN" dirty="0"/>
              <a:t>【</a:t>
            </a:r>
            <a:r>
              <a:rPr lang="zh-CN" altLang="en-US" dirty="0"/>
              <a:t>示例</a:t>
            </a:r>
            <a:r>
              <a:rPr lang="en-US" altLang="zh-CN" dirty="0"/>
              <a:t>】  </a:t>
            </a:r>
            <a:r>
              <a:rPr lang="zh-CN" altLang="en-US" dirty="0"/>
              <a:t>因甲公司某项生产活动需要乙公司已获得的专利技术，如果使用了该项专利技术，甲公司预计其生产能力比原先提高</a:t>
            </a:r>
            <a:r>
              <a:rPr lang="en-US" altLang="zh-CN" dirty="0"/>
              <a:t>20</a:t>
            </a:r>
            <a:r>
              <a:rPr lang="zh-CN" altLang="en-US" dirty="0"/>
              <a:t>％，销售利润率增长</a:t>
            </a:r>
            <a:r>
              <a:rPr lang="en-US" altLang="zh-CN" dirty="0"/>
              <a:t>l5</a:t>
            </a:r>
            <a:r>
              <a:rPr lang="zh-CN" altLang="en-US" dirty="0"/>
              <a:t>％。为此，甲公司从乙公司购入一项专利权。按照协议约定以现金支付，实际支付的价款为</a:t>
            </a:r>
            <a:r>
              <a:rPr lang="en-US" altLang="zh-CN" dirty="0"/>
              <a:t>300</a:t>
            </a:r>
            <a:r>
              <a:rPr lang="zh-CN" altLang="en-US" dirty="0"/>
              <a:t>万元，支付增值税</a:t>
            </a:r>
            <a:r>
              <a:rPr lang="en-US" altLang="zh-CN" dirty="0"/>
              <a:t>48</a:t>
            </a:r>
            <a:r>
              <a:rPr lang="zh-CN" altLang="en-US" dirty="0"/>
              <a:t>万元、有关专业服务费用</a:t>
            </a:r>
            <a:r>
              <a:rPr lang="en-US" altLang="zh-CN" dirty="0"/>
              <a:t>5</a:t>
            </a:r>
            <a:r>
              <a:rPr lang="zh-CN" altLang="en-US" dirty="0"/>
              <a:t>万元、员工培训费</a:t>
            </a:r>
            <a:r>
              <a:rPr lang="en-US" altLang="zh-CN" dirty="0"/>
              <a:t>1</a:t>
            </a:r>
            <a:r>
              <a:rPr lang="zh-CN" altLang="en-US" dirty="0"/>
              <a:t>万元，款项已通过银行转账支付。甲公司应如何进行账务处理？ </a:t>
            </a:r>
          </a:p>
        </p:txBody>
      </p:sp>
    </p:spTree>
    <p:extLst>
      <p:ext uri="{BB962C8B-B14F-4D97-AF65-F5344CB8AC3E}">
        <p14:creationId xmlns:p14="http://schemas.microsoft.com/office/powerpoint/2010/main" val="7154932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755575" y="2017713"/>
            <a:ext cx="8188399" cy="4840287"/>
          </a:xfrm>
        </p:spPr>
        <p:txBody>
          <a:bodyPr/>
          <a:lstStyle/>
          <a:p>
            <a:r>
              <a:rPr lang="zh-CN" altLang="en-US" dirty="0"/>
              <a:t>无形资产初始计量成本</a:t>
            </a:r>
            <a:r>
              <a:rPr lang="en-US" altLang="zh-CN" dirty="0"/>
              <a:t>=300+5=305</a:t>
            </a:r>
            <a:r>
              <a:rPr lang="zh-CN" altLang="en-US" dirty="0"/>
              <a:t>（万元）</a:t>
            </a:r>
          </a:p>
          <a:p>
            <a:r>
              <a:rPr lang="zh-CN" altLang="en-US" dirty="0"/>
              <a:t>甲公司的账务处理如下：</a:t>
            </a:r>
          </a:p>
          <a:p>
            <a:pPr lvl="1"/>
            <a:r>
              <a:rPr lang="zh-CN" altLang="en-US" dirty="0"/>
              <a:t>借：无形资产</a:t>
            </a:r>
            <a:r>
              <a:rPr lang="en-US" altLang="zh-CN" dirty="0"/>
              <a:t>——</a:t>
            </a:r>
            <a:r>
              <a:rPr lang="zh-CN" altLang="en-US" dirty="0"/>
              <a:t>专利权                  </a:t>
            </a:r>
            <a:r>
              <a:rPr lang="en-US" altLang="zh-CN" dirty="0"/>
              <a:t>3 050 000</a:t>
            </a:r>
          </a:p>
          <a:p>
            <a:pPr lvl="1"/>
            <a:r>
              <a:rPr lang="zh-CN" altLang="en-US" dirty="0"/>
              <a:t>应交税费</a:t>
            </a:r>
            <a:r>
              <a:rPr lang="en-US" altLang="zh-CN" dirty="0"/>
              <a:t>——</a:t>
            </a:r>
            <a:r>
              <a:rPr lang="zh-CN" altLang="en-US" dirty="0"/>
              <a:t>应交增值税（进项税额） </a:t>
            </a:r>
            <a:r>
              <a:rPr lang="en-US" altLang="zh-CN" dirty="0"/>
              <a:t>480 000   </a:t>
            </a:r>
          </a:p>
          <a:p>
            <a:pPr lvl="1"/>
            <a:r>
              <a:rPr lang="zh-CN" altLang="en-US" dirty="0"/>
              <a:t>贷：银行存款                                              </a:t>
            </a:r>
            <a:r>
              <a:rPr lang="en-US" altLang="zh-CN" dirty="0"/>
              <a:t>3 530 000</a:t>
            </a:r>
          </a:p>
          <a:p>
            <a:r>
              <a:rPr lang="zh-CN" altLang="en-US" dirty="0"/>
              <a:t>支付的员工培训费</a:t>
            </a:r>
            <a:r>
              <a:rPr lang="en-US" altLang="zh-CN" dirty="0"/>
              <a:t>1</a:t>
            </a:r>
            <a:r>
              <a:rPr lang="zh-CN" altLang="en-US" dirty="0"/>
              <a:t>万元如何处理？</a:t>
            </a:r>
          </a:p>
          <a:p>
            <a:r>
              <a:rPr lang="zh-CN" altLang="en-US" dirty="0"/>
              <a:t>一揽子购入的确认和计量？</a:t>
            </a:r>
          </a:p>
          <a:p>
            <a:r>
              <a:rPr lang="zh-CN" altLang="en-US" dirty="0"/>
              <a:t>对于外购的无形资产，超过正常信用条件延期支付价款的，无形资产应按其现值进行初始计量，实际支付金额与现值之间的差计入“未确认融资费用”，在支付期内采用实际利率法进行摊销</a:t>
            </a:r>
          </a:p>
        </p:txBody>
      </p:sp>
    </p:spTree>
    <p:extLst>
      <p:ext uri="{BB962C8B-B14F-4D97-AF65-F5344CB8AC3E}">
        <p14:creationId xmlns:p14="http://schemas.microsoft.com/office/powerpoint/2010/main" val="1204559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企业外购的土地使用权</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82688" y="2017713"/>
            <a:ext cx="7772400" cy="3571527"/>
          </a:xfrm>
        </p:spPr>
        <p:txBody>
          <a:bodyPr/>
          <a:lstStyle/>
          <a:p>
            <a:r>
              <a:rPr lang="zh-CN" altLang="en-US" dirty="0"/>
              <a:t>有一定特殊性，分别情况处理</a:t>
            </a:r>
            <a:endParaRPr lang="en-US" altLang="zh-CN" dirty="0"/>
          </a:p>
          <a:p>
            <a:endParaRPr lang="en-US" altLang="zh-CN" dirty="0"/>
          </a:p>
          <a:p>
            <a:pPr lvl="1"/>
            <a:r>
              <a:rPr lang="zh-CN" altLang="en-US" dirty="0">
                <a:solidFill>
                  <a:srgbClr val="000000"/>
                </a:solidFill>
                <a:latin typeface="宋体" panose="02010600030101010101" pitchFamily="2" charset="-122"/>
              </a:rPr>
              <a:t>用于自行开发建造：</a:t>
            </a:r>
          </a:p>
          <a:p>
            <a:pPr lvl="2"/>
            <a:r>
              <a:rPr lang="zh-CN" altLang="en-US" dirty="0"/>
              <a:t>单独作为无形资产核算、不转入在建工程</a:t>
            </a:r>
            <a:endParaRPr lang="en-US" altLang="zh-CN" dirty="0"/>
          </a:p>
          <a:p>
            <a:pPr lvl="2"/>
            <a:endParaRPr lang="zh-CN" altLang="en-US" dirty="0"/>
          </a:p>
          <a:p>
            <a:pPr lvl="1"/>
            <a:r>
              <a:rPr lang="zh-CN" altLang="en-US" dirty="0"/>
              <a:t>用于房地产开发出售：</a:t>
            </a:r>
            <a:endParaRPr lang="en-US" altLang="zh-CN" dirty="0"/>
          </a:p>
          <a:p>
            <a:pPr lvl="2"/>
            <a:r>
              <a:rPr lang="zh-CN" altLang="en-US" dirty="0"/>
              <a:t>计入房屋建筑物的成本 </a:t>
            </a:r>
            <a:endParaRPr lang="en-US" altLang="zh-CN" dirty="0"/>
          </a:p>
          <a:p>
            <a:pPr lvl="2"/>
            <a:endParaRPr lang="en-US" altLang="zh-CN" dirty="0"/>
          </a:p>
          <a:p>
            <a:pPr lvl="1"/>
            <a:r>
              <a:rPr lang="zh-CN" altLang="en-US" dirty="0"/>
              <a:t>外购的房屋建筑物</a:t>
            </a:r>
          </a:p>
          <a:p>
            <a:pPr lvl="2"/>
            <a:r>
              <a:rPr lang="zh-CN" altLang="en-US" dirty="0"/>
              <a:t>是否应当区分地产和房产？</a:t>
            </a:r>
          </a:p>
          <a:p>
            <a:pPr lvl="2"/>
            <a:endParaRPr lang="zh-CN" altLang="en-US" dirty="0"/>
          </a:p>
        </p:txBody>
      </p:sp>
    </p:spTree>
    <p:extLst>
      <p:ext uri="{BB962C8B-B14F-4D97-AF65-F5344CB8AC3E}">
        <p14:creationId xmlns:p14="http://schemas.microsoft.com/office/powerpoint/2010/main" val="2004365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外购的房屋建筑物</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外购土地及建筑物支付的价款应当在建筑物与土地使用权之间进行分配；难以合理分配的，应当全部作为固定资产 </a:t>
            </a:r>
          </a:p>
        </p:txBody>
      </p:sp>
    </p:spTree>
    <p:extLst>
      <p:ext uri="{BB962C8B-B14F-4D97-AF65-F5344CB8AC3E}">
        <p14:creationId xmlns:p14="http://schemas.microsoft.com/office/powerpoint/2010/main" val="1761238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通过行政划拨取得土地使用权</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行政划拨：</a:t>
            </a:r>
            <a:endParaRPr lang="en-US" altLang="zh-CN" dirty="0"/>
          </a:p>
          <a:p>
            <a:pPr lvl="1"/>
            <a:r>
              <a:rPr lang="zh-CN" altLang="en-US" dirty="0"/>
              <a:t>应当在实际取得资产并办妥相关受让手续时按照其公允价值确认和计量，公允价值不能可靠取得的，按照名义金额（即</a:t>
            </a:r>
            <a:r>
              <a:rPr lang="en-US" altLang="zh-CN" dirty="0"/>
              <a:t>1</a:t>
            </a:r>
            <a:r>
              <a:rPr lang="zh-CN" altLang="en-US" dirty="0"/>
              <a:t>元）计量。</a:t>
            </a:r>
          </a:p>
          <a:p>
            <a:pPr lvl="1"/>
            <a:endParaRPr lang="zh-CN" altLang="en-US" dirty="0"/>
          </a:p>
        </p:txBody>
      </p:sp>
    </p:spTree>
    <p:extLst>
      <p:ext uri="{BB962C8B-B14F-4D97-AF65-F5344CB8AC3E}">
        <p14:creationId xmlns:p14="http://schemas.microsoft.com/office/powerpoint/2010/main" val="51848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en-US" altLang="zh-CN" dirty="0"/>
              <a:t>【</a:t>
            </a:r>
            <a:r>
              <a:rPr lang="zh-CN" altLang="en-US" dirty="0"/>
              <a:t>示例</a:t>
            </a:r>
            <a:r>
              <a:rPr lang="en-US" altLang="zh-CN" dirty="0"/>
              <a:t>】2×20</a:t>
            </a:r>
            <a:r>
              <a:rPr lang="zh-CN" altLang="en-US" dirty="0"/>
              <a:t>年</a:t>
            </a:r>
            <a:r>
              <a:rPr lang="en-US" altLang="zh-CN" dirty="0"/>
              <a:t>1</a:t>
            </a:r>
            <a:r>
              <a:rPr lang="zh-CN" altLang="en-US" dirty="0"/>
              <a:t>月</a:t>
            </a:r>
            <a:r>
              <a:rPr lang="en-US" altLang="zh-CN" dirty="0"/>
              <a:t>1</a:t>
            </a:r>
            <a:r>
              <a:rPr lang="zh-CN" altLang="en-US" dirty="0"/>
              <a:t>日，</a:t>
            </a:r>
            <a:r>
              <a:rPr lang="en-US" altLang="zh-CN" dirty="0"/>
              <a:t>A</a:t>
            </a:r>
            <a:r>
              <a:rPr lang="zh-CN" altLang="en-US" dirty="0"/>
              <a:t>股份有限公司购入一块土地的使用权，以银行存款转账支付</a:t>
            </a:r>
            <a:r>
              <a:rPr lang="en-US" altLang="zh-CN" dirty="0"/>
              <a:t>8000</a:t>
            </a:r>
            <a:r>
              <a:rPr lang="zh-CN" altLang="en-US" dirty="0"/>
              <a:t>万元，并在该土地上自行建造办公楼，发生材料支出</a:t>
            </a:r>
            <a:r>
              <a:rPr lang="en-US" altLang="zh-CN" dirty="0"/>
              <a:t>12000</a:t>
            </a:r>
            <a:r>
              <a:rPr lang="zh-CN" altLang="en-US" dirty="0"/>
              <a:t>万元，工资费用</a:t>
            </a:r>
            <a:r>
              <a:rPr lang="en-US" altLang="zh-CN" dirty="0"/>
              <a:t>8000</a:t>
            </a:r>
            <a:r>
              <a:rPr lang="zh-CN" altLang="en-US" dirty="0"/>
              <a:t>万元，其他相关费用</a:t>
            </a:r>
            <a:r>
              <a:rPr lang="en-US" altLang="zh-CN" dirty="0"/>
              <a:t>10000</a:t>
            </a:r>
            <a:r>
              <a:rPr lang="zh-CN" altLang="en-US" dirty="0"/>
              <a:t>万元等。该工程已经完工并达到预定可使用状态。假定土地使用权的使用年限为</a:t>
            </a:r>
            <a:r>
              <a:rPr lang="en-US" altLang="zh-CN" dirty="0"/>
              <a:t>50</a:t>
            </a:r>
            <a:r>
              <a:rPr lang="zh-CN" altLang="en-US" dirty="0"/>
              <a:t>年，该厂房的作用年限为</a:t>
            </a:r>
            <a:r>
              <a:rPr lang="en-US" altLang="zh-CN" dirty="0"/>
              <a:t>25</a:t>
            </a:r>
            <a:r>
              <a:rPr lang="zh-CN" altLang="en-US" dirty="0"/>
              <a:t>年，两者都没有净残值，都采用直线法进行摊销和计提折旧。为简化核算，不考虑其他相关税费。则取得上述资产应如何进行会计处理？</a:t>
            </a:r>
          </a:p>
        </p:txBody>
      </p:sp>
    </p:spTree>
    <p:extLst>
      <p:ext uri="{BB962C8B-B14F-4D97-AF65-F5344CB8AC3E}">
        <p14:creationId xmlns:p14="http://schemas.microsoft.com/office/powerpoint/2010/main" val="24355202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50938" y="2132856"/>
            <a:ext cx="7772400" cy="4608512"/>
          </a:xfrm>
        </p:spPr>
        <p:txBody>
          <a:bodyPr/>
          <a:lstStyle/>
          <a:p>
            <a:r>
              <a:rPr lang="en-US" altLang="zh-CN" dirty="0"/>
              <a:t>A</a:t>
            </a:r>
            <a:r>
              <a:rPr lang="zh-CN" altLang="en-US" dirty="0"/>
              <a:t>公司的账务处理如下：</a:t>
            </a:r>
          </a:p>
          <a:p>
            <a:pPr lvl="1"/>
            <a:r>
              <a:rPr lang="zh-CN" altLang="en-US" dirty="0"/>
              <a:t>（</a:t>
            </a:r>
            <a:r>
              <a:rPr lang="en-US" altLang="zh-CN" dirty="0"/>
              <a:t>1</a:t>
            </a:r>
            <a:r>
              <a:rPr lang="zh-CN" altLang="en-US" dirty="0"/>
              <a:t>）支付转让价款：</a:t>
            </a:r>
          </a:p>
          <a:p>
            <a:pPr lvl="2"/>
            <a:r>
              <a:rPr lang="zh-CN" altLang="en-US" dirty="0"/>
              <a:t>借：无形资产</a:t>
            </a:r>
            <a:r>
              <a:rPr lang="en-US" altLang="zh-CN" dirty="0"/>
              <a:t>——</a:t>
            </a:r>
            <a:r>
              <a:rPr lang="zh-CN" altLang="en-US" dirty="0"/>
              <a:t>土地使用权　　　 </a:t>
            </a:r>
            <a:r>
              <a:rPr lang="en-US" altLang="zh-CN" dirty="0"/>
              <a:t>80 000 000</a:t>
            </a:r>
          </a:p>
          <a:p>
            <a:pPr lvl="2"/>
            <a:r>
              <a:rPr lang="zh-CN" altLang="en-US" dirty="0"/>
              <a:t>     贷：银行存款　　 　　　　　　　　    </a:t>
            </a:r>
            <a:r>
              <a:rPr lang="en-US" altLang="zh-CN" dirty="0"/>
              <a:t>80 000 000</a:t>
            </a:r>
          </a:p>
          <a:p>
            <a:pPr lvl="1"/>
            <a:r>
              <a:rPr lang="zh-CN" altLang="en-US" dirty="0"/>
              <a:t>（</a:t>
            </a:r>
            <a:r>
              <a:rPr lang="en-US" altLang="zh-CN" dirty="0"/>
              <a:t>2</a:t>
            </a:r>
            <a:r>
              <a:rPr lang="zh-CN" altLang="en-US" dirty="0"/>
              <a:t>）在土地上自行建造厂房：</a:t>
            </a:r>
          </a:p>
          <a:p>
            <a:pPr lvl="2"/>
            <a:r>
              <a:rPr lang="zh-CN" altLang="en-US" dirty="0"/>
              <a:t>借：在建工程 　 　　　　　　　　</a:t>
            </a:r>
            <a:r>
              <a:rPr lang="en-US" altLang="zh-CN" dirty="0"/>
              <a:t>300 000 000</a:t>
            </a:r>
          </a:p>
          <a:p>
            <a:pPr lvl="2"/>
            <a:r>
              <a:rPr lang="zh-CN" altLang="en-US" dirty="0"/>
              <a:t>        贷：工程物资　　　　　　　　       </a:t>
            </a:r>
            <a:r>
              <a:rPr lang="en-US" altLang="zh-CN" dirty="0"/>
              <a:t>120 000 000</a:t>
            </a:r>
          </a:p>
          <a:p>
            <a:pPr lvl="2"/>
            <a:r>
              <a:rPr lang="zh-CN" altLang="en-US" dirty="0"/>
              <a:t>                应付职工薪酬　　　　　　</a:t>
            </a:r>
            <a:r>
              <a:rPr lang="en-US" altLang="zh-CN" dirty="0"/>
              <a:t>	 80000 000</a:t>
            </a:r>
          </a:p>
          <a:p>
            <a:pPr lvl="2"/>
            <a:r>
              <a:rPr lang="zh-CN" altLang="en-US" dirty="0"/>
              <a:t>                银行存款 　　　　　　　　 　  </a:t>
            </a:r>
            <a:r>
              <a:rPr lang="en-US" altLang="zh-CN" dirty="0"/>
              <a:t>100 000 000</a:t>
            </a:r>
          </a:p>
          <a:p>
            <a:pPr lvl="1"/>
            <a:r>
              <a:rPr lang="zh-CN" altLang="en-US" dirty="0"/>
              <a:t>（</a:t>
            </a:r>
            <a:r>
              <a:rPr lang="en-US" altLang="zh-CN" dirty="0"/>
              <a:t>3</a:t>
            </a:r>
            <a:r>
              <a:rPr lang="zh-CN" altLang="en-US" dirty="0"/>
              <a:t>）厂房达到预定可使用状态：</a:t>
            </a:r>
          </a:p>
          <a:p>
            <a:pPr lvl="2"/>
            <a:r>
              <a:rPr lang="zh-CN" altLang="en-US" dirty="0"/>
              <a:t>借：固定资产　　　　　　　　　　</a:t>
            </a:r>
            <a:r>
              <a:rPr lang="en-US" altLang="zh-CN" dirty="0"/>
              <a:t>300 000 000</a:t>
            </a:r>
          </a:p>
          <a:p>
            <a:pPr lvl="2"/>
            <a:r>
              <a:rPr lang="zh-CN" altLang="en-US" dirty="0"/>
              <a:t>        贷：在建工程　　　　　　　　　　</a:t>
            </a:r>
            <a:r>
              <a:rPr lang="en-US" altLang="zh-CN" dirty="0"/>
              <a:t>300 000 000</a:t>
            </a:r>
          </a:p>
        </p:txBody>
      </p:sp>
    </p:spTree>
    <p:extLst>
      <p:ext uri="{BB962C8B-B14F-4D97-AF65-F5344CB8AC3E}">
        <p14:creationId xmlns:p14="http://schemas.microsoft.com/office/powerpoint/2010/main" val="3634005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投资者投入的无形资产</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投资者投入的无形资产的成本，应当按照投资合同或协议约定的价值确定无形资产的取得成本。如果投资合同或协议约定价值不公允的，应按无形资产的公允价值作为无形资产初始成本入账</a:t>
            </a:r>
          </a:p>
        </p:txBody>
      </p:sp>
    </p:spTree>
    <p:extLst>
      <p:ext uri="{BB962C8B-B14F-4D97-AF65-F5344CB8AC3E}">
        <p14:creationId xmlns:p14="http://schemas.microsoft.com/office/powerpoint/2010/main" val="9444718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内部研究开发取得的无形资产</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理论价值：实际发生的所有成本</a:t>
            </a:r>
            <a:endParaRPr lang="en-US" altLang="zh-CN" dirty="0"/>
          </a:p>
          <a:p>
            <a:r>
              <a:rPr lang="zh-CN" altLang="en-US" dirty="0"/>
              <a:t>入账价值：区分研究阶段和开发阶段</a:t>
            </a:r>
          </a:p>
          <a:p>
            <a:endParaRPr lang="zh-CN" altLang="en-US" dirty="0"/>
          </a:p>
        </p:txBody>
      </p:sp>
    </p:spTree>
    <p:extLst>
      <p:ext uri="{BB962C8B-B14F-4D97-AF65-F5344CB8AC3E}">
        <p14:creationId xmlns:p14="http://schemas.microsoft.com/office/powerpoint/2010/main" val="21636935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分为两个阶段：</a:t>
            </a:r>
            <a:endParaRPr lang="en-US" altLang="zh-CN" dirty="0"/>
          </a:p>
          <a:p>
            <a:pPr lvl="1"/>
            <a:r>
              <a:rPr lang="zh-CN" altLang="en-US" dirty="0"/>
              <a:t>研究阶段发生的费用或损失应在发生时确认为损益</a:t>
            </a:r>
          </a:p>
          <a:p>
            <a:pPr lvl="1"/>
            <a:r>
              <a:rPr lang="zh-CN" altLang="en-US" dirty="0"/>
              <a:t>开发阶段发生的开发费用，如果符合无形资产确认条件，应予以资本化</a:t>
            </a:r>
          </a:p>
        </p:txBody>
      </p:sp>
    </p:spTree>
    <p:extLst>
      <p:ext uri="{BB962C8B-B14F-4D97-AF65-F5344CB8AC3E}">
        <p14:creationId xmlns:p14="http://schemas.microsoft.com/office/powerpoint/2010/main" val="30243447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研究与开发支出</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en-US" altLang="zh-CN" dirty="0"/>
              <a:t>1.</a:t>
            </a:r>
            <a:r>
              <a:rPr lang="zh-CN" altLang="en-US" dirty="0"/>
              <a:t>研究阶段与开发阶段的区分</a:t>
            </a:r>
          </a:p>
          <a:p>
            <a:pPr lvl="1"/>
            <a:r>
              <a:rPr lang="zh-CN" altLang="en-US" dirty="0"/>
              <a:t>（</a:t>
            </a:r>
            <a:r>
              <a:rPr lang="en-US" altLang="zh-CN" dirty="0"/>
              <a:t>1</a:t>
            </a:r>
            <a:r>
              <a:rPr lang="zh-CN" altLang="en-US" dirty="0"/>
              <a:t>）研究阶段：为获取新的技术和知识等进行的有计划的调查</a:t>
            </a:r>
          </a:p>
          <a:p>
            <a:pPr lvl="2"/>
            <a:r>
              <a:rPr lang="zh-CN" altLang="en-US" dirty="0"/>
              <a:t>特点：计划性、探索性（为进一步开发活动进行准备）</a:t>
            </a:r>
          </a:p>
          <a:p>
            <a:pPr lvl="2"/>
            <a:r>
              <a:rPr lang="zh-CN" altLang="en-US" dirty="0"/>
              <a:t>通过开发后是否形成无形资产有很大不确定性，因而有关支出在</a:t>
            </a:r>
            <a:r>
              <a:rPr lang="zh-CN" altLang="en-US" b="1" dirty="0">
                <a:solidFill>
                  <a:srgbClr val="FF0000"/>
                </a:solidFill>
              </a:rPr>
              <a:t>发生时</a:t>
            </a:r>
            <a:r>
              <a:rPr lang="zh-CN" altLang="en-US" dirty="0"/>
              <a:t>应费用化计入当期损益</a:t>
            </a:r>
          </a:p>
        </p:txBody>
      </p:sp>
    </p:spTree>
    <p:extLst>
      <p:ext uri="{BB962C8B-B14F-4D97-AF65-F5344CB8AC3E}">
        <p14:creationId xmlns:p14="http://schemas.microsoft.com/office/powerpoint/2010/main" val="42856287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pPr lvl="1"/>
            <a:r>
              <a:rPr lang="zh-CN" altLang="en-US" dirty="0"/>
              <a:t>（</a:t>
            </a:r>
            <a:r>
              <a:rPr lang="en-US" altLang="zh-CN" dirty="0"/>
              <a:t>2</a:t>
            </a:r>
            <a:r>
              <a:rPr lang="zh-CN" altLang="en-US" dirty="0"/>
              <a:t>）开发阶段：进行商业性生产或使用前，将研究成果或其他知识应用于某项计划或设计，以生产出新的或具有实质性改进的材料、装置、产品等。</a:t>
            </a:r>
          </a:p>
          <a:p>
            <a:pPr lvl="2"/>
            <a:r>
              <a:rPr lang="zh-CN" altLang="en-US" dirty="0"/>
              <a:t>特点：针对性、形成成果的可能性较大</a:t>
            </a:r>
          </a:p>
          <a:p>
            <a:pPr lvl="2"/>
            <a:r>
              <a:rPr lang="zh-CN" altLang="en-US" dirty="0"/>
              <a:t>如能证明满足无形资产的定义及相关确认条件，发生的支出可资本化，确认为无形资产的成本</a:t>
            </a:r>
          </a:p>
        </p:txBody>
      </p:sp>
    </p:spTree>
    <p:extLst>
      <p:ext uri="{BB962C8B-B14F-4D97-AF65-F5344CB8AC3E}">
        <p14:creationId xmlns:p14="http://schemas.microsoft.com/office/powerpoint/2010/main" val="31739684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72560" y="1774305"/>
            <a:ext cx="7772400" cy="5083695"/>
          </a:xfrm>
        </p:spPr>
        <p:txBody>
          <a:bodyPr/>
          <a:lstStyle/>
          <a:p>
            <a:r>
              <a:rPr lang="en-US" altLang="zh-CN" dirty="0"/>
              <a:t>2.</a:t>
            </a:r>
            <a:r>
              <a:rPr lang="zh-CN" altLang="en-US" dirty="0"/>
              <a:t>开发阶段相关支出资本化的条件</a:t>
            </a:r>
          </a:p>
          <a:p>
            <a:pPr lvl="1"/>
            <a:r>
              <a:rPr lang="zh-CN" altLang="en-US" dirty="0"/>
              <a:t>（</a:t>
            </a:r>
            <a:r>
              <a:rPr lang="en-US" altLang="zh-CN" dirty="0"/>
              <a:t>1</a:t>
            </a:r>
            <a:r>
              <a:rPr lang="zh-CN" altLang="en-US" dirty="0"/>
              <a:t>）完成该无形资产以使其能够使用或出售在技术上具有可行性</a:t>
            </a:r>
            <a:r>
              <a:rPr lang="en-US" altLang="zh-CN" b="1" dirty="0">
                <a:solidFill>
                  <a:srgbClr val="FF0000"/>
                </a:solidFill>
              </a:rPr>
              <a:t>【</a:t>
            </a:r>
            <a:r>
              <a:rPr lang="zh-CN" altLang="en-US" b="1" dirty="0">
                <a:solidFill>
                  <a:srgbClr val="FF0000"/>
                </a:solidFill>
              </a:rPr>
              <a:t>技术上可行</a:t>
            </a:r>
            <a:r>
              <a:rPr lang="en-US" altLang="zh-CN" b="1" dirty="0">
                <a:solidFill>
                  <a:srgbClr val="FF0000"/>
                </a:solidFill>
              </a:rPr>
              <a:t>】</a:t>
            </a:r>
          </a:p>
          <a:p>
            <a:pPr lvl="1"/>
            <a:r>
              <a:rPr lang="zh-CN" altLang="en-US" dirty="0"/>
              <a:t>（</a:t>
            </a:r>
            <a:r>
              <a:rPr lang="en-US" altLang="zh-CN" dirty="0"/>
              <a:t>2</a:t>
            </a:r>
            <a:r>
              <a:rPr lang="zh-CN" altLang="en-US" dirty="0"/>
              <a:t>）能证明运用该无形资产生产的产品存在市场或无形资产自身存在市场，内部使用的能证明其有用性</a:t>
            </a:r>
            <a:r>
              <a:rPr lang="en-US" altLang="zh-CN" b="1" dirty="0">
                <a:solidFill>
                  <a:srgbClr val="FF0000"/>
                </a:solidFill>
              </a:rPr>
              <a:t>【</a:t>
            </a:r>
            <a:r>
              <a:rPr lang="zh-CN" altLang="en-US" b="1" dirty="0">
                <a:solidFill>
                  <a:srgbClr val="FF0000"/>
                </a:solidFill>
              </a:rPr>
              <a:t>经济上可行</a:t>
            </a:r>
            <a:r>
              <a:rPr lang="en-US" altLang="zh-CN" b="1" dirty="0">
                <a:solidFill>
                  <a:srgbClr val="FF0000"/>
                </a:solidFill>
              </a:rPr>
              <a:t>】</a:t>
            </a:r>
          </a:p>
          <a:p>
            <a:pPr lvl="1"/>
            <a:r>
              <a:rPr lang="zh-CN" altLang="en-US" dirty="0"/>
              <a:t>（</a:t>
            </a:r>
            <a:r>
              <a:rPr lang="en-US" altLang="zh-CN" dirty="0"/>
              <a:t>3</a:t>
            </a:r>
            <a:r>
              <a:rPr lang="zh-CN" altLang="en-US" dirty="0"/>
              <a:t>）具有完成该无形资产并使用或出售的意图</a:t>
            </a:r>
            <a:r>
              <a:rPr lang="en-US" altLang="zh-CN" b="1" dirty="0">
                <a:solidFill>
                  <a:srgbClr val="FF0000"/>
                </a:solidFill>
              </a:rPr>
              <a:t>【</a:t>
            </a:r>
            <a:r>
              <a:rPr lang="zh-CN" altLang="en-US" b="1" dirty="0">
                <a:solidFill>
                  <a:srgbClr val="FF0000"/>
                </a:solidFill>
              </a:rPr>
              <a:t>管理层有意图</a:t>
            </a:r>
            <a:r>
              <a:rPr lang="en-US" altLang="zh-CN" b="1" dirty="0">
                <a:solidFill>
                  <a:srgbClr val="FF0000"/>
                </a:solidFill>
              </a:rPr>
              <a:t>】</a:t>
            </a:r>
          </a:p>
          <a:p>
            <a:pPr lvl="1"/>
            <a:r>
              <a:rPr lang="zh-CN" altLang="en-US" dirty="0"/>
              <a:t>（</a:t>
            </a:r>
            <a:r>
              <a:rPr lang="en-US" altLang="zh-CN" dirty="0"/>
              <a:t>4</a:t>
            </a:r>
            <a:r>
              <a:rPr lang="zh-CN" altLang="en-US" dirty="0"/>
              <a:t>）有足够的技术、财务资源和其他资源支持，以完成该无形资产的开发，并有能力使用或出售该无形资产</a:t>
            </a:r>
            <a:r>
              <a:rPr lang="en-US" altLang="zh-CN" b="1" dirty="0">
                <a:solidFill>
                  <a:srgbClr val="FF0000"/>
                </a:solidFill>
              </a:rPr>
              <a:t>【</a:t>
            </a:r>
            <a:r>
              <a:rPr lang="zh-CN" altLang="en-US" b="1" dirty="0">
                <a:solidFill>
                  <a:srgbClr val="FF0000"/>
                </a:solidFill>
              </a:rPr>
              <a:t>管理层有能力</a:t>
            </a:r>
            <a:r>
              <a:rPr lang="en-US" altLang="zh-CN" b="1" dirty="0">
                <a:solidFill>
                  <a:srgbClr val="FF0000"/>
                </a:solidFill>
              </a:rPr>
              <a:t>】</a:t>
            </a:r>
          </a:p>
          <a:p>
            <a:pPr lvl="1"/>
            <a:r>
              <a:rPr lang="zh-CN" altLang="en-US" dirty="0"/>
              <a:t>（</a:t>
            </a:r>
            <a:r>
              <a:rPr lang="en-US" altLang="zh-CN" dirty="0"/>
              <a:t>5</a:t>
            </a:r>
            <a:r>
              <a:rPr lang="zh-CN" altLang="en-US" dirty="0"/>
              <a:t>）归属于该无形资产开发阶段的支出能够可靠地计量</a:t>
            </a:r>
            <a:r>
              <a:rPr lang="en-US" altLang="zh-CN" b="1" dirty="0">
                <a:solidFill>
                  <a:srgbClr val="FF0000"/>
                </a:solidFill>
              </a:rPr>
              <a:t>【</a:t>
            </a:r>
            <a:r>
              <a:rPr lang="zh-CN" altLang="en-US" b="1" dirty="0">
                <a:solidFill>
                  <a:srgbClr val="FF0000"/>
                </a:solidFill>
              </a:rPr>
              <a:t>会计上可计量</a:t>
            </a:r>
            <a:r>
              <a:rPr lang="en-US" altLang="zh-CN" b="1" dirty="0">
                <a:solidFill>
                  <a:srgbClr val="FF0000"/>
                </a:solidFill>
              </a:rPr>
              <a:t>】</a:t>
            </a:r>
          </a:p>
        </p:txBody>
      </p:sp>
    </p:spTree>
    <p:extLst>
      <p:ext uri="{BB962C8B-B14F-4D97-AF65-F5344CB8AC3E}">
        <p14:creationId xmlns:p14="http://schemas.microsoft.com/office/powerpoint/2010/main" val="6223619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en-US" altLang="zh-CN" dirty="0"/>
              <a:t>3.</a:t>
            </a:r>
            <a:r>
              <a:rPr lang="zh-CN" altLang="en-US" dirty="0"/>
              <a:t>内部开发无形资产的计量</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成本由可直接归属于该资产的创造、生产并使该资产能够以管理层预定的方式运作的所有必要支出组成</a:t>
            </a:r>
          </a:p>
          <a:p>
            <a:endParaRPr lang="zh-CN" altLang="en-US" dirty="0"/>
          </a:p>
          <a:p>
            <a:r>
              <a:rPr lang="zh-CN" altLang="en-US" dirty="0"/>
              <a:t>具体包括：材料费、劳务成本、注册费、可资本化的利息支出、为使该无形资产达到预定用途前所发生的其他费用</a:t>
            </a:r>
          </a:p>
        </p:txBody>
      </p:sp>
    </p:spTree>
    <p:extLst>
      <p:ext uri="{BB962C8B-B14F-4D97-AF65-F5344CB8AC3E}">
        <p14:creationId xmlns:p14="http://schemas.microsoft.com/office/powerpoint/2010/main" val="9707496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en-US" altLang="zh-CN" dirty="0"/>
              <a:t>4.</a:t>
            </a:r>
            <a:r>
              <a:rPr lang="zh-CN" altLang="en-US" dirty="0"/>
              <a:t>内部研究开发费用的会计处理</a:t>
            </a:r>
          </a:p>
          <a:p>
            <a:pPr lvl="1"/>
            <a:r>
              <a:rPr lang="zh-CN" altLang="en-US" dirty="0"/>
              <a:t>无法区分研究阶段的支出和开发阶段的支出，全部费用化计入当期损益</a:t>
            </a:r>
          </a:p>
          <a:p>
            <a:pPr lvl="1"/>
            <a:r>
              <a:rPr lang="zh-CN" altLang="en-US" dirty="0"/>
              <a:t>研究开发支出通过“研发支出”科目核算</a:t>
            </a:r>
          </a:p>
          <a:p>
            <a:pPr lvl="1"/>
            <a:r>
              <a:rPr lang="zh-CN" altLang="en-US" dirty="0"/>
              <a:t>相关费用发生时：</a:t>
            </a:r>
          </a:p>
          <a:p>
            <a:pPr lvl="2"/>
            <a:r>
              <a:rPr lang="zh-CN" altLang="en-US" dirty="0"/>
              <a:t>借：研发支出</a:t>
            </a:r>
            <a:r>
              <a:rPr lang="en-US" altLang="zh-CN" dirty="0"/>
              <a:t>——</a:t>
            </a:r>
            <a:r>
              <a:rPr lang="zh-CN" altLang="en-US" dirty="0"/>
              <a:t>费用化支出</a:t>
            </a:r>
          </a:p>
          <a:p>
            <a:pPr lvl="2"/>
            <a:r>
              <a:rPr lang="zh-CN" altLang="en-US" dirty="0"/>
              <a:t>　　　　　　</a:t>
            </a:r>
            <a:r>
              <a:rPr lang="en-US" altLang="zh-CN" dirty="0"/>
              <a:t>——</a:t>
            </a:r>
            <a:r>
              <a:rPr lang="zh-CN" altLang="en-US" dirty="0"/>
              <a:t>资本化支出</a:t>
            </a:r>
          </a:p>
          <a:p>
            <a:pPr lvl="2"/>
            <a:r>
              <a:rPr lang="zh-CN" altLang="en-US" dirty="0"/>
              <a:t>      贷：原材料</a:t>
            </a:r>
            <a:endParaRPr lang="en-US" altLang="zh-CN" dirty="0"/>
          </a:p>
          <a:p>
            <a:pPr lvl="2"/>
            <a:r>
              <a:rPr lang="en-US" altLang="zh-CN" dirty="0"/>
              <a:t>              </a:t>
            </a:r>
            <a:r>
              <a:rPr lang="zh-CN" altLang="en-US" dirty="0"/>
              <a:t>应付职工薪酬</a:t>
            </a:r>
          </a:p>
          <a:p>
            <a:pPr lvl="2"/>
            <a:r>
              <a:rPr lang="zh-CN" altLang="en-US" dirty="0"/>
              <a:t>              银行存款</a:t>
            </a:r>
          </a:p>
        </p:txBody>
      </p:sp>
    </p:spTree>
    <p:extLst>
      <p:ext uri="{BB962C8B-B14F-4D97-AF65-F5344CB8AC3E}">
        <p14:creationId xmlns:p14="http://schemas.microsoft.com/office/powerpoint/2010/main" val="1242463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期末或者专利技术达到预定用途：</a:t>
            </a:r>
          </a:p>
          <a:p>
            <a:pPr lvl="1"/>
            <a:r>
              <a:rPr lang="zh-CN" altLang="en-US" dirty="0"/>
              <a:t>借：研发费用</a:t>
            </a:r>
          </a:p>
          <a:p>
            <a:pPr lvl="1"/>
            <a:r>
              <a:rPr lang="zh-CN" altLang="en-US" dirty="0"/>
              <a:t>　  贷：研发支出</a:t>
            </a:r>
            <a:r>
              <a:rPr lang="en-US" altLang="zh-CN" dirty="0"/>
              <a:t>——</a:t>
            </a:r>
            <a:r>
              <a:rPr lang="zh-CN" altLang="en-US" dirty="0"/>
              <a:t>费用化支出</a:t>
            </a:r>
          </a:p>
          <a:p>
            <a:pPr lvl="1"/>
            <a:r>
              <a:rPr lang="zh-CN" altLang="en-US" dirty="0"/>
              <a:t>借：无形资产</a:t>
            </a:r>
          </a:p>
          <a:p>
            <a:pPr lvl="1"/>
            <a:r>
              <a:rPr lang="zh-CN" altLang="en-US" dirty="0"/>
              <a:t>　  贷：研发支出</a:t>
            </a:r>
            <a:r>
              <a:rPr lang="en-US" altLang="zh-CN" dirty="0"/>
              <a:t>——</a:t>
            </a:r>
            <a:r>
              <a:rPr lang="zh-CN" altLang="en-US" dirty="0"/>
              <a:t>资本化支出</a:t>
            </a:r>
          </a:p>
        </p:txBody>
      </p:sp>
    </p:spTree>
    <p:extLst>
      <p:ext uri="{BB962C8B-B14F-4D97-AF65-F5344CB8AC3E}">
        <p14:creationId xmlns:p14="http://schemas.microsoft.com/office/powerpoint/2010/main" val="18904027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en-US" altLang="zh-CN" dirty="0"/>
              <a:t>【</a:t>
            </a:r>
            <a:r>
              <a:rPr lang="zh-CN" altLang="en-US" dirty="0"/>
              <a:t>示例</a:t>
            </a:r>
            <a:r>
              <a:rPr lang="en-US" altLang="zh-CN" dirty="0"/>
              <a:t>】2×20</a:t>
            </a:r>
            <a:r>
              <a:rPr lang="zh-CN" altLang="en-US" dirty="0"/>
              <a:t>年</a:t>
            </a:r>
            <a:r>
              <a:rPr lang="en-US" altLang="zh-CN" dirty="0"/>
              <a:t>1</a:t>
            </a:r>
            <a:r>
              <a:rPr lang="zh-CN" altLang="en-US" dirty="0"/>
              <a:t>月</a:t>
            </a:r>
            <a:r>
              <a:rPr lang="en-US" altLang="zh-CN" dirty="0"/>
              <a:t>1</a:t>
            </a:r>
            <a:r>
              <a:rPr lang="zh-CN" altLang="en-US" dirty="0"/>
              <a:t>日，甲公司经董事会批准研发某项新产品专利技术，该公司董事会认为，研发该项目具有可靠的技术和财务等资源的支持，并且一量研发成功将降低该公司生产产品的生产成本。该公司在研究开发过程中发生材料费</a:t>
            </a:r>
            <a:r>
              <a:rPr lang="en-US" altLang="zh-CN" dirty="0"/>
              <a:t>5000</a:t>
            </a:r>
            <a:r>
              <a:rPr lang="zh-CN" altLang="en-US" dirty="0"/>
              <a:t>万元、人工工资</a:t>
            </a:r>
            <a:r>
              <a:rPr lang="en-US" altLang="zh-CN" dirty="0"/>
              <a:t>1000</a:t>
            </a:r>
            <a:r>
              <a:rPr lang="zh-CN" altLang="en-US" dirty="0"/>
              <a:t>万元，以及其他费用</a:t>
            </a:r>
            <a:r>
              <a:rPr lang="en-US" altLang="zh-CN" dirty="0"/>
              <a:t>4000</a:t>
            </a:r>
            <a:r>
              <a:rPr lang="zh-CN" altLang="en-US" dirty="0"/>
              <a:t>万元，总计</a:t>
            </a:r>
            <a:r>
              <a:rPr lang="en-US" altLang="zh-CN" dirty="0"/>
              <a:t>10000</a:t>
            </a:r>
            <a:r>
              <a:rPr lang="zh-CN" altLang="en-US" dirty="0"/>
              <a:t>万元，其中，符合资本化条件的支出为</a:t>
            </a:r>
            <a:r>
              <a:rPr lang="en-US" altLang="zh-CN" dirty="0"/>
              <a:t>6000</a:t>
            </a:r>
            <a:r>
              <a:rPr lang="zh-CN" altLang="en-US" dirty="0"/>
              <a:t>万元。</a:t>
            </a:r>
            <a:r>
              <a:rPr lang="en-US" altLang="zh-CN" dirty="0"/>
              <a:t>2×20</a:t>
            </a:r>
            <a:r>
              <a:rPr lang="zh-CN" altLang="en-US" dirty="0"/>
              <a:t>年</a:t>
            </a:r>
            <a:r>
              <a:rPr lang="en-US" altLang="zh-CN" dirty="0"/>
              <a:t>12</a:t>
            </a:r>
            <a:r>
              <a:rPr lang="zh-CN" altLang="en-US" dirty="0"/>
              <a:t>月</a:t>
            </a:r>
            <a:r>
              <a:rPr lang="en-US" altLang="zh-CN" dirty="0"/>
              <a:t>31</a:t>
            </a:r>
            <a:r>
              <a:rPr lang="zh-CN" altLang="en-US" dirty="0"/>
              <a:t>日，该专利技术已经达到预定用途。应如何进行账务处理？</a:t>
            </a:r>
          </a:p>
        </p:txBody>
      </p:sp>
    </p:spTree>
    <p:extLst>
      <p:ext uri="{BB962C8B-B14F-4D97-AF65-F5344CB8AC3E}">
        <p14:creationId xmlns:p14="http://schemas.microsoft.com/office/powerpoint/2010/main" val="967248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82688" y="2017712"/>
            <a:ext cx="7772400" cy="4840287"/>
          </a:xfrm>
        </p:spPr>
        <p:txBody>
          <a:bodyPr/>
          <a:lstStyle/>
          <a:p>
            <a:r>
              <a:rPr lang="zh-CN" altLang="en-US" dirty="0"/>
              <a:t> 甲公司的账务处理如下：</a:t>
            </a:r>
          </a:p>
          <a:p>
            <a:pPr lvl="1"/>
            <a:r>
              <a:rPr lang="zh-CN" altLang="en-US" dirty="0"/>
              <a:t>（</a:t>
            </a:r>
            <a:r>
              <a:rPr lang="en-US" altLang="zh-CN" dirty="0"/>
              <a:t>1</a:t>
            </a:r>
            <a:r>
              <a:rPr lang="zh-CN" altLang="en-US" dirty="0"/>
              <a:t>）发生研发支出：</a:t>
            </a:r>
          </a:p>
          <a:p>
            <a:pPr lvl="2"/>
            <a:r>
              <a:rPr lang="zh-CN" altLang="en-US" dirty="0"/>
              <a:t>借：研发支出</a:t>
            </a:r>
            <a:r>
              <a:rPr lang="en-US" altLang="zh-CN" dirty="0"/>
              <a:t>——</a:t>
            </a:r>
            <a:r>
              <a:rPr lang="zh-CN" altLang="en-US" dirty="0"/>
              <a:t>费用化支出  </a:t>
            </a:r>
            <a:r>
              <a:rPr lang="en-US" altLang="zh-CN" dirty="0"/>
              <a:t>40 000 000</a:t>
            </a:r>
          </a:p>
          <a:p>
            <a:pPr lvl="2"/>
            <a:r>
              <a:rPr lang="en-US" altLang="zh-CN" dirty="0"/>
              <a:t>                        ——</a:t>
            </a:r>
            <a:r>
              <a:rPr lang="zh-CN" altLang="en-US" dirty="0"/>
              <a:t>资本化支出  </a:t>
            </a:r>
            <a:r>
              <a:rPr lang="en-US" altLang="zh-CN" dirty="0"/>
              <a:t>60 000 000</a:t>
            </a:r>
          </a:p>
          <a:p>
            <a:pPr lvl="2"/>
            <a:r>
              <a:rPr lang="en-US" altLang="zh-CN" dirty="0"/>
              <a:t>        </a:t>
            </a:r>
            <a:r>
              <a:rPr lang="zh-CN" altLang="en-US" dirty="0"/>
              <a:t>贷：原材料                                  </a:t>
            </a:r>
            <a:r>
              <a:rPr lang="en-US" altLang="zh-CN" dirty="0"/>
              <a:t>50 000 000</a:t>
            </a:r>
          </a:p>
          <a:p>
            <a:pPr lvl="2"/>
            <a:r>
              <a:rPr lang="en-US" altLang="zh-CN" dirty="0"/>
              <a:t>                </a:t>
            </a:r>
            <a:r>
              <a:rPr lang="zh-CN" altLang="en-US" dirty="0"/>
              <a:t>应付职工薪酬                      </a:t>
            </a:r>
            <a:r>
              <a:rPr lang="en-US" altLang="zh-CN" dirty="0"/>
              <a:t>10 000 000</a:t>
            </a:r>
          </a:p>
          <a:p>
            <a:pPr lvl="2"/>
            <a:r>
              <a:rPr lang="en-US" altLang="zh-CN" dirty="0"/>
              <a:t>                </a:t>
            </a:r>
            <a:r>
              <a:rPr lang="zh-CN" altLang="en-US" dirty="0"/>
              <a:t>银行存款                              </a:t>
            </a:r>
            <a:r>
              <a:rPr lang="en-US" altLang="zh-CN" dirty="0"/>
              <a:t>40 000 000</a:t>
            </a:r>
          </a:p>
          <a:p>
            <a:pPr lvl="1"/>
            <a:r>
              <a:rPr lang="zh-CN" altLang="en-US" dirty="0"/>
              <a:t>（</a:t>
            </a:r>
            <a:r>
              <a:rPr lang="en-US" altLang="zh-CN" dirty="0"/>
              <a:t>2</a:t>
            </a:r>
            <a:r>
              <a:rPr lang="zh-CN" altLang="en-US" dirty="0"/>
              <a:t>）</a:t>
            </a:r>
            <a:r>
              <a:rPr lang="en-US" altLang="zh-CN" dirty="0"/>
              <a:t>2×20</a:t>
            </a:r>
            <a:r>
              <a:rPr lang="zh-CN" altLang="en-US" dirty="0"/>
              <a:t>年</a:t>
            </a:r>
            <a:r>
              <a:rPr lang="en-US" altLang="zh-CN" dirty="0"/>
              <a:t>12</a:t>
            </a:r>
            <a:r>
              <a:rPr lang="zh-CN" altLang="en-US" dirty="0"/>
              <a:t>月</a:t>
            </a:r>
            <a:r>
              <a:rPr lang="en-US" altLang="zh-CN" dirty="0"/>
              <a:t>31</a:t>
            </a:r>
            <a:r>
              <a:rPr lang="zh-CN" altLang="en-US" dirty="0"/>
              <a:t>日。该专利技术已经达到预定用途：  </a:t>
            </a:r>
          </a:p>
          <a:p>
            <a:pPr lvl="2"/>
            <a:r>
              <a:rPr lang="zh-CN" altLang="en-US" dirty="0"/>
              <a:t>借：研发费用                              </a:t>
            </a:r>
            <a:r>
              <a:rPr lang="en-US" altLang="zh-CN" dirty="0"/>
              <a:t>40 000 000</a:t>
            </a:r>
          </a:p>
          <a:p>
            <a:pPr lvl="2"/>
            <a:r>
              <a:rPr lang="en-US" altLang="zh-CN" dirty="0"/>
              <a:t>        </a:t>
            </a:r>
            <a:r>
              <a:rPr lang="zh-CN" altLang="en-US" dirty="0"/>
              <a:t>无形资产                               </a:t>
            </a:r>
            <a:r>
              <a:rPr lang="en-US" altLang="zh-CN" dirty="0"/>
              <a:t>60 000 000</a:t>
            </a:r>
          </a:p>
          <a:p>
            <a:pPr lvl="2"/>
            <a:r>
              <a:rPr lang="en-US" altLang="zh-CN" dirty="0"/>
              <a:t>        </a:t>
            </a:r>
            <a:r>
              <a:rPr lang="zh-CN" altLang="en-US" dirty="0"/>
              <a:t>贷：研发支出</a:t>
            </a:r>
            <a:r>
              <a:rPr lang="en-US" altLang="zh-CN" dirty="0"/>
              <a:t>——</a:t>
            </a:r>
            <a:r>
              <a:rPr lang="zh-CN" altLang="en-US" dirty="0"/>
              <a:t>费用化支出  </a:t>
            </a:r>
            <a:r>
              <a:rPr lang="en-US" altLang="zh-CN" dirty="0"/>
              <a:t>40 000 000</a:t>
            </a:r>
          </a:p>
          <a:p>
            <a:pPr lvl="2"/>
            <a:r>
              <a:rPr lang="en-US" altLang="zh-CN" dirty="0"/>
              <a:t>                                 ——</a:t>
            </a:r>
            <a:r>
              <a:rPr lang="zh-CN" altLang="en-US" dirty="0"/>
              <a:t>资本化支出  </a:t>
            </a:r>
            <a:r>
              <a:rPr lang="en-US" altLang="zh-CN" dirty="0"/>
              <a:t>60 000 000</a:t>
            </a:r>
          </a:p>
        </p:txBody>
      </p:sp>
    </p:spTree>
    <p:extLst>
      <p:ext uri="{BB962C8B-B14F-4D97-AF65-F5344CB8AC3E}">
        <p14:creationId xmlns:p14="http://schemas.microsoft.com/office/powerpoint/2010/main" val="29849816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三、无形资产摊销</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endParaRPr lang="en-US" altLang="zh-CN" dirty="0"/>
          </a:p>
          <a:p>
            <a:r>
              <a:rPr lang="zh-CN" altLang="en-US" dirty="0"/>
              <a:t>为什么要摊销</a:t>
            </a:r>
          </a:p>
          <a:p>
            <a:endParaRPr lang="zh-CN" altLang="en-US" dirty="0"/>
          </a:p>
          <a:p>
            <a:r>
              <a:rPr lang="zh-CN" altLang="en-US" dirty="0"/>
              <a:t> 应摊销金额</a:t>
            </a:r>
            <a:r>
              <a:rPr lang="en-US" altLang="zh-CN" dirty="0"/>
              <a:t>	=</a:t>
            </a:r>
            <a:r>
              <a:rPr lang="zh-CN" altLang="en-US" dirty="0"/>
              <a:t>成本</a:t>
            </a:r>
            <a:r>
              <a:rPr lang="en-US" altLang="zh-CN" dirty="0"/>
              <a:t>- </a:t>
            </a:r>
            <a:r>
              <a:rPr lang="zh-CN" altLang="en-US" dirty="0"/>
              <a:t>预计残值</a:t>
            </a:r>
            <a:endParaRPr lang="en-US" altLang="zh-CN" dirty="0"/>
          </a:p>
          <a:p>
            <a:pPr marL="0" indent="0">
              <a:buNone/>
            </a:pPr>
            <a:r>
              <a:rPr lang="en-US" altLang="zh-CN" dirty="0"/>
              <a:t>			 -</a:t>
            </a:r>
            <a:r>
              <a:rPr lang="zh-CN" altLang="en-US" dirty="0"/>
              <a:t>已计提的减值准备累计金额</a:t>
            </a:r>
          </a:p>
          <a:p>
            <a:r>
              <a:rPr lang="zh-CN" altLang="en-US" dirty="0"/>
              <a:t> 摊销期限</a:t>
            </a:r>
          </a:p>
          <a:p>
            <a:pPr lvl="1"/>
            <a:r>
              <a:rPr lang="zh-CN" altLang="en-US" dirty="0"/>
              <a:t>自无形资产可供使用时起，至不再作为无形资产确认为止</a:t>
            </a:r>
            <a:r>
              <a:rPr lang="zh-CN" altLang="en-US" b="1" dirty="0">
                <a:solidFill>
                  <a:srgbClr val="FF0000"/>
                </a:solidFill>
              </a:rPr>
              <a:t>（需要预计）</a:t>
            </a:r>
          </a:p>
          <a:p>
            <a:endParaRPr lang="zh-CN" altLang="en-US" dirty="0"/>
          </a:p>
        </p:txBody>
      </p:sp>
      <p:sp>
        <p:nvSpPr>
          <p:cNvPr id="5" name="矩形 4">
            <a:extLst>
              <a:ext uri="{FF2B5EF4-FFF2-40B4-BE49-F238E27FC236}">
                <a16:creationId xmlns:a16="http://schemas.microsoft.com/office/drawing/2014/main" id="{AF084B05-60F5-4A6D-AA7F-0B39A02B2441}"/>
              </a:ext>
            </a:extLst>
          </p:cNvPr>
          <p:cNvSpPr/>
          <p:nvPr/>
        </p:nvSpPr>
        <p:spPr>
          <a:xfrm>
            <a:off x="5026749" y="2084546"/>
            <a:ext cx="2520280" cy="646331"/>
          </a:xfrm>
          <a:prstGeom prst="rect">
            <a:avLst/>
          </a:prstGeom>
          <a:solidFill>
            <a:srgbClr val="0070C0"/>
          </a:solidFill>
        </p:spPr>
        <p:txBody>
          <a:bodyPr wrap="square">
            <a:spAutoFit/>
          </a:bodyPr>
          <a:lstStyle/>
          <a:p>
            <a:pPr eaLnBrk="1" hangingPunct="1"/>
            <a:r>
              <a:rPr lang="zh-CN" altLang="en-US" b="1" dirty="0">
                <a:solidFill>
                  <a:srgbClr val="FF0000"/>
                </a:solidFill>
                <a:latin typeface="方正姚体" panose="02010601030101010101" pitchFamily="2" charset="-122"/>
                <a:ea typeface="方正姚体" panose="02010601030101010101" pitchFamily="2" charset="-122"/>
              </a:rPr>
              <a:t>关于预计残值的确定        </a:t>
            </a:r>
          </a:p>
          <a:p>
            <a:pPr eaLnBrk="1" hangingPunct="1"/>
            <a:r>
              <a:rPr lang="zh-CN" altLang="en-US" b="1" dirty="0">
                <a:solidFill>
                  <a:srgbClr val="FF0000"/>
                </a:solidFill>
                <a:latin typeface="方正姚体" panose="02010601030101010101" pitchFamily="2" charset="-122"/>
                <a:ea typeface="方正姚体" panose="02010601030101010101" pitchFamily="2" charset="-122"/>
              </a:rPr>
              <a:t>   （新准则第</a:t>
            </a:r>
            <a:r>
              <a:rPr lang="en-US" altLang="zh-CN" b="1" dirty="0">
                <a:solidFill>
                  <a:srgbClr val="FF0000"/>
                </a:solidFill>
                <a:latin typeface="方正姚体" panose="02010601030101010101" pitchFamily="2" charset="-122"/>
                <a:ea typeface="方正姚体" panose="02010601030101010101" pitchFamily="2" charset="-122"/>
              </a:rPr>
              <a:t>18</a:t>
            </a:r>
            <a:r>
              <a:rPr lang="zh-CN" altLang="en-US" b="1" dirty="0">
                <a:solidFill>
                  <a:srgbClr val="FF0000"/>
                </a:solidFill>
                <a:latin typeface="方正姚体" panose="02010601030101010101" pitchFamily="2" charset="-122"/>
                <a:ea typeface="方正姚体" panose="02010601030101010101" pitchFamily="2" charset="-122"/>
              </a:rPr>
              <a:t>条）</a:t>
            </a:r>
          </a:p>
        </p:txBody>
      </p:sp>
      <p:sp>
        <p:nvSpPr>
          <p:cNvPr id="6" name="AutoShape 7">
            <a:extLst>
              <a:ext uri="{FF2B5EF4-FFF2-40B4-BE49-F238E27FC236}">
                <a16:creationId xmlns:a16="http://schemas.microsoft.com/office/drawing/2014/main" id="{04BAE003-E656-4D5D-BFCB-1D078CBB950B}"/>
              </a:ext>
            </a:extLst>
          </p:cNvPr>
          <p:cNvSpPr>
            <a:spLocks noChangeArrowheads="1"/>
          </p:cNvSpPr>
          <p:nvPr/>
        </p:nvSpPr>
        <p:spPr bwMode="auto">
          <a:xfrm rot="5569303" flipV="1">
            <a:off x="5784849" y="3044063"/>
            <a:ext cx="639544" cy="153626"/>
          </a:xfrm>
          <a:prstGeom prst="notchedRightArrow">
            <a:avLst>
              <a:gd name="adj1" fmla="val 50000"/>
              <a:gd name="adj2" fmla="val 98228"/>
            </a:avLst>
          </a:prstGeom>
          <a:solidFill>
            <a:schemeClr val="tx2"/>
          </a:solidFill>
          <a:ln w="12700" cap="sq">
            <a:solidFill>
              <a:schemeClr val="tx2"/>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latin typeface="Arial" charset="0"/>
            </a:endParaRPr>
          </a:p>
        </p:txBody>
      </p:sp>
    </p:spTree>
    <p:extLst>
      <p:ext uri="{BB962C8B-B14F-4D97-AF65-F5344CB8AC3E}">
        <p14:creationId xmlns:p14="http://schemas.microsoft.com/office/powerpoint/2010/main" val="847608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三、无形资产摊销</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（一）无形资产使用寿命的确定</a:t>
            </a:r>
            <a:endParaRPr lang="en-US" altLang="zh-CN" dirty="0"/>
          </a:p>
          <a:p>
            <a:pPr lvl="1"/>
            <a:r>
              <a:rPr lang="zh-CN" altLang="en-US" dirty="0"/>
              <a:t>使用寿命</a:t>
            </a:r>
          </a:p>
          <a:p>
            <a:pPr lvl="2"/>
            <a:r>
              <a:rPr lang="zh-CN" altLang="en-US" dirty="0"/>
              <a:t>法定寿命：受法律和合同限制</a:t>
            </a:r>
          </a:p>
          <a:p>
            <a:pPr lvl="2"/>
            <a:r>
              <a:rPr lang="zh-CN" altLang="en-US" dirty="0"/>
              <a:t>经济寿命：可以为企业带来经济寿命的年限</a:t>
            </a:r>
          </a:p>
          <a:p>
            <a:pPr lvl="1"/>
            <a:r>
              <a:rPr lang="zh-CN" altLang="en-US" dirty="0"/>
              <a:t>通常规则</a:t>
            </a:r>
          </a:p>
          <a:p>
            <a:pPr lvl="1"/>
            <a:r>
              <a:rPr lang="zh-CN" altLang="en-US" dirty="0"/>
              <a:t>确定经济寿命应考虑的因素</a:t>
            </a:r>
            <a:r>
              <a:rPr lang="en-US" altLang="zh-CN" dirty="0"/>
              <a:t>----181</a:t>
            </a:r>
            <a:r>
              <a:rPr lang="zh-CN" altLang="en-US" dirty="0"/>
              <a:t>页</a:t>
            </a:r>
          </a:p>
          <a:p>
            <a:pPr lvl="2"/>
            <a:r>
              <a:rPr lang="zh-CN" altLang="en-US" dirty="0"/>
              <a:t>产品寿命周期</a:t>
            </a:r>
          </a:p>
          <a:p>
            <a:pPr lvl="2"/>
            <a:r>
              <a:rPr lang="zh-CN" altLang="en-US" dirty="0"/>
              <a:t>技术和工艺发展</a:t>
            </a:r>
          </a:p>
          <a:p>
            <a:pPr lvl="2"/>
            <a:r>
              <a:rPr lang="zh-CN" altLang="en-US" dirty="0"/>
              <a:t>市场需求</a:t>
            </a:r>
          </a:p>
          <a:p>
            <a:pPr lvl="2"/>
            <a:r>
              <a:rPr lang="zh-CN" altLang="en-US" dirty="0"/>
              <a:t>竞争者的行动</a:t>
            </a:r>
          </a:p>
          <a:p>
            <a:pPr lvl="2"/>
            <a:r>
              <a:rPr lang="zh-CN" altLang="en-US" dirty="0"/>
              <a:t>企业预期的维护能力</a:t>
            </a:r>
          </a:p>
        </p:txBody>
      </p:sp>
    </p:spTree>
    <p:extLst>
      <p:ext uri="{BB962C8B-B14F-4D97-AF65-F5344CB8AC3E}">
        <p14:creationId xmlns:p14="http://schemas.microsoft.com/office/powerpoint/2010/main" val="254729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三、无形资产摊销</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82688" y="2017713"/>
            <a:ext cx="7772400" cy="691207"/>
          </a:xfrm>
        </p:spPr>
        <p:txBody>
          <a:bodyPr/>
          <a:lstStyle/>
          <a:p>
            <a:pPr marL="0" indent="0">
              <a:buNone/>
            </a:pPr>
            <a:endParaRPr lang="en-US" altLang="zh-CN" dirty="0"/>
          </a:p>
          <a:p>
            <a:r>
              <a:rPr lang="zh-CN" altLang="en-US" dirty="0"/>
              <a:t>（二）摊销方法</a:t>
            </a:r>
            <a:endParaRPr lang="en-US" altLang="zh-CN" dirty="0"/>
          </a:p>
          <a:p>
            <a:pPr lvl="1"/>
            <a:endParaRPr lang="en-US" altLang="zh-CN" dirty="0"/>
          </a:p>
          <a:p>
            <a:pPr lvl="1"/>
            <a:endParaRPr lang="en-US" altLang="zh-CN" dirty="0"/>
          </a:p>
          <a:p>
            <a:pPr lvl="1"/>
            <a:endParaRPr lang="en-US" altLang="zh-CN" dirty="0"/>
          </a:p>
          <a:p>
            <a:endParaRPr lang="zh-CN" altLang="en-US" dirty="0"/>
          </a:p>
        </p:txBody>
      </p:sp>
      <p:pic>
        <p:nvPicPr>
          <p:cNvPr id="6" name="Picture 10" descr="45-arrow">
            <a:extLst>
              <a:ext uri="{FF2B5EF4-FFF2-40B4-BE49-F238E27FC236}">
                <a16:creationId xmlns:a16="http://schemas.microsoft.com/office/drawing/2014/main" id="{01519458-6DE5-4C5C-858D-A49BDE701B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3365652"/>
            <a:ext cx="4667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内容占位符 2">
            <a:extLst>
              <a:ext uri="{FF2B5EF4-FFF2-40B4-BE49-F238E27FC236}">
                <a16:creationId xmlns:a16="http://schemas.microsoft.com/office/drawing/2014/main" id="{E13AEC09-E062-4BBB-A290-BD5FA4303A53}"/>
              </a:ext>
            </a:extLst>
          </p:cNvPr>
          <p:cNvSpPr txBox="1">
            <a:spLocks/>
          </p:cNvSpPr>
          <p:nvPr/>
        </p:nvSpPr>
        <p:spPr bwMode="auto">
          <a:xfrm>
            <a:off x="683568" y="4755041"/>
            <a:ext cx="6910536"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57175" indent="-257175" algn="l" rtl="0" eaLnBrk="0" fontAlgn="base" hangingPunct="0">
              <a:spcBef>
                <a:spcPct val="15000"/>
              </a:spcBef>
              <a:spcAft>
                <a:spcPct val="0"/>
              </a:spcAft>
              <a:buClr>
                <a:schemeClr val="folHlink"/>
              </a:buClr>
              <a:buSzPct val="60000"/>
              <a:buFont typeface="Wingdings" panose="05000000000000000000" pitchFamily="2" charset="2"/>
              <a:buChar char="n"/>
              <a:defRPr sz="2600" b="0">
                <a:solidFill>
                  <a:schemeClr val="tx1"/>
                </a:solidFill>
                <a:latin typeface="黑体" panose="02010609060101010101" pitchFamily="49" charset="-122"/>
                <a:ea typeface="黑体" panose="02010609060101010101" pitchFamily="49" charset="-122"/>
                <a:cs typeface="+mn-cs"/>
              </a:defRPr>
            </a:lvl1pPr>
            <a:lvl2pPr marL="557530" indent="-213995" algn="l" rtl="0" eaLnBrk="0" fontAlgn="base" hangingPunct="0">
              <a:spcBef>
                <a:spcPct val="15000"/>
              </a:spcBef>
              <a:spcAft>
                <a:spcPct val="0"/>
              </a:spcAft>
              <a:buClr>
                <a:schemeClr val="hlink"/>
              </a:buClr>
              <a:buSzPct val="55000"/>
              <a:buFont typeface="Wingdings" panose="05000000000000000000" pitchFamily="2" charset="2"/>
              <a:buChar char="n"/>
              <a:defRPr sz="2400" b="0">
                <a:solidFill>
                  <a:schemeClr val="tx1"/>
                </a:solidFill>
                <a:latin typeface="楷体_GB2312" panose="02010609030101010101" pitchFamily="49" charset="-122"/>
                <a:ea typeface="楷体_GB2312" panose="02010609030101010101" pitchFamily="49" charset="-122"/>
              </a:defRPr>
            </a:lvl2pPr>
            <a:lvl3pPr marL="857250" indent="-171450" algn="l" rtl="0" eaLnBrk="0" fontAlgn="base" hangingPunct="0">
              <a:spcBef>
                <a:spcPct val="15000"/>
              </a:spcBef>
              <a:spcAft>
                <a:spcPct val="0"/>
              </a:spcAft>
              <a:buClr>
                <a:schemeClr val="folHlink"/>
              </a:buClr>
              <a:buSzPct val="50000"/>
              <a:buFont typeface="Wingdings" panose="05000000000000000000" pitchFamily="2" charset="2"/>
              <a:buChar char="n"/>
              <a:defRPr sz="2000" b="0">
                <a:solidFill>
                  <a:schemeClr val="tx1"/>
                </a:solidFill>
                <a:latin typeface="+mn-ea"/>
                <a:ea typeface="+mn-ea"/>
              </a:defRPr>
            </a:lvl3pPr>
            <a:lvl4pPr marL="1200150" indent="-171450" algn="l" rtl="0" eaLnBrk="0" fontAlgn="base" hangingPunct="0">
              <a:spcBef>
                <a:spcPct val="15000"/>
              </a:spcBef>
              <a:spcAft>
                <a:spcPct val="0"/>
              </a:spcAft>
              <a:buClr>
                <a:schemeClr val="accent2"/>
              </a:buClr>
              <a:buSzPct val="55000"/>
              <a:buFont typeface="Wingdings" panose="05000000000000000000" pitchFamily="2" charset="2"/>
              <a:buChar char="n"/>
              <a:defRPr sz="1600" b="0">
                <a:solidFill>
                  <a:schemeClr val="tx1"/>
                </a:solidFill>
                <a:latin typeface="仿宋_GB2312" panose="02010609030101010101" pitchFamily="49" charset="-122"/>
                <a:ea typeface="仿宋_GB2312" panose="02010609030101010101" pitchFamily="49" charset="-122"/>
              </a:defRPr>
            </a:lvl4pPr>
            <a:lvl5pPr marL="1543050" indent="-171450" algn="l" rtl="0" eaLnBrk="0" fontAlgn="base" hangingPunct="0">
              <a:spcBef>
                <a:spcPct val="15000"/>
              </a:spcBef>
              <a:spcAft>
                <a:spcPct val="0"/>
              </a:spcAft>
              <a:buClr>
                <a:schemeClr val="accent1"/>
              </a:buClr>
              <a:buSzPct val="50000"/>
              <a:buFont typeface="Wingdings" panose="05000000000000000000" pitchFamily="2" charset="2"/>
              <a:buChar char="n"/>
              <a:defRPr sz="1500" b="0">
                <a:solidFill>
                  <a:schemeClr val="tx1"/>
                </a:solidFill>
                <a:latin typeface="黑体" panose="02010609060101010101" pitchFamily="49" charset="-122"/>
                <a:ea typeface="黑体" panose="02010609060101010101" pitchFamily="49" charset="-122"/>
              </a:defRPr>
            </a:lvl5pPr>
            <a:lvl6pPr marL="18859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6pPr>
            <a:lvl7pPr marL="22288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7pPr>
            <a:lvl8pPr marL="25717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8pPr>
            <a:lvl9pPr marL="29146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9pPr>
          </a:lstStyle>
          <a:p>
            <a:pPr lvl="1"/>
            <a:r>
              <a:rPr lang="zh-CN" altLang="en-US" dirty="0"/>
              <a:t>使用寿命确定：直线法、产量法等</a:t>
            </a:r>
          </a:p>
          <a:p>
            <a:pPr lvl="1"/>
            <a:r>
              <a:rPr lang="zh-CN" altLang="en-US" dirty="0"/>
              <a:t>使用寿命不确定：不摊销、直接进行减值测试</a:t>
            </a:r>
          </a:p>
          <a:p>
            <a:pPr marL="343535" lvl="1" indent="0">
              <a:buNone/>
            </a:pPr>
            <a:endParaRPr lang="en-US" altLang="zh-CN" kern="0" dirty="0"/>
          </a:p>
          <a:p>
            <a:pPr lvl="1"/>
            <a:endParaRPr lang="en-US" altLang="zh-CN" kern="0" dirty="0"/>
          </a:p>
          <a:p>
            <a:pPr lvl="1"/>
            <a:endParaRPr lang="en-US" altLang="zh-CN" kern="0" dirty="0"/>
          </a:p>
          <a:p>
            <a:pPr lvl="1"/>
            <a:endParaRPr lang="en-US" altLang="zh-CN" kern="0" dirty="0"/>
          </a:p>
          <a:p>
            <a:endParaRPr lang="zh-CN" altLang="en-US" kern="0" dirty="0"/>
          </a:p>
        </p:txBody>
      </p:sp>
      <p:sp>
        <p:nvSpPr>
          <p:cNvPr id="9" name="内容占位符 2">
            <a:extLst>
              <a:ext uri="{FF2B5EF4-FFF2-40B4-BE49-F238E27FC236}">
                <a16:creationId xmlns:a16="http://schemas.microsoft.com/office/drawing/2014/main" id="{356D8B55-859A-44BA-8E36-30B58E49249A}"/>
              </a:ext>
            </a:extLst>
          </p:cNvPr>
          <p:cNvSpPr txBox="1">
            <a:spLocks/>
          </p:cNvSpPr>
          <p:nvPr/>
        </p:nvSpPr>
        <p:spPr bwMode="auto">
          <a:xfrm>
            <a:off x="4047431" y="2069930"/>
            <a:ext cx="4896544" cy="2511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57175" indent="-257175" algn="l" rtl="0" eaLnBrk="0" fontAlgn="base" hangingPunct="0">
              <a:spcBef>
                <a:spcPct val="15000"/>
              </a:spcBef>
              <a:spcAft>
                <a:spcPct val="0"/>
              </a:spcAft>
              <a:buClr>
                <a:schemeClr val="folHlink"/>
              </a:buClr>
              <a:buSzPct val="60000"/>
              <a:buFont typeface="Wingdings" panose="05000000000000000000" pitchFamily="2" charset="2"/>
              <a:buChar char="n"/>
              <a:defRPr sz="2600" b="0">
                <a:solidFill>
                  <a:schemeClr val="tx1"/>
                </a:solidFill>
                <a:latin typeface="黑体" panose="02010609060101010101" pitchFamily="49" charset="-122"/>
                <a:ea typeface="黑体" panose="02010609060101010101" pitchFamily="49" charset="-122"/>
                <a:cs typeface="+mn-cs"/>
              </a:defRPr>
            </a:lvl1pPr>
            <a:lvl2pPr marL="557530" indent="-213995" algn="l" rtl="0" eaLnBrk="0" fontAlgn="base" hangingPunct="0">
              <a:spcBef>
                <a:spcPct val="15000"/>
              </a:spcBef>
              <a:spcAft>
                <a:spcPct val="0"/>
              </a:spcAft>
              <a:buClr>
                <a:schemeClr val="hlink"/>
              </a:buClr>
              <a:buSzPct val="55000"/>
              <a:buFont typeface="Wingdings" panose="05000000000000000000" pitchFamily="2" charset="2"/>
              <a:buChar char="n"/>
              <a:defRPr sz="2400" b="0">
                <a:solidFill>
                  <a:schemeClr val="tx1"/>
                </a:solidFill>
                <a:latin typeface="楷体_GB2312" panose="02010609030101010101" pitchFamily="49" charset="-122"/>
                <a:ea typeface="楷体_GB2312" panose="02010609030101010101" pitchFamily="49" charset="-122"/>
              </a:defRPr>
            </a:lvl2pPr>
            <a:lvl3pPr marL="857250" indent="-171450" algn="l" rtl="0" eaLnBrk="0" fontAlgn="base" hangingPunct="0">
              <a:spcBef>
                <a:spcPct val="15000"/>
              </a:spcBef>
              <a:spcAft>
                <a:spcPct val="0"/>
              </a:spcAft>
              <a:buClr>
                <a:schemeClr val="folHlink"/>
              </a:buClr>
              <a:buSzPct val="50000"/>
              <a:buFont typeface="Wingdings" panose="05000000000000000000" pitchFamily="2" charset="2"/>
              <a:buChar char="n"/>
              <a:defRPr sz="2000" b="0">
                <a:solidFill>
                  <a:schemeClr val="tx1"/>
                </a:solidFill>
                <a:latin typeface="+mn-ea"/>
                <a:ea typeface="+mn-ea"/>
              </a:defRPr>
            </a:lvl3pPr>
            <a:lvl4pPr marL="1200150" indent="-171450" algn="l" rtl="0" eaLnBrk="0" fontAlgn="base" hangingPunct="0">
              <a:spcBef>
                <a:spcPct val="15000"/>
              </a:spcBef>
              <a:spcAft>
                <a:spcPct val="0"/>
              </a:spcAft>
              <a:buClr>
                <a:schemeClr val="accent2"/>
              </a:buClr>
              <a:buSzPct val="55000"/>
              <a:buFont typeface="Wingdings" panose="05000000000000000000" pitchFamily="2" charset="2"/>
              <a:buChar char="n"/>
              <a:defRPr sz="1600" b="0">
                <a:solidFill>
                  <a:schemeClr val="tx1"/>
                </a:solidFill>
                <a:latin typeface="仿宋_GB2312" panose="02010609030101010101" pitchFamily="49" charset="-122"/>
                <a:ea typeface="仿宋_GB2312" panose="02010609030101010101" pitchFamily="49" charset="-122"/>
              </a:defRPr>
            </a:lvl4pPr>
            <a:lvl5pPr marL="1543050" indent="-171450" algn="l" rtl="0" eaLnBrk="0" fontAlgn="base" hangingPunct="0">
              <a:spcBef>
                <a:spcPct val="15000"/>
              </a:spcBef>
              <a:spcAft>
                <a:spcPct val="0"/>
              </a:spcAft>
              <a:buClr>
                <a:schemeClr val="accent1"/>
              </a:buClr>
              <a:buSzPct val="50000"/>
              <a:buFont typeface="Wingdings" panose="05000000000000000000" pitchFamily="2" charset="2"/>
              <a:buChar char="n"/>
              <a:defRPr sz="1500" b="0">
                <a:solidFill>
                  <a:schemeClr val="tx1"/>
                </a:solidFill>
                <a:latin typeface="黑体" panose="02010609060101010101" pitchFamily="49" charset="-122"/>
                <a:ea typeface="黑体" panose="02010609060101010101" pitchFamily="49" charset="-122"/>
              </a:defRPr>
            </a:lvl5pPr>
            <a:lvl6pPr marL="18859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6pPr>
            <a:lvl7pPr marL="22288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7pPr>
            <a:lvl8pPr marL="25717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8pPr>
            <a:lvl9pPr marL="29146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9pPr>
          </a:lstStyle>
          <a:p>
            <a:pPr lvl="1"/>
            <a:r>
              <a:rPr lang="zh-CN" altLang="en-US" dirty="0"/>
              <a:t>应当反映企业预期消耗该项无形资产所产生的未来经济利益的方式  </a:t>
            </a:r>
          </a:p>
          <a:p>
            <a:pPr lvl="1"/>
            <a:r>
              <a:rPr lang="zh-CN" altLang="en-US" dirty="0"/>
              <a:t>无法可靠确定消耗方式的，采用直线法摊销</a:t>
            </a:r>
          </a:p>
          <a:p>
            <a:pPr lvl="1"/>
            <a:r>
              <a:rPr lang="zh-CN" altLang="en-US" dirty="0"/>
              <a:t>一般计入管理费用</a:t>
            </a:r>
            <a:endParaRPr lang="en-US" altLang="zh-CN" kern="0" dirty="0"/>
          </a:p>
          <a:p>
            <a:pPr lvl="1"/>
            <a:endParaRPr lang="en-US" altLang="zh-CN" kern="0" dirty="0"/>
          </a:p>
          <a:p>
            <a:pPr lvl="1"/>
            <a:endParaRPr lang="en-US" altLang="zh-CN" kern="0" dirty="0"/>
          </a:p>
          <a:p>
            <a:pPr lvl="1"/>
            <a:endParaRPr lang="en-US" altLang="zh-CN" kern="0" dirty="0"/>
          </a:p>
          <a:p>
            <a:endParaRPr lang="zh-CN" altLang="en-US" kern="0" dirty="0"/>
          </a:p>
        </p:txBody>
      </p:sp>
    </p:spTree>
    <p:extLst>
      <p:ext uri="{BB962C8B-B14F-4D97-AF65-F5344CB8AC3E}">
        <p14:creationId xmlns:p14="http://schemas.microsoft.com/office/powerpoint/2010/main" val="1702659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to="" calcmode="lin" valueType="num">
                                      <p:cBhvr>
                                        <p:cTn id="7" dur="1" fill="hold"/>
                                        <p:tgtEl>
                                          <p:spTgt spid="6"/>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思考：</a:t>
            </a:r>
          </a:p>
        </p:txBody>
      </p:sp>
      <p:grpSp>
        <p:nvGrpSpPr>
          <p:cNvPr id="5" name="Group 7">
            <a:extLst>
              <a:ext uri="{FF2B5EF4-FFF2-40B4-BE49-F238E27FC236}">
                <a16:creationId xmlns:a16="http://schemas.microsoft.com/office/drawing/2014/main" id="{8A04CD3C-E0DA-4913-B550-8E2BDB22C901}"/>
              </a:ext>
            </a:extLst>
          </p:cNvPr>
          <p:cNvGrpSpPr>
            <a:grpSpLocks/>
          </p:cNvGrpSpPr>
          <p:nvPr/>
        </p:nvGrpSpPr>
        <p:grpSpPr bwMode="auto">
          <a:xfrm>
            <a:off x="1225550" y="2668588"/>
            <a:ext cx="3167063" cy="2860675"/>
            <a:chOff x="1510" y="1699"/>
            <a:chExt cx="2387" cy="2104"/>
          </a:xfrm>
        </p:grpSpPr>
        <p:pic>
          <p:nvPicPr>
            <p:cNvPr id="6" name="Picture 5" descr="DAT328_lftPuzz">
              <a:extLst>
                <a:ext uri="{FF2B5EF4-FFF2-40B4-BE49-F238E27FC236}">
                  <a16:creationId xmlns:a16="http://schemas.microsoft.com/office/drawing/2014/main" id="{A7955C5D-FD6A-4975-B3A2-E7B67AA75F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0" y="1699"/>
              <a:ext cx="2387" cy="2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0E9CB93D-E74B-4CA3-AC7A-728ECE0B02EE}"/>
                </a:ext>
              </a:extLst>
            </p:cNvPr>
            <p:cNvSpPr>
              <a:spLocks noChangeArrowheads="1"/>
            </p:cNvSpPr>
            <p:nvPr/>
          </p:nvSpPr>
          <p:spPr bwMode="auto">
            <a:xfrm>
              <a:off x="1652" y="1926"/>
              <a:ext cx="1803" cy="1526"/>
            </a:xfrm>
            <a:prstGeom prst="rect">
              <a:avLst/>
            </a:prstGeom>
            <a:noFill/>
            <a:ln w="9525">
              <a:noFill/>
              <a:miter lim="800000"/>
              <a:headEnd/>
              <a:tailEnd/>
            </a:ln>
            <a:effectLst/>
          </p:spPr>
          <p:txBody>
            <a:bodyPr lIns="0" rIns="0"/>
            <a:lstStyle/>
            <a:p>
              <a:pPr marL="217488" indent="-217488" algn="l" eaLnBrk="1" hangingPunct="1">
                <a:spcBef>
                  <a:spcPct val="20000"/>
                </a:spcBef>
                <a:buClr>
                  <a:schemeClr val="hlink"/>
                </a:buClr>
                <a:buFont typeface="Wingdings" pitchFamily="2" charset="2"/>
                <a:buNone/>
                <a:defRPr/>
              </a:pPr>
              <a:r>
                <a:rPr lang="zh-CN" altLang="en-US" sz="2400" b="1" dirty="0">
                  <a:solidFill>
                    <a:schemeClr val="bg1"/>
                  </a:solidFill>
                  <a:latin typeface="宋体" pitchFamily="2" charset="-122"/>
                </a:rPr>
                <a:t>无形资产摊销是</a:t>
              </a:r>
            </a:p>
            <a:p>
              <a:pPr marL="217488" indent="-217488" algn="l" eaLnBrk="1" hangingPunct="1">
                <a:spcBef>
                  <a:spcPct val="20000"/>
                </a:spcBef>
                <a:buClr>
                  <a:schemeClr val="hlink"/>
                </a:buClr>
                <a:buFont typeface="Wingdings" pitchFamily="2" charset="2"/>
                <a:buNone/>
                <a:defRPr/>
              </a:pPr>
              <a:r>
                <a:rPr lang="zh-CN" altLang="en-US" sz="2400" b="1" dirty="0">
                  <a:solidFill>
                    <a:schemeClr val="bg1"/>
                  </a:solidFill>
                  <a:latin typeface="宋体" pitchFamily="2" charset="-122"/>
                </a:rPr>
                <a:t>否应考虑残值？</a:t>
              </a:r>
            </a:p>
            <a:p>
              <a:pPr marL="217488" indent="-217488" algn="l" eaLnBrk="1" hangingPunct="1">
                <a:spcBef>
                  <a:spcPct val="20000"/>
                </a:spcBef>
                <a:buClr>
                  <a:schemeClr val="hlink"/>
                </a:buClr>
                <a:buFont typeface="Wingdings" pitchFamily="2" charset="2"/>
                <a:buNone/>
                <a:defRPr/>
              </a:pPr>
              <a:endParaRPr lang="en-US" altLang="zh-CN" sz="2600" dirty="0">
                <a:solidFill>
                  <a:srgbClr val="111111"/>
                </a:solidFill>
                <a:effectLst>
                  <a:outerShdw blurRad="38100" dist="38100" dir="2700000" algn="tl">
                    <a:srgbClr val="000000"/>
                  </a:outerShdw>
                </a:effectLst>
                <a:latin typeface="宋体" pitchFamily="2" charset="-122"/>
              </a:endParaRPr>
            </a:p>
          </p:txBody>
        </p:sp>
      </p:grpSp>
      <p:grpSp>
        <p:nvGrpSpPr>
          <p:cNvPr id="8" name="Group 15">
            <a:extLst>
              <a:ext uri="{FF2B5EF4-FFF2-40B4-BE49-F238E27FC236}">
                <a16:creationId xmlns:a16="http://schemas.microsoft.com/office/drawing/2014/main" id="{84D5550E-1477-4424-94A7-C7017C0D682A}"/>
              </a:ext>
            </a:extLst>
          </p:cNvPr>
          <p:cNvGrpSpPr>
            <a:grpSpLocks/>
          </p:cNvGrpSpPr>
          <p:nvPr/>
        </p:nvGrpSpPr>
        <p:grpSpPr bwMode="auto">
          <a:xfrm>
            <a:off x="4305300" y="2668588"/>
            <a:ext cx="2862263" cy="2819400"/>
            <a:chOff x="2649" y="2140"/>
            <a:chExt cx="2459" cy="1419"/>
          </a:xfrm>
        </p:grpSpPr>
        <p:pic>
          <p:nvPicPr>
            <p:cNvPr id="9" name="Picture 9" descr="DAT328_rtPuzz">
              <a:extLst>
                <a:ext uri="{FF2B5EF4-FFF2-40B4-BE49-F238E27FC236}">
                  <a16:creationId xmlns:a16="http://schemas.microsoft.com/office/drawing/2014/main" id="{23AABA9E-493C-47C8-B885-B2F6D46304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9" y="2140"/>
              <a:ext cx="2459" cy="1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10">
              <a:extLst>
                <a:ext uri="{FF2B5EF4-FFF2-40B4-BE49-F238E27FC236}">
                  <a16:creationId xmlns:a16="http://schemas.microsoft.com/office/drawing/2014/main" id="{27541A67-FC11-4DBF-9106-D0F4C609BC99}"/>
                </a:ext>
              </a:extLst>
            </p:cNvPr>
            <p:cNvSpPr>
              <a:spLocks noChangeArrowheads="1"/>
            </p:cNvSpPr>
            <p:nvPr/>
          </p:nvSpPr>
          <p:spPr bwMode="auto">
            <a:xfrm>
              <a:off x="3160" y="2283"/>
              <a:ext cx="1862" cy="1136"/>
            </a:xfrm>
            <a:prstGeom prst="rect">
              <a:avLst/>
            </a:prstGeom>
            <a:noFill/>
            <a:ln w="9525">
              <a:noFill/>
              <a:miter lim="800000"/>
              <a:headEnd/>
              <a:tailEnd/>
            </a:ln>
            <a:effectLst/>
          </p:spPr>
          <p:txBody>
            <a:bodyPr lIns="0" rIns="0"/>
            <a:lstStyle/>
            <a:p>
              <a:pPr marL="231775" indent="-231775">
                <a:defRPr/>
              </a:pPr>
              <a:r>
                <a:rPr lang="zh-CN" altLang="en-US" sz="2400" b="1" dirty="0">
                  <a:solidFill>
                    <a:schemeClr val="bg1"/>
                  </a:solidFill>
                  <a:latin typeface="宋体" pitchFamily="2" charset="-122"/>
                </a:rPr>
                <a:t>无形资产的摊销</a:t>
              </a:r>
            </a:p>
            <a:p>
              <a:pPr marL="231775" indent="-231775">
                <a:defRPr/>
              </a:pPr>
              <a:r>
                <a:rPr lang="zh-CN" altLang="en-US" sz="2400" b="1" dirty="0">
                  <a:solidFill>
                    <a:schemeClr val="bg1"/>
                  </a:solidFill>
                  <a:latin typeface="宋体" pitchFamily="2" charset="-122"/>
                </a:rPr>
                <a:t>与固定资产折旧有何区别？</a:t>
              </a:r>
            </a:p>
          </p:txBody>
        </p:sp>
      </p:grpSp>
    </p:spTree>
    <p:extLst>
      <p:ext uri="{BB962C8B-B14F-4D97-AF65-F5344CB8AC3E}">
        <p14:creationId xmlns:p14="http://schemas.microsoft.com/office/powerpoint/2010/main" val="3339072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1+#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账务处理</a:t>
            </a:r>
          </a:p>
        </p:txBody>
      </p:sp>
      <p:grpSp>
        <p:nvGrpSpPr>
          <p:cNvPr id="5" name="Group 19">
            <a:extLst>
              <a:ext uri="{FF2B5EF4-FFF2-40B4-BE49-F238E27FC236}">
                <a16:creationId xmlns:a16="http://schemas.microsoft.com/office/drawing/2014/main" id="{25FF2EB4-62E7-4127-9A5D-BE2A74EF29F8}"/>
              </a:ext>
            </a:extLst>
          </p:cNvPr>
          <p:cNvGrpSpPr>
            <a:grpSpLocks/>
          </p:cNvGrpSpPr>
          <p:nvPr/>
        </p:nvGrpSpPr>
        <p:grpSpPr bwMode="auto">
          <a:xfrm>
            <a:off x="865113" y="2331417"/>
            <a:ext cx="2646363" cy="3986213"/>
            <a:chOff x="560" y="1207"/>
            <a:chExt cx="1667" cy="2511"/>
          </a:xfrm>
        </p:grpSpPr>
        <p:sp>
          <p:nvSpPr>
            <p:cNvPr id="6" name="Text Box 2">
              <a:extLst>
                <a:ext uri="{FF2B5EF4-FFF2-40B4-BE49-F238E27FC236}">
                  <a16:creationId xmlns:a16="http://schemas.microsoft.com/office/drawing/2014/main" id="{07FEF184-1260-4D83-8A35-EEE0F2155E49}"/>
                </a:ext>
              </a:extLst>
            </p:cNvPr>
            <p:cNvSpPr txBox="1">
              <a:spLocks noChangeArrowheads="1"/>
            </p:cNvSpPr>
            <p:nvPr/>
          </p:nvSpPr>
          <p:spPr bwMode="auto">
            <a:xfrm>
              <a:off x="560" y="1207"/>
              <a:ext cx="1499"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600" dirty="0">
                  <a:solidFill>
                    <a:schemeClr val="tx2"/>
                  </a:solidFill>
                  <a:latin typeface="Times New Roman" panose="02020603050405020304" pitchFamily="18" charset="0"/>
                </a:rPr>
                <a:t>         </a:t>
              </a:r>
              <a:r>
                <a:rPr lang="zh-CN" altLang="en-US" sz="2400" dirty="0">
                  <a:solidFill>
                    <a:srgbClr val="FF9900"/>
                  </a:solidFill>
                  <a:latin typeface="Times New Roman" panose="02020603050405020304" pitchFamily="18" charset="0"/>
                </a:rPr>
                <a:t>累计摊销</a:t>
              </a:r>
            </a:p>
          </p:txBody>
        </p:sp>
        <p:grpSp>
          <p:nvGrpSpPr>
            <p:cNvPr id="7" name="Group 14">
              <a:extLst>
                <a:ext uri="{FF2B5EF4-FFF2-40B4-BE49-F238E27FC236}">
                  <a16:creationId xmlns:a16="http://schemas.microsoft.com/office/drawing/2014/main" id="{748F9C1E-7B48-4A9D-B28E-741F5BE08E89}"/>
                </a:ext>
              </a:extLst>
            </p:cNvPr>
            <p:cNvGrpSpPr>
              <a:grpSpLocks/>
            </p:cNvGrpSpPr>
            <p:nvPr/>
          </p:nvGrpSpPr>
          <p:grpSpPr bwMode="auto">
            <a:xfrm>
              <a:off x="797" y="1546"/>
              <a:ext cx="1430" cy="2172"/>
              <a:chOff x="946" y="1082"/>
              <a:chExt cx="1680" cy="2552"/>
            </a:xfrm>
          </p:grpSpPr>
          <p:sp>
            <p:nvSpPr>
              <p:cNvPr id="8" name="Line 3">
                <a:extLst>
                  <a:ext uri="{FF2B5EF4-FFF2-40B4-BE49-F238E27FC236}">
                    <a16:creationId xmlns:a16="http://schemas.microsoft.com/office/drawing/2014/main" id="{D67B5C38-60EC-470B-AB29-6E0567015755}"/>
                  </a:ext>
                </a:extLst>
              </p:cNvPr>
              <p:cNvSpPr>
                <a:spLocks noChangeShapeType="1"/>
              </p:cNvSpPr>
              <p:nvPr/>
            </p:nvSpPr>
            <p:spPr bwMode="auto">
              <a:xfrm>
                <a:off x="946" y="1082"/>
                <a:ext cx="1680" cy="0"/>
              </a:xfrm>
              <a:prstGeom prst="line">
                <a:avLst/>
              </a:prstGeom>
              <a:noFill/>
              <a:ln w="12700" cap="sq">
                <a:solidFill>
                  <a:schemeClr val="tx1"/>
                </a:solidFill>
                <a:round/>
                <a:headEnd type="none" w="sm" len="sm"/>
                <a:tailEnd type="none" w="sm" len="sm"/>
              </a:ln>
              <a:effectLst/>
            </p:spPr>
            <p:txBody>
              <a:bodyPr wrap="none"/>
              <a:lstStyle/>
              <a:p>
                <a:pPr>
                  <a:defRPr/>
                </a:pPr>
                <a:endParaRPr lang="zh-CN" altLang="en-US">
                  <a:effectLst>
                    <a:outerShdw blurRad="38100" dist="38100" dir="2700000" algn="tl">
                      <a:srgbClr val="000000">
                        <a:alpha val="43137"/>
                      </a:srgbClr>
                    </a:outerShdw>
                  </a:effectLst>
                  <a:latin typeface="Arial" charset="0"/>
                </a:endParaRPr>
              </a:p>
            </p:txBody>
          </p:sp>
          <p:sp>
            <p:nvSpPr>
              <p:cNvPr id="9" name="Line 4">
                <a:extLst>
                  <a:ext uri="{FF2B5EF4-FFF2-40B4-BE49-F238E27FC236}">
                    <a16:creationId xmlns:a16="http://schemas.microsoft.com/office/drawing/2014/main" id="{DBF1BBA3-0C2F-4C23-898E-7B815339BC58}"/>
                  </a:ext>
                </a:extLst>
              </p:cNvPr>
              <p:cNvSpPr>
                <a:spLocks noChangeShapeType="1"/>
              </p:cNvSpPr>
              <p:nvPr/>
            </p:nvSpPr>
            <p:spPr bwMode="auto">
              <a:xfrm>
                <a:off x="1770" y="1090"/>
                <a:ext cx="0" cy="2544"/>
              </a:xfrm>
              <a:prstGeom prst="line">
                <a:avLst/>
              </a:prstGeom>
              <a:noFill/>
              <a:ln w="12700" cap="sq">
                <a:solidFill>
                  <a:schemeClr val="tx2"/>
                </a:solidFill>
                <a:round/>
                <a:headEnd type="none" w="sm" len="sm"/>
                <a:tailEnd type="none" w="sm" len="sm"/>
              </a:ln>
              <a:effectLst/>
            </p:spPr>
            <p:txBody>
              <a:bodyPr wrap="none"/>
              <a:lstStyle/>
              <a:p>
                <a:pPr>
                  <a:defRPr/>
                </a:pPr>
                <a:endParaRPr lang="zh-CN" altLang="en-US" dirty="0">
                  <a:effectLst>
                    <a:outerShdw blurRad="38100" dist="38100" dir="2700000" algn="tl">
                      <a:srgbClr val="000000">
                        <a:alpha val="43137"/>
                      </a:srgbClr>
                    </a:outerShdw>
                  </a:effectLst>
                  <a:latin typeface="Arial" charset="0"/>
                </a:endParaRPr>
              </a:p>
            </p:txBody>
          </p:sp>
        </p:grpSp>
      </p:grpSp>
      <p:grpSp>
        <p:nvGrpSpPr>
          <p:cNvPr id="10" name="Group 21">
            <a:extLst>
              <a:ext uri="{FF2B5EF4-FFF2-40B4-BE49-F238E27FC236}">
                <a16:creationId xmlns:a16="http://schemas.microsoft.com/office/drawing/2014/main" id="{86C8DE94-5729-4CF1-8BBD-A8F8CA4AD6AF}"/>
              </a:ext>
            </a:extLst>
          </p:cNvPr>
          <p:cNvGrpSpPr>
            <a:grpSpLocks/>
          </p:cNvGrpSpPr>
          <p:nvPr/>
        </p:nvGrpSpPr>
        <p:grpSpPr bwMode="auto">
          <a:xfrm>
            <a:off x="5364088" y="2348880"/>
            <a:ext cx="2895600" cy="1733550"/>
            <a:chOff x="3300" y="945"/>
            <a:chExt cx="1824" cy="1092"/>
          </a:xfrm>
        </p:grpSpPr>
        <p:sp>
          <p:nvSpPr>
            <p:cNvPr id="11" name="Text Box 5">
              <a:extLst>
                <a:ext uri="{FF2B5EF4-FFF2-40B4-BE49-F238E27FC236}">
                  <a16:creationId xmlns:a16="http://schemas.microsoft.com/office/drawing/2014/main" id="{A80AD4C1-CFA2-456C-A12F-6E95181D9FD5}"/>
                </a:ext>
              </a:extLst>
            </p:cNvPr>
            <p:cNvSpPr txBox="1">
              <a:spLocks noChangeArrowheads="1"/>
            </p:cNvSpPr>
            <p:nvPr/>
          </p:nvSpPr>
          <p:spPr bwMode="auto">
            <a:xfrm>
              <a:off x="3300" y="945"/>
              <a:ext cx="18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dirty="0">
                  <a:solidFill>
                    <a:srgbClr val="00B0F0"/>
                  </a:solidFill>
                  <a:latin typeface="Times New Roman" panose="02020603050405020304" pitchFamily="18" charset="0"/>
                </a:rPr>
                <a:t>       </a:t>
              </a:r>
              <a:r>
                <a:rPr lang="zh-CN" altLang="en-US" sz="2400" dirty="0">
                  <a:solidFill>
                    <a:srgbClr val="00B0F0"/>
                  </a:solidFill>
                  <a:latin typeface="Times New Roman" panose="02020603050405020304" pitchFamily="18" charset="0"/>
                </a:rPr>
                <a:t>管理费用等</a:t>
              </a:r>
            </a:p>
          </p:txBody>
        </p:sp>
        <p:grpSp>
          <p:nvGrpSpPr>
            <p:cNvPr id="12" name="Group 15">
              <a:extLst>
                <a:ext uri="{FF2B5EF4-FFF2-40B4-BE49-F238E27FC236}">
                  <a16:creationId xmlns:a16="http://schemas.microsoft.com/office/drawing/2014/main" id="{EA9778DB-BB11-47BC-A421-F793FF833F66}"/>
                </a:ext>
              </a:extLst>
            </p:cNvPr>
            <p:cNvGrpSpPr>
              <a:grpSpLocks/>
            </p:cNvGrpSpPr>
            <p:nvPr/>
          </p:nvGrpSpPr>
          <p:grpSpPr bwMode="auto">
            <a:xfrm>
              <a:off x="3432" y="1269"/>
              <a:ext cx="1344" cy="768"/>
              <a:chOff x="3656" y="1103"/>
              <a:chExt cx="1344" cy="768"/>
            </a:xfrm>
          </p:grpSpPr>
          <p:sp>
            <p:nvSpPr>
              <p:cNvPr id="13" name="Line 6">
                <a:extLst>
                  <a:ext uri="{FF2B5EF4-FFF2-40B4-BE49-F238E27FC236}">
                    <a16:creationId xmlns:a16="http://schemas.microsoft.com/office/drawing/2014/main" id="{53C8C993-FE06-40A5-8CE0-33C11CEFBDBC}"/>
                  </a:ext>
                </a:extLst>
              </p:cNvPr>
              <p:cNvSpPr>
                <a:spLocks noChangeShapeType="1"/>
              </p:cNvSpPr>
              <p:nvPr/>
            </p:nvSpPr>
            <p:spPr bwMode="auto">
              <a:xfrm>
                <a:off x="3656" y="1104"/>
                <a:ext cx="1344" cy="0"/>
              </a:xfrm>
              <a:prstGeom prst="line">
                <a:avLst/>
              </a:prstGeom>
              <a:noFill/>
              <a:ln w="12700" cap="sq">
                <a:solidFill>
                  <a:schemeClr val="tx2"/>
                </a:solidFill>
                <a:round/>
                <a:headEnd type="none" w="sm" len="sm"/>
                <a:tailEnd type="none" w="sm" len="sm"/>
              </a:ln>
              <a:effectLst/>
            </p:spPr>
            <p:txBody>
              <a:bodyPr wrap="none"/>
              <a:lstStyle/>
              <a:p>
                <a:pPr>
                  <a:defRPr/>
                </a:pPr>
                <a:endParaRPr lang="zh-CN" altLang="en-US">
                  <a:effectLst>
                    <a:outerShdw blurRad="38100" dist="38100" dir="2700000" algn="tl">
                      <a:srgbClr val="000000">
                        <a:alpha val="43137"/>
                      </a:srgbClr>
                    </a:outerShdw>
                  </a:effectLst>
                  <a:latin typeface="Arial" charset="0"/>
                </a:endParaRPr>
              </a:p>
            </p:txBody>
          </p:sp>
          <p:sp>
            <p:nvSpPr>
              <p:cNvPr id="14" name="Line 7">
                <a:extLst>
                  <a:ext uri="{FF2B5EF4-FFF2-40B4-BE49-F238E27FC236}">
                    <a16:creationId xmlns:a16="http://schemas.microsoft.com/office/drawing/2014/main" id="{476A63D7-E3E2-42A4-813B-D56F7A07C2EB}"/>
                  </a:ext>
                </a:extLst>
              </p:cNvPr>
              <p:cNvSpPr>
                <a:spLocks noChangeShapeType="1"/>
              </p:cNvSpPr>
              <p:nvPr/>
            </p:nvSpPr>
            <p:spPr bwMode="auto">
              <a:xfrm>
                <a:off x="4345" y="1103"/>
                <a:ext cx="0" cy="768"/>
              </a:xfrm>
              <a:prstGeom prst="line">
                <a:avLst/>
              </a:prstGeom>
              <a:noFill/>
              <a:ln w="12700" cap="sq">
                <a:solidFill>
                  <a:schemeClr val="tx2"/>
                </a:solidFill>
                <a:round/>
                <a:headEnd type="none" w="sm" len="sm"/>
                <a:tailEnd type="none" w="sm" len="sm"/>
              </a:ln>
              <a:effectLst/>
            </p:spPr>
            <p:txBody>
              <a:bodyPr wrap="none"/>
              <a:lstStyle/>
              <a:p>
                <a:pPr>
                  <a:defRPr/>
                </a:pPr>
                <a:endParaRPr lang="zh-CN" altLang="en-US">
                  <a:effectLst>
                    <a:outerShdw blurRad="38100" dist="38100" dir="2700000" algn="tl">
                      <a:srgbClr val="000000">
                        <a:alpha val="43137"/>
                      </a:srgbClr>
                    </a:outerShdw>
                  </a:effectLst>
                  <a:latin typeface="Arial" charset="0"/>
                </a:endParaRPr>
              </a:p>
            </p:txBody>
          </p:sp>
        </p:grpSp>
      </p:grpSp>
      <p:sp>
        <p:nvSpPr>
          <p:cNvPr id="15" name="AutoShape 22">
            <a:extLst>
              <a:ext uri="{FF2B5EF4-FFF2-40B4-BE49-F238E27FC236}">
                <a16:creationId xmlns:a16="http://schemas.microsoft.com/office/drawing/2014/main" id="{D8BA948E-819F-45A2-B703-C501B9BC3E03}"/>
              </a:ext>
            </a:extLst>
          </p:cNvPr>
          <p:cNvSpPr>
            <a:spLocks noChangeArrowheads="1"/>
          </p:cNvSpPr>
          <p:nvPr/>
        </p:nvSpPr>
        <p:spPr bwMode="auto">
          <a:xfrm>
            <a:off x="3670226" y="3429967"/>
            <a:ext cx="2019300" cy="188913"/>
          </a:xfrm>
          <a:prstGeom prst="leftRightArrow">
            <a:avLst>
              <a:gd name="adj1" fmla="val 50000"/>
              <a:gd name="adj2" fmla="val 213781"/>
            </a:avLst>
          </a:prstGeom>
          <a:gradFill rotWithShape="1">
            <a:gsLst>
              <a:gs pos="0">
                <a:srgbClr val="00FF00"/>
              </a:gs>
              <a:gs pos="50000">
                <a:srgbClr val="00FF00">
                  <a:gamma/>
                  <a:shade val="46275"/>
                  <a:invGamma/>
                </a:srgbClr>
              </a:gs>
              <a:gs pos="100000">
                <a:srgbClr val="00FF00"/>
              </a:gs>
            </a:gsLst>
            <a:lin ang="5400000" scaled="1"/>
          </a:gradFill>
          <a:ln w="12700" cap="sq" algn="ctr">
            <a:solidFill>
              <a:schemeClr val="tx1"/>
            </a:solidFill>
            <a:miter lim="800000"/>
            <a:headEnd type="none" w="sm" len="sm"/>
            <a:tailEnd type="none" w="sm" len="sm"/>
          </a:ln>
          <a:effectLst/>
        </p:spPr>
        <p:txBody>
          <a:bodyPr wrap="none" anchor="ctr"/>
          <a:lstStyle/>
          <a:p>
            <a:pPr>
              <a:defRPr/>
            </a:pPr>
            <a:endParaRPr lang="zh-CN" altLang="en-US">
              <a:effectLst>
                <a:outerShdw blurRad="38100" dist="38100" dir="2700000" algn="tl">
                  <a:srgbClr val="000000">
                    <a:alpha val="43137"/>
                  </a:srgbClr>
                </a:outerShdw>
              </a:effectLst>
              <a:latin typeface="Arial" charset="0"/>
            </a:endParaRPr>
          </a:p>
        </p:txBody>
      </p:sp>
    </p:spTree>
    <p:extLst>
      <p:ext uri="{BB962C8B-B14F-4D97-AF65-F5344CB8AC3E}">
        <p14:creationId xmlns:p14="http://schemas.microsoft.com/office/powerpoint/2010/main" val="4200974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endParaRPr lang="zh-CN" altLang="en-US" dirty="0"/>
          </a:p>
          <a:p>
            <a:r>
              <a:rPr lang="en-US" altLang="zh-CN" dirty="0"/>
              <a:t>【</a:t>
            </a:r>
            <a:r>
              <a:rPr lang="zh-CN" altLang="en-US" dirty="0"/>
              <a:t>示例</a:t>
            </a:r>
            <a:r>
              <a:rPr lang="en-US" altLang="zh-CN" dirty="0"/>
              <a:t>】2×20</a:t>
            </a:r>
            <a:r>
              <a:rPr lang="zh-CN" altLang="en-US" dirty="0"/>
              <a:t>年</a:t>
            </a:r>
            <a:r>
              <a:rPr lang="en-US" altLang="zh-CN" dirty="0"/>
              <a:t>1</a:t>
            </a:r>
            <a:r>
              <a:rPr lang="zh-CN" altLang="en-US" dirty="0"/>
              <a:t>月</a:t>
            </a:r>
            <a:r>
              <a:rPr lang="en-US" altLang="zh-CN" dirty="0"/>
              <a:t>1</a:t>
            </a:r>
            <a:r>
              <a:rPr lang="zh-CN" altLang="en-US" dirty="0"/>
              <a:t>日，</a:t>
            </a:r>
            <a:r>
              <a:rPr lang="en-US" altLang="zh-CN" dirty="0"/>
              <a:t>A</a:t>
            </a:r>
            <a:r>
              <a:rPr lang="zh-CN" altLang="en-US" dirty="0"/>
              <a:t>公司从外单位购得一项非专利技术，支付价款</a:t>
            </a:r>
            <a:r>
              <a:rPr lang="en-US" altLang="zh-CN" dirty="0"/>
              <a:t>5 000</a:t>
            </a:r>
            <a:r>
              <a:rPr lang="zh-CN" altLang="en-US" dirty="0"/>
              <a:t>万元，款项已支付，估计该项非专利技术的使用寿命为</a:t>
            </a:r>
            <a:r>
              <a:rPr lang="en-US" altLang="zh-CN" dirty="0"/>
              <a:t>10</a:t>
            </a:r>
            <a:r>
              <a:rPr lang="zh-CN" altLang="en-US" dirty="0"/>
              <a:t>年，该项非专利技术用于产品生产；同时，购入一项商标权，支付价款</a:t>
            </a:r>
            <a:r>
              <a:rPr lang="en-US" altLang="zh-CN" dirty="0"/>
              <a:t>3 000</a:t>
            </a:r>
            <a:r>
              <a:rPr lang="zh-CN" altLang="en-US" dirty="0"/>
              <a:t>万元，款项已支付，估计该商标权的使用寿命为</a:t>
            </a:r>
            <a:r>
              <a:rPr lang="en-US" altLang="zh-CN" dirty="0"/>
              <a:t>15</a:t>
            </a:r>
            <a:r>
              <a:rPr lang="zh-CN" altLang="en-US" dirty="0"/>
              <a:t>年。假定这两项无形资产的净残值均为零，并按直线法摊销。购入和摊销时应如何进行账务处理？ </a:t>
            </a:r>
          </a:p>
        </p:txBody>
      </p:sp>
    </p:spTree>
    <p:extLst>
      <p:ext uri="{BB962C8B-B14F-4D97-AF65-F5344CB8AC3E}">
        <p14:creationId xmlns:p14="http://schemas.microsoft.com/office/powerpoint/2010/main" val="35217262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 </a:t>
            </a:r>
            <a:r>
              <a:rPr lang="en-US" altLang="zh-CN" dirty="0"/>
              <a:t>A</a:t>
            </a:r>
            <a:r>
              <a:rPr lang="zh-CN" altLang="en-US" dirty="0"/>
              <a:t>公司的账务处理如下：</a:t>
            </a:r>
          </a:p>
          <a:p>
            <a:pPr lvl="1"/>
            <a:r>
              <a:rPr lang="zh-CN" altLang="en-US" dirty="0"/>
              <a:t>（</a:t>
            </a:r>
            <a:r>
              <a:rPr lang="en-US" altLang="zh-CN" dirty="0"/>
              <a:t>1</a:t>
            </a:r>
            <a:r>
              <a:rPr lang="zh-CN" altLang="en-US" dirty="0"/>
              <a:t>）取得无形资产时：</a:t>
            </a:r>
          </a:p>
          <a:p>
            <a:pPr lvl="2"/>
            <a:r>
              <a:rPr lang="zh-CN" altLang="en-US" dirty="0"/>
              <a:t>借：无形资产</a:t>
            </a:r>
            <a:r>
              <a:rPr lang="en-US" altLang="zh-CN" dirty="0"/>
              <a:t>——</a:t>
            </a:r>
            <a:r>
              <a:rPr lang="zh-CN" altLang="en-US" dirty="0"/>
              <a:t>非专利技术 </a:t>
            </a:r>
            <a:r>
              <a:rPr lang="en-US" altLang="zh-CN" dirty="0"/>
              <a:t>50 000 000</a:t>
            </a:r>
          </a:p>
          <a:p>
            <a:pPr lvl="2"/>
            <a:r>
              <a:rPr lang="en-US" altLang="zh-CN" dirty="0"/>
              <a:t>                        ——</a:t>
            </a:r>
            <a:r>
              <a:rPr lang="zh-CN" altLang="en-US" dirty="0"/>
              <a:t>商标权           </a:t>
            </a:r>
            <a:r>
              <a:rPr lang="en-US" altLang="zh-CN" dirty="0"/>
              <a:t>30 000000</a:t>
            </a:r>
          </a:p>
          <a:p>
            <a:pPr lvl="2"/>
            <a:r>
              <a:rPr lang="en-US" altLang="zh-CN" dirty="0"/>
              <a:t>        </a:t>
            </a:r>
            <a:r>
              <a:rPr lang="zh-CN" altLang="en-US" dirty="0"/>
              <a:t>贷：银行存款                               </a:t>
            </a:r>
            <a:r>
              <a:rPr lang="en-US" altLang="zh-CN" dirty="0"/>
              <a:t>80 000 000</a:t>
            </a:r>
          </a:p>
          <a:p>
            <a:pPr lvl="1"/>
            <a:r>
              <a:rPr lang="zh-CN" altLang="en-US" dirty="0"/>
              <a:t>（</a:t>
            </a:r>
            <a:r>
              <a:rPr lang="en-US" altLang="zh-CN" dirty="0"/>
              <a:t>2</a:t>
            </a:r>
            <a:r>
              <a:rPr lang="zh-CN" altLang="en-US" dirty="0"/>
              <a:t>）按年摊销时：</a:t>
            </a:r>
          </a:p>
          <a:p>
            <a:pPr lvl="2"/>
            <a:r>
              <a:rPr lang="zh-CN" altLang="en-US" dirty="0"/>
              <a:t>    借：制造费用</a:t>
            </a:r>
            <a:r>
              <a:rPr lang="en-US" altLang="zh-CN" dirty="0"/>
              <a:t>——</a:t>
            </a:r>
            <a:r>
              <a:rPr lang="zh-CN" altLang="en-US" dirty="0"/>
              <a:t>非专利技术 </a:t>
            </a:r>
            <a:r>
              <a:rPr lang="en-US" altLang="zh-CN" dirty="0"/>
              <a:t>5 000 000</a:t>
            </a:r>
          </a:p>
          <a:p>
            <a:pPr lvl="2"/>
            <a:r>
              <a:rPr lang="en-US" altLang="zh-CN" dirty="0"/>
              <a:t>            </a:t>
            </a:r>
            <a:r>
              <a:rPr lang="zh-CN" altLang="en-US" dirty="0"/>
              <a:t>管理费用</a:t>
            </a:r>
            <a:r>
              <a:rPr lang="en-US" altLang="zh-CN" dirty="0"/>
              <a:t>——</a:t>
            </a:r>
            <a:r>
              <a:rPr lang="zh-CN" altLang="en-US" dirty="0"/>
              <a:t>商标权          </a:t>
            </a:r>
            <a:r>
              <a:rPr lang="en-US" altLang="zh-CN" dirty="0"/>
              <a:t>2 000 000</a:t>
            </a:r>
          </a:p>
          <a:p>
            <a:pPr lvl="2"/>
            <a:r>
              <a:rPr lang="en-US" altLang="zh-CN" dirty="0"/>
              <a:t>            </a:t>
            </a:r>
            <a:r>
              <a:rPr lang="zh-CN" altLang="en-US" dirty="0"/>
              <a:t>贷：累计摊销                               </a:t>
            </a:r>
            <a:r>
              <a:rPr lang="en-US" altLang="zh-CN" dirty="0"/>
              <a:t>7 000 000</a:t>
            </a:r>
          </a:p>
        </p:txBody>
      </p:sp>
    </p:spTree>
    <p:extLst>
      <p:ext uri="{BB962C8B-B14F-4D97-AF65-F5344CB8AC3E}">
        <p14:creationId xmlns:p14="http://schemas.microsoft.com/office/powerpoint/2010/main" val="40052984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四、无形资产的出租和处置</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001290" y="2132856"/>
            <a:ext cx="8141840" cy="4114800"/>
          </a:xfrm>
        </p:spPr>
        <p:txBody>
          <a:bodyPr/>
          <a:lstStyle/>
          <a:p>
            <a:r>
              <a:rPr lang="zh-CN" altLang="en-US" dirty="0"/>
              <a:t>出租：</a:t>
            </a:r>
            <a:endParaRPr lang="en-US" altLang="zh-CN" dirty="0"/>
          </a:p>
          <a:p>
            <a:pPr lvl="1"/>
            <a:r>
              <a:rPr lang="zh-CN" altLang="en-US" dirty="0"/>
              <a:t>将所拥有的无形资产的使用权让渡给他人并收取租金。</a:t>
            </a:r>
          </a:p>
        </p:txBody>
      </p:sp>
      <p:sp>
        <p:nvSpPr>
          <p:cNvPr id="4" name="Rectangle 4">
            <a:extLst>
              <a:ext uri="{FF2B5EF4-FFF2-40B4-BE49-F238E27FC236}">
                <a16:creationId xmlns:a16="http://schemas.microsoft.com/office/drawing/2014/main" id="{B3222B58-930F-40B5-8438-94190F16900F}"/>
              </a:ext>
            </a:extLst>
          </p:cNvPr>
          <p:cNvSpPr>
            <a:spLocks noChangeArrowheads="1"/>
          </p:cNvSpPr>
          <p:nvPr/>
        </p:nvSpPr>
        <p:spPr bwMode="auto">
          <a:xfrm>
            <a:off x="1619672" y="3419384"/>
            <a:ext cx="6523038" cy="895350"/>
          </a:xfrm>
          <a:prstGeom prst="rect">
            <a:avLst/>
          </a:prstGeom>
          <a:solidFill>
            <a:srgbClr val="0070C0">
              <a:alpha val="50195"/>
            </a:srgbClr>
          </a:solidFill>
          <a:ln w="9525">
            <a:miter lim="800000"/>
            <a:headEnd/>
            <a:tailEnd/>
          </a:ln>
          <a:scene3d>
            <a:camera prst="legacyObliqueBottomLeft"/>
            <a:lightRig rig="legacyFlat3" dir="t"/>
          </a:scene3d>
          <a:sp3d extrusionH="430200" prstMaterial="legacyMatte">
            <a:bevelT w="13500" h="13500" prst="angle"/>
            <a:bevelB w="13500" h="13500" prst="angle"/>
            <a:extrusionClr>
              <a:schemeClr val="hlink"/>
            </a:extrusionClr>
            <a:contourClr>
              <a:schemeClr val="hlink"/>
            </a:contourClr>
          </a:sp3d>
        </p:spPr>
        <p:txBody>
          <a:bodyPr anchor="ctr" anchorCtr="1">
            <a:flatTx/>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a:spcBef>
                <a:spcPct val="30000"/>
              </a:spcBef>
            </a:pPr>
            <a:r>
              <a:rPr lang="zh-CN" altLang="en-US" sz="2400" dirty="0">
                <a:solidFill>
                  <a:srgbClr val="FFFF00"/>
                </a:solidFill>
              </a:rPr>
              <a:t>相关收入</a:t>
            </a:r>
            <a:r>
              <a:rPr lang="en-US" altLang="zh-CN" sz="2400" dirty="0">
                <a:solidFill>
                  <a:srgbClr val="FF9900"/>
                </a:solidFill>
                <a:latin typeface="宋体" panose="02010600030101010101" pitchFamily="2" charset="-122"/>
              </a:rPr>
              <a:t>——“</a:t>
            </a:r>
            <a:r>
              <a:rPr lang="zh-CN" altLang="en-US" sz="2400" dirty="0">
                <a:solidFill>
                  <a:srgbClr val="FF9900"/>
                </a:solidFill>
              </a:rPr>
              <a:t>其他业务收入</a:t>
            </a:r>
            <a:r>
              <a:rPr lang="zh-CN" altLang="en-US" sz="2400" dirty="0">
                <a:solidFill>
                  <a:srgbClr val="FF9900"/>
                </a:solidFill>
                <a:latin typeface="宋体" panose="02010600030101010101" pitchFamily="2" charset="-122"/>
              </a:rPr>
              <a:t>”</a:t>
            </a:r>
            <a:r>
              <a:rPr lang="zh-CN" altLang="en-US" sz="2400" dirty="0">
                <a:solidFill>
                  <a:schemeClr val="tx2"/>
                </a:solidFill>
              </a:rPr>
              <a:t>账户</a:t>
            </a:r>
          </a:p>
        </p:txBody>
      </p:sp>
      <p:sp>
        <p:nvSpPr>
          <p:cNvPr id="5" name="Rectangle 6">
            <a:extLst>
              <a:ext uri="{FF2B5EF4-FFF2-40B4-BE49-F238E27FC236}">
                <a16:creationId xmlns:a16="http://schemas.microsoft.com/office/drawing/2014/main" id="{50EE9E2B-C6AB-4FEA-92F0-60CE641D2122}"/>
              </a:ext>
            </a:extLst>
          </p:cNvPr>
          <p:cNvSpPr>
            <a:spLocks noChangeArrowheads="1"/>
          </p:cNvSpPr>
          <p:nvPr/>
        </p:nvSpPr>
        <p:spPr bwMode="auto">
          <a:xfrm>
            <a:off x="1672060" y="4834783"/>
            <a:ext cx="6400800" cy="908050"/>
          </a:xfrm>
          <a:prstGeom prst="rect">
            <a:avLst/>
          </a:prstGeom>
          <a:solidFill>
            <a:srgbClr val="0070C0">
              <a:alpha val="61176"/>
            </a:srgbClr>
          </a:solidFill>
          <a:ln w="9525">
            <a:miter lim="800000"/>
            <a:headEnd/>
            <a:tailEnd/>
          </a:ln>
          <a:scene3d>
            <a:camera prst="legacyObliqueBottomLeft"/>
            <a:lightRig rig="legacyFlat3" dir="t"/>
          </a:scene3d>
          <a:sp3d extrusionH="430200" prstMaterial="legacyMatte">
            <a:bevelT w="13500" h="13500" prst="angle"/>
            <a:bevelB w="13500" h="13500" prst="angle"/>
            <a:extrusionClr>
              <a:schemeClr val="accent2"/>
            </a:extrusionClr>
            <a:contourClr>
              <a:schemeClr val="accent2"/>
            </a:contourClr>
          </a:sp3d>
        </p:spPr>
        <p:txBody>
          <a:bodyPr anchor="ctr" anchorCtr="1">
            <a:flatTx/>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algn="l" eaLnBrk="1" hangingPunct="1">
              <a:spcBef>
                <a:spcPct val="20000"/>
              </a:spcBef>
              <a:buClr>
                <a:schemeClr val="hlink"/>
              </a:buClr>
              <a:buFont typeface="Wingdings" panose="05000000000000000000" pitchFamily="2" charset="2"/>
              <a:buNone/>
            </a:pPr>
            <a:r>
              <a:rPr lang="zh-CN" altLang="en-US" sz="2400" dirty="0">
                <a:solidFill>
                  <a:srgbClr val="FFFF00"/>
                </a:solidFill>
                <a:latin typeface="宋体" panose="02010600030101010101" pitchFamily="2" charset="-122"/>
              </a:rPr>
              <a:t>相关费用</a:t>
            </a:r>
            <a:r>
              <a:rPr lang="en-US" altLang="zh-CN" sz="2400" dirty="0">
                <a:solidFill>
                  <a:srgbClr val="FF9900"/>
                </a:solidFill>
                <a:latin typeface="宋体" panose="02010600030101010101" pitchFamily="2" charset="-122"/>
              </a:rPr>
              <a:t>-----“</a:t>
            </a:r>
            <a:r>
              <a:rPr lang="zh-CN" altLang="en-US" sz="2400" dirty="0">
                <a:solidFill>
                  <a:srgbClr val="FF9900"/>
                </a:solidFill>
                <a:latin typeface="宋体" panose="02010600030101010101" pitchFamily="2" charset="-122"/>
              </a:rPr>
              <a:t>其他业务成本”</a:t>
            </a:r>
            <a:r>
              <a:rPr lang="zh-CN" altLang="en-US" sz="2400" dirty="0">
                <a:solidFill>
                  <a:schemeClr val="tx2"/>
                </a:solidFill>
                <a:latin typeface="宋体" panose="02010600030101010101" pitchFamily="2" charset="-122"/>
              </a:rPr>
              <a:t>账户</a:t>
            </a:r>
          </a:p>
        </p:txBody>
      </p:sp>
    </p:spTree>
    <p:extLst>
      <p:ext uri="{BB962C8B-B14F-4D97-AF65-F5344CB8AC3E}">
        <p14:creationId xmlns:p14="http://schemas.microsoft.com/office/powerpoint/2010/main" val="1697646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amond(in)">
                                      <p:cBhvr>
                                        <p:cTn id="1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四、无形资产的出租和处置</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无形资产的出售</a:t>
            </a:r>
          </a:p>
        </p:txBody>
      </p:sp>
      <p:grpSp>
        <p:nvGrpSpPr>
          <p:cNvPr id="4" name="Group 16">
            <a:extLst>
              <a:ext uri="{FF2B5EF4-FFF2-40B4-BE49-F238E27FC236}">
                <a16:creationId xmlns:a16="http://schemas.microsoft.com/office/drawing/2014/main" id="{BADC6E9B-CBEF-423B-BBD5-0CB6B54BAAFF}"/>
              </a:ext>
            </a:extLst>
          </p:cNvPr>
          <p:cNvGrpSpPr>
            <a:grpSpLocks/>
          </p:cNvGrpSpPr>
          <p:nvPr/>
        </p:nvGrpSpPr>
        <p:grpSpPr bwMode="auto">
          <a:xfrm>
            <a:off x="1043608" y="2924944"/>
            <a:ext cx="3108325" cy="3470275"/>
            <a:chOff x="945" y="1163"/>
            <a:chExt cx="1420" cy="2706"/>
          </a:xfrm>
        </p:grpSpPr>
        <p:sp>
          <p:nvSpPr>
            <p:cNvPr id="5" name="Rectangle 4">
              <a:extLst>
                <a:ext uri="{FF2B5EF4-FFF2-40B4-BE49-F238E27FC236}">
                  <a16:creationId xmlns:a16="http://schemas.microsoft.com/office/drawing/2014/main" id="{7F9E71DE-1853-4177-A4CC-BC204F2B5331}"/>
                </a:ext>
              </a:extLst>
            </p:cNvPr>
            <p:cNvSpPr>
              <a:spLocks noChangeArrowheads="1"/>
            </p:cNvSpPr>
            <p:nvPr/>
          </p:nvSpPr>
          <p:spPr bwMode="auto">
            <a:xfrm>
              <a:off x="974" y="1163"/>
              <a:ext cx="1344" cy="576"/>
            </a:xfrm>
            <a:prstGeom prst="rect">
              <a:avLst/>
            </a:prstGeom>
            <a:solidFill>
              <a:srgbClr val="66FF33"/>
            </a:solidFill>
            <a:ln w="9525">
              <a:miter lim="800000"/>
              <a:headEnd/>
              <a:tailEnd/>
            </a:ln>
            <a:scene3d>
              <a:camera prst="legacyObliqueTopLeft"/>
              <a:lightRig rig="legacyFlat3" dir="t"/>
            </a:scene3d>
            <a:sp3d extrusionH="430200" prstMaterial="legacyMatte">
              <a:bevelT w="13500" h="13500" prst="angle"/>
              <a:bevelB w="13500" h="13500" prst="angle"/>
              <a:extrusionClr>
                <a:srgbClr val="66FF33"/>
              </a:extrusionClr>
              <a:contourClr>
                <a:srgbClr val="66FF33"/>
              </a:contourClr>
            </a:sp3d>
          </p:spPr>
          <p:txBody>
            <a:bodyPr wrap="none" anchor="ctr">
              <a:flatTx/>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eaLnBrk="1" hangingPunct="1"/>
              <a:r>
                <a:rPr lang="zh-CN" altLang="en-US" sz="2000">
                  <a:solidFill>
                    <a:srgbClr val="111111"/>
                  </a:solidFill>
                </a:rPr>
                <a:t>所得价款</a:t>
              </a:r>
            </a:p>
          </p:txBody>
        </p:sp>
        <p:sp>
          <p:nvSpPr>
            <p:cNvPr id="6" name="Rectangle 6">
              <a:extLst>
                <a:ext uri="{FF2B5EF4-FFF2-40B4-BE49-F238E27FC236}">
                  <a16:creationId xmlns:a16="http://schemas.microsoft.com/office/drawing/2014/main" id="{20452189-22CE-4B03-8DDD-D899554D40ED}"/>
                </a:ext>
              </a:extLst>
            </p:cNvPr>
            <p:cNvSpPr>
              <a:spLocks noChangeArrowheads="1"/>
            </p:cNvSpPr>
            <p:nvPr/>
          </p:nvSpPr>
          <p:spPr bwMode="auto">
            <a:xfrm>
              <a:off x="956" y="2565"/>
              <a:ext cx="1401" cy="539"/>
            </a:xfrm>
            <a:prstGeom prst="rect">
              <a:avLst/>
            </a:prstGeom>
            <a:solidFill>
              <a:srgbClr val="FFFFCC"/>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FFFFCC"/>
              </a:extrusionClr>
              <a:contourClr>
                <a:srgbClr val="FFFFCC"/>
              </a:contourClr>
            </a:sp3d>
          </p:spPr>
          <p:txBody>
            <a:bodyPr wrap="none" anchor="ctr">
              <a:flatTx/>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eaLnBrk="1" hangingPunct="1"/>
              <a:r>
                <a:rPr lang="en-US" altLang="zh-CN" sz="2000">
                  <a:solidFill>
                    <a:srgbClr val="111111"/>
                  </a:solidFill>
                  <a:latin typeface="宋体" panose="02010600030101010101" pitchFamily="2" charset="-122"/>
                </a:rPr>
                <a:t>“</a:t>
              </a:r>
              <a:r>
                <a:rPr lang="zh-CN" altLang="en-US" sz="2000">
                  <a:solidFill>
                    <a:srgbClr val="111111"/>
                  </a:solidFill>
                </a:rPr>
                <a:t>累计摊销</a:t>
              </a:r>
              <a:r>
                <a:rPr lang="zh-CN" altLang="en-US" sz="2000">
                  <a:solidFill>
                    <a:srgbClr val="111111"/>
                  </a:solidFill>
                  <a:latin typeface="宋体" panose="02010600030101010101" pitchFamily="2" charset="-122"/>
                </a:rPr>
                <a:t>”“</a:t>
              </a:r>
              <a:r>
                <a:rPr lang="zh-CN" altLang="en-US" sz="2000">
                  <a:solidFill>
                    <a:srgbClr val="111111"/>
                  </a:solidFill>
                </a:rPr>
                <a:t>无形资产</a:t>
              </a:r>
            </a:p>
            <a:p>
              <a:pPr eaLnBrk="1" hangingPunct="1"/>
              <a:r>
                <a:rPr lang="zh-CN" altLang="en-US" sz="2000">
                  <a:solidFill>
                    <a:srgbClr val="111111"/>
                  </a:solidFill>
                </a:rPr>
                <a:t>减值准备</a:t>
              </a:r>
              <a:r>
                <a:rPr lang="zh-CN" altLang="en-US" sz="2000">
                  <a:solidFill>
                    <a:srgbClr val="111111"/>
                  </a:solidFill>
                  <a:latin typeface="宋体" panose="02010600030101010101" pitchFamily="2" charset="-122"/>
                </a:rPr>
                <a:t>”</a:t>
              </a:r>
              <a:endParaRPr lang="zh-CN" altLang="en-US" sz="2000">
                <a:solidFill>
                  <a:srgbClr val="111111"/>
                </a:solidFill>
              </a:endParaRPr>
            </a:p>
          </p:txBody>
        </p:sp>
        <p:sp>
          <p:nvSpPr>
            <p:cNvPr id="7" name="Rectangle 10">
              <a:extLst>
                <a:ext uri="{FF2B5EF4-FFF2-40B4-BE49-F238E27FC236}">
                  <a16:creationId xmlns:a16="http://schemas.microsoft.com/office/drawing/2014/main" id="{3F6E4075-301D-428B-9630-4DABD977F75F}"/>
                </a:ext>
              </a:extLst>
            </p:cNvPr>
            <p:cNvSpPr>
              <a:spLocks noChangeArrowheads="1"/>
            </p:cNvSpPr>
            <p:nvPr/>
          </p:nvSpPr>
          <p:spPr bwMode="auto">
            <a:xfrm>
              <a:off x="1021" y="3293"/>
              <a:ext cx="1344" cy="576"/>
            </a:xfrm>
            <a:prstGeom prst="rect">
              <a:avLst/>
            </a:prstGeom>
            <a:solidFill>
              <a:srgbClr val="66FF33"/>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66FF33"/>
              </a:extrusionClr>
              <a:contourClr>
                <a:srgbClr val="66FF33"/>
              </a:contourClr>
            </a:sp3d>
          </p:spPr>
          <p:txBody>
            <a:bodyPr wrap="none" anchor="ctr">
              <a:flatTx/>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eaLnBrk="1" hangingPunct="1"/>
              <a:r>
                <a:rPr lang="zh-CN" altLang="en-US" sz="2000" dirty="0">
                  <a:solidFill>
                    <a:srgbClr val="111111"/>
                  </a:solidFill>
                </a:rPr>
                <a:t>收取的增值税</a:t>
              </a:r>
            </a:p>
          </p:txBody>
        </p:sp>
        <p:sp>
          <p:nvSpPr>
            <p:cNvPr id="8" name="Rectangle 11">
              <a:extLst>
                <a:ext uri="{FF2B5EF4-FFF2-40B4-BE49-F238E27FC236}">
                  <a16:creationId xmlns:a16="http://schemas.microsoft.com/office/drawing/2014/main" id="{07FE6733-6ACD-4294-8241-7B7254E5A0F4}"/>
                </a:ext>
              </a:extLst>
            </p:cNvPr>
            <p:cNvSpPr>
              <a:spLocks noChangeArrowheads="1"/>
            </p:cNvSpPr>
            <p:nvPr/>
          </p:nvSpPr>
          <p:spPr bwMode="auto">
            <a:xfrm>
              <a:off x="945" y="1923"/>
              <a:ext cx="1401" cy="539"/>
            </a:xfrm>
            <a:prstGeom prst="rect">
              <a:avLst/>
            </a:prstGeom>
            <a:solidFill>
              <a:srgbClr val="FFFFCC"/>
            </a:solidFill>
            <a:ln w="9525">
              <a:miter lim="800000"/>
              <a:headEnd/>
              <a:tailEnd/>
            </a:ln>
            <a:scene3d>
              <a:camera prst="legacyObliqueTopLeft"/>
              <a:lightRig rig="legacyFlat3" dir="t"/>
            </a:scene3d>
            <a:sp3d extrusionH="430200" prstMaterial="legacyMatte">
              <a:bevelT w="13500" h="13500" prst="angle"/>
              <a:bevelB w="13500" h="13500" prst="angle"/>
              <a:extrusionClr>
                <a:srgbClr val="FFFFCC"/>
              </a:extrusionClr>
              <a:contourClr>
                <a:srgbClr val="FFFFCC"/>
              </a:contourClr>
            </a:sp3d>
          </p:spPr>
          <p:txBody>
            <a:bodyPr wrap="none" anchor="ctr">
              <a:flatTx/>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eaLnBrk="1" hangingPunct="1"/>
              <a:r>
                <a:rPr lang="en-US" altLang="zh-CN" sz="2000" dirty="0">
                  <a:solidFill>
                    <a:srgbClr val="111111"/>
                  </a:solidFill>
                  <a:latin typeface="宋体" panose="02010600030101010101" pitchFamily="2" charset="-122"/>
                </a:rPr>
                <a:t>“</a:t>
              </a:r>
              <a:r>
                <a:rPr lang="zh-CN" altLang="en-US" sz="2000" dirty="0">
                  <a:solidFill>
                    <a:srgbClr val="111111"/>
                  </a:solidFill>
                </a:rPr>
                <a:t>无形资产</a:t>
              </a:r>
              <a:r>
                <a:rPr lang="zh-CN" altLang="en-US" sz="2000" dirty="0">
                  <a:solidFill>
                    <a:srgbClr val="111111"/>
                  </a:solidFill>
                  <a:latin typeface="宋体" panose="02010600030101010101" pitchFamily="2" charset="-122"/>
                </a:rPr>
                <a:t>”</a:t>
              </a:r>
              <a:endParaRPr lang="zh-CN" altLang="en-US" sz="2000" dirty="0">
                <a:solidFill>
                  <a:srgbClr val="111111"/>
                </a:solidFill>
              </a:endParaRPr>
            </a:p>
          </p:txBody>
        </p:sp>
      </p:grpSp>
      <p:grpSp>
        <p:nvGrpSpPr>
          <p:cNvPr id="9" name="Group 14">
            <a:extLst>
              <a:ext uri="{FF2B5EF4-FFF2-40B4-BE49-F238E27FC236}">
                <a16:creationId xmlns:a16="http://schemas.microsoft.com/office/drawing/2014/main" id="{53E2C91B-BC6C-4C66-BE91-5792E00F3B70}"/>
              </a:ext>
            </a:extLst>
          </p:cNvPr>
          <p:cNvGrpSpPr>
            <a:grpSpLocks/>
          </p:cNvGrpSpPr>
          <p:nvPr/>
        </p:nvGrpSpPr>
        <p:grpSpPr bwMode="auto">
          <a:xfrm>
            <a:off x="3652714" y="2977320"/>
            <a:ext cx="3459163" cy="2624138"/>
            <a:chOff x="2020" y="1674"/>
            <a:chExt cx="2179" cy="1653"/>
          </a:xfrm>
        </p:grpSpPr>
        <p:pic>
          <p:nvPicPr>
            <p:cNvPr id="10" name="Picture 12" descr="small wide blue gradient arrow">
              <a:extLst>
                <a:ext uri="{FF2B5EF4-FFF2-40B4-BE49-F238E27FC236}">
                  <a16:creationId xmlns:a16="http://schemas.microsoft.com/office/drawing/2014/main" id="{E5B9C4F2-6DA3-4762-B2D3-E5EDFC3068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0" y="1674"/>
              <a:ext cx="2179" cy="1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3">
              <a:extLst>
                <a:ext uri="{FF2B5EF4-FFF2-40B4-BE49-F238E27FC236}">
                  <a16:creationId xmlns:a16="http://schemas.microsoft.com/office/drawing/2014/main" id="{21E59AB9-7AEE-4049-845E-4396F56E9C76}"/>
                </a:ext>
              </a:extLst>
            </p:cNvPr>
            <p:cNvSpPr>
              <a:spLocks noChangeArrowheads="1"/>
            </p:cNvSpPr>
            <p:nvPr/>
          </p:nvSpPr>
          <p:spPr bwMode="auto">
            <a:xfrm>
              <a:off x="2696" y="2290"/>
              <a:ext cx="502" cy="288"/>
            </a:xfrm>
            <a:prstGeom prst="rect">
              <a:avLst/>
            </a:prstGeom>
            <a:noFill/>
            <a:ln w="12700">
              <a:noFill/>
              <a:miter lim="800000"/>
              <a:headEnd type="none" w="sm" len="sm"/>
              <a:tailEnd type="none" w="sm" len="sm"/>
            </a:ln>
            <a:effectLst/>
          </p:spPr>
          <p:txBody>
            <a:bodyPr wrap="none">
              <a:spAutoFit/>
            </a:bodyPr>
            <a:lstStyle/>
            <a:p>
              <a:pPr>
                <a:defRPr/>
              </a:pPr>
              <a:r>
                <a:rPr lang="zh-CN" altLang="en-US" sz="2400">
                  <a:solidFill>
                    <a:srgbClr val="FFFF00"/>
                  </a:solidFill>
                  <a:effectLst>
                    <a:outerShdw blurRad="38100" dist="38100" dir="2700000" algn="tl">
                      <a:srgbClr val="000000"/>
                    </a:outerShdw>
                  </a:effectLst>
                  <a:latin typeface="Arial" charset="0"/>
                </a:rPr>
                <a:t>差额</a:t>
              </a:r>
            </a:p>
          </p:txBody>
        </p:sp>
      </p:grpSp>
      <p:sp>
        <p:nvSpPr>
          <p:cNvPr id="12" name="Oval 8">
            <a:extLst>
              <a:ext uri="{FF2B5EF4-FFF2-40B4-BE49-F238E27FC236}">
                <a16:creationId xmlns:a16="http://schemas.microsoft.com/office/drawing/2014/main" id="{CDA5316A-71AC-4AA5-85C2-E950D0BB810D}"/>
              </a:ext>
            </a:extLst>
          </p:cNvPr>
          <p:cNvSpPr>
            <a:spLocks noChangeArrowheads="1"/>
          </p:cNvSpPr>
          <p:nvPr/>
        </p:nvSpPr>
        <p:spPr bwMode="auto">
          <a:xfrm>
            <a:off x="6320271" y="3029998"/>
            <a:ext cx="2389188" cy="2152650"/>
          </a:xfrm>
          <a:prstGeom prst="ellipse">
            <a:avLst/>
          </a:prstGeom>
          <a:gradFill rotWithShape="1">
            <a:gsLst>
              <a:gs pos="0">
                <a:srgbClr val="3366FF">
                  <a:alpha val="87000"/>
                </a:srgbClr>
              </a:gs>
              <a:gs pos="100000">
                <a:srgbClr val="3366FF">
                  <a:gamma/>
                  <a:shade val="50980"/>
                  <a:invGamma/>
                </a:srgbClr>
              </a:gs>
            </a:gsLst>
            <a:path path="rect">
              <a:fillToRect r="100000" b="100000"/>
            </a:path>
          </a:gradFill>
          <a:ln w="12700" cap="sq">
            <a:round/>
            <a:headEnd type="none" w="sm" len="sm"/>
            <a:tailEnd type="none" w="sm" len="sm"/>
          </a:ln>
          <a:effectLst/>
          <a:scene3d>
            <a:camera prst="legacyObliqueTopRight"/>
            <a:lightRig rig="legacyFlat3" dir="b"/>
          </a:scene3d>
          <a:sp3d extrusionH="430200" prstMaterial="legacyPlastic">
            <a:bevelT w="13500" h="13500" prst="angle"/>
            <a:bevelB w="13500" h="13500" prst="angle"/>
            <a:extrusionClr>
              <a:srgbClr val="3366FF"/>
            </a:extrusionClr>
          </a:sp3d>
        </p:spPr>
        <p:txBody>
          <a:bodyPr wrap="none" anchor="ctr">
            <a:flatTx/>
          </a:bodyPr>
          <a:lstStyle/>
          <a:p>
            <a:pPr eaLnBrk="1" hangingPunct="1">
              <a:defRPr/>
            </a:pPr>
            <a:r>
              <a:rPr lang="zh-CN" altLang="en-US" sz="2400" dirty="0">
                <a:solidFill>
                  <a:schemeClr val="tx2"/>
                </a:solidFill>
                <a:effectLst>
                  <a:outerShdw blurRad="38100" dist="38100" dir="2700000" algn="tl">
                    <a:srgbClr val="000000"/>
                  </a:outerShdw>
                </a:effectLst>
                <a:latin typeface="Times New Roman" pitchFamily="18" charset="0"/>
              </a:rPr>
              <a:t>资产处置损益</a:t>
            </a:r>
          </a:p>
        </p:txBody>
      </p:sp>
      <p:sp>
        <p:nvSpPr>
          <p:cNvPr id="13" name="箭头: 右 12">
            <a:extLst>
              <a:ext uri="{FF2B5EF4-FFF2-40B4-BE49-F238E27FC236}">
                <a16:creationId xmlns:a16="http://schemas.microsoft.com/office/drawing/2014/main" id="{F2005B18-56EA-409A-9DA4-90F8A18C73E1}"/>
              </a:ext>
            </a:extLst>
          </p:cNvPr>
          <p:cNvSpPr/>
          <p:nvPr/>
        </p:nvSpPr>
        <p:spPr bwMode="auto">
          <a:xfrm>
            <a:off x="4475970" y="5804931"/>
            <a:ext cx="1618129" cy="431254"/>
          </a:xfrm>
          <a:prstGeom prst="rightArrow">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3200" b="1" i="0" u="none" strike="noStrike" cap="none" normalizeH="0" baseline="0">
              <a:ln>
                <a:noFill/>
              </a:ln>
              <a:solidFill>
                <a:srgbClr val="FF8000"/>
              </a:solidFill>
              <a:effectLst>
                <a:outerShdw blurRad="38100" dist="38100" dir="2700000" algn="tl">
                  <a:srgbClr val="000000">
                    <a:alpha val="43137"/>
                  </a:srgbClr>
                </a:outerShdw>
              </a:effectLst>
              <a:latin typeface="Arial" charset="0"/>
              <a:ea typeface="宋体" pitchFamily="2" charset="-122"/>
            </a:endParaRPr>
          </a:p>
        </p:txBody>
      </p:sp>
      <p:sp>
        <p:nvSpPr>
          <p:cNvPr id="14" name="矩形 13">
            <a:extLst>
              <a:ext uri="{FF2B5EF4-FFF2-40B4-BE49-F238E27FC236}">
                <a16:creationId xmlns:a16="http://schemas.microsoft.com/office/drawing/2014/main" id="{C0A053F9-882B-4EE5-9516-B15B7BF67BF8}"/>
              </a:ext>
            </a:extLst>
          </p:cNvPr>
          <p:cNvSpPr/>
          <p:nvPr/>
        </p:nvSpPr>
        <p:spPr bwMode="auto">
          <a:xfrm>
            <a:off x="6407864" y="5705216"/>
            <a:ext cx="2487706" cy="530969"/>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FF8000"/>
                </a:solidFill>
                <a:effectLst>
                  <a:outerShdw blurRad="38100" dist="38100" dir="2700000" algn="tl">
                    <a:srgbClr val="000000">
                      <a:alpha val="43137"/>
                    </a:srgbClr>
                  </a:outerShdw>
                </a:effectLst>
                <a:latin typeface="Arial" charset="0"/>
                <a:ea typeface="宋体" pitchFamily="2" charset="-122"/>
              </a:rPr>
              <a:t>计入销项税额</a:t>
            </a:r>
          </a:p>
        </p:txBody>
      </p:sp>
    </p:spTree>
    <p:extLst>
      <p:ext uri="{BB962C8B-B14F-4D97-AF65-F5344CB8AC3E}">
        <p14:creationId xmlns:p14="http://schemas.microsoft.com/office/powerpoint/2010/main" val="727044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1+#ppt_w/2"/>
                                          </p:val>
                                        </p:tav>
                                        <p:tav tm="100000">
                                          <p:val>
                                            <p:strVal val="#ppt_x"/>
                                          </p:val>
                                        </p:tav>
                                      </p:tavLst>
                                    </p:anim>
                                    <p:anim calcmode="lin" valueType="num">
                                      <p:cBhvr additive="base">
                                        <p:cTn id="20"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四、无形资产的出租和处置</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无形资产的报废</a:t>
            </a:r>
          </a:p>
        </p:txBody>
      </p:sp>
      <p:grpSp>
        <p:nvGrpSpPr>
          <p:cNvPr id="4" name="Group 16">
            <a:extLst>
              <a:ext uri="{FF2B5EF4-FFF2-40B4-BE49-F238E27FC236}">
                <a16:creationId xmlns:a16="http://schemas.microsoft.com/office/drawing/2014/main" id="{C8D8A183-1557-4D21-82A7-92B67847EF6E}"/>
              </a:ext>
            </a:extLst>
          </p:cNvPr>
          <p:cNvGrpSpPr>
            <a:grpSpLocks/>
          </p:cNvGrpSpPr>
          <p:nvPr/>
        </p:nvGrpSpPr>
        <p:grpSpPr bwMode="auto">
          <a:xfrm>
            <a:off x="954782" y="2872568"/>
            <a:ext cx="3108325" cy="3470275"/>
            <a:chOff x="945" y="1163"/>
            <a:chExt cx="1420" cy="2706"/>
          </a:xfrm>
        </p:grpSpPr>
        <p:sp>
          <p:nvSpPr>
            <p:cNvPr id="5" name="Rectangle 4">
              <a:extLst>
                <a:ext uri="{FF2B5EF4-FFF2-40B4-BE49-F238E27FC236}">
                  <a16:creationId xmlns:a16="http://schemas.microsoft.com/office/drawing/2014/main" id="{7EDDB46E-FA64-4B9A-B83E-C2B308C14746}"/>
                </a:ext>
              </a:extLst>
            </p:cNvPr>
            <p:cNvSpPr>
              <a:spLocks noChangeArrowheads="1"/>
            </p:cNvSpPr>
            <p:nvPr/>
          </p:nvSpPr>
          <p:spPr bwMode="auto">
            <a:xfrm>
              <a:off x="974" y="1163"/>
              <a:ext cx="1344" cy="576"/>
            </a:xfrm>
            <a:prstGeom prst="rect">
              <a:avLst/>
            </a:prstGeom>
            <a:solidFill>
              <a:srgbClr val="66FF33"/>
            </a:solidFill>
            <a:ln w="9525">
              <a:miter lim="800000"/>
              <a:headEnd/>
              <a:tailEnd/>
            </a:ln>
            <a:scene3d>
              <a:camera prst="legacyObliqueTopLeft"/>
              <a:lightRig rig="legacyFlat3" dir="t"/>
            </a:scene3d>
            <a:sp3d extrusionH="430200" prstMaterial="legacyMatte">
              <a:bevelT w="13500" h="13500" prst="angle"/>
              <a:bevelB w="13500" h="13500" prst="angle"/>
              <a:extrusionClr>
                <a:srgbClr val="66FF33"/>
              </a:extrusionClr>
              <a:contourClr>
                <a:srgbClr val="66FF33"/>
              </a:contourClr>
            </a:sp3d>
          </p:spPr>
          <p:txBody>
            <a:bodyPr wrap="none" anchor="ctr">
              <a:flatTx/>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eaLnBrk="1" hangingPunct="1"/>
              <a:r>
                <a:rPr lang="zh-CN" altLang="en-US" sz="2000">
                  <a:solidFill>
                    <a:srgbClr val="111111"/>
                  </a:solidFill>
                </a:rPr>
                <a:t>所得价款</a:t>
              </a:r>
            </a:p>
          </p:txBody>
        </p:sp>
        <p:sp>
          <p:nvSpPr>
            <p:cNvPr id="6" name="Rectangle 6">
              <a:extLst>
                <a:ext uri="{FF2B5EF4-FFF2-40B4-BE49-F238E27FC236}">
                  <a16:creationId xmlns:a16="http://schemas.microsoft.com/office/drawing/2014/main" id="{D72791E4-C66E-4C81-9EAD-3DDAAC36E3CD}"/>
                </a:ext>
              </a:extLst>
            </p:cNvPr>
            <p:cNvSpPr>
              <a:spLocks noChangeArrowheads="1"/>
            </p:cNvSpPr>
            <p:nvPr/>
          </p:nvSpPr>
          <p:spPr bwMode="auto">
            <a:xfrm>
              <a:off x="956" y="2565"/>
              <a:ext cx="1401" cy="539"/>
            </a:xfrm>
            <a:prstGeom prst="rect">
              <a:avLst/>
            </a:prstGeom>
            <a:solidFill>
              <a:srgbClr val="FFFFCC"/>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FFFFCC"/>
              </a:extrusionClr>
              <a:contourClr>
                <a:srgbClr val="FFFFCC"/>
              </a:contourClr>
            </a:sp3d>
          </p:spPr>
          <p:txBody>
            <a:bodyPr wrap="none" anchor="ctr">
              <a:flatTx/>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eaLnBrk="1" hangingPunct="1"/>
              <a:r>
                <a:rPr lang="en-US" altLang="zh-CN" sz="2000">
                  <a:solidFill>
                    <a:srgbClr val="111111"/>
                  </a:solidFill>
                  <a:latin typeface="宋体" panose="02010600030101010101" pitchFamily="2" charset="-122"/>
                </a:rPr>
                <a:t>“</a:t>
              </a:r>
              <a:r>
                <a:rPr lang="zh-CN" altLang="en-US" sz="2000">
                  <a:solidFill>
                    <a:srgbClr val="111111"/>
                  </a:solidFill>
                </a:rPr>
                <a:t>累计摊销</a:t>
              </a:r>
              <a:r>
                <a:rPr lang="zh-CN" altLang="en-US" sz="2000">
                  <a:solidFill>
                    <a:srgbClr val="111111"/>
                  </a:solidFill>
                  <a:latin typeface="宋体" panose="02010600030101010101" pitchFamily="2" charset="-122"/>
                </a:rPr>
                <a:t>”“</a:t>
              </a:r>
              <a:r>
                <a:rPr lang="zh-CN" altLang="en-US" sz="2000">
                  <a:solidFill>
                    <a:srgbClr val="111111"/>
                  </a:solidFill>
                </a:rPr>
                <a:t>无形资产</a:t>
              </a:r>
            </a:p>
            <a:p>
              <a:pPr eaLnBrk="1" hangingPunct="1"/>
              <a:r>
                <a:rPr lang="zh-CN" altLang="en-US" sz="2000">
                  <a:solidFill>
                    <a:srgbClr val="111111"/>
                  </a:solidFill>
                </a:rPr>
                <a:t>减值准备</a:t>
              </a:r>
              <a:r>
                <a:rPr lang="zh-CN" altLang="en-US" sz="2000">
                  <a:solidFill>
                    <a:srgbClr val="111111"/>
                  </a:solidFill>
                  <a:latin typeface="宋体" panose="02010600030101010101" pitchFamily="2" charset="-122"/>
                </a:rPr>
                <a:t>”</a:t>
              </a:r>
              <a:endParaRPr lang="zh-CN" altLang="en-US" sz="2000">
                <a:solidFill>
                  <a:srgbClr val="111111"/>
                </a:solidFill>
              </a:endParaRPr>
            </a:p>
          </p:txBody>
        </p:sp>
        <p:sp>
          <p:nvSpPr>
            <p:cNvPr id="7" name="Rectangle 10">
              <a:extLst>
                <a:ext uri="{FF2B5EF4-FFF2-40B4-BE49-F238E27FC236}">
                  <a16:creationId xmlns:a16="http://schemas.microsoft.com/office/drawing/2014/main" id="{358409D4-1485-413A-A292-E1FAEAB6740A}"/>
                </a:ext>
              </a:extLst>
            </p:cNvPr>
            <p:cNvSpPr>
              <a:spLocks noChangeArrowheads="1"/>
            </p:cNvSpPr>
            <p:nvPr/>
          </p:nvSpPr>
          <p:spPr bwMode="auto">
            <a:xfrm>
              <a:off x="1021" y="3293"/>
              <a:ext cx="1344" cy="576"/>
            </a:xfrm>
            <a:prstGeom prst="rect">
              <a:avLst/>
            </a:prstGeom>
            <a:solidFill>
              <a:srgbClr val="66FF33"/>
            </a:solidFill>
            <a:ln w="9525">
              <a:miter lim="800000"/>
              <a:headEnd/>
              <a:tailEnd/>
            </a:ln>
            <a:scene3d>
              <a:camera prst="legacyObliqueBottomLeft"/>
              <a:lightRig rig="legacyFlat3" dir="t"/>
            </a:scene3d>
            <a:sp3d extrusionH="430200" prstMaterial="legacyMatte">
              <a:bevelT w="13500" h="13500" prst="angle"/>
              <a:bevelB w="13500" h="13500" prst="angle"/>
              <a:extrusionClr>
                <a:srgbClr val="66FF33"/>
              </a:extrusionClr>
              <a:contourClr>
                <a:srgbClr val="66FF33"/>
              </a:contourClr>
            </a:sp3d>
          </p:spPr>
          <p:txBody>
            <a:bodyPr wrap="none" anchor="ctr">
              <a:flatTx/>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eaLnBrk="1" hangingPunct="1"/>
              <a:r>
                <a:rPr lang="zh-CN" altLang="en-US" sz="2000" dirty="0">
                  <a:solidFill>
                    <a:srgbClr val="111111"/>
                  </a:solidFill>
                </a:rPr>
                <a:t>收取的增值税</a:t>
              </a:r>
            </a:p>
          </p:txBody>
        </p:sp>
        <p:sp>
          <p:nvSpPr>
            <p:cNvPr id="8" name="Rectangle 11">
              <a:extLst>
                <a:ext uri="{FF2B5EF4-FFF2-40B4-BE49-F238E27FC236}">
                  <a16:creationId xmlns:a16="http://schemas.microsoft.com/office/drawing/2014/main" id="{014472A5-25A4-4836-A362-10BB173F0B1F}"/>
                </a:ext>
              </a:extLst>
            </p:cNvPr>
            <p:cNvSpPr>
              <a:spLocks noChangeArrowheads="1"/>
            </p:cNvSpPr>
            <p:nvPr/>
          </p:nvSpPr>
          <p:spPr bwMode="auto">
            <a:xfrm>
              <a:off x="945" y="1923"/>
              <a:ext cx="1401" cy="539"/>
            </a:xfrm>
            <a:prstGeom prst="rect">
              <a:avLst/>
            </a:prstGeom>
            <a:solidFill>
              <a:srgbClr val="FFFFCC"/>
            </a:solidFill>
            <a:ln w="9525">
              <a:miter lim="800000"/>
              <a:headEnd/>
              <a:tailEnd/>
            </a:ln>
            <a:scene3d>
              <a:camera prst="legacyObliqueTopLeft"/>
              <a:lightRig rig="legacyFlat3" dir="t"/>
            </a:scene3d>
            <a:sp3d extrusionH="430200" prstMaterial="legacyMatte">
              <a:bevelT w="13500" h="13500" prst="angle"/>
              <a:bevelB w="13500" h="13500" prst="angle"/>
              <a:extrusionClr>
                <a:srgbClr val="FFFFCC"/>
              </a:extrusionClr>
              <a:contourClr>
                <a:srgbClr val="FFFFCC"/>
              </a:contourClr>
            </a:sp3d>
          </p:spPr>
          <p:txBody>
            <a:bodyPr wrap="none" anchor="ctr">
              <a:flatTx/>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eaLnBrk="1" hangingPunct="1"/>
              <a:r>
                <a:rPr lang="en-US" altLang="zh-CN" sz="2000" dirty="0">
                  <a:solidFill>
                    <a:srgbClr val="111111"/>
                  </a:solidFill>
                  <a:latin typeface="宋体" panose="02010600030101010101" pitchFamily="2" charset="-122"/>
                </a:rPr>
                <a:t>“</a:t>
              </a:r>
              <a:r>
                <a:rPr lang="zh-CN" altLang="en-US" sz="2000" dirty="0">
                  <a:solidFill>
                    <a:srgbClr val="111111"/>
                  </a:solidFill>
                </a:rPr>
                <a:t>无形资产</a:t>
              </a:r>
              <a:r>
                <a:rPr lang="zh-CN" altLang="en-US" sz="2000" dirty="0">
                  <a:solidFill>
                    <a:srgbClr val="111111"/>
                  </a:solidFill>
                  <a:latin typeface="宋体" panose="02010600030101010101" pitchFamily="2" charset="-122"/>
                </a:rPr>
                <a:t>”</a:t>
              </a:r>
              <a:endParaRPr lang="zh-CN" altLang="en-US" sz="2000" dirty="0">
                <a:solidFill>
                  <a:srgbClr val="111111"/>
                </a:solidFill>
              </a:endParaRPr>
            </a:p>
          </p:txBody>
        </p:sp>
      </p:grpSp>
      <p:grpSp>
        <p:nvGrpSpPr>
          <p:cNvPr id="9" name="Group 14">
            <a:extLst>
              <a:ext uri="{FF2B5EF4-FFF2-40B4-BE49-F238E27FC236}">
                <a16:creationId xmlns:a16="http://schemas.microsoft.com/office/drawing/2014/main" id="{010C4443-75E4-46CB-BDE1-FA1FE47E2629}"/>
              </a:ext>
            </a:extLst>
          </p:cNvPr>
          <p:cNvGrpSpPr>
            <a:grpSpLocks/>
          </p:cNvGrpSpPr>
          <p:nvPr/>
        </p:nvGrpSpPr>
        <p:grpSpPr bwMode="auto">
          <a:xfrm>
            <a:off x="3563888" y="2924944"/>
            <a:ext cx="3459163" cy="2624138"/>
            <a:chOff x="2020" y="1674"/>
            <a:chExt cx="2179" cy="1653"/>
          </a:xfrm>
        </p:grpSpPr>
        <p:pic>
          <p:nvPicPr>
            <p:cNvPr id="10" name="Picture 12" descr="small wide blue gradient arrow">
              <a:extLst>
                <a:ext uri="{FF2B5EF4-FFF2-40B4-BE49-F238E27FC236}">
                  <a16:creationId xmlns:a16="http://schemas.microsoft.com/office/drawing/2014/main" id="{6F8132CD-88B4-4CE7-8F18-FF7A7D0F22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0" y="1674"/>
              <a:ext cx="2179" cy="1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3">
              <a:extLst>
                <a:ext uri="{FF2B5EF4-FFF2-40B4-BE49-F238E27FC236}">
                  <a16:creationId xmlns:a16="http://schemas.microsoft.com/office/drawing/2014/main" id="{A5F8432F-3F8A-4E5D-A4FB-085BFD98B9A9}"/>
                </a:ext>
              </a:extLst>
            </p:cNvPr>
            <p:cNvSpPr>
              <a:spLocks noChangeArrowheads="1"/>
            </p:cNvSpPr>
            <p:nvPr/>
          </p:nvSpPr>
          <p:spPr bwMode="auto">
            <a:xfrm>
              <a:off x="2696" y="2290"/>
              <a:ext cx="502" cy="288"/>
            </a:xfrm>
            <a:prstGeom prst="rect">
              <a:avLst/>
            </a:prstGeom>
            <a:noFill/>
            <a:ln w="12700">
              <a:noFill/>
              <a:miter lim="800000"/>
              <a:headEnd type="none" w="sm" len="sm"/>
              <a:tailEnd type="none" w="sm" len="sm"/>
            </a:ln>
            <a:effectLst/>
          </p:spPr>
          <p:txBody>
            <a:bodyPr wrap="none">
              <a:spAutoFit/>
            </a:bodyPr>
            <a:lstStyle/>
            <a:p>
              <a:pPr>
                <a:defRPr/>
              </a:pPr>
              <a:r>
                <a:rPr lang="zh-CN" altLang="en-US" sz="2400">
                  <a:solidFill>
                    <a:srgbClr val="FFFF00"/>
                  </a:solidFill>
                  <a:effectLst>
                    <a:outerShdw blurRad="38100" dist="38100" dir="2700000" algn="tl">
                      <a:srgbClr val="000000"/>
                    </a:outerShdw>
                  </a:effectLst>
                  <a:latin typeface="Arial" charset="0"/>
                </a:rPr>
                <a:t>差额</a:t>
              </a:r>
            </a:p>
          </p:txBody>
        </p:sp>
      </p:grpSp>
      <p:sp>
        <p:nvSpPr>
          <p:cNvPr id="12" name="Oval 8">
            <a:extLst>
              <a:ext uri="{FF2B5EF4-FFF2-40B4-BE49-F238E27FC236}">
                <a16:creationId xmlns:a16="http://schemas.microsoft.com/office/drawing/2014/main" id="{E6D19E0F-B418-4D61-AAF7-395C1DF47B91}"/>
              </a:ext>
            </a:extLst>
          </p:cNvPr>
          <p:cNvSpPr>
            <a:spLocks noChangeArrowheads="1"/>
          </p:cNvSpPr>
          <p:nvPr/>
        </p:nvSpPr>
        <p:spPr bwMode="auto">
          <a:xfrm>
            <a:off x="6231445" y="2977622"/>
            <a:ext cx="2389188" cy="2152650"/>
          </a:xfrm>
          <a:prstGeom prst="ellipse">
            <a:avLst/>
          </a:prstGeom>
          <a:gradFill rotWithShape="1">
            <a:gsLst>
              <a:gs pos="0">
                <a:srgbClr val="3366FF">
                  <a:alpha val="87000"/>
                </a:srgbClr>
              </a:gs>
              <a:gs pos="100000">
                <a:srgbClr val="3366FF">
                  <a:gamma/>
                  <a:shade val="50980"/>
                  <a:invGamma/>
                </a:srgbClr>
              </a:gs>
            </a:gsLst>
            <a:path path="rect">
              <a:fillToRect r="100000" b="100000"/>
            </a:path>
          </a:gradFill>
          <a:ln w="12700" cap="sq">
            <a:round/>
            <a:headEnd type="none" w="sm" len="sm"/>
            <a:tailEnd type="none" w="sm" len="sm"/>
          </a:ln>
          <a:effectLst/>
          <a:scene3d>
            <a:camera prst="legacyObliqueTopRight"/>
            <a:lightRig rig="legacyFlat3" dir="b"/>
          </a:scene3d>
          <a:sp3d extrusionH="430200" prstMaterial="legacyPlastic">
            <a:bevelT w="13500" h="13500" prst="angle"/>
            <a:bevelB w="13500" h="13500" prst="angle"/>
            <a:extrusionClr>
              <a:srgbClr val="3366FF"/>
            </a:extrusionClr>
          </a:sp3d>
        </p:spPr>
        <p:txBody>
          <a:bodyPr wrap="none" anchor="ctr">
            <a:flatTx/>
          </a:bodyPr>
          <a:lstStyle/>
          <a:p>
            <a:pPr eaLnBrk="1" hangingPunct="1">
              <a:defRPr/>
            </a:pPr>
            <a:r>
              <a:rPr lang="zh-CN" altLang="en-US" sz="2400" dirty="0">
                <a:solidFill>
                  <a:schemeClr val="tx2"/>
                </a:solidFill>
                <a:effectLst>
                  <a:outerShdw blurRad="38100" dist="38100" dir="2700000" algn="tl">
                    <a:srgbClr val="000000"/>
                  </a:outerShdw>
                </a:effectLst>
                <a:latin typeface="Times New Roman" pitchFamily="18" charset="0"/>
              </a:rPr>
              <a:t>营业外收入</a:t>
            </a:r>
            <a:endParaRPr lang="en-US" altLang="zh-CN" sz="2400" dirty="0">
              <a:solidFill>
                <a:schemeClr val="tx2"/>
              </a:solidFill>
              <a:effectLst>
                <a:outerShdw blurRad="38100" dist="38100" dir="2700000" algn="tl">
                  <a:srgbClr val="000000"/>
                </a:outerShdw>
              </a:effectLst>
              <a:latin typeface="Times New Roman" pitchFamily="18" charset="0"/>
            </a:endParaRPr>
          </a:p>
          <a:p>
            <a:pPr eaLnBrk="1" hangingPunct="1">
              <a:defRPr/>
            </a:pPr>
            <a:r>
              <a:rPr lang="zh-CN" altLang="en-US" sz="2400" dirty="0">
                <a:solidFill>
                  <a:schemeClr val="tx2"/>
                </a:solidFill>
                <a:effectLst>
                  <a:outerShdw blurRad="38100" dist="38100" dir="2700000" algn="tl">
                    <a:srgbClr val="000000"/>
                  </a:outerShdw>
                </a:effectLst>
                <a:latin typeface="Times New Roman" pitchFamily="18" charset="0"/>
              </a:rPr>
              <a:t>或营业外支出</a:t>
            </a:r>
          </a:p>
        </p:txBody>
      </p:sp>
      <p:sp>
        <p:nvSpPr>
          <p:cNvPr id="13" name="箭头: 右 12">
            <a:extLst>
              <a:ext uri="{FF2B5EF4-FFF2-40B4-BE49-F238E27FC236}">
                <a16:creationId xmlns:a16="http://schemas.microsoft.com/office/drawing/2014/main" id="{882E4D50-F459-4F31-83A0-382384AB5FBF}"/>
              </a:ext>
            </a:extLst>
          </p:cNvPr>
          <p:cNvSpPr/>
          <p:nvPr/>
        </p:nvSpPr>
        <p:spPr bwMode="auto">
          <a:xfrm>
            <a:off x="4387144" y="5752555"/>
            <a:ext cx="1618129" cy="431254"/>
          </a:xfrm>
          <a:prstGeom prst="rightArrow">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3200" b="1" i="0" u="none" strike="noStrike" cap="none" normalizeH="0" baseline="0">
              <a:ln>
                <a:noFill/>
              </a:ln>
              <a:solidFill>
                <a:srgbClr val="FF8000"/>
              </a:solidFill>
              <a:effectLst>
                <a:outerShdw blurRad="38100" dist="38100" dir="2700000" algn="tl">
                  <a:srgbClr val="000000">
                    <a:alpha val="43137"/>
                  </a:srgbClr>
                </a:outerShdw>
              </a:effectLst>
              <a:latin typeface="Arial" charset="0"/>
              <a:ea typeface="宋体" pitchFamily="2" charset="-122"/>
            </a:endParaRPr>
          </a:p>
        </p:txBody>
      </p:sp>
      <p:sp>
        <p:nvSpPr>
          <p:cNvPr id="14" name="矩形 13">
            <a:extLst>
              <a:ext uri="{FF2B5EF4-FFF2-40B4-BE49-F238E27FC236}">
                <a16:creationId xmlns:a16="http://schemas.microsoft.com/office/drawing/2014/main" id="{C45B50E8-1D56-4E8B-958E-9074C1D89A27}"/>
              </a:ext>
            </a:extLst>
          </p:cNvPr>
          <p:cNvSpPr/>
          <p:nvPr/>
        </p:nvSpPr>
        <p:spPr bwMode="auto">
          <a:xfrm>
            <a:off x="6319038" y="5652840"/>
            <a:ext cx="2487706" cy="530969"/>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FF8000"/>
                </a:solidFill>
                <a:effectLst>
                  <a:outerShdw blurRad="38100" dist="38100" dir="2700000" algn="tl">
                    <a:srgbClr val="000000">
                      <a:alpha val="43137"/>
                    </a:srgbClr>
                  </a:outerShdw>
                </a:effectLst>
                <a:latin typeface="Arial" charset="0"/>
                <a:ea typeface="宋体" pitchFamily="2" charset="-122"/>
              </a:rPr>
              <a:t>计入销项税额</a:t>
            </a:r>
          </a:p>
        </p:txBody>
      </p:sp>
    </p:spTree>
    <p:extLst>
      <p:ext uri="{BB962C8B-B14F-4D97-AF65-F5344CB8AC3E}">
        <p14:creationId xmlns:p14="http://schemas.microsoft.com/office/powerpoint/2010/main" val="177705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1+#ppt_w/2"/>
                                          </p:val>
                                        </p:tav>
                                        <p:tav tm="100000">
                                          <p:val>
                                            <p:strVal val="#ppt_x"/>
                                          </p:val>
                                        </p:tav>
                                      </p:tavLst>
                                    </p:anim>
                                    <p:anim calcmode="lin" valueType="num">
                                      <p:cBhvr additive="base">
                                        <p:cTn id="20"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82688" y="2017713"/>
            <a:ext cx="7961312" cy="4114800"/>
          </a:xfrm>
        </p:spPr>
        <p:txBody>
          <a:bodyPr/>
          <a:lstStyle/>
          <a:p>
            <a:r>
              <a:rPr lang="zh-CN" altLang="en-US" dirty="0"/>
              <a:t>例：某公司出售３年前以</a:t>
            </a:r>
            <a:r>
              <a:rPr lang="en-US" altLang="zh-CN" dirty="0"/>
              <a:t>70</a:t>
            </a:r>
            <a:r>
              <a:rPr lang="zh-CN" altLang="en-US" dirty="0"/>
              <a:t>万取得的使用寿命为</a:t>
            </a:r>
            <a:r>
              <a:rPr lang="en-US" altLang="zh-CN" dirty="0"/>
              <a:t>6</a:t>
            </a:r>
            <a:r>
              <a:rPr lang="zh-CN" altLang="en-US" dirty="0"/>
              <a:t>年一项非专利技术（直线法摊销），出售收入</a:t>
            </a:r>
            <a:r>
              <a:rPr lang="en-US" altLang="zh-CN" dirty="0"/>
              <a:t>80</a:t>
            </a:r>
            <a:r>
              <a:rPr lang="zh-CN" altLang="en-US" dirty="0"/>
              <a:t>万，按</a:t>
            </a:r>
            <a:r>
              <a:rPr lang="en-US" altLang="zh-CN" dirty="0"/>
              <a:t>6%</a:t>
            </a:r>
            <a:r>
              <a:rPr lang="zh-CN" altLang="en-US" dirty="0"/>
              <a:t>交纳增值税，已计提的减值准备为</a:t>
            </a:r>
            <a:r>
              <a:rPr lang="en-US" altLang="zh-CN" dirty="0"/>
              <a:t>20</a:t>
            </a:r>
            <a:r>
              <a:rPr lang="zh-CN" altLang="en-US" dirty="0"/>
              <a:t>万</a:t>
            </a:r>
          </a:p>
          <a:p>
            <a:endParaRPr lang="zh-CN" altLang="en-US" dirty="0"/>
          </a:p>
          <a:p>
            <a:pPr lvl="1"/>
            <a:r>
              <a:rPr lang="zh-CN" altLang="en-US" dirty="0"/>
              <a:t>借：银行存款                 </a:t>
            </a:r>
            <a:r>
              <a:rPr lang="en-US" altLang="zh-CN" dirty="0"/>
              <a:t>84.8</a:t>
            </a:r>
          </a:p>
          <a:p>
            <a:pPr lvl="1"/>
            <a:r>
              <a:rPr lang="en-US" altLang="zh-CN" dirty="0"/>
              <a:t>   	   </a:t>
            </a:r>
            <a:r>
              <a:rPr lang="zh-CN" altLang="en-US" dirty="0"/>
              <a:t>无形资产减值准备   </a:t>
            </a:r>
            <a:r>
              <a:rPr lang="en-US" altLang="zh-CN" dirty="0"/>
              <a:t>20</a:t>
            </a:r>
          </a:p>
          <a:p>
            <a:pPr lvl="1"/>
            <a:r>
              <a:rPr lang="en-US" altLang="zh-CN" dirty="0"/>
              <a:t>       </a:t>
            </a:r>
            <a:r>
              <a:rPr lang="zh-CN" altLang="en-US" dirty="0"/>
              <a:t>累计摊销                </a:t>
            </a:r>
            <a:r>
              <a:rPr lang="en-US" altLang="zh-CN" dirty="0"/>
              <a:t>35</a:t>
            </a:r>
          </a:p>
          <a:p>
            <a:pPr lvl="1"/>
            <a:r>
              <a:rPr lang="en-US" altLang="zh-CN" dirty="0"/>
              <a:t>    </a:t>
            </a:r>
            <a:r>
              <a:rPr lang="zh-CN" altLang="en-US" dirty="0"/>
              <a:t>贷：无形资产                    </a:t>
            </a:r>
            <a:r>
              <a:rPr lang="en-US" altLang="zh-CN" dirty="0"/>
              <a:t>70</a:t>
            </a:r>
          </a:p>
          <a:p>
            <a:pPr lvl="1"/>
            <a:r>
              <a:rPr lang="en-US" altLang="zh-CN" dirty="0"/>
              <a:t>           </a:t>
            </a:r>
            <a:r>
              <a:rPr lang="zh-CN" altLang="en-US" dirty="0"/>
              <a:t>应交税费                      </a:t>
            </a:r>
            <a:r>
              <a:rPr lang="en-US" altLang="zh-CN" dirty="0"/>
              <a:t>4.8</a:t>
            </a:r>
          </a:p>
          <a:p>
            <a:pPr lvl="1"/>
            <a:r>
              <a:rPr lang="en-US" altLang="zh-CN" dirty="0"/>
              <a:t>           </a:t>
            </a:r>
            <a:r>
              <a:rPr lang="zh-CN" altLang="en-US" dirty="0"/>
              <a:t>资产处置收益             </a:t>
            </a:r>
            <a:r>
              <a:rPr lang="en-US" altLang="zh-CN" dirty="0"/>
              <a:t>65</a:t>
            </a:r>
          </a:p>
        </p:txBody>
      </p:sp>
    </p:spTree>
    <p:extLst>
      <p:ext uri="{BB962C8B-B14F-4D97-AF65-F5344CB8AC3E}">
        <p14:creationId xmlns:p14="http://schemas.microsoft.com/office/powerpoint/2010/main" val="32696231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五、无形资产的期末计价</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对使用寿命有限的无形资产的，企业在会计期末是否存在可能发生减值的迹象，如果有确凿证据表明资产存在减值的，应当进行减值测试。</a:t>
            </a:r>
          </a:p>
          <a:p>
            <a:pPr marL="0" indent="0">
              <a:buNone/>
            </a:pPr>
            <a:r>
              <a:rPr lang="zh-CN" altLang="en-US" dirty="0"/>
              <a:t>      </a:t>
            </a:r>
          </a:p>
          <a:p>
            <a:r>
              <a:rPr lang="zh-CN" altLang="en-US" dirty="0"/>
              <a:t>对使用寿命不确定的无形资产，至少在每年年末进行减值测试。如有证据表明使用寿命为有限，应当估计其使用寿命并进行摊销。</a:t>
            </a:r>
          </a:p>
        </p:txBody>
      </p:sp>
    </p:spTree>
    <p:extLst>
      <p:ext uri="{BB962C8B-B14F-4D97-AF65-F5344CB8AC3E}">
        <p14:creationId xmlns:p14="http://schemas.microsoft.com/office/powerpoint/2010/main" val="30132112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无形资产发生减值的，应当将其账面价值减记到可收回金额</a:t>
            </a:r>
          </a:p>
          <a:p>
            <a:endParaRPr lang="zh-CN" altLang="en-US" dirty="0"/>
          </a:p>
          <a:p>
            <a:r>
              <a:rPr lang="zh-CN" altLang="en-US" dirty="0"/>
              <a:t>如何确定可收回金额？</a:t>
            </a:r>
          </a:p>
        </p:txBody>
      </p:sp>
    </p:spTree>
    <p:extLst>
      <p:ext uri="{BB962C8B-B14F-4D97-AF65-F5344CB8AC3E}">
        <p14:creationId xmlns:p14="http://schemas.microsoft.com/office/powerpoint/2010/main" val="34364448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grpSp>
        <p:nvGrpSpPr>
          <p:cNvPr id="5" name="Group 20">
            <a:extLst>
              <a:ext uri="{FF2B5EF4-FFF2-40B4-BE49-F238E27FC236}">
                <a16:creationId xmlns:a16="http://schemas.microsoft.com/office/drawing/2014/main" id="{7CFB1545-76AB-430A-86C3-3E2424661CDD}"/>
              </a:ext>
            </a:extLst>
          </p:cNvPr>
          <p:cNvGrpSpPr>
            <a:grpSpLocks/>
          </p:cNvGrpSpPr>
          <p:nvPr/>
        </p:nvGrpSpPr>
        <p:grpSpPr bwMode="auto">
          <a:xfrm>
            <a:off x="1175602" y="1988840"/>
            <a:ext cx="6553200" cy="868363"/>
            <a:chOff x="816" y="2408"/>
            <a:chExt cx="4128" cy="882"/>
          </a:xfrm>
        </p:grpSpPr>
        <p:pic>
          <p:nvPicPr>
            <p:cNvPr id="6" name="Picture 21" descr="45-red">
              <a:extLst>
                <a:ext uri="{FF2B5EF4-FFF2-40B4-BE49-F238E27FC236}">
                  <a16:creationId xmlns:a16="http://schemas.microsoft.com/office/drawing/2014/main" id="{4F97405F-36B4-4991-BF0C-D488F640D2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6" y="2408"/>
              <a:ext cx="4128" cy="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22">
              <a:extLst>
                <a:ext uri="{FF2B5EF4-FFF2-40B4-BE49-F238E27FC236}">
                  <a16:creationId xmlns:a16="http://schemas.microsoft.com/office/drawing/2014/main" id="{4AEE1896-8B32-4561-89A9-7E0F9E9F32AF}"/>
                </a:ext>
              </a:extLst>
            </p:cNvPr>
            <p:cNvSpPr txBox="1">
              <a:spLocks noChangeArrowheads="1"/>
            </p:cNvSpPr>
            <p:nvPr/>
          </p:nvSpPr>
          <p:spPr bwMode="auto">
            <a:xfrm>
              <a:off x="1257" y="2571"/>
              <a:ext cx="3249" cy="558"/>
            </a:xfrm>
            <a:prstGeom prst="rect">
              <a:avLst/>
            </a:prstGeom>
            <a:noFill/>
            <a:ln w="9525">
              <a:noFill/>
              <a:miter lim="800000"/>
              <a:headEnd/>
              <a:tailEnd/>
            </a:ln>
            <a:effectLst/>
          </p:spPr>
          <p:txBody>
            <a:bodyPr wrap="none" anchor="ctr">
              <a:spAutoFit/>
            </a:bodyPr>
            <a:lstStyle/>
            <a:p>
              <a:pPr eaLnBrk="1" hangingPunct="1">
                <a:spcBef>
                  <a:spcPct val="50000"/>
                </a:spcBef>
                <a:defRPr/>
              </a:pPr>
              <a:r>
                <a:rPr lang="zh-CN" altLang="en-US" sz="3000">
                  <a:solidFill>
                    <a:schemeClr val="tx2"/>
                  </a:solidFill>
                  <a:effectLst>
                    <a:outerShdw blurRad="38100" dist="38100" dir="2700000" algn="tl">
                      <a:srgbClr val="000000"/>
                    </a:outerShdw>
                  </a:effectLst>
                  <a:latin typeface="Arial" charset="0"/>
                </a:rPr>
                <a:t>账面价值是否大于可收回金额</a:t>
              </a:r>
            </a:p>
          </p:txBody>
        </p:sp>
      </p:grpSp>
      <p:pic>
        <p:nvPicPr>
          <p:cNvPr id="8" name="Picture 25" descr="45-arrow">
            <a:extLst>
              <a:ext uri="{FF2B5EF4-FFF2-40B4-BE49-F238E27FC236}">
                <a16:creationId xmlns:a16="http://schemas.microsoft.com/office/drawing/2014/main" id="{279BF99F-B333-4A40-AC7C-0D0A754617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1702" y="5854403"/>
            <a:ext cx="1071562"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6" descr="45-arrow">
            <a:extLst>
              <a:ext uri="{FF2B5EF4-FFF2-40B4-BE49-F238E27FC236}">
                <a16:creationId xmlns:a16="http://schemas.microsoft.com/office/drawing/2014/main" id="{9050714B-1CB4-4BC6-88D5-1449E57F81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6264" y="2787353"/>
            <a:ext cx="466725"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7" descr="45-arrow">
            <a:extLst>
              <a:ext uri="{FF2B5EF4-FFF2-40B4-BE49-F238E27FC236}">
                <a16:creationId xmlns:a16="http://schemas.microsoft.com/office/drawing/2014/main" id="{21E3F9B0-FB7B-41FF-A2F0-6049777BE6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9914" y="4655840"/>
            <a:ext cx="4667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9" descr="blue embossed arrow w fade">
            <a:extLst>
              <a:ext uri="{FF2B5EF4-FFF2-40B4-BE49-F238E27FC236}">
                <a16:creationId xmlns:a16="http://schemas.microsoft.com/office/drawing/2014/main" id="{4994D40B-1712-44A4-9544-230A953036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6879684">
            <a:off x="5012589" y="3020716"/>
            <a:ext cx="2301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Group 30">
            <a:extLst>
              <a:ext uri="{FF2B5EF4-FFF2-40B4-BE49-F238E27FC236}">
                <a16:creationId xmlns:a16="http://schemas.microsoft.com/office/drawing/2014/main" id="{143EB257-326A-4B0B-8C69-B64CC4837B15}"/>
              </a:ext>
            </a:extLst>
          </p:cNvPr>
          <p:cNvGrpSpPr>
            <a:grpSpLocks/>
          </p:cNvGrpSpPr>
          <p:nvPr/>
        </p:nvGrpSpPr>
        <p:grpSpPr bwMode="auto">
          <a:xfrm flipH="1">
            <a:off x="5042752" y="4147840"/>
            <a:ext cx="2657475" cy="649288"/>
            <a:chOff x="650" y="2184"/>
            <a:chExt cx="1193" cy="858"/>
          </a:xfrm>
        </p:grpSpPr>
        <p:pic>
          <p:nvPicPr>
            <p:cNvPr id="13" name="Picture 31" descr="box2_slide21">
              <a:extLst>
                <a:ext uri="{FF2B5EF4-FFF2-40B4-BE49-F238E27FC236}">
                  <a16:creationId xmlns:a16="http://schemas.microsoft.com/office/drawing/2014/main" id="{EBD4CA9F-D280-4CA7-B6A3-C7B97ED2989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 y="2184"/>
              <a:ext cx="1193" cy="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32">
              <a:extLst>
                <a:ext uri="{FF2B5EF4-FFF2-40B4-BE49-F238E27FC236}">
                  <a16:creationId xmlns:a16="http://schemas.microsoft.com/office/drawing/2014/main" id="{3624457D-F54D-4369-B721-4D0D71EA6058}"/>
                </a:ext>
              </a:extLst>
            </p:cNvPr>
            <p:cNvSpPr>
              <a:spLocks noChangeArrowheads="1"/>
            </p:cNvSpPr>
            <p:nvPr/>
          </p:nvSpPr>
          <p:spPr bwMode="auto">
            <a:xfrm>
              <a:off x="658" y="2192"/>
              <a:ext cx="1136" cy="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type="none" w="sm" len="sm"/>
                  <a:tailEnd type="none" w="sm" len="sm"/>
                </a14:hiddenLine>
              </a:ext>
            </a:extLst>
          </p:spPr>
          <p:txBody>
            <a:bodyPr lIns="92075" tIns="46038" rIns="92075" bIns="46038" anchor="ct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eaLnBrk="1" hangingPunct="1"/>
              <a:r>
                <a:rPr lang="zh-CN" altLang="en-US" sz="2200">
                  <a:solidFill>
                    <a:schemeClr val="tx2"/>
                  </a:solidFill>
                </a:rPr>
                <a:t>按账面价值计价</a:t>
              </a:r>
            </a:p>
          </p:txBody>
        </p:sp>
      </p:grpSp>
      <p:grpSp>
        <p:nvGrpSpPr>
          <p:cNvPr id="15" name="Group 33">
            <a:extLst>
              <a:ext uri="{FF2B5EF4-FFF2-40B4-BE49-F238E27FC236}">
                <a16:creationId xmlns:a16="http://schemas.microsoft.com/office/drawing/2014/main" id="{EF265F38-04C7-4AC1-8083-E0787BB4A71A}"/>
              </a:ext>
            </a:extLst>
          </p:cNvPr>
          <p:cNvGrpSpPr>
            <a:grpSpLocks/>
          </p:cNvGrpSpPr>
          <p:nvPr/>
        </p:nvGrpSpPr>
        <p:grpSpPr bwMode="auto">
          <a:xfrm flipH="1">
            <a:off x="1315302" y="4147840"/>
            <a:ext cx="2657475" cy="649288"/>
            <a:chOff x="650" y="2184"/>
            <a:chExt cx="1193" cy="858"/>
          </a:xfrm>
        </p:grpSpPr>
        <p:pic>
          <p:nvPicPr>
            <p:cNvPr id="16" name="Picture 34" descr="box2_slide21">
              <a:extLst>
                <a:ext uri="{FF2B5EF4-FFF2-40B4-BE49-F238E27FC236}">
                  <a16:creationId xmlns:a16="http://schemas.microsoft.com/office/drawing/2014/main" id="{75F7BD90-F744-41CA-A058-3254BDBA949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 y="2184"/>
              <a:ext cx="1193" cy="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Rectangle 35">
              <a:extLst>
                <a:ext uri="{FF2B5EF4-FFF2-40B4-BE49-F238E27FC236}">
                  <a16:creationId xmlns:a16="http://schemas.microsoft.com/office/drawing/2014/main" id="{CB6A9DD9-AD09-480E-9A58-285DEE1860E7}"/>
                </a:ext>
              </a:extLst>
            </p:cNvPr>
            <p:cNvSpPr>
              <a:spLocks noChangeArrowheads="1"/>
            </p:cNvSpPr>
            <p:nvPr/>
          </p:nvSpPr>
          <p:spPr bwMode="auto">
            <a:xfrm>
              <a:off x="658" y="2192"/>
              <a:ext cx="1136" cy="785"/>
            </a:xfrm>
            <a:prstGeom prst="rect">
              <a:avLst/>
            </a:prstGeom>
            <a:noFill/>
            <a:ln w="9525" algn="ctr">
              <a:noFill/>
              <a:miter lim="800000"/>
              <a:headEnd type="none" w="sm" len="sm"/>
              <a:tailEnd type="none" w="sm" len="sm"/>
            </a:ln>
            <a:effectLst/>
          </p:spPr>
          <p:txBody>
            <a:bodyPr lIns="92075" tIns="46038" rIns="92075" bIns="46038" anchor="ctr"/>
            <a:lstStyle/>
            <a:p>
              <a:pPr eaLnBrk="1" hangingPunct="1">
                <a:defRPr/>
              </a:pPr>
              <a:r>
                <a:rPr lang="zh-CN" altLang="en-US" sz="2200">
                  <a:solidFill>
                    <a:schemeClr val="tx2"/>
                  </a:solidFill>
                  <a:effectLst>
                    <a:outerShdw blurRad="38100" dist="38100" dir="2700000" algn="tl">
                      <a:srgbClr val="000000"/>
                    </a:outerShdw>
                  </a:effectLst>
                  <a:latin typeface="Arial" charset="0"/>
                </a:rPr>
                <a:t>按可收回金额计价</a:t>
              </a:r>
            </a:p>
          </p:txBody>
        </p:sp>
      </p:grpSp>
      <p:grpSp>
        <p:nvGrpSpPr>
          <p:cNvPr id="18" name="Group 38">
            <a:extLst>
              <a:ext uri="{FF2B5EF4-FFF2-40B4-BE49-F238E27FC236}">
                <a16:creationId xmlns:a16="http://schemas.microsoft.com/office/drawing/2014/main" id="{0B23D472-7292-49D3-8BE6-EDDA4A20F850}"/>
              </a:ext>
            </a:extLst>
          </p:cNvPr>
          <p:cNvGrpSpPr>
            <a:grpSpLocks/>
          </p:cNvGrpSpPr>
          <p:nvPr/>
        </p:nvGrpSpPr>
        <p:grpSpPr bwMode="auto">
          <a:xfrm>
            <a:off x="1267677" y="5211465"/>
            <a:ext cx="3133725" cy="1793875"/>
            <a:chOff x="383" y="2624"/>
            <a:chExt cx="2430" cy="1130"/>
          </a:xfrm>
        </p:grpSpPr>
        <p:pic>
          <p:nvPicPr>
            <p:cNvPr id="19" name="Picture 36" descr="GEL-purple-long-rounded-rec">
              <a:extLst>
                <a:ext uri="{FF2B5EF4-FFF2-40B4-BE49-F238E27FC236}">
                  <a16:creationId xmlns:a16="http://schemas.microsoft.com/office/drawing/2014/main" id="{CF7B945F-5485-4A54-A9BC-983DD92E0DD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3" y="2624"/>
              <a:ext cx="2430" cy="1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37">
              <a:extLst>
                <a:ext uri="{FF2B5EF4-FFF2-40B4-BE49-F238E27FC236}">
                  <a16:creationId xmlns:a16="http://schemas.microsoft.com/office/drawing/2014/main" id="{D1799290-AB0F-4A67-9F88-88BD6181A942}"/>
                </a:ext>
              </a:extLst>
            </p:cNvPr>
            <p:cNvSpPr>
              <a:spLocks noChangeArrowheads="1"/>
            </p:cNvSpPr>
            <p:nvPr/>
          </p:nvSpPr>
          <p:spPr bwMode="auto">
            <a:xfrm>
              <a:off x="687" y="2921"/>
              <a:ext cx="1728" cy="518"/>
            </a:xfrm>
            <a:prstGeom prst="rect">
              <a:avLst/>
            </a:prstGeom>
            <a:noFill/>
            <a:ln w="12700">
              <a:noFill/>
              <a:miter lim="800000"/>
              <a:headEnd type="none" w="sm" len="sm"/>
              <a:tailEnd type="none" w="sm" len="sm"/>
            </a:ln>
            <a:effectLst/>
          </p:spPr>
          <p:txBody>
            <a:bodyPr>
              <a:spAutoFit/>
            </a:bodyPr>
            <a:lstStyle/>
            <a:p>
              <a:pPr>
                <a:defRPr/>
              </a:pPr>
              <a:r>
                <a:rPr lang="zh-CN" altLang="en-US" sz="2400">
                  <a:solidFill>
                    <a:schemeClr val="tx2"/>
                  </a:solidFill>
                  <a:effectLst>
                    <a:outerShdw blurRad="38100" dist="38100" dir="2700000" algn="tl">
                      <a:srgbClr val="000000"/>
                    </a:outerShdw>
                  </a:effectLst>
                  <a:latin typeface="Arial" charset="0"/>
                </a:rPr>
                <a:t>计提无形资产</a:t>
              </a:r>
            </a:p>
            <a:p>
              <a:pPr>
                <a:defRPr/>
              </a:pPr>
              <a:r>
                <a:rPr lang="zh-CN" altLang="en-US" sz="2400">
                  <a:solidFill>
                    <a:schemeClr val="tx2"/>
                  </a:solidFill>
                  <a:effectLst>
                    <a:outerShdw blurRad="38100" dist="38100" dir="2700000" algn="tl">
                      <a:srgbClr val="000000"/>
                    </a:outerShdw>
                  </a:effectLst>
                  <a:latin typeface="Arial" charset="0"/>
                </a:rPr>
                <a:t>减值准备</a:t>
              </a:r>
            </a:p>
          </p:txBody>
        </p:sp>
      </p:grpSp>
      <p:grpSp>
        <p:nvGrpSpPr>
          <p:cNvPr id="21" name="Group 41">
            <a:extLst>
              <a:ext uri="{FF2B5EF4-FFF2-40B4-BE49-F238E27FC236}">
                <a16:creationId xmlns:a16="http://schemas.microsoft.com/office/drawing/2014/main" id="{8BB2EFBE-3ECB-4AEA-8F7C-6CF834EC2E90}"/>
              </a:ext>
            </a:extLst>
          </p:cNvPr>
          <p:cNvGrpSpPr>
            <a:grpSpLocks/>
          </p:cNvGrpSpPr>
          <p:nvPr/>
        </p:nvGrpSpPr>
        <p:grpSpPr bwMode="auto">
          <a:xfrm>
            <a:off x="5241189" y="5281315"/>
            <a:ext cx="2622550" cy="1541463"/>
            <a:chOff x="3328" y="2780"/>
            <a:chExt cx="1652" cy="971"/>
          </a:xfrm>
        </p:grpSpPr>
        <p:pic>
          <p:nvPicPr>
            <p:cNvPr id="22" name="Picture 40" descr="GEL-Circle-sand">
              <a:extLst>
                <a:ext uri="{FF2B5EF4-FFF2-40B4-BE49-F238E27FC236}">
                  <a16:creationId xmlns:a16="http://schemas.microsoft.com/office/drawing/2014/main" id="{71F7F86F-EE9C-4B4A-A741-E2DFF79D83F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46" y="2780"/>
              <a:ext cx="1603" cy="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Rectangle 39">
              <a:extLst>
                <a:ext uri="{FF2B5EF4-FFF2-40B4-BE49-F238E27FC236}">
                  <a16:creationId xmlns:a16="http://schemas.microsoft.com/office/drawing/2014/main" id="{ADD0AE44-1A02-4817-967F-FB42E1B6E1CB}"/>
                </a:ext>
              </a:extLst>
            </p:cNvPr>
            <p:cNvSpPr>
              <a:spLocks noChangeArrowheads="1"/>
            </p:cNvSpPr>
            <p:nvPr/>
          </p:nvSpPr>
          <p:spPr bwMode="auto">
            <a:xfrm>
              <a:off x="3328" y="3114"/>
              <a:ext cx="1652" cy="288"/>
            </a:xfrm>
            <a:prstGeom prst="rect">
              <a:avLst/>
            </a:prstGeom>
            <a:noFill/>
            <a:ln w="12700">
              <a:noFill/>
              <a:miter lim="800000"/>
              <a:headEnd type="none" w="sm" len="sm"/>
              <a:tailEnd type="none" w="sm" len="sm"/>
            </a:ln>
            <a:effectLst/>
          </p:spPr>
          <p:txBody>
            <a:bodyPr wrap="none">
              <a:spAutoFit/>
            </a:bodyPr>
            <a:lstStyle/>
            <a:p>
              <a:pPr>
                <a:defRPr/>
              </a:pPr>
              <a:r>
                <a:rPr lang="zh-CN" altLang="en-US" sz="2400">
                  <a:solidFill>
                    <a:schemeClr val="tx2"/>
                  </a:solidFill>
                  <a:effectLst>
                    <a:outerShdw blurRad="38100" dist="38100" dir="2700000" algn="tl">
                      <a:srgbClr val="000000"/>
                    </a:outerShdw>
                  </a:effectLst>
                  <a:latin typeface="Arial" charset="0"/>
                </a:rPr>
                <a:t>计入资产减值损失</a:t>
              </a:r>
            </a:p>
          </p:txBody>
        </p:sp>
      </p:grpSp>
      <p:sp>
        <p:nvSpPr>
          <p:cNvPr id="24" name="Text Box 42">
            <a:extLst>
              <a:ext uri="{FF2B5EF4-FFF2-40B4-BE49-F238E27FC236}">
                <a16:creationId xmlns:a16="http://schemas.microsoft.com/office/drawing/2014/main" id="{2C926DDD-932E-4681-BA49-E2A2CFF70BE8}"/>
              </a:ext>
            </a:extLst>
          </p:cNvPr>
          <p:cNvSpPr txBox="1">
            <a:spLocks noChangeArrowheads="1"/>
          </p:cNvSpPr>
          <p:nvPr/>
        </p:nvSpPr>
        <p:spPr bwMode="auto">
          <a:xfrm>
            <a:off x="6128602" y="3081040"/>
            <a:ext cx="655637" cy="641350"/>
          </a:xfrm>
          <a:prstGeom prst="rect">
            <a:avLst/>
          </a:prstGeom>
          <a:noFill/>
          <a:ln w="12700" algn="ctr">
            <a:noFill/>
            <a:miter lim="800000"/>
            <a:headEnd/>
            <a:tailEnd/>
          </a:ln>
          <a:effectLst/>
        </p:spPr>
        <p:txBody>
          <a:bodyPr>
            <a:spAutoFit/>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a:lnSpc>
                <a:spcPct val="90000"/>
              </a:lnSpc>
              <a:spcBef>
                <a:spcPct val="30000"/>
              </a:spcBef>
              <a:buClr>
                <a:schemeClr val="tx2"/>
              </a:buClr>
              <a:buSzPct val="75000"/>
              <a:buFont typeface="Wingdings" panose="05000000000000000000" pitchFamily="2" charset="2"/>
              <a:buNone/>
            </a:pPr>
            <a:r>
              <a:rPr lang="en-US" altLang="zh-CN" sz="4000">
                <a:solidFill>
                  <a:srgbClr val="FF3300"/>
                </a:solidFill>
                <a:effectLst>
                  <a:outerShdw blurRad="38100" dist="38100" dir="2700000" algn="tl">
                    <a:srgbClr val="000000"/>
                  </a:outerShdw>
                </a:effectLst>
              </a:rPr>
              <a:t>X</a:t>
            </a:r>
          </a:p>
        </p:txBody>
      </p:sp>
      <p:pic>
        <p:nvPicPr>
          <p:cNvPr id="25" name="Picture 43" descr="checkmark">
            <a:extLst>
              <a:ext uri="{FF2B5EF4-FFF2-40B4-BE49-F238E27FC236}">
                <a16:creationId xmlns:a16="http://schemas.microsoft.com/office/drawing/2014/main" id="{06A061D7-A7E8-4B1C-B80A-6351A66A4A6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80514" y="3119140"/>
            <a:ext cx="61277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78691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grpSp>
        <p:nvGrpSpPr>
          <p:cNvPr id="4" name="Group 2">
            <a:extLst>
              <a:ext uri="{FF2B5EF4-FFF2-40B4-BE49-F238E27FC236}">
                <a16:creationId xmlns:a16="http://schemas.microsoft.com/office/drawing/2014/main" id="{20319596-7C0A-43C0-92C1-F2024C76BC12}"/>
              </a:ext>
            </a:extLst>
          </p:cNvPr>
          <p:cNvGrpSpPr>
            <a:grpSpLocks/>
          </p:cNvGrpSpPr>
          <p:nvPr/>
        </p:nvGrpSpPr>
        <p:grpSpPr bwMode="auto">
          <a:xfrm>
            <a:off x="1359874" y="2132856"/>
            <a:ext cx="6550366" cy="4192587"/>
            <a:chOff x="876" y="911"/>
            <a:chExt cx="3712" cy="2681"/>
          </a:xfrm>
        </p:grpSpPr>
        <p:grpSp>
          <p:nvGrpSpPr>
            <p:cNvPr id="5" name="Group 3">
              <a:extLst>
                <a:ext uri="{FF2B5EF4-FFF2-40B4-BE49-F238E27FC236}">
                  <a16:creationId xmlns:a16="http://schemas.microsoft.com/office/drawing/2014/main" id="{14BB36ED-5507-4E5D-BE8D-C725E340C188}"/>
                </a:ext>
              </a:extLst>
            </p:cNvPr>
            <p:cNvGrpSpPr>
              <a:grpSpLocks/>
            </p:cNvGrpSpPr>
            <p:nvPr/>
          </p:nvGrpSpPr>
          <p:grpSpPr bwMode="auto">
            <a:xfrm>
              <a:off x="876" y="911"/>
              <a:ext cx="3712" cy="2681"/>
              <a:chOff x="876" y="911"/>
              <a:chExt cx="3712" cy="2681"/>
            </a:xfrm>
          </p:grpSpPr>
          <p:grpSp>
            <p:nvGrpSpPr>
              <p:cNvPr id="7" name="Group 4">
                <a:extLst>
                  <a:ext uri="{FF2B5EF4-FFF2-40B4-BE49-F238E27FC236}">
                    <a16:creationId xmlns:a16="http://schemas.microsoft.com/office/drawing/2014/main" id="{71D397E5-5FE6-45EC-9DAC-D54EE10780F0}"/>
                  </a:ext>
                </a:extLst>
              </p:cNvPr>
              <p:cNvGrpSpPr>
                <a:grpSpLocks/>
              </p:cNvGrpSpPr>
              <p:nvPr/>
            </p:nvGrpSpPr>
            <p:grpSpPr bwMode="auto">
              <a:xfrm>
                <a:off x="1125" y="2781"/>
                <a:ext cx="1202" cy="811"/>
                <a:chOff x="947" y="1413"/>
                <a:chExt cx="1970" cy="1386"/>
              </a:xfrm>
            </p:grpSpPr>
            <p:pic>
              <p:nvPicPr>
                <p:cNvPr id="22" name="Picture 5" descr="GEL Rounded Rectangle amethyst">
                  <a:extLst>
                    <a:ext uri="{FF2B5EF4-FFF2-40B4-BE49-F238E27FC236}">
                      <a16:creationId xmlns:a16="http://schemas.microsoft.com/office/drawing/2014/main" id="{6F8BFCD1-BF77-4688-9189-DBF757FDC5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 y="1413"/>
                  <a:ext cx="1955" cy="1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 Box 6">
                  <a:extLst>
                    <a:ext uri="{FF2B5EF4-FFF2-40B4-BE49-F238E27FC236}">
                      <a16:creationId xmlns:a16="http://schemas.microsoft.com/office/drawing/2014/main" id="{47DD4378-C6AE-44C5-96E6-8B1884C1A1DF}"/>
                    </a:ext>
                  </a:extLst>
                </p:cNvPr>
                <p:cNvSpPr txBox="1">
                  <a:spLocks noChangeArrowheads="1"/>
                </p:cNvSpPr>
                <p:nvPr/>
              </p:nvSpPr>
              <p:spPr bwMode="auto">
                <a:xfrm>
                  <a:off x="1498" y="1877"/>
                  <a:ext cx="1419" cy="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solidFill>
                        <a:srgbClr val="111111"/>
                      </a:solidFill>
                    </a:rPr>
                    <a:t>贷记</a:t>
                  </a:r>
                </a:p>
              </p:txBody>
            </p:sp>
          </p:grpSp>
          <p:grpSp>
            <p:nvGrpSpPr>
              <p:cNvPr id="8" name="Group 7">
                <a:extLst>
                  <a:ext uri="{FF2B5EF4-FFF2-40B4-BE49-F238E27FC236}">
                    <a16:creationId xmlns:a16="http://schemas.microsoft.com/office/drawing/2014/main" id="{BA2F5662-7E2A-4297-9C54-271207895D49}"/>
                  </a:ext>
                </a:extLst>
              </p:cNvPr>
              <p:cNvGrpSpPr>
                <a:grpSpLocks/>
              </p:cNvGrpSpPr>
              <p:nvPr/>
            </p:nvGrpSpPr>
            <p:grpSpPr bwMode="auto">
              <a:xfrm>
                <a:off x="876" y="911"/>
                <a:ext cx="1374" cy="1151"/>
                <a:chOff x="803" y="735"/>
                <a:chExt cx="1383" cy="1383"/>
              </a:xfrm>
            </p:grpSpPr>
            <p:pic>
              <p:nvPicPr>
                <p:cNvPr id="20" name="Picture 8" descr="blue sphere2">
                  <a:extLst>
                    <a:ext uri="{FF2B5EF4-FFF2-40B4-BE49-F238E27FC236}">
                      <a16:creationId xmlns:a16="http://schemas.microsoft.com/office/drawing/2014/main" id="{1615B7A3-B556-4921-A458-C9EB41E1C1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 y="735"/>
                  <a:ext cx="1383" cy="1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Box 9">
                  <a:extLst>
                    <a:ext uri="{FF2B5EF4-FFF2-40B4-BE49-F238E27FC236}">
                      <a16:creationId xmlns:a16="http://schemas.microsoft.com/office/drawing/2014/main" id="{DA62E585-0CBF-4F4F-8478-4ACB85E553F8}"/>
                    </a:ext>
                  </a:extLst>
                </p:cNvPr>
                <p:cNvSpPr txBox="1">
                  <a:spLocks noChangeArrowheads="1"/>
                </p:cNvSpPr>
                <p:nvPr/>
              </p:nvSpPr>
              <p:spPr bwMode="auto">
                <a:xfrm>
                  <a:off x="1072" y="1185"/>
                  <a:ext cx="903" cy="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r>
                    <a:rPr lang="zh-CN" altLang="en-US" sz="2200" dirty="0">
                      <a:solidFill>
                        <a:schemeClr val="bg1"/>
                      </a:solidFill>
                    </a:rPr>
                    <a:t>无形资产</a:t>
                  </a:r>
                </a:p>
                <a:p>
                  <a:r>
                    <a:rPr lang="zh-CN" altLang="en-US" sz="2200" dirty="0">
                      <a:solidFill>
                        <a:schemeClr val="bg1"/>
                      </a:solidFill>
                    </a:rPr>
                    <a:t>减值准备</a:t>
                  </a:r>
                </a:p>
              </p:txBody>
            </p:sp>
          </p:grpSp>
          <p:pic>
            <p:nvPicPr>
              <p:cNvPr id="9" name="Picture 10" descr="GEL Freestyle Arrow MS-green">
                <a:extLst>
                  <a:ext uri="{FF2B5EF4-FFF2-40B4-BE49-F238E27FC236}">
                    <a16:creationId xmlns:a16="http://schemas.microsoft.com/office/drawing/2014/main" id="{559D78A7-0C8D-45F4-A462-56044858C1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7320702">
                <a:off x="1234" y="2234"/>
                <a:ext cx="904"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1" descr="GEL Freestyle Arrow MS-red">
                <a:extLst>
                  <a:ext uri="{FF2B5EF4-FFF2-40B4-BE49-F238E27FC236}">
                    <a16:creationId xmlns:a16="http://schemas.microsoft.com/office/drawing/2014/main" id="{A5F8D3BC-8C37-42C1-B52B-B4087A0263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463679">
                <a:off x="3705" y="1867"/>
                <a:ext cx="374"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Group 12">
                <a:extLst>
                  <a:ext uri="{FF2B5EF4-FFF2-40B4-BE49-F238E27FC236}">
                    <a16:creationId xmlns:a16="http://schemas.microsoft.com/office/drawing/2014/main" id="{B69F470C-9A45-472C-9295-62C740DF539F}"/>
                  </a:ext>
                </a:extLst>
              </p:cNvPr>
              <p:cNvGrpSpPr>
                <a:grpSpLocks/>
              </p:cNvGrpSpPr>
              <p:nvPr/>
            </p:nvGrpSpPr>
            <p:grpSpPr bwMode="auto">
              <a:xfrm>
                <a:off x="3401" y="2783"/>
                <a:ext cx="1187" cy="782"/>
                <a:chOff x="3600" y="2774"/>
                <a:chExt cx="1187" cy="782"/>
              </a:xfrm>
            </p:grpSpPr>
            <p:pic>
              <p:nvPicPr>
                <p:cNvPr id="18" name="Picture 13" descr="GEL Rounded Rectangle carrot">
                  <a:extLst>
                    <a:ext uri="{FF2B5EF4-FFF2-40B4-BE49-F238E27FC236}">
                      <a16:creationId xmlns:a16="http://schemas.microsoft.com/office/drawing/2014/main" id="{5208E7CC-8119-40D1-B2FA-BF712475908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0" y="2774"/>
                  <a:ext cx="1187" cy="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14">
                  <a:extLst>
                    <a:ext uri="{FF2B5EF4-FFF2-40B4-BE49-F238E27FC236}">
                      <a16:creationId xmlns:a16="http://schemas.microsoft.com/office/drawing/2014/main" id="{DDAD8C7F-5BD2-4369-8A0A-085F36D56FF0}"/>
                    </a:ext>
                  </a:extLst>
                </p:cNvPr>
                <p:cNvSpPr txBox="1">
                  <a:spLocks noChangeArrowheads="1"/>
                </p:cNvSpPr>
                <p:nvPr/>
              </p:nvSpPr>
              <p:spPr bwMode="auto">
                <a:xfrm>
                  <a:off x="3609" y="3002"/>
                  <a:ext cx="1176" cy="295"/>
                </a:xfrm>
                <a:prstGeom prst="rect">
                  <a:avLst/>
                </a:prstGeom>
                <a:noFill/>
                <a:ln w="12700">
                  <a:noFill/>
                  <a:miter lim="800000"/>
                  <a:headEnd/>
                  <a:tailEnd/>
                </a:ln>
                <a:effectLst/>
              </p:spPr>
              <p:txBody>
                <a:bodyPr>
                  <a:spAutoFit/>
                </a:bodyPr>
                <a:lstStyle/>
                <a:p>
                  <a:pPr eaLnBrk="1" hangingPunct="1">
                    <a:spcBef>
                      <a:spcPct val="50000"/>
                    </a:spcBef>
                    <a:defRPr/>
                  </a:pPr>
                  <a:r>
                    <a:rPr lang="zh-CN" altLang="en-US" sz="2400" b="1" dirty="0">
                      <a:solidFill>
                        <a:schemeClr val="tx2"/>
                      </a:solidFill>
                      <a:latin typeface="Arial" charset="0"/>
                    </a:rPr>
                    <a:t>资产减值损失</a:t>
                  </a:r>
                </a:p>
              </p:txBody>
            </p:sp>
          </p:grpSp>
          <p:grpSp>
            <p:nvGrpSpPr>
              <p:cNvPr id="12" name="Group 15">
                <a:extLst>
                  <a:ext uri="{FF2B5EF4-FFF2-40B4-BE49-F238E27FC236}">
                    <a16:creationId xmlns:a16="http://schemas.microsoft.com/office/drawing/2014/main" id="{D65D753F-D822-45A7-ABF9-83064C6AC767}"/>
                  </a:ext>
                </a:extLst>
              </p:cNvPr>
              <p:cNvGrpSpPr>
                <a:grpSpLocks/>
              </p:cNvGrpSpPr>
              <p:nvPr/>
            </p:nvGrpSpPr>
            <p:grpSpPr bwMode="auto">
              <a:xfrm>
                <a:off x="3299" y="941"/>
                <a:ext cx="1149" cy="966"/>
                <a:chOff x="3452" y="941"/>
                <a:chExt cx="1149" cy="966"/>
              </a:xfrm>
            </p:grpSpPr>
            <p:grpSp>
              <p:nvGrpSpPr>
                <p:cNvPr id="14" name="Group 16">
                  <a:extLst>
                    <a:ext uri="{FF2B5EF4-FFF2-40B4-BE49-F238E27FC236}">
                      <a16:creationId xmlns:a16="http://schemas.microsoft.com/office/drawing/2014/main" id="{184A05E2-02F1-445D-A348-F669A7B9DB50}"/>
                    </a:ext>
                  </a:extLst>
                </p:cNvPr>
                <p:cNvGrpSpPr>
                  <a:grpSpLocks/>
                </p:cNvGrpSpPr>
                <p:nvPr/>
              </p:nvGrpSpPr>
              <p:grpSpPr bwMode="auto">
                <a:xfrm>
                  <a:off x="3452" y="941"/>
                  <a:ext cx="1149" cy="966"/>
                  <a:chOff x="288" y="864"/>
                  <a:chExt cx="720" cy="768"/>
                </a:xfrm>
              </p:grpSpPr>
              <p:sp>
                <p:nvSpPr>
                  <p:cNvPr id="16" name="Oval 17">
                    <a:extLst>
                      <a:ext uri="{FF2B5EF4-FFF2-40B4-BE49-F238E27FC236}">
                        <a16:creationId xmlns:a16="http://schemas.microsoft.com/office/drawing/2014/main" id="{3E8A258F-AA2F-46CB-AEF7-BCAB588778A0}"/>
                      </a:ext>
                    </a:extLst>
                  </p:cNvPr>
                  <p:cNvSpPr>
                    <a:spLocks noChangeArrowheads="1"/>
                  </p:cNvSpPr>
                  <p:nvPr/>
                </p:nvSpPr>
                <p:spPr bwMode="auto">
                  <a:xfrm>
                    <a:off x="288" y="912"/>
                    <a:ext cx="720" cy="720"/>
                  </a:xfrm>
                  <a:prstGeom prst="ellipse">
                    <a:avLst/>
                  </a:prstGeom>
                  <a:solidFill>
                    <a:srgbClr val="008000"/>
                  </a:solidFill>
                  <a:ln w="3175">
                    <a:solidFill>
                      <a:srgbClr val="000000">
                        <a:alpha val="17000"/>
                      </a:srgbClr>
                    </a:solidFill>
                    <a:round/>
                    <a:headEnd/>
                    <a:tailEnd/>
                  </a:ln>
                  <a:effectLst/>
                </p:spPr>
                <p:txBody>
                  <a:bodyPr wrap="none" anchor="ctr"/>
                  <a:lstStyle/>
                  <a:p>
                    <a:pPr eaLnBrk="1" hangingPunct="1">
                      <a:defRPr/>
                    </a:pPr>
                    <a:endParaRPr lang="zh-CN" altLang="zh-CN" sz="1800" i="1">
                      <a:solidFill>
                        <a:schemeClr val="accent1"/>
                      </a:solidFill>
                      <a:effectLst>
                        <a:outerShdw blurRad="38100" dist="38100" dir="2700000" algn="tl">
                          <a:srgbClr val="000000"/>
                        </a:outerShdw>
                      </a:effectLst>
                      <a:latin typeface="Arial" charset="0"/>
                      <a:cs typeface="Arial" charset="0"/>
                    </a:endParaRPr>
                  </a:p>
                </p:txBody>
              </p:sp>
              <p:sp>
                <p:nvSpPr>
                  <p:cNvPr id="17" name="Oval 18">
                    <a:extLst>
                      <a:ext uri="{FF2B5EF4-FFF2-40B4-BE49-F238E27FC236}">
                        <a16:creationId xmlns:a16="http://schemas.microsoft.com/office/drawing/2014/main" id="{2C3C0D01-52F7-4B84-84ED-96DC7AFE110A}"/>
                      </a:ext>
                    </a:extLst>
                  </p:cNvPr>
                  <p:cNvSpPr>
                    <a:spLocks noChangeArrowheads="1"/>
                  </p:cNvSpPr>
                  <p:nvPr/>
                </p:nvSpPr>
                <p:spPr bwMode="auto">
                  <a:xfrm>
                    <a:off x="288" y="864"/>
                    <a:ext cx="624" cy="624"/>
                  </a:xfrm>
                  <a:prstGeom prst="ellipse">
                    <a:avLst/>
                  </a:prstGeom>
                  <a:gradFill rotWithShape="1">
                    <a:gsLst>
                      <a:gs pos="0">
                        <a:srgbClr val="FFFFFF"/>
                      </a:gs>
                      <a:gs pos="100000">
                        <a:srgbClr val="FFFFFF">
                          <a:gamma/>
                          <a:shade val="0"/>
                          <a:invGamma/>
                          <a:alpha val="0"/>
                        </a:srgbClr>
                      </a:gs>
                    </a:gsLst>
                    <a:path path="shape">
                      <a:fillToRect l="50000" t="50000" r="50000" b="50000"/>
                    </a:path>
                  </a:gradFill>
                  <a:ln w="9525">
                    <a:no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latin typeface="Arial" charset="0"/>
                    </a:endParaRPr>
                  </a:p>
                </p:txBody>
              </p:sp>
            </p:grpSp>
            <p:sp>
              <p:nvSpPr>
                <p:cNvPr id="15" name="Rectangle 19">
                  <a:extLst>
                    <a:ext uri="{FF2B5EF4-FFF2-40B4-BE49-F238E27FC236}">
                      <a16:creationId xmlns:a16="http://schemas.microsoft.com/office/drawing/2014/main" id="{DEBB65DB-4E6F-4ABA-A333-9F25D441C964}"/>
                    </a:ext>
                  </a:extLst>
                </p:cNvPr>
                <p:cNvSpPr>
                  <a:spLocks noChangeArrowheads="1"/>
                </p:cNvSpPr>
                <p:nvPr/>
              </p:nvSpPr>
              <p:spPr bwMode="auto">
                <a:xfrm>
                  <a:off x="3816" y="1319"/>
                  <a:ext cx="453" cy="295"/>
                </a:xfrm>
                <a:prstGeom prst="rect">
                  <a:avLst/>
                </a:prstGeom>
                <a:noFill/>
                <a:ln w="12700">
                  <a:noFill/>
                  <a:miter lim="800000"/>
                  <a:headEnd type="none" w="sm" len="sm"/>
                  <a:tailEnd type="none" w="sm" len="sm"/>
                </a:ln>
                <a:effectLst/>
              </p:spPr>
              <p:txBody>
                <a:bodyPr wrap="none">
                  <a:spAutoFit/>
                </a:bodyPr>
                <a:lstStyle/>
                <a:p>
                  <a:pPr>
                    <a:defRPr/>
                  </a:pPr>
                  <a:r>
                    <a:rPr lang="zh-CN" altLang="en-US" sz="2400" b="1" dirty="0">
                      <a:solidFill>
                        <a:srgbClr val="000000"/>
                      </a:solidFill>
                      <a:latin typeface="Arial" charset="0"/>
                    </a:rPr>
                    <a:t>借记</a:t>
                  </a:r>
                </a:p>
              </p:txBody>
            </p:sp>
          </p:grpSp>
          <p:pic>
            <p:nvPicPr>
              <p:cNvPr id="13" name="Picture 20" descr="Green-arrow">
                <a:extLst>
                  <a:ext uri="{FF2B5EF4-FFF2-40B4-BE49-F238E27FC236}">
                    <a16:creationId xmlns:a16="http://schemas.microsoft.com/office/drawing/2014/main" id="{707B781D-5261-48F7-96CE-693633C02B9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408757">
                <a:off x="2217" y="2157"/>
                <a:ext cx="1274" cy="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 name="Picture 21" descr="Green-arrow">
              <a:extLst>
                <a:ext uri="{FF2B5EF4-FFF2-40B4-BE49-F238E27FC236}">
                  <a16:creationId xmlns:a16="http://schemas.microsoft.com/office/drawing/2014/main" id="{3951422E-C70D-448C-8B19-5C7DAA57DD0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242217">
              <a:off x="2249" y="1872"/>
              <a:ext cx="1316" cy="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93428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amond(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61256" y="1811052"/>
            <a:ext cx="7875240" cy="2491407"/>
          </a:xfrm>
        </p:spPr>
        <p:txBody>
          <a:bodyPr/>
          <a:lstStyle/>
          <a:p>
            <a:r>
              <a:rPr lang="en-US" altLang="zh-CN" dirty="0"/>
              <a:t>2×17</a:t>
            </a:r>
            <a:r>
              <a:rPr lang="zh-CN" altLang="en-US" dirty="0"/>
              <a:t>年</a:t>
            </a:r>
            <a:r>
              <a:rPr lang="en-US" altLang="zh-CN" dirty="0"/>
              <a:t>1</a:t>
            </a:r>
            <a:r>
              <a:rPr lang="zh-CN" altLang="en-US" dirty="0"/>
              <a:t>月</a:t>
            </a:r>
            <a:r>
              <a:rPr lang="en-US" altLang="zh-CN" dirty="0"/>
              <a:t>A</a:t>
            </a:r>
            <a:r>
              <a:rPr lang="zh-CN" altLang="en-US" dirty="0"/>
              <a:t>公司内部研发成功并可供使用非专利技术的无形资产入账价值为</a:t>
            </a:r>
            <a:r>
              <a:rPr lang="en-US" altLang="zh-CN" dirty="0"/>
              <a:t>300</a:t>
            </a:r>
            <a:r>
              <a:rPr lang="zh-CN" altLang="en-US" dirty="0"/>
              <a:t>万元，无法预计这一非专利技术为企业带来经济利益的期限。</a:t>
            </a:r>
            <a:r>
              <a:rPr lang="en-US" altLang="zh-CN" dirty="0"/>
              <a:t>2×17</a:t>
            </a:r>
            <a:r>
              <a:rPr lang="zh-CN" altLang="en-US" dirty="0"/>
              <a:t>、</a:t>
            </a:r>
            <a:r>
              <a:rPr lang="en-US" altLang="zh-CN" dirty="0"/>
              <a:t>2×18</a:t>
            </a:r>
            <a:r>
              <a:rPr lang="zh-CN" altLang="en-US" dirty="0"/>
              <a:t>年末其预计可收回金额分别为</a:t>
            </a:r>
            <a:r>
              <a:rPr lang="en-US" altLang="zh-CN" dirty="0"/>
              <a:t>320</a:t>
            </a:r>
            <a:r>
              <a:rPr lang="zh-CN" altLang="en-US" dirty="0"/>
              <a:t>万元、</a:t>
            </a:r>
            <a:r>
              <a:rPr lang="en-US" altLang="zh-CN" dirty="0"/>
              <a:t>290</a:t>
            </a:r>
            <a:r>
              <a:rPr lang="zh-CN" altLang="en-US" dirty="0"/>
              <a:t>万元；</a:t>
            </a:r>
            <a:r>
              <a:rPr lang="en-US" altLang="zh-CN" dirty="0"/>
              <a:t>2×19</a:t>
            </a:r>
            <a:r>
              <a:rPr lang="zh-CN" altLang="en-US" dirty="0"/>
              <a:t>年末预计其可收回金额为</a:t>
            </a:r>
            <a:r>
              <a:rPr lang="en-US" altLang="zh-CN" dirty="0"/>
              <a:t>260</a:t>
            </a:r>
            <a:r>
              <a:rPr lang="zh-CN" altLang="en-US" dirty="0"/>
              <a:t>万元，预计该非专利技术可继续使用</a:t>
            </a:r>
            <a:r>
              <a:rPr lang="en-US" altLang="zh-CN" dirty="0"/>
              <a:t>4</a:t>
            </a:r>
            <a:r>
              <a:rPr lang="zh-CN" altLang="en-US" dirty="0"/>
              <a:t>年 </a:t>
            </a:r>
            <a:endParaRPr lang="en-US" altLang="zh-CN" dirty="0"/>
          </a:p>
        </p:txBody>
      </p:sp>
      <p:sp>
        <p:nvSpPr>
          <p:cNvPr id="4" name="内容占位符 2">
            <a:extLst>
              <a:ext uri="{FF2B5EF4-FFF2-40B4-BE49-F238E27FC236}">
                <a16:creationId xmlns:a16="http://schemas.microsoft.com/office/drawing/2014/main" id="{F08538D9-3945-4A44-8140-A43B94A8EC2D}"/>
              </a:ext>
            </a:extLst>
          </p:cNvPr>
          <p:cNvSpPr txBox="1">
            <a:spLocks/>
          </p:cNvSpPr>
          <p:nvPr/>
        </p:nvSpPr>
        <p:spPr bwMode="auto">
          <a:xfrm>
            <a:off x="2886730" y="4302459"/>
            <a:ext cx="6260232" cy="2491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57175" indent="-257175" algn="l" rtl="0" eaLnBrk="0" fontAlgn="base" hangingPunct="0">
              <a:spcBef>
                <a:spcPct val="15000"/>
              </a:spcBef>
              <a:spcAft>
                <a:spcPct val="0"/>
              </a:spcAft>
              <a:buClr>
                <a:schemeClr val="folHlink"/>
              </a:buClr>
              <a:buSzPct val="60000"/>
              <a:buFont typeface="Wingdings" panose="05000000000000000000" pitchFamily="2" charset="2"/>
              <a:buChar char="n"/>
              <a:defRPr sz="2600" b="0">
                <a:solidFill>
                  <a:schemeClr val="tx1"/>
                </a:solidFill>
                <a:latin typeface="黑体" panose="02010609060101010101" pitchFamily="49" charset="-122"/>
                <a:ea typeface="黑体" panose="02010609060101010101" pitchFamily="49" charset="-122"/>
                <a:cs typeface="+mn-cs"/>
              </a:defRPr>
            </a:lvl1pPr>
            <a:lvl2pPr marL="557530" indent="-213995" algn="l" rtl="0" eaLnBrk="0" fontAlgn="base" hangingPunct="0">
              <a:spcBef>
                <a:spcPct val="15000"/>
              </a:spcBef>
              <a:spcAft>
                <a:spcPct val="0"/>
              </a:spcAft>
              <a:buClr>
                <a:schemeClr val="hlink"/>
              </a:buClr>
              <a:buSzPct val="55000"/>
              <a:buFont typeface="Wingdings" panose="05000000000000000000" pitchFamily="2" charset="2"/>
              <a:buChar char="n"/>
              <a:defRPr sz="2400" b="0">
                <a:solidFill>
                  <a:schemeClr val="tx1"/>
                </a:solidFill>
                <a:latin typeface="楷体_GB2312" panose="02010609030101010101" pitchFamily="49" charset="-122"/>
                <a:ea typeface="楷体_GB2312" panose="02010609030101010101" pitchFamily="49" charset="-122"/>
              </a:defRPr>
            </a:lvl2pPr>
            <a:lvl3pPr marL="857250" indent="-171450" algn="l" rtl="0" eaLnBrk="0" fontAlgn="base" hangingPunct="0">
              <a:spcBef>
                <a:spcPct val="15000"/>
              </a:spcBef>
              <a:spcAft>
                <a:spcPct val="0"/>
              </a:spcAft>
              <a:buClr>
                <a:schemeClr val="folHlink"/>
              </a:buClr>
              <a:buSzPct val="50000"/>
              <a:buFont typeface="Wingdings" panose="05000000000000000000" pitchFamily="2" charset="2"/>
              <a:buChar char="n"/>
              <a:defRPr sz="2000" b="0">
                <a:solidFill>
                  <a:schemeClr val="tx1"/>
                </a:solidFill>
                <a:latin typeface="+mn-ea"/>
                <a:ea typeface="+mn-ea"/>
              </a:defRPr>
            </a:lvl3pPr>
            <a:lvl4pPr marL="1200150" indent="-171450" algn="l" rtl="0" eaLnBrk="0" fontAlgn="base" hangingPunct="0">
              <a:spcBef>
                <a:spcPct val="15000"/>
              </a:spcBef>
              <a:spcAft>
                <a:spcPct val="0"/>
              </a:spcAft>
              <a:buClr>
                <a:schemeClr val="accent2"/>
              </a:buClr>
              <a:buSzPct val="55000"/>
              <a:buFont typeface="Wingdings" panose="05000000000000000000" pitchFamily="2" charset="2"/>
              <a:buChar char="n"/>
              <a:defRPr sz="1600" b="0">
                <a:solidFill>
                  <a:schemeClr val="tx1"/>
                </a:solidFill>
                <a:latin typeface="仿宋_GB2312" panose="02010609030101010101" pitchFamily="49" charset="-122"/>
                <a:ea typeface="仿宋_GB2312" panose="02010609030101010101" pitchFamily="49" charset="-122"/>
              </a:defRPr>
            </a:lvl4pPr>
            <a:lvl5pPr marL="1543050" indent="-171450" algn="l" rtl="0" eaLnBrk="0" fontAlgn="base" hangingPunct="0">
              <a:spcBef>
                <a:spcPct val="15000"/>
              </a:spcBef>
              <a:spcAft>
                <a:spcPct val="0"/>
              </a:spcAft>
              <a:buClr>
                <a:schemeClr val="accent1"/>
              </a:buClr>
              <a:buSzPct val="50000"/>
              <a:buFont typeface="Wingdings" panose="05000000000000000000" pitchFamily="2" charset="2"/>
              <a:buChar char="n"/>
              <a:defRPr sz="1500" b="0">
                <a:solidFill>
                  <a:schemeClr val="tx1"/>
                </a:solidFill>
                <a:latin typeface="黑体" panose="02010609060101010101" pitchFamily="49" charset="-122"/>
                <a:ea typeface="黑体" panose="02010609060101010101" pitchFamily="49" charset="-122"/>
              </a:defRPr>
            </a:lvl5pPr>
            <a:lvl6pPr marL="18859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6pPr>
            <a:lvl7pPr marL="22288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7pPr>
            <a:lvl8pPr marL="25717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8pPr>
            <a:lvl9pPr marL="2914650" indent="-171450" algn="l" rtl="0" fontAlgn="base">
              <a:spcBef>
                <a:spcPct val="15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9pPr>
          </a:lstStyle>
          <a:p>
            <a:pPr lvl="1"/>
            <a:r>
              <a:rPr lang="en-US" altLang="zh-CN" kern="0" dirty="0"/>
              <a:t>2×17</a:t>
            </a:r>
            <a:r>
              <a:rPr lang="zh-CN" altLang="en-US" kern="0" dirty="0"/>
              <a:t>年</a:t>
            </a:r>
            <a:r>
              <a:rPr lang="en-US" altLang="zh-CN" kern="0" dirty="0"/>
              <a:t>~2×19</a:t>
            </a:r>
            <a:r>
              <a:rPr lang="zh-CN" altLang="en-US" kern="0" dirty="0"/>
              <a:t>年属于使用寿命不确定的资产。</a:t>
            </a:r>
            <a:r>
              <a:rPr lang="en-US" altLang="zh-CN" kern="0" dirty="0"/>
              <a:t>2×17</a:t>
            </a:r>
            <a:r>
              <a:rPr lang="zh-CN" altLang="en-US" kern="0" dirty="0"/>
              <a:t>年末计提减值，</a:t>
            </a:r>
            <a:r>
              <a:rPr lang="en-US" altLang="zh-CN" kern="0" dirty="0"/>
              <a:t>2×18</a:t>
            </a:r>
            <a:r>
              <a:rPr lang="zh-CN" altLang="en-US" kern="0" dirty="0"/>
              <a:t>年计提</a:t>
            </a:r>
            <a:r>
              <a:rPr lang="en-US" altLang="zh-CN" kern="0" dirty="0"/>
              <a:t>10</a:t>
            </a:r>
            <a:r>
              <a:rPr lang="zh-CN" altLang="en-US" kern="0" dirty="0"/>
              <a:t>万元，</a:t>
            </a:r>
            <a:r>
              <a:rPr lang="en-US" altLang="zh-CN" kern="0" dirty="0"/>
              <a:t>2×19</a:t>
            </a:r>
            <a:r>
              <a:rPr lang="zh-CN" altLang="en-US" kern="0" dirty="0"/>
              <a:t>年确认减值损失</a:t>
            </a:r>
            <a:r>
              <a:rPr lang="en-US" altLang="zh-CN" kern="0" dirty="0"/>
              <a:t>30</a:t>
            </a:r>
            <a:r>
              <a:rPr lang="zh-CN" altLang="en-US" kern="0" dirty="0"/>
              <a:t>万元。</a:t>
            </a:r>
          </a:p>
          <a:p>
            <a:pPr lvl="1"/>
            <a:r>
              <a:rPr lang="en-US" altLang="zh-CN" kern="0" dirty="0"/>
              <a:t>2×20</a:t>
            </a:r>
            <a:r>
              <a:rPr lang="zh-CN" altLang="en-US" kern="0" dirty="0"/>
              <a:t>年及之后采用直线法按年摊销其账面价值</a:t>
            </a:r>
          </a:p>
          <a:p>
            <a:pPr lvl="1"/>
            <a:r>
              <a:rPr lang="zh-CN" altLang="en-US" kern="0" dirty="0"/>
              <a:t>年摊销金额</a:t>
            </a:r>
            <a:r>
              <a:rPr lang="en-US" altLang="zh-CN" kern="0" dirty="0"/>
              <a:t>=260÷4=65</a:t>
            </a:r>
            <a:r>
              <a:rPr lang="zh-CN" altLang="en-US" kern="0" dirty="0"/>
              <a:t>万元</a:t>
            </a:r>
          </a:p>
          <a:p>
            <a:pPr lvl="1"/>
            <a:endParaRPr lang="zh-CN" altLang="en-US" kern="0" dirty="0"/>
          </a:p>
        </p:txBody>
      </p:sp>
      <p:sp>
        <p:nvSpPr>
          <p:cNvPr id="5" name="Text Box 3">
            <a:extLst>
              <a:ext uri="{FF2B5EF4-FFF2-40B4-BE49-F238E27FC236}">
                <a16:creationId xmlns:a16="http://schemas.microsoft.com/office/drawing/2014/main" id="{B414065E-C5C2-482E-B6E0-486DF418EB36}"/>
              </a:ext>
            </a:extLst>
          </p:cNvPr>
          <p:cNvSpPr txBox="1">
            <a:spLocks noChangeArrowheads="1"/>
          </p:cNvSpPr>
          <p:nvPr/>
        </p:nvSpPr>
        <p:spPr bwMode="auto">
          <a:xfrm>
            <a:off x="919093" y="4416424"/>
            <a:ext cx="2209800" cy="2227263"/>
          </a:xfrm>
          <a:prstGeom prst="rect">
            <a:avLst/>
          </a:prstGeom>
          <a:solidFill>
            <a:schemeClr val="bg2">
              <a:lumMod val="25000"/>
              <a:lumOff val="75000"/>
            </a:schemeClr>
          </a:solidFill>
          <a:ln>
            <a:noFill/>
          </a:ln>
        </p:spPr>
        <p:txBody>
          <a:bodyPr>
            <a:spAutoFit/>
          </a:bodyPr>
          <a:lstStyle>
            <a:lvl1pPr>
              <a:defRPr sz="3200" b="1">
                <a:solidFill>
                  <a:srgbClr val="FF8000"/>
                </a:solidFill>
                <a:latin typeface="Arial" panose="020B0604020202020204" pitchFamily="34" charset="0"/>
                <a:ea typeface="宋体" panose="02010600030101010101" pitchFamily="2" charset="-122"/>
              </a:defRPr>
            </a:lvl1pPr>
            <a:lvl2pPr marL="742950" indent="-285750">
              <a:defRPr sz="3200" b="1">
                <a:solidFill>
                  <a:srgbClr val="FF8000"/>
                </a:solidFill>
                <a:latin typeface="Arial" panose="020B0604020202020204" pitchFamily="34" charset="0"/>
                <a:ea typeface="宋体" panose="02010600030101010101" pitchFamily="2" charset="-122"/>
              </a:defRPr>
            </a:lvl2pPr>
            <a:lvl3pPr marL="1143000" indent="-228600">
              <a:defRPr sz="3200" b="1">
                <a:solidFill>
                  <a:srgbClr val="FF8000"/>
                </a:solidFill>
                <a:latin typeface="Arial" panose="020B0604020202020204" pitchFamily="34" charset="0"/>
                <a:ea typeface="宋体" panose="02010600030101010101" pitchFamily="2" charset="-122"/>
              </a:defRPr>
            </a:lvl3pPr>
            <a:lvl4pPr marL="1600200" indent="-228600">
              <a:defRPr sz="3200" b="1">
                <a:solidFill>
                  <a:srgbClr val="FF8000"/>
                </a:solidFill>
                <a:latin typeface="Arial" panose="020B0604020202020204" pitchFamily="34" charset="0"/>
                <a:ea typeface="宋体" panose="02010600030101010101" pitchFamily="2" charset="-122"/>
              </a:defRPr>
            </a:lvl4pPr>
            <a:lvl5pPr marL="2057400" indent="-228600">
              <a:defRPr sz="3200" b="1">
                <a:solidFill>
                  <a:srgbClr val="FF8000"/>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3200" b="1">
                <a:solidFill>
                  <a:srgbClr val="FF8000"/>
                </a:solidFill>
                <a:latin typeface="Arial" panose="020B0604020202020204" pitchFamily="34" charset="0"/>
                <a:ea typeface="宋体" panose="02010600030101010101" pitchFamily="2" charset="-122"/>
              </a:defRPr>
            </a:lvl9pPr>
          </a:lstStyle>
          <a:p>
            <a:pPr algn="l" eaLnBrk="1" hangingPunct="1"/>
            <a:r>
              <a:rPr lang="zh-CN" altLang="en-US" sz="2800" dirty="0">
                <a:solidFill>
                  <a:srgbClr val="FF0000"/>
                </a:solidFill>
                <a:latin typeface="方正姚体" panose="02010601030101010101" pitchFamily="2" charset="-122"/>
                <a:ea typeface="方正姚体" panose="02010601030101010101" pitchFamily="2" charset="-122"/>
              </a:rPr>
              <a:t>对该项非专利技术，</a:t>
            </a:r>
            <a:r>
              <a:rPr lang="en-US" altLang="zh-CN" sz="2800" dirty="0">
                <a:solidFill>
                  <a:srgbClr val="FF0000"/>
                </a:solidFill>
                <a:latin typeface="方正姚体" panose="02010601030101010101" pitchFamily="2" charset="-122"/>
                <a:ea typeface="方正姚体" panose="02010601030101010101" pitchFamily="2" charset="-122"/>
              </a:rPr>
              <a:t>A</a:t>
            </a:r>
            <a:r>
              <a:rPr lang="zh-CN" altLang="en-US" sz="2800" dirty="0">
                <a:solidFill>
                  <a:srgbClr val="FF0000"/>
                </a:solidFill>
                <a:latin typeface="方正姚体" panose="02010601030101010101" pitchFamily="2" charset="-122"/>
                <a:ea typeface="方正姚体" panose="02010601030101010101" pitchFamily="2" charset="-122"/>
              </a:rPr>
              <a:t>公司各年的会计处理如何进行？</a:t>
            </a:r>
          </a:p>
        </p:txBody>
      </p:sp>
    </p:spTree>
    <p:extLst>
      <p:ext uri="{BB962C8B-B14F-4D97-AF65-F5344CB8AC3E}">
        <p14:creationId xmlns:p14="http://schemas.microsoft.com/office/powerpoint/2010/main" val="3356256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新准则规定</a:t>
            </a:r>
            <a:r>
              <a:rPr lang="en-US" altLang="zh-CN" dirty="0"/>
              <a:t>:</a:t>
            </a:r>
          </a:p>
          <a:p>
            <a:pPr lvl="1"/>
            <a:r>
              <a:rPr lang="zh-CN" altLang="en-US" dirty="0"/>
              <a:t>已经计提的无形资产减值准备，以后各期不得转回</a:t>
            </a:r>
            <a:endParaRPr lang="en-US" altLang="zh-CN" dirty="0"/>
          </a:p>
          <a:p>
            <a:endParaRPr lang="en-US" altLang="zh-CN" dirty="0"/>
          </a:p>
          <a:p>
            <a:endParaRPr lang="en-US" altLang="zh-CN" dirty="0"/>
          </a:p>
          <a:p>
            <a:endParaRPr lang="en-US" altLang="zh-CN" dirty="0"/>
          </a:p>
          <a:p>
            <a:r>
              <a:rPr lang="zh-CN" altLang="en-US" dirty="0"/>
              <a:t>为什么？产生什么影响？</a:t>
            </a:r>
          </a:p>
          <a:p>
            <a:pPr lvl="1"/>
            <a:endParaRPr lang="zh-CN" altLang="en-US" dirty="0"/>
          </a:p>
        </p:txBody>
      </p:sp>
      <p:pic>
        <p:nvPicPr>
          <p:cNvPr id="4" name="Picture 10" descr="MCj00791180000[1]">
            <a:extLst>
              <a:ext uri="{FF2B5EF4-FFF2-40B4-BE49-F238E27FC236}">
                <a16:creationId xmlns:a16="http://schemas.microsoft.com/office/drawing/2014/main" id="{7EDF1F74-B99E-46FD-9AE1-2F4E722DBD5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04248" y="4623484"/>
            <a:ext cx="977900" cy="150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31369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思考题</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无形资产减值准备的计提对上市公司财务会计报告产生什么影响？</a:t>
            </a:r>
          </a:p>
          <a:p>
            <a:endParaRPr lang="zh-CN" altLang="en-US" dirty="0"/>
          </a:p>
          <a:p>
            <a:r>
              <a:rPr lang="zh-CN" altLang="en-US" dirty="0"/>
              <a:t>试举一例。</a:t>
            </a:r>
          </a:p>
        </p:txBody>
      </p:sp>
      <p:pic>
        <p:nvPicPr>
          <p:cNvPr id="4" name="Picture 7" descr="j0195812">
            <a:extLst>
              <a:ext uri="{FF2B5EF4-FFF2-40B4-BE49-F238E27FC236}">
                <a16:creationId xmlns:a16="http://schemas.microsoft.com/office/drawing/2014/main" id="{A5A3CB66-EB9E-441B-AF14-9811AD274A3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61163" y="4512854"/>
            <a:ext cx="1316037" cy="1224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89522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r>
              <a:rPr lang="zh-CN" altLang="en-US" dirty="0"/>
              <a:t>练习题</a:t>
            </a:r>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en-US" altLang="zh-CN" dirty="0"/>
              <a:t>【</a:t>
            </a:r>
            <a:r>
              <a:rPr lang="zh-CN" altLang="en-US" dirty="0"/>
              <a:t>习题</a:t>
            </a:r>
            <a:r>
              <a:rPr lang="en-US" altLang="zh-CN" dirty="0"/>
              <a:t>1】2×16</a:t>
            </a:r>
            <a:r>
              <a:rPr lang="zh-CN" altLang="en-US" dirty="0"/>
              <a:t>年</a:t>
            </a:r>
            <a:r>
              <a:rPr lang="en-US" altLang="zh-CN" dirty="0"/>
              <a:t>1</a:t>
            </a:r>
            <a:r>
              <a:rPr lang="zh-CN" altLang="en-US" dirty="0"/>
              <a:t>月</a:t>
            </a:r>
            <a:r>
              <a:rPr lang="en-US" altLang="zh-CN" dirty="0"/>
              <a:t>8</a:t>
            </a:r>
            <a:r>
              <a:rPr lang="zh-CN" altLang="en-US" dirty="0"/>
              <a:t>日，甲公司从乙公司购买一项商标权，由于甲公司资金周转比较紧张。经与乙公司协议采用分期付款方式支付款项。合同规定。该项商标权总计</a:t>
            </a:r>
            <a:r>
              <a:rPr lang="en-US" altLang="zh-CN" dirty="0"/>
              <a:t>1 000</a:t>
            </a:r>
            <a:r>
              <a:rPr lang="zh-CN" altLang="en-US" dirty="0"/>
              <a:t>万元。每年末付款</a:t>
            </a:r>
            <a:r>
              <a:rPr lang="en-US" altLang="zh-CN" dirty="0"/>
              <a:t>200</a:t>
            </a:r>
            <a:r>
              <a:rPr lang="zh-CN" altLang="en-US" dirty="0"/>
              <a:t>万元。</a:t>
            </a:r>
            <a:r>
              <a:rPr lang="en-US" altLang="zh-CN" dirty="0"/>
              <a:t>5</a:t>
            </a:r>
            <a:r>
              <a:rPr lang="zh-CN" altLang="en-US" dirty="0"/>
              <a:t>年付清。假定银行同期贷款利率为</a:t>
            </a:r>
            <a:r>
              <a:rPr lang="en-US" altLang="zh-CN" dirty="0"/>
              <a:t>5</a:t>
            </a:r>
            <a:r>
              <a:rPr lang="zh-CN" altLang="en-US" dirty="0"/>
              <a:t>％。为了简化核算，假定不考虑其他有关税费（已知</a:t>
            </a:r>
            <a:r>
              <a:rPr lang="en-US" altLang="zh-CN" dirty="0"/>
              <a:t>5</a:t>
            </a:r>
            <a:r>
              <a:rPr lang="zh-CN" altLang="en-US" dirty="0"/>
              <a:t>年期</a:t>
            </a:r>
            <a:r>
              <a:rPr lang="en-US" altLang="zh-CN" dirty="0"/>
              <a:t>5</a:t>
            </a:r>
            <a:r>
              <a:rPr lang="zh-CN" altLang="en-US" dirty="0"/>
              <a:t>％利率，其年金现值系数为</a:t>
            </a:r>
            <a:r>
              <a:rPr lang="en-US" altLang="zh-CN" dirty="0"/>
              <a:t>4.3295</a:t>
            </a:r>
            <a:r>
              <a:rPr lang="zh-CN" altLang="en-US" dirty="0"/>
              <a:t>）。</a:t>
            </a:r>
            <a:endParaRPr lang="en-US" altLang="zh-CN" dirty="0"/>
          </a:p>
          <a:p>
            <a:endParaRPr lang="zh-CN" altLang="en-US" dirty="0"/>
          </a:p>
          <a:p>
            <a:r>
              <a:rPr lang="zh-CN" altLang="en-US" dirty="0"/>
              <a:t>要求：编制</a:t>
            </a:r>
            <a:r>
              <a:rPr lang="en-US" altLang="zh-CN" dirty="0"/>
              <a:t>2×16-2×20</a:t>
            </a:r>
            <a:r>
              <a:rPr lang="zh-CN" altLang="en-US" dirty="0"/>
              <a:t>的会计分录</a:t>
            </a:r>
          </a:p>
          <a:p>
            <a:endParaRPr lang="zh-CN" altLang="en-US" dirty="0"/>
          </a:p>
        </p:txBody>
      </p:sp>
    </p:spTree>
    <p:extLst>
      <p:ext uri="{BB962C8B-B14F-4D97-AF65-F5344CB8AC3E}">
        <p14:creationId xmlns:p14="http://schemas.microsoft.com/office/powerpoint/2010/main" val="37375606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82688" y="2017713"/>
            <a:ext cx="7772400" cy="547191"/>
          </a:xfrm>
        </p:spPr>
        <p:txBody>
          <a:bodyPr/>
          <a:lstStyle/>
          <a:p>
            <a:r>
              <a:rPr lang="zh-CN" altLang="en-US" dirty="0"/>
              <a:t>未确认的融资费用    金额单位：万元</a:t>
            </a:r>
          </a:p>
        </p:txBody>
      </p:sp>
      <p:graphicFrame>
        <p:nvGraphicFramePr>
          <p:cNvPr id="4" name="Group 520">
            <a:extLst>
              <a:ext uri="{FF2B5EF4-FFF2-40B4-BE49-F238E27FC236}">
                <a16:creationId xmlns:a16="http://schemas.microsoft.com/office/drawing/2014/main" id="{C6E7BB6E-28ED-40CF-B623-E759927D9021}"/>
              </a:ext>
            </a:extLst>
          </p:cNvPr>
          <p:cNvGraphicFramePr>
            <a:graphicFrameLocks noGrp="1"/>
          </p:cNvGraphicFramePr>
          <p:nvPr>
            <p:extLst>
              <p:ext uri="{D42A27DB-BD31-4B8C-83A1-F6EECF244321}">
                <p14:modId xmlns:p14="http://schemas.microsoft.com/office/powerpoint/2010/main" val="3093241907"/>
              </p:ext>
            </p:extLst>
          </p:nvPr>
        </p:nvGraphicFramePr>
        <p:xfrm>
          <a:off x="1044575" y="2708920"/>
          <a:ext cx="7054850" cy="3827552"/>
        </p:xfrm>
        <a:graphic>
          <a:graphicData uri="http://schemas.openxmlformats.org/drawingml/2006/table">
            <a:tbl>
              <a:tblPr/>
              <a:tblGrid>
                <a:gridCol w="469900">
                  <a:extLst>
                    <a:ext uri="{9D8B030D-6E8A-4147-A177-3AD203B41FA5}">
                      <a16:colId xmlns:a16="http://schemas.microsoft.com/office/drawing/2014/main" val="20000"/>
                    </a:ext>
                  </a:extLst>
                </a:gridCol>
                <a:gridCol w="811213">
                  <a:extLst>
                    <a:ext uri="{9D8B030D-6E8A-4147-A177-3AD203B41FA5}">
                      <a16:colId xmlns:a16="http://schemas.microsoft.com/office/drawing/2014/main" val="20001"/>
                    </a:ext>
                  </a:extLst>
                </a:gridCol>
                <a:gridCol w="631825">
                  <a:extLst>
                    <a:ext uri="{9D8B030D-6E8A-4147-A177-3AD203B41FA5}">
                      <a16:colId xmlns:a16="http://schemas.microsoft.com/office/drawing/2014/main" val="20002"/>
                    </a:ext>
                  </a:extLst>
                </a:gridCol>
                <a:gridCol w="1435100">
                  <a:extLst>
                    <a:ext uri="{9D8B030D-6E8A-4147-A177-3AD203B41FA5}">
                      <a16:colId xmlns:a16="http://schemas.microsoft.com/office/drawing/2014/main" val="20003"/>
                    </a:ext>
                  </a:extLst>
                </a:gridCol>
                <a:gridCol w="850900">
                  <a:extLst>
                    <a:ext uri="{9D8B030D-6E8A-4147-A177-3AD203B41FA5}">
                      <a16:colId xmlns:a16="http://schemas.microsoft.com/office/drawing/2014/main" val="20004"/>
                    </a:ext>
                  </a:extLst>
                </a:gridCol>
                <a:gridCol w="957262">
                  <a:extLst>
                    <a:ext uri="{9D8B030D-6E8A-4147-A177-3AD203B41FA5}">
                      <a16:colId xmlns:a16="http://schemas.microsoft.com/office/drawing/2014/main" val="20005"/>
                    </a:ext>
                  </a:extLst>
                </a:gridCol>
                <a:gridCol w="1898650">
                  <a:extLst>
                    <a:ext uri="{9D8B030D-6E8A-4147-A177-3AD203B41FA5}">
                      <a16:colId xmlns:a16="http://schemas.microsoft.com/office/drawing/2014/main" val="20006"/>
                    </a:ext>
                  </a:extLst>
                </a:gridCol>
              </a:tblGrid>
              <a:tr h="304775">
                <a:tc rowSpan="2">
                  <a:txBody>
                    <a:bodyPr/>
                    <a:lstStyle/>
                    <a:p>
                      <a:pPr marL="0" marR="0" lvl="0" indent="0" algn="l" defTabSz="762000" rtl="0" eaLnBrk="1" fontAlgn="base" latinLnBrk="0" hangingPunct="1">
                        <a:lnSpc>
                          <a:spcPct val="100000"/>
                        </a:lnSpc>
                        <a:spcBef>
                          <a:spcPct val="0"/>
                        </a:spcBef>
                        <a:spcAft>
                          <a:spcPct val="0"/>
                        </a:spcAft>
                        <a:buClrTx/>
                        <a:buSzTx/>
                        <a:buFontTx/>
                        <a:buNone/>
                        <a:tabLst/>
                      </a:pP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p>
                      <a:pPr marL="0" marR="0" lvl="0" indent="0" algn="l" defTabSz="7620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r>
                        <a:rPr kumimoji="0"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年份</a:t>
                      </a:r>
                      <a:endParaRPr kumimoji="0" lang="zh-CN" altLang="en-US"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rowSpan="2">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融资余额</a:t>
                      </a:r>
                      <a:endParaRPr kumimoji="0" lang="zh-CN" altLang="en-US"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rowSpan="2">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r>
                        <a:rPr kumimoji="0"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利率</a:t>
                      </a:r>
                      <a:endParaRPr kumimoji="0" lang="zh-CN" altLang="en-US"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r>
                        <a:rPr kumimoji="0"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本年利息</a:t>
                      </a:r>
                      <a:endParaRPr kumimoji="0" lang="zh-CN" altLang="en-US"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rowSpan="2">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r>
                        <a:rPr kumimoji="0"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付款</a:t>
                      </a:r>
                      <a:endParaRPr kumimoji="0" lang="zh-CN" altLang="en-US"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rowSpan="2">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还本付款</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利息</a:t>
                      </a:r>
                      <a:endParaRPr kumimoji="0" lang="zh-CN" altLang="en-US"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r>
                        <a:rPr kumimoji="0"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未确认融资费用</a:t>
                      </a:r>
                      <a:endParaRPr kumimoji="0" lang="zh-CN" altLang="en-US"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26685">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融资余额</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利息</a:t>
                      </a:r>
                      <a:endParaRPr kumimoji="0" lang="zh-CN" altLang="en-US"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vMerge="1">
                  <a:txBody>
                    <a:bodyPr/>
                    <a:lstStyle/>
                    <a:p>
                      <a:endParaRPr lang="zh-CN" altLang="en-US"/>
                    </a:p>
                  </a:txBody>
                  <a:tcPr/>
                </a:tc>
                <a:tc vMerge="1">
                  <a:txBody>
                    <a:bodyPr/>
                    <a:lstStyle/>
                    <a:p>
                      <a:endParaRPr lang="zh-CN" altLang="en-US"/>
                    </a:p>
                  </a:txBody>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上年余须</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本年利息</a:t>
                      </a:r>
                      <a:endParaRPr kumimoji="0" lang="zh-CN" altLang="en-US"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15895">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0</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865.90</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1400" b="1" i="0" u="none" strike="noStrike" cap="none" normalizeH="0" baseline="0">
                        <a:ln>
                          <a:noFill/>
                        </a:ln>
                        <a:solidFill>
                          <a:schemeClr val="tx2"/>
                        </a:solidFill>
                        <a:effectLst/>
                        <a:latin typeface="宋体" pitchFamily="2" charset="-122"/>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1400" b="1" i="0" u="none" strike="noStrike" cap="none" normalizeH="0" baseline="0">
                        <a:ln>
                          <a:noFill/>
                        </a:ln>
                        <a:solidFill>
                          <a:schemeClr val="tx2"/>
                        </a:solidFill>
                        <a:effectLst/>
                        <a:latin typeface="宋体" pitchFamily="2" charset="-122"/>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1400" b="1" i="0" u="none" strike="noStrike" cap="none" normalizeH="0" baseline="0">
                        <a:ln>
                          <a:noFill/>
                        </a:ln>
                        <a:solidFill>
                          <a:schemeClr val="tx2"/>
                        </a:solidFill>
                        <a:effectLst/>
                        <a:latin typeface="宋体" pitchFamily="2" charset="-122"/>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1400" b="1" i="0" u="none" strike="noStrike" cap="none" normalizeH="0" baseline="0">
                        <a:ln>
                          <a:noFill/>
                        </a:ln>
                        <a:solidFill>
                          <a:schemeClr val="tx2"/>
                        </a:solidFill>
                        <a:effectLst/>
                        <a:latin typeface="宋体" pitchFamily="2" charset="-122"/>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134.10</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12716">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1</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709.19</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0.05</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43.29</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200.00</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156.71</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90.81</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12716">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2</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544.65</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0.05</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35.46</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200.00</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164.54</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55.35</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11129">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3</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371.88</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0.05</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27.23</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200.00</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172.77</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28.12</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12716">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4</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190.48</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0.05</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18.59</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200.00</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181.41</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9.52</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412716">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5</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0</a:t>
                      </a:r>
                      <a:r>
                        <a:rPr kumimoji="0"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0.05</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9.52</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200.00</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190.48</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0</a:t>
                      </a:r>
                      <a:r>
                        <a:rPr kumimoji="0"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518117">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r>
                        <a:rPr kumimoji="0"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合计</a:t>
                      </a:r>
                      <a:endParaRPr kumimoji="0" lang="zh-CN" altLang="en-US"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1400" b="1" i="0" u="none" strike="noStrike" cap="none" normalizeH="0" baseline="0">
                        <a:ln>
                          <a:noFill/>
                        </a:ln>
                        <a:solidFill>
                          <a:schemeClr val="tx2"/>
                        </a:solidFill>
                        <a:effectLst/>
                        <a:latin typeface="宋体" pitchFamily="2" charset="-122"/>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1400" b="1" i="0" u="none" strike="noStrike" cap="none" normalizeH="0" baseline="0">
                        <a:ln>
                          <a:noFill/>
                        </a:ln>
                        <a:solidFill>
                          <a:schemeClr val="tx2"/>
                        </a:solidFill>
                        <a:effectLst/>
                        <a:latin typeface="宋体" pitchFamily="2" charset="-122"/>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134.10</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1 000.00</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7620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  865</a:t>
                      </a:r>
                      <a:r>
                        <a:rPr kumimoji="0" lang="zh-CN" altLang="en-US"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a:t>
                      </a:r>
                      <a:endParaRPr kumimoji="0" lang="en-US" altLang="zh-CN" sz="1400" b="0" i="0" u="none" strike="noStrike" cap="none" normalizeH="0" baseline="0">
                        <a:ln>
                          <a:noFill/>
                        </a:ln>
                        <a:solidFill>
                          <a:schemeClr val="tx1"/>
                        </a:solidFill>
                        <a:effectLst/>
                        <a:latin typeface="Arial" charset="0"/>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1400" b="1" i="0" u="none" strike="noStrike" cap="none" normalizeH="0" baseline="0" dirty="0">
                        <a:ln>
                          <a:noFill/>
                        </a:ln>
                        <a:solidFill>
                          <a:schemeClr val="tx2"/>
                        </a:solidFill>
                        <a:effectLst/>
                        <a:latin typeface="宋体" pitchFamily="2" charset="-122"/>
                        <a:ea typeface="宋体" pitchFamily="2" charset="-122"/>
                      </a:endParaRPr>
                    </a:p>
                  </a:txBody>
                  <a:tcPr marT="45716" marB="45716" horzOverflow="overflow">
                    <a:lnL w="12700" cap="flat" cmpd="sng" algn="ctr">
                      <a:solidFill>
                        <a:schemeClr val="tx2"/>
                      </a:solidFill>
                      <a:prstDash val="solid"/>
                      <a:round/>
                      <a:headEnd type="none" w="sm" len="sm"/>
                      <a:tailEnd type="none" w="sm" len="sm"/>
                    </a:lnL>
                    <a:lnR w="12700" cap="flat" cmpd="sng" algn="ctr">
                      <a:solidFill>
                        <a:schemeClr val="tx2"/>
                      </a:solidFill>
                      <a:prstDash val="solid"/>
                      <a:round/>
                      <a:headEnd type="none" w="sm" len="sm"/>
                      <a:tailEnd type="none" w="sm" len="sm"/>
                    </a:lnR>
                    <a:lnT w="12700" cap="flat" cmpd="sng" algn="ctr">
                      <a:solidFill>
                        <a:schemeClr val="tx2"/>
                      </a:solidFill>
                      <a:prstDash val="solid"/>
                      <a:round/>
                      <a:headEnd type="none" w="sm" len="sm"/>
                      <a:tailEnd type="none" w="sm" len="sm"/>
                    </a:lnT>
                    <a:lnB w="12700" cap="flat" cmpd="sng" algn="ctr">
                      <a:solidFill>
                        <a:schemeClr val="tx2"/>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1547412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zh-CN" altLang="en-US" dirty="0"/>
              <a:t>购入无形资产时：</a:t>
            </a:r>
          </a:p>
          <a:p>
            <a:pPr lvl="1"/>
            <a:r>
              <a:rPr lang="zh-CN" altLang="en-US" dirty="0"/>
              <a:t>无形资产现值</a:t>
            </a:r>
            <a:r>
              <a:rPr lang="en-US" altLang="zh-CN" dirty="0"/>
              <a:t>=1 000×20</a:t>
            </a:r>
            <a:r>
              <a:rPr lang="zh-CN" altLang="en-US" dirty="0"/>
              <a:t>％</a:t>
            </a:r>
            <a:r>
              <a:rPr lang="en-US" altLang="zh-CN" dirty="0"/>
              <a:t>×4</a:t>
            </a:r>
            <a:r>
              <a:rPr lang="zh-CN" altLang="en-US" dirty="0"/>
              <a:t>．</a:t>
            </a:r>
            <a:r>
              <a:rPr lang="en-US" altLang="zh-CN" dirty="0"/>
              <a:t>3295=865.9</a:t>
            </a:r>
            <a:r>
              <a:rPr lang="zh-CN" altLang="en-US" dirty="0"/>
              <a:t>（万元）</a:t>
            </a:r>
          </a:p>
          <a:p>
            <a:pPr lvl="1"/>
            <a:r>
              <a:rPr lang="zh-CN" altLang="en-US" dirty="0"/>
              <a:t>未确认的融资费用</a:t>
            </a:r>
            <a:r>
              <a:rPr lang="en-US" altLang="zh-CN" dirty="0"/>
              <a:t>=1 000-865.9=134.1</a:t>
            </a:r>
            <a:r>
              <a:rPr lang="zh-CN" altLang="en-US" dirty="0"/>
              <a:t>（万元）</a:t>
            </a:r>
            <a:endParaRPr lang="en-US" altLang="zh-CN" dirty="0"/>
          </a:p>
          <a:p>
            <a:pPr lvl="1"/>
            <a:endParaRPr lang="zh-CN" altLang="en-US" dirty="0"/>
          </a:p>
          <a:p>
            <a:pPr lvl="1"/>
            <a:r>
              <a:rPr lang="zh-CN" altLang="en-US" dirty="0"/>
              <a:t>借：无形资产</a:t>
            </a:r>
            <a:r>
              <a:rPr lang="en-US" altLang="zh-CN" dirty="0"/>
              <a:t>——</a:t>
            </a:r>
            <a:r>
              <a:rPr lang="zh-CN" altLang="en-US" dirty="0"/>
              <a:t>商标权    </a:t>
            </a:r>
            <a:r>
              <a:rPr lang="en-US" altLang="zh-CN" dirty="0"/>
              <a:t>8 659 000</a:t>
            </a:r>
          </a:p>
          <a:p>
            <a:pPr lvl="1"/>
            <a:r>
              <a:rPr lang="en-US" altLang="zh-CN" dirty="0"/>
              <a:t> 	   </a:t>
            </a:r>
            <a:r>
              <a:rPr lang="zh-CN" altLang="en-US" dirty="0"/>
              <a:t>未确认融资费用           </a:t>
            </a:r>
            <a:r>
              <a:rPr lang="en-US" altLang="zh-CN" dirty="0"/>
              <a:t>1 341 000</a:t>
            </a:r>
          </a:p>
          <a:p>
            <a:pPr lvl="1"/>
            <a:r>
              <a:rPr lang="en-US" altLang="zh-CN" dirty="0"/>
              <a:t>       </a:t>
            </a:r>
            <a:r>
              <a:rPr lang="zh-CN" altLang="en-US" dirty="0"/>
              <a:t>贷：长期应付款                  </a:t>
            </a:r>
            <a:r>
              <a:rPr lang="en-US" altLang="zh-CN" dirty="0"/>
              <a:t>10 000 300</a:t>
            </a:r>
          </a:p>
        </p:txBody>
      </p:sp>
    </p:spTree>
    <p:extLst>
      <p:ext uri="{BB962C8B-B14F-4D97-AF65-F5344CB8AC3E}">
        <p14:creationId xmlns:p14="http://schemas.microsoft.com/office/powerpoint/2010/main" val="15346501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50938" y="1988840"/>
            <a:ext cx="7772400" cy="4536504"/>
          </a:xfrm>
        </p:spPr>
        <p:txBody>
          <a:bodyPr/>
          <a:lstStyle/>
          <a:p>
            <a:r>
              <a:rPr lang="en-US" altLang="zh-CN" dirty="0"/>
              <a:t>2×16</a:t>
            </a:r>
            <a:r>
              <a:rPr lang="zh-CN" altLang="en-US" dirty="0"/>
              <a:t>年底付款时：</a:t>
            </a:r>
          </a:p>
          <a:p>
            <a:pPr lvl="1"/>
            <a:r>
              <a:rPr lang="zh-CN" altLang="en-US" dirty="0"/>
              <a:t>借：长期应付款          </a:t>
            </a:r>
            <a:r>
              <a:rPr lang="en-US" altLang="zh-CN" dirty="0"/>
              <a:t>2 000 000</a:t>
            </a:r>
          </a:p>
          <a:p>
            <a:pPr lvl="1"/>
            <a:r>
              <a:rPr lang="en-US" altLang="zh-CN" dirty="0"/>
              <a:t>     </a:t>
            </a:r>
            <a:r>
              <a:rPr lang="zh-CN" altLang="en-US" dirty="0"/>
              <a:t>贷：银行存款               </a:t>
            </a:r>
            <a:r>
              <a:rPr lang="en-US" altLang="zh-CN" dirty="0"/>
              <a:t>2 000 000</a:t>
            </a:r>
          </a:p>
          <a:p>
            <a:pPr lvl="1"/>
            <a:r>
              <a:rPr lang="zh-CN" altLang="en-US" dirty="0"/>
              <a:t>借：财务费用                </a:t>
            </a:r>
            <a:r>
              <a:rPr lang="en-US" altLang="zh-CN" dirty="0"/>
              <a:t>432 900</a:t>
            </a:r>
          </a:p>
          <a:p>
            <a:pPr lvl="1"/>
            <a:r>
              <a:rPr lang="en-US" altLang="zh-CN" dirty="0"/>
              <a:t>     </a:t>
            </a:r>
            <a:r>
              <a:rPr lang="zh-CN" altLang="en-US" dirty="0"/>
              <a:t>贷：未确认融资费用        </a:t>
            </a:r>
            <a:r>
              <a:rPr lang="en-US" altLang="zh-CN" dirty="0"/>
              <a:t>432 900</a:t>
            </a:r>
          </a:p>
          <a:p>
            <a:r>
              <a:rPr lang="en-US" altLang="zh-CN" dirty="0"/>
              <a:t>2×17</a:t>
            </a:r>
            <a:r>
              <a:rPr lang="zh-CN" altLang="en-US" dirty="0"/>
              <a:t>年底付款时：</a:t>
            </a:r>
          </a:p>
          <a:p>
            <a:pPr lvl="1"/>
            <a:r>
              <a:rPr lang="zh-CN" altLang="en-US" dirty="0"/>
              <a:t>借：长期应付款          </a:t>
            </a:r>
            <a:r>
              <a:rPr lang="en-US" altLang="zh-CN" dirty="0"/>
              <a:t>2 000 000</a:t>
            </a:r>
          </a:p>
          <a:p>
            <a:pPr lvl="1"/>
            <a:r>
              <a:rPr lang="en-US" altLang="zh-CN" dirty="0"/>
              <a:t>       </a:t>
            </a:r>
            <a:r>
              <a:rPr lang="zh-CN" altLang="en-US" dirty="0"/>
              <a:t>贷：银行存款             </a:t>
            </a:r>
            <a:r>
              <a:rPr lang="en-US" altLang="zh-CN" dirty="0"/>
              <a:t>2 000 000</a:t>
            </a:r>
          </a:p>
          <a:p>
            <a:pPr lvl="1"/>
            <a:r>
              <a:rPr lang="zh-CN" altLang="en-US" dirty="0"/>
              <a:t>借：财务费用                </a:t>
            </a:r>
            <a:r>
              <a:rPr lang="en-US" altLang="zh-CN" dirty="0"/>
              <a:t>354 500</a:t>
            </a:r>
          </a:p>
          <a:p>
            <a:pPr lvl="1"/>
            <a:r>
              <a:rPr lang="en-US" altLang="zh-CN" dirty="0"/>
              <a:t>      </a:t>
            </a:r>
            <a:r>
              <a:rPr lang="zh-CN" altLang="en-US" dirty="0"/>
              <a:t>贷：未确认融资费用       </a:t>
            </a:r>
            <a:r>
              <a:rPr lang="en-US" altLang="zh-CN" dirty="0"/>
              <a:t>354 500</a:t>
            </a:r>
            <a:endParaRPr lang="zh-CN" altLang="en-US" dirty="0"/>
          </a:p>
        </p:txBody>
      </p:sp>
    </p:spTree>
    <p:extLst>
      <p:ext uri="{BB962C8B-B14F-4D97-AF65-F5344CB8AC3E}">
        <p14:creationId xmlns:p14="http://schemas.microsoft.com/office/powerpoint/2010/main" val="26457496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a:xfrm>
            <a:off x="1182688" y="2017713"/>
            <a:ext cx="7772400" cy="4625974"/>
          </a:xfrm>
        </p:spPr>
        <p:txBody>
          <a:bodyPr/>
          <a:lstStyle/>
          <a:p>
            <a:r>
              <a:rPr lang="en-US" altLang="zh-CN" dirty="0"/>
              <a:t>2×18</a:t>
            </a:r>
            <a:r>
              <a:rPr lang="zh-CN" altLang="en-US" dirty="0"/>
              <a:t>年底付款时：</a:t>
            </a:r>
          </a:p>
          <a:p>
            <a:pPr lvl="1"/>
            <a:r>
              <a:rPr lang="zh-CN" altLang="en-US" dirty="0"/>
              <a:t>借：长期应付款      </a:t>
            </a:r>
            <a:r>
              <a:rPr lang="en-US" altLang="zh-CN" dirty="0"/>
              <a:t>2 000 000</a:t>
            </a:r>
          </a:p>
          <a:p>
            <a:pPr lvl="1"/>
            <a:r>
              <a:rPr lang="en-US" altLang="zh-CN" dirty="0"/>
              <a:t>    </a:t>
            </a:r>
            <a:r>
              <a:rPr lang="zh-CN" altLang="en-US" dirty="0"/>
              <a:t>贷：银行存款            </a:t>
            </a:r>
            <a:r>
              <a:rPr lang="en-US" altLang="zh-CN" dirty="0"/>
              <a:t>2 000 000</a:t>
            </a:r>
          </a:p>
          <a:p>
            <a:pPr lvl="1"/>
            <a:r>
              <a:rPr lang="zh-CN" altLang="en-US" dirty="0"/>
              <a:t>借：财务费用            </a:t>
            </a:r>
            <a:r>
              <a:rPr lang="en-US" altLang="zh-CN" dirty="0"/>
              <a:t>272 300</a:t>
            </a:r>
          </a:p>
          <a:p>
            <a:pPr lvl="1"/>
            <a:r>
              <a:rPr lang="en-US" altLang="zh-CN" dirty="0"/>
              <a:t>    </a:t>
            </a:r>
            <a:r>
              <a:rPr lang="zh-CN" altLang="en-US" dirty="0"/>
              <a:t>贷：未确认融资费用     </a:t>
            </a:r>
            <a:r>
              <a:rPr lang="en-US" altLang="zh-CN" dirty="0"/>
              <a:t>272 300</a:t>
            </a:r>
          </a:p>
          <a:p>
            <a:r>
              <a:rPr lang="en-US" altLang="zh-CN" dirty="0"/>
              <a:t>2×19</a:t>
            </a:r>
            <a:r>
              <a:rPr lang="zh-CN" altLang="en-US" dirty="0"/>
              <a:t>年底付款时：</a:t>
            </a:r>
          </a:p>
          <a:p>
            <a:pPr lvl="1"/>
            <a:r>
              <a:rPr lang="zh-CN" altLang="en-US" dirty="0"/>
              <a:t>借：长期应付款     </a:t>
            </a:r>
            <a:r>
              <a:rPr lang="en-US" altLang="zh-CN" dirty="0"/>
              <a:t>2 000 000</a:t>
            </a:r>
          </a:p>
          <a:p>
            <a:pPr lvl="1"/>
            <a:r>
              <a:rPr lang="en-US" altLang="zh-CN" dirty="0"/>
              <a:t>    </a:t>
            </a:r>
            <a:r>
              <a:rPr lang="zh-CN" altLang="en-US" dirty="0"/>
              <a:t>贷：银行存款           </a:t>
            </a:r>
            <a:r>
              <a:rPr lang="en-US" altLang="zh-CN" dirty="0"/>
              <a:t>2 000 000</a:t>
            </a:r>
          </a:p>
          <a:p>
            <a:pPr lvl="1"/>
            <a:r>
              <a:rPr lang="zh-CN" altLang="en-US" dirty="0"/>
              <a:t>借：财务费用           </a:t>
            </a:r>
            <a:r>
              <a:rPr lang="en-US" altLang="zh-CN" dirty="0"/>
              <a:t>185 900</a:t>
            </a:r>
          </a:p>
          <a:p>
            <a:pPr lvl="1"/>
            <a:r>
              <a:rPr lang="en-US" altLang="zh-CN" dirty="0"/>
              <a:t>    </a:t>
            </a:r>
            <a:r>
              <a:rPr lang="zh-CN" altLang="en-US" dirty="0"/>
              <a:t>贷：未确认融资费用    </a:t>
            </a:r>
            <a:r>
              <a:rPr lang="en-US" altLang="zh-CN" dirty="0"/>
              <a:t>185 900</a:t>
            </a:r>
            <a:endParaRPr lang="zh-CN" altLang="en-US" dirty="0"/>
          </a:p>
        </p:txBody>
      </p:sp>
    </p:spTree>
    <p:extLst>
      <p:ext uri="{BB962C8B-B14F-4D97-AF65-F5344CB8AC3E}">
        <p14:creationId xmlns:p14="http://schemas.microsoft.com/office/powerpoint/2010/main" val="37052045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8A540-2B6F-4CC2-ABDD-92B808A1E36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2614669-5CDB-47E7-8896-E111995D6225}"/>
              </a:ext>
            </a:extLst>
          </p:cNvPr>
          <p:cNvSpPr>
            <a:spLocks noGrp="1"/>
          </p:cNvSpPr>
          <p:nvPr>
            <p:ph idx="1"/>
          </p:nvPr>
        </p:nvSpPr>
        <p:spPr/>
        <p:txBody>
          <a:bodyPr/>
          <a:lstStyle/>
          <a:p>
            <a:r>
              <a:rPr lang="en-US" altLang="zh-CN" dirty="0"/>
              <a:t>2×20</a:t>
            </a:r>
            <a:r>
              <a:rPr lang="zh-CN" altLang="en-US" dirty="0"/>
              <a:t>年底付款时：</a:t>
            </a:r>
          </a:p>
          <a:p>
            <a:pPr lvl="1"/>
            <a:r>
              <a:rPr lang="zh-CN" altLang="en-US" dirty="0"/>
              <a:t>借：长期应付款  </a:t>
            </a:r>
            <a:r>
              <a:rPr lang="en-US" altLang="zh-CN" dirty="0"/>
              <a:t>2 000 000</a:t>
            </a:r>
          </a:p>
          <a:p>
            <a:pPr lvl="1"/>
            <a:r>
              <a:rPr lang="en-US" altLang="zh-CN" dirty="0"/>
              <a:t>    </a:t>
            </a:r>
            <a:r>
              <a:rPr lang="zh-CN" altLang="en-US" dirty="0"/>
              <a:t>贷：银行存款        </a:t>
            </a:r>
            <a:r>
              <a:rPr lang="en-US" altLang="zh-CN" dirty="0"/>
              <a:t>2 000 000</a:t>
            </a:r>
          </a:p>
          <a:p>
            <a:pPr lvl="1"/>
            <a:r>
              <a:rPr lang="zh-CN" altLang="en-US" dirty="0"/>
              <a:t>借：财务费用           </a:t>
            </a:r>
            <a:r>
              <a:rPr lang="en-US" altLang="zh-CN" dirty="0"/>
              <a:t>95 200</a:t>
            </a:r>
          </a:p>
          <a:p>
            <a:pPr lvl="1"/>
            <a:r>
              <a:rPr lang="en-US" altLang="zh-CN" dirty="0"/>
              <a:t>    </a:t>
            </a:r>
            <a:r>
              <a:rPr lang="zh-CN" altLang="en-US" dirty="0"/>
              <a:t>贷：未确认融资费用    </a:t>
            </a:r>
            <a:r>
              <a:rPr lang="en-US" altLang="zh-CN" dirty="0"/>
              <a:t>95 200 </a:t>
            </a:r>
          </a:p>
        </p:txBody>
      </p:sp>
    </p:spTree>
    <p:extLst>
      <p:ext uri="{BB962C8B-B14F-4D97-AF65-F5344CB8AC3E}">
        <p14:creationId xmlns:p14="http://schemas.microsoft.com/office/powerpoint/2010/main" val="23209149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WordArt 5"/>
          <p:cNvSpPr>
            <a:spLocks noChangeArrowheads="1" noChangeShapeType="1" noTextEdit="1"/>
          </p:cNvSpPr>
          <p:nvPr/>
        </p:nvSpPr>
        <p:spPr bwMode="auto">
          <a:xfrm>
            <a:off x="2917031" y="3029426"/>
            <a:ext cx="3459956" cy="1637824"/>
          </a:xfrm>
          <a:prstGeom prst="rect">
            <a:avLst/>
          </a:prstGeom>
        </p:spPr>
        <p:txBody>
          <a:bodyPr wrap="none" fromWordArt="1">
            <a:scene3d>
              <a:camera prst="orthographicFront"/>
              <a:lightRig rig="threePt" dir="t"/>
            </a:scene3d>
          </a:bodyPr>
          <a:lstStyle/>
          <a:p>
            <a:pPr algn="ctr"/>
            <a:r>
              <a:rPr lang="zh-CN" altLang="en-US" sz="4050" kern="10" dirty="0">
                <a:ln w="25400">
                  <a:gradFill>
                    <a:gsLst>
                      <a:gs pos="31000">
                        <a:srgbClr val="6D6E85"/>
                      </a:gs>
                      <a:gs pos="66000">
                        <a:srgbClr val="A2C6FF"/>
                      </a:gs>
                      <a:gs pos="45000">
                        <a:srgbClr val="97B8F2"/>
                      </a:gs>
                      <a:gs pos="11000">
                        <a:srgbClr val="ED7D31">
                          <a:lumMod val="20000"/>
                          <a:lumOff val="80000"/>
                        </a:srgbClr>
                      </a:gs>
                      <a:gs pos="100000">
                        <a:srgbClr val="7E6760"/>
                      </a:gs>
                      <a:gs pos="91000">
                        <a:schemeClr val="bg1">
                          <a:lumMod val="50000"/>
                        </a:schemeClr>
                      </a:gs>
                      <a:gs pos="56000">
                        <a:srgbClr val="455C85"/>
                      </a:gs>
                      <a:gs pos="81000">
                        <a:srgbClr val="F8D8CF"/>
                      </a:gs>
                    </a:gsLst>
                  </a:gradFill>
                </a:ln>
                <a:solidFill>
                  <a:schemeClr val="tx2"/>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rPr>
              <a:t>谢谢大家！</a:t>
            </a:r>
          </a:p>
        </p:txBody>
      </p:sp>
    </p:spTree>
  </p:cSld>
  <p:clrMapOvr>
    <a:masterClrMapping/>
  </p:clrMapOvr>
</p:sld>
</file>

<file path=ppt/theme/theme1.xml><?xml version="1.0" encoding="utf-8"?>
<a:theme xmlns:a="http://schemas.openxmlformats.org/drawingml/2006/main" name="1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华文中宋"/>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254</TotalTime>
  <Words>3150</Words>
  <Application>Microsoft Office PowerPoint</Application>
  <PresentationFormat>全屏显示(4:3)</PresentationFormat>
  <Paragraphs>372</Paragraphs>
  <Slides>57</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57</vt:i4>
      </vt:variant>
    </vt:vector>
  </HeadingPairs>
  <TitlesOfParts>
    <vt:vector size="68" baseType="lpstr">
      <vt:lpstr>方正姚体</vt:lpstr>
      <vt:lpstr>宋体</vt:lpstr>
      <vt:lpstr>Arial</vt:lpstr>
      <vt:lpstr>Tahoma</vt:lpstr>
      <vt:lpstr>Times New Roman</vt:lpstr>
      <vt:lpstr>Wingdings</vt:lpstr>
      <vt:lpstr>仿宋_GB2312</vt:lpstr>
      <vt:lpstr>黑体</vt:lpstr>
      <vt:lpstr>华文新魏</vt:lpstr>
      <vt:lpstr>楷体_GB2312</vt:lpstr>
      <vt:lpstr>1_Blends</vt:lpstr>
      <vt:lpstr>PowerPoint 演示文稿</vt:lpstr>
      <vt:lpstr>2017年四川长虹年度报告</vt:lpstr>
      <vt:lpstr>2017年四川长虹年度报告</vt:lpstr>
      <vt:lpstr>PowerPoint 演示文稿</vt:lpstr>
      <vt:lpstr>案例：燕京啤酒</vt:lpstr>
      <vt:lpstr>问题：</vt:lpstr>
      <vt:lpstr>一、无形资产概述</vt:lpstr>
      <vt:lpstr>（一）无形资产的定义</vt:lpstr>
      <vt:lpstr>２．无形资产的基本特征 </vt:lpstr>
      <vt:lpstr>二、无形资产的分类</vt:lpstr>
      <vt:lpstr>PowerPoint 演示文稿</vt:lpstr>
      <vt:lpstr> 二、无形资产的取得</vt:lpstr>
      <vt:lpstr>（一）取得无形资产</vt:lpstr>
      <vt:lpstr>外购无形资产</vt:lpstr>
      <vt:lpstr>PowerPoint 演示文稿</vt:lpstr>
      <vt:lpstr>PowerPoint 演示文稿</vt:lpstr>
      <vt:lpstr>企业外购的土地使用权</vt:lpstr>
      <vt:lpstr>外购的房屋建筑物</vt:lpstr>
      <vt:lpstr>通过行政划拨取得土地使用权</vt:lpstr>
      <vt:lpstr>PowerPoint 演示文稿</vt:lpstr>
      <vt:lpstr>PowerPoint 演示文稿</vt:lpstr>
      <vt:lpstr>投资者投入的无形资产</vt:lpstr>
      <vt:lpstr>内部研究开发取得的无形资产</vt:lpstr>
      <vt:lpstr>PowerPoint 演示文稿</vt:lpstr>
      <vt:lpstr>研究与开发支出</vt:lpstr>
      <vt:lpstr>PowerPoint 演示文稿</vt:lpstr>
      <vt:lpstr>PowerPoint 演示文稿</vt:lpstr>
      <vt:lpstr>3.内部开发无形资产的计量</vt:lpstr>
      <vt:lpstr>PowerPoint 演示文稿</vt:lpstr>
      <vt:lpstr>PowerPoint 演示文稿</vt:lpstr>
      <vt:lpstr>PowerPoint 演示文稿</vt:lpstr>
      <vt:lpstr>PowerPoint 演示文稿</vt:lpstr>
      <vt:lpstr>三、无形资产摊销</vt:lpstr>
      <vt:lpstr>三、无形资产摊销</vt:lpstr>
      <vt:lpstr>三、无形资产摊销</vt:lpstr>
      <vt:lpstr>思考：</vt:lpstr>
      <vt:lpstr>账务处理</vt:lpstr>
      <vt:lpstr>PowerPoint 演示文稿</vt:lpstr>
      <vt:lpstr>PowerPoint 演示文稿</vt:lpstr>
      <vt:lpstr>四、无形资产的出租和处置</vt:lpstr>
      <vt:lpstr>四、无形资产的出租和处置</vt:lpstr>
      <vt:lpstr>四、无形资产的出租和处置</vt:lpstr>
      <vt:lpstr>PowerPoint 演示文稿</vt:lpstr>
      <vt:lpstr>五、无形资产的期末计价</vt:lpstr>
      <vt:lpstr>PowerPoint 演示文稿</vt:lpstr>
      <vt:lpstr>PowerPoint 演示文稿</vt:lpstr>
      <vt:lpstr>PowerPoint 演示文稿</vt:lpstr>
      <vt:lpstr>PowerPoint 演示文稿</vt:lpstr>
      <vt:lpstr>PowerPoint 演示文稿</vt:lpstr>
      <vt:lpstr>思考题</vt:lpstr>
      <vt:lpstr>练习题</vt:lpstr>
      <vt:lpstr>PowerPoint 演示文稿</vt:lpstr>
      <vt:lpstr>PowerPoint 演示文稿</vt:lpstr>
      <vt:lpstr>PowerPoint 演示文稿</vt:lpstr>
      <vt:lpstr>PowerPoint 演示文稿</vt:lpstr>
      <vt:lpstr>PowerPoint 演示文稿</vt:lpstr>
      <vt:lpstr>PowerPoint 演示文稿</vt:lpstr>
    </vt:vector>
  </TitlesOfParts>
  <Company>www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     长期投资</dc:title>
  <dc:creator>www</dc:creator>
  <cp:lastModifiedBy>毛 新述</cp:lastModifiedBy>
  <cp:revision>922</cp:revision>
  <dcterms:created xsi:type="dcterms:W3CDTF">2002-08-15T07:47:00Z</dcterms:created>
  <dcterms:modified xsi:type="dcterms:W3CDTF">2020-05-03T06:52:31Z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2052-11.1.0.9513</vt:lpwstr>
  </property>
</Properties>
</file>