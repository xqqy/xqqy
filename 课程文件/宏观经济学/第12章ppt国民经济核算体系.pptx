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wav" ContentType="audio/wav"/>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1" r:id="rId1"/>
  </p:sldMasterIdLst>
  <p:notesMasterIdLst>
    <p:notesMasterId r:id="rId42"/>
  </p:notesMasterIdLst>
  <p:sldIdLst>
    <p:sldId id="309" r:id="rId2"/>
    <p:sldId id="431" r:id="rId3"/>
    <p:sldId id="374" r:id="rId4"/>
    <p:sldId id="373" r:id="rId5"/>
    <p:sldId id="433" r:id="rId6"/>
    <p:sldId id="432" r:id="rId7"/>
    <p:sldId id="417" r:id="rId8"/>
    <p:sldId id="418" r:id="rId9"/>
    <p:sldId id="318" r:id="rId10"/>
    <p:sldId id="387" r:id="rId11"/>
    <p:sldId id="421" r:id="rId12"/>
    <p:sldId id="327" r:id="rId13"/>
    <p:sldId id="436" r:id="rId14"/>
    <p:sldId id="390" r:id="rId15"/>
    <p:sldId id="392" r:id="rId16"/>
    <p:sldId id="391" r:id="rId17"/>
    <p:sldId id="413" r:id="rId18"/>
    <p:sldId id="388" r:id="rId19"/>
    <p:sldId id="395" r:id="rId20"/>
    <p:sldId id="394" r:id="rId21"/>
    <p:sldId id="409" r:id="rId22"/>
    <p:sldId id="389" r:id="rId23"/>
    <p:sldId id="347" r:id="rId24"/>
    <p:sldId id="437" r:id="rId25"/>
    <p:sldId id="397" r:id="rId26"/>
    <p:sldId id="398" r:id="rId27"/>
    <p:sldId id="399" r:id="rId28"/>
    <p:sldId id="401" r:id="rId29"/>
    <p:sldId id="438" r:id="rId30"/>
    <p:sldId id="439" r:id="rId31"/>
    <p:sldId id="403" r:id="rId32"/>
    <p:sldId id="366" r:id="rId33"/>
    <p:sldId id="412" r:id="rId34"/>
    <p:sldId id="407" r:id="rId35"/>
    <p:sldId id="405" r:id="rId36"/>
    <p:sldId id="406" r:id="rId37"/>
    <p:sldId id="423" r:id="rId38"/>
    <p:sldId id="425" r:id="rId39"/>
    <p:sldId id="427" r:id="rId40"/>
    <p:sldId id="426" r:id="rId41"/>
  </p:sldIdLst>
  <p:sldSz cx="9144000" cy="6858000" type="screen4x3"/>
  <p:notesSz cx="6858000" cy="9144000"/>
  <p:defaultTextStyle>
    <a:defPPr>
      <a:defRPr lang="zh-CN"/>
    </a:defPPr>
    <a:lvl1pPr algn="l" rtl="0" fontAlgn="base">
      <a:spcBef>
        <a:spcPct val="0"/>
      </a:spcBef>
      <a:spcAft>
        <a:spcPct val="0"/>
      </a:spcAft>
      <a:defRPr sz="2000" b="1" kern="1200">
        <a:solidFill>
          <a:srgbClr val="000004"/>
        </a:solidFill>
        <a:latin typeface="宋体" charset="-122"/>
        <a:ea typeface="宋体" charset="-122"/>
        <a:cs typeface="+mn-cs"/>
      </a:defRPr>
    </a:lvl1pPr>
    <a:lvl2pPr marL="457200" algn="l" rtl="0" fontAlgn="base">
      <a:spcBef>
        <a:spcPct val="0"/>
      </a:spcBef>
      <a:spcAft>
        <a:spcPct val="0"/>
      </a:spcAft>
      <a:defRPr sz="2000" b="1" kern="1200">
        <a:solidFill>
          <a:srgbClr val="000004"/>
        </a:solidFill>
        <a:latin typeface="宋体" charset="-122"/>
        <a:ea typeface="宋体" charset="-122"/>
        <a:cs typeface="+mn-cs"/>
      </a:defRPr>
    </a:lvl2pPr>
    <a:lvl3pPr marL="914400" algn="l" rtl="0" fontAlgn="base">
      <a:spcBef>
        <a:spcPct val="0"/>
      </a:spcBef>
      <a:spcAft>
        <a:spcPct val="0"/>
      </a:spcAft>
      <a:defRPr sz="2000" b="1" kern="1200">
        <a:solidFill>
          <a:srgbClr val="000004"/>
        </a:solidFill>
        <a:latin typeface="宋体" charset="-122"/>
        <a:ea typeface="宋体" charset="-122"/>
        <a:cs typeface="+mn-cs"/>
      </a:defRPr>
    </a:lvl3pPr>
    <a:lvl4pPr marL="1371600" algn="l" rtl="0" fontAlgn="base">
      <a:spcBef>
        <a:spcPct val="0"/>
      </a:spcBef>
      <a:spcAft>
        <a:spcPct val="0"/>
      </a:spcAft>
      <a:defRPr sz="2000" b="1" kern="1200">
        <a:solidFill>
          <a:srgbClr val="000004"/>
        </a:solidFill>
        <a:latin typeface="宋体" charset="-122"/>
        <a:ea typeface="宋体" charset="-122"/>
        <a:cs typeface="+mn-cs"/>
      </a:defRPr>
    </a:lvl4pPr>
    <a:lvl5pPr marL="1828800" algn="l" rtl="0" fontAlgn="base">
      <a:spcBef>
        <a:spcPct val="0"/>
      </a:spcBef>
      <a:spcAft>
        <a:spcPct val="0"/>
      </a:spcAft>
      <a:defRPr sz="2000" b="1" kern="1200">
        <a:solidFill>
          <a:srgbClr val="000004"/>
        </a:solidFill>
        <a:latin typeface="宋体" charset="-122"/>
        <a:ea typeface="宋体" charset="-122"/>
        <a:cs typeface="+mn-cs"/>
      </a:defRPr>
    </a:lvl5pPr>
    <a:lvl6pPr marL="2286000" algn="l" defTabSz="914400" rtl="0" eaLnBrk="1" latinLnBrk="0" hangingPunct="1">
      <a:defRPr sz="2000" b="1" kern="1200">
        <a:solidFill>
          <a:srgbClr val="000004"/>
        </a:solidFill>
        <a:latin typeface="宋体" charset="-122"/>
        <a:ea typeface="宋体" charset="-122"/>
        <a:cs typeface="+mn-cs"/>
      </a:defRPr>
    </a:lvl6pPr>
    <a:lvl7pPr marL="2743200" algn="l" defTabSz="914400" rtl="0" eaLnBrk="1" latinLnBrk="0" hangingPunct="1">
      <a:defRPr sz="2000" b="1" kern="1200">
        <a:solidFill>
          <a:srgbClr val="000004"/>
        </a:solidFill>
        <a:latin typeface="宋体" charset="-122"/>
        <a:ea typeface="宋体" charset="-122"/>
        <a:cs typeface="+mn-cs"/>
      </a:defRPr>
    </a:lvl7pPr>
    <a:lvl8pPr marL="3200400" algn="l" defTabSz="914400" rtl="0" eaLnBrk="1" latinLnBrk="0" hangingPunct="1">
      <a:defRPr sz="2000" b="1" kern="1200">
        <a:solidFill>
          <a:srgbClr val="000004"/>
        </a:solidFill>
        <a:latin typeface="宋体" charset="-122"/>
        <a:ea typeface="宋体" charset="-122"/>
        <a:cs typeface="+mn-cs"/>
      </a:defRPr>
    </a:lvl8pPr>
    <a:lvl9pPr marL="3657600" algn="l" defTabSz="914400" rtl="0" eaLnBrk="1" latinLnBrk="0" hangingPunct="1">
      <a:defRPr sz="2000" b="1" kern="1200">
        <a:solidFill>
          <a:srgbClr val="000004"/>
        </a:solidFill>
        <a:latin typeface="宋体" charset="-122"/>
        <a:ea typeface="宋体"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66"/>
    <a:srgbClr val="003366"/>
    <a:srgbClr val="B0B0B0"/>
    <a:srgbClr val="6600FF"/>
    <a:srgbClr val="FF00FF"/>
    <a:srgbClr val="220420"/>
    <a:srgbClr val="FF5050"/>
    <a:srgbClr val="04CC2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autoAdjust="0"/>
    <p:restoredTop sz="94669" autoAdjust="0"/>
  </p:normalViewPr>
  <p:slideViewPr>
    <p:cSldViewPr>
      <p:cViewPr varScale="1">
        <p:scale>
          <a:sx n="84" d="100"/>
          <a:sy n="84" d="100"/>
        </p:scale>
        <p:origin x="-115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image" Target="../media/image15.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image" Target="../media/image9.jpe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5474" name="Rectangle 2"/>
          <p:cNvSpPr>
            <a:spLocks noGrp="1" noChangeArrowheads="1"/>
          </p:cNvSpPr>
          <p:nvPr>
            <p:ph type="hdr" sz="quarter"/>
          </p:nvPr>
        </p:nvSpPr>
        <p:spPr bwMode="auto">
          <a:xfrm>
            <a:off x="0" y="0"/>
            <a:ext cx="2971800" cy="457200"/>
          </a:xfrm>
          <a:prstGeom prst="rect">
            <a:avLst/>
          </a:prstGeom>
          <a:noFill/>
          <a:ln>
            <a:noFill/>
          </a:ln>
          <a:effectLst/>
          <a:extLst>
            <a:ext uri="{FAA26D3D-D897-4be2-8F04-BA451C77F1D7}"/>
          </a:extLst>
        </p:spPr>
        <p:txBody>
          <a:bodyPr vert="horz" wrap="square" lIns="91440" tIns="45720" rIns="91440" bIns="45720" numCol="1" anchor="t" anchorCtr="0" compatLnSpc="1">
            <a:prstTxWarp prst="textNoShape">
              <a:avLst/>
            </a:prstTxWarp>
          </a:bodyPr>
          <a:lstStyle>
            <a:lvl1pPr>
              <a:lnSpc>
                <a:spcPct val="100000"/>
              </a:lnSpc>
              <a:spcBef>
                <a:spcPct val="0"/>
              </a:spcBef>
              <a:buClrTx/>
              <a:buSzTx/>
              <a:buFontTx/>
              <a:buNone/>
              <a:defRPr kumimoji="1" sz="1200" b="0">
                <a:solidFill>
                  <a:schemeClr val="tx1"/>
                </a:solidFill>
                <a:latin typeface="Times New Roman" charset="0"/>
                <a:ea typeface="宋体" charset="0"/>
                <a:cs typeface="宋体" charset="0"/>
              </a:defRPr>
            </a:lvl1pPr>
          </a:lstStyle>
          <a:p>
            <a:pPr>
              <a:defRPr/>
            </a:pPr>
            <a:endParaRPr lang="en-US" altLang="zh-CN"/>
          </a:p>
        </p:txBody>
      </p:sp>
      <p:sp>
        <p:nvSpPr>
          <p:cNvPr id="105475" name="Rectangle 3"/>
          <p:cNvSpPr>
            <a:spLocks noGrp="1" noChangeArrowheads="1"/>
          </p:cNvSpPr>
          <p:nvPr>
            <p:ph type="dt" idx="1"/>
          </p:nvPr>
        </p:nvSpPr>
        <p:spPr bwMode="auto">
          <a:xfrm>
            <a:off x="3884613" y="0"/>
            <a:ext cx="2971800" cy="457200"/>
          </a:xfrm>
          <a:prstGeom prst="rect">
            <a:avLst/>
          </a:prstGeom>
          <a:noFill/>
          <a:ln>
            <a:noFill/>
          </a:ln>
          <a:effectLst/>
          <a:extLst>
            <a:ext uri="{FAA26D3D-D897-4be2-8F04-BA451C77F1D7}"/>
          </a:extLst>
        </p:spPr>
        <p:txBody>
          <a:bodyPr vert="horz" wrap="square" lIns="91440" tIns="45720" rIns="91440" bIns="45720" numCol="1" anchor="t" anchorCtr="0" compatLnSpc="1">
            <a:prstTxWarp prst="textNoShape">
              <a:avLst/>
            </a:prstTxWarp>
          </a:bodyPr>
          <a:lstStyle>
            <a:lvl1pPr algn="r">
              <a:lnSpc>
                <a:spcPct val="100000"/>
              </a:lnSpc>
              <a:spcBef>
                <a:spcPct val="0"/>
              </a:spcBef>
              <a:buClrTx/>
              <a:buSzTx/>
              <a:buFontTx/>
              <a:buNone/>
              <a:defRPr kumimoji="1" sz="1200" b="0">
                <a:solidFill>
                  <a:schemeClr val="tx1"/>
                </a:solidFill>
                <a:latin typeface="Times New Roman" charset="0"/>
                <a:ea typeface="宋体" charset="0"/>
                <a:cs typeface="宋体" charset="0"/>
              </a:defRPr>
            </a:lvl1pPr>
          </a:lstStyle>
          <a:p>
            <a:pPr>
              <a:defRPr/>
            </a:pPr>
            <a:endParaRPr lang="en-US" altLang="zh-CN"/>
          </a:p>
        </p:txBody>
      </p:sp>
      <p:sp>
        <p:nvSpPr>
          <p:cNvPr id="1638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105477"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FAA26D3D-D897-4be2-8F04-BA451C77F1D7}"/>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endParaRPr lang="en-US" altLang="zh-CN" noProof="0"/>
          </a:p>
          <a:p>
            <a:pPr lvl="1"/>
            <a:r>
              <a:rPr lang="zh-CN" altLang="en-US" noProof="0"/>
              <a:t>第二级</a:t>
            </a:r>
            <a:endParaRPr lang="en-US" altLang="zh-CN" noProof="0"/>
          </a:p>
          <a:p>
            <a:pPr lvl="2"/>
            <a:r>
              <a:rPr lang="zh-CN" altLang="en-US" noProof="0"/>
              <a:t>第三级</a:t>
            </a:r>
            <a:endParaRPr lang="en-US" altLang="zh-CN" noProof="0"/>
          </a:p>
          <a:p>
            <a:pPr lvl="3"/>
            <a:r>
              <a:rPr lang="zh-CN" altLang="en-US" noProof="0"/>
              <a:t>第四级</a:t>
            </a:r>
            <a:endParaRPr lang="en-US" altLang="zh-CN" noProof="0"/>
          </a:p>
          <a:p>
            <a:pPr lvl="4"/>
            <a:r>
              <a:rPr lang="zh-CN" altLang="en-US" noProof="0"/>
              <a:t>第五级</a:t>
            </a:r>
          </a:p>
        </p:txBody>
      </p:sp>
      <p:sp>
        <p:nvSpPr>
          <p:cNvPr id="105478" name="Rectangle 6"/>
          <p:cNvSpPr>
            <a:spLocks noGrp="1" noChangeArrowheads="1"/>
          </p:cNvSpPr>
          <p:nvPr>
            <p:ph type="ftr" sz="quarter" idx="4"/>
          </p:nvPr>
        </p:nvSpPr>
        <p:spPr bwMode="auto">
          <a:xfrm>
            <a:off x="0" y="8685213"/>
            <a:ext cx="2971800" cy="457200"/>
          </a:xfrm>
          <a:prstGeom prst="rect">
            <a:avLst/>
          </a:prstGeom>
          <a:noFill/>
          <a:ln>
            <a:noFill/>
          </a:ln>
          <a:effectLst/>
          <a:extLst>
            <a:ext uri="{FAA26D3D-D897-4be2-8F04-BA451C77F1D7}"/>
          </a:extLst>
        </p:spPr>
        <p:txBody>
          <a:bodyPr vert="horz" wrap="square" lIns="91440" tIns="45720" rIns="91440" bIns="45720" numCol="1" anchor="b" anchorCtr="0" compatLnSpc="1">
            <a:prstTxWarp prst="textNoShape">
              <a:avLst/>
            </a:prstTxWarp>
          </a:bodyPr>
          <a:lstStyle>
            <a:lvl1pPr>
              <a:lnSpc>
                <a:spcPct val="100000"/>
              </a:lnSpc>
              <a:spcBef>
                <a:spcPct val="0"/>
              </a:spcBef>
              <a:buClrTx/>
              <a:buSzTx/>
              <a:buFontTx/>
              <a:buNone/>
              <a:defRPr kumimoji="1" sz="1200" b="0">
                <a:solidFill>
                  <a:schemeClr val="tx1"/>
                </a:solidFill>
                <a:latin typeface="Times New Roman" charset="0"/>
                <a:ea typeface="宋体" charset="0"/>
                <a:cs typeface="宋体" charset="0"/>
              </a:defRPr>
            </a:lvl1pPr>
          </a:lstStyle>
          <a:p>
            <a:pPr>
              <a:defRPr/>
            </a:pPr>
            <a:endParaRPr lang="en-US" altLang="zh-CN"/>
          </a:p>
        </p:txBody>
      </p:sp>
      <p:sp>
        <p:nvSpPr>
          <p:cNvPr id="105479"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FAA26D3D-D897-4be2-8F04-BA451C77F1D7}"/>
          </a:extLst>
        </p:spPr>
        <p:txBody>
          <a:bodyPr vert="horz" wrap="square" lIns="91440" tIns="45720" rIns="91440" bIns="45720" numCol="1" anchor="b" anchorCtr="0" compatLnSpc="1">
            <a:prstTxWarp prst="textNoShape">
              <a:avLst/>
            </a:prstTxWarp>
          </a:bodyPr>
          <a:lstStyle>
            <a:lvl1pPr algn="r">
              <a:lnSpc>
                <a:spcPct val="100000"/>
              </a:lnSpc>
              <a:spcBef>
                <a:spcPct val="0"/>
              </a:spcBef>
              <a:buClrTx/>
              <a:buSzTx/>
              <a:buFontTx/>
              <a:buNone/>
              <a:defRPr kumimoji="1" sz="1200" b="0">
                <a:solidFill>
                  <a:schemeClr val="tx1"/>
                </a:solidFill>
                <a:latin typeface="Times New Roman" charset="0"/>
                <a:ea typeface="宋体" charset="0"/>
                <a:cs typeface="宋体" charset="0"/>
              </a:defRPr>
            </a:lvl1pPr>
          </a:lstStyle>
          <a:p>
            <a:pPr>
              <a:defRPr/>
            </a:pPr>
            <a:fld id="{66871F20-F9EB-411F-A36E-DDE34D36F7FB}" type="slidenum">
              <a:rPr lang="en-US" altLang="zh-CN"/>
              <a:pPr>
                <a:defRPr/>
              </a:pPr>
              <a:t>‹#›</a:t>
            </a:fld>
            <a:endParaRPr lang="en-US" altLang="zh-CN"/>
          </a:p>
        </p:txBody>
      </p:sp>
    </p:spTree>
    <p:extLst>
      <p:ext uri="{BB962C8B-B14F-4D97-AF65-F5344CB8AC3E}">
        <p14:creationId xmlns:p14="http://schemas.microsoft.com/office/powerpoint/2010/main" val="86445528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宋体" charset="0"/>
        <a:cs typeface="宋体" charset="0"/>
      </a:defRPr>
    </a:lvl1pPr>
    <a:lvl2pPr marL="457200" algn="l" rtl="0" eaLnBrk="0" fontAlgn="base" hangingPunct="0">
      <a:spcBef>
        <a:spcPct val="30000"/>
      </a:spcBef>
      <a:spcAft>
        <a:spcPct val="0"/>
      </a:spcAft>
      <a:defRPr sz="1200" kern="1200">
        <a:solidFill>
          <a:schemeClr val="tx1"/>
        </a:solidFill>
        <a:latin typeface="Times New Roman" charset="0"/>
        <a:ea typeface="宋体" charset="0"/>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宋体" charset="0"/>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宋体" charset="0"/>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宋体"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396875" y="0"/>
            <a:ext cx="10153650" cy="7219950"/>
            <a:chOff x="-313" y="824"/>
            <a:chExt cx="6570" cy="3722"/>
          </a:xfrm>
        </p:grpSpPr>
        <p:sp>
          <p:nvSpPr>
            <p:cNvPr id="5" name="Rectangle 3"/>
            <p:cNvSpPr>
              <a:spLocks noChangeArrowheads="1"/>
            </p:cNvSpPr>
            <p:nvPr userDrawn="1"/>
          </p:nvSpPr>
          <p:spPr bwMode="hidden">
            <a:xfrm rot="20798144" flipV="1">
              <a:off x="-14" y="1033"/>
              <a:ext cx="1744" cy="7"/>
            </a:xfrm>
            <a:prstGeom prst="rect">
              <a:avLst/>
            </a:prstGeom>
            <a:solidFill>
              <a:srgbClr val="C0C0C0"/>
            </a:solidFill>
            <a:ln>
              <a:noFill/>
            </a:ln>
            <a:effectLst/>
            <a:extLst/>
          </p:spPr>
          <p:txBody>
            <a:bodyPr rot="10800000"/>
            <a:lstStyle/>
            <a:p>
              <a:pPr algn="ctr">
                <a:defRPr/>
              </a:pPr>
              <a:endParaRPr lang="zh-CN" altLang="en-US" sz="1800" b="0">
                <a:solidFill>
                  <a:schemeClr val="tx1"/>
                </a:solidFill>
                <a:latin typeface="Arial" charset="0"/>
                <a:ea typeface="宋体" charset="0"/>
              </a:endParaRPr>
            </a:p>
          </p:txBody>
        </p:sp>
        <p:sp>
          <p:nvSpPr>
            <p:cNvPr id="6" name="Rectangle 4"/>
            <p:cNvSpPr>
              <a:spLocks noChangeArrowheads="1"/>
            </p:cNvSpPr>
            <p:nvPr userDrawn="1"/>
          </p:nvSpPr>
          <p:spPr bwMode="hidden">
            <a:xfrm rot="20774366" flipV="1">
              <a:off x="-24" y="1127"/>
              <a:ext cx="2034" cy="7"/>
            </a:xfrm>
            <a:prstGeom prst="rect">
              <a:avLst/>
            </a:prstGeom>
            <a:solidFill>
              <a:srgbClr val="C0C0C0"/>
            </a:solidFill>
            <a:ln>
              <a:noFill/>
            </a:ln>
            <a:effectLst/>
            <a:extLst/>
          </p:spPr>
          <p:txBody>
            <a:bodyPr rot="10800000"/>
            <a:lstStyle/>
            <a:p>
              <a:pPr algn="ctr">
                <a:defRPr/>
              </a:pPr>
              <a:endParaRPr lang="zh-CN" altLang="en-US" sz="1800" b="0">
                <a:solidFill>
                  <a:schemeClr val="tx1"/>
                </a:solidFill>
                <a:latin typeface="Arial" charset="0"/>
                <a:ea typeface="宋体" charset="0"/>
              </a:endParaRPr>
            </a:p>
          </p:txBody>
        </p:sp>
        <p:sp>
          <p:nvSpPr>
            <p:cNvPr id="7" name="Rectangle 5"/>
            <p:cNvSpPr>
              <a:spLocks noChangeArrowheads="1"/>
            </p:cNvSpPr>
            <p:nvPr userDrawn="1"/>
          </p:nvSpPr>
          <p:spPr bwMode="hidden">
            <a:xfrm rot="20757421" flipV="1">
              <a:off x="-27" y="1198"/>
              <a:ext cx="2246" cy="6"/>
            </a:xfrm>
            <a:prstGeom prst="rect">
              <a:avLst/>
            </a:prstGeom>
            <a:solidFill>
              <a:srgbClr val="C0C0C0"/>
            </a:solidFill>
            <a:ln>
              <a:noFill/>
            </a:ln>
            <a:effectLst/>
            <a:extLst/>
          </p:spPr>
          <p:txBody>
            <a:bodyPr rot="10800000"/>
            <a:lstStyle/>
            <a:p>
              <a:pPr algn="ctr">
                <a:defRPr/>
              </a:pPr>
              <a:endParaRPr lang="zh-CN" altLang="en-US" sz="1800" b="0">
                <a:solidFill>
                  <a:schemeClr val="tx1"/>
                </a:solidFill>
                <a:latin typeface="Arial" charset="0"/>
                <a:ea typeface="宋体" charset="0"/>
              </a:endParaRPr>
            </a:p>
          </p:txBody>
        </p:sp>
        <p:sp>
          <p:nvSpPr>
            <p:cNvPr id="8" name="Rectangle 6"/>
            <p:cNvSpPr>
              <a:spLocks noChangeArrowheads="1"/>
            </p:cNvSpPr>
            <p:nvPr userDrawn="1"/>
          </p:nvSpPr>
          <p:spPr bwMode="hidden">
            <a:xfrm rot="20684206" flipV="1">
              <a:off x="-43" y="1283"/>
              <a:ext cx="2476" cy="6"/>
            </a:xfrm>
            <a:prstGeom prst="rect">
              <a:avLst/>
            </a:prstGeom>
            <a:solidFill>
              <a:srgbClr val="C0C0C0"/>
            </a:solidFill>
            <a:ln>
              <a:noFill/>
            </a:ln>
            <a:effectLst/>
            <a:extLst/>
          </p:spPr>
          <p:txBody>
            <a:bodyPr rot="10800000"/>
            <a:lstStyle/>
            <a:p>
              <a:pPr algn="ctr">
                <a:defRPr/>
              </a:pPr>
              <a:endParaRPr lang="zh-CN" altLang="en-US" sz="1800" b="0">
                <a:solidFill>
                  <a:schemeClr val="tx1"/>
                </a:solidFill>
                <a:latin typeface="Arial" charset="0"/>
                <a:ea typeface="宋体" charset="0"/>
              </a:endParaRPr>
            </a:p>
          </p:txBody>
        </p:sp>
        <p:sp>
          <p:nvSpPr>
            <p:cNvPr id="9" name="Rectangle 7"/>
            <p:cNvSpPr>
              <a:spLocks noChangeArrowheads="1"/>
            </p:cNvSpPr>
            <p:nvPr userDrawn="1"/>
          </p:nvSpPr>
          <p:spPr bwMode="hidden">
            <a:xfrm rot="20631226" flipV="1">
              <a:off x="-51" y="1397"/>
              <a:ext cx="2770" cy="6"/>
            </a:xfrm>
            <a:prstGeom prst="rect">
              <a:avLst/>
            </a:prstGeom>
            <a:solidFill>
              <a:srgbClr val="C0C0C0"/>
            </a:solidFill>
            <a:ln>
              <a:noFill/>
            </a:ln>
            <a:effectLst/>
            <a:extLst/>
          </p:spPr>
          <p:txBody>
            <a:bodyPr rot="10800000"/>
            <a:lstStyle/>
            <a:p>
              <a:pPr algn="ctr">
                <a:defRPr/>
              </a:pPr>
              <a:endParaRPr lang="zh-CN" altLang="en-US" sz="1800" b="0">
                <a:solidFill>
                  <a:schemeClr val="tx1"/>
                </a:solidFill>
                <a:latin typeface="Arial" charset="0"/>
                <a:ea typeface="宋体" charset="0"/>
              </a:endParaRPr>
            </a:p>
          </p:txBody>
        </p:sp>
        <p:sp>
          <p:nvSpPr>
            <p:cNvPr id="10" name="Rectangle 8"/>
            <p:cNvSpPr>
              <a:spLocks noChangeArrowheads="1"/>
            </p:cNvSpPr>
            <p:nvPr userDrawn="1"/>
          </p:nvSpPr>
          <p:spPr bwMode="hidden">
            <a:xfrm rot="20554235" flipV="1">
              <a:off x="-65" y="1523"/>
              <a:ext cx="3058" cy="6"/>
            </a:xfrm>
            <a:prstGeom prst="rect">
              <a:avLst/>
            </a:prstGeom>
            <a:solidFill>
              <a:srgbClr val="C0C0C0"/>
            </a:solidFill>
            <a:ln>
              <a:noFill/>
            </a:ln>
            <a:effectLst/>
            <a:extLst/>
          </p:spPr>
          <p:txBody>
            <a:bodyPr rot="10800000"/>
            <a:lstStyle/>
            <a:p>
              <a:pPr algn="ctr">
                <a:defRPr/>
              </a:pPr>
              <a:endParaRPr lang="zh-CN" altLang="en-US" sz="1800" b="0">
                <a:solidFill>
                  <a:schemeClr val="tx1"/>
                </a:solidFill>
                <a:latin typeface="Arial" charset="0"/>
                <a:ea typeface="宋体" charset="0"/>
              </a:endParaRPr>
            </a:p>
          </p:txBody>
        </p:sp>
        <p:sp>
          <p:nvSpPr>
            <p:cNvPr id="11" name="Rectangle 9"/>
            <p:cNvSpPr>
              <a:spLocks noChangeArrowheads="1"/>
            </p:cNvSpPr>
            <p:nvPr userDrawn="1"/>
          </p:nvSpPr>
          <p:spPr bwMode="hidden">
            <a:xfrm rot="20466593" flipV="1">
              <a:off x="-93" y="1694"/>
              <a:ext cx="3403" cy="6"/>
            </a:xfrm>
            <a:prstGeom prst="rect">
              <a:avLst/>
            </a:prstGeom>
            <a:solidFill>
              <a:srgbClr val="C0C0C0"/>
            </a:solidFill>
            <a:ln>
              <a:noFill/>
            </a:ln>
            <a:effectLst/>
            <a:extLst/>
          </p:spPr>
          <p:txBody>
            <a:bodyPr rot="10800000"/>
            <a:lstStyle/>
            <a:p>
              <a:pPr algn="ctr">
                <a:defRPr/>
              </a:pPr>
              <a:endParaRPr lang="zh-CN" altLang="en-US" sz="1800" b="0">
                <a:solidFill>
                  <a:schemeClr val="tx1"/>
                </a:solidFill>
                <a:latin typeface="Arial" charset="0"/>
                <a:ea typeface="宋体" charset="0"/>
              </a:endParaRPr>
            </a:p>
          </p:txBody>
        </p:sp>
        <p:sp>
          <p:nvSpPr>
            <p:cNvPr id="12" name="Rectangle 10"/>
            <p:cNvSpPr>
              <a:spLocks noChangeArrowheads="1"/>
            </p:cNvSpPr>
            <p:nvPr userDrawn="1"/>
          </p:nvSpPr>
          <p:spPr bwMode="hidden">
            <a:xfrm rot="20343219" flipV="1">
              <a:off x="-99" y="1863"/>
              <a:ext cx="3749" cy="6"/>
            </a:xfrm>
            <a:prstGeom prst="rect">
              <a:avLst/>
            </a:prstGeom>
            <a:solidFill>
              <a:srgbClr val="C0C0C0"/>
            </a:solidFill>
            <a:ln>
              <a:noFill/>
            </a:ln>
            <a:effectLst/>
            <a:extLst/>
          </p:spPr>
          <p:txBody>
            <a:bodyPr rot="10800000"/>
            <a:lstStyle/>
            <a:p>
              <a:pPr algn="ctr">
                <a:defRPr/>
              </a:pPr>
              <a:endParaRPr lang="zh-CN" altLang="en-US" sz="1800" b="0">
                <a:solidFill>
                  <a:schemeClr val="tx1"/>
                </a:solidFill>
                <a:latin typeface="Arial" charset="0"/>
                <a:ea typeface="宋体" charset="0"/>
              </a:endParaRPr>
            </a:p>
          </p:txBody>
        </p:sp>
        <p:sp>
          <p:nvSpPr>
            <p:cNvPr id="13" name="Rectangle 11"/>
            <p:cNvSpPr>
              <a:spLocks noChangeArrowheads="1"/>
            </p:cNvSpPr>
            <p:nvPr userDrawn="1"/>
          </p:nvSpPr>
          <p:spPr bwMode="hidden">
            <a:xfrm rot="20211065" flipV="1">
              <a:off x="-165" y="2053"/>
              <a:ext cx="4209" cy="6"/>
            </a:xfrm>
            <a:prstGeom prst="rect">
              <a:avLst/>
            </a:prstGeom>
            <a:solidFill>
              <a:srgbClr val="C0C0C0"/>
            </a:solidFill>
            <a:ln>
              <a:noFill/>
            </a:ln>
            <a:effectLst/>
            <a:extLst/>
          </p:spPr>
          <p:txBody>
            <a:bodyPr rot="10800000"/>
            <a:lstStyle/>
            <a:p>
              <a:pPr algn="ctr">
                <a:defRPr/>
              </a:pPr>
              <a:endParaRPr lang="zh-CN" altLang="en-US" sz="1800" b="0">
                <a:solidFill>
                  <a:schemeClr val="tx1"/>
                </a:solidFill>
                <a:latin typeface="Arial" charset="0"/>
                <a:ea typeface="宋体" charset="0"/>
              </a:endParaRPr>
            </a:p>
          </p:txBody>
        </p:sp>
        <p:sp>
          <p:nvSpPr>
            <p:cNvPr id="14" name="Rectangle 12"/>
            <p:cNvSpPr>
              <a:spLocks noChangeArrowheads="1"/>
            </p:cNvSpPr>
            <p:nvPr userDrawn="1"/>
          </p:nvSpPr>
          <p:spPr bwMode="hidden">
            <a:xfrm rot="20102912" flipV="1">
              <a:off x="-214" y="2289"/>
              <a:ext cx="4612" cy="6"/>
            </a:xfrm>
            <a:prstGeom prst="rect">
              <a:avLst/>
            </a:prstGeom>
            <a:solidFill>
              <a:srgbClr val="C0C0C0"/>
            </a:solidFill>
            <a:ln>
              <a:noFill/>
            </a:ln>
            <a:effectLst/>
            <a:extLst/>
          </p:spPr>
          <p:txBody>
            <a:bodyPr rot="10800000"/>
            <a:lstStyle/>
            <a:p>
              <a:pPr algn="ctr">
                <a:defRPr/>
              </a:pPr>
              <a:endParaRPr lang="zh-CN" altLang="en-US" sz="1800" b="0">
                <a:solidFill>
                  <a:schemeClr val="tx1"/>
                </a:solidFill>
                <a:latin typeface="Arial" charset="0"/>
                <a:ea typeface="宋体" charset="0"/>
              </a:endParaRPr>
            </a:p>
          </p:txBody>
        </p:sp>
        <p:sp>
          <p:nvSpPr>
            <p:cNvPr id="15" name="Rectangle 13"/>
            <p:cNvSpPr>
              <a:spLocks noChangeArrowheads="1"/>
            </p:cNvSpPr>
            <p:nvPr userDrawn="1"/>
          </p:nvSpPr>
          <p:spPr bwMode="hidden">
            <a:xfrm rot="19923405" flipV="1">
              <a:off x="-313" y="2617"/>
              <a:ext cx="5200" cy="6"/>
            </a:xfrm>
            <a:prstGeom prst="rect">
              <a:avLst/>
            </a:prstGeom>
            <a:solidFill>
              <a:srgbClr val="C0C0C0"/>
            </a:solidFill>
            <a:ln>
              <a:noFill/>
            </a:ln>
            <a:effectLst/>
            <a:extLst/>
          </p:spPr>
          <p:txBody>
            <a:bodyPr rot="10800000"/>
            <a:lstStyle/>
            <a:p>
              <a:pPr algn="ctr">
                <a:defRPr/>
              </a:pPr>
              <a:endParaRPr lang="zh-CN" altLang="en-US" sz="1800" b="0">
                <a:solidFill>
                  <a:schemeClr val="tx1"/>
                </a:solidFill>
                <a:latin typeface="Arial" charset="0"/>
                <a:ea typeface="宋体" charset="0"/>
              </a:endParaRPr>
            </a:p>
          </p:txBody>
        </p:sp>
        <p:sp>
          <p:nvSpPr>
            <p:cNvPr id="16" name="Rectangle 14"/>
            <p:cNvSpPr>
              <a:spLocks noChangeArrowheads="1"/>
            </p:cNvSpPr>
            <p:nvPr userDrawn="1"/>
          </p:nvSpPr>
          <p:spPr bwMode="hidden">
            <a:xfrm rot="19686284" flipV="1">
              <a:off x="9" y="2881"/>
              <a:ext cx="5401" cy="7"/>
            </a:xfrm>
            <a:prstGeom prst="rect">
              <a:avLst/>
            </a:prstGeom>
            <a:solidFill>
              <a:srgbClr val="C0C0C0"/>
            </a:solidFill>
            <a:ln>
              <a:noFill/>
            </a:ln>
            <a:effectLst/>
            <a:extLst/>
          </p:spPr>
          <p:txBody>
            <a:bodyPr rot="10800000"/>
            <a:lstStyle/>
            <a:p>
              <a:pPr algn="ctr">
                <a:defRPr/>
              </a:pPr>
              <a:endParaRPr lang="zh-CN" altLang="en-US" sz="1800" b="0">
                <a:solidFill>
                  <a:schemeClr val="tx1"/>
                </a:solidFill>
                <a:latin typeface="Arial" charset="0"/>
                <a:ea typeface="宋体" charset="0"/>
              </a:endParaRPr>
            </a:p>
          </p:txBody>
        </p:sp>
        <p:sp>
          <p:nvSpPr>
            <p:cNvPr id="17" name="Rectangle 15"/>
            <p:cNvSpPr>
              <a:spLocks noChangeArrowheads="1"/>
            </p:cNvSpPr>
            <p:nvPr userDrawn="1"/>
          </p:nvSpPr>
          <p:spPr bwMode="hidden">
            <a:xfrm rot="19383534" flipV="1">
              <a:off x="1319" y="2928"/>
              <a:ext cx="4612" cy="6"/>
            </a:xfrm>
            <a:prstGeom prst="rect">
              <a:avLst/>
            </a:prstGeom>
            <a:solidFill>
              <a:srgbClr val="C0C0C0"/>
            </a:solidFill>
            <a:ln>
              <a:noFill/>
            </a:ln>
            <a:effectLst/>
            <a:extLst/>
          </p:spPr>
          <p:txBody>
            <a:bodyPr rot="10800000"/>
            <a:lstStyle/>
            <a:p>
              <a:pPr algn="ctr">
                <a:defRPr/>
              </a:pPr>
              <a:endParaRPr lang="zh-CN" altLang="en-US" sz="1800" b="0">
                <a:solidFill>
                  <a:schemeClr val="tx1"/>
                </a:solidFill>
                <a:latin typeface="Arial" charset="0"/>
                <a:ea typeface="宋体" charset="0"/>
              </a:endParaRPr>
            </a:p>
          </p:txBody>
        </p:sp>
        <p:sp>
          <p:nvSpPr>
            <p:cNvPr id="18" name="Rectangle 16"/>
            <p:cNvSpPr>
              <a:spLocks noChangeArrowheads="1"/>
            </p:cNvSpPr>
            <p:nvPr userDrawn="1"/>
          </p:nvSpPr>
          <p:spPr bwMode="hidden">
            <a:xfrm rot="18994182" flipV="1">
              <a:off x="2681" y="3071"/>
              <a:ext cx="3576" cy="6"/>
            </a:xfrm>
            <a:prstGeom prst="rect">
              <a:avLst/>
            </a:prstGeom>
            <a:solidFill>
              <a:srgbClr val="C0C0C0"/>
            </a:solidFill>
            <a:ln>
              <a:noFill/>
            </a:ln>
            <a:effectLst/>
            <a:extLst/>
          </p:spPr>
          <p:txBody>
            <a:bodyPr rot="10800000"/>
            <a:lstStyle/>
            <a:p>
              <a:pPr algn="ctr">
                <a:defRPr/>
              </a:pPr>
              <a:endParaRPr lang="zh-CN" altLang="en-US" sz="1800" b="0">
                <a:solidFill>
                  <a:schemeClr val="tx1"/>
                </a:solidFill>
                <a:latin typeface="Arial" charset="0"/>
                <a:ea typeface="宋体" charset="0"/>
              </a:endParaRPr>
            </a:p>
          </p:txBody>
        </p:sp>
        <p:sp>
          <p:nvSpPr>
            <p:cNvPr id="19" name="Rectangle 17"/>
            <p:cNvSpPr>
              <a:spLocks noChangeArrowheads="1"/>
            </p:cNvSpPr>
            <p:nvPr userDrawn="1"/>
          </p:nvSpPr>
          <p:spPr bwMode="hidden">
            <a:xfrm rot="18603245" flipV="1">
              <a:off x="4059" y="3504"/>
              <a:ext cx="2079" cy="6"/>
            </a:xfrm>
            <a:prstGeom prst="rect">
              <a:avLst/>
            </a:prstGeom>
            <a:solidFill>
              <a:srgbClr val="C0C0C0"/>
            </a:solidFill>
            <a:ln>
              <a:noFill/>
            </a:ln>
            <a:effectLst/>
            <a:extLst/>
          </p:spPr>
          <p:txBody>
            <a:bodyPr rot="10800000" vert="eaVert"/>
            <a:lstStyle/>
            <a:p>
              <a:pPr algn="ctr">
                <a:defRPr/>
              </a:pPr>
              <a:endParaRPr lang="zh-CN" altLang="en-US" sz="1800" b="0">
                <a:solidFill>
                  <a:schemeClr val="tx1"/>
                </a:solidFill>
                <a:latin typeface="Arial" charset="0"/>
                <a:ea typeface="宋体" charset="0"/>
              </a:endParaRPr>
            </a:p>
          </p:txBody>
        </p:sp>
        <p:sp>
          <p:nvSpPr>
            <p:cNvPr id="20" name="Rectangle 18"/>
            <p:cNvSpPr>
              <a:spLocks noChangeArrowheads="1"/>
            </p:cNvSpPr>
            <p:nvPr userDrawn="1"/>
          </p:nvSpPr>
          <p:spPr bwMode="hidden">
            <a:xfrm rot="39991575" flipH="1" flipV="1">
              <a:off x="5375" y="4166"/>
              <a:ext cx="501" cy="6"/>
            </a:xfrm>
            <a:prstGeom prst="rect">
              <a:avLst/>
            </a:prstGeom>
            <a:solidFill>
              <a:srgbClr val="C0C0C0"/>
            </a:solidFill>
            <a:ln>
              <a:noFill/>
            </a:ln>
            <a:effectLst/>
            <a:extLst/>
          </p:spPr>
          <p:txBody>
            <a:bodyPr rot="10800000" vert="eaVert"/>
            <a:lstStyle/>
            <a:p>
              <a:pPr algn="ctr">
                <a:defRPr/>
              </a:pPr>
              <a:endParaRPr lang="zh-CN" altLang="en-US" sz="1800" b="0">
                <a:solidFill>
                  <a:schemeClr val="tx1"/>
                </a:solidFill>
                <a:latin typeface="Arial" charset="0"/>
                <a:ea typeface="宋体" charset="0"/>
              </a:endParaRPr>
            </a:p>
          </p:txBody>
        </p:sp>
        <p:sp>
          <p:nvSpPr>
            <p:cNvPr id="21" name="Rectangle 19"/>
            <p:cNvSpPr>
              <a:spLocks noChangeArrowheads="1"/>
            </p:cNvSpPr>
            <p:nvPr userDrawn="1"/>
          </p:nvSpPr>
          <p:spPr bwMode="hidden">
            <a:xfrm rot="-20541361">
              <a:off x="-146" y="2360"/>
              <a:ext cx="6044" cy="6"/>
            </a:xfrm>
            <a:prstGeom prst="rect">
              <a:avLst/>
            </a:prstGeom>
            <a:solidFill>
              <a:srgbClr val="C0C0C0"/>
            </a:solidFill>
            <a:ln>
              <a:noFill/>
            </a:ln>
            <a:effectLst/>
            <a:extLst/>
          </p:spPr>
          <p:txBody>
            <a:bodyPr/>
            <a:lstStyle/>
            <a:p>
              <a:pPr algn="ctr">
                <a:defRPr/>
              </a:pPr>
              <a:endParaRPr lang="zh-CN" altLang="en-US" sz="1800" b="0">
                <a:solidFill>
                  <a:schemeClr val="tx1"/>
                </a:solidFill>
                <a:latin typeface="Arial" charset="0"/>
                <a:ea typeface="宋体" charset="0"/>
              </a:endParaRPr>
            </a:p>
          </p:txBody>
        </p:sp>
        <p:sp>
          <p:nvSpPr>
            <p:cNvPr id="22" name="Rectangle 20"/>
            <p:cNvSpPr>
              <a:spLocks noChangeArrowheads="1"/>
            </p:cNvSpPr>
            <p:nvPr userDrawn="1"/>
          </p:nvSpPr>
          <p:spPr bwMode="hidden">
            <a:xfrm rot="-20036206">
              <a:off x="-198" y="3396"/>
              <a:ext cx="4142" cy="6"/>
            </a:xfrm>
            <a:prstGeom prst="rect">
              <a:avLst/>
            </a:prstGeom>
            <a:solidFill>
              <a:srgbClr val="C0C0C0"/>
            </a:solidFill>
            <a:ln>
              <a:noFill/>
            </a:ln>
            <a:effectLst/>
            <a:extLst/>
          </p:spPr>
          <p:txBody>
            <a:bodyPr/>
            <a:lstStyle/>
            <a:p>
              <a:pPr algn="ctr">
                <a:defRPr/>
              </a:pPr>
              <a:endParaRPr lang="zh-CN" altLang="en-US" sz="1800" b="0">
                <a:solidFill>
                  <a:schemeClr val="tx1"/>
                </a:solidFill>
                <a:latin typeface="Arial" charset="0"/>
                <a:ea typeface="宋体" charset="0"/>
              </a:endParaRPr>
            </a:p>
          </p:txBody>
        </p:sp>
        <p:sp>
          <p:nvSpPr>
            <p:cNvPr id="23" name="Rectangle 21"/>
            <p:cNvSpPr>
              <a:spLocks noChangeArrowheads="1"/>
            </p:cNvSpPr>
            <p:nvPr userDrawn="1"/>
          </p:nvSpPr>
          <p:spPr bwMode="hidden">
            <a:xfrm rot="1732981">
              <a:off x="-165" y="3624"/>
              <a:ext cx="2804" cy="7"/>
            </a:xfrm>
            <a:prstGeom prst="rect">
              <a:avLst/>
            </a:prstGeom>
            <a:solidFill>
              <a:srgbClr val="C0C0C0"/>
            </a:solidFill>
            <a:ln>
              <a:noFill/>
            </a:ln>
            <a:effectLst/>
            <a:extLst/>
          </p:spPr>
          <p:txBody>
            <a:bodyPr/>
            <a:lstStyle/>
            <a:p>
              <a:pPr algn="ctr">
                <a:defRPr/>
              </a:pPr>
              <a:endParaRPr lang="zh-CN" altLang="en-US" sz="1800" b="0">
                <a:solidFill>
                  <a:schemeClr val="tx1"/>
                </a:solidFill>
                <a:latin typeface="Arial" charset="0"/>
                <a:ea typeface="宋体" charset="0"/>
              </a:endParaRPr>
            </a:p>
          </p:txBody>
        </p:sp>
        <p:sp>
          <p:nvSpPr>
            <p:cNvPr id="24" name="Rectangle 22"/>
            <p:cNvSpPr>
              <a:spLocks noChangeArrowheads="1"/>
            </p:cNvSpPr>
            <p:nvPr userDrawn="1"/>
          </p:nvSpPr>
          <p:spPr bwMode="hidden">
            <a:xfrm rot="1969083">
              <a:off x="-110" y="3922"/>
              <a:ext cx="1400" cy="6"/>
            </a:xfrm>
            <a:prstGeom prst="rect">
              <a:avLst/>
            </a:prstGeom>
            <a:solidFill>
              <a:srgbClr val="C0C0C0"/>
            </a:solidFill>
            <a:ln>
              <a:noFill/>
            </a:ln>
            <a:effectLst/>
            <a:extLst/>
          </p:spPr>
          <p:txBody>
            <a:bodyPr/>
            <a:lstStyle/>
            <a:p>
              <a:pPr algn="ctr">
                <a:defRPr/>
              </a:pPr>
              <a:endParaRPr lang="zh-CN" altLang="en-US" sz="1800" b="0">
                <a:solidFill>
                  <a:schemeClr val="tx1"/>
                </a:solidFill>
                <a:latin typeface="Arial" charset="0"/>
                <a:ea typeface="宋体" charset="0"/>
              </a:endParaRPr>
            </a:p>
          </p:txBody>
        </p:sp>
        <p:sp>
          <p:nvSpPr>
            <p:cNvPr id="25" name="Rectangle 23"/>
            <p:cNvSpPr>
              <a:spLocks noChangeArrowheads="1"/>
            </p:cNvSpPr>
            <p:nvPr userDrawn="1"/>
          </p:nvSpPr>
          <p:spPr bwMode="hidden">
            <a:xfrm rot="-20213826">
              <a:off x="-216" y="3221"/>
              <a:ext cx="5477" cy="6"/>
            </a:xfrm>
            <a:prstGeom prst="rect">
              <a:avLst/>
            </a:prstGeom>
            <a:solidFill>
              <a:srgbClr val="C0C0C0"/>
            </a:solidFill>
            <a:ln>
              <a:noFill/>
            </a:ln>
            <a:effectLst/>
            <a:extLst/>
          </p:spPr>
          <p:txBody>
            <a:bodyPr/>
            <a:lstStyle/>
            <a:p>
              <a:pPr algn="ctr">
                <a:defRPr/>
              </a:pPr>
              <a:endParaRPr lang="zh-CN" altLang="en-US" sz="1800" b="0">
                <a:solidFill>
                  <a:schemeClr val="tx1"/>
                </a:solidFill>
                <a:latin typeface="Arial" charset="0"/>
                <a:ea typeface="宋体" charset="0"/>
              </a:endParaRPr>
            </a:p>
          </p:txBody>
        </p:sp>
        <p:sp>
          <p:nvSpPr>
            <p:cNvPr id="26" name="Rectangle 24"/>
            <p:cNvSpPr>
              <a:spLocks noChangeArrowheads="1"/>
            </p:cNvSpPr>
            <p:nvPr userDrawn="1"/>
          </p:nvSpPr>
          <p:spPr bwMode="hidden">
            <a:xfrm rot="22583969">
              <a:off x="-115" y="2129"/>
              <a:ext cx="6013" cy="6"/>
            </a:xfrm>
            <a:prstGeom prst="rect">
              <a:avLst/>
            </a:prstGeom>
            <a:solidFill>
              <a:srgbClr val="C0C0C0"/>
            </a:solidFill>
            <a:ln>
              <a:noFill/>
            </a:ln>
            <a:effectLst/>
            <a:extLst/>
          </p:spPr>
          <p:txBody>
            <a:bodyPr/>
            <a:lstStyle/>
            <a:p>
              <a:pPr algn="ctr">
                <a:defRPr/>
              </a:pPr>
              <a:endParaRPr lang="zh-CN" altLang="en-US" sz="1800" b="0">
                <a:solidFill>
                  <a:schemeClr val="tx1"/>
                </a:solidFill>
                <a:latin typeface="Arial" charset="0"/>
                <a:ea typeface="宋体" charset="0"/>
              </a:endParaRPr>
            </a:p>
          </p:txBody>
        </p:sp>
        <p:sp>
          <p:nvSpPr>
            <p:cNvPr id="27" name="Rectangle 25"/>
            <p:cNvSpPr>
              <a:spLocks noChangeArrowheads="1"/>
            </p:cNvSpPr>
            <p:nvPr userDrawn="1"/>
          </p:nvSpPr>
          <p:spPr bwMode="hidden">
            <a:xfrm rot="930109" flipV="1">
              <a:off x="80" y="1946"/>
              <a:ext cx="5749" cy="6"/>
            </a:xfrm>
            <a:prstGeom prst="rect">
              <a:avLst/>
            </a:prstGeom>
            <a:solidFill>
              <a:srgbClr val="C0C0C0"/>
            </a:solidFill>
            <a:ln>
              <a:noFill/>
            </a:ln>
            <a:effectLst/>
            <a:extLst/>
          </p:spPr>
          <p:txBody>
            <a:bodyPr rot="10800000"/>
            <a:lstStyle/>
            <a:p>
              <a:pPr algn="ctr">
                <a:defRPr/>
              </a:pPr>
              <a:endParaRPr lang="zh-CN" altLang="en-US" sz="1800" b="0">
                <a:solidFill>
                  <a:schemeClr val="tx1"/>
                </a:solidFill>
                <a:latin typeface="Arial" charset="0"/>
                <a:ea typeface="宋体" charset="0"/>
              </a:endParaRPr>
            </a:p>
          </p:txBody>
        </p:sp>
        <p:sp>
          <p:nvSpPr>
            <p:cNvPr id="28" name="Rectangle 26"/>
            <p:cNvSpPr>
              <a:spLocks noChangeArrowheads="1"/>
            </p:cNvSpPr>
            <p:nvPr userDrawn="1"/>
          </p:nvSpPr>
          <p:spPr bwMode="hidden">
            <a:xfrm rot="-20731987">
              <a:off x="374" y="1802"/>
              <a:ext cx="5475" cy="6"/>
            </a:xfrm>
            <a:prstGeom prst="rect">
              <a:avLst/>
            </a:prstGeom>
            <a:solidFill>
              <a:srgbClr val="C0C0C0"/>
            </a:solidFill>
            <a:ln>
              <a:noFill/>
            </a:ln>
            <a:effectLst/>
            <a:extLst/>
          </p:spPr>
          <p:txBody>
            <a:bodyPr/>
            <a:lstStyle/>
            <a:p>
              <a:pPr algn="ctr">
                <a:defRPr/>
              </a:pPr>
              <a:endParaRPr lang="zh-CN" altLang="en-US" sz="1800" b="0">
                <a:solidFill>
                  <a:schemeClr val="tx1"/>
                </a:solidFill>
                <a:latin typeface="Arial" charset="0"/>
                <a:ea typeface="宋体" charset="0"/>
              </a:endParaRPr>
            </a:p>
          </p:txBody>
        </p:sp>
        <p:sp>
          <p:nvSpPr>
            <p:cNvPr id="29" name="Rectangle 27"/>
            <p:cNvSpPr>
              <a:spLocks noChangeArrowheads="1"/>
            </p:cNvSpPr>
            <p:nvPr userDrawn="1"/>
          </p:nvSpPr>
          <p:spPr bwMode="hidden">
            <a:xfrm rot="-64024402">
              <a:off x="848" y="1582"/>
              <a:ext cx="4976" cy="7"/>
            </a:xfrm>
            <a:prstGeom prst="rect">
              <a:avLst/>
            </a:prstGeom>
            <a:solidFill>
              <a:srgbClr val="C0C0C0"/>
            </a:solidFill>
            <a:ln>
              <a:noFill/>
            </a:ln>
            <a:effectLst/>
            <a:extLst/>
          </p:spPr>
          <p:txBody>
            <a:bodyPr/>
            <a:lstStyle/>
            <a:p>
              <a:pPr algn="ctr">
                <a:defRPr/>
              </a:pPr>
              <a:endParaRPr lang="zh-CN" altLang="en-US" sz="1800" b="0">
                <a:solidFill>
                  <a:schemeClr val="tx1"/>
                </a:solidFill>
                <a:latin typeface="Arial" charset="0"/>
                <a:ea typeface="宋体" charset="0"/>
              </a:endParaRPr>
            </a:p>
          </p:txBody>
        </p:sp>
        <p:sp>
          <p:nvSpPr>
            <p:cNvPr id="30" name="Rectangle 28"/>
            <p:cNvSpPr>
              <a:spLocks noChangeArrowheads="1"/>
            </p:cNvSpPr>
            <p:nvPr userDrawn="1"/>
          </p:nvSpPr>
          <p:spPr bwMode="hidden">
            <a:xfrm rot="-42464612">
              <a:off x="1053" y="1476"/>
              <a:ext cx="4759" cy="6"/>
            </a:xfrm>
            <a:prstGeom prst="rect">
              <a:avLst/>
            </a:prstGeom>
            <a:solidFill>
              <a:srgbClr val="C0C0C0"/>
            </a:solidFill>
            <a:ln>
              <a:noFill/>
            </a:ln>
            <a:effectLst/>
            <a:extLst/>
          </p:spPr>
          <p:txBody>
            <a:bodyPr/>
            <a:lstStyle/>
            <a:p>
              <a:pPr algn="ctr">
                <a:defRPr/>
              </a:pPr>
              <a:endParaRPr lang="zh-CN" altLang="en-US" sz="1800" b="0">
                <a:solidFill>
                  <a:schemeClr val="tx1"/>
                </a:solidFill>
                <a:latin typeface="Arial" charset="0"/>
                <a:ea typeface="宋体" charset="0"/>
              </a:endParaRPr>
            </a:p>
          </p:txBody>
        </p:sp>
        <p:sp>
          <p:nvSpPr>
            <p:cNvPr id="31" name="Rectangle 29"/>
            <p:cNvSpPr>
              <a:spLocks noChangeArrowheads="1"/>
            </p:cNvSpPr>
            <p:nvPr userDrawn="1"/>
          </p:nvSpPr>
          <p:spPr bwMode="hidden">
            <a:xfrm rot="-20907336">
              <a:off x="1244" y="1377"/>
              <a:ext cx="4557" cy="6"/>
            </a:xfrm>
            <a:prstGeom prst="rect">
              <a:avLst/>
            </a:prstGeom>
            <a:solidFill>
              <a:srgbClr val="C0C0C0"/>
            </a:solidFill>
            <a:ln>
              <a:noFill/>
            </a:ln>
            <a:effectLst/>
            <a:extLst/>
          </p:spPr>
          <p:txBody>
            <a:bodyPr/>
            <a:lstStyle/>
            <a:p>
              <a:pPr algn="ctr">
                <a:defRPr/>
              </a:pPr>
              <a:endParaRPr lang="zh-CN" altLang="en-US" sz="1800" b="0">
                <a:solidFill>
                  <a:schemeClr val="tx1"/>
                </a:solidFill>
                <a:latin typeface="Arial" charset="0"/>
                <a:ea typeface="宋体" charset="0"/>
              </a:endParaRPr>
            </a:p>
          </p:txBody>
        </p:sp>
        <p:sp>
          <p:nvSpPr>
            <p:cNvPr id="32" name="Rectangle 30"/>
            <p:cNvSpPr>
              <a:spLocks noChangeArrowheads="1"/>
            </p:cNvSpPr>
            <p:nvPr userDrawn="1"/>
          </p:nvSpPr>
          <p:spPr bwMode="hidden">
            <a:xfrm rot="655690" flipV="1">
              <a:off x="1487" y="1305"/>
              <a:ext cx="4314" cy="6"/>
            </a:xfrm>
            <a:prstGeom prst="rect">
              <a:avLst/>
            </a:prstGeom>
            <a:solidFill>
              <a:srgbClr val="C0C0C0"/>
            </a:solidFill>
            <a:ln>
              <a:noFill/>
            </a:ln>
            <a:effectLst/>
            <a:extLst/>
          </p:spPr>
          <p:txBody>
            <a:bodyPr rot="10800000"/>
            <a:lstStyle/>
            <a:p>
              <a:pPr algn="ctr">
                <a:defRPr/>
              </a:pPr>
              <a:endParaRPr lang="zh-CN" altLang="en-US" sz="1800" b="0">
                <a:solidFill>
                  <a:schemeClr val="tx1"/>
                </a:solidFill>
                <a:latin typeface="Arial" charset="0"/>
                <a:ea typeface="宋体" charset="0"/>
              </a:endParaRPr>
            </a:p>
          </p:txBody>
        </p:sp>
        <p:sp>
          <p:nvSpPr>
            <p:cNvPr id="33" name="Rectangle 31"/>
            <p:cNvSpPr>
              <a:spLocks noChangeArrowheads="1"/>
            </p:cNvSpPr>
            <p:nvPr userDrawn="1"/>
          </p:nvSpPr>
          <p:spPr bwMode="hidden">
            <a:xfrm rot="636921" flipV="1">
              <a:off x="1650" y="1218"/>
              <a:ext cx="4154" cy="7"/>
            </a:xfrm>
            <a:prstGeom prst="rect">
              <a:avLst/>
            </a:prstGeom>
            <a:solidFill>
              <a:srgbClr val="C0C0C0"/>
            </a:solidFill>
            <a:ln>
              <a:noFill/>
            </a:ln>
            <a:effectLst/>
            <a:extLst/>
          </p:spPr>
          <p:txBody>
            <a:bodyPr rot="10800000"/>
            <a:lstStyle/>
            <a:p>
              <a:pPr algn="ctr">
                <a:defRPr/>
              </a:pPr>
              <a:endParaRPr lang="zh-CN" altLang="en-US" sz="1800" b="0">
                <a:solidFill>
                  <a:schemeClr val="tx1"/>
                </a:solidFill>
                <a:latin typeface="Arial" charset="0"/>
                <a:ea typeface="宋体" charset="0"/>
              </a:endParaRPr>
            </a:p>
          </p:txBody>
        </p:sp>
        <p:sp>
          <p:nvSpPr>
            <p:cNvPr id="34" name="Rectangle 32"/>
            <p:cNvSpPr>
              <a:spLocks noChangeArrowheads="1"/>
            </p:cNvSpPr>
            <p:nvPr userDrawn="1"/>
          </p:nvSpPr>
          <p:spPr bwMode="hidden">
            <a:xfrm rot="803987" flipV="1">
              <a:off x="611" y="1684"/>
              <a:ext cx="5204" cy="6"/>
            </a:xfrm>
            <a:prstGeom prst="rect">
              <a:avLst/>
            </a:prstGeom>
            <a:solidFill>
              <a:srgbClr val="C0C0C0"/>
            </a:solidFill>
            <a:ln>
              <a:noFill/>
            </a:ln>
            <a:effectLst/>
            <a:extLst/>
          </p:spPr>
          <p:txBody>
            <a:bodyPr rot="10800000"/>
            <a:lstStyle/>
            <a:p>
              <a:pPr algn="ctr">
                <a:defRPr/>
              </a:pPr>
              <a:endParaRPr lang="zh-CN" altLang="en-US" sz="1800" b="0">
                <a:solidFill>
                  <a:schemeClr val="tx1"/>
                </a:solidFill>
                <a:latin typeface="Arial" charset="0"/>
                <a:ea typeface="宋体" charset="0"/>
              </a:endParaRPr>
            </a:p>
          </p:txBody>
        </p:sp>
        <p:sp>
          <p:nvSpPr>
            <p:cNvPr id="35" name="Rectangle 33"/>
            <p:cNvSpPr>
              <a:spLocks noChangeArrowheads="1"/>
            </p:cNvSpPr>
            <p:nvPr userDrawn="1"/>
          </p:nvSpPr>
          <p:spPr bwMode="hidden">
            <a:xfrm rot="1273217" flipV="1">
              <a:off x="-204" y="2976"/>
              <a:ext cx="6150" cy="6"/>
            </a:xfrm>
            <a:prstGeom prst="rect">
              <a:avLst/>
            </a:prstGeom>
            <a:solidFill>
              <a:srgbClr val="C0C0C0"/>
            </a:solidFill>
            <a:ln>
              <a:noFill/>
            </a:ln>
            <a:effectLst/>
            <a:extLst/>
          </p:spPr>
          <p:txBody>
            <a:bodyPr rot="10800000"/>
            <a:lstStyle/>
            <a:p>
              <a:pPr algn="ctr">
                <a:defRPr/>
              </a:pPr>
              <a:endParaRPr lang="zh-CN" altLang="en-US" sz="1800" b="0">
                <a:solidFill>
                  <a:schemeClr val="tx1"/>
                </a:solidFill>
                <a:latin typeface="Arial" charset="0"/>
                <a:ea typeface="宋体" charset="0"/>
              </a:endParaRPr>
            </a:p>
          </p:txBody>
        </p:sp>
        <p:sp>
          <p:nvSpPr>
            <p:cNvPr id="36" name="Rectangle 34"/>
            <p:cNvSpPr>
              <a:spLocks noChangeArrowheads="1"/>
            </p:cNvSpPr>
            <p:nvPr userDrawn="1"/>
          </p:nvSpPr>
          <p:spPr bwMode="hidden">
            <a:xfrm rot="1169729" flipV="1">
              <a:off x="-174" y="2663"/>
              <a:ext cx="6111" cy="6"/>
            </a:xfrm>
            <a:prstGeom prst="rect">
              <a:avLst/>
            </a:prstGeom>
            <a:solidFill>
              <a:srgbClr val="C0C0C0"/>
            </a:solidFill>
            <a:ln>
              <a:noFill/>
            </a:ln>
            <a:effectLst/>
            <a:extLst/>
          </p:spPr>
          <p:txBody>
            <a:bodyPr rot="10800000"/>
            <a:lstStyle/>
            <a:p>
              <a:pPr algn="ctr">
                <a:defRPr/>
              </a:pPr>
              <a:endParaRPr lang="zh-CN" altLang="en-US" sz="1800" b="0">
                <a:solidFill>
                  <a:schemeClr val="tx1"/>
                </a:solidFill>
                <a:latin typeface="Arial" charset="0"/>
                <a:ea typeface="宋体" charset="0"/>
              </a:endParaRPr>
            </a:p>
          </p:txBody>
        </p:sp>
        <p:sp>
          <p:nvSpPr>
            <p:cNvPr id="37" name="Oval 35"/>
            <p:cNvSpPr>
              <a:spLocks noChangeArrowheads="1"/>
            </p:cNvSpPr>
            <p:nvPr/>
          </p:nvSpPr>
          <p:spPr bwMode="hidden">
            <a:xfrm>
              <a:off x="740" y="3359"/>
              <a:ext cx="168" cy="96"/>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38" name="Oval 36"/>
            <p:cNvSpPr>
              <a:spLocks noChangeArrowheads="1"/>
            </p:cNvSpPr>
            <p:nvPr/>
          </p:nvSpPr>
          <p:spPr bwMode="hidden">
            <a:xfrm>
              <a:off x="236" y="3074"/>
              <a:ext cx="168" cy="95"/>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39" name="Oval 37"/>
            <p:cNvSpPr>
              <a:spLocks noChangeArrowheads="1"/>
            </p:cNvSpPr>
            <p:nvPr/>
          </p:nvSpPr>
          <p:spPr bwMode="hidden">
            <a:xfrm>
              <a:off x="158" y="3652"/>
              <a:ext cx="190" cy="106"/>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40" name="Oval 38"/>
            <p:cNvSpPr>
              <a:spLocks noChangeArrowheads="1"/>
            </p:cNvSpPr>
            <p:nvPr/>
          </p:nvSpPr>
          <p:spPr bwMode="hidden">
            <a:xfrm>
              <a:off x="2077" y="2661"/>
              <a:ext cx="156" cy="83"/>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41" name="Oval 39"/>
            <p:cNvSpPr>
              <a:spLocks noChangeArrowheads="1"/>
            </p:cNvSpPr>
            <p:nvPr/>
          </p:nvSpPr>
          <p:spPr bwMode="hidden">
            <a:xfrm>
              <a:off x="1223" y="3076"/>
              <a:ext cx="168" cy="95"/>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42" name="Oval 40"/>
            <p:cNvSpPr>
              <a:spLocks noChangeArrowheads="1"/>
            </p:cNvSpPr>
            <p:nvPr/>
          </p:nvSpPr>
          <p:spPr bwMode="hidden">
            <a:xfrm>
              <a:off x="1686" y="2857"/>
              <a:ext cx="156" cy="90"/>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43" name="Oval 41"/>
            <p:cNvSpPr>
              <a:spLocks noChangeArrowheads="1"/>
            </p:cNvSpPr>
            <p:nvPr/>
          </p:nvSpPr>
          <p:spPr bwMode="hidden">
            <a:xfrm>
              <a:off x="750" y="2839"/>
              <a:ext cx="151" cy="89"/>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44" name="Oval 42"/>
            <p:cNvSpPr>
              <a:spLocks noChangeArrowheads="1"/>
            </p:cNvSpPr>
            <p:nvPr/>
          </p:nvSpPr>
          <p:spPr bwMode="hidden">
            <a:xfrm>
              <a:off x="367" y="2656"/>
              <a:ext cx="150" cy="83"/>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45" name="Oval 43"/>
            <p:cNvSpPr>
              <a:spLocks noChangeArrowheads="1"/>
            </p:cNvSpPr>
            <p:nvPr/>
          </p:nvSpPr>
          <p:spPr bwMode="hidden">
            <a:xfrm>
              <a:off x="1172" y="2642"/>
              <a:ext cx="156" cy="83"/>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46" name="Oval 44"/>
            <p:cNvSpPr>
              <a:spLocks noChangeArrowheads="1"/>
            </p:cNvSpPr>
            <p:nvPr/>
          </p:nvSpPr>
          <p:spPr bwMode="hidden">
            <a:xfrm>
              <a:off x="2401" y="2485"/>
              <a:ext cx="156" cy="83"/>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47" name="Oval 45"/>
            <p:cNvSpPr>
              <a:spLocks noChangeArrowheads="1"/>
            </p:cNvSpPr>
            <p:nvPr/>
          </p:nvSpPr>
          <p:spPr bwMode="hidden">
            <a:xfrm>
              <a:off x="1910" y="2314"/>
              <a:ext cx="137" cy="73"/>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48" name="Oval 46"/>
            <p:cNvSpPr>
              <a:spLocks noChangeArrowheads="1"/>
            </p:cNvSpPr>
            <p:nvPr/>
          </p:nvSpPr>
          <p:spPr bwMode="hidden">
            <a:xfrm>
              <a:off x="2254" y="2154"/>
              <a:ext cx="134" cy="61"/>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49" name="Oval 47"/>
            <p:cNvSpPr>
              <a:spLocks noChangeArrowheads="1"/>
            </p:cNvSpPr>
            <p:nvPr/>
          </p:nvSpPr>
          <p:spPr bwMode="hidden">
            <a:xfrm>
              <a:off x="2742" y="2305"/>
              <a:ext cx="140" cy="72"/>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50" name="Oval 48"/>
            <p:cNvSpPr>
              <a:spLocks noChangeArrowheads="1"/>
            </p:cNvSpPr>
            <p:nvPr/>
          </p:nvSpPr>
          <p:spPr bwMode="hidden">
            <a:xfrm>
              <a:off x="2812" y="1898"/>
              <a:ext cx="129" cy="61"/>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51" name="Oval 49"/>
            <p:cNvSpPr>
              <a:spLocks noChangeArrowheads="1"/>
            </p:cNvSpPr>
            <p:nvPr/>
          </p:nvSpPr>
          <p:spPr bwMode="hidden">
            <a:xfrm>
              <a:off x="3721" y="1792"/>
              <a:ext cx="128" cy="61"/>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52" name="Oval 50"/>
            <p:cNvSpPr>
              <a:spLocks noChangeArrowheads="1"/>
            </p:cNvSpPr>
            <p:nvPr/>
          </p:nvSpPr>
          <p:spPr bwMode="hidden">
            <a:xfrm>
              <a:off x="3528" y="1896"/>
              <a:ext cx="128" cy="61"/>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53" name="Oval 51"/>
            <p:cNvSpPr>
              <a:spLocks noChangeArrowheads="1"/>
            </p:cNvSpPr>
            <p:nvPr/>
          </p:nvSpPr>
          <p:spPr bwMode="hidden">
            <a:xfrm>
              <a:off x="3064" y="1778"/>
              <a:ext cx="121" cy="61"/>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54" name="Oval 52"/>
            <p:cNvSpPr>
              <a:spLocks noChangeArrowheads="1"/>
            </p:cNvSpPr>
            <p:nvPr/>
          </p:nvSpPr>
          <p:spPr bwMode="hidden">
            <a:xfrm>
              <a:off x="3277" y="2024"/>
              <a:ext cx="134" cy="74"/>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55" name="Oval 53"/>
            <p:cNvSpPr>
              <a:spLocks noChangeArrowheads="1"/>
            </p:cNvSpPr>
            <p:nvPr/>
          </p:nvSpPr>
          <p:spPr bwMode="hidden">
            <a:xfrm>
              <a:off x="3027" y="2160"/>
              <a:ext cx="133" cy="61"/>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56" name="Oval 54"/>
            <p:cNvSpPr>
              <a:spLocks noChangeArrowheads="1"/>
            </p:cNvSpPr>
            <p:nvPr/>
          </p:nvSpPr>
          <p:spPr bwMode="hidden">
            <a:xfrm>
              <a:off x="1569" y="2453"/>
              <a:ext cx="150" cy="88"/>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57" name="Oval 55"/>
            <p:cNvSpPr>
              <a:spLocks noChangeArrowheads="1"/>
            </p:cNvSpPr>
            <p:nvPr/>
          </p:nvSpPr>
          <p:spPr bwMode="hidden">
            <a:xfrm>
              <a:off x="1863" y="2028"/>
              <a:ext cx="146" cy="61"/>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58" name="Oval 56"/>
            <p:cNvSpPr>
              <a:spLocks noChangeArrowheads="1"/>
            </p:cNvSpPr>
            <p:nvPr/>
          </p:nvSpPr>
          <p:spPr bwMode="hidden">
            <a:xfrm>
              <a:off x="1513" y="2175"/>
              <a:ext cx="139" cy="61"/>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59" name="Oval 57"/>
            <p:cNvSpPr>
              <a:spLocks noChangeArrowheads="1"/>
            </p:cNvSpPr>
            <p:nvPr/>
          </p:nvSpPr>
          <p:spPr bwMode="hidden">
            <a:xfrm>
              <a:off x="1191" y="2311"/>
              <a:ext cx="139" cy="72"/>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60" name="Oval 58"/>
            <p:cNvSpPr>
              <a:spLocks noChangeArrowheads="1"/>
            </p:cNvSpPr>
            <p:nvPr/>
          </p:nvSpPr>
          <p:spPr bwMode="hidden">
            <a:xfrm>
              <a:off x="1154" y="2047"/>
              <a:ext cx="138" cy="61"/>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61" name="Oval 59"/>
            <p:cNvSpPr>
              <a:spLocks noChangeArrowheads="1"/>
            </p:cNvSpPr>
            <p:nvPr/>
          </p:nvSpPr>
          <p:spPr bwMode="hidden">
            <a:xfrm>
              <a:off x="1142" y="1803"/>
              <a:ext cx="128" cy="61"/>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62" name="Oval 60"/>
            <p:cNvSpPr>
              <a:spLocks noChangeArrowheads="1"/>
            </p:cNvSpPr>
            <p:nvPr/>
          </p:nvSpPr>
          <p:spPr bwMode="hidden">
            <a:xfrm>
              <a:off x="1500" y="1912"/>
              <a:ext cx="128" cy="61"/>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63" name="Oval 61"/>
            <p:cNvSpPr>
              <a:spLocks noChangeArrowheads="1"/>
            </p:cNvSpPr>
            <p:nvPr/>
          </p:nvSpPr>
          <p:spPr bwMode="hidden">
            <a:xfrm>
              <a:off x="1804" y="1801"/>
              <a:ext cx="128" cy="61"/>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64" name="Oval 62"/>
            <p:cNvSpPr>
              <a:spLocks noChangeArrowheads="1"/>
            </p:cNvSpPr>
            <p:nvPr/>
          </p:nvSpPr>
          <p:spPr bwMode="hidden">
            <a:xfrm>
              <a:off x="2159" y="1905"/>
              <a:ext cx="121" cy="61"/>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65" name="Oval 63"/>
            <p:cNvSpPr>
              <a:spLocks noChangeArrowheads="1"/>
            </p:cNvSpPr>
            <p:nvPr/>
          </p:nvSpPr>
          <p:spPr bwMode="hidden">
            <a:xfrm>
              <a:off x="2432" y="1787"/>
              <a:ext cx="128" cy="61"/>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66" name="Oval 64"/>
            <p:cNvSpPr>
              <a:spLocks noChangeArrowheads="1"/>
            </p:cNvSpPr>
            <p:nvPr/>
          </p:nvSpPr>
          <p:spPr bwMode="hidden">
            <a:xfrm>
              <a:off x="470" y="2032"/>
              <a:ext cx="141" cy="73"/>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67" name="Oval 65"/>
            <p:cNvSpPr>
              <a:spLocks noChangeArrowheads="1"/>
            </p:cNvSpPr>
            <p:nvPr/>
          </p:nvSpPr>
          <p:spPr bwMode="hidden">
            <a:xfrm>
              <a:off x="68" y="2166"/>
              <a:ext cx="134" cy="73"/>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68" name="Oval 66"/>
            <p:cNvSpPr>
              <a:spLocks noChangeArrowheads="1"/>
            </p:cNvSpPr>
            <p:nvPr/>
          </p:nvSpPr>
          <p:spPr bwMode="hidden">
            <a:xfrm>
              <a:off x="798" y="1916"/>
              <a:ext cx="121" cy="61"/>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69" name="Oval 67"/>
            <p:cNvSpPr>
              <a:spLocks noChangeArrowheads="1"/>
            </p:cNvSpPr>
            <p:nvPr/>
          </p:nvSpPr>
          <p:spPr bwMode="hidden">
            <a:xfrm>
              <a:off x="455" y="1797"/>
              <a:ext cx="121" cy="61"/>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70" name="Oval 68"/>
            <p:cNvSpPr>
              <a:spLocks noChangeArrowheads="1"/>
            </p:cNvSpPr>
            <p:nvPr/>
          </p:nvSpPr>
          <p:spPr bwMode="hidden">
            <a:xfrm>
              <a:off x="113" y="1901"/>
              <a:ext cx="121" cy="61"/>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71" name="Oval 69"/>
            <p:cNvSpPr>
              <a:spLocks noChangeArrowheads="1"/>
            </p:cNvSpPr>
            <p:nvPr/>
          </p:nvSpPr>
          <p:spPr bwMode="hidden">
            <a:xfrm>
              <a:off x="432" y="2323"/>
              <a:ext cx="143" cy="61"/>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72" name="Oval 70"/>
            <p:cNvSpPr>
              <a:spLocks noChangeArrowheads="1"/>
            </p:cNvSpPr>
            <p:nvPr/>
          </p:nvSpPr>
          <p:spPr bwMode="hidden">
            <a:xfrm>
              <a:off x="814" y="2178"/>
              <a:ext cx="138" cy="61"/>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73" name="Oval 71"/>
            <p:cNvSpPr>
              <a:spLocks noChangeArrowheads="1"/>
            </p:cNvSpPr>
            <p:nvPr/>
          </p:nvSpPr>
          <p:spPr bwMode="hidden">
            <a:xfrm>
              <a:off x="789" y="2472"/>
              <a:ext cx="156" cy="88"/>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74" name="Oval 72"/>
            <p:cNvSpPr>
              <a:spLocks noChangeArrowheads="1"/>
            </p:cNvSpPr>
            <p:nvPr/>
          </p:nvSpPr>
          <p:spPr bwMode="hidden">
            <a:xfrm>
              <a:off x="2544" y="2015"/>
              <a:ext cx="145" cy="72"/>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75" name="Oval 73"/>
            <p:cNvSpPr>
              <a:spLocks noChangeArrowheads="1"/>
            </p:cNvSpPr>
            <p:nvPr/>
          </p:nvSpPr>
          <p:spPr bwMode="hidden">
            <a:xfrm>
              <a:off x="1457" y="1700"/>
              <a:ext cx="123" cy="52"/>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76" name="Oval 74"/>
            <p:cNvSpPr>
              <a:spLocks noChangeArrowheads="1"/>
            </p:cNvSpPr>
            <p:nvPr/>
          </p:nvSpPr>
          <p:spPr bwMode="hidden">
            <a:xfrm>
              <a:off x="1747" y="1599"/>
              <a:ext cx="123" cy="50"/>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77" name="Oval 75"/>
            <p:cNvSpPr>
              <a:spLocks noChangeArrowheads="1"/>
            </p:cNvSpPr>
            <p:nvPr/>
          </p:nvSpPr>
          <p:spPr bwMode="hidden">
            <a:xfrm>
              <a:off x="1385" y="1506"/>
              <a:ext cx="123" cy="50"/>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78" name="Oval 76"/>
            <p:cNvSpPr>
              <a:spLocks noChangeArrowheads="1"/>
            </p:cNvSpPr>
            <p:nvPr/>
          </p:nvSpPr>
          <p:spPr bwMode="hidden">
            <a:xfrm>
              <a:off x="1093" y="1595"/>
              <a:ext cx="123" cy="51"/>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79" name="Oval 77"/>
            <p:cNvSpPr>
              <a:spLocks noChangeArrowheads="1"/>
            </p:cNvSpPr>
            <p:nvPr/>
          </p:nvSpPr>
          <p:spPr bwMode="hidden">
            <a:xfrm>
              <a:off x="792" y="1690"/>
              <a:ext cx="122" cy="52"/>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80" name="Oval 78"/>
            <p:cNvSpPr>
              <a:spLocks noChangeArrowheads="1"/>
            </p:cNvSpPr>
            <p:nvPr/>
          </p:nvSpPr>
          <p:spPr bwMode="hidden">
            <a:xfrm>
              <a:off x="2011" y="1512"/>
              <a:ext cx="123" cy="50"/>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81" name="Oval 79"/>
            <p:cNvSpPr>
              <a:spLocks noChangeArrowheads="1"/>
            </p:cNvSpPr>
            <p:nvPr/>
          </p:nvSpPr>
          <p:spPr bwMode="hidden">
            <a:xfrm>
              <a:off x="2087" y="1696"/>
              <a:ext cx="123" cy="50"/>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82" name="Oval 80"/>
            <p:cNvSpPr>
              <a:spLocks noChangeArrowheads="1"/>
            </p:cNvSpPr>
            <p:nvPr/>
          </p:nvSpPr>
          <p:spPr bwMode="hidden">
            <a:xfrm>
              <a:off x="2345" y="1601"/>
              <a:ext cx="117" cy="52"/>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83" name="Oval 81"/>
            <p:cNvSpPr>
              <a:spLocks noChangeArrowheads="1"/>
            </p:cNvSpPr>
            <p:nvPr/>
          </p:nvSpPr>
          <p:spPr bwMode="hidden">
            <a:xfrm>
              <a:off x="2684" y="1686"/>
              <a:ext cx="118" cy="52"/>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84" name="Oval 82"/>
            <p:cNvSpPr>
              <a:spLocks noChangeArrowheads="1"/>
            </p:cNvSpPr>
            <p:nvPr/>
          </p:nvSpPr>
          <p:spPr bwMode="hidden">
            <a:xfrm>
              <a:off x="806" y="1512"/>
              <a:ext cx="123" cy="50"/>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85" name="Oval 83"/>
            <p:cNvSpPr>
              <a:spLocks noChangeArrowheads="1"/>
            </p:cNvSpPr>
            <p:nvPr/>
          </p:nvSpPr>
          <p:spPr bwMode="hidden">
            <a:xfrm>
              <a:off x="495" y="1597"/>
              <a:ext cx="117" cy="50"/>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86" name="Oval 84"/>
            <p:cNvSpPr>
              <a:spLocks noChangeArrowheads="1"/>
            </p:cNvSpPr>
            <p:nvPr/>
          </p:nvSpPr>
          <p:spPr bwMode="hidden">
            <a:xfrm>
              <a:off x="228" y="1508"/>
              <a:ext cx="119" cy="50"/>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87" name="Oval 85"/>
            <p:cNvSpPr>
              <a:spLocks noChangeArrowheads="1"/>
            </p:cNvSpPr>
            <p:nvPr/>
          </p:nvSpPr>
          <p:spPr bwMode="hidden">
            <a:xfrm>
              <a:off x="157" y="1698"/>
              <a:ext cx="116" cy="50"/>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88" name="Oval 86"/>
            <p:cNvSpPr>
              <a:spLocks noChangeArrowheads="1"/>
            </p:cNvSpPr>
            <p:nvPr/>
          </p:nvSpPr>
          <p:spPr bwMode="hidden">
            <a:xfrm>
              <a:off x="2887" y="1595"/>
              <a:ext cx="124" cy="50"/>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89" name="Oval 87"/>
            <p:cNvSpPr>
              <a:spLocks noChangeArrowheads="1"/>
            </p:cNvSpPr>
            <p:nvPr/>
          </p:nvSpPr>
          <p:spPr bwMode="hidden">
            <a:xfrm>
              <a:off x="3079" y="1511"/>
              <a:ext cx="124" cy="52"/>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90" name="Oval 88"/>
            <p:cNvSpPr>
              <a:spLocks noChangeArrowheads="1"/>
            </p:cNvSpPr>
            <p:nvPr/>
          </p:nvSpPr>
          <p:spPr bwMode="hidden">
            <a:xfrm>
              <a:off x="3270" y="1688"/>
              <a:ext cx="124" cy="51"/>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91" name="Oval 89"/>
            <p:cNvSpPr>
              <a:spLocks noChangeArrowheads="1"/>
            </p:cNvSpPr>
            <p:nvPr/>
          </p:nvSpPr>
          <p:spPr bwMode="hidden">
            <a:xfrm>
              <a:off x="3453" y="1599"/>
              <a:ext cx="123" cy="50"/>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92" name="Oval 90"/>
            <p:cNvSpPr>
              <a:spLocks noChangeArrowheads="1"/>
            </p:cNvSpPr>
            <p:nvPr/>
          </p:nvSpPr>
          <p:spPr bwMode="hidden">
            <a:xfrm>
              <a:off x="3651" y="1506"/>
              <a:ext cx="123" cy="50"/>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93" name="Oval 91"/>
            <p:cNvSpPr>
              <a:spLocks noChangeArrowheads="1"/>
            </p:cNvSpPr>
            <p:nvPr/>
          </p:nvSpPr>
          <p:spPr bwMode="hidden">
            <a:xfrm>
              <a:off x="4251" y="1513"/>
              <a:ext cx="124" cy="51"/>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94" name="Oval 92"/>
            <p:cNvSpPr>
              <a:spLocks noChangeArrowheads="1"/>
            </p:cNvSpPr>
            <p:nvPr/>
          </p:nvSpPr>
          <p:spPr bwMode="hidden">
            <a:xfrm>
              <a:off x="3901" y="1701"/>
              <a:ext cx="128" cy="50"/>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95" name="Oval 93"/>
            <p:cNvSpPr>
              <a:spLocks noChangeArrowheads="1"/>
            </p:cNvSpPr>
            <p:nvPr/>
          </p:nvSpPr>
          <p:spPr bwMode="hidden">
            <a:xfrm>
              <a:off x="4085" y="1608"/>
              <a:ext cx="122" cy="50"/>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96" name="Oval 94"/>
            <p:cNvSpPr>
              <a:spLocks noChangeArrowheads="1"/>
            </p:cNvSpPr>
            <p:nvPr/>
          </p:nvSpPr>
          <p:spPr bwMode="hidden">
            <a:xfrm>
              <a:off x="1282" y="3653"/>
              <a:ext cx="196" cy="110"/>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97" name="Oval 95"/>
            <p:cNvSpPr>
              <a:spLocks noChangeArrowheads="1"/>
            </p:cNvSpPr>
            <p:nvPr/>
          </p:nvSpPr>
          <p:spPr bwMode="hidden">
            <a:xfrm>
              <a:off x="707" y="4014"/>
              <a:ext cx="191" cy="112"/>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98" name="Oval 96"/>
            <p:cNvSpPr>
              <a:spLocks noChangeArrowheads="1"/>
            </p:cNvSpPr>
            <p:nvPr/>
          </p:nvSpPr>
          <p:spPr bwMode="hidden">
            <a:xfrm>
              <a:off x="2229" y="3090"/>
              <a:ext cx="161" cy="95"/>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99" name="Oval 97"/>
            <p:cNvSpPr>
              <a:spLocks noChangeArrowheads="1"/>
            </p:cNvSpPr>
            <p:nvPr/>
          </p:nvSpPr>
          <p:spPr bwMode="hidden">
            <a:xfrm>
              <a:off x="2604" y="2867"/>
              <a:ext cx="156" cy="89"/>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0" name="Oval 98"/>
            <p:cNvSpPr>
              <a:spLocks noChangeArrowheads="1"/>
            </p:cNvSpPr>
            <p:nvPr/>
          </p:nvSpPr>
          <p:spPr bwMode="hidden">
            <a:xfrm>
              <a:off x="2907" y="2668"/>
              <a:ext cx="156" cy="84"/>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1" name="Oval 99"/>
            <p:cNvSpPr>
              <a:spLocks noChangeArrowheads="1"/>
            </p:cNvSpPr>
            <p:nvPr/>
          </p:nvSpPr>
          <p:spPr bwMode="hidden">
            <a:xfrm>
              <a:off x="3248" y="2454"/>
              <a:ext cx="150" cy="90"/>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2" name="Oval 100"/>
            <p:cNvSpPr>
              <a:spLocks noChangeArrowheads="1"/>
            </p:cNvSpPr>
            <p:nvPr/>
          </p:nvSpPr>
          <p:spPr bwMode="hidden">
            <a:xfrm>
              <a:off x="1801" y="3360"/>
              <a:ext cx="168" cy="95"/>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 name="Oval 101"/>
            <p:cNvSpPr>
              <a:spLocks noChangeArrowheads="1"/>
            </p:cNvSpPr>
            <p:nvPr/>
          </p:nvSpPr>
          <p:spPr bwMode="hidden">
            <a:xfrm>
              <a:off x="3512" y="2302"/>
              <a:ext cx="134" cy="73"/>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4" name="Oval 102"/>
            <p:cNvSpPr>
              <a:spLocks noChangeArrowheads="1"/>
            </p:cNvSpPr>
            <p:nvPr/>
          </p:nvSpPr>
          <p:spPr bwMode="hidden">
            <a:xfrm>
              <a:off x="3980" y="2014"/>
              <a:ext cx="141" cy="72"/>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5" name="Oval 103"/>
            <p:cNvSpPr>
              <a:spLocks noChangeArrowheads="1"/>
            </p:cNvSpPr>
            <p:nvPr/>
          </p:nvSpPr>
          <p:spPr bwMode="hidden">
            <a:xfrm>
              <a:off x="3753" y="2158"/>
              <a:ext cx="141" cy="61"/>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6" name="Oval 104"/>
            <p:cNvSpPr>
              <a:spLocks noChangeArrowheads="1"/>
            </p:cNvSpPr>
            <p:nvPr/>
          </p:nvSpPr>
          <p:spPr bwMode="hidden">
            <a:xfrm>
              <a:off x="4176" y="1898"/>
              <a:ext cx="128" cy="61"/>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7" name="Oval 105"/>
            <p:cNvSpPr>
              <a:spLocks noChangeArrowheads="1"/>
            </p:cNvSpPr>
            <p:nvPr/>
          </p:nvSpPr>
          <p:spPr bwMode="hidden">
            <a:xfrm>
              <a:off x="4338" y="1797"/>
              <a:ext cx="125" cy="61"/>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8" name="Oval 106"/>
            <p:cNvSpPr>
              <a:spLocks noChangeArrowheads="1"/>
            </p:cNvSpPr>
            <p:nvPr/>
          </p:nvSpPr>
          <p:spPr bwMode="hidden">
            <a:xfrm>
              <a:off x="4505" y="1700"/>
              <a:ext cx="124" cy="52"/>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9" name="Oval 107"/>
            <p:cNvSpPr>
              <a:spLocks noChangeArrowheads="1"/>
            </p:cNvSpPr>
            <p:nvPr/>
          </p:nvSpPr>
          <p:spPr bwMode="hidden">
            <a:xfrm>
              <a:off x="4661" y="1603"/>
              <a:ext cx="123" cy="50"/>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10" name="Oval 108"/>
            <p:cNvSpPr>
              <a:spLocks noChangeArrowheads="1"/>
            </p:cNvSpPr>
            <p:nvPr/>
          </p:nvSpPr>
          <p:spPr bwMode="hidden">
            <a:xfrm>
              <a:off x="4804" y="1512"/>
              <a:ext cx="127" cy="51"/>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11" name="Oval 109"/>
            <p:cNvSpPr>
              <a:spLocks noChangeArrowheads="1"/>
            </p:cNvSpPr>
            <p:nvPr/>
          </p:nvSpPr>
          <p:spPr bwMode="hidden">
            <a:xfrm>
              <a:off x="4930" y="1431"/>
              <a:ext cx="111" cy="50"/>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12" name="Oval 110"/>
            <p:cNvSpPr>
              <a:spLocks noChangeArrowheads="1"/>
            </p:cNvSpPr>
            <p:nvPr/>
          </p:nvSpPr>
          <p:spPr bwMode="hidden">
            <a:xfrm>
              <a:off x="3835" y="1430"/>
              <a:ext cx="112" cy="52"/>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13" name="Oval 111"/>
            <p:cNvSpPr>
              <a:spLocks noChangeArrowheads="1"/>
            </p:cNvSpPr>
            <p:nvPr/>
          </p:nvSpPr>
          <p:spPr bwMode="hidden">
            <a:xfrm>
              <a:off x="3286" y="1430"/>
              <a:ext cx="112" cy="52"/>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14" name="Oval 112"/>
            <p:cNvSpPr>
              <a:spLocks noChangeArrowheads="1"/>
            </p:cNvSpPr>
            <p:nvPr/>
          </p:nvSpPr>
          <p:spPr bwMode="hidden">
            <a:xfrm>
              <a:off x="2972" y="1366"/>
              <a:ext cx="111" cy="52"/>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15" name="Oval 113"/>
            <p:cNvSpPr>
              <a:spLocks noChangeArrowheads="1"/>
            </p:cNvSpPr>
            <p:nvPr/>
          </p:nvSpPr>
          <p:spPr bwMode="hidden">
            <a:xfrm>
              <a:off x="3152" y="1292"/>
              <a:ext cx="112" cy="50"/>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16" name="Oval 114"/>
            <p:cNvSpPr>
              <a:spLocks noChangeArrowheads="1"/>
            </p:cNvSpPr>
            <p:nvPr/>
          </p:nvSpPr>
          <p:spPr bwMode="hidden">
            <a:xfrm>
              <a:off x="3020" y="1170"/>
              <a:ext cx="112" cy="50"/>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17" name="Oval 115"/>
            <p:cNvSpPr>
              <a:spLocks noChangeArrowheads="1"/>
            </p:cNvSpPr>
            <p:nvPr/>
          </p:nvSpPr>
          <p:spPr bwMode="hidden">
            <a:xfrm>
              <a:off x="2443" y="1368"/>
              <a:ext cx="112" cy="51"/>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18" name="Oval 116"/>
            <p:cNvSpPr>
              <a:spLocks noChangeArrowheads="1"/>
            </p:cNvSpPr>
            <p:nvPr/>
          </p:nvSpPr>
          <p:spPr bwMode="hidden">
            <a:xfrm>
              <a:off x="2301" y="1220"/>
              <a:ext cx="112" cy="51"/>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19" name="Oval 117"/>
            <p:cNvSpPr>
              <a:spLocks noChangeArrowheads="1"/>
            </p:cNvSpPr>
            <p:nvPr/>
          </p:nvSpPr>
          <p:spPr bwMode="hidden">
            <a:xfrm>
              <a:off x="2095" y="1284"/>
              <a:ext cx="112" cy="51"/>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20" name="Oval 118"/>
            <p:cNvSpPr>
              <a:spLocks noChangeArrowheads="1"/>
            </p:cNvSpPr>
            <p:nvPr/>
          </p:nvSpPr>
          <p:spPr bwMode="hidden">
            <a:xfrm>
              <a:off x="2228" y="1442"/>
              <a:ext cx="111" cy="50"/>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21" name="Oval 119"/>
            <p:cNvSpPr>
              <a:spLocks noChangeArrowheads="1"/>
            </p:cNvSpPr>
            <p:nvPr/>
          </p:nvSpPr>
          <p:spPr bwMode="hidden">
            <a:xfrm>
              <a:off x="1109" y="1424"/>
              <a:ext cx="112" cy="50"/>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22" name="Oval 120"/>
            <p:cNvSpPr>
              <a:spLocks noChangeArrowheads="1"/>
            </p:cNvSpPr>
            <p:nvPr/>
          </p:nvSpPr>
          <p:spPr bwMode="hidden">
            <a:xfrm>
              <a:off x="611" y="1284"/>
              <a:ext cx="111" cy="51"/>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23" name="Oval 121"/>
            <p:cNvSpPr>
              <a:spLocks noChangeArrowheads="1"/>
            </p:cNvSpPr>
            <p:nvPr/>
          </p:nvSpPr>
          <p:spPr bwMode="hidden">
            <a:xfrm>
              <a:off x="305" y="1358"/>
              <a:ext cx="111" cy="51"/>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24" name="Oval 122"/>
            <p:cNvSpPr>
              <a:spLocks noChangeArrowheads="1"/>
            </p:cNvSpPr>
            <p:nvPr/>
          </p:nvSpPr>
          <p:spPr bwMode="hidden">
            <a:xfrm>
              <a:off x="156" y="1154"/>
              <a:ext cx="112" cy="50"/>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25" name="Oval 123"/>
            <p:cNvSpPr>
              <a:spLocks noChangeArrowheads="1"/>
            </p:cNvSpPr>
            <p:nvPr/>
          </p:nvSpPr>
          <p:spPr bwMode="hidden">
            <a:xfrm>
              <a:off x="4538" y="1365"/>
              <a:ext cx="106" cy="45"/>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26" name="Oval 124"/>
            <p:cNvSpPr>
              <a:spLocks noChangeArrowheads="1"/>
            </p:cNvSpPr>
            <p:nvPr/>
          </p:nvSpPr>
          <p:spPr bwMode="hidden">
            <a:xfrm>
              <a:off x="4407" y="1440"/>
              <a:ext cx="105" cy="43"/>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27" name="Oval 125"/>
            <p:cNvSpPr>
              <a:spLocks noChangeArrowheads="1"/>
            </p:cNvSpPr>
            <p:nvPr/>
          </p:nvSpPr>
          <p:spPr bwMode="hidden">
            <a:xfrm>
              <a:off x="3992" y="1356"/>
              <a:ext cx="106" cy="45"/>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28" name="Oval 126"/>
            <p:cNvSpPr>
              <a:spLocks noChangeArrowheads="1"/>
            </p:cNvSpPr>
            <p:nvPr/>
          </p:nvSpPr>
          <p:spPr bwMode="hidden">
            <a:xfrm>
              <a:off x="3466" y="1356"/>
              <a:ext cx="106" cy="45"/>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29" name="Oval 127"/>
            <p:cNvSpPr>
              <a:spLocks noChangeArrowheads="1"/>
            </p:cNvSpPr>
            <p:nvPr/>
          </p:nvSpPr>
          <p:spPr bwMode="hidden">
            <a:xfrm>
              <a:off x="2852" y="1228"/>
              <a:ext cx="106" cy="43"/>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30" name="Oval 128"/>
            <p:cNvSpPr>
              <a:spLocks noChangeArrowheads="1"/>
            </p:cNvSpPr>
            <p:nvPr/>
          </p:nvSpPr>
          <p:spPr bwMode="hidden">
            <a:xfrm>
              <a:off x="2678" y="1109"/>
              <a:ext cx="106" cy="44"/>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31" name="Oval 129"/>
            <p:cNvSpPr>
              <a:spLocks noChangeArrowheads="1"/>
            </p:cNvSpPr>
            <p:nvPr/>
          </p:nvSpPr>
          <p:spPr bwMode="hidden">
            <a:xfrm>
              <a:off x="2859" y="1045"/>
              <a:ext cx="106" cy="45"/>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32" name="Oval 130"/>
            <p:cNvSpPr>
              <a:spLocks noChangeArrowheads="1"/>
            </p:cNvSpPr>
            <p:nvPr/>
          </p:nvSpPr>
          <p:spPr bwMode="hidden">
            <a:xfrm>
              <a:off x="1942" y="1040"/>
              <a:ext cx="106" cy="45"/>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33" name="Oval 131"/>
            <p:cNvSpPr>
              <a:spLocks noChangeArrowheads="1"/>
            </p:cNvSpPr>
            <p:nvPr/>
          </p:nvSpPr>
          <p:spPr bwMode="hidden">
            <a:xfrm>
              <a:off x="1088" y="1277"/>
              <a:ext cx="106" cy="43"/>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34" name="Oval 132"/>
            <p:cNvSpPr>
              <a:spLocks noChangeArrowheads="1"/>
            </p:cNvSpPr>
            <p:nvPr/>
          </p:nvSpPr>
          <p:spPr bwMode="hidden">
            <a:xfrm>
              <a:off x="827" y="1350"/>
              <a:ext cx="106" cy="45"/>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35" name="Oval 133"/>
            <p:cNvSpPr>
              <a:spLocks noChangeArrowheads="1"/>
            </p:cNvSpPr>
            <p:nvPr/>
          </p:nvSpPr>
          <p:spPr bwMode="hidden">
            <a:xfrm>
              <a:off x="536" y="1428"/>
              <a:ext cx="107" cy="45"/>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36" name="Oval 134"/>
            <p:cNvSpPr>
              <a:spLocks noChangeArrowheads="1"/>
            </p:cNvSpPr>
            <p:nvPr/>
          </p:nvSpPr>
          <p:spPr bwMode="hidden">
            <a:xfrm>
              <a:off x="635" y="1060"/>
              <a:ext cx="106" cy="45"/>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37" name="Oval 135"/>
            <p:cNvSpPr>
              <a:spLocks noChangeArrowheads="1"/>
            </p:cNvSpPr>
            <p:nvPr/>
          </p:nvSpPr>
          <p:spPr bwMode="hidden">
            <a:xfrm>
              <a:off x="1540" y="1050"/>
              <a:ext cx="106" cy="45"/>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38" name="Oval 136"/>
            <p:cNvSpPr>
              <a:spLocks noChangeArrowheads="1"/>
            </p:cNvSpPr>
            <p:nvPr/>
          </p:nvSpPr>
          <p:spPr bwMode="hidden">
            <a:xfrm>
              <a:off x="1120" y="1063"/>
              <a:ext cx="105" cy="45"/>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39" name="Oval 137"/>
            <p:cNvSpPr>
              <a:spLocks noChangeArrowheads="1"/>
            </p:cNvSpPr>
            <p:nvPr/>
          </p:nvSpPr>
          <p:spPr bwMode="hidden">
            <a:xfrm>
              <a:off x="4131" y="1284"/>
              <a:ext cx="111" cy="45"/>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40" name="Oval 138"/>
            <p:cNvSpPr>
              <a:spLocks noChangeArrowheads="1"/>
            </p:cNvSpPr>
            <p:nvPr/>
          </p:nvSpPr>
          <p:spPr bwMode="hidden">
            <a:xfrm>
              <a:off x="3477" y="1163"/>
              <a:ext cx="112" cy="45"/>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41" name="Oval 139"/>
            <p:cNvSpPr>
              <a:spLocks noChangeArrowheads="1"/>
            </p:cNvSpPr>
            <p:nvPr/>
          </p:nvSpPr>
          <p:spPr bwMode="hidden">
            <a:xfrm>
              <a:off x="3315" y="1229"/>
              <a:ext cx="112" cy="45"/>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42" name="Oval 140"/>
            <p:cNvSpPr>
              <a:spLocks noChangeArrowheads="1"/>
            </p:cNvSpPr>
            <p:nvPr/>
          </p:nvSpPr>
          <p:spPr bwMode="hidden">
            <a:xfrm>
              <a:off x="3174" y="1112"/>
              <a:ext cx="112" cy="44"/>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43" name="Oval 141"/>
            <p:cNvSpPr>
              <a:spLocks noChangeArrowheads="1"/>
            </p:cNvSpPr>
            <p:nvPr/>
          </p:nvSpPr>
          <p:spPr bwMode="hidden">
            <a:xfrm>
              <a:off x="2396" y="1051"/>
              <a:ext cx="112" cy="45"/>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44" name="Oval 142"/>
            <p:cNvSpPr>
              <a:spLocks noChangeArrowheads="1"/>
            </p:cNvSpPr>
            <p:nvPr/>
          </p:nvSpPr>
          <p:spPr bwMode="hidden">
            <a:xfrm>
              <a:off x="2769" y="1446"/>
              <a:ext cx="111" cy="44"/>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45" name="Oval 143"/>
            <p:cNvSpPr>
              <a:spLocks noChangeArrowheads="1"/>
            </p:cNvSpPr>
            <p:nvPr/>
          </p:nvSpPr>
          <p:spPr bwMode="hidden">
            <a:xfrm>
              <a:off x="2656" y="1294"/>
              <a:ext cx="112" cy="45"/>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46" name="Oval 144"/>
            <p:cNvSpPr>
              <a:spLocks noChangeArrowheads="1"/>
            </p:cNvSpPr>
            <p:nvPr/>
          </p:nvSpPr>
          <p:spPr bwMode="hidden">
            <a:xfrm>
              <a:off x="2501" y="1159"/>
              <a:ext cx="113" cy="45"/>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47" name="Oval 145"/>
            <p:cNvSpPr>
              <a:spLocks noChangeArrowheads="1"/>
            </p:cNvSpPr>
            <p:nvPr/>
          </p:nvSpPr>
          <p:spPr bwMode="hidden">
            <a:xfrm>
              <a:off x="2222" y="1101"/>
              <a:ext cx="112" cy="44"/>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48" name="Oval 146"/>
            <p:cNvSpPr>
              <a:spLocks noChangeArrowheads="1"/>
            </p:cNvSpPr>
            <p:nvPr/>
          </p:nvSpPr>
          <p:spPr bwMode="hidden">
            <a:xfrm>
              <a:off x="2029" y="1162"/>
              <a:ext cx="111" cy="45"/>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49" name="Oval 147"/>
            <p:cNvSpPr>
              <a:spLocks noChangeArrowheads="1"/>
            </p:cNvSpPr>
            <p:nvPr/>
          </p:nvSpPr>
          <p:spPr bwMode="hidden">
            <a:xfrm>
              <a:off x="1875" y="1356"/>
              <a:ext cx="112" cy="45"/>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50" name="Oval 148"/>
            <p:cNvSpPr>
              <a:spLocks noChangeArrowheads="1"/>
            </p:cNvSpPr>
            <p:nvPr/>
          </p:nvSpPr>
          <p:spPr bwMode="hidden">
            <a:xfrm>
              <a:off x="1809" y="1223"/>
              <a:ext cx="111" cy="45"/>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51" name="Oval 149"/>
            <p:cNvSpPr>
              <a:spLocks noChangeArrowheads="1"/>
            </p:cNvSpPr>
            <p:nvPr/>
          </p:nvSpPr>
          <p:spPr bwMode="hidden">
            <a:xfrm>
              <a:off x="1738" y="1098"/>
              <a:ext cx="112" cy="45"/>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52" name="Oval 150"/>
            <p:cNvSpPr>
              <a:spLocks noChangeArrowheads="1"/>
            </p:cNvSpPr>
            <p:nvPr/>
          </p:nvSpPr>
          <p:spPr bwMode="hidden">
            <a:xfrm>
              <a:off x="1583" y="1289"/>
              <a:ext cx="112" cy="45"/>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53" name="Oval 151"/>
            <p:cNvSpPr>
              <a:spLocks noChangeArrowheads="1"/>
            </p:cNvSpPr>
            <p:nvPr/>
          </p:nvSpPr>
          <p:spPr bwMode="hidden">
            <a:xfrm>
              <a:off x="1379" y="1343"/>
              <a:ext cx="112" cy="45"/>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54" name="Oval 152"/>
            <p:cNvSpPr>
              <a:spLocks noChangeArrowheads="1"/>
            </p:cNvSpPr>
            <p:nvPr/>
          </p:nvSpPr>
          <p:spPr bwMode="hidden">
            <a:xfrm>
              <a:off x="1529" y="1156"/>
              <a:ext cx="112" cy="45"/>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55" name="Oval 153"/>
            <p:cNvSpPr>
              <a:spLocks noChangeArrowheads="1"/>
            </p:cNvSpPr>
            <p:nvPr/>
          </p:nvSpPr>
          <p:spPr bwMode="hidden">
            <a:xfrm>
              <a:off x="1294" y="1222"/>
              <a:ext cx="112" cy="45"/>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56" name="Oval 154"/>
            <p:cNvSpPr>
              <a:spLocks noChangeArrowheads="1"/>
            </p:cNvSpPr>
            <p:nvPr/>
          </p:nvSpPr>
          <p:spPr bwMode="hidden">
            <a:xfrm>
              <a:off x="1314" y="1112"/>
              <a:ext cx="112" cy="44"/>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57" name="Oval 155"/>
            <p:cNvSpPr>
              <a:spLocks noChangeArrowheads="1"/>
            </p:cNvSpPr>
            <p:nvPr/>
          </p:nvSpPr>
          <p:spPr bwMode="hidden">
            <a:xfrm>
              <a:off x="1082" y="1166"/>
              <a:ext cx="111" cy="45"/>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58" name="Oval 156"/>
            <p:cNvSpPr>
              <a:spLocks noChangeArrowheads="1"/>
            </p:cNvSpPr>
            <p:nvPr/>
          </p:nvSpPr>
          <p:spPr bwMode="hidden">
            <a:xfrm>
              <a:off x="877" y="1121"/>
              <a:ext cx="113" cy="45"/>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59" name="Oval 157"/>
            <p:cNvSpPr>
              <a:spLocks noChangeArrowheads="1"/>
            </p:cNvSpPr>
            <p:nvPr/>
          </p:nvSpPr>
          <p:spPr bwMode="hidden">
            <a:xfrm>
              <a:off x="875" y="1216"/>
              <a:ext cx="111" cy="45"/>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60" name="Oval 158"/>
            <p:cNvSpPr>
              <a:spLocks noChangeArrowheads="1"/>
            </p:cNvSpPr>
            <p:nvPr/>
          </p:nvSpPr>
          <p:spPr bwMode="hidden">
            <a:xfrm>
              <a:off x="680" y="1170"/>
              <a:ext cx="112" cy="44"/>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61" name="Oval 159"/>
            <p:cNvSpPr>
              <a:spLocks noChangeArrowheads="1"/>
            </p:cNvSpPr>
            <p:nvPr/>
          </p:nvSpPr>
          <p:spPr bwMode="hidden">
            <a:xfrm>
              <a:off x="411" y="1232"/>
              <a:ext cx="111" cy="43"/>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62" name="Oval 160"/>
            <p:cNvSpPr>
              <a:spLocks noChangeArrowheads="1"/>
            </p:cNvSpPr>
            <p:nvPr/>
          </p:nvSpPr>
          <p:spPr bwMode="hidden">
            <a:xfrm>
              <a:off x="434" y="1100"/>
              <a:ext cx="112" cy="44"/>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63" name="Oval 161"/>
            <p:cNvSpPr>
              <a:spLocks noChangeArrowheads="1"/>
            </p:cNvSpPr>
            <p:nvPr/>
          </p:nvSpPr>
          <p:spPr bwMode="hidden">
            <a:xfrm>
              <a:off x="119" y="1312"/>
              <a:ext cx="111" cy="44"/>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64" name="Oval 162"/>
            <p:cNvSpPr>
              <a:spLocks noChangeArrowheads="1"/>
            </p:cNvSpPr>
            <p:nvPr/>
          </p:nvSpPr>
          <p:spPr bwMode="hidden">
            <a:xfrm>
              <a:off x="858" y="1001"/>
              <a:ext cx="101" cy="38"/>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65" name="Oval 163"/>
            <p:cNvSpPr>
              <a:spLocks noChangeArrowheads="1"/>
            </p:cNvSpPr>
            <p:nvPr/>
          </p:nvSpPr>
          <p:spPr bwMode="hidden">
            <a:xfrm>
              <a:off x="1341" y="1013"/>
              <a:ext cx="102" cy="39"/>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66" name="Oval 164"/>
            <p:cNvSpPr>
              <a:spLocks noChangeArrowheads="1"/>
            </p:cNvSpPr>
            <p:nvPr/>
          </p:nvSpPr>
          <p:spPr bwMode="hidden">
            <a:xfrm>
              <a:off x="1739" y="1008"/>
              <a:ext cx="101" cy="38"/>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67" name="Oval 165"/>
            <p:cNvSpPr>
              <a:spLocks noChangeArrowheads="1"/>
            </p:cNvSpPr>
            <p:nvPr/>
          </p:nvSpPr>
          <p:spPr bwMode="hidden">
            <a:xfrm>
              <a:off x="2116" y="1001"/>
              <a:ext cx="100" cy="39"/>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68" name="Oval 166"/>
            <p:cNvSpPr>
              <a:spLocks noChangeArrowheads="1"/>
            </p:cNvSpPr>
            <p:nvPr/>
          </p:nvSpPr>
          <p:spPr bwMode="hidden">
            <a:xfrm>
              <a:off x="2320" y="941"/>
              <a:ext cx="105" cy="39"/>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69" name="Oval 167"/>
            <p:cNvSpPr>
              <a:spLocks noChangeArrowheads="1"/>
            </p:cNvSpPr>
            <p:nvPr/>
          </p:nvSpPr>
          <p:spPr bwMode="hidden">
            <a:xfrm>
              <a:off x="2601" y="995"/>
              <a:ext cx="101" cy="39"/>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70" name="Oval 168"/>
            <p:cNvSpPr>
              <a:spLocks noChangeArrowheads="1"/>
            </p:cNvSpPr>
            <p:nvPr/>
          </p:nvSpPr>
          <p:spPr bwMode="hidden">
            <a:xfrm>
              <a:off x="1667" y="1420"/>
              <a:ext cx="106" cy="52"/>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71" name="Oval 169"/>
            <p:cNvSpPr>
              <a:spLocks noChangeArrowheads="1"/>
            </p:cNvSpPr>
            <p:nvPr/>
          </p:nvSpPr>
          <p:spPr bwMode="hidden">
            <a:xfrm>
              <a:off x="2557" y="1516"/>
              <a:ext cx="123" cy="51"/>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72" name="Oval 170"/>
            <p:cNvSpPr>
              <a:spLocks noChangeArrowheads="1"/>
            </p:cNvSpPr>
            <p:nvPr/>
          </p:nvSpPr>
          <p:spPr bwMode="hidden">
            <a:xfrm>
              <a:off x="3619" y="1287"/>
              <a:ext cx="112" cy="51"/>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73" name="Oval 171"/>
            <p:cNvSpPr>
              <a:spLocks noChangeArrowheads="1"/>
            </p:cNvSpPr>
            <p:nvPr/>
          </p:nvSpPr>
          <p:spPr bwMode="hidden">
            <a:xfrm>
              <a:off x="3791" y="1212"/>
              <a:ext cx="111" cy="51"/>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74" name="Oval 172"/>
            <p:cNvSpPr>
              <a:spLocks noChangeArrowheads="1"/>
            </p:cNvSpPr>
            <p:nvPr/>
          </p:nvSpPr>
          <p:spPr bwMode="hidden">
            <a:xfrm>
              <a:off x="2134" y="908"/>
              <a:ext cx="79" cy="34"/>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75" name="Oval 173"/>
            <p:cNvSpPr>
              <a:spLocks noChangeArrowheads="1"/>
            </p:cNvSpPr>
            <p:nvPr/>
          </p:nvSpPr>
          <p:spPr bwMode="hidden">
            <a:xfrm>
              <a:off x="1264" y="908"/>
              <a:ext cx="79" cy="34"/>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76" name="Oval 174"/>
            <p:cNvSpPr>
              <a:spLocks noChangeArrowheads="1"/>
            </p:cNvSpPr>
            <p:nvPr/>
          </p:nvSpPr>
          <p:spPr bwMode="hidden">
            <a:xfrm>
              <a:off x="1471" y="869"/>
              <a:ext cx="79" cy="34"/>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77" name="Oval 175"/>
            <p:cNvSpPr>
              <a:spLocks noChangeArrowheads="1"/>
            </p:cNvSpPr>
            <p:nvPr/>
          </p:nvSpPr>
          <p:spPr bwMode="hidden">
            <a:xfrm>
              <a:off x="1650" y="824"/>
              <a:ext cx="83" cy="34"/>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78" name="Oval 176"/>
            <p:cNvSpPr>
              <a:spLocks noChangeArrowheads="1"/>
            </p:cNvSpPr>
            <p:nvPr/>
          </p:nvSpPr>
          <p:spPr bwMode="hidden">
            <a:xfrm>
              <a:off x="1918" y="869"/>
              <a:ext cx="84" cy="34"/>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79" name="Oval 177"/>
            <p:cNvSpPr>
              <a:spLocks noChangeArrowheads="1"/>
            </p:cNvSpPr>
            <p:nvPr/>
          </p:nvSpPr>
          <p:spPr bwMode="hidden">
            <a:xfrm>
              <a:off x="1720" y="923"/>
              <a:ext cx="83" cy="34"/>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80" name="Oval 178"/>
            <p:cNvSpPr>
              <a:spLocks noChangeArrowheads="1"/>
            </p:cNvSpPr>
            <p:nvPr/>
          </p:nvSpPr>
          <p:spPr bwMode="hidden">
            <a:xfrm>
              <a:off x="1913" y="957"/>
              <a:ext cx="97" cy="45"/>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81" name="Oval 179"/>
            <p:cNvSpPr>
              <a:spLocks noChangeArrowheads="1"/>
            </p:cNvSpPr>
            <p:nvPr/>
          </p:nvSpPr>
          <p:spPr bwMode="hidden">
            <a:xfrm>
              <a:off x="1541" y="962"/>
              <a:ext cx="89" cy="45"/>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82" name="Oval 180"/>
            <p:cNvSpPr>
              <a:spLocks noChangeArrowheads="1"/>
            </p:cNvSpPr>
            <p:nvPr/>
          </p:nvSpPr>
          <p:spPr bwMode="hidden">
            <a:xfrm>
              <a:off x="1076" y="953"/>
              <a:ext cx="103" cy="45"/>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83" name="Oval 181"/>
            <p:cNvSpPr>
              <a:spLocks noChangeArrowheads="1"/>
            </p:cNvSpPr>
            <p:nvPr/>
          </p:nvSpPr>
          <p:spPr bwMode="hidden">
            <a:xfrm>
              <a:off x="1983" y="4027"/>
              <a:ext cx="195" cy="105"/>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84" name="Oval 182"/>
            <p:cNvSpPr>
              <a:spLocks noChangeArrowheads="1"/>
            </p:cNvSpPr>
            <p:nvPr/>
          </p:nvSpPr>
          <p:spPr bwMode="hidden">
            <a:xfrm>
              <a:off x="2460" y="3671"/>
              <a:ext cx="191" cy="112"/>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85" name="Oval 183"/>
            <p:cNvSpPr>
              <a:spLocks noChangeArrowheads="1"/>
            </p:cNvSpPr>
            <p:nvPr/>
          </p:nvSpPr>
          <p:spPr bwMode="hidden">
            <a:xfrm>
              <a:off x="3238" y="3121"/>
              <a:ext cx="168" cy="95"/>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86" name="Oval 184"/>
            <p:cNvSpPr>
              <a:spLocks noChangeArrowheads="1"/>
            </p:cNvSpPr>
            <p:nvPr/>
          </p:nvSpPr>
          <p:spPr bwMode="hidden">
            <a:xfrm>
              <a:off x="3550" y="2880"/>
              <a:ext cx="157" cy="89"/>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87" name="Oval 185"/>
            <p:cNvSpPr>
              <a:spLocks noChangeArrowheads="1"/>
            </p:cNvSpPr>
            <p:nvPr/>
          </p:nvSpPr>
          <p:spPr bwMode="hidden">
            <a:xfrm>
              <a:off x="2892" y="3377"/>
              <a:ext cx="168" cy="95"/>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88" name="Oval 186"/>
            <p:cNvSpPr>
              <a:spLocks noChangeArrowheads="1"/>
            </p:cNvSpPr>
            <p:nvPr/>
          </p:nvSpPr>
          <p:spPr bwMode="hidden">
            <a:xfrm>
              <a:off x="3869" y="2657"/>
              <a:ext cx="151" cy="83"/>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89" name="Oval 187"/>
            <p:cNvSpPr>
              <a:spLocks noChangeArrowheads="1"/>
            </p:cNvSpPr>
            <p:nvPr/>
          </p:nvSpPr>
          <p:spPr bwMode="hidden">
            <a:xfrm>
              <a:off x="4090" y="2475"/>
              <a:ext cx="156" cy="89"/>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90" name="Oval 188"/>
            <p:cNvSpPr>
              <a:spLocks noChangeArrowheads="1"/>
            </p:cNvSpPr>
            <p:nvPr/>
          </p:nvSpPr>
          <p:spPr bwMode="hidden">
            <a:xfrm>
              <a:off x="4327" y="2314"/>
              <a:ext cx="137" cy="72"/>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91" name="Oval 189"/>
            <p:cNvSpPr>
              <a:spLocks noChangeArrowheads="1"/>
            </p:cNvSpPr>
            <p:nvPr/>
          </p:nvSpPr>
          <p:spPr bwMode="hidden">
            <a:xfrm>
              <a:off x="4712" y="2022"/>
              <a:ext cx="134" cy="73"/>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92" name="Oval 190"/>
            <p:cNvSpPr>
              <a:spLocks noChangeArrowheads="1"/>
            </p:cNvSpPr>
            <p:nvPr/>
          </p:nvSpPr>
          <p:spPr bwMode="hidden">
            <a:xfrm>
              <a:off x="4533" y="2162"/>
              <a:ext cx="139" cy="61"/>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93" name="Oval 191"/>
            <p:cNvSpPr>
              <a:spLocks noChangeArrowheads="1"/>
            </p:cNvSpPr>
            <p:nvPr/>
          </p:nvSpPr>
          <p:spPr bwMode="hidden">
            <a:xfrm>
              <a:off x="4863" y="1920"/>
              <a:ext cx="128" cy="61"/>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94" name="Oval 192"/>
            <p:cNvSpPr>
              <a:spLocks noChangeArrowheads="1"/>
            </p:cNvSpPr>
            <p:nvPr/>
          </p:nvSpPr>
          <p:spPr bwMode="hidden">
            <a:xfrm>
              <a:off x="5009" y="1807"/>
              <a:ext cx="128" cy="61"/>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95" name="Oval 193"/>
            <p:cNvSpPr>
              <a:spLocks noChangeArrowheads="1"/>
            </p:cNvSpPr>
            <p:nvPr/>
          </p:nvSpPr>
          <p:spPr bwMode="hidden">
            <a:xfrm>
              <a:off x="5161" y="1702"/>
              <a:ext cx="123" cy="50"/>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96" name="Oval 194"/>
            <p:cNvSpPr>
              <a:spLocks noChangeArrowheads="1"/>
            </p:cNvSpPr>
            <p:nvPr/>
          </p:nvSpPr>
          <p:spPr bwMode="hidden">
            <a:xfrm>
              <a:off x="5277" y="1614"/>
              <a:ext cx="124" cy="52"/>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97" name="Oval 195"/>
            <p:cNvSpPr>
              <a:spLocks noChangeArrowheads="1"/>
            </p:cNvSpPr>
            <p:nvPr/>
          </p:nvSpPr>
          <p:spPr bwMode="hidden">
            <a:xfrm>
              <a:off x="5398" y="1521"/>
              <a:ext cx="122" cy="51"/>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98" name="Oval 196"/>
            <p:cNvSpPr>
              <a:spLocks noChangeArrowheads="1"/>
            </p:cNvSpPr>
            <p:nvPr/>
          </p:nvSpPr>
          <p:spPr bwMode="hidden">
            <a:xfrm>
              <a:off x="3256" y="4071"/>
              <a:ext cx="195" cy="106"/>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99" name="Oval 197"/>
            <p:cNvSpPr>
              <a:spLocks noChangeArrowheads="1"/>
            </p:cNvSpPr>
            <p:nvPr/>
          </p:nvSpPr>
          <p:spPr bwMode="hidden">
            <a:xfrm>
              <a:off x="3651" y="3693"/>
              <a:ext cx="196" cy="110"/>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200" name="Oval 198"/>
            <p:cNvSpPr>
              <a:spLocks noChangeArrowheads="1"/>
            </p:cNvSpPr>
            <p:nvPr/>
          </p:nvSpPr>
          <p:spPr bwMode="hidden">
            <a:xfrm>
              <a:off x="4773" y="3705"/>
              <a:ext cx="201" cy="106"/>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201" name="Oval 199"/>
            <p:cNvSpPr>
              <a:spLocks noChangeArrowheads="1"/>
            </p:cNvSpPr>
            <p:nvPr/>
          </p:nvSpPr>
          <p:spPr bwMode="hidden">
            <a:xfrm>
              <a:off x="4491" y="4049"/>
              <a:ext cx="196" cy="105"/>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202" name="Oval 200"/>
            <p:cNvSpPr>
              <a:spLocks noChangeArrowheads="1"/>
            </p:cNvSpPr>
            <p:nvPr/>
          </p:nvSpPr>
          <p:spPr bwMode="hidden">
            <a:xfrm>
              <a:off x="3989" y="3396"/>
              <a:ext cx="168" cy="96"/>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203" name="Oval 201"/>
            <p:cNvSpPr>
              <a:spLocks noChangeArrowheads="1"/>
            </p:cNvSpPr>
            <p:nvPr/>
          </p:nvSpPr>
          <p:spPr bwMode="hidden">
            <a:xfrm>
              <a:off x="4263" y="3141"/>
              <a:ext cx="162" cy="95"/>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204" name="Oval 202"/>
            <p:cNvSpPr>
              <a:spLocks noChangeArrowheads="1"/>
            </p:cNvSpPr>
            <p:nvPr/>
          </p:nvSpPr>
          <p:spPr bwMode="hidden">
            <a:xfrm>
              <a:off x="5044" y="3418"/>
              <a:ext cx="167" cy="95"/>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205" name="Oval 203"/>
            <p:cNvSpPr>
              <a:spLocks noChangeArrowheads="1"/>
            </p:cNvSpPr>
            <p:nvPr/>
          </p:nvSpPr>
          <p:spPr bwMode="hidden">
            <a:xfrm>
              <a:off x="4553" y="2873"/>
              <a:ext cx="156" cy="83"/>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206" name="Oval 204"/>
            <p:cNvSpPr>
              <a:spLocks noChangeArrowheads="1"/>
            </p:cNvSpPr>
            <p:nvPr/>
          </p:nvSpPr>
          <p:spPr bwMode="hidden">
            <a:xfrm>
              <a:off x="5293" y="3116"/>
              <a:ext cx="161" cy="95"/>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207" name="Oval 205"/>
            <p:cNvSpPr>
              <a:spLocks noChangeArrowheads="1"/>
            </p:cNvSpPr>
            <p:nvPr/>
          </p:nvSpPr>
          <p:spPr bwMode="hidden">
            <a:xfrm>
              <a:off x="5497" y="2879"/>
              <a:ext cx="156" cy="89"/>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208" name="Oval 206"/>
            <p:cNvSpPr>
              <a:spLocks noChangeArrowheads="1"/>
            </p:cNvSpPr>
            <p:nvPr/>
          </p:nvSpPr>
          <p:spPr bwMode="hidden">
            <a:xfrm>
              <a:off x="4772" y="2673"/>
              <a:ext cx="156" cy="83"/>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209" name="Oval 207"/>
            <p:cNvSpPr>
              <a:spLocks noChangeArrowheads="1"/>
            </p:cNvSpPr>
            <p:nvPr/>
          </p:nvSpPr>
          <p:spPr bwMode="hidden">
            <a:xfrm>
              <a:off x="4966" y="2488"/>
              <a:ext cx="156" cy="84"/>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210" name="Oval 208"/>
            <p:cNvSpPr>
              <a:spLocks noChangeArrowheads="1"/>
            </p:cNvSpPr>
            <p:nvPr/>
          </p:nvSpPr>
          <p:spPr bwMode="hidden">
            <a:xfrm>
              <a:off x="5444" y="2052"/>
              <a:ext cx="134" cy="73"/>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211" name="Oval 209"/>
            <p:cNvSpPr>
              <a:spLocks noChangeArrowheads="1"/>
            </p:cNvSpPr>
            <p:nvPr/>
          </p:nvSpPr>
          <p:spPr bwMode="hidden">
            <a:xfrm>
              <a:off x="5161" y="2314"/>
              <a:ext cx="140" cy="73"/>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212" name="Oval 210"/>
            <p:cNvSpPr>
              <a:spLocks noChangeArrowheads="1"/>
            </p:cNvSpPr>
            <p:nvPr/>
          </p:nvSpPr>
          <p:spPr bwMode="hidden">
            <a:xfrm>
              <a:off x="5318" y="2176"/>
              <a:ext cx="134" cy="61"/>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213" name="Oval 211"/>
            <p:cNvSpPr>
              <a:spLocks noChangeArrowheads="1"/>
            </p:cNvSpPr>
            <p:nvPr/>
          </p:nvSpPr>
          <p:spPr bwMode="hidden">
            <a:xfrm>
              <a:off x="5581" y="1933"/>
              <a:ext cx="128" cy="61"/>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214" name="Oval 212"/>
            <p:cNvSpPr>
              <a:spLocks noChangeArrowheads="1"/>
            </p:cNvSpPr>
            <p:nvPr/>
          </p:nvSpPr>
          <p:spPr bwMode="hidden">
            <a:xfrm>
              <a:off x="5689" y="1811"/>
              <a:ext cx="128" cy="61"/>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215" name="Oval 213"/>
            <p:cNvSpPr>
              <a:spLocks noChangeArrowheads="1"/>
            </p:cNvSpPr>
            <p:nvPr/>
          </p:nvSpPr>
          <p:spPr bwMode="hidden">
            <a:xfrm>
              <a:off x="5663" y="2680"/>
              <a:ext cx="156" cy="83"/>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216" name="Oval 214"/>
            <p:cNvSpPr>
              <a:spLocks noChangeArrowheads="1"/>
            </p:cNvSpPr>
            <p:nvPr/>
          </p:nvSpPr>
          <p:spPr bwMode="hidden">
            <a:xfrm>
              <a:off x="-65" y="2865"/>
              <a:ext cx="150" cy="89"/>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217" name="Oval 215"/>
            <p:cNvSpPr>
              <a:spLocks noChangeArrowheads="1"/>
            </p:cNvSpPr>
            <p:nvPr/>
          </p:nvSpPr>
          <p:spPr bwMode="hidden">
            <a:xfrm>
              <a:off x="2" y="2477"/>
              <a:ext cx="156" cy="89"/>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218" name="Oval 216"/>
            <p:cNvSpPr>
              <a:spLocks noChangeArrowheads="1"/>
            </p:cNvSpPr>
            <p:nvPr/>
          </p:nvSpPr>
          <p:spPr bwMode="hidden">
            <a:xfrm>
              <a:off x="-9" y="1436"/>
              <a:ext cx="106" cy="44"/>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219" name="Oval 217"/>
            <p:cNvSpPr>
              <a:spLocks noChangeArrowheads="1"/>
            </p:cNvSpPr>
            <p:nvPr/>
          </p:nvSpPr>
          <p:spPr bwMode="hidden">
            <a:xfrm>
              <a:off x="5624" y="4010"/>
              <a:ext cx="198" cy="106"/>
            </a:xfrm>
            <a:prstGeom prst="ellipse">
              <a:avLst/>
            </a:prstGeom>
            <a:solidFill>
              <a:srgbClr val="C0C0C0"/>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grpSp>
      <p:pic>
        <p:nvPicPr>
          <p:cNvPr id="220" name="Picture 223" descr="041"/>
          <p:cNvPicPr>
            <a:picLocks noChangeAspect="1" noChangeArrowheads="1" noCrop="1"/>
          </p:cNvPicPr>
          <p:nvPr userDrawn="1"/>
        </p:nvPicPr>
        <p:blipFill>
          <a:blip r:embed="rId2"/>
          <a:srcRect/>
          <a:stretch>
            <a:fillRect/>
          </a:stretch>
        </p:blipFill>
        <p:spPr bwMode="auto">
          <a:xfrm>
            <a:off x="539750" y="2852738"/>
            <a:ext cx="4048125" cy="190500"/>
          </a:xfrm>
          <a:prstGeom prst="rect">
            <a:avLst/>
          </a:prstGeom>
          <a:noFill/>
          <a:ln w="9525">
            <a:noFill/>
            <a:miter lim="800000"/>
            <a:headEnd/>
            <a:tailEnd/>
          </a:ln>
        </p:spPr>
      </p:pic>
      <p:pic>
        <p:nvPicPr>
          <p:cNvPr id="221" name="Picture 224" descr="041"/>
          <p:cNvPicPr>
            <a:picLocks noChangeAspect="1" noChangeArrowheads="1" noCrop="1"/>
          </p:cNvPicPr>
          <p:nvPr userDrawn="1"/>
        </p:nvPicPr>
        <p:blipFill>
          <a:blip r:embed="rId2"/>
          <a:srcRect/>
          <a:stretch>
            <a:fillRect/>
          </a:stretch>
        </p:blipFill>
        <p:spPr bwMode="auto">
          <a:xfrm>
            <a:off x="4500563" y="2852738"/>
            <a:ext cx="4048125" cy="190500"/>
          </a:xfrm>
          <a:prstGeom prst="rect">
            <a:avLst/>
          </a:prstGeom>
          <a:noFill/>
          <a:ln w="9525">
            <a:noFill/>
            <a:miter lim="800000"/>
            <a:headEnd/>
            <a:tailEnd/>
          </a:ln>
        </p:spPr>
      </p:pic>
      <p:sp>
        <p:nvSpPr>
          <p:cNvPr id="104666" name="Rectangle 218"/>
          <p:cNvSpPr>
            <a:spLocks noGrp="1" noChangeArrowheads="1"/>
          </p:cNvSpPr>
          <p:nvPr>
            <p:ph type="ctrTitle" sz="quarter"/>
          </p:nvPr>
        </p:nvSpPr>
        <p:spPr>
          <a:xfrm>
            <a:off x="539750" y="1700213"/>
            <a:ext cx="7993063" cy="1016000"/>
          </a:xfrm>
          <a:extLst/>
        </p:spPr>
        <p:txBody>
          <a:bodyPr lIns="0" tIns="10800" rIns="0" anchor="b" anchorCtr="1"/>
          <a:lstStyle>
            <a:lvl1pPr algn="ctr">
              <a:defRPr sz="2800"/>
            </a:lvl1pPr>
          </a:lstStyle>
          <a:p>
            <a:pPr lvl="0"/>
            <a:r>
              <a:rPr lang="zh-CN" altLang="en-US" noProof="0" smtClean="0"/>
              <a:t>单击此处编辑母版标题样式</a:t>
            </a:r>
          </a:p>
        </p:txBody>
      </p:sp>
      <p:sp>
        <p:nvSpPr>
          <p:cNvPr id="104667" name="Rectangle 219"/>
          <p:cNvSpPr>
            <a:spLocks noGrp="1" noChangeArrowheads="1"/>
          </p:cNvSpPr>
          <p:nvPr>
            <p:ph type="subTitle" sz="quarter" idx="1"/>
          </p:nvPr>
        </p:nvSpPr>
        <p:spPr>
          <a:xfrm>
            <a:off x="539750" y="3357563"/>
            <a:ext cx="7993063" cy="1752600"/>
          </a:xfrm>
          <a:noFill/>
          <a:ln w="9525" cmpd="sng">
            <a:noFill/>
          </a:ln>
          <a:extLst/>
        </p:spPr>
        <p:txBody>
          <a:bodyPr/>
          <a:lstStyle>
            <a:lvl1pPr marL="0" indent="0">
              <a:buFont typeface="Wingdings" charset="0"/>
              <a:buNone/>
              <a:defRPr/>
            </a:lvl1pPr>
          </a:lstStyle>
          <a:p>
            <a:pPr lvl="0"/>
            <a:r>
              <a:rPr lang="zh-CN" altLang="en-US" noProof="0" smtClean="0"/>
              <a:t>单击此处编辑母版副标题样式</a:t>
            </a:r>
          </a:p>
        </p:txBody>
      </p:sp>
      <p:sp>
        <p:nvSpPr>
          <p:cNvPr id="222" name="Rectangle 226"/>
          <p:cNvSpPr>
            <a:spLocks noGrp="1" noChangeArrowheads="1"/>
          </p:cNvSpPr>
          <p:nvPr>
            <p:ph type="ftr" sz="quarter" idx="10"/>
          </p:nvPr>
        </p:nvSpPr>
        <p:spPr>
          <a:xfrm>
            <a:off x="1116013" y="6453188"/>
            <a:ext cx="5867400" cy="404812"/>
          </a:xfrm>
        </p:spPr>
        <p:txBody>
          <a:bodyPr/>
          <a:lstStyle>
            <a:lvl1pPr>
              <a:defRPr/>
            </a:lvl1pPr>
          </a:lstStyle>
          <a:p>
            <a:pPr>
              <a:defRPr/>
            </a:pPr>
            <a:r>
              <a:rPr lang="en-US" altLang="zh-CN"/>
              <a:t>                 </a:t>
            </a:r>
            <a:r>
              <a:rPr lang="zh-CN" altLang="en-US"/>
              <a:t>北京工商大学</a:t>
            </a:r>
            <a:r>
              <a:rPr lang="en-US" altLang="zh-CN"/>
              <a:t>  </a:t>
            </a:r>
            <a:r>
              <a:rPr lang="zh-CN" altLang="en-US"/>
              <a:t>赵峰</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lang="zh-CN" altLang="en-US"/>
          </a:p>
        </p:txBody>
      </p:sp>
      <p:sp>
        <p:nvSpPr>
          <p:cNvPr id="4" name="Rectangle 223"/>
          <p:cNvSpPr>
            <a:spLocks noGrp="1" noChangeArrowheads="1"/>
          </p:cNvSpPr>
          <p:nvPr>
            <p:ph type="ftr" sz="quarter" idx="10"/>
          </p:nvPr>
        </p:nvSpPr>
        <p:spPr>
          <a:ln/>
        </p:spPr>
        <p:txBody>
          <a:bodyPr/>
          <a:lstStyle>
            <a:lvl1pPr>
              <a:defRPr/>
            </a:lvl1pPr>
          </a:lstStyle>
          <a:p>
            <a:pPr>
              <a:defRPr/>
            </a:pPr>
            <a:r>
              <a:rPr lang="en-US" altLang="zh-CN"/>
              <a:t>    </a:t>
            </a:r>
            <a:r>
              <a:rPr lang="zh-CN" altLang="en-US"/>
              <a:t>北京工商大学</a:t>
            </a:r>
            <a:r>
              <a:rPr lang="en-US" altLang="zh-CN"/>
              <a:t>  </a:t>
            </a:r>
            <a:r>
              <a:rPr lang="zh-CN" altLang="en-US"/>
              <a:t>赵峰</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223"/>
          <p:cNvSpPr>
            <a:spLocks noGrp="1" noChangeArrowheads="1"/>
          </p:cNvSpPr>
          <p:nvPr>
            <p:ph type="ftr" sz="quarter" idx="10"/>
          </p:nvPr>
        </p:nvSpPr>
        <p:spPr>
          <a:ln/>
        </p:spPr>
        <p:txBody>
          <a:bodyPr/>
          <a:lstStyle>
            <a:lvl1pPr>
              <a:defRPr/>
            </a:lvl1pPr>
          </a:lstStyle>
          <a:p>
            <a:pPr>
              <a:defRPr/>
            </a:pPr>
            <a:r>
              <a:rPr lang="en-US" altLang="zh-CN"/>
              <a:t>    </a:t>
            </a:r>
            <a:r>
              <a:rPr lang="zh-CN" altLang="en-US"/>
              <a:t>北京工商大学</a:t>
            </a:r>
            <a:r>
              <a:rPr lang="en-US" altLang="zh-CN"/>
              <a:t>  </a:t>
            </a:r>
            <a:r>
              <a:rPr lang="zh-CN" altLang="en-US"/>
              <a:t>赵峰</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395288" y="1268413"/>
            <a:ext cx="4038600" cy="939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lang="zh-CN" altLang="en-US"/>
          </a:p>
        </p:txBody>
      </p:sp>
      <p:sp>
        <p:nvSpPr>
          <p:cNvPr id="4" name="内容占位符 3"/>
          <p:cNvSpPr>
            <a:spLocks noGrp="1"/>
          </p:cNvSpPr>
          <p:nvPr>
            <p:ph sz="half" idx="2"/>
          </p:nvPr>
        </p:nvSpPr>
        <p:spPr>
          <a:xfrm>
            <a:off x="4586288" y="1268413"/>
            <a:ext cx="4038600" cy="939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lang="zh-CN" altLang="en-US"/>
          </a:p>
        </p:txBody>
      </p:sp>
      <p:sp>
        <p:nvSpPr>
          <p:cNvPr id="5" name="Rectangle 223"/>
          <p:cNvSpPr>
            <a:spLocks noGrp="1" noChangeArrowheads="1"/>
          </p:cNvSpPr>
          <p:nvPr>
            <p:ph type="ftr" sz="quarter" idx="10"/>
          </p:nvPr>
        </p:nvSpPr>
        <p:spPr>
          <a:ln/>
        </p:spPr>
        <p:txBody>
          <a:bodyPr/>
          <a:lstStyle>
            <a:lvl1pPr>
              <a:defRPr/>
            </a:lvl1pPr>
          </a:lstStyle>
          <a:p>
            <a:pPr>
              <a:defRPr/>
            </a:pPr>
            <a:r>
              <a:rPr lang="en-US" altLang="zh-CN"/>
              <a:t>    </a:t>
            </a:r>
            <a:r>
              <a:rPr lang="zh-CN" altLang="en-US"/>
              <a:t>北京工商大学</a:t>
            </a:r>
            <a:r>
              <a:rPr lang="en-US" altLang="zh-CN"/>
              <a:t>  </a:t>
            </a:r>
            <a:r>
              <a:rPr lang="zh-CN" altLang="en-US"/>
              <a:t>赵峰</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lang="zh-CN" altLang="en-US"/>
          </a:p>
        </p:txBody>
      </p:sp>
      <p:sp>
        <p:nvSpPr>
          <p:cNvPr id="7" name="Rectangle 223"/>
          <p:cNvSpPr>
            <a:spLocks noGrp="1" noChangeArrowheads="1"/>
          </p:cNvSpPr>
          <p:nvPr>
            <p:ph type="ftr" sz="quarter" idx="10"/>
          </p:nvPr>
        </p:nvSpPr>
        <p:spPr>
          <a:ln/>
        </p:spPr>
        <p:txBody>
          <a:bodyPr/>
          <a:lstStyle>
            <a:lvl1pPr>
              <a:defRPr/>
            </a:lvl1pPr>
          </a:lstStyle>
          <a:p>
            <a:pPr>
              <a:defRPr/>
            </a:pPr>
            <a:r>
              <a:rPr lang="en-US" altLang="zh-CN"/>
              <a:t>    </a:t>
            </a:r>
            <a:r>
              <a:rPr lang="zh-CN" altLang="en-US"/>
              <a:t>北京工商大学</a:t>
            </a:r>
            <a:r>
              <a:rPr lang="en-US" altLang="zh-CN"/>
              <a:t>  </a:t>
            </a:r>
            <a:r>
              <a:rPr lang="zh-CN" altLang="en-US"/>
              <a:t>赵峰</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223"/>
          <p:cNvSpPr>
            <a:spLocks noGrp="1" noChangeArrowheads="1"/>
          </p:cNvSpPr>
          <p:nvPr>
            <p:ph type="ftr" sz="quarter" idx="10"/>
          </p:nvPr>
        </p:nvSpPr>
        <p:spPr>
          <a:ln/>
        </p:spPr>
        <p:txBody>
          <a:bodyPr/>
          <a:lstStyle>
            <a:lvl1pPr>
              <a:defRPr/>
            </a:lvl1pPr>
          </a:lstStyle>
          <a:p>
            <a:pPr>
              <a:defRPr/>
            </a:pPr>
            <a:r>
              <a:rPr lang="en-US" altLang="zh-CN"/>
              <a:t>    </a:t>
            </a:r>
            <a:r>
              <a:rPr lang="zh-CN" altLang="en-US"/>
              <a:t>北京工商大学</a:t>
            </a:r>
            <a:r>
              <a:rPr lang="en-US" altLang="zh-CN"/>
              <a:t>  </a:t>
            </a:r>
            <a:r>
              <a:rPr lang="zh-CN" altLang="en-US"/>
              <a:t>赵峰</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23"/>
          <p:cNvSpPr>
            <a:spLocks noGrp="1" noChangeArrowheads="1"/>
          </p:cNvSpPr>
          <p:nvPr>
            <p:ph type="ftr" sz="quarter" idx="10"/>
          </p:nvPr>
        </p:nvSpPr>
        <p:spPr>
          <a:ln/>
        </p:spPr>
        <p:txBody>
          <a:bodyPr/>
          <a:lstStyle>
            <a:lvl1pPr>
              <a:defRPr/>
            </a:lvl1pPr>
          </a:lstStyle>
          <a:p>
            <a:pPr>
              <a:defRPr/>
            </a:pPr>
            <a:r>
              <a:rPr lang="en-US" altLang="zh-CN"/>
              <a:t>    </a:t>
            </a:r>
            <a:r>
              <a:rPr lang="zh-CN" altLang="en-US"/>
              <a:t>北京工商大学</a:t>
            </a:r>
            <a:r>
              <a:rPr lang="en-US" altLang="zh-CN"/>
              <a:t>  </a:t>
            </a:r>
            <a:r>
              <a:rPr lang="zh-CN" altLang="en-US"/>
              <a:t>赵峰</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223"/>
          <p:cNvSpPr>
            <a:spLocks noGrp="1" noChangeArrowheads="1"/>
          </p:cNvSpPr>
          <p:nvPr>
            <p:ph type="ftr" sz="quarter" idx="10"/>
          </p:nvPr>
        </p:nvSpPr>
        <p:spPr>
          <a:ln/>
        </p:spPr>
        <p:txBody>
          <a:bodyPr/>
          <a:lstStyle>
            <a:lvl1pPr>
              <a:defRPr/>
            </a:lvl1pPr>
          </a:lstStyle>
          <a:p>
            <a:pPr>
              <a:defRPr/>
            </a:pPr>
            <a:r>
              <a:rPr lang="en-US" altLang="zh-CN"/>
              <a:t>    </a:t>
            </a:r>
            <a:r>
              <a:rPr lang="zh-CN" altLang="en-US"/>
              <a:t>北京工商大学</a:t>
            </a:r>
            <a:r>
              <a:rPr lang="en-US" altLang="zh-CN"/>
              <a:t>  </a:t>
            </a:r>
            <a:r>
              <a:rPr lang="zh-CN" altLang="en-US"/>
              <a:t>赵峰</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223"/>
          <p:cNvSpPr>
            <a:spLocks noGrp="1" noChangeArrowheads="1"/>
          </p:cNvSpPr>
          <p:nvPr>
            <p:ph type="ftr" sz="quarter" idx="10"/>
          </p:nvPr>
        </p:nvSpPr>
        <p:spPr>
          <a:ln/>
        </p:spPr>
        <p:txBody>
          <a:bodyPr/>
          <a:lstStyle>
            <a:lvl1pPr>
              <a:defRPr/>
            </a:lvl1pPr>
          </a:lstStyle>
          <a:p>
            <a:pPr>
              <a:defRPr/>
            </a:pPr>
            <a:r>
              <a:rPr lang="en-US" altLang="zh-CN"/>
              <a:t>    </a:t>
            </a:r>
            <a:r>
              <a:rPr lang="zh-CN" altLang="en-US"/>
              <a:t>北京工商大学</a:t>
            </a:r>
            <a:r>
              <a:rPr lang="en-US" altLang="zh-CN"/>
              <a:t>  </a:t>
            </a:r>
            <a:r>
              <a:rPr lang="zh-CN" altLang="en-US"/>
              <a:t>赵峰</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本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lang="zh-CN" altLang="en-US"/>
          </a:p>
        </p:txBody>
      </p:sp>
      <p:sp>
        <p:nvSpPr>
          <p:cNvPr id="4" name="Rectangle 223"/>
          <p:cNvSpPr>
            <a:spLocks noGrp="1" noChangeArrowheads="1"/>
          </p:cNvSpPr>
          <p:nvPr>
            <p:ph type="ftr" sz="quarter" idx="10"/>
          </p:nvPr>
        </p:nvSpPr>
        <p:spPr>
          <a:ln/>
        </p:spPr>
        <p:txBody>
          <a:bodyPr/>
          <a:lstStyle>
            <a:lvl1pPr>
              <a:defRPr/>
            </a:lvl1pPr>
          </a:lstStyle>
          <a:p>
            <a:pPr>
              <a:defRPr/>
            </a:pPr>
            <a:r>
              <a:rPr lang="en-US" altLang="zh-CN"/>
              <a:t>    </a:t>
            </a:r>
            <a:r>
              <a:rPr lang="zh-CN" altLang="en-US"/>
              <a:t>北京工商大学</a:t>
            </a:r>
            <a:r>
              <a:rPr lang="en-US" altLang="zh-CN"/>
              <a:t>  </a:t>
            </a:r>
            <a:r>
              <a:rPr lang="zh-CN" altLang="en-US"/>
              <a:t>赵峰</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67488" y="333375"/>
            <a:ext cx="2057400" cy="1874838"/>
          </a:xfrm>
        </p:spPr>
        <p:txBody>
          <a:bodyPr vert="eaVert"/>
          <a:lstStyle/>
          <a:p>
            <a:r>
              <a:rPr lang="zh-CN" altLang="en-US" smtClean="0"/>
              <a:t>单击此处编辑母版标题样式</a:t>
            </a:r>
            <a:endParaRPr lang="zh-CN" altLang="en-US"/>
          </a:p>
        </p:txBody>
      </p:sp>
      <p:sp>
        <p:nvSpPr>
          <p:cNvPr id="3" name="竖排文本占位符 2"/>
          <p:cNvSpPr>
            <a:spLocks noGrp="1"/>
          </p:cNvSpPr>
          <p:nvPr>
            <p:ph type="body" orient="vert" idx="1"/>
          </p:nvPr>
        </p:nvSpPr>
        <p:spPr>
          <a:xfrm>
            <a:off x="395288" y="333375"/>
            <a:ext cx="6019800" cy="1874838"/>
          </a:xfrm>
        </p:spPr>
        <p:txBody>
          <a:bodyPr vert="eaVert"/>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lang="zh-CN" altLang="en-US"/>
          </a:p>
        </p:txBody>
      </p:sp>
      <p:sp>
        <p:nvSpPr>
          <p:cNvPr id="4" name="Rectangle 223"/>
          <p:cNvSpPr>
            <a:spLocks noGrp="1" noChangeArrowheads="1"/>
          </p:cNvSpPr>
          <p:nvPr>
            <p:ph type="ftr" sz="quarter" idx="10"/>
          </p:nvPr>
        </p:nvSpPr>
        <p:spPr>
          <a:ln/>
        </p:spPr>
        <p:txBody>
          <a:bodyPr/>
          <a:lstStyle>
            <a:lvl1pPr>
              <a:defRPr/>
            </a:lvl1pPr>
          </a:lstStyle>
          <a:p>
            <a:pPr>
              <a:defRPr/>
            </a:pPr>
            <a:r>
              <a:rPr lang="en-US" altLang="zh-CN"/>
              <a:t>    </a:t>
            </a:r>
            <a:r>
              <a:rPr lang="zh-CN" altLang="en-US"/>
              <a:t>北京工商大学</a:t>
            </a:r>
            <a:r>
              <a:rPr lang="en-US" altLang="zh-CN"/>
              <a:t>  </a:t>
            </a:r>
            <a:r>
              <a:rPr lang="zh-CN" altLang="en-US"/>
              <a:t>赵峰</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95288" y="333375"/>
            <a:ext cx="5256212" cy="64770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395288" y="1268413"/>
            <a:ext cx="8229600" cy="939800"/>
          </a:xfrm>
        </p:spPr>
        <p:txBody>
          <a:bodyPr/>
          <a:lstStyle/>
          <a:p>
            <a:pPr lvl="0"/>
            <a:endParaRPr lang="zh-CN" altLang="en-US" noProof="0"/>
          </a:p>
        </p:txBody>
      </p:sp>
      <p:sp>
        <p:nvSpPr>
          <p:cNvPr id="4" name="Rectangle 223"/>
          <p:cNvSpPr>
            <a:spLocks noGrp="1" noChangeArrowheads="1"/>
          </p:cNvSpPr>
          <p:nvPr>
            <p:ph type="ftr" sz="quarter" idx="10"/>
          </p:nvPr>
        </p:nvSpPr>
        <p:spPr>
          <a:ln/>
        </p:spPr>
        <p:txBody>
          <a:bodyPr/>
          <a:lstStyle>
            <a:lvl1pPr>
              <a:defRPr/>
            </a:lvl1pPr>
          </a:lstStyle>
          <a:p>
            <a:pPr>
              <a:defRPr/>
            </a:pPr>
            <a:r>
              <a:rPr lang="en-US" altLang="zh-CN"/>
              <a:t>    </a:t>
            </a:r>
            <a:r>
              <a:rPr lang="zh-CN" altLang="en-US"/>
              <a:t>北京工商大学</a:t>
            </a:r>
            <a:r>
              <a:rPr lang="en-US" altLang="zh-CN"/>
              <a:t>  </a:t>
            </a:r>
            <a:r>
              <a:rPr lang="zh-CN" altLang="en-US"/>
              <a:t>赵峰</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和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395288" y="333375"/>
            <a:ext cx="5256212" cy="6477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395288" y="1268413"/>
            <a:ext cx="4038600" cy="939800"/>
          </a:xfrm>
        </p:spPr>
        <p:txBody>
          <a:bodyPr/>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lang="zh-CN" altLang="en-US"/>
          </a:p>
        </p:txBody>
      </p:sp>
      <p:sp>
        <p:nvSpPr>
          <p:cNvPr id="4" name="内容占位符 3"/>
          <p:cNvSpPr>
            <a:spLocks noGrp="1"/>
          </p:cNvSpPr>
          <p:nvPr>
            <p:ph sz="quarter" idx="2"/>
          </p:nvPr>
        </p:nvSpPr>
        <p:spPr>
          <a:xfrm>
            <a:off x="4586288" y="1268413"/>
            <a:ext cx="4038600" cy="393700"/>
          </a:xfrm>
        </p:spPr>
        <p:txBody>
          <a:bodyPr/>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lang="zh-CN" altLang="en-US"/>
          </a:p>
        </p:txBody>
      </p:sp>
      <p:sp>
        <p:nvSpPr>
          <p:cNvPr id="5" name="内容占位符 4"/>
          <p:cNvSpPr>
            <a:spLocks noGrp="1"/>
          </p:cNvSpPr>
          <p:nvPr>
            <p:ph sz="quarter" idx="3"/>
          </p:nvPr>
        </p:nvSpPr>
        <p:spPr>
          <a:xfrm>
            <a:off x="4586288" y="1814513"/>
            <a:ext cx="4038600" cy="393700"/>
          </a:xfrm>
        </p:spPr>
        <p:txBody>
          <a:bodyPr/>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lang="zh-CN" altLang="en-US"/>
          </a:p>
        </p:txBody>
      </p:sp>
      <p:sp>
        <p:nvSpPr>
          <p:cNvPr id="6" name="Rectangle 223"/>
          <p:cNvSpPr>
            <a:spLocks noGrp="1" noChangeArrowheads="1"/>
          </p:cNvSpPr>
          <p:nvPr>
            <p:ph type="ftr" sz="quarter" idx="10"/>
          </p:nvPr>
        </p:nvSpPr>
        <p:spPr>
          <a:ln/>
        </p:spPr>
        <p:txBody>
          <a:bodyPr/>
          <a:lstStyle>
            <a:lvl1pPr>
              <a:defRPr/>
            </a:lvl1pPr>
          </a:lstStyle>
          <a:p>
            <a:pPr>
              <a:defRPr/>
            </a:pPr>
            <a:r>
              <a:rPr lang="en-US" altLang="zh-CN"/>
              <a:t>    </a:t>
            </a:r>
            <a:r>
              <a:rPr lang="zh-CN" altLang="en-US"/>
              <a:t>北京工商大学</a:t>
            </a:r>
            <a:r>
              <a:rPr lang="en-US" altLang="zh-CN"/>
              <a:t>  </a:t>
            </a:r>
            <a:r>
              <a:rPr lang="zh-CN" altLang="en-US"/>
              <a:t>赵峰</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Chart" preserve="1">
  <p:cSld name="标题、文本和图表">
    <p:spTree>
      <p:nvGrpSpPr>
        <p:cNvPr id="1" name=""/>
        <p:cNvGrpSpPr/>
        <p:nvPr/>
      </p:nvGrpSpPr>
      <p:grpSpPr>
        <a:xfrm>
          <a:off x="0" y="0"/>
          <a:ext cx="0" cy="0"/>
          <a:chOff x="0" y="0"/>
          <a:chExt cx="0" cy="0"/>
        </a:xfrm>
      </p:grpSpPr>
      <p:sp>
        <p:nvSpPr>
          <p:cNvPr id="2" name="标题 1"/>
          <p:cNvSpPr>
            <a:spLocks noGrp="1"/>
          </p:cNvSpPr>
          <p:nvPr>
            <p:ph type="title"/>
          </p:nvPr>
        </p:nvSpPr>
        <p:spPr>
          <a:xfrm>
            <a:off x="395288" y="333375"/>
            <a:ext cx="5256212" cy="6477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395288" y="1268413"/>
            <a:ext cx="4038600" cy="939800"/>
          </a:xfrm>
        </p:spPr>
        <p:txBody>
          <a:bodyPr/>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lang="zh-CN" altLang="en-US"/>
          </a:p>
        </p:txBody>
      </p:sp>
      <p:sp>
        <p:nvSpPr>
          <p:cNvPr id="4" name="图表占位符 3"/>
          <p:cNvSpPr>
            <a:spLocks noGrp="1"/>
          </p:cNvSpPr>
          <p:nvPr>
            <p:ph type="chart" sz="half" idx="2"/>
          </p:nvPr>
        </p:nvSpPr>
        <p:spPr>
          <a:xfrm>
            <a:off x="4586288" y="1268413"/>
            <a:ext cx="4038600" cy="939800"/>
          </a:xfrm>
        </p:spPr>
        <p:txBody>
          <a:bodyPr/>
          <a:lstStyle/>
          <a:p>
            <a:pPr lvl="0"/>
            <a:endParaRPr lang="zh-CN" altLang="en-US" noProof="0"/>
          </a:p>
        </p:txBody>
      </p:sp>
      <p:sp>
        <p:nvSpPr>
          <p:cNvPr id="5" name="Rectangle 223"/>
          <p:cNvSpPr>
            <a:spLocks noGrp="1" noChangeArrowheads="1"/>
          </p:cNvSpPr>
          <p:nvPr>
            <p:ph type="ftr" sz="quarter" idx="10"/>
          </p:nvPr>
        </p:nvSpPr>
        <p:spPr>
          <a:ln/>
        </p:spPr>
        <p:txBody>
          <a:bodyPr/>
          <a:lstStyle>
            <a:lvl1pPr>
              <a:defRPr/>
            </a:lvl1pPr>
          </a:lstStyle>
          <a:p>
            <a:pPr>
              <a:defRPr/>
            </a:pPr>
            <a:r>
              <a:rPr lang="en-US" altLang="zh-CN"/>
              <a:t>    </a:t>
            </a:r>
            <a:r>
              <a:rPr lang="zh-CN" altLang="en-US"/>
              <a:t>北京工商大学</a:t>
            </a:r>
            <a:r>
              <a:rPr lang="en-US" altLang="zh-CN"/>
              <a:t>  </a:t>
            </a:r>
            <a:r>
              <a:rPr lang="zh-CN" altLang="en-US"/>
              <a:t>赵峰</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1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467543" y="123984"/>
            <a:ext cx="8280919" cy="771014"/>
          </a:xfrm>
        </p:spPr>
        <p:txBody>
          <a:bodyPr>
            <a:normAutofit/>
          </a:bodyPr>
          <a:lstStyle>
            <a:lvl1pPr>
              <a:defRPr sz="3600" b="1">
                <a:solidFill>
                  <a:srgbClr val="003399"/>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a:xfrm>
            <a:off x="467544" y="1071154"/>
            <a:ext cx="8280920" cy="5238166"/>
          </a:xfrm>
        </p:spPr>
        <p:txBody>
          <a:bodyPr/>
          <a:lstStyle>
            <a:lvl1pPr marL="91440" indent="-91440">
              <a:lnSpc>
                <a:spcPct val="150000"/>
              </a:lnSpc>
              <a:spcBef>
                <a:spcPts val="0"/>
              </a:spcBef>
              <a:spcAft>
                <a:spcPts val="0"/>
              </a:spcAft>
              <a:buClr>
                <a:srgbClr val="E67B22"/>
              </a:buClr>
              <a:buFont typeface="Wingdings" panose="05000000000000000000" pitchFamily="2" charset="2"/>
              <a:buChar char="n"/>
              <a:defRPr>
                <a:solidFill>
                  <a:schemeClr val="tx1"/>
                </a:solidFill>
                <a:latin typeface="+mn-ea"/>
                <a:ea typeface="+mn-ea"/>
              </a:defRPr>
            </a:lvl1pPr>
            <a:lvl2pPr marL="384048" indent="-182880">
              <a:lnSpc>
                <a:spcPct val="150000"/>
              </a:lnSpc>
              <a:spcBef>
                <a:spcPts val="0"/>
              </a:spcBef>
              <a:spcAft>
                <a:spcPts val="0"/>
              </a:spcAft>
              <a:buClr>
                <a:srgbClr val="E67B22"/>
              </a:buClr>
              <a:buFont typeface="Wingdings" panose="05000000000000000000" pitchFamily="2" charset="2"/>
              <a:buChar char="Ø"/>
              <a:defRPr>
                <a:solidFill>
                  <a:schemeClr val="tx1"/>
                </a:solidFill>
                <a:latin typeface="+mn-ea"/>
                <a:ea typeface="+mn-ea"/>
              </a:defRPr>
            </a:lvl2pPr>
            <a:lvl3pPr marL="566928" indent="-182880">
              <a:lnSpc>
                <a:spcPct val="150000"/>
              </a:lnSpc>
              <a:spcBef>
                <a:spcPts val="0"/>
              </a:spcBef>
              <a:spcAft>
                <a:spcPts val="0"/>
              </a:spcAft>
              <a:buClr>
                <a:srgbClr val="E67B22"/>
              </a:buClr>
              <a:buFont typeface="Arial" panose="020B0604020202020204" pitchFamily="34" charset="0"/>
              <a:buChar char="•"/>
              <a:defRPr>
                <a:solidFill>
                  <a:schemeClr val="tx1"/>
                </a:solidFill>
                <a:latin typeface="+mn-ea"/>
                <a:ea typeface="+mn-ea"/>
              </a:defRPr>
            </a:lvl3pPr>
            <a:lvl4pPr marL="749808" indent="-182880">
              <a:lnSpc>
                <a:spcPct val="150000"/>
              </a:lnSpc>
              <a:spcBef>
                <a:spcPts val="0"/>
              </a:spcBef>
              <a:spcAft>
                <a:spcPts val="0"/>
              </a:spcAft>
              <a:buClr>
                <a:srgbClr val="E67B22"/>
              </a:buClr>
              <a:buFont typeface="Wingdings" panose="05000000000000000000" pitchFamily="2" charset="2"/>
              <a:buChar char="l"/>
              <a:defRPr>
                <a:solidFill>
                  <a:schemeClr val="tx1"/>
                </a:solidFill>
                <a:latin typeface="+mn-ea"/>
                <a:ea typeface="+mn-ea"/>
              </a:defRPr>
            </a:lvl4pPr>
            <a:lvl5pPr marL="932688" indent="-182880">
              <a:lnSpc>
                <a:spcPct val="150000"/>
              </a:lnSpc>
              <a:spcBef>
                <a:spcPts val="0"/>
              </a:spcBef>
              <a:spcAft>
                <a:spcPts val="0"/>
              </a:spcAft>
              <a:buClr>
                <a:srgbClr val="E67B22"/>
              </a:buClr>
              <a:buFont typeface="Wingdings" panose="05000000000000000000" pitchFamily="2" charset="2"/>
              <a:buChar char="l"/>
              <a:defRPr>
                <a:solidFill>
                  <a:schemeClr val="tx1"/>
                </a:solidFill>
                <a:latin typeface="+mn-ea"/>
                <a:ea typeface="+mn-ea"/>
              </a:defRPr>
            </a:lvl5pPr>
          </a:lstStyle>
          <a:p>
            <a:pPr lvl="0"/>
            <a:r>
              <a:rPr lang="zh-CN" altLang="en-US" dirty="0"/>
              <a:t>单击此处编辑母版文本样式</a:t>
            </a:r>
          </a:p>
          <a:p>
            <a:pPr lvl="1"/>
            <a:r>
              <a:rPr lang="zh-CN" altLang="en-US" dirty="0"/>
              <a:t>二级</a:t>
            </a:r>
          </a:p>
          <a:p>
            <a:pPr lvl="2"/>
            <a:r>
              <a:rPr lang="zh-CN" altLang="en-US" dirty="0"/>
              <a:t>三级</a:t>
            </a:r>
          </a:p>
        </p:txBody>
      </p:sp>
      <p:sp>
        <p:nvSpPr>
          <p:cNvPr id="6" name="Slide Number Placeholder 5"/>
          <p:cNvSpPr>
            <a:spLocks noGrp="1"/>
          </p:cNvSpPr>
          <p:nvPr>
            <p:ph type="sldNum" sz="quarter" idx="12"/>
          </p:nvPr>
        </p:nvSpPr>
        <p:spPr>
          <a:xfrm>
            <a:off x="7900876" y="6459350"/>
            <a:ext cx="984019" cy="365125"/>
          </a:xfrm>
          <a:prstGeom prst="rect">
            <a:avLst/>
          </a:prstGeom>
        </p:spPr>
        <p:txBody>
          <a:bodyPr/>
          <a:lstStyle>
            <a:lvl1pPr>
              <a:defRPr sz="1400">
                <a:latin typeface="Times New Roman" panose="02020603050405020304" pitchFamily="18" charset="0"/>
                <a:cs typeface="Times New Roman" panose="02020603050405020304" pitchFamily="18" charset="0"/>
              </a:defRPr>
            </a:lvl1pPr>
          </a:lstStyle>
          <a:p>
            <a:fld id="{8386ED9B-C4B4-44DB-9255-A90676A969D4}" type="slidenum">
              <a:rPr lang="zh-CN" altLang="en-US" smtClean="0"/>
              <a:pPr/>
              <a:t>‹#›</a:t>
            </a:fld>
            <a:endParaRPr lang="zh-CN" altLang="en-US"/>
          </a:p>
        </p:txBody>
      </p:sp>
    </p:spTree>
    <p:extLst>
      <p:ext uri="{BB962C8B-B14F-4D97-AF65-F5344CB8AC3E}">
        <p14:creationId xmlns:p14="http://schemas.microsoft.com/office/powerpoint/2010/main" val="1969001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theme" Target="../theme/theme1.xml"/><Relationship Id="rId20"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4.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B0B0B0"/>
        </a:solidFill>
        <a:effectLst/>
      </p:bgPr>
    </p:bg>
    <p:spTree>
      <p:nvGrpSpPr>
        <p:cNvPr id="1" name=""/>
        <p:cNvGrpSpPr/>
        <p:nvPr/>
      </p:nvGrpSpPr>
      <p:grpSpPr>
        <a:xfrm>
          <a:off x="0" y="0"/>
          <a:ext cx="0" cy="0"/>
          <a:chOff x="0" y="0"/>
          <a:chExt cx="0" cy="0"/>
        </a:xfrm>
      </p:grpSpPr>
      <p:grpSp>
        <p:nvGrpSpPr>
          <p:cNvPr id="1026" name="Group 2"/>
          <p:cNvGrpSpPr>
            <a:grpSpLocks/>
          </p:cNvGrpSpPr>
          <p:nvPr/>
        </p:nvGrpSpPr>
        <p:grpSpPr bwMode="auto">
          <a:xfrm>
            <a:off x="-323850" y="908050"/>
            <a:ext cx="10009188" cy="5403850"/>
            <a:chOff x="-313" y="824"/>
            <a:chExt cx="6570" cy="3722"/>
          </a:xfrm>
        </p:grpSpPr>
        <p:sp>
          <p:nvSpPr>
            <p:cNvPr id="103427" name="Rectangle 3"/>
            <p:cNvSpPr>
              <a:spLocks noChangeArrowheads="1"/>
            </p:cNvSpPr>
            <p:nvPr userDrawn="1"/>
          </p:nvSpPr>
          <p:spPr bwMode="hidden">
            <a:xfrm rot="20798144" flipV="1">
              <a:off x="-14" y="1033"/>
              <a:ext cx="1744" cy="8"/>
            </a:xfrm>
            <a:prstGeom prst="rect">
              <a:avLst/>
            </a:prstGeom>
            <a:solidFill>
              <a:srgbClr val="C0C0C0">
                <a:alpha val="44000"/>
              </a:srgbClr>
            </a:solidFill>
            <a:ln>
              <a:noFill/>
            </a:ln>
            <a:effectLst/>
            <a:extLst/>
          </p:spPr>
          <p:txBody>
            <a:bodyPr rot="10800000"/>
            <a:lstStyle/>
            <a:p>
              <a:pPr algn="ctr">
                <a:defRPr/>
              </a:pPr>
              <a:endParaRPr lang="zh-CN" altLang="en-US" sz="1800" b="0">
                <a:solidFill>
                  <a:schemeClr val="tx1"/>
                </a:solidFill>
                <a:effectLst>
                  <a:outerShdw blurRad="38100" dist="38100" dir="2700000" algn="tl">
                    <a:srgbClr val="000000"/>
                  </a:outerShdw>
                </a:effectLst>
                <a:latin typeface="Arial" charset="0"/>
                <a:ea typeface="宋体" charset="0"/>
              </a:endParaRPr>
            </a:p>
          </p:txBody>
        </p:sp>
        <p:sp>
          <p:nvSpPr>
            <p:cNvPr id="103428" name="Rectangle 4"/>
            <p:cNvSpPr>
              <a:spLocks noChangeArrowheads="1"/>
            </p:cNvSpPr>
            <p:nvPr userDrawn="1"/>
          </p:nvSpPr>
          <p:spPr bwMode="hidden">
            <a:xfrm rot="20774366" flipV="1">
              <a:off x="-24" y="1127"/>
              <a:ext cx="2033" cy="8"/>
            </a:xfrm>
            <a:prstGeom prst="rect">
              <a:avLst/>
            </a:prstGeom>
            <a:solidFill>
              <a:srgbClr val="C0C0C0">
                <a:alpha val="44000"/>
              </a:srgbClr>
            </a:solidFill>
            <a:ln>
              <a:noFill/>
            </a:ln>
            <a:effectLst/>
            <a:extLst/>
          </p:spPr>
          <p:txBody>
            <a:bodyPr rot="10800000"/>
            <a:lstStyle/>
            <a:p>
              <a:pPr algn="ctr">
                <a:defRPr/>
              </a:pPr>
              <a:endParaRPr lang="zh-CN" altLang="en-US" sz="1800" b="0">
                <a:solidFill>
                  <a:schemeClr val="tx1"/>
                </a:solidFill>
                <a:effectLst>
                  <a:outerShdw blurRad="38100" dist="38100" dir="2700000" algn="tl">
                    <a:srgbClr val="000000"/>
                  </a:outerShdw>
                </a:effectLst>
                <a:latin typeface="Arial" charset="0"/>
                <a:ea typeface="宋体" charset="0"/>
              </a:endParaRPr>
            </a:p>
          </p:txBody>
        </p:sp>
        <p:sp>
          <p:nvSpPr>
            <p:cNvPr id="103429" name="Rectangle 5"/>
            <p:cNvSpPr>
              <a:spLocks noChangeArrowheads="1"/>
            </p:cNvSpPr>
            <p:nvPr userDrawn="1"/>
          </p:nvSpPr>
          <p:spPr bwMode="hidden">
            <a:xfrm rot="20757421" flipV="1">
              <a:off x="-27" y="1198"/>
              <a:ext cx="2253" cy="7"/>
            </a:xfrm>
            <a:prstGeom prst="rect">
              <a:avLst/>
            </a:prstGeom>
            <a:solidFill>
              <a:srgbClr val="C0C0C0">
                <a:alpha val="44000"/>
              </a:srgbClr>
            </a:solidFill>
            <a:ln>
              <a:noFill/>
            </a:ln>
            <a:effectLst/>
            <a:extLst/>
          </p:spPr>
          <p:txBody>
            <a:bodyPr rot="10800000"/>
            <a:lstStyle/>
            <a:p>
              <a:pPr algn="ctr">
                <a:defRPr/>
              </a:pPr>
              <a:endParaRPr lang="zh-CN" altLang="en-US" sz="1800" b="0">
                <a:solidFill>
                  <a:schemeClr val="tx1"/>
                </a:solidFill>
                <a:effectLst>
                  <a:outerShdw blurRad="38100" dist="38100" dir="2700000" algn="tl">
                    <a:srgbClr val="000000"/>
                  </a:outerShdw>
                </a:effectLst>
                <a:latin typeface="Arial" charset="0"/>
                <a:ea typeface="宋体" charset="0"/>
              </a:endParaRPr>
            </a:p>
          </p:txBody>
        </p:sp>
        <p:sp>
          <p:nvSpPr>
            <p:cNvPr id="103430" name="Rectangle 6"/>
            <p:cNvSpPr>
              <a:spLocks noChangeArrowheads="1"/>
            </p:cNvSpPr>
            <p:nvPr userDrawn="1"/>
          </p:nvSpPr>
          <p:spPr bwMode="hidden">
            <a:xfrm rot="20684206" flipV="1">
              <a:off x="-43" y="1283"/>
              <a:ext cx="2476" cy="3"/>
            </a:xfrm>
            <a:prstGeom prst="rect">
              <a:avLst/>
            </a:prstGeom>
            <a:solidFill>
              <a:srgbClr val="C0C0C0">
                <a:alpha val="44000"/>
              </a:srgbClr>
            </a:solidFill>
            <a:ln>
              <a:noFill/>
            </a:ln>
            <a:effectLst/>
            <a:extLst/>
          </p:spPr>
          <p:txBody>
            <a:bodyPr rot="10800000"/>
            <a:lstStyle/>
            <a:p>
              <a:pPr algn="ctr">
                <a:defRPr/>
              </a:pPr>
              <a:endParaRPr lang="zh-CN" altLang="en-US" sz="1800" b="0">
                <a:solidFill>
                  <a:schemeClr val="tx1"/>
                </a:solidFill>
                <a:effectLst>
                  <a:outerShdw blurRad="38100" dist="38100" dir="2700000" algn="tl">
                    <a:srgbClr val="000000"/>
                  </a:outerShdw>
                </a:effectLst>
                <a:latin typeface="Arial" charset="0"/>
                <a:ea typeface="宋体" charset="0"/>
              </a:endParaRPr>
            </a:p>
          </p:txBody>
        </p:sp>
        <p:sp>
          <p:nvSpPr>
            <p:cNvPr id="103431" name="Rectangle 7"/>
            <p:cNvSpPr>
              <a:spLocks noChangeArrowheads="1"/>
            </p:cNvSpPr>
            <p:nvPr userDrawn="1"/>
          </p:nvSpPr>
          <p:spPr bwMode="hidden">
            <a:xfrm rot="20631226" flipV="1">
              <a:off x="-51" y="1397"/>
              <a:ext cx="2776" cy="7"/>
            </a:xfrm>
            <a:prstGeom prst="rect">
              <a:avLst/>
            </a:prstGeom>
            <a:solidFill>
              <a:srgbClr val="C0C0C0">
                <a:alpha val="44000"/>
              </a:srgbClr>
            </a:solidFill>
            <a:ln>
              <a:noFill/>
            </a:ln>
            <a:effectLst/>
            <a:extLst/>
          </p:spPr>
          <p:txBody>
            <a:bodyPr rot="10800000"/>
            <a:lstStyle/>
            <a:p>
              <a:pPr algn="ctr">
                <a:defRPr/>
              </a:pPr>
              <a:endParaRPr lang="zh-CN" altLang="en-US" sz="1800" b="0">
                <a:solidFill>
                  <a:schemeClr val="tx1"/>
                </a:solidFill>
                <a:effectLst>
                  <a:outerShdw blurRad="38100" dist="38100" dir="2700000" algn="tl">
                    <a:srgbClr val="000000"/>
                  </a:outerShdw>
                </a:effectLst>
                <a:latin typeface="Arial" charset="0"/>
                <a:ea typeface="宋体" charset="0"/>
              </a:endParaRPr>
            </a:p>
          </p:txBody>
        </p:sp>
        <p:sp>
          <p:nvSpPr>
            <p:cNvPr id="103432" name="Rectangle 8"/>
            <p:cNvSpPr>
              <a:spLocks noChangeArrowheads="1"/>
            </p:cNvSpPr>
            <p:nvPr userDrawn="1"/>
          </p:nvSpPr>
          <p:spPr bwMode="hidden">
            <a:xfrm rot="20554235" flipV="1">
              <a:off x="-65" y="1523"/>
              <a:ext cx="3058" cy="10"/>
            </a:xfrm>
            <a:prstGeom prst="rect">
              <a:avLst/>
            </a:prstGeom>
            <a:solidFill>
              <a:srgbClr val="C0C0C0">
                <a:alpha val="44000"/>
              </a:srgbClr>
            </a:solidFill>
            <a:ln>
              <a:noFill/>
            </a:ln>
            <a:effectLst/>
            <a:extLst/>
          </p:spPr>
          <p:txBody>
            <a:bodyPr rot="10800000"/>
            <a:lstStyle/>
            <a:p>
              <a:pPr algn="ctr">
                <a:defRPr/>
              </a:pPr>
              <a:endParaRPr lang="zh-CN" altLang="en-US" sz="1800" b="0">
                <a:solidFill>
                  <a:schemeClr val="tx1"/>
                </a:solidFill>
                <a:effectLst>
                  <a:outerShdw blurRad="38100" dist="38100" dir="2700000" algn="tl">
                    <a:srgbClr val="000000"/>
                  </a:outerShdw>
                </a:effectLst>
                <a:latin typeface="Arial" charset="0"/>
                <a:ea typeface="宋体" charset="0"/>
              </a:endParaRPr>
            </a:p>
          </p:txBody>
        </p:sp>
        <p:sp>
          <p:nvSpPr>
            <p:cNvPr id="103433" name="Rectangle 9"/>
            <p:cNvSpPr>
              <a:spLocks noChangeArrowheads="1"/>
            </p:cNvSpPr>
            <p:nvPr userDrawn="1"/>
          </p:nvSpPr>
          <p:spPr bwMode="hidden">
            <a:xfrm rot="20466593" flipV="1">
              <a:off x="-93" y="1694"/>
              <a:ext cx="3403" cy="1"/>
            </a:xfrm>
            <a:prstGeom prst="rect">
              <a:avLst/>
            </a:prstGeom>
            <a:solidFill>
              <a:srgbClr val="C0C0C0">
                <a:alpha val="44000"/>
              </a:srgbClr>
            </a:solidFill>
            <a:ln>
              <a:noFill/>
            </a:ln>
            <a:effectLst/>
            <a:extLst/>
          </p:spPr>
          <p:txBody>
            <a:bodyPr rot="10800000"/>
            <a:lstStyle/>
            <a:p>
              <a:pPr algn="ctr">
                <a:defRPr/>
              </a:pPr>
              <a:endParaRPr lang="zh-CN" altLang="en-US" sz="1800" b="0">
                <a:solidFill>
                  <a:schemeClr val="tx1"/>
                </a:solidFill>
                <a:effectLst>
                  <a:outerShdw blurRad="38100" dist="38100" dir="2700000" algn="tl">
                    <a:srgbClr val="000000"/>
                  </a:outerShdw>
                </a:effectLst>
                <a:latin typeface="Arial" charset="0"/>
                <a:ea typeface="宋体" charset="0"/>
              </a:endParaRPr>
            </a:p>
          </p:txBody>
        </p:sp>
        <p:sp>
          <p:nvSpPr>
            <p:cNvPr id="103434" name="Rectangle 10"/>
            <p:cNvSpPr>
              <a:spLocks noChangeArrowheads="1"/>
            </p:cNvSpPr>
            <p:nvPr userDrawn="1"/>
          </p:nvSpPr>
          <p:spPr bwMode="hidden">
            <a:xfrm rot="20343219" flipV="1">
              <a:off x="-99" y="1863"/>
              <a:ext cx="3749" cy="9"/>
            </a:xfrm>
            <a:prstGeom prst="rect">
              <a:avLst/>
            </a:prstGeom>
            <a:solidFill>
              <a:srgbClr val="C0C0C0">
                <a:alpha val="44000"/>
              </a:srgbClr>
            </a:solidFill>
            <a:ln>
              <a:noFill/>
            </a:ln>
            <a:effectLst/>
            <a:extLst/>
          </p:spPr>
          <p:txBody>
            <a:bodyPr rot="10800000"/>
            <a:lstStyle/>
            <a:p>
              <a:pPr algn="ctr">
                <a:defRPr/>
              </a:pPr>
              <a:endParaRPr lang="zh-CN" altLang="en-US" sz="1800" b="0">
                <a:solidFill>
                  <a:schemeClr val="tx1"/>
                </a:solidFill>
                <a:effectLst>
                  <a:outerShdw blurRad="38100" dist="38100" dir="2700000" algn="tl">
                    <a:srgbClr val="000000"/>
                  </a:outerShdw>
                </a:effectLst>
                <a:latin typeface="Arial" charset="0"/>
                <a:ea typeface="宋体" charset="0"/>
              </a:endParaRPr>
            </a:p>
          </p:txBody>
        </p:sp>
        <p:sp>
          <p:nvSpPr>
            <p:cNvPr id="103435" name="Rectangle 11"/>
            <p:cNvSpPr>
              <a:spLocks noChangeArrowheads="1"/>
            </p:cNvSpPr>
            <p:nvPr userDrawn="1"/>
          </p:nvSpPr>
          <p:spPr bwMode="hidden">
            <a:xfrm rot="20211065" flipV="1">
              <a:off x="-165" y="2053"/>
              <a:ext cx="4209" cy="5"/>
            </a:xfrm>
            <a:prstGeom prst="rect">
              <a:avLst/>
            </a:prstGeom>
            <a:solidFill>
              <a:srgbClr val="C0C0C0">
                <a:alpha val="44000"/>
              </a:srgbClr>
            </a:solidFill>
            <a:ln>
              <a:noFill/>
            </a:ln>
            <a:effectLst/>
            <a:extLst/>
          </p:spPr>
          <p:txBody>
            <a:bodyPr rot="10800000"/>
            <a:lstStyle/>
            <a:p>
              <a:pPr algn="ctr">
                <a:defRPr/>
              </a:pPr>
              <a:endParaRPr lang="zh-CN" altLang="en-US" sz="1800" b="0">
                <a:solidFill>
                  <a:schemeClr val="tx1"/>
                </a:solidFill>
                <a:effectLst>
                  <a:outerShdw blurRad="38100" dist="38100" dir="2700000" algn="tl">
                    <a:srgbClr val="000000"/>
                  </a:outerShdw>
                </a:effectLst>
                <a:latin typeface="Arial" charset="0"/>
                <a:ea typeface="宋体" charset="0"/>
              </a:endParaRPr>
            </a:p>
          </p:txBody>
        </p:sp>
        <p:sp>
          <p:nvSpPr>
            <p:cNvPr id="103436" name="Rectangle 12"/>
            <p:cNvSpPr>
              <a:spLocks noChangeArrowheads="1"/>
            </p:cNvSpPr>
            <p:nvPr userDrawn="1"/>
          </p:nvSpPr>
          <p:spPr bwMode="hidden">
            <a:xfrm rot="20102912" flipV="1">
              <a:off x="-214" y="2289"/>
              <a:ext cx="4612" cy="3"/>
            </a:xfrm>
            <a:prstGeom prst="rect">
              <a:avLst/>
            </a:prstGeom>
            <a:solidFill>
              <a:srgbClr val="C0C0C0">
                <a:alpha val="44000"/>
              </a:srgbClr>
            </a:solidFill>
            <a:ln>
              <a:noFill/>
            </a:ln>
            <a:effectLst/>
            <a:extLst/>
          </p:spPr>
          <p:txBody>
            <a:bodyPr rot="10800000"/>
            <a:lstStyle/>
            <a:p>
              <a:pPr algn="ctr">
                <a:defRPr/>
              </a:pPr>
              <a:endParaRPr lang="zh-CN" altLang="en-US" sz="1800" b="0">
                <a:solidFill>
                  <a:schemeClr val="tx1"/>
                </a:solidFill>
                <a:effectLst>
                  <a:outerShdw blurRad="38100" dist="38100" dir="2700000" algn="tl">
                    <a:srgbClr val="000000"/>
                  </a:outerShdw>
                </a:effectLst>
                <a:latin typeface="Arial" charset="0"/>
                <a:ea typeface="宋体" charset="0"/>
              </a:endParaRPr>
            </a:p>
          </p:txBody>
        </p:sp>
        <p:sp>
          <p:nvSpPr>
            <p:cNvPr id="103437" name="Rectangle 13"/>
            <p:cNvSpPr>
              <a:spLocks noChangeArrowheads="1"/>
            </p:cNvSpPr>
            <p:nvPr userDrawn="1"/>
          </p:nvSpPr>
          <p:spPr bwMode="hidden">
            <a:xfrm rot="19923405" flipV="1">
              <a:off x="-313" y="2617"/>
              <a:ext cx="5200" cy="3"/>
            </a:xfrm>
            <a:prstGeom prst="rect">
              <a:avLst/>
            </a:prstGeom>
            <a:solidFill>
              <a:srgbClr val="C0C0C0">
                <a:alpha val="44000"/>
              </a:srgbClr>
            </a:solidFill>
            <a:ln>
              <a:noFill/>
            </a:ln>
            <a:effectLst/>
            <a:extLst/>
          </p:spPr>
          <p:txBody>
            <a:bodyPr rot="10800000"/>
            <a:lstStyle/>
            <a:p>
              <a:pPr algn="ctr">
                <a:defRPr/>
              </a:pPr>
              <a:endParaRPr lang="zh-CN" altLang="en-US" sz="1800" b="0">
                <a:solidFill>
                  <a:schemeClr val="tx1"/>
                </a:solidFill>
                <a:effectLst>
                  <a:outerShdw blurRad="38100" dist="38100" dir="2700000" algn="tl">
                    <a:srgbClr val="000000"/>
                  </a:outerShdw>
                </a:effectLst>
                <a:latin typeface="Arial" charset="0"/>
                <a:ea typeface="宋体" charset="0"/>
              </a:endParaRPr>
            </a:p>
          </p:txBody>
        </p:sp>
        <p:sp>
          <p:nvSpPr>
            <p:cNvPr id="103438" name="Rectangle 14"/>
            <p:cNvSpPr>
              <a:spLocks noChangeArrowheads="1"/>
            </p:cNvSpPr>
            <p:nvPr userDrawn="1"/>
          </p:nvSpPr>
          <p:spPr bwMode="hidden">
            <a:xfrm rot="19686284" flipV="1">
              <a:off x="9" y="2881"/>
              <a:ext cx="5401" cy="9"/>
            </a:xfrm>
            <a:prstGeom prst="rect">
              <a:avLst/>
            </a:prstGeom>
            <a:solidFill>
              <a:srgbClr val="C0C0C0">
                <a:alpha val="44000"/>
              </a:srgbClr>
            </a:solidFill>
            <a:ln>
              <a:noFill/>
            </a:ln>
            <a:effectLst/>
            <a:extLst/>
          </p:spPr>
          <p:txBody>
            <a:bodyPr rot="10800000"/>
            <a:lstStyle/>
            <a:p>
              <a:pPr algn="ctr">
                <a:defRPr/>
              </a:pPr>
              <a:endParaRPr lang="zh-CN" altLang="en-US" sz="1800" b="0">
                <a:solidFill>
                  <a:schemeClr val="tx1"/>
                </a:solidFill>
                <a:effectLst>
                  <a:outerShdw blurRad="38100" dist="38100" dir="2700000" algn="tl">
                    <a:srgbClr val="000000"/>
                  </a:outerShdw>
                </a:effectLst>
                <a:latin typeface="Arial" charset="0"/>
                <a:ea typeface="宋体" charset="0"/>
              </a:endParaRPr>
            </a:p>
          </p:txBody>
        </p:sp>
        <p:sp>
          <p:nvSpPr>
            <p:cNvPr id="103439" name="Rectangle 15"/>
            <p:cNvSpPr>
              <a:spLocks noChangeArrowheads="1"/>
            </p:cNvSpPr>
            <p:nvPr userDrawn="1"/>
          </p:nvSpPr>
          <p:spPr bwMode="hidden">
            <a:xfrm rot="19383534" flipV="1">
              <a:off x="1319" y="2928"/>
              <a:ext cx="4612" cy="9"/>
            </a:xfrm>
            <a:prstGeom prst="rect">
              <a:avLst/>
            </a:prstGeom>
            <a:solidFill>
              <a:srgbClr val="C0C0C0">
                <a:alpha val="44000"/>
              </a:srgbClr>
            </a:solidFill>
            <a:ln>
              <a:noFill/>
            </a:ln>
            <a:effectLst/>
            <a:extLst/>
          </p:spPr>
          <p:txBody>
            <a:bodyPr rot="10800000"/>
            <a:lstStyle/>
            <a:p>
              <a:pPr algn="ctr">
                <a:defRPr/>
              </a:pPr>
              <a:endParaRPr lang="zh-CN" altLang="en-US" sz="1800" b="0">
                <a:solidFill>
                  <a:schemeClr val="tx1"/>
                </a:solidFill>
                <a:effectLst>
                  <a:outerShdw blurRad="38100" dist="38100" dir="2700000" algn="tl">
                    <a:srgbClr val="000000"/>
                  </a:outerShdw>
                </a:effectLst>
                <a:latin typeface="Arial" charset="0"/>
                <a:ea typeface="宋体" charset="0"/>
              </a:endParaRPr>
            </a:p>
          </p:txBody>
        </p:sp>
        <p:sp>
          <p:nvSpPr>
            <p:cNvPr id="103440" name="Rectangle 16"/>
            <p:cNvSpPr>
              <a:spLocks noChangeArrowheads="1"/>
            </p:cNvSpPr>
            <p:nvPr userDrawn="1"/>
          </p:nvSpPr>
          <p:spPr bwMode="hidden">
            <a:xfrm rot="18994182" flipV="1">
              <a:off x="2681" y="3071"/>
              <a:ext cx="3576" cy="7"/>
            </a:xfrm>
            <a:prstGeom prst="rect">
              <a:avLst/>
            </a:prstGeom>
            <a:solidFill>
              <a:srgbClr val="C0C0C0">
                <a:alpha val="44000"/>
              </a:srgbClr>
            </a:solidFill>
            <a:ln>
              <a:noFill/>
            </a:ln>
            <a:effectLst/>
            <a:extLst/>
          </p:spPr>
          <p:txBody>
            <a:bodyPr rot="10800000"/>
            <a:lstStyle/>
            <a:p>
              <a:pPr algn="ctr">
                <a:defRPr/>
              </a:pPr>
              <a:endParaRPr lang="zh-CN" altLang="en-US" sz="1800" b="0">
                <a:solidFill>
                  <a:schemeClr val="tx1"/>
                </a:solidFill>
                <a:effectLst>
                  <a:outerShdw blurRad="38100" dist="38100" dir="2700000" algn="tl">
                    <a:srgbClr val="000000"/>
                  </a:outerShdw>
                </a:effectLst>
                <a:latin typeface="Arial" charset="0"/>
                <a:ea typeface="宋体" charset="0"/>
              </a:endParaRPr>
            </a:p>
          </p:txBody>
        </p:sp>
        <p:sp>
          <p:nvSpPr>
            <p:cNvPr id="103441" name="Rectangle 17"/>
            <p:cNvSpPr>
              <a:spLocks noChangeArrowheads="1"/>
            </p:cNvSpPr>
            <p:nvPr userDrawn="1"/>
          </p:nvSpPr>
          <p:spPr bwMode="hidden">
            <a:xfrm rot="18603245" flipV="1">
              <a:off x="4059" y="3504"/>
              <a:ext cx="2079" cy="6"/>
            </a:xfrm>
            <a:prstGeom prst="rect">
              <a:avLst/>
            </a:prstGeom>
            <a:solidFill>
              <a:srgbClr val="C0C0C0">
                <a:alpha val="44000"/>
              </a:srgbClr>
            </a:solidFill>
            <a:ln>
              <a:noFill/>
            </a:ln>
            <a:effectLst/>
            <a:extLst/>
          </p:spPr>
          <p:txBody>
            <a:bodyPr rot="10800000" vert="eaVert"/>
            <a:lstStyle/>
            <a:p>
              <a:pPr algn="ctr">
                <a:defRPr/>
              </a:pPr>
              <a:endParaRPr lang="zh-CN" altLang="en-US" sz="1800" b="0">
                <a:solidFill>
                  <a:schemeClr val="tx1"/>
                </a:solidFill>
                <a:effectLst>
                  <a:outerShdw blurRad="38100" dist="38100" dir="2700000" algn="tl">
                    <a:srgbClr val="000000"/>
                  </a:outerShdw>
                </a:effectLst>
                <a:latin typeface="Arial" charset="0"/>
                <a:ea typeface="宋体" charset="0"/>
              </a:endParaRPr>
            </a:p>
          </p:txBody>
        </p:sp>
        <p:sp>
          <p:nvSpPr>
            <p:cNvPr id="103442" name="Rectangle 18"/>
            <p:cNvSpPr>
              <a:spLocks noChangeArrowheads="1"/>
            </p:cNvSpPr>
            <p:nvPr userDrawn="1"/>
          </p:nvSpPr>
          <p:spPr bwMode="hidden">
            <a:xfrm rot="39991575" flipH="1" flipV="1">
              <a:off x="5371" y="4167"/>
              <a:ext cx="501" cy="5"/>
            </a:xfrm>
            <a:prstGeom prst="rect">
              <a:avLst/>
            </a:prstGeom>
            <a:solidFill>
              <a:srgbClr val="C0C0C0">
                <a:alpha val="44000"/>
              </a:srgbClr>
            </a:solidFill>
            <a:ln>
              <a:noFill/>
            </a:ln>
            <a:effectLst/>
            <a:extLst/>
          </p:spPr>
          <p:txBody>
            <a:bodyPr rot="10800000" vert="eaVert"/>
            <a:lstStyle/>
            <a:p>
              <a:pPr algn="ctr">
                <a:defRPr/>
              </a:pPr>
              <a:endParaRPr lang="zh-CN" altLang="en-US" sz="1800" b="0">
                <a:solidFill>
                  <a:schemeClr val="tx1"/>
                </a:solidFill>
                <a:effectLst>
                  <a:outerShdw blurRad="38100" dist="38100" dir="2700000" algn="tl">
                    <a:srgbClr val="000000"/>
                  </a:outerShdw>
                </a:effectLst>
                <a:latin typeface="Arial" charset="0"/>
                <a:ea typeface="宋体" charset="0"/>
              </a:endParaRPr>
            </a:p>
          </p:txBody>
        </p:sp>
        <p:sp>
          <p:nvSpPr>
            <p:cNvPr id="103443" name="Rectangle 19"/>
            <p:cNvSpPr>
              <a:spLocks noChangeArrowheads="1"/>
            </p:cNvSpPr>
            <p:nvPr userDrawn="1"/>
          </p:nvSpPr>
          <p:spPr bwMode="hidden">
            <a:xfrm rot="-20541361">
              <a:off x="-146" y="2360"/>
              <a:ext cx="6046" cy="3"/>
            </a:xfrm>
            <a:prstGeom prst="rect">
              <a:avLst/>
            </a:prstGeom>
            <a:solidFill>
              <a:srgbClr val="C0C0C0">
                <a:alpha val="44000"/>
              </a:srgbClr>
            </a:solidFill>
            <a:ln>
              <a:noFill/>
            </a:ln>
            <a:effectLst/>
            <a:extLst/>
          </p:spPr>
          <p:txBody>
            <a:bodyPr/>
            <a:lstStyle/>
            <a:p>
              <a:pPr algn="ctr">
                <a:defRPr/>
              </a:pPr>
              <a:endParaRPr lang="zh-CN" altLang="en-US" sz="1800" b="0">
                <a:solidFill>
                  <a:schemeClr val="tx1"/>
                </a:solidFill>
                <a:effectLst>
                  <a:outerShdw blurRad="38100" dist="38100" dir="2700000" algn="tl">
                    <a:srgbClr val="000000"/>
                  </a:outerShdw>
                </a:effectLst>
                <a:latin typeface="Arial" charset="0"/>
                <a:ea typeface="宋体" charset="0"/>
              </a:endParaRPr>
            </a:p>
          </p:txBody>
        </p:sp>
        <p:sp>
          <p:nvSpPr>
            <p:cNvPr id="103444" name="Rectangle 20"/>
            <p:cNvSpPr>
              <a:spLocks noChangeArrowheads="1"/>
            </p:cNvSpPr>
            <p:nvPr userDrawn="1"/>
          </p:nvSpPr>
          <p:spPr bwMode="hidden">
            <a:xfrm rot="-20036206">
              <a:off x="-198" y="3396"/>
              <a:ext cx="4142" cy="9"/>
            </a:xfrm>
            <a:prstGeom prst="rect">
              <a:avLst/>
            </a:prstGeom>
            <a:solidFill>
              <a:srgbClr val="C0C0C0">
                <a:alpha val="44000"/>
              </a:srgbClr>
            </a:solidFill>
            <a:ln>
              <a:noFill/>
            </a:ln>
            <a:effectLst/>
            <a:extLst/>
          </p:spPr>
          <p:txBody>
            <a:bodyPr/>
            <a:lstStyle/>
            <a:p>
              <a:pPr algn="ctr">
                <a:defRPr/>
              </a:pPr>
              <a:endParaRPr lang="zh-CN" altLang="en-US" sz="1800" b="0">
                <a:solidFill>
                  <a:schemeClr val="tx1"/>
                </a:solidFill>
                <a:effectLst>
                  <a:outerShdw blurRad="38100" dist="38100" dir="2700000" algn="tl">
                    <a:srgbClr val="000000"/>
                  </a:outerShdw>
                </a:effectLst>
                <a:latin typeface="Arial" charset="0"/>
                <a:ea typeface="宋体" charset="0"/>
              </a:endParaRPr>
            </a:p>
          </p:txBody>
        </p:sp>
        <p:sp>
          <p:nvSpPr>
            <p:cNvPr id="103445" name="Rectangle 21"/>
            <p:cNvSpPr>
              <a:spLocks noChangeArrowheads="1"/>
            </p:cNvSpPr>
            <p:nvPr userDrawn="1"/>
          </p:nvSpPr>
          <p:spPr bwMode="hidden">
            <a:xfrm rot="1732981">
              <a:off x="-165" y="3624"/>
              <a:ext cx="2804" cy="3"/>
            </a:xfrm>
            <a:prstGeom prst="rect">
              <a:avLst/>
            </a:prstGeom>
            <a:solidFill>
              <a:srgbClr val="C0C0C0">
                <a:alpha val="44000"/>
              </a:srgbClr>
            </a:solidFill>
            <a:ln>
              <a:noFill/>
            </a:ln>
            <a:effectLst/>
            <a:extLst/>
          </p:spPr>
          <p:txBody>
            <a:bodyPr/>
            <a:lstStyle/>
            <a:p>
              <a:pPr algn="ctr">
                <a:defRPr/>
              </a:pPr>
              <a:endParaRPr lang="zh-CN" altLang="en-US" sz="1800" b="0">
                <a:solidFill>
                  <a:schemeClr val="tx1"/>
                </a:solidFill>
                <a:effectLst>
                  <a:outerShdw blurRad="38100" dist="38100" dir="2700000" algn="tl">
                    <a:srgbClr val="000000"/>
                  </a:outerShdw>
                </a:effectLst>
                <a:latin typeface="Arial" charset="0"/>
                <a:ea typeface="宋体" charset="0"/>
              </a:endParaRPr>
            </a:p>
          </p:txBody>
        </p:sp>
        <p:sp>
          <p:nvSpPr>
            <p:cNvPr id="103446" name="Rectangle 22"/>
            <p:cNvSpPr>
              <a:spLocks noChangeArrowheads="1"/>
            </p:cNvSpPr>
            <p:nvPr userDrawn="1"/>
          </p:nvSpPr>
          <p:spPr bwMode="hidden">
            <a:xfrm rot="1969083">
              <a:off x="-110" y="3922"/>
              <a:ext cx="1396" cy="10"/>
            </a:xfrm>
            <a:prstGeom prst="rect">
              <a:avLst/>
            </a:prstGeom>
            <a:solidFill>
              <a:srgbClr val="C0C0C0">
                <a:alpha val="44000"/>
              </a:srgbClr>
            </a:solidFill>
            <a:ln>
              <a:noFill/>
            </a:ln>
            <a:effectLst/>
            <a:extLst/>
          </p:spPr>
          <p:txBody>
            <a:bodyPr/>
            <a:lstStyle/>
            <a:p>
              <a:pPr algn="ctr">
                <a:defRPr/>
              </a:pPr>
              <a:endParaRPr lang="zh-CN" altLang="en-US" sz="1800" b="0">
                <a:solidFill>
                  <a:schemeClr val="tx1"/>
                </a:solidFill>
                <a:effectLst>
                  <a:outerShdw blurRad="38100" dist="38100" dir="2700000" algn="tl">
                    <a:srgbClr val="000000"/>
                  </a:outerShdw>
                </a:effectLst>
                <a:latin typeface="Arial" charset="0"/>
                <a:ea typeface="宋体" charset="0"/>
              </a:endParaRPr>
            </a:p>
          </p:txBody>
        </p:sp>
        <p:sp>
          <p:nvSpPr>
            <p:cNvPr id="103447" name="Rectangle 23"/>
            <p:cNvSpPr>
              <a:spLocks noChangeArrowheads="1"/>
            </p:cNvSpPr>
            <p:nvPr userDrawn="1"/>
          </p:nvSpPr>
          <p:spPr bwMode="hidden">
            <a:xfrm rot="-20213826">
              <a:off x="-216" y="3221"/>
              <a:ext cx="5477" cy="9"/>
            </a:xfrm>
            <a:prstGeom prst="rect">
              <a:avLst/>
            </a:prstGeom>
            <a:solidFill>
              <a:srgbClr val="C0C0C0">
                <a:alpha val="27000"/>
              </a:srgbClr>
            </a:solidFill>
            <a:ln>
              <a:noFill/>
            </a:ln>
            <a:effectLst/>
            <a:extLst/>
          </p:spPr>
          <p:txBody>
            <a:bodyPr/>
            <a:lstStyle/>
            <a:p>
              <a:pPr algn="ctr">
                <a:defRPr/>
              </a:pPr>
              <a:endParaRPr lang="zh-CN" altLang="en-US" sz="1800" b="0">
                <a:solidFill>
                  <a:schemeClr val="tx1"/>
                </a:solidFill>
                <a:effectLst>
                  <a:outerShdw blurRad="38100" dist="38100" dir="2700000" algn="tl">
                    <a:srgbClr val="000000"/>
                  </a:outerShdw>
                </a:effectLst>
                <a:latin typeface="Arial" charset="0"/>
                <a:ea typeface="宋体" charset="0"/>
              </a:endParaRPr>
            </a:p>
          </p:txBody>
        </p:sp>
        <p:sp>
          <p:nvSpPr>
            <p:cNvPr id="103448" name="Rectangle 24"/>
            <p:cNvSpPr>
              <a:spLocks noChangeArrowheads="1"/>
            </p:cNvSpPr>
            <p:nvPr userDrawn="1"/>
          </p:nvSpPr>
          <p:spPr bwMode="hidden">
            <a:xfrm rot="22583969">
              <a:off x="-115" y="2130"/>
              <a:ext cx="6016" cy="5"/>
            </a:xfrm>
            <a:prstGeom prst="rect">
              <a:avLst/>
            </a:prstGeom>
            <a:solidFill>
              <a:srgbClr val="C0C0C0">
                <a:alpha val="44000"/>
              </a:srgbClr>
            </a:solidFill>
            <a:ln>
              <a:noFill/>
            </a:ln>
            <a:effectLst/>
            <a:extLst/>
          </p:spPr>
          <p:txBody>
            <a:bodyPr/>
            <a:lstStyle/>
            <a:p>
              <a:pPr algn="ctr">
                <a:defRPr/>
              </a:pPr>
              <a:endParaRPr lang="zh-CN" altLang="en-US" sz="1800" b="0">
                <a:solidFill>
                  <a:schemeClr val="tx1"/>
                </a:solidFill>
                <a:effectLst>
                  <a:outerShdw blurRad="38100" dist="38100" dir="2700000" algn="tl">
                    <a:srgbClr val="000000"/>
                  </a:outerShdw>
                </a:effectLst>
                <a:latin typeface="Arial" charset="0"/>
                <a:ea typeface="宋体" charset="0"/>
              </a:endParaRPr>
            </a:p>
          </p:txBody>
        </p:sp>
        <p:sp>
          <p:nvSpPr>
            <p:cNvPr id="103449" name="Rectangle 25"/>
            <p:cNvSpPr>
              <a:spLocks noChangeArrowheads="1"/>
            </p:cNvSpPr>
            <p:nvPr userDrawn="1"/>
          </p:nvSpPr>
          <p:spPr bwMode="hidden">
            <a:xfrm rot="930109" flipV="1">
              <a:off x="80" y="1946"/>
              <a:ext cx="5756" cy="8"/>
            </a:xfrm>
            <a:prstGeom prst="rect">
              <a:avLst/>
            </a:prstGeom>
            <a:solidFill>
              <a:srgbClr val="C0C0C0">
                <a:alpha val="44000"/>
              </a:srgbClr>
            </a:solidFill>
            <a:ln>
              <a:noFill/>
            </a:ln>
            <a:effectLst/>
            <a:extLst/>
          </p:spPr>
          <p:txBody>
            <a:bodyPr rot="10800000"/>
            <a:lstStyle/>
            <a:p>
              <a:pPr algn="ctr">
                <a:defRPr/>
              </a:pPr>
              <a:endParaRPr lang="zh-CN" altLang="en-US" sz="1800" b="0">
                <a:solidFill>
                  <a:schemeClr val="tx1"/>
                </a:solidFill>
                <a:effectLst>
                  <a:outerShdw blurRad="38100" dist="38100" dir="2700000" algn="tl">
                    <a:srgbClr val="000000"/>
                  </a:outerShdw>
                </a:effectLst>
                <a:latin typeface="Arial" charset="0"/>
                <a:ea typeface="宋体" charset="0"/>
              </a:endParaRPr>
            </a:p>
          </p:txBody>
        </p:sp>
        <p:sp>
          <p:nvSpPr>
            <p:cNvPr id="103450" name="Rectangle 26"/>
            <p:cNvSpPr>
              <a:spLocks noChangeArrowheads="1"/>
            </p:cNvSpPr>
            <p:nvPr userDrawn="1"/>
          </p:nvSpPr>
          <p:spPr bwMode="hidden">
            <a:xfrm rot="-20731987">
              <a:off x="374" y="1802"/>
              <a:ext cx="5475" cy="12"/>
            </a:xfrm>
            <a:prstGeom prst="rect">
              <a:avLst/>
            </a:prstGeom>
            <a:solidFill>
              <a:srgbClr val="C0C0C0">
                <a:alpha val="44000"/>
              </a:srgbClr>
            </a:solidFill>
            <a:ln>
              <a:noFill/>
            </a:ln>
            <a:effectLst/>
            <a:extLst/>
          </p:spPr>
          <p:txBody>
            <a:bodyPr/>
            <a:lstStyle/>
            <a:p>
              <a:pPr algn="ctr">
                <a:defRPr/>
              </a:pPr>
              <a:endParaRPr lang="zh-CN" altLang="en-US" sz="1800" b="0">
                <a:solidFill>
                  <a:schemeClr val="tx1"/>
                </a:solidFill>
                <a:effectLst>
                  <a:outerShdw blurRad="38100" dist="38100" dir="2700000" algn="tl">
                    <a:srgbClr val="000000"/>
                  </a:outerShdw>
                </a:effectLst>
                <a:latin typeface="Arial" charset="0"/>
                <a:ea typeface="宋体" charset="0"/>
              </a:endParaRPr>
            </a:p>
          </p:txBody>
        </p:sp>
        <p:sp>
          <p:nvSpPr>
            <p:cNvPr id="103451" name="Rectangle 27"/>
            <p:cNvSpPr>
              <a:spLocks noChangeArrowheads="1"/>
            </p:cNvSpPr>
            <p:nvPr userDrawn="1"/>
          </p:nvSpPr>
          <p:spPr bwMode="hidden">
            <a:xfrm rot="-64024402">
              <a:off x="848" y="1582"/>
              <a:ext cx="4976" cy="9"/>
            </a:xfrm>
            <a:prstGeom prst="rect">
              <a:avLst/>
            </a:prstGeom>
            <a:solidFill>
              <a:srgbClr val="C0C0C0">
                <a:alpha val="44000"/>
              </a:srgbClr>
            </a:solidFill>
            <a:ln>
              <a:noFill/>
            </a:ln>
            <a:effectLst/>
            <a:extLst/>
          </p:spPr>
          <p:txBody>
            <a:bodyPr/>
            <a:lstStyle/>
            <a:p>
              <a:pPr algn="ctr">
                <a:defRPr/>
              </a:pPr>
              <a:endParaRPr lang="zh-CN" altLang="en-US" sz="1800" b="0">
                <a:solidFill>
                  <a:schemeClr val="tx1"/>
                </a:solidFill>
                <a:effectLst>
                  <a:outerShdw blurRad="38100" dist="38100" dir="2700000" algn="tl">
                    <a:srgbClr val="000000"/>
                  </a:outerShdw>
                </a:effectLst>
                <a:latin typeface="Arial" charset="0"/>
                <a:ea typeface="宋体" charset="0"/>
              </a:endParaRPr>
            </a:p>
          </p:txBody>
        </p:sp>
        <p:sp>
          <p:nvSpPr>
            <p:cNvPr id="103452" name="Rectangle 28"/>
            <p:cNvSpPr>
              <a:spLocks noChangeArrowheads="1"/>
            </p:cNvSpPr>
            <p:nvPr userDrawn="1"/>
          </p:nvSpPr>
          <p:spPr bwMode="hidden">
            <a:xfrm rot="-42464612">
              <a:off x="1053" y="1476"/>
              <a:ext cx="4759" cy="10"/>
            </a:xfrm>
            <a:prstGeom prst="rect">
              <a:avLst/>
            </a:prstGeom>
            <a:solidFill>
              <a:srgbClr val="C0C0C0">
                <a:alpha val="44000"/>
              </a:srgbClr>
            </a:solidFill>
            <a:ln>
              <a:noFill/>
            </a:ln>
            <a:effectLst/>
            <a:extLst/>
          </p:spPr>
          <p:txBody>
            <a:bodyPr/>
            <a:lstStyle/>
            <a:p>
              <a:pPr algn="ctr">
                <a:defRPr/>
              </a:pPr>
              <a:endParaRPr lang="zh-CN" altLang="en-US" sz="1800" b="0">
                <a:solidFill>
                  <a:schemeClr val="tx1"/>
                </a:solidFill>
                <a:effectLst>
                  <a:outerShdw blurRad="38100" dist="38100" dir="2700000" algn="tl">
                    <a:srgbClr val="000000"/>
                  </a:outerShdw>
                </a:effectLst>
                <a:latin typeface="Arial" charset="0"/>
                <a:ea typeface="宋体" charset="0"/>
              </a:endParaRPr>
            </a:p>
          </p:txBody>
        </p:sp>
        <p:sp>
          <p:nvSpPr>
            <p:cNvPr id="103453" name="Rectangle 29"/>
            <p:cNvSpPr>
              <a:spLocks noChangeArrowheads="1"/>
            </p:cNvSpPr>
            <p:nvPr userDrawn="1"/>
          </p:nvSpPr>
          <p:spPr bwMode="hidden">
            <a:xfrm rot="-20907336">
              <a:off x="1244" y="1377"/>
              <a:ext cx="4557" cy="2"/>
            </a:xfrm>
            <a:prstGeom prst="rect">
              <a:avLst/>
            </a:prstGeom>
            <a:solidFill>
              <a:srgbClr val="C0C0C0">
                <a:alpha val="44000"/>
              </a:srgbClr>
            </a:solidFill>
            <a:ln>
              <a:noFill/>
            </a:ln>
            <a:effectLst/>
            <a:extLst/>
          </p:spPr>
          <p:txBody>
            <a:bodyPr/>
            <a:lstStyle/>
            <a:p>
              <a:pPr algn="ctr">
                <a:defRPr/>
              </a:pPr>
              <a:endParaRPr lang="zh-CN" altLang="en-US" sz="1800" b="0">
                <a:solidFill>
                  <a:schemeClr val="tx1"/>
                </a:solidFill>
                <a:effectLst>
                  <a:outerShdw blurRad="38100" dist="38100" dir="2700000" algn="tl">
                    <a:srgbClr val="000000"/>
                  </a:outerShdw>
                </a:effectLst>
                <a:latin typeface="Arial" charset="0"/>
                <a:ea typeface="宋体" charset="0"/>
              </a:endParaRPr>
            </a:p>
          </p:txBody>
        </p:sp>
        <p:sp>
          <p:nvSpPr>
            <p:cNvPr id="103454" name="Rectangle 30"/>
            <p:cNvSpPr>
              <a:spLocks noChangeArrowheads="1"/>
            </p:cNvSpPr>
            <p:nvPr userDrawn="1"/>
          </p:nvSpPr>
          <p:spPr bwMode="hidden">
            <a:xfrm rot="655690" flipV="1">
              <a:off x="1487" y="1305"/>
              <a:ext cx="4314" cy="4"/>
            </a:xfrm>
            <a:prstGeom prst="rect">
              <a:avLst/>
            </a:prstGeom>
            <a:solidFill>
              <a:srgbClr val="C0C0C0">
                <a:alpha val="44000"/>
              </a:srgbClr>
            </a:solidFill>
            <a:ln>
              <a:noFill/>
            </a:ln>
            <a:effectLst/>
            <a:extLst/>
          </p:spPr>
          <p:txBody>
            <a:bodyPr rot="10800000"/>
            <a:lstStyle/>
            <a:p>
              <a:pPr algn="ctr">
                <a:defRPr/>
              </a:pPr>
              <a:endParaRPr lang="zh-CN" altLang="en-US" sz="1800" b="0">
                <a:solidFill>
                  <a:schemeClr val="tx1"/>
                </a:solidFill>
                <a:effectLst>
                  <a:outerShdw blurRad="38100" dist="38100" dir="2700000" algn="tl">
                    <a:srgbClr val="000000"/>
                  </a:outerShdw>
                </a:effectLst>
                <a:latin typeface="Arial" charset="0"/>
                <a:ea typeface="宋体" charset="0"/>
              </a:endParaRPr>
            </a:p>
          </p:txBody>
        </p:sp>
        <p:sp>
          <p:nvSpPr>
            <p:cNvPr id="103455" name="Rectangle 31"/>
            <p:cNvSpPr>
              <a:spLocks noChangeArrowheads="1"/>
            </p:cNvSpPr>
            <p:nvPr userDrawn="1"/>
          </p:nvSpPr>
          <p:spPr bwMode="hidden">
            <a:xfrm rot="636921" flipV="1">
              <a:off x="1650" y="1218"/>
              <a:ext cx="4154" cy="10"/>
            </a:xfrm>
            <a:prstGeom prst="rect">
              <a:avLst/>
            </a:prstGeom>
            <a:solidFill>
              <a:srgbClr val="C0C0C0">
                <a:alpha val="44000"/>
              </a:srgbClr>
            </a:solidFill>
            <a:ln>
              <a:noFill/>
            </a:ln>
            <a:effectLst/>
            <a:extLst/>
          </p:spPr>
          <p:txBody>
            <a:bodyPr rot="10800000"/>
            <a:lstStyle/>
            <a:p>
              <a:pPr algn="ctr">
                <a:defRPr/>
              </a:pPr>
              <a:endParaRPr lang="zh-CN" altLang="en-US" sz="1800" b="0">
                <a:solidFill>
                  <a:schemeClr val="tx1"/>
                </a:solidFill>
                <a:effectLst>
                  <a:outerShdw blurRad="38100" dist="38100" dir="2700000" algn="tl">
                    <a:srgbClr val="000000"/>
                  </a:outerShdw>
                </a:effectLst>
                <a:latin typeface="Arial" charset="0"/>
                <a:ea typeface="宋体" charset="0"/>
              </a:endParaRPr>
            </a:p>
          </p:txBody>
        </p:sp>
        <p:sp>
          <p:nvSpPr>
            <p:cNvPr id="103456" name="Rectangle 32"/>
            <p:cNvSpPr>
              <a:spLocks noChangeArrowheads="1"/>
            </p:cNvSpPr>
            <p:nvPr userDrawn="1"/>
          </p:nvSpPr>
          <p:spPr bwMode="hidden">
            <a:xfrm rot="803987" flipV="1">
              <a:off x="611" y="1685"/>
              <a:ext cx="5204" cy="5"/>
            </a:xfrm>
            <a:prstGeom prst="rect">
              <a:avLst/>
            </a:prstGeom>
            <a:solidFill>
              <a:srgbClr val="C0C0C0">
                <a:alpha val="44000"/>
              </a:srgbClr>
            </a:solidFill>
            <a:ln>
              <a:noFill/>
            </a:ln>
            <a:effectLst/>
            <a:extLst/>
          </p:spPr>
          <p:txBody>
            <a:bodyPr rot="10800000"/>
            <a:lstStyle/>
            <a:p>
              <a:pPr algn="ctr">
                <a:defRPr/>
              </a:pPr>
              <a:endParaRPr lang="zh-CN" altLang="en-US" sz="1800" b="0">
                <a:solidFill>
                  <a:schemeClr val="tx1"/>
                </a:solidFill>
                <a:effectLst>
                  <a:outerShdw blurRad="38100" dist="38100" dir="2700000" algn="tl">
                    <a:srgbClr val="000000"/>
                  </a:outerShdw>
                </a:effectLst>
                <a:latin typeface="Arial" charset="0"/>
                <a:ea typeface="宋体" charset="0"/>
              </a:endParaRPr>
            </a:p>
          </p:txBody>
        </p:sp>
        <p:sp>
          <p:nvSpPr>
            <p:cNvPr id="103457" name="Rectangle 33"/>
            <p:cNvSpPr>
              <a:spLocks noChangeArrowheads="1"/>
            </p:cNvSpPr>
            <p:nvPr userDrawn="1"/>
          </p:nvSpPr>
          <p:spPr bwMode="hidden">
            <a:xfrm rot="1273217" flipV="1">
              <a:off x="-204" y="2976"/>
              <a:ext cx="6150" cy="8"/>
            </a:xfrm>
            <a:prstGeom prst="rect">
              <a:avLst/>
            </a:prstGeom>
            <a:solidFill>
              <a:srgbClr val="C0C0C0">
                <a:alpha val="44000"/>
              </a:srgbClr>
            </a:solidFill>
            <a:ln>
              <a:noFill/>
            </a:ln>
            <a:effectLst/>
            <a:extLst/>
          </p:spPr>
          <p:txBody>
            <a:bodyPr rot="10800000"/>
            <a:lstStyle/>
            <a:p>
              <a:pPr algn="ctr">
                <a:defRPr/>
              </a:pPr>
              <a:endParaRPr lang="zh-CN" altLang="en-US" sz="1800" b="0">
                <a:solidFill>
                  <a:schemeClr val="tx1"/>
                </a:solidFill>
                <a:effectLst>
                  <a:outerShdw blurRad="38100" dist="38100" dir="2700000" algn="tl">
                    <a:srgbClr val="000000"/>
                  </a:outerShdw>
                </a:effectLst>
                <a:latin typeface="Arial" charset="0"/>
                <a:ea typeface="宋体" charset="0"/>
              </a:endParaRPr>
            </a:p>
          </p:txBody>
        </p:sp>
        <p:sp>
          <p:nvSpPr>
            <p:cNvPr id="103458" name="Rectangle 34"/>
            <p:cNvSpPr>
              <a:spLocks noChangeArrowheads="1"/>
            </p:cNvSpPr>
            <p:nvPr userDrawn="1"/>
          </p:nvSpPr>
          <p:spPr bwMode="hidden">
            <a:xfrm rot="1169729" flipV="1">
              <a:off x="-174" y="2663"/>
              <a:ext cx="6104" cy="4"/>
            </a:xfrm>
            <a:prstGeom prst="rect">
              <a:avLst/>
            </a:prstGeom>
            <a:solidFill>
              <a:srgbClr val="C0C0C0">
                <a:alpha val="44000"/>
              </a:srgbClr>
            </a:solidFill>
            <a:ln>
              <a:noFill/>
            </a:ln>
            <a:effectLst/>
            <a:extLst/>
          </p:spPr>
          <p:txBody>
            <a:bodyPr rot="10800000"/>
            <a:lstStyle/>
            <a:p>
              <a:pPr algn="ctr">
                <a:defRPr/>
              </a:pPr>
              <a:endParaRPr lang="zh-CN" altLang="en-US" sz="1800" b="0">
                <a:solidFill>
                  <a:schemeClr val="tx1"/>
                </a:solidFill>
                <a:effectLst>
                  <a:outerShdw blurRad="38100" dist="38100" dir="2700000" algn="tl">
                    <a:srgbClr val="000000"/>
                  </a:outerShdw>
                </a:effectLst>
                <a:latin typeface="Arial" charset="0"/>
                <a:ea typeface="宋体" charset="0"/>
              </a:endParaRPr>
            </a:p>
          </p:txBody>
        </p:sp>
        <p:sp>
          <p:nvSpPr>
            <p:cNvPr id="103459" name="Oval 35"/>
            <p:cNvSpPr>
              <a:spLocks noChangeArrowheads="1"/>
            </p:cNvSpPr>
            <p:nvPr/>
          </p:nvSpPr>
          <p:spPr bwMode="hidden">
            <a:xfrm>
              <a:off x="740" y="3359"/>
              <a:ext cx="168" cy="96"/>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460" name="Oval 36"/>
            <p:cNvSpPr>
              <a:spLocks noChangeArrowheads="1"/>
            </p:cNvSpPr>
            <p:nvPr/>
          </p:nvSpPr>
          <p:spPr bwMode="hidden">
            <a:xfrm>
              <a:off x="236" y="3074"/>
              <a:ext cx="168" cy="95"/>
            </a:xfrm>
            <a:prstGeom prst="ellipse">
              <a:avLst/>
            </a:prstGeom>
            <a:solidFill>
              <a:srgbClr val="C0C0C0">
                <a:alpha val="3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461" name="Oval 37"/>
            <p:cNvSpPr>
              <a:spLocks noChangeArrowheads="1"/>
            </p:cNvSpPr>
            <p:nvPr/>
          </p:nvSpPr>
          <p:spPr bwMode="hidden">
            <a:xfrm>
              <a:off x="159" y="3652"/>
              <a:ext cx="196" cy="106"/>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462" name="Oval 38"/>
            <p:cNvSpPr>
              <a:spLocks noChangeArrowheads="1"/>
            </p:cNvSpPr>
            <p:nvPr/>
          </p:nvSpPr>
          <p:spPr bwMode="hidden">
            <a:xfrm>
              <a:off x="2077" y="2661"/>
              <a:ext cx="151" cy="84"/>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463" name="Oval 39"/>
            <p:cNvSpPr>
              <a:spLocks noChangeArrowheads="1"/>
            </p:cNvSpPr>
            <p:nvPr/>
          </p:nvSpPr>
          <p:spPr bwMode="hidden">
            <a:xfrm>
              <a:off x="1223" y="3076"/>
              <a:ext cx="168" cy="94"/>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464" name="Oval 40"/>
            <p:cNvSpPr>
              <a:spLocks noChangeArrowheads="1"/>
            </p:cNvSpPr>
            <p:nvPr/>
          </p:nvSpPr>
          <p:spPr bwMode="hidden">
            <a:xfrm>
              <a:off x="1686" y="2857"/>
              <a:ext cx="156" cy="92"/>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465" name="Oval 41"/>
            <p:cNvSpPr>
              <a:spLocks noChangeArrowheads="1"/>
            </p:cNvSpPr>
            <p:nvPr/>
          </p:nvSpPr>
          <p:spPr bwMode="hidden">
            <a:xfrm>
              <a:off x="750" y="2839"/>
              <a:ext cx="151" cy="89"/>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466" name="Oval 42"/>
            <p:cNvSpPr>
              <a:spLocks noChangeArrowheads="1"/>
            </p:cNvSpPr>
            <p:nvPr/>
          </p:nvSpPr>
          <p:spPr bwMode="hidden">
            <a:xfrm>
              <a:off x="367" y="2655"/>
              <a:ext cx="150" cy="82"/>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467" name="Oval 43"/>
            <p:cNvSpPr>
              <a:spLocks noChangeArrowheads="1"/>
            </p:cNvSpPr>
            <p:nvPr/>
          </p:nvSpPr>
          <p:spPr bwMode="hidden">
            <a:xfrm>
              <a:off x="1172" y="2642"/>
              <a:ext cx="156" cy="83"/>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468" name="Oval 44"/>
            <p:cNvSpPr>
              <a:spLocks noChangeArrowheads="1"/>
            </p:cNvSpPr>
            <p:nvPr/>
          </p:nvSpPr>
          <p:spPr bwMode="hidden">
            <a:xfrm>
              <a:off x="2401" y="2485"/>
              <a:ext cx="149" cy="83"/>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469" name="Oval 45"/>
            <p:cNvSpPr>
              <a:spLocks noChangeArrowheads="1"/>
            </p:cNvSpPr>
            <p:nvPr/>
          </p:nvSpPr>
          <p:spPr bwMode="hidden">
            <a:xfrm>
              <a:off x="1910" y="2314"/>
              <a:ext cx="134" cy="72"/>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470" name="Oval 46"/>
            <p:cNvSpPr>
              <a:spLocks noChangeArrowheads="1"/>
            </p:cNvSpPr>
            <p:nvPr/>
          </p:nvSpPr>
          <p:spPr bwMode="hidden">
            <a:xfrm>
              <a:off x="2254" y="2154"/>
              <a:ext cx="134" cy="61"/>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471" name="Oval 47"/>
            <p:cNvSpPr>
              <a:spLocks noChangeArrowheads="1"/>
            </p:cNvSpPr>
            <p:nvPr/>
          </p:nvSpPr>
          <p:spPr bwMode="hidden">
            <a:xfrm>
              <a:off x="2742" y="2304"/>
              <a:ext cx="140" cy="70"/>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472" name="Oval 48"/>
            <p:cNvSpPr>
              <a:spLocks noChangeArrowheads="1"/>
            </p:cNvSpPr>
            <p:nvPr/>
          </p:nvSpPr>
          <p:spPr bwMode="hidden">
            <a:xfrm>
              <a:off x="2812" y="1898"/>
              <a:ext cx="129" cy="61"/>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473" name="Oval 49"/>
            <p:cNvSpPr>
              <a:spLocks noChangeArrowheads="1"/>
            </p:cNvSpPr>
            <p:nvPr/>
          </p:nvSpPr>
          <p:spPr bwMode="hidden">
            <a:xfrm>
              <a:off x="3721" y="1792"/>
              <a:ext cx="128" cy="61"/>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474" name="Oval 50"/>
            <p:cNvSpPr>
              <a:spLocks noChangeArrowheads="1"/>
            </p:cNvSpPr>
            <p:nvPr/>
          </p:nvSpPr>
          <p:spPr bwMode="hidden">
            <a:xfrm>
              <a:off x="3528" y="1896"/>
              <a:ext cx="128" cy="61"/>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475" name="Oval 51"/>
            <p:cNvSpPr>
              <a:spLocks noChangeArrowheads="1"/>
            </p:cNvSpPr>
            <p:nvPr/>
          </p:nvSpPr>
          <p:spPr bwMode="hidden">
            <a:xfrm>
              <a:off x="3064" y="1777"/>
              <a:ext cx="128" cy="59"/>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476" name="Oval 52"/>
            <p:cNvSpPr>
              <a:spLocks noChangeArrowheads="1"/>
            </p:cNvSpPr>
            <p:nvPr/>
          </p:nvSpPr>
          <p:spPr bwMode="hidden">
            <a:xfrm>
              <a:off x="3277" y="2023"/>
              <a:ext cx="134" cy="70"/>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477" name="Oval 53"/>
            <p:cNvSpPr>
              <a:spLocks noChangeArrowheads="1"/>
            </p:cNvSpPr>
            <p:nvPr/>
          </p:nvSpPr>
          <p:spPr bwMode="hidden">
            <a:xfrm>
              <a:off x="3027" y="2160"/>
              <a:ext cx="133" cy="61"/>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478" name="Oval 54"/>
            <p:cNvSpPr>
              <a:spLocks noChangeArrowheads="1"/>
            </p:cNvSpPr>
            <p:nvPr/>
          </p:nvSpPr>
          <p:spPr bwMode="hidden">
            <a:xfrm>
              <a:off x="1569" y="2453"/>
              <a:ext cx="150" cy="90"/>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479" name="Oval 55"/>
            <p:cNvSpPr>
              <a:spLocks noChangeArrowheads="1"/>
            </p:cNvSpPr>
            <p:nvPr/>
          </p:nvSpPr>
          <p:spPr bwMode="hidden">
            <a:xfrm>
              <a:off x="1863" y="2028"/>
              <a:ext cx="143" cy="61"/>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480" name="Oval 56"/>
            <p:cNvSpPr>
              <a:spLocks noChangeArrowheads="1"/>
            </p:cNvSpPr>
            <p:nvPr/>
          </p:nvSpPr>
          <p:spPr bwMode="hidden">
            <a:xfrm>
              <a:off x="1513" y="2175"/>
              <a:ext cx="146" cy="59"/>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481" name="Oval 57"/>
            <p:cNvSpPr>
              <a:spLocks noChangeArrowheads="1"/>
            </p:cNvSpPr>
            <p:nvPr/>
          </p:nvSpPr>
          <p:spPr bwMode="hidden">
            <a:xfrm>
              <a:off x="1191" y="2311"/>
              <a:ext cx="134" cy="72"/>
            </a:xfrm>
            <a:prstGeom prst="ellipse">
              <a:avLst/>
            </a:prstGeom>
            <a:solidFill>
              <a:srgbClr val="C0C0C0">
                <a:alpha val="19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482" name="Oval 58"/>
            <p:cNvSpPr>
              <a:spLocks noChangeArrowheads="1"/>
            </p:cNvSpPr>
            <p:nvPr/>
          </p:nvSpPr>
          <p:spPr bwMode="hidden">
            <a:xfrm>
              <a:off x="1154" y="2048"/>
              <a:ext cx="132" cy="60"/>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483" name="Oval 59"/>
            <p:cNvSpPr>
              <a:spLocks noChangeArrowheads="1"/>
            </p:cNvSpPr>
            <p:nvPr/>
          </p:nvSpPr>
          <p:spPr bwMode="hidden">
            <a:xfrm>
              <a:off x="1142" y="1803"/>
              <a:ext cx="128" cy="61"/>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484" name="Oval 60"/>
            <p:cNvSpPr>
              <a:spLocks noChangeArrowheads="1"/>
            </p:cNvSpPr>
            <p:nvPr/>
          </p:nvSpPr>
          <p:spPr bwMode="hidden">
            <a:xfrm>
              <a:off x="1500" y="1912"/>
              <a:ext cx="128" cy="61"/>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485" name="Oval 61"/>
            <p:cNvSpPr>
              <a:spLocks noChangeArrowheads="1"/>
            </p:cNvSpPr>
            <p:nvPr/>
          </p:nvSpPr>
          <p:spPr bwMode="hidden">
            <a:xfrm>
              <a:off x="1804" y="1802"/>
              <a:ext cx="126" cy="60"/>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486" name="Oval 62"/>
            <p:cNvSpPr>
              <a:spLocks noChangeArrowheads="1"/>
            </p:cNvSpPr>
            <p:nvPr/>
          </p:nvSpPr>
          <p:spPr bwMode="hidden">
            <a:xfrm>
              <a:off x="2159" y="1905"/>
              <a:ext cx="128" cy="60"/>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487" name="Oval 63"/>
            <p:cNvSpPr>
              <a:spLocks noChangeArrowheads="1"/>
            </p:cNvSpPr>
            <p:nvPr/>
          </p:nvSpPr>
          <p:spPr bwMode="hidden">
            <a:xfrm>
              <a:off x="2432" y="1787"/>
              <a:ext cx="128" cy="61"/>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488" name="Oval 64"/>
            <p:cNvSpPr>
              <a:spLocks noChangeArrowheads="1"/>
            </p:cNvSpPr>
            <p:nvPr/>
          </p:nvSpPr>
          <p:spPr bwMode="hidden">
            <a:xfrm>
              <a:off x="470" y="2032"/>
              <a:ext cx="134" cy="73"/>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489" name="Oval 65"/>
            <p:cNvSpPr>
              <a:spLocks noChangeArrowheads="1"/>
            </p:cNvSpPr>
            <p:nvPr/>
          </p:nvSpPr>
          <p:spPr bwMode="hidden">
            <a:xfrm>
              <a:off x="68" y="2166"/>
              <a:ext cx="127" cy="73"/>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490" name="Oval 66"/>
            <p:cNvSpPr>
              <a:spLocks noChangeArrowheads="1"/>
            </p:cNvSpPr>
            <p:nvPr/>
          </p:nvSpPr>
          <p:spPr bwMode="hidden">
            <a:xfrm>
              <a:off x="798" y="1916"/>
              <a:ext cx="128" cy="60"/>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491" name="Oval 67"/>
            <p:cNvSpPr>
              <a:spLocks noChangeArrowheads="1"/>
            </p:cNvSpPr>
            <p:nvPr/>
          </p:nvSpPr>
          <p:spPr bwMode="hidden">
            <a:xfrm>
              <a:off x="455" y="1797"/>
              <a:ext cx="128" cy="61"/>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492" name="Oval 68"/>
            <p:cNvSpPr>
              <a:spLocks noChangeArrowheads="1"/>
            </p:cNvSpPr>
            <p:nvPr/>
          </p:nvSpPr>
          <p:spPr bwMode="hidden">
            <a:xfrm>
              <a:off x="113" y="1901"/>
              <a:ext cx="128" cy="61"/>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493" name="Oval 69"/>
            <p:cNvSpPr>
              <a:spLocks noChangeArrowheads="1"/>
            </p:cNvSpPr>
            <p:nvPr/>
          </p:nvSpPr>
          <p:spPr bwMode="hidden">
            <a:xfrm>
              <a:off x="432" y="2323"/>
              <a:ext cx="139" cy="61"/>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494" name="Oval 70"/>
            <p:cNvSpPr>
              <a:spLocks noChangeArrowheads="1"/>
            </p:cNvSpPr>
            <p:nvPr/>
          </p:nvSpPr>
          <p:spPr bwMode="hidden">
            <a:xfrm>
              <a:off x="814" y="2178"/>
              <a:ext cx="127" cy="61"/>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495" name="Oval 71"/>
            <p:cNvSpPr>
              <a:spLocks noChangeArrowheads="1"/>
            </p:cNvSpPr>
            <p:nvPr/>
          </p:nvSpPr>
          <p:spPr bwMode="hidden">
            <a:xfrm>
              <a:off x="789" y="2472"/>
              <a:ext cx="150" cy="91"/>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496" name="Oval 72"/>
            <p:cNvSpPr>
              <a:spLocks noChangeArrowheads="1"/>
            </p:cNvSpPr>
            <p:nvPr/>
          </p:nvSpPr>
          <p:spPr bwMode="hidden">
            <a:xfrm>
              <a:off x="2544" y="2015"/>
              <a:ext cx="140" cy="72"/>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497" name="Oval 73"/>
            <p:cNvSpPr>
              <a:spLocks noChangeArrowheads="1"/>
            </p:cNvSpPr>
            <p:nvPr/>
          </p:nvSpPr>
          <p:spPr bwMode="hidden">
            <a:xfrm>
              <a:off x="1457" y="1700"/>
              <a:ext cx="123" cy="51"/>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498" name="Oval 74"/>
            <p:cNvSpPr>
              <a:spLocks noChangeArrowheads="1"/>
            </p:cNvSpPr>
            <p:nvPr/>
          </p:nvSpPr>
          <p:spPr bwMode="hidden">
            <a:xfrm>
              <a:off x="1747" y="1599"/>
              <a:ext cx="123" cy="50"/>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499" name="Oval 75"/>
            <p:cNvSpPr>
              <a:spLocks noChangeArrowheads="1"/>
            </p:cNvSpPr>
            <p:nvPr/>
          </p:nvSpPr>
          <p:spPr bwMode="hidden">
            <a:xfrm>
              <a:off x="1386" y="1506"/>
              <a:ext cx="124" cy="49"/>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00" name="Oval 76"/>
            <p:cNvSpPr>
              <a:spLocks noChangeArrowheads="1"/>
            </p:cNvSpPr>
            <p:nvPr/>
          </p:nvSpPr>
          <p:spPr bwMode="hidden">
            <a:xfrm>
              <a:off x="1093" y="1595"/>
              <a:ext cx="123" cy="51"/>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01" name="Oval 77"/>
            <p:cNvSpPr>
              <a:spLocks noChangeArrowheads="1"/>
            </p:cNvSpPr>
            <p:nvPr/>
          </p:nvSpPr>
          <p:spPr bwMode="hidden">
            <a:xfrm>
              <a:off x="792" y="1690"/>
              <a:ext cx="124" cy="51"/>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02" name="Oval 78"/>
            <p:cNvSpPr>
              <a:spLocks noChangeArrowheads="1"/>
            </p:cNvSpPr>
            <p:nvPr/>
          </p:nvSpPr>
          <p:spPr bwMode="hidden">
            <a:xfrm>
              <a:off x="2011" y="1512"/>
              <a:ext cx="123" cy="50"/>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03" name="Oval 79"/>
            <p:cNvSpPr>
              <a:spLocks noChangeArrowheads="1"/>
            </p:cNvSpPr>
            <p:nvPr/>
          </p:nvSpPr>
          <p:spPr bwMode="hidden">
            <a:xfrm>
              <a:off x="2087" y="1695"/>
              <a:ext cx="123" cy="47"/>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04" name="Oval 80"/>
            <p:cNvSpPr>
              <a:spLocks noChangeArrowheads="1"/>
            </p:cNvSpPr>
            <p:nvPr/>
          </p:nvSpPr>
          <p:spPr bwMode="hidden">
            <a:xfrm>
              <a:off x="2345" y="1601"/>
              <a:ext cx="123" cy="48"/>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05" name="Oval 81"/>
            <p:cNvSpPr>
              <a:spLocks noChangeArrowheads="1"/>
            </p:cNvSpPr>
            <p:nvPr/>
          </p:nvSpPr>
          <p:spPr bwMode="hidden">
            <a:xfrm>
              <a:off x="2684" y="1686"/>
              <a:ext cx="123" cy="51"/>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06" name="Oval 82"/>
            <p:cNvSpPr>
              <a:spLocks noChangeArrowheads="1"/>
            </p:cNvSpPr>
            <p:nvPr/>
          </p:nvSpPr>
          <p:spPr bwMode="hidden">
            <a:xfrm>
              <a:off x="806" y="1512"/>
              <a:ext cx="123" cy="50"/>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07" name="Oval 83"/>
            <p:cNvSpPr>
              <a:spLocks noChangeArrowheads="1"/>
            </p:cNvSpPr>
            <p:nvPr/>
          </p:nvSpPr>
          <p:spPr bwMode="hidden">
            <a:xfrm>
              <a:off x="495" y="1597"/>
              <a:ext cx="123" cy="50"/>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08" name="Oval 84"/>
            <p:cNvSpPr>
              <a:spLocks noChangeArrowheads="1"/>
            </p:cNvSpPr>
            <p:nvPr/>
          </p:nvSpPr>
          <p:spPr bwMode="hidden">
            <a:xfrm>
              <a:off x="228" y="1508"/>
              <a:ext cx="123" cy="47"/>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09" name="Oval 85"/>
            <p:cNvSpPr>
              <a:spLocks noChangeArrowheads="1"/>
            </p:cNvSpPr>
            <p:nvPr/>
          </p:nvSpPr>
          <p:spPr bwMode="hidden">
            <a:xfrm>
              <a:off x="157" y="1698"/>
              <a:ext cx="123" cy="50"/>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10" name="Oval 86"/>
            <p:cNvSpPr>
              <a:spLocks noChangeArrowheads="1"/>
            </p:cNvSpPr>
            <p:nvPr/>
          </p:nvSpPr>
          <p:spPr bwMode="hidden">
            <a:xfrm>
              <a:off x="2887" y="1595"/>
              <a:ext cx="124" cy="50"/>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11" name="Oval 87"/>
            <p:cNvSpPr>
              <a:spLocks noChangeArrowheads="1"/>
            </p:cNvSpPr>
            <p:nvPr/>
          </p:nvSpPr>
          <p:spPr bwMode="hidden">
            <a:xfrm>
              <a:off x="3079" y="1511"/>
              <a:ext cx="124" cy="51"/>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12" name="Oval 88"/>
            <p:cNvSpPr>
              <a:spLocks noChangeArrowheads="1"/>
            </p:cNvSpPr>
            <p:nvPr/>
          </p:nvSpPr>
          <p:spPr bwMode="hidden">
            <a:xfrm>
              <a:off x="3269" y="1688"/>
              <a:ext cx="124" cy="51"/>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13" name="Oval 89"/>
            <p:cNvSpPr>
              <a:spLocks noChangeArrowheads="1"/>
            </p:cNvSpPr>
            <p:nvPr/>
          </p:nvSpPr>
          <p:spPr bwMode="hidden">
            <a:xfrm>
              <a:off x="3453" y="1599"/>
              <a:ext cx="123" cy="50"/>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14" name="Oval 90"/>
            <p:cNvSpPr>
              <a:spLocks noChangeArrowheads="1"/>
            </p:cNvSpPr>
            <p:nvPr/>
          </p:nvSpPr>
          <p:spPr bwMode="hidden">
            <a:xfrm>
              <a:off x="3651" y="1506"/>
              <a:ext cx="123" cy="49"/>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15" name="Oval 91"/>
            <p:cNvSpPr>
              <a:spLocks noChangeArrowheads="1"/>
            </p:cNvSpPr>
            <p:nvPr/>
          </p:nvSpPr>
          <p:spPr bwMode="hidden">
            <a:xfrm>
              <a:off x="4251" y="1513"/>
              <a:ext cx="124" cy="51"/>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16" name="Oval 92"/>
            <p:cNvSpPr>
              <a:spLocks noChangeArrowheads="1"/>
            </p:cNvSpPr>
            <p:nvPr/>
          </p:nvSpPr>
          <p:spPr bwMode="hidden">
            <a:xfrm>
              <a:off x="3901" y="1701"/>
              <a:ext cx="128" cy="50"/>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17" name="Oval 93"/>
            <p:cNvSpPr>
              <a:spLocks noChangeArrowheads="1"/>
            </p:cNvSpPr>
            <p:nvPr/>
          </p:nvSpPr>
          <p:spPr bwMode="hidden">
            <a:xfrm>
              <a:off x="4086" y="1608"/>
              <a:ext cx="125" cy="50"/>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18" name="Oval 94"/>
            <p:cNvSpPr>
              <a:spLocks noChangeArrowheads="1"/>
            </p:cNvSpPr>
            <p:nvPr/>
          </p:nvSpPr>
          <p:spPr bwMode="hidden">
            <a:xfrm>
              <a:off x="1282" y="3653"/>
              <a:ext cx="196" cy="115"/>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19" name="Oval 95"/>
            <p:cNvSpPr>
              <a:spLocks noChangeArrowheads="1"/>
            </p:cNvSpPr>
            <p:nvPr/>
          </p:nvSpPr>
          <p:spPr bwMode="hidden">
            <a:xfrm>
              <a:off x="707" y="4014"/>
              <a:ext cx="191" cy="117"/>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20" name="Oval 96"/>
            <p:cNvSpPr>
              <a:spLocks noChangeArrowheads="1"/>
            </p:cNvSpPr>
            <p:nvPr/>
          </p:nvSpPr>
          <p:spPr bwMode="hidden">
            <a:xfrm>
              <a:off x="2229" y="3090"/>
              <a:ext cx="173" cy="95"/>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21" name="Oval 97"/>
            <p:cNvSpPr>
              <a:spLocks noChangeArrowheads="1"/>
            </p:cNvSpPr>
            <p:nvPr/>
          </p:nvSpPr>
          <p:spPr bwMode="hidden">
            <a:xfrm>
              <a:off x="2604" y="2867"/>
              <a:ext cx="156" cy="94"/>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22" name="Oval 98"/>
            <p:cNvSpPr>
              <a:spLocks noChangeArrowheads="1"/>
            </p:cNvSpPr>
            <p:nvPr/>
          </p:nvSpPr>
          <p:spPr bwMode="hidden">
            <a:xfrm>
              <a:off x="2907" y="2668"/>
              <a:ext cx="156" cy="84"/>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23" name="Oval 99"/>
            <p:cNvSpPr>
              <a:spLocks noChangeArrowheads="1"/>
            </p:cNvSpPr>
            <p:nvPr/>
          </p:nvSpPr>
          <p:spPr bwMode="hidden">
            <a:xfrm>
              <a:off x="3248" y="2454"/>
              <a:ext cx="150" cy="90"/>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24" name="Oval 100"/>
            <p:cNvSpPr>
              <a:spLocks noChangeArrowheads="1"/>
            </p:cNvSpPr>
            <p:nvPr/>
          </p:nvSpPr>
          <p:spPr bwMode="hidden">
            <a:xfrm>
              <a:off x="1801" y="3360"/>
              <a:ext cx="168" cy="95"/>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25" name="Oval 101"/>
            <p:cNvSpPr>
              <a:spLocks noChangeArrowheads="1"/>
            </p:cNvSpPr>
            <p:nvPr/>
          </p:nvSpPr>
          <p:spPr bwMode="hidden">
            <a:xfrm>
              <a:off x="3512" y="2302"/>
              <a:ext cx="129" cy="72"/>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26" name="Oval 102"/>
            <p:cNvSpPr>
              <a:spLocks noChangeArrowheads="1"/>
            </p:cNvSpPr>
            <p:nvPr/>
          </p:nvSpPr>
          <p:spPr bwMode="hidden">
            <a:xfrm>
              <a:off x="3980" y="2014"/>
              <a:ext cx="132" cy="72"/>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27" name="Oval 103"/>
            <p:cNvSpPr>
              <a:spLocks noChangeArrowheads="1"/>
            </p:cNvSpPr>
            <p:nvPr/>
          </p:nvSpPr>
          <p:spPr bwMode="hidden">
            <a:xfrm>
              <a:off x="3753" y="2158"/>
              <a:ext cx="134" cy="61"/>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28" name="Oval 104"/>
            <p:cNvSpPr>
              <a:spLocks noChangeArrowheads="1"/>
            </p:cNvSpPr>
            <p:nvPr/>
          </p:nvSpPr>
          <p:spPr bwMode="hidden">
            <a:xfrm>
              <a:off x="4176" y="1898"/>
              <a:ext cx="128" cy="61"/>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29" name="Oval 105"/>
            <p:cNvSpPr>
              <a:spLocks noChangeArrowheads="1"/>
            </p:cNvSpPr>
            <p:nvPr/>
          </p:nvSpPr>
          <p:spPr bwMode="hidden">
            <a:xfrm>
              <a:off x="4338" y="1797"/>
              <a:ext cx="129" cy="61"/>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30" name="Oval 106"/>
            <p:cNvSpPr>
              <a:spLocks noChangeArrowheads="1"/>
            </p:cNvSpPr>
            <p:nvPr/>
          </p:nvSpPr>
          <p:spPr bwMode="hidden">
            <a:xfrm>
              <a:off x="4505" y="1700"/>
              <a:ext cx="124" cy="51"/>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31" name="Oval 107"/>
            <p:cNvSpPr>
              <a:spLocks noChangeArrowheads="1"/>
            </p:cNvSpPr>
            <p:nvPr/>
          </p:nvSpPr>
          <p:spPr bwMode="hidden">
            <a:xfrm>
              <a:off x="4661" y="1603"/>
              <a:ext cx="123" cy="50"/>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32" name="Oval 108"/>
            <p:cNvSpPr>
              <a:spLocks noChangeArrowheads="1"/>
            </p:cNvSpPr>
            <p:nvPr/>
          </p:nvSpPr>
          <p:spPr bwMode="hidden">
            <a:xfrm>
              <a:off x="4803" y="1512"/>
              <a:ext cx="127" cy="51"/>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33" name="Oval 109"/>
            <p:cNvSpPr>
              <a:spLocks noChangeArrowheads="1"/>
            </p:cNvSpPr>
            <p:nvPr/>
          </p:nvSpPr>
          <p:spPr bwMode="hidden">
            <a:xfrm>
              <a:off x="4930" y="1431"/>
              <a:ext cx="104" cy="50"/>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34" name="Oval 110"/>
            <p:cNvSpPr>
              <a:spLocks noChangeArrowheads="1"/>
            </p:cNvSpPr>
            <p:nvPr/>
          </p:nvSpPr>
          <p:spPr bwMode="hidden">
            <a:xfrm>
              <a:off x="3835" y="1430"/>
              <a:ext cx="105" cy="50"/>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35" name="Oval 111"/>
            <p:cNvSpPr>
              <a:spLocks noChangeArrowheads="1"/>
            </p:cNvSpPr>
            <p:nvPr/>
          </p:nvSpPr>
          <p:spPr bwMode="hidden">
            <a:xfrm>
              <a:off x="3286" y="1430"/>
              <a:ext cx="107" cy="50"/>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36" name="Oval 112"/>
            <p:cNvSpPr>
              <a:spLocks noChangeArrowheads="1"/>
            </p:cNvSpPr>
            <p:nvPr/>
          </p:nvSpPr>
          <p:spPr bwMode="hidden">
            <a:xfrm>
              <a:off x="2973" y="1366"/>
              <a:ext cx="110" cy="49"/>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37" name="Oval 113"/>
            <p:cNvSpPr>
              <a:spLocks noChangeArrowheads="1"/>
            </p:cNvSpPr>
            <p:nvPr/>
          </p:nvSpPr>
          <p:spPr bwMode="hidden">
            <a:xfrm>
              <a:off x="3152" y="1292"/>
              <a:ext cx="118" cy="50"/>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38" name="Oval 114"/>
            <p:cNvSpPr>
              <a:spLocks noChangeArrowheads="1"/>
            </p:cNvSpPr>
            <p:nvPr/>
          </p:nvSpPr>
          <p:spPr bwMode="hidden">
            <a:xfrm>
              <a:off x="3020" y="1170"/>
              <a:ext cx="105" cy="50"/>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39" name="Oval 115"/>
            <p:cNvSpPr>
              <a:spLocks noChangeArrowheads="1"/>
            </p:cNvSpPr>
            <p:nvPr/>
          </p:nvSpPr>
          <p:spPr bwMode="hidden">
            <a:xfrm>
              <a:off x="2443" y="1369"/>
              <a:ext cx="107" cy="50"/>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40" name="Oval 116"/>
            <p:cNvSpPr>
              <a:spLocks noChangeArrowheads="1"/>
            </p:cNvSpPr>
            <p:nvPr/>
          </p:nvSpPr>
          <p:spPr bwMode="hidden">
            <a:xfrm>
              <a:off x="2301" y="1220"/>
              <a:ext cx="105" cy="51"/>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41" name="Oval 117"/>
            <p:cNvSpPr>
              <a:spLocks noChangeArrowheads="1"/>
            </p:cNvSpPr>
            <p:nvPr/>
          </p:nvSpPr>
          <p:spPr bwMode="hidden">
            <a:xfrm>
              <a:off x="2095" y="1284"/>
              <a:ext cx="108" cy="49"/>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42" name="Oval 118"/>
            <p:cNvSpPr>
              <a:spLocks noChangeArrowheads="1"/>
            </p:cNvSpPr>
            <p:nvPr/>
          </p:nvSpPr>
          <p:spPr bwMode="hidden">
            <a:xfrm>
              <a:off x="2229" y="1442"/>
              <a:ext cx="110" cy="50"/>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43" name="Oval 119"/>
            <p:cNvSpPr>
              <a:spLocks noChangeArrowheads="1"/>
            </p:cNvSpPr>
            <p:nvPr/>
          </p:nvSpPr>
          <p:spPr bwMode="hidden">
            <a:xfrm>
              <a:off x="1109" y="1424"/>
              <a:ext cx="105" cy="49"/>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44" name="Oval 120"/>
            <p:cNvSpPr>
              <a:spLocks noChangeArrowheads="1"/>
            </p:cNvSpPr>
            <p:nvPr/>
          </p:nvSpPr>
          <p:spPr bwMode="hidden">
            <a:xfrm>
              <a:off x="611" y="1284"/>
              <a:ext cx="104" cy="49"/>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45" name="Oval 121"/>
            <p:cNvSpPr>
              <a:spLocks noChangeArrowheads="1"/>
            </p:cNvSpPr>
            <p:nvPr/>
          </p:nvSpPr>
          <p:spPr bwMode="hidden">
            <a:xfrm>
              <a:off x="305" y="1358"/>
              <a:ext cx="111" cy="51"/>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46" name="Oval 122"/>
            <p:cNvSpPr>
              <a:spLocks noChangeArrowheads="1"/>
            </p:cNvSpPr>
            <p:nvPr/>
          </p:nvSpPr>
          <p:spPr bwMode="hidden">
            <a:xfrm>
              <a:off x="156" y="1154"/>
              <a:ext cx="114" cy="50"/>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47" name="Oval 123"/>
            <p:cNvSpPr>
              <a:spLocks noChangeArrowheads="1"/>
            </p:cNvSpPr>
            <p:nvPr/>
          </p:nvSpPr>
          <p:spPr bwMode="hidden">
            <a:xfrm>
              <a:off x="4538" y="1365"/>
              <a:ext cx="106" cy="45"/>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48" name="Oval 124"/>
            <p:cNvSpPr>
              <a:spLocks noChangeArrowheads="1"/>
            </p:cNvSpPr>
            <p:nvPr/>
          </p:nvSpPr>
          <p:spPr bwMode="hidden">
            <a:xfrm>
              <a:off x="4407" y="1440"/>
              <a:ext cx="102" cy="46"/>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49" name="Oval 125"/>
            <p:cNvSpPr>
              <a:spLocks noChangeArrowheads="1"/>
            </p:cNvSpPr>
            <p:nvPr/>
          </p:nvSpPr>
          <p:spPr bwMode="hidden">
            <a:xfrm>
              <a:off x="3992" y="1356"/>
              <a:ext cx="106" cy="45"/>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50" name="Oval 126"/>
            <p:cNvSpPr>
              <a:spLocks noChangeArrowheads="1"/>
            </p:cNvSpPr>
            <p:nvPr/>
          </p:nvSpPr>
          <p:spPr bwMode="hidden">
            <a:xfrm>
              <a:off x="3466" y="1356"/>
              <a:ext cx="101" cy="45"/>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51" name="Oval 127"/>
            <p:cNvSpPr>
              <a:spLocks noChangeArrowheads="1"/>
            </p:cNvSpPr>
            <p:nvPr/>
          </p:nvSpPr>
          <p:spPr bwMode="hidden">
            <a:xfrm>
              <a:off x="2852" y="1227"/>
              <a:ext cx="106" cy="45"/>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52" name="Oval 128"/>
            <p:cNvSpPr>
              <a:spLocks noChangeArrowheads="1"/>
            </p:cNvSpPr>
            <p:nvPr/>
          </p:nvSpPr>
          <p:spPr bwMode="hidden">
            <a:xfrm>
              <a:off x="2678" y="1109"/>
              <a:ext cx="106" cy="44"/>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53" name="Oval 129"/>
            <p:cNvSpPr>
              <a:spLocks noChangeArrowheads="1"/>
            </p:cNvSpPr>
            <p:nvPr/>
          </p:nvSpPr>
          <p:spPr bwMode="hidden">
            <a:xfrm>
              <a:off x="2859" y="1045"/>
              <a:ext cx="106" cy="45"/>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54" name="Oval 130"/>
            <p:cNvSpPr>
              <a:spLocks noChangeArrowheads="1"/>
            </p:cNvSpPr>
            <p:nvPr/>
          </p:nvSpPr>
          <p:spPr bwMode="hidden">
            <a:xfrm>
              <a:off x="1942" y="1040"/>
              <a:ext cx="106" cy="45"/>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55" name="Oval 131"/>
            <p:cNvSpPr>
              <a:spLocks noChangeArrowheads="1"/>
            </p:cNvSpPr>
            <p:nvPr/>
          </p:nvSpPr>
          <p:spPr bwMode="hidden">
            <a:xfrm>
              <a:off x="1087" y="1277"/>
              <a:ext cx="100" cy="45"/>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56" name="Oval 132"/>
            <p:cNvSpPr>
              <a:spLocks noChangeArrowheads="1"/>
            </p:cNvSpPr>
            <p:nvPr/>
          </p:nvSpPr>
          <p:spPr bwMode="hidden">
            <a:xfrm>
              <a:off x="827" y="1350"/>
              <a:ext cx="106" cy="45"/>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57" name="Oval 133"/>
            <p:cNvSpPr>
              <a:spLocks noChangeArrowheads="1"/>
            </p:cNvSpPr>
            <p:nvPr/>
          </p:nvSpPr>
          <p:spPr bwMode="hidden">
            <a:xfrm>
              <a:off x="537" y="1428"/>
              <a:ext cx="104" cy="46"/>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58" name="Oval 134"/>
            <p:cNvSpPr>
              <a:spLocks noChangeArrowheads="1"/>
            </p:cNvSpPr>
            <p:nvPr/>
          </p:nvSpPr>
          <p:spPr bwMode="hidden">
            <a:xfrm>
              <a:off x="635" y="1060"/>
              <a:ext cx="105" cy="45"/>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59" name="Oval 135"/>
            <p:cNvSpPr>
              <a:spLocks noChangeArrowheads="1"/>
            </p:cNvSpPr>
            <p:nvPr/>
          </p:nvSpPr>
          <p:spPr bwMode="hidden">
            <a:xfrm>
              <a:off x="1540" y="1050"/>
              <a:ext cx="106" cy="45"/>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60" name="Oval 136"/>
            <p:cNvSpPr>
              <a:spLocks noChangeArrowheads="1"/>
            </p:cNvSpPr>
            <p:nvPr/>
          </p:nvSpPr>
          <p:spPr bwMode="hidden">
            <a:xfrm>
              <a:off x="1120" y="1063"/>
              <a:ext cx="105" cy="45"/>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61" name="Oval 137"/>
            <p:cNvSpPr>
              <a:spLocks noChangeArrowheads="1"/>
            </p:cNvSpPr>
            <p:nvPr/>
          </p:nvSpPr>
          <p:spPr bwMode="hidden">
            <a:xfrm>
              <a:off x="4131" y="1284"/>
              <a:ext cx="105" cy="45"/>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62" name="Oval 138"/>
            <p:cNvSpPr>
              <a:spLocks noChangeArrowheads="1"/>
            </p:cNvSpPr>
            <p:nvPr/>
          </p:nvSpPr>
          <p:spPr bwMode="hidden">
            <a:xfrm>
              <a:off x="3477" y="1163"/>
              <a:ext cx="115" cy="45"/>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63" name="Oval 139"/>
            <p:cNvSpPr>
              <a:spLocks noChangeArrowheads="1"/>
            </p:cNvSpPr>
            <p:nvPr/>
          </p:nvSpPr>
          <p:spPr bwMode="hidden">
            <a:xfrm>
              <a:off x="3315" y="1229"/>
              <a:ext cx="105" cy="46"/>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64" name="Oval 140"/>
            <p:cNvSpPr>
              <a:spLocks noChangeArrowheads="1"/>
            </p:cNvSpPr>
            <p:nvPr/>
          </p:nvSpPr>
          <p:spPr bwMode="hidden">
            <a:xfrm>
              <a:off x="3174" y="1112"/>
              <a:ext cx="119" cy="46"/>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65" name="Oval 141"/>
            <p:cNvSpPr>
              <a:spLocks noChangeArrowheads="1"/>
            </p:cNvSpPr>
            <p:nvPr/>
          </p:nvSpPr>
          <p:spPr bwMode="hidden">
            <a:xfrm>
              <a:off x="2396" y="1051"/>
              <a:ext cx="105" cy="45"/>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66" name="Oval 142"/>
            <p:cNvSpPr>
              <a:spLocks noChangeArrowheads="1"/>
            </p:cNvSpPr>
            <p:nvPr/>
          </p:nvSpPr>
          <p:spPr bwMode="hidden">
            <a:xfrm>
              <a:off x="2769" y="1446"/>
              <a:ext cx="104" cy="44"/>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67" name="Oval 143"/>
            <p:cNvSpPr>
              <a:spLocks noChangeArrowheads="1"/>
            </p:cNvSpPr>
            <p:nvPr/>
          </p:nvSpPr>
          <p:spPr bwMode="hidden">
            <a:xfrm>
              <a:off x="2656" y="1294"/>
              <a:ext cx="118" cy="45"/>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68" name="Oval 144"/>
            <p:cNvSpPr>
              <a:spLocks noChangeArrowheads="1"/>
            </p:cNvSpPr>
            <p:nvPr/>
          </p:nvSpPr>
          <p:spPr bwMode="hidden">
            <a:xfrm>
              <a:off x="2500" y="1159"/>
              <a:ext cx="105" cy="46"/>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69" name="Oval 145"/>
            <p:cNvSpPr>
              <a:spLocks noChangeArrowheads="1"/>
            </p:cNvSpPr>
            <p:nvPr/>
          </p:nvSpPr>
          <p:spPr bwMode="hidden">
            <a:xfrm>
              <a:off x="2222" y="1101"/>
              <a:ext cx="105" cy="45"/>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70" name="Oval 146"/>
            <p:cNvSpPr>
              <a:spLocks noChangeArrowheads="1"/>
            </p:cNvSpPr>
            <p:nvPr/>
          </p:nvSpPr>
          <p:spPr bwMode="hidden">
            <a:xfrm>
              <a:off x="2029" y="1162"/>
              <a:ext cx="104" cy="45"/>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71" name="Oval 147"/>
            <p:cNvSpPr>
              <a:spLocks noChangeArrowheads="1"/>
            </p:cNvSpPr>
            <p:nvPr/>
          </p:nvSpPr>
          <p:spPr bwMode="hidden">
            <a:xfrm>
              <a:off x="1875" y="1356"/>
              <a:ext cx="105" cy="45"/>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72" name="Oval 148"/>
            <p:cNvSpPr>
              <a:spLocks noChangeArrowheads="1"/>
            </p:cNvSpPr>
            <p:nvPr/>
          </p:nvSpPr>
          <p:spPr bwMode="hidden">
            <a:xfrm>
              <a:off x="1809" y="1223"/>
              <a:ext cx="111" cy="45"/>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73" name="Oval 149"/>
            <p:cNvSpPr>
              <a:spLocks noChangeArrowheads="1"/>
            </p:cNvSpPr>
            <p:nvPr/>
          </p:nvSpPr>
          <p:spPr bwMode="hidden">
            <a:xfrm>
              <a:off x="1738" y="1098"/>
              <a:ext cx="119" cy="45"/>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74" name="Oval 150"/>
            <p:cNvSpPr>
              <a:spLocks noChangeArrowheads="1"/>
            </p:cNvSpPr>
            <p:nvPr/>
          </p:nvSpPr>
          <p:spPr bwMode="hidden">
            <a:xfrm>
              <a:off x="1583" y="1289"/>
              <a:ext cx="105" cy="45"/>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75" name="Oval 151"/>
            <p:cNvSpPr>
              <a:spLocks noChangeArrowheads="1"/>
            </p:cNvSpPr>
            <p:nvPr/>
          </p:nvSpPr>
          <p:spPr bwMode="hidden">
            <a:xfrm>
              <a:off x="1379" y="1343"/>
              <a:ext cx="105" cy="45"/>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76" name="Oval 152"/>
            <p:cNvSpPr>
              <a:spLocks noChangeArrowheads="1"/>
            </p:cNvSpPr>
            <p:nvPr/>
          </p:nvSpPr>
          <p:spPr bwMode="hidden">
            <a:xfrm>
              <a:off x="1529" y="1156"/>
              <a:ext cx="105" cy="45"/>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77" name="Oval 153"/>
            <p:cNvSpPr>
              <a:spLocks noChangeArrowheads="1"/>
            </p:cNvSpPr>
            <p:nvPr/>
          </p:nvSpPr>
          <p:spPr bwMode="hidden">
            <a:xfrm>
              <a:off x="1294" y="1222"/>
              <a:ext cx="117" cy="45"/>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78" name="Oval 154"/>
            <p:cNvSpPr>
              <a:spLocks noChangeArrowheads="1"/>
            </p:cNvSpPr>
            <p:nvPr/>
          </p:nvSpPr>
          <p:spPr bwMode="hidden">
            <a:xfrm>
              <a:off x="1314" y="1112"/>
              <a:ext cx="119" cy="46"/>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79" name="Oval 155"/>
            <p:cNvSpPr>
              <a:spLocks noChangeArrowheads="1"/>
            </p:cNvSpPr>
            <p:nvPr/>
          </p:nvSpPr>
          <p:spPr bwMode="hidden">
            <a:xfrm>
              <a:off x="1082" y="1166"/>
              <a:ext cx="104" cy="45"/>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80" name="Oval 156"/>
            <p:cNvSpPr>
              <a:spLocks noChangeArrowheads="1"/>
            </p:cNvSpPr>
            <p:nvPr/>
          </p:nvSpPr>
          <p:spPr bwMode="hidden">
            <a:xfrm>
              <a:off x="877" y="1121"/>
              <a:ext cx="111" cy="45"/>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81" name="Oval 157"/>
            <p:cNvSpPr>
              <a:spLocks noChangeArrowheads="1"/>
            </p:cNvSpPr>
            <p:nvPr/>
          </p:nvSpPr>
          <p:spPr bwMode="hidden">
            <a:xfrm>
              <a:off x="875" y="1217"/>
              <a:ext cx="111" cy="46"/>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82" name="Oval 158"/>
            <p:cNvSpPr>
              <a:spLocks noChangeArrowheads="1"/>
            </p:cNvSpPr>
            <p:nvPr/>
          </p:nvSpPr>
          <p:spPr bwMode="hidden">
            <a:xfrm>
              <a:off x="680" y="1170"/>
              <a:ext cx="110" cy="47"/>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83" name="Oval 159"/>
            <p:cNvSpPr>
              <a:spLocks noChangeArrowheads="1"/>
            </p:cNvSpPr>
            <p:nvPr/>
          </p:nvSpPr>
          <p:spPr bwMode="hidden">
            <a:xfrm>
              <a:off x="411" y="1232"/>
              <a:ext cx="106" cy="44"/>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84" name="Oval 160"/>
            <p:cNvSpPr>
              <a:spLocks noChangeArrowheads="1"/>
            </p:cNvSpPr>
            <p:nvPr/>
          </p:nvSpPr>
          <p:spPr bwMode="hidden">
            <a:xfrm>
              <a:off x="434" y="1100"/>
              <a:ext cx="108" cy="46"/>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85" name="Oval 161"/>
            <p:cNvSpPr>
              <a:spLocks noChangeArrowheads="1"/>
            </p:cNvSpPr>
            <p:nvPr/>
          </p:nvSpPr>
          <p:spPr bwMode="hidden">
            <a:xfrm>
              <a:off x="119" y="1312"/>
              <a:ext cx="104" cy="45"/>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86" name="Oval 162"/>
            <p:cNvSpPr>
              <a:spLocks noChangeArrowheads="1"/>
            </p:cNvSpPr>
            <p:nvPr/>
          </p:nvSpPr>
          <p:spPr bwMode="hidden">
            <a:xfrm>
              <a:off x="858" y="1001"/>
              <a:ext cx="101" cy="38"/>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87" name="Oval 163"/>
            <p:cNvSpPr>
              <a:spLocks noChangeArrowheads="1"/>
            </p:cNvSpPr>
            <p:nvPr/>
          </p:nvSpPr>
          <p:spPr bwMode="hidden">
            <a:xfrm>
              <a:off x="1341" y="1013"/>
              <a:ext cx="101" cy="39"/>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88" name="Oval 164"/>
            <p:cNvSpPr>
              <a:spLocks noChangeArrowheads="1"/>
            </p:cNvSpPr>
            <p:nvPr/>
          </p:nvSpPr>
          <p:spPr bwMode="hidden">
            <a:xfrm>
              <a:off x="1739" y="1008"/>
              <a:ext cx="101" cy="38"/>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89" name="Oval 165"/>
            <p:cNvSpPr>
              <a:spLocks noChangeArrowheads="1"/>
            </p:cNvSpPr>
            <p:nvPr/>
          </p:nvSpPr>
          <p:spPr bwMode="hidden">
            <a:xfrm>
              <a:off x="2116" y="1001"/>
              <a:ext cx="100" cy="39"/>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90" name="Oval 166"/>
            <p:cNvSpPr>
              <a:spLocks noChangeArrowheads="1"/>
            </p:cNvSpPr>
            <p:nvPr/>
          </p:nvSpPr>
          <p:spPr bwMode="hidden">
            <a:xfrm>
              <a:off x="2320" y="941"/>
              <a:ext cx="101" cy="39"/>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91" name="Oval 167"/>
            <p:cNvSpPr>
              <a:spLocks noChangeArrowheads="1"/>
            </p:cNvSpPr>
            <p:nvPr/>
          </p:nvSpPr>
          <p:spPr bwMode="hidden">
            <a:xfrm>
              <a:off x="2601" y="995"/>
              <a:ext cx="101" cy="39"/>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92" name="Oval 168"/>
            <p:cNvSpPr>
              <a:spLocks noChangeArrowheads="1"/>
            </p:cNvSpPr>
            <p:nvPr/>
          </p:nvSpPr>
          <p:spPr bwMode="hidden">
            <a:xfrm>
              <a:off x="1667" y="1420"/>
              <a:ext cx="106" cy="51"/>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93" name="Oval 169"/>
            <p:cNvSpPr>
              <a:spLocks noChangeArrowheads="1"/>
            </p:cNvSpPr>
            <p:nvPr/>
          </p:nvSpPr>
          <p:spPr bwMode="hidden">
            <a:xfrm>
              <a:off x="2557" y="1516"/>
              <a:ext cx="123" cy="51"/>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94" name="Oval 170"/>
            <p:cNvSpPr>
              <a:spLocks noChangeArrowheads="1"/>
            </p:cNvSpPr>
            <p:nvPr/>
          </p:nvSpPr>
          <p:spPr bwMode="hidden">
            <a:xfrm>
              <a:off x="3619" y="1287"/>
              <a:ext cx="119" cy="51"/>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95" name="Oval 171"/>
            <p:cNvSpPr>
              <a:spLocks noChangeArrowheads="1"/>
            </p:cNvSpPr>
            <p:nvPr/>
          </p:nvSpPr>
          <p:spPr bwMode="hidden">
            <a:xfrm>
              <a:off x="3791" y="1212"/>
              <a:ext cx="111" cy="50"/>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96" name="Oval 172"/>
            <p:cNvSpPr>
              <a:spLocks noChangeArrowheads="1"/>
            </p:cNvSpPr>
            <p:nvPr/>
          </p:nvSpPr>
          <p:spPr bwMode="hidden">
            <a:xfrm>
              <a:off x="2134" y="908"/>
              <a:ext cx="79" cy="34"/>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97" name="Oval 173"/>
            <p:cNvSpPr>
              <a:spLocks noChangeArrowheads="1"/>
            </p:cNvSpPr>
            <p:nvPr/>
          </p:nvSpPr>
          <p:spPr bwMode="hidden">
            <a:xfrm>
              <a:off x="1264" y="908"/>
              <a:ext cx="79" cy="34"/>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98" name="Oval 174"/>
            <p:cNvSpPr>
              <a:spLocks noChangeArrowheads="1"/>
            </p:cNvSpPr>
            <p:nvPr/>
          </p:nvSpPr>
          <p:spPr bwMode="hidden">
            <a:xfrm>
              <a:off x="1471" y="869"/>
              <a:ext cx="79" cy="34"/>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599" name="Oval 175"/>
            <p:cNvSpPr>
              <a:spLocks noChangeArrowheads="1"/>
            </p:cNvSpPr>
            <p:nvPr/>
          </p:nvSpPr>
          <p:spPr bwMode="hidden">
            <a:xfrm>
              <a:off x="1650" y="824"/>
              <a:ext cx="82" cy="34"/>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600" name="Oval 176"/>
            <p:cNvSpPr>
              <a:spLocks noChangeArrowheads="1"/>
            </p:cNvSpPr>
            <p:nvPr/>
          </p:nvSpPr>
          <p:spPr bwMode="hidden">
            <a:xfrm>
              <a:off x="1918" y="869"/>
              <a:ext cx="84" cy="34"/>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601" name="Oval 177"/>
            <p:cNvSpPr>
              <a:spLocks noChangeArrowheads="1"/>
            </p:cNvSpPr>
            <p:nvPr/>
          </p:nvSpPr>
          <p:spPr bwMode="hidden">
            <a:xfrm>
              <a:off x="1720" y="924"/>
              <a:ext cx="83" cy="35"/>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602" name="Oval 178"/>
            <p:cNvSpPr>
              <a:spLocks noChangeArrowheads="1"/>
            </p:cNvSpPr>
            <p:nvPr/>
          </p:nvSpPr>
          <p:spPr bwMode="hidden">
            <a:xfrm>
              <a:off x="1913" y="957"/>
              <a:ext cx="95" cy="45"/>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603" name="Oval 179"/>
            <p:cNvSpPr>
              <a:spLocks noChangeArrowheads="1"/>
            </p:cNvSpPr>
            <p:nvPr/>
          </p:nvSpPr>
          <p:spPr bwMode="hidden">
            <a:xfrm>
              <a:off x="1541" y="962"/>
              <a:ext cx="93" cy="45"/>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604" name="Oval 180"/>
            <p:cNvSpPr>
              <a:spLocks noChangeArrowheads="1"/>
            </p:cNvSpPr>
            <p:nvPr/>
          </p:nvSpPr>
          <p:spPr bwMode="hidden">
            <a:xfrm>
              <a:off x="1076" y="953"/>
              <a:ext cx="101" cy="45"/>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605" name="Oval 181"/>
            <p:cNvSpPr>
              <a:spLocks noChangeArrowheads="1"/>
            </p:cNvSpPr>
            <p:nvPr/>
          </p:nvSpPr>
          <p:spPr bwMode="hidden">
            <a:xfrm>
              <a:off x="1983" y="4027"/>
              <a:ext cx="196" cy="105"/>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606" name="Oval 182"/>
            <p:cNvSpPr>
              <a:spLocks noChangeArrowheads="1"/>
            </p:cNvSpPr>
            <p:nvPr/>
          </p:nvSpPr>
          <p:spPr bwMode="hidden">
            <a:xfrm>
              <a:off x="2460" y="3671"/>
              <a:ext cx="196" cy="112"/>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607" name="Oval 183"/>
            <p:cNvSpPr>
              <a:spLocks noChangeArrowheads="1"/>
            </p:cNvSpPr>
            <p:nvPr/>
          </p:nvSpPr>
          <p:spPr bwMode="hidden">
            <a:xfrm>
              <a:off x="3238" y="3121"/>
              <a:ext cx="168" cy="95"/>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608" name="Oval 184"/>
            <p:cNvSpPr>
              <a:spLocks noChangeArrowheads="1"/>
            </p:cNvSpPr>
            <p:nvPr/>
          </p:nvSpPr>
          <p:spPr bwMode="hidden">
            <a:xfrm>
              <a:off x="3550" y="2880"/>
              <a:ext cx="157" cy="92"/>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609" name="Oval 185"/>
            <p:cNvSpPr>
              <a:spLocks noChangeArrowheads="1"/>
            </p:cNvSpPr>
            <p:nvPr/>
          </p:nvSpPr>
          <p:spPr bwMode="hidden">
            <a:xfrm>
              <a:off x="2892" y="3377"/>
              <a:ext cx="168" cy="95"/>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610" name="Oval 186"/>
            <p:cNvSpPr>
              <a:spLocks noChangeArrowheads="1"/>
            </p:cNvSpPr>
            <p:nvPr/>
          </p:nvSpPr>
          <p:spPr bwMode="hidden">
            <a:xfrm>
              <a:off x="3869" y="2657"/>
              <a:ext cx="151" cy="84"/>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611" name="Oval 187"/>
            <p:cNvSpPr>
              <a:spLocks noChangeArrowheads="1"/>
            </p:cNvSpPr>
            <p:nvPr/>
          </p:nvSpPr>
          <p:spPr bwMode="hidden">
            <a:xfrm>
              <a:off x="4090" y="2475"/>
              <a:ext cx="156" cy="89"/>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612" name="Oval 188"/>
            <p:cNvSpPr>
              <a:spLocks noChangeArrowheads="1"/>
            </p:cNvSpPr>
            <p:nvPr/>
          </p:nvSpPr>
          <p:spPr bwMode="hidden">
            <a:xfrm>
              <a:off x="4327" y="2314"/>
              <a:ext cx="132" cy="72"/>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613" name="Oval 189"/>
            <p:cNvSpPr>
              <a:spLocks noChangeArrowheads="1"/>
            </p:cNvSpPr>
            <p:nvPr/>
          </p:nvSpPr>
          <p:spPr bwMode="hidden">
            <a:xfrm>
              <a:off x="4712" y="2022"/>
              <a:ext cx="134" cy="71"/>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614" name="Oval 190"/>
            <p:cNvSpPr>
              <a:spLocks noChangeArrowheads="1"/>
            </p:cNvSpPr>
            <p:nvPr/>
          </p:nvSpPr>
          <p:spPr bwMode="hidden">
            <a:xfrm>
              <a:off x="4533" y="2162"/>
              <a:ext cx="139" cy="60"/>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615" name="Oval 191"/>
            <p:cNvSpPr>
              <a:spLocks noChangeArrowheads="1"/>
            </p:cNvSpPr>
            <p:nvPr/>
          </p:nvSpPr>
          <p:spPr bwMode="hidden">
            <a:xfrm>
              <a:off x="4863" y="1920"/>
              <a:ext cx="128" cy="61"/>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616" name="Oval 192"/>
            <p:cNvSpPr>
              <a:spLocks noChangeArrowheads="1"/>
            </p:cNvSpPr>
            <p:nvPr/>
          </p:nvSpPr>
          <p:spPr bwMode="hidden">
            <a:xfrm>
              <a:off x="5009" y="1807"/>
              <a:ext cx="128" cy="61"/>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617" name="Oval 193"/>
            <p:cNvSpPr>
              <a:spLocks noChangeArrowheads="1"/>
            </p:cNvSpPr>
            <p:nvPr/>
          </p:nvSpPr>
          <p:spPr bwMode="hidden">
            <a:xfrm>
              <a:off x="5161" y="1702"/>
              <a:ext cx="123" cy="50"/>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618" name="Oval 194"/>
            <p:cNvSpPr>
              <a:spLocks noChangeArrowheads="1"/>
            </p:cNvSpPr>
            <p:nvPr/>
          </p:nvSpPr>
          <p:spPr bwMode="hidden">
            <a:xfrm>
              <a:off x="5277" y="1615"/>
              <a:ext cx="124" cy="50"/>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619" name="Oval 195"/>
            <p:cNvSpPr>
              <a:spLocks noChangeArrowheads="1"/>
            </p:cNvSpPr>
            <p:nvPr/>
          </p:nvSpPr>
          <p:spPr bwMode="hidden">
            <a:xfrm>
              <a:off x="5398" y="1521"/>
              <a:ext cx="123" cy="51"/>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620" name="Oval 196"/>
            <p:cNvSpPr>
              <a:spLocks noChangeArrowheads="1"/>
            </p:cNvSpPr>
            <p:nvPr/>
          </p:nvSpPr>
          <p:spPr bwMode="hidden">
            <a:xfrm>
              <a:off x="3255" y="4071"/>
              <a:ext cx="196" cy="106"/>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621" name="Oval 197"/>
            <p:cNvSpPr>
              <a:spLocks noChangeArrowheads="1"/>
            </p:cNvSpPr>
            <p:nvPr/>
          </p:nvSpPr>
          <p:spPr bwMode="hidden">
            <a:xfrm>
              <a:off x="3651" y="3693"/>
              <a:ext cx="196" cy="109"/>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622" name="Oval 198"/>
            <p:cNvSpPr>
              <a:spLocks noChangeArrowheads="1"/>
            </p:cNvSpPr>
            <p:nvPr/>
          </p:nvSpPr>
          <p:spPr bwMode="hidden">
            <a:xfrm>
              <a:off x="4773" y="3705"/>
              <a:ext cx="201" cy="106"/>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623" name="Oval 199"/>
            <p:cNvSpPr>
              <a:spLocks noChangeArrowheads="1"/>
            </p:cNvSpPr>
            <p:nvPr/>
          </p:nvSpPr>
          <p:spPr bwMode="hidden">
            <a:xfrm>
              <a:off x="4491" y="4048"/>
              <a:ext cx="196" cy="105"/>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624" name="Oval 200"/>
            <p:cNvSpPr>
              <a:spLocks noChangeArrowheads="1"/>
            </p:cNvSpPr>
            <p:nvPr/>
          </p:nvSpPr>
          <p:spPr bwMode="hidden">
            <a:xfrm>
              <a:off x="3989" y="3396"/>
              <a:ext cx="174" cy="96"/>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625" name="Oval 201"/>
            <p:cNvSpPr>
              <a:spLocks noChangeArrowheads="1"/>
            </p:cNvSpPr>
            <p:nvPr/>
          </p:nvSpPr>
          <p:spPr bwMode="hidden">
            <a:xfrm>
              <a:off x="4263" y="3141"/>
              <a:ext cx="172" cy="95"/>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626" name="Oval 202"/>
            <p:cNvSpPr>
              <a:spLocks noChangeArrowheads="1"/>
            </p:cNvSpPr>
            <p:nvPr/>
          </p:nvSpPr>
          <p:spPr bwMode="hidden">
            <a:xfrm>
              <a:off x="5044" y="3418"/>
              <a:ext cx="167" cy="95"/>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627" name="Oval 203"/>
            <p:cNvSpPr>
              <a:spLocks noChangeArrowheads="1"/>
            </p:cNvSpPr>
            <p:nvPr/>
          </p:nvSpPr>
          <p:spPr bwMode="hidden">
            <a:xfrm>
              <a:off x="4553" y="2873"/>
              <a:ext cx="154" cy="83"/>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628" name="Oval 204"/>
            <p:cNvSpPr>
              <a:spLocks noChangeArrowheads="1"/>
            </p:cNvSpPr>
            <p:nvPr/>
          </p:nvSpPr>
          <p:spPr bwMode="hidden">
            <a:xfrm>
              <a:off x="5293" y="3116"/>
              <a:ext cx="168" cy="95"/>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629" name="Oval 205"/>
            <p:cNvSpPr>
              <a:spLocks noChangeArrowheads="1"/>
            </p:cNvSpPr>
            <p:nvPr/>
          </p:nvSpPr>
          <p:spPr bwMode="hidden">
            <a:xfrm>
              <a:off x="5497" y="2879"/>
              <a:ext cx="152" cy="93"/>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630" name="Oval 206"/>
            <p:cNvSpPr>
              <a:spLocks noChangeArrowheads="1"/>
            </p:cNvSpPr>
            <p:nvPr/>
          </p:nvSpPr>
          <p:spPr bwMode="hidden">
            <a:xfrm>
              <a:off x="4772" y="2673"/>
              <a:ext cx="156" cy="83"/>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631" name="Oval 207"/>
            <p:cNvSpPr>
              <a:spLocks noChangeArrowheads="1"/>
            </p:cNvSpPr>
            <p:nvPr/>
          </p:nvSpPr>
          <p:spPr bwMode="hidden">
            <a:xfrm>
              <a:off x="4966" y="2488"/>
              <a:ext cx="156" cy="84"/>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632" name="Oval 208"/>
            <p:cNvSpPr>
              <a:spLocks noChangeArrowheads="1"/>
            </p:cNvSpPr>
            <p:nvPr/>
          </p:nvSpPr>
          <p:spPr bwMode="hidden">
            <a:xfrm>
              <a:off x="5444" y="2052"/>
              <a:ext cx="131" cy="73"/>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633" name="Oval 209"/>
            <p:cNvSpPr>
              <a:spLocks noChangeArrowheads="1"/>
            </p:cNvSpPr>
            <p:nvPr/>
          </p:nvSpPr>
          <p:spPr bwMode="hidden">
            <a:xfrm>
              <a:off x="5161" y="2314"/>
              <a:ext cx="142" cy="72"/>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634" name="Oval 210"/>
            <p:cNvSpPr>
              <a:spLocks noChangeArrowheads="1"/>
            </p:cNvSpPr>
            <p:nvPr/>
          </p:nvSpPr>
          <p:spPr bwMode="hidden">
            <a:xfrm>
              <a:off x="5318" y="2175"/>
              <a:ext cx="133" cy="59"/>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635" name="Oval 211"/>
            <p:cNvSpPr>
              <a:spLocks noChangeArrowheads="1"/>
            </p:cNvSpPr>
            <p:nvPr/>
          </p:nvSpPr>
          <p:spPr bwMode="hidden">
            <a:xfrm>
              <a:off x="5581" y="1933"/>
              <a:ext cx="128" cy="61"/>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636" name="Oval 212"/>
            <p:cNvSpPr>
              <a:spLocks noChangeArrowheads="1"/>
            </p:cNvSpPr>
            <p:nvPr/>
          </p:nvSpPr>
          <p:spPr bwMode="hidden">
            <a:xfrm>
              <a:off x="5689" y="1811"/>
              <a:ext cx="128" cy="60"/>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637" name="Oval 213"/>
            <p:cNvSpPr>
              <a:spLocks noChangeArrowheads="1"/>
            </p:cNvSpPr>
            <p:nvPr/>
          </p:nvSpPr>
          <p:spPr bwMode="hidden">
            <a:xfrm>
              <a:off x="5663" y="2680"/>
              <a:ext cx="156" cy="83"/>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638" name="Oval 214"/>
            <p:cNvSpPr>
              <a:spLocks noChangeArrowheads="1"/>
            </p:cNvSpPr>
            <p:nvPr/>
          </p:nvSpPr>
          <p:spPr bwMode="hidden">
            <a:xfrm>
              <a:off x="-65" y="2865"/>
              <a:ext cx="150" cy="89"/>
            </a:xfrm>
            <a:prstGeom prst="ellipse">
              <a:avLst/>
            </a:prstGeom>
            <a:solidFill>
              <a:srgbClr val="C0C0C0">
                <a:alpha val="24001"/>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639" name="Oval 215"/>
            <p:cNvSpPr>
              <a:spLocks noChangeArrowheads="1"/>
            </p:cNvSpPr>
            <p:nvPr/>
          </p:nvSpPr>
          <p:spPr bwMode="hidden">
            <a:xfrm>
              <a:off x="2" y="2477"/>
              <a:ext cx="156" cy="89"/>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640" name="Oval 216"/>
            <p:cNvSpPr>
              <a:spLocks noChangeArrowheads="1"/>
            </p:cNvSpPr>
            <p:nvPr/>
          </p:nvSpPr>
          <p:spPr bwMode="hidden">
            <a:xfrm>
              <a:off x="-9" y="1436"/>
              <a:ext cx="105" cy="44"/>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103641" name="Oval 217"/>
            <p:cNvSpPr>
              <a:spLocks noChangeArrowheads="1"/>
            </p:cNvSpPr>
            <p:nvPr/>
          </p:nvSpPr>
          <p:spPr bwMode="hidden">
            <a:xfrm>
              <a:off x="5624" y="4010"/>
              <a:ext cx="199" cy="106"/>
            </a:xfrm>
            <a:prstGeom prst="ellipse">
              <a:avLst/>
            </a:prstGeom>
            <a:solidFill>
              <a:srgbClr val="C0C0C0">
                <a:alpha val="44000"/>
              </a:srgbClr>
            </a:solidFill>
            <a:ln>
              <a:noFill/>
            </a:ln>
            <a:effectLst/>
            <a:extLst/>
          </p:spPr>
          <p:txBody>
            <a:bodyP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grpSp>
      <p:sp>
        <p:nvSpPr>
          <p:cNvPr id="1027" name="Rectangle 221"/>
          <p:cNvSpPr>
            <a:spLocks noGrp="1" noChangeArrowheads="1"/>
          </p:cNvSpPr>
          <p:nvPr>
            <p:ph type="body" idx="1"/>
          </p:nvPr>
        </p:nvSpPr>
        <p:spPr bwMode="auto">
          <a:xfrm>
            <a:off x="395288" y="1268413"/>
            <a:ext cx="8229600" cy="939800"/>
          </a:xfrm>
          <a:prstGeom prst="rect">
            <a:avLst/>
          </a:prstGeom>
          <a:solidFill>
            <a:schemeClr val="tx2">
              <a:alpha val="72940"/>
            </a:schemeClr>
          </a:solidFill>
          <a:ln w="57150" cmpd="thinThick">
            <a:solidFill>
              <a:srgbClr val="996633"/>
            </a:solidFill>
            <a:miter lim="800000"/>
            <a:headEnd/>
            <a:tailEnd/>
          </a:ln>
        </p:spPr>
        <p:txBody>
          <a:bodyPr vert="horz" wrap="square" lIns="91440" tIns="45720" rIns="91440" bIns="45720" numCol="1" anchor="t" anchorCtr="0" compatLnSpc="1">
            <a:prstTxWarp prst="textNoShape">
              <a:avLst/>
            </a:prstTxWarp>
            <a:spAutoFit/>
          </a:bodyPr>
          <a:lstStyle/>
          <a:p>
            <a:pPr lvl="0"/>
            <a:r>
              <a:rPr lang="zh-CN" altLang="en-US" smtClean="0"/>
              <a:t>单击此处编辑母版文本样式</a:t>
            </a:r>
            <a:endParaRPr lang="en-US" altLang="zh-CN" smtClean="0"/>
          </a:p>
          <a:p>
            <a:pPr lvl="1"/>
            <a:r>
              <a:rPr lang="zh-CN" altLang="en-US" smtClean="0"/>
              <a:t>第二级</a:t>
            </a:r>
          </a:p>
        </p:txBody>
      </p:sp>
      <p:sp>
        <p:nvSpPr>
          <p:cNvPr id="103646" name="Rectangle 222"/>
          <p:cNvSpPr>
            <a:spLocks noGrp="1" noChangeArrowheads="1"/>
          </p:cNvSpPr>
          <p:nvPr>
            <p:ph type="title"/>
          </p:nvPr>
        </p:nvSpPr>
        <p:spPr bwMode="auto">
          <a:xfrm>
            <a:off x="395288" y="333375"/>
            <a:ext cx="5256212" cy="647700"/>
          </a:xfrm>
          <a:prstGeom prst="rect">
            <a:avLst/>
          </a:prstGeom>
          <a:noFill/>
          <a:ln>
            <a:noFill/>
          </a:ln>
          <a:effectLst/>
          <a:extLst>
            <a:ext uri="{FAA26D3D-D897-4be2-8F04-BA451C77F1D7}"/>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3647" name="Rectangle 223"/>
          <p:cNvSpPr>
            <a:spLocks noGrp="1" noChangeArrowheads="1"/>
          </p:cNvSpPr>
          <p:nvPr>
            <p:ph type="ftr" sz="quarter" idx="3"/>
          </p:nvPr>
        </p:nvSpPr>
        <p:spPr bwMode="auto">
          <a:xfrm>
            <a:off x="1331913" y="6453188"/>
            <a:ext cx="5867400" cy="404812"/>
          </a:xfrm>
          <a:prstGeom prst="rect">
            <a:avLst/>
          </a:prstGeom>
          <a:noFill/>
          <a:ln>
            <a:noFill/>
          </a:ln>
          <a:effectLst/>
          <a:extLst>
            <a:ext uri="{FAA26D3D-D897-4be2-8F04-BA451C77F1D7}"/>
          </a:extLst>
        </p:spPr>
        <p:txBody>
          <a:bodyPr vert="horz" wrap="square" lIns="91440" tIns="45720" rIns="91440" bIns="45720" numCol="1" anchor="b" anchorCtr="0" compatLnSpc="1">
            <a:prstTxWarp prst="textNoShape">
              <a:avLst/>
            </a:prstTxWarp>
          </a:bodyPr>
          <a:lstStyle>
            <a:lvl1pPr algn="ctr">
              <a:lnSpc>
                <a:spcPct val="100000"/>
              </a:lnSpc>
              <a:spcBef>
                <a:spcPct val="50000"/>
              </a:spcBef>
              <a:buClrTx/>
              <a:buSzTx/>
              <a:buFontTx/>
              <a:buNone/>
              <a:defRPr kumimoji="1" sz="1800" b="0">
                <a:solidFill>
                  <a:schemeClr val="folHlink"/>
                </a:solidFill>
                <a:effectLst>
                  <a:outerShdw blurRad="38100" dist="38100" dir="2700000" algn="tl">
                    <a:srgbClr val="000000"/>
                  </a:outerShdw>
                </a:effectLst>
                <a:latin typeface="+mn-lt"/>
                <a:ea typeface="宋体" charset="0"/>
              </a:defRPr>
            </a:lvl1pPr>
          </a:lstStyle>
          <a:p>
            <a:pPr>
              <a:defRPr/>
            </a:pPr>
            <a:r>
              <a:rPr lang="en-US" altLang="zh-CN"/>
              <a:t>    </a:t>
            </a:r>
            <a:r>
              <a:rPr lang="zh-CN" altLang="en-US"/>
              <a:t>北京工商大学</a:t>
            </a:r>
            <a:r>
              <a:rPr lang="en-US" altLang="zh-CN"/>
              <a:t>  </a:t>
            </a:r>
            <a:r>
              <a:rPr lang="zh-CN" altLang="en-US"/>
              <a:t>赵峰</a:t>
            </a:r>
          </a:p>
        </p:txBody>
      </p:sp>
      <p:pic>
        <p:nvPicPr>
          <p:cNvPr id="1030" name="Picture 224" descr="bgcolmenu2[1]"/>
          <p:cNvPicPr>
            <a:picLocks noChangeAspect="1" noChangeArrowheads="1"/>
          </p:cNvPicPr>
          <p:nvPr userDrawn="1"/>
        </p:nvPicPr>
        <p:blipFill>
          <a:blip r:embed="rId17"/>
          <a:srcRect/>
          <a:stretch>
            <a:fillRect/>
          </a:stretch>
        </p:blipFill>
        <p:spPr bwMode="auto">
          <a:xfrm>
            <a:off x="250825" y="981075"/>
            <a:ext cx="1571625" cy="238125"/>
          </a:xfrm>
          <a:prstGeom prst="rect">
            <a:avLst/>
          </a:prstGeom>
          <a:noFill/>
          <a:ln w="9525">
            <a:noFill/>
            <a:miter lim="800000"/>
            <a:headEnd/>
            <a:tailEnd/>
          </a:ln>
        </p:spPr>
      </p:pic>
      <p:pic>
        <p:nvPicPr>
          <p:cNvPr id="1031" name="Picture 225" descr="bgcolmenu1[1]"/>
          <p:cNvPicPr>
            <a:picLocks noChangeAspect="1" noChangeArrowheads="1"/>
          </p:cNvPicPr>
          <p:nvPr userDrawn="1"/>
        </p:nvPicPr>
        <p:blipFill>
          <a:blip r:embed="rId18"/>
          <a:srcRect/>
          <a:stretch>
            <a:fillRect/>
          </a:stretch>
        </p:blipFill>
        <p:spPr bwMode="auto">
          <a:xfrm>
            <a:off x="1042988" y="981075"/>
            <a:ext cx="1571625" cy="238125"/>
          </a:xfrm>
          <a:prstGeom prst="rect">
            <a:avLst/>
          </a:prstGeom>
          <a:noFill/>
          <a:ln w="9525">
            <a:noFill/>
            <a:miter lim="800000"/>
            <a:headEnd/>
            <a:tailEnd/>
          </a:ln>
        </p:spPr>
      </p:pic>
      <p:pic>
        <p:nvPicPr>
          <p:cNvPr id="1032" name="Picture 226" descr="bgcolmenu2[1]"/>
          <p:cNvPicPr>
            <a:picLocks noChangeAspect="1" noChangeArrowheads="1"/>
          </p:cNvPicPr>
          <p:nvPr userDrawn="1"/>
        </p:nvPicPr>
        <p:blipFill>
          <a:blip r:embed="rId17"/>
          <a:srcRect/>
          <a:stretch>
            <a:fillRect/>
          </a:stretch>
        </p:blipFill>
        <p:spPr bwMode="auto">
          <a:xfrm>
            <a:off x="1835150" y="981075"/>
            <a:ext cx="1571625" cy="238125"/>
          </a:xfrm>
          <a:prstGeom prst="rect">
            <a:avLst/>
          </a:prstGeom>
          <a:noFill/>
          <a:ln w="9525">
            <a:noFill/>
            <a:miter lim="800000"/>
            <a:headEnd/>
            <a:tailEnd/>
          </a:ln>
        </p:spPr>
      </p:pic>
      <p:pic>
        <p:nvPicPr>
          <p:cNvPr id="1033" name="Picture 227" descr="bgcolmenu1[1]"/>
          <p:cNvPicPr>
            <a:picLocks noChangeAspect="1" noChangeArrowheads="1"/>
          </p:cNvPicPr>
          <p:nvPr userDrawn="1"/>
        </p:nvPicPr>
        <p:blipFill>
          <a:blip r:embed="rId18"/>
          <a:srcRect/>
          <a:stretch>
            <a:fillRect/>
          </a:stretch>
        </p:blipFill>
        <p:spPr bwMode="auto">
          <a:xfrm>
            <a:off x="2627313" y="981075"/>
            <a:ext cx="1571625" cy="238125"/>
          </a:xfrm>
          <a:prstGeom prst="rect">
            <a:avLst/>
          </a:prstGeom>
          <a:noFill/>
          <a:ln w="9525">
            <a:noFill/>
            <a:miter lim="800000"/>
            <a:headEnd/>
            <a:tailEnd/>
          </a:ln>
        </p:spPr>
      </p:pic>
      <p:pic>
        <p:nvPicPr>
          <p:cNvPr id="1034" name="Picture 228" descr="bgcolmenu2[1]"/>
          <p:cNvPicPr>
            <a:picLocks noChangeAspect="1" noChangeArrowheads="1"/>
          </p:cNvPicPr>
          <p:nvPr userDrawn="1"/>
        </p:nvPicPr>
        <p:blipFill>
          <a:blip r:embed="rId17"/>
          <a:srcRect/>
          <a:stretch>
            <a:fillRect/>
          </a:stretch>
        </p:blipFill>
        <p:spPr bwMode="auto">
          <a:xfrm>
            <a:off x="3419475" y="981075"/>
            <a:ext cx="1571625" cy="238125"/>
          </a:xfrm>
          <a:prstGeom prst="rect">
            <a:avLst/>
          </a:prstGeom>
          <a:noFill/>
          <a:ln w="9525">
            <a:noFill/>
            <a:miter lim="800000"/>
            <a:headEnd/>
            <a:tailEnd/>
          </a:ln>
        </p:spPr>
      </p:pic>
      <p:pic>
        <p:nvPicPr>
          <p:cNvPr id="1035" name="Picture 229" descr="bgcolmenu1[1]"/>
          <p:cNvPicPr>
            <a:picLocks noChangeAspect="1" noChangeArrowheads="1"/>
          </p:cNvPicPr>
          <p:nvPr userDrawn="1"/>
        </p:nvPicPr>
        <p:blipFill>
          <a:blip r:embed="rId18"/>
          <a:srcRect/>
          <a:stretch>
            <a:fillRect/>
          </a:stretch>
        </p:blipFill>
        <p:spPr bwMode="auto">
          <a:xfrm>
            <a:off x="4211638" y="981075"/>
            <a:ext cx="1571625" cy="238125"/>
          </a:xfrm>
          <a:prstGeom prst="rect">
            <a:avLst/>
          </a:prstGeom>
          <a:noFill/>
          <a:ln w="9525">
            <a:noFill/>
            <a:miter lim="800000"/>
            <a:headEnd/>
            <a:tailEnd/>
          </a:ln>
        </p:spPr>
      </p:pic>
    </p:spTree>
  </p:cSld>
  <p:clrMap bg1="dk2" tx1="lt1" bg2="dk1" tx2="lt2" accent1="accent1" accent2="accent2" accent3="accent3" accent4="accent4" accent5="accent5" accent6="accent6" hlink="hlink" folHlink="folHlink"/>
  <p:sldLayoutIdLst>
    <p:sldLayoutId id="2147483706" r:id="rId1"/>
    <p:sldLayoutId id="2147483705" r:id="rId2"/>
    <p:sldLayoutId id="2147483704" r:id="rId3"/>
    <p:sldLayoutId id="2147483703" r:id="rId4"/>
    <p:sldLayoutId id="2147483702" r:id="rId5"/>
    <p:sldLayoutId id="2147483701" r:id="rId6"/>
    <p:sldLayoutId id="2147483700" r:id="rId7"/>
    <p:sldLayoutId id="2147483699" r:id="rId8"/>
    <p:sldLayoutId id="2147483698" r:id="rId9"/>
    <p:sldLayoutId id="2147483697" r:id="rId10"/>
    <p:sldLayoutId id="2147483696" r:id="rId11"/>
    <p:sldLayoutId id="2147483695" r:id="rId12"/>
    <p:sldLayoutId id="2147483694" r:id="rId13"/>
    <p:sldLayoutId id="2147483693" r:id="rId14"/>
    <p:sldLayoutId id="2147483707" r:id="rId15"/>
  </p:sldLayoutIdLst>
  <p:timing>
    <p:tnLst>
      <p:par>
        <p:cTn id="1" dur="indefinite" restart="never" nodeType="tmRoot"/>
      </p:par>
    </p:tnLst>
  </p:timing>
  <p:hf sldNum="0" hdr="0" dt="0"/>
  <p:txStyles>
    <p:titleStyle>
      <a:lvl1pPr algn="l" rtl="0" eaLnBrk="0" fontAlgn="base" hangingPunct="0">
        <a:spcBef>
          <a:spcPct val="0"/>
        </a:spcBef>
        <a:spcAft>
          <a:spcPct val="0"/>
        </a:spcAft>
        <a:defRPr sz="2400" b="1">
          <a:solidFill>
            <a:srgbClr val="230D75"/>
          </a:solidFill>
          <a:effectLst>
            <a:outerShdw blurRad="38100" dist="38100" dir="2700000" algn="tl">
              <a:srgbClr val="000000"/>
            </a:outerShdw>
          </a:effectLst>
          <a:latin typeface="+mj-lt"/>
          <a:ea typeface="+mj-ea"/>
          <a:cs typeface="+mj-cs"/>
        </a:defRPr>
      </a:lvl1pPr>
      <a:lvl2pPr algn="l" rtl="0" eaLnBrk="0" fontAlgn="base" hangingPunct="0">
        <a:spcBef>
          <a:spcPct val="0"/>
        </a:spcBef>
        <a:spcAft>
          <a:spcPct val="0"/>
        </a:spcAft>
        <a:defRPr sz="2400" b="1">
          <a:solidFill>
            <a:srgbClr val="230D75"/>
          </a:solidFill>
          <a:effectLst>
            <a:outerShdw blurRad="38100" dist="38100" dir="2700000" algn="tl">
              <a:srgbClr val="000000"/>
            </a:outerShdw>
          </a:effectLst>
          <a:latin typeface="Arial" charset="0"/>
          <a:ea typeface="宋体" charset="0"/>
          <a:cs typeface="宋体" charset="0"/>
        </a:defRPr>
      </a:lvl2pPr>
      <a:lvl3pPr algn="l" rtl="0" eaLnBrk="0" fontAlgn="base" hangingPunct="0">
        <a:spcBef>
          <a:spcPct val="0"/>
        </a:spcBef>
        <a:spcAft>
          <a:spcPct val="0"/>
        </a:spcAft>
        <a:defRPr sz="2400" b="1">
          <a:solidFill>
            <a:srgbClr val="230D75"/>
          </a:solidFill>
          <a:effectLst>
            <a:outerShdw blurRad="38100" dist="38100" dir="2700000" algn="tl">
              <a:srgbClr val="000000"/>
            </a:outerShdw>
          </a:effectLst>
          <a:latin typeface="Arial" charset="0"/>
          <a:ea typeface="宋体" charset="0"/>
          <a:cs typeface="宋体" charset="0"/>
        </a:defRPr>
      </a:lvl3pPr>
      <a:lvl4pPr algn="l" rtl="0" eaLnBrk="0" fontAlgn="base" hangingPunct="0">
        <a:spcBef>
          <a:spcPct val="0"/>
        </a:spcBef>
        <a:spcAft>
          <a:spcPct val="0"/>
        </a:spcAft>
        <a:defRPr sz="2400" b="1">
          <a:solidFill>
            <a:srgbClr val="230D75"/>
          </a:solidFill>
          <a:effectLst>
            <a:outerShdw blurRad="38100" dist="38100" dir="2700000" algn="tl">
              <a:srgbClr val="000000"/>
            </a:outerShdw>
          </a:effectLst>
          <a:latin typeface="Arial" charset="0"/>
          <a:ea typeface="宋体" charset="0"/>
          <a:cs typeface="宋体" charset="0"/>
        </a:defRPr>
      </a:lvl4pPr>
      <a:lvl5pPr algn="l" rtl="0" eaLnBrk="0" fontAlgn="base" hangingPunct="0">
        <a:spcBef>
          <a:spcPct val="0"/>
        </a:spcBef>
        <a:spcAft>
          <a:spcPct val="0"/>
        </a:spcAft>
        <a:defRPr sz="2400" b="1">
          <a:solidFill>
            <a:srgbClr val="230D75"/>
          </a:solidFill>
          <a:effectLst>
            <a:outerShdw blurRad="38100" dist="38100" dir="2700000" algn="tl">
              <a:srgbClr val="000000"/>
            </a:outerShdw>
          </a:effectLst>
          <a:latin typeface="Arial" charset="0"/>
          <a:ea typeface="宋体" charset="0"/>
          <a:cs typeface="宋体" charset="0"/>
        </a:defRPr>
      </a:lvl5pPr>
      <a:lvl6pPr marL="457200" algn="l" rtl="0" fontAlgn="base">
        <a:spcBef>
          <a:spcPct val="0"/>
        </a:spcBef>
        <a:spcAft>
          <a:spcPct val="0"/>
        </a:spcAft>
        <a:defRPr sz="2400" b="1">
          <a:solidFill>
            <a:srgbClr val="230D75"/>
          </a:solidFill>
          <a:effectLst>
            <a:outerShdw blurRad="38100" dist="38100" dir="2700000" algn="tl">
              <a:srgbClr val="000000"/>
            </a:outerShdw>
          </a:effectLst>
          <a:latin typeface="Arial" charset="0"/>
          <a:ea typeface="宋体" charset="0"/>
          <a:cs typeface="宋体" charset="0"/>
        </a:defRPr>
      </a:lvl6pPr>
      <a:lvl7pPr marL="914400" algn="l" rtl="0" fontAlgn="base">
        <a:spcBef>
          <a:spcPct val="0"/>
        </a:spcBef>
        <a:spcAft>
          <a:spcPct val="0"/>
        </a:spcAft>
        <a:defRPr sz="2400" b="1">
          <a:solidFill>
            <a:srgbClr val="230D75"/>
          </a:solidFill>
          <a:effectLst>
            <a:outerShdw blurRad="38100" dist="38100" dir="2700000" algn="tl">
              <a:srgbClr val="000000"/>
            </a:outerShdw>
          </a:effectLst>
          <a:latin typeface="Arial" charset="0"/>
          <a:ea typeface="宋体" charset="0"/>
          <a:cs typeface="宋体" charset="0"/>
        </a:defRPr>
      </a:lvl7pPr>
      <a:lvl8pPr marL="1371600" algn="l" rtl="0" fontAlgn="base">
        <a:spcBef>
          <a:spcPct val="0"/>
        </a:spcBef>
        <a:spcAft>
          <a:spcPct val="0"/>
        </a:spcAft>
        <a:defRPr sz="2400" b="1">
          <a:solidFill>
            <a:srgbClr val="230D75"/>
          </a:solidFill>
          <a:effectLst>
            <a:outerShdw blurRad="38100" dist="38100" dir="2700000" algn="tl">
              <a:srgbClr val="000000"/>
            </a:outerShdw>
          </a:effectLst>
          <a:latin typeface="Arial" charset="0"/>
          <a:ea typeface="宋体" charset="0"/>
          <a:cs typeface="宋体" charset="0"/>
        </a:defRPr>
      </a:lvl8pPr>
      <a:lvl9pPr marL="1828800" algn="l" rtl="0" fontAlgn="base">
        <a:spcBef>
          <a:spcPct val="0"/>
        </a:spcBef>
        <a:spcAft>
          <a:spcPct val="0"/>
        </a:spcAft>
        <a:defRPr sz="2400" b="1">
          <a:solidFill>
            <a:srgbClr val="230D75"/>
          </a:solidFill>
          <a:effectLst>
            <a:outerShdw blurRad="38100" dist="38100" dir="2700000" algn="tl">
              <a:srgbClr val="000000"/>
            </a:outerShdw>
          </a:effectLst>
          <a:latin typeface="Arial" charset="0"/>
          <a:ea typeface="宋体" charset="0"/>
          <a:cs typeface="宋体" charset="0"/>
        </a:defRPr>
      </a:lvl9pPr>
    </p:titleStyle>
    <p:bodyStyle>
      <a:lvl1pPr marL="95250" indent="-95250" algn="l" rtl="0" eaLnBrk="0" fontAlgn="base" hangingPunct="0">
        <a:lnSpc>
          <a:spcPct val="120000"/>
        </a:lnSpc>
        <a:spcBef>
          <a:spcPct val="20000"/>
        </a:spcBef>
        <a:spcAft>
          <a:spcPct val="0"/>
        </a:spcAft>
        <a:buClr>
          <a:schemeClr val="hlink"/>
        </a:buClr>
        <a:buFont typeface="Wingdings" pitchFamily="2" charset="2"/>
        <a:buBlip>
          <a:blip r:embed="rId19"/>
        </a:buBlip>
        <a:defRPr sz="2000" b="1">
          <a:solidFill>
            <a:srgbClr val="101016"/>
          </a:solidFill>
          <a:latin typeface="+mn-lt"/>
          <a:ea typeface="+mn-ea"/>
          <a:cs typeface="+mn-cs"/>
        </a:defRPr>
      </a:lvl1pPr>
      <a:lvl2pPr marL="361950" indent="-87313" algn="l" rtl="0" eaLnBrk="0" fontAlgn="base" hangingPunct="0">
        <a:lnSpc>
          <a:spcPct val="120000"/>
        </a:lnSpc>
        <a:spcBef>
          <a:spcPct val="20000"/>
        </a:spcBef>
        <a:spcAft>
          <a:spcPct val="0"/>
        </a:spcAft>
        <a:buClr>
          <a:schemeClr val="folHlink"/>
        </a:buClr>
        <a:buSzPct val="85000"/>
        <a:buFont typeface="Wingdings" pitchFamily="2" charset="2"/>
        <a:buBlip>
          <a:blip r:embed="rId20"/>
        </a:buBlip>
        <a:defRPr sz="2000" b="1">
          <a:solidFill>
            <a:srgbClr val="230D75"/>
          </a:solidFill>
          <a:latin typeface="+mn-lt"/>
          <a:ea typeface="+mn-ea"/>
        </a:defRPr>
      </a:lvl2pPr>
      <a:lvl3pPr marL="1235075" indent="-228600" algn="l" rtl="0" eaLnBrk="0" fontAlgn="base" hangingPunct="0">
        <a:spcBef>
          <a:spcPct val="20000"/>
        </a:spcBef>
        <a:spcAft>
          <a:spcPct val="0"/>
        </a:spcAft>
        <a:buClr>
          <a:schemeClr val="hlink"/>
        </a:buClr>
        <a:buFont typeface="Wingdings" pitchFamily="2" charset="2"/>
        <a:buBlip>
          <a:blip r:embed="rId19"/>
        </a:buBlip>
        <a:defRPr sz="2400">
          <a:solidFill>
            <a:schemeClr val="tx1"/>
          </a:solidFill>
          <a:effectLst>
            <a:outerShdw blurRad="38100" dist="38100" dir="2700000" algn="tl">
              <a:srgbClr val="000000"/>
            </a:outerShdw>
          </a:effectLst>
          <a:latin typeface="+mn-lt"/>
          <a:ea typeface="+mn-ea"/>
        </a:defRPr>
      </a:lvl3pPr>
      <a:lvl4pPr marL="1643063" indent="-228600" algn="l" rtl="0" eaLnBrk="0" fontAlgn="base" hangingPunct="0">
        <a:spcBef>
          <a:spcPct val="20000"/>
        </a:spcBef>
        <a:spcAft>
          <a:spcPct val="0"/>
        </a:spcAft>
        <a:buClr>
          <a:schemeClr val="folHlink"/>
        </a:buClr>
        <a:buSzPct val="50000"/>
        <a:buFont typeface="Wingdings" pitchFamily="2" charset="2"/>
        <a:buChar char="n"/>
        <a:defRPr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hlink"/>
        </a:buClr>
        <a:buFont typeface="Wingdings" pitchFamily="2" charset="2"/>
        <a:buBlip>
          <a:blip r:embed="rId19"/>
        </a:buBlip>
        <a:defRPr sz="2000">
          <a:solidFill>
            <a:schemeClr val="tx1"/>
          </a:solidFill>
          <a:effectLst>
            <a:outerShdw blurRad="38100" dist="38100" dir="2700000" algn="tl">
              <a:srgbClr val="000000"/>
            </a:outerShdw>
          </a:effectLst>
          <a:latin typeface="+mn-lt"/>
          <a:ea typeface="+mn-ea"/>
        </a:defRPr>
      </a:lvl5pPr>
      <a:lvl6pPr marL="2514600" indent="-228600" algn="l" rtl="0" fontAlgn="base">
        <a:spcBef>
          <a:spcPct val="20000"/>
        </a:spcBef>
        <a:spcAft>
          <a:spcPct val="0"/>
        </a:spcAft>
        <a:buClr>
          <a:schemeClr val="hlink"/>
        </a:buClr>
        <a:buFont typeface="Wingdings" charset="0"/>
        <a:buBlip>
          <a:blip r:embed="rId19"/>
        </a:buBlip>
        <a:defRPr sz="2000">
          <a:solidFill>
            <a:schemeClr val="tx1"/>
          </a:solidFill>
          <a:effectLst>
            <a:outerShdw blurRad="38100" dist="38100" dir="2700000" algn="tl">
              <a:srgbClr val="000000"/>
            </a:outerShdw>
          </a:effectLst>
          <a:latin typeface="+mn-lt"/>
          <a:ea typeface="+mn-ea"/>
        </a:defRPr>
      </a:lvl6pPr>
      <a:lvl7pPr marL="2971800" indent="-228600" algn="l" rtl="0" fontAlgn="base">
        <a:spcBef>
          <a:spcPct val="20000"/>
        </a:spcBef>
        <a:spcAft>
          <a:spcPct val="0"/>
        </a:spcAft>
        <a:buClr>
          <a:schemeClr val="hlink"/>
        </a:buClr>
        <a:buFont typeface="Wingdings" charset="0"/>
        <a:buBlip>
          <a:blip r:embed="rId19"/>
        </a:buBlip>
        <a:defRPr sz="2000">
          <a:solidFill>
            <a:schemeClr val="tx1"/>
          </a:solidFill>
          <a:effectLst>
            <a:outerShdw blurRad="38100" dist="38100" dir="2700000" algn="tl">
              <a:srgbClr val="000000"/>
            </a:outerShdw>
          </a:effectLst>
          <a:latin typeface="+mn-lt"/>
          <a:ea typeface="+mn-ea"/>
        </a:defRPr>
      </a:lvl7pPr>
      <a:lvl8pPr marL="3429000" indent="-228600" algn="l" rtl="0" fontAlgn="base">
        <a:spcBef>
          <a:spcPct val="20000"/>
        </a:spcBef>
        <a:spcAft>
          <a:spcPct val="0"/>
        </a:spcAft>
        <a:buClr>
          <a:schemeClr val="hlink"/>
        </a:buClr>
        <a:buFont typeface="Wingdings" charset="0"/>
        <a:buBlip>
          <a:blip r:embed="rId19"/>
        </a:buBlip>
        <a:defRPr sz="2000">
          <a:solidFill>
            <a:schemeClr val="tx1"/>
          </a:solidFill>
          <a:effectLst>
            <a:outerShdw blurRad="38100" dist="38100" dir="2700000" algn="tl">
              <a:srgbClr val="000000"/>
            </a:outerShdw>
          </a:effectLst>
          <a:latin typeface="+mn-lt"/>
          <a:ea typeface="+mn-ea"/>
        </a:defRPr>
      </a:lvl8pPr>
      <a:lvl9pPr marL="3886200" indent="-228600" algn="l" rtl="0" fontAlgn="base">
        <a:spcBef>
          <a:spcPct val="20000"/>
        </a:spcBef>
        <a:spcAft>
          <a:spcPct val="0"/>
        </a:spcAft>
        <a:buClr>
          <a:schemeClr val="hlink"/>
        </a:buClr>
        <a:buFont typeface="Wingdings" charset="0"/>
        <a:buBlip>
          <a:blip r:embed="rId19"/>
        </a:buBlip>
        <a:defRPr sz="2000">
          <a:solidFill>
            <a:schemeClr val="tx1"/>
          </a:solidFill>
          <a:effectLst>
            <a:outerShdw blurRad="38100" dist="38100" dir="2700000" algn="tl">
              <a:srgbClr val="000000"/>
            </a:outerShdw>
          </a:effectLst>
          <a:latin typeface="+mn-lt"/>
          <a:ea typeface="+mn-ea"/>
        </a:defRPr>
      </a:lvl9pPr>
    </p:bodyStyle>
    <p:otherStyle>
      <a:defPPr>
        <a:defRPr lang="zh-CN"/>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7.wmf"/></Relationships>
</file>

<file path=ppt/slides/_rels/slide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9.jpeg"/><Relationship Id="rId1" Type="http://schemas.openxmlformats.org/officeDocument/2006/relationships/slideLayout" Target="../slideLayouts/slideLayout2.xml"/><Relationship Id="rId5" Type="http://schemas.openxmlformats.org/officeDocument/2006/relationships/image" Target="../media/image10.jpe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jpeg"/><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1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0.jpeg"/><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1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9.jpeg"/><Relationship Id="rId1"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image" Target="../media/image10.jpeg"/><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jpeg"/></Relationships>
</file>

<file path=ppt/slides/_rels/slide3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0.jpeg"/><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3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jpeg"/><Relationship Id="rId1" Type="http://schemas.openxmlformats.org/officeDocument/2006/relationships/slideLayout" Target="../slideLayouts/slideLayout2.xml"/><Relationship Id="rId5" Type="http://schemas.openxmlformats.org/officeDocument/2006/relationships/image" Target="../media/image9.jpeg"/><Relationship Id="rId4" Type="http://schemas.openxmlformats.org/officeDocument/2006/relationships/image" Target="../media/image8.jpeg"/></Relationships>
</file>

<file path=ppt/slides/_rels/slide3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9.jpeg"/><Relationship Id="rId7" Type="http://schemas.openxmlformats.org/officeDocument/2006/relationships/image" Target="../media/image16.wmf"/><Relationship Id="rId2" Type="http://schemas.openxmlformats.org/officeDocument/2006/relationships/slideLayout" Target="../slideLayouts/slideLayout13.xml"/><Relationship Id="rId1" Type="http://schemas.openxmlformats.org/officeDocument/2006/relationships/vmlDrawing" Target="../drawings/vmlDrawing2.vml"/><Relationship Id="rId6" Type="http://schemas.openxmlformats.org/officeDocument/2006/relationships/oleObject" Target="../embeddings/oleObject3.bin"/><Relationship Id="rId5" Type="http://schemas.openxmlformats.org/officeDocument/2006/relationships/image" Target="../media/image15.wmf"/><Relationship Id="rId4" Type="http://schemas.openxmlformats.org/officeDocument/2006/relationships/oleObject" Target="../embeddings/oleObject2.bin"/></Relationships>
</file>

<file path=ppt/slides/_rels/slide4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9.jpeg"/><Relationship Id="rId5" Type="http://schemas.openxmlformats.org/officeDocument/2006/relationships/image" Target="../media/image17.wmf"/><Relationship Id="rId4" Type="http://schemas.openxmlformats.org/officeDocument/2006/relationships/oleObject" Target="../embeddings/oleObject4.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26"/>
          <p:cNvSpPr>
            <a:spLocks noGrp="1" noChangeArrowheads="1"/>
          </p:cNvSpPr>
          <p:nvPr>
            <p:ph type="ftr" sz="quarter" idx="10"/>
          </p:nvPr>
        </p:nvSpPr>
        <p:spPr/>
        <p:txBody>
          <a:bodyPr/>
          <a:lstStyle/>
          <a:p>
            <a:pPr>
              <a:defRPr/>
            </a:pPr>
            <a:endParaRPr lang="zh-CN" altLang="en-US" smtClean="0">
              <a:ea typeface="宋体" charset="-122"/>
            </a:endParaRPr>
          </a:p>
        </p:txBody>
      </p:sp>
      <p:sp>
        <p:nvSpPr>
          <p:cNvPr id="112642" name="Rectangle 2"/>
          <p:cNvSpPr>
            <a:spLocks noGrp="1" noChangeArrowheads="1"/>
          </p:cNvSpPr>
          <p:nvPr>
            <p:ph type="ctrTitle"/>
          </p:nvPr>
        </p:nvSpPr>
        <p:spPr>
          <a:xfrm>
            <a:off x="539750" y="1377950"/>
            <a:ext cx="7993063" cy="1338263"/>
          </a:xfrm>
        </p:spPr>
        <p:txBody>
          <a:bodyPr>
            <a:spAutoFit/>
          </a:bodyPr>
          <a:lstStyle/>
          <a:p>
            <a:pPr algn="r" eaLnBrk="1" hangingPunct="1">
              <a:defRPr/>
            </a:pPr>
            <a:r>
              <a:rPr lang="zh-CN" altLang="en-US" smtClean="0"/>
              <a:t>第</a:t>
            </a:r>
            <a:r>
              <a:rPr lang="en-US" altLang="zh-CN" smtClean="0"/>
              <a:t>12</a:t>
            </a:r>
            <a:r>
              <a:rPr lang="zh-CN" altLang="en-US" smtClean="0"/>
              <a:t>章</a:t>
            </a:r>
            <a:r>
              <a:rPr lang="en-US" altLang="zh-CN" smtClean="0"/>
              <a:t>  </a:t>
            </a:r>
            <a:br>
              <a:rPr lang="en-US" altLang="zh-CN" smtClean="0"/>
            </a:br>
            <a:r>
              <a:rPr lang="en-US" altLang="zh-CN" smtClean="0"/>
              <a:t/>
            </a:r>
            <a:br>
              <a:rPr lang="en-US" altLang="zh-CN" smtClean="0"/>
            </a:br>
            <a:r>
              <a:rPr lang="en-US" altLang="zh-CN" smtClean="0"/>
              <a:t>  GDP</a:t>
            </a:r>
            <a:r>
              <a:rPr lang="zh-CN" altLang="en-US" smtClean="0"/>
              <a:t>及其核算</a:t>
            </a:r>
          </a:p>
        </p:txBody>
      </p:sp>
      <p:sp>
        <p:nvSpPr>
          <p:cNvPr id="17411" name="Rectangle 3"/>
          <p:cNvSpPr>
            <a:spLocks noGrp="1" noChangeArrowheads="1"/>
          </p:cNvSpPr>
          <p:nvPr>
            <p:ph type="subTitle" idx="1"/>
          </p:nvPr>
        </p:nvSpPr>
        <p:spPr>
          <a:xfrm>
            <a:off x="611188" y="3357563"/>
            <a:ext cx="3887787" cy="1727200"/>
          </a:xfrm>
          <a:solidFill>
            <a:srgbClr val="230D75"/>
          </a:solidFill>
          <a:ln w="57150" cmpd="thinThick"/>
        </p:spPr>
        <p:txBody>
          <a:bodyPr/>
          <a:lstStyle/>
          <a:p>
            <a:pPr eaLnBrk="1" hangingPunct="1">
              <a:buFont typeface="Wingdings" pitchFamily="2" charset="2"/>
              <a:buNone/>
            </a:pPr>
            <a:r>
              <a:rPr lang="zh-CN" altLang="en-US" sz="1800" smtClean="0">
                <a:solidFill>
                  <a:schemeClr val="tx1"/>
                </a:solidFill>
              </a:rPr>
              <a:t>第一节</a:t>
            </a:r>
            <a:r>
              <a:rPr lang="en-US" altLang="zh-CN" sz="1800" smtClean="0">
                <a:solidFill>
                  <a:schemeClr val="tx1"/>
                </a:solidFill>
              </a:rPr>
              <a:t>  </a:t>
            </a:r>
            <a:r>
              <a:rPr lang="zh-CN" altLang="en-US" sz="1800" smtClean="0">
                <a:solidFill>
                  <a:schemeClr val="tx1"/>
                </a:solidFill>
              </a:rPr>
              <a:t>宏观经济循环图</a:t>
            </a:r>
            <a:r>
              <a:rPr lang="en-US" altLang="zh-CN" sz="1800" smtClean="0">
                <a:solidFill>
                  <a:schemeClr val="tx1"/>
                </a:solidFill>
              </a:rPr>
              <a:t>                 </a:t>
            </a:r>
          </a:p>
          <a:p>
            <a:pPr eaLnBrk="1" hangingPunct="1">
              <a:buFont typeface="Wingdings" pitchFamily="2" charset="2"/>
              <a:buNone/>
            </a:pPr>
            <a:r>
              <a:rPr lang="zh-CN" altLang="en-US" sz="1800" smtClean="0">
                <a:solidFill>
                  <a:schemeClr val="tx1"/>
                </a:solidFill>
              </a:rPr>
              <a:t>第二节</a:t>
            </a:r>
            <a:r>
              <a:rPr lang="en-US" altLang="zh-CN" sz="1800" smtClean="0">
                <a:solidFill>
                  <a:schemeClr val="tx1"/>
                </a:solidFill>
              </a:rPr>
              <a:t>  </a:t>
            </a:r>
            <a:r>
              <a:rPr lang="zh-CN" altLang="en-US" sz="1800" smtClean="0">
                <a:solidFill>
                  <a:schemeClr val="tx1"/>
                </a:solidFill>
              </a:rPr>
              <a:t>国内生产总值（</a:t>
            </a:r>
            <a:r>
              <a:rPr lang="en-US" altLang="zh-CN" sz="1800" smtClean="0">
                <a:solidFill>
                  <a:schemeClr val="tx1"/>
                </a:solidFill>
              </a:rPr>
              <a:t>GDP</a:t>
            </a:r>
            <a:r>
              <a:rPr lang="zh-CN" altLang="en-US" sz="1800" smtClean="0">
                <a:solidFill>
                  <a:schemeClr val="tx1"/>
                </a:solidFill>
              </a:rPr>
              <a:t>）</a:t>
            </a:r>
            <a:endParaRPr lang="en-US" altLang="zh-CN" sz="1800" smtClean="0">
              <a:solidFill>
                <a:schemeClr val="tx1"/>
              </a:solidFill>
            </a:endParaRPr>
          </a:p>
          <a:p>
            <a:pPr eaLnBrk="1" hangingPunct="1">
              <a:buFont typeface="Wingdings" pitchFamily="2" charset="2"/>
              <a:buNone/>
            </a:pPr>
            <a:r>
              <a:rPr lang="zh-CN" altLang="en-US" sz="1800" smtClean="0">
                <a:solidFill>
                  <a:schemeClr val="tx1"/>
                </a:solidFill>
              </a:rPr>
              <a:t>第三节</a:t>
            </a:r>
            <a:r>
              <a:rPr lang="en-US" altLang="zh-CN" sz="1800" smtClean="0">
                <a:solidFill>
                  <a:schemeClr val="tx1"/>
                </a:solidFill>
              </a:rPr>
              <a:t>  </a:t>
            </a:r>
            <a:r>
              <a:rPr lang="zh-CN" altLang="en-US" sz="1800" smtClean="0">
                <a:solidFill>
                  <a:schemeClr val="tx1"/>
                </a:solidFill>
              </a:rPr>
              <a:t>国内生产总值的计算方法</a:t>
            </a:r>
            <a:endParaRPr lang="en-US" altLang="zh-CN" sz="1800" smtClean="0">
              <a:solidFill>
                <a:schemeClr val="tx1"/>
              </a:solidFill>
            </a:endParaRPr>
          </a:p>
          <a:p>
            <a:pPr eaLnBrk="1" hangingPunct="1">
              <a:buFont typeface="Wingdings" pitchFamily="2" charset="2"/>
              <a:buNone/>
            </a:pPr>
            <a:r>
              <a:rPr lang="zh-CN" altLang="en-US" sz="1800" smtClean="0">
                <a:solidFill>
                  <a:schemeClr val="tx1"/>
                </a:solidFill>
              </a:rPr>
              <a:t>第四节</a:t>
            </a:r>
            <a:r>
              <a:rPr lang="en-US" altLang="zh-CN" sz="1800" smtClean="0">
                <a:solidFill>
                  <a:schemeClr val="tx1"/>
                </a:solidFill>
              </a:rPr>
              <a:t>  </a:t>
            </a:r>
            <a:r>
              <a:rPr lang="zh-CN" altLang="en-US" sz="1800" smtClean="0">
                <a:solidFill>
                  <a:schemeClr val="tx1"/>
                </a:solidFill>
              </a:rPr>
              <a:t>国民收入中的其他几个指标</a:t>
            </a:r>
          </a:p>
        </p:txBody>
      </p:sp>
      <p:sp>
        <p:nvSpPr>
          <p:cNvPr id="17412" name="Rectangle 4"/>
          <p:cNvSpPr>
            <a:spLocks noChangeArrowheads="1"/>
          </p:cNvSpPr>
          <p:nvPr/>
        </p:nvSpPr>
        <p:spPr bwMode="auto">
          <a:xfrm>
            <a:off x="4498975" y="3357563"/>
            <a:ext cx="4033838" cy="1727200"/>
          </a:xfrm>
          <a:prstGeom prst="rect">
            <a:avLst/>
          </a:prstGeom>
          <a:solidFill>
            <a:srgbClr val="230D75"/>
          </a:solidFill>
          <a:ln w="9525">
            <a:noFill/>
            <a:miter lim="800000"/>
            <a:headEnd/>
            <a:tailEnd/>
          </a:ln>
        </p:spPr>
        <p:txBody>
          <a:bodyPr/>
          <a:lstStyle/>
          <a:p>
            <a:pPr>
              <a:lnSpc>
                <a:spcPct val="120000"/>
              </a:lnSpc>
              <a:spcBef>
                <a:spcPct val="20000"/>
              </a:spcBef>
              <a:buClr>
                <a:schemeClr val="hlink"/>
              </a:buClr>
              <a:buFont typeface="Wingdings" pitchFamily="2" charset="2"/>
              <a:buNone/>
            </a:pPr>
            <a:r>
              <a:rPr lang="zh-CN" altLang="en-US" sz="1800">
                <a:solidFill>
                  <a:schemeClr val="tx1"/>
                </a:solidFill>
                <a:latin typeface="Arial" charset="0"/>
              </a:rPr>
              <a:t>第五节</a:t>
            </a:r>
            <a:r>
              <a:rPr lang="en-US" altLang="zh-CN" sz="1800">
                <a:solidFill>
                  <a:schemeClr val="tx1"/>
                </a:solidFill>
                <a:latin typeface="Arial" charset="0"/>
              </a:rPr>
              <a:t> </a:t>
            </a:r>
            <a:r>
              <a:rPr lang="zh-CN" altLang="en-US" sz="1800">
                <a:solidFill>
                  <a:schemeClr val="tx1"/>
                </a:solidFill>
                <a:latin typeface="Arial" charset="0"/>
              </a:rPr>
              <a:t>国民收入核算中的几个恒等式</a:t>
            </a:r>
            <a:endParaRPr lang="en-US" altLang="zh-CN" sz="1800">
              <a:solidFill>
                <a:schemeClr val="tx1"/>
              </a:solidFill>
              <a:latin typeface="Arial" charset="0"/>
            </a:endParaRPr>
          </a:p>
          <a:p>
            <a:pPr>
              <a:lnSpc>
                <a:spcPct val="120000"/>
              </a:lnSpc>
              <a:spcBef>
                <a:spcPct val="20000"/>
              </a:spcBef>
              <a:buClr>
                <a:schemeClr val="hlink"/>
              </a:buClr>
              <a:buFont typeface="Wingdings" pitchFamily="2" charset="2"/>
              <a:buNone/>
            </a:pPr>
            <a:r>
              <a:rPr lang="zh-CN" altLang="en-US" sz="1800">
                <a:solidFill>
                  <a:schemeClr val="tx1"/>
                </a:solidFill>
                <a:latin typeface="Arial" charset="0"/>
              </a:rPr>
              <a:t>第六节</a:t>
            </a:r>
            <a:r>
              <a:rPr lang="en-US" altLang="zh-CN" sz="1800">
                <a:solidFill>
                  <a:schemeClr val="tx1"/>
                </a:solidFill>
                <a:latin typeface="Arial" charset="0"/>
              </a:rPr>
              <a:t> </a:t>
            </a:r>
            <a:r>
              <a:rPr lang="zh-CN" altLang="en-US" sz="1800">
                <a:solidFill>
                  <a:schemeClr val="tx1"/>
                </a:solidFill>
                <a:latin typeface="Arial" charset="0"/>
              </a:rPr>
              <a:t>价格水平与</a:t>
            </a:r>
            <a:r>
              <a:rPr lang="en-US" altLang="zh-CN" sz="1800">
                <a:solidFill>
                  <a:schemeClr val="tx1"/>
                </a:solidFill>
                <a:latin typeface="Arial" charset="0"/>
              </a:rPr>
              <a:t>GDP</a:t>
            </a:r>
          </a:p>
          <a:p>
            <a:pPr>
              <a:lnSpc>
                <a:spcPct val="120000"/>
              </a:lnSpc>
              <a:spcBef>
                <a:spcPct val="20000"/>
              </a:spcBef>
              <a:buClr>
                <a:schemeClr val="hlink"/>
              </a:buClr>
              <a:buFont typeface="Wingdings" pitchFamily="2" charset="2"/>
              <a:buNone/>
            </a:pPr>
            <a:endParaRPr lang="zh-CN" altLang="en-US" sz="1800">
              <a:solidFill>
                <a:schemeClr val="tx1"/>
              </a:solidFill>
              <a:latin typeface="Arial"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页脚占位符 3"/>
          <p:cNvSpPr>
            <a:spLocks noGrp="1"/>
          </p:cNvSpPr>
          <p:nvPr>
            <p:ph type="ftr" sz="quarter" idx="10"/>
          </p:nvPr>
        </p:nvSpPr>
        <p:spPr/>
        <p:txBody>
          <a:bodyPr/>
          <a:lstStyle/>
          <a:p>
            <a:pPr>
              <a:defRPr/>
            </a:pPr>
            <a:r>
              <a:rPr lang="en-US" altLang="zh-CN" smtClean="0">
                <a:ea typeface="宋体" charset="-122"/>
              </a:rPr>
              <a:t>    </a:t>
            </a:r>
            <a:endParaRPr lang="zh-CN" altLang="en-US" smtClean="0">
              <a:ea typeface="宋体" charset="-122"/>
            </a:endParaRPr>
          </a:p>
        </p:txBody>
      </p:sp>
      <p:sp>
        <p:nvSpPr>
          <p:cNvPr id="18434" name="Rectangle 2"/>
          <p:cNvSpPr>
            <a:spLocks noGrp="1" noChangeArrowheads="1"/>
          </p:cNvSpPr>
          <p:nvPr>
            <p:ph type="body" idx="1"/>
          </p:nvPr>
        </p:nvSpPr>
        <p:spPr>
          <a:xfrm>
            <a:off x="611188" y="1484313"/>
            <a:ext cx="8172450" cy="3917950"/>
          </a:xfrm>
        </p:spPr>
        <p:txBody>
          <a:bodyPr/>
          <a:lstStyle/>
          <a:p>
            <a:pPr eaLnBrk="1" hangingPunct="1"/>
            <a:r>
              <a:rPr lang="zh-CN" altLang="en-US" smtClean="0">
                <a:latin typeface="宋体" charset="-122"/>
              </a:rPr>
              <a:t>本章学习要求</a:t>
            </a:r>
          </a:p>
          <a:p>
            <a:pPr eaLnBrk="1" hangingPunct="1"/>
            <a:r>
              <a:rPr lang="en-US" altLang="zh-CN" smtClean="0">
                <a:latin typeface="宋体" charset="-122"/>
              </a:rPr>
              <a:t>1.</a:t>
            </a:r>
            <a:r>
              <a:rPr lang="zh-CN" altLang="en-US" smtClean="0">
                <a:latin typeface="宋体" charset="-122"/>
              </a:rPr>
              <a:t>了解收入支出循环流程，掌握国民经济核算体系的基本原理</a:t>
            </a:r>
          </a:p>
          <a:p>
            <a:pPr eaLnBrk="1" hangingPunct="1"/>
            <a:r>
              <a:rPr lang="en-US" altLang="zh-CN" smtClean="0">
                <a:latin typeface="宋体" charset="-122"/>
              </a:rPr>
              <a:t>2.</a:t>
            </a:r>
            <a:r>
              <a:rPr lang="zh-CN" altLang="en-US" smtClean="0">
                <a:latin typeface="宋体" charset="-122"/>
              </a:rPr>
              <a:t>准确把握</a:t>
            </a:r>
            <a:r>
              <a:rPr lang="en-US" altLang="zh-CN" smtClean="0">
                <a:latin typeface="宋体" charset="-122"/>
              </a:rPr>
              <a:t>GDP</a:t>
            </a:r>
            <a:r>
              <a:rPr lang="zh-CN" altLang="en-US" smtClean="0">
                <a:latin typeface="宋体" charset="-122"/>
              </a:rPr>
              <a:t>的内涵，掌握</a:t>
            </a:r>
            <a:r>
              <a:rPr lang="en-US" altLang="zh-CN" smtClean="0">
                <a:latin typeface="宋体" charset="-122"/>
              </a:rPr>
              <a:t>GDP</a:t>
            </a:r>
            <a:r>
              <a:rPr lang="zh-CN" altLang="en-US" smtClean="0">
                <a:latin typeface="宋体" charset="-122"/>
              </a:rPr>
              <a:t>核算中的支出法和收入法两种方法</a:t>
            </a:r>
          </a:p>
          <a:p>
            <a:pPr eaLnBrk="1" hangingPunct="1"/>
            <a:r>
              <a:rPr lang="en-US" altLang="zh-CN" smtClean="0">
                <a:latin typeface="宋体" charset="-122"/>
              </a:rPr>
              <a:t>3.</a:t>
            </a:r>
            <a:r>
              <a:rPr lang="zh-CN" altLang="en-US" smtClean="0">
                <a:latin typeface="宋体" charset="-122"/>
              </a:rPr>
              <a:t>掌握</a:t>
            </a:r>
            <a:r>
              <a:rPr lang="en-US" altLang="zh-CN" smtClean="0">
                <a:latin typeface="宋体" charset="-122"/>
              </a:rPr>
              <a:t>GDP</a:t>
            </a:r>
            <a:r>
              <a:rPr lang="zh-CN" altLang="en-US" smtClean="0">
                <a:latin typeface="宋体" charset="-122"/>
              </a:rPr>
              <a:t>与</a:t>
            </a:r>
            <a:r>
              <a:rPr lang="en-US" altLang="zh-CN" smtClean="0">
                <a:latin typeface="宋体" charset="-122"/>
              </a:rPr>
              <a:t>GNP</a:t>
            </a:r>
            <a:r>
              <a:rPr lang="zh-CN" altLang="en-US" smtClean="0">
                <a:latin typeface="宋体" charset="-122"/>
              </a:rPr>
              <a:t>、</a:t>
            </a:r>
            <a:r>
              <a:rPr lang="en-US" altLang="zh-CN" smtClean="0">
                <a:latin typeface="宋体" charset="-122"/>
              </a:rPr>
              <a:t>NDP</a:t>
            </a:r>
            <a:r>
              <a:rPr lang="zh-CN" altLang="en-US" smtClean="0">
                <a:latin typeface="宋体" charset="-122"/>
              </a:rPr>
              <a:t>、</a:t>
            </a:r>
            <a:r>
              <a:rPr lang="en-US" altLang="zh-CN" smtClean="0">
                <a:latin typeface="宋体" charset="-122"/>
              </a:rPr>
              <a:t>NI</a:t>
            </a:r>
            <a:r>
              <a:rPr lang="zh-CN" altLang="en-US" smtClean="0">
                <a:latin typeface="宋体" charset="-122"/>
              </a:rPr>
              <a:t>、</a:t>
            </a:r>
            <a:r>
              <a:rPr lang="en-US" altLang="zh-CN" smtClean="0">
                <a:latin typeface="宋体" charset="-122"/>
              </a:rPr>
              <a:t>PI </a:t>
            </a:r>
            <a:r>
              <a:rPr lang="zh-CN" altLang="en-US" smtClean="0">
                <a:latin typeface="宋体" charset="-122"/>
              </a:rPr>
              <a:t>以及</a:t>
            </a:r>
            <a:r>
              <a:rPr lang="en-US" altLang="zh-CN" smtClean="0">
                <a:latin typeface="宋体" charset="-122"/>
              </a:rPr>
              <a:t>DPI</a:t>
            </a:r>
            <a:r>
              <a:rPr lang="zh-CN" altLang="en-US" smtClean="0">
                <a:latin typeface="宋体" charset="-122"/>
              </a:rPr>
              <a:t>等总量指标之间的关系，</a:t>
            </a:r>
          </a:p>
          <a:p>
            <a:pPr eaLnBrk="1" hangingPunct="1"/>
            <a:r>
              <a:rPr lang="en-US" altLang="zh-CN" smtClean="0">
                <a:latin typeface="宋体" charset="-122"/>
              </a:rPr>
              <a:t>4.</a:t>
            </a:r>
            <a:r>
              <a:rPr lang="zh-CN" altLang="en-US" smtClean="0">
                <a:latin typeface="宋体" charset="-122"/>
              </a:rPr>
              <a:t>掌握两部门、三部门经济中的储蓄</a:t>
            </a:r>
            <a:r>
              <a:rPr lang="en-US" altLang="zh-CN" smtClean="0">
                <a:latin typeface="宋体" charset="-122"/>
              </a:rPr>
              <a:t>—</a:t>
            </a:r>
            <a:r>
              <a:rPr lang="zh-CN" altLang="en-US" smtClean="0">
                <a:latin typeface="宋体" charset="-122"/>
              </a:rPr>
              <a:t>投资恒等式，了解四部门经济</a:t>
            </a:r>
            <a:r>
              <a:rPr lang="en-US" altLang="zh-CN" smtClean="0">
                <a:latin typeface="宋体" charset="-122"/>
              </a:rPr>
              <a:t>  </a:t>
            </a:r>
          </a:p>
          <a:p>
            <a:pPr eaLnBrk="1" hangingPunct="1">
              <a:buFont typeface="Wingdings" pitchFamily="2" charset="2"/>
              <a:buNone/>
            </a:pPr>
            <a:r>
              <a:rPr lang="en-US" altLang="zh-CN" smtClean="0">
                <a:latin typeface="宋体" charset="-122"/>
              </a:rPr>
              <a:t>    </a:t>
            </a:r>
            <a:r>
              <a:rPr lang="zh-CN" altLang="en-US" smtClean="0">
                <a:latin typeface="宋体" charset="-122"/>
              </a:rPr>
              <a:t>中的储蓄</a:t>
            </a:r>
            <a:r>
              <a:rPr lang="en-US" altLang="zh-CN" smtClean="0">
                <a:latin typeface="宋体" charset="-122"/>
              </a:rPr>
              <a:t>—</a:t>
            </a:r>
            <a:r>
              <a:rPr lang="zh-CN" altLang="en-US" smtClean="0">
                <a:latin typeface="宋体" charset="-122"/>
              </a:rPr>
              <a:t>投资恒等式</a:t>
            </a:r>
          </a:p>
          <a:p>
            <a:pPr eaLnBrk="1" hangingPunct="1"/>
            <a:r>
              <a:rPr lang="en-US" altLang="zh-CN" smtClean="0">
                <a:latin typeface="宋体" charset="-122"/>
              </a:rPr>
              <a:t>5.</a:t>
            </a:r>
            <a:r>
              <a:rPr lang="zh-CN" altLang="en-US" smtClean="0">
                <a:latin typeface="宋体" charset="-122"/>
              </a:rPr>
              <a:t>掌握名义</a:t>
            </a:r>
            <a:r>
              <a:rPr lang="en-US" altLang="zh-CN" smtClean="0">
                <a:latin typeface="宋体" charset="-122"/>
              </a:rPr>
              <a:t>GDP</a:t>
            </a:r>
            <a:r>
              <a:rPr lang="zh-CN" altLang="en-US" smtClean="0">
                <a:latin typeface="宋体" charset="-122"/>
              </a:rPr>
              <a:t>与实际</a:t>
            </a:r>
            <a:r>
              <a:rPr lang="en-US" altLang="zh-CN" smtClean="0">
                <a:latin typeface="宋体" charset="-122"/>
              </a:rPr>
              <a:t>GDP</a:t>
            </a:r>
            <a:r>
              <a:rPr lang="zh-CN" altLang="en-US" smtClean="0">
                <a:latin typeface="宋体" charset="-122"/>
              </a:rPr>
              <a:t>的概念及相互关系，掌握</a:t>
            </a:r>
            <a:r>
              <a:rPr lang="en-US" altLang="zh-CN" smtClean="0">
                <a:latin typeface="宋体" charset="-122"/>
              </a:rPr>
              <a:t>GDP</a:t>
            </a:r>
            <a:r>
              <a:rPr lang="zh-CN" altLang="en-US" smtClean="0">
                <a:latin typeface="宋体" charset="-122"/>
              </a:rPr>
              <a:t>折算指数的经</a:t>
            </a:r>
            <a:r>
              <a:rPr lang="en-US" altLang="zh-CN" smtClean="0">
                <a:latin typeface="宋体" charset="-122"/>
              </a:rPr>
              <a:t>  </a:t>
            </a:r>
          </a:p>
          <a:p>
            <a:pPr eaLnBrk="1" hangingPunct="1">
              <a:buFont typeface="Wingdings" pitchFamily="2" charset="2"/>
              <a:buNone/>
            </a:pPr>
            <a:r>
              <a:rPr lang="en-US" altLang="zh-CN" smtClean="0">
                <a:latin typeface="宋体" charset="-122"/>
              </a:rPr>
              <a:t>   </a:t>
            </a:r>
            <a:r>
              <a:rPr lang="zh-CN" altLang="en-US" smtClean="0">
                <a:latin typeface="宋体" charset="-122"/>
              </a:rPr>
              <a:t>济意义</a:t>
            </a:r>
          </a:p>
          <a:p>
            <a:pPr eaLnBrk="1" hangingPunct="1"/>
            <a:endParaRPr lang="zh-CN" altLang="en-US" smtClean="0">
              <a:latin typeface="宋体" charset="-122"/>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3"/>
          <p:cNvSpPr>
            <a:spLocks noGrp="1"/>
          </p:cNvSpPr>
          <p:nvPr>
            <p:ph type="ftr" sz="quarter" idx="10"/>
          </p:nvPr>
        </p:nvSpPr>
        <p:spPr/>
        <p:txBody>
          <a:bodyPr/>
          <a:lstStyle/>
          <a:p>
            <a:pPr>
              <a:defRPr/>
            </a:pPr>
            <a:r>
              <a:rPr lang="en-US" altLang="zh-CN" smtClean="0">
                <a:ea typeface="宋体" charset="-122"/>
              </a:rPr>
              <a:t>    </a:t>
            </a:r>
            <a:endParaRPr lang="zh-CN" altLang="en-US" smtClean="0">
              <a:ea typeface="宋体" charset="-122"/>
            </a:endParaRPr>
          </a:p>
        </p:txBody>
      </p:sp>
      <p:sp>
        <p:nvSpPr>
          <p:cNvPr id="182377" name="Rectangle 2"/>
          <p:cNvSpPr>
            <a:spLocks noGrp="1" noChangeArrowheads="1"/>
          </p:cNvSpPr>
          <p:nvPr>
            <p:ph type="title"/>
          </p:nvPr>
        </p:nvSpPr>
        <p:spPr/>
        <p:txBody>
          <a:bodyPr/>
          <a:lstStyle/>
          <a:p>
            <a:pPr eaLnBrk="1" hangingPunct="1"/>
            <a:r>
              <a:rPr lang="zh-CN" altLang="en-US" smtClean="0">
                <a:solidFill>
                  <a:schemeClr val="bg2"/>
                </a:solidFill>
                <a:effectLst/>
              </a:rPr>
              <a:t>第一节</a:t>
            </a:r>
            <a:r>
              <a:rPr lang="en-US" altLang="zh-CN" smtClean="0">
                <a:solidFill>
                  <a:schemeClr val="bg2"/>
                </a:solidFill>
                <a:effectLst/>
              </a:rPr>
              <a:t>  </a:t>
            </a:r>
            <a:r>
              <a:rPr lang="zh-CN" altLang="en-US" smtClean="0">
                <a:solidFill>
                  <a:schemeClr val="bg2"/>
                </a:solidFill>
                <a:effectLst/>
              </a:rPr>
              <a:t>宏观经济循环图</a:t>
            </a:r>
          </a:p>
        </p:txBody>
      </p:sp>
      <p:sp>
        <p:nvSpPr>
          <p:cNvPr id="182373" name="Rectangle 101"/>
          <p:cNvSpPr>
            <a:spLocks noChangeArrowheads="1"/>
          </p:cNvSpPr>
          <p:nvPr/>
        </p:nvSpPr>
        <p:spPr bwMode="auto">
          <a:xfrm>
            <a:off x="7378700" y="981075"/>
            <a:ext cx="1008063" cy="2592388"/>
          </a:xfrm>
          <a:prstGeom prst="rect">
            <a:avLst/>
          </a:prstGeom>
          <a:noFill/>
          <a:ln>
            <a:noFill/>
          </a:ln>
          <a:effectLst/>
          <a:extLst/>
        </p:spPr>
        <p:txBody>
          <a:bodyPr vert="eaVert" anchor="ctr"/>
          <a:lstStyle/>
          <a:p>
            <a:pPr>
              <a:defRPr/>
            </a:pPr>
            <a:r>
              <a:rPr lang="en-US" altLang="zh-CN">
                <a:solidFill>
                  <a:srgbClr val="230D75"/>
                </a:solidFill>
                <a:effectLst>
                  <a:outerShdw blurRad="38100" dist="38100" dir="2700000" algn="tl">
                    <a:srgbClr val="000000"/>
                  </a:outerShdw>
                </a:effectLst>
                <a:latin typeface="Arial" charset="0"/>
                <a:ea typeface="宋体" charset="0"/>
              </a:rPr>
              <a:t>  </a:t>
            </a:r>
            <a:r>
              <a:rPr lang="zh-CN" altLang="en-US">
                <a:solidFill>
                  <a:srgbClr val="230D75"/>
                </a:solidFill>
                <a:effectLst>
                  <a:outerShdw blurRad="38100" dist="38100" dir="2700000" algn="tl">
                    <a:srgbClr val="000000"/>
                  </a:outerShdw>
                </a:effectLst>
                <a:latin typeface="Arial" charset="0"/>
                <a:ea typeface="宋体" charset="0"/>
              </a:rPr>
              <a:t>图中箭头为资金流动</a:t>
            </a:r>
            <a:r>
              <a:rPr lang="en-US" altLang="zh-CN">
                <a:solidFill>
                  <a:srgbClr val="230D75"/>
                </a:solidFill>
                <a:effectLst>
                  <a:outerShdw blurRad="38100" dist="38100" dir="2700000" algn="tl">
                    <a:srgbClr val="000000"/>
                  </a:outerShdw>
                </a:effectLst>
                <a:latin typeface="Arial" charset="0"/>
                <a:ea typeface="宋体" charset="0"/>
              </a:rPr>
              <a:t/>
            </a:r>
            <a:br>
              <a:rPr lang="en-US" altLang="zh-CN">
                <a:solidFill>
                  <a:srgbClr val="230D75"/>
                </a:solidFill>
                <a:effectLst>
                  <a:outerShdw blurRad="38100" dist="38100" dir="2700000" algn="tl">
                    <a:srgbClr val="000000"/>
                  </a:outerShdw>
                </a:effectLst>
                <a:latin typeface="Arial" charset="0"/>
                <a:ea typeface="宋体" charset="0"/>
              </a:rPr>
            </a:br>
            <a:r>
              <a:rPr lang="en-US" altLang="zh-CN">
                <a:solidFill>
                  <a:srgbClr val="230D75"/>
                </a:solidFill>
                <a:effectLst>
                  <a:outerShdw blurRad="38100" dist="38100" dir="2700000" algn="tl">
                    <a:srgbClr val="000000"/>
                  </a:outerShdw>
                </a:effectLst>
                <a:latin typeface="Arial" charset="0"/>
                <a:ea typeface="宋体" charset="0"/>
              </a:rPr>
              <a:t>  </a:t>
            </a:r>
            <a:r>
              <a:rPr lang="zh-CN" altLang="en-US">
                <a:solidFill>
                  <a:srgbClr val="230D75"/>
                </a:solidFill>
                <a:effectLst>
                  <a:outerShdw blurRad="38100" dist="38100" dir="2700000" algn="tl">
                    <a:srgbClr val="000000"/>
                  </a:outerShdw>
                </a:effectLst>
                <a:latin typeface="Arial" charset="0"/>
                <a:ea typeface="宋体" charset="0"/>
              </a:rPr>
              <a:t>方向</a:t>
            </a:r>
          </a:p>
        </p:txBody>
      </p:sp>
      <p:graphicFrame>
        <p:nvGraphicFramePr>
          <p:cNvPr id="182375" name="Object 103"/>
          <p:cNvGraphicFramePr>
            <a:graphicFrameLocks noChangeAspect="1"/>
          </p:cNvGraphicFramePr>
          <p:nvPr/>
        </p:nvGraphicFramePr>
        <p:xfrm>
          <a:off x="323850" y="908050"/>
          <a:ext cx="6769100" cy="6264275"/>
        </p:xfrm>
        <a:graphic>
          <a:graphicData uri="http://schemas.openxmlformats.org/presentationml/2006/ole">
            <mc:AlternateContent xmlns:mc="http://schemas.openxmlformats.org/markup-compatibility/2006">
              <mc:Choice xmlns:v="urn:schemas-microsoft-com:vml" Requires="v">
                <p:oleObj spid="_x0000_s182380" r:id="rId3" imgW="5201046" imgH="4885255" progId="">
                  <p:embed/>
                </p:oleObj>
              </mc:Choice>
              <mc:Fallback>
                <p:oleObj r:id="rId3" imgW="5201046" imgH="4885255" progId="">
                  <p:embed/>
                  <p:pic>
                    <p:nvPicPr>
                      <p:cNvPr id="0" name="Picture 10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850" y="908050"/>
                        <a:ext cx="6769100" cy="6264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3"/>
          <p:cNvSpPr>
            <a:spLocks noGrp="1"/>
          </p:cNvSpPr>
          <p:nvPr>
            <p:ph type="ftr" sz="quarter" idx="10"/>
          </p:nvPr>
        </p:nvSpPr>
        <p:spPr/>
        <p:txBody>
          <a:bodyPr/>
          <a:lstStyle/>
          <a:p>
            <a:pPr>
              <a:defRPr/>
            </a:pPr>
            <a:endParaRPr lang="zh-CN" altLang="en-US" smtClean="0">
              <a:ea typeface="宋体" charset="-122"/>
            </a:endParaRPr>
          </a:p>
        </p:txBody>
      </p:sp>
      <p:sp>
        <p:nvSpPr>
          <p:cNvPr id="181250" name="Rectangle 2"/>
          <p:cNvSpPr>
            <a:spLocks noGrp="1" noChangeArrowheads="1"/>
          </p:cNvSpPr>
          <p:nvPr>
            <p:ph type="title"/>
          </p:nvPr>
        </p:nvSpPr>
        <p:spPr>
          <a:extLst/>
        </p:spPr>
        <p:txBody>
          <a:bodyPr/>
          <a:lstStyle/>
          <a:p>
            <a:pPr eaLnBrk="1" hangingPunct="1">
              <a:defRPr/>
            </a:pPr>
            <a:r>
              <a:rPr lang="zh-CN" altLang="en-US">
                <a:solidFill>
                  <a:srgbClr val="000000"/>
                </a:solidFill>
                <a:effectLst>
                  <a:outerShdw blurRad="38100" dist="38100" dir="2700000" algn="tl">
                    <a:srgbClr val="FFFFFF"/>
                  </a:outerShdw>
                </a:effectLst>
              </a:rPr>
              <a:t>第一节</a:t>
            </a:r>
            <a:r>
              <a:rPr lang="en-US" altLang="zh-CN">
                <a:solidFill>
                  <a:srgbClr val="000000"/>
                </a:solidFill>
                <a:effectLst>
                  <a:outerShdw blurRad="38100" dist="38100" dir="2700000" algn="tl">
                    <a:srgbClr val="FFFFFF"/>
                  </a:outerShdw>
                </a:effectLst>
              </a:rPr>
              <a:t>  </a:t>
            </a:r>
            <a:r>
              <a:rPr lang="zh-CN" altLang="en-US">
                <a:solidFill>
                  <a:srgbClr val="000000"/>
                </a:solidFill>
                <a:effectLst>
                  <a:outerShdw blurRad="38100" dist="38100" dir="2700000" algn="tl">
                    <a:srgbClr val="FFFFFF"/>
                  </a:outerShdw>
                </a:effectLst>
              </a:rPr>
              <a:t>宏观经济循环图</a:t>
            </a:r>
          </a:p>
        </p:txBody>
      </p:sp>
      <p:sp>
        <p:nvSpPr>
          <p:cNvPr id="181251" name="Rectangle 3"/>
          <p:cNvSpPr>
            <a:spLocks noGrp="1" noChangeArrowheads="1"/>
          </p:cNvSpPr>
          <p:nvPr>
            <p:ph type="body" idx="1"/>
          </p:nvPr>
        </p:nvSpPr>
        <p:spPr>
          <a:ln cap="flat"/>
        </p:spPr>
        <p:txBody>
          <a:bodyPr/>
          <a:lstStyle/>
          <a:p>
            <a:pPr eaLnBrk="1" hangingPunct="1"/>
            <a:r>
              <a:rPr lang="zh-CN" altLang="en-US" smtClean="0"/>
              <a:t>我们把经济体系分成四个部分：居民户、企业、政府、国外经济主体。</a:t>
            </a:r>
            <a:endParaRPr lang="en-US" altLang="zh-CN" smtClean="0"/>
          </a:p>
          <a:p>
            <a:pPr eaLnBrk="1" hangingPunct="1"/>
            <a:r>
              <a:rPr lang="en-US" altLang="zh-CN" smtClean="0"/>
              <a:t> </a:t>
            </a:r>
            <a:r>
              <a:rPr lang="zh-CN" altLang="en-US" smtClean="0"/>
              <a:t>这</a:t>
            </a:r>
            <a:r>
              <a:rPr lang="en-US" altLang="zh-CN" smtClean="0"/>
              <a:t>4</a:t>
            </a:r>
            <a:r>
              <a:rPr lang="zh-CN" altLang="en-US" smtClean="0"/>
              <a:t>个主体分别通过商品和服务市场、要素市场、金融市场建立联系。</a:t>
            </a:r>
          </a:p>
        </p:txBody>
      </p:sp>
      <p:sp>
        <p:nvSpPr>
          <p:cNvPr id="181254" name="Rectangle 6" descr="水滴"/>
          <p:cNvSpPr>
            <a:spLocks noChangeArrowheads="1"/>
          </p:cNvSpPr>
          <p:nvPr/>
        </p:nvSpPr>
        <p:spPr bwMode="auto">
          <a:xfrm>
            <a:off x="395288" y="2420938"/>
            <a:ext cx="8229600" cy="3654425"/>
          </a:xfrm>
          <a:prstGeom prst="rect">
            <a:avLst/>
          </a:prstGeom>
          <a:blipFill dpi="0" rotWithShape="0">
            <a:blip r:embed="rId2">
              <a:alphaModFix amt="42000"/>
            </a:blip>
            <a:srcRect/>
            <a:tile tx="0" ty="0" sx="100000" sy="100000" flip="none" algn="tl"/>
          </a:blipFill>
          <a:ln w="57150" cmpd="thickThin">
            <a:solidFill>
              <a:srgbClr val="000099"/>
            </a:solidFill>
            <a:miter lim="800000"/>
            <a:headEnd/>
            <a:tailEnd/>
          </a:ln>
        </p:spPr>
        <p:txBody>
          <a:bodyPr>
            <a:spAutoFit/>
          </a:bodyPr>
          <a:lstStyle/>
          <a:p>
            <a:pPr>
              <a:lnSpc>
                <a:spcPct val="120000"/>
              </a:lnSpc>
              <a:buClr>
                <a:srgbClr val="FF0000"/>
              </a:buClr>
              <a:buSzPct val="95000"/>
              <a:buFont typeface="Wingdings" pitchFamily="2" charset="2"/>
              <a:buChar char="n"/>
            </a:pPr>
            <a:r>
              <a:rPr lang="en-US" altLang="zh-CN">
                <a:solidFill>
                  <a:srgbClr val="6600FF"/>
                </a:solidFill>
                <a:latin typeface="Arial" charset="0"/>
              </a:rPr>
              <a:t> </a:t>
            </a:r>
            <a:r>
              <a:rPr lang="zh-CN" altLang="en-US">
                <a:solidFill>
                  <a:srgbClr val="6600FF"/>
                </a:solidFill>
                <a:latin typeface="Arial" charset="0"/>
              </a:rPr>
              <a:t>居民户</a:t>
            </a:r>
            <a:r>
              <a:rPr lang="zh-CN" altLang="en-US">
                <a:solidFill>
                  <a:srgbClr val="000000"/>
                </a:solidFill>
                <a:latin typeface="Arial" charset="0"/>
              </a:rPr>
              <a:t>向要素市场</a:t>
            </a:r>
            <a:r>
              <a:rPr lang="zh-CN" altLang="en-US">
                <a:solidFill>
                  <a:srgbClr val="FF5050"/>
                </a:solidFill>
                <a:latin typeface="Arial" charset="0"/>
              </a:rPr>
              <a:t>提供要素</a:t>
            </a:r>
            <a:r>
              <a:rPr lang="zh-CN" altLang="en-US">
                <a:solidFill>
                  <a:srgbClr val="000000"/>
                </a:solidFill>
                <a:latin typeface="Arial" charset="0"/>
              </a:rPr>
              <a:t>（劳动、土地、企业家才能等），</a:t>
            </a:r>
            <a:r>
              <a:rPr lang="zh-CN" altLang="en-US">
                <a:solidFill>
                  <a:srgbClr val="FF5050"/>
                </a:solidFill>
                <a:latin typeface="Arial" charset="0"/>
              </a:rPr>
              <a:t>获得</a:t>
            </a:r>
            <a:r>
              <a:rPr lang="zh-CN" altLang="en-US">
                <a:solidFill>
                  <a:srgbClr val="000000"/>
                </a:solidFill>
                <a:latin typeface="Arial" charset="0"/>
              </a:rPr>
              <a:t>了</a:t>
            </a:r>
            <a:r>
              <a:rPr lang="en-US" altLang="zh-CN">
                <a:solidFill>
                  <a:srgbClr val="000000"/>
                </a:solidFill>
                <a:latin typeface="Arial" charset="0"/>
              </a:rPr>
              <a:t> </a:t>
            </a:r>
          </a:p>
          <a:p>
            <a:pPr>
              <a:lnSpc>
                <a:spcPct val="120000"/>
              </a:lnSpc>
              <a:buClr>
                <a:srgbClr val="FF0000"/>
              </a:buClr>
              <a:buSzPct val="95000"/>
              <a:buFont typeface="Wingdings" pitchFamily="2" charset="2"/>
              <a:buNone/>
            </a:pPr>
            <a:r>
              <a:rPr lang="en-US" altLang="zh-CN">
                <a:solidFill>
                  <a:srgbClr val="000000"/>
                </a:solidFill>
                <a:latin typeface="Arial" charset="0"/>
              </a:rPr>
              <a:t>   </a:t>
            </a:r>
            <a:r>
              <a:rPr lang="zh-CN" altLang="en-US">
                <a:solidFill>
                  <a:srgbClr val="000000"/>
                </a:solidFill>
                <a:latin typeface="Arial" charset="0"/>
              </a:rPr>
              <a:t>工资、租金、利润、利息等</a:t>
            </a:r>
            <a:r>
              <a:rPr lang="zh-CN" altLang="en-US">
                <a:solidFill>
                  <a:srgbClr val="FF5050"/>
                </a:solidFill>
                <a:latin typeface="Arial" charset="0"/>
              </a:rPr>
              <a:t>收入</a:t>
            </a:r>
            <a:r>
              <a:rPr lang="zh-CN" altLang="en-US">
                <a:solidFill>
                  <a:srgbClr val="000000"/>
                </a:solidFill>
                <a:latin typeface="Arial" charset="0"/>
              </a:rPr>
              <a:t>，然后</a:t>
            </a:r>
            <a:r>
              <a:rPr lang="zh-CN" altLang="en-US">
                <a:solidFill>
                  <a:srgbClr val="6600FF"/>
                </a:solidFill>
                <a:latin typeface="Arial" charset="0"/>
              </a:rPr>
              <a:t>购买</a:t>
            </a:r>
            <a:r>
              <a:rPr lang="zh-CN" altLang="en-US">
                <a:solidFill>
                  <a:srgbClr val="000000"/>
                </a:solidFill>
                <a:latin typeface="Arial" charset="0"/>
              </a:rPr>
              <a:t>生活所需的商品和服务。</a:t>
            </a:r>
            <a:endParaRPr lang="en-US" altLang="zh-CN">
              <a:solidFill>
                <a:srgbClr val="000000"/>
              </a:solidFill>
              <a:latin typeface="Arial" charset="0"/>
            </a:endParaRPr>
          </a:p>
          <a:p>
            <a:pPr>
              <a:lnSpc>
                <a:spcPct val="120000"/>
              </a:lnSpc>
              <a:buClr>
                <a:srgbClr val="FF0000"/>
              </a:buClr>
              <a:buSzPct val="95000"/>
              <a:buFont typeface="Wingdings" pitchFamily="2" charset="2"/>
              <a:buChar char="n"/>
            </a:pPr>
            <a:r>
              <a:rPr lang="en-US" altLang="zh-CN">
                <a:solidFill>
                  <a:srgbClr val="000000"/>
                </a:solidFill>
                <a:latin typeface="Arial" charset="0"/>
              </a:rPr>
              <a:t> </a:t>
            </a:r>
            <a:r>
              <a:rPr lang="zh-CN" altLang="en-US">
                <a:solidFill>
                  <a:srgbClr val="6600FF"/>
                </a:solidFill>
                <a:latin typeface="Arial" charset="0"/>
              </a:rPr>
              <a:t>企业</a:t>
            </a:r>
            <a:r>
              <a:rPr lang="zh-CN" altLang="en-US">
                <a:solidFill>
                  <a:srgbClr val="000000"/>
                </a:solidFill>
                <a:latin typeface="Arial" charset="0"/>
              </a:rPr>
              <a:t>向市场提供商品和服务，然后向要素所有者支付要素报酬。</a:t>
            </a:r>
            <a:endParaRPr lang="en-US" altLang="zh-CN">
              <a:solidFill>
                <a:srgbClr val="000000"/>
              </a:solidFill>
              <a:latin typeface="Arial" charset="0"/>
            </a:endParaRPr>
          </a:p>
          <a:p>
            <a:pPr>
              <a:lnSpc>
                <a:spcPct val="120000"/>
              </a:lnSpc>
              <a:buClr>
                <a:srgbClr val="FF0000"/>
              </a:buClr>
              <a:buSzPct val="95000"/>
              <a:buFont typeface="Wingdings" pitchFamily="2" charset="2"/>
              <a:buChar char="n"/>
            </a:pPr>
            <a:r>
              <a:rPr lang="en-US" altLang="zh-CN">
                <a:solidFill>
                  <a:srgbClr val="000000"/>
                </a:solidFill>
                <a:latin typeface="Arial" charset="0"/>
              </a:rPr>
              <a:t> </a:t>
            </a:r>
            <a:r>
              <a:rPr lang="zh-CN" altLang="en-US">
                <a:solidFill>
                  <a:srgbClr val="6600FF"/>
                </a:solidFill>
                <a:latin typeface="Arial" charset="0"/>
              </a:rPr>
              <a:t>政府</a:t>
            </a:r>
            <a:r>
              <a:rPr lang="zh-CN" altLang="en-US">
                <a:solidFill>
                  <a:srgbClr val="000000"/>
                </a:solidFill>
                <a:latin typeface="Arial" charset="0"/>
              </a:rPr>
              <a:t>通过向居民和企业征税，来形成财政收入，为社会提供相应的服</a:t>
            </a:r>
            <a:endParaRPr lang="en-US" altLang="zh-CN">
              <a:solidFill>
                <a:srgbClr val="000000"/>
              </a:solidFill>
              <a:latin typeface="Arial" charset="0"/>
            </a:endParaRPr>
          </a:p>
          <a:p>
            <a:pPr>
              <a:lnSpc>
                <a:spcPct val="120000"/>
              </a:lnSpc>
              <a:buClr>
                <a:srgbClr val="FF0000"/>
              </a:buClr>
              <a:buSzPct val="95000"/>
              <a:buFont typeface="Wingdings" pitchFamily="2" charset="2"/>
              <a:buNone/>
            </a:pPr>
            <a:r>
              <a:rPr lang="en-US" altLang="zh-CN">
                <a:solidFill>
                  <a:srgbClr val="000000"/>
                </a:solidFill>
                <a:latin typeface="Arial" charset="0"/>
              </a:rPr>
              <a:t>    </a:t>
            </a:r>
            <a:r>
              <a:rPr lang="zh-CN" altLang="en-US">
                <a:solidFill>
                  <a:srgbClr val="000000"/>
                </a:solidFill>
                <a:latin typeface="Arial" charset="0"/>
              </a:rPr>
              <a:t>务，进行政府采购、公共投资，并向部分企业和居民提供转移支付。</a:t>
            </a:r>
            <a:endParaRPr lang="en-US" altLang="zh-CN">
              <a:solidFill>
                <a:srgbClr val="000000"/>
              </a:solidFill>
              <a:latin typeface="Arial" charset="0"/>
            </a:endParaRPr>
          </a:p>
          <a:p>
            <a:pPr>
              <a:lnSpc>
                <a:spcPct val="120000"/>
              </a:lnSpc>
              <a:buClr>
                <a:srgbClr val="FF0000"/>
              </a:buClr>
              <a:buSzPct val="95000"/>
              <a:buFont typeface="Wingdings" pitchFamily="2" charset="2"/>
              <a:buChar char="n"/>
            </a:pPr>
            <a:r>
              <a:rPr lang="en-US" altLang="zh-CN">
                <a:solidFill>
                  <a:srgbClr val="000000"/>
                </a:solidFill>
                <a:latin typeface="Arial" charset="0"/>
              </a:rPr>
              <a:t> </a:t>
            </a:r>
            <a:r>
              <a:rPr lang="zh-CN" altLang="en-US">
                <a:solidFill>
                  <a:srgbClr val="6600FF"/>
                </a:solidFill>
                <a:latin typeface="Arial" charset="0"/>
              </a:rPr>
              <a:t>国外经济部门</a:t>
            </a:r>
            <a:r>
              <a:rPr lang="zh-CN" altLang="en-US">
                <a:solidFill>
                  <a:srgbClr val="000000"/>
                </a:solidFill>
                <a:latin typeface="Arial" charset="0"/>
              </a:rPr>
              <a:t>通过商品的进出口与国内建立经济联系。</a:t>
            </a:r>
            <a:endParaRPr lang="en-US" altLang="zh-CN">
              <a:solidFill>
                <a:srgbClr val="000000"/>
              </a:solidFill>
              <a:latin typeface="Arial" charset="0"/>
            </a:endParaRPr>
          </a:p>
          <a:p>
            <a:pPr>
              <a:lnSpc>
                <a:spcPct val="120000"/>
              </a:lnSpc>
              <a:buClr>
                <a:srgbClr val="FF0000"/>
              </a:buClr>
              <a:buSzPct val="95000"/>
              <a:buFont typeface="Wingdings" pitchFamily="2" charset="2"/>
              <a:buChar char="n"/>
            </a:pPr>
            <a:r>
              <a:rPr lang="en-US" altLang="zh-CN">
                <a:solidFill>
                  <a:srgbClr val="000000"/>
                </a:solidFill>
                <a:latin typeface="Arial" charset="0"/>
              </a:rPr>
              <a:t> </a:t>
            </a:r>
            <a:r>
              <a:rPr lang="zh-CN" altLang="en-US">
                <a:solidFill>
                  <a:srgbClr val="000000"/>
                </a:solidFill>
                <a:latin typeface="Arial" charset="0"/>
              </a:rPr>
              <a:t>以上四个部门的结余，形成</a:t>
            </a:r>
            <a:r>
              <a:rPr lang="zh-CN" altLang="en-US">
                <a:solidFill>
                  <a:srgbClr val="6600FF"/>
                </a:solidFill>
                <a:latin typeface="Arial" charset="0"/>
              </a:rPr>
              <a:t>储蓄</a:t>
            </a:r>
            <a:r>
              <a:rPr lang="zh-CN" altLang="en-US">
                <a:solidFill>
                  <a:srgbClr val="000000"/>
                </a:solidFill>
                <a:latin typeface="Arial" charset="0"/>
              </a:rPr>
              <a:t>，并经金融市场转化为</a:t>
            </a:r>
            <a:r>
              <a:rPr lang="zh-CN" altLang="en-US">
                <a:solidFill>
                  <a:srgbClr val="6600FF"/>
                </a:solidFill>
                <a:latin typeface="Arial" charset="0"/>
              </a:rPr>
              <a:t>投资</a:t>
            </a:r>
            <a:r>
              <a:rPr lang="zh-CN" altLang="en-US">
                <a:solidFill>
                  <a:srgbClr val="000000"/>
                </a:solidFill>
                <a:latin typeface="Arial" charset="0"/>
              </a:rPr>
              <a:t>。</a:t>
            </a:r>
            <a:endParaRPr lang="en-US" altLang="zh-CN">
              <a:solidFill>
                <a:srgbClr val="000000"/>
              </a:solidFill>
              <a:latin typeface="Arial" charset="0"/>
            </a:endParaRPr>
          </a:p>
          <a:p>
            <a:pPr>
              <a:lnSpc>
                <a:spcPct val="120000"/>
              </a:lnSpc>
              <a:buClr>
                <a:srgbClr val="FF0000"/>
              </a:buClr>
              <a:buSzPct val="95000"/>
              <a:buFont typeface="Wingdings" pitchFamily="2" charset="2"/>
              <a:buChar char="n"/>
            </a:pPr>
            <a:endParaRPr lang="en-US" altLang="zh-CN">
              <a:solidFill>
                <a:srgbClr val="000000"/>
              </a:solidFill>
              <a:latin typeface="Arial" charset="0"/>
            </a:endParaRPr>
          </a:p>
          <a:p>
            <a:pPr>
              <a:lnSpc>
                <a:spcPct val="120000"/>
              </a:lnSpc>
              <a:buClr>
                <a:srgbClr val="FF0000"/>
              </a:buClr>
              <a:buSzPct val="95000"/>
              <a:buFont typeface="Wingdings" pitchFamily="2" charset="2"/>
              <a:buChar char="n"/>
            </a:pPr>
            <a:r>
              <a:rPr lang="en-US" altLang="zh-CN">
                <a:solidFill>
                  <a:srgbClr val="000000"/>
                </a:solidFill>
                <a:latin typeface="Arial" charset="0"/>
              </a:rPr>
              <a:t> </a:t>
            </a:r>
            <a:r>
              <a:rPr lang="zh-CN" altLang="en-US">
                <a:solidFill>
                  <a:srgbClr val="000000"/>
                </a:solidFill>
                <a:latin typeface="Arial" charset="0"/>
              </a:rPr>
              <a:t>规律：</a:t>
            </a:r>
            <a:r>
              <a:rPr lang="zh-CN" altLang="en-US" sz="3200">
                <a:solidFill>
                  <a:srgbClr val="000000"/>
                </a:solidFill>
                <a:latin typeface="Arial" charset="0"/>
              </a:rPr>
              <a:t>四个主体都是</a:t>
            </a:r>
            <a:r>
              <a:rPr lang="zh-CN" altLang="en-US" sz="3200">
                <a:solidFill>
                  <a:srgbClr val="FF00FF"/>
                </a:solidFill>
                <a:latin typeface="Arial" charset="0"/>
              </a:rPr>
              <a:t>“一进一出”。</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1251">
                                            <p:bg/>
                                          </p:spTgt>
                                        </p:tgtEl>
                                        <p:attrNameLst>
                                          <p:attrName>style.visibility</p:attrName>
                                        </p:attrNameLst>
                                      </p:cBhvr>
                                      <p:to>
                                        <p:strVal val="visible"/>
                                      </p:to>
                                    </p:set>
                                    <p:animEffect transition="in" filter="blinds(horizontal)">
                                      <p:cBhvr>
                                        <p:cTn id="7" dur="500"/>
                                        <p:tgtEl>
                                          <p:spTgt spid="181251">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81251">
                                            <p:txEl>
                                              <p:pRg st="0" end="0"/>
                                            </p:txEl>
                                          </p:spTgt>
                                        </p:tgtEl>
                                        <p:attrNameLst>
                                          <p:attrName>style.visibility</p:attrName>
                                        </p:attrNameLst>
                                      </p:cBhvr>
                                      <p:to>
                                        <p:strVal val="visible"/>
                                      </p:to>
                                    </p:set>
                                    <p:animEffect transition="in" filter="blinds(horizontal)">
                                      <p:cBhvr>
                                        <p:cTn id="12" dur="500"/>
                                        <p:tgtEl>
                                          <p:spTgt spid="181251">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81251">
                                            <p:txEl>
                                              <p:pRg st="1" end="1"/>
                                            </p:txEl>
                                          </p:spTgt>
                                        </p:tgtEl>
                                        <p:attrNameLst>
                                          <p:attrName>style.visibility</p:attrName>
                                        </p:attrNameLst>
                                      </p:cBhvr>
                                      <p:to>
                                        <p:strVal val="visible"/>
                                      </p:to>
                                    </p:set>
                                    <p:animEffect transition="in" filter="blinds(horizontal)">
                                      <p:cBhvr>
                                        <p:cTn id="17" dur="500"/>
                                        <p:tgtEl>
                                          <p:spTgt spid="181251">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81254"/>
                                        </p:tgtEl>
                                        <p:attrNameLst>
                                          <p:attrName>style.visibility</p:attrName>
                                        </p:attrNameLst>
                                      </p:cBhvr>
                                      <p:to>
                                        <p:strVal val="visible"/>
                                      </p:to>
                                    </p:set>
                                    <p:animEffect transition="in" filter="blinds(horizontal)">
                                      <p:cBhvr>
                                        <p:cTn id="22" dur="500"/>
                                        <p:tgtEl>
                                          <p:spTgt spid="1812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251" grpId="0" build="p" animBg="1"/>
      <p:bldP spid="18125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3"/>
          <p:cNvSpPr>
            <a:spLocks noGrp="1"/>
          </p:cNvSpPr>
          <p:nvPr>
            <p:ph type="ftr" sz="quarter" idx="10"/>
          </p:nvPr>
        </p:nvSpPr>
        <p:spPr/>
        <p:txBody>
          <a:bodyPr/>
          <a:lstStyle/>
          <a:p>
            <a:pPr>
              <a:defRPr/>
            </a:pPr>
            <a:r>
              <a:rPr lang="en-US" altLang="zh-CN" smtClean="0">
                <a:ea typeface="宋体" charset="-122"/>
              </a:rPr>
              <a:t>    </a:t>
            </a:r>
            <a:endParaRPr lang="zh-CN" altLang="en-US" smtClean="0">
              <a:ea typeface="宋体" charset="-122"/>
            </a:endParaRPr>
          </a:p>
        </p:txBody>
      </p:sp>
      <p:sp>
        <p:nvSpPr>
          <p:cNvPr id="271362" name="Rectangle 2"/>
          <p:cNvSpPr>
            <a:spLocks noGrp="1" noChangeArrowheads="1"/>
          </p:cNvSpPr>
          <p:nvPr>
            <p:ph type="title"/>
          </p:nvPr>
        </p:nvSpPr>
        <p:spPr>
          <a:extLst/>
        </p:spPr>
        <p:txBody>
          <a:bodyPr/>
          <a:lstStyle/>
          <a:p>
            <a:pPr eaLnBrk="1" hangingPunct="1">
              <a:defRPr/>
            </a:pPr>
            <a:r>
              <a:rPr lang="zh-CN" altLang="en-US"/>
              <a:t>第二节</a:t>
            </a:r>
            <a:r>
              <a:rPr lang="en-US" altLang="zh-CN"/>
              <a:t>  </a:t>
            </a:r>
            <a:r>
              <a:rPr lang="zh-CN" altLang="en-US"/>
              <a:t>国内生产总值</a:t>
            </a:r>
            <a:r>
              <a:rPr lang="en-US" altLang="zh-CN"/>
              <a:t>GDP</a:t>
            </a:r>
          </a:p>
        </p:txBody>
      </p:sp>
      <p:sp>
        <p:nvSpPr>
          <p:cNvPr id="184323" name="Rectangle 3"/>
          <p:cNvSpPr>
            <a:spLocks noGrp="1" noChangeArrowheads="1"/>
          </p:cNvSpPr>
          <p:nvPr>
            <p:ph type="body" idx="1"/>
          </p:nvPr>
        </p:nvSpPr>
        <p:spPr>
          <a:xfrm>
            <a:off x="395288" y="1989138"/>
            <a:ext cx="8424862" cy="1244600"/>
          </a:xfrm>
        </p:spPr>
        <p:txBody>
          <a:bodyPr/>
          <a:lstStyle/>
          <a:p>
            <a:pPr eaLnBrk="1" hangingPunct="1">
              <a:spcBef>
                <a:spcPct val="0"/>
              </a:spcBef>
              <a:buFont typeface="Wingdings" pitchFamily="2" charset="2"/>
              <a:buNone/>
            </a:pPr>
            <a:r>
              <a:rPr lang="zh-CN" altLang="en-US" smtClean="0"/>
              <a:t>在计算一个企业在既定时期给社会创造的价值时，并不是指该企业生产出来的产品的总价值，而是指</a:t>
            </a:r>
            <a:r>
              <a:rPr lang="zh-CN" altLang="en-US" smtClean="0">
                <a:solidFill>
                  <a:srgbClr val="FF00FF"/>
                </a:solidFill>
              </a:rPr>
              <a:t>净增值</a:t>
            </a:r>
            <a:r>
              <a:rPr lang="zh-CN" altLang="en-US" smtClean="0"/>
              <a:t>。这样计算出来的产出能够更准确地衡量企业给社会做出的经济贡献。</a:t>
            </a:r>
          </a:p>
        </p:txBody>
      </p:sp>
      <p:sp>
        <p:nvSpPr>
          <p:cNvPr id="271364" name="Rectangle 4" descr="花束"/>
          <p:cNvSpPr>
            <a:spLocks noChangeArrowheads="1"/>
          </p:cNvSpPr>
          <p:nvPr/>
        </p:nvSpPr>
        <p:spPr bwMode="auto">
          <a:xfrm>
            <a:off x="395288" y="1268413"/>
            <a:ext cx="3960812" cy="533400"/>
          </a:xfrm>
          <a:prstGeom prst="rect">
            <a:avLst/>
          </a:prstGeom>
          <a:blipFill dpi="0" rotWithShape="0">
            <a:blip r:embed="rId2"/>
            <a:srcRect/>
            <a:tile tx="0" ty="0" sx="100000" sy="100000" flip="none" algn="tl"/>
          </a:blipFill>
          <a:ln w="76200">
            <a:solidFill>
              <a:srgbClr val="FF0000"/>
            </a:solidFill>
            <a:miter lim="800000"/>
            <a:headEnd/>
            <a:tailEnd/>
          </a:ln>
        </p:spPr>
        <p:txBody>
          <a:bodyPr>
            <a:spAutoFit/>
          </a:bodyPr>
          <a:lstStyle/>
          <a:p>
            <a:pPr>
              <a:lnSpc>
                <a:spcPct val="120000"/>
              </a:lnSpc>
              <a:buClr>
                <a:srgbClr val="660033"/>
              </a:buClr>
              <a:buSzPct val="95000"/>
              <a:buFont typeface="Wingdings" pitchFamily="2" charset="2"/>
              <a:buNone/>
            </a:pPr>
            <a:r>
              <a:rPr lang="zh-CN" altLang="en-US">
                <a:solidFill>
                  <a:srgbClr val="101016"/>
                </a:solidFill>
                <a:latin typeface="Arial" charset="0"/>
              </a:rPr>
              <a:t>一、最终产品与中间产品</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1364"/>
                                        </p:tgtEl>
                                        <p:attrNameLst>
                                          <p:attrName>style.visibility</p:attrName>
                                        </p:attrNameLst>
                                      </p:cBhvr>
                                      <p:to>
                                        <p:strVal val="visible"/>
                                      </p:to>
                                    </p:set>
                                    <p:animEffect transition="in" filter="blinds(horizontal)">
                                      <p:cBhvr>
                                        <p:cTn id="7" dur="500"/>
                                        <p:tgtEl>
                                          <p:spTgt spid="2713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136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页脚占位符 3"/>
          <p:cNvSpPr>
            <a:spLocks noGrp="1"/>
          </p:cNvSpPr>
          <p:nvPr>
            <p:ph type="ftr" sz="quarter" idx="10"/>
          </p:nvPr>
        </p:nvSpPr>
        <p:spPr/>
        <p:txBody>
          <a:bodyPr/>
          <a:lstStyle/>
          <a:p>
            <a:pPr>
              <a:defRPr/>
            </a:pPr>
            <a:endParaRPr lang="zh-CN" altLang="en-US" smtClean="0">
              <a:ea typeface="宋体" charset="-122"/>
            </a:endParaRPr>
          </a:p>
        </p:txBody>
      </p:sp>
      <p:sp>
        <p:nvSpPr>
          <p:cNvPr id="270338" name="Rectangle 2"/>
          <p:cNvSpPr>
            <a:spLocks noGrp="1" noChangeArrowheads="1"/>
          </p:cNvSpPr>
          <p:nvPr>
            <p:ph type="title"/>
          </p:nvPr>
        </p:nvSpPr>
        <p:spPr>
          <a:extLst/>
        </p:spPr>
        <p:txBody>
          <a:bodyPr/>
          <a:lstStyle/>
          <a:p>
            <a:pPr eaLnBrk="1" hangingPunct="1">
              <a:defRPr/>
            </a:pPr>
            <a:r>
              <a:rPr lang="zh-CN" altLang="en-US"/>
              <a:t>第二节</a:t>
            </a:r>
            <a:r>
              <a:rPr lang="en-US" altLang="zh-CN"/>
              <a:t>  </a:t>
            </a:r>
            <a:r>
              <a:rPr lang="zh-CN" altLang="en-US"/>
              <a:t>国内生产总值</a:t>
            </a:r>
            <a:r>
              <a:rPr lang="en-US" altLang="zh-CN"/>
              <a:t>GDP</a:t>
            </a:r>
          </a:p>
        </p:txBody>
      </p:sp>
      <p:sp>
        <p:nvSpPr>
          <p:cNvPr id="270339" name="Rectangle 3" descr="花束"/>
          <p:cNvSpPr>
            <a:spLocks noGrp="1" noChangeArrowheads="1"/>
          </p:cNvSpPr>
          <p:nvPr>
            <p:ph type="body" idx="1"/>
          </p:nvPr>
        </p:nvSpPr>
        <p:spPr>
          <a:xfrm>
            <a:off x="395288" y="1916113"/>
            <a:ext cx="5545137" cy="1263650"/>
          </a:xfrm>
          <a:blipFill dpi="0" rotWithShape="0">
            <a:blip r:embed="rId2">
              <a:alphaModFix amt="73000"/>
            </a:blip>
            <a:srcRect/>
            <a:tile tx="0" ty="0" sx="100000" sy="100000" flip="none" algn="tl"/>
          </a:blipFill>
          <a:ln w="76200" cap="flat" cmpd="sng">
            <a:solidFill>
              <a:srgbClr val="336600"/>
            </a:solidFill>
          </a:ln>
        </p:spPr>
        <p:txBody>
          <a:bodyPr/>
          <a:lstStyle/>
          <a:p>
            <a:pPr marL="0" indent="0" eaLnBrk="1" hangingPunct="1">
              <a:spcBef>
                <a:spcPct val="0"/>
              </a:spcBef>
              <a:buClr>
                <a:srgbClr val="660033"/>
              </a:buClr>
              <a:buSzPct val="95000"/>
              <a:buFont typeface="Wingdings" pitchFamily="2" charset="2"/>
              <a:buChar char="n"/>
            </a:pPr>
            <a:r>
              <a:rPr lang="zh-CN" altLang="en-US" smtClean="0">
                <a:solidFill>
                  <a:srgbClr val="FF3399"/>
                </a:solidFill>
              </a:rPr>
              <a:t>最终产品：</a:t>
            </a:r>
            <a:endParaRPr lang="en-US" altLang="zh-CN" smtClean="0">
              <a:solidFill>
                <a:srgbClr val="FF3399"/>
              </a:solidFill>
            </a:endParaRPr>
          </a:p>
          <a:p>
            <a:pPr marL="0" indent="0" eaLnBrk="1" hangingPunct="1">
              <a:spcBef>
                <a:spcPct val="0"/>
              </a:spcBef>
              <a:buClr>
                <a:srgbClr val="660033"/>
              </a:buClr>
              <a:buSzPct val="95000"/>
              <a:buFont typeface="Wingdings" pitchFamily="2" charset="2"/>
              <a:buChar char="n"/>
            </a:pPr>
            <a:r>
              <a:rPr lang="zh-CN" altLang="en-US" smtClean="0"/>
              <a:t>一定时期内生产、同期内不再加工、可供最终消费和使用的产品。</a:t>
            </a:r>
          </a:p>
        </p:txBody>
      </p:sp>
      <p:sp>
        <p:nvSpPr>
          <p:cNvPr id="270340" name="Rectangle 4" descr="花束"/>
          <p:cNvSpPr>
            <a:spLocks noChangeArrowheads="1"/>
          </p:cNvSpPr>
          <p:nvPr/>
        </p:nvSpPr>
        <p:spPr bwMode="auto">
          <a:xfrm>
            <a:off x="395288" y="3486150"/>
            <a:ext cx="3960812" cy="533400"/>
          </a:xfrm>
          <a:prstGeom prst="rect">
            <a:avLst/>
          </a:prstGeom>
          <a:blipFill dpi="0" rotWithShape="0">
            <a:blip r:embed="rId2"/>
            <a:srcRect/>
            <a:tile tx="0" ty="0" sx="100000" sy="100000" flip="none" algn="tl"/>
          </a:blipFill>
          <a:ln w="76200">
            <a:solidFill>
              <a:srgbClr val="336600"/>
            </a:solidFill>
            <a:miter lim="800000"/>
            <a:headEnd/>
            <a:tailEnd/>
          </a:ln>
        </p:spPr>
        <p:txBody>
          <a:bodyPr>
            <a:spAutoFit/>
          </a:bodyPr>
          <a:lstStyle/>
          <a:p>
            <a:pPr>
              <a:lnSpc>
                <a:spcPct val="120000"/>
              </a:lnSpc>
              <a:buClr>
                <a:srgbClr val="660033"/>
              </a:buClr>
              <a:buSzPct val="95000"/>
              <a:buFont typeface="Wingdings" pitchFamily="2" charset="2"/>
              <a:buChar char="n"/>
            </a:pPr>
            <a:r>
              <a:rPr lang="zh-CN" altLang="en-US">
                <a:solidFill>
                  <a:srgbClr val="101016"/>
                </a:solidFill>
                <a:latin typeface="Arial" charset="0"/>
              </a:rPr>
              <a:t>最终产品通常包括三类：</a:t>
            </a:r>
          </a:p>
        </p:txBody>
      </p:sp>
      <p:sp>
        <p:nvSpPr>
          <p:cNvPr id="270341" name="AutoShape 5"/>
          <p:cNvSpPr>
            <a:spLocks noChangeArrowheads="1"/>
          </p:cNvSpPr>
          <p:nvPr/>
        </p:nvSpPr>
        <p:spPr bwMode="auto">
          <a:xfrm>
            <a:off x="6084888" y="1412875"/>
            <a:ext cx="2447925" cy="1439863"/>
          </a:xfrm>
          <a:prstGeom prst="wedgeEllipseCallout">
            <a:avLst>
              <a:gd name="adj1" fmla="val -54282"/>
              <a:gd name="adj2" fmla="val 8213"/>
            </a:avLst>
          </a:prstGeom>
          <a:solidFill>
            <a:schemeClr val="tx1"/>
          </a:solidFill>
          <a:ln w="9525">
            <a:solidFill>
              <a:schemeClr val="tx1"/>
            </a:solidFill>
            <a:miter lim="800000"/>
            <a:headEnd/>
            <a:tailEnd/>
          </a:ln>
        </p:spPr>
        <p:txBody>
          <a:bodyPr/>
          <a:lstStyle/>
          <a:p>
            <a:pPr algn="ctr"/>
            <a:r>
              <a:rPr kumimoji="1" lang="zh-CN" altLang="en-US">
                <a:solidFill>
                  <a:srgbClr val="19692C"/>
                </a:solidFill>
                <a:latin typeface="Arial" charset="0"/>
              </a:rPr>
              <a:t>不重复出售</a:t>
            </a:r>
            <a:r>
              <a:rPr kumimoji="1" lang="zh-CN" altLang="en-US">
                <a:solidFill>
                  <a:srgbClr val="FF0000"/>
                </a:solidFill>
                <a:latin typeface="Arial" charset="0"/>
              </a:rPr>
              <a:t>、转卖或进一步加工</a:t>
            </a:r>
          </a:p>
        </p:txBody>
      </p:sp>
      <p:sp>
        <p:nvSpPr>
          <p:cNvPr id="270342" name="Rectangle 6"/>
          <p:cNvSpPr>
            <a:spLocks noChangeArrowheads="1"/>
          </p:cNvSpPr>
          <p:nvPr/>
        </p:nvSpPr>
        <p:spPr bwMode="auto">
          <a:xfrm>
            <a:off x="4643438" y="3702050"/>
            <a:ext cx="4103687" cy="1244600"/>
          </a:xfrm>
          <a:prstGeom prst="rect">
            <a:avLst/>
          </a:prstGeom>
          <a:solidFill>
            <a:schemeClr val="tx2">
              <a:alpha val="72940"/>
            </a:schemeClr>
          </a:solidFill>
          <a:ln w="57150" cmpd="thinThick">
            <a:solidFill>
              <a:srgbClr val="996633"/>
            </a:solidFill>
            <a:miter lim="800000"/>
            <a:headEnd/>
            <a:tailEnd/>
          </a:ln>
        </p:spPr>
        <p:txBody>
          <a:bodyPr>
            <a:spAutoFit/>
          </a:bodyPr>
          <a:lstStyle/>
          <a:p>
            <a:pPr marL="95250" indent="-95250">
              <a:lnSpc>
                <a:spcPct val="120000"/>
              </a:lnSpc>
              <a:spcBef>
                <a:spcPct val="20000"/>
              </a:spcBef>
              <a:buClr>
                <a:schemeClr val="hlink"/>
              </a:buClr>
              <a:buFont typeface="Wingdings" pitchFamily="2" charset="2"/>
              <a:buBlip>
                <a:blip r:embed="rId3"/>
              </a:buBlip>
            </a:pPr>
            <a:r>
              <a:rPr lang="zh-CN" altLang="en-US">
                <a:solidFill>
                  <a:srgbClr val="101016"/>
                </a:solidFill>
                <a:latin typeface="Arial" charset="0"/>
              </a:rPr>
              <a:t>作投资用的产品（机器设备），看似中间产品，但由于不再加工和出售，故属于最终产品。</a:t>
            </a:r>
          </a:p>
        </p:txBody>
      </p:sp>
      <p:sp>
        <p:nvSpPr>
          <p:cNvPr id="270343" name="Rectangle 7"/>
          <p:cNvSpPr>
            <a:spLocks noChangeArrowheads="1"/>
          </p:cNvSpPr>
          <p:nvPr/>
        </p:nvSpPr>
        <p:spPr bwMode="auto">
          <a:xfrm>
            <a:off x="4643438" y="5070475"/>
            <a:ext cx="4103687" cy="1244600"/>
          </a:xfrm>
          <a:prstGeom prst="rect">
            <a:avLst/>
          </a:prstGeom>
          <a:solidFill>
            <a:schemeClr val="tx2">
              <a:alpha val="72940"/>
            </a:schemeClr>
          </a:solidFill>
          <a:ln w="57150" cmpd="thinThick">
            <a:solidFill>
              <a:srgbClr val="996633"/>
            </a:solidFill>
            <a:miter lim="800000"/>
            <a:headEnd/>
            <a:tailEnd/>
          </a:ln>
        </p:spPr>
        <p:txBody>
          <a:bodyPr>
            <a:spAutoFit/>
          </a:bodyPr>
          <a:lstStyle/>
          <a:p>
            <a:pPr marL="95250" indent="-95250">
              <a:lnSpc>
                <a:spcPct val="120000"/>
              </a:lnSpc>
              <a:spcBef>
                <a:spcPct val="20000"/>
              </a:spcBef>
              <a:buClr>
                <a:schemeClr val="hlink"/>
              </a:buClr>
              <a:buFont typeface="Wingdings" pitchFamily="2" charset="2"/>
              <a:buBlip>
                <a:blip r:embed="rId3"/>
              </a:buBlip>
            </a:pPr>
            <a:r>
              <a:rPr lang="zh-CN" altLang="en-US">
                <a:solidFill>
                  <a:srgbClr val="101016"/>
                </a:solidFill>
                <a:latin typeface="Arial" charset="0"/>
              </a:rPr>
              <a:t>企业年终</a:t>
            </a:r>
            <a:r>
              <a:rPr lang="zh-CN" altLang="en-US">
                <a:solidFill>
                  <a:srgbClr val="FF5050"/>
                </a:solidFill>
                <a:latin typeface="Arial" charset="0"/>
              </a:rPr>
              <a:t>库存货物</a:t>
            </a:r>
            <a:r>
              <a:rPr lang="zh-CN" altLang="en-US">
                <a:solidFill>
                  <a:srgbClr val="101016"/>
                </a:solidFill>
                <a:latin typeface="Arial" charset="0"/>
              </a:rPr>
              <a:t>，可以看作是企业自己最终卖给自己的最终产品。</a:t>
            </a:r>
          </a:p>
        </p:txBody>
      </p:sp>
      <p:sp>
        <p:nvSpPr>
          <p:cNvPr id="270344" name="Rectangle 8" descr="花束"/>
          <p:cNvSpPr>
            <a:spLocks noChangeArrowheads="1"/>
          </p:cNvSpPr>
          <p:nvPr/>
        </p:nvSpPr>
        <p:spPr bwMode="auto">
          <a:xfrm>
            <a:off x="395288" y="4999038"/>
            <a:ext cx="3960812" cy="898525"/>
          </a:xfrm>
          <a:prstGeom prst="rect">
            <a:avLst/>
          </a:prstGeom>
          <a:blipFill dpi="0" rotWithShape="0">
            <a:blip r:embed="rId2"/>
            <a:srcRect/>
            <a:tile tx="0" ty="0" sx="100000" sy="100000" flip="none" algn="tl"/>
          </a:blipFill>
          <a:ln w="76200">
            <a:solidFill>
              <a:srgbClr val="336600"/>
            </a:solidFill>
            <a:miter lim="800000"/>
            <a:headEnd/>
            <a:tailEnd/>
          </a:ln>
        </p:spPr>
        <p:txBody>
          <a:bodyPr>
            <a:spAutoFit/>
          </a:bodyPr>
          <a:lstStyle/>
          <a:p>
            <a:pPr>
              <a:lnSpc>
                <a:spcPct val="120000"/>
              </a:lnSpc>
              <a:buClr>
                <a:srgbClr val="660033"/>
              </a:buClr>
              <a:buSzPct val="95000"/>
              <a:buFont typeface="Wingdings" pitchFamily="2" charset="2"/>
              <a:buChar char="n"/>
            </a:pPr>
            <a:r>
              <a:rPr lang="en-US" altLang="zh-CN">
                <a:solidFill>
                  <a:srgbClr val="101016"/>
                </a:solidFill>
                <a:latin typeface="Arial" charset="0"/>
              </a:rPr>
              <a:t>②</a:t>
            </a:r>
            <a:r>
              <a:rPr lang="zh-CN" altLang="en-US">
                <a:solidFill>
                  <a:srgbClr val="101016"/>
                </a:solidFill>
                <a:latin typeface="Arial" charset="0"/>
              </a:rPr>
              <a:t>固定资产积累与储备（包括库存增加）；</a:t>
            </a:r>
          </a:p>
        </p:txBody>
      </p:sp>
      <p:sp>
        <p:nvSpPr>
          <p:cNvPr id="270345" name="Rectangle 9" descr="花束"/>
          <p:cNvSpPr>
            <a:spLocks noChangeArrowheads="1"/>
          </p:cNvSpPr>
          <p:nvPr/>
        </p:nvSpPr>
        <p:spPr bwMode="auto">
          <a:xfrm>
            <a:off x="395288" y="6221413"/>
            <a:ext cx="3960812" cy="533400"/>
          </a:xfrm>
          <a:prstGeom prst="rect">
            <a:avLst/>
          </a:prstGeom>
          <a:blipFill dpi="0" rotWithShape="0">
            <a:blip r:embed="rId2"/>
            <a:srcRect/>
            <a:tile tx="0" ty="0" sx="100000" sy="100000" flip="none" algn="tl"/>
          </a:blipFill>
          <a:ln w="76200">
            <a:solidFill>
              <a:srgbClr val="336600"/>
            </a:solidFill>
            <a:miter lim="800000"/>
            <a:headEnd/>
            <a:tailEnd/>
          </a:ln>
        </p:spPr>
        <p:txBody>
          <a:bodyPr>
            <a:spAutoFit/>
          </a:bodyPr>
          <a:lstStyle/>
          <a:p>
            <a:pPr>
              <a:lnSpc>
                <a:spcPct val="120000"/>
              </a:lnSpc>
              <a:buClr>
                <a:srgbClr val="660033"/>
              </a:buClr>
              <a:buSzPct val="95000"/>
              <a:buFont typeface="Wingdings" pitchFamily="2" charset="2"/>
              <a:buChar char="n"/>
            </a:pPr>
            <a:r>
              <a:rPr lang="en-US" altLang="zh-CN">
                <a:solidFill>
                  <a:srgbClr val="101016"/>
                </a:solidFill>
                <a:latin typeface="Arial" charset="0"/>
              </a:rPr>
              <a:t>③</a:t>
            </a:r>
            <a:r>
              <a:rPr lang="zh-CN" altLang="en-US">
                <a:solidFill>
                  <a:srgbClr val="101016"/>
                </a:solidFill>
                <a:latin typeface="Arial" charset="0"/>
              </a:rPr>
              <a:t>净出口（进出口差）。</a:t>
            </a:r>
          </a:p>
        </p:txBody>
      </p:sp>
      <p:sp>
        <p:nvSpPr>
          <p:cNvPr id="270346" name="Rectangle 10" descr="花束"/>
          <p:cNvSpPr>
            <a:spLocks noChangeArrowheads="1"/>
          </p:cNvSpPr>
          <p:nvPr/>
        </p:nvSpPr>
        <p:spPr bwMode="auto">
          <a:xfrm>
            <a:off x="395288" y="4206875"/>
            <a:ext cx="3960812" cy="533400"/>
          </a:xfrm>
          <a:prstGeom prst="rect">
            <a:avLst/>
          </a:prstGeom>
          <a:blipFill dpi="0" rotWithShape="0">
            <a:blip r:embed="rId2"/>
            <a:srcRect/>
            <a:tile tx="0" ty="0" sx="100000" sy="100000" flip="none" algn="tl"/>
          </a:blipFill>
          <a:ln w="76200">
            <a:solidFill>
              <a:srgbClr val="336600"/>
            </a:solidFill>
            <a:miter lim="800000"/>
            <a:headEnd/>
            <a:tailEnd/>
          </a:ln>
        </p:spPr>
        <p:txBody>
          <a:bodyPr>
            <a:spAutoFit/>
          </a:bodyPr>
          <a:lstStyle/>
          <a:p>
            <a:pPr>
              <a:lnSpc>
                <a:spcPct val="120000"/>
              </a:lnSpc>
              <a:buClr>
                <a:srgbClr val="660033"/>
              </a:buClr>
              <a:buSzPct val="95000"/>
              <a:buFont typeface="Wingdings" pitchFamily="2" charset="2"/>
              <a:buChar char="n"/>
            </a:pPr>
            <a:r>
              <a:rPr lang="en-US" altLang="zh-CN">
                <a:solidFill>
                  <a:srgbClr val="101016"/>
                </a:solidFill>
                <a:latin typeface="Arial" charset="0"/>
              </a:rPr>
              <a:t>①</a:t>
            </a:r>
            <a:r>
              <a:rPr lang="zh-CN" altLang="en-US">
                <a:solidFill>
                  <a:srgbClr val="101016"/>
                </a:solidFill>
                <a:latin typeface="Arial" charset="0"/>
              </a:rPr>
              <a:t>消费品、军工产品；</a:t>
            </a:r>
          </a:p>
        </p:txBody>
      </p:sp>
      <p:sp>
        <p:nvSpPr>
          <p:cNvPr id="270347" name="AutoShape 11"/>
          <p:cNvSpPr>
            <a:spLocks/>
          </p:cNvSpPr>
          <p:nvPr/>
        </p:nvSpPr>
        <p:spPr bwMode="auto">
          <a:xfrm>
            <a:off x="4427538" y="3702050"/>
            <a:ext cx="144462" cy="2592388"/>
          </a:xfrm>
          <a:prstGeom prst="leftBrace">
            <a:avLst>
              <a:gd name="adj1" fmla="val 149543"/>
              <a:gd name="adj2" fmla="val 50000"/>
            </a:avLst>
          </a:prstGeom>
          <a:noFill/>
          <a:ln w="76200">
            <a:solidFill>
              <a:srgbClr val="19692C"/>
            </a:solidFill>
            <a:miter lim="800000"/>
            <a:headEnd/>
            <a:tailEnd/>
          </a:ln>
        </p:spPr>
        <p:txBody>
          <a:bodyPr wrap="none" anchor="ctr"/>
          <a:lstStyle/>
          <a:p>
            <a:pPr>
              <a:lnSpc>
                <a:spcPct val="130000"/>
              </a:lnSpc>
              <a:spcBef>
                <a:spcPct val="20000"/>
              </a:spcBef>
              <a:buClr>
                <a:schemeClr val="hlink"/>
              </a:buClr>
              <a:buSzPct val="95000"/>
              <a:buFont typeface="Wingdings" pitchFamily="2" charset="2"/>
              <a:buChar char="p"/>
            </a:pPr>
            <a:endParaRPr lang="zh-CN" altLang="en-US"/>
          </a:p>
        </p:txBody>
      </p:sp>
      <p:sp>
        <p:nvSpPr>
          <p:cNvPr id="270348" name="Rectangle 12" descr="花束"/>
          <p:cNvSpPr>
            <a:spLocks noChangeArrowheads="1"/>
          </p:cNvSpPr>
          <p:nvPr/>
        </p:nvSpPr>
        <p:spPr bwMode="auto">
          <a:xfrm>
            <a:off x="395288" y="1268413"/>
            <a:ext cx="3960812" cy="533400"/>
          </a:xfrm>
          <a:prstGeom prst="rect">
            <a:avLst/>
          </a:prstGeom>
          <a:blipFill dpi="0" rotWithShape="0">
            <a:blip r:embed="rId2"/>
            <a:srcRect/>
            <a:tile tx="0" ty="0" sx="100000" sy="100000" flip="none" algn="tl"/>
          </a:blipFill>
          <a:ln w="76200">
            <a:solidFill>
              <a:srgbClr val="FF0000"/>
            </a:solidFill>
            <a:miter lim="800000"/>
            <a:headEnd/>
            <a:tailEnd/>
          </a:ln>
        </p:spPr>
        <p:txBody>
          <a:bodyPr>
            <a:spAutoFit/>
          </a:bodyPr>
          <a:lstStyle/>
          <a:p>
            <a:pPr>
              <a:lnSpc>
                <a:spcPct val="120000"/>
              </a:lnSpc>
              <a:buClr>
                <a:srgbClr val="660033"/>
              </a:buClr>
              <a:buSzPct val="95000"/>
              <a:buFont typeface="Wingdings" pitchFamily="2" charset="2"/>
              <a:buNone/>
            </a:pPr>
            <a:r>
              <a:rPr lang="zh-CN" altLang="en-US">
                <a:solidFill>
                  <a:srgbClr val="101016"/>
                </a:solidFill>
                <a:latin typeface="Arial" charset="0"/>
              </a:rPr>
              <a:t>一、最终产品与中间产品</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270339">
                                            <p:bg/>
                                          </p:spTgt>
                                        </p:tgtEl>
                                        <p:attrNameLst>
                                          <p:attrName>style.visibility</p:attrName>
                                        </p:attrNameLst>
                                      </p:cBhvr>
                                      <p:to>
                                        <p:strVal val="visible"/>
                                      </p:to>
                                    </p:set>
                                    <p:animEffect transition="in" filter="box(in)">
                                      <p:cBhvr>
                                        <p:cTn id="7" dur="500"/>
                                        <p:tgtEl>
                                          <p:spTgt spid="270339">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70339">
                                            <p:txEl>
                                              <p:pRg st="0" end="0"/>
                                            </p:txEl>
                                          </p:spTgt>
                                        </p:tgtEl>
                                        <p:attrNameLst>
                                          <p:attrName>style.visibility</p:attrName>
                                        </p:attrNameLst>
                                      </p:cBhvr>
                                      <p:to>
                                        <p:strVal val="visible"/>
                                      </p:to>
                                    </p:set>
                                    <p:animEffect transition="in" filter="box(in)">
                                      <p:cBhvr>
                                        <p:cTn id="12" dur="500"/>
                                        <p:tgtEl>
                                          <p:spTgt spid="270339">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270339">
                                            <p:txEl>
                                              <p:pRg st="1" end="1"/>
                                            </p:txEl>
                                          </p:spTgt>
                                        </p:tgtEl>
                                        <p:attrNameLst>
                                          <p:attrName>style.visibility</p:attrName>
                                        </p:attrNameLst>
                                      </p:cBhvr>
                                      <p:to>
                                        <p:strVal val="visible"/>
                                      </p:to>
                                    </p:set>
                                    <p:animEffect transition="in" filter="box(in)">
                                      <p:cBhvr>
                                        <p:cTn id="17" dur="500"/>
                                        <p:tgtEl>
                                          <p:spTgt spid="270339">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70341"/>
                                        </p:tgtEl>
                                        <p:attrNameLst>
                                          <p:attrName>style.visibility</p:attrName>
                                        </p:attrNameLst>
                                      </p:cBhvr>
                                      <p:to>
                                        <p:strVal val="visible"/>
                                      </p:to>
                                    </p:set>
                                    <p:animEffect transition="in" filter="blinds(horizontal)">
                                      <p:cBhvr>
                                        <p:cTn id="22" dur="500"/>
                                        <p:tgtEl>
                                          <p:spTgt spid="27034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70340"/>
                                        </p:tgtEl>
                                        <p:attrNameLst>
                                          <p:attrName>style.visibility</p:attrName>
                                        </p:attrNameLst>
                                      </p:cBhvr>
                                      <p:to>
                                        <p:strVal val="visible"/>
                                      </p:to>
                                    </p:set>
                                    <p:animEffect transition="in" filter="blinds(horizontal)">
                                      <p:cBhvr>
                                        <p:cTn id="27" dur="500"/>
                                        <p:tgtEl>
                                          <p:spTgt spid="27034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70346"/>
                                        </p:tgtEl>
                                        <p:attrNameLst>
                                          <p:attrName>style.visibility</p:attrName>
                                        </p:attrNameLst>
                                      </p:cBhvr>
                                      <p:to>
                                        <p:strVal val="visible"/>
                                      </p:to>
                                    </p:set>
                                    <p:animEffect transition="in" filter="blinds(horizontal)">
                                      <p:cBhvr>
                                        <p:cTn id="32" dur="500"/>
                                        <p:tgtEl>
                                          <p:spTgt spid="27034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70344"/>
                                        </p:tgtEl>
                                        <p:attrNameLst>
                                          <p:attrName>style.visibility</p:attrName>
                                        </p:attrNameLst>
                                      </p:cBhvr>
                                      <p:to>
                                        <p:strVal val="visible"/>
                                      </p:to>
                                    </p:set>
                                    <p:animEffect transition="in" filter="blinds(horizontal)">
                                      <p:cBhvr>
                                        <p:cTn id="37" dur="500"/>
                                        <p:tgtEl>
                                          <p:spTgt spid="27034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70347"/>
                                        </p:tgtEl>
                                        <p:attrNameLst>
                                          <p:attrName>style.visibility</p:attrName>
                                        </p:attrNameLst>
                                      </p:cBhvr>
                                      <p:to>
                                        <p:strVal val="visible"/>
                                      </p:to>
                                    </p:set>
                                    <p:animEffect transition="in" filter="blinds(horizontal)">
                                      <p:cBhvr>
                                        <p:cTn id="42" dur="500"/>
                                        <p:tgtEl>
                                          <p:spTgt spid="270347"/>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70342"/>
                                        </p:tgtEl>
                                        <p:attrNameLst>
                                          <p:attrName>style.visibility</p:attrName>
                                        </p:attrNameLst>
                                      </p:cBhvr>
                                      <p:to>
                                        <p:strVal val="visible"/>
                                      </p:to>
                                    </p:set>
                                    <p:animEffect transition="in" filter="blinds(horizontal)">
                                      <p:cBhvr>
                                        <p:cTn id="47" dur="500"/>
                                        <p:tgtEl>
                                          <p:spTgt spid="270342"/>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70343"/>
                                        </p:tgtEl>
                                        <p:attrNameLst>
                                          <p:attrName>style.visibility</p:attrName>
                                        </p:attrNameLst>
                                      </p:cBhvr>
                                      <p:to>
                                        <p:strVal val="visible"/>
                                      </p:to>
                                    </p:set>
                                    <p:animEffect transition="in" filter="blinds(horizontal)">
                                      <p:cBhvr>
                                        <p:cTn id="52" dur="500"/>
                                        <p:tgtEl>
                                          <p:spTgt spid="270343"/>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70345"/>
                                        </p:tgtEl>
                                        <p:attrNameLst>
                                          <p:attrName>style.visibility</p:attrName>
                                        </p:attrNameLst>
                                      </p:cBhvr>
                                      <p:to>
                                        <p:strVal val="visible"/>
                                      </p:to>
                                    </p:set>
                                    <p:animEffect transition="in" filter="blinds(horizontal)">
                                      <p:cBhvr>
                                        <p:cTn id="57" dur="500"/>
                                        <p:tgtEl>
                                          <p:spTgt spid="270345"/>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270348"/>
                                        </p:tgtEl>
                                        <p:attrNameLst>
                                          <p:attrName>style.visibility</p:attrName>
                                        </p:attrNameLst>
                                      </p:cBhvr>
                                      <p:to>
                                        <p:strVal val="visible"/>
                                      </p:to>
                                    </p:set>
                                    <p:animEffect transition="in" filter="blinds(horizontal)">
                                      <p:cBhvr>
                                        <p:cTn id="62" dur="500"/>
                                        <p:tgtEl>
                                          <p:spTgt spid="2703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0339" grpId="0" build="p" animBg="1"/>
      <p:bldP spid="270340" grpId="0" animBg="1"/>
      <p:bldP spid="270341" grpId="0" animBg="1"/>
      <p:bldP spid="270342" grpId="0" animBg="1"/>
      <p:bldP spid="270343" grpId="0" animBg="1"/>
      <p:bldP spid="270344" grpId="0" animBg="1"/>
      <p:bldP spid="270345" grpId="0" animBg="1"/>
      <p:bldP spid="270346" grpId="0" animBg="1"/>
      <p:bldP spid="270347" grpId="0" animBg="1"/>
      <p:bldP spid="27034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2"/>
          <p:cNvSpPr>
            <a:spLocks noGrp="1" noChangeArrowheads="1"/>
          </p:cNvSpPr>
          <p:nvPr>
            <p:ph type="title"/>
          </p:nvPr>
        </p:nvSpPr>
        <p:spPr>
          <a:extLst/>
        </p:spPr>
        <p:txBody>
          <a:bodyPr/>
          <a:lstStyle/>
          <a:p>
            <a:pPr eaLnBrk="1" hangingPunct="1">
              <a:defRPr/>
            </a:pPr>
            <a:r>
              <a:rPr lang="zh-CN" altLang="en-US"/>
              <a:t>第二节</a:t>
            </a:r>
            <a:r>
              <a:rPr lang="en-US" altLang="zh-CN"/>
              <a:t>  </a:t>
            </a:r>
            <a:r>
              <a:rPr lang="zh-CN" altLang="en-US"/>
              <a:t>国内生产总值</a:t>
            </a:r>
            <a:r>
              <a:rPr lang="en-US" altLang="zh-CN"/>
              <a:t>GDP</a:t>
            </a:r>
          </a:p>
        </p:txBody>
      </p:sp>
      <p:sp>
        <p:nvSpPr>
          <p:cNvPr id="250883" name="Rectangle 3" descr="花束"/>
          <p:cNvSpPr>
            <a:spLocks noGrp="1" noChangeArrowheads="1"/>
          </p:cNvSpPr>
          <p:nvPr>
            <p:ph type="body" idx="1"/>
          </p:nvPr>
        </p:nvSpPr>
        <p:spPr>
          <a:xfrm>
            <a:off x="395288" y="1916113"/>
            <a:ext cx="8064500" cy="898525"/>
          </a:xfrm>
          <a:blipFill dpi="0" rotWithShape="0">
            <a:blip r:embed="rId2">
              <a:alphaModFix amt="73000"/>
            </a:blip>
            <a:srcRect/>
            <a:tile tx="0" ty="0" sx="100000" sy="100000" flip="none" algn="tl"/>
          </a:blipFill>
          <a:ln w="76200" cap="flat" cmpd="sng">
            <a:solidFill>
              <a:srgbClr val="336600"/>
            </a:solidFill>
          </a:ln>
        </p:spPr>
        <p:txBody>
          <a:bodyPr/>
          <a:lstStyle/>
          <a:p>
            <a:pPr marL="0" indent="0" eaLnBrk="1" hangingPunct="1">
              <a:spcBef>
                <a:spcPct val="0"/>
              </a:spcBef>
              <a:buClr>
                <a:srgbClr val="660033"/>
              </a:buClr>
              <a:buSzPct val="95000"/>
              <a:buFont typeface="Wingdings" pitchFamily="2" charset="2"/>
              <a:buChar char="n"/>
            </a:pPr>
            <a:r>
              <a:rPr lang="zh-CN" altLang="en-US" smtClean="0">
                <a:solidFill>
                  <a:srgbClr val="FF3399"/>
                </a:solidFill>
              </a:rPr>
              <a:t>中间产品：</a:t>
            </a:r>
            <a:endParaRPr lang="en-US" altLang="zh-CN" smtClean="0">
              <a:solidFill>
                <a:srgbClr val="FF3399"/>
              </a:solidFill>
            </a:endParaRPr>
          </a:p>
          <a:p>
            <a:pPr marL="0" indent="0" eaLnBrk="1" hangingPunct="1">
              <a:spcBef>
                <a:spcPct val="0"/>
              </a:spcBef>
              <a:buClr>
                <a:srgbClr val="660033"/>
              </a:buClr>
              <a:buSzPct val="95000"/>
              <a:buFont typeface="Wingdings" pitchFamily="2" charset="2"/>
              <a:buChar char="n"/>
            </a:pPr>
            <a:r>
              <a:rPr lang="zh-CN" altLang="en-US" smtClean="0"/>
              <a:t>不能最终使用或消费，还要在以后生产中进行再加工的产品。</a:t>
            </a:r>
          </a:p>
        </p:txBody>
      </p:sp>
      <p:sp>
        <p:nvSpPr>
          <p:cNvPr id="250884" name="Rectangle 4" descr="花束"/>
          <p:cNvSpPr>
            <a:spLocks noChangeArrowheads="1"/>
          </p:cNvSpPr>
          <p:nvPr/>
        </p:nvSpPr>
        <p:spPr bwMode="auto">
          <a:xfrm>
            <a:off x="395288" y="5430838"/>
            <a:ext cx="8208962" cy="1263650"/>
          </a:xfrm>
          <a:prstGeom prst="rect">
            <a:avLst/>
          </a:prstGeom>
          <a:blipFill dpi="0" rotWithShape="0">
            <a:blip r:embed="rId2"/>
            <a:srcRect/>
            <a:tile tx="0" ty="0" sx="100000" sy="100000" flip="none" algn="tl"/>
          </a:blipFill>
          <a:ln w="76200">
            <a:solidFill>
              <a:srgbClr val="336600"/>
            </a:solidFill>
            <a:miter lim="800000"/>
            <a:headEnd/>
            <a:tailEnd/>
          </a:ln>
        </p:spPr>
        <p:txBody>
          <a:bodyPr>
            <a:spAutoFit/>
          </a:bodyPr>
          <a:lstStyle/>
          <a:p>
            <a:pPr>
              <a:lnSpc>
                <a:spcPct val="120000"/>
              </a:lnSpc>
              <a:buClr>
                <a:srgbClr val="660033"/>
              </a:buClr>
              <a:buSzPct val="95000"/>
              <a:buFont typeface="Wingdings" pitchFamily="2" charset="2"/>
              <a:buChar char="n"/>
            </a:pPr>
            <a:r>
              <a:rPr lang="zh-CN" altLang="en-US">
                <a:solidFill>
                  <a:srgbClr val="101016"/>
                </a:solidFill>
                <a:latin typeface="Arial" charset="0"/>
              </a:rPr>
              <a:t>具体计算时采用</a:t>
            </a:r>
            <a:r>
              <a:rPr lang="zh-CN" altLang="en-US">
                <a:solidFill>
                  <a:srgbClr val="FF00FF"/>
                </a:solidFill>
                <a:latin typeface="Arial" charset="0"/>
              </a:rPr>
              <a:t>增值法</a:t>
            </a:r>
            <a:r>
              <a:rPr lang="zh-CN" altLang="en-US">
                <a:solidFill>
                  <a:srgbClr val="101016"/>
                </a:solidFill>
                <a:latin typeface="Arial" charset="0"/>
              </a:rPr>
              <a:t>：</a:t>
            </a:r>
            <a:endParaRPr lang="en-US" altLang="zh-CN">
              <a:solidFill>
                <a:srgbClr val="101016"/>
              </a:solidFill>
              <a:latin typeface="Arial" charset="0"/>
            </a:endParaRPr>
          </a:p>
          <a:p>
            <a:pPr>
              <a:lnSpc>
                <a:spcPct val="120000"/>
              </a:lnSpc>
              <a:buClr>
                <a:srgbClr val="660033"/>
              </a:buClr>
              <a:buSzPct val="95000"/>
              <a:buFont typeface="Wingdings" pitchFamily="2" charset="2"/>
              <a:buChar char="n"/>
            </a:pPr>
            <a:r>
              <a:rPr lang="zh-CN" altLang="en-US">
                <a:solidFill>
                  <a:srgbClr val="101016"/>
                </a:solidFill>
                <a:latin typeface="Arial" charset="0"/>
              </a:rPr>
              <a:t>计算在不同生产阶段增加的产值（</a:t>
            </a:r>
            <a:r>
              <a:rPr lang="en-US" altLang="zh-CN">
                <a:solidFill>
                  <a:srgbClr val="101016"/>
                </a:solidFill>
                <a:latin typeface="Arial" charset="0"/>
              </a:rPr>
              <a:t>value added</a:t>
            </a:r>
            <a:r>
              <a:rPr lang="zh-CN" altLang="en-US">
                <a:solidFill>
                  <a:srgbClr val="101016"/>
                </a:solidFill>
                <a:latin typeface="Arial" charset="0"/>
              </a:rPr>
              <a:t>）</a:t>
            </a:r>
            <a:endParaRPr lang="en-US" altLang="zh-CN">
              <a:solidFill>
                <a:srgbClr val="101016"/>
              </a:solidFill>
              <a:latin typeface="Arial" charset="0"/>
            </a:endParaRPr>
          </a:p>
          <a:p>
            <a:pPr>
              <a:lnSpc>
                <a:spcPct val="120000"/>
              </a:lnSpc>
              <a:buClr>
                <a:srgbClr val="660033"/>
              </a:buClr>
              <a:buSzPct val="95000"/>
              <a:buFont typeface="Wingdings" pitchFamily="2" charset="2"/>
              <a:buChar char="n"/>
            </a:pPr>
            <a:r>
              <a:rPr lang="zh-CN" altLang="en-US">
                <a:solidFill>
                  <a:srgbClr val="101016"/>
                </a:solidFill>
                <a:latin typeface="Arial" charset="0"/>
              </a:rPr>
              <a:t>＝产品和劳务的销售收益</a:t>
            </a:r>
            <a:r>
              <a:rPr lang="en-US" altLang="zh-CN">
                <a:solidFill>
                  <a:srgbClr val="101016"/>
                </a:solidFill>
                <a:latin typeface="Arial" charset="0"/>
              </a:rPr>
              <a:t>—</a:t>
            </a:r>
            <a:r>
              <a:rPr lang="zh-CN" altLang="en-US">
                <a:solidFill>
                  <a:srgbClr val="101016"/>
                </a:solidFill>
                <a:latin typeface="Arial" charset="0"/>
              </a:rPr>
              <a:t>中间产品费用。</a:t>
            </a:r>
          </a:p>
        </p:txBody>
      </p:sp>
      <p:sp>
        <p:nvSpPr>
          <p:cNvPr id="250885" name="Rectangle 5" descr="粉色面巾纸"/>
          <p:cNvSpPr>
            <a:spLocks noChangeArrowheads="1"/>
          </p:cNvSpPr>
          <p:nvPr/>
        </p:nvSpPr>
        <p:spPr bwMode="auto">
          <a:xfrm>
            <a:off x="395288" y="3990975"/>
            <a:ext cx="5256212" cy="1296988"/>
          </a:xfrm>
          <a:prstGeom prst="rect">
            <a:avLst/>
          </a:prstGeom>
          <a:blipFill dpi="0" rotWithShape="0">
            <a:blip r:embed="rId3"/>
            <a:srcRect/>
            <a:tile tx="0" ty="0" sx="100000" sy="100000" flip="none" algn="tl"/>
          </a:blipFill>
          <a:ln w="76200" cmpd="tri">
            <a:solidFill>
              <a:srgbClr val="FF0000"/>
            </a:solidFill>
            <a:miter lim="800000"/>
            <a:headEnd/>
            <a:tailEnd/>
          </a:ln>
        </p:spPr>
        <p:txBody>
          <a:bodyPr/>
          <a:lstStyle/>
          <a:p>
            <a:pPr>
              <a:lnSpc>
                <a:spcPct val="120000"/>
              </a:lnSpc>
              <a:spcBef>
                <a:spcPct val="20000"/>
              </a:spcBef>
              <a:buClr>
                <a:srgbClr val="336600"/>
              </a:buClr>
              <a:buSzPct val="95000"/>
              <a:buFont typeface="Wingdings" pitchFamily="2" charset="2"/>
              <a:buNone/>
            </a:pPr>
            <a:r>
              <a:rPr lang="zh-CN" altLang="en-US" sz="1800">
                <a:solidFill>
                  <a:srgbClr val="FF0000"/>
                </a:solidFill>
                <a:latin typeface="Arial" charset="0"/>
              </a:rPr>
              <a:t>实际区分最终与中间产品非常因难。</a:t>
            </a:r>
            <a:endParaRPr lang="en-US" altLang="zh-CN" sz="1800">
              <a:solidFill>
                <a:srgbClr val="FF0000"/>
              </a:solidFill>
              <a:latin typeface="Arial" charset="0"/>
            </a:endParaRPr>
          </a:p>
          <a:p>
            <a:pPr>
              <a:lnSpc>
                <a:spcPct val="120000"/>
              </a:lnSpc>
              <a:spcBef>
                <a:spcPct val="20000"/>
              </a:spcBef>
              <a:buClr>
                <a:srgbClr val="336600"/>
              </a:buClr>
              <a:buSzPct val="95000"/>
              <a:buFont typeface="Wingdings" pitchFamily="2" charset="2"/>
              <a:buChar char="l"/>
            </a:pPr>
            <a:r>
              <a:rPr lang="zh-CN" altLang="en-US" sz="1800">
                <a:solidFill>
                  <a:srgbClr val="230D75"/>
                </a:solidFill>
                <a:latin typeface="Arial" charset="0"/>
              </a:rPr>
              <a:t>煤用于家庭取暖与作饭时是最终产品，</a:t>
            </a:r>
            <a:endParaRPr lang="en-US" altLang="zh-CN" sz="1800">
              <a:solidFill>
                <a:srgbClr val="230D75"/>
              </a:solidFill>
              <a:latin typeface="Arial" charset="0"/>
            </a:endParaRPr>
          </a:p>
          <a:p>
            <a:pPr>
              <a:lnSpc>
                <a:spcPct val="120000"/>
              </a:lnSpc>
              <a:spcBef>
                <a:spcPct val="20000"/>
              </a:spcBef>
              <a:buClr>
                <a:srgbClr val="336600"/>
              </a:buClr>
              <a:buSzPct val="95000"/>
              <a:buFont typeface="Wingdings" pitchFamily="2" charset="2"/>
              <a:buChar char="l"/>
            </a:pPr>
            <a:r>
              <a:rPr lang="zh-CN" altLang="en-US" sz="1800">
                <a:solidFill>
                  <a:srgbClr val="230D75"/>
                </a:solidFill>
                <a:latin typeface="Arial" charset="0"/>
              </a:rPr>
              <a:t>作为发电与炼钢的原料时又是中间产品。</a:t>
            </a:r>
          </a:p>
        </p:txBody>
      </p:sp>
      <p:sp>
        <p:nvSpPr>
          <p:cNvPr id="250886" name="AutoShape 6"/>
          <p:cNvSpPr>
            <a:spLocks noChangeArrowheads="1"/>
          </p:cNvSpPr>
          <p:nvPr/>
        </p:nvSpPr>
        <p:spPr bwMode="auto">
          <a:xfrm>
            <a:off x="5940425" y="4211638"/>
            <a:ext cx="2663825" cy="542925"/>
          </a:xfrm>
          <a:prstGeom prst="wedgeRoundRectCallout">
            <a:avLst>
              <a:gd name="adj1" fmla="val 10014"/>
              <a:gd name="adj2" fmla="val -129218"/>
              <a:gd name="adj3" fmla="val 16667"/>
            </a:avLst>
          </a:prstGeom>
          <a:solidFill>
            <a:schemeClr val="tx2">
              <a:alpha val="72940"/>
            </a:schemeClr>
          </a:solidFill>
          <a:ln w="57150" cmpd="thinThick">
            <a:solidFill>
              <a:srgbClr val="996633"/>
            </a:solidFill>
            <a:miter lim="800000"/>
            <a:headEnd/>
            <a:tailEnd/>
          </a:ln>
        </p:spPr>
        <p:txBody>
          <a:bodyPr>
            <a:spAutoFit/>
          </a:bodyPr>
          <a:lstStyle/>
          <a:p>
            <a:pPr marL="95250" indent="-95250">
              <a:lnSpc>
                <a:spcPct val="120000"/>
              </a:lnSpc>
              <a:spcBef>
                <a:spcPct val="20000"/>
              </a:spcBef>
              <a:buClr>
                <a:schemeClr val="hlink"/>
              </a:buClr>
              <a:buFont typeface="Wingdings" pitchFamily="2" charset="2"/>
              <a:buBlip>
                <a:blip r:embed="rId4"/>
              </a:buBlip>
            </a:pPr>
            <a:r>
              <a:rPr lang="zh-CN" altLang="en-US">
                <a:solidFill>
                  <a:srgbClr val="101016"/>
                </a:solidFill>
                <a:latin typeface="Arial" charset="0"/>
              </a:rPr>
              <a:t>原料、能源等</a:t>
            </a:r>
          </a:p>
        </p:txBody>
      </p:sp>
      <p:sp>
        <p:nvSpPr>
          <p:cNvPr id="250887" name="Rectangle 7" descr="纸莎草纸"/>
          <p:cNvSpPr>
            <a:spLocks noChangeArrowheads="1"/>
          </p:cNvSpPr>
          <p:nvPr/>
        </p:nvSpPr>
        <p:spPr bwMode="auto">
          <a:xfrm>
            <a:off x="395288" y="3125788"/>
            <a:ext cx="7848600" cy="647700"/>
          </a:xfrm>
          <a:prstGeom prst="rect">
            <a:avLst/>
          </a:prstGeom>
          <a:blipFill dpi="0" rotWithShape="0">
            <a:blip r:embed="rId5"/>
            <a:srcRect/>
            <a:tile tx="0" ty="0" sx="100000" sy="100000" flip="none" algn="tl"/>
          </a:blipFill>
          <a:ln w="57150" cmpd="thickThin">
            <a:solidFill>
              <a:srgbClr val="CCCC00"/>
            </a:solidFill>
            <a:miter lim="800000"/>
            <a:headEnd/>
            <a:tailEnd/>
          </a:ln>
        </p:spPr>
        <p:txBody>
          <a:bodyPr/>
          <a:lstStyle/>
          <a:p>
            <a:pPr>
              <a:lnSpc>
                <a:spcPct val="110000"/>
              </a:lnSpc>
            </a:pPr>
            <a:r>
              <a:rPr lang="zh-CN" altLang="en-US">
                <a:solidFill>
                  <a:srgbClr val="101016"/>
                </a:solidFill>
                <a:latin typeface="Arial" charset="0"/>
              </a:rPr>
              <a:t>例如：一般来说，钢铁和棉纱就是中间产品。</a:t>
            </a:r>
          </a:p>
        </p:txBody>
      </p:sp>
      <p:sp>
        <p:nvSpPr>
          <p:cNvPr id="250888" name="Rectangle 8" descr="花束"/>
          <p:cNvSpPr>
            <a:spLocks noChangeArrowheads="1"/>
          </p:cNvSpPr>
          <p:nvPr/>
        </p:nvSpPr>
        <p:spPr bwMode="auto">
          <a:xfrm>
            <a:off x="395288" y="1268413"/>
            <a:ext cx="3960812" cy="533400"/>
          </a:xfrm>
          <a:prstGeom prst="rect">
            <a:avLst/>
          </a:prstGeom>
          <a:blipFill dpi="0" rotWithShape="0">
            <a:blip r:embed="rId2"/>
            <a:srcRect/>
            <a:tile tx="0" ty="0" sx="100000" sy="100000" flip="none" algn="tl"/>
          </a:blipFill>
          <a:ln w="76200">
            <a:solidFill>
              <a:srgbClr val="FF0000"/>
            </a:solidFill>
            <a:miter lim="800000"/>
            <a:headEnd/>
            <a:tailEnd/>
          </a:ln>
        </p:spPr>
        <p:txBody>
          <a:bodyPr>
            <a:spAutoFit/>
          </a:bodyPr>
          <a:lstStyle/>
          <a:p>
            <a:pPr>
              <a:lnSpc>
                <a:spcPct val="120000"/>
              </a:lnSpc>
              <a:buClr>
                <a:srgbClr val="660033"/>
              </a:buClr>
              <a:buSzPct val="95000"/>
              <a:buFont typeface="Wingdings" pitchFamily="2" charset="2"/>
              <a:buNone/>
            </a:pPr>
            <a:r>
              <a:rPr lang="zh-CN" altLang="en-US">
                <a:solidFill>
                  <a:srgbClr val="101016"/>
                </a:solidFill>
                <a:latin typeface="Arial" charset="0"/>
              </a:rPr>
              <a:t>一、最终产品与中间产品</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250883">
                                            <p:bg/>
                                          </p:spTgt>
                                        </p:tgtEl>
                                        <p:attrNameLst>
                                          <p:attrName>style.visibility</p:attrName>
                                        </p:attrNameLst>
                                      </p:cBhvr>
                                      <p:to>
                                        <p:strVal val="visible"/>
                                      </p:to>
                                    </p:set>
                                    <p:animEffect transition="in" filter="box(in)">
                                      <p:cBhvr>
                                        <p:cTn id="7" dur="500"/>
                                        <p:tgtEl>
                                          <p:spTgt spid="250883">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50883">
                                            <p:txEl>
                                              <p:pRg st="0" end="0"/>
                                            </p:txEl>
                                          </p:spTgt>
                                        </p:tgtEl>
                                        <p:attrNameLst>
                                          <p:attrName>style.visibility</p:attrName>
                                        </p:attrNameLst>
                                      </p:cBhvr>
                                      <p:to>
                                        <p:strVal val="visible"/>
                                      </p:to>
                                    </p:set>
                                    <p:animEffect transition="in" filter="box(in)">
                                      <p:cBhvr>
                                        <p:cTn id="12" dur="500"/>
                                        <p:tgtEl>
                                          <p:spTgt spid="25088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250883">
                                            <p:txEl>
                                              <p:pRg st="1" end="1"/>
                                            </p:txEl>
                                          </p:spTgt>
                                        </p:tgtEl>
                                        <p:attrNameLst>
                                          <p:attrName>style.visibility</p:attrName>
                                        </p:attrNameLst>
                                      </p:cBhvr>
                                      <p:to>
                                        <p:strVal val="visible"/>
                                      </p:to>
                                    </p:set>
                                    <p:animEffect transition="in" filter="box(in)">
                                      <p:cBhvr>
                                        <p:cTn id="17" dur="500"/>
                                        <p:tgtEl>
                                          <p:spTgt spid="250883">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50886"/>
                                        </p:tgtEl>
                                        <p:attrNameLst>
                                          <p:attrName>style.visibility</p:attrName>
                                        </p:attrNameLst>
                                      </p:cBhvr>
                                      <p:to>
                                        <p:strVal val="visible"/>
                                      </p:to>
                                    </p:set>
                                    <p:animEffect transition="in" filter="blinds(horizontal)">
                                      <p:cBhvr>
                                        <p:cTn id="22" dur="500"/>
                                        <p:tgtEl>
                                          <p:spTgt spid="250886"/>
                                        </p:tgtEl>
                                      </p:cBhvr>
                                    </p:animEffect>
                                  </p:childTnLst>
                                </p:cTn>
                              </p:par>
                              <p:par>
                                <p:cTn id="23" presetID="4" presetClass="entr" presetSubtype="16" fill="hold" grpId="0" nodeType="withEffect">
                                  <p:stCondLst>
                                    <p:cond delay="0"/>
                                  </p:stCondLst>
                                  <p:childTnLst>
                                    <p:set>
                                      <p:cBhvr>
                                        <p:cTn id="24" dur="1" fill="hold">
                                          <p:stCondLst>
                                            <p:cond delay="0"/>
                                          </p:stCondLst>
                                        </p:cTn>
                                        <p:tgtEl>
                                          <p:spTgt spid="250887">
                                            <p:bg/>
                                          </p:spTgt>
                                        </p:tgtEl>
                                        <p:attrNameLst>
                                          <p:attrName>style.visibility</p:attrName>
                                        </p:attrNameLst>
                                      </p:cBhvr>
                                      <p:to>
                                        <p:strVal val="visible"/>
                                      </p:to>
                                    </p:set>
                                    <p:animEffect transition="in" filter="box(in)">
                                      <p:cBhvr>
                                        <p:cTn id="25" dur="500"/>
                                        <p:tgtEl>
                                          <p:spTgt spid="250887">
                                            <p:bg/>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4" presetClass="entr" presetSubtype="16" fill="hold" grpId="0" nodeType="clickEffect">
                                  <p:stCondLst>
                                    <p:cond delay="0"/>
                                  </p:stCondLst>
                                  <p:childTnLst>
                                    <p:set>
                                      <p:cBhvr>
                                        <p:cTn id="29" dur="1" fill="hold">
                                          <p:stCondLst>
                                            <p:cond delay="0"/>
                                          </p:stCondLst>
                                        </p:cTn>
                                        <p:tgtEl>
                                          <p:spTgt spid="250887">
                                            <p:txEl>
                                              <p:pRg st="0" end="0"/>
                                            </p:txEl>
                                          </p:spTgt>
                                        </p:tgtEl>
                                        <p:attrNameLst>
                                          <p:attrName>style.visibility</p:attrName>
                                        </p:attrNameLst>
                                      </p:cBhvr>
                                      <p:to>
                                        <p:strVal val="visible"/>
                                      </p:to>
                                    </p:set>
                                    <p:animEffect transition="in" filter="box(in)">
                                      <p:cBhvr>
                                        <p:cTn id="30" dur="500"/>
                                        <p:tgtEl>
                                          <p:spTgt spid="250887">
                                            <p:txEl>
                                              <p:pRg st="0" end="0"/>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250885">
                                            <p:bg/>
                                          </p:spTgt>
                                        </p:tgtEl>
                                        <p:attrNameLst>
                                          <p:attrName>style.visibility</p:attrName>
                                        </p:attrNameLst>
                                      </p:cBhvr>
                                      <p:to>
                                        <p:strVal val="visible"/>
                                      </p:to>
                                    </p:set>
                                    <p:anim calcmode="lin" valueType="num">
                                      <p:cBhvr additive="base">
                                        <p:cTn id="35" dur="500" fill="hold"/>
                                        <p:tgtEl>
                                          <p:spTgt spid="250885">
                                            <p:bg/>
                                          </p:spTgt>
                                        </p:tgtEl>
                                        <p:attrNameLst>
                                          <p:attrName>ppt_x</p:attrName>
                                        </p:attrNameLst>
                                      </p:cBhvr>
                                      <p:tavLst>
                                        <p:tav tm="0">
                                          <p:val>
                                            <p:strVal val="#ppt_x"/>
                                          </p:val>
                                        </p:tav>
                                        <p:tav tm="100000">
                                          <p:val>
                                            <p:strVal val="#ppt_x"/>
                                          </p:val>
                                        </p:tav>
                                      </p:tavLst>
                                    </p:anim>
                                    <p:anim calcmode="lin" valueType="num">
                                      <p:cBhvr additive="base">
                                        <p:cTn id="36" dur="500" fill="hold"/>
                                        <p:tgtEl>
                                          <p:spTgt spid="250885">
                                            <p:bg/>
                                          </p:spTgt>
                                        </p:tgtEl>
                                        <p:attrNameLst>
                                          <p:attrName>ppt_y</p:attrName>
                                        </p:attrNameLst>
                                      </p:cBhvr>
                                      <p:tavLst>
                                        <p:tav tm="0">
                                          <p:val>
                                            <p:strVal val="1+#ppt_h/2"/>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250885">
                                            <p:txEl>
                                              <p:pRg st="0" end="0"/>
                                            </p:txEl>
                                          </p:spTgt>
                                        </p:tgtEl>
                                        <p:attrNameLst>
                                          <p:attrName>style.visibility</p:attrName>
                                        </p:attrNameLst>
                                      </p:cBhvr>
                                      <p:to>
                                        <p:strVal val="visible"/>
                                      </p:to>
                                    </p:set>
                                    <p:anim calcmode="lin" valueType="num">
                                      <p:cBhvr additive="base">
                                        <p:cTn id="41" dur="500" fill="hold"/>
                                        <p:tgtEl>
                                          <p:spTgt spid="250885">
                                            <p:txEl>
                                              <p:pRg st="0" end="0"/>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25088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250885">
                                            <p:txEl>
                                              <p:pRg st="1" end="1"/>
                                            </p:txEl>
                                          </p:spTgt>
                                        </p:tgtEl>
                                        <p:attrNameLst>
                                          <p:attrName>style.visibility</p:attrName>
                                        </p:attrNameLst>
                                      </p:cBhvr>
                                      <p:to>
                                        <p:strVal val="visible"/>
                                      </p:to>
                                    </p:set>
                                    <p:anim calcmode="lin" valueType="num">
                                      <p:cBhvr additive="base">
                                        <p:cTn id="47" dur="500" fill="hold"/>
                                        <p:tgtEl>
                                          <p:spTgt spid="250885">
                                            <p:txEl>
                                              <p:pRg st="1" end="1"/>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25088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250885">
                                            <p:txEl>
                                              <p:pRg st="2" end="2"/>
                                            </p:txEl>
                                          </p:spTgt>
                                        </p:tgtEl>
                                        <p:attrNameLst>
                                          <p:attrName>style.visibility</p:attrName>
                                        </p:attrNameLst>
                                      </p:cBhvr>
                                      <p:to>
                                        <p:strVal val="visible"/>
                                      </p:to>
                                    </p:set>
                                    <p:anim calcmode="lin" valueType="num">
                                      <p:cBhvr additive="base">
                                        <p:cTn id="53" dur="500" fill="hold"/>
                                        <p:tgtEl>
                                          <p:spTgt spid="250885">
                                            <p:txEl>
                                              <p:pRg st="2" end="2"/>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25088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55" fill="hold" nodeType="clickPar">
                      <p:stCondLst>
                        <p:cond delay="indefinite"/>
                      </p:stCondLst>
                      <p:childTnLst>
                        <p:par>
                          <p:cTn id="56" fill="hold" nodeType="withGroup">
                            <p:stCondLst>
                              <p:cond delay="0"/>
                            </p:stCondLst>
                            <p:childTnLst>
                              <p:par>
                                <p:cTn id="57" presetID="3" presetClass="entr" presetSubtype="10" fill="hold" grpId="0" nodeType="clickEffect">
                                  <p:stCondLst>
                                    <p:cond delay="0"/>
                                  </p:stCondLst>
                                  <p:childTnLst>
                                    <p:set>
                                      <p:cBhvr>
                                        <p:cTn id="58" dur="1" fill="hold">
                                          <p:stCondLst>
                                            <p:cond delay="0"/>
                                          </p:stCondLst>
                                        </p:cTn>
                                        <p:tgtEl>
                                          <p:spTgt spid="250884"/>
                                        </p:tgtEl>
                                        <p:attrNameLst>
                                          <p:attrName>style.visibility</p:attrName>
                                        </p:attrNameLst>
                                      </p:cBhvr>
                                      <p:to>
                                        <p:strVal val="visible"/>
                                      </p:to>
                                    </p:set>
                                    <p:animEffect transition="in" filter="blinds(horizontal)">
                                      <p:cBhvr>
                                        <p:cTn id="59" dur="500"/>
                                        <p:tgtEl>
                                          <p:spTgt spid="250884"/>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250888"/>
                                        </p:tgtEl>
                                        <p:attrNameLst>
                                          <p:attrName>style.visibility</p:attrName>
                                        </p:attrNameLst>
                                      </p:cBhvr>
                                      <p:to>
                                        <p:strVal val="visible"/>
                                      </p:to>
                                    </p:set>
                                    <p:animEffect transition="in" filter="blinds(horizontal)">
                                      <p:cBhvr>
                                        <p:cTn id="64" dur="500"/>
                                        <p:tgtEl>
                                          <p:spTgt spid="2508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83" grpId="0" build="p" animBg="1"/>
      <p:bldP spid="250884" grpId="0" animBg="1"/>
      <p:bldP spid="250885" grpId="0" build="p" animBg="1"/>
      <p:bldP spid="250886" grpId="0" animBg="1"/>
      <p:bldP spid="250887" grpId="0" build="p" animBg="1"/>
      <p:bldP spid="25088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2"/>
          <p:cNvSpPr>
            <a:spLocks noGrp="1" noChangeArrowheads="1"/>
          </p:cNvSpPr>
          <p:nvPr>
            <p:ph type="title"/>
          </p:nvPr>
        </p:nvSpPr>
        <p:spPr>
          <a:extLst/>
        </p:spPr>
        <p:txBody>
          <a:bodyPr/>
          <a:lstStyle/>
          <a:p>
            <a:pPr eaLnBrk="1" hangingPunct="1">
              <a:defRPr/>
            </a:pPr>
            <a:r>
              <a:rPr lang="zh-CN" altLang="en-US"/>
              <a:t>第二节</a:t>
            </a:r>
            <a:r>
              <a:rPr lang="en-US" altLang="zh-CN"/>
              <a:t>  </a:t>
            </a:r>
            <a:r>
              <a:rPr lang="zh-CN" altLang="en-US"/>
              <a:t>国内生产总值</a:t>
            </a:r>
            <a:r>
              <a:rPr lang="en-US" altLang="zh-CN"/>
              <a:t>GDP</a:t>
            </a:r>
          </a:p>
        </p:txBody>
      </p:sp>
      <p:sp>
        <p:nvSpPr>
          <p:cNvPr id="251907" name="Rectangle 3" descr="花束"/>
          <p:cNvSpPr>
            <a:spLocks noChangeArrowheads="1"/>
          </p:cNvSpPr>
          <p:nvPr/>
        </p:nvSpPr>
        <p:spPr bwMode="auto">
          <a:xfrm>
            <a:off x="395288" y="1989138"/>
            <a:ext cx="8137525" cy="1193800"/>
          </a:xfrm>
          <a:prstGeom prst="rect">
            <a:avLst/>
          </a:prstGeom>
          <a:blipFill dpi="0" rotWithShape="0">
            <a:blip r:embed="rId2"/>
            <a:srcRect/>
            <a:tile tx="0" ty="0" sx="100000" sy="100000" flip="none" algn="tl"/>
          </a:blipFill>
          <a:ln w="76200">
            <a:solidFill>
              <a:srgbClr val="336600"/>
            </a:solidFill>
            <a:miter lim="800000"/>
            <a:headEnd/>
            <a:tailEnd/>
          </a:ln>
        </p:spPr>
        <p:txBody>
          <a:bodyPr>
            <a:spAutoFit/>
          </a:bodyPr>
          <a:lstStyle/>
          <a:p>
            <a:pPr>
              <a:lnSpc>
                <a:spcPct val="120000"/>
              </a:lnSpc>
              <a:buClr>
                <a:srgbClr val="660033"/>
              </a:buClr>
              <a:buSzPct val="95000"/>
              <a:buFont typeface="Wingdings" pitchFamily="2" charset="2"/>
              <a:buChar char="n"/>
            </a:pPr>
            <a:r>
              <a:rPr lang="en-US" altLang="zh-CN">
                <a:solidFill>
                  <a:srgbClr val="101016"/>
                </a:solidFill>
                <a:latin typeface="Arial" charset="0"/>
              </a:rPr>
              <a:t> </a:t>
            </a:r>
            <a:r>
              <a:rPr lang="en-US">
                <a:solidFill>
                  <a:srgbClr val="101016"/>
                </a:solidFill>
                <a:latin typeface="Arial" charset="0"/>
              </a:rPr>
              <a:t>国内生产总值</a:t>
            </a:r>
            <a:r>
              <a:rPr lang="en-US" altLang="zh-CN">
                <a:solidFill>
                  <a:srgbClr val="101016"/>
                </a:solidFill>
                <a:latin typeface="Arial" charset="0"/>
              </a:rPr>
              <a:t> GDP</a:t>
            </a:r>
            <a:r>
              <a:rPr lang="zh-CN" altLang="en-US">
                <a:solidFill>
                  <a:srgbClr val="101016"/>
                </a:solidFill>
                <a:latin typeface="Arial" charset="0"/>
              </a:rPr>
              <a:t>：</a:t>
            </a:r>
            <a:r>
              <a:rPr lang="en-US" altLang="zh-CN">
                <a:solidFill>
                  <a:srgbClr val="101016"/>
                </a:solidFill>
                <a:latin typeface="Arial" charset="0"/>
              </a:rPr>
              <a:t>gross domestic product</a:t>
            </a:r>
          </a:p>
          <a:p>
            <a:pPr>
              <a:lnSpc>
                <a:spcPct val="120000"/>
              </a:lnSpc>
              <a:buClr>
                <a:srgbClr val="660033"/>
              </a:buClr>
              <a:buSzPct val="95000"/>
              <a:buFont typeface="Wingdings" pitchFamily="2" charset="2"/>
              <a:buChar char="n"/>
            </a:pPr>
            <a:r>
              <a:rPr lang="en-US" altLang="zh-CN" sz="1800">
                <a:solidFill>
                  <a:srgbClr val="101016"/>
                </a:solidFill>
                <a:latin typeface="Arial" charset="0"/>
              </a:rPr>
              <a:t> </a:t>
            </a:r>
            <a:r>
              <a:rPr lang="zh-CN" altLang="en-US" sz="1800">
                <a:solidFill>
                  <a:srgbClr val="101016"/>
                </a:solidFill>
                <a:latin typeface="Arial" charset="0"/>
              </a:rPr>
              <a:t>是一定时期内（通常是一年）一国境内所生产的全部最终产品和劳务的市场</a:t>
            </a:r>
            <a:r>
              <a:rPr lang="en-US" altLang="zh-CN" sz="1800">
                <a:solidFill>
                  <a:srgbClr val="101016"/>
                </a:solidFill>
                <a:latin typeface="Arial" charset="0"/>
              </a:rPr>
              <a:t>  </a:t>
            </a:r>
          </a:p>
          <a:p>
            <a:pPr>
              <a:lnSpc>
                <a:spcPct val="120000"/>
              </a:lnSpc>
              <a:buClr>
                <a:srgbClr val="660033"/>
              </a:buClr>
              <a:buSzPct val="95000"/>
              <a:buFont typeface="Wingdings" pitchFamily="2" charset="2"/>
              <a:buNone/>
            </a:pPr>
            <a:r>
              <a:rPr lang="en-US" altLang="zh-CN" sz="1800">
                <a:solidFill>
                  <a:srgbClr val="101016"/>
                </a:solidFill>
                <a:latin typeface="Arial" charset="0"/>
              </a:rPr>
              <a:t>   </a:t>
            </a:r>
            <a:r>
              <a:rPr lang="zh-CN" altLang="en-US" sz="1800">
                <a:solidFill>
                  <a:srgbClr val="101016"/>
                </a:solidFill>
                <a:latin typeface="Arial" charset="0"/>
              </a:rPr>
              <a:t>价值的总和。</a:t>
            </a:r>
          </a:p>
        </p:txBody>
      </p:sp>
      <p:sp>
        <p:nvSpPr>
          <p:cNvPr id="251908" name="Rectangle 4"/>
          <p:cNvSpPr>
            <a:spLocks noChangeArrowheads="1"/>
          </p:cNvSpPr>
          <p:nvPr/>
        </p:nvSpPr>
        <p:spPr bwMode="auto">
          <a:xfrm>
            <a:off x="395288" y="3284538"/>
            <a:ext cx="8137525" cy="879475"/>
          </a:xfrm>
          <a:prstGeom prst="rect">
            <a:avLst/>
          </a:prstGeom>
          <a:solidFill>
            <a:schemeClr val="tx2">
              <a:alpha val="72940"/>
            </a:schemeClr>
          </a:solidFill>
          <a:ln w="57150" cmpd="thinThick">
            <a:solidFill>
              <a:srgbClr val="996633"/>
            </a:solidFill>
            <a:miter lim="800000"/>
            <a:headEnd/>
            <a:tailEnd/>
          </a:ln>
        </p:spPr>
        <p:txBody>
          <a:bodyPr>
            <a:spAutoFit/>
          </a:bodyPr>
          <a:lstStyle/>
          <a:p>
            <a:pPr marL="95250" indent="-95250">
              <a:lnSpc>
                <a:spcPct val="120000"/>
              </a:lnSpc>
              <a:spcBef>
                <a:spcPct val="20000"/>
              </a:spcBef>
              <a:buClr>
                <a:schemeClr val="hlink"/>
              </a:buClr>
              <a:buFont typeface="Wingdings" pitchFamily="2" charset="2"/>
              <a:buBlip>
                <a:blip r:embed="rId3"/>
              </a:buBlip>
            </a:pPr>
            <a:r>
              <a:rPr lang="en-US" altLang="zh-CN">
                <a:solidFill>
                  <a:srgbClr val="101016"/>
                </a:solidFill>
                <a:latin typeface="Arial" charset="0"/>
              </a:rPr>
              <a:t> </a:t>
            </a:r>
            <a:r>
              <a:rPr lang="zh-CN" altLang="en-US">
                <a:solidFill>
                  <a:srgbClr val="101016"/>
                </a:solidFill>
                <a:latin typeface="Arial" charset="0"/>
              </a:rPr>
              <a:t>国内生产总值</a:t>
            </a:r>
            <a:r>
              <a:rPr lang="en-US" altLang="zh-CN">
                <a:solidFill>
                  <a:srgbClr val="101016"/>
                </a:solidFill>
                <a:latin typeface="Arial" charset="0"/>
              </a:rPr>
              <a:t>(GDP) </a:t>
            </a:r>
            <a:r>
              <a:rPr lang="zh-CN" altLang="en-US">
                <a:solidFill>
                  <a:srgbClr val="101016"/>
                </a:solidFill>
                <a:latin typeface="Arial" charset="0"/>
              </a:rPr>
              <a:t>：指按市场价格计算的一个国家</a:t>
            </a:r>
            <a:r>
              <a:rPr lang="en-US" altLang="zh-CN">
                <a:solidFill>
                  <a:srgbClr val="101016"/>
                </a:solidFill>
                <a:latin typeface="Arial" charset="0"/>
              </a:rPr>
              <a:t>(</a:t>
            </a:r>
            <a:r>
              <a:rPr lang="zh-CN" altLang="en-US">
                <a:solidFill>
                  <a:srgbClr val="101016"/>
                </a:solidFill>
                <a:latin typeface="Arial" charset="0"/>
              </a:rPr>
              <a:t>或地区</a:t>
            </a:r>
            <a:r>
              <a:rPr lang="en-US" altLang="zh-CN">
                <a:solidFill>
                  <a:srgbClr val="101016"/>
                </a:solidFill>
                <a:latin typeface="Arial" charset="0"/>
              </a:rPr>
              <a:t>)</a:t>
            </a:r>
            <a:r>
              <a:rPr lang="zh-CN" altLang="en-US">
                <a:solidFill>
                  <a:srgbClr val="101016"/>
                </a:solidFill>
                <a:latin typeface="Arial" charset="0"/>
              </a:rPr>
              <a:t>所有常住单位在一定时期内生产活动的最终成果。</a:t>
            </a:r>
            <a:r>
              <a:rPr lang="en-US" altLang="zh-CN">
                <a:solidFill>
                  <a:srgbClr val="101016"/>
                </a:solidFill>
                <a:latin typeface="Arial" charset="0"/>
              </a:rPr>
              <a:t> </a:t>
            </a:r>
            <a:r>
              <a:rPr lang="zh-CN" altLang="en-US">
                <a:solidFill>
                  <a:srgbClr val="101016"/>
                </a:solidFill>
                <a:latin typeface="Arial" charset="0"/>
              </a:rPr>
              <a:t>（国家统计局的定义）</a:t>
            </a:r>
          </a:p>
        </p:txBody>
      </p:sp>
      <p:sp>
        <p:nvSpPr>
          <p:cNvPr id="251909" name="Rectangle 5" descr="花束"/>
          <p:cNvSpPr>
            <a:spLocks noChangeArrowheads="1"/>
          </p:cNvSpPr>
          <p:nvPr/>
        </p:nvSpPr>
        <p:spPr bwMode="auto">
          <a:xfrm>
            <a:off x="395288" y="1268413"/>
            <a:ext cx="3960812" cy="533400"/>
          </a:xfrm>
          <a:prstGeom prst="rect">
            <a:avLst/>
          </a:prstGeom>
          <a:blipFill dpi="0" rotWithShape="0">
            <a:blip r:embed="rId2"/>
            <a:srcRect/>
            <a:tile tx="0" ty="0" sx="100000" sy="100000" flip="none" algn="tl"/>
          </a:blipFill>
          <a:ln w="76200">
            <a:solidFill>
              <a:srgbClr val="FF0000"/>
            </a:solidFill>
            <a:miter lim="800000"/>
            <a:headEnd/>
            <a:tailEnd/>
          </a:ln>
        </p:spPr>
        <p:txBody>
          <a:bodyPr>
            <a:spAutoFit/>
          </a:bodyPr>
          <a:lstStyle/>
          <a:p>
            <a:pPr>
              <a:lnSpc>
                <a:spcPct val="120000"/>
              </a:lnSpc>
              <a:buClr>
                <a:srgbClr val="660033"/>
              </a:buClr>
              <a:buSzPct val="95000"/>
              <a:buFont typeface="Wingdings" pitchFamily="2" charset="2"/>
              <a:buNone/>
            </a:pPr>
            <a:r>
              <a:rPr lang="zh-CN" altLang="en-US">
                <a:solidFill>
                  <a:srgbClr val="101016"/>
                </a:solidFill>
                <a:latin typeface="Arial" charset="0"/>
              </a:rPr>
              <a:t>二、国内生产总值</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1907">
                                            <p:bg/>
                                          </p:spTgt>
                                        </p:tgtEl>
                                        <p:attrNameLst>
                                          <p:attrName>style.visibility</p:attrName>
                                        </p:attrNameLst>
                                      </p:cBhvr>
                                      <p:to>
                                        <p:strVal val="visible"/>
                                      </p:to>
                                    </p:set>
                                    <p:animEffect transition="in" filter="blinds(horizontal)">
                                      <p:cBhvr>
                                        <p:cTn id="7" dur="500"/>
                                        <p:tgtEl>
                                          <p:spTgt spid="251907">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51907">
                                            <p:txEl>
                                              <p:pRg st="0" end="0"/>
                                            </p:txEl>
                                          </p:spTgt>
                                        </p:tgtEl>
                                        <p:attrNameLst>
                                          <p:attrName>style.visibility</p:attrName>
                                        </p:attrNameLst>
                                      </p:cBhvr>
                                      <p:to>
                                        <p:strVal val="visible"/>
                                      </p:to>
                                    </p:set>
                                    <p:animEffect transition="in" filter="blinds(horizontal)">
                                      <p:cBhvr>
                                        <p:cTn id="12" dur="500"/>
                                        <p:tgtEl>
                                          <p:spTgt spid="251907">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51907">
                                            <p:txEl>
                                              <p:pRg st="1" end="1"/>
                                            </p:txEl>
                                          </p:spTgt>
                                        </p:tgtEl>
                                        <p:attrNameLst>
                                          <p:attrName>style.visibility</p:attrName>
                                        </p:attrNameLst>
                                      </p:cBhvr>
                                      <p:to>
                                        <p:strVal val="visible"/>
                                      </p:to>
                                    </p:set>
                                    <p:animEffect transition="in" filter="blinds(horizontal)">
                                      <p:cBhvr>
                                        <p:cTn id="17" dur="500"/>
                                        <p:tgtEl>
                                          <p:spTgt spid="251907">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51907">
                                            <p:txEl>
                                              <p:pRg st="2" end="2"/>
                                            </p:txEl>
                                          </p:spTgt>
                                        </p:tgtEl>
                                        <p:attrNameLst>
                                          <p:attrName>style.visibility</p:attrName>
                                        </p:attrNameLst>
                                      </p:cBhvr>
                                      <p:to>
                                        <p:strVal val="visible"/>
                                      </p:to>
                                    </p:set>
                                    <p:animEffect transition="in" filter="blinds(horizontal)">
                                      <p:cBhvr>
                                        <p:cTn id="22" dur="500"/>
                                        <p:tgtEl>
                                          <p:spTgt spid="251907">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51908"/>
                                        </p:tgtEl>
                                        <p:attrNameLst>
                                          <p:attrName>style.visibility</p:attrName>
                                        </p:attrNameLst>
                                      </p:cBhvr>
                                      <p:to>
                                        <p:strVal val="visible"/>
                                      </p:to>
                                    </p:set>
                                    <p:animEffect transition="in" filter="blinds(horizontal)">
                                      <p:cBhvr>
                                        <p:cTn id="27" dur="500"/>
                                        <p:tgtEl>
                                          <p:spTgt spid="25190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51909"/>
                                        </p:tgtEl>
                                        <p:attrNameLst>
                                          <p:attrName>style.visibility</p:attrName>
                                        </p:attrNameLst>
                                      </p:cBhvr>
                                      <p:to>
                                        <p:strVal val="visible"/>
                                      </p:to>
                                    </p:set>
                                    <p:animEffect transition="in" filter="blinds(horizontal)">
                                      <p:cBhvr>
                                        <p:cTn id="32" dur="500"/>
                                        <p:tgtEl>
                                          <p:spTgt spid="2519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1907" grpId="0" build="p" animBg="1"/>
      <p:bldP spid="251908" grpId="0" animBg="1"/>
      <p:bldP spid="25190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title"/>
          </p:nvPr>
        </p:nvSpPr>
        <p:spPr>
          <a:extLst/>
        </p:spPr>
        <p:txBody>
          <a:bodyPr/>
          <a:lstStyle/>
          <a:p>
            <a:pPr eaLnBrk="1" hangingPunct="1">
              <a:defRPr/>
            </a:pPr>
            <a:r>
              <a:rPr lang="zh-CN" altLang="en-US"/>
              <a:t>第二节</a:t>
            </a:r>
            <a:r>
              <a:rPr lang="en-US" altLang="zh-CN"/>
              <a:t>  </a:t>
            </a:r>
            <a:r>
              <a:rPr lang="zh-CN" altLang="en-US"/>
              <a:t>国内生产总值</a:t>
            </a:r>
            <a:r>
              <a:rPr lang="en-US" altLang="zh-CN"/>
              <a:t>GDP</a:t>
            </a:r>
          </a:p>
        </p:txBody>
      </p:sp>
      <p:sp>
        <p:nvSpPr>
          <p:cNvPr id="121861" name="Rectangle 5" descr="花束"/>
          <p:cNvSpPr>
            <a:spLocks noChangeArrowheads="1"/>
          </p:cNvSpPr>
          <p:nvPr/>
        </p:nvSpPr>
        <p:spPr bwMode="auto">
          <a:xfrm>
            <a:off x="395288" y="1989138"/>
            <a:ext cx="8137525" cy="533400"/>
          </a:xfrm>
          <a:prstGeom prst="rect">
            <a:avLst/>
          </a:prstGeom>
          <a:blipFill dpi="0" rotWithShape="0">
            <a:blip r:embed="rId2"/>
            <a:srcRect/>
            <a:tile tx="0" ty="0" sx="100000" sy="100000" flip="none" algn="tl"/>
          </a:blipFill>
          <a:ln w="76200">
            <a:solidFill>
              <a:srgbClr val="336600"/>
            </a:solidFill>
            <a:miter lim="800000"/>
            <a:headEnd/>
            <a:tailEnd/>
          </a:ln>
        </p:spPr>
        <p:txBody>
          <a:bodyPr>
            <a:spAutoFit/>
          </a:bodyPr>
          <a:lstStyle/>
          <a:p>
            <a:pPr>
              <a:lnSpc>
                <a:spcPct val="120000"/>
              </a:lnSpc>
              <a:buClr>
                <a:srgbClr val="660033"/>
              </a:buClr>
              <a:buSzPct val="95000"/>
              <a:buFont typeface="Wingdings" pitchFamily="2" charset="2"/>
              <a:buChar char="n"/>
            </a:pPr>
            <a:r>
              <a:rPr lang="zh-CN" altLang="en-US">
                <a:solidFill>
                  <a:srgbClr val="101016"/>
                </a:solidFill>
                <a:latin typeface="Arial" charset="0"/>
              </a:rPr>
              <a:t>第一，</a:t>
            </a:r>
            <a:r>
              <a:rPr lang="en-US" altLang="zh-CN" sz="1800">
                <a:solidFill>
                  <a:srgbClr val="101016"/>
                </a:solidFill>
                <a:latin typeface="Arial" charset="0"/>
              </a:rPr>
              <a:t>GDP</a:t>
            </a:r>
            <a:r>
              <a:rPr lang="zh-CN" altLang="en-US" sz="1800">
                <a:solidFill>
                  <a:srgbClr val="101016"/>
                </a:solidFill>
                <a:latin typeface="Arial" charset="0"/>
              </a:rPr>
              <a:t>衡量的是最终产品和服务的价值，中间产品不计入内</a:t>
            </a:r>
          </a:p>
        </p:txBody>
      </p:sp>
      <p:sp>
        <p:nvSpPr>
          <p:cNvPr id="121866" name="Rectangle 10"/>
          <p:cNvSpPr>
            <a:spLocks noChangeArrowheads="1"/>
          </p:cNvSpPr>
          <p:nvPr/>
        </p:nvSpPr>
        <p:spPr bwMode="auto">
          <a:xfrm>
            <a:off x="323850" y="2708275"/>
            <a:ext cx="8137525" cy="479425"/>
          </a:xfrm>
          <a:prstGeom prst="rect">
            <a:avLst/>
          </a:prstGeom>
          <a:solidFill>
            <a:schemeClr val="tx2">
              <a:alpha val="72940"/>
            </a:schemeClr>
          </a:solidFill>
          <a:ln w="57150" cmpd="thinThick">
            <a:solidFill>
              <a:srgbClr val="996633"/>
            </a:solidFill>
            <a:miter lim="800000"/>
            <a:headEnd/>
            <a:tailEnd/>
          </a:ln>
        </p:spPr>
        <p:txBody>
          <a:bodyPr>
            <a:spAutoFit/>
          </a:bodyPr>
          <a:lstStyle/>
          <a:p>
            <a:pPr marL="95250" indent="-95250">
              <a:lnSpc>
                <a:spcPct val="120000"/>
              </a:lnSpc>
              <a:spcBef>
                <a:spcPct val="20000"/>
              </a:spcBef>
              <a:buClr>
                <a:schemeClr val="hlink"/>
              </a:buClr>
              <a:buFont typeface="Wingdings" pitchFamily="2" charset="2"/>
              <a:buBlip>
                <a:blip r:embed="rId3"/>
              </a:buBlip>
            </a:pPr>
            <a:r>
              <a:rPr lang="zh-CN" altLang="en-US" sz="1800">
                <a:solidFill>
                  <a:srgbClr val="101016"/>
                </a:solidFill>
                <a:latin typeface="Arial" charset="0"/>
              </a:rPr>
              <a:t>第二，</a:t>
            </a:r>
            <a:r>
              <a:rPr lang="en-US" altLang="zh-CN" sz="1800">
                <a:solidFill>
                  <a:srgbClr val="101016"/>
                </a:solidFill>
                <a:latin typeface="Arial" charset="0"/>
              </a:rPr>
              <a:t>GDP</a:t>
            </a:r>
            <a:r>
              <a:rPr lang="zh-CN" altLang="en-US" sz="1800">
                <a:solidFill>
                  <a:srgbClr val="101016"/>
                </a:solidFill>
                <a:latin typeface="Arial" charset="0"/>
              </a:rPr>
              <a:t>是一个市场价值的概念，用最终产品的产量乘以单位价格获得。</a:t>
            </a:r>
          </a:p>
        </p:txBody>
      </p:sp>
      <p:sp>
        <p:nvSpPr>
          <p:cNvPr id="121869" name="Rectangle 13" descr="花束"/>
          <p:cNvSpPr>
            <a:spLocks noChangeArrowheads="1"/>
          </p:cNvSpPr>
          <p:nvPr/>
        </p:nvSpPr>
        <p:spPr bwMode="auto">
          <a:xfrm>
            <a:off x="395288" y="1268413"/>
            <a:ext cx="3960812" cy="533400"/>
          </a:xfrm>
          <a:prstGeom prst="rect">
            <a:avLst/>
          </a:prstGeom>
          <a:blipFill dpi="0" rotWithShape="0">
            <a:blip r:embed="rId2"/>
            <a:srcRect/>
            <a:tile tx="0" ty="0" sx="100000" sy="100000" flip="none" algn="tl"/>
          </a:blipFill>
          <a:ln w="76200">
            <a:solidFill>
              <a:srgbClr val="FF0000"/>
            </a:solidFill>
            <a:miter lim="800000"/>
            <a:headEnd/>
            <a:tailEnd/>
          </a:ln>
        </p:spPr>
        <p:txBody>
          <a:bodyPr>
            <a:spAutoFit/>
          </a:bodyPr>
          <a:lstStyle/>
          <a:p>
            <a:pPr>
              <a:lnSpc>
                <a:spcPct val="120000"/>
              </a:lnSpc>
              <a:buClr>
                <a:srgbClr val="660033"/>
              </a:buClr>
              <a:buSzPct val="95000"/>
              <a:buFont typeface="Wingdings" pitchFamily="2" charset="2"/>
              <a:buNone/>
            </a:pPr>
            <a:r>
              <a:rPr lang="zh-CN" altLang="en-US">
                <a:solidFill>
                  <a:srgbClr val="101016"/>
                </a:solidFill>
                <a:latin typeface="Arial" charset="0"/>
              </a:rPr>
              <a:t>二、国内生产总值</a:t>
            </a:r>
          </a:p>
        </p:txBody>
      </p:sp>
      <p:sp>
        <p:nvSpPr>
          <p:cNvPr id="121872" name="Rectangle 16"/>
          <p:cNvSpPr>
            <a:spLocks noChangeArrowheads="1"/>
          </p:cNvSpPr>
          <p:nvPr/>
        </p:nvSpPr>
        <p:spPr bwMode="auto">
          <a:xfrm>
            <a:off x="323850" y="3357563"/>
            <a:ext cx="8137525" cy="809625"/>
          </a:xfrm>
          <a:prstGeom prst="rect">
            <a:avLst/>
          </a:prstGeom>
          <a:solidFill>
            <a:schemeClr val="tx2">
              <a:alpha val="72940"/>
            </a:schemeClr>
          </a:solidFill>
          <a:ln w="57150" cmpd="thinThick">
            <a:solidFill>
              <a:srgbClr val="996633"/>
            </a:solidFill>
            <a:miter lim="800000"/>
            <a:headEnd/>
            <a:tailEnd/>
          </a:ln>
        </p:spPr>
        <p:txBody>
          <a:bodyPr>
            <a:spAutoFit/>
          </a:bodyPr>
          <a:lstStyle/>
          <a:p>
            <a:pPr marL="95250" indent="-95250">
              <a:lnSpc>
                <a:spcPct val="120000"/>
              </a:lnSpc>
              <a:spcBef>
                <a:spcPct val="20000"/>
              </a:spcBef>
              <a:buClr>
                <a:schemeClr val="hlink"/>
              </a:buClr>
              <a:buFont typeface="Wingdings" pitchFamily="2" charset="2"/>
              <a:buBlip>
                <a:blip r:embed="rId3"/>
              </a:buBlip>
            </a:pPr>
            <a:r>
              <a:rPr lang="zh-CN" altLang="en-US" sz="1800">
                <a:solidFill>
                  <a:srgbClr val="101016"/>
                </a:solidFill>
                <a:latin typeface="Arial" charset="0"/>
              </a:rPr>
              <a:t>第三，</a:t>
            </a:r>
            <a:r>
              <a:rPr lang="en-US" altLang="zh-CN" sz="1800">
                <a:solidFill>
                  <a:srgbClr val="101016"/>
                </a:solidFill>
                <a:latin typeface="Arial" charset="0"/>
              </a:rPr>
              <a:t>GDP</a:t>
            </a:r>
            <a:r>
              <a:rPr lang="zh-CN" altLang="en-US" sz="1800">
                <a:solidFill>
                  <a:srgbClr val="101016"/>
                </a:solidFill>
                <a:latin typeface="Arial" charset="0"/>
              </a:rPr>
              <a:t>是在一定时期内所生产的最终产品价值，与实际销量无关。（即：不是所销售的最终产品价值）。（</a:t>
            </a:r>
            <a:r>
              <a:rPr lang="zh-CN" altLang="en-US" sz="1800">
                <a:solidFill>
                  <a:srgbClr val="FF00FF"/>
                </a:solidFill>
                <a:latin typeface="Arial" charset="0"/>
              </a:rPr>
              <a:t>问题：库存商品是否计入</a:t>
            </a:r>
            <a:r>
              <a:rPr lang="en-US" altLang="zh-CN" sz="1800">
                <a:solidFill>
                  <a:srgbClr val="FF00FF"/>
                </a:solidFill>
              </a:rPr>
              <a:t>GDP</a:t>
            </a:r>
            <a:r>
              <a:rPr lang="zh-CN" altLang="en-US" sz="1800">
                <a:solidFill>
                  <a:srgbClr val="FF00FF"/>
                </a:solidFill>
              </a:rPr>
              <a:t>之中？</a:t>
            </a:r>
            <a:r>
              <a:rPr lang="zh-CN" altLang="en-US" sz="1800">
                <a:solidFill>
                  <a:srgbClr val="FF00FF"/>
                </a:solidFill>
                <a:latin typeface="Arial" charset="0"/>
              </a:rPr>
              <a:t>）</a:t>
            </a:r>
          </a:p>
        </p:txBody>
      </p:sp>
      <p:sp>
        <p:nvSpPr>
          <p:cNvPr id="121873" name="Rectangle 17"/>
          <p:cNvSpPr>
            <a:spLocks noChangeArrowheads="1"/>
          </p:cNvSpPr>
          <p:nvPr/>
        </p:nvSpPr>
        <p:spPr bwMode="auto">
          <a:xfrm>
            <a:off x="323850" y="4365625"/>
            <a:ext cx="8137525" cy="865188"/>
          </a:xfrm>
          <a:prstGeom prst="rect">
            <a:avLst/>
          </a:prstGeom>
          <a:solidFill>
            <a:schemeClr val="tx2">
              <a:alpha val="72940"/>
            </a:schemeClr>
          </a:solidFill>
          <a:ln w="57150" cmpd="thinThick">
            <a:solidFill>
              <a:srgbClr val="996633"/>
            </a:solidFill>
            <a:miter lim="800000"/>
            <a:headEnd/>
            <a:tailEnd/>
          </a:ln>
        </p:spPr>
        <p:txBody>
          <a:bodyPr>
            <a:spAutoFit/>
          </a:bodyPr>
          <a:lstStyle/>
          <a:p>
            <a:pPr marL="95250" indent="-95250">
              <a:lnSpc>
                <a:spcPct val="120000"/>
              </a:lnSpc>
              <a:spcBef>
                <a:spcPct val="20000"/>
              </a:spcBef>
              <a:buClr>
                <a:schemeClr val="hlink"/>
              </a:buClr>
              <a:buFont typeface="Wingdings" pitchFamily="2" charset="2"/>
              <a:buBlip>
                <a:blip r:embed="rId3"/>
              </a:buBlip>
            </a:pPr>
            <a:r>
              <a:rPr lang="zh-CN" altLang="en-US" sz="1800">
                <a:solidFill>
                  <a:srgbClr val="101016"/>
                </a:solidFill>
                <a:latin typeface="Arial" charset="0"/>
              </a:rPr>
              <a:t>第四，</a:t>
            </a:r>
            <a:r>
              <a:rPr lang="en-US" altLang="zh-CN" sz="1800">
                <a:solidFill>
                  <a:srgbClr val="101016"/>
                </a:solidFill>
                <a:latin typeface="Arial" charset="0"/>
              </a:rPr>
              <a:t>GDP</a:t>
            </a:r>
            <a:r>
              <a:rPr lang="zh-CN" altLang="en-US" sz="1800">
                <a:solidFill>
                  <a:srgbClr val="101016"/>
                </a:solidFill>
                <a:latin typeface="Arial" charset="0"/>
              </a:rPr>
              <a:t>是流量概念而非存量概念。</a:t>
            </a:r>
            <a:endParaRPr lang="en-US" altLang="zh-CN" sz="1800">
              <a:solidFill>
                <a:srgbClr val="101016"/>
              </a:solidFill>
              <a:latin typeface="Arial" charset="0"/>
            </a:endParaRPr>
          </a:p>
          <a:p>
            <a:pPr marL="95250" indent="-95250">
              <a:lnSpc>
                <a:spcPct val="120000"/>
              </a:lnSpc>
              <a:spcBef>
                <a:spcPct val="20000"/>
              </a:spcBef>
              <a:buClr>
                <a:schemeClr val="hlink"/>
              </a:buClr>
              <a:buFont typeface="Wingdings" pitchFamily="2" charset="2"/>
              <a:buBlip>
                <a:blip r:embed="rId3"/>
              </a:buBlip>
            </a:pPr>
            <a:r>
              <a:rPr lang="en-US" altLang="zh-CN" sz="1800">
                <a:solidFill>
                  <a:srgbClr val="101016"/>
                </a:solidFill>
                <a:latin typeface="Arial" charset="0"/>
              </a:rPr>
              <a:t> </a:t>
            </a:r>
            <a:r>
              <a:rPr lang="zh-CN" altLang="en-US" sz="1800">
                <a:solidFill>
                  <a:srgbClr val="101016"/>
                </a:solidFill>
                <a:latin typeface="Arial" charset="0"/>
              </a:rPr>
              <a:t>流量是一定时期发生的变量，而存量是一定时点上的变量。</a:t>
            </a:r>
          </a:p>
        </p:txBody>
      </p:sp>
      <p:sp>
        <p:nvSpPr>
          <p:cNvPr id="121874" name="Rectangle 18"/>
          <p:cNvSpPr>
            <a:spLocks noChangeArrowheads="1"/>
          </p:cNvSpPr>
          <p:nvPr/>
        </p:nvSpPr>
        <p:spPr bwMode="auto">
          <a:xfrm>
            <a:off x="323850" y="5445125"/>
            <a:ext cx="8137525" cy="1195388"/>
          </a:xfrm>
          <a:prstGeom prst="rect">
            <a:avLst/>
          </a:prstGeom>
          <a:solidFill>
            <a:schemeClr val="tx2">
              <a:alpha val="72940"/>
            </a:schemeClr>
          </a:solidFill>
          <a:ln w="57150" cmpd="thinThick">
            <a:solidFill>
              <a:srgbClr val="996633"/>
            </a:solidFill>
            <a:miter lim="800000"/>
            <a:headEnd/>
            <a:tailEnd/>
          </a:ln>
        </p:spPr>
        <p:txBody>
          <a:bodyPr>
            <a:spAutoFit/>
          </a:bodyPr>
          <a:lstStyle/>
          <a:p>
            <a:pPr marL="95250" indent="-95250">
              <a:lnSpc>
                <a:spcPct val="120000"/>
              </a:lnSpc>
              <a:spcBef>
                <a:spcPct val="20000"/>
              </a:spcBef>
              <a:buClr>
                <a:schemeClr val="hlink"/>
              </a:buClr>
              <a:buFont typeface="Wingdings" pitchFamily="2" charset="2"/>
              <a:buBlip>
                <a:blip r:embed="rId3"/>
              </a:buBlip>
            </a:pPr>
            <a:r>
              <a:rPr lang="zh-CN" altLang="en-US" sz="1800">
                <a:solidFill>
                  <a:srgbClr val="000000"/>
                </a:solidFill>
                <a:latin typeface="Arial" charset="0"/>
              </a:rPr>
              <a:t>第五，</a:t>
            </a:r>
            <a:r>
              <a:rPr lang="en-US" altLang="zh-CN" sz="1800">
                <a:solidFill>
                  <a:srgbClr val="000000"/>
                </a:solidFill>
                <a:latin typeface="Arial" charset="0"/>
              </a:rPr>
              <a:t>GDP</a:t>
            </a:r>
            <a:r>
              <a:rPr lang="zh-CN" altLang="en-US" sz="1800">
                <a:solidFill>
                  <a:srgbClr val="000000"/>
                </a:solidFill>
                <a:latin typeface="Arial" charset="0"/>
              </a:rPr>
              <a:t>是个</a:t>
            </a:r>
            <a:r>
              <a:rPr lang="zh-CN" altLang="en-US" sz="1800">
                <a:solidFill>
                  <a:srgbClr val="FF3399"/>
                </a:solidFill>
                <a:latin typeface="Arial" charset="0"/>
              </a:rPr>
              <a:t>地域</a:t>
            </a:r>
            <a:r>
              <a:rPr lang="zh-CN" altLang="en-US" sz="1800">
                <a:solidFill>
                  <a:srgbClr val="000000"/>
                </a:solidFill>
                <a:latin typeface="Arial" charset="0"/>
              </a:rPr>
              <a:t>概念，以</a:t>
            </a:r>
            <a:r>
              <a:rPr lang="zh-CN" altLang="en-US" sz="1800">
                <a:solidFill>
                  <a:srgbClr val="FF3399"/>
                </a:solidFill>
                <a:latin typeface="Arial" charset="0"/>
              </a:rPr>
              <a:t>国土</a:t>
            </a:r>
            <a:r>
              <a:rPr lang="zh-CN" altLang="en-US" sz="1800">
                <a:solidFill>
                  <a:srgbClr val="000000"/>
                </a:solidFill>
                <a:latin typeface="Arial" charset="0"/>
              </a:rPr>
              <a:t>统计为原则，它衡量的是一国或者一个地区范围内生产的最终产品和服务的市场价值。</a:t>
            </a:r>
            <a:endParaRPr lang="en-US" altLang="zh-CN" sz="1800">
              <a:solidFill>
                <a:srgbClr val="000000"/>
              </a:solidFill>
              <a:latin typeface="Arial" charset="0"/>
            </a:endParaRPr>
          </a:p>
          <a:p>
            <a:pPr marL="95250" indent="-95250">
              <a:lnSpc>
                <a:spcPct val="120000"/>
              </a:lnSpc>
              <a:spcBef>
                <a:spcPct val="20000"/>
              </a:spcBef>
              <a:buClr>
                <a:schemeClr val="hlink"/>
              </a:buClr>
              <a:buFont typeface="Wingdings" pitchFamily="2" charset="2"/>
              <a:buBlip>
                <a:blip r:embed="rId3"/>
              </a:buBlip>
            </a:pPr>
            <a:r>
              <a:rPr lang="en-US" altLang="zh-CN" sz="1800">
                <a:solidFill>
                  <a:srgbClr val="000000"/>
                </a:solidFill>
                <a:latin typeface="Arial" charset="0"/>
              </a:rPr>
              <a:t>       </a:t>
            </a:r>
            <a:r>
              <a:rPr lang="zh-CN" altLang="en-US" sz="1800">
                <a:solidFill>
                  <a:srgbClr val="000000"/>
                </a:solidFill>
                <a:latin typeface="Arial" charset="0"/>
              </a:rPr>
              <a:t>而</a:t>
            </a:r>
            <a:r>
              <a:rPr lang="en-US" altLang="zh-CN" sz="1800">
                <a:solidFill>
                  <a:srgbClr val="000000"/>
                </a:solidFill>
                <a:latin typeface="Arial" charset="0"/>
              </a:rPr>
              <a:t>GNP</a:t>
            </a:r>
            <a:r>
              <a:rPr lang="zh-CN" altLang="en-US" sz="1800">
                <a:solidFill>
                  <a:srgbClr val="000000"/>
                </a:solidFill>
                <a:latin typeface="Arial" charset="0"/>
              </a:rPr>
              <a:t>是个</a:t>
            </a:r>
            <a:r>
              <a:rPr lang="zh-CN" altLang="en-US" sz="1800">
                <a:solidFill>
                  <a:srgbClr val="FF3399"/>
                </a:solidFill>
                <a:latin typeface="Arial" charset="0"/>
              </a:rPr>
              <a:t>国民</a:t>
            </a:r>
            <a:r>
              <a:rPr lang="zh-CN" altLang="en-US" sz="1800">
                <a:solidFill>
                  <a:srgbClr val="000000"/>
                </a:solidFill>
                <a:latin typeface="Arial" charset="0"/>
              </a:rPr>
              <a:t>概念，以</a:t>
            </a:r>
            <a:r>
              <a:rPr lang="zh-CN" altLang="en-US" sz="1800">
                <a:solidFill>
                  <a:srgbClr val="FF3399"/>
                </a:solidFill>
                <a:latin typeface="Arial" charset="0"/>
              </a:rPr>
              <a:t>国民</a:t>
            </a:r>
            <a:r>
              <a:rPr lang="zh-CN" altLang="en-US" sz="1800">
                <a:solidFill>
                  <a:srgbClr val="000000"/>
                </a:solidFill>
                <a:latin typeface="Arial" charset="0"/>
              </a:rPr>
              <a:t>统计为原则，</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1861">
                                            <p:bg/>
                                          </p:spTgt>
                                        </p:tgtEl>
                                        <p:attrNameLst>
                                          <p:attrName>style.visibility</p:attrName>
                                        </p:attrNameLst>
                                      </p:cBhvr>
                                      <p:to>
                                        <p:strVal val="visible"/>
                                      </p:to>
                                    </p:set>
                                    <p:animEffect transition="in" filter="blinds(horizontal)">
                                      <p:cBhvr>
                                        <p:cTn id="7" dur="500"/>
                                        <p:tgtEl>
                                          <p:spTgt spid="121861">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1861">
                                            <p:txEl>
                                              <p:pRg st="0" end="0"/>
                                            </p:txEl>
                                          </p:spTgt>
                                        </p:tgtEl>
                                        <p:attrNameLst>
                                          <p:attrName>style.visibility</p:attrName>
                                        </p:attrNameLst>
                                      </p:cBhvr>
                                      <p:to>
                                        <p:strVal val="visible"/>
                                      </p:to>
                                    </p:set>
                                    <p:animEffect transition="in" filter="blinds(horizontal)">
                                      <p:cBhvr>
                                        <p:cTn id="12" dur="500"/>
                                        <p:tgtEl>
                                          <p:spTgt spid="121861">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21866"/>
                                        </p:tgtEl>
                                        <p:attrNameLst>
                                          <p:attrName>style.visibility</p:attrName>
                                        </p:attrNameLst>
                                      </p:cBhvr>
                                      <p:to>
                                        <p:strVal val="visible"/>
                                      </p:to>
                                    </p:set>
                                    <p:animEffect transition="in" filter="blinds(horizontal)">
                                      <p:cBhvr>
                                        <p:cTn id="17" dur="500"/>
                                        <p:tgtEl>
                                          <p:spTgt spid="12186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21869"/>
                                        </p:tgtEl>
                                        <p:attrNameLst>
                                          <p:attrName>style.visibility</p:attrName>
                                        </p:attrNameLst>
                                      </p:cBhvr>
                                      <p:to>
                                        <p:strVal val="visible"/>
                                      </p:to>
                                    </p:set>
                                    <p:animEffect transition="in" filter="blinds(horizontal)">
                                      <p:cBhvr>
                                        <p:cTn id="22" dur="500"/>
                                        <p:tgtEl>
                                          <p:spTgt spid="12186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21872"/>
                                        </p:tgtEl>
                                        <p:attrNameLst>
                                          <p:attrName>style.visibility</p:attrName>
                                        </p:attrNameLst>
                                      </p:cBhvr>
                                      <p:to>
                                        <p:strVal val="visible"/>
                                      </p:to>
                                    </p:set>
                                    <p:animEffect transition="in" filter="blinds(horizontal)">
                                      <p:cBhvr>
                                        <p:cTn id="27" dur="500"/>
                                        <p:tgtEl>
                                          <p:spTgt spid="12187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21873"/>
                                        </p:tgtEl>
                                        <p:attrNameLst>
                                          <p:attrName>style.visibility</p:attrName>
                                        </p:attrNameLst>
                                      </p:cBhvr>
                                      <p:to>
                                        <p:strVal val="visible"/>
                                      </p:to>
                                    </p:set>
                                    <p:animEffect transition="in" filter="blinds(horizontal)">
                                      <p:cBhvr>
                                        <p:cTn id="32" dur="500"/>
                                        <p:tgtEl>
                                          <p:spTgt spid="12187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21874"/>
                                        </p:tgtEl>
                                        <p:attrNameLst>
                                          <p:attrName>style.visibility</p:attrName>
                                        </p:attrNameLst>
                                      </p:cBhvr>
                                      <p:to>
                                        <p:strVal val="visible"/>
                                      </p:to>
                                    </p:set>
                                    <p:animEffect transition="in" filter="blinds(horizontal)">
                                      <p:cBhvr>
                                        <p:cTn id="37" dur="500"/>
                                        <p:tgtEl>
                                          <p:spTgt spid="1218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61" grpId="0" build="p" animBg="1"/>
      <p:bldP spid="121866" grpId="0" animBg="1"/>
      <p:bldP spid="121869" grpId="0" animBg="1"/>
      <p:bldP spid="121872" grpId="0" animBg="1"/>
      <p:bldP spid="121873" grpId="0" animBg="1"/>
      <p:bldP spid="12187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ChangeArrowheads="1"/>
          </p:cNvSpPr>
          <p:nvPr>
            <p:ph type="title"/>
          </p:nvPr>
        </p:nvSpPr>
        <p:spPr>
          <a:extLst/>
        </p:spPr>
        <p:txBody>
          <a:bodyPr/>
          <a:lstStyle/>
          <a:p>
            <a:pPr eaLnBrk="1" hangingPunct="1">
              <a:defRPr/>
            </a:pPr>
            <a:r>
              <a:rPr lang="en-US" altLang="zh-CN"/>
              <a:t>GNP</a:t>
            </a:r>
            <a:r>
              <a:rPr lang="zh-CN" altLang="en-US"/>
              <a:t>与</a:t>
            </a:r>
            <a:r>
              <a:rPr lang="en-US" altLang="zh-CN"/>
              <a:t>GDP</a:t>
            </a:r>
            <a:r>
              <a:rPr lang="zh-CN" altLang="en-US"/>
              <a:t>的比较</a:t>
            </a:r>
          </a:p>
        </p:txBody>
      </p:sp>
      <p:sp>
        <p:nvSpPr>
          <p:cNvPr id="198662" name="Rectangle 6" descr="花束"/>
          <p:cNvSpPr>
            <a:spLocks noChangeArrowheads="1"/>
          </p:cNvSpPr>
          <p:nvPr/>
        </p:nvSpPr>
        <p:spPr bwMode="auto">
          <a:xfrm>
            <a:off x="1403350" y="1341438"/>
            <a:ext cx="7272338" cy="1544637"/>
          </a:xfrm>
          <a:prstGeom prst="rect">
            <a:avLst/>
          </a:prstGeom>
          <a:blipFill dpi="0" rotWithShape="0">
            <a:blip r:embed="rId2"/>
            <a:srcRect/>
            <a:tile tx="0" ty="0" sx="100000" sy="100000" flip="none" algn="tl"/>
          </a:blipFill>
          <a:ln w="76200">
            <a:solidFill>
              <a:srgbClr val="336600"/>
            </a:solidFill>
            <a:miter lim="800000"/>
            <a:headEnd/>
            <a:tailEnd/>
          </a:ln>
        </p:spPr>
        <p:txBody>
          <a:bodyPr>
            <a:spAutoFit/>
          </a:bodyPr>
          <a:lstStyle/>
          <a:p>
            <a:pPr>
              <a:lnSpc>
                <a:spcPct val="120000"/>
              </a:lnSpc>
              <a:spcBef>
                <a:spcPct val="20000"/>
              </a:spcBef>
              <a:buClr>
                <a:schemeClr val="hlink"/>
              </a:buClr>
              <a:buFont typeface="Wingdings" pitchFamily="2" charset="2"/>
              <a:buBlip>
                <a:blip r:embed="rId3"/>
              </a:buBlip>
            </a:pPr>
            <a:r>
              <a:rPr kumimoji="1" lang="en-US" altLang="zh-CN" sz="1800">
                <a:solidFill>
                  <a:srgbClr val="000000"/>
                </a:solidFill>
                <a:latin typeface="Arial" charset="0"/>
              </a:rPr>
              <a:t>GDP=</a:t>
            </a:r>
            <a:r>
              <a:rPr kumimoji="1" lang="zh-CN" altLang="en-US" sz="1800">
                <a:solidFill>
                  <a:srgbClr val="FF3399"/>
                </a:solidFill>
                <a:latin typeface="Arial" charset="0"/>
              </a:rPr>
              <a:t>本国居民</a:t>
            </a:r>
            <a:r>
              <a:rPr kumimoji="1" lang="zh-CN" altLang="en-US" sz="1800">
                <a:solidFill>
                  <a:srgbClr val="000000"/>
                </a:solidFill>
                <a:latin typeface="Arial" charset="0"/>
              </a:rPr>
              <a:t>在</a:t>
            </a:r>
            <a:r>
              <a:rPr kumimoji="1" lang="zh-CN" altLang="en-US" sz="1800">
                <a:solidFill>
                  <a:schemeClr val="accent1"/>
                </a:solidFill>
                <a:latin typeface="Arial" charset="0"/>
              </a:rPr>
              <a:t>本国</a:t>
            </a:r>
            <a:r>
              <a:rPr kumimoji="1" lang="zh-CN" altLang="en-US" sz="1800">
                <a:solidFill>
                  <a:srgbClr val="000000"/>
                </a:solidFill>
                <a:latin typeface="Arial" charset="0"/>
              </a:rPr>
              <a:t>生产的产品和劳务的价值</a:t>
            </a:r>
            <a:r>
              <a:rPr kumimoji="1" lang="en-US" altLang="zh-CN" sz="1800">
                <a:solidFill>
                  <a:srgbClr val="000000"/>
                </a:solidFill>
                <a:latin typeface="Arial" charset="0"/>
              </a:rPr>
              <a:t>+</a:t>
            </a:r>
            <a:r>
              <a:rPr kumimoji="1" lang="zh-CN" altLang="en-US" sz="1800">
                <a:solidFill>
                  <a:srgbClr val="FF3399"/>
                </a:solidFill>
                <a:latin typeface="Arial" charset="0"/>
              </a:rPr>
              <a:t>外国公民</a:t>
            </a:r>
            <a:r>
              <a:rPr kumimoji="1" lang="zh-CN" altLang="en-US" sz="1800">
                <a:solidFill>
                  <a:srgbClr val="000000"/>
                </a:solidFill>
                <a:latin typeface="Arial" charset="0"/>
              </a:rPr>
              <a:t>在</a:t>
            </a:r>
            <a:r>
              <a:rPr kumimoji="1" lang="zh-CN" altLang="en-US" sz="1800">
                <a:solidFill>
                  <a:schemeClr val="accent1"/>
                </a:solidFill>
                <a:latin typeface="Arial" charset="0"/>
              </a:rPr>
              <a:t>本国</a:t>
            </a:r>
            <a:r>
              <a:rPr kumimoji="1" lang="zh-CN" altLang="en-US" sz="1800">
                <a:solidFill>
                  <a:srgbClr val="000000"/>
                </a:solidFill>
                <a:latin typeface="Arial" charset="0"/>
              </a:rPr>
              <a:t>生产的产品和劳务的价值</a:t>
            </a:r>
            <a:endParaRPr kumimoji="1" lang="en-US" altLang="zh-CN" sz="1800">
              <a:solidFill>
                <a:srgbClr val="000000"/>
              </a:solidFill>
              <a:latin typeface="Arial" charset="0"/>
            </a:endParaRPr>
          </a:p>
          <a:p>
            <a:pPr>
              <a:lnSpc>
                <a:spcPct val="120000"/>
              </a:lnSpc>
              <a:spcBef>
                <a:spcPct val="20000"/>
              </a:spcBef>
              <a:buClr>
                <a:schemeClr val="hlink"/>
              </a:buClr>
              <a:buFont typeface="Wingdings" pitchFamily="2" charset="2"/>
              <a:buBlip>
                <a:blip r:embed="rId3"/>
              </a:buBlip>
            </a:pPr>
            <a:r>
              <a:rPr kumimoji="1" lang="en-US" altLang="zh-CN" sz="1800">
                <a:solidFill>
                  <a:srgbClr val="000000"/>
                </a:solidFill>
                <a:latin typeface="Arial" charset="0"/>
              </a:rPr>
              <a:t>GNP=</a:t>
            </a:r>
            <a:r>
              <a:rPr kumimoji="1" lang="zh-CN" altLang="en-US" sz="1800">
                <a:solidFill>
                  <a:srgbClr val="FF3399"/>
                </a:solidFill>
                <a:latin typeface="Arial" charset="0"/>
              </a:rPr>
              <a:t>本国居民</a:t>
            </a:r>
            <a:r>
              <a:rPr kumimoji="1" lang="zh-CN" altLang="en-US" sz="1800">
                <a:solidFill>
                  <a:srgbClr val="000000"/>
                </a:solidFill>
                <a:latin typeface="Arial" charset="0"/>
              </a:rPr>
              <a:t>在</a:t>
            </a:r>
            <a:r>
              <a:rPr kumimoji="1" lang="zh-CN" altLang="en-US" sz="1800">
                <a:solidFill>
                  <a:schemeClr val="accent1"/>
                </a:solidFill>
                <a:latin typeface="Arial" charset="0"/>
              </a:rPr>
              <a:t>本国</a:t>
            </a:r>
            <a:r>
              <a:rPr kumimoji="1" lang="zh-CN" altLang="en-US" sz="1800">
                <a:solidFill>
                  <a:srgbClr val="000000"/>
                </a:solidFill>
                <a:latin typeface="Arial" charset="0"/>
              </a:rPr>
              <a:t>生产的产品和劳务的价值</a:t>
            </a:r>
            <a:r>
              <a:rPr kumimoji="1" lang="en-US" altLang="zh-CN" sz="1800">
                <a:solidFill>
                  <a:srgbClr val="000000"/>
                </a:solidFill>
                <a:latin typeface="Arial" charset="0"/>
              </a:rPr>
              <a:t>+</a:t>
            </a:r>
            <a:r>
              <a:rPr kumimoji="1" lang="zh-CN" altLang="en-US" sz="1800">
                <a:solidFill>
                  <a:srgbClr val="FF3399"/>
                </a:solidFill>
                <a:latin typeface="Arial" charset="0"/>
              </a:rPr>
              <a:t>本国居民</a:t>
            </a:r>
            <a:r>
              <a:rPr kumimoji="1" lang="zh-CN" altLang="en-US" sz="1800">
                <a:solidFill>
                  <a:srgbClr val="000000"/>
                </a:solidFill>
                <a:latin typeface="Arial" charset="0"/>
              </a:rPr>
              <a:t>在</a:t>
            </a:r>
            <a:r>
              <a:rPr kumimoji="1" lang="zh-CN" altLang="en-US" sz="1800">
                <a:solidFill>
                  <a:srgbClr val="FF00FF"/>
                </a:solidFill>
                <a:latin typeface="Arial" charset="0"/>
              </a:rPr>
              <a:t>国外</a:t>
            </a:r>
            <a:r>
              <a:rPr kumimoji="1" lang="zh-CN" altLang="en-US" sz="1800">
                <a:solidFill>
                  <a:srgbClr val="000000"/>
                </a:solidFill>
                <a:latin typeface="Arial" charset="0"/>
              </a:rPr>
              <a:t>生产的产品和劳务的价值</a:t>
            </a:r>
          </a:p>
        </p:txBody>
      </p:sp>
      <p:sp>
        <p:nvSpPr>
          <p:cNvPr id="198664" name="Rectangle 8"/>
          <p:cNvSpPr>
            <a:spLocks noChangeArrowheads="1"/>
          </p:cNvSpPr>
          <p:nvPr/>
        </p:nvSpPr>
        <p:spPr bwMode="auto">
          <a:xfrm>
            <a:off x="395288" y="4437063"/>
            <a:ext cx="8351837" cy="2095500"/>
          </a:xfrm>
          <a:prstGeom prst="rect">
            <a:avLst/>
          </a:prstGeom>
          <a:solidFill>
            <a:schemeClr val="tx2">
              <a:alpha val="72940"/>
            </a:schemeClr>
          </a:solidFill>
          <a:ln w="57150" cmpd="thinThick">
            <a:solidFill>
              <a:srgbClr val="996633"/>
            </a:solidFill>
            <a:miter lim="800000"/>
            <a:headEnd/>
            <a:tailEnd/>
          </a:ln>
        </p:spPr>
        <p:txBody>
          <a:bodyPr>
            <a:spAutoFit/>
          </a:bodyPr>
          <a:lstStyle/>
          <a:p>
            <a:pPr marL="95250" indent="-95250">
              <a:lnSpc>
                <a:spcPct val="120000"/>
              </a:lnSpc>
              <a:spcBef>
                <a:spcPct val="20000"/>
              </a:spcBef>
              <a:buClr>
                <a:schemeClr val="hlink"/>
              </a:buClr>
              <a:buFont typeface="Wingdings" pitchFamily="2" charset="2"/>
              <a:buBlip>
                <a:blip r:embed="rId3"/>
              </a:buBlip>
            </a:pPr>
            <a:r>
              <a:rPr lang="zh-CN" altLang="en-US">
                <a:solidFill>
                  <a:srgbClr val="101016"/>
                </a:solidFill>
                <a:latin typeface="Arial" charset="0"/>
              </a:rPr>
              <a:t>中国诺基亚公司归芬兰人所有，所以该公司在中国经营得到的利润，虽是中国</a:t>
            </a:r>
            <a:r>
              <a:rPr lang="en-US" altLang="zh-CN">
                <a:solidFill>
                  <a:srgbClr val="101016"/>
                </a:solidFill>
                <a:latin typeface="Arial" charset="0"/>
              </a:rPr>
              <a:t>GDP</a:t>
            </a:r>
            <a:r>
              <a:rPr lang="zh-CN" altLang="en-US">
                <a:solidFill>
                  <a:srgbClr val="101016"/>
                </a:solidFill>
                <a:latin typeface="Arial" charset="0"/>
              </a:rPr>
              <a:t>一部分，但不被统计为中国</a:t>
            </a:r>
            <a:r>
              <a:rPr lang="en-US" altLang="zh-CN">
                <a:solidFill>
                  <a:srgbClr val="101016"/>
                </a:solidFill>
                <a:latin typeface="Arial" charset="0"/>
              </a:rPr>
              <a:t>GNP</a:t>
            </a:r>
            <a:r>
              <a:rPr lang="zh-CN" altLang="en-US">
                <a:solidFill>
                  <a:srgbClr val="101016"/>
                </a:solidFill>
                <a:latin typeface="Arial" charset="0"/>
              </a:rPr>
              <a:t>，而应归入芬兰</a:t>
            </a:r>
            <a:r>
              <a:rPr lang="en-US" altLang="zh-CN">
                <a:solidFill>
                  <a:srgbClr val="101016"/>
                </a:solidFill>
                <a:latin typeface="Arial" charset="0"/>
              </a:rPr>
              <a:t>GNP</a:t>
            </a:r>
            <a:r>
              <a:rPr lang="zh-CN" altLang="en-US">
                <a:solidFill>
                  <a:srgbClr val="101016"/>
                </a:solidFill>
                <a:latin typeface="Arial" charset="0"/>
              </a:rPr>
              <a:t>。</a:t>
            </a:r>
            <a:endParaRPr lang="en-US" altLang="zh-CN">
              <a:solidFill>
                <a:srgbClr val="101016"/>
              </a:solidFill>
              <a:latin typeface="Arial" charset="0"/>
            </a:endParaRPr>
          </a:p>
          <a:p>
            <a:pPr marL="95250" indent="-95250">
              <a:lnSpc>
                <a:spcPct val="120000"/>
              </a:lnSpc>
              <a:spcBef>
                <a:spcPct val="20000"/>
              </a:spcBef>
              <a:buClr>
                <a:schemeClr val="hlink"/>
              </a:buClr>
              <a:buFont typeface="Wingdings" pitchFamily="2" charset="2"/>
              <a:buBlip>
                <a:blip r:embed="rId3"/>
              </a:buBlip>
            </a:pPr>
            <a:r>
              <a:rPr lang="zh-CN" altLang="en-US">
                <a:solidFill>
                  <a:srgbClr val="101016"/>
                </a:solidFill>
                <a:latin typeface="Arial" charset="0"/>
              </a:rPr>
              <a:t>中国海尔在美国工厂的利润，应作为美国</a:t>
            </a:r>
            <a:r>
              <a:rPr lang="en-US" altLang="zh-CN">
                <a:solidFill>
                  <a:srgbClr val="101016"/>
                </a:solidFill>
                <a:latin typeface="Arial" charset="0"/>
              </a:rPr>
              <a:t>GDP</a:t>
            </a:r>
            <a:r>
              <a:rPr lang="zh-CN" altLang="en-US">
                <a:solidFill>
                  <a:srgbClr val="101016"/>
                </a:solidFill>
                <a:latin typeface="Arial" charset="0"/>
              </a:rPr>
              <a:t>一部分，但应被统计为中国的</a:t>
            </a:r>
            <a:r>
              <a:rPr lang="en-US" altLang="zh-CN">
                <a:solidFill>
                  <a:srgbClr val="101016"/>
                </a:solidFill>
                <a:latin typeface="Arial" charset="0"/>
              </a:rPr>
              <a:t>GNP</a:t>
            </a:r>
            <a:r>
              <a:rPr lang="zh-CN" altLang="en-US">
                <a:solidFill>
                  <a:srgbClr val="101016"/>
                </a:solidFill>
                <a:latin typeface="Arial" charset="0"/>
              </a:rPr>
              <a:t>。</a:t>
            </a:r>
            <a:endParaRPr lang="en-US" altLang="zh-CN">
              <a:solidFill>
                <a:srgbClr val="101016"/>
              </a:solidFill>
              <a:latin typeface="Arial" charset="0"/>
            </a:endParaRPr>
          </a:p>
          <a:p>
            <a:pPr marL="95250" indent="-95250">
              <a:lnSpc>
                <a:spcPct val="120000"/>
              </a:lnSpc>
              <a:spcBef>
                <a:spcPct val="20000"/>
              </a:spcBef>
              <a:buClr>
                <a:schemeClr val="hlink"/>
              </a:buClr>
              <a:buFont typeface="Wingdings" pitchFamily="2" charset="2"/>
              <a:buBlip>
                <a:blip r:embed="rId3"/>
              </a:buBlip>
            </a:pPr>
            <a:r>
              <a:rPr lang="zh-CN" altLang="en-US">
                <a:solidFill>
                  <a:srgbClr val="101016"/>
                </a:solidFill>
                <a:latin typeface="Arial" charset="0"/>
              </a:rPr>
              <a:t>随着国际经济联系加强，重视地域范围的</a:t>
            </a:r>
            <a:r>
              <a:rPr lang="en-US" altLang="zh-CN">
                <a:solidFill>
                  <a:srgbClr val="101016"/>
                </a:solidFill>
                <a:latin typeface="Arial" charset="0"/>
              </a:rPr>
              <a:t>GDP</a:t>
            </a:r>
            <a:r>
              <a:rPr lang="zh-CN" altLang="en-US">
                <a:solidFill>
                  <a:srgbClr val="101016"/>
                </a:solidFill>
                <a:latin typeface="Arial" charset="0"/>
              </a:rPr>
              <a:t>相对重要性上升。</a:t>
            </a:r>
          </a:p>
        </p:txBody>
      </p:sp>
      <p:sp>
        <p:nvSpPr>
          <p:cNvPr id="198665" name="AutoShape 9" descr="花束"/>
          <p:cNvSpPr>
            <a:spLocks noChangeArrowheads="1"/>
          </p:cNvSpPr>
          <p:nvPr/>
        </p:nvSpPr>
        <p:spPr bwMode="auto">
          <a:xfrm>
            <a:off x="1403350" y="3213100"/>
            <a:ext cx="7354888" cy="955675"/>
          </a:xfrm>
          <a:prstGeom prst="flowChartAlternateProcess">
            <a:avLst/>
          </a:prstGeom>
          <a:blipFill dpi="0" rotWithShape="0">
            <a:blip r:embed="rId2"/>
            <a:srcRect/>
            <a:tile tx="0" ty="0" sx="100000" sy="100000" flip="none" algn="tl"/>
          </a:blipFill>
          <a:ln w="76200">
            <a:solidFill>
              <a:srgbClr val="336600"/>
            </a:solidFill>
            <a:miter lim="800000"/>
            <a:headEnd/>
            <a:tailEnd/>
          </a:ln>
        </p:spPr>
        <p:txBody>
          <a:bodyPr>
            <a:spAutoFit/>
          </a:bodyPr>
          <a:lstStyle/>
          <a:p>
            <a:pPr>
              <a:lnSpc>
                <a:spcPct val="120000"/>
              </a:lnSpc>
              <a:buClr>
                <a:srgbClr val="660033"/>
              </a:buClr>
              <a:buSzPct val="95000"/>
              <a:buFont typeface="Wingdings" pitchFamily="2" charset="2"/>
              <a:buChar char="n"/>
            </a:pPr>
            <a:r>
              <a:rPr lang="en-US" altLang="zh-CN">
                <a:solidFill>
                  <a:srgbClr val="101016"/>
                </a:solidFill>
                <a:latin typeface="Arial" charset="0"/>
              </a:rPr>
              <a:t>GNP</a:t>
            </a:r>
            <a:r>
              <a:rPr lang="zh-CN" altLang="en-US">
                <a:solidFill>
                  <a:srgbClr val="101016"/>
                </a:solidFill>
                <a:latin typeface="Arial" charset="0"/>
              </a:rPr>
              <a:t>是个收入概念，</a:t>
            </a:r>
            <a:endParaRPr lang="en-US" altLang="zh-CN">
              <a:solidFill>
                <a:srgbClr val="101016"/>
              </a:solidFill>
              <a:latin typeface="Arial" charset="0"/>
            </a:endParaRPr>
          </a:p>
          <a:p>
            <a:pPr>
              <a:lnSpc>
                <a:spcPct val="120000"/>
              </a:lnSpc>
              <a:buClr>
                <a:srgbClr val="660033"/>
              </a:buClr>
              <a:buSzPct val="95000"/>
              <a:buFont typeface="Wingdings" pitchFamily="2" charset="2"/>
              <a:buChar char="n"/>
            </a:pPr>
            <a:r>
              <a:rPr lang="en-US" altLang="zh-CN">
                <a:solidFill>
                  <a:srgbClr val="101016"/>
                </a:solidFill>
                <a:latin typeface="Arial" charset="0"/>
              </a:rPr>
              <a:t>GDP</a:t>
            </a:r>
            <a:r>
              <a:rPr lang="zh-CN" altLang="en-US">
                <a:solidFill>
                  <a:srgbClr val="101016"/>
                </a:solidFill>
                <a:latin typeface="Arial" charset="0"/>
              </a:rPr>
              <a:t>是个生产概念。</a:t>
            </a:r>
            <a:r>
              <a:rPr lang="en-US" altLang="zh-CN">
                <a:solidFill>
                  <a:srgbClr val="101016"/>
                </a:solidFill>
                <a:latin typeface="Arial" charset="0"/>
              </a:rPr>
              <a:t> </a:t>
            </a:r>
          </a:p>
        </p:txBody>
      </p:sp>
      <p:sp>
        <p:nvSpPr>
          <p:cNvPr id="198668" name="Text Box 12"/>
          <p:cNvSpPr txBox="1">
            <a:spLocks noChangeArrowheads="1"/>
          </p:cNvSpPr>
          <p:nvPr/>
        </p:nvSpPr>
        <p:spPr bwMode="auto">
          <a:xfrm>
            <a:off x="458788" y="1989138"/>
            <a:ext cx="620712" cy="1079500"/>
          </a:xfrm>
          <a:prstGeom prst="rect">
            <a:avLst/>
          </a:prstGeom>
          <a:solidFill>
            <a:srgbClr val="000099"/>
          </a:solidFill>
          <a:ln w="9525">
            <a:solidFill>
              <a:srgbClr val="19692C"/>
            </a:solidFill>
            <a:miter lim="800000"/>
            <a:headEnd/>
            <a:tailEnd/>
          </a:ln>
        </p:spPr>
        <p:txBody>
          <a:bodyPr vert="eaVert">
            <a:spAutoFit/>
          </a:bodyPr>
          <a:lstStyle/>
          <a:p>
            <a:pPr>
              <a:spcBef>
                <a:spcPct val="50000"/>
              </a:spcBef>
            </a:pPr>
            <a:r>
              <a:rPr lang="zh-CN" altLang="en-US" sz="2800">
                <a:solidFill>
                  <a:schemeClr val="tx1"/>
                </a:solidFill>
                <a:latin typeface="Arial" charset="0"/>
              </a:rPr>
              <a:t>区别</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8668"/>
                                        </p:tgtEl>
                                        <p:attrNameLst>
                                          <p:attrName>style.visibility</p:attrName>
                                        </p:attrNameLst>
                                      </p:cBhvr>
                                      <p:to>
                                        <p:strVal val="visible"/>
                                      </p:to>
                                    </p:set>
                                    <p:animEffect transition="in" filter="blinds(horizontal)">
                                      <p:cBhvr>
                                        <p:cTn id="7" dur="500"/>
                                        <p:tgtEl>
                                          <p:spTgt spid="19866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98662">
                                            <p:bg/>
                                          </p:spTgt>
                                        </p:tgtEl>
                                        <p:attrNameLst>
                                          <p:attrName>style.visibility</p:attrName>
                                        </p:attrNameLst>
                                      </p:cBhvr>
                                      <p:to>
                                        <p:strVal val="visible"/>
                                      </p:to>
                                    </p:set>
                                    <p:animEffect transition="in" filter="blinds(horizontal)">
                                      <p:cBhvr>
                                        <p:cTn id="12" dur="500"/>
                                        <p:tgtEl>
                                          <p:spTgt spid="198662">
                                            <p:bg/>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98662">
                                            <p:txEl>
                                              <p:pRg st="0" end="0"/>
                                            </p:txEl>
                                          </p:spTgt>
                                        </p:tgtEl>
                                        <p:attrNameLst>
                                          <p:attrName>style.visibility</p:attrName>
                                        </p:attrNameLst>
                                      </p:cBhvr>
                                      <p:to>
                                        <p:strVal val="visible"/>
                                      </p:to>
                                    </p:set>
                                    <p:animEffect transition="in" filter="blinds(horizontal)">
                                      <p:cBhvr>
                                        <p:cTn id="17" dur="500"/>
                                        <p:tgtEl>
                                          <p:spTgt spid="198662">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98662">
                                            <p:txEl>
                                              <p:pRg st="1" end="1"/>
                                            </p:txEl>
                                          </p:spTgt>
                                        </p:tgtEl>
                                        <p:attrNameLst>
                                          <p:attrName>style.visibility</p:attrName>
                                        </p:attrNameLst>
                                      </p:cBhvr>
                                      <p:to>
                                        <p:strVal val="visible"/>
                                      </p:to>
                                    </p:set>
                                    <p:animEffect transition="in" filter="blinds(horizontal)">
                                      <p:cBhvr>
                                        <p:cTn id="22" dur="500"/>
                                        <p:tgtEl>
                                          <p:spTgt spid="198662">
                                            <p:txEl>
                                              <p:pRg st="1" end="1"/>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98665"/>
                                        </p:tgtEl>
                                        <p:attrNameLst>
                                          <p:attrName>style.visibility</p:attrName>
                                        </p:attrNameLst>
                                      </p:cBhvr>
                                      <p:to>
                                        <p:strVal val="visible"/>
                                      </p:to>
                                    </p:set>
                                    <p:animEffect transition="in" filter="blinds(horizontal)">
                                      <p:cBhvr>
                                        <p:cTn id="27" dur="500"/>
                                        <p:tgtEl>
                                          <p:spTgt spid="19866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198664"/>
                                        </p:tgtEl>
                                        <p:attrNameLst>
                                          <p:attrName>style.visibility</p:attrName>
                                        </p:attrNameLst>
                                      </p:cBhvr>
                                      <p:to>
                                        <p:strVal val="visible"/>
                                      </p:to>
                                    </p:set>
                                    <p:animEffect transition="in" filter="box(in)">
                                      <p:cBhvr>
                                        <p:cTn id="32" dur="500"/>
                                        <p:tgtEl>
                                          <p:spTgt spid="1986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662" grpId="0" build="p" animBg="1"/>
      <p:bldP spid="198664" grpId="0" animBg="1"/>
      <p:bldP spid="198665" grpId="0" animBg="1"/>
      <p:bldP spid="19866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2"/>
          <p:cNvSpPr>
            <a:spLocks noGrp="1" noChangeArrowheads="1"/>
          </p:cNvSpPr>
          <p:nvPr>
            <p:ph type="title"/>
          </p:nvPr>
        </p:nvSpPr>
        <p:spPr>
          <a:extLst/>
        </p:spPr>
        <p:txBody>
          <a:bodyPr/>
          <a:lstStyle/>
          <a:p>
            <a:pPr eaLnBrk="1" hangingPunct="1">
              <a:defRPr/>
            </a:pPr>
            <a:r>
              <a:rPr lang="en-US" altLang="zh-CN"/>
              <a:t>GDP</a:t>
            </a:r>
            <a:r>
              <a:rPr lang="zh-CN" altLang="en-US"/>
              <a:t>的缺陷</a:t>
            </a:r>
          </a:p>
        </p:txBody>
      </p:sp>
      <p:sp>
        <p:nvSpPr>
          <p:cNvPr id="254979" name="Rectangle 3" descr="花束"/>
          <p:cNvSpPr>
            <a:spLocks noGrp="1" noChangeArrowheads="1"/>
          </p:cNvSpPr>
          <p:nvPr>
            <p:ph type="body" idx="1"/>
          </p:nvPr>
        </p:nvSpPr>
        <p:spPr>
          <a:xfrm>
            <a:off x="395288" y="4149725"/>
            <a:ext cx="8229600" cy="533400"/>
          </a:xfrm>
          <a:blipFill dpi="0" rotWithShape="0">
            <a:blip r:embed="rId2">
              <a:alphaModFix amt="73000"/>
            </a:blip>
            <a:srcRect/>
            <a:tile tx="0" ty="0" sx="100000" sy="100000" flip="none" algn="tl"/>
          </a:blipFill>
          <a:ln w="76200" cmpd="sng">
            <a:solidFill>
              <a:srgbClr val="336600"/>
            </a:solidFill>
          </a:ln>
        </p:spPr>
        <p:txBody>
          <a:bodyPr/>
          <a:lstStyle/>
          <a:p>
            <a:pPr eaLnBrk="1" hangingPunct="1">
              <a:spcBef>
                <a:spcPts val="600"/>
              </a:spcBef>
              <a:buSzPct val="95000"/>
              <a:buFont typeface="Wingdings" pitchFamily="2" charset="2"/>
              <a:buChar char="u"/>
            </a:pPr>
            <a:r>
              <a:rPr lang="zh-CN" altLang="en-US" smtClean="0"/>
              <a:t>绿色</a:t>
            </a:r>
            <a:r>
              <a:rPr lang="en-US" altLang="zh-CN" smtClean="0"/>
              <a:t>GDP——</a:t>
            </a:r>
            <a:r>
              <a:rPr lang="zh-CN" altLang="en-US" smtClean="0"/>
              <a:t>扣除经济活动中投入的</a:t>
            </a:r>
            <a:r>
              <a:rPr lang="zh-CN" altLang="en-US" smtClean="0">
                <a:solidFill>
                  <a:srgbClr val="04CC2A"/>
                </a:solidFill>
              </a:rPr>
              <a:t>环境成本</a:t>
            </a:r>
            <a:r>
              <a:rPr lang="zh-CN" altLang="en-US" smtClean="0"/>
              <a:t>而统计的</a:t>
            </a:r>
            <a:r>
              <a:rPr lang="en-US" altLang="zh-CN" smtClean="0"/>
              <a:t>GDP</a:t>
            </a:r>
            <a:r>
              <a:rPr lang="zh-CN" altLang="en-US" smtClean="0"/>
              <a:t>。</a:t>
            </a:r>
            <a:r>
              <a:rPr lang="en-US" altLang="zh-CN" smtClean="0"/>
              <a:t> </a:t>
            </a:r>
          </a:p>
        </p:txBody>
      </p:sp>
      <p:sp>
        <p:nvSpPr>
          <p:cNvPr id="254980" name="Rectangle 4" descr="纸莎草纸"/>
          <p:cNvSpPr>
            <a:spLocks noChangeArrowheads="1"/>
          </p:cNvSpPr>
          <p:nvPr/>
        </p:nvSpPr>
        <p:spPr bwMode="auto">
          <a:xfrm>
            <a:off x="395288" y="1341438"/>
            <a:ext cx="8229600" cy="1152525"/>
          </a:xfrm>
          <a:prstGeom prst="rect">
            <a:avLst/>
          </a:prstGeom>
          <a:blipFill dpi="0" rotWithShape="0">
            <a:blip r:embed="rId3"/>
            <a:srcRect/>
            <a:tile tx="0" ty="0" sx="100000" sy="100000" flip="none" algn="tl"/>
          </a:blipFill>
          <a:ln w="57150" cmpd="thickThin">
            <a:solidFill>
              <a:srgbClr val="CCCC00"/>
            </a:solidFill>
            <a:miter lim="800000"/>
            <a:headEnd/>
            <a:tailEnd/>
          </a:ln>
        </p:spPr>
        <p:txBody>
          <a:bodyPr/>
          <a:lstStyle/>
          <a:p>
            <a:r>
              <a:rPr lang="zh-CN" altLang="en-US">
                <a:solidFill>
                  <a:srgbClr val="101016"/>
                </a:solidFill>
                <a:latin typeface="Arial" charset="0"/>
              </a:rPr>
              <a:t>（</a:t>
            </a:r>
            <a:r>
              <a:rPr lang="en-US" altLang="zh-CN">
                <a:solidFill>
                  <a:srgbClr val="101016"/>
                </a:solidFill>
                <a:latin typeface="Arial" charset="0"/>
              </a:rPr>
              <a:t>1</a:t>
            </a:r>
            <a:r>
              <a:rPr lang="zh-CN" altLang="en-US">
                <a:solidFill>
                  <a:srgbClr val="101016"/>
                </a:solidFill>
                <a:latin typeface="Arial" charset="0"/>
              </a:rPr>
              <a:t>）很多经济活动无法计入</a:t>
            </a:r>
            <a:r>
              <a:rPr lang="en-US" altLang="zh-CN">
                <a:solidFill>
                  <a:srgbClr val="101016"/>
                </a:solidFill>
                <a:latin typeface="Arial" charset="0"/>
              </a:rPr>
              <a:t>GDP</a:t>
            </a:r>
            <a:r>
              <a:rPr lang="zh-CN" altLang="en-US">
                <a:solidFill>
                  <a:srgbClr val="101016"/>
                </a:solidFill>
                <a:latin typeface="Arial" charset="0"/>
              </a:rPr>
              <a:t>。</a:t>
            </a:r>
            <a:endParaRPr lang="en-US" altLang="zh-CN">
              <a:solidFill>
                <a:srgbClr val="101016"/>
              </a:solidFill>
              <a:latin typeface="Arial" charset="0"/>
            </a:endParaRPr>
          </a:p>
          <a:p>
            <a:r>
              <a:rPr lang="zh-CN" altLang="en-US">
                <a:solidFill>
                  <a:srgbClr val="101016"/>
                </a:solidFill>
                <a:latin typeface="Arial" charset="0"/>
              </a:rPr>
              <a:t>例如，一些没有经过市场交换程序的经济活动，如</a:t>
            </a:r>
            <a:r>
              <a:rPr lang="zh-CN" altLang="en-US">
                <a:solidFill>
                  <a:srgbClr val="FF00FF"/>
                </a:solidFill>
                <a:latin typeface="Arial" charset="0"/>
              </a:rPr>
              <a:t>家务劳动，地下经济，</a:t>
            </a:r>
            <a:r>
              <a:rPr lang="en-US" altLang="zh-CN">
                <a:solidFill>
                  <a:srgbClr val="FF00FF"/>
                </a:solidFill>
                <a:latin typeface="Arial" charset="0"/>
              </a:rPr>
              <a:t>DIY</a:t>
            </a:r>
            <a:r>
              <a:rPr lang="zh-CN" altLang="en-US">
                <a:solidFill>
                  <a:srgbClr val="FF00FF"/>
                </a:solidFill>
                <a:latin typeface="Arial" charset="0"/>
              </a:rPr>
              <a:t>活动</a:t>
            </a:r>
            <a:r>
              <a:rPr lang="zh-CN" altLang="en-US">
                <a:solidFill>
                  <a:srgbClr val="101016"/>
                </a:solidFill>
                <a:latin typeface="Arial" charset="0"/>
              </a:rPr>
              <a:t>等，不在</a:t>
            </a:r>
            <a:r>
              <a:rPr lang="en-US" altLang="zh-CN">
                <a:solidFill>
                  <a:srgbClr val="101016"/>
                </a:solidFill>
                <a:latin typeface="Arial" charset="0"/>
              </a:rPr>
              <a:t>GDP</a:t>
            </a:r>
            <a:r>
              <a:rPr lang="zh-CN" altLang="en-US">
                <a:solidFill>
                  <a:srgbClr val="101016"/>
                </a:solidFill>
                <a:latin typeface="Arial" charset="0"/>
              </a:rPr>
              <a:t>统计范围以内。</a:t>
            </a:r>
          </a:p>
        </p:txBody>
      </p:sp>
      <p:sp>
        <p:nvSpPr>
          <p:cNvPr id="254981" name="Rectangle 5" descr="纸莎草纸"/>
          <p:cNvSpPr>
            <a:spLocks noChangeArrowheads="1"/>
          </p:cNvSpPr>
          <p:nvPr/>
        </p:nvSpPr>
        <p:spPr bwMode="auto">
          <a:xfrm>
            <a:off x="395288" y="2638425"/>
            <a:ext cx="8229600" cy="1223963"/>
          </a:xfrm>
          <a:prstGeom prst="rect">
            <a:avLst/>
          </a:prstGeom>
          <a:blipFill dpi="0" rotWithShape="0">
            <a:blip r:embed="rId3"/>
            <a:srcRect/>
            <a:tile tx="0" ty="0" sx="100000" sy="100000" flip="none" algn="tl"/>
          </a:blipFill>
          <a:ln w="57150" cmpd="thickThin">
            <a:solidFill>
              <a:srgbClr val="CCCC00"/>
            </a:solidFill>
            <a:miter lim="800000"/>
            <a:headEnd/>
            <a:tailEnd/>
          </a:ln>
        </p:spPr>
        <p:txBody>
          <a:bodyPr/>
          <a:lstStyle/>
          <a:p>
            <a:r>
              <a:rPr lang="zh-CN" altLang="en-US">
                <a:solidFill>
                  <a:srgbClr val="101016"/>
                </a:solidFill>
                <a:latin typeface="Arial" charset="0"/>
              </a:rPr>
              <a:t>（</a:t>
            </a:r>
            <a:r>
              <a:rPr lang="en-US" altLang="zh-CN">
                <a:solidFill>
                  <a:srgbClr val="101016"/>
                </a:solidFill>
                <a:latin typeface="Arial" charset="0"/>
              </a:rPr>
              <a:t>2</a:t>
            </a:r>
            <a:r>
              <a:rPr lang="zh-CN" altLang="en-US">
                <a:solidFill>
                  <a:srgbClr val="101016"/>
                </a:solidFill>
                <a:latin typeface="Arial" charset="0"/>
              </a:rPr>
              <a:t>）</a:t>
            </a:r>
            <a:r>
              <a:rPr lang="en-US" altLang="zh-CN">
                <a:solidFill>
                  <a:srgbClr val="101016"/>
                </a:solidFill>
                <a:latin typeface="Arial" charset="0"/>
              </a:rPr>
              <a:t>GDP</a:t>
            </a:r>
            <a:r>
              <a:rPr lang="zh-CN" altLang="en-US">
                <a:solidFill>
                  <a:srgbClr val="101016"/>
                </a:solidFill>
                <a:latin typeface="Arial" charset="0"/>
              </a:rPr>
              <a:t>反映福利水平变动存在较大局限性。</a:t>
            </a:r>
            <a:endParaRPr lang="en-US" altLang="zh-CN">
              <a:solidFill>
                <a:srgbClr val="101016"/>
              </a:solidFill>
              <a:latin typeface="Arial" charset="0"/>
            </a:endParaRPr>
          </a:p>
          <a:p>
            <a:r>
              <a:rPr lang="en-US" altLang="zh-CN">
                <a:solidFill>
                  <a:srgbClr val="101016"/>
                </a:solidFill>
                <a:latin typeface="Arial" charset="0"/>
              </a:rPr>
              <a:t>GDP</a:t>
            </a:r>
            <a:r>
              <a:rPr lang="zh-CN" altLang="en-US">
                <a:solidFill>
                  <a:srgbClr val="101016"/>
                </a:solidFill>
                <a:latin typeface="Arial" charset="0"/>
              </a:rPr>
              <a:t>反映产量变动，但</a:t>
            </a:r>
            <a:r>
              <a:rPr lang="zh-CN" altLang="en-US">
                <a:solidFill>
                  <a:srgbClr val="FF00FF"/>
                </a:solidFill>
                <a:latin typeface="Arial" charset="0"/>
              </a:rPr>
              <a:t>产量变动</a:t>
            </a:r>
            <a:r>
              <a:rPr lang="zh-CN" altLang="en-US">
                <a:solidFill>
                  <a:srgbClr val="101016"/>
                </a:solidFill>
                <a:latin typeface="Arial" charset="0"/>
              </a:rPr>
              <a:t>并不能反映</a:t>
            </a:r>
            <a:r>
              <a:rPr lang="zh-CN" altLang="en-US">
                <a:solidFill>
                  <a:srgbClr val="FF00FF"/>
                </a:solidFill>
                <a:latin typeface="Arial" charset="0"/>
              </a:rPr>
              <a:t>福利变动</a:t>
            </a:r>
            <a:r>
              <a:rPr lang="zh-CN" altLang="en-US">
                <a:solidFill>
                  <a:srgbClr val="101016"/>
                </a:solidFill>
                <a:latin typeface="Arial" charset="0"/>
              </a:rPr>
              <a:t>，即：产量变动并不能反映</a:t>
            </a:r>
            <a:r>
              <a:rPr lang="zh-CN" altLang="en-US">
                <a:solidFill>
                  <a:srgbClr val="6600FF"/>
                </a:solidFill>
                <a:latin typeface="Arial" charset="0"/>
              </a:rPr>
              <a:t>精神满足程度，闲暇福利，分配状态，环境质量</a:t>
            </a:r>
            <a:r>
              <a:rPr lang="zh-CN" altLang="en-US">
                <a:solidFill>
                  <a:srgbClr val="101016"/>
                </a:solidFill>
                <a:latin typeface="Arial" charset="0"/>
              </a:rPr>
              <a:t>等。</a:t>
            </a:r>
          </a:p>
        </p:txBody>
      </p:sp>
      <p:sp>
        <p:nvSpPr>
          <p:cNvPr id="254982" name="Rectangle 6" descr="水滴"/>
          <p:cNvSpPr>
            <a:spLocks noChangeArrowheads="1"/>
          </p:cNvSpPr>
          <p:nvPr/>
        </p:nvSpPr>
        <p:spPr bwMode="auto">
          <a:xfrm>
            <a:off x="395288" y="4941888"/>
            <a:ext cx="8208962" cy="1244600"/>
          </a:xfrm>
          <a:prstGeom prst="rect">
            <a:avLst/>
          </a:prstGeom>
          <a:blipFill dpi="0" rotWithShape="0">
            <a:blip r:embed="rId4">
              <a:alphaModFix amt="42000"/>
            </a:blip>
            <a:srcRect/>
            <a:tile tx="0" ty="0" sx="100000" sy="100000" flip="none" algn="tl"/>
          </a:blipFill>
          <a:ln w="57150" cmpd="thickThin">
            <a:solidFill>
              <a:srgbClr val="000099"/>
            </a:solidFill>
            <a:miter lim="800000"/>
            <a:headEnd/>
            <a:tailEnd/>
          </a:ln>
        </p:spPr>
        <p:txBody>
          <a:bodyPr>
            <a:spAutoFit/>
          </a:bodyPr>
          <a:lstStyle/>
          <a:p>
            <a:pPr>
              <a:lnSpc>
                <a:spcPct val="120000"/>
              </a:lnSpc>
              <a:buClr>
                <a:srgbClr val="FF0000"/>
              </a:buClr>
              <a:buSzPct val="95000"/>
              <a:buFont typeface="Wingdings" pitchFamily="2" charset="2"/>
              <a:buChar char="n"/>
            </a:pPr>
            <a:r>
              <a:rPr lang="zh-CN" altLang="en-US">
                <a:solidFill>
                  <a:srgbClr val="000000"/>
                </a:solidFill>
                <a:latin typeface="Arial" charset="0"/>
              </a:rPr>
              <a:t>绿色</a:t>
            </a:r>
            <a:r>
              <a:rPr lang="en-US" altLang="zh-CN">
                <a:solidFill>
                  <a:srgbClr val="000000"/>
                </a:solidFill>
                <a:latin typeface="Arial" charset="0"/>
              </a:rPr>
              <a:t>GDP</a:t>
            </a:r>
            <a:r>
              <a:rPr lang="zh-CN" altLang="en-US">
                <a:solidFill>
                  <a:srgbClr val="000000"/>
                </a:solidFill>
                <a:latin typeface="Arial" charset="0"/>
              </a:rPr>
              <a:t>是对</a:t>
            </a:r>
            <a:r>
              <a:rPr lang="en-US" altLang="zh-CN">
                <a:solidFill>
                  <a:srgbClr val="000000"/>
                </a:solidFill>
                <a:latin typeface="Arial" charset="0"/>
              </a:rPr>
              <a:t>GDP</a:t>
            </a:r>
            <a:r>
              <a:rPr lang="zh-CN" altLang="en-US">
                <a:solidFill>
                  <a:srgbClr val="000000"/>
                </a:solidFill>
                <a:latin typeface="Arial" charset="0"/>
              </a:rPr>
              <a:t>指标的一种调整。但目前中国实践，面临着许多技术、观念和制度方面的障碍。</a:t>
            </a:r>
            <a:endParaRPr lang="en-US" altLang="zh-CN">
              <a:solidFill>
                <a:srgbClr val="000000"/>
              </a:solidFill>
              <a:latin typeface="Arial" charset="0"/>
            </a:endParaRPr>
          </a:p>
          <a:p>
            <a:pPr>
              <a:lnSpc>
                <a:spcPct val="120000"/>
              </a:lnSpc>
              <a:buClr>
                <a:srgbClr val="FF0000"/>
              </a:buClr>
              <a:buSzPct val="95000"/>
              <a:buFont typeface="Wingdings" pitchFamily="2" charset="2"/>
              <a:buChar char="n"/>
            </a:pPr>
            <a:r>
              <a:rPr lang="zh-CN" altLang="en-US">
                <a:solidFill>
                  <a:srgbClr val="000000"/>
                </a:solidFill>
                <a:latin typeface="Arial" charset="0"/>
              </a:rPr>
              <a:t>挪威、芬兰、法国、美国、墨西哥等率先实行了绿色</a:t>
            </a:r>
            <a:r>
              <a:rPr lang="en-US" altLang="zh-CN">
                <a:solidFill>
                  <a:srgbClr val="000000"/>
                </a:solidFill>
                <a:latin typeface="Arial" charset="0"/>
              </a:rPr>
              <a:t>GDP </a:t>
            </a:r>
            <a:r>
              <a:rPr lang="zh-CN" altLang="en-US">
                <a:solidFill>
                  <a:srgbClr val="000000"/>
                </a:solidFill>
                <a:latin typeface="Arial" charset="0"/>
              </a:rPr>
              <a:t>。</a:t>
            </a:r>
          </a:p>
        </p:txBody>
      </p:sp>
      <p:sp>
        <p:nvSpPr>
          <p:cNvPr id="254983" name="AutoShape 7"/>
          <p:cNvSpPr>
            <a:spLocks noChangeArrowheads="1"/>
          </p:cNvSpPr>
          <p:nvPr/>
        </p:nvSpPr>
        <p:spPr bwMode="auto">
          <a:xfrm>
            <a:off x="5724525" y="188913"/>
            <a:ext cx="2951163" cy="1152525"/>
          </a:xfrm>
          <a:prstGeom prst="wedgeRoundRectCallout">
            <a:avLst>
              <a:gd name="adj1" fmla="val -64417"/>
              <a:gd name="adj2" fmla="val -3444"/>
              <a:gd name="adj3" fmla="val 16667"/>
            </a:avLst>
          </a:prstGeom>
          <a:solidFill>
            <a:schemeClr val="tx1"/>
          </a:solidFill>
          <a:ln w="9525">
            <a:solidFill>
              <a:schemeClr val="tx1"/>
            </a:solidFill>
            <a:miter lim="800000"/>
            <a:headEnd/>
            <a:tailEnd/>
          </a:ln>
        </p:spPr>
        <p:txBody>
          <a:bodyPr/>
          <a:lstStyle/>
          <a:p>
            <a:r>
              <a:rPr lang="en-US" altLang="zh-CN">
                <a:solidFill>
                  <a:srgbClr val="101016"/>
                </a:solidFill>
                <a:latin typeface="Arial" charset="0"/>
              </a:rPr>
              <a:t>GDP</a:t>
            </a:r>
            <a:r>
              <a:rPr lang="zh-CN" altLang="en-US">
                <a:solidFill>
                  <a:srgbClr val="101016"/>
                </a:solidFill>
                <a:latin typeface="Arial" charset="0"/>
              </a:rPr>
              <a:t>虽是反映国民经济总量活动的最重要指标，但仍存在一些问题。</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54983"/>
                                        </p:tgtEl>
                                        <p:attrNameLst>
                                          <p:attrName>style.visibility</p:attrName>
                                        </p:attrNameLst>
                                      </p:cBhvr>
                                      <p:to>
                                        <p:strVal val="visible"/>
                                      </p:to>
                                    </p:set>
                                    <p:anim calcmode="lin" valueType="num">
                                      <p:cBhvr additive="base">
                                        <p:cTn id="7" dur="500" fill="hold"/>
                                        <p:tgtEl>
                                          <p:spTgt spid="254983"/>
                                        </p:tgtEl>
                                        <p:attrNameLst>
                                          <p:attrName>ppt_x</p:attrName>
                                        </p:attrNameLst>
                                      </p:cBhvr>
                                      <p:tavLst>
                                        <p:tav tm="0">
                                          <p:val>
                                            <p:strVal val="#ppt_x"/>
                                          </p:val>
                                        </p:tav>
                                        <p:tav tm="100000">
                                          <p:val>
                                            <p:strVal val="#ppt_x"/>
                                          </p:val>
                                        </p:tav>
                                      </p:tavLst>
                                    </p:anim>
                                    <p:anim calcmode="lin" valueType="num">
                                      <p:cBhvr additive="base">
                                        <p:cTn id="8" dur="500" fill="hold"/>
                                        <p:tgtEl>
                                          <p:spTgt spid="25498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254980"/>
                                        </p:tgtEl>
                                        <p:attrNameLst>
                                          <p:attrName>style.visibility</p:attrName>
                                        </p:attrNameLst>
                                      </p:cBhvr>
                                      <p:to>
                                        <p:strVal val="visible"/>
                                      </p:to>
                                    </p:set>
                                    <p:animEffect transition="in" filter="blinds(horizontal)">
                                      <p:cBhvr>
                                        <p:cTn id="13" dur="500"/>
                                        <p:tgtEl>
                                          <p:spTgt spid="254980"/>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254981"/>
                                        </p:tgtEl>
                                        <p:attrNameLst>
                                          <p:attrName>style.visibility</p:attrName>
                                        </p:attrNameLst>
                                      </p:cBhvr>
                                      <p:to>
                                        <p:strVal val="visible"/>
                                      </p:to>
                                    </p:set>
                                    <p:animEffect transition="in" filter="blinds(horizontal)">
                                      <p:cBhvr>
                                        <p:cTn id="18" dur="500"/>
                                        <p:tgtEl>
                                          <p:spTgt spid="254981"/>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254979">
                                            <p:bg/>
                                          </p:spTgt>
                                        </p:tgtEl>
                                        <p:attrNameLst>
                                          <p:attrName>style.visibility</p:attrName>
                                        </p:attrNameLst>
                                      </p:cBhvr>
                                      <p:to>
                                        <p:strVal val="visible"/>
                                      </p:to>
                                    </p:set>
                                    <p:animEffect transition="in" filter="blinds(horizontal)">
                                      <p:cBhvr>
                                        <p:cTn id="23" dur="500"/>
                                        <p:tgtEl>
                                          <p:spTgt spid="254979">
                                            <p:bg/>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254979">
                                            <p:txEl>
                                              <p:pRg st="0" end="0"/>
                                            </p:txEl>
                                          </p:spTgt>
                                        </p:tgtEl>
                                        <p:attrNameLst>
                                          <p:attrName>style.visibility</p:attrName>
                                        </p:attrNameLst>
                                      </p:cBhvr>
                                      <p:to>
                                        <p:strVal val="visible"/>
                                      </p:to>
                                    </p:set>
                                    <p:animEffect transition="in" filter="blinds(horizontal)">
                                      <p:cBhvr>
                                        <p:cTn id="28" dur="500"/>
                                        <p:tgtEl>
                                          <p:spTgt spid="254979">
                                            <p:txEl>
                                              <p:pRg st="0" end="0"/>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254982"/>
                                        </p:tgtEl>
                                        <p:attrNameLst>
                                          <p:attrName>style.visibility</p:attrName>
                                        </p:attrNameLst>
                                      </p:cBhvr>
                                      <p:to>
                                        <p:strVal val="visible"/>
                                      </p:to>
                                    </p:set>
                                    <p:animEffect transition="in" filter="blinds(horizontal)">
                                      <p:cBhvr>
                                        <p:cTn id="33" dur="500"/>
                                        <p:tgtEl>
                                          <p:spTgt spid="2549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4979" grpId="0" build="p" animBg="1"/>
      <p:bldP spid="254980" grpId="0" animBg="1"/>
      <p:bldP spid="254981" grpId="0" animBg="1"/>
      <p:bldP spid="254982" grpId="0" animBg="1"/>
      <p:bldP spid="25498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title"/>
          </p:nvPr>
        </p:nvSpPr>
        <p:spPr>
          <a:extLst/>
        </p:spPr>
        <p:txBody>
          <a:bodyPr/>
          <a:lstStyle/>
          <a:p>
            <a:pPr eaLnBrk="1" hangingPunct="1">
              <a:defRPr/>
            </a:pPr>
            <a:r>
              <a:rPr lang="zh-CN" altLang="en-US"/>
              <a:t>第三节</a:t>
            </a:r>
            <a:r>
              <a:rPr lang="en-US" altLang="zh-CN"/>
              <a:t>  </a:t>
            </a:r>
            <a:r>
              <a:rPr lang="zh-CN" altLang="en-US"/>
              <a:t>国内生产总值的计算方法</a:t>
            </a:r>
          </a:p>
        </p:txBody>
      </p:sp>
      <p:sp>
        <p:nvSpPr>
          <p:cNvPr id="131081" name="AutoShape 9" descr="花束"/>
          <p:cNvSpPr>
            <a:spLocks noChangeArrowheads="1"/>
          </p:cNvSpPr>
          <p:nvPr/>
        </p:nvSpPr>
        <p:spPr bwMode="auto">
          <a:xfrm>
            <a:off x="236538" y="836613"/>
            <a:ext cx="8907462" cy="4841875"/>
          </a:xfrm>
          <a:prstGeom prst="horizontalScroll">
            <a:avLst>
              <a:gd name="adj" fmla="val 12500"/>
            </a:avLst>
          </a:prstGeom>
          <a:blipFill dpi="0" rotWithShape="0">
            <a:blip r:embed="rId2"/>
            <a:srcRect/>
            <a:tile tx="0" ty="0" sx="100000" sy="100000" flip="none" algn="tl"/>
          </a:blipFill>
          <a:ln w="76200">
            <a:solidFill>
              <a:srgbClr val="336600"/>
            </a:solidFill>
            <a:miter lim="800000"/>
            <a:headEnd/>
            <a:tailEnd/>
          </a:ln>
        </p:spPr>
        <p:txBody>
          <a:bodyPr>
            <a:spAutoFit/>
          </a:bodyPr>
          <a:lstStyle/>
          <a:p>
            <a:pPr>
              <a:lnSpc>
                <a:spcPct val="130000"/>
              </a:lnSpc>
              <a:spcBef>
                <a:spcPct val="20000"/>
              </a:spcBef>
              <a:buClr>
                <a:schemeClr val="hlink"/>
              </a:buClr>
              <a:buSzPct val="95000"/>
              <a:buFont typeface="Wingdings" pitchFamily="2" charset="2"/>
              <a:buChar char="p"/>
            </a:pPr>
            <a:r>
              <a:rPr lang="zh-CN" altLang="en-US"/>
              <a:t> </a:t>
            </a:r>
            <a:r>
              <a:rPr lang="zh-CN" altLang="en-US" sz="2400">
                <a:solidFill>
                  <a:srgbClr val="220420"/>
                </a:solidFill>
              </a:rPr>
              <a:t>经济社会的总收入、总支出与总产出三个变量的数值是相等的。可以得出恒等式：</a:t>
            </a:r>
          </a:p>
          <a:p>
            <a:pPr>
              <a:lnSpc>
                <a:spcPct val="130000"/>
              </a:lnSpc>
              <a:spcBef>
                <a:spcPct val="20000"/>
              </a:spcBef>
              <a:buClr>
                <a:schemeClr val="hlink"/>
              </a:buClr>
              <a:buSzPct val="95000"/>
              <a:buFont typeface="Wingdings" pitchFamily="2" charset="2"/>
              <a:buChar char="p"/>
            </a:pPr>
            <a:endParaRPr lang="zh-CN" altLang="en-US" sz="2400">
              <a:solidFill>
                <a:srgbClr val="220420"/>
              </a:solidFill>
            </a:endParaRPr>
          </a:p>
          <a:p>
            <a:pPr>
              <a:lnSpc>
                <a:spcPct val="130000"/>
              </a:lnSpc>
              <a:spcBef>
                <a:spcPct val="20000"/>
              </a:spcBef>
              <a:buClr>
                <a:schemeClr val="hlink"/>
              </a:buClr>
              <a:buSzPct val="95000"/>
              <a:buFont typeface="Wingdings" pitchFamily="2" charset="2"/>
              <a:buChar char="p"/>
            </a:pPr>
            <a:r>
              <a:rPr lang="en-US" altLang="zh-CN" sz="2400">
                <a:solidFill>
                  <a:srgbClr val="220420"/>
                </a:solidFill>
              </a:rPr>
              <a:t>       </a:t>
            </a:r>
            <a:r>
              <a:rPr lang="zh-CN" altLang="en-US" sz="2400">
                <a:solidFill>
                  <a:srgbClr val="220420"/>
                </a:solidFill>
              </a:rPr>
              <a:t>总产出 </a:t>
            </a:r>
            <a:r>
              <a:rPr lang="en-US" altLang="zh-CN" sz="2400">
                <a:solidFill>
                  <a:srgbClr val="220420"/>
                </a:solidFill>
              </a:rPr>
              <a:t>= </a:t>
            </a:r>
            <a:r>
              <a:rPr lang="zh-CN" altLang="en-US" sz="2400">
                <a:solidFill>
                  <a:srgbClr val="220420"/>
                </a:solidFill>
              </a:rPr>
              <a:t>总支出 </a:t>
            </a:r>
            <a:r>
              <a:rPr lang="en-US" altLang="zh-CN" sz="2400">
                <a:solidFill>
                  <a:srgbClr val="220420"/>
                </a:solidFill>
              </a:rPr>
              <a:t>= </a:t>
            </a:r>
            <a:r>
              <a:rPr lang="zh-CN" altLang="en-US" sz="2400">
                <a:solidFill>
                  <a:srgbClr val="220420"/>
                </a:solidFill>
              </a:rPr>
              <a:t>总收入。</a:t>
            </a:r>
            <a:br>
              <a:rPr lang="zh-CN" altLang="en-US" sz="2400">
                <a:solidFill>
                  <a:srgbClr val="220420"/>
                </a:solidFill>
              </a:rPr>
            </a:br>
            <a:r>
              <a:rPr lang="zh-CN" altLang="en-US" sz="2400">
                <a:solidFill>
                  <a:srgbClr val="220420"/>
                </a:solidFill>
              </a:rPr>
              <a:t>   </a:t>
            </a:r>
          </a:p>
          <a:p>
            <a:pPr>
              <a:lnSpc>
                <a:spcPct val="130000"/>
              </a:lnSpc>
              <a:spcBef>
                <a:spcPct val="20000"/>
              </a:spcBef>
              <a:buClr>
                <a:schemeClr val="hlink"/>
              </a:buClr>
              <a:buSzPct val="95000"/>
              <a:buFont typeface="Wingdings" pitchFamily="2" charset="2"/>
              <a:buChar char="p"/>
            </a:pPr>
            <a:r>
              <a:rPr lang="zh-CN" altLang="en-US" sz="2400">
                <a:solidFill>
                  <a:srgbClr val="220420"/>
                </a:solidFill>
              </a:rPr>
              <a:t> </a:t>
            </a:r>
            <a:r>
              <a:rPr lang="en-US" altLang="zh-CN" sz="2400">
                <a:solidFill>
                  <a:srgbClr val="220420"/>
                </a:solidFill>
              </a:rPr>
              <a:t>GDP</a:t>
            </a:r>
            <a:r>
              <a:rPr lang="zh-CN" altLang="en-US" sz="2400">
                <a:solidFill>
                  <a:srgbClr val="220420"/>
                </a:solidFill>
              </a:rPr>
              <a:t>有三种计算方法：支出法、收入法和生产法。</a:t>
            </a:r>
          </a:p>
          <a:p>
            <a:pPr>
              <a:spcBef>
                <a:spcPct val="20000"/>
              </a:spcBef>
            </a:pPr>
            <a:endParaRPr lang="zh-CN" altLang="en-US" sz="2400">
              <a:solidFill>
                <a:srgbClr val="220420"/>
              </a:solidFill>
              <a:latin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31081"/>
                                        </p:tgtEl>
                                        <p:attrNameLst>
                                          <p:attrName>style.visibility</p:attrName>
                                        </p:attrNameLst>
                                      </p:cBhvr>
                                      <p:to>
                                        <p:strVal val="visible"/>
                                      </p:to>
                                    </p:set>
                                    <p:animEffect transition="in" filter="box(in)">
                                      <p:cBhvr>
                                        <p:cTn id="7" dur="500"/>
                                        <p:tgtEl>
                                          <p:spTgt spid="1310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08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Rectangle 2"/>
          <p:cNvSpPr>
            <a:spLocks noGrp="1" noChangeArrowheads="1"/>
          </p:cNvSpPr>
          <p:nvPr>
            <p:ph type="title"/>
          </p:nvPr>
        </p:nvSpPr>
        <p:spPr>
          <a:extLst/>
        </p:spPr>
        <p:txBody>
          <a:bodyPr/>
          <a:lstStyle/>
          <a:p>
            <a:pPr eaLnBrk="1" hangingPunct="1">
              <a:defRPr/>
            </a:pPr>
            <a:r>
              <a:rPr lang="zh-CN" altLang="en-US"/>
              <a:t>第三节</a:t>
            </a:r>
            <a:r>
              <a:rPr lang="en-US" altLang="zh-CN"/>
              <a:t>  </a:t>
            </a:r>
            <a:r>
              <a:rPr lang="zh-CN" altLang="en-US"/>
              <a:t>国内生产总值的计算方法</a:t>
            </a:r>
          </a:p>
        </p:txBody>
      </p:sp>
      <p:sp>
        <p:nvSpPr>
          <p:cNvPr id="274435" name="Rectangle 3" descr="花束"/>
          <p:cNvSpPr>
            <a:spLocks noGrp="1" noChangeArrowheads="1"/>
          </p:cNvSpPr>
          <p:nvPr>
            <p:ph type="body" idx="1"/>
          </p:nvPr>
        </p:nvSpPr>
        <p:spPr>
          <a:xfrm>
            <a:off x="395288" y="2205038"/>
            <a:ext cx="8229600" cy="1628775"/>
          </a:xfrm>
          <a:blipFill dpi="0" rotWithShape="0">
            <a:blip r:embed="rId2">
              <a:alphaModFix amt="73000"/>
            </a:blip>
            <a:srcRect/>
            <a:tile tx="0" ty="0" sx="100000" sy="100000" flip="none" algn="tl"/>
          </a:blipFill>
          <a:ln w="76200" cap="flat" cmpd="sng">
            <a:solidFill>
              <a:srgbClr val="336600"/>
            </a:solidFill>
          </a:ln>
        </p:spPr>
        <p:txBody>
          <a:bodyPr/>
          <a:lstStyle/>
          <a:p>
            <a:pPr marL="0" indent="0" eaLnBrk="1" hangingPunct="1">
              <a:spcBef>
                <a:spcPct val="0"/>
              </a:spcBef>
              <a:buClr>
                <a:srgbClr val="660033"/>
              </a:buClr>
              <a:buSzPct val="95000"/>
              <a:buFont typeface="Wingdings" pitchFamily="2" charset="2"/>
              <a:buChar char="n"/>
            </a:pPr>
            <a:r>
              <a:rPr lang="zh-CN" altLang="en-US" smtClean="0"/>
              <a:t>支出法：</a:t>
            </a:r>
            <a:endParaRPr lang="en-US" altLang="zh-CN" smtClean="0"/>
          </a:p>
          <a:p>
            <a:pPr marL="0" indent="0" eaLnBrk="1" hangingPunct="1">
              <a:spcBef>
                <a:spcPct val="0"/>
              </a:spcBef>
              <a:buClr>
                <a:srgbClr val="660033"/>
              </a:buClr>
              <a:buSzPct val="95000"/>
              <a:buFont typeface="Wingdings" pitchFamily="2" charset="2"/>
              <a:buChar char="n"/>
            </a:pPr>
            <a:r>
              <a:rPr lang="zh-CN" altLang="en-US" smtClean="0"/>
              <a:t>又称</a:t>
            </a:r>
            <a:r>
              <a:rPr lang="zh-CN" altLang="en-US" smtClean="0">
                <a:solidFill>
                  <a:srgbClr val="FF5050"/>
                </a:solidFill>
              </a:rPr>
              <a:t>最终产品法</a:t>
            </a:r>
            <a:r>
              <a:rPr lang="en-US" altLang="zh-CN" smtClean="0"/>
              <a:t> final product approach </a:t>
            </a:r>
            <a:r>
              <a:rPr lang="zh-CN" altLang="en-US" smtClean="0"/>
              <a:t>。</a:t>
            </a:r>
            <a:endParaRPr lang="en-US" altLang="zh-CN" smtClean="0"/>
          </a:p>
          <a:p>
            <a:pPr marL="0" indent="0" eaLnBrk="1" hangingPunct="1">
              <a:spcBef>
                <a:spcPct val="0"/>
              </a:spcBef>
              <a:buClr>
                <a:srgbClr val="660033"/>
              </a:buClr>
              <a:buSzPct val="95000"/>
              <a:buFont typeface="Wingdings" pitchFamily="2" charset="2"/>
              <a:buChar char="n"/>
            </a:pPr>
            <a:r>
              <a:rPr lang="zh-CN" altLang="en-US" smtClean="0"/>
              <a:t>从最终产品的使用出发，把一年内购买的各项</a:t>
            </a:r>
            <a:r>
              <a:rPr lang="zh-CN" altLang="en-US" smtClean="0">
                <a:solidFill>
                  <a:srgbClr val="FF5050"/>
                </a:solidFill>
              </a:rPr>
              <a:t>最终产品支出</a:t>
            </a:r>
            <a:r>
              <a:rPr lang="zh-CN" altLang="en-US" smtClean="0"/>
              <a:t>加总，计算该年内生产的产品和劳务的市场价值。</a:t>
            </a:r>
          </a:p>
        </p:txBody>
      </p:sp>
      <p:sp>
        <p:nvSpPr>
          <p:cNvPr id="274436" name="Rectangle 4" descr="花束"/>
          <p:cNvSpPr>
            <a:spLocks noChangeArrowheads="1"/>
          </p:cNvSpPr>
          <p:nvPr/>
        </p:nvSpPr>
        <p:spPr bwMode="auto">
          <a:xfrm>
            <a:off x="395288" y="5157788"/>
            <a:ext cx="8280400" cy="898525"/>
          </a:xfrm>
          <a:prstGeom prst="rect">
            <a:avLst/>
          </a:prstGeom>
          <a:blipFill dpi="0" rotWithShape="0">
            <a:blip r:embed="rId2"/>
            <a:srcRect/>
            <a:tile tx="0" ty="0" sx="100000" sy="100000" flip="none" algn="tl"/>
          </a:blipFill>
          <a:ln w="76200">
            <a:solidFill>
              <a:srgbClr val="336600"/>
            </a:solidFill>
            <a:miter lim="800000"/>
            <a:headEnd/>
            <a:tailEnd/>
          </a:ln>
        </p:spPr>
        <p:txBody>
          <a:bodyPr>
            <a:spAutoFit/>
          </a:bodyPr>
          <a:lstStyle/>
          <a:p>
            <a:pPr>
              <a:lnSpc>
                <a:spcPct val="120000"/>
              </a:lnSpc>
              <a:buClr>
                <a:srgbClr val="660033"/>
              </a:buClr>
              <a:buSzPct val="95000"/>
              <a:buFont typeface="Wingdings" pitchFamily="2" charset="2"/>
              <a:buChar char="n"/>
            </a:pPr>
            <a:r>
              <a:rPr lang="en-US" altLang="zh-CN">
                <a:solidFill>
                  <a:srgbClr val="101016"/>
                </a:solidFill>
                <a:latin typeface="Arial" charset="0"/>
              </a:rPr>
              <a:t>【C】</a:t>
            </a:r>
            <a:r>
              <a:rPr lang="zh-CN" altLang="en-US">
                <a:solidFill>
                  <a:srgbClr val="101016"/>
                </a:solidFill>
                <a:latin typeface="Arial" charset="0"/>
              </a:rPr>
              <a:t>消费</a:t>
            </a:r>
            <a:r>
              <a:rPr lang="en-US" altLang="zh-CN">
                <a:solidFill>
                  <a:srgbClr val="101016"/>
                </a:solidFill>
                <a:latin typeface="Arial" charset="0"/>
              </a:rPr>
              <a:t> consumption</a:t>
            </a:r>
            <a:r>
              <a:rPr lang="zh-CN" altLang="en-US">
                <a:solidFill>
                  <a:srgbClr val="101016"/>
                </a:solidFill>
                <a:latin typeface="Arial" charset="0"/>
              </a:rPr>
              <a:t>：居民支出，占</a:t>
            </a:r>
            <a:r>
              <a:rPr lang="en-US" altLang="zh-CN">
                <a:solidFill>
                  <a:srgbClr val="101016"/>
                </a:solidFill>
                <a:latin typeface="Arial" charset="0"/>
              </a:rPr>
              <a:t>GDP</a:t>
            </a:r>
            <a:r>
              <a:rPr lang="zh-CN" altLang="en-US">
                <a:solidFill>
                  <a:srgbClr val="101016"/>
                </a:solidFill>
                <a:latin typeface="Arial" charset="0"/>
              </a:rPr>
              <a:t>一半以上。</a:t>
            </a:r>
            <a:endParaRPr lang="en-US" altLang="zh-CN">
              <a:solidFill>
                <a:srgbClr val="101016"/>
              </a:solidFill>
              <a:latin typeface="Arial" charset="0"/>
            </a:endParaRPr>
          </a:p>
          <a:p>
            <a:pPr>
              <a:lnSpc>
                <a:spcPct val="120000"/>
              </a:lnSpc>
              <a:buClr>
                <a:srgbClr val="660033"/>
              </a:buClr>
              <a:buSzPct val="95000"/>
              <a:buFont typeface="Wingdings" pitchFamily="2" charset="2"/>
              <a:buChar char="n"/>
            </a:pPr>
            <a:r>
              <a:rPr lang="en-US" altLang="zh-CN">
                <a:solidFill>
                  <a:srgbClr val="101016"/>
                </a:solidFill>
                <a:latin typeface="Arial" charset="0"/>
              </a:rPr>
              <a:t>  </a:t>
            </a:r>
            <a:r>
              <a:rPr lang="zh-CN" altLang="en-US">
                <a:solidFill>
                  <a:srgbClr val="101016"/>
                </a:solidFill>
                <a:latin typeface="Arial" charset="0"/>
              </a:rPr>
              <a:t>购买消费品和劳务支出，不包括建造住宅。</a:t>
            </a:r>
          </a:p>
        </p:txBody>
      </p:sp>
      <p:sp>
        <p:nvSpPr>
          <p:cNvPr id="274437" name="Rectangle 5" descr="花束"/>
          <p:cNvSpPr>
            <a:spLocks noChangeArrowheads="1"/>
          </p:cNvSpPr>
          <p:nvPr/>
        </p:nvSpPr>
        <p:spPr bwMode="auto">
          <a:xfrm>
            <a:off x="1547813" y="4221163"/>
            <a:ext cx="6048375" cy="720725"/>
          </a:xfrm>
          <a:prstGeom prst="rect">
            <a:avLst/>
          </a:prstGeom>
          <a:blipFill dpi="0" rotWithShape="0">
            <a:blip r:embed="rId2"/>
            <a:srcRect/>
            <a:tile tx="0" ty="0" sx="100000" sy="100000" flip="none" algn="tl"/>
          </a:blipFill>
          <a:ln w="76200">
            <a:solidFill>
              <a:srgbClr val="336600"/>
            </a:solidFill>
            <a:miter lim="800000"/>
            <a:headEnd/>
            <a:tailEnd/>
          </a:ln>
        </p:spPr>
        <p:txBody>
          <a:bodyPr/>
          <a:lstStyle/>
          <a:p>
            <a:pPr marL="95250" indent="-95250" algn="ctr">
              <a:lnSpc>
                <a:spcPct val="90000"/>
              </a:lnSpc>
              <a:spcBef>
                <a:spcPct val="20000"/>
              </a:spcBef>
              <a:buClr>
                <a:schemeClr val="hlink"/>
              </a:buClr>
              <a:buFont typeface="Wingdings" pitchFamily="2" charset="2"/>
              <a:buNone/>
            </a:pPr>
            <a:r>
              <a:rPr lang="en-US" altLang="zh-CN" sz="3200" i="1">
                <a:solidFill>
                  <a:srgbClr val="230D75"/>
                </a:solidFill>
                <a:latin typeface="黑体" pitchFamily="2" charset="-122"/>
                <a:ea typeface="黑体" pitchFamily="2" charset="-122"/>
              </a:rPr>
              <a:t>GDP</a:t>
            </a:r>
            <a:r>
              <a:rPr lang="zh-CN" altLang="en-US" sz="3200">
                <a:solidFill>
                  <a:srgbClr val="230D75"/>
                </a:solidFill>
                <a:latin typeface="黑体" pitchFamily="2" charset="-122"/>
                <a:ea typeface="黑体" pitchFamily="2" charset="-122"/>
              </a:rPr>
              <a:t>＝</a:t>
            </a:r>
            <a:r>
              <a:rPr lang="en-US" altLang="zh-CN" sz="3200" i="1">
                <a:solidFill>
                  <a:srgbClr val="230D75"/>
                </a:solidFill>
                <a:latin typeface="黑体" pitchFamily="2" charset="-122"/>
                <a:ea typeface="黑体" pitchFamily="2" charset="-122"/>
              </a:rPr>
              <a:t>C</a:t>
            </a:r>
            <a:r>
              <a:rPr lang="zh-CN" altLang="en-US" sz="3200">
                <a:solidFill>
                  <a:srgbClr val="230D75"/>
                </a:solidFill>
                <a:latin typeface="黑体" pitchFamily="2" charset="-122"/>
                <a:ea typeface="黑体" pitchFamily="2" charset="-122"/>
              </a:rPr>
              <a:t>＋</a:t>
            </a:r>
            <a:r>
              <a:rPr lang="en-US" altLang="zh-CN" sz="3200" i="1">
                <a:solidFill>
                  <a:srgbClr val="230D75"/>
                </a:solidFill>
                <a:latin typeface="黑体" pitchFamily="2" charset="-122"/>
                <a:ea typeface="黑体" pitchFamily="2" charset="-122"/>
              </a:rPr>
              <a:t>I</a:t>
            </a:r>
            <a:r>
              <a:rPr lang="zh-CN" altLang="en-US" sz="3200">
                <a:solidFill>
                  <a:srgbClr val="230D75"/>
                </a:solidFill>
                <a:latin typeface="黑体" pitchFamily="2" charset="-122"/>
                <a:ea typeface="黑体" pitchFamily="2" charset="-122"/>
              </a:rPr>
              <a:t>＋</a:t>
            </a:r>
            <a:r>
              <a:rPr lang="en-US" altLang="zh-CN" sz="3200" i="1">
                <a:solidFill>
                  <a:srgbClr val="230D75"/>
                </a:solidFill>
                <a:latin typeface="黑体" pitchFamily="2" charset="-122"/>
                <a:ea typeface="黑体" pitchFamily="2" charset="-122"/>
              </a:rPr>
              <a:t>G</a:t>
            </a:r>
            <a:r>
              <a:rPr lang="zh-CN" altLang="en-US" sz="3200">
                <a:solidFill>
                  <a:srgbClr val="230D75"/>
                </a:solidFill>
                <a:latin typeface="黑体" pitchFamily="2" charset="-122"/>
                <a:ea typeface="黑体" pitchFamily="2" charset="-122"/>
              </a:rPr>
              <a:t>＋</a:t>
            </a:r>
            <a:r>
              <a:rPr lang="en-US" altLang="zh-CN" sz="3200">
                <a:solidFill>
                  <a:srgbClr val="230D75"/>
                </a:solidFill>
                <a:latin typeface="黑体" pitchFamily="2" charset="-122"/>
                <a:ea typeface="黑体" pitchFamily="2" charset="-122"/>
              </a:rPr>
              <a:t> </a:t>
            </a:r>
            <a:r>
              <a:rPr lang="en-US" altLang="zh-CN" sz="3200" i="1">
                <a:solidFill>
                  <a:srgbClr val="993300"/>
                </a:solidFill>
                <a:latin typeface="黑体" pitchFamily="2" charset="-122"/>
                <a:ea typeface="黑体" pitchFamily="2" charset="-122"/>
              </a:rPr>
              <a:t>X</a:t>
            </a:r>
            <a:r>
              <a:rPr lang="zh-CN" altLang="en-US" sz="3200">
                <a:solidFill>
                  <a:srgbClr val="993300"/>
                </a:solidFill>
                <a:latin typeface="黑体" pitchFamily="2" charset="-122"/>
                <a:ea typeface="黑体" pitchFamily="2" charset="-122"/>
              </a:rPr>
              <a:t>－</a:t>
            </a:r>
            <a:r>
              <a:rPr lang="en-US" altLang="zh-CN" sz="3200" i="1">
                <a:solidFill>
                  <a:srgbClr val="993300"/>
                </a:solidFill>
                <a:latin typeface="黑体" pitchFamily="2" charset="-122"/>
                <a:ea typeface="黑体" pitchFamily="2" charset="-122"/>
              </a:rPr>
              <a:t>M</a:t>
            </a:r>
            <a:endParaRPr lang="en-US" altLang="zh-CN" sz="3200">
              <a:solidFill>
                <a:srgbClr val="993300"/>
              </a:solidFill>
              <a:latin typeface="黑体" pitchFamily="2" charset="-122"/>
              <a:ea typeface="黑体" pitchFamily="2" charset="-122"/>
            </a:endParaRPr>
          </a:p>
        </p:txBody>
      </p:sp>
      <p:sp>
        <p:nvSpPr>
          <p:cNvPr id="274438" name="AutoShape 6" descr="花束"/>
          <p:cNvSpPr>
            <a:spLocks noChangeArrowheads="1"/>
          </p:cNvSpPr>
          <p:nvPr/>
        </p:nvSpPr>
        <p:spPr bwMode="auto">
          <a:xfrm>
            <a:off x="407988" y="1276350"/>
            <a:ext cx="8189912" cy="655638"/>
          </a:xfrm>
          <a:prstGeom prst="horizontalScroll">
            <a:avLst>
              <a:gd name="adj" fmla="val 12500"/>
            </a:avLst>
          </a:prstGeom>
          <a:blipFill dpi="0" rotWithShape="0">
            <a:blip r:embed="rId2"/>
            <a:srcRect/>
            <a:tile tx="0" ty="0" sx="100000" sy="100000" flip="none" algn="tl"/>
          </a:blipFill>
          <a:ln w="76200">
            <a:solidFill>
              <a:srgbClr val="336600"/>
            </a:solidFill>
            <a:miter lim="800000"/>
            <a:headEnd/>
            <a:tailEnd/>
          </a:ln>
        </p:spPr>
        <p:txBody>
          <a:bodyPr>
            <a:spAutoFit/>
          </a:bodyPr>
          <a:lstStyle/>
          <a:p>
            <a:pPr>
              <a:lnSpc>
                <a:spcPct val="120000"/>
              </a:lnSpc>
              <a:buClr>
                <a:srgbClr val="660033"/>
              </a:buClr>
              <a:buSzPct val="95000"/>
              <a:buFont typeface="Wingdings" pitchFamily="2" charset="2"/>
              <a:buNone/>
            </a:pPr>
            <a:r>
              <a:rPr lang="zh-CN" altLang="en-US">
                <a:solidFill>
                  <a:srgbClr val="101016"/>
                </a:solidFill>
                <a:latin typeface="Arial" charset="0"/>
              </a:rPr>
              <a:t>一、支出法（</a:t>
            </a:r>
            <a:r>
              <a:rPr lang="en-US" altLang="zh-CN" sz="1800">
                <a:solidFill>
                  <a:srgbClr val="101016"/>
                </a:solidFill>
                <a:latin typeface="Arial" charset="0"/>
              </a:rPr>
              <a:t>expenditure approach</a:t>
            </a:r>
            <a:r>
              <a:rPr lang="zh-CN" altLang="en-US" sz="1800">
                <a:solidFill>
                  <a:srgbClr val="101016"/>
                </a:solidFill>
                <a:latin typeface="Arial" charset="0"/>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74438"/>
                                        </p:tgtEl>
                                        <p:attrNameLst>
                                          <p:attrName>style.visibility</p:attrName>
                                        </p:attrNameLst>
                                      </p:cBhvr>
                                      <p:to>
                                        <p:strVal val="visible"/>
                                      </p:to>
                                    </p:set>
                                    <p:animEffect transition="in" filter="box(in)">
                                      <p:cBhvr>
                                        <p:cTn id="7" dur="500"/>
                                        <p:tgtEl>
                                          <p:spTgt spid="27443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74435">
                                            <p:bg/>
                                          </p:spTgt>
                                        </p:tgtEl>
                                        <p:attrNameLst>
                                          <p:attrName>style.visibility</p:attrName>
                                        </p:attrNameLst>
                                      </p:cBhvr>
                                      <p:to>
                                        <p:strVal val="visible"/>
                                      </p:to>
                                    </p:set>
                                    <p:animEffect transition="in" filter="blinds(horizontal)">
                                      <p:cBhvr>
                                        <p:cTn id="12" dur="500"/>
                                        <p:tgtEl>
                                          <p:spTgt spid="274435">
                                            <p:bg/>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74435">
                                            <p:txEl>
                                              <p:pRg st="0" end="0"/>
                                            </p:txEl>
                                          </p:spTgt>
                                        </p:tgtEl>
                                        <p:attrNameLst>
                                          <p:attrName>style.visibility</p:attrName>
                                        </p:attrNameLst>
                                      </p:cBhvr>
                                      <p:to>
                                        <p:strVal val="visible"/>
                                      </p:to>
                                    </p:set>
                                    <p:animEffect transition="in" filter="blinds(horizontal)">
                                      <p:cBhvr>
                                        <p:cTn id="17" dur="500"/>
                                        <p:tgtEl>
                                          <p:spTgt spid="274435">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74435">
                                            <p:txEl>
                                              <p:pRg st="1" end="1"/>
                                            </p:txEl>
                                          </p:spTgt>
                                        </p:tgtEl>
                                        <p:attrNameLst>
                                          <p:attrName>style.visibility</p:attrName>
                                        </p:attrNameLst>
                                      </p:cBhvr>
                                      <p:to>
                                        <p:strVal val="visible"/>
                                      </p:to>
                                    </p:set>
                                    <p:animEffect transition="in" filter="blinds(horizontal)">
                                      <p:cBhvr>
                                        <p:cTn id="22" dur="500"/>
                                        <p:tgtEl>
                                          <p:spTgt spid="274435">
                                            <p:txEl>
                                              <p:pRg st="1" end="1"/>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74435">
                                            <p:txEl>
                                              <p:pRg st="2" end="2"/>
                                            </p:txEl>
                                          </p:spTgt>
                                        </p:tgtEl>
                                        <p:attrNameLst>
                                          <p:attrName>style.visibility</p:attrName>
                                        </p:attrNameLst>
                                      </p:cBhvr>
                                      <p:to>
                                        <p:strVal val="visible"/>
                                      </p:to>
                                    </p:set>
                                    <p:animEffect transition="in" filter="blinds(horizontal)">
                                      <p:cBhvr>
                                        <p:cTn id="27" dur="500"/>
                                        <p:tgtEl>
                                          <p:spTgt spid="274435">
                                            <p:txEl>
                                              <p:pRg st="2" end="2"/>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74437">
                                            <p:bg/>
                                          </p:spTgt>
                                        </p:tgtEl>
                                        <p:attrNameLst>
                                          <p:attrName>style.visibility</p:attrName>
                                        </p:attrNameLst>
                                      </p:cBhvr>
                                      <p:to>
                                        <p:strVal val="visible"/>
                                      </p:to>
                                    </p:set>
                                    <p:animEffect transition="in" filter="blinds(horizontal)">
                                      <p:cBhvr>
                                        <p:cTn id="32" dur="500"/>
                                        <p:tgtEl>
                                          <p:spTgt spid="274437">
                                            <p:bg/>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74437">
                                            <p:txEl>
                                              <p:pRg st="0" end="0"/>
                                            </p:txEl>
                                          </p:spTgt>
                                        </p:tgtEl>
                                        <p:attrNameLst>
                                          <p:attrName>style.visibility</p:attrName>
                                        </p:attrNameLst>
                                      </p:cBhvr>
                                      <p:to>
                                        <p:strVal val="visible"/>
                                      </p:to>
                                    </p:set>
                                    <p:animEffect transition="in" filter="blinds(horizontal)">
                                      <p:cBhvr>
                                        <p:cTn id="37" dur="500"/>
                                        <p:tgtEl>
                                          <p:spTgt spid="274437">
                                            <p:txEl>
                                              <p:pRg st="0" end="0"/>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74436">
                                            <p:bg/>
                                          </p:spTgt>
                                        </p:tgtEl>
                                        <p:attrNameLst>
                                          <p:attrName>style.visibility</p:attrName>
                                        </p:attrNameLst>
                                      </p:cBhvr>
                                      <p:to>
                                        <p:strVal val="visible"/>
                                      </p:to>
                                    </p:set>
                                    <p:animEffect transition="in" filter="blinds(horizontal)">
                                      <p:cBhvr>
                                        <p:cTn id="42" dur="500"/>
                                        <p:tgtEl>
                                          <p:spTgt spid="274436">
                                            <p:bg/>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74436">
                                            <p:txEl>
                                              <p:pRg st="0" end="0"/>
                                            </p:txEl>
                                          </p:spTgt>
                                        </p:tgtEl>
                                        <p:attrNameLst>
                                          <p:attrName>style.visibility</p:attrName>
                                        </p:attrNameLst>
                                      </p:cBhvr>
                                      <p:to>
                                        <p:strVal val="visible"/>
                                      </p:to>
                                    </p:set>
                                    <p:animEffect transition="in" filter="blinds(horizontal)">
                                      <p:cBhvr>
                                        <p:cTn id="47" dur="500"/>
                                        <p:tgtEl>
                                          <p:spTgt spid="274436">
                                            <p:txEl>
                                              <p:pRg st="0" end="0"/>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74436">
                                            <p:txEl>
                                              <p:pRg st="1" end="1"/>
                                            </p:txEl>
                                          </p:spTgt>
                                        </p:tgtEl>
                                        <p:attrNameLst>
                                          <p:attrName>style.visibility</p:attrName>
                                        </p:attrNameLst>
                                      </p:cBhvr>
                                      <p:to>
                                        <p:strVal val="visible"/>
                                      </p:to>
                                    </p:set>
                                    <p:animEffect transition="in" filter="blinds(horizontal)">
                                      <p:cBhvr>
                                        <p:cTn id="52" dur="500"/>
                                        <p:tgtEl>
                                          <p:spTgt spid="27443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4435" grpId="0" build="p" animBg="1"/>
      <p:bldP spid="274436" grpId="0" build="p" animBg="1"/>
      <p:bldP spid="274437" grpId="0" build="p" animBg="1"/>
      <p:bldP spid="27443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2"/>
          <p:cNvSpPr>
            <a:spLocks noGrp="1" noChangeArrowheads="1"/>
          </p:cNvSpPr>
          <p:nvPr>
            <p:ph type="title"/>
          </p:nvPr>
        </p:nvSpPr>
        <p:spPr>
          <a:extLst/>
        </p:spPr>
        <p:txBody>
          <a:bodyPr/>
          <a:lstStyle/>
          <a:p>
            <a:pPr eaLnBrk="1" hangingPunct="1">
              <a:defRPr/>
            </a:pPr>
            <a:r>
              <a:rPr lang="en-US" altLang="zh-CN"/>
              <a:t>【I】</a:t>
            </a:r>
            <a:r>
              <a:rPr lang="zh-CN" altLang="en-US"/>
              <a:t>投资</a:t>
            </a:r>
            <a:r>
              <a:rPr lang="en-US" altLang="zh-CN"/>
              <a:t>investment</a:t>
            </a:r>
          </a:p>
        </p:txBody>
      </p:sp>
      <p:sp>
        <p:nvSpPr>
          <p:cNvPr id="201735" name="Rectangle 7" descr="花束"/>
          <p:cNvSpPr>
            <a:spLocks noChangeArrowheads="1"/>
          </p:cNvSpPr>
          <p:nvPr/>
        </p:nvSpPr>
        <p:spPr bwMode="auto">
          <a:xfrm>
            <a:off x="395288" y="1268413"/>
            <a:ext cx="8280400" cy="898525"/>
          </a:xfrm>
          <a:prstGeom prst="rect">
            <a:avLst/>
          </a:prstGeom>
          <a:blipFill dpi="0" rotWithShape="0">
            <a:blip r:embed="rId2"/>
            <a:srcRect/>
            <a:tile tx="0" ty="0" sx="100000" sy="100000" flip="none" algn="tl"/>
          </a:blipFill>
          <a:ln w="76200">
            <a:solidFill>
              <a:srgbClr val="336600"/>
            </a:solidFill>
            <a:miter lim="800000"/>
            <a:headEnd/>
            <a:tailEnd/>
          </a:ln>
        </p:spPr>
        <p:txBody>
          <a:bodyPr>
            <a:spAutoFit/>
          </a:bodyPr>
          <a:lstStyle/>
          <a:p>
            <a:pPr>
              <a:lnSpc>
                <a:spcPct val="120000"/>
              </a:lnSpc>
              <a:buClr>
                <a:srgbClr val="660033"/>
              </a:buClr>
              <a:buSzPct val="95000"/>
              <a:buFont typeface="Wingdings" pitchFamily="2" charset="2"/>
              <a:buChar char="n"/>
            </a:pPr>
            <a:r>
              <a:rPr lang="zh-CN" altLang="en-US">
                <a:solidFill>
                  <a:srgbClr val="101016"/>
                </a:solidFill>
                <a:latin typeface="Arial" charset="0"/>
              </a:rPr>
              <a:t>投资：</a:t>
            </a:r>
            <a:endParaRPr lang="en-US" altLang="zh-CN">
              <a:solidFill>
                <a:srgbClr val="101016"/>
              </a:solidFill>
              <a:latin typeface="Arial" charset="0"/>
            </a:endParaRPr>
          </a:p>
          <a:p>
            <a:pPr>
              <a:lnSpc>
                <a:spcPct val="120000"/>
              </a:lnSpc>
              <a:buClr>
                <a:srgbClr val="660033"/>
              </a:buClr>
              <a:buSzPct val="95000"/>
              <a:buFont typeface="Wingdings" pitchFamily="2" charset="2"/>
              <a:buChar char="n"/>
            </a:pPr>
            <a:r>
              <a:rPr lang="zh-CN" altLang="en-US">
                <a:solidFill>
                  <a:srgbClr val="101016"/>
                </a:solidFill>
                <a:latin typeface="Arial" charset="0"/>
              </a:rPr>
              <a:t>一个国家或地区一定时期内社会资本的形成和增加。</a:t>
            </a:r>
          </a:p>
        </p:txBody>
      </p:sp>
      <p:sp>
        <p:nvSpPr>
          <p:cNvPr id="201737" name="AutoShape 9"/>
          <p:cNvSpPr>
            <a:spLocks noChangeArrowheads="1"/>
          </p:cNvSpPr>
          <p:nvPr/>
        </p:nvSpPr>
        <p:spPr bwMode="auto">
          <a:xfrm>
            <a:off x="395288" y="3357563"/>
            <a:ext cx="863600" cy="2016125"/>
          </a:xfrm>
          <a:prstGeom prst="verticalScroll">
            <a:avLst>
              <a:gd name="adj" fmla="val 12500"/>
            </a:avLst>
          </a:prstGeom>
          <a:solidFill>
            <a:schemeClr val="accent1"/>
          </a:solidFill>
          <a:ln w="9525">
            <a:solidFill>
              <a:schemeClr val="tx1"/>
            </a:solidFill>
            <a:miter lim="800000"/>
            <a:headEnd/>
            <a:tailEnd/>
          </a:ln>
        </p:spPr>
        <p:txBody>
          <a:bodyPr anchor="ctr"/>
          <a:lstStyle/>
          <a:p>
            <a:pPr algn="ctr"/>
            <a:r>
              <a:rPr lang="zh-CN" altLang="en-US" sz="3600" b="0">
                <a:solidFill>
                  <a:srgbClr val="101016"/>
                </a:solidFill>
                <a:latin typeface="Arial" charset="0"/>
              </a:rPr>
              <a:t>投资</a:t>
            </a:r>
          </a:p>
        </p:txBody>
      </p:sp>
      <p:sp>
        <p:nvSpPr>
          <p:cNvPr id="201738" name="Rectangle 10" descr="花束"/>
          <p:cNvSpPr>
            <a:spLocks noChangeArrowheads="1"/>
          </p:cNvSpPr>
          <p:nvPr/>
        </p:nvSpPr>
        <p:spPr bwMode="auto">
          <a:xfrm>
            <a:off x="1979613" y="2852738"/>
            <a:ext cx="1584325" cy="898525"/>
          </a:xfrm>
          <a:prstGeom prst="rect">
            <a:avLst/>
          </a:prstGeom>
          <a:blipFill dpi="0" rotWithShape="0">
            <a:blip r:embed="rId2"/>
            <a:srcRect/>
            <a:tile tx="0" ty="0" sx="100000" sy="100000" flip="none" algn="tl"/>
          </a:blipFill>
          <a:ln w="76200">
            <a:solidFill>
              <a:srgbClr val="336600"/>
            </a:solidFill>
            <a:miter lim="800000"/>
            <a:headEnd/>
            <a:tailEnd/>
          </a:ln>
        </p:spPr>
        <p:txBody>
          <a:bodyPr>
            <a:spAutoFit/>
          </a:bodyPr>
          <a:lstStyle/>
          <a:p>
            <a:pPr>
              <a:lnSpc>
                <a:spcPct val="120000"/>
              </a:lnSpc>
              <a:buClr>
                <a:srgbClr val="660033"/>
              </a:buClr>
              <a:buSzPct val="95000"/>
              <a:buFont typeface="Wingdings" pitchFamily="2" charset="2"/>
              <a:buChar char="n"/>
            </a:pPr>
            <a:r>
              <a:rPr lang="zh-CN" altLang="en-US">
                <a:solidFill>
                  <a:srgbClr val="101016"/>
                </a:solidFill>
                <a:latin typeface="Arial" charset="0"/>
              </a:rPr>
              <a:t>固定资产投资（</a:t>
            </a:r>
            <a:r>
              <a:rPr lang="en-US" altLang="zh-CN" sz="1800">
                <a:solidFill>
                  <a:srgbClr val="101016"/>
                </a:solidFill>
                <a:latin typeface="Arial" charset="0"/>
              </a:rPr>
              <a:t>fixed</a:t>
            </a:r>
            <a:r>
              <a:rPr lang="zh-CN" altLang="en-US">
                <a:solidFill>
                  <a:srgbClr val="101016"/>
                </a:solidFill>
                <a:latin typeface="Arial" charset="0"/>
              </a:rPr>
              <a:t>）</a:t>
            </a:r>
          </a:p>
        </p:txBody>
      </p:sp>
      <p:sp>
        <p:nvSpPr>
          <p:cNvPr id="201739" name="Rectangle 11" descr="花束"/>
          <p:cNvSpPr>
            <a:spLocks noChangeArrowheads="1"/>
          </p:cNvSpPr>
          <p:nvPr/>
        </p:nvSpPr>
        <p:spPr bwMode="auto">
          <a:xfrm>
            <a:off x="4067175" y="2709863"/>
            <a:ext cx="2386013" cy="533400"/>
          </a:xfrm>
          <a:prstGeom prst="rect">
            <a:avLst/>
          </a:prstGeom>
          <a:blipFill dpi="0" rotWithShape="0">
            <a:blip r:embed="rId2"/>
            <a:srcRect/>
            <a:tile tx="0" ty="0" sx="100000" sy="100000" flip="none" algn="tl"/>
          </a:blipFill>
          <a:ln w="76200">
            <a:solidFill>
              <a:srgbClr val="336600"/>
            </a:solidFill>
            <a:miter lim="800000"/>
            <a:headEnd/>
            <a:tailEnd/>
          </a:ln>
        </p:spPr>
        <p:txBody>
          <a:bodyPr>
            <a:spAutoFit/>
          </a:bodyPr>
          <a:lstStyle/>
          <a:p>
            <a:pPr>
              <a:lnSpc>
                <a:spcPct val="120000"/>
              </a:lnSpc>
              <a:buClr>
                <a:srgbClr val="660033"/>
              </a:buClr>
              <a:buSzPct val="95000"/>
              <a:buFont typeface="Wingdings" pitchFamily="2" charset="2"/>
              <a:buChar char="n"/>
            </a:pPr>
            <a:r>
              <a:rPr lang="zh-CN" altLang="en-US">
                <a:solidFill>
                  <a:srgbClr val="101016"/>
                </a:solidFill>
                <a:latin typeface="Arial" charset="0"/>
              </a:rPr>
              <a:t>居民住房投资</a:t>
            </a:r>
          </a:p>
        </p:txBody>
      </p:sp>
      <p:sp>
        <p:nvSpPr>
          <p:cNvPr id="201740" name="Rectangle 12" descr="花束"/>
          <p:cNvSpPr>
            <a:spLocks noChangeArrowheads="1"/>
          </p:cNvSpPr>
          <p:nvPr/>
        </p:nvSpPr>
        <p:spPr bwMode="auto">
          <a:xfrm>
            <a:off x="4067175" y="3500438"/>
            <a:ext cx="2386013" cy="533400"/>
          </a:xfrm>
          <a:prstGeom prst="rect">
            <a:avLst/>
          </a:prstGeom>
          <a:blipFill dpi="0" rotWithShape="0">
            <a:blip r:embed="rId2"/>
            <a:srcRect/>
            <a:tile tx="0" ty="0" sx="100000" sy="100000" flip="none" algn="tl"/>
          </a:blipFill>
          <a:ln w="76200">
            <a:solidFill>
              <a:srgbClr val="336600"/>
            </a:solidFill>
            <a:miter lim="800000"/>
            <a:headEnd/>
            <a:tailEnd/>
          </a:ln>
        </p:spPr>
        <p:txBody>
          <a:bodyPr>
            <a:spAutoFit/>
          </a:bodyPr>
          <a:lstStyle/>
          <a:p>
            <a:pPr>
              <a:lnSpc>
                <a:spcPct val="120000"/>
              </a:lnSpc>
              <a:buClr>
                <a:srgbClr val="660033"/>
              </a:buClr>
              <a:buSzPct val="95000"/>
              <a:buFont typeface="Wingdings" pitchFamily="2" charset="2"/>
              <a:buChar char="n"/>
            </a:pPr>
            <a:r>
              <a:rPr lang="zh-CN" altLang="en-US">
                <a:solidFill>
                  <a:srgbClr val="101016"/>
                </a:solidFill>
                <a:latin typeface="Arial" charset="0"/>
              </a:rPr>
              <a:t>企业固定投资</a:t>
            </a:r>
          </a:p>
        </p:txBody>
      </p:sp>
      <p:sp>
        <p:nvSpPr>
          <p:cNvPr id="201741" name="AutoShape 13"/>
          <p:cNvSpPr>
            <a:spLocks/>
          </p:cNvSpPr>
          <p:nvPr/>
        </p:nvSpPr>
        <p:spPr bwMode="auto">
          <a:xfrm>
            <a:off x="3779838" y="2781300"/>
            <a:ext cx="287337" cy="1152525"/>
          </a:xfrm>
          <a:prstGeom prst="leftBrace">
            <a:avLst>
              <a:gd name="adj1" fmla="val 33425"/>
              <a:gd name="adj2" fmla="val 50000"/>
            </a:avLst>
          </a:prstGeom>
          <a:noFill/>
          <a:ln w="38100">
            <a:solidFill>
              <a:schemeClr val="tx1"/>
            </a:solidFill>
            <a:miter lim="800000"/>
            <a:headEnd/>
            <a:tailEnd/>
          </a:ln>
          <a:effectLst>
            <a:outerShdw blurRad="63500" dist="107763" dir="18900000" algn="ctr" rotWithShape="0">
              <a:schemeClr val="bg2">
                <a:alpha val="50000"/>
              </a:schemeClr>
            </a:outerShdw>
          </a:effectLst>
          <a:extLst/>
        </p:spPr>
        <p:txBody>
          <a:bodyPr wrap="none" anchor="ctr"/>
          <a:lstStyle/>
          <a:p>
            <a:pPr>
              <a:lnSpc>
                <a:spcPct val="130000"/>
              </a:lnSpc>
              <a:spcBef>
                <a:spcPct val="20000"/>
              </a:spcBef>
              <a:buClr>
                <a:schemeClr val="hlink"/>
              </a:buClr>
              <a:buSzPct val="95000"/>
              <a:buFont typeface="Wingdings" charset="0"/>
              <a:buChar char="p"/>
              <a:defRPr/>
            </a:pPr>
            <a:endParaRPr lang="zh-CN" altLang="en-US">
              <a:latin typeface="宋体" charset="0"/>
              <a:ea typeface="宋体" charset="0"/>
            </a:endParaRPr>
          </a:p>
        </p:txBody>
      </p:sp>
      <p:sp>
        <p:nvSpPr>
          <p:cNvPr id="201742" name="Rectangle 14" descr="花束"/>
          <p:cNvSpPr>
            <a:spLocks noChangeArrowheads="1"/>
          </p:cNvSpPr>
          <p:nvPr/>
        </p:nvSpPr>
        <p:spPr bwMode="auto">
          <a:xfrm>
            <a:off x="6948488" y="2636838"/>
            <a:ext cx="1725612" cy="1263650"/>
          </a:xfrm>
          <a:prstGeom prst="rect">
            <a:avLst/>
          </a:prstGeom>
          <a:blipFill dpi="0" rotWithShape="0">
            <a:blip r:embed="rId2"/>
            <a:srcRect/>
            <a:tile tx="0" ty="0" sx="100000" sy="100000" flip="none" algn="tl"/>
          </a:blipFill>
          <a:ln w="76200">
            <a:solidFill>
              <a:srgbClr val="336600"/>
            </a:solidFill>
            <a:miter lim="800000"/>
            <a:headEnd/>
            <a:tailEnd/>
          </a:ln>
        </p:spPr>
        <p:txBody>
          <a:bodyPr>
            <a:spAutoFit/>
          </a:bodyPr>
          <a:lstStyle/>
          <a:p>
            <a:pPr>
              <a:lnSpc>
                <a:spcPct val="120000"/>
              </a:lnSpc>
              <a:buClr>
                <a:srgbClr val="660033"/>
              </a:buClr>
              <a:buSzPct val="95000"/>
              <a:buFont typeface="Wingdings" pitchFamily="2" charset="2"/>
              <a:buChar char="n"/>
            </a:pPr>
            <a:r>
              <a:rPr lang="zh-CN" altLang="en-US">
                <a:solidFill>
                  <a:srgbClr val="101016"/>
                </a:solidFill>
                <a:latin typeface="Arial" charset="0"/>
              </a:rPr>
              <a:t>固定：可以长期存在和使用。</a:t>
            </a:r>
          </a:p>
        </p:txBody>
      </p:sp>
      <p:sp>
        <p:nvSpPr>
          <p:cNvPr id="201743" name="AutoShape 15"/>
          <p:cNvSpPr>
            <a:spLocks/>
          </p:cNvSpPr>
          <p:nvPr/>
        </p:nvSpPr>
        <p:spPr bwMode="auto">
          <a:xfrm>
            <a:off x="6515100" y="2708275"/>
            <a:ext cx="360363" cy="1296988"/>
          </a:xfrm>
          <a:prstGeom prst="rightBrace">
            <a:avLst>
              <a:gd name="adj1" fmla="val 29993"/>
              <a:gd name="adj2" fmla="val 50000"/>
            </a:avLst>
          </a:prstGeom>
          <a:noFill/>
          <a:ln w="9525">
            <a:solidFill>
              <a:schemeClr val="tx1"/>
            </a:solidFill>
            <a:miter lim="800000"/>
            <a:headEnd/>
            <a:tailEnd/>
          </a:ln>
        </p:spPr>
        <p:txBody>
          <a:bodyPr wrap="none" anchor="ctr"/>
          <a:lstStyle/>
          <a:p>
            <a:pPr>
              <a:lnSpc>
                <a:spcPct val="130000"/>
              </a:lnSpc>
              <a:spcBef>
                <a:spcPct val="20000"/>
              </a:spcBef>
              <a:buClr>
                <a:schemeClr val="hlink"/>
              </a:buClr>
              <a:buSzPct val="95000"/>
              <a:buFont typeface="Wingdings" pitchFamily="2" charset="2"/>
              <a:buChar char="p"/>
            </a:pPr>
            <a:endParaRPr lang="zh-CN" altLang="en-US"/>
          </a:p>
        </p:txBody>
      </p:sp>
      <p:sp>
        <p:nvSpPr>
          <p:cNvPr id="201744" name="Rectangle 16" descr="花束"/>
          <p:cNvSpPr>
            <a:spLocks noChangeArrowheads="1"/>
          </p:cNvSpPr>
          <p:nvPr/>
        </p:nvSpPr>
        <p:spPr bwMode="auto">
          <a:xfrm>
            <a:off x="1979613" y="4868863"/>
            <a:ext cx="6696075" cy="1263650"/>
          </a:xfrm>
          <a:prstGeom prst="rect">
            <a:avLst/>
          </a:prstGeom>
          <a:blipFill dpi="0" rotWithShape="0">
            <a:blip r:embed="rId2"/>
            <a:srcRect/>
            <a:tile tx="0" ty="0" sx="100000" sy="100000" flip="none" algn="tl"/>
          </a:blipFill>
          <a:ln w="76200">
            <a:solidFill>
              <a:srgbClr val="336600"/>
            </a:solidFill>
            <a:miter lim="800000"/>
            <a:headEnd/>
            <a:tailEnd/>
          </a:ln>
        </p:spPr>
        <p:txBody>
          <a:bodyPr>
            <a:spAutoFit/>
          </a:bodyPr>
          <a:lstStyle/>
          <a:p>
            <a:pPr>
              <a:lnSpc>
                <a:spcPct val="120000"/>
              </a:lnSpc>
              <a:buClr>
                <a:srgbClr val="660033"/>
              </a:buClr>
              <a:buSzPct val="95000"/>
              <a:buFont typeface="Wingdings" pitchFamily="2" charset="2"/>
              <a:buChar char="n"/>
            </a:pPr>
            <a:r>
              <a:rPr lang="zh-CN" altLang="en-US">
                <a:solidFill>
                  <a:srgbClr val="101016"/>
                </a:solidFill>
                <a:latin typeface="Arial" charset="0"/>
              </a:rPr>
              <a:t>存货投资（</a:t>
            </a:r>
            <a:r>
              <a:rPr lang="en-US" altLang="zh-CN">
                <a:solidFill>
                  <a:srgbClr val="101016"/>
                </a:solidFill>
                <a:latin typeface="Arial" charset="0"/>
              </a:rPr>
              <a:t>inventory</a:t>
            </a:r>
            <a:r>
              <a:rPr lang="zh-CN" altLang="en-US">
                <a:solidFill>
                  <a:srgbClr val="101016"/>
                </a:solidFill>
                <a:latin typeface="Arial" charset="0"/>
              </a:rPr>
              <a:t>）</a:t>
            </a:r>
            <a:r>
              <a:rPr lang="en-US" altLang="zh-CN">
                <a:solidFill>
                  <a:srgbClr val="101016"/>
                </a:solidFill>
                <a:latin typeface="Arial" charset="0"/>
              </a:rPr>
              <a:t> </a:t>
            </a:r>
          </a:p>
          <a:p>
            <a:pPr>
              <a:lnSpc>
                <a:spcPct val="120000"/>
              </a:lnSpc>
              <a:buClr>
                <a:srgbClr val="660033"/>
              </a:buClr>
              <a:buSzPct val="95000"/>
              <a:buFont typeface="Wingdings" pitchFamily="2" charset="2"/>
              <a:buChar char="n"/>
            </a:pPr>
            <a:r>
              <a:rPr lang="zh-CN" altLang="en-US">
                <a:solidFill>
                  <a:srgbClr val="101016"/>
                </a:solidFill>
                <a:latin typeface="Arial" charset="0"/>
              </a:rPr>
              <a:t>＝企业持有存货的变化＝产量超过销量。</a:t>
            </a:r>
            <a:endParaRPr lang="en-US" altLang="zh-CN">
              <a:solidFill>
                <a:srgbClr val="101016"/>
              </a:solidFill>
              <a:latin typeface="Arial" charset="0"/>
            </a:endParaRPr>
          </a:p>
          <a:p>
            <a:pPr>
              <a:lnSpc>
                <a:spcPct val="120000"/>
              </a:lnSpc>
              <a:buClr>
                <a:srgbClr val="660033"/>
              </a:buClr>
              <a:buSzPct val="95000"/>
              <a:buFont typeface="Wingdings" pitchFamily="2" charset="2"/>
              <a:buChar char="n"/>
            </a:pPr>
            <a:r>
              <a:rPr lang="zh-CN" altLang="en-US">
                <a:solidFill>
                  <a:srgbClr val="101016"/>
                </a:solidFill>
                <a:latin typeface="Arial" charset="0"/>
              </a:rPr>
              <a:t>＝净存货＝年底存货－年初（上年底）存货</a:t>
            </a:r>
          </a:p>
        </p:txBody>
      </p:sp>
      <p:sp>
        <p:nvSpPr>
          <p:cNvPr id="201746" name="AutoShape 18"/>
          <p:cNvSpPr>
            <a:spLocks/>
          </p:cNvSpPr>
          <p:nvPr/>
        </p:nvSpPr>
        <p:spPr bwMode="auto">
          <a:xfrm>
            <a:off x="1403350" y="2997200"/>
            <a:ext cx="503238" cy="3024188"/>
          </a:xfrm>
          <a:prstGeom prst="leftBrace">
            <a:avLst>
              <a:gd name="adj1" fmla="val 50079"/>
              <a:gd name="adj2" fmla="val 51023"/>
            </a:avLst>
          </a:prstGeom>
          <a:noFill/>
          <a:ln w="76200">
            <a:solidFill>
              <a:srgbClr val="101016"/>
            </a:solidFill>
            <a:miter lim="800000"/>
            <a:headEnd/>
            <a:tailEnd/>
          </a:ln>
        </p:spPr>
        <p:txBody>
          <a:bodyPr wrap="none" anchor="ctr"/>
          <a:lstStyle/>
          <a:p>
            <a:pPr>
              <a:lnSpc>
                <a:spcPct val="130000"/>
              </a:lnSpc>
              <a:spcBef>
                <a:spcPct val="20000"/>
              </a:spcBef>
              <a:buClr>
                <a:schemeClr val="hlink"/>
              </a:buClr>
              <a:buSzPct val="95000"/>
              <a:buFont typeface="Wingdings" pitchFamily="2" charset="2"/>
              <a:buChar char="p"/>
            </a:pP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01735"/>
                                        </p:tgtEl>
                                        <p:attrNameLst>
                                          <p:attrName>style.visibility</p:attrName>
                                        </p:attrNameLst>
                                      </p:cBhvr>
                                      <p:to>
                                        <p:strVal val="visible"/>
                                      </p:to>
                                    </p:set>
                                    <p:animEffect transition="in" filter="blinds(horizontal)">
                                      <p:cBhvr>
                                        <p:cTn id="7" dur="500"/>
                                        <p:tgtEl>
                                          <p:spTgt spid="20173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01737"/>
                                        </p:tgtEl>
                                        <p:attrNameLst>
                                          <p:attrName>style.visibility</p:attrName>
                                        </p:attrNameLst>
                                      </p:cBhvr>
                                      <p:to>
                                        <p:strVal val="visible"/>
                                      </p:to>
                                    </p:set>
                                    <p:animEffect transition="in" filter="blinds(horizontal)">
                                      <p:cBhvr>
                                        <p:cTn id="12" dur="500"/>
                                        <p:tgtEl>
                                          <p:spTgt spid="201737"/>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201746"/>
                                        </p:tgtEl>
                                        <p:attrNameLst>
                                          <p:attrName>style.visibility</p:attrName>
                                        </p:attrNameLst>
                                      </p:cBhvr>
                                      <p:to>
                                        <p:strVal val="visible"/>
                                      </p:to>
                                    </p:set>
                                    <p:animEffect transition="in" filter="blinds(horizontal)">
                                      <p:cBhvr>
                                        <p:cTn id="15" dur="500"/>
                                        <p:tgtEl>
                                          <p:spTgt spid="201746"/>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201738"/>
                                        </p:tgtEl>
                                        <p:attrNameLst>
                                          <p:attrName>style.visibility</p:attrName>
                                        </p:attrNameLst>
                                      </p:cBhvr>
                                      <p:to>
                                        <p:strVal val="visible"/>
                                      </p:to>
                                    </p:set>
                                    <p:animEffect transition="in" filter="blinds(horizontal)">
                                      <p:cBhvr>
                                        <p:cTn id="20" dur="500"/>
                                        <p:tgtEl>
                                          <p:spTgt spid="201738"/>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201739"/>
                                        </p:tgtEl>
                                        <p:attrNameLst>
                                          <p:attrName>style.visibility</p:attrName>
                                        </p:attrNameLst>
                                      </p:cBhvr>
                                      <p:to>
                                        <p:strVal val="visible"/>
                                      </p:to>
                                    </p:set>
                                    <p:animEffect transition="in" filter="blinds(horizontal)">
                                      <p:cBhvr>
                                        <p:cTn id="25" dur="500"/>
                                        <p:tgtEl>
                                          <p:spTgt spid="201739"/>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201740"/>
                                        </p:tgtEl>
                                        <p:attrNameLst>
                                          <p:attrName>style.visibility</p:attrName>
                                        </p:attrNameLst>
                                      </p:cBhvr>
                                      <p:to>
                                        <p:strVal val="visible"/>
                                      </p:to>
                                    </p:set>
                                    <p:animEffect transition="in" filter="blinds(horizontal)">
                                      <p:cBhvr>
                                        <p:cTn id="28" dur="500"/>
                                        <p:tgtEl>
                                          <p:spTgt spid="201740"/>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201741"/>
                                        </p:tgtEl>
                                        <p:attrNameLst>
                                          <p:attrName>style.visibility</p:attrName>
                                        </p:attrNameLst>
                                      </p:cBhvr>
                                      <p:to>
                                        <p:strVal val="visible"/>
                                      </p:to>
                                    </p:set>
                                    <p:animEffect transition="in" filter="blinds(horizontal)">
                                      <p:cBhvr>
                                        <p:cTn id="31" dur="500"/>
                                        <p:tgtEl>
                                          <p:spTgt spid="201741"/>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201742"/>
                                        </p:tgtEl>
                                        <p:attrNameLst>
                                          <p:attrName>style.visibility</p:attrName>
                                        </p:attrNameLst>
                                      </p:cBhvr>
                                      <p:to>
                                        <p:strVal val="visible"/>
                                      </p:to>
                                    </p:set>
                                    <p:animEffect transition="in" filter="blinds(horizontal)">
                                      <p:cBhvr>
                                        <p:cTn id="36" dur="500"/>
                                        <p:tgtEl>
                                          <p:spTgt spid="201742"/>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201743"/>
                                        </p:tgtEl>
                                        <p:attrNameLst>
                                          <p:attrName>style.visibility</p:attrName>
                                        </p:attrNameLst>
                                      </p:cBhvr>
                                      <p:to>
                                        <p:strVal val="visible"/>
                                      </p:to>
                                    </p:set>
                                    <p:animEffect transition="in" filter="blinds(horizontal)">
                                      <p:cBhvr>
                                        <p:cTn id="39" dur="500"/>
                                        <p:tgtEl>
                                          <p:spTgt spid="201743"/>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201744"/>
                                        </p:tgtEl>
                                        <p:attrNameLst>
                                          <p:attrName>style.visibility</p:attrName>
                                        </p:attrNameLst>
                                      </p:cBhvr>
                                      <p:to>
                                        <p:strVal val="visible"/>
                                      </p:to>
                                    </p:set>
                                    <p:animEffect transition="in" filter="blinds(horizontal)">
                                      <p:cBhvr>
                                        <p:cTn id="44" dur="500"/>
                                        <p:tgtEl>
                                          <p:spTgt spid="2017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1735" grpId="0" animBg="1"/>
      <p:bldP spid="201737" grpId="0" animBg="1"/>
      <p:bldP spid="201738" grpId="0" animBg="1"/>
      <p:bldP spid="201739" grpId="0" animBg="1"/>
      <p:bldP spid="201740" grpId="0" animBg="1"/>
      <p:bldP spid="201741" grpId="0" animBg="1"/>
      <p:bldP spid="201742" grpId="0" animBg="1"/>
      <p:bldP spid="201743" grpId="0" animBg="1"/>
      <p:bldP spid="201744" grpId="0" animBg="1"/>
      <p:bldP spid="20174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2"/>
          <p:cNvSpPr>
            <a:spLocks noGrp="1" noChangeArrowheads="1"/>
          </p:cNvSpPr>
          <p:nvPr>
            <p:ph type="title"/>
          </p:nvPr>
        </p:nvSpPr>
        <p:spPr>
          <a:extLst/>
        </p:spPr>
        <p:txBody>
          <a:bodyPr/>
          <a:lstStyle/>
          <a:p>
            <a:pPr eaLnBrk="1" hangingPunct="1">
              <a:defRPr/>
            </a:pPr>
            <a:r>
              <a:rPr lang="zh-CN" altLang="en-US"/>
              <a:t>净投资</a:t>
            </a:r>
          </a:p>
        </p:txBody>
      </p:sp>
      <p:sp>
        <p:nvSpPr>
          <p:cNvPr id="204805" name="Rectangle 5" descr="新闻纸"/>
          <p:cNvSpPr>
            <a:spLocks noChangeArrowheads="1"/>
          </p:cNvSpPr>
          <p:nvPr/>
        </p:nvSpPr>
        <p:spPr bwMode="auto">
          <a:xfrm>
            <a:off x="395288" y="4581525"/>
            <a:ext cx="8229600" cy="1728788"/>
          </a:xfrm>
          <a:prstGeom prst="rect">
            <a:avLst/>
          </a:prstGeom>
          <a:blipFill dpi="0" rotWithShape="0">
            <a:blip r:embed="rId2"/>
            <a:srcRect/>
            <a:tile tx="0" ty="0" sx="100000" sy="100000" flip="none" algn="tl"/>
          </a:blipFill>
          <a:ln w="76200" cmpd="tri">
            <a:solidFill>
              <a:schemeClr val="bg2"/>
            </a:solidFill>
            <a:miter lim="800000"/>
            <a:headEnd/>
            <a:tailEnd/>
          </a:ln>
        </p:spPr>
        <p:txBody>
          <a:bodyPr/>
          <a:lstStyle/>
          <a:p>
            <a:pPr marL="95250" indent="-95250">
              <a:lnSpc>
                <a:spcPct val="90000"/>
              </a:lnSpc>
              <a:spcBef>
                <a:spcPct val="50000"/>
              </a:spcBef>
              <a:buClr>
                <a:srgbClr val="FF0000"/>
              </a:buClr>
              <a:buSzPct val="95000"/>
              <a:buFont typeface="Wingdings" pitchFamily="2" charset="2"/>
              <a:buChar char="p"/>
            </a:pPr>
            <a:r>
              <a:rPr lang="zh-CN" altLang="en-US" b="0">
                <a:solidFill>
                  <a:srgbClr val="101016"/>
                </a:solidFill>
                <a:latin typeface="黑体" pitchFamily="2" charset="-122"/>
                <a:ea typeface="黑体" pitchFamily="2" charset="-122"/>
              </a:rPr>
              <a:t>宏观经济学，严格区分投资和净投资的意义不大。</a:t>
            </a:r>
            <a:endParaRPr lang="en-US" altLang="zh-CN" b="0">
              <a:solidFill>
                <a:srgbClr val="101016"/>
              </a:solidFill>
              <a:latin typeface="黑体" pitchFamily="2" charset="-122"/>
              <a:ea typeface="黑体" pitchFamily="2" charset="-122"/>
            </a:endParaRPr>
          </a:p>
          <a:p>
            <a:pPr marL="95250" indent="-95250">
              <a:lnSpc>
                <a:spcPct val="90000"/>
              </a:lnSpc>
              <a:spcBef>
                <a:spcPct val="50000"/>
              </a:spcBef>
              <a:buClr>
                <a:srgbClr val="FF0000"/>
              </a:buClr>
              <a:buSzPct val="95000"/>
              <a:buFont typeface="Wingdings" pitchFamily="2" charset="2"/>
              <a:buChar char="p"/>
            </a:pPr>
            <a:r>
              <a:rPr lang="zh-CN" altLang="en-US" b="0">
                <a:solidFill>
                  <a:srgbClr val="101016"/>
                </a:solidFill>
                <a:latin typeface="黑体" pitchFamily="2" charset="-122"/>
                <a:ea typeface="黑体" pitchFamily="2" charset="-122"/>
              </a:rPr>
              <a:t>净投资、折旧（重置投资），都是当年投资支出，都构成社会需求。</a:t>
            </a:r>
            <a:endParaRPr lang="en-US" altLang="zh-CN" b="0">
              <a:solidFill>
                <a:srgbClr val="101016"/>
              </a:solidFill>
              <a:latin typeface="黑体" pitchFamily="2" charset="-122"/>
              <a:ea typeface="黑体" pitchFamily="2" charset="-122"/>
            </a:endParaRPr>
          </a:p>
          <a:p>
            <a:pPr marL="95250" indent="-95250">
              <a:lnSpc>
                <a:spcPct val="90000"/>
              </a:lnSpc>
              <a:spcBef>
                <a:spcPct val="50000"/>
              </a:spcBef>
              <a:buClr>
                <a:schemeClr val="hlink"/>
              </a:buClr>
              <a:buFont typeface="Wingdings" pitchFamily="2" charset="2"/>
              <a:buBlip>
                <a:blip r:embed="rId3"/>
              </a:buBlip>
            </a:pPr>
            <a:r>
              <a:rPr lang="zh-CN" altLang="en-US" b="0">
                <a:solidFill>
                  <a:srgbClr val="101016"/>
                </a:solidFill>
                <a:latin typeface="黑体" pitchFamily="2" charset="-122"/>
                <a:ea typeface="黑体" pitchFamily="2" charset="-122"/>
              </a:rPr>
              <a:t>为使问题简单化，除非特别说明，都</a:t>
            </a:r>
            <a:r>
              <a:rPr lang="zh-CN" altLang="en-US" b="0">
                <a:solidFill>
                  <a:srgbClr val="FF00FF"/>
                </a:solidFill>
                <a:latin typeface="黑体" pitchFamily="2" charset="-122"/>
                <a:ea typeface="黑体" pitchFamily="2" charset="-122"/>
              </a:rPr>
              <a:t>假定折旧为零</a:t>
            </a:r>
            <a:r>
              <a:rPr lang="zh-CN" altLang="en-US" b="0">
                <a:solidFill>
                  <a:srgbClr val="101016"/>
                </a:solidFill>
                <a:latin typeface="黑体" pitchFamily="2" charset="-122"/>
                <a:ea typeface="黑体" pitchFamily="2" charset="-122"/>
              </a:rPr>
              <a:t>，投资和净投资是同一个量。</a:t>
            </a:r>
          </a:p>
        </p:txBody>
      </p:sp>
      <p:sp>
        <p:nvSpPr>
          <p:cNvPr id="204808" name="Rectangle 8" descr="花束"/>
          <p:cNvSpPr>
            <a:spLocks noChangeArrowheads="1"/>
          </p:cNvSpPr>
          <p:nvPr/>
        </p:nvSpPr>
        <p:spPr bwMode="auto">
          <a:xfrm>
            <a:off x="546100" y="2022475"/>
            <a:ext cx="974725" cy="533400"/>
          </a:xfrm>
          <a:prstGeom prst="rect">
            <a:avLst/>
          </a:prstGeom>
          <a:blipFill dpi="0" rotWithShape="0">
            <a:blip r:embed="rId4"/>
            <a:srcRect/>
            <a:tile tx="0" ty="0" sx="100000" sy="100000" flip="none" algn="tl"/>
          </a:blipFill>
          <a:ln w="76200">
            <a:solidFill>
              <a:srgbClr val="336600"/>
            </a:solidFill>
            <a:miter lim="800000"/>
            <a:headEnd/>
            <a:tailEnd/>
          </a:ln>
        </p:spPr>
        <p:txBody>
          <a:bodyPr>
            <a:spAutoFit/>
          </a:bodyPr>
          <a:lstStyle/>
          <a:p>
            <a:pPr>
              <a:lnSpc>
                <a:spcPct val="120000"/>
              </a:lnSpc>
              <a:buClr>
                <a:srgbClr val="660033"/>
              </a:buClr>
              <a:buSzPct val="95000"/>
              <a:buFont typeface="Wingdings" pitchFamily="2" charset="2"/>
              <a:buChar char="n"/>
            </a:pPr>
            <a:r>
              <a:rPr lang="zh-CN" altLang="en-US">
                <a:solidFill>
                  <a:srgbClr val="101016"/>
                </a:solidFill>
                <a:latin typeface="Arial" charset="0"/>
              </a:rPr>
              <a:t>投资</a:t>
            </a:r>
          </a:p>
        </p:txBody>
      </p:sp>
      <p:sp>
        <p:nvSpPr>
          <p:cNvPr id="204809" name="Rectangle 9" descr="花束"/>
          <p:cNvSpPr>
            <a:spLocks noChangeArrowheads="1"/>
          </p:cNvSpPr>
          <p:nvPr/>
        </p:nvSpPr>
        <p:spPr bwMode="auto">
          <a:xfrm>
            <a:off x="1908175" y="1404938"/>
            <a:ext cx="6696075" cy="533400"/>
          </a:xfrm>
          <a:prstGeom prst="rect">
            <a:avLst/>
          </a:prstGeom>
          <a:blipFill dpi="0" rotWithShape="0">
            <a:blip r:embed="rId4"/>
            <a:srcRect/>
            <a:tile tx="0" ty="0" sx="100000" sy="100000" flip="none" algn="tl"/>
          </a:blipFill>
          <a:ln w="76200">
            <a:solidFill>
              <a:srgbClr val="336600"/>
            </a:solidFill>
            <a:miter lim="800000"/>
            <a:headEnd/>
            <a:tailEnd/>
          </a:ln>
        </p:spPr>
        <p:txBody>
          <a:bodyPr>
            <a:spAutoFit/>
          </a:bodyPr>
          <a:lstStyle/>
          <a:p>
            <a:pPr>
              <a:lnSpc>
                <a:spcPct val="120000"/>
              </a:lnSpc>
              <a:buClr>
                <a:srgbClr val="660033"/>
              </a:buClr>
              <a:buSzPct val="95000"/>
              <a:buFont typeface="Wingdings" pitchFamily="2" charset="2"/>
              <a:buChar char="n"/>
            </a:pPr>
            <a:r>
              <a:rPr lang="zh-CN" altLang="en-US">
                <a:solidFill>
                  <a:srgbClr val="101016"/>
                </a:solidFill>
                <a:latin typeface="Arial" charset="0"/>
              </a:rPr>
              <a:t>重置投资</a:t>
            </a:r>
            <a:r>
              <a:rPr lang="en-US" altLang="zh-CN">
                <a:solidFill>
                  <a:srgbClr val="101016"/>
                </a:solidFill>
                <a:latin typeface="Arial" charset="0"/>
              </a:rPr>
              <a:t>replacement </a:t>
            </a:r>
            <a:r>
              <a:rPr lang="zh-CN" altLang="en-US">
                <a:solidFill>
                  <a:srgbClr val="101016"/>
                </a:solidFill>
                <a:latin typeface="Arial" charset="0"/>
              </a:rPr>
              <a:t>＝对磨损的补偿＝</a:t>
            </a:r>
            <a:r>
              <a:rPr lang="zh-CN" altLang="en-US">
                <a:solidFill>
                  <a:srgbClr val="FF3399"/>
                </a:solidFill>
                <a:latin typeface="Arial" charset="0"/>
              </a:rPr>
              <a:t>折旧</a:t>
            </a:r>
          </a:p>
        </p:txBody>
      </p:sp>
      <p:sp>
        <p:nvSpPr>
          <p:cNvPr id="204810" name="Rectangle 10" descr="花束"/>
          <p:cNvSpPr>
            <a:spLocks noChangeArrowheads="1"/>
          </p:cNvSpPr>
          <p:nvPr/>
        </p:nvSpPr>
        <p:spPr bwMode="auto">
          <a:xfrm>
            <a:off x="1908175" y="2420938"/>
            <a:ext cx="2808288" cy="898525"/>
          </a:xfrm>
          <a:prstGeom prst="rect">
            <a:avLst/>
          </a:prstGeom>
          <a:blipFill dpi="0" rotWithShape="0">
            <a:blip r:embed="rId4"/>
            <a:srcRect/>
            <a:tile tx="0" ty="0" sx="100000" sy="100000" flip="none" algn="tl"/>
          </a:blipFill>
          <a:ln w="76200">
            <a:solidFill>
              <a:srgbClr val="336600"/>
            </a:solidFill>
            <a:miter lim="800000"/>
            <a:headEnd/>
            <a:tailEnd/>
          </a:ln>
        </p:spPr>
        <p:txBody>
          <a:bodyPr>
            <a:spAutoFit/>
          </a:bodyPr>
          <a:lstStyle/>
          <a:p>
            <a:pPr>
              <a:lnSpc>
                <a:spcPct val="120000"/>
              </a:lnSpc>
              <a:buClr>
                <a:srgbClr val="660033"/>
              </a:buClr>
              <a:buSzPct val="95000"/>
              <a:buFont typeface="Wingdings" pitchFamily="2" charset="2"/>
              <a:buChar char="n"/>
            </a:pPr>
            <a:r>
              <a:rPr lang="zh-CN" altLang="en-US">
                <a:solidFill>
                  <a:srgbClr val="101016"/>
                </a:solidFill>
                <a:latin typeface="Arial" charset="0"/>
              </a:rPr>
              <a:t>净投资</a:t>
            </a:r>
            <a:endParaRPr lang="en-US" altLang="zh-CN">
              <a:solidFill>
                <a:srgbClr val="101016"/>
              </a:solidFill>
              <a:latin typeface="Arial" charset="0"/>
            </a:endParaRPr>
          </a:p>
          <a:p>
            <a:pPr>
              <a:lnSpc>
                <a:spcPct val="120000"/>
              </a:lnSpc>
              <a:buClr>
                <a:srgbClr val="660033"/>
              </a:buClr>
              <a:buSzPct val="95000"/>
              <a:buFont typeface="Wingdings" pitchFamily="2" charset="2"/>
              <a:buChar char="n"/>
            </a:pPr>
            <a:r>
              <a:rPr lang="zh-CN" altLang="en-US">
                <a:solidFill>
                  <a:srgbClr val="101016"/>
                </a:solidFill>
                <a:latin typeface="Arial" charset="0"/>
              </a:rPr>
              <a:t>＝</a:t>
            </a:r>
            <a:r>
              <a:rPr lang="zh-CN" altLang="en-US">
                <a:solidFill>
                  <a:srgbClr val="FF3399"/>
                </a:solidFill>
                <a:latin typeface="Arial" charset="0"/>
              </a:rPr>
              <a:t>每年新增资本</a:t>
            </a:r>
          </a:p>
        </p:txBody>
      </p:sp>
      <p:sp>
        <p:nvSpPr>
          <p:cNvPr id="204811" name="Rectangle 11" descr="花束"/>
          <p:cNvSpPr>
            <a:spLocks noChangeArrowheads="1"/>
          </p:cNvSpPr>
          <p:nvPr/>
        </p:nvSpPr>
        <p:spPr bwMode="auto">
          <a:xfrm>
            <a:off x="5003800" y="2133600"/>
            <a:ext cx="3603625" cy="533400"/>
          </a:xfrm>
          <a:prstGeom prst="rect">
            <a:avLst/>
          </a:prstGeom>
          <a:blipFill dpi="0" rotWithShape="0">
            <a:blip r:embed="rId4"/>
            <a:srcRect/>
            <a:tile tx="0" ty="0" sx="100000" sy="100000" flip="none" algn="tl"/>
          </a:blipFill>
          <a:ln w="76200">
            <a:solidFill>
              <a:srgbClr val="336600"/>
            </a:solidFill>
            <a:miter lim="800000"/>
            <a:headEnd/>
            <a:tailEnd/>
          </a:ln>
        </p:spPr>
        <p:txBody>
          <a:bodyPr>
            <a:spAutoFit/>
          </a:bodyPr>
          <a:lstStyle/>
          <a:p>
            <a:pPr>
              <a:lnSpc>
                <a:spcPct val="120000"/>
              </a:lnSpc>
              <a:buClr>
                <a:srgbClr val="660033"/>
              </a:buClr>
              <a:buSzPct val="95000"/>
              <a:buFont typeface="Wingdings" pitchFamily="2" charset="2"/>
              <a:buChar char="n"/>
            </a:pPr>
            <a:r>
              <a:rPr lang="en-US" altLang="zh-CN">
                <a:solidFill>
                  <a:srgbClr val="101016"/>
                </a:solidFill>
                <a:latin typeface="Arial" charset="0"/>
              </a:rPr>
              <a:t>= </a:t>
            </a:r>
            <a:r>
              <a:rPr lang="zh-CN" altLang="en-US">
                <a:solidFill>
                  <a:srgbClr val="101016"/>
                </a:solidFill>
                <a:latin typeface="Arial" charset="0"/>
              </a:rPr>
              <a:t>总投资</a:t>
            </a:r>
            <a:r>
              <a:rPr lang="en-US" altLang="zh-CN">
                <a:solidFill>
                  <a:srgbClr val="101016"/>
                </a:solidFill>
                <a:latin typeface="Arial" charset="0"/>
              </a:rPr>
              <a:t> – </a:t>
            </a:r>
            <a:r>
              <a:rPr lang="zh-CN" altLang="en-US">
                <a:solidFill>
                  <a:srgbClr val="101016"/>
                </a:solidFill>
                <a:latin typeface="Arial" charset="0"/>
              </a:rPr>
              <a:t>折旧（重置投资）</a:t>
            </a:r>
          </a:p>
        </p:txBody>
      </p:sp>
      <p:sp>
        <p:nvSpPr>
          <p:cNvPr id="204812" name="Rectangle 12" descr="花束"/>
          <p:cNvSpPr>
            <a:spLocks noChangeArrowheads="1"/>
          </p:cNvSpPr>
          <p:nvPr/>
        </p:nvSpPr>
        <p:spPr bwMode="auto">
          <a:xfrm>
            <a:off x="5003800" y="3213100"/>
            <a:ext cx="3600450" cy="898525"/>
          </a:xfrm>
          <a:prstGeom prst="rect">
            <a:avLst/>
          </a:prstGeom>
          <a:blipFill dpi="0" rotWithShape="0">
            <a:blip r:embed="rId4"/>
            <a:srcRect/>
            <a:tile tx="0" ty="0" sx="100000" sy="100000" flip="none" algn="tl"/>
          </a:blipFill>
          <a:ln w="76200">
            <a:solidFill>
              <a:srgbClr val="336600"/>
            </a:solidFill>
            <a:miter lim="800000"/>
            <a:headEnd/>
            <a:tailEnd/>
          </a:ln>
        </p:spPr>
        <p:txBody>
          <a:bodyPr>
            <a:spAutoFit/>
          </a:bodyPr>
          <a:lstStyle/>
          <a:p>
            <a:pPr>
              <a:lnSpc>
                <a:spcPct val="120000"/>
              </a:lnSpc>
              <a:buClr>
                <a:srgbClr val="660033"/>
              </a:buClr>
              <a:buSzPct val="95000"/>
              <a:buFont typeface="Wingdings" pitchFamily="2" charset="2"/>
              <a:buChar char="n"/>
            </a:pPr>
            <a:r>
              <a:rPr lang="en-US" altLang="zh-CN">
                <a:solidFill>
                  <a:srgbClr val="101016"/>
                </a:solidFill>
                <a:latin typeface="Arial" charset="0"/>
              </a:rPr>
              <a:t>= </a:t>
            </a:r>
            <a:r>
              <a:rPr lang="zh-CN" altLang="en-US">
                <a:solidFill>
                  <a:srgbClr val="101016"/>
                </a:solidFill>
                <a:latin typeface="Arial" charset="0"/>
              </a:rPr>
              <a:t>期末资本存量</a:t>
            </a:r>
            <a:r>
              <a:rPr lang="en-US" altLang="zh-CN">
                <a:solidFill>
                  <a:srgbClr val="101016"/>
                </a:solidFill>
                <a:latin typeface="Arial" charset="0"/>
              </a:rPr>
              <a:t> - </a:t>
            </a:r>
            <a:r>
              <a:rPr lang="zh-CN" altLang="en-US">
                <a:solidFill>
                  <a:srgbClr val="101016"/>
                </a:solidFill>
                <a:latin typeface="Arial" charset="0"/>
              </a:rPr>
              <a:t>期初资本存量</a:t>
            </a:r>
          </a:p>
        </p:txBody>
      </p:sp>
      <p:sp>
        <p:nvSpPr>
          <p:cNvPr id="204814" name="AutoShape 14"/>
          <p:cNvSpPr>
            <a:spLocks/>
          </p:cNvSpPr>
          <p:nvPr/>
        </p:nvSpPr>
        <p:spPr bwMode="auto">
          <a:xfrm>
            <a:off x="1619250" y="1484313"/>
            <a:ext cx="288925" cy="1728787"/>
          </a:xfrm>
          <a:prstGeom prst="leftBrace">
            <a:avLst>
              <a:gd name="adj1" fmla="val 49863"/>
              <a:gd name="adj2" fmla="val 50046"/>
            </a:avLst>
          </a:prstGeom>
          <a:noFill/>
          <a:ln w="76200">
            <a:solidFill>
              <a:srgbClr val="101016"/>
            </a:solidFill>
            <a:miter lim="800000"/>
            <a:headEnd/>
            <a:tailEnd/>
          </a:ln>
        </p:spPr>
        <p:txBody>
          <a:bodyPr wrap="none" anchor="ctr"/>
          <a:lstStyle/>
          <a:p>
            <a:pPr>
              <a:lnSpc>
                <a:spcPct val="130000"/>
              </a:lnSpc>
              <a:spcBef>
                <a:spcPct val="20000"/>
              </a:spcBef>
              <a:buClr>
                <a:schemeClr val="hlink"/>
              </a:buClr>
              <a:buSzPct val="95000"/>
              <a:buFont typeface="Wingdings" pitchFamily="2" charset="2"/>
              <a:buChar char="p"/>
            </a:pPr>
            <a:endParaRPr lang="zh-CN" altLang="en-US"/>
          </a:p>
        </p:txBody>
      </p:sp>
      <p:sp>
        <p:nvSpPr>
          <p:cNvPr id="204815" name="AutoShape 15"/>
          <p:cNvSpPr>
            <a:spLocks/>
          </p:cNvSpPr>
          <p:nvPr/>
        </p:nvSpPr>
        <p:spPr bwMode="auto">
          <a:xfrm>
            <a:off x="4787900" y="2133600"/>
            <a:ext cx="144463" cy="1871663"/>
          </a:xfrm>
          <a:prstGeom prst="leftBrace">
            <a:avLst>
              <a:gd name="adj1" fmla="val 107967"/>
              <a:gd name="adj2" fmla="val 50000"/>
            </a:avLst>
          </a:prstGeom>
          <a:noFill/>
          <a:ln w="57150">
            <a:solidFill>
              <a:schemeClr val="tx1"/>
            </a:solidFill>
            <a:miter lim="800000"/>
            <a:headEnd/>
            <a:tailEnd/>
          </a:ln>
        </p:spPr>
        <p:txBody>
          <a:bodyPr wrap="none" anchor="ctr"/>
          <a:lstStyle/>
          <a:p>
            <a:pPr>
              <a:lnSpc>
                <a:spcPct val="130000"/>
              </a:lnSpc>
              <a:spcBef>
                <a:spcPct val="20000"/>
              </a:spcBef>
              <a:buClr>
                <a:schemeClr val="hlink"/>
              </a:buClr>
              <a:buSzPct val="95000"/>
              <a:buFont typeface="Wingdings" pitchFamily="2" charset="2"/>
              <a:buChar char="p"/>
            </a:pP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04808"/>
                                        </p:tgtEl>
                                        <p:attrNameLst>
                                          <p:attrName>style.visibility</p:attrName>
                                        </p:attrNameLst>
                                      </p:cBhvr>
                                      <p:to>
                                        <p:strVal val="visible"/>
                                      </p:to>
                                    </p:set>
                                    <p:animEffect transition="in" filter="blinds(horizontal)">
                                      <p:cBhvr>
                                        <p:cTn id="7" dur="500"/>
                                        <p:tgtEl>
                                          <p:spTgt spid="204808"/>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04814"/>
                                        </p:tgtEl>
                                        <p:attrNameLst>
                                          <p:attrName>style.visibility</p:attrName>
                                        </p:attrNameLst>
                                      </p:cBhvr>
                                      <p:to>
                                        <p:strVal val="visible"/>
                                      </p:to>
                                    </p:set>
                                    <p:animEffect transition="in" filter="blinds(horizontal)">
                                      <p:cBhvr>
                                        <p:cTn id="10" dur="500"/>
                                        <p:tgtEl>
                                          <p:spTgt spid="204814"/>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5" presetClass="entr" presetSubtype="10" fill="hold" grpId="0" nodeType="clickEffect">
                                  <p:stCondLst>
                                    <p:cond delay="0"/>
                                  </p:stCondLst>
                                  <p:childTnLst>
                                    <p:set>
                                      <p:cBhvr>
                                        <p:cTn id="14" dur="1" fill="hold">
                                          <p:stCondLst>
                                            <p:cond delay="0"/>
                                          </p:stCondLst>
                                        </p:cTn>
                                        <p:tgtEl>
                                          <p:spTgt spid="204809"/>
                                        </p:tgtEl>
                                        <p:attrNameLst>
                                          <p:attrName>style.visibility</p:attrName>
                                        </p:attrNameLst>
                                      </p:cBhvr>
                                      <p:to>
                                        <p:strVal val="visible"/>
                                      </p:to>
                                    </p:set>
                                    <p:animEffect transition="in" filter="checkerboard(across)">
                                      <p:cBhvr>
                                        <p:cTn id="15" dur="500"/>
                                        <p:tgtEl>
                                          <p:spTgt spid="204809"/>
                                        </p:tgtEl>
                                      </p:cBhvr>
                                    </p:animEffect>
                                  </p:childTnLst>
                                </p:cTn>
                              </p:par>
                              <p:par>
                                <p:cTn id="16" presetID="5" presetClass="entr" presetSubtype="10" fill="hold" grpId="0" nodeType="withEffect">
                                  <p:stCondLst>
                                    <p:cond delay="0"/>
                                  </p:stCondLst>
                                  <p:childTnLst>
                                    <p:set>
                                      <p:cBhvr>
                                        <p:cTn id="17" dur="1" fill="hold">
                                          <p:stCondLst>
                                            <p:cond delay="0"/>
                                          </p:stCondLst>
                                        </p:cTn>
                                        <p:tgtEl>
                                          <p:spTgt spid="204810"/>
                                        </p:tgtEl>
                                        <p:attrNameLst>
                                          <p:attrName>style.visibility</p:attrName>
                                        </p:attrNameLst>
                                      </p:cBhvr>
                                      <p:to>
                                        <p:strVal val="visible"/>
                                      </p:to>
                                    </p:set>
                                    <p:animEffect transition="in" filter="checkerboard(across)">
                                      <p:cBhvr>
                                        <p:cTn id="18" dur="500"/>
                                        <p:tgtEl>
                                          <p:spTgt spid="204810"/>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204811"/>
                                        </p:tgtEl>
                                        <p:attrNameLst>
                                          <p:attrName>style.visibility</p:attrName>
                                        </p:attrNameLst>
                                      </p:cBhvr>
                                      <p:to>
                                        <p:strVal val="visible"/>
                                      </p:to>
                                    </p:set>
                                    <p:animEffect transition="in" filter="box(in)">
                                      <p:cBhvr>
                                        <p:cTn id="23" dur="500"/>
                                        <p:tgtEl>
                                          <p:spTgt spid="204811"/>
                                        </p:tgtEl>
                                      </p:cBhvr>
                                    </p:animEffect>
                                  </p:childTnLst>
                                </p:cTn>
                              </p:par>
                              <p:par>
                                <p:cTn id="24" presetID="4" presetClass="entr" presetSubtype="16" fill="hold" grpId="0" nodeType="withEffect">
                                  <p:stCondLst>
                                    <p:cond delay="0"/>
                                  </p:stCondLst>
                                  <p:childTnLst>
                                    <p:set>
                                      <p:cBhvr>
                                        <p:cTn id="25" dur="1" fill="hold">
                                          <p:stCondLst>
                                            <p:cond delay="0"/>
                                          </p:stCondLst>
                                        </p:cTn>
                                        <p:tgtEl>
                                          <p:spTgt spid="204812"/>
                                        </p:tgtEl>
                                        <p:attrNameLst>
                                          <p:attrName>style.visibility</p:attrName>
                                        </p:attrNameLst>
                                      </p:cBhvr>
                                      <p:to>
                                        <p:strVal val="visible"/>
                                      </p:to>
                                    </p:set>
                                    <p:animEffect transition="in" filter="box(in)">
                                      <p:cBhvr>
                                        <p:cTn id="26" dur="500"/>
                                        <p:tgtEl>
                                          <p:spTgt spid="204812"/>
                                        </p:tgtEl>
                                      </p:cBhvr>
                                    </p:animEffect>
                                  </p:childTnLst>
                                </p:cTn>
                              </p:par>
                              <p:par>
                                <p:cTn id="27" presetID="4" presetClass="entr" presetSubtype="16" fill="hold" grpId="0" nodeType="withEffect">
                                  <p:stCondLst>
                                    <p:cond delay="0"/>
                                  </p:stCondLst>
                                  <p:childTnLst>
                                    <p:set>
                                      <p:cBhvr>
                                        <p:cTn id="28" dur="1" fill="hold">
                                          <p:stCondLst>
                                            <p:cond delay="0"/>
                                          </p:stCondLst>
                                        </p:cTn>
                                        <p:tgtEl>
                                          <p:spTgt spid="204815"/>
                                        </p:tgtEl>
                                        <p:attrNameLst>
                                          <p:attrName>style.visibility</p:attrName>
                                        </p:attrNameLst>
                                      </p:cBhvr>
                                      <p:to>
                                        <p:strVal val="visible"/>
                                      </p:to>
                                    </p:set>
                                    <p:animEffect transition="in" filter="box(in)">
                                      <p:cBhvr>
                                        <p:cTn id="29" dur="500"/>
                                        <p:tgtEl>
                                          <p:spTgt spid="204815"/>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204805"/>
                                        </p:tgtEl>
                                        <p:attrNameLst>
                                          <p:attrName>style.visibility</p:attrName>
                                        </p:attrNameLst>
                                      </p:cBhvr>
                                      <p:to>
                                        <p:strVal val="visible"/>
                                      </p:to>
                                    </p:set>
                                    <p:animEffect transition="in" filter="blinds(horizontal)">
                                      <p:cBhvr>
                                        <p:cTn id="34" dur="500"/>
                                        <p:tgtEl>
                                          <p:spTgt spid="2048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05" grpId="0" animBg="1"/>
      <p:bldP spid="204808" grpId="0" animBg="1"/>
      <p:bldP spid="204809" grpId="0" animBg="1"/>
      <p:bldP spid="204810" grpId="0" animBg="1"/>
      <p:bldP spid="204811" grpId="0" animBg="1"/>
      <p:bldP spid="204812" grpId="0" animBg="1"/>
      <p:bldP spid="204814" grpId="0" animBg="1"/>
      <p:bldP spid="20481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65" name="Rectangle 13"/>
          <p:cNvSpPr>
            <a:spLocks noGrp="1" noChangeArrowheads="1"/>
          </p:cNvSpPr>
          <p:nvPr>
            <p:ph type="title"/>
          </p:nvPr>
        </p:nvSpPr>
        <p:spPr>
          <a:extLst/>
        </p:spPr>
        <p:txBody>
          <a:bodyPr/>
          <a:lstStyle/>
          <a:p>
            <a:pPr eaLnBrk="1" hangingPunct="1">
              <a:defRPr/>
            </a:pPr>
            <a:r>
              <a:rPr lang="en-US" altLang="zh-CN"/>
              <a:t>【G】</a:t>
            </a:r>
            <a:r>
              <a:rPr lang="zh-CN" altLang="en-US"/>
              <a:t>政府购买</a:t>
            </a:r>
          </a:p>
        </p:txBody>
      </p:sp>
      <p:sp>
        <p:nvSpPr>
          <p:cNvPr id="202757" name="Rectangle 5" descr="花束"/>
          <p:cNvSpPr>
            <a:spLocks noGrp="1" noChangeArrowheads="1"/>
          </p:cNvSpPr>
          <p:nvPr>
            <p:ph type="body" sz="half" idx="1"/>
          </p:nvPr>
        </p:nvSpPr>
        <p:spPr>
          <a:xfrm>
            <a:off x="395288" y="1254125"/>
            <a:ext cx="4038600" cy="898525"/>
          </a:xfrm>
          <a:blipFill dpi="0" rotWithShape="0">
            <a:blip r:embed="rId2">
              <a:alphaModFix amt="73000"/>
            </a:blip>
            <a:srcRect/>
            <a:tile tx="0" ty="0" sx="100000" sy="100000" flip="none" algn="tl"/>
          </a:blipFill>
          <a:ln w="76200" cap="flat" cmpd="sng">
            <a:solidFill>
              <a:srgbClr val="336600"/>
            </a:solidFill>
          </a:ln>
        </p:spPr>
        <p:txBody>
          <a:bodyPr/>
          <a:lstStyle/>
          <a:p>
            <a:pPr marL="0" indent="0" eaLnBrk="1" hangingPunct="1">
              <a:spcBef>
                <a:spcPct val="0"/>
              </a:spcBef>
              <a:buClr>
                <a:srgbClr val="660033"/>
              </a:buClr>
              <a:buSzPct val="95000"/>
              <a:buFont typeface="Wingdings" pitchFamily="2" charset="2"/>
              <a:buChar char="n"/>
            </a:pPr>
            <a:r>
              <a:rPr lang="en-US" altLang="zh-CN" sz="2000" smtClean="0"/>
              <a:t>Government purchase</a:t>
            </a:r>
          </a:p>
          <a:p>
            <a:pPr marL="0" indent="0" eaLnBrk="1" hangingPunct="1">
              <a:spcBef>
                <a:spcPct val="0"/>
              </a:spcBef>
              <a:buClr>
                <a:srgbClr val="660033"/>
              </a:buClr>
              <a:buSzPct val="95000"/>
              <a:buFont typeface="Wingdings" pitchFamily="2" charset="2"/>
              <a:buChar char="n"/>
            </a:pPr>
            <a:r>
              <a:rPr lang="zh-CN" altLang="en-US" sz="2000" smtClean="0"/>
              <a:t>政府购买的产品与劳务总和。</a:t>
            </a:r>
          </a:p>
        </p:txBody>
      </p:sp>
      <p:sp>
        <p:nvSpPr>
          <p:cNvPr id="202766" name="Rectangle 14"/>
          <p:cNvSpPr>
            <a:spLocks noGrp="1" noChangeArrowheads="1"/>
          </p:cNvSpPr>
          <p:nvPr>
            <p:ph type="body" sz="half" idx="2"/>
          </p:nvPr>
        </p:nvSpPr>
        <p:spPr>
          <a:xfrm>
            <a:off x="4572000" y="1268413"/>
            <a:ext cx="4038600" cy="2339975"/>
          </a:xfrm>
          <a:solidFill>
            <a:schemeClr val="tx1">
              <a:alpha val="72940"/>
            </a:schemeClr>
          </a:solidFill>
        </p:spPr>
        <p:txBody>
          <a:bodyPr/>
          <a:lstStyle/>
          <a:p>
            <a:pPr marL="0" indent="0" eaLnBrk="1" hangingPunct="1">
              <a:lnSpc>
                <a:spcPct val="110000"/>
              </a:lnSpc>
              <a:buFont typeface="Wingdings" pitchFamily="2" charset="2"/>
              <a:buNone/>
            </a:pPr>
            <a:r>
              <a:rPr lang="zh-CN" altLang="en-US" sz="2000" smtClean="0"/>
              <a:t>转移支付（支出）：</a:t>
            </a:r>
            <a:endParaRPr lang="en-US" altLang="zh-CN" sz="2000" smtClean="0"/>
          </a:p>
          <a:p>
            <a:pPr marL="0" indent="0" eaLnBrk="1" hangingPunct="1">
              <a:lnSpc>
                <a:spcPct val="110000"/>
              </a:lnSpc>
            </a:pPr>
            <a:r>
              <a:rPr lang="zh-CN" altLang="en-US" sz="2000" smtClean="0"/>
              <a:t>政府单方面的价值让渡。</a:t>
            </a:r>
            <a:endParaRPr lang="en-US" altLang="zh-CN" sz="2000" smtClean="0"/>
          </a:p>
          <a:p>
            <a:pPr marL="0" indent="0" eaLnBrk="1" hangingPunct="1">
              <a:lnSpc>
                <a:spcPct val="110000"/>
              </a:lnSpc>
            </a:pPr>
            <a:r>
              <a:rPr lang="zh-CN" altLang="en-US" sz="2000" smtClean="0"/>
              <a:t>不是等价交换，体现的是再分配职能。</a:t>
            </a:r>
            <a:endParaRPr lang="en-US" altLang="zh-CN" sz="2000" smtClean="0"/>
          </a:p>
          <a:p>
            <a:pPr marL="0" indent="0" eaLnBrk="1" hangingPunct="1">
              <a:lnSpc>
                <a:spcPct val="110000"/>
              </a:lnSpc>
            </a:pPr>
            <a:r>
              <a:rPr lang="zh-CN" altLang="en-US" sz="2000" smtClean="0"/>
              <a:t>如社会保障支出、财政补贴、救济金、失业保障金等。</a:t>
            </a:r>
            <a:r>
              <a:rPr lang="en-US" altLang="zh-CN" sz="2000" smtClean="0"/>
              <a:t> </a:t>
            </a:r>
          </a:p>
        </p:txBody>
      </p:sp>
      <p:sp>
        <p:nvSpPr>
          <p:cNvPr id="202761" name="Rectangle 9" descr="纸莎草纸"/>
          <p:cNvSpPr>
            <a:spLocks noChangeArrowheads="1"/>
          </p:cNvSpPr>
          <p:nvPr/>
        </p:nvSpPr>
        <p:spPr bwMode="auto">
          <a:xfrm>
            <a:off x="395288" y="2708275"/>
            <a:ext cx="3960812" cy="819150"/>
          </a:xfrm>
          <a:prstGeom prst="rect">
            <a:avLst/>
          </a:prstGeom>
          <a:blipFill dpi="0" rotWithShape="0">
            <a:blip r:embed="rId3"/>
            <a:srcRect/>
            <a:tile tx="0" ty="0" sx="100000" sy="100000" flip="none" algn="tl"/>
          </a:blipFill>
          <a:ln w="57150" cmpd="thickThin">
            <a:solidFill>
              <a:srgbClr val="CCCC00"/>
            </a:solidFill>
            <a:miter lim="800000"/>
            <a:headEnd/>
            <a:tailEnd/>
          </a:ln>
        </p:spPr>
        <p:txBody>
          <a:bodyPr>
            <a:spAutoFit/>
          </a:bodyPr>
          <a:lstStyle/>
          <a:p>
            <a:pPr>
              <a:lnSpc>
                <a:spcPct val="110000"/>
              </a:lnSpc>
            </a:pPr>
            <a:r>
              <a:rPr lang="zh-CN" altLang="en-US">
                <a:solidFill>
                  <a:schemeClr val="bg1"/>
                </a:solidFill>
                <a:latin typeface="Arial" charset="0"/>
              </a:rPr>
              <a:t>不包括</a:t>
            </a:r>
            <a:r>
              <a:rPr lang="zh-CN" altLang="en-US">
                <a:solidFill>
                  <a:srgbClr val="FF3399"/>
                </a:solidFill>
                <a:latin typeface="Arial" charset="0"/>
              </a:rPr>
              <a:t>政府的转移支付、公债利息等。</a:t>
            </a:r>
          </a:p>
        </p:txBody>
      </p:sp>
      <p:sp>
        <p:nvSpPr>
          <p:cNvPr id="202767" name="Rectangle 15" descr="纸莎草纸"/>
          <p:cNvSpPr>
            <a:spLocks noChangeArrowheads="1"/>
          </p:cNvSpPr>
          <p:nvPr/>
        </p:nvSpPr>
        <p:spPr bwMode="auto">
          <a:xfrm>
            <a:off x="395288" y="3789363"/>
            <a:ext cx="8208962" cy="1154112"/>
          </a:xfrm>
          <a:prstGeom prst="rect">
            <a:avLst/>
          </a:prstGeom>
          <a:blipFill dpi="0" rotWithShape="0">
            <a:blip r:embed="rId3"/>
            <a:srcRect/>
            <a:tile tx="0" ty="0" sx="100000" sy="100000" flip="none" algn="tl"/>
          </a:blipFill>
          <a:ln w="57150" cmpd="thickThin">
            <a:solidFill>
              <a:srgbClr val="CCCC00"/>
            </a:solidFill>
            <a:miter lim="800000"/>
            <a:headEnd/>
            <a:tailEnd/>
          </a:ln>
        </p:spPr>
        <p:txBody>
          <a:bodyPr>
            <a:spAutoFit/>
          </a:bodyPr>
          <a:lstStyle/>
          <a:p>
            <a:pPr>
              <a:lnSpc>
                <a:spcPct val="110000"/>
              </a:lnSpc>
            </a:pPr>
            <a:r>
              <a:rPr lang="zh-CN" altLang="en-US">
                <a:solidFill>
                  <a:srgbClr val="101016"/>
                </a:solidFill>
                <a:latin typeface="Arial" charset="0"/>
              </a:rPr>
              <a:t>可以避免重复计算。</a:t>
            </a:r>
            <a:endParaRPr lang="en-US" altLang="zh-CN">
              <a:solidFill>
                <a:srgbClr val="101016"/>
              </a:solidFill>
              <a:latin typeface="Arial" charset="0"/>
            </a:endParaRPr>
          </a:p>
          <a:p>
            <a:pPr>
              <a:lnSpc>
                <a:spcPct val="110000"/>
              </a:lnSpc>
            </a:pPr>
            <a:r>
              <a:rPr lang="zh-CN" altLang="en-US">
                <a:solidFill>
                  <a:srgbClr val="101016"/>
                </a:solidFill>
                <a:latin typeface="Arial" charset="0"/>
              </a:rPr>
              <a:t>因为转移支付仅仅把收入转移，没有交换的产生。</a:t>
            </a:r>
            <a:endParaRPr lang="en-US" altLang="zh-CN">
              <a:solidFill>
                <a:srgbClr val="101016"/>
              </a:solidFill>
              <a:latin typeface="Arial" charset="0"/>
            </a:endParaRPr>
          </a:p>
          <a:p>
            <a:pPr>
              <a:lnSpc>
                <a:spcPct val="110000"/>
              </a:lnSpc>
            </a:pPr>
            <a:r>
              <a:rPr lang="zh-CN" altLang="en-US">
                <a:solidFill>
                  <a:srgbClr val="101016"/>
                </a:solidFill>
                <a:latin typeface="Arial" charset="0"/>
              </a:rPr>
              <a:t>政府转移支付，无非是主要归入个人消费（和投资）。</a:t>
            </a:r>
          </a:p>
        </p:txBody>
      </p:sp>
      <p:sp>
        <p:nvSpPr>
          <p:cNvPr id="202768" name="Rectangle 16" descr="纸莎草纸"/>
          <p:cNvSpPr>
            <a:spLocks noChangeArrowheads="1"/>
          </p:cNvSpPr>
          <p:nvPr/>
        </p:nvSpPr>
        <p:spPr bwMode="auto">
          <a:xfrm>
            <a:off x="395288" y="5157788"/>
            <a:ext cx="8208962" cy="484187"/>
          </a:xfrm>
          <a:prstGeom prst="rect">
            <a:avLst/>
          </a:prstGeom>
          <a:blipFill dpi="0" rotWithShape="0">
            <a:blip r:embed="rId3"/>
            <a:srcRect/>
            <a:tile tx="0" ty="0" sx="100000" sy="100000" flip="none" algn="tl"/>
          </a:blipFill>
          <a:ln w="57150" cmpd="thickThin">
            <a:solidFill>
              <a:srgbClr val="CCCC00"/>
            </a:solidFill>
            <a:miter lim="800000"/>
            <a:headEnd/>
            <a:tailEnd/>
          </a:ln>
        </p:spPr>
        <p:txBody>
          <a:bodyPr>
            <a:spAutoFit/>
          </a:bodyPr>
          <a:lstStyle/>
          <a:p>
            <a:pPr>
              <a:lnSpc>
                <a:spcPct val="110000"/>
              </a:lnSpc>
            </a:pPr>
            <a:r>
              <a:rPr lang="zh-CN" altLang="en-US">
                <a:solidFill>
                  <a:srgbClr val="101016"/>
                </a:solidFill>
                <a:latin typeface="Arial" charset="0"/>
              </a:rPr>
              <a:t>政府购买包括消费和投资两种性质。</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02757">
                                            <p:bg/>
                                          </p:spTgt>
                                        </p:tgtEl>
                                        <p:attrNameLst>
                                          <p:attrName>style.visibility</p:attrName>
                                        </p:attrNameLst>
                                      </p:cBhvr>
                                      <p:to>
                                        <p:strVal val="visible"/>
                                      </p:to>
                                    </p:set>
                                    <p:animEffect transition="in" filter="blinds(horizontal)">
                                      <p:cBhvr>
                                        <p:cTn id="7" dur="500"/>
                                        <p:tgtEl>
                                          <p:spTgt spid="202757">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02757">
                                            <p:txEl>
                                              <p:pRg st="0" end="0"/>
                                            </p:txEl>
                                          </p:spTgt>
                                        </p:tgtEl>
                                        <p:attrNameLst>
                                          <p:attrName>style.visibility</p:attrName>
                                        </p:attrNameLst>
                                      </p:cBhvr>
                                      <p:to>
                                        <p:strVal val="visible"/>
                                      </p:to>
                                    </p:set>
                                    <p:animEffect transition="in" filter="blinds(horizontal)">
                                      <p:cBhvr>
                                        <p:cTn id="12" dur="500"/>
                                        <p:tgtEl>
                                          <p:spTgt spid="202757">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02757">
                                            <p:txEl>
                                              <p:pRg st="1" end="1"/>
                                            </p:txEl>
                                          </p:spTgt>
                                        </p:tgtEl>
                                        <p:attrNameLst>
                                          <p:attrName>style.visibility</p:attrName>
                                        </p:attrNameLst>
                                      </p:cBhvr>
                                      <p:to>
                                        <p:strVal val="visible"/>
                                      </p:to>
                                    </p:set>
                                    <p:animEffect transition="in" filter="blinds(horizontal)">
                                      <p:cBhvr>
                                        <p:cTn id="17" dur="500"/>
                                        <p:tgtEl>
                                          <p:spTgt spid="202757">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202761"/>
                                        </p:tgtEl>
                                        <p:attrNameLst>
                                          <p:attrName>style.visibility</p:attrName>
                                        </p:attrNameLst>
                                      </p:cBhvr>
                                      <p:to>
                                        <p:strVal val="visible"/>
                                      </p:to>
                                    </p:set>
                                    <p:anim calcmode="lin" valueType="num">
                                      <p:cBhvr additive="base">
                                        <p:cTn id="22" dur="500" fill="hold"/>
                                        <p:tgtEl>
                                          <p:spTgt spid="202761"/>
                                        </p:tgtEl>
                                        <p:attrNameLst>
                                          <p:attrName>ppt_x</p:attrName>
                                        </p:attrNameLst>
                                      </p:cBhvr>
                                      <p:tavLst>
                                        <p:tav tm="0">
                                          <p:val>
                                            <p:strVal val="#ppt_x"/>
                                          </p:val>
                                        </p:tav>
                                        <p:tav tm="100000">
                                          <p:val>
                                            <p:strVal val="#ppt_x"/>
                                          </p:val>
                                        </p:tav>
                                      </p:tavLst>
                                    </p:anim>
                                    <p:anim calcmode="lin" valueType="num">
                                      <p:cBhvr additive="base">
                                        <p:cTn id="23" dur="500" fill="hold"/>
                                        <p:tgtEl>
                                          <p:spTgt spid="202761"/>
                                        </p:tgtEl>
                                        <p:attrNameLst>
                                          <p:attrName>ppt_y</p:attrName>
                                        </p:attrNameLst>
                                      </p:cBhvr>
                                      <p:tavLst>
                                        <p:tav tm="0">
                                          <p:val>
                                            <p:strVal val="1+#ppt_h/2"/>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202766">
                                            <p:bg/>
                                          </p:spTgt>
                                        </p:tgtEl>
                                        <p:attrNameLst>
                                          <p:attrName>style.visibility</p:attrName>
                                        </p:attrNameLst>
                                      </p:cBhvr>
                                      <p:to>
                                        <p:strVal val="visible"/>
                                      </p:to>
                                    </p:set>
                                    <p:animEffect transition="in" filter="blinds(horizontal)">
                                      <p:cBhvr>
                                        <p:cTn id="28" dur="500"/>
                                        <p:tgtEl>
                                          <p:spTgt spid="202766">
                                            <p:bg/>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202766">
                                            <p:txEl>
                                              <p:pRg st="0" end="0"/>
                                            </p:txEl>
                                          </p:spTgt>
                                        </p:tgtEl>
                                        <p:attrNameLst>
                                          <p:attrName>style.visibility</p:attrName>
                                        </p:attrNameLst>
                                      </p:cBhvr>
                                      <p:to>
                                        <p:strVal val="visible"/>
                                      </p:to>
                                    </p:set>
                                    <p:animEffect transition="in" filter="blinds(horizontal)">
                                      <p:cBhvr>
                                        <p:cTn id="33" dur="500"/>
                                        <p:tgtEl>
                                          <p:spTgt spid="202766">
                                            <p:txEl>
                                              <p:pRg st="0" end="0"/>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202766">
                                            <p:txEl>
                                              <p:pRg st="1" end="1"/>
                                            </p:txEl>
                                          </p:spTgt>
                                        </p:tgtEl>
                                        <p:attrNameLst>
                                          <p:attrName>style.visibility</p:attrName>
                                        </p:attrNameLst>
                                      </p:cBhvr>
                                      <p:to>
                                        <p:strVal val="visible"/>
                                      </p:to>
                                    </p:set>
                                    <p:animEffect transition="in" filter="blinds(horizontal)">
                                      <p:cBhvr>
                                        <p:cTn id="38" dur="500"/>
                                        <p:tgtEl>
                                          <p:spTgt spid="202766">
                                            <p:txEl>
                                              <p:pRg st="1" end="1"/>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202766">
                                            <p:txEl>
                                              <p:pRg st="2" end="2"/>
                                            </p:txEl>
                                          </p:spTgt>
                                        </p:tgtEl>
                                        <p:attrNameLst>
                                          <p:attrName>style.visibility</p:attrName>
                                        </p:attrNameLst>
                                      </p:cBhvr>
                                      <p:to>
                                        <p:strVal val="visible"/>
                                      </p:to>
                                    </p:set>
                                    <p:animEffect transition="in" filter="blinds(horizontal)">
                                      <p:cBhvr>
                                        <p:cTn id="43" dur="500"/>
                                        <p:tgtEl>
                                          <p:spTgt spid="202766">
                                            <p:txEl>
                                              <p:pRg st="2" end="2"/>
                                            </p:txEl>
                                          </p:spTgt>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202766">
                                            <p:txEl>
                                              <p:pRg st="3" end="3"/>
                                            </p:txEl>
                                          </p:spTgt>
                                        </p:tgtEl>
                                        <p:attrNameLst>
                                          <p:attrName>style.visibility</p:attrName>
                                        </p:attrNameLst>
                                      </p:cBhvr>
                                      <p:to>
                                        <p:strVal val="visible"/>
                                      </p:to>
                                    </p:set>
                                    <p:animEffect transition="in" filter="blinds(horizontal)">
                                      <p:cBhvr>
                                        <p:cTn id="48" dur="500"/>
                                        <p:tgtEl>
                                          <p:spTgt spid="202766">
                                            <p:txEl>
                                              <p:pRg st="3" end="3"/>
                                            </p:txEl>
                                          </p:spTgt>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202767"/>
                                        </p:tgtEl>
                                        <p:attrNameLst>
                                          <p:attrName>style.visibility</p:attrName>
                                        </p:attrNameLst>
                                      </p:cBhvr>
                                      <p:to>
                                        <p:strVal val="visible"/>
                                      </p:to>
                                    </p:set>
                                    <p:anim calcmode="lin" valueType="num">
                                      <p:cBhvr additive="base">
                                        <p:cTn id="53" dur="500" fill="hold"/>
                                        <p:tgtEl>
                                          <p:spTgt spid="202767"/>
                                        </p:tgtEl>
                                        <p:attrNameLst>
                                          <p:attrName>ppt_x</p:attrName>
                                        </p:attrNameLst>
                                      </p:cBhvr>
                                      <p:tavLst>
                                        <p:tav tm="0">
                                          <p:val>
                                            <p:strVal val="#ppt_x"/>
                                          </p:val>
                                        </p:tav>
                                        <p:tav tm="100000">
                                          <p:val>
                                            <p:strVal val="#ppt_x"/>
                                          </p:val>
                                        </p:tav>
                                      </p:tavLst>
                                    </p:anim>
                                    <p:anim calcmode="lin" valueType="num">
                                      <p:cBhvr additive="base">
                                        <p:cTn id="54" dur="500" fill="hold"/>
                                        <p:tgtEl>
                                          <p:spTgt spid="202767"/>
                                        </p:tgtEl>
                                        <p:attrNameLst>
                                          <p:attrName>ppt_y</p:attrName>
                                        </p:attrNameLst>
                                      </p:cBhvr>
                                      <p:tavLst>
                                        <p:tav tm="0">
                                          <p:val>
                                            <p:strVal val="1+#ppt_h/2"/>
                                          </p:val>
                                        </p:tav>
                                        <p:tav tm="100000">
                                          <p:val>
                                            <p:strVal val="#ppt_y"/>
                                          </p:val>
                                        </p:tav>
                                      </p:tavLst>
                                    </p:anim>
                                  </p:childTnLst>
                                </p:cTn>
                              </p:par>
                            </p:childTnLst>
                          </p:cTn>
                        </p:par>
                      </p:childTnLst>
                    </p:cTn>
                  </p:par>
                  <p:par>
                    <p:cTn id="55" fill="hold" nodeType="clickPar">
                      <p:stCondLst>
                        <p:cond delay="indefinite"/>
                      </p:stCondLst>
                      <p:childTnLst>
                        <p:par>
                          <p:cTn id="56" fill="hold" nodeType="withGroup">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202768"/>
                                        </p:tgtEl>
                                        <p:attrNameLst>
                                          <p:attrName>style.visibility</p:attrName>
                                        </p:attrNameLst>
                                      </p:cBhvr>
                                      <p:to>
                                        <p:strVal val="visible"/>
                                      </p:to>
                                    </p:set>
                                    <p:anim calcmode="lin" valueType="num">
                                      <p:cBhvr additive="base">
                                        <p:cTn id="59" dur="500" fill="hold"/>
                                        <p:tgtEl>
                                          <p:spTgt spid="202768"/>
                                        </p:tgtEl>
                                        <p:attrNameLst>
                                          <p:attrName>ppt_x</p:attrName>
                                        </p:attrNameLst>
                                      </p:cBhvr>
                                      <p:tavLst>
                                        <p:tav tm="0">
                                          <p:val>
                                            <p:strVal val="#ppt_x"/>
                                          </p:val>
                                        </p:tav>
                                        <p:tav tm="100000">
                                          <p:val>
                                            <p:strVal val="#ppt_x"/>
                                          </p:val>
                                        </p:tav>
                                      </p:tavLst>
                                    </p:anim>
                                    <p:anim calcmode="lin" valueType="num">
                                      <p:cBhvr additive="base">
                                        <p:cTn id="60" dur="500" fill="hold"/>
                                        <p:tgtEl>
                                          <p:spTgt spid="20276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757" grpId="0" build="p" animBg="1"/>
      <p:bldP spid="202766" grpId="0" build="p" animBg="1"/>
      <p:bldP spid="202761" grpId="0" animBg="1"/>
      <p:bldP spid="202767" grpId="0" animBg="1"/>
      <p:bldP spid="20276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2"/>
          <p:cNvSpPr>
            <a:spLocks noGrp="1" noChangeArrowheads="1"/>
          </p:cNvSpPr>
          <p:nvPr>
            <p:ph type="title"/>
          </p:nvPr>
        </p:nvSpPr>
        <p:spPr>
          <a:extLst/>
        </p:spPr>
        <p:txBody>
          <a:bodyPr/>
          <a:lstStyle/>
          <a:p>
            <a:pPr eaLnBrk="1" hangingPunct="1">
              <a:defRPr/>
            </a:pPr>
            <a:r>
              <a:rPr lang="en-US" altLang="zh-CN"/>
              <a:t>【X</a:t>
            </a:r>
            <a:r>
              <a:rPr lang="zh-CN" altLang="en-US"/>
              <a:t>－</a:t>
            </a:r>
            <a:r>
              <a:rPr lang="en-US" altLang="zh-CN"/>
              <a:t>M】</a:t>
            </a:r>
            <a:r>
              <a:rPr lang="zh-CN" altLang="en-US"/>
              <a:t>净出口</a:t>
            </a:r>
            <a:r>
              <a:rPr lang="en-US" altLang="zh-CN"/>
              <a:t> net exports</a:t>
            </a:r>
          </a:p>
        </p:txBody>
      </p:sp>
      <p:sp>
        <p:nvSpPr>
          <p:cNvPr id="237575" name="Rectangle 7" descr="纸莎草纸"/>
          <p:cNvSpPr>
            <a:spLocks noChangeArrowheads="1"/>
          </p:cNvSpPr>
          <p:nvPr/>
        </p:nvSpPr>
        <p:spPr bwMode="auto">
          <a:xfrm>
            <a:off x="395288" y="2492375"/>
            <a:ext cx="8064500" cy="819150"/>
          </a:xfrm>
          <a:prstGeom prst="rect">
            <a:avLst/>
          </a:prstGeom>
          <a:blipFill dpi="0" rotWithShape="0">
            <a:blip r:embed="rId2"/>
            <a:srcRect/>
            <a:tile tx="0" ty="0" sx="100000" sy="100000" flip="none" algn="tl"/>
          </a:blipFill>
          <a:ln w="57150" cmpd="thickThin">
            <a:solidFill>
              <a:srgbClr val="CCCC00"/>
            </a:solidFill>
            <a:miter lim="800000"/>
            <a:headEnd/>
            <a:tailEnd/>
          </a:ln>
        </p:spPr>
        <p:txBody>
          <a:bodyPr>
            <a:spAutoFit/>
          </a:bodyPr>
          <a:lstStyle/>
          <a:p>
            <a:pPr>
              <a:lnSpc>
                <a:spcPct val="110000"/>
              </a:lnSpc>
            </a:pPr>
            <a:r>
              <a:rPr lang="zh-CN" altLang="en-US">
                <a:solidFill>
                  <a:srgbClr val="101016"/>
                </a:solidFill>
                <a:latin typeface="Arial" charset="0"/>
              </a:rPr>
              <a:t>表示本国的最终产品有多少通过外国人的支出而实现。</a:t>
            </a:r>
            <a:endParaRPr lang="en-US" altLang="zh-CN">
              <a:solidFill>
                <a:srgbClr val="101016"/>
              </a:solidFill>
              <a:latin typeface="Arial" charset="0"/>
            </a:endParaRPr>
          </a:p>
          <a:p>
            <a:pPr>
              <a:lnSpc>
                <a:spcPct val="110000"/>
              </a:lnSpc>
            </a:pPr>
            <a:r>
              <a:rPr lang="zh-CN" altLang="en-US">
                <a:solidFill>
                  <a:srgbClr val="101016"/>
                </a:solidFill>
                <a:latin typeface="Arial" charset="0"/>
              </a:rPr>
              <a:t>是国外对本国产品与劳务消费和使用的净支出。</a:t>
            </a:r>
          </a:p>
        </p:txBody>
      </p:sp>
      <p:sp>
        <p:nvSpPr>
          <p:cNvPr id="237580" name="Rectangle 12" descr="花束"/>
          <p:cNvSpPr>
            <a:spLocks noGrp="1" noChangeArrowheads="1"/>
          </p:cNvSpPr>
          <p:nvPr>
            <p:ph type="body" idx="1"/>
          </p:nvPr>
        </p:nvSpPr>
        <p:spPr>
          <a:xfrm>
            <a:off x="395288" y="1268413"/>
            <a:ext cx="8064500" cy="898525"/>
          </a:xfrm>
          <a:blipFill dpi="0" rotWithShape="0">
            <a:blip r:embed="rId3">
              <a:alphaModFix amt="73000"/>
            </a:blip>
            <a:srcRect/>
            <a:tile tx="0" ty="0" sx="100000" sy="100000" flip="none" algn="tl"/>
          </a:blipFill>
          <a:ln w="76200" cap="flat" cmpd="sng">
            <a:solidFill>
              <a:srgbClr val="336600"/>
            </a:solidFill>
          </a:ln>
        </p:spPr>
        <p:txBody>
          <a:bodyPr/>
          <a:lstStyle/>
          <a:p>
            <a:pPr marL="0" indent="0" eaLnBrk="1" hangingPunct="1">
              <a:spcBef>
                <a:spcPct val="0"/>
              </a:spcBef>
              <a:buClr>
                <a:srgbClr val="660033"/>
              </a:buClr>
              <a:buSzPct val="95000"/>
              <a:buFont typeface="Wingdings" pitchFamily="2" charset="2"/>
              <a:buChar char="n"/>
            </a:pPr>
            <a:r>
              <a:rPr lang="zh-CN" altLang="en-US" smtClean="0">
                <a:solidFill>
                  <a:srgbClr val="FF3399"/>
                </a:solidFill>
              </a:rPr>
              <a:t>净出口</a:t>
            </a:r>
            <a:r>
              <a:rPr lang="zh-CN" altLang="en-US" smtClean="0"/>
              <a:t>：出口减去进口得到的差额。</a:t>
            </a:r>
            <a:endParaRPr lang="en-US" altLang="zh-CN" smtClean="0"/>
          </a:p>
          <a:p>
            <a:pPr marL="0" indent="0" eaLnBrk="1" hangingPunct="1">
              <a:spcBef>
                <a:spcPct val="0"/>
              </a:spcBef>
              <a:buClr>
                <a:srgbClr val="660033"/>
              </a:buClr>
              <a:buSzPct val="95000"/>
              <a:buFont typeface="Wingdings" pitchFamily="2" charset="2"/>
              <a:buChar char="n"/>
            </a:pPr>
            <a:r>
              <a:rPr lang="en-US" altLang="zh-CN" smtClean="0"/>
              <a:t>X</a:t>
            </a:r>
            <a:r>
              <a:rPr lang="zh-CN" altLang="en-US" smtClean="0"/>
              <a:t>＝出口，</a:t>
            </a:r>
            <a:r>
              <a:rPr lang="en-US" altLang="zh-CN" smtClean="0"/>
              <a:t>M</a:t>
            </a:r>
            <a:r>
              <a:rPr lang="zh-CN" altLang="en-US" smtClean="0"/>
              <a:t>＝进口</a:t>
            </a:r>
          </a:p>
        </p:txBody>
      </p:sp>
      <p:sp>
        <p:nvSpPr>
          <p:cNvPr id="237582" name="Rectangle 14" descr="水滴"/>
          <p:cNvSpPr>
            <a:spLocks noChangeArrowheads="1"/>
          </p:cNvSpPr>
          <p:nvPr/>
        </p:nvSpPr>
        <p:spPr bwMode="auto">
          <a:xfrm>
            <a:off x="395288" y="3860800"/>
            <a:ext cx="8064500" cy="1974850"/>
          </a:xfrm>
          <a:prstGeom prst="rect">
            <a:avLst/>
          </a:prstGeom>
          <a:blipFill dpi="0" rotWithShape="0">
            <a:blip r:embed="rId4">
              <a:alphaModFix amt="42000"/>
            </a:blip>
            <a:srcRect/>
            <a:tile tx="0" ty="0" sx="100000" sy="100000" flip="none" algn="tl"/>
          </a:blipFill>
          <a:ln w="57150" cmpd="thickThin">
            <a:solidFill>
              <a:srgbClr val="000099"/>
            </a:solidFill>
            <a:miter lim="800000"/>
            <a:headEnd/>
            <a:tailEnd/>
          </a:ln>
        </p:spPr>
        <p:txBody>
          <a:bodyPr>
            <a:spAutoFit/>
          </a:bodyPr>
          <a:lstStyle/>
          <a:p>
            <a:pPr>
              <a:lnSpc>
                <a:spcPct val="120000"/>
              </a:lnSpc>
              <a:buClr>
                <a:srgbClr val="FF0000"/>
              </a:buClr>
              <a:buSzPct val="95000"/>
              <a:buFont typeface="Wingdings" pitchFamily="2" charset="2"/>
              <a:buChar char="n"/>
            </a:pPr>
            <a:r>
              <a:rPr lang="zh-CN" altLang="en-US">
                <a:solidFill>
                  <a:srgbClr val="000000"/>
                </a:solidFill>
                <a:latin typeface="Arial" charset="0"/>
              </a:rPr>
              <a:t>中国的贸易顺差屡创新高。问题：</a:t>
            </a:r>
            <a:endParaRPr lang="en-US" altLang="zh-CN">
              <a:solidFill>
                <a:srgbClr val="000000"/>
              </a:solidFill>
              <a:latin typeface="Arial" charset="0"/>
            </a:endParaRPr>
          </a:p>
          <a:p>
            <a:pPr>
              <a:lnSpc>
                <a:spcPct val="120000"/>
              </a:lnSpc>
              <a:buClr>
                <a:srgbClr val="FF0000"/>
              </a:buClr>
              <a:buSzPct val="95000"/>
              <a:buFont typeface="Wingdings" pitchFamily="2" charset="2"/>
              <a:buChar char="n"/>
            </a:pPr>
            <a:r>
              <a:rPr lang="zh-CN" altLang="en-US">
                <a:solidFill>
                  <a:srgbClr val="000000"/>
                </a:solidFill>
                <a:latin typeface="Arial" charset="0"/>
              </a:rPr>
              <a:t>一方面，顺差过大不利于改善国际收支状况，人民币有升值压力，国际贸易磨擦增大。</a:t>
            </a:r>
            <a:endParaRPr lang="en-US" altLang="zh-CN">
              <a:solidFill>
                <a:srgbClr val="000000"/>
              </a:solidFill>
              <a:latin typeface="Arial" charset="0"/>
            </a:endParaRPr>
          </a:p>
          <a:p>
            <a:pPr>
              <a:lnSpc>
                <a:spcPct val="120000"/>
              </a:lnSpc>
              <a:buClr>
                <a:srgbClr val="FF0000"/>
              </a:buClr>
              <a:buSzPct val="95000"/>
              <a:buFont typeface="Wingdings" pitchFamily="2" charset="2"/>
              <a:buChar char="n"/>
            </a:pPr>
            <a:r>
              <a:rPr lang="zh-CN" altLang="en-US">
                <a:solidFill>
                  <a:srgbClr val="000000"/>
                </a:solidFill>
                <a:latin typeface="Arial" charset="0"/>
              </a:rPr>
              <a:t>另一方面，净出口增大使ＧＤＰ增速居高不下。但外需波动容易造成经济大起大落。</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7580">
                                            <p:bg/>
                                          </p:spTgt>
                                        </p:tgtEl>
                                        <p:attrNameLst>
                                          <p:attrName>style.visibility</p:attrName>
                                        </p:attrNameLst>
                                      </p:cBhvr>
                                      <p:to>
                                        <p:strVal val="visible"/>
                                      </p:to>
                                    </p:set>
                                    <p:animEffect transition="in" filter="blinds(horizontal)">
                                      <p:cBhvr>
                                        <p:cTn id="7" dur="500"/>
                                        <p:tgtEl>
                                          <p:spTgt spid="237580">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37580">
                                            <p:txEl>
                                              <p:pRg st="0" end="0"/>
                                            </p:txEl>
                                          </p:spTgt>
                                        </p:tgtEl>
                                        <p:attrNameLst>
                                          <p:attrName>style.visibility</p:attrName>
                                        </p:attrNameLst>
                                      </p:cBhvr>
                                      <p:to>
                                        <p:strVal val="visible"/>
                                      </p:to>
                                    </p:set>
                                    <p:animEffect transition="in" filter="blinds(horizontal)">
                                      <p:cBhvr>
                                        <p:cTn id="12" dur="500"/>
                                        <p:tgtEl>
                                          <p:spTgt spid="237580">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37580">
                                            <p:txEl>
                                              <p:pRg st="1" end="1"/>
                                            </p:txEl>
                                          </p:spTgt>
                                        </p:tgtEl>
                                        <p:attrNameLst>
                                          <p:attrName>style.visibility</p:attrName>
                                        </p:attrNameLst>
                                      </p:cBhvr>
                                      <p:to>
                                        <p:strVal val="visible"/>
                                      </p:to>
                                    </p:set>
                                    <p:animEffect transition="in" filter="blinds(horizontal)">
                                      <p:cBhvr>
                                        <p:cTn id="17" dur="500"/>
                                        <p:tgtEl>
                                          <p:spTgt spid="237580">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37575"/>
                                        </p:tgtEl>
                                        <p:attrNameLst>
                                          <p:attrName>style.visibility</p:attrName>
                                        </p:attrNameLst>
                                      </p:cBhvr>
                                      <p:to>
                                        <p:strVal val="visible"/>
                                      </p:to>
                                    </p:set>
                                    <p:animEffect transition="in" filter="blinds(horizontal)">
                                      <p:cBhvr>
                                        <p:cTn id="22" dur="500"/>
                                        <p:tgtEl>
                                          <p:spTgt spid="23757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37582"/>
                                        </p:tgtEl>
                                        <p:attrNameLst>
                                          <p:attrName>style.visibility</p:attrName>
                                        </p:attrNameLst>
                                      </p:cBhvr>
                                      <p:to>
                                        <p:strVal val="visible"/>
                                      </p:to>
                                    </p:set>
                                    <p:animEffect transition="in" filter="blinds(horizontal)">
                                      <p:cBhvr>
                                        <p:cTn id="27" dur="500"/>
                                        <p:tgtEl>
                                          <p:spTgt spid="2375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7575" grpId="0" animBg="1"/>
      <p:bldP spid="237580" grpId="0" build="p" animBg="1"/>
      <p:bldP spid="23758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4" name="Rectangle 4" descr="花束"/>
          <p:cNvSpPr>
            <a:spLocks noChangeArrowheads="1"/>
          </p:cNvSpPr>
          <p:nvPr/>
        </p:nvSpPr>
        <p:spPr bwMode="auto">
          <a:xfrm>
            <a:off x="395288" y="2133600"/>
            <a:ext cx="8208962" cy="1263650"/>
          </a:xfrm>
          <a:prstGeom prst="rect">
            <a:avLst/>
          </a:prstGeom>
          <a:blipFill dpi="0" rotWithShape="0">
            <a:blip r:embed="rId2"/>
            <a:srcRect/>
            <a:tile tx="0" ty="0" sx="100000" sy="100000" flip="none" algn="tl"/>
          </a:blipFill>
          <a:ln w="76200">
            <a:solidFill>
              <a:srgbClr val="336600"/>
            </a:solidFill>
            <a:miter lim="800000"/>
            <a:headEnd/>
            <a:tailEnd/>
          </a:ln>
        </p:spPr>
        <p:txBody>
          <a:bodyPr>
            <a:spAutoFit/>
          </a:bodyPr>
          <a:lstStyle/>
          <a:p>
            <a:pPr>
              <a:lnSpc>
                <a:spcPct val="120000"/>
              </a:lnSpc>
              <a:buClr>
                <a:srgbClr val="660033"/>
              </a:buClr>
              <a:buSzPct val="95000"/>
              <a:buFont typeface="Wingdings" pitchFamily="2" charset="2"/>
              <a:buChar char="n"/>
            </a:pPr>
            <a:r>
              <a:rPr lang="zh-CN" altLang="en-US">
                <a:solidFill>
                  <a:srgbClr val="101016"/>
                </a:solidFill>
                <a:latin typeface="Arial" charset="0"/>
              </a:rPr>
              <a:t>收入法：把</a:t>
            </a:r>
            <a:r>
              <a:rPr lang="zh-CN" altLang="en-US">
                <a:solidFill>
                  <a:srgbClr val="FF3399"/>
                </a:solidFill>
                <a:latin typeface="Arial" charset="0"/>
              </a:rPr>
              <a:t>要素</a:t>
            </a:r>
            <a:r>
              <a:rPr lang="zh-CN" altLang="en-US">
                <a:solidFill>
                  <a:srgbClr val="101016"/>
                </a:solidFill>
                <a:latin typeface="Arial" charset="0"/>
              </a:rPr>
              <a:t>所得到的收入加总而计算出的</a:t>
            </a:r>
            <a:r>
              <a:rPr lang="en-US" altLang="zh-CN">
                <a:solidFill>
                  <a:srgbClr val="101016"/>
                </a:solidFill>
                <a:latin typeface="Arial" charset="0"/>
              </a:rPr>
              <a:t>GDP</a:t>
            </a:r>
            <a:r>
              <a:rPr lang="zh-CN" altLang="en-US">
                <a:solidFill>
                  <a:srgbClr val="101016"/>
                </a:solidFill>
                <a:latin typeface="Arial" charset="0"/>
              </a:rPr>
              <a:t>。</a:t>
            </a:r>
            <a:endParaRPr lang="en-US" altLang="zh-CN">
              <a:solidFill>
                <a:srgbClr val="101016"/>
              </a:solidFill>
              <a:latin typeface="Arial" charset="0"/>
            </a:endParaRPr>
          </a:p>
          <a:p>
            <a:pPr>
              <a:lnSpc>
                <a:spcPct val="120000"/>
              </a:lnSpc>
              <a:buClr>
                <a:srgbClr val="660033"/>
              </a:buClr>
              <a:buSzPct val="95000"/>
              <a:buFont typeface="Wingdings" pitchFamily="2" charset="2"/>
              <a:buChar char="n"/>
            </a:pPr>
            <a:r>
              <a:rPr lang="zh-CN" altLang="en-US">
                <a:solidFill>
                  <a:srgbClr val="101016"/>
                </a:solidFill>
                <a:latin typeface="Arial" charset="0"/>
              </a:rPr>
              <a:t>又称</a:t>
            </a:r>
            <a:r>
              <a:rPr lang="zh-CN" altLang="en-US">
                <a:solidFill>
                  <a:srgbClr val="FF3399"/>
                </a:solidFill>
                <a:latin typeface="Arial" charset="0"/>
              </a:rPr>
              <a:t>供给法</a:t>
            </a:r>
            <a:r>
              <a:rPr lang="zh-CN" altLang="en-US">
                <a:solidFill>
                  <a:srgbClr val="101016"/>
                </a:solidFill>
                <a:latin typeface="Arial" charset="0"/>
              </a:rPr>
              <a:t>（收入代表供给）</a:t>
            </a:r>
            <a:r>
              <a:rPr lang="en-US" altLang="zh-CN">
                <a:solidFill>
                  <a:srgbClr val="101016"/>
                </a:solidFill>
                <a:latin typeface="Arial" charset="0"/>
              </a:rPr>
              <a:t> </a:t>
            </a:r>
            <a:r>
              <a:rPr lang="zh-CN" altLang="en-US">
                <a:solidFill>
                  <a:srgbClr val="101016"/>
                </a:solidFill>
                <a:latin typeface="Arial" charset="0"/>
              </a:rPr>
              <a:t>、要素支付法（</a:t>
            </a:r>
            <a:r>
              <a:rPr lang="en-US" altLang="zh-CN">
                <a:solidFill>
                  <a:srgbClr val="101016"/>
                </a:solidFill>
                <a:latin typeface="Arial" charset="0"/>
              </a:rPr>
              <a:t>factor payment approach</a:t>
            </a:r>
            <a:r>
              <a:rPr lang="zh-CN" altLang="en-US">
                <a:solidFill>
                  <a:srgbClr val="101016"/>
                </a:solidFill>
                <a:latin typeface="Arial" charset="0"/>
              </a:rPr>
              <a:t>）。</a:t>
            </a:r>
          </a:p>
        </p:txBody>
      </p:sp>
      <p:sp>
        <p:nvSpPr>
          <p:cNvPr id="199686" name="Rectangle 6" descr="花束"/>
          <p:cNvSpPr>
            <a:spLocks noChangeArrowheads="1"/>
          </p:cNvSpPr>
          <p:nvPr/>
        </p:nvSpPr>
        <p:spPr bwMode="auto">
          <a:xfrm>
            <a:off x="395288" y="3573463"/>
            <a:ext cx="4968875" cy="1993900"/>
          </a:xfrm>
          <a:prstGeom prst="rect">
            <a:avLst/>
          </a:prstGeom>
          <a:blipFill dpi="0" rotWithShape="0">
            <a:blip r:embed="rId2"/>
            <a:srcRect/>
            <a:tile tx="0" ty="0" sx="100000" sy="100000" flip="none" algn="tl"/>
          </a:blipFill>
          <a:ln w="76200">
            <a:solidFill>
              <a:srgbClr val="336600"/>
            </a:solidFill>
            <a:miter lim="800000"/>
            <a:headEnd/>
            <a:tailEnd/>
          </a:ln>
        </p:spPr>
        <p:txBody>
          <a:bodyPr>
            <a:spAutoFit/>
          </a:bodyPr>
          <a:lstStyle/>
          <a:p>
            <a:pPr>
              <a:lnSpc>
                <a:spcPct val="120000"/>
              </a:lnSpc>
              <a:buClr>
                <a:srgbClr val="660033"/>
              </a:buClr>
              <a:buSzPct val="95000"/>
              <a:buFont typeface="Wingdings" pitchFamily="2" charset="2"/>
              <a:buChar char="n"/>
            </a:pPr>
            <a:r>
              <a:rPr lang="zh-CN" altLang="en-US">
                <a:solidFill>
                  <a:srgbClr val="101016"/>
                </a:solidFill>
                <a:latin typeface="Arial" charset="0"/>
              </a:rPr>
              <a:t>收入法</a:t>
            </a:r>
            <a:r>
              <a:rPr lang="en-US" altLang="zh-CN">
                <a:solidFill>
                  <a:srgbClr val="101016"/>
                </a:solidFill>
                <a:latin typeface="Arial" charset="0"/>
              </a:rPr>
              <a:t>GDP</a:t>
            </a:r>
            <a:r>
              <a:rPr lang="zh-CN" altLang="en-US">
                <a:solidFill>
                  <a:srgbClr val="101016"/>
                </a:solidFill>
                <a:latin typeface="Arial" charset="0"/>
              </a:rPr>
              <a:t>计算公式</a:t>
            </a:r>
            <a:endParaRPr lang="en-US" altLang="zh-CN">
              <a:solidFill>
                <a:srgbClr val="101016"/>
              </a:solidFill>
              <a:latin typeface="Arial" charset="0"/>
            </a:endParaRPr>
          </a:p>
          <a:p>
            <a:pPr>
              <a:lnSpc>
                <a:spcPct val="120000"/>
              </a:lnSpc>
              <a:buClr>
                <a:srgbClr val="660033"/>
              </a:buClr>
              <a:buSzPct val="95000"/>
              <a:buFont typeface="Wingdings" pitchFamily="2" charset="2"/>
              <a:buChar char="n"/>
            </a:pPr>
            <a:r>
              <a:rPr lang="zh-CN" altLang="en-US">
                <a:solidFill>
                  <a:srgbClr val="101016"/>
                </a:solidFill>
                <a:latin typeface="Arial" charset="0"/>
              </a:rPr>
              <a:t>＝工资＋利息＋租金</a:t>
            </a:r>
            <a:r>
              <a:rPr lang="en-US" altLang="zh-CN">
                <a:solidFill>
                  <a:srgbClr val="101016"/>
                </a:solidFill>
                <a:latin typeface="Arial" charset="0"/>
              </a:rPr>
              <a:t>+</a:t>
            </a:r>
            <a:r>
              <a:rPr lang="zh-CN" altLang="en-US">
                <a:solidFill>
                  <a:srgbClr val="101016"/>
                </a:solidFill>
                <a:latin typeface="Arial" charset="0"/>
              </a:rPr>
              <a:t>税前利润</a:t>
            </a:r>
            <a:endParaRPr lang="en-US" altLang="zh-CN">
              <a:solidFill>
                <a:srgbClr val="101016"/>
              </a:solidFill>
              <a:latin typeface="Arial" charset="0"/>
            </a:endParaRPr>
          </a:p>
          <a:p>
            <a:pPr>
              <a:lnSpc>
                <a:spcPct val="120000"/>
              </a:lnSpc>
              <a:buClr>
                <a:srgbClr val="660033"/>
              </a:buClr>
              <a:buSzPct val="95000"/>
              <a:buFont typeface="Wingdings" pitchFamily="2" charset="2"/>
              <a:buChar char="n"/>
            </a:pPr>
            <a:r>
              <a:rPr lang="en-US" altLang="zh-CN">
                <a:solidFill>
                  <a:srgbClr val="101016"/>
                </a:solidFill>
                <a:latin typeface="Arial" charset="0"/>
              </a:rPr>
              <a:t>  </a:t>
            </a:r>
            <a:r>
              <a:rPr lang="zh-CN" altLang="en-US">
                <a:solidFill>
                  <a:srgbClr val="101016"/>
                </a:solidFill>
                <a:latin typeface="Arial" charset="0"/>
              </a:rPr>
              <a:t>＋折旧</a:t>
            </a:r>
            <a:endParaRPr lang="en-US" altLang="zh-CN">
              <a:solidFill>
                <a:srgbClr val="101016"/>
              </a:solidFill>
              <a:latin typeface="Arial" charset="0"/>
            </a:endParaRPr>
          </a:p>
          <a:p>
            <a:pPr>
              <a:lnSpc>
                <a:spcPct val="120000"/>
              </a:lnSpc>
              <a:buClr>
                <a:srgbClr val="660033"/>
              </a:buClr>
              <a:buSzPct val="95000"/>
              <a:buFont typeface="Wingdings" pitchFamily="2" charset="2"/>
              <a:buChar char="n"/>
            </a:pPr>
            <a:r>
              <a:rPr lang="en-US" altLang="zh-CN">
                <a:solidFill>
                  <a:srgbClr val="101016"/>
                </a:solidFill>
                <a:latin typeface="Arial" charset="0"/>
              </a:rPr>
              <a:t>  </a:t>
            </a:r>
            <a:r>
              <a:rPr lang="zh-CN" altLang="en-US">
                <a:solidFill>
                  <a:srgbClr val="101016"/>
                </a:solidFill>
                <a:latin typeface="Arial" charset="0"/>
              </a:rPr>
              <a:t>＋间接税</a:t>
            </a:r>
            <a:endParaRPr lang="en-US" altLang="zh-CN">
              <a:solidFill>
                <a:srgbClr val="101016"/>
              </a:solidFill>
              <a:latin typeface="Arial" charset="0"/>
            </a:endParaRPr>
          </a:p>
          <a:p>
            <a:pPr>
              <a:lnSpc>
                <a:spcPct val="120000"/>
              </a:lnSpc>
              <a:buClr>
                <a:srgbClr val="660033"/>
              </a:buClr>
              <a:buSzPct val="95000"/>
              <a:buFont typeface="Wingdings" pitchFamily="2" charset="2"/>
              <a:buChar char="n"/>
            </a:pPr>
            <a:r>
              <a:rPr lang="en-US" altLang="zh-CN">
                <a:solidFill>
                  <a:srgbClr val="101016"/>
                </a:solidFill>
                <a:latin typeface="Arial" charset="0"/>
              </a:rPr>
              <a:t>  </a:t>
            </a:r>
            <a:r>
              <a:rPr lang="zh-CN" altLang="en-US">
                <a:solidFill>
                  <a:srgbClr val="101016"/>
                </a:solidFill>
                <a:latin typeface="Arial" charset="0"/>
              </a:rPr>
              <a:t>＋企业转移支付</a:t>
            </a:r>
          </a:p>
        </p:txBody>
      </p:sp>
      <p:sp>
        <p:nvSpPr>
          <p:cNvPr id="199689" name="Rectangle 9" descr="水滴"/>
          <p:cNvSpPr>
            <a:spLocks noChangeArrowheads="1"/>
          </p:cNvSpPr>
          <p:nvPr/>
        </p:nvSpPr>
        <p:spPr bwMode="auto">
          <a:xfrm>
            <a:off x="395288" y="5734050"/>
            <a:ext cx="8208962" cy="514350"/>
          </a:xfrm>
          <a:prstGeom prst="rect">
            <a:avLst/>
          </a:prstGeom>
          <a:blipFill dpi="0" rotWithShape="0">
            <a:blip r:embed="rId3">
              <a:alphaModFix amt="42000"/>
            </a:blip>
            <a:srcRect/>
            <a:tile tx="0" ty="0" sx="100000" sy="100000" flip="none" algn="tl"/>
          </a:blipFill>
          <a:ln w="57150" cmpd="thickThin">
            <a:solidFill>
              <a:srgbClr val="000099"/>
            </a:solidFill>
            <a:miter lim="800000"/>
            <a:headEnd/>
            <a:tailEnd/>
          </a:ln>
        </p:spPr>
        <p:txBody>
          <a:bodyPr>
            <a:spAutoFit/>
          </a:bodyPr>
          <a:lstStyle/>
          <a:p>
            <a:pPr>
              <a:lnSpc>
                <a:spcPct val="120000"/>
              </a:lnSpc>
              <a:buClr>
                <a:srgbClr val="FF0000"/>
              </a:buClr>
              <a:buSzPct val="95000"/>
              <a:buFont typeface="Wingdings" pitchFamily="2" charset="2"/>
              <a:buChar char="n"/>
            </a:pPr>
            <a:r>
              <a:rPr lang="en-US" altLang="zh-CN">
                <a:solidFill>
                  <a:srgbClr val="000000"/>
                </a:solidFill>
                <a:latin typeface="Arial" charset="0"/>
              </a:rPr>
              <a:t>3</a:t>
            </a:r>
            <a:r>
              <a:rPr lang="zh-CN" altLang="en-US">
                <a:solidFill>
                  <a:srgbClr val="000000"/>
                </a:solidFill>
                <a:latin typeface="Arial" charset="0"/>
              </a:rPr>
              <a:t>块：（</a:t>
            </a:r>
            <a:r>
              <a:rPr lang="en-US" altLang="zh-CN">
                <a:solidFill>
                  <a:srgbClr val="000000"/>
                </a:solidFill>
                <a:latin typeface="Arial" charset="0"/>
              </a:rPr>
              <a:t>1</a:t>
            </a:r>
            <a:r>
              <a:rPr lang="zh-CN" altLang="en-US">
                <a:solidFill>
                  <a:srgbClr val="000000"/>
                </a:solidFill>
                <a:latin typeface="Arial" charset="0"/>
              </a:rPr>
              <a:t>）要素报酬收入</a:t>
            </a:r>
            <a:r>
              <a:rPr lang="en-US" altLang="zh-CN">
                <a:solidFill>
                  <a:srgbClr val="000000"/>
                </a:solidFill>
                <a:latin typeface="Arial" charset="0"/>
              </a:rPr>
              <a:t> </a:t>
            </a:r>
            <a:r>
              <a:rPr lang="zh-CN" altLang="en-US">
                <a:solidFill>
                  <a:srgbClr val="000000"/>
                </a:solidFill>
                <a:latin typeface="Arial" charset="0"/>
              </a:rPr>
              <a:t>（</a:t>
            </a:r>
            <a:r>
              <a:rPr lang="en-US" altLang="zh-CN">
                <a:solidFill>
                  <a:srgbClr val="000000"/>
                </a:solidFill>
                <a:latin typeface="Arial" charset="0"/>
              </a:rPr>
              <a:t>2</a:t>
            </a:r>
            <a:r>
              <a:rPr lang="zh-CN" altLang="en-US">
                <a:solidFill>
                  <a:srgbClr val="000000"/>
                </a:solidFill>
                <a:latin typeface="Arial" charset="0"/>
              </a:rPr>
              <a:t>）非公司企业主收入</a:t>
            </a:r>
            <a:r>
              <a:rPr lang="en-US" altLang="zh-CN">
                <a:solidFill>
                  <a:srgbClr val="000000"/>
                </a:solidFill>
                <a:latin typeface="Arial" charset="0"/>
              </a:rPr>
              <a:t> </a:t>
            </a:r>
            <a:r>
              <a:rPr lang="zh-CN" altLang="en-US">
                <a:solidFill>
                  <a:srgbClr val="000000"/>
                </a:solidFill>
                <a:latin typeface="Arial" charset="0"/>
              </a:rPr>
              <a:t>（</a:t>
            </a:r>
            <a:r>
              <a:rPr lang="en-US" altLang="zh-CN">
                <a:solidFill>
                  <a:srgbClr val="000000"/>
                </a:solidFill>
                <a:latin typeface="Arial" charset="0"/>
              </a:rPr>
              <a:t>3</a:t>
            </a:r>
            <a:r>
              <a:rPr lang="zh-CN" altLang="en-US">
                <a:solidFill>
                  <a:srgbClr val="000000"/>
                </a:solidFill>
                <a:latin typeface="Arial" charset="0"/>
              </a:rPr>
              <a:t>）厂商收入</a:t>
            </a:r>
          </a:p>
        </p:txBody>
      </p:sp>
      <p:sp>
        <p:nvSpPr>
          <p:cNvPr id="199690" name="AutoShape 10"/>
          <p:cNvSpPr>
            <a:spLocks noChangeArrowheads="1"/>
          </p:cNvSpPr>
          <p:nvPr/>
        </p:nvSpPr>
        <p:spPr bwMode="auto">
          <a:xfrm>
            <a:off x="5724525" y="3789363"/>
            <a:ext cx="2879725" cy="1584325"/>
          </a:xfrm>
          <a:prstGeom prst="wedgeRoundRectCallout">
            <a:avLst>
              <a:gd name="adj1" fmla="val -64940"/>
              <a:gd name="adj2" fmla="val -12625"/>
              <a:gd name="adj3" fmla="val 16667"/>
            </a:avLst>
          </a:prstGeom>
          <a:solidFill>
            <a:schemeClr val="tx1"/>
          </a:solidFill>
          <a:ln w="9525">
            <a:solidFill>
              <a:schemeClr val="tx1"/>
            </a:solidFill>
            <a:miter lim="800000"/>
            <a:headEnd/>
            <a:tailEnd/>
          </a:ln>
        </p:spPr>
        <p:txBody>
          <a:bodyPr/>
          <a:lstStyle/>
          <a:p>
            <a:pPr>
              <a:lnSpc>
                <a:spcPct val="110000"/>
              </a:lnSpc>
            </a:pPr>
            <a:r>
              <a:rPr lang="zh-CN" altLang="en-US">
                <a:solidFill>
                  <a:srgbClr val="101016"/>
                </a:solidFill>
                <a:latin typeface="Arial" charset="0"/>
              </a:rPr>
              <a:t>产品最终价值：除要素收入外，还有税</a:t>
            </a:r>
            <a:r>
              <a:rPr lang="zh-CN" altLang="en-US">
                <a:solidFill>
                  <a:srgbClr val="FF00FF"/>
                </a:solidFill>
                <a:latin typeface="Arial" charset="0"/>
              </a:rPr>
              <a:t>前利润、折旧、间接税等收入</a:t>
            </a:r>
          </a:p>
        </p:txBody>
      </p:sp>
      <p:sp>
        <p:nvSpPr>
          <p:cNvPr id="199693" name="Rectangle 13"/>
          <p:cNvSpPr>
            <a:spLocks noChangeArrowheads="1"/>
          </p:cNvSpPr>
          <p:nvPr/>
        </p:nvSpPr>
        <p:spPr bwMode="auto">
          <a:xfrm>
            <a:off x="395288" y="333375"/>
            <a:ext cx="5256212" cy="647700"/>
          </a:xfrm>
          <a:prstGeom prst="rect">
            <a:avLst/>
          </a:prstGeom>
          <a:noFill/>
          <a:ln>
            <a:noFill/>
          </a:ln>
          <a:effectLst/>
          <a:extLst/>
        </p:spPr>
        <p:txBody>
          <a:bodyPr anchor="ctr"/>
          <a:lstStyle/>
          <a:p>
            <a:pPr>
              <a:defRPr/>
            </a:pPr>
            <a:r>
              <a:rPr lang="zh-CN" altLang="en-US" sz="2400">
                <a:solidFill>
                  <a:srgbClr val="230D75"/>
                </a:solidFill>
                <a:effectLst>
                  <a:outerShdw blurRad="38100" dist="38100" dir="2700000" algn="tl">
                    <a:srgbClr val="000000"/>
                  </a:outerShdw>
                </a:effectLst>
                <a:latin typeface="Arial" charset="0"/>
                <a:ea typeface="宋体" charset="0"/>
              </a:rPr>
              <a:t>第三节</a:t>
            </a:r>
            <a:r>
              <a:rPr lang="en-US" altLang="zh-CN" sz="2400">
                <a:solidFill>
                  <a:srgbClr val="230D75"/>
                </a:solidFill>
                <a:effectLst>
                  <a:outerShdw blurRad="38100" dist="38100" dir="2700000" algn="tl">
                    <a:srgbClr val="000000"/>
                  </a:outerShdw>
                </a:effectLst>
                <a:latin typeface="Arial" charset="0"/>
                <a:ea typeface="宋体" charset="0"/>
              </a:rPr>
              <a:t>  </a:t>
            </a:r>
            <a:r>
              <a:rPr lang="zh-CN" altLang="en-US" sz="2400">
                <a:solidFill>
                  <a:srgbClr val="230D75"/>
                </a:solidFill>
                <a:effectLst>
                  <a:outerShdw blurRad="38100" dist="38100" dir="2700000" algn="tl">
                    <a:srgbClr val="000000"/>
                  </a:outerShdw>
                </a:effectLst>
                <a:latin typeface="Arial" charset="0"/>
                <a:ea typeface="宋体" charset="0"/>
              </a:rPr>
              <a:t>国内生产总值的计算方法</a:t>
            </a:r>
          </a:p>
        </p:txBody>
      </p:sp>
      <p:sp>
        <p:nvSpPr>
          <p:cNvPr id="199694" name="AutoShape 14" descr="花束"/>
          <p:cNvSpPr>
            <a:spLocks noChangeArrowheads="1"/>
          </p:cNvSpPr>
          <p:nvPr/>
        </p:nvSpPr>
        <p:spPr bwMode="auto">
          <a:xfrm>
            <a:off x="406400" y="1347788"/>
            <a:ext cx="8174038" cy="608012"/>
          </a:xfrm>
          <a:prstGeom prst="horizontalScroll">
            <a:avLst>
              <a:gd name="adj" fmla="val 12500"/>
            </a:avLst>
          </a:prstGeom>
          <a:blipFill dpi="0" rotWithShape="0">
            <a:blip r:embed="rId2"/>
            <a:srcRect/>
            <a:tile tx="0" ty="0" sx="100000" sy="100000" flip="none" algn="tl"/>
          </a:blipFill>
          <a:ln w="76200">
            <a:solidFill>
              <a:srgbClr val="336600"/>
            </a:solidFill>
            <a:miter lim="800000"/>
            <a:headEnd/>
            <a:tailEnd/>
          </a:ln>
          <a:effectLst/>
          <a:extLst/>
        </p:spPr>
        <p:txBody>
          <a:bodyPr>
            <a:spAutoFit/>
          </a:bodyPr>
          <a:lstStyle/>
          <a:p>
            <a:pPr>
              <a:lnSpc>
                <a:spcPct val="120000"/>
              </a:lnSpc>
              <a:buClr>
                <a:srgbClr val="660033"/>
              </a:buClr>
              <a:buSzPct val="95000"/>
              <a:buFont typeface="Wingdings" charset="0"/>
              <a:buNone/>
              <a:defRPr/>
            </a:pPr>
            <a:r>
              <a:rPr lang="zh-CN" altLang="en-US" sz="1800">
                <a:solidFill>
                  <a:srgbClr val="230D75"/>
                </a:solidFill>
                <a:effectLst>
                  <a:outerShdw blurRad="38100" dist="38100" dir="2700000" algn="tl">
                    <a:srgbClr val="000000"/>
                  </a:outerShdw>
                </a:effectLst>
                <a:latin typeface="Arial" charset="0"/>
                <a:ea typeface="宋体" charset="0"/>
              </a:rPr>
              <a:t>二、收入法</a:t>
            </a:r>
            <a:r>
              <a:rPr lang="en-US" altLang="zh-CN" sz="1800">
                <a:solidFill>
                  <a:srgbClr val="230D75"/>
                </a:solidFill>
                <a:effectLst>
                  <a:outerShdw blurRad="38100" dist="38100" dir="2700000" algn="tl">
                    <a:srgbClr val="000000"/>
                  </a:outerShdw>
                </a:effectLst>
                <a:latin typeface="Arial" charset="0"/>
                <a:ea typeface="宋体" charset="0"/>
              </a:rPr>
              <a:t> income approach</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9684"/>
                                        </p:tgtEl>
                                        <p:attrNameLst>
                                          <p:attrName>style.visibility</p:attrName>
                                        </p:attrNameLst>
                                      </p:cBhvr>
                                      <p:to>
                                        <p:strVal val="visible"/>
                                      </p:to>
                                    </p:set>
                                    <p:anim calcmode="lin" valueType="num">
                                      <p:cBhvr additive="base">
                                        <p:cTn id="7" dur="500" fill="hold"/>
                                        <p:tgtEl>
                                          <p:spTgt spid="199684"/>
                                        </p:tgtEl>
                                        <p:attrNameLst>
                                          <p:attrName>ppt_x</p:attrName>
                                        </p:attrNameLst>
                                      </p:cBhvr>
                                      <p:tavLst>
                                        <p:tav tm="0">
                                          <p:val>
                                            <p:strVal val="#ppt_x"/>
                                          </p:val>
                                        </p:tav>
                                        <p:tav tm="100000">
                                          <p:val>
                                            <p:strVal val="#ppt_x"/>
                                          </p:val>
                                        </p:tav>
                                      </p:tavLst>
                                    </p:anim>
                                    <p:anim calcmode="lin" valueType="num">
                                      <p:cBhvr additive="base">
                                        <p:cTn id="8" dur="500" fill="hold"/>
                                        <p:tgtEl>
                                          <p:spTgt spid="19968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199686"/>
                                        </p:tgtEl>
                                        <p:attrNameLst>
                                          <p:attrName>style.visibility</p:attrName>
                                        </p:attrNameLst>
                                      </p:cBhvr>
                                      <p:to>
                                        <p:strVal val="visible"/>
                                      </p:to>
                                    </p:set>
                                    <p:animEffect transition="in" filter="blinds(horizontal)">
                                      <p:cBhvr>
                                        <p:cTn id="13" dur="500"/>
                                        <p:tgtEl>
                                          <p:spTgt spid="199686"/>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199690"/>
                                        </p:tgtEl>
                                        <p:attrNameLst>
                                          <p:attrName>style.visibility</p:attrName>
                                        </p:attrNameLst>
                                      </p:cBhvr>
                                      <p:to>
                                        <p:strVal val="visible"/>
                                      </p:to>
                                    </p:set>
                                    <p:animEffect transition="in" filter="blinds(horizontal)">
                                      <p:cBhvr>
                                        <p:cTn id="18" dur="500"/>
                                        <p:tgtEl>
                                          <p:spTgt spid="199690"/>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99689"/>
                                        </p:tgtEl>
                                        <p:attrNameLst>
                                          <p:attrName>style.visibility</p:attrName>
                                        </p:attrNameLst>
                                      </p:cBhvr>
                                      <p:to>
                                        <p:strVal val="visible"/>
                                      </p:to>
                                    </p:set>
                                    <p:animEffect transition="in" filter="blinds(horizontal)">
                                      <p:cBhvr>
                                        <p:cTn id="23" dur="500"/>
                                        <p:tgtEl>
                                          <p:spTgt spid="199689"/>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99694"/>
                                        </p:tgtEl>
                                        <p:attrNameLst>
                                          <p:attrName>style.visibility</p:attrName>
                                        </p:attrNameLst>
                                      </p:cBhvr>
                                      <p:to>
                                        <p:strVal val="visible"/>
                                      </p:to>
                                    </p:set>
                                    <p:animEffect transition="in" filter="box(in)">
                                      <p:cBhvr>
                                        <p:cTn id="28" dur="500"/>
                                        <p:tgtEl>
                                          <p:spTgt spid="1996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684" grpId="0" animBg="1"/>
      <p:bldP spid="199686" grpId="0" animBg="1"/>
      <p:bldP spid="199689" grpId="0" animBg="1"/>
      <p:bldP spid="199690" grpId="0" animBg="1"/>
      <p:bldP spid="19969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2"/>
          <p:cNvSpPr>
            <a:spLocks noGrp="1" noChangeArrowheads="1"/>
          </p:cNvSpPr>
          <p:nvPr>
            <p:ph type="title"/>
          </p:nvPr>
        </p:nvSpPr>
        <p:spPr>
          <a:extLst/>
        </p:spPr>
        <p:txBody>
          <a:bodyPr/>
          <a:lstStyle/>
          <a:p>
            <a:pPr eaLnBrk="1" hangingPunct="1">
              <a:defRPr/>
            </a:pPr>
            <a:r>
              <a:rPr lang="zh-CN" altLang="en-US"/>
              <a:t>（</a:t>
            </a:r>
            <a:r>
              <a:rPr lang="en-US" altLang="zh-CN"/>
              <a:t>1</a:t>
            </a:r>
            <a:r>
              <a:rPr lang="zh-CN" altLang="en-US"/>
              <a:t>）生产要素报酬收入（利润除外）</a:t>
            </a:r>
          </a:p>
        </p:txBody>
      </p:sp>
      <p:sp>
        <p:nvSpPr>
          <p:cNvPr id="209924" name="Rectangle 4"/>
          <p:cNvSpPr>
            <a:spLocks noGrp="1" noChangeArrowheads="1"/>
          </p:cNvSpPr>
          <p:nvPr>
            <p:ph type="body" idx="1"/>
          </p:nvPr>
        </p:nvSpPr>
        <p:spPr>
          <a:xfrm>
            <a:off x="395288" y="1268413"/>
            <a:ext cx="8229600" cy="2438400"/>
          </a:xfrm>
          <a:ln cap="flat"/>
        </p:spPr>
        <p:txBody>
          <a:bodyPr/>
          <a:lstStyle/>
          <a:p>
            <a:pPr eaLnBrk="1" hangingPunct="1"/>
            <a:r>
              <a:rPr lang="zh-CN" altLang="en-US" smtClean="0"/>
              <a:t>工资：所有对工作的酬金、津贴和福利费，其中包括</a:t>
            </a:r>
            <a:r>
              <a:rPr lang="zh-CN" altLang="en-US" smtClean="0">
                <a:solidFill>
                  <a:srgbClr val="FF00FF"/>
                </a:solidFill>
              </a:rPr>
              <a:t>个人所得税和社会保险税</a:t>
            </a:r>
            <a:r>
              <a:rPr lang="zh-CN" altLang="en-US" smtClean="0"/>
              <a:t>。</a:t>
            </a:r>
            <a:endParaRPr lang="en-US" altLang="zh-CN" smtClean="0"/>
          </a:p>
          <a:p>
            <a:pPr eaLnBrk="1" hangingPunct="1"/>
            <a:r>
              <a:rPr lang="zh-CN" altLang="en-US" smtClean="0"/>
              <a:t>利息：给企业提供的货币资金所得利息，如</a:t>
            </a:r>
            <a:r>
              <a:rPr lang="zh-CN" altLang="en-US" smtClean="0">
                <a:solidFill>
                  <a:srgbClr val="FF00FF"/>
                </a:solidFill>
              </a:rPr>
              <a:t>银行存款利息、企业债券利息</a:t>
            </a:r>
            <a:r>
              <a:rPr lang="zh-CN" altLang="en-US" smtClean="0"/>
              <a:t>等。</a:t>
            </a:r>
            <a:r>
              <a:rPr lang="zh-CN" altLang="en-US" smtClean="0">
                <a:solidFill>
                  <a:srgbClr val="FF3399"/>
                </a:solidFill>
              </a:rPr>
              <a:t>不包括</a:t>
            </a:r>
            <a:r>
              <a:rPr lang="zh-CN" altLang="en-US" smtClean="0">
                <a:solidFill>
                  <a:srgbClr val="04CC2A"/>
                </a:solidFill>
              </a:rPr>
              <a:t>政府公债利息</a:t>
            </a:r>
            <a:r>
              <a:rPr lang="zh-CN" altLang="en-US" smtClean="0"/>
              <a:t>和</a:t>
            </a:r>
            <a:r>
              <a:rPr lang="zh-CN" altLang="en-US" smtClean="0">
                <a:solidFill>
                  <a:srgbClr val="04CC2A"/>
                </a:solidFill>
              </a:rPr>
              <a:t>消费信贷利息</a:t>
            </a:r>
            <a:r>
              <a:rPr lang="zh-CN" altLang="en-US" smtClean="0"/>
              <a:t>。</a:t>
            </a:r>
            <a:endParaRPr lang="en-US" altLang="zh-CN" smtClean="0"/>
          </a:p>
          <a:p>
            <a:pPr eaLnBrk="1" hangingPunct="1"/>
            <a:r>
              <a:rPr lang="zh-CN" altLang="en-US" smtClean="0"/>
              <a:t>租金：出租土地、房屋等租赁收入；</a:t>
            </a:r>
            <a:r>
              <a:rPr lang="zh-CN" altLang="en-US" sz="3600" smtClean="0">
                <a:solidFill>
                  <a:srgbClr val="FF00FF"/>
                </a:solidFill>
              </a:rPr>
              <a:t>专利</a:t>
            </a:r>
            <a:r>
              <a:rPr lang="zh-CN" altLang="en-US" smtClean="0"/>
              <a:t>、版权等收入。</a:t>
            </a:r>
          </a:p>
        </p:txBody>
      </p:sp>
      <p:sp>
        <p:nvSpPr>
          <p:cNvPr id="209925" name="Rectangle 5" descr="水滴"/>
          <p:cNvSpPr>
            <a:spLocks noChangeArrowheads="1"/>
          </p:cNvSpPr>
          <p:nvPr/>
        </p:nvSpPr>
        <p:spPr bwMode="auto">
          <a:xfrm>
            <a:off x="468313" y="4437063"/>
            <a:ext cx="8208962" cy="1244600"/>
          </a:xfrm>
          <a:prstGeom prst="rect">
            <a:avLst/>
          </a:prstGeom>
          <a:blipFill dpi="0" rotWithShape="0">
            <a:blip r:embed="rId3">
              <a:alphaModFix amt="42000"/>
            </a:blip>
            <a:srcRect/>
            <a:tile tx="0" ty="0" sx="100000" sy="100000" flip="none" algn="tl"/>
          </a:blipFill>
          <a:ln w="57150" cmpd="thickThin">
            <a:solidFill>
              <a:srgbClr val="000099"/>
            </a:solidFill>
            <a:miter lim="800000"/>
            <a:headEnd/>
            <a:tailEnd/>
          </a:ln>
        </p:spPr>
        <p:txBody>
          <a:bodyPr>
            <a:spAutoFit/>
          </a:bodyPr>
          <a:lstStyle/>
          <a:p>
            <a:pPr>
              <a:lnSpc>
                <a:spcPct val="120000"/>
              </a:lnSpc>
              <a:buClr>
                <a:srgbClr val="FF0000"/>
              </a:buClr>
              <a:buSzPct val="95000"/>
              <a:buFont typeface="Wingdings" pitchFamily="2" charset="2"/>
              <a:buChar char="n"/>
            </a:pPr>
            <a:r>
              <a:rPr lang="zh-CN" altLang="en-US">
                <a:solidFill>
                  <a:srgbClr val="000000"/>
                </a:solidFill>
                <a:latin typeface="Arial" charset="0"/>
              </a:rPr>
              <a:t>主要指自办业务的医生、律师、农民和小商贩的收入，个体户收入。</a:t>
            </a:r>
            <a:endParaRPr lang="en-US" altLang="zh-CN">
              <a:solidFill>
                <a:srgbClr val="000000"/>
              </a:solidFill>
              <a:latin typeface="Arial" charset="0"/>
            </a:endParaRPr>
          </a:p>
          <a:p>
            <a:pPr>
              <a:lnSpc>
                <a:spcPct val="120000"/>
              </a:lnSpc>
              <a:buClr>
                <a:srgbClr val="FF0000"/>
              </a:buClr>
              <a:buSzPct val="95000"/>
              <a:buFont typeface="Wingdings" pitchFamily="2" charset="2"/>
              <a:buChar char="n"/>
            </a:pPr>
            <a:r>
              <a:rPr lang="zh-CN" altLang="en-US">
                <a:solidFill>
                  <a:srgbClr val="000000"/>
                </a:solidFill>
                <a:latin typeface="Arial" charset="0"/>
              </a:rPr>
              <a:t>利用自己的资金，自我雇佣，工资、利息、利润和租金常混在一起，无法区分。</a:t>
            </a:r>
          </a:p>
        </p:txBody>
      </p:sp>
      <p:sp>
        <p:nvSpPr>
          <p:cNvPr id="209927" name="Rectangle 7"/>
          <p:cNvSpPr>
            <a:spLocks noChangeArrowheads="1"/>
          </p:cNvSpPr>
          <p:nvPr/>
        </p:nvSpPr>
        <p:spPr bwMode="auto">
          <a:xfrm>
            <a:off x="468313" y="3573463"/>
            <a:ext cx="5256212" cy="647700"/>
          </a:xfrm>
          <a:prstGeom prst="rect">
            <a:avLst/>
          </a:prstGeom>
          <a:noFill/>
          <a:ln>
            <a:noFill/>
          </a:ln>
          <a:effectLst/>
          <a:extLst/>
        </p:spPr>
        <p:txBody>
          <a:bodyPr anchor="ctr"/>
          <a:lstStyle/>
          <a:p>
            <a:pPr>
              <a:defRPr/>
            </a:pPr>
            <a:r>
              <a:rPr lang="zh-CN" altLang="en-US" sz="2400">
                <a:solidFill>
                  <a:srgbClr val="230D75"/>
                </a:solidFill>
                <a:effectLst>
                  <a:outerShdw blurRad="38100" dist="38100" dir="2700000" algn="tl">
                    <a:srgbClr val="000000"/>
                  </a:outerShdw>
                </a:effectLst>
                <a:latin typeface="Arial" charset="0"/>
                <a:ea typeface="宋体" charset="0"/>
              </a:rPr>
              <a:t>（</a:t>
            </a:r>
            <a:r>
              <a:rPr lang="en-US" altLang="zh-CN" sz="2400">
                <a:solidFill>
                  <a:srgbClr val="230D75"/>
                </a:solidFill>
                <a:effectLst>
                  <a:outerShdw blurRad="38100" dist="38100" dir="2700000" algn="tl">
                    <a:srgbClr val="000000"/>
                  </a:outerShdw>
                </a:effectLst>
                <a:latin typeface="Arial" charset="0"/>
                <a:ea typeface="宋体" charset="0"/>
              </a:rPr>
              <a:t>2</a:t>
            </a:r>
            <a:r>
              <a:rPr lang="zh-CN" altLang="en-US" sz="2400">
                <a:solidFill>
                  <a:srgbClr val="230D75"/>
                </a:solidFill>
                <a:effectLst>
                  <a:outerShdw blurRad="38100" dist="38100" dir="2700000" algn="tl">
                    <a:srgbClr val="000000"/>
                  </a:outerShdw>
                </a:effectLst>
                <a:latin typeface="Arial" charset="0"/>
                <a:ea typeface="宋体" charset="0"/>
              </a:rPr>
              <a:t>）非公司企业主收入</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209924">
                                            <p:txEl>
                                              <p:pRg st="0" end="0"/>
                                            </p:txEl>
                                          </p:spTgt>
                                        </p:tgtEl>
                                        <p:attrNameLst>
                                          <p:attrName>style.visibility</p:attrName>
                                        </p:attrNameLst>
                                      </p:cBhvr>
                                      <p:to>
                                        <p:strVal val="visible"/>
                                      </p:to>
                                    </p:set>
                                    <p:animEffect transition="in" filter="box(out)">
                                      <p:cBhvr>
                                        <p:cTn id="7" dur="500"/>
                                        <p:tgtEl>
                                          <p:spTgt spid="209924">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209924">
                                            <p:txEl>
                                              <p:pRg st="1" end="1"/>
                                            </p:txEl>
                                          </p:spTgt>
                                        </p:tgtEl>
                                        <p:attrNameLst>
                                          <p:attrName>style.visibility</p:attrName>
                                        </p:attrNameLst>
                                      </p:cBhvr>
                                      <p:to>
                                        <p:strVal val="visible"/>
                                      </p:to>
                                    </p:set>
                                    <p:animEffect transition="in" filter="box(out)">
                                      <p:cBhvr>
                                        <p:cTn id="12" dur="500"/>
                                        <p:tgtEl>
                                          <p:spTgt spid="209924">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209924">
                                            <p:txEl>
                                              <p:pRg st="2" end="2"/>
                                            </p:txEl>
                                          </p:spTgt>
                                        </p:tgtEl>
                                        <p:attrNameLst>
                                          <p:attrName>style.visibility</p:attrName>
                                        </p:attrNameLst>
                                      </p:cBhvr>
                                      <p:to>
                                        <p:strVal val="visible"/>
                                      </p:to>
                                    </p:set>
                                    <p:animEffect transition="in" filter="box(out)">
                                      <p:cBhvr>
                                        <p:cTn id="17" dur="500"/>
                                        <p:tgtEl>
                                          <p:spTgt spid="209924">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09925"/>
                                        </p:tgtEl>
                                        <p:attrNameLst>
                                          <p:attrName>style.visibility</p:attrName>
                                        </p:attrNameLst>
                                      </p:cBhvr>
                                      <p:to>
                                        <p:strVal val="visible"/>
                                      </p:to>
                                    </p:set>
                                    <p:animEffect transition="in" filter="blinds(horizontal)">
                                      <p:cBhvr>
                                        <p:cTn id="22" dur="500"/>
                                        <p:tgtEl>
                                          <p:spTgt spid="2099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924" grpId="0" build="p" autoUpdateAnimBg="0"/>
      <p:bldP spid="20992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6" name="Rectangle 4"/>
          <p:cNvSpPr>
            <a:spLocks noGrp="1" noChangeArrowheads="1"/>
          </p:cNvSpPr>
          <p:nvPr>
            <p:ph type="title"/>
          </p:nvPr>
        </p:nvSpPr>
        <p:spPr>
          <a:extLst/>
        </p:spPr>
        <p:txBody>
          <a:bodyPr/>
          <a:lstStyle/>
          <a:p>
            <a:pPr eaLnBrk="1" hangingPunct="1">
              <a:defRPr/>
            </a:pPr>
            <a:r>
              <a:rPr lang="zh-CN" altLang="en-US"/>
              <a:t>（</a:t>
            </a:r>
            <a:r>
              <a:rPr lang="en-US" altLang="zh-CN"/>
              <a:t>3</a:t>
            </a:r>
            <a:r>
              <a:rPr lang="zh-CN" altLang="en-US"/>
              <a:t>）厂商收入</a:t>
            </a:r>
          </a:p>
        </p:txBody>
      </p:sp>
      <p:sp>
        <p:nvSpPr>
          <p:cNvPr id="207881" name="Rectangle 9"/>
          <p:cNvSpPr>
            <a:spLocks noGrp="1" noChangeArrowheads="1"/>
          </p:cNvSpPr>
          <p:nvPr>
            <p:ph type="body" sz="half" idx="1"/>
          </p:nvPr>
        </p:nvSpPr>
        <p:spPr>
          <a:xfrm>
            <a:off x="395288" y="1268413"/>
            <a:ext cx="8208962" cy="939800"/>
          </a:xfrm>
          <a:ln cap="flat"/>
        </p:spPr>
        <p:txBody>
          <a:bodyPr/>
          <a:lstStyle/>
          <a:p>
            <a:pPr eaLnBrk="1" hangingPunct="1"/>
            <a:r>
              <a:rPr lang="zh-CN" altLang="en-US" sz="2000" smtClean="0">
                <a:solidFill>
                  <a:srgbClr val="FF3399"/>
                </a:solidFill>
              </a:rPr>
              <a:t>公司税前利润：</a:t>
            </a:r>
            <a:endParaRPr lang="en-US" altLang="zh-CN" sz="2000" smtClean="0"/>
          </a:p>
          <a:p>
            <a:pPr eaLnBrk="1" hangingPunct="1"/>
            <a:r>
              <a:rPr lang="zh-CN" altLang="en-US" sz="2000" smtClean="0"/>
              <a:t>包括：公司所得税、社会保险税、股东红利（股息）和未分配利润等。</a:t>
            </a:r>
          </a:p>
        </p:txBody>
      </p:sp>
      <p:sp>
        <p:nvSpPr>
          <p:cNvPr id="207883" name="Rectangle 11"/>
          <p:cNvSpPr>
            <a:spLocks noChangeArrowheads="1"/>
          </p:cNvSpPr>
          <p:nvPr/>
        </p:nvSpPr>
        <p:spPr bwMode="auto">
          <a:xfrm>
            <a:off x="468313" y="5229225"/>
            <a:ext cx="7993062" cy="939800"/>
          </a:xfrm>
          <a:prstGeom prst="rect">
            <a:avLst/>
          </a:prstGeom>
          <a:solidFill>
            <a:schemeClr val="tx2">
              <a:alpha val="72940"/>
            </a:schemeClr>
          </a:solidFill>
          <a:ln w="57150" cmpd="thinThick">
            <a:solidFill>
              <a:srgbClr val="996633"/>
            </a:solidFill>
            <a:miter lim="800000"/>
            <a:headEnd/>
            <a:tailEnd/>
          </a:ln>
        </p:spPr>
        <p:txBody>
          <a:bodyPr>
            <a:spAutoFit/>
          </a:bodyPr>
          <a:lstStyle/>
          <a:p>
            <a:pPr marL="95250" indent="-95250">
              <a:lnSpc>
                <a:spcPct val="120000"/>
              </a:lnSpc>
              <a:spcBef>
                <a:spcPct val="20000"/>
              </a:spcBef>
              <a:buClr>
                <a:schemeClr val="hlink"/>
              </a:buClr>
              <a:buFont typeface="Wingdings" pitchFamily="2" charset="2"/>
              <a:buBlip>
                <a:blip r:embed="rId2"/>
              </a:buBlip>
            </a:pPr>
            <a:r>
              <a:rPr lang="zh-CN" altLang="en-US">
                <a:solidFill>
                  <a:srgbClr val="FF3399"/>
                </a:solidFill>
                <a:latin typeface="Arial" charset="0"/>
              </a:rPr>
              <a:t>资本折旧：</a:t>
            </a:r>
            <a:endParaRPr lang="en-US" altLang="zh-CN">
              <a:solidFill>
                <a:srgbClr val="FF3399"/>
              </a:solidFill>
              <a:latin typeface="Arial" charset="0"/>
            </a:endParaRPr>
          </a:p>
          <a:p>
            <a:pPr marL="95250" indent="-95250">
              <a:lnSpc>
                <a:spcPct val="120000"/>
              </a:lnSpc>
              <a:spcBef>
                <a:spcPct val="20000"/>
              </a:spcBef>
              <a:buClr>
                <a:schemeClr val="hlink"/>
              </a:buClr>
              <a:buFont typeface="Wingdings" pitchFamily="2" charset="2"/>
              <a:buBlip>
                <a:blip r:embed="rId2"/>
              </a:buBlip>
            </a:pPr>
            <a:r>
              <a:rPr lang="zh-CN" altLang="en-US">
                <a:solidFill>
                  <a:srgbClr val="101016"/>
                </a:solidFill>
                <a:latin typeface="Arial" charset="0"/>
              </a:rPr>
              <a:t>不是生产要素创造的收入，但包括在总投资里面。</a:t>
            </a:r>
          </a:p>
        </p:txBody>
      </p:sp>
      <p:sp>
        <p:nvSpPr>
          <p:cNvPr id="207884" name="Rectangle 12"/>
          <p:cNvSpPr>
            <a:spLocks noChangeArrowheads="1"/>
          </p:cNvSpPr>
          <p:nvPr/>
        </p:nvSpPr>
        <p:spPr bwMode="auto">
          <a:xfrm>
            <a:off x="468313" y="3717925"/>
            <a:ext cx="4464050" cy="1304925"/>
          </a:xfrm>
          <a:prstGeom prst="rect">
            <a:avLst/>
          </a:prstGeom>
          <a:solidFill>
            <a:schemeClr val="tx2">
              <a:alpha val="72940"/>
            </a:schemeClr>
          </a:solidFill>
          <a:ln w="57150" cmpd="thinThick">
            <a:solidFill>
              <a:srgbClr val="996633"/>
            </a:solidFill>
            <a:miter lim="800000"/>
            <a:headEnd/>
            <a:tailEnd/>
          </a:ln>
        </p:spPr>
        <p:txBody>
          <a:bodyPr>
            <a:spAutoFit/>
          </a:bodyPr>
          <a:lstStyle/>
          <a:p>
            <a:pPr marL="95250" indent="-95250">
              <a:lnSpc>
                <a:spcPct val="120000"/>
              </a:lnSpc>
              <a:spcBef>
                <a:spcPct val="20000"/>
              </a:spcBef>
              <a:buClr>
                <a:schemeClr val="hlink"/>
              </a:buClr>
              <a:buFont typeface="Wingdings" pitchFamily="2" charset="2"/>
              <a:buBlip>
                <a:blip r:embed="rId2"/>
              </a:buBlip>
            </a:pPr>
            <a:r>
              <a:rPr lang="zh-CN" altLang="en-US">
                <a:solidFill>
                  <a:srgbClr val="FF3399"/>
                </a:solidFill>
                <a:latin typeface="Arial" charset="0"/>
              </a:rPr>
              <a:t>企业转移支出：</a:t>
            </a:r>
            <a:endParaRPr lang="en-US" altLang="zh-CN">
              <a:solidFill>
                <a:srgbClr val="FF3399"/>
              </a:solidFill>
              <a:latin typeface="Arial" charset="0"/>
            </a:endParaRPr>
          </a:p>
          <a:p>
            <a:pPr marL="95250" indent="-95250">
              <a:lnSpc>
                <a:spcPct val="120000"/>
              </a:lnSpc>
              <a:spcBef>
                <a:spcPct val="20000"/>
              </a:spcBef>
              <a:buClr>
                <a:schemeClr val="hlink"/>
              </a:buClr>
              <a:buFont typeface="Wingdings" pitchFamily="2" charset="2"/>
              <a:buBlip>
                <a:blip r:embed="rId2"/>
              </a:buBlip>
            </a:pPr>
            <a:r>
              <a:rPr lang="zh-CN" altLang="en-US">
                <a:solidFill>
                  <a:srgbClr val="101016"/>
                </a:solidFill>
                <a:latin typeface="Arial" charset="0"/>
              </a:rPr>
              <a:t>对非赢利组织的社会慈善捐款和消费者呆帐。</a:t>
            </a:r>
          </a:p>
        </p:txBody>
      </p:sp>
      <p:sp>
        <p:nvSpPr>
          <p:cNvPr id="207885" name="Rectangle 13"/>
          <p:cNvSpPr>
            <a:spLocks noChangeArrowheads="1"/>
          </p:cNvSpPr>
          <p:nvPr/>
        </p:nvSpPr>
        <p:spPr bwMode="auto">
          <a:xfrm>
            <a:off x="468313" y="2420938"/>
            <a:ext cx="4464050" cy="939800"/>
          </a:xfrm>
          <a:prstGeom prst="rect">
            <a:avLst/>
          </a:prstGeom>
          <a:solidFill>
            <a:schemeClr val="tx2">
              <a:alpha val="72940"/>
            </a:schemeClr>
          </a:solidFill>
          <a:ln w="57150" cmpd="thinThick">
            <a:solidFill>
              <a:srgbClr val="996633"/>
            </a:solidFill>
            <a:miter lim="800000"/>
            <a:headEnd/>
            <a:tailEnd/>
          </a:ln>
        </p:spPr>
        <p:txBody>
          <a:bodyPr>
            <a:spAutoFit/>
          </a:bodyPr>
          <a:lstStyle/>
          <a:p>
            <a:pPr marL="95250" indent="-95250">
              <a:lnSpc>
                <a:spcPct val="120000"/>
              </a:lnSpc>
              <a:spcBef>
                <a:spcPct val="20000"/>
              </a:spcBef>
              <a:buClr>
                <a:schemeClr val="hlink"/>
              </a:buClr>
              <a:buFont typeface="Wingdings" pitchFamily="2" charset="2"/>
              <a:buBlip>
                <a:blip r:embed="rId2"/>
              </a:buBlip>
            </a:pPr>
            <a:r>
              <a:rPr lang="zh-CN" altLang="en-US">
                <a:solidFill>
                  <a:srgbClr val="FF3399"/>
                </a:solidFill>
                <a:latin typeface="Arial" charset="0"/>
              </a:rPr>
              <a:t>企业间接税：</a:t>
            </a:r>
            <a:endParaRPr lang="en-US" altLang="zh-CN">
              <a:solidFill>
                <a:srgbClr val="FF3399"/>
              </a:solidFill>
              <a:latin typeface="Arial" charset="0"/>
            </a:endParaRPr>
          </a:p>
          <a:p>
            <a:pPr marL="95250" indent="-95250">
              <a:lnSpc>
                <a:spcPct val="120000"/>
              </a:lnSpc>
              <a:spcBef>
                <a:spcPct val="20000"/>
              </a:spcBef>
              <a:buClr>
                <a:schemeClr val="hlink"/>
              </a:buClr>
              <a:buFont typeface="Wingdings" pitchFamily="2" charset="2"/>
              <a:buBlip>
                <a:blip r:embed="rId2"/>
              </a:buBlip>
            </a:pPr>
            <a:r>
              <a:rPr lang="zh-CN" altLang="en-US">
                <a:solidFill>
                  <a:srgbClr val="101016"/>
                </a:solidFill>
                <a:latin typeface="Arial" charset="0"/>
              </a:rPr>
              <a:t>货物税、销售税、周转税。</a:t>
            </a:r>
          </a:p>
        </p:txBody>
      </p:sp>
      <p:sp>
        <p:nvSpPr>
          <p:cNvPr id="207886" name="Rectangle 14"/>
          <p:cNvSpPr>
            <a:spLocks noChangeArrowheads="1"/>
          </p:cNvSpPr>
          <p:nvPr/>
        </p:nvSpPr>
        <p:spPr bwMode="auto">
          <a:xfrm>
            <a:off x="5508625" y="2925763"/>
            <a:ext cx="3168650" cy="1295400"/>
          </a:xfrm>
          <a:prstGeom prst="rect">
            <a:avLst/>
          </a:prstGeom>
          <a:solidFill>
            <a:srgbClr val="CCCC00">
              <a:alpha val="72940"/>
            </a:srgbClr>
          </a:solidFill>
          <a:ln w="57150" cmpd="thinThick">
            <a:solidFill>
              <a:srgbClr val="996633"/>
            </a:solidFill>
            <a:miter lim="800000"/>
            <a:headEnd/>
            <a:tailEnd/>
          </a:ln>
        </p:spPr>
        <p:txBody>
          <a:bodyPr/>
          <a:lstStyle/>
          <a:p>
            <a:pPr marL="95250" indent="-95250">
              <a:lnSpc>
                <a:spcPct val="110000"/>
              </a:lnSpc>
              <a:spcBef>
                <a:spcPct val="20000"/>
              </a:spcBef>
              <a:buClr>
                <a:schemeClr val="hlink"/>
              </a:buClr>
              <a:buFont typeface="Wingdings" pitchFamily="2" charset="2"/>
              <a:buBlip>
                <a:blip r:embed="rId2"/>
              </a:buBlip>
            </a:pPr>
            <a:r>
              <a:rPr lang="zh-CN" altLang="en-US">
                <a:solidFill>
                  <a:srgbClr val="101016"/>
                </a:solidFill>
                <a:latin typeface="Arial" charset="0"/>
              </a:rPr>
              <a:t>不是要素收入</a:t>
            </a:r>
            <a:endParaRPr lang="en-US" altLang="zh-CN">
              <a:solidFill>
                <a:srgbClr val="101016"/>
              </a:solidFill>
              <a:latin typeface="Arial" charset="0"/>
            </a:endParaRPr>
          </a:p>
          <a:p>
            <a:pPr marL="95250" indent="-95250">
              <a:lnSpc>
                <a:spcPct val="110000"/>
              </a:lnSpc>
              <a:spcBef>
                <a:spcPct val="20000"/>
              </a:spcBef>
              <a:buClr>
                <a:schemeClr val="hlink"/>
              </a:buClr>
              <a:buFont typeface="Wingdings" pitchFamily="2" charset="2"/>
              <a:buBlip>
                <a:blip r:embed="rId2"/>
              </a:buBlip>
            </a:pPr>
            <a:r>
              <a:rPr lang="zh-CN" altLang="en-US">
                <a:solidFill>
                  <a:srgbClr val="101016"/>
                </a:solidFill>
                <a:latin typeface="Arial" charset="0"/>
              </a:rPr>
              <a:t>但通过价格转嫁给消费者</a:t>
            </a:r>
          </a:p>
        </p:txBody>
      </p:sp>
      <p:sp>
        <p:nvSpPr>
          <p:cNvPr id="207887" name="AutoShape 15"/>
          <p:cNvSpPr>
            <a:spLocks/>
          </p:cNvSpPr>
          <p:nvPr/>
        </p:nvSpPr>
        <p:spPr bwMode="auto">
          <a:xfrm>
            <a:off x="4932363" y="2493963"/>
            <a:ext cx="433387" cy="2447925"/>
          </a:xfrm>
          <a:prstGeom prst="rightBrace">
            <a:avLst>
              <a:gd name="adj1" fmla="val 47070"/>
              <a:gd name="adj2" fmla="val 50000"/>
            </a:avLst>
          </a:prstGeom>
          <a:noFill/>
          <a:ln w="57150">
            <a:solidFill>
              <a:srgbClr val="101016"/>
            </a:solidFill>
            <a:miter lim="800000"/>
            <a:headEnd/>
            <a:tailEnd/>
          </a:ln>
        </p:spPr>
        <p:txBody>
          <a:bodyPr wrap="none" anchor="ctr"/>
          <a:lstStyle/>
          <a:p>
            <a:pPr>
              <a:lnSpc>
                <a:spcPct val="130000"/>
              </a:lnSpc>
              <a:spcBef>
                <a:spcPct val="20000"/>
              </a:spcBef>
              <a:buClr>
                <a:schemeClr val="hlink"/>
              </a:buClr>
              <a:buSzPct val="95000"/>
              <a:buFont typeface="Wingdings" pitchFamily="2" charset="2"/>
              <a:buChar char="p"/>
            </a:pP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07881">
                                            <p:bg/>
                                          </p:spTgt>
                                        </p:tgtEl>
                                        <p:attrNameLst>
                                          <p:attrName>style.visibility</p:attrName>
                                        </p:attrNameLst>
                                      </p:cBhvr>
                                      <p:to>
                                        <p:strVal val="visible"/>
                                      </p:to>
                                    </p:set>
                                    <p:animEffect transition="in" filter="blinds(horizontal)">
                                      <p:cBhvr>
                                        <p:cTn id="7" dur="500"/>
                                        <p:tgtEl>
                                          <p:spTgt spid="207881">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07881">
                                            <p:txEl>
                                              <p:pRg st="0" end="0"/>
                                            </p:txEl>
                                          </p:spTgt>
                                        </p:tgtEl>
                                        <p:attrNameLst>
                                          <p:attrName>style.visibility</p:attrName>
                                        </p:attrNameLst>
                                      </p:cBhvr>
                                      <p:to>
                                        <p:strVal val="visible"/>
                                      </p:to>
                                    </p:set>
                                    <p:animEffect transition="in" filter="blinds(horizontal)">
                                      <p:cBhvr>
                                        <p:cTn id="12" dur="500"/>
                                        <p:tgtEl>
                                          <p:spTgt spid="207881">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07881">
                                            <p:txEl>
                                              <p:pRg st="1" end="1"/>
                                            </p:txEl>
                                          </p:spTgt>
                                        </p:tgtEl>
                                        <p:attrNameLst>
                                          <p:attrName>style.visibility</p:attrName>
                                        </p:attrNameLst>
                                      </p:cBhvr>
                                      <p:to>
                                        <p:strVal val="visible"/>
                                      </p:to>
                                    </p:set>
                                    <p:animEffect transition="in" filter="blinds(horizontal)">
                                      <p:cBhvr>
                                        <p:cTn id="17" dur="500"/>
                                        <p:tgtEl>
                                          <p:spTgt spid="207881">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07883"/>
                                        </p:tgtEl>
                                        <p:attrNameLst>
                                          <p:attrName>style.visibility</p:attrName>
                                        </p:attrNameLst>
                                      </p:cBhvr>
                                      <p:to>
                                        <p:strVal val="visible"/>
                                      </p:to>
                                    </p:set>
                                    <p:animEffect transition="in" filter="blinds(horizontal)">
                                      <p:cBhvr>
                                        <p:cTn id="22" dur="500"/>
                                        <p:tgtEl>
                                          <p:spTgt spid="20788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07885"/>
                                        </p:tgtEl>
                                        <p:attrNameLst>
                                          <p:attrName>style.visibility</p:attrName>
                                        </p:attrNameLst>
                                      </p:cBhvr>
                                      <p:to>
                                        <p:strVal val="visible"/>
                                      </p:to>
                                    </p:set>
                                    <p:animEffect transition="in" filter="blinds(horizontal)">
                                      <p:cBhvr>
                                        <p:cTn id="27" dur="500"/>
                                        <p:tgtEl>
                                          <p:spTgt spid="20788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07884"/>
                                        </p:tgtEl>
                                        <p:attrNameLst>
                                          <p:attrName>style.visibility</p:attrName>
                                        </p:attrNameLst>
                                      </p:cBhvr>
                                      <p:to>
                                        <p:strVal val="visible"/>
                                      </p:to>
                                    </p:set>
                                    <p:animEffect transition="in" filter="blinds(horizontal)">
                                      <p:cBhvr>
                                        <p:cTn id="32" dur="500"/>
                                        <p:tgtEl>
                                          <p:spTgt spid="20788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8" presetClass="entr" presetSubtype="16" fill="hold" grpId="0" nodeType="clickEffect">
                                  <p:stCondLst>
                                    <p:cond delay="0"/>
                                  </p:stCondLst>
                                  <p:childTnLst>
                                    <p:set>
                                      <p:cBhvr>
                                        <p:cTn id="36" dur="1" fill="hold">
                                          <p:stCondLst>
                                            <p:cond delay="0"/>
                                          </p:stCondLst>
                                        </p:cTn>
                                        <p:tgtEl>
                                          <p:spTgt spid="207886"/>
                                        </p:tgtEl>
                                        <p:attrNameLst>
                                          <p:attrName>style.visibility</p:attrName>
                                        </p:attrNameLst>
                                      </p:cBhvr>
                                      <p:to>
                                        <p:strVal val="visible"/>
                                      </p:to>
                                    </p:set>
                                    <p:animEffect transition="in" filter="diamond(in)">
                                      <p:cBhvr>
                                        <p:cTn id="37" dur="2000"/>
                                        <p:tgtEl>
                                          <p:spTgt spid="207886"/>
                                        </p:tgtEl>
                                      </p:cBhvr>
                                    </p:animEffect>
                                  </p:childTnLst>
                                </p:cTn>
                              </p:par>
                              <p:par>
                                <p:cTn id="38" presetID="8" presetClass="entr" presetSubtype="16" fill="hold" grpId="0" nodeType="withEffect">
                                  <p:stCondLst>
                                    <p:cond delay="0"/>
                                  </p:stCondLst>
                                  <p:childTnLst>
                                    <p:set>
                                      <p:cBhvr>
                                        <p:cTn id="39" dur="1" fill="hold">
                                          <p:stCondLst>
                                            <p:cond delay="0"/>
                                          </p:stCondLst>
                                        </p:cTn>
                                        <p:tgtEl>
                                          <p:spTgt spid="207887"/>
                                        </p:tgtEl>
                                        <p:attrNameLst>
                                          <p:attrName>style.visibility</p:attrName>
                                        </p:attrNameLst>
                                      </p:cBhvr>
                                      <p:to>
                                        <p:strVal val="visible"/>
                                      </p:to>
                                    </p:set>
                                    <p:animEffect transition="in" filter="diamond(in)">
                                      <p:cBhvr>
                                        <p:cTn id="40" dur="2000"/>
                                        <p:tgtEl>
                                          <p:spTgt spid="2078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881" grpId="0" build="p" animBg="1"/>
      <p:bldP spid="207883" grpId="0" animBg="1"/>
      <p:bldP spid="207884" grpId="0" animBg="1"/>
      <p:bldP spid="207885" grpId="0" animBg="1"/>
      <p:bldP spid="207886" grpId="0" animBg="1"/>
      <p:bldP spid="20788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2"/>
          <p:cNvSpPr>
            <a:spLocks noGrp="1" noChangeArrowheads="1"/>
          </p:cNvSpPr>
          <p:nvPr>
            <p:ph type="title"/>
          </p:nvPr>
        </p:nvSpPr>
        <p:spPr>
          <a:extLst/>
        </p:spPr>
        <p:txBody>
          <a:bodyPr/>
          <a:lstStyle/>
          <a:p>
            <a:pPr eaLnBrk="1" hangingPunct="1">
              <a:defRPr/>
            </a:pPr>
            <a:r>
              <a:rPr lang="zh-CN" altLang="en-US"/>
              <a:t>两类税收</a:t>
            </a:r>
          </a:p>
        </p:txBody>
      </p:sp>
      <p:sp>
        <p:nvSpPr>
          <p:cNvPr id="231428" name="Rectangle 4"/>
          <p:cNvSpPr>
            <a:spLocks noGrp="1" noChangeArrowheads="1"/>
          </p:cNvSpPr>
          <p:nvPr>
            <p:ph type="body" idx="1"/>
          </p:nvPr>
        </p:nvSpPr>
        <p:spPr>
          <a:xfrm>
            <a:off x="468313" y="3213100"/>
            <a:ext cx="8229600" cy="1079500"/>
          </a:xfrm>
          <a:solidFill>
            <a:schemeClr val="hlink"/>
          </a:solidFill>
          <a:ln>
            <a:solidFill>
              <a:srgbClr val="D04E48"/>
            </a:solidFill>
          </a:ln>
        </p:spPr>
        <p:txBody>
          <a:bodyPr/>
          <a:lstStyle/>
          <a:p>
            <a:pPr eaLnBrk="1" hangingPunct="1">
              <a:lnSpc>
                <a:spcPct val="130000"/>
              </a:lnSpc>
              <a:buSzPct val="95000"/>
              <a:buFont typeface="Wingdings" pitchFamily="2" charset="2"/>
              <a:buChar char="p"/>
            </a:pPr>
            <a:r>
              <a:rPr lang="zh-CN" altLang="en-US" smtClean="0">
                <a:solidFill>
                  <a:srgbClr val="FF00FF"/>
                </a:solidFill>
                <a:latin typeface="宋体" charset="-122"/>
              </a:rPr>
              <a:t>间接税</a:t>
            </a:r>
            <a:r>
              <a:rPr lang="zh-CN" altLang="en-US" smtClean="0">
                <a:solidFill>
                  <a:srgbClr val="000004"/>
                </a:solidFill>
                <a:latin typeface="宋体" charset="-122"/>
              </a:rPr>
              <a:t>：能够转嫁税负，即可以通过提高商品和劳务的售价把税负转嫁给购买者的税收。</a:t>
            </a:r>
          </a:p>
        </p:txBody>
      </p:sp>
      <p:sp>
        <p:nvSpPr>
          <p:cNvPr id="231429" name="Rectangle 5"/>
          <p:cNvSpPr>
            <a:spLocks noChangeArrowheads="1"/>
          </p:cNvSpPr>
          <p:nvPr/>
        </p:nvSpPr>
        <p:spPr bwMode="auto">
          <a:xfrm>
            <a:off x="468313" y="1341438"/>
            <a:ext cx="8229600" cy="514350"/>
          </a:xfrm>
          <a:prstGeom prst="rect">
            <a:avLst/>
          </a:prstGeom>
          <a:solidFill>
            <a:srgbClr val="99CCFF">
              <a:alpha val="72940"/>
            </a:srgbClr>
          </a:solidFill>
          <a:ln w="57150" cmpd="thinThick">
            <a:solidFill>
              <a:srgbClr val="996633"/>
            </a:solidFill>
            <a:miter lim="800000"/>
            <a:headEnd/>
            <a:tailEnd/>
          </a:ln>
        </p:spPr>
        <p:txBody>
          <a:bodyPr>
            <a:spAutoFit/>
          </a:bodyPr>
          <a:lstStyle/>
          <a:p>
            <a:pPr marL="95250" indent="-95250">
              <a:lnSpc>
                <a:spcPct val="120000"/>
              </a:lnSpc>
              <a:spcBef>
                <a:spcPct val="20000"/>
              </a:spcBef>
              <a:buClr>
                <a:schemeClr val="hlink"/>
              </a:buClr>
              <a:buFont typeface="Wingdings" pitchFamily="2" charset="2"/>
              <a:buBlip>
                <a:blip r:embed="rId2"/>
              </a:buBlip>
            </a:pPr>
            <a:r>
              <a:rPr lang="zh-CN" altLang="en-US">
                <a:solidFill>
                  <a:srgbClr val="FF3399"/>
                </a:solidFill>
                <a:latin typeface="Arial" charset="0"/>
              </a:rPr>
              <a:t>直接税</a:t>
            </a:r>
            <a:r>
              <a:rPr lang="zh-CN" altLang="en-US">
                <a:solidFill>
                  <a:srgbClr val="101016"/>
                </a:solidFill>
                <a:latin typeface="Arial" charset="0"/>
              </a:rPr>
              <a:t>：不能转嫁，只能由纳税人自己承担税负的税收。</a:t>
            </a:r>
          </a:p>
        </p:txBody>
      </p:sp>
      <p:sp>
        <p:nvSpPr>
          <p:cNvPr id="231430" name="Rectangle 6"/>
          <p:cNvSpPr>
            <a:spLocks noChangeArrowheads="1"/>
          </p:cNvSpPr>
          <p:nvPr/>
        </p:nvSpPr>
        <p:spPr bwMode="auto">
          <a:xfrm>
            <a:off x="1403350" y="2276475"/>
            <a:ext cx="7272338" cy="720725"/>
          </a:xfrm>
          <a:prstGeom prst="rect">
            <a:avLst/>
          </a:prstGeom>
          <a:solidFill>
            <a:srgbClr val="FF9900"/>
          </a:solidFill>
          <a:ln w="76200" cmpd="tri">
            <a:solidFill>
              <a:srgbClr val="FF0000"/>
            </a:solidFill>
            <a:miter lim="800000"/>
            <a:headEnd/>
            <a:tailEnd/>
          </a:ln>
        </p:spPr>
        <p:txBody>
          <a:bodyPr/>
          <a:lstStyle/>
          <a:p>
            <a:pPr marL="95250" indent="-95250">
              <a:lnSpc>
                <a:spcPct val="120000"/>
              </a:lnSpc>
              <a:spcBef>
                <a:spcPct val="20000"/>
              </a:spcBef>
              <a:buClr>
                <a:srgbClr val="336600"/>
              </a:buClr>
              <a:buSzPct val="95000"/>
              <a:buFont typeface="Wingdings" pitchFamily="2" charset="2"/>
              <a:buChar char="l"/>
            </a:pPr>
            <a:r>
              <a:rPr lang="zh-CN" altLang="en-US">
                <a:solidFill>
                  <a:srgbClr val="000099"/>
                </a:solidFill>
                <a:latin typeface="Arial" charset="0"/>
              </a:rPr>
              <a:t>一般在</a:t>
            </a:r>
            <a:r>
              <a:rPr lang="zh-CN" altLang="en-US">
                <a:solidFill>
                  <a:schemeClr val="accent1"/>
                </a:solidFill>
                <a:latin typeface="Arial" charset="0"/>
              </a:rPr>
              <a:t>收入</a:t>
            </a:r>
            <a:r>
              <a:rPr lang="zh-CN" altLang="en-US">
                <a:solidFill>
                  <a:srgbClr val="000099"/>
                </a:solidFill>
                <a:latin typeface="Arial" charset="0"/>
              </a:rPr>
              <a:t>环节征收，如</a:t>
            </a:r>
            <a:r>
              <a:rPr lang="zh-CN" altLang="en-US">
                <a:solidFill>
                  <a:schemeClr val="accent1"/>
                </a:solidFill>
                <a:latin typeface="Arial" charset="0"/>
              </a:rPr>
              <a:t>所得税</a:t>
            </a:r>
            <a:r>
              <a:rPr lang="zh-CN" altLang="en-US">
                <a:solidFill>
                  <a:srgbClr val="000099"/>
                </a:solidFill>
                <a:latin typeface="Arial" charset="0"/>
              </a:rPr>
              <a:t>。</a:t>
            </a:r>
          </a:p>
        </p:txBody>
      </p:sp>
      <p:sp>
        <p:nvSpPr>
          <p:cNvPr id="231431" name="Rectangle 7"/>
          <p:cNvSpPr>
            <a:spLocks noChangeArrowheads="1"/>
          </p:cNvSpPr>
          <p:nvPr/>
        </p:nvSpPr>
        <p:spPr bwMode="auto">
          <a:xfrm>
            <a:off x="1403350" y="4437063"/>
            <a:ext cx="7294563" cy="1974850"/>
          </a:xfrm>
          <a:prstGeom prst="rect">
            <a:avLst/>
          </a:prstGeom>
          <a:solidFill>
            <a:srgbClr val="FF5050">
              <a:alpha val="41960"/>
            </a:srgbClr>
          </a:solidFill>
          <a:ln w="57150" cmpd="thickThin">
            <a:solidFill>
              <a:srgbClr val="000099"/>
            </a:solidFill>
            <a:miter lim="800000"/>
            <a:headEnd/>
            <a:tailEnd/>
          </a:ln>
        </p:spPr>
        <p:txBody>
          <a:bodyPr>
            <a:spAutoFit/>
          </a:bodyPr>
          <a:lstStyle/>
          <a:p>
            <a:pPr>
              <a:lnSpc>
                <a:spcPct val="120000"/>
              </a:lnSpc>
              <a:buClr>
                <a:srgbClr val="FF0000"/>
              </a:buClr>
              <a:buSzPct val="95000"/>
              <a:buFont typeface="Wingdings" pitchFamily="2" charset="2"/>
              <a:buChar char="n"/>
            </a:pPr>
            <a:r>
              <a:rPr lang="zh-CN" altLang="en-US">
                <a:solidFill>
                  <a:srgbClr val="000000"/>
                </a:solidFill>
                <a:latin typeface="Arial" charset="0"/>
              </a:rPr>
              <a:t>一般在</a:t>
            </a:r>
            <a:r>
              <a:rPr lang="zh-CN" altLang="en-US">
                <a:solidFill>
                  <a:schemeClr val="accent1"/>
                </a:solidFill>
                <a:latin typeface="Arial" charset="0"/>
              </a:rPr>
              <a:t>生产和流通</a:t>
            </a:r>
            <a:r>
              <a:rPr lang="zh-CN" altLang="en-US">
                <a:solidFill>
                  <a:srgbClr val="000000"/>
                </a:solidFill>
                <a:latin typeface="Arial" charset="0"/>
              </a:rPr>
              <a:t>环节征收，如：</a:t>
            </a:r>
            <a:endParaRPr lang="en-US" altLang="zh-CN">
              <a:solidFill>
                <a:srgbClr val="000000"/>
              </a:solidFill>
              <a:latin typeface="Arial" charset="0"/>
            </a:endParaRPr>
          </a:p>
          <a:p>
            <a:pPr lvl="1">
              <a:lnSpc>
                <a:spcPct val="120000"/>
              </a:lnSpc>
              <a:buClr>
                <a:srgbClr val="FF0000"/>
              </a:buClr>
              <a:buSzPct val="95000"/>
              <a:buFont typeface="Wingdings" pitchFamily="2" charset="2"/>
              <a:buChar char="n"/>
            </a:pPr>
            <a:r>
              <a:rPr lang="zh-CN" altLang="en-US">
                <a:solidFill>
                  <a:srgbClr val="000000"/>
                </a:solidFill>
                <a:latin typeface="Arial" charset="0"/>
              </a:rPr>
              <a:t>增值税：主要针对货物，</a:t>
            </a:r>
            <a:r>
              <a:rPr lang="en-US" altLang="zh-CN">
                <a:solidFill>
                  <a:srgbClr val="000000"/>
                </a:solidFill>
                <a:latin typeface="Arial" charset="0"/>
              </a:rPr>
              <a:t>13/17</a:t>
            </a:r>
            <a:r>
              <a:rPr lang="zh-CN" altLang="en-US">
                <a:solidFill>
                  <a:srgbClr val="000000"/>
                </a:solidFill>
                <a:latin typeface="Arial" charset="0"/>
              </a:rPr>
              <a:t>％税率</a:t>
            </a:r>
            <a:endParaRPr lang="en-US" altLang="zh-CN">
              <a:solidFill>
                <a:srgbClr val="000000"/>
              </a:solidFill>
              <a:latin typeface="Arial" charset="0"/>
            </a:endParaRPr>
          </a:p>
          <a:p>
            <a:pPr lvl="1">
              <a:lnSpc>
                <a:spcPct val="120000"/>
              </a:lnSpc>
              <a:buClr>
                <a:srgbClr val="FF0000"/>
              </a:buClr>
              <a:buSzPct val="95000"/>
              <a:buFont typeface="Wingdings" pitchFamily="2" charset="2"/>
              <a:buChar char="n"/>
            </a:pPr>
            <a:r>
              <a:rPr lang="zh-CN" altLang="en-US">
                <a:solidFill>
                  <a:srgbClr val="000000"/>
                </a:solidFill>
                <a:latin typeface="Arial" charset="0"/>
              </a:rPr>
              <a:t>营业税：主要针对劳务，</a:t>
            </a:r>
            <a:r>
              <a:rPr lang="en-US" altLang="zh-CN">
                <a:solidFill>
                  <a:srgbClr val="000000"/>
                </a:solidFill>
                <a:latin typeface="Arial" charset="0"/>
              </a:rPr>
              <a:t>3-15%</a:t>
            </a:r>
            <a:r>
              <a:rPr lang="zh-CN" altLang="en-US">
                <a:solidFill>
                  <a:srgbClr val="000000"/>
                </a:solidFill>
                <a:latin typeface="Arial" charset="0"/>
              </a:rPr>
              <a:t>税率</a:t>
            </a:r>
            <a:endParaRPr lang="en-US" altLang="zh-CN">
              <a:solidFill>
                <a:srgbClr val="000000"/>
              </a:solidFill>
              <a:latin typeface="Arial" charset="0"/>
            </a:endParaRPr>
          </a:p>
          <a:p>
            <a:pPr lvl="1">
              <a:lnSpc>
                <a:spcPct val="120000"/>
              </a:lnSpc>
              <a:buClr>
                <a:srgbClr val="FF0000"/>
              </a:buClr>
              <a:buSzPct val="95000"/>
              <a:buFont typeface="Wingdings" pitchFamily="2" charset="2"/>
              <a:buChar char="n"/>
            </a:pPr>
            <a:r>
              <a:rPr lang="zh-CN" altLang="en-US">
                <a:solidFill>
                  <a:srgbClr val="000000"/>
                </a:solidFill>
                <a:latin typeface="Arial" charset="0"/>
              </a:rPr>
              <a:t>消费税：针对部分产品，有害、破坏和耗能的商品。</a:t>
            </a:r>
            <a:endParaRPr lang="en-US" altLang="zh-CN">
              <a:solidFill>
                <a:srgbClr val="000000"/>
              </a:solidFill>
              <a:latin typeface="Arial" charset="0"/>
            </a:endParaRPr>
          </a:p>
          <a:p>
            <a:pPr lvl="1">
              <a:lnSpc>
                <a:spcPct val="120000"/>
              </a:lnSpc>
              <a:buClr>
                <a:srgbClr val="FF0000"/>
              </a:buClr>
              <a:buSzPct val="95000"/>
              <a:buFont typeface="Wingdings" pitchFamily="2" charset="2"/>
              <a:buChar char="n"/>
            </a:pPr>
            <a:r>
              <a:rPr lang="zh-CN" altLang="en-US">
                <a:solidFill>
                  <a:srgbClr val="000000"/>
                </a:solidFill>
                <a:latin typeface="Arial" charset="0"/>
              </a:rPr>
              <a:t>关税等：针对进出口。</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1429"/>
                                        </p:tgtEl>
                                        <p:attrNameLst>
                                          <p:attrName>style.visibility</p:attrName>
                                        </p:attrNameLst>
                                      </p:cBhvr>
                                      <p:to>
                                        <p:strVal val="visible"/>
                                      </p:to>
                                    </p:set>
                                    <p:animEffect transition="in" filter="blinds(horizontal)">
                                      <p:cBhvr>
                                        <p:cTn id="7" dur="500"/>
                                        <p:tgtEl>
                                          <p:spTgt spid="23142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31430"/>
                                        </p:tgtEl>
                                        <p:attrNameLst>
                                          <p:attrName>style.visibility</p:attrName>
                                        </p:attrNameLst>
                                      </p:cBhvr>
                                      <p:to>
                                        <p:strVal val="visible"/>
                                      </p:to>
                                    </p:set>
                                    <p:animEffect transition="in" filter="blinds(horizontal)">
                                      <p:cBhvr>
                                        <p:cTn id="12" dur="500"/>
                                        <p:tgtEl>
                                          <p:spTgt spid="23143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31428">
                                            <p:bg/>
                                          </p:spTgt>
                                        </p:tgtEl>
                                        <p:attrNameLst>
                                          <p:attrName>style.visibility</p:attrName>
                                        </p:attrNameLst>
                                      </p:cBhvr>
                                      <p:to>
                                        <p:strVal val="visible"/>
                                      </p:to>
                                    </p:set>
                                    <p:animEffect transition="in" filter="blinds(horizontal)">
                                      <p:cBhvr>
                                        <p:cTn id="17" dur="500"/>
                                        <p:tgtEl>
                                          <p:spTgt spid="231428">
                                            <p:bg/>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31428">
                                            <p:txEl>
                                              <p:pRg st="0" end="0"/>
                                            </p:txEl>
                                          </p:spTgt>
                                        </p:tgtEl>
                                        <p:attrNameLst>
                                          <p:attrName>style.visibility</p:attrName>
                                        </p:attrNameLst>
                                      </p:cBhvr>
                                      <p:to>
                                        <p:strVal val="visible"/>
                                      </p:to>
                                    </p:set>
                                    <p:animEffect transition="in" filter="blinds(horizontal)">
                                      <p:cBhvr>
                                        <p:cTn id="22" dur="500"/>
                                        <p:tgtEl>
                                          <p:spTgt spid="231428">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31431">
                                            <p:bg/>
                                          </p:spTgt>
                                        </p:tgtEl>
                                        <p:attrNameLst>
                                          <p:attrName>style.visibility</p:attrName>
                                        </p:attrNameLst>
                                      </p:cBhvr>
                                      <p:to>
                                        <p:strVal val="visible"/>
                                      </p:to>
                                    </p:set>
                                    <p:animEffect transition="in" filter="blinds(horizontal)">
                                      <p:cBhvr>
                                        <p:cTn id="27" dur="500"/>
                                        <p:tgtEl>
                                          <p:spTgt spid="231431">
                                            <p:bg/>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31431">
                                            <p:txEl>
                                              <p:pRg st="0" end="0"/>
                                            </p:txEl>
                                          </p:spTgt>
                                        </p:tgtEl>
                                        <p:attrNameLst>
                                          <p:attrName>style.visibility</p:attrName>
                                        </p:attrNameLst>
                                      </p:cBhvr>
                                      <p:to>
                                        <p:strVal val="visible"/>
                                      </p:to>
                                    </p:set>
                                    <p:animEffect transition="in" filter="blinds(horizontal)">
                                      <p:cBhvr>
                                        <p:cTn id="32" dur="500"/>
                                        <p:tgtEl>
                                          <p:spTgt spid="231431">
                                            <p:txEl>
                                              <p:pRg st="0" end="0"/>
                                            </p:txEl>
                                          </p:spTgt>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231431">
                                            <p:txEl>
                                              <p:pRg st="1" end="1"/>
                                            </p:txEl>
                                          </p:spTgt>
                                        </p:tgtEl>
                                        <p:attrNameLst>
                                          <p:attrName>style.visibility</p:attrName>
                                        </p:attrNameLst>
                                      </p:cBhvr>
                                      <p:to>
                                        <p:strVal val="visible"/>
                                      </p:to>
                                    </p:set>
                                    <p:animEffect transition="in" filter="blinds(horizontal)">
                                      <p:cBhvr>
                                        <p:cTn id="35" dur="500"/>
                                        <p:tgtEl>
                                          <p:spTgt spid="231431">
                                            <p:txEl>
                                              <p:pRg st="1" end="1"/>
                                            </p:txEl>
                                          </p:spTgt>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231431">
                                            <p:txEl>
                                              <p:pRg st="2" end="2"/>
                                            </p:txEl>
                                          </p:spTgt>
                                        </p:tgtEl>
                                        <p:attrNameLst>
                                          <p:attrName>style.visibility</p:attrName>
                                        </p:attrNameLst>
                                      </p:cBhvr>
                                      <p:to>
                                        <p:strVal val="visible"/>
                                      </p:to>
                                    </p:set>
                                    <p:animEffect transition="in" filter="blinds(horizontal)">
                                      <p:cBhvr>
                                        <p:cTn id="38" dur="500"/>
                                        <p:tgtEl>
                                          <p:spTgt spid="231431">
                                            <p:txEl>
                                              <p:pRg st="2" end="2"/>
                                            </p:txEl>
                                          </p:spTgt>
                                        </p:tgtEl>
                                      </p:cBhvr>
                                    </p:animEffect>
                                  </p:childTnLst>
                                </p:cTn>
                              </p:par>
                              <p:par>
                                <p:cTn id="39" presetID="3" presetClass="entr" presetSubtype="10" fill="hold" grpId="0" nodeType="withEffect">
                                  <p:stCondLst>
                                    <p:cond delay="0"/>
                                  </p:stCondLst>
                                  <p:childTnLst>
                                    <p:set>
                                      <p:cBhvr>
                                        <p:cTn id="40" dur="1" fill="hold">
                                          <p:stCondLst>
                                            <p:cond delay="0"/>
                                          </p:stCondLst>
                                        </p:cTn>
                                        <p:tgtEl>
                                          <p:spTgt spid="231431">
                                            <p:txEl>
                                              <p:pRg st="3" end="3"/>
                                            </p:txEl>
                                          </p:spTgt>
                                        </p:tgtEl>
                                        <p:attrNameLst>
                                          <p:attrName>style.visibility</p:attrName>
                                        </p:attrNameLst>
                                      </p:cBhvr>
                                      <p:to>
                                        <p:strVal val="visible"/>
                                      </p:to>
                                    </p:set>
                                    <p:animEffect transition="in" filter="blinds(horizontal)">
                                      <p:cBhvr>
                                        <p:cTn id="41" dur="500"/>
                                        <p:tgtEl>
                                          <p:spTgt spid="231431">
                                            <p:txEl>
                                              <p:pRg st="3" end="3"/>
                                            </p:txEl>
                                          </p:spTgt>
                                        </p:tgtEl>
                                      </p:cBhvr>
                                    </p:animEffect>
                                  </p:childTnLst>
                                </p:cTn>
                              </p:par>
                              <p:par>
                                <p:cTn id="42" presetID="3" presetClass="entr" presetSubtype="10" fill="hold" grpId="0" nodeType="withEffect">
                                  <p:stCondLst>
                                    <p:cond delay="0"/>
                                  </p:stCondLst>
                                  <p:childTnLst>
                                    <p:set>
                                      <p:cBhvr>
                                        <p:cTn id="43" dur="1" fill="hold">
                                          <p:stCondLst>
                                            <p:cond delay="0"/>
                                          </p:stCondLst>
                                        </p:cTn>
                                        <p:tgtEl>
                                          <p:spTgt spid="231431">
                                            <p:txEl>
                                              <p:pRg st="4" end="4"/>
                                            </p:txEl>
                                          </p:spTgt>
                                        </p:tgtEl>
                                        <p:attrNameLst>
                                          <p:attrName>style.visibility</p:attrName>
                                        </p:attrNameLst>
                                      </p:cBhvr>
                                      <p:to>
                                        <p:strVal val="visible"/>
                                      </p:to>
                                    </p:set>
                                    <p:animEffect transition="in" filter="blinds(horizontal)">
                                      <p:cBhvr>
                                        <p:cTn id="44" dur="500"/>
                                        <p:tgtEl>
                                          <p:spTgt spid="23143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1428" grpId="0" build="p" animBg="1"/>
      <p:bldP spid="231429" grpId="0" animBg="1"/>
      <p:bldP spid="231430" grpId="0" animBg="1"/>
      <p:bldP spid="231431" grpId="0" build="p"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ChangeArrowheads="1"/>
          </p:cNvSpPr>
          <p:nvPr>
            <p:ph type="title"/>
          </p:nvPr>
        </p:nvSpPr>
        <p:spPr>
          <a:extLst/>
        </p:spPr>
        <p:txBody>
          <a:bodyPr/>
          <a:lstStyle/>
          <a:p>
            <a:pPr eaLnBrk="1" hangingPunct="1">
              <a:defRPr/>
            </a:pPr>
            <a:r>
              <a:rPr lang="zh-CN" altLang="en-US"/>
              <a:t>第三节</a:t>
            </a:r>
            <a:r>
              <a:rPr lang="en-US" altLang="zh-CN"/>
              <a:t>  </a:t>
            </a:r>
            <a:r>
              <a:rPr lang="zh-CN" altLang="en-US"/>
              <a:t>国内生产总值的计算方法</a:t>
            </a:r>
          </a:p>
        </p:txBody>
      </p:sp>
      <p:sp>
        <p:nvSpPr>
          <p:cNvPr id="200707" name="Rectangle 3" descr="花束"/>
          <p:cNvSpPr>
            <a:spLocks noGrp="1" noChangeArrowheads="1"/>
          </p:cNvSpPr>
          <p:nvPr>
            <p:ph type="body" idx="1"/>
          </p:nvPr>
        </p:nvSpPr>
        <p:spPr>
          <a:xfrm>
            <a:off x="395288" y="1246188"/>
            <a:ext cx="8229600" cy="752475"/>
          </a:xfrm>
          <a:blipFill dpi="0" rotWithShape="0">
            <a:blip r:embed="rId2">
              <a:alphaModFix amt="73000"/>
            </a:blip>
            <a:srcRect/>
            <a:tile tx="0" ty="0" sx="100000" sy="100000" flip="none" algn="tl"/>
          </a:blipFill>
          <a:ln w="76200" cap="flat" cmpd="sng">
            <a:solidFill>
              <a:srgbClr val="336600"/>
            </a:solidFill>
          </a:ln>
        </p:spPr>
        <p:txBody>
          <a:bodyPr/>
          <a:lstStyle/>
          <a:p>
            <a:pPr marL="0" indent="0" eaLnBrk="1" hangingPunct="1">
              <a:spcBef>
                <a:spcPct val="0"/>
              </a:spcBef>
              <a:buClr>
                <a:srgbClr val="660033"/>
              </a:buClr>
              <a:buSzPct val="95000"/>
              <a:buFont typeface="Wingdings" pitchFamily="2" charset="2"/>
              <a:buNone/>
            </a:pPr>
            <a:r>
              <a:rPr lang="zh-CN" altLang="en-US" smtClean="0"/>
              <a:t>三、生产法（</a:t>
            </a:r>
            <a:r>
              <a:rPr lang="en-US" altLang="zh-CN" smtClean="0"/>
              <a:t>production approach</a:t>
            </a:r>
            <a:r>
              <a:rPr lang="zh-CN" altLang="en-US" smtClean="0"/>
              <a:t>）（</a:t>
            </a:r>
            <a:r>
              <a:rPr lang="zh-CN" altLang="en-US" sz="3200" smtClean="0">
                <a:solidFill>
                  <a:srgbClr val="FF00FF"/>
                </a:solidFill>
              </a:rPr>
              <a:t>增值法</a:t>
            </a:r>
            <a:r>
              <a:rPr lang="zh-CN" altLang="en-US" smtClean="0"/>
              <a:t>）</a:t>
            </a:r>
          </a:p>
        </p:txBody>
      </p:sp>
      <p:sp>
        <p:nvSpPr>
          <p:cNvPr id="200708" name="Rectangle 4" descr="新闻纸"/>
          <p:cNvSpPr>
            <a:spLocks noChangeArrowheads="1"/>
          </p:cNvSpPr>
          <p:nvPr/>
        </p:nvSpPr>
        <p:spPr bwMode="auto">
          <a:xfrm>
            <a:off x="395288" y="3500438"/>
            <a:ext cx="8229600" cy="1657350"/>
          </a:xfrm>
          <a:prstGeom prst="rect">
            <a:avLst/>
          </a:prstGeom>
          <a:blipFill dpi="0" rotWithShape="0">
            <a:blip r:embed="rId3"/>
            <a:srcRect/>
            <a:tile tx="0" ty="0" sx="100000" sy="100000" flip="none" algn="tl"/>
          </a:blipFill>
          <a:ln w="76200" cmpd="tri">
            <a:solidFill>
              <a:schemeClr val="bg2"/>
            </a:solidFill>
            <a:miter lim="800000"/>
            <a:headEnd/>
            <a:tailEnd/>
          </a:ln>
        </p:spPr>
        <p:txBody>
          <a:bodyPr/>
          <a:lstStyle/>
          <a:p>
            <a:pPr marL="95250" indent="-95250" algn="just">
              <a:lnSpc>
                <a:spcPct val="90000"/>
              </a:lnSpc>
              <a:spcBef>
                <a:spcPts val="600"/>
              </a:spcBef>
              <a:buClr>
                <a:schemeClr val="hlink"/>
              </a:buClr>
              <a:buFont typeface="Wingdings" pitchFamily="2" charset="2"/>
              <a:buChar char="u"/>
            </a:pPr>
            <a:r>
              <a:rPr lang="zh-CN" altLang="en-US">
                <a:solidFill>
                  <a:srgbClr val="101016"/>
                </a:solidFill>
                <a:latin typeface="黑体" pitchFamily="2" charset="-122"/>
                <a:ea typeface="黑体" pitchFamily="2" charset="-122"/>
              </a:rPr>
              <a:t>我国现行统计制度，把国民经济分为</a:t>
            </a:r>
            <a:r>
              <a:rPr lang="zh-CN" altLang="en-US">
                <a:solidFill>
                  <a:srgbClr val="FF5050"/>
                </a:solidFill>
                <a:latin typeface="黑体" pitchFamily="2" charset="-122"/>
                <a:ea typeface="黑体" pitchFamily="2" charset="-122"/>
              </a:rPr>
              <a:t>农业，采掘业，化学工业，金融保险业</a:t>
            </a:r>
            <a:r>
              <a:rPr lang="zh-CN" altLang="en-US">
                <a:solidFill>
                  <a:srgbClr val="101016"/>
                </a:solidFill>
                <a:latin typeface="黑体" pitchFamily="2" charset="-122"/>
                <a:ea typeface="黑体" pitchFamily="2" charset="-122"/>
              </a:rPr>
              <a:t>等</a:t>
            </a:r>
            <a:r>
              <a:rPr lang="en-US" altLang="zh-CN">
                <a:solidFill>
                  <a:srgbClr val="101016"/>
                </a:solidFill>
                <a:latin typeface="黑体" pitchFamily="2" charset="-122"/>
                <a:ea typeface="黑体" pitchFamily="2" charset="-122"/>
              </a:rPr>
              <a:t>17</a:t>
            </a:r>
            <a:r>
              <a:rPr lang="zh-CN" altLang="en-US">
                <a:solidFill>
                  <a:srgbClr val="101016"/>
                </a:solidFill>
                <a:latin typeface="黑体" pitchFamily="2" charset="-122"/>
                <a:ea typeface="黑体" pitchFamily="2" charset="-122"/>
              </a:rPr>
              <a:t>个部门进行生产或部门法统计。</a:t>
            </a:r>
            <a:endParaRPr lang="en-US" altLang="zh-CN">
              <a:solidFill>
                <a:srgbClr val="101016"/>
              </a:solidFill>
              <a:latin typeface="黑体" pitchFamily="2" charset="-122"/>
              <a:ea typeface="黑体" pitchFamily="2" charset="-122"/>
            </a:endParaRPr>
          </a:p>
          <a:p>
            <a:pPr marL="95250" indent="-95250">
              <a:lnSpc>
                <a:spcPct val="120000"/>
              </a:lnSpc>
              <a:spcBef>
                <a:spcPct val="20000"/>
              </a:spcBef>
              <a:buClr>
                <a:schemeClr val="hlink"/>
              </a:buClr>
              <a:buFont typeface="Wingdings" pitchFamily="2" charset="2"/>
              <a:buBlip>
                <a:blip r:embed="rId4"/>
              </a:buBlip>
            </a:pPr>
            <a:r>
              <a:rPr lang="zh-CN" altLang="en-US">
                <a:solidFill>
                  <a:srgbClr val="000000"/>
                </a:solidFill>
                <a:latin typeface="黑体" pitchFamily="2" charset="-122"/>
                <a:ea typeface="黑体" pitchFamily="2" charset="-122"/>
              </a:rPr>
              <a:t>核算的范围：提供</a:t>
            </a:r>
            <a:r>
              <a:rPr lang="zh-CN" altLang="en-US">
                <a:solidFill>
                  <a:schemeClr val="accent1"/>
                </a:solidFill>
                <a:latin typeface="黑体" pitchFamily="2" charset="-122"/>
                <a:ea typeface="黑体" pitchFamily="2" charset="-122"/>
              </a:rPr>
              <a:t>物质产品</a:t>
            </a:r>
            <a:r>
              <a:rPr lang="zh-CN" altLang="en-US">
                <a:solidFill>
                  <a:srgbClr val="000000"/>
                </a:solidFill>
                <a:latin typeface="黑体" pitchFamily="2" charset="-122"/>
                <a:ea typeface="黑体" pitchFamily="2" charset="-122"/>
              </a:rPr>
              <a:t>的第一产业和第二产业，提供</a:t>
            </a:r>
            <a:r>
              <a:rPr lang="zh-CN" altLang="en-US">
                <a:solidFill>
                  <a:schemeClr val="accent1"/>
                </a:solidFill>
                <a:latin typeface="黑体" pitchFamily="2" charset="-122"/>
                <a:ea typeface="黑体" pitchFamily="2" charset="-122"/>
              </a:rPr>
              <a:t>劳务产品</a:t>
            </a:r>
            <a:r>
              <a:rPr lang="zh-CN" altLang="en-US">
                <a:solidFill>
                  <a:srgbClr val="000000"/>
                </a:solidFill>
                <a:latin typeface="黑体" pitchFamily="2" charset="-122"/>
                <a:ea typeface="黑体" pitchFamily="2" charset="-122"/>
              </a:rPr>
              <a:t>的第三产业。</a:t>
            </a:r>
          </a:p>
        </p:txBody>
      </p:sp>
      <p:sp>
        <p:nvSpPr>
          <p:cNvPr id="200709" name="Rectangle 5" descr="纸莎草纸"/>
          <p:cNvSpPr>
            <a:spLocks noChangeArrowheads="1"/>
          </p:cNvSpPr>
          <p:nvPr/>
        </p:nvSpPr>
        <p:spPr bwMode="auto">
          <a:xfrm>
            <a:off x="395288" y="1989138"/>
            <a:ext cx="8229600" cy="1244600"/>
          </a:xfrm>
          <a:prstGeom prst="rect">
            <a:avLst/>
          </a:prstGeom>
          <a:blipFill dpi="0" rotWithShape="0">
            <a:blip r:embed="rId5"/>
            <a:srcRect/>
            <a:tile tx="0" ty="0" sx="100000" sy="100000" flip="none" algn="tl"/>
          </a:blipFill>
          <a:ln w="57150" cmpd="thickThin">
            <a:solidFill>
              <a:srgbClr val="CCCC00"/>
            </a:solidFill>
            <a:miter lim="800000"/>
            <a:headEnd/>
            <a:tailEnd/>
          </a:ln>
        </p:spPr>
        <p:txBody>
          <a:bodyPr>
            <a:spAutoFit/>
          </a:bodyPr>
          <a:lstStyle/>
          <a:p>
            <a:pPr>
              <a:lnSpc>
                <a:spcPct val="120000"/>
              </a:lnSpc>
              <a:buClr>
                <a:srgbClr val="660033"/>
              </a:buClr>
              <a:buSzPct val="95000"/>
              <a:buFont typeface="Wingdings" pitchFamily="2" charset="2"/>
              <a:buChar char="n"/>
            </a:pPr>
            <a:r>
              <a:rPr lang="zh-CN" altLang="en-US">
                <a:solidFill>
                  <a:srgbClr val="101016"/>
                </a:solidFill>
                <a:latin typeface="Arial" charset="0"/>
              </a:rPr>
              <a:t>依据各生产部门的产值来计算</a:t>
            </a:r>
            <a:r>
              <a:rPr lang="en-US" altLang="zh-CN">
                <a:solidFill>
                  <a:srgbClr val="101016"/>
                </a:solidFill>
                <a:latin typeface="Arial" charset="0"/>
              </a:rPr>
              <a:t>GDP</a:t>
            </a:r>
            <a:r>
              <a:rPr lang="zh-CN" altLang="en-US">
                <a:solidFill>
                  <a:srgbClr val="101016"/>
                </a:solidFill>
                <a:latin typeface="Arial" charset="0"/>
              </a:rPr>
              <a:t>。</a:t>
            </a:r>
            <a:endParaRPr lang="en-US" altLang="zh-CN">
              <a:solidFill>
                <a:srgbClr val="101016"/>
              </a:solidFill>
              <a:latin typeface="Arial" charset="0"/>
            </a:endParaRPr>
          </a:p>
          <a:p>
            <a:pPr>
              <a:lnSpc>
                <a:spcPct val="120000"/>
              </a:lnSpc>
              <a:buClr>
                <a:srgbClr val="660033"/>
              </a:buClr>
              <a:buSzPct val="95000"/>
              <a:buFont typeface="Wingdings" pitchFamily="2" charset="2"/>
              <a:buChar char="n"/>
            </a:pPr>
            <a:r>
              <a:rPr lang="zh-CN" altLang="en-US">
                <a:solidFill>
                  <a:srgbClr val="101016"/>
                </a:solidFill>
                <a:latin typeface="Arial" charset="0"/>
              </a:rPr>
              <a:t>又称部门法（</a:t>
            </a:r>
            <a:r>
              <a:rPr lang="en-US" altLang="zh-CN">
                <a:solidFill>
                  <a:srgbClr val="101016"/>
                </a:solidFill>
                <a:latin typeface="Arial" charset="0"/>
              </a:rPr>
              <a:t>sector approach</a:t>
            </a:r>
            <a:r>
              <a:rPr lang="zh-CN" altLang="en-US">
                <a:solidFill>
                  <a:srgbClr val="101016"/>
                </a:solidFill>
                <a:latin typeface="Arial" charset="0"/>
              </a:rPr>
              <a:t>）</a:t>
            </a:r>
            <a:r>
              <a:rPr lang="en-US" altLang="zh-CN">
                <a:solidFill>
                  <a:srgbClr val="101016"/>
                </a:solidFill>
                <a:latin typeface="Arial" charset="0"/>
              </a:rPr>
              <a:t> </a:t>
            </a:r>
            <a:r>
              <a:rPr lang="zh-CN" altLang="en-US">
                <a:solidFill>
                  <a:srgbClr val="101016"/>
                </a:solidFill>
                <a:latin typeface="Arial" charset="0"/>
              </a:rPr>
              <a:t>，反映</a:t>
            </a:r>
            <a:r>
              <a:rPr lang="en-US" altLang="zh-CN">
                <a:solidFill>
                  <a:srgbClr val="101016"/>
                </a:solidFill>
                <a:latin typeface="Arial" charset="0"/>
              </a:rPr>
              <a:t>GDP</a:t>
            </a:r>
            <a:r>
              <a:rPr lang="zh-CN" altLang="en-US">
                <a:solidFill>
                  <a:srgbClr val="101016"/>
                </a:solidFill>
                <a:latin typeface="Arial" charset="0"/>
              </a:rPr>
              <a:t>的来源。从生产角度，运用</a:t>
            </a:r>
            <a:r>
              <a:rPr lang="zh-CN" altLang="en-US">
                <a:solidFill>
                  <a:srgbClr val="FF5050"/>
                </a:solidFill>
                <a:latin typeface="Arial" charset="0"/>
              </a:rPr>
              <a:t>增值法</a:t>
            </a:r>
            <a:r>
              <a:rPr lang="zh-CN" altLang="en-US">
                <a:solidFill>
                  <a:srgbClr val="101016"/>
                </a:solidFill>
                <a:latin typeface="Arial" charset="0"/>
              </a:rPr>
              <a:t>统计</a:t>
            </a:r>
            <a:r>
              <a:rPr lang="en-US" altLang="zh-CN">
                <a:solidFill>
                  <a:srgbClr val="101016"/>
                </a:solidFill>
                <a:latin typeface="Arial" charset="0"/>
              </a:rPr>
              <a:t>GDP</a:t>
            </a:r>
            <a:r>
              <a:rPr lang="zh-CN" altLang="en-US">
                <a:solidFill>
                  <a:srgbClr val="101016"/>
                </a:solidFill>
                <a:latin typeface="Arial" charset="0"/>
              </a:rPr>
              <a:t>，即计算每个部门或企业对产品和劳务的增加值。</a:t>
            </a:r>
          </a:p>
        </p:txBody>
      </p:sp>
      <p:sp>
        <p:nvSpPr>
          <p:cNvPr id="200710" name="Rectangle 6" descr="水滴"/>
          <p:cNvSpPr>
            <a:spLocks noChangeArrowheads="1"/>
          </p:cNvSpPr>
          <p:nvPr/>
        </p:nvSpPr>
        <p:spPr bwMode="auto">
          <a:xfrm>
            <a:off x="395288" y="5373688"/>
            <a:ext cx="8229600" cy="879475"/>
          </a:xfrm>
          <a:prstGeom prst="rect">
            <a:avLst/>
          </a:prstGeom>
          <a:blipFill dpi="0" rotWithShape="0">
            <a:blip r:embed="rId6">
              <a:alphaModFix amt="42000"/>
            </a:blip>
            <a:srcRect/>
            <a:tile tx="0" ty="0" sx="100000" sy="100000" flip="none" algn="tl"/>
          </a:blipFill>
          <a:ln w="57150" cmpd="thickThin">
            <a:solidFill>
              <a:srgbClr val="000099"/>
            </a:solidFill>
            <a:miter lim="800000"/>
            <a:headEnd/>
            <a:tailEnd/>
          </a:ln>
        </p:spPr>
        <p:txBody>
          <a:bodyPr>
            <a:spAutoFit/>
          </a:bodyPr>
          <a:lstStyle/>
          <a:p>
            <a:pPr>
              <a:lnSpc>
                <a:spcPct val="120000"/>
              </a:lnSpc>
              <a:buClr>
                <a:srgbClr val="FF0000"/>
              </a:buClr>
              <a:buSzPct val="95000"/>
              <a:buFont typeface="Wingdings" pitchFamily="2" charset="2"/>
              <a:buChar char="n"/>
            </a:pPr>
            <a:r>
              <a:rPr lang="zh-CN" altLang="en-US">
                <a:solidFill>
                  <a:srgbClr val="000000"/>
                </a:solidFill>
                <a:latin typeface="Arial" charset="0"/>
              </a:rPr>
              <a:t>核算的标的：各部门</a:t>
            </a:r>
            <a:r>
              <a:rPr lang="zh-CN" altLang="en-US">
                <a:solidFill>
                  <a:srgbClr val="FF00FF"/>
                </a:solidFill>
                <a:latin typeface="Arial" charset="0"/>
              </a:rPr>
              <a:t>增加值</a:t>
            </a:r>
            <a:r>
              <a:rPr lang="zh-CN" altLang="en-US">
                <a:solidFill>
                  <a:srgbClr val="000000"/>
                </a:solidFill>
                <a:latin typeface="Arial" charset="0"/>
              </a:rPr>
              <a:t>，即</a:t>
            </a:r>
            <a:r>
              <a:rPr lang="zh-CN" altLang="en-US">
                <a:solidFill>
                  <a:srgbClr val="FF00FF"/>
                </a:solidFill>
                <a:latin typeface="Arial" charset="0"/>
              </a:rPr>
              <a:t>总产值</a:t>
            </a:r>
            <a:r>
              <a:rPr lang="zh-CN" altLang="en-US">
                <a:solidFill>
                  <a:srgbClr val="000000"/>
                </a:solidFill>
                <a:latin typeface="Arial" charset="0"/>
              </a:rPr>
              <a:t>扣除</a:t>
            </a:r>
            <a:r>
              <a:rPr lang="zh-CN" altLang="en-US">
                <a:solidFill>
                  <a:srgbClr val="FF00FF"/>
                </a:solidFill>
                <a:latin typeface="Arial" charset="0"/>
              </a:rPr>
              <a:t>中间产品价值</a:t>
            </a:r>
            <a:r>
              <a:rPr lang="zh-CN" altLang="en-US">
                <a:solidFill>
                  <a:srgbClr val="000000"/>
                </a:solidFill>
                <a:latin typeface="Arial" charset="0"/>
              </a:rPr>
              <a:t>后的余额。</a:t>
            </a:r>
            <a:endParaRPr lang="en-US" altLang="zh-CN">
              <a:solidFill>
                <a:srgbClr val="000000"/>
              </a:solidFill>
              <a:latin typeface="Arial" charset="0"/>
            </a:endParaRPr>
          </a:p>
          <a:p>
            <a:pPr>
              <a:lnSpc>
                <a:spcPct val="120000"/>
              </a:lnSpc>
              <a:buClr>
                <a:srgbClr val="FF0000"/>
              </a:buClr>
              <a:buSzPct val="95000"/>
              <a:buFont typeface="Wingdings" pitchFamily="2" charset="2"/>
              <a:buChar char="n"/>
            </a:pPr>
            <a:r>
              <a:rPr lang="zh-CN" altLang="en-US">
                <a:solidFill>
                  <a:srgbClr val="000000"/>
                </a:solidFill>
                <a:latin typeface="Arial" charset="0"/>
              </a:rPr>
              <a:t>政府部门提供的劳务活动以投入的成本计入总产出。</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00707">
                                            <p:bg/>
                                          </p:spTgt>
                                        </p:tgtEl>
                                        <p:attrNameLst>
                                          <p:attrName>style.visibility</p:attrName>
                                        </p:attrNameLst>
                                      </p:cBhvr>
                                      <p:to>
                                        <p:strVal val="visible"/>
                                      </p:to>
                                    </p:set>
                                    <p:animEffect transition="in" filter="blinds(horizontal)">
                                      <p:cBhvr>
                                        <p:cTn id="7" dur="500"/>
                                        <p:tgtEl>
                                          <p:spTgt spid="200707">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00707">
                                            <p:txEl>
                                              <p:pRg st="0" end="0"/>
                                            </p:txEl>
                                          </p:spTgt>
                                        </p:tgtEl>
                                        <p:attrNameLst>
                                          <p:attrName>style.visibility</p:attrName>
                                        </p:attrNameLst>
                                      </p:cBhvr>
                                      <p:to>
                                        <p:strVal val="visible"/>
                                      </p:to>
                                    </p:set>
                                    <p:animEffect transition="in" filter="blinds(horizontal)">
                                      <p:cBhvr>
                                        <p:cTn id="12" dur="500"/>
                                        <p:tgtEl>
                                          <p:spTgt spid="200707">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00709"/>
                                        </p:tgtEl>
                                        <p:attrNameLst>
                                          <p:attrName>style.visibility</p:attrName>
                                        </p:attrNameLst>
                                      </p:cBhvr>
                                      <p:to>
                                        <p:strVal val="visible"/>
                                      </p:to>
                                    </p:set>
                                    <p:animEffect transition="in" filter="blinds(horizontal)">
                                      <p:cBhvr>
                                        <p:cTn id="17" dur="500"/>
                                        <p:tgtEl>
                                          <p:spTgt spid="20070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00708"/>
                                        </p:tgtEl>
                                        <p:attrNameLst>
                                          <p:attrName>style.visibility</p:attrName>
                                        </p:attrNameLst>
                                      </p:cBhvr>
                                      <p:to>
                                        <p:strVal val="visible"/>
                                      </p:to>
                                    </p:set>
                                    <p:animEffect transition="in" filter="blinds(horizontal)">
                                      <p:cBhvr>
                                        <p:cTn id="22" dur="500"/>
                                        <p:tgtEl>
                                          <p:spTgt spid="20070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00710"/>
                                        </p:tgtEl>
                                        <p:attrNameLst>
                                          <p:attrName>style.visibility</p:attrName>
                                        </p:attrNameLst>
                                      </p:cBhvr>
                                      <p:to>
                                        <p:strVal val="visible"/>
                                      </p:to>
                                    </p:set>
                                    <p:animEffect transition="in" filter="blinds(horizontal)">
                                      <p:cBhvr>
                                        <p:cTn id="27" dur="500"/>
                                        <p:tgtEl>
                                          <p:spTgt spid="2007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707" grpId="0" build="p" animBg="1"/>
      <p:bldP spid="200708" grpId="0" animBg="1"/>
      <p:bldP spid="200709" grpId="0" animBg="1"/>
      <p:bldP spid="20071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noChangeArrowheads="1"/>
          </p:cNvSpPr>
          <p:nvPr>
            <p:ph type="title"/>
          </p:nvPr>
        </p:nvSpPr>
        <p:spPr>
          <a:extLst/>
        </p:spPr>
        <p:txBody>
          <a:bodyPr/>
          <a:lstStyle/>
          <a:p>
            <a:pPr eaLnBrk="1" hangingPunct="1">
              <a:defRPr/>
            </a:pPr>
            <a:r>
              <a:rPr lang="zh-CN" altLang="en-US"/>
              <a:t>第四节</a:t>
            </a:r>
            <a:r>
              <a:rPr lang="en-US" altLang="zh-CN"/>
              <a:t>  </a:t>
            </a:r>
            <a:r>
              <a:rPr lang="zh-CN" altLang="en-US"/>
              <a:t>国民收入中的其他几个指标</a:t>
            </a:r>
          </a:p>
        </p:txBody>
      </p:sp>
      <p:sp>
        <p:nvSpPr>
          <p:cNvPr id="151555" name="Rectangle 3"/>
          <p:cNvSpPr>
            <a:spLocks noGrp="1" noChangeArrowheads="1"/>
          </p:cNvSpPr>
          <p:nvPr>
            <p:ph type="body" idx="1"/>
          </p:nvPr>
        </p:nvSpPr>
        <p:spPr>
          <a:xfrm>
            <a:off x="395288" y="1268413"/>
            <a:ext cx="8280400" cy="2303462"/>
          </a:xfrm>
          <a:ln cap="flat"/>
        </p:spPr>
        <p:txBody>
          <a:bodyPr/>
          <a:lstStyle/>
          <a:p>
            <a:pPr marL="381000" indent="-381000" eaLnBrk="1" hangingPunct="1">
              <a:buFont typeface="Wingdings" pitchFamily="2" charset="2"/>
              <a:buNone/>
            </a:pPr>
            <a:r>
              <a:rPr lang="en-US" altLang="zh-CN" sz="2800" smtClean="0"/>
              <a:t>1.   </a:t>
            </a:r>
            <a:r>
              <a:rPr lang="zh-CN" altLang="en-US" sz="2800" smtClean="0"/>
              <a:t>国民生产总值（GNP）</a:t>
            </a:r>
            <a:endParaRPr lang="en-US" altLang="zh-CN" sz="2800" smtClean="0"/>
          </a:p>
          <a:p>
            <a:pPr marL="381000" indent="-381000" eaLnBrk="1" hangingPunct="1">
              <a:buFont typeface="Wingdings" pitchFamily="2" charset="2"/>
              <a:buNone/>
            </a:pPr>
            <a:r>
              <a:rPr lang="en-US" altLang="zh-CN" smtClean="0"/>
              <a:t>        </a:t>
            </a:r>
            <a:r>
              <a:rPr lang="zh-CN" altLang="en-US" smtClean="0"/>
              <a:t>也是广义的国民收入，考察的是某国居民所生产的最终产品和服务的市场价值，但统计中该指标采用的是居民标准。</a:t>
            </a:r>
          </a:p>
          <a:p>
            <a:pPr marL="381000" indent="-381000" eaLnBrk="1" hangingPunct="1">
              <a:buFont typeface="Wingdings" pitchFamily="2" charset="2"/>
              <a:buNone/>
            </a:pPr>
            <a:endParaRPr lang="en-US" smtClean="0"/>
          </a:p>
          <a:p>
            <a:pPr marL="381000" indent="-381000" eaLnBrk="1" hangingPunct="1">
              <a:buFont typeface="Wingdings" pitchFamily="2" charset="2"/>
              <a:buNone/>
            </a:pPr>
            <a:r>
              <a:rPr lang="en-US" smtClean="0"/>
              <a:t> </a:t>
            </a:r>
            <a:r>
              <a:rPr lang="en-US" altLang="zh-CN" smtClean="0"/>
              <a:t>       GNP = GDP +</a:t>
            </a:r>
            <a:r>
              <a:rPr lang="zh-CN" altLang="en-US" smtClean="0"/>
              <a:t>来自国外的要素收入</a:t>
            </a:r>
            <a:r>
              <a:rPr lang="en-US" altLang="zh-CN" smtClean="0"/>
              <a:t>–</a:t>
            </a:r>
            <a:r>
              <a:rPr lang="zh-CN" altLang="en-US" smtClean="0"/>
              <a:t>向国外的要素支付</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1555">
                                            <p:bg/>
                                          </p:spTgt>
                                        </p:tgtEl>
                                        <p:attrNameLst>
                                          <p:attrName>style.visibility</p:attrName>
                                        </p:attrNameLst>
                                      </p:cBhvr>
                                      <p:to>
                                        <p:strVal val="visible"/>
                                      </p:to>
                                    </p:set>
                                    <p:animEffect transition="in" filter="blinds(horizontal)">
                                      <p:cBhvr>
                                        <p:cTn id="7" dur="500"/>
                                        <p:tgtEl>
                                          <p:spTgt spid="151555">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51555">
                                            <p:txEl>
                                              <p:pRg st="0" end="0"/>
                                            </p:txEl>
                                          </p:spTgt>
                                        </p:tgtEl>
                                        <p:attrNameLst>
                                          <p:attrName>style.visibility</p:attrName>
                                        </p:attrNameLst>
                                      </p:cBhvr>
                                      <p:to>
                                        <p:strVal val="visible"/>
                                      </p:to>
                                    </p:set>
                                    <p:animEffect transition="in" filter="blinds(horizontal)">
                                      <p:cBhvr>
                                        <p:cTn id="12" dur="500"/>
                                        <p:tgtEl>
                                          <p:spTgt spid="151555">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51555">
                                            <p:txEl>
                                              <p:pRg st="1" end="1"/>
                                            </p:txEl>
                                          </p:spTgt>
                                        </p:tgtEl>
                                        <p:attrNameLst>
                                          <p:attrName>style.visibility</p:attrName>
                                        </p:attrNameLst>
                                      </p:cBhvr>
                                      <p:to>
                                        <p:strVal val="visible"/>
                                      </p:to>
                                    </p:set>
                                    <p:animEffect transition="in" filter="blinds(horizontal)">
                                      <p:cBhvr>
                                        <p:cTn id="17" dur="500"/>
                                        <p:tgtEl>
                                          <p:spTgt spid="151555">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51555">
                                            <p:txEl>
                                              <p:pRg st="3" end="3"/>
                                            </p:txEl>
                                          </p:spTgt>
                                        </p:tgtEl>
                                        <p:attrNameLst>
                                          <p:attrName>style.visibility</p:attrName>
                                        </p:attrNameLst>
                                      </p:cBhvr>
                                      <p:to>
                                        <p:strVal val="visible"/>
                                      </p:to>
                                    </p:set>
                                    <p:animEffect transition="in" filter="blinds(horizontal)">
                                      <p:cBhvr>
                                        <p:cTn id="22" dur="500"/>
                                        <p:tgtEl>
                                          <p:spTgt spid="15155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55" grpId="0" build="p"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Rectangle 2"/>
          <p:cNvSpPr>
            <a:spLocks noGrp="1" noChangeArrowheads="1"/>
          </p:cNvSpPr>
          <p:nvPr>
            <p:ph type="title"/>
          </p:nvPr>
        </p:nvSpPr>
        <p:spPr>
          <a:extLst/>
        </p:spPr>
        <p:txBody>
          <a:bodyPr/>
          <a:lstStyle/>
          <a:p>
            <a:pPr eaLnBrk="1" hangingPunct="1">
              <a:defRPr/>
            </a:pPr>
            <a:r>
              <a:rPr lang="zh-CN" altLang="en-US"/>
              <a:t>第四节</a:t>
            </a:r>
            <a:r>
              <a:rPr lang="en-US" altLang="zh-CN"/>
              <a:t>  </a:t>
            </a:r>
            <a:r>
              <a:rPr lang="zh-CN" altLang="en-US"/>
              <a:t>国民收入中的其他几个指标</a:t>
            </a:r>
          </a:p>
        </p:txBody>
      </p:sp>
      <p:sp>
        <p:nvSpPr>
          <p:cNvPr id="275459" name="Rectangle 3"/>
          <p:cNvSpPr>
            <a:spLocks noGrp="1" noChangeArrowheads="1"/>
          </p:cNvSpPr>
          <p:nvPr>
            <p:ph type="body" idx="1"/>
          </p:nvPr>
        </p:nvSpPr>
        <p:spPr>
          <a:xfrm>
            <a:off x="395288" y="1268413"/>
            <a:ext cx="8280400" cy="2303462"/>
          </a:xfrm>
          <a:ln cap="flat"/>
        </p:spPr>
        <p:txBody>
          <a:bodyPr/>
          <a:lstStyle/>
          <a:p>
            <a:pPr marL="381000" indent="-381000" eaLnBrk="1" hangingPunct="1">
              <a:buFont typeface="Wingdings" pitchFamily="2" charset="2"/>
              <a:buNone/>
            </a:pPr>
            <a:r>
              <a:rPr lang="en-US" altLang="zh-CN" sz="2800" dirty="0" smtClean="0"/>
              <a:t>2. </a:t>
            </a:r>
            <a:r>
              <a:rPr lang="zh-CN" altLang="en-US" sz="2800" dirty="0" smtClean="0"/>
              <a:t>国</a:t>
            </a:r>
            <a:r>
              <a:rPr lang="zh-CN" altLang="en-US" sz="2800" dirty="0"/>
              <a:t>内</a:t>
            </a:r>
            <a:r>
              <a:rPr lang="zh-CN" altLang="en-US" sz="2800" dirty="0" smtClean="0"/>
              <a:t>生产净</a:t>
            </a:r>
            <a:r>
              <a:rPr lang="en-US" sz="2800" dirty="0" err="1" smtClean="0"/>
              <a:t>值（</a:t>
            </a:r>
            <a:r>
              <a:rPr lang="en-US" altLang="zh-CN" sz="2800" dirty="0" err="1" smtClean="0"/>
              <a:t>ND</a:t>
            </a:r>
            <a:r>
              <a:rPr lang="zh-CN" altLang="en-US" sz="2800" dirty="0" smtClean="0"/>
              <a:t>P）</a:t>
            </a:r>
            <a:endParaRPr lang="en-US" altLang="zh-CN" sz="2800" dirty="0" smtClean="0"/>
          </a:p>
          <a:p>
            <a:pPr marL="381000" indent="-381000" eaLnBrk="1" hangingPunct="1">
              <a:buFont typeface="Wingdings" pitchFamily="2" charset="2"/>
              <a:buNone/>
            </a:pPr>
            <a:r>
              <a:rPr lang="en-US" altLang="zh-CN" dirty="0" smtClean="0"/>
              <a:t>          </a:t>
            </a:r>
            <a:r>
              <a:rPr lang="zh-CN" altLang="en-US" smtClean="0"/>
              <a:t>国内生产总值 </a:t>
            </a:r>
            <a:r>
              <a:rPr lang="en-US" altLang="zh-CN" dirty="0" smtClean="0"/>
              <a:t>GDP</a:t>
            </a:r>
            <a:r>
              <a:rPr lang="zh-CN" altLang="en-US" dirty="0" smtClean="0"/>
              <a:t> 扣除了资本折旧以后剩下的部分，它是另一个重要的总量指标。 </a:t>
            </a:r>
          </a:p>
          <a:p>
            <a:pPr marL="381000" indent="-381000" eaLnBrk="1" hangingPunct="1">
              <a:buFont typeface="Wingdings" pitchFamily="2" charset="2"/>
              <a:buNone/>
            </a:pPr>
            <a:r>
              <a:rPr lang="en-US" altLang="zh-CN" dirty="0" smtClean="0"/>
              <a:t>   </a:t>
            </a:r>
          </a:p>
          <a:p>
            <a:pPr marL="381000" indent="-381000" eaLnBrk="1" hangingPunct="1">
              <a:buFont typeface="Wingdings" pitchFamily="2" charset="2"/>
              <a:buNone/>
            </a:pPr>
            <a:r>
              <a:rPr lang="en-US" altLang="zh-CN" dirty="0" smtClean="0"/>
              <a:t>             NDP = GDP – </a:t>
            </a:r>
            <a:r>
              <a:rPr lang="zh-CN" altLang="en-US" dirty="0" smtClean="0"/>
              <a:t>资本折旧</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5459">
                                            <p:bg/>
                                          </p:spTgt>
                                        </p:tgtEl>
                                        <p:attrNameLst>
                                          <p:attrName>style.visibility</p:attrName>
                                        </p:attrNameLst>
                                      </p:cBhvr>
                                      <p:to>
                                        <p:strVal val="visible"/>
                                      </p:to>
                                    </p:set>
                                    <p:animEffect transition="in" filter="blinds(horizontal)">
                                      <p:cBhvr>
                                        <p:cTn id="7" dur="500"/>
                                        <p:tgtEl>
                                          <p:spTgt spid="275459">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75459">
                                            <p:txEl>
                                              <p:pRg st="0" end="0"/>
                                            </p:txEl>
                                          </p:spTgt>
                                        </p:tgtEl>
                                        <p:attrNameLst>
                                          <p:attrName>style.visibility</p:attrName>
                                        </p:attrNameLst>
                                      </p:cBhvr>
                                      <p:to>
                                        <p:strVal val="visible"/>
                                      </p:to>
                                    </p:set>
                                    <p:animEffect transition="in" filter="blinds(horizontal)">
                                      <p:cBhvr>
                                        <p:cTn id="12" dur="500"/>
                                        <p:tgtEl>
                                          <p:spTgt spid="275459">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75459">
                                            <p:txEl>
                                              <p:pRg st="1" end="1"/>
                                            </p:txEl>
                                          </p:spTgt>
                                        </p:tgtEl>
                                        <p:attrNameLst>
                                          <p:attrName>style.visibility</p:attrName>
                                        </p:attrNameLst>
                                      </p:cBhvr>
                                      <p:to>
                                        <p:strVal val="visible"/>
                                      </p:to>
                                    </p:set>
                                    <p:animEffect transition="in" filter="blinds(horizontal)">
                                      <p:cBhvr>
                                        <p:cTn id="17" dur="500"/>
                                        <p:tgtEl>
                                          <p:spTgt spid="275459">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75459">
                                            <p:txEl>
                                              <p:pRg st="2" end="2"/>
                                            </p:txEl>
                                          </p:spTgt>
                                        </p:tgtEl>
                                        <p:attrNameLst>
                                          <p:attrName>style.visibility</p:attrName>
                                        </p:attrNameLst>
                                      </p:cBhvr>
                                      <p:to>
                                        <p:strVal val="visible"/>
                                      </p:to>
                                    </p:set>
                                    <p:animEffect transition="in" filter="blinds(horizontal)">
                                      <p:cBhvr>
                                        <p:cTn id="22" dur="500"/>
                                        <p:tgtEl>
                                          <p:spTgt spid="275459">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75459">
                                            <p:txEl>
                                              <p:pRg st="3" end="3"/>
                                            </p:txEl>
                                          </p:spTgt>
                                        </p:tgtEl>
                                        <p:attrNameLst>
                                          <p:attrName>style.visibility</p:attrName>
                                        </p:attrNameLst>
                                      </p:cBhvr>
                                      <p:to>
                                        <p:strVal val="visible"/>
                                      </p:to>
                                    </p:set>
                                    <p:animEffect transition="in" filter="blinds(horizontal)">
                                      <p:cBhvr>
                                        <p:cTn id="27" dur="500"/>
                                        <p:tgtEl>
                                          <p:spTgt spid="27545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5459" grpId="0" build="p"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2"/>
          <p:cNvSpPr>
            <a:spLocks noGrp="1" noChangeArrowheads="1"/>
          </p:cNvSpPr>
          <p:nvPr>
            <p:ph type="title"/>
          </p:nvPr>
        </p:nvSpPr>
        <p:spPr>
          <a:extLst/>
        </p:spPr>
        <p:txBody>
          <a:bodyPr/>
          <a:lstStyle/>
          <a:p>
            <a:pPr eaLnBrk="1" hangingPunct="1">
              <a:defRPr/>
            </a:pPr>
            <a:r>
              <a:rPr lang="en-US" altLang="zh-CN"/>
              <a:t>3.</a:t>
            </a:r>
            <a:r>
              <a:rPr lang="zh-CN" altLang="en-US"/>
              <a:t>国民收入：</a:t>
            </a:r>
            <a:r>
              <a:rPr lang="en-US" altLang="zh-CN"/>
              <a:t>NI</a:t>
            </a:r>
          </a:p>
        </p:txBody>
      </p:sp>
      <p:sp>
        <p:nvSpPr>
          <p:cNvPr id="212995" name="Rectangle 3"/>
          <p:cNvSpPr>
            <a:spLocks noGrp="1" noChangeArrowheads="1"/>
          </p:cNvSpPr>
          <p:nvPr>
            <p:ph type="body" idx="1"/>
          </p:nvPr>
        </p:nvSpPr>
        <p:spPr>
          <a:xfrm>
            <a:off x="395288" y="1268413"/>
            <a:ext cx="8229600" cy="1304925"/>
          </a:xfrm>
          <a:ln cap="flat"/>
        </p:spPr>
        <p:txBody>
          <a:bodyPr/>
          <a:lstStyle/>
          <a:p>
            <a:pPr eaLnBrk="1" hangingPunct="1">
              <a:buFont typeface="Wingdings" pitchFamily="2" charset="2"/>
              <a:buNone/>
            </a:pPr>
            <a:r>
              <a:rPr lang="en-US" altLang="zh-CN" smtClean="0"/>
              <a:t>national income</a:t>
            </a:r>
          </a:p>
          <a:p>
            <a:pPr eaLnBrk="1" hangingPunct="1">
              <a:buFont typeface="Wingdings" pitchFamily="2" charset="2"/>
              <a:buNone/>
            </a:pPr>
            <a:r>
              <a:rPr lang="zh-CN" altLang="en-US" smtClean="0"/>
              <a:t>广义国民收入：泛指</a:t>
            </a:r>
            <a:r>
              <a:rPr lang="en-US" altLang="zh-CN" smtClean="0"/>
              <a:t>GDP</a:t>
            </a:r>
            <a:r>
              <a:rPr lang="zh-CN" altLang="en-US" smtClean="0"/>
              <a:t>、</a:t>
            </a:r>
            <a:r>
              <a:rPr lang="en-US" altLang="zh-CN" smtClean="0"/>
              <a:t>NNP</a:t>
            </a:r>
            <a:r>
              <a:rPr lang="zh-CN" altLang="en-US" smtClean="0"/>
              <a:t>等经济总量。或宏观经济学中“国民收入核算”。</a:t>
            </a:r>
          </a:p>
        </p:txBody>
      </p:sp>
      <p:sp>
        <p:nvSpPr>
          <p:cNvPr id="212996" name="Rectangle 4" descr="花束"/>
          <p:cNvSpPr>
            <a:spLocks noChangeArrowheads="1"/>
          </p:cNvSpPr>
          <p:nvPr/>
        </p:nvSpPr>
        <p:spPr bwMode="auto">
          <a:xfrm>
            <a:off x="395288" y="3860800"/>
            <a:ext cx="8208962" cy="533400"/>
          </a:xfrm>
          <a:prstGeom prst="rect">
            <a:avLst/>
          </a:prstGeom>
          <a:blipFill dpi="0" rotWithShape="0">
            <a:blip r:embed="rId2"/>
            <a:srcRect/>
            <a:tile tx="0" ty="0" sx="100000" sy="100000" flip="none" algn="tl"/>
          </a:blipFill>
          <a:ln w="76200">
            <a:solidFill>
              <a:srgbClr val="336600"/>
            </a:solidFill>
            <a:miter lim="800000"/>
            <a:headEnd/>
            <a:tailEnd/>
          </a:ln>
        </p:spPr>
        <p:txBody>
          <a:bodyPr>
            <a:spAutoFit/>
          </a:bodyPr>
          <a:lstStyle/>
          <a:p>
            <a:pPr>
              <a:lnSpc>
                <a:spcPct val="120000"/>
              </a:lnSpc>
              <a:buClr>
                <a:srgbClr val="660033"/>
              </a:buClr>
              <a:buSzPct val="95000"/>
              <a:buFont typeface="Wingdings" pitchFamily="2" charset="2"/>
              <a:buChar char="n"/>
            </a:pPr>
            <a:r>
              <a:rPr lang="en-US" altLang="zh-CN">
                <a:solidFill>
                  <a:srgbClr val="FF5050"/>
                </a:solidFill>
                <a:latin typeface="Arial" charset="0"/>
              </a:rPr>
              <a:t> NI</a:t>
            </a:r>
            <a:r>
              <a:rPr lang="zh-CN" altLang="en-US">
                <a:solidFill>
                  <a:srgbClr val="FF5050"/>
                </a:solidFill>
                <a:latin typeface="Arial" charset="0"/>
              </a:rPr>
              <a:t>＝</a:t>
            </a:r>
            <a:r>
              <a:rPr lang="en-US" altLang="zh-CN">
                <a:solidFill>
                  <a:srgbClr val="FF5050"/>
                </a:solidFill>
                <a:latin typeface="Arial" charset="0"/>
              </a:rPr>
              <a:t> NNP</a:t>
            </a:r>
            <a:r>
              <a:rPr lang="zh-CN" altLang="en-US">
                <a:solidFill>
                  <a:srgbClr val="FF5050"/>
                </a:solidFill>
                <a:latin typeface="Arial" charset="0"/>
              </a:rPr>
              <a:t>－间接税－企业转移支付＋政府补贴</a:t>
            </a:r>
          </a:p>
        </p:txBody>
      </p:sp>
      <p:sp>
        <p:nvSpPr>
          <p:cNvPr id="212999" name="Rectangle 7" descr="花束"/>
          <p:cNvSpPr>
            <a:spLocks noChangeArrowheads="1"/>
          </p:cNvSpPr>
          <p:nvPr/>
        </p:nvSpPr>
        <p:spPr bwMode="auto">
          <a:xfrm>
            <a:off x="395288" y="2781300"/>
            <a:ext cx="8229600" cy="898525"/>
          </a:xfrm>
          <a:prstGeom prst="rect">
            <a:avLst/>
          </a:prstGeom>
          <a:blipFill dpi="0" rotWithShape="0">
            <a:blip r:embed="rId2"/>
            <a:srcRect/>
            <a:tile tx="0" ty="0" sx="100000" sy="100000" flip="none" algn="tl"/>
          </a:blipFill>
          <a:ln w="76200">
            <a:solidFill>
              <a:srgbClr val="336600"/>
            </a:solidFill>
            <a:miter lim="800000"/>
            <a:headEnd/>
            <a:tailEnd/>
          </a:ln>
        </p:spPr>
        <p:txBody>
          <a:bodyPr>
            <a:spAutoFit/>
          </a:bodyPr>
          <a:lstStyle/>
          <a:p>
            <a:pPr>
              <a:lnSpc>
                <a:spcPct val="120000"/>
              </a:lnSpc>
              <a:buClr>
                <a:srgbClr val="660033"/>
              </a:buClr>
              <a:buSzPct val="95000"/>
              <a:buFont typeface="Wingdings" pitchFamily="2" charset="2"/>
              <a:buChar char="n"/>
            </a:pPr>
            <a:r>
              <a:rPr lang="zh-CN" altLang="en-US">
                <a:solidFill>
                  <a:srgbClr val="101016"/>
                </a:solidFill>
                <a:latin typeface="Arial" charset="0"/>
              </a:rPr>
              <a:t>狭义国民收入：要素得到的全部收入。即工资、利润、利息和租金的总和。</a:t>
            </a:r>
          </a:p>
        </p:txBody>
      </p:sp>
      <p:sp>
        <p:nvSpPr>
          <p:cNvPr id="213000" name="Rectangle 8" descr="水滴"/>
          <p:cNvSpPr>
            <a:spLocks noChangeArrowheads="1"/>
          </p:cNvSpPr>
          <p:nvPr/>
        </p:nvSpPr>
        <p:spPr bwMode="auto">
          <a:xfrm>
            <a:off x="468313" y="4581525"/>
            <a:ext cx="8135937" cy="879475"/>
          </a:xfrm>
          <a:prstGeom prst="rect">
            <a:avLst/>
          </a:prstGeom>
          <a:blipFill dpi="0" rotWithShape="0">
            <a:blip r:embed="rId3">
              <a:alphaModFix amt="42000"/>
            </a:blip>
            <a:srcRect/>
            <a:tile tx="0" ty="0" sx="100000" sy="100000" flip="none" algn="tl"/>
          </a:blipFill>
          <a:ln w="57150" cmpd="thickThin">
            <a:solidFill>
              <a:srgbClr val="000099"/>
            </a:solidFill>
            <a:miter lim="800000"/>
            <a:headEnd/>
            <a:tailEnd/>
          </a:ln>
        </p:spPr>
        <p:txBody>
          <a:bodyPr>
            <a:spAutoFit/>
          </a:bodyPr>
          <a:lstStyle/>
          <a:p>
            <a:pPr>
              <a:lnSpc>
                <a:spcPct val="120000"/>
              </a:lnSpc>
              <a:buClr>
                <a:srgbClr val="FF0000"/>
              </a:buClr>
              <a:buSzPct val="95000"/>
              <a:buFont typeface="Wingdings" pitchFamily="2" charset="2"/>
              <a:buChar char="n"/>
            </a:pPr>
            <a:r>
              <a:rPr lang="zh-CN" altLang="en-US">
                <a:solidFill>
                  <a:srgbClr val="000000"/>
                </a:solidFill>
                <a:latin typeface="Arial" charset="0"/>
              </a:rPr>
              <a:t>政府补贴（给予企业），虽然不记入产品价格，但是成为企业收入，然后成为要素收入。</a:t>
            </a:r>
          </a:p>
        </p:txBody>
      </p:sp>
      <p:sp>
        <p:nvSpPr>
          <p:cNvPr id="213001" name="Rectangle 9" descr="花束"/>
          <p:cNvSpPr>
            <a:spLocks noChangeArrowheads="1"/>
          </p:cNvSpPr>
          <p:nvPr/>
        </p:nvSpPr>
        <p:spPr bwMode="auto">
          <a:xfrm>
            <a:off x="468313" y="5661025"/>
            <a:ext cx="7921625" cy="533400"/>
          </a:xfrm>
          <a:prstGeom prst="rect">
            <a:avLst/>
          </a:prstGeom>
          <a:blipFill dpi="0" rotWithShape="0">
            <a:blip r:embed="rId2"/>
            <a:srcRect/>
            <a:tile tx="0" ty="0" sx="100000" sy="100000" flip="none" algn="tl"/>
          </a:blipFill>
          <a:ln w="76200">
            <a:solidFill>
              <a:srgbClr val="336600"/>
            </a:solidFill>
            <a:miter lim="800000"/>
            <a:headEnd/>
            <a:tailEnd/>
          </a:ln>
        </p:spPr>
        <p:txBody>
          <a:bodyPr>
            <a:spAutoFit/>
          </a:bodyPr>
          <a:lstStyle/>
          <a:p>
            <a:pPr>
              <a:lnSpc>
                <a:spcPct val="120000"/>
              </a:lnSpc>
              <a:buClr>
                <a:srgbClr val="660033"/>
              </a:buClr>
              <a:buSzPct val="95000"/>
              <a:buFont typeface="Wingdings" pitchFamily="2" charset="2"/>
              <a:buChar char="n"/>
            </a:pPr>
            <a:r>
              <a:rPr lang="en-US" altLang="zh-CN">
                <a:solidFill>
                  <a:srgbClr val="101016"/>
                </a:solidFill>
                <a:latin typeface="Arial" charset="0"/>
              </a:rPr>
              <a:t>NI</a:t>
            </a:r>
            <a:r>
              <a:rPr lang="zh-CN" altLang="en-US">
                <a:solidFill>
                  <a:srgbClr val="101016"/>
                </a:solidFill>
                <a:latin typeface="Arial" charset="0"/>
              </a:rPr>
              <a:t>可以简单理解为企业的经营成果＝扣除经营中的非要素支出。</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12995">
                                            <p:bg/>
                                          </p:spTgt>
                                        </p:tgtEl>
                                        <p:attrNameLst>
                                          <p:attrName>style.visibility</p:attrName>
                                        </p:attrNameLst>
                                      </p:cBhvr>
                                      <p:to>
                                        <p:strVal val="visible"/>
                                      </p:to>
                                    </p:set>
                                    <p:animEffect transition="in" filter="blinds(horizontal)">
                                      <p:cBhvr>
                                        <p:cTn id="7" dur="500"/>
                                        <p:tgtEl>
                                          <p:spTgt spid="212995">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12995">
                                            <p:txEl>
                                              <p:pRg st="0" end="0"/>
                                            </p:txEl>
                                          </p:spTgt>
                                        </p:tgtEl>
                                        <p:attrNameLst>
                                          <p:attrName>style.visibility</p:attrName>
                                        </p:attrNameLst>
                                      </p:cBhvr>
                                      <p:to>
                                        <p:strVal val="visible"/>
                                      </p:to>
                                    </p:set>
                                    <p:animEffect transition="in" filter="blinds(horizontal)">
                                      <p:cBhvr>
                                        <p:cTn id="12" dur="500"/>
                                        <p:tgtEl>
                                          <p:spTgt spid="212995">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12995">
                                            <p:txEl>
                                              <p:pRg st="1" end="1"/>
                                            </p:txEl>
                                          </p:spTgt>
                                        </p:tgtEl>
                                        <p:attrNameLst>
                                          <p:attrName>style.visibility</p:attrName>
                                        </p:attrNameLst>
                                      </p:cBhvr>
                                      <p:to>
                                        <p:strVal val="visible"/>
                                      </p:to>
                                    </p:set>
                                    <p:animEffect transition="in" filter="blinds(horizontal)">
                                      <p:cBhvr>
                                        <p:cTn id="17" dur="500"/>
                                        <p:tgtEl>
                                          <p:spTgt spid="212995">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12999">
                                            <p:bg/>
                                          </p:spTgt>
                                        </p:tgtEl>
                                        <p:attrNameLst>
                                          <p:attrName>style.visibility</p:attrName>
                                        </p:attrNameLst>
                                      </p:cBhvr>
                                      <p:to>
                                        <p:strVal val="visible"/>
                                      </p:to>
                                    </p:set>
                                    <p:animEffect transition="in" filter="blinds(horizontal)">
                                      <p:cBhvr>
                                        <p:cTn id="22" dur="500"/>
                                        <p:tgtEl>
                                          <p:spTgt spid="212999">
                                            <p:bg/>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12999">
                                            <p:txEl>
                                              <p:pRg st="0" end="0"/>
                                            </p:txEl>
                                          </p:spTgt>
                                        </p:tgtEl>
                                        <p:attrNameLst>
                                          <p:attrName>style.visibility</p:attrName>
                                        </p:attrNameLst>
                                      </p:cBhvr>
                                      <p:to>
                                        <p:strVal val="visible"/>
                                      </p:to>
                                    </p:set>
                                    <p:animEffect transition="in" filter="blinds(horizontal)">
                                      <p:cBhvr>
                                        <p:cTn id="27" dur="500"/>
                                        <p:tgtEl>
                                          <p:spTgt spid="212999">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12996"/>
                                        </p:tgtEl>
                                        <p:attrNameLst>
                                          <p:attrName>style.visibility</p:attrName>
                                        </p:attrNameLst>
                                      </p:cBhvr>
                                      <p:to>
                                        <p:strVal val="visible"/>
                                      </p:to>
                                    </p:set>
                                    <p:animEffect transition="in" filter="blinds(horizontal)">
                                      <p:cBhvr>
                                        <p:cTn id="32" dur="500"/>
                                        <p:tgtEl>
                                          <p:spTgt spid="21299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13000"/>
                                        </p:tgtEl>
                                        <p:attrNameLst>
                                          <p:attrName>style.visibility</p:attrName>
                                        </p:attrNameLst>
                                      </p:cBhvr>
                                      <p:to>
                                        <p:strVal val="visible"/>
                                      </p:to>
                                    </p:set>
                                    <p:animEffect transition="in" filter="blinds(horizontal)">
                                      <p:cBhvr>
                                        <p:cTn id="37" dur="500"/>
                                        <p:tgtEl>
                                          <p:spTgt spid="21300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13001"/>
                                        </p:tgtEl>
                                        <p:attrNameLst>
                                          <p:attrName>style.visibility</p:attrName>
                                        </p:attrNameLst>
                                      </p:cBhvr>
                                      <p:to>
                                        <p:strVal val="visible"/>
                                      </p:to>
                                    </p:set>
                                    <p:animEffect transition="in" filter="blinds(horizontal)">
                                      <p:cBhvr>
                                        <p:cTn id="42" dur="500"/>
                                        <p:tgtEl>
                                          <p:spTgt spid="2130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2995" grpId="0" build="p" animBg="1"/>
      <p:bldP spid="212996" grpId="0" animBg="1"/>
      <p:bldP spid="212999" grpId="0" build="p" animBg="1"/>
      <p:bldP spid="213000" grpId="0" animBg="1"/>
      <p:bldP spid="21300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2"/>
          <p:cNvSpPr>
            <a:spLocks noGrp="1" noChangeArrowheads="1"/>
          </p:cNvSpPr>
          <p:nvPr>
            <p:ph type="title"/>
          </p:nvPr>
        </p:nvSpPr>
        <p:spPr>
          <a:extLst/>
        </p:spPr>
        <p:txBody>
          <a:bodyPr/>
          <a:lstStyle/>
          <a:p>
            <a:pPr eaLnBrk="1" hangingPunct="1">
              <a:defRPr/>
            </a:pPr>
            <a:r>
              <a:rPr lang="en-US" altLang="zh-CN"/>
              <a:t>4.</a:t>
            </a:r>
            <a:r>
              <a:rPr lang="zh-CN" altLang="en-US"/>
              <a:t>个人收入：</a:t>
            </a:r>
            <a:r>
              <a:rPr lang="en-US" altLang="zh-CN"/>
              <a:t> PI</a:t>
            </a:r>
          </a:p>
        </p:txBody>
      </p:sp>
      <p:sp>
        <p:nvSpPr>
          <p:cNvPr id="214019" name="Rectangle 3"/>
          <p:cNvSpPr>
            <a:spLocks noGrp="1" noChangeArrowheads="1"/>
          </p:cNvSpPr>
          <p:nvPr>
            <p:ph type="body" idx="1"/>
          </p:nvPr>
        </p:nvSpPr>
        <p:spPr>
          <a:ln cap="flat"/>
        </p:spPr>
        <p:txBody>
          <a:bodyPr/>
          <a:lstStyle/>
          <a:p>
            <a:pPr eaLnBrk="1" hangingPunct="1">
              <a:buFont typeface="Wingdings" pitchFamily="2" charset="2"/>
              <a:buNone/>
            </a:pPr>
            <a:r>
              <a:rPr lang="en-US" altLang="zh-CN" smtClean="0"/>
              <a:t>personal income</a:t>
            </a:r>
          </a:p>
          <a:p>
            <a:pPr eaLnBrk="1" hangingPunct="1">
              <a:buFont typeface="Wingdings" pitchFamily="2" charset="2"/>
              <a:buNone/>
            </a:pPr>
            <a:r>
              <a:rPr lang="zh-CN" altLang="en-US" smtClean="0"/>
              <a:t>个人从各种来源得到的收入总和。</a:t>
            </a:r>
          </a:p>
        </p:txBody>
      </p:sp>
      <p:sp>
        <p:nvSpPr>
          <p:cNvPr id="214020" name="Rectangle 4" descr="花束"/>
          <p:cNvSpPr>
            <a:spLocks noChangeArrowheads="1"/>
          </p:cNvSpPr>
          <p:nvPr/>
        </p:nvSpPr>
        <p:spPr bwMode="auto">
          <a:xfrm>
            <a:off x="468313" y="2636838"/>
            <a:ext cx="8675687" cy="898525"/>
          </a:xfrm>
          <a:prstGeom prst="rect">
            <a:avLst/>
          </a:prstGeom>
          <a:blipFill dpi="0" rotWithShape="0">
            <a:blip r:embed="rId2"/>
            <a:srcRect/>
            <a:tile tx="0" ty="0" sx="100000" sy="100000" flip="none" algn="tl"/>
          </a:blipFill>
          <a:ln w="76200">
            <a:solidFill>
              <a:srgbClr val="336600"/>
            </a:solidFill>
            <a:miter lim="800000"/>
            <a:headEnd/>
            <a:tailEnd/>
          </a:ln>
        </p:spPr>
        <p:txBody>
          <a:bodyPr>
            <a:spAutoFit/>
          </a:bodyPr>
          <a:lstStyle/>
          <a:p>
            <a:pPr>
              <a:lnSpc>
                <a:spcPct val="120000"/>
              </a:lnSpc>
              <a:buClr>
                <a:srgbClr val="660033"/>
              </a:buClr>
              <a:buSzPct val="95000"/>
              <a:buFont typeface="Wingdings" pitchFamily="2" charset="2"/>
              <a:buChar char="n"/>
            </a:pPr>
            <a:r>
              <a:rPr lang="en-US" altLang="zh-CN">
                <a:solidFill>
                  <a:srgbClr val="101016"/>
                </a:solidFill>
                <a:latin typeface="Arial" charset="0"/>
              </a:rPr>
              <a:t>PI </a:t>
            </a:r>
            <a:r>
              <a:rPr lang="zh-CN" altLang="en-US">
                <a:solidFill>
                  <a:srgbClr val="101016"/>
                </a:solidFill>
                <a:latin typeface="Arial" charset="0"/>
              </a:rPr>
              <a:t>＝</a:t>
            </a:r>
            <a:r>
              <a:rPr lang="en-US" altLang="zh-CN">
                <a:solidFill>
                  <a:srgbClr val="101016"/>
                </a:solidFill>
                <a:latin typeface="Arial" charset="0"/>
              </a:rPr>
              <a:t> NI</a:t>
            </a:r>
            <a:r>
              <a:rPr lang="zh-CN" altLang="en-US">
                <a:solidFill>
                  <a:srgbClr val="101016"/>
                </a:solidFill>
                <a:latin typeface="Arial" charset="0"/>
              </a:rPr>
              <a:t>－</a:t>
            </a:r>
            <a:r>
              <a:rPr lang="en-US" altLang="zh-CN">
                <a:solidFill>
                  <a:srgbClr val="101016"/>
                </a:solidFill>
                <a:latin typeface="Arial" charset="0"/>
              </a:rPr>
              <a:t>(</a:t>
            </a:r>
            <a:r>
              <a:rPr lang="zh-CN" altLang="en-US">
                <a:solidFill>
                  <a:srgbClr val="101016"/>
                </a:solidFill>
                <a:latin typeface="Arial" charset="0"/>
              </a:rPr>
              <a:t>公司所得税＋社会保险税＋公司未分配利润</a:t>
            </a:r>
            <a:r>
              <a:rPr lang="en-US" altLang="zh-CN">
                <a:solidFill>
                  <a:srgbClr val="101016"/>
                </a:solidFill>
                <a:latin typeface="Arial" charset="0"/>
              </a:rPr>
              <a:t> )</a:t>
            </a:r>
            <a:r>
              <a:rPr lang="zh-CN" altLang="en-US">
                <a:solidFill>
                  <a:srgbClr val="101016"/>
                </a:solidFill>
                <a:latin typeface="Arial" charset="0"/>
              </a:rPr>
              <a:t>＋政府给个人的转移支付</a:t>
            </a:r>
          </a:p>
        </p:txBody>
      </p:sp>
      <p:pic>
        <p:nvPicPr>
          <p:cNvPr id="205828" name="Picture 6"/>
          <p:cNvPicPr>
            <a:picLocks noChangeAspect="1" noChangeArrowheads="1"/>
          </p:cNvPicPr>
          <p:nvPr/>
        </p:nvPicPr>
        <p:blipFill>
          <a:blip r:embed="rId3"/>
          <a:srcRect/>
          <a:stretch>
            <a:fillRect/>
          </a:stretch>
        </p:blipFill>
        <p:spPr bwMode="auto">
          <a:xfrm>
            <a:off x="7019925" y="4797425"/>
            <a:ext cx="1368425" cy="1138238"/>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14019">
                                            <p:bg/>
                                          </p:spTgt>
                                        </p:tgtEl>
                                        <p:attrNameLst>
                                          <p:attrName>style.visibility</p:attrName>
                                        </p:attrNameLst>
                                      </p:cBhvr>
                                      <p:to>
                                        <p:strVal val="visible"/>
                                      </p:to>
                                    </p:set>
                                    <p:animEffect transition="in" filter="blinds(horizontal)">
                                      <p:cBhvr>
                                        <p:cTn id="7" dur="500"/>
                                        <p:tgtEl>
                                          <p:spTgt spid="214019">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14019">
                                            <p:txEl>
                                              <p:pRg st="0" end="0"/>
                                            </p:txEl>
                                          </p:spTgt>
                                        </p:tgtEl>
                                        <p:attrNameLst>
                                          <p:attrName>style.visibility</p:attrName>
                                        </p:attrNameLst>
                                      </p:cBhvr>
                                      <p:to>
                                        <p:strVal val="visible"/>
                                      </p:to>
                                    </p:set>
                                    <p:animEffect transition="in" filter="blinds(horizontal)">
                                      <p:cBhvr>
                                        <p:cTn id="12" dur="500"/>
                                        <p:tgtEl>
                                          <p:spTgt spid="214019">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14019">
                                            <p:txEl>
                                              <p:pRg st="1" end="1"/>
                                            </p:txEl>
                                          </p:spTgt>
                                        </p:tgtEl>
                                        <p:attrNameLst>
                                          <p:attrName>style.visibility</p:attrName>
                                        </p:attrNameLst>
                                      </p:cBhvr>
                                      <p:to>
                                        <p:strVal val="visible"/>
                                      </p:to>
                                    </p:set>
                                    <p:animEffect transition="in" filter="blinds(horizontal)">
                                      <p:cBhvr>
                                        <p:cTn id="17" dur="500"/>
                                        <p:tgtEl>
                                          <p:spTgt spid="214019">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14020">
                                            <p:bg/>
                                          </p:spTgt>
                                        </p:tgtEl>
                                        <p:attrNameLst>
                                          <p:attrName>style.visibility</p:attrName>
                                        </p:attrNameLst>
                                      </p:cBhvr>
                                      <p:to>
                                        <p:strVal val="visible"/>
                                      </p:to>
                                    </p:set>
                                    <p:animEffect transition="in" filter="blinds(horizontal)">
                                      <p:cBhvr>
                                        <p:cTn id="22" dur="500"/>
                                        <p:tgtEl>
                                          <p:spTgt spid="214020">
                                            <p:bg/>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14020">
                                            <p:txEl>
                                              <p:pRg st="0" end="0"/>
                                            </p:txEl>
                                          </p:spTgt>
                                        </p:tgtEl>
                                        <p:attrNameLst>
                                          <p:attrName>style.visibility</p:attrName>
                                        </p:attrNameLst>
                                      </p:cBhvr>
                                      <p:to>
                                        <p:strVal val="visible"/>
                                      </p:to>
                                    </p:set>
                                    <p:animEffect transition="in" filter="blinds(horizontal)">
                                      <p:cBhvr>
                                        <p:cTn id="27" dur="500"/>
                                        <p:tgtEl>
                                          <p:spTgt spid="2140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019" grpId="0" build="p" animBg="1"/>
      <p:bldP spid="214020" grpId="0" build="p"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extLst/>
        </p:spPr>
        <p:txBody>
          <a:bodyPr/>
          <a:lstStyle/>
          <a:p>
            <a:pPr eaLnBrk="1" hangingPunct="1">
              <a:defRPr/>
            </a:pPr>
            <a:r>
              <a:rPr lang="en-US" altLang="zh-CN"/>
              <a:t>5.</a:t>
            </a:r>
            <a:r>
              <a:rPr lang="zh-CN" altLang="en-US"/>
              <a:t>个人可支配收入：</a:t>
            </a:r>
            <a:r>
              <a:rPr lang="en-US" altLang="zh-CN"/>
              <a:t> DPI</a:t>
            </a:r>
          </a:p>
        </p:txBody>
      </p:sp>
      <p:sp>
        <p:nvSpPr>
          <p:cNvPr id="215043" name="Rectangle 3"/>
          <p:cNvSpPr>
            <a:spLocks noGrp="1" noChangeArrowheads="1"/>
          </p:cNvSpPr>
          <p:nvPr>
            <p:ph type="body" idx="1"/>
          </p:nvPr>
        </p:nvSpPr>
        <p:spPr>
          <a:xfrm>
            <a:off x="395288" y="1268413"/>
            <a:ext cx="8229600" cy="1730375"/>
          </a:xfrm>
          <a:ln cap="flat"/>
        </p:spPr>
        <p:txBody>
          <a:bodyPr/>
          <a:lstStyle/>
          <a:p>
            <a:pPr eaLnBrk="1" hangingPunct="1">
              <a:buFont typeface="Wingdings" pitchFamily="2" charset="2"/>
              <a:buNone/>
            </a:pPr>
            <a:r>
              <a:rPr lang="en-US" altLang="zh-CN" smtClean="0"/>
              <a:t>disposable personal income</a:t>
            </a:r>
          </a:p>
          <a:p>
            <a:pPr eaLnBrk="1" hangingPunct="1">
              <a:buFont typeface="Wingdings" pitchFamily="2" charset="2"/>
              <a:buNone/>
            </a:pPr>
            <a:r>
              <a:rPr lang="en-US" altLang="zh-CN" smtClean="0"/>
              <a:t>DPI</a:t>
            </a:r>
            <a:r>
              <a:rPr lang="zh-CN" altLang="en-US" smtClean="0"/>
              <a:t>：个人可实际使用的全部收入。</a:t>
            </a:r>
            <a:endParaRPr lang="en-US" altLang="zh-CN" smtClean="0"/>
          </a:p>
          <a:p>
            <a:pPr eaLnBrk="1" hangingPunct="1">
              <a:buFont typeface="Wingdings" pitchFamily="2" charset="2"/>
              <a:buNone/>
            </a:pPr>
            <a:r>
              <a:rPr lang="zh-CN" altLang="en-US" smtClean="0"/>
              <a:t>指个人收入中进行各项社会性扣除之后（如税收、养老保险等）剩下的部分。</a:t>
            </a:r>
          </a:p>
        </p:txBody>
      </p:sp>
      <p:sp>
        <p:nvSpPr>
          <p:cNvPr id="215044" name="Rectangle 4"/>
          <p:cNvSpPr>
            <a:spLocks noChangeArrowheads="1"/>
          </p:cNvSpPr>
          <p:nvPr/>
        </p:nvSpPr>
        <p:spPr bwMode="auto">
          <a:xfrm>
            <a:off x="395288" y="4076700"/>
            <a:ext cx="8229600" cy="720725"/>
          </a:xfrm>
          <a:prstGeom prst="rect">
            <a:avLst/>
          </a:prstGeom>
          <a:solidFill>
            <a:schemeClr val="tx1">
              <a:alpha val="72940"/>
            </a:schemeClr>
          </a:solidFill>
          <a:ln w="57150" cmpd="thinThick">
            <a:solidFill>
              <a:srgbClr val="996633"/>
            </a:solidFill>
            <a:miter lim="800000"/>
            <a:headEnd/>
            <a:tailEnd/>
          </a:ln>
        </p:spPr>
        <p:txBody>
          <a:bodyPr/>
          <a:lstStyle/>
          <a:p>
            <a:pPr marL="95250" indent="-95250">
              <a:lnSpc>
                <a:spcPct val="120000"/>
              </a:lnSpc>
              <a:spcBef>
                <a:spcPct val="20000"/>
              </a:spcBef>
              <a:buClr>
                <a:schemeClr val="hlink"/>
              </a:buClr>
              <a:buFont typeface="Wingdings" pitchFamily="2" charset="2"/>
              <a:buBlip>
                <a:blip r:embed="rId2"/>
              </a:buBlip>
            </a:pPr>
            <a:r>
              <a:rPr lang="zh-CN" altLang="en-US">
                <a:solidFill>
                  <a:srgbClr val="000000"/>
                </a:solidFill>
                <a:latin typeface="黑体" pitchFamily="2" charset="-122"/>
                <a:ea typeface="黑体" pitchFamily="2" charset="-122"/>
              </a:rPr>
              <a:t>个人收入</a:t>
            </a:r>
            <a:r>
              <a:rPr lang="en-US" altLang="zh-CN">
                <a:solidFill>
                  <a:srgbClr val="000000"/>
                </a:solidFill>
                <a:latin typeface="黑体" pitchFamily="2" charset="-122"/>
                <a:ea typeface="黑体" pitchFamily="2" charset="-122"/>
              </a:rPr>
              <a:t>DPI</a:t>
            </a:r>
            <a:r>
              <a:rPr lang="zh-CN" altLang="en-US">
                <a:solidFill>
                  <a:srgbClr val="000000"/>
                </a:solidFill>
                <a:latin typeface="黑体" pitchFamily="2" charset="-122"/>
                <a:ea typeface="黑体" pitchFamily="2" charset="-122"/>
              </a:rPr>
              <a:t>用来</a:t>
            </a:r>
            <a:r>
              <a:rPr lang="zh-CN" altLang="en-US">
                <a:solidFill>
                  <a:srgbClr val="04CC2A"/>
                </a:solidFill>
                <a:latin typeface="黑体" pitchFamily="2" charset="-122"/>
                <a:ea typeface="黑体" pitchFamily="2" charset="-122"/>
              </a:rPr>
              <a:t>消费</a:t>
            </a:r>
            <a:r>
              <a:rPr lang="en-US" altLang="zh-CN">
                <a:solidFill>
                  <a:srgbClr val="04CC2A"/>
                </a:solidFill>
                <a:latin typeface="黑体" pitchFamily="2" charset="-122"/>
                <a:ea typeface="黑体" pitchFamily="2" charset="-122"/>
              </a:rPr>
              <a:t>C</a:t>
            </a:r>
            <a:r>
              <a:rPr lang="zh-CN" altLang="en-US">
                <a:solidFill>
                  <a:srgbClr val="04CC2A"/>
                </a:solidFill>
                <a:latin typeface="黑体" pitchFamily="2" charset="-122"/>
                <a:ea typeface="黑体" pitchFamily="2" charset="-122"/>
              </a:rPr>
              <a:t>和储蓄</a:t>
            </a:r>
            <a:r>
              <a:rPr lang="en-US" altLang="zh-CN">
                <a:solidFill>
                  <a:srgbClr val="04CC2A"/>
                </a:solidFill>
                <a:latin typeface="黑体" pitchFamily="2" charset="-122"/>
                <a:ea typeface="黑体" pitchFamily="2" charset="-122"/>
              </a:rPr>
              <a:t>S</a:t>
            </a:r>
            <a:r>
              <a:rPr lang="zh-CN" altLang="en-US">
                <a:solidFill>
                  <a:srgbClr val="000000"/>
                </a:solidFill>
                <a:latin typeface="黑体" pitchFamily="2" charset="-122"/>
                <a:ea typeface="黑体" pitchFamily="2" charset="-122"/>
              </a:rPr>
              <a:t>。</a:t>
            </a:r>
          </a:p>
        </p:txBody>
      </p:sp>
      <p:sp>
        <p:nvSpPr>
          <p:cNvPr id="215046" name="Rectangle 6" descr="花束"/>
          <p:cNvSpPr>
            <a:spLocks noChangeArrowheads="1"/>
          </p:cNvSpPr>
          <p:nvPr/>
        </p:nvSpPr>
        <p:spPr bwMode="auto">
          <a:xfrm>
            <a:off x="395288" y="3284538"/>
            <a:ext cx="8229600" cy="533400"/>
          </a:xfrm>
          <a:prstGeom prst="rect">
            <a:avLst/>
          </a:prstGeom>
          <a:blipFill dpi="0" rotWithShape="0">
            <a:blip r:embed="rId3"/>
            <a:srcRect/>
            <a:tile tx="0" ty="0" sx="100000" sy="100000" flip="none" algn="tl"/>
          </a:blipFill>
          <a:ln w="76200">
            <a:solidFill>
              <a:srgbClr val="336600"/>
            </a:solidFill>
            <a:miter lim="800000"/>
            <a:headEnd/>
            <a:tailEnd/>
          </a:ln>
        </p:spPr>
        <p:txBody>
          <a:bodyPr>
            <a:spAutoFit/>
          </a:bodyPr>
          <a:lstStyle/>
          <a:p>
            <a:pPr>
              <a:lnSpc>
                <a:spcPct val="120000"/>
              </a:lnSpc>
              <a:buClr>
                <a:srgbClr val="660033"/>
              </a:buClr>
              <a:buSzPct val="95000"/>
              <a:buFont typeface="Wingdings" pitchFamily="2" charset="2"/>
              <a:buChar char="n"/>
            </a:pPr>
            <a:r>
              <a:rPr lang="en-US" altLang="zh-CN">
                <a:solidFill>
                  <a:srgbClr val="101016"/>
                </a:solidFill>
                <a:latin typeface="Arial" charset="0"/>
              </a:rPr>
              <a:t>DPI = PI</a:t>
            </a:r>
            <a:r>
              <a:rPr lang="zh-CN" altLang="en-US">
                <a:solidFill>
                  <a:srgbClr val="101016"/>
                </a:solidFill>
                <a:latin typeface="Arial" charset="0"/>
              </a:rPr>
              <a:t>－个人所得税－非税社会支出</a:t>
            </a:r>
          </a:p>
        </p:txBody>
      </p:sp>
      <p:sp>
        <p:nvSpPr>
          <p:cNvPr id="215048" name="Line 8"/>
          <p:cNvSpPr>
            <a:spLocks noChangeShapeType="1"/>
          </p:cNvSpPr>
          <p:nvPr/>
        </p:nvSpPr>
        <p:spPr bwMode="auto">
          <a:xfrm>
            <a:off x="395288" y="6453188"/>
            <a:ext cx="2232025" cy="0"/>
          </a:xfrm>
          <a:prstGeom prst="line">
            <a:avLst/>
          </a:prstGeom>
          <a:noFill/>
          <a:ln w="76200" cmpd="tri">
            <a:solidFill>
              <a:srgbClr val="660066"/>
            </a:solidFill>
            <a:miter lim="800000"/>
            <a:headEnd/>
            <a:tailEnd/>
          </a:ln>
        </p:spPr>
        <p:txBody>
          <a:bodyPr wrap="none"/>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15043">
                                            <p:bg/>
                                          </p:spTgt>
                                        </p:tgtEl>
                                        <p:attrNameLst>
                                          <p:attrName>style.visibility</p:attrName>
                                        </p:attrNameLst>
                                      </p:cBhvr>
                                      <p:to>
                                        <p:strVal val="visible"/>
                                      </p:to>
                                    </p:set>
                                    <p:animEffect transition="in" filter="blinds(horizontal)">
                                      <p:cBhvr>
                                        <p:cTn id="7" dur="500"/>
                                        <p:tgtEl>
                                          <p:spTgt spid="215043">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15043">
                                            <p:txEl>
                                              <p:pRg st="0" end="0"/>
                                            </p:txEl>
                                          </p:spTgt>
                                        </p:tgtEl>
                                        <p:attrNameLst>
                                          <p:attrName>style.visibility</p:attrName>
                                        </p:attrNameLst>
                                      </p:cBhvr>
                                      <p:to>
                                        <p:strVal val="visible"/>
                                      </p:to>
                                    </p:set>
                                    <p:animEffect transition="in" filter="blinds(horizontal)">
                                      <p:cBhvr>
                                        <p:cTn id="12" dur="500"/>
                                        <p:tgtEl>
                                          <p:spTgt spid="21504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15043">
                                            <p:txEl>
                                              <p:pRg st="1" end="1"/>
                                            </p:txEl>
                                          </p:spTgt>
                                        </p:tgtEl>
                                        <p:attrNameLst>
                                          <p:attrName>style.visibility</p:attrName>
                                        </p:attrNameLst>
                                      </p:cBhvr>
                                      <p:to>
                                        <p:strVal val="visible"/>
                                      </p:to>
                                    </p:set>
                                    <p:animEffect transition="in" filter="blinds(horizontal)">
                                      <p:cBhvr>
                                        <p:cTn id="17" dur="500"/>
                                        <p:tgtEl>
                                          <p:spTgt spid="215043">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15043">
                                            <p:txEl>
                                              <p:pRg st="2" end="2"/>
                                            </p:txEl>
                                          </p:spTgt>
                                        </p:tgtEl>
                                        <p:attrNameLst>
                                          <p:attrName>style.visibility</p:attrName>
                                        </p:attrNameLst>
                                      </p:cBhvr>
                                      <p:to>
                                        <p:strVal val="visible"/>
                                      </p:to>
                                    </p:set>
                                    <p:animEffect transition="in" filter="blinds(horizontal)">
                                      <p:cBhvr>
                                        <p:cTn id="22" dur="500"/>
                                        <p:tgtEl>
                                          <p:spTgt spid="215043">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15046">
                                            <p:bg/>
                                          </p:spTgt>
                                        </p:tgtEl>
                                        <p:attrNameLst>
                                          <p:attrName>style.visibility</p:attrName>
                                        </p:attrNameLst>
                                      </p:cBhvr>
                                      <p:to>
                                        <p:strVal val="visible"/>
                                      </p:to>
                                    </p:set>
                                    <p:animEffect transition="in" filter="blinds(horizontal)">
                                      <p:cBhvr>
                                        <p:cTn id="27" dur="500"/>
                                        <p:tgtEl>
                                          <p:spTgt spid="215046">
                                            <p:bg/>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15046">
                                            <p:txEl>
                                              <p:pRg st="0" end="0"/>
                                            </p:txEl>
                                          </p:spTgt>
                                        </p:tgtEl>
                                        <p:attrNameLst>
                                          <p:attrName>style.visibility</p:attrName>
                                        </p:attrNameLst>
                                      </p:cBhvr>
                                      <p:to>
                                        <p:strVal val="visible"/>
                                      </p:to>
                                    </p:set>
                                    <p:animEffect transition="in" filter="blinds(horizontal)">
                                      <p:cBhvr>
                                        <p:cTn id="32" dur="500"/>
                                        <p:tgtEl>
                                          <p:spTgt spid="215046">
                                            <p:txEl>
                                              <p:pRg st="0" end="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15044"/>
                                        </p:tgtEl>
                                        <p:attrNameLst>
                                          <p:attrName>style.visibility</p:attrName>
                                        </p:attrNameLst>
                                      </p:cBhvr>
                                      <p:to>
                                        <p:strVal val="visible"/>
                                      </p:to>
                                    </p:set>
                                    <p:animEffect transition="in" filter="blinds(horizontal)">
                                      <p:cBhvr>
                                        <p:cTn id="37" dur="500"/>
                                        <p:tgtEl>
                                          <p:spTgt spid="21504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215048"/>
                                        </p:tgtEl>
                                        <p:attrNameLst>
                                          <p:attrName>style.visibility</p:attrName>
                                        </p:attrNameLst>
                                      </p:cBhvr>
                                      <p:to>
                                        <p:strVal val="visible"/>
                                      </p:to>
                                    </p:set>
                                    <p:animEffect transition="in" filter="dissolve">
                                      <p:cBhvr>
                                        <p:cTn id="42" dur="500"/>
                                        <p:tgtEl>
                                          <p:spTgt spid="2150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43" grpId="0" build="p" animBg="1"/>
      <p:bldP spid="215044" grpId="0" animBg="1"/>
      <p:bldP spid="215046" grpId="0" build="p" animBg="1"/>
      <p:bldP spid="215048"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2"/>
          <p:cNvSpPr>
            <a:spLocks noGrp="1" noChangeArrowheads="1"/>
          </p:cNvSpPr>
          <p:nvPr>
            <p:ph type="title"/>
          </p:nvPr>
        </p:nvSpPr>
        <p:spPr>
          <a:xfrm>
            <a:off x="395288" y="333375"/>
            <a:ext cx="3671887" cy="647700"/>
          </a:xfrm>
          <a:extLst/>
        </p:spPr>
        <p:txBody>
          <a:bodyPr/>
          <a:lstStyle/>
          <a:p>
            <a:pPr eaLnBrk="1" hangingPunct="1">
              <a:defRPr/>
            </a:pPr>
            <a:r>
              <a:rPr lang="en-US" altLang="zh-CN"/>
              <a:t>6.</a:t>
            </a:r>
            <a:r>
              <a:rPr lang="zh-CN" altLang="en-US"/>
              <a:t>综合</a:t>
            </a:r>
          </a:p>
        </p:txBody>
      </p:sp>
      <p:sp>
        <p:nvSpPr>
          <p:cNvPr id="217092" name="Rectangle 4" descr="花束"/>
          <p:cNvSpPr>
            <a:spLocks noGrp="1" noChangeArrowheads="1"/>
          </p:cNvSpPr>
          <p:nvPr>
            <p:ph type="body" idx="1"/>
          </p:nvPr>
        </p:nvSpPr>
        <p:spPr>
          <a:xfrm>
            <a:off x="395288" y="1260475"/>
            <a:ext cx="3671887" cy="717550"/>
          </a:xfrm>
          <a:blipFill dpi="0" rotWithShape="0">
            <a:blip r:embed="rId2">
              <a:alphaModFix amt="73000"/>
            </a:blip>
            <a:srcRect/>
            <a:tile tx="0" ty="0" sx="100000" sy="100000" flip="none" algn="tl"/>
          </a:blipFill>
          <a:ln w="76200" cap="flat" cmpd="sng">
            <a:solidFill>
              <a:srgbClr val="336600"/>
            </a:solidFill>
          </a:ln>
        </p:spPr>
        <p:txBody>
          <a:bodyPr/>
          <a:lstStyle/>
          <a:p>
            <a:pPr marL="0" indent="0" eaLnBrk="1" hangingPunct="1">
              <a:lnSpc>
                <a:spcPct val="90000"/>
              </a:lnSpc>
              <a:spcBef>
                <a:spcPct val="0"/>
              </a:spcBef>
              <a:buClr>
                <a:srgbClr val="660033"/>
              </a:buClr>
              <a:buSzPct val="95000"/>
              <a:buFont typeface="Wingdings" pitchFamily="2" charset="2"/>
              <a:buChar char="n"/>
            </a:pPr>
            <a:r>
              <a:rPr lang="en-US" altLang="zh-CN" smtClean="0"/>
              <a:t>GDP </a:t>
            </a:r>
            <a:r>
              <a:rPr lang="zh-CN" altLang="en-US" smtClean="0"/>
              <a:t>－固定资产折旧</a:t>
            </a:r>
            <a:endParaRPr lang="en-US" altLang="zh-CN" smtClean="0"/>
          </a:p>
          <a:p>
            <a:pPr marL="0" indent="0" eaLnBrk="1" hangingPunct="1">
              <a:lnSpc>
                <a:spcPct val="90000"/>
              </a:lnSpc>
              <a:spcBef>
                <a:spcPct val="0"/>
              </a:spcBef>
              <a:buClr>
                <a:srgbClr val="660033"/>
              </a:buClr>
              <a:buSzPct val="95000"/>
              <a:buFont typeface="Wingdings" pitchFamily="2" charset="2"/>
              <a:buChar char="n"/>
            </a:pPr>
            <a:r>
              <a:rPr lang="zh-CN" altLang="en-US" smtClean="0"/>
              <a:t>＝</a:t>
            </a:r>
            <a:r>
              <a:rPr lang="en-US" altLang="zh-CN" smtClean="0"/>
              <a:t>NDP  </a:t>
            </a:r>
          </a:p>
        </p:txBody>
      </p:sp>
      <p:sp>
        <p:nvSpPr>
          <p:cNvPr id="217097" name="Rectangle 9" descr="花束"/>
          <p:cNvSpPr>
            <a:spLocks noChangeArrowheads="1"/>
          </p:cNvSpPr>
          <p:nvPr/>
        </p:nvSpPr>
        <p:spPr bwMode="auto">
          <a:xfrm>
            <a:off x="395288" y="2060575"/>
            <a:ext cx="3671887" cy="1266825"/>
          </a:xfrm>
          <a:prstGeom prst="rect">
            <a:avLst/>
          </a:prstGeom>
          <a:blipFill dpi="0" rotWithShape="0">
            <a:blip r:embed="rId2"/>
            <a:srcRect/>
            <a:tile tx="0" ty="0" sx="100000" sy="100000" flip="none" algn="tl"/>
          </a:blipFill>
          <a:ln w="76200">
            <a:solidFill>
              <a:srgbClr val="336600"/>
            </a:solidFill>
            <a:miter lim="800000"/>
            <a:headEnd/>
            <a:tailEnd/>
          </a:ln>
        </p:spPr>
        <p:txBody>
          <a:bodyPr>
            <a:spAutoFit/>
          </a:bodyPr>
          <a:lstStyle/>
          <a:p>
            <a:pPr>
              <a:lnSpc>
                <a:spcPct val="90000"/>
              </a:lnSpc>
              <a:buClr>
                <a:srgbClr val="660033"/>
              </a:buClr>
              <a:buSzPct val="95000"/>
              <a:buFont typeface="Wingdings" pitchFamily="2" charset="2"/>
              <a:buChar char="n"/>
            </a:pPr>
            <a:r>
              <a:rPr lang="en-US" altLang="zh-CN">
                <a:solidFill>
                  <a:srgbClr val="101016"/>
                </a:solidFill>
                <a:latin typeface="Arial" charset="0"/>
              </a:rPr>
              <a:t>NDP</a:t>
            </a:r>
          </a:p>
          <a:p>
            <a:pPr>
              <a:lnSpc>
                <a:spcPct val="90000"/>
              </a:lnSpc>
              <a:buClr>
                <a:srgbClr val="660033"/>
              </a:buClr>
              <a:buSzPct val="95000"/>
              <a:buFont typeface="Wingdings" pitchFamily="2" charset="2"/>
              <a:buChar char="n"/>
            </a:pPr>
            <a:r>
              <a:rPr lang="en-US" altLang="zh-CN">
                <a:solidFill>
                  <a:srgbClr val="101016"/>
                </a:solidFill>
                <a:latin typeface="Arial" charset="0"/>
              </a:rPr>
              <a:t>  </a:t>
            </a:r>
            <a:r>
              <a:rPr lang="zh-CN" altLang="en-US">
                <a:solidFill>
                  <a:srgbClr val="101016"/>
                </a:solidFill>
                <a:latin typeface="Arial" charset="0"/>
              </a:rPr>
              <a:t>－间接税－企业转移支付</a:t>
            </a:r>
            <a:endParaRPr lang="en-US" altLang="zh-CN">
              <a:solidFill>
                <a:srgbClr val="101016"/>
              </a:solidFill>
              <a:latin typeface="Arial" charset="0"/>
            </a:endParaRPr>
          </a:p>
          <a:p>
            <a:pPr>
              <a:lnSpc>
                <a:spcPct val="90000"/>
              </a:lnSpc>
              <a:buClr>
                <a:srgbClr val="660033"/>
              </a:buClr>
              <a:buSzPct val="95000"/>
              <a:buFont typeface="Wingdings" pitchFamily="2" charset="2"/>
              <a:buChar char="n"/>
            </a:pPr>
            <a:r>
              <a:rPr lang="en-US" altLang="zh-CN">
                <a:solidFill>
                  <a:srgbClr val="101016"/>
                </a:solidFill>
                <a:latin typeface="Arial" charset="0"/>
              </a:rPr>
              <a:t>  </a:t>
            </a:r>
            <a:r>
              <a:rPr lang="zh-CN" altLang="en-US">
                <a:solidFill>
                  <a:srgbClr val="101016"/>
                </a:solidFill>
                <a:latin typeface="Arial" charset="0"/>
              </a:rPr>
              <a:t>＋政府补贴</a:t>
            </a:r>
            <a:endParaRPr lang="en-US" altLang="zh-CN">
              <a:solidFill>
                <a:srgbClr val="101016"/>
              </a:solidFill>
              <a:latin typeface="Arial" charset="0"/>
            </a:endParaRPr>
          </a:p>
          <a:p>
            <a:pPr>
              <a:lnSpc>
                <a:spcPct val="90000"/>
              </a:lnSpc>
              <a:buClr>
                <a:srgbClr val="660033"/>
              </a:buClr>
              <a:buSzPct val="95000"/>
              <a:buFont typeface="Wingdings" pitchFamily="2" charset="2"/>
              <a:buChar char="n"/>
            </a:pPr>
            <a:r>
              <a:rPr lang="zh-CN" altLang="en-US">
                <a:solidFill>
                  <a:srgbClr val="101016"/>
                </a:solidFill>
                <a:latin typeface="Arial" charset="0"/>
              </a:rPr>
              <a:t>＝</a:t>
            </a:r>
            <a:r>
              <a:rPr lang="en-US" altLang="zh-CN">
                <a:solidFill>
                  <a:srgbClr val="101016"/>
                </a:solidFill>
                <a:latin typeface="Arial" charset="0"/>
              </a:rPr>
              <a:t>NI  </a:t>
            </a:r>
          </a:p>
        </p:txBody>
      </p:sp>
      <p:sp>
        <p:nvSpPr>
          <p:cNvPr id="217098" name="Rectangle 10" descr="花束"/>
          <p:cNvSpPr>
            <a:spLocks noChangeArrowheads="1"/>
          </p:cNvSpPr>
          <p:nvPr/>
        </p:nvSpPr>
        <p:spPr bwMode="auto">
          <a:xfrm>
            <a:off x="395288" y="3357563"/>
            <a:ext cx="3671887" cy="1816100"/>
          </a:xfrm>
          <a:prstGeom prst="rect">
            <a:avLst/>
          </a:prstGeom>
          <a:blipFill dpi="0" rotWithShape="0">
            <a:blip r:embed="rId2"/>
            <a:srcRect/>
            <a:tile tx="0" ty="0" sx="100000" sy="100000" flip="none" algn="tl"/>
          </a:blipFill>
          <a:ln w="76200">
            <a:solidFill>
              <a:srgbClr val="336600"/>
            </a:solidFill>
            <a:miter lim="800000"/>
            <a:headEnd/>
            <a:tailEnd/>
          </a:ln>
        </p:spPr>
        <p:txBody>
          <a:bodyPr>
            <a:spAutoFit/>
          </a:bodyPr>
          <a:lstStyle/>
          <a:p>
            <a:pPr>
              <a:lnSpc>
                <a:spcPct val="90000"/>
              </a:lnSpc>
              <a:buClr>
                <a:srgbClr val="660033"/>
              </a:buClr>
              <a:buSzPct val="95000"/>
              <a:buFont typeface="Wingdings" pitchFamily="2" charset="2"/>
              <a:buChar char="n"/>
            </a:pPr>
            <a:r>
              <a:rPr lang="en-US" altLang="zh-CN">
                <a:solidFill>
                  <a:srgbClr val="101016"/>
                </a:solidFill>
                <a:latin typeface="Arial" charset="0"/>
              </a:rPr>
              <a:t>NI</a:t>
            </a:r>
          </a:p>
          <a:p>
            <a:pPr>
              <a:lnSpc>
                <a:spcPct val="90000"/>
              </a:lnSpc>
              <a:buClr>
                <a:srgbClr val="660033"/>
              </a:buClr>
              <a:buSzPct val="95000"/>
              <a:buFont typeface="Wingdings" pitchFamily="2" charset="2"/>
              <a:buChar char="n"/>
            </a:pPr>
            <a:r>
              <a:rPr lang="en-US" altLang="zh-CN">
                <a:solidFill>
                  <a:srgbClr val="101016"/>
                </a:solidFill>
                <a:latin typeface="Arial" charset="0"/>
              </a:rPr>
              <a:t>  </a:t>
            </a:r>
            <a:r>
              <a:rPr lang="zh-CN" altLang="en-US">
                <a:solidFill>
                  <a:srgbClr val="101016"/>
                </a:solidFill>
                <a:latin typeface="Arial" charset="0"/>
              </a:rPr>
              <a:t>－企业所得税－社会保险税</a:t>
            </a:r>
            <a:endParaRPr lang="en-US" altLang="zh-CN">
              <a:solidFill>
                <a:srgbClr val="101016"/>
              </a:solidFill>
              <a:latin typeface="Arial" charset="0"/>
            </a:endParaRPr>
          </a:p>
          <a:p>
            <a:pPr>
              <a:lnSpc>
                <a:spcPct val="90000"/>
              </a:lnSpc>
              <a:buClr>
                <a:srgbClr val="660033"/>
              </a:buClr>
              <a:buSzPct val="95000"/>
              <a:buFont typeface="Wingdings" pitchFamily="2" charset="2"/>
              <a:buChar char="n"/>
            </a:pPr>
            <a:r>
              <a:rPr lang="en-US" altLang="zh-CN">
                <a:solidFill>
                  <a:srgbClr val="101016"/>
                </a:solidFill>
                <a:latin typeface="Arial" charset="0"/>
              </a:rPr>
              <a:t>  </a:t>
            </a:r>
            <a:r>
              <a:rPr lang="zh-CN" altLang="en-US">
                <a:solidFill>
                  <a:srgbClr val="101016"/>
                </a:solidFill>
                <a:latin typeface="Arial" charset="0"/>
              </a:rPr>
              <a:t>－公司未分配利润</a:t>
            </a:r>
            <a:endParaRPr lang="en-US" altLang="zh-CN">
              <a:solidFill>
                <a:srgbClr val="101016"/>
              </a:solidFill>
              <a:latin typeface="Arial" charset="0"/>
            </a:endParaRPr>
          </a:p>
          <a:p>
            <a:pPr>
              <a:lnSpc>
                <a:spcPct val="90000"/>
              </a:lnSpc>
              <a:buClr>
                <a:srgbClr val="660033"/>
              </a:buClr>
              <a:buSzPct val="95000"/>
              <a:buFont typeface="Wingdings" pitchFamily="2" charset="2"/>
              <a:buChar char="n"/>
            </a:pPr>
            <a:r>
              <a:rPr lang="en-US" altLang="zh-CN">
                <a:solidFill>
                  <a:srgbClr val="101016"/>
                </a:solidFill>
                <a:latin typeface="Arial" charset="0"/>
              </a:rPr>
              <a:t>  </a:t>
            </a:r>
            <a:r>
              <a:rPr lang="zh-CN" altLang="en-US">
                <a:solidFill>
                  <a:srgbClr val="101016"/>
                </a:solidFill>
                <a:latin typeface="Arial" charset="0"/>
              </a:rPr>
              <a:t>＋政府给个人转移支付</a:t>
            </a:r>
            <a:endParaRPr lang="en-US" altLang="zh-CN">
              <a:solidFill>
                <a:srgbClr val="101016"/>
              </a:solidFill>
              <a:latin typeface="Arial" charset="0"/>
            </a:endParaRPr>
          </a:p>
          <a:p>
            <a:pPr>
              <a:lnSpc>
                <a:spcPct val="90000"/>
              </a:lnSpc>
              <a:buClr>
                <a:srgbClr val="660033"/>
              </a:buClr>
              <a:buSzPct val="95000"/>
              <a:buFont typeface="Wingdings" pitchFamily="2" charset="2"/>
              <a:buChar char="n"/>
            </a:pPr>
            <a:r>
              <a:rPr lang="en-US" altLang="zh-CN">
                <a:solidFill>
                  <a:srgbClr val="101016"/>
                </a:solidFill>
                <a:latin typeface="Arial" charset="0"/>
              </a:rPr>
              <a:t>  </a:t>
            </a:r>
            <a:r>
              <a:rPr lang="zh-CN" altLang="en-US">
                <a:solidFill>
                  <a:srgbClr val="101016"/>
                </a:solidFill>
                <a:latin typeface="Arial" charset="0"/>
              </a:rPr>
              <a:t>＋政府向居民支付利息</a:t>
            </a:r>
            <a:endParaRPr lang="en-US" altLang="zh-CN">
              <a:solidFill>
                <a:srgbClr val="101016"/>
              </a:solidFill>
              <a:latin typeface="Arial" charset="0"/>
            </a:endParaRPr>
          </a:p>
          <a:p>
            <a:pPr>
              <a:lnSpc>
                <a:spcPct val="90000"/>
              </a:lnSpc>
              <a:buClr>
                <a:srgbClr val="660033"/>
              </a:buClr>
              <a:buSzPct val="95000"/>
              <a:buFont typeface="Wingdings" pitchFamily="2" charset="2"/>
              <a:buChar char="n"/>
            </a:pPr>
            <a:r>
              <a:rPr lang="zh-CN" altLang="en-US">
                <a:solidFill>
                  <a:srgbClr val="101016"/>
                </a:solidFill>
                <a:latin typeface="Arial" charset="0"/>
              </a:rPr>
              <a:t>＝</a:t>
            </a:r>
            <a:r>
              <a:rPr lang="en-US" altLang="zh-CN">
                <a:solidFill>
                  <a:srgbClr val="101016"/>
                </a:solidFill>
                <a:latin typeface="Arial" charset="0"/>
              </a:rPr>
              <a:t>PI   </a:t>
            </a:r>
          </a:p>
        </p:txBody>
      </p:sp>
      <p:sp>
        <p:nvSpPr>
          <p:cNvPr id="217099" name="Rectangle 11" descr="花束"/>
          <p:cNvSpPr>
            <a:spLocks noChangeArrowheads="1"/>
          </p:cNvSpPr>
          <p:nvPr/>
        </p:nvSpPr>
        <p:spPr bwMode="auto">
          <a:xfrm>
            <a:off x="395288" y="5229225"/>
            <a:ext cx="3671887" cy="992188"/>
          </a:xfrm>
          <a:prstGeom prst="rect">
            <a:avLst/>
          </a:prstGeom>
          <a:blipFill dpi="0" rotWithShape="0">
            <a:blip r:embed="rId2"/>
            <a:srcRect/>
            <a:tile tx="0" ty="0" sx="100000" sy="100000" flip="none" algn="tl"/>
          </a:blipFill>
          <a:ln w="76200">
            <a:solidFill>
              <a:srgbClr val="336600"/>
            </a:solidFill>
            <a:miter lim="800000"/>
            <a:headEnd/>
            <a:tailEnd/>
          </a:ln>
        </p:spPr>
        <p:txBody>
          <a:bodyPr>
            <a:spAutoFit/>
          </a:bodyPr>
          <a:lstStyle/>
          <a:p>
            <a:pPr>
              <a:lnSpc>
                <a:spcPct val="90000"/>
              </a:lnSpc>
              <a:buClr>
                <a:srgbClr val="660033"/>
              </a:buClr>
              <a:buSzPct val="95000"/>
              <a:buFont typeface="Wingdings" pitchFamily="2" charset="2"/>
              <a:buChar char="n"/>
            </a:pPr>
            <a:r>
              <a:rPr lang="en-US" altLang="zh-CN">
                <a:solidFill>
                  <a:srgbClr val="101016"/>
                </a:solidFill>
                <a:latin typeface="Arial" charset="0"/>
              </a:rPr>
              <a:t>PI </a:t>
            </a:r>
          </a:p>
          <a:p>
            <a:pPr>
              <a:lnSpc>
                <a:spcPct val="90000"/>
              </a:lnSpc>
              <a:buClr>
                <a:srgbClr val="660033"/>
              </a:buClr>
              <a:buSzPct val="95000"/>
              <a:buFont typeface="Wingdings" pitchFamily="2" charset="2"/>
              <a:buChar char="n"/>
            </a:pPr>
            <a:r>
              <a:rPr lang="en-US" altLang="zh-CN">
                <a:solidFill>
                  <a:srgbClr val="101016"/>
                </a:solidFill>
                <a:latin typeface="Arial" charset="0"/>
              </a:rPr>
              <a:t>  </a:t>
            </a:r>
            <a:r>
              <a:rPr lang="zh-CN" altLang="en-US">
                <a:solidFill>
                  <a:srgbClr val="101016"/>
                </a:solidFill>
                <a:latin typeface="Arial" charset="0"/>
              </a:rPr>
              <a:t>－个人所得税－非税支出</a:t>
            </a:r>
            <a:endParaRPr lang="en-US" altLang="zh-CN">
              <a:solidFill>
                <a:srgbClr val="101016"/>
              </a:solidFill>
              <a:latin typeface="Arial" charset="0"/>
            </a:endParaRPr>
          </a:p>
          <a:p>
            <a:pPr>
              <a:lnSpc>
                <a:spcPct val="90000"/>
              </a:lnSpc>
              <a:buClr>
                <a:srgbClr val="660033"/>
              </a:buClr>
              <a:buSzPct val="95000"/>
              <a:buFont typeface="Wingdings" pitchFamily="2" charset="2"/>
              <a:buChar char="n"/>
            </a:pPr>
            <a:r>
              <a:rPr lang="zh-CN" altLang="en-US">
                <a:solidFill>
                  <a:srgbClr val="101016"/>
                </a:solidFill>
                <a:latin typeface="Arial" charset="0"/>
              </a:rPr>
              <a:t>＝</a:t>
            </a:r>
            <a:r>
              <a:rPr lang="en-US" altLang="zh-CN">
                <a:solidFill>
                  <a:srgbClr val="101016"/>
                </a:solidFill>
                <a:latin typeface="Arial" charset="0"/>
              </a:rPr>
              <a:t>DPI</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17092">
                                            <p:bg/>
                                          </p:spTgt>
                                        </p:tgtEl>
                                        <p:attrNameLst>
                                          <p:attrName>style.visibility</p:attrName>
                                        </p:attrNameLst>
                                      </p:cBhvr>
                                      <p:to>
                                        <p:strVal val="visible"/>
                                      </p:to>
                                    </p:set>
                                    <p:animEffect transition="in" filter="blinds(horizontal)">
                                      <p:cBhvr>
                                        <p:cTn id="7" dur="500"/>
                                        <p:tgtEl>
                                          <p:spTgt spid="217092">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17092">
                                            <p:txEl>
                                              <p:pRg st="0" end="0"/>
                                            </p:txEl>
                                          </p:spTgt>
                                        </p:tgtEl>
                                        <p:attrNameLst>
                                          <p:attrName>style.visibility</p:attrName>
                                        </p:attrNameLst>
                                      </p:cBhvr>
                                      <p:to>
                                        <p:strVal val="visible"/>
                                      </p:to>
                                    </p:set>
                                    <p:animEffect transition="in" filter="blinds(horizontal)">
                                      <p:cBhvr>
                                        <p:cTn id="12" dur="500"/>
                                        <p:tgtEl>
                                          <p:spTgt spid="217092">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17092">
                                            <p:txEl>
                                              <p:pRg st="1" end="1"/>
                                            </p:txEl>
                                          </p:spTgt>
                                        </p:tgtEl>
                                        <p:attrNameLst>
                                          <p:attrName>style.visibility</p:attrName>
                                        </p:attrNameLst>
                                      </p:cBhvr>
                                      <p:to>
                                        <p:strVal val="visible"/>
                                      </p:to>
                                    </p:set>
                                    <p:animEffect transition="in" filter="blinds(horizontal)">
                                      <p:cBhvr>
                                        <p:cTn id="17" dur="500"/>
                                        <p:tgtEl>
                                          <p:spTgt spid="217092">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17097">
                                            <p:bg/>
                                          </p:spTgt>
                                        </p:tgtEl>
                                        <p:attrNameLst>
                                          <p:attrName>style.visibility</p:attrName>
                                        </p:attrNameLst>
                                      </p:cBhvr>
                                      <p:to>
                                        <p:strVal val="visible"/>
                                      </p:to>
                                    </p:set>
                                    <p:animEffect transition="in" filter="blinds(horizontal)">
                                      <p:cBhvr>
                                        <p:cTn id="22" dur="500"/>
                                        <p:tgtEl>
                                          <p:spTgt spid="217097">
                                            <p:bg/>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17097">
                                            <p:txEl>
                                              <p:pRg st="0" end="0"/>
                                            </p:txEl>
                                          </p:spTgt>
                                        </p:tgtEl>
                                        <p:attrNameLst>
                                          <p:attrName>style.visibility</p:attrName>
                                        </p:attrNameLst>
                                      </p:cBhvr>
                                      <p:to>
                                        <p:strVal val="visible"/>
                                      </p:to>
                                    </p:set>
                                    <p:animEffect transition="in" filter="blinds(horizontal)">
                                      <p:cBhvr>
                                        <p:cTn id="27" dur="500"/>
                                        <p:tgtEl>
                                          <p:spTgt spid="217097">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17097">
                                            <p:txEl>
                                              <p:pRg st="1" end="1"/>
                                            </p:txEl>
                                          </p:spTgt>
                                        </p:tgtEl>
                                        <p:attrNameLst>
                                          <p:attrName>style.visibility</p:attrName>
                                        </p:attrNameLst>
                                      </p:cBhvr>
                                      <p:to>
                                        <p:strVal val="visible"/>
                                      </p:to>
                                    </p:set>
                                    <p:animEffect transition="in" filter="blinds(horizontal)">
                                      <p:cBhvr>
                                        <p:cTn id="32" dur="500"/>
                                        <p:tgtEl>
                                          <p:spTgt spid="217097">
                                            <p:txEl>
                                              <p:pRg st="1" end="1"/>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17097">
                                            <p:txEl>
                                              <p:pRg st="2" end="2"/>
                                            </p:txEl>
                                          </p:spTgt>
                                        </p:tgtEl>
                                        <p:attrNameLst>
                                          <p:attrName>style.visibility</p:attrName>
                                        </p:attrNameLst>
                                      </p:cBhvr>
                                      <p:to>
                                        <p:strVal val="visible"/>
                                      </p:to>
                                    </p:set>
                                    <p:animEffect transition="in" filter="blinds(horizontal)">
                                      <p:cBhvr>
                                        <p:cTn id="37" dur="500"/>
                                        <p:tgtEl>
                                          <p:spTgt spid="217097">
                                            <p:txEl>
                                              <p:pRg st="2" end="2"/>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17097">
                                            <p:txEl>
                                              <p:pRg st="3" end="3"/>
                                            </p:txEl>
                                          </p:spTgt>
                                        </p:tgtEl>
                                        <p:attrNameLst>
                                          <p:attrName>style.visibility</p:attrName>
                                        </p:attrNameLst>
                                      </p:cBhvr>
                                      <p:to>
                                        <p:strVal val="visible"/>
                                      </p:to>
                                    </p:set>
                                    <p:animEffect transition="in" filter="blinds(horizontal)">
                                      <p:cBhvr>
                                        <p:cTn id="42" dur="500"/>
                                        <p:tgtEl>
                                          <p:spTgt spid="217097">
                                            <p:txEl>
                                              <p:pRg st="3" end="3"/>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17098">
                                            <p:bg/>
                                          </p:spTgt>
                                        </p:tgtEl>
                                        <p:attrNameLst>
                                          <p:attrName>style.visibility</p:attrName>
                                        </p:attrNameLst>
                                      </p:cBhvr>
                                      <p:to>
                                        <p:strVal val="visible"/>
                                      </p:to>
                                    </p:set>
                                    <p:animEffect transition="in" filter="blinds(horizontal)">
                                      <p:cBhvr>
                                        <p:cTn id="47" dur="500"/>
                                        <p:tgtEl>
                                          <p:spTgt spid="217098">
                                            <p:bg/>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17098">
                                            <p:txEl>
                                              <p:pRg st="0" end="0"/>
                                            </p:txEl>
                                          </p:spTgt>
                                        </p:tgtEl>
                                        <p:attrNameLst>
                                          <p:attrName>style.visibility</p:attrName>
                                        </p:attrNameLst>
                                      </p:cBhvr>
                                      <p:to>
                                        <p:strVal val="visible"/>
                                      </p:to>
                                    </p:set>
                                    <p:animEffect transition="in" filter="blinds(horizontal)">
                                      <p:cBhvr>
                                        <p:cTn id="52" dur="500"/>
                                        <p:tgtEl>
                                          <p:spTgt spid="217098">
                                            <p:txEl>
                                              <p:pRg st="0" end="0"/>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17098">
                                            <p:txEl>
                                              <p:pRg st="1" end="1"/>
                                            </p:txEl>
                                          </p:spTgt>
                                        </p:tgtEl>
                                        <p:attrNameLst>
                                          <p:attrName>style.visibility</p:attrName>
                                        </p:attrNameLst>
                                      </p:cBhvr>
                                      <p:to>
                                        <p:strVal val="visible"/>
                                      </p:to>
                                    </p:set>
                                    <p:animEffect transition="in" filter="blinds(horizontal)">
                                      <p:cBhvr>
                                        <p:cTn id="57" dur="500"/>
                                        <p:tgtEl>
                                          <p:spTgt spid="217098">
                                            <p:txEl>
                                              <p:pRg st="1" end="1"/>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217098">
                                            <p:txEl>
                                              <p:pRg st="2" end="2"/>
                                            </p:txEl>
                                          </p:spTgt>
                                        </p:tgtEl>
                                        <p:attrNameLst>
                                          <p:attrName>style.visibility</p:attrName>
                                        </p:attrNameLst>
                                      </p:cBhvr>
                                      <p:to>
                                        <p:strVal val="visible"/>
                                      </p:to>
                                    </p:set>
                                    <p:animEffect transition="in" filter="blinds(horizontal)">
                                      <p:cBhvr>
                                        <p:cTn id="62" dur="500"/>
                                        <p:tgtEl>
                                          <p:spTgt spid="217098">
                                            <p:txEl>
                                              <p:pRg st="2" end="2"/>
                                            </p:txEl>
                                          </p:spTgt>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217098">
                                            <p:txEl>
                                              <p:pRg st="3" end="3"/>
                                            </p:txEl>
                                          </p:spTgt>
                                        </p:tgtEl>
                                        <p:attrNameLst>
                                          <p:attrName>style.visibility</p:attrName>
                                        </p:attrNameLst>
                                      </p:cBhvr>
                                      <p:to>
                                        <p:strVal val="visible"/>
                                      </p:to>
                                    </p:set>
                                    <p:animEffect transition="in" filter="blinds(horizontal)">
                                      <p:cBhvr>
                                        <p:cTn id="67" dur="500"/>
                                        <p:tgtEl>
                                          <p:spTgt spid="217098">
                                            <p:txEl>
                                              <p:pRg st="3" end="3"/>
                                            </p:txEl>
                                          </p:spTgt>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217098">
                                            <p:txEl>
                                              <p:pRg st="4" end="4"/>
                                            </p:txEl>
                                          </p:spTgt>
                                        </p:tgtEl>
                                        <p:attrNameLst>
                                          <p:attrName>style.visibility</p:attrName>
                                        </p:attrNameLst>
                                      </p:cBhvr>
                                      <p:to>
                                        <p:strVal val="visible"/>
                                      </p:to>
                                    </p:set>
                                    <p:animEffect transition="in" filter="blinds(horizontal)">
                                      <p:cBhvr>
                                        <p:cTn id="72" dur="500"/>
                                        <p:tgtEl>
                                          <p:spTgt spid="217098">
                                            <p:txEl>
                                              <p:pRg st="4" end="4"/>
                                            </p:txEl>
                                          </p:spTgt>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217098">
                                            <p:txEl>
                                              <p:pRg st="5" end="5"/>
                                            </p:txEl>
                                          </p:spTgt>
                                        </p:tgtEl>
                                        <p:attrNameLst>
                                          <p:attrName>style.visibility</p:attrName>
                                        </p:attrNameLst>
                                      </p:cBhvr>
                                      <p:to>
                                        <p:strVal val="visible"/>
                                      </p:to>
                                    </p:set>
                                    <p:animEffect transition="in" filter="blinds(horizontal)">
                                      <p:cBhvr>
                                        <p:cTn id="77" dur="500"/>
                                        <p:tgtEl>
                                          <p:spTgt spid="217098">
                                            <p:txEl>
                                              <p:pRg st="5" end="5"/>
                                            </p:txEl>
                                          </p:spTgt>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217099">
                                            <p:bg/>
                                          </p:spTgt>
                                        </p:tgtEl>
                                        <p:attrNameLst>
                                          <p:attrName>style.visibility</p:attrName>
                                        </p:attrNameLst>
                                      </p:cBhvr>
                                      <p:to>
                                        <p:strVal val="visible"/>
                                      </p:to>
                                    </p:set>
                                    <p:animEffect transition="in" filter="blinds(horizontal)">
                                      <p:cBhvr>
                                        <p:cTn id="82" dur="500"/>
                                        <p:tgtEl>
                                          <p:spTgt spid="217099">
                                            <p:bg/>
                                          </p:spTgt>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3" presetClass="entr" presetSubtype="10" fill="hold" grpId="0" nodeType="clickEffect">
                                  <p:stCondLst>
                                    <p:cond delay="0"/>
                                  </p:stCondLst>
                                  <p:childTnLst>
                                    <p:set>
                                      <p:cBhvr>
                                        <p:cTn id="86" dur="1" fill="hold">
                                          <p:stCondLst>
                                            <p:cond delay="0"/>
                                          </p:stCondLst>
                                        </p:cTn>
                                        <p:tgtEl>
                                          <p:spTgt spid="217099">
                                            <p:txEl>
                                              <p:pRg st="0" end="0"/>
                                            </p:txEl>
                                          </p:spTgt>
                                        </p:tgtEl>
                                        <p:attrNameLst>
                                          <p:attrName>style.visibility</p:attrName>
                                        </p:attrNameLst>
                                      </p:cBhvr>
                                      <p:to>
                                        <p:strVal val="visible"/>
                                      </p:to>
                                    </p:set>
                                    <p:animEffect transition="in" filter="blinds(horizontal)">
                                      <p:cBhvr>
                                        <p:cTn id="87" dur="500"/>
                                        <p:tgtEl>
                                          <p:spTgt spid="217099">
                                            <p:txEl>
                                              <p:pRg st="0" end="0"/>
                                            </p:txEl>
                                          </p:spTgt>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3" presetClass="entr" presetSubtype="10" fill="hold" grpId="0" nodeType="clickEffect">
                                  <p:stCondLst>
                                    <p:cond delay="0"/>
                                  </p:stCondLst>
                                  <p:childTnLst>
                                    <p:set>
                                      <p:cBhvr>
                                        <p:cTn id="91" dur="1" fill="hold">
                                          <p:stCondLst>
                                            <p:cond delay="0"/>
                                          </p:stCondLst>
                                        </p:cTn>
                                        <p:tgtEl>
                                          <p:spTgt spid="217099">
                                            <p:txEl>
                                              <p:pRg st="1" end="1"/>
                                            </p:txEl>
                                          </p:spTgt>
                                        </p:tgtEl>
                                        <p:attrNameLst>
                                          <p:attrName>style.visibility</p:attrName>
                                        </p:attrNameLst>
                                      </p:cBhvr>
                                      <p:to>
                                        <p:strVal val="visible"/>
                                      </p:to>
                                    </p:set>
                                    <p:animEffect transition="in" filter="blinds(horizontal)">
                                      <p:cBhvr>
                                        <p:cTn id="92" dur="500"/>
                                        <p:tgtEl>
                                          <p:spTgt spid="217099">
                                            <p:txEl>
                                              <p:pRg st="1" end="1"/>
                                            </p:txEl>
                                          </p:spTgt>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3" presetClass="entr" presetSubtype="10" fill="hold" grpId="0" nodeType="clickEffect">
                                  <p:stCondLst>
                                    <p:cond delay="0"/>
                                  </p:stCondLst>
                                  <p:childTnLst>
                                    <p:set>
                                      <p:cBhvr>
                                        <p:cTn id="96" dur="1" fill="hold">
                                          <p:stCondLst>
                                            <p:cond delay="0"/>
                                          </p:stCondLst>
                                        </p:cTn>
                                        <p:tgtEl>
                                          <p:spTgt spid="217099">
                                            <p:txEl>
                                              <p:pRg st="2" end="2"/>
                                            </p:txEl>
                                          </p:spTgt>
                                        </p:tgtEl>
                                        <p:attrNameLst>
                                          <p:attrName>style.visibility</p:attrName>
                                        </p:attrNameLst>
                                      </p:cBhvr>
                                      <p:to>
                                        <p:strVal val="visible"/>
                                      </p:to>
                                    </p:set>
                                    <p:animEffect transition="in" filter="blinds(horizontal)">
                                      <p:cBhvr>
                                        <p:cTn id="97" dur="500"/>
                                        <p:tgtEl>
                                          <p:spTgt spid="21709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7092" grpId="0" build="p" animBg="1"/>
      <p:bldP spid="217097" grpId="0" build="p" animBg="1"/>
      <p:bldP spid="217098" grpId="0" build="p" animBg="1"/>
      <p:bldP spid="217099" grpId="0" build="p"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664C0FAD-3A6F-409E-83E8-6A6AE86C6041}"/>
              </a:ext>
            </a:extLst>
          </p:cNvPr>
          <p:cNvSpPr>
            <a:spLocks noGrp="1"/>
          </p:cNvSpPr>
          <p:nvPr>
            <p:ph type="title"/>
          </p:nvPr>
        </p:nvSpPr>
        <p:spPr/>
        <p:txBody>
          <a:bodyPr/>
          <a:lstStyle/>
          <a:p>
            <a:r>
              <a:rPr lang="zh-CN" altLang="en-US" dirty="0"/>
              <a:t>从</a:t>
            </a:r>
            <a:r>
              <a:rPr lang="en-US" altLang="zh-CN" dirty="0"/>
              <a:t>GDP</a:t>
            </a:r>
            <a:r>
              <a:rPr lang="zh-CN" altLang="en-US" dirty="0"/>
              <a:t>到个人可支配收入</a:t>
            </a:r>
          </a:p>
        </p:txBody>
      </p:sp>
      <p:sp>
        <p:nvSpPr>
          <p:cNvPr id="4" name="灯片编号占位符 3">
            <a:extLst>
              <a:ext uri="{FF2B5EF4-FFF2-40B4-BE49-F238E27FC236}">
                <a16:creationId xmlns="" xmlns:a16="http://schemas.microsoft.com/office/drawing/2014/main" id="{E7C825C9-1457-4F80-9960-A997B90E8F52}"/>
              </a:ext>
            </a:extLst>
          </p:cNvPr>
          <p:cNvSpPr>
            <a:spLocks noGrp="1"/>
          </p:cNvSpPr>
          <p:nvPr>
            <p:ph type="sldNum" sz="quarter" idx="12"/>
          </p:nvPr>
        </p:nvSpPr>
        <p:spPr/>
        <p:txBody>
          <a:bodyPr/>
          <a:lstStyle/>
          <a:p>
            <a:fld id="{8386ED9B-C4B4-44DB-9255-A90676A969D4}" type="slidenum">
              <a:rPr lang="zh-CN" altLang="en-US" smtClean="0"/>
              <a:pPr/>
              <a:t>29</a:t>
            </a:fld>
            <a:endParaRPr lang="zh-CN" altLang="en-US"/>
          </a:p>
        </p:txBody>
      </p:sp>
      <p:graphicFrame>
        <p:nvGraphicFramePr>
          <p:cNvPr id="5" name="Group 3">
            <a:extLst>
              <a:ext uri="{FF2B5EF4-FFF2-40B4-BE49-F238E27FC236}">
                <a16:creationId xmlns="" xmlns:a16="http://schemas.microsoft.com/office/drawing/2014/main" id="{EE959FDB-0799-4ED6-9BC8-75933286F5EF}"/>
              </a:ext>
            </a:extLst>
          </p:cNvPr>
          <p:cNvGraphicFramePr>
            <a:graphicFrameLocks/>
          </p:cNvGraphicFramePr>
          <p:nvPr>
            <p:extLst>
              <p:ext uri="{D42A27DB-BD31-4B8C-83A1-F6EECF244321}">
                <p14:modId xmlns:p14="http://schemas.microsoft.com/office/powerpoint/2010/main" val="1656732298"/>
              </p:ext>
            </p:extLst>
          </p:nvPr>
        </p:nvGraphicFramePr>
        <p:xfrm>
          <a:off x="275611" y="1015641"/>
          <a:ext cx="8472851" cy="4849885"/>
        </p:xfrm>
        <a:graphic>
          <a:graphicData uri="http://schemas.openxmlformats.org/drawingml/2006/table">
            <a:tbl>
              <a:tblPr>
                <a:tableStyleId>{5DA37D80-6434-44D0-A028-1B22A696006F}</a:tableStyleId>
              </a:tblPr>
              <a:tblGrid>
                <a:gridCol w="1655551">
                  <a:extLst>
                    <a:ext uri="{9D8B030D-6E8A-4147-A177-3AD203B41FA5}">
                      <a16:colId xmlns="" xmlns:a16="http://schemas.microsoft.com/office/drawing/2014/main" val="20000"/>
                    </a:ext>
                  </a:extLst>
                </a:gridCol>
                <a:gridCol w="1555214">
                  <a:extLst>
                    <a:ext uri="{9D8B030D-6E8A-4147-A177-3AD203B41FA5}">
                      <a16:colId xmlns="" xmlns:a16="http://schemas.microsoft.com/office/drawing/2014/main" val="20001"/>
                    </a:ext>
                  </a:extLst>
                </a:gridCol>
                <a:gridCol w="1694570">
                  <a:extLst>
                    <a:ext uri="{9D8B030D-6E8A-4147-A177-3AD203B41FA5}">
                      <a16:colId xmlns="" xmlns:a16="http://schemas.microsoft.com/office/drawing/2014/main" val="20002"/>
                    </a:ext>
                  </a:extLst>
                </a:gridCol>
                <a:gridCol w="1921257">
                  <a:extLst>
                    <a:ext uri="{9D8B030D-6E8A-4147-A177-3AD203B41FA5}">
                      <a16:colId xmlns="" xmlns:a16="http://schemas.microsoft.com/office/drawing/2014/main" val="20003"/>
                    </a:ext>
                  </a:extLst>
                </a:gridCol>
                <a:gridCol w="1646259">
                  <a:extLst>
                    <a:ext uri="{9D8B030D-6E8A-4147-A177-3AD203B41FA5}">
                      <a16:colId xmlns="" xmlns:a16="http://schemas.microsoft.com/office/drawing/2014/main" val="20004"/>
                    </a:ext>
                  </a:extLst>
                </a:gridCol>
              </a:tblGrid>
              <a:tr h="454250">
                <a:tc rowSpan="5">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u="none" strike="noStrike" cap="none" normalizeH="0" baseline="0" dirty="0">
                          <a:ln>
                            <a:noFill/>
                          </a:ln>
                          <a:effectLst/>
                          <a:latin typeface="+mn-ea"/>
                          <a:ea typeface="+mn-ea"/>
                        </a:rPr>
                        <a:t>GDP</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000" b="1" u="none" strike="noStrike" cap="none" normalizeH="0" baseline="0" dirty="0">
                          <a:ln>
                            <a:noFill/>
                          </a:ln>
                          <a:solidFill>
                            <a:srgbClr val="1D26D5"/>
                          </a:solidFill>
                          <a:effectLst/>
                          <a:latin typeface="+mn-ea"/>
                          <a:ea typeface="+mn-ea"/>
                        </a:rPr>
                        <a:t>（</a:t>
                      </a:r>
                      <a:r>
                        <a:rPr kumimoji="0" lang="en-US" altLang="zh-CN" sz="2000" b="1" u="none" strike="noStrike" cap="none" normalizeH="0" baseline="0" dirty="0">
                          <a:ln>
                            <a:noFill/>
                          </a:ln>
                          <a:solidFill>
                            <a:srgbClr val="1D26D5"/>
                          </a:solidFill>
                          <a:effectLst/>
                          <a:latin typeface="+mn-ea"/>
                          <a:ea typeface="+mn-ea"/>
                        </a:rPr>
                        <a:t>GNP</a:t>
                      </a:r>
                      <a:r>
                        <a:rPr kumimoji="0" lang="zh-CN" altLang="en-US" sz="2000" b="1" u="none" strike="noStrike" cap="none" normalizeH="0" baseline="0" dirty="0">
                          <a:ln>
                            <a:noFill/>
                          </a:ln>
                          <a:solidFill>
                            <a:srgbClr val="1D26D5"/>
                          </a:solidFill>
                          <a:effectLst/>
                          <a:latin typeface="+mn-ea"/>
                          <a:ea typeface="+mn-ea"/>
                        </a:rPr>
                        <a:t>）</a:t>
                      </a:r>
                      <a:r>
                        <a:rPr kumimoji="0" lang="en-US" altLang="zh-CN" sz="2000" b="1" u="none" strike="noStrike" cap="none" normalizeH="0" baseline="0" dirty="0">
                          <a:ln>
                            <a:noFill/>
                          </a:ln>
                          <a:solidFill>
                            <a:srgbClr val="1D26D5"/>
                          </a:solidFill>
                          <a:effectLst/>
                          <a:latin typeface="+mn-ea"/>
                          <a:ea typeface="+mn-ea"/>
                        </a:rPr>
                        <a:t> </a:t>
                      </a:r>
                      <a:endParaRPr kumimoji="0" lang="en-US" altLang="zh-CN" sz="2000" b="1" i="0" u="none" strike="noStrike" cap="none" normalizeH="0" baseline="0" dirty="0">
                        <a:ln>
                          <a:noFill/>
                        </a:ln>
                        <a:solidFill>
                          <a:srgbClr val="1D26D5"/>
                        </a:solidFill>
                        <a:effectLst/>
                        <a:latin typeface="+mn-ea"/>
                        <a:ea typeface="+mn-ea"/>
                      </a:endParaRPr>
                    </a:p>
                  </a:txBody>
                  <a:tcPr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000" b="1" u="none" strike="noStrike" cap="none" normalizeH="0" baseline="0">
                          <a:ln>
                            <a:noFill/>
                          </a:ln>
                          <a:effectLst/>
                          <a:latin typeface="+mn-ea"/>
                          <a:ea typeface="+mn-ea"/>
                        </a:rPr>
                        <a:t>折旧</a:t>
                      </a:r>
                      <a:endParaRPr kumimoji="0" lang="zh-CN" altLang="en-US" sz="2000" b="1" i="0" u="none" strike="noStrike" cap="none" normalizeH="0" baseline="0">
                        <a:ln>
                          <a:noFill/>
                        </a:ln>
                        <a:solidFill>
                          <a:schemeClr val="tx1"/>
                        </a:solidFill>
                        <a:effectLst/>
                        <a:latin typeface="+mn-ea"/>
                        <a:ea typeface="+mn-ea"/>
                      </a:endParaRPr>
                    </a:p>
                  </a:txBody>
                  <a:tcPr horzOverflow="overflow"/>
                </a:tc>
                <a:tc gridSpan="3">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2000" b="1" i="0" u="none" strike="noStrike" cap="none" normalizeH="0" baseline="0" dirty="0">
                        <a:ln>
                          <a:noFill/>
                        </a:ln>
                        <a:solidFill>
                          <a:schemeClr val="tx1"/>
                        </a:solidFill>
                        <a:effectLst/>
                        <a:latin typeface="+mn-ea"/>
                        <a:ea typeface="+mn-ea"/>
                      </a:endParaRPr>
                    </a:p>
                  </a:txBody>
                  <a:tcPr horzOverflow="overflow"/>
                </a:tc>
                <a:tc hMerge="1">
                  <a:txBody>
                    <a:bodyPr/>
                    <a:lstStyle/>
                    <a:p>
                      <a:endParaRPr lang="zh-CN" altLang="en-US"/>
                    </a:p>
                  </a:txBody>
                  <a:tcPr/>
                </a:tc>
                <a:tc hMerge="1">
                  <a:txBody>
                    <a:bodyPr/>
                    <a:lstStyle/>
                    <a:p>
                      <a:endParaRPr lang="zh-CN" altLang="en-US"/>
                    </a:p>
                  </a:txBody>
                  <a:tcPr/>
                </a:tc>
                <a:extLst>
                  <a:ext uri="{0D108BD9-81ED-4DB2-BD59-A6C34878D82A}">
                    <a16:rowId xmlns="" xmlns:a16="http://schemas.microsoft.com/office/drawing/2014/main" val="10000"/>
                  </a:ext>
                </a:extLst>
              </a:tr>
              <a:tr h="659539">
                <a:tc vMerge="1">
                  <a:txBody>
                    <a:bodyPr/>
                    <a:lstStyle/>
                    <a:p>
                      <a:endParaRPr lang="zh-CN" altLang="en-US"/>
                    </a:p>
                  </a:txBody>
                  <a:tcPr/>
                </a:tc>
                <a:tc rowSpan="4">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000" b="1" u="none" strike="noStrike" cap="none" normalizeH="0" baseline="0" dirty="0">
                          <a:ln>
                            <a:noFill/>
                          </a:ln>
                          <a:effectLst/>
                          <a:latin typeface="+mn-ea"/>
                          <a:ea typeface="+mn-ea"/>
                        </a:rPr>
                        <a:t> </a:t>
                      </a:r>
                      <a:r>
                        <a:rPr kumimoji="0" lang="en-US" altLang="zh-CN" sz="2000" b="1" u="none" strike="noStrike" cap="none" normalizeH="0" baseline="0" dirty="0">
                          <a:ln>
                            <a:noFill/>
                          </a:ln>
                          <a:effectLst/>
                          <a:latin typeface="+mn-ea"/>
                          <a:ea typeface="+mn-ea"/>
                        </a:rPr>
                        <a:t>NDP=GDP-</a:t>
                      </a:r>
                      <a:r>
                        <a:rPr kumimoji="0" lang="zh-CN" altLang="en-US" sz="2000" b="1" u="none" strike="noStrike" cap="none" normalizeH="0" baseline="0" dirty="0">
                          <a:ln>
                            <a:noFill/>
                          </a:ln>
                          <a:effectLst/>
                          <a:latin typeface="+mn-ea"/>
                          <a:ea typeface="+mn-ea"/>
                        </a:rPr>
                        <a:t>折旧</a:t>
                      </a:r>
                      <a:endParaRPr kumimoji="0" lang="en-US" altLang="zh-CN" sz="2000" b="1" u="none" strike="noStrike" cap="none" normalizeH="0" baseline="0" dirty="0">
                        <a:ln>
                          <a:noFill/>
                        </a:ln>
                        <a:effectLst/>
                        <a:latin typeface="+mn-ea"/>
                        <a:ea typeface="+mn-ea"/>
                      </a:endParaRP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dirty="0">
                          <a:ln>
                            <a:noFill/>
                          </a:ln>
                          <a:solidFill>
                            <a:srgbClr val="1D26D5"/>
                          </a:solidFill>
                          <a:effectLst/>
                          <a:latin typeface="+mn-ea"/>
                          <a:ea typeface="+mn-ea"/>
                        </a:rPr>
                        <a:t>(NNP=GNP-</a:t>
                      </a:r>
                      <a:r>
                        <a:rPr kumimoji="0" lang="zh-CN" altLang="en-US" sz="2000" b="1" i="0" u="none" strike="noStrike" cap="none" normalizeH="0" baseline="0" dirty="0">
                          <a:ln>
                            <a:noFill/>
                          </a:ln>
                          <a:solidFill>
                            <a:srgbClr val="1D26D5"/>
                          </a:solidFill>
                          <a:effectLst/>
                          <a:latin typeface="+mn-ea"/>
                          <a:ea typeface="+mn-ea"/>
                        </a:rPr>
                        <a:t>折旧</a:t>
                      </a:r>
                      <a:r>
                        <a:rPr kumimoji="0" lang="en-US" altLang="zh-CN" sz="2000" b="1" i="0" u="none" strike="noStrike" cap="none" normalizeH="0" baseline="0" dirty="0">
                          <a:ln>
                            <a:noFill/>
                          </a:ln>
                          <a:solidFill>
                            <a:srgbClr val="1D26D5"/>
                          </a:solidFill>
                          <a:effectLst/>
                          <a:latin typeface="+mn-ea"/>
                          <a:ea typeface="+mn-ea"/>
                        </a:rPr>
                        <a:t>)</a:t>
                      </a:r>
                    </a:p>
                  </a:txBody>
                  <a:tcPr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000" b="1" u="none" strike="noStrike" cap="none" normalizeH="0" baseline="0" dirty="0">
                          <a:ln>
                            <a:noFill/>
                          </a:ln>
                          <a:effectLst/>
                          <a:latin typeface="+mn-ea"/>
                          <a:ea typeface="+mn-ea"/>
                        </a:rPr>
                        <a:t>间接税、企业转移支付 </a:t>
                      </a:r>
                      <a:endParaRPr kumimoji="0" lang="zh-CN" altLang="en-US" sz="2000" b="1" i="0" u="none" strike="noStrike" cap="none" normalizeH="0" baseline="0" dirty="0">
                        <a:ln>
                          <a:noFill/>
                        </a:ln>
                        <a:solidFill>
                          <a:schemeClr val="tx1"/>
                        </a:solidFill>
                        <a:effectLst/>
                        <a:latin typeface="+mn-ea"/>
                        <a:ea typeface="+mn-ea"/>
                      </a:endParaRPr>
                    </a:p>
                  </a:txBody>
                  <a:tcPr horzOverflow="overflow"/>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2000" b="1" i="0" u="none" strike="noStrike" cap="none" normalizeH="0" baseline="0" dirty="0">
                        <a:ln>
                          <a:noFill/>
                        </a:ln>
                        <a:solidFill>
                          <a:schemeClr val="tx1"/>
                        </a:solidFill>
                        <a:effectLst/>
                        <a:latin typeface="+mn-ea"/>
                        <a:ea typeface="+mn-ea"/>
                      </a:endParaRPr>
                    </a:p>
                  </a:txBody>
                  <a:tcPr horzOverflow="overflow"/>
                </a:tc>
                <a:tc hMerge="1">
                  <a:txBody>
                    <a:bodyPr/>
                    <a:lstStyle/>
                    <a:p>
                      <a:endParaRPr lang="zh-CN" altLang="en-US"/>
                    </a:p>
                  </a:txBody>
                  <a:tcPr/>
                </a:tc>
                <a:extLst>
                  <a:ext uri="{0D108BD9-81ED-4DB2-BD59-A6C34878D82A}">
                    <a16:rowId xmlns="" xmlns:a16="http://schemas.microsoft.com/office/drawing/2014/main" val="10001"/>
                  </a:ext>
                </a:extLst>
              </a:tr>
              <a:tr h="454250">
                <a:tc vMerge="1">
                  <a:txBody>
                    <a:bodyPr/>
                    <a:lstStyle/>
                    <a:p>
                      <a:endParaRPr lang="zh-CN" altLang="en-US"/>
                    </a:p>
                  </a:txBody>
                  <a:tcPr/>
                </a:tc>
                <a:tc vMerge="1">
                  <a:txBody>
                    <a:bodyPr/>
                    <a:lstStyle/>
                    <a:p>
                      <a:endParaRPr lang="zh-CN" altLang="en-US"/>
                    </a:p>
                  </a:txBody>
                  <a:tcPr/>
                </a:tc>
                <a:tc rowSpan="3">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u="none" strike="noStrike" cap="none" normalizeH="0" baseline="0" dirty="0">
                          <a:ln>
                            <a:noFill/>
                          </a:ln>
                          <a:effectLst/>
                          <a:latin typeface="+mn-ea"/>
                          <a:ea typeface="+mn-ea"/>
                        </a:rPr>
                        <a:t>NI=NDP-</a:t>
                      </a:r>
                      <a:r>
                        <a:rPr kumimoji="0" lang="zh-CN" altLang="en-US" sz="2000" b="1" u="none" strike="noStrike" cap="none" normalizeH="0" baseline="0" dirty="0">
                          <a:ln>
                            <a:noFill/>
                          </a:ln>
                          <a:effectLst/>
                          <a:latin typeface="+mn-ea"/>
                          <a:ea typeface="+mn-ea"/>
                        </a:rPr>
                        <a:t>间接税</a:t>
                      </a:r>
                      <a:r>
                        <a:rPr kumimoji="0" lang="en-US" altLang="zh-CN" sz="2000" b="1" u="none" strike="noStrike" cap="none" normalizeH="0" baseline="0" dirty="0">
                          <a:ln>
                            <a:noFill/>
                          </a:ln>
                          <a:effectLst/>
                          <a:latin typeface="+mn-ea"/>
                          <a:ea typeface="+mn-ea"/>
                        </a:rPr>
                        <a:t>-</a:t>
                      </a:r>
                      <a:r>
                        <a:rPr kumimoji="0" lang="zh-CN" altLang="en-US" sz="2000" b="1" u="none" strike="noStrike" cap="none" normalizeH="0" baseline="0" dirty="0">
                          <a:ln>
                            <a:noFill/>
                          </a:ln>
                          <a:effectLst/>
                          <a:latin typeface="+mn-ea"/>
                          <a:ea typeface="+mn-ea"/>
                        </a:rPr>
                        <a:t>企业转移支付</a:t>
                      </a:r>
                      <a:r>
                        <a:rPr kumimoji="0" lang="en-US" altLang="zh-CN" sz="2000" b="1" u="none" strike="noStrike" cap="none" normalizeH="0" baseline="0" dirty="0">
                          <a:ln>
                            <a:noFill/>
                          </a:ln>
                          <a:effectLst/>
                          <a:latin typeface="+mn-ea"/>
                          <a:ea typeface="+mn-ea"/>
                        </a:rPr>
                        <a:t>+</a:t>
                      </a:r>
                      <a:r>
                        <a:rPr kumimoji="0" lang="zh-CN" altLang="en-US" sz="2000" b="1" u="none" strike="noStrike" cap="none" normalizeH="0" baseline="0" dirty="0">
                          <a:ln>
                            <a:noFill/>
                          </a:ln>
                          <a:effectLst/>
                          <a:latin typeface="+mn-ea"/>
                          <a:ea typeface="+mn-ea"/>
                        </a:rPr>
                        <a:t>政府补助</a:t>
                      </a:r>
                      <a:r>
                        <a:rPr kumimoji="0" lang="en-US" altLang="zh-CN" sz="2000" b="1" u="none" strike="noStrike" cap="none" normalizeH="0" baseline="0" dirty="0">
                          <a:ln>
                            <a:noFill/>
                          </a:ln>
                          <a:effectLst/>
                          <a:latin typeface="+mn-ea"/>
                          <a:ea typeface="+mn-ea"/>
                        </a:rPr>
                        <a:t> </a:t>
                      </a:r>
                      <a:endParaRPr kumimoji="0" lang="en-US" altLang="zh-CN" sz="2000" b="1" i="0" u="none" strike="noStrike" cap="none" normalizeH="0" baseline="0" dirty="0">
                        <a:ln>
                          <a:noFill/>
                        </a:ln>
                        <a:solidFill>
                          <a:schemeClr val="tx1"/>
                        </a:solidFill>
                        <a:effectLst/>
                        <a:latin typeface="+mn-ea"/>
                        <a:ea typeface="+mn-ea"/>
                      </a:endParaRPr>
                    </a:p>
                  </a:txBody>
                  <a:tcPr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000" b="1" i="0" u="none" strike="noStrike" cap="none" normalizeH="0" baseline="0" dirty="0">
                        <a:ln>
                          <a:noFill/>
                        </a:ln>
                        <a:solidFill>
                          <a:schemeClr val="tx1"/>
                        </a:solidFill>
                        <a:effectLst/>
                        <a:latin typeface="+mn-ea"/>
                        <a:ea typeface="+mn-ea"/>
                      </a:endParaRPr>
                    </a:p>
                  </a:txBody>
                  <a:tcPr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2000" b="1" i="0" u="none" strike="noStrike" cap="none" normalizeH="0" baseline="0" dirty="0">
                        <a:ln>
                          <a:noFill/>
                        </a:ln>
                        <a:solidFill>
                          <a:schemeClr val="tx1"/>
                        </a:solidFill>
                        <a:effectLst/>
                        <a:latin typeface="+mn-ea"/>
                        <a:ea typeface="+mn-ea"/>
                      </a:endParaRPr>
                    </a:p>
                  </a:txBody>
                  <a:tcPr anchor="ctr" horzOverflow="overflow"/>
                </a:tc>
                <a:extLst>
                  <a:ext uri="{0D108BD9-81ED-4DB2-BD59-A6C34878D82A}">
                    <a16:rowId xmlns="" xmlns:a16="http://schemas.microsoft.com/office/drawing/2014/main" val="10002"/>
                  </a:ext>
                </a:extLst>
              </a:tr>
              <a:tr h="1544450">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000" b="1" u="none" strike="noStrike" cap="none" normalizeH="0" baseline="0" dirty="0">
                          <a:ln>
                            <a:noFill/>
                          </a:ln>
                          <a:effectLst/>
                          <a:latin typeface="+mn-ea"/>
                          <a:ea typeface="+mn-ea"/>
                        </a:rPr>
                        <a:t>PI=NI-</a:t>
                      </a:r>
                      <a:r>
                        <a:rPr kumimoji="0" lang="zh-CN" altLang="en-US" sz="2000" b="1" u="none" strike="noStrike" cap="none" normalizeH="0" baseline="0" dirty="0">
                          <a:ln>
                            <a:noFill/>
                          </a:ln>
                          <a:effectLst/>
                          <a:latin typeface="+mn-ea"/>
                          <a:ea typeface="+mn-ea"/>
                        </a:rPr>
                        <a:t>公司未分配利润</a:t>
                      </a:r>
                      <a:r>
                        <a:rPr kumimoji="0" lang="en-US" altLang="zh-CN" sz="2000" b="1" u="none" strike="noStrike" cap="none" normalizeH="0" baseline="0" dirty="0">
                          <a:ln>
                            <a:noFill/>
                          </a:ln>
                          <a:effectLst/>
                          <a:latin typeface="+mn-ea"/>
                          <a:ea typeface="+mn-ea"/>
                        </a:rPr>
                        <a:t>-</a:t>
                      </a:r>
                      <a:r>
                        <a:rPr kumimoji="0" lang="zh-CN" altLang="en-US" sz="2000" b="1" u="none" strike="noStrike" cap="none" normalizeH="0" baseline="0" dirty="0">
                          <a:ln>
                            <a:noFill/>
                          </a:ln>
                          <a:effectLst/>
                          <a:latin typeface="+mn-ea"/>
                          <a:ea typeface="+mn-ea"/>
                        </a:rPr>
                        <a:t>公司所得税及社会保险税</a:t>
                      </a:r>
                      <a:r>
                        <a:rPr kumimoji="0" lang="en-US" altLang="zh-CN" sz="2000" b="1" u="none" strike="noStrike" cap="none" normalizeH="0" baseline="0" dirty="0">
                          <a:ln>
                            <a:noFill/>
                          </a:ln>
                          <a:effectLst/>
                          <a:latin typeface="+mn-ea"/>
                          <a:ea typeface="+mn-ea"/>
                        </a:rPr>
                        <a:t>(</a:t>
                      </a:r>
                      <a:r>
                        <a:rPr kumimoji="0" lang="zh-CN" altLang="en-US" sz="2000" b="1" u="none" strike="noStrike" cap="none" normalizeH="0" baseline="0" dirty="0">
                          <a:ln>
                            <a:noFill/>
                          </a:ln>
                          <a:effectLst/>
                          <a:latin typeface="+mn-ea"/>
                          <a:ea typeface="+mn-ea"/>
                        </a:rPr>
                        <a:t>费</a:t>
                      </a:r>
                      <a:r>
                        <a:rPr kumimoji="0" lang="en-US" altLang="zh-CN" sz="2000" b="1" u="none" strike="noStrike" cap="none" normalizeH="0" baseline="0" dirty="0">
                          <a:ln>
                            <a:noFill/>
                          </a:ln>
                          <a:effectLst/>
                          <a:latin typeface="+mn-ea"/>
                          <a:ea typeface="+mn-ea"/>
                        </a:rPr>
                        <a:t>)+</a:t>
                      </a:r>
                      <a:r>
                        <a:rPr kumimoji="0" lang="zh-CN" altLang="en-US" sz="2000" b="1" u="none" strike="noStrike" cap="none" normalizeH="0" baseline="0" dirty="0">
                          <a:ln>
                            <a:noFill/>
                          </a:ln>
                          <a:effectLst/>
                          <a:latin typeface="+mn-ea"/>
                          <a:ea typeface="+mn-ea"/>
                        </a:rPr>
                        <a:t>转移支付</a:t>
                      </a:r>
                      <a:r>
                        <a:rPr kumimoji="0" lang="en-US" altLang="zh-CN" sz="2000" b="1" u="none" strike="noStrike" cap="none" normalizeH="0" baseline="0" dirty="0">
                          <a:ln>
                            <a:noFill/>
                          </a:ln>
                          <a:effectLst/>
                          <a:latin typeface="+mn-ea"/>
                          <a:ea typeface="+mn-ea"/>
                        </a:rPr>
                        <a:t>+</a:t>
                      </a:r>
                      <a:r>
                        <a:rPr kumimoji="0" lang="zh-CN" altLang="en-US" sz="2000" b="1" u="none" strike="noStrike" cap="none" normalizeH="0" baseline="0" dirty="0">
                          <a:ln>
                            <a:noFill/>
                          </a:ln>
                          <a:effectLst/>
                          <a:latin typeface="+mn-ea"/>
                          <a:ea typeface="+mn-ea"/>
                        </a:rPr>
                        <a:t>公债利息</a:t>
                      </a:r>
                      <a:r>
                        <a:rPr kumimoji="0" lang="en-US" altLang="zh-CN" sz="2000" b="1" u="none" strike="noStrike" cap="none" normalizeH="0" baseline="0" dirty="0">
                          <a:ln>
                            <a:noFill/>
                          </a:ln>
                          <a:effectLst/>
                          <a:latin typeface="+mn-ea"/>
                          <a:ea typeface="+mn-ea"/>
                        </a:rPr>
                        <a:t>+</a:t>
                      </a:r>
                      <a:r>
                        <a:rPr kumimoji="0" lang="zh-CN" altLang="en-US" sz="2000" b="1" u="none" strike="noStrike" cap="none" normalizeH="0" baseline="0" dirty="0">
                          <a:ln>
                            <a:noFill/>
                          </a:ln>
                          <a:effectLst/>
                          <a:latin typeface="+mn-ea"/>
                          <a:ea typeface="+mn-ea"/>
                        </a:rPr>
                        <a:t>股利</a:t>
                      </a:r>
                      <a:endParaRPr kumimoji="0" lang="zh-CN" altLang="en-US" sz="2000" b="1" i="0" u="none" strike="noStrike" cap="none" normalizeH="0" baseline="0" dirty="0">
                        <a:ln>
                          <a:noFill/>
                        </a:ln>
                        <a:solidFill>
                          <a:schemeClr val="tx1"/>
                        </a:solidFill>
                        <a:effectLst/>
                        <a:latin typeface="+mn-ea"/>
                        <a:ea typeface="+mn-ea"/>
                      </a:endParaRPr>
                    </a:p>
                  </a:txBody>
                  <a:tcPr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zh-CN" altLang="en-US" sz="2000" b="1" u="none" strike="noStrike" cap="none" normalizeH="0" baseline="0" dirty="0">
                          <a:ln>
                            <a:noFill/>
                          </a:ln>
                          <a:effectLst/>
                          <a:latin typeface="+mn-ea"/>
                          <a:ea typeface="+mn-ea"/>
                        </a:rPr>
                        <a:t>个人所得税及非税收性支付 </a:t>
                      </a:r>
                    </a:p>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2000" b="1" i="0" u="none" strike="noStrike" cap="none" normalizeH="0" baseline="0" dirty="0">
                        <a:ln>
                          <a:noFill/>
                        </a:ln>
                        <a:solidFill>
                          <a:schemeClr val="tx1"/>
                        </a:solidFill>
                        <a:effectLst/>
                        <a:latin typeface="+mn-ea"/>
                        <a:ea typeface="+mn-ea"/>
                      </a:endParaRPr>
                    </a:p>
                  </a:txBody>
                  <a:tcPr anchor="ctr" horzOverflow="overflow"/>
                </a:tc>
                <a:extLst>
                  <a:ext uri="{0D108BD9-81ED-4DB2-BD59-A6C34878D82A}">
                    <a16:rowId xmlns="" xmlns:a16="http://schemas.microsoft.com/office/drawing/2014/main" val="10003"/>
                  </a:ext>
                </a:extLst>
              </a:tr>
              <a:tr h="1695895">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u="none" strike="noStrike" cap="none" normalizeH="0" baseline="0" dirty="0">
                          <a:ln>
                            <a:noFill/>
                          </a:ln>
                          <a:effectLst/>
                          <a:latin typeface="+mn-ea"/>
                          <a:ea typeface="+mn-ea"/>
                        </a:rPr>
                        <a:t>DPI=PI-</a:t>
                      </a:r>
                      <a:r>
                        <a:rPr kumimoji="0" lang="zh-CN" altLang="en-US" sz="2000" b="1" u="none" strike="noStrike" cap="none" normalizeH="0" baseline="0" dirty="0">
                          <a:ln>
                            <a:noFill/>
                          </a:ln>
                          <a:effectLst/>
                          <a:latin typeface="+mn-ea"/>
                          <a:ea typeface="+mn-ea"/>
                        </a:rPr>
                        <a:t>个人所得税及非税支付</a:t>
                      </a:r>
                      <a:endParaRPr kumimoji="0" lang="en-US" altLang="zh-CN" sz="2000" b="1" i="0" u="none" strike="noStrike" cap="none" normalizeH="0" baseline="0" dirty="0">
                        <a:ln>
                          <a:noFill/>
                        </a:ln>
                        <a:solidFill>
                          <a:schemeClr val="tx1"/>
                        </a:solidFill>
                        <a:effectLst/>
                        <a:latin typeface="+mn-ea"/>
                        <a:ea typeface="+mn-ea"/>
                      </a:endParaRPr>
                    </a:p>
                  </a:txBody>
                  <a:tcPr anchor="ctr" horzOverflow="overflow"/>
                </a:tc>
                <a:extLst>
                  <a:ext uri="{0D108BD9-81ED-4DB2-BD59-A6C34878D82A}">
                    <a16:rowId xmlns="" xmlns:a16="http://schemas.microsoft.com/office/drawing/2014/main" val="10004"/>
                  </a:ext>
                </a:extLst>
              </a:tr>
            </a:tbl>
          </a:graphicData>
        </a:graphic>
      </p:graphicFrame>
      <p:sp>
        <p:nvSpPr>
          <p:cNvPr id="3" name="文本框 2">
            <a:extLst>
              <a:ext uri="{FF2B5EF4-FFF2-40B4-BE49-F238E27FC236}">
                <a16:creationId xmlns="" xmlns:a16="http://schemas.microsoft.com/office/drawing/2014/main" id="{87E2BEE8-BE1C-450E-8607-AF94B5091C49}"/>
              </a:ext>
            </a:extLst>
          </p:cNvPr>
          <p:cNvSpPr txBox="1"/>
          <p:nvPr/>
        </p:nvSpPr>
        <p:spPr>
          <a:xfrm>
            <a:off x="139178" y="5963002"/>
            <a:ext cx="8472851" cy="461665"/>
          </a:xfrm>
          <a:prstGeom prst="rect">
            <a:avLst/>
          </a:prstGeom>
          <a:noFill/>
        </p:spPr>
        <p:txBody>
          <a:bodyPr wrap="square" rtlCol="0">
            <a:spAutoFit/>
          </a:bodyPr>
          <a:lstStyle/>
          <a:p>
            <a:r>
              <a:rPr lang="zh-CN" altLang="en-US" sz="2400" b="1" dirty="0">
                <a:solidFill>
                  <a:srgbClr val="003399"/>
                </a:solidFill>
                <a:latin typeface="+mn-ea"/>
              </a:rPr>
              <a:t>教材：表</a:t>
            </a:r>
            <a:r>
              <a:rPr lang="en-US" altLang="zh-CN" sz="2400" b="1" dirty="0">
                <a:solidFill>
                  <a:srgbClr val="003399"/>
                </a:solidFill>
                <a:latin typeface="+mn-ea"/>
              </a:rPr>
              <a:t>12-3 2012</a:t>
            </a:r>
            <a:r>
              <a:rPr lang="zh-CN" altLang="en-US" sz="2400" b="1" dirty="0">
                <a:solidFill>
                  <a:srgbClr val="003399"/>
                </a:solidFill>
                <a:latin typeface="+mn-ea"/>
              </a:rPr>
              <a:t>年美国从</a:t>
            </a:r>
            <a:r>
              <a:rPr lang="en-US" altLang="zh-CN" sz="2400" b="1" dirty="0">
                <a:solidFill>
                  <a:srgbClr val="003399"/>
                </a:solidFill>
                <a:latin typeface="+mn-ea"/>
              </a:rPr>
              <a:t>GDP</a:t>
            </a:r>
            <a:r>
              <a:rPr lang="zh-CN" altLang="en-US" sz="2400" b="1" dirty="0">
                <a:solidFill>
                  <a:srgbClr val="003399"/>
                </a:solidFill>
                <a:latin typeface="+mn-ea"/>
              </a:rPr>
              <a:t>到个人储蓄</a:t>
            </a:r>
          </a:p>
        </p:txBody>
      </p:sp>
    </p:spTree>
    <p:extLst>
      <p:ext uri="{BB962C8B-B14F-4D97-AF65-F5344CB8AC3E}">
        <p14:creationId xmlns:p14="http://schemas.microsoft.com/office/powerpoint/2010/main" val="1448037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iterate type="wd">
                                    <p:tmPct val="100000"/>
                                  </p:iterate>
                                  <p:childTnLst>
                                    <p:set>
                                      <p:cBhvr>
                                        <p:cTn id="6" dur="1" fill="hold">
                                          <p:stCondLst>
                                            <p:cond delay="0"/>
                                          </p:stCondLst>
                                        </p:cTn>
                                        <p:tgtEl>
                                          <p:spTgt spid="5"/>
                                        </p:tgtEl>
                                        <p:attrNameLst>
                                          <p:attrName>style.visibility</p:attrName>
                                        </p:attrNameLst>
                                      </p:cBhvr>
                                      <p:to>
                                        <p:strVal val="visible"/>
                                      </p:to>
                                    </p:set>
                                    <p:anim calcmode="lin" valueType="num">
                                      <p:cBhvr additive="base">
                                        <p:cTn id="7" dur="300" fill="hold"/>
                                        <p:tgtEl>
                                          <p:spTgt spid="5"/>
                                        </p:tgtEl>
                                        <p:attrNameLst>
                                          <p:attrName>ppt_x</p:attrName>
                                        </p:attrNameLst>
                                      </p:cBhvr>
                                      <p:tavLst>
                                        <p:tav tm="0">
                                          <p:val>
                                            <p:strVal val="#ppt_x"/>
                                          </p:val>
                                        </p:tav>
                                        <p:tav tm="100000">
                                          <p:val>
                                            <p:strVal val="#ppt_x"/>
                                          </p:val>
                                        </p:tav>
                                      </p:tavLst>
                                    </p:anim>
                                    <p:anim calcmode="lin" valueType="num">
                                      <p:cBhvr additive="base">
                                        <p:cTn id="8" dur="300" fill="hold"/>
                                        <p:tgtEl>
                                          <p:spTgt spid="5"/>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2">
            <a:extLst>
              <a:ext uri="{FF2B5EF4-FFF2-40B4-BE49-F238E27FC236}">
                <a16:creationId xmlns="" xmlns:a16="http://schemas.microsoft.com/office/drawing/2014/main" id="{1F146F05-AD9E-4B5E-ABE5-2E7EC50FF6D1}"/>
              </a:ext>
            </a:extLst>
          </p:cNvPr>
          <p:cNvSpPr>
            <a:spLocks noGrp="1" noChangeArrowheads="1"/>
          </p:cNvSpPr>
          <p:nvPr>
            <p:ph type="title"/>
          </p:nvPr>
        </p:nvSpPr>
        <p:spPr/>
        <p:txBody>
          <a:bodyPr>
            <a:normAutofit/>
          </a:bodyPr>
          <a:lstStyle/>
          <a:p>
            <a:pPr eaLnBrk="1" hangingPunct="1">
              <a:defRPr/>
            </a:pPr>
            <a:r>
              <a:rPr lang="zh-CN" altLang="en-US" sz="3200" dirty="0">
                <a:solidFill>
                  <a:srgbClr val="ED7D31"/>
                </a:solidFill>
              </a:rPr>
              <a:t>练习</a:t>
            </a:r>
          </a:p>
        </p:txBody>
      </p:sp>
      <p:sp>
        <p:nvSpPr>
          <p:cNvPr id="217092" name="Rectangle 4" descr="花束">
            <a:extLst>
              <a:ext uri="{FF2B5EF4-FFF2-40B4-BE49-F238E27FC236}">
                <a16:creationId xmlns="" xmlns:a16="http://schemas.microsoft.com/office/drawing/2014/main" id="{312BE03C-4C75-4DC5-93FB-8F7D81FCFF85}"/>
              </a:ext>
            </a:extLst>
          </p:cNvPr>
          <p:cNvSpPr>
            <a:spLocks noGrp="1" noChangeArrowheads="1"/>
          </p:cNvSpPr>
          <p:nvPr>
            <p:ph idx="1"/>
          </p:nvPr>
        </p:nvSpPr>
        <p:spPr>
          <a:xfrm>
            <a:off x="395287" y="1017839"/>
            <a:ext cx="3671887" cy="1066175"/>
          </a:xfrm>
          <a:ln/>
        </p:spPr>
        <p:style>
          <a:lnRef idx="2">
            <a:schemeClr val="accent1"/>
          </a:lnRef>
          <a:fillRef idx="1">
            <a:schemeClr val="lt1"/>
          </a:fillRef>
          <a:effectRef idx="0">
            <a:schemeClr val="accent1"/>
          </a:effectRef>
          <a:fontRef idx="minor">
            <a:schemeClr val="dk1"/>
          </a:fontRef>
        </p:style>
        <p:txBody>
          <a:bodyPr>
            <a:noAutofit/>
          </a:bodyPr>
          <a:lstStyle/>
          <a:p>
            <a:pPr marL="0" indent="0" defTabSz="457200">
              <a:lnSpc>
                <a:spcPct val="110000"/>
              </a:lnSpc>
              <a:spcBef>
                <a:spcPct val="0"/>
              </a:spcBef>
              <a:buClr>
                <a:srgbClr val="660033"/>
              </a:buClr>
              <a:buSzPct val="95000"/>
              <a:buNone/>
            </a:pPr>
            <a:r>
              <a:rPr lang="en-US" altLang="zh-CN" sz="2000" dirty="0">
                <a:solidFill>
                  <a:srgbClr val="101016"/>
                </a:solidFill>
                <a:latin typeface="Arial" panose="020B0604020202020204" pitchFamily="34" charset="0"/>
                <a:ea typeface="宋体" panose="02010600030101010101" pitchFamily="2" charset="-122"/>
              </a:rPr>
              <a:t> GDP</a:t>
            </a:r>
          </a:p>
          <a:p>
            <a:pPr marL="0" indent="0" defTabSz="457200">
              <a:lnSpc>
                <a:spcPct val="110000"/>
              </a:lnSpc>
              <a:spcBef>
                <a:spcPct val="0"/>
              </a:spcBef>
              <a:buClr>
                <a:srgbClr val="660033"/>
              </a:buClr>
              <a:buSzPct val="95000"/>
              <a:buNone/>
            </a:pPr>
            <a:r>
              <a:rPr lang="en-US" altLang="zh-CN" sz="2000" dirty="0">
                <a:solidFill>
                  <a:srgbClr val="101016"/>
                </a:solidFill>
                <a:latin typeface="Arial" panose="020B0604020202020204" pitchFamily="34" charset="0"/>
                <a:ea typeface="宋体" panose="02010600030101010101" pitchFamily="2" charset="-122"/>
              </a:rPr>
              <a:t>   </a:t>
            </a:r>
            <a:r>
              <a:rPr lang="zh-CN" altLang="en-US" sz="2000" dirty="0">
                <a:solidFill>
                  <a:srgbClr val="101016"/>
                </a:solidFill>
                <a:latin typeface="Arial" panose="020B0604020202020204" pitchFamily="34" charset="0"/>
                <a:ea typeface="宋体" panose="02010600030101010101" pitchFamily="2" charset="-122"/>
              </a:rPr>
              <a:t>－折旧</a:t>
            </a:r>
          </a:p>
          <a:p>
            <a:pPr marL="0" indent="0" defTabSz="457200">
              <a:lnSpc>
                <a:spcPct val="110000"/>
              </a:lnSpc>
              <a:spcBef>
                <a:spcPct val="0"/>
              </a:spcBef>
              <a:buClr>
                <a:srgbClr val="660033"/>
              </a:buClr>
              <a:buSzPct val="95000"/>
              <a:buNone/>
            </a:pPr>
            <a:r>
              <a:rPr lang="zh-CN" altLang="en-US" sz="2000" dirty="0">
                <a:solidFill>
                  <a:srgbClr val="101016"/>
                </a:solidFill>
                <a:latin typeface="Arial" panose="020B0604020202020204" pitchFamily="34" charset="0"/>
                <a:ea typeface="宋体" panose="02010600030101010101" pitchFamily="2" charset="-122"/>
              </a:rPr>
              <a:t> ＝</a:t>
            </a:r>
            <a:r>
              <a:rPr lang="en-US" altLang="zh-CN" sz="2000" dirty="0">
                <a:solidFill>
                  <a:srgbClr val="101016"/>
                </a:solidFill>
                <a:latin typeface="Arial" panose="020B0604020202020204" pitchFamily="34" charset="0"/>
                <a:ea typeface="宋体" panose="02010600030101010101" pitchFamily="2" charset="-122"/>
              </a:rPr>
              <a:t>NDP  </a:t>
            </a:r>
          </a:p>
        </p:txBody>
      </p:sp>
      <p:sp>
        <p:nvSpPr>
          <p:cNvPr id="217093" name="Rectangle 5">
            <a:extLst>
              <a:ext uri="{FF2B5EF4-FFF2-40B4-BE49-F238E27FC236}">
                <a16:creationId xmlns="" xmlns:a16="http://schemas.microsoft.com/office/drawing/2014/main" id="{3F1362A0-2E11-4544-84EA-31C80641FA38}"/>
              </a:ext>
            </a:extLst>
          </p:cNvPr>
          <p:cNvSpPr>
            <a:spLocks noChangeArrowheads="1"/>
          </p:cNvSpPr>
          <p:nvPr/>
        </p:nvSpPr>
        <p:spPr bwMode="auto">
          <a:xfrm>
            <a:off x="4178105" y="260350"/>
            <a:ext cx="4768947" cy="3024188"/>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20000"/>
              </a:spcBef>
              <a:buClr>
                <a:srgbClr val="FF0000"/>
              </a:buClr>
              <a:buFont typeface="Wingdings" panose="05000000000000000000" pitchFamily="2" charset="2"/>
              <a:buChar char="n"/>
            </a:pPr>
            <a:r>
              <a:rPr lang="zh-CN" altLang="en-US" dirty="0">
                <a:solidFill>
                  <a:srgbClr val="000000"/>
                </a:solidFill>
              </a:rPr>
              <a:t>某年某国的最终消费为</a:t>
            </a:r>
            <a:r>
              <a:rPr lang="en-US" altLang="zh-CN" dirty="0">
                <a:solidFill>
                  <a:srgbClr val="000000"/>
                </a:solidFill>
              </a:rPr>
              <a:t>8000</a:t>
            </a:r>
            <a:r>
              <a:rPr lang="zh-CN" altLang="en-US" dirty="0">
                <a:solidFill>
                  <a:srgbClr val="000000"/>
                </a:solidFill>
              </a:rPr>
              <a:t>亿元，国内私人投资</a:t>
            </a:r>
            <a:r>
              <a:rPr lang="en-US" altLang="zh-CN" dirty="0">
                <a:solidFill>
                  <a:srgbClr val="000000"/>
                </a:solidFill>
              </a:rPr>
              <a:t>5000</a:t>
            </a:r>
            <a:r>
              <a:rPr lang="zh-CN" altLang="en-US" dirty="0">
                <a:solidFill>
                  <a:srgbClr val="000000"/>
                </a:solidFill>
              </a:rPr>
              <a:t>亿元（其中</a:t>
            </a:r>
            <a:r>
              <a:rPr lang="en-US" altLang="zh-CN" dirty="0">
                <a:solidFill>
                  <a:srgbClr val="000000"/>
                </a:solidFill>
              </a:rPr>
              <a:t>500</a:t>
            </a:r>
            <a:r>
              <a:rPr lang="zh-CN" altLang="en-US" dirty="0">
                <a:solidFill>
                  <a:srgbClr val="000000"/>
                </a:solidFill>
              </a:rPr>
              <a:t>亿元为弥补当年消耗的固定资产），政府税收为</a:t>
            </a:r>
            <a:r>
              <a:rPr lang="en-US" altLang="zh-CN" dirty="0">
                <a:solidFill>
                  <a:srgbClr val="000000"/>
                </a:solidFill>
              </a:rPr>
              <a:t>3000</a:t>
            </a:r>
            <a:r>
              <a:rPr lang="zh-CN" altLang="en-US" dirty="0">
                <a:solidFill>
                  <a:srgbClr val="000000"/>
                </a:solidFill>
              </a:rPr>
              <a:t>亿元（其中间接税为</a:t>
            </a:r>
            <a:r>
              <a:rPr lang="en-US" altLang="zh-CN" dirty="0">
                <a:solidFill>
                  <a:srgbClr val="000000"/>
                </a:solidFill>
              </a:rPr>
              <a:t>2000</a:t>
            </a:r>
            <a:r>
              <a:rPr lang="zh-CN" altLang="en-US" dirty="0">
                <a:solidFill>
                  <a:srgbClr val="000000"/>
                </a:solidFill>
              </a:rPr>
              <a:t>亿元，其他为个人所得税），政府支出为</a:t>
            </a:r>
            <a:r>
              <a:rPr lang="en-US" altLang="zh-CN" dirty="0">
                <a:solidFill>
                  <a:srgbClr val="000000"/>
                </a:solidFill>
              </a:rPr>
              <a:t>3000</a:t>
            </a:r>
            <a:r>
              <a:rPr lang="zh-CN" altLang="en-US" dirty="0">
                <a:solidFill>
                  <a:srgbClr val="000000"/>
                </a:solidFill>
              </a:rPr>
              <a:t>亿元（其中政府购买为</a:t>
            </a:r>
            <a:r>
              <a:rPr lang="en-US" altLang="zh-CN" dirty="0">
                <a:solidFill>
                  <a:srgbClr val="000000"/>
                </a:solidFill>
              </a:rPr>
              <a:t>2500</a:t>
            </a:r>
            <a:r>
              <a:rPr lang="zh-CN" altLang="en-US" dirty="0">
                <a:solidFill>
                  <a:srgbClr val="000000"/>
                </a:solidFill>
              </a:rPr>
              <a:t>亿元、政府转移支付为</a:t>
            </a:r>
            <a:r>
              <a:rPr lang="en-US" altLang="zh-CN" dirty="0">
                <a:solidFill>
                  <a:srgbClr val="000000"/>
                </a:solidFill>
              </a:rPr>
              <a:t>500</a:t>
            </a:r>
            <a:r>
              <a:rPr lang="zh-CN" altLang="en-US" dirty="0">
                <a:solidFill>
                  <a:srgbClr val="000000"/>
                </a:solidFill>
              </a:rPr>
              <a:t>亿元），出口为</a:t>
            </a:r>
            <a:r>
              <a:rPr lang="en-US" altLang="zh-CN" dirty="0">
                <a:solidFill>
                  <a:srgbClr val="000000"/>
                </a:solidFill>
              </a:rPr>
              <a:t>2000</a:t>
            </a:r>
            <a:r>
              <a:rPr lang="zh-CN" altLang="en-US" dirty="0">
                <a:solidFill>
                  <a:srgbClr val="000000"/>
                </a:solidFill>
              </a:rPr>
              <a:t>亿元，进口为</a:t>
            </a:r>
            <a:r>
              <a:rPr lang="en-US" altLang="zh-CN" dirty="0">
                <a:solidFill>
                  <a:srgbClr val="000000"/>
                </a:solidFill>
              </a:rPr>
              <a:t>1500</a:t>
            </a:r>
            <a:r>
              <a:rPr lang="zh-CN" altLang="en-US" dirty="0">
                <a:solidFill>
                  <a:srgbClr val="000000"/>
                </a:solidFill>
              </a:rPr>
              <a:t>亿元。</a:t>
            </a:r>
          </a:p>
        </p:txBody>
      </p:sp>
      <p:sp>
        <p:nvSpPr>
          <p:cNvPr id="217094" name="Rectangle 6">
            <a:extLst>
              <a:ext uri="{FF2B5EF4-FFF2-40B4-BE49-F238E27FC236}">
                <a16:creationId xmlns="" xmlns:a16="http://schemas.microsoft.com/office/drawing/2014/main" id="{F869A487-9789-49B6-8801-94D78764EAEB}"/>
              </a:ext>
            </a:extLst>
          </p:cNvPr>
          <p:cNvSpPr>
            <a:spLocks noChangeArrowheads="1"/>
          </p:cNvSpPr>
          <p:nvPr/>
        </p:nvSpPr>
        <p:spPr bwMode="auto">
          <a:xfrm>
            <a:off x="4197717" y="3397348"/>
            <a:ext cx="4768946" cy="3024188"/>
          </a:xfrm>
          <a:prstGeom prst="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20000"/>
              </a:spcBef>
              <a:buClr>
                <a:srgbClr val="FF5050"/>
              </a:buClr>
              <a:buFont typeface="Wingdings" panose="05000000000000000000" pitchFamily="2" charset="2"/>
              <a:buBlip>
                <a:blip r:embed="rId2"/>
              </a:buBlip>
            </a:pPr>
            <a:r>
              <a:rPr lang="en-US" altLang="zh-CN" sz="1800" dirty="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GDP</a:t>
            </a:r>
          </a:p>
          <a:p>
            <a:pPr eaLnBrk="1" hangingPunct="1">
              <a:lnSpc>
                <a:spcPct val="90000"/>
              </a:lnSpc>
              <a:spcBef>
                <a:spcPct val="20000"/>
              </a:spcBef>
              <a:buClr>
                <a:srgbClr val="FF5050"/>
              </a:buClr>
              <a:buFont typeface="Wingdings" panose="05000000000000000000" pitchFamily="2" charset="2"/>
              <a:buNone/>
            </a:pPr>
            <a:r>
              <a:rPr lang="en-US" altLang="zh-CN" sz="18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=8000+5000+2500+2000-1500=16000</a:t>
            </a:r>
          </a:p>
          <a:p>
            <a:pPr eaLnBrk="1" hangingPunct="1">
              <a:lnSpc>
                <a:spcPct val="90000"/>
              </a:lnSpc>
              <a:spcBef>
                <a:spcPct val="20000"/>
              </a:spcBef>
              <a:buClr>
                <a:srgbClr val="FF5050"/>
              </a:buClr>
              <a:buFont typeface="Wingdings" panose="05000000000000000000" pitchFamily="2" charset="2"/>
              <a:buBlip>
                <a:blip r:embed="rId2"/>
              </a:buBlip>
            </a:pPr>
            <a:r>
              <a:rPr lang="en-US" altLang="zh-CN" sz="1800" dirty="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NDP</a:t>
            </a:r>
          </a:p>
          <a:p>
            <a:pPr eaLnBrk="1" hangingPunct="1">
              <a:lnSpc>
                <a:spcPct val="90000"/>
              </a:lnSpc>
              <a:spcBef>
                <a:spcPct val="20000"/>
              </a:spcBef>
              <a:buClr>
                <a:srgbClr val="FF5050"/>
              </a:buClr>
              <a:buFont typeface="Wingdings" panose="05000000000000000000" pitchFamily="2" charset="2"/>
              <a:buNone/>
            </a:pPr>
            <a:r>
              <a:rPr lang="en-US" altLang="zh-CN" sz="18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=16000-500=15500</a:t>
            </a:r>
          </a:p>
          <a:p>
            <a:pPr eaLnBrk="1" hangingPunct="1">
              <a:lnSpc>
                <a:spcPct val="90000"/>
              </a:lnSpc>
              <a:spcBef>
                <a:spcPct val="20000"/>
              </a:spcBef>
              <a:buClr>
                <a:srgbClr val="FF5050"/>
              </a:buClr>
              <a:buFont typeface="Wingdings" panose="05000000000000000000" pitchFamily="2" charset="2"/>
              <a:buBlip>
                <a:blip r:embed="rId2"/>
              </a:buBlip>
            </a:pPr>
            <a:r>
              <a:rPr lang="en-US" altLang="zh-CN" sz="1800" dirty="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NI</a:t>
            </a:r>
          </a:p>
          <a:p>
            <a:pPr eaLnBrk="1" hangingPunct="1">
              <a:lnSpc>
                <a:spcPct val="90000"/>
              </a:lnSpc>
              <a:spcBef>
                <a:spcPct val="20000"/>
              </a:spcBef>
              <a:buClr>
                <a:srgbClr val="FF5050"/>
              </a:buClr>
              <a:buFont typeface="Wingdings" panose="05000000000000000000" pitchFamily="2" charset="2"/>
              <a:buNone/>
            </a:pPr>
            <a:r>
              <a:rPr lang="en-US" altLang="zh-CN" sz="18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=15500-2000=13500</a:t>
            </a:r>
          </a:p>
          <a:p>
            <a:pPr eaLnBrk="1" hangingPunct="1">
              <a:lnSpc>
                <a:spcPct val="90000"/>
              </a:lnSpc>
              <a:spcBef>
                <a:spcPct val="20000"/>
              </a:spcBef>
              <a:buClr>
                <a:srgbClr val="FF5050"/>
              </a:buClr>
              <a:buFont typeface="Wingdings" panose="05000000000000000000" pitchFamily="2" charset="2"/>
              <a:buBlip>
                <a:blip r:embed="rId2"/>
              </a:buBlip>
            </a:pPr>
            <a:r>
              <a:rPr lang="en-US" altLang="zh-CN" sz="1800" dirty="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PI</a:t>
            </a:r>
          </a:p>
          <a:p>
            <a:pPr eaLnBrk="1" hangingPunct="1">
              <a:lnSpc>
                <a:spcPct val="90000"/>
              </a:lnSpc>
              <a:spcBef>
                <a:spcPct val="20000"/>
              </a:spcBef>
              <a:buClr>
                <a:srgbClr val="FF5050"/>
              </a:buClr>
              <a:buFont typeface="Wingdings" panose="05000000000000000000" pitchFamily="2" charset="2"/>
              <a:buNone/>
            </a:pPr>
            <a:r>
              <a:rPr lang="en-US" altLang="zh-CN" sz="18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=13500+500=14000 </a:t>
            </a:r>
          </a:p>
          <a:p>
            <a:pPr eaLnBrk="1" hangingPunct="1">
              <a:lnSpc>
                <a:spcPct val="90000"/>
              </a:lnSpc>
              <a:spcBef>
                <a:spcPct val="20000"/>
              </a:spcBef>
              <a:buClr>
                <a:srgbClr val="FF5050"/>
              </a:buClr>
              <a:buFont typeface="Wingdings" panose="05000000000000000000" pitchFamily="2" charset="2"/>
              <a:buBlip>
                <a:blip r:embed="rId2"/>
              </a:buBlip>
            </a:pPr>
            <a:r>
              <a:rPr lang="en-US" altLang="zh-CN" sz="1800" dirty="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DPI</a:t>
            </a:r>
          </a:p>
          <a:p>
            <a:pPr eaLnBrk="1" hangingPunct="1">
              <a:lnSpc>
                <a:spcPct val="90000"/>
              </a:lnSpc>
              <a:spcBef>
                <a:spcPct val="20000"/>
              </a:spcBef>
              <a:buClr>
                <a:srgbClr val="FF5050"/>
              </a:buClr>
              <a:buFont typeface="Wingdings" panose="05000000000000000000" pitchFamily="2" charset="2"/>
              <a:buNone/>
            </a:pPr>
            <a:r>
              <a:rPr lang="en-US" altLang="zh-CN" sz="18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=14000-</a:t>
            </a:r>
            <a:r>
              <a:rPr lang="zh-CN" altLang="en-US" sz="18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18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3000-2000</a:t>
            </a:r>
            <a:r>
              <a:rPr lang="zh-CN" altLang="en-US" sz="18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18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=13000</a:t>
            </a:r>
            <a:endParaRPr lang="en-US" altLang="zh-CN" sz="1800" dirty="0">
              <a:solidFill>
                <a:srgbClr val="101016"/>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17097" name="Rectangle 9" descr="花束">
            <a:extLst>
              <a:ext uri="{FF2B5EF4-FFF2-40B4-BE49-F238E27FC236}">
                <a16:creationId xmlns="" xmlns:a16="http://schemas.microsoft.com/office/drawing/2014/main" id="{2DB3DE72-8CE8-48F6-8302-E33783CDB24F}"/>
              </a:ext>
            </a:extLst>
          </p:cNvPr>
          <p:cNvSpPr>
            <a:spLocks noChangeArrowheads="1"/>
          </p:cNvSpPr>
          <p:nvPr/>
        </p:nvSpPr>
        <p:spPr bwMode="auto">
          <a:xfrm>
            <a:off x="395287" y="2084209"/>
            <a:ext cx="3671887" cy="1200329"/>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buClr>
                <a:srgbClr val="660033"/>
              </a:buClr>
            </a:pPr>
            <a:r>
              <a:rPr lang="en-US" altLang="zh-CN" dirty="0">
                <a:solidFill>
                  <a:srgbClr val="101016"/>
                </a:solidFill>
              </a:rPr>
              <a:t>NDP</a:t>
            </a:r>
          </a:p>
          <a:p>
            <a:pPr eaLnBrk="1" hangingPunct="1">
              <a:lnSpc>
                <a:spcPct val="90000"/>
              </a:lnSpc>
              <a:buClr>
                <a:srgbClr val="660033"/>
              </a:buClr>
            </a:pPr>
            <a:r>
              <a:rPr lang="en-US" altLang="zh-CN" dirty="0">
                <a:solidFill>
                  <a:srgbClr val="101016"/>
                </a:solidFill>
              </a:rPr>
              <a:t>   </a:t>
            </a:r>
            <a:r>
              <a:rPr lang="zh-CN" altLang="en-US" dirty="0">
                <a:solidFill>
                  <a:srgbClr val="101016"/>
                </a:solidFill>
              </a:rPr>
              <a:t>－间接税－企业转移支付</a:t>
            </a:r>
          </a:p>
          <a:p>
            <a:pPr eaLnBrk="1" hangingPunct="1">
              <a:lnSpc>
                <a:spcPct val="90000"/>
              </a:lnSpc>
              <a:buClr>
                <a:srgbClr val="660033"/>
              </a:buClr>
            </a:pPr>
            <a:r>
              <a:rPr lang="zh-CN" altLang="en-US" dirty="0">
                <a:solidFill>
                  <a:srgbClr val="101016"/>
                </a:solidFill>
              </a:rPr>
              <a:t>   ＋政府补助</a:t>
            </a:r>
          </a:p>
          <a:p>
            <a:pPr eaLnBrk="1" hangingPunct="1">
              <a:lnSpc>
                <a:spcPct val="90000"/>
              </a:lnSpc>
              <a:buClr>
                <a:srgbClr val="660033"/>
              </a:buClr>
            </a:pPr>
            <a:r>
              <a:rPr lang="zh-CN" altLang="en-US" dirty="0">
                <a:solidFill>
                  <a:srgbClr val="101016"/>
                </a:solidFill>
              </a:rPr>
              <a:t>＝</a:t>
            </a:r>
            <a:r>
              <a:rPr lang="en-US" altLang="zh-CN" dirty="0">
                <a:solidFill>
                  <a:srgbClr val="101016"/>
                </a:solidFill>
              </a:rPr>
              <a:t>NI  </a:t>
            </a:r>
          </a:p>
        </p:txBody>
      </p:sp>
      <p:sp>
        <p:nvSpPr>
          <p:cNvPr id="217098" name="Rectangle 10" descr="花束">
            <a:extLst>
              <a:ext uri="{FF2B5EF4-FFF2-40B4-BE49-F238E27FC236}">
                <a16:creationId xmlns="" xmlns:a16="http://schemas.microsoft.com/office/drawing/2014/main" id="{96B74CAB-CC9C-49EF-B0B7-87921718CBDD}"/>
              </a:ext>
            </a:extLst>
          </p:cNvPr>
          <p:cNvSpPr>
            <a:spLocks noChangeArrowheads="1"/>
          </p:cNvSpPr>
          <p:nvPr/>
        </p:nvSpPr>
        <p:spPr bwMode="auto">
          <a:xfrm>
            <a:off x="395287" y="3274806"/>
            <a:ext cx="3671887" cy="2031325"/>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buClr>
                <a:srgbClr val="660033"/>
              </a:buClr>
            </a:pPr>
            <a:r>
              <a:rPr lang="en-US" altLang="zh-CN" dirty="0">
                <a:solidFill>
                  <a:srgbClr val="101016"/>
                </a:solidFill>
              </a:rPr>
              <a:t>NI</a:t>
            </a:r>
          </a:p>
          <a:p>
            <a:pPr eaLnBrk="1" hangingPunct="1">
              <a:lnSpc>
                <a:spcPct val="90000"/>
              </a:lnSpc>
              <a:buClr>
                <a:srgbClr val="660033"/>
              </a:buClr>
            </a:pPr>
            <a:r>
              <a:rPr lang="en-US" altLang="zh-CN" dirty="0">
                <a:solidFill>
                  <a:srgbClr val="101016"/>
                </a:solidFill>
              </a:rPr>
              <a:t>  </a:t>
            </a:r>
            <a:r>
              <a:rPr lang="zh-CN" altLang="en-US" dirty="0">
                <a:solidFill>
                  <a:srgbClr val="101016"/>
                </a:solidFill>
              </a:rPr>
              <a:t>－企业所得税－社会保险税</a:t>
            </a:r>
          </a:p>
          <a:p>
            <a:pPr eaLnBrk="1" hangingPunct="1">
              <a:lnSpc>
                <a:spcPct val="90000"/>
              </a:lnSpc>
              <a:buClr>
                <a:srgbClr val="660033"/>
              </a:buClr>
            </a:pPr>
            <a:r>
              <a:rPr lang="zh-CN" altLang="en-US" dirty="0">
                <a:solidFill>
                  <a:srgbClr val="101016"/>
                </a:solidFill>
              </a:rPr>
              <a:t>  －公司未分配利润</a:t>
            </a:r>
          </a:p>
          <a:p>
            <a:pPr eaLnBrk="1" hangingPunct="1">
              <a:lnSpc>
                <a:spcPct val="90000"/>
              </a:lnSpc>
              <a:buClr>
                <a:srgbClr val="660033"/>
              </a:buClr>
            </a:pPr>
            <a:r>
              <a:rPr lang="zh-CN" altLang="en-US" dirty="0">
                <a:solidFill>
                  <a:srgbClr val="101016"/>
                </a:solidFill>
              </a:rPr>
              <a:t>  ＋转移支付</a:t>
            </a:r>
          </a:p>
          <a:p>
            <a:pPr eaLnBrk="1" hangingPunct="1">
              <a:lnSpc>
                <a:spcPct val="90000"/>
              </a:lnSpc>
              <a:buClr>
                <a:srgbClr val="660033"/>
              </a:buClr>
            </a:pPr>
            <a:r>
              <a:rPr lang="zh-CN" altLang="en-US" dirty="0">
                <a:solidFill>
                  <a:srgbClr val="101016"/>
                </a:solidFill>
              </a:rPr>
              <a:t>  ＋公债利息</a:t>
            </a:r>
            <a:endParaRPr lang="en-US" altLang="zh-CN" dirty="0">
              <a:solidFill>
                <a:srgbClr val="101016"/>
              </a:solidFill>
            </a:endParaRPr>
          </a:p>
          <a:p>
            <a:pPr>
              <a:lnSpc>
                <a:spcPct val="90000"/>
              </a:lnSpc>
              <a:buClr>
                <a:srgbClr val="660033"/>
              </a:buClr>
            </a:pPr>
            <a:r>
              <a:rPr lang="en-US" altLang="zh-CN" b="0" dirty="0">
                <a:solidFill>
                  <a:srgbClr val="101016"/>
                </a:solidFill>
              </a:rPr>
              <a:t>  </a:t>
            </a:r>
            <a:r>
              <a:rPr lang="zh-CN" altLang="en-US" dirty="0">
                <a:solidFill>
                  <a:srgbClr val="101016"/>
                </a:solidFill>
              </a:rPr>
              <a:t>＋股利</a:t>
            </a:r>
          </a:p>
          <a:p>
            <a:pPr eaLnBrk="1" hangingPunct="1">
              <a:lnSpc>
                <a:spcPct val="90000"/>
              </a:lnSpc>
              <a:buClr>
                <a:srgbClr val="660033"/>
              </a:buClr>
            </a:pPr>
            <a:r>
              <a:rPr lang="zh-CN" altLang="en-US" dirty="0">
                <a:solidFill>
                  <a:srgbClr val="101016"/>
                </a:solidFill>
              </a:rPr>
              <a:t>＝</a:t>
            </a:r>
            <a:r>
              <a:rPr lang="en-US" altLang="zh-CN" dirty="0">
                <a:solidFill>
                  <a:srgbClr val="101016"/>
                </a:solidFill>
              </a:rPr>
              <a:t>PI   </a:t>
            </a:r>
          </a:p>
        </p:txBody>
      </p:sp>
      <p:sp>
        <p:nvSpPr>
          <p:cNvPr id="217099" name="Rectangle 11" descr="花束">
            <a:extLst>
              <a:ext uri="{FF2B5EF4-FFF2-40B4-BE49-F238E27FC236}">
                <a16:creationId xmlns="" xmlns:a16="http://schemas.microsoft.com/office/drawing/2014/main" id="{87DB266D-8F8A-43E5-9B58-ACA4E605BC1C}"/>
              </a:ext>
            </a:extLst>
          </p:cNvPr>
          <p:cNvSpPr>
            <a:spLocks noChangeArrowheads="1"/>
          </p:cNvSpPr>
          <p:nvPr/>
        </p:nvSpPr>
        <p:spPr bwMode="auto">
          <a:xfrm>
            <a:off x="395286" y="5378496"/>
            <a:ext cx="3671887" cy="923330"/>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buClr>
                <a:srgbClr val="660033"/>
              </a:buClr>
            </a:pPr>
            <a:r>
              <a:rPr lang="en-US" altLang="zh-CN" dirty="0">
                <a:solidFill>
                  <a:srgbClr val="101016"/>
                </a:solidFill>
              </a:rPr>
              <a:t>PI </a:t>
            </a:r>
          </a:p>
          <a:p>
            <a:pPr eaLnBrk="1" hangingPunct="1">
              <a:lnSpc>
                <a:spcPct val="90000"/>
              </a:lnSpc>
              <a:buClr>
                <a:srgbClr val="660033"/>
              </a:buClr>
            </a:pPr>
            <a:r>
              <a:rPr lang="en-US" altLang="zh-CN" dirty="0">
                <a:solidFill>
                  <a:srgbClr val="101016"/>
                </a:solidFill>
              </a:rPr>
              <a:t>  </a:t>
            </a:r>
            <a:r>
              <a:rPr lang="zh-CN" altLang="en-US" dirty="0">
                <a:solidFill>
                  <a:srgbClr val="101016"/>
                </a:solidFill>
              </a:rPr>
              <a:t>－个人所得税及非税支出</a:t>
            </a:r>
          </a:p>
          <a:p>
            <a:pPr eaLnBrk="1" hangingPunct="1">
              <a:lnSpc>
                <a:spcPct val="90000"/>
              </a:lnSpc>
              <a:buClr>
                <a:srgbClr val="660033"/>
              </a:buClr>
            </a:pPr>
            <a:r>
              <a:rPr lang="zh-CN" altLang="en-US" dirty="0">
                <a:solidFill>
                  <a:srgbClr val="101016"/>
                </a:solidFill>
              </a:rPr>
              <a:t>＝</a:t>
            </a:r>
            <a:r>
              <a:rPr lang="en-US" altLang="zh-CN" dirty="0">
                <a:solidFill>
                  <a:srgbClr val="101016"/>
                </a:solidFill>
              </a:rPr>
              <a:t>DPI</a:t>
            </a:r>
          </a:p>
        </p:txBody>
      </p:sp>
    </p:spTree>
    <p:extLst>
      <p:ext uri="{BB962C8B-B14F-4D97-AF65-F5344CB8AC3E}">
        <p14:creationId xmlns:p14="http://schemas.microsoft.com/office/powerpoint/2010/main" val="328625383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17092">
                                            <p:bg/>
                                          </p:spTgt>
                                        </p:tgtEl>
                                        <p:attrNameLst>
                                          <p:attrName>style.visibility</p:attrName>
                                        </p:attrNameLst>
                                      </p:cBhvr>
                                      <p:to>
                                        <p:strVal val="visible"/>
                                      </p:to>
                                    </p:set>
                                    <p:animEffect transition="in" filter="blinds(horizontal)">
                                      <p:cBhvr>
                                        <p:cTn id="7" dur="500"/>
                                        <p:tgtEl>
                                          <p:spTgt spid="217092">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17092">
                                            <p:txEl>
                                              <p:pRg st="0" end="0"/>
                                            </p:txEl>
                                          </p:spTgt>
                                        </p:tgtEl>
                                        <p:attrNameLst>
                                          <p:attrName>style.visibility</p:attrName>
                                        </p:attrNameLst>
                                      </p:cBhvr>
                                      <p:to>
                                        <p:strVal val="visible"/>
                                      </p:to>
                                    </p:set>
                                    <p:animEffect transition="in" filter="blinds(horizontal)">
                                      <p:cBhvr>
                                        <p:cTn id="12" dur="500"/>
                                        <p:tgtEl>
                                          <p:spTgt spid="21709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17092">
                                            <p:txEl>
                                              <p:pRg st="1" end="1"/>
                                            </p:txEl>
                                          </p:spTgt>
                                        </p:tgtEl>
                                        <p:attrNameLst>
                                          <p:attrName>style.visibility</p:attrName>
                                        </p:attrNameLst>
                                      </p:cBhvr>
                                      <p:to>
                                        <p:strVal val="visible"/>
                                      </p:to>
                                    </p:set>
                                    <p:animEffect transition="in" filter="blinds(horizontal)">
                                      <p:cBhvr>
                                        <p:cTn id="17" dur="500"/>
                                        <p:tgtEl>
                                          <p:spTgt spid="217092">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17092">
                                            <p:txEl>
                                              <p:pRg st="2" end="2"/>
                                            </p:txEl>
                                          </p:spTgt>
                                        </p:tgtEl>
                                        <p:attrNameLst>
                                          <p:attrName>style.visibility</p:attrName>
                                        </p:attrNameLst>
                                      </p:cBhvr>
                                      <p:to>
                                        <p:strVal val="visible"/>
                                      </p:to>
                                    </p:set>
                                    <p:animEffect transition="in" filter="blinds(horizontal)">
                                      <p:cBhvr>
                                        <p:cTn id="22" dur="500"/>
                                        <p:tgtEl>
                                          <p:spTgt spid="217092">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17097">
                                            <p:bg/>
                                          </p:spTgt>
                                        </p:tgtEl>
                                        <p:attrNameLst>
                                          <p:attrName>style.visibility</p:attrName>
                                        </p:attrNameLst>
                                      </p:cBhvr>
                                      <p:to>
                                        <p:strVal val="visible"/>
                                      </p:to>
                                    </p:set>
                                    <p:animEffect transition="in" filter="blinds(horizontal)">
                                      <p:cBhvr>
                                        <p:cTn id="27" dur="500"/>
                                        <p:tgtEl>
                                          <p:spTgt spid="217097">
                                            <p:bg/>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17097">
                                            <p:txEl>
                                              <p:pRg st="0" end="0"/>
                                            </p:txEl>
                                          </p:spTgt>
                                        </p:tgtEl>
                                        <p:attrNameLst>
                                          <p:attrName>style.visibility</p:attrName>
                                        </p:attrNameLst>
                                      </p:cBhvr>
                                      <p:to>
                                        <p:strVal val="visible"/>
                                      </p:to>
                                    </p:set>
                                    <p:animEffect transition="in" filter="blinds(horizontal)">
                                      <p:cBhvr>
                                        <p:cTn id="32" dur="500"/>
                                        <p:tgtEl>
                                          <p:spTgt spid="217097">
                                            <p:txEl>
                                              <p:pRg st="0" end="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17097">
                                            <p:txEl>
                                              <p:pRg st="1" end="1"/>
                                            </p:txEl>
                                          </p:spTgt>
                                        </p:tgtEl>
                                        <p:attrNameLst>
                                          <p:attrName>style.visibility</p:attrName>
                                        </p:attrNameLst>
                                      </p:cBhvr>
                                      <p:to>
                                        <p:strVal val="visible"/>
                                      </p:to>
                                    </p:set>
                                    <p:animEffect transition="in" filter="blinds(horizontal)">
                                      <p:cBhvr>
                                        <p:cTn id="37" dur="500"/>
                                        <p:tgtEl>
                                          <p:spTgt spid="217097">
                                            <p:txEl>
                                              <p:pRg st="1" end="1"/>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17097">
                                            <p:txEl>
                                              <p:pRg st="2" end="2"/>
                                            </p:txEl>
                                          </p:spTgt>
                                        </p:tgtEl>
                                        <p:attrNameLst>
                                          <p:attrName>style.visibility</p:attrName>
                                        </p:attrNameLst>
                                      </p:cBhvr>
                                      <p:to>
                                        <p:strVal val="visible"/>
                                      </p:to>
                                    </p:set>
                                    <p:animEffect transition="in" filter="blinds(horizontal)">
                                      <p:cBhvr>
                                        <p:cTn id="42" dur="500"/>
                                        <p:tgtEl>
                                          <p:spTgt spid="217097">
                                            <p:txEl>
                                              <p:pRg st="2" end="2"/>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17097">
                                            <p:txEl>
                                              <p:pRg st="3" end="3"/>
                                            </p:txEl>
                                          </p:spTgt>
                                        </p:tgtEl>
                                        <p:attrNameLst>
                                          <p:attrName>style.visibility</p:attrName>
                                        </p:attrNameLst>
                                      </p:cBhvr>
                                      <p:to>
                                        <p:strVal val="visible"/>
                                      </p:to>
                                    </p:set>
                                    <p:animEffect transition="in" filter="blinds(horizontal)">
                                      <p:cBhvr>
                                        <p:cTn id="47" dur="500"/>
                                        <p:tgtEl>
                                          <p:spTgt spid="217097">
                                            <p:txEl>
                                              <p:pRg st="3" end="3"/>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17098">
                                            <p:bg/>
                                          </p:spTgt>
                                        </p:tgtEl>
                                        <p:attrNameLst>
                                          <p:attrName>style.visibility</p:attrName>
                                        </p:attrNameLst>
                                      </p:cBhvr>
                                      <p:to>
                                        <p:strVal val="visible"/>
                                      </p:to>
                                    </p:set>
                                    <p:animEffect transition="in" filter="blinds(horizontal)">
                                      <p:cBhvr>
                                        <p:cTn id="52" dur="500"/>
                                        <p:tgtEl>
                                          <p:spTgt spid="217098">
                                            <p:bg/>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17098">
                                            <p:txEl>
                                              <p:pRg st="0" end="0"/>
                                            </p:txEl>
                                          </p:spTgt>
                                        </p:tgtEl>
                                        <p:attrNameLst>
                                          <p:attrName>style.visibility</p:attrName>
                                        </p:attrNameLst>
                                      </p:cBhvr>
                                      <p:to>
                                        <p:strVal val="visible"/>
                                      </p:to>
                                    </p:set>
                                    <p:animEffect transition="in" filter="blinds(horizontal)">
                                      <p:cBhvr>
                                        <p:cTn id="57" dur="500"/>
                                        <p:tgtEl>
                                          <p:spTgt spid="217098">
                                            <p:txEl>
                                              <p:pRg st="0" end="0"/>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217098">
                                            <p:txEl>
                                              <p:pRg st="1" end="1"/>
                                            </p:txEl>
                                          </p:spTgt>
                                        </p:tgtEl>
                                        <p:attrNameLst>
                                          <p:attrName>style.visibility</p:attrName>
                                        </p:attrNameLst>
                                      </p:cBhvr>
                                      <p:to>
                                        <p:strVal val="visible"/>
                                      </p:to>
                                    </p:set>
                                    <p:animEffect transition="in" filter="blinds(horizontal)">
                                      <p:cBhvr>
                                        <p:cTn id="62" dur="500"/>
                                        <p:tgtEl>
                                          <p:spTgt spid="217098">
                                            <p:txEl>
                                              <p:pRg st="1" end="1"/>
                                            </p:txEl>
                                          </p:spTgt>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217098">
                                            <p:txEl>
                                              <p:pRg st="2" end="2"/>
                                            </p:txEl>
                                          </p:spTgt>
                                        </p:tgtEl>
                                        <p:attrNameLst>
                                          <p:attrName>style.visibility</p:attrName>
                                        </p:attrNameLst>
                                      </p:cBhvr>
                                      <p:to>
                                        <p:strVal val="visible"/>
                                      </p:to>
                                    </p:set>
                                    <p:animEffect transition="in" filter="blinds(horizontal)">
                                      <p:cBhvr>
                                        <p:cTn id="67" dur="500"/>
                                        <p:tgtEl>
                                          <p:spTgt spid="217098">
                                            <p:txEl>
                                              <p:pRg st="2" end="2"/>
                                            </p:txEl>
                                          </p:spTgt>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217098">
                                            <p:txEl>
                                              <p:pRg st="3" end="3"/>
                                            </p:txEl>
                                          </p:spTgt>
                                        </p:tgtEl>
                                        <p:attrNameLst>
                                          <p:attrName>style.visibility</p:attrName>
                                        </p:attrNameLst>
                                      </p:cBhvr>
                                      <p:to>
                                        <p:strVal val="visible"/>
                                      </p:to>
                                    </p:set>
                                    <p:animEffect transition="in" filter="blinds(horizontal)">
                                      <p:cBhvr>
                                        <p:cTn id="72" dur="500"/>
                                        <p:tgtEl>
                                          <p:spTgt spid="217098">
                                            <p:txEl>
                                              <p:pRg st="3" end="3"/>
                                            </p:txEl>
                                          </p:spTgt>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217098">
                                            <p:txEl>
                                              <p:pRg st="4" end="4"/>
                                            </p:txEl>
                                          </p:spTgt>
                                        </p:tgtEl>
                                        <p:attrNameLst>
                                          <p:attrName>style.visibility</p:attrName>
                                        </p:attrNameLst>
                                      </p:cBhvr>
                                      <p:to>
                                        <p:strVal val="visible"/>
                                      </p:to>
                                    </p:set>
                                    <p:animEffect transition="in" filter="blinds(horizontal)">
                                      <p:cBhvr>
                                        <p:cTn id="77" dur="500"/>
                                        <p:tgtEl>
                                          <p:spTgt spid="217098">
                                            <p:txEl>
                                              <p:pRg st="4" end="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217098">
                                            <p:txEl>
                                              <p:pRg st="5" end="5"/>
                                            </p:txEl>
                                          </p:spTgt>
                                        </p:tgtEl>
                                        <p:attrNameLst>
                                          <p:attrName>style.visibility</p:attrName>
                                        </p:attrNameLst>
                                      </p:cBhvr>
                                      <p:to>
                                        <p:strVal val="visible"/>
                                      </p:to>
                                    </p:set>
                                    <p:animEffect transition="in" filter="blinds(horizontal)">
                                      <p:cBhvr>
                                        <p:cTn id="82" dur="500"/>
                                        <p:tgtEl>
                                          <p:spTgt spid="217098">
                                            <p:txEl>
                                              <p:pRg st="5" end="5"/>
                                            </p:txEl>
                                          </p:spTgt>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3" presetClass="entr" presetSubtype="10" fill="hold" grpId="0" nodeType="clickEffect">
                                  <p:stCondLst>
                                    <p:cond delay="0"/>
                                  </p:stCondLst>
                                  <p:childTnLst>
                                    <p:set>
                                      <p:cBhvr>
                                        <p:cTn id="86" dur="1" fill="hold">
                                          <p:stCondLst>
                                            <p:cond delay="0"/>
                                          </p:stCondLst>
                                        </p:cTn>
                                        <p:tgtEl>
                                          <p:spTgt spid="217098">
                                            <p:txEl>
                                              <p:pRg st="6" end="6"/>
                                            </p:txEl>
                                          </p:spTgt>
                                        </p:tgtEl>
                                        <p:attrNameLst>
                                          <p:attrName>style.visibility</p:attrName>
                                        </p:attrNameLst>
                                      </p:cBhvr>
                                      <p:to>
                                        <p:strVal val="visible"/>
                                      </p:to>
                                    </p:set>
                                    <p:animEffect transition="in" filter="blinds(horizontal)">
                                      <p:cBhvr>
                                        <p:cTn id="87" dur="500"/>
                                        <p:tgtEl>
                                          <p:spTgt spid="217098">
                                            <p:txEl>
                                              <p:pRg st="6" end="6"/>
                                            </p:txEl>
                                          </p:spTgt>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3" presetClass="entr" presetSubtype="10" fill="hold" grpId="0" nodeType="clickEffect">
                                  <p:stCondLst>
                                    <p:cond delay="0"/>
                                  </p:stCondLst>
                                  <p:childTnLst>
                                    <p:set>
                                      <p:cBhvr>
                                        <p:cTn id="91" dur="1" fill="hold">
                                          <p:stCondLst>
                                            <p:cond delay="0"/>
                                          </p:stCondLst>
                                        </p:cTn>
                                        <p:tgtEl>
                                          <p:spTgt spid="217099">
                                            <p:bg/>
                                          </p:spTgt>
                                        </p:tgtEl>
                                        <p:attrNameLst>
                                          <p:attrName>style.visibility</p:attrName>
                                        </p:attrNameLst>
                                      </p:cBhvr>
                                      <p:to>
                                        <p:strVal val="visible"/>
                                      </p:to>
                                    </p:set>
                                    <p:animEffect transition="in" filter="blinds(horizontal)">
                                      <p:cBhvr>
                                        <p:cTn id="92" dur="500"/>
                                        <p:tgtEl>
                                          <p:spTgt spid="217099">
                                            <p:bg/>
                                          </p:spTgt>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3" presetClass="entr" presetSubtype="10" fill="hold" grpId="0" nodeType="clickEffect">
                                  <p:stCondLst>
                                    <p:cond delay="0"/>
                                  </p:stCondLst>
                                  <p:childTnLst>
                                    <p:set>
                                      <p:cBhvr>
                                        <p:cTn id="96" dur="1" fill="hold">
                                          <p:stCondLst>
                                            <p:cond delay="0"/>
                                          </p:stCondLst>
                                        </p:cTn>
                                        <p:tgtEl>
                                          <p:spTgt spid="217099">
                                            <p:txEl>
                                              <p:pRg st="0" end="0"/>
                                            </p:txEl>
                                          </p:spTgt>
                                        </p:tgtEl>
                                        <p:attrNameLst>
                                          <p:attrName>style.visibility</p:attrName>
                                        </p:attrNameLst>
                                      </p:cBhvr>
                                      <p:to>
                                        <p:strVal val="visible"/>
                                      </p:to>
                                    </p:set>
                                    <p:animEffect transition="in" filter="blinds(horizontal)">
                                      <p:cBhvr>
                                        <p:cTn id="97" dur="500"/>
                                        <p:tgtEl>
                                          <p:spTgt spid="217099">
                                            <p:txEl>
                                              <p:pRg st="0" end="0"/>
                                            </p:txEl>
                                          </p:spTgt>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3" presetClass="entr" presetSubtype="10" fill="hold" grpId="0" nodeType="clickEffect">
                                  <p:stCondLst>
                                    <p:cond delay="0"/>
                                  </p:stCondLst>
                                  <p:childTnLst>
                                    <p:set>
                                      <p:cBhvr>
                                        <p:cTn id="101" dur="1" fill="hold">
                                          <p:stCondLst>
                                            <p:cond delay="0"/>
                                          </p:stCondLst>
                                        </p:cTn>
                                        <p:tgtEl>
                                          <p:spTgt spid="217099">
                                            <p:txEl>
                                              <p:pRg st="1" end="1"/>
                                            </p:txEl>
                                          </p:spTgt>
                                        </p:tgtEl>
                                        <p:attrNameLst>
                                          <p:attrName>style.visibility</p:attrName>
                                        </p:attrNameLst>
                                      </p:cBhvr>
                                      <p:to>
                                        <p:strVal val="visible"/>
                                      </p:to>
                                    </p:set>
                                    <p:animEffect transition="in" filter="blinds(horizontal)">
                                      <p:cBhvr>
                                        <p:cTn id="102" dur="500"/>
                                        <p:tgtEl>
                                          <p:spTgt spid="217099">
                                            <p:txEl>
                                              <p:pRg st="1" end="1"/>
                                            </p:txEl>
                                          </p:spTgt>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3" presetClass="entr" presetSubtype="10" fill="hold" grpId="0" nodeType="clickEffect">
                                  <p:stCondLst>
                                    <p:cond delay="0"/>
                                  </p:stCondLst>
                                  <p:childTnLst>
                                    <p:set>
                                      <p:cBhvr>
                                        <p:cTn id="106" dur="1" fill="hold">
                                          <p:stCondLst>
                                            <p:cond delay="0"/>
                                          </p:stCondLst>
                                        </p:cTn>
                                        <p:tgtEl>
                                          <p:spTgt spid="217099">
                                            <p:txEl>
                                              <p:pRg st="2" end="2"/>
                                            </p:txEl>
                                          </p:spTgt>
                                        </p:tgtEl>
                                        <p:attrNameLst>
                                          <p:attrName>style.visibility</p:attrName>
                                        </p:attrNameLst>
                                      </p:cBhvr>
                                      <p:to>
                                        <p:strVal val="visible"/>
                                      </p:to>
                                    </p:set>
                                    <p:animEffect transition="in" filter="blinds(horizontal)">
                                      <p:cBhvr>
                                        <p:cTn id="107" dur="500"/>
                                        <p:tgtEl>
                                          <p:spTgt spid="217099">
                                            <p:txEl>
                                              <p:pRg st="2" end="2"/>
                                            </p:txEl>
                                          </p:spTgt>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3" presetClass="entr" presetSubtype="10" fill="hold" grpId="0" nodeType="clickEffect">
                                  <p:stCondLst>
                                    <p:cond delay="0"/>
                                  </p:stCondLst>
                                  <p:childTnLst>
                                    <p:set>
                                      <p:cBhvr>
                                        <p:cTn id="111" dur="1" fill="hold">
                                          <p:stCondLst>
                                            <p:cond delay="0"/>
                                          </p:stCondLst>
                                        </p:cTn>
                                        <p:tgtEl>
                                          <p:spTgt spid="217093">
                                            <p:bg/>
                                          </p:spTgt>
                                        </p:tgtEl>
                                        <p:attrNameLst>
                                          <p:attrName>style.visibility</p:attrName>
                                        </p:attrNameLst>
                                      </p:cBhvr>
                                      <p:to>
                                        <p:strVal val="visible"/>
                                      </p:to>
                                    </p:set>
                                    <p:animEffect transition="in" filter="blinds(horizontal)">
                                      <p:cBhvr>
                                        <p:cTn id="112" dur="500"/>
                                        <p:tgtEl>
                                          <p:spTgt spid="217093">
                                            <p:bg/>
                                          </p:spTgt>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3" presetClass="entr" presetSubtype="10" fill="hold" grpId="0" nodeType="clickEffect">
                                  <p:stCondLst>
                                    <p:cond delay="0"/>
                                  </p:stCondLst>
                                  <p:childTnLst>
                                    <p:set>
                                      <p:cBhvr>
                                        <p:cTn id="116" dur="1" fill="hold">
                                          <p:stCondLst>
                                            <p:cond delay="0"/>
                                          </p:stCondLst>
                                        </p:cTn>
                                        <p:tgtEl>
                                          <p:spTgt spid="217093">
                                            <p:txEl>
                                              <p:pRg st="0" end="0"/>
                                            </p:txEl>
                                          </p:spTgt>
                                        </p:tgtEl>
                                        <p:attrNameLst>
                                          <p:attrName>style.visibility</p:attrName>
                                        </p:attrNameLst>
                                      </p:cBhvr>
                                      <p:to>
                                        <p:strVal val="visible"/>
                                      </p:to>
                                    </p:set>
                                    <p:animEffect transition="in" filter="blinds(horizontal)">
                                      <p:cBhvr>
                                        <p:cTn id="117" dur="500"/>
                                        <p:tgtEl>
                                          <p:spTgt spid="217093">
                                            <p:txEl>
                                              <p:pRg st="0" end="0"/>
                                            </p:txEl>
                                          </p:spTgt>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2" presetClass="entr" presetSubtype="4" fill="hold" grpId="0" nodeType="clickEffect">
                                  <p:stCondLst>
                                    <p:cond delay="0"/>
                                  </p:stCondLst>
                                  <p:childTnLst>
                                    <p:set>
                                      <p:cBhvr>
                                        <p:cTn id="121" dur="1" fill="hold">
                                          <p:stCondLst>
                                            <p:cond delay="0"/>
                                          </p:stCondLst>
                                        </p:cTn>
                                        <p:tgtEl>
                                          <p:spTgt spid="217094">
                                            <p:bg/>
                                          </p:spTgt>
                                        </p:tgtEl>
                                        <p:attrNameLst>
                                          <p:attrName>style.visibility</p:attrName>
                                        </p:attrNameLst>
                                      </p:cBhvr>
                                      <p:to>
                                        <p:strVal val="visible"/>
                                      </p:to>
                                    </p:set>
                                    <p:anim calcmode="lin" valueType="num">
                                      <p:cBhvr additive="base">
                                        <p:cTn id="122" dur="500" fill="hold"/>
                                        <p:tgtEl>
                                          <p:spTgt spid="217094">
                                            <p:bg/>
                                          </p:spTgt>
                                        </p:tgtEl>
                                        <p:attrNameLst>
                                          <p:attrName>ppt_x</p:attrName>
                                        </p:attrNameLst>
                                      </p:cBhvr>
                                      <p:tavLst>
                                        <p:tav tm="0">
                                          <p:val>
                                            <p:strVal val="#ppt_x"/>
                                          </p:val>
                                        </p:tav>
                                        <p:tav tm="100000">
                                          <p:val>
                                            <p:strVal val="#ppt_x"/>
                                          </p:val>
                                        </p:tav>
                                      </p:tavLst>
                                    </p:anim>
                                    <p:anim calcmode="lin" valueType="num">
                                      <p:cBhvr additive="base">
                                        <p:cTn id="123" dur="500" fill="hold"/>
                                        <p:tgtEl>
                                          <p:spTgt spid="217094">
                                            <p:bg/>
                                          </p:spTgt>
                                        </p:tgtEl>
                                        <p:attrNameLst>
                                          <p:attrName>ppt_y</p:attrName>
                                        </p:attrNameLst>
                                      </p:cBhvr>
                                      <p:tavLst>
                                        <p:tav tm="0">
                                          <p:val>
                                            <p:strVal val="1+#ppt_h/2"/>
                                          </p:val>
                                        </p:tav>
                                        <p:tav tm="100000">
                                          <p:val>
                                            <p:strVal val="#ppt_y"/>
                                          </p:val>
                                        </p:tav>
                                      </p:tavLst>
                                    </p:anim>
                                  </p:childTnLst>
                                </p:cTn>
                              </p:par>
                            </p:childTnLst>
                          </p:cTn>
                        </p:par>
                      </p:childTnLst>
                    </p:cTn>
                  </p:par>
                  <p:par>
                    <p:cTn id="124" fill="hold" nodeType="clickPar">
                      <p:stCondLst>
                        <p:cond delay="indefinite"/>
                      </p:stCondLst>
                      <p:childTnLst>
                        <p:par>
                          <p:cTn id="125" fill="hold" nodeType="withGroup">
                            <p:stCondLst>
                              <p:cond delay="0"/>
                            </p:stCondLst>
                            <p:childTnLst>
                              <p:par>
                                <p:cTn id="126" presetID="2" presetClass="entr" presetSubtype="4" fill="hold" grpId="0" nodeType="clickEffect">
                                  <p:stCondLst>
                                    <p:cond delay="0"/>
                                  </p:stCondLst>
                                  <p:childTnLst>
                                    <p:set>
                                      <p:cBhvr>
                                        <p:cTn id="127" dur="1" fill="hold">
                                          <p:stCondLst>
                                            <p:cond delay="0"/>
                                          </p:stCondLst>
                                        </p:cTn>
                                        <p:tgtEl>
                                          <p:spTgt spid="217094">
                                            <p:txEl>
                                              <p:pRg st="0" end="0"/>
                                            </p:txEl>
                                          </p:spTgt>
                                        </p:tgtEl>
                                        <p:attrNameLst>
                                          <p:attrName>style.visibility</p:attrName>
                                        </p:attrNameLst>
                                      </p:cBhvr>
                                      <p:to>
                                        <p:strVal val="visible"/>
                                      </p:to>
                                    </p:set>
                                    <p:anim calcmode="lin" valueType="num">
                                      <p:cBhvr additive="base">
                                        <p:cTn id="128" dur="500" fill="hold"/>
                                        <p:tgtEl>
                                          <p:spTgt spid="217094">
                                            <p:txEl>
                                              <p:pRg st="0" end="0"/>
                                            </p:txEl>
                                          </p:spTgt>
                                        </p:tgtEl>
                                        <p:attrNameLst>
                                          <p:attrName>ppt_x</p:attrName>
                                        </p:attrNameLst>
                                      </p:cBhvr>
                                      <p:tavLst>
                                        <p:tav tm="0">
                                          <p:val>
                                            <p:strVal val="#ppt_x"/>
                                          </p:val>
                                        </p:tav>
                                        <p:tav tm="100000">
                                          <p:val>
                                            <p:strVal val="#ppt_x"/>
                                          </p:val>
                                        </p:tav>
                                      </p:tavLst>
                                    </p:anim>
                                    <p:anim calcmode="lin" valueType="num">
                                      <p:cBhvr additive="base">
                                        <p:cTn id="129" dur="500" fill="hold"/>
                                        <p:tgtEl>
                                          <p:spTgt spid="21709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0" fill="hold" nodeType="clickPar">
                      <p:stCondLst>
                        <p:cond delay="indefinite"/>
                      </p:stCondLst>
                      <p:childTnLst>
                        <p:par>
                          <p:cTn id="131" fill="hold" nodeType="withGroup">
                            <p:stCondLst>
                              <p:cond delay="0"/>
                            </p:stCondLst>
                            <p:childTnLst>
                              <p:par>
                                <p:cTn id="132" presetID="2" presetClass="entr" presetSubtype="4" fill="hold" grpId="0" nodeType="clickEffect">
                                  <p:stCondLst>
                                    <p:cond delay="0"/>
                                  </p:stCondLst>
                                  <p:childTnLst>
                                    <p:set>
                                      <p:cBhvr>
                                        <p:cTn id="133" dur="1" fill="hold">
                                          <p:stCondLst>
                                            <p:cond delay="0"/>
                                          </p:stCondLst>
                                        </p:cTn>
                                        <p:tgtEl>
                                          <p:spTgt spid="217094">
                                            <p:txEl>
                                              <p:pRg st="1" end="1"/>
                                            </p:txEl>
                                          </p:spTgt>
                                        </p:tgtEl>
                                        <p:attrNameLst>
                                          <p:attrName>style.visibility</p:attrName>
                                        </p:attrNameLst>
                                      </p:cBhvr>
                                      <p:to>
                                        <p:strVal val="visible"/>
                                      </p:to>
                                    </p:set>
                                    <p:anim calcmode="lin" valueType="num">
                                      <p:cBhvr additive="base">
                                        <p:cTn id="134" dur="500" fill="hold"/>
                                        <p:tgtEl>
                                          <p:spTgt spid="217094">
                                            <p:txEl>
                                              <p:pRg st="1" end="1"/>
                                            </p:txEl>
                                          </p:spTgt>
                                        </p:tgtEl>
                                        <p:attrNameLst>
                                          <p:attrName>ppt_x</p:attrName>
                                        </p:attrNameLst>
                                      </p:cBhvr>
                                      <p:tavLst>
                                        <p:tav tm="0">
                                          <p:val>
                                            <p:strVal val="#ppt_x"/>
                                          </p:val>
                                        </p:tav>
                                        <p:tav tm="100000">
                                          <p:val>
                                            <p:strVal val="#ppt_x"/>
                                          </p:val>
                                        </p:tav>
                                      </p:tavLst>
                                    </p:anim>
                                    <p:anim calcmode="lin" valueType="num">
                                      <p:cBhvr additive="base">
                                        <p:cTn id="135" dur="500" fill="hold"/>
                                        <p:tgtEl>
                                          <p:spTgt spid="21709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6" fill="hold" nodeType="clickPar">
                      <p:stCondLst>
                        <p:cond delay="indefinite"/>
                      </p:stCondLst>
                      <p:childTnLst>
                        <p:par>
                          <p:cTn id="137" fill="hold" nodeType="withGroup">
                            <p:stCondLst>
                              <p:cond delay="0"/>
                            </p:stCondLst>
                            <p:childTnLst>
                              <p:par>
                                <p:cTn id="138" presetID="2" presetClass="entr" presetSubtype="4" fill="hold" grpId="0" nodeType="clickEffect">
                                  <p:stCondLst>
                                    <p:cond delay="0"/>
                                  </p:stCondLst>
                                  <p:childTnLst>
                                    <p:set>
                                      <p:cBhvr>
                                        <p:cTn id="139" dur="1" fill="hold">
                                          <p:stCondLst>
                                            <p:cond delay="0"/>
                                          </p:stCondLst>
                                        </p:cTn>
                                        <p:tgtEl>
                                          <p:spTgt spid="217094">
                                            <p:txEl>
                                              <p:pRg st="2" end="2"/>
                                            </p:txEl>
                                          </p:spTgt>
                                        </p:tgtEl>
                                        <p:attrNameLst>
                                          <p:attrName>style.visibility</p:attrName>
                                        </p:attrNameLst>
                                      </p:cBhvr>
                                      <p:to>
                                        <p:strVal val="visible"/>
                                      </p:to>
                                    </p:set>
                                    <p:anim calcmode="lin" valueType="num">
                                      <p:cBhvr additive="base">
                                        <p:cTn id="140" dur="500" fill="hold"/>
                                        <p:tgtEl>
                                          <p:spTgt spid="217094">
                                            <p:txEl>
                                              <p:pRg st="2" end="2"/>
                                            </p:txEl>
                                          </p:spTgt>
                                        </p:tgtEl>
                                        <p:attrNameLst>
                                          <p:attrName>ppt_x</p:attrName>
                                        </p:attrNameLst>
                                      </p:cBhvr>
                                      <p:tavLst>
                                        <p:tav tm="0">
                                          <p:val>
                                            <p:strVal val="#ppt_x"/>
                                          </p:val>
                                        </p:tav>
                                        <p:tav tm="100000">
                                          <p:val>
                                            <p:strVal val="#ppt_x"/>
                                          </p:val>
                                        </p:tav>
                                      </p:tavLst>
                                    </p:anim>
                                    <p:anim calcmode="lin" valueType="num">
                                      <p:cBhvr additive="base">
                                        <p:cTn id="141" dur="500" fill="hold"/>
                                        <p:tgtEl>
                                          <p:spTgt spid="21709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42" fill="hold" nodeType="clickPar">
                      <p:stCondLst>
                        <p:cond delay="indefinite"/>
                      </p:stCondLst>
                      <p:childTnLst>
                        <p:par>
                          <p:cTn id="143" fill="hold" nodeType="withGroup">
                            <p:stCondLst>
                              <p:cond delay="0"/>
                            </p:stCondLst>
                            <p:childTnLst>
                              <p:par>
                                <p:cTn id="144" presetID="2" presetClass="entr" presetSubtype="4" fill="hold" grpId="0" nodeType="clickEffect">
                                  <p:stCondLst>
                                    <p:cond delay="0"/>
                                  </p:stCondLst>
                                  <p:childTnLst>
                                    <p:set>
                                      <p:cBhvr>
                                        <p:cTn id="145" dur="1" fill="hold">
                                          <p:stCondLst>
                                            <p:cond delay="0"/>
                                          </p:stCondLst>
                                        </p:cTn>
                                        <p:tgtEl>
                                          <p:spTgt spid="217094">
                                            <p:txEl>
                                              <p:pRg st="3" end="3"/>
                                            </p:txEl>
                                          </p:spTgt>
                                        </p:tgtEl>
                                        <p:attrNameLst>
                                          <p:attrName>style.visibility</p:attrName>
                                        </p:attrNameLst>
                                      </p:cBhvr>
                                      <p:to>
                                        <p:strVal val="visible"/>
                                      </p:to>
                                    </p:set>
                                    <p:anim calcmode="lin" valueType="num">
                                      <p:cBhvr additive="base">
                                        <p:cTn id="146" dur="500" fill="hold"/>
                                        <p:tgtEl>
                                          <p:spTgt spid="217094">
                                            <p:txEl>
                                              <p:pRg st="3" end="3"/>
                                            </p:txEl>
                                          </p:spTgt>
                                        </p:tgtEl>
                                        <p:attrNameLst>
                                          <p:attrName>ppt_x</p:attrName>
                                        </p:attrNameLst>
                                      </p:cBhvr>
                                      <p:tavLst>
                                        <p:tav tm="0">
                                          <p:val>
                                            <p:strVal val="#ppt_x"/>
                                          </p:val>
                                        </p:tav>
                                        <p:tav tm="100000">
                                          <p:val>
                                            <p:strVal val="#ppt_x"/>
                                          </p:val>
                                        </p:tav>
                                      </p:tavLst>
                                    </p:anim>
                                    <p:anim calcmode="lin" valueType="num">
                                      <p:cBhvr additive="base">
                                        <p:cTn id="147" dur="500" fill="hold"/>
                                        <p:tgtEl>
                                          <p:spTgt spid="21709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48" fill="hold" nodeType="clickPar">
                      <p:stCondLst>
                        <p:cond delay="indefinite"/>
                      </p:stCondLst>
                      <p:childTnLst>
                        <p:par>
                          <p:cTn id="149" fill="hold" nodeType="withGroup">
                            <p:stCondLst>
                              <p:cond delay="0"/>
                            </p:stCondLst>
                            <p:childTnLst>
                              <p:par>
                                <p:cTn id="150" presetID="2" presetClass="entr" presetSubtype="4" fill="hold" grpId="0" nodeType="clickEffect">
                                  <p:stCondLst>
                                    <p:cond delay="0"/>
                                  </p:stCondLst>
                                  <p:childTnLst>
                                    <p:set>
                                      <p:cBhvr>
                                        <p:cTn id="151" dur="1" fill="hold">
                                          <p:stCondLst>
                                            <p:cond delay="0"/>
                                          </p:stCondLst>
                                        </p:cTn>
                                        <p:tgtEl>
                                          <p:spTgt spid="217094">
                                            <p:txEl>
                                              <p:pRg st="4" end="4"/>
                                            </p:txEl>
                                          </p:spTgt>
                                        </p:tgtEl>
                                        <p:attrNameLst>
                                          <p:attrName>style.visibility</p:attrName>
                                        </p:attrNameLst>
                                      </p:cBhvr>
                                      <p:to>
                                        <p:strVal val="visible"/>
                                      </p:to>
                                    </p:set>
                                    <p:anim calcmode="lin" valueType="num">
                                      <p:cBhvr additive="base">
                                        <p:cTn id="152" dur="500" fill="hold"/>
                                        <p:tgtEl>
                                          <p:spTgt spid="217094">
                                            <p:txEl>
                                              <p:pRg st="4" end="4"/>
                                            </p:txEl>
                                          </p:spTgt>
                                        </p:tgtEl>
                                        <p:attrNameLst>
                                          <p:attrName>ppt_x</p:attrName>
                                        </p:attrNameLst>
                                      </p:cBhvr>
                                      <p:tavLst>
                                        <p:tav tm="0">
                                          <p:val>
                                            <p:strVal val="#ppt_x"/>
                                          </p:val>
                                        </p:tav>
                                        <p:tav tm="100000">
                                          <p:val>
                                            <p:strVal val="#ppt_x"/>
                                          </p:val>
                                        </p:tav>
                                      </p:tavLst>
                                    </p:anim>
                                    <p:anim calcmode="lin" valueType="num">
                                      <p:cBhvr additive="base">
                                        <p:cTn id="153" dur="500" fill="hold"/>
                                        <p:tgtEl>
                                          <p:spTgt spid="21709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54" fill="hold" nodeType="clickPar">
                      <p:stCondLst>
                        <p:cond delay="indefinite"/>
                      </p:stCondLst>
                      <p:childTnLst>
                        <p:par>
                          <p:cTn id="155" fill="hold" nodeType="withGroup">
                            <p:stCondLst>
                              <p:cond delay="0"/>
                            </p:stCondLst>
                            <p:childTnLst>
                              <p:par>
                                <p:cTn id="156" presetID="2" presetClass="entr" presetSubtype="4" fill="hold" grpId="0" nodeType="clickEffect">
                                  <p:stCondLst>
                                    <p:cond delay="0"/>
                                  </p:stCondLst>
                                  <p:childTnLst>
                                    <p:set>
                                      <p:cBhvr>
                                        <p:cTn id="157" dur="1" fill="hold">
                                          <p:stCondLst>
                                            <p:cond delay="0"/>
                                          </p:stCondLst>
                                        </p:cTn>
                                        <p:tgtEl>
                                          <p:spTgt spid="217094">
                                            <p:txEl>
                                              <p:pRg st="5" end="5"/>
                                            </p:txEl>
                                          </p:spTgt>
                                        </p:tgtEl>
                                        <p:attrNameLst>
                                          <p:attrName>style.visibility</p:attrName>
                                        </p:attrNameLst>
                                      </p:cBhvr>
                                      <p:to>
                                        <p:strVal val="visible"/>
                                      </p:to>
                                    </p:set>
                                    <p:anim calcmode="lin" valueType="num">
                                      <p:cBhvr additive="base">
                                        <p:cTn id="158" dur="500" fill="hold"/>
                                        <p:tgtEl>
                                          <p:spTgt spid="217094">
                                            <p:txEl>
                                              <p:pRg st="5" end="5"/>
                                            </p:txEl>
                                          </p:spTgt>
                                        </p:tgtEl>
                                        <p:attrNameLst>
                                          <p:attrName>ppt_x</p:attrName>
                                        </p:attrNameLst>
                                      </p:cBhvr>
                                      <p:tavLst>
                                        <p:tav tm="0">
                                          <p:val>
                                            <p:strVal val="#ppt_x"/>
                                          </p:val>
                                        </p:tav>
                                        <p:tav tm="100000">
                                          <p:val>
                                            <p:strVal val="#ppt_x"/>
                                          </p:val>
                                        </p:tav>
                                      </p:tavLst>
                                    </p:anim>
                                    <p:anim calcmode="lin" valueType="num">
                                      <p:cBhvr additive="base">
                                        <p:cTn id="159" dur="500" fill="hold"/>
                                        <p:tgtEl>
                                          <p:spTgt spid="21709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60" fill="hold" nodeType="clickPar">
                      <p:stCondLst>
                        <p:cond delay="indefinite"/>
                      </p:stCondLst>
                      <p:childTnLst>
                        <p:par>
                          <p:cTn id="161" fill="hold" nodeType="withGroup">
                            <p:stCondLst>
                              <p:cond delay="0"/>
                            </p:stCondLst>
                            <p:childTnLst>
                              <p:par>
                                <p:cTn id="162" presetID="2" presetClass="entr" presetSubtype="4" fill="hold" grpId="0" nodeType="clickEffect">
                                  <p:stCondLst>
                                    <p:cond delay="0"/>
                                  </p:stCondLst>
                                  <p:childTnLst>
                                    <p:set>
                                      <p:cBhvr>
                                        <p:cTn id="163" dur="1" fill="hold">
                                          <p:stCondLst>
                                            <p:cond delay="0"/>
                                          </p:stCondLst>
                                        </p:cTn>
                                        <p:tgtEl>
                                          <p:spTgt spid="217094">
                                            <p:txEl>
                                              <p:pRg st="6" end="6"/>
                                            </p:txEl>
                                          </p:spTgt>
                                        </p:tgtEl>
                                        <p:attrNameLst>
                                          <p:attrName>style.visibility</p:attrName>
                                        </p:attrNameLst>
                                      </p:cBhvr>
                                      <p:to>
                                        <p:strVal val="visible"/>
                                      </p:to>
                                    </p:set>
                                    <p:anim calcmode="lin" valueType="num">
                                      <p:cBhvr additive="base">
                                        <p:cTn id="164" dur="500" fill="hold"/>
                                        <p:tgtEl>
                                          <p:spTgt spid="217094">
                                            <p:txEl>
                                              <p:pRg st="6" end="6"/>
                                            </p:txEl>
                                          </p:spTgt>
                                        </p:tgtEl>
                                        <p:attrNameLst>
                                          <p:attrName>ppt_x</p:attrName>
                                        </p:attrNameLst>
                                      </p:cBhvr>
                                      <p:tavLst>
                                        <p:tav tm="0">
                                          <p:val>
                                            <p:strVal val="#ppt_x"/>
                                          </p:val>
                                        </p:tav>
                                        <p:tav tm="100000">
                                          <p:val>
                                            <p:strVal val="#ppt_x"/>
                                          </p:val>
                                        </p:tav>
                                      </p:tavLst>
                                    </p:anim>
                                    <p:anim calcmode="lin" valueType="num">
                                      <p:cBhvr additive="base">
                                        <p:cTn id="165" dur="500" fill="hold"/>
                                        <p:tgtEl>
                                          <p:spTgt spid="21709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66" fill="hold" nodeType="clickPar">
                      <p:stCondLst>
                        <p:cond delay="indefinite"/>
                      </p:stCondLst>
                      <p:childTnLst>
                        <p:par>
                          <p:cTn id="167" fill="hold" nodeType="withGroup">
                            <p:stCondLst>
                              <p:cond delay="0"/>
                            </p:stCondLst>
                            <p:childTnLst>
                              <p:par>
                                <p:cTn id="168" presetID="2" presetClass="entr" presetSubtype="4" fill="hold" grpId="0" nodeType="clickEffect">
                                  <p:stCondLst>
                                    <p:cond delay="0"/>
                                  </p:stCondLst>
                                  <p:childTnLst>
                                    <p:set>
                                      <p:cBhvr>
                                        <p:cTn id="169" dur="1" fill="hold">
                                          <p:stCondLst>
                                            <p:cond delay="0"/>
                                          </p:stCondLst>
                                        </p:cTn>
                                        <p:tgtEl>
                                          <p:spTgt spid="217094">
                                            <p:txEl>
                                              <p:pRg st="7" end="7"/>
                                            </p:txEl>
                                          </p:spTgt>
                                        </p:tgtEl>
                                        <p:attrNameLst>
                                          <p:attrName>style.visibility</p:attrName>
                                        </p:attrNameLst>
                                      </p:cBhvr>
                                      <p:to>
                                        <p:strVal val="visible"/>
                                      </p:to>
                                    </p:set>
                                    <p:anim calcmode="lin" valueType="num">
                                      <p:cBhvr additive="base">
                                        <p:cTn id="170" dur="500" fill="hold"/>
                                        <p:tgtEl>
                                          <p:spTgt spid="217094">
                                            <p:txEl>
                                              <p:pRg st="7" end="7"/>
                                            </p:txEl>
                                          </p:spTgt>
                                        </p:tgtEl>
                                        <p:attrNameLst>
                                          <p:attrName>ppt_x</p:attrName>
                                        </p:attrNameLst>
                                      </p:cBhvr>
                                      <p:tavLst>
                                        <p:tav tm="0">
                                          <p:val>
                                            <p:strVal val="#ppt_x"/>
                                          </p:val>
                                        </p:tav>
                                        <p:tav tm="100000">
                                          <p:val>
                                            <p:strVal val="#ppt_x"/>
                                          </p:val>
                                        </p:tav>
                                      </p:tavLst>
                                    </p:anim>
                                    <p:anim calcmode="lin" valueType="num">
                                      <p:cBhvr additive="base">
                                        <p:cTn id="171" dur="500" fill="hold"/>
                                        <p:tgtEl>
                                          <p:spTgt spid="21709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172" fill="hold" nodeType="clickPar">
                      <p:stCondLst>
                        <p:cond delay="indefinite"/>
                      </p:stCondLst>
                      <p:childTnLst>
                        <p:par>
                          <p:cTn id="173" fill="hold" nodeType="withGroup">
                            <p:stCondLst>
                              <p:cond delay="0"/>
                            </p:stCondLst>
                            <p:childTnLst>
                              <p:par>
                                <p:cTn id="174" presetID="2" presetClass="entr" presetSubtype="4" fill="hold" grpId="0" nodeType="clickEffect">
                                  <p:stCondLst>
                                    <p:cond delay="0"/>
                                  </p:stCondLst>
                                  <p:childTnLst>
                                    <p:set>
                                      <p:cBhvr>
                                        <p:cTn id="175" dur="1" fill="hold">
                                          <p:stCondLst>
                                            <p:cond delay="0"/>
                                          </p:stCondLst>
                                        </p:cTn>
                                        <p:tgtEl>
                                          <p:spTgt spid="217094">
                                            <p:txEl>
                                              <p:pRg st="8" end="8"/>
                                            </p:txEl>
                                          </p:spTgt>
                                        </p:tgtEl>
                                        <p:attrNameLst>
                                          <p:attrName>style.visibility</p:attrName>
                                        </p:attrNameLst>
                                      </p:cBhvr>
                                      <p:to>
                                        <p:strVal val="visible"/>
                                      </p:to>
                                    </p:set>
                                    <p:anim calcmode="lin" valueType="num">
                                      <p:cBhvr additive="base">
                                        <p:cTn id="176" dur="500" fill="hold"/>
                                        <p:tgtEl>
                                          <p:spTgt spid="217094">
                                            <p:txEl>
                                              <p:pRg st="8" end="8"/>
                                            </p:txEl>
                                          </p:spTgt>
                                        </p:tgtEl>
                                        <p:attrNameLst>
                                          <p:attrName>ppt_x</p:attrName>
                                        </p:attrNameLst>
                                      </p:cBhvr>
                                      <p:tavLst>
                                        <p:tav tm="0">
                                          <p:val>
                                            <p:strVal val="#ppt_x"/>
                                          </p:val>
                                        </p:tav>
                                        <p:tav tm="100000">
                                          <p:val>
                                            <p:strVal val="#ppt_x"/>
                                          </p:val>
                                        </p:tav>
                                      </p:tavLst>
                                    </p:anim>
                                    <p:anim calcmode="lin" valueType="num">
                                      <p:cBhvr additive="base">
                                        <p:cTn id="177" dur="500" fill="hold"/>
                                        <p:tgtEl>
                                          <p:spTgt spid="217094">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178" fill="hold" nodeType="clickPar">
                      <p:stCondLst>
                        <p:cond delay="indefinite"/>
                      </p:stCondLst>
                      <p:childTnLst>
                        <p:par>
                          <p:cTn id="179" fill="hold" nodeType="withGroup">
                            <p:stCondLst>
                              <p:cond delay="0"/>
                            </p:stCondLst>
                            <p:childTnLst>
                              <p:par>
                                <p:cTn id="180" presetID="2" presetClass="entr" presetSubtype="4" fill="hold" grpId="0" nodeType="clickEffect">
                                  <p:stCondLst>
                                    <p:cond delay="0"/>
                                  </p:stCondLst>
                                  <p:childTnLst>
                                    <p:set>
                                      <p:cBhvr>
                                        <p:cTn id="181" dur="1" fill="hold">
                                          <p:stCondLst>
                                            <p:cond delay="0"/>
                                          </p:stCondLst>
                                        </p:cTn>
                                        <p:tgtEl>
                                          <p:spTgt spid="217094">
                                            <p:txEl>
                                              <p:pRg st="9" end="9"/>
                                            </p:txEl>
                                          </p:spTgt>
                                        </p:tgtEl>
                                        <p:attrNameLst>
                                          <p:attrName>style.visibility</p:attrName>
                                        </p:attrNameLst>
                                      </p:cBhvr>
                                      <p:to>
                                        <p:strVal val="visible"/>
                                      </p:to>
                                    </p:set>
                                    <p:anim calcmode="lin" valueType="num">
                                      <p:cBhvr additive="base">
                                        <p:cTn id="182" dur="500" fill="hold"/>
                                        <p:tgtEl>
                                          <p:spTgt spid="217094">
                                            <p:txEl>
                                              <p:pRg st="9" end="9"/>
                                            </p:txEl>
                                          </p:spTgt>
                                        </p:tgtEl>
                                        <p:attrNameLst>
                                          <p:attrName>ppt_x</p:attrName>
                                        </p:attrNameLst>
                                      </p:cBhvr>
                                      <p:tavLst>
                                        <p:tav tm="0">
                                          <p:val>
                                            <p:strVal val="#ppt_x"/>
                                          </p:val>
                                        </p:tav>
                                        <p:tav tm="100000">
                                          <p:val>
                                            <p:strVal val="#ppt_x"/>
                                          </p:val>
                                        </p:tav>
                                      </p:tavLst>
                                    </p:anim>
                                    <p:anim calcmode="lin" valueType="num">
                                      <p:cBhvr additive="base">
                                        <p:cTn id="183" dur="500" fill="hold"/>
                                        <p:tgtEl>
                                          <p:spTgt spid="217094">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7092" grpId="0" build="p" animBg="1"/>
      <p:bldP spid="217093" grpId="0" build="p" animBg="1"/>
      <p:bldP spid="217094" grpId="0" build="p" animBg="1"/>
      <p:bldP spid="217097" grpId="0" build="p" animBg="1"/>
      <p:bldP spid="217098" grpId="0" build="p" animBg="1"/>
      <p:bldP spid="217099" grpId="0" build="p"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2"/>
          <p:cNvSpPr>
            <a:spLocks noGrp="1" noChangeArrowheads="1"/>
          </p:cNvSpPr>
          <p:nvPr>
            <p:ph type="title"/>
          </p:nvPr>
        </p:nvSpPr>
        <p:spPr>
          <a:extLst/>
        </p:spPr>
        <p:txBody>
          <a:bodyPr/>
          <a:lstStyle/>
          <a:p>
            <a:pPr eaLnBrk="1" hangingPunct="1">
              <a:defRPr/>
            </a:pPr>
            <a:r>
              <a:rPr lang="en-US" altLang="zh-CN"/>
              <a:t>2. </a:t>
            </a:r>
            <a:r>
              <a:rPr lang="zh-CN" altLang="en-US"/>
              <a:t>潜在产出</a:t>
            </a:r>
          </a:p>
        </p:txBody>
      </p:sp>
      <p:sp>
        <p:nvSpPr>
          <p:cNvPr id="222211" name="Rectangle 3" descr="花束"/>
          <p:cNvSpPr>
            <a:spLocks noGrp="1" noChangeArrowheads="1"/>
          </p:cNvSpPr>
          <p:nvPr>
            <p:ph type="body" idx="1"/>
          </p:nvPr>
        </p:nvSpPr>
        <p:spPr>
          <a:xfrm>
            <a:off x="395288" y="1292225"/>
            <a:ext cx="8229600" cy="898525"/>
          </a:xfrm>
          <a:blipFill dpi="0" rotWithShape="0">
            <a:blip r:embed="rId2">
              <a:alphaModFix amt="73000"/>
            </a:blip>
            <a:srcRect/>
            <a:tile tx="0" ty="0" sx="100000" sy="100000" flip="none" algn="tl"/>
          </a:blipFill>
          <a:ln w="76200" cap="flat" cmpd="sng">
            <a:solidFill>
              <a:srgbClr val="336600"/>
            </a:solidFill>
          </a:ln>
        </p:spPr>
        <p:txBody>
          <a:bodyPr/>
          <a:lstStyle/>
          <a:p>
            <a:pPr marL="0" indent="0" eaLnBrk="1" hangingPunct="1">
              <a:spcBef>
                <a:spcPct val="0"/>
              </a:spcBef>
              <a:buClr>
                <a:srgbClr val="660033"/>
              </a:buClr>
              <a:buSzPct val="95000"/>
              <a:buFont typeface="Wingdings" pitchFamily="2" charset="2"/>
              <a:buChar char="n"/>
            </a:pPr>
            <a:r>
              <a:rPr lang="zh-CN" altLang="en-US" smtClean="0"/>
              <a:t>现实</a:t>
            </a:r>
            <a:r>
              <a:rPr lang="en-US" altLang="zh-CN" smtClean="0"/>
              <a:t>GDP</a:t>
            </a:r>
            <a:r>
              <a:rPr lang="zh-CN" altLang="en-US" smtClean="0"/>
              <a:t>：已经生产出来的</a:t>
            </a:r>
            <a:r>
              <a:rPr lang="en-US" altLang="zh-CN" smtClean="0"/>
              <a:t>GDP</a:t>
            </a:r>
            <a:r>
              <a:rPr lang="zh-CN" altLang="en-US" smtClean="0"/>
              <a:t>。</a:t>
            </a:r>
            <a:endParaRPr lang="en-US" altLang="zh-CN" smtClean="0"/>
          </a:p>
          <a:p>
            <a:pPr marL="0" indent="0" eaLnBrk="1" hangingPunct="1">
              <a:spcBef>
                <a:spcPct val="0"/>
              </a:spcBef>
              <a:buClr>
                <a:srgbClr val="660033"/>
              </a:buClr>
              <a:buSzPct val="95000"/>
              <a:buFont typeface="Wingdings" pitchFamily="2" charset="2"/>
              <a:buChar char="n"/>
            </a:pPr>
            <a:r>
              <a:rPr lang="zh-CN" altLang="en-US" smtClean="0"/>
              <a:t>潜在</a:t>
            </a:r>
            <a:r>
              <a:rPr lang="en-US" altLang="zh-CN" smtClean="0"/>
              <a:t>GDP</a:t>
            </a:r>
            <a:r>
              <a:rPr lang="zh-CN" altLang="en-US" smtClean="0"/>
              <a:t>：调动所有社会资源，能够生产的最大限度的</a:t>
            </a:r>
            <a:r>
              <a:rPr lang="en-US" altLang="zh-CN" smtClean="0"/>
              <a:t>GDP</a:t>
            </a:r>
            <a:r>
              <a:rPr lang="zh-CN" altLang="en-US" smtClean="0"/>
              <a:t>。</a:t>
            </a:r>
          </a:p>
        </p:txBody>
      </p:sp>
      <p:sp>
        <p:nvSpPr>
          <p:cNvPr id="222214" name="Rectangle 6" descr="花束"/>
          <p:cNvSpPr>
            <a:spLocks noChangeArrowheads="1"/>
          </p:cNvSpPr>
          <p:nvPr/>
        </p:nvSpPr>
        <p:spPr bwMode="auto">
          <a:xfrm>
            <a:off x="468313" y="3860800"/>
            <a:ext cx="8280400" cy="898525"/>
          </a:xfrm>
          <a:prstGeom prst="rect">
            <a:avLst/>
          </a:prstGeom>
          <a:blipFill dpi="0" rotWithShape="0">
            <a:blip r:embed="rId2"/>
            <a:srcRect/>
            <a:tile tx="0" ty="0" sx="100000" sy="100000" flip="none" algn="tl"/>
          </a:blipFill>
          <a:ln w="76200">
            <a:solidFill>
              <a:srgbClr val="336600"/>
            </a:solidFill>
            <a:miter lim="800000"/>
            <a:headEnd/>
            <a:tailEnd/>
          </a:ln>
        </p:spPr>
        <p:txBody>
          <a:bodyPr>
            <a:spAutoFit/>
          </a:bodyPr>
          <a:lstStyle/>
          <a:p>
            <a:pPr>
              <a:lnSpc>
                <a:spcPct val="120000"/>
              </a:lnSpc>
              <a:buClr>
                <a:srgbClr val="660033"/>
              </a:buClr>
              <a:buSzPct val="95000"/>
              <a:buFont typeface="Wingdings" pitchFamily="2" charset="2"/>
              <a:buChar char="n"/>
            </a:pPr>
            <a:r>
              <a:rPr lang="en-US" altLang="zh-CN">
                <a:solidFill>
                  <a:srgbClr val="101016"/>
                </a:solidFill>
                <a:latin typeface="Arial" charset="0"/>
              </a:rPr>
              <a:t>GDP</a:t>
            </a:r>
            <a:r>
              <a:rPr lang="zh-CN" altLang="en-US">
                <a:solidFill>
                  <a:srgbClr val="101016"/>
                </a:solidFill>
                <a:latin typeface="Arial" charset="0"/>
              </a:rPr>
              <a:t>缺口：</a:t>
            </a:r>
            <a:endParaRPr lang="en-US" altLang="zh-CN">
              <a:solidFill>
                <a:srgbClr val="101016"/>
              </a:solidFill>
              <a:latin typeface="Arial" charset="0"/>
            </a:endParaRPr>
          </a:p>
          <a:p>
            <a:pPr>
              <a:lnSpc>
                <a:spcPct val="120000"/>
              </a:lnSpc>
              <a:buClr>
                <a:srgbClr val="660033"/>
              </a:buClr>
              <a:buSzPct val="95000"/>
              <a:buFont typeface="Wingdings" pitchFamily="2" charset="2"/>
              <a:buChar char="n"/>
            </a:pPr>
            <a:r>
              <a:rPr lang="zh-CN" altLang="en-US">
                <a:solidFill>
                  <a:srgbClr val="101016"/>
                </a:solidFill>
                <a:latin typeface="Arial" charset="0"/>
              </a:rPr>
              <a:t>潜在</a:t>
            </a:r>
            <a:r>
              <a:rPr lang="en-US" altLang="zh-CN">
                <a:solidFill>
                  <a:srgbClr val="101016"/>
                </a:solidFill>
                <a:latin typeface="Arial" charset="0"/>
              </a:rPr>
              <a:t>GDP</a:t>
            </a:r>
            <a:r>
              <a:rPr lang="zh-CN" altLang="en-US">
                <a:solidFill>
                  <a:srgbClr val="101016"/>
                </a:solidFill>
                <a:latin typeface="Arial" charset="0"/>
              </a:rPr>
              <a:t>与实际上所生产的</a:t>
            </a:r>
            <a:r>
              <a:rPr lang="en-US" altLang="zh-CN">
                <a:solidFill>
                  <a:srgbClr val="101016"/>
                </a:solidFill>
                <a:latin typeface="Arial" charset="0"/>
              </a:rPr>
              <a:t>GDP</a:t>
            </a:r>
            <a:r>
              <a:rPr lang="zh-CN" altLang="en-US">
                <a:solidFill>
                  <a:srgbClr val="101016"/>
                </a:solidFill>
                <a:latin typeface="Arial" charset="0"/>
              </a:rPr>
              <a:t>的缺口。</a:t>
            </a:r>
            <a:r>
              <a:rPr lang="en-US" altLang="zh-CN">
                <a:solidFill>
                  <a:srgbClr val="101016"/>
                </a:solidFill>
                <a:latin typeface="Arial" charset="0"/>
              </a:rPr>
              <a:t> </a:t>
            </a:r>
          </a:p>
        </p:txBody>
      </p:sp>
      <p:sp>
        <p:nvSpPr>
          <p:cNvPr id="222215" name="Rectangle 7" descr="花束"/>
          <p:cNvSpPr>
            <a:spLocks noChangeArrowheads="1"/>
          </p:cNvSpPr>
          <p:nvPr/>
        </p:nvSpPr>
        <p:spPr bwMode="auto">
          <a:xfrm>
            <a:off x="395288" y="2708275"/>
            <a:ext cx="8208962" cy="533400"/>
          </a:xfrm>
          <a:prstGeom prst="rect">
            <a:avLst/>
          </a:prstGeom>
          <a:blipFill dpi="0" rotWithShape="0">
            <a:blip r:embed="rId2"/>
            <a:srcRect/>
            <a:tile tx="0" ty="0" sx="100000" sy="100000" flip="none" algn="tl"/>
          </a:blipFill>
          <a:ln w="76200">
            <a:solidFill>
              <a:srgbClr val="336600"/>
            </a:solidFill>
            <a:miter lim="800000"/>
            <a:headEnd/>
            <a:tailEnd/>
          </a:ln>
        </p:spPr>
        <p:txBody>
          <a:bodyPr>
            <a:spAutoFit/>
          </a:bodyPr>
          <a:lstStyle/>
          <a:p>
            <a:pPr>
              <a:lnSpc>
                <a:spcPct val="120000"/>
              </a:lnSpc>
              <a:buClr>
                <a:srgbClr val="660033"/>
              </a:buClr>
              <a:buSzPct val="95000"/>
              <a:buFont typeface="Wingdings" pitchFamily="2" charset="2"/>
              <a:buChar char="n"/>
            </a:pPr>
            <a:r>
              <a:rPr lang="zh-CN" altLang="en-US">
                <a:solidFill>
                  <a:srgbClr val="101016"/>
                </a:solidFill>
                <a:latin typeface="Arial" charset="0"/>
              </a:rPr>
              <a:t>潜在</a:t>
            </a:r>
            <a:r>
              <a:rPr lang="en-US" altLang="zh-CN">
                <a:solidFill>
                  <a:srgbClr val="101016"/>
                </a:solidFill>
                <a:latin typeface="Arial" charset="0"/>
              </a:rPr>
              <a:t>GDP </a:t>
            </a:r>
            <a:r>
              <a:rPr lang="zh-CN" altLang="en-US">
                <a:solidFill>
                  <a:srgbClr val="101016"/>
                </a:solidFill>
                <a:latin typeface="Arial" charset="0"/>
              </a:rPr>
              <a:t>＝充分就业时的</a:t>
            </a:r>
            <a:r>
              <a:rPr lang="en-US" altLang="zh-CN">
                <a:solidFill>
                  <a:srgbClr val="101016"/>
                </a:solidFill>
                <a:latin typeface="Arial" charset="0"/>
              </a:rPr>
              <a:t>GDP </a:t>
            </a:r>
            <a:r>
              <a:rPr lang="zh-CN" altLang="en-US">
                <a:solidFill>
                  <a:srgbClr val="101016"/>
                </a:solidFill>
                <a:latin typeface="Arial" charset="0"/>
              </a:rPr>
              <a:t>，也称充分就业</a:t>
            </a:r>
            <a:r>
              <a:rPr lang="en-US" altLang="zh-CN">
                <a:solidFill>
                  <a:srgbClr val="101016"/>
                </a:solidFill>
                <a:latin typeface="Arial" charset="0"/>
              </a:rPr>
              <a:t>GDP </a:t>
            </a:r>
            <a:r>
              <a:rPr lang="zh-CN" altLang="en-US">
                <a:solidFill>
                  <a:srgbClr val="101016"/>
                </a:solidFill>
                <a:latin typeface="Arial" charset="0"/>
              </a:rPr>
              <a:t>。</a:t>
            </a:r>
          </a:p>
        </p:txBody>
      </p:sp>
      <p:sp>
        <p:nvSpPr>
          <p:cNvPr id="222216" name="Rectangle 8" descr="水滴"/>
          <p:cNvSpPr>
            <a:spLocks noChangeArrowheads="1"/>
          </p:cNvSpPr>
          <p:nvPr/>
        </p:nvSpPr>
        <p:spPr bwMode="auto">
          <a:xfrm>
            <a:off x="468313" y="5300663"/>
            <a:ext cx="8280400" cy="514350"/>
          </a:xfrm>
          <a:prstGeom prst="rect">
            <a:avLst/>
          </a:prstGeom>
          <a:blipFill dpi="0" rotWithShape="0">
            <a:blip r:embed="rId3">
              <a:alphaModFix amt="42000"/>
            </a:blip>
            <a:srcRect/>
            <a:tile tx="0" ty="0" sx="100000" sy="100000" flip="none" algn="tl"/>
          </a:blipFill>
          <a:ln w="57150" cmpd="thickThin">
            <a:solidFill>
              <a:srgbClr val="000099"/>
            </a:solidFill>
            <a:miter lim="800000"/>
            <a:headEnd/>
            <a:tailEnd/>
          </a:ln>
        </p:spPr>
        <p:txBody>
          <a:bodyPr>
            <a:spAutoFit/>
          </a:bodyPr>
          <a:lstStyle/>
          <a:p>
            <a:pPr>
              <a:lnSpc>
                <a:spcPct val="120000"/>
              </a:lnSpc>
              <a:buClr>
                <a:srgbClr val="FF0000"/>
              </a:buClr>
              <a:buSzPct val="95000"/>
              <a:buFont typeface="Wingdings" pitchFamily="2" charset="2"/>
              <a:buChar char="n"/>
            </a:pPr>
            <a:r>
              <a:rPr lang="zh-CN" altLang="en-US">
                <a:solidFill>
                  <a:srgbClr val="000000"/>
                </a:solidFill>
                <a:latin typeface="Arial" charset="0"/>
              </a:rPr>
              <a:t>一般，</a:t>
            </a:r>
            <a:r>
              <a:rPr lang="en-US" altLang="zh-CN">
                <a:solidFill>
                  <a:srgbClr val="000000"/>
                </a:solidFill>
                <a:latin typeface="Arial" charset="0"/>
              </a:rPr>
              <a:t>GDP</a:t>
            </a:r>
            <a:r>
              <a:rPr lang="zh-CN" altLang="en-US">
                <a:solidFill>
                  <a:srgbClr val="000000"/>
                </a:solidFill>
                <a:latin typeface="Arial" charset="0"/>
              </a:rPr>
              <a:t>缺口越大，说明经济发展越没有效率。</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2211">
                                            <p:bg/>
                                          </p:spTgt>
                                        </p:tgtEl>
                                        <p:attrNameLst>
                                          <p:attrName>style.visibility</p:attrName>
                                        </p:attrNameLst>
                                      </p:cBhvr>
                                      <p:to>
                                        <p:strVal val="visible"/>
                                      </p:to>
                                    </p:set>
                                    <p:animEffect transition="in" filter="blinds(horizontal)">
                                      <p:cBhvr>
                                        <p:cTn id="7" dur="500"/>
                                        <p:tgtEl>
                                          <p:spTgt spid="222211">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22211">
                                            <p:txEl>
                                              <p:pRg st="0" end="0"/>
                                            </p:txEl>
                                          </p:spTgt>
                                        </p:tgtEl>
                                        <p:attrNameLst>
                                          <p:attrName>style.visibility</p:attrName>
                                        </p:attrNameLst>
                                      </p:cBhvr>
                                      <p:to>
                                        <p:strVal val="visible"/>
                                      </p:to>
                                    </p:set>
                                    <p:animEffect transition="in" filter="blinds(horizontal)">
                                      <p:cBhvr>
                                        <p:cTn id="12" dur="500"/>
                                        <p:tgtEl>
                                          <p:spTgt spid="222211">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22211">
                                            <p:txEl>
                                              <p:pRg st="1" end="1"/>
                                            </p:txEl>
                                          </p:spTgt>
                                        </p:tgtEl>
                                        <p:attrNameLst>
                                          <p:attrName>style.visibility</p:attrName>
                                        </p:attrNameLst>
                                      </p:cBhvr>
                                      <p:to>
                                        <p:strVal val="visible"/>
                                      </p:to>
                                    </p:set>
                                    <p:animEffect transition="in" filter="blinds(horizontal)">
                                      <p:cBhvr>
                                        <p:cTn id="17" dur="500"/>
                                        <p:tgtEl>
                                          <p:spTgt spid="222211">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22215"/>
                                        </p:tgtEl>
                                        <p:attrNameLst>
                                          <p:attrName>style.visibility</p:attrName>
                                        </p:attrNameLst>
                                      </p:cBhvr>
                                      <p:to>
                                        <p:strVal val="visible"/>
                                      </p:to>
                                    </p:set>
                                    <p:animEffect transition="in" filter="blinds(horizontal)">
                                      <p:cBhvr>
                                        <p:cTn id="22" dur="500"/>
                                        <p:tgtEl>
                                          <p:spTgt spid="22221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22214"/>
                                        </p:tgtEl>
                                        <p:attrNameLst>
                                          <p:attrName>style.visibility</p:attrName>
                                        </p:attrNameLst>
                                      </p:cBhvr>
                                      <p:to>
                                        <p:strVal val="visible"/>
                                      </p:to>
                                    </p:set>
                                    <p:animEffect transition="in" filter="blinds(horizontal)">
                                      <p:cBhvr>
                                        <p:cTn id="27" dur="500"/>
                                        <p:tgtEl>
                                          <p:spTgt spid="22221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22216"/>
                                        </p:tgtEl>
                                        <p:attrNameLst>
                                          <p:attrName>style.visibility</p:attrName>
                                        </p:attrNameLst>
                                      </p:cBhvr>
                                      <p:to>
                                        <p:strVal val="visible"/>
                                      </p:to>
                                    </p:set>
                                    <p:animEffect transition="in" filter="blinds(horizontal)">
                                      <p:cBhvr>
                                        <p:cTn id="32" dur="500"/>
                                        <p:tgtEl>
                                          <p:spTgt spid="2222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211" grpId="0" build="p" animBg="1"/>
      <p:bldP spid="222214" grpId="0" animBg="1"/>
      <p:bldP spid="222215" grpId="0" animBg="1"/>
      <p:bldP spid="222216"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noChangeArrowheads="1"/>
          </p:cNvSpPr>
          <p:nvPr>
            <p:ph type="title"/>
          </p:nvPr>
        </p:nvSpPr>
        <p:spPr>
          <a:xfrm>
            <a:off x="395288" y="333375"/>
            <a:ext cx="6048375" cy="647700"/>
          </a:xfrm>
          <a:extLst/>
        </p:spPr>
        <p:txBody>
          <a:bodyPr/>
          <a:lstStyle/>
          <a:p>
            <a:pPr eaLnBrk="1" hangingPunct="1">
              <a:defRPr/>
            </a:pPr>
            <a:r>
              <a:rPr lang="zh-CN" altLang="en-US"/>
              <a:t>第五节</a:t>
            </a:r>
            <a:r>
              <a:rPr lang="en-US" altLang="zh-CN"/>
              <a:t> </a:t>
            </a:r>
            <a:r>
              <a:rPr lang="zh-CN" altLang="en-US"/>
              <a:t>国民收入核算中的几个重要恒等式</a:t>
            </a:r>
          </a:p>
        </p:txBody>
      </p:sp>
      <p:sp>
        <p:nvSpPr>
          <p:cNvPr id="171011" name="Rectangle 3"/>
          <p:cNvSpPr>
            <a:spLocks noGrp="1" noChangeArrowheads="1"/>
          </p:cNvSpPr>
          <p:nvPr>
            <p:ph type="body" idx="1"/>
          </p:nvPr>
        </p:nvSpPr>
        <p:spPr>
          <a:xfrm>
            <a:off x="395288" y="1235075"/>
            <a:ext cx="5256212" cy="514350"/>
          </a:xfrm>
          <a:ln cap="flat"/>
        </p:spPr>
        <p:txBody>
          <a:bodyPr/>
          <a:lstStyle/>
          <a:p>
            <a:pPr eaLnBrk="1" hangingPunct="1">
              <a:buFont typeface="Wingdings" pitchFamily="2" charset="2"/>
              <a:buNone/>
            </a:pPr>
            <a:r>
              <a:rPr lang="en-US" altLang="zh-CN" smtClean="0"/>
              <a:t>1.</a:t>
            </a:r>
            <a:r>
              <a:rPr lang="zh-CN" altLang="en-US" smtClean="0"/>
              <a:t>两部门的收入构成</a:t>
            </a:r>
          </a:p>
        </p:txBody>
      </p:sp>
      <p:sp>
        <p:nvSpPr>
          <p:cNvPr id="171013" name="Rectangle 5"/>
          <p:cNvSpPr>
            <a:spLocks noChangeArrowheads="1"/>
          </p:cNvSpPr>
          <p:nvPr/>
        </p:nvSpPr>
        <p:spPr bwMode="auto">
          <a:xfrm>
            <a:off x="395288" y="2133600"/>
            <a:ext cx="8280400" cy="939800"/>
          </a:xfrm>
          <a:prstGeom prst="rect">
            <a:avLst/>
          </a:prstGeom>
          <a:solidFill>
            <a:schemeClr val="tx2">
              <a:alpha val="72940"/>
            </a:schemeClr>
          </a:solidFill>
          <a:ln w="57150" cmpd="thinThick">
            <a:solidFill>
              <a:srgbClr val="996633"/>
            </a:solidFill>
            <a:miter lim="800000"/>
            <a:headEnd/>
            <a:tailEnd/>
          </a:ln>
        </p:spPr>
        <p:txBody>
          <a:bodyPr>
            <a:spAutoFit/>
          </a:bodyPr>
          <a:lstStyle/>
          <a:p>
            <a:pPr marL="95250" indent="-95250">
              <a:lnSpc>
                <a:spcPct val="120000"/>
              </a:lnSpc>
              <a:spcBef>
                <a:spcPct val="20000"/>
              </a:spcBef>
              <a:buClr>
                <a:schemeClr val="hlink"/>
              </a:buClr>
              <a:buFont typeface="Wingdings" pitchFamily="2" charset="2"/>
              <a:buBlip>
                <a:blip r:embed="rId2"/>
              </a:buBlip>
            </a:pPr>
            <a:r>
              <a:rPr lang="zh-CN" altLang="en-US">
                <a:solidFill>
                  <a:srgbClr val="101016"/>
                </a:solidFill>
                <a:latin typeface="Arial" charset="0"/>
              </a:rPr>
              <a:t>简化：全社会只有两部门：消费者和企业。</a:t>
            </a:r>
            <a:endParaRPr lang="en-US" altLang="zh-CN">
              <a:solidFill>
                <a:srgbClr val="101016"/>
              </a:solidFill>
              <a:latin typeface="Arial" charset="0"/>
            </a:endParaRPr>
          </a:p>
          <a:p>
            <a:pPr marL="95250" indent="-95250">
              <a:lnSpc>
                <a:spcPct val="120000"/>
              </a:lnSpc>
              <a:spcBef>
                <a:spcPct val="20000"/>
              </a:spcBef>
              <a:buClr>
                <a:schemeClr val="hlink"/>
              </a:buClr>
              <a:buFont typeface="Wingdings" pitchFamily="2" charset="2"/>
              <a:buBlip>
                <a:blip r:embed="rId2"/>
              </a:buBlip>
            </a:pPr>
            <a:r>
              <a:rPr lang="zh-CN" altLang="en-US">
                <a:solidFill>
                  <a:srgbClr val="101016"/>
                </a:solidFill>
                <a:latin typeface="Arial" charset="0"/>
              </a:rPr>
              <a:t>不存在税收和进出口。假定没有折旧。</a:t>
            </a:r>
          </a:p>
        </p:txBody>
      </p:sp>
      <p:sp>
        <p:nvSpPr>
          <p:cNvPr id="171016" name="Rectangle 8" descr="花束"/>
          <p:cNvSpPr>
            <a:spLocks noChangeArrowheads="1"/>
          </p:cNvSpPr>
          <p:nvPr/>
        </p:nvSpPr>
        <p:spPr bwMode="auto">
          <a:xfrm>
            <a:off x="395288" y="3500438"/>
            <a:ext cx="2736850" cy="898525"/>
          </a:xfrm>
          <a:prstGeom prst="rect">
            <a:avLst/>
          </a:prstGeom>
          <a:blipFill dpi="0" rotWithShape="0">
            <a:blip r:embed="rId3"/>
            <a:srcRect/>
            <a:tile tx="0" ty="0" sx="100000" sy="100000" flip="none" algn="tl"/>
          </a:blipFill>
          <a:ln w="76200">
            <a:solidFill>
              <a:srgbClr val="336600"/>
            </a:solidFill>
            <a:miter lim="800000"/>
            <a:headEnd/>
            <a:tailEnd/>
          </a:ln>
        </p:spPr>
        <p:txBody>
          <a:bodyPr>
            <a:spAutoFit/>
          </a:bodyPr>
          <a:lstStyle/>
          <a:p>
            <a:pPr>
              <a:lnSpc>
                <a:spcPct val="120000"/>
              </a:lnSpc>
              <a:buClr>
                <a:srgbClr val="660033"/>
              </a:buClr>
              <a:buSzPct val="95000"/>
              <a:buFont typeface="Wingdings" pitchFamily="2" charset="2"/>
              <a:buChar char="n"/>
            </a:pPr>
            <a:r>
              <a:rPr lang="zh-CN" altLang="en-US">
                <a:solidFill>
                  <a:srgbClr val="101016"/>
                </a:solidFill>
                <a:latin typeface="Arial" charset="0"/>
              </a:rPr>
              <a:t>即</a:t>
            </a:r>
            <a:r>
              <a:rPr lang="en-US" altLang="zh-CN">
                <a:solidFill>
                  <a:srgbClr val="101016"/>
                </a:solidFill>
                <a:latin typeface="Arial" charset="0"/>
              </a:rPr>
              <a:t> </a:t>
            </a:r>
          </a:p>
          <a:p>
            <a:pPr>
              <a:lnSpc>
                <a:spcPct val="120000"/>
              </a:lnSpc>
              <a:buClr>
                <a:srgbClr val="660033"/>
              </a:buClr>
              <a:buSzPct val="95000"/>
              <a:buFont typeface="Wingdings" pitchFamily="2" charset="2"/>
              <a:buChar char="n"/>
            </a:pPr>
            <a:r>
              <a:rPr lang="en-US" altLang="zh-CN">
                <a:solidFill>
                  <a:srgbClr val="101016"/>
                </a:solidFill>
                <a:latin typeface="Arial" charset="0"/>
              </a:rPr>
              <a:t>GDP=NDP</a:t>
            </a:r>
            <a:r>
              <a:rPr lang="zh-CN" altLang="en-US">
                <a:solidFill>
                  <a:srgbClr val="101016"/>
                </a:solidFill>
                <a:latin typeface="Arial" charset="0"/>
              </a:rPr>
              <a:t>＝</a:t>
            </a:r>
            <a:r>
              <a:rPr lang="en-US" altLang="zh-CN">
                <a:solidFill>
                  <a:srgbClr val="101016"/>
                </a:solidFill>
                <a:latin typeface="Arial" charset="0"/>
              </a:rPr>
              <a:t>NI</a:t>
            </a:r>
            <a:r>
              <a:rPr lang="zh-CN" altLang="en-US">
                <a:solidFill>
                  <a:srgbClr val="101016"/>
                </a:solidFill>
                <a:latin typeface="Arial" charset="0"/>
              </a:rPr>
              <a:t>＝</a:t>
            </a:r>
            <a:r>
              <a:rPr lang="en-US" altLang="zh-CN">
                <a:solidFill>
                  <a:srgbClr val="101016"/>
                </a:solidFill>
                <a:latin typeface="Arial" charset="0"/>
              </a:rPr>
              <a:t>Y</a:t>
            </a:r>
          </a:p>
        </p:txBody>
      </p:sp>
      <p:sp>
        <p:nvSpPr>
          <p:cNvPr id="171018" name="Rectangle 10" descr="蓝色面巾纸"/>
          <p:cNvSpPr>
            <a:spLocks noChangeArrowheads="1"/>
          </p:cNvSpPr>
          <p:nvPr/>
        </p:nvSpPr>
        <p:spPr bwMode="auto">
          <a:xfrm>
            <a:off x="395288" y="4724400"/>
            <a:ext cx="2736850" cy="1368425"/>
          </a:xfrm>
          <a:prstGeom prst="rect">
            <a:avLst/>
          </a:prstGeom>
          <a:blipFill dpi="0" rotWithShape="0">
            <a:blip r:embed="rId4"/>
            <a:srcRect/>
            <a:tile tx="0" ty="0" sx="100000" sy="100000" flip="none" algn="tl"/>
          </a:blipFill>
          <a:ln w="38100" cmpd="dbl">
            <a:solidFill>
              <a:schemeClr val="tx1"/>
            </a:solidFill>
            <a:miter lim="800000"/>
            <a:headEnd/>
            <a:tailEnd/>
          </a:ln>
        </p:spPr>
        <p:txBody>
          <a:bodyPr/>
          <a:lstStyle/>
          <a:p>
            <a:pPr marL="95250" indent="-95250">
              <a:lnSpc>
                <a:spcPct val="120000"/>
              </a:lnSpc>
              <a:spcBef>
                <a:spcPct val="20000"/>
              </a:spcBef>
              <a:buClr>
                <a:srgbClr val="336600"/>
              </a:buClr>
              <a:buSzPct val="95000"/>
              <a:buFont typeface="Wingdings" pitchFamily="2" charset="2"/>
              <a:buNone/>
            </a:pPr>
            <a:r>
              <a:rPr lang="zh-CN" altLang="en-US">
                <a:solidFill>
                  <a:srgbClr val="230D75"/>
                </a:solidFill>
                <a:latin typeface="Arial" charset="0"/>
              </a:rPr>
              <a:t>若</a:t>
            </a:r>
            <a:endParaRPr lang="en-US" altLang="zh-CN">
              <a:solidFill>
                <a:srgbClr val="230D75"/>
              </a:solidFill>
              <a:latin typeface="Arial" charset="0"/>
            </a:endParaRPr>
          </a:p>
          <a:p>
            <a:pPr marL="95250" indent="-95250">
              <a:lnSpc>
                <a:spcPct val="120000"/>
              </a:lnSpc>
              <a:spcBef>
                <a:spcPct val="20000"/>
              </a:spcBef>
              <a:buClr>
                <a:srgbClr val="336600"/>
              </a:buClr>
              <a:buSzPct val="95000"/>
              <a:buFont typeface="Wingdings" pitchFamily="2" charset="2"/>
              <a:buNone/>
            </a:pPr>
            <a:r>
              <a:rPr lang="zh-CN" altLang="en-US">
                <a:solidFill>
                  <a:srgbClr val="230D75"/>
                </a:solidFill>
                <a:latin typeface="Arial" charset="0"/>
              </a:rPr>
              <a:t>生产与消费均衡：</a:t>
            </a:r>
            <a:endParaRPr lang="en-US" altLang="zh-CN">
              <a:solidFill>
                <a:srgbClr val="230D75"/>
              </a:solidFill>
              <a:latin typeface="Arial" charset="0"/>
            </a:endParaRPr>
          </a:p>
          <a:p>
            <a:pPr marL="95250" indent="-95250">
              <a:lnSpc>
                <a:spcPct val="120000"/>
              </a:lnSpc>
              <a:spcBef>
                <a:spcPct val="20000"/>
              </a:spcBef>
              <a:buClr>
                <a:srgbClr val="336600"/>
              </a:buClr>
              <a:buSzPct val="95000"/>
              <a:buFont typeface="Wingdings" pitchFamily="2" charset="2"/>
              <a:buNone/>
            </a:pPr>
            <a:r>
              <a:rPr lang="zh-CN" altLang="en-US">
                <a:solidFill>
                  <a:srgbClr val="230D75"/>
                </a:solidFill>
                <a:latin typeface="Arial" charset="0"/>
              </a:rPr>
              <a:t>生产</a:t>
            </a:r>
            <a:r>
              <a:rPr lang="en-US" altLang="zh-CN">
                <a:solidFill>
                  <a:srgbClr val="230D75"/>
                </a:solidFill>
                <a:latin typeface="Arial" charset="0"/>
              </a:rPr>
              <a:t>=</a:t>
            </a:r>
            <a:r>
              <a:rPr lang="zh-CN" altLang="en-US">
                <a:solidFill>
                  <a:srgbClr val="230D75"/>
                </a:solidFill>
                <a:latin typeface="Arial" charset="0"/>
              </a:rPr>
              <a:t>消费</a:t>
            </a:r>
            <a:endParaRPr lang="zh-CN" altLang="en-US">
              <a:solidFill>
                <a:srgbClr val="230D75"/>
              </a:solidFill>
              <a:latin typeface="Arial" charset="0"/>
              <a:sym typeface="Monotype Sorts"/>
            </a:endParaRPr>
          </a:p>
        </p:txBody>
      </p:sp>
      <p:pic>
        <p:nvPicPr>
          <p:cNvPr id="171019" name="Picture 11"/>
          <p:cNvPicPr>
            <a:picLocks noChangeAspect="1" noChangeArrowheads="1"/>
          </p:cNvPicPr>
          <p:nvPr/>
        </p:nvPicPr>
        <p:blipFill>
          <a:blip r:embed="rId5"/>
          <a:srcRect/>
          <a:stretch>
            <a:fillRect/>
          </a:stretch>
        </p:blipFill>
        <p:spPr bwMode="auto">
          <a:xfrm>
            <a:off x="3203575" y="3429000"/>
            <a:ext cx="5472113" cy="2687638"/>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1011">
                                            <p:bg/>
                                          </p:spTgt>
                                        </p:tgtEl>
                                        <p:attrNameLst>
                                          <p:attrName>style.visibility</p:attrName>
                                        </p:attrNameLst>
                                      </p:cBhvr>
                                      <p:to>
                                        <p:strVal val="visible"/>
                                      </p:to>
                                    </p:set>
                                    <p:animEffect transition="in" filter="blinds(horizontal)">
                                      <p:cBhvr>
                                        <p:cTn id="7" dur="500"/>
                                        <p:tgtEl>
                                          <p:spTgt spid="171011">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71011">
                                            <p:txEl>
                                              <p:pRg st="0" end="0"/>
                                            </p:txEl>
                                          </p:spTgt>
                                        </p:tgtEl>
                                        <p:attrNameLst>
                                          <p:attrName>style.visibility</p:attrName>
                                        </p:attrNameLst>
                                      </p:cBhvr>
                                      <p:to>
                                        <p:strVal val="visible"/>
                                      </p:to>
                                    </p:set>
                                    <p:animEffect transition="in" filter="blinds(horizontal)">
                                      <p:cBhvr>
                                        <p:cTn id="12" dur="500"/>
                                        <p:tgtEl>
                                          <p:spTgt spid="171011">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71013"/>
                                        </p:tgtEl>
                                        <p:attrNameLst>
                                          <p:attrName>style.visibility</p:attrName>
                                        </p:attrNameLst>
                                      </p:cBhvr>
                                      <p:to>
                                        <p:strVal val="visible"/>
                                      </p:to>
                                    </p:set>
                                    <p:animEffect transition="in" filter="blinds(horizontal)">
                                      <p:cBhvr>
                                        <p:cTn id="17" dur="500"/>
                                        <p:tgtEl>
                                          <p:spTgt spid="17101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71016"/>
                                        </p:tgtEl>
                                        <p:attrNameLst>
                                          <p:attrName>style.visibility</p:attrName>
                                        </p:attrNameLst>
                                      </p:cBhvr>
                                      <p:to>
                                        <p:strVal val="visible"/>
                                      </p:to>
                                    </p:set>
                                    <p:animEffect transition="in" filter="blinds(horizontal)">
                                      <p:cBhvr>
                                        <p:cTn id="22" dur="500"/>
                                        <p:tgtEl>
                                          <p:spTgt spid="17101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71018"/>
                                        </p:tgtEl>
                                        <p:attrNameLst>
                                          <p:attrName>style.visibility</p:attrName>
                                        </p:attrNameLst>
                                      </p:cBhvr>
                                      <p:to>
                                        <p:strVal val="visible"/>
                                      </p:to>
                                    </p:set>
                                    <p:animEffect transition="in" filter="blinds(horizontal)">
                                      <p:cBhvr>
                                        <p:cTn id="27" dur="500"/>
                                        <p:tgtEl>
                                          <p:spTgt spid="17101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171019"/>
                                        </p:tgtEl>
                                        <p:attrNameLst>
                                          <p:attrName>style.visibility</p:attrName>
                                        </p:attrNameLst>
                                      </p:cBhvr>
                                      <p:to>
                                        <p:strVal val="visible"/>
                                      </p:to>
                                    </p:set>
                                    <p:animEffect transition="in" filter="blinds(horizontal)">
                                      <p:cBhvr>
                                        <p:cTn id="32" dur="500"/>
                                        <p:tgtEl>
                                          <p:spTgt spid="1710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1" grpId="0" build="p" animBg="1"/>
      <p:bldP spid="171013" grpId="0" animBg="1"/>
      <p:bldP spid="171016" grpId="0" animBg="1"/>
      <p:bldP spid="171018"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Rectangle 2"/>
          <p:cNvSpPr>
            <a:spLocks noGrp="1" noChangeArrowheads="1"/>
          </p:cNvSpPr>
          <p:nvPr>
            <p:ph type="title"/>
          </p:nvPr>
        </p:nvSpPr>
        <p:spPr>
          <a:extLst/>
        </p:spPr>
        <p:txBody>
          <a:bodyPr/>
          <a:lstStyle/>
          <a:p>
            <a:pPr eaLnBrk="1" hangingPunct="1">
              <a:defRPr/>
            </a:pPr>
            <a:r>
              <a:rPr lang="zh-CN" altLang="en-US"/>
              <a:t>从</a:t>
            </a:r>
            <a:r>
              <a:rPr lang="en-US" altLang="zh-CN"/>
              <a:t>GDP</a:t>
            </a:r>
            <a:r>
              <a:rPr lang="zh-CN" altLang="en-US"/>
              <a:t>的计算得出国民收入公式</a:t>
            </a:r>
          </a:p>
        </p:txBody>
      </p:sp>
      <p:sp>
        <p:nvSpPr>
          <p:cNvPr id="236547" name="Rectangle 3"/>
          <p:cNvSpPr>
            <a:spLocks noGrp="1" noChangeArrowheads="1"/>
          </p:cNvSpPr>
          <p:nvPr>
            <p:ph type="body" idx="1"/>
          </p:nvPr>
        </p:nvSpPr>
        <p:spPr>
          <a:xfrm>
            <a:off x="395288" y="1244600"/>
            <a:ext cx="8229600" cy="514350"/>
          </a:xfrm>
          <a:ln cap="flat"/>
        </p:spPr>
        <p:txBody>
          <a:bodyPr/>
          <a:lstStyle/>
          <a:p>
            <a:pPr eaLnBrk="1" hangingPunct="1">
              <a:buFont typeface="Wingdings" pitchFamily="2" charset="2"/>
              <a:buNone/>
            </a:pPr>
            <a:r>
              <a:rPr lang="zh-CN" altLang="en-US" smtClean="0"/>
              <a:t>假设：一国内所有收入都用以支出。即总支出＝总收入</a:t>
            </a:r>
            <a:endParaRPr lang="zh-CN" altLang="en-US" smtClean="0">
              <a:sym typeface="Monotype Sorts"/>
            </a:endParaRPr>
          </a:p>
        </p:txBody>
      </p:sp>
      <p:sp>
        <p:nvSpPr>
          <p:cNvPr id="236549" name="Rectangle 5" descr="纸莎草纸"/>
          <p:cNvSpPr>
            <a:spLocks noChangeArrowheads="1"/>
          </p:cNvSpPr>
          <p:nvPr/>
        </p:nvSpPr>
        <p:spPr bwMode="auto">
          <a:xfrm>
            <a:off x="395288" y="3068638"/>
            <a:ext cx="5256212" cy="792162"/>
          </a:xfrm>
          <a:prstGeom prst="rect">
            <a:avLst/>
          </a:prstGeom>
          <a:blipFill dpi="0" rotWithShape="0">
            <a:blip r:embed="rId2"/>
            <a:srcRect/>
            <a:tile tx="0" ty="0" sx="100000" sy="100000" flip="none" algn="tl"/>
          </a:blipFill>
          <a:ln w="57150" cmpd="thickThin">
            <a:solidFill>
              <a:srgbClr val="CCCC00"/>
            </a:solidFill>
            <a:miter lim="800000"/>
            <a:headEnd/>
            <a:tailEnd/>
          </a:ln>
        </p:spPr>
        <p:txBody>
          <a:bodyPr/>
          <a:lstStyle/>
          <a:p>
            <a:pPr>
              <a:lnSpc>
                <a:spcPct val="90000"/>
              </a:lnSpc>
              <a:buClr>
                <a:schemeClr val="hlink"/>
              </a:buClr>
              <a:buFont typeface="Wingdings" pitchFamily="2" charset="2"/>
              <a:buChar char="u"/>
            </a:pPr>
            <a:r>
              <a:rPr lang="en-US" altLang="zh-CN" sz="2400">
                <a:solidFill>
                  <a:srgbClr val="230D75"/>
                </a:solidFill>
                <a:latin typeface="Arial" charset="0"/>
                <a:sym typeface="Monotype Sorts"/>
              </a:rPr>
              <a:t>GDP</a:t>
            </a:r>
            <a:r>
              <a:rPr lang="zh-CN" altLang="en-US" sz="2400">
                <a:solidFill>
                  <a:srgbClr val="230D75"/>
                </a:solidFill>
                <a:latin typeface="Arial" charset="0"/>
                <a:sym typeface="Monotype Sorts"/>
              </a:rPr>
              <a:t>＝</a:t>
            </a:r>
            <a:r>
              <a:rPr lang="zh-CN" altLang="en-US" sz="2400">
                <a:solidFill>
                  <a:srgbClr val="101016"/>
                </a:solidFill>
                <a:latin typeface="Arial" charset="0"/>
              </a:rPr>
              <a:t>总支出＝总需求</a:t>
            </a:r>
            <a:r>
              <a:rPr lang="en-US" altLang="zh-CN" sz="2400">
                <a:solidFill>
                  <a:srgbClr val="101016"/>
                </a:solidFill>
                <a:latin typeface="Arial" charset="0"/>
              </a:rPr>
              <a:t> = C + I</a:t>
            </a:r>
          </a:p>
          <a:p>
            <a:pPr>
              <a:lnSpc>
                <a:spcPct val="90000"/>
              </a:lnSpc>
              <a:buClr>
                <a:schemeClr val="hlink"/>
              </a:buClr>
              <a:buFont typeface="Wingdings" pitchFamily="2" charset="2"/>
              <a:buChar char="u"/>
            </a:pPr>
            <a:r>
              <a:rPr lang="en-US" altLang="zh-CN" sz="2400">
                <a:solidFill>
                  <a:srgbClr val="FF0000"/>
                </a:solidFill>
                <a:latin typeface="Arial" charset="0"/>
              </a:rPr>
              <a:t>GDP</a:t>
            </a:r>
            <a:r>
              <a:rPr lang="zh-CN" altLang="en-US" sz="2400">
                <a:solidFill>
                  <a:srgbClr val="FF0000"/>
                </a:solidFill>
                <a:latin typeface="Arial" charset="0"/>
              </a:rPr>
              <a:t>＝</a:t>
            </a:r>
            <a:r>
              <a:rPr lang="zh-CN" altLang="en-US" sz="2400">
                <a:solidFill>
                  <a:srgbClr val="101016"/>
                </a:solidFill>
                <a:latin typeface="Arial" charset="0"/>
              </a:rPr>
              <a:t>总收入＝总供给</a:t>
            </a:r>
            <a:r>
              <a:rPr lang="en-US" altLang="zh-CN" sz="2400">
                <a:solidFill>
                  <a:srgbClr val="101016"/>
                </a:solidFill>
                <a:latin typeface="Arial" charset="0"/>
              </a:rPr>
              <a:t> = C + S</a:t>
            </a:r>
          </a:p>
        </p:txBody>
      </p:sp>
      <p:sp>
        <p:nvSpPr>
          <p:cNvPr id="236550" name="Rectangle 6" descr="蓝色面巾纸"/>
          <p:cNvSpPr>
            <a:spLocks noChangeArrowheads="1"/>
          </p:cNvSpPr>
          <p:nvPr/>
        </p:nvSpPr>
        <p:spPr bwMode="auto">
          <a:xfrm>
            <a:off x="395288" y="4005263"/>
            <a:ext cx="8280400" cy="1368425"/>
          </a:xfrm>
          <a:prstGeom prst="rect">
            <a:avLst/>
          </a:prstGeom>
          <a:blipFill dpi="0" rotWithShape="0">
            <a:blip r:embed="rId3"/>
            <a:srcRect/>
            <a:tile tx="0" ty="0" sx="100000" sy="100000" flip="none" algn="tl"/>
          </a:blipFill>
          <a:ln w="38100" cmpd="dbl">
            <a:solidFill>
              <a:schemeClr val="tx1"/>
            </a:solidFill>
            <a:miter lim="800000"/>
            <a:headEnd/>
            <a:tailEnd/>
          </a:ln>
        </p:spPr>
        <p:txBody>
          <a:bodyPr/>
          <a:lstStyle/>
          <a:p>
            <a:pPr marL="95250" indent="-95250">
              <a:lnSpc>
                <a:spcPct val="120000"/>
              </a:lnSpc>
              <a:spcBef>
                <a:spcPct val="20000"/>
              </a:spcBef>
              <a:buClr>
                <a:srgbClr val="336600"/>
              </a:buClr>
              <a:buSzPct val="95000"/>
              <a:buFont typeface="Wingdings" pitchFamily="2" charset="2"/>
              <a:buChar char="p"/>
            </a:pPr>
            <a:r>
              <a:rPr lang="zh-CN" altLang="en-US">
                <a:solidFill>
                  <a:srgbClr val="230D75"/>
                </a:solidFill>
                <a:latin typeface="Arial" charset="0"/>
                <a:sym typeface="Monotype Sorts"/>
              </a:rPr>
              <a:t>假设企业：全部是实物资产投资＝固定投资＋存货投资</a:t>
            </a:r>
            <a:endParaRPr lang="en-US" altLang="zh-CN">
              <a:solidFill>
                <a:srgbClr val="230D75"/>
              </a:solidFill>
              <a:latin typeface="Arial" charset="0"/>
              <a:sym typeface="Monotype Sorts"/>
            </a:endParaRPr>
          </a:p>
          <a:p>
            <a:pPr marL="95250" indent="-95250">
              <a:lnSpc>
                <a:spcPct val="120000"/>
              </a:lnSpc>
              <a:spcBef>
                <a:spcPct val="20000"/>
              </a:spcBef>
              <a:buClr>
                <a:srgbClr val="336600"/>
              </a:buClr>
              <a:buSzPct val="95000"/>
              <a:buFont typeface="Wingdings" pitchFamily="2" charset="2"/>
              <a:buChar char="p"/>
            </a:pPr>
            <a:r>
              <a:rPr lang="zh-CN" altLang="en-US">
                <a:solidFill>
                  <a:srgbClr val="230D75"/>
                </a:solidFill>
                <a:latin typeface="Arial" charset="0"/>
                <a:sym typeface="Monotype Sorts"/>
              </a:rPr>
              <a:t>由于把企业没有售出的产品计入</a:t>
            </a:r>
            <a:r>
              <a:rPr lang="zh-CN" altLang="en-US">
                <a:solidFill>
                  <a:srgbClr val="FF00FF"/>
                </a:solidFill>
                <a:latin typeface="Arial" charset="0"/>
                <a:sym typeface="Monotype Sorts"/>
              </a:rPr>
              <a:t>存货投资</a:t>
            </a:r>
            <a:r>
              <a:rPr lang="zh-CN" altLang="en-US">
                <a:solidFill>
                  <a:srgbClr val="230D75"/>
                </a:solidFill>
                <a:latin typeface="Arial" charset="0"/>
                <a:sym typeface="Monotype Sorts"/>
              </a:rPr>
              <a:t>，所以</a:t>
            </a:r>
            <a:endParaRPr lang="en-US" altLang="zh-CN">
              <a:solidFill>
                <a:srgbClr val="230D75"/>
              </a:solidFill>
              <a:latin typeface="Arial" charset="0"/>
              <a:sym typeface="Monotype Sorts"/>
            </a:endParaRPr>
          </a:p>
          <a:p>
            <a:pPr marL="95250" indent="-95250">
              <a:lnSpc>
                <a:spcPct val="120000"/>
              </a:lnSpc>
              <a:spcBef>
                <a:spcPct val="20000"/>
              </a:spcBef>
              <a:buClr>
                <a:srgbClr val="336600"/>
              </a:buClr>
              <a:buSzPct val="95000"/>
              <a:buFont typeface="Wingdings" pitchFamily="2" charset="2"/>
              <a:buChar char="p"/>
            </a:pPr>
            <a:r>
              <a:rPr lang="zh-CN" altLang="en-US">
                <a:solidFill>
                  <a:srgbClr val="230D75"/>
                </a:solidFill>
                <a:latin typeface="Arial" charset="0"/>
                <a:sym typeface="Monotype Sorts"/>
              </a:rPr>
              <a:t>从事后和名义上看，存在恒等式：</a:t>
            </a:r>
            <a:r>
              <a:rPr lang="zh-CN" altLang="en-US">
                <a:solidFill>
                  <a:srgbClr val="FF0000"/>
                </a:solidFill>
                <a:latin typeface="Arial" charset="0"/>
              </a:rPr>
              <a:t>总需求＝总供给</a:t>
            </a:r>
            <a:endParaRPr lang="zh-CN" altLang="en-US">
              <a:solidFill>
                <a:srgbClr val="230D75"/>
              </a:solidFill>
              <a:latin typeface="Arial" charset="0"/>
              <a:sym typeface="Monotype Sorts"/>
            </a:endParaRPr>
          </a:p>
        </p:txBody>
      </p:sp>
      <p:sp>
        <p:nvSpPr>
          <p:cNvPr id="236551" name="Rectangle 7" descr="花束"/>
          <p:cNvSpPr>
            <a:spLocks noChangeArrowheads="1"/>
          </p:cNvSpPr>
          <p:nvPr/>
        </p:nvSpPr>
        <p:spPr bwMode="auto">
          <a:xfrm>
            <a:off x="395288" y="1989138"/>
            <a:ext cx="8280400" cy="898525"/>
          </a:xfrm>
          <a:prstGeom prst="rect">
            <a:avLst/>
          </a:prstGeom>
          <a:blipFill dpi="0" rotWithShape="0">
            <a:blip r:embed="rId4"/>
            <a:srcRect/>
            <a:tile tx="0" ty="0" sx="100000" sy="100000" flip="none" algn="tl"/>
          </a:blipFill>
          <a:ln w="76200">
            <a:solidFill>
              <a:srgbClr val="336600"/>
            </a:solidFill>
            <a:miter lim="800000"/>
            <a:headEnd/>
            <a:tailEnd/>
          </a:ln>
        </p:spPr>
        <p:txBody>
          <a:bodyPr>
            <a:spAutoFit/>
          </a:bodyPr>
          <a:lstStyle/>
          <a:p>
            <a:pPr>
              <a:lnSpc>
                <a:spcPct val="120000"/>
              </a:lnSpc>
              <a:buClr>
                <a:srgbClr val="660033"/>
              </a:buClr>
              <a:buSzPct val="95000"/>
              <a:buFont typeface="Wingdings" pitchFamily="2" charset="2"/>
              <a:buChar char="n"/>
            </a:pPr>
            <a:r>
              <a:rPr lang="zh-CN" altLang="en-US">
                <a:solidFill>
                  <a:srgbClr val="101016"/>
                </a:solidFill>
                <a:latin typeface="Arial" charset="0"/>
                <a:sym typeface="Monotype Sorts"/>
              </a:rPr>
              <a:t>从</a:t>
            </a:r>
            <a:r>
              <a:rPr lang="zh-CN" altLang="en-US">
                <a:solidFill>
                  <a:srgbClr val="6600FF"/>
                </a:solidFill>
                <a:latin typeface="Arial" charset="0"/>
                <a:sym typeface="Monotype Sorts"/>
              </a:rPr>
              <a:t>总支出</a:t>
            </a:r>
            <a:r>
              <a:rPr lang="zh-CN" altLang="en-US">
                <a:solidFill>
                  <a:srgbClr val="101016"/>
                </a:solidFill>
                <a:latin typeface="Arial" charset="0"/>
                <a:sym typeface="Monotype Sorts"/>
              </a:rPr>
              <a:t>的需求角度看，</a:t>
            </a:r>
            <a:r>
              <a:rPr lang="en-US" altLang="zh-CN">
                <a:solidFill>
                  <a:srgbClr val="101016"/>
                </a:solidFill>
                <a:latin typeface="Arial" charset="0"/>
                <a:sym typeface="Monotype Sorts"/>
              </a:rPr>
              <a:t>GDP = C</a:t>
            </a:r>
            <a:r>
              <a:rPr lang="zh-CN" altLang="en-US">
                <a:solidFill>
                  <a:srgbClr val="101016"/>
                </a:solidFill>
                <a:latin typeface="Arial" charset="0"/>
                <a:sym typeface="Monotype Sorts"/>
              </a:rPr>
              <a:t>＋</a:t>
            </a:r>
            <a:r>
              <a:rPr lang="en-US" altLang="zh-CN">
                <a:solidFill>
                  <a:srgbClr val="101016"/>
                </a:solidFill>
                <a:latin typeface="Arial" charset="0"/>
                <a:sym typeface="Monotype Sorts"/>
              </a:rPr>
              <a:t>I</a:t>
            </a:r>
          </a:p>
          <a:p>
            <a:pPr>
              <a:lnSpc>
                <a:spcPct val="120000"/>
              </a:lnSpc>
              <a:buClr>
                <a:srgbClr val="660033"/>
              </a:buClr>
              <a:buSzPct val="95000"/>
              <a:buFont typeface="Wingdings" pitchFamily="2" charset="2"/>
              <a:buChar char="n"/>
            </a:pPr>
            <a:r>
              <a:rPr lang="zh-CN" altLang="en-US">
                <a:solidFill>
                  <a:srgbClr val="101016"/>
                </a:solidFill>
                <a:latin typeface="Arial" charset="0"/>
                <a:sym typeface="Monotype Sorts"/>
              </a:rPr>
              <a:t>从</a:t>
            </a:r>
            <a:r>
              <a:rPr lang="zh-CN" altLang="en-US">
                <a:solidFill>
                  <a:srgbClr val="6600FF"/>
                </a:solidFill>
                <a:latin typeface="Arial" charset="0"/>
                <a:sym typeface="Monotype Sorts"/>
              </a:rPr>
              <a:t>总收入</a:t>
            </a:r>
            <a:r>
              <a:rPr lang="zh-CN" altLang="en-US">
                <a:solidFill>
                  <a:srgbClr val="101016"/>
                </a:solidFill>
                <a:latin typeface="Arial" charset="0"/>
                <a:sym typeface="Monotype Sorts"/>
              </a:rPr>
              <a:t>的去向角度看，</a:t>
            </a:r>
            <a:r>
              <a:rPr lang="en-US" altLang="zh-CN">
                <a:solidFill>
                  <a:srgbClr val="101016"/>
                </a:solidFill>
                <a:latin typeface="Arial" charset="0"/>
                <a:sym typeface="Monotype Sorts"/>
              </a:rPr>
              <a:t>GDP = C</a:t>
            </a:r>
            <a:r>
              <a:rPr lang="zh-CN" altLang="en-US">
                <a:solidFill>
                  <a:srgbClr val="101016"/>
                </a:solidFill>
                <a:latin typeface="Arial" charset="0"/>
                <a:sym typeface="Monotype Sorts"/>
              </a:rPr>
              <a:t>＋</a:t>
            </a:r>
            <a:r>
              <a:rPr lang="en-US" altLang="zh-CN">
                <a:solidFill>
                  <a:srgbClr val="101016"/>
                </a:solidFill>
                <a:latin typeface="Arial" charset="0"/>
                <a:sym typeface="Monotype Sorts"/>
              </a:rPr>
              <a:t>S </a:t>
            </a:r>
          </a:p>
        </p:txBody>
      </p:sp>
      <p:sp>
        <p:nvSpPr>
          <p:cNvPr id="236552" name="Rectangle 8" descr="花束"/>
          <p:cNvSpPr>
            <a:spLocks noChangeArrowheads="1"/>
          </p:cNvSpPr>
          <p:nvPr/>
        </p:nvSpPr>
        <p:spPr bwMode="auto">
          <a:xfrm>
            <a:off x="395288" y="5589588"/>
            <a:ext cx="8353425" cy="533400"/>
          </a:xfrm>
          <a:prstGeom prst="rect">
            <a:avLst/>
          </a:prstGeom>
          <a:blipFill dpi="0" rotWithShape="0">
            <a:blip r:embed="rId4"/>
            <a:srcRect/>
            <a:tile tx="0" ty="0" sx="100000" sy="100000" flip="none" algn="tl"/>
          </a:blipFill>
          <a:ln w="76200">
            <a:solidFill>
              <a:srgbClr val="336600"/>
            </a:solidFill>
            <a:miter lim="800000"/>
            <a:headEnd/>
            <a:tailEnd/>
          </a:ln>
        </p:spPr>
        <p:txBody>
          <a:bodyPr>
            <a:spAutoFit/>
          </a:bodyPr>
          <a:lstStyle/>
          <a:p>
            <a:pPr>
              <a:lnSpc>
                <a:spcPct val="120000"/>
              </a:lnSpc>
              <a:buClr>
                <a:srgbClr val="660033"/>
              </a:buClr>
              <a:buSzPct val="95000"/>
              <a:buFont typeface="Wingdings" pitchFamily="2" charset="2"/>
              <a:buChar char="n"/>
            </a:pPr>
            <a:r>
              <a:rPr lang="en-US" altLang="zh-CN">
                <a:solidFill>
                  <a:srgbClr val="101016"/>
                </a:solidFill>
                <a:latin typeface="Arial" charset="0"/>
                <a:sym typeface="Monotype Sorts"/>
              </a:rPr>
              <a:t>C+I=GDP=C+S   </a:t>
            </a:r>
            <a:r>
              <a:rPr lang="zh-CN" altLang="en-US">
                <a:solidFill>
                  <a:srgbClr val="101016"/>
                </a:solidFill>
                <a:latin typeface="Arial" charset="0"/>
                <a:sym typeface="Monotype Sorts"/>
              </a:rPr>
              <a:t>即：</a:t>
            </a:r>
            <a:r>
              <a:rPr lang="en-US" altLang="zh-CN">
                <a:solidFill>
                  <a:srgbClr val="101016"/>
                </a:solidFill>
                <a:latin typeface="Arial" charset="0"/>
                <a:sym typeface="Monotype Sorts"/>
              </a:rPr>
              <a:t> I=S   </a:t>
            </a:r>
            <a:r>
              <a:rPr lang="zh-CN" altLang="en-US">
                <a:solidFill>
                  <a:srgbClr val="101016"/>
                </a:solidFill>
                <a:latin typeface="Arial" charset="0"/>
                <a:sym typeface="Monotype Sorts"/>
              </a:rPr>
              <a:t>这就是</a:t>
            </a:r>
            <a:r>
              <a:rPr lang="zh-CN" altLang="en-US">
                <a:solidFill>
                  <a:srgbClr val="6600FF"/>
                </a:solidFill>
                <a:latin typeface="Arial" charset="0"/>
                <a:sym typeface="Monotype Sorts"/>
              </a:rPr>
              <a:t>投资－储蓄</a:t>
            </a:r>
            <a:r>
              <a:rPr lang="zh-CN" altLang="en-US">
                <a:solidFill>
                  <a:srgbClr val="101016"/>
                </a:solidFill>
                <a:latin typeface="Arial" charset="0"/>
                <a:sym typeface="Monotype Sorts"/>
              </a:rPr>
              <a:t>恒等式。</a:t>
            </a:r>
          </a:p>
        </p:txBody>
      </p:sp>
      <p:sp>
        <p:nvSpPr>
          <p:cNvPr id="236554" name="Text Box 10" descr="蓝色面巾纸"/>
          <p:cNvSpPr txBox="1">
            <a:spLocks noChangeArrowheads="1"/>
          </p:cNvSpPr>
          <p:nvPr/>
        </p:nvSpPr>
        <p:spPr bwMode="auto">
          <a:xfrm>
            <a:off x="5867400" y="3284538"/>
            <a:ext cx="2808288" cy="495300"/>
          </a:xfrm>
          <a:prstGeom prst="rect">
            <a:avLst/>
          </a:prstGeom>
          <a:blipFill dpi="0" rotWithShape="0">
            <a:blip r:embed="rId3"/>
            <a:srcRect/>
            <a:tile tx="0" ty="0" sx="100000" sy="100000" flip="none" algn="tl"/>
          </a:blipFill>
          <a:ln w="38100" cmpd="dbl">
            <a:solidFill>
              <a:schemeClr val="tx1"/>
            </a:solidFill>
            <a:miter lim="800000"/>
            <a:headEnd/>
            <a:tailEnd/>
          </a:ln>
        </p:spPr>
        <p:txBody>
          <a:bodyPr>
            <a:spAutoFit/>
          </a:bodyPr>
          <a:lstStyle/>
          <a:p>
            <a:pPr>
              <a:spcBef>
                <a:spcPct val="50000"/>
              </a:spcBef>
              <a:buClr>
                <a:srgbClr val="336600"/>
              </a:buClr>
              <a:buSzPct val="95000"/>
              <a:buFont typeface="Wingdings" pitchFamily="2" charset="2"/>
              <a:buNone/>
            </a:pPr>
            <a:r>
              <a:rPr lang="zh-CN" altLang="en-US" sz="2400">
                <a:solidFill>
                  <a:srgbClr val="19692C"/>
                </a:solidFill>
                <a:latin typeface="Arial" charset="0"/>
              </a:rPr>
              <a:t>都＝国民收入</a:t>
            </a:r>
            <a:r>
              <a:rPr lang="en-US" altLang="zh-CN" sz="2400">
                <a:solidFill>
                  <a:srgbClr val="19692C"/>
                </a:solidFill>
                <a:latin typeface="Arial" charset="0"/>
              </a:rPr>
              <a:t>Y</a:t>
            </a:r>
          </a:p>
        </p:txBody>
      </p:sp>
      <p:sp>
        <p:nvSpPr>
          <p:cNvPr id="236555" name="Line 11"/>
          <p:cNvSpPr>
            <a:spLocks noChangeShapeType="1"/>
          </p:cNvSpPr>
          <p:nvPr/>
        </p:nvSpPr>
        <p:spPr bwMode="auto">
          <a:xfrm>
            <a:off x="395288" y="6453188"/>
            <a:ext cx="2232025" cy="0"/>
          </a:xfrm>
          <a:prstGeom prst="line">
            <a:avLst/>
          </a:prstGeom>
          <a:noFill/>
          <a:ln w="76200" cmpd="tri">
            <a:solidFill>
              <a:srgbClr val="660066"/>
            </a:solidFill>
            <a:miter lim="800000"/>
            <a:headEnd/>
            <a:tailEnd/>
          </a:ln>
        </p:spPr>
        <p:txBody>
          <a:bodyPr wrap="none"/>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6547">
                                            <p:bg/>
                                          </p:spTgt>
                                        </p:tgtEl>
                                        <p:attrNameLst>
                                          <p:attrName>style.visibility</p:attrName>
                                        </p:attrNameLst>
                                      </p:cBhvr>
                                      <p:to>
                                        <p:strVal val="visible"/>
                                      </p:to>
                                    </p:set>
                                    <p:animEffect transition="in" filter="blinds(horizontal)">
                                      <p:cBhvr>
                                        <p:cTn id="7" dur="500"/>
                                        <p:tgtEl>
                                          <p:spTgt spid="236547">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36547">
                                            <p:txEl>
                                              <p:pRg st="0" end="0"/>
                                            </p:txEl>
                                          </p:spTgt>
                                        </p:tgtEl>
                                        <p:attrNameLst>
                                          <p:attrName>style.visibility</p:attrName>
                                        </p:attrNameLst>
                                      </p:cBhvr>
                                      <p:to>
                                        <p:strVal val="visible"/>
                                      </p:to>
                                    </p:set>
                                    <p:animEffect transition="in" filter="blinds(horizontal)">
                                      <p:cBhvr>
                                        <p:cTn id="12" dur="500"/>
                                        <p:tgtEl>
                                          <p:spTgt spid="236547">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36551"/>
                                        </p:tgtEl>
                                        <p:attrNameLst>
                                          <p:attrName>style.visibility</p:attrName>
                                        </p:attrNameLst>
                                      </p:cBhvr>
                                      <p:to>
                                        <p:strVal val="visible"/>
                                      </p:to>
                                    </p:set>
                                    <p:animEffect transition="in" filter="blinds(horizontal)">
                                      <p:cBhvr>
                                        <p:cTn id="17" dur="500"/>
                                        <p:tgtEl>
                                          <p:spTgt spid="23655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36549"/>
                                        </p:tgtEl>
                                        <p:attrNameLst>
                                          <p:attrName>style.visibility</p:attrName>
                                        </p:attrNameLst>
                                      </p:cBhvr>
                                      <p:to>
                                        <p:strVal val="visible"/>
                                      </p:to>
                                    </p:set>
                                    <p:animEffect transition="in" filter="blinds(horizontal)">
                                      <p:cBhvr>
                                        <p:cTn id="22" dur="500"/>
                                        <p:tgtEl>
                                          <p:spTgt spid="23654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36554"/>
                                        </p:tgtEl>
                                        <p:attrNameLst>
                                          <p:attrName>style.visibility</p:attrName>
                                        </p:attrNameLst>
                                      </p:cBhvr>
                                      <p:to>
                                        <p:strVal val="visible"/>
                                      </p:to>
                                    </p:set>
                                    <p:animEffect transition="in" filter="blinds(horizontal)">
                                      <p:cBhvr>
                                        <p:cTn id="27" dur="500"/>
                                        <p:tgtEl>
                                          <p:spTgt spid="23655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36550"/>
                                        </p:tgtEl>
                                        <p:attrNameLst>
                                          <p:attrName>style.visibility</p:attrName>
                                        </p:attrNameLst>
                                      </p:cBhvr>
                                      <p:to>
                                        <p:strVal val="visible"/>
                                      </p:to>
                                    </p:set>
                                    <p:animEffect transition="in" filter="blinds(horizontal)">
                                      <p:cBhvr>
                                        <p:cTn id="32" dur="500"/>
                                        <p:tgtEl>
                                          <p:spTgt spid="23655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36552"/>
                                        </p:tgtEl>
                                        <p:attrNameLst>
                                          <p:attrName>style.visibility</p:attrName>
                                        </p:attrNameLst>
                                      </p:cBhvr>
                                      <p:to>
                                        <p:strVal val="visible"/>
                                      </p:to>
                                    </p:set>
                                    <p:animEffect transition="in" filter="blinds(horizontal)">
                                      <p:cBhvr>
                                        <p:cTn id="37" dur="500"/>
                                        <p:tgtEl>
                                          <p:spTgt spid="23655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236555"/>
                                        </p:tgtEl>
                                        <p:attrNameLst>
                                          <p:attrName>style.visibility</p:attrName>
                                        </p:attrNameLst>
                                      </p:cBhvr>
                                      <p:to>
                                        <p:strVal val="visible"/>
                                      </p:to>
                                    </p:set>
                                    <p:animEffect transition="in" filter="dissolve">
                                      <p:cBhvr>
                                        <p:cTn id="42" dur="500"/>
                                        <p:tgtEl>
                                          <p:spTgt spid="2365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6547" grpId="0" build="p" animBg="1"/>
      <p:bldP spid="236549" grpId="0" animBg="1"/>
      <p:bldP spid="236550" grpId="0" animBg="1"/>
      <p:bldP spid="236551" grpId="0" animBg="1"/>
      <p:bldP spid="236552" grpId="0" animBg="1"/>
      <p:bldP spid="236554" grpId="0" animBg="1"/>
      <p:bldP spid="236555"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2"/>
          <p:cNvSpPr>
            <a:spLocks noGrp="1" noChangeArrowheads="1"/>
          </p:cNvSpPr>
          <p:nvPr>
            <p:ph type="title"/>
          </p:nvPr>
        </p:nvSpPr>
        <p:spPr>
          <a:extLst/>
        </p:spPr>
        <p:txBody>
          <a:bodyPr/>
          <a:lstStyle/>
          <a:p>
            <a:pPr eaLnBrk="1" hangingPunct="1">
              <a:defRPr/>
            </a:pPr>
            <a:r>
              <a:rPr lang="en-US" altLang="zh-CN"/>
              <a:t>I = S</a:t>
            </a:r>
            <a:r>
              <a:rPr lang="zh-CN" altLang="en-US"/>
              <a:t>恒等式的解释</a:t>
            </a:r>
          </a:p>
        </p:txBody>
      </p:sp>
      <p:sp>
        <p:nvSpPr>
          <p:cNvPr id="228356" name="Rectangle 4"/>
          <p:cNvSpPr>
            <a:spLocks noGrp="1" noChangeArrowheads="1"/>
          </p:cNvSpPr>
          <p:nvPr>
            <p:ph type="body" idx="1"/>
          </p:nvPr>
        </p:nvSpPr>
        <p:spPr>
          <a:xfrm>
            <a:off x="395288" y="1268413"/>
            <a:ext cx="8229600" cy="1184275"/>
          </a:xfrm>
          <a:ln cap="flat"/>
        </p:spPr>
        <p:txBody>
          <a:bodyPr/>
          <a:lstStyle/>
          <a:p>
            <a:pPr eaLnBrk="1" hangingPunct="1">
              <a:lnSpc>
                <a:spcPct val="100000"/>
              </a:lnSpc>
            </a:pPr>
            <a:r>
              <a:rPr lang="zh-CN" altLang="en-US" smtClean="0"/>
              <a:t>大写的</a:t>
            </a:r>
            <a:r>
              <a:rPr lang="en-US" altLang="zh-CN" smtClean="0"/>
              <a:t> </a:t>
            </a:r>
            <a:r>
              <a:rPr lang="en-US" altLang="zh-CN" smtClean="0">
                <a:solidFill>
                  <a:srgbClr val="FF00FF"/>
                </a:solidFill>
              </a:rPr>
              <a:t>I = S</a:t>
            </a:r>
            <a:r>
              <a:rPr lang="en-US" altLang="zh-CN" smtClean="0"/>
              <a:t>  </a:t>
            </a:r>
            <a:r>
              <a:rPr lang="zh-CN" altLang="en-US" smtClean="0"/>
              <a:t>会计方面</a:t>
            </a:r>
            <a:r>
              <a:rPr lang="en-US" altLang="zh-CN" smtClean="0"/>
              <a:t>  </a:t>
            </a:r>
            <a:r>
              <a:rPr lang="zh-CN" altLang="en-US" smtClean="0"/>
              <a:t>不论经济状况如何，储蓄和投资都相等。</a:t>
            </a:r>
            <a:endParaRPr lang="en-US" altLang="zh-CN" smtClean="0"/>
          </a:p>
          <a:p>
            <a:pPr eaLnBrk="1" hangingPunct="1">
              <a:lnSpc>
                <a:spcPct val="100000"/>
              </a:lnSpc>
            </a:pPr>
            <a:r>
              <a:rPr lang="zh-CN" altLang="en-US" smtClean="0"/>
              <a:t>是</a:t>
            </a:r>
            <a:r>
              <a:rPr lang="zh-CN" altLang="en-US" smtClean="0">
                <a:solidFill>
                  <a:srgbClr val="6600FF"/>
                </a:solidFill>
              </a:rPr>
              <a:t>事后的</a:t>
            </a:r>
            <a:r>
              <a:rPr lang="zh-CN" altLang="en-US" smtClean="0"/>
              <a:t>实际发生的国民收入均衡；</a:t>
            </a:r>
            <a:endParaRPr lang="en-US" altLang="zh-CN" smtClean="0"/>
          </a:p>
          <a:p>
            <a:pPr eaLnBrk="1" hangingPunct="1">
              <a:lnSpc>
                <a:spcPct val="100000"/>
              </a:lnSpc>
            </a:pPr>
            <a:r>
              <a:rPr lang="zh-CN" altLang="en-US" smtClean="0"/>
              <a:t>名义上的，按照当年市场价格计算。</a:t>
            </a:r>
          </a:p>
        </p:txBody>
      </p:sp>
      <p:sp>
        <p:nvSpPr>
          <p:cNvPr id="228357" name="Rectangle 5"/>
          <p:cNvSpPr>
            <a:spLocks noChangeArrowheads="1"/>
          </p:cNvSpPr>
          <p:nvPr/>
        </p:nvSpPr>
        <p:spPr bwMode="auto">
          <a:xfrm>
            <a:off x="395288" y="2636838"/>
            <a:ext cx="6121400" cy="1368425"/>
          </a:xfrm>
          <a:prstGeom prst="rect">
            <a:avLst/>
          </a:prstGeom>
          <a:solidFill>
            <a:schemeClr val="tx1"/>
          </a:solidFill>
          <a:ln w="57150" cmpd="thickThin">
            <a:solidFill>
              <a:srgbClr val="000099"/>
            </a:solidFill>
            <a:miter lim="800000"/>
            <a:headEnd/>
            <a:tailEnd/>
          </a:ln>
        </p:spPr>
        <p:txBody>
          <a:bodyPr/>
          <a:lstStyle/>
          <a:p>
            <a:pPr marL="95250" indent="-95250">
              <a:lnSpc>
                <a:spcPct val="110000"/>
              </a:lnSpc>
              <a:spcBef>
                <a:spcPct val="20000"/>
              </a:spcBef>
              <a:buClr>
                <a:srgbClr val="FF0000"/>
              </a:buClr>
              <a:buSzPct val="95000"/>
              <a:buFont typeface="Wingdings" pitchFamily="2" charset="2"/>
              <a:buNone/>
            </a:pPr>
            <a:r>
              <a:rPr lang="zh-CN" altLang="en-US">
                <a:solidFill>
                  <a:srgbClr val="230D75"/>
                </a:solidFill>
                <a:latin typeface="Arial" charset="0"/>
              </a:rPr>
              <a:t>小写的</a:t>
            </a:r>
            <a:r>
              <a:rPr lang="en-US" altLang="zh-CN">
                <a:solidFill>
                  <a:srgbClr val="230D75"/>
                </a:solidFill>
                <a:latin typeface="Arial" charset="0"/>
              </a:rPr>
              <a:t>i = s </a:t>
            </a:r>
            <a:r>
              <a:rPr lang="zh-CN" altLang="en-US">
                <a:solidFill>
                  <a:srgbClr val="230D75"/>
                </a:solidFill>
                <a:latin typeface="Arial" charset="0"/>
              </a:rPr>
              <a:t>（</a:t>
            </a:r>
            <a:r>
              <a:rPr lang="zh-CN" altLang="en-US" sz="2400">
                <a:solidFill>
                  <a:srgbClr val="FF0000"/>
                </a:solidFill>
                <a:latin typeface="Arial" charset="0"/>
              </a:rPr>
              <a:t>经济方面</a:t>
            </a:r>
            <a:r>
              <a:rPr lang="en-US" altLang="zh-CN">
                <a:solidFill>
                  <a:srgbClr val="230D75"/>
                </a:solidFill>
                <a:latin typeface="Arial" charset="0"/>
              </a:rPr>
              <a:t> </a:t>
            </a:r>
            <a:r>
              <a:rPr lang="zh-CN" altLang="en-US">
                <a:solidFill>
                  <a:srgbClr val="230D75"/>
                </a:solidFill>
                <a:latin typeface="Arial" charset="0"/>
              </a:rPr>
              <a:t>），</a:t>
            </a:r>
            <a:r>
              <a:rPr lang="zh-CN" altLang="en-US" sz="1800">
                <a:solidFill>
                  <a:srgbClr val="230D75"/>
                </a:solidFill>
                <a:latin typeface="Arial" charset="0"/>
              </a:rPr>
              <a:t>却不一定存在</a:t>
            </a:r>
            <a:endParaRPr lang="en-US" altLang="zh-CN" sz="1800">
              <a:solidFill>
                <a:srgbClr val="230D75"/>
              </a:solidFill>
              <a:latin typeface="Arial" charset="0"/>
            </a:endParaRPr>
          </a:p>
          <a:p>
            <a:pPr marL="95250" indent="-95250">
              <a:lnSpc>
                <a:spcPct val="110000"/>
              </a:lnSpc>
              <a:spcBef>
                <a:spcPct val="20000"/>
              </a:spcBef>
              <a:buClr>
                <a:srgbClr val="FF0000"/>
              </a:buClr>
              <a:buSzPct val="95000"/>
              <a:buFont typeface="Wingdings" pitchFamily="2" charset="2"/>
              <a:buChar char="n"/>
            </a:pPr>
            <a:r>
              <a:rPr lang="zh-CN" altLang="en-US" sz="1800">
                <a:solidFill>
                  <a:srgbClr val="230D75"/>
                </a:solidFill>
                <a:latin typeface="Arial" charset="0"/>
              </a:rPr>
              <a:t>是</a:t>
            </a:r>
            <a:r>
              <a:rPr lang="zh-CN" altLang="en-US" sz="1800">
                <a:solidFill>
                  <a:srgbClr val="6600FF"/>
                </a:solidFill>
                <a:latin typeface="Arial" charset="0"/>
              </a:rPr>
              <a:t>事前</a:t>
            </a:r>
            <a:r>
              <a:rPr lang="zh-CN" altLang="en-US" sz="1800">
                <a:solidFill>
                  <a:srgbClr val="230D75"/>
                </a:solidFill>
                <a:latin typeface="Arial" charset="0"/>
              </a:rPr>
              <a:t>均衡问题，指意愿、计划的储蓄和投资。</a:t>
            </a:r>
            <a:endParaRPr lang="en-US" altLang="zh-CN" sz="1800">
              <a:solidFill>
                <a:srgbClr val="230D75"/>
              </a:solidFill>
              <a:latin typeface="Arial" charset="0"/>
            </a:endParaRPr>
          </a:p>
          <a:p>
            <a:pPr marL="95250" indent="-95250">
              <a:lnSpc>
                <a:spcPct val="110000"/>
              </a:lnSpc>
              <a:spcBef>
                <a:spcPct val="20000"/>
              </a:spcBef>
              <a:buClr>
                <a:srgbClr val="FF0000"/>
              </a:buClr>
              <a:buSzPct val="95000"/>
              <a:buFont typeface="Wingdings" pitchFamily="2" charset="2"/>
              <a:buChar char="n"/>
            </a:pPr>
            <a:r>
              <a:rPr lang="zh-CN" altLang="en-US" sz="1800">
                <a:solidFill>
                  <a:srgbClr val="230D75"/>
                </a:solidFill>
                <a:latin typeface="Arial" charset="0"/>
              </a:rPr>
              <a:t>剔除价格变动，根据实际价格计算。</a:t>
            </a:r>
          </a:p>
        </p:txBody>
      </p:sp>
      <p:sp>
        <p:nvSpPr>
          <p:cNvPr id="228358" name="Rectangle 6" descr="水滴"/>
          <p:cNvSpPr>
            <a:spLocks noChangeArrowheads="1"/>
          </p:cNvSpPr>
          <p:nvPr/>
        </p:nvSpPr>
        <p:spPr bwMode="auto">
          <a:xfrm>
            <a:off x="2771775" y="5229225"/>
            <a:ext cx="5832475" cy="1244600"/>
          </a:xfrm>
          <a:prstGeom prst="rect">
            <a:avLst/>
          </a:prstGeom>
          <a:blipFill dpi="0" rotWithShape="0">
            <a:blip r:embed="rId2">
              <a:alphaModFix amt="42000"/>
            </a:blip>
            <a:srcRect/>
            <a:tile tx="0" ty="0" sx="100000" sy="100000" flip="none" algn="tl"/>
          </a:blipFill>
          <a:ln w="57150" cmpd="thickThin">
            <a:solidFill>
              <a:srgbClr val="000099"/>
            </a:solidFill>
            <a:miter lim="800000"/>
            <a:headEnd/>
            <a:tailEnd/>
          </a:ln>
        </p:spPr>
        <p:txBody>
          <a:bodyPr>
            <a:spAutoFit/>
          </a:bodyPr>
          <a:lstStyle/>
          <a:p>
            <a:pPr lvl="1">
              <a:lnSpc>
                <a:spcPct val="120000"/>
              </a:lnSpc>
              <a:buClr>
                <a:srgbClr val="FF0000"/>
              </a:buClr>
              <a:buSzPct val="95000"/>
              <a:buFont typeface="Wingdings" pitchFamily="2" charset="2"/>
              <a:buChar char="n"/>
            </a:pPr>
            <a:r>
              <a:rPr lang="en-US" altLang="zh-CN">
                <a:solidFill>
                  <a:srgbClr val="000000"/>
                </a:solidFill>
                <a:latin typeface="Arial" charset="0"/>
              </a:rPr>
              <a:t>i = s</a:t>
            </a:r>
            <a:r>
              <a:rPr lang="zh-CN" altLang="en-US">
                <a:solidFill>
                  <a:srgbClr val="000000"/>
                </a:solidFill>
                <a:latin typeface="Arial" charset="0"/>
              </a:rPr>
              <a:t>（总需求</a:t>
            </a:r>
            <a:r>
              <a:rPr lang="en-US" altLang="zh-CN">
                <a:solidFill>
                  <a:srgbClr val="000000"/>
                </a:solidFill>
                <a:latin typeface="Arial" charset="0"/>
              </a:rPr>
              <a:t> = </a:t>
            </a:r>
            <a:r>
              <a:rPr lang="zh-CN" altLang="en-US">
                <a:solidFill>
                  <a:srgbClr val="000000"/>
                </a:solidFill>
                <a:latin typeface="Arial" charset="0"/>
              </a:rPr>
              <a:t>总供给）经济增长均衡</a:t>
            </a:r>
            <a:endParaRPr lang="en-US" altLang="zh-CN">
              <a:solidFill>
                <a:srgbClr val="000000"/>
              </a:solidFill>
              <a:latin typeface="Arial" charset="0"/>
            </a:endParaRPr>
          </a:p>
          <a:p>
            <a:pPr lvl="1">
              <a:lnSpc>
                <a:spcPct val="120000"/>
              </a:lnSpc>
              <a:buClr>
                <a:srgbClr val="FF0000"/>
              </a:buClr>
              <a:buSzPct val="95000"/>
              <a:buFont typeface="Wingdings" pitchFamily="2" charset="2"/>
              <a:buChar char="n"/>
            </a:pPr>
            <a:r>
              <a:rPr lang="en-US" altLang="zh-CN">
                <a:solidFill>
                  <a:srgbClr val="000000"/>
                </a:solidFill>
                <a:latin typeface="Arial" charset="0"/>
              </a:rPr>
              <a:t>i &lt; s</a:t>
            </a:r>
            <a:r>
              <a:rPr lang="zh-CN" altLang="en-US">
                <a:solidFill>
                  <a:srgbClr val="000000"/>
                </a:solidFill>
                <a:latin typeface="Arial" charset="0"/>
              </a:rPr>
              <a:t>（总需求</a:t>
            </a:r>
            <a:r>
              <a:rPr lang="en-US" altLang="zh-CN">
                <a:solidFill>
                  <a:srgbClr val="000000"/>
                </a:solidFill>
                <a:latin typeface="Arial" charset="0"/>
              </a:rPr>
              <a:t> &lt; </a:t>
            </a:r>
            <a:r>
              <a:rPr lang="zh-CN" altLang="en-US">
                <a:solidFill>
                  <a:srgbClr val="000000"/>
                </a:solidFill>
                <a:latin typeface="Arial" charset="0"/>
              </a:rPr>
              <a:t>总供给）经济增长收缩</a:t>
            </a:r>
            <a:endParaRPr lang="en-US" altLang="zh-CN">
              <a:solidFill>
                <a:srgbClr val="000000"/>
              </a:solidFill>
              <a:latin typeface="Arial" charset="0"/>
            </a:endParaRPr>
          </a:p>
          <a:p>
            <a:pPr lvl="1">
              <a:lnSpc>
                <a:spcPct val="120000"/>
              </a:lnSpc>
              <a:buClr>
                <a:srgbClr val="FF0000"/>
              </a:buClr>
              <a:buSzPct val="95000"/>
              <a:buFont typeface="Wingdings" pitchFamily="2" charset="2"/>
              <a:buChar char="n"/>
            </a:pPr>
            <a:r>
              <a:rPr lang="en-US" altLang="zh-CN">
                <a:solidFill>
                  <a:srgbClr val="000000"/>
                </a:solidFill>
                <a:latin typeface="Arial" charset="0"/>
              </a:rPr>
              <a:t>i &gt; s</a:t>
            </a:r>
            <a:r>
              <a:rPr lang="zh-CN" altLang="en-US">
                <a:solidFill>
                  <a:srgbClr val="000000"/>
                </a:solidFill>
                <a:latin typeface="Arial" charset="0"/>
              </a:rPr>
              <a:t>（总需求</a:t>
            </a:r>
            <a:r>
              <a:rPr lang="en-US" altLang="zh-CN">
                <a:solidFill>
                  <a:srgbClr val="000000"/>
                </a:solidFill>
                <a:latin typeface="Arial" charset="0"/>
              </a:rPr>
              <a:t> &gt; </a:t>
            </a:r>
            <a:r>
              <a:rPr lang="zh-CN" altLang="en-US">
                <a:solidFill>
                  <a:srgbClr val="000000"/>
                </a:solidFill>
                <a:latin typeface="Arial" charset="0"/>
              </a:rPr>
              <a:t>总供给）经济增长扩张</a:t>
            </a:r>
          </a:p>
        </p:txBody>
      </p:sp>
      <p:sp>
        <p:nvSpPr>
          <p:cNvPr id="228359" name="Rectangle 7"/>
          <p:cNvSpPr>
            <a:spLocks noChangeArrowheads="1"/>
          </p:cNvSpPr>
          <p:nvPr/>
        </p:nvSpPr>
        <p:spPr bwMode="auto">
          <a:xfrm>
            <a:off x="395288" y="4076700"/>
            <a:ext cx="6121400" cy="1008063"/>
          </a:xfrm>
          <a:prstGeom prst="rect">
            <a:avLst/>
          </a:prstGeom>
          <a:solidFill>
            <a:schemeClr val="tx1"/>
          </a:solidFill>
          <a:ln w="57150" cmpd="thickThin">
            <a:solidFill>
              <a:srgbClr val="000099"/>
            </a:solidFill>
            <a:miter lim="800000"/>
            <a:headEnd/>
            <a:tailEnd/>
          </a:ln>
        </p:spPr>
        <p:txBody>
          <a:bodyPr/>
          <a:lstStyle/>
          <a:p>
            <a:pPr marL="95250" indent="-95250">
              <a:lnSpc>
                <a:spcPct val="110000"/>
              </a:lnSpc>
              <a:spcBef>
                <a:spcPct val="20000"/>
              </a:spcBef>
              <a:buClr>
                <a:srgbClr val="FF0000"/>
              </a:buClr>
              <a:buSzPct val="95000"/>
              <a:buFont typeface="Wingdings" pitchFamily="2" charset="2"/>
              <a:buChar char="n"/>
            </a:pPr>
            <a:r>
              <a:rPr lang="zh-CN" altLang="en-US">
                <a:solidFill>
                  <a:srgbClr val="230D75"/>
                </a:solidFill>
                <a:latin typeface="Arial" charset="0"/>
              </a:rPr>
              <a:t>储蓄由消费者提供；投资由企业进行。</a:t>
            </a:r>
            <a:endParaRPr lang="en-US" altLang="zh-CN">
              <a:solidFill>
                <a:srgbClr val="230D75"/>
              </a:solidFill>
              <a:latin typeface="Arial" charset="0"/>
            </a:endParaRPr>
          </a:p>
          <a:p>
            <a:pPr marL="95250" indent="-95250">
              <a:lnSpc>
                <a:spcPct val="110000"/>
              </a:lnSpc>
              <a:spcBef>
                <a:spcPct val="20000"/>
              </a:spcBef>
              <a:buClr>
                <a:srgbClr val="FF0000"/>
              </a:buClr>
              <a:buSzPct val="95000"/>
              <a:buFont typeface="Wingdings" pitchFamily="2" charset="2"/>
              <a:buChar char="n"/>
            </a:pPr>
            <a:r>
              <a:rPr lang="zh-CN" altLang="en-US">
                <a:solidFill>
                  <a:srgbClr val="230D75"/>
                </a:solidFill>
                <a:latin typeface="Arial" charset="0"/>
              </a:rPr>
              <a:t>储蓄动机和投资动机不同，储蓄与投资可能不一致。</a:t>
            </a:r>
          </a:p>
        </p:txBody>
      </p:sp>
      <p:sp>
        <p:nvSpPr>
          <p:cNvPr id="228361" name="Line 9"/>
          <p:cNvSpPr>
            <a:spLocks noChangeShapeType="1"/>
          </p:cNvSpPr>
          <p:nvPr/>
        </p:nvSpPr>
        <p:spPr bwMode="auto">
          <a:xfrm>
            <a:off x="395288" y="6453188"/>
            <a:ext cx="2232025" cy="0"/>
          </a:xfrm>
          <a:prstGeom prst="line">
            <a:avLst/>
          </a:prstGeom>
          <a:noFill/>
          <a:ln w="76200" cmpd="tri">
            <a:solidFill>
              <a:srgbClr val="660066"/>
            </a:solidFill>
            <a:miter lim="800000"/>
            <a:headEnd/>
            <a:tailEnd/>
          </a:ln>
        </p:spPr>
        <p:txBody>
          <a:bodyPr wrap="none"/>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8356">
                                            <p:bg/>
                                          </p:spTgt>
                                        </p:tgtEl>
                                        <p:attrNameLst>
                                          <p:attrName>style.visibility</p:attrName>
                                        </p:attrNameLst>
                                      </p:cBhvr>
                                      <p:to>
                                        <p:strVal val="visible"/>
                                      </p:to>
                                    </p:set>
                                    <p:animEffect transition="in" filter="blinds(horizontal)">
                                      <p:cBhvr>
                                        <p:cTn id="7" dur="500"/>
                                        <p:tgtEl>
                                          <p:spTgt spid="228356">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28356">
                                            <p:txEl>
                                              <p:pRg st="0" end="0"/>
                                            </p:txEl>
                                          </p:spTgt>
                                        </p:tgtEl>
                                        <p:attrNameLst>
                                          <p:attrName>style.visibility</p:attrName>
                                        </p:attrNameLst>
                                      </p:cBhvr>
                                      <p:to>
                                        <p:strVal val="visible"/>
                                      </p:to>
                                    </p:set>
                                    <p:animEffect transition="in" filter="blinds(horizontal)">
                                      <p:cBhvr>
                                        <p:cTn id="12" dur="500"/>
                                        <p:tgtEl>
                                          <p:spTgt spid="228356">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28356">
                                            <p:txEl>
                                              <p:pRg st="1" end="1"/>
                                            </p:txEl>
                                          </p:spTgt>
                                        </p:tgtEl>
                                        <p:attrNameLst>
                                          <p:attrName>style.visibility</p:attrName>
                                        </p:attrNameLst>
                                      </p:cBhvr>
                                      <p:to>
                                        <p:strVal val="visible"/>
                                      </p:to>
                                    </p:set>
                                    <p:animEffect transition="in" filter="blinds(horizontal)">
                                      <p:cBhvr>
                                        <p:cTn id="17" dur="500"/>
                                        <p:tgtEl>
                                          <p:spTgt spid="228356">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28356">
                                            <p:txEl>
                                              <p:pRg st="2" end="2"/>
                                            </p:txEl>
                                          </p:spTgt>
                                        </p:tgtEl>
                                        <p:attrNameLst>
                                          <p:attrName>style.visibility</p:attrName>
                                        </p:attrNameLst>
                                      </p:cBhvr>
                                      <p:to>
                                        <p:strVal val="visible"/>
                                      </p:to>
                                    </p:set>
                                    <p:animEffect transition="in" filter="blinds(horizontal)">
                                      <p:cBhvr>
                                        <p:cTn id="22" dur="500"/>
                                        <p:tgtEl>
                                          <p:spTgt spid="228356">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28357"/>
                                        </p:tgtEl>
                                        <p:attrNameLst>
                                          <p:attrName>style.visibility</p:attrName>
                                        </p:attrNameLst>
                                      </p:cBhvr>
                                      <p:to>
                                        <p:strVal val="visible"/>
                                      </p:to>
                                    </p:set>
                                    <p:animEffect transition="in" filter="blinds(horizontal)">
                                      <p:cBhvr>
                                        <p:cTn id="27" dur="500"/>
                                        <p:tgtEl>
                                          <p:spTgt spid="22835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28359"/>
                                        </p:tgtEl>
                                        <p:attrNameLst>
                                          <p:attrName>style.visibility</p:attrName>
                                        </p:attrNameLst>
                                      </p:cBhvr>
                                      <p:to>
                                        <p:strVal val="visible"/>
                                      </p:to>
                                    </p:set>
                                    <p:animEffect transition="in" filter="blinds(horizontal)">
                                      <p:cBhvr>
                                        <p:cTn id="32" dur="500"/>
                                        <p:tgtEl>
                                          <p:spTgt spid="22835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28358"/>
                                        </p:tgtEl>
                                        <p:attrNameLst>
                                          <p:attrName>style.visibility</p:attrName>
                                        </p:attrNameLst>
                                      </p:cBhvr>
                                      <p:to>
                                        <p:strVal val="visible"/>
                                      </p:to>
                                    </p:set>
                                    <p:animEffect transition="in" filter="blinds(horizontal)">
                                      <p:cBhvr>
                                        <p:cTn id="37" dur="500"/>
                                        <p:tgtEl>
                                          <p:spTgt spid="22835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228361"/>
                                        </p:tgtEl>
                                        <p:attrNameLst>
                                          <p:attrName>style.visibility</p:attrName>
                                        </p:attrNameLst>
                                      </p:cBhvr>
                                      <p:to>
                                        <p:strVal val="visible"/>
                                      </p:to>
                                    </p:set>
                                    <p:animEffect transition="in" filter="dissolve">
                                      <p:cBhvr>
                                        <p:cTn id="42" dur="500"/>
                                        <p:tgtEl>
                                          <p:spTgt spid="2283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8356" grpId="0" build="p" animBg="1"/>
      <p:bldP spid="228357" grpId="0" animBg="1"/>
      <p:bldP spid="228358" grpId="0" animBg="1"/>
      <p:bldP spid="228359" grpId="0" animBg="1"/>
      <p:bldP spid="228361"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p:cNvSpPr>
            <a:spLocks noGrp="1" noChangeArrowheads="1"/>
          </p:cNvSpPr>
          <p:nvPr>
            <p:ph type="title"/>
          </p:nvPr>
        </p:nvSpPr>
        <p:spPr>
          <a:extLst/>
        </p:spPr>
        <p:txBody>
          <a:bodyPr/>
          <a:lstStyle/>
          <a:p>
            <a:pPr eaLnBrk="1" hangingPunct="1">
              <a:defRPr/>
            </a:pPr>
            <a:r>
              <a:rPr lang="en-US" altLang="zh-CN"/>
              <a:t>2.</a:t>
            </a:r>
            <a:r>
              <a:rPr lang="zh-CN" altLang="en-US"/>
              <a:t>三部门的收入构成</a:t>
            </a:r>
          </a:p>
        </p:txBody>
      </p:sp>
      <p:sp>
        <p:nvSpPr>
          <p:cNvPr id="226307" name="Rectangle 3" descr="花束"/>
          <p:cNvSpPr>
            <a:spLocks noGrp="1" noChangeArrowheads="1"/>
          </p:cNvSpPr>
          <p:nvPr>
            <p:ph type="body" idx="1"/>
          </p:nvPr>
        </p:nvSpPr>
        <p:spPr>
          <a:xfrm>
            <a:off x="395288" y="1230313"/>
            <a:ext cx="6553200" cy="533400"/>
          </a:xfrm>
          <a:blipFill dpi="0" rotWithShape="0">
            <a:blip r:embed="rId2">
              <a:alphaModFix amt="73000"/>
            </a:blip>
            <a:srcRect/>
            <a:tile tx="0" ty="0" sx="100000" sy="100000" flip="none" algn="tl"/>
          </a:blipFill>
          <a:ln w="76200" cap="flat" cmpd="sng">
            <a:solidFill>
              <a:srgbClr val="336600"/>
            </a:solidFill>
          </a:ln>
        </p:spPr>
        <p:txBody>
          <a:bodyPr/>
          <a:lstStyle/>
          <a:p>
            <a:pPr marL="0" indent="0" eaLnBrk="1" hangingPunct="1">
              <a:spcBef>
                <a:spcPct val="0"/>
              </a:spcBef>
              <a:buClr>
                <a:srgbClr val="660033"/>
              </a:buClr>
              <a:buSzPct val="95000"/>
              <a:buFont typeface="Wingdings" pitchFamily="2" charset="2"/>
              <a:buChar char="n"/>
            </a:pPr>
            <a:r>
              <a:rPr lang="zh-CN" altLang="en-US" smtClean="0"/>
              <a:t>三部门：两部门＋政府部门。</a:t>
            </a:r>
            <a:r>
              <a:rPr lang="en-US" altLang="zh-CN" smtClean="0"/>
              <a:t>     Y</a:t>
            </a:r>
            <a:r>
              <a:rPr lang="zh-CN" altLang="en-US" smtClean="0"/>
              <a:t>＝</a:t>
            </a:r>
            <a:r>
              <a:rPr lang="en-US" altLang="zh-CN" smtClean="0"/>
              <a:t>GDP</a:t>
            </a:r>
          </a:p>
        </p:txBody>
      </p:sp>
      <p:sp>
        <p:nvSpPr>
          <p:cNvPr id="226308" name="Rectangle 4" descr="水滴"/>
          <p:cNvSpPr>
            <a:spLocks noChangeArrowheads="1"/>
          </p:cNvSpPr>
          <p:nvPr/>
        </p:nvSpPr>
        <p:spPr bwMode="auto">
          <a:xfrm>
            <a:off x="395288" y="1916113"/>
            <a:ext cx="8229600" cy="1244600"/>
          </a:xfrm>
          <a:prstGeom prst="rect">
            <a:avLst/>
          </a:prstGeom>
          <a:blipFill dpi="0" rotWithShape="0">
            <a:blip r:embed="rId3">
              <a:alphaModFix amt="42000"/>
            </a:blip>
            <a:srcRect/>
            <a:tile tx="0" ty="0" sx="100000" sy="100000" flip="none" algn="tl"/>
          </a:blipFill>
          <a:ln w="57150" cmpd="thickThin">
            <a:solidFill>
              <a:srgbClr val="000099"/>
            </a:solidFill>
            <a:miter lim="800000"/>
            <a:headEnd/>
            <a:tailEnd/>
          </a:ln>
        </p:spPr>
        <p:txBody>
          <a:bodyPr>
            <a:spAutoFit/>
          </a:bodyPr>
          <a:lstStyle/>
          <a:p>
            <a:pPr>
              <a:lnSpc>
                <a:spcPct val="120000"/>
              </a:lnSpc>
              <a:buClr>
                <a:srgbClr val="FF0000"/>
              </a:buClr>
              <a:buSzPct val="95000"/>
              <a:buFont typeface="Wingdings" pitchFamily="2" charset="2"/>
              <a:buChar char="n"/>
            </a:pPr>
            <a:r>
              <a:rPr lang="zh-CN" altLang="en-US">
                <a:solidFill>
                  <a:srgbClr val="000000"/>
                </a:solidFill>
                <a:latin typeface="Arial" charset="0"/>
              </a:rPr>
              <a:t>支出方面：</a:t>
            </a:r>
            <a:r>
              <a:rPr lang="en-US" altLang="zh-CN">
                <a:solidFill>
                  <a:srgbClr val="000000"/>
                </a:solidFill>
                <a:latin typeface="Arial" charset="0"/>
              </a:rPr>
              <a:t>Y=C+I+G</a:t>
            </a:r>
            <a:r>
              <a:rPr lang="zh-CN" altLang="en-US">
                <a:solidFill>
                  <a:srgbClr val="000000"/>
                </a:solidFill>
                <a:latin typeface="Arial" charset="0"/>
              </a:rPr>
              <a:t>＝消费＋投资＋政府购买</a:t>
            </a:r>
            <a:endParaRPr lang="en-US" altLang="zh-CN">
              <a:solidFill>
                <a:srgbClr val="000000"/>
              </a:solidFill>
              <a:latin typeface="Arial" charset="0"/>
            </a:endParaRPr>
          </a:p>
          <a:p>
            <a:pPr lvl="1">
              <a:lnSpc>
                <a:spcPct val="120000"/>
              </a:lnSpc>
              <a:buClr>
                <a:srgbClr val="FF0000"/>
              </a:buClr>
              <a:buSzPct val="95000"/>
              <a:buFont typeface="Wingdings" pitchFamily="2" charset="2"/>
              <a:buChar char="n"/>
            </a:pPr>
            <a:r>
              <a:rPr lang="zh-CN" altLang="en-US">
                <a:solidFill>
                  <a:srgbClr val="000000"/>
                </a:solidFill>
                <a:latin typeface="Arial" charset="0"/>
              </a:rPr>
              <a:t>政府转移支付不在内，因为：政府的转移支付给予后，无非是归入个人消费和投资（主要是消费）。</a:t>
            </a:r>
          </a:p>
        </p:txBody>
      </p:sp>
      <p:sp>
        <p:nvSpPr>
          <p:cNvPr id="226309" name="Rectangle 5" descr="花束"/>
          <p:cNvSpPr>
            <a:spLocks noChangeArrowheads="1"/>
          </p:cNvSpPr>
          <p:nvPr/>
        </p:nvSpPr>
        <p:spPr bwMode="auto">
          <a:xfrm>
            <a:off x="395288" y="4581525"/>
            <a:ext cx="8229600" cy="1628775"/>
          </a:xfrm>
          <a:prstGeom prst="rect">
            <a:avLst/>
          </a:prstGeom>
          <a:blipFill dpi="0" rotWithShape="0">
            <a:blip r:embed="rId2"/>
            <a:srcRect/>
            <a:tile tx="0" ty="0" sx="100000" sy="100000" flip="none" algn="tl"/>
          </a:blipFill>
          <a:ln w="76200">
            <a:solidFill>
              <a:srgbClr val="336600"/>
            </a:solidFill>
            <a:miter lim="800000"/>
            <a:headEnd/>
            <a:tailEnd/>
          </a:ln>
        </p:spPr>
        <p:txBody>
          <a:bodyPr>
            <a:spAutoFit/>
          </a:bodyPr>
          <a:lstStyle/>
          <a:p>
            <a:pPr>
              <a:lnSpc>
                <a:spcPct val="120000"/>
              </a:lnSpc>
              <a:buClr>
                <a:srgbClr val="660033"/>
              </a:buClr>
              <a:buSzPct val="95000"/>
              <a:buFont typeface="Wingdings" pitchFamily="2" charset="2"/>
              <a:buChar char="n"/>
            </a:pPr>
            <a:r>
              <a:rPr lang="zh-CN" altLang="en-US">
                <a:solidFill>
                  <a:srgbClr val="101016"/>
                </a:solidFill>
                <a:latin typeface="Arial" charset="0"/>
              </a:rPr>
              <a:t>所以：</a:t>
            </a:r>
            <a:r>
              <a:rPr lang="en-US" altLang="zh-CN">
                <a:solidFill>
                  <a:srgbClr val="101016"/>
                </a:solidFill>
                <a:latin typeface="Arial" charset="0"/>
              </a:rPr>
              <a:t> C+I+G = Y = C+S+T</a:t>
            </a:r>
            <a:r>
              <a:rPr lang="zh-CN" altLang="en-US">
                <a:solidFill>
                  <a:srgbClr val="101016"/>
                </a:solidFill>
                <a:latin typeface="Arial" charset="0"/>
              </a:rPr>
              <a:t>，</a:t>
            </a:r>
            <a:endParaRPr lang="en-US" altLang="zh-CN">
              <a:solidFill>
                <a:srgbClr val="101016"/>
              </a:solidFill>
              <a:latin typeface="Arial" charset="0"/>
            </a:endParaRPr>
          </a:p>
          <a:p>
            <a:pPr>
              <a:lnSpc>
                <a:spcPct val="120000"/>
              </a:lnSpc>
              <a:buClr>
                <a:srgbClr val="660033"/>
              </a:buClr>
              <a:buSzPct val="95000"/>
              <a:buFont typeface="Wingdings" pitchFamily="2" charset="2"/>
              <a:buChar char="n"/>
            </a:pPr>
            <a:r>
              <a:rPr lang="zh-CN" altLang="en-US">
                <a:solidFill>
                  <a:srgbClr val="101016"/>
                </a:solidFill>
                <a:latin typeface="Arial" charset="0"/>
              </a:rPr>
              <a:t>即</a:t>
            </a:r>
            <a:r>
              <a:rPr lang="en-US" altLang="zh-CN">
                <a:solidFill>
                  <a:srgbClr val="101016"/>
                </a:solidFill>
                <a:latin typeface="Arial" charset="0"/>
              </a:rPr>
              <a:t> </a:t>
            </a:r>
            <a:r>
              <a:rPr lang="en-US" altLang="zh-CN">
                <a:solidFill>
                  <a:srgbClr val="6600FF"/>
                </a:solidFill>
                <a:latin typeface="Arial" charset="0"/>
              </a:rPr>
              <a:t>I+G = S+T</a:t>
            </a:r>
            <a:r>
              <a:rPr lang="en-US" altLang="zh-CN">
                <a:solidFill>
                  <a:srgbClr val="101016"/>
                </a:solidFill>
                <a:latin typeface="Arial" charset="0"/>
              </a:rPr>
              <a:t> </a:t>
            </a:r>
            <a:r>
              <a:rPr lang="zh-CN" altLang="en-US">
                <a:solidFill>
                  <a:srgbClr val="101016"/>
                </a:solidFill>
                <a:latin typeface="Arial" charset="0"/>
              </a:rPr>
              <a:t>，</a:t>
            </a:r>
            <a:r>
              <a:rPr lang="en-US" altLang="zh-CN">
                <a:solidFill>
                  <a:srgbClr val="101016"/>
                </a:solidFill>
                <a:latin typeface="Arial" charset="0"/>
              </a:rPr>
              <a:t> I=  S+</a:t>
            </a:r>
            <a:r>
              <a:rPr lang="zh-CN" altLang="en-US">
                <a:solidFill>
                  <a:srgbClr val="FF5050"/>
                </a:solidFill>
                <a:latin typeface="Arial" charset="0"/>
              </a:rPr>
              <a:t>（</a:t>
            </a:r>
            <a:r>
              <a:rPr lang="en-US" altLang="zh-CN">
                <a:solidFill>
                  <a:srgbClr val="FF5050"/>
                </a:solidFill>
                <a:latin typeface="Arial" charset="0"/>
              </a:rPr>
              <a:t>T</a:t>
            </a:r>
            <a:r>
              <a:rPr lang="zh-CN" altLang="en-US">
                <a:solidFill>
                  <a:srgbClr val="FF5050"/>
                </a:solidFill>
                <a:latin typeface="Arial" charset="0"/>
              </a:rPr>
              <a:t>－</a:t>
            </a:r>
            <a:r>
              <a:rPr lang="en-US" altLang="zh-CN">
                <a:solidFill>
                  <a:srgbClr val="FF5050"/>
                </a:solidFill>
                <a:latin typeface="Arial" charset="0"/>
              </a:rPr>
              <a:t> G</a:t>
            </a:r>
            <a:r>
              <a:rPr lang="zh-CN" altLang="en-US">
                <a:solidFill>
                  <a:srgbClr val="FF5050"/>
                </a:solidFill>
                <a:latin typeface="Arial" charset="0"/>
              </a:rPr>
              <a:t>）</a:t>
            </a:r>
            <a:endParaRPr lang="en-US" altLang="zh-CN">
              <a:solidFill>
                <a:srgbClr val="FF5050"/>
              </a:solidFill>
              <a:latin typeface="Arial" charset="0"/>
            </a:endParaRPr>
          </a:p>
          <a:p>
            <a:pPr>
              <a:lnSpc>
                <a:spcPct val="120000"/>
              </a:lnSpc>
              <a:buClr>
                <a:srgbClr val="660033"/>
              </a:buClr>
              <a:buSzPct val="95000"/>
              <a:buFont typeface="Wingdings" pitchFamily="2" charset="2"/>
              <a:buChar char="n"/>
            </a:pPr>
            <a:r>
              <a:rPr lang="zh-CN" altLang="en-US">
                <a:solidFill>
                  <a:srgbClr val="101016"/>
                </a:solidFill>
                <a:latin typeface="Arial" charset="0"/>
              </a:rPr>
              <a:t>（</a:t>
            </a:r>
            <a:r>
              <a:rPr lang="en-US" altLang="zh-CN">
                <a:solidFill>
                  <a:srgbClr val="101016"/>
                </a:solidFill>
                <a:latin typeface="Arial" charset="0"/>
              </a:rPr>
              <a:t>T</a:t>
            </a:r>
            <a:r>
              <a:rPr lang="zh-CN" altLang="en-US">
                <a:solidFill>
                  <a:srgbClr val="101016"/>
                </a:solidFill>
                <a:latin typeface="Arial" charset="0"/>
              </a:rPr>
              <a:t>－</a:t>
            </a:r>
            <a:r>
              <a:rPr lang="en-US" altLang="zh-CN">
                <a:solidFill>
                  <a:srgbClr val="101016"/>
                </a:solidFill>
                <a:latin typeface="Arial" charset="0"/>
              </a:rPr>
              <a:t> G</a:t>
            </a:r>
            <a:r>
              <a:rPr lang="zh-CN" altLang="en-US">
                <a:solidFill>
                  <a:srgbClr val="101016"/>
                </a:solidFill>
                <a:latin typeface="Arial" charset="0"/>
              </a:rPr>
              <a:t>）为政府储蓄</a:t>
            </a:r>
            <a:endParaRPr lang="en-US" altLang="zh-CN">
              <a:solidFill>
                <a:srgbClr val="101016"/>
              </a:solidFill>
              <a:latin typeface="Arial" charset="0"/>
            </a:endParaRPr>
          </a:p>
          <a:p>
            <a:pPr>
              <a:lnSpc>
                <a:spcPct val="120000"/>
              </a:lnSpc>
              <a:buClr>
                <a:srgbClr val="660033"/>
              </a:buClr>
              <a:buSzPct val="95000"/>
              <a:buFont typeface="Wingdings" pitchFamily="2" charset="2"/>
              <a:buChar char="n"/>
            </a:pPr>
            <a:r>
              <a:rPr lang="zh-CN" altLang="en-US">
                <a:solidFill>
                  <a:srgbClr val="101016"/>
                </a:solidFill>
                <a:latin typeface="Arial" charset="0"/>
              </a:rPr>
              <a:t>投资＝储蓄的恒等式仍然存在。</a:t>
            </a:r>
          </a:p>
        </p:txBody>
      </p:sp>
      <p:sp>
        <p:nvSpPr>
          <p:cNvPr id="226310" name="Rectangle 6" descr="水滴"/>
          <p:cNvSpPr>
            <a:spLocks noChangeArrowheads="1"/>
          </p:cNvSpPr>
          <p:nvPr/>
        </p:nvSpPr>
        <p:spPr bwMode="auto">
          <a:xfrm>
            <a:off x="395288" y="3213100"/>
            <a:ext cx="8229600" cy="1244600"/>
          </a:xfrm>
          <a:prstGeom prst="rect">
            <a:avLst/>
          </a:prstGeom>
          <a:blipFill dpi="0" rotWithShape="0">
            <a:blip r:embed="rId3">
              <a:alphaModFix amt="42000"/>
            </a:blip>
            <a:srcRect/>
            <a:tile tx="0" ty="0" sx="100000" sy="100000" flip="none" algn="tl"/>
          </a:blipFill>
          <a:ln w="57150" cmpd="thickThin">
            <a:solidFill>
              <a:srgbClr val="000099"/>
            </a:solidFill>
            <a:miter lim="800000"/>
            <a:headEnd/>
            <a:tailEnd/>
          </a:ln>
        </p:spPr>
        <p:txBody>
          <a:bodyPr>
            <a:spAutoFit/>
          </a:bodyPr>
          <a:lstStyle/>
          <a:p>
            <a:pPr>
              <a:lnSpc>
                <a:spcPct val="120000"/>
              </a:lnSpc>
              <a:buClr>
                <a:srgbClr val="FF0000"/>
              </a:buClr>
              <a:buSzPct val="95000"/>
              <a:buFont typeface="Wingdings" pitchFamily="2" charset="2"/>
              <a:buChar char="n"/>
            </a:pPr>
            <a:r>
              <a:rPr lang="zh-CN" altLang="en-US">
                <a:solidFill>
                  <a:srgbClr val="000000"/>
                </a:solidFill>
                <a:latin typeface="Arial" charset="0"/>
              </a:rPr>
              <a:t>收入方面：</a:t>
            </a:r>
            <a:r>
              <a:rPr lang="en-US" altLang="zh-CN">
                <a:solidFill>
                  <a:srgbClr val="000000"/>
                </a:solidFill>
                <a:latin typeface="Arial" charset="0"/>
              </a:rPr>
              <a:t>Y=C+S+T</a:t>
            </a:r>
            <a:r>
              <a:rPr lang="zh-CN" altLang="en-US">
                <a:solidFill>
                  <a:srgbClr val="000000"/>
                </a:solidFill>
                <a:latin typeface="Arial" charset="0"/>
              </a:rPr>
              <a:t>，</a:t>
            </a:r>
            <a:endParaRPr lang="en-US" altLang="zh-CN">
              <a:solidFill>
                <a:srgbClr val="000000"/>
              </a:solidFill>
              <a:latin typeface="Arial" charset="0"/>
            </a:endParaRPr>
          </a:p>
          <a:p>
            <a:pPr lvl="1">
              <a:lnSpc>
                <a:spcPct val="120000"/>
              </a:lnSpc>
              <a:buClr>
                <a:srgbClr val="FF0000"/>
              </a:buClr>
              <a:buSzPct val="95000"/>
              <a:buFont typeface="Wingdings" pitchFamily="2" charset="2"/>
              <a:buChar char="n"/>
            </a:pPr>
            <a:r>
              <a:rPr lang="en-US" altLang="zh-CN">
                <a:solidFill>
                  <a:srgbClr val="000000"/>
                </a:solidFill>
                <a:latin typeface="Arial" charset="0"/>
              </a:rPr>
              <a:t>T</a:t>
            </a:r>
            <a:r>
              <a:rPr lang="zh-CN" altLang="en-US">
                <a:solidFill>
                  <a:srgbClr val="000000"/>
                </a:solidFill>
                <a:latin typeface="Arial" charset="0"/>
              </a:rPr>
              <a:t>是政府净收入（净税金）</a:t>
            </a:r>
            <a:r>
              <a:rPr lang="en-US" altLang="zh-CN">
                <a:solidFill>
                  <a:srgbClr val="000000"/>
                </a:solidFill>
                <a:latin typeface="Arial" charset="0"/>
              </a:rPr>
              <a:t>=T0-Tr </a:t>
            </a:r>
            <a:r>
              <a:rPr lang="zh-CN" altLang="en-US">
                <a:solidFill>
                  <a:srgbClr val="000000"/>
                </a:solidFill>
                <a:latin typeface="Arial" charset="0"/>
              </a:rPr>
              <a:t>＝全部税金－转移支付。</a:t>
            </a:r>
            <a:endParaRPr lang="en-US" altLang="zh-CN">
              <a:solidFill>
                <a:srgbClr val="000000"/>
              </a:solidFill>
              <a:latin typeface="Arial" charset="0"/>
            </a:endParaRPr>
          </a:p>
          <a:p>
            <a:pPr lvl="1">
              <a:lnSpc>
                <a:spcPct val="120000"/>
              </a:lnSpc>
              <a:buClr>
                <a:srgbClr val="FF0000"/>
              </a:buClr>
              <a:buSzPct val="95000"/>
              <a:buFont typeface="Wingdings" pitchFamily="2" charset="2"/>
              <a:buChar char="n"/>
            </a:pPr>
            <a:r>
              <a:rPr lang="zh-CN" altLang="en-US">
                <a:solidFill>
                  <a:srgbClr val="000000"/>
                </a:solidFill>
                <a:latin typeface="Arial" charset="0"/>
              </a:rPr>
              <a:t>居民交纳税收和得到政府转移支付（忽略掉转移支付也可以）</a:t>
            </a:r>
            <a:r>
              <a:rPr lang="en-US" altLang="zh-CN">
                <a:solidFill>
                  <a:srgbClr val="000000"/>
                </a:solidFill>
                <a:latin typeface="Arial" charset="0"/>
              </a:rPr>
              <a:t> </a:t>
            </a:r>
            <a:r>
              <a:rPr lang="zh-CN" altLang="en-US">
                <a:solidFill>
                  <a:srgbClr val="000000"/>
                </a:solidFill>
                <a:latin typeface="Arial" charset="0"/>
              </a:rPr>
              <a:t>。</a:t>
            </a:r>
          </a:p>
        </p:txBody>
      </p:sp>
      <p:sp>
        <p:nvSpPr>
          <p:cNvPr id="226311" name="Line 7"/>
          <p:cNvSpPr>
            <a:spLocks noChangeShapeType="1"/>
          </p:cNvSpPr>
          <p:nvPr/>
        </p:nvSpPr>
        <p:spPr bwMode="auto">
          <a:xfrm>
            <a:off x="395288" y="6453188"/>
            <a:ext cx="2232025" cy="0"/>
          </a:xfrm>
          <a:prstGeom prst="line">
            <a:avLst/>
          </a:prstGeom>
          <a:noFill/>
          <a:ln w="76200" cmpd="tri">
            <a:solidFill>
              <a:srgbClr val="660066"/>
            </a:solidFill>
            <a:miter lim="800000"/>
            <a:headEnd/>
            <a:tailEnd/>
          </a:ln>
        </p:spPr>
        <p:txBody>
          <a:bodyPr wrap="none"/>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6307">
                                            <p:bg/>
                                          </p:spTgt>
                                        </p:tgtEl>
                                        <p:attrNameLst>
                                          <p:attrName>style.visibility</p:attrName>
                                        </p:attrNameLst>
                                      </p:cBhvr>
                                      <p:to>
                                        <p:strVal val="visible"/>
                                      </p:to>
                                    </p:set>
                                    <p:animEffect transition="in" filter="blinds(horizontal)">
                                      <p:cBhvr>
                                        <p:cTn id="7" dur="500"/>
                                        <p:tgtEl>
                                          <p:spTgt spid="226307">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26307">
                                            <p:txEl>
                                              <p:pRg st="0" end="0"/>
                                            </p:txEl>
                                          </p:spTgt>
                                        </p:tgtEl>
                                        <p:attrNameLst>
                                          <p:attrName>style.visibility</p:attrName>
                                        </p:attrNameLst>
                                      </p:cBhvr>
                                      <p:to>
                                        <p:strVal val="visible"/>
                                      </p:to>
                                    </p:set>
                                    <p:animEffect transition="in" filter="blinds(horizontal)">
                                      <p:cBhvr>
                                        <p:cTn id="12" dur="500"/>
                                        <p:tgtEl>
                                          <p:spTgt spid="226307">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26308"/>
                                        </p:tgtEl>
                                        <p:attrNameLst>
                                          <p:attrName>style.visibility</p:attrName>
                                        </p:attrNameLst>
                                      </p:cBhvr>
                                      <p:to>
                                        <p:strVal val="visible"/>
                                      </p:to>
                                    </p:set>
                                    <p:animEffect transition="in" filter="blinds(horizontal)">
                                      <p:cBhvr>
                                        <p:cTn id="17" dur="500"/>
                                        <p:tgtEl>
                                          <p:spTgt spid="22630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26310"/>
                                        </p:tgtEl>
                                        <p:attrNameLst>
                                          <p:attrName>style.visibility</p:attrName>
                                        </p:attrNameLst>
                                      </p:cBhvr>
                                      <p:to>
                                        <p:strVal val="visible"/>
                                      </p:to>
                                    </p:set>
                                    <p:animEffect transition="in" filter="blinds(horizontal)">
                                      <p:cBhvr>
                                        <p:cTn id="22" dur="500"/>
                                        <p:tgtEl>
                                          <p:spTgt spid="22631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26309"/>
                                        </p:tgtEl>
                                        <p:attrNameLst>
                                          <p:attrName>style.visibility</p:attrName>
                                        </p:attrNameLst>
                                      </p:cBhvr>
                                      <p:to>
                                        <p:strVal val="visible"/>
                                      </p:to>
                                    </p:set>
                                    <p:animEffect transition="in" filter="blinds(horizontal)">
                                      <p:cBhvr>
                                        <p:cTn id="27" dur="500"/>
                                        <p:tgtEl>
                                          <p:spTgt spid="22630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26311"/>
                                        </p:tgtEl>
                                        <p:attrNameLst>
                                          <p:attrName>style.visibility</p:attrName>
                                        </p:attrNameLst>
                                      </p:cBhvr>
                                      <p:to>
                                        <p:strVal val="visible"/>
                                      </p:to>
                                    </p:set>
                                    <p:animEffect transition="in" filter="dissolve">
                                      <p:cBhvr>
                                        <p:cTn id="32" dur="500"/>
                                        <p:tgtEl>
                                          <p:spTgt spid="2263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307" grpId="0" build="p" animBg="1"/>
      <p:bldP spid="226308" grpId="0" animBg="1"/>
      <p:bldP spid="226309" grpId="0" animBg="1"/>
      <p:bldP spid="226310" grpId="0" animBg="1"/>
      <p:bldP spid="226311"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2"/>
          <p:cNvSpPr>
            <a:spLocks noGrp="1" noChangeArrowheads="1"/>
          </p:cNvSpPr>
          <p:nvPr>
            <p:ph type="title"/>
          </p:nvPr>
        </p:nvSpPr>
        <p:spPr>
          <a:extLst/>
        </p:spPr>
        <p:txBody>
          <a:bodyPr/>
          <a:lstStyle/>
          <a:p>
            <a:pPr eaLnBrk="1" hangingPunct="1">
              <a:defRPr/>
            </a:pPr>
            <a:r>
              <a:rPr lang="en-US" altLang="zh-CN"/>
              <a:t>3.</a:t>
            </a:r>
            <a:r>
              <a:rPr lang="zh-CN" altLang="en-US"/>
              <a:t>四部门的收入构成</a:t>
            </a:r>
          </a:p>
        </p:txBody>
      </p:sp>
      <p:sp>
        <p:nvSpPr>
          <p:cNvPr id="227331" name="Rectangle 3"/>
          <p:cNvSpPr>
            <a:spLocks noGrp="1" noChangeArrowheads="1"/>
          </p:cNvSpPr>
          <p:nvPr>
            <p:ph type="body" idx="1"/>
          </p:nvPr>
        </p:nvSpPr>
        <p:spPr>
          <a:xfrm>
            <a:off x="395288" y="1254125"/>
            <a:ext cx="5256212" cy="514350"/>
          </a:xfrm>
          <a:ln cap="flat"/>
        </p:spPr>
        <p:txBody>
          <a:bodyPr/>
          <a:lstStyle/>
          <a:p>
            <a:pPr eaLnBrk="1" hangingPunct="1">
              <a:buFont typeface="Wingdings" pitchFamily="2" charset="2"/>
              <a:buNone/>
            </a:pPr>
            <a:r>
              <a:rPr lang="zh-CN" altLang="en-US" smtClean="0"/>
              <a:t>四部门＝三部门＋国外部门。</a:t>
            </a:r>
          </a:p>
        </p:txBody>
      </p:sp>
      <p:sp>
        <p:nvSpPr>
          <p:cNvPr id="227332" name="Rectangle 4" descr="纸莎草纸"/>
          <p:cNvSpPr>
            <a:spLocks noChangeArrowheads="1"/>
          </p:cNvSpPr>
          <p:nvPr/>
        </p:nvSpPr>
        <p:spPr bwMode="auto">
          <a:xfrm>
            <a:off x="395288" y="2205038"/>
            <a:ext cx="8229600" cy="1439862"/>
          </a:xfrm>
          <a:prstGeom prst="rect">
            <a:avLst/>
          </a:prstGeom>
          <a:blipFill dpi="0" rotWithShape="0">
            <a:blip r:embed="rId2"/>
            <a:srcRect/>
            <a:tile tx="0" ty="0" sx="100000" sy="100000" flip="none" algn="tl"/>
          </a:blipFill>
          <a:ln w="57150" cmpd="thickThin">
            <a:solidFill>
              <a:srgbClr val="CCCC00"/>
            </a:solidFill>
            <a:miter lim="800000"/>
            <a:headEnd/>
            <a:tailEnd/>
          </a:ln>
        </p:spPr>
        <p:txBody>
          <a:bodyPr/>
          <a:lstStyle/>
          <a:p>
            <a:pPr marL="95250" indent="-95250">
              <a:lnSpc>
                <a:spcPct val="120000"/>
              </a:lnSpc>
              <a:spcBef>
                <a:spcPct val="20000"/>
              </a:spcBef>
              <a:buClr>
                <a:schemeClr val="hlink"/>
              </a:buClr>
              <a:buFont typeface="Wingdings" pitchFamily="2" charset="2"/>
              <a:buBlip>
                <a:blip r:embed="rId3"/>
              </a:buBlip>
            </a:pPr>
            <a:r>
              <a:rPr lang="zh-CN" altLang="en-US">
                <a:solidFill>
                  <a:srgbClr val="101016"/>
                </a:solidFill>
                <a:latin typeface="黑体" pitchFamily="2" charset="-122"/>
                <a:ea typeface="黑体" pitchFamily="2" charset="-122"/>
              </a:rPr>
              <a:t>支出方面：</a:t>
            </a:r>
            <a:r>
              <a:rPr lang="en-US" altLang="zh-CN">
                <a:solidFill>
                  <a:srgbClr val="101016"/>
                </a:solidFill>
                <a:latin typeface="黑体" pitchFamily="2" charset="-122"/>
                <a:ea typeface="黑体" pitchFamily="2" charset="-122"/>
              </a:rPr>
              <a:t>Y</a:t>
            </a:r>
            <a:r>
              <a:rPr lang="zh-CN" altLang="en-US">
                <a:solidFill>
                  <a:srgbClr val="101016"/>
                </a:solidFill>
                <a:latin typeface="黑体" pitchFamily="2" charset="-122"/>
                <a:ea typeface="黑体" pitchFamily="2" charset="-122"/>
              </a:rPr>
              <a:t>＝</a:t>
            </a:r>
            <a:r>
              <a:rPr lang="en-US" altLang="zh-CN">
                <a:solidFill>
                  <a:srgbClr val="101016"/>
                </a:solidFill>
                <a:latin typeface="黑体" pitchFamily="2" charset="-122"/>
                <a:ea typeface="黑体" pitchFamily="2" charset="-122"/>
              </a:rPr>
              <a:t>C+I+G+</a:t>
            </a:r>
            <a:r>
              <a:rPr lang="zh-CN" altLang="en-US">
                <a:solidFill>
                  <a:srgbClr val="101016"/>
                </a:solidFill>
                <a:latin typeface="黑体" pitchFamily="2" charset="-122"/>
                <a:ea typeface="黑体" pitchFamily="2" charset="-122"/>
              </a:rPr>
              <a:t>（</a:t>
            </a:r>
            <a:r>
              <a:rPr lang="en-US" altLang="zh-CN">
                <a:solidFill>
                  <a:srgbClr val="101016"/>
                </a:solidFill>
                <a:latin typeface="黑体" pitchFamily="2" charset="-122"/>
                <a:ea typeface="黑体" pitchFamily="2" charset="-122"/>
              </a:rPr>
              <a:t>X-M</a:t>
            </a:r>
            <a:r>
              <a:rPr lang="zh-CN" altLang="en-US">
                <a:solidFill>
                  <a:srgbClr val="101016"/>
                </a:solidFill>
                <a:latin typeface="黑体" pitchFamily="2" charset="-122"/>
                <a:ea typeface="黑体" pitchFamily="2" charset="-122"/>
              </a:rPr>
              <a:t>）</a:t>
            </a:r>
            <a:r>
              <a:rPr lang="en-US" altLang="zh-CN">
                <a:solidFill>
                  <a:srgbClr val="101016"/>
                </a:solidFill>
                <a:latin typeface="黑体" pitchFamily="2" charset="-122"/>
                <a:ea typeface="黑体" pitchFamily="2" charset="-122"/>
              </a:rPr>
              <a:t> </a:t>
            </a:r>
            <a:r>
              <a:rPr lang="en-US" altLang="zh-CN" b="0">
                <a:solidFill>
                  <a:srgbClr val="000099"/>
                </a:solidFill>
                <a:latin typeface="黑体" pitchFamily="2" charset="-122"/>
                <a:ea typeface="黑体" pitchFamily="2" charset="-122"/>
              </a:rPr>
              <a:t>(X-M)</a:t>
            </a:r>
            <a:r>
              <a:rPr lang="zh-CN" altLang="en-US" b="0">
                <a:solidFill>
                  <a:srgbClr val="000099"/>
                </a:solidFill>
                <a:latin typeface="黑体" pitchFamily="2" charset="-122"/>
                <a:ea typeface="黑体" pitchFamily="2" charset="-122"/>
              </a:rPr>
              <a:t>为净出口</a:t>
            </a:r>
            <a:endParaRPr lang="en-US" altLang="zh-CN">
              <a:solidFill>
                <a:srgbClr val="101016"/>
              </a:solidFill>
              <a:latin typeface="黑体" pitchFamily="2" charset="-122"/>
              <a:ea typeface="黑体" pitchFamily="2" charset="-122"/>
            </a:endParaRPr>
          </a:p>
          <a:p>
            <a:pPr marL="95250" indent="-95250">
              <a:lnSpc>
                <a:spcPct val="120000"/>
              </a:lnSpc>
              <a:spcBef>
                <a:spcPct val="20000"/>
              </a:spcBef>
              <a:buClr>
                <a:schemeClr val="hlink"/>
              </a:buClr>
              <a:buFont typeface="Wingdings" pitchFamily="2" charset="2"/>
              <a:buChar char="u"/>
            </a:pPr>
            <a:r>
              <a:rPr lang="zh-CN" altLang="en-US">
                <a:solidFill>
                  <a:srgbClr val="101016"/>
                </a:solidFill>
                <a:latin typeface="黑体" pitchFamily="2" charset="-122"/>
                <a:ea typeface="黑体" pitchFamily="2" charset="-122"/>
              </a:rPr>
              <a:t>收入方面：</a:t>
            </a:r>
            <a:r>
              <a:rPr lang="en-US" altLang="zh-CN">
                <a:solidFill>
                  <a:srgbClr val="101016"/>
                </a:solidFill>
                <a:latin typeface="黑体" pitchFamily="2" charset="-122"/>
                <a:ea typeface="黑体" pitchFamily="2" charset="-122"/>
              </a:rPr>
              <a:t>Y</a:t>
            </a:r>
            <a:r>
              <a:rPr lang="zh-CN" altLang="en-US">
                <a:solidFill>
                  <a:srgbClr val="101016"/>
                </a:solidFill>
                <a:latin typeface="黑体" pitchFamily="2" charset="-122"/>
                <a:ea typeface="黑体" pitchFamily="2" charset="-122"/>
              </a:rPr>
              <a:t>＝</a:t>
            </a:r>
            <a:r>
              <a:rPr lang="en-US" altLang="zh-CN">
                <a:solidFill>
                  <a:srgbClr val="101016"/>
                </a:solidFill>
                <a:latin typeface="黑体" pitchFamily="2" charset="-122"/>
                <a:ea typeface="黑体" pitchFamily="2" charset="-122"/>
              </a:rPr>
              <a:t>C+S+T+K</a:t>
            </a:r>
            <a:r>
              <a:rPr lang="en-US" altLang="zh-CN" baseline="-6000">
                <a:solidFill>
                  <a:srgbClr val="101016"/>
                </a:solidFill>
                <a:latin typeface="黑体" pitchFamily="2" charset="-122"/>
                <a:ea typeface="黑体" pitchFamily="2" charset="-122"/>
              </a:rPr>
              <a:t>r     </a:t>
            </a:r>
            <a:r>
              <a:rPr lang="en-US" altLang="zh-CN" b="0">
                <a:solidFill>
                  <a:srgbClr val="000099"/>
                </a:solidFill>
                <a:latin typeface="黑体" pitchFamily="2" charset="-122"/>
                <a:ea typeface="黑体" pitchFamily="2" charset="-122"/>
              </a:rPr>
              <a:t>K</a:t>
            </a:r>
            <a:r>
              <a:rPr lang="en-US" altLang="zh-CN" b="0" baseline="-6000">
                <a:solidFill>
                  <a:srgbClr val="000099"/>
                </a:solidFill>
                <a:latin typeface="黑体" pitchFamily="2" charset="-122"/>
                <a:ea typeface="黑体" pitchFamily="2" charset="-122"/>
              </a:rPr>
              <a:t>r</a:t>
            </a:r>
            <a:r>
              <a:rPr lang="zh-CN" altLang="en-US" b="0">
                <a:solidFill>
                  <a:srgbClr val="000099"/>
                </a:solidFill>
                <a:latin typeface="黑体" pitchFamily="2" charset="-122"/>
                <a:ea typeface="黑体" pitchFamily="2" charset="-122"/>
              </a:rPr>
              <a:t>为是本国对外国人的转移支付，如</a:t>
            </a:r>
            <a:endParaRPr lang="en-US" altLang="zh-CN" b="0">
              <a:solidFill>
                <a:srgbClr val="000099"/>
              </a:solidFill>
              <a:latin typeface="黑体" pitchFamily="2" charset="-122"/>
              <a:ea typeface="黑体" pitchFamily="2" charset="-122"/>
            </a:endParaRPr>
          </a:p>
          <a:p>
            <a:pPr marL="95250" indent="-95250">
              <a:lnSpc>
                <a:spcPct val="120000"/>
              </a:lnSpc>
              <a:spcBef>
                <a:spcPct val="20000"/>
              </a:spcBef>
              <a:buClr>
                <a:schemeClr val="hlink"/>
              </a:buClr>
              <a:buFont typeface="Wingdings" pitchFamily="2" charset="2"/>
              <a:buNone/>
            </a:pPr>
            <a:r>
              <a:rPr lang="en-US" altLang="zh-CN" b="0">
                <a:solidFill>
                  <a:srgbClr val="000099"/>
                </a:solidFill>
                <a:latin typeface="黑体" pitchFamily="2" charset="-122"/>
                <a:ea typeface="黑体" pitchFamily="2" charset="-122"/>
              </a:rPr>
              <a:t>  </a:t>
            </a:r>
            <a:r>
              <a:rPr lang="zh-CN" altLang="en-US" b="0">
                <a:solidFill>
                  <a:srgbClr val="000099"/>
                </a:solidFill>
                <a:latin typeface="黑体" pitchFamily="2" charset="-122"/>
                <a:ea typeface="黑体" pitchFamily="2" charset="-122"/>
              </a:rPr>
              <a:t>救济性捐款等，都来自要素收入。</a:t>
            </a:r>
          </a:p>
        </p:txBody>
      </p:sp>
      <p:sp>
        <p:nvSpPr>
          <p:cNvPr id="227333" name="Rectangle 5" descr="水滴"/>
          <p:cNvSpPr>
            <a:spLocks noChangeArrowheads="1"/>
          </p:cNvSpPr>
          <p:nvPr/>
        </p:nvSpPr>
        <p:spPr bwMode="auto">
          <a:xfrm>
            <a:off x="395288" y="3933825"/>
            <a:ext cx="8229600" cy="514350"/>
          </a:xfrm>
          <a:prstGeom prst="rect">
            <a:avLst/>
          </a:prstGeom>
          <a:blipFill dpi="0" rotWithShape="0">
            <a:blip r:embed="rId4">
              <a:alphaModFix amt="42000"/>
            </a:blip>
            <a:srcRect/>
            <a:tile tx="0" ty="0" sx="100000" sy="100000" flip="none" algn="tl"/>
          </a:blipFill>
          <a:ln w="57150" cmpd="thickThin">
            <a:solidFill>
              <a:srgbClr val="000099"/>
            </a:solidFill>
            <a:miter lim="800000"/>
            <a:headEnd/>
            <a:tailEnd/>
          </a:ln>
        </p:spPr>
        <p:txBody>
          <a:bodyPr>
            <a:spAutoFit/>
          </a:bodyPr>
          <a:lstStyle/>
          <a:p>
            <a:pPr>
              <a:lnSpc>
                <a:spcPct val="120000"/>
              </a:lnSpc>
              <a:buClr>
                <a:srgbClr val="FF0000"/>
              </a:buClr>
              <a:buSzPct val="95000"/>
              <a:buFont typeface="Wingdings" pitchFamily="2" charset="2"/>
              <a:buChar char="n"/>
            </a:pPr>
            <a:r>
              <a:rPr lang="zh-CN" altLang="en-US">
                <a:solidFill>
                  <a:srgbClr val="000000"/>
                </a:solidFill>
                <a:latin typeface="Arial" charset="0"/>
              </a:rPr>
              <a:t>所以</a:t>
            </a:r>
            <a:r>
              <a:rPr lang="en-US" altLang="zh-CN">
                <a:solidFill>
                  <a:srgbClr val="000000"/>
                </a:solidFill>
                <a:latin typeface="Arial" charset="0"/>
              </a:rPr>
              <a:t> C + I + G + (X-M) </a:t>
            </a:r>
            <a:r>
              <a:rPr lang="zh-CN" altLang="en-US">
                <a:solidFill>
                  <a:srgbClr val="000000"/>
                </a:solidFill>
                <a:latin typeface="Arial" charset="0"/>
              </a:rPr>
              <a:t>＝</a:t>
            </a:r>
            <a:r>
              <a:rPr lang="en-US" altLang="zh-CN">
                <a:solidFill>
                  <a:srgbClr val="000000"/>
                </a:solidFill>
                <a:latin typeface="Arial" charset="0"/>
              </a:rPr>
              <a:t> Y </a:t>
            </a:r>
            <a:r>
              <a:rPr lang="zh-CN" altLang="en-US">
                <a:solidFill>
                  <a:srgbClr val="000000"/>
                </a:solidFill>
                <a:latin typeface="Arial" charset="0"/>
              </a:rPr>
              <a:t>＝</a:t>
            </a:r>
            <a:r>
              <a:rPr lang="en-US" altLang="zh-CN">
                <a:solidFill>
                  <a:srgbClr val="000000"/>
                </a:solidFill>
                <a:latin typeface="Arial" charset="0"/>
              </a:rPr>
              <a:t> C + S + T + Kr</a:t>
            </a:r>
          </a:p>
        </p:txBody>
      </p:sp>
      <p:sp>
        <p:nvSpPr>
          <p:cNvPr id="227335" name="Rectangle 7" descr="花束"/>
          <p:cNvSpPr>
            <a:spLocks noChangeArrowheads="1"/>
          </p:cNvSpPr>
          <p:nvPr/>
        </p:nvSpPr>
        <p:spPr bwMode="auto">
          <a:xfrm>
            <a:off x="395288" y="4724400"/>
            <a:ext cx="8229600" cy="1263650"/>
          </a:xfrm>
          <a:prstGeom prst="rect">
            <a:avLst/>
          </a:prstGeom>
          <a:blipFill dpi="0" rotWithShape="0">
            <a:blip r:embed="rId5"/>
            <a:srcRect/>
            <a:tile tx="0" ty="0" sx="100000" sy="100000" flip="none" algn="tl"/>
          </a:blipFill>
          <a:ln w="76200">
            <a:solidFill>
              <a:srgbClr val="336600"/>
            </a:solidFill>
            <a:miter lim="800000"/>
            <a:headEnd/>
            <a:tailEnd/>
          </a:ln>
        </p:spPr>
        <p:txBody>
          <a:bodyPr>
            <a:spAutoFit/>
          </a:bodyPr>
          <a:lstStyle/>
          <a:p>
            <a:pPr>
              <a:lnSpc>
                <a:spcPct val="120000"/>
              </a:lnSpc>
              <a:buClr>
                <a:srgbClr val="660033"/>
              </a:buClr>
              <a:buSzPct val="95000"/>
              <a:buFont typeface="Wingdings" pitchFamily="2" charset="2"/>
              <a:buChar char="n"/>
            </a:pPr>
            <a:r>
              <a:rPr lang="zh-CN" altLang="en-US">
                <a:solidFill>
                  <a:srgbClr val="101016"/>
                </a:solidFill>
                <a:latin typeface="Arial" charset="0"/>
              </a:rPr>
              <a:t>即</a:t>
            </a:r>
            <a:r>
              <a:rPr lang="en-US" altLang="zh-CN">
                <a:solidFill>
                  <a:srgbClr val="101016"/>
                </a:solidFill>
                <a:latin typeface="Arial" charset="0"/>
              </a:rPr>
              <a:t> I + G + (X-M) </a:t>
            </a:r>
            <a:r>
              <a:rPr lang="zh-CN" altLang="en-US">
                <a:solidFill>
                  <a:srgbClr val="101016"/>
                </a:solidFill>
                <a:latin typeface="Arial" charset="0"/>
              </a:rPr>
              <a:t>＝</a:t>
            </a:r>
            <a:r>
              <a:rPr lang="en-US" altLang="zh-CN">
                <a:solidFill>
                  <a:srgbClr val="101016"/>
                </a:solidFill>
                <a:latin typeface="Arial" charset="0"/>
              </a:rPr>
              <a:t> S + T + Kr </a:t>
            </a:r>
          </a:p>
          <a:p>
            <a:pPr>
              <a:lnSpc>
                <a:spcPct val="120000"/>
              </a:lnSpc>
              <a:buClr>
                <a:srgbClr val="660033"/>
              </a:buClr>
              <a:buSzPct val="95000"/>
              <a:buFont typeface="Wingdings" pitchFamily="2" charset="2"/>
              <a:buChar char="n"/>
            </a:pPr>
            <a:r>
              <a:rPr lang="en-US" altLang="zh-CN">
                <a:solidFill>
                  <a:srgbClr val="101016"/>
                </a:solidFill>
                <a:latin typeface="Arial" charset="0"/>
              </a:rPr>
              <a:t>I</a:t>
            </a:r>
            <a:r>
              <a:rPr lang="zh-CN" altLang="en-US">
                <a:solidFill>
                  <a:srgbClr val="101016"/>
                </a:solidFill>
                <a:latin typeface="Arial" charset="0"/>
              </a:rPr>
              <a:t>＝</a:t>
            </a:r>
            <a:r>
              <a:rPr lang="en-US" altLang="zh-CN">
                <a:solidFill>
                  <a:srgbClr val="101016"/>
                </a:solidFill>
                <a:latin typeface="Arial" charset="0"/>
              </a:rPr>
              <a:t> S +</a:t>
            </a:r>
            <a:r>
              <a:rPr lang="zh-CN" altLang="en-US">
                <a:solidFill>
                  <a:srgbClr val="101016"/>
                </a:solidFill>
                <a:latin typeface="Arial" charset="0"/>
              </a:rPr>
              <a:t>（</a:t>
            </a:r>
            <a:r>
              <a:rPr lang="en-US" altLang="zh-CN">
                <a:solidFill>
                  <a:srgbClr val="101016"/>
                </a:solidFill>
                <a:latin typeface="Arial" charset="0"/>
              </a:rPr>
              <a:t>T</a:t>
            </a:r>
            <a:r>
              <a:rPr lang="zh-CN" altLang="en-US">
                <a:solidFill>
                  <a:srgbClr val="101016"/>
                </a:solidFill>
                <a:latin typeface="Arial" charset="0"/>
              </a:rPr>
              <a:t>－</a:t>
            </a:r>
            <a:r>
              <a:rPr lang="en-US" altLang="zh-CN">
                <a:solidFill>
                  <a:srgbClr val="101016"/>
                </a:solidFill>
                <a:latin typeface="Arial" charset="0"/>
              </a:rPr>
              <a:t>G</a:t>
            </a:r>
            <a:r>
              <a:rPr lang="zh-CN" altLang="en-US">
                <a:solidFill>
                  <a:srgbClr val="101016"/>
                </a:solidFill>
                <a:latin typeface="Arial" charset="0"/>
              </a:rPr>
              <a:t>）＋（</a:t>
            </a:r>
            <a:r>
              <a:rPr lang="en-US" altLang="zh-CN">
                <a:solidFill>
                  <a:srgbClr val="101016"/>
                </a:solidFill>
                <a:latin typeface="Arial" charset="0"/>
              </a:rPr>
              <a:t> M</a:t>
            </a:r>
            <a:r>
              <a:rPr lang="zh-CN" altLang="en-US">
                <a:solidFill>
                  <a:srgbClr val="101016"/>
                </a:solidFill>
                <a:latin typeface="Arial" charset="0"/>
              </a:rPr>
              <a:t>＋</a:t>
            </a:r>
            <a:r>
              <a:rPr lang="en-US" altLang="zh-CN">
                <a:solidFill>
                  <a:srgbClr val="101016"/>
                </a:solidFill>
                <a:latin typeface="Arial" charset="0"/>
              </a:rPr>
              <a:t>Kr </a:t>
            </a:r>
            <a:r>
              <a:rPr lang="zh-CN" altLang="en-US">
                <a:solidFill>
                  <a:srgbClr val="101016"/>
                </a:solidFill>
                <a:latin typeface="Arial" charset="0"/>
              </a:rPr>
              <a:t>－</a:t>
            </a:r>
            <a:r>
              <a:rPr lang="en-US" altLang="zh-CN">
                <a:solidFill>
                  <a:srgbClr val="101016"/>
                </a:solidFill>
                <a:latin typeface="Arial" charset="0"/>
              </a:rPr>
              <a:t> X</a:t>
            </a:r>
            <a:r>
              <a:rPr lang="zh-CN" altLang="en-US">
                <a:solidFill>
                  <a:srgbClr val="101016"/>
                </a:solidFill>
                <a:latin typeface="Arial" charset="0"/>
              </a:rPr>
              <a:t>）</a:t>
            </a:r>
            <a:endParaRPr lang="en-US" altLang="zh-CN">
              <a:solidFill>
                <a:srgbClr val="101016"/>
              </a:solidFill>
              <a:latin typeface="Arial" charset="0"/>
            </a:endParaRPr>
          </a:p>
          <a:p>
            <a:pPr>
              <a:lnSpc>
                <a:spcPct val="120000"/>
              </a:lnSpc>
              <a:buClr>
                <a:srgbClr val="660033"/>
              </a:buClr>
              <a:buSzPct val="95000"/>
              <a:buFont typeface="Wingdings" pitchFamily="2" charset="2"/>
              <a:buChar char="n"/>
            </a:pPr>
            <a:r>
              <a:rPr lang="en-US" altLang="zh-CN">
                <a:solidFill>
                  <a:srgbClr val="101016"/>
                </a:solidFill>
                <a:latin typeface="Arial" charset="0"/>
              </a:rPr>
              <a:t> </a:t>
            </a:r>
            <a:r>
              <a:rPr lang="zh-CN" altLang="en-US">
                <a:solidFill>
                  <a:srgbClr val="101016"/>
                </a:solidFill>
                <a:latin typeface="Arial" charset="0"/>
              </a:rPr>
              <a:t>＝本国居民</a:t>
            </a:r>
            <a:r>
              <a:rPr lang="zh-CN" altLang="en-US">
                <a:solidFill>
                  <a:srgbClr val="FF5050"/>
                </a:solidFill>
                <a:latin typeface="Arial" charset="0"/>
              </a:rPr>
              <a:t>储蓄</a:t>
            </a:r>
            <a:r>
              <a:rPr lang="zh-CN" altLang="en-US">
                <a:solidFill>
                  <a:srgbClr val="101016"/>
                </a:solidFill>
                <a:latin typeface="Arial" charset="0"/>
              </a:rPr>
              <a:t>＋政府</a:t>
            </a:r>
            <a:r>
              <a:rPr lang="zh-CN" altLang="en-US">
                <a:solidFill>
                  <a:srgbClr val="FF5050"/>
                </a:solidFill>
                <a:latin typeface="Arial" charset="0"/>
              </a:rPr>
              <a:t>储蓄</a:t>
            </a:r>
            <a:r>
              <a:rPr lang="zh-CN" altLang="en-US">
                <a:solidFill>
                  <a:srgbClr val="101016"/>
                </a:solidFill>
                <a:latin typeface="Arial" charset="0"/>
              </a:rPr>
              <a:t>＋国外</a:t>
            </a:r>
            <a:r>
              <a:rPr lang="zh-CN" altLang="en-US">
                <a:solidFill>
                  <a:srgbClr val="FF5050"/>
                </a:solidFill>
                <a:latin typeface="Arial" charset="0"/>
              </a:rPr>
              <a:t>储蓄</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7331">
                                            <p:bg/>
                                          </p:spTgt>
                                        </p:tgtEl>
                                        <p:attrNameLst>
                                          <p:attrName>style.visibility</p:attrName>
                                        </p:attrNameLst>
                                      </p:cBhvr>
                                      <p:to>
                                        <p:strVal val="visible"/>
                                      </p:to>
                                    </p:set>
                                    <p:animEffect transition="in" filter="blinds(horizontal)">
                                      <p:cBhvr>
                                        <p:cTn id="7" dur="500"/>
                                        <p:tgtEl>
                                          <p:spTgt spid="227331">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27331">
                                            <p:txEl>
                                              <p:pRg st="0" end="0"/>
                                            </p:txEl>
                                          </p:spTgt>
                                        </p:tgtEl>
                                        <p:attrNameLst>
                                          <p:attrName>style.visibility</p:attrName>
                                        </p:attrNameLst>
                                      </p:cBhvr>
                                      <p:to>
                                        <p:strVal val="visible"/>
                                      </p:to>
                                    </p:set>
                                    <p:animEffect transition="in" filter="blinds(horizontal)">
                                      <p:cBhvr>
                                        <p:cTn id="12" dur="500"/>
                                        <p:tgtEl>
                                          <p:spTgt spid="227331">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27332"/>
                                        </p:tgtEl>
                                        <p:attrNameLst>
                                          <p:attrName>style.visibility</p:attrName>
                                        </p:attrNameLst>
                                      </p:cBhvr>
                                      <p:to>
                                        <p:strVal val="visible"/>
                                      </p:to>
                                    </p:set>
                                    <p:animEffect transition="in" filter="blinds(horizontal)">
                                      <p:cBhvr>
                                        <p:cTn id="17" dur="500"/>
                                        <p:tgtEl>
                                          <p:spTgt spid="22733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27333"/>
                                        </p:tgtEl>
                                        <p:attrNameLst>
                                          <p:attrName>style.visibility</p:attrName>
                                        </p:attrNameLst>
                                      </p:cBhvr>
                                      <p:to>
                                        <p:strVal val="visible"/>
                                      </p:to>
                                    </p:set>
                                    <p:animEffect transition="in" filter="blinds(horizontal)">
                                      <p:cBhvr>
                                        <p:cTn id="22" dur="500"/>
                                        <p:tgtEl>
                                          <p:spTgt spid="22733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27335"/>
                                        </p:tgtEl>
                                        <p:attrNameLst>
                                          <p:attrName>style.visibility</p:attrName>
                                        </p:attrNameLst>
                                      </p:cBhvr>
                                      <p:to>
                                        <p:strVal val="visible"/>
                                      </p:to>
                                    </p:set>
                                    <p:animEffect transition="in" filter="blinds(horizontal)">
                                      <p:cBhvr>
                                        <p:cTn id="27" dur="500"/>
                                        <p:tgtEl>
                                          <p:spTgt spid="2273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331" grpId="0" build="p" animBg="1"/>
      <p:bldP spid="227332" grpId="0" animBg="1"/>
      <p:bldP spid="227333" grpId="0" animBg="1"/>
      <p:bldP spid="227335"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Rectangle 2"/>
          <p:cNvSpPr>
            <a:spLocks noGrp="1" noChangeArrowheads="1"/>
          </p:cNvSpPr>
          <p:nvPr>
            <p:ph type="title"/>
          </p:nvPr>
        </p:nvSpPr>
        <p:spPr>
          <a:extLst/>
        </p:spPr>
        <p:txBody>
          <a:bodyPr/>
          <a:lstStyle/>
          <a:p>
            <a:pPr eaLnBrk="1" hangingPunct="1">
              <a:defRPr/>
            </a:pPr>
            <a:r>
              <a:rPr lang="zh-CN" altLang="en-US"/>
              <a:t>第六节</a:t>
            </a:r>
            <a:r>
              <a:rPr lang="en-US" altLang="zh-CN"/>
              <a:t> </a:t>
            </a:r>
            <a:r>
              <a:rPr lang="zh-CN" altLang="en-US"/>
              <a:t>价格水平与</a:t>
            </a:r>
            <a:r>
              <a:rPr lang="en-US" altLang="zh-CN"/>
              <a:t>GDP</a:t>
            </a:r>
          </a:p>
        </p:txBody>
      </p:sp>
      <p:sp>
        <p:nvSpPr>
          <p:cNvPr id="257027" name="Rectangle 3"/>
          <p:cNvSpPr>
            <a:spLocks noGrp="1" noChangeArrowheads="1"/>
          </p:cNvSpPr>
          <p:nvPr>
            <p:ph type="body" idx="1"/>
          </p:nvPr>
        </p:nvSpPr>
        <p:spPr>
          <a:xfrm>
            <a:off x="395288" y="1243013"/>
            <a:ext cx="4681537" cy="514350"/>
          </a:xfrm>
          <a:ln cap="flat"/>
        </p:spPr>
        <p:txBody>
          <a:bodyPr/>
          <a:lstStyle/>
          <a:p>
            <a:pPr eaLnBrk="1" hangingPunct="1">
              <a:buFont typeface="Wingdings" pitchFamily="2" charset="2"/>
              <a:buNone/>
            </a:pPr>
            <a:r>
              <a:rPr lang="en-US" altLang="zh-CN" smtClean="0"/>
              <a:t>1. </a:t>
            </a:r>
            <a:r>
              <a:rPr lang="zh-CN" altLang="en-US" smtClean="0"/>
              <a:t>名义</a:t>
            </a:r>
            <a:r>
              <a:rPr lang="en-US" altLang="zh-CN" smtClean="0"/>
              <a:t>GDP</a:t>
            </a:r>
            <a:r>
              <a:rPr lang="zh-CN" altLang="en-US" smtClean="0"/>
              <a:t>与实际</a:t>
            </a:r>
            <a:r>
              <a:rPr lang="en-US" altLang="zh-CN" smtClean="0"/>
              <a:t>GDP</a:t>
            </a:r>
          </a:p>
        </p:txBody>
      </p:sp>
      <p:sp>
        <p:nvSpPr>
          <p:cNvPr id="257028" name="Rectangle 4" descr="花束"/>
          <p:cNvSpPr>
            <a:spLocks noChangeArrowheads="1"/>
          </p:cNvSpPr>
          <p:nvPr/>
        </p:nvSpPr>
        <p:spPr bwMode="auto">
          <a:xfrm>
            <a:off x="395288" y="2060575"/>
            <a:ext cx="8280400" cy="898525"/>
          </a:xfrm>
          <a:prstGeom prst="rect">
            <a:avLst/>
          </a:prstGeom>
          <a:blipFill dpi="0" rotWithShape="0">
            <a:blip r:embed="rId2"/>
            <a:srcRect/>
            <a:tile tx="0" ty="0" sx="100000" sy="100000" flip="none" algn="tl"/>
          </a:blipFill>
          <a:ln w="76200">
            <a:solidFill>
              <a:srgbClr val="336600"/>
            </a:solidFill>
            <a:miter lim="800000"/>
            <a:headEnd/>
            <a:tailEnd/>
          </a:ln>
        </p:spPr>
        <p:txBody>
          <a:bodyPr>
            <a:spAutoFit/>
          </a:bodyPr>
          <a:lstStyle/>
          <a:p>
            <a:pPr>
              <a:lnSpc>
                <a:spcPct val="120000"/>
              </a:lnSpc>
              <a:buClr>
                <a:srgbClr val="660033"/>
              </a:buClr>
              <a:buSzPct val="95000"/>
              <a:buFont typeface="Wingdings" pitchFamily="2" charset="2"/>
              <a:buChar char="n"/>
            </a:pPr>
            <a:r>
              <a:rPr lang="zh-CN" altLang="en-US">
                <a:solidFill>
                  <a:srgbClr val="101016"/>
                </a:solidFill>
                <a:latin typeface="Arial" charset="0"/>
              </a:rPr>
              <a:t>名义</a:t>
            </a:r>
            <a:r>
              <a:rPr lang="en-US" altLang="zh-CN">
                <a:solidFill>
                  <a:srgbClr val="101016"/>
                </a:solidFill>
                <a:latin typeface="Arial" charset="0"/>
              </a:rPr>
              <a:t>GDP</a:t>
            </a:r>
            <a:r>
              <a:rPr lang="zh-CN" altLang="en-US">
                <a:solidFill>
                  <a:srgbClr val="101016"/>
                </a:solidFill>
                <a:latin typeface="Arial" charset="0"/>
              </a:rPr>
              <a:t>：</a:t>
            </a:r>
            <a:r>
              <a:rPr lang="zh-CN" altLang="en-US">
                <a:solidFill>
                  <a:srgbClr val="FF00FF"/>
                </a:solidFill>
                <a:latin typeface="Arial" charset="0"/>
              </a:rPr>
              <a:t>当年价格</a:t>
            </a:r>
            <a:r>
              <a:rPr lang="zh-CN" altLang="en-US">
                <a:solidFill>
                  <a:srgbClr val="101016"/>
                </a:solidFill>
                <a:latin typeface="Arial" charset="0"/>
              </a:rPr>
              <a:t>计算的</a:t>
            </a:r>
            <a:r>
              <a:rPr lang="en-US" altLang="zh-CN">
                <a:solidFill>
                  <a:srgbClr val="101016"/>
                </a:solidFill>
                <a:latin typeface="Arial" charset="0"/>
              </a:rPr>
              <a:t>GDP</a:t>
            </a:r>
            <a:r>
              <a:rPr lang="zh-CN" altLang="en-US">
                <a:solidFill>
                  <a:srgbClr val="101016"/>
                </a:solidFill>
                <a:latin typeface="Arial" charset="0"/>
              </a:rPr>
              <a:t>。</a:t>
            </a:r>
            <a:endParaRPr lang="en-US" altLang="zh-CN">
              <a:solidFill>
                <a:srgbClr val="101016"/>
              </a:solidFill>
              <a:latin typeface="Arial" charset="0"/>
            </a:endParaRPr>
          </a:p>
          <a:p>
            <a:pPr>
              <a:lnSpc>
                <a:spcPct val="120000"/>
              </a:lnSpc>
              <a:buClr>
                <a:srgbClr val="660033"/>
              </a:buClr>
              <a:buSzPct val="95000"/>
              <a:buFont typeface="Wingdings" pitchFamily="2" charset="2"/>
              <a:buChar char="n"/>
            </a:pPr>
            <a:r>
              <a:rPr lang="zh-CN" altLang="en-US">
                <a:solidFill>
                  <a:srgbClr val="101016"/>
                </a:solidFill>
                <a:latin typeface="Arial" charset="0"/>
              </a:rPr>
              <a:t>实际</a:t>
            </a:r>
            <a:r>
              <a:rPr lang="en-US" altLang="zh-CN">
                <a:solidFill>
                  <a:srgbClr val="101016"/>
                </a:solidFill>
                <a:latin typeface="Arial" charset="0"/>
              </a:rPr>
              <a:t>GDP</a:t>
            </a:r>
            <a:r>
              <a:rPr lang="zh-CN" altLang="en-US">
                <a:solidFill>
                  <a:srgbClr val="101016"/>
                </a:solidFill>
                <a:latin typeface="Arial" charset="0"/>
              </a:rPr>
              <a:t>：</a:t>
            </a:r>
            <a:r>
              <a:rPr lang="en-US" altLang="zh-CN">
                <a:solidFill>
                  <a:srgbClr val="101016"/>
                </a:solidFill>
                <a:latin typeface="Arial" charset="0"/>
              </a:rPr>
              <a:t>(</a:t>
            </a:r>
            <a:r>
              <a:rPr lang="zh-CN" altLang="en-US">
                <a:solidFill>
                  <a:srgbClr val="101016"/>
                </a:solidFill>
                <a:latin typeface="Arial" charset="0"/>
              </a:rPr>
              <a:t>用从前某一年作为不变价格的</a:t>
            </a:r>
            <a:r>
              <a:rPr lang="en-US" altLang="zh-CN">
                <a:solidFill>
                  <a:srgbClr val="101016"/>
                </a:solidFill>
                <a:latin typeface="Arial" charset="0"/>
              </a:rPr>
              <a:t>)</a:t>
            </a:r>
            <a:r>
              <a:rPr lang="zh-CN" altLang="en-US">
                <a:solidFill>
                  <a:srgbClr val="FF00FF"/>
                </a:solidFill>
                <a:latin typeface="Arial" charset="0"/>
              </a:rPr>
              <a:t>基年价格</a:t>
            </a:r>
            <a:r>
              <a:rPr lang="zh-CN" altLang="en-US">
                <a:solidFill>
                  <a:srgbClr val="101016"/>
                </a:solidFill>
                <a:latin typeface="Arial" charset="0"/>
              </a:rPr>
              <a:t>计算的该年</a:t>
            </a:r>
            <a:r>
              <a:rPr lang="en-US" altLang="zh-CN">
                <a:solidFill>
                  <a:srgbClr val="101016"/>
                </a:solidFill>
                <a:latin typeface="Arial" charset="0"/>
              </a:rPr>
              <a:t>GDP</a:t>
            </a:r>
            <a:r>
              <a:rPr lang="zh-CN" altLang="en-US">
                <a:solidFill>
                  <a:srgbClr val="101016"/>
                </a:solidFill>
                <a:latin typeface="Arial" charset="0"/>
              </a:rPr>
              <a:t>。</a:t>
            </a:r>
          </a:p>
        </p:txBody>
      </p:sp>
      <p:sp>
        <p:nvSpPr>
          <p:cNvPr id="257030" name="AutoShape 6"/>
          <p:cNvSpPr>
            <a:spLocks noChangeArrowheads="1"/>
          </p:cNvSpPr>
          <p:nvPr/>
        </p:nvSpPr>
        <p:spPr bwMode="auto">
          <a:xfrm>
            <a:off x="5795963" y="404813"/>
            <a:ext cx="2808287" cy="1439862"/>
          </a:xfrm>
          <a:prstGeom prst="wedgeRoundRectCallout">
            <a:avLst>
              <a:gd name="adj1" fmla="val 2796"/>
              <a:gd name="adj2" fmla="val 67310"/>
              <a:gd name="adj3" fmla="val 16667"/>
            </a:avLst>
          </a:prstGeom>
          <a:solidFill>
            <a:srgbClr val="CCCCFF"/>
          </a:solidFill>
          <a:ln w="9525">
            <a:solidFill>
              <a:schemeClr val="tx1"/>
            </a:solidFill>
            <a:miter lim="800000"/>
            <a:headEnd/>
            <a:tailEnd/>
          </a:ln>
        </p:spPr>
        <p:txBody>
          <a:bodyPr/>
          <a:lstStyle/>
          <a:p>
            <a:pPr>
              <a:buFont typeface="Wingdings" pitchFamily="2" charset="2"/>
              <a:buChar char="n"/>
            </a:pPr>
            <a:r>
              <a:rPr lang="zh-CN" altLang="en-US">
                <a:solidFill>
                  <a:srgbClr val="FF5050"/>
                </a:solidFill>
                <a:latin typeface="Arial" charset="0"/>
              </a:rPr>
              <a:t>当年价格</a:t>
            </a:r>
            <a:r>
              <a:rPr lang="zh-CN" altLang="en-US">
                <a:solidFill>
                  <a:schemeClr val="bg1"/>
                </a:solidFill>
                <a:latin typeface="Arial" charset="0"/>
              </a:rPr>
              <a:t>也称为即期价格、现期价格。</a:t>
            </a:r>
            <a:endParaRPr lang="en-US" altLang="zh-CN">
              <a:solidFill>
                <a:schemeClr val="bg1"/>
              </a:solidFill>
              <a:latin typeface="Arial" charset="0"/>
            </a:endParaRPr>
          </a:p>
          <a:p>
            <a:pPr>
              <a:buFont typeface="Wingdings" pitchFamily="2" charset="2"/>
              <a:buChar char="n"/>
            </a:pPr>
            <a:r>
              <a:rPr lang="zh-CN" altLang="en-US">
                <a:solidFill>
                  <a:srgbClr val="FF5050"/>
                </a:solidFill>
                <a:latin typeface="Arial" charset="0"/>
              </a:rPr>
              <a:t>不变价格</a:t>
            </a:r>
            <a:r>
              <a:rPr lang="zh-CN" altLang="en-US">
                <a:solidFill>
                  <a:schemeClr val="bg1"/>
                </a:solidFill>
                <a:latin typeface="Arial" charset="0"/>
              </a:rPr>
              <a:t>指</a:t>
            </a:r>
            <a:r>
              <a:rPr lang="zh-CN" altLang="en-US">
                <a:solidFill>
                  <a:srgbClr val="FF00FF"/>
                </a:solidFill>
                <a:latin typeface="Arial" charset="0"/>
              </a:rPr>
              <a:t>基年价格。</a:t>
            </a:r>
          </a:p>
        </p:txBody>
      </p:sp>
      <p:sp>
        <p:nvSpPr>
          <p:cNvPr id="257033" name="Line 9"/>
          <p:cNvSpPr>
            <a:spLocks noChangeShapeType="1"/>
          </p:cNvSpPr>
          <p:nvPr/>
        </p:nvSpPr>
        <p:spPr bwMode="auto">
          <a:xfrm>
            <a:off x="395288" y="6453188"/>
            <a:ext cx="2232025" cy="0"/>
          </a:xfrm>
          <a:prstGeom prst="line">
            <a:avLst/>
          </a:prstGeom>
          <a:noFill/>
          <a:ln w="76200" cmpd="tri">
            <a:solidFill>
              <a:srgbClr val="660066"/>
            </a:solidFill>
            <a:miter lim="800000"/>
            <a:headEnd/>
            <a:tailEnd/>
          </a:ln>
        </p:spPr>
        <p:txBody>
          <a:bodyPr wrap="none"/>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7027">
                                            <p:bg/>
                                          </p:spTgt>
                                        </p:tgtEl>
                                        <p:attrNameLst>
                                          <p:attrName>style.visibility</p:attrName>
                                        </p:attrNameLst>
                                      </p:cBhvr>
                                      <p:to>
                                        <p:strVal val="visible"/>
                                      </p:to>
                                    </p:set>
                                    <p:animEffect transition="in" filter="blinds(horizontal)">
                                      <p:cBhvr>
                                        <p:cTn id="7" dur="500"/>
                                        <p:tgtEl>
                                          <p:spTgt spid="257027">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57027">
                                            <p:txEl>
                                              <p:pRg st="0" end="0"/>
                                            </p:txEl>
                                          </p:spTgt>
                                        </p:tgtEl>
                                        <p:attrNameLst>
                                          <p:attrName>style.visibility</p:attrName>
                                        </p:attrNameLst>
                                      </p:cBhvr>
                                      <p:to>
                                        <p:strVal val="visible"/>
                                      </p:to>
                                    </p:set>
                                    <p:animEffect transition="in" filter="blinds(horizontal)">
                                      <p:cBhvr>
                                        <p:cTn id="12" dur="500"/>
                                        <p:tgtEl>
                                          <p:spTgt spid="257027">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57028"/>
                                        </p:tgtEl>
                                        <p:attrNameLst>
                                          <p:attrName>style.visibility</p:attrName>
                                        </p:attrNameLst>
                                      </p:cBhvr>
                                      <p:to>
                                        <p:strVal val="visible"/>
                                      </p:to>
                                    </p:set>
                                    <p:animEffect transition="in" filter="blinds(horizontal)">
                                      <p:cBhvr>
                                        <p:cTn id="17" dur="500"/>
                                        <p:tgtEl>
                                          <p:spTgt spid="25702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57030"/>
                                        </p:tgtEl>
                                        <p:attrNameLst>
                                          <p:attrName>style.visibility</p:attrName>
                                        </p:attrNameLst>
                                      </p:cBhvr>
                                      <p:to>
                                        <p:strVal val="visible"/>
                                      </p:to>
                                    </p:set>
                                    <p:animEffect transition="in" filter="blinds(horizontal)">
                                      <p:cBhvr>
                                        <p:cTn id="22" dur="500"/>
                                        <p:tgtEl>
                                          <p:spTgt spid="25703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57033"/>
                                        </p:tgtEl>
                                        <p:attrNameLst>
                                          <p:attrName>style.visibility</p:attrName>
                                        </p:attrNameLst>
                                      </p:cBhvr>
                                      <p:to>
                                        <p:strVal val="visible"/>
                                      </p:to>
                                    </p:set>
                                    <p:animEffect transition="in" filter="dissolve">
                                      <p:cBhvr>
                                        <p:cTn id="27" dur="500"/>
                                        <p:tgtEl>
                                          <p:spTgt spid="2570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7027" grpId="0" build="p" animBg="1"/>
      <p:bldP spid="257028" grpId="0" animBg="1"/>
      <p:bldP spid="257030" grpId="0" animBg="1"/>
      <p:bldP spid="257033"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Rectangle 2"/>
          <p:cNvSpPr>
            <a:spLocks noGrp="1" noChangeArrowheads="1"/>
          </p:cNvSpPr>
          <p:nvPr>
            <p:ph type="title"/>
          </p:nvPr>
        </p:nvSpPr>
        <p:spPr>
          <a:extLst/>
        </p:spPr>
        <p:txBody>
          <a:bodyPr/>
          <a:lstStyle/>
          <a:p>
            <a:pPr eaLnBrk="1" hangingPunct="1">
              <a:defRPr/>
            </a:pPr>
            <a:r>
              <a:rPr lang="zh-CN" altLang="en-US"/>
              <a:t>第六节</a:t>
            </a:r>
            <a:r>
              <a:rPr lang="en-US" altLang="zh-CN"/>
              <a:t> </a:t>
            </a:r>
            <a:r>
              <a:rPr lang="zh-CN" altLang="en-US"/>
              <a:t>价格水平与</a:t>
            </a:r>
            <a:r>
              <a:rPr lang="en-US" altLang="zh-CN"/>
              <a:t>GDP</a:t>
            </a:r>
          </a:p>
        </p:txBody>
      </p:sp>
      <p:sp>
        <p:nvSpPr>
          <p:cNvPr id="259075" name="Rectangle 3"/>
          <p:cNvSpPr>
            <a:spLocks noGrp="1" noChangeArrowheads="1"/>
          </p:cNvSpPr>
          <p:nvPr>
            <p:ph type="body" idx="1"/>
          </p:nvPr>
        </p:nvSpPr>
        <p:spPr>
          <a:xfrm>
            <a:off x="395288" y="1243013"/>
            <a:ext cx="4681537" cy="514350"/>
          </a:xfrm>
          <a:ln cap="flat"/>
        </p:spPr>
        <p:txBody>
          <a:bodyPr/>
          <a:lstStyle/>
          <a:p>
            <a:pPr eaLnBrk="1" hangingPunct="1">
              <a:buFont typeface="Wingdings" pitchFamily="2" charset="2"/>
              <a:buNone/>
            </a:pPr>
            <a:r>
              <a:rPr lang="en-US" altLang="zh-CN" smtClean="0"/>
              <a:t>2. </a:t>
            </a:r>
            <a:r>
              <a:rPr lang="zh-CN" altLang="en-US" smtClean="0"/>
              <a:t>价格指数</a:t>
            </a:r>
          </a:p>
        </p:txBody>
      </p:sp>
      <p:sp>
        <p:nvSpPr>
          <p:cNvPr id="259080" name="Rectangle 8" descr="花束"/>
          <p:cNvSpPr>
            <a:spLocks noChangeArrowheads="1"/>
          </p:cNvSpPr>
          <p:nvPr/>
        </p:nvSpPr>
        <p:spPr bwMode="auto">
          <a:xfrm>
            <a:off x="395288" y="1916113"/>
            <a:ext cx="7993062" cy="2790825"/>
          </a:xfrm>
          <a:prstGeom prst="rect">
            <a:avLst/>
          </a:prstGeom>
          <a:blipFill dpi="0" rotWithShape="0">
            <a:blip r:embed="rId2"/>
            <a:srcRect/>
            <a:tile tx="0" ty="0" sx="100000" sy="100000" flip="none" algn="tl"/>
          </a:blipFill>
          <a:ln w="76200">
            <a:solidFill>
              <a:srgbClr val="336600"/>
            </a:solidFill>
            <a:miter lim="800000"/>
            <a:headEnd/>
            <a:tailEnd/>
          </a:ln>
        </p:spPr>
        <p:txBody>
          <a:bodyPr>
            <a:spAutoFit/>
          </a:bodyPr>
          <a:lstStyle/>
          <a:p>
            <a:pPr>
              <a:lnSpc>
                <a:spcPct val="130000"/>
              </a:lnSpc>
              <a:spcBef>
                <a:spcPct val="20000"/>
              </a:spcBef>
              <a:buClr>
                <a:schemeClr val="hlink"/>
              </a:buClr>
              <a:buSzPct val="95000"/>
              <a:buFont typeface="Wingdings" pitchFamily="2" charset="2"/>
              <a:buChar char="l"/>
            </a:pPr>
            <a:r>
              <a:rPr lang="zh-CN" altLang="en-US">
                <a:solidFill>
                  <a:srgbClr val="FF00FF"/>
                </a:solidFill>
                <a:latin typeface="Arial" charset="0"/>
              </a:rPr>
              <a:t>价格指数</a:t>
            </a:r>
            <a:r>
              <a:rPr lang="zh-CN" altLang="en-US">
                <a:solidFill>
                  <a:srgbClr val="101016"/>
                </a:solidFill>
                <a:latin typeface="Arial" charset="0"/>
              </a:rPr>
              <a:t>：以基期或报告期的产量作为权数计算的报告期的价格与基期价格之比。</a:t>
            </a:r>
            <a:endParaRPr lang="en-US" altLang="zh-CN">
              <a:solidFill>
                <a:srgbClr val="101016"/>
              </a:solidFill>
              <a:latin typeface="Arial" charset="0"/>
            </a:endParaRPr>
          </a:p>
          <a:p>
            <a:pPr>
              <a:lnSpc>
                <a:spcPct val="130000"/>
              </a:lnSpc>
              <a:spcBef>
                <a:spcPct val="20000"/>
              </a:spcBef>
              <a:buClr>
                <a:schemeClr val="hlink"/>
              </a:buClr>
              <a:buSzPct val="95000"/>
              <a:buFont typeface="Wingdings" pitchFamily="2" charset="2"/>
              <a:buChar char="l"/>
            </a:pPr>
            <a:r>
              <a:rPr lang="zh-CN" altLang="en-US">
                <a:solidFill>
                  <a:srgbClr val="101016"/>
                </a:solidFill>
                <a:latin typeface="Arial" charset="0"/>
              </a:rPr>
              <a:t>常用的价格指数：</a:t>
            </a:r>
            <a:endParaRPr lang="en-US" altLang="zh-CN">
              <a:solidFill>
                <a:srgbClr val="101016"/>
              </a:solidFill>
              <a:latin typeface="Arial" charset="0"/>
            </a:endParaRPr>
          </a:p>
          <a:p>
            <a:pPr>
              <a:lnSpc>
                <a:spcPct val="130000"/>
              </a:lnSpc>
              <a:spcBef>
                <a:spcPct val="20000"/>
              </a:spcBef>
              <a:buClr>
                <a:schemeClr val="hlink"/>
              </a:buClr>
              <a:buSzPct val="95000"/>
              <a:buFont typeface="Wingdings" pitchFamily="2" charset="2"/>
              <a:buChar char="l"/>
            </a:pPr>
            <a:r>
              <a:rPr lang="zh-CN" altLang="en-US">
                <a:solidFill>
                  <a:srgbClr val="101016"/>
                </a:solidFill>
                <a:latin typeface="Arial" charset="0"/>
              </a:rPr>
              <a:t>（</a:t>
            </a:r>
            <a:r>
              <a:rPr lang="en-US" altLang="zh-CN">
                <a:solidFill>
                  <a:srgbClr val="101016"/>
                </a:solidFill>
                <a:latin typeface="Arial" charset="0"/>
              </a:rPr>
              <a:t>1</a:t>
            </a:r>
            <a:r>
              <a:rPr lang="zh-CN" altLang="en-US">
                <a:solidFill>
                  <a:srgbClr val="101016"/>
                </a:solidFill>
                <a:latin typeface="Arial" charset="0"/>
              </a:rPr>
              <a:t>）消费者价格指数；（</a:t>
            </a:r>
            <a:r>
              <a:rPr lang="en-US" altLang="zh-CN">
                <a:solidFill>
                  <a:srgbClr val="101016"/>
                </a:solidFill>
                <a:latin typeface="Arial" charset="0"/>
              </a:rPr>
              <a:t>CPI</a:t>
            </a:r>
            <a:r>
              <a:rPr lang="zh-CN" altLang="en-US">
                <a:solidFill>
                  <a:srgbClr val="101016"/>
                </a:solidFill>
                <a:latin typeface="Arial" charset="0"/>
              </a:rPr>
              <a:t>）</a:t>
            </a:r>
            <a:endParaRPr lang="en-US" altLang="zh-CN">
              <a:solidFill>
                <a:srgbClr val="101016"/>
              </a:solidFill>
              <a:latin typeface="Arial" charset="0"/>
            </a:endParaRPr>
          </a:p>
          <a:p>
            <a:pPr>
              <a:lnSpc>
                <a:spcPct val="130000"/>
              </a:lnSpc>
              <a:spcBef>
                <a:spcPct val="20000"/>
              </a:spcBef>
              <a:buClr>
                <a:schemeClr val="hlink"/>
              </a:buClr>
              <a:buSzPct val="95000"/>
              <a:buFont typeface="Wingdings" pitchFamily="2" charset="2"/>
              <a:buChar char="l"/>
            </a:pPr>
            <a:r>
              <a:rPr lang="zh-CN" altLang="en-US">
                <a:solidFill>
                  <a:srgbClr val="101016"/>
                </a:solidFill>
                <a:latin typeface="Arial" charset="0"/>
              </a:rPr>
              <a:t>（</a:t>
            </a:r>
            <a:r>
              <a:rPr lang="en-US" altLang="zh-CN">
                <a:solidFill>
                  <a:srgbClr val="101016"/>
                </a:solidFill>
                <a:latin typeface="Arial" charset="0"/>
              </a:rPr>
              <a:t>2</a:t>
            </a:r>
            <a:r>
              <a:rPr lang="zh-CN" altLang="en-US">
                <a:solidFill>
                  <a:srgbClr val="101016"/>
                </a:solidFill>
                <a:latin typeface="Arial" charset="0"/>
              </a:rPr>
              <a:t>）生产者价格指数；（</a:t>
            </a:r>
            <a:r>
              <a:rPr lang="en-US" altLang="zh-CN">
                <a:solidFill>
                  <a:srgbClr val="101016"/>
                </a:solidFill>
                <a:latin typeface="Arial" charset="0"/>
              </a:rPr>
              <a:t>PPI</a:t>
            </a:r>
            <a:r>
              <a:rPr lang="zh-CN" altLang="en-US">
                <a:solidFill>
                  <a:srgbClr val="101016"/>
                </a:solidFill>
                <a:latin typeface="Arial" charset="0"/>
              </a:rPr>
              <a:t>）</a:t>
            </a:r>
            <a:endParaRPr lang="en-US" altLang="zh-CN">
              <a:solidFill>
                <a:srgbClr val="101016"/>
              </a:solidFill>
              <a:latin typeface="Arial" charset="0"/>
            </a:endParaRPr>
          </a:p>
          <a:p>
            <a:pPr>
              <a:lnSpc>
                <a:spcPct val="130000"/>
              </a:lnSpc>
              <a:spcBef>
                <a:spcPct val="20000"/>
              </a:spcBef>
              <a:buClr>
                <a:schemeClr val="hlink"/>
              </a:buClr>
              <a:buSzPct val="95000"/>
              <a:buFont typeface="Wingdings" pitchFamily="2" charset="2"/>
              <a:buChar char="l"/>
            </a:pPr>
            <a:r>
              <a:rPr lang="zh-CN" altLang="en-US">
                <a:solidFill>
                  <a:srgbClr val="101016"/>
                </a:solidFill>
                <a:latin typeface="Arial" charset="0"/>
              </a:rPr>
              <a:t>（</a:t>
            </a:r>
            <a:r>
              <a:rPr lang="en-US" altLang="zh-CN">
                <a:solidFill>
                  <a:srgbClr val="101016"/>
                </a:solidFill>
                <a:latin typeface="Arial" charset="0"/>
              </a:rPr>
              <a:t>3</a:t>
            </a:r>
            <a:r>
              <a:rPr lang="zh-CN" altLang="en-US">
                <a:solidFill>
                  <a:srgbClr val="101016"/>
                </a:solidFill>
                <a:latin typeface="Arial" charset="0"/>
              </a:rPr>
              <a:t>）</a:t>
            </a:r>
            <a:r>
              <a:rPr lang="en-US" altLang="zh-CN">
                <a:solidFill>
                  <a:srgbClr val="101016"/>
                </a:solidFill>
                <a:latin typeface="Arial" charset="0"/>
              </a:rPr>
              <a:t>GDP</a:t>
            </a:r>
            <a:r>
              <a:rPr lang="zh-CN" altLang="en-US">
                <a:solidFill>
                  <a:srgbClr val="101016"/>
                </a:solidFill>
                <a:latin typeface="Arial" charset="0"/>
              </a:rPr>
              <a:t>平减指数；或称</a:t>
            </a:r>
            <a:r>
              <a:rPr lang="en-US" altLang="zh-CN">
                <a:solidFill>
                  <a:srgbClr val="FF00FF"/>
                </a:solidFill>
                <a:latin typeface="Arial" charset="0"/>
              </a:rPr>
              <a:t>GDP</a:t>
            </a:r>
            <a:r>
              <a:rPr lang="zh-CN" altLang="en-US">
                <a:solidFill>
                  <a:srgbClr val="FF00FF"/>
                </a:solidFill>
                <a:latin typeface="Arial" charset="0"/>
              </a:rPr>
              <a:t>消胀指数</a:t>
            </a:r>
            <a:r>
              <a:rPr lang="zh-CN" altLang="en-US">
                <a:solidFill>
                  <a:srgbClr val="101016"/>
                </a:solidFill>
                <a:latin typeface="Arial" charset="0"/>
              </a:rPr>
              <a:t>、</a:t>
            </a:r>
            <a:r>
              <a:rPr lang="en-US" altLang="zh-CN">
                <a:solidFill>
                  <a:srgbClr val="101016"/>
                </a:solidFill>
                <a:latin typeface="Arial" charset="0"/>
              </a:rPr>
              <a:t>GDP</a:t>
            </a:r>
            <a:r>
              <a:rPr lang="zh-CN" altLang="en-US">
                <a:solidFill>
                  <a:srgbClr val="101016"/>
                </a:solidFill>
                <a:latin typeface="Arial" charset="0"/>
              </a:rPr>
              <a:t>平减指数。</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9075">
                                            <p:bg/>
                                          </p:spTgt>
                                        </p:tgtEl>
                                        <p:attrNameLst>
                                          <p:attrName>style.visibility</p:attrName>
                                        </p:attrNameLst>
                                      </p:cBhvr>
                                      <p:to>
                                        <p:strVal val="visible"/>
                                      </p:to>
                                    </p:set>
                                    <p:animEffect transition="in" filter="blinds(horizontal)">
                                      <p:cBhvr>
                                        <p:cTn id="7" dur="500"/>
                                        <p:tgtEl>
                                          <p:spTgt spid="259075">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59075">
                                            <p:txEl>
                                              <p:pRg st="0" end="0"/>
                                            </p:txEl>
                                          </p:spTgt>
                                        </p:tgtEl>
                                        <p:attrNameLst>
                                          <p:attrName>style.visibility</p:attrName>
                                        </p:attrNameLst>
                                      </p:cBhvr>
                                      <p:to>
                                        <p:strVal val="visible"/>
                                      </p:to>
                                    </p:set>
                                    <p:animEffect transition="in" filter="blinds(horizontal)">
                                      <p:cBhvr>
                                        <p:cTn id="12" dur="500"/>
                                        <p:tgtEl>
                                          <p:spTgt spid="259075">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59080"/>
                                        </p:tgtEl>
                                        <p:attrNameLst>
                                          <p:attrName>style.visibility</p:attrName>
                                        </p:attrNameLst>
                                      </p:cBhvr>
                                      <p:to>
                                        <p:strVal val="visible"/>
                                      </p:to>
                                    </p:set>
                                    <p:animEffect transition="in" filter="blinds(horizontal)">
                                      <p:cBhvr>
                                        <p:cTn id="17" dur="500"/>
                                        <p:tgtEl>
                                          <p:spTgt spid="2590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9075" grpId="0" build="p" animBg="1"/>
      <p:bldP spid="259080"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Rectangle 2"/>
          <p:cNvSpPr>
            <a:spLocks noGrp="1" noChangeArrowheads="1"/>
          </p:cNvSpPr>
          <p:nvPr>
            <p:ph type="title"/>
          </p:nvPr>
        </p:nvSpPr>
        <p:spPr>
          <a:extLst/>
        </p:spPr>
        <p:txBody>
          <a:bodyPr/>
          <a:lstStyle/>
          <a:p>
            <a:pPr eaLnBrk="1" hangingPunct="1">
              <a:defRPr/>
            </a:pPr>
            <a:r>
              <a:rPr lang="zh-CN" altLang="en-US"/>
              <a:t>第六节</a:t>
            </a:r>
            <a:r>
              <a:rPr lang="en-US" altLang="zh-CN"/>
              <a:t> </a:t>
            </a:r>
            <a:r>
              <a:rPr lang="zh-CN" altLang="en-US"/>
              <a:t>价格水平与</a:t>
            </a:r>
            <a:r>
              <a:rPr lang="en-US" altLang="zh-CN"/>
              <a:t>GDP</a:t>
            </a:r>
          </a:p>
        </p:txBody>
      </p:sp>
      <p:sp>
        <p:nvSpPr>
          <p:cNvPr id="261123" name="Rectangle 3"/>
          <p:cNvSpPr>
            <a:spLocks noGrp="1" noChangeArrowheads="1"/>
          </p:cNvSpPr>
          <p:nvPr>
            <p:ph type="body" sz="half" idx="1"/>
          </p:nvPr>
        </p:nvSpPr>
        <p:spPr>
          <a:xfrm>
            <a:off x="395288" y="1268413"/>
            <a:ext cx="4038600" cy="479425"/>
          </a:xfrm>
          <a:ln cap="flat"/>
        </p:spPr>
        <p:txBody>
          <a:bodyPr/>
          <a:lstStyle/>
          <a:p>
            <a:pPr eaLnBrk="1" hangingPunct="1">
              <a:buFont typeface="Wingdings" pitchFamily="2" charset="2"/>
              <a:buNone/>
            </a:pPr>
            <a:r>
              <a:rPr lang="en-US" altLang="zh-CN" sz="1800" smtClean="0"/>
              <a:t>2. </a:t>
            </a:r>
            <a:r>
              <a:rPr lang="zh-CN" altLang="en-US" sz="1800" smtClean="0"/>
              <a:t>价格指数</a:t>
            </a:r>
          </a:p>
        </p:txBody>
      </p:sp>
      <p:sp>
        <p:nvSpPr>
          <p:cNvPr id="261124" name="Rectangle 4" descr="花束"/>
          <p:cNvSpPr>
            <a:spLocks noChangeArrowheads="1"/>
          </p:cNvSpPr>
          <p:nvPr/>
        </p:nvSpPr>
        <p:spPr bwMode="auto">
          <a:xfrm>
            <a:off x="395288" y="1916113"/>
            <a:ext cx="7993062" cy="1936750"/>
          </a:xfrm>
          <a:prstGeom prst="rect">
            <a:avLst/>
          </a:prstGeom>
          <a:blipFill dpi="0" rotWithShape="0">
            <a:blip r:embed="rId3"/>
            <a:srcRect/>
            <a:tile tx="0" ty="0" sx="100000" sy="100000" flip="none" algn="tl"/>
          </a:blipFill>
          <a:ln w="76200">
            <a:solidFill>
              <a:srgbClr val="336600"/>
            </a:solidFill>
            <a:miter lim="800000"/>
            <a:headEnd/>
            <a:tailEnd/>
          </a:ln>
        </p:spPr>
        <p:txBody>
          <a:bodyPr>
            <a:spAutoFit/>
          </a:bodyPr>
          <a:lstStyle/>
          <a:p>
            <a:pPr>
              <a:lnSpc>
                <a:spcPct val="130000"/>
              </a:lnSpc>
              <a:spcBef>
                <a:spcPct val="20000"/>
              </a:spcBef>
              <a:buClr>
                <a:schemeClr val="hlink"/>
              </a:buClr>
              <a:buSzPct val="95000"/>
              <a:buFont typeface="Wingdings" pitchFamily="2" charset="2"/>
              <a:buChar char="l"/>
            </a:pPr>
            <a:r>
              <a:rPr lang="zh-CN" altLang="en-US">
                <a:solidFill>
                  <a:srgbClr val="101016"/>
                </a:solidFill>
                <a:latin typeface="Arial" charset="0"/>
              </a:rPr>
              <a:t>（</a:t>
            </a:r>
            <a:r>
              <a:rPr lang="en-US" altLang="zh-CN">
                <a:solidFill>
                  <a:srgbClr val="101016"/>
                </a:solidFill>
                <a:latin typeface="Arial" charset="0"/>
              </a:rPr>
              <a:t>1</a:t>
            </a:r>
            <a:r>
              <a:rPr lang="zh-CN" altLang="en-US">
                <a:solidFill>
                  <a:srgbClr val="101016"/>
                </a:solidFill>
                <a:latin typeface="Arial" charset="0"/>
              </a:rPr>
              <a:t>）消费者价格指数；（</a:t>
            </a:r>
            <a:r>
              <a:rPr lang="en-US" altLang="zh-CN">
                <a:solidFill>
                  <a:srgbClr val="101016"/>
                </a:solidFill>
                <a:latin typeface="Arial" charset="0"/>
              </a:rPr>
              <a:t>CPI</a:t>
            </a:r>
            <a:r>
              <a:rPr lang="zh-CN" altLang="en-US">
                <a:solidFill>
                  <a:srgbClr val="101016"/>
                </a:solidFill>
                <a:latin typeface="Arial" charset="0"/>
              </a:rPr>
              <a:t>）</a:t>
            </a:r>
            <a:endParaRPr lang="en-US" altLang="zh-CN">
              <a:solidFill>
                <a:srgbClr val="101016"/>
              </a:solidFill>
              <a:latin typeface="Arial" charset="0"/>
            </a:endParaRPr>
          </a:p>
          <a:p>
            <a:pPr>
              <a:lnSpc>
                <a:spcPct val="130000"/>
              </a:lnSpc>
              <a:spcBef>
                <a:spcPct val="20000"/>
              </a:spcBef>
              <a:buClr>
                <a:schemeClr val="hlink"/>
              </a:buClr>
              <a:buSzPct val="95000"/>
              <a:buFont typeface="Wingdings" pitchFamily="2" charset="2"/>
              <a:buChar char="l"/>
            </a:pPr>
            <a:r>
              <a:rPr lang="zh-CN" altLang="en-US"/>
              <a:t>是衡量各个时期居民个人消费的商品和劳务零售价格变化的指标</a:t>
            </a:r>
            <a:endParaRPr lang="en-US" altLang="zh-CN">
              <a:solidFill>
                <a:srgbClr val="101016"/>
              </a:solidFill>
              <a:latin typeface="Arial" charset="0"/>
            </a:endParaRPr>
          </a:p>
          <a:p>
            <a:pPr>
              <a:lnSpc>
                <a:spcPct val="130000"/>
              </a:lnSpc>
              <a:spcBef>
                <a:spcPct val="20000"/>
              </a:spcBef>
              <a:buClr>
                <a:schemeClr val="hlink"/>
              </a:buClr>
              <a:buSzPct val="95000"/>
              <a:buFont typeface="Wingdings" pitchFamily="2" charset="2"/>
              <a:buNone/>
            </a:pPr>
            <a:endParaRPr lang="en-US" altLang="zh-CN">
              <a:solidFill>
                <a:srgbClr val="101016"/>
              </a:solidFill>
              <a:latin typeface="Arial" charset="0"/>
            </a:endParaRPr>
          </a:p>
          <a:p>
            <a:pPr>
              <a:lnSpc>
                <a:spcPct val="130000"/>
              </a:lnSpc>
              <a:spcBef>
                <a:spcPct val="20000"/>
              </a:spcBef>
              <a:buClr>
                <a:schemeClr val="hlink"/>
              </a:buClr>
              <a:buSzPct val="95000"/>
              <a:buFont typeface="Wingdings" pitchFamily="2" charset="2"/>
              <a:buNone/>
            </a:pPr>
            <a:endParaRPr lang="zh-CN" altLang="en-US">
              <a:solidFill>
                <a:srgbClr val="101016"/>
              </a:solidFill>
              <a:latin typeface="Arial" charset="0"/>
            </a:endParaRPr>
          </a:p>
        </p:txBody>
      </p:sp>
      <p:sp>
        <p:nvSpPr>
          <p:cNvPr id="261128" name="Rectangle 8" descr="花束"/>
          <p:cNvSpPr>
            <a:spLocks noChangeArrowheads="1"/>
          </p:cNvSpPr>
          <p:nvPr/>
        </p:nvSpPr>
        <p:spPr bwMode="auto">
          <a:xfrm>
            <a:off x="395288" y="4076700"/>
            <a:ext cx="7993062" cy="1936750"/>
          </a:xfrm>
          <a:prstGeom prst="rect">
            <a:avLst/>
          </a:prstGeom>
          <a:blipFill dpi="0" rotWithShape="0">
            <a:blip r:embed="rId3"/>
            <a:srcRect/>
            <a:tile tx="0" ty="0" sx="100000" sy="100000" flip="none" algn="tl"/>
          </a:blipFill>
          <a:ln w="76200">
            <a:solidFill>
              <a:srgbClr val="336600"/>
            </a:solidFill>
            <a:miter lim="800000"/>
            <a:headEnd/>
            <a:tailEnd/>
          </a:ln>
        </p:spPr>
        <p:txBody>
          <a:bodyPr>
            <a:spAutoFit/>
          </a:bodyPr>
          <a:lstStyle/>
          <a:p>
            <a:pPr>
              <a:lnSpc>
                <a:spcPct val="130000"/>
              </a:lnSpc>
              <a:spcBef>
                <a:spcPct val="20000"/>
              </a:spcBef>
              <a:buClr>
                <a:schemeClr val="hlink"/>
              </a:buClr>
              <a:buSzPct val="95000"/>
              <a:buFont typeface="Wingdings" pitchFamily="2" charset="2"/>
              <a:buChar char="l"/>
            </a:pPr>
            <a:r>
              <a:rPr lang="zh-CN" altLang="en-US">
                <a:solidFill>
                  <a:srgbClr val="101016"/>
                </a:solidFill>
                <a:latin typeface="Arial" charset="0"/>
              </a:rPr>
              <a:t>通货膨胀率的计算公式；</a:t>
            </a:r>
            <a:endParaRPr lang="en-US" altLang="zh-CN">
              <a:solidFill>
                <a:srgbClr val="101016"/>
              </a:solidFill>
              <a:latin typeface="Arial" charset="0"/>
            </a:endParaRPr>
          </a:p>
          <a:p>
            <a:pPr>
              <a:lnSpc>
                <a:spcPct val="130000"/>
              </a:lnSpc>
              <a:spcBef>
                <a:spcPct val="20000"/>
              </a:spcBef>
              <a:buClr>
                <a:schemeClr val="hlink"/>
              </a:buClr>
              <a:buSzPct val="95000"/>
              <a:buFont typeface="Wingdings" pitchFamily="2" charset="2"/>
              <a:buChar char="l"/>
            </a:pPr>
            <a:endParaRPr lang="en-US" altLang="zh-CN">
              <a:solidFill>
                <a:srgbClr val="101016"/>
              </a:solidFill>
              <a:latin typeface="Arial" charset="0"/>
            </a:endParaRPr>
          </a:p>
          <a:p>
            <a:pPr>
              <a:lnSpc>
                <a:spcPct val="130000"/>
              </a:lnSpc>
              <a:spcBef>
                <a:spcPct val="20000"/>
              </a:spcBef>
              <a:buClr>
                <a:schemeClr val="hlink"/>
              </a:buClr>
              <a:buSzPct val="95000"/>
              <a:buFont typeface="Wingdings" pitchFamily="2" charset="2"/>
              <a:buNone/>
            </a:pPr>
            <a:endParaRPr lang="en-US" altLang="zh-CN">
              <a:solidFill>
                <a:srgbClr val="101016"/>
              </a:solidFill>
              <a:latin typeface="Arial" charset="0"/>
            </a:endParaRPr>
          </a:p>
          <a:p>
            <a:pPr>
              <a:lnSpc>
                <a:spcPct val="130000"/>
              </a:lnSpc>
              <a:spcBef>
                <a:spcPct val="20000"/>
              </a:spcBef>
              <a:buClr>
                <a:schemeClr val="hlink"/>
              </a:buClr>
              <a:buSzPct val="95000"/>
              <a:buFont typeface="Wingdings" pitchFamily="2" charset="2"/>
              <a:buNone/>
            </a:pPr>
            <a:endParaRPr lang="zh-CN" altLang="en-US">
              <a:solidFill>
                <a:srgbClr val="101016"/>
              </a:solidFill>
              <a:latin typeface="Arial" charset="0"/>
            </a:endParaRPr>
          </a:p>
        </p:txBody>
      </p:sp>
      <p:graphicFrame>
        <p:nvGraphicFramePr>
          <p:cNvPr id="261135" name="Object 15"/>
          <p:cNvGraphicFramePr>
            <a:graphicFrameLocks noGrp="1" noChangeAspect="1"/>
          </p:cNvGraphicFramePr>
          <p:nvPr>
            <p:ph sz="quarter" idx="3"/>
          </p:nvPr>
        </p:nvGraphicFramePr>
        <p:xfrm>
          <a:off x="1476375" y="2924175"/>
          <a:ext cx="5472113" cy="706438"/>
        </p:xfrm>
        <a:graphic>
          <a:graphicData uri="http://schemas.openxmlformats.org/presentationml/2006/ole">
            <mc:AlternateContent xmlns:mc="http://schemas.openxmlformats.org/markup-compatibility/2006">
              <mc:Choice xmlns:v="urn:schemas-microsoft-com:vml" Requires="v">
                <p:oleObj spid="_x0000_s261145" name="公式" r:id="rId4" imgW="3251200" imgH="419100" progId="Equation.3">
                  <p:embed/>
                </p:oleObj>
              </mc:Choice>
              <mc:Fallback>
                <p:oleObj name="公式" r:id="rId4" imgW="3251200" imgH="419100" progId="Equation.3">
                  <p:embed/>
                  <p:pic>
                    <p:nvPicPr>
                      <p:cNvPr id="0" name="Picture 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6375" y="2924175"/>
                        <a:ext cx="5472113" cy="706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8099" dir="2700000" algn="ctr" rotWithShape="0">
                                <a:schemeClr val="bg2">
                                  <a:alpha val="74997"/>
                                </a:schemeClr>
                              </a:outerShdw>
                            </a:effectLst>
                          </a14:hiddenEffects>
                        </a:ext>
                      </a:extLst>
                    </p:spPr>
                  </p:pic>
                </p:oleObj>
              </mc:Fallback>
            </mc:AlternateContent>
          </a:graphicData>
        </a:graphic>
      </p:graphicFrame>
      <p:graphicFrame>
        <p:nvGraphicFramePr>
          <p:cNvPr id="261136" name="Object 16"/>
          <p:cNvGraphicFramePr>
            <a:graphicFrameLocks noChangeAspect="1"/>
          </p:cNvGraphicFramePr>
          <p:nvPr/>
        </p:nvGraphicFramePr>
        <p:xfrm>
          <a:off x="1619250" y="4724400"/>
          <a:ext cx="4287838" cy="757238"/>
        </p:xfrm>
        <a:graphic>
          <a:graphicData uri="http://schemas.openxmlformats.org/presentationml/2006/ole">
            <mc:AlternateContent xmlns:mc="http://schemas.openxmlformats.org/markup-compatibility/2006">
              <mc:Choice xmlns:v="urn:schemas-microsoft-com:vml" Requires="v">
                <p:oleObj spid="_x0000_s261146" name="Equation" r:id="rId6" imgW="2184400" imgH="431800" progId="">
                  <p:embed/>
                </p:oleObj>
              </mc:Choice>
              <mc:Fallback>
                <p:oleObj name="Equation" r:id="rId6" imgW="2184400" imgH="431800" progId="">
                  <p:embed/>
                  <p:pic>
                    <p:nvPicPr>
                      <p:cNvPr id="0" name="Picture 1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19250" y="4724400"/>
                        <a:ext cx="4287838" cy="757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8099" dir="2700000" algn="ctr" rotWithShape="0">
                                <a:schemeClr val="bg2">
                                  <a:alpha val="74997"/>
                                </a:schemeClr>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1123">
                                            <p:bg/>
                                          </p:spTgt>
                                        </p:tgtEl>
                                        <p:attrNameLst>
                                          <p:attrName>style.visibility</p:attrName>
                                        </p:attrNameLst>
                                      </p:cBhvr>
                                      <p:to>
                                        <p:strVal val="visible"/>
                                      </p:to>
                                    </p:set>
                                    <p:animEffect transition="in" filter="blinds(horizontal)">
                                      <p:cBhvr>
                                        <p:cTn id="7" dur="500"/>
                                        <p:tgtEl>
                                          <p:spTgt spid="261123">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61123">
                                            <p:txEl>
                                              <p:pRg st="0" end="0"/>
                                            </p:txEl>
                                          </p:spTgt>
                                        </p:tgtEl>
                                        <p:attrNameLst>
                                          <p:attrName>style.visibility</p:attrName>
                                        </p:attrNameLst>
                                      </p:cBhvr>
                                      <p:to>
                                        <p:strVal val="visible"/>
                                      </p:to>
                                    </p:set>
                                    <p:animEffect transition="in" filter="blinds(horizontal)">
                                      <p:cBhvr>
                                        <p:cTn id="12" dur="500"/>
                                        <p:tgtEl>
                                          <p:spTgt spid="26112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61124"/>
                                        </p:tgtEl>
                                        <p:attrNameLst>
                                          <p:attrName>style.visibility</p:attrName>
                                        </p:attrNameLst>
                                      </p:cBhvr>
                                      <p:to>
                                        <p:strVal val="visible"/>
                                      </p:to>
                                    </p:set>
                                    <p:animEffect transition="in" filter="blinds(horizontal)">
                                      <p:cBhvr>
                                        <p:cTn id="17" dur="500"/>
                                        <p:tgtEl>
                                          <p:spTgt spid="26112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61128"/>
                                        </p:tgtEl>
                                        <p:attrNameLst>
                                          <p:attrName>style.visibility</p:attrName>
                                        </p:attrNameLst>
                                      </p:cBhvr>
                                      <p:to>
                                        <p:strVal val="visible"/>
                                      </p:to>
                                    </p:set>
                                    <p:animEffect transition="in" filter="blinds(horizontal)">
                                      <p:cBhvr>
                                        <p:cTn id="22" dur="500"/>
                                        <p:tgtEl>
                                          <p:spTgt spid="2611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1123" grpId="0" build="p" animBg="1"/>
      <p:bldP spid="261124" grpId="0" animBg="1"/>
      <p:bldP spid="261128"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页脚占位符 3"/>
          <p:cNvSpPr>
            <a:spLocks noGrp="1"/>
          </p:cNvSpPr>
          <p:nvPr>
            <p:ph type="ftr" sz="quarter" idx="10"/>
          </p:nvPr>
        </p:nvSpPr>
        <p:spPr/>
        <p:txBody>
          <a:bodyPr/>
          <a:lstStyle/>
          <a:p>
            <a:pPr>
              <a:defRPr/>
            </a:pPr>
            <a:r>
              <a:rPr lang="en-US" altLang="zh-CN" smtClean="0">
                <a:ea typeface="宋体" charset="-122"/>
              </a:rPr>
              <a:t>    </a:t>
            </a:r>
            <a:endParaRPr lang="zh-CN" altLang="en-US" smtClean="0">
              <a:ea typeface="宋体" charset="-122"/>
            </a:endParaRPr>
          </a:p>
        </p:txBody>
      </p:sp>
      <p:sp>
        <p:nvSpPr>
          <p:cNvPr id="260098" name="Rectangle 2"/>
          <p:cNvSpPr>
            <a:spLocks noGrp="1" noChangeArrowheads="1"/>
          </p:cNvSpPr>
          <p:nvPr>
            <p:ph type="title"/>
          </p:nvPr>
        </p:nvSpPr>
        <p:spPr>
          <a:extLst/>
        </p:spPr>
        <p:txBody>
          <a:bodyPr/>
          <a:lstStyle/>
          <a:p>
            <a:pPr eaLnBrk="1" hangingPunct="1">
              <a:defRPr/>
            </a:pPr>
            <a:r>
              <a:rPr lang="zh-CN" altLang="en-US"/>
              <a:t>第六节</a:t>
            </a:r>
            <a:r>
              <a:rPr lang="en-US" altLang="zh-CN"/>
              <a:t> </a:t>
            </a:r>
            <a:r>
              <a:rPr lang="zh-CN" altLang="en-US"/>
              <a:t>价格水平与</a:t>
            </a:r>
            <a:r>
              <a:rPr lang="en-US" altLang="zh-CN"/>
              <a:t>GDP</a:t>
            </a:r>
          </a:p>
        </p:txBody>
      </p:sp>
      <p:sp>
        <p:nvSpPr>
          <p:cNvPr id="260099" name="Rectangle 3"/>
          <p:cNvSpPr>
            <a:spLocks noGrp="1" noChangeArrowheads="1"/>
          </p:cNvSpPr>
          <p:nvPr>
            <p:ph type="body" idx="1"/>
          </p:nvPr>
        </p:nvSpPr>
        <p:spPr>
          <a:xfrm>
            <a:off x="395288" y="1243013"/>
            <a:ext cx="4681537" cy="514350"/>
          </a:xfrm>
          <a:ln cap="flat"/>
        </p:spPr>
        <p:txBody>
          <a:bodyPr/>
          <a:lstStyle/>
          <a:p>
            <a:pPr eaLnBrk="1" hangingPunct="1">
              <a:buFont typeface="Wingdings" pitchFamily="2" charset="2"/>
              <a:buNone/>
            </a:pPr>
            <a:r>
              <a:rPr lang="zh-CN" altLang="en-US" smtClean="0">
                <a:solidFill>
                  <a:srgbClr val="FF00FF"/>
                </a:solidFill>
              </a:rPr>
              <a:t>（</a:t>
            </a:r>
            <a:r>
              <a:rPr lang="en-US" altLang="zh-CN" smtClean="0">
                <a:solidFill>
                  <a:srgbClr val="FF00FF"/>
                </a:solidFill>
              </a:rPr>
              <a:t>2</a:t>
            </a:r>
            <a:r>
              <a:rPr lang="zh-CN" altLang="en-US" smtClean="0">
                <a:solidFill>
                  <a:srgbClr val="FF00FF"/>
                </a:solidFill>
              </a:rPr>
              <a:t>）生产价格指数（</a:t>
            </a:r>
            <a:r>
              <a:rPr lang="en-US" altLang="zh-CN" smtClean="0">
                <a:solidFill>
                  <a:srgbClr val="FF00FF"/>
                </a:solidFill>
              </a:rPr>
              <a:t>PPI</a:t>
            </a:r>
            <a:r>
              <a:rPr lang="zh-CN" altLang="en-US" smtClean="0">
                <a:solidFill>
                  <a:srgbClr val="FF00FF"/>
                </a:solidFill>
              </a:rPr>
              <a:t>）</a:t>
            </a:r>
            <a:r>
              <a:rPr lang="en-US" altLang="zh-CN" smtClean="0"/>
              <a:t> </a:t>
            </a:r>
          </a:p>
        </p:txBody>
      </p:sp>
      <p:sp>
        <p:nvSpPr>
          <p:cNvPr id="260100" name="Rectangle 4" descr="水滴"/>
          <p:cNvSpPr>
            <a:spLocks noChangeArrowheads="1"/>
          </p:cNvSpPr>
          <p:nvPr/>
        </p:nvSpPr>
        <p:spPr bwMode="auto">
          <a:xfrm>
            <a:off x="395288" y="5300663"/>
            <a:ext cx="8229600" cy="879475"/>
          </a:xfrm>
          <a:prstGeom prst="rect">
            <a:avLst/>
          </a:prstGeom>
          <a:blipFill dpi="0" rotWithShape="0">
            <a:blip r:embed="rId3">
              <a:alphaModFix amt="42000"/>
            </a:blip>
            <a:srcRect/>
            <a:tile tx="0" ty="0" sx="100000" sy="100000" flip="none" algn="tl"/>
          </a:blipFill>
          <a:ln w="57150" cmpd="thickThin">
            <a:solidFill>
              <a:srgbClr val="000099"/>
            </a:solidFill>
            <a:miter lim="800000"/>
            <a:headEnd/>
            <a:tailEnd/>
          </a:ln>
        </p:spPr>
        <p:txBody>
          <a:bodyPr>
            <a:spAutoFit/>
          </a:bodyPr>
          <a:lstStyle/>
          <a:p>
            <a:pPr>
              <a:lnSpc>
                <a:spcPct val="120000"/>
              </a:lnSpc>
              <a:buClr>
                <a:srgbClr val="FF0000"/>
              </a:buClr>
              <a:buSzPct val="95000"/>
              <a:buFont typeface="Wingdings" pitchFamily="2" charset="2"/>
              <a:buChar char="n"/>
            </a:pPr>
            <a:r>
              <a:rPr lang="zh-CN" altLang="en-US">
                <a:solidFill>
                  <a:srgbClr val="000000"/>
                </a:solidFill>
                <a:latin typeface="Arial" charset="0"/>
              </a:rPr>
              <a:t>只有实际</a:t>
            </a:r>
            <a:r>
              <a:rPr lang="en-US" altLang="zh-CN">
                <a:solidFill>
                  <a:srgbClr val="000000"/>
                </a:solidFill>
                <a:latin typeface="Arial" charset="0"/>
              </a:rPr>
              <a:t>GDP</a:t>
            </a:r>
            <a:r>
              <a:rPr lang="zh-CN" altLang="en-US">
                <a:solidFill>
                  <a:srgbClr val="000000"/>
                </a:solidFill>
                <a:latin typeface="Arial" charset="0"/>
              </a:rPr>
              <a:t>才能准确反映一国经济增长情况。</a:t>
            </a:r>
            <a:endParaRPr lang="en-US" altLang="zh-CN">
              <a:solidFill>
                <a:srgbClr val="000000"/>
              </a:solidFill>
              <a:latin typeface="Arial" charset="0"/>
            </a:endParaRPr>
          </a:p>
          <a:p>
            <a:pPr>
              <a:lnSpc>
                <a:spcPct val="120000"/>
              </a:lnSpc>
              <a:buClr>
                <a:srgbClr val="FF0000"/>
              </a:buClr>
              <a:buSzPct val="95000"/>
              <a:buFont typeface="Wingdings" pitchFamily="2" charset="2"/>
              <a:buChar char="n"/>
            </a:pPr>
            <a:r>
              <a:rPr lang="zh-CN" altLang="en-US">
                <a:solidFill>
                  <a:srgbClr val="000000"/>
                </a:solidFill>
                <a:latin typeface="Arial" charset="0"/>
              </a:rPr>
              <a:t>名义</a:t>
            </a:r>
            <a:r>
              <a:rPr lang="en-US" altLang="zh-CN">
                <a:solidFill>
                  <a:srgbClr val="000000"/>
                </a:solidFill>
                <a:latin typeface="Arial" charset="0"/>
              </a:rPr>
              <a:t>GDP</a:t>
            </a:r>
            <a:r>
              <a:rPr lang="zh-CN" altLang="en-US">
                <a:solidFill>
                  <a:srgbClr val="000000"/>
                </a:solidFill>
                <a:latin typeface="Arial" charset="0"/>
              </a:rPr>
              <a:t>有时会造成一些假象，即名义增加，而实际减少。</a:t>
            </a:r>
          </a:p>
        </p:txBody>
      </p:sp>
      <p:graphicFrame>
        <p:nvGraphicFramePr>
          <p:cNvPr id="260101" name="Object 10" descr="花束"/>
          <p:cNvGraphicFramePr>
            <a:graphicFrameLocks noChangeAspect="1"/>
          </p:cNvGraphicFramePr>
          <p:nvPr/>
        </p:nvGraphicFramePr>
        <p:xfrm>
          <a:off x="4787900" y="3717925"/>
          <a:ext cx="3851275" cy="790575"/>
        </p:xfrm>
        <a:graphic>
          <a:graphicData uri="http://schemas.openxmlformats.org/presentationml/2006/ole">
            <mc:AlternateContent xmlns:mc="http://schemas.openxmlformats.org/markup-compatibility/2006">
              <mc:Choice xmlns:v="urn:schemas-microsoft-com:vml" Requires="v">
                <p:oleObj spid="_x0000_s260111" name="公式" r:id="rId4" imgW="1905000" imgH="419100" progId="Equation.3">
                  <p:embed/>
                </p:oleObj>
              </mc:Choice>
              <mc:Fallback>
                <p:oleObj name="公式" r:id="rId4" imgW="1905000" imgH="419100" progId="Equation.3">
                  <p:embed/>
                  <p:pic>
                    <p:nvPicPr>
                      <p:cNvPr id="0" name="Picture 10" descr="花束"/>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87900" y="3717925"/>
                        <a:ext cx="3851275" cy="790575"/>
                      </a:xfrm>
                      <a:prstGeom prst="rect">
                        <a:avLst/>
                      </a:prstGeom>
                      <a:blipFill dpi="0" rotWithShape="0">
                        <a:blip r:embed="rId6"/>
                        <a:srcRect/>
                        <a:tile tx="0" ty="0" sx="100000" sy="100000" flip="none" algn="tl"/>
                      </a:blipFill>
                      <a:ln w="76200">
                        <a:solidFill>
                          <a:srgbClr val="336600"/>
                        </a:solidFill>
                        <a:miter lim="800000"/>
                        <a:headEnd/>
                        <a:tailEnd/>
                      </a:ln>
                      <a:effectLst/>
                      <a:extLst>
                        <a:ext uri="{AF507438-7753-43E0-B8FC-AC1667EBCBE1}">
                          <a14:hiddenEffects xmlns:a14="http://schemas.microsoft.com/office/drawing/2010/main">
                            <a:effectLst>
                              <a:outerShdw dist="38099" dir="2700000" algn="ctr" rotWithShape="0">
                                <a:schemeClr val="bg2">
                                  <a:alpha val="74997"/>
                                </a:schemeClr>
                              </a:outerShdw>
                            </a:effectLst>
                          </a14:hiddenEffects>
                        </a:ext>
                      </a:extLst>
                    </p:spPr>
                  </p:pic>
                </p:oleObj>
              </mc:Fallback>
            </mc:AlternateContent>
          </a:graphicData>
        </a:graphic>
      </p:graphicFrame>
      <p:sp>
        <p:nvSpPr>
          <p:cNvPr id="260102" name="Rectangle 6" descr="花束"/>
          <p:cNvSpPr>
            <a:spLocks noChangeArrowheads="1"/>
          </p:cNvSpPr>
          <p:nvPr/>
        </p:nvSpPr>
        <p:spPr bwMode="auto">
          <a:xfrm>
            <a:off x="395288" y="3500438"/>
            <a:ext cx="4176712" cy="1628775"/>
          </a:xfrm>
          <a:prstGeom prst="rect">
            <a:avLst/>
          </a:prstGeom>
          <a:blipFill dpi="0" rotWithShape="0">
            <a:blip r:embed="rId6"/>
            <a:srcRect/>
            <a:tile tx="0" ty="0" sx="100000" sy="100000" flip="none" algn="tl"/>
          </a:blipFill>
          <a:ln w="76200">
            <a:solidFill>
              <a:srgbClr val="336600"/>
            </a:solidFill>
            <a:miter lim="800000"/>
            <a:headEnd/>
            <a:tailEnd/>
          </a:ln>
        </p:spPr>
        <p:txBody>
          <a:bodyPr>
            <a:spAutoFit/>
          </a:bodyPr>
          <a:lstStyle/>
          <a:p>
            <a:pPr>
              <a:lnSpc>
                <a:spcPct val="120000"/>
              </a:lnSpc>
              <a:buClr>
                <a:srgbClr val="660033"/>
              </a:buClr>
              <a:buSzPct val="95000"/>
              <a:buFont typeface="Wingdings" pitchFamily="2" charset="2"/>
              <a:buChar char="n"/>
            </a:pPr>
            <a:r>
              <a:rPr lang="en-US" altLang="zh-CN">
                <a:solidFill>
                  <a:srgbClr val="101016"/>
                </a:solidFill>
                <a:latin typeface="Arial" charset="0"/>
              </a:rPr>
              <a:t>GDP</a:t>
            </a:r>
            <a:r>
              <a:rPr lang="zh-CN" altLang="en-US">
                <a:solidFill>
                  <a:srgbClr val="101016"/>
                </a:solidFill>
                <a:latin typeface="Arial" charset="0"/>
              </a:rPr>
              <a:t>折算数（平减指数）</a:t>
            </a:r>
            <a:r>
              <a:rPr lang="en-US" altLang="zh-CN">
                <a:solidFill>
                  <a:srgbClr val="101016"/>
                </a:solidFill>
                <a:latin typeface="Arial" charset="0"/>
              </a:rPr>
              <a:t>IPD </a:t>
            </a:r>
            <a:r>
              <a:rPr lang="zh-CN" altLang="en-US">
                <a:solidFill>
                  <a:srgbClr val="101016"/>
                </a:solidFill>
                <a:latin typeface="Arial" charset="0"/>
              </a:rPr>
              <a:t>：</a:t>
            </a:r>
            <a:r>
              <a:rPr lang="en-US" altLang="zh-CN">
                <a:solidFill>
                  <a:srgbClr val="101016"/>
                </a:solidFill>
                <a:latin typeface="Arial" charset="0"/>
              </a:rPr>
              <a:t> Implicit Price Deflator</a:t>
            </a:r>
          </a:p>
          <a:p>
            <a:pPr>
              <a:lnSpc>
                <a:spcPct val="120000"/>
              </a:lnSpc>
              <a:buClr>
                <a:srgbClr val="660033"/>
              </a:buClr>
              <a:buSzPct val="95000"/>
              <a:buFont typeface="Wingdings" pitchFamily="2" charset="2"/>
              <a:buChar char="n"/>
            </a:pPr>
            <a:r>
              <a:rPr lang="zh-CN" altLang="en-US">
                <a:solidFill>
                  <a:srgbClr val="101016"/>
                </a:solidFill>
                <a:latin typeface="Arial" charset="0"/>
              </a:rPr>
              <a:t>名义</a:t>
            </a:r>
            <a:r>
              <a:rPr lang="en-US" altLang="zh-CN">
                <a:solidFill>
                  <a:srgbClr val="101016"/>
                </a:solidFill>
                <a:latin typeface="Arial" charset="0"/>
              </a:rPr>
              <a:t>GDP</a:t>
            </a:r>
            <a:r>
              <a:rPr lang="zh-CN" altLang="en-US">
                <a:solidFill>
                  <a:srgbClr val="101016"/>
                </a:solidFill>
                <a:latin typeface="Arial" charset="0"/>
              </a:rPr>
              <a:t>和实际</a:t>
            </a:r>
            <a:r>
              <a:rPr lang="en-US" altLang="zh-CN">
                <a:solidFill>
                  <a:srgbClr val="101016"/>
                </a:solidFill>
                <a:latin typeface="Arial" charset="0"/>
              </a:rPr>
              <a:t>GDP</a:t>
            </a:r>
            <a:r>
              <a:rPr lang="zh-CN" altLang="en-US">
                <a:solidFill>
                  <a:srgbClr val="101016"/>
                </a:solidFill>
                <a:latin typeface="Arial" charset="0"/>
              </a:rPr>
              <a:t>的比率。反映通胀的物价指数。</a:t>
            </a:r>
          </a:p>
        </p:txBody>
      </p:sp>
      <p:sp>
        <p:nvSpPr>
          <p:cNvPr id="260103" name="Line 7"/>
          <p:cNvSpPr>
            <a:spLocks noChangeShapeType="1"/>
          </p:cNvSpPr>
          <p:nvPr/>
        </p:nvSpPr>
        <p:spPr bwMode="auto">
          <a:xfrm>
            <a:off x="395288" y="6453188"/>
            <a:ext cx="2232025" cy="0"/>
          </a:xfrm>
          <a:prstGeom prst="line">
            <a:avLst/>
          </a:prstGeom>
          <a:noFill/>
          <a:ln w="76200" cmpd="tri">
            <a:solidFill>
              <a:srgbClr val="660066"/>
            </a:solidFill>
            <a:miter lim="800000"/>
            <a:headEnd/>
            <a:tailEnd/>
          </a:ln>
        </p:spPr>
        <p:txBody>
          <a:bodyPr wrap="none"/>
          <a:lstStyle/>
          <a:p>
            <a:endParaRPr lang="zh-CN" altLang="en-US"/>
          </a:p>
        </p:txBody>
      </p:sp>
      <p:sp>
        <p:nvSpPr>
          <p:cNvPr id="260104" name="Rectangle 8" descr="花束"/>
          <p:cNvSpPr>
            <a:spLocks noChangeArrowheads="1"/>
          </p:cNvSpPr>
          <p:nvPr/>
        </p:nvSpPr>
        <p:spPr bwMode="auto">
          <a:xfrm>
            <a:off x="395288" y="1844675"/>
            <a:ext cx="8424862" cy="533400"/>
          </a:xfrm>
          <a:prstGeom prst="rect">
            <a:avLst/>
          </a:prstGeom>
          <a:blipFill dpi="0" rotWithShape="0">
            <a:blip r:embed="rId6"/>
            <a:srcRect/>
            <a:tile tx="0" ty="0" sx="100000" sy="100000" flip="none" algn="tl"/>
          </a:blipFill>
          <a:ln w="76200">
            <a:solidFill>
              <a:srgbClr val="336600"/>
            </a:solidFill>
            <a:miter lim="800000"/>
            <a:headEnd/>
            <a:tailEnd/>
          </a:ln>
        </p:spPr>
        <p:txBody>
          <a:bodyPr>
            <a:spAutoFit/>
          </a:bodyPr>
          <a:lstStyle/>
          <a:p>
            <a:pPr>
              <a:lnSpc>
                <a:spcPct val="120000"/>
              </a:lnSpc>
              <a:buClr>
                <a:srgbClr val="660033"/>
              </a:buClr>
              <a:buSzPct val="95000"/>
              <a:buFont typeface="Wingdings" pitchFamily="2" charset="2"/>
              <a:buChar char="n"/>
            </a:pPr>
            <a:r>
              <a:rPr lang="zh-CN" altLang="en-US"/>
              <a:t>是衡量各个时期生产资料和消费资料</a:t>
            </a:r>
            <a:r>
              <a:rPr lang="zh-CN" altLang="en-US">
                <a:solidFill>
                  <a:srgbClr val="FF00FF"/>
                </a:solidFill>
              </a:rPr>
              <a:t>批发价格</a:t>
            </a:r>
            <a:r>
              <a:rPr lang="zh-CN" altLang="en-US"/>
              <a:t>变化的指标。</a:t>
            </a:r>
          </a:p>
        </p:txBody>
      </p:sp>
      <p:sp>
        <p:nvSpPr>
          <p:cNvPr id="260105" name="Rectangle 9"/>
          <p:cNvSpPr>
            <a:spLocks noChangeArrowheads="1"/>
          </p:cNvSpPr>
          <p:nvPr/>
        </p:nvSpPr>
        <p:spPr bwMode="auto">
          <a:xfrm>
            <a:off x="395288" y="2924175"/>
            <a:ext cx="4681537" cy="514350"/>
          </a:xfrm>
          <a:prstGeom prst="rect">
            <a:avLst/>
          </a:prstGeom>
          <a:solidFill>
            <a:schemeClr val="tx2">
              <a:alpha val="72940"/>
            </a:schemeClr>
          </a:solidFill>
          <a:ln w="57150" cmpd="thinThick">
            <a:solidFill>
              <a:srgbClr val="996633"/>
            </a:solidFill>
            <a:miter lim="800000"/>
            <a:headEnd/>
            <a:tailEnd/>
          </a:ln>
        </p:spPr>
        <p:txBody>
          <a:bodyPr>
            <a:spAutoFit/>
          </a:bodyPr>
          <a:lstStyle/>
          <a:p>
            <a:pPr marL="95250" indent="-95250">
              <a:lnSpc>
                <a:spcPct val="120000"/>
              </a:lnSpc>
              <a:spcBef>
                <a:spcPct val="20000"/>
              </a:spcBef>
              <a:buClr>
                <a:schemeClr val="hlink"/>
              </a:buClr>
              <a:buFont typeface="Wingdings" pitchFamily="2" charset="2"/>
              <a:buNone/>
            </a:pPr>
            <a:r>
              <a:rPr lang="zh-CN" altLang="en-US">
                <a:solidFill>
                  <a:srgbClr val="FF00FF"/>
                </a:solidFill>
                <a:latin typeface="Arial" charset="0"/>
              </a:rPr>
              <a:t>（</a:t>
            </a:r>
            <a:r>
              <a:rPr lang="en-US" altLang="zh-CN">
                <a:solidFill>
                  <a:srgbClr val="FF00FF"/>
                </a:solidFill>
                <a:latin typeface="Arial" charset="0"/>
              </a:rPr>
              <a:t>3</a:t>
            </a:r>
            <a:r>
              <a:rPr lang="zh-CN" altLang="en-US">
                <a:solidFill>
                  <a:srgbClr val="FF00FF"/>
                </a:solidFill>
                <a:latin typeface="Arial" charset="0"/>
              </a:rPr>
              <a:t>）</a:t>
            </a:r>
            <a:r>
              <a:rPr lang="en-US" altLang="zh-CN">
                <a:solidFill>
                  <a:srgbClr val="FF00FF"/>
                </a:solidFill>
                <a:latin typeface="Arial" charset="0"/>
              </a:rPr>
              <a:t> GDP</a:t>
            </a:r>
            <a:r>
              <a:rPr lang="zh-CN" altLang="en-US">
                <a:solidFill>
                  <a:srgbClr val="FF00FF"/>
                </a:solidFill>
                <a:latin typeface="Arial" charset="0"/>
              </a:rPr>
              <a:t>折算数（平减指数）</a:t>
            </a:r>
            <a:r>
              <a:rPr lang="en-US" altLang="zh-CN">
                <a:solidFill>
                  <a:srgbClr val="FF00FF"/>
                </a:solidFill>
                <a:latin typeface="Arial" charset="0"/>
              </a:rPr>
              <a:t>IPD</a:t>
            </a:r>
            <a:r>
              <a:rPr lang="en-US" altLang="zh-CN">
                <a:solidFill>
                  <a:srgbClr val="101016"/>
                </a:solidFill>
                <a:latin typeface="Arial" charset="0"/>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0099">
                                            <p:bg/>
                                          </p:spTgt>
                                        </p:tgtEl>
                                        <p:attrNameLst>
                                          <p:attrName>style.visibility</p:attrName>
                                        </p:attrNameLst>
                                      </p:cBhvr>
                                      <p:to>
                                        <p:strVal val="visible"/>
                                      </p:to>
                                    </p:set>
                                    <p:animEffect transition="in" filter="blinds(horizontal)">
                                      <p:cBhvr>
                                        <p:cTn id="7" dur="500"/>
                                        <p:tgtEl>
                                          <p:spTgt spid="260099">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60099">
                                            <p:txEl>
                                              <p:pRg st="0" end="0"/>
                                            </p:txEl>
                                          </p:spTgt>
                                        </p:tgtEl>
                                        <p:attrNameLst>
                                          <p:attrName>style.visibility</p:attrName>
                                        </p:attrNameLst>
                                      </p:cBhvr>
                                      <p:to>
                                        <p:strVal val="visible"/>
                                      </p:to>
                                    </p:set>
                                    <p:animEffect transition="in" filter="blinds(horizontal)">
                                      <p:cBhvr>
                                        <p:cTn id="12" dur="500"/>
                                        <p:tgtEl>
                                          <p:spTgt spid="260099">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60102"/>
                                        </p:tgtEl>
                                        <p:attrNameLst>
                                          <p:attrName>style.visibility</p:attrName>
                                        </p:attrNameLst>
                                      </p:cBhvr>
                                      <p:to>
                                        <p:strVal val="visible"/>
                                      </p:to>
                                    </p:set>
                                    <p:animEffect transition="in" filter="blinds(horizontal)">
                                      <p:cBhvr>
                                        <p:cTn id="17" dur="500"/>
                                        <p:tgtEl>
                                          <p:spTgt spid="26010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60101"/>
                                        </p:tgtEl>
                                        <p:attrNameLst>
                                          <p:attrName>style.visibility</p:attrName>
                                        </p:attrNameLst>
                                      </p:cBhvr>
                                      <p:to>
                                        <p:strVal val="visible"/>
                                      </p:to>
                                    </p:set>
                                    <p:animEffect transition="in" filter="blinds(horizontal)">
                                      <p:cBhvr>
                                        <p:cTn id="22" dur="500"/>
                                        <p:tgtEl>
                                          <p:spTgt spid="26010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60100"/>
                                        </p:tgtEl>
                                        <p:attrNameLst>
                                          <p:attrName>style.visibility</p:attrName>
                                        </p:attrNameLst>
                                      </p:cBhvr>
                                      <p:to>
                                        <p:strVal val="visible"/>
                                      </p:to>
                                    </p:set>
                                    <p:animEffect transition="in" filter="blinds(horizontal)">
                                      <p:cBhvr>
                                        <p:cTn id="27" dur="500"/>
                                        <p:tgtEl>
                                          <p:spTgt spid="26010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60103"/>
                                        </p:tgtEl>
                                        <p:attrNameLst>
                                          <p:attrName>style.visibility</p:attrName>
                                        </p:attrNameLst>
                                      </p:cBhvr>
                                      <p:to>
                                        <p:strVal val="visible"/>
                                      </p:to>
                                    </p:set>
                                    <p:animEffect transition="in" filter="dissolve">
                                      <p:cBhvr>
                                        <p:cTn id="32" dur="500"/>
                                        <p:tgtEl>
                                          <p:spTgt spid="26010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60104"/>
                                        </p:tgtEl>
                                        <p:attrNameLst>
                                          <p:attrName>style.visibility</p:attrName>
                                        </p:attrNameLst>
                                      </p:cBhvr>
                                      <p:to>
                                        <p:strVal val="visible"/>
                                      </p:to>
                                    </p:set>
                                    <p:animEffect transition="in" filter="blinds(horizontal)">
                                      <p:cBhvr>
                                        <p:cTn id="37" dur="500"/>
                                        <p:tgtEl>
                                          <p:spTgt spid="26010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60105">
                                            <p:bg/>
                                          </p:spTgt>
                                        </p:tgtEl>
                                        <p:attrNameLst>
                                          <p:attrName>style.visibility</p:attrName>
                                        </p:attrNameLst>
                                      </p:cBhvr>
                                      <p:to>
                                        <p:strVal val="visible"/>
                                      </p:to>
                                    </p:set>
                                    <p:animEffect transition="in" filter="blinds(horizontal)">
                                      <p:cBhvr>
                                        <p:cTn id="42" dur="500"/>
                                        <p:tgtEl>
                                          <p:spTgt spid="260105">
                                            <p:bg/>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60105">
                                            <p:txEl>
                                              <p:pRg st="0" end="0"/>
                                            </p:txEl>
                                          </p:spTgt>
                                        </p:tgtEl>
                                        <p:attrNameLst>
                                          <p:attrName>style.visibility</p:attrName>
                                        </p:attrNameLst>
                                      </p:cBhvr>
                                      <p:to>
                                        <p:strVal val="visible"/>
                                      </p:to>
                                    </p:set>
                                    <p:animEffect transition="in" filter="blinds(horizontal)">
                                      <p:cBhvr>
                                        <p:cTn id="47" dur="500"/>
                                        <p:tgtEl>
                                          <p:spTgt spid="26010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0099" grpId="0" build="p" animBg="1"/>
      <p:bldP spid="260100" grpId="0" animBg="1"/>
      <p:bldP spid="260102" grpId="0" animBg="1"/>
      <p:bldP spid="260103" grpId="0" animBg="1"/>
      <p:bldP spid="260104" grpId="0" animBg="1"/>
      <p:bldP spid="260105" grpId="0" build="p" animBg="1"/>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igital Dots">
  <a:themeElements>
    <a:clrScheme name="Digital Dots 2">
      <a:dk1>
        <a:srgbClr val="5B5B89"/>
      </a:dk1>
      <a:lt1>
        <a:srgbClr val="FFFFFF"/>
      </a:lt1>
      <a:dk2>
        <a:srgbClr val="666699"/>
      </a:dk2>
      <a:lt2>
        <a:srgbClr val="DFDEF6"/>
      </a:lt2>
      <a:accent1>
        <a:srgbClr val="6666FF"/>
      </a:accent1>
      <a:accent2>
        <a:srgbClr val="52527C"/>
      </a:accent2>
      <a:accent3>
        <a:srgbClr val="B8B8CA"/>
      </a:accent3>
      <a:accent4>
        <a:srgbClr val="DADADA"/>
      </a:accent4>
      <a:accent5>
        <a:srgbClr val="B8B8FF"/>
      </a:accent5>
      <a:accent6>
        <a:srgbClr val="494970"/>
      </a:accent6>
      <a:hlink>
        <a:srgbClr val="9999FF"/>
      </a:hlink>
      <a:folHlink>
        <a:srgbClr val="CCCCFF"/>
      </a:folHlink>
    </a:clrScheme>
    <a:fontScheme name="Digital Dots">
      <a:majorFont>
        <a:latin typeface="Arial"/>
        <a:ea typeface="宋体"/>
        <a:cs typeface="宋体"/>
      </a:majorFont>
      <a:minorFont>
        <a:latin typeface="Arial"/>
        <a:ea typeface="宋体"/>
        <a:cs typeface="宋体"/>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57150" cap="flat" cmpd="thinThick" algn="ctr">
          <a:solidFill>
            <a:srgbClr val="D04E48"/>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95250" marR="0" indent="-95250" algn="l" defTabSz="914400" rtl="0" eaLnBrk="1" fontAlgn="base" latinLnBrk="0" hangingPunct="1">
          <a:lnSpc>
            <a:spcPct val="130000"/>
          </a:lnSpc>
          <a:spcBef>
            <a:spcPct val="20000"/>
          </a:spcBef>
          <a:spcAft>
            <a:spcPct val="0"/>
          </a:spcAft>
          <a:buClr>
            <a:schemeClr val="hlink"/>
          </a:buClr>
          <a:buSzPct val="95000"/>
          <a:buFont typeface="Wingdings" charset="0"/>
          <a:buChar char="p"/>
          <a:tabLst/>
          <a:defRPr kumimoji="0" lang="zh-CN" altLang="en-US" sz="2000" b="1" i="0" u="none" strike="noStrike" cap="none" normalizeH="0" baseline="0">
            <a:ln>
              <a:noFill/>
            </a:ln>
            <a:solidFill>
              <a:srgbClr val="000004"/>
            </a:solidFill>
            <a:effectLst/>
            <a:latin typeface="宋体" charset="0"/>
            <a:ea typeface="宋体" charset="0"/>
            <a:cs typeface="宋体" charset="0"/>
          </a:defRPr>
        </a:defPPr>
      </a:lstStyle>
    </a:spDef>
    <a:ln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57150" cap="flat" cmpd="thinThick" algn="ctr">
          <a:solidFill>
            <a:srgbClr val="D04E48"/>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95250" marR="0" indent="-95250" algn="l" defTabSz="914400" rtl="0" eaLnBrk="1" fontAlgn="base" latinLnBrk="0" hangingPunct="1">
          <a:lnSpc>
            <a:spcPct val="130000"/>
          </a:lnSpc>
          <a:spcBef>
            <a:spcPct val="20000"/>
          </a:spcBef>
          <a:spcAft>
            <a:spcPct val="0"/>
          </a:spcAft>
          <a:buClr>
            <a:schemeClr val="hlink"/>
          </a:buClr>
          <a:buSzPct val="95000"/>
          <a:buFont typeface="Wingdings" charset="0"/>
          <a:buChar char="p"/>
          <a:tabLst/>
          <a:defRPr kumimoji="0" lang="zh-CN" altLang="en-US" sz="2000" b="1" i="0" u="none" strike="noStrike" cap="none" normalizeH="0" baseline="0">
            <a:ln>
              <a:noFill/>
            </a:ln>
            <a:solidFill>
              <a:srgbClr val="000004"/>
            </a:solidFill>
            <a:effectLst/>
            <a:latin typeface="宋体" charset="0"/>
            <a:ea typeface="宋体" charset="0"/>
            <a:cs typeface="宋体" charset="0"/>
          </a:defRPr>
        </a:defPPr>
      </a:lstStyle>
    </a:lnDef>
  </a:objectDefaults>
  <a:extraClrSchemeLst>
    <a:extraClrScheme>
      <a:clrScheme name="Digital Dots 1">
        <a:dk1>
          <a:srgbClr val="00008A"/>
        </a:dk1>
        <a:lt1>
          <a:srgbClr val="FFFFFF"/>
        </a:lt1>
        <a:dk2>
          <a:srgbClr val="000099"/>
        </a:dk2>
        <a:lt2>
          <a:srgbClr val="FFFFFF"/>
        </a:lt2>
        <a:accent1>
          <a:srgbClr val="0099FF"/>
        </a:accent1>
        <a:accent2>
          <a:srgbClr val="00007A"/>
        </a:accent2>
        <a:accent3>
          <a:srgbClr val="AAAACA"/>
        </a:accent3>
        <a:accent4>
          <a:srgbClr val="DADADA"/>
        </a:accent4>
        <a:accent5>
          <a:srgbClr val="AACAFF"/>
        </a:accent5>
        <a:accent6>
          <a:srgbClr val="00006E"/>
        </a:accent6>
        <a:hlink>
          <a:srgbClr val="EAEAEA"/>
        </a:hlink>
        <a:folHlink>
          <a:srgbClr val="FFCC00"/>
        </a:folHlink>
      </a:clrScheme>
      <a:clrMap bg1="dk2" tx1="lt1" bg2="dk1" tx2="lt2" accent1="accent1" accent2="accent2" accent3="accent3" accent4="accent4" accent5="accent5" accent6="accent6" hlink="hlink" folHlink="folHlink"/>
    </a:extraClrScheme>
    <a:extraClrScheme>
      <a:clrScheme name="Digital Dots 2">
        <a:dk1>
          <a:srgbClr val="5B5B89"/>
        </a:dk1>
        <a:lt1>
          <a:srgbClr val="FFFFFF"/>
        </a:lt1>
        <a:dk2>
          <a:srgbClr val="666699"/>
        </a:dk2>
        <a:lt2>
          <a:srgbClr val="DFDEF6"/>
        </a:lt2>
        <a:accent1>
          <a:srgbClr val="6666FF"/>
        </a:accent1>
        <a:accent2>
          <a:srgbClr val="52527C"/>
        </a:accent2>
        <a:accent3>
          <a:srgbClr val="B8B8CA"/>
        </a:accent3>
        <a:accent4>
          <a:srgbClr val="DADADA"/>
        </a:accent4>
        <a:accent5>
          <a:srgbClr val="B8B8FF"/>
        </a:accent5>
        <a:accent6>
          <a:srgbClr val="494970"/>
        </a:accent6>
        <a:hlink>
          <a:srgbClr val="9999FF"/>
        </a:hlink>
        <a:folHlink>
          <a:srgbClr val="CCCCFF"/>
        </a:folHlink>
      </a:clrScheme>
      <a:clrMap bg1="dk2" tx1="lt1" bg2="dk1" tx2="lt2" accent1="accent1" accent2="accent2" accent3="accent3" accent4="accent4" accent5="accent5" accent6="accent6" hlink="hlink" folHlink="folHlink"/>
    </a:extraClrScheme>
    <a:extraClrScheme>
      <a:clrScheme name="Digital Dots 3">
        <a:dk1>
          <a:srgbClr val="700000"/>
        </a:dk1>
        <a:lt1>
          <a:srgbClr val="FFFFFF"/>
        </a:lt1>
        <a:dk2>
          <a:srgbClr val="800000"/>
        </a:dk2>
        <a:lt2>
          <a:srgbClr val="FFFFCC"/>
        </a:lt2>
        <a:accent1>
          <a:srgbClr val="BE7960"/>
        </a:accent1>
        <a:accent2>
          <a:srgbClr val="600000"/>
        </a:accent2>
        <a:accent3>
          <a:srgbClr val="C0AAAA"/>
        </a:accent3>
        <a:accent4>
          <a:srgbClr val="DADADA"/>
        </a:accent4>
        <a:accent5>
          <a:srgbClr val="DBBEB6"/>
        </a:accent5>
        <a:accent6>
          <a:srgbClr val="560000"/>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igital Dots 4">
        <a:dk1>
          <a:srgbClr val="000000"/>
        </a:dk1>
        <a:lt1>
          <a:srgbClr val="FDEB9D"/>
        </a:lt1>
        <a:dk2>
          <a:srgbClr val="000000"/>
        </a:dk2>
        <a:lt2>
          <a:srgbClr val="E0CE82"/>
        </a:lt2>
        <a:accent1>
          <a:srgbClr val="EAEAEA"/>
        </a:accent1>
        <a:accent2>
          <a:srgbClr val="C2B476"/>
        </a:accent2>
        <a:accent3>
          <a:srgbClr val="FEF3CC"/>
        </a:accent3>
        <a:accent4>
          <a:srgbClr val="000000"/>
        </a:accent4>
        <a:accent5>
          <a:srgbClr val="F3F3F3"/>
        </a:accent5>
        <a:accent6>
          <a:srgbClr val="B0A36A"/>
        </a:accent6>
        <a:hlink>
          <a:srgbClr val="A47900"/>
        </a:hlink>
        <a:folHlink>
          <a:srgbClr val="8C8900"/>
        </a:folHlink>
      </a:clrScheme>
      <a:clrMap bg1="lt1" tx1="dk1" bg2="lt2" tx2="dk2" accent1="accent1" accent2="accent2" accent3="accent3" accent4="accent4" accent5="accent5" accent6="accent6" hlink="hlink" folHlink="folHlink"/>
    </a:extraClrScheme>
    <a:extraClrScheme>
      <a:clrScheme name="Digital Dots 5">
        <a:dk1>
          <a:srgbClr val="5B5E52"/>
        </a:dk1>
        <a:lt1>
          <a:srgbClr val="FFFFFF"/>
        </a:lt1>
        <a:dk2>
          <a:srgbClr val="686B5D"/>
        </a:dk2>
        <a:lt2>
          <a:srgbClr val="CCD5C7"/>
        </a:lt2>
        <a:accent1>
          <a:srgbClr val="809EA8"/>
        </a:accent1>
        <a:accent2>
          <a:srgbClr val="4F5147"/>
        </a:accent2>
        <a:accent3>
          <a:srgbClr val="B9BAB6"/>
        </a:accent3>
        <a:accent4>
          <a:srgbClr val="DADADA"/>
        </a:accent4>
        <a:accent5>
          <a:srgbClr val="C0CCD1"/>
        </a:accent5>
        <a:accent6>
          <a:srgbClr val="47493F"/>
        </a:accent6>
        <a:hlink>
          <a:srgbClr val="AAA854"/>
        </a:hlink>
        <a:folHlink>
          <a:srgbClr val="E1D09F"/>
        </a:folHlink>
      </a:clrScheme>
      <a:clrMap bg1="dk2" tx1="lt1" bg2="dk1" tx2="lt2" accent1="accent1" accent2="accent2" accent3="accent3" accent4="accent4" accent5="accent5" accent6="accent6" hlink="hlink" folHlink="folHlink"/>
    </a:extraClrScheme>
    <a:extraClrScheme>
      <a:clrScheme name="Digital Dots 6">
        <a:dk1>
          <a:srgbClr val="46532B"/>
        </a:dk1>
        <a:lt1>
          <a:srgbClr val="FFFFFF"/>
        </a:lt1>
        <a:dk2>
          <a:srgbClr val="4E5D31"/>
        </a:dk2>
        <a:lt2>
          <a:srgbClr val="FFFFCC"/>
        </a:lt2>
        <a:accent1>
          <a:srgbClr val="8F8C00"/>
        </a:accent1>
        <a:accent2>
          <a:srgbClr val="424F29"/>
        </a:accent2>
        <a:accent3>
          <a:srgbClr val="B2B6AD"/>
        </a:accent3>
        <a:accent4>
          <a:srgbClr val="DADADA"/>
        </a:accent4>
        <a:accent5>
          <a:srgbClr val="C6C5AA"/>
        </a:accent5>
        <a:accent6>
          <a:srgbClr val="3B4724"/>
        </a:accent6>
        <a:hlink>
          <a:srgbClr val="33CC33"/>
        </a:hlink>
        <a:folHlink>
          <a:srgbClr val="00A1B2"/>
        </a:folHlink>
      </a:clrScheme>
      <a:clrMap bg1="dk2" tx1="lt1" bg2="dk1" tx2="lt2" accent1="accent1" accent2="accent2" accent3="accent3" accent4="accent4" accent5="accent5" accent6="accent6" hlink="hlink" folHlink="folHlink"/>
    </a:extraClrScheme>
    <a:extraClrScheme>
      <a:clrScheme name="Digital Dots 7">
        <a:dk1>
          <a:srgbClr val="007673"/>
        </a:dk1>
        <a:lt1>
          <a:srgbClr val="FFFFFF"/>
        </a:lt1>
        <a:dk2>
          <a:srgbClr val="008080"/>
        </a:dk2>
        <a:lt2>
          <a:srgbClr val="FFFF99"/>
        </a:lt2>
        <a:accent1>
          <a:srgbClr val="33CCCC"/>
        </a:accent1>
        <a:accent2>
          <a:srgbClr val="006462"/>
        </a:accent2>
        <a:accent3>
          <a:srgbClr val="AAC0C0"/>
        </a:accent3>
        <a:accent4>
          <a:srgbClr val="DADADA"/>
        </a:accent4>
        <a:accent5>
          <a:srgbClr val="ADE2E2"/>
        </a:accent5>
        <a:accent6>
          <a:srgbClr val="005A58"/>
        </a:accent6>
        <a:hlink>
          <a:srgbClr val="FFCC00"/>
        </a:hlink>
        <a:folHlink>
          <a:srgbClr val="CC3300"/>
        </a:folHlink>
      </a:clrScheme>
      <a:clrMap bg1="dk2" tx1="lt1" bg2="dk1" tx2="lt2" accent1="accent1" accent2="accent2" accent3="accent3" accent4="accent4" accent5="accent5" accent6="accent6" hlink="hlink" folHlink="folHlink"/>
    </a:extraClrScheme>
    <a:extraClrScheme>
      <a:clrScheme name="Digital Dots 8">
        <a:dk1>
          <a:srgbClr val="000000"/>
        </a:dk1>
        <a:lt1>
          <a:srgbClr val="E6F8F4"/>
        </a:lt1>
        <a:dk2>
          <a:srgbClr val="000000"/>
        </a:dk2>
        <a:lt2>
          <a:srgbClr val="C5DBD6"/>
        </a:lt2>
        <a:accent1>
          <a:srgbClr val="CCFF99"/>
        </a:accent1>
        <a:accent2>
          <a:srgbClr val="ACBAB7"/>
        </a:accent2>
        <a:accent3>
          <a:srgbClr val="F0FBF8"/>
        </a:accent3>
        <a:accent4>
          <a:srgbClr val="000000"/>
        </a:accent4>
        <a:accent5>
          <a:srgbClr val="E2FFCA"/>
        </a:accent5>
        <a:accent6>
          <a:srgbClr val="9BA8A6"/>
        </a:accent6>
        <a:hlink>
          <a:srgbClr val="008080"/>
        </a:hlink>
        <a:folHlink>
          <a:srgbClr val="0066CC"/>
        </a:folHlink>
      </a:clrScheme>
      <a:clrMap bg1="lt1" tx1="dk1" bg2="lt2" tx2="dk2" accent1="accent1" accent2="accent2" accent3="accent3" accent4="accent4" accent5="accent5" accent6="accent6" hlink="hlink" folHlink="folHlink"/>
    </a:extraClrScheme>
    <a:extraClrScheme>
      <a:clrScheme name="Digital Dots 9">
        <a:dk1>
          <a:srgbClr val="000000"/>
        </a:dk1>
        <a:lt1>
          <a:srgbClr val="EAEAEA"/>
        </a:lt1>
        <a:dk2>
          <a:srgbClr val="000000"/>
        </a:dk2>
        <a:lt2>
          <a:srgbClr val="D1D1D1"/>
        </a:lt2>
        <a:accent1>
          <a:srgbClr val="CCECFF"/>
        </a:accent1>
        <a:accent2>
          <a:srgbClr val="B2B2B2"/>
        </a:accent2>
        <a:accent3>
          <a:srgbClr val="F3F3F3"/>
        </a:accent3>
        <a:accent4>
          <a:srgbClr val="000000"/>
        </a:accent4>
        <a:accent5>
          <a:srgbClr val="E2F4FF"/>
        </a:accent5>
        <a:accent6>
          <a:srgbClr val="A1A1A1"/>
        </a:accent6>
        <a:hlink>
          <a:srgbClr val="7200E4"/>
        </a:hlink>
        <a:folHlink>
          <a:srgbClr val="003399"/>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Digital Dots</Template>
  <TotalTime>2902</TotalTime>
  <Words>3770</Words>
  <Application>Microsoft Office PowerPoint</Application>
  <PresentationFormat>全屏显示(4:3)</PresentationFormat>
  <Paragraphs>363</Paragraphs>
  <Slides>40</Slides>
  <Notes>0</Notes>
  <HiddenSlides>0</HiddenSlides>
  <MMClips>0</MMClips>
  <ScaleCrop>false</ScaleCrop>
  <HeadingPairs>
    <vt:vector size="6" baseType="variant">
      <vt:variant>
        <vt:lpstr>主题</vt:lpstr>
      </vt:variant>
      <vt:variant>
        <vt:i4>1</vt:i4>
      </vt:variant>
      <vt:variant>
        <vt:lpstr>嵌入 OLE 服务器</vt:lpstr>
      </vt:variant>
      <vt:variant>
        <vt:i4>2</vt:i4>
      </vt:variant>
      <vt:variant>
        <vt:lpstr>幻灯片标题</vt:lpstr>
      </vt:variant>
      <vt:variant>
        <vt:i4>40</vt:i4>
      </vt:variant>
    </vt:vector>
  </HeadingPairs>
  <TitlesOfParts>
    <vt:vector size="43" baseType="lpstr">
      <vt:lpstr>Digital Dots</vt:lpstr>
      <vt:lpstr>公式</vt:lpstr>
      <vt:lpstr>Equation</vt:lpstr>
      <vt:lpstr>第12章      GDP及其核算</vt:lpstr>
      <vt:lpstr>PowerPoint 演示文稿</vt:lpstr>
      <vt:lpstr>第一节  宏观经济循环图</vt:lpstr>
      <vt:lpstr>第一节  宏观经济循环图</vt:lpstr>
      <vt:lpstr>第二节  国内生产总值GDP</vt:lpstr>
      <vt:lpstr>第二节  国内生产总值GDP</vt:lpstr>
      <vt:lpstr>第二节  国内生产总值GDP</vt:lpstr>
      <vt:lpstr>第二节  国内生产总值GDP</vt:lpstr>
      <vt:lpstr>第二节  国内生产总值GDP</vt:lpstr>
      <vt:lpstr>GNP与GDP的比较</vt:lpstr>
      <vt:lpstr>GDP的缺陷</vt:lpstr>
      <vt:lpstr>第三节  国内生产总值的计算方法</vt:lpstr>
      <vt:lpstr>第三节  国内生产总值的计算方法</vt:lpstr>
      <vt:lpstr>【I】投资investment</vt:lpstr>
      <vt:lpstr>净投资</vt:lpstr>
      <vt:lpstr>【G】政府购买</vt:lpstr>
      <vt:lpstr>【X－M】净出口 net exports</vt:lpstr>
      <vt:lpstr>PowerPoint 演示文稿</vt:lpstr>
      <vt:lpstr>（1）生产要素报酬收入（利润除外）</vt:lpstr>
      <vt:lpstr>（3）厂商收入</vt:lpstr>
      <vt:lpstr>两类税收</vt:lpstr>
      <vt:lpstr>第三节  国内生产总值的计算方法</vt:lpstr>
      <vt:lpstr>第四节  国民收入中的其他几个指标</vt:lpstr>
      <vt:lpstr>第四节  国民收入中的其他几个指标</vt:lpstr>
      <vt:lpstr>3.国民收入：NI</vt:lpstr>
      <vt:lpstr>4.个人收入： PI</vt:lpstr>
      <vt:lpstr>5.个人可支配收入： DPI</vt:lpstr>
      <vt:lpstr>6.综合</vt:lpstr>
      <vt:lpstr>从GDP到个人可支配收入</vt:lpstr>
      <vt:lpstr>练习</vt:lpstr>
      <vt:lpstr>2. 潜在产出</vt:lpstr>
      <vt:lpstr>第五节 国民收入核算中的几个重要恒等式</vt:lpstr>
      <vt:lpstr>从GDP的计算得出国民收入公式</vt:lpstr>
      <vt:lpstr>I = S恒等式的解释</vt:lpstr>
      <vt:lpstr>2.三部门的收入构成</vt:lpstr>
      <vt:lpstr>3.四部门的收入构成</vt:lpstr>
      <vt:lpstr>第六节 价格水平与GDP</vt:lpstr>
      <vt:lpstr>第六节 价格水平与GDP</vt:lpstr>
      <vt:lpstr>第六节 价格水平与GDP</vt:lpstr>
      <vt:lpstr>第六节 价格水平与GDP</vt:lpstr>
    </vt:vector>
  </TitlesOfParts>
  <Company>wzu</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第二章  国民经济核算体系</dc:title>
  <cp:lastModifiedBy>lenovo</cp:lastModifiedBy>
  <cp:revision>314</cp:revision>
  <dcterms:created xsi:type="dcterms:W3CDTF">2002-07-29T03:24:18Z</dcterms:created>
  <dcterms:modified xsi:type="dcterms:W3CDTF">2020-09-24T11:12:42Z</dcterms:modified>
</cp:coreProperties>
</file>