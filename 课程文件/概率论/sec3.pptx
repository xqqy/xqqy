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7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7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91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image" Target="../media/image9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81.wmf"/><Relationship Id="rId1" Type="http://schemas.openxmlformats.org/officeDocument/2006/relationships/image" Target="../media/image99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10" Type="http://schemas.openxmlformats.org/officeDocument/2006/relationships/image" Target="../media/image10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emf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2400" y="381000"/>
            <a:ext cx="6838950" cy="3365500"/>
            <a:chOff x="0" y="0"/>
            <a:chExt cx="4308" cy="2120"/>
          </a:xfrm>
        </p:grpSpPr>
        <p:sp>
          <p:nvSpPr>
            <p:cNvPr id="6" name="未知"/>
            <p:cNvSpPr>
              <a:spLocks/>
            </p:cNvSpPr>
            <p:nvPr/>
          </p:nvSpPr>
          <p:spPr bwMode="auto">
            <a:xfrm>
              <a:off x="79" y="94"/>
              <a:ext cx="1267" cy="1938"/>
            </a:xfrm>
            <a:custGeom>
              <a:avLst/>
              <a:gdLst>
                <a:gd name="T0" fmla="*/ 87 w 1692"/>
                <a:gd name="T1" fmla="*/ 193 h 2586"/>
                <a:gd name="T2" fmla="*/ 240 w 1692"/>
                <a:gd name="T3" fmla="*/ 157 h 2586"/>
                <a:gd name="T4" fmla="*/ 325 w 1692"/>
                <a:gd name="T5" fmla="*/ 180 h 2586"/>
                <a:gd name="T6" fmla="*/ 312 w 1692"/>
                <a:gd name="T7" fmla="*/ 333 h 2586"/>
                <a:gd name="T8" fmla="*/ 204 w 1692"/>
                <a:gd name="T9" fmla="*/ 436 h 2586"/>
                <a:gd name="T10" fmla="*/ 163 w 1692"/>
                <a:gd name="T11" fmla="*/ 535 h 2586"/>
                <a:gd name="T12" fmla="*/ 213 w 1692"/>
                <a:gd name="T13" fmla="*/ 722 h 2586"/>
                <a:gd name="T14" fmla="*/ 237 w 1692"/>
                <a:gd name="T15" fmla="*/ 719 h 2586"/>
                <a:gd name="T16" fmla="*/ 246 w 1692"/>
                <a:gd name="T17" fmla="*/ 679 h 2586"/>
                <a:gd name="T18" fmla="*/ 358 w 1692"/>
                <a:gd name="T19" fmla="*/ 865 h 2586"/>
                <a:gd name="T20" fmla="*/ 487 w 1692"/>
                <a:gd name="T21" fmla="*/ 899 h 2586"/>
                <a:gd name="T22" fmla="*/ 595 w 1692"/>
                <a:gd name="T23" fmla="*/ 1012 h 2586"/>
                <a:gd name="T24" fmla="*/ 639 w 1692"/>
                <a:gd name="T25" fmla="*/ 1066 h 2586"/>
                <a:gd name="T26" fmla="*/ 577 w 1692"/>
                <a:gd name="T27" fmla="*/ 1205 h 2586"/>
                <a:gd name="T28" fmla="*/ 686 w 1692"/>
                <a:gd name="T29" fmla="*/ 1335 h 2586"/>
                <a:gd name="T30" fmla="*/ 774 w 1692"/>
                <a:gd name="T31" fmla="*/ 1515 h 2586"/>
                <a:gd name="T32" fmla="*/ 819 w 1692"/>
                <a:gd name="T33" fmla="*/ 1731 h 2586"/>
                <a:gd name="T34" fmla="*/ 894 w 1692"/>
                <a:gd name="T35" fmla="*/ 1904 h 2586"/>
                <a:gd name="T36" fmla="*/ 958 w 1692"/>
                <a:gd name="T37" fmla="*/ 1889 h 2586"/>
                <a:gd name="T38" fmla="*/ 932 w 1692"/>
                <a:gd name="T39" fmla="*/ 1794 h 2586"/>
                <a:gd name="T40" fmla="*/ 964 w 1692"/>
                <a:gd name="T41" fmla="*/ 1728 h 2586"/>
                <a:gd name="T42" fmla="*/ 1024 w 1692"/>
                <a:gd name="T43" fmla="*/ 1670 h 2586"/>
                <a:gd name="T44" fmla="*/ 1084 w 1692"/>
                <a:gd name="T45" fmla="*/ 1556 h 2586"/>
                <a:gd name="T46" fmla="*/ 1174 w 1692"/>
                <a:gd name="T47" fmla="*/ 1461 h 2586"/>
                <a:gd name="T48" fmla="*/ 1215 w 1692"/>
                <a:gd name="T49" fmla="*/ 1308 h 2586"/>
                <a:gd name="T50" fmla="*/ 1162 w 1692"/>
                <a:gd name="T51" fmla="*/ 1153 h 2586"/>
                <a:gd name="T52" fmla="*/ 1030 w 1692"/>
                <a:gd name="T53" fmla="*/ 1057 h 2586"/>
                <a:gd name="T54" fmla="*/ 827 w 1692"/>
                <a:gd name="T55" fmla="*/ 959 h 2586"/>
                <a:gd name="T56" fmla="*/ 729 w 1692"/>
                <a:gd name="T57" fmla="*/ 944 h 2586"/>
                <a:gd name="T58" fmla="*/ 677 w 1692"/>
                <a:gd name="T59" fmla="*/ 950 h 2586"/>
                <a:gd name="T60" fmla="*/ 595 w 1692"/>
                <a:gd name="T61" fmla="*/ 980 h 2586"/>
                <a:gd name="T62" fmla="*/ 568 w 1692"/>
                <a:gd name="T63" fmla="*/ 880 h 2586"/>
                <a:gd name="T64" fmla="*/ 551 w 1692"/>
                <a:gd name="T65" fmla="*/ 796 h 2586"/>
                <a:gd name="T66" fmla="*/ 473 w 1692"/>
                <a:gd name="T67" fmla="*/ 827 h 2586"/>
                <a:gd name="T68" fmla="*/ 425 w 1692"/>
                <a:gd name="T69" fmla="*/ 712 h 2586"/>
                <a:gd name="T70" fmla="*/ 554 w 1692"/>
                <a:gd name="T71" fmla="*/ 683 h 2586"/>
                <a:gd name="T72" fmla="*/ 631 w 1692"/>
                <a:gd name="T73" fmla="*/ 679 h 2586"/>
                <a:gd name="T74" fmla="*/ 671 w 1692"/>
                <a:gd name="T75" fmla="*/ 674 h 2586"/>
                <a:gd name="T76" fmla="*/ 792 w 1692"/>
                <a:gd name="T77" fmla="*/ 562 h 2586"/>
                <a:gd name="T78" fmla="*/ 887 w 1692"/>
                <a:gd name="T79" fmla="*/ 508 h 2586"/>
                <a:gd name="T80" fmla="*/ 957 w 1692"/>
                <a:gd name="T81" fmla="*/ 477 h 2586"/>
                <a:gd name="T82" fmla="*/ 1003 w 1692"/>
                <a:gd name="T83" fmla="*/ 403 h 2586"/>
                <a:gd name="T84" fmla="*/ 964 w 1692"/>
                <a:gd name="T85" fmla="*/ 384 h 2586"/>
                <a:gd name="T86" fmla="*/ 1143 w 1692"/>
                <a:gd name="T87" fmla="*/ 342 h 2586"/>
                <a:gd name="T88" fmla="*/ 1053 w 1692"/>
                <a:gd name="T89" fmla="*/ 256 h 2586"/>
                <a:gd name="T90" fmla="*/ 994 w 1692"/>
                <a:gd name="T91" fmla="*/ 198 h 2586"/>
                <a:gd name="T92" fmla="*/ 915 w 1692"/>
                <a:gd name="T93" fmla="*/ 273 h 2586"/>
                <a:gd name="T94" fmla="*/ 831 w 1692"/>
                <a:gd name="T95" fmla="*/ 333 h 2586"/>
                <a:gd name="T96" fmla="*/ 765 w 1692"/>
                <a:gd name="T97" fmla="*/ 228 h 2586"/>
                <a:gd name="T98" fmla="*/ 908 w 1692"/>
                <a:gd name="T99" fmla="*/ 180 h 2586"/>
                <a:gd name="T100" fmla="*/ 948 w 1692"/>
                <a:gd name="T101" fmla="*/ 148 h 2586"/>
                <a:gd name="T102" fmla="*/ 994 w 1692"/>
                <a:gd name="T103" fmla="*/ 129 h 2586"/>
                <a:gd name="T104" fmla="*/ 963 w 1692"/>
                <a:gd name="T105" fmla="*/ 108 h 2586"/>
                <a:gd name="T106" fmla="*/ 945 w 1692"/>
                <a:gd name="T107" fmla="*/ 90 h 2586"/>
                <a:gd name="T108" fmla="*/ 900 w 1692"/>
                <a:gd name="T109" fmla="*/ 76 h 2586"/>
                <a:gd name="T110" fmla="*/ 828 w 1692"/>
                <a:gd name="T111" fmla="*/ 102 h 2586"/>
                <a:gd name="T112" fmla="*/ 711 w 1692"/>
                <a:gd name="T113" fmla="*/ 90 h 2586"/>
                <a:gd name="T114" fmla="*/ 412 w 1692"/>
                <a:gd name="T115" fmla="*/ 0 h 2586"/>
                <a:gd name="T116" fmla="*/ 258 w 1692"/>
                <a:gd name="T117" fmla="*/ 24 h 2586"/>
                <a:gd name="T118" fmla="*/ 217 w 1692"/>
                <a:gd name="T119" fmla="*/ 76 h 2586"/>
                <a:gd name="T120" fmla="*/ 96 w 1692"/>
                <a:gd name="T121" fmla="*/ 130 h 2586"/>
                <a:gd name="T122" fmla="*/ 96 w 1692"/>
                <a:gd name="T123" fmla="*/ 162 h 2586"/>
                <a:gd name="T124" fmla="*/ 1 w 1692"/>
                <a:gd name="T125" fmla="*/ 189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39" y="279"/>
              <a:ext cx="34" cy="28"/>
            </a:xfrm>
            <a:custGeom>
              <a:avLst/>
              <a:gdLst>
                <a:gd name="T0" fmla="*/ 12 w 46"/>
                <a:gd name="T1" fmla="*/ 3 h 38"/>
                <a:gd name="T2" fmla="*/ 0 w 46"/>
                <a:gd name="T3" fmla="*/ 16 h 38"/>
                <a:gd name="T4" fmla="*/ 16 w 46"/>
                <a:gd name="T5" fmla="*/ 28 h 38"/>
                <a:gd name="T6" fmla="*/ 34 w 46"/>
                <a:gd name="T7" fmla="*/ 19 h 38"/>
                <a:gd name="T8" fmla="*/ 22 w 46"/>
                <a:gd name="T9" fmla="*/ 0 h 38"/>
                <a:gd name="T10" fmla="*/ 12 w 46"/>
                <a:gd name="T11" fmla="*/ 3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未知"/>
            <p:cNvSpPr>
              <a:spLocks/>
            </p:cNvSpPr>
            <p:nvPr/>
          </p:nvSpPr>
          <p:spPr bwMode="auto">
            <a:xfrm>
              <a:off x="346" y="402"/>
              <a:ext cx="39" cy="32"/>
            </a:xfrm>
            <a:custGeom>
              <a:avLst/>
              <a:gdLst>
                <a:gd name="T0" fmla="*/ 9 w 52"/>
                <a:gd name="T1" fmla="*/ 0 h 44"/>
                <a:gd name="T2" fmla="*/ 20 w 52"/>
                <a:gd name="T3" fmla="*/ 32 h 44"/>
                <a:gd name="T4" fmla="*/ 32 w 52"/>
                <a:gd name="T5" fmla="*/ 31 h 44"/>
                <a:gd name="T6" fmla="*/ 29 w 52"/>
                <a:gd name="T7" fmla="*/ 12 h 44"/>
                <a:gd name="T8" fmla="*/ 20 w 52"/>
                <a:gd name="T9" fmla="*/ 1 h 44"/>
                <a:gd name="T10" fmla="*/ 9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1128" y="458"/>
              <a:ext cx="98" cy="74"/>
            </a:xfrm>
            <a:custGeom>
              <a:avLst/>
              <a:gdLst>
                <a:gd name="T0" fmla="*/ 73 w 131"/>
                <a:gd name="T1" fmla="*/ 0 h 98"/>
                <a:gd name="T2" fmla="*/ 59 w 131"/>
                <a:gd name="T3" fmla="*/ 6 h 98"/>
                <a:gd name="T4" fmla="*/ 40 w 131"/>
                <a:gd name="T5" fmla="*/ 18 h 98"/>
                <a:gd name="T6" fmla="*/ 29 w 131"/>
                <a:gd name="T7" fmla="*/ 30 h 98"/>
                <a:gd name="T8" fmla="*/ 16 w 131"/>
                <a:gd name="T9" fmla="*/ 39 h 98"/>
                <a:gd name="T10" fmla="*/ 47 w 131"/>
                <a:gd name="T11" fmla="*/ 62 h 98"/>
                <a:gd name="T12" fmla="*/ 59 w 131"/>
                <a:gd name="T13" fmla="*/ 71 h 98"/>
                <a:gd name="T14" fmla="*/ 64 w 131"/>
                <a:gd name="T15" fmla="*/ 69 h 98"/>
                <a:gd name="T16" fmla="*/ 67 w 131"/>
                <a:gd name="T17" fmla="*/ 65 h 98"/>
                <a:gd name="T18" fmla="*/ 73 w 131"/>
                <a:gd name="T19" fmla="*/ 74 h 98"/>
                <a:gd name="T20" fmla="*/ 92 w 131"/>
                <a:gd name="T21" fmla="*/ 65 h 98"/>
                <a:gd name="T22" fmla="*/ 97 w 131"/>
                <a:gd name="T23" fmla="*/ 56 h 98"/>
                <a:gd name="T24" fmla="*/ 76 w 131"/>
                <a:gd name="T25" fmla="*/ 30 h 98"/>
                <a:gd name="T26" fmla="*/ 86 w 131"/>
                <a:gd name="T27" fmla="*/ 18 h 98"/>
                <a:gd name="T28" fmla="*/ 83 w 131"/>
                <a:gd name="T29" fmla="*/ 3 h 98"/>
                <a:gd name="T30" fmla="*/ 7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未知"/>
            <p:cNvSpPr>
              <a:spLocks/>
            </p:cNvSpPr>
            <p:nvPr/>
          </p:nvSpPr>
          <p:spPr bwMode="auto">
            <a:xfrm>
              <a:off x="654" y="842"/>
              <a:ext cx="158" cy="84"/>
            </a:xfrm>
            <a:custGeom>
              <a:avLst/>
              <a:gdLst>
                <a:gd name="T0" fmla="*/ 35 w 212"/>
                <a:gd name="T1" fmla="*/ 9 h 112"/>
                <a:gd name="T2" fmla="*/ 13 w 212"/>
                <a:gd name="T3" fmla="*/ 9 h 112"/>
                <a:gd name="T4" fmla="*/ 4 w 212"/>
                <a:gd name="T5" fmla="*/ 12 h 112"/>
                <a:gd name="T6" fmla="*/ 19 w 212"/>
                <a:gd name="T7" fmla="*/ 39 h 112"/>
                <a:gd name="T8" fmla="*/ 38 w 212"/>
                <a:gd name="T9" fmla="*/ 33 h 112"/>
                <a:gd name="T10" fmla="*/ 69 w 212"/>
                <a:gd name="T11" fmla="*/ 41 h 112"/>
                <a:gd name="T12" fmla="*/ 83 w 212"/>
                <a:gd name="T13" fmla="*/ 45 h 112"/>
                <a:gd name="T14" fmla="*/ 99 w 212"/>
                <a:gd name="T15" fmla="*/ 66 h 112"/>
                <a:gd name="T16" fmla="*/ 105 w 212"/>
                <a:gd name="T17" fmla="*/ 84 h 112"/>
                <a:gd name="T18" fmla="*/ 117 w 212"/>
                <a:gd name="T19" fmla="*/ 75 h 112"/>
                <a:gd name="T20" fmla="*/ 126 w 212"/>
                <a:gd name="T21" fmla="*/ 72 h 112"/>
                <a:gd name="T22" fmla="*/ 139 w 212"/>
                <a:gd name="T23" fmla="*/ 77 h 112"/>
                <a:gd name="T24" fmla="*/ 145 w 212"/>
                <a:gd name="T25" fmla="*/ 60 h 112"/>
                <a:gd name="T26" fmla="*/ 114 w 212"/>
                <a:gd name="T27" fmla="*/ 41 h 112"/>
                <a:gd name="T28" fmla="*/ 78 w 212"/>
                <a:gd name="T29" fmla="*/ 15 h 112"/>
                <a:gd name="T30" fmla="*/ 40 w 212"/>
                <a:gd name="T31" fmla="*/ 20 h 112"/>
                <a:gd name="T32" fmla="*/ 35 w 212"/>
                <a:gd name="T33" fmla="*/ 9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未知"/>
            <p:cNvSpPr>
              <a:spLocks/>
            </p:cNvSpPr>
            <p:nvPr/>
          </p:nvSpPr>
          <p:spPr bwMode="auto">
            <a:xfrm>
              <a:off x="784" y="906"/>
              <a:ext cx="99" cy="41"/>
            </a:xfrm>
            <a:custGeom>
              <a:avLst/>
              <a:gdLst>
                <a:gd name="T0" fmla="*/ 42 w 133"/>
                <a:gd name="T1" fmla="*/ 0 h 54"/>
                <a:gd name="T2" fmla="*/ 32 w 133"/>
                <a:gd name="T3" fmla="*/ 5 h 54"/>
                <a:gd name="T4" fmla="*/ 23 w 133"/>
                <a:gd name="T5" fmla="*/ 23 h 54"/>
                <a:gd name="T6" fmla="*/ 11 w 133"/>
                <a:gd name="T7" fmla="*/ 26 h 54"/>
                <a:gd name="T8" fmla="*/ 2 w 133"/>
                <a:gd name="T9" fmla="*/ 32 h 54"/>
                <a:gd name="T10" fmla="*/ 10 w 133"/>
                <a:gd name="T11" fmla="*/ 41 h 54"/>
                <a:gd name="T12" fmla="*/ 99 w 133"/>
                <a:gd name="T13" fmla="*/ 26 h 54"/>
                <a:gd name="T14" fmla="*/ 92 w 133"/>
                <a:gd name="T15" fmla="*/ 12 h 54"/>
                <a:gd name="T16" fmla="*/ 78 w 133"/>
                <a:gd name="T17" fmla="*/ 6 h 54"/>
                <a:gd name="T18" fmla="*/ 75 w 133"/>
                <a:gd name="T19" fmla="*/ 18 h 54"/>
                <a:gd name="T20" fmla="*/ 66 w 133"/>
                <a:gd name="T21" fmla="*/ 14 h 54"/>
                <a:gd name="T22" fmla="*/ 50 w 133"/>
                <a:gd name="T23" fmla="*/ 11 h 54"/>
                <a:gd name="T24" fmla="*/ 4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/>
            <p:cNvSpPr>
              <a:spLocks/>
            </p:cNvSpPr>
            <p:nvPr/>
          </p:nvSpPr>
          <p:spPr bwMode="auto">
            <a:xfrm>
              <a:off x="889" y="932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/>
            <p:cNvSpPr>
              <a:spLocks/>
            </p:cNvSpPr>
            <p:nvPr/>
          </p:nvSpPr>
          <p:spPr bwMode="auto">
            <a:xfrm>
              <a:off x="945" y="935"/>
              <a:ext cx="12" cy="25"/>
            </a:xfrm>
            <a:custGeom>
              <a:avLst/>
              <a:gdLst>
                <a:gd name="T0" fmla="*/ 11 w 16"/>
                <a:gd name="T1" fmla="*/ 0 h 34"/>
                <a:gd name="T2" fmla="*/ 0 w 16"/>
                <a:gd name="T3" fmla="*/ 10 h 34"/>
                <a:gd name="T4" fmla="*/ 12 w 16"/>
                <a:gd name="T5" fmla="*/ 25 h 34"/>
                <a:gd name="T6" fmla="*/ 9 w 16"/>
                <a:gd name="T7" fmla="*/ 13 h 34"/>
                <a:gd name="T8" fmla="*/ 12 w 16"/>
                <a:gd name="T9" fmla="*/ 4 h 34"/>
                <a:gd name="T10" fmla="*/ 11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未知"/>
            <p:cNvSpPr>
              <a:spLocks/>
            </p:cNvSpPr>
            <p:nvPr/>
          </p:nvSpPr>
          <p:spPr bwMode="auto">
            <a:xfrm>
              <a:off x="762" y="89"/>
              <a:ext cx="180" cy="88"/>
            </a:xfrm>
            <a:custGeom>
              <a:avLst/>
              <a:gdLst>
                <a:gd name="T0" fmla="*/ 48 w 240"/>
                <a:gd name="T1" fmla="*/ 1 h 117"/>
                <a:gd name="T2" fmla="*/ 18 w 240"/>
                <a:gd name="T3" fmla="*/ 23 h 117"/>
                <a:gd name="T4" fmla="*/ 5 w 240"/>
                <a:gd name="T5" fmla="*/ 28 h 117"/>
                <a:gd name="T6" fmla="*/ 0 w 240"/>
                <a:gd name="T7" fmla="*/ 29 h 117"/>
                <a:gd name="T8" fmla="*/ 20 w 240"/>
                <a:gd name="T9" fmla="*/ 44 h 117"/>
                <a:gd name="T10" fmla="*/ 29 w 240"/>
                <a:gd name="T11" fmla="*/ 47 h 117"/>
                <a:gd name="T12" fmla="*/ 51 w 240"/>
                <a:gd name="T13" fmla="*/ 35 h 117"/>
                <a:gd name="T14" fmla="*/ 60 w 240"/>
                <a:gd name="T15" fmla="*/ 32 h 117"/>
                <a:gd name="T16" fmla="*/ 62 w 240"/>
                <a:gd name="T17" fmla="*/ 41 h 117"/>
                <a:gd name="T18" fmla="*/ 48 w 240"/>
                <a:gd name="T19" fmla="*/ 46 h 117"/>
                <a:gd name="T20" fmla="*/ 54 w 240"/>
                <a:gd name="T21" fmla="*/ 55 h 117"/>
                <a:gd name="T22" fmla="*/ 30 w 240"/>
                <a:gd name="T23" fmla="*/ 65 h 117"/>
                <a:gd name="T24" fmla="*/ 53 w 240"/>
                <a:gd name="T25" fmla="*/ 82 h 117"/>
                <a:gd name="T26" fmla="*/ 62 w 240"/>
                <a:gd name="T27" fmla="*/ 85 h 117"/>
                <a:gd name="T28" fmla="*/ 89 w 240"/>
                <a:gd name="T29" fmla="*/ 77 h 117"/>
                <a:gd name="T30" fmla="*/ 113 w 240"/>
                <a:gd name="T31" fmla="*/ 79 h 117"/>
                <a:gd name="T32" fmla="*/ 126 w 240"/>
                <a:gd name="T33" fmla="*/ 88 h 117"/>
                <a:gd name="T34" fmla="*/ 153 w 240"/>
                <a:gd name="T35" fmla="*/ 82 h 117"/>
                <a:gd name="T36" fmla="*/ 168 w 240"/>
                <a:gd name="T37" fmla="*/ 77 h 117"/>
                <a:gd name="T38" fmla="*/ 167 w 240"/>
                <a:gd name="T39" fmla="*/ 58 h 117"/>
                <a:gd name="T40" fmla="*/ 176 w 240"/>
                <a:gd name="T41" fmla="*/ 52 h 117"/>
                <a:gd name="T42" fmla="*/ 179 w 240"/>
                <a:gd name="T43" fmla="*/ 35 h 117"/>
                <a:gd name="T44" fmla="*/ 158 w 240"/>
                <a:gd name="T45" fmla="*/ 43 h 117"/>
                <a:gd name="T46" fmla="*/ 150 w 240"/>
                <a:gd name="T47" fmla="*/ 32 h 117"/>
                <a:gd name="T48" fmla="*/ 129 w 240"/>
                <a:gd name="T49" fmla="*/ 34 h 117"/>
                <a:gd name="T50" fmla="*/ 101 w 240"/>
                <a:gd name="T51" fmla="*/ 7 h 117"/>
                <a:gd name="T52" fmla="*/ 71 w 240"/>
                <a:gd name="T53" fmla="*/ 8 h 117"/>
                <a:gd name="T54" fmla="*/ 62 w 240"/>
                <a:gd name="T55" fmla="*/ 1 h 117"/>
                <a:gd name="T56" fmla="*/ 4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未知"/>
            <p:cNvSpPr>
              <a:spLocks/>
            </p:cNvSpPr>
            <p:nvPr/>
          </p:nvSpPr>
          <p:spPr bwMode="auto">
            <a:xfrm>
              <a:off x="842" y="48"/>
              <a:ext cx="146" cy="60"/>
            </a:xfrm>
            <a:custGeom>
              <a:avLst/>
              <a:gdLst>
                <a:gd name="T0" fmla="*/ 73 w 194"/>
                <a:gd name="T1" fmla="*/ 8 h 80"/>
                <a:gd name="T2" fmla="*/ 10 w 194"/>
                <a:gd name="T3" fmla="*/ 18 h 80"/>
                <a:gd name="T4" fmla="*/ 7 w 194"/>
                <a:gd name="T5" fmla="*/ 26 h 80"/>
                <a:gd name="T6" fmla="*/ 43 w 194"/>
                <a:gd name="T7" fmla="*/ 39 h 80"/>
                <a:gd name="T8" fmla="*/ 102 w 194"/>
                <a:gd name="T9" fmla="*/ 56 h 80"/>
                <a:gd name="T10" fmla="*/ 132 w 194"/>
                <a:gd name="T11" fmla="*/ 51 h 80"/>
                <a:gd name="T12" fmla="*/ 141 w 194"/>
                <a:gd name="T13" fmla="*/ 48 h 80"/>
                <a:gd name="T14" fmla="*/ 132 w 194"/>
                <a:gd name="T15" fmla="*/ 33 h 80"/>
                <a:gd name="T16" fmla="*/ 123 w 194"/>
                <a:gd name="T17" fmla="*/ 27 h 80"/>
                <a:gd name="T18" fmla="*/ 97 w 194"/>
                <a:gd name="T19" fmla="*/ 20 h 80"/>
                <a:gd name="T20" fmla="*/ 73 w 194"/>
                <a:gd name="T21" fmla="*/ 8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/>
            <p:cNvSpPr>
              <a:spLocks/>
            </p:cNvSpPr>
            <p:nvPr/>
          </p:nvSpPr>
          <p:spPr bwMode="auto">
            <a:xfrm>
              <a:off x="1047" y="118"/>
              <a:ext cx="233" cy="190"/>
            </a:xfrm>
            <a:custGeom>
              <a:avLst/>
              <a:gdLst>
                <a:gd name="T0" fmla="*/ 50 w 310"/>
                <a:gd name="T1" fmla="*/ 7 h 254"/>
                <a:gd name="T2" fmla="*/ 38 w 310"/>
                <a:gd name="T3" fmla="*/ 17 h 254"/>
                <a:gd name="T4" fmla="*/ 16 w 310"/>
                <a:gd name="T5" fmla="*/ 29 h 254"/>
                <a:gd name="T6" fmla="*/ 40 w 310"/>
                <a:gd name="T7" fmla="*/ 58 h 254"/>
                <a:gd name="T8" fmla="*/ 59 w 310"/>
                <a:gd name="T9" fmla="*/ 64 h 254"/>
                <a:gd name="T10" fmla="*/ 77 w 310"/>
                <a:gd name="T11" fmla="*/ 74 h 254"/>
                <a:gd name="T12" fmla="*/ 95 w 310"/>
                <a:gd name="T13" fmla="*/ 64 h 254"/>
                <a:gd name="T14" fmla="*/ 107 w 310"/>
                <a:gd name="T15" fmla="*/ 76 h 254"/>
                <a:gd name="T16" fmla="*/ 112 w 310"/>
                <a:gd name="T17" fmla="*/ 95 h 254"/>
                <a:gd name="T18" fmla="*/ 86 w 310"/>
                <a:gd name="T19" fmla="*/ 113 h 254"/>
                <a:gd name="T20" fmla="*/ 67 w 310"/>
                <a:gd name="T21" fmla="*/ 129 h 254"/>
                <a:gd name="T22" fmla="*/ 52 w 310"/>
                <a:gd name="T23" fmla="*/ 126 h 254"/>
                <a:gd name="T24" fmla="*/ 43 w 310"/>
                <a:gd name="T25" fmla="*/ 123 h 254"/>
                <a:gd name="T26" fmla="*/ 32 w 310"/>
                <a:gd name="T27" fmla="*/ 140 h 254"/>
                <a:gd name="T28" fmla="*/ 29 w 310"/>
                <a:gd name="T29" fmla="*/ 149 h 254"/>
                <a:gd name="T30" fmla="*/ 55 w 310"/>
                <a:gd name="T31" fmla="*/ 153 h 254"/>
                <a:gd name="T32" fmla="*/ 71 w 310"/>
                <a:gd name="T33" fmla="*/ 152 h 254"/>
                <a:gd name="T34" fmla="*/ 86 w 310"/>
                <a:gd name="T35" fmla="*/ 173 h 254"/>
                <a:gd name="T36" fmla="*/ 95 w 310"/>
                <a:gd name="T37" fmla="*/ 176 h 254"/>
                <a:gd name="T38" fmla="*/ 104 w 310"/>
                <a:gd name="T39" fmla="*/ 179 h 254"/>
                <a:gd name="T40" fmla="*/ 117 w 310"/>
                <a:gd name="T41" fmla="*/ 188 h 254"/>
                <a:gd name="T42" fmla="*/ 136 w 310"/>
                <a:gd name="T43" fmla="*/ 177 h 254"/>
                <a:gd name="T44" fmla="*/ 153 w 310"/>
                <a:gd name="T45" fmla="*/ 176 h 254"/>
                <a:gd name="T46" fmla="*/ 172 w 310"/>
                <a:gd name="T47" fmla="*/ 159 h 254"/>
                <a:gd name="T48" fmla="*/ 169 w 310"/>
                <a:gd name="T49" fmla="*/ 138 h 254"/>
                <a:gd name="T50" fmla="*/ 163 w 310"/>
                <a:gd name="T51" fmla="*/ 129 h 254"/>
                <a:gd name="T52" fmla="*/ 175 w 310"/>
                <a:gd name="T53" fmla="*/ 125 h 254"/>
                <a:gd name="T54" fmla="*/ 184 w 310"/>
                <a:gd name="T55" fmla="*/ 137 h 254"/>
                <a:gd name="T56" fmla="*/ 186 w 310"/>
                <a:gd name="T57" fmla="*/ 147 h 254"/>
                <a:gd name="T58" fmla="*/ 196 w 310"/>
                <a:gd name="T59" fmla="*/ 144 h 254"/>
                <a:gd name="T60" fmla="*/ 228 w 310"/>
                <a:gd name="T61" fmla="*/ 126 h 254"/>
                <a:gd name="T62" fmla="*/ 220 w 310"/>
                <a:gd name="T63" fmla="*/ 110 h 254"/>
                <a:gd name="T64" fmla="*/ 195 w 310"/>
                <a:gd name="T65" fmla="*/ 92 h 254"/>
                <a:gd name="T66" fmla="*/ 199 w 310"/>
                <a:gd name="T67" fmla="*/ 80 h 254"/>
                <a:gd name="T68" fmla="*/ 208 w 310"/>
                <a:gd name="T69" fmla="*/ 77 h 254"/>
                <a:gd name="T70" fmla="*/ 190 w 310"/>
                <a:gd name="T71" fmla="*/ 47 h 254"/>
                <a:gd name="T72" fmla="*/ 175 w 310"/>
                <a:gd name="T73" fmla="*/ 44 h 254"/>
                <a:gd name="T74" fmla="*/ 166 w 310"/>
                <a:gd name="T75" fmla="*/ 41 h 254"/>
                <a:gd name="T76" fmla="*/ 151 w 310"/>
                <a:gd name="T77" fmla="*/ 25 h 254"/>
                <a:gd name="T78" fmla="*/ 117 w 310"/>
                <a:gd name="T79" fmla="*/ 34 h 254"/>
                <a:gd name="T80" fmla="*/ 126 w 310"/>
                <a:gd name="T81" fmla="*/ 19 h 254"/>
                <a:gd name="T82" fmla="*/ 104 w 310"/>
                <a:gd name="T83" fmla="*/ 13 h 254"/>
                <a:gd name="T84" fmla="*/ 89 w 310"/>
                <a:gd name="T85" fmla="*/ 14 h 254"/>
                <a:gd name="T86" fmla="*/ 50 w 310"/>
                <a:gd name="T87" fmla="*/ 7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未知"/>
            <p:cNvSpPr>
              <a:spLocks/>
            </p:cNvSpPr>
            <p:nvPr/>
          </p:nvSpPr>
          <p:spPr bwMode="auto">
            <a:xfrm>
              <a:off x="1045" y="36"/>
              <a:ext cx="44" cy="37"/>
            </a:xfrm>
            <a:custGeom>
              <a:avLst/>
              <a:gdLst>
                <a:gd name="T0" fmla="*/ 19 w 59"/>
                <a:gd name="T1" fmla="*/ 0 h 50"/>
                <a:gd name="T2" fmla="*/ 0 w 59"/>
                <a:gd name="T3" fmla="*/ 7 h 50"/>
                <a:gd name="T4" fmla="*/ 22 w 59"/>
                <a:gd name="T5" fmla="*/ 30 h 50"/>
                <a:gd name="T6" fmla="*/ 36 w 59"/>
                <a:gd name="T7" fmla="*/ 37 h 50"/>
                <a:gd name="T8" fmla="*/ 43 w 59"/>
                <a:gd name="T9" fmla="*/ 21 h 50"/>
                <a:gd name="T10" fmla="*/ 33 w 59"/>
                <a:gd name="T11" fmla="*/ 6 h 50"/>
                <a:gd name="T12" fmla="*/ 19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未知"/>
            <p:cNvSpPr>
              <a:spLocks/>
            </p:cNvSpPr>
            <p:nvPr/>
          </p:nvSpPr>
          <p:spPr bwMode="auto">
            <a:xfrm>
              <a:off x="961" y="106"/>
              <a:ext cx="65" cy="42"/>
            </a:xfrm>
            <a:custGeom>
              <a:avLst/>
              <a:gdLst>
                <a:gd name="T0" fmla="*/ 33 w 86"/>
                <a:gd name="T1" fmla="*/ 5 h 57"/>
                <a:gd name="T2" fmla="*/ 18 w 86"/>
                <a:gd name="T3" fmla="*/ 18 h 57"/>
                <a:gd name="T4" fmla="*/ 3 w 86"/>
                <a:gd name="T5" fmla="*/ 20 h 57"/>
                <a:gd name="T6" fmla="*/ 12 w 86"/>
                <a:gd name="T7" fmla="*/ 42 h 57"/>
                <a:gd name="T8" fmla="*/ 56 w 86"/>
                <a:gd name="T9" fmla="*/ 26 h 57"/>
                <a:gd name="T10" fmla="*/ 65 w 86"/>
                <a:gd name="T11" fmla="*/ 13 h 57"/>
                <a:gd name="T12" fmla="*/ 42 w 86"/>
                <a:gd name="T13" fmla="*/ 5 h 57"/>
                <a:gd name="T14" fmla="*/ 33 w 86"/>
                <a:gd name="T15" fmla="*/ 5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未知"/>
            <p:cNvSpPr>
              <a:spLocks/>
            </p:cNvSpPr>
            <p:nvPr/>
          </p:nvSpPr>
          <p:spPr bwMode="auto">
            <a:xfrm>
              <a:off x="1029" y="114"/>
              <a:ext cx="54" cy="25"/>
            </a:xfrm>
            <a:custGeom>
              <a:avLst/>
              <a:gdLst>
                <a:gd name="T0" fmla="*/ 30 w 73"/>
                <a:gd name="T1" fmla="*/ 0 h 34"/>
                <a:gd name="T2" fmla="*/ 7 w 73"/>
                <a:gd name="T3" fmla="*/ 12 h 34"/>
                <a:gd name="T4" fmla="*/ 18 w 73"/>
                <a:gd name="T5" fmla="*/ 25 h 34"/>
                <a:gd name="T6" fmla="*/ 38 w 73"/>
                <a:gd name="T7" fmla="*/ 21 h 34"/>
                <a:gd name="T8" fmla="*/ 47 w 73"/>
                <a:gd name="T9" fmla="*/ 15 h 34"/>
                <a:gd name="T10" fmla="*/ 30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未知"/>
            <p:cNvSpPr>
              <a:spLocks/>
            </p:cNvSpPr>
            <p:nvPr/>
          </p:nvSpPr>
          <p:spPr bwMode="auto">
            <a:xfrm>
              <a:off x="1000" y="78"/>
              <a:ext cx="64" cy="34"/>
            </a:xfrm>
            <a:custGeom>
              <a:avLst/>
              <a:gdLst>
                <a:gd name="T0" fmla="*/ 44 w 85"/>
                <a:gd name="T1" fmla="*/ 8 h 45"/>
                <a:gd name="T2" fmla="*/ 21 w 85"/>
                <a:gd name="T3" fmla="*/ 3 h 45"/>
                <a:gd name="T4" fmla="*/ 0 w 85"/>
                <a:gd name="T5" fmla="*/ 14 h 45"/>
                <a:gd name="T6" fmla="*/ 30 w 85"/>
                <a:gd name="T7" fmla="*/ 24 h 45"/>
                <a:gd name="T8" fmla="*/ 48 w 85"/>
                <a:gd name="T9" fmla="*/ 30 h 45"/>
                <a:gd name="T10" fmla="*/ 63 w 85"/>
                <a:gd name="T11" fmla="*/ 14 h 45"/>
                <a:gd name="T12" fmla="*/ 62 w 85"/>
                <a:gd name="T13" fmla="*/ 5 h 45"/>
                <a:gd name="T14" fmla="*/ 48 w 85"/>
                <a:gd name="T15" fmla="*/ 0 h 45"/>
                <a:gd name="T16" fmla="*/ 44 w 85"/>
                <a:gd name="T17" fmla="*/ 8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未知"/>
            <p:cNvSpPr>
              <a:spLocks/>
            </p:cNvSpPr>
            <p:nvPr/>
          </p:nvSpPr>
          <p:spPr bwMode="auto">
            <a:xfrm>
              <a:off x="973" y="46"/>
              <a:ext cx="44" cy="24"/>
            </a:xfrm>
            <a:custGeom>
              <a:avLst/>
              <a:gdLst>
                <a:gd name="T0" fmla="*/ 12 w 58"/>
                <a:gd name="T1" fmla="*/ 3 h 31"/>
                <a:gd name="T2" fmla="*/ 0 w 58"/>
                <a:gd name="T3" fmla="*/ 14 h 31"/>
                <a:gd name="T4" fmla="*/ 15 w 58"/>
                <a:gd name="T5" fmla="*/ 22 h 31"/>
                <a:gd name="T6" fmla="*/ 21 w 58"/>
                <a:gd name="T7" fmla="*/ 15 h 31"/>
                <a:gd name="T8" fmla="*/ 39 w 58"/>
                <a:gd name="T9" fmla="*/ 9 h 31"/>
                <a:gd name="T10" fmla="*/ 33 w 58"/>
                <a:gd name="T11" fmla="*/ 0 h 31"/>
                <a:gd name="T12" fmla="*/ 12 w 58"/>
                <a:gd name="T13" fmla="*/ 3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未知"/>
            <p:cNvSpPr>
              <a:spLocks/>
            </p:cNvSpPr>
            <p:nvPr/>
          </p:nvSpPr>
          <p:spPr bwMode="auto">
            <a:xfrm>
              <a:off x="1087" y="49"/>
              <a:ext cx="114" cy="77"/>
            </a:xfrm>
            <a:custGeom>
              <a:avLst/>
              <a:gdLst>
                <a:gd name="T0" fmla="*/ 29 w 152"/>
                <a:gd name="T1" fmla="*/ 0 h 102"/>
                <a:gd name="T2" fmla="*/ 11 w 152"/>
                <a:gd name="T3" fmla="*/ 5 h 102"/>
                <a:gd name="T4" fmla="*/ 3 w 152"/>
                <a:gd name="T5" fmla="*/ 29 h 102"/>
                <a:gd name="T6" fmla="*/ 9 w 152"/>
                <a:gd name="T7" fmla="*/ 42 h 102"/>
                <a:gd name="T8" fmla="*/ 0 w 152"/>
                <a:gd name="T9" fmla="*/ 54 h 102"/>
                <a:gd name="T10" fmla="*/ 42 w 152"/>
                <a:gd name="T11" fmla="*/ 65 h 102"/>
                <a:gd name="T12" fmla="*/ 62 w 152"/>
                <a:gd name="T13" fmla="*/ 69 h 102"/>
                <a:gd name="T14" fmla="*/ 114 w 152"/>
                <a:gd name="T15" fmla="*/ 65 h 102"/>
                <a:gd name="T16" fmla="*/ 57 w 152"/>
                <a:gd name="T17" fmla="*/ 53 h 102"/>
                <a:gd name="T18" fmla="*/ 41 w 152"/>
                <a:gd name="T19" fmla="*/ 47 h 102"/>
                <a:gd name="T20" fmla="*/ 33 w 152"/>
                <a:gd name="T21" fmla="*/ 39 h 102"/>
                <a:gd name="T22" fmla="*/ 38 w 152"/>
                <a:gd name="T23" fmla="*/ 26 h 102"/>
                <a:gd name="T24" fmla="*/ 29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未知"/>
            <p:cNvSpPr>
              <a:spLocks/>
            </p:cNvSpPr>
            <p:nvPr/>
          </p:nvSpPr>
          <p:spPr bwMode="auto">
            <a:xfrm>
              <a:off x="0" y="294"/>
              <a:ext cx="25" cy="15"/>
            </a:xfrm>
            <a:custGeom>
              <a:avLst/>
              <a:gdLst>
                <a:gd name="T0" fmla="*/ 25 w 34"/>
                <a:gd name="T1" fmla="*/ 0 h 20"/>
                <a:gd name="T2" fmla="*/ 18 w 34"/>
                <a:gd name="T3" fmla="*/ 15 h 20"/>
                <a:gd name="T4" fmla="*/ 3 w 34"/>
                <a:gd name="T5" fmla="*/ 14 h 20"/>
                <a:gd name="T6" fmla="*/ 3 w 34"/>
                <a:gd name="T7" fmla="*/ 5 h 20"/>
                <a:gd name="T8" fmla="*/ 25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未知"/>
            <p:cNvSpPr>
              <a:spLocks/>
            </p:cNvSpPr>
            <p:nvPr/>
          </p:nvSpPr>
          <p:spPr bwMode="auto">
            <a:xfrm>
              <a:off x="757" y="805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10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未知"/>
            <p:cNvSpPr>
              <a:spLocks/>
            </p:cNvSpPr>
            <p:nvPr/>
          </p:nvSpPr>
          <p:spPr bwMode="auto">
            <a:xfrm>
              <a:off x="760" y="830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10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未知"/>
            <p:cNvSpPr>
              <a:spLocks/>
            </p:cNvSpPr>
            <p:nvPr/>
          </p:nvSpPr>
          <p:spPr bwMode="auto">
            <a:xfrm>
              <a:off x="964" y="962"/>
              <a:ext cx="15" cy="12"/>
            </a:xfrm>
            <a:custGeom>
              <a:avLst/>
              <a:gdLst>
                <a:gd name="T0" fmla="*/ 2 w 21"/>
                <a:gd name="T1" fmla="*/ 0 h 16"/>
                <a:gd name="T2" fmla="*/ 9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未知"/>
            <p:cNvSpPr>
              <a:spLocks/>
            </p:cNvSpPr>
            <p:nvPr/>
          </p:nvSpPr>
          <p:spPr bwMode="auto">
            <a:xfrm>
              <a:off x="1088" y="478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未知"/>
            <p:cNvSpPr>
              <a:spLocks/>
            </p:cNvSpPr>
            <p:nvPr/>
          </p:nvSpPr>
          <p:spPr bwMode="auto">
            <a:xfrm>
              <a:off x="988" y="273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未知"/>
            <p:cNvSpPr>
              <a:spLocks/>
            </p:cNvSpPr>
            <p:nvPr/>
          </p:nvSpPr>
          <p:spPr bwMode="auto">
            <a:xfrm>
              <a:off x="1053" y="94"/>
              <a:ext cx="39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1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未知"/>
            <p:cNvSpPr>
              <a:spLocks/>
            </p:cNvSpPr>
            <p:nvPr/>
          </p:nvSpPr>
          <p:spPr bwMode="auto">
            <a:xfrm>
              <a:off x="1116" y="202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未知"/>
            <p:cNvSpPr>
              <a:spLocks/>
            </p:cNvSpPr>
            <p:nvPr/>
          </p:nvSpPr>
          <p:spPr bwMode="auto">
            <a:xfrm>
              <a:off x="1132" y="0"/>
              <a:ext cx="696" cy="346"/>
            </a:xfrm>
            <a:custGeom>
              <a:avLst/>
              <a:gdLst>
                <a:gd name="T0" fmla="*/ 21 w 929"/>
                <a:gd name="T1" fmla="*/ 42 h 462"/>
                <a:gd name="T2" fmla="*/ 4 w 929"/>
                <a:gd name="T3" fmla="*/ 69 h 462"/>
                <a:gd name="T4" fmla="*/ 27 w 929"/>
                <a:gd name="T5" fmla="*/ 75 h 462"/>
                <a:gd name="T6" fmla="*/ 12 w 929"/>
                <a:gd name="T7" fmla="*/ 87 h 462"/>
                <a:gd name="T8" fmla="*/ 78 w 929"/>
                <a:gd name="T9" fmla="*/ 102 h 462"/>
                <a:gd name="T10" fmla="*/ 106 w 929"/>
                <a:gd name="T11" fmla="*/ 97 h 462"/>
                <a:gd name="T12" fmla="*/ 187 w 929"/>
                <a:gd name="T13" fmla="*/ 58 h 462"/>
                <a:gd name="T14" fmla="*/ 225 w 929"/>
                <a:gd name="T15" fmla="*/ 49 h 462"/>
                <a:gd name="T16" fmla="*/ 243 w 929"/>
                <a:gd name="T17" fmla="*/ 60 h 462"/>
                <a:gd name="T18" fmla="*/ 204 w 929"/>
                <a:gd name="T19" fmla="*/ 66 h 462"/>
                <a:gd name="T20" fmla="*/ 181 w 929"/>
                <a:gd name="T21" fmla="*/ 84 h 462"/>
                <a:gd name="T22" fmla="*/ 190 w 929"/>
                <a:gd name="T23" fmla="*/ 90 h 462"/>
                <a:gd name="T24" fmla="*/ 195 w 929"/>
                <a:gd name="T25" fmla="*/ 118 h 462"/>
                <a:gd name="T26" fmla="*/ 262 w 929"/>
                <a:gd name="T27" fmla="*/ 144 h 462"/>
                <a:gd name="T28" fmla="*/ 252 w 929"/>
                <a:gd name="T29" fmla="*/ 157 h 462"/>
                <a:gd name="T30" fmla="*/ 276 w 929"/>
                <a:gd name="T31" fmla="*/ 184 h 462"/>
                <a:gd name="T32" fmla="*/ 261 w 929"/>
                <a:gd name="T33" fmla="*/ 199 h 462"/>
                <a:gd name="T34" fmla="*/ 243 w 929"/>
                <a:gd name="T35" fmla="*/ 220 h 462"/>
                <a:gd name="T36" fmla="*/ 220 w 929"/>
                <a:gd name="T37" fmla="*/ 243 h 462"/>
                <a:gd name="T38" fmla="*/ 219 w 929"/>
                <a:gd name="T39" fmla="*/ 315 h 462"/>
                <a:gd name="T40" fmla="*/ 249 w 929"/>
                <a:gd name="T41" fmla="*/ 334 h 462"/>
                <a:gd name="T42" fmla="*/ 291 w 929"/>
                <a:gd name="T43" fmla="*/ 336 h 462"/>
                <a:gd name="T44" fmla="*/ 309 w 929"/>
                <a:gd name="T45" fmla="*/ 316 h 462"/>
                <a:gd name="T46" fmla="*/ 379 w 929"/>
                <a:gd name="T47" fmla="*/ 267 h 462"/>
                <a:gd name="T48" fmla="*/ 429 w 929"/>
                <a:gd name="T49" fmla="*/ 250 h 462"/>
                <a:gd name="T50" fmla="*/ 484 w 929"/>
                <a:gd name="T51" fmla="*/ 231 h 462"/>
                <a:gd name="T52" fmla="*/ 539 w 929"/>
                <a:gd name="T53" fmla="*/ 217 h 462"/>
                <a:gd name="T54" fmla="*/ 571 w 929"/>
                <a:gd name="T55" fmla="*/ 195 h 462"/>
                <a:gd name="T56" fmla="*/ 599 w 929"/>
                <a:gd name="T57" fmla="*/ 150 h 462"/>
                <a:gd name="T58" fmla="*/ 601 w 929"/>
                <a:gd name="T59" fmla="*/ 115 h 462"/>
                <a:gd name="T60" fmla="*/ 601 w 929"/>
                <a:gd name="T61" fmla="*/ 93 h 462"/>
                <a:gd name="T62" fmla="*/ 623 w 929"/>
                <a:gd name="T63" fmla="*/ 67 h 462"/>
                <a:gd name="T64" fmla="*/ 656 w 929"/>
                <a:gd name="T65" fmla="*/ 70 h 462"/>
                <a:gd name="T66" fmla="*/ 691 w 929"/>
                <a:gd name="T67" fmla="*/ 39 h 462"/>
                <a:gd name="T68" fmla="*/ 665 w 929"/>
                <a:gd name="T69" fmla="*/ 42 h 462"/>
                <a:gd name="T70" fmla="*/ 635 w 929"/>
                <a:gd name="T71" fmla="*/ 34 h 462"/>
                <a:gd name="T72" fmla="*/ 595 w 929"/>
                <a:gd name="T73" fmla="*/ 16 h 462"/>
                <a:gd name="T74" fmla="*/ 481 w 929"/>
                <a:gd name="T75" fmla="*/ 19 h 462"/>
                <a:gd name="T76" fmla="*/ 438 w 929"/>
                <a:gd name="T77" fmla="*/ 28 h 462"/>
                <a:gd name="T78" fmla="*/ 417 w 929"/>
                <a:gd name="T79" fmla="*/ 28 h 462"/>
                <a:gd name="T80" fmla="*/ 387 w 929"/>
                <a:gd name="T81" fmla="*/ 40 h 462"/>
                <a:gd name="T82" fmla="*/ 358 w 929"/>
                <a:gd name="T83" fmla="*/ 22 h 462"/>
                <a:gd name="T84" fmla="*/ 324 w 929"/>
                <a:gd name="T85" fmla="*/ 30 h 462"/>
                <a:gd name="T86" fmla="*/ 274 w 929"/>
                <a:gd name="T87" fmla="*/ 39 h 462"/>
                <a:gd name="T88" fmla="*/ 307 w 929"/>
                <a:gd name="T89" fmla="*/ 28 h 462"/>
                <a:gd name="T90" fmla="*/ 264 w 929"/>
                <a:gd name="T91" fmla="*/ 6 h 462"/>
                <a:gd name="T92" fmla="*/ 250 w 929"/>
                <a:gd name="T93" fmla="*/ 1 h 462"/>
                <a:gd name="T94" fmla="*/ 235 w 929"/>
                <a:gd name="T95" fmla="*/ 6 h 462"/>
                <a:gd name="T96" fmla="*/ 180 w 929"/>
                <a:gd name="T97" fmla="*/ 12 h 462"/>
                <a:gd name="T98" fmla="*/ 120 w 929"/>
                <a:gd name="T99" fmla="*/ 21 h 462"/>
                <a:gd name="T100" fmla="*/ 81 w 929"/>
                <a:gd name="T101" fmla="*/ 19 h 462"/>
                <a:gd name="T102" fmla="*/ 85 w 929"/>
                <a:gd name="T103" fmla="*/ 51 h 462"/>
                <a:gd name="T104" fmla="*/ 78 w 929"/>
                <a:gd name="T105" fmla="*/ 39 h 462"/>
                <a:gd name="T106" fmla="*/ 45 w 929"/>
                <a:gd name="T107" fmla="*/ 3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未知"/>
            <p:cNvSpPr>
              <a:spLocks/>
            </p:cNvSpPr>
            <p:nvPr/>
          </p:nvSpPr>
          <p:spPr bwMode="auto">
            <a:xfrm>
              <a:off x="1345" y="184"/>
              <a:ext cx="39" cy="24"/>
            </a:xfrm>
            <a:custGeom>
              <a:avLst/>
              <a:gdLst>
                <a:gd name="T0" fmla="*/ 26 w 52"/>
                <a:gd name="T1" fmla="*/ 0 h 32"/>
                <a:gd name="T2" fmla="*/ 6 w 52"/>
                <a:gd name="T3" fmla="*/ 15 h 32"/>
                <a:gd name="T4" fmla="*/ 18 w 52"/>
                <a:gd name="T5" fmla="*/ 24 h 32"/>
                <a:gd name="T6" fmla="*/ 32 w 52"/>
                <a:gd name="T7" fmla="*/ 23 h 32"/>
                <a:gd name="T8" fmla="*/ 26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未知"/>
            <p:cNvSpPr>
              <a:spLocks/>
            </p:cNvSpPr>
            <p:nvPr/>
          </p:nvSpPr>
          <p:spPr bwMode="auto">
            <a:xfrm>
              <a:off x="1628" y="250"/>
              <a:ext cx="128" cy="54"/>
            </a:xfrm>
            <a:custGeom>
              <a:avLst/>
              <a:gdLst>
                <a:gd name="T0" fmla="*/ 76 w 172"/>
                <a:gd name="T1" fmla="*/ 6 h 72"/>
                <a:gd name="T2" fmla="*/ 49 w 172"/>
                <a:gd name="T3" fmla="*/ 3 h 72"/>
                <a:gd name="T4" fmla="*/ 40 w 172"/>
                <a:gd name="T5" fmla="*/ 0 h 72"/>
                <a:gd name="T6" fmla="*/ 0 w 172"/>
                <a:gd name="T7" fmla="*/ 21 h 72"/>
                <a:gd name="T8" fmla="*/ 21 w 172"/>
                <a:gd name="T9" fmla="*/ 30 h 72"/>
                <a:gd name="T10" fmla="*/ 31 w 172"/>
                <a:gd name="T11" fmla="*/ 45 h 72"/>
                <a:gd name="T12" fmla="*/ 49 w 172"/>
                <a:gd name="T13" fmla="*/ 51 h 72"/>
                <a:gd name="T14" fmla="*/ 58 w 172"/>
                <a:gd name="T15" fmla="*/ 54 h 72"/>
                <a:gd name="T16" fmla="*/ 97 w 172"/>
                <a:gd name="T17" fmla="*/ 45 h 72"/>
                <a:gd name="T18" fmla="*/ 128 w 172"/>
                <a:gd name="T19" fmla="*/ 33 h 72"/>
                <a:gd name="T20" fmla="*/ 110 w 172"/>
                <a:gd name="T21" fmla="*/ 14 h 72"/>
                <a:gd name="T22" fmla="*/ 101 w 172"/>
                <a:gd name="T23" fmla="*/ 3 h 72"/>
                <a:gd name="T24" fmla="*/ 76 w 172"/>
                <a:gd name="T25" fmla="*/ 6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未知"/>
            <p:cNvSpPr>
              <a:spLocks/>
            </p:cNvSpPr>
            <p:nvPr/>
          </p:nvSpPr>
          <p:spPr bwMode="auto">
            <a:xfrm>
              <a:off x="1729" y="87"/>
              <a:ext cx="39" cy="24"/>
            </a:xfrm>
            <a:custGeom>
              <a:avLst/>
              <a:gdLst>
                <a:gd name="T0" fmla="*/ 26 w 52"/>
                <a:gd name="T1" fmla="*/ 0 h 32"/>
                <a:gd name="T2" fmla="*/ 6 w 52"/>
                <a:gd name="T3" fmla="*/ 15 h 32"/>
                <a:gd name="T4" fmla="*/ 18 w 52"/>
                <a:gd name="T5" fmla="*/ 24 h 32"/>
                <a:gd name="T6" fmla="*/ 32 w 52"/>
                <a:gd name="T7" fmla="*/ 23 h 32"/>
                <a:gd name="T8" fmla="*/ 26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未知"/>
            <p:cNvSpPr>
              <a:spLocks/>
            </p:cNvSpPr>
            <p:nvPr/>
          </p:nvSpPr>
          <p:spPr bwMode="auto">
            <a:xfrm>
              <a:off x="1998" y="55"/>
              <a:ext cx="155" cy="63"/>
            </a:xfrm>
            <a:custGeom>
              <a:avLst/>
              <a:gdLst>
                <a:gd name="T0" fmla="*/ 144 w 206"/>
                <a:gd name="T1" fmla="*/ 5 h 85"/>
                <a:gd name="T2" fmla="*/ 78 w 206"/>
                <a:gd name="T3" fmla="*/ 7 h 85"/>
                <a:gd name="T4" fmla="*/ 82 w 206"/>
                <a:gd name="T5" fmla="*/ 19 h 85"/>
                <a:gd name="T6" fmla="*/ 81 w 206"/>
                <a:gd name="T7" fmla="*/ 24 h 85"/>
                <a:gd name="T8" fmla="*/ 67 w 206"/>
                <a:gd name="T9" fmla="*/ 20 h 85"/>
                <a:gd name="T10" fmla="*/ 58 w 206"/>
                <a:gd name="T11" fmla="*/ 14 h 85"/>
                <a:gd name="T12" fmla="*/ 17 w 206"/>
                <a:gd name="T13" fmla="*/ 20 h 85"/>
                <a:gd name="T14" fmla="*/ 23 w 206"/>
                <a:gd name="T15" fmla="*/ 36 h 85"/>
                <a:gd name="T16" fmla="*/ 41 w 206"/>
                <a:gd name="T17" fmla="*/ 39 h 85"/>
                <a:gd name="T18" fmla="*/ 56 w 206"/>
                <a:gd name="T19" fmla="*/ 54 h 85"/>
                <a:gd name="T20" fmla="*/ 67 w 206"/>
                <a:gd name="T21" fmla="*/ 63 h 85"/>
                <a:gd name="T22" fmla="*/ 82 w 206"/>
                <a:gd name="T23" fmla="*/ 50 h 85"/>
                <a:gd name="T24" fmla="*/ 91 w 206"/>
                <a:gd name="T25" fmla="*/ 44 h 85"/>
                <a:gd name="T26" fmla="*/ 96 w 206"/>
                <a:gd name="T27" fmla="*/ 35 h 85"/>
                <a:gd name="T28" fmla="*/ 126 w 206"/>
                <a:gd name="T29" fmla="*/ 26 h 85"/>
                <a:gd name="T30" fmla="*/ 141 w 206"/>
                <a:gd name="T31" fmla="*/ 23 h 85"/>
                <a:gd name="T32" fmla="*/ 150 w 206"/>
                <a:gd name="T33" fmla="*/ 20 h 85"/>
                <a:gd name="T34" fmla="*/ 144 w 206"/>
                <a:gd name="T35" fmla="*/ 5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未知"/>
            <p:cNvSpPr>
              <a:spLocks/>
            </p:cNvSpPr>
            <p:nvPr/>
          </p:nvSpPr>
          <p:spPr bwMode="auto">
            <a:xfrm>
              <a:off x="2095" y="88"/>
              <a:ext cx="48" cy="21"/>
            </a:xfrm>
            <a:custGeom>
              <a:avLst/>
              <a:gdLst>
                <a:gd name="T0" fmla="*/ 27 w 64"/>
                <a:gd name="T1" fmla="*/ 5 h 28"/>
                <a:gd name="T2" fmla="*/ 6 w 64"/>
                <a:gd name="T3" fmla="*/ 3 h 28"/>
                <a:gd name="T4" fmla="*/ 18 w 64"/>
                <a:gd name="T5" fmla="*/ 21 h 28"/>
                <a:gd name="T6" fmla="*/ 41 w 64"/>
                <a:gd name="T7" fmla="*/ 11 h 28"/>
                <a:gd name="T8" fmla="*/ 27 w 64"/>
                <a:gd name="T9" fmla="*/ 5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未知"/>
            <p:cNvSpPr>
              <a:spLocks/>
            </p:cNvSpPr>
            <p:nvPr/>
          </p:nvSpPr>
          <p:spPr bwMode="auto">
            <a:xfrm>
              <a:off x="1803" y="360"/>
              <a:ext cx="109" cy="132"/>
            </a:xfrm>
            <a:custGeom>
              <a:avLst/>
              <a:gdLst>
                <a:gd name="T0" fmla="*/ 18 w 146"/>
                <a:gd name="T1" fmla="*/ 14 h 176"/>
                <a:gd name="T2" fmla="*/ 0 w 146"/>
                <a:gd name="T3" fmla="*/ 19 h 176"/>
                <a:gd name="T4" fmla="*/ 10 w 146"/>
                <a:gd name="T5" fmla="*/ 32 h 176"/>
                <a:gd name="T6" fmla="*/ 25 w 146"/>
                <a:gd name="T7" fmla="*/ 65 h 176"/>
                <a:gd name="T8" fmla="*/ 39 w 146"/>
                <a:gd name="T9" fmla="*/ 68 h 176"/>
                <a:gd name="T10" fmla="*/ 37 w 146"/>
                <a:gd name="T11" fmla="*/ 80 h 176"/>
                <a:gd name="T12" fmla="*/ 21 w 146"/>
                <a:gd name="T13" fmla="*/ 85 h 176"/>
                <a:gd name="T14" fmla="*/ 12 w 146"/>
                <a:gd name="T15" fmla="*/ 98 h 176"/>
                <a:gd name="T16" fmla="*/ 13 w 146"/>
                <a:gd name="T17" fmla="*/ 103 h 176"/>
                <a:gd name="T18" fmla="*/ 22 w 146"/>
                <a:gd name="T19" fmla="*/ 106 h 176"/>
                <a:gd name="T20" fmla="*/ 13 w 146"/>
                <a:gd name="T21" fmla="*/ 127 h 176"/>
                <a:gd name="T22" fmla="*/ 15 w 146"/>
                <a:gd name="T23" fmla="*/ 131 h 176"/>
                <a:gd name="T24" fmla="*/ 25 w 146"/>
                <a:gd name="T25" fmla="*/ 128 h 176"/>
                <a:gd name="T26" fmla="*/ 43 w 146"/>
                <a:gd name="T27" fmla="*/ 127 h 176"/>
                <a:gd name="T28" fmla="*/ 69 w 146"/>
                <a:gd name="T29" fmla="*/ 128 h 176"/>
                <a:gd name="T30" fmla="*/ 82 w 146"/>
                <a:gd name="T31" fmla="*/ 127 h 176"/>
                <a:gd name="T32" fmla="*/ 91 w 146"/>
                <a:gd name="T33" fmla="*/ 124 h 176"/>
                <a:gd name="T34" fmla="*/ 96 w 146"/>
                <a:gd name="T35" fmla="*/ 106 h 176"/>
                <a:gd name="T36" fmla="*/ 109 w 146"/>
                <a:gd name="T37" fmla="*/ 100 h 176"/>
                <a:gd name="T38" fmla="*/ 82 w 146"/>
                <a:gd name="T39" fmla="*/ 82 h 176"/>
                <a:gd name="T40" fmla="*/ 66 w 146"/>
                <a:gd name="T41" fmla="*/ 62 h 176"/>
                <a:gd name="T42" fmla="*/ 61 w 146"/>
                <a:gd name="T43" fmla="*/ 52 h 176"/>
                <a:gd name="T44" fmla="*/ 48 w 146"/>
                <a:gd name="T45" fmla="*/ 46 h 176"/>
                <a:gd name="T46" fmla="*/ 64 w 146"/>
                <a:gd name="T47" fmla="*/ 34 h 176"/>
                <a:gd name="T48" fmla="*/ 48 w 146"/>
                <a:gd name="T49" fmla="*/ 23 h 176"/>
                <a:gd name="T50" fmla="*/ 52 w 146"/>
                <a:gd name="T51" fmla="*/ 10 h 176"/>
                <a:gd name="T52" fmla="*/ 34 w 146"/>
                <a:gd name="T53" fmla="*/ 1 h 176"/>
                <a:gd name="T54" fmla="*/ 22 w 146"/>
                <a:gd name="T55" fmla="*/ 7 h 176"/>
                <a:gd name="T56" fmla="*/ 18 w 146"/>
                <a:gd name="T57" fmla="*/ 14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未知"/>
            <p:cNvSpPr>
              <a:spLocks/>
            </p:cNvSpPr>
            <p:nvPr/>
          </p:nvSpPr>
          <p:spPr bwMode="auto">
            <a:xfrm>
              <a:off x="1749" y="408"/>
              <a:ext cx="69" cy="68"/>
            </a:xfrm>
            <a:custGeom>
              <a:avLst/>
              <a:gdLst>
                <a:gd name="T0" fmla="*/ 44 w 92"/>
                <a:gd name="T1" fmla="*/ 4 h 92"/>
                <a:gd name="T2" fmla="*/ 62 w 92"/>
                <a:gd name="T3" fmla="*/ 6 h 92"/>
                <a:gd name="T4" fmla="*/ 69 w 92"/>
                <a:gd name="T5" fmla="*/ 19 h 92"/>
                <a:gd name="T6" fmla="*/ 59 w 92"/>
                <a:gd name="T7" fmla="*/ 35 h 92"/>
                <a:gd name="T8" fmla="*/ 35 w 92"/>
                <a:gd name="T9" fmla="*/ 56 h 92"/>
                <a:gd name="T10" fmla="*/ 14 w 92"/>
                <a:gd name="T11" fmla="*/ 68 h 92"/>
                <a:gd name="T12" fmla="*/ 6 w 92"/>
                <a:gd name="T13" fmla="*/ 53 h 92"/>
                <a:gd name="T14" fmla="*/ 15 w 92"/>
                <a:gd name="T15" fmla="*/ 47 h 92"/>
                <a:gd name="T16" fmla="*/ 11 w 92"/>
                <a:gd name="T17" fmla="*/ 34 h 92"/>
                <a:gd name="T18" fmla="*/ 30 w 92"/>
                <a:gd name="T19" fmla="*/ 21 h 92"/>
                <a:gd name="T20" fmla="*/ 44 w 92"/>
                <a:gd name="T21" fmla="*/ 4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未知"/>
            <p:cNvSpPr>
              <a:spLocks/>
            </p:cNvSpPr>
            <p:nvPr/>
          </p:nvSpPr>
          <p:spPr bwMode="auto">
            <a:xfrm>
              <a:off x="3435" y="1551"/>
              <a:ext cx="474" cy="495"/>
            </a:xfrm>
            <a:custGeom>
              <a:avLst/>
              <a:gdLst>
                <a:gd name="T0" fmla="*/ 159 w 633"/>
                <a:gd name="T1" fmla="*/ 8 h 660"/>
                <a:gd name="T2" fmla="*/ 132 w 633"/>
                <a:gd name="T3" fmla="*/ 14 h 660"/>
                <a:gd name="T4" fmla="*/ 108 w 633"/>
                <a:gd name="T5" fmla="*/ 38 h 660"/>
                <a:gd name="T6" fmla="*/ 78 w 633"/>
                <a:gd name="T7" fmla="*/ 44 h 660"/>
                <a:gd name="T8" fmla="*/ 63 w 633"/>
                <a:gd name="T9" fmla="*/ 56 h 660"/>
                <a:gd name="T10" fmla="*/ 51 w 633"/>
                <a:gd name="T11" fmla="*/ 86 h 660"/>
                <a:gd name="T12" fmla="*/ 27 w 633"/>
                <a:gd name="T13" fmla="*/ 125 h 660"/>
                <a:gd name="T14" fmla="*/ 0 w 633"/>
                <a:gd name="T15" fmla="*/ 134 h 660"/>
                <a:gd name="T16" fmla="*/ 54 w 633"/>
                <a:gd name="T17" fmla="*/ 242 h 660"/>
                <a:gd name="T18" fmla="*/ 90 w 633"/>
                <a:gd name="T19" fmla="*/ 320 h 660"/>
                <a:gd name="T20" fmla="*/ 108 w 633"/>
                <a:gd name="T21" fmla="*/ 332 h 660"/>
                <a:gd name="T22" fmla="*/ 126 w 633"/>
                <a:gd name="T23" fmla="*/ 338 h 660"/>
                <a:gd name="T24" fmla="*/ 171 w 633"/>
                <a:gd name="T25" fmla="*/ 323 h 660"/>
                <a:gd name="T26" fmla="*/ 189 w 633"/>
                <a:gd name="T27" fmla="*/ 317 h 660"/>
                <a:gd name="T28" fmla="*/ 225 w 633"/>
                <a:gd name="T29" fmla="*/ 338 h 660"/>
                <a:gd name="T30" fmla="*/ 243 w 633"/>
                <a:gd name="T31" fmla="*/ 395 h 660"/>
                <a:gd name="T32" fmla="*/ 252 w 633"/>
                <a:gd name="T33" fmla="*/ 392 h 660"/>
                <a:gd name="T34" fmla="*/ 258 w 633"/>
                <a:gd name="T35" fmla="*/ 383 h 660"/>
                <a:gd name="T36" fmla="*/ 276 w 633"/>
                <a:gd name="T37" fmla="*/ 410 h 660"/>
                <a:gd name="T38" fmla="*/ 303 w 633"/>
                <a:gd name="T39" fmla="*/ 428 h 660"/>
                <a:gd name="T40" fmla="*/ 326 w 633"/>
                <a:gd name="T41" fmla="*/ 452 h 660"/>
                <a:gd name="T42" fmla="*/ 332 w 633"/>
                <a:gd name="T43" fmla="*/ 461 h 660"/>
                <a:gd name="T44" fmla="*/ 341 w 633"/>
                <a:gd name="T45" fmla="*/ 467 h 660"/>
                <a:gd name="T46" fmla="*/ 362 w 633"/>
                <a:gd name="T47" fmla="*/ 491 h 660"/>
                <a:gd name="T48" fmla="*/ 368 w 633"/>
                <a:gd name="T49" fmla="*/ 473 h 660"/>
                <a:gd name="T50" fmla="*/ 404 w 633"/>
                <a:gd name="T51" fmla="*/ 494 h 660"/>
                <a:gd name="T52" fmla="*/ 440 w 633"/>
                <a:gd name="T53" fmla="*/ 491 h 660"/>
                <a:gd name="T54" fmla="*/ 461 w 633"/>
                <a:gd name="T55" fmla="*/ 398 h 660"/>
                <a:gd name="T56" fmla="*/ 473 w 633"/>
                <a:gd name="T57" fmla="*/ 347 h 660"/>
                <a:gd name="T58" fmla="*/ 464 w 633"/>
                <a:gd name="T59" fmla="*/ 275 h 660"/>
                <a:gd name="T60" fmla="*/ 401 w 633"/>
                <a:gd name="T61" fmla="*/ 203 h 660"/>
                <a:gd name="T62" fmla="*/ 395 w 633"/>
                <a:gd name="T63" fmla="*/ 176 h 660"/>
                <a:gd name="T64" fmla="*/ 344 w 633"/>
                <a:gd name="T65" fmla="*/ 134 h 660"/>
                <a:gd name="T66" fmla="*/ 353 w 633"/>
                <a:gd name="T67" fmla="*/ 116 h 660"/>
                <a:gd name="T68" fmla="*/ 341 w 633"/>
                <a:gd name="T69" fmla="*/ 98 h 660"/>
                <a:gd name="T70" fmla="*/ 312 w 633"/>
                <a:gd name="T71" fmla="*/ 59 h 660"/>
                <a:gd name="T72" fmla="*/ 294 w 633"/>
                <a:gd name="T73" fmla="*/ 23 h 660"/>
                <a:gd name="T74" fmla="*/ 291 w 633"/>
                <a:gd name="T75" fmla="*/ 14 h 660"/>
                <a:gd name="T76" fmla="*/ 273 w 633"/>
                <a:gd name="T77" fmla="*/ 113 h 660"/>
                <a:gd name="T78" fmla="*/ 243 w 633"/>
                <a:gd name="T79" fmla="*/ 86 h 660"/>
                <a:gd name="T80" fmla="*/ 219 w 633"/>
                <a:gd name="T81" fmla="*/ 83 h 660"/>
                <a:gd name="T82" fmla="*/ 204 w 633"/>
                <a:gd name="T83" fmla="*/ 65 h 660"/>
                <a:gd name="T84" fmla="*/ 198 w 633"/>
                <a:gd name="T85" fmla="*/ 47 h 660"/>
                <a:gd name="T86" fmla="*/ 207 w 633"/>
                <a:gd name="T87" fmla="*/ 41 h 660"/>
                <a:gd name="T88" fmla="*/ 180 w 633"/>
                <a:gd name="T89" fmla="*/ 14 h 660"/>
                <a:gd name="T90" fmla="*/ 162 w 633"/>
                <a:gd name="T91" fmla="*/ 8 h 660"/>
                <a:gd name="T92" fmla="*/ 153 w 633"/>
                <a:gd name="T93" fmla="*/ 5 h 660"/>
                <a:gd name="T94" fmla="*/ 159 w 633"/>
                <a:gd name="T95" fmla="*/ 8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未知"/>
            <p:cNvSpPr>
              <a:spLocks/>
            </p:cNvSpPr>
            <p:nvPr/>
          </p:nvSpPr>
          <p:spPr bwMode="auto">
            <a:xfrm>
              <a:off x="3582" y="1290"/>
              <a:ext cx="319" cy="210"/>
            </a:xfrm>
            <a:custGeom>
              <a:avLst/>
              <a:gdLst>
                <a:gd name="T0" fmla="*/ 63 w 426"/>
                <a:gd name="T1" fmla="*/ 45 h 280"/>
                <a:gd name="T2" fmla="*/ 51 w 426"/>
                <a:gd name="T3" fmla="*/ 27 h 280"/>
                <a:gd name="T4" fmla="*/ 48 w 426"/>
                <a:gd name="T5" fmla="*/ 12 h 280"/>
                <a:gd name="T6" fmla="*/ 39 w 426"/>
                <a:gd name="T7" fmla="*/ 9 h 280"/>
                <a:gd name="T8" fmla="*/ 12 w 426"/>
                <a:gd name="T9" fmla="*/ 12 h 280"/>
                <a:gd name="T10" fmla="*/ 33 w 426"/>
                <a:gd name="T11" fmla="*/ 30 h 280"/>
                <a:gd name="T12" fmla="*/ 36 w 426"/>
                <a:gd name="T13" fmla="*/ 39 h 280"/>
                <a:gd name="T14" fmla="*/ 18 w 426"/>
                <a:gd name="T15" fmla="*/ 51 h 280"/>
                <a:gd name="T16" fmla="*/ 66 w 426"/>
                <a:gd name="T17" fmla="*/ 69 h 280"/>
                <a:gd name="T18" fmla="*/ 93 w 426"/>
                <a:gd name="T19" fmla="*/ 84 h 280"/>
                <a:gd name="T20" fmla="*/ 96 w 426"/>
                <a:gd name="T21" fmla="*/ 93 h 280"/>
                <a:gd name="T22" fmla="*/ 105 w 426"/>
                <a:gd name="T23" fmla="*/ 99 h 280"/>
                <a:gd name="T24" fmla="*/ 111 w 426"/>
                <a:gd name="T25" fmla="*/ 117 h 280"/>
                <a:gd name="T26" fmla="*/ 99 w 426"/>
                <a:gd name="T27" fmla="*/ 147 h 280"/>
                <a:gd name="T28" fmla="*/ 135 w 426"/>
                <a:gd name="T29" fmla="*/ 141 h 280"/>
                <a:gd name="T30" fmla="*/ 144 w 426"/>
                <a:gd name="T31" fmla="*/ 162 h 280"/>
                <a:gd name="T32" fmla="*/ 162 w 426"/>
                <a:gd name="T33" fmla="*/ 168 h 280"/>
                <a:gd name="T34" fmla="*/ 171 w 426"/>
                <a:gd name="T35" fmla="*/ 171 h 280"/>
                <a:gd name="T36" fmla="*/ 189 w 426"/>
                <a:gd name="T37" fmla="*/ 168 h 280"/>
                <a:gd name="T38" fmla="*/ 207 w 426"/>
                <a:gd name="T39" fmla="*/ 147 h 280"/>
                <a:gd name="T40" fmla="*/ 252 w 426"/>
                <a:gd name="T41" fmla="*/ 189 h 280"/>
                <a:gd name="T42" fmla="*/ 273 w 426"/>
                <a:gd name="T43" fmla="*/ 210 h 280"/>
                <a:gd name="T44" fmla="*/ 270 w 426"/>
                <a:gd name="T45" fmla="*/ 168 h 280"/>
                <a:gd name="T46" fmla="*/ 252 w 426"/>
                <a:gd name="T47" fmla="*/ 150 h 280"/>
                <a:gd name="T48" fmla="*/ 279 w 426"/>
                <a:gd name="T49" fmla="*/ 126 h 280"/>
                <a:gd name="T50" fmla="*/ 306 w 426"/>
                <a:gd name="T51" fmla="*/ 117 h 280"/>
                <a:gd name="T52" fmla="*/ 315 w 426"/>
                <a:gd name="T53" fmla="*/ 114 h 280"/>
                <a:gd name="T54" fmla="*/ 318 w 426"/>
                <a:gd name="T55" fmla="*/ 105 h 280"/>
                <a:gd name="T56" fmla="*/ 267 w 426"/>
                <a:gd name="T57" fmla="*/ 111 h 280"/>
                <a:gd name="T58" fmla="*/ 228 w 426"/>
                <a:gd name="T59" fmla="*/ 105 h 280"/>
                <a:gd name="T60" fmla="*/ 225 w 426"/>
                <a:gd name="T61" fmla="*/ 96 h 280"/>
                <a:gd name="T62" fmla="*/ 219 w 426"/>
                <a:gd name="T63" fmla="*/ 87 h 280"/>
                <a:gd name="T64" fmla="*/ 165 w 426"/>
                <a:gd name="T65" fmla="*/ 60 h 280"/>
                <a:gd name="T66" fmla="*/ 120 w 426"/>
                <a:gd name="T67" fmla="*/ 45 h 280"/>
                <a:gd name="T68" fmla="*/ 102 w 426"/>
                <a:gd name="T69" fmla="*/ 39 h 280"/>
                <a:gd name="T70" fmla="*/ 60 w 426"/>
                <a:gd name="T71" fmla="*/ 39 h 280"/>
                <a:gd name="T72" fmla="*/ 51 w 426"/>
                <a:gd name="T73" fmla="*/ 24 h 280"/>
                <a:gd name="T74" fmla="*/ 5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未知"/>
            <p:cNvSpPr>
              <a:spLocks/>
            </p:cNvSpPr>
            <p:nvPr/>
          </p:nvSpPr>
          <p:spPr bwMode="auto">
            <a:xfrm>
              <a:off x="3591" y="1292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15 w 416"/>
                <a:gd name="T3" fmla="*/ 28 h 282"/>
                <a:gd name="T4" fmla="*/ 21 w 416"/>
                <a:gd name="T5" fmla="*/ 37 h 282"/>
                <a:gd name="T6" fmla="*/ 63 w 416"/>
                <a:gd name="T7" fmla="*/ 67 h 282"/>
                <a:gd name="T8" fmla="*/ 90 w 416"/>
                <a:gd name="T9" fmla="*/ 85 h 282"/>
                <a:gd name="T10" fmla="*/ 99 w 416"/>
                <a:gd name="T11" fmla="*/ 91 h 282"/>
                <a:gd name="T12" fmla="*/ 102 w 416"/>
                <a:gd name="T13" fmla="*/ 126 h 282"/>
                <a:gd name="T14" fmla="*/ 87 w 416"/>
                <a:gd name="T15" fmla="*/ 150 h 282"/>
                <a:gd name="T16" fmla="*/ 102 w 416"/>
                <a:gd name="T17" fmla="*/ 147 h 282"/>
                <a:gd name="T18" fmla="*/ 111 w 416"/>
                <a:gd name="T19" fmla="*/ 141 h 282"/>
                <a:gd name="T20" fmla="*/ 120 w 416"/>
                <a:gd name="T21" fmla="*/ 150 h 282"/>
                <a:gd name="T22" fmla="*/ 138 w 416"/>
                <a:gd name="T23" fmla="*/ 162 h 282"/>
                <a:gd name="T24" fmla="*/ 156 w 416"/>
                <a:gd name="T25" fmla="*/ 174 h 282"/>
                <a:gd name="T26" fmla="*/ 179 w 416"/>
                <a:gd name="T27" fmla="*/ 165 h 282"/>
                <a:gd name="T28" fmla="*/ 185 w 416"/>
                <a:gd name="T29" fmla="*/ 147 h 282"/>
                <a:gd name="T30" fmla="*/ 200 w 416"/>
                <a:gd name="T31" fmla="*/ 150 h 282"/>
                <a:gd name="T32" fmla="*/ 218 w 416"/>
                <a:gd name="T33" fmla="*/ 156 h 282"/>
                <a:gd name="T34" fmla="*/ 254 w 416"/>
                <a:gd name="T35" fmla="*/ 210 h 282"/>
                <a:gd name="T36" fmla="*/ 266 w 416"/>
                <a:gd name="T37" fmla="*/ 207 h 282"/>
                <a:gd name="T38" fmla="*/ 263 w 416"/>
                <a:gd name="T39" fmla="*/ 189 h 282"/>
                <a:gd name="T40" fmla="*/ 236 w 416"/>
                <a:gd name="T41" fmla="*/ 147 h 282"/>
                <a:gd name="T42" fmla="*/ 269 w 416"/>
                <a:gd name="T43" fmla="*/ 129 h 282"/>
                <a:gd name="T44" fmla="*/ 305 w 416"/>
                <a:gd name="T45" fmla="*/ 108 h 282"/>
                <a:gd name="T46" fmla="*/ 306 w 416"/>
                <a:gd name="T47" fmla="*/ 90 h 282"/>
                <a:gd name="T48" fmla="*/ 274 w 416"/>
                <a:gd name="T49" fmla="*/ 103 h 282"/>
                <a:gd name="T50" fmla="*/ 230 w 416"/>
                <a:gd name="T51" fmla="*/ 103 h 282"/>
                <a:gd name="T52" fmla="*/ 197 w 416"/>
                <a:gd name="T53" fmla="*/ 73 h 282"/>
                <a:gd name="T54" fmla="*/ 135 w 416"/>
                <a:gd name="T55" fmla="*/ 46 h 282"/>
                <a:gd name="T56" fmla="*/ 99 w 416"/>
                <a:gd name="T57" fmla="*/ 25 h 282"/>
                <a:gd name="T58" fmla="*/ 69 w 416"/>
                <a:gd name="T59" fmla="*/ 31 h 282"/>
                <a:gd name="T60" fmla="*/ 57 w 416"/>
                <a:gd name="T61" fmla="*/ 43 h 282"/>
                <a:gd name="T62" fmla="*/ 42 w 416"/>
                <a:gd name="T63" fmla="*/ 13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未知"/>
            <p:cNvSpPr>
              <a:spLocks/>
            </p:cNvSpPr>
            <p:nvPr/>
          </p:nvSpPr>
          <p:spPr bwMode="auto">
            <a:xfrm>
              <a:off x="3821" y="2062"/>
              <a:ext cx="45" cy="58"/>
            </a:xfrm>
            <a:custGeom>
              <a:avLst/>
              <a:gdLst>
                <a:gd name="T0" fmla="*/ 24 w 60"/>
                <a:gd name="T1" fmla="*/ 13 h 78"/>
                <a:gd name="T2" fmla="*/ 0 w 60"/>
                <a:gd name="T3" fmla="*/ 13 h 78"/>
                <a:gd name="T4" fmla="*/ 15 w 60"/>
                <a:gd name="T5" fmla="*/ 31 h 78"/>
                <a:gd name="T6" fmla="*/ 21 w 60"/>
                <a:gd name="T7" fmla="*/ 49 h 78"/>
                <a:gd name="T8" fmla="*/ 24 w 60"/>
                <a:gd name="T9" fmla="*/ 58 h 78"/>
                <a:gd name="T10" fmla="*/ 45 w 60"/>
                <a:gd name="T11" fmla="*/ 37 h 78"/>
                <a:gd name="T12" fmla="*/ 24 w 60"/>
                <a:gd name="T13" fmla="*/ 13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未知"/>
            <p:cNvSpPr>
              <a:spLocks/>
            </p:cNvSpPr>
            <p:nvPr/>
          </p:nvSpPr>
          <p:spPr bwMode="auto">
            <a:xfrm>
              <a:off x="3957" y="1972"/>
              <a:ext cx="164" cy="85"/>
            </a:xfrm>
            <a:custGeom>
              <a:avLst/>
              <a:gdLst>
                <a:gd name="T0" fmla="*/ 35 w 219"/>
                <a:gd name="T1" fmla="*/ 55 h 113"/>
                <a:gd name="T2" fmla="*/ 29 w 219"/>
                <a:gd name="T3" fmla="*/ 46 h 113"/>
                <a:gd name="T4" fmla="*/ 11 w 219"/>
                <a:gd name="T5" fmla="*/ 52 h 113"/>
                <a:gd name="T6" fmla="*/ 29 w 219"/>
                <a:gd name="T7" fmla="*/ 85 h 113"/>
                <a:gd name="T8" fmla="*/ 92 w 219"/>
                <a:gd name="T9" fmla="*/ 67 h 113"/>
                <a:gd name="T10" fmla="*/ 110 w 219"/>
                <a:gd name="T11" fmla="*/ 55 h 113"/>
                <a:gd name="T12" fmla="*/ 128 w 219"/>
                <a:gd name="T13" fmla="*/ 49 h 113"/>
                <a:gd name="T14" fmla="*/ 164 w 219"/>
                <a:gd name="T15" fmla="*/ 14 h 113"/>
                <a:gd name="T16" fmla="*/ 157 w 219"/>
                <a:gd name="T17" fmla="*/ 0 h 113"/>
                <a:gd name="T18" fmla="*/ 134 w 219"/>
                <a:gd name="T19" fmla="*/ 13 h 113"/>
                <a:gd name="T20" fmla="*/ 80 w 219"/>
                <a:gd name="T21" fmla="*/ 31 h 113"/>
                <a:gd name="T22" fmla="*/ 62 w 219"/>
                <a:gd name="T23" fmla="*/ 34 h 113"/>
                <a:gd name="T24" fmla="*/ 44 w 219"/>
                <a:gd name="T25" fmla="*/ 40 h 113"/>
                <a:gd name="T26" fmla="*/ 35 w 219"/>
                <a:gd name="T27" fmla="*/ 55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未知"/>
            <p:cNvSpPr>
              <a:spLocks/>
            </p:cNvSpPr>
            <p:nvPr/>
          </p:nvSpPr>
          <p:spPr bwMode="auto">
            <a:xfrm>
              <a:off x="4127" y="1922"/>
              <a:ext cx="104" cy="92"/>
            </a:xfrm>
            <a:custGeom>
              <a:avLst/>
              <a:gdLst>
                <a:gd name="T0" fmla="*/ 9 w 139"/>
                <a:gd name="T1" fmla="*/ 45 h 122"/>
                <a:gd name="T2" fmla="*/ 6 w 139"/>
                <a:gd name="T3" fmla="*/ 63 h 122"/>
                <a:gd name="T4" fmla="*/ 0 w 139"/>
                <a:gd name="T5" fmla="*/ 81 h 122"/>
                <a:gd name="T6" fmla="*/ 27 w 139"/>
                <a:gd name="T7" fmla="*/ 87 h 122"/>
                <a:gd name="T8" fmla="*/ 39 w 139"/>
                <a:gd name="T9" fmla="*/ 72 h 122"/>
                <a:gd name="T10" fmla="*/ 93 w 139"/>
                <a:gd name="T11" fmla="*/ 51 h 122"/>
                <a:gd name="T12" fmla="*/ 102 w 139"/>
                <a:gd name="T13" fmla="*/ 33 h 122"/>
                <a:gd name="T14" fmla="*/ 84 w 139"/>
                <a:gd name="T15" fmla="*/ 21 h 122"/>
                <a:gd name="T16" fmla="*/ 75 w 139"/>
                <a:gd name="T17" fmla="*/ 15 h 122"/>
                <a:gd name="T18" fmla="*/ 48 w 139"/>
                <a:gd name="T19" fmla="*/ 9 h 122"/>
                <a:gd name="T20" fmla="*/ 39 w 139"/>
                <a:gd name="T21" fmla="*/ 27 h 122"/>
                <a:gd name="T22" fmla="*/ 9 w 139"/>
                <a:gd name="T23" fmla="*/ 45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未知"/>
            <p:cNvSpPr>
              <a:spLocks/>
            </p:cNvSpPr>
            <p:nvPr/>
          </p:nvSpPr>
          <p:spPr bwMode="auto">
            <a:xfrm>
              <a:off x="4182" y="1881"/>
              <a:ext cx="37" cy="26"/>
            </a:xfrm>
            <a:custGeom>
              <a:avLst/>
              <a:gdLst>
                <a:gd name="T0" fmla="*/ 22 w 49"/>
                <a:gd name="T1" fmla="*/ 0 h 35"/>
                <a:gd name="T2" fmla="*/ 6 w 49"/>
                <a:gd name="T3" fmla="*/ 8 h 35"/>
                <a:gd name="T4" fmla="*/ 18 w 49"/>
                <a:gd name="T5" fmla="*/ 26 h 35"/>
                <a:gd name="T6" fmla="*/ 29 w 49"/>
                <a:gd name="T7" fmla="*/ 19 h 35"/>
                <a:gd name="T8" fmla="*/ 22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未知"/>
            <p:cNvSpPr>
              <a:spLocks/>
            </p:cNvSpPr>
            <p:nvPr/>
          </p:nvSpPr>
          <p:spPr bwMode="auto">
            <a:xfrm>
              <a:off x="2459" y="1395"/>
              <a:ext cx="123" cy="201"/>
            </a:xfrm>
            <a:custGeom>
              <a:avLst/>
              <a:gdLst>
                <a:gd name="T0" fmla="*/ 96 w 164"/>
                <a:gd name="T1" fmla="*/ 0 h 268"/>
                <a:gd name="T2" fmla="*/ 78 w 164"/>
                <a:gd name="T3" fmla="*/ 21 h 268"/>
                <a:gd name="T4" fmla="*/ 66 w 164"/>
                <a:gd name="T5" fmla="*/ 48 h 268"/>
                <a:gd name="T6" fmla="*/ 27 w 164"/>
                <a:gd name="T7" fmla="*/ 63 h 268"/>
                <a:gd name="T8" fmla="*/ 21 w 164"/>
                <a:gd name="T9" fmla="*/ 72 h 268"/>
                <a:gd name="T10" fmla="*/ 12 w 164"/>
                <a:gd name="T11" fmla="*/ 75 h 268"/>
                <a:gd name="T12" fmla="*/ 15 w 164"/>
                <a:gd name="T13" fmla="*/ 99 h 268"/>
                <a:gd name="T14" fmla="*/ 21 w 164"/>
                <a:gd name="T15" fmla="*/ 117 h 268"/>
                <a:gd name="T16" fmla="*/ 0 w 164"/>
                <a:gd name="T17" fmla="*/ 150 h 268"/>
                <a:gd name="T18" fmla="*/ 21 w 164"/>
                <a:gd name="T19" fmla="*/ 195 h 268"/>
                <a:gd name="T20" fmla="*/ 39 w 164"/>
                <a:gd name="T21" fmla="*/ 201 h 268"/>
                <a:gd name="T22" fmla="*/ 66 w 164"/>
                <a:gd name="T23" fmla="*/ 162 h 268"/>
                <a:gd name="T24" fmla="*/ 78 w 164"/>
                <a:gd name="T25" fmla="*/ 144 h 268"/>
                <a:gd name="T26" fmla="*/ 96 w 164"/>
                <a:gd name="T27" fmla="*/ 87 h 268"/>
                <a:gd name="T28" fmla="*/ 105 w 164"/>
                <a:gd name="T29" fmla="*/ 57 h 268"/>
                <a:gd name="T30" fmla="*/ 123 w 164"/>
                <a:gd name="T31" fmla="*/ 54 h 268"/>
                <a:gd name="T32" fmla="*/ 96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未知"/>
            <p:cNvSpPr>
              <a:spLocks/>
            </p:cNvSpPr>
            <p:nvPr/>
          </p:nvSpPr>
          <p:spPr bwMode="auto">
            <a:xfrm>
              <a:off x="2991" y="1083"/>
              <a:ext cx="49" cy="61"/>
            </a:xfrm>
            <a:custGeom>
              <a:avLst/>
              <a:gdLst>
                <a:gd name="T0" fmla="*/ 22 w 66"/>
                <a:gd name="T1" fmla="*/ 0 h 81"/>
                <a:gd name="T2" fmla="*/ 19 w 66"/>
                <a:gd name="T3" fmla="*/ 45 h 81"/>
                <a:gd name="T4" fmla="*/ 22 w 66"/>
                <a:gd name="T5" fmla="*/ 57 h 81"/>
                <a:gd name="T6" fmla="*/ 30 w 66"/>
                <a:gd name="T7" fmla="*/ 60 h 81"/>
                <a:gd name="T8" fmla="*/ 42 w 66"/>
                <a:gd name="T9" fmla="*/ 57 h 81"/>
                <a:gd name="T10" fmla="*/ 2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未知"/>
            <p:cNvSpPr>
              <a:spLocks/>
            </p:cNvSpPr>
            <p:nvPr/>
          </p:nvSpPr>
          <p:spPr bwMode="auto">
            <a:xfrm>
              <a:off x="3324" y="1149"/>
              <a:ext cx="111" cy="183"/>
            </a:xfrm>
            <a:custGeom>
              <a:avLst/>
              <a:gdLst>
                <a:gd name="T0" fmla="*/ 72 w 148"/>
                <a:gd name="T1" fmla="*/ 0 h 244"/>
                <a:gd name="T2" fmla="*/ 45 w 148"/>
                <a:gd name="T3" fmla="*/ 63 h 244"/>
                <a:gd name="T4" fmla="*/ 27 w 148"/>
                <a:gd name="T5" fmla="*/ 69 h 244"/>
                <a:gd name="T6" fmla="*/ 9 w 148"/>
                <a:gd name="T7" fmla="*/ 81 h 244"/>
                <a:gd name="T8" fmla="*/ 30 w 148"/>
                <a:gd name="T9" fmla="*/ 141 h 244"/>
                <a:gd name="T10" fmla="*/ 39 w 148"/>
                <a:gd name="T11" fmla="*/ 168 h 244"/>
                <a:gd name="T12" fmla="*/ 45 w 148"/>
                <a:gd name="T13" fmla="*/ 177 h 244"/>
                <a:gd name="T14" fmla="*/ 63 w 148"/>
                <a:gd name="T15" fmla="*/ 183 h 244"/>
                <a:gd name="T16" fmla="*/ 72 w 148"/>
                <a:gd name="T17" fmla="*/ 147 h 244"/>
                <a:gd name="T18" fmla="*/ 93 w 148"/>
                <a:gd name="T19" fmla="*/ 126 h 244"/>
                <a:gd name="T20" fmla="*/ 84 w 148"/>
                <a:gd name="T21" fmla="*/ 51 h 244"/>
                <a:gd name="T22" fmla="*/ 105 w 148"/>
                <a:gd name="T23" fmla="*/ 36 h 244"/>
                <a:gd name="T24" fmla="*/ 84 w 148"/>
                <a:gd name="T25" fmla="*/ 15 h 244"/>
                <a:gd name="T26" fmla="*/ 7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未知"/>
            <p:cNvSpPr>
              <a:spLocks/>
            </p:cNvSpPr>
            <p:nvPr/>
          </p:nvSpPr>
          <p:spPr bwMode="auto">
            <a:xfrm>
              <a:off x="3230" y="1092"/>
              <a:ext cx="72" cy="137"/>
            </a:xfrm>
            <a:custGeom>
              <a:avLst/>
              <a:gdLst>
                <a:gd name="T0" fmla="*/ 36 w 96"/>
                <a:gd name="T1" fmla="*/ 1 h 183"/>
                <a:gd name="T2" fmla="*/ 38 w 96"/>
                <a:gd name="T3" fmla="*/ 26 h 183"/>
                <a:gd name="T4" fmla="*/ 45 w 96"/>
                <a:gd name="T5" fmla="*/ 46 h 183"/>
                <a:gd name="T6" fmla="*/ 47 w 96"/>
                <a:gd name="T7" fmla="*/ 69 h 183"/>
                <a:gd name="T8" fmla="*/ 51 w 96"/>
                <a:gd name="T9" fmla="*/ 79 h 183"/>
                <a:gd name="T10" fmla="*/ 53 w 96"/>
                <a:gd name="T11" fmla="*/ 94 h 183"/>
                <a:gd name="T12" fmla="*/ 43 w 96"/>
                <a:gd name="T13" fmla="*/ 70 h 183"/>
                <a:gd name="T14" fmla="*/ 26 w 96"/>
                <a:gd name="T15" fmla="*/ 58 h 183"/>
                <a:gd name="T16" fmla="*/ 4 w 96"/>
                <a:gd name="T17" fmla="*/ 62 h 183"/>
                <a:gd name="T18" fmla="*/ 6 w 96"/>
                <a:gd name="T19" fmla="*/ 76 h 183"/>
                <a:gd name="T20" fmla="*/ 31 w 96"/>
                <a:gd name="T21" fmla="*/ 85 h 183"/>
                <a:gd name="T22" fmla="*/ 43 w 96"/>
                <a:gd name="T23" fmla="*/ 101 h 183"/>
                <a:gd name="T24" fmla="*/ 53 w 96"/>
                <a:gd name="T25" fmla="*/ 101 h 183"/>
                <a:gd name="T26" fmla="*/ 59 w 96"/>
                <a:gd name="T27" fmla="*/ 112 h 183"/>
                <a:gd name="T28" fmla="*/ 72 w 96"/>
                <a:gd name="T29" fmla="*/ 134 h 183"/>
                <a:gd name="T30" fmla="*/ 61 w 96"/>
                <a:gd name="T31" fmla="*/ 94 h 183"/>
                <a:gd name="T32" fmla="*/ 60 w 96"/>
                <a:gd name="T33" fmla="*/ 70 h 183"/>
                <a:gd name="T34" fmla="*/ 53 w 96"/>
                <a:gd name="T35" fmla="*/ 47 h 183"/>
                <a:gd name="T36" fmla="*/ 47 w 96"/>
                <a:gd name="T37" fmla="*/ 31 h 183"/>
                <a:gd name="T38" fmla="*/ 43 w 96"/>
                <a:gd name="T39" fmla="*/ 15 h 183"/>
                <a:gd name="T40" fmla="*/ 3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未知"/>
            <p:cNvSpPr>
              <a:spLocks/>
            </p:cNvSpPr>
            <p:nvPr/>
          </p:nvSpPr>
          <p:spPr bwMode="auto">
            <a:xfrm>
              <a:off x="3279" y="1202"/>
              <a:ext cx="40" cy="131"/>
            </a:xfrm>
            <a:custGeom>
              <a:avLst/>
              <a:gdLst>
                <a:gd name="T0" fmla="*/ 4 w 54"/>
                <a:gd name="T1" fmla="*/ 0 h 175"/>
                <a:gd name="T2" fmla="*/ 0 w 54"/>
                <a:gd name="T3" fmla="*/ 19 h 175"/>
                <a:gd name="T4" fmla="*/ 7 w 54"/>
                <a:gd name="T5" fmla="*/ 40 h 175"/>
                <a:gd name="T6" fmla="*/ 13 w 54"/>
                <a:gd name="T7" fmla="*/ 70 h 175"/>
                <a:gd name="T8" fmla="*/ 25 w 54"/>
                <a:gd name="T9" fmla="*/ 97 h 175"/>
                <a:gd name="T10" fmla="*/ 40 w 54"/>
                <a:gd name="T11" fmla="*/ 131 h 175"/>
                <a:gd name="T12" fmla="*/ 30 w 54"/>
                <a:gd name="T13" fmla="*/ 86 h 175"/>
                <a:gd name="T14" fmla="*/ 25 w 54"/>
                <a:gd name="T15" fmla="*/ 70 h 175"/>
                <a:gd name="T16" fmla="*/ 21 w 54"/>
                <a:gd name="T17" fmla="*/ 46 h 175"/>
                <a:gd name="T18" fmla="*/ 19 w 54"/>
                <a:gd name="T19" fmla="*/ 34 h 175"/>
                <a:gd name="T20" fmla="*/ 12 w 54"/>
                <a:gd name="T21" fmla="*/ 28 h 175"/>
                <a:gd name="T22" fmla="*/ 4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未知"/>
            <p:cNvSpPr>
              <a:spLocks/>
            </p:cNvSpPr>
            <p:nvPr/>
          </p:nvSpPr>
          <p:spPr bwMode="auto">
            <a:xfrm>
              <a:off x="3324" y="1339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6 w 86"/>
                <a:gd name="T3" fmla="*/ 25 h 73"/>
                <a:gd name="T4" fmla="*/ 17 w 86"/>
                <a:gd name="T5" fmla="*/ 32 h 73"/>
                <a:gd name="T6" fmla="*/ 36 w 86"/>
                <a:gd name="T7" fmla="*/ 36 h 73"/>
                <a:gd name="T8" fmla="*/ 47 w 86"/>
                <a:gd name="T9" fmla="*/ 42 h 73"/>
                <a:gd name="T10" fmla="*/ 56 w 86"/>
                <a:gd name="T11" fmla="*/ 49 h 73"/>
                <a:gd name="T12" fmla="*/ 65 w 86"/>
                <a:gd name="T13" fmla="*/ 51 h 73"/>
                <a:gd name="T14" fmla="*/ 54 w 86"/>
                <a:gd name="T15" fmla="*/ 29 h 73"/>
                <a:gd name="T16" fmla="*/ 48 w 86"/>
                <a:gd name="T17" fmla="*/ 16 h 73"/>
                <a:gd name="T18" fmla="*/ 27 w 86"/>
                <a:gd name="T19" fmla="*/ 18 h 73"/>
                <a:gd name="T20" fmla="*/ 18 w 86"/>
                <a:gd name="T21" fmla="*/ 14 h 73"/>
                <a:gd name="T22" fmla="*/ 5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未知"/>
            <p:cNvSpPr>
              <a:spLocks/>
            </p:cNvSpPr>
            <p:nvPr/>
          </p:nvSpPr>
          <p:spPr bwMode="auto">
            <a:xfrm>
              <a:off x="3428" y="1244"/>
              <a:ext cx="83" cy="117"/>
            </a:xfrm>
            <a:custGeom>
              <a:avLst/>
              <a:gdLst>
                <a:gd name="T0" fmla="*/ 73 w 111"/>
                <a:gd name="T1" fmla="*/ 0 h 156"/>
                <a:gd name="T2" fmla="*/ 56 w 111"/>
                <a:gd name="T3" fmla="*/ 8 h 156"/>
                <a:gd name="T4" fmla="*/ 17 w 111"/>
                <a:gd name="T5" fmla="*/ 11 h 156"/>
                <a:gd name="T6" fmla="*/ 10 w 111"/>
                <a:gd name="T7" fmla="*/ 25 h 156"/>
                <a:gd name="T8" fmla="*/ 8 w 111"/>
                <a:gd name="T9" fmla="*/ 46 h 156"/>
                <a:gd name="T10" fmla="*/ 10 w 111"/>
                <a:gd name="T11" fmla="*/ 56 h 156"/>
                <a:gd name="T12" fmla="*/ 2 w 111"/>
                <a:gd name="T13" fmla="*/ 66 h 156"/>
                <a:gd name="T14" fmla="*/ 10 w 111"/>
                <a:gd name="T15" fmla="*/ 82 h 156"/>
                <a:gd name="T16" fmla="*/ 17 w 111"/>
                <a:gd name="T17" fmla="*/ 93 h 156"/>
                <a:gd name="T18" fmla="*/ 11 w 111"/>
                <a:gd name="T19" fmla="*/ 108 h 156"/>
                <a:gd name="T20" fmla="*/ 18 w 111"/>
                <a:gd name="T21" fmla="*/ 117 h 156"/>
                <a:gd name="T22" fmla="*/ 31 w 111"/>
                <a:gd name="T23" fmla="*/ 108 h 156"/>
                <a:gd name="T24" fmla="*/ 37 w 111"/>
                <a:gd name="T25" fmla="*/ 70 h 156"/>
                <a:gd name="T26" fmla="*/ 42 w 111"/>
                <a:gd name="T27" fmla="*/ 95 h 156"/>
                <a:gd name="T28" fmla="*/ 49 w 111"/>
                <a:gd name="T29" fmla="*/ 109 h 156"/>
                <a:gd name="T30" fmla="*/ 46 w 111"/>
                <a:gd name="T31" fmla="*/ 84 h 156"/>
                <a:gd name="T32" fmla="*/ 54 w 111"/>
                <a:gd name="T33" fmla="*/ 55 h 156"/>
                <a:gd name="T34" fmla="*/ 52 w 111"/>
                <a:gd name="T35" fmla="*/ 38 h 156"/>
                <a:gd name="T36" fmla="*/ 40 w 111"/>
                <a:gd name="T37" fmla="*/ 45 h 156"/>
                <a:gd name="T38" fmla="*/ 26 w 111"/>
                <a:gd name="T39" fmla="*/ 41 h 156"/>
                <a:gd name="T40" fmla="*/ 31 w 111"/>
                <a:gd name="T41" fmla="*/ 27 h 156"/>
                <a:gd name="T42" fmla="*/ 46 w 111"/>
                <a:gd name="T43" fmla="*/ 26 h 156"/>
                <a:gd name="T44" fmla="*/ 58 w 111"/>
                <a:gd name="T45" fmla="*/ 29 h 156"/>
                <a:gd name="T46" fmla="*/ 73 w 111"/>
                <a:gd name="T47" fmla="*/ 23 h 156"/>
                <a:gd name="T48" fmla="*/ 83 w 111"/>
                <a:gd name="T49" fmla="*/ 10 h 156"/>
                <a:gd name="T50" fmla="*/ 7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未知"/>
            <p:cNvSpPr>
              <a:spLocks/>
            </p:cNvSpPr>
            <p:nvPr/>
          </p:nvSpPr>
          <p:spPr bwMode="auto">
            <a:xfrm>
              <a:off x="3400" y="826"/>
              <a:ext cx="22" cy="71"/>
            </a:xfrm>
            <a:custGeom>
              <a:avLst/>
              <a:gdLst>
                <a:gd name="T0" fmla="*/ 9 w 30"/>
                <a:gd name="T1" fmla="*/ 0 h 94"/>
                <a:gd name="T2" fmla="*/ 0 w 30"/>
                <a:gd name="T3" fmla="*/ 12 h 94"/>
                <a:gd name="T4" fmla="*/ 4 w 30"/>
                <a:gd name="T5" fmla="*/ 28 h 94"/>
                <a:gd name="T6" fmla="*/ 1 w 30"/>
                <a:gd name="T7" fmla="*/ 46 h 94"/>
                <a:gd name="T8" fmla="*/ 12 w 30"/>
                <a:gd name="T9" fmla="*/ 71 h 94"/>
                <a:gd name="T10" fmla="*/ 22 w 30"/>
                <a:gd name="T11" fmla="*/ 62 h 94"/>
                <a:gd name="T12" fmla="*/ 16 w 30"/>
                <a:gd name="T13" fmla="*/ 46 h 94"/>
                <a:gd name="T14" fmla="*/ 9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未知"/>
            <p:cNvSpPr>
              <a:spLocks/>
            </p:cNvSpPr>
            <p:nvPr/>
          </p:nvSpPr>
          <p:spPr bwMode="auto">
            <a:xfrm>
              <a:off x="3414" y="945"/>
              <a:ext cx="61" cy="118"/>
            </a:xfrm>
            <a:custGeom>
              <a:avLst/>
              <a:gdLst>
                <a:gd name="T0" fmla="*/ 9 w 81"/>
                <a:gd name="T1" fmla="*/ 1 h 158"/>
                <a:gd name="T2" fmla="*/ 0 w 81"/>
                <a:gd name="T3" fmla="*/ 15 h 158"/>
                <a:gd name="T4" fmla="*/ 6 w 81"/>
                <a:gd name="T5" fmla="*/ 37 h 158"/>
                <a:gd name="T6" fmla="*/ 5 w 81"/>
                <a:gd name="T7" fmla="*/ 80 h 158"/>
                <a:gd name="T8" fmla="*/ 13 w 81"/>
                <a:gd name="T9" fmla="*/ 77 h 158"/>
                <a:gd name="T10" fmla="*/ 15 w 81"/>
                <a:gd name="T11" fmla="*/ 86 h 158"/>
                <a:gd name="T12" fmla="*/ 22 w 81"/>
                <a:gd name="T13" fmla="*/ 91 h 158"/>
                <a:gd name="T14" fmla="*/ 29 w 81"/>
                <a:gd name="T15" fmla="*/ 105 h 158"/>
                <a:gd name="T16" fmla="*/ 36 w 81"/>
                <a:gd name="T17" fmla="*/ 96 h 158"/>
                <a:gd name="T18" fmla="*/ 49 w 81"/>
                <a:gd name="T19" fmla="*/ 100 h 158"/>
                <a:gd name="T20" fmla="*/ 47 w 81"/>
                <a:gd name="T21" fmla="*/ 81 h 158"/>
                <a:gd name="T22" fmla="*/ 36 w 81"/>
                <a:gd name="T23" fmla="*/ 78 h 158"/>
                <a:gd name="T24" fmla="*/ 29 w 81"/>
                <a:gd name="T25" fmla="*/ 68 h 158"/>
                <a:gd name="T26" fmla="*/ 25 w 81"/>
                <a:gd name="T27" fmla="*/ 55 h 158"/>
                <a:gd name="T28" fmla="*/ 31 w 81"/>
                <a:gd name="T29" fmla="*/ 40 h 158"/>
                <a:gd name="T30" fmla="*/ 26 w 81"/>
                <a:gd name="T31" fmla="*/ 26 h 158"/>
                <a:gd name="T32" fmla="*/ 32 w 81"/>
                <a:gd name="T33" fmla="*/ 15 h 158"/>
                <a:gd name="T34" fmla="*/ 22 w 81"/>
                <a:gd name="T35" fmla="*/ 3 h 158"/>
                <a:gd name="T36" fmla="*/ 14 w 81"/>
                <a:gd name="T37" fmla="*/ 5 h 158"/>
                <a:gd name="T38" fmla="*/ 9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未知"/>
            <p:cNvSpPr>
              <a:spLocks/>
            </p:cNvSpPr>
            <p:nvPr/>
          </p:nvSpPr>
          <p:spPr bwMode="auto">
            <a:xfrm>
              <a:off x="3457" y="1101"/>
              <a:ext cx="64" cy="79"/>
            </a:xfrm>
            <a:custGeom>
              <a:avLst/>
              <a:gdLst>
                <a:gd name="T0" fmla="*/ 39 w 85"/>
                <a:gd name="T1" fmla="*/ 0 h 105"/>
                <a:gd name="T2" fmla="*/ 33 w 85"/>
                <a:gd name="T3" fmla="*/ 14 h 105"/>
                <a:gd name="T4" fmla="*/ 24 w 85"/>
                <a:gd name="T5" fmla="*/ 23 h 105"/>
                <a:gd name="T6" fmla="*/ 12 w 85"/>
                <a:gd name="T7" fmla="*/ 26 h 105"/>
                <a:gd name="T8" fmla="*/ 6 w 85"/>
                <a:gd name="T9" fmla="*/ 36 h 105"/>
                <a:gd name="T10" fmla="*/ 3 w 85"/>
                <a:gd name="T11" fmla="*/ 56 h 105"/>
                <a:gd name="T12" fmla="*/ 10 w 85"/>
                <a:gd name="T13" fmla="*/ 53 h 105"/>
                <a:gd name="T14" fmla="*/ 19 w 85"/>
                <a:gd name="T15" fmla="*/ 47 h 105"/>
                <a:gd name="T16" fmla="*/ 26 w 85"/>
                <a:gd name="T17" fmla="*/ 52 h 105"/>
                <a:gd name="T18" fmla="*/ 44 w 85"/>
                <a:gd name="T19" fmla="*/ 74 h 105"/>
                <a:gd name="T20" fmla="*/ 53 w 85"/>
                <a:gd name="T21" fmla="*/ 54 h 105"/>
                <a:gd name="T22" fmla="*/ 64 w 85"/>
                <a:gd name="T23" fmla="*/ 51 h 105"/>
                <a:gd name="T24" fmla="*/ 56 w 85"/>
                <a:gd name="T25" fmla="*/ 29 h 105"/>
                <a:gd name="T26" fmla="*/ 39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未知"/>
            <p:cNvSpPr>
              <a:spLocks/>
            </p:cNvSpPr>
            <p:nvPr/>
          </p:nvSpPr>
          <p:spPr bwMode="auto">
            <a:xfrm>
              <a:off x="3533" y="1242"/>
              <a:ext cx="29" cy="49"/>
            </a:xfrm>
            <a:custGeom>
              <a:avLst/>
              <a:gdLst>
                <a:gd name="T0" fmla="*/ 5 w 38"/>
                <a:gd name="T1" fmla="*/ 20 h 66"/>
                <a:gd name="T2" fmla="*/ 20 w 38"/>
                <a:gd name="T3" fmla="*/ 49 h 66"/>
                <a:gd name="T4" fmla="*/ 23 w 38"/>
                <a:gd name="T5" fmla="*/ 39 h 66"/>
                <a:gd name="T6" fmla="*/ 29 w 38"/>
                <a:gd name="T7" fmla="*/ 30 h 66"/>
                <a:gd name="T8" fmla="*/ 23 w 38"/>
                <a:gd name="T9" fmla="*/ 19 h 66"/>
                <a:gd name="T10" fmla="*/ 15 w 38"/>
                <a:gd name="T11" fmla="*/ 10 h 66"/>
                <a:gd name="T12" fmla="*/ 8 w 38"/>
                <a:gd name="T13" fmla="*/ 1 h 66"/>
                <a:gd name="T14" fmla="*/ 2 w 38"/>
                <a:gd name="T15" fmla="*/ 9 h 66"/>
                <a:gd name="T16" fmla="*/ 5 w 38"/>
                <a:gd name="T17" fmla="*/ 20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未知"/>
            <p:cNvSpPr>
              <a:spLocks/>
            </p:cNvSpPr>
            <p:nvPr/>
          </p:nvSpPr>
          <p:spPr bwMode="auto">
            <a:xfrm>
              <a:off x="3517" y="1324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5 w 24"/>
                <a:gd name="T3" fmla="*/ 17 h 23"/>
                <a:gd name="T4" fmla="*/ 18 w 24"/>
                <a:gd name="T5" fmla="*/ 8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未知"/>
            <p:cNvSpPr>
              <a:spLocks/>
            </p:cNvSpPr>
            <p:nvPr/>
          </p:nvSpPr>
          <p:spPr bwMode="auto">
            <a:xfrm>
              <a:off x="3544" y="1314"/>
              <a:ext cx="45" cy="37"/>
            </a:xfrm>
            <a:custGeom>
              <a:avLst/>
              <a:gdLst>
                <a:gd name="T0" fmla="*/ 7 w 60"/>
                <a:gd name="T1" fmla="*/ 0 h 49"/>
                <a:gd name="T2" fmla="*/ 0 w 60"/>
                <a:gd name="T3" fmla="*/ 14 h 49"/>
                <a:gd name="T4" fmla="*/ 21 w 60"/>
                <a:gd name="T5" fmla="*/ 25 h 49"/>
                <a:gd name="T6" fmla="*/ 32 w 60"/>
                <a:gd name="T7" fmla="*/ 35 h 49"/>
                <a:gd name="T8" fmla="*/ 45 w 60"/>
                <a:gd name="T9" fmla="*/ 32 h 49"/>
                <a:gd name="T10" fmla="*/ 37 w 60"/>
                <a:gd name="T11" fmla="*/ 18 h 49"/>
                <a:gd name="T12" fmla="*/ 21 w 60"/>
                <a:gd name="T13" fmla="*/ 2 h 49"/>
                <a:gd name="T14" fmla="*/ 14 w 60"/>
                <a:gd name="T15" fmla="*/ 12 h 49"/>
                <a:gd name="T16" fmla="*/ 7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未知"/>
            <p:cNvSpPr>
              <a:spLocks/>
            </p:cNvSpPr>
            <p:nvPr/>
          </p:nvSpPr>
          <p:spPr bwMode="auto">
            <a:xfrm>
              <a:off x="3613" y="1384"/>
              <a:ext cx="24" cy="33"/>
            </a:xfrm>
            <a:custGeom>
              <a:avLst/>
              <a:gdLst>
                <a:gd name="T0" fmla="*/ 21 w 32"/>
                <a:gd name="T1" fmla="*/ 0 h 44"/>
                <a:gd name="T2" fmla="*/ 8 w 32"/>
                <a:gd name="T3" fmla="*/ 8 h 44"/>
                <a:gd name="T4" fmla="*/ 9 w 32"/>
                <a:gd name="T5" fmla="*/ 24 h 44"/>
                <a:gd name="T6" fmla="*/ 18 w 32"/>
                <a:gd name="T7" fmla="*/ 27 h 44"/>
                <a:gd name="T8" fmla="*/ 21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未知"/>
            <p:cNvSpPr>
              <a:spLocks/>
            </p:cNvSpPr>
            <p:nvPr/>
          </p:nvSpPr>
          <p:spPr bwMode="auto">
            <a:xfrm>
              <a:off x="3880" y="1342"/>
              <a:ext cx="46" cy="47"/>
            </a:xfrm>
            <a:custGeom>
              <a:avLst/>
              <a:gdLst>
                <a:gd name="T0" fmla="*/ 5 w 61"/>
                <a:gd name="T1" fmla="*/ 0 h 63"/>
                <a:gd name="T2" fmla="*/ 0 w 61"/>
                <a:gd name="T3" fmla="*/ 10 h 63"/>
                <a:gd name="T4" fmla="*/ 18 w 61"/>
                <a:gd name="T5" fmla="*/ 26 h 63"/>
                <a:gd name="T6" fmla="*/ 27 w 61"/>
                <a:gd name="T7" fmla="*/ 40 h 63"/>
                <a:gd name="T8" fmla="*/ 35 w 61"/>
                <a:gd name="T9" fmla="*/ 47 h 63"/>
                <a:gd name="T10" fmla="*/ 46 w 61"/>
                <a:gd name="T11" fmla="*/ 42 h 63"/>
                <a:gd name="T12" fmla="*/ 25 w 61"/>
                <a:gd name="T13" fmla="*/ 13 h 63"/>
                <a:gd name="T14" fmla="*/ 5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未知"/>
            <p:cNvSpPr>
              <a:spLocks/>
            </p:cNvSpPr>
            <p:nvPr/>
          </p:nvSpPr>
          <p:spPr bwMode="auto">
            <a:xfrm>
              <a:off x="3483" y="1401"/>
              <a:ext cx="46" cy="50"/>
            </a:xfrm>
            <a:custGeom>
              <a:avLst/>
              <a:gdLst>
                <a:gd name="T0" fmla="*/ 21 w 61"/>
                <a:gd name="T1" fmla="*/ 5 h 67"/>
                <a:gd name="T2" fmla="*/ 23 w 61"/>
                <a:gd name="T3" fmla="*/ 25 h 67"/>
                <a:gd name="T4" fmla="*/ 12 w 61"/>
                <a:gd name="T5" fmla="*/ 32 h 67"/>
                <a:gd name="T6" fmla="*/ 17 w 61"/>
                <a:gd name="T7" fmla="*/ 50 h 67"/>
                <a:gd name="T8" fmla="*/ 36 w 61"/>
                <a:gd name="T9" fmla="*/ 43 h 67"/>
                <a:gd name="T10" fmla="*/ 45 w 61"/>
                <a:gd name="T11" fmla="*/ 35 h 67"/>
                <a:gd name="T12" fmla="*/ 38 w 61"/>
                <a:gd name="T13" fmla="*/ 21 h 67"/>
                <a:gd name="T14" fmla="*/ 43 w 61"/>
                <a:gd name="T15" fmla="*/ 10 h 67"/>
                <a:gd name="T16" fmla="*/ 41 w 61"/>
                <a:gd name="T17" fmla="*/ 1 h 67"/>
                <a:gd name="T18" fmla="*/ 35 w 61"/>
                <a:gd name="T19" fmla="*/ 3 h 67"/>
                <a:gd name="T20" fmla="*/ 38 w 61"/>
                <a:gd name="T21" fmla="*/ 4 h 67"/>
                <a:gd name="T22" fmla="*/ 37 w 61"/>
                <a:gd name="T23" fmla="*/ 12 h 67"/>
                <a:gd name="T24" fmla="*/ 32 w 61"/>
                <a:gd name="T25" fmla="*/ 17 h 67"/>
                <a:gd name="T26" fmla="*/ 21 w 61"/>
                <a:gd name="T27" fmla="*/ 5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未知"/>
            <p:cNvSpPr>
              <a:spLocks/>
            </p:cNvSpPr>
            <p:nvPr/>
          </p:nvSpPr>
          <p:spPr bwMode="auto">
            <a:xfrm>
              <a:off x="3434" y="1420"/>
              <a:ext cx="32" cy="27"/>
            </a:xfrm>
            <a:custGeom>
              <a:avLst/>
              <a:gdLst>
                <a:gd name="T0" fmla="*/ 16 w 43"/>
                <a:gd name="T1" fmla="*/ 2 h 36"/>
                <a:gd name="T2" fmla="*/ 4 w 43"/>
                <a:gd name="T3" fmla="*/ 5 h 36"/>
                <a:gd name="T4" fmla="*/ 25 w 43"/>
                <a:gd name="T5" fmla="*/ 27 h 36"/>
                <a:gd name="T6" fmla="*/ 31 w 43"/>
                <a:gd name="T7" fmla="*/ 23 h 36"/>
                <a:gd name="T8" fmla="*/ 16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未知"/>
            <p:cNvSpPr>
              <a:spLocks/>
            </p:cNvSpPr>
            <p:nvPr/>
          </p:nvSpPr>
          <p:spPr bwMode="auto">
            <a:xfrm>
              <a:off x="3413" y="1391"/>
              <a:ext cx="24" cy="31"/>
            </a:xfrm>
            <a:custGeom>
              <a:avLst/>
              <a:gdLst>
                <a:gd name="T0" fmla="*/ 16 w 32"/>
                <a:gd name="T1" fmla="*/ 0 h 41"/>
                <a:gd name="T2" fmla="*/ 0 w 32"/>
                <a:gd name="T3" fmla="*/ 20 h 41"/>
                <a:gd name="T4" fmla="*/ 12 w 32"/>
                <a:gd name="T5" fmla="*/ 18 h 41"/>
                <a:gd name="T6" fmla="*/ 14 w 32"/>
                <a:gd name="T7" fmla="*/ 22 h 41"/>
                <a:gd name="T8" fmla="*/ 12 w 32"/>
                <a:gd name="T9" fmla="*/ 26 h 41"/>
                <a:gd name="T10" fmla="*/ 23 w 32"/>
                <a:gd name="T11" fmla="*/ 16 h 41"/>
                <a:gd name="T12" fmla="*/ 18 w 32"/>
                <a:gd name="T13" fmla="*/ 7 h 41"/>
                <a:gd name="T14" fmla="*/ 16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未知"/>
            <p:cNvSpPr>
              <a:spLocks/>
            </p:cNvSpPr>
            <p:nvPr/>
          </p:nvSpPr>
          <p:spPr bwMode="auto">
            <a:xfrm>
              <a:off x="3447" y="1402"/>
              <a:ext cx="34" cy="24"/>
            </a:xfrm>
            <a:custGeom>
              <a:avLst/>
              <a:gdLst>
                <a:gd name="T0" fmla="*/ 16 w 45"/>
                <a:gd name="T1" fmla="*/ 0 h 32"/>
                <a:gd name="T2" fmla="*/ 0 w 45"/>
                <a:gd name="T3" fmla="*/ 5 h 32"/>
                <a:gd name="T4" fmla="*/ 20 w 45"/>
                <a:gd name="T5" fmla="*/ 23 h 32"/>
                <a:gd name="T6" fmla="*/ 34 w 45"/>
                <a:gd name="T7" fmla="*/ 18 h 32"/>
                <a:gd name="T8" fmla="*/ 17 w 45"/>
                <a:gd name="T9" fmla="*/ 8 h 32"/>
                <a:gd name="T10" fmla="*/ 16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未知"/>
            <p:cNvSpPr>
              <a:spLocks/>
            </p:cNvSpPr>
            <p:nvPr/>
          </p:nvSpPr>
          <p:spPr bwMode="auto">
            <a:xfrm>
              <a:off x="3398" y="1070"/>
              <a:ext cx="27" cy="55"/>
            </a:xfrm>
            <a:custGeom>
              <a:avLst/>
              <a:gdLst>
                <a:gd name="T0" fmla="*/ 23 w 35"/>
                <a:gd name="T1" fmla="*/ 0 h 74"/>
                <a:gd name="T2" fmla="*/ 16 w 35"/>
                <a:gd name="T3" fmla="*/ 11 h 74"/>
                <a:gd name="T4" fmla="*/ 7 w 35"/>
                <a:gd name="T5" fmla="*/ 27 h 74"/>
                <a:gd name="T6" fmla="*/ 0 w 35"/>
                <a:gd name="T7" fmla="*/ 44 h 74"/>
                <a:gd name="T8" fmla="*/ 6 w 35"/>
                <a:gd name="T9" fmla="*/ 55 h 74"/>
                <a:gd name="T10" fmla="*/ 15 w 35"/>
                <a:gd name="T11" fmla="*/ 44 h 74"/>
                <a:gd name="T12" fmla="*/ 27 w 35"/>
                <a:gd name="T13" fmla="*/ 24 h 74"/>
                <a:gd name="T14" fmla="*/ 23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未知"/>
            <p:cNvSpPr>
              <a:spLocks/>
            </p:cNvSpPr>
            <p:nvPr/>
          </p:nvSpPr>
          <p:spPr bwMode="auto">
            <a:xfrm>
              <a:off x="3449" y="1061"/>
              <a:ext cx="19" cy="55"/>
            </a:xfrm>
            <a:custGeom>
              <a:avLst/>
              <a:gdLst>
                <a:gd name="T0" fmla="*/ 10 w 25"/>
                <a:gd name="T1" fmla="*/ 5 h 73"/>
                <a:gd name="T2" fmla="*/ 3 w 25"/>
                <a:gd name="T3" fmla="*/ 6 h 73"/>
                <a:gd name="T4" fmla="*/ 0 w 25"/>
                <a:gd name="T5" fmla="*/ 17 h 73"/>
                <a:gd name="T6" fmla="*/ 11 w 25"/>
                <a:gd name="T7" fmla="*/ 31 h 73"/>
                <a:gd name="T8" fmla="*/ 19 w 25"/>
                <a:gd name="T9" fmla="*/ 42 h 73"/>
                <a:gd name="T10" fmla="*/ 12 w 25"/>
                <a:gd name="T11" fmla="*/ 15 h 73"/>
                <a:gd name="T12" fmla="*/ 10 w 25"/>
                <a:gd name="T13" fmla="*/ 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未知"/>
            <p:cNvSpPr>
              <a:spLocks/>
            </p:cNvSpPr>
            <p:nvPr/>
          </p:nvSpPr>
          <p:spPr bwMode="auto">
            <a:xfrm>
              <a:off x="3471" y="1044"/>
              <a:ext cx="10" cy="25"/>
            </a:xfrm>
            <a:custGeom>
              <a:avLst/>
              <a:gdLst>
                <a:gd name="T0" fmla="*/ 8 w 14"/>
                <a:gd name="T1" fmla="*/ 0 h 33"/>
                <a:gd name="T2" fmla="*/ 1 w 14"/>
                <a:gd name="T3" fmla="*/ 8 h 33"/>
                <a:gd name="T4" fmla="*/ 8 w 14"/>
                <a:gd name="T5" fmla="*/ 19 h 33"/>
                <a:gd name="T6" fmla="*/ 8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未知"/>
            <p:cNvSpPr>
              <a:spLocks/>
            </p:cNvSpPr>
            <p:nvPr/>
          </p:nvSpPr>
          <p:spPr bwMode="auto">
            <a:xfrm>
              <a:off x="3481" y="1056"/>
              <a:ext cx="21" cy="48"/>
            </a:xfrm>
            <a:custGeom>
              <a:avLst/>
              <a:gdLst>
                <a:gd name="T0" fmla="*/ 4 w 28"/>
                <a:gd name="T1" fmla="*/ 0 h 64"/>
                <a:gd name="T2" fmla="*/ 8 w 28"/>
                <a:gd name="T3" fmla="*/ 11 h 64"/>
                <a:gd name="T4" fmla="*/ 15 w 28"/>
                <a:gd name="T5" fmla="*/ 16 h 64"/>
                <a:gd name="T6" fmla="*/ 6 w 28"/>
                <a:gd name="T7" fmla="*/ 29 h 64"/>
                <a:gd name="T8" fmla="*/ 0 w 28"/>
                <a:gd name="T9" fmla="*/ 42 h 64"/>
                <a:gd name="T10" fmla="*/ 8 w 28"/>
                <a:gd name="T11" fmla="*/ 43 h 64"/>
                <a:gd name="T12" fmla="*/ 20 w 28"/>
                <a:gd name="T13" fmla="*/ 20 h 64"/>
                <a:gd name="T14" fmla="*/ 4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未知"/>
            <p:cNvSpPr>
              <a:spLocks/>
            </p:cNvSpPr>
            <p:nvPr/>
          </p:nvSpPr>
          <p:spPr bwMode="auto">
            <a:xfrm>
              <a:off x="3212" y="1125"/>
              <a:ext cx="12" cy="27"/>
            </a:xfrm>
            <a:custGeom>
              <a:avLst/>
              <a:gdLst>
                <a:gd name="T0" fmla="*/ 11 w 16"/>
                <a:gd name="T1" fmla="*/ 2 h 36"/>
                <a:gd name="T2" fmla="*/ 0 w 16"/>
                <a:gd name="T3" fmla="*/ 5 h 36"/>
                <a:gd name="T4" fmla="*/ 6 w 16"/>
                <a:gd name="T5" fmla="*/ 17 h 36"/>
                <a:gd name="T6" fmla="*/ 11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未知"/>
            <p:cNvSpPr>
              <a:spLocks/>
            </p:cNvSpPr>
            <p:nvPr/>
          </p:nvSpPr>
          <p:spPr bwMode="auto">
            <a:xfrm>
              <a:off x="3202" y="1102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未知"/>
            <p:cNvSpPr>
              <a:spLocks/>
            </p:cNvSpPr>
            <p:nvPr/>
          </p:nvSpPr>
          <p:spPr bwMode="auto">
            <a:xfrm>
              <a:off x="3198" y="1084"/>
              <a:ext cx="12" cy="14"/>
            </a:xfrm>
            <a:custGeom>
              <a:avLst/>
              <a:gdLst>
                <a:gd name="T0" fmla="*/ 8 w 16"/>
                <a:gd name="T1" fmla="*/ 4 h 19"/>
                <a:gd name="T2" fmla="*/ 0 w 16"/>
                <a:gd name="T3" fmla="*/ 7 h 19"/>
                <a:gd name="T4" fmla="*/ 9 w 16"/>
                <a:gd name="T5" fmla="*/ 14 h 19"/>
                <a:gd name="T6" fmla="*/ 8 w 16"/>
                <a:gd name="T7" fmla="*/ 4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未知"/>
            <p:cNvSpPr>
              <a:spLocks/>
            </p:cNvSpPr>
            <p:nvPr/>
          </p:nvSpPr>
          <p:spPr bwMode="auto">
            <a:xfrm>
              <a:off x="3186" y="1044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未知"/>
            <p:cNvSpPr>
              <a:spLocks/>
            </p:cNvSpPr>
            <p:nvPr/>
          </p:nvSpPr>
          <p:spPr bwMode="auto">
            <a:xfrm>
              <a:off x="3188" y="1069"/>
              <a:ext cx="16" cy="13"/>
            </a:xfrm>
            <a:custGeom>
              <a:avLst/>
              <a:gdLst>
                <a:gd name="T0" fmla="*/ 9 w 22"/>
                <a:gd name="T1" fmla="*/ 0 h 18"/>
                <a:gd name="T2" fmla="*/ 14 w 22"/>
                <a:gd name="T3" fmla="*/ 13 h 18"/>
                <a:gd name="T4" fmla="*/ 10 w 22"/>
                <a:gd name="T5" fmla="*/ 4 h 18"/>
                <a:gd name="T6" fmla="*/ 9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未知"/>
            <p:cNvSpPr>
              <a:spLocks/>
            </p:cNvSpPr>
            <p:nvPr/>
          </p:nvSpPr>
          <p:spPr bwMode="auto">
            <a:xfrm>
              <a:off x="4024" y="1692"/>
              <a:ext cx="45" cy="60"/>
            </a:xfrm>
            <a:custGeom>
              <a:avLst/>
              <a:gdLst>
                <a:gd name="T0" fmla="*/ 8 w 60"/>
                <a:gd name="T1" fmla="*/ 5 h 81"/>
                <a:gd name="T2" fmla="*/ 2 w 60"/>
                <a:gd name="T3" fmla="*/ 13 h 81"/>
                <a:gd name="T4" fmla="*/ 11 w 60"/>
                <a:gd name="T5" fmla="*/ 29 h 81"/>
                <a:gd name="T6" fmla="*/ 20 w 60"/>
                <a:gd name="T7" fmla="*/ 40 h 81"/>
                <a:gd name="T8" fmla="*/ 30 w 60"/>
                <a:gd name="T9" fmla="*/ 47 h 81"/>
                <a:gd name="T10" fmla="*/ 38 w 60"/>
                <a:gd name="T11" fmla="*/ 60 h 81"/>
                <a:gd name="T12" fmla="*/ 39 w 60"/>
                <a:gd name="T13" fmla="*/ 42 h 81"/>
                <a:gd name="T14" fmla="*/ 32 w 60"/>
                <a:gd name="T15" fmla="*/ 27 h 81"/>
                <a:gd name="T16" fmla="*/ 19 w 60"/>
                <a:gd name="T17" fmla="*/ 13 h 81"/>
                <a:gd name="T18" fmla="*/ 8 w 60"/>
                <a:gd name="T19" fmla="*/ 5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未知"/>
            <p:cNvSpPr>
              <a:spLocks/>
            </p:cNvSpPr>
            <p:nvPr/>
          </p:nvSpPr>
          <p:spPr bwMode="auto">
            <a:xfrm>
              <a:off x="4255" y="1643"/>
              <a:ext cx="53" cy="46"/>
            </a:xfrm>
            <a:custGeom>
              <a:avLst/>
              <a:gdLst>
                <a:gd name="T0" fmla="*/ 21 w 71"/>
                <a:gd name="T1" fmla="*/ 17 h 61"/>
                <a:gd name="T2" fmla="*/ 10 w 71"/>
                <a:gd name="T3" fmla="*/ 24 h 61"/>
                <a:gd name="T4" fmla="*/ 1 w 71"/>
                <a:gd name="T5" fmla="*/ 33 h 61"/>
                <a:gd name="T6" fmla="*/ 10 w 71"/>
                <a:gd name="T7" fmla="*/ 44 h 61"/>
                <a:gd name="T8" fmla="*/ 21 w 71"/>
                <a:gd name="T9" fmla="*/ 33 h 61"/>
                <a:gd name="T10" fmla="*/ 30 w 71"/>
                <a:gd name="T11" fmla="*/ 17 h 61"/>
                <a:gd name="T12" fmla="*/ 41 w 71"/>
                <a:gd name="T13" fmla="*/ 0 h 61"/>
                <a:gd name="T14" fmla="*/ 53 w 71"/>
                <a:gd name="T15" fmla="*/ 8 h 61"/>
                <a:gd name="T16" fmla="*/ 26 w 71"/>
                <a:gd name="T17" fmla="*/ 17 h 61"/>
                <a:gd name="T18" fmla="*/ 21 w 71"/>
                <a:gd name="T19" fmla="*/ 17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未知"/>
            <p:cNvSpPr>
              <a:spLocks/>
            </p:cNvSpPr>
            <p:nvPr/>
          </p:nvSpPr>
          <p:spPr bwMode="auto">
            <a:xfrm>
              <a:off x="4095" y="1618"/>
              <a:ext cx="17" cy="23"/>
            </a:xfrm>
            <a:custGeom>
              <a:avLst/>
              <a:gdLst>
                <a:gd name="T0" fmla="*/ 7 w 23"/>
                <a:gd name="T1" fmla="*/ 0 h 30"/>
                <a:gd name="T2" fmla="*/ 0 w 23"/>
                <a:gd name="T3" fmla="*/ 11 h 30"/>
                <a:gd name="T4" fmla="*/ 9 w 23"/>
                <a:gd name="T5" fmla="*/ 23 h 30"/>
                <a:gd name="T6" fmla="*/ 7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未知"/>
            <p:cNvSpPr>
              <a:spLocks/>
            </p:cNvSpPr>
            <p:nvPr/>
          </p:nvSpPr>
          <p:spPr bwMode="auto">
            <a:xfrm>
              <a:off x="4087" y="1596"/>
              <a:ext cx="20" cy="17"/>
            </a:xfrm>
            <a:custGeom>
              <a:avLst/>
              <a:gdLst>
                <a:gd name="T0" fmla="*/ 15 w 26"/>
                <a:gd name="T1" fmla="*/ 0 h 23"/>
                <a:gd name="T2" fmla="*/ 0 w 26"/>
                <a:gd name="T3" fmla="*/ 10 h 23"/>
                <a:gd name="T4" fmla="*/ 16 w 26"/>
                <a:gd name="T5" fmla="*/ 15 h 23"/>
                <a:gd name="T6" fmla="*/ 15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未知"/>
            <p:cNvSpPr>
              <a:spLocks/>
            </p:cNvSpPr>
            <p:nvPr/>
          </p:nvSpPr>
          <p:spPr bwMode="auto">
            <a:xfrm>
              <a:off x="3934" y="1402"/>
              <a:ext cx="24" cy="33"/>
            </a:xfrm>
            <a:custGeom>
              <a:avLst/>
              <a:gdLst>
                <a:gd name="T0" fmla="*/ 21 w 32"/>
                <a:gd name="T1" fmla="*/ 0 h 44"/>
                <a:gd name="T2" fmla="*/ 8 w 32"/>
                <a:gd name="T3" fmla="*/ 8 h 44"/>
                <a:gd name="T4" fmla="*/ 9 w 32"/>
                <a:gd name="T5" fmla="*/ 24 h 44"/>
                <a:gd name="T6" fmla="*/ 18 w 32"/>
                <a:gd name="T7" fmla="*/ 27 h 44"/>
                <a:gd name="T8" fmla="*/ 21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未知"/>
            <p:cNvSpPr>
              <a:spLocks/>
            </p:cNvSpPr>
            <p:nvPr/>
          </p:nvSpPr>
          <p:spPr bwMode="auto">
            <a:xfrm>
              <a:off x="3968" y="1445"/>
              <a:ext cx="26" cy="33"/>
            </a:xfrm>
            <a:custGeom>
              <a:avLst/>
              <a:gdLst>
                <a:gd name="T0" fmla="*/ 23 w 34"/>
                <a:gd name="T1" fmla="*/ 0 h 44"/>
                <a:gd name="T2" fmla="*/ 8 w 34"/>
                <a:gd name="T3" fmla="*/ 7 h 44"/>
                <a:gd name="T4" fmla="*/ 11 w 34"/>
                <a:gd name="T5" fmla="*/ 24 h 44"/>
                <a:gd name="T6" fmla="*/ 20 w 34"/>
                <a:gd name="T7" fmla="*/ 27 h 44"/>
                <a:gd name="T8" fmla="*/ 23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未知"/>
            <p:cNvSpPr>
              <a:spLocks/>
            </p:cNvSpPr>
            <p:nvPr/>
          </p:nvSpPr>
          <p:spPr bwMode="auto">
            <a:xfrm>
              <a:off x="3995" y="1508"/>
              <a:ext cx="28" cy="28"/>
            </a:xfrm>
            <a:custGeom>
              <a:avLst/>
              <a:gdLst>
                <a:gd name="T0" fmla="*/ 25 w 38"/>
                <a:gd name="T1" fmla="*/ 2 h 37"/>
                <a:gd name="T2" fmla="*/ 7 w 38"/>
                <a:gd name="T3" fmla="*/ 2 h 37"/>
                <a:gd name="T4" fmla="*/ 10 w 38"/>
                <a:gd name="T5" fmla="*/ 19 h 37"/>
                <a:gd name="T6" fmla="*/ 19 w 38"/>
                <a:gd name="T7" fmla="*/ 22 h 37"/>
                <a:gd name="T8" fmla="*/ 25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未知"/>
            <p:cNvSpPr>
              <a:spLocks/>
            </p:cNvSpPr>
            <p:nvPr/>
          </p:nvSpPr>
          <p:spPr bwMode="auto">
            <a:xfrm>
              <a:off x="4029" y="1498"/>
              <a:ext cx="28" cy="26"/>
            </a:xfrm>
            <a:custGeom>
              <a:avLst/>
              <a:gdLst>
                <a:gd name="T0" fmla="*/ 25 w 38"/>
                <a:gd name="T1" fmla="*/ 2 h 34"/>
                <a:gd name="T2" fmla="*/ 7 w 38"/>
                <a:gd name="T3" fmla="*/ 2 h 34"/>
                <a:gd name="T4" fmla="*/ 12 w 38"/>
                <a:gd name="T5" fmla="*/ 17 h 34"/>
                <a:gd name="T6" fmla="*/ 20 w 38"/>
                <a:gd name="T7" fmla="*/ 17 h 34"/>
                <a:gd name="T8" fmla="*/ 25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未知"/>
            <p:cNvSpPr>
              <a:spLocks/>
            </p:cNvSpPr>
            <p:nvPr/>
          </p:nvSpPr>
          <p:spPr bwMode="auto">
            <a:xfrm>
              <a:off x="4019" y="1462"/>
              <a:ext cx="26" cy="20"/>
            </a:xfrm>
            <a:custGeom>
              <a:avLst/>
              <a:gdLst>
                <a:gd name="T0" fmla="*/ 23 w 35"/>
                <a:gd name="T1" fmla="*/ 1 h 27"/>
                <a:gd name="T2" fmla="*/ 7 w 35"/>
                <a:gd name="T3" fmla="*/ 1 h 27"/>
                <a:gd name="T4" fmla="*/ 10 w 35"/>
                <a:gd name="T5" fmla="*/ 11 h 27"/>
                <a:gd name="T6" fmla="*/ 19 w 35"/>
                <a:gd name="T7" fmla="*/ 14 h 27"/>
                <a:gd name="T8" fmla="*/ 23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未知"/>
            <p:cNvSpPr>
              <a:spLocks/>
            </p:cNvSpPr>
            <p:nvPr/>
          </p:nvSpPr>
          <p:spPr bwMode="auto">
            <a:xfrm>
              <a:off x="3993" y="1437"/>
              <a:ext cx="26" cy="35"/>
            </a:xfrm>
            <a:custGeom>
              <a:avLst/>
              <a:gdLst>
                <a:gd name="T0" fmla="*/ 21 w 35"/>
                <a:gd name="T1" fmla="*/ 12 h 47"/>
                <a:gd name="T2" fmla="*/ 14 w 35"/>
                <a:gd name="T3" fmla="*/ 1 h 47"/>
                <a:gd name="T4" fmla="*/ 7 w 35"/>
                <a:gd name="T5" fmla="*/ 19 h 47"/>
                <a:gd name="T6" fmla="*/ 14 w 35"/>
                <a:gd name="T7" fmla="*/ 26 h 47"/>
                <a:gd name="T8" fmla="*/ 20 w 35"/>
                <a:gd name="T9" fmla="*/ 22 h 47"/>
                <a:gd name="T10" fmla="*/ 21 w 35"/>
                <a:gd name="T11" fmla="*/ 1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未知"/>
            <p:cNvSpPr>
              <a:spLocks/>
            </p:cNvSpPr>
            <p:nvPr/>
          </p:nvSpPr>
          <p:spPr bwMode="auto">
            <a:xfrm>
              <a:off x="3961" y="1421"/>
              <a:ext cx="24" cy="26"/>
            </a:xfrm>
            <a:custGeom>
              <a:avLst/>
              <a:gdLst>
                <a:gd name="T0" fmla="*/ 17 w 32"/>
                <a:gd name="T1" fmla="*/ 7 h 35"/>
                <a:gd name="T2" fmla="*/ 8 w 32"/>
                <a:gd name="T3" fmla="*/ 1 h 35"/>
                <a:gd name="T4" fmla="*/ 9 w 32"/>
                <a:gd name="T5" fmla="*/ 17 h 35"/>
                <a:gd name="T6" fmla="*/ 18 w 32"/>
                <a:gd name="T7" fmla="*/ 20 h 35"/>
                <a:gd name="T8" fmla="*/ 17 w 32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未知"/>
            <p:cNvSpPr>
              <a:spLocks/>
            </p:cNvSpPr>
            <p:nvPr/>
          </p:nvSpPr>
          <p:spPr bwMode="auto">
            <a:xfrm>
              <a:off x="4001" y="1474"/>
              <a:ext cx="24" cy="26"/>
            </a:xfrm>
            <a:custGeom>
              <a:avLst/>
              <a:gdLst>
                <a:gd name="T0" fmla="*/ 17 w 32"/>
                <a:gd name="T1" fmla="*/ 7 h 35"/>
                <a:gd name="T2" fmla="*/ 8 w 32"/>
                <a:gd name="T3" fmla="*/ 1 h 35"/>
                <a:gd name="T4" fmla="*/ 9 w 32"/>
                <a:gd name="T5" fmla="*/ 17 h 35"/>
                <a:gd name="T6" fmla="*/ 18 w 32"/>
                <a:gd name="T7" fmla="*/ 20 h 35"/>
                <a:gd name="T8" fmla="*/ 17 w 32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未知"/>
            <p:cNvSpPr>
              <a:spLocks/>
            </p:cNvSpPr>
            <p:nvPr/>
          </p:nvSpPr>
          <p:spPr bwMode="auto">
            <a:xfrm>
              <a:off x="2391" y="100"/>
              <a:ext cx="141" cy="108"/>
            </a:xfrm>
            <a:custGeom>
              <a:avLst/>
              <a:gdLst>
                <a:gd name="T0" fmla="*/ 128 w 189"/>
                <a:gd name="T1" fmla="*/ 3 h 144"/>
                <a:gd name="T2" fmla="*/ 138 w 189"/>
                <a:gd name="T3" fmla="*/ 3 h 144"/>
                <a:gd name="T4" fmla="*/ 141 w 189"/>
                <a:gd name="T5" fmla="*/ 12 h 144"/>
                <a:gd name="T6" fmla="*/ 140 w 189"/>
                <a:gd name="T7" fmla="*/ 18 h 144"/>
                <a:gd name="T8" fmla="*/ 98 w 189"/>
                <a:gd name="T9" fmla="*/ 33 h 144"/>
                <a:gd name="T10" fmla="*/ 81 w 189"/>
                <a:gd name="T11" fmla="*/ 44 h 144"/>
                <a:gd name="T12" fmla="*/ 72 w 189"/>
                <a:gd name="T13" fmla="*/ 47 h 144"/>
                <a:gd name="T14" fmla="*/ 53 w 189"/>
                <a:gd name="T15" fmla="*/ 62 h 144"/>
                <a:gd name="T16" fmla="*/ 56 w 189"/>
                <a:gd name="T17" fmla="*/ 69 h 144"/>
                <a:gd name="T18" fmla="*/ 62 w 189"/>
                <a:gd name="T19" fmla="*/ 87 h 144"/>
                <a:gd name="T20" fmla="*/ 80 w 189"/>
                <a:gd name="T21" fmla="*/ 95 h 144"/>
                <a:gd name="T22" fmla="*/ 69 w 189"/>
                <a:gd name="T23" fmla="*/ 105 h 144"/>
                <a:gd name="T24" fmla="*/ 62 w 189"/>
                <a:gd name="T25" fmla="*/ 98 h 144"/>
                <a:gd name="T26" fmla="*/ 53 w 189"/>
                <a:gd name="T27" fmla="*/ 101 h 144"/>
                <a:gd name="T28" fmla="*/ 16 w 189"/>
                <a:gd name="T29" fmla="*/ 92 h 144"/>
                <a:gd name="T30" fmla="*/ 14 w 189"/>
                <a:gd name="T31" fmla="*/ 80 h 144"/>
                <a:gd name="T32" fmla="*/ 35 w 189"/>
                <a:gd name="T33" fmla="*/ 68 h 144"/>
                <a:gd name="T34" fmla="*/ 38 w 189"/>
                <a:gd name="T35" fmla="*/ 57 h 144"/>
                <a:gd name="T36" fmla="*/ 35 w 189"/>
                <a:gd name="T37" fmla="*/ 48 h 144"/>
                <a:gd name="T38" fmla="*/ 54 w 189"/>
                <a:gd name="T39" fmla="*/ 35 h 144"/>
                <a:gd name="T40" fmla="*/ 72 w 189"/>
                <a:gd name="T41" fmla="*/ 27 h 144"/>
                <a:gd name="T42" fmla="*/ 84 w 189"/>
                <a:gd name="T43" fmla="*/ 18 h 144"/>
                <a:gd name="T44" fmla="*/ 128 w 189"/>
                <a:gd name="T45" fmla="*/ 3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未知"/>
            <p:cNvSpPr>
              <a:spLocks/>
            </p:cNvSpPr>
            <p:nvPr/>
          </p:nvSpPr>
          <p:spPr bwMode="auto">
            <a:xfrm>
              <a:off x="2475" y="204"/>
              <a:ext cx="40" cy="12"/>
            </a:xfrm>
            <a:custGeom>
              <a:avLst/>
              <a:gdLst>
                <a:gd name="T0" fmla="*/ 18 w 53"/>
                <a:gd name="T1" fmla="*/ 0 h 17"/>
                <a:gd name="T2" fmla="*/ 9 w 53"/>
                <a:gd name="T3" fmla="*/ 1 h 17"/>
                <a:gd name="T4" fmla="*/ 24 w 53"/>
                <a:gd name="T5" fmla="*/ 11 h 17"/>
                <a:gd name="T6" fmla="*/ 33 w 53"/>
                <a:gd name="T7" fmla="*/ 10 h 17"/>
                <a:gd name="T8" fmla="*/ 18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未知"/>
            <p:cNvSpPr>
              <a:spLocks/>
            </p:cNvSpPr>
            <p:nvPr/>
          </p:nvSpPr>
          <p:spPr bwMode="auto">
            <a:xfrm>
              <a:off x="2680" y="48"/>
              <a:ext cx="42" cy="28"/>
            </a:xfrm>
            <a:custGeom>
              <a:avLst/>
              <a:gdLst>
                <a:gd name="T0" fmla="*/ 42 w 57"/>
                <a:gd name="T1" fmla="*/ 3 h 37"/>
                <a:gd name="T2" fmla="*/ 18 w 57"/>
                <a:gd name="T3" fmla="*/ 18 h 37"/>
                <a:gd name="T4" fmla="*/ 8 w 57"/>
                <a:gd name="T5" fmla="*/ 26 h 37"/>
                <a:gd name="T6" fmla="*/ 7 w 57"/>
                <a:gd name="T7" fmla="*/ 3 h 37"/>
                <a:gd name="T8" fmla="*/ 15 w 57"/>
                <a:gd name="T9" fmla="*/ 0 h 37"/>
                <a:gd name="T10" fmla="*/ 42 w 57"/>
                <a:gd name="T11" fmla="*/ 3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未知"/>
            <p:cNvSpPr>
              <a:spLocks/>
            </p:cNvSpPr>
            <p:nvPr/>
          </p:nvSpPr>
          <p:spPr bwMode="auto">
            <a:xfrm>
              <a:off x="2710" y="61"/>
              <a:ext cx="50" cy="20"/>
            </a:xfrm>
            <a:custGeom>
              <a:avLst/>
              <a:gdLst>
                <a:gd name="T0" fmla="*/ 21 w 68"/>
                <a:gd name="T1" fmla="*/ 0 h 26"/>
                <a:gd name="T2" fmla="*/ 8 w 68"/>
                <a:gd name="T3" fmla="*/ 5 h 26"/>
                <a:gd name="T4" fmla="*/ 42 w 68"/>
                <a:gd name="T5" fmla="*/ 20 h 26"/>
                <a:gd name="T6" fmla="*/ 46 w 68"/>
                <a:gd name="T7" fmla="*/ 18 h 26"/>
                <a:gd name="T8" fmla="*/ 2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未知"/>
            <p:cNvSpPr>
              <a:spLocks/>
            </p:cNvSpPr>
            <p:nvPr/>
          </p:nvSpPr>
          <p:spPr bwMode="auto">
            <a:xfrm>
              <a:off x="2764" y="64"/>
              <a:ext cx="50" cy="32"/>
            </a:xfrm>
            <a:custGeom>
              <a:avLst/>
              <a:gdLst>
                <a:gd name="T0" fmla="*/ 38 w 66"/>
                <a:gd name="T1" fmla="*/ 7 h 43"/>
                <a:gd name="T2" fmla="*/ 20 w 66"/>
                <a:gd name="T3" fmla="*/ 7 h 43"/>
                <a:gd name="T4" fmla="*/ 8 w 66"/>
                <a:gd name="T5" fmla="*/ 7 h 43"/>
                <a:gd name="T6" fmla="*/ 6 w 66"/>
                <a:gd name="T7" fmla="*/ 26 h 43"/>
                <a:gd name="T8" fmla="*/ 24 w 66"/>
                <a:gd name="T9" fmla="*/ 32 h 43"/>
                <a:gd name="T10" fmla="*/ 47 w 66"/>
                <a:gd name="T11" fmla="*/ 20 h 43"/>
                <a:gd name="T12" fmla="*/ 38 w 66"/>
                <a:gd name="T13" fmla="*/ 7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未知"/>
            <p:cNvSpPr>
              <a:spLocks/>
            </p:cNvSpPr>
            <p:nvPr/>
          </p:nvSpPr>
          <p:spPr bwMode="auto">
            <a:xfrm>
              <a:off x="3113" y="91"/>
              <a:ext cx="88" cy="31"/>
            </a:xfrm>
            <a:custGeom>
              <a:avLst/>
              <a:gdLst>
                <a:gd name="T0" fmla="*/ 11 w 117"/>
                <a:gd name="T1" fmla="*/ 0 h 41"/>
                <a:gd name="T2" fmla="*/ 6 w 117"/>
                <a:gd name="T3" fmla="*/ 12 h 41"/>
                <a:gd name="T4" fmla="*/ 38 w 117"/>
                <a:gd name="T5" fmla="*/ 23 h 41"/>
                <a:gd name="T6" fmla="*/ 57 w 117"/>
                <a:gd name="T7" fmla="*/ 27 h 41"/>
                <a:gd name="T8" fmla="*/ 84 w 117"/>
                <a:gd name="T9" fmla="*/ 17 h 41"/>
                <a:gd name="T10" fmla="*/ 59 w 117"/>
                <a:gd name="T11" fmla="*/ 3 h 41"/>
                <a:gd name="T12" fmla="*/ 11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未知"/>
            <p:cNvSpPr>
              <a:spLocks/>
            </p:cNvSpPr>
            <p:nvPr/>
          </p:nvSpPr>
          <p:spPr bwMode="auto">
            <a:xfrm>
              <a:off x="3203" y="90"/>
              <a:ext cx="46" cy="24"/>
            </a:xfrm>
            <a:custGeom>
              <a:avLst/>
              <a:gdLst>
                <a:gd name="T0" fmla="*/ 24 w 62"/>
                <a:gd name="T1" fmla="*/ 3 h 32"/>
                <a:gd name="T2" fmla="*/ 46 w 62"/>
                <a:gd name="T3" fmla="*/ 8 h 32"/>
                <a:gd name="T4" fmla="*/ 22 w 62"/>
                <a:gd name="T5" fmla="*/ 24 h 32"/>
                <a:gd name="T6" fmla="*/ 4 w 62"/>
                <a:gd name="T7" fmla="*/ 17 h 32"/>
                <a:gd name="T8" fmla="*/ 24 w 62"/>
                <a:gd name="T9" fmla="*/ 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未知"/>
            <p:cNvSpPr>
              <a:spLocks/>
            </p:cNvSpPr>
            <p:nvPr/>
          </p:nvSpPr>
          <p:spPr bwMode="auto">
            <a:xfrm>
              <a:off x="3182" y="119"/>
              <a:ext cx="37" cy="17"/>
            </a:xfrm>
            <a:custGeom>
              <a:avLst/>
              <a:gdLst>
                <a:gd name="T0" fmla="*/ 15 w 49"/>
                <a:gd name="T1" fmla="*/ 1 h 23"/>
                <a:gd name="T2" fmla="*/ 5 w 49"/>
                <a:gd name="T3" fmla="*/ 4 h 23"/>
                <a:gd name="T4" fmla="*/ 29 w 49"/>
                <a:gd name="T5" fmla="*/ 17 h 23"/>
                <a:gd name="T6" fmla="*/ 15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未知"/>
            <p:cNvSpPr>
              <a:spLocks/>
            </p:cNvSpPr>
            <p:nvPr/>
          </p:nvSpPr>
          <p:spPr bwMode="auto">
            <a:xfrm>
              <a:off x="3434" y="343"/>
              <a:ext cx="76" cy="114"/>
            </a:xfrm>
            <a:custGeom>
              <a:avLst/>
              <a:gdLst>
                <a:gd name="T0" fmla="*/ 4 w 102"/>
                <a:gd name="T1" fmla="*/ 0 h 152"/>
                <a:gd name="T2" fmla="*/ 0 w 102"/>
                <a:gd name="T3" fmla="*/ 14 h 152"/>
                <a:gd name="T4" fmla="*/ 10 w 102"/>
                <a:gd name="T5" fmla="*/ 32 h 152"/>
                <a:gd name="T6" fmla="*/ 24 w 102"/>
                <a:gd name="T7" fmla="*/ 54 h 152"/>
                <a:gd name="T8" fmla="*/ 27 w 102"/>
                <a:gd name="T9" fmla="*/ 78 h 152"/>
                <a:gd name="T10" fmla="*/ 60 w 102"/>
                <a:gd name="T11" fmla="*/ 114 h 152"/>
                <a:gd name="T12" fmla="*/ 64 w 102"/>
                <a:gd name="T13" fmla="*/ 93 h 152"/>
                <a:gd name="T14" fmla="*/ 55 w 102"/>
                <a:gd name="T15" fmla="*/ 77 h 152"/>
                <a:gd name="T16" fmla="*/ 46 w 102"/>
                <a:gd name="T17" fmla="*/ 69 h 152"/>
                <a:gd name="T18" fmla="*/ 39 w 102"/>
                <a:gd name="T19" fmla="*/ 56 h 152"/>
                <a:gd name="T20" fmla="*/ 31 w 102"/>
                <a:gd name="T21" fmla="*/ 33 h 152"/>
                <a:gd name="T22" fmla="*/ 3 w 102"/>
                <a:gd name="T23" fmla="*/ 9 h 152"/>
                <a:gd name="T24" fmla="*/ 4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未知"/>
            <p:cNvSpPr>
              <a:spLocks/>
            </p:cNvSpPr>
            <p:nvPr/>
          </p:nvSpPr>
          <p:spPr bwMode="auto">
            <a:xfrm>
              <a:off x="3495" y="461"/>
              <a:ext cx="55" cy="78"/>
            </a:xfrm>
            <a:custGeom>
              <a:avLst/>
              <a:gdLst>
                <a:gd name="T0" fmla="*/ 48 w 74"/>
                <a:gd name="T1" fmla="*/ 17 h 103"/>
                <a:gd name="T2" fmla="*/ 55 w 74"/>
                <a:gd name="T3" fmla="*/ 30 h 103"/>
                <a:gd name="T4" fmla="*/ 22 w 74"/>
                <a:gd name="T5" fmla="*/ 64 h 103"/>
                <a:gd name="T6" fmla="*/ 24 w 74"/>
                <a:gd name="T7" fmla="*/ 76 h 103"/>
                <a:gd name="T8" fmla="*/ 15 w 74"/>
                <a:gd name="T9" fmla="*/ 71 h 103"/>
                <a:gd name="T10" fmla="*/ 4 w 74"/>
                <a:gd name="T11" fmla="*/ 64 h 103"/>
                <a:gd name="T12" fmla="*/ 0 w 74"/>
                <a:gd name="T13" fmla="*/ 62 h 103"/>
                <a:gd name="T14" fmla="*/ 7 w 74"/>
                <a:gd name="T15" fmla="*/ 44 h 103"/>
                <a:gd name="T16" fmla="*/ 9 w 74"/>
                <a:gd name="T17" fmla="*/ 39 h 103"/>
                <a:gd name="T18" fmla="*/ 1 w 74"/>
                <a:gd name="T19" fmla="*/ 18 h 103"/>
                <a:gd name="T20" fmla="*/ 3 w 74"/>
                <a:gd name="T21" fmla="*/ 11 h 103"/>
                <a:gd name="T22" fmla="*/ 19 w 74"/>
                <a:gd name="T23" fmla="*/ 17 h 103"/>
                <a:gd name="T24" fmla="*/ 27 w 74"/>
                <a:gd name="T25" fmla="*/ 27 h 103"/>
                <a:gd name="T26" fmla="*/ 48 w 74"/>
                <a:gd name="T27" fmla="*/ 17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未知"/>
            <p:cNvSpPr>
              <a:spLocks/>
            </p:cNvSpPr>
            <p:nvPr/>
          </p:nvSpPr>
          <p:spPr bwMode="auto">
            <a:xfrm>
              <a:off x="3459" y="541"/>
              <a:ext cx="109" cy="189"/>
            </a:xfrm>
            <a:custGeom>
              <a:avLst/>
              <a:gdLst>
                <a:gd name="T0" fmla="*/ 61 w 146"/>
                <a:gd name="T1" fmla="*/ 75 h 252"/>
                <a:gd name="T2" fmla="*/ 49 w 146"/>
                <a:gd name="T3" fmla="*/ 80 h 252"/>
                <a:gd name="T4" fmla="*/ 48 w 146"/>
                <a:gd name="T5" fmla="*/ 99 h 252"/>
                <a:gd name="T6" fmla="*/ 16 w 146"/>
                <a:gd name="T7" fmla="*/ 110 h 252"/>
                <a:gd name="T8" fmla="*/ 6 w 146"/>
                <a:gd name="T9" fmla="*/ 126 h 252"/>
                <a:gd name="T10" fmla="*/ 15 w 146"/>
                <a:gd name="T11" fmla="*/ 137 h 252"/>
                <a:gd name="T12" fmla="*/ 6 w 146"/>
                <a:gd name="T13" fmla="*/ 149 h 252"/>
                <a:gd name="T14" fmla="*/ 18 w 146"/>
                <a:gd name="T15" fmla="*/ 189 h 252"/>
                <a:gd name="T16" fmla="*/ 21 w 146"/>
                <a:gd name="T17" fmla="*/ 161 h 252"/>
                <a:gd name="T18" fmla="*/ 16 w 146"/>
                <a:gd name="T19" fmla="*/ 144 h 252"/>
                <a:gd name="T20" fmla="*/ 31 w 146"/>
                <a:gd name="T21" fmla="*/ 132 h 252"/>
                <a:gd name="T22" fmla="*/ 39 w 146"/>
                <a:gd name="T23" fmla="*/ 119 h 252"/>
                <a:gd name="T24" fmla="*/ 49 w 146"/>
                <a:gd name="T25" fmla="*/ 131 h 252"/>
                <a:gd name="T26" fmla="*/ 33 w 146"/>
                <a:gd name="T27" fmla="*/ 143 h 252"/>
                <a:gd name="T28" fmla="*/ 42 w 146"/>
                <a:gd name="T29" fmla="*/ 150 h 252"/>
                <a:gd name="T30" fmla="*/ 51 w 146"/>
                <a:gd name="T31" fmla="*/ 134 h 252"/>
                <a:gd name="T32" fmla="*/ 63 w 146"/>
                <a:gd name="T33" fmla="*/ 138 h 252"/>
                <a:gd name="T34" fmla="*/ 78 w 146"/>
                <a:gd name="T35" fmla="*/ 111 h 252"/>
                <a:gd name="T36" fmla="*/ 85 w 146"/>
                <a:gd name="T37" fmla="*/ 117 h 252"/>
                <a:gd name="T38" fmla="*/ 102 w 146"/>
                <a:gd name="T39" fmla="*/ 111 h 252"/>
                <a:gd name="T40" fmla="*/ 109 w 146"/>
                <a:gd name="T41" fmla="*/ 98 h 252"/>
                <a:gd name="T42" fmla="*/ 106 w 146"/>
                <a:gd name="T43" fmla="*/ 83 h 252"/>
                <a:gd name="T44" fmla="*/ 100 w 146"/>
                <a:gd name="T45" fmla="*/ 74 h 252"/>
                <a:gd name="T46" fmla="*/ 91 w 146"/>
                <a:gd name="T47" fmla="*/ 30 h 252"/>
                <a:gd name="T48" fmla="*/ 70 w 146"/>
                <a:gd name="T49" fmla="*/ 0 h 252"/>
                <a:gd name="T50" fmla="*/ 58 w 146"/>
                <a:gd name="T51" fmla="*/ 9 h 252"/>
                <a:gd name="T52" fmla="*/ 72 w 146"/>
                <a:gd name="T53" fmla="*/ 26 h 252"/>
                <a:gd name="T54" fmla="*/ 72 w 146"/>
                <a:gd name="T55" fmla="*/ 48 h 252"/>
                <a:gd name="T56" fmla="*/ 61 w 146"/>
                <a:gd name="T57" fmla="*/ 75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未知"/>
            <p:cNvSpPr>
              <a:spLocks/>
            </p:cNvSpPr>
            <p:nvPr/>
          </p:nvSpPr>
          <p:spPr bwMode="auto">
            <a:xfrm>
              <a:off x="2398" y="37"/>
              <a:ext cx="52" cy="30"/>
            </a:xfrm>
            <a:custGeom>
              <a:avLst/>
              <a:gdLst>
                <a:gd name="T0" fmla="*/ 44 w 70"/>
                <a:gd name="T1" fmla="*/ 0 h 40"/>
                <a:gd name="T2" fmla="*/ 48 w 70"/>
                <a:gd name="T3" fmla="*/ 15 h 40"/>
                <a:gd name="T4" fmla="*/ 30 w 70"/>
                <a:gd name="T5" fmla="*/ 18 h 40"/>
                <a:gd name="T6" fmla="*/ 23 w 70"/>
                <a:gd name="T7" fmla="*/ 30 h 40"/>
                <a:gd name="T8" fmla="*/ 5 w 70"/>
                <a:gd name="T9" fmla="*/ 29 h 40"/>
                <a:gd name="T10" fmla="*/ 1 w 70"/>
                <a:gd name="T11" fmla="*/ 27 h 40"/>
                <a:gd name="T12" fmla="*/ 25 w 70"/>
                <a:gd name="T13" fmla="*/ 15 h 40"/>
                <a:gd name="T14" fmla="*/ 44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未知"/>
            <p:cNvSpPr>
              <a:spLocks/>
            </p:cNvSpPr>
            <p:nvPr/>
          </p:nvSpPr>
          <p:spPr bwMode="auto">
            <a:xfrm>
              <a:off x="2291" y="46"/>
              <a:ext cx="19" cy="22"/>
            </a:xfrm>
            <a:custGeom>
              <a:avLst/>
              <a:gdLst>
                <a:gd name="T0" fmla="*/ 13 w 26"/>
                <a:gd name="T1" fmla="*/ 0 h 29"/>
                <a:gd name="T2" fmla="*/ 0 w 26"/>
                <a:gd name="T3" fmla="*/ 14 h 29"/>
                <a:gd name="T4" fmla="*/ 13 w 26"/>
                <a:gd name="T5" fmla="*/ 20 h 29"/>
                <a:gd name="T6" fmla="*/ 13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未知"/>
            <p:cNvSpPr>
              <a:spLocks/>
            </p:cNvSpPr>
            <p:nvPr/>
          </p:nvSpPr>
          <p:spPr bwMode="auto">
            <a:xfrm>
              <a:off x="2315" y="45"/>
              <a:ext cx="37" cy="27"/>
            </a:xfrm>
            <a:custGeom>
              <a:avLst/>
              <a:gdLst>
                <a:gd name="T0" fmla="*/ 11 w 49"/>
                <a:gd name="T1" fmla="*/ 5 h 36"/>
                <a:gd name="T2" fmla="*/ 0 w 49"/>
                <a:gd name="T3" fmla="*/ 14 h 36"/>
                <a:gd name="T4" fmla="*/ 5 w 49"/>
                <a:gd name="T5" fmla="*/ 24 h 36"/>
                <a:gd name="T6" fmla="*/ 14 w 49"/>
                <a:gd name="T7" fmla="*/ 27 h 36"/>
                <a:gd name="T8" fmla="*/ 30 w 49"/>
                <a:gd name="T9" fmla="*/ 20 h 36"/>
                <a:gd name="T10" fmla="*/ 11 w 49"/>
                <a:gd name="T11" fmla="*/ 5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未知"/>
            <p:cNvSpPr>
              <a:spLocks/>
            </p:cNvSpPr>
            <p:nvPr/>
          </p:nvSpPr>
          <p:spPr bwMode="auto">
            <a:xfrm>
              <a:off x="2376" y="36"/>
              <a:ext cx="20" cy="16"/>
            </a:xfrm>
            <a:custGeom>
              <a:avLst/>
              <a:gdLst>
                <a:gd name="T0" fmla="*/ 8 w 27"/>
                <a:gd name="T1" fmla="*/ 0 h 22"/>
                <a:gd name="T2" fmla="*/ 2 w 27"/>
                <a:gd name="T3" fmla="*/ 9 h 22"/>
                <a:gd name="T4" fmla="*/ 14 w 27"/>
                <a:gd name="T5" fmla="*/ 16 h 22"/>
                <a:gd name="T6" fmla="*/ 8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未知"/>
            <p:cNvSpPr>
              <a:spLocks/>
            </p:cNvSpPr>
            <p:nvPr/>
          </p:nvSpPr>
          <p:spPr bwMode="auto">
            <a:xfrm>
              <a:off x="2358" y="54"/>
              <a:ext cx="15" cy="13"/>
            </a:xfrm>
            <a:custGeom>
              <a:avLst/>
              <a:gdLst>
                <a:gd name="T0" fmla="*/ 8 w 20"/>
                <a:gd name="T1" fmla="*/ 0 h 18"/>
                <a:gd name="T2" fmla="*/ 7 w 20"/>
                <a:gd name="T3" fmla="*/ 13 h 18"/>
                <a:gd name="T4" fmla="*/ 8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未知"/>
            <p:cNvSpPr>
              <a:spLocks/>
            </p:cNvSpPr>
            <p:nvPr/>
          </p:nvSpPr>
          <p:spPr bwMode="auto">
            <a:xfrm>
              <a:off x="3498" y="70"/>
              <a:ext cx="18" cy="33"/>
            </a:xfrm>
            <a:custGeom>
              <a:avLst/>
              <a:gdLst>
                <a:gd name="T0" fmla="*/ 18 w 24"/>
                <a:gd name="T1" fmla="*/ 0 h 44"/>
                <a:gd name="T2" fmla="*/ 6 w 24"/>
                <a:gd name="T3" fmla="*/ 12 h 44"/>
                <a:gd name="T4" fmla="*/ 0 w 24"/>
                <a:gd name="T5" fmla="*/ 26 h 44"/>
                <a:gd name="T6" fmla="*/ 12 w 24"/>
                <a:gd name="T7" fmla="*/ 30 h 44"/>
                <a:gd name="T8" fmla="*/ 18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未知"/>
            <p:cNvSpPr>
              <a:spLocks/>
            </p:cNvSpPr>
            <p:nvPr/>
          </p:nvSpPr>
          <p:spPr bwMode="auto">
            <a:xfrm>
              <a:off x="2614" y="1522"/>
              <a:ext cx="31" cy="18"/>
            </a:xfrm>
            <a:custGeom>
              <a:avLst/>
              <a:gdLst>
                <a:gd name="T0" fmla="*/ 23 w 41"/>
                <a:gd name="T1" fmla="*/ 0 h 24"/>
                <a:gd name="T2" fmla="*/ 20 w 41"/>
                <a:gd name="T3" fmla="*/ 18 h 24"/>
                <a:gd name="T4" fmla="*/ 23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未知"/>
            <p:cNvSpPr>
              <a:spLocks/>
            </p:cNvSpPr>
            <p:nvPr/>
          </p:nvSpPr>
          <p:spPr bwMode="auto">
            <a:xfrm>
              <a:off x="2654" y="1515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未知"/>
            <p:cNvSpPr>
              <a:spLocks/>
            </p:cNvSpPr>
            <p:nvPr/>
          </p:nvSpPr>
          <p:spPr bwMode="auto">
            <a:xfrm>
              <a:off x="2587" y="1361"/>
              <a:ext cx="9" cy="15"/>
            </a:xfrm>
            <a:custGeom>
              <a:avLst/>
              <a:gdLst>
                <a:gd name="T0" fmla="*/ 7 w 13"/>
                <a:gd name="T1" fmla="*/ 4 h 20"/>
                <a:gd name="T2" fmla="*/ 1 w 13"/>
                <a:gd name="T3" fmla="*/ 8 h 20"/>
                <a:gd name="T4" fmla="*/ 6 w 13"/>
                <a:gd name="T5" fmla="*/ 15 h 20"/>
                <a:gd name="T6" fmla="*/ 7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未知"/>
            <p:cNvSpPr>
              <a:spLocks/>
            </p:cNvSpPr>
            <p:nvPr/>
          </p:nvSpPr>
          <p:spPr bwMode="auto">
            <a:xfrm>
              <a:off x="2647" y="1288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未知"/>
            <p:cNvSpPr>
              <a:spLocks/>
            </p:cNvSpPr>
            <p:nvPr/>
          </p:nvSpPr>
          <p:spPr bwMode="auto">
            <a:xfrm>
              <a:off x="2623" y="1287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未知"/>
            <p:cNvSpPr>
              <a:spLocks/>
            </p:cNvSpPr>
            <p:nvPr/>
          </p:nvSpPr>
          <p:spPr bwMode="auto">
            <a:xfrm>
              <a:off x="2612" y="1309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未知"/>
            <p:cNvSpPr>
              <a:spLocks/>
            </p:cNvSpPr>
            <p:nvPr/>
          </p:nvSpPr>
          <p:spPr bwMode="auto">
            <a:xfrm>
              <a:off x="2587" y="1343"/>
              <a:ext cx="9" cy="15"/>
            </a:xfrm>
            <a:custGeom>
              <a:avLst/>
              <a:gdLst>
                <a:gd name="T0" fmla="*/ 7 w 13"/>
                <a:gd name="T1" fmla="*/ 4 h 20"/>
                <a:gd name="T2" fmla="*/ 1 w 13"/>
                <a:gd name="T3" fmla="*/ 8 h 20"/>
                <a:gd name="T4" fmla="*/ 6 w 13"/>
                <a:gd name="T5" fmla="*/ 15 h 20"/>
                <a:gd name="T6" fmla="*/ 7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未知"/>
            <p:cNvSpPr>
              <a:spLocks/>
            </p:cNvSpPr>
            <p:nvPr/>
          </p:nvSpPr>
          <p:spPr bwMode="auto">
            <a:xfrm>
              <a:off x="2606" y="1330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未知"/>
            <p:cNvSpPr>
              <a:spLocks/>
            </p:cNvSpPr>
            <p:nvPr/>
          </p:nvSpPr>
          <p:spPr bwMode="auto">
            <a:xfrm>
              <a:off x="1873" y="342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未知"/>
            <p:cNvSpPr>
              <a:spLocks/>
            </p:cNvSpPr>
            <p:nvPr/>
          </p:nvSpPr>
          <p:spPr bwMode="auto">
            <a:xfrm>
              <a:off x="1812" y="308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未知"/>
            <p:cNvSpPr>
              <a:spLocks/>
            </p:cNvSpPr>
            <p:nvPr/>
          </p:nvSpPr>
          <p:spPr bwMode="auto">
            <a:xfrm>
              <a:off x="1574" y="91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0450" y="3167063"/>
            <a:ext cx="4425950" cy="298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56425" y="3352800"/>
            <a:ext cx="1654175" cy="87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96400" y="2895600"/>
            <a:ext cx="1112838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4994275" y="4594225"/>
            <a:ext cx="4911725" cy="188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95888" y="3097213"/>
            <a:ext cx="29718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943600" y="1993900"/>
            <a:ext cx="1546225" cy="166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626100" y="2862263"/>
            <a:ext cx="6238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9359900" y="95250"/>
            <a:ext cx="1803400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10204450" y="1968500"/>
            <a:ext cx="10795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" name="Picture 123" descr="aa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6156325" y="188913"/>
            <a:ext cx="26384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64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304800" y="4419600"/>
            <a:ext cx="6400800" cy="1143000"/>
          </a:xfrm>
        </p:spPr>
        <p:txBody>
          <a:bodyPr/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 smtClean="0"/>
              <a:t>Click to edit Master title style</a:t>
            </a:r>
          </a:p>
        </p:txBody>
      </p:sp>
      <p:sp>
        <p:nvSpPr>
          <p:cNvPr id="2165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715000"/>
            <a:ext cx="4340225" cy="381000"/>
          </a:xfrm>
        </p:spPr>
        <p:txBody>
          <a:bodyPr/>
          <a:lstStyle>
            <a:lvl1pPr marL="0" indent="0" algn="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 smtClean="0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8200" y="24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3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39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5200" y="202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1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1000" y="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8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grpSp>
        <p:nvGrpSpPr>
          <p:cNvPr id="3" name="Group 11"/>
          <p:cNvGrpSpPr>
            <a:grpSpLocks/>
          </p:cNvGrpSpPr>
          <p:nvPr userDrawn="1"/>
        </p:nvGrpSpPr>
        <p:grpSpPr bwMode="auto">
          <a:xfrm>
            <a:off x="257175" y="561975"/>
            <a:ext cx="3384550" cy="600075"/>
            <a:chOff x="0" y="0"/>
            <a:chExt cx="7484" cy="1474"/>
          </a:xfrm>
        </p:grpSpPr>
        <p:sp>
          <p:nvSpPr>
            <p:cNvPr id="4" name="Line 12"/>
            <p:cNvSpPr>
              <a:spLocks noChangeShapeType="1"/>
            </p:cNvSpPr>
            <p:nvPr userDrawn="1"/>
          </p:nvSpPr>
          <p:spPr bwMode="auto">
            <a:xfrm>
              <a:off x="418" y="0"/>
              <a:ext cx="1" cy="1475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13"/>
            <p:cNvSpPr>
              <a:spLocks noChangeShapeType="1"/>
            </p:cNvSpPr>
            <p:nvPr userDrawn="1"/>
          </p:nvSpPr>
          <p:spPr bwMode="auto">
            <a:xfrm flipV="1">
              <a:off x="0" y="1021"/>
              <a:ext cx="7485" cy="1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"/>
          <p:cNvPicPr>
            <a:picLocks noChangeAspect="1" noChangeArrowheads="1"/>
          </p:cNvPicPr>
          <p:nvPr/>
        </p:nvPicPr>
        <p:blipFill>
          <a:blip r:embed="rId5"/>
          <a:srcRect b="38461"/>
          <a:stretch>
            <a:fillRect/>
          </a:stretch>
        </p:blipFill>
        <p:spPr bwMode="auto">
          <a:xfrm>
            <a:off x="0" y="6340475"/>
            <a:ext cx="91440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aa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Click to edit Master title style</a:t>
            </a:r>
          </a:p>
        </p:txBody>
      </p:sp>
      <p:sp>
        <p:nvSpPr>
          <p:cNvPr id="1030" name="Text Box 6"/>
          <p:cNvSpPr txBox="1">
            <a:spLocks noChangeArrowheads="1"/>
          </p:cNvSpPr>
          <p:nvPr userDrawn="1"/>
        </p:nvSpPr>
        <p:spPr bwMode="auto">
          <a:xfrm>
            <a:off x="838200" y="6491288"/>
            <a:ext cx="7010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/>
          </a:p>
        </p:txBody>
      </p:sp>
      <p:grpSp>
        <p:nvGrpSpPr>
          <p:cNvPr id="2" name="Group 7"/>
          <p:cNvGrpSpPr>
            <a:grpSpLocks/>
          </p:cNvGrpSpPr>
          <p:nvPr userDrawn="1"/>
        </p:nvGrpSpPr>
        <p:grpSpPr bwMode="auto">
          <a:xfrm>
            <a:off x="457200" y="6564313"/>
            <a:ext cx="8229600" cy="476250"/>
            <a:chOff x="0" y="0"/>
            <a:chExt cx="12960" cy="750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33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fld id="{01F4F3B6-B390-4184-9803-AAE8C5DDE6BF}" type="datetime1">
                <a:rPr lang="zh-CN" altLang="en-US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pPr/>
                <a:t>2015/5/3</a:t>
              </a:fld>
              <a:endParaRPr lang="zh-CN" altLang="zh-CN" sz="1200" b="1">
                <a:solidFill>
                  <a:schemeClr val="bg1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9600" y="0"/>
              <a:ext cx="33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/>
              <a:fld id="{700BAF2C-D18A-4FC0-A2C5-17FFA0D4AB90}" type="slidenum">
                <a:rPr lang="zh-CN" altLang="en-US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pPr algn="r"/>
                <a:t>‹#›</a:t>
              </a:fld>
              <a:r>
                <a:rPr lang="zh-CN" altLang="en-US" sz="1200" b="1" dirty="0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 / </a:t>
              </a:r>
              <a:r>
                <a:rPr lang="en-US" altLang="zh-CN" sz="1200" b="1" dirty="0" smtClean="0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22</a:t>
              </a:r>
              <a:endParaRPr lang="zh-CN" altLang="en-US" sz="1200" b="1" dirty="0">
                <a:solidFill>
                  <a:schemeClr val="bg1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4200" y="0"/>
              <a:ext cx="45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zh-CN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第三章 多维随机变量及其分布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41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12" Type="http://schemas.openxmlformats.org/officeDocument/2006/relationships/image" Target="../media/image40.wmf"/><Relationship Id="rId2" Type="http://schemas.openxmlformats.org/officeDocument/2006/relationships/image" Target="../media/image30.wmf"/><Relationship Id="rId16" Type="http://schemas.openxmlformats.org/officeDocument/2006/relationships/image" Target="../media/image4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image" Target="../media/image33.wmf"/><Relationship Id="rId15" Type="http://schemas.openxmlformats.org/officeDocument/2006/relationships/image" Target="../media/image28.wmf"/><Relationship Id="rId10" Type="http://schemas.openxmlformats.org/officeDocument/2006/relationships/image" Target="../media/image38.wmf"/><Relationship Id="rId4" Type="http://schemas.openxmlformats.org/officeDocument/2006/relationships/image" Target="../media/image32.wmf"/><Relationship Id="rId9" Type="http://schemas.openxmlformats.org/officeDocument/2006/relationships/image" Target="../media/image37.wmf"/><Relationship Id="rId14" Type="http://schemas.openxmlformats.org/officeDocument/2006/relationships/image" Target="../media/image4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45.wmf"/><Relationship Id="rId7" Type="http://schemas.openxmlformats.org/officeDocument/2006/relationships/image" Target="../media/image48.wmf"/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5" Type="http://schemas.openxmlformats.org/officeDocument/2006/relationships/image" Target="../media/image47.wmf"/><Relationship Id="rId10" Type="http://schemas.openxmlformats.org/officeDocument/2006/relationships/image" Target="../media/image43.wmf"/><Relationship Id="rId4" Type="http://schemas.openxmlformats.org/officeDocument/2006/relationships/image" Target="../media/image46.wmf"/><Relationship Id="rId9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50.wmf"/><Relationship Id="rId7" Type="http://schemas.openxmlformats.org/officeDocument/2006/relationships/image" Target="../media/image28.wmf"/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image" Target="../media/image52.wmf"/><Relationship Id="rId10" Type="http://schemas.openxmlformats.org/officeDocument/2006/relationships/image" Target="../media/image31.wmf"/><Relationship Id="rId4" Type="http://schemas.openxmlformats.org/officeDocument/2006/relationships/image" Target="../media/image51.wmf"/><Relationship Id="rId9" Type="http://schemas.openxmlformats.org/officeDocument/2006/relationships/image" Target="../media/image5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6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12" Type="http://schemas.openxmlformats.org/officeDocument/2006/relationships/image" Target="../media/image85.wmf"/><Relationship Id="rId2" Type="http://schemas.openxmlformats.org/officeDocument/2006/relationships/image" Target="../media/image75.wmf"/><Relationship Id="rId16" Type="http://schemas.openxmlformats.org/officeDocument/2006/relationships/image" Target="../media/image8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wmf"/><Relationship Id="rId11" Type="http://schemas.openxmlformats.org/officeDocument/2006/relationships/image" Target="../media/image84.wmf"/><Relationship Id="rId5" Type="http://schemas.openxmlformats.org/officeDocument/2006/relationships/image" Target="../media/image78.wmf"/><Relationship Id="rId15" Type="http://schemas.openxmlformats.org/officeDocument/2006/relationships/image" Target="../media/image88.wmf"/><Relationship Id="rId10" Type="http://schemas.openxmlformats.org/officeDocument/2006/relationships/image" Target="../media/image83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Relationship Id="rId14" Type="http://schemas.openxmlformats.org/officeDocument/2006/relationships/image" Target="../media/image8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image" Target="../media/image98.wmf"/><Relationship Id="rId18" Type="http://schemas.openxmlformats.org/officeDocument/2006/relationships/image" Target="../media/image88.wmf"/><Relationship Id="rId3" Type="http://schemas.openxmlformats.org/officeDocument/2006/relationships/oleObject" Target="../embeddings/oleObject8.bin"/><Relationship Id="rId7" Type="http://schemas.openxmlformats.org/officeDocument/2006/relationships/image" Target="../media/image92.wmf"/><Relationship Id="rId12" Type="http://schemas.openxmlformats.org/officeDocument/2006/relationships/image" Target="../media/image97.wmf"/><Relationship Id="rId17" Type="http://schemas.openxmlformats.org/officeDocument/2006/relationships/image" Target="../media/image8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6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91.emf"/><Relationship Id="rId11" Type="http://schemas.openxmlformats.org/officeDocument/2006/relationships/image" Target="../media/image96.wmf"/><Relationship Id="rId5" Type="http://schemas.openxmlformats.org/officeDocument/2006/relationships/oleObject" Target="../embeddings/oleObject9.bin"/><Relationship Id="rId15" Type="http://schemas.openxmlformats.org/officeDocument/2006/relationships/image" Target="../media/image85.wmf"/><Relationship Id="rId10" Type="http://schemas.openxmlformats.org/officeDocument/2006/relationships/image" Target="../media/image95.wmf"/><Relationship Id="rId19" Type="http://schemas.openxmlformats.org/officeDocument/2006/relationships/image" Target="../media/image89.wmf"/><Relationship Id="rId4" Type="http://schemas.openxmlformats.org/officeDocument/2006/relationships/image" Target="../media/image90.wmf"/><Relationship Id="rId9" Type="http://schemas.openxmlformats.org/officeDocument/2006/relationships/image" Target="../media/image94.wmf"/><Relationship Id="rId14" Type="http://schemas.openxmlformats.org/officeDocument/2006/relationships/image" Target="../media/image8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03.wmf"/><Relationship Id="rId22" Type="http://schemas.openxmlformats.org/officeDocument/2006/relationships/image" Target="../media/image10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86.wmf"/><Relationship Id="rId18" Type="http://schemas.openxmlformats.org/officeDocument/2006/relationships/image" Target="../media/image112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9.wmf"/><Relationship Id="rId11" Type="http://schemas.openxmlformats.org/officeDocument/2006/relationships/image" Target="../media/image84.wmf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88.wmf"/><Relationship Id="rId10" Type="http://schemas.openxmlformats.org/officeDocument/2006/relationships/image" Target="../media/image111.e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8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11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概率论与数理统计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  <a:sym typeface="宋体" pitchFamily="2" charset="-122"/>
              </a:rPr>
              <a:t>§3.</a:t>
            </a:r>
            <a:r>
              <a:rPr lang="en-US" altLang="zh-CN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  <a:sym typeface="宋体" pitchFamily="2" charset="-122"/>
              </a:rPr>
              <a:t>3</a:t>
            </a:r>
            <a:r>
              <a:rPr lang="zh-CN" altLang="en-US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  <a:sym typeface="宋体" pitchFamily="2" charset="-122"/>
              </a:rPr>
              <a:t>  条件分布</a:t>
            </a:r>
            <a:endParaRPr lang="zh-CN" altLang="en-US" dirty="0">
              <a:solidFill>
                <a:srgbClr val="7030A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39552" y="1340768"/>
            <a:ext cx="7315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2060"/>
                </a:solidFill>
                <a:latin typeface="Times New Roman" pitchFamily="18" charset="0"/>
              </a:rPr>
              <a:t>一 、</a:t>
            </a:r>
            <a:r>
              <a:rPr kumimoji="0" lang="zh-CN" altLang="en-US" sz="3200" b="1" dirty="0">
                <a:solidFill>
                  <a:srgbClr val="002060"/>
                </a:solidFill>
                <a:latin typeface="Times New Roman" pitchFamily="18" charset="0"/>
              </a:rPr>
              <a:t>离散型随机变量的条件分布律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39552" y="2191543"/>
            <a:ext cx="822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</a:rPr>
              <a:t>   </a:t>
            </a:r>
            <a:r>
              <a:rPr lang="zh-CN" altLang="en-US" sz="2800" b="1" dirty="0">
                <a:latin typeface="Times New Roman" pitchFamily="18" charset="0"/>
              </a:rPr>
              <a:t>设 </a:t>
            </a:r>
            <a:r>
              <a:rPr lang="en-US" altLang="zh-CN" sz="2800" b="1" dirty="0">
                <a:latin typeface="Times New Roman" pitchFamily="18" charset="0"/>
              </a:rPr>
              <a:t>( </a:t>
            </a:r>
            <a:r>
              <a:rPr lang="en-US" altLang="zh-CN" sz="2800" b="1" i="1" dirty="0">
                <a:latin typeface="Times New Roman" pitchFamily="18" charset="0"/>
              </a:rPr>
              <a:t>X</a:t>
            </a:r>
            <a:r>
              <a:rPr lang="en-US" altLang="zh-CN" sz="2800" b="1" dirty="0">
                <a:latin typeface="Times New Roman" pitchFamily="18" charset="0"/>
              </a:rPr>
              <a:t> ,</a:t>
            </a:r>
            <a:r>
              <a:rPr lang="en-US" altLang="zh-CN" sz="2800" b="1" i="1" dirty="0">
                <a:latin typeface="Times New Roman" pitchFamily="18" charset="0"/>
              </a:rPr>
              <a:t>Y </a:t>
            </a:r>
            <a:r>
              <a:rPr lang="en-US" altLang="zh-CN" sz="2800" b="1" dirty="0">
                <a:latin typeface="Times New Roman" pitchFamily="18" charset="0"/>
              </a:rPr>
              <a:t>) </a:t>
            </a:r>
            <a:r>
              <a:rPr lang="zh-CN" altLang="en-US" sz="2800" b="1" dirty="0">
                <a:latin typeface="Times New Roman" pitchFamily="18" charset="0"/>
              </a:rPr>
              <a:t>是二维离散型随机变量，其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</a:rPr>
              <a:t>分布律</a:t>
            </a:r>
            <a:r>
              <a:rPr lang="zh-CN" altLang="en-US" sz="2800" b="1" dirty="0">
                <a:latin typeface="Times New Roman" pitchFamily="18" charset="0"/>
              </a:rPr>
              <a:t>为                  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920552" y="3639343"/>
            <a:ext cx="7924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800" b="1" dirty="0">
                <a:latin typeface="Times New Roman" pitchFamily="18" charset="0"/>
              </a:rPr>
              <a:t>(</a:t>
            </a:r>
            <a:r>
              <a:rPr kumimoji="0" lang="en-US" altLang="zh-CN" sz="2800" b="1" i="1" dirty="0">
                <a:latin typeface="Times New Roman" pitchFamily="18" charset="0"/>
              </a:rPr>
              <a:t>X</a:t>
            </a:r>
            <a:r>
              <a:rPr kumimoji="0" lang="en-US" altLang="zh-CN" sz="2800" b="1" dirty="0">
                <a:latin typeface="Times New Roman" pitchFamily="18" charset="0"/>
              </a:rPr>
              <a:t>, </a:t>
            </a:r>
            <a:r>
              <a:rPr kumimoji="0" lang="en-US" altLang="zh-CN" sz="2800" b="1" i="1" dirty="0">
                <a:latin typeface="Times New Roman" pitchFamily="18" charset="0"/>
              </a:rPr>
              <a:t>Y </a:t>
            </a:r>
            <a:r>
              <a:rPr kumimoji="0" lang="en-US" altLang="zh-CN" sz="2800" b="1" dirty="0">
                <a:latin typeface="Times New Roman" pitchFamily="18" charset="0"/>
              </a:rPr>
              <a:t>)</a:t>
            </a:r>
            <a:r>
              <a:rPr kumimoji="0" lang="en-US" altLang="zh-CN" sz="2000" b="1" dirty="0">
                <a:latin typeface="Times New Roman" pitchFamily="18" charset="0"/>
              </a:rPr>
              <a:t>  </a:t>
            </a:r>
            <a:r>
              <a:rPr kumimoji="0" lang="zh-CN" altLang="en-US" sz="2800" b="1" dirty="0">
                <a:latin typeface="Times New Roman" pitchFamily="18" charset="0"/>
              </a:rPr>
              <a:t>关于 </a:t>
            </a:r>
            <a:r>
              <a:rPr kumimoji="0" lang="en-US" altLang="zh-CN" sz="2800" b="1" i="1" dirty="0">
                <a:latin typeface="Times New Roman" pitchFamily="18" charset="0"/>
              </a:rPr>
              <a:t>X </a:t>
            </a:r>
            <a:r>
              <a:rPr kumimoji="0" lang="zh-CN" altLang="en-US" sz="2800" b="1" dirty="0">
                <a:latin typeface="Times New Roman" pitchFamily="18" charset="0"/>
              </a:rPr>
              <a:t>和关于 </a:t>
            </a:r>
            <a:r>
              <a:rPr kumimoji="0" lang="en-US" altLang="zh-CN" sz="2800" b="1" i="1" dirty="0">
                <a:latin typeface="Times New Roman" pitchFamily="18" charset="0"/>
              </a:rPr>
              <a:t>Y </a:t>
            </a:r>
            <a:r>
              <a:rPr kumimoji="0" lang="zh-CN" altLang="en-US" sz="2800" b="1" dirty="0">
                <a:latin typeface="Times New Roman" pitchFamily="18" charset="0"/>
              </a:rPr>
              <a:t>的</a:t>
            </a:r>
            <a:r>
              <a:rPr kumimoji="0" lang="zh-CN" altLang="en-US" sz="2800" b="1" dirty="0">
                <a:solidFill>
                  <a:srgbClr val="0000CC"/>
                </a:solidFill>
                <a:latin typeface="Times New Roman" pitchFamily="18" charset="0"/>
              </a:rPr>
              <a:t>边缘分布律</a:t>
            </a:r>
            <a:r>
              <a:rPr kumimoji="0" lang="zh-CN" altLang="en-US" sz="2800" b="1" dirty="0">
                <a:latin typeface="Times New Roman" pitchFamily="18" charset="0"/>
              </a:rPr>
              <a:t>分别为：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1682552" y="2815431"/>
            <a:ext cx="6781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 i="1" dirty="0">
                <a:latin typeface="Times New Roman" pitchFamily="18" charset="0"/>
              </a:rPr>
              <a:t>P</a:t>
            </a:r>
            <a:r>
              <a:rPr lang="en-US" altLang="en-US" sz="2800" b="1" dirty="0">
                <a:latin typeface="Times New Roman" pitchFamily="18" charset="0"/>
              </a:rPr>
              <a:t>{ </a:t>
            </a:r>
            <a:r>
              <a:rPr lang="en-US" altLang="en-US" sz="2800" b="1" i="1" dirty="0">
                <a:latin typeface="Times New Roman" pitchFamily="18" charset="0"/>
              </a:rPr>
              <a:t>X</a:t>
            </a:r>
            <a:r>
              <a:rPr lang="en-US" altLang="en-US" sz="2800" b="1" dirty="0">
                <a:latin typeface="Times New Roman" pitchFamily="18" charset="0"/>
              </a:rPr>
              <a:t>= </a:t>
            </a:r>
            <a:r>
              <a:rPr lang="en-US" altLang="en-US" sz="2800" b="1" i="1" dirty="0">
                <a:latin typeface="Times New Roman" pitchFamily="18" charset="0"/>
              </a:rPr>
              <a:t>x</a:t>
            </a:r>
            <a:r>
              <a:rPr lang="en-US" altLang="en-US" sz="2800" b="1" i="1" baseline="-25000" dirty="0">
                <a:latin typeface="Times New Roman" pitchFamily="18" charset="0"/>
              </a:rPr>
              <a:t>i </a:t>
            </a:r>
            <a:r>
              <a:rPr lang="en-US" altLang="en-US" sz="2800" b="1" dirty="0">
                <a:latin typeface="Times New Roman" pitchFamily="18" charset="0"/>
              </a:rPr>
              <a:t>,</a:t>
            </a:r>
            <a:r>
              <a:rPr lang="en-US" altLang="en-US" sz="2800" b="1" i="1" dirty="0">
                <a:latin typeface="Times New Roman" pitchFamily="18" charset="0"/>
              </a:rPr>
              <a:t>Y</a:t>
            </a:r>
            <a:r>
              <a:rPr lang="en-US" altLang="en-US" sz="2800" b="1" dirty="0">
                <a:latin typeface="Times New Roman" pitchFamily="18" charset="0"/>
              </a:rPr>
              <a:t>=</a:t>
            </a:r>
            <a:r>
              <a:rPr lang="en-US" altLang="en-US" sz="2800" b="1" i="1" dirty="0">
                <a:latin typeface="Times New Roman" pitchFamily="18" charset="0"/>
              </a:rPr>
              <a:t> y</a:t>
            </a:r>
            <a:r>
              <a:rPr lang="en-US" altLang="en-US" sz="2800" b="1" i="1" baseline="-25000" dirty="0">
                <a:latin typeface="Times New Roman" pitchFamily="18" charset="0"/>
              </a:rPr>
              <a:t>j</a:t>
            </a:r>
            <a:r>
              <a:rPr lang="en-US" altLang="en-US" sz="2800" b="1" dirty="0">
                <a:latin typeface="Times New Roman" pitchFamily="18" charset="0"/>
              </a:rPr>
              <a:t> }= </a:t>
            </a:r>
            <a:r>
              <a:rPr lang="en-US" altLang="en-US" sz="2800" b="1" i="1" dirty="0">
                <a:latin typeface="Times New Roman" pitchFamily="18" charset="0"/>
              </a:rPr>
              <a:t>p</a:t>
            </a:r>
            <a:r>
              <a:rPr lang="en-US" altLang="en-US" sz="2800" b="1" i="1" baseline="-25000" dirty="0">
                <a:latin typeface="Times New Roman" pitchFamily="18" charset="0"/>
              </a:rPr>
              <a:t>i j</a:t>
            </a:r>
            <a:r>
              <a:rPr lang="en-US" altLang="en-US" sz="2800" b="1" i="1" dirty="0">
                <a:latin typeface="Times New Roman" pitchFamily="18" charset="0"/>
              </a:rPr>
              <a:t> </a:t>
            </a:r>
            <a:r>
              <a:rPr lang="en-US" altLang="en-US" sz="2800" b="1" dirty="0">
                <a:latin typeface="Times New Roman" pitchFamily="18" charset="0"/>
              </a:rPr>
              <a:t>,   </a:t>
            </a:r>
            <a:r>
              <a:rPr lang="en-US" altLang="en-US" sz="2800" b="1" i="1" dirty="0">
                <a:latin typeface="Times New Roman" pitchFamily="18" charset="0"/>
              </a:rPr>
              <a:t>i</a:t>
            </a:r>
            <a:r>
              <a:rPr lang="en-US" altLang="en-US" sz="2800" b="1" dirty="0">
                <a:latin typeface="Times New Roman" pitchFamily="18" charset="0"/>
              </a:rPr>
              <a:t> , </a:t>
            </a:r>
            <a:r>
              <a:rPr lang="en-US" altLang="en-US" sz="2800" b="1" i="1" dirty="0">
                <a:latin typeface="Times New Roman" pitchFamily="18" charset="0"/>
              </a:rPr>
              <a:t>j=</a:t>
            </a:r>
            <a:r>
              <a:rPr lang="en-US" altLang="en-US" sz="2800" b="1" dirty="0">
                <a:latin typeface="Times New Roman" pitchFamily="18" charset="0"/>
              </a:rPr>
              <a:t>1,2,...</a:t>
            </a:r>
            <a:endParaRPr lang="en-US" altLang="zh-CN" b="1" dirty="0"/>
          </a:p>
        </p:txBody>
      </p:sp>
      <p:pic>
        <p:nvPicPr>
          <p:cNvPr id="11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2952" y="4248943"/>
            <a:ext cx="6586538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25352" y="5361781"/>
            <a:ext cx="6477000" cy="10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834927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回忆</a:t>
            </a:r>
            <a:r>
              <a:rPr lang="zh-CN" altLang="en-US" sz="2800" b="1" dirty="0" smtClean="0"/>
              <a:t>：</a:t>
            </a: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条件概率</a:t>
            </a:r>
            <a:endParaRPr lang="zh-CN" altLang="en-US" sz="28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670210" y="1632016"/>
                <a:ext cx="2948692" cy="989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e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𝑨𝑩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𝑨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00CC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210" y="1632016"/>
                <a:ext cx="2948692" cy="98943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908664" y="3215987"/>
                <a:ext cx="5368649" cy="5640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/>
                  <a:t>令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𝑩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𝑿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zh-CN" altLang="en-US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，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    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𝑨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={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𝒀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64" y="3215987"/>
                <a:ext cx="5368649" cy="564001"/>
              </a:xfrm>
              <a:prstGeom prst="rect">
                <a:avLst/>
              </a:prstGeom>
              <a:blipFill rotWithShape="1">
                <a:blip r:embed="rId3"/>
                <a:stretch>
                  <a:fillRect l="-2270" t="-14130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237847" y="4221088"/>
                <a:ext cx="7142917" cy="1059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𝑿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  <m:e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𝒀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𝑿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𝒀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𝒀</m:t>
                          </m:r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altLang="zh-CN" sz="28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𝒊𝒋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00CC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847" y="4221088"/>
                <a:ext cx="7142917" cy="10592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9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8"/>
          <p:cNvSpPr>
            <a:spLocks noChangeArrowheads="1"/>
          </p:cNvSpPr>
          <p:nvPr/>
        </p:nvSpPr>
        <p:spPr bwMode="auto">
          <a:xfrm>
            <a:off x="1507827" y="2058191"/>
            <a:ext cx="533400" cy="457200"/>
          </a:xfrm>
          <a:prstGeom prst="ellipse">
            <a:avLst/>
          </a:prstGeom>
          <a:solidFill>
            <a:srgbClr val="CC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69602" y="396079"/>
            <a:ext cx="8305800" cy="116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Times New Roman" pitchFamily="18" charset="0"/>
              </a:rPr>
              <a:t>定义：</a:t>
            </a:r>
            <a:r>
              <a:rPr lang="zh-CN" altLang="en-US" sz="2800" b="1" dirty="0">
                <a:latin typeface="Times New Roman" pitchFamily="18" charset="0"/>
              </a:rPr>
              <a:t>设</a:t>
            </a:r>
            <a:r>
              <a:rPr lang="en-US" altLang="zh-CN" sz="2800" b="1" dirty="0">
                <a:latin typeface="Times New Roman" pitchFamily="18" charset="0"/>
              </a:rPr>
              <a:t>( </a:t>
            </a:r>
            <a:r>
              <a:rPr lang="en-US" altLang="zh-CN" sz="2800" b="1" i="1" dirty="0">
                <a:latin typeface="Times New Roman" pitchFamily="18" charset="0"/>
              </a:rPr>
              <a:t>X</a:t>
            </a:r>
            <a:r>
              <a:rPr lang="en-US" altLang="zh-CN" sz="2800" b="1" dirty="0">
                <a:latin typeface="Times New Roman" pitchFamily="18" charset="0"/>
              </a:rPr>
              <a:t> ,</a:t>
            </a:r>
            <a:r>
              <a:rPr lang="en-US" altLang="zh-CN" sz="2800" b="1" i="1" dirty="0">
                <a:latin typeface="Times New Roman" pitchFamily="18" charset="0"/>
              </a:rPr>
              <a:t>Y </a:t>
            </a:r>
            <a:r>
              <a:rPr lang="en-US" altLang="zh-CN" sz="2800" b="1" dirty="0">
                <a:latin typeface="Times New Roman" pitchFamily="18" charset="0"/>
              </a:rPr>
              <a:t>) </a:t>
            </a:r>
            <a:r>
              <a:rPr lang="zh-CN" altLang="en-US" sz="2800" b="1" dirty="0">
                <a:latin typeface="Times New Roman" pitchFamily="18" charset="0"/>
              </a:rPr>
              <a:t>是二维离散型随机变量，对于固定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</a:rPr>
              <a:t>的 </a:t>
            </a:r>
            <a:r>
              <a:rPr lang="en-US" altLang="en-US" sz="2800" b="1" i="1" dirty="0">
                <a:latin typeface="Times New Roman" pitchFamily="18" charset="0"/>
              </a:rPr>
              <a:t>j</a:t>
            </a:r>
            <a:r>
              <a:rPr lang="en-US" altLang="en-US" sz="2800" b="1" dirty="0">
                <a:latin typeface="Times New Roman" pitchFamily="18" charset="0"/>
              </a:rPr>
              <a:t> , </a:t>
            </a:r>
            <a:endParaRPr lang="en-US" altLang="zh-CN" sz="2800" b="1" dirty="0">
              <a:latin typeface="Times New Roman" pitchFamily="18" charset="0"/>
            </a:endParaRPr>
          </a:p>
        </p:txBody>
      </p:sp>
      <p:pic>
        <p:nvPicPr>
          <p:cNvPr id="4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9502" y="1829591"/>
            <a:ext cx="3113088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24297" y="2941632"/>
            <a:ext cx="7391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</a:rPr>
              <a:t>为在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Y</a:t>
            </a:r>
            <a:r>
              <a:rPr lang="en-US" altLang="en-US" sz="2800" b="1" dirty="0">
                <a:solidFill>
                  <a:srgbClr val="FF0066"/>
                </a:solidFill>
                <a:latin typeface="Times New Roman" pitchFamily="18" charset="0"/>
              </a:rPr>
              <a:t>=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 </a:t>
            </a:r>
            <a:r>
              <a:rPr lang="en-US" altLang="en-US" sz="2800" b="1" i="1" dirty="0" err="1">
                <a:solidFill>
                  <a:srgbClr val="FF0066"/>
                </a:solidFill>
                <a:latin typeface="Times New Roman" pitchFamily="18" charset="0"/>
              </a:rPr>
              <a:t>y</a:t>
            </a:r>
            <a:r>
              <a:rPr lang="en-US" altLang="en-US" sz="2800" b="1" i="1" baseline="-25000" dirty="0" err="1">
                <a:solidFill>
                  <a:srgbClr val="FF0066"/>
                </a:solidFill>
                <a:latin typeface="Times New Roman" pitchFamily="18" charset="0"/>
              </a:rPr>
              <a:t>j</a:t>
            </a:r>
            <a:r>
              <a:rPr lang="en-US" altLang="en-US" sz="2800" b="1" dirty="0"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条件下随机变量 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X </a:t>
            </a:r>
            <a:r>
              <a:rPr lang="zh-CN" altLang="zh-CN" sz="2800" b="1" dirty="0">
                <a:solidFill>
                  <a:srgbClr val="FF0066"/>
                </a:solidFill>
                <a:latin typeface="Times New Roman" pitchFamily="18" charset="0"/>
              </a:rPr>
              <a:t>的条件分布律</a:t>
            </a:r>
            <a:r>
              <a:rPr lang="zh-CN" altLang="zh-CN" sz="2800" b="1" baseline="-25000" dirty="0">
                <a:latin typeface="Times New Roman" pitchFamily="18" charset="0"/>
              </a:rPr>
              <a:t>。</a:t>
            </a:r>
            <a:endParaRPr lang="zh-CN" altLang="en-US" sz="2800" b="1" dirty="0">
              <a:latin typeface="Times New Roman" pitchFamily="18" charset="0"/>
            </a:endParaRPr>
          </a:p>
        </p:txBody>
      </p:sp>
      <p:pic>
        <p:nvPicPr>
          <p:cNvPr id="6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827" y="1981991"/>
            <a:ext cx="31432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1460202" y="1069179"/>
            <a:ext cx="4038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en-US" sz="2800" b="1" i="1">
                <a:latin typeface="Times New Roman" pitchFamily="18" charset="0"/>
              </a:rPr>
              <a:t>P</a:t>
            </a:r>
            <a:r>
              <a:rPr lang="en-US" altLang="en-US" sz="2800" b="1">
                <a:latin typeface="Times New Roman" pitchFamily="18" charset="0"/>
              </a:rPr>
              <a:t>{</a:t>
            </a:r>
            <a:r>
              <a:rPr lang="en-US" altLang="en-US" sz="2800" b="1" i="1">
                <a:latin typeface="Times New Roman" pitchFamily="18" charset="0"/>
              </a:rPr>
              <a:t>Y</a:t>
            </a:r>
            <a:r>
              <a:rPr lang="en-US" altLang="en-US" sz="2800" b="1">
                <a:latin typeface="Times New Roman" pitchFamily="18" charset="0"/>
              </a:rPr>
              <a:t>=</a:t>
            </a:r>
            <a:r>
              <a:rPr lang="en-US" altLang="en-US" sz="2800" b="1" i="1">
                <a:latin typeface="Times New Roman" pitchFamily="18" charset="0"/>
              </a:rPr>
              <a:t> y</a:t>
            </a:r>
            <a:r>
              <a:rPr lang="en-US" altLang="en-US" sz="2800" b="1" i="1" baseline="-25000">
                <a:latin typeface="Times New Roman" pitchFamily="18" charset="0"/>
              </a:rPr>
              <a:t>j</a:t>
            </a:r>
            <a:r>
              <a:rPr lang="en-US" altLang="en-US" sz="2800" b="1">
                <a:latin typeface="Times New Roman" pitchFamily="18" charset="0"/>
              </a:rPr>
              <a:t> }</a:t>
            </a:r>
            <a:r>
              <a:rPr lang="en-US" altLang="zh-CN" sz="2800" b="1">
                <a:latin typeface="Times New Roman" pitchFamily="18" charset="0"/>
              </a:rPr>
              <a:t>&gt;0, </a:t>
            </a:r>
            <a:r>
              <a:rPr lang="zh-CN" altLang="zh-CN" sz="2800" b="1">
                <a:latin typeface="Times New Roman" pitchFamily="18" charset="0"/>
              </a:rPr>
              <a:t>则称</a:t>
            </a:r>
            <a:endParaRPr lang="zh-CN" altLang="en-US" b="1"/>
          </a:p>
        </p:txBody>
      </p:sp>
      <p:pic>
        <p:nvPicPr>
          <p:cNvPr id="8" name="Object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03702" y="1829591"/>
            <a:ext cx="1076325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Object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45412" y="2124866"/>
            <a:ext cx="1425575" cy="46672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69602" y="3748877"/>
            <a:ext cx="7924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</a:rPr>
              <a:t>同样对于固定的 </a:t>
            </a:r>
            <a:r>
              <a:rPr lang="en-US" altLang="en-US" sz="2800" b="1" i="1" dirty="0">
                <a:latin typeface="Times New Roman" pitchFamily="18" charset="0"/>
              </a:rPr>
              <a:t>i</a:t>
            </a:r>
            <a:r>
              <a:rPr lang="en-US" altLang="en-US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Times New Roman" pitchFamily="18" charset="0"/>
              </a:rPr>
              <a:t>若</a:t>
            </a:r>
            <a:r>
              <a:rPr lang="en-US" altLang="en-US" sz="2800" b="1" i="1" dirty="0">
                <a:latin typeface="Times New Roman" pitchFamily="18" charset="0"/>
              </a:rPr>
              <a:t>P</a:t>
            </a:r>
            <a:r>
              <a:rPr lang="en-US" altLang="en-US" sz="2800" b="1" dirty="0">
                <a:latin typeface="Times New Roman" pitchFamily="18" charset="0"/>
              </a:rPr>
              <a:t>{</a:t>
            </a:r>
            <a:r>
              <a:rPr lang="en-US" altLang="en-US" sz="2800" b="1" i="1" dirty="0">
                <a:latin typeface="Times New Roman" pitchFamily="18" charset="0"/>
              </a:rPr>
              <a:t>X</a:t>
            </a:r>
            <a:r>
              <a:rPr lang="en-US" altLang="en-US" sz="2800" b="1" dirty="0">
                <a:latin typeface="Times New Roman" pitchFamily="18" charset="0"/>
              </a:rPr>
              <a:t>=</a:t>
            </a:r>
            <a:r>
              <a:rPr lang="en-US" altLang="en-US" sz="2800" b="1" i="1" dirty="0">
                <a:latin typeface="Times New Roman" pitchFamily="18" charset="0"/>
              </a:rPr>
              <a:t> x</a:t>
            </a:r>
            <a:r>
              <a:rPr lang="en-US" altLang="en-US" sz="2800" b="1" i="1" baseline="-25000" dirty="0">
                <a:latin typeface="Times New Roman" pitchFamily="18" charset="0"/>
              </a:rPr>
              <a:t>i</a:t>
            </a:r>
            <a:r>
              <a:rPr lang="en-US" altLang="en-US" sz="2800" b="1" dirty="0">
                <a:latin typeface="Times New Roman" pitchFamily="18" charset="0"/>
              </a:rPr>
              <a:t>}</a:t>
            </a:r>
            <a:r>
              <a:rPr lang="en-US" altLang="zh-CN" sz="2800" b="1" dirty="0">
                <a:latin typeface="Times New Roman" pitchFamily="18" charset="0"/>
              </a:rPr>
              <a:t>&gt;0,  </a:t>
            </a:r>
            <a:r>
              <a:rPr lang="zh-CN" altLang="zh-CN" sz="2800" b="1" dirty="0">
                <a:latin typeface="Times New Roman" pitchFamily="18" charset="0"/>
              </a:rPr>
              <a:t>则称</a:t>
            </a:r>
            <a:endParaRPr lang="zh-CN" altLang="en-US" sz="2800" b="1" dirty="0">
              <a:latin typeface="Times New Roman" pitchFamily="18" charset="0"/>
            </a:endParaRPr>
          </a:p>
        </p:txBody>
      </p:sp>
      <p:pic>
        <p:nvPicPr>
          <p:cNvPr id="11" name="Object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1163" y="4267991"/>
            <a:ext cx="8275637" cy="103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57200" y="5410991"/>
            <a:ext cx="7391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</a:rPr>
              <a:t>为在 </a:t>
            </a:r>
            <a:r>
              <a:rPr lang="en-US" altLang="en-US" sz="2800" b="1" i="1">
                <a:solidFill>
                  <a:srgbClr val="FF0066"/>
                </a:solidFill>
                <a:latin typeface="Times New Roman" pitchFamily="18" charset="0"/>
              </a:rPr>
              <a:t>X</a:t>
            </a:r>
            <a:r>
              <a:rPr lang="en-US" altLang="en-US" sz="2800" b="1">
                <a:solidFill>
                  <a:srgbClr val="FF0066"/>
                </a:solidFill>
                <a:latin typeface="Times New Roman" pitchFamily="18" charset="0"/>
              </a:rPr>
              <a:t>= </a:t>
            </a:r>
            <a:r>
              <a:rPr lang="en-US" altLang="en-US" sz="2800" b="1" i="1">
                <a:solidFill>
                  <a:srgbClr val="FF0066"/>
                </a:solidFill>
                <a:latin typeface="Times New Roman" pitchFamily="18" charset="0"/>
              </a:rPr>
              <a:t>x</a:t>
            </a:r>
            <a:r>
              <a:rPr lang="en-US" altLang="en-US" sz="2800" b="1" i="1" baseline="-25000">
                <a:solidFill>
                  <a:srgbClr val="FF0066"/>
                </a:solidFill>
                <a:latin typeface="Times New Roman" pitchFamily="18" charset="0"/>
              </a:rPr>
              <a:t>i</a:t>
            </a:r>
            <a:r>
              <a:rPr lang="en-US" altLang="en-US" sz="2800" b="1" i="1" baseline="-25000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条件下随机变量</a:t>
            </a:r>
            <a:r>
              <a:rPr lang="en-US" altLang="en-US" sz="2800" b="1" i="1">
                <a:solidFill>
                  <a:srgbClr val="FF0066"/>
                </a:solidFill>
                <a:latin typeface="Times New Roman" pitchFamily="18" charset="0"/>
              </a:rPr>
              <a:t>Y </a:t>
            </a:r>
            <a:r>
              <a:rPr lang="zh-CN" altLang="zh-CN" sz="2800" b="1">
                <a:solidFill>
                  <a:srgbClr val="FF0066"/>
                </a:solidFill>
                <a:latin typeface="Times New Roman" pitchFamily="18" charset="0"/>
              </a:rPr>
              <a:t>的条件分布律</a:t>
            </a:r>
            <a:r>
              <a:rPr lang="zh-CN" altLang="en-US" sz="2800" b="1">
                <a:solidFill>
                  <a:srgbClr val="FF0066"/>
                </a:solidFill>
                <a:latin typeface="Times New Roman" pitchFamily="18" charset="0"/>
              </a:rPr>
              <a:t> </a:t>
            </a:r>
            <a:r>
              <a:rPr lang="en-US" altLang="zh-CN" sz="2800" b="1">
                <a:solidFill>
                  <a:srgbClr val="FF0066"/>
                </a:solidFill>
                <a:latin typeface="Times New Roman" pitchFamily="18" charset="0"/>
              </a:rPr>
              <a:t>.</a:t>
            </a:r>
            <a:endParaRPr lang="en-US" altLang="zh-CN" sz="2800" b="1" baseline="-25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  <p:bldP spid="7" grpId="0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863748" y="824705"/>
            <a:ext cx="746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imes New Roman" pitchFamily="18" charset="0"/>
              </a:rPr>
              <a:t>条件分布律</a:t>
            </a:r>
            <a:r>
              <a:rPr lang="zh-CN" altLang="en-US" sz="2800" b="1" dirty="0">
                <a:latin typeface="Times New Roman" pitchFamily="18" charset="0"/>
              </a:rPr>
              <a:t>具有分布律的以下</a:t>
            </a:r>
            <a:r>
              <a:rPr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性质：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720873" y="2029618"/>
            <a:ext cx="5867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</a:rPr>
              <a:t>  </a:t>
            </a:r>
            <a:r>
              <a:rPr lang="en-US" altLang="zh-CN" sz="2800" b="1" dirty="0">
                <a:latin typeface="Times New Roman" pitchFamily="18" charset="0"/>
              </a:rPr>
              <a:t>1</a:t>
            </a:r>
            <a:r>
              <a:rPr lang="en-US" altLang="zh-CN" sz="2800" b="1" baseline="30000" dirty="0">
                <a:latin typeface="Times New Roman" pitchFamily="18" charset="0"/>
              </a:rPr>
              <a:t>0    </a:t>
            </a:r>
            <a:r>
              <a:rPr lang="en-US" altLang="en-US" sz="2800" b="1" i="1" dirty="0">
                <a:latin typeface="Times New Roman" pitchFamily="18" charset="0"/>
              </a:rPr>
              <a:t>P</a:t>
            </a:r>
            <a:r>
              <a:rPr lang="en-US" altLang="en-US" sz="2800" b="1" dirty="0">
                <a:latin typeface="Times New Roman" pitchFamily="18" charset="0"/>
              </a:rPr>
              <a:t>{ </a:t>
            </a:r>
            <a:r>
              <a:rPr lang="en-US" altLang="en-US" sz="2800" b="1" i="1" dirty="0">
                <a:latin typeface="Times New Roman" pitchFamily="18" charset="0"/>
              </a:rPr>
              <a:t>X</a:t>
            </a:r>
            <a:r>
              <a:rPr lang="en-US" altLang="en-US" sz="2800" b="1" dirty="0">
                <a:latin typeface="Times New Roman" pitchFamily="18" charset="0"/>
              </a:rPr>
              <a:t>= </a:t>
            </a:r>
            <a:r>
              <a:rPr lang="en-US" altLang="en-US" sz="2800" b="1" i="1" dirty="0">
                <a:latin typeface="Times New Roman" pitchFamily="18" charset="0"/>
              </a:rPr>
              <a:t>x</a:t>
            </a:r>
            <a:r>
              <a:rPr lang="en-US" altLang="en-US" sz="2800" b="1" i="1" baseline="-25000" dirty="0">
                <a:latin typeface="Times New Roman" pitchFamily="18" charset="0"/>
              </a:rPr>
              <a:t>i </a:t>
            </a:r>
            <a:r>
              <a:rPr lang="en-US" altLang="en-US" sz="2800" b="1" dirty="0">
                <a:latin typeface="Times New Roman" pitchFamily="18" charset="0"/>
              </a:rPr>
              <a:t>|</a:t>
            </a:r>
            <a:r>
              <a:rPr lang="en-US" altLang="en-US" sz="2800" b="1" i="1" dirty="0">
                <a:latin typeface="Times New Roman" pitchFamily="18" charset="0"/>
              </a:rPr>
              <a:t>Y</a:t>
            </a:r>
            <a:r>
              <a:rPr lang="en-US" altLang="en-US" sz="2800" b="1" dirty="0">
                <a:latin typeface="Times New Roman" pitchFamily="18" charset="0"/>
              </a:rPr>
              <a:t>=</a:t>
            </a:r>
            <a:r>
              <a:rPr lang="en-US" altLang="en-US" sz="2800" b="1" i="1" dirty="0">
                <a:latin typeface="Times New Roman" pitchFamily="18" charset="0"/>
              </a:rPr>
              <a:t> </a:t>
            </a:r>
            <a:r>
              <a:rPr lang="en-US" altLang="en-US" sz="2800" b="1" i="1" dirty="0" err="1">
                <a:latin typeface="Times New Roman" pitchFamily="18" charset="0"/>
              </a:rPr>
              <a:t>y</a:t>
            </a:r>
            <a:r>
              <a:rPr lang="en-US" altLang="en-US" sz="2800" b="1" i="1" baseline="-25000" dirty="0" err="1">
                <a:latin typeface="Times New Roman" pitchFamily="18" charset="0"/>
              </a:rPr>
              <a:t>j</a:t>
            </a:r>
            <a:r>
              <a:rPr lang="en-US" altLang="en-US" sz="2800" b="1" dirty="0">
                <a:latin typeface="Times New Roman" pitchFamily="18" charset="0"/>
              </a:rPr>
              <a:t> }</a:t>
            </a:r>
            <a:r>
              <a:rPr lang="en-US" altLang="en-US" sz="2800" b="1" dirty="0">
                <a:latin typeface="Times New Roman" pitchFamily="18" charset="0"/>
                <a:sym typeface="Symbol" pitchFamily="18" charset="2"/>
              </a:rPr>
              <a:t>0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；</a:t>
            </a:r>
            <a:endParaRPr lang="zh-CN" altLang="en-US" sz="2800" b="1" dirty="0">
              <a:latin typeface="Times New Roman" pitchFamily="18" charset="0"/>
            </a:endParaRPr>
          </a:p>
        </p:txBody>
      </p:sp>
      <p:pic>
        <p:nvPicPr>
          <p:cNvPr id="4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598" y="2588418"/>
            <a:ext cx="4159250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81911" y="2572543"/>
            <a:ext cx="1620837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Object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4273" y="2563018"/>
            <a:ext cx="14382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863748" y="3933056"/>
            <a:ext cx="7848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3333CC"/>
                </a:solidFill>
              </a:rPr>
              <a:t>即条件分布律也是某个随机变量的分布律。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19100" y="476672"/>
            <a:ext cx="83058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CC0000"/>
                </a:solidFill>
                <a:latin typeface="Times New Roman" pitchFamily="18" charset="0"/>
              </a:rPr>
              <a:t>例</a:t>
            </a:r>
            <a:r>
              <a:rPr lang="en-US" altLang="zh-CN" sz="2800" b="1" dirty="0" smtClean="0">
                <a:latin typeface="Times New Roman" pitchFamily="18" charset="0"/>
              </a:rPr>
              <a:t>  </a:t>
            </a:r>
            <a:r>
              <a:rPr lang="zh-CN" altLang="en-US" sz="2800" b="1" dirty="0">
                <a:latin typeface="Times New Roman" pitchFamily="18" charset="0"/>
              </a:rPr>
              <a:t>一射手进行射击</a:t>
            </a:r>
            <a:r>
              <a:rPr lang="en-US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Times New Roman" pitchFamily="18" charset="0"/>
              </a:rPr>
              <a:t>击中目标的概率为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p</a:t>
            </a:r>
            <a:r>
              <a:rPr lang="en-US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Times New Roman" pitchFamily="18" charset="0"/>
              </a:rPr>
              <a:t>射击到击中目标两次为止。以 </a:t>
            </a:r>
            <a:r>
              <a:rPr lang="en-US" altLang="zh-CN" sz="2800" b="1" i="1" dirty="0">
                <a:solidFill>
                  <a:srgbClr val="FF0066"/>
                </a:solidFill>
                <a:latin typeface="Times New Roman" pitchFamily="18" charset="0"/>
              </a:rPr>
              <a:t>X</a:t>
            </a:r>
            <a:r>
              <a:rPr lang="en-US" altLang="zh-CN" sz="2800" b="1" i="1" dirty="0">
                <a:latin typeface="Times New Roman" pitchFamily="18" charset="0"/>
              </a:rPr>
              <a:t> </a:t>
            </a:r>
            <a:r>
              <a:rPr lang="zh-CN" altLang="zh-CN" sz="2800" b="1" dirty="0">
                <a:latin typeface="Times New Roman" pitchFamily="18" charset="0"/>
              </a:rPr>
              <a:t>表示</a:t>
            </a:r>
            <a:r>
              <a:rPr lang="zh-CN" altLang="zh-CN" sz="2800" b="1" dirty="0">
                <a:solidFill>
                  <a:srgbClr val="FF0066"/>
                </a:solidFill>
                <a:latin typeface="Times New Roman" pitchFamily="18" charset="0"/>
              </a:rPr>
              <a:t>首次击 中目标所进行的射击次数</a:t>
            </a:r>
            <a:r>
              <a:rPr lang="zh-CN" altLang="zh-CN" sz="2800" b="1" dirty="0">
                <a:latin typeface="Times New Roman" pitchFamily="18" charset="0"/>
              </a:rPr>
              <a:t>，以</a:t>
            </a:r>
            <a:r>
              <a:rPr lang="zh-CN" altLang="en-US" sz="2800" b="1" i="1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3333CC"/>
                </a:solidFill>
                <a:latin typeface="Times New Roman" pitchFamily="18" charset="0"/>
              </a:rPr>
              <a:t>Y </a:t>
            </a:r>
            <a:r>
              <a:rPr lang="zh-CN" altLang="zh-CN" sz="2800" b="1" dirty="0">
                <a:latin typeface="Times New Roman" pitchFamily="18" charset="0"/>
              </a:rPr>
              <a:t>表示</a:t>
            </a:r>
            <a:r>
              <a:rPr lang="zh-CN" altLang="zh-CN" sz="2800" b="1" dirty="0">
                <a:solidFill>
                  <a:srgbClr val="3333CC"/>
                </a:solidFill>
                <a:latin typeface="Times New Roman" pitchFamily="18" charset="0"/>
              </a:rPr>
              <a:t>总共进行 的射击次数</a:t>
            </a:r>
            <a:r>
              <a:rPr lang="zh-CN" altLang="zh-CN" sz="2800" b="1" dirty="0">
                <a:latin typeface="Times New Roman" pitchFamily="18" charset="0"/>
              </a:rPr>
              <a:t>，试求 </a:t>
            </a:r>
            <a:r>
              <a:rPr lang="en-US" altLang="zh-CN" sz="2800" b="1" i="1" dirty="0">
                <a:latin typeface="Times New Roman" pitchFamily="18" charset="0"/>
              </a:rPr>
              <a:t>X </a:t>
            </a:r>
            <a:r>
              <a:rPr lang="zh-CN" altLang="zh-CN" sz="2800" b="1" dirty="0">
                <a:latin typeface="Times New Roman" pitchFamily="18" charset="0"/>
              </a:rPr>
              <a:t>和 </a:t>
            </a:r>
            <a:r>
              <a:rPr lang="zh-CN" altLang="zh-CN" sz="2800" b="1" i="1" dirty="0">
                <a:latin typeface="Times New Roman" pitchFamily="18" charset="0"/>
              </a:rPr>
              <a:t>Y </a:t>
            </a:r>
            <a:r>
              <a:rPr lang="zh-CN" altLang="zh-CN" sz="2800" b="1" dirty="0">
                <a:latin typeface="Times New Roman" pitchFamily="18" charset="0"/>
              </a:rPr>
              <a:t>的联合分布律以及条件分布律</a:t>
            </a:r>
            <a:r>
              <a:rPr lang="zh-CN" altLang="en-US" sz="2800" b="1" dirty="0">
                <a:latin typeface="Times New Roman" pitchFamily="18" charset="0"/>
              </a:rPr>
              <a:t>．   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92125" y="2690812"/>
            <a:ext cx="901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Times New Roman" pitchFamily="18" charset="0"/>
              </a:rPr>
              <a:t>解：</a:t>
            </a:r>
          </a:p>
        </p:txBody>
      </p:sp>
      <p:grpSp>
        <p:nvGrpSpPr>
          <p:cNvPr id="11" name="Group 31"/>
          <p:cNvGrpSpPr>
            <a:grpSpLocks noChangeAspect="1"/>
          </p:cNvGrpSpPr>
          <p:nvPr/>
        </p:nvGrpSpPr>
        <p:grpSpPr bwMode="auto">
          <a:xfrm>
            <a:off x="1235075" y="2690812"/>
            <a:ext cx="4441825" cy="530225"/>
            <a:chOff x="795" y="2160"/>
            <a:chExt cx="2949" cy="352"/>
          </a:xfrm>
        </p:grpSpPr>
        <p:sp>
          <p:nvSpPr>
            <p:cNvPr id="39" name="AutoShape 30"/>
            <p:cNvSpPr>
              <a:spLocks noChangeAspect="1" noChangeArrowheads="1" noTextEdit="1"/>
            </p:cNvSpPr>
            <p:nvPr/>
          </p:nvSpPr>
          <p:spPr bwMode="auto">
            <a:xfrm>
              <a:off x="795" y="2160"/>
              <a:ext cx="2875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3489" y="2193"/>
              <a:ext cx="255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；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2935" y="2193"/>
              <a:ext cx="255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2537" y="2193"/>
              <a:ext cx="255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2135" y="2193"/>
              <a:ext cx="256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998" y="2193"/>
              <a:ext cx="1021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的取值是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3218" y="2208"/>
              <a:ext cx="253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T Extra" pitchFamily="18" charset="2"/>
                  <a:ea typeface="宋体" pitchFamily="2" charset="-122"/>
                  <a:cs typeface="+mn-cs"/>
                </a:rPr>
                <a:t>L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2838" y="2185"/>
              <a:ext cx="127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7" name="Rectangle 39"/>
            <p:cNvSpPr>
              <a:spLocks noChangeArrowheads="1"/>
            </p:cNvSpPr>
            <p:nvPr/>
          </p:nvSpPr>
          <p:spPr bwMode="auto">
            <a:xfrm>
              <a:off x="2441" y="2185"/>
              <a:ext cx="127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3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2039" y="2185"/>
              <a:ext cx="12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812" y="2185"/>
              <a:ext cx="155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2" name="Group 43"/>
          <p:cNvGrpSpPr>
            <a:grpSpLocks noChangeAspect="1"/>
          </p:cNvGrpSpPr>
          <p:nvPr/>
        </p:nvGrpSpPr>
        <p:grpSpPr bwMode="auto">
          <a:xfrm>
            <a:off x="1176338" y="3300412"/>
            <a:ext cx="3814762" cy="530225"/>
            <a:chOff x="768" y="2496"/>
            <a:chExt cx="2533" cy="352"/>
          </a:xfrm>
        </p:grpSpPr>
        <p:sp>
          <p:nvSpPr>
            <p:cNvPr id="30" name="AutoShape 42"/>
            <p:cNvSpPr>
              <a:spLocks noChangeAspect="1" noChangeArrowheads="1" noTextEdit="1"/>
            </p:cNvSpPr>
            <p:nvPr/>
          </p:nvSpPr>
          <p:spPr bwMode="auto">
            <a:xfrm>
              <a:off x="768" y="2496"/>
              <a:ext cx="2399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1" name="Rectangle 44"/>
            <p:cNvSpPr>
              <a:spLocks noChangeArrowheads="1"/>
            </p:cNvSpPr>
            <p:nvPr/>
          </p:nvSpPr>
          <p:spPr bwMode="auto">
            <a:xfrm>
              <a:off x="3046" y="2529"/>
              <a:ext cx="255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2" name="Rectangle 45"/>
            <p:cNvSpPr>
              <a:spLocks noChangeArrowheads="1"/>
            </p:cNvSpPr>
            <p:nvPr/>
          </p:nvSpPr>
          <p:spPr bwMode="auto">
            <a:xfrm>
              <a:off x="2535" y="2529"/>
              <a:ext cx="256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3" name="Rectangle 46"/>
            <p:cNvSpPr>
              <a:spLocks noChangeArrowheads="1"/>
            </p:cNvSpPr>
            <p:nvPr/>
          </p:nvSpPr>
          <p:spPr bwMode="auto">
            <a:xfrm>
              <a:off x="2135" y="2529"/>
              <a:ext cx="255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4" name="Rectangle 47"/>
            <p:cNvSpPr>
              <a:spLocks noChangeArrowheads="1"/>
            </p:cNvSpPr>
            <p:nvPr/>
          </p:nvSpPr>
          <p:spPr bwMode="auto">
            <a:xfrm>
              <a:off x="1020" y="2529"/>
              <a:ext cx="1020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的取值是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5" name="Rectangle 48"/>
            <p:cNvSpPr>
              <a:spLocks noChangeArrowheads="1"/>
            </p:cNvSpPr>
            <p:nvPr/>
          </p:nvSpPr>
          <p:spPr bwMode="auto">
            <a:xfrm>
              <a:off x="2819" y="2544"/>
              <a:ext cx="253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T Extra" pitchFamily="18" charset="2"/>
                  <a:ea typeface="宋体" pitchFamily="2" charset="-122"/>
                  <a:cs typeface="+mn-cs"/>
                </a:rPr>
                <a:t>L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" name="Rectangle 49"/>
            <p:cNvSpPr>
              <a:spLocks noChangeArrowheads="1"/>
            </p:cNvSpPr>
            <p:nvPr/>
          </p:nvSpPr>
          <p:spPr bwMode="auto">
            <a:xfrm>
              <a:off x="2440" y="2522"/>
              <a:ext cx="12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" name="Rectangle 50"/>
            <p:cNvSpPr>
              <a:spLocks noChangeArrowheads="1"/>
            </p:cNvSpPr>
            <p:nvPr/>
          </p:nvSpPr>
          <p:spPr bwMode="auto">
            <a:xfrm>
              <a:off x="2046" y="2522"/>
              <a:ext cx="127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8" name="Rectangle 51"/>
            <p:cNvSpPr>
              <a:spLocks noChangeArrowheads="1"/>
            </p:cNvSpPr>
            <p:nvPr/>
          </p:nvSpPr>
          <p:spPr bwMode="auto">
            <a:xfrm>
              <a:off x="823" y="2522"/>
              <a:ext cx="168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3" name="Group 53"/>
          <p:cNvGrpSpPr>
            <a:grpSpLocks noChangeAspect="1"/>
          </p:cNvGrpSpPr>
          <p:nvPr/>
        </p:nvGrpSpPr>
        <p:grpSpPr bwMode="auto">
          <a:xfrm>
            <a:off x="5046663" y="3300412"/>
            <a:ext cx="2078037" cy="508000"/>
            <a:chOff x="3215" y="2495"/>
            <a:chExt cx="1380" cy="337"/>
          </a:xfrm>
        </p:grpSpPr>
        <p:sp>
          <p:nvSpPr>
            <p:cNvPr id="24" name="AutoShape 52"/>
            <p:cNvSpPr>
              <a:spLocks noChangeAspect="1" noChangeArrowheads="1" noTextEdit="1"/>
            </p:cNvSpPr>
            <p:nvPr/>
          </p:nvSpPr>
          <p:spPr bwMode="auto">
            <a:xfrm>
              <a:off x="3215" y="2496"/>
              <a:ext cx="1249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5" name="Rectangle 54"/>
            <p:cNvSpPr>
              <a:spLocks noChangeArrowheads="1"/>
            </p:cNvSpPr>
            <p:nvPr/>
          </p:nvSpPr>
          <p:spPr bwMode="auto">
            <a:xfrm>
              <a:off x="4340" y="2529"/>
              <a:ext cx="255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．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6" name="Rectangle 55"/>
            <p:cNvSpPr>
              <a:spLocks noChangeArrowheads="1"/>
            </p:cNvSpPr>
            <p:nvPr/>
          </p:nvSpPr>
          <p:spPr bwMode="auto">
            <a:xfrm>
              <a:off x="3236" y="2529"/>
              <a:ext cx="510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并且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Rectangle 56"/>
            <p:cNvSpPr>
              <a:spLocks noChangeArrowheads="1"/>
            </p:cNvSpPr>
            <p:nvPr/>
          </p:nvSpPr>
          <p:spPr bwMode="auto">
            <a:xfrm>
              <a:off x="4195" y="2522"/>
              <a:ext cx="155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Rectangle 57"/>
            <p:cNvSpPr>
              <a:spLocks noChangeArrowheads="1"/>
            </p:cNvSpPr>
            <p:nvPr/>
          </p:nvSpPr>
          <p:spPr bwMode="auto">
            <a:xfrm>
              <a:off x="3768" y="2522"/>
              <a:ext cx="169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" name="Rectangle 58"/>
            <p:cNvSpPr>
              <a:spLocks noChangeArrowheads="1"/>
            </p:cNvSpPr>
            <p:nvPr/>
          </p:nvSpPr>
          <p:spPr bwMode="auto">
            <a:xfrm>
              <a:off x="4017" y="2495"/>
              <a:ext cx="139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4" name="Group 70"/>
          <p:cNvGrpSpPr>
            <a:grpSpLocks noChangeAspect="1"/>
          </p:cNvGrpSpPr>
          <p:nvPr/>
        </p:nvGrpSpPr>
        <p:grpSpPr bwMode="auto">
          <a:xfrm>
            <a:off x="839788" y="4062412"/>
            <a:ext cx="3389312" cy="504825"/>
            <a:chOff x="384" y="2926"/>
            <a:chExt cx="2437" cy="363"/>
          </a:xfrm>
        </p:grpSpPr>
        <p:sp>
          <p:nvSpPr>
            <p:cNvPr id="19" name="AutoShape 69"/>
            <p:cNvSpPr>
              <a:spLocks noChangeAspect="1" noChangeArrowheads="1" noTextEdit="1"/>
            </p:cNvSpPr>
            <p:nvPr/>
          </p:nvSpPr>
          <p:spPr bwMode="auto">
            <a:xfrm>
              <a:off x="384" y="2926"/>
              <a:ext cx="2251" cy="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71"/>
            <p:cNvSpPr>
              <a:spLocks noChangeArrowheads="1"/>
            </p:cNvSpPr>
            <p:nvPr/>
          </p:nvSpPr>
          <p:spPr bwMode="auto">
            <a:xfrm>
              <a:off x="895" y="2960"/>
              <a:ext cx="1926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的联合分布律为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72"/>
            <p:cNvSpPr>
              <a:spLocks noChangeArrowheads="1"/>
            </p:cNvSpPr>
            <p:nvPr/>
          </p:nvSpPr>
          <p:spPr bwMode="auto">
            <a:xfrm>
              <a:off x="707" y="2953"/>
              <a:ext cx="168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2" name="Rectangle 73"/>
            <p:cNvSpPr>
              <a:spLocks noChangeArrowheads="1"/>
            </p:cNvSpPr>
            <p:nvPr/>
          </p:nvSpPr>
          <p:spPr bwMode="auto">
            <a:xfrm>
              <a:off x="439" y="2953"/>
              <a:ext cx="182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" name="Rectangle 74"/>
            <p:cNvSpPr>
              <a:spLocks noChangeArrowheads="1"/>
            </p:cNvSpPr>
            <p:nvPr/>
          </p:nvSpPr>
          <p:spPr bwMode="auto">
            <a:xfrm>
              <a:off x="635" y="2953"/>
              <a:ext cx="69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15" name="Object 17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0" y="4900612"/>
            <a:ext cx="28829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Object 17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60788" y="4776787"/>
            <a:ext cx="21590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Object 17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45200" y="4776787"/>
            <a:ext cx="15017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Object 17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28700" y="5626100"/>
            <a:ext cx="6096000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957888" y="43894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itchFamily="18" charset="2"/>
                <a:ea typeface="宋体" pitchFamily="2" charset="-122"/>
                <a:cs typeface="+mn-cs"/>
              </a:rPr>
              <a:t>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3" name="Object 1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138363"/>
            <a:ext cx="3189288" cy="106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Object 1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2503488"/>
            <a:ext cx="16002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Object 1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9800" y="3700463"/>
            <a:ext cx="3308350" cy="1030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Object 12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33863" y="4827588"/>
            <a:ext cx="16335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Object 12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2463" y="3986213"/>
            <a:ext cx="1514475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Object 12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0" y="4765675"/>
            <a:ext cx="2530475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Object 12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715000" y="1905000"/>
            <a:ext cx="914400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Object 12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096000" y="1219200"/>
            <a:ext cx="3048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Object 125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562600" y="3657600"/>
            <a:ext cx="1912938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Object 126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867400" y="4483100"/>
            <a:ext cx="5334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Object 127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867400" y="3733800"/>
            <a:ext cx="4762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28"/>
          <p:cNvSpPr>
            <a:spLocks noChangeArrowheads="1"/>
          </p:cNvSpPr>
          <p:nvPr/>
        </p:nvSpPr>
        <p:spPr bwMode="auto">
          <a:xfrm>
            <a:off x="622300" y="685800"/>
            <a:ext cx="6007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3399"/>
                </a:solidFill>
                <a:latin typeface="Times New Roman" pitchFamily="18" charset="0"/>
              </a:rPr>
              <a:t>X </a:t>
            </a:r>
            <a:r>
              <a:rPr kumimoji="0" lang="zh-CN" altLang="en-US" sz="2800" b="1" dirty="0">
                <a:solidFill>
                  <a:srgbClr val="003399"/>
                </a:solidFill>
                <a:latin typeface="Times New Roman" pitchFamily="18" charset="0"/>
              </a:rPr>
              <a:t>的分布律为</a:t>
            </a:r>
            <a:endParaRPr lang="zh-CN" altLang="en-US" sz="2800" b="1" dirty="0">
              <a:solidFill>
                <a:srgbClr val="003399"/>
              </a:solidFill>
              <a:latin typeface="Times New Roman" pitchFamily="18" charset="0"/>
            </a:endParaRPr>
          </a:p>
        </p:txBody>
      </p:sp>
      <p:sp>
        <p:nvSpPr>
          <p:cNvPr id="15" name="Rectangle 129"/>
          <p:cNvSpPr>
            <a:spLocks noChangeArrowheads="1"/>
          </p:cNvSpPr>
          <p:nvPr/>
        </p:nvSpPr>
        <p:spPr bwMode="auto">
          <a:xfrm>
            <a:off x="609600" y="3290888"/>
            <a:ext cx="4953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3399"/>
                </a:solidFill>
                <a:latin typeface="Times New Roman" pitchFamily="18" charset="0"/>
              </a:rPr>
              <a:t>Y  </a:t>
            </a:r>
            <a:r>
              <a:rPr kumimoji="0" lang="zh-CN" altLang="en-US" sz="2800" b="1" dirty="0">
                <a:solidFill>
                  <a:srgbClr val="003399"/>
                </a:solidFill>
                <a:latin typeface="Times New Roman" pitchFamily="18" charset="0"/>
              </a:rPr>
              <a:t>的分布律为</a:t>
            </a:r>
          </a:p>
        </p:txBody>
      </p:sp>
      <p:grpSp>
        <p:nvGrpSpPr>
          <p:cNvPr id="16" name="Group 130"/>
          <p:cNvGrpSpPr>
            <a:grpSpLocks noChangeAspect="1"/>
          </p:cNvGrpSpPr>
          <p:nvPr/>
        </p:nvGrpSpPr>
        <p:grpSpPr bwMode="auto">
          <a:xfrm>
            <a:off x="2598738" y="1189038"/>
            <a:ext cx="3140074" cy="1052512"/>
            <a:chOff x="1733" y="605"/>
            <a:chExt cx="1978" cy="663"/>
          </a:xfrm>
        </p:grpSpPr>
        <p:sp>
          <p:nvSpPr>
            <p:cNvPr id="31" name="AutoShape 131"/>
            <p:cNvSpPr>
              <a:spLocks noChangeAspect="1" noChangeArrowheads="1" noTextEdit="1"/>
            </p:cNvSpPr>
            <p:nvPr/>
          </p:nvSpPr>
          <p:spPr bwMode="auto">
            <a:xfrm>
              <a:off x="1733" y="605"/>
              <a:ext cx="1867" cy="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2" name="Rectangle 132"/>
            <p:cNvSpPr>
              <a:spLocks noChangeArrowheads="1"/>
            </p:cNvSpPr>
            <p:nvPr/>
          </p:nvSpPr>
          <p:spPr bwMode="auto">
            <a:xfrm>
              <a:off x="2130" y="690"/>
              <a:ext cx="212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{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3" name="Rectangle 133"/>
            <p:cNvSpPr>
              <a:spLocks noChangeArrowheads="1"/>
            </p:cNvSpPr>
            <p:nvPr/>
          </p:nvSpPr>
          <p:spPr bwMode="auto">
            <a:xfrm>
              <a:off x="3499" y="690"/>
              <a:ext cx="212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}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4" name="Rectangle 134"/>
            <p:cNvSpPr>
              <a:spLocks noChangeArrowheads="1"/>
            </p:cNvSpPr>
            <p:nvPr/>
          </p:nvSpPr>
          <p:spPr bwMode="auto">
            <a:xfrm>
              <a:off x="1761" y="710"/>
              <a:ext cx="386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å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5" name="Rectangle 135"/>
            <p:cNvSpPr>
              <a:spLocks noChangeArrowheads="1"/>
            </p:cNvSpPr>
            <p:nvPr/>
          </p:nvSpPr>
          <p:spPr bwMode="auto">
            <a:xfrm>
              <a:off x="3200" y="770"/>
              <a:ext cx="225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" name="Rectangle 136"/>
            <p:cNvSpPr>
              <a:spLocks noChangeArrowheads="1"/>
            </p:cNvSpPr>
            <p:nvPr/>
          </p:nvSpPr>
          <p:spPr bwMode="auto">
            <a:xfrm>
              <a:off x="2454" y="770"/>
              <a:ext cx="225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" name="Rectangle 137"/>
            <p:cNvSpPr>
              <a:spLocks noChangeArrowheads="1"/>
            </p:cNvSpPr>
            <p:nvPr/>
          </p:nvSpPr>
          <p:spPr bwMode="auto">
            <a:xfrm>
              <a:off x="1835" y="1087"/>
              <a:ext cx="11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8" name="Rectangle 138"/>
            <p:cNvSpPr>
              <a:spLocks noChangeArrowheads="1"/>
            </p:cNvSpPr>
            <p:nvPr/>
          </p:nvSpPr>
          <p:spPr bwMode="auto">
            <a:xfrm>
              <a:off x="3360" y="795"/>
              <a:ext cx="189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" name="Rectangle 139"/>
            <p:cNvSpPr>
              <a:spLocks noChangeArrowheads="1"/>
            </p:cNvSpPr>
            <p:nvPr/>
          </p:nvSpPr>
          <p:spPr bwMode="auto">
            <a:xfrm>
              <a:off x="3003" y="795"/>
              <a:ext cx="200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0" name="Rectangle 140"/>
            <p:cNvSpPr>
              <a:spLocks noChangeArrowheads="1"/>
            </p:cNvSpPr>
            <p:nvPr/>
          </p:nvSpPr>
          <p:spPr bwMode="auto">
            <a:xfrm>
              <a:off x="2614" y="795"/>
              <a:ext cx="233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m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1" name="Rectangle 141"/>
            <p:cNvSpPr>
              <a:spLocks noChangeArrowheads="1"/>
            </p:cNvSpPr>
            <p:nvPr/>
          </p:nvSpPr>
          <p:spPr bwMode="auto">
            <a:xfrm>
              <a:off x="2249" y="795"/>
              <a:ext cx="211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2" name="Rectangle 142"/>
            <p:cNvSpPr>
              <a:spLocks noChangeArrowheads="1"/>
            </p:cNvSpPr>
            <p:nvPr/>
          </p:nvSpPr>
          <p:spPr bwMode="auto">
            <a:xfrm>
              <a:off x="2007" y="795"/>
              <a:ext cx="200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P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3" name="Rectangle 143"/>
            <p:cNvSpPr>
              <a:spLocks noChangeArrowheads="1"/>
            </p:cNvSpPr>
            <p:nvPr/>
          </p:nvSpPr>
          <p:spPr bwMode="auto">
            <a:xfrm>
              <a:off x="2771" y="802"/>
              <a:ext cx="295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7" name="Group 144"/>
          <p:cNvGrpSpPr>
            <a:grpSpLocks noChangeAspect="1"/>
          </p:cNvGrpSpPr>
          <p:nvPr/>
        </p:nvGrpSpPr>
        <p:grpSpPr bwMode="auto">
          <a:xfrm>
            <a:off x="685800" y="1377950"/>
            <a:ext cx="1785938" cy="603250"/>
            <a:chOff x="625" y="678"/>
            <a:chExt cx="1125" cy="380"/>
          </a:xfrm>
        </p:grpSpPr>
        <p:sp>
          <p:nvSpPr>
            <p:cNvPr id="23" name="AutoShape 145"/>
            <p:cNvSpPr>
              <a:spLocks noChangeAspect="1" noChangeArrowheads="1" noTextEdit="1"/>
            </p:cNvSpPr>
            <p:nvPr/>
          </p:nvSpPr>
          <p:spPr bwMode="auto">
            <a:xfrm>
              <a:off x="625" y="756"/>
              <a:ext cx="1125" cy="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4" name="Rectangle 146"/>
            <p:cNvSpPr>
              <a:spLocks noChangeArrowheads="1"/>
            </p:cNvSpPr>
            <p:nvPr/>
          </p:nvSpPr>
          <p:spPr bwMode="auto">
            <a:xfrm>
              <a:off x="804" y="678"/>
              <a:ext cx="139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{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5" name="Rectangle 147"/>
            <p:cNvSpPr>
              <a:spLocks noChangeArrowheads="1"/>
            </p:cNvSpPr>
            <p:nvPr/>
          </p:nvSpPr>
          <p:spPr bwMode="auto">
            <a:xfrm>
              <a:off x="1473" y="678"/>
              <a:ext cx="139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}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6" name="Rectangle 148"/>
            <p:cNvSpPr>
              <a:spLocks noChangeArrowheads="1"/>
            </p:cNvSpPr>
            <p:nvPr/>
          </p:nvSpPr>
          <p:spPr bwMode="auto">
            <a:xfrm>
              <a:off x="1599" y="755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Rectangle 149"/>
            <p:cNvSpPr>
              <a:spLocks noChangeArrowheads="1"/>
            </p:cNvSpPr>
            <p:nvPr/>
          </p:nvSpPr>
          <p:spPr bwMode="auto">
            <a:xfrm>
              <a:off x="1124" y="755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Rectangle 150"/>
            <p:cNvSpPr>
              <a:spLocks noChangeArrowheads="1"/>
            </p:cNvSpPr>
            <p:nvPr/>
          </p:nvSpPr>
          <p:spPr bwMode="auto">
            <a:xfrm>
              <a:off x="1301" y="779"/>
              <a:ext cx="168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m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" name="Rectangle 151"/>
            <p:cNvSpPr>
              <a:spLocks noChangeArrowheads="1"/>
            </p:cNvSpPr>
            <p:nvPr/>
          </p:nvSpPr>
          <p:spPr bwMode="auto">
            <a:xfrm>
              <a:off x="896" y="779"/>
              <a:ext cx="144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7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0" name="Rectangle 152"/>
            <p:cNvSpPr>
              <a:spLocks noChangeArrowheads="1"/>
            </p:cNvSpPr>
            <p:nvPr/>
          </p:nvSpPr>
          <p:spPr bwMode="auto">
            <a:xfrm>
              <a:off x="667" y="779"/>
              <a:ext cx="13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P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18" name="Object 19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686425" y="1143000"/>
            <a:ext cx="1857375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Rectangle 192"/>
          <p:cNvSpPr>
            <a:spLocks noChangeArrowheads="1"/>
          </p:cNvSpPr>
          <p:nvPr/>
        </p:nvSpPr>
        <p:spPr bwMode="auto">
          <a:xfrm>
            <a:off x="533400" y="5486400"/>
            <a:ext cx="8001000" cy="685800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0" name="Object 193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33400" y="5634038"/>
            <a:ext cx="2317750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Object 194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2895600" y="5562600"/>
            <a:ext cx="1425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Object 195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4575175" y="5621338"/>
            <a:ext cx="403542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0"/>
          <p:cNvSpPr>
            <a:spLocks noChangeArrowheads="1"/>
          </p:cNvSpPr>
          <p:nvPr/>
        </p:nvSpPr>
        <p:spPr bwMode="auto">
          <a:xfrm>
            <a:off x="1790700" y="2344738"/>
            <a:ext cx="533400" cy="533400"/>
          </a:xfrm>
          <a:prstGeom prst="ellipse">
            <a:avLst/>
          </a:prstGeom>
          <a:solidFill>
            <a:srgbClr val="FFFFCC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36575" y="800100"/>
            <a:ext cx="7273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b="1" dirty="0">
                <a:latin typeface="Times New Roman" pitchFamily="18" charset="0"/>
              </a:rPr>
              <a:t>在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Y</a:t>
            </a:r>
            <a:r>
              <a:rPr lang="en-US" altLang="en-US" sz="2800" b="1" dirty="0">
                <a:solidFill>
                  <a:srgbClr val="FF0066"/>
                </a:solidFill>
                <a:latin typeface="Times New Roman" pitchFamily="18" charset="0"/>
              </a:rPr>
              <a:t>=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n</a:t>
            </a:r>
            <a:r>
              <a:rPr lang="en-US" altLang="en-US" sz="2800" b="1" i="1" dirty="0"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条件下随机变量</a:t>
            </a:r>
            <a:r>
              <a:rPr lang="zh-CN" altLang="en-US" sz="2800" b="1" dirty="0">
                <a:solidFill>
                  <a:srgbClr val="FF66FF"/>
                </a:solidFill>
                <a:latin typeface="Times New Roman" pitchFamily="18" charset="0"/>
              </a:rPr>
              <a:t> 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X </a:t>
            </a:r>
            <a:r>
              <a:rPr lang="zh-CN" altLang="zh-CN" sz="2800" b="1" dirty="0">
                <a:solidFill>
                  <a:srgbClr val="FF0066"/>
                </a:solidFill>
                <a:latin typeface="Times New Roman" pitchFamily="18" charset="0"/>
              </a:rPr>
              <a:t>的条件分布律为</a:t>
            </a:r>
            <a:endParaRPr lang="zh-CN" altLang="en-US" sz="2800" b="1" dirty="0">
              <a:solidFill>
                <a:srgbClr val="FF0066"/>
              </a:solidFill>
              <a:latin typeface="Times New Roman" pitchFamily="18" charset="0"/>
            </a:endParaRPr>
          </a:p>
        </p:txBody>
      </p:sp>
      <p:pic>
        <p:nvPicPr>
          <p:cNvPr id="10" name="Object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8325" y="2389188"/>
            <a:ext cx="30448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65150" y="1562100"/>
            <a:ext cx="3276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当 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n</a:t>
            </a:r>
            <a:r>
              <a:rPr lang="en-US" altLang="en-US" sz="2800" b="1" dirty="0">
                <a:solidFill>
                  <a:srgbClr val="FF0066"/>
                </a:solidFill>
                <a:latin typeface="Times New Roman" pitchFamily="18" charset="0"/>
              </a:rPr>
              <a:t>=2,3,… </a:t>
            </a:r>
            <a:r>
              <a:rPr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时，</a:t>
            </a:r>
          </a:p>
        </p:txBody>
      </p:sp>
      <p:pic>
        <p:nvPicPr>
          <p:cNvPr id="12" name="Object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5750" y="3594100"/>
            <a:ext cx="2749550" cy="503238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Object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22350" y="3252788"/>
            <a:ext cx="3968750" cy="11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Object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13150" y="2171700"/>
            <a:ext cx="3048000" cy="101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71"/>
          <p:cNvSpPr>
            <a:spLocks noChangeArrowheads="1"/>
          </p:cNvSpPr>
          <p:nvPr/>
        </p:nvSpPr>
        <p:spPr bwMode="auto">
          <a:xfrm>
            <a:off x="495300" y="4610100"/>
            <a:ext cx="8153400" cy="14478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6" name="Object 7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10100" y="4759325"/>
            <a:ext cx="15240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Object 7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71500" y="4738688"/>
            <a:ext cx="36576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Object 7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95300" y="5519738"/>
            <a:ext cx="243840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Object 7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933700" y="5448300"/>
            <a:ext cx="1425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Object 76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613275" y="5507038"/>
            <a:ext cx="403542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0579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87"/>
          <p:cNvSpPr>
            <a:spLocks noChangeArrowheads="1"/>
          </p:cNvSpPr>
          <p:nvPr/>
        </p:nvSpPr>
        <p:spPr bwMode="auto">
          <a:xfrm>
            <a:off x="1638300" y="2362200"/>
            <a:ext cx="533400" cy="533400"/>
          </a:xfrm>
          <a:prstGeom prst="ellipse">
            <a:avLst/>
          </a:prstGeom>
          <a:solidFill>
            <a:srgbClr val="FFFFCC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00100" y="1524000"/>
            <a:ext cx="7848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2825" y="3657600"/>
            <a:ext cx="3063875" cy="503238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1500" y="762000"/>
            <a:ext cx="7696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b="1" dirty="0">
                <a:latin typeface="Times New Roman" pitchFamily="18" charset="0"/>
              </a:rPr>
              <a:t>在 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X</a:t>
            </a:r>
            <a:r>
              <a:rPr lang="en-US" altLang="en-US" sz="2800" b="1" dirty="0">
                <a:solidFill>
                  <a:srgbClr val="FF0066"/>
                </a:solidFill>
                <a:latin typeface="Times New Roman" pitchFamily="18" charset="0"/>
              </a:rPr>
              <a:t>= 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m</a:t>
            </a:r>
            <a:r>
              <a:rPr lang="en-US" altLang="en-US" sz="2800" b="1" i="1" baseline="-25000" dirty="0">
                <a:solidFill>
                  <a:srgbClr val="FF66FF"/>
                </a:solidFill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条件下随机变量</a:t>
            </a:r>
            <a:r>
              <a:rPr lang="en-US" altLang="en-US" sz="2800" b="1" i="1" dirty="0">
                <a:solidFill>
                  <a:srgbClr val="FF0066"/>
                </a:solidFill>
                <a:latin typeface="Times New Roman" pitchFamily="18" charset="0"/>
              </a:rPr>
              <a:t>Y </a:t>
            </a:r>
            <a:r>
              <a:rPr lang="zh-CN" altLang="zh-CN" sz="2800" b="1" dirty="0">
                <a:solidFill>
                  <a:srgbClr val="FF0066"/>
                </a:solidFill>
                <a:latin typeface="Times New Roman" pitchFamily="18" charset="0"/>
              </a:rPr>
              <a:t>的条件分布律</a:t>
            </a:r>
            <a:r>
              <a:rPr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为</a:t>
            </a:r>
            <a:endParaRPr lang="zh-CN" altLang="en-US" sz="2800" b="1" baseline="-25000" dirty="0">
              <a:solidFill>
                <a:srgbClr val="FF0066"/>
              </a:solidFill>
              <a:latin typeface="Times New Roman" pitchFamily="18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23900" y="1524000"/>
            <a:ext cx="3276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当</a:t>
            </a:r>
            <a:r>
              <a:rPr lang="en-US" altLang="zh-CN" sz="2800" b="1" i="1" dirty="0">
                <a:solidFill>
                  <a:srgbClr val="FF0066"/>
                </a:solidFill>
                <a:latin typeface="Times New Roman" pitchFamily="18" charset="0"/>
              </a:rPr>
              <a:t>m</a:t>
            </a:r>
            <a:r>
              <a:rPr lang="en-US" altLang="en-US" sz="2800" b="1" dirty="0">
                <a:solidFill>
                  <a:srgbClr val="FF0066"/>
                </a:solidFill>
                <a:latin typeface="Times New Roman" pitchFamily="18" charset="0"/>
              </a:rPr>
              <a:t>=1,2,3,… </a:t>
            </a:r>
            <a:r>
              <a:rPr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时， </a:t>
            </a:r>
          </a:p>
        </p:txBody>
      </p:sp>
      <p:pic>
        <p:nvPicPr>
          <p:cNvPr id="7" name="Object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2788" y="2424113"/>
            <a:ext cx="29067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Object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14700" y="2133600"/>
            <a:ext cx="3048000" cy="101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Object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7713" y="3232150"/>
            <a:ext cx="3622675" cy="124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88"/>
          <p:cNvSpPr>
            <a:spLocks noChangeArrowheads="1"/>
          </p:cNvSpPr>
          <p:nvPr/>
        </p:nvSpPr>
        <p:spPr bwMode="auto">
          <a:xfrm>
            <a:off x="495300" y="4648200"/>
            <a:ext cx="8001000" cy="1371600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1" name="Object 8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5300" y="5481638"/>
            <a:ext cx="2317750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Object 9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500" y="5410200"/>
            <a:ext cx="1425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Object 9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37075" y="5468938"/>
            <a:ext cx="403542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Object 9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71500" y="4697413"/>
            <a:ext cx="2801938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Object 9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543300" y="4792663"/>
            <a:ext cx="16002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419100" y="2643981"/>
            <a:ext cx="7772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b="1">
                <a:latin typeface="Times New Roman" pitchFamily="18" charset="0"/>
              </a:rPr>
              <a:t>（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）在发车时有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个乘客的条件下，中途有</a:t>
            </a:r>
            <a:r>
              <a:rPr lang="en-US" altLang="zh-CN" sz="2800" b="1" i="1">
                <a:latin typeface="Times New Roman" pitchFamily="18" charset="0"/>
              </a:rPr>
              <a:t>m</a:t>
            </a:r>
            <a:r>
              <a:rPr lang="zh-CN" altLang="en-US" sz="2800" b="1">
                <a:latin typeface="Times New Roman" pitchFamily="18" charset="0"/>
              </a:rPr>
              <a:t>个     </a:t>
            </a:r>
          </a:p>
          <a:p>
            <a:r>
              <a:rPr lang="zh-CN" altLang="en-US" sz="2800" b="1">
                <a:latin typeface="Times New Roman" pitchFamily="18" charset="0"/>
              </a:rPr>
              <a:t>         人下车的概率；</a:t>
            </a: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419100" y="3710781"/>
            <a:ext cx="830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</a:rPr>
              <a:t>（</a:t>
            </a:r>
            <a:r>
              <a:rPr lang="en-US" altLang="zh-CN" sz="2800" b="1">
                <a:latin typeface="Times New Roman" pitchFamily="18" charset="0"/>
              </a:rPr>
              <a:t>2</a:t>
            </a:r>
            <a:r>
              <a:rPr lang="zh-CN" altLang="en-US" sz="2800" b="1">
                <a:latin typeface="Times New Roman" pitchFamily="18" charset="0"/>
              </a:rPr>
              <a:t>）二维随机变量（</a:t>
            </a:r>
            <a:r>
              <a:rPr lang="en-US" altLang="zh-CN" sz="2800" b="1" i="1">
                <a:latin typeface="Times New Roman" pitchFamily="18" charset="0"/>
              </a:rPr>
              <a:t>X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Y </a:t>
            </a:r>
            <a:r>
              <a:rPr lang="en-US" altLang="zh-CN" sz="2800" b="1">
                <a:latin typeface="Times New Roman" pitchFamily="18" charset="0"/>
              </a:rPr>
              <a:t>) </a:t>
            </a:r>
            <a:r>
              <a:rPr lang="zh-CN" altLang="en-US" sz="2800" b="1">
                <a:latin typeface="Times New Roman" pitchFamily="18" charset="0"/>
              </a:rPr>
              <a:t>的分布律。</a:t>
            </a:r>
          </a:p>
        </p:txBody>
      </p: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419100" y="4793456"/>
            <a:ext cx="1143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rPr>
              <a:t>解：</a:t>
            </a:r>
          </a:p>
        </p:txBody>
      </p:sp>
      <p:pic>
        <p:nvPicPr>
          <p:cNvPr id="41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1100" y="4898231"/>
            <a:ext cx="3452813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10100" y="4793456"/>
            <a:ext cx="3176588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" name="Object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35275" y="5528469"/>
            <a:ext cx="2232025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" name="Object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3725" y="1125959"/>
            <a:ext cx="14636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" name="Object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52600" y="1605384"/>
            <a:ext cx="20415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2" name="Text Box 13"/>
          <p:cNvSpPr txBox="1">
            <a:spLocks noChangeArrowheads="1"/>
          </p:cNvSpPr>
          <p:nvPr/>
        </p:nvSpPr>
        <p:spPr bwMode="auto">
          <a:xfrm>
            <a:off x="533400" y="1605384"/>
            <a:ext cx="75438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b="1" dirty="0">
                <a:latin typeface="Times New Roman" pitchFamily="18" charset="0"/>
              </a:rPr>
              <a:t>概率为                         且中途下车与否相互独立。以</a:t>
            </a:r>
            <a:r>
              <a:rPr lang="zh-CN" altLang="en-US" sz="2800" b="1" i="1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itchFamily="18" charset="0"/>
              </a:rPr>
              <a:t>Y</a:t>
            </a:r>
            <a:r>
              <a:rPr lang="en-US" altLang="zh-CN" sz="2800" b="1" dirty="0">
                <a:solidFill>
                  <a:srgbClr val="003399"/>
                </a:solidFill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表示</a:t>
            </a:r>
            <a:r>
              <a:rPr lang="zh-CN" altLang="en-US" sz="2800" b="1" dirty="0">
                <a:solidFill>
                  <a:srgbClr val="003399"/>
                </a:solidFill>
                <a:latin typeface="Times New Roman" pitchFamily="18" charset="0"/>
              </a:rPr>
              <a:t>在中途下车的人数</a:t>
            </a:r>
            <a:r>
              <a:rPr lang="zh-CN" altLang="en-US" sz="2800" b="1" dirty="0">
                <a:latin typeface="Times New Roman" pitchFamily="18" charset="0"/>
              </a:rPr>
              <a:t>，求：</a:t>
            </a:r>
          </a:p>
        </p:txBody>
      </p:sp>
      <p:sp>
        <p:nvSpPr>
          <p:cNvPr id="53" name="Text Box 14"/>
          <p:cNvSpPr txBox="1">
            <a:spLocks noChangeArrowheads="1"/>
          </p:cNvSpPr>
          <p:nvPr/>
        </p:nvSpPr>
        <p:spPr bwMode="auto">
          <a:xfrm>
            <a:off x="533400" y="476672"/>
            <a:ext cx="8153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C0000"/>
                </a:solidFill>
                <a:latin typeface="Times New Roman" pitchFamily="18" charset="0"/>
              </a:rPr>
              <a:t>例</a:t>
            </a:r>
            <a:r>
              <a:rPr lang="en-US" altLang="zh-CN" sz="2800" b="1">
                <a:solidFill>
                  <a:srgbClr val="CC0000"/>
                </a:solidFill>
                <a:latin typeface="Times New Roman" pitchFamily="18" charset="0"/>
              </a:rPr>
              <a:t>2    </a:t>
            </a:r>
            <a:r>
              <a:rPr lang="zh-CN" altLang="en-US" sz="2800" b="1">
                <a:latin typeface="Times New Roman" pitchFamily="18" charset="0"/>
              </a:rPr>
              <a:t>设某班车</a:t>
            </a:r>
            <a:r>
              <a:rPr lang="zh-CN" altLang="en-US" sz="2800" b="1">
                <a:solidFill>
                  <a:srgbClr val="FF0066"/>
                </a:solidFill>
                <a:latin typeface="Times New Roman" pitchFamily="18" charset="0"/>
              </a:rPr>
              <a:t>起点站上车人数 </a:t>
            </a:r>
            <a:r>
              <a:rPr lang="en-US" altLang="zh-CN" sz="2800" b="1" i="1">
                <a:solidFill>
                  <a:srgbClr val="FF0066"/>
                </a:solidFill>
                <a:latin typeface="Times New Roman" pitchFamily="18" charset="0"/>
              </a:rPr>
              <a:t>X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服从参数为</a:t>
            </a:r>
          </a:p>
        </p:txBody>
      </p:sp>
      <p:sp>
        <p:nvSpPr>
          <p:cNvPr id="54" name="Text Box 15"/>
          <p:cNvSpPr txBox="1">
            <a:spLocks noChangeArrowheads="1"/>
          </p:cNvSpPr>
          <p:nvPr/>
        </p:nvSpPr>
        <p:spPr bwMode="auto">
          <a:xfrm>
            <a:off x="1981200" y="1049759"/>
            <a:ext cx="6553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</a:rPr>
              <a:t>的泊松分布，每位乘客在中途下车的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52" grpId="0"/>
      <p:bldP spid="53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5838" y="1523529"/>
            <a:ext cx="2649537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81413" y="1523529"/>
            <a:ext cx="4481512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Object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73375" y="2056929"/>
            <a:ext cx="4446588" cy="105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Object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38325" y="3126904"/>
            <a:ext cx="38862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968375" y="764704"/>
            <a:ext cx="6280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800" b="1" dirty="0">
                <a:latin typeface="Times New Roman" pitchFamily="18" charset="0"/>
              </a:rPr>
              <a:t>(2) </a:t>
            </a:r>
            <a:r>
              <a:rPr lang="zh-CN" altLang="en-US" sz="2800" b="1" dirty="0">
                <a:latin typeface="Times New Roman" pitchFamily="18" charset="0"/>
              </a:rPr>
              <a:t>（</a:t>
            </a:r>
            <a:r>
              <a:rPr lang="en-US" altLang="zh-CN" sz="2800" b="1" i="1" dirty="0">
                <a:latin typeface="Times New Roman" pitchFamily="18" charset="0"/>
              </a:rPr>
              <a:t>X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en-US" altLang="zh-CN" sz="2800" b="1" i="1" dirty="0">
                <a:latin typeface="Times New Roman" pitchFamily="18" charset="0"/>
              </a:rPr>
              <a:t>Y </a:t>
            </a:r>
            <a:r>
              <a:rPr lang="en-US" altLang="zh-CN" sz="2800" b="1" dirty="0">
                <a:latin typeface="Times New Roman" pitchFamily="18" charset="0"/>
              </a:rPr>
              <a:t>) </a:t>
            </a:r>
            <a:r>
              <a:rPr lang="zh-CN" altLang="en-US" sz="2800" b="1" dirty="0">
                <a:latin typeface="Times New Roman" pitchFamily="18" charset="0"/>
              </a:rPr>
              <a:t>的分布律为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15355" y="551657"/>
            <a:ext cx="762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二</a:t>
            </a:r>
            <a:r>
              <a:rPr lang="zh-CN" altLang="en-US" sz="3200" b="1" dirty="0" smtClean="0">
                <a:solidFill>
                  <a:srgbClr val="CC0000"/>
                </a:solidFill>
                <a:latin typeface="Times New Roman" pitchFamily="18" charset="0"/>
              </a:rPr>
              <a:t>、</a:t>
            </a:r>
            <a:r>
              <a:rPr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连续</a:t>
            </a:r>
            <a:r>
              <a:rPr lang="zh-CN" altLang="en-US" sz="3200" b="1" dirty="0" smtClean="0">
                <a:solidFill>
                  <a:srgbClr val="CC0000"/>
                </a:solidFill>
                <a:latin typeface="Times New Roman" pitchFamily="18" charset="0"/>
              </a:rPr>
              <a:t>型随机变量的</a:t>
            </a:r>
            <a:r>
              <a:rPr kumimoji="0" lang="zh-CN" altLang="en-US" sz="3200" b="1" dirty="0" smtClean="0">
                <a:solidFill>
                  <a:srgbClr val="CC0000"/>
                </a:solidFill>
                <a:latin typeface="Times New Roman" pitchFamily="18" charset="0"/>
              </a:rPr>
              <a:t>条件密度函</a:t>
            </a:r>
            <a:r>
              <a:rPr kumimoji="0" lang="zh-CN" altLang="en-US" sz="3200" b="1" dirty="0">
                <a:solidFill>
                  <a:srgbClr val="CC0000"/>
                </a:solidFill>
                <a:latin typeface="Times New Roman" pitchFamily="18" charset="0"/>
              </a:rPr>
              <a:t>数</a:t>
            </a:r>
            <a:endParaRPr kumimoji="0" lang="zh-CN" altLang="en-US" sz="3200" b="1" dirty="0">
              <a:latin typeface="Times New Roman" pitchFamily="18" charset="0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1224955" y="1451769"/>
            <a:ext cx="7391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</a:rPr>
              <a:t>设 </a:t>
            </a:r>
            <a:r>
              <a:rPr lang="en-US" altLang="zh-CN" sz="2800" b="1" dirty="0">
                <a:latin typeface="Times New Roman" pitchFamily="18" charset="0"/>
              </a:rPr>
              <a:t>( </a:t>
            </a:r>
            <a:r>
              <a:rPr lang="en-US" altLang="zh-CN" sz="2800" b="1" i="1" dirty="0">
                <a:latin typeface="Times New Roman" pitchFamily="18" charset="0"/>
              </a:rPr>
              <a:t>X</a:t>
            </a:r>
            <a:r>
              <a:rPr lang="en-US" altLang="zh-CN" sz="2800" b="1" dirty="0">
                <a:latin typeface="Times New Roman" pitchFamily="18" charset="0"/>
              </a:rPr>
              <a:t> ,</a:t>
            </a:r>
            <a:r>
              <a:rPr lang="en-US" altLang="zh-CN" sz="2800" b="1" i="1" dirty="0">
                <a:latin typeface="Times New Roman" pitchFamily="18" charset="0"/>
              </a:rPr>
              <a:t>Y </a:t>
            </a:r>
            <a:r>
              <a:rPr lang="en-US" altLang="zh-CN" sz="2800" b="1" dirty="0">
                <a:latin typeface="Times New Roman" pitchFamily="18" charset="0"/>
              </a:rPr>
              <a:t>) </a:t>
            </a:r>
            <a:r>
              <a:rPr lang="zh-CN" altLang="en-US" sz="2800" b="1" dirty="0">
                <a:latin typeface="Times New Roman" pitchFamily="18" charset="0"/>
              </a:rPr>
              <a:t>是二维连续型随机变量，由于      </a:t>
            </a:r>
          </a:p>
        </p:txBody>
      </p:sp>
      <p:pic>
        <p:nvPicPr>
          <p:cNvPr id="4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930" y="2164557"/>
            <a:ext cx="7591425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539155" y="2791619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因此我们利用极限的方法来引入条件分布函数的概念。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62930" y="292096"/>
            <a:ext cx="7848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定义：</a:t>
            </a:r>
            <a:r>
              <a:rPr lang="zh-CN" altLang="en-US" sz="2800" b="1" dirty="0">
                <a:latin typeface="Times New Roman" pitchFamily="18" charset="0"/>
              </a:rPr>
              <a:t>给定 </a:t>
            </a:r>
            <a:r>
              <a:rPr lang="en-US" altLang="en-US" sz="2800" b="1" i="1" dirty="0">
                <a:latin typeface="Times New Roman" pitchFamily="18" charset="0"/>
              </a:rPr>
              <a:t>y</a:t>
            </a:r>
            <a:r>
              <a:rPr lang="zh-CN" altLang="en-US" sz="2800" b="1" dirty="0">
                <a:latin typeface="Times New Roman" pitchFamily="18" charset="0"/>
              </a:rPr>
              <a:t>，设对于任意固定的正数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 ，</a:t>
            </a:r>
            <a:endParaRPr lang="zh-CN" altLang="en-US" sz="2800" b="1" dirty="0">
              <a:latin typeface="Times New Roman" pitchFamily="18" charset="0"/>
            </a:endParaRPr>
          </a:p>
        </p:txBody>
      </p:sp>
      <p:pic>
        <p:nvPicPr>
          <p:cNvPr id="3" name="Object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97993" y="1874834"/>
            <a:ext cx="5275262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31193" y="5002209"/>
            <a:ext cx="167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</a:rPr>
              <a:t>存在，</a:t>
            </a:r>
            <a:endParaRPr lang="zh-CN" altLang="en-US" sz="2800" b="1">
              <a:solidFill>
                <a:srgbClr val="CC0000"/>
              </a:solidFill>
              <a:latin typeface="Times New Roman" pitchFamily="18" charset="0"/>
            </a:endParaRPr>
          </a:p>
        </p:txBody>
      </p:sp>
      <p:pic>
        <p:nvPicPr>
          <p:cNvPr id="5" name="Object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24930" y="2655884"/>
            <a:ext cx="5572125" cy="106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62930" y="1054096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{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y-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 &lt;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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+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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}&gt;0,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3815730" y="1054096"/>
            <a:ext cx="464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2800" b="1">
                <a:latin typeface="Times New Roman" pitchFamily="18" charset="0"/>
              </a:rPr>
              <a:t>若对于任意实数 </a:t>
            </a:r>
            <a:r>
              <a:rPr lang="en-US" altLang="zh-CN" sz="2800" b="1" i="1">
                <a:latin typeface="Times New Roman" pitchFamily="18" charset="0"/>
              </a:rPr>
              <a:t>x</a:t>
            </a:r>
            <a:r>
              <a:rPr lang="zh-CN" altLang="en-US" sz="2800" b="1">
                <a:latin typeface="Times New Roman" pitchFamily="18" charset="0"/>
              </a:rPr>
              <a:t>，极限</a:t>
            </a: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1597993" y="5033959"/>
            <a:ext cx="7010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则称为在条件</a:t>
            </a:r>
            <a:r>
              <a:rPr kumimoji="1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y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下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条件分布函数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531193" y="5643559"/>
            <a:ext cx="807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写成 </a:t>
            </a:r>
            <a:r>
              <a:rPr kumimoji="1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 </a:t>
            </a:r>
            <a:r>
              <a:rPr kumimoji="1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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</a:t>
            </a:r>
            <a:r>
              <a:rPr kumimoji="1" lang="en-US" altLang="en-US" sz="2800" b="1" i="1" u="none" strike="noStrike" kern="1200" cap="none" spc="0" normalizeH="0" baseline="-2500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|</a:t>
            </a:r>
            <a:r>
              <a:rPr kumimoji="1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y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}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，或记为 </a:t>
            </a:r>
            <a:r>
              <a:rPr kumimoji="1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F</a:t>
            </a:r>
            <a:r>
              <a:rPr kumimoji="1" lang="en-US" altLang="en-US" sz="2800" b="1" i="1" u="none" strike="noStrike" kern="1200" cap="none" spc="0" normalizeH="0" baseline="-2500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</a:t>
            </a:r>
            <a:r>
              <a:rPr kumimoji="1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|</a:t>
            </a:r>
            <a:r>
              <a:rPr kumimoji="1" lang="en-US" altLang="en-US" sz="2800" b="1" i="1" u="none" strike="noStrike" kern="1200" cap="none" spc="0" normalizeH="0" baseline="-2500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en-US" alt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</a:t>
            </a:r>
            <a:r>
              <a:rPr kumimoji="1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|</a:t>
            </a:r>
            <a:r>
              <a:rPr kumimoji="1" lang="en-US" alt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).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428472"/>
              </p:ext>
            </p:extLst>
          </p:nvPr>
        </p:nvGraphicFramePr>
        <p:xfrm>
          <a:off x="1268586" y="3721096"/>
          <a:ext cx="296703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公式" r:id="rId5" imgW="1180800" imgH="457200" progId="Equation.3">
                  <p:embed/>
                </p:oleObj>
              </mc:Choice>
              <mc:Fallback>
                <p:oleObj name="公式" r:id="rId5" imgW="11808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586" y="3721096"/>
                        <a:ext cx="296703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419600" y="4572000"/>
          <a:ext cx="2590800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公式" r:id="rId3" imgW="1066680" imgH="545760" progId="Equation.3">
                  <p:embed/>
                </p:oleObj>
              </mc:Choice>
              <mc:Fallback>
                <p:oleObj name="公式" r:id="rId3" imgW="1066680" imgH="5457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572000"/>
                        <a:ext cx="2590800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03250" y="304800"/>
          <a:ext cx="716915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公式" r:id="rId5" imgW="2920680" imgH="419040" progId="Equation.3">
                  <p:embed/>
                </p:oleObj>
              </mc:Choice>
              <mc:Fallback>
                <p:oleObj name="公式" r:id="rId5" imgW="2920680" imgH="419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304800"/>
                        <a:ext cx="716915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553200" y="2438400"/>
          <a:ext cx="175895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公式" r:id="rId7" imgW="774360" imgH="838080" progId="Equation.3">
                  <p:embed/>
                </p:oleObj>
              </mc:Choice>
              <mc:Fallback>
                <p:oleObj name="公式" r:id="rId7" imgW="774360" imgH="8380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438400"/>
                        <a:ext cx="175895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62000" y="1524000"/>
          <a:ext cx="4973638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公式" r:id="rId9" imgW="2006280" imgH="431640" progId="Equation.3">
                  <p:embed/>
                </p:oleObj>
              </mc:Choice>
              <mc:Fallback>
                <p:oleObj name="公式" r:id="rId9" imgW="20062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24000"/>
                        <a:ext cx="4973638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28663" y="2743200"/>
          <a:ext cx="5767387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公式" r:id="rId11" imgW="2336760" imgH="571320" progId="Equation.3">
                  <p:embed/>
                </p:oleObj>
              </mc:Choice>
              <mc:Fallback>
                <p:oleObj name="公式" r:id="rId11" imgW="2336760" imgH="5713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2743200"/>
                        <a:ext cx="5767387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68350" y="4214813"/>
          <a:ext cx="3575050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公式" r:id="rId13" imgW="1523880" imgH="736560" progId="Equation.3">
                  <p:embed/>
                </p:oleObj>
              </mc:Choice>
              <mc:Fallback>
                <p:oleObj name="公式" r:id="rId13" imgW="1523880" imgH="7365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4214813"/>
                        <a:ext cx="3575050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76"/>
          <p:cNvSpPr>
            <a:spLocks noChangeArrowheads="1"/>
          </p:cNvSpPr>
          <p:nvPr/>
        </p:nvSpPr>
        <p:spPr bwMode="auto">
          <a:xfrm>
            <a:off x="1906528" y="1673064"/>
            <a:ext cx="533400" cy="533400"/>
          </a:xfrm>
          <a:prstGeom prst="ellipse">
            <a:avLst/>
          </a:prstGeom>
          <a:solidFill>
            <a:srgbClr val="FFFFCC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3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79653" y="1457003"/>
            <a:ext cx="3505200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Group 27"/>
          <p:cNvGrpSpPr>
            <a:grpSpLocks noChangeAspect="1"/>
          </p:cNvGrpSpPr>
          <p:nvPr/>
        </p:nvGrpSpPr>
        <p:grpSpPr bwMode="auto">
          <a:xfrm>
            <a:off x="520641" y="2684302"/>
            <a:ext cx="5897562" cy="501650"/>
            <a:chOff x="240" y="2492"/>
            <a:chExt cx="3936" cy="410"/>
          </a:xfrm>
        </p:grpSpPr>
        <p:sp>
          <p:nvSpPr>
            <p:cNvPr id="23" name="AutoShape 26"/>
            <p:cNvSpPr>
              <a:spLocks noChangeAspect="1" noChangeArrowheads="1" noTextEdit="1"/>
            </p:cNvSpPr>
            <p:nvPr/>
          </p:nvSpPr>
          <p:spPr bwMode="auto">
            <a:xfrm>
              <a:off x="240" y="2493"/>
              <a:ext cx="3932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4" name="Rectangle 28"/>
            <p:cNvSpPr>
              <a:spLocks noChangeArrowheads="1"/>
            </p:cNvSpPr>
            <p:nvPr/>
          </p:nvSpPr>
          <p:spPr bwMode="auto">
            <a:xfrm>
              <a:off x="2894" y="2528"/>
              <a:ext cx="1282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的条件下的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5" name="Rectangle 29"/>
            <p:cNvSpPr>
              <a:spLocks noChangeArrowheads="1"/>
            </p:cNvSpPr>
            <p:nvPr/>
          </p:nvSpPr>
          <p:spPr bwMode="auto">
            <a:xfrm>
              <a:off x="2033" y="2528"/>
              <a:ext cx="256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在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6" name="Rectangle 30"/>
            <p:cNvSpPr>
              <a:spLocks noChangeArrowheads="1"/>
            </p:cNvSpPr>
            <p:nvPr/>
          </p:nvSpPr>
          <p:spPr bwMode="auto">
            <a:xfrm>
              <a:off x="273" y="2526"/>
              <a:ext cx="1538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称为随机变量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Rectangle 31"/>
            <p:cNvSpPr>
              <a:spLocks noChangeArrowheads="1"/>
            </p:cNvSpPr>
            <p:nvPr/>
          </p:nvSpPr>
          <p:spPr bwMode="auto">
            <a:xfrm>
              <a:off x="2771" y="2519"/>
              <a:ext cx="113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Rectangle 32"/>
            <p:cNvSpPr>
              <a:spLocks noChangeArrowheads="1"/>
            </p:cNvSpPr>
            <p:nvPr/>
          </p:nvSpPr>
          <p:spPr bwMode="auto">
            <a:xfrm>
              <a:off x="2289" y="2519"/>
              <a:ext cx="156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" name="Rectangle 33"/>
            <p:cNvSpPr>
              <a:spLocks noChangeArrowheads="1"/>
            </p:cNvSpPr>
            <p:nvPr/>
          </p:nvSpPr>
          <p:spPr bwMode="auto">
            <a:xfrm>
              <a:off x="1812" y="2519"/>
              <a:ext cx="170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0" name="Rectangle 34"/>
            <p:cNvSpPr>
              <a:spLocks noChangeArrowheads="1"/>
            </p:cNvSpPr>
            <p:nvPr/>
          </p:nvSpPr>
          <p:spPr bwMode="auto">
            <a:xfrm>
              <a:off x="2538" y="2492"/>
              <a:ext cx="140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" name="Group 60"/>
          <p:cNvGrpSpPr>
            <a:grpSpLocks noChangeAspect="1"/>
          </p:cNvGrpSpPr>
          <p:nvPr/>
        </p:nvGrpSpPr>
        <p:grpSpPr bwMode="auto">
          <a:xfrm>
            <a:off x="6402327" y="2663664"/>
            <a:ext cx="2357605" cy="503374"/>
            <a:chOff x="4103" y="2493"/>
            <a:chExt cx="1649" cy="411"/>
          </a:xfrm>
        </p:grpSpPr>
        <p:sp>
          <p:nvSpPr>
            <p:cNvPr id="20" name="AutoShape 59"/>
            <p:cNvSpPr>
              <a:spLocks noChangeAspect="1" noChangeArrowheads="1" noTextEdit="1"/>
            </p:cNvSpPr>
            <p:nvPr/>
          </p:nvSpPr>
          <p:spPr bwMode="auto">
            <a:xfrm>
              <a:off x="4103" y="2493"/>
              <a:ext cx="1609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61"/>
            <p:cNvSpPr>
              <a:spLocks noChangeArrowheads="1"/>
            </p:cNvSpPr>
            <p:nvPr/>
          </p:nvSpPr>
          <p:spPr bwMode="auto">
            <a:xfrm>
              <a:off x="5621" y="2519"/>
              <a:ext cx="66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.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2" name="Rectangle 62"/>
            <p:cNvSpPr>
              <a:spLocks noChangeArrowheads="1"/>
            </p:cNvSpPr>
            <p:nvPr/>
          </p:nvSpPr>
          <p:spPr bwMode="auto">
            <a:xfrm>
              <a:off x="4131" y="2527"/>
              <a:ext cx="1621" cy="3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条件密度函数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6" name="Group 64"/>
          <p:cNvGrpSpPr>
            <a:grpSpLocks noChangeAspect="1"/>
          </p:cNvGrpSpPr>
          <p:nvPr/>
        </p:nvGrpSpPr>
        <p:grpSpPr bwMode="auto">
          <a:xfrm>
            <a:off x="538103" y="5135424"/>
            <a:ext cx="5945188" cy="520701"/>
            <a:chOff x="239" y="3708"/>
            <a:chExt cx="3745" cy="328"/>
          </a:xfrm>
        </p:grpSpPr>
        <p:sp>
          <p:nvSpPr>
            <p:cNvPr id="12" name="AutoShape 63"/>
            <p:cNvSpPr>
              <a:spLocks noChangeAspect="1" noChangeArrowheads="1" noTextEdit="1"/>
            </p:cNvSpPr>
            <p:nvPr/>
          </p:nvSpPr>
          <p:spPr bwMode="auto">
            <a:xfrm>
              <a:off x="239" y="3709"/>
              <a:ext cx="374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" name="Rectangle 65"/>
            <p:cNvSpPr>
              <a:spLocks noChangeArrowheads="1"/>
            </p:cNvSpPr>
            <p:nvPr/>
          </p:nvSpPr>
          <p:spPr bwMode="auto">
            <a:xfrm>
              <a:off x="2770" y="3742"/>
              <a:ext cx="1170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的条件下的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" name="Rectangle 66"/>
            <p:cNvSpPr>
              <a:spLocks noChangeArrowheads="1"/>
            </p:cNvSpPr>
            <p:nvPr/>
          </p:nvSpPr>
          <p:spPr bwMode="auto">
            <a:xfrm>
              <a:off x="1900" y="3742"/>
              <a:ext cx="234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在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" name="Rectangle 67"/>
            <p:cNvSpPr>
              <a:spLocks noChangeArrowheads="1"/>
            </p:cNvSpPr>
            <p:nvPr/>
          </p:nvSpPr>
          <p:spPr bwMode="auto">
            <a:xfrm>
              <a:off x="271" y="3742"/>
              <a:ext cx="1404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称为随机变量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" name="Rectangle 68"/>
            <p:cNvSpPr>
              <a:spLocks noChangeArrowheads="1"/>
            </p:cNvSpPr>
            <p:nvPr/>
          </p:nvSpPr>
          <p:spPr bwMode="auto">
            <a:xfrm>
              <a:off x="2639" y="3734"/>
              <a:ext cx="116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Rectangle 69"/>
            <p:cNvSpPr>
              <a:spLocks noChangeArrowheads="1"/>
            </p:cNvSpPr>
            <p:nvPr/>
          </p:nvSpPr>
          <p:spPr bwMode="auto">
            <a:xfrm>
              <a:off x="2181" y="3734"/>
              <a:ext cx="155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" name="Rectangle 70"/>
            <p:cNvSpPr>
              <a:spLocks noChangeArrowheads="1"/>
            </p:cNvSpPr>
            <p:nvPr/>
          </p:nvSpPr>
          <p:spPr bwMode="auto">
            <a:xfrm>
              <a:off x="1700" y="3734"/>
              <a:ext cx="142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9" name="Rectangle 71"/>
            <p:cNvSpPr>
              <a:spLocks noChangeArrowheads="1"/>
            </p:cNvSpPr>
            <p:nvPr/>
          </p:nvSpPr>
          <p:spPr bwMode="auto">
            <a:xfrm>
              <a:off x="2428" y="3708"/>
              <a:ext cx="12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Group 73"/>
          <p:cNvGrpSpPr>
            <a:grpSpLocks noChangeAspect="1"/>
          </p:cNvGrpSpPr>
          <p:nvPr/>
        </p:nvGrpSpPr>
        <p:grpSpPr bwMode="auto">
          <a:xfrm>
            <a:off x="6442359" y="5121137"/>
            <a:ext cx="2662238" cy="496888"/>
            <a:chOff x="3984" y="3710"/>
            <a:chExt cx="1677" cy="313"/>
          </a:xfrm>
        </p:grpSpPr>
        <p:sp>
          <p:nvSpPr>
            <p:cNvPr id="9" name="AutoShape 72"/>
            <p:cNvSpPr>
              <a:spLocks noChangeAspect="1" noChangeArrowheads="1" noTextEdit="1"/>
            </p:cNvSpPr>
            <p:nvPr/>
          </p:nvSpPr>
          <p:spPr bwMode="auto">
            <a:xfrm>
              <a:off x="3984" y="3710"/>
              <a:ext cx="1677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" name="Rectangle 74"/>
            <p:cNvSpPr>
              <a:spLocks noChangeArrowheads="1"/>
            </p:cNvSpPr>
            <p:nvPr/>
          </p:nvSpPr>
          <p:spPr bwMode="auto">
            <a:xfrm>
              <a:off x="5567" y="3735"/>
              <a:ext cx="59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.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11" name="Rectangle 75"/>
            <p:cNvSpPr>
              <a:spLocks noChangeArrowheads="1"/>
            </p:cNvSpPr>
            <p:nvPr/>
          </p:nvSpPr>
          <p:spPr bwMode="auto">
            <a:xfrm>
              <a:off x="4015" y="3742"/>
              <a:ext cx="1412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条件密度函数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</p:grpSp>
      <p:pic>
        <p:nvPicPr>
          <p:cNvPr id="8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28806" y="3828901"/>
            <a:ext cx="35052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矩形 30"/>
          <p:cNvSpPr/>
          <p:nvPr/>
        </p:nvSpPr>
        <p:spPr>
          <a:xfrm>
            <a:off x="579318" y="620688"/>
            <a:ext cx="4881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 smtClean="0">
                <a:latin typeface="+mn-ea"/>
              </a:rPr>
              <a:t>对 </a:t>
            </a:r>
            <a:r>
              <a:rPr kumimoji="1" lang="en-US" altLang="en-US" sz="2800" b="1" dirty="0" smtClean="0">
                <a:latin typeface="+mn-ea"/>
              </a:rPr>
              <a:t>F</a:t>
            </a:r>
            <a:r>
              <a:rPr kumimoji="1" lang="en-US" altLang="en-US" sz="2800" b="1" baseline="-25000" dirty="0" smtClean="0">
                <a:latin typeface="+mn-ea"/>
              </a:rPr>
              <a:t>X|Y</a:t>
            </a:r>
            <a:r>
              <a:rPr kumimoji="1" lang="en-US" altLang="en-US" sz="2800" b="1" dirty="0" smtClean="0">
                <a:latin typeface="+mn-ea"/>
              </a:rPr>
              <a:t>(</a:t>
            </a:r>
            <a:r>
              <a:rPr kumimoji="1" lang="en-US" altLang="en-US" sz="2800" b="1" dirty="0" err="1" smtClean="0">
                <a:latin typeface="+mn-ea"/>
              </a:rPr>
              <a:t>x|y</a:t>
            </a:r>
            <a:r>
              <a:rPr kumimoji="1" lang="en-US" altLang="en-US" sz="2800" b="1" dirty="0" smtClean="0">
                <a:latin typeface="+mn-ea"/>
              </a:rPr>
              <a:t>) </a:t>
            </a:r>
            <a:r>
              <a:rPr kumimoji="1" lang="zh-CN" altLang="en-US" sz="2800" b="1" dirty="0" smtClean="0">
                <a:latin typeface="+mn-ea"/>
              </a:rPr>
              <a:t>求关于</a:t>
            </a:r>
            <a:r>
              <a:rPr kumimoji="1" lang="en-US" altLang="zh-CN" sz="2800" b="1" dirty="0" smtClean="0">
                <a:latin typeface="+mn-ea"/>
              </a:rPr>
              <a:t>x </a:t>
            </a:r>
            <a:r>
              <a:rPr kumimoji="1" lang="zh-CN" altLang="en-US" sz="2800" b="1" dirty="0" smtClean="0">
                <a:latin typeface="+mn-ea"/>
              </a:rPr>
              <a:t>的导数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66800" y="625474"/>
            <a:ext cx="480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条件密度函数的性质</a:t>
            </a:r>
          </a:p>
        </p:txBody>
      </p:sp>
      <p:grpSp>
        <p:nvGrpSpPr>
          <p:cNvPr id="3" name="Group 26"/>
          <p:cNvGrpSpPr>
            <a:grpSpLocks noChangeAspect="1"/>
          </p:cNvGrpSpPr>
          <p:nvPr/>
        </p:nvGrpSpPr>
        <p:grpSpPr bwMode="auto">
          <a:xfrm>
            <a:off x="995363" y="4598992"/>
            <a:ext cx="7578725" cy="838201"/>
            <a:chOff x="288" y="3003"/>
            <a:chExt cx="4774" cy="528"/>
          </a:xfrm>
        </p:grpSpPr>
        <p:sp>
          <p:nvSpPr>
            <p:cNvPr id="57" name="AutoShape 25"/>
            <p:cNvSpPr>
              <a:spLocks noChangeAspect="1" noChangeArrowheads="1" noTextEdit="1"/>
            </p:cNvSpPr>
            <p:nvPr/>
          </p:nvSpPr>
          <p:spPr bwMode="auto">
            <a:xfrm>
              <a:off x="288" y="3110"/>
              <a:ext cx="4704" cy="4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8" name="Line 27"/>
            <p:cNvSpPr>
              <a:spLocks noChangeShapeType="1"/>
            </p:cNvSpPr>
            <p:nvPr/>
          </p:nvSpPr>
          <p:spPr bwMode="auto">
            <a:xfrm>
              <a:off x="2546" y="3312"/>
              <a:ext cx="1" cy="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" name="Line 28"/>
            <p:cNvSpPr>
              <a:spLocks noChangeShapeType="1"/>
            </p:cNvSpPr>
            <p:nvPr/>
          </p:nvSpPr>
          <p:spPr bwMode="auto">
            <a:xfrm>
              <a:off x="2959" y="3160"/>
              <a:ext cx="1" cy="28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0" name="Rectangle 29"/>
            <p:cNvSpPr>
              <a:spLocks noChangeArrowheads="1"/>
            </p:cNvSpPr>
            <p:nvPr/>
          </p:nvSpPr>
          <p:spPr bwMode="auto">
            <a:xfrm>
              <a:off x="2733" y="3003"/>
              <a:ext cx="118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1" name="Rectangle 30"/>
            <p:cNvSpPr>
              <a:spLocks noChangeArrowheads="1"/>
            </p:cNvSpPr>
            <p:nvPr/>
          </p:nvSpPr>
          <p:spPr bwMode="auto">
            <a:xfrm>
              <a:off x="3140" y="3003"/>
              <a:ext cx="118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2" name="Rectangle 31"/>
            <p:cNvSpPr>
              <a:spLocks noChangeArrowheads="1"/>
            </p:cNvSpPr>
            <p:nvPr/>
          </p:nvSpPr>
          <p:spPr bwMode="auto">
            <a:xfrm>
              <a:off x="3190" y="3162"/>
              <a:ext cx="1872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也有类似的性质．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3" name="Rectangle 32"/>
            <p:cNvSpPr>
              <a:spLocks noChangeArrowheads="1"/>
            </p:cNvSpPr>
            <p:nvPr/>
          </p:nvSpPr>
          <p:spPr bwMode="auto">
            <a:xfrm>
              <a:off x="320" y="3162"/>
              <a:ext cx="1862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对于条件密度函数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4" name="Rectangle 33"/>
            <p:cNvSpPr>
              <a:spLocks noChangeArrowheads="1"/>
            </p:cNvSpPr>
            <p:nvPr/>
          </p:nvSpPr>
          <p:spPr bwMode="auto">
            <a:xfrm>
              <a:off x="3002" y="3154"/>
              <a:ext cx="116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5" name="Rectangle 34"/>
            <p:cNvSpPr>
              <a:spLocks noChangeArrowheads="1"/>
            </p:cNvSpPr>
            <p:nvPr/>
          </p:nvSpPr>
          <p:spPr bwMode="auto">
            <a:xfrm>
              <a:off x="2831" y="3154"/>
              <a:ext cx="103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6" name="Rectangle 35"/>
            <p:cNvSpPr>
              <a:spLocks noChangeArrowheads="1"/>
            </p:cNvSpPr>
            <p:nvPr/>
          </p:nvSpPr>
          <p:spPr bwMode="auto">
            <a:xfrm>
              <a:off x="2334" y="3154"/>
              <a:ext cx="77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7" name="Rectangle 36"/>
            <p:cNvSpPr>
              <a:spLocks noChangeArrowheads="1"/>
            </p:cNvSpPr>
            <p:nvPr/>
          </p:nvSpPr>
          <p:spPr bwMode="auto">
            <a:xfrm>
              <a:off x="2585" y="3307"/>
              <a:ext cx="91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8" name="Rectangle 37"/>
            <p:cNvSpPr>
              <a:spLocks noChangeArrowheads="1"/>
            </p:cNvSpPr>
            <p:nvPr/>
          </p:nvSpPr>
          <p:spPr bwMode="auto">
            <a:xfrm>
              <a:off x="2425" y="3307"/>
              <a:ext cx="83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4" name="Group 39"/>
          <p:cNvGrpSpPr>
            <a:grpSpLocks noChangeAspect="1"/>
          </p:cNvGrpSpPr>
          <p:nvPr/>
        </p:nvGrpSpPr>
        <p:grpSpPr bwMode="auto">
          <a:xfrm>
            <a:off x="1106488" y="3774611"/>
            <a:ext cx="6300925" cy="784611"/>
            <a:chOff x="309" y="2174"/>
            <a:chExt cx="3579" cy="699"/>
          </a:xfrm>
        </p:grpSpPr>
        <p:sp>
          <p:nvSpPr>
            <p:cNvPr id="45" name="AutoShape 38"/>
            <p:cNvSpPr>
              <a:spLocks noChangeAspect="1" noChangeArrowheads="1" noTextEdit="1"/>
            </p:cNvSpPr>
            <p:nvPr/>
          </p:nvSpPr>
          <p:spPr bwMode="auto">
            <a:xfrm>
              <a:off x="309" y="2299"/>
              <a:ext cx="3579" cy="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6" name="Line 40"/>
            <p:cNvSpPr>
              <a:spLocks noChangeShapeType="1"/>
            </p:cNvSpPr>
            <p:nvPr/>
          </p:nvSpPr>
          <p:spPr bwMode="auto">
            <a:xfrm>
              <a:off x="1698" y="2534"/>
              <a:ext cx="1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7" name="Line 41"/>
            <p:cNvSpPr>
              <a:spLocks noChangeShapeType="1"/>
            </p:cNvSpPr>
            <p:nvPr/>
          </p:nvSpPr>
          <p:spPr bwMode="auto">
            <a:xfrm>
              <a:off x="2136" y="2357"/>
              <a:ext cx="1" cy="329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1879" y="2174"/>
              <a:ext cx="124" cy="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1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2334" y="2174"/>
              <a:ext cx="124" cy="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1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44"/>
            <p:cNvSpPr>
              <a:spLocks noChangeArrowheads="1"/>
            </p:cNvSpPr>
            <p:nvPr/>
          </p:nvSpPr>
          <p:spPr bwMode="auto">
            <a:xfrm>
              <a:off x="2392" y="2356"/>
              <a:ext cx="1448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是密度函数．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45"/>
            <p:cNvSpPr>
              <a:spLocks noChangeArrowheads="1"/>
            </p:cNvSpPr>
            <p:nvPr/>
          </p:nvSpPr>
          <p:spPr bwMode="auto">
            <a:xfrm>
              <a:off x="336" y="2356"/>
              <a:ext cx="965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简言之，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52" name="Rectangle 46"/>
            <p:cNvSpPr>
              <a:spLocks noChangeArrowheads="1"/>
            </p:cNvSpPr>
            <p:nvPr/>
          </p:nvSpPr>
          <p:spPr bwMode="auto">
            <a:xfrm>
              <a:off x="2198" y="2351"/>
              <a:ext cx="107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1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auto">
            <a:xfrm>
              <a:off x="1976" y="2351"/>
              <a:ext cx="120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1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1426" y="2351"/>
              <a:ext cx="80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1719" y="2529"/>
              <a:ext cx="89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1555" y="2529"/>
              <a:ext cx="97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" name="Group 52"/>
          <p:cNvGrpSpPr>
            <a:grpSpLocks noChangeAspect="1"/>
          </p:cNvGrpSpPr>
          <p:nvPr/>
        </p:nvGrpSpPr>
        <p:grpSpPr bwMode="auto">
          <a:xfrm>
            <a:off x="1143000" y="2190749"/>
            <a:ext cx="4598988" cy="1254125"/>
            <a:chOff x="432" y="1322"/>
            <a:chExt cx="2897" cy="790"/>
          </a:xfrm>
        </p:grpSpPr>
        <p:sp>
          <p:nvSpPr>
            <p:cNvPr id="26" name="AutoShape 51"/>
            <p:cNvSpPr>
              <a:spLocks noChangeAspect="1" noChangeArrowheads="1" noTextEdit="1"/>
            </p:cNvSpPr>
            <p:nvPr/>
          </p:nvSpPr>
          <p:spPr bwMode="auto">
            <a:xfrm>
              <a:off x="432" y="1322"/>
              <a:ext cx="2897" cy="7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Line 53"/>
            <p:cNvSpPr>
              <a:spLocks noChangeShapeType="1"/>
            </p:cNvSpPr>
            <p:nvPr/>
          </p:nvSpPr>
          <p:spPr bwMode="auto">
            <a:xfrm>
              <a:off x="1965" y="1739"/>
              <a:ext cx="1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Line 54"/>
            <p:cNvSpPr>
              <a:spLocks noChangeShapeType="1"/>
            </p:cNvSpPr>
            <p:nvPr/>
          </p:nvSpPr>
          <p:spPr bwMode="auto">
            <a:xfrm>
              <a:off x="2382" y="1570"/>
              <a:ext cx="1" cy="31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" name="Rectangle 55"/>
            <p:cNvSpPr>
              <a:spLocks noChangeArrowheads="1"/>
            </p:cNvSpPr>
            <p:nvPr/>
          </p:nvSpPr>
          <p:spPr bwMode="auto">
            <a:xfrm>
              <a:off x="2136" y="1394"/>
              <a:ext cx="131" cy="4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0" name="Rectangle 56"/>
            <p:cNvSpPr>
              <a:spLocks noChangeArrowheads="1"/>
            </p:cNvSpPr>
            <p:nvPr/>
          </p:nvSpPr>
          <p:spPr bwMode="auto">
            <a:xfrm>
              <a:off x="2573" y="1394"/>
              <a:ext cx="131" cy="4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1" name="Rectangle 57"/>
            <p:cNvSpPr>
              <a:spLocks noChangeArrowheads="1"/>
            </p:cNvSpPr>
            <p:nvPr/>
          </p:nvSpPr>
          <p:spPr bwMode="auto">
            <a:xfrm>
              <a:off x="3163" y="1564"/>
              <a:ext cx="128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2" name="Rectangle 58"/>
            <p:cNvSpPr>
              <a:spLocks noChangeArrowheads="1"/>
            </p:cNvSpPr>
            <p:nvPr/>
          </p:nvSpPr>
          <p:spPr bwMode="auto">
            <a:xfrm>
              <a:off x="1042" y="1564"/>
              <a:ext cx="128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3" name="Rectangle 59"/>
            <p:cNvSpPr>
              <a:spLocks noChangeArrowheads="1"/>
            </p:cNvSpPr>
            <p:nvPr/>
          </p:nvSpPr>
          <p:spPr bwMode="auto">
            <a:xfrm>
              <a:off x="2967" y="1534"/>
              <a:ext cx="141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4" name="Rectangle 60"/>
            <p:cNvSpPr>
              <a:spLocks noChangeArrowheads="1"/>
            </p:cNvSpPr>
            <p:nvPr/>
          </p:nvSpPr>
          <p:spPr bwMode="auto">
            <a:xfrm>
              <a:off x="1504" y="1498"/>
              <a:ext cx="106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ò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5" name="Rectangle 61"/>
            <p:cNvSpPr>
              <a:spLocks noChangeArrowheads="1"/>
            </p:cNvSpPr>
            <p:nvPr/>
          </p:nvSpPr>
          <p:spPr bwMode="auto">
            <a:xfrm>
              <a:off x="1462" y="1348"/>
              <a:ext cx="193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+¥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" name="Rectangle 62"/>
            <p:cNvSpPr>
              <a:spLocks noChangeArrowheads="1"/>
            </p:cNvSpPr>
            <p:nvPr/>
          </p:nvSpPr>
          <p:spPr bwMode="auto">
            <a:xfrm>
              <a:off x="1550" y="1919"/>
              <a:ext cx="109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¥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" name="Rectangle 63"/>
            <p:cNvSpPr>
              <a:spLocks noChangeArrowheads="1"/>
            </p:cNvSpPr>
            <p:nvPr/>
          </p:nvSpPr>
          <p:spPr bwMode="auto">
            <a:xfrm>
              <a:off x="1459" y="1919"/>
              <a:ext cx="84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8" name="Rectangle 64"/>
            <p:cNvSpPr>
              <a:spLocks noChangeArrowheads="1"/>
            </p:cNvSpPr>
            <p:nvPr/>
          </p:nvSpPr>
          <p:spPr bwMode="auto">
            <a:xfrm>
              <a:off x="2635" y="1564"/>
              <a:ext cx="256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dx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" name="Rectangle 65"/>
            <p:cNvSpPr>
              <a:spLocks noChangeArrowheads="1"/>
            </p:cNvSpPr>
            <p:nvPr/>
          </p:nvSpPr>
          <p:spPr bwMode="auto">
            <a:xfrm>
              <a:off x="2441" y="1564"/>
              <a:ext cx="114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0" name="Rectangle 66"/>
            <p:cNvSpPr>
              <a:spLocks noChangeArrowheads="1"/>
            </p:cNvSpPr>
            <p:nvPr/>
          </p:nvSpPr>
          <p:spPr bwMode="auto">
            <a:xfrm>
              <a:off x="2229" y="1564"/>
              <a:ext cx="128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1" name="Rectangle 67"/>
            <p:cNvSpPr>
              <a:spLocks noChangeArrowheads="1"/>
            </p:cNvSpPr>
            <p:nvPr/>
          </p:nvSpPr>
          <p:spPr bwMode="auto">
            <a:xfrm>
              <a:off x="1707" y="1564"/>
              <a:ext cx="85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2" name="Rectangle 68"/>
            <p:cNvSpPr>
              <a:spLocks noChangeArrowheads="1"/>
            </p:cNvSpPr>
            <p:nvPr/>
          </p:nvSpPr>
          <p:spPr bwMode="auto">
            <a:xfrm>
              <a:off x="1984" y="1734"/>
              <a:ext cx="93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3" name="Rectangle 69"/>
            <p:cNvSpPr>
              <a:spLocks noChangeArrowheads="1"/>
            </p:cNvSpPr>
            <p:nvPr/>
          </p:nvSpPr>
          <p:spPr bwMode="auto">
            <a:xfrm>
              <a:off x="1829" y="1734"/>
              <a:ext cx="101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4" name="Rectangle 70"/>
            <p:cNvSpPr>
              <a:spLocks noChangeArrowheads="1"/>
            </p:cNvSpPr>
            <p:nvPr/>
          </p:nvSpPr>
          <p:spPr bwMode="auto">
            <a:xfrm>
              <a:off x="463" y="1572"/>
              <a:ext cx="516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性质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6" name="Group 72"/>
          <p:cNvGrpSpPr>
            <a:grpSpLocks noChangeAspect="1"/>
          </p:cNvGrpSpPr>
          <p:nvPr/>
        </p:nvGrpSpPr>
        <p:grpSpPr bwMode="auto">
          <a:xfrm>
            <a:off x="1106488" y="1463674"/>
            <a:ext cx="3919537" cy="552450"/>
            <a:chOff x="411" y="960"/>
            <a:chExt cx="2469" cy="348"/>
          </a:xfrm>
        </p:grpSpPr>
        <p:sp>
          <p:nvSpPr>
            <p:cNvPr id="20" name="AutoShape 71"/>
            <p:cNvSpPr>
              <a:spLocks noChangeAspect="1" noChangeArrowheads="1" noTextEdit="1"/>
            </p:cNvSpPr>
            <p:nvPr/>
          </p:nvSpPr>
          <p:spPr bwMode="auto">
            <a:xfrm>
              <a:off x="411" y="960"/>
              <a:ext cx="2469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73"/>
            <p:cNvSpPr>
              <a:spLocks noChangeArrowheads="1"/>
            </p:cNvSpPr>
            <p:nvPr/>
          </p:nvSpPr>
          <p:spPr bwMode="auto">
            <a:xfrm>
              <a:off x="2367" y="995"/>
              <a:ext cx="500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，有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2" name="Rectangle 74"/>
            <p:cNvSpPr>
              <a:spLocks noChangeArrowheads="1"/>
            </p:cNvSpPr>
            <p:nvPr/>
          </p:nvSpPr>
          <p:spPr bwMode="auto">
            <a:xfrm>
              <a:off x="1234" y="995"/>
              <a:ext cx="1000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对任意的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" name="Rectangle 75"/>
            <p:cNvSpPr>
              <a:spLocks noChangeArrowheads="1"/>
            </p:cNvSpPr>
            <p:nvPr/>
          </p:nvSpPr>
          <p:spPr bwMode="auto">
            <a:xfrm>
              <a:off x="483" y="995"/>
              <a:ext cx="500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性质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4" name="Rectangle 76"/>
            <p:cNvSpPr>
              <a:spLocks noChangeArrowheads="1"/>
            </p:cNvSpPr>
            <p:nvPr/>
          </p:nvSpPr>
          <p:spPr bwMode="auto">
            <a:xfrm>
              <a:off x="2251" y="987"/>
              <a:ext cx="124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5" name="Rectangle 77"/>
            <p:cNvSpPr>
              <a:spLocks noChangeArrowheads="1"/>
            </p:cNvSpPr>
            <p:nvPr/>
          </p:nvSpPr>
          <p:spPr bwMode="auto">
            <a:xfrm>
              <a:off x="997" y="987"/>
              <a:ext cx="124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Group 79"/>
          <p:cNvGrpSpPr>
            <a:grpSpLocks noChangeAspect="1"/>
          </p:cNvGrpSpPr>
          <p:nvPr/>
        </p:nvGrpSpPr>
        <p:grpSpPr bwMode="auto">
          <a:xfrm>
            <a:off x="5102225" y="1277937"/>
            <a:ext cx="1908175" cy="947737"/>
            <a:chOff x="2928" y="777"/>
            <a:chExt cx="1202" cy="597"/>
          </a:xfrm>
        </p:grpSpPr>
        <p:sp>
          <p:nvSpPr>
            <p:cNvPr id="8" name="AutoShape 78"/>
            <p:cNvSpPr>
              <a:spLocks noChangeAspect="1" noChangeArrowheads="1" noTextEdit="1"/>
            </p:cNvSpPr>
            <p:nvPr/>
          </p:nvSpPr>
          <p:spPr bwMode="auto">
            <a:xfrm>
              <a:off x="2928" y="899"/>
              <a:ext cx="1202" cy="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" name="Line 80"/>
            <p:cNvSpPr>
              <a:spLocks noChangeShapeType="1"/>
            </p:cNvSpPr>
            <p:nvPr/>
          </p:nvSpPr>
          <p:spPr bwMode="auto">
            <a:xfrm>
              <a:off x="3247" y="1126"/>
              <a:ext cx="1" cy="18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" name="Line 81"/>
            <p:cNvSpPr>
              <a:spLocks noChangeShapeType="1"/>
            </p:cNvSpPr>
            <p:nvPr/>
          </p:nvSpPr>
          <p:spPr bwMode="auto">
            <a:xfrm>
              <a:off x="3584" y="956"/>
              <a:ext cx="1" cy="31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" name="Rectangle 82"/>
            <p:cNvSpPr>
              <a:spLocks noChangeArrowheads="1"/>
            </p:cNvSpPr>
            <p:nvPr/>
          </p:nvSpPr>
          <p:spPr bwMode="auto">
            <a:xfrm>
              <a:off x="3385" y="777"/>
              <a:ext cx="134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" name="Rectangle 83"/>
            <p:cNvSpPr>
              <a:spLocks noChangeArrowheads="1"/>
            </p:cNvSpPr>
            <p:nvPr/>
          </p:nvSpPr>
          <p:spPr bwMode="auto">
            <a:xfrm>
              <a:off x="3737" y="777"/>
              <a:ext cx="134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" name="Rectangle 84"/>
            <p:cNvSpPr>
              <a:spLocks noChangeArrowheads="1"/>
            </p:cNvSpPr>
            <p:nvPr/>
          </p:nvSpPr>
          <p:spPr bwMode="auto">
            <a:xfrm>
              <a:off x="4002" y="949"/>
              <a:ext cx="128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" name="Rectangle 85"/>
            <p:cNvSpPr>
              <a:spLocks noChangeArrowheads="1"/>
            </p:cNvSpPr>
            <p:nvPr/>
          </p:nvSpPr>
          <p:spPr bwMode="auto">
            <a:xfrm>
              <a:off x="3835" y="920"/>
              <a:ext cx="141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³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" name="Rectangle 86"/>
            <p:cNvSpPr>
              <a:spLocks noChangeArrowheads="1"/>
            </p:cNvSpPr>
            <p:nvPr/>
          </p:nvSpPr>
          <p:spPr bwMode="auto">
            <a:xfrm>
              <a:off x="3631" y="949"/>
              <a:ext cx="114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" name="Rectangle 87"/>
            <p:cNvSpPr>
              <a:spLocks noChangeArrowheads="1"/>
            </p:cNvSpPr>
            <p:nvPr/>
          </p:nvSpPr>
          <p:spPr bwMode="auto">
            <a:xfrm>
              <a:off x="3460" y="949"/>
              <a:ext cx="128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Rectangle 88"/>
            <p:cNvSpPr>
              <a:spLocks noChangeArrowheads="1"/>
            </p:cNvSpPr>
            <p:nvPr/>
          </p:nvSpPr>
          <p:spPr bwMode="auto">
            <a:xfrm>
              <a:off x="3040" y="949"/>
              <a:ext cx="85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" name="Rectangle 89"/>
            <p:cNvSpPr>
              <a:spLocks noChangeArrowheads="1"/>
            </p:cNvSpPr>
            <p:nvPr/>
          </p:nvSpPr>
          <p:spPr bwMode="auto">
            <a:xfrm>
              <a:off x="3263" y="1121"/>
              <a:ext cx="93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9" name="Rectangle 90"/>
            <p:cNvSpPr>
              <a:spLocks noChangeArrowheads="1"/>
            </p:cNvSpPr>
            <p:nvPr/>
          </p:nvSpPr>
          <p:spPr bwMode="auto">
            <a:xfrm>
              <a:off x="3137" y="1121"/>
              <a:ext cx="101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5"/>
          <p:cNvSpPr txBox="1">
            <a:spLocks noChangeArrowheads="1"/>
          </p:cNvSpPr>
          <p:nvPr/>
        </p:nvSpPr>
        <p:spPr bwMode="auto">
          <a:xfrm>
            <a:off x="669925" y="541337"/>
            <a:ext cx="1219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CC0000"/>
                </a:solidFill>
                <a:latin typeface="Times New Roman" pitchFamily="18" charset="0"/>
              </a:rPr>
              <a:t>例</a:t>
            </a:r>
            <a:endParaRPr lang="en-US" altLang="zh-CN" sz="2800" b="1" dirty="0">
              <a:solidFill>
                <a:srgbClr val="CC0000"/>
              </a:solidFill>
              <a:latin typeface="Times New Roman" pitchFamily="18" charset="0"/>
            </a:endParaRPr>
          </a:p>
        </p:txBody>
      </p:sp>
      <p:pic>
        <p:nvPicPr>
          <p:cNvPr id="44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0825" y="617537"/>
            <a:ext cx="5440362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5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8125" y="1084262"/>
            <a:ext cx="5224462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" name="Object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987" y="2227262"/>
            <a:ext cx="83280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7" name="Object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98587" y="2835275"/>
            <a:ext cx="31908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8" name="Text Box 10"/>
          <p:cNvSpPr txBox="1">
            <a:spLocks noChangeArrowheads="1"/>
          </p:cNvSpPr>
          <p:nvPr/>
        </p:nvSpPr>
        <p:spPr bwMode="auto">
          <a:xfrm>
            <a:off x="484187" y="3903662"/>
            <a:ext cx="99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C0000"/>
                </a:solidFill>
                <a:latin typeface="Times New Roman" pitchFamily="18" charset="0"/>
              </a:rPr>
              <a:t>解：</a:t>
            </a:r>
          </a:p>
        </p:txBody>
      </p:sp>
      <p:pic>
        <p:nvPicPr>
          <p:cNvPr id="49" name="Object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98587" y="4695825"/>
            <a:ext cx="844550" cy="162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" name="Object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96987" y="3616325"/>
            <a:ext cx="3835400" cy="112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" name="Object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900487" y="5018087"/>
            <a:ext cx="14605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" name="Object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008187" y="4610100"/>
            <a:ext cx="1828800" cy="119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" name="Object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160587" y="5808662"/>
            <a:ext cx="24241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8" name="组合 67"/>
          <p:cNvGrpSpPr/>
          <p:nvPr/>
        </p:nvGrpSpPr>
        <p:grpSpPr>
          <a:xfrm>
            <a:off x="6250632" y="3486050"/>
            <a:ext cx="2209800" cy="2535238"/>
            <a:chOff x="6250632" y="3486050"/>
            <a:chExt cx="2209800" cy="2535238"/>
          </a:xfrm>
        </p:grpSpPr>
        <p:sp>
          <p:nvSpPr>
            <p:cNvPr id="54" name="Line 46"/>
            <p:cNvSpPr>
              <a:spLocks noChangeShapeType="1"/>
            </p:cNvSpPr>
            <p:nvPr/>
          </p:nvSpPr>
          <p:spPr bwMode="auto">
            <a:xfrm>
              <a:off x="6250632" y="4862413"/>
              <a:ext cx="2057400" cy="15875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5" name="Line 47"/>
            <p:cNvSpPr>
              <a:spLocks noChangeShapeType="1"/>
            </p:cNvSpPr>
            <p:nvPr/>
          </p:nvSpPr>
          <p:spPr bwMode="auto">
            <a:xfrm flipV="1">
              <a:off x="6760220" y="3486050"/>
              <a:ext cx="0" cy="2322513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56" name="Object 2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8079432" y="4878288"/>
              <a:ext cx="381000" cy="334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" name="Object 3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6250632" y="3487638"/>
              <a:ext cx="452438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8" name="Line 50"/>
            <p:cNvSpPr>
              <a:spLocks noChangeShapeType="1"/>
            </p:cNvSpPr>
            <p:nvPr/>
          </p:nvSpPr>
          <p:spPr bwMode="auto">
            <a:xfrm>
              <a:off x="6760220" y="4862413"/>
              <a:ext cx="785813" cy="757238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 flipH="1">
              <a:off x="6760220" y="4095650"/>
              <a:ext cx="785813" cy="766763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60" name="Object 4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6499870" y="4883050"/>
              <a:ext cx="284162" cy="300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1" name="Object 5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7546032" y="4883050"/>
              <a:ext cx="236538" cy="300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2" name="Line 54"/>
            <p:cNvSpPr>
              <a:spLocks noChangeShapeType="1"/>
            </p:cNvSpPr>
            <p:nvPr/>
          </p:nvSpPr>
          <p:spPr bwMode="auto">
            <a:xfrm>
              <a:off x="6977707" y="4705250"/>
              <a:ext cx="0" cy="257175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>
              <a:off x="7546032" y="4095650"/>
              <a:ext cx="0" cy="1524000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7165032" y="4552850"/>
              <a:ext cx="0" cy="60960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65" name="Object 6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6860232" y="3728938"/>
              <a:ext cx="838200" cy="434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6" name="Object 7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6860232" y="5632350"/>
              <a:ext cx="914400" cy="388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7" name="Line 59"/>
            <p:cNvSpPr>
              <a:spLocks noChangeShapeType="1"/>
            </p:cNvSpPr>
            <p:nvPr/>
          </p:nvSpPr>
          <p:spPr bwMode="auto">
            <a:xfrm flipH="1">
              <a:off x="7333307" y="4371875"/>
              <a:ext cx="0" cy="91440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33400" y="304800"/>
          <a:ext cx="32766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公式" r:id="rId3" imgW="1333440" imgH="469800" progId="Equation.3">
                  <p:embed/>
                </p:oleObj>
              </mc:Choice>
              <mc:Fallback>
                <p:oleObj name="公式" r:id="rId3" imgW="133344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"/>
                        <a:ext cx="32766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495800" y="465138"/>
          <a:ext cx="4343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公式" r:id="rId5" imgW="1993680" imgH="431640" progId="Equation.3">
                  <p:embed/>
                </p:oleObj>
              </mc:Choice>
              <mc:Fallback>
                <p:oleObj name="公式" r:id="rId5" imgW="199368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65138"/>
                        <a:ext cx="4343400" cy="9398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Object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84176" y="4079280"/>
            <a:ext cx="329565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Object 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23851" y="1528167"/>
            <a:ext cx="822325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Object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443264" y="1636117"/>
            <a:ext cx="148431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Object 5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298748" y="1270992"/>
            <a:ext cx="1990725" cy="115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Object 6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403576" y="2550517"/>
            <a:ext cx="17526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Object 7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2346176" y="3407767"/>
            <a:ext cx="22225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Object 8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346176" y="2185392"/>
            <a:ext cx="2020888" cy="115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3" name="组合 12"/>
          <p:cNvGrpSpPr/>
          <p:nvPr/>
        </p:nvGrpSpPr>
        <p:grpSpPr>
          <a:xfrm>
            <a:off x="6250632" y="3486050"/>
            <a:ext cx="2209800" cy="2535238"/>
            <a:chOff x="6250632" y="3486050"/>
            <a:chExt cx="2209800" cy="2535238"/>
          </a:xfrm>
        </p:grpSpPr>
        <p:sp>
          <p:nvSpPr>
            <p:cNvPr id="14" name="Line 46"/>
            <p:cNvSpPr>
              <a:spLocks noChangeShapeType="1"/>
            </p:cNvSpPr>
            <p:nvPr/>
          </p:nvSpPr>
          <p:spPr bwMode="auto">
            <a:xfrm>
              <a:off x="6250632" y="4862413"/>
              <a:ext cx="2057400" cy="15875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" name="Line 47"/>
            <p:cNvSpPr>
              <a:spLocks noChangeShapeType="1"/>
            </p:cNvSpPr>
            <p:nvPr/>
          </p:nvSpPr>
          <p:spPr bwMode="auto">
            <a:xfrm flipV="1">
              <a:off x="6760220" y="3486050"/>
              <a:ext cx="0" cy="2322513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16" name="Object 2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8079432" y="4878288"/>
              <a:ext cx="381000" cy="334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Object 3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6250632" y="3487638"/>
              <a:ext cx="452438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8" name="Line 50"/>
            <p:cNvSpPr>
              <a:spLocks noChangeShapeType="1"/>
            </p:cNvSpPr>
            <p:nvPr/>
          </p:nvSpPr>
          <p:spPr bwMode="auto">
            <a:xfrm>
              <a:off x="6760220" y="4862413"/>
              <a:ext cx="785813" cy="757238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9" name="Line 51"/>
            <p:cNvSpPr>
              <a:spLocks noChangeShapeType="1"/>
            </p:cNvSpPr>
            <p:nvPr/>
          </p:nvSpPr>
          <p:spPr bwMode="auto">
            <a:xfrm flipH="1">
              <a:off x="6760220" y="4095650"/>
              <a:ext cx="785813" cy="766763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20" name="Object 4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6499870" y="4883050"/>
              <a:ext cx="284162" cy="300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1" name="Object 5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7546032" y="4883050"/>
              <a:ext cx="236538" cy="300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Line 54"/>
            <p:cNvSpPr>
              <a:spLocks noChangeShapeType="1"/>
            </p:cNvSpPr>
            <p:nvPr/>
          </p:nvSpPr>
          <p:spPr bwMode="auto">
            <a:xfrm>
              <a:off x="6977707" y="4705250"/>
              <a:ext cx="0" cy="257175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" name="Line 55"/>
            <p:cNvSpPr>
              <a:spLocks noChangeShapeType="1"/>
            </p:cNvSpPr>
            <p:nvPr/>
          </p:nvSpPr>
          <p:spPr bwMode="auto">
            <a:xfrm>
              <a:off x="7546032" y="4095650"/>
              <a:ext cx="0" cy="1524000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4" name="Line 56"/>
            <p:cNvSpPr>
              <a:spLocks noChangeShapeType="1"/>
            </p:cNvSpPr>
            <p:nvPr/>
          </p:nvSpPr>
          <p:spPr bwMode="auto">
            <a:xfrm>
              <a:off x="7165032" y="4552850"/>
              <a:ext cx="0" cy="60960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25" name="Object 6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6860232" y="3728938"/>
              <a:ext cx="838200" cy="434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6" name="Object 7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6860232" y="5632350"/>
              <a:ext cx="914400" cy="388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7" name="Line 59"/>
            <p:cNvSpPr>
              <a:spLocks noChangeShapeType="1"/>
            </p:cNvSpPr>
            <p:nvPr/>
          </p:nvSpPr>
          <p:spPr bwMode="auto">
            <a:xfrm flipH="1">
              <a:off x="7333307" y="4371875"/>
              <a:ext cx="0" cy="91440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374397"/>
              </p:ext>
            </p:extLst>
          </p:nvPr>
        </p:nvGraphicFramePr>
        <p:xfrm>
          <a:off x="5062511" y="4869160"/>
          <a:ext cx="4081489" cy="784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公式" r:id="rId3" imgW="2438280" imgH="469800" progId="Equation.3">
                  <p:embed/>
                </p:oleObj>
              </mc:Choice>
              <mc:Fallback>
                <p:oleObj name="公式" r:id="rId3" imgW="243828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511" y="4869160"/>
                        <a:ext cx="4081489" cy="784448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7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7086600" y="3124200"/>
          <a:ext cx="14605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8" name="公式" r:id="rId5" imgW="634680" imgH="203040" progId="Equation.3">
                  <p:embed/>
                </p:oleObj>
              </mc:Choice>
              <mc:Fallback>
                <p:oleObj name="公式" r:id="rId5" imgW="63468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124200"/>
                        <a:ext cx="14605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858000" y="3675063"/>
          <a:ext cx="1905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公式" r:id="rId7" imgW="1815840" imgH="419040" progId="Equation.3">
                  <p:embed/>
                </p:oleObj>
              </mc:Choice>
              <mc:Fallback>
                <p:oleObj name="公式" r:id="rId7" imgW="181584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675063"/>
                        <a:ext cx="190500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705600" y="1219200"/>
          <a:ext cx="22193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公式" r:id="rId9" imgW="2273040" imgH="927000" progId="Equation.3">
                  <p:embed/>
                </p:oleObj>
              </mc:Choice>
              <mc:Fallback>
                <p:oleObj name="公式" r:id="rId9" imgW="2273040" imgH="927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219200"/>
                        <a:ext cx="221932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00200" y="1492250"/>
          <a:ext cx="3729038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公式" r:id="rId11" imgW="1523880" imgH="634680" progId="Equation.3">
                  <p:embed/>
                </p:oleObj>
              </mc:Choice>
              <mc:Fallback>
                <p:oleObj name="公式" r:id="rId11" imgW="1523880" imgH="6346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492250"/>
                        <a:ext cx="3729038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7200" y="381000"/>
          <a:ext cx="54864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公式" r:id="rId13" imgW="2400120" imgH="431640" progId="Equation.3">
                  <p:embed/>
                </p:oleObj>
              </mc:Choice>
              <mc:Fallback>
                <p:oleObj name="公式" r:id="rId13" imgW="240012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1000"/>
                        <a:ext cx="548640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43000" y="609600"/>
          <a:ext cx="14795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name="公式" r:id="rId15" imgW="647640" imgH="215640" progId="Equation.3">
                  <p:embed/>
                </p:oleObj>
              </mc:Choice>
              <mc:Fallback>
                <p:oleObj name="公式" r:id="rId15" imgW="64764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609600"/>
                        <a:ext cx="14795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371600" y="4191000"/>
          <a:ext cx="3352800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name="公式" r:id="rId17" imgW="1409400" imgH="609480" progId="Equation.3">
                  <p:embed/>
                </p:oleObj>
              </mc:Choice>
              <mc:Fallback>
                <p:oleObj name="公式" r:id="rId17" imgW="1409400" imgH="609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91000"/>
                        <a:ext cx="3352800" cy="145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246313" y="3217863"/>
          <a:ext cx="3697287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公式" r:id="rId19" imgW="1523880" imgH="431640" progId="Equation.3">
                  <p:embed/>
                </p:oleObj>
              </mc:Choice>
              <mc:Fallback>
                <p:oleObj name="公式" r:id="rId19" imgW="152388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3217863"/>
                        <a:ext cx="3697287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09600" y="3429000"/>
          <a:ext cx="22494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公式" r:id="rId21" imgW="927000" imgH="215640" progId="Equation.3">
                  <p:embed/>
                </p:oleObj>
              </mc:Choice>
              <mc:Fallback>
                <p:oleObj name="公式" r:id="rId21" imgW="92700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429000"/>
                        <a:ext cx="22494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17675" y="3440113"/>
          <a:ext cx="3082925" cy="181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公式" r:id="rId3" imgW="1333440" imgH="787320" progId="Equation.3">
                  <p:embed/>
                </p:oleObj>
              </mc:Choice>
              <mc:Fallback>
                <p:oleObj name="公式" r:id="rId3" imgW="1333440" imgH="7873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3440113"/>
                        <a:ext cx="3082925" cy="181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85800" y="609600"/>
          <a:ext cx="33528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公式" r:id="rId5" imgW="1434960" imgH="406080" progId="Equation.3">
                  <p:embed/>
                </p:oleObj>
              </mc:Choice>
              <mc:Fallback>
                <p:oleObj name="公式" r:id="rId5" imgW="1434960" imgH="406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09600"/>
                        <a:ext cx="33528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76400" y="1781175"/>
          <a:ext cx="2859088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公式" r:id="rId7" imgW="1269720" imgH="596880" progId="Equation.3">
                  <p:embed/>
                </p:oleObj>
              </mc:Choice>
              <mc:Fallback>
                <p:oleObj name="公式" r:id="rId7" imgW="1269720" imgH="596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781175"/>
                        <a:ext cx="2859088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132948"/>
              </p:ext>
            </p:extLst>
          </p:nvPr>
        </p:nvGraphicFramePr>
        <p:xfrm>
          <a:off x="4648200" y="460375"/>
          <a:ext cx="42672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name="公式" r:id="rId9" imgW="2006280" imgH="469800" progId="Equation.3">
                  <p:embed/>
                </p:oleObj>
              </mc:Choice>
              <mc:Fallback>
                <p:oleObj name="公式" r:id="rId9" imgW="200628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60375"/>
                        <a:ext cx="4267200" cy="98742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7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5940152" y="3509168"/>
            <a:ext cx="2133600" cy="2322513"/>
            <a:chOff x="3505200" y="2347912"/>
            <a:chExt cx="2133600" cy="2322513"/>
          </a:xfrm>
        </p:grpSpPr>
        <p:sp>
          <p:nvSpPr>
            <p:cNvPr id="22" name="Line 49"/>
            <p:cNvSpPr>
              <a:spLocks noChangeShapeType="1"/>
            </p:cNvSpPr>
            <p:nvPr/>
          </p:nvSpPr>
          <p:spPr bwMode="auto">
            <a:xfrm flipV="1">
              <a:off x="3505200" y="3719512"/>
              <a:ext cx="1981200" cy="4763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 flipV="1">
              <a:off x="3941763" y="2347912"/>
              <a:ext cx="0" cy="2322513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24" name="Object 2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5257800" y="3754437"/>
              <a:ext cx="3810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5" name="Object 3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3584575" y="2376487"/>
              <a:ext cx="452438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6" name="Line 53"/>
            <p:cNvSpPr>
              <a:spLocks noChangeShapeType="1"/>
            </p:cNvSpPr>
            <p:nvPr/>
          </p:nvSpPr>
          <p:spPr bwMode="auto">
            <a:xfrm>
              <a:off x="3941763" y="3724275"/>
              <a:ext cx="785813" cy="757238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Line 54"/>
            <p:cNvSpPr>
              <a:spLocks noChangeShapeType="1"/>
            </p:cNvSpPr>
            <p:nvPr/>
          </p:nvSpPr>
          <p:spPr bwMode="auto">
            <a:xfrm flipH="1">
              <a:off x="3941763" y="2957512"/>
              <a:ext cx="785813" cy="766763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28" name="Object 4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3681413" y="3724275"/>
              <a:ext cx="284162" cy="300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9" name="Object 5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727575" y="3724275"/>
              <a:ext cx="236538" cy="300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0" name="Line 57"/>
            <p:cNvSpPr>
              <a:spLocks noChangeShapeType="1"/>
            </p:cNvSpPr>
            <p:nvPr/>
          </p:nvSpPr>
          <p:spPr bwMode="auto">
            <a:xfrm>
              <a:off x="4727575" y="2957512"/>
              <a:ext cx="0" cy="152400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1" name="Line 58"/>
            <p:cNvSpPr>
              <a:spLocks noChangeShapeType="1"/>
            </p:cNvSpPr>
            <p:nvPr/>
          </p:nvSpPr>
          <p:spPr bwMode="auto">
            <a:xfrm flipH="1">
              <a:off x="4343400" y="3298825"/>
              <a:ext cx="3175" cy="420688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32" name="Object 6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4268788" y="2635250"/>
              <a:ext cx="912812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3" name="Object 7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4229100" y="3679825"/>
              <a:ext cx="422275" cy="546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4" name="Line 61"/>
            <p:cNvSpPr>
              <a:spLocks noChangeShapeType="1"/>
            </p:cNvSpPr>
            <p:nvPr/>
          </p:nvSpPr>
          <p:spPr bwMode="auto">
            <a:xfrm flipV="1">
              <a:off x="4346575" y="3146425"/>
              <a:ext cx="381000" cy="304800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/>
            </a:ln>
            <a:effectLst/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5" name="Line 62"/>
            <p:cNvSpPr>
              <a:spLocks noChangeShapeType="1"/>
            </p:cNvSpPr>
            <p:nvPr/>
          </p:nvSpPr>
          <p:spPr bwMode="auto">
            <a:xfrm flipV="1">
              <a:off x="4346575" y="3298825"/>
              <a:ext cx="381000" cy="304800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/>
            </a:ln>
            <a:effectLst/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" name="Line 63"/>
            <p:cNvSpPr>
              <a:spLocks noChangeShapeType="1"/>
            </p:cNvSpPr>
            <p:nvPr/>
          </p:nvSpPr>
          <p:spPr bwMode="auto">
            <a:xfrm flipV="1">
              <a:off x="4422775" y="3451225"/>
              <a:ext cx="304800" cy="228600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/>
            </a:ln>
            <a:effectLst/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" name="Line 64"/>
            <p:cNvSpPr>
              <a:spLocks noChangeShapeType="1"/>
            </p:cNvSpPr>
            <p:nvPr/>
          </p:nvSpPr>
          <p:spPr bwMode="auto">
            <a:xfrm flipV="1">
              <a:off x="4498975" y="3575050"/>
              <a:ext cx="228600" cy="152400"/>
            </a:xfrm>
            <a:prstGeom prst="line">
              <a:avLst/>
            </a:prstGeom>
            <a:noFill/>
            <a:ln w="9525">
              <a:solidFill>
                <a:srgbClr val="101122"/>
              </a:solidFill>
              <a:round/>
              <a:headEnd/>
              <a:tailEnd/>
            </a:ln>
            <a:effectLst/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58960"/>
              </p:ext>
            </p:extLst>
          </p:nvPr>
        </p:nvGraphicFramePr>
        <p:xfrm>
          <a:off x="5480375" y="2060848"/>
          <a:ext cx="2900754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公式" r:id="rId17" imgW="1155600" imgH="228600" progId="Equation.3">
                  <p:embed/>
                </p:oleObj>
              </mc:Choice>
              <mc:Fallback>
                <p:oleObj name="公式" r:id="rId17" imgW="1155600" imgH="2286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375" y="2060848"/>
                        <a:ext cx="2900754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73"/>
          <p:cNvSpPr>
            <a:spLocks noChangeArrowheads="1"/>
          </p:cNvSpPr>
          <p:nvPr/>
        </p:nvSpPr>
        <p:spPr bwMode="auto">
          <a:xfrm>
            <a:off x="1600200" y="2476500"/>
            <a:ext cx="5943600" cy="6096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101122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1026"/>
          <p:cNvSpPr>
            <a:spLocks noGrp="1" noChangeArrowheads="1"/>
          </p:cNvSpPr>
          <p:nvPr/>
        </p:nvSpPr>
        <p:spPr bwMode="auto">
          <a:xfrm>
            <a:off x="762000" y="625475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 dirty="0" smtClean="0">
                <a:solidFill>
                  <a:srgbClr val="CC0000"/>
                </a:solidFill>
                <a:latin typeface="宋体" pitchFamily="2" charset="-122"/>
              </a:rPr>
              <a:t>例</a:t>
            </a:r>
            <a:endParaRPr lang="en-US" altLang="zh-CN" sz="2800" b="1" dirty="0">
              <a:solidFill>
                <a:srgbClr val="CC0000"/>
              </a:solidFill>
              <a:latin typeface="宋体" pitchFamily="2" charset="-122"/>
            </a:endParaRPr>
          </a:p>
        </p:txBody>
      </p:sp>
      <p:grpSp>
        <p:nvGrpSpPr>
          <p:cNvPr id="5" name="Group 1051"/>
          <p:cNvGrpSpPr>
            <a:grpSpLocks noChangeAspect="1"/>
          </p:cNvGrpSpPr>
          <p:nvPr/>
        </p:nvGrpSpPr>
        <p:grpSpPr bwMode="auto">
          <a:xfrm>
            <a:off x="381000" y="466725"/>
            <a:ext cx="8229600" cy="1987550"/>
            <a:chOff x="336" y="450"/>
            <a:chExt cx="5184" cy="1252"/>
          </a:xfrm>
        </p:grpSpPr>
        <p:sp>
          <p:nvSpPr>
            <p:cNvPr id="95" name="AutoShape 1050"/>
            <p:cNvSpPr>
              <a:spLocks noChangeAspect="1" noChangeArrowheads="1" noTextEdit="1"/>
            </p:cNvSpPr>
            <p:nvPr/>
          </p:nvSpPr>
          <p:spPr bwMode="auto">
            <a:xfrm>
              <a:off x="336" y="528"/>
              <a:ext cx="5184" cy="1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6" name="Rectangle 1052"/>
            <p:cNvSpPr>
              <a:spLocks noChangeArrowheads="1"/>
            </p:cNvSpPr>
            <p:nvPr/>
          </p:nvSpPr>
          <p:spPr bwMode="auto">
            <a:xfrm>
              <a:off x="3528" y="450"/>
              <a:ext cx="104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7" name="Rectangle 1053"/>
            <p:cNvSpPr>
              <a:spLocks noChangeArrowheads="1"/>
            </p:cNvSpPr>
            <p:nvPr/>
          </p:nvSpPr>
          <p:spPr bwMode="auto">
            <a:xfrm>
              <a:off x="4108" y="450"/>
              <a:ext cx="104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8" name="Rectangle 1054"/>
            <p:cNvSpPr>
              <a:spLocks noChangeArrowheads="1"/>
            </p:cNvSpPr>
            <p:nvPr/>
          </p:nvSpPr>
          <p:spPr bwMode="auto">
            <a:xfrm>
              <a:off x="1325" y="1015"/>
              <a:ext cx="104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" name="Rectangle 1055"/>
            <p:cNvSpPr>
              <a:spLocks noChangeArrowheads="1"/>
            </p:cNvSpPr>
            <p:nvPr/>
          </p:nvSpPr>
          <p:spPr bwMode="auto">
            <a:xfrm>
              <a:off x="1950" y="1015"/>
              <a:ext cx="104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0" name="Rectangle 1056"/>
            <p:cNvSpPr>
              <a:spLocks noChangeArrowheads="1"/>
            </p:cNvSpPr>
            <p:nvPr/>
          </p:nvSpPr>
          <p:spPr bwMode="auto">
            <a:xfrm>
              <a:off x="541" y="1414"/>
              <a:ext cx="1331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的密度函数．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1" name="Rectangle 1057"/>
            <p:cNvSpPr>
              <a:spLocks noChangeArrowheads="1"/>
            </p:cNvSpPr>
            <p:nvPr/>
          </p:nvSpPr>
          <p:spPr bwMode="auto">
            <a:xfrm>
              <a:off x="4453" y="1131"/>
              <a:ext cx="678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机变量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2" name="Rectangle 1058"/>
            <p:cNvSpPr>
              <a:spLocks noChangeArrowheads="1"/>
            </p:cNvSpPr>
            <p:nvPr/>
          </p:nvSpPr>
          <p:spPr bwMode="auto">
            <a:xfrm>
              <a:off x="2014" y="1131"/>
              <a:ext cx="2255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上的均匀分布．试求随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" name="Rectangle 1059"/>
            <p:cNvSpPr>
              <a:spLocks noChangeArrowheads="1"/>
            </p:cNvSpPr>
            <p:nvPr/>
          </p:nvSpPr>
          <p:spPr bwMode="auto">
            <a:xfrm>
              <a:off x="1540" y="1131"/>
              <a:ext cx="221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" name="Rectangle 1060"/>
            <p:cNvSpPr>
              <a:spLocks noChangeArrowheads="1"/>
            </p:cNvSpPr>
            <p:nvPr/>
          </p:nvSpPr>
          <p:spPr bwMode="auto">
            <a:xfrm>
              <a:off x="365" y="1131"/>
              <a:ext cx="90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服从区间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" name="Rectangle 1061"/>
            <p:cNvSpPr>
              <a:spLocks noChangeArrowheads="1"/>
            </p:cNvSpPr>
            <p:nvPr/>
          </p:nvSpPr>
          <p:spPr bwMode="auto">
            <a:xfrm>
              <a:off x="4519" y="848"/>
              <a:ext cx="899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的条件下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6" name="Rectangle 1062"/>
            <p:cNvSpPr>
              <a:spLocks noChangeArrowheads="1"/>
            </p:cNvSpPr>
            <p:nvPr/>
          </p:nvSpPr>
          <p:spPr bwMode="auto">
            <a:xfrm>
              <a:off x="3622" y="848"/>
              <a:ext cx="22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在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7" name="Rectangle 1063"/>
            <p:cNvSpPr>
              <a:spLocks noChangeArrowheads="1"/>
            </p:cNvSpPr>
            <p:nvPr/>
          </p:nvSpPr>
          <p:spPr bwMode="auto">
            <a:xfrm>
              <a:off x="1941" y="848"/>
              <a:ext cx="1351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时，随机变量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8" name="Rectangle 1064"/>
            <p:cNvSpPr>
              <a:spLocks noChangeArrowheads="1"/>
            </p:cNvSpPr>
            <p:nvPr/>
          </p:nvSpPr>
          <p:spPr bwMode="auto">
            <a:xfrm>
              <a:off x="365" y="848"/>
              <a:ext cx="67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布，当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Rectangle 1065"/>
            <p:cNvSpPr>
              <a:spLocks noChangeArrowheads="1"/>
            </p:cNvSpPr>
            <p:nvPr/>
          </p:nvSpPr>
          <p:spPr bwMode="auto">
            <a:xfrm>
              <a:off x="4171" y="565"/>
              <a:ext cx="1125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上的均匀分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Rectangle 1066"/>
            <p:cNvSpPr>
              <a:spLocks noChangeArrowheads="1"/>
            </p:cNvSpPr>
            <p:nvPr/>
          </p:nvSpPr>
          <p:spPr bwMode="auto">
            <a:xfrm>
              <a:off x="3698" y="565"/>
              <a:ext cx="221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1" name="Rectangle 1067"/>
            <p:cNvSpPr>
              <a:spLocks noChangeArrowheads="1"/>
            </p:cNvSpPr>
            <p:nvPr/>
          </p:nvSpPr>
          <p:spPr bwMode="auto">
            <a:xfrm>
              <a:off x="2568" y="565"/>
              <a:ext cx="90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服从区间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2" name="Rectangle 1068"/>
            <p:cNvSpPr>
              <a:spLocks noChangeArrowheads="1"/>
            </p:cNvSpPr>
            <p:nvPr/>
          </p:nvSpPr>
          <p:spPr bwMode="auto">
            <a:xfrm>
              <a:off x="1082" y="565"/>
              <a:ext cx="11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设随机变量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3" name="Rectangle 1069"/>
            <p:cNvSpPr>
              <a:spLocks noChangeArrowheads="1"/>
            </p:cNvSpPr>
            <p:nvPr/>
          </p:nvSpPr>
          <p:spPr bwMode="auto">
            <a:xfrm>
              <a:off x="354" y="1407"/>
              <a:ext cx="137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4" name="Rectangle 1070"/>
            <p:cNvSpPr>
              <a:spLocks noChangeArrowheads="1"/>
            </p:cNvSpPr>
            <p:nvPr/>
          </p:nvSpPr>
          <p:spPr bwMode="auto">
            <a:xfrm>
              <a:off x="1420" y="1124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5" name="Rectangle 1071"/>
            <p:cNvSpPr>
              <a:spLocks noChangeArrowheads="1"/>
            </p:cNvSpPr>
            <p:nvPr/>
          </p:nvSpPr>
          <p:spPr bwMode="auto">
            <a:xfrm>
              <a:off x="4384" y="841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6" name="Rectangle 1072"/>
            <p:cNvSpPr>
              <a:spLocks noChangeArrowheads="1"/>
            </p:cNvSpPr>
            <p:nvPr/>
          </p:nvSpPr>
          <p:spPr bwMode="auto">
            <a:xfrm>
              <a:off x="3911" y="841"/>
              <a:ext cx="149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7" name="Rectangle 1073"/>
            <p:cNvSpPr>
              <a:spLocks noChangeArrowheads="1"/>
            </p:cNvSpPr>
            <p:nvPr/>
          </p:nvSpPr>
          <p:spPr bwMode="auto">
            <a:xfrm>
              <a:off x="3416" y="841"/>
              <a:ext cx="137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8" name="Rectangle 1074"/>
            <p:cNvSpPr>
              <a:spLocks noChangeArrowheads="1"/>
            </p:cNvSpPr>
            <p:nvPr/>
          </p:nvSpPr>
          <p:spPr bwMode="auto">
            <a:xfrm>
              <a:off x="1476" y="841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9" name="Rectangle 1075"/>
            <p:cNvSpPr>
              <a:spLocks noChangeArrowheads="1"/>
            </p:cNvSpPr>
            <p:nvPr/>
          </p:nvSpPr>
          <p:spPr bwMode="auto">
            <a:xfrm>
              <a:off x="2350" y="558"/>
              <a:ext cx="149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0" name="Rectangle 1076"/>
            <p:cNvSpPr>
              <a:spLocks noChangeArrowheads="1"/>
            </p:cNvSpPr>
            <p:nvPr/>
          </p:nvSpPr>
          <p:spPr bwMode="auto">
            <a:xfrm>
              <a:off x="1833" y="1124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1" name="Rectangle 1077"/>
            <p:cNvSpPr>
              <a:spLocks noChangeArrowheads="1"/>
            </p:cNvSpPr>
            <p:nvPr/>
          </p:nvSpPr>
          <p:spPr bwMode="auto">
            <a:xfrm>
              <a:off x="1847" y="841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2" name="Rectangle 1078"/>
            <p:cNvSpPr>
              <a:spLocks noChangeArrowheads="1"/>
            </p:cNvSpPr>
            <p:nvPr/>
          </p:nvSpPr>
          <p:spPr bwMode="auto">
            <a:xfrm>
              <a:off x="1082" y="841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3" name="Rectangle 1079"/>
            <p:cNvSpPr>
              <a:spLocks noChangeArrowheads="1"/>
            </p:cNvSpPr>
            <p:nvPr/>
          </p:nvSpPr>
          <p:spPr bwMode="auto">
            <a:xfrm>
              <a:off x="3991" y="558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4" name="Rectangle 1080"/>
            <p:cNvSpPr>
              <a:spLocks noChangeArrowheads="1"/>
            </p:cNvSpPr>
            <p:nvPr/>
          </p:nvSpPr>
          <p:spPr bwMode="auto">
            <a:xfrm>
              <a:off x="3600" y="558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5" name="Rectangle 1081"/>
            <p:cNvSpPr>
              <a:spLocks noChangeArrowheads="1"/>
            </p:cNvSpPr>
            <p:nvPr/>
          </p:nvSpPr>
          <p:spPr bwMode="auto">
            <a:xfrm>
              <a:off x="4166" y="815"/>
              <a:ext cx="12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6" name="Rectangle 1082"/>
            <p:cNvSpPr>
              <a:spLocks noChangeArrowheads="1"/>
            </p:cNvSpPr>
            <p:nvPr/>
          </p:nvSpPr>
          <p:spPr bwMode="auto">
            <a:xfrm>
              <a:off x="1663" y="815"/>
              <a:ext cx="12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7" name="Rectangle 1083"/>
            <p:cNvSpPr>
              <a:spLocks noChangeArrowheads="1"/>
            </p:cNvSpPr>
            <p:nvPr/>
          </p:nvSpPr>
          <p:spPr bwMode="auto">
            <a:xfrm>
              <a:off x="1258" y="815"/>
              <a:ext cx="12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6" name="Group 1085"/>
          <p:cNvGrpSpPr>
            <a:grpSpLocks noChangeAspect="1"/>
          </p:cNvGrpSpPr>
          <p:nvPr/>
        </p:nvGrpSpPr>
        <p:grpSpPr bwMode="auto">
          <a:xfrm>
            <a:off x="533400" y="3082925"/>
            <a:ext cx="814388" cy="514350"/>
            <a:chOff x="288" y="1632"/>
            <a:chExt cx="513" cy="324"/>
          </a:xfrm>
        </p:grpSpPr>
        <p:sp>
          <p:nvSpPr>
            <p:cNvPr id="93" name="AutoShape 1084"/>
            <p:cNvSpPr>
              <a:spLocks noChangeAspect="1" noChangeArrowheads="1" noTextEdit="1"/>
            </p:cNvSpPr>
            <p:nvPr/>
          </p:nvSpPr>
          <p:spPr bwMode="auto">
            <a:xfrm>
              <a:off x="288" y="1632"/>
              <a:ext cx="384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4" name="Rectangle 1086"/>
            <p:cNvSpPr>
              <a:spLocks noChangeArrowheads="1"/>
            </p:cNvSpPr>
            <p:nvPr/>
          </p:nvSpPr>
          <p:spPr bwMode="auto">
            <a:xfrm>
              <a:off x="317" y="1666"/>
              <a:ext cx="4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解：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Group 1088"/>
          <p:cNvGrpSpPr>
            <a:grpSpLocks noChangeAspect="1"/>
          </p:cNvGrpSpPr>
          <p:nvPr/>
        </p:nvGrpSpPr>
        <p:grpSpPr bwMode="auto">
          <a:xfrm>
            <a:off x="-228600" y="3140075"/>
            <a:ext cx="4302125" cy="515938"/>
            <a:chOff x="768" y="1632"/>
            <a:chExt cx="2710" cy="325"/>
          </a:xfrm>
        </p:grpSpPr>
        <p:sp>
          <p:nvSpPr>
            <p:cNvPr id="89" name="AutoShape 1087"/>
            <p:cNvSpPr>
              <a:spLocks noChangeAspect="1" noChangeArrowheads="1" noTextEdit="1"/>
            </p:cNvSpPr>
            <p:nvPr/>
          </p:nvSpPr>
          <p:spPr bwMode="auto">
            <a:xfrm>
              <a:off x="768" y="1632"/>
              <a:ext cx="2710" cy="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0" name="Rectangle 1089"/>
            <p:cNvSpPr>
              <a:spLocks noChangeArrowheads="1"/>
            </p:cNvSpPr>
            <p:nvPr/>
          </p:nvSpPr>
          <p:spPr bwMode="auto">
            <a:xfrm>
              <a:off x="2003" y="1664"/>
              <a:ext cx="1374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的密度函数为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1" name="Rectangle 1090"/>
            <p:cNvSpPr>
              <a:spLocks noChangeArrowheads="1"/>
            </p:cNvSpPr>
            <p:nvPr/>
          </p:nvSpPr>
          <p:spPr bwMode="auto">
            <a:xfrm>
              <a:off x="785" y="1664"/>
              <a:ext cx="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2" name="Rectangle 1091"/>
            <p:cNvSpPr>
              <a:spLocks noChangeArrowheads="1"/>
            </p:cNvSpPr>
            <p:nvPr/>
          </p:nvSpPr>
          <p:spPr bwMode="auto">
            <a:xfrm>
              <a:off x="1805" y="1657"/>
              <a:ext cx="155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8" name="Group 1093"/>
          <p:cNvGrpSpPr>
            <a:grpSpLocks noChangeAspect="1"/>
          </p:cNvGrpSpPr>
          <p:nvPr/>
        </p:nvGrpSpPr>
        <p:grpSpPr bwMode="auto">
          <a:xfrm>
            <a:off x="4038600" y="3179763"/>
            <a:ext cx="3662363" cy="1103312"/>
            <a:chOff x="1344" y="1920"/>
            <a:chExt cx="2307" cy="695"/>
          </a:xfrm>
        </p:grpSpPr>
        <p:sp>
          <p:nvSpPr>
            <p:cNvPr id="67" name="AutoShape 1092"/>
            <p:cNvSpPr>
              <a:spLocks noChangeAspect="1" noChangeArrowheads="1" noTextEdit="1"/>
            </p:cNvSpPr>
            <p:nvPr/>
          </p:nvSpPr>
          <p:spPr bwMode="auto">
            <a:xfrm>
              <a:off x="1344" y="1920"/>
              <a:ext cx="2307" cy="6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8" name="Rectangle 1094"/>
            <p:cNvSpPr>
              <a:spLocks noChangeArrowheads="1"/>
            </p:cNvSpPr>
            <p:nvPr/>
          </p:nvSpPr>
          <p:spPr bwMode="auto">
            <a:xfrm>
              <a:off x="1680" y="2008"/>
              <a:ext cx="104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9" name="Rectangle 1095"/>
            <p:cNvSpPr>
              <a:spLocks noChangeArrowheads="1"/>
            </p:cNvSpPr>
            <p:nvPr/>
          </p:nvSpPr>
          <p:spPr bwMode="auto">
            <a:xfrm>
              <a:off x="1904" y="2008"/>
              <a:ext cx="104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0" name="Rectangle 1096"/>
            <p:cNvSpPr>
              <a:spLocks noChangeArrowheads="1"/>
            </p:cNvSpPr>
            <p:nvPr/>
          </p:nvSpPr>
          <p:spPr bwMode="auto">
            <a:xfrm>
              <a:off x="2190" y="2325"/>
              <a:ext cx="115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î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1" name="Rectangle 1097"/>
            <p:cNvSpPr>
              <a:spLocks noChangeArrowheads="1"/>
            </p:cNvSpPr>
            <p:nvPr/>
          </p:nvSpPr>
          <p:spPr bwMode="auto">
            <a:xfrm>
              <a:off x="2190" y="2132"/>
              <a:ext cx="115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í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2" name="Rectangle 1098"/>
            <p:cNvSpPr>
              <a:spLocks noChangeArrowheads="1"/>
            </p:cNvSpPr>
            <p:nvPr/>
          </p:nvSpPr>
          <p:spPr bwMode="auto">
            <a:xfrm>
              <a:off x="2190" y="1939"/>
              <a:ext cx="115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ì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3" name="Rectangle 1099"/>
            <p:cNvSpPr>
              <a:spLocks noChangeArrowheads="1"/>
            </p:cNvSpPr>
            <p:nvPr/>
          </p:nvSpPr>
          <p:spPr bwMode="auto">
            <a:xfrm>
              <a:off x="3259" y="1926"/>
              <a:ext cx="12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4" name="Rectangle 1100"/>
            <p:cNvSpPr>
              <a:spLocks noChangeArrowheads="1"/>
            </p:cNvSpPr>
            <p:nvPr/>
          </p:nvSpPr>
          <p:spPr bwMode="auto">
            <a:xfrm>
              <a:off x="2866" y="1926"/>
              <a:ext cx="12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5" name="Rectangle 1101"/>
            <p:cNvSpPr>
              <a:spLocks noChangeArrowheads="1"/>
            </p:cNvSpPr>
            <p:nvPr/>
          </p:nvSpPr>
          <p:spPr bwMode="auto">
            <a:xfrm>
              <a:off x="1998" y="2092"/>
              <a:ext cx="12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6" name="Rectangle 1102"/>
            <p:cNvSpPr>
              <a:spLocks noChangeArrowheads="1"/>
            </p:cNvSpPr>
            <p:nvPr/>
          </p:nvSpPr>
          <p:spPr bwMode="auto">
            <a:xfrm>
              <a:off x="3355" y="2300"/>
              <a:ext cx="5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.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7" name="Rectangle 1103"/>
            <p:cNvSpPr>
              <a:spLocks noChangeArrowheads="1"/>
            </p:cNvSpPr>
            <p:nvPr/>
          </p:nvSpPr>
          <p:spPr bwMode="auto">
            <a:xfrm>
              <a:off x="2423" y="2300"/>
              <a:ext cx="5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8" name="Rectangle 1104"/>
            <p:cNvSpPr>
              <a:spLocks noChangeArrowheads="1"/>
            </p:cNvSpPr>
            <p:nvPr/>
          </p:nvSpPr>
          <p:spPr bwMode="auto">
            <a:xfrm>
              <a:off x="2307" y="2300"/>
              <a:ext cx="116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9" name="Rectangle 1105"/>
            <p:cNvSpPr>
              <a:spLocks noChangeArrowheads="1"/>
            </p:cNvSpPr>
            <p:nvPr/>
          </p:nvSpPr>
          <p:spPr bwMode="auto">
            <a:xfrm>
              <a:off x="3546" y="1953"/>
              <a:ext cx="5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0" name="Rectangle 1106"/>
            <p:cNvSpPr>
              <a:spLocks noChangeArrowheads="1"/>
            </p:cNvSpPr>
            <p:nvPr/>
          </p:nvSpPr>
          <p:spPr bwMode="auto">
            <a:xfrm>
              <a:off x="3437" y="1953"/>
              <a:ext cx="116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1" name="Rectangle 1107"/>
            <p:cNvSpPr>
              <a:spLocks noChangeArrowheads="1"/>
            </p:cNvSpPr>
            <p:nvPr/>
          </p:nvSpPr>
          <p:spPr bwMode="auto">
            <a:xfrm>
              <a:off x="2696" y="1953"/>
              <a:ext cx="116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2" name="Rectangle 1108"/>
            <p:cNvSpPr>
              <a:spLocks noChangeArrowheads="1"/>
            </p:cNvSpPr>
            <p:nvPr/>
          </p:nvSpPr>
          <p:spPr bwMode="auto">
            <a:xfrm>
              <a:off x="2414" y="1953"/>
              <a:ext cx="5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3" name="Rectangle 1109"/>
            <p:cNvSpPr>
              <a:spLocks noChangeArrowheads="1"/>
            </p:cNvSpPr>
            <p:nvPr/>
          </p:nvSpPr>
          <p:spPr bwMode="auto">
            <a:xfrm>
              <a:off x="2305" y="1953"/>
              <a:ext cx="116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4" name="Rectangle 1110"/>
            <p:cNvSpPr>
              <a:spLocks noChangeArrowheads="1"/>
            </p:cNvSpPr>
            <p:nvPr/>
          </p:nvSpPr>
          <p:spPr bwMode="auto">
            <a:xfrm>
              <a:off x="2886" y="2307"/>
              <a:ext cx="46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其它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5" name="Rectangle 1111"/>
            <p:cNvSpPr>
              <a:spLocks noChangeArrowheads="1"/>
            </p:cNvSpPr>
            <p:nvPr/>
          </p:nvSpPr>
          <p:spPr bwMode="auto">
            <a:xfrm>
              <a:off x="3077" y="1953"/>
              <a:ext cx="116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6" name="Rectangle 1112"/>
            <p:cNvSpPr>
              <a:spLocks noChangeArrowheads="1"/>
            </p:cNvSpPr>
            <p:nvPr/>
          </p:nvSpPr>
          <p:spPr bwMode="auto">
            <a:xfrm>
              <a:off x="1772" y="2119"/>
              <a:ext cx="116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7" name="Rectangle 1113"/>
            <p:cNvSpPr>
              <a:spLocks noChangeArrowheads="1"/>
            </p:cNvSpPr>
            <p:nvPr/>
          </p:nvSpPr>
          <p:spPr bwMode="auto">
            <a:xfrm>
              <a:off x="1426" y="2119"/>
              <a:ext cx="77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8" name="Rectangle 1114"/>
            <p:cNvSpPr>
              <a:spLocks noChangeArrowheads="1"/>
            </p:cNvSpPr>
            <p:nvPr/>
          </p:nvSpPr>
          <p:spPr bwMode="auto">
            <a:xfrm>
              <a:off x="1537" y="2262"/>
              <a:ext cx="91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Group 1116"/>
          <p:cNvGrpSpPr>
            <a:grpSpLocks noChangeAspect="1"/>
          </p:cNvGrpSpPr>
          <p:nvPr/>
        </p:nvGrpSpPr>
        <p:grpSpPr bwMode="auto">
          <a:xfrm>
            <a:off x="381000" y="4283075"/>
            <a:ext cx="7848600" cy="954088"/>
            <a:chOff x="288" y="2592"/>
            <a:chExt cx="5040" cy="613"/>
          </a:xfrm>
        </p:grpSpPr>
        <p:sp>
          <p:nvSpPr>
            <p:cNvPr id="53" name="AutoShape 1115"/>
            <p:cNvSpPr>
              <a:spLocks noChangeAspect="1" noChangeArrowheads="1" noTextEdit="1"/>
            </p:cNvSpPr>
            <p:nvPr/>
          </p:nvSpPr>
          <p:spPr bwMode="auto">
            <a:xfrm>
              <a:off x="288" y="2592"/>
              <a:ext cx="5040" cy="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4" name="Rectangle 1117"/>
            <p:cNvSpPr>
              <a:spLocks noChangeArrowheads="1"/>
            </p:cNvSpPr>
            <p:nvPr/>
          </p:nvSpPr>
          <p:spPr bwMode="auto">
            <a:xfrm>
              <a:off x="1005" y="2912"/>
              <a:ext cx="1883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下的条件密函数为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5" name="Rectangle 1118"/>
            <p:cNvSpPr>
              <a:spLocks noChangeArrowheads="1"/>
            </p:cNvSpPr>
            <p:nvPr/>
          </p:nvSpPr>
          <p:spPr bwMode="auto">
            <a:xfrm>
              <a:off x="4565" y="2629"/>
              <a:ext cx="716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在条件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" name="Rectangle 1119"/>
            <p:cNvSpPr>
              <a:spLocks noChangeArrowheads="1"/>
            </p:cNvSpPr>
            <p:nvPr/>
          </p:nvSpPr>
          <p:spPr bwMode="auto">
            <a:xfrm>
              <a:off x="2899" y="2629"/>
              <a:ext cx="1426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时，随机变量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7" name="Rectangle 1120"/>
            <p:cNvSpPr>
              <a:spLocks noChangeArrowheads="1"/>
            </p:cNvSpPr>
            <p:nvPr/>
          </p:nvSpPr>
          <p:spPr bwMode="auto">
            <a:xfrm>
              <a:off x="317" y="2629"/>
              <a:ext cx="1664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又由题设知，当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8" name="Rectangle 1121"/>
            <p:cNvSpPr>
              <a:spLocks noChangeArrowheads="1"/>
            </p:cNvSpPr>
            <p:nvPr/>
          </p:nvSpPr>
          <p:spPr bwMode="auto">
            <a:xfrm>
              <a:off x="856" y="2905"/>
              <a:ext cx="118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" name="Rectangle 1122"/>
            <p:cNvSpPr>
              <a:spLocks noChangeArrowheads="1"/>
            </p:cNvSpPr>
            <p:nvPr/>
          </p:nvSpPr>
          <p:spPr bwMode="auto">
            <a:xfrm>
              <a:off x="387" y="2905"/>
              <a:ext cx="158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0" name="Rectangle 1123"/>
            <p:cNvSpPr>
              <a:spLocks noChangeArrowheads="1"/>
            </p:cNvSpPr>
            <p:nvPr/>
          </p:nvSpPr>
          <p:spPr bwMode="auto">
            <a:xfrm>
              <a:off x="4361" y="2622"/>
              <a:ext cx="145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1" name="Rectangle 1124"/>
            <p:cNvSpPr>
              <a:spLocks noChangeArrowheads="1"/>
            </p:cNvSpPr>
            <p:nvPr/>
          </p:nvSpPr>
          <p:spPr bwMode="auto">
            <a:xfrm>
              <a:off x="2411" y="2622"/>
              <a:ext cx="118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2" name="Rectangle 1125"/>
            <p:cNvSpPr>
              <a:spLocks noChangeArrowheads="1"/>
            </p:cNvSpPr>
            <p:nvPr/>
          </p:nvSpPr>
          <p:spPr bwMode="auto">
            <a:xfrm>
              <a:off x="640" y="2879"/>
              <a:ext cx="130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3" name="Rectangle 1126"/>
            <p:cNvSpPr>
              <a:spLocks noChangeArrowheads="1"/>
            </p:cNvSpPr>
            <p:nvPr/>
          </p:nvSpPr>
          <p:spPr bwMode="auto">
            <a:xfrm>
              <a:off x="2597" y="2596"/>
              <a:ext cx="131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4" name="Rectangle 1127"/>
            <p:cNvSpPr>
              <a:spLocks noChangeArrowheads="1"/>
            </p:cNvSpPr>
            <p:nvPr/>
          </p:nvSpPr>
          <p:spPr bwMode="auto">
            <a:xfrm>
              <a:off x="2195" y="2596"/>
              <a:ext cx="131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5" name="Rectangle 1128"/>
            <p:cNvSpPr>
              <a:spLocks noChangeArrowheads="1"/>
            </p:cNvSpPr>
            <p:nvPr/>
          </p:nvSpPr>
          <p:spPr bwMode="auto">
            <a:xfrm>
              <a:off x="2779" y="2622"/>
              <a:ext cx="118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6" name="Rectangle 1129"/>
            <p:cNvSpPr>
              <a:spLocks noChangeArrowheads="1"/>
            </p:cNvSpPr>
            <p:nvPr/>
          </p:nvSpPr>
          <p:spPr bwMode="auto">
            <a:xfrm>
              <a:off x="2021" y="2622"/>
              <a:ext cx="118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0" name="Group 1131"/>
          <p:cNvGrpSpPr>
            <a:grpSpLocks noChangeAspect="1"/>
          </p:cNvGrpSpPr>
          <p:nvPr/>
        </p:nvGrpSpPr>
        <p:grpSpPr bwMode="auto">
          <a:xfrm>
            <a:off x="4071938" y="4816475"/>
            <a:ext cx="4538662" cy="1381125"/>
            <a:chOff x="1029" y="3120"/>
            <a:chExt cx="3003" cy="914"/>
          </a:xfrm>
        </p:grpSpPr>
        <p:sp>
          <p:nvSpPr>
            <p:cNvPr id="21" name="AutoShape 1130"/>
            <p:cNvSpPr>
              <a:spLocks noChangeAspect="1" noChangeArrowheads="1" noTextEdit="1"/>
            </p:cNvSpPr>
            <p:nvPr/>
          </p:nvSpPr>
          <p:spPr bwMode="auto">
            <a:xfrm>
              <a:off x="1029" y="3120"/>
              <a:ext cx="3003" cy="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2" name="Line 1132"/>
            <p:cNvSpPr>
              <a:spLocks noChangeShapeType="1"/>
            </p:cNvSpPr>
            <p:nvPr/>
          </p:nvSpPr>
          <p:spPr bwMode="auto">
            <a:xfrm>
              <a:off x="1313" y="3587"/>
              <a:ext cx="1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" name="Line 1133"/>
            <p:cNvSpPr>
              <a:spLocks noChangeShapeType="1"/>
            </p:cNvSpPr>
            <p:nvPr/>
          </p:nvSpPr>
          <p:spPr bwMode="auto">
            <a:xfrm>
              <a:off x="1708" y="3437"/>
              <a:ext cx="1" cy="28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4" name="Rectangle 1134"/>
            <p:cNvSpPr>
              <a:spLocks noChangeArrowheads="1"/>
            </p:cNvSpPr>
            <p:nvPr/>
          </p:nvSpPr>
          <p:spPr bwMode="auto">
            <a:xfrm>
              <a:off x="1492" y="3280"/>
              <a:ext cx="124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5" name="Rectangle 1135"/>
            <p:cNvSpPr>
              <a:spLocks noChangeArrowheads="1"/>
            </p:cNvSpPr>
            <p:nvPr/>
          </p:nvSpPr>
          <p:spPr bwMode="auto">
            <a:xfrm>
              <a:off x="1882" y="3280"/>
              <a:ext cx="124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6" name="Line 1136"/>
            <p:cNvSpPr>
              <a:spLocks noChangeShapeType="1"/>
            </p:cNvSpPr>
            <p:nvPr/>
          </p:nvSpPr>
          <p:spPr bwMode="auto">
            <a:xfrm>
              <a:off x="2304" y="3454"/>
              <a:ext cx="476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Rectangle 1137"/>
            <p:cNvSpPr>
              <a:spLocks noChangeArrowheads="1"/>
            </p:cNvSpPr>
            <p:nvPr/>
          </p:nvSpPr>
          <p:spPr bwMode="auto">
            <a:xfrm>
              <a:off x="2182" y="3662"/>
              <a:ext cx="12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ï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Rectangle 1138"/>
            <p:cNvSpPr>
              <a:spLocks noChangeArrowheads="1"/>
            </p:cNvSpPr>
            <p:nvPr/>
          </p:nvSpPr>
          <p:spPr bwMode="auto">
            <a:xfrm>
              <a:off x="2182" y="3736"/>
              <a:ext cx="12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î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" name="Rectangle 1139"/>
            <p:cNvSpPr>
              <a:spLocks noChangeArrowheads="1"/>
            </p:cNvSpPr>
            <p:nvPr/>
          </p:nvSpPr>
          <p:spPr bwMode="auto">
            <a:xfrm>
              <a:off x="2182" y="3273"/>
              <a:ext cx="12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ï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0" name="Rectangle 1140"/>
            <p:cNvSpPr>
              <a:spLocks noChangeArrowheads="1"/>
            </p:cNvSpPr>
            <p:nvPr/>
          </p:nvSpPr>
          <p:spPr bwMode="auto">
            <a:xfrm>
              <a:off x="2182" y="3443"/>
              <a:ext cx="12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í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1" name="Rectangle 1141"/>
            <p:cNvSpPr>
              <a:spLocks noChangeArrowheads="1"/>
            </p:cNvSpPr>
            <p:nvPr/>
          </p:nvSpPr>
          <p:spPr bwMode="auto">
            <a:xfrm>
              <a:off x="2182" y="3152"/>
              <a:ext cx="12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ì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2" name="Rectangle 1142"/>
            <p:cNvSpPr>
              <a:spLocks noChangeArrowheads="1"/>
            </p:cNvSpPr>
            <p:nvPr/>
          </p:nvSpPr>
          <p:spPr bwMode="auto">
            <a:xfrm>
              <a:off x="3664" y="3282"/>
              <a:ext cx="135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3" name="Rectangle 1143"/>
            <p:cNvSpPr>
              <a:spLocks noChangeArrowheads="1"/>
            </p:cNvSpPr>
            <p:nvPr/>
          </p:nvSpPr>
          <p:spPr bwMode="auto">
            <a:xfrm>
              <a:off x="3282" y="3282"/>
              <a:ext cx="13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4" name="Rectangle 1144"/>
            <p:cNvSpPr>
              <a:spLocks noChangeArrowheads="1"/>
            </p:cNvSpPr>
            <p:nvPr/>
          </p:nvSpPr>
          <p:spPr bwMode="auto">
            <a:xfrm>
              <a:off x="2454" y="3460"/>
              <a:ext cx="135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5" name="Rectangle 1145"/>
            <p:cNvSpPr>
              <a:spLocks noChangeArrowheads="1"/>
            </p:cNvSpPr>
            <p:nvPr/>
          </p:nvSpPr>
          <p:spPr bwMode="auto">
            <a:xfrm>
              <a:off x="1994" y="3404"/>
              <a:ext cx="135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" name="Rectangle 1146"/>
            <p:cNvSpPr>
              <a:spLocks noChangeArrowheads="1"/>
            </p:cNvSpPr>
            <p:nvPr/>
          </p:nvSpPr>
          <p:spPr bwMode="auto">
            <a:xfrm>
              <a:off x="3744" y="3711"/>
              <a:ext cx="61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.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" name="Rectangle 1147"/>
            <p:cNvSpPr>
              <a:spLocks noChangeArrowheads="1"/>
            </p:cNvSpPr>
            <p:nvPr/>
          </p:nvSpPr>
          <p:spPr bwMode="auto">
            <a:xfrm>
              <a:off x="2613" y="3711"/>
              <a:ext cx="61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8" name="Rectangle 1148"/>
            <p:cNvSpPr>
              <a:spLocks noChangeArrowheads="1"/>
            </p:cNvSpPr>
            <p:nvPr/>
          </p:nvSpPr>
          <p:spPr bwMode="auto">
            <a:xfrm>
              <a:off x="2500" y="3711"/>
              <a:ext cx="121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" name="Rectangle 1149"/>
            <p:cNvSpPr>
              <a:spLocks noChangeArrowheads="1"/>
            </p:cNvSpPr>
            <p:nvPr/>
          </p:nvSpPr>
          <p:spPr bwMode="auto">
            <a:xfrm>
              <a:off x="3945" y="3308"/>
              <a:ext cx="6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0" name="Rectangle 1150"/>
            <p:cNvSpPr>
              <a:spLocks noChangeArrowheads="1"/>
            </p:cNvSpPr>
            <p:nvPr/>
          </p:nvSpPr>
          <p:spPr bwMode="auto">
            <a:xfrm>
              <a:off x="3838" y="3308"/>
              <a:ext cx="12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1" name="Rectangle 1151"/>
            <p:cNvSpPr>
              <a:spLocks noChangeArrowheads="1"/>
            </p:cNvSpPr>
            <p:nvPr/>
          </p:nvSpPr>
          <p:spPr bwMode="auto">
            <a:xfrm>
              <a:off x="2816" y="3308"/>
              <a:ext cx="6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2" name="Rectangle 1152"/>
            <p:cNvSpPr>
              <a:spLocks noChangeArrowheads="1"/>
            </p:cNvSpPr>
            <p:nvPr/>
          </p:nvSpPr>
          <p:spPr bwMode="auto">
            <a:xfrm>
              <a:off x="2305" y="3486"/>
              <a:ext cx="12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3" name="Rectangle 1153"/>
            <p:cNvSpPr>
              <a:spLocks noChangeArrowheads="1"/>
            </p:cNvSpPr>
            <p:nvPr/>
          </p:nvSpPr>
          <p:spPr bwMode="auto">
            <a:xfrm>
              <a:off x="2485" y="3164"/>
              <a:ext cx="12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4" name="Rectangle 1154"/>
            <p:cNvSpPr>
              <a:spLocks noChangeArrowheads="1"/>
            </p:cNvSpPr>
            <p:nvPr/>
          </p:nvSpPr>
          <p:spPr bwMode="auto">
            <a:xfrm>
              <a:off x="3284" y="3719"/>
              <a:ext cx="49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其它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5" name="Rectangle 1155"/>
            <p:cNvSpPr>
              <a:spLocks noChangeArrowheads="1"/>
            </p:cNvSpPr>
            <p:nvPr/>
          </p:nvSpPr>
          <p:spPr bwMode="auto">
            <a:xfrm>
              <a:off x="3501" y="3308"/>
              <a:ext cx="108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6" name="Rectangle 1156"/>
            <p:cNvSpPr>
              <a:spLocks noChangeArrowheads="1"/>
            </p:cNvSpPr>
            <p:nvPr/>
          </p:nvSpPr>
          <p:spPr bwMode="auto">
            <a:xfrm>
              <a:off x="3103" y="3308"/>
              <a:ext cx="12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7" name="Rectangle 1157"/>
            <p:cNvSpPr>
              <a:spLocks noChangeArrowheads="1"/>
            </p:cNvSpPr>
            <p:nvPr/>
          </p:nvSpPr>
          <p:spPr bwMode="auto">
            <a:xfrm>
              <a:off x="2647" y="3486"/>
              <a:ext cx="12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8" name="Rectangle 1158"/>
            <p:cNvSpPr>
              <a:spLocks noChangeArrowheads="1"/>
            </p:cNvSpPr>
            <p:nvPr/>
          </p:nvSpPr>
          <p:spPr bwMode="auto">
            <a:xfrm>
              <a:off x="1750" y="3430"/>
              <a:ext cx="12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9" name="Rectangle 1159"/>
            <p:cNvSpPr>
              <a:spLocks noChangeArrowheads="1"/>
            </p:cNvSpPr>
            <p:nvPr/>
          </p:nvSpPr>
          <p:spPr bwMode="auto">
            <a:xfrm>
              <a:off x="1586" y="3430"/>
              <a:ext cx="108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1160"/>
            <p:cNvSpPr>
              <a:spLocks noChangeArrowheads="1"/>
            </p:cNvSpPr>
            <p:nvPr/>
          </p:nvSpPr>
          <p:spPr bwMode="auto">
            <a:xfrm>
              <a:off x="1110" y="3430"/>
              <a:ext cx="8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1161"/>
            <p:cNvSpPr>
              <a:spLocks noChangeArrowheads="1"/>
            </p:cNvSpPr>
            <p:nvPr/>
          </p:nvSpPr>
          <p:spPr bwMode="auto">
            <a:xfrm>
              <a:off x="1351" y="3582"/>
              <a:ext cx="96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2" name="Rectangle 1162"/>
            <p:cNvSpPr>
              <a:spLocks noChangeArrowheads="1"/>
            </p:cNvSpPr>
            <p:nvPr/>
          </p:nvSpPr>
          <p:spPr bwMode="auto">
            <a:xfrm>
              <a:off x="1197" y="3582"/>
              <a:ext cx="87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11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528888"/>
            <a:ext cx="281940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64"/>
          <p:cNvSpPr>
            <a:spLocks noChangeArrowheads="1"/>
          </p:cNvSpPr>
          <p:nvPr/>
        </p:nvSpPr>
        <p:spPr bwMode="auto">
          <a:xfrm>
            <a:off x="381000" y="2544763"/>
            <a:ext cx="13493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CC0000"/>
                </a:solidFill>
                <a:latin typeface="Times New Roman" pitchFamily="18" charset="0"/>
              </a:rPr>
              <a:t>分析： </a:t>
            </a:r>
          </a:p>
        </p:txBody>
      </p:sp>
      <p:pic>
        <p:nvPicPr>
          <p:cNvPr id="13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750" y="2589213"/>
            <a:ext cx="19716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Group 1166"/>
          <p:cNvGrpSpPr>
            <a:grpSpLocks noChangeAspect="1"/>
          </p:cNvGrpSpPr>
          <p:nvPr/>
        </p:nvGrpSpPr>
        <p:grpSpPr bwMode="auto">
          <a:xfrm>
            <a:off x="1652590" y="2454277"/>
            <a:ext cx="965201" cy="657226"/>
            <a:chOff x="1459" y="1032"/>
            <a:chExt cx="608" cy="414"/>
          </a:xfrm>
        </p:grpSpPr>
        <p:sp>
          <p:nvSpPr>
            <p:cNvPr id="15" name="AutoShape 1167"/>
            <p:cNvSpPr>
              <a:spLocks noChangeAspect="1" noChangeArrowheads="1" noTextEdit="1"/>
            </p:cNvSpPr>
            <p:nvPr/>
          </p:nvSpPr>
          <p:spPr bwMode="auto">
            <a:xfrm>
              <a:off x="1459" y="1117"/>
              <a:ext cx="605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" name="Rectangle 1168"/>
            <p:cNvSpPr>
              <a:spLocks noChangeArrowheads="1"/>
            </p:cNvSpPr>
            <p:nvPr/>
          </p:nvSpPr>
          <p:spPr bwMode="auto">
            <a:xfrm>
              <a:off x="1746" y="1032"/>
              <a:ext cx="10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Rectangle 1169"/>
            <p:cNvSpPr>
              <a:spLocks noChangeArrowheads="1"/>
            </p:cNvSpPr>
            <p:nvPr/>
          </p:nvSpPr>
          <p:spPr bwMode="auto">
            <a:xfrm>
              <a:off x="1965" y="1032"/>
              <a:ext cx="10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" name="Rectangle 1170"/>
            <p:cNvSpPr>
              <a:spLocks noChangeArrowheads="1"/>
            </p:cNvSpPr>
            <p:nvPr/>
          </p:nvSpPr>
          <p:spPr bwMode="auto">
            <a:xfrm>
              <a:off x="1848" y="1142"/>
              <a:ext cx="103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9" name="Rectangle 1171"/>
            <p:cNvSpPr>
              <a:spLocks noChangeArrowheads="1"/>
            </p:cNvSpPr>
            <p:nvPr/>
          </p:nvSpPr>
          <p:spPr bwMode="auto">
            <a:xfrm>
              <a:off x="1539" y="1142"/>
              <a:ext cx="77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172"/>
            <p:cNvSpPr>
              <a:spLocks noChangeArrowheads="1"/>
            </p:cNvSpPr>
            <p:nvPr/>
          </p:nvSpPr>
          <p:spPr bwMode="auto">
            <a:xfrm>
              <a:off x="1619" y="1283"/>
              <a:ext cx="83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7235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436" y="929265"/>
            <a:ext cx="42386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071"/>
          <p:cNvGrpSpPr>
            <a:grpSpLocks noChangeAspect="1"/>
          </p:cNvGrpSpPr>
          <p:nvPr/>
        </p:nvGrpSpPr>
        <p:grpSpPr bwMode="auto">
          <a:xfrm>
            <a:off x="679261" y="3918527"/>
            <a:ext cx="5029200" cy="488950"/>
            <a:chOff x="192" y="2979"/>
            <a:chExt cx="3168" cy="308"/>
          </a:xfrm>
        </p:grpSpPr>
        <p:sp>
          <p:nvSpPr>
            <p:cNvPr id="113" name="AutoShape 1070"/>
            <p:cNvSpPr>
              <a:spLocks noChangeAspect="1" noChangeArrowheads="1" noTextEdit="1"/>
            </p:cNvSpPr>
            <p:nvPr/>
          </p:nvSpPr>
          <p:spPr bwMode="auto">
            <a:xfrm>
              <a:off x="192" y="2979"/>
              <a:ext cx="3168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4" name="Rectangle 1072"/>
            <p:cNvSpPr>
              <a:spLocks noChangeArrowheads="1"/>
            </p:cNvSpPr>
            <p:nvPr/>
          </p:nvSpPr>
          <p:spPr bwMode="auto">
            <a:xfrm>
              <a:off x="1983" y="3009"/>
              <a:ext cx="1278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的密度函数为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5" name="Rectangle 1073"/>
            <p:cNvSpPr>
              <a:spLocks noChangeArrowheads="1"/>
            </p:cNvSpPr>
            <p:nvPr/>
          </p:nvSpPr>
          <p:spPr bwMode="auto">
            <a:xfrm>
              <a:off x="219" y="3009"/>
              <a:ext cx="152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7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所以，随机变量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6" name="Rectangle 1074"/>
            <p:cNvSpPr>
              <a:spLocks noChangeArrowheads="1"/>
            </p:cNvSpPr>
            <p:nvPr/>
          </p:nvSpPr>
          <p:spPr bwMode="auto">
            <a:xfrm>
              <a:off x="1810" y="3002"/>
              <a:ext cx="13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7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4" name="Group 1076"/>
          <p:cNvGrpSpPr>
            <a:grpSpLocks noChangeAspect="1"/>
          </p:cNvGrpSpPr>
          <p:nvPr/>
        </p:nvGrpSpPr>
        <p:grpSpPr bwMode="auto">
          <a:xfrm>
            <a:off x="831661" y="4451927"/>
            <a:ext cx="4778375" cy="1174750"/>
            <a:chOff x="262" y="3261"/>
            <a:chExt cx="3010" cy="740"/>
          </a:xfrm>
        </p:grpSpPr>
        <p:sp>
          <p:nvSpPr>
            <p:cNvPr id="85" name="AutoShape 1075"/>
            <p:cNvSpPr>
              <a:spLocks noChangeAspect="1" noChangeArrowheads="1" noTextEdit="1"/>
            </p:cNvSpPr>
            <p:nvPr/>
          </p:nvSpPr>
          <p:spPr bwMode="auto">
            <a:xfrm>
              <a:off x="262" y="3335"/>
              <a:ext cx="3010" cy="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6" name="Rectangle 1077"/>
            <p:cNvSpPr>
              <a:spLocks noChangeArrowheads="1"/>
            </p:cNvSpPr>
            <p:nvPr/>
          </p:nvSpPr>
          <p:spPr bwMode="auto">
            <a:xfrm>
              <a:off x="556" y="3420"/>
              <a:ext cx="10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7" name="Rectangle 1078"/>
            <p:cNvSpPr>
              <a:spLocks noChangeArrowheads="1"/>
            </p:cNvSpPr>
            <p:nvPr/>
          </p:nvSpPr>
          <p:spPr bwMode="auto">
            <a:xfrm>
              <a:off x="766" y="3420"/>
              <a:ext cx="10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8" name="Rectangle 1079"/>
            <p:cNvSpPr>
              <a:spLocks noChangeArrowheads="1"/>
            </p:cNvSpPr>
            <p:nvPr/>
          </p:nvSpPr>
          <p:spPr bwMode="auto">
            <a:xfrm>
              <a:off x="1537" y="3261"/>
              <a:ext cx="10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9" name="Rectangle 1080"/>
            <p:cNvSpPr>
              <a:spLocks noChangeArrowheads="1"/>
            </p:cNvSpPr>
            <p:nvPr/>
          </p:nvSpPr>
          <p:spPr bwMode="auto">
            <a:xfrm>
              <a:off x="2048" y="3261"/>
              <a:ext cx="10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0" name="Rectangle 1081"/>
            <p:cNvSpPr>
              <a:spLocks noChangeArrowheads="1"/>
            </p:cNvSpPr>
            <p:nvPr/>
          </p:nvSpPr>
          <p:spPr bwMode="auto">
            <a:xfrm>
              <a:off x="1066" y="3724"/>
              <a:ext cx="111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î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1" name="Rectangle 1082"/>
            <p:cNvSpPr>
              <a:spLocks noChangeArrowheads="1"/>
            </p:cNvSpPr>
            <p:nvPr/>
          </p:nvSpPr>
          <p:spPr bwMode="auto">
            <a:xfrm>
              <a:off x="1066" y="3539"/>
              <a:ext cx="111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í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2" name="Rectangle 1083"/>
            <p:cNvSpPr>
              <a:spLocks noChangeArrowheads="1"/>
            </p:cNvSpPr>
            <p:nvPr/>
          </p:nvSpPr>
          <p:spPr bwMode="auto">
            <a:xfrm>
              <a:off x="1066" y="3354"/>
              <a:ext cx="111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ì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3" name="Rectangle 1084"/>
            <p:cNvSpPr>
              <a:spLocks noChangeArrowheads="1"/>
            </p:cNvSpPr>
            <p:nvPr/>
          </p:nvSpPr>
          <p:spPr bwMode="auto">
            <a:xfrm>
              <a:off x="2903" y="3341"/>
              <a:ext cx="12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4" name="Rectangle 1085"/>
            <p:cNvSpPr>
              <a:spLocks noChangeArrowheads="1"/>
            </p:cNvSpPr>
            <p:nvPr/>
          </p:nvSpPr>
          <p:spPr bwMode="auto">
            <a:xfrm>
              <a:off x="2532" y="3341"/>
              <a:ext cx="12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5" name="Rectangle 1086"/>
            <p:cNvSpPr>
              <a:spLocks noChangeArrowheads="1"/>
            </p:cNvSpPr>
            <p:nvPr/>
          </p:nvSpPr>
          <p:spPr bwMode="auto">
            <a:xfrm>
              <a:off x="1739" y="3341"/>
              <a:ext cx="12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6" name="Rectangle 1087"/>
            <p:cNvSpPr>
              <a:spLocks noChangeArrowheads="1"/>
            </p:cNvSpPr>
            <p:nvPr/>
          </p:nvSpPr>
          <p:spPr bwMode="auto">
            <a:xfrm>
              <a:off x="1181" y="3341"/>
              <a:ext cx="12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7" name="Rectangle 1088"/>
            <p:cNvSpPr>
              <a:spLocks noChangeArrowheads="1"/>
            </p:cNvSpPr>
            <p:nvPr/>
          </p:nvSpPr>
          <p:spPr bwMode="auto">
            <a:xfrm>
              <a:off x="883" y="3501"/>
              <a:ext cx="123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8" name="Rectangle 1089"/>
            <p:cNvSpPr>
              <a:spLocks noChangeArrowheads="1"/>
            </p:cNvSpPr>
            <p:nvPr/>
          </p:nvSpPr>
          <p:spPr bwMode="auto">
            <a:xfrm>
              <a:off x="2996" y="3699"/>
              <a:ext cx="5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.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" name="Rectangle 1090"/>
            <p:cNvSpPr>
              <a:spLocks noChangeArrowheads="1"/>
            </p:cNvSpPr>
            <p:nvPr/>
          </p:nvSpPr>
          <p:spPr bwMode="auto">
            <a:xfrm>
              <a:off x="1699" y="3699"/>
              <a:ext cx="5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0" name="Rectangle 1091"/>
            <p:cNvSpPr>
              <a:spLocks noChangeArrowheads="1"/>
            </p:cNvSpPr>
            <p:nvPr/>
          </p:nvSpPr>
          <p:spPr bwMode="auto">
            <a:xfrm>
              <a:off x="1588" y="3699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1" name="Rectangle 1092"/>
            <p:cNvSpPr>
              <a:spLocks noChangeArrowheads="1"/>
            </p:cNvSpPr>
            <p:nvPr/>
          </p:nvSpPr>
          <p:spPr bwMode="auto">
            <a:xfrm>
              <a:off x="3176" y="3366"/>
              <a:ext cx="5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2" name="Rectangle 1093"/>
            <p:cNvSpPr>
              <a:spLocks noChangeArrowheads="1"/>
            </p:cNvSpPr>
            <p:nvPr/>
          </p:nvSpPr>
          <p:spPr bwMode="auto">
            <a:xfrm>
              <a:off x="3072" y="3366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" name="Rectangle 1094"/>
            <p:cNvSpPr>
              <a:spLocks noChangeArrowheads="1"/>
            </p:cNvSpPr>
            <p:nvPr/>
          </p:nvSpPr>
          <p:spPr bwMode="auto">
            <a:xfrm>
              <a:off x="2369" y="3366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" name="Rectangle 1095"/>
            <p:cNvSpPr>
              <a:spLocks noChangeArrowheads="1"/>
            </p:cNvSpPr>
            <p:nvPr/>
          </p:nvSpPr>
          <p:spPr bwMode="auto">
            <a:xfrm>
              <a:off x="2110" y="3366"/>
              <a:ext cx="5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" name="Rectangle 1096"/>
            <p:cNvSpPr>
              <a:spLocks noChangeArrowheads="1"/>
            </p:cNvSpPr>
            <p:nvPr/>
          </p:nvSpPr>
          <p:spPr bwMode="auto">
            <a:xfrm>
              <a:off x="1593" y="3366"/>
              <a:ext cx="11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6" name="Rectangle 1097"/>
            <p:cNvSpPr>
              <a:spLocks noChangeArrowheads="1"/>
            </p:cNvSpPr>
            <p:nvPr/>
          </p:nvSpPr>
          <p:spPr bwMode="auto">
            <a:xfrm>
              <a:off x="1347" y="3366"/>
              <a:ext cx="187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ln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7" name="Rectangle 1098"/>
            <p:cNvSpPr>
              <a:spLocks noChangeArrowheads="1"/>
            </p:cNvSpPr>
            <p:nvPr/>
          </p:nvSpPr>
          <p:spPr bwMode="auto">
            <a:xfrm>
              <a:off x="2550" y="3706"/>
              <a:ext cx="45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其它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8" name="Rectangle 1099"/>
            <p:cNvSpPr>
              <a:spLocks noChangeArrowheads="1"/>
            </p:cNvSpPr>
            <p:nvPr/>
          </p:nvSpPr>
          <p:spPr bwMode="auto">
            <a:xfrm>
              <a:off x="2743" y="3366"/>
              <a:ext cx="99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Rectangle 1100"/>
            <p:cNvSpPr>
              <a:spLocks noChangeArrowheads="1"/>
            </p:cNvSpPr>
            <p:nvPr/>
          </p:nvSpPr>
          <p:spPr bwMode="auto">
            <a:xfrm>
              <a:off x="1936" y="3366"/>
              <a:ext cx="99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Rectangle 1101"/>
            <p:cNvSpPr>
              <a:spLocks noChangeArrowheads="1"/>
            </p:cNvSpPr>
            <p:nvPr/>
          </p:nvSpPr>
          <p:spPr bwMode="auto">
            <a:xfrm>
              <a:off x="654" y="3526"/>
              <a:ext cx="99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1" name="Rectangle 1102"/>
            <p:cNvSpPr>
              <a:spLocks noChangeArrowheads="1"/>
            </p:cNvSpPr>
            <p:nvPr/>
          </p:nvSpPr>
          <p:spPr bwMode="auto">
            <a:xfrm>
              <a:off x="340" y="3526"/>
              <a:ext cx="75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2" name="Rectangle 1103"/>
            <p:cNvSpPr>
              <a:spLocks noChangeArrowheads="1"/>
            </p:cNvSpPr>
            <p:nvPr/>
          </p:nvSpPr>
          <p:spPr bwMode="auto">
            <a:xfrm>
              <a:off x="425" y="3663"/>
              <a:ext cx="7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" name="Group 1105"/>
          <p:cNvGrpSpPr>
            <a:grpSpLocks noChangeAspect="1"/>
          </p:cNvGrpSpPr>
          <p:nvPr/>
        </p:nvGrpSpPr>
        <p:grpSpPr bwMode="auto">
          <a:xfrm>
            <a:off x="6241861" y="2826327"/>
            <a:ext cx="2212975" cy="711200"/>
            <a:chOff x="3790" y="2312"/>
            <a:chExt cx="1394" cy="448"/>
          </a:xfrm>
        </p:grpSpPr>
        <p:sp>
          <p:nvSpPr>
            <p:cNvPr id="75" name="AutoShape 1104"/>
            <p:cNvSpPr>
              <a:spLocks noChangeAspect="1" noChangeArrowheads="1" noTextEdit="1"/>
            </p:cNvSpPr>
            <p:nvPr/>
          </p:nvSpPr>
          <p:spPr bwMode="auto">
            <a:xfrm>
              <a:off x="3790" y="2404"/>
              <a:ext cx="1394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6" name="Rectangle 1106"/>
            <p:cNvSpPr>
              <a:spLocks noChangeArrowheads="1"/>
            </p:cNvSpPr>
            <p:nvPr/>
          </p:nvSpPr>
          <p:spPr bwMode="auto">
            <a:xfrm>
              <a:off x="4430" y="2312"/>
              <a:ext cx="115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7" name="Rectangle 1107"/>
            <p:cNvSpPr>
              <a:spLocks noChangeArrowheads="1"/>
            </p:cNvSpPr>
            <p:nvPr/>
          </p:nvSpPr>
          <p:spPr bwMode="auto">
            <a:xfrm>
              <a:off x="5014" y="2312"/>
              <a:ext cx="115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8" name="Rectangle 1108"/>
            <p:cNvSpPr>
              <a:spLocks noChangeArrowheads="1"/>
            </p:cNvSpPr>
            <p:nvPr/>
          </p:nvSpPr>
          <p:spPr bwMode="auto">
            <a:xfrm>
              <a:off x="5085" y="2431"/>
              <a:ext cx="62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.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9" name="Rectangle 1109"/>
            <p:cNvSpPr>
              <a:spLocks noChangeArrowheads="1"/>
            </p:cNvSpPr>
            <p:nvPr/>
          </p:nvSpPr>
          <p:spPr bwMode="auto">
            <a:xfrm>
              <a:off x="4494" y="2431"/>
              <a:ext cx="124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0" name="Rectangle 1110"/>
            <p:cNvSpPr>
              <a:spLocks noChangeArrowheads="1"/>
            </p:cNvSpPr>
            <p:nvPr/>
          </p:nvSpPr>
          <p:spPr bwMode="auto">
            <a:xfrm>
              <a:off x="4212" y="2431"/>
              <a:ext cx="207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ln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1" name="Rectangle 1111"/>
            <p:cNvSpPr>
              <a:spLocks noChangeArrowheads="1"/>
            </p:cNvSpPr>
            <p:nvPr/>
          </p:nvSpPr>
          <p:spPr bwMode="auto">
            <a:xfrm>
              <a:off x="4886" y="2431"/>
              <a:ext cx="110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2" name="Rectangle 1112"/>
            <p:cNvSpPr>
              <a:spLocks noChangeArrowheads="1"/>
            </p:cNvSpPr>
            <p:nvPr/>
          </p:nvSpPr>
          <p:spPr bwMode="auto">
            <a:xfrm>
              <a:off x="4661" y="2402"/>
              <a:ext cx="136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3" name="Rectangle 1113"/>
            <p:cNvSpPr>
              <a:spLocks noChangeArrowheads="1"/>
            </p:cNvSpPr>
            <p:nvPr/>
          </p:nvSpPr>
          <p:spPr bwMode="auto">
            <a:xfrm>
              <a:off x="4038" y="2402"/>
              <a:ext cx="136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4" name="Rectangle 1114"/>
            <p:cNvSpPr>
              <a:spLocks noChangeArrowheads="1"/>
            </p:cNvSpPr>
            <p:nvPr/>
          </p:nvSpPr>
          <p:spPr bwMode="auto">
            <a:xfrm>
              <a:off x="3828" y="2402"/>
              <a:ext cx="136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6" name="Group 1116"/>
          <p:cNvGrpSpPr>
            <a:grpSpLocks noChangeAspect="1"/>
          </p:cNvGrpSpPr>
          <p:nvPr/>
        </p:nvGrpSpPr>
        <p:grpSpPr bwMode="auto">
          <a:xfrm>
            <a:off x="4413061" y="2623130"/>
            <a:ext cx="1752600" cy="1108076"/>
            <a:chOff x="2496" y="2205"/>
            <a:chExt cx="1357" cy="859"/>
          </a:xfrm>
        </p:grpSpPr>
        <p:sp>
          <p:nvSpPr>
            <p:cNvPr id="64" name="AutoShape 1115"/>
            <p:cNvSpPr>
              <a:spLocks noChangeAspect="1" noChangeArrowheads="1" noTextEdit="1"/>
            </p:cNvSpPr>
            <p:nvPr/>
          </p:nvSpPr>
          <p:spPr bwMode="auto">
            <a:xfrm>
              <a:off x="2496" y="2205"/>
              <a:ext cx="1357" cy="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5" name="Line 1117"/>
            <p:cNvSpPr>
              <a:spLocks noChangeShapeType="1"/>
            </p:cNvSpPr>
            <p:nvPr/>
          </p:nvSpPr>
          <p:spPr bwMode="auto">
            <a:xfrm>
              <a:off x="2924" y="2626"/>
              <a:ext cx="558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6" name="Rectangle 1118"/>
            <p:cNvSpPr>
              <a:spLocks noChangeArrowheads="1"/>
            </p:cNvSpPr>
            <p:nvPr/>
          </p:nvSpPr>
          <p:spPr bwMode="auto">
            <a:xfrm>
              <a:off x="2762" y="2387"/>
              <a:ext cx="135" cy="5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ò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7" name="Rectangle 1119"/>
            <p:cNvSpPr>
              <a:spLocks noChangeArrowheads="1"/>
            </p:cNvSpPr>
            <p:nvPr/>
          </p:nvSpPr>
          <p:spPr bwMode="auto">
            <a:xfrm>
              <a:off x="3101" y="2633"/>
              <a:ext cx="178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8" name="Rectangle 1120"/>
            <p:cNvSpPr>
              <a:spLocks noChangeArrowheads="1"/>
            </p:cNvSpPr>
            <p:nvPr/>
          </p:nvSpPr>
          <p:spPr bwMode="auto">
            <a:xfrm>
              <a:off x="2537" y="2425"/>
              <a:ext cx="178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9" name="Rectangle 1121"/>
            <p:cNvSpPr>
              <a:spLocks noChangeArrowheads="1"/>
            </p:cNvSpPr>
            <p:nvPr/>
          </p:nvSpPr>
          <p:spPr bwMode="auto">
            <a:xfrm>
              <a:off x="2792" y="2237"/>
              <a:ext cx="83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0" name="Rectangle 1122"/>
            <p:cNvSpPr>
              <a:spLocks noChangeArrowheads="1"/>
            </p:cNvSpPr>
            <p:nvPr/>
          </p:nvSpPr>
          <p:spPr bwMode="auto">
            <a:xfrm>
              <a:off x="3524" y="2455"/>
              <a:ext cx="324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dx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1" name="Rectangle 1123"/>
            <p:cNvSpPr>
              <a:spLocks noChangeArrowheads="1"/>
            </p:cNvSpPr>
            <p:nvPr/>
          </p:nvSpPr>
          <p:spPr bwMode="auto">
            <a:xfrm>
              <a:off x="3326" y="2663"/>
              <a:ext cx="162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2" name="Rectangle 1124"/>
            <p:cNvSpPr>
              <a:spLocks noChangeArrowheads="1"/>
            </p:cNvSpPr>
            <p:nvPr/>
          </p:nvSpPr>
          <p:spPr bwMode="auto">
            <a:xfrm>
              <a:off x="2780" y="2840"/>
              <a:ext cx="93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3" name="Rectangle 1125"/>
            <p:cNvSpPr>
              <a:spLocks noChangeArrowheads="1"/>
            </p:cNvSpPr>
            <p:nvPr/>
          </p:nvSpPr>
          <p:spPr bwMode="auto">
            <a:xfrm>
              <a:off x="2926" y="2663"/>
              <a:ext cx="162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4" name="Rectangle 1126"/>
            <p:cNvSpPr>
              <a:spLocks noChangeArrowheads="1"/>
            </p:cNvSpPr>
            <p:nvPr/>
          </p:nvSpPr>
          <p:spPr bwMode="auto">
            <a:xfrm>
              <a:off x="3136" y="2287"/>
              <a:ext cx="163" cy="3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Group 1128"/>
          <p:cNvGrpSpPr>
            <a:grpSpLocks noChangeAspect="1"/>
          </p:cNvGrpSpPr>
          <p:nvPr/>
        </p:nvGrpSpPr>
        <p:grpSpPr bwMode="auto">
          <a:xfrm>
            <a:off x="784036" y="2588202"/>
            <a:ext cx="3629025" cy="1176338"/>
            <a:chOff x="192" y="2231"/>
            <a:chExt cx="2286" cy="741"/>
          </a:xfrm>
        </p:grpSpPr>
        <p:sp>
          <p:nvSpPr>
            <p:cNvPr id="46" name="AutoShape 1127"/>
            <p:cNvSpPr>
              <a:spLocks noChangeAspect="1" noChangeArrowheads="1" noTextEdit="1"/>
            </p:cNvSpPr>
            <p:nvPr/>
          </p:nvSpPr>
          <p:spPr bwMode="auto">
            <a:xfrm>
              <a:off x="192" y="2231"/>
              <a:ext cx="2286" cy="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7" name="Rectangle 1129"/>
            <p:cNvSpPr>
              <a:spLocks noChangeArrowheads="1"/>
            </p:cNvSpPr>
            <p:nvPr/>
          </p:nvSpPr>
          <p:spPr bwMode="auto">
            <a:xfrm>
              <a:off x="511" y="2343"/>
              <a:ext cx="110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8" name="Rectangle 1130"/>
            <p:cNvSpPr>
              <a:spLocks noChangeArrowheads="1"/>
            </p:cNvSpPr>
            <p:nvPr/>
          </p:nvSpPr>
          <p:spPr bwMode="auto">
            <a:xfrm>
              <a:off x="739" y="2343"/>
              <a:ext cx="110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9" name="Rectangle 1131"/>
            <p:cNvSpPr>
              <a:spLocks noChangeArrowheads="1"/>
            </p:cNvSpPr>
            <p:nvPr/>
          </p:nvSpPr>
          <p:spPr bwMode="auto">
            <a:xfrm>
              <a:off x="1436" y="2343"/>
              <a:ext cx="110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(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1132"/>
            <p:cNvSpPr>
              <a:spLocks noChangeArrowheads="1"/>
            </p:cNvSpPr>
            <p:nvPr/>
          </p:nvSpPr>
          <p:spPr bwMode="auto">
            <a:xfrm>
              <a:off x="2111" y="2343"/>
              <a:ext cx="110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)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1133"/>
            <p:cNvSpPr>
              <a:spLocks noChangeArrowheads="1"/>
            </p:cNvSpPr>
            <p:nvPr/>
          </p:nvSpPr>
          <p:spPr bwMode="auto">
            <a:xfrm>
              <a:off x="1109" y="2396"/>
              <a:ext cx="99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ò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2" name="Rectangle 1134"/>
            <p:cNvSpPr>
              <a:spLocks noChangeArrowheads="1"/>
            </p:cNvSpPr>
            <p:nvPr/>
          </p:nvSpPr>
          <p:spPr bwMode="auto">
            <a:xfrm>
              <a:off x="1071" y="2255"/>
              <a:ext cx="18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+¥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3" name="Rectangle 1135"/>
            <p:cNvSpPr>
              <a:spLocks noChangeArrowheads="1"/>
            </p:cNvSpPr>
            <p:nvPr/>
          </p:nvSpPr>
          <p:spPr bwMode="auto">
            <a:xfrm>
              <a:off x="1153" y="2791"/>
              <a:ext cx="10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¥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4" name="Rectangle 1136"/>
            <p:cNvSpPr>
              <a:spLocks noChangeArrowheads="1"/>
            </p:cNvSpPr>
            <p:nvPr/>
          </p:nvSpPr>
          <p:spPr bwMode="auto">
            <a:xfrm>
              <a:off x="1067" y="2791"/>
              <a:ext cx="7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5" name="Rectangle 1137"/>
            <p:cNvSpPr>
              <a:spLocks noChangeArrowheads="1"/>
            </p:cNvSpPr>
            <p:nvPr/>
          </p:nvSpPr>
          <p:spPr bwMode="auto">
            <a:xfrm>
              <a:off x="866" y="2430"/>
              <a:ext cx="1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" name="Rectangle 1138"/>
            <p:cNvSpPr>
              <a:spLocks noChangeArrowheads="1"/>
            </p:cNvSpPr>
            <p:nvPr/>
          </p:nvSpPr>
          <p:spPr bwMode="auto">
            <a:xfrm>
              <a:off x="2178" y="245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dx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7" name="Rectangle 1139"/>
            <p:cNvSpPr>
              <a:spLocks noChangeArrowheads="1"/>
            </p:cNvSpPr>
            <p:nvPr/>
          </p:nvSpPr>
          <p:spPr bwMode="auto">
            <a:xfrm>
              <a:off x="1990" y="2458"/>
              <a:ext cx="10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8" name="Rectangle 1140"/>
            <p:cNvSpPr>
              <a:spLocks noChangeArrowheads="1"/>
            </p:cNvSpPr>
            <p:nvPr/>
          </p:nvSpPr>
          <p:spPr bwMode="auto">
            <a:xfrm>
              <a:off x="1531" y="2458"/>
              <a:ext cx="1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" name="Rectangle 1141"/>
            <p:cNvSpPr>
              <a:spLocks noChangeArrowheads="1"/>
            </p:cNvSpPr>
            <p:nvPr/>
          </p:nvSpPr>
          <p:spPr bwMode="auto">
            <a:xfrm>
              <a:off x="1301" y="2458"/>
              <a:ext cx="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0" name="Rectangle 1142"/>
            <p:cNvSpPr>
              <a:spLocks noChangeArrowheads="1"/>
            </p:cNvSpPr>
            <p:nvPr/>
          </p:nvSpPr>
          <p:spPr bwMode="auto">
            <a:xfrm>
              <a:off x="617" y="2458"/>
              <a:ext cx="10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1" name="Rectangle 1143"/>
            <p:cNvSpPr>
              <a:spLocks noChangeArrowheads="1"/>
            </p:cNvSpPr>
            <p:nvPr/>
          </p:nvSpPr>
          <p:spPr bwMode="auto">
            <a:xfrm>
              <a:off x="277" y="2458"/>
              <a:ext cx="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2" name="Rectangle 1144"/>
            <p:cNvSpPr>
              <a:spLocks noChangeArrowheads="1"/>
            </p:cNvSpPr>
            <p:nvPr/>
          </p:nvSpPr>
          <p:spPr bwMode="auto">
            <a:xfrm>
              <a:off x="369" y="2606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63" name="Rectangle 1145"/>
            <p:cNvSpPr>
              <a:spLocks noChangeArrowheads="1"/>
            </p:cNvSpPr>
            <p:nvPr/>
          </p:nvSpPr>
          <p:spPr bwMode="auto">
            <a:xfrm>
              <a:off x="1651" y="2465"/>
              <a:ext cx="23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8" name="Group 1147"/>
          <p:cNvGrpSpPr>
            <a:grpSpLocks noChangeAspect="1"/>
          </p:cNvGrpSpPr>
          <p:nvPr/>
        </p:nvGrpSpPr>
        <p:grpSpPr bwMode="auto">
          <a:xfrm>
            <a:off x="1877824" y="1908752"/>
            <a:ext cx="2687638" cy="561975"/>
            <a:chOff x="960" y="1877"/>
            <a:chExt cx="1693" cy="354"/>
          </a:xfrm>
        </p:grpSpPr>
        <p:sp>
          <p:nvSpPr>
            <p:cNvPr id="38" name="AutoShape 1146"/>
            <p:cNvSpPr>
              <a:spLocks noChangeAspect="1" noChangeArrowheads="1" noTextEdit="1"/>
            </p:cNvSpPr>
            <p:nvPr/>
          </p:nvSpPr>
          <p:spPr bwMode="auto">
            <a:xfrm>
              <a:off x="960" y="1879"/>
              <a:ext cx="1584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" name="Rectangle 1148"/>
            <p:cNvSpPr>
              <a:spLocks noChangeArrowheads="1"/>
            </p:cNvSpPr>
            <p:nvPr/>
          </p:nvSpPr>
          <p:spPr bwMode="auto">
            <a:xfrm>
              <a:off x="2158" y="1913"/>
              <a:ext cx="495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时，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0" name="Rectangle 1149"/>
            <p:cNvSpPr>
              <a:spLocks noChangeArrowheads="1"/>
            </p:cNvSpPr>
            <p:nvPr/>
          </p:nvSpPr>
          <p:spPr bwMode="auto">
            <a:xfrm>
              <a:off x="974" y="1913"/>
              <a:ext cx="250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当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1" name="Rectangle 1150"/>
            <p:cNvSpPr>
              <a:spLocks noChangeArrowheads="1"/>
            </p:cNvSpPr>
            <p:nvPr/>
          </p:nvSpPr>
          <p:spPr bwMode="auto">
            <a:xfrm>
              <a:off x="2033" y="1906"/>
              <a:ext cx="124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2" name="Rectangle 1151"/>
            <p:cNvSpPr>
              <a:spLocks noChangeArrowheads="1"/>
            </p:cNvSpPr>
            <p:nvPr/>
          </p:nvSpPr>
          <p:spPr bwMode="auto">
            <a:xfrm>
              <a:off x="1240" y="1906"/>
              <a:ext cx="124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3" name="Rectangle 1152"/>
            <p:cNvSpPr>
              <a:spLocks noChangeArrowheads="1"/>
            </p:cNvSpPr>
            <p:nvPr/>
          </p:nvSpPr>
          <p:spPr bwMode="auto">
            <a:xfrm>
              <a:off x="1842" y="1877"/>
              <a:ext cx="136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4" name="Rectangle 1153"/>
            <p:cNvSpPr>
              <a:spLocks noChangeArrowheads="1"/>
            </p:cNvSpPr>
            <p:nvPr/>
          </p:nvSpPr>
          <p:spPr bwMode="auto">
            <a:xfrm>
              <a:off x="1424" y="1877"/>
              <a:ext cx="136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5" name="Rectangle 1154"/>
            <p:cNvSpPr>
              <a:spLocks noChangeArrowheads="1"/>
            </p:cNvSpPr>
            <p:nvPr/>
          </p:nvSpPr>
          <p:spPr bwMode="auto">
            <a:xfrm>
              <a:off x="1662" y="1906"/>
              <a:ext cx="110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1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Group 1156"/>
          <p:cNvGrpSpPr>
            <a:grpSpLocks noChangeAspect="1"/>
          </p:cNvGrpSpPr>
          <p:nvPr/>
        </p:nvGrpSpPr>
        <p:grpSpPr bwMode="auto">
          <a:xfrm>
            <a:off x="803086" y="1937327"/>
            <a:ext cx="1150938" cy="493713"/>
            <a:chOff x="288" y="1879"/>
            <a:chExt cx="725" cy="311"/>
          </a:xfrm>
        </p:grpSpPr>
        <p:sp>
          <p:nvSpPr>
            <p:cNvPr id="36" name="AutoShape 1155"/>
            <p:cNvSpPr>
              <a:spLocks noChangeAspect="1" noChangeArrowheads="1" noTextEdit="1"/>
            </p:cNvSpPr>
            <p:nvPr/>
          </p:nvSpPr>
          <p:spPr bwMode="auto">
            <a:xfrm>
              <a:off x="288" y="1879"/>
              <a:ext cx="624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" name="Rectangle 1157"/>
            <p:cNvSpPr>
              <a:spLocks noChangeArrowheads="1"/>
            </p:cNvSpPr>
            <p:nvPr/>
          </p:nvSpPr>
          <p:spPr bwMode="auto">
            <a:xfrm>
              <a:off x="316" y="1912"/>
              <a:ext cx="697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所以，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0" name="Group 1159"/>
          <p:cNvGrpSpPr>
            <a:grpSpLocks noChangeAspect="1"/>
          </p:cNvGrpSpPr>
          <p:nvPr/>
        </p:nvGrpSpPr>
        <p:grpSpPr bwMode="auto">
          <a:xfrm>
            <a:off x="4870261" y="489527"/>
            <a:ext cx="3810000" cy="1430338"/>
            <a:chOff x="2838" y="1152"/>
            <a:chExt cx="2490" cy="935"/>
          </a:xfrm>
        </p:grpSpPr>
        <p:sp>
          <p:nvSpPr>
            <p:cNvPr id="11" name="AutoShape 1158"/>
            <p:cNvSpPr>
              <a:spLocks noChangeAspect="1" noChangeArrowheads="1" noTextEdit="1"/>
            </p:cNvSpPr>
            <p:nvPr/>
          </p:nvSpPr>
          <p:spPr bwMode="auto">
            <a:xfrm>
              <a:off x="2838" y="1152"/>
              <a:ext cx="2490" cy="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" name="Line 1160"/>
            <p:cNvSpPr>
              <a:spLocks noChangeShapeType="1"/>
            </p:cNvSpPr>
            <p:nvPr/>
          </p:nvSpPr>
          <p:spPr bwMode="auto">
            <a:xfrm>
              <a:off x="3191" y="1494"/>
              <a:ext cx="4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" name="Rectangle 1161"/>
            <p:cNvSpPr>
              <a:spLocks noChangeArrowheads="1"/>
            </p:cNvSpPr>
            <p:nvPr/>
          </p:nvSpPr>
          <p:spPr bwMode="auto">
            <a:xfrm>
              <a:off x="3067" y="1707"/>
              <a:ext cx="120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ï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" name="Rectangle 1162"/>
            <p:cNvSpPr>
              <a:spLocks noChangeArrowheads="1"/>
            </p:cNvSpPr>
            <p:nvPr/>
          </p:nvSpPr>
          <p:spPr bwMode="auto">
            <a:xfrm>
              <a:off x="3067" y="1783"/>
              <a:ext cx="1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î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" name="Rectangle 1163"/>
            <p:cNvSpPr>
              <a:spLocks noChangeArrowheads="1"/>
            </p:cNvSpPr>
            <p:nvPr/>
          </p:nvSpPr>
          <p:spPr bwMode="auto">
            <a:xfrm>
              <a:off x="3067" y="1308"/>
              <a:ext cx="1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ï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" name="Rectangle 1164"/>
            <p:cNvSpPr>
              <a:spLocks noChangeArrowheads="1"/>
            </p:cNvSpPr>
            <p:nvPr/>
          </p:nvSpPr>
          <p:spPr bwMode="auto">
            <a:xfrm>
              <a:off x="3067" y="1483"/>
              <a:ext cx="120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í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Rectangle 1165"/>
            <p:cNvSpPr>
              <a:spLocks noChangeArrowheads="1"/>
            </p:cNvSpPr>
            <p:nvPr/>
          </p:nvSpPr>
          <p:spPr bwMode="auto">
            <a:xfrm>
              <a:off x="3067" y="1184"/>
              <a:ext cx="120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ì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" name="Rectangle 1166"/>
            <p:cNvSpPr>
              <a:spLocks noChangeArrowheads="1"/>
            </p:cNvSpPr>
            <p:nvPr/>
          </p:nvSpPr>
          <p:spPr bwMode="auto">
            <a:xfrm>
              <a:off x="4944" y="1318"/>
              <a:ext cx="133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9" name="Rectangle 1167"/>
            <p:cNvSpPr>
              <a:spLocks noChangeArrowheads="1"/>
            </p:cNvSpPr>
            <p:nvPr/>
          </p:nvSpPr>
          <p:spPr bwMode="auto">
            <a:xfrm>
              <a:off x="4554" y="1318"/>
              <a:ext cx="133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168"/>
            <p:cNvSpPr>
              <a:spLocks noChangeArrowheads="1"/>
            </p:cNvSpPr>
            <p:nvPr/>
          </p:nvSpPr>
          <p:spPr bwMode="auto">
            <a:xfrm>
              <a:off x="4160" y="1318"/>
              <a:ext cx="133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&lt;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169"/>
            <p:cNvSpPr>
              <a:spLocks noChangeArrowheads="1"/>
            </p:cNvSpPr>
            <p:nvPr/>
          </p:nvSpPr>
          <p:spPr bwMode="auto">
            <a:xfrm>
              <a:off x="3345" y="1500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-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2" name="Rectangle 1170"/>
            <p:cNvSpPr>
              <a:spLocks noChangeArrowheads="1"/>
            </p:cNvSpPr>
            <p:nvPr/>
          </p:nvSpPr>
          <p:spPr bwMode="auto">
            <a:xfrm>
              <a:off x="2873" y="1443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18" charset="2"/>
                  <a:ea typeface="宋体" pitchFamily="2" charset="-122"/>
                  <a:cs typeface="+mn-cs"/>
                </a:rPr>
                <a:t>=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" name="Rectangle 1171"/>
            <p:cNvSpPr>
              <a:spLocks noChangeArrowheads="1"/>
            </p:cNvSpPr>
            <p:nvPr/>
          </p:nvSpPr>
          <p:spPr bwMode="auto">
            <a:xfrm>
              <a:off x="4845" y="1757"/>
              <a:ext cx="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.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4" name="Rectangle 1172"/>
            <p:cNvSpPr>
              <a:spLocks noChangeArrowheads="1"/>
            </p:cNvSpPr>
            <p:nvPr/>
          </p:nvSpPr>
          <p:spPr bwMode="auto">
            <a:xfrm>
              <a:off x="3507" y="1757"/>
              <a:ext cx="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5" name="Rectangle 1173"/>
            <p:cNvSpPr>
              <a:spLocks noChangeArrowheads="1"/>
            </p:cNvSpPr>
            <p:nvPr/>
          </p:nvSpPr>
          <p:spPr bwMode="auto">
            <a:xfrm>
              <a:off x="3391" y="1757"/>
              <a:ext cx="1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6" name="Rectangle 1174"/>
            <p:cNvSpPr>
              <a:spLocks noChangeArrowheads="1"/>
            </p:cNvSpPr>
            <p:nvPr/>
          </p:nvSpPr>
          <p:spPr bwMode="auto">
            <a:xfrm>
              <a:off x="5232" y="1345"/>
              <a:ext cx="60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Rectangle 1175"/>
            <p:cNvSpPr>
              <a:spLocks noChangeArrowheads="1"/>
            </p:cNvSpPr>
            <p:nvPr/>
          </p:nvSpPr>
          <p:spPr bwMode="auto">
            <a:xfrm>
              <a:off x="5123" y="1345"/>
              <a:ext cx="120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Rectangle 1176"/>
            <p:cNvSpPr>
              <a:spLocks noChangeArrowheads="1"/>
            </p:cNvSpPr>
            <p:nvPr/>
          </p:nvSpPr>
          <p:spPr bwMode="auto">
            <a:xfrm>
              <a:off x="3988" y="1345"/>
              <a:ext cx="120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" name="Rectangle 1177"/>
            <p:cNvSpPr>
              <a:spLocks noChangeArrowheads="1"/>
            </p:cNvSpPr>
            <p:nvPr/>
          </p:nvSpPr>
          <p:spPr bwMode="auto">
            <a:xfrm>
              <a:off x="3715" y="1345"/>
              <a:ext cx="60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,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0" name="Rectangle 1178"/>
            <p:cNvSpPr>
              <a:spLocks noChangeArrowheads="1"/>
            </p:cNvSpPr>
            <p:nvPr/>
          </p:nvSpPr>
          <p:spPr bwMode="auto">
            <a:xfrm>
              <a:off x="3192" y="1527"/>
              <a:ext cx="1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1" name="Rectangle 1179"/>
            <p:cNvSpPr>
              <a:spLocks noChangeArrowheads="1"/>
            </p:cNvSpPr>
            <p:nvPr/>
          </p:nvSpPr>
          <p:spPr bwMode="auto">
            <a:xfrm>
              <a:off x="3376" y="1197"/>
              <a:ext cx="1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2" name="Rectangle 1180"/>
            <p:cNvSpPr>
              <a:spLocks noChangeArrowheads="1"/>
            </p:cNvSpPr>
            <p:nvPr/>
          </p:nvSpPr>
          <p:spPr bwMode="auto">
            <a:xfrm>
              <a:off x="4375" y="1764"/>
              <a:ext cx="485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其它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3" name="Rectangle 1181"/>
            <p:cNvSpPr>
              <a:spLocks noChangeArrowheads="1"/>
            </p:cNvSpPr>
            <p:nvPr/>
          </p:nvSpPr>
          <p:spPr bwMode="auto">
            <a:xfrm>
              <a:off x="4776" y="1345"/>
              <a:ext cx="107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y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4" name="Rectangle 1182"/>
            <p:cNvSpPr>
              <a:spLocks noChangeArrowheads="1"/>
            </p:cNvSpPr>
            <p:nvPr/>
          </p:nvSpPr>
          <p:spPr bwMode="auto">
            <a:xfrm>
              <a:off x="4371" y="1345"/>
              <a:ext cx="121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5" name="Rectangle 1183"/>
            <p:cNvSpPr>
              <a:spLocks noChangeArrowheads="1"/>
            </p:cNvSpPr>
            <p:nvPr/>
          </p:nvSpPr>
          <p:spPr bwMode="auto">
            <a:xfrm>
              <a:off x="3542" y="1527"/>
              <a:ext cx="1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9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x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01122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6356955" y="3864552"/>
            <a:ext cx="2398712" cy="2057400"/>
            <a:chOff x="3239294" y="2399506"/>
            <a:chExt cx="2398712" cy="2057400"/>
          </a:xfrm>
        </p:grpSpPr>
        <p:sp>
          <p:nvSpPr>
            <p:cNvPr id="117" name="Line 1203"/>
            <p:cNvSpPr>
              <a:spLocks noChangeShapeType="1"/>
            </p:cNvSpPr>
            <p:nvPr/>
          </p:nvSpPr>
          <p:spPr bwMode="auto">
            <a:xfrm>
              <a:off x="3239294" y="4075906"/>
              <a:ext cx="2209800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Line 1204"/>
            <p:cNvSpPr>
              <a:spLocks noChangeShapeType="1"/>
            </p:cNvSpPr>
            <p:nvPr/>
          </p:nvSpPr>
          <p:spPr bwMode="auto">
            <a:xfrm flipV="1">
              <a:off x="3848894" y="2399506"/>
              <a:ext cx="0" cy="205740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Line 1205"/>
            <p:cNvSpPr>
              <a:spLocks noChangeShapeType="1"/>
            </p:cNvSpPr>
            <p:nvPr/>
          </p:nvSpPr>
          <p:spPr bwMode="auto">
            <a:xfrm flipV="1">
              <a:off x="3620294" y="2704306"/>
              <a:ext cx="1600200" cy="160020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Line 1206"/>
            <p:cNvSpPr>
              <a:spLocks noChangeShapeType="1"/>
            </p:cNvSpPr>
            <p:nvPr/>
          </p:nvSpPr>
          <p:spPr bwMode="auto">
            <a:xfrm>
              <a:off x="3848894" y="3847306"/>
              <a:ext cx="228600" cy="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Line 1207"/>
            <p:cNvSpPr>
              <a:spLocks noChangeShapeType="1"/>
            </p:cNvSpPr>
            <p:nvPr/>
          </p:nvSpPr>
          <p:spPr bwMode="auto">
            <a:xfrm>
              <a:off x="3848894" y="3618706"/>
              <a:ext cx="457200" cy="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Line 1208"/>
            <p:cNvSpPr>
              <a:spLocks noChangeShapeType="1"/>
            </p:cNvSpPr>
            <p:nvPr/>
          </p:nvSpPr>
          <p:spPr bwMode="auto">
            <a:xfrm>
              <a:off x="3848894" y="3466306"/>
              <a:ext cx="609600" cy="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123" name="Object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296694" y="4075906"/>
              <a:ext cx="341312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4" name="Object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05994" y="2401094"/>
              <a:ext cx="379412" cy="4556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5" name="Line 1211"/>
            <p:cNvSpPr>
              <a:spLocks noChangeShapeType="1"/>
            </p:cNvSpPr>
            <p:nvPr/>
          </p:nvSpPr>
          <p:spPr bwMode="auto">
            <a:xfrm>
              <a:off x="4952206" y="2475706"/>
              <a:ext cx="0" cy="190500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126" name="Object 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80606" y="4075906"/>
              <a:ext cx="282575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7" name="Object 5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990306" y="4075906"/>
              <a:ext cx="1905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8" name="Line 1214"/>
            <p:cNvSpPr>
              <a:spLocks noChangeShapeType="1"/>
            </p:cNvSpPr>
            <p:nvPr/>
          </p:nvSpPr>
          <p:spPr bwMode="auto">
            <a:xfrm flipH="1">
              <a:off x="3848894" y="3009106"/>
              <a:ext cx="1066800" cy="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129" name="Object 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618706" y="2856706"/>
              <a:ext cx="1905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0" name="Line 1216"/>
            <p:cNvSpPr>
              <a:spLocks noChangeShapeType="1"/>
            </p:cNvSpPr>
            <p:nvPr/>
          </p:nvSpPr>
          <p:spPr bwMode="auto">
            <a:xfrm>
              <a:off x="3848894" y="3237706"/>
              <a:ext cx="838200" cy="0"/>
            </a:xfrm>
            <a:prstGeom prst="line">
              <a:avLst/>
            </a:prstGeom>
            <a:noFill/>
            <a:ln w="9525" cap="rnd">
              <a:solidFill>
                <a:srgbClr val="FF0066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3328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Default Design">
      <a:majorFont>
        <a:latin typeface="新宋体"/>
        <a:ea typeface="新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1220</Words>
  <Application>Microsoft Office PowerPoint</Application>
  <PresentationFormat>全屏显示(4:3)</PresentationFormat>
  <Paragraphs>361</Paragraphs>
  <Slides>22</Slides>
  <Notes>0</Notes>
  <HiddenSlides>4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Default Design</vt:lpstr>
      <vt:lpstr>Microsoft 公式 3.0</vt:lpstr>
      <vt:lpstr>概率论与数理统计</vt:lpstr>
      <vt:lpstr>§3.3  条件分布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BTBU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echo</dc:creator>
  <cp:lastModifiedBy>echo</cp:lastModifiedBy>
  <cp:revision>9</cp:revision>
  <dcterms:created xsi:type="dcterms:W3CDTF">2015-05-03T14:50:32Z</dcterms:created>
  <dcterms:modified xsi:type="dcterms:W3CDTF">2015-05-03T16:00:10Z</dcterms:modified>
</cp:coreProperties>
</file>